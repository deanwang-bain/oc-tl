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tags/sym_100_tag11.xml" ContentType="application/vnd.openxmlformats-officedocument.presentationml.tags+xml"/>
  <Override PartName="/ppt/tags/sym_100_tag12.xml" ContentType="application/vnd.openxmlformats-officedocument.presentationml.tags+xml"/>
  <Override PartName="/ppt/embeddings/sym_100_oleObject2.bin" ContentType="application/vnd.openxmlformats-officedocument.oleObject"/>
  <Override PartName="/ppt/tags/sym_100_tag13.xml" ContentType="application/vnd.openxmlformats-officedocument.presentationml.tags+xml"/>
  <Override PartName="/ppt/tags/sym_100_tag14.xml" ContentType="application/vnd.openxmlformats-officedocument.presentationml.tags+xml"/>
  <Override PartName="/ppt/slides/slide9.xml" ContentType="application/vnd.openxmlformats-officedocument.presentationml.slide+xml"/>
  <Override PartName="/ppt/tags/sym_200_tag11.xml" ContentType="application/vnd.openxmlformats-officedocument.presentationml.tags+xml"/>
  <Override PartName="/ppt/tags/sym_200_tag12.xml" ContentType="application/vnd.openxmlformats-officedocument.presentationml.tags+xml"/>
  <Override PartName="/ppt/embeddings/sym_200_oleObject2.bin" ContentType="application/vnd.openxmlformats-officedocument.oleObject"/>
  <Override PartName="/ppt/tags/sym_200_tag13.xml" ContentType="application/vnd.openxmlformats-officedocument.presentationml.tags+xml"/>
  <Override PartName="/ppt/tags/sym_200_tag14.xml" ContentType="application/vnd.openxmlformats-officedocument.presentationml.tag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347" r:id="rId4"/>
    <p:sldId id="350" r:id="rId11"/>
    <p:sldId id="351" r:id="rId12"/>
    <p:sldId id="352" r:id="rId13"/>
    <p:sldId id="355" r:id="rId16"/>
    <p:sldId id="353" r:id="rId14"/>
    <p:sldId id="356" r:id="rId17"/>
    <p:sldId id="354" r:id="rId15"/>
    <p:sldId id="349" r:id="rId5"/>
  </p:sldIdLst>
  <p:sldSz cx="12192000" cy="6858000"/>
  <p:notesSz cx="6797675" cy="9926638"/>
  <p:custDataLst>
    <p:tags r:id="rId6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C5C5C"/>
    <a:srgbClr val="FAEEC3"/>
    <a:srgbClr val="F2DE8A"/>
    <a:srgbClr val="E9CD49"/>
    <a:srgbClr val="C6AA3D"/>
    <a:srgbClr val="AB8933"/>
    <a:srgbClr val="FAECDB"/>
    <a:srgbClr val="EDDABD"/>
    <a:srgbClr val="CFB7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9D7B26C5-4107-4FEC-AEDC-1716B250A1EF}" styleName="Light Style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dk2"/>
          </a:solidFill>
        </a:fill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firstCol>
      <a:tcTxStyle b="on"/>
      <a:tcStyle>
        <a:tcBdr/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1905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accent3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552" autoAdjust="0"/>
  </p:normalViewPr>
  <p:slideViewPr>
    <p:cSldViewPr snapToGrid="0">
      <p:cViewPr varScale="1">
        <p:scale>
          <a:sx n="98" d="100"/>
          <a:sy n="98" d="100"/>
        </p:scale>
        <p:origin x="4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7.xml"/><Relationship Id="rId6" Type="http://schemas.openxmlformats.org/officeDocument/2006/relationships/tags" Target="tags/tag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  <Relationship Id="rId16" Type="http://schemas.openxmlformats.org/officeDocument/2006/relationships/slide" Target="slides/slide8.xml"/>
  <Relationship Id="rId17" Type="http://schemas.openxmlformats.org/officeDocument/2006/relationships/slide" Target="slides/slide9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600" b="1" cap="all" spc="300" baseline="0" dirty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/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</p:nvPr>
        </p:nvSpPr>
        <p:spPr>
          <a:xfrm>
            <a:off x="8617039" y="3364443"/>
            <a:ext cx="3239999" cy="139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Disclaime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34965" y="2420938"/>
            <a:ext cx="11522075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add subtitle/contacts/date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334964" y="1268413"/>
            <a:ext cx="11522075" cy="900112"/>
          </a:xfrm>
        </p:spPr>
        <p:txBody>
          <a:bodyPr anchor="b"/>
          <a:lstStyle>
            <a:lvl1pPr algn="l">
              <a:spcBef>
                <a:spcPts val="0"/>
              </a:spcBef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12046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292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8" userDrawn="1">
          <p15:clr>
            <a:srgbClr val="CCCCCC"/>
          </p15:clr>
        </p15:guide>
        <p15:guide id="2" pos="7472" userDrawn="1">
          <p15:clr>
            <a:srgbClr val="CCCCCC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/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23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4442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tags" Target="../tags/tag2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Relationship Id="rId9" Type="http://schemas.openxmlformats.org/officeDocument/2006/relationships/image" Target="../media/image2.emf"/><Relationship Id="rId10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949F73F-40C4-459A-87F2-5B4A916D8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3945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06" imgH="608" progId="TCLayout.ActiveDocument.1">
                  <p:embed/>
                </p:oleObj>
              </mc:Choice>
              <mc:Fallback>
                <p:oleObj name="think-cell Slide" r:id="rId7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49F73F-40C4-459A-87F2-5B4A916D8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/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US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--&gt;&lt;/BTFP&gt;</a:t>
            </a:r>
            <a:endParaRPr lang="en-US" sz="100" dirty="0">
              <a:solidFill>
                <a:schemeClr val="bg1">
                  <a:alpha val="0"/>
                </a:schemeClr>
              </a:solidFill>
            </a:endParaRPr>
          </a:p>
        </p:txBody>
      </p:sp>
      <p:sp>
        <p:nvSpPr>
          <p:cNvPr id="19" name="SlideNumber"/>
          <p:cNvSpPr/>
          <p:nvPr userDrawn="1"/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2" name="BainLogo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/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Presentation10</a:t>
            </a:r>
            <a:endParaRPr lang="en-US" sz="600" dirty="0">
              <a:solidFill>
                <a:srgbClr val="FFFFFF"/>
              </a:solidFill>
            </a:endParaRPr>
          </a:p>
        </p:txBody>
      </p:sp>
      <p:sp>
        <p:nvSpPr>
          <p:cNvPr id="7" name="OfficeCode"/>
          <p:cNvSpPr/>
          <p:nvPr userDrawn="1"/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DBS</a:t>
            </a:r>
            <a:endParaRPr lang="en-US" sz="600" dirty="0">
              <a:solidFill>
                <a:srgbClr val="FFFFFF"/>
              </a:solidFill>
            </a:endParaRPr>
          </a:p>
        </p:txBody>
      </p:sp>
      <p:pic>
        <p:nvPicPr>
          <p:cNvPr id="14" name="Disclaimer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/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334435" y="1268413"/>
            <a:ext cx="11522603" cy="5292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3" name="TitleSeparatorLine"/>
          <p:cNvCxnSpPr/>
          <p:nvPr userDrawn="1"/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79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3" r:id="rId3"/>
    <p:sldLayoutId id="2147483655" r:id="rId4"/>
  </p:sldLayoutIdLst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 userDrawn="1">
          <p15:clr>
            <a:srgbClr val="D1D1D1"/>
          </p15:clr>
        </p15:guide>
        <p15:guide id="4" orient="horz" pos="799" userDrawn="1">
          <p15:clr>
            <a:srgbClr val="D1D1D1"/>
          </p15:clr>
        </p15:guide>
        <p15:guide id="7" orient="horz" pos="4133" userDrawn="1">
          <p15:clr>
            <a:srgbClr val="D1D1D1"/>
          </p15:clr>
        </p15:guide>
        <p15:guide id="8" pos="208" userDrawn="1">
          <p15:clr>
            <a:srgbClr val="CCCCCC"/>
          </p15:clr>
        </p15:guide>
        <p15:guide id="9" pos="7472" userDrawn="1">
          <p15:clr>
            <a:srgbClr val="CCCCC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6.xml"/><Relationship Id="rId3" Type="http://schemas.openxmlformats.org/officeDocument/2006/relationships/tags" Target="../tags/tag5.xml"/><Relationship Id="rId4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9.xml"/><Relationship Id="rId3" Type="http://schemas.openxmlformats.org/officeDocument/2006/relationships/tags" Target="../tags/tag8.xml"/><Relationship Id="rId4" Type="http://schemas.openxmlformats.org/officeDocument/2006/relationships/slideLayout" Target="../slideLayouts/slideLayout2.xml"/><Relationship Id="rId5" Type="http://schemas.openxmlformats.org/officeDocument/2006/relationships/tags" Target="../tags/tag20.xml"/><Relationship Id="rId6" Type="http://schemas.openxmlformats.org/officeDocument/2006/relationships/tags" Target="../tags/tag21.xml"/><Relationship Id="rId7" Type="http://schemas.openxmlformats.org/officeDocument/2006/relationships/tags" Target="../tags/tag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2.xml"/><Relationship Id="rId3" Type="http://schemas.openxmlformats.org/officeDocument/2006/relationships/tags" Target="../tags/tag11.xml"/><Relationship Id="rId4" Type="http://schemas.openxmlformats.org/officeDocument/2006/relationships/slideLayout" Target="../slideLayouts/slideLayout2.xml"/><Relationship Id="rId5" Type="http://schemas.openxmlformats.org/officeDocument/2006/relationships/tags" Target="../tags/tag23.xml"/><Relationship Id="rId6" Type="http://schemas.openxmlformats.org/officeDocument/2006/relationships/tags" Target="../tags/tag24.xml"/><Relationship Id="rId7" Type="http://schemas.openxmlformats.org/officeDocument/2006/relationships/tags" Target="../tags/tag25.xml"/><Relationship Id="rId8" Type="http://schemas.openxmlformats.org/officeDocument/2006/relationships/tags" Target="../tags/tag26.xml"/><Relationship Id="rId9" Type="http://schemas.openxmlformats.org/officeDocument/2006/relationships/tags" Target="../tags/tag27.xml"/><Relationship Id="rId10" Type="http://schemas.openxmlformats.org/officeDocument/2006/relationships/tags" Target="../tags/tag2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5.xml"/><Relationship Id="rId3" Type="http://schemas.openxmlformats.org/officeDocument/2006/relationships/tags" Target="../tags/tag14.xml"/><Relationship Id="rId4" Type="http://schemas.openxmlformats.org/officeDocument/2006/relationships/slideLayout" Target="../slideLayouts/slideLayout2.xml"/><Relationship Id="rId5" Type="http://schemas.openxmlformats.org/officeDocument/2006/relationships/tags" Target="../tags/tag29.xml"/><Relationship Id="rId6" Type="http://schemas.openxmlformats.org/officeDocument/2006/relationships/tags" Target="../tags/tag30.xml"/><Relationship Id="rId7" Type="http://schemas.openxmlformats.org/officeDocument/2006/relationships/tags" Target="../tags/tag3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tags" Target="../tags/tag18.xml"/><Relationship Id="rId3" Type="http://schemas.openxmlformats.org/officeDocument/2006/relationships/tags" Target="../tags/tag17.xml"/><Relationship Id="rId4" Type="http://schemas.openxmlformats.org/officeDocument/2006/relationships/slideLayout" Target="../slideLayouts/slideLayout2.xml"/><Relationship Id="rId5" Type="http://schemas.openxmlformats.org/officeDocument/2006/relationships/tags" Target="../tags/tag3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13" Type="http://schemas.openxmlformats.org/officeDocument/2006/relationships/image" Target="../media/sym_100_image10.emf"/><Relationship Id="rId118" Type="http://schemas.openxmlformats.org/officeDocument/2006/relationships/image" Target="../media/sym_100_image15.emf"/><Relationship Id="rId126" Type="http://schemas.openxmlformats.org/officeDocument/2006/relationships/image" Target="../media/sym_100_image23.emf"/><Relationship Id="rId121" Type="http://schemas.openxmlformats.org/officeDocument/2006/relationships/image" Target="../media/sym_100_image18.emf"/><Relationship Id="rId134" Type="http://schemas.openxmlformats.org/officeDocument/2006/relationships/image" Target="../media/sym_100_image31.emf"/><Relationship Id="rId107" Type="http://schemas.openxmlformats.org/officeDocument/2006/relationships/image" Target="../media/sym_100_image1.emf"/><Relationship Id="rId112" Type="http://schemas.openxmlformats.org/officeDocument/2006/relationships/image" Target="../media/sym_100_image9.emf"/><Relationship Id="rId117" Type="http://schemas.openxmlformats.org/officeDocument/2006/relationships/image" Target="../media/sym_100_image14.emf"/><Relationship Id="rId125" Type="http://schemas.openxmlformats.org/officeDocument/2006/relationships/image" Target="../media/sym_100_image22.emf"/><Relationship Id="rId133" Type="http://schemas.openxmlformats.org/officeDocument/2006/relationships/image" Target="../media/sym_100_image30.emf"/><Relationship Id="rId102" Type="http://schemas.openxmlformats.org/officeDocument/2006/relationships/tags" Target="../tags/sym_100_tag11.xml"/><Relationship Id="rId116" Type="http://schemas.openxmlformats.org/officeDocument/2006/relationships/image" Target="../media/sym_100_image13.emf"/><Relationship Id="rId120" Type="http://schemas.openxmlformats.org/officeDocument/2006/relationships/image" Target="../media/sym_100_image17.emf"/><Relationship Id="rId129" Type="http://schemas.openxmlformats.org/officeDocument/2006/relationships/image" Target="../media/sym_100_image26.emf"/><Relationship Id="rId101" Type="http://schemas.openxmlformats.org/officeDocument/2006/relationships/tags" Target="../tags/sym_100_tag12.xml"/><Relationship Id="rId106" Type="http://schemas.openxmlformats.org/officeDocument/2006/relationships/oleObject" Target="../embeddings/sym_100_oleObject2.bin"/><Relationship Id="rId111" Type="http://schemas.openxmlformats.org/officeDocument/2006/relationships/image" Target="../media/sym_100_image8.emf"/><Relationship Id="rId124" Type="http://schemas.openxmlformats.org/officeDocument/2006/relationships/image" Target="../media/sym_100_image21.emf"/><Relationship Id="rId132" Type="http://schemas.openxmlformats.org/officeDocument/2006/relationships/image" Target="../media/sym_100_image29.emf"/><Relationship Id="rId137" Type="http://schemas.openxmlformats.org/officeDocument/2006/relationships/image" Target="../media/sym_100_image34.emf"/><Relationship Id="rId105" Type="http://schemas.openxmlformats.org/officeDocument/2006/relationships/slideLayout" Target="../slideLayouts/slideLayout2.xml"/><Relationship Id="rId115" Type="http://schemas.openxmlformats.org/officeDocument/2006/relationships/image" Target="../media/sym_100_image12.emf"/><Relationship Id="rId123" Type="http://schemas.openxmlformats.org/officeDocument/2006/relationships/image" Target="../media/sym_100_image20.emf"/><Relationship Id="rId128" Type="http://schemas.openxmlformats.org/officeDocument/2006/relationships/image" Target="../media/sym_100_image25.emf"/><Relationship Id="rId136" Type="http://schemas.openxmlformats.org/officeDocument/2006/relationships/image" Target="../media/sym_100_image33.emf"/><Relationship Id="rId110" Type="http://schemas.openxmlformats.org/officeDocument/2006/relationships/image" Target="../media/sym_100_image7.emf"/><Relationship Id="rId119" Type="http://schemas.openxmlformats.org/officeDocument/2006/relationships/image" Target="../media/sym_100_image16.emf"/><Relationship Id="rId131" Type="http://schemas.openxmlformats.org/officeDocument/2006/relationships/image" Target="../media/sym_100_image28.emf"/><Relationship Id="rId104" Type="http://schemas.openxmlformats.org/officeDocument/2006/relationships/tags" Target="../tags/sym_100_tag13.xml"/><Relationship Id="rId109" Type="http://schemas.openxmlformats.org/officeDocument/2006/relationships/image" Target="../media/sym_100_image6.emf"/><Relationship Id="rId114" Type="http://schemas.openxmlformats.org/officeDocument/2006/relationships/image" Target="../media/sym_100_image11.emf"/><Relationship Id="rId122" Type="http://schemas.openxmlformats.org/officeDocument/2006/relationships/image" Target="../media/sym_100_image19.emf"/><Relationship Id="rId127" Type="http://schemas.openxmlformats.org/officeDocument/2006/relationships/image" Target="../media/sym_100_image24.emf"/><Relationship Id="rId130" Type="http://schemas.openxmlformats.org/officeDocument/2006/relationships/image" Target="../media/sym_100_image27.emf"/><Relationship Id="rId135" Type="http://schemas.openxmlformats.org/officeDocument/2006/relationships/image" Target="../media/sym_100_image32.emf"/><Relationship Id="rId108" Type="http://schemas.openxmlformats.org/officeDocument/2006/relationships/image" Target="../media/sym_100_image5.emf"/><Relationship Id="rId103" Type="http://schemas.openxmlformats.org/officeDocument/2006/relationships/tags" Target="../tags/sym_100_tag14.xml"/></Relationships>
</file>

<file path=ppt/slides/_rels/slide9.xml.rels><?xml version='1.0' encoding='UTF-8' standalone='yes'?>
<Relationships xmlns="http://schemas.openxmlformats.org/package/2006/relationships"><Relationship Id="rId213" Type="http://schemas.openxmlformats.org/officeDocument/2006/relationships/image" Target="../media/sym_200_image10.emf"/><Relationship Id="rId218" Type="http://schemas.openxmlformats.org/officeDocument/2006/relationships/image" Target="../media/sym_200_image15.emf"/><Relationship Id="rId226" Type="http://schemas.openxmlformats.org/officeDocument/2006/relationships/image" Target="../media/sym_200_image23.emf"/><Relationship Id="rId221" Type="http://schemas.openxmlformats.org/officeDocument/2006/relationships/image" Target="../media/sym_200_image18.emf"/><Relationship Id="rId234" Type="http://schemas.openxmlformats.org/officeDocument/2006/relationships/image" Target="../media/sym_200_image31.emf"/><Relationship Id="rId207" Type="http://schemas.openxmlformats.org/officeDocument/2006/relationships/image" Target="../media/sym_200_image1.emf"/><Relationship Id="rId212" Type="http://schemas.openxmlformats.org/officeDocument/2006/relationships/image" Target="../media/sym_200_image9.emf"/><Relationship Id="rId217" Type="http://schemas.openxmlformats.org/officeDocument/2006/relationships/image" Target="../media/sym_200_image14.emf"/><Relationship Id="rId225" Type="http://schemas.openxmlformats.org/officeDocument/2006/relationships/image" Target="../media/sym_200_image22.emf"/><Relationship Id="rId233" Type="http://schemas.openxmlformats.org/officeDocument/2006/relationships/image" Target="../media/sym_200_image30.emf"/><Relationship Id="rId202" Type="http://schemas.openxmlformats.org/officeDocument/2006/relationships/tags" Target="../tags/sym_200_tag11.xml"/><Relationship Id="rId216" Type="http://schemas.openxmlformats.org/officeDocument/2006/relationships/image" Target="../media/sym_200_image13.emf"/><Relationship Id="rId220" Type="http://schemas.openxmlformats.org/officeDocument/2006/relationships/image" Target="../media/sym_200_image17.emf"/><Relationship Id="rId229" Type="http://schemas.openxmlformats.org/officeDocument/2006/relationships/image" Target="../media/sym_200_image26.emf"/><Relationship Id="rId201" Type="http://schemas.openxmlformats.org/officeDocument/2006/relationships/tags" Target="../tags/sym_200_tag12.xml"/><Relationship Id="rId206" Type="http://schemas.openxmlformats.org/officeDocument/2006/relationships/oleObject" Target="../embeddings/sym_200_oleObject2.bin"/><Relationship Id="rId211" Type="http://schemas.openxmlformats.org/officeDocument/2006/relationships/image" Target="../media/sym_200_image8.emf"/><Relationship Id="rId224" Type="http://schemas.openxmlformats.org/officeDocument/2006/relationships/image" Target="../media/sym_200_image21.emf"/><Relationship Id="rId232" Type="http://schemas.openxmlformats.org/officeDocument/2006/relationships/image" Target="../media/sym_200_image29.emf"/><Relationship Id="rId237" Type="http://schemas.openxmlformats.org/officeDocument/2006/relationships/image" Target="../media/sym_200_image34.emf"/><Relationship Id="rId205" Type="http://schemas.openxmlformats.org/officeDocument/2006/relationships/slideLayout" Target="../slideLayouts/slideLayout2.xml"/><Relationship Id="rId215" Type="http://schemas.openxmlformats.org/officeDocument/2006/relationships/image" Target="../media/sym_200_image12.emf"/><Relationship Id="rId223" Type="http://schemas.openxmlformats.org/officeDocument/2006/relationships/image" Target="../media/sym_200_image20.emf"/><Relationship Id="rId228" Type="http://schemas.openxmlformats.org/officeDocument/2006/relationships/image" Target="../media/sym_200_image25.emf"/><Relationship Id="rId236" Type="http://schemas.openxmlformats.org/officeDocument/2006/relationships/image" Target="../media/sym_200_image33.emf"/><Relationship Id="rId210" Type="http://schemas.openxmlformats.org/officeDocument/2006/relationships/image" Target="../media/sym_200_image7.emf"/><Relationship Id="rId219" Type="http://schemas.openxmlformats.org/officeDocument/2006/relationships/image" Target="../media/sym_200_image16.emf"/><Relationship Id="rId231" Type="http://schemas.openxmlformats.org/officeDocument/2006/relationships/image" Target="../media/sym_200_image28.emf"/><Relationship Id="rId204" Type="http://schemas.openxmlformats.org/officeDocument/2006/relationships/tags" Target="../tags/sym_200_tag13.xml"/><Relationship Id="rId209" Type="http://schemas.openxmlformats.org/officeDocument/2006/relationships/image" Target="../media/sym_200_image6.emf"/><Relationship Id="rId214" Type="http://schemas.openxmlformats.org/officeDocument/2006/relationships/image" Target="../media/sym_200_image11.emf"/><Relationship Id="rId222" Type="http://schemas.openxmlformats.org/officeDocument/2006/relationships/image" Target="../media/sym_200_image19.emf"/><Relationship Id="rId227" Type="http://schemas.openxmlformats.org/officeDocument/2006/relationships/image" Target="../media/sym_200_image24.emf"/><Relationship Id="rId230" Type="http://schemas.openxmlformats.org/officeDocument/2006/relationships/image" Target="../media/sym_200_image27.emf"/><Relationship Id="rId235" Type="http://schemas.openxmlformats.org/officeDocument/2006/relationships/image" Target="../media/sym_200_image32.emf"/><Relationship Id="rId208" Type="http://schemas.openxmlformats.org/officeDocument/2006/relationships/image" Target="../media/sym_200_image5.emf"/><Relationship Id="rId203" Type="http://schemas.openxmlformats.org/officeDocument/2006/relationships/tags" Target="../tags/sym_200_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89744-57C6-9810-EB9F-D5BAAE3EC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tfpColumnIndicatorGroup2">
            <a:extLst>
              <a:ext uri="{FF2B5EF4-FFF2-40B4-BE49-F238E27FC236}">
                <a16:creationId xmlns:a16="http://schemas.microsoft.com/office/drawing/2014/main" id="{4B1AFDBB-EE18-10BB-39B4-0BF3F9F31AD3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0" name="btfpColumnGapBlocker982357">
              <a:extLst>
                <a:ext uri="{FF2B5EF4-FFF2-40B4-BE49-F238E27FC236}">
                  <a16:creationId xmlns:a16="http://schemas.microsoft.com/office/drawing/2014/main" id="{FBDE4C38-9A6A-5C23-B694-474B1EE6833F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8" name="btfpColumnGapBlocker675028">
              <a:extLst>
                <a:ext uri="{FF2B5EF4-FFF2-40B4-BE49-F238E27FC236}">
                  <a16:creationId xmlns:a16="http://schemas.microsoft.com/office/drawing/2014/main" id="{A0C48888-B4E8-6B44-FFF0-8C272BA58005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lumnIndicator978567">
              <a:extLst>
                <a:ext uri="{FF2B5EF4-FFF2-40B4-BE49-F238E27FC236}">
                  <a16:creationId xmlns:a16="http://schemas.microsoft.com/office/drawing/2014/main" id="{83A20FE0-C7E1-D252-C489-3B02E0E10DEE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627303">
              <a:extLst>
                <a:ext uri="{FF2B5EF4-FFF2-40B4-BE49-F238E27FC236}">
                  <a16:creationId xmlns:a16="http://schemas.microsoft.com/office/drawing/2014/main" id="{222F4A25-AC78-075C-FEB9-F997F7A42D0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btfpColumnIndicatorGroup1">
            <a:extLst>
              <a:ext uri="{FF2B5EF4-FFF2-40B4-BE49-F238E27FC236}">
                <a16:creationId xmlns:a16="http://schemas.microsoft.com/office/drawing/2014/main" id="{A3D35A64-4373-46A5-2CE4-A4FE763AE3C2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9" name="btfpColumnGapBlocker157115">
              <a:extLst>
                <a:ext uri="{FF2B5EF4-FFF2-40B4-BE49-F238E27FC236}">
                  <a16:creationId xmlns:a16="http://schemas.microsoft.com/office/drawing/2014/main" id="{EBC3D6DB-F445-8096-713E-9AB744090845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7" name="btfpColumnGapBlocker839429">
              <a:extLst>
                <a:ext uri="{FF2B5EF4-FFF2-40B4-BE49-F238E27FC236}">
                  <a16:creationId xmlns:a16="http://schemas.microsoft.com/office/drawing/2014/main" id="{02241C48-F5E8-188E-44E1-FA080F93F6A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5" name="btfpColumnIndicator497660">
              <a:extLst>
                <a:ext uri="{FF2B5EF4-FFF2-40B4-BE49-F238E27FC236}">
                  <a16:creationId xmlns:a16="http://schemas.microsoft.com/office/drawing/2014/main" id="{F8482904-39D6-6CE4-25C6-7C99945A37A0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204029">
              <a:extLst>
                <a:ext uri="{FF2B5EF4-FFF2-40B4-BE49-F238E27FC236}">
                  <a16:creationId xmlns:a16="http://schemas.microsoft.com/office/drawing/2014/main" id="{5BA2AB0A-FC42-8C11-5584-12445A88BE2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787BC5-8C32-80DB-6DB0-544E28CA90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04069-1D43-BB2A-3879-B66239BE1D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is the value, and what would management recognise as its own agenda?</a:t>
            </a:r>
          </a:p>
          <a:p>
            <a:r>
              <a:rPr lang="en-US" dirty="0"/>
              <a:t>Outside-in view from public information, as of 2026-10-26 (EUR millions)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8FF574-0A03-330D-EA26-3DC9916393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rIns="36000"/>
          <a:lstStyle/>
          <a:p>
            <a:r>
              <a:rPr lang="en-US" dirty="0"/>
              <a:t>Schneider Electric SE: where the value 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216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73246-3DAE-3985-A8B4-84401125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btfpColumnIndicatorGroup2">
            <a:extLst>
              <a:ext uri="{FF2B5EF4-FFF2-40B4-BE49-F238E27FC236}">
                <a16:creationId xmlns:a16="http://schemas.microsoft.com/office/drawing/2014/main" id="{58019267-2675-FCCA-F153-E12BF240E8F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4" name="btfpColumnGapBlocker663793">
              <a:extLst>
                <a:ext uri="{FF2B5EF4-FFF2-40B4-BE49-F238E27FC236}">
                  <a16:creationId xmlns:a16="http://schemas.microsoft.com/office/drawing/2014/main" id="{E498CBAE-8DF0-AC22-1027-FAAB92C5EF37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2" name="btfpColumnGapBlocker943298">
              <a:extLst>
                <a:ext uri="{FF2B5EF4-FFF2-40B4-BE49-F238E27FC236}">
                  <a16:creationId xmlns:a16="http://schemas.microsoft.com/office/drawing/2014/main" id="{6710977C-90D1-FE08-025F-C1B7C4B5EC49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0" name="btfpColumnIndicator949944">
              <a:extLst>
                <a:ext uri="{FF2B5EF4-FFF2-40B4-BE49-F238E27FC236}">
                  <a16:creationId xmlns:a16="http://schemas.microsoft.com/office/drawing/2014/main" id="{3706999D-5046-66E9-0C38-74ED7CD184DC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btfpColumnIndicator611941">
              <a:extLst>
                <a:ext uri="{FF2B5EF4-FFF2-40B4-BE49-F238E27FC236}">
                  <a16:creationId xmlns:a16="http://schemas.microsoft.com/office/drawing/2014/main" id="{5F930A2A-63A6-1D4E-B00D-1B6611F19209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btfpColumnIndicatorGroup1">
            <a:extLst>
              <a:ext uri="{FF2B5EF4-FFF2-40B4-BE49-F238E27FC236}">
                <a16:creationId xmlns:a16="http://schemas.microsoft.com/office/drawing/2014/main" id="{EFCD0DCB-ED71-92DE-69F3-28FCF27B9F27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3" name="btfpColumnGapBlocker965041">
              <a:extLst>
                <a:ext uri="{FF2B5EF4-FFF2-40B4-BE49-F238E27FC236}">
                  <a16:creationId xmlns:a16="http://schemas.microsoft.com/office/drawing/2014/main" id="{02803654-D8D2-5D08-5533-8F4CEC5E177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1" name="btfpColumnGapBlocker115413">
              <a:extLst>
                <a:ext uri="{FF2B5EF4-FFF2-40B4-BE49-F238E27FC236}">
                  <a16:creationId xmlns:a16="http://schemas.microsoft.com/office/drawing/2014/main" id="{46DCDCA2-3CF2-96CF-84A0-D31499309D38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9" name="btfpColumnIndicator167589">
              <a:extLst>
                <a:ext uri="{FF2B5EF4-FFF2-40B4-BE49-F238E27FC236}">
                  <a16:creationId xmlns:a16="http://schemas.microsoft.com/office/drawing/2014/main" id="{C8E5627F-896D-E9B7-3D5B-4EAA41D64EF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696409">
              <a:extLst>
                <a:ext uri="{FF2B5EF4-FFF2-40B4-BE49-F238E27FC236}">
                  <a16:creationId xmlns:a16="http://schemas.microsoft.com/office/drawing/2014/main" id="{2CA1D044-9752-AFD4-E342-FC75C254A19F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EC49839-5EE0-C1FC-3844-90850048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6000"/>
          <a:lstStyle/>
          <a:p>
            <a:r>
              <a:rPr lang="en-US" dirty="0"/>
              <a:t>Executive summary</a:t>
            </a:r>
          </a:p>
        </p:txBody>
      </p:sp>
      <p:grpSp>
        <p:nvGrpSpPr>
          <p:cNvPr id="4" name="btfpStatusSticker285147">
            <a:extLst>
              <a:ext uri="{FF2B5EF4-FFF2-40B4-BE49-F238E27FC236}">
                <a16:creationId xmlns:a16="http://schemas.microsoft.com/office/drawing/2014/main" id="{E9DE92A1-63BB-4B8D-F32A-3F1AEB095A78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0100356" y="955344"/>
            <a:ext cx="1761444" cy="235611"/>
            <a:chOff x="-1630959" y="876300"/>
            <a:chExt cx="1761444" cy="235611"/>
          </a:xfrm>
        </p:grpSpPr>
        <p:sp>
          <p:nvSpPr>
            <p:cNvPr id="5" name="btfpStatusStickerText285147">
              <a:extLst>
                <a:ext uri="{FF2B5EF4-FFF2-40B4-BE49-F238E27FC236}">
                  <a16:creationId xmlns:a16="http://schemas.microsoft.com/office/drawing/2014/main" id="{EDBBEFD4-8DD4-63A5-DEFC-E7782B277B11}"/>
                </a:ext>
              </a:extLst>
            </p:cNvPr>
            <p:cNvSpPr txBox="1"/>
            <p:nvPr/>
          </p:nvSpPr>
          <p:spPr bwMode="gray">
            <a:xfrm>
              <a:off x="-1630959" y="876300"/>
              <a:ext cx="176144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000000"/>
                  </a:solidFill>
                </a:rPr>
                <a:t>Preliminary</a:t>
              </a:r>
            </a:p>
          </p:txBody>
        </p:sp>
        <p:cxnSp>
          <p:nvCxnSpPr>
            <p:cNvPr id="6" name="btfpStatusStickerLine285147">
              <a:extLst>
                <a:ext uri="{FF2B5EF4-FFF2-40B4-BE49-F238E27FC236}">
                  <a16:creationId xmlns:a16="http://schemas.microsoft.com/office/drawing/2014/main" id="{D6327B0D-BF4A-9CFD-4720-FD7F21D2C809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163095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btfpBulletedList216308">
            <a:extLst>
              <a:ext uri="{FF2B5EF4-FFF2-40B4-BE49-F238E27FC236}">
                <a16:creationId xmlns:a16="http://schemas.microsoft.com/office/drawing/2014/main" id="{FCB24529-1FBC-5FA3-7E12-EDE1BA53841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330200" y="1344168"/>
            <a:ext cx="11531600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/>
              <a:t>Schneider out-grows its peers but converts less of that growth into margin: closing the adjusted EBITA margin gap to the peer median and top quartile is worth €451M–€1.4B a year, the range management's own 2030 margin target already reaches into, plus up to €1.3–2.2B of one-off cash if the receivables gap is real.</a:t>
            </a:r>
          </a:p>
          <a:p>
            <a:r>
              <a:rPr lang="en-US" dirty="0"/>
              <a:t>Growth is not the gap: organic growth of 8.9% ranks 1 of 7 against a peer median of 5.2%, and 2026 guidance has been raised twice.</a:t>
            </a:r>
          </a:p>
          <a:p>
            <a:r>
              <a:rPr lang="en-US" dirty="0"/>
              <a:t>Margin is: adjusted EBITA margin of 18.7% ranks 6 of 7, 1.1 pp below the peer median of 19.9%; closing to median and top quartile is worth €451M–€1.4B of EBIT (112–345 bps).</a:t>
            </a:r>
          </a:p>
          <a:p>
            <a:r>
              <a:rPr lang="en-US" dirty="0"/>
              <a:t>Where the margin gap sits depends on the comparator: against Eaton and Hubbell it is support functions (SG&amp;A 19.9% of revenue against a median of 17.8%); against Legrand and Emerson it is gross margin (rank 4 of 7); and Industrial Automation earns well below the group.</a:t>
            </a:r>
          </a:p>
          <a:p>
            <a:r>
              <a:rPr lang="en-US" dirty="0"/>
              <a:t>Cash: receivables run 89 days against 77 days for peers, worth €1.3–2.2B one-off if the gap is real, and cash matters more once PTC adds new debt.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1876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0AC87-365D-1726-76B9-FC7D6D7E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btfpColumnIndicatorGroup2">
            <a:extLst>
              <a:ext uri="{FF2B5EF4-FFF2-40B4-BE49-F238E27FC236}">
                <a16:creationId xmlns:a16="http://schemas.microsoft.com/office/drawing/2014/main" id="{6D04A7FE-3BB3-0A0C-530C-17CF85A1D80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6" name="btfpColumnGapBlocker334598">
              <a:extLst>
                <a:ext uri="{FF2B5EF4-FFF2-40B4-BE49-F238E27FC236}">
                  <a16:creationId xmlns:a16="http://schemas.microsoft.com/office/drawing/2014/main" id="{3641AF97-8404-B075-A036-993B2CEBECC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4" name="btfpColumnGapBlocker999382">
              <a:extLst>
                <a:ext uri="{FF2B5EF4-FFF2-40B4-BE49-F238E27FC236}">
                  <a16:creationId xmlns:a16="http://schemas.microsoft.com/office/drawing/2014/main" id="{DEB75BAA-50BD-C965-F785-97DE24243386}"/>
                </a:ext>
              </a:extLst>
            </p:cNvPr>
            <p:cNvSpPr/>
            <p:nvPr/>
          </p:nvSpPr>
          <p:spPr bwMode="gray">
            <a:xfrm>
              <a:off x="5825728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67449">
              <a:extLst>
                <a:ext uri="{FF2B5EF4-FFF2-40B4-BE49-F238E27FC236}">
                  <a16:creationId xmlns:a16="http://schemas.microsoft.com/office/drawing/2014/main" id="{D784DC0E-FECB-DE17-CA28-9A3EC9260A5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950599">
              <a:extLst>
                <a:ext uri="{FF2B5EF4-FFF2-40B4-BE49-F238E27FC236}">
                  <a16:creationId xmlns:a16="http://schemas.microsoft.com/office/drawing/2014/main" id="{4E147231-BB17-3961-8FB8-B5F652077F27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btfpColumnGapBlocker240291">
              <a:extLst>
                <a:ext uri="{FF2B5EF4-FFF2-40B4-BE49-F238E27FC236}">
                  <a16:creationId xmlns:a16="http://schemas.microsoft.com/office/drawing/2014/main" id="{E00D3959-73DC-086A-2162-0AC64C1C398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940759">
              <a:extLst>
                <a:ext uri="{FF2B5EF4-FFF2-40B4-BE49-F238E27FC236}">
                  <a16:creationId xmlns:a16="http://schemas.microsoft.com/office/drawing/2014/main" id="{9B8AC4AC-4360-19C8-AB89-A683929B17C1}"/>
                </a:ext>
              </a:extLst>
            </p:cNvPr>
            <p:cNvCxnSpPr/>
            <p:nvPr/>
          </p:nvCxnSpPr>
          <p:spPr bwMode="gray">
            <a:xfrm flipV="1">
              <a:off x="582572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540369">
              <a:extLst>
                <a:ext uri="{FF2B5EF4-FFF2-40B4-BE49-F238E27FC236}">
                  <a16:creationId xmlns:a16="http://schemas.microsoft.com/office/drawing/2014/main" id="{DACF5831-88B1-17A0-AE23-64D83FFA205E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btfpColumnIndicatorGroup1">
            <a:extLst>
              <a:ext uri="{FF2B5EF4-FFF2-40B4-BE49-F238E27FC236}">
                <a16:creationId xmlns:a16="http://schemas.microsoft.com/office/drawing/2014/main" id="{5CC1BAF2-0515-FC0F-F243-1DB809E2EA8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5" name="btfpColumnGapBlocker861021">
              <a:extLst>
                <a:ext uri="{FF2B5EF4-FFF2-40B4-BE49-F238E27FC236}">
                  <a16:creationId xmlns:a16="http://schemas.microsoft.com/office/drawing/2014/main" id="{7FF1E478-DAEF-82C3-504A-A666BDE4B52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3" name="btfpColumnGapBlocker821125">
              <a:extLst>
                <a:ext uri="{FF2B5EF4-FFF2-40B4-BE49-F238E27FC236}">
                  <a16:creationId xmlns:a16="http://schemas.microsoft.com/office/drawing/2014/main" id="{9EC12139-94BA-0C1C-791D-ED17D65AE9E7}"/>
                </a:ext>
              </a:extLst>
            </p:cNvPr>
            <p:cNvSpPr/>
            <p:nvPr/>
          </p:nvSpPr>
          <p:spPr bwMode="gray">
            <a:xfrm>
              <a:off x="5825728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1" name="btfpColumnIndicator109110">
              <a:extLst>
                <a:ext uri="{FF2B5EF4-FFF2-40B4-BE49-F238E27FC236}">
                  <a16:creationId xmlns:a16="http://schemas.microsoft.com/office/drawing/2014/main" id="{C89AA7C3-7B6C-4F6A-F781-BD1700E21AD5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btfpColumnIndicator291987">
              <a:extLst>
                <a:ext uri="{FF2B5EF4-FFF2-40B4-BE49-F238E27FC236}">
                  <a16:creationId xmlns:a16="http://schemas.microsoft.com/office/drawing/2014/main" id="{A7758237-938D-6557-8757-E59E52372336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btfpColumnGapBlocker647258">
              <a:extLst>
                <a:ext uri="{FF2B5EF4-FFF2-40B4-BE49-F238E27FC236}">
                  <a16:creationId xmlns:a16="http://schemas.microsoft.com/office/drawing/2014/main" id="{1BC4A8EB-8003-E94D-FCDF-24CD35DAC81D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262969">
              <a:extLst>
                <a:ext uri="{FF2B5EF4-FFF2-40B4-BE49-F238E27FC236}">
                  <a16:creationId xmlns:a16="http://schemas.microsoft.com/office/drawing/2014/main" id="{574809EB-1228-B8F4-610F-DD5030525BD5}"/>
                </a:ext>
              </a:extLst>
            </p:cNvPr>
            <p:cNvCxnSpPr/>
            <p:nvPr/>
          </p:nvCxnSpPr>
          <p:spPr bwMode="gray">
            <a:xfrm flipV="1">
              <a:off x="582572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910699">
              <a:extLst>
                <a:ext uri="{FF2B5EF4-FFF2-40B4-BE49-F238E27FC236}">
                  <a16:creationId xmlns:a16="http://schemas.microsoft.com/office/drawing/2014/main" id="{57A3AAFB-9B97-BB3C-E65B-F8F129EF3B11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EA3494-C6B8-800F-C3B4-43AB96D1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6000"/>
          <a:lstStyle/>
          <a:p>
            <a:r>
              <a:rPr lang="en-US" dirty="0"/>
              <a:t>Schneider is top quartile on organic growth (8.9%) but bottom quartile on EBIT margin (18.7%)</a:t>
            </a:r>
          </a:p>
        </p:txBody>
      </p:sp>
      <p:sp>
        <p:nvSpPr>
          <p:cNvPr id="13" name="btfpNotesBox822740">
            <a:extLst>
              <a:ext uri="{FF2B5EF4-FFF2-40B4-BE49-F238E27FC236}">
                <a16:creationId xmlns:a16="http://schemas.microsoft.com/office/drawing/2014/main" id="{326823B5-95C6-E8F1-E63B-E8314112B944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gray">
          <a:xfrm>
            <a:off x="330200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Company filings, results releases and earnings calls; public-data opportunity scan</a:t>
            </a:r>
            <a:endParaRPr lang="en-US" sz="800" dirty="0" err="1">
              <a:solidFill>
                <a:srgbClr val="000000"/>
              </a:solidFill>
            </a:endParaRPr>
          </a:p>
        </p:txBody>
      </p:sp>
      <p:grpSp>
        <p:nvGrpSpPr>
          <p:cNvPr id="14" name="btfpStatusSticker285147">
            <a:extLst>
              <a:ext uri="{FF2B5EF4-FFF2-40B4-BE49-F238E27FC236}">
                <a16:creationId xmlns:a16="http://schemas.microsoft.com/office/drawing/2014/main" id="{47D79E53-AA15-EE87-AF35-A61D9D8598DE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100356" y="955344"/>
            <a:ext cx="1761444" cy="235611"/>
            <a:chOff x="-1630959" y="876300"/>
            <a:chExt cx="1761444" cy="235611"/>
          </a:xfrm>
        </p:grpSpPr>
        <p:sp>
          <p:nvSpPr>
            <p:cNvPr id="15" name="btfpStatusStickerText285147">
              <a:extLst>
                <a:ext uri="{FF2B5EF4-FFF2-40B4-BE49-F238E27FC236}">
                  <a16:creationId xmlns:a16="http://schemas.microsoft.com/office/drawing/2014/main" id="{3C92E4D7-B01C-352B-4270-BAECD83CA2B0}"/>
                </a:ext>
              </a:extLst>
            </p:cNvPr>
            <p:cNvSpPr txBox="1"/>
            <p:nvPr/>
          </p:nvSpPr>
          <p:spPr bwMode="gray">
            <a:xfrm>
              <a:off x="-1630959" y="876300"/>
              <a:ext cx="176144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000000"/>
                  </a:solidFill>
                </a:rPr>
                <a:t>Preliminary</a:t>
              </a:r>
            </a:p>
          </p:txBody>
        </p:sp>
        <p:cxnSp>
          <p:nvCxnSpPr>
            <p:cNvPr id="16" name="btfpStatusStickerLine285147">
              <a:extLst>
                <a:ext uri="{FF2B5EF4-FFF2-40B4-BE49-F238E27FC236}">
                  <a16:creationId xmlns:a16="http://schemas.microsoft.com/office/drawing/2014/main" id="{375A04E0-D552-FBFF-727D-2175B23572C1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163095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29184" y="1271016"/>
            <a:ext cx="5495544" cy="318997"/>
            <a:chOff x="329184" y="1270000"/>
            <a:chExt cx="549554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329184" y="1270000"/>
              <a:ext cx="549554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EBIT margin by company (FY25)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329184" y="1588997"/>
              <a:ext cx="549554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6364224" y="1271016"/>
            <a:ext cx="5495544" cy="318997"/>
            <a:chOff x="6364224" y="1270000"/>
            <a:chExt cx="549554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6364224" y="1270000"/>
              <a:ext cx="549554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Commentary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6364224" y="1588997"/>
              <a:ext cx="549554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gray">
          <a:xfrm>
            <a:off x="6364224" y="1663165"/>
            <a:ext cx="549554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 b="1"/>
              <a:t>EBIT margin: bottom quartile</a:t>
            </a:r>
            <a:r>
              <a:rPr lang="en-US" dirty="0"/>
              <a:t> (18.7%, 6 of 7; median 19.9%)</a:t>
            </a:r>
          </a:p>
          <a:p>
            <a:r>
              <a:rPr lang="en-US" dirty="0" b="1"/>
              <a:t>Organic growth: top quartile</a:t>
            </a:r>
            <a:r>
              <a:rPr lang="en-US" dirty="0"/>
              <a:t> (8.9%, 1 of 7; median 5.2%)</a:t>
            </a:r>
          </a:p>
          <a:p>
            <a:r>
              <a:rPr lang="en-US" dirty="0" b="1"/>
              <a:t>Gross margin: below median</a:t>
            </a:r>
            <a:r>
              <a:rPr lang="en-US" dirty="0"/>
              <a:t> (42.1%, 4 of 7; median 44.6%)</a:t>
            </a:r>
          </a:p>
          <a:p>
            <a:r>
              <a:rPr lang="en-US" dirty="0" b="1"/>
              <a:t>SG&amp;A as % of revenue: below median</a:t>
            </a:r>
            <a:r>
              <a:rPr lang="en-US" dirty="0"/>
              <a:t> (19.9%, 4 of 5; median 17.8%)</a:t>
            </a:r>
          </a:p>
          <a:p>
            <a:r>
              <a:rPr lang="en-US" dirty="0" b="1"/>
              <a:t>Days sales outstanding: bottom quartile</a:t>
            </a:r>
            <a:r>
              <a:rPr lang="en-US" dirty="0"/>
              <a:t> (89 days, 5 of 5; median 77 days)</a:t>
            </a:r>
          </a:p>
          <a:p>
            <a:r>
              <a:rPr lang="en-US" dirty="0" b="1"/>
              <a:t>Days inventory outstanding: top quartile</a:t>
            </a:r>
            <a:r>
              <a:rPr lang="en-US" dirty="0"/>
              <a:t> (84 days, 1 of 5; median 103 days)</a:t>
            </a:r>
          </a:p>
        </p:txBody>
      </p:sp>
      <p:sp>
        <p:nvSpPr>
          <p:cNvPr id="32" name="Chart placeholder"/>
          <p:cNvSpPr txBox="1"/>
          <p:nvPr/>
        </p:nvSpPr>
        <p:spPr>
          <a:xfrm>
            <a:off x="329184" y="1681453"/>
            <a:ext cx="5495544" cy="4455346"/>
          </a:xfrm>
          <a:prstGeom prst="rect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 wrap="square">
            <a:noAutofit/>
          </a:bodyPr>
          <a:lstStyle/>
          <a:p>
            <a:r>
              <a:rPr sz="1100" i="1">
                <a:solidFill>
                  <a:srgbClr val="999999"/>
                </a:solidFill>
                <a:latin typeface="Arial"/>
              </a:rPr>
              <a:t>[Chart: bar, EBIT margin by company, sorted best to worst, with peer median and top quartile; data in chart-data.xlsx]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578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BB572-A109-B451-2897-15FCECF0F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btfpColumnIndicatorGroup2">
            <a:extLst>
              <a:ext uri="{FF2B5EF4-FFF2-40B4-BE49-F238E27FC236}">
                <a16:creationId xmlns:a16="http://schemas.microsoft.com/office/drawing/2014/main" id="{EE8BDA20-FB78-F8B7-079B-0C3EA635CB93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8" name="btfpColumnGapBlocker162827">
              <a:extLst>
                <a:ext uri="{FF2B5EF4-FFF2-40B4-BE49-F238E27FC236}">
                  <a16:creationId xmlns:a16="http://schemas.microsoft.com/office/drawing/2014/main" id="{3E72A461-5B72-A88D-56F3-16868BA18120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36" name="btfpColumnGapBlocker978690">
              <a:extLst>
                <a:ext uri="{FF2B5EF4-FFF2-40B4-BE49-F238E27FC236}">
                  <a16:creationId xmlns:a16="http://schemas.microsoft.com/office/drawing/2014/main" id="{E4F5273A-5A07-0340-CCD5-D5F92848FB5E}"/>
                </a:ext>
              </a:extLst>
            </p:cNvPr>
            <p:cNvSpPr/>
            <p:nvPr/>
          </p:nvSpPr>
          <p:spPr bwMode="gray">
            <a:xfrm>
              <a:off x="783775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34" name="btfpColumnIndicator383163">
              <a:extLst>
                <a:ext uri="{FF2B5EF4-FFF2-40B4-BE49-F238E27FC236}">
                  <a16:creationId xmlns:a16="http://schemas.microsoft.com/office/drawing/2014/main" id="{E7E6DDA7-1CE5-847F-C0F8-F9033C9E0D53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btfpColumnIndicator360394">
              <a:extLst>
                <a:ext uri="{FF2B5EF4-FFF2-40B4-BE49-F238E27FC236}">
                  <a16:creationId xmlns:a16="http://schemas.microsoft.com/office/drawing/2014/main" id="{A0C079A4-FB49-092F-9B0C-F9E760BFFFEA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tfpColumnGapBlocker893680">
              <a:extLst>
                <a:ext uri="{FF2B5EF4-FFF2-40B4-BE49-F238E27FC236}">
                  <a16:creationId xmlns:a16="http://schemas.microsoft.com/office/drawing/2014/main" id="{99F8CBF3-807F-95F6-956E-797B7400A3EF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22" name="btfpColumnIndicator119116">
              <a:extLst>
                <a:ext uri="{FF2B5EF4-FFF2-40B4-BE49-F238E27FC236}">
                  <a16:creationId xmlns:a16="http://schemas.microsoft.com/office/drawing/2014/main" id="{F1256DD4-C35A-E30F-43F0-4C6CC7AD6BDF}"/>
                </a:ext>
              </a:extLst>
            </p:cNvPr>
            <p:cNvCxnSpPr/>
            <p:nvPr/>
          </p:nvCxnSpPr>
          <p:spPr bwMode="gray">
            <a:xfrm flipV="1">
              <a:off x="783775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btfpColumnIndicator490022">
              <a:extLst>
                <a:ext uri="{FF2B5EF4-FFF2-40B4-BE49-F238E27FC236}">
                  <a16:creationId xmlns:a16="http://schemas.microsoft.com/office/drawing/2014/main" id="{49ED7B81-83BE-C3DC-7FFE-D679295D3E7F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btfpColumnGapBlocker149819">
              <a:extLst>
                <a:ext uri="{FF2B5EF4-FFF2-40B4-BE49-F238E27FC236}">
                  <a16:creationId xmlns:a16="http://schemas.microsoft.com/office/drawing/2014/main" id="{023ACCC5-66A2-F237-E67A-1C0976377561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lumnIndicator842777">
              <a:extLst>
                <a:ext uri="{FF2B5EF4-FFF2-40B4-BE49-F238E27FC236}">
                  <a16:creationId xmlns:a16="http://schemas.microsoft.com/office/drawing/2014/main" id="{FA548B64-D294-684C-21E4-ABF51FC233F7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765246">
              <a:extLst>
                <a:ext uri="{FF2B5EF4-FFF2-40B4-BE49-F238E27FC236}">
                  <a16:creationId xmlns:a16="http://schemas.microsoft.com/office/drawing/2014/main" id="{99C4663C-51C7-B80F-B3FA-124B80E3665C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btfpColumnIndicatorGroup1">
            <a:extLst>
              <a:ext uri="{FF2B5EF4-FFF2-40B4-BE49-F238E27FC236}">
                <a16:creationId xmlns:a16="http://schemas.microsoft.com/office/drawing/2014/main" id="{524155D2-9AA5-AC61-70B6-C8634F8376F8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7" name="btfpColumnGapBlocker127895">
              <a:extLst>
                <a:ext uri="{FF2B5EF4-FFF2-40B4-BE49-F238E27FC236}">
                  <a16:creationId xmlns:a16="http://schemas.microsoft.com/office/drawing/2014/main" id="{507ECB7B-AB75-85BB-D559-63F4DC54C0F1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35" name="btfpColumnGapBlocker746785">
              <a:extLst>
                <a:ext uri="{FF2B5EF4-FFF2-40B4-BE49-F238E27FC236}">
                  <a16:creationId xmlns:a16="http://schemas.microsoft.com/office/drawing/2014/main" id="{1D6EE21C-A885-DF66-1C3C-2C7267FF1028}"/>
                </a:ext>
              </a:extLst>
            </p:cNvPr>
            <p:cNvSpPr/>
            <p:nvPr/>
          </p:nvSpPr>
          <p:spPr bwMode="gray">
            <a:xfrm>
              <a:off x="783775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33" name="btfpColumnIndicator202492">
              <a:extLst>
                <a:ext uri="{FF2B5EF4-FFF2-40B4-BE49-F238E27FC236}">
                  <a16:creationId xmlns:a16="http://schemas.microsoft.com/office/drawing/2014/main" id="{EB016CC1-EB02-9B8B-47DD-4F2F1051F4AB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btfpColumnIndicator192883">
              <a:extLst>
                <a:ext uri="{FF2B5EF4-FFF2-40B4-BE49-F238E27FC236}">
                  <a16:creationId xmlns:a16="http://schemas.microsoft.com/office/drawing/2014/main" id="{7159533A-84B7-C0DB-7E19-796C0A8214D5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btfpColumnGapBlocker677722">
              <a:extLst>
                <a:ext uri="{FF2B5EF4-FFF2-40B4-BE49-F238E27FC236}">
                  <a16:creationId xmlns:a16="http://schemas.microsoft.com/office/drawing/2014/main" id="{BFDED8DF-78A8-0E3B-9931-E3EC99C3C7CC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21" name="btfpColumnIndicator665204">
              <a:extLst>
                <a:ext uri="{FF2B5EF4-FFF2-40B4-BE49-F238E27FC236}">
                  <a16:creationId xmlns:a16="http://schemas.microsoft.com/office/drawing/2014/main" id="{9CE73271-0BA7-22AA-8DCD-C54CD0B500BC}"/>
                </a:ext>
              </a:extLst>
            </p:cNvPr>
            <p:cNvCxnSpPr/>
            <p:nvPr/>
          </p:nvCxnSpPr>
          <p:spPr bwMode="gray">
            <a:xfrm flipV="1">
              <a:off x="783775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btfpColumnIndicator417281">
              <a:extLst>
                <a:ext uri="{FF2B5EF4-FFF2-40B4-BE49-F238E27FC236}">
                  <a16:creationId xmlns:a16="http://schemas.microsoft.com/office/drawing/2014/main" id="{ADDC3F49-7CF3-F7DD-B317-51AF33632493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btfpColumnGapBlocker813491">
              <a:extLst>
                <a:ext uri="{FF2B5EF4-FFF2-40B4-BE49-F238E27FC236}">
                  <a16:creationId xmlns:a16="http://schemas.microsoft.com/office/drawing/2014/main" id="{CE9F8914-0D6A-4B4B-0CB6-9CA229A1B2D3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5" name="btfpColumnIndicator141454">
              <a:extLst>
                <a:ext uri="{FF2B5EF4-FFF2-40B4-BE49-F238E27FC236}">
                  <a16:creationId xmlns:a16="http://schemas.microsoft.com/office/drawing/2014/main" id="{0A52AEA9-DD79-40A3-2E72-C1D4AA9FD648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810265">
              <a:extLst>
                <a:ext uri="{FF2B5EF4-FFF2-40B4-BE49-F238E27FC236}">
                  <a16:creationId xmlns:a16="http://schemas.microsoft.com/office/drawing/2014/main" id="{B759D9E7-2BBE-CBEA-1985-16E18C1CA436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BFD7FC-1C71-81BE-0812-A42D10632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6000"/>
          <a:lstStyle/>
          <a:p>
            <a:r>
              <a:rPr lang="en-US" dirty="0"/>
              <a:t>The strongest framing for Schneider: margin, not growth, is the gap</a:t>
            </a:r>
          </a:p>
        </p:txBody>
      </p:sp>
      <p:sp>
        <p:nvSpPr>
          <p:cNvPr id="3" name="btfpNotesBox822740">
            <a:extLst>
              <a:ext uri="{FF2B5EF4-FFF2-40B4-BE49-F238E27FC236}">
                <a16:creationId xmlns:a16="http://schemas.microsoft.com/office/drawing/2014/main" id="{2E70E958-9BBF-5B2B-1F25-8261027C67BE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gray">
          <a:xfrm>
            <a:off x="330200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Company filings, results releases and earnings calls; public-data opportunity scan</a:t>
            </a:r>
            <a:endParaRPr lang="en-US" sz="800" dirty="0" err="1">
              <a:solidFill>
                <a:srgbClr val="000000"/>
              </a:solidFill>
            </a:endParaRPr>
          </a:p>
        </p:txBody>
      </p:sp>
      <p:grpSp>
        <p:nvGrpSpPr>
          <p:cNvPr id="4" name="btfpStatusSticker285147">
            <a:extLst>
              <a:ext uri="{FF2B5EF4-FFF2-40B4-BE49-F238E27FC236}">
                <a16:creationId xmlns:a16="http://schemas.microsoft.com/office/drawing/2014/main" id="{2A67A978-474F-D84C-CE58-60A7290E5897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100356" y="955344"/>
            <a:ext cx="1761444" cy="235611"/>
            <a:chOff x="-1630959" y="876300"/>
            <a:chExt cx="1761444" cy="235611"/>
          </a:xfrm>
        </p:grpSpPr>
        <p:sp>
          <p:nvSpPr>
            <p:cNvPr id="5" name="btfpStatusStickerText285147">
              <a:extLst>
                <a:ext uri="{FF2B5EF4-FFF2-40B4-BE49-F238E27FC236}">
                  <a16:creationId xmlns:a16="http://schemas.microsoft.com/office/drawing/2014/main" id="{D9BB44FA-7601-9778-9C1E-A4E26ED9B4B6}"/>
                </a:ext>
              </a:extLst>
            </p:cNvPr>
            <p:cNvSpPr txBox="1"/>
            <p:nvPr/>
          </p:nvSpPr>
          <p:spPr bwMode="gray">
            <a:xfrm>
              <a:off x="-1630959" y="876300"/>
              <a:ext cx="176144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000000"/>
                  </a:solidFill>
                </a:rPr>
                <a:t>Preliminary</a:t>
              </a:r>
            </a:p>
          </p:txBody>
        </p:sp>
        <p:cxnSp>
          <p:nvCxnSpPr>
            <p:cNvPr id="6" name="btfpStatusStickerLine285147">
              <a:extLst>
                <a:ext uri="{FF2B5EF4-FFF2-40B4-BE49-F238E27FC236}">
                  <a16:creationId xmlns:a16="http://schemas.microsoft.com/office/drawing/2014/main" id="{54B38353-4CAE-32FF-829A-49A91BEEED68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163095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29184" y="1271016"/>
            <a:ext cx="3483864" cy="318997"/>
            <a:chOff x="329184" y="1270000"/>
            <a:chExt cx="348386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329184" y="1270000"/>
              <a:ext cx="348386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Margin, not growth, is the gap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329184" y="1588997"/>
              <a:ext cx="348386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gray">
          <a:xfrm>
            <a:off x="329184" y="1663165"/>
            <a:ext cx="348386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/>
              <a:t>Schneider ranks 1 of 7 on organic growth but 6 of 7 on adjusted EBITA margin</a:t>
            </a:r>
          </a:p>
          <a:p>
            <a:r>
              <a:rPr lang="en-US" dirty="0" b="1"/>
              <a:t>Client readiness: high</a:t>
            </a:r>
            <a:r>
              <a:rPr lang="en-US" dirty="0"/>
              <a:t> (It restates management's own margin ambition with peer evidence)</a:t>
            </a:r>
          </a:p>
        </p:txBody>
      </p:sp>
      <p:grpSp>
        <p:nvGrpSpPr>
          <p:cNvPr id="43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4352544" y="1271016"/>
            <a:ext cx="3483864" cy="318997"/>
            <a:chOff x="4352544" y="1270000"/>
            <a:chExt cx="348386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4352544" y="1270000"/>
              <a:ext cx="348386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Industrial Automation is the margin lever that data centres will not pull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4352544" y="1588997"/>
              <a:ext cx="348386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gray">
          <a:xfrm>
            <a:off x="4352544" y="1663165"/>
            <a:ext cx="348386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/>
              <a:t>Automation peers earn 20.4% (Rockwell, segment margin) and 26.0% (Emerson, adjusted EBITA), well above Schneider's group margin of 18.7%</a:t>
            </a:r>
          </a:p>
          <a:p>
            <a:r>
              <a:rPr lang="en-US" dirty="0" b="1"/>
              <a:t>Client readiness: high</a:t>
            </a:r>
            <a:r>
              <a:rPr lang="en-US" dirty="0"/>
              <a:t> (Management set the plan and reports on it)</a:t>
            </a:r>
          </a:p>
        </p:txBody>
      </p:sp>
      <p:grpSp>
        <p:nvGrpSpPr>
          <p:cNvPr id="45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8375904" y="1271016"/>
            <a:ext cx="3483864" cy="318997"/>
            <a:chOff x="8375904" y="1270000"/>
            <a:chExt cx="348386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8375904" y="1270000"/>
              <a:ext cx="348386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Growth is a strength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8375904" y="1588997"/>
              <a:ext cx="348386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10"/>
            </p:custDataLst>
          </p:nvPr>
        </p:nvSpPr>
        <p:spPr bwMode="gray">
          <a:xfrm>
            <a:off x="8375904" y="1663165"/>
            <a:ext cx="348386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/>
              <a:t>Organic growth of 8.9% is top quartile against a median of 5.2%, so the growth bucket shows no gap.</a:t>
            </a:r>
          </a:p>
          <a:p>
            <a:r>
              <a:rPr lang="en-US" dirty="0" b="1"/>
              <a:t>Client readiness: moderate</a:t>
            </a:r>
            <a:r>
              <a:rPr lang="en-US" dirty="0"/>
              <a:t> (Management calls the deal strategic while analysts are sceptical)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310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0AC87-365D-1726-76B9-FC7D6D7E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btfpColumnIndicatorGroup2">
            <a:extLst>
              <a:ext uri="{FF2B5EF4-FFF2-40B4-BE49-F238E27FC236}">
                <a16:creationId xmlns:a16="http://schemas.microsoft.com/office/drawing/2014/main" id="{6D04A7FE-3BB3-0A0C-530C-17CF85A1D80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6" name="btfpColumnGapBlocker334598">
              <a:extLst>
                <a:ext uri="{FF2B5EF4-FFF2-40B4-BE49-F238E27FC236}">
                  <a16:creationId xmlns:a16="http://schemas.microsoft.com/office/drawing/2014/main" id="{3641AF97-8404-B075-A036-993B2CEBECC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4" name="btfpColumnGapBlocker999382">
              <a:extLst>
                <a:ext uri="{FF2B5EF4-FFF2-40B4-BE49-F238E27FC236}">
                  <a16:creationId xmlns:a16="http://schemas.microsoft.com/office/drawing/2014/main" id="{DEB75BAA-50BD-C965-F785-97DE24243386}"/>
                </a:ext>
              </a:extLst>
            </p:cNvPr>
            <p:cNvSpPr/>
            <p:nvPr/>
          </p:nvSpPr>
          <p:spPr bwMode="gray">
            <a:xfrm>
              <a:off x="5825728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67449">
              <a:extLst>
                <a:ext uri="{FF2B5EF4-FFF2-40B4-BE49-F238E27FC236}">
                  <a16:creationId xmlns:a16="http://schemas.microsoft.com/office/drawing/2014/main" id="{D784DC0E-FECB-DE17-CA28-9A3EC9260A5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950599">
              <a:extLst>
                <a:ext uri="{FF2B5EF4-FFF2-40B4-BE49-F238E27FC236}">
                  <a16:creationId xmlns:a16="http://schemas.microsoft.com/office/drawing/2014/main" id="{4E147231-BB17-3961-8FB8-B5F652077F27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btfpColumnGapBlocker240291">
              <a:extLst>
                <a:ext uri="{FF2B5EF4-FFF2-40B4-BE49-F238E27FC236}">
                  <a16:creationId xmlns:a16="http://schemas.microsoft.com/office/drawing/2014/main" id="{E00D3959-73DC-086A-2162-0AC64C1C398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940759">
              <a:extLst>
                <a:ext uri="{FF2B5EF4-FFF2-40B4-BE49-F238E27FC236}">
                  <a16:creationId xmlns:a16="http://schemas.microsoft.com/office/drawing/2014/main" id="{9B8AC4AC-4360-19C8-AB89-A683929B17C1}"/>
                </a:ext>
              </a:extLst>
            </p:cNvPr>
            <p:cNvCxnSpPr/>
            <p:nvPr/>
          </p:nvCxnSpPr>
          <p:spPr bwMode="gray">
            <a:xfrm flipV="1">
              <a:off x="582572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540369">
              <a:extLst>
                <a:ext uri="{FF2B5EF4-FFF2-40B4-BE49-F238E27FC236}">
                  <a16:creationId xmlns:a16="http://schemas.microsoft.com/office/drawing/2014/main" id="{DACF5831-88B1-17A0-AE23-64D83FFA205E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btfpColumnIndicatorGroup1">
            <a:extLst>
              <a:ext uri="{FF2B5EF4-FFF2-40B4-BE49-F238E27FC236}">
                <a16:creationId xmlns:a16="http://schemas.microsoft.com/office/drawing/2014/main" id="{5CC1BAF2-0515-FC0F-F243-1DB809E2EA8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5" name="btfpColumnGapBlocker861021">
              <a:extLst>
                <a:ext uri="{FF2B5EF4-FFF2-40B4-BE49-F238E27FC236}">
                  <a16:creationId xmlns:a16="http://schemas.microsoft.com/office/drawing/2014/main" id="{7FF1E478-DAEF-82C3-504A-A666BDE4B52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3" name="btfpColumnGapBlocker821125">
              <a:extLst>
                <a:ext uri="{FF2B5EF4-FFF2-40B4-BE49-F238E27FC236}">
                  <a16:creationId xmlns:a16="http://schemas.microsoft.com/office/drawing/2014/main" id="{9EC12139-94BA-0C1C-791D-ED17D65AE9E7}"/>
                </a:ext>
              </a:extLst>
            </p:cNvPr>
            <p:cNvSpPr/>
            <p:nvPr/>
          </p:nvSpPr>
          <p:spPr bwMode="gray">
            <a:xfrm>
              <a:off x="5825728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1" name="btfpColumnIndicator109110">
              <a:extLst>
                <a:ext uri="{FF2B5EF4-FFF2-40B4-BE49-F238E27FC236}">
                  <a16:creationId xmlns:a16="http://schemas.microsoft.com/office/drawing/2014/main" id="{C89AA7C3-7B6C-4F6A-F781-BD1700E21AD5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btfpColumnIndicator291987">
              <a:extLst>
                <a:ext uri="{FF2B5EF4-FFF2-40B4-BE49-F238E27FC236}">
                  <a16:creationId xmlns:a16="http://schemas.microsoft.com/office/drawing/2014/main" id="{A7758237-938D-6557-8757-E59E52372336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btfpColumnGapBlocker647258">
              <a:extLst>
                <a:ext uri="{FF2B5EF4-FFF2-40B4-BE49-F238E27FC236}">
                  <a16:creationId xmlns:a16="http://schemas.microsoft.com/office/drawing/2014/main" id="{1BC4A8EB-8003-E94D-FCDF-24CD35DAC81D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262969">
              <a:extLst>
                <a:ext uri="{FF2B5EF4-FFF2-40B4-BE49-F238E27FC236}">
                  <a16:creationId xmlns:a16="http://schemas.microsoft.com/office/drawing/2014/main" id="{574809EB-1228-B8F4-610F-DD5030525BD5}"/>
                </a:ext>
              </a:extLst>
            </p:cNvPr>
            <p:cNvCxnSpPr/>
            <p:nvPr/>
          </p:nvCxnSpPr>
          <p:spPr bwMode="gray">
            <a:xfrm flipV="1">
              <a:off x="582572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910699">
              <a:extLst>
                <a:ext uri="{FF2B5EF4-FFF2-40B4-BE49-F238E27FC236}">
                  <a16:creationId xmlns:a16="http://schemas.microsoft.com/office/drawing/2014/main" id="{57A3AAFB-9B97-BB3C-E65B-F8F129EF3B11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EA3494-C6B8-800F-C3B4-43AB96D1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6000"/>
          <a:lstStyle/>
          <a:p>
            <a:r>
              <a:rPr lang="en-US" dirty="0"/>
              <a:t>EBIT could rise from €7.5B to €8.0–8.9B as the gaps close (margin 18.7% to 19.9–22.2%)</a:t>
            </a:r>
          </a:p>
        </p:txBody>
      </p:sp>
      <p:sp>
        <p:nvSpPr>
          <p:cNvPr id="13" name="btfpNotesBox822740">
            <a:extLst>
              <a:ext uri="{FF2B5EF4-FFF2-40B4-BE49-F238E27FC236}">
                <a16:creationId xmlns:a16="http://schemas.microsoft.com/office/drawing/2014/main" id="{326823B5-95C6-E8F1-E63B-E8314112B944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gray">
          <a:xfrm>
            <a:off x="330200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Company filings, results releases and earnings calls; public-data opportunity scan</a:t>
            </a:r>
            <a:endParaRPr lang="en-US" sz="800" dirty="0" err="1">
              <a:solidFill>
                <a:srgbClr val="000000"/>
              </a:solidFill>
            </a:endParaRPr>
          </a:p>
        </p:txBody>
      </p:sp>
      <p:grpSp>
        <p:nvGrpSpPr>
          <p:cNvPr id="14" name="btfpStatusSticker285147">
            <a:extLst>
              <a:ext uri="{FF2B5EF4-FFF2-40B4-BE49-F238E27FC236}">
                <a16:creationId xmlns:a16="http://schemas.microsoft.com/office/drawing/2014/main" id="{47D79E53-AA15-EE87-AF35-A61D9D8598DE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100356" y="955344"/>
            <a:ext cx="1761444" cy="235611"/>
            <a:chOff x="-1630959" y="876300"/>
            <a:chExt cx="1761444" cy="235611"/>
          </a:xfrm>
        </p:grpSpPr>
        <p:sp>
          <p:nvSpPr>
            <p:cNvPr id="15" name="btfpStatusStickerText285147">
              <a:extLst>
                <a:ext uri="{FF2B5EF4-FFF2-40B4-BE49-F238E27FC236}">
                  <a16:creationId xmlns:a16="http://schemas.microsoft.com/office/drawing/2014/main" id="{3C92E4D7-B01C-352B-4270-BAECD83CA2B0}"/>
                </a:ext>
              </a:extLst>
            </p:cNvPr>
            <p:cNvSpPr txBox="1"/>
            <p:nvPr/>
          </p:nvSpPr>
          <p:spPr bwMode="gray">
            <a:xfrm>
              <a:off x="-1630959" y="876300"/>
              <a:ext cx="176144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000000"/>
                  </a:solidFill>
                </a:rPr>
                <a:t>Preliminary</a:t>
              </a:r>
            </a:p>
          </p:txBody>
        </p:sp>
        <p:cxnSp>
          <p:nvCxnSpPr>
            <p:cNvPr id="16" name="btfpStatusStickerLine285147">
              <a:extLst>
                <a:ext uri="{FF2B5EF4-FFF2-40B4-BE49-F238E27FC236}">
                  <a16:creationId xmlns:a16="http://schemas.microsoft.com/office/drawing/2014/main" id="{375A04E0-D552-FBFF-727D-2175B23572C1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163095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29184" y="1271016"/>
            <a:ext cx="5495544" cy="318997"/>
            <a:chOff x="329184" y="1270000"/>
            <a:chExt cx="549554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329184" y="1270000"/>
              <a:ext cx="549554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EBIT bridge, latest year (EUR millions)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329184" y="1588997"/>
              <a:ext cx="549554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6364224" y="1271016"/>
            <a:ext cx="5495544" cy="318997"/>
            <a:chOff x="6364224" y="1270000"/>
            <a:chExt cx="549554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6364224" y="1270000"/>
              <a:ext cx="549554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Why the value is real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6364224" y="1588997"/>
              <a:ext cx="549554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gray">
          <a:xfrm>
            <a:off x="6364224" y="1663165"/>
            <a:ext cx="549554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 b="1"/>
              <a:t>Cost and margin:</a:t>
            </a:r>
            <a:r>
              <a:rPr lang="en-US" dirty="0"/>
              <a:t> Management's own levers: the 2030 margin ambition, pricing and industrial productivity, support costs growing slower than sales, and the Industrial Automation plan</a:t>
            </a:r>
          </a:p>
          <a:p>
            <a:r>
              <a:rPr lang="en-US" dirty="0" b="1"/>
              <a:t>Working capital:</a:t>
            </a:r>
            <a:r>
              <a:rPr lang="en-US" dirty="0"/>
              <a:t> Rests on receivables alone; inventory and payables show no gap</a:t>
            </a:r>
          </a:p>
          <a:p>
            <a:r>
              <a:rPr lang="en-US" dirty="0" b="1"/>
              <a:t>Commercial:</a:t>
            </a:r>
            <a:r>
              <a:rPr lang="en-US" dirty="0"/>
              <a:t> Already top quartile on organic growth; the 2026 guidance raises widen the lead</a:t>
            </a:r>
          </a:p>
        </p:txBody>
      </p:sp>
      <p:sp>
        <p:nvSpPr>
          <p:cNvPr id="32" name="Chart placeholder"/>
          <p:cNvSpPr txBox="1"/>
          <p:nvPr/>
        </p:nvSpPr>
        <p:spPr>
          <a:xfrm>
            <a:off x="329184" y="1681453"/>
            <a:ext cx="5495544" cy="4455346"/>
          </a:xfrm>
          <a:prstGeom prst="rect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 wrap="square">
            <a:noAutofit/>
          </a:bodyPr>
          <a:lstStyle/>
          <a:p>
            <a:r>
              <a:rPr sz="1100" i="1">
                <a:solidFill>
                  <a:srgbClr val="999999"/>
                </a:solidFill>
                <a:latin typeface="Arial"/>
              </a:rPr>
              <a:t>[Chart: waterfall, latest EBIT plus each sized bucket to EBIT potential, low end solid and high end light; data in chart-data.xlsx]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578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C7EA9-74A7-7D0B-4A65-58EB96F71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tfpColumnIndicatorGroup2">
            <a:extLst>
              <a:ext uri="{FF2B5EF4-FFF2-40B4-BE49-F238E27FC236}">
                <a16:creationId xmlns:a16="http://schemas.microsoft.com/office/drawing/2014/main" id="{9AD9F043-5F6D-BB8A-E7E3-756F9B0F09E5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0" name="btfpColumnGapBlocker530603">
              <a:extLst>
                <a:ext uri="{FF2B5EF4-FFF2-40B4-BE49-F238E27FC236}">
                  <a16:creationId xmlns:a16="http://schemas.microsoft.com/office/drawing/2014/main" id="{9F4CAD30-C532-891A-395D-3866790E4974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8" name="btfpColumnGapBlocker362558">
              <a:extLst>
                <a:ext uri="{FF2B5EF4-FFF2-40B4-BE49-F238E27FC236}">
                  <a16:creationId xmlns:a16="http://schemas.microsoft.com/office/drawing/2014/main" id="{90CA0EB5-5676-891F-2323-1BBACC330E62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lumnIndicator629175">
              <a:extLst>
                <a:ext uri="{FF2B5EF4-FFF2-40B4-BE49-F238E27FC236}">
                  <a16:creationId xmlns:a16="http://schemas.microsoft.com/office/drawing/2014/main" id="{E26D530C-60FA-879D-B301-53602B7C7A1F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558944">
              <a:extLst>
                <a:ext uri="{FF2B5EF4-FFF2-40B4-BE49-F238E27FC236}">
                  <a16:creationId xmlns:a16="http://schemas.microsoft.com/office/drawing/2014/main" id="{AB2BCDE3-AFE6-D8D3-7BB6-A6C7040FAC06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btfpColumnIndicatorGroup1">
            <a:extLst>
              <a:ext uri="{FF2B5EF4-FFF2-40B4-BE49-F238E27FC236}">
                <a16:creationId xmlns:a16="http://schemas.microsoft.com/office/drawing/2014/main" id="{7241688C-5387-409C-1E51-2AD38B97628D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9" name="btfpColumnGapBlocker551153">
              <a:extLst>
                <a:ext uri="{FF2B5EF4-FFF2-40B4-BE49-F238E27FC236}">
                  <a16:creationId xmlns:a16="http://schemas.microsoft.com/office/drawing/2014/main" id="{9E0D7D1D-D76C-FD8D-DBCF-ABE2F64B6DB8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7" name="btfpColumnGapBlocker704101">
              <a:extLst>
                <a:ext uri="{FF2B5EF4-FFF2-40B4-BE49-F238E27FC236}">
                  <a16:creationId xmlns:a16="http://schemas.microsoft.com/office/drawing/2014/main" id="{1C9E40F1-559B-9120-6326-03B8D92A9FA3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5" name="btfpColumnIndicator650609">
              <a:extLst>
                <a:ext uri="{FF2B5EF4-FFF2-40B4-BE49-F238E27FC236}">
                  <a16:creationId xmlns:a16="http://schemas.microsoft.com/office/drawing/2014/main" id="{A3961E41-E9A9-D43B-4891-92344B3275D5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339699">
              <a:extLst>
                <a:ext uri="{FF2B5EF4-FFF2-40B4-BE49-F238E27FC236}">
                  <a16:creationId xmlns:a16="http://schemas.microsoft.com/office/drawing/2014/main" id="{D51560AE-5603-C676-7F42-6D6BA011B862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5AFA6F-064D-76ED-14D4-5B5626D74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6000"/>
          <a:lstStyle/>
          <a:p>
            <a:r>
              <a:rPr lang="en-US" dirty="0"/>
              <a:t>Every figure comes from a public filing, results release or management statement listed here</a:t>
            </a:r>
          </a:p>
        </p:txBody>
      </p:sp>
      <p:sp>
        <p:nvSpPr>
          <p:cNvPr id="3" name="btfpNotesBox822740">
            <a:extLst>
              <a:ext uri="{FF2B5EF4-FFF2-40B4-BE49-F238E27FC236}">
                <a16:creationId xmlns:a16="http://schemas.microsoft.com/office/drawing/2014/main" id="{17969470-C7C2-9804-3103-6FC1E7F8B7B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gray">
          <a:xfrm>
            <a:off x="330200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28 of 28 sources were read from search extracts; check them against the documents before client use</a:t>
            </a:r>
          </a:p>
        </p:txBody>
      </p:sp>
      <p:grpSp>
        <p:nvGrpSpPr>
          <p:cNvPr id="4" name="btfpStatusSticker285147">
            <a:extLst>
              <a:ext uri="{FF2B5EF4-FFF2-40B4-BE49-F238E27FC236}">
                <a16:creationId xmlns:a16="http://schemas.microsoft.com/office/drawing/2014/main" id="{55C05781-61A2-A030-F205-D84417C979E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787146" y="955344"/>
            <a:ext cx="1074654" cy="235611"/>
            <a:chOff x="-944169" y="876300"/>
            <a:chExt cx="1074654" cy="235611"/>
          </a:xfrm>
        </p:grpSpPr>
        <p:sp>
          <p:nvSpPr>
            <p:cNvPr id="5" name="btfpStatusStickerText285147">
              <a:extLst>
                <a:ext uri="{FF2B5EF4-FFF2-40B4-BE49-F238E27FC236}">
                  <a16:creationId xmlns:a16="http://schemas.microsoft.com/office/drawing/2014/main" id="{F3623587-5621-21D1-0DCC-EA2CF96BAAE7}"/>
                </a:ext>
              </a:extLst>
            </p:cNvPr>
            <p:cNvSpPr txBox="1"/>
            <p:nvPr/>
          </p:nvSpPr>
          <p:spPr bwMode="gray">
            <a:xfrm>
              <a:off x="-944169" y="876300"/>
              <a:ext cx="107465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000000"/>
                  </a:solidFill>
                </a:rPr>
                <a:t>Backup</a:t>
              </a:r>
            </a:p>
          </p:txBody>
        </p:sp>
        <p:cxnSp>
          <p:nvCxnSpPr>
            <p:cNvPr id="6" name="btfpStatusStickerLine285147">
              <a:extLst>
                <a:ext uri="{FF2B5EF4-FFF2-40B4-BE49-F238E27FC236}">
                  <a16:creationId xmlns:a16="http://schemas.microsoft.com/office/drawing/2014/main" id="{E5239287-A208-D8FD-CBF6-125D07673B81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94416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gray">
          <a:xfrm>
            <a:off x="329184" y="1344168"/>
            <a:ext cx="1153058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/>
              <a:t>1. Schneider Electric: 2025 Full Year Financial results (press release) (Schneider Electric (also AMF regulated-information archive), 2026-02-26)</a:t>
            </a:r>
          </a:p>
          <a:p>
            <a:r>
              <a:rPr lang="en-US" dirty="0"/>
              <a:t>2. Schneider Electric: Full Year 2025 Results (presentation) (Schneider Electric, 2026-02-26)</a:t>
            </a:r>
          </a:p>
          <a:p>
            <a:r>
              <a:rPr lang="en-US" dirty="0"/>
              <a:t>3. Schneider Electric: Consolidated financial statements at 31 December 2025 (Schneider Electric, as reproduced by Zonebourse / MarketScreener, Feb 2026)</a:t>
            </a:r>
          </a:p>
          <a:p>
            <a:r>
              <a:rPr lang="en-US" dirty="0"/>
              <a:t>4. Schneider Electric: Half-Year Financial Report 2026 (accounts) (Schneider Electric, 2026-07-30)</a:t>
            </a:r>
          </a:p>
          <a:p>
            <a:r>
              <a:rPr lang="en-US" dirty="0"/>
              <a:t>5. Schneider Electric hosts a Capital Markets Day for investors and financial analysts (Schneider Electric, 2025-12-11)</a:t>
            </a:r>
          </a:p>
          <a:p>
            <a:r>
              <a:rPr lang="en-US" dirty="0"/>
              <a:t>6. Schneider strategy: share buyback, margin forecast (Reuters report) (Global Banking &amp; Finance Review (Reuters), 2025-12-11)</a:t>
            </a:r>
          </a:p>
          <a:p>
            <a:r>
              <a:rPr lang="en-US" dirty="0"/>
              <a:t>7. Schneider Electric: 2026 Half Year results call transcript (Schneider Electric (LSEG StreetEvents), 2026-07-30)</a:t>
            </a:r>
          </a:p>
          <a:p>
            <a:r>
              <a:rPr lang="en-US" dirty="0"/>
              <a:t>8. Schneider Electric: Q3 2026 Revenues (press release) (Schneider Electric, 2026-10-16)</a:t>
            </a:r>
          </a:p>
          <a:p>
            <a:r>
              <a:rPr lang="en-US" dirty="0"/>
              <a:t>9. Schneider Electric: 2026 Half Year results (press release) (Schneider Electric, 2026-07-30)</a:t>
            </a:r>
          </a:p>
          <a:p>
            <a:r>
              <a:rPr lang="en-US" dirty="0"/>
              <a:t>…and 19 more, listed in case.json and on the poster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8003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80E37-E05C-2983-0B6F-86261F034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tfpColumnIndicatorGroup2">
            <a:extLst>
              <a:ext uri="{FF2B5EF4-FFF2-40B4-BE49-F238E27FC236}">
                <a16:creationId xmlns:a16="http://schemas.microsoft.com/office/drawing/2014/main" id="{14F49B59-696A-DBB5-9154-2263FE94C93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0" name="btfpColumnGapBlocker982357">
              <a:extLst>
                <a:ext uri="{FF2B5EF4-FFF2-40B4-BE49-F238E27FC236}">
                  <a16:creationId xmlns:a16="http://schemas.microsoft.com/office/drawing/2014/main" id="{3895C4F6-B9B4-10C0-ABA0-C8BB5E483DF0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8" name="btfpColumnGapBlocker675028">
              <a:extLst>
                <a:ext uri="{FF2B5EF4-FFF2-40B4-BE49-F238E27FC236}">
                  <a16:creationId xmlns:a16="http://schemas.microsoft.com/office/drawing/2014/main" id="{BA9B9006-E27D-1F22-411E-C340885044C8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lumnIndicator978567">
              <a:extLst>
                <a:ext uri="{FF2B5EF4-FFF2-40B4-BE49-F238E27FC236}">
                  <a16:creationId xmlns:a16="http://schemas.microsoft.com/office/drawing/2014/main" id="{18CB7ED1-30FC-4EAD-1B47-9E3211340AD0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627303">
              <a:extLst>
                <a:ext uri="{FF2B5EF4-FFF2-40B4-BE49-F238E27FC236}">
                  <a16:creationId xmlns:a16="http://schemas.microsoft.com/office/drawing/2014/main" id="{26B8F9E7-C20B-548B-91F9-CC0AC0943529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btfpColumnIndicatorGroup1">
            <a:extLst>
              <a:ext uri="{FF2B5EF4-FFF2-40B4-BE49-F238E27FC236}">
                <a16:creationId xmlns:a16="http://schemas.microsoft.com/office/drawing/2014/main" id="{1F85A4BF-DE31-B686-5E44-7FCE236044D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9" name="btfpColumnGapBlocker157115">
              <a:extLst>
                <a:ext uri="{FF2B5EF4-FFF2-40B4-BE49-F238E27FC236}">
                  <a16:creationId xmlns:a16="http://schemas.microsoft.com/office/drawing/2014/main" id="{0D886042-7ED0-7665-87EA-EE51B6CBD33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7" name="btfpColumnGapBlocker839429">
              <a:extLst>
                <a:ext uri="{FF2B5EF4-FFF2-40B4-BE49-F238E27FC236}">
                  <a16:creationId xmlns:a16="http://schemas.microsoft.com/office/drawing/2014/main" id="{2340CE35-02F2-118E-6DB8-575DB3806885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5" name="btfpColumnIndicator497660">
              <a:extLst>
                <a:ext uri="{FF2B5EF4-FFF2-40B4-BE49-F238E27FC236}">
                  <a16:creationId xmlns:a16="http://schemas.microsoft.com/office/drawing/2014/main" id="{321D2CA1-9B81-CC08-35D8-327474AE334A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204029">
              <a:extLst>
                <a:ext uri="{FF2B5EF4-FFF2-40B4-BE49-F238E27FC236}">
                  <a16:creationId xmlns:a16="http://schemas.microsoft.com/office/drawing/2014/main" id="{C2F29B4F-A945-CD00-A378-6C453A94406D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4047917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btfpColumnIndicatorGroup2">
            <a:extLst>
              <a:ext uri="{FF2B5EF4-FFF2-40B4-BE49-F238E27FC236}">
                <a16:creationId xmlns:a16="http://schemas.microsoft.com/office/drawing/2014/main" id="{FDF15D9C-D9C4-6EFB-150B-B3A2C0B0516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3" name="btfpColumnGapBlocker155204">
              <a:extLst>
                <a:ext uri="{FF2B5EF4-FFF2-40B4-BE49-F238E27FC236}">
                  <a16:creationId xmlns:a16="http://schemas.microsoft.com/office/drawing/2014/main" id="{C5EBA456-D60E-84E6-A18B-FE8496403924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1" name="btfpColumnGapBlocker595718">
              <a:extLst>
                <a:ext uri="{FF2B5EF4-FFF2-40B4-BE49-F238E27FC236}">
                  <a16:creationId xmlns:a16="http://schemas.microsoft.com/office/drawing/2014/main" id="{4FF37269-FF77-42C4-2271-E7556446496B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9" name="btfpColumnIndicator614832">
              <a:extLst>
                <a:ext uri="{FF2B5EF4-FFF2-40B4-BE49-F238E27FC236}">
                  <a16:creationId xmlns:a16="http://schemas.microsoft.com/office/drawing/2014/main" id="{2A447360-BB72-59A2-C6DD-C85C2A1D2561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btfpColumnIndicator223547">
              <a:extLst>
                <a:ext uri="{FF2B5EF4-FFF2-40B4-BE49-F238E27FC236}">
                  <a16:creationId xmlns:a16="http://schemas.microsoft.com/office/drawing/2014/main" id="{856E085F-3C51-9770-CA00-37F18A82100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btfpColumnIndicatorGroup1">
            <a:extLst>
              <a:ext uri="{FF2B5EF4-FFF2-40B4-BE49-F238E27FC236}">
                <a16:creationId xmlns:a16="http://schemas.microsoft.com/office/drawing/2014/main" id="{2D7024A1-A4FF-36B5-ED07-6307BAE6DFF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2" name="btfpColumnGapBlocker228820">
              <a:extLst>
                <a:ext uri="{FF2B5EF4-FFF2-40B4-BE49-F238E27FC236}">
                  <a16:creationId xmlns:a16="http://schemas.microsoft.com/office/drawing/2014/main" id="{302FB1AB-5786-201C-D7C2-8D87E73A3BEF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0" name="btfpColumnGapBlocker607890">
              <a:extLst>
                <a:ext uri="{FF2B5EF4-FFF2-40B4-BE49-F238E27FC236}">
                  <a16:creationId xmlns:a16="http://schemas.microsoft.com/office/drawing/2014/main" id="{637CEE0C-E0DA-9B5F-6CA0-D5F478D0F39E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btfpColumnIndicator358399">
              <a:extLst>
                <a:ext uri="{FF2B5EF4-FFF2-40B4-BE49-F238E27FC236}">
                  <a16:creationId xmlns:a16="http://schemas.microsoft.com/office/drawing/2014/main" id="{5649713D-38E8-6C8A-65D3-02B480B074C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btfpColumnIndicator875303">
              <a:extLst>
                <a:ext uri="{FF2B5EF4-FFF2-40B4-BE49-F238E27FC236}">
                  <a16:creationId xmlns:a16="http://schemas.microsoft.com/office/drawing/2014/main" id="{D7033170-5CCC-B811-CF13-31CBE68B2268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9269A831-9F88-E179-7BBC-2678A8B11A08}"/>
              </a:ext>
            </a:extLst>
          </p:cNvPr>
          <p:cNvGraphicFramePr>
            <a:graphicFrameLocks noChangeAspect="1"/>
          </p:cNvGraphicFramePr>
          <p:nvPr>
            <p:custDataLst>
              <p:tags r:id="rId102"/>
            </p:custDataLst>
            <p:extLst>
              <p:ext uri="{D42A27DB-BD31-4B8C-83A1-F6EECF244321}">
                <p14:modId xmlns:p14="http://schemas.microsoft.com/office/powerpoint/2010/main" val="13253552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6" imgW="606" imgH="608" progId="TCLayout.ActiveDocument.1">
                  <p:embed/>
                </p:oleObj>
              </mc:Choice>
              <mc:Fallback>
                <p:oleObj name="think-cell Slide" r:id="rId106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69A831-9F88-E179-7BBC-2678A8B11A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7"/>
                      <a:stretch>
                        <a:fillRect/>
                      </a:stretch>
                    </p:blipFill>
                    <p:spPr>
                      <a:xfrm>
                        <a:off x="338328" y="1588"/>
                        <a:ext cx="11521440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C1EE16A-BCB7-3040-82E1-7B52EA7B8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sz="2400" b="0">
                <a:solidFill>
                  <a:srgbClr val="000000"/>
                </a:solidFill>
              </a:rPr>
              <a:t>Closing the gaps to peers is worth €451M–€1.4B of recurring EBIT a year and €1.3–2.2B of one-off cash</a:t>
            </a:r>
          </a:p>
        </p:txBody>
      </p:sp>
      <p:graphicFrame>
        <p:nvGraphicFramePr>
          <p:cNvPr id="15" name="btfpTable682172">
            <a:extLst>
              <a:ext uri="{FF2B5EF4-FFF2-40B4-BE49-F238E27FC236}">
                <a16:creationId xmlns:a16="http://schemas.microsoft.com/office/drawing/2014/main" id="{435523D6-1E8E-6958-F926-FA96A0A8AF80}"/>
              </a:ext>
            </a:extLst>
          </p:cNvPr>
          <p:cNvGraphicFramePr>
            <a:graphicFrameLocks noGrp="1"/>
          </p:cNvGraphicFramePr>
          <p:nvPr>
            <p:custDataLst>
              <p:tags r:id="rId103"/>
            </p:custDataLst>
            <p:extLst>
              <p:ext uri="{D42A27DB-BD31-4B8C-83A1-F6EECF244321}">
                <p14:modId xmlns:p14="http://schemas.microsoft.com/office/powerpoint/2010/main" val="3816242378"/>
              </p:ext>
            </p:extLst>
          </p:nvPr>
        </p:nvGraphicFramePr>
        <p:xfrm>
          <a:off x="330200" y="1270000"/>
          <a:ext cx="11531601" cy="4724400"/>
        </p:xfrm>
        <a:graphic>
          <a:graphicData uri="http://schemas.openxmlformats.org/drawingml/2006/table">
            <a:tbl>
              <a:tblPr firstRow="1" firstCol="1" lastRow="0" bandRow="0" lastCol="0">
                <a:tableStyleId>{9D7B26C5-4107-4FEC-AEDC-1716B250A1EF}</a:tableStyleId>
              </a:tblPr>
              <a:tblGrid>
                <a:gridCol w="2755127">
                  <a:extLst>
                    <a:ext uri="{9D8B030D-6E8A-4147-A177-3AD203B41FA5}">
                      <a16:colId xmlns:a16="http://schemas.microsoft.com/office/drawing/2014/main" val="3011817806"/>
                    </a:ext>
                  </a:extLst>
                </a:gridCol>
                <a:gridCol w="1377563">
                  <a:extLst>
                    <a:ext uri="{9D8B030D-6E8A-4147-A177-3AD203B41FA5}">
                      <a16:colId xmlns:a16="http://schemas.microsoft.com/office/drawing/2014/main" val="1045467816"/>
                    </a:ext>
                  </a:extLst>
                </a:gridCol>
                <a:gridCol w="3256059">
                  <a:extLst>
                    <a:ext uri="{9D8B030D-6E8A-4147-A177-3AD203B41FA5}">
                      <a16:colId xmlns:a16="http://schemas.microsoft.com/office/drawing/2014/main" val="839405350"/>
                    </a:ext>
                  </a:extLst>
                </a:gridCol>
                <a:gridCol w="1628030">
                  <a:extLst>
                    <a:ext uri="{9D8B030D-6E8A-4147-A177-3AD203B41FA5}">
                      <a16:colId xmlns:a16="http://schemas.microsoft.com/office/drawing/2014/main" val="3281709090"/>
                    </a:ext>
                  </a:extLst>
                </a:gridCol>
                <a:gridCol w="2504661">
                  <a:extLst>
                    <a:ext uri="{9D8B030D-6E8A-4147-A177-3AD203B41FA5}">
                      <a16:colId xmlns:a16="http://schemas.microsoft.com/office/drawing/2014/main" val="1210887605"/>
                    </a:ext>
                  </a:extLst>
                </a:gridCol>
              </a:tblGrid>
              <a:tr h="3080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Bucket</a:t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Baseline</a:t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Gap to peers</a:t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Opportunity</a:t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As %</a:t>
                      </a:r>
                      <a:endParaRPr lang="en-US" sz="160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68689264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Commercial: revenue growth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€40.2B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already top quartile on growth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no gap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/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18151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Cost and margin: EBIT-margin gap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€32.6B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+1.1 pp to median · +3.5 pp to top quartile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€451M–€1.4B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1.4–4.2% of operating costs; 112–345 bps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548007"/>
                  </a:ext>
                </a:extLst>
              </a:tr>
              <a:tr h="3080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Recurring EBIT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/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Sum of the rows above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€451M–€1.4B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/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694309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One-off cash: working capital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/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DSO 12–20 days shorter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€1.3–2.2B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not added to EBIT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472683"/>
                  </a:ext>
                </a:extLst>
              </a:tr>
            </a:tbl>
          </a:graphicData>
        </a:graphic>
      </p:graphicFrame>
      <p:sp>
        <p:nvSpPr>
          <p:cNvPr id="3" name="btfpNotesBox323062">
            <a:extLst>
              <a:ext uri="{FF2B5EF4-FFF2-40B4-BE49-F238E27FC236}">
                <a16:creationId xmlns:a16="http://schemas.microsoft.com/office/drawing/2014/main" id="{A585C634-9673-CB6B-CE03-2AB8E8620FF4}"/>
              </a:ext>
            </a:extLst>
          </p:cNvPr>
          <p:cNvSpPr txBox="1"/>
          <p:nvPr>
            <p:custDataLst>
              <p:tags r:id="rId104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solidFill>
                  <a:srgbClr val="000000"/>
                </a:solidFill>
              </a:rPr>
              <a:t>Note: low end closes the gap to the peer median, high end to the top quartile, on the latest year; recurring EBIT and one-off cash are never added
Source: Company filings and results releases; public-data opportunity scan</a:t>
            </a:r>
          </a:p>
        </p:txBody>
      </p:sp>
    </p:spTree>
    <p:custDataLst>
      <p:tags r:id="rId101"/>
    </p:custDataLst>
    <p:extLst>
      <p:ext uri="{BB962C8B-B14F-4D97-AF65-F5344CB8AC3E}">
        <p14:creationId xmlns:p14="http://schemas.microsoft.com/office/powerpoint/2010/main" val="797570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btfpColumnIndicatorGroup2">
            <a:extLst>
              <a:ext uri="{FF2B5EF4-FFF2-40B4-BE49-F238E27FC236}">
                <a16:creationId xmlns:a16="http://schemas.microsoft.com/office/drawing/2014/main" id="{FDF15D9C-D9C4-6EFB-150B-B3A2C0B0516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3" name="btfpColumnGapBlocker155204">
              <a:extLst>
                <a:ext uri="{FF2B5EF4-FFF2-40B4-BE49-F238E27FC236}">
                  <a16:creationId xmlns:a16="http://schemas.microsoft.com/office/drawing/2014/main" id="{C5EBA456-D60E-84E6-A18B-FE8496403924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1" name="btfpColumnGapBlocker595718">
              <a:extLst>
                <a:ext uri="{FF2B5EF4-FFF2-40B4-BE49-F238E27FC236}">
                  <a16:creationId xmlns:a16="http://schemas.microsoft.com/office/drawing/2014/main" id="{4FF37269-FF77-42C4-2271-E7556446496B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9" name="btfpColumnIndicator614832">
              <a:extLst>
                <a:ext uri="{FF2B5EF4-FFF2-40B4-BE49-F238E27FC236}">
                  <a16:creationId xmlns:a16="http://schemas.microsoft.com/office/drawing/2014/main" id="{2A447360-BB72-59A2-C6DD-C85C2A1D2561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btfpColumnIndicator223547">
              <a:extLst>
                <a:ext uri="{FF2B5EF4-FFF2-40B4-BE49-F238E27FC236}">
                  <a16:creationId xmlns:a16="http://schemas.microsoft.com/office/drawing/2014/main" id="{856E085F-3C51-9770-CA00-37F18A82100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btfpColumnIndicatorGroup1">
            <a:extLst>
              <a:ext uri="{FF2B5EF4-FFF2-40B4-BE49-F238E27FC236}">
                <a16:creationId xmlns:a16="http://schemas.microsoft.com/office/drawing/2014/main" id="{2D7024A1-A4FF-36B5-ED07-6307BAE6DFF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2" name="btfpColumnGapBlocker228820">
              <a:extLst>
                <a:ext uri="{FF2B5EF4-FFF2-40B4-BE49-F238E27FC236}">
                  <a16:creationId xmlns:a16="http://schemas.microsoft.com/office/drawing/2014/main" id="{302FB1AB-5786-201C-D7C2-8D87E73A3BEF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0" name="btfpColumnGapBlocker607890">
              <a:extLst>
                <a:ext uri="{FF2B5EF4-FFF2-40B4-BE49-F238E27FC236}">
                  <a16:creationId xmlns:a16="http://schemas.microsoft.com/office/drawing/2014/main" id="{637CEE0C-E0DA-9B5F-6CA0-D5F478D0F39E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btfpColumnIndicator358399">
              <a:extLst>
                <a:ext uri="{FF2B5EF4-FFF2-40B4-BE49-F238E27FC236}">
                  <a16:creationId xmlns:a16="http://schemas.microsoft.com/office/drawing/2014/main" id="{5649713D-38E8-6C8A-65D3-02B480B074C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btfpColumnIndicator875303">
              <a:extLst>
                <a:ext uri="{FF2B5EF4-FFF2-40B4-BE49-F238E27FC236}">
                  <a16:creationId xmlns:a16="http://schemas.microsoft.com/office/drawing/2014/main" id="{D7033170-5CCC-B811-CF13-31CBE68B2268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9269A831-9F88-E179-7BBC-2678A8B11A08}"/>
              </a:ext>
            </a:extLst>
          </p:cNvPr>
          <p:cNvGraphicFramePr>
            <a:graphicFrameLocks noChangeAspect="1"/>
          </p:cNvGraphicFramePr>
          <p:nvPr>
            <p:custDataLst>
              <p:tags r:id="rId202"/>
            </p:custDataLst>
            <p:extLst>
              <p:ext uri="{D42A27DB-BD31-4B8C-83A1-F6EECF244321}">
                <p14:modId xmlns:p14="http://schemas.microsoft.com/office/powerpoint/2010/main" val="13253552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6" imgW="606" imgH="608" progId="TCLayout.ActiveDocument.1">
                  <p:embed/>
                </p:oleObj>
              </mc:Choice>
              <mc:Fallback>
                <p:oleObj name="think-cell Slide" r:id="rId206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69A831-9F88-E179-7BBC-2678A8B11A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7"/>
                      <a:stretch>
                        <a:fillRect/>
                      </a:stretch>
                    </p:blipFill>
                    <p:spPr>
                      <a:xfrm>
                        <a:off x="338328" y="1588"/>
                        <a:ext cx="11521440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C1EE16A-BCB7-3040-82E1-7B52EA7B8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sz="2400" b="0">
                <a:solidFill>
                  <a:srgbClr val="000000"/>
                </a:solidFill>
              </a:rPr>
              <a:t>Opportunity Catalyst adds Bain experience behind every lever, live changes and a source behind every figure</a:t>
            </a:r>
          </a:p>
        </p:txBody>
      </p:sp>
      <p:graphicFrame>
        <p:nvGraphicFramePr>
          <p:cNvPr id="15" name="btfpTable682172">
            <a:extLst>
              <a:ext uri="{FF2B5EF4-FFF2-40B4-BE49-F238E27FC236}">
                <a16:creationId xmlns:a16="http://schemas.microsoft.com/office/drawing/2014/main" id="{435523D6-1E8E-6958-F926-FA96A0A8AF80}"/>
              </a:ext>
            </a:extLst>
          </p:cNvPr>
          <p:cNvGraphicFramePr>
            <a:graphicFrameLocks noGrp="1"/>
          </p:cNvGraphicFramePr>
          <p:nvPr>
            <p:custDataLst>
              <p:tags r:id="rId203"/>
            </p:custDataLst>
            <p:extLst>
              <p:ext uri="{D42A27DB-BD31-4B8C-83A1-F6EECF244321}">
                <p14:modId xmlns:p14="http://schemas.microsoft.com/office/powerpoint/2010/main" val="3816242378"/>
              </p:ext>
            </p:extLst>
          </p:nvPr>
        </p:nvGraphicFramePr>
        <p:xfrm>
          <a:off x="330200" y="1270000"/>
          <a:ext cx="11531601" cy="4724400"/>
        </p:xfrm>
        <a:graphic>
          <a:graphicData uri="http://schemas.openxmlformats.org/drawingml/2006/table">
            <a:tbl>
              <a:tblPr firstRow="1" firstCol="1" lastRow="0" bandRow="0" lastCol="0">
                <a:tableStyleId>{9D7B26C5-4107-4FEC-AEDC-1716B250A1EF}</a:tableStyleId>
              </a:tblPr>
              <a:tblGrid>
                <a:gridCol w="2094807">
                  <a:extLst>
                    <a:ext uri="{9D8B030D-6E8A-4147-A177-3AD203B41FA5}">
                      <a16:colId xmlns:a16="http://schemas.microsoft.com/office/drawing/2014/main" val="3011817806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1045467816"/>
                    </a:ext>
                  </a:extLst>
                </a:gridCol>
                <a:gridCol w="5586153">
                  <a:extLst>
                    <a:ext uri="{9D8B030D-6E8A-4147-A177-3AD203B41FA5}">
                      <a16:colId xmlns:a16="http://schemas.microsoft.com/office/drawing/2014/main" val="839405350"/>
                    </a:ext>
                  </a:extLst>
                </a:gridCol>
              </a:tblGrid>
              <a:tr h="3080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/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This scan</a:t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Opportunity Catalyst</a:t>
                      </a:r>
                      <a:endParaRPr lang="en-US" sz="160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68689264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Benchmarks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Peer median and top quartile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Plus Bain experience ranges by lever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18151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Data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Public filings, as reported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The case team's data, source-labelled, adjusted EBIT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548007"/>
                  </a:ext>
                </a:extLst>
              </a:tr>
              <a:tr h="3080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Changes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Edit a file and rebuild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Change peers, levers and assumptions live; undo any change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694309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Traceability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A numbered source list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Drill any number to its formula, inputs, peers and adjustments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472683"/>
                  </a:ext>
                </a:extLst>
              </a:tr>
            </a:tbl>
          </a:graphicData>
        </a:graphic>
      </p:graphicFrame>
      <p:sp>
        <p:nvSpPr>
          <p:cNvPr id="3" name="btfpNotesBox323062">
            <a:extLst>
              <a:ext uri="{FF2B5EF4-FFF2-40B4-BE49-F238E27FC236}">
                <a16:creationId xmlns:a16="http://schemas.microsoft.com/office/drawing/2014/main" id="{A585C634-9673-CB6B-CE03-2AB8E8620FF4}"/>
              </a:ext>
            </a:extLst>
          </p:cNvPr>
          <p:cNvSpPr txBox="1"/>
          <p:nvPr>
            <p:custDataLst>
              <p:tags r:id="rId204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solidFill>
                  <a:srgbClr val="000000"/>
                </a:solidFill>
              </a:rPr>
              <a:t>Refer to https://dev.opcat-nonprod.bain.io/ for the full Opportunity Catalyst experience. What the full version adds: https://claude.ai/artifact/JV1cYypSyve1ZjEp5vSkDe</a:t>
            </a:r>
          </a:p>
        </p:txBody>
      </p:sp>
    </p:spTree>
    <p:custDataLst>
      <p:tags r:id="rId201"/>
    </p:custDataLst>
    <p:extLst>
      <p:ext uri="{BB962C8B-B14F-4D97-AF65-F5344CB8AC3E}">
        <p14:creationId xmlns:p14="http://schemas.microsoft.com/office/powerpoint/2010/main" val="797570497"/>
      </p:ext>
    </p:extLst>
  </p:cSld>
  <p:clrMapOvr>
    <a:masterClrMapping/>
  </p:clrMapOvr>
</p:sld>
</file>

<file path=ppt/tags/sym_100_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sym_100_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sym_100_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sym_100_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sym_200_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sym_200_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sym_200_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sym_200_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BTFPCOLUMNGUIDE" val="Visible"/>
  <p:tag name="MEKKOFORMATS" val="&lt;MekkoFormats&gt;&lt;Font&gt;&lt;Output_Font_Name Default=&quot;Arial&quot; UsePPTTheme=&quot;True&quot; /&gt;&lt;/Font&gt;&lt;/MekkoFormats&gt;"/>
  <p:tag name="OFFICE" val="Warsaw SS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3"/>
  <p:tag name="BTFPLAYOUTENAB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56CF97D2-A744-43CA-AE15-0214FF29DAC4}" vid="{A64E784E-EE2A-4031-BBD4-3B52B2D870FE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E28C1D2031CE49B65EB9398B6665A4" ma:contentTypeVersion="16" ma:contentTypeDescription="Ein neues Dokument erstellen." ma:contentTypeScope="" ma:versionID="915be8ddf9203496dff81045837c2095">
  <xsd:schema xmlns:xsd="http://www.w3.org/2001/XMLSchema" xmlns:xs="http://www.w3.org/2001/XMLSchema" xmlns:p="http://schemas.microsoft.com/office/2006/metadata/properties" xmlns:ns2="024ef72b-9a44-443b-86c7-2b9b89248177" xmlns:ns3="df6b8441-aa16-4692-b757-547843ef6d58" xmlns:ns4="0e427f73-0d6a-4740-aee4-eea3ddf9cfe2" targetNamespace="http://schemas.microsoft.com/office/2006/metadata/properties" ma:root="true" ma:fieldsID="93e82e7d94d6100c07791c5c9fddab0b" ns2:_="" ns3:_="" ns4:_="">
    <xsd:import namespace="024ef72b-9a44-443b-86c7-2b9b89248177"/>
    <xsd:import namespace="df6b8441-aa16-4692-b757-547843ef6d58"/>
    <xsd:import namespace="0e427f73-0d6a-4740-aee4-eea3ddf9cf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ef72b-9a44-443b-86c7-2b9b892481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4b166abb-7d38-406f-9233-2f33b10aef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6b8441-aa16-4692-b757-547843ef6d5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7f73-0d6a-4740-aee4-eea3ddf9cfe2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a85ec8ad-9b94-48bf-98e4-b3da507f3f23}" ma:internalName="TaxCatchAll" ma:showField="CatchAllData" ma:web="df6b8441-aa16-4692-b757-547843ef6d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8E3FDD-F0A4-4844-9D40-FD90550EE8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ef72b-9a44-443b-86c7-2b9b89248177"/>
    <ds:schemaRef ds:uri="df6b8441-aa16-4692-b757-547843ef6d58"/>
    <ds:schemaRef ds:uri="0e427f73-0d6a-4740-aee4-eea3ddf9cf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835C2C-3CD2-40BE-BE8B-84BB9926EA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Bain Core On Screen Show (16_9)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Bain Core</vt:lpstr>
      <vt:lpstr>think-cell Slide</vt:lpstr>
      <vt:lpstr>PowerPoint Presentation</vt:lpstr>
      <vt:lpstr>PowerPoint Presentation</vt:lpstr>
    </vt:vector>
  </TitlesOfParts>
  <Company>Bain and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ConsultingInnovation@bain.com</dc:creator>
  <cp:lastModifiedBy>ConsultingInnovation@bain.com</cp:lastModifiedBy>
  <cp:revision>1</cp:revision>
  <cp:lastPrinted>2017-02-15T14:23:56Z</cp:lastPrinted>
  <dcterms:created xsi:type="dcterms:W3CDTF">2026-03-25T09:44:46Z</dcterms:created>
  <dcterms:modified xsi:type="dcterms:W3CDTF">2026-10-26T04:51:04Z</dcterms:modified>
</cp:coreProperties>
</file>