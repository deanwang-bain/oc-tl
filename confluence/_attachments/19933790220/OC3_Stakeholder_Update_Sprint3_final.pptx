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7" d="100"/>
          <a:sy n="177" d="100"/>
        </p:scale>
        <p:origin x="40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21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5"/>
                </a:solidFill>
              </a:rPr>
              <a:t>OC 3.0  |  Stakeholder Update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at a glance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items only — epics are excluded and tracked at programme level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29968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start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2: 45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78024" y="1005840"/>
            <a:ext cx="2029968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615184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after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started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15184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2: 13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36008" y="1005840"/>
            <a:ext cx="2029968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73168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660136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33 items)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2: 48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93992" y="1005840"/>
            <a:ext cx="2029968" cy="9601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931152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2: 83%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2450592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27 of 33 items completed. Of the 28 committed at the start, 22 finished and 6 carry into Sprint 4.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Only 5 items were added after the sprint began, a scope increase of about 18%, down from 29% in Sprint 2. All 5 were completed.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The think-cell licence, BAP deployment and similar tasks were removed from </a:t>
            </a:r>
            <a:r>
              <a:rPr lang="en-US" sz="950">
                <a:solidFill>
                  <a:srgbClr val="222222"/>
                </a:solidFill>
              </a:rPr>
              <a:t>the sprint, </a:t>
            </a:r>
            <a:r>
              <a:rPr lang="en-US" sz="950" dirty="0">
                <a:solidFill>
                  <a:srgbClr val="222222"/>
                </a:solidFill>
              </a:rPr>
              <a:t>as they are not a dependency for GLS.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The analysis screen, planned as a stretch goal, was partially delivered ahead of plan.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5 added items were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0" y="2432304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7150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468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and evidence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enrichment and error screens; source list API for the evidence view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15000" y="3090672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7150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1272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design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3310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deployment with infrastructure as code; AI search design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15000" y="3749040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715000" y="3785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7856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fix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9684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curation timing out on serial calls to MS Foundry</a:t>
            </a:r>
            <a:endParaRPr lang="en-US" sz="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Sprint 3 delivered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completed items, described by the part of the consultant journey they support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84832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2976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for Change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106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3167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step: Case for Change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153619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Case for Change screen built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Calculation engine for the GLS scope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Golden data set curated and loaded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98755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987552"/>
            <a:ext cx="2084832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62432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chat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106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624328" y="13167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steps: analysis and assistant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153619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Analysis screen foundations, ahead of plan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Chat and its tool catalogue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Logs and sources tab on every case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98755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987552"/>
            <a:ext cx="2084832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1888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106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items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818888" y="13167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agents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153619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Narrative agent writes the story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Chat assistant agent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Peer selection agent improved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Peer curation timeout fixed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77063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0632"/>
            <a:ext cx="2084832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9768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and platform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28895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items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29768" y="30998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services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" y="33192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Audit service and document upload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Full stack deployed with infrastructure as code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Security scan framework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AI search design, ADRs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277063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14600" y="2770632"/>
            <a:ext cx="2084832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624328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testing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28895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items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624328" y="30998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engineering practice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624328" y="33192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Frontend contract and boundary tests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Peer selection agents tested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Audit, BFF and Case services tested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Ranking, sourcing and merge logic checked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770632"/>
            <a:ext cx="2084832" cy="16916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84632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 of plan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318211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screen was a stretch goal for Sprint 3 and is almost done. That frees Sprint 4 to focus on the output screen, which the go/no-go also depends on.</a:t>
            </a:r>
            <a:endParaRPr lang="en-US" sz="8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against the plan to GLS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is complete and Sprint 4 started on 12 October; the go/no-go decision is one week away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00200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Aug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035808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715768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Sep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471416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151376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Sep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07024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86984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Oct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24828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04788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Oct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42632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022592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Oct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573153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53113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Nov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1704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plan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sprints of build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GLS at end of Sprint 4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17922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plan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1975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3½ sprints of build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1 week pre-GLS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09567" y="1097280"/>
            <a:ext cx="0" cy="1188720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18488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655064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Foundations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54096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090672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Peers &amp; evidence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9704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526280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Calculations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25312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961888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Analysis &amp; Output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60920" y="1170432"/>
            <a:ext cx="119394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397496" y="1170432"/>
            <a:ext cx="11207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Support and Hardening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618488" y="1792224"/>
            <a:ext cx="1399032" cy="384048"/>
          </a:xfrm>
          <a:prstGeom prst="rect">
            <a:avLst/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55064" y="1792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Done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054096" y="1792224"/>
            <a:ext cx="1399032" cy="384048"/>
          </a:xfrm>
          <a:prstGeom prst="rect">
            <a:avLst/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090672" y="1792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Done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89704" y="1792224"/>
            <a:ext cx="1399032" cy="384048"/>
          </a:xfrm>
          <a:prstGeom prst="rect">
            <a:avLst/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526280" y="1792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Done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25312" y="1792224"/>
            <a:ext cx="681228" cy="384048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5961888" y="1792224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accelerated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43116" y="1792224"/>
            <a:ext cx="681228" cy="384048"/>
          </a:xfrm>
          <a:prstGeom prst="rect">
            <a:avLst/>
          </a:prstGeom>
          <a:solidFill>
            <a:srgbClr val="FCEDEF"/>
          </a:solidFill>
          <a:ln w="9525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679692" y="1792224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for GLS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360920" y="1792224"/>
            <a:ext cx="119394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397496" y="1792224"/>
            <a:ext cx="11207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Support and Hardening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095744" y="1024128"/>
            <a:ext cx="182880" cy="155448"/>
          </a:xfrm>
          <a:prstGeom prst="triangle">
            <a:avLst/>
          </a:prstGeom>
          <a:solidFill>
            <a:srgbClr val="B7791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095744" y="10424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5735247" y="22494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533388" y="1691640"/>
            <a:ext cx="182880" cy="182880"/>
          </a:xfrm>
          <a:prstGeom prst="diamond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6213348" y="22494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342632" y="1097280"/>
            <a:ext cx="0" cy="1188720"/>
          </a:xfrm>
          <a:prstGeom prst="line">
            <a:avLst/>
          </a:prstGeom>
          <a:noFill/>
          <a:ln w="1905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7068312" y="22494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20040" y="2606040"/>
            <a:ext cx="274320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20040" y="2606040"/>
            <a:ext cx="2743200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457200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Done: Sprints 1 to 3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2971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Sign-in, company search, peer selection with evidence, the Case for Change, the calculation engine for the GLS scope, and the analysis screen foundations ahead of plan.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82112" y="2606040"/>
            <a:ext cx="274320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182112" y="2606040"/>
            <a:ext cx="2743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3319272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Sprint 4, week 1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3319272" y="2971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journey for the golden data set companies, from target setup to output, working end to end for the go/no-go decision in the week of 19 October.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44184" y="2606040"/>
            <a:ext cx="274320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44184" y="2606040"/>
            <a:ext cx="2743200" cy="36576"/>
          </a:xfrm>
          <a:prstGeom prst="rect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6181344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week 2 and GLS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181344" y="2971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the version chosen at go/no-go, finish the remaining output slides, test with Bain users and rehearse for GLS on 26 October.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320040" y="4069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holds: </a:t>
            </a: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1 to 3 are delivered on the revised timeline. The trade-off stands: one week less development in exchange for a go/no-go decision a week before GLS and no last-minute deployments.</a:t>
            </a:r>
            <a:endParaRPr lang="en-US" sz="9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is accelerated to be ready for go/no-go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planned across two weeks has been brought into one, so the full journey can be shown in the week of 19 October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05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Sprint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417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Sprint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960120"/>
            <a:ext cx="6995160" cy="292608"/>
          </a:xfrm>
          <a:prstGeom prst="rect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0" y="960120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output and assistant built across two weeks · code complete 23 Oct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1371600"/>
            <a:ext cx="34792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0" y="1371600"/>
            <a:ext cx="3479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analysis, output and chat ready by 16 Oct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44668" y="1371600"/>
            <a:ext cx="3479292" cy="292608"/>
          </a:xfrm>
          <a:prstGeom prst="rect">
            <a:avLst/>
          </a:prstGeom>
          <a:solidFill>
            <a:srgbClr val="FCEDEF"/>
          </a:solidFill>
          <a:ln w="9525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44668" y="1371600"/>
            <a:ext cx="3479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· stabilise for GLS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34940" y="1682496"/>
            <a:ext cx="182880" cy="182880"/>
          </a:xfrm>
          <a:prstGeom prst="diamond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77740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w/c 19 Oct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2148840"/>
            <a:ext cx="2743200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2743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2258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screen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4780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forward to week 1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7157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Levers with cost bars, uplift and size of prize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Override uplift % or size of prize per lever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Figures recalculate when peers change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Recommendations from the golden data set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82112" y="2148840"/>
            <a:ext cx="2743200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82112" y="2148840"/>
            <a:ext cx="2743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319272" y="2258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screen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19272" y="24780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forward to week 1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319272" y="27157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Bain-formatted output generated from the case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Title, summary, peer set and lever slides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Regenerate after changes, then download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Reflects peer changes and overrides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44184" y="2148840"/>
            <a:ext cx="2743200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44184" y="2148840"/>
            <a:ext cx="2743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181344" y="2258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on each screen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181344" y="24780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forward to week 1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181344" y="27157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Answers questions about the figures, with sources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Explains the method, peers and comparability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Read-only: points to on-screen controls for changes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Available on the analysis and output screens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85039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heaviest sprint so far: 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starts with 58 committed items, against 28 in Sprint 3, 45 in Sprint 2 and 22 in Sprint 1, and most of them must be working by the go/no-go decision at the end of week 1.</a:t>
            </a:r>
            <a:endParaRPr lang="en-US" sz="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908</Words>
  <Application>Microsoft Office PowerPoint</Application>
  <PresentationFormat>On-screen Show (16:9)</PresentationFormat>
  <Paragraphs>142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 3.0 Stakeholder Update - Sprint 3</dc:title>
  <dc:subject>PptxGenJS Presentation</dc:subject>
  <dc:creator>PptxGenJS</dc:creator>
  <cp:lastModifiedBy>Giorgi Samadashvili</cp:lastModifiedBy>
  <cp:revision>5</cp:revision>
  <dcterms:created xsi:type="dcterms:W3CDTF">2026-10-13T09:39:29Z</dcterms:created>
  <dcterms:modified xsi:type="dcterms:W3CDTF">2026-10-13T10:33:21Z</dcterms:modified>
</cp:coreProperties>
</file>