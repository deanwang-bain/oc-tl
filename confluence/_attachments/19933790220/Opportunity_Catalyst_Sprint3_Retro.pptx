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rgi Samadashvili" userId="c064e87f-daca-4353-bdba-9a5892d9608f" providerId="ADAL" clId="{7A448008-D9C5-4D85-A693-02CEC3789D16}"/>
    <pc:docChg chg="modSld">
      <pc:chgData name="Giorgi Samadashvili" userId="c064e87f-daca-4353-bdba-9a5892d9608f" providerId="ADAL" clId="{7A448008-D9C5-4D85-A693-02CEC3789D16}" dt="2026-10-15T06:42:01.350" v="11" actId="6549"/>
      <pc:docMkLst>
        <pc:docMk/>
      </pc:docMkLst>
      <pc:sldChg chg="modSp mod">
        <pc:chgData name="Giorgi Samadashvili" userId="c064e87f-daca-4353-bdba-9a5892d9608f" providerId="ADAL" clId="{7A448008-D9C5-4D85-A693-02CEC3789D16}" dt="2026-10-15T06:42:01.350" v="11" actId="6549"/>
        <pc:sldMkLst>
          <pc:docMk/>
          <pc:sldMk cId="0" sldId="264"/>
        </pc:sldMkLst>
        <pc:spChg chg="mod">
          <ac:chgData name="Giorgi Samadashvili" userId="c064e87f-daca-4353-bdba-9a5892d9608f" providerId="ADAL" clId="{7A448008-D9C5-4D85-A693-02CEC3789D16}" dt="2026-10-15T06:41:41.812" v="10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Giorgi Samadashvili" userId="c064e87f-daca-4353-bdba-9a5892d9608f" providerId="ADAL" clId="{7A448008-D9C5-4D85-A693-02CEC3789D16}" dt="2026-10-15T06:42:01.350" v="11" actId="6549"/>
          <ac:spMkLst>
            <pc:docMk/>
            <pc:sldMk cId="0" sldId="264"/>
            <ac:spMk id="2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 (actual)</c:v>
                </c:pt>
              </c:strCache>
            </c:strRef>
          </c:tx>
          <c:spPr>
            <a:ln w="38100" cap="flat">
              <a:solidFill>
                <a:srgbClr val="CC000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Sep 28</c:v>
                </c:pt>
                <c:pt idx="1">
                  <c:v>Sep 29</c:v>
                </c:pt>
                <c:pt idx="2">
                  <c:v>Sep 30</c:v>
                </c:pt>
                <c:pt idx="3">
                  <c:v>Oct 1</c:v>
                </c:pt>
                <c:pt idx="4">
                  <c:v>Oct 2</c:v>
                </c:pt>
                <c:pt idx="5">
                  <c:v>Oct 5</c:v>
                </c:pt>
                <c:pt idx="6">
                  <c:v>Oct 6</c:v>
                </c:pt>
                <c:pt idx="7">
                  <c:v>Oct 7</c:v>
                </c:pt>
                <c:pt idx="8">
                  <c:v>Oct 8</c:v>
                </c:pt>
                <c:pt idx="9">
                  <c:v>Oct 9</c:v>
                </c:pt>
                <c:pt idx="10">
                  <c:v>Oct 12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452</c:v>
                </c:pt>
                <c:pt idx="1">
                  <c:v>457</c:v>
                </c:pt>
                <c:pt idx="2">
                  <c:v>461</c:v>
                </c:pt>
                <c:pt idx="3">
                  <c:v>470</c:v>
                </c:pt>
                <c:pt idx="4">
                  <c:v>422</c:v>
                </c:pt>
                <c:pt idx="5">
                  <c:v>413</c:v>
                </c:pt>
                <c:pt idx="6">
                  <c:v>413</c:v>
                </c:pt>
                <c:pt idx="7">
                  <c:v>410</c:v>
                </c:pt>
                <c:pt idx="8">
                  <c:v>365</c:v>
                </c:pt>
                <c:pt idx="9">
                  <c:v>305</c:v>
                </c:pt>
                <c:pt idx="10">
                  <c:v>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D2-4070-92A8-EEA020FF04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Guideline (ideal)</c:v>
                </c:pt>
              </c:strCache>
            </c:strRef>
          </c:tx>
          <c:spPr>
            <a:ln w="38100" cap="flat">
              <a:solidFill>
                <a:srgbClr val="9B9B9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Sep 28</c:v>
                </c:pt>
                <c:pt idx="1">
                  <c:v>Sep 29</c:v>
                </c:pt>
                <c:pt idx="2">
                  <c:v>Sep 30</c:v>
                </c:pt>
                <c:pt idx="3">
                  <c:v>Oct 1</c:v>
                </c:pt>
                <c:pt idx="4">
                  <c:v>Oct 2</c:v>
                </c:pt>
                <c:pt idx="5">
                  <c:v>Oct 5</c:v>
                </c:pt>
                <c:pt idx="6">
                  <c:v>Oct 6</c:v>
                </c:pt>
                <c:pt idx="7">
                  <c:v>Oct 7</c:v>
                </c:pt>
                <c:pt idx="8">
                  <c:v>Oct 8</c:v>
                </c:pt>
                <c:pt idx="9">
                  <c:v>Oct 9</c:v>
                </c:pt>
                <c:pt idx="10">
                  <c:v>Oct 12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452</c:v>
                </c:pt>
                <c:pt idx="1">
                  <c:v>406.8</c:v>
                </c:pt>
                <c:pt idx="2">
                  <c:v>361.6</c:v>
                </c:pt>
                <c:pt idx="3">
                  <c:v>316.39999999999998</c:v>
                </c:pt>
                <c:pt idx="4">
                  <c:v>271.2</c:v>
                </c:pt>
                <c:pt idx="5">
                  <c:v>226</c:v>
                </c:pt>
                <c:pt idx="6">
                  <c:v>180.8</c:v>
                </c:pt>
                <c:pt idx="7">
                  <c:v>135.6</c:v>
                </c:pt>
                <c:pt idx="8">
                  <c:v>90.4</c:v>
                </c:pt>
                <c:pt idx="9">
                  <c:v>45.2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D2-4070-92A8-EEA020FF04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3E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B9B9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9B9B9B"/>
                    </a:solidFill>
                    <a:latin typeface="Arial"/>
                  </a:defRPr>
                </a:pPr>
                <a:r>
                  <a:rPr lang="en-GB" sz="950" b="0" i="0" u="none" strike="noStrike">
                    <a:solidFill>
                      <a:srgbClr val="9B9B9B"/>
                    </a:solidFill>
                    <a:latin typeface="Arial"/>
                  </a:rPr>
                  <a:t>Hours remaining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B9B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E6E6E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Committed at start</c:v>
                </c:pt>
                <c:pt idx="1">
                  <c:v>Added mid-sprint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13-4435-9988-A815A32828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Carried over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Committed at start</c:v>
                </c:pt>
                <c:pt idx="1">
                  <c:v>Added mid-sprint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13-4435-9988-A815A32828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3E3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B9B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6E6E6E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B8B4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C9-4A33-9009-3516BE981258}"/>
              </c:ext>
            </c:extLst>
          </c:dPt>
          <c:dPt>
            <c:idx val="1"/>
            <c:invertIfNegative val="0"/>
            <c:bubble3D val="0"/>
            <c:spPr>
              <a:solidFill>
                <a:srgbClr val="4A4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C9-4A33-9009-3516BE981258}"/>
              </c:ext>
            </c:extLst>
          </c:dPt>
          <c:dPt>
            <c:idx val="2"/>
            <c:invertIfNegative val="0"/>
            <c:bubble3D val="0"/>
            <c:spPr>
              <a:solidFill>
                <a:srgbClr val="9B9B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C9-4A33-9009-3516BE981258}"/>
              </c:ext>
            </c:extLst>
          </c:dPt>
          <c:dPt>
            <c:idx val="3"/>
            <c:invertIfNegative val="0"/>
            <c:bubble3D val="0"/>
            <c:spPr>
              <a:solidFill>
                <a:srgbClr val="CC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C9-4A33-9009-3516BE98125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 Do</c:v>
                </c:pt>
                <c:pt idx="1">
                  <c:v>In Progress</c:v>
                </c:pt>
                <c:pt idx="2">
                  <c:v>In Review</c:v>
                </c:pt>
                <c:pt idx="3">
                  <c:v>Blocked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C9-4A33-9009-3516BE9812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3E3E3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B9B9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142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Jira Sprint Report and burndown (original time estimate), OI3 board, sprint 49544. Three epics (OI3-157, OI3-244, OI3-246) are excluded from all counts and tracked at programme level. Jira issue keys remain OI3 following the rename to Opportunity Catalyst.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417320"/>
            <a:ext cx="3611880" cy="361188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635240" y="4663440"/>
            <a:ext cx="731520" cy="73152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146304" cy="146304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868680" y="22128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7004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Retrospective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393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for Change and calculations — the Case for Change screen, the GLS calculation engine and the golden data set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September – 12 October 2026  ·  OI3 board  ·  33 delivery items in sprint at close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137160" cy="1371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at a glance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2560320" cy="1371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50392" y="1755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at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start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2424" y="1627632"/>
            <a:ext cx="2560320" cy="1371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648456" y="1755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648456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after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started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0488" y="1627632"/>
            <a:ext cx="2560320" cy="1371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6446520" y="1755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(of 33 items)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88552" y="1627632"/>
            <a:ext cx="2560320" cy="1371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9244584" y="1755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9244584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2918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numbers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3621024"/>
            <a:ext cx="635508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594360" y="3785616"/>
            <a:ext cx="6355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of 33 items completed. Of the 28 committed at the start, 22 finished and 6 carry into Sprint 4.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items were added after the sprint began, a scope increase of about 18%, down from 29% in Sprint 2. All 5 were completed within the sprint.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think-cell licence, BAP deployment and similar tasks were removed from the sprint, as they are not a dependency for GLS.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were recorded in Jira for the first time, about 450 at the start of the sprint, so the burndown is now measured in hours. </a:t>
            </a: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count is no longer the only measure.</a:t>
            </a:r>
            <a:endParaRPr lang="en-US" sz="1100" b="1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918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5 added items were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0" y="3621024"/>
            <a:ext cx="4279392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7315200" y="3767328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and evidence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045952" y="37673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0" y="4041648"/>
            <a:ext cx="4279392" cy="82296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7315200" y="4041648"/>
            <a:ext cx="4279392" cy="82296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7315200" y="4151376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enrichment and error screen, source list API for the evidence view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37083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design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045952" y="43708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4645152"/>
            <a:ext cx="4279392" cy="82296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315200" y="4645152"/>
            <a:ext cx="4279392" cy="82296"/>
          </a:xfrm>
          <a:prstGeom prst="rect">
            <a:avLst/>
          </a:prstGeom>
          <a:solidFill>
            <a:srgbClr val="9B9B9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7315200" y="4754880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deployment with infrastructure as code, AI search design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4974336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fix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1045952" y="49743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0" y="5248656"/>
            <a:ext cx="4279392" cy="82296"/>
          </a:xfrm>
          <a:prstGeom prst="rect">
            <a:avLst/>
          </a:prstGeom>
          <a:solidFill>
            <a:srgbClr val="E9E9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315200" y="5248656"/>
            <a:ext cx="2139696" cy="82296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7315200" y="5358384"/>
            <a:ext cx="4279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curation timing out on serial calls to MS Foundry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  |  Sprint 3 Retrospective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972800" y="6382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137160" cy="1371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compared with Sprint 3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52144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sprints counted on the same basis — delivery items only, epics excluded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2560320" cy="248716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32104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completed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32104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395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819656" y="2542032"/>
            <a:ext cx="365760" cy="201168"/>
          </a:xfrm>
          <a:prstGeom prst="rightArrow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2258568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258568" y="23408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32104" y="3310128"/>
            <a:ext cx="2084832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832104" y="34381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fewer, larger items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92424" y="1627632"/>
            <a:ext cx="2560320" cy="248716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3630168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2395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617720" y="2542032"/>
            <a:ext cx="365760" cy="201168"/>
          </a:xfrm>
          <a:prstGeom prst="rightArrow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5056632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5056632" y="23408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3630168" y="3310128"/>
            <a:ext cx="2084832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3630168" y="34381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level, down 1 point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0488" y="1627632"/>
            <a:ext cx="2560320" cy="248716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6428232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added mid-sprint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28232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428232" y="2395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415784" y="2542032"/>
            <a:ext cx="365760" cy="201168"/>
          </a:xfrm>
          <a:prstGeom prst="rightArrow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7854696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854696" y="23408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6428232" y="3310128"/>
            <a:ext cx="2084832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428232" y="34381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13 items to 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88552" y="1627632"/>
            <a:ext cx="2560320" cy="248716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9226296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carried over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226296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9226296" y="23957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0213848" y="2542032"/>
            <a:ext cx="365760" cy="201168"/>
          </a:xfrm>
          <a:prstGeom prst="rightArrow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10652760" y="22128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0652760" y="23408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39" name="Shape 37"/>
          <p:cNvSpPr/>
          <p:nvPr/>
        </p:nvSpPr>
        <p:spPr>
          <a:xfrm>
            <a:off x="9226296" y="3310128"/>
            <a:ext cx="2084832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9226296" y="34381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by 4 items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4443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between the two sprints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94360" y="4773168"/>
            <a:ext cx="11000232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 txBox="1"/>
          <p:nvPr/>
        </p:nvSpPr>
        <p:spPr>
          <a:xfrm>
            <a:off x="594360" y="4919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items, now sized in hours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94360" y="52303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committed to 28 items against 45 and finished 22. It is the first sprint with hours in Jira, about 450, so item counts are no longer the only measure.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352544" y="4919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Additions were fully absorbed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352544" y="52303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items added mid-sprint completed in the same sprint. In Sprint 2, 12 of 13 did.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110728" y="4919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blockers cleared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110728" y="52303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item ended the sprint blocked on a vendor, against two in Sprint 2. The golden data set removes the LSEG and CapIQ dependencies for GLS.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9436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  |  Sprint 3 Retrospective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10972800" y="6382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137160" cy="1371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 profile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52144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from the Jira burndown (original time estimate), the first sprint with estimates recorded. Values are read from the chart and rounded.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7040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818120" y="18745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28 – Oct 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130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rises before it falls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44144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 opens at about 450 hours and climbs to around 485 on 1 October as work is added. Nothing burns down in the first four days.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191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 – 9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447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slow decline once access arrives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75818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agent access is granted on 2 October. Remaining work falls from about 470 to 305 hours over the next six working days, still far above the guideline.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45079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4764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the closure lands on the final day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507492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falls from about 305 to 80 hours on the last day: around 225 hours, roughly 60% of the sprint's burn, reach Done at close.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  |  Sprint 3 Retrospective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0" y="6382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137160" cy="1371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sprint scope changed</a:t>
            </a:r>
            <a:endParaRPr lang="en-US" sz="2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64208"/>
          <a:ext cx="61264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1783080"/>
            <a:ext cx="4690872" cy="11887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132320" y="2020824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7370064" y="1929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addition was completed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70064" y="22402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items added mid-sprint were done before the sprint closed, against 12 of 13 in Sprint 2.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03720" y="3154680"/>
            <a:ext cx="4690872" cy="11887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132320" y="3392424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7370064" y="3300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Additions were follow-on work and one fix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70064" y="36118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peer enrichment and error screen, source list API, full stack deployment and AI search design follow from work in the sprint. The fifth fixed a peer curation timeout.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3720" y="4526280"/>
            <a:ext cx="4690872" cy="11887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7132320" y="4764024"/>
            <a:ext cx="109728" cy="109728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 txBox="1"/>
          <p:nvPr/>
        </p:nvSpPr>
        <p:spPr>
          <a:xfrm>
            <a:off x="7370064" y="4672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not needed for GLS were removed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370064" y="49834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think-cell licence, BAP deployment and similar tasks were taken out of the sprint rather than completed, as they are not a dependency for GLS.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  |  Sprint 3 Retrospective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0" y="6382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137160" cy="1371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of the 6 spillover items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52144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of the six are under way or in review, and none is blocked on an external party</a:t>
            </a:r>
            <a:endParaRPr lang="en-US" sz="11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31520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carryover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15200" y="2157984"/>
            <a:ext cx="4279392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7315200" y="2322576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OI3-221, the confirm peers API, is in progress. It joins peer selection to the Case for Change end to end and is the key item for go/no-go.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more are in progress: OI3-215 the data sources sheet, OI3-230 QA for the peer service, and OI3-48 development environment and access.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is in review: OI3-21 security and governance, now open for a third sprint.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had not started: OI3-227, QA for the peer selection screen. By 13 October it was in progress and OI3-230 had moved to review.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  |  Sprint 3 Retrospective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0" y="6382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137160" cy="1371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Sprint 3 delivered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52144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completed items, grouped by the part of the user journey they support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627632"/>
            <a:ext cx="3483864" cy="19385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68680" y="1883664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1124712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for Change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8013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items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4712" y="2075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step: Case for Change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359152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for Change screen built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engine logic agreed for the GLS scope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GLS calculation engine built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 set curated with BCN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 set delivered in JSON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52544" y="1627632"/>
            <a:ext cx="3483864" cy="19385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626864" y="1883664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882896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chat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50024" y="18013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items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882896" y="2075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steps: analysis and assistant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2359152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screen foundations, ahead of plan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and its tool catalogue (CopilotKit / AG-UI)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and sources tab on every case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list API behind the evidence view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enrichment and error screens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10728" y="1627632"/>
            <a:ext cx="3483864" cy="19385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8385048" y="1883664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8641080" y="17830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808208" y="18013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items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2075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steps: narrative and assistant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385048" y="2359152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agent that writes the story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assistant agent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selection agent improvements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curation timeout fixed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712464"/>
            <a:ext cx="3483864" cy="19385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68680" y="3968496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1124712" y="3867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886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items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" y="41605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case services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443984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service processing events from the service bus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upload API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and quota management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52544" y="3712464"/>
            <a:ext cx="3483864" cy="19385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626864" y="3968496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882896" y="3867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architecture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050024" y="3886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items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882896" y="41605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platform and design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626864" y="4443984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deployed with infrastructure as code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scan framework, run on demand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 logged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 design document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10728" y="3712464"/>
            <a:ext cx="3483864" cy="19385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8385048" y="3968496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8641080" y="3867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testing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0808208" y="38862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items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641080" y="41605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engineering practice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8385048" y="4443984"/>
            <a:ext cx="3017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contract and network boundary tests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selection agents: ranking, sourcing and merge logic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service and Experience BFF tested</a:t>
            </a:r>
            <a:endParaRPr lang="en-US" sz="950" dirty="0"/>
          </a:p>
          <a:p>
            <a:pPr marL="342900" indent="-342900">
              <a:lnSpc>
                <a:spcPts val="1200"/>
              </a:lnSpc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Service tested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" y="60350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for Change now runs on the golden data set, and the analysis screen and chat start Sprint 4 with a head start.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  |  Sprint 3 Retrospective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972800" y="6382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137160" cy="1371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 behind the spillover and items to watch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52144"/>
            <a:ext cx="1072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points carried into Sprint 4, each with a clear next step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11000232" cy="886968"/>
          </a:xfrm>
          <a:prstGeom prst="rect">
            <a:avLst/>
          </a:prstGeom>
          <a:solidFill>
            <a:srgbClr val="FBED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868680" y="17922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68249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agent access arrived mid-sprint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5681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the development platform and the AI agents, which document fetching and parsing depend on, was granted on the development environment only on 2 October. Dependent work started late, and around 60% of the sprint's hours closed on the final 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532888"/>
            <a:ext cx="11000232" cy="88696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68680" y="27523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64261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items have now carried through three sprints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91693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OI3-21 security and governance and OI3-48 development environment and access have been open since Sprint 1. The other three from Sprint 2's list closed or were removed. Each remaining item needs a named owner and a date, or a decision to close 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493008"/>
            <a:ext cx="11000232" cy="88696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68680" y="37124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60273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link from peers to the Case for Change is still open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87705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OI3-221, the confirm peers API, carries into Sprint 4. The go/no-go journey depends on it, so it needs to close in the first days of the sprint.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4453128"/>
            <a:ext cx="11000232" cy="88696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68680" y="46725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456285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 remains the main constraint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483717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engineer was onboarded for the GLS sprints, and the full-stack developer due in Sprint 2 could not contribute for a full sprint. The golden data set offsets the first, but not connecting live sources narrows the GLS functionality.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5413248"/>
            <a:ext cx="11000232" cy="88696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868680" y="56327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522976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 carries the heaviest load so far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79729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burned about 370 hours over two weeks. Sprint 4 starts with 58 items, most needed by go/no-go after one week, so its estimated hours should be checked against that rate now.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  |  Sprint 3 Retrospective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382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137160" cy="13716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 board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3483864" cy="43434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68680" y="1938528"/>
            <a:ext cx="118872" cy="118872"/>
          </a:xfrm>
          <a:prstGeom prst="rect">
            <a:avLst/>
          </a:prstGeom>
          <a:solidFill>
            <a:srgbClr val="4A4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1124712" y="18288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49424"/>
            <a:ext cx="292608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68680" y="2377440"/>
            <a:ext cx="29443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 completion, level with Sprint 2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mid-sprint additions completed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for Change screen and GLS calculation engine delivered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 set curated and loaded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screen and chat started ahead of plan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sprint with hour estimates in Jira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5815584"/>
            <a:ext cx="290779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352544" y="1664208"/>
            <a:ext cx="3483864" cy="43434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626864" y="1938528"/>
            <a:ext cx="118872" cy="118872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882896" y="18288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improve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26864" y="2249424"/>
            <a:ext cx="292608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26864" y="2377440"/>
            <a:ext cx="29443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agent access granted only on 2 October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60% of the tasks closed on the final day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burn-down in the first four days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items open since Sprint 1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peers API not finished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5815584"/>
            <a:ext cx="290779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110728" y="1664208"/>
            <a:ext cx="3483864" cy="43434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385048" y="1938528"/>
            <a:ext cx="118872" cy="118872"/>
          </a:xfrm>
          <a:prstGeom prst="rect">
            <a:avLst/>
          </a:prstGeom>
          <a:solidFill>
            <a:srgbClr val="9B9B9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8641080" y="18288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try next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85048" y="2249424"/>
            <a:ext cx="2926080" cy="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8385048" y="2377440"/>
            <a:ext cx="29443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OI3-221 in the first days of Sprint 4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and date, or close, for OI3-21 and OI3-48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items to Done as they finish, not at close</a:t>
            </a:r>
            <a:endParaRPr lang="en-US" sz="105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estimates current as Sprint 4 scope changes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85048" y="5815584"/>
            <a:ext cx="290779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59436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Catalyst  |  Sprint 3 Retrospective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0" y="63825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B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1584</Words>
  <Application>Microsoft Office PowerPoint</Application>
  <PresentationFormat>Widescreen</PresentationFormat>
  <Paragraphs>199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Opportunity Catalyst - Sprint 2 Retrospective</dc:title>
  <dc:subject>PptxGenJS Presentation</dc:subject>
  <dc:creator>Opportunity Catalyst Delivery</dc:creator>
  <cp:lastModifiedBy>Giorgi Samadashvili</cp:lastModifiedBy>
  <cp:revision>2</cp:revision>
  <dcterms:created xsi:type="dcterms:W3CDTF">2026-09-29T06:48:12Z</dcterms:created>
  <dcterms:modified xsi:type="dcterms:W3CDTF">2026-10-15T06:42:11Z</dcterms:modified>
</cp:coreProperties>
</file>