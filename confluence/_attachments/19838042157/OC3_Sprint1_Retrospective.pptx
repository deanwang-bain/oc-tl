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orgi Samadashvili" userId="c064e87f-daca-4353-bdba-9a5892d9608f" providerId="ADAL" clId="{7A448008-D9C5-4D85-A693-02CEC3789D16}"/>
    <pc:docChg chg="undo custSel modSld">
      <pc:chgData name="Giorgi Samadashvili" userId="c064e87f-daca-4353-bdba-9a5892d9608f" providerId="ADAL" clId="{7A448008-D9C5-4D85-A693-02CEC3789D16}" dt="2026-09-16T08:12:14.543" v="19" actId="20577"/>
      <pc:docMkLst>
        <pc:docMk/>
      </pc:docMkLst>
      <pc:sldChg chg="addSp delSp modSp mod">
        <pc:chgData name="Giorgi Samadashvili" userId="c064e87f-daca-4353-bdba-9a5892d9608f" providerId="ADAL" clId="{7A448008-D9C5-4D85-A693-02CEC3789D16}" dt="2026-09-16T08:12:14.543" v="19" actId="20577"/>
        <pc:sldMkLst>
          <pc:docMk/>
          <pc:sldMk cId="0" sldId="263"/>
        </pc:sldMkLst>
        <pc:spChg chg="del">
          <ac:chgData name="Giorgi Samadashvili" userId="c064e87f-daca-4353-bdba-9a5892d9608f" providerId="ADAL" clId="{7A448008-D9C5-4D85-A693-02CEC3789D16}" dt="2026-09-16T08:11:09.618" v="0" actId="478"/>
          <ac:spMkLst>
            <pc:docMk/>
            <pc:sldMk cId="0" sldId="263"/>
            <ac:spMk id="10" creationId="{00000000-0000-0000-0000-000000000000}"/>
          </ac:spMkLst>
        </pc:spChg>
        <pc:spChg chg="del mod">
          <ac:chgData name="Giorgi Samadashvili" userId="c064e87f-daca-4353-bdba-9a5892d9608f" providerId="ADAL" clId="{7A448008-D9C5-4D85-A693-02CEC3789D16}" dt="2026-09-16T08:11:14.763" v="2" actId="478"/>
          <ac:spMkLst>
            <pc:docMk/>
            <pc:sldMk cId="0" sldId="263"/>
            <ac:spMk id="18" creationId="{00000000-0000-0000-0000-000000000000}"/>
          </ac:spMkLst>
        </pc:spChg>
        <pc:spChg chg="mod">
          <ac:chgData name="Giorgi Samadashvili" userId="c064e87f-daca-4353-bdba-9a5892d9608f" providerId="ADAL" clId="{7A448008-D9C5-4D85-A693-02CEC3789D16}" dt="2026-09-16T08:12:14.543" v="19" actId="20577"/>
          <ac:spMkLst>
            <pc:docMk/>
            <pc:sldMk cId="0" sldId="263"/>
            <ac:spMk id="25" creationId="{00000000-0000-0000-0000-000000000000}"/>
          </ac:spMkLst>
        </pc:spChg>
        <pc:spChg chg="del">
          <ac:chgData name="Giorgi Samadashvili" userId="c064e87f-daca-4353-bdba-9a5892d9608f" providerId="ADAL" clId="{7A448008-D9C5-4D85-A693-02CEC3789D16}" dt="2026-09-16T08:11:18.151" v="3" actId="478"/>
          <ac:spMkLst>
            <pc:docMk/>
            <pc:sldMk cId="0" sldId="263"/>
            <ac:spMk id="26" creationId="{00000000-0000-0000-0000-000000000000}"/>
          </ac:spMkLst>
        </pc:spChg>
        <pc:spChg chg="add del mod">
          <ac:chgData name="Giorgi Samadashvili" userId="c064e87f-daca-4353-bdba-9a5892d9608f" providerId="ADAL" clId="{7A448008-D9C5-4D85-A693-02CEC3789D16}" dt="2026-09-16T08:11:49.753" v="10" actId="478"/>
          <ac:spMkLst>
            <pc:docMk/>
            <pc:sldMk cId="0" sldId="263"/>
            <ac:spMk id="29" creationId="{00000000-0000-0000-0000-000000000000}"/>
          </ac:spMkLst>
        </pc:spChg>
        <pc:spChg chg="add del">
          <ac:chgData name="Giorgi Samadashvili" userId="c064e87f-daca-4353-bdba-9a5892d9608f" providerId="ADAL" clId="{7A448008-D9C5-4D85-A693-02CEC3789D16}" dt="2026-09-16T08:11:46.338" v="9" actId="478"/>
          <ac:spMkLst>
            <pc:docMk/>
            <pc:sldMk cId="0" sldId="263"/>
            <ac:spMk id="3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Completed</c:v>
                </c:pt>
              </c:strCache>
            </c:strRef>
          </c:tx>
          <c:spPr>
            <a:solidFill>
              <a:srgbClr val="CC0000"/>
            </a:solidFill>
            <a:effectLst/>
          </c:spPr>
          <c:invertIfNegative val="0"/>
          <c:dLbls>
            <c:numFmt formatCode="#,##0" sourceLinked="0"/>
            <c:spPr>
              <a:noFill/>
              <a:ln>
                <a:noFill/>
              </a:ln>
              <a:effectLst/>
            </c:spPr>
            <c:txPr>
              <a:bodyPr/>
              <a:lstStyle/>
              <a:p>
                <a:pPr>
                  <a:defRPr sz="13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Committed at start</c:v>
                </c:pt>
                <c:pt idx="1">
                  <c:v>Added mid-sprint</c:v>
                </c:pt>
              </c:strCache>
            </c:strRef>
          </c:cat>
          <c:val>
            <c:numRef>
              <c:f>Sheet1!$B$2:$B$3</c:f>
              <c:numCache>
                <c:formatCode>General</c:formatCode>
                <c:ptCount val="2"/>
                <c:pt idx="0">
                  <c:v>9</c:v>
                </c:pt>
                <c:pt idx="1">
                  <c:v>13</c:v>
                </c:pt>
              </c:numCache>
            </c:numRef>
          </c:val>
          <c:extLst>
            <c:ext xmlns:c16="http://schemas.microsoft.com/office/drawing/2014/chart" uri="{C3380CC4-5D6E-409C-BE32-E72D297353CC}">
              <c16:uniqueId val="{00000000-9B07-44B1-AD5B-AB2D7BD942E0}"/>
            </c:ext>
          </c:extLst>
        </c:ser>
        <c:ser>
          <c:idx val="1"/>
          <c:order val="1"/>
          <c:tx>
            <c:strRef>
              <c:f>Sheet1!$C$1</c:f>
              <c:strCache>
                <c:ptCount val="1"/>
                <c:pt idx="0">
                  <c:v>Carried over</c:v>
                </c:pt>
              </c:strCache>
            </c:strRef>
          </c:tx>
          <c:spPr>
            <a:solidFill>
              <a:srgbClr val="6E6E6E"/>
            </a:solidFill>
            <a:effectLst/>
          </c:spPr>
          <c:invertIfNegative val="0"/>
          <c:dLbls>
            <c:numFmt formatCode="#,##0" sourceLinked="0"/>
            <c:spPr>
              <a:noFill/>
              <a:ln>
                <a:noFill/>
              </a:ln>
              <a:effectLst/>
            </c:spPr>
            <c:txPr>
              <a:bodyPr/>
              <a:lstStyle/>
              <a:p>
                <a:pPr>
                  <a:defRPr sz="13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Committed at start</c:v>
                </c:pt>
                <c:pt idx="1">
                  <c:v>Added mid-sprint</c:v>
                </c:pt>
              </c:strCache>
            </c:strRef>
          </c:cat>
          <c:val>
            <c:numRef>
              <c:f>Sheet1!$C$2:$C$3</c:f>
              <c:numCache>
                <c:formatCode>General</c:formatCode>
                <c:ptCount val="2"/>
                <c:pt idx="0">
                  <c:v>13</c:v>
                </c:pt>
                <c:pt idx="1">
                  <c:v>15</c:v>
                </c:pt>
              </c:numCache>
            </c:numRef>
          </c:val>
          <c:extLst>
            <c:ext xmlns:c16="http://schemas.microsoft.com/office/drawing/2014/chart" uri="{C3380CC4-5D6E-409C-BE32-E72D297353CC}">
              <c16:uniqueId val="{00000001-9B07-44B1-AD5B-AB2D7BD942E0}"/>
            </c:ext>
          </c:extLst>
        </c:ser>
        <c:dLbls>
          <c:dLblPos val="ctr"/>
          <c:showLegendKey val="0"/>
          <c:showVal val="1"/>
          <c:showCatName val="0"/>
          <c:showSerName val="0"/>
          <c:showPercent val="0"/>
          <c:showBubbleSize val="0"/>
        </c:dLbls>
        <c:gapWidth val="9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3E3E3"/>
            </a:solidFill>
            <a:prstDash val="solid"/>
            <a:round/>
          </a:ln>
        </c:spPr>
        <c:txPr>
          <a:bodyPr/>
          <a:lstStyle/>
          <a:p>
            <a:pPr>
              <a:defRPr sz="115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30"/>
        </c:scaling>
        <c:delete val="0"/>
        <c:axPos val="l"/>
        <c:majorGridlines>
          <c:spPr>
            <a:ln w="12700" cap="flat">
              <a:solidFill>
                <a:srgbClr val="F0F0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9B9B9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6E6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Remaining (actual)</c:v>
                </c:pt>
              </c:strCache>
            </c:strRef>
          </c:tx>
          <c:spPr>
            <a:ln w="38100" cap="flat">
              <a:solidFill>
                <a:srgbClr val="CC0000"/>
              </a:solidFill>
              <a:prstDash val="solid"/>
              <a:round/>
            </a:ln>
            <a:effectLst/>
          </c:spPr>
          <c:marker>
            <c:symbol val="none"/>
          </c:marker>
          <c:cat>
            <c:strRef>
              <c:f>Sheet1!$A$2:$A$15</c:f>
              <c:strCache>
                <c:ptCount val="14"/>
                <c:pt idx="0">
                  <c:v>Sep 1</c:v>
                </c:pt>
                <c:pt idx="1">
                  <c:v>Sep 2</c:v>
                </c:pt>
                <c:pt idx="2">
                  <c:v>Sep 3</c:v>
                </c:pt>
                <c:pt idx="3">
                  <c:v>Sep 4</c:v>
                </c:pt>
                <c:pt idx="4">
                  <c:v>Sep 5</c:v>
                </c:pt>
                <c:pt idx="5">
                  <c:v>Sep 6</c:v>
                </c:pt>
                <c:pt idx="6">
                  <c:v>Sep 7</c:v>
                </c:pt>
                <c:pt idx="7">
                  <c:v>Sep 8</c:v>
                </c:pt>
                <c:pt idx="8">
                  <c:v>Sep 9</c:v>
                </c:pt>
                <c:pt idx="9">
                  <c:v>Sep 10</c:v>
                </c:pt>
                <c:pt idx="10">
                  <c:v>Sep 11</c:v>
                </c:pt>
                <c:pt idx="11">
                  <c:v>Sep 12</c:v>
                </c:pt>
                <c:pt idx="12">
                  <c:v>Sep 13</c:v>
                </c:pt>
                <c:pt idx="13">
                  <c:v>Sep 14</c:v>
                </c:pt>
              </c:strCache>
            </c:strRef>
          </c:cat>
          <c:val>
            <c:numRef>
              <c:f>Sheet1!$B$2:$B$15</c:f>
              <c:numCache>
                <c:formatCode>General</c:formatCode>
                <c:ptCount val="14"/>
                <c:pt idx="0">
                  <c:v>49</c:v>
                </c:pt>
                <c:pt idx="1">
                  <c:v>46</c:v>
                </c:pt>
                <c:pt idx="2">
                  <c:v>46</c:v>
                </c:pt>
                <c:pt idx="3">
                  <c:v>47</c:v>
                </c:pt>
                <c:pt idx="4">
                  <c:v>46</c:v>
                </c:pt>
                <c:pt idx="5">
                  <c:v>46</c:v>
                </c:pt>
                <c:pt idx="6">
                  <c:v>46</c:v>
                </c:pt>
                <c:pt idx="7">
                  <c:v>45</c:v>
                </c:pt>
                <c:pt idx="8">
                  <c:v>43</c:v>
                </c:pt>
                <c:pt idx="9">
                  <c:v>43</c:v>
                </c:pt>
                <c:pt idx="10">
                  <c:v>41</c:v>
                </c:pt>
                <c:pt idx="11">
                  <c:v>38</c:v>
                </c:pt>
                <c:pt idx="12">
                  <c:v>37</c:v>
                </c:pt>
                <c:pt idx="13">
                  <c:v>37</c:v>
                </c:pt>
              </c:numCache>
            </c:numRef>
          </c:val>
          <c:smooth val="0"/>
          <c:extLst>
            <c:ext xmlns:c16="http://schemas.microsoft.com/office/drawing/2014/chart" uri="{C3380CC4-5D6E-409C-BE32-E72D297353CC}">
              <c16:uniqueId val="{00000000-5603-4E4E-8999-79982D96E256}"/>
            </c:ext>
          </c:extLst>
        </c:ser>
        <c:ser>
          <c:idx val="1"/>
          <c:order val="1"/>
          <c:tx>
            <c:strRef>
              <c:f>Sheet1!$C$1</c:f>
              <c:strCache>
                <c:ptCount val="1"/>
                <c:pt idx="0">
                  <c:v>Guideline (ideal)</c:v>
                </c:pt>
              </c:strCache>
            </c:strRef>
          </c:tx>
          <c:spPr>
            <a:ln w="38100" cap="flat">
              <a:solidFill>
                <a:srgbClr val="9B9B9B"/>
              </a:solidFill>
              <a:prstDash val="solid"/>
              <a:round/>
            </a:ln>
            <a:effectLst/>
          </c:spPr>
          <c:marker>
            <c:symbol val="none"/>
          </c:marker>
          <c:cat>
            <c:strRef>
              <c:f>Sheet1!$A$2:$A$15</c:f>
              <c:strCache>
                <c:ptCount val="14"/>
                <c:pt idx="0">
                  <c:v>Sep 1</c:v>
                </c:pt>
                <c:pt idx="1">
                  <c:v>Sep 2</c:v>
                </c:pt>
                <c:pt idx="2">
                  <c:v>Sep 3</c:v>
                </c:pt>
                <c:pt idx="3">
                  <c:v>Sep 4</c:v>
                </c:pt>
                <c:pt idx="4">
                  <c:v>Sep 5</c:v>
                </c:pt>
                <c:pt idx="5">
                  <c:v>Sep 6</c:v>
                </c:pt>
                <c:pt idx="6">
                  <c:v>Sep 7</c:v>
                </c:pt>
                <c:pt idx="7">
                  <c:v>Sep 8</c:v>
                </c:pt>
                <c:pt idx="8">
                  <c:v>Sep 9</c:v>
                </c:pt>
                <c:pt idx="9">
                  <c:v>Sep 10</c:v>
                </c:pt>
                <c:pt idx="10">
                  <c:v>Sep 11</c:v>
                </c:pt>
                <c:pt idx="11">
                  <c:v>Sep 12</c:v>
                </c:pt>
                <c:pt idx="12">
                  <c:v>Sep 13</c:v>
                </c:pt>
                <c:pt idx="13">
                  <c:v>Sep 14</c:v>
                </c:pt>
              </c:strCache>
            </c:strRef>
          </c:cat>
          <c:val>
            <c:numRef>
              <c:f>Sheet1!$C$2:$C$15</c:f>
              <c:numCache>
                <c:formatCode>General</c:formatCode>
                <c:ptCount val="14"/>
                <c:pt idx="0">
                  <c:v>25</c:v>
                </c:pt>
                <c:pt idx="1">
                  <c:v>23.077000000000002</c:v>
                </c:pt>
                <c:pt idx="2">
                  <c:v>21.154</c:v>
                </c:pt>
                <c:pt idx="3">
                  <c:v>19.231000000000002</c:v>
                </c:pt>
                <c:pt idx="4">
                  <c:v>17.308</c:v>
                </c:pt>
                <c:pt idx="5">
                  <c:v>15.385</c:v>
                </c:pt>
                <c:pt idx="6">
                  <c:v>13.462</c:v>
                </c:pt>
                <c:pt idx="7">
                  <c:v>11.538</c:v>
                </c:pt>
                <c:pt idx="8">
                  <c:v>9.6150000000000002</c:v>
                </c:pt>
                <c:pt idx="9">
                  <c:v>7.6920000000000002</c:v>
                </c:pt>
                <c:pt idx="10">
                  <c:v>5.7690000000000001</c:v>
                </c:pt>
                <c:pt idx="11">
                  <c:v>3.8460000000000001</c:v>
                </c:pt>
                <c:pt idx="12">
                  <c:v>1.923</c:v>
                </c:pt>
                <c:pt idx="13">
                  <c:v>0</c:v>
                </c:pt>
              </c:numCache>
            </c:numRef>
          </c:val>
          <c:smooth val="0"/>
          <c:extLst>
            <c:ext xmlns:c16="http://schemas.microsoft.com/office/drawing/2014/chart" uri="{C3380CC4-5D6E-409C-BE32-E72D297353CC}">
              <c16:uniqueId val="{00000001-5603-4E4E-8999-79982D96E25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E3E3E3"/>
            </a:solidFill>
            <a:prstDash val="solid"/>
            <a:round/>
          </a:ln>
        </c:spPr>
        <c:txPr>
          <a:bodyPr/>
          <a:lstStyle/>
          <a:p>
            <a:pPr>
              <a:defRPr sz="900" b="0" i="0" u="none" strike="noStrike">
                <a:solidFill>
                  <a:srgbClr val="9B9B9B"/>
                </a:solidFill>
                <a:latin typeface="Arial"/>
              </a:defRPr>
            </a:pPr>
            <a:endParaRPr lang="en-US"/>
          </a:p>
        </c:txPr>
        <c:crossAx val="2094734552"/>
        <c:crosses val="autoZero"/>
        <c:auto val="1"/>
        <c:lblAlgn val="ctr"/>
        <c:lblOffset val="100"/>
        <c:noMultiLvlLbl val="1"/>
      </c:catAx>
      <c:valAx>
        <c:axId val="2094734552"/>
        <c:scaling>
          <c:orientation val="minMax"/>
          <c:max val="56"/>
          <c:min val="0"/>
        </c:scaling>
        <c:delete val="0"/>
        <c:axPos val="l"/>
        <c:majorGridlines>
          <c:spPr>
            <a:ln w="12700" cap="flat">
              <a:solidFill>
                <a:srgbClr val="F0F0F0"/>
              </a:solidFill>
              <a:prstDash val="solid"/>
              <a:round/>
            </a:ln>
          </c:spPr>
        </c:majorGridlines>
        <c:title>
          <c:tx>
            <c:rich>
              <a:bodyPr/>
              <a:lstStyle/>
              <a:p>
                <a:pPr>
                  <a:defRPr sz="950" b="0" i="0" u="none" strike="noStrike">
                    <a:solidFill>
                      <a:srgbClr val="9B9B9B"/>
                    </a:solidFill>
                    <a:latin typeface="Arial"/>
                  </a:defRPr>
                </a:pPr>
                <a:r>
                  <a:rPr lang="en-GB" sz="950" b="0" i="0" u="none" strike="noStrike">
                    <a:solidFill>
                      <a:srgbClr val="9B9B9B"/>
                    </a:solidFill>
                    <a:latin typeface="Arial"/>
                  </a:rPr>
                  <a:t>Issue count</a:t>
                </a:r>
              </a:p>
            </c:rich>
          </c:tx>
          <c:overlay val="0"/>
        </c:title>
        <c:numFmt formatCode="General" sourceLinked="0"/>
        <c:majorTickMark val="out"/>
        <c:minorTickMark val="none"/>
        <c:tickLblPos val="nextTo"/>
        <c:spPr>
          <a:ln w="12700" cap="flat">
            <a:noFill/>
            <a:prstDash val="solid"/>
            <a:round/>
          </a:ln>
        </c:spPr>
        <c:txPr>
          <a:bodyPr/>
          <a:lstStyle/>
          <a:p>
            <a:pPr>
              <a:defRPr sz="950" b="0" i="0" u="none" strike="noStrike">
                <a:solidFill>
                  <a:srgbClr val="9B9B9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6E6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Items</c:v>
                </c:pt>
              </c:strCache>
            </c:strRef>
          </c:tx>
          <c:spPr>
            <a:solidFill>
              <a:srgbClr val="D9D9D9"/>
            </a:solidFill>
            <a:effectLst/>
          </c:spPr>
          <c:invertIfNegative val="0"/>
          <c:dPt>
            <c:idx val="0"/>
            <c:invertIfNegative val="0"/>
            <c:bubble3D val="0"/>
            <c:extLst>
              <c:ext xmlns:c16="http://schemas.microsoft.com/office/drawing/2014/chart" uri="{C3380CC4-5D6E-409C-BE32-E72D297353CC}">
                <c16:uniqueId val="{00000001-48D3-4774-A509-CE03C3851164}"/>
              </c:ext>
            </c:extLst>
          </c:dPt>
          <c:dPt>
            <c:idx val="1"/>
            <c:invertIfNegative val="0"/>
            <c:bubble3D val="0"/>
            <c:spPr>
              <a:solidFill>
                <a:srgbClr val="4A4A4A"/>
              </a:solidFill>
              <a:effectLst/>
            </c:spPr>
            <c:extLst>
              <c:ext xmlns:c16="http://schemas.microsoft.com/office/drawing/2014/chart" uri="{C3380CC4-5D6E-409C-BE32-E72D297353CC}">
                <c16:uniqueId val="{00000003-48D3-4774-A509-CE03C3851164}"/>
              </c:ext>
            </c:extLst>
          </c:dPt>
          <c:dPt>
            <c:idx val="2"/>
            <c:invertIfNegative val="0"/>
            <c:bubble3D val="0"/>
            <c:spPr>
              <a:solidFill>
                <a:srgbClr val="9B9B9B"/>
              </a:solidFill>
              <a:effectLst/>
            </c:spPr>
            <c:extLst>
              <c:ext xmlns:c16="http://schemas.microsoft.com/office/drawing/2014/chart" uri="{C3380CC4-5D6E-409C-BE32-E72D297353CC}">
                <c16:uniqueId val="{00000005-48D3-4774-A509-CE03C3851164}"/>
              </c:ext>
            </c:extLst>
          </c:dPt>
          <c:dPt>
            <c:idx val="3"/>
            <c:invertIfNegative val="0"/>
            <c:bubble3D val="0"/>
            <c:spPr>
              <a:solidFill>
                <a:srgbClr val="CC0000"/>
              </a:solidFill>
              <a:effectLst/>
            </c:spPr>
            <c:extLst>
              <c:ext xmlns:c16="http://schemas.microsoft.com/office/drawing/2014/chart" uri="{C3380CC4-5D6E-409C-BE32-E72D297353CC}">
                <c16:uniqueId val="{00000007-48D3-4774-A509-CE03C3851164}"/>
              </c:ext>
            </c:extLst>
          </c:dPt>
          <c:dLbls>
            <c:numFmt formatCode="#,##0" sourceLinked="0"/>
            <c:spPr>
              <a:noFill/>
              <a:ln>
                <a:noFill/>
              </a:ln>
              <a:effectLst/>
            </c:spPr>
            <c:txPr>
              <a:bodyPr/>
              <a:lstStyle/>
              <a:p>
                <a:pPr>
                  <a:defRPr sz="1300" b="1"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 Do</c:v>
                </c:pt>
                <c:pt idx="1">
                  <c:v>In Progress</c:v>
                </c:pt>
                <c:pt idx="2">
                  <c:v>In Review</c:v>
                </c:pt>
                <c:pt idx="3">
                  <c:v>On Hold / Blocked</c:v>
                </c:pt>
              </c:strCache>
            </c:strRef>
          </c:cat>
          <c:val>
            <c:numRef>
              <c:f>Sheet1!$B$2:$B$5</c:f>
              <c:numCache>
                <c:formatCode>General</c:formatCode>
                <c:ptCount val="4"/>
                <c:pt idx="0">
                  <c:v>7</c:v>
                </c:pt>
                <c:pt idx="1">
                  <c:v>9</c:v>
                </c:pt>
                <c:pt idx="2">
                  <c:v>7</c:v>
                </c:pt>
                <c:pt idx="3">
                  <c:v>5</c:v>
                </c:pt>
              </c:numCache>
            </c:numRef>
          </c:val>
          <c:extLst>
            <c:ext xmlns:c16="http://schemas.microsoft.com/office/drawing/2014/chart" uri="{C3380CC4-5D6E-409C-BE32-E72D297353CC}">
              <c16:uniqueId val="{00000008-48D3-4774-A509-CE03C3851164}"/>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E3E3E3"/>
            </a:solidFill>
            <a:prstDash val="solid"/>
            <a:round/>
          </a:ln>
        </c:spPr>
        <c:txPr>
          <a:bodyPr/>
          <a:lstStyle/>
          <a:p>
            <a:pPr>
              <a:defRPr sz="115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12"/>
        </c:scaling>
        <c:delete val="0"/>
        <c:axPos val="b"/>
        <c:majorGridlines>
          <c:spPr>
            <a:ln w="12700" cap="flat">
              <a:solidFill>
                <a:srgbClr val="F0F0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50" b="0" i="0" u="none" strike="noStrike">
                <a:solidFill>
                  <a:srgbClr val="9B9B9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9076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Jira Sprint Report and Burndown Chart, OC3 board, sprint 49272. Epics excluded from all counts.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001000" y="1417320"/>
            <a:ext cx="3611880" cy="3611880"/>
          </a:xfrm>
          <a:prstGeom prst="rect">
            <a:avLst/>
          </a:prstGeom>
          <a:solidFill>
            <a:srgbClr val="F7F7F7"/>
          </a:solidFill>
          <a:ln/>
        </p:spPr>
        <p:txBody>
          <a:bodyPr/>
          <a:lstStyle/>
          <a:p>
            <a:endParaRPr lang="en-GB"/>
          </a:p>
        </p:txBody>
      </p:sp>
      <p:sp>
        <p:nvSpPr>
          <p:cNvPr id="3" name="Shape 1"/>
          <p:cNvSpPr/>
          <p:nvPr/>
        </p:nvSpPr>
        <p:spPr>
          <a:xfrm>
            <a:off x="7635240" y="4663440"/>
            <a:ext cx="731520" cy="731520"/>
          </a:xfrm>
          <a:prstGeom prst="rect">
            <a:avLst/>
          </a:prstGeom>
          <a:solidFill>
            <a:srgbClr val="CC0000"/>
          </a:solidFill>
          <a:ln/>
        </p:spPr>
        <p:txBody>
          <a:bodyPr/>
          <a:lstStyle/>
          <a:p>
            <a:endParaRPr lang="en-GB"/>
          </a:p>
        </p:txBody>
      </p:sp>
      <p:sp>
        <p:nvSpPr>
          <p:cNvPr id="4" name="Shape 2"/>
          <p:cNvSpPr/>
          <p:nvPr/>
        </p:nvSpPr>
        <p:spPr>
          <a:xfrm>
            <a:off x="868680" y="1920240"/>
            <a:ext cx="146304" cy="146304"/>
          </a:xfrm>
          <a:prstGeom prst="rect">
            <a:avLst/>
          </a:prstGeom>
          <a:solidFill>
            <a:srgbClr val="CC0000"/>
          </a:solidFill>
          <a:ln/>
        </p:spPr>
        <p:txBody>
          <a:bodyPr/>
          <a:lstStyle/>
          <a:p>
            <a:endParaRPr lang="en-GB"/>
          </a:p>
        </p:txBody>
      </p:sp>
      <p:sp>
        <p:nvSpPr>
          <p:cNvPr id="5" name="Text 3"/>
          <p:cNvSpPr txBox="1"/>
          <p:nvPr/>
        </p:nvSpPr>
        <p:spPr>
          <a:xfrm>
            <a:off x="868680" y="2212848"/>
            <a:ext cx="6858000" cy="347472"/>
          </a:xfrm>
          <a:prstGeom prst="rect">
            <a:avLst/>
          </a:prstGeom>
          <a:noFill/>
          <a:ln/>
        </p:spPr>
        <p:txBody>
          <a:bodyPr wrap="square" lIns="0" tIns="0" rIns="0" bIns="0" rtlCol="0" anchor="ctr"/>
          <a:lstStyle/>
          <a:p>
            <a:pPr marL="0" indent="0">
              <a:buNone/>
            </a:pPr>
            <a:r>
              <a:rPr lang="en-US" sz="1400" b="1" kern="0" spc="400" dirty="0">
                <a:solidFill>
                  <a:srgbClr val="CC0000"/>
                </a:solidFill>
                <a:latin typeface="Arial" pitchFamily="34" charset="0"/>
                <a:ea typeface="Arial" pitchFamily="34" charset="-122"/>
                <a:cs typeface="Arial" pitchFamily="34" charset="-120"/>
              </a:rPr>
              <a:t>OC 3.0</a:t>
            </a:r>
            <a:endParaRPr lang="en-US" sz="1400" dirty="0"/>
          </a:p>
        </p:txBody>
      </p:sp>
      <p:sp>
        <p:nvSpPr>
          <p:cNvPr id="6" name="Text 4"/>
          <p:cNvSpPr txBox="1"/>
          <p:nvPr/>
        </p:nvSpPr>
        <p:spPr>
          <a:xfrm>
            <a:off x="822960" y="2670048"/>
            <a:ext cx="6949440" cy="868680"/>
          </a:xfrm>
          <a:prstGeom prst="rect">
            <a:avLst/>
          </a:prstGeom>
          <a:noFill/>
          <a:ln/>
        </p:spPr>
        <p:txBody>
          <a:bodyPr wrap="square" lIns="0" tIns="0" rIns="0" bIns="0" rtlCol="0" anchor="ctr"/>
          <a:lstStyle/>
          <a:p>
            <a:pPr marL="0" indent="0">
              <a:buNone/>
            </a:pPr>
            <a:r>
              <a:rPr lang="en-US" sz="4400" b="1" dirty="0">
                <a:solidFill>
                  <a:srgbClr val="1A1A1A"/>
                </a:solidFill>
                <a:latin typeface="Arial" pitchFamily="34" charset="0"/>
                <a:ea typeface="Arial" pitchFamily="34" charset="-122"/>
                <a:cs typeface="Arial" pitchFamily="34" charset="-120"/>
              </a:rPr>
              <a:t>Sprint 1 Retrospective</a:t>
            </a:r>
            <a:endParaRPr lang="en-US" sz="4400" dirty="0"/>
          </a:p>
        </p:txBody>
      </p:sp>
      <p:sp>
        <p:nvSpPr>
          <p:cNvPr id="7" name="Text 5"/>
          <p:cNvSpPr txBox="1"/>
          <p:nvPr/>
        </p:nvSpPr>
        <p:spPr>
          <a:xfrm>
            <a:off x="868680" y="3639312"/>
            <a:ext cx="6858000" cy="365760"/>
          </a:xfrm>
          <a:prstGeom prst="rect">
            <a:avLst/>
          </a:prstGeom>
          <a:noFill/>
          <a:ln/>
        </p:spPr>
        <p:txBody>
          <a:bodyPr wrap="square" lIns="0" tIns="0" rIns="0" bIns="0" rtlCol="0" anchor="ctr"/>
          <a:lstStyle/>
          <a:p>
            <a:pPr marL="0" indent="0">
              <a:buNone/>
            </a:pPr>
            <a:r>
              <a:rPr lang="en-US" sz="1450" dirty="0">
                <a:solidFill>
                  <a:srgbClr val="4A4A4A"/>
                </a:solidFill>
                <a:latin typeface="Arial" pitchFamily="34" charset="0"/>
                <a:ea typeface="Arial" pitchFamily="34" charset="-122"/>
                <a:cs typeface="Arial" pitchFamily="34" charset="-120"/>
              </a:rPr>
              <a:t>Foundations — first 3 screens, database preparation, APIs, AI scaffolding</a:t>
            </a:r>
            <a:endParaRPr lang="en-US" sz="1450" dirty="0"/>
          </a:p>
        </p:txBody>
      </p:sp>
      <p:sp>
        <p:nvSpPr>
          <p:cNvPr id="8" name="Text 6"/>
          <p:cNvSpPr txBox="1"/>
          <p:nvPr/>
        </p:nvSpPr>
        <p:spPr>
          <a:xfrm>
            <a:off x="868680" y="4169664"/>
            <a:ext cx="6858000" cy="365760"/>
          </a:xfrm>
          <a:prstGeom prst="rect">
            <a:avLst/>
          </a:prstGeom>
          <a:noFill/>
          <a:ln/>
        </p:spPr>
        <p:txBody>
          <a:bodyPr wrap="square" lIns="0" tIns="0" rIns="0" bIns="0" rtlCol="0" anchor="ctr"/>
          <a:lstStyle/>
          <a:p>
            <a:pPr marL="0" indent="0">
              <a:buNone/>
            </a:pPr>
            <a:r>
              <a:rPr lang="en-US" sz="1150" dirty="0">
                <a:solidFill>
                  <a:srgbClr val="9B9B9B"/>
                </a:solidFill>
                <a:latin typeface="Arial" pitchFamily="34" charset="0"/>
                <a:ea typeface="Arial" pitchFamily="34" charset="-122"/>
                <a:cs typeface="Arial" pitchFamily="34" charset="-120"/>
              </a:rPr>
              <a:t>1 – 14 September 2026  ·  OC3 board  ·  50 delivery items in sprint at close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Sprint 1 at a glance</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Delivery items only — the 11 epics carried on the board are excluded and tracked at programme level</a:t>
            </a:r>
            <a:endParaRPr lang="en-US" sz="1150" dirty="0"/>
          </a:p>
        </p:txBody>
      </p:sp>
      <p:sp>
        <p:nvSpPr>
          <p:cNvPr id="5" name="Shape 3"/>
          <p:cNvSpPr/>
          <p:nvPr/>
        </p:nvSpPr>
        <p:spPr>
          <a:xfrm>
            <a:off x="594360" y="1664208"/>
            <a:ext cx="2560320" cy="1783080"/>
          </a:xfrm>
          <a:prstGeom prst="rect">
            <a:avLst/>
          </a:prstGeom>
          <a:solidFill>
            <a:srgbClr val="F7F7F7"/>
          </a:solidFill>
          <a:ln/>
        </p:spPr>
        <p:txBody>
          <a:bodyPr/>
          <a:lstStyle/>
          <a:p>
            <a:endParaRPr lang="en-GB"/>
          </a:p>
        </p:txBody>
      </p:sp>
      <p:sp>
        <p:nvSpPr>
          <p:cNvPr id="6" name="Text 4"/>
          <p:cNvSpPr txBox="1"/>
          <p:nvPr/>
        </p:nvSpPr>
        <p:spPr>
          <a:xfrm>
            <a:off x="850392" y="1847088"/>
            <a:ext cx="2103120" cy="777240"/>
          </a:xfrm>
          <a:prstGeom prst="rect">
            <a:avLst/>
          </a:prstGeom>
          <a:noFill/>
          <a:ln/>
        </p:spPr>
        <p:txBody>
          <a:bodyPr wrap="square" lIns="0" tIns="0" rIns="0" bIns="0" rtlCol="0" anchor="ctr"/>
          <a:lstStyle/>
          <a:p>
            <a:pPr marL="0" indent="0">
              <a:buNone/>
            </a:pPr>
            <a:r>
              <a:rPr lang="en-US" sz="4400" b="1" dirty="0">
                <a:solidFill>
                  <a:srgbClr val="1A1A1A"/>
                </a:solidFill>
                <a:latin typeface="Arial" pitchFamily="34" charset="0"/>
                <a:ea typeface="Arial" pitchFamily="34" charset="-122"/>
                <a:cs typeface="Arial" pitchFamily="34" charset="-120"/>
              </a:rPr>
              <a:t>22</a:t>
            </a:r>
            <a:endParaRPr lang="en-US" sz="4400" dirty="0"/>
          </a:p>
        </p:txBody>
      </p:sp>
      <p:sp>
        <p:nvSpPr>
          <p:cNvPr id="7" name="Text 5"/>
          <p:cNvSpPr txBox="1"/>
          <p:nvPr/>
        </p:nvSpPr>
        <p:spPr>
          <a:xfrm>
            <a:off x="850392" y="2688336"/>
            <a:ext cx="2103120" cy="640080"/>
          </a:xfrm>
          <a:prstGeom prst="rect">
            <a:avLst/>
          </a:prstGeom>
          <a:noFill/>
          <a:ln/>
        </p:spPr>
        <p:txBody>
          <a:bodyPr wrap="square" lIns="0" tIns="0" rIns="0" bIns="0" rtlCol="0" anchor="ctr"/>
          <a:lstStyle/>
          <a:p>
            <a:pPr marL="0" indent="0">
              <a:lnSpc>
                <a:spcPts val="1500"/>
              </a:lnSpc>
              <a:buNone/>
            </a:pPr>
            <a:r>
              <a:rPr lang="en-US" sz="1150" dirty="0">
                <a:solidFill>
                  <a:srgbClr val="6E6E6E"/>
                </a:solidFill>
                <a:latin typeface="Arial" pitchFamily="34" charset="0"/>
                <a:ea typeface="Arial" pitchFamily="34" charset="-122"/>
                <a:cs typeface="Arial" pitchFamily="34" charset="-120"/>
              </a:rPr>
              <a:t>Committed at</a:t>
            </a:r>
            <a:endParaRPr lang="en-US" sz="1150" dirty="0"/>
          </a:p>
          <a:p>
            <a:pPr marL="0" indent="0">
              <a:lnSpc>
                <a:spcPts val="1500"/>
              </a:lnSpc>
              <a:buNone/>
            </a:pPr>
            <a:r>
              <a:rPr lang="en-US" sz="1150" dirty="0">
                <a:solidFill>
                  <a:srgbClr val="6E6E6E"/>
                </a:solidFill>
                <a:latin typeface="Arial" pitchFamily="34" charset="0"/>
                <a:ea typeface="Arial" pitchFamily="34" charset="-122"/>
                <a:cs typeface="Arial" pitchFamily="34" charset="-120"/>
              </a:rPr>
              <a:t>sprint start</a:t>
            </a:r>
            <a:endParaRPr lang="en-US" sz="1150" dirty="0"/>
          </a:p>
        </p:txBody>
      </p:sp>
      <p:sp>
        <p:nvSpPr>
          <p:cNvPr id="8" name="Shape 6"/>
          <p:cNvSpPr/>
          <p:nvPr/>
        </p:nvSpPr>
        <p:spPr>
          <a:xfrm>
            <a:off x="3392424" y="1664208"/>
            <a:ext cx="2560320" cy="1783080"/>
          </a:xfrm>
          <a:prstGeom prst="rect">
            <a:avLst/>
          </a:prstGeom>
          <a:solidFill>
            <a:srgbClr val="F7F7F7"/>
          </a:solidFill>
          <a:ln/>
        </p:spPr>
        <p:txBody>
          <a:bodyPr/>
          <a:lstStyle/>
          <a:p>
            <a:endParaRPr lang="en-GB"/>
          </a:p>
        </p:txBody>
      </p:sp>
      <p:sp>
        <p:nvSpPr>
          <p:cNvPr id="9" name="Text 7"/>
          <p:cNvSpPr txBox="1"/>
          <p:nvPr/>
        </p:nvSpPr>
        <p:spPr>
          <a:xfrm>
            <a:off x="3648456" y="1847088"/>
            <a:ext cx="2103120" cy="777240"/>
          </a:xfrm>
          <a:prstGeom prst="rect">
            <a:avLst/>
          </a:prstGeom>
          <a:noFill/>
          <a:ln/>
        </p:spPr>
        <p:txBody>
          <a:bodyPr wrap="square" lIns="0" tIns="0" rIns="0" bIns="0" rtlCol="0" anchor="ctr"/>
          <a:lstStyle/>
          <a:p>
            <a:pPr marL="0" indent="0">
              <a:buNone/>
            </a:pPr>
            <a:r>
              <a:rPr lang="en-US" sz="4400" b="1" dirty="0">
                <a:solidFill>
                  <a:srgbClr val="CC0000"/>
                </a:solidFill>
                <a:latin typeface="Arial" pitchFamily="34" charset="0"/>
                <a:ea typeface="Arial" pitchFamily="34" charset="-122"/>
                <a:cs typeface="Arial" pitchFamily="34" charset="-120"/>
              </a:rPr>
              <a:t>28</a:t>
            </a:r>
            <a:endParaRPr lang="en-US" sz="4400" dirty="0"/>
          </a:p>
        </p:txBody>
      </p:sp>
      <p:sp>
        <p:nvSpPr>
          <p:cNvPr id="10" name="Text 8"/>
          <p:cNvSpPr txBox="1"/>
          <p:nvPr/>
        </p:nvSpPr>
        <p:spPr>
          <a:xfrm>
            <a:off x="3648456" y="2688336"/>
            <a:ext cx="2103120" cy="640080"/>
          </a:xfrm>
          <a:prstGeom prst="rect">
            <a:avLst/>
          </a:prstGeom>
          <a:noFill/>
          <a:ln/>
        </p:spPr>
        <p:txBody>
          <a:bodyPr wrap="square" lIns="0" tIns="0" rIns="0" bIns="0" rtlCol="0" anchor="ctr"/>
          <a:lstStyle/>
          <a:p>
            <a:pPr marL="0" indent="0">
              <a:lnSpc>
                <a:spcPts val="1500"/>
              </a:lnSpc>
              <a:buNone/>
            </a:pPr>
            <a:r>
              <a:rPr lang="en-US" sz="1150" dirty="0">
                <a:solidFill>
                  <a:srgbClr val="6E6E6E"/>
                </a:solidFill>
                <a:latin typeface="Arial" pitchFamily="34" charset="0"/>
                <a:ea typeface="Arial" pitchFamily="34" charset="-122"/>
                <a:cs typeface="Arial" pitchFamily="34" charset="-120"/>
              </a:rPr>
              <a:t>Added after</a:t>
            </a:r>
            <a:endParaRPr lang="en-US" sz="1150" dirty="0"/>
          </a:p>
          <a:p>
            <a:pPr marL="0" indent="0">
              <a:lnSpc>
                <a:spcPts val="1500"/>
              </a:lnSpc>
              <a:buNone/>
            </a:pPr>
            <a:r>
              <a:rPr lang="en-US" sz="1150" dirty="0">
                <a:solidFill>
                  <a:srgbClr val="6E6E6E"/>
                </a:solidFill>
                <a:latin typeface="Arial" pitchFamily="34" charset="0"/>
                <a:ea typeface="Arial" pitchFamily="34" charset="-122"/>
                <a:cs typeface="Arial" pitchFamily="34" charset="-120"/>
              </a:rPr>
              <a:t>sprint started</a:t>
            </a:r>
            <a:endParaRPr lang="en-US" sz="1150" dirty="0"/>
          </a:p>
        </p:txBody>
      </p:sp>
      <p:sp>
        <p:nvSpPr>
          <p:cNvPr id="11" name="Shape 9"/>
          <p:cNvSpPr/>
          <p:nvPr/>
        </p:nvSpPr>
        <p:spPr>
          <a:xfrm>
            <a:off x="6190488" y="1664208"/>
            <a:ext cx="2560320" cy="1783080"/>
          </a:xfrm>
          <a:prstGeom prst="rect">
            <a:avLst/>
          </a:prstGeom>
          <a:solidFill>
            <a:srgbClr val="F7F7F7"/>
          </a:solidFill>
          <a:ln/>
        </p:spPr>
        <p:txBody>
          <a:bodyPr/>
          <a:lstStyle/>
          <a:p>
            <a:endParaRPr lang="en-GB"/>
          </a:p>
        </p:txBody>
      </p:sp>
      <p:sp>
        <p:nvSpPr>
          <p:cNvPr id="12" name="Text 10"/>
          <p:cNvSpPr txBox="1"/>
          <p:nvPr/>
        </p:nvSpPr>
        <p:spPr>
          <a:xfrm>
            <a:off x="6446520" y="1847088"/>
            <a:ext cx="2103120" cy="777240"/>
          </a:xfrm>
          <a:prstGeom prst="rect">
            <a:avLst/>
          </a:prstGeom>
          <a:noFill/>
          <a:ln/>
        </p:spPr>
        <p:txBody>
          <a:bodyPr wrap="square" lIns="0" tIns="0" rIns="0" bIns="0" rtlCol="0" anchor="ctr"/>
          <a:lstStyle/>
          <a:p>
            <a:pPr marL="0" indent="0">
              <a:buNone/>
            </a:pPr>
            <a:r>
              <a:rPr lang="en-US" sz="4400" b="1" dirty="0">
                <a:solidFill>
                  <a:srgbClr val="1A1A1A"/>
                </a:solidFill>
                <a:latin typeface="Arial" pitchFamily="34" charset="0"/>
                <a:ea typeface="Arial" pitchFamily="34" charset="-122"/>
                <a:cs typeface="Arial" pitchFamily="34" charset="-120"/>
              </a:rPr>
              <a:t>22</a:t>
            </a:r>
            <a:endParaRPr lang="en-US" sz="4400" dirty="0"/>
          </a:p>
        </p:txBody>
      </p:sp>
      <p:sp>
        <p:nvSpPr>
          <p:cNvPr id="13" name="Text 11"/>
          <p:cNvSpPr txBox="1"/>
          <p:nvPr/>
        </p:nvSpPr>
        <p:spPr>
          <a:xfrm>
            <a:off x="6446520" y="2688336"/>
            <a:ext cx="2103120" cy="640080"/>
          </a:xfrm>
          <a:prstGeom prst="rect">
            <a:avLst/>
          </a:prstGeom>
          <a:noFill/>
          <a:ln/>
        </p:spPr>
        <p:txBody>
          <a:bodyPr wrap="square" lIns="0" tIns="0" rIns="0" bIns="0" rtlCol="0" anchor="ctr"/>
          <a:lstStyle/>
          <a:p>
            <a:pPr marL="0" indent="0">
              <a:lnSpc>
                <a:spcPts val="1500"/>
              </a:lnSpc>
              <a:buNone/>
            </a:pPr>
            <a:r>
              <a:rPr lang="en-US" sz="1150" dirty="0">
                <a:solidFill>
                  <a:srgbClr val="6E6E6E"/>
                </a:solidFill>
                <a:latin typeface="Arial" pitchFamily="34" charset="0"/>
                <a:ea typeface="Arial" pitchFamily="34" charset="-122"/>
                <a:cs typeface="Arial" pitchFamily="34" charset="-120"/>
              </a:rPr>
              <a:t>Completed</a:t>
            </a:r>
            <a:endParaRPr lang="en-US" sz="1150" dirty="0"/>
          </a:p>
          <a:p>
            <a:pPr marL="0" indent="0">
              <a:lnSpc>
                <a:spcPts val="1500"/>
              </a:lnSpc>
              <a:buNone/>
            </a:pPr>
            <a:r>
              <a:rPr lang="en-US" sz="1150" dirty="0">
                <a:solidFill>
                  <a:srgbClr val="6E6E6E"/>
                </a:solidFill>
                <a:latin typeface="Arial" pitchFamily="34" charset="0"/>
                <a:ea typeface="Arial" pitchFamily="34" charset="-122"/>
                <a:cs typeface="Arial" pitchFamily="34" charset="-120"/>
              </a:rPr>
              <a:t>(of 50 items)</a:t>
            </a:r>
            <a:endParaRPr lang="en-US" sz="1150" dirty="0"/>
          </a:p>
        </p:txBody>
      </p:sp>
      <p:sp>
        <p:nvSpPr>
          <p:cNvPr id="14" name="Shape 12"/>
          <p:cNvSpPr/>
          <p:nvPr/>
        </p:nvSpPr>
        <p:spPr>
          <a:xfrm>
            <a:off x="8988552" y="1664208"/>
            <a:ext cx="2560320" cy="1783080"/>
          </a:xfrm>
          <a:prstGeom prst="rect">
            <a:avLst/>
          </a:prstGeom>
          <a:solidFill>
            <a:srgbClr val="F7F7F7"/>
          </a:solidFill>
          <a:ln/>
        </p:spPr>
        <p:txBody>
          <a:bodyPr/>
          <a:lstStyle/>
          <a:p>
            <a:endParaRPr lang="en-GB"/>
          </a:p>
        </p:txBody>
      </p:sp>
      <p:sp>
        <p:nvSpPr>
          <p:cNvPr id="15" name="Text 13"/>
          <p:cNvSpPr txBox="1"/>
          <p:nvPr/>
        </p:nvSpPr>
        <p:spPr>
          <a:xfrm>
            <a:off x="9244584" y="1847088"/>
            <a:ext cx="2103120" cy="777240"/>
          </a:xfrm>
          <a:prstGeom prst="rect">
            <a:avLst/>
          </a:prstGeom>
          <a:noFill/>
          <a:ln/>
        </p:spPr>
        <p:txBody>
          <a:bodyPr wrap="square" lIns="0" tIns="0" rIns="0" bIns="0" rtlCol="0" anchor="ctr"/>
          <a:lstStyle/>
          <a:p>
            <a:pPr marL="0" indent="0">
              <a:buNone/>
            </a:pPr>
            <a:r>
              <a:rPr lang="en-US" sz="4400" b="1" dirty="0">
                <a:solidFill>
                  <a:srgbClr val="1A1A1A"/>
                </a:solidFill>
                <a:latin typeface="Arial" pitchFamily="34" charset="0"/>
                <a:ea typeface="Arial" pitchFamily="34" charset="-122"/>
                <a:cs typeface="Arial" pitchFamily="34" charset="-120"/>
              </a:rPr>
              <a:t>44%</a:t>
            </a:r>
            <a:endParaRPr lang="en-US" sz="4400" dirty="0"/>
          </a:p>
        </p:txBody>
      </p:sp>
      <p:sp>
        <p:nvSpPr>
          <p:cNvPr id="16" name="Text 14"/>
          <p:cNvSpPr txBox="1"/>
          <p:nvPr/>
        </p:nvSpPr>
        <p:spPr>
          <a:xfrm>
            <a:off x="9244584" y="2688336"/>
            <a:ext cx="2103120" cy="640080"/>
          </a:xfrm>
          <a:prstGeom prst="rect">
            <a:avLst/>
          </a:prstGeom>
          <a:noFill/>
          <a:ln/>
        </p:spPr>
        <p:txBody>
          <a:bodyPr wrap="square" lIns="0" tIns="0" rIns="0" bIns="0" rtlCol="0" anchor="ctr"/>
          <a:lstStyle/>
          <a:p>
            <a:pPr marL="0" indent="0">
              <a:lnSpc>
                <a:spcPts val="1500"/>
              </a:lnSpc>
              <a:buNone/>
            </a:pPr>
            <a:r>
              <a:rPr lang="en-US" sz="1150" dirty="0">
                <a:solidFill>
                  <a:srgbClr val="6E6E6E"/>
                </a:solidFill>
                <a:latin typeface="Arial" pitchFamily="34" charset="0"/>
                <a:ea typeface="Arial" pitchFamily="34" charset="-122"/>
                <a:cs typeface="Arial" pitchFamily="34" charset="-120"/>
              </a:rPr>
              <a:t>Completion</a:t>
            </a:r>
            <a:endParaRPr lang="en-US" sz="1150" dirty="0"/>
          </a:p>
          <a:p>
            <a:pPr marL="0" indent="0">
              <a:lnSpc>
                <a:spcPts val="1500"/>
              </a:lnSpc>
              <a:buNone/>
            </a:pPr>
            <a:r>
              <a:rPr lang="en-US" sz="1150" dirty="0">
                <a:solidFill>
                  <a:srgbClr val="6E6E6E"/>
                </a:solidFill>
                <a:latin typeface="Arial" pitchFamily="34" charset="0"/>
                <a:ea typeface="Arial" pitchFamily="34" charset="-122"/>
                <a:cs typeface="Arial" pitchFamily="34" charset="-120"/>
              </a:rPr>
              <a:t>rate</a:t>
            </a:r>
            <a:endParaRPr lang="en-US" sz="1150" dirty="0"/>
          </a:p>
        </p:txBody>
      </p:sp>
      <p:sp>
        <p:nvSpPr>
          <p:cNvPr id="17" name="Text 15"/>
          <p:cNvSpPr txBox="1"/>
          <p:nvPr/>
        </p:nvSpPr>
        <p:spPr>
          <a:xfrm>
            <a:off x="594360" y="3822192"/>
            <a:ext cx="5486400" cy="292608"/>
          </a:xfrm>
          <a:prstGeom prst="rect">
            <a:avLst/>
          </a:prstGeom>
          <a:noFill/>
          <a:ln/>
        </p:spPr>
        <p:txBody>
          <a:bodyPr wrap="square" lIns="0" tIns="0" rIns="0" bIns="0" rtlCol="0" anchor="ctr"/>
          <a:lstStyle/>
          <a:p>
            <a:pPr marL="0" indent="0">
              <a:buNone/>
            </a:pPr>
            <a:r>
              <a:rPr lang="en-US" sz="1250" b="1" dirty="0">
                <a:solidFill>
                  <a:srgbClr val="CC0000"/>
                </a:solidFill>
                <a:latin typeface="Arial" pitchFamily="34" charset="0"/>
                <a:ea typeface="Arial" pitchFamily="34" charset="-122"/>
                <a:cs typeface="Arial" pitchFamily="34" charset="-120"/>
              </a:rPr>
              <a:t>Reading the numbers</a:t>
            </a:r>
            <a:endParaRPr lang="en-US" sz="1250" dirty="0"/>
          </a:p>
        </p:txBody>
      </p:sp>
      <p:sp>
        <p:nvSpPr>
          <p:cNvPr id="18" name="Shape 16"/>
          <p:cNvSpPr/>
          <p:nvPr/>
        </p:nvSpPr>
        <p:spPr>
          <a:xfrm>
            <a:off x="594360" y="4169664"/>
            <a:ext cx="11000232" cy="0"/>
          </a:xfrm>
          <a:prstGeom prst="line">
            <a:avLst/>
          </a:prstGeom>
          <a:noFill/>
          <a:ln w="12700">
            <a:solidFill>
              <a:srgbClr val="E3E3E3"/>
            </a:solidFill>
            <a:prstDash val="solid"/>
          </a:ln>
        </p:spPr>
        <p:txBody>
          <a:bodyPr/>
          <a:lstStyle/>
          <a:p>
            <a:endParaRPr lang="en-GB"/>
          </a:p>
        </p:txBody>
      </p:sp>
      <p:sp>
        <p:nvSpPr>
          <p:cNvPr id="19" name="Text 17"/>
          <p:cNvSpPr txBox="1"/>
          <p:nvPr/>
        </p:nvSpPr>
        <p:spPr>
          <a:xfrm>
            <a:off x="594360" y="4334256"/>
            <a:ext cx="11000232" cy="192024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250" dirty="0">
                <a:solidFill>
                  <a:srgbClr val="1A1A1A"/>
                </a:solidFill>
                <a:latin typeface="Arial" pitchFamily="34" charset="0"/>
                <a:ea typeface="Arial" pitchFamily="34" charset="-122"/>
                <a:cs typeface="Arial" pitchFamily="34" charset="-120"/>
              </a:rPr>
              <a:t>The sprint closed with 28 more items than it opened with — scope grew by roughly 127% during the sprint.</a:t>
            </a:r>
            <a:endParaRPr lang="en-US" sz="1250" dirty="0"/>
          </a:p>
          <a:p>
            <a:pPr marL="342900" indent="-342900">
              <a:lnSpc>
                <a:spcPts val="1800"/>
              </a:lnSpc>
              <a:spcAft>
                <a:spcPts val="800"/>
              </a:spcAft>
              <a:buSzPct val="100000"/>
              <a:buChar char="•"/>
            </a:pPr>
            <a:r>
              <a:rPr lang="en-US" sz="1250" dirty="0">
                <a:solidFill>
                  <a:srgbClr val="1A1A1A"/>
                </a:solidFill>
                <a:latin typeface="Arial" pitchFamily="34" charset="0"/>
                <a:ea typeface="Arial" pitchFamily="34" charset="-122"/>
                <a:cs typeface="Arial" pitchFamily="34" charset="-120"/>
              </a:rPr>
              <a:t>Of the 22 items committed at the start, 9 completed. The remaining 13 carry into Sprint 2.</a:t>
            </a:r>
            <a:endParaRPr lang="en-US" sz="1250" dirty="0"/>
          </a:p>
          <a:p>
            <a:pPr marL="342900" indent="-342900">
              <a:lnSpc>
                <a:spcPts val="1800"/>
              </a:lnSpc>
              <a:spcAft>
                <a:spcPts val="800"/>
              </a:spcAft>
              <a:buSzPct val="100000"/>
              <a:buChar char="•"/>
            </a:pPr>
            <a:r>
              <a:rPr lang="en-US" sz="1250" dirty="0">
                <a:solidFill>
                  <a:srgbClr val="1A1A1A"/>
                </a:solidFill>
                <a:latin typeface="Arial" pitchFamily="34" charset="0"/>
                <a:ea typeface="Arial" pitchFamily="34" charset="-122"/>
                <a:cs typeface="Arial" pitchFamily="34" charset="-120"/>
              </a:rPr>
              <a:t>13 of the 22 completed items were added after the sprint began, so a meaningful share of capacity went to unplanned work.</a:t>
            </a:r>
            <a:endParaRPr lang="en-US" sz="1250" dirty="0"/>
          </a:p>
          <a:p>
            <a:pPr marL="342900" indent="-342900">
              <a:lnSpc>
                <a:spcPts val="1800"/>
              </a:lnSpc>
              <a:spcAft>
                <a:spcPts val="800"/>
              </a:spcAft>
              <a:buSzPct val="100000"/>
              <a:buChar char="•"/>
            </a:pPr>
            <a:r>
              <a:rPr lang="en-US" sz="1250" dirty="0">
                <a:solidFill>
                  <a:srgbClr val="1A1A1A"/>
                </a:solidFill>
                <a:latin typeface="Arial" pitchFamily="34" charset="0"/>
                <a:ea typeface="Arial" pitchFamily="34" charset="-122"/>
                <a:cs typeface="Arial" pitchFamily="34" charset="-120"/>
              </a:rPr>
              <a:t>The team estimated Sprint 1 in hours, but the board is configured for story points and capturing those estimates in Jira requires admin access, so no estimates appear in the report. Issue count is therefore the only available measure here, and item sizes vary considerably.</a:t>
            </a:r>
            <a:endParaRPr lang="en-US" sz="1250" dirty="0"/>
          </a:p>
        </p:txBody>
      </p:sp>
      <p:sp>
        <p:nvSpPr>
          <p:cNvPr id="20" name="Text 18"/>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21" name="Text 19"/>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How sprint scope changed</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Items marked with an asterisk in the Jira sprint report entered the sprint after the start time</a:t>
            </a:r>
            <a:endParaRPr lang="en-US" sz="1150" dirty="0"/>
          </a:p>
        </p:txBody>
      </p:sp>
      <p:graphicFrame>
        <p:nvGraphicFramePr>
          <p:cNvPr id="5" name="Chart 0"/>
          <p:cNvGraphicFramePr/>
          <p:nvPr/>
        </p:nvGraphicFramePr>
        <p:xfrm>
          <a:off x="457200" y="1664208"/>
          <a:ext cx="61264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03720" y="1783080"/>
            <a:ext cx="4690872" cy="1188720"/>
          </a:xfrm>
          <a:prstGeom prst="rect">
            <a:avLst/>
          </a:prstGeom>
          <a:solidFill>
            <a:srgbClr val="F7F7F7"/>
          </a:solidFill>
          <a:ln/>
        </p:spPr>
        <p:txBody>
          <a:bodyPr/>
          <a:lstStyle/>
          <a:p>
            <a:endParaRPr lang="en-GB"/>
          </a:p>
        </p:txBody>
      </p:sp>
      <p:sp>
        <p:nvSpPr>
          <p:cNvPr id="7" name="Shape 4"/>
          <p:cNvSpPr/>
          <p:nvPr/>
        </p:nvSpPr>
        <p:spPr>
          <a:xfrm>
            <a:off x="7132320" y="2020824"/>
            <a:ext cx="109728" cy="109728"/>
          </a:xfrm>
          <a:prstGeom prst="rect">
            <a:avLst/>
          </a:prstGeom>
          <a:solidFill>
            <a:srgbClr val="CC0000"/>
          </a:solidFill>
          <a:ln/>
        </p:spPr>
        <p:txBody>
          <a:bodyPr/>
          <a:lstStyle/>
          <a:p>
            <a:endParaRPr lang="en-GB"/>
          </a:p>
        </p:txBody>
      </p:sp>
      <p:sp>
        <p:nvSpPr>
          <p:cNvPr id="8" name="Text 5"/>
          <p:cNvSpPr txBox="1"/>
          <p:nvPr/>
        </p:nvSpPr>
        <p:spPr>
          <a:xfrm>
            <a:off x="7370064" y="1929384"/>
            <a:ext cx="4023360" cy="2743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Both halves are similar in size</a:t>
            </a:r>
            <a:endParaRPr lang="en-US" sz="1300" dirty="0"/>
          </a:p>
        </p:txBody>
      </p:sp>
      <p:sp>
        <p:nvSpPr>
          <p:cNvPr id="9" name="Text 6"/>
          <p:cNvSpPr txBox="1"/>
          <p:nvPr/>
        </p:nvSpPr>
        <p:spPr>
          <a:xfrm>
            <a:off x="7370064" y="2240280"/>
            <a:ext cx="4023360" cy="658368"/>
          </a:xfrm>
          <a:prstGeom prst="rect">
            <a:avLst/>
          </a:prstGeom>
          <a:noFill/>
          <a:ln/>
        </p:spPr>
        <p:txBody>
          <a:bodyPr wrap="square" lIns="0" tIns="0" rIns="0" bIns="0" rtlCol="0" anchor="ctr"/>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The 28 items added mid-sprint are close in volume to the 22 originally committed, spanning frontend, integration and calculation-engine work.</a:t>
            </a:r>
            <a:endParaRPr lang="en-US" sz="1050" dirty="0"/>
          </a:p>
        </p:txBody>
      </p:sp>
      <p:sp>
        <p:nvSpPr>
          <p:cNvPr id="10" name="Shape 7"/>
          <p:cNvSpPr/>
          <p:nvPr/>
        </p:nvSpPr>
        <p:spPr>
          <a:xfrm>
            <a:off x="6903720" y="3154680"/>
            <a:ext cx="4690872" cy="1188720"/>
          </a:xfrm>
          <a:prstGeom prst="rect">
            <a:avLst/>
          </a:prstGeom>
          <a:solidFill>
            <a:srgbClr val="F7F7F7"/>
          </a:solidFill>
          <a:ln/>
        </p:spPr>
        <p:txBody>
          <a:bodyPr/>
          <a:lstStyle/>
          <a:p>
            <a:endParaRPr lang="en-GB"/>
          </a:p>
        </p:txBody>
      </p:sp>
      <p:sp>
        <p:nvSpPr>
          <p:cNvPr id="11" name="Shape 8"/>
          <p:cNvSpPr/>
          <p:nvPr/>
        </p:nvSpPr>
        <p:spPr>
          <a:xfrm>
            <a:off x="7132320" y="3392424"/>
            <a:ext cx="109728" cy="109728"/>
          </a:xfrm>
          <a:prstGeom prst="rect">
            <a:avLst/>
          </a:prstGeom>
          <a:solidFill>
            <a:srgbClr val="CC0000"/>
          </a:solidFill>
          <a:ln/>
        </p:spPr>
        <p:txBody>
          <a:bodyPr/>
          <a:lstStyle/>
          <a:p>
            <a:endParaRPr lang="en-GB"/>
          </a:p>
        </p:txBody>
      </p:sp>
      <p:sp>
        <p:nvSpPr>
          <p:cNvPr id="12" name="Text 9"/>
          <p:cNvSpPr txBox="1"/>
          <p:nvPr/>
        </p:nvSpPr>
        <p:spPr>
          <a:xfrm>
            <a:off x="7370064" y="3300984"/>
            <a:ext cx="4023360" cy="2743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Added work did progress</a:t>
            </a:r>
            <a:endParaRPr lang="en-US" sz="1300" dirty="0"/>
          </a:p>
        </p:txBody>
      </p:sp>
      <p:sp>
        <p:nvSpPr>
          <p:cNvPr id="13" name="Text 10"/>
          <p:cNvSpPr txBox="1"/>
          <p:nvPr/>
        </p:nvSpPr>
        <p:spPr>
          <a:xfrm>
            <a:off x="7370064" y="3611880"/>
            <a:ext cx="4023360" cy="658368"/>
          </a:xfrm>
          <a:prstGeom prst="rect">
            <a:avLst/>
          </a:prstGeom>
          <a:noFill/>
          <a:ln/>
        </p:spPr>
        <p:txBody>
          <a:bodyPr wrap="square" lIns="0" tIns="0" rIns="0" bIns="0" rtlCol="0" anchor="ctr"/>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13 of the 28 additions completed within the sprint, a similar rate to the committed items.</a:t>
            </a:r>
            <a:endParaRPr lang="en-US" sz="1050" dirty="0"/>
          </a:p>
        </p:txBody>
      </p:sp>
      <p:sp>
        <p:nvSpPr>
          <p:cNvPr id="14" name="Shape 11"/>
          <p:cNvSpPr/>
          <p:nvPr/>
        </p:nvSpPr>
        <p:spPr>
          <a:xfrm>
            <a:off x="6903720" y="4526280"/>
            <a:ext cx="4690872" cy="1188720"/>
          </a:xfrm>
          <a:prstGeom prst="rect">
            <a:avLst/>
          </a:prstGeom>
          <a:solidFill>
            <a:srgbClr val="F7F7F7"/>
          </a:solidFill>
          <a:ln/>
        </p:spPr>
        <p:txBody>
          <a:bodyPr/>
          <a:lstStyle/>
          <a:p>
            <a:endParaRPr lang="en-GB"/>
          </a:p>
        </p:txBody>
      </p:sp>
      <p:sp>
        <p:nvSpPr>
          <p:cNvPr id="15" name="Shape 12"/>
          <p:cNvSpPr/>
          <p:nvPr/>
        </p:nvSpPr>
        <p:spPr>
          <a:xfrm>
            <a:off x="7132320" y="4764024"/>
            <a:ext cx="109728" cy="109728"/>
          </a:xfrm>
          <a:prstGeom prst="rect">
            <a:avLst/>
          </a:prstGeom>
          <a:solidFill>
            <a:srgbClr val="CC0000"/>
          </a:solidFill>
          <a:ln/>
        </p:spPr>
        <p:txBody>
          <a:bodyPr/>
          <a:lstStyle/>
          <a:p>
            <a:endParaRPr lang="en-GB"/>
          </a:p>
        </p:txBody>
      </p:sp>
      <p:sp>
        <p:nvSpPr>
          <p:cNvPr id="16" name="Text 13"/>
          <p:cNvSpPr txBox="1"/>
          <p:nvPr/>
        </p:nvSpPr>
        <p:spPr>
          <a:xfrm>
            <a:off x="7370064" y="4672584"/>
            <a:ext cx="4023360" cy="2743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Committed items carried over</a:t>
            </a:r>
            <a:endParaRPr lang="en-US" sz="1300" dirty="0"/>
          </a:p>
        </p:txBody>
      </p:sp>
      <p:sp>
        <p:nvSpPr>
          <p:cNvPr id="17" name="Text 14"/>
          <p:cNvSpPr txBox="1"/>
          <p:nvPr/>
        </p:nvSpPr>
        <p:spPr>
          <a:xfrm>
            <a:off x="7370064" y="4983480"/>
            <a:ext cx="4023360" cy="658368"/>
          </a:xfrm>
          <a:prstGeom prst="rect">
            <a:avLst/>
          </a:prstGeom>
          <a:noFill/>
          <a:ln/>
        </p:spPr>
        <p:txBody>
          <a:bodyPr wrap="square" lIns="0" tIns="0" rIns="0" bIns="0" rtlCol="0" anchor="ctr"/>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13 of the original 22 remain open, including the data foundation items OC3-18, 42, 43 and 45.</a:t>
            </a:r>
            <a:endParaRPr lang="en-US" sz="1050" dirty="0"/>
          </a:p>
        </p:txBody>
      </p:sp>
      <p:sp>
        <p:nvSpPr>
          <p:cNvPr id="18" name="Text 15"/>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19" name="Text 16"/>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Burndown profile</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Reconstructed from the Jira burndown chart, which counts epics as well — verify exact daily values before circulating externally</a:t>
            </a:r>
            <a:endParaRPr lang="en-US" sz="1150" dirty="0"/>
          </a:p>
        </p:txBody>
      </p:sp>
      <p:graphicFrame>
        <p:nvGraphicFramePr>
          <p:cNvPr id="5" name="Chart 0"/>
          <p:cNvGraphicFramePr/>
          <p:nvPr/>
        </p:nvGraphicFramePr>
        <p:xfrm>
          <a:off x="457200" y="1691640"/>
          <a:ext cx="70408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818120" y="1828800"/>
            <a:ext cx="1188720" cy="256032"/>
          </a:xfrm>
          <a:prstGeom prst="rect">
            <a:avLst/>
          </a:prstGeom>
          <a:noFill/>
          <a:ln/>
        </p:spPr>
        <p:txBody>
          <a:bodyPr wrap="square" lIns="0" tIns="0" rIns="0" bIns="0" rtlCol="0" anchor="ctr"/>
          <a:lstStyle/>
          <a:p>
            <a:pPr marL="0" indent="0">
              <a:buNone/>
            </a:pPr>
            <a:r>
              <a:rPr lang="en-US" sz="1000" b="1" kern="0" spc="100" dirty="0">
                <a:solidFill>
                  <a:srgbClr val="CC0000"/>
                </a:solidFill>
                <a:latin typeface="Arial" pitchFamily="34" charset="0"/>
                <a:ea typeface="Arial" pitchFamily="34" charset="-122"/>
                <a:cs typeface="Arial" pitchFamily="34" charset="-120"/>
              </a:rPr>
              <a:t>Sep 1</a:t>
            </a:r>
            <a:endParaRPr lang="en-US" sz="1000" dirty="0"/>
          </a:p>
        </p:txBody>
      </p:sp>
      <p:sp>
        <p:nvSpPr>
          <p:cNvPr id="7" name="Text 4"/>
          <p:cNvSpPr txBox="1"/>
          <p:nvPr/>
        </p:nvSpPr>
        <p:spPr>
          <a:xfrm>
            <a:off x="7818120" y="2103120"/>
            <a:ext cx="3840480" cy="2743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Scope set above the guideline</a:t>
            </a:r>
            <a:endParaRPr lang="en-US" sz="1300" dirty="0"/>
          </a:p>
        </p:txBody>
      </p:sp>
      <p:sp>
        <p:nvSpPr>
          <p:cNvPr id="8" name="Text 5"/>
          <p:cNvSpPr txBox="1"/>
          <p:nvPr/>
        </p:nvSpPr>
        <p:spPr>
          <a:xfrm>
            <a:off x="7818120" y="2414016"/>
            <a:ext cx="3840480" cy="658368"/>
          </a:xfrm>
          <a:prstGeom prst="rect">
            <a:avLst/>
          </a:prstGeom>
          <a:noFill/>
          <a:ln/>
        </p:spPr>
        <p:txBody>
          <a:bodyPr wrap="square" lIns="0" tIns="0" rIns="0" bIns="0" rtlCol="0" anchor="ctr"/>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The remaining line opens near 49 against a guideline starting at 25, so the sprint began carrying more than the guideline assumed.</a:t>
            </a:r>
            <a:endParaRPr lang="en-US" sz="1050" dirty="0"/>
          </a:p>
        </p:txBody>
      </p:sp>
      <p:sp>
        <p:nvSpPr>
          <p:cNvPr id="9" name="Text 6"/>
          <p:cNvSpPr txBox="1"/>
          <p:nvPr/>
        </p:nvSpPr>
        <p:spPr>
          <a:xfrm>
            <a:off x="7818120" y="3145536"/>
            <a:ext cx="1188720" cy="256032"/>
          </a:xfrm>
          <a:prstGeom prst="rect">
            <a:avLst/>
          </a:prstGeom>
          <a:noFill/>
          <a:ln/>
        </p:spPr>
        <p:txBody>
          <a:bodyPr wrap="square" lIns="0" tIns="0" rIns="0" bIns="0" rtlCol="0" anchor="ctr"/>
          <a:lstStyle/>
          <a:p>
            <a:pPr marL="0" indent="0">
              <a:buNone/>
            </a:pPr>
            <a:r>
              <a:rPr lang="en-US" sz="1000" b="1" kern="0" spc="100" dirty="0">
                <a:solidFill>
                  <a:srgbClr val="CC0000"/>
                </a:solidFill>
                <a:latin typeface="Arial" pitchFamily="34" charset="0"/>
                <a:ea typeface="Arial" pitchFamily="34" charset="-122"/>
                <a:cs typeface="Arial" pitchFamily="34" charset="-120"/>
              </a:rPr>
              <a:t>Sep 1–6</a:t>
            </a:r>
            <a:endParaRPr lang="en-US" sz="1000" dirty="0"/>
          </a:p>
        </p:txBody>
      </p:sp>
      <p:sp>
        <p:nvSpPr>
          <p:cNvPr id="10" name="Text 7"/>
          <p:cNvSpPr txBox="1"/>
          <p:nvPr/>
        </p:nvSpPr>
        <p:spPr>
          <a:xfrm>
            <a:off x="7818120" y="3419856"/>
            <a:ext cx="3840480" cy="2743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Limited movement in week one</a:t>
            </a:r>
            <a:endParaRPr lang="en-US" sz="1300" dirty="0"/>
          </a:p>
        </p:txBody>
      </p:sp>
      <p:sp>
        <p:nvSpPr>
          <p:cNvPr id="11" name="Text 8"/>
          <p:cNvSpPr txBox="1"/>
          <p:nvPr/>
        </p:nvSpPr>
        <p:spPr>
          <a:xfrm>
            <a:off x="7818120" y="3730752"/>
            <a:ext cx="3840480" cy="658368"/>
          </a:xfrm>
          <a:prstGeom prst="rect">
            <a:avLst/>
          </a:prstGeom>
          <a:noFill/>
          <a:ln/>
        </p:spPr>
        <p:txBody>
          <a:bodyPr wrap="square" lIns="0" tIns="0" rIns="0" bIns="0" rtlCol="0" anchor="ctr"/>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Few items reached Done in the first week. This aligns with the environment, access and feasibility work set out under main factors.</a:t>
            </a:r>
            <a:endParaRPr lang="en-US" sz="1050" dirty="0"/>
          </a:p>
        </p:txBody>
      </p:sp>
      <p:sp>
        <p:nvSpPr>
          <p:cNvPr id="12" name="Text 9"/>
          <p:cNvSpPr txBox="1"/>
          <p:nvPr/>
        </p:nvSpPr>
        <p:spPr>
          <a:xfrm>
            <a:off x="7818120" y="4462272"/>
            <a:ext cx="1188720" cy="256032"/>
          </a:xfrm>
          <a:prstGeom prst="rect">
            <a:avLst/>
          </a:prstGeom>
          <a:noFill/>
          <a:ln/>
        </p:spPr>
        <p:txBody>
          <a:bodyPr wrap="square" lIns="0" tIns="0" rIns="0" bIns="0" rtlCol="0" anchor="ctr"/>
          <a:lstStyle/>
          <a:p>
            <a:pPr marL="0" indent="0">
              <a:buNone/>
            </a:pPr>
            <a:r>
              <a:rPr lang="en-US" sz="1000" b="1" kern="0" spc="100" dirty="0">
                <a:solidFill>
                  <a:srgbClr val="CC0000"/>
                </a:solidFill>
                <a:latin typeface="Arial" pitchFamily="34" charset="0"/>
                <a:ea typeface="Arial" pitchFamily="34" charset="-122"/>
                <a:cs typeface="Arial" pitchFamily="34" charset="-120"/>
              </a:rPr>
              <a:t>Sep 7–12</a:t>
            </a:r>
            <a:endParaRPr lang="en-US" sz="1000" dirty="0"/>
          </a:p>
        </p:txBody>
      </p:sp>
      <p:sp>
        <p:nvSpPr>
          <p:cNvPr id="13" name="Text 10"/>
          <p:cNvSpPr txBox="1"/>
          <p:nvPr/>
        </p:nvSpPr>
        <p:spPr>
          <a:xfrm>
            <a:off x="7818120" y="4736592"/>
            <a:ext cx="3840480" cy="2743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Most closure in the second half</a:t>
            </a:r>
            <a:endParaRPr lang="en-US" sz="1300" dirty="0"/>
          </a:p>
        </p:txBody>
      </p:sp>
      <p:sp>
        <p:nvSpPr>
          <p:cNvPr id="14" name="Text 11"/>
          <p:cNvSpPr txBox="1"/>
          <p:nvPr/>
        </p:nvSpPr>
        <p:spPr>
          <a:xfrm>
            <a:off x="7818120" y="5047488"/>
            <a:ext cx="3840480" cy="658368"/>
          </a:xfrm>
          <a:prstGeom prst="rect">
            <a:avLst/>
          </a:prstGeom>
          <a:noFill/>
          <a:ln/>
        </p:spPr>
        <p:txBody>
          <a:bodyPr wrap="square" lIns="0" tIns="0" rIns="0" bIns="0" rtlCol="0" anchor="ctr"/>
          <a:lstStyle/>
          <a:p>
            <a:pPr marL="0" indent="0">
              <a:lnSpc>
                <a:spcPts val="1400"/>
              </a:lnSpc>
              <a:buNone/>
            </a:pPr>
            <a:r>
              <a:rPr lang="en-US" sz="1050" dirty="0">
                <a:solidFill>
                  <a:srgbClr val="6E6E6E"/>
                </a:solidFill>
                <a:latin typeface="Arial" pitchFamily="34" charset="0"/>
                <a:ea typeface="Arial" pitchFamily="34" charset="-122"/>
                <a:cs typeface="Arial" pitchFamily="34" charset="-120"/>
              </a:rPr>
              <a:t>The bulk of completions land after Sep 7 and level off near 37 remaining as the sprint ends.</a:t>
            </a:r>
            <a:endParaRPr lang="en-US" sz="1050" dirty="0"/>
          </a:p>
        </p:txBody>
      </p:sp>
      <p:sp>
        <p:nvSpPr>
          <p:cNvPr id="15" name="Text 12"/>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16" name="Text 13"/>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Status of the 28 carryover items</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Most carryover is already under way — 21 of the 28 are in progress, in review, or on hold rather than unstarted</a:t>
            </a:r>
            <a:endParaRPr lang="en-US" sz="1150" dirty="0"/>
          </a:p>
        </p:txBody>
      </p:sp>
      <p:graphicFrame>
        <p:nvGraphicFramePr>
          <p:cNvPr id="5" name="Chart 0"/>
          <p:cNvGraphicFramePr/>
          <p:nvPr/>
        </p:nvGraphicFramePr>
        <p:xfrm>
          <a:off x="457200" y="1737360"/>
          <a:ext cx="64922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315200" y="1828800"/>
            <a:ext cx="4297680" cy="292608"/>
          </a:xfrm>
          <a:prstGeom prst="rect">
            <a:avLst/>
          </a:prstGeom>
          <a:noFill/>
          <a:ln/>
        </p:spPr>
        <p:txBody>
          <a:bodyPr wrap="square" lIns="0" tIns="0" rIns="0" bIns="0" rtlCol="0" anchor="ctr"/>
          <a:lstStyle/>
          <a:p>
            <a:pPr marL="0" indent="0">
              <a:buNone/>
            </a:pPr>
            <a:r>
              <a:rPr lang="en-US" sz="1250" b="1" dirty="0">
                <a:solidFill>
                  <a:srgbClr val="CC0000"/>
                </a:solidFill>
                <a:latin typeface="Arial" pitchFamily="34" charset="0"/>
                <a:ea typeface="Arial" pitchFamily="34" charset="-122"/>
                <a:cs typeface="Arial" pitchFamily="34" charset="-120"/>
              </a:rPr>
              <a:t>Reading the carryover</a:t>
            </a:r>
            <a:endParaRPr lang="en-US" sz="1250" dirty="0"/>
          </a:p>
        </p:txBody>
      </p:sp>
      <p:sp>
        <p:nvSpPr>
          <p:cNvPr id="7" name="Shape 4"/>
          <p:cNvSpPr/>
          <p:nvPr/>
        </p:nvSpPr>
        <p:spPr>
          <a:xfrm>
            <a:off x="7315200" y="2176272"/>
            <a:ext cx="4279392" cy="0"/>
          </a:xfrm>
          <a:prstGeom prst="line">
            <a:avLst/>
          </a:prstGeom>
          <a:noFill/>
          <a:ln w="12700">
            <a:solidFill>
              <a:srgbClr val="E3E3E3"/>
            </a:solidFill>
            <a:prstDash val="solid"/>
          </a:ln>
        </p:spPr>
        <p:txBody>
          <a:bodyPr/>
          <a:lstStyle/>
          <a:p>
            <a:endParaRPr lang="en-GB"/>
          </a:p>
        </p:txBody>
      </p:sp>
      <p:sp>
        <p:nvSpPr>
          <p:cNvPr id="8" name="Text 5"/>
          <p:cNvSpPr txBox="1"/>
          <p:nvPr/>
        </p:nvSpPr>
        <p:spPr>
          <a:xfrm>
            <a:off x="7315200" y="2359152"/>
            <a:ext cx="4297680" cy="310896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150" dirty="0">
                <a:solidFill>
                  <a:srgbClr val="1A1A1A"/>
                </a:solidFill>
                <a:latin typeface="Arial" pitchFamily="34" charset="0"/>
                <a:ea typeface="Arial" pitchFamily="34" charset="-122"/>
                <a:cs typeface="Arial" pitchFamily="34" charset="-120"/>
              </a:rPr>
              <a:t>9 items in progress represent active work with context already built, and should be first into Sprint 2.</a:t>
            </a:r>
            <a:endParaRPr lang="en-US" sz="1150" dirty="0"/>
          </a:p>
          <a:p>
            <a:pPr marL="342900" indent="-342900">
              <a:lnSpc>
                <a:spcPts val="1600"/>
              </a:lnSpc>
              <a:spcAft>
                <a:spcPts val="1000"/>
              </a:spcAft>
              <a:buSzPct val="100000"/>
              <a:buChar char="•"/>
            </a:pPr>
            <a:r>
              <a:rPr lang="en-US" sz="1150" dirty="0">
                <a:solidFill>
                  <a:srgbClr val="1A1A1A"/>
                </a:solidFill>
                <a:latin typeface="Arial" pitchFamily="34" charset="0"/>
                <a:ea typeface="Arial" pitchFamily="34" charset="-122"/>
                <a:cs typeface="Arial" pitchFamily="34" charset="-120"/>
              </a:rPr>
              <a:t>7 items in review (OC3-15, 21, 27, 37, 39, 42, 88) are waiting on review capacity rather than build effort.</a:t>
            </a:r>
            <a:endParaRPr lang="en-US" sz="1150" dirty="0"/>
          </a:p>
          <a:p>
            <a:pPr marL="342900" indent="-342900">
              <a:lnSpc>
                <a:spcPts val="1600"/>
              </a:lnSpc>
              <a:spcAft>
                <a:spcPts val="1000"/>
              </a:spcAft>
              <a:buSzPct val="100000"/>
              <a:buChar char="•"/>
            </a:pPr>
            <a:r>
              <a:rPr lang="en-US" sz="1150" dirty="0">
                <a:solidFill>
                  <a:srgbClr val="1A1A1A"/>
                </a:solidFill>
                <a:latin typeface="Arial" pitchFamily="34" charset="0"/>
                <a:ea typeface="Arial" pitchFamily="34" charset="-122"/>
                <a:cs typeface="Arial" pitchFamily="34" charset="-120"/>
              </a:rPr>
              <a:t>5 items are on hold or blocked, each tied to an external dependency.</a:t>
            </a:r>
            <a:endParaRPr lang="en-US" sz="1150" dirty="0"/>
          </a:p>
          <a:p>
            <a:pPr marL="342900" indent="-342900">
              <a:lnSpc>
                <a:spcPts val="1600"/>
              </a:lnSpc>
              <a:spcAft>
                <a:spcPts val="1000"/>
              </a:spcAft>
              <a:buSzPct val="100000"/>
              <a:buChar char="•"/>
            </a:pPr>
            <a:r>
              <a:rPr lang="en-US" sz="1150" dirty="0">
                <a:solidFill>
                  <a:srgbClr val="1A1A1A"/>
                </a:solidFill>
                <a:latin typeface="Arial" pitchFamily="34" charset="0"/>
                <a:ea typeface="Arial" pitchFamily="34" charset="-122"/>
                <a:cs typeface="Arial" pitchFamily="34" charset="-120"/>
              </a:rPr>
              <a:t>7 items have not started. Most arrived mid-sprint with limited runway remaining.</a:t>
            </a:r>
            <a:endParaRPr lang="en-US" sz="1150" dirty="0"/>
          </a:p>
        </p:txBody>
      </p:sp>
      <p:sp>
        <p:nvSpPr>
          <p:cNvPr id="9" name="Text 6"/>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10" name="Text 7"/>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What Sprint 1 delivered</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22 completed items, grouped by the foundation they established</a:t>
            </a:r>
            <a:endParaRPr lang="en-US" sz="1150" dirty="0"/>
          </a:p>
        </p:txBody>
      </p:sp>
      <p:sp>
        <p:nvSpPr>
          <p:cNvPr id="5" name="Shape 3"/>
          <p:cNvSpPr/>
          <p:nvPr/>
        </p:nvSpPr>
        <p:spPr>
          <a:xfrm>
            <a:off x="594360" y="1691640"/>
            <a:ext cx="5358384" cy="1920240"/>
          </a:xfrm>
          <a:prstGeom prst="rect">
            <a:avLst/>
          </a:prstGeom>
          <a:solidFill>
            <a:srgbClr val="F7F7F7"/>
          </a:solidFill>
          <a:ln/>
        </p:spPr>
        <p:txBody>
          <a:bodyPr/>
          <a:lstStyle/>
          <a:p>
            <a:endParaRPr lang="en-GB"/>
          </a:p>
        </p:txBody>
      </p:sp>
      <p:sp>
        <p:nvSpPr>
          <p:cNvPr id="6" name="Shape 4"/>
          <p:cNvSpPr/>
          <p:nvPr/>
        </p:nvSpPr>
        <p:spPr>
          <a:xfrm>
            <a:off x="886968" y="1984248"/>
            <a:ext cx="118872" cy="118872"/>
          </a:xfrm>
          <a:prstGeom prst="rect">
            <a:avLst/>
          </a:prstGeom>
          <a:solidFill>
            <a:srgbClr val="CC0000"/>
          </a:solidFill>
          <a:ln/>
        </p:spPr>
        <p:txBody>
          <a:bodyPr/>
          <a:lstStyle/>
          <a:p>
            <a:endParaRPr lang="en-GB"/>
          </a:p>
        </p:txBody>
      </p:sp>
      <p:sp>
        <p:nvSpPr>
          <p:cNvPr id="7" name="Text 5"/>
          <p:cNvSpPr txBox="1"/>
          <p:nvPr/>
        </p:nvSpPr>
        <p:spPr>
          <a:xfrm>
            <a:off x="1143000" y="1874520"/>
            <a:ext cx="45720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Frontend foundation</a:t>
            </a:r>
            <a:endParaRPr lang="en-US" sz="1400" dirty="0"/>
          </a:p>
        </p:txBody>
      </p:sp>
      <p:sp>
        <p:nvSpPr>
          <p:cNvPr id="8" name="Text 6"/>
          <p:cNvSpPr txBox="1"/>
          <p:nvPr/>
        </p:nvSpPr>
        <p:spPr>
          <a:xfrm>
            <a:off x="1143000" y="2267712"/>
            <a:ext cx="457200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OC3-46 Application UI skeleton</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OC3-69 App shell, routing and state</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OC3-71 Bain-token library on Radix</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OC3-56 Figma review</a:t>
            </a:r>
            <a:endParaRPr lang="en-US" sz="1100" dirty="0"/>
          </a:p>
        </p:txBody>
      </p:sp>
      <p:sp>
        <p:nvSpPr>
          <p:cNvPr id="9" name="Shape 7"/>
          <p:cNvSpPr/>
          <p:nvPr/>
        </p:nvSpPr>
        <p:spPr>
          <a:xfrm>
            <a:off x="6236208" y="1691640"/>
            <a:ext cx="5358384" cy="1920240"/>
          </a:xfrm>
          <a:prstGeom prst="rect">
            <a:avLst/>
          </a:prstGeom>
          <a:solidFill>
            <a:srgbClr val="F7F7F7"/>
          </a:solidFill>
          <a:ln/>
        </p:spPr>
        <p:txBody>
          <a:bodyPr/>
          <a:lstStyle/>
          <a:p>
            <a:endParaRPr lang="en-GB"/>
          </a:p>
        </p:txBody>
      </p:sp>
      <p:sp>
        <p:nvSpPr>
          <p:cNvPr id="10" name="Shape 8"/>
          <p:cNvSpPr/>
          <p:nvPr/>
        </p:nvSpPr>
        <p:spPr>
          <a:xfrm>
            <a:off x="6528816" y="1984248"/>
            <a:ext cx="118872" cy="118872"/>
          </a:xfrm>
          <a:prstGeom prst="rect">
            <a:avLst/>
          </a:prstGeom>
          <a:solidFill>
            <a:srgbClr val="CC0000"/>
          </a:solidFill>
          <a:ln/>
        </p:spPr>
        <p:txBody>
          <a:bodyPr/>
          <a:lstStyle/>
          <a:p>
            <a:endParaRPr lang="en-GB"/>
          </a:p>
        </p:txBody>
      </p:sp>
      <p:sp>
        <p:nvSpPr>
          <p:cNvPr id="11" name="Text 9"/>
          <p:cNvSpPr txBox="1"/>
          <p:nvPr/>
        </p:nvSpPr>
        <p:spPr>
          <a:xfrm>
            <a:off x="6784848" y="1874520"/>
            <a:ext cx="45720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Platform &amp; identity</a:t>
            </a:r>
            <a:endParaRPr lang="en-US" sz="1400" dirty="0"/>
          </a:p>
        </p:txBody>
      </p:sp>
      <p:sp>
        <p:nvSpPr>
          <p:cNvPr id="12" name="Text 10"/>
          <p:cNvSpPr txBox="1"/>
          <p:nvPr/>
        </p:nvSpPr>
        <p:spPr>
          <a:xfrm>
            <a:off x="6784848" y="2267712"/>
            <a:ext cx="457200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OC3-61 Monorepo and service scaffolding</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OC3-68 Experience BFF + Entra SSO</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OC3-96 Agent skeleton with standards</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OC3-53 Code sharing from existing projects</a:t>
            </a:r>
            <a:endParaRPr lang="en-US" sz="1100" dirty="0"/>
          </a:p>
        </p:txBody>
      </p:sp>
      <p:sp>
        <p:nvSpPr>
          <p:cNvPr id="13" name="Shape 11"/>
          <p:cNvSpPr/>
          <p:nvPr/>
        </p:nvSpPr>
        <p:spPr>
          <a:xfrm>
            <a:off x="594360" y="3840480"/>
            <a:ext cx="5358384" cy="1920240"/>
          </a:xfrm>
          <a:prstGeom prst="rect">
            <a:avLst/>
          </a:prstGeom>
          <a:solidFill>
            <a:srgbClr val="F7F7F7"/>
          </a:solidFill>
          <a:ln/>
        </p:spPr>
        <p:txBody>
          <a:bodyPr/>
          <a:lstStyle/>
          <a:p>
            <a:endParaRPr lang="en-GB"/>
          </a:p>
        </p:txBody>
      </p:sp>
      <p:sp>
        <p:nvSpPr>
          <p:cNvPr id="14" name="Shape 12"/>
          <p:cNvSpPr/>
          <p:nvPr/>
        </p:nvSpPr>
        <p:spPr>
          <a:xfrm>
            <a:off x="886968" y="4133088"/>
            <a:ext cx="118872" cy="118872"/>
          </a:xfrm>
          <a:prstGeom prst="rect">
            <a:avLst/>
          </a:prstGeom>
          <a:solidFill>
            <a:srgbClr val="CC0000"/>
          </a:solidFill>
          <a:ln/>
        </p:spPr>
        <p:txBody>
          <a:bodyPr/>
          <a:lstStyle/>
          <a:p>
            <a:endParaRPr lang="en-GB"/>
          </a:p>
        </p:txBody>
      </p:sp>
      <p:sp>
        <p:nvSpPr>
          <p:cNvPr id="15" name="Text 13"/>
          <p:cNvSpPr txBox="1"/>
          <p:nvPr/>
        </p:nvSpPr>
        <p:spPr>
          <a:xfrm>
            <a:off x="1143000" y="4023360"/>
            <a:ext cx="45720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Data &amp; search</a:t>
            </a:r>
            <a:endParaRPr lang="en-US" sz="1400" dirty="0"/>
          </a:p>
        </p:txBody>
      </p:sp>
      <p:sp>
        <p:nvSpPr>
          <p:cNvPr id="16" name="Text 14"/>
          <p:cNvSpPr txBox="1"/>
          <p:nvPr/>
        </p:nvSpPr>
        <p:spPr>
          <a:xfrm>
            <a:off x="1143000" y="4416552"/>
            <a:ext cx="457200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OC3-44 Initial data ingestion / dump</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OC3-77 Company search and disambiguation</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OC3-55 Search API architecture and contracts</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OC3-103 File archive for Glean + Snowflake</a:t>
            </a:r>
            <a:endParaRPr lang="en-US" sz="1100" dirty="0"/>
          </a:p>
        </p:txBody>
      </p:sp>
      <p:sp>
        <p:nvSpPr>
          <p:cNvPr id="17" name="Shape 15"/>
          <p:cNvSpPr/>
          <p:nvPr/>
        </p:nvSpPr>
        <p:spPr>
          <a:xfrm>
            <a:off x="6236208" y="3840480"/>
            <a:ext cx="5358384" cy="1920240"/>
          </a:xfrm>
          <a:prstGeom prst="rect">
            <a:avLst/>
          </a:prstGeom>
          <a:solidFill>
            <a:srgbClr val="F7F7F7"/>
          </a:solidFill>
          <a:ln/>
        </p:spPr>
        <p:txBody>
          <a:bodyPr/>
          <a:lstStyle/>
          <a:p>
            <a:endParaRPr lang="en-GB"/>
          </a:p>
        </p:txBody>
      </p:sp>
      <p:sp>
        <p:nvSpPr>
          <p:cNvPr id="18" name="Shape 16"/>
          <p:cNvSpPr/>
          <p:nvPr/>
        </p:nvSpPr>
        <p:spPr>
          <a:xfrm>
            <a:off x="6528816" y="4133088"/>
            <a:ext cx="118872" cy="118872"/>
          </a:xfrm>
          <a:prstGeom prst="rect">
            <a:avLst/>
          </a:prstGeom>
          <a:solidFill>
            <a:srgbClr val="CC0000"/>
          </a:solidFill>
          <a:ln/>
        </p:spPr>
        <p:txBody>
          <a:bodyPr/>
          <a:lstStyle/>
          <a:p>
            <a:endParaRPr lang="en-GB"/>
          </a:p>
        </p:txBody>
      </p:sp>
      <p:sp>
        <p:nvSpPr>
          <p:cNvPr id="19" name="Text 17"/>
          <p:cNvSpPr txBox="1"/>
          <p:nvPr/>
        </p:nvSpPr>
        <p:spPr>
          <a:xfrm>
            <a:off x="6784848" y="4023360"/>
            <a:ext cx="45720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Architecture &amp; quality</a:t>
            </a:r>
            <a:endParaRPr lang="en-US" sz="1400" dirty="0"/>
          </a:p>
        </p:txBody>
      </p:sp>
      <p:sp>
        <p:nvSpPr>
          <p:cNvPr id="20" name="Text 18"/>
          <p:cNvSpPr txBox="1"/>
          <p:nvPr/>
        </p:nvSpPr>
        <p:spPr>
          <a:xfrm>
            <a:off x="6784848" y="4416552"/>
            <a:ext cx="4572000" cy="128016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OC3-16 Integration architecture and APIs</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OC3-47 Test and automation strategy</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OC3-92 Technical swim lanes</a:t>
            </a:r>
            <a:endParaRPr lang="en-US" sz="1100" dirty="0"/>
          </a:p>
          <a:p>
            <a:pPr marL="342900" indent="-342900">
              <a:lnSpc>
                <a:spcPts val="1500"/>
              </a:lnSpc>
              <a:spcAft>
                <a:spcPts val="400"/>
              </a:spcAft>
              <a:buSzPct val="100000"/>
              <a:buChar char="•"/>
            </a:pPr>
            <a:r>
              <a:rPr lang="en-US" sz="1100" dirty="0">
                <a:solidFill>
                  <a:srgbClr val="4A4A4A"/>
                </a:solidFill>
                <a:latin typeface="Arial" pitchFamily="34" charset="0"/>
                <a:ea typeface="Arial" pitchFamily="34" charset="-122"/>
                <a:cs typeface="Arial" pitchFamily="34" charset="-120"/>
              </a:rPr>
              <a:t>OC3-95 Technical debt register published</a:t>
            </a:r>
            <a:endParaRPr lang="en-US" sz="1100" dirty="0"/>
          </a:p>
        </p:txBody>
      </p:sp>
      <p:sp>
        <p:nvSpPr>
          <p:cNvPr id="21" name="Text 19"/>
          <p:cNvSpPr txBox="1"/>
          <p:nvPr/>
        </p:nvSpPr>
        <p:spPr>
          <a:xfrm>
            <a:off x="594360" y="6035040"/>
            <a:ext cx="10332720" cy="292608"/>
          </a:xfrm>
          <a:prstGeom prst="rect">
            <a:avLst/>
          </a:prstGeom>
          <a:noFill/>
          <a:ln/>
        </p:spPr>
        <p:txBody>
          <a:bodyPr wrap="square" lIns="0" tIns="0" rIns="0" bIns="0" rtlCol="0" anchor="ctr"/>
          <a:lstStyle/>
          <a:p>
            <a:pPr marL="0" indent="0">
              <a:buNone/>
            </a:pPr>
            <a:r>
              <a:rPr lang="en-US" sz="1100" i="1" dirty="0">
                <a:solidFill>
                  <a:srgbClr val="6E6E6E"/>
                </a:solidFill>
                <a:latin typeface="Arial" pitchFamily="34" charset="0"/>
                <a:ea typeface="Arial" pitchFamily="34" charset="-122"/>
                <a:cs typeface="Arial" pitchFamily="34" charset="-120"/>
              </a:rPr>
              <a:t>The scaffolding the rest of the programme depends on is now in place.</a:t>
            </a:r>
            <a:endParaRPr lang="en-US" sz="1100" dirty="0"/>
          </a:p>
        </p:txBody>
      </p:sp>
      <p:sp>
        <p:nvSpPr>
          <p:cNvPr id="22" name="Text 20"/>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23" name="Text 21"/>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Main factors behind the carryover</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Four cross-cutting constraints absorbed capacity across the sprint, independent of individual item complexity</a:t>
            </a:r>
            <a:endParaRPr lang="en-US" sz="1150" dirty="0"/>
          </a:p>
        </p:txBody>
      </p:sp>
      <p:sp>
        <p:nvSpPr>
          <p:cNvPr id="5" name="Shape 3"/>
          <p:cNvSpPr/>
          <p:nvPr/>
        </p:nvSpPr>
        <p:spPr>
          <a:xfrm>
            <a:off x="594360" y="1664208"/>
            <a:ext cx="11000232" cy="1014984"/>
          </a:xfrm>
          <a:prstGeom prst="rect">
            <a:avLst/>
          </a:prstGeom>
          <a:solidFill>
            <a:srgbClr val="F7F7F7"/>
          </a:solidFill>
          <a:ln/>
        </p:spPr>
        <p:txBody>
          <a:bodyPr/>
          <a:lstStyle/>
          <a:p>
            <a:endParaRPr lang="en-GB"/>
          </a:p>
        </p:txBody>
      </p:sp>
      <p:sp>
        <p:nvSpPr>
          <p:cNvPr id="6" name="Text 4"/>
          <p:cNvSpPr txBox="1"/>
          <p:nvPr/>
        </p:nvSpPr>
        <p:spPr>
          <a:xfrm>
            <a:off x="868680" y="1938528"/>
            <a:ext cx="822960" cy="457200"/>
          </a:xfrm>
          <a:prstGeom prst="rect">
            <a:avLst/>
          </a:prstGeom>
          <a:noFill/>
          <a:ln/>
        </p:spPr>
        <p:txBody>
          <a:bodyPr wrap="square" lIns="0" tIns="0" rIns="0" bIns="0" rtlCol="0" anchor="ctr"/>
          <a:lstStyle/>
          <a:p>
            <a:pPr marL="0" indent="0">
              <a:buNone/>
            </a:pPr>
            <a:r>
              <a:rPr lang="en-US" sz="2600" b="1" dirty="0">
                <a:solidFill>
                  <a:srgbClr val="CC0000"/>
                </a:solidFill>
                <a:latin typeface="Arial" pitchFamily="34" charset="0"/>
                <a:ea typeface="Arial" pitchFamily="34" charset="-122"/>
                <a:cs typeface="Arial" pitchFamily="34" charset="-120"/>
              </a:rPr>
              <a:t>01</a:t>
            </a:r>
            <a:endParaRPr lang="en-US" sz="2600" dirty="0"/>
          </a:p>
        </p:txBody>
      </p:sp>
      <p:sp>
        <p:nvSpPr>
          <p:cNvPr id="7" name="Text 5"/>
          <p:cNvSpPr txBox="1"/>
          <p:nvPr/>
        </p:nvSpPr>
        <p:spPr>
          <a:xfrm>
            <a:off x="1828800" y="1801368"/>
            <a:ext cx="9418320" cy="274320"/>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Developer environment migration (ongoing)</a:t>
            </a:r>
            <a:endParaRPr lang="en-US" sz="1350" dirty="0"/>
          </a:p>
        </p:txBody>
      </p:sp>
      <p:sp>
        <p:nvSpPr>
          <p:cNvPr id="8" name="Text 6"/>
          <p:cNvSpPr txBox="1"/>
          <p:nvPr/>
        </p:nvSpPr>
        <p:spPr>
          <a:xfrm>
            <a:off x="1828800" y="2103120"/>
            <a:ext cx="9418320" cy="530352"/>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The development team is being moved off the VDI environment onto Bain laptops. The VDI is materially slower for development work. The migration began during Sprint 1 and is not yet complete, so it continues to affect Sprint 2.</a:t>
            </a:r>
            <a:endParaRPr lang="en-US" sz="1050" dirty="0"/>
          </a:p>
        </p:txBody>
      </p:sp>
      <p:sp>
        <p:nvSpPr>
          <p:cNvPr id="9" name="Shape 7"/>
          <p:cNvSpPr/>
          <p:nvPr/>
        </p:nvSpPr>
        <p:spPr>
          <a:xfrm>
            <a:off x="594360" y="2770632"/>
            <a:ext cx="11000232" cy="1014984"/>
          </a:xfrm>
          <a:prstGeom prst="rect">
            <a:avLst/>
          </a:prstGeom>
          <a:solidFill>
            <a:srgbClr val="F7F7F7"/>
          </a:solidFill>
          <a:ln/>
        </p:spPr>
        <p:txBody>
          <a:bodyPr/>
          <a:lstStyle/>
          <a:p>
            <a:endParaRPr lang="en-GB"/>
          </a:p>
        </p:txBody>
      </p:sp>
      <p:sp>
        <p:nvSpPr>
          <p:cNvPr id="10" name="Text 8"/>
          <p:cNvSpPr txBox="1"/>
          <p:nvPr/>
        </p:nvSpPr>
        <p:spPr>
          <a:xfrm>
            <a:off x="868680" y="3044952"/>
            <a:ext cx="822960" cy="457200"/>
          </a:xfrm>
          <a:prstGeom prst="rect">
            <a:avLst/>
          </a:prstGeom>
          <a:noFill/>
          <a:ln/>
        </p:spPr>
        <p:txBody>
          <a:bodyPr wrap="square" lIns="0" tIns="0" rIns="0" bIns="0" rtlCol="0" anchor="ctr"/>
          <a:lstStyle/>
          <a:p>
            <a:pPr marL="0" indent="0">
              <a:buNone/>
            </a:pPr>
            <a:r>
              <a:rPr lang="en-US" sz="2600" b="1" dirty="0">
                <a:solidFill>
                  <a:srgbClr val="CC0000"/>
                </a:solidFill>
                <a:latin typeface="Arial" pitchFamily="34" charset="0"/>
                <a:ea typeface="Arial" pitchFamily="34" charset="-122"/>
                <a:cs typeface="Arial" pitchFamily="34" charset="-120"/>
              </a:rPr>
              <a:t>02</a:t>
            </a:r>
            <a:endParaRPr lang="en-US" sz="2600" dirty="0"/>
          </a:p>
        </p:txBody>
      </p:sp>
      <p:sp>
        <p:nvSpPr>
          <p:cNvPr id="11" name="Text 9"/>
          <p:cNvSpPr txBox="1"/>
          <p:nvPr/>
        </p:nvSpPr>
        <p:spPr>
          <a:xfrm>
            <a:off x="1828800" y="2907792"/>
            <a:ext cx="9418320" cy="274320"/>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Access provisioning</a:t>
            </a:r>
            <a:endParaRPr lang="en-US" sz="1350" dirty="0"/>
          </a:p>
        </p:txBody>
      </p:sp>
      <p:sp>
        <p:nvSpPr>
          <p:cNvPr id="12" name="Text 10"/>
          <p:cNvSpPr txBox="1"/>
          <p:nvPr/>
        </p:nvSpPr>
        <p:spPr>
          <a:xfrm>
            <a:off x="1828800" y="3209544"/>
            <a:ext cx="9418320" cy="530352"/>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Access to Bain and Microsoft Azure systems, platforms and data sources was being provisioned in parallel with delivery. OC3-2 service provisioning and OC3-48 development environment and access remain open, and the dependency affected work beyond those items.</a:t>
            </a:r>
            <a:endParaRPr lang="en-US" sz="1050" dirty="0"/>
          </a:p>
        </p:txBody>
      </p:sp>
      <p:sp>
        <p:nvSpPr>
          <p:cNvPr id="13" name="Shape 11"/>
          <p:cNvSpPr/>
          <p:nvPr/>
        </p:nvSpPr>
        <p:spPr>
          <a:xfrm>
            <a:off x="594360" y="3877056"/>
            <a:ext cx="11000232" cy="1014984"/>
          </a:xfrm>
          <a:prstGeom prst="rect">
            <a:avLst/>
          </a:prstGeom>
          <a:solidFill>
            <a:srgbClr val="F7F7F7"/>
          </a:solidFill>
          <a:ln/>
        </p:spPr>
        <p:txBody>
          <a:bodyPr/>
          <a:lstStyle/>
          <a:p>
            <a:endParaRPr lang="en-GB"/>
          </a:p>
        </p:txBody>
      </p:sp>
      <p:sp>
        <p:nvSpPr>
          <p:cNvPr id="14" name="Text 12"/>
          <p:cNvSpPr txBox="1"/>
          <p:nvPr/>
        </p:nvSpPr>
        <p:spPr>
          <a:xfrm>
            <a:off x="868680" y="4151376"/>
            <a:ext cx="822960" cy="457200"/>
          </a:xfrm>
          <a:prstGeom prst="rect">
            <a:avLst/>
          </a:prstGeom>
          <a:noFill/>
          <a:ln/>
        </p:spPr>
        <p:txBody>
          <a:bodyPr wrap="square" lIns="0" tIns="0" rIns="0" bIns="0" rtlCol="0" anchor="ctr"/>
          <a:lstStyle/>
          <a:p>
            <a:pPr marL="0" indent="0">
              <a:buNone/>
            </a:pPr>
            <a:r>
              <a:rPr lang="en-US" sz="2600" b="1" dirty="0">
                <a:solidFill>
                  <a:srgbClr val="CC0000"/>
                </a:solidFill>
                <a:latin typeface="Arial" pitchFamily="34" charset="0"/>
                <a:ea typeface="Arial" pitchFamily="34" charset="-122"/>
                <a:cs typeface="Arial" pitchFamily="34" charset="-120"/>
              </a:rPr>
              <a:t>03</a:t>
            </a:r>
            <a:endParaRPr lang="en-US" sz="2600" dirty="0"/>
          </a:p>
        </p:txBody>
      </p:sp>
      <p:sp>
        <p:nvSpPr>
          <p:cNvPr id="15" name="Text 13"/>
          <p:cNvSpPr txBox="1"/>
          <p:nvPr/>
        </p:nvSpPr>
        <p:spPr>
          <a:xfrm>
            <a:off x="1828800" y="4014216"/>
            <a:ext cx="9418320" cy="274320"/>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Additional requirements and feasibility assessment</a:t>
            </a:r>
            <a:endParaRPr lang="en-US" sz="1350" dirty="0"/>
          </a:p>
        </p:txBody>
      </p:sp>
      <p:sp>
        <p:nvSpPr>
          <p:cNvPr id="16" name="Text 14"/>
          <p:cNvSpPr txBox="1"/>
          <p:nvPr/>
        </p:nvSpPr>
        <p:spPr>
          <a:xfrm>
            <a:off x="1828800" y="4315968"/>
            <a:ext cx="9418320" cy="530352"/>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Requirements surfaced during the sprint that had to be assessed for feasibility before they could be planned, including the Andromeda platform and think-cell. This assessment work was unplanned and sat with the same people delivering build items.</a:t>
            </a:r>
            <a:endParaRPr lang="en-US" sz="1050" dirty="0"/>
          </a:p>
        </p:txBody>
      </p:sp>
      <p:sp>
        <p:nvSpPr>
          <p:cNvPr id="17" name="Shape 15"/>
          <p:cNvSpPr/>
          <p:nvPr/>
        </p:nvSpPr>
        <p:spPr>
          <a:xfrm>
            <a:off x="594360" y="4983480"/>
            <a:ext cx="11000232" cy="1014984"/>
          </a:xfrm>
          <a:prstGeom prst="rect">
            <a:avLst/>
          </a:prstGeom>
          <a:solidFill>
            <a:srgbClr val="F7F7F7"/>
          </a:solidFill>
          <a:ln/>
        </p:spPr>
        <p:txBody>
          <a:bodyPr/>
          <a:lstStyle/>
          <a:p>
            <a:endParaRPr lang="en-GB"/>
          </a:p>
        </p:txBody>
      </p:sp>
      <p:sp>
        <p:nvSpPr>
          <p:cNvPr id="18" name="Text 16"/>
          <p:cNvSpPr txBox="1"/>
          <p:nvPr/>
        </p:nvSpPr>
        <p:spPr>
          <a:xfrm>
            <a:off x="868680" y="5257800"/>
            <a:ext cx="822960" cy="457200"/>
          </a:xfrm>
          <a:prstGeom prst="rect">
            <a:avLst/>
          </a:prstGeom>
          <a:noFill/>
          <a:ln/>
        </p:spPr>
        <p:txBody>
          <a:bodyPr wrap="square" lIns="0" tIns="0" rIns="0" bIns="0" rtlCol="0" anchor="ctr"/>
          <a:lstStyle/>
          <a:p>
            <a:pPr marL="0" indent="0">
              <a:buNone/>
            </a:pPr>
            <a:r>
              <a:rPr lang="en-US" sz="2600" b="1" dirty="0">
                <a:solidFill>
                  <a:srgbClr val="CC0000"/>
                </a:solidFill>
                <a:latin typeface="Arial" pitchFamily="34" charset="0"/>
                <a:ea typeface="Arial" pitchFamily="34" charset="-122"/>
                <a:cs typeface="Arial" pitchFamily="34" charset="-120"/>
              </a:rPr>
              <a:t>04</a:t>
            </a:r>
            <a:endParaRPr lang="en-US" sz="2600" dirty="0"/>
          </a:p>
        </p:txBody>
      </p:sp>
      <p:sp>
        <p:nvSpPr>
          <p:cNvPr id="19" name="Text 17"/>
          <p:cNvSpPr txBox="1"/>
          <p:nvPr/>
        </p:nvSpPr>
        <p:spPr>
          <a:xfrm>
            <a:off x="1828800" y="5120640"/>
            <a:ext cx="9418320" cy="274320"/>
          </a:xfrm>
          <a:prstGeom prst="rect">
            <a:avLst/>
          </a:prstGeom>
          <a:noFill/>
          <a:ln/>
        </p:spPr>
        <p:txBody>
          <a:bodyPr wrap="square" lIns="0" tIns="0" rIns="0" bIns="0" rtlCol="0" anchor="ctr"/>
          <a:lstStyle/>
          <a:p>
            <a:pPr marL="0" indent="0">
              <a:buNone/>
            </a:pPr>
            <a:r>
              <a:rPr lang="en-US" sz="1350" b="1" dirty="0">
                <a:solidFill>
                  <a:srgbClr val="1A1A1A"/>
                </a:solidFill>
                <a:latin typeface="Arial" pitchFamily="34" charset="0"/>
                <a:ea typeface="Arial" pitchFamily="34" charset="-122"/>
                <a:cs typeface="Arial" pitchFamily="34" charset="-120"/>
              </a:rPr>
              <a:t>User journeys and design finalisation</a:t>
            </a:r>
            <a:endParaRPr lang="en-US" sz="1350" dirty="0"/>
          </a:p>
        </p:txBody>
      </p:sp>
      <p:sp>
        <p:nvSpPr>
          <p:cNvPr id="20" name="Text 18"/>
          <p:cNvSpPr txBox="1"/>
          <p:nvPr/>
        </p:nvSpPr>
        <p:spPr>
          <a:xfrm>
            <a:off x="1828800" y="5422392"/>
            <a:ext cx="9418320" cy="530352"/>
          </a:xfrm>
          <a:prstGeom prst="rect">
            <a:avLst/>
          </a:prstGeom>
          <a:noFill/>
          <a:ln/>
        </p:spPr>
        <p:txBody>
          <a:bodyPr wrap="square" lIns="0" tIns="0" rIns="0" bIns="0" rtlCol="0" anchor="ctr"/>
          <a:lstStyle/>
          <a:p>
            <a:pPr marL="0" indent="0">
              <a:lnSpc>
                <a:spcPts val="1350"/>
              </a:lnSpc>
              <a:buNone/>
            </a:pPr>
            <a:r>
              <a:rPr lang="en-US" sz="1050" dirty="0">
                <a:solidFill>
                  <a:srgbClr val="6E6E6E"/>
                </a:solidFill>
                <a:latin typeface="Arial" pitchFamily="34" charset="0"/>
                <a:ea typeface="Arial" pitchFamily="34" charset="-122"/>
                <a:cs typeface="Arial" pitchFamily="34" charset="-120"/>
              </a:rPr>
              <a:t>User journeys and design elements were still being finalised against stakeholder feedback during the sprint, keeping frontend and data-requirement items such as OC3-37 and OC3-102 moving while build work was under way.</a:t>
            </a:r>
            <a:endParaRPr lang="en-US" sz="1050" dirty="0"/>
          </a:p>
        </p:txBody>
      </p:sp>
      <p:sp>
        <p:nvSpPr>
          <p:cNvPr id="21" name="Text 19"/>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22" name="Text 20"/>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94360" y="402336"/>
            <a:ext cx="137160" cy="137160"/>
          </a:xfrm>
          <a:prstGeom prst="rect">
            <a:avLst/>
          </a:prstGeom>
          <a:solidFill>
            <a:srgbClr val="CC0000"/>
          </a:solidFill>
          <a:ln/>
        </p:spPr>
        <p:txBody>
          <a:bodyPr/>
          <a:lstStyle/>
          <a:p>
            <a:endParaRPr lang="en-GB"/>
          </a:p>
        </p:txBody>
      </p:sp>
      <p:sp>
        <p:nvSpPr>
          <p:cNvPr id="3" name="Text 1"/>
          <p:cNvSpPr txBox="1"/>
          <p:nvPr/>
        </p:nvSpPr>
        <p:spPr>
          <a:xfrm>
            <a:off x="594360" y="658368"/>
            <a:ext cx="10725912" cy="457200"/>
          </a:xfrm>
          <a:prstGeom prst="rect">
            <a:avLst/>
          </a:prstGeom>
          <a:noFill/>
          <a:ln/>
        </p:spPr>
        <p:txBody>
          <a:bodyPr wrap="square" lIns="0" tIns="0" rIns="0" bIns="0" rtlCol="0" anchor="ctr"/>
          <a:lstStyle/>
          <a:p>
            <a:pPr marL="0" indent="0">
              <a:buNone/>
            </a:pPr>
            <a:r>
              <a:rPr lang="en-US" sz="2700" b="1" dirty="0">
                <a:solidFill>
                  <a:srgbClr val="1A1A1A"/>
                </a:solidFill>
                <a:latin typeface="Arial" pitchFamily="34" charset="0"/>
                <a:ea typeface="Arial" pitchFamily="34" charset="-122"/>
                <a:cs typeface="Arial" pitchFamily="34" charset="-120"/>
              </a:rPr>
              <a:t>Retro board</a:t>
            </a:r>
            <a:endParaRPr lang="en-US" sz="2700" dirty="0"/>
          </a:p>
        </p:txBody>
      </p:sp>
      <p:sp>
        <p:nvSpPr>
          <p:cNvPr id="4" name="Text 2"/>
          <p:cNvSpPr txBox="1"/>
          <p:nvPr/>
        </p:nvSpPr>
        <p:spPr>
          <a:xfrm>
            <a:off x="594360" y="1152144"/>
            <a:ext cx="10725912" cy="292608"/>
          </a:xfrm>
          <a:prstGeom prst="rect">
            <a:avLst/>
          </a:prstGeom>
          <a:noFill/>
          <a:ln/>
        </p:spPr>
        <p:txBody>
          <a:bodyPr wrap="square" lIns="0" tIns="0" rIns="0" bIns="0" rtlCol="0" anchor="ctr"/>
          <a:lstStyle/>
          <a:p>
            <a:pPr marL="0" indent="0">
              <a:buNone/>
            </a:pPr>
            <a:r>
              <a:rPr lang="en-US" sz="1150" dirty="0">
                <a:solidFill>
                  <a:srgbClr val="6E6E6E"/>
                </a:solidFill>
                <a:latin typeface="Arial" pitchFamily="34" charset="0"/>
                <a:ea typeface="Arial" pitchFamily="34" charset="-122"/>
                <a:cs typeface="Arial" pitchFamily="34" charset="-120"/>
              </a:rPr>
              <a:t>Starters drawn from the sprint data — the team adds to each column during the session</a:t>
            </a:r>
            <a:endParaRPr lang="en-US" sz="1150" dirty="0"/>
          </a:p>
        </p:txBody>
      </p:sp>
      <p:sp>
        <p:nvSpPr>
          <p:cNvPr id="5" name="Shape 3"/>
          <p:cNvSpPr/>
          <p:nvPr/>
        </p:nvSpPr>
        <p:spPr>
          <a:xfrm>
            <a:off x="594360" y="1664208"/>
            <a:ext cx="3483864" cy="4343400"/>
          </a:xfrm>
          <a:prstGeom prst="rect">
            <a:avLst/>
          </a:prstGeom>
          <a:solidFill>
            <a:srgbClr val="F7F7F7"/>
          </a:solidFill>
          <a:ln/>
        </p:spPr>
        <p:txBody>
          <a:bodyPr/>
          <a:lstStyle/>
          <a:p>
            <a:endParaRPr lang="en-GB"/>
          </a:p>
        </p:txBody>
      </p:sp>
      <p:sp>
        <p:nvSpPr>
          <p:cNvPr id="6" name="Shape 4"/>
          <p:cNvSpPr/>
          <p:nvPr/>
        </p:nvSpPr>
        <p:spPr>
          <a:xfrm>
            <a:off x="868680" y="1938528"/>
            <a:ext cx="118872" cy="118872"/>
          </a:xfrm>
          <a:prstGeom prst="rect">
            <a:avLst/>
          </a:prstGeom>
          <a:solidFill>
            <a:srgbClr val="4A4A4A"/>
          </a:solidFill>
          <a:ln/>
        </p:spPr>
        <p:txBody>
          <a:bodyPr/>
          <a:lstStyle/>
          <a:p>
            <a:endParaRPr lang="en-GB"/>
          </a:p>
        </p:txBody>
      </p:sp>
      <p:sp>
        <p:nvSpPr>
          <p:cNvPr id="7" name="Text 5"/>
          <p:cNvSpPr txBox="1"/>
          <p:nvPr/>
        </p:nvSpPr>
        <p:spPr>
          <a:xfrm>
            <a:off x="1124712" y="1828800"/>
            <a:ext cx="27432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What went well</a:t>
            </a:r>
            <a:endParaRPr lang="en-US" sz="1400" dirty="0"/>
          </a:p>
        </p:txBody>
      </p:sp>
      <p:sp>
        <p:nvSpPr>
          <p:cNvPr id="8" name="Shape 6"/>
          <p:cNvSpPr/>
          <p:nvPr/>
        </p:nvSpPr>
        <p:spPr>
          <a:xfrm>
            <a:off x="868680" y="2249424"/>
            <a:ext cx="2926080" cy="0"/>
          </a:xfrm>
          <a:prstGeom prst="line">
            <a:avLst/>
          </a:prstGeom>
          <a:noFill/>
          <a:ln w="12700">
            <a:solidFill>
              <a:srgbClr val="E3E3E3"/>
            </a:solidFill>
            <a:prstDash val="solid"/>
          </a:ln>
        </p:spPr>
        <p:txBody>
          <a:bodyPr/>
          <a:lstStyle/>
          <a:p>
            <a:endParaRPr lang="en-GB"/>
          </a:p>
        </p:txBody>
      </p:sp>
      <p:sp>
        <p:nvSpPr>
          <p:cNvPr id="9" name="Text 7"/>
          <p:cNvSpPr txBox="1"/>
          <p:nvPr/>
        </p:nvSpPr>
        <p:spPr>
          <a:xfrm>
            <a:off x="868680" y="2377440"/>
            <a:ext cx="2944368" cy="2926080"/>
          </a:xfrm>
          <a:prstGeom prst="rect">
            <a:avLst/>
          </a:prstGeom>
          <a:noFill/>
          <a:ln/>
        </p:spPr>
        <p:txBody>
          <a:bodyPr wrap="square" lIns="0" tIns="0" rIns="0" bIns="0" rtlCol="0" anchor="ctr"/>
          <a:lstStyle/>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Foundation layer landed: monorepo, SSO, app shell, component library</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22 items completed despite a mid-sprint environment migration</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Technical debt register published in Sprint 1</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Architecture and swim lanes documented early</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13 of 28 added items still completed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Team estimated the sprint, even though Jira could not record it</a:t>
            </a:r>
            <a:endParaRPr lang="en-US" sz="1050" dirty="0"/>
          </a:p>
        </p:txBody>
      </p:sp>
      <p:sp>
        <p:nvSpPr>
          <p:cNvPr id="11" name="Shape 9"/>
          <p:cNvSpPr/>
          <p:nvPr/>
        </p:nvSpPr>
        <p:spPr>
          <a:xfrm>
            <a:off x="868680" y="5559552"/>
            <a:ext cx="2907792" cy="0"/>
          </a:xfrm>
          <a:prstGeom prst="line">
            <a:avLst/>
          </a:prstGeom>
          <a:noFill/>
          <a:ln w="12700">
            <a:solidFill>
              <a:srgbClr val="CFCFCF"/>
            </a:solidFill>
            <a:prstDash val="solid"/>
          </a:ln>
        </p:spPr>
        <p:txBody>
          <a:bodyPr/>
          <a:lstStyle/>
          <a:p>
            <a:endParaRPr lang="en-GB"/>
          </a:p>
        </p:txBody>
      </p:sp>
      <p:sp>
        <p:nvSpPr>
          <p:cNvPr id="12" name="Shape 10"/>
          <p:cNvSpPr/>
          <p:nvPr/>
        </p:nvSpPr>
        <p:spPr>
          <a:xfrm>
            <a:off x="868680" y="5815584"/>
            <a:ext cx="2907792" cy="0"/>
          </a:xfrm>
          <a:prstGeom prst="line">
            <a:avLst/>
          </a:prstGeom>
          <a:noFill/>
          <a:ln w="12700">
            <a:solidFill>
              <a:srgbClr val="CFCFCF"/>
            </a:solidFill>
            <a:prstDash val="solid"/>
          </a:ln>
        </p:spPr>
        <p:txBody>
          <a:bodyPr/>
          <a:lstStyle/>
          <a:p>
            <a:endParaRPr lang="en-GB"/>
          </a:p>
        </p:txBody>
      </p:sp>
      <p:sp>
        <p:nvSpPr>
          <p:cNvPr id="13" name="Shape 11"/>
          <p:cNvSpPr/>
          <p:nvPr/>
        </p:nvSpPr>
        <p:spPr>
          <a:xfrm>
            <a:off x="4352544" y="1664208"/>
            <a:ext cx="3483864" cy="4343400"/>
          </a:xfrm>
          <a:prstGeom prst="rect">
            <a:avLst/>
          </a:prstGeom>
          <a:solidFill>
            <a:srgbClr val="F7F7F7"/>
          </a:solidFill>
          <a:ln/>
        </p:spPr>
        <p:txBody>
          <a:bodyPr/>
          <a:lstStyle/>
          <a:p>
            <a:endParaRPr lang="en-GB"/>
          </a:p>
        </p:txBody>
      </p:sp>
      <p:sp>
        <p:nvSpPr>
          <p:cNvPr id="14" name="Shape 12"/>
          <p:cNvSpPr/>
          <p:nvPr/>
        </p:nvSpPr>
        <p:spPr>
          <a:xfrm>
            <a:off x="4626864" y="1938528"/>
            <a:ext cx="118872" cy="118872"/>
          </a:xfrm>
          <a:prstGeom prst="rect">
            <a:avLst/>
          </a:prstGeom>
          <a:solidFill>
            <a:srgbClr val="CC0000"/>
          </a:solidFill>
          <a:ln/>
        </p:spPr>
        <p:txBody>
          <a:bodyPr/>
          <a:lstStyle/>
          <a:p>
            <a:endParaRPr lang="en-GB"/>
          </a:p>
        </p:txBody>
      </p:sp>
      <p:sp>
        <p:nvSpPr>
          <p:cNvPr id="15" name="Text 13"/>
          <p:cNvSpPr txBox="1"/>
          <p:nvPr/>
        </p:nvSpPr>
        <p:spPr>
          <a:xfrm>
            <a:off x="4882896" y="1828800"/>
            <a:ext cx="27432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What to improve</a:t>
            </a:r>
            <a:endParaRPr lang="en-US" sz="1400" dirty="0"/>
          </a:p>
        </p:txBody>
      </p:sp>
      <p:sp>
        <p:nvSpPr>
          <p:cNvPr id="16" name="Shape 14"/>
          <p:cNvSpPr/>
          <p:nvPr/>
        </p:nvSpPr>
        <p:spPr>
          <a:xfrm>
            <a:off x="4626864" y="2249424"/>
            <a:ext cx="2926080" cy="0"/>
          </a:xfrm>
          <a:prstGeom prst="line">
            <a:avLst/>
          </a:prstGeom>
          <a:noFill/>
          <a:ln w="12700">
            <a:solidFill>
              <a:srgbClr val="E3E3E3"/>
            </a:solidFill>
            <a:prstDash val="solid"/>
          </a:ln>
        </p:spPr>
        <p:txBody>
          <a:bodyPr/>
          <a:lstStyle/>
          <a:p>
            <a:endParaRPr lang="en-GB"/>
          </a:p>
        </p:txBody>
      </p:sp>
      <p:sp>
        <p:nvSpPr>
          <p:cNvPr id="17" name="Text 15"/>
          <p:cNvSpPr txBox="1"/>
          <p:nvPr/>
        </p:nvSpPr>
        <p:spPr>
          <a:xfrm>
            <a:off x="4626864" y="2377440"/>
            <a:ext cx="2944368" cy="2926080"/>
          </a:xfrm>
          <a:prstGeom prst="rect">
            <a:avLst/>
          </a:prstGeom>
          <a:noFill/>
          <a:ln/>
        </p:spPr>
        <p:txBody>
          <a:bodyPr wrap="square" lIns="0" tIns="0" rIns="0" bIns="0" rtlCol="0" anchor="ctr"/>
          <a:lstStyle/>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Scope grew 127% after the start with no agreed gate</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9 of 22 committed items completed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Environment and access work ran in parallel with delivery</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Design and journey decisions arrived after build began</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Unplanned feasibility work (Andromeda, think-cell) absorbed capacity</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Hour-based estimates were not captured in Jira, so there is no baseline</a:t>
            </a:r>
            <a:endParaRPr lang="en-US" sz="1050" dirty="0"/>
          </a:p>
        </p:txBody>
      </p:sp>
      <p:sp>
        <p:nvSpPr>
          <p:cNvPr id="19" name="Shape 17"/>
          <p:cNvSpPr/>
          <p:nvPr/>
        </p:nvSpPr>
        <p:spPr>
          <a:xfrm>
            <a:off x="4626864" y="5559552"/>
            <a:ext cx="2907792" cy="0"/>
          </a:xfrm>
          <a:prstGeom prst="line">
            <a:avLst/>
          </a:prstGeom>
          <a:noFill/>
          <a:ln w="12700">
            <a:solidFill>
              <a:srgbClr val="CFCFCF"/>
            </a:solidFill>
            <a:prstDash val="solid"/>
          </a:ln>
        </p:spPr>
        <p:txBody>
          <a:bodyPr/>
          <a:lstStyle/>
          <a:p>
            <a:endParaRPr lang="en-GB"/>
          </a:p>
        </p:txBody>
      </p:sp>
      <p:sp>
        <p:nvSpPr>
          <p:cNvPr id="20" name="Shape 18"/>
          <p:cNvSpPr/>
          <p:nvPr/>
        </p:nvSpPr>
        <p:spPr>
          <a:xfrm>
            <a:off x="4626864" y="5815584"/>
            <a:ext cx="2907792" cy="0"/>
          </a:xfrm>
          <a:prstGeom prst="line">
            <a:avLst/>
          </a:prstGeom>
          <a:noFill/>
          <a:ln w="12700">
            <a:solidFill>
              <a:srgbClr val="CFCFCF"/>
            </a:solidFill>
            <a:prstDash val="solid"/>
          </a:ln>
        </p:spPr>
        <p:txBody>
          <a:bodyPr/>
          <a:lstStyle/>
          <a:p>
            <a:endParaRPr lang="en-GB"/>
          </a:p>
        </p:txBody>
      </p:sp>
      <p:sp>
        <p:nvSpPr>
          <p:cNvPr id="21" name="Shape 19"/>
          <p:cNvSpPr/>
          <p:nvPr/>
        </p:nvSpPr>
        <p:spPr>
          <a:xfrm>
            <a:off x="8110728" y="1664208"/>
            <a:ext cx="3483864" cy="4343400"/>
          </a:xfrm>
          <a:prstGeom prst="rect">
            <a:avLst/>
          </a:prstGeom>
          <a:solidFill>
            <a:srgbClr val="F7F7F7"/>
          </a:solidFill>
          <a:ln/>
        </p:spPr>
        <p:txBody>
          <a:bodyPr/>
          <a:lstStyle/>
          <a:p>
            <a:endParaRPr lang="en-GB"/>
          </a:p>
        </p:txBody>
      </p:sp>
      <p:sp>
        <p:nvSpPr>
          <p:cNvPr id="22" name="Shape 20"/>
          <p:cNvSpPr/>
          <p:nvPr/>
        </p:nvSpPr>
        <p:spPr>
          <a:xfrm>
            <a:off x="8385048" y="1938528"/>
            <a:ext cx="118872" cy="118872"/>
          </a:xfrm>
          <a:prstGeom prst="rect">
            <a:avLst/>
          </a:prstGeom>
          <a:solidFill>
            <a:srgbClr val="9B9B9B"/>
          </a:solidFill>
          <a:ln/>
        </p:spPr>
        <p:txBody>
          <a:bodyPr/>
          <a:lstStyle/>
          <a:p>
            <a:endParaRPr lang="en-GB"/>
          </a:p>
        </p:txBody>
      </p:sp>
      <p:sp>
        <p:nvSpPr>
          <p:cNvPr id="23" name="Text 21"/>
          <p:cNvSpPr txBox="1"/>
          <p:nvPr/>
        </p:nvSpPr>
        <p:spPr>
          <a:xfrm>
            <a:off x="8641080" y="1828800"/>
            <a:ext cx="2743200" cy="301752"/>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What to try next</a:t>
            </a:r>
            <a:endParaRPr lang="en-US" sz="1400" dirty="0"/>
          </a:p>
        </p:txBody>
      </p:sp>
      <p:sp>
        <p:nvSpPr>
          <p:cNvPr id="24" name="Shape 22"/>
          <p:cNvSpPr/>
          <p:nvPr/>
        </p:nvSpPr>
        <p:spPr>
          <a:xfrm>
            <a:off x="8385048" y="2249424"/>
            <a:ext cx="2926080" cy="0"/>
          </a:xfrm>
          <a:prstGeom prst="line">
            <a:avLst/>
          </a:prstGeom>
          <a:noFill/>
          <a:ln w="12700">
            <a:solidFill>
              <a:srgbClr val="E3E3E3"/>
            </a:solidFill>
            <a:prstDash val="solid"/>
          </a:ln>
        </p:spPr>
        <p:txBody>
          <a:bodyPr/>
          <a:lstStyle/>
          <a:p>
            <a:endParaRPr lang="en-GB"/>
          </a:p>
        </p:txBody>
      </p:sp>
      <p:sp>
        <p:nvSpPr>
          <p:cNvPr id="25" name="Text 23"/>
          <p:cNvSpPr txBox="1"/>
          <p:nvPr/>
        </p:nvSpPr>
        <p:spPr>
          <a:xfrm>
            <a:off x="8385048" y="2377440"/>
            <a:ext cx="2944368" cy="2926080"/>
          </a:xfrm>
          <a:prstGeom prst="rect">
            <a:avLst/>
          </a:prstGeom>
          <a:noFill/>
          <a:ln/>
        </p:spPr>
        <p:txBody>
          <a:bodyPr wrap="square" lIns="0" tIns="0" rIns="0" bIns="0" rtlCol="0" anchor="ctr"/>
          <a:lstStyle/>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Get admin access to configure the board so estimates are captured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Track epics at programme level, not on the board</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Name an owner and date for each dependency/blocker</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Confirm journeys and designs ahead of the sprint they build in</a:t>
            </a:r>
            <a:endParaRPr lang="en-US" sz="1050" dirty="0"/>
          </a:p>
          <a:p>
            <a:pPr marL="342900" indent="-342900">
              <a:lnSpc>
                <a:spcPts val="1350"/>
              </a:lnSpc>
              <a:spcAft>
                <a:spcPts val="500"/>
              </a:spcAft>
              <a:buSzPct val="100000"/>
              <a:buChar char="•"/>
            </a:pPr>
            <a:r>
              <a:rPr lang="en-US" sz="1050" dirty="0">
                <a:solidFill>
                  <a:srgbClr val="4A4A4A"/>
                </a:solidFill>
                <a:latin typeface="Arial" pitchFamily="34" charset="0"/>
                <a:ea typeface="Arial" pitchFamily="34" charset="-122"/>
                <a:cs typeface="Arial" pitchFamily="34" charset="-120"/>
              </a:rPr>
              <a:t>Complete the laptop migration and close out access provisioning</a:t>
            </a:r>
            <a:endParaRPr lang="en-US" sz="1050" dirty="0"/>
          </a:p>
        </p:txBody>
      </p:sp>
      <p:sp>
        <p:nvSpPr>
          <p:cNvPr id="27" name="Shape 25"/>
          <p:cNvSpPr/>
          <p:nvPr/>
        </p:nvSpPr>
        <p:spPr>
          <a:xfrm>
            <a:off x="8385048" y="5559552"/>
            <a:ext cx="2907792" cy="0"/>
          </a:xfrm>
          <a:prstGeom prst="line">
            <a:avLst/>
          </a:prstGeom>
          <a:noFill/>
          <a:ln w="12700">
            <a:solidFill>
              <a:srgbClr val="CFCFCF"/>
            </a:solidFill>
            <a:prstDash val="solid"/>
          </a:ln>
        </p:spPr>
        <p:txBody>
          <a:bodyPr/>
          <a:lstStyle/>
          <a:p>
            <a:endParaRPr lang="en-GB"/>
          </a:p>
        </p:txBody>
      </p:sp>
      <p:sp>
        <p:nvSpPr>
          <p:cNvPr id="28" name="Shape 26"/>
          <p:cNvSpPr/>
          <p:nvPr/>
        </p:nvSpPr>
        <p:spPr>
          <a:xfrm>
            <a:off x="8385048" y="5815584"/>
            <a:ext cx="2907792" cy="0"/>
          </a:xfrm>
          <a:prstGeom prst="line">
            <a:avLst/>
          </a:prstGeom>
          <a:noFill/>
          <a:ln w="12700">
            <a:solidFill>
              <a:srgbClr val="CFCFCF"/>
            </a:solidFill>
            <a:prstDash val="solid"/>
          </a:ln>
        </p:spPr>
        <p:txBody>
          <a:bodyPr/>
          <a:lstStyle/>
          <a:p>
            <a:endParaRPr lang="en-GB"/>
          </a:p>
        </p:txBody>
      </p:sp>
      <p:sp>
        <p:nvSpPr>
          <p:cNvPr id="30" name="Text 28"/>
          <p:cNvSpPr txBox="1"/>
          <p:nvPr/>
        </p:nvSpPr>
        <p:spPr>
          <a:xfrm>
            <a:off x="594360" y="6382512"/>
            <a:ext cx="5486400" cy="228600"/>
          </a:xfrm>
          <a:prstGeom prst="rect">
            <a:avLst/>
          </a:prstGeom>
          <a:noFill/>
          <a:ln/>
        </p:spPr>
        <p:txBody>
          <a:bodyPr wrap="square" lIns="0" tIns="0" rIns="0" bIns="0" rtlCol="0" anchor="ctr"/>
          <a:lstStyle/>
          <a:p>
            <a:pPr marL="0" indent="0">
              <a:buNone/>
            </a:pPr>
            <a:r>
              <a:rPr lang="en-US" sz="800" dirty="0">
                <a:solidFill>
                  <a:srgbClr val="9B9B9B"/>
                </a:solidFill>
                <a:latin typeface="Arial" pitchFamily="34" charset="0"/>
                <a:ea typeface="Arial" pitchFamily="34" charset="-122"/>
                <a:cs typeface="Arial" pitchFamily="34" charset="-120"/>
              </a:rPr>
              <a:t>OC 3.0  |  Sprint 1 Retrospective</a:t>
            </a:r>
            <a:endParaRPr lang="en-US" sz="800" dirty="0"/>
          </a:p>
        </p:txBody>
      </p:sp>
      <p:sp>
        <p:nvSpPr>
          <p:cNvPr id="31" name="Text 29"/>
          <p:cNvSpPr txBox="1"/>
          <p:nvPr/>
        </p:nvSpPr>
        <p:spPr>
          <a:xfrm>
            <a:off x="10972800" y="6382512"/>
            <a:ext cx="621792" cy="228600"/>
          </a:xfrm>
          <a:prstGeom prst="rect">
            <a:avLst/>
          </a:prstGeom>
          <a:noFill/>
          <a:ln/>
        </p:spPr>
        <p:txBody>
          <a:bodyPr wrap="square" lIns="0" tIns="0" rIns="0" bIns="0" rtlCol="0" anchor="ctr"/>
          <a:lstStyle/>
          <a:p>
            <a:pPr marL="0" indent="0" algn="r">
              <a:buNone/>
            </a:pPr>
            <a:r>
              <a:rPr lang="en-US" sz="800" dirty="0">
                <a:solidFill>
                  <a:srgbClr val="9B9B9B"/>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1108</Words>
  <Application>Microsoft Office PowerPoint</Application>
  <PresentationFormat>Widescreen</PresentationFormat>
  <Paragraphs>132</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 3.0 - Sprint 1 Retrospective</dc:title>
  <dc:subject>PptxGenJS Presentation</dc:subject>
  <dc:creator>OC 3.0 Delivery</dc:creator>
  <cp:lastModifiedBy>Giorgi Samadashvili</cp:lastModifiedBy>
  <cp:revision>1</cp:revision>
  <dcterms:created xsi:type="dcterms:W3CDTF">2026-09-15T10:19:37Z</dcterms:created>
  <dcterms:modified xsi:type="dcterms:W3CDTF">2026-09-16T08:12:23Z</dcterms:modified>
</cp:coreProperties>
</file>