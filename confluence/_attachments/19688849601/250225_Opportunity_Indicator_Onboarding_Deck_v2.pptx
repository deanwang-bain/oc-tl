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4.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5.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6.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7.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8.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9.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10.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11.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12.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3.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14.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15.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16.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17.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18.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19.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20.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notesSlides/notesSlide21.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22.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23.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24.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25.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26.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27.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1"/>
  </p:notesMasterIdLst>
  <p:sldIdLst>
    <p:sldId id="256" r:id="rId5"/>
    <p:sldId id="1168" r:id="rId6"/>
    <p:sldId id="1165" r:id="rId7"/>
    <p:sldId id="270" r:id="rId8"/>
    <p:sldId id="1170" r:id="rId9"/>
    <p:sldId id="262" r:id="rId10"/>
    <p:sldId id="1161" r:id="rId11"/>
    <p:sldId id="1201" r:id="rId12"/>
    <p:sldId id="1202" r:id="rId13"/>
    <p:sldId id="1183" r:id="rId14"/>
    <p:sldId id="1185" r:id="rId15"/>
    <p:sldId id="1203" r:id="rId16"/>
    <p:sldId id="1218" r:id="rId17"/>
    <p:sldId id="258" r:id="rId18"/>
    <p:sldId id="257" r:id="rId19"/>
    <p:sldId id="259" r:id="rId20"/>
    <p:sldId id="260" r:id="rId21"/>
    <p:sldId id="1207" r:id="rId22"/>
    <p:sldId id="1180" r:id="rId23"/>
    <p:sldId id="1239" r:id="rId24"/>
    <p:sldId id="1186" r:id="rId25"/>
    <p:sldId id="1240" r:id="rId26"/>
    <p:sldId id="364" r:id="rId27"/>
    <p:sldId id="1242" r:id="rId28"/>
    <p:sldId id="1241" r:id="rId29"/>
    <p:sldId id="1244" r:id="rId30"/>
    <p:sldId id="1243" r:id="rId31"/>
    <p:sldId id="1245" r:id="rId32"/>
    <p:sldId id="1246" r:id="rId33"/>
    <p:sldId id="1248" r:id="rId34"/>
    <p:sldId id="1247" r:id="rId35"/>
    <p:sldId id="1209" r:id="rId36"/>
    <p:sldId id="1249" r:id="rId37"/>
    <p:sldId id="1195" r:id="rId38"/>
    <p:sldId id="323" r:id="rId39"/>
    <p:sldId id="1250" r:id="rId40"/>
    <p:sldId id="1251" r:id="rId41"/>
    <p:sldId id="1252" r:id="rId42"/>
    <p:sldId id="1198" r:id="rId43"/>
    <p:sldId id="1256" r:id="rId44"/>
    <p:sldId id="1257" r:id="rId45"/>
    <p:sldId id="1258" r:id="rId46"/>
    <p:sldId id="1259" r:id="rId47"/>
    <p:sldId id="1260" r:id="rId48"/>
    <p:sldId id="1262" r:id="rId49"/>
    <p:sldId id="1171" r:id="rId50"/>
    <p:sldId id="268" r:id="rId51"/>
    <p:sldId id="1216" r:id="rId52"/>
    <p:sldId id="1263" r:id="rId53"/>
    <p:sldId id="1238" r:id="rId54"/>
    <p:sldId id="1173" r:id="rId55"/>
    <p:sldId id="292" r:id="rId56"/>
    <p:sldId id="1222" r:id="rId57"/>
    <p:sldId id="1220" r:id="rId58"/>
    <p:sldId id="1221" r:id="rId59"/>
    <p:sldId id="1223" r:id="rId60"/>
    <p:sldId id="1224" r:id="rId61"/>
    <p:sldId id="1226" r:id="rId62"/>
    <p:sldId id="1225" r:id="rId63"/>
    <p:sldId id="1227" r:id="rId64"/>
    <p:sldId id="1228" r:id="rId65"/>
    <p:sldId id="1229" r:id="rId66"/>
    <p:sldId id="2147483642" r:id="rId67"/>
    <p:sldId id="1230" r:id="rId68"/>
    <p:sldId id="1231" r:id="rId69"/>
    <p:sldId id="1232" r:id="rId70"/>
    <p:sldId id="1233" r:id="rId71"/>
    <p:sldId id="1234" r:id="rId72"/>
    <p:sldId id="1235" r:id="rId73"/>
    <p:sldId id="1264" r:id="rId74"/>
    <p:sldId id="1253" r:id="rId75"/>
    <p:sldId id="1255" r:id="rId76"/>
    <p:sldId id="1265" r:id="rId77"/>
    <p:sldId id="1254" r:id="rId78"/>
    <p:sldId id="2147483643" r:id="rId79"/>
    <p:sldId id="1236" r:id="rId80"/>
  </p:sldIdLst>
  <p:sldSz cx="12192000" cy="6858000"/>
  <p:notesSz cx="6797675" cy="9926638"/>
  <p:custDataLst>
    <p:tags r:id="rId82"/>
  </p:custDataLst>
  <p:defaultTex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FAD097-4BE2-4AA6-9292-33BCC952C286}">
          <p14:sldIdLst>
            <p14:sldId id="256"/>
          </p14:sldIdLst>
        </p14:section>
        <p14:section name="Introduction to OI" id="{0BFD1706-4C6B-4067-BC0B-C8EC6C18980E}">
          <p14:sldIdLst>
            <p14:sldId id="1168"/>
            <p14:sldId id="1165"/>
            <p14:sldId id="270"/>
          </p14:sldIdLst>
        </p14:section>
        <p14:section name="Process to build an OI" id="{D021D751-46E7-438E-998A-03B83864B5DB}">
          <p14:sldIdLst>
            <p14:sldId id="1170"/>
            <p14:sldId id="262"/>
            <p14:sldId id="1161"/>
            <p14:sldId id="1201"/>
            <p14:sldId id="1202"/>
            <p14:sldId id="1183"/>
            <p14:sldId id="1185"/>
            <p14:sldId id="1203"/>
            <p14:sldId id="1218"/>
            <p14:sldId id="258"/>
            <p14:sldId id="257"/>
            <p14:sldId id="259"/>
            <p14:sldId id="260"/>
            <p14:sldId id="1207"/>
            <p14:sldId id="1180"/>
            <p14:sldId id="1239"/>
            <p14:sldId id="1186"/>
            <p14:sldId id="1240"/>
            <p14:sldId id="364"/>
            <p14:sldId id="1242"/>
            <p14:sldId id="1241"/>
            <p14:sldId id="1244"/>
            <p14:sldId id="1243"/>
            <p14:sldId id="1245"/>
            <p14:sldId id="1246"/>
            <p14:sldId id="1248"/>
            <p14:sldId id="1247"/>
            <p14:sldId id="1209"/>
            <p14:sldId id="1249"/>
            <p14:sldId id="1195"/>
            <p14:sldId id="323"/>
            <p14:sldId id="1250"/>
            <p14:sldId id="1251"/>
            <p14:sldId id="1252"/>
            <p14:sldId id="1198"/>
            <p14:sldId id="1256"/>
            <p14:sldId id="1257"/>
            <p14:sldId id="1258"/>
          </p14:sldIdLst>
        </p14:section>
        <p14:section name="Output Completion" id="{87ED14C2-2327-4BE8-BA70-1954564CA12B}">
          <p14:sldIdLst>
            <p14:sldId id="1259"/>
            <p14:sldId id="1260"/>
            <p14:sldId id="1262"/>
          </p14:sldIdLst>
        </p14:section>
        <p14:section name="Getting setup" id="{46FF6151-6B1C-4624-BE1D-9AB2EE40EB0F}">
          <p14:sldIdLst>
            <p14:sldId id="1171"/>
            <p14:sldId id="268"/>
            <p14:sldId id="1216"/>
            <p14:sldId id="1263"/>
            <p14:sldId id="1238"/>
          </p14:sldIdLst>
        </p14:section>
        <p14:section name="Appendix" id="{D07A36D7-1098-4900-9032-046C38A2CE46}">
          <p14:sldIdLst>
            <p14:sldId id="1173"/>
            <p14:sldId id="292"/>
            <p14:sldId id="1222"/>
            <p14:sldId id="1220"/>
            <p14:sldId id="1221"/>
            <p14:sldId id="1223"/>
            <p14:sldId id="1224"/>
            <p14:sldId id="1226"/>
            <p14:sldId id="1225"/>
            <p14:sldId id="1227"/>
            <p14:sldId id="1228"/>
            <p14:sldId id="1229"/>
            <p14:sldId id="2147483642"/>
            <p14:sldId id="1230"/>
            <p14:sldId id="1231"/>
            <p14:sldId id="1232"/>
            <p14:sldId id="1233"/>
            <p14:sldId id="1234"/>
            <p14:sldId id="1235"/>
            <p14:sldId id="1264"/>
            <p14:sldId id="1253"/>
            <p14:sldId id="1255"/>
            <p14:sldId id="1265"/>
            <p14:sldId id="1254"/>
            <p14:sldId id="2147483643"/>
            <p14:sldId id="12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00"/>
    <a:srgbClr val="006393"/>
    <a:srgbClr val="006B8E"/>
    <a:srgbClr val="002060"/>
    <a:srgbClr val="BFEFFF"/>
    <a:srgbClr val="F9C295"/>
    <a:srgbClr val="FEE3C6"/>
    <a:srgbClr val="FFF1C5"/>
    <a:srgbClr val="1773AB"/>
    <a:srgbClr val="2B6B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299757-97A7-45CB-A4B4-5C97364269D7}" v="105" dt="2026-06-23T23:55:47.879"/>
  </p1510:revLst>
</p1510:revInfo>
</file>

<file path=ppt/tableStyles.xml><?xml version="1.0" encoding="utf-8"?>
<a:tblStyleLst xmlns:a="http://schemas.openxmlformats.org/drawingml/2006/main" def="{2D5ABB26-0587-4C30-8999-92F81FD0307C}">
  <a:tblStyle styleId="{9D7B26C5-4107-4FEC-AEDC-1716B250A1EF}" styleName="Light Style 1">
    <a:wholeTbl>
      <a:tcTxStyle>
        <a:fontRef idx="minor">
          <a:prstClr val="black"/>
        </a:fontRef>
        <a:schemeClr val="dk1"/>
      </a:tcTxStyle>
      <a:tcStyle>
        <a:tcBdr>
          <a:left>
            <a:ln>
              <a:noFill/>
            </a:ln>
          </a:left>
          <a:right>
            <a:ln>
              <a:noFill/>
            </a:ln>
          </a:right>
          <a:top>
            <a:ln>
              <a:noFill/>
            </a:ln>
          </a:top>
          <a:bottom>
            <a:ln>
              <a:noFill/>
            </a:ln>
          </a:bottom>
          <a:insideH>
            <a:ln w="9525" cmpd="sng">
              <a:solidFill>
                <a:schemeClr val="accent1"/>
              </a:solidFill>
            </a:ln>
          </a:insideH>
          <a:insideV>
            <a:ln>
              <a:noFill/>
            </a:ln>
          </a:insideV>
        </a:tcBdr>
        <a:fill>
          <a:noFill/>
        </a:fill>
      </a:tcStyle>
    </a:wholeTbl>
    <a:band1H>
      <a:tcStyle>
        <a:tcBdr>
          <a:top>
            <a:ln>
              <a:noFill/>
            </a:ln>
          </a:top>
          <a:bottom>
            <a:ln>
              <a:noFill/>
            </a:ln>
          </a:bottom>
        </a:tcBdr>
        <a:fill>
          <a:solidFill>
            <a:schemeClr val="dk2"/>
          </a:solidFill>
        </a:fill>
      </a:tcStyle>
    </a:band1H>
    <a:band2H>
      <a:tcStyle>
        <a:tcBdr/>
      </a:tcStyle>
    </a:band2H>
    <a:band1V>
      <a:tcStyle>
        <a:tcBdr/>
      </a:tcStyle>
    </a:band1V>
    <a:band2V>
      <a:tcStyle>
        <a:tcBdr/>
      </a:tcStyle>
    </a:band2V>
    <a:firstCol>
      <a:tcTxStyle b="on"/>
      <a:tcStyle>
        <a:tcBdr/>
      </a:tcStyle>
    </a:firstCol>
    <a:lastRow>
      <a:tcTxStyle b="on">
        <a:fontRef idx="minor">
          <a:prstClr val="black"/>
        </a:fontRef>
        <a:schemeClr val="lt1"/>
      </a:tcTxStyle>
      <a:tcStyle>
        <a:tcBdr>
          <a:top>
            <a:ln w="19050" cmpd="sng">
              <a:solidFill>
                <a:schemeClr val="lt1"/>
              </a:solidFill>
            </a:ln>
          </a:top>
        </a:tcBdr>
        <a:fill>
          <a:solidFill>
            <a:schemeClr val="accent3"/>
          </a:solidFill>
        </a:fill>
      </a:tcStyle>
    </a:lastRow>
    <a:firstRow>
      <a:tcTxStyle b="on">
        <a:fontRef idx="minor">
          <a:prstClr val="black"/>
        </a:fontRef>
        <a:schemeClr val="accent3"/>
      </a:tcTxStyle>
      <a:tcStyle>
        <a:tcBdr>
          <a:bottom>
            <a:ln w="19050" cmpd="sng">
              <a:solidFill>
                <a:schemeClr val="dk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6/11/relationships/changesInfo" Target="changesInfos/changesInfo1.xml"/><Relationship Id="rId61" Type="http://schemas.openxmlformats.org/officeDocument/2006/relationships/slide" Target="slides/slide57.xml"/><Relationship Id="rId8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itrón, Sebastián" userId="5098bc64-db8b-4fcb-a68b-25697ee0c499" providerId="ADAL" clId="{25F0B758-49CE-4457-92FF-812A8EFF2E6F}"/>
    <pc:docChg chg="undo custSel addSld delSld modSld modSection">
      <pc:chgData name="Huitrón, Sebastián" userId="5098bc64-db8b-4fcb-a68b-25697ee0c499" providerId="ADAL" clId="{25F0B758-49CE-4457-92FF-812A8EFF2E6F}" dt="2026-06-23T23:55:47.879" v="246"/>
      <pc:docMkLst>
        <pc:docMk/>
      </pc:docMkLst>
      <pc:sldChg chg="modSp mod">
        <pc:chgData name="Huitrón, Sebastián" userId="5098bc64-db8b-4fcb-a68b-25697ee0c499" providerId="ADAL" clId="{25F0B758-49CE-4457-92FF-812A8EFF2E6F}" dt="2026-06-23T23:55:39.016" v="131"/>
        <pc:sldMkLst>
          <pc:docMk/>
          <pc:sldMk cId="2613164174" sldId="256"/>
        </pc:sldMkLst>
        <pc:graphicFrameChg chg="mod">
          <ac:chgData name="Huitrón, Sebastián" userId="5098bc64-db8b-4fcb-a68b-25697ee0c499" providerId="ADAL" clId="{25F0B758-49CE-4457-92FF-812A8EFF2E6F}" dt="2026-06-23T23:55:39.016" v="131"/>
          <ac:graphicFrameMkLst>
            <pc:docMk/>
            <pc:sldMk cId="2613164174" sldId="256"/>
            <ac:graphicFrameMk id="16" creationId="{3D9E8D5F-A0F8-BAA1-4722-29C2236EF177}"/>
          </ac:graphicFrameMkLst>
        </pc:graphicFrameChg>
      </pc:sldChg>
      <pc:sldChg chg="modSp mod">
        <pc:chgData name="Huitrón, Sebastián" userId="5098bc64-db8b-4fcb-a68b-25697ee0c499" providerId="ADAL" clId="{25F0B758-49CE-4457-92FF-812A8EFF2E6F}" dt="2026-06-23T23:55:39.173" v="147"/>
        <pc:sldMkLst>
          <pc:docMk/>
          <pc:sldMk cId="693059941" sldId="257"/>
        </pc:sldMkLst>
        <pc:graphicFrameChg chg="mod">
          <ac:chgData name="Huitrón, Sebastián" userId="5098bc64-db8b-4fcb-a68b-25697ee0c499" providerId="ADAL" clId="{25F0B758-49CE-4457-92FF-812A8EFF2E6F}" dt="2026-06-23T23:55:39.173" v="147"/>
          <ac:graphicFrameMkLst>
            <pc:docMk/>
            <pc:sldMk cId="693059941" sldId="257"/>
            <ac:graphicFrameMk id="14" creationId="{A839038D-DD0E-A942-06F6-3487014289EA}"/>
          </ac:graphicFrameMkLst>
        </pc:graphicFrameChg>
      </pc:sldChg>
      <pc:sldChg chg="modSp mod">
        <pc:chgData name="Huitrón, Sebastián" userId="5098bc64-db8b-4fcb-a68b-25697ee0c499" providerId="ADAL" clId="{25F0B758-49CE-4457-92FF-812A8EFF2E6F}" dt="2026-06-23T23:55:39.221" v="153"/>
        <pc:sldMkLst>
          <pc:docMk/>
          <pc:sldMk cId="283695263" sldId="258"/>
        </pc:sldMkLst>
        <pc:graphicFrameChg chg="mod">
          <ac:chgData name="Huitrón, Sebastián" userId="5098bc64-db8b-4fcb-a68b-25697ee0c499" providerId="ADAL" clId="{25F0B758-49CE-4457-92FF-812A8EFF2E6F}" dt="2026-06-23T23:55:39.221" v="153"/>
          <ac:graphicFrameMkLst>
            <pc:docMk/>
            <pc:sldMk cId="283695263" sldId="258"/>
            <ac:graphicFrameMk id="15" creationId="{F06FCE1D-3FF8-3447-4579-2E28F1F9D178}"/>
          </ac:graphicFrameMkLst>
        </pc:graphicFrameChg>
      </pc:sldChg>
      <pc:sldChg chg="modSp mod">
        <pc:chgData name="Huitrón, Sebastián" userId="5098bc64-db8b-4fcb-a68b-25697ee0c499" providerId="ADAL" clId="{25F0B758-49CE-4457-92FF-812A8EFF2E6F}" dt="2026-06-23T23:55:39.205" v="151"/>
        <pc:sldMkLst>
          <pc:docMk/>
          <pc:sldMk cId="1990475571" sldId="259"/>
        </pc:sldMkLst>
        <pc:graphicFrameChg chg="mod">
          <ac:chgData name="Huitrón, Sebastián" userId="5098bc64-db8b-4fcb-a68b-25697ee0c499" providerId="ADAL" clId="{25F0B758-49CE-4457-92FF-812A8EFF2E6F}" dt="2026-06-23T23:55:39.205" v="151"/>
          <ac:graphicFrameMkLst>
            <pc:docMk/>
            <pc:sldMk cId="1990475571" sldId="259"/>
            <ac:graphicFrameMk id="18" creationId="{EC5E641C-4E6D-94CA-BECE-D3CE68962F11}"/>
          </ac:graphicFrameMkLst>
        </pc:graphicFrameChg>
      </pc:sldChg>
      <pc:sldChg chg="modSp mod">
        <pc:chgData name="Huitrón, Sebastián" userId="5098bc64-db8b-4fcb-a68b-25697ee0c499" providerId="ADAL" clId="{25F0B758-49CE-4457-92FF-812A8EFF2E6F}" dt="2026-06-23T23:55:39.236" v="157"/>
        <pc:sldMkLst>
          <pc:docMk/>
          <pc:sldMk cId="3470888963" sldId="260"/>
        </pc:sldMkLst>
        <pc:graphicFrameChg chg="mod">
          <ac:chgData name="Huitrón, Sebastián" userId="5098bc64-db8b-4fcb-a68b-25697ee0c499" providerId="ADAL" clId="{25F0B758-49CE-4457-92FF-812A8EFF2E6F}" dt="2026-06-23T23:55:39.236" v="157"/>
          <ac:graphicFrameMkLst>
            <pc:docMk/>
            <pc:sldMk cId="3470888963" sldId="260"/>
            <ac:graphicFrameMk id="14" creationId="{1D3EEBA5-5E90-DBCB-27CC-BD05C0490567}"/>
          </ac:graphicFrameMkLst>
        </pc:graphicFrameChg>
      </pc:sldChg>
      <pc:sldChg chg="modSp mod">
        <pc:chgData name="Huitrón, Sebastián" userId="5098bc64-db8b-4fcb-a68b-25697ee0c499" providerId="ADAL" clId="{25F0B758-49CE-4457-92FF-812A8EFF2E6F}" dt="2026-06-23T23:55:39.064" v="133"/>
        <pc:sldMkLst>
          <pc:docMk/>
          <pc:sldMk cId="1259857571" sldId="262"/>
        </pc:sldMkLst>
        <pc:graphicFrameChg chg="mod">
          <ac:chgData name="Huitrón, Sebastián" userId="5098bc64-db8b-4fcb-a68b-25697ee0c499" providerId="ADAL" clId="{25F0B758-49CE-4457-92FF-812A8EFF2E6F}" dt="2026-06-23T23:55:39.064" v="133"/>
          <ac:graphicFrameMkLst>
            <pc:docMk/>
            <pc:sldMk cId="1259857571" sldId="262"/>
            <ac:graphicFrameMk id="23" creationId="{44C15CFB-AA61-1B57-464B-A23F176BCAF1}"/>
          </ac:graphicFrameMkLst>
        </pc:graphicFrameChg>
      </pc:sldChg>
      <pc:sldChg chg="modSp mod">
        <pc:chgData name="Huitrón, Sebastián" userId="5098bc64-db8b-4fcb-a68b-25697ee0c499" providerId="ADAL" clId="{25F0B758-49CE-4457-92FF-812A8EFF2E6F}" dt="2026-06-23T23:55:38.938" v="121"/>
        <pc:sldMkLst>
          <pc:docMk/>
          <pc:sldMk cId="2321381293" sldId="268"/>
        </pc:sldMkLst>
        <pc:graphicFrameChg chg="mod">
          <ac:chgData name="Huitrón, Sebastián" userId="5098bc64-db8b-4fcb-a68b-25697ee0c499" providerId="ADAL" clId="{25F0B758-49CE-4457-92FF-812A8EFF2E6F}" dt="2026-06-23T23:55:38.938" v="121"/>
          <ac:graphicFrameMkLst>
            <pc:docMk/>
            <pc:sldMk cId="2321381293" sldId="268"/>
            <ac:graphicFrameMk id="14" creationId="{DFEE25B2-9502-DEC2-82CE-109EA56D9D27}"/>
          </ac:graphicFrameMkLst>
        </pc:graphicFrameChg>
      </pc:sldChg>
      <pc:sldChg chg="modSp mod">
        <pc:chgData name="Huitrón, Sebastián" userId="5098bc64-db8b-4fcb-a68b-25697ee0c499" providerId="ADAL" clId="{25F0B758-49CE-4457-92FF-812A8EFF2E6F}" dt="2026-06-23T23:55:47.879" v="246"/>
        <pc:sldMkLst>
          <pc:docMk/>
          <pc:sldMk cId="2756285602" sldId="270"/>
        </pc:sldMkLst>
        <pc:spChg chg="mod">
          <ac:chgData name="Huitrón, Sebastián" userId="5098bc64-db8b-4fcb-a68b-25697ee0c499" providerId="ADAL" clId="{25F0B758-49CE-4457-92FF-812A8EFF2E6F}" dt="2026-06-23T23:55:47.862" v="244" actId="299"/>
          <ac:spMkLst>
            <pc:docMk/>
            <pc:sldMk cId="2756285602" sldId="270"/>
            <ac:spMk id="2" creationId="{0207761D-6E59-7DC6-7811-51BBB7BB5A21}"/>
          </ac:spMkLst>
        </pc:spChg>
        <pc:graphicFrameChg chg="mod">
          <ac:chgData name="Huitrón, Sebastián" userId="5098bc64-db8b-4fcb-a68b-25697ee0c499" providerId="ADAL" clId="{25F0B758-49CE-4457-92FF-812A8EFF2E6F}" dt="2026-06-23T23:55:47.879" v="246"/>
          <ac:graphicFrameMkLst>
            <pc:docMk/>
            <pc:sldMk cId="2756285602" sldId="270"/>
            <ac:graphicFrameMk id="15" creationId="{0DDF3BF6-595F-48D2-D04C-424C640FC492}"/>
          </ac:graphicFrameMkLst>
        </pc:graphicFrameChg>
      </pc:sldChg>
      <pc:sldChg chg="modSp mod">
        <pc:chgData name="Huitrón, Sebastián" userId="5098bc64-db8b-4fcb-a68b-25697ee0c499" providerId="ADAL" clId="{25F0B758-49CE-4457-92FF-812A8EFF2E6F}" dt="2026-06-23T23:55:38.780" v="101"/>
        <pc:sldMkLst>
          <pc:docMk/>
          <pc:sldMk cId="1070259057" sldId="292"/>
        </pc:sldMkLst>
        <pc:graphicFrameChg chg="mod">
          <ac:chgData name="Huitrón, Sebastián" userId="5098bc64-db8b-4fcb-a68b-25697ee0c499" providerId="ADAL" clId="{25F0B758-49CE-4457-92FF-812A8EFF2E6F}" dt="2026-06-23T23:55:38.780" v="101"/>
          <ac:graphicFrameMkLst>
            <pc:docMk/>
            <pc:sldMk cId="1070259057" sldId="292"/>
            <ac:graphicFrameMk id="33" creationId="{5504781B-C86C-84A2-FF6E-AC30446C81C9}"/>
          </ac:graphicFrameMkLst>
        </pc:graphicFrameChg>
      </pc:sldChg>
      <pc:sldChg chg="modSp mod">
        <pc:chgData name="Huitrón, Sebastián" userId="5098bc64-db8b-4fcb-a68b-25697ee0c499" providerId="ADAL" clId="{25F0B758-49CE-4457-92FF-812A8EFF2E6F}" dt="2026-06-23T23:55:39.505" v="191"/>
        <pc:sldMkLst>
          <pc:docMk/>
          <pc:sldMk cId="224048733" sldId="323"/>
        </pc:sldMkLst>
        <pc:graphicFrameChg chg="mod">
          <ac:chgData name="Huitrón, Sebastián" userId="5098bc64-db8b-4fcb-a68b-25697ee0c499" providerId="ADAL" clId="{25F0B758-49CE-4457-92FF-812A8EFF2E6F}" dt="2026-06-23T23:55:39.505" v="191"/>
          <ac:graphicFrameMkLst>
            <pc:docMk/>
            <pc:sldMk cId="224048733" sldId="323"/>
            <ac:graphicFrameMk id="23" creationId="{F9F4BE31-F268-5016-5509-D407AD21111E}"/>
          </ac:graphicFrameMkLst>
        </pc:graphicFrameChg>
      </pc:sldChg>
      <pc:sldChg chg="modSp mod">
        <pc:chgData name="Huitrón, Sebastián" userId="5098bc64-db8b-4fcb-a68b-25697ee0c499" providerId="ADAL" clId="{25F0B758-49CE-4457-92FF-812A8EFF2E6F}" dt="2026-06-23T23:55:39.300" v="165"/>
        <pc:sldMkLst>
          <pc:docMk/>
          <pc:sldMk cId="4241029118" sldId="364"/>
        </pc:sldMkLst>
        <pc:graphicFrameChg chg="mod">
          <ac:chgData name="Huitrón, Sebastián" userId="5098bc64-db8b-4fcb-a68b-25697ee0c499" providerId="ADAL" clId="{25F0B758-49CE-4457-92FF-812A8EFF2E6F}" dt="2026-06-23T23:55:39.300" v="165"/>
          <ac:graphicFrameMkLst>
            <pc:docMk/>
            <pc:sldMk cId="4241029118" sldId="364"/>
            <ac:graphicFrameMk id="31" creationId="{68618EF8-A430-F3C0-DF21-EDAD88720585}"/>
          </ac:graphicFrameMkLst>
        </pc:graphicFrameChg>
      </pc:sldChg>
      <pc:sldChg chg="modSp mod">
        <pc:chgData name="Huitrón, Sebastián" userId="5098bc64-db8b-4fcb-a68b-25697ee0c499" providerId="ADAL" clId="{25F0B758-49CE-4457-92FF-812A8EFF2E6F}" dt="2026-06-23T23:55:39.094" v="137"/>
        <pc:sldMkLst>
          <pc:docMk/>
          <pc:sldMk cId="3003118439" sldId="1161"/>
        </pc:sldMkLst>
        <pc:graphicFrameChg chg="mod">
          <ac:chgData name="Huitrón, Sebastián" userId="5098bc64-db8b-4fcb-a68b-25697ee0c499" providerId="ADAL" clId="{25F0B758-49CE-4457-92FF-812A8EFF2E6F}" dt="2026-06-23T23:55:39.094" v="137"/>
          <ac:graphicFrameMkLst>
            <pc:docMk/>
            <pc:sldMk cId="3003118439" sldId="1161"/>
            <ac:graphicFrameMk id="36" creationId="{45E6D372-6AF0-C5F4-EE92-8E3C81C8DFC1}"/>
          </ac:graphicFrameMkLst>
        </pc:graphicFrameChg>
      </pc:sldChg>
      <pc:sldChg chg="modSp mod">
        <pc:chgData name="Huitrón, Sebastián" userId="5098bc64-db8b-4fcb-a68b-25697ee0c499" providerId="ADAL" clId="{25F0B758-49CE-4457-92FF-812A8EFF2E6F}" dt="2026-06-23T23:55:39" v="129"/>
        <pc:sldMkLst>
          <pc:docMk/>
          <pc:sldMk cId="1119691474" sldId="1165"/>
        </pc:sldMkLst>
        <pc:graphicFrameChg chg="mod">
          <ac:chgData name="Huitrón, Sebastián" userId="5098bc64-db8b-4fcb-a68b-25697ee0c499" providerId="ADAL" clId="{25F0B758-49CE-4457-92FF-812A8EFF2E6F}" dt="2026-06-23T23:55:39" v="129"/>
          <ac:graphicFrameMkLst>
            <pc:docMk/>
            <pc:sldMk cId="1119691474" sldId="1165"/>
            <ac:graphicFrameMk id="25" creationId="{2CB5EF8C-E84A-FA4A-AD32-859487E25D8B}"/>
          </ac:graphicFrameMkLst>
        </pc:graphicFrameChg>
      </pc:sldChg>
      <pc:sldChg chg="modSp mod">
        <pc:chgData name="Huitrón, Sebastián" userId="5098bc64-db8b-4fcb-a68b-25697ee0c499" providerId="ADAL" clId="{25F0B758-49CE-4457-92FF-812A8EFF2E6F}" dt="2026-06-23T23:55:39.264" v="159"/>
        <pc:sldMkLst>
          <pc:docMk/>
          <pc:sldMk cId="943604930" sldId="1180"/>
        </pc:sldMkLst>
        <pc:graphicFrameChg chg="mod">
          <ac:chgData name="Huitrón, Sebastián" userId="5098bc64-db8b-4fcb-a68b-25697ee0c499" providerId="ADAL" clId="{25F0B758-49CE-4457-92FF-812A8EFF2E6F}" dt="2026-06-23T23:55:39.264" v="159"/>
          <ac:graphicFrameMkLst>
            <pc:docMk/>
            <pc:sldMk cId="943604930" sldId="1180"/>
            <ac:graphicFrameMk id="23" creationId="{5449B5C5-F30F-FDFE-4C68-EEFEA6FDAA42}"/>
          </ac:graphicFrameMkLst>
        </pc:graphicFrameChg>
      </pc:sldChg>
      <pc:sldChg chg="modSp mod">
        <pc:chgData name="Huitrón, Sebastián" userId="5098bc64-db8b-4fcb-a68b-25697ee0c499" providerId="ADAL" clId="{25F0B758-49CE-4457-92FF-812A8EFF2E6F}" dt="2026-06-23T23:55:39.142" v="143"/>
        <pc:sldMkLst>
          <pc:docMk/>
          <pc:sldMk cId="2587976977" sldId="1183"/>
        </pc:sldMkLst>
        <pc:graphicFrameChg chg="mod">
          <ac:chgData name="Huitrón, Sebastián" userId="5098bc64-db8b-4fcb-a68b-25697ee0c499" providerId="ADAL" clId="{25F0B758-49CE-4457-92FF-812A8EFF2E6F}" dt="2026-06-23T23:55:39.142" v="143"/>
          <ac:graphicFrameMkLst>
            <pc:docMk/>
            <pc:sldMk cId="2587976977" sldId="1183"/>
            <ac:graphicFrameMk id="44" creationId="{F4E80406-82AC-D5C5-0818-B0D7B2CDBDAA}"/>
          </ac:graphicFrameMkLst>
        </pc:graphicFrameChg>
      </pc:sldChg>
      <pc:sldChg chg="modSp mod">
        <pc:chgData name="Huitrón, Sebastián" userId="5098bc64-db8b-4fcb-a68b-25697ee0c499" providerId="ADAL" clId="{25F0B758-49CE-4457-92FF-812A8EFF2E6F}" dt="2026-06-23T23:55:39.157" v="145"/>
        <pc:sldMkLst>
          <pc:docMk/>
          <pc:sldMk cId="973900265" sldId="1185"/>
        </pc:sldMkLst>
        <pc:graphicFrameChg chg="mod">
          <ac:chgData name="Huitrón, Sebastián" userId="5098bc64-db8b-4fcb-a68b-25697ee0c499" providerId="ADAL" clId="{25F0B758-49CE-4457-92FF-812A8EFF2E6F}" dt="2026-06-23T23:55:39.157" v="145"/>
          <ac:graphicFrameMkLst>
            <pc:docMk/>
            <pc:sldMk cId="973900265" sldId="1185"/>
            <ac:graphicFrameMk id="44" creationId="{F4E80406-82AC-D5C5-0818-B0D7B2CDBDAA}"/>
          </ac:graphicFrameMkLst>
        </pc:graphicFrameChg>
      </pc:sldChg>
      <pc:sldChg chg="modSp mod">
        <pc:chgData name="Huitrón, Sebastián" userId="5098bc64-db8b-4fcb-a68b-25697ee0c499" providerId="ADAL" clId="{25F0B758-49CE-4457-92FF-812A8EFF2E6F}" dt="2026-06-23T23:55:39.285" v="163"/>
        <pc:sldMkLst>
          <pc:docMk/>
          <pc:sldMk cId="4239127365" sldId="1186"/>
        </pc:sldMkLst>
        <pc:graphicFrameChg chg="mod">
          <ac:chgData name="Huitrón, Sebastián" userId="5098bc64-db8b-4fcb-a68b-25697ee0c499" providerId="ADAL" clId="{25F0B758-49CE-4457-92FF-812A8EFF2E6F}" dt="2026-06-23T23:55:39.285" v="163"/>
          <ac:graphicFrameMkLst>
            <pc:docMk/>
            <pc:sldMk cId="4239127365" sldId="1186"/>
            <ac:graphicFrameMk id="23" creationId="{5449B5C5-F30F-FDFE-4C68-EEFEA6FDAA42}"/>
          </ac:graphicFrameMkLst>
        </pc:graphicFrameChg>
      </pc:sldChg>
      <pc:sldChg chg="modSp mod">
        <pc:chgData name="Huitrón, Sebastián" userId="5098bc64-db8b-4fcb-a68b-25697ee0c499" providerId="ADAL" clId="{25F0B758-49CE-4457-92FF-812A8EFF2E6F}" dt="2026-06-23T23:55:39.473" v="187"/>
        <pc:sldMkLst>
          <pc:docMk/>
          <pc:sldMk cId="3365547499" sldId="1195"/>
        </pc:sldMkLst>
        <pc:graphicFrameChg chg="mod">
          <ac:chgData name="Huitrón, Sebastián" userId="5098bc64-db8b-4fcb-a68b-25697ee0c499" providerId="ADAL" clId="{25F0B758-49CE-4457-92FF-812A8EFF2E6F}" dt="2026-06-23T23:55:39.473" v="187"/>
          <ac:graphicFrameMkLst>
            <pc:docMk/>
            <pc:sldMk cId="3365547499" sldId="1195"/>
            <ac:graphicFrameMk id="44" creationId="{F4E80406-82AC-D5C5-0818-B0D7B2CDBDAA}"/>
          </ac:graphicFrameMkLst>
        </pc:graphicFrameChg>
      </pc:sldChg>
      <pc:sldChg chg="modSp mod">
        <pc:chgData name="Huitrón, Sebastián" userId="5098bc64-db8b-4fcb-a68b-25697ee0c499" providerId="ADAL" clId="{25F0B758-49CE-4457-92FF-812A8EFF2E6F}" dt="2026-06-23T23:55:39.568" v="199"/>
        <pc:sldMkLst>
          <pc:docMk/>
          <pc:sldMk cId="1376807477" sldId="1198"/>
        </pc:sldMkLst>
        <pc:graphicFrameChg chg="mod">
          <ac:chgData name="Huitrón, Sebastián" userId="5098bc64-db8b-4fcb-a68b-25697ee0c499" providerId="ADAL" clId="{25F0B758-49CE-4457-92FF-812A8EFF2E6F}" dt="2026-06-23T23:55:39.568" v="199"/>
          <ac:graphicFrameMkLst>
            <pc:docMk/>
            <pc:sldMk cId="1376807477" sldId="1198"/>
            <ac:graphicFrameMk id="44" creationId="{F4E80406-82AC-D5C5-0818-B0D7B2CDBDAA}"/>
          </ac:graphicFrameMkLst>
        </pc:graphicFrameChg>
      </pc:sldChg>
      <pc:sldChg chg="modSp mod">
        <pc:chgData name="Huitrón, Sebastián" userId="5098bc64-db8b-4fcb-a68b-25697ee0c499" providerId="ADAL" clId="{25F0B758-49CE-4457-92FF-812A8EFF2E6F}" dt="2026-06-23T23:55:39.079" v="135"/>
        <pc:sldMkLst>
          <pc:docMk/>
          <pc:sldMk cId="2203290228" sldId="1201"/>
        </pc:sldMkLst>
        <pc:graphicFrameChg chg="mod">
          <ac:chgData name="Huitrón, Sebastián" userId="5098bc64-db8b-4fcb-a68b-25697ee0c499" providerId="ADAL" clId="{25F0B758-49CE-4457-92FF-812A8EFF2E6F}" dt="2026-06-23T23:55:39.079" v="135"/>
          <ac:graphicFrameMkLst>
            <pc:docMk/>
            <pc:sldMk cId="2203290228" sldId="1201"/>
            <ac:graphicFrameMk id="44" creationId="{F4E80406-82AC-D5C5-0818-B0D7B2CDBDAA}"/>
          </ac:graphicFrameMkLst>
        </pc:graphicFrameChg>
      </pc:sldChg>
      <pc:sldChg chg="modSp mod">
        <pc:chgData name="Huitrón, Sebastián" userId="5098bc64-db8b-4fcb-a68b-25697ee0c499" providerId="ADAL" clId="{25F0B758-49CE-4457-92FF-812A8EFF2E6F}" dt="2026-06-23T23:55:39.110" v="139"/>
        <pc:sldMkLst>
          <pc:docMk/>
          <pc:sldMk cId="1754922275" sldId="1202"/>
        </pc:sldMkLst>
        <pc:graphicFrameChg chg="mod">
          <ac:chgData name="Huitrón, Sebastián" userId="5098bc64-db8b-4fcb-a68b-25697ee0c499" providerId="ADAL" clId="{25F0B758-49CE-4457-92FF-812A8EFF2E6F}" dt="2026-06-23T23:55:39.110" v="139"/>
          <ac:graphicFrameMkLst>
            <pc:docMk/>
            <pc:sldMk cId="1754922275" sldId="1202"/>
            <ac:graphicFrameMk id="31" creationId="{68618EF8-A430-F3C0-DF21-EDAD88720585}"/>
          </ac:graphicFrameMkLst>
        </pc:graphicFrameChg>
      </pc:sldChg>
      <pc:sldChg chg="modSp mod">
        <pc:chgData name="Huitrón, Sebastián" userId="5098bc64-db8b-4fcb-a68b-25697ee0c499" providerId="ADAL" clId="{25F0B758-49CE-4457-92FF-812A8EFF2E6F}" dt="2026-06-23T23:55:39.128" v="141"/>
        <pc:sldMkLst>
          <pc:docMk/>
          <pc:sldMk cId="640648123" sldId="1203"/>
        </pc:sldMkLst>
        <pc:graphicFrameChg chg="mod">
          <ac:chgData name="Huitrón, Sebastián" userId="5098bc64-db8b-4fcb-a68b-25697ee0c499" providerId="ADAL" clId="{25F0B758-49CE-4457-92FF-812A8EFF2E6F}" dt="2026-06-23T23:55:39.128" v="141"/>
          <ac:graphicFrameMkLst>
            <pc:docMk/>
            <pc:sldMk cId="640648123" sldId="1203"/>
            <ac:graphicFrameMk id="35" creationId="{7E51030A-8CDF-9CEF-798E-AB65EADBFEBB}"/>
          </ac:graphicFrameMkLst>
        </pc:graphicFrameChg>
      </pc:sldChg>
      <pc:sldChg chg="modSp mod">
        <pc:chgData name="Huitrón, Sebastián" userId="5098bc64-db8b-4fcb-a68b-25697ee0c499" providerId="ADAL" clId="{25F0B758-49CE-4457-92FF-812A8EFF2E6F}" dt="2026-06-23T23:55:39.221" v="155"/>
        <pc:sldMkLst>
          <pc:docMk/>
          <pc:sldMk cId="3175255121" sldId="1207"/>
        </pc:sldMkLst>
        <pc:graphicFrameChg chg="mod">
          <ac:chgData name="Huitrón, Sebastián" userId="5098bc64-db8b-4fcb-a68b-25697ee0c499" providerId="ADAL" clId="{25F0B758-49CE-4457-92FF-812A8EFF2E6F}" dt="2026-06-23T23:55:39.221" v="155"/>
          <ac:graphicFrameMkLst>
            <pc:docMk/>
            <pc:sldMk cId="3175255121" sldId="1207"/>
            <ac:graphicFrameMk id="7" creationId="{B41A6496-98CC-A232-03E1-560BD595A5BE}"/>
          </ac:graphicFrameMkLst>
        </pc:graphicFrameChg>
      </pc:sldChg>
      <pc:sldChg chg="modSp mod">
        <pc:chgData name="Huitrón, Sebastián" userId="5098bc64-db8b-4fcb-a68b-25697ee0c499" providerId="ADAL" clId="{25F0B758-49CE-4457-92FF-812A8EFF2E6F}" dt="2026-06-23T23:55:39.441" v="183"/>
        <pc:sldMkLst>
          <pc:docMk/>
          <pc:sldMk cId="2449679166" sldId="1209"/>
        </pc:sldMkLst>
        <pc:graphicFrameChg chg="mod">
          <ac:chgData name="Huitrón, Sebastián" userId="5098bc64-db8b-4fcb-a68b-25697ee0c499" providerId="ADAL" clId="{25F0B758-49CE-4457-92FF-812A8EFF2E6F}" dt="2026-06-23T23:55:39.441" v="183"/>
          <ac:graphicFrameMkLst>
            <pc:docMk/>
            <pc:sldMk cId="2449679166" sldId="1209"/>
            <ac:graphicFrameMk id="13" creationId="{069AE2A4-F2AB-65BC-0973-786D5BD7360B}"/>
          </ac:graphicFrameMkLst>
        </pc:graphicFrameChg>
      </pc:sldChg>
      <pc:sldChg chg="modSp mod">
        <pc:chgData name="Huitrón, Sebastián" userId="5098bc64-db8b-4fcb-a68b-25697ee0c499" providerId="ADAL" clId="{25F0B758-49CE-4457-92FF-812A8EFF2E6F}" dt="2026-06-23T23:55:38.921" v="119"/>
        <pc:sldMkLst>
          <pc:docMk/>
          <pc:sldMk cId="370590559" sldId="1216"/>
        </pc:sldMkLst>
        <pc:graphicFrameChg chg="mod">
          <ac:chgData name="Huitrón, Sebastián" userId="5098bc64-db8b-4fcb-a68b-25697ee0c499" providerId="ADAL" clId="{25F0B758-49CE-4457-92FF-812A8EFF2E6F}" dt="2026-06-23T23:55:38.921" v="119"/>
          <ac:graphicFrameMkLst>
            <pc:docMk/>
            <pc:sldMk cId="370590559" sldId="1216"/>
            <ac:graphicFrameMk id="14" creationId="{DFEE25B2-9502-DEC2-82CE-109EA56D9D27}"/>
          </ac:graphicFrameMkLst>
        </pc:graphicFrameChg>
      </pc:sldChg>
      <pc:sldChg chg="modSp mod">
        <pc:chgData name="Huitrón, Sebastián" userId="5098bc64-db8b-4fcb-a68b-25697ee0c499" providerId="ADAL" clId="{25F0B758-49CE-4457-92FF-812A8EFF2E6F}" dt="2026-06-23T23:55:39.189" v="149"/>
        <pc:sldMkLst>
          <pc:docMk/>
          <pc:sldMk cId="2392366688" sldId="1218"/>
        </pc:sldMkLst>
        <pc:graphicFrameChg chg="mod">
          <ac:chgData name="Huitrón, Sebastián" userId="5098bc64-db8b-4fcb-a68b-25697ee0c499" providerId="ADAL" clId="{25F0B758-49CE-4457-92FF-812A8EFF2E6F}" dt="2026-06-23T23:55:39.189" v="149"/>
          <ac:graphicFrameMkLst>
            <pc:docMk/>
            <pc:sldMk cId="2392366688" sldId="1218"/>
            <ac:graphicFrameMk id="35" creationId="{7E51030A-8CDF-9CEF-798E-AB65EADBFEBB}"/>
          </ac:graphicFrameMkLst>
        </pc:graphicFrameChg>
      </pc:sldChg>
      <pc:sldChg chg="modSp mod">
        <pc:chgData name="Huitrón, Sebastián" userId="5098bc64-db8b-4fcb-a68b-25697ee0c499" providerId="ADAL" clId="{25F0B758-49CE-4457-92FF-812A8EFF2E6F}" dt="2026-06-23T23:55:38.811" v="105"/>
        <pc:sldMkLst>
          <pc:docMk/>
          <pc:sldMk cId="2386881474" sldId="1220"/>
        </pc:sldMkLst>
        <pc:graphicFrameChg chg="mod">
          <ac:chgData name="Huitrón, Sebastián" userId="5098bc64-db8b-4fcb-a68b-25697ee0c499" providerId="ADAL" clId="{25F0B758-49CE-4457-92FF-812A8EFF2E6F}" dt="2026-06-23T23:55:38.811" v="105"/>
          <ac:graphicFrameMkLst>
            <pc:docMk/>
            <pc:sldMk cId="2386881474" sldId="1220"/>
            <ac:graphicFrameMk id="33" creationId="{5504781B-C86C-84A2-FF6E-AC30446C81C9}"/>
          </ac:graphicFrameMkLst>
        </pc:graphicFrameChg>
      </pc:sldChg>
      <pc:sldChg chg="modSp mod">
        <pc:chgData name="Huitrón, Sebastián" userId="5098bc64-db8b-4fcb-a68b-25697ee0c499" providerId="ADAL" clId="{25F0B758-49CE-4457-92FF-812A8EFF2E6F}" dt="2026-06-23T23:55:38.970" v="123"/>
        <pc:sldMkLst>
          <pc:docMk/>
          <pc:sldMk cId="211554192" sldId="1221"/>
        </pc:sldMkLst>
        <pc:graphicFrameChg chg="mod">
          <ac:chgData name="Huitrón, Sebastián" userId="5098bc64-db8b-4fcb-a68b-25697ee0c499" providerId="ADAL" clId="{25F0B758-49CE-4457-92FF-812A8EFF2E6F}" dt="2026-06-23T23:55:38.970" v="123"/>
          <ac:graphicFrameMkLst>
            <pc:docMk/>
            <pc:sldMk cId="211554192" sldId="1221"/>
            <ac:graphicFrameMk id="33" creationId="{5504781B-C86C-84A2-FF6E-AC30446C81C9}"/>
          </ac:graphicFrameMkLst>
        </pc:graphicFrameChg>
      </pc:sldChg>
      <pc:sldChg chg="modSp mod">
        <pc:chgData name="Huitrón, Sebastián" userId="5098bc64-db8b-4fcb-a68b-25697ee0c499" providerId="ADAL" clId="{25F0B758-49CE-4457-92FF-812A8EFF2E6F}" dt="2026-06-23T23:55:38.795" v="103"/>
        <pc:sldMkLst>
          <pc:docMk/>
          <pc:sldMk cId="3072553860" sldId="1222"/>
        </pc:sldMkLst>
        <pc:graphicFrameChg chg="mod">
          <ac:chgData name="Huitrón, Sebastián" userId="5098bc64-db8b-4fcb-a68b-25697ee0c499" providerId="ADAL" clId="{25F0B758-49CE-4457-92FF-812A8EFF2E6F}" dt="2026-06-23T23:55:38.795" v="103"/>
          <ac:graphicFrameMkLst>
            <pc:docMk/>
            <pc:sldMk cId="3072553860" sldId="1222"/>
            <ac:graphicFrameMk id="33" creationId="{5504781B-C86C-84A2-FF6E-AC30446C81C9}"/>
          </ac:graphicFrameMkLst>
        </pc:graphicFrameChg>
      </pc:sldChg>
      <pc:sldChg chg="modSp mod">
        <pc:chgData name="Huitrón, Sebastián" userId="5098bc64-db8b-4fcb-a68b-25697ee0c499" providerId="ADAL" clId="{25F0B758-49CE-4457-92FF-812A8EFF2E6F}" dt="2026-06-23T23:55:38.889" v="115"/>
        <pc:sldMkLst>
          <pc:docMk/>
          <pc:sldMk cId="420490457" sldId="1223"/>
        </pc:sldMkLst>
        <pc:graphicFrameChg chg="mod">
          <ac:chgData name="Huitrón, Sebastián" userId="5098bc64-db8b-4fcb-a68b-25697ee0c499" providerId="ADAL" clId="{25F0B758-49CE-4457-92FF-812A8EFF2E6F}" dt="2026-06-23T23:55:38.889" v="115"/>
          <ac:graphicFrameMkLst>
            <pc:docMk/>
            <pc:sldMk cId="420490457" sldId="1223"/>
            <ac:graphicFrameMk id="33" creationId="{5504781B-C86C-84A2-FF6E-AC30446C81C9}"/>
          </ac:graphicFrameMkLst>
        </pc:graphicFrameChg>
      </pc:sldChg>
      <pc:sldChg chg="modSp mod">
        <pc:chgData name="Huitrón, Sebastián" userId="5098bc64-db8b-4fcb-a68b-25697ee0c499" providerId="ADAL" clId="{25F0B758-49CE-4457-92FF-812A8EFF2E6F}" dt="2026-06-23T23:55:38.874" v="113"/>
        <pc:sldMkLst>
          <pc:docMk/>
          <pc:sldMk cId="1846741478" sldId="1224"/>
        </pc:sldMkLst>
        <pc:graphicFrameChg chg="mod">
          <ac:chgData name="Huitrón, Sebastián" userId="5098bc64-db8b-4fcb-a68b-25697ee0c499" providerId="ADAL" clId="{25F0B758-49CE-4457-92FF-812A8EFF2E6F}" dt="2026-06-23T23:55:38.874" v="113"/>
          <ac:graphicFrameMkLst>
            <pc:docMk/>
            <pc:sldMk cId="1846741478" sldId="1224"/>
            <ac:graphicFrameMk id="33" creationId="{5504781B-C86C-84A2-FF6E-AC30446C81C9}"/>
          </ac:graphicFrameMkLst>
        </pc:graphicFrameChg>
      </pc:sldChg>
      <pc:sldChg chg="modSp mod">
        <pc:chgData name="Huitrón, Sebastián" userId="5098bc64-db8b-4fcb-a68b-25697ee0c499" providerId="ADAL" clId="{25F0B758-49CE-4457-92FF-812A8EFF2E6F}" dt="2026-06-23T23:55:38.842" v="109"/>
        <pc:sldMkLst>
          <pc:docMk/>
          <pc:sldMk cId="3314928445" sldId="1225"/>
        </pc:sldMkLst>
        <pc:graphicFrameChg chg="mod">
          <ac:chgData name="Huitrón, Sebastián" userId="5098bc64-db8b-4fcb-a68b-25697ee0c499" providerId="ADAL" clId="{25F0B758-49CE-4457-92FF-812A8EFF2E6F}" dt="2026-06-23T23:55:38.842" v="109"/>
          <ac:graphicFrameMkLst>
            <pc:docMk/>
            <pc:sldMk cId="3314928445" sldId="1225"/>
            <ac:graphicFrameMk id="33" creationId="{5504781B-C86C-84A2-FF6E-AC30446C81C9}"/>
          </ac:graphicFrameMkLst>
        </pc:graphicFrameChg>
      </pc:sldChg>
      <pc:sldChg chg="modSp mod">
        <pc:chgData name="Huitrón, Sebastián" userId="5098bc64-db8b-4fcb-a68b-25697ee0c499" providerId="ADAL" clId="{25F0B758-49CE-4457-92FF-812A8EFF2E6F}" dt="2026-06-23T23:55:38.826" v="107"/>
        <pc:sldMkLst>
          <pc:docMk/>
          <pc:sldMk cId="711151800" sldId="1226"/>
        </pc:sldMkLst>
        <pc:graphicFrameChg chg="mod">
          <ac:chgData name="Huitrón, Sebastián" userId="5098bc64-db8b-4fcb-a68b-25697ee0c499" providerId="ADAL" clId="{25F0B758-49CE-4457-92FF-812A8EFF2E6F}" dt="2026-06-23T23:55:38.826" v="107"/>
          <ac:graphicFrameMkLst>
            <pc:docMk/>
            <pc:sldMk cId="711151800" sldId="1226"/>
            <ac:graphicFrameMk id="33" creationId="{5504781B-C86C-84A2-FF6E-AC30446C81C9}"/>
          </ac:graphicFrameMkLst>
        </pc:graphicFrameChg>
      </pc:sldChg>
      <pc:sldChg chg="modSp mod">
        <pc:chgData name="Huitrón, Sebastián" userId="5098bc64-db8b-4fcb-a68b-25697ee0c499" providerId="ADAL" clId="{25F0B758-49CE-4457-92FF-812A8EFF2E6F}" dt="2026-06-23T23:55:38.905" v="117"/>
        <pc:sldMkLst>
          <pc:docMk/>
          <pc:sldMk cId="3120231449" sldId="1227"/>
        </pc:sldMkLst>
        <pc:graphicFrameChg chg="mod">
          <ac:chgData name="Huitrón, Sebastián" userId="5098bc64-db8b-4fcb-a68b-25697ee0c499" providerId="ADAL" clId="{25F0B758-49CE-4457-92FF-812A8EFF2E6F}" dt="2026-06-23T23:55:38.905" v="117"/>
          <ac:graphicFrameMkLst>
            <pc:docMk/>
            <pc:sldMk cId="3120231449" sldId="1227"/>
            <ac:graphicFrameMk id="33" creationId="{5504781B-C86C-84A2-FF6E-AC30446C81C9}"/>
          </ac:graphicFrameMkLst>
        </pc:graphicFrameChg>
      </pc:sldChg>
      <pc:sldChg chg="modSp mod">
        <pc:chgData name="Huitrón, Sebastián" userId="5098bc64-db8b-4fcb-a68b-25697ee0c499" providerId="ADAL" clId="{25F0B758-49CE-4457-92FF-812A8EFF2E6F}" dt="2026-06-23T23:55:39" v="127"/>
        <pc:sldMkLst>
          <pc:docMk/>
          <pc:sldMk cId="3427369128" sldId="1228"/>
        </pc:sldMkLst>
        <pc:graphicFrameChg chg="mod">
          <ac:chgData name="Huitrón, Sebastián" userId="5098bc64-db8b-4fcb-a68b-25697ee0c499" providerId="ADAL" clId="{25F0B758-49CE-4457-92FF-812A8EFF2E6F}" dt="2026-06-23T23:55:39" v="127"/>
          <ac:graphicFrameMkLst>
            <pc:docMk/>
            <pc:sldMk cId="3427369128" sldId="1228"/>
            <ac:graphicFrameMk id="33" creationId="{5504781B-C86C-84A2-FF6E-AC30446C81C9}"/>
          </ac:graphicFrameMkLst>
        </pc:graphicFrameChg>
      </pc:sldChg>
      <pc:sldChg chg="modSp mod">
        <pc:chgData name="Huitrón, Sebastián" userId="5098bc64-db8b-4fcb-a68b-25697ee0c499" providerId="ADAL" clId="{25F0B758-49CE-4457-92FF-812A8EFF2E6F}" dt="2026-06-23T23:55:39.678" v="215"/>
        <pc:sldMkLst>
          <pc:docMk/>
          <pc:sldMk cId="2247677190" sldId="1229"/>
        </pc:sldMkLst>
        <pc:graphicFrameChg chg="mod">
          <ac:chgData name="Huitrón, Sebastián" userId="5098bc64-db8b-4fcb-a68b-25697ee0c499" providerId="ADAL" clId="{25F0B758-49CE-4457-92FF-812A8EFF2E6F}" dt="2026-06-23T23:55:39.678" v="215"/>
          <ac:graphicFrameMkLst>
            <pc:docMk/>
            <pc:sldMk cId="2247677190" sldId="1229"/>
            <ac:graphicFrameMk id="33" creationId="{5504781B-C86C-84A2-FF6E-AC30446C81C9}"/>
          </ac:graphicFrameMkLst>
        </pc:graphicFrameChg>
      </pc:sldChg>
      <pc:sldChg chg="modSp mod">
        <pc:chgData name="Huitrón, Sebastián" userId="5098bc64-db8b-4fcb-a68b-25697ee0c499" providerId="ADAL" clId="{25F0B758-49CE-4457-92FF-812A8EFF2E6F}" dt="2026-06-23T23:55:39.714" v="219"/>
        <pc:sldMkLst>
          <pc:docMk/>
          <pc:sldMk cId="264610714" sldId="1230"/>
        </pc:sldMkLst>
        <pc:graphicFrameChg chg="mod">
          <ac:chgData name="Huitrón, Sebastián" userId="5098bc64-db8b-4fcb-a68b-25697ee0c499" providerId="ADAL" clId="{25F0B758-49CE-4457-92FF-812A8EFF2E6F}" dt="2026-06-23T23:55:39.714" v="219"/>
          <ac:graphicFrameMkLst>
            <pc:docMk/>
            <pc:sldMk cId="264610714" sldId="1230"/>
            <ac:graphicFrameMk id="33" creationId="{5504781B-C86C-84A2-FF6E-AC30446C81C9}"/>
          </ac:graphicFrameMkLst>
        </pc:graphicFrameChg>
      </pc:sldChg>
      <pc:sldChg chg="modSp mod">
        <pc:chgData name="Huitrón, Sebastián" userId="5098bc64-db8b-4fcb-a68b-25697ee0c499" providerId="ADAL" clId="{25F0B758-49CE-4457-92FF-812A8EFF2E6F}" dt="2026-06-23T23:55:39.665" v="213"/>
        <pc:sldMkLst>
          <pc:docMk/>
          <pc:sldMk cId="2456508797" sldId="1231"/>
        </pc:sldMkLst>
        <pc:graphicFrameChg chg="mod">
          <ac:chgData name="Huitrón, Sebastián" userId="5098bc64-db8b-4fcb-a68b-25697ee0c499" providerId="ADAL" clId="{25F0B758-49CE-4457-92FF-812A8EFF2E6F}" dt="2026-06-23T23:55:39.665" v="213"/>
          <ac:graphicFrameMkLst>
            <pc:docMk/>
            <pc:sldMk cId="2456508797" sldId="1231"/>
            <ac:graphicFrameMk id="33" creationId="{5504781B-C86C-84A2-FF6E-AC30446C81C9}"/>
          </ac:graphicFrameMkLst>
        </pc:graphicFrameChg>
      </pc:sldChg>
      <pc:sldChg chg="modSp mod">
        <pc:chgData name="Huitrón, Sebastián" userId="5098bc64-db8b-4fcb-a68b-25697ee0c499" providerId="ADAL" clId="{25F0B758-49CE-4457-92FF-812A8EFF2E6F}" dt="2026-06-23T23:55:39.730" v="221"/>
        <pc:sldMkLst>
          <pc:docMk/>
          <pc:sldMk cId="2042477511" sldId="1232"/>
        </pc:sldMkLst>
        <pc:graphicFrameChg chg="mod">
          <ac:chgData name="Huitrón, Sebastián" userId="5098bc64-db8b-4fcb-a68b-25697ee0c499" providerId="ADAL" clId="{25F0B758-49CE-4457-92FF-812A8EFF2E6F}" dt="2026-06-23T23:55:39.730" v="221"/>
          <ac:graphicFrameMkLst>
            <pc:docMk/>
            <pc:sldMk cId="2042477511" sldId="1232"/>
            <ac:graphicFrameMk id="33" creationId="{5504781B-C86C-84A2-FF6E-AC30446C81C9}"/>
          </ac:graphicFrameMkLst>
        </pc:graphicFrameChg>
      </pc:sldChg>
      <pc:sldChg chg="modSp mod">
        <pc:chgData name="Huitrón, Sebastián" userId="5098bc64-db8b-4fcb-a68b-25697ee0c499" providerId="ADAL" clId="{25F0B758-49CE-4457-92FF-812A8EFF2E6F}" dt="2026-06-23T23:55:39.749" v="223"/>
        <pc:sldMkLst>
          <pc:docMk/>
          <pc:sldMk cId="2095479878" sldId="1233"/>
        </pc:sldMkLst>
        <pc:graphicFrameChg chg="mod">
          <ac:chgData name="Huitrón, Sebastián" userId="5098bc64-db8b-4fcb-a68b-25697ee0c499" providerId="ADAL" clId="{25F0B758-49CE-4457-92FF-812A8EFF2E6F}" dt="2026-06-23T23:55:39.749" v="223"/>
          <ac:graphicFrameMkLst>
            <pc:docMk/>
            <pc:sldMk cId="2095479878" sldId="1233"/>
            <ac:graphicFrameMk id="33" creationId="{5504781B-C86C-84A2-FF6E-AC30446C81C9}"/>
          </ac:graphicFrameMkLst>
        </pc:graphicFrameChg>
      </pc:sldChg>
      <pc:sldChg chg="modSp mod">
        <pc:chgData name="Huitrón, Sebastián" userId="5098bc64-db8b-4fcb-a68b-25697ee0c499" providerId="ADAL" clId="{25F0B758-49CE-4457-92FF-812A8EFF2E6F}" dt="2026-06-23T23:55:39.776" v="227"/>
        <pc:sldMkLst>
          <pc:docMk/>
          <pc:sldMk cId="3002303419" sldId="1234"/>
        </pc:sldMkLst>
        <pc:graphicFrameChg chg="mod">
          <ac:chgData name="Huitrón, Sebastián" userId="5098bc64-db8b-4fcb-a68b-25697ee0c499" providerId="ADAL" clId="{25F0B758-49CE-4457-92FF-812A8EFF2E6F}" dt="2026-06-23T23:55:39.776" v="227"/>
          <ac:graphicFrameMkLst>
            <pc:docMk/>
            <pc:sldMk cId="3002303419" sldId="1234"/>
            <ac:graphicFrameMk id="33" creationId="{5504781B-C86C-84A2-FF6E-AC30446C81C9}"/>
          </ac:graphicFrameMkLst>
        </pc:graphicFrameChg>
      </pc:sldChg>
      <pc:sldChg chg="modSp mod">
        <pc:chgData name="Huitrón, Sebastián" userId="5098bc64-db8b-4fcb-a68b-25697ee0c499" providerId="ADAL" clId="{25F0B758-49CE-4457-92FF-812A8EFF2E6F}" dt="2026-06-23T23:55:39.765" v="225"/>
        <pc:sldMkLst>
          <pc:docMk/>
          <pc:sldMk cId="1765071722" sldId="1235"/>
        </pc:sldMkLst>
        <pc:graphicFrameChg chg="mod">
          <ac:chgData name="Huitrón, Sebastián" userId="5098bc64-db8b-4fcb-a68b-25697ee0c499" providerId="ADAL" clId="{25F0B758-49CE-4457-92FF-812A8EFF2E6F}" dt="2026-06-23T23:55:39.765" v="225"/>
          <ac:graphicFrameMkLst>
            <pc:docMk/>
            <pc:sldMk cId="1765071722" sldId="1235"/>
            <ac:graphicFrameMk id="33" creationId="{5504781B-C86C-84A2-FF6E-AC30446C81C9}"/>
          </ac:graphicFrameMkLst>
        </pc:graphicFrameChg>
      </pc:sldChg>
      <pc:sldChg chg="modSp mod">
        <pc:chgData name="Huitrón, Sebastián" userId="5098bc64-db8b-4fcb-a68b-25697ee0c499" providerId="ADAL" clId="{25F0B758-49CE-4457-92FF-812A8EFF2E6F}" dt="2026-06-23T23:55:39.871" v="239"/>
        <pc:sldMkLst>
          <pc:docMk/>
          <pc:sldMk cId="3377341929" sldId="1236"/>
        </pc:sldMkLst>
        <pc:graphicFrameChg chg="mod">
          <ac:chgData name="Huitrón, Sebastián" userId="5098bc64-db8b-4fcb-a68b-25697ee0c499" providerId="ADAL" clId="{25F0B758-49CE-4457-92FF-812A8EFF2E6F}" dt="2026-06-23T23:55:39.871" v="239"/>
          <ac:graphicFrameMkLst>
            <pc:docMk/>
            <pc:sldMk cId="3377341929" sldId="1236"/>
            <ac:graphicFrameMk id="33" creationId="{5504781B-C86C-84A2-FF6E-AC30446C81C9}"/>
          </ac:graphicFrameMkLst>
        </pc:graphicFrameChg>
      </pc:sldChg>
      <pc:sldChg chg="modSp mod">
        <pc:chgData name="Huitrón, Sebastián" userId="5098bc64-db8b-4fcb-a68b-25697ee0c499" providerId="ADAL" clId="{25F0B758-49CE-4457-92FF-812A8EFF2E6F}" dt="2026-06-23T23:55:38.747" v="99"/>
        <pc:sldMkLst>
          <pc:docMk/>
          <pc:sldMk cId="1262221018" sldId="1238"/>
        </pc:sldMkLst>
        <pc:graphicFrameChg chg="mod">
          <ac:chgData name="Huitrón, Sebastián" userId="5098bc64-db8b-4fcb-a68b-25697ee0c499" providerId="ADAL" clId="{25F0B758-49CE-4457-92FF-812A8EFF2E6F}" dt="2026-06-23T23:55:38.747" v="99"/>
          <ac:graphicFrameMkLst>
            <pc:docMk/>
            <pc:sldMk cId="1262221018" sldId="1238"/>
            <ac:graphicFrameMk id="14" creationId="{DFEE25B2-9502-DEC2-82CE-109EA56D9D27}"/>
          </ac:graphicFrameMkLst>
        </pc:graphicFrameChg>
      </pc:sldChg>
      <pc:sldChg chg="modSp mod">
        <pc:chgData name="Huitrón, Sebastián" userId="5098bc64-db8b-4fcb-a68b-25697ee0c499" providerId="ADAL" clId="{25F0B758-49CE-4457-92FF-812A8EFF2E6F}" dt="2026-06-23T23:55:39.270" v="161"/>
        <pc:sldMkLst>
          <pc:docMk/>
          <pc:sldMk cId="3617931631" sldId="1239"/>
        </pc:sldMkLst>
        <pc:graphicFrameChg chg="mod">
          <ac:chgData name="Huitrón, Sebastián" userId="5098bc64-db8b-4fcb-a68b-25697ee0c499" providerId="ADAL" clId="{25F0B758-49CE-4457-92FF-812A8EFF2E6F}" dt="2026-06-23T23:55:39.270" v="161"/>
          <ac:graphicFrameMkLst>
            <pc:docMk/>
            <pc:sldMk cId="3617931631" sldId="1239"/>
            <ac:graphicFrameMk id="23" creationId="{5449B5C5-F30F-FDFE-4C68-EEFEA6FDAA42}"/>
          </ac:graphicFrameMkLst>
        </pc:graphicFrameChg>
      </pc:sldChg>
      <pc:sldChg chg="modSp mod">
        <pc:chgData name="Huitrón, Sebastián" userId="5098bc64-db8b-4fcb-a68b-25697ee0c499" providerId="ADAL" clId="{25F0B758-49CE-4457-92FF-812A8EFF2E6F}" dt="2026-06-23T23:55:39.316" v="167"/>
        <pc:sldMkLst>
          <pc:docMk/>
          <pc:sldMk cId="690722279" sldId="1240"/>
        </pc:sldMkLst>
        <pc:graphicFrameChg chg="mod">
          <ac:chgData name="Huitrón, Sebastián" userId="5098bc64-db8b-4fcb-a68b-25697ee0c499" providerId="ADAL" clId="{25F0B758-49CE-4457-92FF-812A8EFF2E6F}" dt="2026-06-23T23:55:39.316" v="167"/>
          <ac:graphicFrameMkLst>
            <pc:docMk/>
            <pc:sldMk cId="690722279" sldId="1240"/>
            <ac:graphicFrameMk id="23" creationId="{5449B5C5-F30F-FDFE-4C68-EEFEA6FDAA42}"/>
          </ac:graphicFrameMkLst>
        </pc:graphicFrameChg>
      </pc:sldChg>
      <pc:sldChg chg="modSp mod">
        <pc:chgData name="Huitrón, Sebastián" userId="5098bc64-db8b-4fcb-a68b-25697ee0c499" providerId="ADAL" clId="{25F0B758-49CE-4457-92FF-812A8EFF2E6F}" dt="2026-06-23T23:55:39.364" v="173"/>
        <pc:sldMkLst>
          <pc:docMk/>
          <pc:sldMk cId="2622723213" sldId="1241"/>
        </pc:sldMkLst>
        <pc:graphicFrameChg chg="mod">
          <ac:chgData name="Huitrón, Sebastián" userId="5098bc64-db8b-4fcb-a68b-25697ee0c499" providerId="ADAL" clId="{25F0B758-49CE-4457-92FF-812A8EFF2E6F}" dt="2026-06-23T23:55:39.364" v="173"/>
          <ac:graphicFrameMkLst>
            <pc:docMk/>
            <pc:sldMk cId="2622723213" sldId="1241"/>
            <ac:graphicFrameMk id="44" creationId="{F4E80406-82AC-D5C5-0818-B0D7B2CDBDAA}"/>
          </ac:graphicFrameMkLst>
        </pc:graphicFrameChg>
      </pc:sldChg>
      <pc:sldChg chg="modSp mod">
        <pc:chgData name="Huitrón, Sebastián" userId="5098bc64-db8b-4fcb-a68b-25697ee0c499" providerId="ADAL" clId="{25F0B758-49CE-4457-92FF-812A8EFF2E6F}" dt="2026-06-23T23:55:39.331" v="169"/>
        <pc:sldMkLst>
          <pc:docMk/>
          <pc:sldMk cId="453684971" sldId="1242"/>
        </pc:sldMkLst>
        <pc:graphicFrameChg chg="mod">
          <ac:chgData name="Huitrón, Sebastián" userId="5098bc64-db8b-4fcb-a68b-25697ee0c499" providerId="ADAL" clId="{25F0B758-49CE-4457-92FF-812A8EFF2E6F}" dt="2026-06-23T23:55:39.331" v="169"/>
          <ac:graphicFrameMkLst>
            <pc:docMk/>
            <pc:sldMk cId="453684971" sldId="1242"/>
            <ac:graphicFrameMk id="44" creationId="{F4E80406-82AC-D5C5-0818-B0D7B2CDBDAA}"/>
          </ac:graphicFrameMkLst>
        </pc:graphicFrameChg>
      </pc:sldChg>
      <pc:sldChg chg="modSp mod">
        <pc:chgData name="Huitrón, Sebastián" userId="5098bc64-db8b-4fcb-a68b-25697ee0c499" providerId="ADAL" clId="{25F0B758-49CE-4457-92FF-812A8EFF2E6F}" dt="2026-06-23T23:55:39.378" v="175"/>
        <pc:sldMkLst>
          <pc:docMk/>
          <pc:sldMk cId="3878515398" sldId="1243"/>
        </pc:sldMkLst>
        <pc:graphicFrameChg chg="mod">
          <ac:chgData name="Huitrón, Sebastián" userId="5098bc64-db8b-4fcb-a68b-25697ee0c499" providerId="ADAL" clId="{25F0B758-49CE-4457-92FF-812A8EFF2E6F}" dt="2026-06-23T23:55:39.378" v="175"/>
          <ac:graphicFrameMkLst>
            <pc:docMk/>
            <pc:sldMk cId="3878515398" sldId="1243"/>
            <ac:graphicFrameMk id="44" creationId="{F4E80406-82AC-D5C5-0818-B0D7B2CDBDAA}"/>
          </ac:graphicFrameMkLst>
        </pc:graphicFrameChg>
      </pc:sldChg>
      <pc:sldChg chg="modSp mod">
        <pc:chgData name="Huitrón, Sebastián" userId="5098bc64-db8b-4fcb-a68b-25697ee0c499" providerId="ADAL" clId="{25F0B758-49CE-4457-92FF-812A8EFF2E6F}" dt="2026-06-23T23:55:39.347" v="171"/>
        <pc:sldMkLst>
          <pc:docMk/>
          <pc:sldMk cId="2840342852" sldId="1244"/>
        </pc:sldMkLst>
        <pc:graphicFrameChg chg="mod">
          <ac:chgData name="Huitrón, Sebastián" userId="5098bc64-db8b-4fcb-a68b-25697ee0c499" providerId="ADAL" clId="{25F0B758-49CE-4457-92FF-812A8EFF2E6F}" dt="2026-06-23T23:55:39.347" v="171"/>
          <ac:graphicFrameMkLst>
            <pc:docMk/>
            <pc:sldMk cId="2840342852" sldId="1244"/>
            <ac:graphicFrameMk id="44" creationId="{F4E80406-82AC-D5C5-0818-B0D7B2CDBDAA}"/>
          </ac:graphicFrameMkLst>
        </pc:graphicFrameChg>
      </pc:sldChg>
      <pc:sldChg chg="modSp mod">
        <pc:chgData name="Huitrón, Sebastián" userId="5098bc64-db8b-4fcb-a68b-25697ee0c499" providerId="ADAL" clId="{25F0B758-49CE-4457-92FF-812A8EFF2E6F}" dt="2026-06-23T23:55:39.410" v="179"/>
        <pc:sldMkLst>
          <pc:docMk/>
          <pc:sldMk cId="3117934644" sldId="1245"/>
        </pc:sldMkLst>
        <pc:graphicFrameChg chg="mod">
          <ac:chgData name="Huitrón, Sebastián" userId="5098bc64-db8b-4fcb-a68b-25697ee0c499" providerId="ADAL" clId="{25F0B758-49CE-4457-92FF-812A8EFF2E6F}" dt="2026-06-23T23:55:39.410" v="179"/>
          <ac:graphicFrameMkLst>
            <pc:docMk/>
            <pc:sldMk cId="3117934644" sldId="1245"/>
            <ac:graphicFrameMk id="44" creationId="{F4E80406-82AC-D5C5-0818-B0D7B2CDBDAA}"/>
          </ac:graphicFrameMkLst>
        </pc:graphicFrameChg>
      </pc:sldChg>
      <pc:sldChg chg="modSp mod">
        <pc:chgData name="Huitrón, Sebastián" userId="5098bc64-db8b-4fcb-a68b-25697ee0c499" providerId="ADAL" clId="{25F0B758-49CE-4457-92FF-812A8EFF2E6F}" dt="2026-06-23T23:55:39.426" v="181"/>
        <pc:sldMkLst>
          <pc:docMk/>
          <pc:sldMk cId="1922674571" sldId="1246"/>
        </pc:sldMkLst>
        <pc:graphicFrameChg chg="mod">
          <ac:chgData name="Huitrón, Sebastián" userId="5098bc64-db8b-4fcb-a68b-25697ee0c499" providerId="ADAL" clId="{25F0B758-49CE-4457-92FF-812A8EFF2E6F}" dt="2026-06-23T23:55:39.426" v="181"/>
          <ac:graphicFrameMkLst>
            <pc:docMk/>
            <pc:sldMk cId="1922674571" sldId="1246"/>
            <ac:graphicFrameMk id="44" creationId="{F4E80406-82AC-D5C5-0818-B0D7B2CDBDAA}"/>
          </ac:graphicFrameMkLst>
        </pc:graphicFrameChg>
      </pc:sldChg>
      <pc:sldChg chg="modSp mod">
        <pc:chgData name="Huitrón, Sebastián" userId="5098bc64-db8b-4fcb-a68b-25697ee0c499" providerId="ADAL" clId="{25F0B758-49CE-4457-92FF-812A8EFF2E6F}" dt="2026-06-23T23:55:39.457" v="185"/>
        <pc:sldMkLst>
          <pc:docMk/>
          <pc:sldMk cId="299493451" sldId="1247"/>
        </pc:sldMkLst>
        <pc:graphicFrameChg chg="mod">
          <ac:chgData name="Huitrón, Sebastián" userId="5098bc64-db8b-4fcb-a68b-25697ee0c499" providerId="ADAL" clId="{25F0B758-49CE-4457-92FF-812A8EFF2E6F}" dt="2026-06-23T23:55:39.457" v="185"/>
          <ac:graphicFrameMkLst>
            <pc:docMk/>
            <pc:sldMk cId="299493451" sldId="1247"/>
            <ac:graphicFrameMk id="44" creationId="{F4E80406-82AC-D5C5-0818-B0D7B2CDBDAA}"/>
          </ac:graphicFrameMkLst>
        </pc:graphicFrameChg>
      </pc:sldChg>
      <pc:sldChg chg="modSp mod">
        <pc:chgData name="Huitrón, Sebastián" userId="5098bc64-db8b-4fcb-a68b-25697ee0c499" providerId="ADAL" clId="{25F0B758-49CE-4457-92FF-812A8EFF2E6F}" dt="2026-06-23T23:55:39.396" v="177"/>
        <pc:sldMkLst>
          <pc:docMk/>
          <pc:sldMk cId="557350100" sldId="1248"/>
        </pc:sldMkLst>
        <pc:graphicFrameChg chg="mod">
          <ac:chgData name="Huitrón, Sebastián" userId="5098bc64-db8b-4fcb-a68b-25697ee0c499" providerId="ADAL" clId="{25F0B758-49CE-4457-92FF-812A8EFF2E6F}" dt="2026-06-23T23:55:39.396" v="177"/>
          <ac:graphicFrameMkLst>
            <pc:docMk/>
            <pc:sldMk cId="557350100" sldId="1248"/>
            <ac:graphicFrameMk id="44" creationId="{F4E80406-82AC-D5C5-0818-B0D7B2CDBDAA}"/>
          </ac:graphicFrameMkLst>
        </pc:graphicFrameChg>
      </pc:sldChg>
      <pc:sldChg chg="modSp mod">
        <pc:chgData name="Huitrón, Sebastián" userId="5098bc64-db8b-4fcb-a68b-25697ee0c499" providerId="ADAL" clId="{25F0B758-49CE-4457-92FF-812A8EFF2E6F}" dt="2026-06-23T23:55:39.492" v="189"/>
        <pc:sldMkLst>
          <pc:docMk/>
          <pc:sldMk cId="1837357164" sldId="1249"/>
        </pc:sldMkLst>
        <pc:graphicFrameChg chg="mod">
          <ac:chgData name="Huitrón, Sebastián" userId="5098bc64-db8b-4fcb-a68b-25697ee0c499" providerId="ADAL" clId="{25F0B758-49CE-4457-92FF-812A8EFF2E6F}" dt="2026-06-23T23:55:39.492" v="189"/>
          <ac:graphicFrameMkLst>
            <pc:docMk/>
            <pc:sldMk cId="1837357164" sldId="1249"/>
            <ac:graphicFrameMk id="13" creationId="{069AE2A4-F2AB-65BC-0973-786D5BD7360B}"/>
          </ac:graphicFrameMkLst>
        </pc:graphicFrameChg>
      </pc:sldChg>
      <pc:sldChg chg="modSp mod">
        <pc:chgData name="Huitrón, Sebastián" userId="5098bc64-db8b-4fcb-a68b-25697ee0c499" providerId="ADAL" clId="{25F0B758-49CE-4457-92FF-812A8EFF2E6F}" dt="2026-06-23T23:55:39.520" v="193"/>
        <pc:sldMkLst>
          <pc:docMk/>
          <pc:sldMk cId="2546380891" sldId="1250"/>
        </pc:sldMkLst>
        <pc:graphicFrameChg chg="mod">
          <ac:chgData name="Huitrón, Sebastián" userId="5098bc64-db8b-4fcb-a68b-25697ee0c499" providerId="ADAL" clId="{25F0B758-49CE-4457-92FF-812A8EFF2E6F}" dt="2026-06-23T23:55:39.520" v="193"/>
          <ac:graphicFrameMkLst>
            <pc:docMk/>
            <pc:sldMk cId="2546380891" sldId="1250"/>
            <ac:graphicFrameMk id="44" creationId="{F4E80406-82AC-D5C5-0818-B0D7B2CDBDAA}"/>
          </ac:graphicFrameMkLst>
        </pc:graphicFrameChg>
      </pc:sldChg>
      <pc:sldChg chg="modSp mod">
        <pc:chgData name="Huitrón, Sebastián" userId="5098bc64-db8b-4fcb-a68b-25697ee0c499" providerId="ADAL" clId="{25F0B758-49CE-4457-92FF-812A8EFF2E6F}" dt="2026-06-23T23:55:39.536" v="195"/>
        <pc:sldMkLst>
          <pc:docMk/>
          <pc:sldMk cId="3461211028" sldId="1251"/>
        </pc:sldMkLst>
        <pc:graphicFrameChg chg="mod">
          <ac:chgData name="Huitrón, Sebastián" userId="5098bc64-db8b-4fcb-a68b-25697ee0c499" providerId="ADAL" clId="{25F0B758-49CE-4457-92FF-812A8EFF2E6F}" dt="2026-06-23T23:55:39.536" v="195"/>
          <ac:graphicFrameMkLst>
            <pc:docMk/>
            <pc:sldMk cId="3461211028" sldId="1251"/>
            <ac:graphicFrameMk id="44" creationId="{F4E80406-82AC-D5C5-0818-B0D7B2CDBDAA}"/>
          </ac:graphicFrameMkLst>
        </pc:graphicFrameChg>
      </pc:sldChg>
      <pc:sldChg chg="modSp mod">
        <pc:chgData name="Huitrón, Sebastián" userId="5098bc64-db8b-4fcb-a68b-25697ee0c499" providerId="ADAL" clId="{25F0B758-49CE-4457-92FF-812A8EFF2E6F}" dt="2026-06-23T23:55:39.551" v="197"/>
        <pc:sldMkLst>
          <pc:docMk/>
          <pc:sldMk cId="3859611438" sldId="1252"/>
        </pc:sldMkLst>
        <pc:graphicFrameChg chg="mod">
          <ac:chgData name="Huitrón, Sebastián" userId="5098bc64-db8b-4fcb-a68b-25697ee0c499" providerId="ADAL" clId="{25F0B758-49CE-4457-92FF-812A8EFF2E6F}" dt="2026-06-23T23:55:39.551" v="197"/>
          <ac:graphicFrameMkLst>
            <pc:docMk/>
            <pc:sldMk cId="3859611438" sldId="1252"/>
            <ac:graphicFrameMk id="44" creationId="{F4E80406-82AC-D5C5-0818-B0D7B2CDBDAA}"/>
          </ac:graphicFrameMkLst>
        </pc:graphicFrameChg>
      </pc:sldChg>
      <pc:sldChg chg="modSp mod">
        <pc:chgData name="Huitrón, Sebastián" userId="5098bc64-db8b-4fcb-a68b-25697ee0c499" providerId="ADAL" clId="{25F0B758-49CE-4457-92FF-812A8EFF2E6F}" dt="2026-06-23T23:55:39.807" v="231"/>
        <pc:sldMkLst>
          <pc:docMk/>
          <pc:sldMk cId="837272109" sldId="1253"/>
        </pc:sldMkLst>
        <pc:graphicFrameChg chg="mod">
          <ac:chgData name="Huitrón, Sebastián" userId="5098bc64-db8b-4fcb-a68b-25697ee0c499" providerId="ADAL" clId="{25F0B758-49CE-4457-92FF-812A8EFF2E6F}" dt="2026-06-23T23:55:39.807" v="231"/>
          <ac:graphicFrameMkLst>
            <pc:docMk/>
            <pc:sldMk cId="837272109" sldId="1253"/>
            <ac:graphicFrameMk id="33" creationId="{5504781B-C86C-84A2-FF6E-AC30446C81C9}"/>
          </ac:graphicFrameMkLst>
        </pc:graphicFrameChg>
      </pc:sldChg>
      <pc:sldChg chg="modSp mod">
        <pc:chgData name="Huitrón, Sebastián" userId="5098bc64-db8b-4fcb-a68b-25697ee0c499" providerId="ADAL" clId="{25F0B758-49CE-4457-92FF-812A8EFF2E6F}" dt="2026-06-23T23:55:39.855" v="237"/>
        <pc:sldMkLst>
          <pc:docMk/>
          <pc:sldMk cId="3206324608" sldId="1254"/>
        </pc:sldMkLst>
        <pc:graphicFrameChg chg="mod">
          <ac:chgData name="Huitrón, Sebastián" userId="5098bc64-db8b-4fcb-a68b-25697ee0c499" providerId="ADAL" clId="{25F0B758-49CE-4457-92FF-812A8EFF2E6F}" dt="2026-06-23T23:55:39.855" v="237"/>
          <ac:graphicFrameMkLst>
            <pc:docMk/>
            <pc:sldMk cId="3206324608" sldId="1254"/>
            <ac:graphicFrameMk id="33" creationId="{5504781B-C86C-84A2-FF6E-AC30446C81C9}"/>
          </ac:graphicFrameMkLst>
        </pc:graphicFrameChg>
      </pc:sldChg>
      <pc:sldChg chg="modSp mod">
        <pc:chgData name="Huitrón, Sebastián" userId="5098bc64-db8b-4fcb-a68b-25697ee0c499" providerId="ADAL" clId="{25F0B758-49CE-4457-92FF-812A8EFF2E6F}" dt="2026-06-23T23:55:39.792" v="229"/>
        <pc:sldMkLst>
          <pc:docMk/>
          <pc:sldMk cId="3904183122" sldId="1255"/>
        </pc:sldMkLst>
        <pc:graphicFrameChg chg="mod">
          <ac:chgData name="Huitrón, Sebastián" userId="5098bc64-db8b-4fcb-a68b-25697ee0c499" providerId="ADAL" clId="{25F0B758-49CE-4457-92FF-812A8EFF2E6F}" dt="2026-06-23T23:55:39.792" v="229"/>
          <ac:graphicFrameMkLst>
            <pc:docMk/>
            <pc:sldMk cId="3904183122" sldId="1255"/>
            <ac:graphicFrameMk id="33" creationId="{5504781B-C86C-84A2-FF6E-AC30446C81C9}"/>
          </ac:graphicFrameMkLst>
        </pc:graphicFrameChg>
      </pc:sldChg>
      <pc:sldChg chg="modSp mod">
        <pc:chgData name="Huitrón, Sebastián" userId="5098bc64-db8b-4fcb-a68b-25697ee0c499" providerId="ADAL" clId="{25F0B758-49CE-4457-92FF-812A8EFF2E6F}" dt="2026-06-23T23:55:39.585" v="201"/>
        <pc:sldMkLst>
          <pc:docMk/>
          <pc:sldMk cId="3556143165" sldId="1256"/>
        </pc:sldMkLst>
        <pc:graphicFrameChg chg="mod">
          <ac:chgData name="Huitrón, Sebastián" userId="5098bc64-db8b-4fcb-a68b-25697ee0c499" providerId="ADAL" clId="{25F0B758-49CE-4457-92FF-812A8EFF2E6F}" dt="2026-06-23T23:55:39.585" v="201"/>
          <ac:graphicFrameMkLst>
            <pc:docMk/>
            <pc:sldMk cId="3556143165" sldId="1256"/>
            <ac:graphicFrameMk id="44" creationId="{F4E80406-82AC-D5C5-0818-B0D7B2CDBDAA}"/>
          </ac:graphicFrameMkLst>
        </pc:graphicFrameChg>
      </pc:sldChg>
      <pc:sldChg chg="modSp mod">
        <pc:chgData name="Huitrón, Sebastián" userId="5098bc64-db8b-4fcb-a68b-25697ee0c499" providerId="ADAL" clId="{25F0B758-49CE-4457-92FF-812A8EFF2E6F}" dt="2026-06-23T23:55:39.599" v="203"/>
        <pc:sldMkLst>
          <pc:docMk/>
          <pc:sldMk cId="440776704" sldId="1257"/>
        </pc:sldMkLst>
        <pc:graphicFrameChg chg="mod">
          <ac:chgData name="Huitrón, Sebastián" userId="5098bc64-db8b-4fcb-a68b-25697ee0c499" providerId="ADAL" clId="{25F0B758-49CE-4457-92FF-812A8EFF2E6F}" dt="2026-06-23T23:55:39.599" v="203"/>
          <ac:graphicFrameMkLst>
            <pc:docMk/>
            <pc:sldMk cId="440776704" sldId="1257"/>
            <ac:graphicFrameMk id="13" creationId="{069AE2A4-F2AB-65BC-0973-786D5BD7360B}"/>
          </ac:graphicFrameMkLst>
        </pc:graphicFrameChg>
      </pc:sldChg>
      <pc:sldChg chg="modSp mod">
        <pc:chgData name="Huitrón, Sebastián" userId="5098bc64-db8b-4fcb-a68b-25697ee0c499" providerId="ADAL" clId="{25F0B758-49CE-4457-92FF-812A8EFF2E6F}" dt="2026-06-23T23:55:39.630" v="209"/>
        <pc:sldMkLst>
          <pc:docMk/>
          <pc:sldMk cId="2907182819" sldId="1258"/>
        </pc:sldMkLst>
        <pc:graphicFrameChg chg="mod">
          <ac:chgData name="Huitrón, Sebastián" userId="5098bc64-db8b-4fcb-a68b-25697ee0c499" providerId="ADAL" clId="{25F0B758-49CE-4457-92FF-812A8EFF2E6F}" dt="2026-06-23T23:55:39.630" v="209"/>
          <ac:graphicFrameMkLst>
            <pc:docMk/>
            <pc:sldMk cId="2907182819" sldId="1258"/>
            <ac:graphicFrameMk id="13" creationId="{069AE2A4-F2AB-65BC-0973-786D5BD7360B}"/>
          </ac:graphicFrameMkLst>
        </pc:graphicFrameChg>
      </pc:sldChg>
      <pc:sldChg chg="modSp mod">
        <pc:chgData name="Huitrón, Sebastián" userId="5098bc64-db8b-4fcb-a68b-25697ee0c499" providerId="ADAL" clId="{25F0B758-49CE-4457-92FF-812A8EFF2E6F}" dt="2026-06-23T23:55:39.615" v="205"/>
        <pc:sldMkLst>
          <pc:docMk/>
          <pc:sldMk cId="167613030" sldId="1259"/>
        </pc:sldMkLst>
        <pc:graphicFrameChg chg="mod">
          <ac:chgData name="Huitrón, Sebastián" userId="5098bc64-db8b-4fcb-a68b-25697ee0c499" providerId="ADAL" clId="{25F0B758-49CE-4457-92FF-812A8EFF2E6F}" dt="2026-06-23T23:55:39.615" v="205"/>
          <ac:graphicFrameMkLst>
            <pc:docMk/>
            <pc:sldMk cId="167613030" sldId="1259"/>
            <ac:graphicFrameMk id="23" creationId="{F9F4BE31-F268-5016-5509-D407AD21111E}"/>
          </ac:graphicFrameMkLst>
        </pc:graphicFrameChg>
      </pc:sldChg>
      <pc:sldChg chg="modSp mod">
        <pc:chgData name="Huitrón, Sebastián" userId="5098bc64-db8b-4fcb-a68b-25697ee0c499" providerId="ADAL" clId="{25F0B758-49CE-4457-92FF-812A8EFF2E6F}" dt="2026-06-23T23:55:39.630" v="207"/>
        <pc:sldMkLst>
          <pc:docMk/>
          <pc:sldMk cId="662014168" sldId="1260"/>
        </pc:sldMkLst>
        <pc:graphicFrameChg chg="mod">
          <ac:chgData name="Huitrón, Sebastián" userId="5098bc64-db8b-4fcb-a68b-25697ee0c499" providerId="ADAL" clId="{25F0B758-49CE-4457-92FF-812A8EFF2E6F}" dt="2026-06-23T23:55:39.630" v="207"/>
          <ac:graphicFrameMkLst>
            <pc:docMk/>
            <pc:sldMk cId="662014168" sldId="1260"/>
            <ac:graphicFrameMk id="44" creationId="{F4E80406-82AC-D5C5-0818-B0D7B2CDBDAA}"/>
          </ac:graphicFrameMkLst>
        </pc:graphicFrameChg>
      </pc:sldChg>
      <pc:sldChg chg="modSp mod">
        <pc:chgData name="Huitrón, Sebastián" userId="5098bc64-db8b-4fcb-a68b-25697ee0c499" providerId="ADAL" clId="{25F0B758-49CE-4457-92FF-812A8EFF2E6F}" dt="2026-06-23T23:55:39.646" v="211"/>
        <pc:sldMkLst>
          <pc:docMk/>
          <pc:sldMk cId="3440304768" sldId="1262"/>
        </pc:sldMkLst>
        <pc:graphicFrameChg chg="mod">
          <ac:chgData name="Huitrón, Sebastián" userId="5098bc64-db8b-4fcb-a68b-25697ee0c499" providerId="ADAL" clId="{25F0B758-49CE-4457-92FF-812A8EFF2E6F}" dt="2026-06-23T23:55:39.646" v="211"/>
          <ac:graphicFrameMkLst>
            <pc:docMk/>
            <pc:sldMk cId="3440304768" sldId="1262"/>
            <ac:graphicFrameMk id="44" creationId="{F4E80406-82AC-D5C5-0818-B0D7B2CDBDAA}"/>
          </ac:graphicFrameMkLst>
        </pc:graphicFrameChg>
      </pc:sldChg>
      <pc:sldChg chg="modSp mod">
        <pc:chgData name="Huitrón, Sebastián" userId="5098bc64-db8b-4fcb-a68b-25697ee0c499" providerId="ADAL" clId="{25F0B758-49CE-4457-92FF-812A8EFF2E6F}" dt="2026-06-23T23:55:38.862" v="111"/>
        <pc:sldMkLst>
          <pc:docMk/>
          <pc:sldMk cId="3995915186" sldId="1263"/>
        </pc:sldMkLst>
        <pc:graphicFrameChg chg="mod">
          <ac:chgData name="Huitrón, Sebastián" userId="5098bc64-db8b-4fcb-a68b-25697ee0c499" providerId="ADAL" clId="{25F0B758-49CE-4457-92FF-812A8EFF2E6F}" dt="2026-06-23T23:55:38.862" v="111"/>
          <ac:graphicFrameMkLst>
            <pc:docMk/>
            <pc:sldMk cId="3995915186" sldId="1263"/>
            <ac:graphicFrameMk id="14" creationId="{BA88E32F-1D30-D083-851F-CDC299558359}"/>
          </ac:graphicFrameMkLst>
        </pc:graphicFrameChg>
      </pc:sldChg>
      <pc:sldChg chg="modSp mod">
        <pc:chgData name="Huitrón, Sebastián" userId="5098bc64-db8b-4fcb-a68b-25697ee0c499" providerId="ADAL" clId="{25F0B758-49CE-4457-92FF-812A8EFF2E6F}" dt="2026-06-23T23:55:39.826" v="233"/>
        <pc:sldMkLst>
          <pc:docMk/>
          <pc:sldMk cId="919869999" sldId="1264"/>
        </pc:sldMkLst>
        <pc:graphicFrameChg chg="mod">
          <ac:chgData name="Huitrón, Sebastián" userId="5098bc64-db8b-4fcb-a68b-25697ee0c499" providerId="ADAL" clId="{25F0B758-49CE-4457-92FF-812A8EFF2E6F}" dt="2026-06-23T23:55:39.826" v="233"/>
          <ac:graphicFrameMkLst>
            <pc:docMk/>
            <pc:sldMk cId="919869999" sldId="1264"/>
            <ac:graphicFrameMk id="33" creationId="{5504781B-C86C-84A2-FF6E-AC30446C81C9}"/>
          </ac:graphicFrameMkLst>
        </pc:graphicFrameChg>
      </pc:sldChg>
      <pc:sldChg chg="modSp mod">
        <pc:chgData name="Huitrón, Sebastián" userId="5098bc64-db8b-4fcb-a68b-25697ee0c499" providerId="ADAL" clId="{25F0B758-49CE-4457-92FF-812A8EFF2E6F}" dt="2026-06-23T23:55:39.839" v="235"/>
        <pc:sldMkLst>
          <pc:docMk/>
          <pc:sldMk cId="3633505219" sldId="1265"/>
        </pc:sldMkLst>
        <pc:graphicFrameChg chg="mod">
          <ac:chgData name="Huitrón, Sebastián" userId="5098bc64-db8b-4fcb-a68b-25697ee0c499" providerId="ADAL" clId="{25F0B758-49CE-4457-92FF-812A8EFF2E6F}" dt="2026-06-23T23:55:39.839" v="235"/>
          <ac:graphicFrameMkLst>
            <pc:docMk/>
            <pc:sldMk cId="3633505219" sldId="1265"/>
            <ac:graphicFrameMk id="33" creationId="{5504781B-C86C-84A2-FF6E-AC30446C81C9}"/>
          </ac:graphicFrameMkLst>
        </pc:graphicFrameChg>
      </pc:sldChg>
      <pc:sldChg chg="modSp mod">
        <pc:chgData name="Huitrón, Sebastián" userId="5098bc64-db8b-4fcb-a68b-25697ee0c499" providerId="ADAL" clId="{25F0B758-49CE-4457-92FF-812A8EFF2E6F}" dt="2026-06-23T23:55:39.700" v="217"/>
        <pc:sldMkLst>
          <pc:docMk/>
          <pc:sldMk cId="3197862350" sldId="2147483642"/>
        </pc:sldMkLst>
        <pc:graphicFrameChg chg="mod">
          <ac:chgData name="Huitrón, Sebastián" userId="5098bc64-db8b-4fcb-a68b-25697ee0c499" providerId="ADAL" clId="{25F0B758-49CE-4457-92FF-812A8EFF2E6F}" dt="2026-06-23T23:55:39.700" v="217"/>
          <ac:graphicFrameMkLst>
            <pc:docMk/>
            <pc:sldMk cId="3197862350" sldId="2147483642"/>
            <ac:graphicFrameMk id="33" creationId="{5504781B-C86C-84A2-FF6E-AC30446C81C9}"/>
          </ac:graphicFrameMkLst>
        </pc:graphicFrameChg>
      </pc:sldChg>
      <pc:sldChg chg="modSp mod">
        <pc:chgData name="Huitrón, Sebastián" userId="5098bc64-db8b-4fcb-a68b-25697ee0c499" providerId="ADAL" clId="{25F0B758-49CE-4457-92FF-812A8EFF2E6F}" dt="2026-06-23T23:55:39.886" v="241"/>
        <pc:sldMkLst>
          <pc:docMk/>
          <pc:sldMk cId="1942074623" sldId="2147483643"/>
        </pc:sldMkLst>
        <pc:graphicFrameChg chg="mod">
          <ac:chgData name="Huitrón, Sebastián" userId="5098bc64-db8b-4fcb-a68b-25697ee0c499" providerId="ADAL" clId="{25F0B758-49CE-4457-92FF-812A8EFF2E6F}" dt="2026-06-23T23:55:39.886" v="241"/>
          <ac:graphicFrameMkLst>
            <pc:docMk/>
            <pc:sldMk cId="1942074623" sldId="2147483643"/>
            <ac:graphicFrameMk id="33" creationId="{5504781B-C86C-84A2-FF6E-AC30446C81C9}"/>
          </ac:graphicFrameMkLst>
        </pc:graphicFrameChg>
      </pc:sldChg>
      <pc:sldChg chg="addSp modSp new del mod">
        <pc:chgData name="Huitrón, Sebastián" userId="5098bc64-db8b-4fcb-a68b-25697ee0c499" providerId="ADAL" clId="{25F0B758-49CE-4457-92FF-812A8EFF2E6F}" dt="2026-06-23T23:55:38.569" v="97" actId="680"/>
        <pc:sldMkLst>
          <pc:docMk/>
          <pc:sldMk cId="1312125846" sldId="2147483644"/>
        </pc:sldMkLst>
        <pc:spChg chg="add mod">
          <ac:chgData name="Huitrón, Sebastián" userId="5098bc64-db8b-4fcb-a68b-25697ee0c499" providerId="ADAL" clId="{25F0B758-49CE-4457-92FF-812A8EFF2E6F}" dt="2026-06-23T23:55:36.804" v="80" actId="207"/>
          <ac:spMkLst>
            <pc:docMk/>
            <pc:sldMk cId="1312125846" sldId="2147483644"/>
            <ac:spMk id="7" creationId="{CB6184B4-7E41-D749-F00D-656BAB2BB9CE}"/>
          </ac:spMkLst>
        </pc:spChg>
        <pc:spChg chg="add mod">
          <ac:chgData name="Huitrón, Sebastián" userId="5098bc64-db8b-4fcb-a68b-25697ee0c499" providerId="ADAL" clId="{25F0B758-49CE-4457-92FF-812A8EFF2E6F}" dt="2026-06-23T23:55:36.804" v="76" actId="207"/>
          <ac:spMkLst>
            <pc:docMk/>
            <pc:sldMk cId="1312125846" sldId="2147483644"/>
            <ac:spMk id="8" creationId="{AB704E48-E41F-E484-8D8A-E0AC3E18B25A}"/>
          </ac:spMkLst>
        </pc:spChg>
        <pc:spChg chg="add mod">
          <ac:chgData name="Huitrón, Sebastián" userId="5098bc64-db8b-4fcb-a68b-25697ee0c499" providerId="ADAL" clId="{25F0B758-49CE-4457-92FF-812A8EFF2E6F}" dt="2026-06-23T23:55:36.804" v="72" actId="207"/>
          <ac:spMkLst>
            <pc:docMk/>
            <pc:sldMk cId="1312125846" sldId="2147483644"/>
            <ac:spMk id="9" creationId="{28983C19-03D6-8476-518F-5CB6FDEDF75D}"/>
          </ac:spMkLst>
        </pc:spChg>
        <pc:spChg chg="add mod">
          <ac:chgData name="Huitrón, Sebastián" userId="5098bc64-db8b-4fcb-a68b-25697ee0c499" providerId="ADAL" clId="{25F0B758-49CE-4457-92FF-812A8EFF2E6F}" dt="2026-06-23T23:55:36.804" v="68" actId="207"/>
          <ac:spMkLst>
            <pc:docMk/>
            <pc:sldMk cId="1312125846" sldId="2147483644"/>
            <ac:spMk id="10" creationId="{0F968201-0917-57C3-754E-1A61CD292884}"/>
          </ac:spMkLst>
        </pc:spChg>
        <pc:grpChg chg="add mod">
          <ac:chgData name="Huitrón, Sebastián" userId="5098bc64-db8b-4fcb-a68b-25697ee0c499" providerId="ADAL" clId="{25F0B758-49CE-4457-92FF-812A8EFF2E6F}" dt="2026-06-23T23:55:34.209" v="62"/>
          <ac:grpSpMkLst>
            <pc:docMk/>
            <pc:sldMk cId="1312125846" sldId="2147483644"/>
            <ac:grpSpMk id="11" creationId="{C7CED625-F91D-2348-5954-BC41237E354A}"/>
          </ac:grpSpMkLst>
        </pc:grpChg>
        <pc:grpChg chg="add mod">
          <ac:chgData name="Huitrón, Sebastián" userId="5098bc64-db8b-4fcb-a68b-25697ee0c499" providerId="ADAL" clId="{25F0B758-49CE-4457-92FF-812A8EFF2E6F}" dt="2026-06-23T23:55:34.209" v="64"/>
          <ac:grpSpMkLst>
            <pc:docMk/>
            <pc:sldMk cId="1312125846" sldId="2147483644"/>
            <ac:grpSpMk id="12" creationId="{730D180C-6CD5-6AC0-347A-C6C57317CDC1}"/>
          </ac:grpSpMkLst>
        </pc:grpChg>
        <pc:cxnChg chg="add mod ord">
          <ac:chgData name="Huitrón, Sebastián" userId="5098bc64-db8b-4fcb-a68b-25697ee0c499" providerId="ADAL" clId="{25F0B758-49CE-4457-92FF-812A8EFF2E6F}" dt="2026-06-23T23:55:36.804" v="96" actId="1582"/>
          <ac:cxnSpMkLst>
            <pc:docMk/>
            <pc:sldMk cId="1312125846" sldId="2147483644"/>
            <ac:cxnSpMk id="3" creationId="{61E43DD9-2DC6-49AF-C5C4-9C263A3C6D62}"/>
          </ac:cxnSpMkLst>
        </pc:cxnChg>
        <pc:cxnChg chg="add mod ord">
          <ac:chgData name="Huitrón, Sebastián" userId="5098bc64-db8b-4fcb-a68b-25697ee0c499" providerId="ADAL" clId="{25F0B758-49CE-4457-92FF-812A8EFF2E6F}" dt="2026-06-23T23:55:36.804" v="92" actId="1582"/>
          <ac:cxnSpMkLst>
            <pc:docMk/>
            <pc:sldMk cId="1312125846" sldId="2147483644"/>
            <ac:cxnSpMk id="4" creationId="{CE74143E-CF02-4D35-7D1E-697AD4BAC135}"/>
          </ac:cxnSpMkLst>
        </pc:cxnChg>
        <pc:cxnChg chg="add mod ord">
          <ac:chgData name="Huitrón, Sebastián" userId="5098bc64-db8b-4fcb-a68b-25697ee0c499" providerId="ADAL" clId="{25F0B758-49CE-4457-92FF-812A8EFF2E6F}" dt="2026-06-23T23:55:36.804" v="88" actId="1582"/>
          <ac:cxnSpMkLst>
            <pc:docMk/>
            <pc:sldMk cId="1312125846" sldId="2147483644"/>
            <ac:cxnSpMk id="5" creationId="{AC0E4CAA-16B0-AE1B-09CE-AA4FF18FE846}"/>
          </ac:cxnSpMkLst>
        </pc:cxnChg>
        <pc:cxnChg chg="add mod ord">
          <ac:chgData name="Huitrón, Sebastián" userId="5098bc64-db8b-4fcb-a68b-25697ee0c499" providerId="ADAL" clId="{25F0B758-49CE-4457-92FF-812A8EFF2E6F}" dt="2026-06-23T23:55:36.804" v="84" actId="1582"/>
          <ac:cxnSpMkLst>
            <pc:docMk/>
            <pc:sldMk cId="1312125846" sldId="2147483644"/>
            <ac:cxnSpMk id="6" creationId="{1606F6A3-C42E-DF33-6AA9-FD8B64D706ED}"/>
          </ac:cxnSpMkLst>
        </pc:cxnChg>
      </pc:sldChg>
    </pc:docChg>
  </pc:docChgLst>
  <pc:docChgLst>
    <pc:chgData name="Villagran, Erick" userId="4c4d6669-c09e-41f0-b7a4-207867ce0bab" providerId="ADAL" clId="{44E19C8E-3FAF-4895-9911-B818D0952870}"/>
    <pc:docChg chg="addSld modSld">
      <pc:chgData name="Villagran, Erick" userId="4c4d6669-c09e-41f0-b7a4-207867ce0bab" providerId="ADAL" clId="{44E19C8E-3FAF-4895-9911-B818D0952870}" dt="2026-01-05T18:04:06.998" v="0"/>
      <pc:docMkLst>
        <pc:docMk/>
      </pc:docMkLst>
      <pc:sldChg chg="add">
        <pc:chgData name="Villagran, Erick" userId="4c4d6669-c09e-41f0-b7a4-207867ce0bab" providerId="ADAL" clId="{44E19C8E-3FAF-4895-9911-B818D0952870}" dt="2026-01-05T18:04:06.998" v="0"/>
        <pc:sldMkLst>
          <pc:docMk/>
          <pc:sldMk cId="693059941" sldId="257"/>
        </pc:sldMkLst>
      </pc:sldChg>
      <pc:sldChg chg="add">
        <pc:chgData name="Villagran, Erick" userId="4c4d6669-c09e-41f0-b7a4-207867ce0bab" providerId="ADAL" clId="{44E19C8E-3FAF-4895-9911-B818D0952870}" dt="2026-01-05T18:04:06.998" v="0"/>
        <pc:sldMkLst>
          <pc:docMk/>
          <pc:sldMk cId="283695263" sldId="258"/>
        </pc:sldMkLst>
      </pc:sldChg>
      <pc:sldChg chg="add">
        <pc:chgData name="Villagran, Erick" userId="4c4d6669-c09e-41f0-b7a4-207867ce0bab" providerId="ADAL" clId="{44E19C8E-3FAF-4895-9911-B818D0952870}" dt="2026-01-05T18:04:06.998" v="0"/>
        <pc:sldMkLst>
          <pc:docMk/>
          <pc:sldMk cId="1990475571" sldId="259"/>
        </pc:sldMkLst>
      </pc:sldChg>
      <pc:sldChg chg="add">
        <pc:chgData name="Villagran, Erick" userId="4c4d6669-c09e-41f0-b7a4-207867ce0bab" providerId="ADAL" clId="{44E19C8E-3FAF-4895-9911-B818D0952870}" dt="2026-01-05T18:04:06.998" v="0"/>
        <pc:sldMkLst>
          <pc:docMk/>
          <pc:sldMk cId="3470888963"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B0F3BDD1-9E7B-4729-9A89-AA753667A688}" type="datetimeFigureOut">
              <a:rPr lang="en-US" smtClean="0"/>
              <a:t>6/23/2026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F19E147E-6766-458C-B228-6AF95CDD98E4}" type="slidenum">
              <a:rPr lang="en-US" smtClean="0"/>
              <a:t>‹#›</a:t>
            </a:fld>
            <a:endParaRPr lang="en-US"/>
          </a:p>
        </p:txBody>
      </p:sp>
    </p:spTree>
    <p:extLst>
      <p:ext uri="{BB962C8B-B14F-4D97-AF65-F5344CB8AC3E}">
        <p14:creationId xmlns:p14="http://schemas.microsoft.com/office/powerpoint/2010/main" val="454469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A6E8F6-7CDE-4FA3-B1FE-3C1CD576F9B0}" type="slidenum">
              <a:rPr lang="en-US" smtClean="0"/>
              <a:t>3</a:t>
            </a:fld>
            <a:endParaRPr lang="en-US"/>
          </a:p>
        </p:txBody>
      </p:sp>
    </p:spTree>
    <p:extLst>
      <p:ext uri="{BB962C8B-B14F-4D97-AF65-F5344CB8AC3E}">
        <p14:creationId xmlns:p14="http://schemas.microsoft.com/office/powerpoint/2010/main" val="842776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8</a:t>
            </a:fld>
            <a:endParaRPr lang="en-US"/>
          </a:p>
        </p:txBody>
      </p:sp>
    </p:spTree>
    <p:extLst>
      <p:ext uri="{BB962C8B-B14F-4D97-AF65-F5344CB8AC3E}">
        <p14:creationId xmlns:p14="http://schemas.microsoft.com/office/powerpoint/2010/main" val="2459778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10</a:t>
            </a:fld>
            <a:endParaRPr lang="en-US"/>
          </a:p>
        </p:txBody>
      </p:sp>
    </p:spTree>
    <p:extLst>
      <p:ext uri="{BB962C8B-B14F-4D97-AF65-F5344CB8AC3E}">
        <p14:creationId xmlns:p14="http://schemas.microsoft.com/office/powerpoint/2010/main" val="2381566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11</a:t>
            </a:fld>
            <a:endParaRPr lang="en-US"/>
          </a:p>
        </p:txBody>
      </p:sp>
    </p:spTree>
    <p:extLst>
      <p:ext uri="{BB962C8B-B14F-4D97-AF65-F5344CB8AC3E}">
        <p14:creationId xmlns:p14="http://schemas.microsoft.com/office/powerpoint/2010/main" val="2316991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18</a:t>
            </a:fld>
            <a:endParaRPr lang="en-US"/>
          </a:p>
        </p:txBody>
      </p:sp>
    </p:spTree>
    <p:extLst>
      <p:ext uri="{BB962C8B-B14F-4D97-AF65-F5344CB8AC3E}">
        <p14:creationId xmlns:p14="http://schemas.microsoft.com/office/powerpoint/2010/main" val="1653822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19</a:t>
            </a:fld>
            <a:endParaRPr lang="en-US"/>
          </a:p>
        </p:txBody>
      </p:sp>
    </p:spTree>
    <p:extLst>
      <p:ext uri="{BB962C8B-B14F-4D97-AF65-F5344CB8AC3E}">
        <p14:creationId xmlns:p14="http://schemas.microsoft.com/office/powerpoint/2010/main" val="533423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21</a:t>
            </a:fld>
            <a:endParaRPr lang="en-US"/>
          </a:p>
        </p:txBody>
      </p:sp>
    </p:spTree>
    <p:extLst>
      <p:ext uri="{BB962C8B-B14F-4D97-AF65-F5344CB8AC3E}">
        <p14:creationId xmlns:p14="http://schemas.microsoft.com/office/powerpoint/2010/main" val="99068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22</a:t>
            </a:fld>
            <a:endParaRPr lang="en-US"/>
          </a:p>
        </p:txBody>
      </p:sp>
    </p:spTree>
    <p:extLst>
      <p:ext uri="{BB962C8B-B14F-4D97-AF65-F5344CB8AC3E}">
        <p14:creationId xmlns:p14="http://schemas.microsoft.com/office/powerpoint/2010/main" val="2419021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24</a:t>
            </a:fld>
            <a:endParaRPr lang="en-US"/>
          </a:p>
        </p:txBody>
      </p:sp>
    </p:spTree>
    <p:extLst>
      <p:ext uri="{BB962C8B-B14F-4D97-AF65-F5344CB8AC3E}">
        <p14:creationId xmlns:p14="http://schemas.microsoft.com/office/powerpoint/2010/main" val="2441952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25</a:t>
            </a:fld>
            <a:endParaRPr lang="en-US"/>
          </a:p>
        </p:txBody>
      </p:sp>
    </p:spTree>
    <p:extLst>
      <p:ext uri="{BB962C8B-B14F-4D97-AF65-F5344CB8AC3E}">
        <p14:creationId xmlns:p14="http://schemas.microsoft.com/office/powerpoint/2010/main" val="1343691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26</a:t>
            </a:fld>
            <a:endParaRPr lang="en-US"/>
          </a:p>
        </p:txBody>
      </p:sp>
    </p:spTree>
    <p:extLst>
      <p:ext uri="{BB962C8B-B14F-4D97-AF65-F5344CB8AC3E}">
        <p14:creationId xmlns:p14="http://schemas.microsoft.com/office/powerpoint/2010/main" val="2394322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27</a:t>
            </a:fld>
            <a:endParaRPr lang="en-US"/>
          </a:p>
        </p:txBody>
      </p:sp>
    </p:spTree>
    <p:extLst>
      <p:ext uri="{BB962C8B-B14F-4D97-AF65-F5344CB8AC3E}">
        <p14:creationId xmlns:p14="http://schemas.microsoft.com/office/powerpoint/2010/main" val="1801781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28</a:t>
            </a:fld>
            <a:endParaRPr lang="en-US"/>
          </a:p>
        </p:txBody>
      </p:sp>
    </p:spTree>
    <p:extLst>
      <p:ext uri="{BB962C8B-B14F-4D97-AF65-F5344CB8AC3E}">
        <p14:creationId xmlns:p14="http://schemas.microsoft.com/office/powerpoint/2010/main" val="532444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29</a:t>
            </a:fld>
            <a:endParaRPr lang="en-US"/>
          </a:p>
        </p:txBody>
      </p:sp>
    </p:spTree>
    <p:extLst>
      <p:ext uri="{BB962C8B-B14F-4D97-AF65-F5344CB8AC3E}">
        <p14:creationId xmlns:p14="http://schemas.microsoft.com/office/powerpoint/2010/main" val="4277686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30</a:t>
            </a:fld>
            <a:endParaRPr lang="en-US"/>
          </a:p>
        </p:txBody>
      </p:sp>
    </p:spTree>
    <p:extLst>
      <p:ext uri="{BB962C8B-B14F-4D97-AF65-F5344CB8AC3E}">
        <p14:creationId xmlns:p14="http://schemas.microsoft.com/office/powerpoint/2010/main" val="2929536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31</a:t>
            </a:fld>
            <a:endParaRPr lang="en-US"/>
          </a:p>
        </p:txBody>
      </p:sp>
    </p:spTree>
    <p:extLst>
      <p:ext uri="{BB962C8B-B14F-4D97-AF65-F5344CB8AC3E}">
        <p14:creationId xmlns:p14="http://schemas.microsoft.com/office/powerpoint/2010/main" val="2652764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33</a:t>
            </a:fld>
            <a:endParaRPr lang="en-US"/>
          </a:p>
        </p:txBody>
      </p:sp>
    </p:spTree>
    <p:extLst>
      <p:ext uri="{BB962C8B-B14F-4D97-AF65-F5344CB8AC3E}">
        <p14:creationId xmlns:p14="http://schemas.microsoft.com/office/powerpoint/2010/main" val="3997316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35</a:t>
            </a:fld>
            <a:endParaRPr lang="en-US"/>
          </a:p>
        </p:txBody>
      </p:sp>
    </p:spTree>
    <p:extLst>
      <p:ext uri="{BB962C8B-B14F-4D97-AF65-F5344CB8AC3E}">
        <p14:creationId xmlns:p14="http://schemas.microsoft.com/office/powerpoint/2010/main" val="3879906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36</a:t>
            </a:fld>
            <a:endParaRPr lang="en-US"/>
          </a:p>
        </p:txBody>
      </p:sp>
    </p:spTree>
    <p:extLst>
      <p:ext uri="{BB962C8B-B14F-4D97-AF65-F5344CB8AC3E}">
        <p14:creationId xmlns:p14="http://schemas.microsoft.com/office/powerpoint/2010/main" val="33007052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37</a:t>
            </a:fld>
            <a:endParaRPr lang="en-US"/>
          </a:p>
        </p:txBody>
      </p:sp>
    </p:spTree>
    <p:extLst>
      <p:ext uri="{BB962C8B-B14F-4D97-AF65-F5344CB8AC3E}">
        <p14:creationId xmlns:p14="http://schemas.microsoft.com/office/powerpoint/2010/main" val="3037135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38</a:t>
            </a:fld>
            <a:endParaRPr lang="en-US"/>
          </a:p>
        </p:txBody>
      </p:sp>
    </p:spTree>
    <p:extLst>
      <p:ext uri="{BB962C8B-B14F-4D97-AF65-F5344CB8AC3E}">
        <p14:creationId xmlns:p14="http://schemas.microsoft.com/office/powerpoint/2010/main" val="2915115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39</a:t>
            </a:fld>
            <a:endParaRPr lang="en-US"/>
          </a:p>
        </p:txBody>
      </p:sp>
    </p:spTree>
    <p:extLst>
      <p:ext uri="{BB962C8B-B14F-4D97-AF65-F5344CB8AC3E}">
        <p14:creationId xmlns:p14="http://schemas.microsoft.com/office/powerpoint/2010/main" val="1090470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40</a:t>
            </a:fld>
            <a:endParaRPr lang="en-US"/>
          </a:p>
        </p:txBody>
      </p:sp>
    </p:spTree>
    <p:extLst>
      <p:ext uri="{BB962C8B-B14F-4D97-AF65-F5344CB8AC3E}">
        <p14:creationId xmlns:p14="http://schemas.microsoft.com/office/powerpoint/2010/main" val="585818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43</a:t>
            </a:fld>
            <a:endParaRPr lang="en-US"/>
          </a:p>
        </p:txBody>
      </p:sp>
    </p:spTree>
    <p:extLst>
      <p:ext uri="{BB962C8B-B14F-4D97-AF65-F5344CB8AC3E}">
        <p14:creationId xmlns:p14="http://schemas.microsoft.com/office/powerpoint/2010/main" val="2720983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44</a:t>
            </a:fld>
            <a:endParaRPr lang="en-US"/>
          </a:p>
        </p:txBody>
      </p:sp>
    </p:spTree>
    <p:extLst>
      <p:ext uri="{BB962C8B-B14F-4D97-AF65-F5344CB8AC3E}">
        <p14:creationId xmlns:p14="http://schemas.microsoft.com/office/powerpoint/2010/main" val="14677195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45</a:t>
            </a:fld>
            <a:endParaRPr lang="en-US"/>
          </a:p>
        </p:txBody>
      </p:sp>
    </p:spTree>
    <p:extLst>
      <p:ext uri="{BB962C8B-B14F-4D97-AF65-F5344CB8AC3E}">
        <p14:creationId xmlns:p14="http://schemas.microsoft.com/office/powerpoint/2010/main" val="700052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19E147E-6766-458C-B228-6AF95CDD98E4}" type="slidenum">
              <a:rPr lang="en-US" smtClean="0"/>
              <a:t>48</a:t>
            </a:fld>
            <a:endParaRPr lang="en-US"/>
          </a:p>
        </p:txBody>
      </p:sp>
    </p:spTree>
    <p:extLst>
      <p:ext uri="{BB962C8B-B14F-4D97-AF65-F5344CB8AC3E}">
        <p14:creationId xmlns:p14="http://schemas.microsoft.com/office/powerpoint/2010/main" val="40414750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7" name="Bain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7037" y="4998212"/>
            <a:ext cx="3240000" cy="405000"/>
          </a:xfrm>
          <a:prstGeom prst="rect">
            <a:avLst/>
          </a:prstGeom>
        </p:spPr>
      </p:pic>
      <p:sp>
        <p:nvSpPr>
          <p:cNvPr id="13" name="TextBox 12"/>
          <p:cNvSpPr txBox="1"/>
          <p:nvPr userDrawn="1"/>
        </p:nvSpPr>
        <p:spPr>
          <a:xfrm>
            <a:off x="334963" y="5077602"/>
            <a:ext cx="884858" cy="246221"/>
          </a:xfrm>
          <a:prstGeom prst="rect">
            <a:avLst/>
          </a:prstGeom>
          <a:noFill/>
        </p:spPr>
        <p:txBody>
          <a:bodyPr wrap="none" lIns="0" tIns="0" rIns="0" bIns="0" rtlCol="0">
            <a:spAutoFit/>
          </a:bodyPr>
          <a:lstStyle/>
          <a:p>
            <a:pPr marL="0" indent="0">
              <a:buNone/>
            </a:pPr>
            <a:r>
              <a:rPr lang="en-US" sz="1600" b="1" cap="all" spc="300" baseline="0">
                <a:solidFill>
                  <a:schemeClr val="tx1"/>
                </a:solidFill>
              </a:rPr>
              <a:t>Draft</a:t>
            </a:r>
          </a:p>
        </p:txBody>
      </p:sp>
      <p:cxnSp>
        <p:nvCxnSpPr>
          <p:cNvPr id="5" name="SeparatorLine"/>
          <p:cNvCxnSpPr/>
          <p:nvPr userDrawn="1"/>
        </p:nvCxnSpPr>
        <p:spPr>
          <a:xfrm>
            <a:off x="0" y="4873803"/>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11" name="ClientLogo"/>
          <p:cNvSpPr>
            <a:spLocks noGrp="1"/>
          </p:cNvSpPr>
          <p:nvPr>
            <p:ph type="pic" sz="quarter" idx="10"/>
          </p:nvPr>
        </p:nvSpPr>
        <p:spPr>
          <a:xfrm>
            <a:off x="8617039" y="3364443"/>
            <a:ext cx="3239999" cy="1399647"/>
          </a:xfrm>
        </p:spPr>
        <p:txBody>
          <a:bodyPr/>
          <a:lstStyle>
            <a:lvl1pPr marL="0" indent="0">
              <a:buNone/>
              <a:defRPr/>
            </a:lvl1pPr>
          </a:lstStyle>
          <a:p>
            <a:r>
              <a:rPr lang="en-US"/>
              <a:t>Click icon to add picture</a:t>
            </a:r>
          </a:p>
        </p:txBody>
      </p:sp>
      <p:pic>
        <p:nvPicPr>
          <p:cNvPr id="8" name="Disclaimer"/>
          <p:cNvPicPr>
            <a:picLocks noChangeAspect="1"/>
          </p:cNvPicPr>
          <p:nvPr userDrawn="1"/>
        </p:nvPicPr>
        <p:blipFill>
          <a:blip r:embed="rId3"/>
          <a:stretch>
            <a:fillRect/>
          </a:stretch>
        </p:blipFill>
        <p:spPr>
          <a:xfrm>
            <a:off x="315468" y="6547288"/>
            <a:ext cx="6407451" cy="274344"/>
          </a:xfrm>
          <a:prstGeom prst="rect">
            <a:avLst/>
          </a:prstGeom>
        </p:spPr>
      </p:pic>
      <p:sp>
        <p:nvSpPr>
          <p:cNvPr id="3" name="Subtitle"/>
          <p:cNvSpPr>
            <a:spLocks noGrp="1"/>
          </p:cNvSpPr>
          <p:nvPr>
            <p:ph type="subTitle" idx="1" hasCustomPrompt="1"/>
          </p:nvPr>
        </p:nvSpPr>
        <p:spPr>
          <a:xfrm>
            <a:off x="334965" y="2420938"/>
            <a:ext cx="11522075" cy="900000"/>
          </a:xfrm>
        </p:spPr>
        <p:txBody>
          <a:bodyPr/>
          <a:lstStyle>
            <a:lvl1pPr marL="0" indent="0" algn="l">
              <a:lnSpc>
                <a:spcPct val="100000"/>
              </a:lnSpc>
              <a:spcBef>
                <a:spcPts val="0"/>
              </a:spcBef>
              <a:buNone/>
              <a:defRPr sz="220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add subtitle/contacts/date</a:t>
            </a:r>
          </a:p>
        </p:txBody>
      </p:sp>
      <p:sp>
        <p:nvSpPr>
          <p:cNvPr id="2" name="Title"/>
          <p:cNvSpPr>
            <a:spLocks noGrp="1"/>
          </p:cNvSpPr>
          <p:nvPr>
            <p:ph type="ctrTitle" hasCustomPrompt="1"/>
          </p:nvPr>
        </p:nvSpPr>
        <p:spPr>
          <a:xfrm>
            <a:off x="334964" y="1268413"/>
            <a:ext cx="11522075" cy="900112"/>
          </a:xfrm>
        </p:spPr>
        <p:txBody>
          <a:bodyPr anchor="b"/>
          <a:lstStyle>
            <a:lvl1pPr algn="l">
              <a:spcBef>
                <a:spcPts val="0"/>
              </a:spcBef>
              <a:defRPr sz="2600" b="1">
                <a:solidFill>
                  <a:schemeClr val="tx1"/>
                </a:solidFill>
              </a:defRPr>
            </a:lvl1pPr>
          </a:lstStyle>
          <a:p>
            <a:r>
              <a:rPr lang="en-US"/>
              <a:t>Click to add title</a:t>
            </a:r>
          </a:p>
        </p:txBody>
      </p:sp>
    </p:spTree>
    <p:extLst>
      <p:ext uri="{BB962C8B-B14F-4D97-AF65-F5344CB8AC3E}">
        <p14:creationId xmlns:p14="http://schemas.microsoft.com/office/powerpoint/2010/main" val="401204606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0429243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ast Page Logo">
    <p:spTree>
      <p:nvGrpSpPr>
        <p:cNvPr id="1" name=""/>
        <p:cNvGrpSpPr/>
        <p:nvPr/>
      </p:nvGrpSpPr>
      <p:grpSpPr>
        <a:xfrm>
          <a:off x="0" y="0"/>
          <a:ext cx="0" cy="0"/>
          <a:chOff x="0" y="0"/>
          <a:chExt cx="0" cy="0"/>
        </a:xfrm>
      </p:grpSpPr>
      <p:pic>
        <p:nvPicPr>
          <p:cNvPr id="38" name="Bain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7037" y="4998212"/>
            <a:ext cx="3240000" cy="405000"/>
          </a:xfrm>
          <a:prstGeom prst="rect">
            <a:avLst/>
          </a:prstGeom>
        </p:spPr>
      </p:pic>
      <p:cxnSp>
        <p:nvCxnSpPr>
          <p:cNvPr id="39" name="SeparatorLine"/>
          <p:cNvCxnSpPr/>
          <p:nvPr userDrawn="1"/>
        </p:nvCxnSpPr>
        <p:spPr>
          <a:xfrm>
            <a:off x="0" y="5481638"/>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7323518"/>
      </p:ext>
    </p:extLst>
  </p:cSld>
  <p:clrMapOvr>
    <a:masterClrMapping/>
  </p:clrMapOvr>
  <p:extLst>
    <p:ext uri="{DCECCB84-F9BA-43D5-87BE-67443E8EF086}">
      <p15:sldGuideLst xmlns:p15="http://schemas.microsoft.com/office/powerpoint/2012/main">
        <p15:guide id="1" orient="horz" pos="3453" userDrawn="1">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444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949F73F-40C4-459A-87F2-5B4A916D85AA}"/>
              </a:ext>
            </a:extLst>
          </p:cNvPr>
          <p:cNvGraphicFramePr>
            <a:graphicFrameLocks/>
          </p:cNvGraphicFramePr>
          <p:nvPr userDrawn="1">
            <p:custDataLst>
              <p:tags r:id="rId6"/>
            </p:custDataLst>
            <p:extLst>
              <p:ext uri="{D42A27DB-BD31-4B8C-83A1-F6EECF244321}">
                <p14:modId xmlns:p14="http://schemas.microsoft.com/office/powerpoint/2010/main" val="2439456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6" name="think-cell data - do not delete" hidden="1">
                        <a:extLst>
                          <a:ext uri="{FF2B5EF4-FFF2-40B4-BE49-F238E27FC236}">
                            <a16:creationId xmlns:a16="http://schemas.microsoft.com/office/drawing/2014/main" id="{9949F73F-40C4-459A-87F2-5B4A916D85AA}"/>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BtfpConfiguration" hidden="1"/>
          <p:cNvSpPr txBox="1"/>
          <p:nvPr userDrawn="1"/>
        </p:nvSpPr>
        <p:spPr bwMode="hidden">
          <a:xfrm>
            <a:off x="0" y="0"/>
            <a:ext cx="36000" cy="36000"/>
          </a:xfrm>
          <a:prstGeom prst="rect">
            <a:avLst/>
          </a:prstGeom>
          <a:noFill/>
        </p:spPr>
        <p:txBody>
          <a:bodyPr wrap="none" lIns="0" tIns="0" rIns="0" bIns="0" rtlCol="0">
            <a:noAutofit/>
          </a:bodyPr>
          <a:lstStyle/>
          <a:p>
            <a:pPr marL="0" indent="0">
              <a:buNone/>
            </a:pPr>
            <a:r>
              <a:rPr lang="en-US" sz="100">
                <a:solidFill>
                  <a:schemeClr val="bg1">
                    <a:alpha val="0"/>
                  </a:schemeClr>
                </a:solidFill>
              </a:rPr>
              <a:t>&lt;BTFP&gt;&lt;!-- BTFPCONFIGURATION: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--&gt;&lt;/BTFP&gt;</a:t>
            </a:r>
          </a:p>
        </p:txBody>
      </p:sp>
      <p:sp>
        <p:nvSpPr>
          <p:cNvPr id="19" name="SlideNumber"/>
          <p:cNvSpPr/>
          <p:nvPr userDrawn="1"/>
        </p:nvSpPr>
        <p:spPr bwMode="gray">
          <a:xfrm>
            <a:off x="11715975" y="6649694"/>
            <a:ext cx="141064" cy="138499"/>
          </a:xfrm>
          <a:prstGeom prst="roundRect">
            <a:avLst>
              <a:gd name="adj" fmla="val 0"/>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marL="0" indent="0" algn="r" defTabSz="711200" rtl="0" eaLnBrk="1" latinLnBrk="0" hangingPunct="1">
              <a:spcBef>
                <a:spcPts val="1200"/>
              </a:spcBef>
              <a:buNone/>
            </a:pPr>
            <a:fld id="{BB69BBE8-4DB2-4642-B003-B220ACD5A2FD}" type="slidenum">
              <a:rPr lang="en-US" sz="900" b="0" baseline="0" smtClean="0">
                <a:solidFill>
                  <a:schemeClr val="bg2"/>
                </a:solidFill>
                <a:latin typeface="+mn-lt"/>
              </a:rPr>
              <a:pPr marL="0" indent="0" algn="r" defTabSz="711200" rtl="0" eaLnBrk="1" latinLnBrk="0" hangingPunct="1">
                <a:spcBef>
                  <a:spcPts val="1200"/>
                </a:spcBef>
                <a:buNone/>
              </a:pPr>
              <a:t>‹#›</a:t>
            </a:fld>
            <a:endParaRPr lang="en-US" sz="900" b="0">
              <a:solidFill>
                <a:schemeClr val="bg2"/>
              </a:solidFill>
              <a:latin typeface="+mn-lt"/>
            </a:endParaRPr>
          </a:p>
        </p:txBody>
      </p:sp>
      <p:pic>
        <p:nvPicPr>
          <p:cNvPr id="12" name="BainLogo"/>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60000" y="6654664"/>
            <a:ext cx="1152000" cy="144000"/>
          </a:xfrm>
          <a:prstGeom prst="rect">
            <a:avLst/>
          </a:prstGeom>
        </p:spPr>
      </p:pic>
      <p:sp>
        <p:nvSpPr>
          <p:cNvPr id="8" name="CreatedFooter"/>
          <p:cNvSpPr/>
          <p:nvPr userDrawn="1"/>
        </p:nvSpPr>
        <p:spPr>
          <a:xfrm>
            <a:off x="8263033" y="6642830"/>
            <a:ext cx="1368171" cy="165036"/>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sz="600">
                <a:solidFill>
                  <a:srgbClr val="FFFFFF"/>
                </a:solidFill>
              </a:rPr>
              <a:t>Presentation1</a:t>
            </a:r>
          </a:p>
        </p:txBody>
      </p:sp>
      <p:sp>
        <p:nvSpPr>
          <p:cNvPr id="7" name="OfficeCode"/>
          <p:cNvSpPr/>
          <p:nvPr userDrawn="1"/>
        </p:nvSpPr>
        <p:spPr>
          <a:xfrm>
            <a:off x="7348519" y="6642830"/>
            <a:ext cx="288036" cy="165036"/>
          </a:xfrm>
          <a:prstGeom prst="rect">
            <a:avLst/>
          </a:prstGeom>
        </p:spPr>
        <p:txBody>
          <a:bodyPr wrap="square" lIns="36000" tIns="36000" rIns="36000" bIns="36000">
            <a:spAutoFit/>
          </a:bodyPr>
          <a:lstStyle/>
          <a:p>
            <a:pPr marL="0" indent="0" algn="ctr" defTabSz="711200" rtl="0" eaLnBrk="1" latinLnBrk="0" hangingPunct="1">
              <a:spcBef>
                <a:spcPts val="1200"/>
              </a:spcBef>
              <a:buNone/>
            </a:pPr>
            <a:r>
              <a:rPr lang="en-US" sz="600">
                <a:solidFill>
                  <a:srgbClr val="FFFFFF"/>
                </a:solidFill>
              </a:rPr>
              <a:t>DBS</a:t>
            </a:r>
          </a:p>
        </p:txBody>
      </p:sp>
      <p:pic>
        <p:nvPicPr>
          <p:cNvPr id="14" name="Disclaimer"/>
          <p:cNvPicPr>
            <a:picLocks noChangeAspect="1"/>
          </p:cNvPicPr>
          <p:nvPr userDrawn="1"/>
        </p:nvPicPr>
        <p:blipFill>
          <a:blip r:embed="rId10"/>
          <a:stretch>
            <a:fillRect/>
          </a:stretch>
        </p:blipFill>
        <p:spPr>
          <a:xfrm>
            <a:off x="316547" y="6641266"/>
            <a:ext cx="6407451" cy="176799"/>
          </a:xfrm>
          <a:prstGeom prst="rect">
            <a:avLst/>
          </a:prstGeom>
        </p:spPr>
      </p:pic>
      <p:cxnSp>
        <p:nvCxnSpPr>
          <p:cNvPr id="20" name="FooterSeparatorLine"/>
          <p:cNvCxnSpPr/>
          <p:nvPr userDrawn="1"/>
        </p:nvCxnSpPr>
        <p:spPr>
          <a:xfrm>
            <a:off x="0" y="6598800"/>
            <a:ext cx="11857037" cy="0"/>
          </a:xfrm>
          <a:prstGeom prst="line">
            <a:avLst/>
          </a:prstGeom>
          <a:ln w="9525" cap="flat">
            <a:solidFill>
              <a:schemeClr val="accent1"/>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3" name="Text Placeholder"/>
          <p:cNvSpPr>
            <a:spLocks noGrp="1"/>
          </p:cNvSpPr>
          <p:nvPr>
            <p:ph type="body" idx="1"/>
          </p:nvPr>
        </p:nvSpPr>
        <p:spPr>
          <a:xfrm>
            <a:off x="334435" y="1268413"/>
            <a:ext cx="11522603" cy="5292725"/>
          </a:xfrm>
          <a:prstGeom prst="rect">
            <a:avLst/>
          </a:prstGeom>
        </p:spPr>
        <p:txBody>
          <a:bodyPr vert="horz" lIns="36000" tIns="36000" rIns="36000" bIns="3600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TitleSeparatorLine"/>
          <p:cNvCxnSpPr/>
          <p:nvPr userDrawn="1"/>
        </p:nvCxnSpPr>
        <p:spPr>
          <a:xfrm>
            <a:off x="0" y="873125"/>
            <a:ext cx="11857037" cy="0"/>
          </a:xfrm>
          <a:prstGeom prst="line">
            <a:avLst/>
          </a:prstGeom>
          <a:ln w="19050" cap="flat">
            <a:solidFill>
              <a:schemeClr val="accent3"/>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2" name="Slide Title"/>
          <p:cNvSpPr>
            <a:spLocks noGrp="1"/>
          </p:cNvSpPr>
          <p:nvPr>
            <p:ph type="title"/>
          </p:nvPr>
        </p:nvSpPr>
        <p:spPr>
          <a:xfrm>
            <a:off x="334963" y="1"/>
            <a:ext cx="11522075" cy="876687"/>
          </a:xfrm>
          <a:prstGeom prst="rect">
            <a:avLst/>
          </a:prstGeom>
        </p:spPr>
        <p:txBody>
          <a:bodyPr vert="horz" lIns="36000" tIns="36000" rIns="36000" bIns="72000" rtlCol="0" anchor="b">
            <a:noAutofit/>
          </a:bodyPr>
          <a:lstStyle/>
          <a:p>
            <a:r>
              <a:rPr lang="en-US"/>
              <a:t>Click to edit Master title style</a:t>
            </a:r>
          </a:p>
        </p:txBody>
      </p:sp>
    </p:spTree>
    <p:extLst>
      <p:ext uri="{BB962C8B-B14F-4D97-AF65-F5344CB8AC3E}">
        <p14:creationId xmlns:p14="http://schemas.microsoft.com/office/powerpoint/2010/main" val="3729795247"/>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3" r:id="rId3"/>
    <p:sldLayoutId id="2147483655" r:id="rId4"/>
  </p:sldLayoutIdLst>
  <p:txStyles>
    <p:titleStyle>
      <a:lvl1pPr algn="l" defTabSz="7112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180975" indent="-180975" algn="l" defTabSz="914354" rtl="0" eaLnBrk="1" latinLnBrk="0" hangingPunct="1">
        <a:lnSpc>
          <a:spcPct val="100000"/>
        </a:lnSpc>
        <a:spcBef>
          <a:spcPts val="1200"/>
        </a:spcBef>
        <a:buFont typeface="Arial" panose="020B0604020202020204" pitchFamily="34" charset="0"/>
        <a:buChar char="•"/>
        <a:defRPr sz="1600" kern="1200">
          <a:solidFill>
            <a:schemeClr val="tx1"/>
          </a:solidFill>
          <a:latin typeface="+mn-lt"/>
          <a:ea typeface="+mn-ea"/>
          <a:cs typeface="+mn-cs"/>
        </a:defRPr>
      </a:lvl1pPr>
      <a:lvl2pPr marL="361950"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534988" indent="-173038"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3pPr>
      <a:lvl4pPr marL="715963" indent="-180975" algn="l" defTabSz="914354"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898525" indent="-182563" algn="l" defTabSz="914354" rtl="0" eaLnBrk="1" latinLnBrk="0" hangingPunct="1">
        <a:lnSpc>
          <a:spcPct val="100000"/>
        </a:lnSpc>
        <a:spcBef>
          <a:spcPts val="600"/>
        </a:spcBef>
        <a:buFont typeface="Arial" panose="020B0604020202020204" pitchFamily="34" charset="0"/>
        <a:buChar char="&gt;"/>
        <a:defRPr sz="14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algn="l" defTabSz="711200" rtl="0" eaLnBrk="1" latinLnBrk="0" hangingPunct="1">
        <a:defRPr sz="1400" kern="1200">
          <a:solidFill>
            <a:schemeClr val="tx1"/>
          </a:solidFill>
          <a:latin typeface="+mn-lt"/>
          <a:ea typeface="+mn-ea"/>
          <a:cs typeface="+mn-cs"/>
        </a:defRPr>
      </a:lvl6pPr>
      <a:lvl7pPr marL="1244600" algn="l" defTabSz="711200" rtl="0" eaLnBrk="1" latinLnBrk="0" hangingPunct="1">
        <a:defRPr sz="1400" kern="1200">
          <a:solidFill>
            <a:schemeClr val="tx1"/>
          </a:solidFill>
          <a:latin typeface="+mn-lt"/>
          <a:ea typeface="+mn-ea"/>
          <a:cs typeface="+mn-cs"/>
        </a:defRPr>
      </a:lvl7pPr>
      <a:lvl8pPr marL="1422400" algn="l" defTabSz="711200" rtl="0" eaLnBrk="1" latinLnBrk="0" hangingPunct="1">
        <a:defRPr sz="1400" kern="1200">
          <a:solidFill>
            <a:schemeClr val="tx1"/>
          </a:solidFill>
          <a:latin typeface="+mn-lt"/>
          <a:ea typeface="+mn-ea"/>
          <a:cs typeface="+mn-cs"/>
        </a:defRPr>
      </a:lvl8pPr>
      <a:lvl9pPr marL="1600200" algn="l" defTabSz="7112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0" userDrawn="1">
          <p15:clr>
            <a:srgbClr val="D1D1D1"/>
          </p15:clr>
        </p15:guide>
        <p15:guide id="4" orient="horz" pos="799" userDrawn="1">
          <p15:clr>
            <a:srgbClr val="D1D1D1"/>
          </p15:clr>
        </p15:guide>
        <p15:guide id="7" orient="horz" pos="4133" userDrawn="1">
          <p15:clr>
            <a:srgbClr val="D1D1D1"/>
          </p15:clr>
        </p15:guide>
        <p15:guide id="8" pos="208" userDrawn="1">
          <p15:clr>
            <a:srgbClr val="CCCCCC"/>
          </p15:clr>
        </p15:guide>
        <p15:guide id="9" pos="7472" userDrawn="1">
          <p15:clr>
            <a:srgbClr val="CCCCCC"/>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notesSlide" Target="../notesSlides/notesSlide1.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slideLayout" Target="../slideLayouts/slideLayout2.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image" Target="../media/image1.emf"/><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tags" Target="../tags/tag20.xml"/><Relationship Id="rId10" Type="http://schemas.openxmlformats.org/officeDocument/2006/relationships/tags" Target="../tags/tag15.xml"/><Relationship Id="rId19" Type="http://schemas.openxmlformats.org/officeDocument/2006/relationships/oleObject" Target="../embeddings/oleObject3.bin"/><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4.xml.rels><?xml version="1.0" encoding="UTF-8" standalone="yes"?>
<Relationships xmlns="http://schemas.openxmlformats.org/package/2006/relationships"><Relationship Id="rId8" Type="http://schemas.openxmlformats.org/officeDocument/2006/relationships/hyperlink" Target="https://bainandcompany.sharepoint.com/:p:/r/sites/M9DC/Shared%20Documents/Documents3/1.%20Case%20Filing/2.%20OI/Older%20OIs/1196.%20Cracker%20Barrel/241218_OI_Cracker%20Barrel_vF.pptx?d=w910cef951aff42c2b6b23321af645bd9&amp;csf=1&amp;web=1&amp;e=e9BhXc" TargetMode="External"/><Relationship Id="rId13" Type="http://schemas.openxmlformats.org/officeDocument/2006/relationships/hyperlink" Target="https://bainandcompany.sharepoint.com/:p:/r/sites/M9DC/Shared%20Documents/Documents3/1.%20Case%20Filing/2.%20OI/Older%20OIs/1221.%20OneAmerica/250127_OI_One%20America_vF.pptx?d=w6071e2d9a7b34479b596169aae5bb2c7&amp;csf=1&amp;web=1&amp;e=OyhxoA" TargetMode="External"/><Relationship Id="rId3" Type="http://schemas.openxmlformats.org/officeDocument/2006/relationships/slideLayout" Target="../slideLayouts/slideLayout2.xml"/><Relationship Id="rId7" Type="http://schemas.openxmlformats.org/officeDocument/2006/relationships/hyperlink" Target="https://bainandcompany.sharepoint.com/:p:/r/sites/M9DC/Shared%20Documents/Documents3/1.%20Case%20Filing/2.%20OI/Older%20OIs/1162.%20Pegasus/241107_Pegasus_OI_vF.pptx?d=w8b6efc1d4ad543029b03a652e7bff9fd&amp;csf=1&amp;web=1&amp;e=XGGFbr" TargetMode="External"/><Relationship Id="rId12" Type="http://schemas.openxmlformats.org/officeDocument/2006/relationships/hyperlink" Target="https://bainandcompany.sharepoint.com/:p:/r/sites/M9DC/Shared%20Documents/Documents3/1.%20Case%20Filing/2.%20OI/Older%20OIs/1207.%20Banamex/250110_Banamex_OI_vF.pptx?d=wbc5344a1a75340e585bdc412add60e61&amp;csf=1&amp;web=1&amp;e=LPE3eo" TargetMode="Externa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hyperlink" Target="https://bainandcompany.sharepoint.com/:p:/r/sites/M9DC/Shared%20Documents/Documents3/1.%20Case%20Filing/2.%20OI/Older%20OIs/1203.%20Autodesk/250109_Autodesk_OI_vF.pptx?d=w16872907edf44eafbe9ac07486ffe6a7&amp;csf=1&amp;web=1&amp;e=Oje9zk" TargetMode="External"/><Relationship Id="rId11" Type="http://schemas.openxmlformats.org/officeDocument/2006/relationships/hyperlink" Target="https://bainandcompany.sharepoint.com/:p:/r/sites/M9DC/Shared%20Documents/Documents3/1.%20Case%20Filing/2.%20OI/Older%20OIs/1146.%20Sabre/241029_Sabre_Followup_v1.pptx?d=wb539ee468a024c0ba7ae7c4f33da84c1&amp;csf=1&amp;web=1&amp;e=Icqs0F" TargetMode="External"/><Relationship Id="rId5" Type="http://schemas.openxmlformats.org/officeDocument/2006/relationships/image" Target="../media/image1.emf"/><Relationship Id="rId10" Type="http://schemas.openxmlformats.org/officeDocument/2006/relationships/hyperlink" Target="https://bainandcompany.sharepoint.com/:p:/r/sites/M9DC/Shared%20Documents/Documents3/1.%20Case%20Filing/2.%20OI/Older%20OIs/1214.%20Ford%20NWC/250123_Ford%20NWC_vF.pptx?d=w3c9158f5f2c141fb8c668072d6cc2c05&amp;csf=1&amp;web=1&amp;e=4IDugF" TargetMode="External"/><Relationship Id="rId4" Type="http://schemas.openxmlformats.org/officeDocument/2006/relationships/oleObject" Target="../embeddings/oleObject4.bin"/><Relationship Id="rId9" Type="http://schemas.openxmlformats.org/officeDocument/2006/relationships/hyperlink" Target="https://bainandcompany.sharepoint.com/:p:/r/sites/M9DC/Shared%20Documents/Documents3/1.%20Case%20Filing/2.%20OI/Older%20OIs/1230.%20MedTech%20Sector%20Scan/250219_OI_MedTech%20Sector%20Scan_VF.pptx?d=we5911ddecad34f30a2ea90b67d5b4446&amp;csf=1&amp;web=1&amp;e=FsYQv8"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6.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emf"/><Relationship Id="rId5" Type="http://schemas.openxmlformats.org/officeDocument/2006/relationships/oleObject" Target="../embeddings/oleObject5.bin"/><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emf"/><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oleObject" Target="../embeddings/oleObject6.bin"/><Relationship Id="rId5" Type="http://schemas.openxmlformats.org/officeDocument/2006/relationships/slideLayout" Target="../slideLayouts/slideLayout2.xml"/><Relationship Id="rId4" Type="http://schemas.openxmlformats.org/officeDocument/2006/relationships/tags" Target="../tags/tag31.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1.emf"/><Relationship Id="rId5" Type="http://schemas.openxmlformats.org/officeDocument/2006/relationships/tags" Target="../tags/tag36.xml"/><Relationship Id="rId10" Type="http://schemas.openxmlformats.org/officeDocument/2006/relationships/oleObject" Target="../embeddings/oleObject7.bin"/><Relationship Id="rId4" Type="http://schemas.openxmlformats.org/officeDocument/2006/relationships/tags" Target="../tags/tag35.xml"/><Relationship Id="rId9"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41.xml"/><Relationship Id="rId7" Type="http://schemas.openxmlformats.org/officeDocument/2006/relationships/image" Target="../media/image1.emf"/><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oleObject" Target="../embeddings/oleObject8.bin"/><Relationship Id="rId5" Type="http://schemas.openxmlformats.org/officeDocument/2006/relationships/slideLayout" Target="../slideLayouts/slideLayout2.xml"/><Relationship Id="rId4" Type="http://schemas.openxmlformats.org/officeDocument/2006/relationships/tags" Target="../tags/tag42.xml"/><Relationship Id="rId9" Type="http://schemas.openxmlformats.org/officeDocument/2006/relationships/image" Target="../media/image6.emf"/></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45.xml"/><Relationship Id="rId7" Type="http://schemas.openxmlformats.org/officeDocument/2006/relationships/slideLayout" Target="../slideLayouts/slideLayout2.xml"/><Relationship Id="rId12" Type="http://schemas.openxmlformats.org/officeDocument/2006/relationships/image" Target="../media/image8.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image" Target="../media/image7.png"/><Relationship Id="rId5" Type="http://schemas.openxmlformats.org/officeDocument/2006/relationships/tags" Target="../tags/tag47.xml"/><Relationship Id="rId10" Type="http://schemas.openxmlformats.org/officeDocument/2006/relationships/image" Target="../media/image1.emf"/><Relationship Id="rId4" Type="http://schemas.openxmlformats.org/officeDocument/2006/relationships/tags" Target="../tags/tag46.xml"/><Relationship Id="rId9"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51.xml"/><Relationship Id="rId7" Type="http://schemas.openxmlformats.org/officeDocument/2006/relationships/notesSlide" Target="../notesSlides/notesSlide4.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Layout" Target="../slideLayouts/slideLayout2.xml"/><Relationship Id="rId5" Type="http://schemas.openxmlformats.org/officeDocument/2006/relationships/tags" Target="../tags/tag53.xml"/><Relationship Id="rId10" Type="http://schemas.openxmlformats.org/officeDocument/2006/relationships/image" Target="../media/image9.png"/><Relationship Id="rId4" Type="http://schemas.openxmlformats.org/officeDocument/2006/relationships/tags" Target="../tags/tag52.xml"/><Relationship Id="rId9"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image" Target="../media/image1.emf"/><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oleObject" Target="../embeddings/oleObject11.bin"/><Relationship Id="rId5" Type="http://schemas.openxmlformats.org/officeDocument/2006/relationships/slideLayout" Target="../slideLayouts/slideLayout2.xml"/><Relationship Id="rId4" Type="http://schemas.openxmlformats.org/officeDocument/2006/relationships/tags" Target="../tags/tag57.xml"/></Relationships>
</file>

<file path=ppt/slides/_rels/slide13.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1.emf"/><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oleObject" Target="../embeddings/oleObject12.bin"/><Relationship Id="rId5" Type="http://schemas.openxmlformats.org/officeDocument/2006/relationships/slideLayout" Target="../slideLayouts/slideLayout2.xml"/><Relationship Id="rId4" Type="http://schemas.openxmlformats.org/officeDocument/2006/relationships/tags" Target="../tags/tag6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1.emf"/><Relationship Id="rId4" Type="http://schemas.openxmlformats.org/officeDocument/2006/relationships/oleObject" Target="../embeddings/oleObject13.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1.emf"/><Relationship Id="rId4" Type="http://schemas.openxmlformats.org/officeDocument/2006/relationships/oleObject" Target="../embeddings/oleObject14.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1.emf"/><Relationship Id="rId4"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tags" Target="../tags/tag72.xml"/><Relationship Id="rId7" Type="http://schemas.openxmlformats.org/officeDocument/2006/relationships/notesSlide" Target="../notesSlides/notesSlide5.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slideLayout" Target="../slideLayouts/slideLayout2.xml"/><Relationship Id="rId5" Type="http://schemas.openxmlformats.org/officeDocument/2006/relationships/tags" Target="../tags/tag74.xml"/><Relationship Id="rId4" Type="http://schemas.openxmlformats.org/officeDocument/2006/relationships/tags" Target="../tags/tag73.xml"/><Relationship Id="rId9" Type="http://schemas.openxmlformats.org/officeDocument/2006/relationships/image" Target="../media/image1.emf"/></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1.png"/><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image" Target="../media/image10.png"/><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image" Target="../media/image1.emf"/><Relationship Id="rId5" Type="http://schemas.openxmlformats.org/officeDocument/2006/relationships/tags" Target="../tags/tag79.xml"/><Relationship Id="rId10" Type="http://schemas.openxmlformats.org/officeDocument/2006/relationships/oleObject" Target="../embeddings/oleObject17.bin"/><Relationship Id="rId4" Type="http://schemas.openxmlformats.org/officeDocument/2006/relationships/tags" Target="../tags/tag78.xml"/><Relationship Id="rId9"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image" Target="../media/image13.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media/image12.png"/><Relationship Id="rId5" Type="http://schemas.openxmlformats.org/officeDocument/2006/relationships/tags" Target="../tags/tag86.xml"/><Relationship Id="rId10" Type="http://schemas.openxmlformats.org/officeDocument/2006/relationships/image" Target="../media/image1.emf"/><Relationship Id="rId4" Type="http://schemas.openxmlformats.org/officeDocument/2006/relationships/tags" Target="../tags/tag85.xml"/><Relationship Id="rId9" Type="http://schemas.openxmlformats.org/officeDocument/2006/relationships/oleObject" Target="../embeddings/oleObject18.bin"/></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5.png"/><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image" Target="../media/image14.png"/><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1.emf"/><Relationship Id="rId5" Type="http://schemas.openxmlformats.org/officeDocument/2006/relationships/tags" Target="../tags/tag93.xml"/><Relationship Id="rId10" Type="http://schemas.openxmlformats.org/officeDocument/2006/relationships/oleObject" Target="../embeddings/oleObject19.bin"/><Relationship Id="rId4" Type="http://schemas.openxmlformats.org/officeDocument/2006/relationships/tags" Target="../tags/tag92.xml"/><Relationship Id="rId9"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7.png"/><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6.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image" Target="../media/image1.emf"/><Relationship Id="rId5" Type="http://schemas.openxmlformats.org/officeDocument/2006/relationships/tags" Target="../tags/tag100.xml"/><Relationship Id="rId10" Type="http://schemas.openxmlformats.org/officeDocument/2006/relationships/oleObject" Target="../embeddings/oleObject20.bin"/><Relationship Id="rId4" Type="http://schemas.openxmlformats.org/officeDocument/2006/relationships/tags" Target="../tags/tag99.xml"/><Relationship Id="rId9"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tags" Target="../tags/tag105.xml"/><Relationship Id="rId7" Type="http://schemas.openxmlformats.org/officeDocument/2006/relationships/image" Target="../media/image1.emf"/><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oleObject" Target="../embeddings/oleObject21.bin"/><Relationship Id="rId5" Type="http://schemas.openxmlformats.org/officeDocument/2006/relationships/slideLayout" Target="../slideLayouts/slideLayout2.xml"/><Relationship Id="rId10" Type="http://schemas.openxmlformats.org/officeDocument/2006/relationships/image" Target="../media/image6.emf"/><Relationship Id="rId4" Type="http://schemas.openxmlformats.org/officeDocument/2006/relationships/tags" Target="../tags/tag106.xml"/><Relationship Id="rId9" Type="http://schemas.openxmlformats.org/officeDocument/2006/relationships/image" Target="../media/image5.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2.png"/><Relationship Id="rId3" Type="http://schemas.openxmlformats.org/officeDocument/2006/relationships/tags" Target="../tags/tag109.xml"/><Relationship Id="rId7" Type="http://schemas.openxmlformats.org/officeDocument/2006/relationships/notesSlide" Target="../notesSlides/notesSlide9.xml"/><Relationship Id="rId12" Type="http://schemas.openxmlformats.org/officeDocument/2006/relationships/image" Target="../media/image21.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slideLayout" Target="../slideLayouts/slideLayout2.xml"/><Relationship Id="rId11" Type="http://schemas.openxmlformats.org/officeDocument/2006/relationships/image" Target="../media/image20.png"/><Relationship Id="rId5" Type="http://schemas.openxmlformats.org/officeDocument/2006/relationships/tags" Target="../tags/tag111.xml"/><Relationship Id="rId10" Type="http://schemas.openxmlformats.org/officeDocument/2006/relationships/image" Target="../media/image19.png"/><Relationship Id="rId4" Type="http://schemas.openxmlformats.org/officeDocument/2006/relationships/tags" Target="../tags/tag110.xml"/><Relationship Id="rId9" Type="http://schemas.openxmlformats.org/officeDocument/2006/relationships/image" Target="../media/image1.e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tags" Target="../tags/tag114.xml"/><Relationship Id="rId7" Type="http://schemas.openxmlformats.org/officeDocument/2006/relationships/notesSlide" Target="../notesSlides/notesSlide10.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slideLayout" Target="../slideLayouts/slideLayout2.xml"/><Relationship Id="rId5" Type="http://schemas.openxmlformats.org/officeDocument/2006/relationships/tags" Target="../tags/tag116.xml"/><Relationship Id="rId10" Type="http://schemas.openxmlformats.org/officeDocument/2006/relationships/image" Target="../media/image23.png"/><Relationship Id="rId4" Type="http://schemas.openxmlformats.org/officeDocument/2006/relationships/tags" Target="../tags/tag115.xml"/><Relationship Id="rId9" Type="http://schemas.openxmlformats.org/officeDocument/2006/relationships/image" Target="../media/image1.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119.xml"/><Relationship Id="rId7" Type="http://schemas.openxmlformats.org/officeDocument/2006/relationships/notesSlide" Target="../notesSlides/notesSlide11.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slideLayout" Target="../slideLayouts/slideLayout2.xml"/><Relationship Id="rId5" Type="http://schemas.openxmlformats.org/officeDocument/2006/relationships/tags" Target="../tags/tag121.xml"/><Relationship Id="rId10" Type="http://schemas.openxmlformats.org/officeDocument/2006/relationships/image" Target="../media/image24.png"/><Relationship Id="rId4" Type="http://schemas.openxmlformats.org/officeDocument/2006/relationships/tags" Target="../tags/tag120.xml"/><Relationship Id="rId9" Type="http://schemas.openxmlformats.org/officeDocument/2006/relationships/image" Target="../media/image1.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124.xml"/><Relationship Id="rId7" Type="http://schemas.openxmlformats.org/officeDocument/2006/relationships/notesSlide" Target="../notesSlides/notesSlide1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slideLayout" Target="../slideLayouts/slideLayout2.xml"/><Relationship Id="rId5" Type="http://schemas.openxmlformats.org/officeDocument/2006/relationships/tags" Target="../tags/tag126.xml"/><Relationship Id="rId10" Type="http://schemas.openxmlformats.org/officeDocument/2006/relationships/image" Target="../media/image25.png"/><Relationship Id="rId4" Type="http://schemas.openxmlformats.org/officeDocument/2006/relationships/tags" Target="../tags/tag125.xml"/><Relationship Id="rId9" Type="http://schemas.openxmlformats.org/officeDocument/2006/relationships/image" Target="../media/image1.e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tags" Target="../tags/tag129.xml"/><Relationship Id="rId7" Type="http://schemas.openxmlformats.org/officeDocument/2006/relationships/notesSlide" Target="../notesSlides/notesSlide13.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slideLayout" Target="../slideLayouts/slideLayout2.xml"/><Relationship Id="rId5" Type="http://schemas.openxmlformats.org/officeDocument/2006/relationships/tags" Target="../tags/tag131.xml"/><Relationship Id="rId10" Type="http://schemas.openxmlformats.org/officeDocument/2006/relationships/image" Target="../media/image25.png"/><Relationship Id="rId4" Type="http://schemas.openxmlformats.org/officeDocument/2006/relationships/tags" Target="../tags/tag130.xml"/><Relationship Id="rId9" Type="http://schemas.openxmlformats.org/officeDocument/2006/relationships/image" Target="../media/image1.e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tags" Target="../tags/tag134.xml"/><Relationship Id="rId7" Type="http://schemas.openxmlformats.org/officeDocument/2006/relationships/notesSlide" Target="../notesSlides/notesSlide14.xml"/><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slideLayout" Target="../slideLayouts/slideLayout2.xml"/><Relationship Id="rId5" Type="http://schemas.openxmlformats.org/officeDocument/2006/relationships/tags" Target="../tags/tag136.xml"/><Relationship Id="rId10" Type="http://schemas.openxmlformats.org/officeDocument/2006/relationships/image" Target="../media/image25.png"/><Relationship Id="rId4" Type="http://schemas.openxmlformats.org/officeDocument/2006/relationships/tags" Target="../tags/tag135.xml"/><Relationship Id="rId9" Type="http://schemas.openxmlformats.org/officeDocument/2006/relationships/image" Target="../media/image1.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tags" Target="../tags/tag139.xml"/><Relationship Id="rId7" Type="http://schemas.openxmlformats.org/officeDocument/2006/relationships/notesSlide" Target="../notesSlides/notesSlide15.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slideLayout" Target="../slideLayouts/slideLayout2.xml"/><Relationship Id="rId5" Type="http://schemas.openxmlformats.org/officeDocument/2006/relationships/tags" Target="../tags/tag141.xml"/><Relationship Id="rId10" Type="http://schemas.openxmlformats.org/officeDocument/2006/relationships/image" Target="../media/image26.png"/><Relationship Id="rId4" Type="http://schemas.openxmlformats.org/officeDocument/2006/relationships/tags" Target="../tags/tag140.xml"/><Relationship Id="rId9" Type="http://schemas.openxmlformats.org/officeDocument/2006/relationships/image" Target="../media/image1.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tags" Target="../tags/tag144.xml"/><Relationship Id="rId7" Type="http://schemas.openxmlformats.org/officeDocument/2006/relationships/notesSlide" Target="../notesSlides/notesSlide16.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slideLayout" Target="../slideLayouts/slideLayout2.xml"/><Relationship Id="rId5" Type="http://schemas.openxmlformats.org/officeDocument/2006/relationships/tags" Target="../tags/tag146.xml"/><Relationship Id="rId10" Type="http://schemas.openxmlformats.org/officeDocument/2006/relationships/image" Target="../media/image27.png"/><Relationship Id="rId4" Type="http://schemas.openxmlformats.org/officeDocument/2006/relationships/tags" Target="../tags/tag145.xml"/><Relationship Id="rId9" Type="http://schemas.openxmlformats.org/officeDocument/2006/relationships/image" Target="../media/image1.emf"/></Relationships>
</file>

<file path=ppt/slides/_rels/slide32.xml.rels><?xml version="1.0" encoding="UTF-8" standalone="yes"?>
<Relationships xmlns="http://schemas.openxmlformats.org/package/2006/relationships"><Relationship Id="rId3" Type="http://schemas.openxmlformats.org/officeDocument/2006/relationships/tags" Target="../tags/tag149.xml"/><Relationship Id="rId7" Type="http://schemas.openxmlformats.org/officeDocument/2006/relationships/image" Target="../media/image1.emf"/><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oleObject" Target="../embeddings/oleObject30.bin"/><Relationship Id="rId5" Type="http://schemas.openxmlformats.org/officeDocument/2006/relationships/slideLayout" Target="../slideLayouts/slideLayout2.xml"/><Relationship Id="rId4" Type="http://schemas.openxmlformats.org/officeDocument/2006/relationships/tags" Target="../tags/tag150.xml"/></Relationships>
</file>

<file path=ppt/slides/_rels/slide3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53.xml"/><Relationship Id="rId7" Type="http://schemas.openxmlformats.org/officeDocument/2006/relationships/oleObject" Target="../embeddings/oleObject31.bin"/><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154.xml"/></Relationships>
</file>

<file path=ppt/slides/_rels/slide3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57.xml"/><Relationship Id="rId7" Type="http://schemas.openxmlformats.org/officeDocument/2006/relationships/oleObject" Target="../embeddings/oleObject32.bin"/><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slideLayout" Target="../slideLayouts/slideLayout2.xml"/><Relationship Id="rId5" Type="http://schemas.openxmlformats.org/officeDocument/2006/relationships/tags" Target="../tags/tag159.xml"/><Relationship Id="rId4" Type="http://schemas.openxmlformats.org/officeDocument/2006/relationships/tags" Target="../tags/tag158.xml"/><Relationship Id="rId9" Type="http://schemas.openxmlformats.org/officeDocument/2006/relationships/image" Target="../media/image28.png"/></Relationships>
</file>

<file path=ppt/slides/_rels/slide3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2.xml"/><Relationship Id="rId7" Type="http://schemas.openxmlformats.org/officeDocument/2006/relationships/oleObject" Target="../embeddings/oleObject33.bin"/><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notesSlide" Target="../notesSlides/notesSlide18.xml"/><Relationship Id="rId5" Type="http://schemas.openxmlformats.org/officeDocument/2006/relationships/slideLayout" Target="../slideLayouts/slideLayout2.xml"/><Relationship Id="rId10" Type="http://schemas.openxmlformats.org/officeDocument/2006/relationships/image" Target="../media/image5.emf"/><Relationship Id="rId4" Type="http://schemas.openxmlformats.org/officeDocument/2006/relationships/tags" Target="../tags/tag163.xml"/><Relationship Id="rId9" Type="http://schemas.openxmlformats.org/officeDocument/2006/relationships/image" Target="../media/image6.e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tags" Target="../tags/tag166.xml"/><Relationship Id="rId7" Type="http://schemas.openxmlformats.org/officeDocument/2006/relationships/notesSlide" Target="../notesSlides/notesSlide19.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slideLayout" Target="../slideLayouts/slideLayout2.xml"/><Relationship Id="rId5" Type="http://schemas.openxmlformats.org/officeDocument/2006/relationships/tags" Target="../tags/tag168.xml"/><Relationship Id="rId10" Type="http://schemas.openxmlformats.org/officeDocument/2006/relationships/image" Target="../media/image29.png"/><Relationship Id="rId4" Type="http://schemas.openxmlformats.org/officeDocument/2006/relationships/tags" Target="../tags/tag167.xml"/><Relationship Id="rId9" Type="http://schemas.openxmlformats.org/officeDocument/2006/relationships/image" Target="../media/image1.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tags" Target="../tags/tag171.xml"/><Relationship Id="rId7" Type="http://schemas.openxmlformats.org/officeDocument/2006/relationships/notesSlide" Target="../notesSlides/notesSlide20.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slideLayout" Target="../slideLayouts/slideLayout2.xml"/><Relationship Id="rId11" Type="http://schemas.openxmlformats.org/officeDocument/2006/relationships/image" Target="../media/image31.png"/><Relationship Id="rId5" Type="http://schemas.openxmlformats.org/officeDocument/2006/relationships/tags" Target="../tags/tag173.xml"/><Relationship Id="rId10" Type="http://schemas.openxmlformats.org/officeDocument/2006/relationships/image" Target="../media/image30.png"/><Relationship Id="rId4" Type="http://schemas.openxmlformats.org/officeDocument/2006/relationships/tags" Target="../tags/tag172.xml"/><Relationship Id="rId9" Type="http://schemas.openxmlformats.org/officeDocument/2006/relationships/image" Target="../media/image1.e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tags" Target="../tags/tag176.xml"/><Relationship Id="rId7" Type="http://schemas.openxmlformats.org/officeDocument/2006/relationships/notesSlide" Target="../notesSlides/notesSlide21.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slideLayout" Target="../slideLayouts/slideLayout2.xml"/><Relationship Id="rId5" Type="http://schemas.openxmlformats.org/officeDocument/2006/relationships/tags" Target="../tags/tag178.xml"/><Relationship Id="rId10" Type="http://schemas.openxmlformats.org/officeDocument/2006/relationships/image" Target="../media/image29.png"/><Relationship Id="rId4" Type="http://schemas.openxmlformats.org/officeDocument/2006/relationships/tags" Target="../tags/tag177.xml"/><Relationship Id="rId9" Type="http://schemas.openxmlformats.org/officeDocument/2006/relationships/image" Target="../media/image1.e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tags" Target="../tags/tag181.xml"/><Relationship Id="rId7" Type="http://schemas.openxmlformats.org/officeDocument/2006/relationships/notesSlide" Target="../notesSlides/notesSlide22.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slideLayout" Target="../slideLayouts/slideLayout2.xml"/><Relationship Id="rId5" Type="http://schemas.openxmlformats.org/officeDocument/2006/relationships/tags" Target="../tags/tag183.xml"/><Relationship Id="rId10" Type="http://schemas.openxmlformats.org/officeDocument/2006/relationships/image" Target="../media/image32.png"/><Relationship Id="rId4" Type="http://schemas.openxmlformats.org/officeDocument/2006/relationships/tags" Target="../tags/tag182.xml"/><Relationship Id="rId9" Type="http://schemas.openxmlformats.org/officeDocument/2006/relationships/image" Target="../media/image1.e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tags" Target="../tags/tag186.xml"/><Relationship Id="rId7" Type="http://schemas.openxmlformats.org/officeDocument/2006/relationships/notesSlide" Target="../notesSlides/notesSlide23.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slideLayout" Target="../slideLayouts/slideLayout2.xml"/><Relationship Id="rId11" Type="http://schemas.openxmlformats.org/officeDocument/2006/relationships/image" Target="../media/image34.png"/><Relationship Id="rId5" Type="http://schemas.openxmlformats.org/officeDocument/2006/relationships/tags" Target="../tags/tag188.xml"/><Relationship Id="rId10" Type="http://schemas.openxmlformats.org/officeDocument/2006/relationships/image" Target="../media/image33.png"/><Relationship Id="rId4" Type="http://schemas.openxmlformats.org/officeDocument/2006/relationships/tags" Target="../tags/tag187.xml"/><Relationship Id="rId9" Type="http://schemas.openxmlformats.org/officeDocument/2006/relationships/image" Target="../media/image1.emf"/></Relationships>
</file>

<file path=ppt/slides/_rels/slide41.xml.rels><?xml version="1.0" encoding="UTF-8" standalone="yes"?>
<Relationships xmlns="http://schemas.openxmlformats.org/package/2006/relationships"><Relationship Id="rId3" Type="http://schemas.openxmlformats.org/officeDocument/2006/relationships/tags" Target="../tags/tag191.xml"/><Relationship Id="rId7" Type="http://schemas.openxmlformats.org/officeDocument/2006/relationships/image" Target="../media/image1.emf"/><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oleObject" Target="../embeddings/oleObject39.bin"/><Relationship Id="rId5" Type="http://schemas.openxmlformats.org/officeDocument/2006/relationships/slideLayout" Target="../slideLayouts/slideLayout2.xml"/><Relationship Id="rId4" Type="http://schemas.openxmlformats.org/officeDocument/2006/relationships/tags" Target="../tags/tag192.xml"/></Relationships>
</file>

<file path=ppt/slides/_rels/slide42.xml.rels><?xml version="1.0" encoding="UTF-8" standalone="yes"?>
<Relationships xmlns="http://schemas.openxmlformats.org/package/2006/relationships"><Relationship Id="rId3" Type="http://schemas.openxmlformats.org/officeDocument/2006/relationships/tags" Target="../tags/tag195.xml"/><Relationship Id="rId7" Type="http://schemas.openxmlformats.org/officeDocument/2006/relationships/image" Target="../media/image1.emf"/><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oleObject" Target="../embeddings/oleObject40.bin"/><Relationship Id="rId5" Type="http://schemas.openxmlformats.org/officeDocument/2006/relationships/slideLayout" Target="../slideLayouts/slideLayout2.xml"/><Relationship Id="rId4" Type="http://schemas.openxmlformats.org/officeDocument/2006/relationships/tags" Target="../tags/tag196.xml"/></Relationships>
</file>

<file path=ppt/slides/_rels/slide4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99.xml"/><Relationship Id="rId7" Type="http://schemas.openxmlformats.org/officeDocument/2006/relationships/oleObject" Target="../embeddings/oleObject41.bin"/><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notesSlide" Target="../notesSlides/notesSlide24.xml"/><Relationship Id="rId5" Type="http://schemas.openxmlformats.org/officeDocument/2006/relationships/slideLayout" Target="../slideLayouts/slideLayout2.xml"/><Relationship Id="rId10" Type="http://schemas.openxmlformats.org/officeDocument/2006/relationships/image" Target="../media/image6.emf"/><Relationship Id="rId4" Type="http://schemas.openxmlformats.org/officeDocument/2006/relationships/tags" Target="../tags/tag200.xml"/><Relationship Id="rId9" Type="http://schemas.openxmlformats.org/officeDocument/2006/relationships/image" Target="../media/image5.e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tags" Target="../tags/tag203.xml"/><Relationship Id="rId7" Type="http://schemas.openxmlformats.org/officeDocument/2006/relationships/notesSlide" Target="../notesSlides/notesSlide25.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slideLayout" Target="../slideLayouts/slideLayout2.xml"/><Relationship Id="rId5" Type="http://schemas.openxmlformats.org/officeDocument/2006/relationships/tags" Target="../tags/tag205.xml"/><Relationship Id="rId10" Type="http://schemas.openxmlformats.org/officeDocument/2006/relationships/hyperlink" Target="https://bainandcompany.sharepoint.com/:p:/r/sites/M9DC/Shared%20Documents/Documents3/1.%20Case%20Filing/Work%20planning/OI%20Team%20Best%20Practice%20Sharing.pptx?d=w4353d1e383c340f9a7be78b13070bbee&amp;csf=1&amp;web=1&amp;e=yDYLkC" TargetMode="External"/><Relationship Id="rId4" Type="http://schemas.openxmlformats.org/officeDocument/2006/relationships/tags" Target="../tags/tag204.xml"/><Relationship Id="rId9" Type="http://schemas.openxmlformats.org/officeDocument/2006/relationships/image" Target="../media/image1.e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tags" Target="../tags/tag208.xml"/><Relationship Id="rId7" Type="http://schemas.openxmlformats.org/officeDocument/2006/relationships/notesSlide" Target="../notesSlides/notesSlide26.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slideLayout" Target="../slideLayouts/slideLayout2.xml"/><Relationship Id="rId5" Type="http://schemas.openxmlformats.org/officeDocument/2006/relationships/tags" Target="../tags/tag210.xml"/><Relationship Id="rId10" Type="http://schemas.openxmlformats.org/officeDocument/2006/relationships/image" Target="../media/image35.png"/><Relationship Id="rId4" Type="http://schemas.openxmlformats.org/officeDocument/2006/relationships/tags" Target="../tags/tag209.xml"/><Relationship Id="rId9" Type="http://schemas.openxmlformats.org/officeDocument/2006/relationships/image" Target="../media/image1.e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1.xml"/></Relationships>
</file>

<file path=ppt/slides/_rels/slide47.xml.rels><?xml version="1.0" encoding="UTF-8" standalone="yes"?>
<Relationships xmlns="http://schemas.openxmlformats.org/package/2006/relationships"><Relationship Id="rId8" Type="http://schemas.openxmlformats.org/officeDocument/2006/relationships/hyperlink" Target="https://bainandcompany.sharepoint.com/:x:/s/CostCommercialEngine-CoE/EbV7uUSe23BOlBIYVwo4o-gB6hNSNSsMQ22lDBEGpn38mA?e=bd8AHS" TargetMode="External"/><Relationship Id="rId3" Type="http://schemas.openxmlformats.org/officeDocument/2006/relationships/slideLayout" Target="../slideLayouts/slideLayout2.xml"/><Relationship Id="rId7" Type="http://schemas.openxmlformats.org/officeDocument/2006/relationships/hyperlink" Target="https://trello.com/b/aXxN6oXg/diagnostic-coe-workplan" TargetMode="Externa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hyperlink" Target="https://www.capitaliq.spglobal.com/" TargetMode="External"/><Relationship Id="rId11" Type="http://schemas.openxmlformats.org/officeDocument/2006/relationships/hyperlink" Target="https://getsmart.bain.dev/" TargetMode="External"/><Relationship Id="rId5" Type="http://schemas.openxmlformats.org/officeDocument/2006/relationships/image" Target="../media/image1.emf"/><Relationship Id="rId10" Type="http://schemas.openxmlformats.org/officeDocument/2006/relationships/hyperlink" Target="https://bainandcompany.sharepoint.com/:p:/r/sites/M9DC/Shared%20Documents/Documents3/1.%20Case%20Filing/OI%20GenAI%20tools%20repository%20vF.pptx?d=w8e55f2b79f124aebbc87d1aae13ccf84&amp;csf=1&amp;web=1&amp;e=qkK6hB" TargetMode="External"/><Relationship Id="rId4" Type="http://schemas.openxmlformats.org/officeDocument/2006/relationships/oleObject" Target="../embeddings/oleObject44.bin"/><Relationship Id="rId9" Type="http://schemas.openxmlformats.org/officeDocument/2006/relationships/hyperlink" Target="https://tableau.bain.com/#/site/PIBenchmarking/views/AnswerFirstOI/2_1EBITGMSGATrendSizing?:iid=1" TargetMode="External"/></Relationships>
</file>

<file path=ppt/slides/_rels/slide4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216.xml"/><Relationship Id="rId7" Type="http://schemas.openxmlformats.org/officeDocument/2006/relationships/image" Target="../media/image1.emf"/><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oleObject" Target="../embeddings/oleObject45.bin"/><Relationship Id="rId5" Type="http://schemas.openxmlformats.org/officeDocument/2006/relationships/notesSlide" Target="../notesSlides/notesSlide27.xml"/><Relationship Id="rId10" Type="http://schemas.openxmlformats.org/officeDocument/2006/relationships/image" Target="../media/image38.png"/><Relationship Id="rId4" Type="http://schemas.openxmlformats.org/officeDocument/2006/relationships/slideLayout" Target="../slideLayouts/slideLayout2.xml"/><Relationship Id="rId9"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image" Target="../media/image1.emf"/><Relationship Id="rId5" Type="http://schemas.openxmlformats.org/officeDocument/2006/relationships/oleObject" Target="../embeddings/oleObject46.bin"/><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image" Target="../media/image1.emf"/><Relationship Id="rId5" Type="http://schemas.openxmlformats.org/officeDocument/2006/relationships/oleObject" Target="../embeddings/oleObject47.bin"/><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3.xml"/></Relationships>
</file>

<file path=ppt/slides/_rels/slide52.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image" Target="../media/image40.png"/><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image" Target="../media/image39.png"/><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image" Target="../media/image1.emf"/><Relationship Id="rId5" Type="http://schemas.openxmlformats.org/officeDocument/2006/relationships/tags" Target="../tags/tag228.xml"/><Relationship Id="rId10" Type="http://schemas.openxmlformats.org/officeDocument/2006/relationships/oleObject" Target="../embeddings/oleObject48.bin"/><Relationship Id="rId4" Type="http://schemas.openxmlformats.org/officeDocument/2006/relationships/tags" Target="../tags/tag227.xml"/><Relationship Id="rId9"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tags" Target="../tags/tag239.xml"/><Relationship Id="rId13" Type="http://schemas.openxmlformats.org/officeDocument/2006/relationships/image" Target="../media/image42.png"/><Relationship Id="rId3" Type="http://schemas.openxmlformats.org/officeDocument/2006/relationships/tags" Target="../tags/tag234.xml"/><Relationship Id="rId7" Type="http://schemas.openxmlformats.org/officeDocument/2006/relationships/tags" Target="../tags/tag238.xml"/><Relationship Id="rId12" Type="http://schemas.openxmlformats.org/officeDocument/2006/relationships/image" Target="../media/image41.png"/><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tags" Target="../tags/tag237.xml"/><Relationship Id="rId11" Type="http://schemas.openxmlformats.org/officeDocument/2006/relationships/image" Target="../media/image1.emf"/><Relationship Id="rId5" Type="http://schemas.openxmlformats.org/officeDocument/2006/relationships/tags" Target="../tags/tag236.xml"/><Relationship Id="rId10" Type="http://schemas.openxmlformats.org/officeDocument/2006/relationships/oleObject" Target="../embeddings/oleObject49.bin"/><Relationship Id="rId4" Type="http://schemas.openxmlformats.org/officeDocument/2006/relationships/tags" Target="../tags/tag235.xml"/><Relationship Id="rId9"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tags" Target="../tags/tag247.xml"/><Relationship Id="rId13" Type="http://schemas.openxmlformats.org/officeDocument/2006/relationships/image" Target="../media/image43.png"/><Relationship Id="rId3" Type="http://schemas.openxmlformats.org/officeDocument/2006/relationships/tags" Target="../tags/tag242.xml"/><Relationship Id="rId7" Type="http://schemas.openxmlformats.org/officeDocument/2006/relationships/tags" Target="../tags/tag246.xml"/><Relationship Id="rId12" Type="http://schemas.openxmlformats.org/officeDocument/2006/relationships/image" Target="../media/image1.emf"/><Relationship Id="rId2" Type="http://schemas.openxmlformats.org/officeDocument/2006/relationships/tags" Target="../tags/tag241.xml"/><Relationship Id="rId16" Type="http://schemas.openxmlformats.org/officeDocument/2006/relationships/image" Target="../media/image46.png"/><Relationship Id="rId1" Type="http://schemas.openxmlformats.org/officeDocument/2006/relationships/tags" Target="../tags/tag240.xml"/><Relationship Id="rId6" Type="http://schemas.openxmlformats.org/officeDocument/2006/relationships/tags" Target="../tags/tag245.xml"/><Relationship Id="rId11" Type="http://schemas.openxmlformats.org/officeDocument/2006/relationships/oleObject" Target="../embeddings/oleObject50.bin"/><Relationship Id="rId5" Type="http://schemas.openxmlformats.org/officeDocument/2006/relationships/tags" Target="../tags/tag244.xml"/><Relationship Id="rId15" Type="http://schemas.openxmlformats.org/officeDocument/2006/relationships/image" Target="../media/image45.png"/><Relationship Id="rId10" Type="http://schemas.openxmlformats.org/officeDocument/2006/relationships/slideLayout" Target="../slideLayouts/slideLayout2.xml"/><Relationship Id="rId4" Type="http://schemas.openxmlformats.org/officeDocument/2006/relationships/tags" Target="../tags/tag243.xml"/><Relationship Id="rId9" Type="http://schemas.openxmlformats.org/officeDocument/2006/relationships/tags" Target="../tags/tag248.xml"/><Relationship Id="rId14" Type="http://schemas.openxmlformats.org/officeDocument/2006/relationships/image" Target="../media/image44.png"/></Relationships>
</file>

<file path=ppt/slides/_rels/slide55.xml.rels><?xml version="1.0" encoding="UTF-8" standalone="yes"?>
<Relationships xmlns="http://schemas.openxmlformats.org/package/2006/relationships"><Relationship Id="rId8" Type="http://schemas.openxmlformats.org/officeDocument/2006/relationships/tags" Target="../tags/tag256.xml"/><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image" Target="../media/image47.png"/><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image" Target="../media/image1.emf"/><Relationship Id="rId5" Type="http://schemas.openxmlformats.org/officeDocument/2006/relationships/tags" Target="../tags/tag253.xml"/><Relationship Id="rId10" Type="http://schemas.openxmlformats.org/officeDocument/2006/relationships/oleObject" Target="../embeddings/oleObject51.bin"/><Relationship Id="rId4" Type="http://schemas.openxmlformats.org/officeDocument/2006/relationships/tags" Target="../tags/tag252.xml"/><Relationship Id="rId9"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tags" Target="../tags/tag264.xml"/><Relationship Id="rId13" Type="http://schemas.openxmlformats.org/officeDocument/2006/relationships/image" Target="../media/image48.png"/><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image" Target="../media/image1.emf"/><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oleObject" Target="../embeddings/oleObject52.bin"/><Relationship Id="rId5" Type="http://schemas.openxmlformats.org/officeDocument/2006/relationships/tags" Target="../tags/tag261.xml"/><Relationship Id="rId10" Type="http://schemas.openxmlformats.org/officeDocument/2006/relationships/slideLayout" Target="../slideLayouts/slideLayout2.xml"/><Relationship Id="rId4" Type="http://schemas.openxmlformats.org/officeDocument/2006/relationships/tags" Target="../tags/tag260.xml"/><Relationship Id="rId9" Type="http://schemas.openxmlformats.org/officeDocument/2006/relationships/tags" Target="../tags/tag265.xml"/><Relationship Id="rId14" Type="http://schemas.openxmlformats.org/officeDocument/2006/relationships/image" Target="../media/image49.png"/></Relationships>
</file>

<file path=ppt/slides/_rels/slide57.xml.rels><?xml version="1.0" encoding="UTF-8" standalone="yes"?>
<Relationships xmlns="http://schemas.openxmlformats.org/package/2006/relationships"><Relationship Id="rId8" Type="http://schemas.openxmlformats.org/officeDocument/2006/relationships/tags" Target="../tags/tag273.xml"/><Relationship Id="rId13" Type="http://schemas.openxmlformats.org/officeDocument/2006/relationships/image" Target="../media/image51.png"/><Relationship Id="rId3" Type="http://schemas.openxmlformats.org/officeDocument/2006/relationships/tags" Target="../tags/tag268.xml"/><Relationship Id="rId7" Type="http://schemas.openxmlformats.org/officeDocument/2006/relationships/tags" Target="../tags/tag272.xml"/><Relationship Id="rId12" Type="http://schemas.openxmlformats.org/officeDocument/2006/relationships/image" Target="../media/image50.png"/><Relationship Id="rId2" Type="http://schemas.openxmlformats.org/officeDocument/2006/relationships/tags" Target="../tags/tag267.xml"/><Relationship Id="rId1" Type="http://schemas.openxmlformats.org/officeDocument/2006/relationships/tags" Target="../tags/tag266.xml"/><Relationship Id="rId6" Type="http://schemas.openxmlformats.org/officeDocument/2006/relationships/tags" Target="../tags/tag271.xml"/><Relationship Id="rId11" Type="http://schemas.openxmlformats.org/officeDocument/2006/relationships/image" Target="../media/image1.emf"/><Relationship Id="rId5" Type="http://schemas.openxmlformats.org/officeDocument/2006/relationships/tags" Target="../tags/tag270.xml"/><Relationship Id="rId10" Type="http://schemas.openxmlformats.org/officeDocument/2006/relationships/oleObject" Target="../embeddings/oleObject53.bin"/><Relationship Id="rId4" Type="http://schemas.openxmlformats.org/officeDocument/2006/relationships/tags" Target="../tags/tag269.xml"/><Relationship Id="rId9"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tags" Target="../tags/tag281.xml"/><Relationship Id="rId13" Type="http://schemas.openxmlformats.org/officeDocument/2006/relationships/image" Target="../media/image53.png"/><Relationship Id="rId3" Type="http://schemas.openxmlformats.org/officeDocument/2006/relationships/tags" Target="../tags/tag276.xml"/><Relationship Id="rId7" Type="http://schemas.openxmlformats.org/officeDocument/2006/relationships/tags" Target="../tags/tag280.xml"/><Relationship Id="rId12" Type="http://schemas.openxmlformats.org/officeDocument/2006/relationships/image" Target="../media/image52.png"/><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tags" Target="../tags/tag279.xml"/><Relationship Id="rId11" Type="http://schemas.openxmlformats.org/officeDocument/2006/relationships/image" Target="../media/image1.emf"/><Relationship Id="rId5" Type="http://schemas.openxmlformats.org/officeDocument/2006/relationships/tags" Target="../tags/tag278.xml"/><Relationship Id="rId10" Type="http://schemas.openxmlformats.org/officeDocument/2006/relationships/oleObject" Target="../embeddings/oleObject54.bin"/><Relationship Id="rId4" Type="http://schemas.openxmlformats.org/officeDocument/2006/relationships/tags" Target="../tags/tag277.xml"/><Relationship Id="rId9"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tags" Target="../tags/tag289.xml"/><Relationship Id="rId13" Type="http://schemas.openxmlformats.org/officeDocument/2006/relationships/image" Target="../media/image50.png"/><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image" Target="../media/image1.emf"/><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oleObject" Target="../embeddings/oleObject54.bin"/><Relationship Id="rId5" Type="http://schemas.openxmlformats.org/officeDocument/2006/relationships/tags" Target="../tags/tag286.xml"/><Relationship Id="rId10" Type="http://schemas.openxmlformats.org/officeDocument/2006/relationships/slideLayout" Target="../slideLayouts/slideLayout2.xml"/><Relationship Id="rId4" Type="http://schemas.openxmlformats.org/officeDocument/2006/relationships/tags" Target="../tags/tag285.xml"/><Relationship Id="rId9" Type="http://schemas.openxmlformats.org/officeDocument/2006/relationships/tags" Target="../tags/tag290.xml"/><Relationship Id="rId14" Type="http://schemas.openxmlformats.org/officeDocument/2006/relationships/image" Target="../media/image54.png"/></Relationships>
</file>

<file path=ppt/slides/_rels/slide60.xml.rels><?xml version="1.0" encoding="UTF-8" standalone="yes"?>
<Relationships xmlns="http://schemas.openxmlformats.org/package/2006/relationships"><Relationship Id="rId8" Type="http://schemas.openxmlformats.org/officeDocument/2006/relationships/tags" Target="../tags/tag298.xml"/><Relationship Id="rId13" Type="http://schemas.openxmlformats.org/officeDocument/2006/relationships/image" Target="../media/image56.png"/><Relationship Id="rId3" Type="http://schemas.openxmlformats.org/officeDocument/2006/relationships/tags" Target="../tags/tag293.xml"/><Relationship Id="rId7" Type="http://schemas.openxmlformats.org/officeDocument/2006/relationships/tags" Target="../tags/tag297.xml"/><Relationship Id="rId12" Type="http://schemas.openxmlformats.org/officeDocument/2006/relationships/image" Target="../media/image55.png"/><Relationship Id="rId2" Type="http://schemas.openxmlformats.org/officeDocument/2006/relationships/tags" Target="../tags/tag292.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image" Target="../media/image1.emf"/><Relationship Id="rId5" Type="http://schemas.openxmlformats.org/officeDocument/2006/relationships/tags" Target="../tags/tag295.xml"/><Relationship Id="rId10" Type="http://schemas.openxmlformats.org/officeDocument/2006/relationships/oleObject" Target="../embeddings/oleObject55.bin"/><Relationship Id="rId4" Type="http://schemas.openxmlformats.org/officeDocument/2006/relationships/tags" Target="../tags/tag294.xml"/><Relationship Id="rId9"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image" Target="../media/image58.png"/><Relationship Id="rId3" Type="http://schemas.openxmlformats.org/officeDocument/2006/relationships/tags" Target="../tags/tag301.xml"/><Relationship Id="rId7" Type="http://schemas.openxmlformats.org/officeDocument/2006/relationships/tags" Target="../tags/tag305.xml"/><Relationship Id="rId12" Type="http://schemas.openxmlformats.org/officeDocument/2006/relationships/image" Target="../media/image57.pn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image" Target="../media/image1.emf"/><Relationship Id="rId5" Type="http://schemas.openxmlformats.org/officeDocument/2006/relationships/tags" Target="../tags/tag303.xml"/><Relationship Id="rId10" Type="http://schemas.openxmlformats.org/officeDocument/2006/relationships/oleObject" Target="../embeddings/oleObject54.bin"/><Relationship Id="rId4" Type="http://schemas.openxmlformats.org/officeDocument/2006/relationships/tags" Target="../tags/tag302.xml"/><Relationship Id="rId9" Type="http://schemas.openxmlformats.org/officeDocument/2006/relationships/slideLayout" Target="../slideLayouts/slideLayout2.xml"/><Relationship Id="rId14" Type="http://schemas.openxmlformats.org/officeDocument/2006/relationships/image" Target="../media/image59.png"/></Relationships>
</file>

<file path=ppt/slides/_rels/slide62.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image" Target="../media/image61.png"/><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image" Target="../media/image60.png"/><Relationship Id="rId2" Type="http://schemas.openxmlformats.org/officeDocument/2006/relationships/tags" Target="../tags/tag308.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image" Target="../media/image1.emf"/><Relationship Id="rId5" Type="http://schemas.openxmlformats.org/officeDocument/2006/relationships/tags" Target="../tags/tag311.xml"/><Relationship Id="rId10" Type="http://schemas.openxmlformats.org/officeDocument/2006/relationships/oleObject" Target="../embeddings/oleObject56.bin"/><Relationship Id="rId4" Type="http://schemas.openxmlformats.org/officeDocument/2006/relationships/tags" Target="../tags/tag310.xml"/><Relationship Id="rId9"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tags" Target="../tags/tag322.xml"/><Relationship Id="rId13" Type="http://schemas.openxmlformats.org/officeDocument/2006/relationships/image" Target="../media/image62.png"/><Relationship Id="rId3" Type="http://schemas.openxmlformats.org/officeDocument/2006/relationships/tags" Target="../tags/tag317.xml"/><Relationship Id="rId7" Type="http://schemas.openxmlformats.org/officeDocument/2006/relationships/tags" Target="../tags/tag321.xml"/><Relationship Id="rId12" Type="http://schemas.openxmlformats.org/officeDocument/2006/relationships/image" Target="../media/image1.emf"/><Relationship Id="rId2" Type="http://schemas.openxmlformats.org/officeDocument/2006/relationships/tags" Target="../tags/tag316.xml"/><Relationship Id="rId1" Type="http://schemas.openxmlformats.org/officeDocument/2006/relationships/tags" Target="../tags/tag315.xml"/><Relationship Id="rId6" Type="http://schemas.openxmlformats.org/officeDocument/2006/relationships/tags" Target="../tags/tag320.xml"/><Relationship Id="rId11" Type="http://schemas.openxmlformats.org/officeDocument/2006/relationships/oleObject" Target="../embeddings/oleObject57.bin"/><Relationship Id="rId5" Type="http://schemas.openxmlformats.org/officeDocument/2006/relationships/tags" Target="../tags/tag319.xml"/><Relationship Id="rId15" Type="http://schemas.openxmlformats.org/officeDocument/2006/relationships/image" Target="../media/image64.png"/><Relationship Id="rId10" Type="http://schemas.openxmlformats.org/officeDocument/2006/relationships/slideLayout" Target="../slideLayouts/slideLayout2.xml"/><Relationship Id="rId4" Type="http://schemas.openxmlformats.org/officeDocument/2006/relationships/tags" Target="../tags/tag318.xml"/><Relationship Id="rId9" Type="http://schemas.openxmlformats.org/officeDocument/2006/relationships/tags" Target="../tags/tag323.xml"/><Relationship Id="rId14" Type="http://schemas.openxmlformats.org/officeDocument/2006/relationships/image" Target="../media/image63.png"/></Relationships>
</file>

<file path=ppt/slides/_rels/slide64.xml.rels><?xml version="1.0" encoding="UTF-8" standalone="yes"?>
<Relationships xmlns="http://schemas.openxmlformats.org/package/2006/relationships"><Relationship Id="rId8" Type="http://schemas.openxmlformats.org/officeDocument/2006/relationships/tags" Target="../tags/tag331.xml"/><Relationship Id="rId13" Type="http://schemas.openxmlformats.org/officeDocument/2006/relationships/image" Target="../media/image66.png"/><Relationship Id="rId3" Type="http://schemas.openxmlformats.org/officeDocument/2006/relationships/tags" Target="../tags/tag326.xml"/><Relationship Id="rId7" Type="http://schemas.openxmlformats.org/officeDocument/2006/relationships/tags" Target="../tags/tag330.xml"/><Relationship Id="rId12" Type="http://schemas.openxmlformats.org/officeDocument/2006/relationships/image" Target="../media/image65.png"/><Relationship Id="rId2" Type="http://schemas.openxmlformats.org/officeDocument/2006/relationships/tags" Target="../tags/tag325.xml"/><Relationship Id="rId1" Type="http://schemas.openxmlformats.org/officeDocument/2006/relationships/tags" Target="../tags/tag324.xml"/><Relationship Id="rId6" Type="http://schemas.openxmlformats.org/officeDocument/2006/relationships/tags" Target="../tags/tag329.xml"/><Relationship Id="rId11" Type="http://schemas.openxmlformats.org/officeDocument/2006/relationships/image" Target="../media/image1.emf"/><Relationship Id="rId5" Type="http://schemas.openxmlformats.org/officeDocument/2006/relationships/tags" Target="../tags/tag328.xml"/><Relationship Id="rId10" Type="http://schemas.openxmlformats.org/officeDocument/2006/relationships/oleObject" Target="../embeddings/oleObject58.bin"/><Relationship Id="rId4" Type="http://schemas.openxmlformats.org/officeDocument/2006/relationships/tags" Target="../tags/tag327.xml"/><Relationship Id="rId9"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image" Target="../media/image68.png"/><Relationship Id="rId3" Type="http://schemas.openxmlformats.org/officeDocument/2006/relationships/tags" Target="../tags/tag334.xml"/><Relationship Id="rId7" Type="http://schemas.openxmlformats.org/officeDocument/2006/relationships/tags" Target="../tags/tag338.xml"/><Relationship Id="rId12" Type="http://schemas.openxmlformats.org/officeDocument/2006/relationships/image" Target="../media/image67.png"/><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image" Target="../media/image1.emf"/><Relationship Id="rId5" Type="http://schemas.openxmlformats.org/officeDocument/2006/relationships/tags" Target="../tags/tag336.xml"/><Relationship Id="rId10" Type="http://schemas.openxmlformats.org/officeDocument/2006/relationships/oleObject" Target="../embeddings/oleObject59.bin"/><Relationship Id="rId4" Type="http://schemas.openxmlformats.org/officeDocument/2006/relationships/tags" Target="../tags/tag335.xml"/><Relationship Id="rId9"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tags" Target="../tags/tag347.xml"/><Relationship Id="rId3" Type="http://schemas.openxmlformats.org/officeDocument/2006/relationships/tags" Target="../tags/tag342.xml"/><Relationship Id="rId7" Type="http://schemas.openxmlformats.org/officeDocument/2006/relationships/tags" Target="../tags/tag346.xml"/><Relationship Id="rId12" Type="http://schemas.openxmlformats.org/officeDocument/2006/relationships/image" Target="../media/image69.png"/><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tags" Target="../tags/tag345.xml"/><Relationship Id="rId11" Type="http://schemas.openxmlformats.org/officeDocument/2006/relationships/image" Target="../media/image1.emf"/><Relationship Id="rId5" Type="http://schemas.openxmlformats.org/officeDocument/2006/relationships/tags" Target="../tags/tag344.xml"/><Relationship Id="rId10" Type="http://schemas.openxmlformats.org/officeDocument/2006/relationships/oleObject" Target="../embeddings/oleObject58.bin"/><Relationship Id="rId4" Type="http://schemas.openxmlformats.org/officeDocument/2006/relationships/tags" Target="../tags/tag343.xml"/><Relationship Id="rId9"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tags" Target="../tags/tag355.xml"/><Relationship Id="rId13" Type="http://schemas.openxmlformats.org/officeDocument/2006/relationships/image" Target="../media/image71.png"/><Relationship Id="rId3" Type="http://schemas.openxmlformats.org/officeDocument/2006/relationships/tags" Target="../tags/tag350.xml"/><Relationship Id="rId7" Type="http://schemas.openxmlformats.org/officeDocument/2006/relationships/tags" Target="../tags/tag354.xml"/><Relationship Id="rId12" Type="http://schemas.openxmlformats.org/officeDocument/2006/relationships/image" Target="../media/image70.png"/><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tags" Target="../tags/tag353.xml"/><Relationship Id="rId11" Type="http://schemas.openxmlformats.org/officeDocument/2006/relationships/image" Target="../media/image1.emf"/><Relationship Id="rId5" Type="http://schemas.openxmlformats.org/officeDocument/2006/relationships/tags" Target="../tags/tag352.xml"/><Relationship Id="rId10" Type="http://schemas.openxmlformats.org/officeDocument/2006/relationships/oleObject" Target="../embeddings/oleObject56.bin"/><Relationship Id="rId4" Type="http://schemas.openxmlformats.org/officeDocument/2006/relationships/tags" Target="../tags/tag351.xml"/><Relationship Id="rId9"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tags" Target="../tags/tag363.xml"/><Relationship Id="rId13" Type="http://schemas.openxmlformats.org/officeDocument/2006/relationships/image" Target="../media/image73.png"/><Relationship Id="rId3" Type="http://schemas.openxmlformats.org/officeDocument/2006/relationships/tags" Target="../tags/tag358.xml"/><Relationship Id="rId7" Type="http://schemas.openxmlformats.org/officeDocument/2006/relationships/tags" Target="../tags/tag362.xml"/><Relationship Id="rId12" Type="http://schemas.openxmlformats.org/officeDocument/2006/relationships/image" Target="../media/image72.png"/><Relationship Id="rId2" Type="http://schemas.openxmlformats.org/officeDocument/2006/relationships/tags" Target="../tags/tag357.xml"/><Relationship Id="rId1" Type="http://schemas.openxmlformats.org/officeDocument/2006/relationships/tags" Target="../tags/tag356.xml"/><Relationship Id="rId6" Type="http://schemas.openxmlformats.org/officeDocument/2006/relationships/tags" Target="../tags/tag361.xml"/><Relationship Id="rId11" Type="http://schemas.openxmlformats.org/officeDocument/2006/relationships/image" Target="../media/image1.emf"/><Relationship Id="rId5" Type="http://schemas.openxmlformats.org/officeDocument/2006/relationships/tags" Target="../tags/tag360.xml"/><Relationship Id="rId10" Type="http://schemas.openxmlformats.org/officeDocument/2006/relationships/oleObject" Target="../embeddings/oleObject58.bin"/><Relationship Id="rId4" Type="http://schemas.openxmlformats.org/officeDocument/2006/relationships/tags" Target="../tags/tag359.xml"/><Relationship Id="rId9"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tags" Target="../tags/tag371.xml"/><Relationship Id="rId13" Type="http://schemas.openxmlformats.org/officeDocument/2006/relationships/image" Target="../media/image75.png"/><Relationship Id="rId3" Type="http://schemas.openxmlformats.org/officeDocument/2006/relationships/tags" Target="../tags/tag366.xml"/><Relationship Id="rId7" Type="http://schemas.openxmlformats.org/officeDocument/2006/relationships/tags" Target="../tags/tag370.xml"/><Relationship Id="rId12" Type="http://schemas.openxmlformats.org/officeDocument/2006/relationships/image" Target="../media/image74.png"/><Relationship Id="rId2" Type="http://schemas.openxmlformats.org/officeDocument/2006/relationships/tags" Target="../tags/tag365.xml"/><Relationship Id="rId1" Type="http://schemas.openxmlformats.org/officeDocument/2006/relationships/tags" Target="../tags/tag364.xml"/><Relationship Id="rId6" Type="http://schemas.openxmlformats.org/officeDocument/2006/relationships/tags" Target="../tags/tag369.xml"/><Relationship Id="rId11" Type="http://schemas.openxmlformats.org/officeDocument/2006/relationships/image" Target="../media/image1.emf"/><Relationship Id="rId5" Type="http://schemas.openxmlformats.org/officeDocument/2006/relationships/tags" Target="../tags/tag368.xml"/><Relationship Id="rId15" Type="http://schemas.openxmlformats.org/officeDocument/2006/relationships/image" Target="../media/image77.png"/><Relationship Id="rId10" Type="http://schemas.openxmlformats.org/officeDocument/2006/relationships/oleObject" Target="../embeddings/oleObject57.bin"/><Relationship Id="rId4" Type="http://schemas.openxmlformats.org/officeDocument/2006/relationships/tags" Target="../tags/tag367.xml"/><Relationship Id="rId9" Type="http://schemas.openxmlformats.org/officeDocument/2006/relationships/slideLayout" Target="../slideLayouts/slideLayout2.xml"/><Relationship Id="rId14" Type="http://schemas.openxmlformats.org/officeDocument/2006/relationships/image" Target="../media/image76.png"/></Relationships>
</file>

<file path=ppt/slides/_rels/slide70.xml.rels><?xml version="1.0" encoding="UTF-8" standalone="yes"?>
<Relationships xmlns="http://schemas.openxmlformats.org/package/2006/relationships"><Relationship Id="rId8" Type="http://schemas.openxmlformats.org/officeDocument/2006/relationships/tags" Target="../tags/tag379.xml"/><Relationship Id="rId3" Type="http://schemas.openxmlformats.org/officeDocument/2006/relationships/tags" Target="../tags/tag374.xml"/><Relationship Id="rId7" Type="http://schemas.openxmlformats.org/officeDocument/2006/relationships/tags" Target="../tags/tag378.xml"/><Relationship Id="rId12" Type="http://schemas.openxmlformats.org/officeDocument/2006/relationships/image" Target="../media/image78.png"/><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tags" Target="../tags/tag377.xml"/><Relationship Id="rId11" Type="http://schemas.openxmlformats.org/officeDocument/2006/relationships/image" Target="../media/image1.emf"/><Relationship Id="rId5" Type="http://schemas.openxmlformats.org/officeDocument/2006/relationships/tags" Target="../tags/tag376.xml"/><Relationship Id="rId10" Type="http://schemas.openxmlformats.org/officeDocument/2006/relationships/oleObject" Target="../embeddings/oleObject60.bin"/><Relationship Id="rId4" Type="http://schemas.openxmlformats.org/officeDocument/2006/relationships/tags" Target="../tags/tag375.xml"/><Relationship Id="rId9"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tags" Target="../tags/tag387.xml"/><Relationship Id="rId3" Type="http://schemas.openxmlformats.org/officeDocument/2006/relationships/tags" Target="../tags/tag382.xml"/><Relationship Id="rId7" Type="http://schemas.openxmlformats.org/officeDocument/2006/relationships/tags" Target="../tags/tag386.xml"/><Relationship Id="rId12" Type="http://schemas.openxmlformats.org/officeDocument/2006/relationships/image" Target="../media/image79.png"/><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tags" Target="../tags/tag385.xml"/><Relationship Id="rId11" Type="http://schemas.openxmlformats.org/officeDocument/2006/relationships/image" Target="../media/image1.emf"/><Relationship Id="rId5" Type="http://schemas.openxmlformats.org/officeDocument/2006/relationships/tags" Target="../tags/tag384.xml"/><Relationship Id="rId10" Type="http://schemas.openxmlformats.org/officeDocument/2006/relationships/oleObject" Target="../embeddings/oleObject59.bin"/><Relationship Id="rId4" Type="http://schemas.openxmlformats.org/officeDocument/2006/relationships/tags" Target="../tags/tag383.xml"/><Relationship Id="rId9"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tags" Target="../tags/tag395.xml"/><Relationship Id="rId3" Type="http://schemas.openxmlformats.org/officeDocument/2006/relationships/tags" Target="../tags/tag390.xml"/><Relationship Id="rId7" Type="http://schemas.openxmlformats.org/officeDocument/2006/relationships/tags" Target="../tags/tag394.xml"/><Relationship Id="rId12" Type="http://schemas.openxmlformats.org/officeDocument/2006/relationships/image" Target="../media/image80.png"/><Relationship Id="rId2" Type="http://schemas.openxmlformats.org/officeDocument/2006/relationships/tags" Target="../tags/tag389.xml"/><Relationship Id="rId1" Type="http://schemas.openxmlformats.org/officeDocument/2006/relationships/tags" Target="../tags/tag388.xml"/><Relationship Id="rId6" Type="http://schemas.openxmlformats.org/officeDocument/2006/relationships/tags" Target="../tags/tag393.xml"/><Relationship Id="rId11" Type="http://schemas.openxmlformats.org/officeDocument/2006/relationships/image" Target="../media/image1.emf"/><Relationship Id="rId5" Type="http://schemas.openxmlformats.org/officeDocument/2006/relationships/tags" Target="../tags/tag392.xml"/><Relationship Id="rId10" Type="http://schemas.openxmlformats.org/officeDocument/2006/relationships/oleObject" Target="../embeddings/oleObject56.bin"/><Relationship Id="rId4" Type="http://schemas.openxmlformats.org/officeDocument/2006/relationships/tags" Target="../tags/tag391.xml"/><Relationship Id="rId9"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tags" Target="../tags/tag403.xml"/><Relationship Id="rId13" Type="http://schemas.openxmlformats.org/officeDocument/2006/relationships/image" Target="../media/image82.png"/><Relationship Id="rId3" Type="http://schemas.openxmlformats.org/officeDocument/2006/relationships/tags" Target="../tags/tag398.xml"/><Relationship Id="rId7" Type="http://schemas.openxmlformats.org/officeDocument/2006/relationships/tags" Target="../tags/tag402.xml"/><Relationship Id="rId12" Type="http://schemas.openxmlformats.org/officeDocument/2006/relationships/image" Target="../media/image81.png"/><Relationship Id="rId2" Type="http://schemas.openxmlformats.org/officeDocument/2006/relationships/tags" Target="../tags/tag397.xml"/><Relationship Id="rId1" Type="http://schemas.openxmlformats.org/officeDocument/2006/relationships/tags" Target="../tags/tag396.xml"/><Relationship Id="rId6" Type="http://schemas.openxmlformats.org/officeDocument/2006/relationships/tags" Target="../tags/tag401.xml"/><Relationship Id="rId11" Type="http://schemas.openxmlformats.org/officeDocument/2006/relationships/image" Target="../media/image1.emf"/><Relationship Id="rId5" Type="http://schemas.openxmlformats.org/officeDocument/2006/relationships/tags" Target="../tags/tag400.xml"/><Relationship Id="rId10" Type="http://schemas.openxmlformats.org/officeDocument/2006/relationships/oleObject" Target="../embeddings/oleObject61.bin"/><Relationship Id="rId4" Type="http://schemas.openxmlformats.org/officeDocument/2006/relationships/tags" Target="../tags/tag399.xml"/><Relationship Id="rId9"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tags" Target="../tags/tag411.xml"/><Relationship Id="rId13" Type="http://schemas.openxmlformats.org/officeDocument/2006/relationships/image" Target="../media/image84.png"/><Relationship Id="rId3" Type="http://schemas.openxmlformats.org/officeDocument/2006/relationships/tags" Target="../tags/tag406.xml"/><Relationship Id="rId7" Type="http://schemas.openxmlformats.org/officeDocument/2006/relationships/tags" Target="../tags/tag410.xml"/><Relationship Id="rId12" Type="http://schemas.openxmlformats.org/officeDocument/2006/relationships/image" Target="../media/image83.png"/><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11" Type="http://schemas.openxmlformats.org/officeDocument/2006/relationships/image" Target="../media/image1.emf"/><Relationship Id="rId5" Type="http://schemas.openxmlformats.org/officeDocument/2006/relationships/tags" Target="../tags/tag408.xml"/><Relationship Id="rId10" Type="http://schemas.openxmlformats.org/officeDocument/2006/relationships/oleObject" Target="../embeddings/oleObject62.bin"/><Relationship Id="rId4" Type="http://schemas.openxmlformats.org/officeDocument/2006/relationships/tags" Target="../tags/tag407.xml"/><Relationship Id="rId9"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tags" Target="../tags/tag419.xml"/><Relationship Id="rId3" Type="http://schemas.openxmlformats.org/officeDocument/2006/relationships/tags" Target="../tags/tag414.xml"/><Relationship Id="rId7" Type="http://schemas.openxmlformats.org/officeDocument/2006/relationships/tags" Target="../tags/tag418.xml"/><Relationship Id="rId12" Type="http://schemas.openxmlformats.org/officeDocument/2006/relationships/image" Target="../media/image85.png"/><Relationship Id="rId2" Type="http://schemas.openxmlformats.org/officeDocument/2006/relationships/tags" Target="../tags/tag413.xml"/><Relationship Id="rId1" Type="http://schemas.openxmlformats.org/officeDocument/2006/relationships/tags" Target="../tags/tag412.xml"/><Relationship Id="rId6" Type="http://schemas.openxmlformats.org/officeDocument/2006/relationships/tags" Target="../tags/tag417.xml"/><Relationship Id="rId11" Type="http://schemas.openxmlformats.org/officeDocument/2006/relationships/image" Target="../media/image1.emf"/><Relationship Id="rId5" Type="http://schemas.openxmlformats.org/officeDocument/2006/relationships/tags" Target="../tags/tag416.xml"/><Relationship Id="rId10" Type="http://schemas.openxmlformats.org/officeDocument/2006/relationships/oleObject" Target="../embeddings/oleObject62.bin"/><Relationship Id="rId4" Type="http://schemas.openxmlformats.org/officeDocument/2006/relationships/tags" Target="../tags/tag415.xml"/><Relationship Id="rId9"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tags" Target="../tags/tag422.xml"/><Relationship Id="rId7" Type="http://schemas.openxmlformats.org/officeDocument/2006/relationships/slideLayout" Target="../slideLayouts/slideLayout2.xml"/><Relationship Id="rId2" Type="http://schemas.openxmlformats.org/officeDocument/2006/relationships/tags" Target="../tags/tag421.xml"/><Relationship Id="rId1" Type="http://schemas.openxmlformats.org/officeDocument/2006/relationships/tags" Target="../tags/tag420.xml"/><Relationship Id="rId6" Type="http://schemas.openxmlformats.org/officeDocument/2006/relationships/tags" Target="../tags/tag425.xml"/><Relationship Id="rId5" Type="http://schemas.openxmlformats.org/officeDocument/2006/relationships/tags" Target="../tags/tag424.xml"/><Relationship Id="rId10" Type="http://schemas.openxmlformats.org/officeDocument/2006/relationships/hyperlink" Target="https://bainandcompany.sharepoint.com/:p:/r/sites/M9DC/Shared%20Documents/Documents3/1.%20Case%20Filing/Work%20planning/OI%20Team%20Best%20Practice%20Sharing.pptx?d=w4353d1e383c340f9a7be78b13070bbee&amp;csf=1&amp;web=1&amp;e=yDYLkC" TargetMode="External"/><Relationship Id="rId4" Type="http://schemas.openxmlformats.org/officeDocument/2006/relationships/tags" Target="../tags/tag423.xml"/><Relationship Id="rId9"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D9E8D5F-A0F8-BAA1-4722-29C2236EF177}"/>
              </a:ext>
            </a:extLst>
          </p:cNvPr>
          <p:cNvGraphicFramePr>
            <a:graphicFrameLocks/>
          </p:cNvGraphicFramePr>
          <p:nvPr>
            <p:custDataLst>
              <p:tags r:id="rId2"/>
            </p:custDataLst>
            <p:extLst>
              <p:ext uri="{D42A27DB-BD31-4B8C-83A1-F6EECF244321}">
                <p14:modId xmlns:p14="http://schemas.microsoft.com/office/powerpoint/2010/main" val="20669536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6" name="think-cell data - do not delete" hidden="1">
                        <a:extLst>
                          <a:ext uri="{FF2B5EF4-FFF2-40B4-BE49-F238E27FC236}">
                            <a16:creationId xmlns:a16="http://schemas.microsoft.com/office/drawing/2014/main" id="{3D9E8D5F-A0F8-BAA1-4722-29C2236EF1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4" name="btfpColumnIndicatorGroup2">
            <a:extLst>
              <a:ext uri="{FF2B5EF4-FFF2-40B4-BE49-F238E27FC236}">
                <a16:creationId xmlns:a16="http://schemas.microsoft.com/office/drawing/2014/main" id="{E74AB125-BA7A-E11E-A0A7-17730BC3A7BE}"/>
              </a:ext>
            </a:extLst>
          </p:cNvPr>
          <p:cNvGrpSpPr/>
          <p:nvPr/>
        </p:nvGrpSpPr>
        <p:grpSpPr>
          <a:xfrm>
            <a:off x="0" y="6926580"/>
            <a:ext cx="12192000" cy="137160"/>
            <a:chOff x="0" y="6926580"/>
            <a:chExt cx="12192000" cy="137160"/>
          </a:xfrm>
        </p:grpSpPr>
        <p:sp>
          <p:nvSpPr>
            <p:cNvPr id="12" name="btfpColumnGapBlocker253432">
              <a:extLst>
                <a:ext uri="{FF2B5EF4-FFF2-40B4-BE49-F238E27FC236}">
                  <a16:creationId xmlns:a16="http://schemas.microsoft.com/office/drawing/2014/main" id="{F9825F9D-423F-2555-179D-8DF15C38E659}"/>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723714">
              <a:extLst>
                <a:ext uri="{FF2B5EF4-FFF2-40B4-BE49-F238E27FC236}">
                  <a16:creationId xmlns:a16="http://schemas.microsoft.com/office/drawing/2014/main" id="{E28A2588-D39E-9715-56FF-0155CF076124}"/>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 name="btfpColumnIndicator767805">
              <a:extLst>
                <a:ext uri="{FF2B5EF4-FFF2-40B4-BE49-F238E27FC236}">
                  <a16:creationId xmlns:a16="http://schemas.microsoft.com/office/drawing/2014/main" id="{9C734E0D-029F-DFA8-3BA0-F00FADDAA203}"/>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643257">
              <a:extLst>
                <a:ext uri="{FF2B5EF4-FFF2-40B4-BE49-F238E27FC236}">
                  <a16:creationId xmlns:a16="http://schemas.microsoft.com/office/drawing/2014/main" id="{D407E4BF-6C13-04D2-AAAA-B571020E4F02}"/>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3" name="btfpColumnIndicatorGroup1">
            <a:extLst>
              <a:ext uri="{FF2B5EF4-FFF2-40B4-BE49-F238E27FC236}">
                <a16:creationId xmlns:a16="http://schemas.microsoft.com/office/drawing/2014/main" id="{3D716BED-013F-F672-1956-19CD11E02013}"/>
              </a:ext>
            </a:extLst>
          </p:cNvPr>
          <p:cNvGrpSpPr/>
          <p:nvPr/>
        </p:nvGrpSpPr>
        <p:grpSpPr>
          <a:xfrm>
            <a:off x="0" y="-205740"/>
            <a:ext cx="12192000" cy="137160"/>
            <a:chOff x="0" y="-205740"/>
            <a:chExt cx="12192000" cy="137160"/>
          </a:xfrm>
        </p:grpSpPr>
        <p:sp>
          <p:nvSpPr>
            <p:cNvPr id="11" name="btfpColumnGapBlocker783223">
              <a:extLst>
                <a:ext uri="{FF2B5EF4-FFF2-40B4-BE49-F238E27FC236}">
                  <a16:creationId xmlns:a16="http://schemas.microsoft.com/office/drawing/2014/main" id="{66BB7054-E03A-F013-F04D-1882D5124F7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 name="btfpColumnGapBlocker707523">
              <a:extLst>
                <a:ext uri="{FF2B5EF4-FFF2-40B4-BE49-F238E27FC236}">
                  <a16:creationId xmlns:a16="http://schemas.microsoft.com/office/drawing/2014/main" id="{6540FDD0-3EB8-0DF0-EDC5-C9A891AE57A9}"/>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745569">
              <a:extLst>
                <a:ext uri="{FF2B5EF4-FFF2-40B4-BE49-F238E27FC236}">
                  <a16:creationId xmlns:a16="http://schemas.microsoft.com/office/drawing/2014/main" id="{D0437444-7473-0B30-FDC9-ED11A8C8A7E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496197">
              <a:extLst>
                <a:ext uri="{FF2B5EF4-FFF2-40B4-BE49-F238E27FC236}">
                  <a16:creationId xmlns:a16="http://schemas.microsoft.com/office/drawing/2014/main" id="{37CDD819-BC4E-51CE-AB33-AE0406AB5E9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Picture Placeholder 1">
            <a:extLst>
              <a:ext uri="{FF2B5EF4-FFF2-40B4-BE49-F238E27FC236}">
                <a16:creationId xmlns:a16="http://schemas.microsoft.com/office/drawing/2014/main" id="{D008C04F-0EE8-4FE4-1032-34D668171E2D}"/>
              </a:ext>
            </a:extLst>
          </p:cNvPr>
          <p:cNvSpPr>
            <a:spLocks noGrp="1"/>
          </p:cNvSpPr>
          <p:nvPr>
            <p:ph type="pic" sz="quarter" idx="10"/>
          </p:nvPr>
        </p:nvSpPr>
        <p:spPr/>
        <p:txBody>
          <a:bodyPr/>
          <a:lstStyle/>
          <a:p>
            <a:endParaRPr lang="en-US"/>
          </a:p>
        </p:txBody>
      </p:sp>
      <p:sp>
        <p:nvSpPr>
          <p:cNvPr id="3" name="Subtitle 2">
            <a:extLst>
              <a:ext uri="{FF2B5EF4-FFF2-40B4-BE49-F238E27FC236}">
                <a16:creationId xmlns:a16="http://schemas.microsoft.com/office/drawing/2014/main" id="{FB4ACF5F-BC53-E82F-6490-2784A8861427}"/>
              </a:ext>
            </a:extLst>
          </p:cNvPr>
          <p:cNvSpPr>
            <a:spLocks noGrp="1"/>
          </p:cNvSpPr>
          <p:nvPr>
            <p:ph type="subTitle" idx="1"/>
          </p:nvPr>
        </p:nvSpPr>
        <p:spPr/>
        <p:txBody>
          <a:bodyPr/>
          <a:lstStyle/>
          <a:p>
            <a:r>
              <a:rPr lang="en-US"/>
              <a:t>March 2025</a:t>
            </a:r>
          </a:p>
        </p:txBody>
      </p:sp>
      <p:sp>
        <p:nvSpPr>
          <p:cNvPr id="4" name="Title 3">
            <a:extLst>
              <a:ext uri="{FF2B5EF4-FFF2-40B4-BE49-F238E27FC236}">
                <a16:creationId xmlns:a16="http://schemas.microsoft.com/office/drawing/2014/main" id="{E95951AE-E4A4-B6B5-F352-1F606C93386E}"/>
              </a:ext>
            </a:extLst>
          </p:cNvPr>
          <p:cNvSpPr>
            <a:spLocks noGrp="1"/>
          </p:cNvSpPr>
          <p:nvPr>
            <p:ph type="ctrTitle"/>
          </p:nvPr>
        </p:nvSpPr>
        <p:spPr/>
        <p:txBody>
          <a:bodyPr vert="horz"/>
          <a:lstStyle/>
          <a:p>
            <a:r>
              <a:rPr lang="en-US"/>
              <a:t>Opportunity Indicator Onboarding</a:t>
            </a:r>
          </a:p>
        </p:txBody>
      </p:sp>
    </p:spTree>
    <p:custDataLst>
      <p:tags r:id="rId1"/>
    </p:custDataLst>
    <p:extLst>
      <p:ext uri="{BB962C8B-B14F-4D97-AF65-F5344CB8AC3E}">
        <p14:creationId xmlns:p14="http://schemas.microsoft.com/office/powerpoint/2010/main" val="261316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2"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b="1">
                <a:solidFill>
                  <a:srgbClr val="CC0000"/>
                </a:solidFill>
              </a:rPr>
              <a:t>Introduction</a:t>
            </a:r>
          </a:p>
          <a:p>
            <a:pPr marL="0" indent="0">
              <a:spcBef>
                <a:spcPts val="3600"/>
              </a:spcBef>
              <a:buNone/>
            </a:pPr>
            <a:r>
              <a:rPr lang="en-US" sz="2000"/>
              <a:t>Process to build an OI</a:t>
            </a:r>
          </a:p>
          <a:p>
            <a:pPr marL="0" indent="0">
              <a:spcBef>
                <a:spcPts val="3600"/>
              </a:spcBef>
              <a:buNone/>
            </a:pPr>
            <a:r>
              <a:rPr lang="en-US" sz="2000"/>
              <a:t>Set up and collaboration</a:t>
            </a:r>
          </a:p>
          <a:p>
            <a:pPr marL="0" indent="0">
              <a:spcBef>
                <a:spcPts val="3600"/>
              </a:spcBef>
              <a:buNone/>
            </a:pPr>
            <a:r>
              <a:rPr lang="en-US" sz="2000"/>
              <a:t>Additional guidelines</a:t>
            </a:r>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1077401"/>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4201465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2CB5EF8C-E84A-FA4A-AD32-859487E25D8B}"/>
              </a:ext>
            </a:extLst>
          </p:cNvPr>
          <p:cNvGraphicFramePr>
            <a:graphicFrameLocks/>
          </p:cNvGraphicFramePr>
          <p:nvPr>
            <p:custDataLst>
              <p:tags r:id="rId2"/>
            </p:custDataLst>
            <p:extLst>
              <p:ext uri="{D42A27DB-BD31-4B8C-83A1-F6EECF244321}">
                <p14:modId xmlns:p14="http://schemas.microsoft.com/office/powerpoint/2010/main" val="14171107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606" imgH="608" progId="TCLayout.ActiveDocument.1">
                  <p:embed/>
                </p:oleObj>
              </mc:Choice>
              <mc:Fallback>
                <p:oleObj name="think-cell Slide" r:id="rId19" imgW="606" imgH="608" progId="TCLayout.ActiveDocument.1">
                  <p:embed/>
                  <p:pic>
                    <p:nvPicPr>
                      <p:cNvPr id="25" name="think-cell data - do not delete" hidden="1">
                        <a:extLst>
                          <a:ext uri="{FF2B5EF4-FFF2-40B4-BE49-F238E27FC236}">
                            <a16:creationId xmlns:a16="http://schemas.microsoft.com/office/drawing/2014/main" id="{2CB5EF8C-E84A-FA4A-AD32-859487E25D8B}"/>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grpSp>
        <p:nvGrpSpPr>
          <p:cNvPr id="20" name="btfpColumnIndicatorGroup2">
            <a:extLst>
              <a:ext uri="{FF2B5EF4-FFF2-40B4-BE49-F238E27FC236}">
                <a16:creationId xmlns:a16="http://schemas.microsoft.com/office/drawing/2014/main" id="{21D0C147-7361-4884-B4FF-13F16F25726B}"/>
              </a:ext>
            </a:extLst>
          </p:cNvPr>
          <p:cNvGrpSpPr/>
          <p:nvPr/>
        </p:nvGrpSpPr>
        <p:grpSpPr>
          <a:xfrm>
            <a:off x="0" y="6926580"/>
            <a:ext cx="12192000" cy="137160"/>
            <a:chOff x="0" y="6926580"/>
            <a:chExt cx="12192000" cy="137160"/>
          </a:xfrm>
        </p:grpSpPr>
        <p:sp>
          <p:nvSpPr>
            <p:cNvPr id="18" name="btfpColumnGapBlocker963183">
              <a:extLst>
                <a:ext uri="{FF2B5EF4-FFF2-40B4-BE49-F238E27FC236}">
                  <a16:creationId xmlns:a16="http://schemas.microsoft.com/office/drawing/2014/main" id="{A1AE0CF2-B029-4B34-B133-CD0EA9DF08F2}"/>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6" name="btfpColumnGapBlocker163087">
              <a:extLst>
                <a:ext uri="{FF2B5EF4-FFF2-40B4-BE49-F238E27FC236}">
                  <a16:creationId xmlns:a16="http://schemas.microsoft.com/office/drawing/2014/main" id="{675CB0AA-2179-43A8-8543-109EA7ACC184}"/>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433578">
              <a:extLst>
                <a:ext uri="{FF2B5EF4-FFF2-40B4-BE49-F238E27FC236}">
                  <a16:creationId xmlns:a16="http://schemas.microsoft.com/office/drawing/2014/main" id="{CF2FBF31-57F4-403A-9492-6D059ED2CAE6}"/>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56167">
              <a:extLst>
                <a:ext uri="{FF2B5EF4-FFF2-40B4-BE49-F238E27FC236}">
                  <a16:creationId xmlns:a16="http://schemas.microsoft.com/office/drawing/2014/main" id="{E0D90CC6-9C7C-4C24-8559-1D0065A8D56C}"/>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9" name="btfpColumnIndicatorGroup1">
            <a:extLst>
              <a:ext uri="{FF2B5EF4-FFF2-40B4-BE49-F238E27FC236}">
                <a16:creationId xmlns:a16="http://schemas.microsoft.com/office/drawing/2014/main" id="{0FC2A536-BE7E-4252-9283-49FBB8F919C0}"/>
              </a:ext>
            </a:extLst>
          </p:cNvPr>
          <p:cNvGrpSpPr/>
          <p:nvPr/>
        </p:nvGrpSpPr>
        <p:grpSpPr>
          <a:xfrm>
            <a:off x="0" y="-205740"/>
            <a:ext cx="12192000" cy="137160"/>
            <a:chOff x="0" y="-205740"/>
            <a:chExt cx="12192000" cy="137160"/>
          </a:xfrm>
        </p:grpSpPr>
        <p:sp>
          <p:nvSpPr>
            <p:cNvPr id="17" name="btfpColumnGapBlocker552888">
              <a:extLst>
                <a:ext uri="{FF2B5EF4-FFF2-40B4-BE49-F238E27FC236}">
                  <a16:creationId xmlns:a16="http://schemas.microsoft.com/office/drawing/2014/main" id="{A0099D9E-FAC1-4159-BE6F-26FA568137AF}"/>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733428">
              <a:extLst>
                <a:ext uri="{FF2B5EF4-FFF2-40B4-BE49-F238E27FC236}">
                  <a16:creationId xmlns:a16="http://schemas.microsoft.com/office/drawing/2014/main" id="{C4B59CEA-E8B2-4584-9FCD-D6342DD33C0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9" name="btfpColumnIndicator476676">
              <a:extLst>
                <a:ext uri="{FF2B5EF4-FFF2-40B4-BE49-F238E27FC236}">
                  <a16:creationId xmlns:a16="http://schemas.microsoft.com/office/drawing/2014/main" id="{6AAE08F3-78D4-48A0-8CC1-FE1C86BE985E}"/>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28601">
              <a:extLst>
                <a:ext uri="{FF2B5EF4-FFF2-40B4-BE49-F238E27FC236}">
                  <a16:creationId xmlns:a16="http://schemas.microsoft.com/office/drawing/2014/main" id="{263B6CBF-C204-4A22-A382-02EC152672C5}"/>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bwMode="gray">
          <a:xfrm>
            <a:off x="330200" y="951506"/>
            <a:ext cx="11526838" cy="316907"/>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 name="Title 1"/>
          <p:cNvSpPr>
            <a:spLocks noGrp="1"/>
          </p:cNvSpPr>
          <p:nvPr>
            <p:ph type="title"/>
          </p:nvPr>
        </p:nvSpPr>
        <p:spPr/>
        <p:txBody>
          <a:bodyPr vert="horz"/>
          <a:lstStyle/>
          <a:p>
            <a:r>
              <a:rPr lang="en-US"/>
              <a:t>The Opportunity Indicator is a 48-hr service performed by the Cost Diagnostic COE to help identify cost opportunities &amp; provide commercial support to account teams</a:t>
            </a:r>
          </a:p>
        </p:txBody>
      </p:sp>
      <p:sp>
        <p:nvSpPr>
          <p:cNvPr id="3" name="btfpLayoutConfig" hidden="1"/>
          <p:cNvSpPr txBox="1"/>
          <p:nvPr/>
        </p:nvSpPr>
        <p:spPr bwMode="gray">
          <a:xfrm>
            <a:off x="12700" y="12700"/>
            <a:ext cx="1480140"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overall_0_131807440991652814 columns_1_131636078172712215 21_0_131738903433273104 22_0_131738903433273104 26_0_131738903433273104 29_0_131807438808058586 31_0_131807438898049071 5_1_131807439211173307 13_1_131807453746378019 </a:t>
            </a:r>
          </a:p>
        </p:txBody>
      </p:sp>
      <p:sp>
        <p:nvSpPr>
          <p:cNvPr id="21" name="btfpBulletedList944954"/>
          <p:cNvSpPr txBox="1"/>
          <p:nvPr>
            <p:custDataLst>
              <p:tags r:id="rId3"/>
            </p:custDataLst>
          </p:nvPr>
        </p:nvSpPr>
        <p:spPr bwMode="gray">
          <a:xfrm>
            <a:off x="2642947" y="1290648"/>
            <a:ext cx="3853447" cy="904932"/>
          </a:xfrm>
          <a:prstGeom prst="rect">
            <a:avLst/>
          </a:prstGeom>
          <a:noFill/>
        </p:spPr>
        <p:txBody>
          <a:bodyPr vert="horz" wrap="square" lIns="144000" tIns="0" rIns="36000" bIns="0" rtlCol="0" anchor="ctr" anchorCtr="0">
            <a:noAutofit/>
          </a:bodyPr>
          <a:lstStyle/>
          <a:p>
            <a:pPr marL="0" indent="0" algn="ctr">
              <a:spcBef>
                <a:spcPts val="600"/>
              </a:spcBef>
              <a:buNone/>
            </a:pPr>
            <a:r>
              <a:rPr lang="en-US" sz="1800" b="1">
                <a:solidFill>
                  <a:srgbClr val="C00000"/>
                </a:solidFill>
              </a:rPr>
              <a:t>Opportunity Indicator</a:t>
            </a:r>
          </a:p>
        </p:txBody>
      </p:sp>
      <p:sp>
        <p:nvSpPr>
          <p:cNvPr id="22" name="btfpBulletedList944954"/>
          <p:cNvSpPr txBox="1"/>
          <p:nvPr>
            <p:custDataLst>
              <p:tags r:id="rId4"/>
            </p:custDataLst>
          </p:nvPr>
        </p:nvSpPr>
        <p:spPr bwMode="gray">
          <a:xfrm>
            <a:off x="7833806" y="1290648"/>
            <a:ext cx="3853447" cy="904932"/>
          </a:xfrm>
          <a:prstGeom prst="rect">
            <a:avLst/>
          </a:prstGeom>
          <a:noFill/>
        </p:spPr>
        <p:txBody>
          <a:bodyPr vert="horz" wrap="square" lIns="144000" tIns="0" rIns="36000" bIns="0" rtlCol="0" anchor="ctr" anchorCtr="0">
            <a:noAutofit/>
          </a:bodyPr>
          <a:lstStyle/>
          <a:p>
            <a:pPr marL="0" indent="0">
              <a:spcBef>
                <a:spcPts val="600"/>
              </a:spcBef>
              <a:buNone/>
            </a:pPr>
            <a:r>
              <a:rPr lang="en-US" sz="1800" b="1">
                <a:solidFill>
                  <a:srgbClr val="C00000"/>
                </a:solidFill>
              </a:rPr>
              <a:t>Ad-hoc Commercial Support</a:t>
            </a:r>
          </a:p>
        </p:txBody>
      </p:sp>
      <p:grpSp>
        <p:nvGrpSpPr>
          <p:cNvPr id="36" name="Group 35"/>
          <p:cNvGrpSpPr/>
          <p:nvPr/>
        </p:nvGrpSpPr>
        <p:grpSpPr>
          <a:xfrm>
            <a:off x="1774266" y="1322576"/>
            <a:ext cx="10087534" cy="923548"/>
            <a:chOff x="330200" y="4364541"/>
            <a:chExt cx="4617640" cy="1338263"/>
          </a:xfrm>
        </p:grpSpPr>
        <p:sp>
          <p:nvSpPr>
            <p:cNvPr id="38" name="Freeform 5"/>
            <p:cNvSpPr>
              <a:spLocks/>
            </p:cNvSpPr>
            <p:nvPr/>
          </p:nvSpPr>
          <p:spPr bwMode="auto">
            <a:xfrm>
              <a:off x="330200" y="4364541"/>
              <a:ext cx="2239988" cy="1338263"/>
            </a:xfrm>
            <a:custGeom>
              <a:avLst/>
              <a:gdLst>
                <a:gd name="T0" fmla="*/ 0 w 1457"/>
                <a:gd name="T1" fmla="*/ 2 h 843"/>
                <a:gd name="T2" fmla="*/ 1298 w 1457"/>
                <a:gd name="T3" fmla="*/ 0 h 843"/>
                <a:gd name="T4" fmla="*/ 1457 w 1457"/>
                <a:gd name="T5" fmla="*/ 411 h 843"/>
                <a:gd name="T6" fmla="*/ 1298 w 1457"/>
                <a:gd name="T7" fmla="*/ 843 h 843"/>
                <a:gd name="T8" fmla="*/ 322 w 1457"/>
                <a:gd name="T9" fmla="*/ 843 h 843"/>
              </a:gdLst>
              <a:ahLst/>
              <a:cxnLst>
                <a:cxn ang="0">
                  <a:pos x="T0" y="T1"/>
                </a:cxn>
                <a:cxn ang="0">
                  <a:pos x="T2" y="T3"/>
                </a:cxn>
                <a:cxn ang="0">
                  <a:pos x="T4" y="T5"/>
                </a:cxn>
                <a:cxn ang="0">
                  <a:pos x="T6" y="T7"/>
                </a:cxn>
                <a:cxn ang="0">
                  <a:pos x="T8" y="T9"/>
                </a:cxn>
              </a:cxnLst>
              <a:rect l="0" t="0" r="r" b="b"/>
              <a:pathLst>
                <a:path w="1457" h="843">
                  <a:moveTo>
                    <a:pt x="0" y="2"/>
                  </a:moveTo>
                  <a:lnTo>
                    <a:pt x="1298" y="0"/>
                  </a:lnTo>
                  <a:lnTo>
                    <a:pt x="1457" y="411"/>
                  </a:lnTo>
                  <a:lnTo>
                    <a:pt x="1298" y="843"/>
                  </a:lnTo>
                  <a:lnTo>
                    <a:pt x="322" y="843"/>
                  </a:lnTo>
                </a:path>
              </a:pathLst>
            </a:custGeom>
            <a:noFill/>
            <a:ln w="76200" cap="flat">
              <a:solidFill>
                <a:srgbClr val="B4B4B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5"/>
            <p:cNvSpPr>
              <a:spLocks/>
            </p:cNvSpPr>
            <p:nvPr/>
          </p:nvSpPr>
          <p:spPr bwMode="auto">
            <a:xfrm>
              <a:off x="2705202" y="4364541"/>
              <a:ext cx="2242638" cy="1338263"/>
            </a:xfrm>
            <a:custGeom>
              <a:avLst/>
              <a:gdLst>
                <a:gd name="T0" fmla="*/ 0 w 1457"/>
                <a:gd name="T1" fmla="*/ 2 h 843"/>
                <a:gd name="T2" fmla="*/ 1298 w 1457"/>
                <a:gd name="T3" fmla="*/ 0 h 843"/>
                <a:gd name="T4" fmla="*/ 1457 w 1457"/>
                <a:gd name="T5" fmla="*/ 411 h 843"/>
                <a:gd name="T6" fmla="*/ 1298 w 1457"/>
                <a:gd name="T7" fmla="*/ 843 h 843"/>
                <a:gd name="T8" fmla="*/ 322 w 1457"/>
                <a:gd name="T9" fmla="*/ 843 h 843"/>
              </a:gdLst>
              <a:ahLst/>
              <a:cxnLst>
                <a:cxn ang="0">
                  <a:pos x="T0" y="T1"/>
                </a:cxn>
                <a:cxn ang="0">
                  <a:pos x="T2" y="T3"/>
                </a:cxn>
                <a:cxn ang="0">
                  <a:pos x="T4" y="T5"/>
                </a:cxn>
                <a:cxn ang="0">
                  <a:pos x="T6" y="T7"/>
                </a:cxn>
                <a:cxn ang="0">
                  <a:pos x="T8" y="T9"/>
                </a:cxn>
              </a:cxnLst>
              <a:rect l="0" t="0" r="r" b="b"/>
              <a:pathLst>
                <a:path w="1457" h="843">
                  <a:moveTo>
                    <a:pt x="0" y="2"/>
                  </a:moveTo>
                  <a:lnTo>
                    <a:pt x="1298" y="0"/>
                  </a:lnTo>
                  <a:lnTo>
                    <a:pt x="1457" y="411"/>
                  </a:lnTo>
                  <a:lnTo>
                    <a:pt x="1298" y="843"/>
                  </a:lnTo>
                  <a:lnTo>
                    <a:pt x="322" y="843"/>
                  </a:lnTo>
                </a:path>
              </a:pathLst>
            </a:custGeom>
            <a:noFill/>
            <a:ln w="76200" cap="flat">
              <a:solidFill>
                <a:srgbClr val="B4B4B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5" name="btfpBulletedList913118"/>
          <p:cNvSpPr txBox="1"/>
          <p:nvPr>
            <p:custDataLst>
              <p:tags r:id="rId5"/>
            </p:custDataLst>
          </p:nvPr>
        </p:nvSpPr>
        <p:spPr bwMode="gray">
          <a:xfrm>
            <a:off x="2277036" y="2365304"/>
            <a:ext cx="4389120" cy="719034"/>
          </a:xfrm>
          <a:prstGeom prst="rect">
            <a:avLst/>
          </a:prstGeom>
          <a:noFill/>
        </p:spPr>
        <p:txBody>
          <a:bodyPr vert="horz" wrap="square" lIns="36000" tIns="36000" rIns="36000" bIns="36000" rtlCol="0">
            <a:spAutoFit/>
          </a:bodyPr>
          <a:lstStyle/>
          <a:p>
            <a:r>
              <a:rPr lang="en-US" sz="1400" b="1"/>
              <a:t>Outside-in service to identify cost opportunities </a:t>
            </a:r>
            <a:r>
              <a:rPr lang="en-US" sz="1400"/>
              <a:t>in a company based on how it performs against comparable peers on </a:t>
            </a:r>
            <a:r>
              <a:rPr lang="en-US" sz="1400" b="1"/>
              <a:t>key financial metrics</a:t>
            </a:r>
            <a:endParaRPr lang="en-US" sz="1400"/>
          </a:p>
        </p:txBody>
      </p:sp>
      <p:sp>
        <p:nvSpPr>
          <p:cNvPr id="33" name="btfpBulletedList913118"/>
          <p:cNvSpPr txBox="1"/>
          <p:nvPr>
            <p:custDataLst>
              <p:tags r:id="rId6"/>
            </p:custDataLst>
          </p:nvPr>
        </p:nvSpPr>
        <p:spPr bwMode="gray">
          <a:xfrm>
            <a:off x="6879735" y="2371211"/>
            <a:ext cx="4663440" cy="719034"/>
          </a:xfrm>
          <a:prstGeom prst="rect">
            <a:avLst/>
          </a:prstGeom>
          <a:noFill/>
        </p:spPr>
        <p:txBody>
          <a:bodyPr vert="horz" wrap="square" lIns="36000" tIns="36000" rIns="36000" bIns="36000" rtlCol="0">
            <a:spAutoFit/>
          </a:bodyPr>
          <a:lstStyle/>
          <a:p>
            <a:pPr>
              <a:spcBef>
                <a:spcPts val="600"/>
              </a:spcBef>
            </a:pPr>
            <a:r>
              <a:rPr lang="en-US" sz="1400" b="1"/>
              <a:t>Tailored research &amp; commercial support for account teams</a:t>
            </a:r>
            <a:r>
              <a:rPr lang="en-US" sz="1400"/>
              <a:t>, as well as </a:t>
            </a:r>
            <a:r>
              <a:rPr lang="en-US" sz="1400" b="1"/>
              <a:t>internal ‘growth initiatives’ </a:t>
            </a:r>
            <a:r>
              <a:rPr lang="en-US" sz="1400"/>
              <a:t>to advance the team’s ability to advance its support toolkit</a:t>
            </a:r>
          </a:p>
        </p:txBody>
      </p:sp>
      <p:sp>
        <p:nvSpPr>
          <p:cNvPr id="35" name="btfpBulletedList913118"/>
          <p:cNvSpPr txBox="1"/>
          <p:nvPr>
            <p:custDataLst>
              <p:tags r:id="rId7"/>
            </p:custDataLst>
          </p:nvPr>
        </p:nvSpPr>
        <p:spPr bwMode="gray">
          <a:xfrm>
            <a:off x="2277036" y="3539405"/>
            <a:ext cx="4389120" cy="503590"/>
          </a:xfrm>
          <a:prstGeom prst="rect">
            <a:avLst/>
          </a:prstGeom>
          <a:noFill/>
        </p:spPr>
        <p:txBody>
          <a:bodyPr vert="horz" wrap="square" lIns="36000" tIns="36000" rIns="36000" bIns="36000" rtlCol="0">
            <a:spAutoFit/>
          </a:bodyPr>
          <a:lstStyle/>
          <a:p>
            <a:r>
              <a:rPr lang="en-US" sz="1400"/>
              <a:t>When a Bain Account team needs a </a:t>
            </a:r>
            <a:r>
              <a:rPr lang="en-US" sz="1400" b="1"/>
              <a:t>quick answer first </a:t>
            </a:r>
            <a:r>
              <a:rPr lang="en-US" sz="1400"/>
              <a:t>but has </a:t>
            </a:r>
            <a:r>
              <a:rPr lang="en-US" sz="1400" b="1"/>
              <a:t>limited time and client data</a:t>
            </a:r>
          </a:p>
        </p:txBody>
      </p:sp>
      <p:sp>
        <p:nvSpPr>
          <p:cNvPr id="39" name="btfpBulletedList913118"/>
          <p:cNvSpPr txBox="1"/>
          <p:nvPr>
            <p:custDataLst>
              <p:tags r:id="rId8"/>
            </p:custDataLst>
          </p:nvPr>
        </p:nvSpPr>
        <p:spPr bwMode="gray">
          <a:xfrm>
            <a:off x="6879734" y="3265847"/>
            <a:ext cx="4663440" cy="1303809"/>
          </a:xfrm>
          <a:prstGeom prst="rect">
            <a:avLst/>
          </a:prstGeom>
          <a:noFill/>
        </p:spPr>
        <p:txBody>
          <a:bodyPr vert="horz" wrap="square" lIns="36000" tIns="36000" rIns="36000" bIns="36000" rtlCol="0">
            <a:spAutoFit/>
          </a:bodyPr>
          <a:lstStyle/>
          <a:p>
            <a:r>
              <a:rPr lang="en-US" sz="1400" u="sng"/>
              <a:t>Tailored support:</a:t>
            </a:r>
            <a:r>
              <a:rPr lang="en-US" sz="1400"/>
              <a:t> When a Bain Account team needs additional commercial support for an upcoming sales play (beyond the scope of a traditional OI)</a:t>
            </a:r>
          </a:p>
          <a:p>
            <a:r>
              <a:rPr lang="en-US" sz="1400" u="sng"/>
              <a:t>Growth initiatives:</a:t>
            </a:r>
            <a:r>
              <a:rPr lang="en-US" sz="1400"/>
              <a:t> When the team has extra capacity within the ongoing OI cadence</a:t>
            </a:r>
            <a:endParaRPr lang="en-US" sz="1200" u="sng"/>
          </a:p>
        </p:txBody>
      </p:sp>
      <p:sp>
        <p:nvSpPr>
          <p:cNvPr id="40" name="btfpBulletedList913118"/>
          <p:cNvSpPr txBox="1"/>
          <p:nvPr>
            <p:custDataLst>
              <p:tags r:id="rId9"/>
            </p:custDataLst>
          </p:nvPr>
        </p:nvSpPr>
        <p:spPr bwMode="gray">
          <a:xfrm>
            <a:off x="6879734" y="4771533"/>
            <a:ext cx="4663440" cy="1088366"/>
          </a:xfrm>
          <a:prstGeom prst="rect">
            <a:avLst/>
          </a:prstGeom>
          <a:noFill/>
        </p:spPr>
        <p:txBody>
          <a:bodyPr vert="horz" wrap="square" lIns="36000" tIns="36000" rIns="36000" bIns="36000" rtlCol="0">
            <a:spAutoFit/>
          </a:bodyPr>
          <a:lstStyle/>
          <a:p>
            <a:r>
              <a:rPr lang="en-US" sz="1400"/>
              <a:t>What </a:t>
            </a:r>
            <a:r>
              <a:rPr lang="en-US" sz="1400" b="1"/>
              <a:t>additional insights </a:t>
            </a:r>
            <a:r>
              <a:rPr lang="en-US" sz="1400"/>
              <a:t>can we provide the account team to help </a:t>
            </a:r>
            <a:r>
              <a:rPr lang="en-US" sz="1400" b="1"/>
              <a:t>equip them for a potential sales play</a:t>
            </a:r>
            <a:r>
              <a:rPr lang="en-US" sz="1400"/>
              <a:t>?</a:t>
            </a:r>
          </a:p>
          <a:p>
            <a:r>
              <a:rPr lang="en-US" sz="1400"/>
              <a:t>How can we </a:t>
            </a:r>
            <a:r>
              <a:rPr lang="en-US" sz="1400" b="1"/>
              <a:t>advance our ability</a:t>
            </a:r>
            <a:r>
              <a:rPr lang="en-US" sz="1400"/>
              <a:t> to deliver insights &amp; uncover opportunities more efficiently?</a:t>
            </a:r>
          </a:p>
        </p:txBody>
      </p:sp>
      <p:sp>
        <p:nvSpPr>
          <p:cNvPr id="44" name="btfpBulletedList913118"/>
          <p:cNvSpPr txBox="1"/>
          <p:nvPr>
            <p:custDataLst>
              <p:tags r:id="rId10"/>
            </p:custDataLst>
          </p:nvPr>
        </p:nvSpPr>
        <p:spPr bwMode="gray">
          <a:xfrm>
            <a:off x="2277036" y="4790066"/>
            <a:ext cx="4389120" cy="872922"/>
          </a:xfrm>
          <a:prstGeom prst="rect">
            <a:avLst/>
          </a:prstGeom>
          <a:noFill/>
        </p:spPr>
        <p:txBody>
          <a:bodyPr vert="horz" wrap="square" lIns="36000" tIns="36000" rIns="36000" bIns="36000" rtlCol="0">
            <a:spAutoFit/>
          </a:bodyPr>
          <a:lstStyle/>
          <a:p>
            <a:r>
              <a:rPr lang="en-US" sz="1400"/>
              <a:t>In </a:t>
            </a:r>
            <a:r>
              <a:rPr lang="en-US" sz="1400" b="1"/>
              <a:t>which part(s) of the P&amp;L </a:t>
            </a:r>
            <a:r>
              <a:rPr lang="en-US" sz="1400"/>
              <a:t>are we likely to find a cost opportunity? How </a:t>
            </a:r>
            <a:r>
              <a:rPr lang="en-US" sz="1400" b="1"/>
              <a:t>sizeable </a:t>
            </a:r>
            <a:r>
              <a:rPr lang="en-US" sz="1400"/>
              <a:t>is it?</a:t>
            </a:r>
          </a:p>
          <a:p>
            <a:r>
              <a:rPr lang="en-US" sz="1400"/>
              <a:t>What are the </a:t>
            </a:r>
            <a:r>
              <a:rPr lang="en-US" sz="1400" b="1"/>
              <a:t>likely “cost plays” </a:t>
            </a:r>
            <a:r>
              <a:rPr lang="en-US" sz="1400"/>
              <a:t>to consider?</a:t>
            </a:r>
          </a:p>
        </p:txBody>
      </p:sp>
      <p:sp>
        <p:nvSpPr>
          <p:cNvPr id="46" name="btfpBulletedList913118"/>
          <p:cNvSpPr txBox="1"/>
          <p:nvPr>
            <p:custDataLst>
              <p:tags r:id="rId11"/>
            </p:custDataLst>
          </p:nvPr>
        </p:nvSpPr>
        <p:spPr bwMode="gray">
          <a:xfrm>
            <a:off x="2277036" y="6026016"/>
            <a:ext cx="4389120" cy="503590"/>
          </a:xfrm>
          <a:prstGeom prst="rect">
            <a:avLst/>
          </a:prstGeom>
          <a:noFill/>
        </p:spPr>
        <p:txBody>
          <a:bodyPr vert="horz" wrap="square" lIns="36000" tIns="36000" rIns="36000" bIns="36000" rtlCol="0">
            <a:spAutoFit/>
          </a:bodyPr>
          <a:lstStyle/>
          <a:p>
            <a:r>
              <a:rPr lang="en-US" sz="1400" b="1"/>
              <a:t>Cost Diagnostic COE</a:t>
            </a:r>
            <a:r>
              <a:rPr lang="en-US" sz="1400"/>
              <a:t>, with light support from client team</a:t>
            </a:r>
          </a:p>
        </p:txBody>
      </p:sp>
      <p:sp>
        <p:nvSpPr>
          <p:cNvPr id="47" name="btfpBulletedList913118"/>
          <p:cNvSpPr txBox="1"/>
          <p:nvPr>
            <p:custDataLst>
              <p:tags r:id="rId12"/>
            </p:custDataLst>
          </p:nvPr>
        </p:nvSpPr>
        <p:spPr bwMode="gray">
          <a:xfrm>
            <a:off x="6930029" y="6026016"/>
            <a:ext cx="4663440" cy="288147"/>
          </a:xfrm>
          <a:prstGeom prst="rect">
            <a:avLst/>
          </a:prstGeom>
          <a:noFill/>
        </p:spPr>
        <p:txBody>
          <a:bodyPr vert="horz" wrap="square" lIns="36000" tIns="36000" rIns="36000" bIns="36000" rtlCol="0">
            <a:spAutoFit/>
          </a:bodyPr>
          <a:lstStyle/>
          <a:p>
            <a:r>
              <a:rPr lang="en-US" sz="1400" b="1"/>
              <a:t>Cost Diagnostic COE</a:t>
            </a:r>
            <a:endParaRPr lang="en-US" sz="1400"/>
          </a:p>
        </p:txBody>
      </p:sp>
      <p:cxnSp>
        <p:nvCxnSpPr>
          <p:cNvPr id="10" name="Straight Connector 9"/>
          <p:cNvCxnSpPr>
            <a:cxnSpLocks/>
          </p:cNvCxnSpPr>
          <p:nvPr/>
        </p:nvCxnSpPr>
        <p:spPr bwMode="gray">
          <a:xfrm>
            <a:off x="2459637" y="3181350"/>
            <a:ext cx="9397401" cy="0"/>
          </a:xfrm>
          <a:prstGeom prst="line">
            <a:avLst/>
          </a:prstGeom>
          <a:ln w="12700" cap="flat">
            <a:solidFill>
              <a:schemeClr val="bg1">
                <a:lumMod val="65000"/>
              </a:schemeClr>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cxnSpLocks/>
          </p:cNvCxnSpPr>
          <p:nvPr/>
        </p:nvCxnSpPr>
        <p:spPr bwMode="gray">
          <a:xfrm>
            <a:off x="2459637" y="4670594"/>
            <a:ext cx="9397401" cy="0"/>
          </a:xfrm>
          <a:prstGeom prst="line">
            <a:avLst/>
          </a:prstGeom>
          <a:ln w="12700" cap="flat">
            <a:solidFill>
              <a:schemeClr val="bg1">
                <a:lumMod val="65000"/>
              </a:schemeClr>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gray">
          <a:xfrm>
            <a:off x="2459637" y="5928513"/>
            <a:ext cx="8471979" cy="0"/>
          </a:xfrm>
          <a:prstGeom prst="line">
            <a:avLst/>
          </a:prstGeom>
          <a:ln w="12700" cap="flat">
            <a:solidFill>
              <a:schemeClr val="bg1">
                <a:lumMod val="65000"/>
              </a:schemeClr>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13" name="btfpRowHeaderBox613083"/>
          <p:cNvGrpSpPr/>
          <p:nvPr>
            <p:custDataLst>
              <p:tags r:id="rId13"/>
            </p:custDataLst>
          </p:nvPr>
        </p:nvGrpSpPr>
        <p:grpSpPr>
          <a:xfrm>
            <a:off x="330200" y="2413927"/>
            <a:ext cx="1543424" cy="621789"/>
            <a:chOff x="330200" y="1270000"/>
            <a:chExt cx="2540000" cy="972979"/>
          </a:xfrm>
        </p:grpSpPr>
        <p:sp>
          <p:nvSpPr>
            <p:cNvPr id="11"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What is it?</a:t>
              </a:r>
            </a:p>
          </p:txBody>
        </p:sp>
        <p:cxnSp>
          <p:nvCxnSpPr>
            <p:cNvPr id="12"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0" name="btfpRowHeaderBox613083"/>
          <p:cNvGrpSpPr/>
          <p:nvPr>
            <p:custDataLst>
              <p:tags r:id="rId14"/>
            </p:custDataLst>
          </p:nvPr>
        </p:nvGrpSpPr>
        <p:grpSpPr>
          <a:xfrm>
            <a:off x="330200" y="3236366"/>
            <a:ext cx="1543424" cy="1330536"/>
            <a:chOff x="330200" y="1270000"/>
            <a:chExt cx="2540000" cy="972979"/>
          </a:xfrm>
        </p:grpSpPr>
        <p:sp>
          <p:nvSpPr>
            <p:cNvPr id="51"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When is it </a:t>
              </a:r>
              <a:r>
                <a:rPr lang="en-US" b="1">
                  <a:solidFill>
                    <a:srgbClr val="000000"/>
                  </a:solidFill>
                </a:rPr>
                <a:t>performed</a:t>
              </a:r>
              <a:r>
                <a:rPr lang="en-US" sz="1600" b="1">
                  <a:solidFill>
                    <a:srgbClr val="000000"/>
                  </a:solidFill>
                </a:rPr>
                <a:t>?</a:t>
              </a:r>
            </a:p>
          </p:txBody>
        </p:sp>
        <p:cxnSp>
          <p:nvCxnSpPr>
            <p:cNvPr id="52"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3" name="btfpRowHeaderBox613083"/>
          <p:cNvGrpSpPr/>
          <p:nvPr>
            <p:custDataLst>
              <p:tags r:id="rId15"/>
            </p:custDataLst>
          </p:nvPr>
        </p:nvGrpSpPr>
        <p:grpSpPr>
          <a:xfrm>
            <a:off x="330200" y="4762007"/>
            <a:ext cx="1543424" cy="1088366"/>
            <a:chOff x="330200" y="1270000"/>
            <a:chExt cx="2540000" cy="972979"/>
          </a:xfrm>
        </p:grpSpPr>
        <p:sp>
          <p:nvSpPr>
            <p:cNvPr id="54"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What questions does it answer?</a:t>
              </a:r>
            </a:p>
          </p:txBody>
        </p:sp>
        <p:cxnSp>
          <p:nvCxnSpPr>
            <p:cNvPr id="55"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6" name="btfpRowHeaderBox613083"/>
          <p:cNvGrpSpPr/>
          <p:nvPr>
            <p:custDataLst>
              <p:tags r:id="rId16"/>
            </p:custDataLst>
          </p:nvPr>
        </p:nvGrpSpPr>
        <p:grpSpPr>
          <a:xfrm>
            <a:off x="330200" y="6012413"/>
            <a:ext cx="1543424" cy="530797"/>
            <a:chOff x="330200" y="1270000"/>
            <a:chExt cx="2540000" cy="972979"/>
          </a:xfrm>
        </p:grpSpPr>
        <p:sp>
          <p:nvSpPr>
            <p:cNvPr id="57" name="btfpRowHeaderBoxText613083"/>
            <p:cNvSpPr txBox="1"/>
            <p:nvPr/>
          </p:nvSpPr>
          <p:spPr bwMode="gray">
            <a:xfrm>
              <a:off x="330200" y="1270000"/>
              <a:ext cx="2540000" cy="972979"/>
            </a:xfrm>
            <a:prstGeom prst="rect">
              <a:avLst/>
            </a:prstGeom>
            <a:noFill/>
          </p:spPr>
          <p:txBody>
            <a:bodyPr vert="horz" wrap="square" lIns="36036" tIns="36036" rIns="180181" bIns="36036" rtlCol="0" anchor="t">
              <a:noAutofit/>
            </a:bodyPr>
            <a:lstStyle/>
            <a:p>
              <a:pPr marL="0" indent="0">
                <a:spcBef>
                  <a:spcPts val="0"/>
                </a:spcBef>
                <a:buNone/>
              </a:pPr>
              <a:r>
                <a:rPr lang="en-US" sz="1600" b="1">
                  <a:solidFill>
                    <a:srgbClr val="000000"/>
                  </a:solidFill>
                </a:rPr>
                <a:t>Who performs it? </a:t>
              </a:r>
            </a:p>
          </p:txBody>
        </p:sp>
        <p:cxnSp>
          <p:nvCxnSpPr>
            <p:cNvPr id="58" name="btfpRowHeaderBoxLine613083"/>
            <p:cNvCxnSpPr/>
            <p:nvPr/>
          </p:nvCxnSpPr>
          <p:spPr bwMode="gray">
            <a:xfrm>
              <a:off x="2870200" y="1270000"/>
              <a:ext cx="0" cy="972979"/>
            </a:xfrm>
            <a:prstGeom prst="line">
              <a:avLst/>
            </a:prstGeom>
            <a:ln w="152400"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6" name="Rectangle 5"/>
          <p:cNvSpPr/>
          <p:nvPr/>
        </p:nvSpPr>
        <p:spPr bwMode="gray">
          <a:xfrm>
            <a:off x="330200" y="964568"/>
            <a:ext cx="1444067" cy="27754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sz="1600" i="1">
                <a:solidFill>
                  <a:schemeClr val="tx1"/>
                </a:solidFill>
              </a:rPr>
              <a:t>% of requests:</a:t>
            </a:r>
          </a:p>
        </p:txBody>
      </p:sp>
      <p:sp>
        <p:nvSpPr>
          <p:cNvPr id="34" name="Rectangle 33"/>
          <p:cNvSpPr/>
          <p:nvPr/>
        </p:nvSpPr>
        <p:spPr bwMode="gray">
          <a:xfrm>
            <a:off x="3409974" y="964568"/>
            <a:ext cx="1444067" cy="27754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i="1">
                <a:solidFill>
                  <a:schemeClr val="tx1"/>
                </a:solidFill>
              </a:rPr>
              <a:t>80</a:t>
            </a:r>
            <a:r>
              <a:rPr lang="en-US" sz="1600" i="1">
                <a:solidFill>
                  <a:schemeClr val="tx1"/>
                </a:solidFill>
              </a:rPr>
              <a:t>%</a:t>
            </a:r>
          </a:p>
        </p:txBody>
      </p:sp>
      <p:sp>
        <p:nvSpPr>
          <p:cNvPr id="37" name="Rectangle 36"/>
          <p:cNvSpPr/>
          <p:nvPr/>
        </p:nvSpPr>
        <p:spPr bwMode="gray">
          <a:xfrm>
            <a:off x="8539715" y="964568"/>
            <a:ext cx="1444067" cy="27754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i="1">
                <a:solidFill>
                  <a:schemeClr val="tx1"/>
                </a:solidFill>
              </a:rPr>
              <a:t>2</a:t>
            </a:r>
            <a:r>
              <a:rPr lang="en-US" sz="1600" i="1">
                <a:solidFill>
                  <a:schemeClr val="tx1"/>
                </a:solidFill>
              </a:rPr>
              <a:t>0%</a:t>
            </a:r>
          </a:p>
        </p:txBody>
      </p:sp>
    </p:spTree>
    <p:custDataLst>
      <p:tags r:id="rId1"/>
    </p:custDataLst>
    <p:extLst>
      <p:ext uri="{BB962C8B-B14F-4D97-AF65-F5344CB8AC3E}">
        <p14:creationId xmlns:p14="http://schemas.microsoft.com/office/powerpoint/2010/main" val="1119691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0DDF3BF6-595F-48D2-D04C-424C640FC492}"/>
              </a:ext>
            </a:extLst>
          </p:cNvPr>
          <p:cNvGraphicFramePr>
            <a:graphicFrameLocks/>
          </p:cNvGraphicFramePr>
          <p:nvPr>
            <p:custDataLst>
              <p:tags r:id="rId2"/>
            </p:custDataLst>
            <p:extLst>
              <p:ext uri="{D42A27DB-BD31-4B8C-83A1-F6EECF244321}">
                <p14:modId xmlns:p14="http://schemas.microsoft.com/office/powerpoint/2010/main" val="20650569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5" name="think-cell data - do not delete" hidden="1">
                        <a:extLst>
                          <a:ext uri="{FF2B5EF4-FFF2-40B4-BE49-F238E27FC236}">
                            <a16:creationId xmlns:a16="http://schemas.microsoft.com/office/drawing/2014/main" id="{0DDF3BF6-595F-48D2-D04C-424C640FC49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50B0DE01-B4BF-8192-68E6-06F7BFDBF36C}"/>
              </a:ext>
            </a:extLst>
          </p:cNvPr>
          <p:cNvGrpSpPr/>
          <p:nvPr/>
        </p:nvGrpSpPr>
        <p:grpSpPr>
          <a:xfrm>
            <a:off x="0" y="6926580"/>
            <a:ext cx="12192000" cy="137160"/>
            <a:chOff x="0" y="6926580"/>
            <a:chExt cx="12192000" cy="137160"/>
          </a:xfrm>
        </p:grpSpPr>
        <p:sp>
          <p:nvSpPr>
            <p:cNvPr id="10" name="btfpColumnGapBlocker821824">
              <a:extLst>
                <a:ext uri="{FF2B5EF4-FFF2-40B4-BE49-F238E27FC236}">
                  <a16:creationId xmlns:a16="http://schemas.microsoft.com/office/drawing/2014/main" id="{BB285651-6D3F-1B6B-2A2B-43FF4A199B48}"/>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149820">
              <a:extLst>
                <a:ext uri="{FF2B5EF4-FFF2-40B4-BE49-F238E27FC236}">
                  <a16:creationId xmlns:a16="http://schemas.microsoft.com/office/drawing/2014/main" id="{67E134CE-DD3D-BCD2-03D3-247B3A6AFACF}"/>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415144">
              <a:extLst>
                <a:ext uri="{FF2B5EF4-FFF2-40B4-BE49-F238E27FC236}">
                  <a16:creationId xmlns:a16="http://schemas.microsoft.com/office/drawing/2014/main" id="{19544117-BEC3-38F9-3014-97FAB5EDEC91}"/>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458324">
              <a:extLst>
                <a:ext uri="{FF2B5EF4-FFF2-40B4-BE49-F238E27FC236}">
                  <a16:creationId xmlns:a16="http://schemas.microsoft.com/office/drawing/2014/main" id="{1D1F2FAF-39A4-5789-32CC-6E44EECC56B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8ECDC1C8-5E57-63EC-D509-35D5658B25AF}"/>
              </a:ext>
            </a:extLst>
          </p:cNvPr>
          <p:cNvGrpSpPr/>
          <p:nvPr/>
        </p:nvGrpSpPr>
        <p:grpSpPr>
          <a:xfrm>
            <a:off x="0" y="-205740"/>
            <a:ext cx="12192000" cy="137160"/>
            <a:chOff x="0" y="-205740"/>
            <a:chExt cx="12192000" cy="137160"/>
          </a:xfrm>
        </p:grpSpPr>
        <p:sp>
          <p:nvSpPr>
            <p:cNvPr id="9" name="btfpColumnGapBlocker456860">
              <a:extLst>
                <a:ext uri="{FF2B5EF4-FFF2-40B4-BE49-F238E27FC236}">
                  <a16:creationId xmlns:a16="http://schemas.microsoft.com/office/drawing/2014/main" id="{E68F9A8E-89EF-D03F-E946-2C680E459655}"/>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22611">
              <a:extLst>
                <a:ext uri="{FF2B5EF4-FFF2-40B4-BE49-F238E27FC236}">
                  <a16:creationId xmlns:a16="http://schemas.microsoft.com/office/drawing/2014/main" id="{BC58266D-2694-A749-DFF9-BA6DDDD7E02A}"/>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876223">
              <a:extLst>
                <a:ext uri="{FF2B5EF4-FFF2-40B4-BE49-F238E27FC236}">
                  <a16:creationId xmlns:a16="http://schemas.microsoft.com/office/drawing/2014/main" id="{F43F3145-DC84-B551-1490-52A916F55818}"/>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851917">
              <a:extLst>
                <a:ext uri="{FF2B5EF4-FFF2-40B4-BE49-F238E27FC236}">
                  <a16:creationId xmlns:a16="http://schemas.microsoft.com/office/drawing/2014/main" id="{B5675E5B-712B-A067-459E-1CCCE221FA1D}"/>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207761D-6E59-7DC6-7811-51BBB7BB5A21}"/>
              </a:ext>
            </a:extLst>
          </p:cNvPr>
          <p:cNvSpPr>
            <a:spLocks noGrp="1"/>
          </p:cNvSpPr>
          <p:nvPr>
            <p:ph type="title"/>
          </p:nvPr>
        </p:nvSpPr>
        <p:spPr/>
        <p:txBody>
          <a:bodyPr vert="horz" rIns="36000"/>
          <a:lstStyle/>
          <a:p>
            <a:r>
              <a:rPr lang="en-US"/>
              <a:t>The Opportunity Indicator output takes several forms; most requests are for a Standard OI, while some requests require more bespoke materials</a:t>
            </a:r>
          </a:p>
        </p:txBody>
      </p:sp>
      <p:graphicFrame>
        <p:nvGraphicFramePr>
          <p:cNvPr id="17" name="Table 16">
            <a:extLst>
              <a:ext uri="{FF2B5EF4-FFF2-40B4-BE49-F238E27FC236}">
                <a16:creationId xmlns:a16="http://schemas.microsoft.com/office/drawing/2014/main" id="{7D9001DC-9EA4-DEEC-6CA8-BEC5EDCFD2CA}"/>
              </a:ext>
            </a:extLst>
          </p:cNvPr>
          <p:cNvGraphicFramePr>
            <a:graphicFrameLocks noGrp="1"/>
          </p:cNvGraphicFramePr>
          <p:nvPr>
            <p:extLst>
              <p:ext uri="{D42A27DB-BD31-4B8C-83A1-F6EECF244321}">
                <p14:modId xmlns:p14="http://schemas.microsoft.com/office/powerpoint/2010/main" val="572894369"/>
              </p:ext>
            </p:extLst>
          </p:nvPr>
        </p:nvGraphicFramePr>
        <p:xfrm>
          <a:off x="334962" y="1268412"/>
          <a:ext cx="11526838" cy="4983897"/>
        </p:xfrm>
        <a:graphic>
          <a:graphicData uri="http://schemas.openxmlformats.org/drawingml/2006/table">
            <a:tbl>
              <a:tblPr firstRow="1" firstCol="1">
                <a:tableStyleId>{9D7B26C5-4107-4FEC-AEDC-1716B250A1EF}</a:tableStyleId>
              </a:tblPr>
              <a:tblGrid>
                <a:gridCol w="1803776">
                  <a:extLst>
                    <a:ext uri="{9D8B030D-6E8A-4147-A177-3AD203B41FA5}">
                      <a16:colId xmlns:a16="http://schemas.microsoft.com/office/drawing/2014/main" val="1434695398"/>
                    </a:ext>
                  </a:extLst>
                </a:gridCol>
                <a:gridCol w="7655271">
                  <a:extLst>
                    <a:ext uri="{9D8B030D-6E8A-4147-A177-3AD203B41FA5}">
                      <a16:colId xmlns:a16="http://schemas.microsoft.com/office/drawing/2014/main" val="4080870118"/>
                    </a:ext>
                  </a:extLst>
                </a:gridCol>
                <a:gridCol w="2067791">
                  <a:extLst>
                    <a:ext uri="{9D8B030D-6E8A-4147-A177-3AD203B41FA5}">
                      <a16:colId xmlns:a16="http://schemas.microsoft.com/office/drawing/2014/main" val="1484597748"/>
                    </a:ext>
                  </a:extLst>
                </a:gridCol>
              </a:tblGrid>
              <a:tr h="298866">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r>
                        <a:rPr lang="en-US" sz="1200" noProof="0">
                          <a:solidFill>
                            <a:schemeClr val="bg1"/>
                          </a:solidFill>
                        </a:rPr>
                        <a:t>Types of OI</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0" indent="0" algn="ctr">
                        <a:spcBef>
                          <a:spcPct val="0"/>
                        </a:spcBef>
                        <a:buFontTx/>
                        <a:buNone/>
                      </a:pPr>
                      <a:r>
                        <a:rPr lang="en-US" sz="1200" noProof="0">
                          <a:solidFill>
                            <a:schemeClr val="bg1"/>
                          </a:solidFill>
                        </a:rPr>
                        <a:t>Commentary </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46647B"/>
                    </a:solidFill>
                  </a:tcPr>
                </a:tc>
                <a:tc>
                  <a:txBody>
                    <a:bodyPr/>
                    <a:lstStyle/>
                    <a:p>
                      <a:pPr marL="0" indent="0" algn="ctr">
                        <a:spcBef>
                          <a:spcPct val="0"/>
                        </a:spcBef>
                        <a:buFontTx/>
                        <a:buNone/>
                      </a:pPr>
                      <a:r>
                        <a:rPr lang="en-US" sz="1200" noProof="0">
                          <a:solidFill>
                            <a:schemeClr val="bg1"/>
                          </a:solidFill>
                        </a:rPr>
                        <a:t>Sample OI</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938343178"/>
                  </a:ext>
                </a:extLst>
              </a:tr>
              <a:tr h="1347611">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Standard OI</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The standard Opportunity Indicator (OI) benchmarks a target company against comparable peers on several metrics (i.e., shareholder returns, top-line growth, cost, and net working capital). The goal of the OI is to understand the potential opportunity or gap that exists between the target company and its peers.</a:t>
                      </a:r>
                      <a:br>
                        <a:rPr lang="en-US" sz="1200" b="0" noProof="0" dirty="0">
                          <a:solidFill>
                            <a:srgbClr val="000000"/>
                          </a:solidFill>
                        </a:rPr>
                      </a:br>
                      <a:br>
                        <a:rPr lang="en-US" sz="1200" b="0" noProof="0" dirty="0">
                          <a:solidFill>
                            <a:srgbClr val="000000"/>
                          </a:solidFill>
                        </a:rPr>
                      </a:br>
                      <a:r>
                        <a:rPr lang="en-US" sz="1200" b="1" i="1" noProof="0" dirty="0">
                          <a:solidFill>
                            <a:schemeClr val="tx1"/>
                          </a:solidFill>
                        </a:rPr>
                        <a:t>Note: </a:t>
                      </a:r>
                      <a:r>
                        <a:rPr lang="en-US" sz="1200" b="0" i="1" noProof="0" dirty="0">
                          <a:solidFill>
                            <a:schemeClr val="tx1"/>
                          </a:solidFill>
                        </a:rPr>
                        <a:t>For certain industries (e.g., Airlines, Oil &amp; Gas, Retail, Technology), the Standard OI loop includes pages on industry-specific benchmarks. For more information, see Appendix.</a:t>
                      </a:r>
                      <a:endParaRPr lang="en-US" sz="1200" b="0" noProof="0" dirty="0">
                        <a:solidFill>
                          <a:schemeClr val="tx1"/>
                        </a:solidFill>
                      </a:endParaRP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hlinkClick r:id="rId6"/>
                        </a:rPr>
                        <a:t>Autodesk</a:t>
                      </a:r>
                      <a:r>
                        <a:rPr lang="en-US" sz="1200" b="0" noProof="0" dirty="0">
                          <a:solidFill>
                            <a:schemeClr val="tx1"/>
                          </a:solidFill>
                        </a:rPr>
                        <a:t> </a:t>
                      </a:r>
                      <a:br>
                        <a:rPr lang="en-US" sz="1200" b="0" noProof="0" dirty="0">
                          <a:solidFill>
                            <a:schemeClr val="tx1"/>
                          </a:solidFill>
                        </a:rPr>
                      </a:br>
                      <a:br>
                        <a:rPr lang="en-US" sz="1200" b="0" noProof="0" dirty="0">
                          <a:solidFill>
                            <a:schemeClr val="tx1"/>
                          </a:solidFill>
                        </a:rPr>
                      </a:br>
                      <a:r>
                        <a:rPr lang="en-US" sz="1200" b="0" noProof="0" dirty="0">
                          <a:solidFill>
                            <a:schemeClr val="tx1"/>
                          </a:solidFill>
                          <a:hlinkClick r:id="rId7"/>
                        </a:rPr>
                        <a:t>Pegasus</a:t>
                      </a:r>
                      <a:br>
                        <a:rPr lang="en-US" sz="1200" b="0" noProof="0" dirty="0">
                          <a:solidFill>
                            <a:schemeClr val="tx1"/>
                          </a:solidFill>
                        </a:rPr>
                      </a:br>
                      <a:br>
                        <a:rPr lang="en-US" sz="1200" b="0" noProof="0" dirty="0">
                          <a:solidFill>
                            <a:schemeClr val="tx1"/>
                          </a:solidFill>
                        </a:rPr>
                      </a:br>
                      <a:r>
                        <a:rPr lang="en-US" sz="1200" b="0" noProof="0" dirty="0">
                          <a:solidFill>
                            <a:schemeClr val="tx1"/>
                          </a:solidFill>
                          <a:hlinkClick r:id="rId8"/>
                        </a:rPr>
                        <a:t>Cracker Barrel</a:t>
                      </a:r>
                      <a:endParaRPr lang="en-US" sz="1200" b="0" noProof="0" dirty="0">
                        <a:solidFill>
                          <a:schemeClr val="tx1"/>
                        </a:solidFill>
                      </a:endParaRP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069385173"/>
                  </a:ext>
                </a:extLst>
              </a:tr>
              <a:tr h="880606">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dirty="0">
                          <a:solidFill>
                            <a:schemeClr val="tx1"/>
                          </a:solidFill>
                        </a:rPr>
                        <a:t>Sector Scan </a:t>
                      </a:r>
                    </a:p>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A sector scan OI benchmarks companies within a sector or subsector against comparable peers using the same metrics as a standard OI as well as any industry-specific metrics. The goal is to assess each company's position relative to peers and identify critical trends across the peer set.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dirty="0">
                          <a:hlinkClick r:id="rId9"/>
                        </a:rPr>
                        <a:t>MedTech Sector Scan</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578288060"/>
                  </a:ext>
                </a:extLst>
              </a:tr>
              <a:tr h="725337">
                <a:tc>
                  <a:txBody>
                    <a:bodyPr/>
                    <a:lstStyle/>
                    <a:p>
                      <a:pPr marL="0" lvl="0" indent="0" algn="l">
                        <a:spcBef>
                          <a:spcPct val="0"/>
                        </a:spcBef>
                        <a:buNone/>
                      </a:pPr>
                      <a:r>
                        <a:rPr lang="en-US" sz="1200" b="0" noProof="0" dirty="0">
                          <a:solidFill>
                            <a:schemeClr val="tx1"/>
                          </a:solidFill>
                        </a:rPr>
                        <a:t>Net Working Capital Analysis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A Net Working Capital (NWC) analysis is an OI focused exclusively on the NWC portion of a Standard OI. The goal is to identify opportunities for improvement in cash flow management by benchmarking a company’s DIO, DSO, and DPO relative to peers.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hlinkClick r:id="rId10"/>
                        </a:rPr>
                        <a:t>Ford NWC</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16611940"/>
                  </a:ext>
                </a:extLst>
              </a:tr>
              <a:tr h="725337">
                <a:tc>
                  <a:txBody>
                    <a:bodyPr/>
                    <a:lstStyle/>
                    <a:p>
                      <a:pPr marL="0" lvl="0" indent="0" algn="l">
                        <a:spcBef>
                          <a:spcPct val="0"/>
                        </a:spcBef>
                        <a:buNone/>
                      </a:pPr>
                      <a:r>
                        <a:rPr lang="en-US" sz="1200" b="0" noProof="0" dirty="0">
                          <a:solidFill>
                            <a:schemeClr val="tx1"/>
                          </a:solidFill>
                        </a:rPr>
                        <a:t>Cash Flow and Solvency Analysis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rPr>
                        <a:t>A cash flow and solvency analysis is an OI focused on a company’s ability to generate cash and pay off debts; this analysis typically delves into metrics such as FCF and Net Debt / EBITDA, and may involve peer benchmarking if relevant.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hlinkClick r:id="rId11"/>
                        </a:rPr>
                        <a:t>Sabre</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67285304"/>
                  </a:ext>
                </a:extLst>
              </a:tr>
              <a:tr h="1006140">
                <a:tc>
                  <a:txBody>
                    <a:bodyPr/>
                    <a:lstStyle/>
                    <a:p>
                      <a:pPr marL="0" lvl="0" indent="0" algn="l">
                        <a:spcBef>
                          <a:spcPct val="0"/>
                        </a:spcBef>
                        <a:buNone/>
                      </a:pPr>
                      <a:r>
                        <a:rPr lang="en-US" sz="1200" b="0" noProof="0" dirty="0">
                          <a:solidFill>
                            <a:schemeClr val="tx1"/>
                          </a:solidFill>
                        </a:rPr>
                        <a:t>Industry-Specific OIs (e.g., Banking, Insurance)</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dirty="0">
                          <a:solidFill>
                            <a:schemeClr val="tx1"/>
                          </a:solidFill>
                        </a:rPr>
                        <a:t>Focused on benchmarking core KPIs within certain industries where P&amp;L does not conform to the standard structure (e.g., Banking, Insurance). </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dirty="0">
                          <a:solidFill>
                            <a:schemeClr val="tx1"/>
                          </a:solidFill>
                          <a:hlinkClick r:id="rId12"/>
                        </a:rPr>
                        <a:t>Banking [Banamex]</a:t>
                      </a:r>
                      <a:br>
                        <a:rPr lang="en-US" sz="1200" b="0" noProof="0" dirty="0">
                          <a:solidFill>
                            <a:schemeClr val="tx1"/>
                          </a:solidFill>
                        </a:rPr>
                      </a:br>
                      <a:br>
                        <a:rPr lang="en-US" sz="1200" b="0" noProof="0" dirty="0">
                          <a:solidFill>
                            <a:schemeClr val="tx1"/>
                          </a:solidFill>
                        </a:rPr>
                      </a:br>
                      <a:r>
                        <a:rPr lang="en-US" sz="1200" b="0" noProof="0" dirty="0">
                          <a:solidFill>
                            <a:schemeClr val="tx1"/>
                          </a:solidFill>
                          <a:hlinkClick r:id="rId13"/>
                        </a:rPr>
                        <a:t>Insurance [OneAmerica]</a:t>
                      </a:r>
                      <a:endParaRPr lang="en-US" sz="1200" b="0" noProof="0" dirty="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017901966"/>
                  </a:ext>
                </a:extLst>
              </a:tr>
            </a:tbl>
          </a:graphicData>
        </a:graphic>
      </p:graphicFrame>
    </p:spTree>
    <p:custDataLst>
      <p:tags r:id="rId1"/>
    </p:custDataLst>
    <p:extLst>
      <p:ext uri="{BB962C8B-B14F-4D97-AF65-F5344CB8AC3E}">
        <p14:creationId xmlns:p14="http://schemas.microsoft.com/office/powerpoint/2010/main" val="275628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2"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a:t>Introduction to OI</a:t>
            </a:r>
          </a:p>
          <a:p>
            <a:pPr marL="0" indent="0">
              <a:spcBef>
                <a:spcPts val="3600"/>
              </a:spcBef>
              <a:buNone/>
            </a:pPr>
            <a:r>
              <a:rPr lang="en-US" sz="2000" b="1">
                <a:solidFill>
                  <a:srgbClr val="CC0000"/>
                </a:solidFill>
              </a:rPr>
              <a:t>Process to build an OI</a:t>
            </a:r>
          </a:p>
          <a:p>
            <a:pPr marL="0" indent="0">
              <a:spcBef>
                <a:spcPts val="3600"/>
              </a:spcBef>
              <a:buNone/>
            </a:pPr>
            <a:r>
              <a:rPr lang="en-US" sz="2000"/>
              <a:t>Set up and collaboration</a:t>
            </a:r>
          </a:p>
          <a:p>
            <a:pPr marL="0" indent="0">
              <a:spcBef>
                <a:spcPts val="3600"/>
              </a:spcBef>
              <a:buNone/>
            </a:pPr>
            <a:r>
              <a:rPr lang="en-US" sz="2000"/>
              <a:t>Additional guidelines</a:t>
            </a:r>
          </a:p>
          <a:p>
            <a:pPr marL="0" indent="0">
              <a:spcBef>
                <a:spcPts val="3600"/>
              </a:spcBef>
              <a:buNone/>
            </a:pPr>
            <a:endParaRPr lang="en-US" sz="2000"/>
          </a:p>
          <a:p>
            <a:pPr marL="0" indent="0">
              <a:spcBef>
                <a:spcPts val="3600"/>
              </a:spcBef>
              <a:buNone/>
            </a:pPr>
            <a:endParaRPr lang="en-US" sz="2000"/>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1844315"/>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944186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44C15CFB-AA61-1B57-464B-A23F176BCAF1}"/>
              </a:ext>
            </a:extLst>
          </p:cNvPr>
          <p:cNvGraphicFramePr>
            <a:graphicFrameLocks/>
          </p:cNvGraphicFramePr>
          <p:nvPr>
            <p:custDataLst>
              <p:tags r:id="rId2"/>
            </p:custDataLst>
            <p:extLst>
              <p:ext uri="{D42A27DB-BD31-4B8C-83A1-F6EECF244321}">
                <p14:modId xmlns:p14="http://schemas.microsoft.com/office/powerpoint/2010/main" val="39725416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23" name="think-cell data - do not delete" hidden="1">
                        <a:extLst>
                          <a:ext uri="{FF2B5EF4-FFF2-40B4-BE49-F238E27FC236}">
                            <a16:creationId xmlns:a16="http://schemas.microsoft.com/office/drawing/2014/main" id="{44C15CFB-AA61-1B57-464B-A23F176BCAF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20" name="btfpColumnIndicatorGroup2">
            <a:extLst>
              <a:ext uri="{FF2B5EF4-FFF2-40B4-BE49-F238E27FC236}">
                <a16:creationId xmlns:a16="http://schemas.microsoft.com/office/drawing/2014/main" id="{FDFB4E67-BF2A-4480-906D-68A6AAE33FF7}"/>
              </a:ext>
            </a:extLst>
          </p:cNvPr>
          <p:cNvGrpSpPr/>
          <p:nvPr/>
        </p:nvGrpSpPr>
        <p:grpSpPr>
          <a:xfrm>
            <a:off x="0" y="6926580"/>
            <a:ext cx="12192000" cy="137160"/>
            <a:chOff x="0" y="6926580"/>
            <a:chExt cx="12192000" cy="137160"/>
          </a:xfrm>
        </p:grpSpPr>
        <p:sp>
          <p:nvSpPr>
            <p:cNvPr id="17" name="btfpColumnGapBlocker925149">
              <a:extLst>
                <a:ext uri="{FF2B5EF4-FFF2-40B4-BE49-F238E27FC236}">
                  <a16:creationId xmlns:a16="http://schemas.microsoft.com/office/drawing/2014/main" id="{6FC35F5C-9051-49FE-8667-D2142B53DC85}"/>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ColumnGapBlocker690314">
              <a:extLst>
                <a:ext uri="{FF2B5EF4-FFF2-40B4-BE49-F238E27FC236}">
                  <a16:creationId xmlns:a16="http://schemas.microsoft.com/office/drawing/2014/main" id="{1ADE02AD-236D-4F16-A974-E597F75CBDC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 name="btfpColumnIndicator797760">
              <a:extLst>
                <a:ext uri="{FF2B5EF4-FFF2-40B4-BE49-F238E27FC236}">
                  <a16:creationId xmlns:a16="http://schemas.microsoft.com/office/drawing/2014/main" id="{D3E19E12-CB9A-4883-B567-D798451C2B7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135657">
              <a:extLst>
                <a:ext uri="{FF2B5EF4-FFF2-40B4-BE49-F238E27FC236}">
                  <a16:creationId xmlns:a16="http://schemas.microsoft.com/office/drawing/2014/main" id="{4025D8E1-251B-4DDB-B07A-C228C67EED5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9" name="btfpColumnIndicatorGroup1">
            <a:extLst>
              <a:ext uri="{FF2B5EF4-FFF2-40B4-BE49-F238E27FC236}">
                <a16:creationId xmlns:a16="http://schemas.microsoft.com/office/drawing/2014/main" id="{FACD9A41-2680-43A2-B802-B84B2052CCE9}"/>
              </a:ext>
            </a:extLst>
          </p:cNvPr>
          <p:cNvGrpSpPr/>
          <p:nvPr/>
        </p:nvGrpSpPr>
        <p:grpSpPr>
          <a:xfrm>
            <a:off x="0" y="-205740"/>
            <a:ext cx="12192000" cy="137160"/>
            <a:chOff x="0" y="-205740"/>
            <a:chExt cx="12192000" cy="137160"/>
          </a:xfrm>
        </p:grpSpPr>
        <p:sp>
          <p:nvSpPr>
            <p:cNvPr id="14" name="btfpColumnGapBlocker122935">
              <a:extLst>
                <a:ext uri="{FF2B5EF4-FFF2-40B4-BE49-F238E27FC236}">
                  <a16:creationId xmlns:a16="http://schemas.microsoft.com/office/drawing/2014/main" id="{4072558A-770E-47A9-81FD-2C2CD881479A}"/>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242707">
              <a:extLst>
                <a:ext uri="{FF2B5EF4-FFF2-40B4-BE49-F238E27FC236}">
                  <a16:creationId xmlns:a16="http://schemas.microsoft.com/office/drawing/2014/main" id="{8D653ADC-95FA-42AD-9C7A-EC32CCF15C2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497584">
              <a:extLst>
                <a:ext uri="{FF2B5EF4-FFF2-40B4-BE49-F238E27FC236}">
                  <a16:creationId xmlns:a16="http://schemas.microsoft.com/office/drawing/2014/main" id="{2DD2D06D-086D-4BE6-BD97-D8CE4E077C9B}"/>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756620">
              <a:extLst>
                <a:ext uri="{FF2B5EF4-FFF2-40B4-BE49-F238E27FC236}">
                  <a16:creationId xmlns:a16="http://schemas.microsoft.com/office/drawing/2014/main" id="{849A189D-8C9C-4061-8688-87C10A35E00E}"/>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cxnSp>
        <p:nvCxnSpPr>
          <p:cNvPr id="41" name="Elbow Connector 40"/>
          <p:cNvCxnSpPr/>
          <p:nvPr/>
        </p:nvCxnSpPr>
        <p:spPr bwMode="gray">
          <a:xfrm rot="16200000" flipH="1">
            <a:off x="1322265" y="3754143"/>
            <a:ext cx="4676082" cy="668389"/>
          </a:xfrm>
          <a:prstGeom prst="bentConnector3">
            <a:avLst>
              <a:gd name="adj1" fmla="val 50000"/>
            </a:avLst>
          </a:prstGeom>
          <a:ln w="38100" cap="flat" cmpd="sng" algn="ctr">
            <a:solidFill>
              <a:srgbClr val="CC0000"/>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4" name="Elbow Connector 43"/>
          <p:cNvCxnSpPr/>
          <p:nvPr/>
        </p:nvCxnSpPr>
        <p:spPr bwMode="gray">
          <a:xfrm rot="16200000" flipH="1">
            <a:off x="-1125358" y="3700877"/>
            <a:ext cx="4676082" cy="668389"/>
          </a:xfrm>
          <a:prstGeom prst="bentConnector3">
            <a:avLst>
              <a:gd name="adj1" fmla="val 50000"/>
            </a:avLst>
          </a:prstGeom>
          <a:ln w="38100" cap="flat" cmpd="sng" algn="ctr">
            <a:solidFill>
              <a:srgbClr val="CC0000"/>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BulletedList353217"/>
          <p:cNvSpPr/>
          <p:nvPr/>
        </p:nvSpPr>
        <p:spPr>
          <a:xfrm>
            <a:off x="991150" y="1898646"/>
            <a:ext cx="2254127" cy="1708160"/>
          </a:xfrm>
          <a:prstGeom prst="rect">
            <a:avLst/>
          </a:prstGeom>
        </p:spPr>
        <p:txBody>
          <a:bodyPr wrap="square" lIns="108000">
            <a:spAutoFit/>
          </a:bodyPr>
          <a:lstStyle/>
          <a:p>
            <a:pPr>
              <a:spcBef>
                <a:spcPts val="900"/>
              </a:spcBef>
            </a:pPr>
            <a:r>
              <a:rPr lang="en-US" sz="1400" b="1" dirty="0"/>
              <a:t>Reach out to Diagnostic </a:t>
            </a:r>
            <a:r>
              <a:rPr lang="en-US" sz="1400" b="1" dirty="0" err="1"/>
              <a:t>CoE</a:t>
            </a:r>
            <a:endParaRPr lang="en-US" sz="1400" dirty="0"/>
          </a:p>
          <a:p>
            <a:pPr lvl="1">
              <a:spcBef>
                <a:spcPts val="300"/>
              </a:spcBef>
            </a:pPr>
            <a:r>
              <a:rPr lang="en-US" sz="1200" dirty="0"/>
              <a:t>Provide client name and expected timeline for client discussion </a:t>
            </a:r>
            <a:endParaRPr lang="en-GB" sz="1200" dirty="0"/>
          </a:p>
          <a:p>
            <a:pPr lvl="1">
              <a:spcBef>
                <a:spcPts val="300"/>
              </a:spcBef>
            </a:pPr>
            <a:r>
              <a:rPr lang="en-GB" sz="1200" dirty="0"/>
              <a:t>Input on peer set for benchmarking and valuation</a:t>
            </a:r>
          </a:p>
        </p:txBody>
      </p:sp>
      <p:sp>
        <p:nvSpPr>
          <p:cNvPr id="2" name="Title 1"/>
          <p:cNvSpPr>
            <a:spLocks noGrp="1"/>
          </p:cNvSpPr>
          <p:nvPr>
            <p:ph type="title"/>
          </p:nvPr>
        </p:nvSpPr>
        <p:spPr>
          <a:xfrm>
            <a:off x="346791" y="-6723"/>
            <a:ext cx="11522075" cy="876687"/>
          </a:xfrm>
        </p:spPr>
        <p:txBody>
          <a:bodyPr vert="horz"/>
          <a:lstStyle/>
          <a:p>
            <a:r>
              <a:rPr lang="en-US" b="1" dirty="0"/>
              <a:t>Process to build an OI: </a:t>
            </a:r>
            <a:r>
              <a:rPr lang="en-US" dirty="0"/>
              <a:t>High-level cadence for engagement with account teams</a:t>
            </a:r>
            <a:endParaRPr lang="en-US" noProof="0" dirty="0"/>
          </a:p>
        </p:txBody>
      </p:sp>
      <p:sp>
        <p:nvSpPr>
          <p:cNvPr id="3" name="btfpLayoutConfig" hidden="1"/>
          <p:cNvSpPr txBox="1"/>
          <p:nvPr/>
        </p:nvSpPr>
        <p:spPr bwMode="gray">
          <a:xfrm>
            <a:off x="12700" y="12700"/>
            <a:ext cx="582458" cy="88092"/>
          </a:xfrm>
          <a:prstGeom prst="rect">
            <a:avLst/>
          </a:prstGeom>
          <a:noFill/>
        </p:spPr>
        <p:txBody>
          <a:bodyPr vert="horz" wrap="none" lIns="36000" tIns="36000" rIns="36000" bIns="36000" rtlCol="0">
            <a:spAutoFit/>
          </a:bodyPr>
          <a:lstStyle/>
          <a:p>
            <a:pPr marL="0" indent="0">
              <a:buNone/>
            </a:pPr>
            <a:r>
              <a:rPr lang="en-GB" sz="100" dirty="0">
                <a:solidFill>
                  <a:srgbClr val="FFFFFF">
                    <a:alpha val="0"/>
                  </a:srgbClr>
                </a:solidFill>
              </a:rPr>
              <a:t>overall_1_131853661087170100 columns_1_131853661087170100 42_1_132076782673932012 </a:t>
            </a:r>
          </a:p>
        </p:txBody>
      </p:sp>
      <p:cxnSp>
        <p:nvCxnSpPr>
          <p:cNvPr id="9" name="Straight Connector 8"/>
          <p:cNvCxnSpPr/>
          <p:nvPr/>
        </p:nvCxnSpPr>
        <p:spPr>
          <a:xfrm>
            <a:off x="242979" y="1690147"/>
            <a:ext cx="11593593" cy="0"/>
          </a:xfrm>
          <a:prstGeom prst="line">
            <a:avLst/>
          </a:prstGeom>
          <a:ln w="76200" cap="sq" cmpd="sng" algn="ctr">
            <a:solidFill>
              <a:srgbClr val="B4B4B4"/>
            </a:solidFill>
            <a:prstDash val="solid"/>
            <a:miter lim="800000"/>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 name="Oval 9"/>
          <p:cNvSpPr>
            <a:spLocks noChangeAspect="1"/>
          </p:cNvSpPr>
          <p:nvPr/>
        </p:nvSpPr>
        <p:spPr>
          <a:xfrm>
            <a:off x="6056672" y="1601422"/>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indent="0" algn="ctr">
              <a:buNone/>
            </a:pPr>
            <a:endParaRPr lang="en-US" sz="1800">
              <a:solidFill>
                <a:srgbClr val="FFFFFF"/>
              </a:solidFill>
            </a:endParaRPr>
          </a:p>
        </p:txBody>
      </p:sp>
      <p:sp>
        <p:nvSpPr>
          <p:cNvPr id="15" name="Oval 14"/>
          <p:cNvSpPr>
            <a:spLocks noChangeAspect="1"/>
          </p:cNvSpPr>
          <p:nvPr/>
        </p:nvSpPr>
        <p:spPr>
          <a:xfrm>
            <a:off x="801543" y="1601422"/>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800">
              <a:solidFill>
                <a:srgbClr val="FFFFFF"/>
              </a:solidFill>
            </a:endParaRPr>
          </a:p>
        </p:txBody>
      </p:sp>
      <p:sp>
        <p:nvSpPr>
          <p:cNvPr id="16" name="Rectangle 15"/>
          <p:cNvSpPr/>
          <p:nvPr/>
        </p:nvSpPr>
        <p:spPr>
          <a:xfrm>
            <a:off x="422148" y="1017238"/>
            <a:ext cx="916686" cy="523220"/>
          </a:xfrm>
          <a:prstGeom prst="rect">
            <a:avLst/>
          </a:prstGeom>
        </p:spPr>
        <p:txBody>
          <a:bodyPr wrap="square" lIns="108000">
            <a:spAutoFit/>
          </a:bodyPr>
          <a:lstStyle/>
          <a:p>
            <a:pPr marL="0" indent="0" algn="ctr">
              <a:spcBef>
                <a:spcPts val="600"/>
              </a:spcBef>
              <a:buNone/>
            </a:pPr>
            <a:r>
              <a:rPr lang="en-US" sz="1400" b="1" i="1" dirty="0"/>
              <a:t>Initiate OI</a:t>
            </a:r>
            <a:endParaRPr lang="en-US" sz="1400" i="1" dirty="0"/>
          </a:p>
        </p:txBody>
      </p:sp>
      <p:sp>
        <p:nvSpPr>
          <p:cNvPr id="36" name="btfpBulletedList353217"/>
          <p:cNvSpPr/>
          <p:nvPr/>
        </p:nvSpPr>
        <p:spPr>
          <a:xfrm>
            <a:off x="8533768" y="1898646"/>
            <a:ext cx="3352924" cy="1531188"/>
          </a:xfrm>
          <a:prstGeom prst="rect">
            <a:avLst/>
          </a:prstGeom>
        </p:spPr>
        <p:txBody>
          <a:bodyPr wrap="square" lIns="108000">
            <a:spAutoFit/>
          </a:bodyPr>
          <a:lstStyle/>
          <a:p>
            <a:pPr>
              <a:spcBef>
                <a:spcPts val="900"/>
              </a:spcBef>
            </a:pPr>
            <a:r>
              <a:rPr lang="en-US" sz="1400" b="1" dirty="0">
                <a:solidFill>
                  <a:srgbClr val="000000"/>
                </a:solidFill>
              </a:rPr>
              <a:t>Send NPS survey</a:t>
            </a:r>
            <a:endParaRPr lang="en-US" sz="1400" dirty="0">
              <a:solidFill>
                <a:srgbClr val="000000"/>
              </a:solidFill>
            </a:endParaRPr>
          </a:p>
          <a:p>
            <a:pPr lvl="1">
              <a:spcBef>
                <a:spcPts val="300"/>
              </a:spcBef>
            </a:pPr>
            <a:r>
              <a:rPr lang="en-US" sz="1200" dirty="0">
                <a:solidFill>
                  <a:srgbClr val="000000"/>
                </a:solidFill>
              </a:rPr>
              <a:t>Ask key account team member to fill out NPS link</a:t>
            </a:r>
          </a:p>
          <a:p>
            <a:pPr lvl="1">
              <a:spcBef>
                <a:spcPts val="300"/>
              </a:spcBef>
            </a:pPr>
            <a:r>
              <a:rPr lang="en-US" sz="1200" dirty="0">
                <a:solidFill>
                  <a:srgbClr val="000000"/>
                </a:solidFill>
              </a:rPr>
              <a:t>Ask to see any known and relevant client discussion materials</a:t>
            </a:r>
          </a:p>
          <a:p>
            <a:pPr lvl="1">
              <a:spcBef>
                <a:spcPts val="300"/>
              </a:spcBef>
            </a:pPr>
            <a:r>
              <a:rPr lang="en-US" sz="1200" dirty="0">
                <a:solidFill>
                  <a:srgbClr val="000000"/>
                </a:solidFill>
              </a:rPr>
              <a:t>Prompt with any follow up tools, resources that might be helpful </a:t>
            </a:r>
          </a:p>
        </p:txBody>
      </p:sp>
      <p:sp>
        <p:nvSpPr>
          <p:cNvPr id="18" name="Rectangle 17"/>
          <p:cNvSpPr/>
          <p:nvPr/>
        </p:nvSpPr>
        <p:spPr>
          <a:xfrm>
            <a:off x="4104811" y="4673073"/>
            <a:ext cx="2952710" cy="938719"/>
          </a:xfrm>
          <a:prstGeom prst="rect">
            <a:avLst/>
          </a:prstGeom>
        </p:spPr>
        <p:txBody>
          <a:bodyPr wrap="square">
            <a:spAutoFit/>
          </a:bodyPr>
          <a:lstStyle/>
          <a:p>
            <a:pPr>
              <a:spcBef>
                <a:spcPts val="900"/>
              </a:spcBef>
            </a:pPr>
            <a:r>
              <a:rPr lang="en-GB" sz="1400" b="1" dirty="0"/>
              <a:t>Run Opportunity Indicator  </a:t>
            </a:r>
          </a:p>
          <a:p>
            <a:pPr lvl="1">
              <a:spcBef>
                <a:spcPts val="300"/>
              </a:spcBef>
            </a:pPr>
            <a:r>
              <a:rPr lang="en-US" sz="1200" dirty="0"/>
              <a:t>Standard analysis takes ~48 hours*</a:t>
            </a:r>
          </a:p>
          <a:p>
            <a:pPr lvl="1">
              <a:spcBef>
                <a:spcPts val="300"/>
              </a:spcBef>
            </a:pPr>
            <a:r>
              <a:rPr lang="en-US" sz="1200" dirty="0"/>
              <a:t>Customization can take up to 1 week</a:t>
            </a:r>
            <a:endParaRPr lang="en-GB" sz="1200" b="1"/>
          </a:p>
        </p:txBody>
      </p:sp>
      <p:sp>
        <p:nvSpPr>
          <p:cNvPr id="45" name="Rectangle 44"/>
          <p:cNvSpPr/>
          <p:nvPr/>
        </p:nvSpPr>
        <p:spPr>
          <a:xfrm>
            <a:off x="1495424" y="4673073"/>
            <a:ext cx="2322850" cy="1246495"/>
          </a:xfrm>
          <a:prstGeom prst="rect">
            <a:avLst/>
          </a:prstGeom>
        </p:spPr>
        <p:txBody>
          <a:bodyPr wrap="square">
            <a:spAutoFit/>
          </a:bodyPr>
          <a:lstStyle/>
          <a:p>
            <a:pPr>
              <a:spcBef>
                <a:spcPts val="900"/>
              </a:spcBef>
            </a:pPr>
            <a:r>
              <a:rPr lang="en-GB" sz="1400" b="1" dirty="0"/>
              <a:t>Confirm team capacity</a:t>
            </a:r>
          </a:p>
          <a:p>
            <a:pPr marL="177800" lvl="1">
              <a:spcBef>
                <a:spcPts val="300"/>
              </a:spcBef>
              <a:buChar char="•"/>
            </a:pPr>
            <a:r>
              <a:rPr lang="en-GB" b="1" dirty="0"/>
              <a:t>Suggest (or ask) for peer set</a:t>
            </a:r>
          </a:p>
          <a:p>
            <a:pPr marL="177800" lvl="1">
              <a:spcBef>
                <a:spcPts val="300"/>
              </a:spcBef>
              <a:buChar char="•"/>
            </a:pPr>
            <a:r>
              <a:rPr lang="en-GB" b="1" dirty="0"/>
              <a:t>Schedule intake call </a:t>
            </a:r>
            <a:r>
              <a:rPr lang="en-GB" dirty="0"/>
              <a:t>(if requested or necessary)</a:t>
            </a:r>
            <a:endParaRPr lang="en-GB" b="1"/>
          </a:p>
        </p:txBody>
      </p:sp>
      <p:sp>
        <p:nvSpPr>
          <p:cNvPr id="53" name="TextBox 52"/>
          <p:cNvSpPr txBox="1"/>
          <p:nvPr/>
        </p:nvSpPr>
        <p:spPr bwMode="gray">
          <a:xfrm>
            <a:off x="56155" y="1930398"/>
            <a:ext cx="913109" cy="503590"/>
          </a:xfrm>
          <a:prstGeom prst="rect">
            <a:avLst/>
          </a:prstGeom>
          <a:noFill/>
        </p:spPr>
        <p:txBody>
          <a:bodyPr wrap="square" lIns="36000" tIns="36000" rIns="36000" bIns="36000" rtlCol="0">
            <a:spAutoFit/>
          </a:bodyPr>
          <a:lstStyle/>
          <a:p>
            <a:pPr marL="0" indent="0">
              <a:buNone/>
            </a:pPr>
            <a:r>
              <a:rPr lang="en-GB" sz="1400" b="1" dirty="0">
                <a:solidFill>
                  <a:schemeClr val="accent3"/>
                </a:solidFill>
              </a:rPr>
              <a:t>Account team</a:t>
            </a:r>
          </a:p>
        </p:txBody>
      </p:sp>
      <p:sp>
        <p:nvSpPr>
          <p:cNvPr id="54" name="TextBox 53"/>
          <p:cNvSpPr txBox="1"/>
          <p:nvPr/>
        </p:nvSpPr>
        <p:spPr bwMode="gray">
          <a:xfrm>
            <a:off x="56155" y="4771011"/>
            <a:ext cx="913109" cy="288147"/>
          </a:xfrm>
          <a:prstGeom prst="rect">
            <a:avLst/>
          </a:prstGeom>
          <a:noFill/>
        </p:spPr>
        <p:txBody>
          <a:bodyPr wrap="square" lIns="36000" tIns="36000" rIns="36000" bIns="36000" rtlCol="0">
            <a:spAutoFit/>
          </a:bodyPr>
          <a:lstStyle/>
          <a:p>
            <a:pPr marL="0" indent="0">
              <a:buNone/>
            </a:pPr>
            <a:r>
              <a:rPr lang="en-GB" sz="1400" b="1">
                <a:solidFill>
                  <a:schemeClr val="accent3"/>
                </a:solidFill>
              </a:rPr>
              <a:t>CoE team</a:t>
            </a:r>
          </a:p>
        </p:txBody>
      </p:sp>
      <p:sp>
        <p:nvSpPr>
          <p:cNvPr id="8" name="Rectangle 7"/>
          <p:cNvSpPr/>
          <p:nvPr/>
        </p:nvSpPr>
        <p:spPr>
          <a:xfrm>
            <a:off x="3403677" y="1898646"/>
            <a:ext cx="2652994" cy="2154436"/>
          </a:xfrm>
          <a:prstGeom prst="rect">
            <a:avLst/>
          </a:prstGeom>
        </p:spPr>
        <p:txBody>
          <a:bodyPr wrap="square">
            <a:spAutoFit/>
          </a:bodyPr>
          <a:lstStyle/>
          <a:p>
            <a:pPr>
              <a:spcBef>
                <a:spcPts val="900"/>
              </a:spcBef>
            </a:pPr>
            <a:r>
              <a:rPr lang="en-US" sz="1400" b="1">
                <a:solidFill>
                  <a:srgbClr val="000000"/>
                </a:solidFill>
              </a:rPr>
              <a:t>Join 15-minute intake call </a:t>
            </a:r>
            <a:r>
              <a:rPr lang="en-US" sz="1400">
                <a:solidFill>
                  <a:srgbClr val="000000"/>
                </a:solidFill>
              </a:rPr>
              <a:t>(if requested or necessary)</a:t>
            </a:r>
          </a:p>
          <a:p>
            <a:pPr lvl="1">
              <a:spcBef>
                <a:spcPts val="300"/>
              </a:spcBef>
            </a:pPr>
            <a:r>
              <a:rPr lang="en-US" sz="1200"/>
              <a:t>Share client context</a:t>
            </a:r>
          </a:p>
          <a:p>
            <a:pPr lvl="1">
              <a:spcBef>
                <a:spcPts val="300"/>
              </a:spcBef>
            </a:pPr>
            <a:r>
              <a:rPr lang="en-US" sz="1200"/>
              <a:t>Align on scope of analysis and outputs</a:t>
            </a:r>
          </a:p>
          <a:p>
            <a:pPr lvl="1">
              <a:spcBef>
                <a:spcPts val="300"/>
              </a:spcBef>
            </a:pPr>
            <a:r>
              <a:rPr lang="en-US" sz="1200"/>
              <a:t>Share known nuances to sector or company financial reporting</a:t>
            </a:r>
          </a:p>
          <a:p>
            <a:pPr lvl="1">
              <a:spcBef>
                <a:spcPts val="300"/>
              </a:spcBef>
            </a:pPr>
            <a:r>
              <a:rPr lang="en-US" sz="1200"/>
              <a:t>Finalize peer set and valuation approach</a:t>
            </a:r>
          </a:p>
        </p:txBody>
      </p:sp>
      <p:sp>
        <p:nvSpPr>
          <p:cNvPr id="37" name="Rectangle 36"/>
          <p:cNvSpPr/>
          <p:nvPr/>
        </p:nvSpPr>
        <p:spPr>
          <a:xfrm>
            <a:off x="7148781" y="4673073"/>
            <a:ext cx="4687791" cy="931024"/>
          </a:xfrm>
          <a:prstGeom prst="rect">
            <a:avLst/>
          </a:prstGeom>
        </p:spPr>
        <p:txBody>
          <a:bodyPr wrap="square">
            <a:spAutoFit/>
          </a:bodyPr>
          <a:lstStyle/>
          <a:p>
            <a:pPr>
              <a:spcBef>
                <a:spcPts val="900"/>
              </a:spcBef>
            </a:pPr>
            <a:r>
              <a:rPr lang="en-US" sz="1400" b="1"/>
              <a:t>Send completed OI and any relevant follow up materials based on opportunity and client situation</a:t>
            </a:r>
          </a:p>
          <a:p>
            <a:pPr lvl="1">
              <a:spcBef>
                <a:spcPts val="300"/>
              </a:spcBef>
            </a:pPr>
            <a:r>
              <a:rPr lang="en-US" sz="1200">
                <a:solidFill>
                  <a:srgbClr val="000000"/>
                </a:solidFill>
              </a:rPr>
              <a:t>E.g., sector specific analyses, relevant materials &amp; contacts to support sales play</a:t>
            </a:r>
          </a:p>
        </p:txBody>
      </p:sp>
      <p:sp>
        <p:nvSpPr>
          <p:cNvPr id="25" name="Oval 24"/>
          <p:cNvSpPr>
            <a:spLocks noChangeAspect="1"/>
          </p:cNvSpPr>
          <p:nvPr/>
        </p:nvSpPr>
        <p:spPr>
          <a:xfrm>
            <a:off x="3245277" y="1607518"/>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800">
              <a:solidFill>
                <a:srgbClr val="FFFFFF"/>
              </a:solidFill>
            </a:endParaRPr>
          </a:p>
        </p:txBody>
      </p:sp>
      <p:sp>
        <p:nvSpPr>
          <p:cNvPr id="26" name="Rectangle 25"/>
          <p:cNvSpPr/>
          <p:nvPr/>
        </p:nvSpPr>
        <p:spPr>
          <a:xfrm>
            <a:off x="2866134" y="1017238"/>
            <a:ext cx="916686" cy="523220"/>
          </a:xfrm>
          <a:prstGeom prst="rect">
            <a:avLst/>
          </a:prstGeom>
        </p:spPr>
        <p:txBody>
          <a:bodyPr wrap="square" lIns="108000">
            <a:spAutoFit/>
          </a:bodyPr>
          <a:lstStyle/>
          <a:p>
            <a:pPr marL="0" indent="0" algn="ctr">
              <a:spcBef>
                <a:spcPts val="600"/>
              </a:spcBef>
              <a:buNone/>
            </a:pPr>
            <a:r>
              <a:rPr lang="en-US" sz="1400" b="1" i="1"/>
              <a:t>Intake call</a:t>
            </a:r>
            <a:endParaRPr lang="en-US" sz="1400" i="1"/>
          </a:p>
        </p:txBody>
      </p:sp>
      <p:sp>
        <p:nvSpPr>
          <p:cNvPr id="28" name="Rectangle 27"/>
          <p:cNvSpPr/>
          <p:nvPr/>
        </p:nvSpPr>
        <p:spPr>
          <a:xfrm>
            <a:off x="5072022" y="1090164"/>
            <a:ext cx="2119818" cy="307777"/>
          </a:xfrm>
          <a:prstGeom prst="rect">
            <a:avLst/>
          </a:prstGeom>
        </p:spPr>
        <p:txBody>
          <a:bodyPr wrap="square" lIns="108000">
            <a:spAutoFit/>
          </a:bodyPr>
          <a:lstStyle/>
          <a:p>
            <a:pPr marL="0" indent="0" algn="ctr">
              <a:spcBef>
                <a:spcPts val="600"/>
              </a:spcBef>
              <a:buNone/>
            </a:pPr>
            <a:r>
              <a:rPr lang="en-US" sz="1400" b="1" i="1"/>
              <a:t>Completed OI shared</a:t>
            </a:r>
            <a:endParaRPr lang="en-US" sz="1400" i="1"/>
          </a:p>
        </p:txBody>
      </p:sp>
      <p:sp>
        <p:nvSpPr>
          <p:cNvPr id="31" name="Oval 30"/>
          <p:cNvSpPr>
            <a:spLocks noChangeAspect="1"/>
          </p:cNvSpPr>
          <p:nvPr/>
        </p:nvSpPr>
        <p:spPr>
          <a:xfrm>
            <a:off x="8976856" y="1593239"/>
            <a:ext cx="158400" cy="158400"/>
          </a:xfrm>
          <a:prstGeom prst="ellipse">
            <a:avLst/>
          </a:prstGeom>
          <a:solidFill>
            <a:srgbClr val="5C5C5C"/>
          </a:solidFill>
          <a:ln w="19050" cap="flat" cmpd="sng" algn="ctr">
            <a:solidFill>
              <a:srgbClr val="FFFFFF"/>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800">
              <a:solidFill>
                <a:srgbClr val="FFFFFF"/>
              </a:solidFill>
            </a:endParaRPr>
          </a:p>
        </p:txBody>
      </p:sp>
      <p:sp>
        <p:nvSpPr>
          <p:cNvPr id="32" name="Rectangle 31"/>
          <p:cNvSpPr/>
          <p:nvPr/>
        </p:nvSpPr>
        <p:spPr>
          <a:xfrm>
            <a:off x="8369121" y="1088099"/>
            <a:ext cx="1373870" cy="307777"/>
          </a:xfrm>
          <a:prstGeom prst="rect">
            <a:avLst/>
          </a:prstGeom>
        </p:spPr>
        <p:txBody>
          <a:bodyPr wrap="square" lIns="108000">
            <a:spAutoFit/>
          </a:bodyPr>
          <a:lstStyle/>
          <a:p>
            <a:pPr marL="0" indent="0" algn="ctr">
              <a:spcBef>
                <a:spcPts val="600"/>
              </a:spcBef>
              <a:buNone/>
            </a:pPr>
            <a:r>
              <a:rPr lang="en-US" sz="1400" b="1" i="1"/>
              <a:t>NPS Survey</a:t>
            </a:r>
          </a:p>
        </p:txBody>
      </p:sp>
      <p:sp>
        <p:nvSpPr>
          <p:cNvPr id="4" name="TextBox 3"/>
          <p:cNvSpPr txBox="1"/>
          <p:nvPr/>
        </p:nvSpPr>
        <p:spPr bwMode="gray">
          <a:xfrm>
            <a:off x="2109116" y="1393617"/>
            <a:ext cx="750774" cy="257369"/>
          </a:xfrm>
          <a:prstGeom prst="rect">
            <a:avLst/>
          </a:prstGeom>
          <a:noFill/>
        </p:spPr>
        <p:txBody>
          <a:bodyPr wrap="none" lIns="36000" tIns="36000" rIns="36000" bIns="36000" rtlCol="0">
            <a:spAutoFit/>
          </a:bodyPr>
          <a:lstStyle/>
          <a:p>
            <a:pPr marL="0" indent="0">
              <a:buNone/>
            </a:pPr>
            <a:r>
              <a:rPr lang="en-US" sz="1200" i="1">
                <a:solidFill>
                  <a:schemeClr val="accent4"/>
                </a:solidFill>
              </a:rPr>
              <a:t>~1-2 days</a:t>
            </a:r>
          </a:p>
        </p:txBody>
      </p:sp>
      <p:sp>
        <p:nvSpPr>
          <p:cNvPr id="38" name="TextBox 37"/>
          <p:cNvSpPr txBox="1"/>
          <p:nvPr/>
        </p:nvSpPr>
        <p:spPr bwMode="gray">
          <a:xfrm>
            <a:off x="4074462" y="1393617"/>
            <a:ext cx="1388384" cy="257369"/>
          </a:xfrm>
          <a:prstGeom prst="rect">
            <a:avLst/>
          </a:prstGeom>
          <a:noFill/>
        </p:spPr>
        <p:txBody>
          <a:bodyPr wrap="none" lIns="36000" tIns="36000" rIns="36000" bIns="36000" rtlCol="0">
            <a:spAutoFit/>
          </a:bodyPr>
          <a:lstStyle/>
          <a:p>
            <a:pPr marL="0" indent="0">
              <a:buNone/>
            </a:pPr>
            <a:r>
              <a:rPr lang="en-US" sz="1200" i="1" dirty="0">
                <a:solidFill>
                  <a:schemeClr val="accent4"/>
                </a:solidFill>
              </a:rPr>
              <a:t>Typically, 48 hours*</a:t>
            </a:r>
          </a:p>
        </p:txBody>
      </p:sp>
      <p:sp>
        <p:nvSpPr>
          <p:cNvPr id="40" name="TextBox 39"/>
          <p:cNvSpPr txBox="1"/>
          <p:nvPr/>
        </p:nvSpPr>
        <p:spPr bwMode="gray">
          <a:xfrm>
            <a:off x="6042365" y="1397941"/>
            <a:ext cx="2906357" cy="257369"/>
          </a:xfrm>
          <a:prstGeom prst="rect">
            <a:avLst/>
          </a:prstGeom>
          <a:noFill/>
        </p:spPr>
        <p:txBody>
          <a:bodyPr wrap="square" lIns="36000" tIns="36000" rIns="36000" bIns="36000" rtlCol="0">
            <a:spAutoFit/>
          </a:bodyPr>
          <a:lstStyle/>
          <a:p>
            <a:pPr marL="0" indent="0" algn="ctr">
              <a:spcBef>
                <a:spcPts val="0"/>
              </a:spcBef>
              <a:buNone/>
            </a:pPr>
            <a:r>
              <a:rPr lang="en-US" sz="1200" i="1">
                <a:solidFill>
                  <a:schemeClr val="accent4"/>
                </a:solidFill>
              </a:rPr>
              <a:t>Based on client discussion timeline</a:t>
            </a:r>
          </a:p>
        </p:txBody>
      </p:sp>
      <p:sp>
        <p:nvSpPr>
          <p:cNvPr id="42" name="btfpNotesBox967109"/>
          <p:cNvSpPr txBox="1"/>
          <p:nvPr>
            <p:custDataLst>
              <p:tags r:id="rId3"/>
            </p:custDataLst>
          </p:nvPr>
        </p:nvSpPr>
        <p:spPr bwMode="gray">
          <a:xfrm>
            <a:off x="330200"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*Subject to team capacity and pipeline</a:t>
            </a:r>
          </a:p>
        </p:txBody>
      </p:sp>
      <p:cxnSp>
        <p:nvCxnSpPr>
          <p:cNvPr id="43" name="Elbow Connector 42"/>
          <p:cNvCxnSpPr/>
          <p:nvPr/>
        </p:nvCxnSpPr>
        <p:spPr bwMode="gray">
          <a:xfrm rot="16200000" flipH="1">
            <a:off x="4256684" y="3635069"/>
            <a:ext cx="4676084" cy="925590"/>
          </a:xfrm>
          <a:prstGeom prst="bentConnector3">
            <a:avLst>
              <a:gd name="adj1" fmla="val 48167"/>
            </a:avLst>
          </a:prstGeom>
          <a:ln w="38100" cap="flat" cmpd="sng" algn="ctr">
            <a:solidFill>
              <a:srgbClr val="CC0000"/>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59857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think-cell data - do not delete" hidden="1">
            <a:extLst>
              <a:ext uri="{FF2B5EF4-FFF2-40B4-BE49-F238E27FC236}">
                <a16:creationId xmlns:a16="http://schemas.microsoft.com/office/drawing/2014/main" id="{45E6D372-6AF0-C5F4-EE92-8E3C81C8DFC1}"/>
              </a:ext>
            </a:extLst>
          </p:cNvPr>
          <p:cNvGraphicFramePr>
            <a:graphicFrameLocks/>
          </p:cNvGraphicFramePr>
          <p:nvPr>
            <p:custDataLst>
              <p:tags r:id="rId2"/>
            </p:custDataLst>
            <p:extLst>
              <p:ext uri="{D42A27DB-BD31-4B8C-83A1-F6EECF244321}">
                <p14:modId xmlns:p14="http://schemas.microsoft.com/office/powerpoint/2010/main" val="1252861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6" name="think-cell data - do not delete" hidden="1">
                        <a:extLst>
                          <a:ext uri="{FF2B5EF4-FFF2-40B4-BE49-F238E27FC236}">
                            <a16:creationId xmlns:a16="http://schemas.microsoft.com/office/drawing/2014/main" id="{45E6D372-6AF0-C5F4-EE92-8E3C81C8DFC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4" name="btfpColumnIndicatorGroup2">
            <a:extLst>
              <a:ext uri="{FF2B5EF4-FFF2-40B4-BE49-F238E27FC236}">
                <a16:creationId xmlns:a16="http://schemas.microsoft.com/office/drawing/2014/main" id="{AB31B1A1-14FC-45D0-A401-740BDEDE9B3B}"/>
              </a:ext>
            </a:extLst>
          </p:cNvPr>
          <p:cNvGrpSpPr/>
          <p:nvPr/>
        </p:nvGrpSpPr>
        <p:grpSpPr>
          <a:xfrm>
            <a:off x="0" y="6926580"/>
            <a:ext cx="12192000" cy="137160"/>
            <a:chOff x="0" y="6926580"/>
            <a:chExt cx="12192000" cy="137160"/>
          </a:xfrm>
        </p:grpSpPr>
        <p:sp>
          <p:nvSpPr>
            <p:cNvPr id="12" name="btfpColumnGapBlocker458389">
              <a:extLst>
                <a:ext uri="{FF2B5EF4-FFF2-40B4-BE49-F238E27FC236}">
                  <a16:creationId xmlns:a16="http://schemas.microsoft.com/office/drawing/2014/main" id="{6D9BB2D0-505B-4DF3-BA23-D98044963007}"/>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991667">
              <a:extLst>
                <a:ext uri="{FF2B5EF4-FFF2-40B4-BE49-F238E27FC236}">
                  <a16:creationId xmlns:a16="http://schemas.microsoft.com/office/drawing/2014/main" id="{0DCCBF2A-3C40-41C0-A8C4-B3B471516216}"/>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 name="btfpColumnIndicator991685">
              <a:extLst>
                <a:ext uri="{FF2B5EF4-FFF2-40B4-BE49-F238E27FC236}">
                  <a16:creationId xmlns:a16="http://schemas.microsoft.com/office/drawing/2014/main" id="{6F12592E-1F2C-4456-8FB8-E0547E0E66DE}"/>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737046">
              <a:extLst>
                <a:ext uri="{FF2B5EF4-FFF2-40B4-BE49-F238E27FC236}">
                  <a16:creationId xmlns:a16="http://schemas.microsoft.com/office/drawing/2014/main" id="{974807CA-E68B-4CA7-A473-2975A44613EB}"/>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3" name="btfpColumnIndicatorGroup1">
            <a:extLst>
              <a:ext uri="{FF2B5EF4-FFF2-40B4-BE49-F238E27FC236}">
                <a16:creationId xmlns:a16="http://schemas.microsoft.com/office/drawing/2014/main" id="{7C601126-53C7-444B-889F-D933AD3C3E88}"/>
              </a:ext>
            </a:extLst>
          </p:cNvPr>
          <p:cNvGrpSpPr/>
          <p:nvPr/>
        </p:nvGrpSpPr>
        <p:grpSpPr>
          <a:xfrm>
            <a:off x="0" y="-205740"/>
            <a:ext cx="12192000" cy="137160"/>
            <a:chOff x="0" y="-205740"/>
            <a:chExt cx="12192000" cy="137160"/>
          </a:xfrm>
        </p:grpSpPr>
        <p:sp>
          <p:nvSpPr>
            <p:cNvPr id="11" name="btfpColumnGapBlocker423630">
              <a:extLst>
                <a:ext uri="{FF2B5EF4-FFF2-40B4-BE49-F238E27FC236}">
                  <a16:creationId xmlns:a16="http://schemas.microsoft.com/office/drawing/2014/main" id="{D9C8F634-EFEC-40EB-AA86-DD78F617B6A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 name="btfpColumnGapBlocker654689">
              <a:extLst>
                <a:ext uri="{FF2B5EF4-FFF2-40B4-BE49-F238E27FC236}">
                  <a16:creationId xmlns:a16="http://schemas.microsoft.com/office/drawing/2014/main" id="{FFA64C8E-8D50-4590-8C2D-8B20D8828CE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484219">
              <a:extLst>
                <a:ext uri="{FF2B5EF4-FFF2-40B4-BE49-F238E27FC236}">
                  <a16:creationId xmlns:a16="http://schemas.microsoft.com/office/drawing/2014/main" id="{20F8E206-8761-4A3A-A5B6-1D07E938672B}"/>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842600">
              <a:extLst>
                <a:ext uri="{FF2B5EF4-FFF2-40B4-BE49-F238E27FC236}">
                  <a16:creationId xmlns:a16="http://schemas.microsoft.com/office/drawing/2014/main" id="{451230E1-DE70-4A54-A44F-610E33B1259C}"/>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Process to build an OI: </a:t>
            </a:r>
            <a:r>
              <a:rPr lang="en-US"/>
              <a:t>Overview of the step-by-step process</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overall_0_132077626006419448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4000320763"/>
              </p:ext>
            </p:extLst>
          </p:nvPr>
        </p:nvGraphicFramePr>
        <p:xfrm>
          <a:off x="330200" y="1270002"/>
          <a:ext cx="11531600" cy="4307319"/>
        </p:xfrm>
        <a:graphic>
          <a:graphicData uri="http://schemas.openxmlformats.org/drawingml/2006/table">
            <a:tbl>
              <a:tblPr firstRow="1" firstCol="1">
                <a:tableStyleId>{9D7B26C5-4107-4FEC-AEDC-1716B250A1EF}</a:tableStyleId>
              </a:tblPr>
              <a:tblGrid>
                <a:gridCol w="543331">
                  <a:extLst>
                    <a:ext uri="{9D8B030D-6E8A-4147-A177-3AD203B41FA5}">
                      <a16:colId xmlns:a16="http://schemas.microsoft.com/office/drawing/2014/main" val="3215929653"/>
                    </a:ext>
                  </a:extLst>
                </a:gridCol>
                <a:gridCol w="483851">
                  <a:extLst>
                    <a:ext uri="{9D8B030D-6E8A-4147-A177-3AD203B41FA5}">
                      <a16:colId xmlns:a16="http://schemas.microsoft.com/office/drawing/2014/main" val="3863182739"/>
                    </a:ext>
                  </a:extLst>
                </a:gridCol>
                <a:gridCol w="2532652">
                  <a:extLst>
                    <a:ext uri="{9D8B030D-6E8A-4147-A177-3AD203B41FA5}">
                      <a16:colId xmlns:a16="http://schemas.microsoft.com/office/drawing/2014/main" val="3410592685"/>
                    </a:ext>
                  </a:extLst>
                </a:gridCol>
                <a:gridCol w="6786154">
                  <a:extLst>
                    <a:ext uri="{9D8B030D-6E8A-4147-A177-3AD203B41FA5}">
                      <a16:colId xmlns:a16="http://schemas.microsoft.com/office/drawing/2014/main" val="2818076346"/>
                    </a:ext>
                  </a:extLst>
                </a:gridCol>
                <a:gridCol w="1185612">
                  <a:extLst>
                    <a:ext uri="{9D8B030D-6E8A-4147-A177-3AD203B41FA5}">
                      <a16:colId xmlns:a16="http://schemas.microsoft.com/office/drawing/2014/main" val="3473590596"/>
                    </a:ext>
                  </a:extLst>
                </a:gridCol>
              </a:tblGrid>
              <a:tr h="396324">
                <a:tc>
                  <a:txBody>
                    <a:bodyPr/>
                    <a:lstStyle/>
                    <a:p>
                      <a:pPr marL="0" indent="0">
                        <a:spcBef>
                          <a:spcPts val="0"/>
                        </a:spcBef>
                        <a:buFontTx/>
                        <a:buNone/>
                      </a:pPr>
                      <a:endParaRPr lang="en-US" sz="1000"/>
                    </a:p>
                  </a:txBody>
                  <a:tcPr anchor="b"/>
                </a:tc>
                <a:tc>
                  <a:txBody>
                    <a:bodyPr/>
                    <a:lstStyle/>
                    <a:p>
                      <a:pPr marL="0" indent="0">
                        <a:spcBef>
                          <a:spcPts val="0"/>
                        </a:spcBef>
                        <a:buFontTx/>
                        <a:buNone/>
                      </a:pPr>
                      <a:endParaRPr lang="en-US" sz="1000"/>
                    </a:p>
                  </a:txBody>
                  <a:tcPr anchor="b"/>
                </a:tc>
                <a:tc>
                  <a:txBody>
                    <a:bodyPr/>
                    <a:lstStyle/>
                    <a:p>
                      <a:pPr marL="0" indent="0">
                        <a:spcBef>
                          <a:spcPts val="0"/>
                        </a:spcBef>
                        <a:buFontTx/>
                        <a:buNone/>
                      </a:pPr>
                      <a:r>
                        <a:rPr lang="en-US" sz="1000"/>
                        <a:t>Action</a:t>
                      </a:r>
                    </a:p>
                  </a:txBody>
                  <a:tcPr anchor="b"/>
                </a:tc>
                <a:tc>
                  <a:txBody>
                    <a:bodyPr/>
                    <a:lstStyle/>
                    <a:p>
                      <a:pPr marL="0" indent="0">
                        <a:spcBef>
                          <a:spcPts val="0"/>
                        </a:spcBef>
                        <a:buFontTx/>
                        <a:buNone/>
                      </a:pPr>
                      <a:r>
                        <a:rPr lang="en-US" sz="1000"/>
                        <a:t>Description</a:t>
                      </a:r>
                    </a:p>
                  </a:txBody>
                  <a:tcPr anchor="b"/>
                </a:tc>
                <a:tc>
                  <a:txBody>
                    <a:bodyPr/>
                    <a:lstStyle/>
                    <a:p>
                      <a:pPr marL="0" indent="0">
                        <a:spcBef>
                          <a:spcPts val="0"/>
                        </a:spcBef>
                        <a:buFontTx/>
                        <a:buNone/>
                      </a:pPr>
                      <a:r>
                        <a:rPr lang="en-US" sz="1000"/>
                        <a:t>Est.</a:t>
                      </a:r>
                      <a:r>
                        <a:rPr lang="en-US" sz="1000" baseline="0"/>
                        <a:t> time allocation</a:t>
                      </a:r>
                      <a:endParaRPr lang="en-US" sz="1000"/>
                    </a:p>
                  </a:txBody>
                  <a:tcPr anchor="b"/>
                </a:tc>
                <a:extLst>
                  <a:ext uri="{0D108BD9-81ED-4DB2-BD59-A6C34878D82A}">
                    <a16:rowId xmlns:a16="http://schemas.microsoft.com/office/drawing/2014/main" val="2276346153"/>
                  </a:ext>
                </a:extLst>
              </a:tr>
              <a:tr h="538457">
                <a:tc rowSpan="2">
                  <a:txBody>
                    <a:bodyPr/>
                    <a:lstStyle/>
                    <a:p>
                      <a:pPr marL="0" indent="0" algn="ctr" defTabSz="711200" rtl="0" eaLnBrk="1" latinLnBrk="0" hangingPunct="1">
                        <a:spcBef>
                          <a:spcPts val="1200"/>
                        </a:spcBef>
                        <a:buFontTx/>
                        <a:buNone/>
                      </a:pPr>
                      <a:r>
                        <a:rPr lang="en-US" sz="1100" b="1" i="0" kern="1200">
                          <a:solidFill>
                            <a:schemeClr val="dk1"/>
                          </a:solidFill>
                          <a:latin typeface="+mn-lt"/>
                          <a:ea typeface="+mn-ea"/>
                          <a:cs typeface="+mn-cs"/>
                        </a:rPr>
                        <a:t>Day 1</a:t>
                      </a:r>
                    </a:p>
                  </a:txBody>
                  <a:tcPr vert="vert270">
                    <a:solidFill>
                      <a:schemeClr val="tx2">
                        <a:lumMod val="90000"/>
                      </a:schemeClr>
                    </a:solidFill>
                  </a:tcPr>
                </a:tc>
                <a:tc>
                  <a:txBody>
                    <a:bodyPr/>
                    <a:lstStyle/>
                    <a:p>
                      <a:pPr marL="0" indent="0">
                        <a:buFontTx/>
                        <a:buNone/>
                      </a:pPr>
                      <a:endParaRPr lang="en-US" sz="1000"/>
                    </a:p>
                  </a:txBody>
                  <a:tcPr>
                    <a:solidFill>
                      <a:srgbClr val="DCE5EA"/>
                    </a:solidFill>
                  </a:tcPr>
                </a:tc>
                <a:tc>
                  <a:txBody>
                    <a:bodyPr/>
                    <a:lstStyle/>
                    <a:p>
                      <a:pPr marL="0" indent="0">
                        <a:buFontTx/>
                        <a:buNone/>
                      </a:pPr>
                      <a:r>
                        <a:rPr lang="en-US" sz="1100" b="1" baseline="0"/>
                        <a:t>Stage 1: </a:t>
                      </a:r>
                      <a:r>
                        <a:rPr lang="en-US" sz="1100" baseline="0"/>
                        <a:t>Peer Selection</a:t>
                      </a:r>
                      <a:endParaRPr lang="en-US" sz="1100"/>
                    </a:p>
                  </a:txBody>
                  <a:tcPr anchor="ctr">
                    <a:solidFill>
                      <a:srgbClr val="DCE5EA"/>
                    </a:solidFill>
                  </a:tcPr>
                </a:tc>
                <a:tc>
                  <a:txBody>
                    <a:bodyPr/>
                    <a:lstStyle/>
                    <a:p>
                      <a:pPr marL="177800" indent="-177800"/>
                      <a:r>
                        <a:rPr lang="en-US" sz="1000"/>
                        <a:t>Gather essential case and company context, including peers; if peers have not been provided by the account team, identify, audit, and share the proposed peer list</a:t>
                      </a:r>
                    </a:p>
                  </a:txBody>
                  <a:tcPr anchor="ctr">
                    <a:solidFill>
                      <a:srgbClr val="DCE5EA"/>
                    </a:solidFill>
                  </a:tcPr>
                </a:tc>
                <a:tc>
                  <a:txBody>
                    <a:bodyPr/>
                    <a:lstStyle/>
                    <a:p>
                      <a:pPr marL="0" indent="0">
                        <a:buFontTx/>
                        <a:buNone/>
                      </a:pPr>
                      <a:r>
                        <a:rPr lang="en-US" sz="1100"/>
                        <a:t>2 hours</a:t>
                      </a:r>
                    </a:p>
                  </a:txBody>
                  <a:tcPr anchor="ctr">
                    <a:solidFill>
                      <a:srgbClr val="DCE5EA"/>
                    </a:solidFill>
                  </a:tcPr>
                </a:tc>
                <a:extLst>
                  <a:ext uri="{0D108BD9-81ED-4DB2-BD59-A6C34878D82A}">
                    <a16:rowId xmlns:a16="http://schemas.microsoft.com/office/drawing/2014/main" val="2970625898"/>
                  </a:ext>
                </a:extLst>
              </a:tr>
              <a:tr h="1006054">
                <a:tc vMerge="1">
                  <a:txBody>
                    <a:bodyPr/>
                    <a:lstStyle/>
                    <a:p>
                      <a:endParaRPr lang="en-US"/>
                    </a:p>
                  </a:txBody>
                  <a:tcPr/>
                </a:tc>
                <a:tc>
                  <a:txBody>
                    <a:bodyPr/>
                    <a:lstStyle/>
                    <a:p>
                      <a:pPr marL="0" indent="0">
                        <a:buFontTx/>
                        <a:buNone/>
                      </a:pPr>
                      <a:endParaRPr lang="en-US" sz="1000"/>
                    </a:p>
                  </a:txBody>
                  <a:tcPr>
                    <a:solidFill>
                      <a:srgbClr val="DCE2D6"/>
                    </a:solidFill>
                  </a:tcPr>
                </a:tc>
                <a:tc>
                  <a:txBody>
                    <a:bodyPr/>
                    <a:lstStyle/>
                    <a:p>
                      <a:pPr marL="0" indent="0">
                        <a:buFontTx/>
                        <a:buNone/>
                      </a:pPr>
                      <a:r>
                        <a:rPr lang="en-US" sz="1100" b="1" baseline="0"/>
                        <a:t>Stage 2: </a:t>
                      </a:r>
                      <a:r>
                        <a:rPr lang="en-US" sz="1100" b="0" baseline="0"/>
                        <a:t>Data Collection &amp; </a:t>
                      </a:r>
                      <a:br>
                        <a:rPr lang="en-US" sz="1100" b="0" baseline="0"/>
                      </a:br>
                      <a:r>
                        <a:rPr lang="en-US" sz="1100" b="0" baseline="0"/>
                        <a:t>Output Creation</a:t>
                      </a:r>
                      <a:endParaRPr lang="en-US" sz="1100" b="1"/>
                    </a:p>
                  </a:txBody>
                  <a:tcPr anchor="ctr">
                    <a:solidFill>
                      <a:srgbClr val="DCE2D6"/>
                    </a:solidFill>
                  </a:tcPr>
                </a:tc>
                <a:tc>
                  <a:txBody>
                    <a:bodyPr/>
                    <a:lstStyle/>
                    <a:p>
                      <a:pPr marL="177800" indent="-177800">
                        <a:lnSpc>
                          <a:spcPct val="100000"/>
                        </a:lnSpc>
                        <a:spcAft>
                          <a:spcPts val="0"/>
                        </a:spcAft>
                      </a:pPr>
                      <a:r>
                        <a:rPr lang="en-US" sz="1000"/>
                        <a:t>Pull in financials for all companies of interest and make adjustments as necessary to ensure apples-to-apples comparison across the group</a:t>
                      </a:r>
                      <a:endParaRPr lang="en-US" sz="1000" baseline="0"/>
                    </a:p>
                    <a:p>
                      <a:pPr marL="177800" marR="0" lvl="0" indent="-177800" algn="l" defTabSz="711200" rtl="0" eaLnBrk="1" fontAlgn="auto" latinLnBrk="0" hangingPunct="1">
                        <a:lnSpc>
                          <a:spcPct val="100000"/>
                        </a:lnSpc>
                        <a:spcBef>
                          <a:spcPts val="1200"/>
                        </a:spcBef>
                        <a:spcAft>
                          <a:spcPts val="0"/>
                        </a:spcAft>
                        <a:buClrTx/>
                        <a:buSzTx/>
                        <a:tabLst/>
                        <a:defRPr/>
                      </a:pPr>
                      <a:r>
                        <a:rPr lang="en-US" sz="1000"/>
                        <a:t>Run the automated slide generation tool to create the initial OI deck; update the tags, formatting, and footnotes to ensure the deck is ready for review</a:t>
                      </a:r>
                    </a:p>
                  </a:txBody>
                  <a:tcPr anchor="ctr">
                    <a:solidFill>
                      <a:srgbClr val="DCE2D6"/>
                    </a:solidFill>
                  </a:tcPr>
                </a:tc>
                <a:tc>
                  <a:txBody>
                    <a:bodyPr/>
                    <a:lstStyle/>
                    <a:p>
                      <a:pPr marL="0" indent="0">
                        <a:buFontTx/>
                        <a:buNone/>
                      </a:pPr>
                      <a:r>
                        <a:rPr lang="en-US" sz="1100"/>
                        <a:t>14-16 hours*</a:t>
                      </a:r>
                    </a:p>
                  </a:txBody>
                  <a:tcPr anchor="ctr">
                    <a:solidFill>
                      <a:srgbClr val="DCE2D6"/>
                    </a:solidFill>
                  </a:tcPr>
                </a:tc>
                <a:extLst>
                  <a:ext uri="{0D108BD9-81ED-4DB2-BD59-A6C34878D82A}">
                    <a16:rowId xmlns:a16="http://schemas.microsoft.com/office/drawing/2014/main" val="2372288629"/>
                  </a:ext>
                </a:extLst>
              </a:tr>
              <a:tr h="396324">
                <a:tc rowSpan="2">
                  <a:txBody>
                    <a:bodyPr/>
                    <a:lstStyle/>
                    <a:p>
                      <a:pPr marL="0" indent="0" algn="ctr">
                        <a:buNone/>
                      </a:pPr>
                      <a:r>
                        <a:rPr lang="en-US" sz="1100"/>
                        <a:t>Day 2</a:t>
                      </a:r>
                    </a:p>
                  </a:txBody>
                  <a:tcPr vert="vert270">
                    <a:solidFill>
                      <a:schemeClr val="bg1">
                        <a:lumMod val="85000"/>
                      </a:schemeClr>
                    </a:solidFill>
                  </a:tcPr>
                </a:tc>
                <a:tc>
                  <a:txBody>
                    <a:bodyPr/>
                    <a:lstStyle/>
                    <a:p>
                      <a:pPr marL="0" indent="0">
                        <a:buFontTx/>
                        <a:buNone/>
                      </a:pPr>
                      <a:endParaRPr lang="en-US" sz="1000"/>
                    </a:p>
                  </a:txBody>
                  <a:tcPr>
                    <a:solidFill>
                      <a:srgbClr val="EED6E5"/>
                    </a:solidFill>
                  </a:tcPr>
                </a:tc>
                <a:tc>
                  <a:txBody>
                    <a:bodyPr/>
                    <a:lstStyle/>
                    <a:p>
                      <a:pPr marL="0" indent="0">
                        <a:buFontTx/>
                        <a:buNone/>
                      </a:pPr>
                      <a:r>
                        <a:rPr lang="en-US" sz="1100" b="1" i="0"/>
                        <a:t>Stage 3: </a:t>
                      </a:r>
                      <a:r>
                        <a:rPr lang="en-US" sz="1100" b="0" i="0"/>
                        <a:t>Savings Identification</a:t>
                      </a:r>
                      <a:endParaRPr lang="en-US" sz="1100" b="1" i="0"/>
                    </a:p>
                  </a:txBody>
                  <a:tcPr anchor="ctr">
                    <a:solidFill>
                      <a:srgbClr val="EED6E5"/>
                    </a:solidFill>
                  </a:tcPr>
                </a:tc>
                <a:tc>
                  <a:txBody>
                    <a:body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000" baseline="0">
                          <a:solidFill>
                            <a:srgbClr val="000000"/>
                          </a:solidFill>
                        </a:rPr>
                        <a:t>Research key trends</a:t>
                      </a:r>
                      <a:r>
                        <a:rPr lang="en-US" sz="1000" b="0" baseline="0">
                          <a:solidFill>
                            <a:srgbClr val="000000"/>
                          </a:solidFill>
                        </a:rPr>
                        <a:t> across the deck; understand critical similarities / differences between the target and its peers</a:t>
                      </a:r>
                      <a:endParaRPr lang="en-US" sz="1000" b="0">
                        <a:solidFill>
                          <a:srgbClr val="000000"/>
                        </a:solidFill>
                      </a:endParaRP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000" b="0">
                          <a:solidFill>
                            <a:srgbClr val="000000"/>
                          </a:solidFill>
                        </a:rPr>
                        <a:t>Assess savings opportunities based </a:t>
                      </a:r>
                      <a:r>
                        <a:rPr lang="en-US" sz="1000" b="0" baseline="0">
                          <a:solidFill>
                            <a:srgbClr val="000000"/>
                          </a:solidFill>
                        </a:rPr>
                        <a:t>on peer analysis </a:t>
                      </a:r>
                      <a:r>
                        <a:rPr lang="en-US" sz="1000" baseline="0">
                          <a:solidFill>
                            <a:srgbClr val="000000"/>
                          </a:solidFill>
                        </a:rPr>
                        <a:t>derived from Excel Dashboard</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000" b="0" baseline="0">
                          <a:solidFill>
                            <a:srgbClr val="000000"/>
                          </a:solidFill>
                        </a:rPr>
                        <a:t>Create a value-at-stake recommendation for each metric using benchmarks and Bain experience</a:t>
                      </a:r>
                      <a:endParaRPr lang="en-US" sz="1000">
                        <a:solidFill>
                          <a:srgbClr val="000000"/>
                        </a:solidFill>
                      </a:endParaRPr>
                    </a:p>
                  </a:txBody>
                  <a:tcPr anchor="ctr">
                    <a:solidFill>
                      <a:srgbClr val="EED6E5"/>
                    </a:solidFill>
                  </a:tcPr>
                </a:tc>
                <a:tc>
                  <a:txBody>
                    <a:bodyPr/>
                    <a:lstStyle/>
                    <a:p>
                      <a:pPr marL="0" indent="0">
                        <a:buFontTx/>
                        <a:buNone/>
                      </a:pPr>
                      <a:r>
                        <a:rPr lang="en-US" sz="1100"/>
                        <a:t>3-4 hours</a:t>
                      </a:r>
                    </a:p>
                  </a:txBody>
                  <a:tcPr anchor="ctr">
                    <a:solidFill>
                      <a:srgbClr val="EED6E5"/>
                    </a:solidFill>
                  </a:tcPr>
                </a:tc>
                <a:extLst>
                  <a:ext uri="{0D108BD9-81ED-4DB2-BD59-A6C34878D82A}">
                    <a16:rowId xmlns:a16="http://schemas.microsoft.com/office/drawing/2014/main" val="3626871744"/>
                  </a:ext>
                </a:extLst>
              </a:tr>
              <a:tr h="701189">
                <a:tc vMerge="1">
                  <a:txBody>
                    <a:bodyPr/>
                    <a:lstStyle/>
                    <a:p>
                      <a:endParaRPr lang="en-US"/>
                    </a:p>
                  </a:txBody>
                  <a:tcPr/>
                </a:tc>
                <a:tc>
                  <a:txBody>
                    <a:bodyPr/>
                    <a:lstStyle/>
                    <a:p>
                      <a:pPr marL="0" indent="0">
                        <a:buFontTx/>
                        <a:buNone/>
                      </a:pPr>
                      <a:endParaRPr lang="en-US" sz="1000"/>
                    </a:p>
                  </a:txBody>
                  <a:tcPr>
                    <a:solidFill>
                      <a:srgbClr val="FAEEC3"/>
                    </a:solidFill>
                  </a:tcPr>
                </a:tc>
                <a:tc>
                  <a:txBody>
                    <a:bodyPr/>
                    <a:lstStyle/>
                    <a:p>
                      <a:pPr marL="0" indent="0">
                        <a:buFontTx/>
                        <a:buNone/>
                      </a:pPr>
                      <a:r>
                        <a:rPr lang="en-US" sz="1100" b="1"/>
                        <a:t>Stage 4: </a:t>
                      </a:r>
                      <a:r>
                        <a:rPr lang="en-US" sz="1100"/>
                        <a:t>Output completion</a:t>
                      </a:r>
                    </a:p>
                  </a:txBody>
                  <a:tcPr anchor="ctr">
                    <a:solidFill>
                      <a:srgbClr val="FAEEC3"/>
                    </a:solidFill>
                  </a:tcPr>
                </a:tc>
                <a:tc>
                  <a:txBody>
                    <a:bodyPr/>
                    <a:lstStyle/>
                    <a:p>
                      <a:pPr marL="177800" indent="-177800"/>
                      <a:r>
                        <a:rPr lang="en-US" sz="1000"/>
                        <a:t>Discuss emerging insights with the LT team; understand what net-new slides or additional research is required</a:t>
                      </a:r>
                    </a:p>
                    <a:p>
                      <a:pPr marL="177800" indent="-177800"/>
                      <a:r>
                        <a:rPr lang="en-US" sz="1000"/>
                        <a:t>Finalize story (tags, footnotes, savings recommendation, etc.); finish execution of the deck and ZD all slides</a:t>
                      </a:r>
                    </a:p>
                    <a:p>
                      <a:pPr marL="177800" indent="-177800"/>
                      <a:r>
                        <a:rPr lang="en-US" sz="1000"/>
                        <a:t>Share the deck with LT for final review; action feedback</a:t>
                      </a:r>
                    </a:p>
                    <a:p>
                      <a:pPr marL="177800" indent="-177800"/>
                      <a:r>
                        <a:rPr lang="en-US" sz="1000"/>
                        <a:t>Share findings with the account team </a:t>
                      </a:r>
                    </a:p>
                  </a:txBody>
                  <a:tcPr anchor="ctr">
                    <a:solidFill>
                      <a:srgbClr val="FAEEC3"/>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ea typeface="+mn-ea"/>
                          <a:cs typeface="+mn-cs"/>
                        </a:rPr>
                        <a:t>2-3 hours</a:t>
                      </a:r>
                    </a:p>
                  </a:txBody>
                  <a:tcPr anchor="ctr">
                    <a:solidFill>
                      <a:srgbClr val="FAEEC3"/>
                    </a:solidFill>
                  </a:tcPr>
                </a:tc>
                <a:extLst>
                  <a:ext uri="{0D108BD9-81ED-4DB2-BD59-A6C34878D82A}">
                    <a16:rowId xmlns:a16="http://schemas.microsoft.com/office/drawing/2014/main" val="1305778187"/>
                  </a:ext>
                </a:extLst>
              </a:tr>
              <a:tr h="354804">
                <a:tc>
                  <a:txBody>
                    <a:bodyPr/>
                    <a:lstStyle/>
                    <a:p>
                      <a:pPr marL="0" indent="0">
                        <a:buNone/>
                      </a:pPr>
                      <a:endParaRPr lang="en-US" sz="1000"/>
                    </a:p>
                  </a:txBody>
                  <a:tcPr vert="vert270">
                    <a:solidFill>
                      <a:schemeClr val="bg1">
                        <a:lumMod val="95000"/>
                      </a:schemeClr>
                    </a:solidFill>
                  </a:tcPr>
                </a:tc>
                <a:tc>
                  <a:txBody>
                    <a:bodyPr/>
                    <a:lstStyle/>
                    <a:p>
                      <a:pPr marL="0" indent="0">
                        <a:buFontTx/>
                        <a:buNone/>
                      </a:pPr>
                      <a:endParaRPr lang="en-US" sz="1000"/>
                    </a:p>
                  </a:txBody>
                  <a:tcPr>
                    <a:solidFill>
                      <a:schemeClr val="bg1">
                        <a:lumMod val="95000"/>
                      </a:schemeClr>
                    </a:solidFill>
                  </a:tcPr>
                </a:tc>
                <a:tc>
                  <a:txBody>
                    <a:bodyPr/>
                    <a:lstStyle/>
                    <a:p>
                      <a:pPr marL="0" indent="0">
                        <a:buFontTx/>
                        <a:buNone/>
                      </a:pPr>
                      <a:r>
                        <a:rPr lang="en-US" sz="1100"/>
                        <a:t>Continuous improvement</a:t>
                      </a:r>
                    </a:p>
                  </a:txBody>
                  <a:tcPr anchor="ctr">
                    <a:solidFill>
                      <a:schemeClr val="bg1">
                        <a:lumMod val="95000"/>
                      </a:schemeClr>
                    </a:solidFill>
                  </a:tcPr>
                </a:tc>
                <a:tc>
                  <a:txBody>
                    <a:bodyPr/>
                    <a:lstStyle/>
                    <a:p>
                      <a:pPr marL="177800" indent="-177800"/>
                      <a:r>
                        <a:rPr lang="en-US" sz="1000"/>
                        <a:t>Receive feedback to improve the OI process and product</a:t>
                      </a:r>
                    </a:p>
                  </a:txBody>
                  <a:tcPr anchor="ctr">
                    <a:solidFill>
                      <a:schemeClr val="bg1">
                        <a:lumMod val="95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mn-cs"/>
                      </a:endParaRPr>
                    </a:p>
                  </a:txBody>
                  <a:tcPr anchor="ctr">
                    <a:solidFill>
                      <a:schemeClr val="bg1">
                        <a:lumMod val="95000"/>
                      </a:schemeClr>
                    </a:solidFill>
                  </a:tcPr>
                </a:tc>
                <a:extLst>
                  <a:ext uri="{0D108BD9-81ED-4DB2-BD59-A6C34878D82A}">
                    <a16:rowId xmlns:a16="http://schemas.microsoft.com/office/drawing/2014/main" val="3267394302"/>
                  </a:ext>
                </a:extLst>
              </a:tr>
            </a:tbl>
          </a:graphicData>
        </a:graphic>
      </p:graphicFrame>
      <p:sp>
        <p:nvSpPr>
          <p:cNvPr id="23" name="Rectangle 22">
            <a:extLst>
              <a:ext uri="{FF2B5EF4-FFF2-40B4-BE49-F238E27FC236}">
                <a16:creationId xmlns:a16="http://schemas.microsoft.com/office/drawing/2014/main" id="{B712D77D-2C57-4D2B-AC40-61E1361EA843}"/>
              </a:ext>
            </a:extLst>
          </p:cNvPr>
          <p:cNvSpPr/>
          <p:nvPr/>
        </p:nvSpPr>
        <p:spPr bwMode="gray">
          <a:xfrm>
            <a:off x="54999" y="1641763"/>
            <a:ext cx="267789" cy="393555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Typically 48 hours</a:t>
            </a:r>
            <a:endParaRPr lang="en-US" sz="1100" b="1" i="1">
              <a:solidFill>
                <a:schemeClr val="accent3"/>
              </a:solidFill>
            </a:endParaRPr>
          </a:p>
        </p:txBody>
      </p:sp>
      <p:sp>
        <p:nvSpPr>
          <p:cNvPr id="18" name="btfpNumberBubble557534">
            <a:extLst>
              <a:ext uri="{FF2B5EF4-FFF2-40B4-BE49-F238E27FC236}">
                <a16:creationId xmlns:a16="http://schemas.microsoft.com/office/drawing/2014/main" id="{7E9E4286-3F06-47B2-AE4E-948CCDC3F4F3}"/>
              </a:ext>
            </a:extLst>
          </p:cNvPr>
          <p:cNvSpPr/>
          <p:nvPr/>
        </p:nvSpPr>
        <p:spPr bwMode="gray">
          <a:xfrm>
            <a:off x="972786" y="1793794"/>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sp>
        <p:nvSpPr>
          <p:cNvPr id="19" name="btfpNumberBubble557534">
            <a:extLst>
              <a:ext uri="{FF2B5EF4-FFF2-40B4-BE49-F238E27FC236}">
                <a16:creationId xmlns:a16="http://schemas.microsoft.com/office/drawing/2014/main" id="{8CB715E2-F86A-465F-BB91-D4500595A570}"/>
              </a:ext>
            </a:extLst>
          </p:cNvPr>
          <p:cNvSpPr/>
          <p:nvPr/>
        </p:nvSpPr>
        <p:spPr bwMode="gray">
          <a:xfrm>
            <a:off x="972786" y="3496336"/>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
        <p:nvSpPr>
          <p:cNvPr id="25" name="btfpNumberBubble557534">
            <a:extLst>
              <a:ext uri="{FF2B5EF4-FFF2-40B4-BE49-F238E27FC236}">
                <a16:creationId xmlns:a16="http://schemas.microsoft.com/office/drawing/2014/main" id="{46A874E8-DAE5-4AA2-BA0C-491F5D21B473}"/>
              </a:ext>
            </a:extLst>
          </p:cNvPr>
          <p:cNvSpPr/>
          <p:nvPr/>
        </p:nvSpPr>
        <p:spPr bwMode="gray">
          <a:xfrm>
            <a:off x="972786" y="4504648"/>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
        <p:nvSpPr>
          <p:cNvPr id="28" name="btfpNumberBubble557534">
            <a:extLst>
              <a:ext uri="{FF2B5EF4-FFF2-40B4-BE49-F238E27FC236}">
                <a16:creationId xmlns:a16="http://schemas.microsoft.com/office/drawing/2014/main" id="{1DFE059F-4B7D-44E5-8105-8775D8BCBF09}"/>
              </a:ext>
            </a:extLst>
          </p:cNvPr>
          <p:cNvSpPr/>
          <p:nvPr/>
        </p:nvSpPr>
        <p:spPr bwMode="gray">
          <a:xfrm>
            <a:off x="972786" y="5259126"/>
            <a:ext cx="274320" cy="274320"/>
          </a:xfrm>
          <a:prstGeom prst="ellipse">
            <a:avLst/>
          </a:prstGeom>
          <a:solidFill>
            <a:srgbClr val="FFFFFF"/>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C5C5C"/>
                </a:solidFill>
              </a:rPr>
              <a:t>5</a:t>
            </a:r>
          </a:p>
        </p:txBody>
      </p:sp>
      <p:sp>
        <p:nvSpPr>
          <p:cNvPr id="29" name="btfpNumberBubble557534">
            <a:extLst>
              <a:ext uri="{FF2B5EF4-FFF2-40B4-BE49-F238E27FC236}">
                <a16:creationId xmlns:a16="http://schemas.microsoft.com/office/drawing/2014/main" id="{B7334A7A-B023-4315-9999-7F9747DD76C7}"/>
              </a:ext>
            </a:extLst>
          </p:cNvPr>
          <p:cNvSpPr/>
          <p:nvPr/>
        </p:nvSpPr>
        <p:spPr bwMode="gray">
          <a:xfrm>
            <a:off x="972786" y="2560008"/>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15" name="btfpNotesBox740229">
            <a:extLst>
              <a:ext uri="{FF2B5EF4-FFF2-40B4-BE49-F238E27FC236}">
                <a16:creationId xmlns:a16="http://schemas.microsoft.com/office/drawing/2014/main" id="{15FD60FC-4229-F8EC-80DE-02EABA95B5A6}"/>
              </a:ext>
            </a:extLst>
          </p:cNvPr>
          <p:cNvSpPr txBox="1"/>
          <p:nvPr>
            <p:custDataLst>
              <p:tags r:id="rId4"/>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*Timing expectations are case dependent; includes time to set up the Excel Dashboard, run the slide gen, and take a first pass at the slide loop</a:t>
            </a:r>
          </a:p>
        </p:txBody>
      </p:sp>
    </p:spTree>
    <p:custDataLst>
      <p:tags r:id="rId1"/>
    </p:custDataLst>
    <p:extLst>
      <p:ext uri="{BB962C8B-B14F-4D97-AF65-F5344CB8AC3E}">
        <p14:creationId xmlns:p14="http://schemas.microsoft.com/office/powerpoint/2010/main" val="3003118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2709914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Introduction</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4" name="btfpBulletedList430166"/>
          <p:cNvSpPr txBox="1"/>
          <p:nvPr>
            <p:custDataLst>
              <p:tags r:id="rId3"/>
            </p:custDataLst>
          </p:nvPr>
        </p:nvSpPr>
        <p:spPr bwMode="gray">
          <a:xfrm>
            <a:off x="452663" y="3308946"/>
            <a:ext cx="11107964" cy="2304083"/>
          </a:xfrm>
          <a:prstGeom prst="rect">
            <a:avLst/>
          </a:prstGeom>
          <a:noFill/>
        </p:spPr>
        <p:txBody>
          <a:bodyPr vert="horz" wrap="square" lIns="36000" tIns="36000" rIns="36000" bIns="36000" rtlCol="0">
            <a:spAutoFit/>
          </a:bodyPr>
          <a:lstStyle/>
          <a:p>
            <a:pPr marL="177800" marR="0" lvl="0" indent="-177800" algn="l" defTabSz="711200" rtl="0" eaLnBrk="1" fontAlgn="auto" latinLnBrk="0" hangingPunct="1">
              <a:lnSpc>
                <a:spcPct val="100000"/>
              </a:lnSpc>
              <a:spcAft>
                <a:spcPts val="0"/>
              </a:spcAft>
              <a:buClrTx/>
              <a:buSzTx/>
              <a:buFontTx/>
              <a:buChar char="•"/>
              <a:tabLst/>
              <a:defRPr/>
            </a:pPr>
            <a:r>
              <a:rPr lang="en-US" sz="1200" b="1" u="sng">
                <a:solidFill>
                  <a:srgbClr val="000000"/>
                </a:solidFill>
              </a:rPr>
              <a:t>Peer selection inputs:</a:t>
            </a:r>
            <a:r>
              <a:rPr lang="en-US" sz="1200">
                <a:solidFill>
                  <a:srgbClr val="000000"/>
                </a:solidFill>
              </a:rPr>
              <a:t> Peers </a:t>
            </a:r>
            <a:r>
              <a:rPr kumimoji="0" lang="en-US" sz="1200" b="0" i="0" u="none" strike="noStrike" kern="1200" cap="none" spc="0" normalizeH="0" baseline="0" noProof="0">
                <a:ln>
                  <a:noFill/>
                </a:ln>
                <a:solidFill>
                  <a:srgbClr val="000000"/>
                </a:solidFill>
                <a:effectLst/>
                <a:uLnTx/>
                <a:uFillTx/>
                <a:ea typeface="+mn-ea"/>
                <a:cs typeface="+mn-cs"/>
              </a:rPr>
              <a:t>are </a:t>
            </a:r>
            <a:r>
              <a:rPr kumimoji="0" lang="en-US" sz="1200" b="1" i="0" u="none" strike="noStrike" kern="1200" cap="none" spc="0" normalizeH="0" baseline="0" noProof="0">
                <a:ln>
                  <a:noFill/>
                </a:ln>
                <a:solidFill>
                  <a:srgbClr val="000000"/>
                </a:solidFill>
                <a:effectLst/>
                <a:uLnTx/>
                <a:uFillTx/>
                <a:ea typeface="+mn-ea"/>
                <a:cs typeface="+mn-cs"/>
              </a:rPr>
              <a:t>selected either by the account team</a:t>
            </a:r>
            <a:r>
              <a:rPr kumimoji="0" lang="en-US" sz="1200" b="0" i="0" u="none" strike="noStrike" kern="1200" cap="none" spc="0" normalizeH="0" baseline="0" noProof="0">
                <a:ln>
                  <a:noFill/>
                </a:ln>
                <a:solidFill>
                  <a:srgbClr val="000000"/>
                </a:solidFill>
                <a:effectLst/>
                <a:uLnTx/>
                <a:uFillTx/>
                <a:ea typeface="+mn-ea"/>
                <a:cs typeface="+mn-cs"/>
              </a:rPr>
              <a:t> (the partners/principals/managers requesting the OI)</a:t>
            </a:r>
            <a:r>
              <a:rPr kumimoji="0" lang="en-US" sz="1200" b="1" i="0" u="none" strike="noStrike" kern="1200" cap="none" spc="0" normalizeH="0" baseline="0" noProof="0">
                <a:ln>
                  <a:noFill/>
                </a:ln>
                <a:solidFill>
                  <a:srgbClr val="000000"/>
                </a:solidFill>
                <a:effectLst/>
                <a:uLnTx/>
                <a:uFillTx/>
                <a:ea typeface="+mn-ea"/>
                <a:cs typeface="+mn-cs"/>
              </a:rPr>
              <a:t> or by the OI team </a:t>
            </a:r>
            <a:r>
              <a:rPr kumimoji="0" lang="en-US" sz="1200" i="0" u="none" strike="noStrike" kern="1200" cap="none" spc="0" normalizeH="0" baseline="0" noProof="0">
                <a:ln>
                  <a:noFill/>
                </a:ln>
                <a:solidFill>
                  <a:srgbClr val="000000"/>
                </a:solidFill>
                <a:effectLst/>
                <a:uLnTx/>
                <a:uFillTx/>
                <a:ea typeface="+mn-ea"/>
                <a:cs typeface="+mn-cs"/>
              </a:rPr>
              <a:t>(when a peer set is not provided)</a:t>
            </a:r>
            <a:r>
              <a:rPr lang="en-US" sz="1200">
                <a:solidFill>
                  <a:srgbClr val="000000"/>
                </a:solidFill>
              </a:rPr>
              <a:t>; a</a:t>
            </a:r>
            <a:r>
              <a:rPr kumimoji="0" lang="en-US" sz="1200" b="0" i="0" u="none" strike="noStrike" kern="1200" cap="none" spc="0" normalizeH="0" baseline="0" noProof="0" err="1">
                <a:ln>
                  <a:noFill/>
                </a:ln>
                <a:solidFill>
                  <a:srgbClr val="000000"/>
                </a:solidFill>
                <a:effectLst/>
                <a:uLnTx/>
                <a:uFillTx/>
                <a:ea typeface="+mn-ea"/>
                <a:cs typeface="+mn-cs"/>
              </a:rPr>
              <a:t>nalysis</a:t>
            </a:r>
            <a:r>
              <a:rPr kumimoji="0" lang="en-US" sz="1200" b="0" i="0" u="none" strike="noStrike" kern="1200" cap="none" spc="0" normalizeH="0" baseline="0" noProof="0">
                <a:ln>
                  <a:noFill/>
                </a:ln>
                <a:solidFill>
                  <a:srgbClr val="000000"/>
                </a:solidFill>
                <a:effectLst/>
                <a:uLnTx/>
                <a:uFillTx/>
                <a:ea typeface="+mn-ea"/>
                <a:cs typeface="+mn-cs"/>
              </a:rPr>
              <a:t> should NOT begin until the account team has agreed to the peer set to avoid yield loss</a:t>
            </a:r>
          </a:p>
          <a:p>
            <a:pPr>
              <a:defRPr/>
            </a:pPr>
            <a:r>
              <a:rPr lang="en-US" sz="1200" b="1" u="sng"/>
              <a:t>Peer selection requirements:</a:t>
            </a:r>
          </a:p>
          <a:p>
            <a:pPr lvl="1">
              <a:defRPr/>
            </a:pPr>
            <a:r>
              <a:rPr lang="en-US" sz="1000" u="sng"/>
              <a:t>Comparability:</a:t>
            </a:r>
            <a:r>
              <a:rPr lang="en-US" sz="1000"/>
              <a:t> </a:t>
            </a:r>
            <a:r>
              <a:rPr lang="en-US" sz="1000" b="1"/>
              <a:t>A peer group must be well-defined to ensure apples-to-apples comparisons</a:t>
            </a:r>
            <a:r>
              <a:rPr lang="en-US" sz="1000"/>
              <a:t>. To identify a relevant peer set, we must first understand the </a:t>
            </a:r>
            <a:r>
              <a:rPr lang="en-US" sz="1000" b="1"/>
              <a:t>target’s reporting structure</a:t>
            </a:r>
            <a:r>
              <a:rPr lang="en-US" sz="1000"/>
              <a:t> and key </a:t>
            </a:r>
            <a:r>
              <a:rPr lang="en-US" sz="1000" b="1"/>
              <a:t>financial and operational metrics</a:t>
            </a:r>
            <a:r>
              <a:rPr lang="en-US" sz="1000"/>
              <a:t>, including </a:t>
            </a:r>
            <a:r>
              <a:rPr lang="en-US" sz="1000" b="1"/>
              <a:t>revenue streams, cost allocations, profitability, and segment performance</a:t>
            </a:r>
            <a:r>
              <a:rPr lang="en-US" sz="1000"/>
              <a:t>. Non-financial factors like </a:t>
            </a:r>
            <a:r>
              <a:rPr lang="en-US" sz="1000" b="1"/>
              <a:t>headcount and geographic presence</a:t>
            </a:r>
            <a:r>
              <a:rPr lang="en-US" sz="1000"/>
              <a:t> may also be considered for a comprehensive view. These factors are then compared against prospective peers to ensure </a:t>
            </a:r>
            <a:r>
              <a:rPr lang="en-US" sz="1000" b="1"/>
              <a:t>accurate and meaningful comparisons</a:t>
            </a:r>
            <a:endParaRPr lang="en-US" sz="1000"/>
          </a:p>
          <a:p>
            <a:pPr lvl="1">
              <a:defRPr/>
            </a:pPr>
            <a:r>
              <a:rPr kumimoji="0" lang="en-US" sz="1000" b="0" i="0" u="sng" strike="noStrike" kern="1200" cap="none" spc="0" normalizeH="0" baseline="0" noProof="0">
                <a:ln>
                  <a:noFill/>
                </a:ln>
                <a:solidFill>
                  <a:srgbClr val="000000"/>
                </a:solidFill>
                <a:effectLst/>
                <a:uLnTx/>
                <a:uFillTx/>
                <a:ea typeface="+mn-ea"/>
                <a:cs typeface="+mn-cs"/>
              </a:rPr>
              <a:t>Size of peer set:</a:t>
            </a:r>
            <a:r>
              <a:rPr kumimoji="0" lang="en-US" sz="1000" b="0" i="0" strike="noStrike" kern="1200" cap="none" spc="0" normalizeH="0" baseline="0" noProof="0">
                <a:ln>
                  <a:noFill/>
                </a:ln>
                <a:solidFill>
                  <a:srgbClr val="000000"/>
                </a:solidFill>
                <a:effectLst/>
                <a:uLnTx/>
                <a:uFillTx/>
                <a:ea typeface="+mn-ea"/>
                <a:cs typeface="+mn-cs"/>
              </a:rPr>
              <a:t> </a:t>
            </a:r>
            <a:r>
              <a:rPr kumimoji="0" lang="en-US" sz="1000" b="0" i="0" u="none" strike="noStrike" kern="1200" cap="none" spc="0" normalizeH="0" baseline="0" noProof="0">
                <a:ln>
                  <a:noFill/>
                </a:ln>
                <a:solidFill>
                  <a:srgbClr val="000000"/>
                </a:solidFill>
                <a:effectLst/>
                <a:uLnTx/>
                <a:uFillTx/>
                <a:ea typeface="+mn-ea"/>
                <a:cs typeface="+mn-cs"/>
              </a:rPr>
              <a:t>An analysis should be conducted with </a:t>
            </a:r>
            <a:r>
              <a:rPr lang="en-US" sz="1000" b="1">
                <a:solidFill>
                  <a:srgbClr val="000000"/>
                </a:solidFill>
              </a:rPr>
              <a:t>~5-</a:t>
            </a:r>
            <a:r>
              <a:rPr kumimoji="0" lang="en-US" sz="1000" b="1" i="0" u="none" strike="noStrike" kern="1200" cap="none" spc="0" normalizeH="0" baseline="0" noProof="0">
                <a:ln>
                  <a:noFill/>
                </a:ln>
                <a:solidFill>
                  <a:srgbClr val="000000"/>
                </a:solidFill>
                <a:effectLst/>
                <a:uLnTx/>
                <a:uFillTx/>
                <a:ea typeface="+mn-ea"/>
                <a:cs typeface="+mn-cs"/>
              </a:rPr>
              <a:t>8 comparable peers that report publicly available data </a:t>
            </a:r>
            <a:r>
              <a:rPr kumimoji="0" lang="en-US" sz="1000" i="0" u="none" strike="noStrike" kern="1200" cap="none" spc="0" normalizeH="0" baseline="0" noProof="0">
                <a:ln>
                  <a:noFill/>
                </a:ln>
                <a:solidFill>
                  <a:srgbClr val="000000"/>
                </a:solidFill>
                <a:effectLst/>
                <a:uLnTx/>
                <a:uFillTx/>
                <a:ea typeface="+mn-ea"/>
                <a:cs typeface="+mn-cs"/>
              </a:rPr>
              <a:t>(unless the account team is able to provide private financials). </a:t>
            </a:r>
            <a:r>
              <a:rPr lang="en-US" sz="1000"/>
              <a:t>Selecting fewer than 5 peers might lead to </a:t>
            </a:r>
            <a:r>
              <a:rPr lang="en-US" sz="1000" b="1"/>
              <a:t>skewed insights</a:t>
            </a:r>
            <a:r>
              <a:rPr lang="en-US" sz="1000"/>
              <a:t>, while selecting too many could </a:t>
            </a:r>
            <a:r>
              <a:rPr lang="en-US" sz="1000" b="1"/>
              <a:t>dilute the relevance of the comparison</a:t>
            </a:r>
            <a:r>
              <a:rPr lang="en-US" sz="1000"/>
              <a:t>. Note that 20 peers is the maximum allowed in our dashboard.</a:t>
            </a:r>
          </a:p>
          <a:p>
            <a:pPr lvl="1">
              <a:buFontTx/>
              <a:buChar char="•"/>
              <a:defRPr/>
            </a:pPr>
            <a:r>
              <a:rPr lang="en-US" sz="1000" u="sng"/>
              <a:t>Commercial focus:</a:t>
            </a:r>
            <a:r>
              <a:rPr lang="en-US" sz="1000"/>
              <a:t> It is important to validate whether the </a:t>
            </a:r>
            <a:r>
              <a:rPr lang="en-US" sz="1000" b="1"/>
              <a:t>account team has a particular commercial focus in mind </a:t>
            </a:r>
            <a:r>
              <a:rPr lang="en-US" sz="1000"/>
              <a:t>(e.g., specific financial metrics, segment-level analysis). If the team is interested in a </a:t>
            </a:r>
            <a:r>
              <a:rPr lang="en-US" sz="1000" b="1"/>
              <a:t>segment-level analysis </a:t>
            </a:r>
            <a:r>
              <a:rPr lang="en-US" sz="1000"/>
              <a:t>or a </a:t>
            </a:r>
            <a:r>
              <a:rPr lang="en-US" sz="1000" b="1"/>
              <a:t>financial metric that is not widely reported</a:t>
            </a:r>
            <a:r>
              <a:rPr lang="en-US" sz="1000"/>
              <a:t>, expectations should be managed early. Segment-level analyses, for example, are often limited to EBIT / EBITDA (as opposed to the full cost bar) due to data availability constraints intends to focus on any specific financial metrics </a:t>
            </a:r>
          </a:p>
        </p:txBody>
      </p:sp>
      <p:grpSp>
        <p:nvGrpSpPr>
          <p:cNvPr id="7" name="btfpColumnHeaderBox445950"/>
          <p:cNvGrpSpPr/>
          <p:nvPr>
            <p:custDataLst>
              <p:tags r:id="rId4"/>
            </p:custDataLst>
          </p:nvPr>
        </p:nvGrpSpPr>
        <p:grpSpPr>
          <a:xfrm>
            <a:off x="452663" y="2942487"/>
            <a:ext cx="11107965" cy="315913"/>
            <a:chOff x="330200" y="1270000"/>
            <a:chExt cx="3483504" cy="315913"/>
          </a:xfrm>
        </p:grpSpPr>
        <p:sp>
          <p:nvSpPr>
            <p:cNvPr id="5" name="btfpColumnHeaderBoxText445950"/>
            <p:cNvSpPr txBox="1"/>
            <p:nvPr/>
          </p:nvSpPr>
          <p:spPr bwMode="gray">
            <a:xfrm>
              <a:off x="330200" y="1270000"/>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Inputs / Requirements</a:t>
              </a:r>
            </a:p>
          </p:txBody>
        </p:sp>
        <p:cxnSp>
          <p:nvCxnSpPr>
            <p:cNvPr id="6" name="btfpColumnHeaderBoxLine445950"/>
            <p:cNvCxnSpPr/>
            <p:nvPr/>
          </p:nvCxnSpPr>
          <p:spPr bwMode="gray">
            <a:xfrm>
              <a:off x="330200" y="1585913"/>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12" name="btfpColumnHeaderBox445950">
            <a:extLst>
              <a:ext uri="{FF2B5EF4-FFF2-40B4-BE49-F238E27FC236}">
                <a16:creationId xmlns:a16="http://schemas.microsoft.com/office/drawing/2014/main" id="{B9649FEE-70A9-38E9-334E-BB56D0D7912C}"/>
              </a:ext>
            </a:extLst>
          </p:cNvPr>
          <p:cNvGrpSpPr/>
          <p:nvPr>
            <p:custDataLst>
              <p:tags r:id="rId5"/>
            </p:custDataLst>
          </p:nvPr>
        </p:nvGrpSpPr>
        <p:grpSpPr>
          <a:xfrm>
            <a:off x="452662" y="1250878"/>
            <a:ext cx="11107965" cy="315913"/>
            <a:chOff x="330200" y="1270000"/>
            <a:chExt cx="3483504" cy="315913"/>
          </a:xfrm>
        </p:grpSpPr>
        <p:sp>
          <p:nvSpPr>
            <p:cNvPr id="13" name="btfpColumnHeaderBoxText445950">
              <a:extLst>
                <a:ext uri="{FF2B5EF4-FFF2-40B4-BE49-F238E27FC236}">
                  <a16:creationId xmlns:a16="http://schemas.microsoft.com/office/drawing/2014/main" id="{589CA8EB-66E0-44EA-4AB0-BCE227F470FD}"/>
                </a:ext>
              </a:extLst>
            </p:cNvPr>
            <p:cNvSpPr txBox="1"/>
            <p:nvPr/>
          </p:nvSpPr>
          <p:spPr bwMode="gray">
            <a:xfrm>
              <a:off x="330200" y="1270000"/>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Overview</a:t>
              </a:r>
            </a:p>
          </p:txBody>
        </p:sp>
        <p:cxnSp>
          <p:nvCxnSpPr>
            <p:cNvPr id="15" name="btfpColumnHeaderBoxLine445950">
              <a:extLst>
                <a:ext uri="{FF2B5EF4-FFF2-40B4-BE49-F238E27FC236}">
                  <a16:creationId xmlns:a16="http://schemas.microsoft.com/office/drawing/2014/main" id="{B7133589-B864-E978-47D6-09881216FF02}"/>
                </a:ext>
              </a:extLst>
            </p:cNvPr>
            <p:cNvCxnSpPr/>
            <p:nvPr/>
          </p:nvCxnSpPr>
          <p:spPr bwMode="gray">
            <a:xfrm>
              <a:off x="330200" y="1585913"/>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6" name="btfpBulletedList430166">
            <a:extLst>
              <a:ext uri="{FF2B5EF4-FFF2-40B4-BE49-F238E27FC236}">
                <a16:creationId xmlns:a16="http://schemas.microsoft.com/office/drawing/2014/main" id="{4B8ACFC5-E109-B6FE-E203-2FC33003D536}"/>
              </a:ext>
            </a:extLst>
          </p:cNvPr>
          <p:cNvSpPr txBox="1"/>
          <p:nvPr>
            <p:custDataLst>
              <p:tags r:id="rId6"/>
            </p:custDataLst>
          </p:nvPr>
        </p:nvSpPr>
        <p:spPr bwMode="gray">
          <a:xfrm>
            <a:off x="452662" y="1617813"/>
            <a:ext cx="11107964" cy="1119143"/>
          </a:xfrm>
          <a:prstGeom prst="rect">
            <a:avLst/>
          </a:prstGeom>
          <a:noFill/>
        </p:spPr>
        <p:txBody>
          <a:bodyPr vert="horz" wrap="square" lIns="36000" tIns="36000" rIns="36000" bIns="36000" rtlCol="0">
            <a:spAutoFit/>
          </a:bodyPr>
          <a:lstStyle/>
          <a:p>
            <a:pPr marL="177800" marR="0" lvl="0" indent="-177800" algn="l" defTabSz="711200" rtl="0" eaLnBrk="1" fontAlgn="auto" latinLnBrk="0" hangingPunct="1">
              <a:lnSpc>
                <a:spcPct val="100000"/>
              </a:lnSpc>
              <a:spcAft>
                <a:spcPts val="0"/>
              </a:spcAft>
              <a:buClrTx/>
              <a:buSzTx/>
              <a:buFontTx/>
              <a:buChar char="•"/>
              <a:tabLst/>
              <a:defRPr/>
            </a:pPr>
            <a:r>
              <a:rPr lang="en-US" sz="1200">
                <a:solidFill>
                  <a:srgbClr val="000000"/>
                </a:solidFill>
              </a:rPr>
              <a:t>Each OI contains companies that we </a:t>
            </a:r>
            <a:r>
              <a:rPr lang="en-US" sz="1200" b="1">
                <a:solidFill>
                  <a:srgbClr val="000000"/>
                </a:solidFill>
              </a:rPr>
              <a:t>compare and benchmark our target </a:t>
            </a:r>
            <a:r>
              <a:rPr lang="en-US" sz="1200">
                <a:solidFill>
                  <a:srgbClr val="000000"/>
                </a:solidFill>
              </a:rPr>
              <a:t>with, to provide a comprehensive analysis</a:t>
            </a:r>
          </a:p>
          <a:p>
            <a:pPr marL="177800" marR="0" lvl="0" indent="-177800" algn="l" defTabSz="711200" rtl="0" eaLnBrk="1" fontAlgn="auto" latinLnBrk="0" hangingPunct="1">
              <a:lnSpc>
                <a:spcPct val="100000"/>
              </a:lnSpc>
              <a:spcAft>
                <a:spcPts val="0"/>
              </a:spcAft>
              <a:buClrTx/>
              <a:buSzTx/>
              <a:buFontTx/>
              <a:buChar char="•"/>
              <a:tabLst/>
              <a:defRPr/>
            </a:pPr>
            <a:r>
              <a:rPr lang="en-US" sz="1200">
                <a:solidFill>
                  <a:srgbClr val="000000"/>
                </a:solidFill>
              </a:rPr>
              <a:t>Selecting the right peer group for our analysis is </a:t>
            </a:r>
            <a:r>
              <a:rPr lang="en-US" sz="1200" b="1">
                <a:solidFill>
                  <a:srgbClr val="000000"/>
                </a:solidFill>
              </a:rPr>
              <a:t>critical for accurate benchmarking</a:t>
            </a:r>
            <a:endParaRPr lang="en-US" sz="1200">
              <a:solidFill>
                <a:srgbClr val="000000"/>
              </a:solidFill>
            </a:endParaRPr>
          </a:p>
          <a:p>
            <a:pPr marL="177800" marR="0" lvl="0" indent="-177800" algn="l" defTabSz="711200" rtl="0" eaLnBrk="1" fontAlgn="auto" latinLnBrk="0" hangingPunct="1">
              <a:lnSpc>
                <a:spcPct val="100000"/>
              </a:lnSpc>
              <a:spcAft>
                <a:spcPts val="0"/>
              </a:spcAft>
              <a:buClrTx/>
              <a:buSzTx/>
              <a:buFontTx/>
              <a:buChar char="•"/>
              <a:tabLst/>
              <a:defRPr/>
            </a:pPr>
            <a:r>
              <a:rPr lang="en-US" sz="1200">
                <a:solidFill>
                  <a:srgbClr val="000000"/>
                </a:solidFill>
              </a:rPr>
              <a:t>Aligning companies with similar business models, cost structures, and market conditions helps avoid misleading conclusions that could arise from comparing fundamentally different businesses; hence, e</a:t>
            </a:r>
            <a:r>
              <a:rPr lang="en-US" sz="1200"/>
              <a:t>ffective peer selection is the </a:t>
            </a:r>
            <a:r>
              <a:rPr lang="en-US" sz="1200" b="1"/>
              <a:t>foundation of a meaningful analysis</a:t>
            </a:r>
            <a:endParaRPr lang="en-US" sz="1200">
              <a:solidFill>
                <a:srgbClr val="000000"/>
              </a:solidFill>
            </a:endParaRPr>
          </a:p>
        </p:txBody>
      </p:sp>
      <p:sp>
        <p:nvSpPr>
          <p:cNvPr id="17" name="btfpNumberBubble557534">
            <a:extLst>
              <a:ext uri="{FF2B5EF4-FFF2-40B4-BE49-F238E27FC236}">
                <a16:creationId xmlns:a16="http://schemas.microsoft.com/office/drawing/2014/main" id="{7D0B9F3E-9916-C019-EA3C-F12BCA7ED4F1}"/>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18" name="btfpRunningAgenda1Level747472">
            <a:extLst>
              <a:ext uri="{FF2B5EF4-FFF2-40B4-BE49-F238E27FC236}">
                <a16:creationId xmlns:a16="http://schemas.microsoft.com/office/drawing/2014/main" id="{B384C3AB-16FE-2D44-0F53-9AA4227B1F52}"/>
              </a:ext>
            </a:extLst>
          </p:cNvPr>
          <p:cNvGrpSpPr/>
          <p:nvPr>
            <p:custDataLst>
              <p:tags r:id="rId7"/>
            </p:custDataLst>
          </p:nvPr>
        </p:nvGrpSpPr>
        <p:grpSpPr>
          <a:xfrm>
            <a:off x="-1" y="944429"/>
            <a:ext cx="1833863" cy="257442"/>
            <a:chOff x="-1" y="876300"/>
            <a:chExt cx="1833863" cy="257442"/>
          </a:xfrm>
        </p:grpSpPr>
        <p:sp>
          <p:nvSpPr>
            <p:cNvPr id="42" name="btfpRunningAgenda1LevelBarLeft747472">
              <a:extLst>
                <a:ext uri="{FF2B5EF4-FFF2-40B4-BE49-F238E27FC236}">
                  <a16:creationId xmlns:a16="http://schemas.microsoft.com/office/drawing/2014/main" id="{6FC56061-A41A-0BBE-CC34-189D9F04242A}"/>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3" name="btfpRunningAgenda1LevelTextLeft747472">
              <a:extLst>
                <a:ext uri="{FF2B5EF4-FFF2-40B4-BE49-F238E27FC236}">
                  <a16:creationId xmlns:a16="http://schemas.microsoft.com/office/drawing/2014/main" id="{E439AB01-FF56-6075-94EE-950DFE3B2AC8}"/>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2203290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68618EF8-A430-F3C0-DF21-EDAD88720585}"/>
              </a:ext>
            </a:extLst>
          </p:cNvPr>
          <p:cNvGraphicFramePr>
            <a:graphicFrameLocks/>
          </p:cNvGraphicFramePr>
          <p:nvPr>
            <p:custDataLst>
              <p:tags r:id="rId2"/>
            </p:custDataLst>
            <p:extLst>
              <p:ext uri="{D42A27DB-BD31-4B8C-83A1-F6EECF244321}">
                <p14:modId xmlns:p14="http://schemas.microsoft.com/office/powerpoint/2010/main" val="22045134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1" name="think-cell data - do not delete" hidden="1">
                        <a:extLst>
                          <a:ext uri="{FF2B5EF4-FFF2-40B4-BE49-F238E27FC236}">
                            <a16:creationId xmlns:a16="http://schemas.microsoft.com/office/drawing/2014/main" id="{68618EF8-A430-F3C0-DF21-EDAD8872058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25" name="btfpColumnIndicatorGroup2">
            <a:extLst>
              <a:ext uri="{FF2B5EF4-FFF2-40B4-BE49-F238E27FC236}">
                <a16:creationId xmlns:a16="http://schemas.microsoft.com/office/drawing/2014/main" id="{CEC16C71-83C6-407D-8F90-D5FE8384C74E}"/>
              </a:ext>
            </a:extLst>
          </p:cNvPr>
          <p:cNvGrpSpPr/>
          <p:nvPr/>
        </p:nvGrpSpPr>
        <p:grpSpPr>
          <a:xfrm>
            <a:off x="0" y="6926580"/>
            <a:ext cx="12192000" cy="137160"/>
            <a:chOff x="0" y="6926580"/>
            <a:chExt cx="12192000" cy="137160"/>
          </a:xfrm>
        </p:grpSpPr>
        <p:sp>
          <p:nvSpPr>
            <p:cNvPr id="23" name="btfpColumnGapBlocker552125">
              <a:extLst>
                <a:ext uri="{FF2B5EF4-FFF2-40B4-BE49-F238E27FC236}">
                  <a16:creationId xmlns:a16="http://schemas.microsoft.com/office/drawing/2014/main" id="{D2B4B9F1-32FF-433B-A2A2-16611F09F3E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ColumnGapBlocker368549">
              <a:extLst>
                <a:ext uri="{FF2B5EF4-FFF2-40B4-BE49-F238E27FC236}">
                  <a16:creationId xmlns:a16="http://schemas.microsoft.com/office/drawing/2014/main" id="{2229A227-D0D6-439B-8657-04C9B606842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 name="btfpColumnIndicator665655">
              <a:extLst>
                <a:ext uri="{FF2B5EF4-FFF2-40B4-BE49-F238E27FC236}">
                  <a16:creationId xmlns:a16="http://schemas.microsoft.com/office/drawing/2014/main" id="{0877E8A9-D341-4DD5-9332-06F6EA8861C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9" name="btfpColumnIndicator732246">
              <a:extLst>
                <a:ext uri="{FF2B5EF4-FFF2-40B4-BE49-F238E27FC236}">
                  <a16:creationId xmlns:a16="http://schemas.microsoft.com/office/drawing/2014/main" id="{DDD7BD5F-07F2-4375-BDCF-259AEB60677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24" name="btfpColumnIndicatorGroup1">
            <a:extLst>
              <a:ext uri="{FF2B5EF4-FFF2-40B4-BE49-F238E27FC236}">
                <a16:creationId xmlns:a16="http://schemas.microsoft.com/office/drawing/2014/main" id="{01616773-EEFF-4211-A3F7-A43BA51B6FAB}"/>
              </a:ext>
            </a:extLst>
          </p:cNvPr>
          <p:cNvGrpSpPr/>
          <p:nvPr/>
        </p:nvGrpSpPr>
        <p:grpSpPr>
          <a:xfrm>
            <a:off x="0" y="-205740"/>
            <a:ext cx="12192000" cy="137160"/>
            <a:chOff x="0" y="-205740"/>
            <a:chExt cx="12192000" cy="137160"/>
          </a:xfrm>
        </p:grpSpPr>
        <p:sp>
          <p:nvSpPr>
            <p:cNvPr id="19" name="btfpColumnGapBlocker678915">
              <a:extLst>
                <a:ext uri="{FF2B5EF4-FFF2-40B4-BE49-F238E27FC236}">
                  <a16:creationId xmlns:a16="http://schemas.microsoft.com/office/drawing/2014/main" id="{1439BF0E-74E5-4D1C-A6E6-11FC4A704FE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430105">
              <a:extLst>
                <a:ext uri="{FF2B5EF4-FFF2-40B4-BE49-F238E27FC236}">
                  <a16:creationId xmlns:a16="http://schemas.microsoft.com/office/drawing/2014/main" id="{F8481007-FB58-4E93-84DD-804234EB7F1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 name="btfpColumnIndicator817600">
              <a:extLst>
                <a:ext uri="{FF2B5EF4-FFF2-40B4-BE49-F238E27FC236}">
                  <a16:creationId xmlns:a16="http://schemas.microsoft.com/office/drawing/2014/main" id="{6353729F-1A51-4405-9B02-0D9C0D5E261A}"/>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554198">
              <a:extLst>
                <a:ext uri="{FF2B5EF4-FFF2-40B4-BE49-F238E27FC236}">
                  <a16:creationId xmlns:a16="http://schemas.microsoft.com/office/drawing/2014/main" id="{72FC70F5-418E-4B59-A04C-E4D4EEE6C20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overall_0_132077626006419448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849811881"/>
              </p:ext>
            </p:extLst>
          </p:nvPr>
        </p:nvGraphicFramePr>
        <p:xfrm>
          <a:off x="330200" y="1270000"/>
          <a:ext cx="11526838" cy="4643570"/>
        </p:xfrm>
        <a:graphic>
          <a:graphicData uri="http://schemas.openxmlformats.org/drawingml/2006/table">
            <a:tbl>
              <a:tblPr firstRow="1" firstCol="1">
                <a:tableStyleId>{9D7B26C5-4107-4FEC-AEDC-1716B250A1EF}</a:tableStyleId>
              </a:tblPr>
              <a:tblGrid>
                <a:gridCol w="499725">
                  <a:extLst>
                    <a:ext uri="{9D8B030D-6E8A-4147-A177-3AD203B41FA5}">
                      <a16:colId xmlns:a16="http://schemas.microsoft.com/office/drawing/2014/main" val="3215929653"/>
                    </a:ext>
                  </a:extLst>
                </a:gridCol>
                <a:gridCol w="445019">
                  <a:extLst>
                    <a:ext uri="{9D8B030D-6E8A-4147-A177-3AD203B41FA5}">
                      <a16:colId xmlns:a16="http://schemas.microsoft.com/office/drawing/2014/main" val="3863182739"/>
                    </a:ext>
                  </a:extLst>
                </a:gridCol>
                <a:gridCol w="2930306">
                  <a:extLst>
                    <a:ext uri="{9D8B030D-6E8A-4147-A177-3AD203B41FA5}">
                      <a16:colId xmlns:a16="http://schemas.microsoft.com/office/drawing/2014/main" val="3410592685"/>
                    </a:ext>
                  </a:extLst>
                </a:gridCol>
                <a:gridCol w="5640605">
                  <a:extLst>
                    <a:ext uri="{9D8B030D-6E8A-4147-A177-3AD203B41FA5}">
                      <a16:colId xmlns:a16="http://schemas.microsoft.com/office/drawing/2014/main" val="2818076346"/>
                    </a:ext>
                  </a:extLst>
                </a:gridCol>
                <a:gridCol w="1090459">
                  <a:extLst>
                    <a:ext uri="{9D8B030D-6E8A-4147-A177-3AD203B41FA5}">
                      <a16:colId xmlns:a16="http://schemas.microsoft.com/office/drawing/2014/main" val="3473590596"/>
                    </a:ext>
                  </a:extLst>
                </a:gridCol>
                <a:gridCol w="920724">
                  <a:extLst>
                    <a:ext uri="{9D8B030D-6E8A-4147-A177-3AD203B41FA5}">
                      <a16:colId xmlns:a16="http://schemas.microsoft.com/office/drawing/2014/main" val="3350346648"/>
                    </a:ext>
                  </a:extLst>
                </a:gridCol>
              </a:tblGrid>
              <a:tr h="986157">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Est.</a:t>
                      </a:r>
                      <a:r>
                        <a:rPr lang="en-US" sz="1100" baseline="0"/>
                        <a:t> time allocation</a:t>
                      </a:r>
                      <a:endParaRPr lang="en-US" sz="1100"/>
                    </a:p>
                  </a:txBody>
                  <a:tcPr anchor="b"/>
                </a:tc>
                <a:tc>
                  <a:txBody>
                    <a:bodyPr/>
                    <a:lstStyle/>
                    <a:p>
                      <a:pPr marL="0" indent="0">
                        <a:spcBef>
                          <a:spcPts val="0"/>
                        </a:spcBef>
                        <a:buFontTx/>
                        <a:buNone/>
                      </a:pPr>
                      <a:r>
                        <a:rPr lang="en-US" sz="1100"/>
                        <a:t>Value</a:t>
                      </a:r>
                      <a:r>
                        <a:rPr lang="en-US" sz="1100" baseline="0"/>
                        <a:t> addition</a:t>
                      </a:r>
                      <a:endParaRPr lang="en-US" sz="1100"/>
                    </a:p>
                  </a:txBody>
                  <a:tcPr anchor="b"/>
                </a:tc>
                <a:extLst>
                  <a:ext uri="{0D108BD9-81ED-4DB2-BD59-A6C34878D82A}">
                    <a16:rowId xmlns:a16="http://schemas.microsoft.com/office/drawing/2014/main" val="2276346153"/>
                  </a:ext>
                </a:extLst>
              </a:tr>
              <a:tr h="1685099">
                <a:tc rowSpan="3">
                  <a:txBody>
                    <a:bodyPr/>
                    <a:lstStyle/>
                    <a:p>
                      <a:pPr marL="0" indent="0" algn="ctr">
                        <a:buFontTx/>
                        <a:buNone/>
                      </a:pPr>
                      <a:r>
                        <a:rPr lang="en-US" sz="1100" b="1" i="0" kern="1200">
                          <a:solidFill>
                            <a:schemeClr val="dk1"/>
                          </a:solidFill>
                          <a:latin typeface="+mn-lt"/>
                          <a:ea typeface="+mn-ea"/>
                          <a:cs typeface="+mn-cs"/>
                        </a:rPr>
                        <a:t>Peer Selection Process</a:t>
                      </a:r>
                    </a:p>
                  </a:txBody>
                  <a:tcPr vert="vert270" anchor="ctr">
                    <a:solidFill>
                      <a:schemeClr val="accent4">
                        <a:lumMod val="20000"/>
                        <a:lumOff val="80000"/>
                      </a:schemeClr>
                    </a:solidFill>
                  </a:tcPr>
                </a:tc>
                <a:tc>
                  <a:txBody>
                    <a:bodyPr/>
                    <a:lstStyle/>
                    <a:p>
                      <a:pPr marL="0" indent="0">
                        <a:buFontTx/>
                        <a:buNone/>
                      </a:pPr>
                      <a:endParaRPr lang="en-US" sz="1100"/>
                    </a:p>
                  </a:txBody>
                  <a:tcPr/>
                </a:tc>
                <a:tc>
                  <a:txBody>
                    <a:bodyPr/>
                    <a:lstStyle/>
                    <a:p>
                      <a:pPr marL="0" indent="0">
                        <a:buFontTx/>
                        <a:buNone/>
                      </a:pPr>
                      <a:r>
                        <a:rPr lang="en-US" sz="1100"/>
                        <a:t>Identify peer list</a:t>
                      </a:r>
                    </a:p>
                  </a:txBody>
                  <a:tcPr anchor="ctr"/>
                </a:tc>
                <a:tc>
                  <a:txBody>
                    <a:bodyPr/>
                    <a:lstStyle/>
                    <a:p>
                      <a:pPr marL="0" indent="0">
                        <a:buFontTx/>
                        <a:buNone/>
                      </a:pPr>
                      <a:r>
                        <a:rPr lang="en-US" sz="1100"/>
                        <a:t>Use ChatGPT to generate an initial list of comparable companies based on industry, business model, and financial characteristics; refine selection using </a:t>
                      </a:r>
                      <a:r>
                        <a:rPr lang="en-US" sz="1100" err="1"/>
                        <a:t>CapIQ’s</a:t>
                      </a:r>
                      <a:r>
                        <a:rPr lang="en-US" sz="1100"/>
                        <a:t> Quick Competitor Screen, which leverages company-specific filters to identify relevant publicly listed peers</a:t>
                      </a:r>
                    </a:p>
                  </a:txBody>
                  <a:tcPr anchor="ctr"/>
                </a:tc>
                <a:tc>
                  <a:txBody>
                    <a:bodyPr/>
                    <a:lstStyle/>
                    <a:p>
                      <a:pPr marL="0" indent="0">
                        <a:buFontTx/>
                        <a:buNone/>
                      </a:pPr>
                      <a:r>
                        <a:rPr lang="en-US" sz="1100"/>
                        <a:t>1 hour</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8"/>
                        </a:buBlip>
                      </a:pPr>
                      <a:r>
                        <a:rPr lang="en-US" sz="1100" baseline="0"/>
                        <a:t> </a:t>
                      </a:r>
                    </a:p>
                  </a:txBody>
                  <a:tcPr anchor="ctr"/>
                </a:tc>
                <a:extLst>
                  <a:ext uri="{0D108BD9-81ED-4DB2-BD59-A6C34878D82A}">
                    <a16:rowId xmlns:a16="http://schemas.microsoft.com/office/drawing/2014/main" val="661190020"/>
                  </a:ext>
                </a:extLst>
              </a:tr>
              <a:tr h="986157">
                <a:tc vMerge="1">
                  <a:txBody>
                    <a:bodyPr/>
                    <a:lstStyle/>
                    <a:p>
                      <a:endParaRPr/>
                    </a:p>
                  </a:txBody>
                  <a:tcPr vert="vert270">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Audit peer list</a:t>
                      </a:r>
                    </a:p>
                  </a:txBody>
                  <a:tcPr anchor="ctr"/>
                </a:tc>
                <a:tc>
                  <a:txBody>
                    <a:bodyPr/>
                    <a:lstStyle/>
                    <a:p>
                      <a:pPr marL="0" indent="0">
                        <a:buFontTx/>
                        <a:buNone/>
                      </a:pPr>
                      <a:r>
                        <a:rPr lang="en-US" sz="1100"/>
                        <a:t>Validate peer comparability through financial reporting structures and business unit alignment using earnings reports and </a:t>
                      </a:r>
                      <a:r>
                        <a:rPr lang="en-US" sz="1100" err="1"/>
                        <a:t>CapIQ’s</a:t>
                      </a:r>
                      <a:r>
                        <a:rPr lang="en-US" sz="1100"/>
                        <a:t> ‘Segments’ screen</a:t>
                      </a:r>
                    </a:p>
                  </a:txBody>
                  <a:tcPr anchor="ctr"/>
                </a:tc>
                <a:tc>
                  <a:txBody>
                    <a:bodyPr/>
                    <a:lstStyle/>
                    <a:p>
                      <a:pPr marL="0" indent="0">
                        <a:buFontTx/>
                        <a:buNone/>
                      </a:pPr>
                      <a:r>
                        <a:rPr lang="en-US" sz="1100"/>
                        <a:t>1 hour</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1960213926"/>
                  </a:ext>
                </a:extLst>
              </a:tr>
              <a:tr h="986157">
                <a:tc vMerge="1">
                  <a:txBody>
                    <a:bodyPr/>
                    <a:lstStyle/>
                    <a:p>
                      <a:pPr marL="0" indent="0">
                        <a:buFontTx/>
                        <a:buNone/>
                      </a:pPr>
                      <a:endParaRPr lang="en-US" sz="1100"/>
                    </a:p>
                  </a:txBody>
                  <a:tcP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Share peer list with account team</a:t>
                      </a:r>
                    </a:p>
                  </a:txBody>
                  <a:tcPr anchor="ctr"/>
                </a:tc>
                <a:tc>
                  <a:txBody>
                    <a:bodyPr/>
                    <a:lstStyle/>
                    <a:p>
                      <a:pPr marL="0" indent="0">
                        <a:buFontTx/>
                        <a:buNone/>
                      </a:pPr>
                      <a:r>
                        <a:rPr lang="en-US" sz="1100"/>
                        <a:t>Share the peer list with the account team, aligning on selection criteria and incorporating feedback to ensure relevance before proceeding; sometimes, an Excel spreadsheet is shared to highlight details on peer alignment and comparability with the target</a:t>
                      </a:r>
                    </a:p>
                  </a:txBody>
                  <a:tcPr anchor="ctr"/>
                </a:tc>
                <a:tc>
                  <a:txBody>
                    <a:bodyPr/>
                    <a:lstStyle/>
                    <a:p>
                      <a:pPr marL="0" indent="0">
                        <a:buFontTx/>
                        <a:buNone/>
                      </a:pPr>
                      <a:r>
                        <a:rPr lang="en-US" sz="1100"/>
                        <a:t>10 minutes</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3471228904"/>
                  </a:ext>
                </a:extLst>
              </a:tr>
            </a:tbl>
          </a:graphicData>
        </a:graphic>
      </p:graphicFrame>
      <p:sp>
        <p:nvSpPr>
          <p:cNvPr id="15" name="Rectangle 14"/>
          <p:cNvSpPr/>
          <p:nvPr/>
        </p:nvSpPr>
        <p:spPr bwMode="gray">
          <a:xfrm>
            <a:off x="54999" y="2214880"/>
            <a:ext cx="267789" cy="369869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1: </a:t>
            </a:r>
            <a:r>
              <a:rPr lang="en-US" sz="1100" b="1" i="1">
                <a:solidFill>
                  <a:schemeClr val="accent3"/>
                </a:solidFill>
              </a:rPr>
              <a:t>Peer Selection</a:t>
            </a:r>
          </a:p>
        </p:txBody>
      </p:sp>
      <p:sp>
        <p:nvSpPr>
          <p:cNvPr id="16" name="btfpNumberBubble266422"/>
          <p:cNvSpPr/>
          <p:nvPr/>
        </p:nvSpPr>
        <p:spPr bwMode="gray">
          <a:xfrm>
            <a:off x="913955" y="2987296"/>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1a</a:t>
            </a:r>
          </a:p>
        </p:txBody>
      </p:sp>
      <p:sp>
        <p:nvSpPr>
          <p:cNvPr id="17" name="btfpNumberBubble266422"/>
          <p:cNvSpPr/>
          <p:nvPr/>
        </p:nvSpPr>
        <p:spPr bwMode="gray">
          <a:xfrm>
            <a:off x="920445" y="4305886"/>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1b</a:t>
            </a:r>
          </a:p>
        </p:txBody>
      </p:sp>
      <p:sp>
        <p:nvSpPr>
          <p:cNvPr id="18" name="btfpNumberBubble266422"/>
          <p:cNvSpPr/>
          <p:nvPr/>
        </p:nvSpPr>
        <p:spPr bwMode="gray">
          <a:xfrm>
            <a:off x="920445" y="5297048"/>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1c</a:t>
            </a:r>
          </a:p>
        </p:txBody>
      </p:sp>
      <p:sp>
        <p:nvSpPr>
          <p:cNvPr id="26" name="btfpNumberBubble557534">
            <a:extLst>
              <a:ext uri="{FF2B5EF4-FFF2-40B4-BE49-F238E27FC236}">
                <a16:creationId xmlns:a16="http://schemas.microsoft.com/office/drawing/2014/main" id="{21F8EC67-4993-FA32-AB72-A0D0677BACAA}"/>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sp>
        <p:nvSpPr>
          <p:cNvPr id="27" name="Rectangle 26">
            <a:extLst>
              <a:ext uri="{FF2B5EF4-FFF2-40B4-BE49-F238E27FC236}">
                <a16:creationId xmlns:a16="http://schemas.microsoft.com/office/drawing/2014/main" id="{99326489-B433-5821-61BB-23489ED96935}"/>
              </a:ext>
            </a:extLst>
          </p:cNvPr>
          <p:cNvSpPr/>
          <p:nvPr/>
        </p:nvSpPr>
        <p:spPr bwMode="gray">
          <a:xfrm>
            <a:off x="1899138" y="943244"/>
            <a:ext cx="9962662" cy="257442"/>
          </a:xfrm>
          <a:prstGeom prst="rect">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sz="1200" b="1">
                <a:solidFill>
                  <a:schemeClr val="tx1"/>
                </a:solidFill>
              </a:rPr>
              <a:t>Note: </a:t>
            </a:r>
            <a:r>
              <a:rPr lang="en-US" sz="1200">
                <a:solidFill>
                  <a:schemeClr val="tx1"/>
                </a:solidFill>
              </a:rPr>
              <a:t>This stage is only performed when the account team does not have a peer list in mind, and is generally completed by the OI team managers </a:t>
            </a:r>
            <a:endParaRPr lang="en-US" sz="1200" b="1">
              <a:solidFill>
                <a:schemeClr val="tx1"/>
              </a:solidFill>
            </a:endParaRPr>
          </a:p>
        </p:txBody>
      </p:sp>
      <p:grpSp>
        <p:nvGrpSpPr>
          <p:cNvPr id="28" name="btfpRunningAgenda1Level747472">
            <a:extLst>
              <a:ext uri="{FF2B5EF4-FFF2-40B4-BE49-F238E27FC236}">
                <a16:creationId xmlns:a16="http://schemas.microsoft.com/office/drawing/2014/main" id="{84883570-8122-E3FE-4258-2AE0A80F5F85}"/>
              </a:ext>
            </a:extLst>
          </p:cNvPr>
          <p:cNvGrpSpPr/>
          <p:nvPr>
            <p:custDataLst>
              <p:tags r:id="rId4"/>
            </p:custDataLst>
          </p:nvPr>
        </p:nvGrpSpPr>
        <p:grpSpPr>
          <a:xfrm>
            <a:off x="-1" y="944429"/>
            <a:ext cx="1833863" cy="257442"/>
            <a:chOff x="-1" y="876300"/>
            <a:chExt cx="1833863" cy="257442"/>
          </a:xfrm>
        </p:grpSpPr>
        <p:sp>
          <p:nvSpPr>
            <p:cNvPr id="29" name="btfpRunningAgenda1LevelBarLeft747472">
              <a:extLst>
                <a:ext uri="{FF2B5EF4-FFF2-40B4-BE49-F238E27FC236}">
                  <a16:creationId xmlns:a16="http://schemas.microsoft.com/office/drawing/2014/main" id="{1604B108-8F99-C130-F7E6-16B79F3082D7}"/>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0" name="btfpRunningAgenda1LevelTextLeft747472">
              <a:extLst>
                <a:ext uri="{FF2B5EF4-FFF2-40B4-BE49-F238E27FC236}">
                  <a16:creationId xmlns:a16="http://schemas.microsoft.com/office/drawing/2014/main" id="{88DCCA72-BC2F-B6B4-723C-7310E6D109BD}"/>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1754922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4213626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Process Breakdown (1/2)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690814350"/>
              </p:ext>
            </p:extLst>
          </p:nvPr>
        </p:nvGraphicFramePr>
        <p:xfrm>
          <a:off x="325472" y="1610899"/>
          <a:ext cx="11531601" cy="2499360"/>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509648">
                  <a:extLst>
                    <a:ext uri="{9D8B030D-6E8A-4147-A177-3AD203B41FA5}">
                      <a16:colId xmlns:a16="http://schemas.microsoft.com/office/drawing/2014/main" val="3410592685"/>
                    </a:ext>
                  </a:extLst>
                </a:gridCol>
                <a:gridCol w="4913472">
                  <a:extLst>
                    <a:ext uri="{9D8B030D-6E8A-4147-A177-3AD203B41FA5}">
                      <a16:colId xmlns:a16="http://schemas.microsoft.com/office/drawing/2014/main" val="2818076346"/>
                    </a:ext>
                  </a:extLst>
                </a:gridCol>
                <a:gridCol w="4739663">
                  <a:extLst>
                    <a:ext uri="{9D8B030D-6E8A-4147-A177-3AD203B41FA5}">
                      <a16:colId xmlns:a16="http://schemas.microsoft.com/office/drawing/2014/main" val="3050331554"/>
                    </a:ext>
                  </a:extLst>
                </a:gridCol>
              </a:tblGrid>
              <a:tr h="152686">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CIQ’s Competitor Screen for PepsiCo shows a large list of peers</a:t>
                      </a:r>
                    </a:p>
                  </a:txBody>
                  <a:tcPr anchor="b"/>
                </a:tc>
                <a:extLst>
                  <a:ext uri="{0D108BD9-81ED-4DB2-BD59-A6C34878D82A}">
                    <a16:rowId xmlns:a16="http://schemas.microsoft.com/office/drawing/2014/main" val="2276346153"/>
                  </a:ext>
                </a:extLst>
              </a:tr>
              <a:tr h="1318066">
                <a:tc>
                  <a:txBody>
                    <a:bodyPr/>
                    <a:lstStyle/>
                    <a:p>
                      <a:pPr marL="0" indent="0" algn="ctr">
                        <a:buFontTx/>
                        <a:buNone/>
                      </a:pPr>
                      <a:r>
                        <a:rPr lang="en-US" sz="1100"/>
                        <a:t>STEP 1</a:t>
                      </a:r>
                    </a:p>
                  </a:txBody>
                  <a:tcPr vert="vert270" anchor="ctr">
                    <a:solidFill>
                      <a:schemeClr val="accent4">
                        <a:lumMod val="20000"/>
                        <a:lumOff val="80000"/>
                      </a:schemeClr>
                    </a:solidFill>
                  </a:tcPr>
                </a:tc>
                <a:tc>
                  <a:txBody>
                    <a:bodyPr/>
                    <a:lstStyle/>
                    <a:p>
                      <a:pPr marL="0" indent="0">
                        <a:buFontTx/>
                        <a:buNone/>
                      </a:pPr>
                      <a:r>
                        <a:rPr lang="en-US" sz="1100"/>
                        <a:t>Identify list of peers</a:t>
                      </a:r>
                    </a:p>
                  </a:txBody>
                  <a:tcPr anchor="ctr"/>
                </a:tc>
                <a:tc>
                  <a:txBody>
                    <a:bodyPr/>
                    <a:lstStyle/>
                    <a:p>
                      <a:pPr marL="177800" indent="-177800">
                        <a:spcBef>
                          <a:spcPts val="1200"/>
                        </a:spcBef>
                      </a:pPr>
                      <a:r>
                        <a:rPr lang="en-US" sz="1100" b="1"/>
                        <a:t>ChatGPT</a:t>
                      </a:r>
                      <a:r>
                        <a:rPr lang="en-US" sz="1100"/>
                        <a:t> can be used to generate </a:t>
                      </a:r>
                      <a:r>
                        <a:rPr lang="en-US" sz="1100" b="1"/>
                        <a:t>an initial list of comparable companies</a:t>
                      </a:r>
                      <a:r>
                        <a:rPr lang="en-US" sz="1100"/>
                        <a:t> based on industry, business model, and financial characteristics, providing a starting point for peer selection</a:t>
                      </a:r>
                    </a:p>
                    <a:p>
                      <a:pPr marL="177800" indent="-177800">
                        <a:spcBef>
                          <a:spcPts val="1200"/>
                        </a:spcBef>
                      </a:pPr>
                      <a:r>
                        <a:rPr lang="en-US" sz="1100" b="1"/>
                        <a:t>CapIQ’s Quick Competitor Screen </a:t>
                      </a:r>
                      <a:r>
                        <a:rPr lang="en-US" sz="1100"/>
                        <a:t>allows for </a:t>
                      </a:r>
                      <a:r>
                        <a:rPr lang="en-US" sz="1100" b="1"/>
                        <a:t>data-driven peer selection</a:t>
                      </a:r>
                      <a:r>
                        <a:rPr lang="en-US" sz="1100"/>
                        <a:t>, leveraging financial metrics, industry classifications, and filters to identify relevant peers with publicly available data</a:t>
                      </a:r>
                    </a:p>
                    <a:p>
                      <a:pPr>
                        <a:spcBef>
                          <a:spcPts val="1200"/>
                        </a:spcBef>
                        <a:defRPr/>
                      </a:pPr>
                      <a:r>
                        <a:rPr lang="en-US" sz="1100" kern="1200" noProof="0">
                          <a:solidFill>
                            <a:schemeClr val="dk1"/>
                          </a:solidFill>
                          <a:latin typeface="+mn-lt"/>
                          <a:ea typeface="+mn-ea"/>
                          <a:cs typeface="+mn-cs"/>
                        </a:rPr>
                        <a:t>Look at </a:t>
                      </a:r>
                      <a:r>
                        <a:rPr lang="en-US" sz="1100" b="1" kern="1200" noProof="0">
                          <a:solidFill>
                            <a:schemeClr val="dk1"/>
                          </a:solidFill>
                          <a:latin typeface="+mn-lt"/>
                          <a:ea typeface="+mn-ea"/>
                          <a:cs typeface="+mn-cs"/>
                        </a:rPr>
                        <a:t>10-K, </a:t>
                      </a:r>
                      <a:r>
                        <a:rPr lang="en-US" sz="1100" kern="1200" noProof="0">
                          <a:solidFill>
                            <a:schemeClr val="dk1"/>
                          </a:solidFill>
                          <a:latin typeface="+mn-lt"/>
                          <a:ea typeface="+mn-ea"/>
                          <a:cs typeface="+mn-cs"/>
                        </a:rPr>
                        <a:t>DB Hoovers, Analyst Reports (Thomson Reuters), Seeking Alpha, and/or Google; </a:t>
                      </a:r>
                      <a:r>
                        <a:rPr lang="en-US" sz="1100" b="1" kern="1200" noProof="0">
                          <a:solidFill>
                            <a:schemeClr val="dk1"/>
                          </a:solidFill>
                          <a:latin typeface="+mn-lt"/>
                          <a:ea typeface="+mn-ea"/>
                          <a:cs typeface="+mn-cs"/>
                        </a:rPr>
                        <a:t>reading the upfront portion </a:t>
                      </a:r>
                      <a:r>
                        <a:rPr lang="en-US" sz="1100" kern="1200" noProof="0">
                          <a:solidFill>
                            <a:schemeClr val="dk1"/>
                          </a:solidFill>
                          <a:latin typeface="+mn-lt"/>
                          <a:ea typeface="+mn-ea"/>
                          <a:cs typeface="+mn-cs"/>
                        </a:rPr>
                        <a:t>of an Annual report / 10-K (public company’s annual filing with the SEC) is </a:t>
                      </a:r>
                      <a:r>
                        <a:rPr lang="en-US" sz="1100" b="1" kern="1200" noProof="0">
                          <a:solidFill>
                            <a:schemeClr val="dk1"/>
                          </a:solidFill>
                          <a:latin typeface="+mn-lt"/>
                          <a:ea typeface="+mn-ea"/>
                          <a:cs typeface="+mn-cs"/>
                        </a:rPr>
                        <a:t>helpful to understand</a:t>
                      </a:r>
                      <a:r>
                        <a:rPr lang="en-US" sz="1100" kern="1200" noProof="0">
                          <a:solidFill>
                            <a:schemeClr val="dk1"/>
                          </a:solidFill>
                          <a:latin typeface="+mn-lt"/>
                          <a:ea typeface="+mn-ea"/>
                          <a:cs typeface="+mn-cs"/>
                        </a:rPr>
                        <a:t> each peer’s product and business model</a:t>
                      </a:r>
                    </a:p>
                    <a:p>
                      <a:pPr marL="177800" indent="-177800">
                        <a:spcBef>
                          <a:spcPts val="0"/>
                        </a:spcBef>
                      </a:pPr>
                      <a:endParaRPr lang="en-US" sz="1100"/>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49" name="Picture 48">
            <a:extLst>
              <a:ext uri="{FF2B5EF4-FFF2-40B4-BE49-F238E27FC236}">
                <a16:creationId xmlns:a16="http://schemas.microsoft.com/office/drawing/2014/main" id="{F932522E-34D8-56A7-D780-8F96793BD123}"/>
              </a:ext>
            </a:extLst>
          </p:cNvPr>
          <p:cNvPicPr>
            <a:picLocks noChangeAspect="1"/>
          </p:cNvPicPr>
          <p:nvPr/>
        </p:nvPicPr>
        <p:blipFill>
          <a:blip r:embed="rId11"/>
          <a:srcRect l="-12" t="10001"/>
          <a:stretch/>
        </p:blipFill>
        <p:spPr>
          <a:xfrm>
            <a:off x="7026051" y="2067996"/>
            <a:ext cx="4714036" cy="1781048"/>
          </a:xfrm>
          <a:prstGeom prst="rect">
            <a:avLst/>
          </a:prstGeom>
        </p:spPr>
      </p:pic>
      <p:graphicFrame>
        <p:nvGraphicFramePr>
          <p:cNvPr id="66" name="btfpTable410507">
            <a:extLst>
              <a:ext uri="{FF2B5EF4-FFF2-40B4-BE49-F238E27FC236}">
                <a16:creationId xmlns:a16="http://schemas.microsoft.com/office/drawing/2014/main" id="{BE99993A-7DDC-3FF1-C6C5-2C3A4AA222DE}"/>
              </a:ext>
            </a:extLst>
          </p:cNvPr>
          <p:cNvGraphicFramePr>
            <a:graphicFrameLocks noGrp="1"/>
          </p:cNvGraphicFramePr>
          <p:nvPr>
            <p:custDataLst>
              <p:tags r:id="rId5"/>
            </p:custDataLst>
            <p:extLst>
              <p:ext uri="{D42A27DB-BD31-4B8C-83A1-F6EECF244321}">
                <p14:modId xmlns:p14="http://schemas.microsoft.com/office/powerpoint/2010/main" val="3668932870"/>
              </p:ext>
            </p:extLst>
          </p:nvPr>
        </p:nvGraphicFramePr>
        <p:xfrm>
          <a:off x="334963" y="3849044"/>
          <a:ext cx="11531601" cy="2667000"/>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484527">
                  <a:extLst>
                    <a:ext uri="{9D8B030D-6E8A-4147-A177-3AD203B41FA5}">
                      <a16:colId xmlns:a16="http://schemas.microsoft.com/office/drawing/2014/main" val="3410592685"/>
                    </a:ext>
                  </a:extLst>
                </a:gridCol>
                <a:gridCol w="4938593">
                  <a:extLst>
                    <a:ext uri="{9D8B030D-6E8A-4147-A177-3AD203B41FA5}">
                      <a16:colId xmlns:a16="http://schemas.microsoft.com/office/drawing/2014/main" val="2818076346"/>
                    </a:ext>
                  </a:extLst>
                </a:gridCol>
                <a:gridCol w="4739663">
                  <a:extLst>
                    <a:ext uri="{9D8B030D-6E8A-4147-A177-3AD203B41FA5}">
                      <a16:colId xmlns:a16="http://schemas.microsoft.com/office/drawing/2014/main" val="3050331554"/>
                    </a:ext>
                  </a:extLst>
                </a:gridCol>
              </a:tblGrid>
              <a:tr h="152628">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solidFill>
                          <a:srgbClr val="C00000"/>
                        </a:solidFill>
                      </a:endParaRPr>
                    </a:p>
                  </a:txBody>
                  <a:tcPr anchor="b"/>
                </a:tc>
                <a:tc>
                  <a:txBody>
                    <a:bodyPr/>
                    <a:lstStyle/>
                    <a:p>
                      <a:pPr marL="0" indent="0">
                        <a:spcBef>
                          <a:spcPts val="0"/>
                        </a:spcBef>
                        <a:buNone/>
                      </a:pPr>
                      <a:r>
                        <a:rPr lang="en-US" sz="1100" b="1">
                          <a:solidFill>
                            <a:srgbClr val="C00000"/>
                          </a:solidFill>
                        </a:rPr>
                        <a:t>CIQ’s Segment section for PepsiCo shows its operating BUs </a:t>
                      </a:r>
                    </a:p>
                  </a:txBody>
                  <a:tcPr anchor="b"/>
                </a:tc>
                <a:extLst>
                  <a:ext uri="{0D108BD9-81ED-4DB2-BD59-A6C34878D82A}">
                    <a16:rowId xmlns:a16="http://schemas.microsoft.com/office/drawing/2014/main" val="2276346153"/>
                  </a:ext>
                </a:extLst>
              </a:tr>
              <a:tr h="1517297">
                <a:tc>
                  <a:txBody>
                    <a:bodyPr/>
                    <a:lstStyle/>
                    <a:p>
                      <a:pPr marL="0" indent="0" algn="ctr">
                        <a:buFontTx/>
                        <a:buNone/>
                      </a:pPr>
                      <a:r>
                        <a:rPr lang="en-US" sz="1100"/>
                        <a:t>STEP 2</a:t>
                      </a:r>
                    </a:p>
                  </a:txBody>
                  <a:tcPr vert="vert270" anchor="ctr">
                    <a:solidFill>
                      <a:schemeClr val="accent4">
                        <a:lumMod val="20000"/>
                        <a:lumOff val="8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Audit Peer List</a:t>
                      </a:r>
                    </a:p>
                  </a:txBody>
                  <a:tcPr anchor="ctr"/>
                </a:tc>
                <a:tc>
                  <a:txBody>
                    <a:bodyPr/>
                    <a:lstStyle/>
                    <a:p>
                      <a:pPr marL="177800" indent="-177800"/>
                      <a:r>
                        <a:rPr lang="en-US" sz="1100"/>
                        <a:t>Verify that peers have comparable </a:t>
                      </a:r>
                      <a:r>
                        <a:rPr lang="en-US" sz="1100" b="1"/>
                        <a:t>financial reporting structures to the target</a:t>
                      </a:r>
                      <a:r>
                        <a:rPr lang="en-US" sz="1100" b="0"/>
                        <a:t>; this can be done by visiting each peer’s latest earnings report to validate which line items are listed in the income statement and by analyzing the contribution of each cost bucket to total expenses</a:t>
                      </a:r>
                      <a:endParaRPr lang="en-US" sz="1100"/>
                    </a:p>
                    <a:p>
                      <a:pPr marL="177800" indent="-177800"/>
                      <a:r>
                        <a:rPr lang="en-US" sz="1100"/>
                        <a:t>For large and diversified companies, assess whether their </a:t>
                      </a:r>
                      <a:r>
                        <a:rPr lang="en-US" sz="1100" b="1"/>
                        <a:t>business units (BU) are comparable</a:t>
                      </a:r>
                      <a:r>
                        <a:rPr lang="en-US" sz="1100"/>
                        <a:t> by evaluating the </a:t>
                      </a:r>
                      <a:r>
                        <a:rPr lang="en-US" sz="1100" b="1"/>
                        <a:t>operational aspects of each company </a:t>
                      </a:r>
                      <a:r>
                        <a:rPr lang="en-US" sz="1100" b="0"/>
                        <a:t>- </a:t>
                      </a:r>
                      <a:r>
                        <a:rPr lang="en-US" sz="1100"/>
                        <a:t>ensuring alignment in functions and market positioning. This can be done using CIQ’s ‘Segments’ screen</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In certain scenarios, it is necessary to </a:t>
                      </a:r>
                      <a:r>
                        <a:rPr lang="en-US" sz="1100" b="1"/>
                        <a:t>analyze specific BUs</a:t>
                      </a:r>
                      <a:r>
                        <a:rPr lang="en-US" sz="1100"/>
                        <a:t> instead of the entire company; in these situations, it is important to </a:t>
                      </a:r>
                      <a:r>
                        <a:rPr lang="en-US" sz="1100" b="1"/>
                        <a:t>confirm that companies release BU data with sufficient granularity </a:t>
                      </a:r>
                      <a:r>
                        <a:rPr lang="en-US" sz="1100" b="0"/>
                        <a:t>(i.e., with data on lower-level cost benchmarks) and that peer BUs are truly comparable</a:t>
                      </a:r>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43" name="Picture 42">
            <a:extLst>
              <a:ext uri="{FF2B5EF4-FFF2-40B4-BE49-F238E27FC236}">
                <a16:creationId xmlns:a16="http://schemas.microsoft.com/office/drawing/2014/main" id="{F04E3AC2-30A1-6F20-1258-EA0551FDC911}"/>
              </a:ext>
            </a:extLst>
          </p:cNvPr>
          <p:cNvPicPr>
            <a:picLocks noChangeAspect="1"/>
          </p:cNvPicPr>
          <p:nvPr/>
        </p:nvPicPr>
        <p:blipFill>
          <a:blip r:embed="rId12"/>
          <a:srcRect l="68" t="13323"/>
          <a:stretch/>
        </p:blipFill>
        <p:spPr>
          <a:xfrm>
            <a:off x="7070766" y="4349153"/>
            <a:ext cx="4624606" cy="2058795"/>
          </a:xfrm>
          <a:prstGeom prst="rect">
            <a:avLst/>
          </a:prstGeom>
        </p:spPr>
      </p:pic>
      <p:sp>
        <p:nvSpPr>
          <p:cNvPr id="6" name="btfpNumberBubble266422">
            <a:extLst>
              <a:ext uri="{FF2B5EF4-FFF2-40B4-BE49-F238E27FC236}">
                <a16:creationId xmlns:a16="http://schemas.microsoft.com/office/drawing/2014/main" id="{BE414F54-BAC5-DC06-FBD9-13C785073A37}"/>
              </a:ext>
            </a:extLst>
          </p:cNvPr>
          <p:cNvSpPr/>
          <p:nvPr/>
        </p:nvSpPr>
        <p:spPr bwMode="gray">
          <a:xfrm>
            <a:off x="1111630" y="2561062"/>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1a</a:t>
            </a:r>
          </a:p>
        </p:txBody>
      </p:sp>
      <p:sp>
        <p:nvSpPr>
          <p:cNvPr id="7" name="btfpNumberBubble266422">
            <a:extLst>
              <a:ext uri="{FF2B5EF4-FFF2-40B4-BE49-F238E27FC236}">
                <a16:creationId xmlns:a16="http://schemas.microsoft.com/office/drawing/2014/main" id="{C00ADACC-768D-B6CB-E4C0-80B4C2853BDA}"/>
              </a:ext>
            </a:extLst>
          </p:cNvPr>
          <p:cNvSpPr/>
          <p:nvPr/>
        </p:nvSpPr>
        <p:spPr bwMode="gray">
          <a:xfrm>
            <a:off x="1111630" y="4864343"/>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1b</a:t>
            </a:r>
          </a:p>
        </p:txBody>
      </p:sp>
      <p:sp>
        <p:nvSpPr>
          <p:cNvPr id="13" name="btfpNumberBubble557534">
            <a:extLst>
              <a:ext uri="{FF2B5EF4-FFF2-40B4-BE49-F238E27FC236}">
                <a16:creationId xmlns:a16="http://schemas.microsoft.com/office/drawing/2014/main" id="{D9CB925C-18BC-122B-805A-2CF0BEE92250}"/>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15" name="btfpRunningAgenda1Level747472">
            <a:extLst>
              <a:ext uri="{FF2B5EF4-FFF2-40B4-BE49-F238E27FC236}">
                <a16:creationId xmlns:a16="http://schemas.microsoft.com/office/drawing/2014/main" id="{373EE4B9-8964-3C59-81FA-6230A7D09A7C}"/>
              </a:ext>
            </a:extLst>
          </p:cNvPr>
          <p:cNvGrpSpPr/>
          <p:nvPr>
            <p:custDataLst>
              <p:tags r:id="rId6"/>
            </p:custDataLst>
          </p:nvPr>
        </p:nvGrpSpPr>
        <p:grpSpPr>
          <a:xfrm>
            <a:off x="-1" y="944429"/>
            <a:ext cx="1833863" cy="257442"/>
            <a:chOff x="-1" y="876300"/>
            <a:chExt cx="1833863" cy="257442"/>
          </a:xfrm>
        </p:grpSpPr>
        <p:sp>
          <p:nvSpPr>
            <p:cNvPr id="16" name="btfpRunningAgenda1LevelBarLeft747472">
              <a:extLst>
                <a:ext uri="{FF2B5EF4-FFF2-40B4-BE49-F238E27FC236}">
                  <a16:creationId xmlns:a16="http://schemas.microsoft.com/office/drawing/2014/main" id="{F8A2304E-F491-9870-A848-48949F3F0080}"/>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7D7A187-4F7C-491B-BADF-A38DC4A8B957}"/>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2587976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2976287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Process Breakdown (2/2)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821670068"/>
              </p:ext>
            </p:extLst>
          </p:nvPr>
        </p:nvGraphicFramePr>
        <p:xfrm>
          <a:off x="408598" y="1610644"/>
          <a:ext cx="11296403" cy="3824733"/>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44574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A sample email sent to the account team finalizing the peer set for Valero’s OI</a:t>
                      </a:r>
                    </a:p>
                  </a:txBody>
                  <a:tcPr anchor="b"/>
                </a:tc>
                <a:extLst>
                  <a:ext uri="{0D108BD9-81ED-4DB2-BD59-A6C34878D82A}">
                    <a16:rowId xmlns:a16="http://schemas.microsoft.com/office/drawing/2014/main" val="2276346153"/>
                  </a:ext>
                </a:extLst>
              </a:tr>
              <a:tr h="3378991">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3</a:t>
                      </a:r>
                    </a:p>
                  </a:txBody>
                  <a:tcPr vert="vert270" anchor="ctr">
                    <a:solidFill>
                      <a:schemeClr val="accent4">
                        <a:lumMod val="20000"/>
                        <a:lumOff val="8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Share peer list with Account Team</a:t>
                      </a:r>
                    </a:p>
                  </a:txBody>
                  <a:tcPr anchor="ctr"/>
                </a:tc>
                <a:tc>
                  <a:txBody>
                    <a:bodyPr/>
                    <a:lstStyle/>
                    <a:p>
                      <a:r>
                        <a:rPr lang="en-US" sz="1100"/>
                        <a:t>Share the peer list with the </a:t>
                      </a:r>
                      <a:r>
                        <a:rPr lang="en-US" sz="1100" b="1"/>
                        <a:t>account team</a:t>
                      </a:r>
                      <a:r>
                        <a:rPr lang="en-US" sz="1100"/>
                        <a:t>, explaining the </a:t>
                      </a:r>
                      <a:r>
                        <a:rPr lang="en-US" sz="1100" b="1"/>
                        <a:t>selection criteria and noting any limitations in comparability</a:t>
                      </a:r>
                    </a:p>
                    <a:p>
                      <a:r>
                        <a:rPr lang="en-US" sz="1100" b="0"/>
                        <a:t>Sometimes, it is helpful to share an </a:t>
                      </a:r>
                      <a:r>
                        <a:rPr lang="en-US" sz="1100" b="1"/>
                        <a:t>Excel spreadsheet that details insights on how peers align to the selection criteria </a:t>
                      </a:r>
                      <a:r>
                        <a:rPr lang="en-US" sz="1100" b="0"/>
                        <a:t>(including any notes on comparability limitations)</a:t>
                      </a:r>
                      <a:endParaRPr lang="en-US" sz="1100"/>
                    </a:p>
                    <a:p>
                      <a:r>
                        <a:rPr lang="en-US" sz="1100"/>
                        <a:t>The account team’s feedback will help ensure the peer set is </a:t>
                      </a:r>
                      <a:r>
                        <a:rPr lang="en-US" sz="1100" b="1"/>
                        <a:t>accurate and relevant</a:t>
                      </a:r>
                      <a:r>
                        <a:rPr lang="en-US" sz="1100"/>
                        <a:t> before proceeding with the analysis</a:t>
                      </a:r>
                    </a:p>
                    <a:p>
                      <a:pPr marL="0" indent="0">
                        <a:buFontTx/>
                        <a:buNone/>
                      </a:pPr>
                      <a:endParaRPr lang="en-US" sz="1100"/>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stretch>
            <a:fillRect/>
          </a:stretch>
        </p:blipFill>
        <p:spPr>
          <a:xfrm>
            <a:off x="4920792" y="2250177"/>
            <a:ext cx="6784209" cy="3133353"/>
          </a:xfrm>
          <a:prstGeom prst="rect">
            <a:avLst/>
          </a:prstGeom>
        </p:spPr>
      </p:pic>
      <p:sp>
        <p:nvSpPr>
          <p:cNvPr id="5" name="btfpNumberBubble266422">
            <a:extLst>
              <a:ext uri="{FF2B5EF4-FFF2-40B4-BE49-F238E27FC236}">
                <a16:creationId xmlns:a16="http://schemas.microsoft.com/office/drawing/2014/main" id="{BB375876-E178-28D4-E8A2-92B5138BA6BE}"/>
              </a:ext>
            </a:extLst>
          </p:cNvPr>
          <p:cNvSpPr/>
          <p:nvPr/>
        </p:nvSpPr>
        <p:spPr bwMode="gray">
          <a:xfrm>
            <a:off x="1359280" y="3154680"/>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46647B"/>
                </a:solidFill>
              </a:rPr>
              <a:t>1c</a:t>
            </a:r>
          </a:p>
        </p:txBody>
      </p:sp>
      <p:sp>
        <p:nvSpPr>
          <p:cNvPr id="6" name="btfpNumberBubble557534">
            <a:extLst>
              <a:ext uri="{FF2B5EF4-FFF2-40B4-BE49-F238E27FC236}">
                <a16:creationId xmlns:a16="http://schemas.microsoft.com/office/drawing/2014/main" id="{6B6F31A4-492E-8262-1A91-7232C1C161B6}"/>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7" name="btfpRunningAgenda1Level747472">
            <a:extLst>
              <a:ext uri="{FF2B5EF4-FFF2-40B4-BE49-F238E27FC236}">
                <a16:creationId xmlns:a16="http://schemas.microsoft.com/office/drawing/2014/main" id="{798C1B7D-0166-BF22-F448-4914F8ED79F6}"/>
              </a:ext>
            </a:extLst>
          </p:cNvPr>
          <p:cNvGrpSpPr/>
          <p:nvPr>
            <p:custDataLst>
              <p:tags r:id="rId5"/>
            </p:custDataLst>
          </p:nvPr>
        </p:nvGrpSpPr>
        <p:grpSpPr>
          <a:xfrm>
            <a:off x="-1" y="944429"/>
            <a:ext cx="1833863" cy="257442"/>
            <a:chOff x="-1" y="876300"/>
            <a:chExt cx="1833863" cy="257442"/>
          </a:xfrm>
        </p:grpSpPr>
        <p:sp>
          <p:nvSpPr>
            <p:cNvPr id="15" name="btfpRunningAgenda1LevelBarLeft747472">
              <a:extLst>
                <a:ext uri="{FF2B5EF4-FFF2-40B4-BE49-F238E27FC236}">
                  <a16:creationId xmlns:a16="http://schemas.microsoft.com/office/drawing/2014/main" id="{3A7842F6-8712-5839-FB42-67ABC10B0CB6}"/>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6" name="btfpRunningAgenda1LevelTextLeft747472">
              <a:extLst>
                <a:ext uri="{FF2B5EF4-FFF2-40B4-BE49-F238E27FC236}">
                  <a16:creationId xmlns:a16="http://schemas.microsoft.com/office/drawing/2014/main" id="{17172CE6-09B9-00A8-2F7C-F826AA0B0CD5}"/>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973900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hink-cell data - do not delete" hidden="1">
            <a:extLst>
              <a:ext uri="{FF2B5EF4-FFF2-40B4-BE49-F238E27FC236}">
                <a16:creationId xmlns:a16="http://schemas.microsoft.com/office/drawing/2014/main" id="{7E51030A-8CDF-9CEF-798E-AB65EADBFEBB}"/>
              </a:ext>
            </a:extLst>
          </p:cNvPr>
          <p:cNvGraphicFramePr>
            <a:graphicFrameLocks/>
          </p:cNvGraphicFramePr>
          <p:nvPr>
            <p:custDataLst>
              <p:tags r:id="rId2"/>
            </p:custDataLst>
            <p:extLst>
              <p:ext uri="{D42A27DB-BD31-4B8C-83A1-F6EECF244321}">
                <p14:modId xmlns:p14="http://schemas.microsoft.com/office/powerpoint/2010/main" val="28268127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5" name="think-cell data - do not delete" hidden="1">
                        <a:extLst>
                          <a:ext uri="{FF2B5EF4-FFF2-40B4-BE49-F238E27FC236}">
                            <a16:creationId xmlns:a16="http://schemas.microsoft.com/office/drawing/2014/main" id="{7E51030A-8CDF-9CEF-798E-AB65EADBFEB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32" name="btfpColumnIndicatorGroup2">
            <a:extLst>
              <a:ext uri="{FF2B5EF4-FFF2-40B4-BE49-F238E27FC236}">
                <a16:creationId xmlns:a16="http://schemas.microsoft.com/office/drawing/2014/main" id="{7AEE32B3-01AE-4802-B490-F2508686D09D}"/>
              </a:ext>
            </a:extLst>
          </p:cNvPr>
          <p:cNvGrpSpPr/>
          <p:nvPr/>
        </p:nvGrpSpPr>
        <p:grpSpPr>
          <a:xfrm>
            <a:off x="0" y="6926580"/>
            <a:ext cx="12192000" cy="137160"/>
            <a:chOff x="0" y="6926580"/>
            <a:chExt cx="12192000" cy="137160"/>
          </a:xfrm>
        </p:grpSpPr>
        <p:sp>
          <p:nvSpPr>
            <p:cNvPr id="30" name="btfpColumnGapBlocker334223">
              <a:extLst>
                <a:ext uri="{FF2B5EF4-FFF2-40B4-BE49-F238E27FC236}">
                  <a16:creationId xmlns:a16="http://schemas.microsoft.com/office/drawing/2014/main" id="{95754DDD-9505-4EB0-BA8E-5D5DA097BB7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8" name="btfpColumnGapBlocker164923">
              <a:extLst>
                <a:ext uri="{FF2B5EF4-FFF2-40B4-BE49-F238E27FC236}">
                  <a16:creationId xmlns:a16="http://schemas.microsoft.com/office/drawing/2014/main" id="{081D09BA-BC9A-4C82-9083-FCC270D1F256}"/>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6" name="btfpColumnIndicator494089">
              <a:extLst>
                <a:ext uri="{FF2B5EF4-FFF2-40B4-BE49-F238E27FC236}">
                  <a16:creationId xmlns:a16="http://schemas.microsoft.com/office/drawing/2014/main" id="{38EA6AA2-A0D1-4548-A30B-CB0A0F8135B2}"/>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4" name="btfpColumnIndicator175675">
              <a:extLst>
                <a:ext uri="{FF2B5EF4-FFF2-40B4-BE49-F238E27FC236}">
                  <a16:creationId xmlns:a16="http://schemas.microsoft.com/office/drawing/2014/main" id="{AAA441F9-374E-4504-8733-3A4778FB1548}"/>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2" name="btfpColumnGapBlocker508390">
              <a:extLst>
                <a:ext uri="{FF2B5EF4-FFF2-40B4-BE49-F238E27FC236}">
                  <a16:creationId xmlns:a16="http://schemas.microsoft.com/office/drawing/2014/main" id="{C59A1AD1-DBA1-4928-B159-19016AE84039}"/>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0" name="btfpColumnIndicator487699">
              <a:extLst>
                <a:ext uri="{FF2B5EF4-FFF2-40B4-BE49-F238E27FC236}">
                  <a16:creationId xmlns:a16="http://schemas.microsoft.com/office/drawing/2014/main" id="{66EF746A-78B2-47D0-898B-A7462DD98DDE}"/>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8" name="btfpColumnIndicator600769">
              <a:extLst>
                <a:ext uri="{FF2B5EF4-FFF2-40B4-BE49-F238E27FC236}">
                  <a16:creationId xmlns:a16="http://schemas.microsoft.com/office/drawing/2014/main" id="{50EDC94A-AB1E-4197-8886-C03EF489E362}"/>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444135">
              <a:extLst>
                <a:ext uri="{FF2B5EF4-FFF2-40B4-BE49-F238E27FC236}">
                  <a16:creationId xmlns:a16="http://schemas.microsoft.com/office/drawing/2014/main" id="{E5783BA6-9092-4265-AA6F-CF54F2CA6C0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243320">
              <a:extLst>
                <a:ext uri="{FF2B5EF4-FFF2-40B4-BE49-F238E27FC236}">
                  <a16:creationId xmlns:a16="http://schemas.microsoft.com/office/drawing/2014/main" id="{E51140D7-97B5-445E-9900-3AD56C860EDA}"/>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2" name="btfpColumnIndicator326073">
              <a:extLst>
                <a:ext uri="{FF2B5EF4-FFF2-40B4-BE49-F238E27FC236}">
                  <a16:creationId xmlns:a16="http://schemas.microsoft.com/office/drawing/2014/main" id="{52314987-BD45-4AEB-A343-08E6C0A93E5A}"/>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1" name="btfpColumnIndicatorGroup1">
            <a:extLst>
              <a:ext uri="{FF2B5EF4-FFF2-40B4-BE49-F238E27FC236}">
                <a16:creationId xmlns:a16="http://schemas.microsoft.com/office/drawing/2014/main" id="{F7BA33E1-5155-43B5-BA2C-6133F6890168}"/>
              </a:ext>
            </a:extLst>
          </p:cNvPr>
          <p:cNvGrpSpPr/>
          <p:nvPr/>
        </p:nvGrpSpPr>
        <p:grpSpPr>
          <a:xfrm>
            <a:off x="0" y="-205740"/>
            <a:ext cx="12192000" cy="137160"/>
            <a:chOff x="0" y="-205740"/>
            <a:chExt cx="12192000" cy="137160"/>
          </a:xfrm>
        </p:grpSpPr>
        <p:sp>
          <p:nvSpPr>
            <p:cNvPr id="29" name="btfpColumnGapBlocker880399">
              <a:extLst>
                <a:ext uri="{FF2B5EF4-FFF2-40B4-BE49-F238E27FC236}">
                  <a16:creationId xmlns:a16="http://schemas.microsoft.com/office/drawing/2014/main" id="{DA1F6CF4-BF58-4FD3-9702-9E1E82F498C2}"/>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500348">
              <a:extLst>
                <a:ext uri="{FF2B5EF4-FFF2-40B4-BE49-F238E27FC236}">
                  <a16:creationId xmlns:a16="http://schemas.microsoft.com/office/drawing/2014/main" id="{9922CCDB-819C-48C5-A895-10E30760082B}"/>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btfpColumnIndicator434123">
              <a:extLst>
                <a:ext uri="{FF2B5EF4-FFF2-40B4-BE49-F238E27FC236}">
                  <a16:creationId xmlns:a16="http://schemas.microsoft.com/office/drawing/2014/main" id="{28CF9966-EB83-4B90-9841-84F0D1257155}"/>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3" name="btfpColumnIndicator930559">
              <a:extLst>
                <a:ext uri="{FF2B5EF4-FFF2-40B4-BE49-F238E27FC236}">
                  <a16:creationId xmlns:a16="http://schemas.microsoft.com/office/drawing/2014/main" id="{E8706817-26EA-4764-819E-F4E67BA5C86F}"/>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1" name="btfpColumnGapBlocker174171">
              <a:extLst>
                <a:ext uri="{FF2B5EF4-FFF2-40B4-BE49-F238E27FC236}">
                  <a16:creationId xmlns:a16="http://schemas.microsoft.com/office/drawing/2014/main" id="{E6F61CF5-A53A-44C7-A389-9436D7F7DB06}"/>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445869">
              <a:extLst>
                <a:ext uri="{FF2B5EF4-FFF2-40B4-BE49-F238E27FC236}">
                  <a16:creationId xmlns:a16="http://schemas.microsoft.com/office/drawing/2014/main" id="{2D15FE4D-7543-4DB7-A66F-61D4D075B18D}"/>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7" name="btfpColumnIndicator513616">
              <a:extLst>
                <a:ext uri="{FF2B5EF4-FFF2-40B4-BE49-F238E27FC236}">
                  <a16:creationId xmlns:a16="http://schemas.microsoft.com/office/drawing/2014/main" id="{57AF0BCF-0F1C-4294-98BC-CEFB2148B9F9}"/>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5" name="btfpColumnGapBlocker527333">
              <a:extLst>
                <a:ext uri="{FF2B5EF4-FFF2-40B4-BE49-F238E27FC236}">
                  <a16:creationId xmlns:a16="http://schemas.microsoft.com/office/drawing/2014/main" id="{2DD742E4-3E06-4B64-9D6D-CC358A5CF4A1}"/>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933021">
              <a:extLst>
                <a:ext uri="{FF2B5EF4-FFF2-40B4-BE49-F238E27FC236}">
                  <a16:creationId xmlns:a16="http://schemas.microsoft.com/office/drawing/2014/main" id="{18B0119D-861B-4611-9D5B-B0E2E165F251}"/>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15154">
              <a:extLst>
                <a:ext uri="{FF2B5EF4-FFF2-40B4-BE49-F238E27FC236}">
                  <a16:creationId xmlns:a16="http://schemas.microsoft.com/office/drawing/2014/main" id="{2716D8AA-64AC-445C-9419-87004F1811E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Tips &amp; Best Practices (1/2)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4" name="btfpBulletedList430166"/>
          <p:cNvSpPr txBox="1"/>
          <p:nvPr>
            <p:custDataLst>
              <p:tags r:id="rId3"/>
            </p:custDataLst>
          </p:nvPr>
        </p:nvSpPr>
        <p:spPr bwMode="gray">
          <a:xfrm>
            <a:off x="330199" y="1269612"/>
            <a:ext cx="11522069" cy="4058410"/>
          </a:xfrm>
          <a:prstGeom prst="rect">
            <a:avLst/>
          </a:prstGeom>
          <a:noFill/>
        </p:spPr>
        <p:txBody>
          <a:bodyPr vert="horz" wrap="square" lIns="36000" tIns="36000" rIns="36000" bIns="36000" rtlCol="0">
            <a:spAutoFit/>
          </a:bodyPr>
          <a:lstStyle/>
          <a:p>
            <a:pPr marL="177800" marR="0" lvl="0" indent="-177800" algn="l" defTabSz="711200" rtl="0" eaLnBrk="1" fontAlgn="auto" latinLnBrk="0" hangingPunct="1">
              <a:spcBef>
                <a:spcPts val="1800"/>
              </a:spcBef>
              <a:buClrTx/>
              <a:buSzTx/>
              <a:buFontTx/>
              <a:buChar char="•"/>
              <a:tabLst/>
              <a:defRPr/>
            </a:pPr>
            <a:r>
              <a:rPr kumimoji="0" lang="en-US" sz="1400" b="1" i="0" u="sng" strike="noStrike" kern="1200" cap="none" spc="0" normalizeH="0" baseline="0" noProof="0">
                <a:ln>
                  <a:noFill/>
                </a:ln>
                <a:solidFill>
                  <a:srgbClr val="000000"/>
                </a:solidFill>
                <a:effectLst/>
                <a:uLnTx/>
                <a:uFillTx/>
                <a:latin typeface="Arial"/>
                <a:ea typeface="+mn-ea"/>
                <a:cs typeface="+mn-cs"/>
              </a:rPr>
              <a:t>Tips for auditing the peer set:</a:t>
            </a:r>
          </a:p>
          <a:p>
            <a:pPr lvl="1">
              <a:spcBef>
                <a:spcPts val="900"/>
              </a:spcBef>
              <a:defRPr/>
            </a:pPr>
            <a:r>
              <a:rPr lang="en-US" sz="1200" u="sng">
                <a:solidFill>
                  <a:srgbClr val="000000"/>
                </a:solidFill>
              </a:rPr>
              <a:t>Functional comparability:</a:t>
            </a:r>
            <a:r>
              <a:rPr lang="en-US" sz="1200">
                <a:solidFill>
                  <a:srgbClr val="000000"/>
                </a:solidFill>
              </a:rPr>
              <a:t> Once a potential peer has been identified, ensure they are comparable to the client in the following: </a:t>
            </a:r>
            <a:r>
              <a:rPr lang="en-US" sz="1200" b="1">
                <a:solidFill>
                  <a:srgbClr val="000000"/>
                </a:solidFill>
              </a:rPr>
              <a:t>size (revenue), geography, cost profile, and product portfolio</a:t>
            </a:r>
          </a:p>
          <a:p>
            <a:pPr lvl="2">
              <a:spcBef>
                <a:spcPts val="900"/>
              </a:spcBef>
              <a:defRPr/>
            </a:pPr>
            <a:r>
              <a:rPr lang="en-US" sz="1200" err="1">
                <a:solidFill>
                  <a:srgbClr val="000000"/>
                </a:solidFill>
                <a:latin typeface="Arial"/>
              </a:rPr>
              <a:t>CapitalIQ</a:t>
            </a:r>
            <a:r>
              <a:rPr lang="en-US" sz="1200">
                <a:solidFill>
                  <a:srgbClr val="000000"/>
                </a:solidFill>
                <a:latin typeface="Arial"/>
              </a:rPr>
              <a:t> can be used to check the high-level cost structure for a peer to ensure it is loosely aligned with the client/other peers (i.e., if their GM is &gt;15% higher/lower than most peers, this implies there may be something inherently different in their business model)</a:t>
            </a:r>
          </a:p>
          <a:p>
            <a:pPr lvl="1">
              <a:spcBef>
                <a:spcPts val="900"/>
              </a:spcBef>
              <a:defRPr/>
            </a:pPr>
            <a:r>
              <a:rPr lang="en-US" sz="1200" u="sng">
                <a:solidFill>
                  <a:srgbClr val="000000"/>
                </a:solidFill>
                <a:latin typeface="Arial"/>
              </a:rPr>
              <a:t>Reporting period comparability:</a:t>
            </a:r>
            <a:r>
              <a:rPr lang="en-US" sz="1200" b="1">
                <a:solidFill>
                  <a:srgbClr val="000000"/>
                </a:solidFill>
                <a:latin typeface="Arial"/>
              </a:rPr>
              <a:t> </a:t>
            </a:r>
            <a:r>
              <a:rPr lang="en-US" sz="1200">
                <a:solidFill>
                  <a:srgbClr val="000000"/>
                </a:solidFill>
                <a:latin typeface="Arial"/>
              </a:rPr>
              <a:t>When auditing the peer set, we also need to make sure that peers report data in the same periods that are of interest for the target</a:t>
            </a:r>
            <a:endParaRPr lang="en-US" sz="1200" u="sng">
              <a:solidFill>
                <a:srgbClr val="000000"/>
              </a:solidFill>
              <a:latin typeface="Arial"/>
            </a:endParaRPr>
          </a:p>
          <a:p>
            <a:pPr lvl="2">
              <a:spcBef>
                <a:spcPts val="900"/>
              </a:spcBef>
              <a:defRPr/>
            </a:pPr>
            <a:r>
              <a:rPr kumimoji="0" lang="en-US" sz="1200" b="0" i="0" u="none" strike="noStrike" kern="1200" cap="none" spc="0" normalizeH="0" baseline="0" noProof="0">
                <a:ln>
                  <a:noFill/>
                </a:ln>
                <a:solidFill>
                  <a:srgbClr val="000000"/>
                </a:solidFill>
                <a:effectLst/>
                <a:uLnTx/>
                <a:uFillTx/>
                <a:latin typeface="Arial"/>
                <a:ea typeface="+mn-ea"/>
                <a:cs typeface="+mn-cs"/>
              </a:rPr>
              <a:t>If in between</a:t>
            </a:r>
            <a:r>
              <a:rPr kumimoji="0" lang="en-US" sz="1200" b="0" i="0" u="none" strike="noStrike" kern="1200" cap="none" spc="0" normalizeH="0" noProof="0">
                <a:ln>
                  <a:noFill/>
                </a:ln>
                <a:solidFill>
                  <a:srgbClr val="000000"/>
                </a:solidFill>
                <a:effectLst/>
                <a:uLnTx/>
                <a:uFillTx/>
                <a:latin typeface="Arial"/>
                <a:ea typeface="+mn-ea"/>
                <a:cs typeface="+mn-cs"/>
              </a:rPr>
              <a:t> periods (i.e., after Q1), </a:t>
            </a:r>
            <a:r>
              <a:rPr kumimoji="0" lang="en-US" sz="1200" b="1" i="0" u="none" strike="noStrike" kern="1200" cap="none" spc="0" normalizeH="0" noProof="0">
                <a:ln>
                  <a:noFill/>
                </a:ln>
                <a:solidFill>
                  <a:srgbClr val="000000"/>
                </a:solidFill>
                <a:effectLst/>
                <a:uLnTx/>
                <a:uFillTx/>
                <a:latin typeface="Arial"/>
                <a:ea typeface="+mn-ea"/>
                <a:cs typeface="+mn-cs"/>
              </a:rPr>
              <a:t>validate when the target’s most recent quarterly financials will be available</a:t>
            </a:r>
            <a:r>
              <a:rPr kumimoji="0" lang="en-US" sz="1200" b="0" i="0" u="none" strike="noStrike" kern="1200" cap="none" spc="0" normalizeH="0" noProof="0">
                <a:ln>
                  <a:noFill/>
                </a:ln>
                <a:solidFill>
                  <a:srgbClr val="000000"/>
                </a:solidFill>
                <a:effectLst/>
                <a:uLnTx/>
                <a:uFillTx/>
                <a:latin typeface="Arial"/>
                <a:ea typeface="+mn-ea"/>
                <a:cs typeface="+mn-cs"/>
              </a:rPr>
              <a:t> and ensure </a:t>
            </a:r>
            <a:r>
              <a:rPr lang="en-US" sz="1200">
                <a:solidFill>
                  <a:srgbClr val="000000"/>
                </a:solidFill>
                <a:latin typeface="Arial"/>
              </a:rPr>
              <a:t>most </a:t>
            </a:r>
            <a:r>
              <a:rPr kumimoji="0" lang="en-US" sz="1200" b="0" i="0" u="none" strike="noStrike" kern="1200" cap="none" spc="0" normalizeH="0" noProof="0">
                <a:ln>
                  <a:noFill/>
                </a:ln>
                <a:solidFill>
                  <a:srgbClr val="000000"/>
                </a:solidFill>
                <a:effectLst/>
                <a:uLnTx/>
                <a:uFillTx/>
                <a:latin typeface="Arial"/>
                <a:ea typeface="+mn-ea"/>
                <a:cs typeface="+mn-cs"/>
              </a:rPr>
              <a:t>peers are reporting </a:t>
            </a:r>
            <a:r>
              <a:rPr lang="en-US" sz="1200">
                <a:solidFill>
                  <a:srgbClr val="000000"/>
                </a:solidFill>
                <a:latin typeface="Arial"/>
              </a:rPr>
              <a:t>over</a:t>
            </a:r>
            <a:r>
              <a:rPr kumimoji="0" lang="en-US" sz="1200" b="0" i="0" u="none" strike="noStrike" kern="1200" cap="none" spc="0" normalizeH="0" noProof="0">
                <a:ln>
                  <a:noFill/>
                </a:ln>
                <a:solidFill>
                  <a:srgbClr val="000000"/>
                </a:solidFill>
                <a:effectLst/>
                <a:uLnTx/>
                <a:uFillTx/>
                <a:latin typeface="Arial"/>
                <a:ea typeface="+mn-ea"/>
                <a:cs typeface="+mn-cs"/>
              </a:rPr>
              <a:t> the same period </a:t>
            </a:r>
          </a:p>
          <a:p>
            <a:pPr lvl="2">
              <a:spcBef>
                <a:spcPts val="900"/>
              </a:spcBef>
              <a:defRPr/>
            </a:pPr>
            <a:r>
              <a:rPr lang="en-US" sz="1200" baseline="0">
                <a:solidFill>
                  <a:srgbClr val="000000"/>
                </a:solidFill>
                <a:latin typeface="Arial"/>
              </a:rPr>
              <a:t>If the </a:t>
            </a:r>
            <a:r>
              <a:rPr lang="en-US" sz="1200">
                <a:solidFill>
                  <a:srgbClr val="000000"/>
                </a:solidFill>
                <a:latin typeface="Arial"/>
              </a:rPr>
              <a:t>target’s</a:t>
            </a:r>
            <a:r>
              <a:rPr lang="en-US" sz="1200" baseline="0">
                <a:solidFill>
                  <a:srgbClr val="000000"/>
                </a:solidFill>
                <a:latin typeface="Arial"/>
              </a:rPr>
              <a:t> most recent</a:t>
            </a:r>
            <a:r>
              <a:rPr lang="en-US" sz="1200">
                <a:solidFill>
                  <a:srgbClr val="000000"/>
                </a:solidFill>
                <a:latin typeface="Arial"/>
              </a:rPr>
              <a:t> </a:t>
            </a:r>
            <a:r>
              <a:rPr lang="en-US" sz="1200" baseline="0">
                <a:solidFill>
                  <a:srgbClr val="000000"/>
                </a:solidFill>
                <a:latin typeface="Arial"/>
              </a:rPr>
              <a:t>financials (or a majority of peer </a:t>
            </a:r>
            <a:r>
              <a:rPr lang="en-US" sz="1200">
                <a:solidFill>
                  <a:srgbClr val="000000"/>
                </a:solidFill>
                <a:latin typeface="Arial"/>
              </a:rPr>
              <a:t>financials) aren’t available, identify </a:t>
            </a:r>
            <a:r>
              <a:rPr lang="en-US" sz="1200" b="1">
                <a:solidFill>
                  <a:srgbClr val="000000"/>
                </a:solidFill>
                <a:latin typeface="Arial"/>
              </a:rPr>
              <a:t>when they’re expected to be released </a:t>
            </a:r>
            <a:r>
              <a:rPr lang="en-US" sz="1200">
                <a:solidFill>
                  <a:srgbClr val="000000"/>
                </a:solidFill>
                <a:latin typeface="Arial"/>
              </a:rPr>
              <a:t>(via the company’s earnings / IR calendar) and </a:t>
            </a:r>
            <a:r>
              <a:rPr lang="en-US" sz="1200" b="1">
                <a:solidFill>
                  <a:srgbClr val="000000"/>
                </a:solidFill>
                <a:latin typeface="Arial"/>
              </a:rPr>
              <a:t>confirm with the account team </a:t>
            </a:r>
            <a:r>
              <a:rPr lang="en-US" sz="1200">
                <a:solidFill>
                  <a:srgbClr val="000000"/>
                </a:solidFill>
                <a:latin typeface="Arial"/>
              </a:rPr>
              <a:t>if they have time to wait for the updated financials or if they don’t mind using the previous year’s</a:t>
            </a:r>
          </a:p>
          <a:p>
            <a:pPr>
              <a:spcBef>
                <a:spcPts val="1800"/>
              </a:spcBef>
              <a:defRPr/>
            </a:pPr>
            <a:r>
              <a:rPr lang="en-US" sz="1400" b="1" u="sng">
                <a:solidFill>
                  <a:srgbClr val="000000"/>
                </a:solidFill>
                <a:latin typeface="+mj-lt"/>
              </a:rPr>
              <a:t>Tips for dealing with private peers:</a:t>
            </a:r>
          </a:p>
          <a:p>
            <a:pPr lvl="1">
              <a:spcBef>
                <a:spcPts val="900"/>
              </a:spcBef>
              <a:defRPr/>
            </a:pPr>
            <a:r>
              <a:rPr lang="en-US" sz="1200">
                <a:solidFill>
                  <a:srgbClr val="000000"/>
                </a:solidFill>
                <a:latin typeface="+mj-lt"/>
              </a:rPr>
              <a:t>Do not automatically dismiss privately held peers; some private companies (particularly those in EMEA) may have data available on </a:t>
            </a:r>
            <a:r>
              <a:rPr lang="en-US" sz="1200" err="1">
                <a:solidFill>
                  <a:srgbClr val="000000"/>
                </a:solidFill>
                <a:latin typeface="+mj-lt"/>
              </a:rPr>
              <a:t>CapIQ</a:t>
            </a:r>
            <a:r>
              <a:rPr lang="en-US" sz="1200">
                <a:solidFill>
                  <a:srgbClr val="000000"/>
                </a:solidFill>
                <a:latin typeface="+mj-lt"/>
              </a:rPr>
              <a:t> or on their websites</a:t>
            </a:r>
          </a:p>
          <a:p>
            <a:pPr lvl="1">
              <a:spcBef>
                <a:spcPts val="900"/>
              </a:spcBef>
              <a:defRPr/>
            </a:pPr>
            <a:r>
              <a:rPr lang="en-US" sz="1200">
                <a:solidFill>
                  <a:srgbClr val="000000"/>
                </a:solidFill>
                <a:latin typeface="+mj-lt"/>
              </a:rPr>
              <a:t>You may also submit a request to the IS Helpdesk to see if data may be available from another source</a:t>
            </a:r>
          </a:p>
          <a:p>
            <a:pPr lvl="1">
              <a:spcBef>
                <a:spcPts val="900"/>
              </a:spcBef>
              <a:defRPr/>
            </a:pPr>
            <a:r>
              <a:rPr lang="en-US" sz="1200">
                <a:solidFill>
                  <a:srgbClr val="000000"/>
                </a:solidFill>
                <a:latin typeface="+mj-lt"/>
              </a:rPr>
              <a:t>Some private companies only disclose high-level financials (i.e., at the revenue and EBIT/DA level); in these instances, it is important to validate with the account team that this level of analysis is of interest to them</a:t>
            </a:r>
          </a:p>
        </p:txBody>
      </p:sp>
      <p:sp>
        <p:nvSpPr>
          <p:cNvPr id="38" name="btfpNumberBubble557534">
            <a:extLst>
              <a:ext uri="{FF2B5EF4-FFF2-40B4-BE49-F238E27FC236}">
                <a16:creationId xmlns:a16="http://schemas.microsoft.com/office/drawing/2014/main" id="{C618184E-A213-05CC-BA6C-65C46E640D10}"/>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43" name="btfpRunningAgenda1Level747472">
            <a:extLst>
              <a:ext uri="{FF2B5EF4-FFF2-40B4-BE49-F238E27FC236}">
                <a16:creationId xmlns:a16="http://schemas.microsoft.com/office/drawing/2014/main" id="{C3E1BF6B-26F1-B4A4-E71C-6E64FB7056A5}"/>
              </a:ext>
            </a:extLst>
          </p:cNvPr>
          <p:cNvGrpSpPr/>
          <p:nvPr>
            <p:custDataLst>
              <p:tags r:id="rId4"/>
            </p:custDataLst>
          </p:nvPr>
        </p:nvGrpSpPr>
        <p:grpSpPr>
          <a:xfrm>
            <a:off x="-1" y="944429"/>
            <a:ext cx="1833863" cy="257442"/>
            <a:chOff x="-1" y="876300"/>
            <a:chExt cx="1833863" cy="257442"/>
          </a:xfrm>
        </p:grpSpPr>
        <p:sp>
          <p:nvSpPr>
            <p:cNvPr id="44" name="btfpRunningAgenda1LevelBarLeft747472">
              <a:extLst>
                <a:ext uri="{FF2B5EF4-FFF2-40B4-BE49-F238E27FC236}">
                  <a16:creationId xmlns:a16="http://schemas.microsoft.com/office/drawing/2014/main" id="{720E8F6F-F9D7-747C-5A66-C5850BB0F9F5}"/>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5" name="btfpRunningAgenda1LevelTextLeft747472">
              <a:extLst>
                <a:ext uri="{FF2B5EF4-FFF2-40B4-BE49-F238E27FC236}">
                  <a16:creationId xmlns:a16="http://schemas.microsoft.com/office/drawing/2014/main" id="{380E58F7-911E-499E-E405-D7275A515539}"/>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640648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think-cell data - do not delete" hidden="1">
            <a:extLst>
              <a:ext uri="{FF2B5EF4-FFF2-40B4-BE49-F238E27FC236}">
                <a16:creationId xmlns:a16="http://schemas.microsoft.com/office/drawing/2014/main" id="{7E51030A-8CDF-9CEF-798E-AB65EADBFEBB}"/>
              </a:ext>
            </a:extLst>
          </p:cNvPr>
          <p:cNvGraphicFramePr>
            <a:graphicFrameLocks/>
          </p:cNvGraphicFramePr>
          <p:nvPr>
            <p:custDataLst>
              <p:tags r:id="rId2"/>
            </p:custDataLst>
            <p:extLst>
              <p:ext uri="{D42A27DB-BD31-4B8C-83A1-F6EECF244321}">
                <p14:modId xmlns:p14="http://schemas.microsoft.com/office/powerpoint/2010/main" val="35029760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5" name="think-cell data - do not delete" hidden="1">
                        <a:extLst>
                          <a:ext uri="{FF2B5EF4-FFF2-40B4-BE49-F238E27FC236}">
                            <a16:creationId xmlns:a16="http://schemas.microsoft.com/office/drawing/2014/main" id="{7E51030A-8CDF-9CEF-798E-AB65EADBFEB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32" name="btfpColumnIndicatorGroup2">
            <a:extLst>
              <a:ext uri="{FF2B5EF4-FFF2-40B4-BE49-F238E27FC236}">
                <a16:creationId xmlns:a16="http://schemas.microsoft.com/office/drawing/2014/main" id="{7AEE32B3-01AE-4802-B490-F2508686D09D}"/>
              </a:ext>
            </a:extLst>
          </p:cNvPr>
          <p:cNvGrpSpPr/>
          <p:nvPr/>
        </p:nvGrpSpPr>
        <p:grpSpPr>
          <a:xfrm>
            <a:off x="0" y="6926580"/>
            <a:ext cx="12192000" cy="137160"/>
            <a:chOff x="0" y="6926580"/>
            <a:chExt cx="12192000" cy="137160"/>
          </a:xfrm>
        </p:grpSpPr>
        <p:sp>
          <p:nvSpPr>
            <p:cNvPr id="30" name="btfpColumnGapBlocker334223">
              <a:extLst>
                <a:ext uri="{FF2B5EF4-FFF2-40B4-BE49-F238E27FC236}">
                  <a16:creationId xmlns:a16="http://schemas.microsoft.com/office/drawing/2014/main" id="{95754DDD-9505-4EB0-BA8E-5D5DA097BB7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8" name="btfpColumnGapBlocker164923">
              <a:extLst>
                <a:ext uri="{FF2B5EF4-FFF2-40B4-BE49-F238E27FC236}">
                  <a16:creationId xmlns:a16="http://schemas.microsoft.com/office/drawing/2014/main" id="{081D09BA-BC9A-4C82-9083-FCC270D1F256}"/>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6" name="btfpColumnIndicator494089">
              <a:extLst>
                <a:ext uri="{FF2B5EF4-FFF2-40B4-BE49-F238E27FC236}">
                  <a16:creationId xmlns:a16="http://schemas.microsoft.com/office/drawing/2014/main" id="{38EA6AA2-A0D1-4548-A30B-CB0A0F8135B2}"/>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4" name="btfpColumnIndicator175675">
              <a:extLst>
                <a:ext uri="{FF2B5EF4-FFF2-40B4-BE49-F238E27FC236}">
                  <a16:creationId xmlns:a16="http://schemas.microsoft.com/office/drawing/2014/main" id="{AAA441F9-374E-4504-8733-3A4778FB1548}"/>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2" name="btfpColumnGapBlocker508390">
              <a:extLst>
                <a:ext uri="{FF2B5EF4-FFF2-40B4-BE49-F238E27FC236}">
                  <a16:creationId xmlns:a16="http://schemas.microsoft.com/office/drawing/2014/main" id="{C59A1AD1-DBA1-4928-B159-19016AE84039}"/>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0" name="btfpColumnIndicator487699">
              <a:extLst>
                <a:ext uri="{FF2B5EF4-FFF2-40B4-BE49-F238E27FC236}">
                  <a16:creationId xmlns:a16="http://schemas.microsoft.com/office/drawing/2014/main" id="{66EF746A-78B2-47D0-898B-A7462DD98DDE}"/>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8" name="btfpColumnIndicator600769">
              <a:extLst>
                <a:ext uri="{FF2B5EF4-FFF2-40B4-BE49-F238E27FC236}">
                  <a16:creationId xmlns:a16="http://schemas.microsoft.com/office/drawing/2014/main" id="{50EDC94A-AB1E-4197-8886-C03EF489E362}"/>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444135">
              <a:extLst>
                <a:ext uri="{FF2B5EF4-FFF2-40B4-BE49-F238E27FC236}">
                  <a16:creationId xmlns:a16="http://schemas.microsoft.com/office/drawing/2014/main" id="{E5783BA6-9092-4265-AA6F-CF54F2CA6C0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243320">
              <a:extLst>
                <a:ext uri="{FF2B5EF4-FFF2-40B4-BE49-F238E27FC236}">
                  <a16:creationId xmlns:a16="http://schemas.microsoft.com/office/drawing/2014/main" id="{E51140D7-97B5-445E-9900-3AD56C860EDA}"/>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2" name="btfpColumnIndicator326073">
              <a:extLst>
                <a:ext uri="{FF2B5EF4-FFF2-40B4-BE49-F238E27FC236}">
                  <a16:creationId xmlns:a16="http://schemas.microsoft.com/office/drawing/2014/main" id="{52314987-BD45-4AEB-A343-08E6C0A93E5A}"/>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1" name="btfpColumnIndicatorGroup1">
            <a:extLst>
              <a:ext uri="{FF2B5EF4-FFF2-40B4-BE49-F238E27FC236}">
                <a16:creationId xmlns:a16="http://schemas.microsoft.com/office/drawing/2014/main" id="{F7BA33E1-5155-43B5-BA2C-6133F6890168}"/>
              </a:ext>
            </a:extLst>
          </p:cNvPr>
          <p:cNvGrpSpPr/>
          <p:nvPr/>
        </p:nvGrpSpPr>
        <p:grpSpPr>
          <a:xfrm>
            <a:off x="0" y="-205740"/>
            <a:ext cx="12192000" cy="137160"/>
            <a:chOff x="0" y="-205740"/>
            <a:chExt cx="12192000" cy="137160"/>
          </a:xfrm>
        </p:grpSpPr>
        <p:sp>
          <p:nvSpPr>
            <p:cNvPr id="29" name="btfpColumnGapBlocker880399">
              <a:extLst>
                <a:ext uri="{FF2B5EF4-FFF2-40B4-BE49-F238E27FC236}">
                  <a16:creationId xmlns:a16="http://schemas.microsoft.com/office/drawing/2014/main" id="{DA1F6CF4-BF58-4FD3-9702-9E1E82F498C2}"/>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500348">
              <a:extLst>
                <a:ext uri="{FF2B5EF4-FFF2-40B4-BE49-F238E27FC236}">
                  <a16:creationId xmlns:a16="http://schemas.microsoft.com/office/drawing/2014/main" id="{9922CCDB-819C-48C5-A895-10E30760082B}"/>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btfpColumnIndicator434123">
              <a:extLst>
                <a:ext uri="{FF2B5EF4-FFF2-40B4-BE49-F238E27FC236}">
                  <a16:creationId xmlns:a16="http://schemas.microsoft.com/office/drawing/2014/main" id="{28CF9966-EB83-4B90-9841-84F0D1257155}"/>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3" name="btfpColumnIndicator930559">
              <a:extLst>
                <a:ext uri="{FF2B5EF4-FFF2-40B4-BE49-F238E27FC236}">
                  <a16:creationId xmlns:a16="http://schemas.microsoft.com/office/drawing/2014/main" id="{E8706817-26EA-4764-819E-F4E67BA5C86F}"/>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1" name="btfpColumnGapBlocker174171">
              <a:extLst>
                <a:ext uri="{FF2B5EF4-FFF2-40B4-BE49-F238E27FC236}">
                  <a16:creationId xmlns:a16="http://schemas.microsoft.com/office/drawing/2014/main" id="{E6F61CF5-A53A-44C7-A389-9436D7F7DB06}"/>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445869">
              <a:extLst>
                <a:ext uri="{FF2B5EF4-FFF2-40B4-BE49-F238E27FC236}">
                  <a16:creationId xmlns:a16="http://schemas.microsoft.com/office/drawing/2014/main" id="{2D15FE4D-7543-4DB7-A66F-61D4D075B18D}"/>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7" name="btfpColumnIndicator513616">
              <a:extLst>
                <a:ext uri="{FF2B5EF4-FFF2-40B4-BE49-F238E27FC236}">
                  <a16:creationId xmlns:a16="http://schemas.microsoft.com/office/drawing/2014/main" id="{57AF0BCF-0F1C-4294-98BC-CEFB2148B9F9}"/>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5" name="btfpColumnGapBlocker527333">
              <a:extLst>
                <a:ext uri="{FF2B5EF4-FFF2-40B4-BE49-F238E27FC236}">
                  <a16:creationId xmlns:a16="http://schemas.microsoft.com/office/drawing/2014/main" id="{2DD742E4-3E06-4B64-9D6D-CC358A5CF4A1}"/>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933021">
              <a:extLst>
                <a:ext uri="{FF2B5EF4-FFF2-40B4-BE49-F238E27FC236}">
                  <a16:creationId xmlns:a16="http://schemas.microsoft.com/office/drawing/2014/main" id="{18B0119D-861B-4611-9D5B-B0E2E165F251}"/>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15154">
              <a:extLst>
                <a:ext uri="{FF2B5EF4-FFF2-40B4-BE49-F238E27FC236}">
                  <a16:creationId xmlns:a16="http://schemas.microsoft.com/office/drawing/2014/main" id="{2716D8AA-64AC-445C-9419-87004F1811E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1 – Peer Selection:</a:t>
            </a:r>
            <a:r>
              <a:rPr lang="en-US" b="1"/>
              <a:t> </a:t>
            </a:r>
            <a:r>
              <a:rPr lang="en-US"/>
              <a:t>Tips &amp; Best Practices (2/2)</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4" name="btfpBulletedList430166"/>
          <p:cNvSpPr txBox="1"/>
          <p:nvPr>
            <p:custDataLst>
              <p:tags r:id="rId3"/>
            </p:custDataLst>
          </p:nvPr>
        </p:nvSpPr>
        <p:spPr bwMode="gray">
          <a:xfrm>
            <a:off x="330199" y="1269612"/>
            <a:ext cx="11522069" cy="3681383"/>
          </a:xfrm>
          <a:prstGeom prst="rect">
            <a:avLst/>
          </a:prstGeom>
          <a:noFill/>
        </p:spPr>
        <p:txBody>
          <a:bodyPr vert="horz" wrap="square" lIns="36000" tIns="36000" rIns="36000" bIns="36000" rtlCol="0">
            <a:spAutoFit/>
          </a:bodyPr>
          <a:lstStyle/>
          <a:p>
            <a:pPr marL="177800" lvl="1">
              <a:spcBef>
                <a:spcPts val="900"/>
              </a:spcBef>
              <a:buChar char="•"/>
              <a:defRPr/>
            </a:pPr>
            <a:r>
              <a:rPr lang="en-US" b="1" u="sng">
                <a:solidFill>
                  <a:srgbClr val="000000"/>
                </a:solidFill>
                <a:latin typeface="+mj-lt"/>
              </a:rPr>
              <a:t>Tips for analyzing peers at the segment level:</a:t>
            </a:r>
            <a:endParaRPr lang="en-US" b="1">
              <a:solidFill>
                <a:srgbClr val="000000"/>
              </a:solidFill>
              <a:latin typeface="+mj-lt"/>
            </a:endParaRPr>
          </a:p>
          <a:p>
            <a:pPr lvl="1">
              <a:spcBef>
                <a:spcPts val="900"/>
              </a:spcBef>
              <a:defRPr/>
            </a:pPr>
            <a:r>
              <a:rPr lang="en-US">
                <a:solidFill>
                  <a:srgbClr val="000000"/>
                </a:solidFill>
                <a:latin typeface="+mj-lt"/>
              </a:rPr>
              <a:t>If </a:t>
            </a:r>
            <a:r>
              <a:rPr lang="en-US" err="1">
                <a:solidFill>
                  <a:srgbClr val="000000"/>
                </a:solidFill>
                <a:latin typeface="+mj-lt"/>
              </a:rPr>
              <a:t>CapIQ</a:t>
            </a:r>
            <a:r>
              <a:rPr lang="en-US">
                <a:solidFill>
                  <a:srgbClr val="000000"/>
                </a:solidFill>
                <a:latin typeface="+mj-lt"/>
              </a:rPr>
              <a:t> does not provide segment or business unit (BU) data, check the investor relations page, press releases, 10-Q filings, and financial disclosures to determine the level of segment-wise reporting</a:t>
            </a:r>
          </a:p>
          <a:p>
            <a:pPr lvl="1">
              <a:spcBef>
                <a:spcPts val="900"/>
              </a:spcBef>
              <a:defRPr/>
            </a:pPr>
            <a:r>
              <a:rPr lang="en-US">
                <a:solidFill>
                  <a:srgbClr val="000000"/>
                </a:solidFill>
                <a:latin typeface="+mj-lt"/>
              </a:rPr>
              <a:t>Ensure peers report similar metrics such as Gross Margin, Revenue, or EBIT/DA to maintain consistency in BU-level analysis; verify that cost structures and reporting categories are truly comparable across BU level peers</a:t>
            </a:r>
          </a:p>
          <a:p>
            <a:pPr marL="177800" lvl="1">
              <a:spcBef>
                <a:spcPts val="900"/>
              </a:spcBef>
              <a:buChar char="•"/>
              <a:defRPr/>
            </a:pPr>
            <a:r>
              <a:rPr lang="en-US" b="1" u="sng">
                <a:solidFill>
                  <a:srgbClr val="000000"/>
                </a:solidFill>
                <a:latin typeface="+mj-lt"/>
              </a:rPr>
              <a:t>General best practices:</a:t>
            </a:r>
          </a:p>
          <a:p>
            <a:pPr lvl="1">
              <a:spcBef>
                <a:spcPts val="900"/>
              </a:spcBef>
              <a:defRPr/>
            </a:pPr>
            <a:r>
              <a:rPr lang="en-US">
                <a:solidFill>
                  <a:srgbClr val="000000"/>
                </a:solidFill>
                <a:latin typeface="+mj-lt"/>
              </a:rPr>
              <a:t>If a peer has undergone recent mergers, acquisitions, or restructuring, evaluate whether its financials remain comparable and whether the reclassified/re-stated numbers are available </a:t>
            </a:r>
          </a:p>
          <a:p>
            <a:pPr lvl="1">
              <a:spcBef>
                <a:spcPts val="900"/>
              </a:spcBef>
              <a:defRPr/>
            </a:pPr>
            <a:r>
              <a:rPr lang="en-US">
                <a:solidFill>
                  <a:srgbClr val="000000"/>
                </a:solidFill>
                <a:latin typeface="+mj-lt"/>
              </a:rPr>
              <a:t>Companies may classify inventories, receivables, or payables differently - making direct comparisons inaccurate; if re-bucketing is not feasible due to significant variations, reconsider including those peers in the analysis</a:t>
            </a:r>
          </a:p>
          <a:p>
            <a:pPr lvl="1">
              <a:spcBef>
                <a:spcPts val="900"/>
              </a:spcBef>
              <a:defRPr/>
            </a:pPr>
            <a:r>
              <a:rPr lang="en-US">
                <a:solidFill>
                  <a:srgbClr val="000000"/>
                </a:solidFill>
                <a:latin typeface="+mj-lt"/>
              </a:rPr>
              <a:t>Cross-check key financial data using </a:t>
            </a:r>
            <a:r>
              <a:rPr lang="en-US" err="1">
                <a:solidFill>
                  <a:srgbClr val="000000"/>
                </a:solidFill>
                <a:latin typeface="+mj-lt"/>
              </a:rPr>
              <a:t>CapIQ</a:t>
            </a:r>
            <a:r>
              <a:rPr lang="en-US">
                <a:solidFill>
                  <a:srgbClr val="000000"/>
                </a:solidFill>
                <a:latin typeface="+mj-lt"/>
              </a:rPr>
              <a:t>, investor presentations, regulatory filings, earnings calls, and analyst reports to ensure accuracy and completeness</a:t>
            </a:r>
          </a:p>
          <a:p>
            <a:pPr lvl="1">
              <a:spcBef>
                <a:spcPts val="900"/>
              </a:spcBef>
              <a:defRPr/>
            </a:pPr>
            <a:r>
              <a:rPr lang="en-US">
                <a:solidFill>
                  <a:srgbClr val="000000"/>
                </a:solidFill>
                <a:latin typeface="+mj-lt"/>
              </a:rPr>
              <a:t>Consider regional variations/alterations due to COVID-19 pandemic and consider which year / what type of financials can be included </a:t>
            </a:r>
          </a:p>
        </p:txBody>
      </p:sp>
      <p:sp>
        <p:nvSpPr>
          <p:cNvPr id="38" name="btfpNumberBubble557534">
            <a:extLst>
              <a:ext uri="{FF2B5EF4-FFF2-40B4-BE49-F238E27FC236}">
                <a16:creationId xmlns:a16="http://schemas.microsoft.com/office/drawing/2014/main" id="{C618184E-A213-05CC-BA6C-65C46E640D10}"/>
              </a:ext>
            </a:extLst>
          </p:cNvPr>
          <p:cNvSpPr/>
          <p:nvPr/>
        </p:nvSpPr>
        <p:spPr bwMode="gray">
          <a:xfrm>
            <a:off x="40250" y="509129"/>
            <a:ext cx="274320" cy="274320"/>
          </a:xfrm>
          <a:prstGeom prst="ellipse">
            <a:avLst/>
          </a:prstGeom>
          <a:solidFill>
            <a:srgbClr val="FFFFFF"/>
          </a:solidFill>
          <a:ln w="19050" cap="flat" cmpd="sng" algn="ctr">
            <a:solidFill>
              <a:srgbClr val="46647B"/>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46647B"/>
                </a:solidFill>
              </a:rPr>
              <a:t>1</a:t>
            </a:r>
          </a:p>
        </p:txBody>
      </p:sp>
      <p:grpSp>
        <p:nvGrpSpPr>
          <p:cNvPr id="6" name="btfpRunningAgenda1Level747472">
            <a:extLst>
              <a:ext uri="{FF2B5EF4-FFF2-40B4-BE49-F238E27FC236}">
                <a16:creationId xmlns:a16="http://schemas.microsoft.com/office/drawing/2014/main" id="{570B95E7-A60A-C805-FA25-5E9AE954F755}"/>
              </a:ext>
            </a:extLst>
          </p:cNvPr>
          <p:cNvGrpSpPr/>
          <p:nvPr>
            <p:custDataLst>
              <p:tags r:id="rId4"/>
            </p:custDataLst>
          </p:nvPr>
        </p:nvGrpSpPr>
        <p:grpSpPr>
          <a:xfrm>
            <a:off x="-1" y="944429"/>
            <a:ext cx="1833863" cy="257442"/>
            <a:chOff x="-1" y="876300"/>
            <a:chExt cx="1833863" cy="257442"/>
          </a:xfrm>
        </p:grpSpPr>
        <p:sp>
          <p:nvSpPr>
            <p:cNvPr id="7" name="btfpRunningAgenda1LevelBarLeft747472">
              <a:extLst>
                <a:ext uri="{FF2B5EF4-FFF2-40B4-BE49-F238E27FC236}">
                  <a16:creationId xmlns:a16="http://schemas.microsoft.com/office/drawing/2014/main" id="{3CED1D49-B8AA-3CBC-CA99-BD0FA62F6E82}"/>
                </a:ext>
              </a:extLst>
            </p:cNvPr>
            <p:cNvSpPr/>
            <p:nvPr/>
          </p:nvSpPr>
          <p:spPr bwMode="gray">
            <a:xfrm>
              <a:off x="-1"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1"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3" name="btfpRunningAgenda1LevelTextLeft747472">
              <a:extLst>
                <a:ext uri="{FF2B5EF4-FFF2-40B4-BE49-F238E27FC236}">
                  <a16:creationId xmlns:a16="http://schemas.microsoft.com/office/drawing/2014/main" id="{D1BE0D01-5356-5588-35F7-59FBFAA5BD59}"/>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1</a:t>
              </a:r>
            </a:p>
          </p:txBody>
        </p:sp>
      </p:grpSp>
    </p:spTree>
    <p:custDataLst>
      <p:tags r:id="rId1"/>
    </p:custDataLst>
    <p:extLst>
      <p:ext uri="{BB962C8B-B14F-4D97-AF65-F5344CB8AC3E}">
        <p14:creationId xmlns:p14="http://schemas.microsoft.com/office/powerpoint/2010/main" val="2392366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F06FCE1D-3FF8-3447-4579-2E28F1F9D178}"/>
              </a:ext>
            </a:extLst>
          </p:cNvPr>
          <p:cNvGraphicFramePr>
            <a:graphicFrameLocks/>
          </p:cNvGraphicFramePr>
          <p:nvPr>
            <p:custDataLst>
              <p:tags r:id="rId2"/>
            </p:custDataLst>
            <p:extLst>
              <p:ext uri="{D42A27DB-BD31-4B8C-83A1-F6EECF244321}">
                <p14:modId xmlns:p14="http://schemas.microsoft.com/office/powerpoint/2010/main" val="18770051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5" name="think-cell data - do not delete" hidden="1">
                        <a:extLst>
                          <a:ext uri="{FF2B5EF4-FFF2-40B4-BE49-F238E27FC236}">
                            <a16:creationId xmlns:a16="http://schemas.microsoft.com/office/drawing/2014/main" id="{F06FCE1D-3FF8-3447-4579-2E28F1F9D1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D0A84F0C-C9ED-F6B8-6D11-A550FA4024F4}"/>
              </a:ext>
            </a:extLst>
          </p:cNvPr>
          <p:cNvGrpSpPr/>
          <p:nvPr/>
        </p:nvGrpSpPr>
        <p:grpSpPr>
          <a:xfrm>
            <a:off x="0" y="6926580"/>
            <a:ext cx="12192000" cy="137160"/>
            <a:chOff x="0" y="6926580"/>
            <a:chExt cx="12192000" cy="137160"/>
          </a:xfrm>
        </p:grpSpPr>
        <p:sp>
          <p:nvSpPr>
            <p:cNvPr id="10" name="btfpColumnGapBlocker904099">
              <a:extLst>
                <a:ext uri="{FF2B5EF4-FFF2-40B4-BE49-F238E27FC236}">
                  <a16:creationId xmlns:a16="http://schemas.microsoft.com/office/drawing/2014/main" id="{F4258E06-A822-9648-D33B-8A2B80CD5690}"/>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137463">
              <a:extLst>
                <a:ext uri="{FF2B5EF4-FFF2-40B4-BE49-F238E27FC236}">
                  <a16:creationId xmlns:a16="http://schemas.microsoft.com/office/drawing/2014/main" id="{11BE843C-AC66-C5A7-C6FC-CB948FEF774A}"/>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521642">
              <a:extLst>
                <a:ext uri="{FF2B5EF4-FFF2-40B4-BE49-F238E27FC236}">
                  <a16:creationId xmlns:a16="http://schemas.microsoft.com/office/drawing/2014/main" id="{A1B7D323-1047-AB62-651C-21B787D8D112}"/>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54765">
              <a:extLst>
                <a:ext uri="{FF2B5EF4-FFF2-40B4-BE49-F238E27FC236}">
                  <a16:creationId xmlns:a16="http://schemas.microsoft.com/office/drawing/2014/main" id="{95AF6262-9E2D-74F2-8253-4FAB80FEAAC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E266339C-A9C8-4CF0-3C2A-0F9AE5B39E9B}"/>
              </a:ext>
            </a:extLst>
          </p:cNvPr>
          <p:cNvGrpSpPr/>
          <p:nvPr/>
        </p:nvGrpSpPr>
        <p:grpSpPr>
          <a:xfrm>
            <a:off x="0" y="-205740"/>
            <a:ext cx="12192000" cy="137160"/>
            <a:chOff x="0" y="-205740"/>
            <a:chExt cx="12192000" cy="137160"/>
          </a:xfrm>
        </p:grpSpPr>
        <p:sp>
          <p:nvSpPr>
            <p:cNvPr id="9" name="btfpColumnGapBlocker329955">
              <a:extLst>
                <a:ext uri="{FF2B5EF4-FFF2-40B4-BE49-F238E27FC236}">
                  <a16:creationId xmlns:a16="http://schemas.microsoft.com/office/drawing/2014/main" id="{A7BA6104-5035-D9E2-EE53-4C54DE4C8815}"/>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459399">
              <a:extLst>
                <a:ext uri="{FF2B5EF4-FFF2-40B4-BE49-F238E27FC236}">
                  <a16:creationId xmlns:a16="http://schemas.microsoft.com/office/drawing/2014/main" id="{00D48DC3-EBE2-3A03-E411-E5006D25F322}"/>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258323">
              <a:extLst>
                <a:ext uri="{FF2B5EF4-FFF2-40B4-BE49-F238E27FC236}">
                  <a16:creationId xmlns:a16="http://schemas.microsoft.com/office/drawing/2014/main" id="{6FE5DEDA-BE97-E0C9-CADF-98FA6430F255}"/>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40299">
              <a:extLst>
                <a:ext uri="{FF2B5EF4-FFF2-40B4-BE49-F238E27FC236}">
                  <a16:creationId xmlns:a16="http://schemas.microsoft.com/office/drawing/2014/main" id="{85458AB2-C582-926E-71A1-64E1AF0631FA}"/>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B8F1856-2FC6-78ED-DFD1-7F7698A3DD86}"/>
              </a:ext>
            </a:extLst>
          </p:cNvPr>
          <p:cNvSpPr>
            <a:spLocks noGrp="1"/>
          </p:cNvSpPr>
          <p:nvPr>
            <p:ph type="title"/>
          </p:nvPr>
        </p:nvSpPr>
        <p:spPr/>
        <p:txBody>
          <a:bodyPr vert="horz"/>
          <a:lstStyle/>
          <a:p>
            <a:r>
              <a:rPr lang="en-US"/>
              <a:t>Specific Industry Guidelines</a:t>
            </a:r>
          </a:p>
        </p:txBody>
      </p:sp>
      <p:graphicFrame>
        <p:nvGraphicFramePr>
          <p:cNvPr id="13" name="Table 12">
            <a:extLst>
              <a:ext uri="{FF2B5EF4-FFF2-40B4-BE49-F238E27FC236}">
                <a16:creationId xmlns:a16="http://schemas.microsoft.com/office/drawing/2014/main" id="{96D79C01-E4F7-D60A-9626-4AD294F70ADB}"/>
              </a:ext>
            </a:extLst>
          </p:cNvPr>
          <p:cNvGraphicFramePr>
            <a:graphicFrameLocks noGrp="1"/>
          </p:cNvGraphicFramePr>
          <p:nvPr/>
        </p:nvGraphicFramePr>
        <p:xfrm>
          <a:off x="330200" y="1176996"/>
          <a:ext cx="11522074" cy="5384142"/>
        </p:xfrm>
        <a:graphic>
          <a:graphicData uri="http://schemas.openxmlformats.org/drawingml/2006/table">
            <a:tbl>
              <a:tblPr/>
              <a:tblGrid>
                <a:gridCol w="2548172">
                  <a:extLst>
                    <a:ext uri="{9D8B030D-6E8A-4147-A177-3AD203B41FA5}">
                      <a16:colId xmlns:a16="http://schemas.microsoft.com/office/drawing/2014/main" val="3094426317"/>
                    </a:ext>
                  </a:extLst>
                </a:gridCol>
                <a:gridCol w="8973902">
                  <a:extLst>
                    <a:ext uri="{9D8B030D-6E8A-4147-A177-3AD203B41FA5}">
                      <a16:colId xmlns:a16="http://schemas.microsoft.com/office/drawing/2014/main" val="3028764600"/>
                    </a:ext>
                  </a:extLst>
                </a:gridCol>
              </a:tblGrid>
              <a:tr h="309579">
                <a:tc gridSpan="2">
                  <a:txBody>
                    <a:bodyPr/>
                    <a:lstStyle/>
                    <a:p>
                      <a:pPr marL="0" indent="0" algn="ctr" fontAlgn="ctr">
                        <a:buNone/>
                      </a:pPr>
                      <a:r>
                        <a:rPr lang="en-US" sz="1700" b="1" i="0" u="none" strike="noStrike">
                          <a:solidFill>
                            <a:srgbClr val="000000"/>
                          </a:solidFill>
                          <a:effectLst/>
                          <a:latin typeface="Arial" panose="020B0604020202020204" pitchFamily="34" charset="0"/>
                        </a:rPr>
                        <a:t>Industry Watch-Outs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549528214"/>
                  </a:ext>
                </a:extLst>
              </a:tr>
              <a:tr h="18210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95598661"/>
                  </a:ext>
                </a:extLst>
              </a:tr>
              <a:tr h="200316">
                <a:tc>
                  <a:txBody>
                    <a:bodyPr/>
                    <a:lstStyle/>
                    <a:p>
                      <a:pPr marL="0" indent="0" algn="l" rtl="0" fontAlgn="ctr">
                        <a:buNone/>
                      </a:pPr>
                      <a:r>
                        <a:rPr lang="en-US" sz="1100" b="1" i="0" u="none" strike="noStrike">
                          <a:solidFill>
                            <a:srgbClr val="CC0000"/>
                          </a:solidFill>
                          <a:effectLst/>
                          <a:latin typeface="Arial" panose="020B0604020202020204" pitchFamily="34" charset="0"/>
                        </a:rPr>
                        <a:t>Industry</a:t>
                      </a:r>
                    </a:p>
                  </a:txBody>
                  <a:tcPr marL="0" marR="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tc>
                  <a:txBody>
                    <a:bodyPr/>
                    <a:lstStyle/>
                    <a:p>
                      <a:pPr marL="0" indent="0" algn="l" rtl="0" fontAlgn="ctr">
                        <a:buNone/>
                      </a:pPr>
                      <a:r>
                        <a:rPr lang="en-US" sz="1100" b="1" i="0" u="none" strike="noStrike">
                          <a:solidFill>
                            <a:srgbClr val="CC0000"/>
                          </a:solidFill>
                          <a:effectLst/>
                          <a:latin typeface="Arial" panose="020B0604020202020204" pitchFamily="34" charset="0"/>
                        </a:rPr>
                        <a:t>Watch-outs</a:t>
                      </a:r>
                    </a:p>
                  </a:txBody>
                  <a:tcPr marL="0" marR="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1578729"/>
                  </a:ext>
                </a:extLst>
              </a:tr>
              <a:tr h="1266062">
                <a:tc>
                  <a:txBody>
                    <a:bodyPr/>
                    <a:lstStyle/>
                    <a:p>
                      <a:pPr marL="0" indent="0" algn="l" rtl="0" fontAlgn="ctr">
                        <a:buNone/>
                      </a:pPr>
                      <a:r>
                        <a:rPr lang="en-US" sz="1100" b="1" i="0" u="none" strike="noStrike">
                          <a:solidFill>
                            <a:srgbClr val="000000"/>
                          </a:solidFill>
                          <a:effectLst/>
                          <a:latin typeface="Arial" panose="020B0604020202020204" pitchFamily="34" charset="0"/>
                        </a:rPr>
                        <a:t>Retail / CP</a:t>
                      </a:r>
                    </a:p>
                  </a:txBody>
                  <a:tcPr marL="0" marR="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Ensure shipping, distribution, and freight costs are consistently defined across peers</a:t>
                      </a:r>
                    </a:p>
                    <a:p>
                      <a:pPr>
                        <a:spcBef>
                          <a:spcPts val="0"/>
                        </a:spcBef>
                      </a:pPr>
                      <a:r>
                        <a:rPr lang="en-US" sz="1100"/>
                        <a:t>Assess whether advertising spend can be isolated for benchmarking purposes</a:t>
                      </a:r>
                    </a:p>
                    <a:p>
                      <a:pPr>
                        <a:spcBef>
                          <a:spcPts val="0"/>
                        </a:spcBef>
                      </a:pPr>
                      <a:r>
                        <a:rPr lang="en-US" sz="1100"/>
                        <a:t>Clarify whether the retailer is pure-play or also manufactures its own products, as this affects factory optimization levers</a:t>
                      </a:r>
                    </a:p>
                    <a:p>
                      <a:pPr>
                        <a:spcBef>
                          <a:spcPts val="0"/>
                        </a:spcBef>
                      </a:pPr>
                      <a:r>
                        <a:rPr lang="en-US" sz="1100"/>
                        <a:t>Capture retail-specific KPIs such as </a:t>
                      </a:r>
                      <a:r>
                        <a:rPr lang="en-US" sz="1100" b="1"/>
                        <a:t>same-store sales growth</a:t>
                      </a:r>
                      <a:r>
                        <a:rPr lang="en-US" sz="1100"/>
                        <a:t> and </a:t>
                      </a:r>
                      <a:r>
                        <a:rPr lang="en-US" sz="1100" b="1"/>
                        <a:t>total system revenue</a:t>
                      </a:r>
                      <a:endParaRPr lang="en-US" sz="1100"/>
                    </a:p>
                    <a:p>
                      <a:pPr>
                        <a:spcBef>
                          <a:spcPts val="0"/>
                        </a:spcBef>
                      </a:pPr>
                      <a:r>
                        <a:rPr lang="en-US" sz="1100"/>
                        <a:t>Consider including operational KPIs like </a:t>
                      </a:r>
                      <a:r>
                        <a:rPr lang="en-US" sz="1100" b="1"/>
                        <a:t>selling square footage</a:t>
                      </a:r>
                      <a:endParaRPr lang="en-US" sz="1100"/>
                    </a:p>
                    <a:p>
                      <a:pPr>
                        <a:spcBef>
                          <a:spcPts val="0"/>
                        </a:spcBef>
                      </a:pPr>
                      <a:r>
                        <a:rPr lang="en-US" sz="1100"/>
                        <a:t>Adjust for one-time items such as </a:t>
                      </a:r>
                      <a:r>
                        <a:rPr lang="en-US" sz="1100" b="1"/>
                        <a:t>store closing costs</a:t>
                      </a:r>
                      <a:r>
                        <a:rPr lang="en-US" sz="1100"/>
                        <a:t> and </a:t>
                      </a:r>
                      <a:r>
                        <a:rPr lang="en-US" sz="1100" b="1"/>
                        <a:t>pre-opening expenses</a:t>
                      </a:r>
                      <a:endParaRPr lang="en-US" sz="1100"/>
                    </a:p>
                  </a:txBody>
                  <a:tcPr marL="109732" marR="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127074443"/>
                  </a:ext>
                </a:extLst>
              </a:tr>
              <a:tr h="200316">
                <a:tc>
                  <a:txBody>
                    <a:bodyPr/>
                    <a:lstStyle/>
                    <a:p>
                      <a:pPr marL="0" indent="0" algn="l" rtl="0" fontAlgn="ctr">
                        <a:buNone/>
                      </a:pPr>
                      <a:r>
                        <a:rPr lang="en-US" sz="1100" b="1" i="0" u="none" strike="noStrike">
                          <a:solidFill>
                            <a:srgbClr val="000000"/>
                          </a:solidFill>
                          <a:effectLst/>
                          <a:latin typeface="Arial" panose="020B0604020202020204" pitchFamily="34" charset="0"/>
                        </a:rPr>
                        <a:t>AMS / Defense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spcBef>
                          <a:spcPts val="0"/>
                        </a:spcBef>
                        <a:buNone/>
                      </a:pPr>
                      <a:r>
                        <a:rPr lang="en-US" sz="1100"/>
                        <a:t>Confirm that </a:t>
                      </a:r>
                      <a:r>
                        <a:rPr lang="en-US" sz="1100" b="1"/>
                        <a:t>R&amp;D expenses</a:t>
                      </a:r>
                      <a:r>
                        <a:rPr lang="en-US" sz="1100"/>
                        <a:t> are strictly </a:t>
                      </a:r>
                      <a:r>
                        <a:rPr lang="en-US" sz="1100" b="1"/>
                        <a:t>company-funded</a:t>
                      </a:r>
                      <a:r>
                        <a:rPr lang="en-US" sz="1100"/>
                        <a:t> and exclude any customer-funded R&amp;D</a:t>
                      </a:r>
                      <a:endParaRPr lang="en-US" sz="1100" b="0" i="0" u="none" strike="noStrike">
                        <a:solidFill>
                          <a:srgbClr val="000000"/>
                        </a:solidFill>
                        <a:effectLst/>
                        <a:latin typeface="Arial" panose="020B0604020202020204" pitchFamily="34" charset="0"/>
                      </a:endParaRPr>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25273411"/>
                  </a:ext>
                </a:extLst>
              </a:tr>
              <a:tr h="1001579">
                <a:tc>
                  <a:txBody>
                    <a:bodyPr/>
                    <a:lstStyle/>
                    <a:p>
                      <a:pPr marL="0" indent="0" algn="l" rtl="0" fontAlgn="ctr">
                        <a:buNone/>
                      </a:pPr>
                      <a:r>
                        <a:rPr lang="en-US" sz="1100" b="1" i="0" u="none" strike="noStrike">
                          <a:solidFill>
                            <a:srgbClr val="000000"/>
                          </a:solidFill>
                          <a:effectLst/>
                          <a:latin typeface="Arial" panose="020B0604020202020204" pitchFamily="34" charset="0"/>
                        </a:rPr>
                        <a:t>Technology</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Determine whether </a:t>
                      </a:r>
                      <a:r>
                        <a:rPr lang="en-US" sz="1100" b="1"/>
                        <a:t>stock-based compensation</a:t>
                      </a:r>
                      <a:r>
                        <a:rPr lang="en-US" sz="1100"/>
                        <a:t> should be excluded based on the valuation or benchmarking objective</a:t>
                      </a:r>
                    </a:p>
                    <a:p>
                      <a:pPr>
                        <a:spcBef>
                          <a:spcPts val="0"/>
                        </a:spcBef>
                      </a:pPr>
                      <a:r>
                        <a:rPr lang="en-US" sz="1100"/>
                        <a:t>Include technology-specific metrics such as </a:t>
                      </a:r>
                      <a:r>
                        <a:rPr lang="en-US" sz="1100" b="1"/>
                        <a:t>S&amp;M Magic Number</a:t>
                      </a:r>
                      <a:r>
                        <a:rPr lang="en-US" sz="1100"/>
                        <a:t>, Rule of 40, and </a:t>
                      </a:r>
                      <a:r>
                        <a:rPr lang="en-US" sz="1100" b="1"/>
                        <a:t>S&amp;M productivity</a:t>
                      </a:r>
                      <a:endParaRPr lang="en-US" sz="1100"/>
                    </a:p>
                    <a:p>
                      <a:pPr>
                        <a:spcBef>
                          <a:spcPts val="0"/>
                        </a:spcBef>
                      </a:pPr>
                      <a:r>
                        <a:rPr lang="en-US" sz="1100"/>
                        <a:t>While capturing EBITDA, check for </a:t>
                      </a:r>
                      <a:r>
                        <a:rPr lang="en-US" sz="1100" b="1"/>
                        <a:t>amortization of acquired intangibles</a:t>
                      </a:r>
                      <a:endParaRPr lang="en-US" sz="1100"/>
                    </a:p>
                    <a:p>
                      <a:pPr>
                        <a:spcBef>
                          <a:spcPts val="0"/>
                        </a:spcBef>
                      </a:pPr>
                      <a:r>
                        <a:rPr lang="en-US" sz="1100"/>
                        <a:t>Record </a:t>
                      </a:r>
                      <a:r>
                        <a:rPr lang="en-US" sz="1100" b="1"/>
                        <a:t>adjusted D&amp;A separately</a:t>
                      </a:r>
                      <a:r>
                        <a:rPr lang="en-US" sz="1100"/>
                        <a:t> to support Rule of 40 analysis</a:t>
                      </a:r>
                    </a:p>
                    <a:p>
                      <a:pPr>
                        <a:spcBef>
                          <a:spcPts val="0"/>
                        </a:spcBef>
                      </a:pPr>
                      <a:r>
                        <a:rPr lang="en-US" sz="1100"/>
                        <a:t>Assess whether </a:t>
                      </a:r>
                      <a:r>
                        <a:rPr lang="en-US" sz="1100" b="1"/>
                        <a:t>Product vs. Services Gross Margin</a:t>
                      </a:r>
                      <a:r>
                        <a:rPr lang="en-US" sz="1100"/>
                        <a:t> can be analyzed separately</a:t>
                      </a:r>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2989500118"/>
                  </a:ext>
                </a:extLst>
              </a:tr>
              <a:tr h="600947">
                <a:tc>
                  <a:txBody>
                    <a:bodyPr/>
                    <a:lstStyle/>
                    <a:p>
                      <a:pPr marL="0" indent="0" algn="l" rtl="0" fontAlgn="ctr">
                        <a:buNone/>
                      </a:pPr>
                      <a:r>
                        <a:rPr lang="en-US" sz="1100" b="1" i="0" u="none" strike="noStrike">
                          <a:solidFill>
                            <a:srgbClr val="000000"/>
                          </a:solidFill>
                          <a:effectLst/>
                          <a:latin typeface="Arial" panose="020B0604020202020204" pitchFamily="34" charset="0"/>
                        </a:rPr>
                        <a:t>ENR</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Verify whether </a:t>
                      </a:r>
                      <a:r>
                        <a:rPr lang="en-US" sz="1100" b="1"/>
                        <a:t>levies and excise taxes</a:t>
                      </a:r>
                      <a:r>
                        <a:rPr lang="en-US" sz="1100"/>
                        <a:t> are recorded within revenue or other operating expenses</a:t>
                      </a:r>
                    </a:p>
                    <a:p>
                      <a:pPr>
                        <a:spcBef>
                          <a:spcPts val="0"/>
                        </a:spcBef>
                      </a:pPr>
                      <a:r>
                        <a:rPr lang="en-US" sz="1100"/>
                        <a:t>Ensure </a:t>
                      </a:r>
                      <a:r>
                        <a:rPr lang="en-US" sz="1100" b="1"/>
                        <a:t>pass-through costs</a:t>
                      </a:r>
                      <a:r>
                        <a:rPr lang="en-US" sz="1100"/>
                        <a:t> are treated consistently across peers</a:t>
                      </a:r>
                    </a:p>
                    <a:p>
                      <a:pPr>
                        <a:spcBef>
                          <a:spcPts val="0"/>
                        </a:spcBef>
                      </a:pPr>
                      <a:r>
                        <a:rPr lang="en-US" sz="1100"/>
                        <a:t>Include operational KPIs such as </a:t>
                      </a:r>
                      <a:r>
                        <a:rPr lang="en-US" sz="1100" b="1"/>
                        <a:t>total installed capacity</a:t>
                      </a:r>
                      <a:r>
                        <a:rPr lang="en-US" sz="1100"/>
                        <a:t> and </a:t>
                      </a:r>
                      <a:r>
                        <a:rPr lang="en-US" sz="1100" b="1"/>
                        <a:t>throughput</a:t>
                      </a:r>
                      <a:endParaRPr lang="en-US" sz="1100"/>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497471921"/>
                  </a:ext>
                </a:extLst>
              </a:tr>
              <a:tr h="600947">
                <a:tc>
                  <a:txBody>
                    <a:bodyPr/>
                    <a:lstStyle/>
                    <a:p>
                      <a:pPr marL="0" indent="0" algn="l" rtl="0" fontAlgn="ctr">
                        <a:buNone/>
                      </a:pPr>
                      <a:r>
                        <a:rPr lang="en-US" sz="1100" b="1" i="0" u="none" strike="noStrike">
                          <a:solidFill>
                            <a:srgbClr val="000000"/>
                          </a:solidFill>
                          <a:effectLst/>
                          <a:latin typeface="Arial" panose="020B0604020202020204" pitchFamily="34" charset="0"/>
                        </a:rPr>
                        <a:t>ENR-Oil and gas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a:spcBef>
                          <a:spcPts val="0"/>
                        </a:spcBef>
                      </a:pPr>
                      <a:r>
                        <a:rPr lang="en-US" sz="1100"/>
                        <a:t>Check for the presence of </a:t>
                      </a:r>
                      <a:r>
                        <a:rPr lang="en-US" sz="1100" b="1"/>
                        <a:t>derivatives and hedging activities</a:t>
                      </a:r>
                      <a:endParaRPr lang="en-US" sz="1100"/>
                    </a:p>
                    <a:p>
                      <a:pPr>
                        <a:spcBef>
                          <a:spcPts val="0"/>
                        </a:spcBef>
                      </a:pPr>
                      <a:r>
                        <a:rPr lang="en-US" sz="1100"/>
                        <a:t>Incorporate relevant CIQ supplemental KPIs such as </a:t>
                      </a:r>
                      <a:r>
                        <a:rPr lang="en-US" sz="1100" b="1"/>
                        <a:t>cost per BOE</a:t>
                      </a:r>
                      <a:r>
                        <a:rPr lang="en-US" sz="1100"/>
                        <a:t>, </a:t>
                      </a:r>
                      <a:r>
                        <a:rPr lang="en-US" sz="1100" b="1"/>
                        <a:t>production volume mix</a:t>
                      </a:r>
                      <a:r>
                        <a:rPr lang="en-US" sz="1100"/>
                        <a:t>, and </a:t>
                      </a:r>
                      <a:r>
                        <a:rPr lang="en-US" sz="1100" b="1"/>
                        <a:t>historical MBOE growth</a:t>
                      </a:r>
                      <a:endParaRPr lang="en-US" sz="1100"/>
                    </a:p>
                    <a:p>
                      <a:pPr>
                        <a:spcBef>
                          <a:spcPts val="0"/>
                        </a:spcBef>
                      </a:pPr>
                      <a:r>
                        <a:rPr lang="en-US" sz="1100"/>
                        <a:t>Confirm whether </a:t>
                      </a:r>
                      <a:r>
                        <a:rPr lang="en-US" sz="1100" b="1"/>
                        <a:t>exploration costs</a:t>
                      </a:r>
                      <a:r>
                        <a:rPr lang="en-US" sz="1100"/>
                        <a:t> are included in operating expenses unless otherwise specified</a:t>
                      </a:r>
                    </a:p>
                  </a:txBody>
                  <a:tcPr marL="109732"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188326355"/>
                  </a:ext>
                </a:extLst>
              </a:tr>
              <a:tr h="1022291">
                <a:tc>
                  <a:txBody>
                    <a:bodyPr/>
                    <a:lstStyle/>
                    <a:p>
                      <a:pPr marL="0" indent="0" algn="l" rtl="0" fontAlgn="ctr">
                        <a:buNone/>
                      </a:pPr>
                      <a:r>
                        <a:rPr lang="en-US" sz="1100" b="1" i="0" u="none" strike="noStrike">
                          <a:solidFill>
                            <a:srgbClr val="000000"/>
                          </a:solidFill>
                          <a:effectLst/>
                          <a:latin typeface="Arial" panose="020B0604020202020204" pitchFamily="34" charset="0"/>
                        </a:rPr>
                        <a:t>Healthcare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spcBef>
                          <a:spcPts val="0"/>
                        </a:spcBef>
                      </a:pPr>
                      <a:r>
                        <a:rPr lang="en-US" sz="1100"/>
                        <a:t>Confirm treatment of </a:t>
                      </a:r>
                      <a:r>
                        <a:rPr lang="en-US" sz="1100" b="1"/>
                        <a:t>in-process R&amp;D (IPR&amp;D)</a:t>
                      </a:r>
                      <a:r>
                        <a:rPr lang="en-US" sz="1100"/>
                        <a:t> and whether it is included</a:t>
                      </a:r>
                    </a:p>
                    <a:p>
                      <a:pPr>
                        <a:spcBef>
                          <a:spcPts val="0"/>
                        </a:spcBef>
                      </a:pPr>
                      <a:r>
                        <a:rPr lang="en-US" sz="1100"/>
                        <a:t>Ensure </a:t>
                      </a:r>
                      <a:r>
                        <a:rPr lang="en-US" sz="1100" b="1"/>
                        <a:t>royalty and collaboration revenues</a:t>
                      </a:r>
                      <a:r>
                        <a:rPr lang="en-US" sz="1100"/>
                        <a:t> are classified consistently across peers</a:t>
                      </a:r>
                    </a:p>
                    <a:p>
                      <a:pPr>
                        <a:spcBef>
                          <a:spcPts val="0"/>
                        </a:spcBef>
                      </a:pPr>
                      <a:r>
                        <a:rPr lang="en-US" sz="1100"/>
                        <a:t>Note that </a:t>
                      </a:r>
                      <a:r>
                        <a:rPr lang="en-US" sz="1100" b="1"/>
                        <a:t>amortization of intangibles</a:t>
                      </a:r>
                      <a:r>
                        <a:rPr lang="en-US" sz="1100"/>
                        <a:t> is typically acquisition-related and should be analyzed at the </a:t>
                      </a:r>
                      <a:r>
                        <a:rPr lang="en-US" sz="1100" b="1"/>
                        <a:t>EBITDA level</a:t>
                      </a:r>
                      <a:endParaRPr lang="en-US" sz="1100"/>
                    </a:p>
                    <a:p>
                      <a:pPr>
                        <a:spcBef>
                          <a:spcPts val="0"/>
                        </a:spcBef>
                      </a:pPr>
                      <a:r>
                        <a:rPr lang="en-US" sz="1100"/>
                        <a:t>Use </a:t>
                      </a:r>
                      <a:r>
                        <a:rPr lang="en-US" sz="1100" b="1"/>
                        <a:t>total costs</a:t>
                      </a:r>
                      <a:r>
                        <a:rPr lang="en-US" sz="1100"/>
                        <a:t> as the denominator for </a:t>
                      </a:r>
                      <a:r>
                        <a:rPr lang="en-US" sz="1100" b="1"/>
                        <a:t>net working capital (NWC)</a:t>
                      </a:r>
                      <a:r>
                        <a:rPr lang="en-US" sz="1100"/>
                        <a:t> analysis</a:t>
                      </a:r>
                    </a:p>
                    <a:p>
                      <a:pPr>
                        <a:spcBef>
                          <a:spcPts val="0"/>
                        </a:spcBef>
                      </a:pPr>
                      <a:r>
                        <a:rPr lang="en-US" sz="1100"/>
                        <a:t>Exclude </a:t>
                      </a:r>
                      <a:r>
                        <a:rPr lang="en-US" sz="1100" b="1"/>
                        <a:t>acquired R&amp;D</a:t>
                      </a:r>
                      <a:r>
                        <a:rPr lang="en-US" sz="1100"/>
                        <a:t> where appropriate</a:t>
                      </a:r>
                    </a:p>
                  </a:txBody>
                  <a:tcPr marL="109732" marR="0" marT="0" marB="0">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7299280"/>
                  </a:ext>
                </a:extLst>
              </a:tr>
            </a:tbl>
          </a:graphicData>
        </a:graphic>
      </p:graphicFrame>
    </p:spTree>
    <p:custDataLst>
      <p:tags r:id="rId1"/>
    </p:custDataLst>
    <p:extLst>
      <p:ext uri="{BB962C8B-B14F-4D97-AF65-F5344CB8AC3E}">
        <p14:creationId xmlns:p14="http://schemas.microsoft.com/office/powerpoint/2010/main" val="283695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839038D-DD0E-A942-06F6-3487014289EA}"/>
              </a:ext>
            </a:extLst>
          </p:cNvPr>
          <p:cNvGraphicFramePr>
            <a:graphicFrameLocks/>
          </p:cNvGraphicFramePr>
          <p:nvPr>
            <p:custDataLst>
              <p:tags r:id="rId2"/>
            </p:custDataLst>
            <p:extLst>
              <p:ext uri="{D42A27DB-BD31-4B8C-83A1-F6EECF244321}">
                <p14:modId xmlns:p14="http://schemas.microsoft.com/office/powerpoint/2010/main" val="9365772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4" name="think-cell data - do not delete" hidden="1">
                        <a:extLst>
                          <a:ext uri="{FF2B5EF4-FFF2-40B4-BE49-F238E27FC236}">
                            <a16:creationId xmlns:a16="http://schemas.microsoft.com/office/drawing/2014/main" id="{A839038D-DD0E-A942-06F6-3487014289E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FF4EC910-0856-F6C6-4660-CC09A73207CA}"/>
              </a:ext>
            </a:extLst>
          </p:cNvPr>
          <p:cNvGrpSpPr/>
          <p:nvPr/>
        </p:nvGrpSpPr>
        <p:grpSpPr>
          <a:xfrm>
            <a:off x="0" y="6926580"/>
            <a:ext cx="12192000" cy="137160"/>
            <a:chOff x="0" y="6926580"/>
            <a:chExt cx="12192000" cy="137160"/>
          </a:xfrm>
        </p:grpSpPr>
        <p:sp>
          <p:nvSpPr>
            <p:cNvPr id="10" name="btfpColumnGapBlocker995663">
              <a:extLst>
                <a:ext uri="{FF2B5EF4-FFF2-40B4-BE49-F238E27FC236}">
                  <a16:creationId xmlns:a16="http://schemas.microsoft.com/office/drawing/2014/main" id="{63CD6ADD-C3E4-1B0F-4EDB-D2FAF416B93C}"/>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570162">
              <a:extLst>
                <a:ext uri="{FF2B5EF4-FFF2-40B4-BE49-F238E27FC236}">
                  <a16:creationId xmlns:a16="http://schemas.microsoft.com/office/drawing/2014/main" id="{D3A41461-DEAE-CF87-18CA-2638A1597B72}"/>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256582">
              <a:extLst>
                <a:ext uri="{FF2B5EF4-FFF2-40B4-BE49-F238E27FC236}">
                  <a16:creationId xmlns:a16="http://schemas.microsoft.com/office/drawing/2014/main" id="{F30AC943-D5E9-18C3-9361-52B943395209}"/>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908409">
              <a:extLst>
                <a:ext uri="{FF2B5EF4-FFF2-40B4-BE49-F238E27FC236}">
                  <a16:creationId xmlns:a16="http://schemas.microsoft.com/office/drawing/2014/main" id="{B840D652-3BFB-E1BB-83F8-362DD3F49AF9}"/>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12B934C-FF4A-A12A-B404-2BD8BB573FDB}"/>
              </a:ext>
            </a:extLst>
          </p:cNvPr>
          <p:cNvGrpSpPr/>
          <p:nvPr/>
        </p:nvGrpSpPr>
        <p:grpSpPr>
          <a:xfrm>
            <a:off x="0" y="-205740"/>
            <a:ext cx="12192000" cy="137160"/>
            <a:chOff x="0" y="-205740"/>
            <a:chExt cx="12192000" cy="137160"/>
          </a:xfrm>
        </p:grpSpPr>
        <p:sp>
          <p:nvSpPr>
            <p:cNvPr id="9" name="btfpColumnGapBlocker772507">
              <a:extLst>
                <a:ext uri="{FF2B5EF4-FFF2-40B4-BE49-F238E27FC236}">
                  <a16:creationId xmlns:a16="http://schemas.microsoft.com/office/drawing/2014/main" id="{EC3A9E59-3FB3-12C8-3184-1D72191B0B69}"/>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311082">
              <a:extLst>
                <a:ext uri="{FF2B5EF4-FFF2-40B4-BE49-F238E27FC236}">
                  <a16:creationId xmlns:a16="http://schemas.microsoft.com/office/drawing/2014/main" id="{297EFD13-DB5B-0730-EB63-8ABD320183D0}"/>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349036">
              <a:extLst>
                <a:ext uri="{FF2B5EF4-FFF2-40B4-BE49-F238E27FC236}">
                  <a16:creationId xmlns:a16="http://schemas.microsoft.com/office/drawing/2014/main" id="{6FE4B9E2-563B-D63E-9A5C-8A5B9BE4DDD0}"/>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537319">
              <a:extLst>
                <a:ext uri="{FF2B5EF4-FFF2-40B4-BE49-F238E27FC236}">
                  <a16:creationId xmlns:a16="http://schemas.microsoft.com/office/drawing/2014/main" id="{6C93C3B5-8C1A-227E-B295-A2F21BCC2C0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442EAEC-0C17-E1EB-40AB-12E8BC105ECC}"/>
              </a:ext>
            </a:extLst>
          </p:cNvPr>
          <p:cNvSpPr>
            <a:spLocks noGrp="1"/>
          </p:cNvSpPr>
          <p:nvPr>
            <p:ph type="title"/>
          </p:nvPr>
        </p:nvSpPr>
        <p:spPr/>
        <p:txBody>
          <a:bodyPr vert="horz"/>
          <a:lstStyle/>
          <a:p>
            <a:r>
              <a:rPr lang="en-US"/>
              <a:t>Adjustments to look out for while building out the Adjustment Summary</a:t>
            </a:r>
          </a:p>
        </p:txBody>
      </p:sp>
      <p:graphicFrame>
        <p:nvGraphicFramePr>
          <p:cNvPr id="13" name="Table 12">
            <a:extLst>
              <a:ext uri="{FF2B5EF4-FFF2-40B4-BE49-F238E27FC236}">
                <a16:creationId xmlns:a16="http://schemas.microsoft.com/office/drawing/2014/main" id="{432B7277-35BA-5FCE-C1DC-C92B565989E2}"/>
              </a:ext>
            </a:extLst>
          </p:cNvPr>
          <p:cNvGraphicFramePr>
            <a:graphicFrameLocks noGrp="1"/>
          </p:cNvGraphicFramePr>
          <p:nvPr/>
        </p:nvGraphicFramePr>
        <p:xfrm>
          <a:off x="330200" y="1268414"/>
          <a:ext cx="11531600" cy="4942840"/>
        </p:xfrm>
        <a:graphic>
          <a:graphicData uri="http://schemas.openxmlformats.org/drawingml/2006/table">
            <a:tbl>
              <a:tblPr/>
              <a:tblGrid>
                <a:gridCol w="4795421">
                  <a:extLst>
                    <a:ext uri="{9D8B030D-6E8A-4147-A177-3AD203B41FA5}">
                      <a16:colId xmlns:a16="http://schemas.microsoft.com/office/drawing/2014/main" val="3046069494"/>
                    </a:ext>
                  </a:extLst>
                </a:gridCol>
                <a:gridCol w="6736179">
                  <a:extLst>
                    <a:ext uri="{9D8B030D-6E8A-4147-A177-3AD203B41FA5}">
                      <a16:colId xmlns:a16="http://schemas.microsoft.com/office/drawing/2014/main" val="2186465661"/>
                    </a:ext>
                  </a:extLst>
                </a:gridCol>
              </a:tblGrid>
              <a:tr h="295217">
                <a:tc gridSpan="2">
                  <a:txBody>
                    <a:bodyPr/>
                    <a:lstStyle/>
                    <a:p>
                      <a:pPr marL="0" indent="0" algn="ctr" fontAlgn="ctr">
                        <a:buNone/>
                      </a:pPr>
                      <a:r>
                        <a:rPr lang="en-US" sz="1800" b="1" i="0" u="none" strike="noStrike">
                          <a:solidFill>
                            <a:srgbClr val="000000"/>
                          </a:solidFill>
                          <a:effectLst/>
                          <a:latin typeface="Arial" panose="020B0604020202020204" pitchFamily="34" charset="0"/>
                        </a:rPr>
                        <a:t>Adjustments non-recurring keywords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540368437"/>
                  </a:ext>
                </a:extLst>
              </a:tr>
              <a:tr h="205012">
                <a:tc>
                  <a:txBody>
                    <a:bodyPr/>
                    <a:lstStyle/>
                    <a:p>
                      <a:pPr marL="0" indent="0" algn="l" fontAlgn="b">
                        <a:buNone/>
                      </a:pPr>
                      <a:endParaRPr lang="en-US" sz="1000" b="0" i="0" u="none" strike="noStrike">
                        <a:solidFill>
                          <a:srgbClr val="000000"/>
                        </a:solidFill>
                        <a:effectLst/>
                        <a:latin typeface="Arial" panose="020B0604020202020204" pitchFamily="34" charset="0"/>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241955824"/>
                  </a:ext>
                </a:extLst>
              </a:tr>
              <a:tr h="360821">
                <a:tc>
                  <a:txBody>
                    <a:bodyPr/>
                    <a:lstStyle/>
                    <a:p>
                      <a:pPr marL="0" indent="0" algn="l" rtl="0" fontAlgn="ctr">
                        <a:buNone/>
                      </a:pPr>
                      <a:r>
                        <a:rPr lang="en-US" sz="1100" b="1" i="0" u="none" strike="noStrike">
                          <a:solidFill>
                            <a:srgbClr val="CC0000"/>
                          </a:solidFill>
                          <a:effectLst/>
                          <a:latin typeface="Arial" panose="020B0604020202020204" pitchFamily="34" charset="0"/>
                        </a:rPr>
                        <a:t>Write-offs / asset impairment / facility closure / obsolete inventory</a:t>
                      </a:r>
                    </a:p>
                  </a:txBody>
                  <a:tcPr marL="0" marR="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tc>
                  <a:txBody>
                    <a:bodyPr/>
                    <a:lstStyle/>
                    <a:p>
                      <a:pPr marL="0" indent="0" algn="l" rtl="0" fontAlgn="ctr">
                        <a:buNone/>
                      </a:pPr>
                      <a:r>
                        <a:rPr lang="en-US" sz="1100" b="1" i="0" u="none" strike="noStrike">
                          <a:solidFill>
                            <a:srgbClr val="CC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4752032"/>
                  </a:ext>
                </a:extLst>
              </a:tr>
              <a:tr h="215263">
                <a:tc>
                  <a:txBody>
                    <a:bodyPr/>
                    <a:lstStyle/>
                    <a:p>
                      <a:pPr marL="0" indent="0" algn="l" rtl="0" fontAlgn="ctr">
                        <a:buNone/>
                      </a:pPr>
                      <a:r>
                        <a:rPr lang="en-US" sz="1100" b="1" i="0" u="none" strike="noStrike">
                          <a:solidFill>
                            <a:srgbClr val="000000"/>
                          </a:solidFill>
                          <a:effectLst/>
                          <a:latin typeface="Arial" panose="020B0604020202020204" pitchFamily="34" charset="0"/>
                        </a:rPr>
                        <a:t>Restructuring costs / severance</a:t>
                      </a:r>
                    </a:p>
                  </a:txBody>
                  <a:tcPr marL="0" marR="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145630599"/>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Litigation / settlements / legal accruals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35408138"/>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Credit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 unless related to operations (e.g., companies that extend credit cards / financing)</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08149423"/>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Stock-based compensation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Usually included, unless technology sector (or client excludes)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2229996416"/>
                  </a:ext>
                </a:extLst>
              </a:tr>
              <a:tr h="360821">
                <a:tc>
                  <a:txBody>
                    <a:bodyPr/>
                    <a:lstStyle/>
                    <a:p>
                      <a:pPr marL="0" indent="0" algn="l" rtl="0" fontAlgn="ctr">
                        <a:buNone/>
                      </a:pPr>
                      <a:r>
                        <a:rPr lang="en-US" sz="1100" b="1" i="0" u="none" strike="noStrike">
                          <a:solidFill>
                            <a:srgbClr val="000000"/>
                          </a:solidFill>
                          <a:effectLst/>
                          <a:latin typeface="Arial" panose="020B0604020202020204" pitchFamily="34" charset="0"/>
                        </a:rPr>
                        <a:t>Acquisition-related costs / transaction fees / business combination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137973670"/>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Net gain on asset disposal</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803949572"/>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Provision for bad debt /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696312993"/>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Reduction in contingent liability</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2577857936"/>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Casualty reserve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637477872"/>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Amortization of </a:t>
                      </a:r>
                      <a:r>
                        <a:rPr lang="en-US" sz="1100" b="1" i="0" u="sng" strike="noStrike">
                          <a:solidFill>
                            <a:srgbClr val="000000"/>
                          </a:solidFill>
                          <a:effectLst/>
                          <a:latin typeface="Arial" panose="020B0604020202020204" pitchFamily="34" charset="0"/>
                        </a:rPr>
                        <a:t>acquired</a:t>
                      </a:r>
                      <a:r>
                        <a:rPr lang="en-US" sz="1100" b="1" i="0" u="none" strike="noStrike">
                          <a:solidFill>
                            <a:srgbClr val="000000"/>
                          </a:solidFill>
                          <a:effectLst/>
                          <a:latin typeface="Arial" panose="020B0604020202020204" pitchFamily="34" charset="0"/>
                        </a:rPr>
                        <a:t> intangibles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 </a:t>
                      </a:r>
                      <a:r>
                        <a:rPr lang="en-US" sz="1100" b="0" i="1" u="none" strike="noStrike">
                          <a:solidFill>
                            <a:srgbClr val="000000"/>
                          </a:solidFill>
                          <a:effectLst/>
                          <a:latin typeface="Arial" panose="020B0604020202020204" pitchFamily="34" charset="0"/>
                        </a:rPr>
                        <a:t>ONLY IF ASSOCIATED WITH ACQUISITIONS</a:t>
                      </a:r>
                      <a:endParaRPr lang="en-US" sz="1100" b="0" i="0" u="none" strike="noStrike">
                        <a:solidFill>
                          <a:srgbClr val="000000"/>
                        </a:solidFill>
                        <a:effectLst/>
                        <a:latin typeface="Arial" panose="020B0604020202020204" pitchFamily="34" charset="0"/>
                      </a:endParaRP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906275688"/>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Change in fair value of deferred earnout</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008850850"/>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COVID-19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69603344"/>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Derivatives / hedging (usually under Other OpEx)</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 (watch out for utilities, oil/gas where it might be more common)</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644262646"/>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Russia / Ukraine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517935020"/>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Foreign currency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KEEP</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29608285"/>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Gain on sale of PPE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782493062"/>
                  </a:ext>
                </a:extLst>
              </a:tr>
              <a:tr h="215263">
                <a:tc>
                  <a:txBody>
                    <a:bodyPr/>
                    <a:lstStyle/>
                    <a:p>
                      <a:pPr marL="0" indent="0" algn="l" rtl="0" fontAlgn="ctr">
                        <a:buNone/>
                      </a:pPr>
                      <a:r>
                        <a:rPr lang="en-US" sz="1100" b="1" i="0" u="none" strike="noStrike">
                          <a:solidFill>
                            <a:srgbClr val="000000"/>
                          </a:solidFill>
                          <a:effectLst/>
                          <a:latin typeface="Arial" panose="020B0604020202020204" pitchFamily="34" charset="0"/>
                        </a:rPr>
                        <a:t>D&amp;A on cash flow sheet and income statement does not match</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Difference in D&amp;A should be adjusted out/in of relevant cost bucket if needed (usually COGS)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903618426"/>
                  </a:ext>
                </a:extLst>
              </a:tr>
              <a:tr h="205012">
                <a:tc>
                  <a:txBody>
                    <a:bodyPr/>
                    <a:lstStyle/>
                    <a:p>
                      <a:pPr marL="0" indent="0" algn="l" rtl="0" fontAlgn="ctr">
                        <a:buNone/>
                      </a:pPr>
                      <a:r>
                        <a:rPr lang="en-US" sz="1100" b="1" i="0" u="none" strike="noStrike">
                          <a:solidFill>
                            <a:srgbClr val="000000"/>
                          </a:solidFill>
                          <a:effectLst/>
                          <a:latin typeface="Arial" panose="020B0604020202020204" pitchFamily="34" charset="0"/>
                        </a:rPr>
                        <a:t>Purchase price allocation / pro forma adjustments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876561038"/>
                  </a:ext>
                </a:extLst>
              </a:tr>
              <a:tr h="215263">
                <a:tc>
                  <a:txBody>
                    <a:bodyPr/>
                    <a:lstStyle/>
                    <a:p>
                      <a:pPr marL="0" indent="0" algn="l" rtl="0" fontAlgn="ctr">
                        <a:buNone/>
                      </a:pPr>
                      <a:r>
                        <a:rPr lang="en-US" sz="1100" b="1" i="0" u="none" strike="noStrike">
                          <a:solidFill>
                            <a:srgbClr val="000000"/>
                          </a:solidFill>
                          <a:effectLst/>
                          <a:latin typeface="Arial" panose="020B0604020202020204" pitchFamily="34" charset="0"/>
                        </a:rPr>
                        <a:t>Pro forma financials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rtl="0" fontAlgn="ctr">
                        <a:buNone/>
                      </a:pPr>
                      <a:r>
                        <a:rPr lang="en-US" sz="1100" b="0" i="0" u="none" strike="noStrike">
                          <a:solidFill>
                            <a:srgbClr val="000000"/>
                          </a:solidFill>
                          <a:effectLst/>
                          <a:latin typeface="Arial" panose="020B0604020202020204" pitchFamily="34" charset="0"/>
                        </a:rPr>
                        <a:t>Usually we like to use</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5980912"/>
                  </a:ext>
                </a:extLst>
              </a:tr>
            </a:tbl>
          </a:graphicData>
        </a:graphic>
      </p:graphicFrame>
    </p:spTree>
    <p:custDataLst>
      <p:tags r:id="rId1"/>
    </p:custDataLst>
    <p:extLst>
      <p:ext uri="{BB962C8B-B14F-4D97-AF65-F5344CB8AC3E}">
        <p14:creationId xmlns:p14="http://schemas.microsoft.com/office/powerpoint/2010/main" val="693059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C5E641C-4E6D-94CA-BECE-D3CE68962F11}"/>
              </a:ext>
            </a:extLst>
          </p:cNvPr>
          <p:cNvGraphicFramePr>
            <a:graphicFrameLocks/>
          </p:cNvGraphicFramePr>
          <p:nvPr>
            <p:custDataLst>
              <p:tags r:id="rId2"/>
            </p:custDataLst>
            <p:extLst>
              <p:ext uri="{D42A27DB-BD31-4B8C-83A1-F6EECF244321}">
                <p14:modId xmlns:p14="http://schemas.microsoft.com/office/powerpoint/2010/main" val="8826431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8" name="think-cell data - do not delete" hidden="1">
                        <a:extLst>
                          <a:ext uri="{FF2B5EF4-FFF2-40B4-BE49-F238E27FC236}">
                            <a16:creationId xmlns:a16="http://schemas.microsoft.com/office/drawing/2014/main" id="{EC5E641C-4E6D-94CA-BECE-D3CE68962F1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E3FF71-B5B8-EC8B-43AA-382FEEE09B02}"/>
              </a:ext>
            </a:extLst>
          </p:cNvPr>
          <p:cNvGrpSpPr/>
          <p:nvPr/>
        </p:nvGrpSpPr>
        <p:grpSpPr>
          <a:xfrm>
            <a:off x="0" y="6926580"/>
            <a:ext cx="12192000" cy="137160"/>
            <a:chOff x="0" y="6926580"/>
            <a:chExt cx="12192000" cy="137160"/>
          </a:xfrm>
        </p:grpSpPr>
        <p:sp>
          <p:nvSpPr>
            <p:cNvPr id="10" name="btfpColumnGapBlocker461173">
              <a:extLst>
                <a:ext uri="{FF2B5EF4-FFF2-40B4-BE49-F238E27FC236}">
                  <a16:creationId xmlns:a16="http://schemas.microsoft.com/office/drawing/2014/main" id="{97372165-0FAD-B0A3-FD90-E897EDB8364C}"/>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211751">
              <a:extLst>
                <a:ext uri="{FF2B5EF4-FFF2-40B4-BE49-F238E27FC236}">
                  <a16:creationId xmlns:a16="http://schemas.microsoft.com/office/drawing/2014/main" id="{71B315EC-B9A8-E67F-58E7-1C45DA8D59F3}"/>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75244">
              <a:extLst>
                <a:ext uri="{FF2B5EF4-FFF2-40B4-BE49-F238E27FC236}">
                  <a16:creationId xmlns:a16="http://schemas.microsoft.com/office/drawing/2014/main" id="{3CF40182-1863-D83E-1FFC-FE898C8E5D02}"/>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417061">
              <a:extLst>
                <a:ext uri="{FF2B5EF4-FFF2-40B4-BE49-F238E27FC236}">
                  <a16:creationId xmlns:a16="http://schemas.microsoft.com/office/drawing/2014/main" id="{498DF148-0EB6-2F23-1A1C-C0CFD7D040F8}"/>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982477F8-729B-2B86-A72D-EC03CAF77282}"/>
              </a:ext>
            </a:extLst>
          </p:cNvPr>
          <p:cNvGrpSpPr/>
          <p:nvPr/>
        </p:nvGrpSpPr>
        <p:grpSpPr>
          <a:xfrm>
            <a:off x="0" y="-205740"/>
            <a:ext cx="12192000" cy="137160"/>
            <a:chOff x="0" y="-205740"/>
            <a:chExt cx="12192000" cy="137160"/>
          </a:xfrm>
        </p:grpSpPr>
        <p:sp>
          <p:nvSpPr>
            <p:cNvPr id="9" name="btfpColumnGapBlocker398981">
              <a:extLst>
                <a:ext uri="{FF2B5EF4-FFF2-40B4-BE49-F238E27FC236}">
                  <a16:creationId xmlns:a16="http://schemas.microsoft.com/office/drawing/2014/main" id="{B929E12F-A039-E2F1-CBE0-99DDBCDD8FA9}"/>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886072">
              <a:extLst>
                <a:ext uri="{FF2B5EF4-FFF2-40B4-BE49-F238E27FC236}">
                  <a16:creationId xmlns:a16="http://schemas.microsoft.com/office/drawing/2014/main" id="{2EED18B8-F8E8-72B4-6177-2A1C693549E2}"/>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246391">
              <a:extLst>
                <a:ext uri="{FF2B5EF4-FFF2-40B4-BE49-F238E27FC236}">
                  <a16:creationId xmlns:a16="http://schemas.microsoft.com/office/drawing/2014/main" id="{EA2A7886-04A0-0242-56CF-7508030A596B}"/>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25553">
              <a:extLst>
                <a:ext uri="{FF2B5EF4-FFF2-40B4-BE49-F238E27FC236}">
                  <a16:creationId xmlns:a16="http://schemas.microsoft.com/office/drawing/2014/main" id="{D43D831C-7C00-F91E-2100-FBC3703D1A54}"/>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6ED2D4B-9AB4-3B4D-AD45-510B211C0B4B}"/>
              </a:ext>
            </a:extLst>
          </p:cNvPr>
          <p:cNvSpPr>
            <a:spLocks noGrp="1"/>
          </p:cNvSpPr>
          <p:nvPr>
            <p:ph type="title"/>
          </p:nvPr>
        </p:nvSpPr>
        <p:spPr/>
        <p:txBody>
          <a:bodyPr vert="horz"/>
          <a:lstStyle/>
          <a:p>
            <a:r>
              <a:rPr lang="en-US"/>
              <a:t>Adjustment summary- Data collection</a:t>
            </a:r>
          </a:p>
        </p:txBody>
      </p:sp>
      <p:graphicFrame>
        <p:nvGraphicFramePr>
          <p:cNvPr id="13" name="Table 12">
            <a:extLst>
              <a:ext uri="{FF2B5EF4-FFF2-40B4-BE49-F238E27FC236}">
                <a16:creationId xmlns:a16="http://schemas.microsoft.com/office/drawing/2014/main" id="{CC622B84-82AF-1B49-398C-C35F626BF610}"/>
              </a:ext>
            </a:extLst>
          </p:cNvPr>
          <p:cNvGraphicFramePr>
            <a:graphicFrameLocks noGrp="1"/>
          </p:cNvGraphicFramePr>
          <p:nvPr/>
        </p:nvGraphicFramePr>
        <p:xfrm>
          <a:off x="330200" y="1254374"/>
          <a:ext cx="11531600" cy="5296411"/>
        </p:xfrm>
        <a:graphic>
          <a:graphicData uri="http://schemas.openxmlformats.org/drawingml/2006/table">
            <a:tbl>
              <a:tblPr/>
              <a:tblGrid>
                <a:gridCol w="4795422">
                  <a:extLst>
                    <a:ext uri="{9D8B030D-6E8A-4147-A177-3AD203B41FA5}">
                      <a16:colId xmlns:a16="http://schemas.microsoft.com/office/drawing/2014/main" val="1653480131"/>
                    </a:ext>
                  </a:extLst>
                </a:gridCol>
                <a:gridCol w="6736178">
                  <a:extLst>
                    <a:ext uri="{9D8B030D-6E8A-4147-A177-3AD203B41FA5}">
                      <a16:colId xmlns:a16="http://schemas.microsoft.com/office/drawing/2014/main" val="4012308316"/>
                    </a:ext>
                  </a:extLst>
                </a:gridCol>
              </a:tblGrid>
              <a:tr h="245935">
                <a:tc gridSpan="2">
                  <a:txBody>
                    <a:bodyPr/>
                    <a:lstStyle/>
                    <a:p>
                      <a:pPr marL="0" indent="0" algn="ctr" fontAlgn="ctr">
                        <a:buNone/>
                      </a:pPr>
                      <a:r>
                        <a:rPr lang="en-US" sz="1600" b="1" i="0" u="none" strike="noStrike">
                          <a:solidFill>
                            <a:srgbClr val="000000"/>
                          </a:solidFill>
                          <a:effectLst/>
                          <a:latin typeface="Arial" panose="020B0604020202020204" pitchFamily="34" charset="0"/>
                        </a:rPr>
                        <a:t>Data Collection- General Guidelines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92074020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77114324"/>
                  </a:ext>
                </a:extLst>
              </a:tr>
              <a:tr h="163957">
                <a:tc>
                  <a:txBody>
                    <a:bodyPr/>
                    <a:lstStyle/>
                    <a:p>
                      <a:pPr marL="0" indent="0" algn="l" fontAlgn="b">
                        <a:buNone/>
                      </a:pPr>
                      <a:r>
                        <a:rPr lang="en-US" sz="1100" b="1" i="0" u="none" strike="noStrike">
                          <a:solidFill>
                            <a:srgbClr val="000000"/>
                          </a:solidFill>
                          <a:effectLst/>
                          <a:latin typeface="Arial" panose="020B0604020202020204" pitchFamily="34" charset="0"/>
                        </a:rPr>
                        <a:t>Stage-1</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12">
                  <a:txBody>
                    <a:bodyPr/>
                    <a:lstStyle/>
                    <a:p>
                      <a:pPr marL="0" indent="0" algn="l" fontAlgn="t">
                        <a:buNone/>
                      </a:pPr>
                      <a:r>
                        <a:rPr lang="en-US" sz="900" b="0" i="0" u="none" strike="noStrike">
                          <a:solidFill>
                            <a:srgbClr val="000000"/>
                          </a:solidFill>
                          <a:effectLst/>
                          <a:latin typeface="Arial" panose="020B0604020202020204" pitchFamily="34" charset="0"/>
                        </a:rPr>
                        <a:t>Once peers are selected, create the Adjustment Summary</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Always double check the revenue, COGS, SG&amp;A, EBIT, etc. of the “target” company against its Annual Report / 10-K, as these are the numbers the account team (partners) and the client (CEO, SVPs, etc.) are most likely to be familiar with. If there are major discrepancies, identify why and determine appropriate path forward (generally try to align with ARs / 10-Ks)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Always use </a:t>
                      </a:r>
                      <a:r>
                        <a:rPr lang="en-US" sz="900" b="0" i="0" u="none" strike="noStrike" err="1">
                          <a:solidFill>
                            <a:srgbClr val="000000"/>
                          </a:solidFill>
                          <a:effectLst/>
                          <a:latin typeface="Arial" panose="020B0604020202020204" pitchFamily="34" charset="0"/>
                        </a:rPr>
                        <a:t>CapIQ</a:t>
                      </a:r>
                      <a:r>
                        <a:rPr lang="en-US" sz="900" b="0" i="0" u="none" strike="noStrike">
                          <a:solidFill>
                            <a:srgbClr val="000000"/>
                          </a:solidFill>
                          <a:effectLst/>
                          <a:latin typeface="Arial" panose="020B0604020202020204" pitchFamily="34" charset="0"/>
                        </a:rPr>
                        <a:t> data, without significant changes, in order to expedite the process and ensure apples to apples comparison, except:</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When the deviation between adjusted EBIT/EBITDA and CIQ EBIT/EBITDA are significant; Wherever available, use Non-GAAP financials (For US companies) and Adjusted/Underlined financials (for EU companies)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If there are any major outliers in the peer set (SG&amp;A, COGS, etc. looks way off from rest of peers), utilize the 10-Ks to try to figure out why this might be the case and ensure that we have apples-to-apples comparison</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030315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64058391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717385883"/>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98076768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4049166360"/>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761970830"/>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35659003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873827417"/>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05169889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601264308"/>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74115858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2743429243"/>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28738833"/>
                  </a:ext>
                </a:extLst>
              </a:tr>
              <a:tr h="177620">
                <a:tc>
                  <a:txBody>
                    <a:bodyPr/>
                    <a:lstStyle/>
                    <a:p>
                      <a:pPr marL="0" indent="0" algn="l" fontAlgn="b">
                        <a:buNone/>
                      </a:pPr>
                      <a:r>
                        <a:rPr lang="en-US" sz="1100" b="1" i="0" u="none" strike="noStrike">
                          <a:solidFill>
                            <a:srgbClr val="000000"/>
                          </a:solidFill>
                          <a:effectLst/>
                          <a:latin typeface="Arial" panose="020B0604020202020204" pitchFamily="34" charset="0"/>
                        </a:rPr>
                        <a:t>Stage-2</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9">
                  <a:txBody>
                    <a:bodyPr/>
                    <a:lstStyle/>
                    <a:p>
                      <a:pPr marL="0" indent="0" algn="l" fontAlgn="t">
                        <a:buNone/>
                      </a:pPr>
                      <a:r>
                        <a:rPr lang="en-US" sz="900" b="0" i="0" u="none" strike="noStrike">
                          <a:solidFill>
                            <a:srgbClr val="000000"/>
                          </a:solidFill>
                          <a:effectLst/>
                          <a:latin typeface="Arial" panose="020B0604020202020204" pitchFamily="34" charset="0"/>
                        </a:rPr>
                        <a:t>Ensure bucketing of COGS and SG&amp;A is consistent across comps to ensure an apples-to-apples comparison. Key components that usually create discrepancies across comps (use 10-Ks to determine additional detail):</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Depreciation &amp; Amortization could either be its own line item and/or could be included in COGS or SG&amp;A. Ensure this is consistent across all peers (usually by adding to COGS when it is a separate line item)</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Rent might be included in COGS or SG&amp;A (usually in retail companies or industries with considerable real estate)</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R&amp;D is sometimes included within SG&amp;A or as a separate line item. Ensure this is consistent across all peers. In general, for industries where there’s high R&amp;D, it is helpful to ensure it is separate from SG&amp;A (e.g. pharmaceuticals, technology, etc.). In cases where R&amp;D can be excluded from its respective cost bucket for all/most peers, we prefer benchmarking it separately</a:t>
                      </a:r>
                    </a:p>
                  </a:txBody>
                  <a:tcPr marL="0" marR="0" marT="0" marB="0">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14666688"/>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2061070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970553235"/>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393908227"/>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244182642"/>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402191248"/>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848177716"/>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506607601"/>
                  </a:ext>
                </a:extLst>
              </a:tr>
              <a:tr h="309127">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90539256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marL="0" indent="0" algn="l" fontAlgn="t">
                        <a:buNone/>
                      </a:pPr>
                      <a:r>
                        <a:rPr lang="en-US" sz="900" b="0" i="0" u="none" strike="noStrike">
                          <a:solidFill>
                            <a:srgbClr val="000000"/>
                          </a:solidFill>
                          <a:effectLst/>
                          <a:latin typeface="Arial" panose="020B0604020202020204" pitchFamily="34" charset="0"/>
                        </a:rPr>
                        <a:t> </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9494386"/>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t">
                        <a:buNone/>
                      </a:pPr>
                      <a:r>
                        <a:rPr lang="en-US" sz="900" b="0" i="0" u="none" strike="noStrike">
                          <a:solidFill>
                            <a:srgbClr val="000000"/>
                          </a:solidFill>
                          <a:effectLst/>
                          <a:latin typeface="Arial" panose="020B0604020202020204" pitchFamily="34" charset="0"/>
                        </a:rPr>
                        <a:t> </a:t>
                      </a:r>
                    </a:p>
                  </a:txBody>
                  <a:tcPr marL="0" marR="0" marT="0" marB="0">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603133122"/>
                  </a:ext>
                </a:extLst>
              </a:tr>
              <a:tr h="177620">
                <a:tc>
                  <a:txBody>
                    <a:bodyPr/>
                    <a:lstStyle/>
                    <a:p>
                      <a:pPr marL="0" indent="0" algn="l" fontAlgn="b">
                        <a:buNone/>
                      </a:pPr>
                      <a:r>
                        <a:rPr lang="en-US" sz="1100" b="1" i="0" u="none" strike="noStrike">
                          <a:solidFill>
                            <a:srgbClr val="000000"/>
                          </a:solidFill>
                          <a:effectLst/>
                          <a:latin typeface="Arial" panose="020B0604020202020204" pitchFamily="34" charset="0"/>
                        </a:rPr>
                        <a:t>Stage-3</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8">
                  <a:txBody>
                    <a:bodyPr/>
                    <a:lstStyle/>
                    <a:p>
                      <a:pPr marL="0" indent="0" algn="l" fontAlgn="t">
                        <a:buNone/>
                      </a:pPr>
                      <a:r>
                        <a:rPr lang="en-US" sz="900" b="0" i="0" u="none" strike="noStrike">
                          <a:solidFill>
                            <a:srgbClr val="000000"/>
                          </a:solidFill>
                          <a:effectLst/>
                          <a:latin typeface="Arial" panose="020B0604020202020204" pitchFamily="34" charset="0"/>
                        </a:rPr>
                        <a:t>Pull </a:t>
                      </a:r>
                      <a:r>
                        <a:rPr lang="en-US" sz="900" b="0" i="0" u="none" strike="noStrike" err="1">
                          <a:solidFill>
                            <a:srgbClr val="000000"/>
                          </a:solidFill>
                          <a:effectLst/>
                          <a:latin typeface="Arial" panose="020B0604020202020204" pitchFamily="34" charset="0"/>
                        </a:rPr>
                        <a:t>CapIQ</a:t>
                      </a:r>
                      <a:r>
                        <a:rPr lang="en-US" sz="900" b="0" i="0" u="none" strike="noStrike">
                          <a:solidFill>
                            <a:srgbClr val="000000"/>
                          </a:solidFill>
                          <a:effectLst/>
                          <a:latin typeface="Arial" panose="020B0604020202020204" pitchFamily="34" charset="0"/>
                        </a:rPr>
                        <a:t> information on each of the companies into the CIQ Dashboard (see “Key excels used” section for greater detail) and begin to reconcile any key differences between the companies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Data should be taken for the past four periods (e.g. FY17-FY20 &amp; LTM FY21)</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Sometimes certain critical companies don’t have data available. Still include them, but that means sometimes the benchmarks need to be taken off of an earlier year (e.g. 2019 instead of 2020), even if 2020 is still kept on the chart (savings would be calculated based on the target company’s 2018 values)</a:t>
                      </a:r>
                      <a:br>
                        <a:rPr lang="en-US" sz="900" b="0" i="0" u="none" strike="noStrike">
                          <a:solidFill>
                            <a:srgbClr val="000000"/>
                          </a:solidFill>
                          <a:effectLst/>
                          <a:latin typeface="Arial" panose="020B0604020202020204" pitchFamily="34" charset="0"/>
                        </a:rPr>
                      </a:br>
                      <a:r>
                        <a:rPr lang="en-US" sz="900" b="0" i="0" u="none" strike="noStrike">
                          <a:solidFill>
                            <a:srgbClr val="000000"/>
                          </a:solidFill>
                          <a:effectLst/>
                          <a:latin typeface="Arial" panose="020B0604020202020204" pitchFamily="34" charset="0"/>
                        </a:rPr>
                        <a:t>Make sure you are aware of each of the latest years of data for each of the companies (e.g. know that Unilever’s last available data was 2017, not 2018)</a:t>
                      </a:r>
                    </a:p>
                  </a:txBody>
                  <a:tcPr marL="0" marR="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005174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544135491"/>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525411713"/>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87396540"/>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601484634"/>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598222796"/>
                  </a:ext>
                </a:extLst>
              </a:tr>
              <a:tr h="145170">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102578084"/>
                  </a:ext>
                </a:extLst>
              </a:tr>
              <a:tr h="153709">
                <a:tc>
                  <a:txBody>
                    <a:bodyPr/>
                    <a:lstStyle/>
                    <a:p>
                      <a:pPr marL="0" indent="0" algn="l" fontAlgn="b">
                        <a:buNone/>
                      </a:pPr>
                      <a:r>
                        <a:rPr lang="en-US" sz="9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110275740"/>
                  </a:ext>
                </a:extLst>
              </a:tr>
            </a:tbl>
          </a:graphicData>
        </a:graphic>
      </p:graphicFrame>
    </p:spTree>
    <p:custDataLst>
      <p:tags r:id="rId1"/>
    </p:custDataLst>
    <p:extLst>
      <p:ext uri="{BB962C8B-B14F-4D97-AF65-F5344CB8AC3E}">
        <p14:creationId xmlns:p14="http://schemas.microsoft.com/office/powerpoint/2010/main" val="1990475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1D3EEBA5-5E90-DBCB-27CC-BD05C0490567}"/>
              </a:ext>
            </a:extLst>
          </p:cNvPr>
          <p:cNvGraphicFramePr>
            <a:graphicFrameLocks/>
          </p:cNvGraphicFramePr>
          <p:nvPr>
            <p:custDataLst>
              <p:tags r:id="rId2"/>
            </p:custDataLst>
            <p:extLst>
              <p:ext uri="{D42A27DB-BD31-4B8C-83A1-F6EECF244321}">
                <p14:modId xmlns:p14="http://schemas.microsoft.com/office/powerpoint/2010/main" val="34096609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4" name="think-cell data - do not delete" hidden="1">
                        <a:extLst>
                          <a:ext uri="{FF2B5EF4-FFF2-40B4-BE49-F238E27FC236}">
                            <a16:creationId xmlns:a16="http://schemas.microsoft.com/office/drawing/2014/main" id="{1D3EEBA5-5E90-DBCB-27CC-BD05C049056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762D00D8-95D2-1086-147A-6719219B56A2}"/>
              </a:ext>
            </a:extLst>
          </p:cNvPr>
          <p:cNvGrpSpPr/>
          <p:nvPr/>
        </p:nvGrpSpPr>
        <p:grpSpPr>
          <a:xfrm>
            <a:off x="0" y="6926580"/>
            <a:ext cx="12192000" cy="137160"/>
            <a:chOff x="0" y="6926580"/>
            <a:chExt cx="12192000" cy="137160"/>
          </a:xfrm>
        </p:grpSpPr>
        <p:sp>
          <p:nvSpPr>
            <p:cNvPr id="10" name="btfpColumnGapBlocker877798">
              <a:extLst>
                <a:ext uri="{FF2B5EF4-FFF2-40B4-BE49-F238E27FC236}">
                  <a16:creationId xmlns:a16="http://schemas.microsoft.com/office/drawing/2014/main" id="{B9F4ED49-0FF7-9A27-48ED-04C3440F607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431137">
              <a:extLst>
                <a:ext uri="{FF2B5EF4-FFF2-40B4-BE49-F238E27FC236}">
                  <a16:creationId xmlns:a16="http://schemas.microsoft.com/office/drawing/2014/main" id="{AD578F49-7722-99AA-A8BD-19EA1C45E2BD}"/>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15259">
              <a:extLst>
                <a:ext uri="{FF2B5EF4-FFF2-40B4-BE49-F238E27FC236}">
                  <a16:creationId xmlns:a16="http://schemas.microsoft.com/office/drawing/2014/main" id="{41C66392-0B38-7384-1586-D67F245930CD}"/>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156200">
              <a:extLst>
                <a:ext uri="{FF2B5EF4-FFF2-40B4-BE49-F238E27FC236}">
                  <a16:creationId xmlns:a16="http://schemas.microsoft.com/office/drawing/2014/main" id="{18029A24-CF78-DDBA-6358-076CA3EC5D8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9C42FBE-3A76-C576-4371-BC3A45DECC6B}"/>
              </a:ext>
            </a:extLst>
          </p:cNvPr>
          <p:cNvGrpSpPr/>
          <p:nvPr/>
        </p:nvGrpSpPr>
        <p:grpSpPr>
          <a:xfrm>
            <a:off x="0" y="-205740"/>
            <a:ext cx="12192000" cy="137160"/>
            <a:chOff x="0" y="-205740"/>
            <a:chExt cx="12192000" cy="137160"/>
          </a:xfrm>
        </p:grpSpPr>
        <p:sp>
          <p:nvSpPr>
            <p:cNvPr id="9" name="btfpColumnGapBlocker501565">
              <a:extLst>
                <a:ext uri="{FF2B5EF4-FFF2-40B4-BE49-F238E27FC236}">
                  <a16:creationId xmlns:a16="http://schemas.microsoft.com/office/drawing/2014/main" id="{CF6BD6FB-B092-9C7E-5A75-BE941BCDE8B9}"/>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99053">
              <a:extLst>
                <a:ext uri="{FF2B5EF4-FFF2-40B4-BE49-F238E27FC236}">
                  <a16:creationId xmlns:a16="http://schemas.microsoft.com/office/drawing/2014/main" id="{9E1E1FDF-66E4-6397-2A25-4CD495F1749E}"/>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852935">
              <a:extLst>
                <a:ext uri="{FF2B5EF4-FFF2-40B4-BE49-F238E27FC236}">
                  <a16:creationId xmlns:a16="http://schemas.microsoft.com/office/drawing/2014/main" id="{13C17DC9-8D83-E83F-DC1E-0A8444AFF68D}"/>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1736">
              <a:extLst>
                <a:ext uri="{FF2B5EF4-FFF2-40B4-BE49-F238E27FC236}">
                  <a16:creationId xmlns:a16="http://schemas.microsoft.com/office/drawing/2014/main" id="{D67FDF53-BF4B-BA45-F4EB-419278E34693}"/>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FC9E29F-91BF-4C58-4BBB-951E1201E985}"/>
              </a:ext>
            </a:extLst>
          </p:cNvPr>
          <p:cNvSpPr>
            <a:spLocks noGrp="1"/>
          </p:cNvSpPr>
          <p:nvPr>
            <p:ph type="title"/>
          </p:nvPr>
        </p:nvSpPr>
        <p:spPr/>
        <p:txBody>
          <a:bodyPr vert="horz"/>
          <a:lstStyle/>
          <a:p>
            <a:r>
              <a:rPr lang="en-US"/>
              <a:t>Adjustment Summary- Cost Adjustments</a:t>
            </a:r>
          </a:p>
        </p:txBody>
      </p:sp>
      <p:graphicFrame>
        <p:nvGraphicFramePr>
          <p:cNvPr id="13" name="Table 12">
            <a:extLst>
              <a:ext uri="{FF2B5EF4-FFF2-40B4-BE49-F238E27FC236}">
                <a16:creationId xmlns:a16="http://schemas.microsoft.com/office/drawing/2014/main" id="{213F3B78-76E6-0D1C-5353-A5149D14C4F5}"/>
              </a:ext>
            </a:extLst>
          </p:cNvPr>
          <p:cNvGraphicFramePr>
            <a:graphicFrameLocks noGrp="1"/>
          </p:cNvGraphicFramePr>
          <p:nvPr/>
        </p:nvGraphicFramePr>
        <p:xfrm>
          <a:off x="330200" y="1270635"/>
          <a:ext cx="11531600" cy="5288280"/>
        </p:xfrm>
        <a:graphic>
          <a:graphicData uri="http://schemas.openxmlformats.org/drawingml/2006/table">
            <a:tbl>
              <a:tblPr/>
              <a:tblGrid>
                <a:gridCol w="4795421">
                  <a:extLst>
                    <a:ext uri="{9D8B030D-6E8A-4147-A177-3AD203B41FA5}">
                      <a16:colId xmlns:a16="http://schemas.microsoft.com/office/drawing/2014/main" val="3101009068"/>
                    </a:ext>
                  </a:extLst>
                </a:gridCol>
                <a:gridCol w="6736179">
                  <a:extLst>
                    <a:ext uri="{9D8B030D-6E8A-4147-A177-3AD203B41FA5}">
                      <a16:colId xmlns:a16="http://schemas.microsoft.com/office/drawing/2014/main" val="1616830169"/>
                    </a:ext>
                  </a:extLst>
                </a:gridCol>
              </a:tblGrid>
              <a:tr h="0">
                <a:tc gridSpan="2">
                  <a:txBody>
                    <a:bodyPr/>
                    <a:lstStyle/>
                    <a:p>
                      <a:pPr marL="0" indent="0" algn="ctr" fontAlgn="ctr">
                        <a:buNone/>
                      </a:pPr>
                      <a:r>
                        <a:rPr lang="en-US" sz="1800" b="1" i="0" u="none" strike="noStrike">
                          <a:solidFill>
                            <a:srgbClr val="000000"/>
                          </a:solidFill>
                          <a:effectLst/>
                          <a:latin typeface="Arial" panose="020B0604020202020204" pitchFamily="34" charset="0"/>
                        </a:rPr>
                        <a:t>Cost Specific- Guidelines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3958910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262086388"/>
                  </a:ext>
                </a:extLst>
              </a:tr>
              <a:tr h="198120">
                <a:tc>
                  <a:txBody>
                    <a:bodyPr/>
                    <a:lstStyle/>
                    <a:p>
                      <a:pPr marL="0" indent="0" algn="l" fontAlgn="b">
                        <a:buNone/>
                      </a:pPr>
                      <a:r>
                        <a:rPr lang="en-US" sz="1200" b="1" i="0" u="none" strike="noStrike">
                          <a:solidFill>
                            <a:srgbClr val="000000"/>
                          </a:solidFill>
                          <a:effectLst/>
                          <a:latin typeface="Arial" panose="020B0604020202020204" pitchFamily="34" charset="0"/>
                        </a:rPr>
                        <a:t>R&amp;D</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5">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Companies not reporting R&amp;D as a separate line item and bucketing it under COGS or SG&amp;A</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Typically R&amp;D amount and bucketing is available in footnotes. In case just the amount is available then take a judgement call on bucketing basis where peers bucket this expense</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833242"/>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lnL>
                      <a:noFill/>
                    </a:lnL>
                  </a:tcPr>
                </a:tc>
                <a:extLst>
                  <a:ext uri="{0D108BD9-81ED-4DB2-BD59-A6C34878D82A}">
                    <a16:rowId xmlns:a16="http://schemas.microsoft.com/office/drawing/2014/main" val="2335020208"/>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lnL>
                      <a:noFill/>
                    </a:lnL>
                  </a:tcPr>
                </a:tc>
                <a:extLst>
                  <a:ext uri="{0D108BD9-81ED-4DB2-BD59-A6C34878D82A}">
                    <a16:rowId xmlns:a16="http://schemas.microsoft.com/office/drawing/2014/main" val="1265932830"/>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lnL>
                      <a:noFill/>
                    </a:lnL>
                  </a:tcPr>
                </a:tc>
                <a:extLst>
                  <a:ext uri="{0D108BD9-81ED-4DB2-BD59-A6C34878D82A}">
                    <a16:rowId xmlns:a16="http://schemas.microsoft.com/office/drawing/2014/main" val="3342727252"/>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endParaRPr lang="en-US"/>
                    </a:p>
                  </a:txBody>
                  <a:tcPr>
                    <a:lnL>
                      <a:noFill/>
                    </a:lnL>
                  </a:tcPr>
                </a:tc>
                <a:extLst>
                  <a:ext uri="{0D108BD9-81ED-4DB2-BD59-A6C34878D82A}">
                    <a16:rowId xmlns:a16="http://schemas.microsoft.com/office/drawing/2014/main" val="3475627134"/>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t">
                        <a:buNone/>
                      </a:pPr>
                      <a:r>
                        <a:rPr lang="en-US" sz="1000" b="0" i="0" u="none" strike="noStrike">
                          <a:solidFill>
                            <a:srgbClr val="000000"/>
                          </a:solidFill>
                          <a:effectLst/>
                          <a:latin typeface="Arial" panose="020B0604020202020204" pitchFamily="34" charset="0"/>
                        </a:rPr>
                        <a:t> </a:t>
                      </a:r>
                    </a:p>
                  </a:txBody>
                  <a:tcPr marL="0" marR="0" marT="0" marB="0">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246925134"/>
                  </a:ext>
                </a:extLst>
              </a:tr>
              <a:tr h="198120">
                <a:tc>
                  <a:txBody>
                    <a:bodyPr/>
                    <a:lstStyle/>
                    <a:p>
                      <a:pPr marL="0" indent="0" algn="l" fontAlgn="b">
                        <a:buNone/>
                      </a:pPr>
                      <a:r>
                        <a:rPr lang="en-US" sz="1200" b="1" i="0" u="none" strike="noStrike">
                          <a:solidFill>
                            <a:srgbClr val="000000"/>
                          </a:solidFill>
                          <a:effectLst/>
                          <a:latin typeface="Arial" panose="020B0604020202020204" pitchFamily="34" charset="0"/>
                        </a:rPr>
                        <a:t>Personnel/Staff costs (Primarily for Non-US companies)</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7">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Some EU companies, especially, report staff/personnel costs instead of typical SG&amp;A and R&amp;D expense items making benchmarking with US peers (usually reporting COGS and SG&amp;A) difficult</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Typically allocate staff costs to COGS, SG&amp;A and R&amp;D using relevant employee split provided in annual/investor report. In cases where all/most peers report staff costs as a separate line item, bucketing under other cost heads is not required and staff costs are shown separately [Need to align on both the options with the account team as this is highly directional and might heavily skew performance of that peer]</a:t>
                      </a:r>
                    </a:p>
                  </a:txBody>
                  <a:tcPr marL="0" marR="0" marT="0" marB="0">
                    <a:lnL>
                      <a:noFill/>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724170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715205323"/>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929105351"/>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40604522"/>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4009801158"/>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229203265"/>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294665414"/>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69750895"/>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6750173"/>
                  </a:ext>
                </a:extLst>
              </a:tr>
              <a:tr h="200025">
                <a:tc>
                  <a:txBody>
                    <a:bodyPr/>
                    <a:lstStyle/>
                    <a:p>
                      <a:pPr marL="0" indent="0" algn="l" fontAlgn="b">
                        <a:buNone/>
                      </a:pPr>
                      <a:r>
                        <a:rPr lang="en-US" sz="1200" b="1" i="0" u="none" strike="noStrike">
                          <a:solidFill>
                            <a:srgbClr val="000000"/>
                          </a:solidFill>
                          <a:effectLst/>
                          <a:latin typeface="Arial" panose="020B0604020202020204" pitchFamily="34" charset="0"/>
                        </a:rPr>
                        <a:t>Distribution and Rent (Mainly for CPG/Retail companies)</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rowSpan="7">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Shipping &amp; Handling/Distribution/Rent might not be consistently reported by all peers under the same head (COGS, SG&amp;A or separate line item) making apples-to-apples benchmarking difficult</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Use footnotes to reallocate relevant expenses to ensure comparability</a:t>
                      </a:r>
                      <a:br>
                        <a:rPr lang="en-US" sz="1000" b="0" i="0" u="none" strike="noStrike">
                          <a:solidFill>
                            <a:srgbClr val="000000"/>
                          </a:solidFill>
                          <a:effectLst/>
                          <a:latin typeface="Arial" panose="020B0604020202020204" pitchFamily="34" charset="0"/>
                        </a:rPr>
                      </a:br>
                      <a:r>
                        <a:rPr lang="en-US" sz="1000" b="0" i="0" u="none" strike="noStrike">
                          <a:solidFill>
                            <a:srgbClr val="000000"/>
                          </a:solidFill>
                          <a:effectLst/>
                          <a:latin typeface="Arial" panose="020B0604020202020204" pitchFamily="34" charset="0"/>
                        </a:rPr>
                        <a:t>For those peers where reallocation is not possible we can take client’s expense as % revenue as proxy to reallocate expenses [Need to align this assumption with account team]</a:t>
                      </a:r>
                    </a:p>
                  </a:txBody>
                  <a:tcPr marL="0" marR="0" marT="0" marB="0">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1250602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760966374"/>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042106907"/>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9701183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81877055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37751497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476168236"/>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77886817"/>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55816"/>
                  </a:ext>
                </a:extLst>
              </a:tr>
              <a:tr h="198120">
                <a:tc>
                  <a:txBody>
                    <a:bodyPr/>
                    <a:lstStyle/>
                    <a:p>
                      <a:pPr marL="0" indent="0" algn="l" fontAlgn="b">
                        <a:buNone/>
                      </a:pPr>
                      <a:r>
                        <a:rPr lang="en-US" sz="1200" b="1" i="0" u="none" strike="noStrike">
                          <a:solidFill>
                            <a:srgbClr val="000000"/>
                          </a:solidFill>
                          <a:effectLst/>
                          <a:latin typeface="Arial" panose="020B0604020202020204" pitchFamily="34" charset="0"/>
                        </a:rPr>
                        <a:t>Share-based compensation (Mainly for Tech comps) </a:t>
                      </a: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rowSpan="5">
                  <a:txBody>
                    <a:bodyPr/>
                    <a:lstStyle/>
                    <a:p>
                      <a:pPr marL="0" indent="0" algn="l" fontAlgn="t">
                        <a:buNone/>
                      </a:pPr>
                      <a:r>
                        <a:rPr lang="en-US" sz="1000" b="1" i="0" u="none" strike="noStrike">
                          <a:solidFill>
                            <a:srgbClr val="C00000"/>
                          </a:solidFill>
                          <a:effectLst/>
                          <a:latin typeface="Arial" panose="020B0604020202020204" pitchFamily="34" charset="0"/>
                        </a:rPr>
                        <a:t>Complication</a:t>
                      </a:r>
                      <a:r>
                        <a:rPr lang="en-US" sz="1000" b="0" i="0" u="none" strike="noStrike">
                          <a:solidFill>
                            <a:srgbClr val="000000"/>
                          </a:solidFill>
                          <a:effectLst/>
                          <a:latin typeface="Arial" panose="020B0604020202020204" pitchFamily="34" charset="0"/>
                        </a:rPr>
                        <a:t>:  Tech companies (Pinterest, FB, Twitter etc.) usually have significant costs in SBC that might distort the benchmarking exercise</a:t>
                      </a:r>
                      <a:br>
                        <a:rPr lang="en-US" sz="1000" b="0" i="0" u="none" strike="noStrike">
                          <a:solidFill>
                            <a:srgbClr val="000000"/>
                          </a:solidFill>
                          <a:effectLst/>
                          <a:latin typeface="Arial" panose="020B0604020202020204" pitchFamily="34" charset="0"/>
                        </a:rPr>
                      </a:br>
                      <a:r>
                        <a:rPr lang="en-US" sz="1000" b="1" i="0" u="none" strike="noStrike">
                          <a:solidFill>
                            <a:srgbClr val="61A48D"/>
                          </a:solidFill>
                          <a:effectLst/>
                          <a:latin typeface="Arial" panose="020B0604020202020204" pitchFamily="34" charset="0"/>
                        </a:rPr>
                        <a:t>Way Forward/Solution</a:t>
                      </a:r>
                      <a:r>
                        <a:rPr lang="en-US" sz="1000" b="0" i="0" u="none" strike="noStrike">
                          <a:solidFill>
                            <a:srgbClr val="000000"/>
                          </a:solidFill>
                          <a:effectLst/>
                          <a:latin typeface="Arial" panose="020B0604020202020204" pitchFamily="34" charset="0"/>
                        </a:rPr>
                        <a:t>: Capture SBC accruing to each major cost bucket (COGS, SG&amp;A and R&amp;D) separately and align with account team on how they want to view the cost buckets (with or w/o SBC)</a:t>
                      </a:r>
                    </a:p>
                  </a:txBody>
                  <a:tcPr marL="0" marR="0" marT="0" marB="0">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4118408"/>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2022544131"/>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1643296399"/>
                  </a:ext>
                </a:extLst>
              </a:tr>
              <a:tr h="161925">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a:noFill/>
                    </a:lnB>
                    <a:noFill/>
                  </a:tcPr>
                </a:tc>
                <a:tc vMerge="1">
                  <a:txBody>
                    <a:bodyPr/>
                    <a:lstStyle/>
                    <a:p>
                      <a:endParaRPr lang="en-US"/>
                    </a:p>
                  </a:txBody>
                  <a:tcPr/>
                </a:tc>
                <a:extLst>
                  <a:ext uri="{0D108BD9-81ED-4DB2-BD59-A6C34878D82A}">
                    <a16:rowId xmlns:a16="http://schemas.microsoft.com/office/drawing/2014/main" val="3312527287"/>
                  </a:ext>
                </a:extLst>
              </a:tr>
              <a:tr h="171450">
                <a:tc>
                  <a:txBody>
                    <a:bodyPr/>
                    <a:lstStyle/>
                    <a:p>
                      <a:pPr marL="0" indent="0" algn="l" fontAlgn="b">
                        <a:buNone/>
                      </a:pPr>
                      <a:r>
                        <a:rPr lang="en-US" sz="1000" b="0" i="0" u="none" strike="noStrike">
                          <a:solidFill>
                            <a:srgbClr val="000000"/>
                          </a:solidFill>
                          <a:effectLst/>
                          <a:latin typeface="Arial" panose="020B0604020202020204" pitchFamily="34" charset="0"/>
                        </a:rPr>
                        <a:t> </a:t>
                      </a: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579094860"/>
                  </a:ext>
                </a:extLst>
              </a:tr>
            </a:tbl>
          </a:graphicData>
        </a:graphic>
      </p:graphicFrame>
    </p:spTree>
    <p:custDataLst>
      <p:tags r:id="rId1"/>
    </p:custDataLst>
    <p:extLst>
      <p:ext uri="{BB962C8B-B14F-4D97-AF65-F5344CB8AC3E}">
        <p14:creationId xmlns:p14="http://schemas.microsoft.com/office/powerpoint/2010/main" val="3470888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41A6496-98CC-A232-03E1-560BD595A5BE}"/>
              </a:ext>
            </a:extLst>
          </p:cNvPr>
          <p:cNvGraphicFramePr>
            <a:graphicFrameLocks/>
          </p:cNvGraphicFramePr>
          <p:nvPr>
            <p:custDataLst>
              <p:tags r:id="rId2"/>
            </p:custDataLst>
            <p:extLst>
              <p:ext uri="{D42A27DB-BD31-4B8C-83A1-F6EECF244321}">
                <p14:modId xmlns:p14="http://schemas.microsoft.com/office/powerpoint/2010/main" val="1756895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7" name="think-cell data - do not delete" hidden="1">
                        <a:extLst>
                          <a:ext uri="{FF2B5EF4-FFF2-40B4-BE49-F238E27FC236}">
                            <a16:creationId xmlns:a16="http://schemas.microsoft.com/office/drawing/2014/main" id="{B41A6496-98CC-A232-03E1-560BD595A5B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7" name="btfpColumnIndicatorGroup2">
            <a:extLst>
              <a:ext uri="{FF2B5EF4-FFF2-40B4-BE49-F238E27FC236}">
                <a16:creationId xmlns:a16="http://schemas.microsoft.com/office/drawing/2014/main" id="{8A80DEA3-224B-BC07-4979-56F1A9A46EBB}"/>
              </a:ext>
            </a:extLst>
          </p:cNvPr>
          <p:cNvGrpSpPr/>
          <p:nvPr/>
        </p:nvGrpSpPr>
        <p:grpSpPr>
          <a:xfrm>
            <a:off x="0" y="6926580"/>
            <a:ext cx="12192000" cy="137160"/>
            <a:chOff x="0" y="6926580"/>
            <a:chExt cx="12192000" cy="137160"/>
          </a:xfrm>
        </p:grpSpPr>
        <p:sp>
          <p:nvSpPr>
            <p:cNvPr id="45" name="btfpColumnGapBlocker964606">
              <a:extLst>
                <a:ext uri="{FF2B5EF4-FFF2-40B4-BE49-F238E27FC236}">
                  <a16:creationId xmlns:a16="http://schemas.microsoft.com/office/drawing/2014/main" id="{BC97D620-3AB3-A267-A4D1-50524ECA0083}"/>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3" name="btfpColumnGapBlocker481971">
              <a:extLst>
                <a:ext uri="{FF2B5EF4-FFF2-40B4-BE49-F238E27FC236}">
                  <a16:creationId xmlns:a16="http://schemas.microsoft.com/office/drawing/2014/main" id="{C1C8ED90-7B34-4BE8-31E2-A92BCA1A910D}"/>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212775">
              <a:extLst>
                <a:ext uri="{FF2B5EF4-FFF2-40B4-BE49-F238E27FC236}">
                  <a16:creationId xmlns:a16="http://schemas.microsoft.com/office/drawing/2014/main" id="{68F47A78-89FA-1DA4-196A-7209096E026A}"/>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917865">
              <a:extLst>
                <a:ext uri="{FF2B5EF4-FFF2-40B4-BE49-F238E27FC236}">
                  <a16:creationId xmlns:a16="http://schemas.microsoft.com/office/drawing/2014/main" id="{FD1743ED-2058-CDED-EB83-3F0F9DB7BFB3}"/>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7" name="btfpColumnGapBlocker180562">
              <a:extLst>
                <a:ext uri="{FF2B5EF4-FFF2-40B4-BE49-F238E27FC236}">
                  <a16:creationId xmlns:a16="http://schemas.microsoft.com/office/drawing/2014/main" id="{B80CA716-F074-36BC-10FB-8E6BE3A2F729}"/>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762997">
              <a:extLst>
                <a:ext uri="{FF2B5EF4-FFF2-40B4-BE49-F238E27FC236}">
                  <a16:creationId xmlns:a16="http://schemas.microsoft.com/office/drawing/2014/main" id="{5E87FB42-5942-0738-09BB-10467B1C8421}"/>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801884">
              <a:extLst>
                <a:ext uri="{FF2B5EF4-FFF2-40B4-BE49-F238E27FC236}">
                  <a16:creationId xmlns:a16="http://schemas.microsoft.com/office/drawing/2014/main" id="{3D3449EE-87A9-F085-D94A-7D7603CCA5F6}"/>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6" name="btfpColumnIndicatorGroup1">
            <a:extLst>
              <a:ext uri="{FF2B5EF4-FFF2-40B4-BE49-F238E27FC236}">
                <a16:creationId xmlns:a16="http://schemas.microsoft.com/office/drawing/2014/main" id="{AD6128E0-FA2E-C34F-A94F-1CBB65F0DE03}"/>
              </a:ext>
            </a:extLst>
          </p:cNvPr>
          <p:cNvGrpSpPr/>
          <p:nvPr/>
        </p:nvGrpSpPr>
        <p:grpSpPr>
          <a:xfrm>
            <a:off x="0" y="-205740"/>
            <a:ext cx="12192000" cy="137160"/>
            <a:chOff x="0" y="-205740"/>
            <a:chExt cx="12192000" cy="137160"/>
          </a:xfrm>
        </p:grpSpPr>
        <p:sp>
          <p:nvSpPr>
            <p:cNvPr id="44" name="btfpColumnGapBlocker292600">
              <a:extLst>
                <a:ext uri="{FF2B5EF4-FFF2-40B4-BE49-F238E27FC236}">
                  <a16:creationId xmlns:a16="http://schemas.microsoft.com/office/drawing/2014/main" id="{6D01E6A2-EDBD-3649-3BB7-FA62ECFD16F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2" name="btfpColumnGapBlocker825603">
              <a:extLst>
                <a:ext uri="{FF2B5EF4-FFF2-40B4-BE49-F238E27FC236}">
                  <a16:creationId xmlns:a16="http://schemas.microsoft.com/office/drawing/2014/main" id="{63298933-30CF-F2C6-F580-2EB84CB93C95}"/>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0" name="btfpColumnIndicator657806">
              <a:extLst>
                <a:ext uri="{FF2B5EF4-FFF2-40B4-BE49-F238E27FC236}">
                  <a16:creationId xmlns:a16="http://schemas.microsoft.com/office/drawing/2014/main" id="{0D713A19-8BDE-A76F-3ADE-387FD14DE393}"/>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8" name="btfpColumnIndicator881326">
              <a:extLst>
                <a:ext uri="{FF2B5EF4-FFF2-40B4-BE49-F238E27FC236}">
                  <a16:creationId xmlns:a16="http://schemas.microsoft.com/office/drawing/2014/main" id="{F8976562-5CF9-FF6E-527A-E14DAF542177}"/>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6" name="btfpColumnGapBlocker824301">
              <a:extLst>
                <a:ext uri="{FF2B5EF4-FFF2-40B4-BE49-F238E27FC236}">
                  <a16:creationId xmlns:a16="http://schemas.microsoft.com/office/drawing/2014/main" id="{C5AEA79E-EAAC-8A45-74F7-3FC6E3603C8F}"/>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195781">
              <a:extLst>
                <a:ext uri="{FF2B5EF4-FFF2-40B4-BE49-F238E27FC236}">
                  <a16:creationId xmlns:a16="http://schemas.microsoft.com/office/drawing/2014/main" id="{4DED1939-DF10-14A7-289E-F4342355D003}"/>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758414">
              <a:extLst>
                <a:ext uri="{FF2B5EF4-FFF2-40B4-BE49-F238E27FC236}">
                  <a16:creationId xmlns:a16="http://schemas.microsoft.com/office/drawing/2014/main" id="{572099C0-8002-A673-F595-C34E502DFCE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AB250C-4E08-1156-3B47-B6ABDA2553C1}"/>
              </a:ext>
            </a:extLst>
          </p:cNvPr>
          <p:cNvSpPr>
            <a:spLocks noGrp="1"/>
          </p:cNvSpPr>
          <p:nvPr>
            <p:ph type="title"/>
          </p:nvPr>
        </p:nvSpPr>
        <p:spPr/>
        <p:txBody>
          <a:bodyPr vert="horz"/>
          <a:lstStyle/>
          <a:p>
            <a:r>
              <a:rPr lang="en-US" b="1" u="sng"/>
              <a:t>Stage 2 – Data Collection &amp; Output Creation:</a:t>
            </a:r>
            <a:r>
              <a:rPr lang="en-US" b="1"/>
              <a:t> </a:t>
            </a:r>
            <a:r>
              <a:rPr lang="en-US"/>
              <a:t>Introduction (1/5)</a:t>
            </a:r>
          </a:p>
        </p:txBody>
      </p:sp>
      <p:grpSp>
        <p:nvGrpSpPr>
          <p:cNvPr id="9" name="btfpColumnHeaderBox686182">
            <a:extLst>
              <a:ext uri="{FF2B5EF4-FFF2-40B4-BE49-F238E27FC236}">
                <a16:creationId xmlns:a16="http://schemas.microsoft.com/office/drawing/2014/main" id="{5ED4A90D-2EF4-EBA6-9248-C88599691D37}"/>
              </a:ext>
            </a:extLst>
          </p:cNvPr>
          <p:cNvGrpSpPr/>
          <p:nvPr>
            <p:custDataLst>
              <p:tags r:id="rId3"/>
            </p:custDataLst>
          </p:nvPr>
        </p:nvGrpSpPr>
        <p:grpSpPr>
          <a:xfrm>
            <a:off x="417614" y="1268762"/>
            <a:ext cx="11444186" cy="318997"/>
            <a:chOff x="4354248" y="1502208"/>
            <a:chExt cx="3483504" cy="318997"/>
          </a:xfrm>
        </p:grpSpPr>
        <p:sp>
          <p:nvSpPr>
            <p:cNvPr id="10" name="btfpColumnHeaderBoxText686182">
              <a:extLst>
                <a:ext uri="{FF2B5EF4-FFF2-40B4-BE49-F238E27FC236}">
                  <a16:creationId xmlns:a16="http://schemas.microsoft.com/office/drawing/2014/main" id="{B19B28DB-A845-FB55-0DFA-7F295F5F5D5D}"/>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b="1">
                  <a:solidFill>
                    <a:srgbClr val="000000"/>
                  </a:solidFill>
                </a:rPr>
                <a:t>Overview</a:t>
              </a:r>
              <a:endParaRPr lang="en-US" sz="1600" b="1">
                <a:solidFill>
                  <a:srgbClr val="000000"/>
                </a:solidFill>
              </a:endParaRPr>
            </a:p>
          </p:txBody>
        </p:sp>
        <p:cxnSp>
          <p:nvCxnSpPr>
            <p:cNvPr id="11" name="btfpColumnHeaderBoxLine686182">
              <a:extLst>
                <a:ext uri="{FF2B5EF4-FFF2-40B4-BE49-F238E27FC236}">
                  <a16:creationId xmlns:a16="http://schemas.microsoft.com/office/drawing/2014/main" id="{4F6D4DC3-89E8-C072-F16D-B44C69F4C3C7}"/>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8" name="btfpBulletedList430166">
            <a:extLst>
              <a:ext uri="{FF2B5EF4-FFF2-40B4-BE49-F238E27FC236}">
                <a16:creationId xmlns:a16="http://schemas.microsoft.com/office/drawing/2014/main" id="{40C6CDC8-0F00-359C-36A3-22B24907E201}"/>
              </a:ext>
            </a:extLst>
          </p:cNvPr>
          <p:cNvSpPr txBox="1"/>
          <p:nvPr>
            <p:custDataLst>
              <p:tags r:id="rId4"/>
            </p:custDataLst>
          </p:nvPr>
        </p:nvSpPr>
        <p:spPr bwMode="gray">
          <a:xfrm>
            <a:off x="330200" y="1644187"/>
            <a:ext cx="11531599" cy="2988886"/>
          </a:xfrm>
          <a:prstGeom prst="rect">
            <a:avLst/>
          </a:prstGeom>
          <a:noFill/>
        </p:spPr>
        <p:txBody>
          <a:bodyPr vert="horz" wrap="square" lIns="36000" tIns="36000" rIns="36000" bIns="36000" rtlCol="0">
            <a:spAutoFit/>
          </a:bodyPr>
          <a:lstStyle/>
          <a:p>
            <a:pPr>
              <a:spcBef>
                <a:spcPts val="900"/>
              </a:spcBef>
              <a:defRPr/>
            </a:pPr>
            <a:r>
              <a:rPr lang="en-US" sz="1400"/>
              <a:t>Once the peer list for an OI has been confirmed, the first step to kicking off an OI is building the Excel Dashboard output</a:t>
            </a:r>
          </a:p>
          <a:p>
            <a:pPr>
              <a:spcBef>
                <a:spcPts val="900"/>
              </a:spcBef>
              <a:defRPr/>
            </a:pPr>
            <a:r>
              <a:rPr lang="en-US" sz="1400"/>
              <a:t>The Excel Dashboard is the central tool for the OI analysis, consolidating all financial data, adjustments, and outputs. The dashboard contains a few main tabs:</a:t>
            </a:r>
          </a:p>
          <a:p>
            <a:pPr lvl="1">
              <a:spcBef>
                <a:spcPts val="300"/>
              </a:spcBef>
              <a:defRPr/>
            </a:pPr>
            <a:r>
              <a:rPr lang="en-US" sz="1200" b="1"/>
              <a:t>Input Form </a:t>
            </a:r>
            <a:r>
              <a:rPr lang="en-US" sz="1200"/>
              <a:t>– This tab is used to input the names and </a:t>
            </a:r>
            <a:r>
              <a:rPr lang="en-US" sz="1200" err="1"/>
              <a:t>CapIQ</a:t>
            </a:r>
            <a:r>
              <a:rPr lang="en-US" sz="1200"/>
              <a:t> tickers for each peer as well as parameters that are used to scope the </a:t>
            </a:r>
            <a:r>
              <a:rPr lang="en-US" sz="1200" err="1"/>
              <a:t>CapIQ</a:t>
            </a:r>
            <a:r>
              <a:rPr lang="en-US" sz="1200"/>
              <a:t> analysis; this tab must be filled out to enable proper unlinking and seamless data pull from the </a:t>
            </a:r>
            <a:r>
              <a:rPr lang="en-US" sz="1200" err="1"/>
              <a:t>CapIQ</a:t>
            </a:r>
            <a:r>
              <a:rPr lang="en-US" sz="1200"/>
              <a:t> platform</a:t>
            </a:r>
          </a:p>
          <a:p>
            <a:pPr lvl="1">
              <a:spcBef>
                <a:spcPts val="300"/>
              </a:spcBef>
              <a:defRPr/>
            </a:pPr>
            <a:r>
              <a:rPr lang="en-US" sz="1200" b="1"/>
              <a:t>Reporting Structure </a:t>
            </a:r>
            <a:r>
              <a:rPr lang="en-US" sz="1200"/>
              <a:t>– Used to document the reporting structures of the target and peers, highlighting key differences for accurate benchmarking</a:t>
            </a:r>
          </a:p>
          <a:p>
            <a:pPr lvl="1">
              <a:spcBef>
                <a:spcPts val="300"/>
              </a:spcBef>
              <a:defRPr/>
            </a:pPr>
            <a:r>
              <a:rPr lang="en-US" sz="1200" b="1"/>
              <a:t>Income Statement Revised </a:t>
            </a:r>
            <a:r>
              <a:rPr lang="en-US" sz="1200"/>
              <a:t>– Used to pull in peer financials across multiple years and apply necessary adjustments for standardization</a:t>
            </a:r>
          </a:p>
          <a:p>
            <a:pPr lvl="1">
              <a:spcBef>
                <a:spcPts val="300"/>
              </a:spcBef>
              <a:defRPr/>
            </a:pPr>
            <a:r>
              <a:rPr lang="en-US" sz="1200" b="1"/>
              <a:t>Financials &amp; KPIs – </a:t>
            </a:r>
            <a:r>
              <a:rPr lang="en-US" sz="1200"/>
              <a:t>Consolidates key financial data from the Income Statement Revised tab as well as additional metrics sourced from </a:t>
            </a:r>
            <a:r>
              <a:rPr lang="en-US" sz="1200" err="1"/>
              <a:t>CapIQ</a:t>
            </a:r>
            <a:endParaRPr lang="en-US" sz="1200"/>
          </a:p>
          <a:p>
            <a:pPr lvl="1">
              <a:spcBef>
                <a:spcPts val="300"/>
              </a:spcBef>
              <a:defRPr/>
            </a:pPr>
            <a:r>
              <a:rPr lang="en-US" sz="1200" b="1" err="1"/>
              <a:t>Mekko</a:t>
            </a:r>
            <a:r>
              <a:rPr lang="en-US" sz="1200" b="1"/>
              <a:t> Graph Outputs – </a:t>
            </a:r>
            <a:r>
              <a:rPr lang="en-US" sz="1200"/>
              <a:t>Captures the outputs for each slide in the OI deck</a:t>
            </a:r>
          </a:p>
          <a:p>
            <a:pPr lvl="1">
              <a:spcBef>
                <a:spcPts val="300"/>
              </a:spcBef>
              <a:defRPr/>
            </a:pPr>
            <a:r>
              <a:rPr lang="en-US" sz="1200" b="1"/>
              <a:t>TSR Analysis – </a:t>
            </a:r>
            <a:r>
              <a:rPr lang="en-US" sz="1200"/>
              <a:t>Consolidates indexed stock price data and TSR performance for all peers</a:t>
            </a:r>
          </a:p>
          <a:p>
            <a:pPr lvl="1">
              <a:spcBef>
                <a:spcPts val="300"/>
              </a:spcBef>
              <a:defRPr/>
            </a:pPr>
            <a:r>
              <a:rPr lang="en-US" sz="1200" b="1"/>
              <a:t>EV/EBIT(DA) Calculation </a:t>
            </a:r>
            <a:r>
              <a:rPr lang="en-US" sz="1200"/>
              <a:t>– Used to model the TSR and EV uplift provided by the value-at-stake recommended in the OI</a:t>
            </a:r>
          </a:p>
          <a:p>
            <a:pPr lvl="1">
              <a:spcBef>
                <a:spcPts val="300"/>
              </a:spcBef>
              <a:defRPr/>
            </a:pPr>
            <a:r>
              <a:rPr lang="en-US" sz="1200" b="1"/>
              <a:t>Slide Automation Excel Input </a:t>
            </a:r>
            <a:r>
              <a:rPr lang="en-US" sz="1200"/>
              <a:t>– Contains the same data as the </a:t>
            </a:r>
            <a:r>
              <a:rPr lang="en-US" sz="1200" err="1"/>
              <a:t>Mekko</a:t>
            </a:r>
            <a:r>
              <a:rPr lang="en-US" sz="1200"/>
              <a:t> Graph Outputs tab, but data is pre-sorted and structured for efficient use in generating automated slide outputs</a:t>
            </a:r>
          </a:p>
        </p:txBody>
      </p:sp>
      <p:sp>
        <p:nvSpPr>
          <p:cNvPr id="8" name="btfpNumberBubble557534">
            <a:extLst>
              <a:ext uri="{FF2B5EF4-FFF2-40B4-BE49-F238E27FC236}">
                <a16:creationId xmlns:a16="http://schemas.microsoft.com/office/drawing/2014/main" id="{476B1177-CD9D-DB9D-B0CA-91DBD4F7BF0C}"/>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graphicFrame>
        <p:nvGraphicFramePr>
          <p:cNvPr id="21" name="Table 20">
            <a:extLst>
              <a:ext uri="{FF2B5EF4-FFF2-40B4-BE49-F238E27FC236}">
                <a16:creationId xmlns:a16="http://schemas.microsoft.com/office/drawing/2014/main" id="{8EEE98D8-B06D-8535-54D5-9CB9525825A3}"/>
              </a:ext>
            </a:extLst>
          </p:cNvPr>
          <p:cNvGraphicFramePr>
            <a:graphicFrameLocks noGrp="1"/>
          </p:cNvGraphicFramePr>
          <p:nvPr>
            <p:extLst>
              <p:ext uri="{D42A27DB-BD31-4B8C-83A1-F6EECF244321}">
                <p14:modId xmlns:p14="http://schemas.microsoft.com/office/powerpoint/2010/main" val="2364952976"/>
              </p:ext>
            </p:extLst>
          </p:nvPr>
        </p:nvGraphicFramePr>
        <p:xfrm>
          <a:off x="330200" y="5270240"/>
          <a:ext cx="11526832" cy="396240"/>
        </p:xfrm>
        <a:graphic>
          <a:graphicData uri="http://schemas.openxmlformats.org/drawingml/2006/table">
            <a:tbl>
              <a:tblPr firstRow="1" bandRow="1">
                <a:tableStyleId>{2D5ABB26-0587-4C30-8999-92F81FD0307C}</a:tableStyleId>
              </a:tblPr>
              <a:tblGrid>
                <a:gridCol w="1440854">
                  <a:extLst>
                    <a:ext uri="{9D8B030D-6E8A-4147-A177-3AD203B41FA5}">
                      <a16:colId xmlns:a16="http://schemas.microsoft.com/office/drawing/2014/main" val="2086550761"/>
                    </a:ext>
                  </a:extLst>
                </a:gridCol>
                <a:gridCol w="1440854">
                  <a:extLst>
                    <a:ext uri="{9D8B030D-6E8A-4147-A177-3AD203B41FA5}">
                      <a16:colId xmlns:a16="http://schemas.microsoft.com/office/drawing/2014/main" val="3571577951"/>
                    </a:ext>
                  </a:extLst>
                </a:gridCol>
                <a:gridCol w="1440854">
                  <a:extLst>
                    <a:ext uri="{9D8B030D-6E8A-4147-A177-3AD203B41FA5}">
                      <a16:colId xmlns:a16="http://schemas.microsoft.com/office/drawing/2014/main" val="3660875095"/>
                    </a:ext>
                  </a:extLst>
                </a:gridCol>
                <a:gridCol w="1440854">
                  <a:extLst>
                    <a:ext uri="{9D8B030D-6E8A-4147-A177-3AD203B41FA5}">
                      <a16:colId xmlns:a16="http://schemas.microsoft.com/office/drawing/2014/main" val="624229473"/>
                    </a:ext>
                  </a:extLst>
                </a:gridCol>
                <a:gridCol w="1440854">
                  <a:extLst>
                    <a:ext uri="{9D8B030D-6E8A-4147-A177-3AD203B41FA5}">
                      <a16:colId xmlns:a16="http://schemas.microsoft.com/office/drawing/2014/main" val="3850801598"/>
                    </a:ext>
                  </a:extLst>
                </a:gridCol>
                <a:gridCol w="1440854">
                  <a:extLst>
                    <a:ext uri="{9D8B030D-6E8A-4147-A177-3AD203B41FA5}">
                      <a16:colId xmlns:a16="http://schemas.microsoft.com/office/drawing/2014/main" val="1626387443"/>
                    </a:ext>
                  </a:extLst>
                </a:gridCol>
                <a:gridCol w="1440854">
                  <a:extLst>
                    <a:ext uri="{9D8B030D-6E8A-4147-A177-3AD203B41FA5}">
                      <a16:colId xmlns:a16="http://schemas.microsoft.com/office/drawing/2014/main" val="2089441079"/>
                    </a:ext>
                  </a:extLst>
                </a:gridCol>
                <a:gridCol w="1440854">
                  <a:extLst>
                    <a:ext uri="{9D8B030D-6E8A-4147-A177-3AD203B41FA5}">
                      <a16:colId xmlns:a16="http://schemas.microsoft.com/office/drawing/2014/main" val="18646432"/>
                    </a:ext>
                  </a:extLst>
                </a:gridCol>
              </a:tblGrid>
              <a:tr h="370840">
                <a:tc>
                  <a:txBody>
                    <a:bodyPr/>
                    <a:lstStyle/>
                    <a:p>
                      <a:pPr marL="0" indent="0">
                        <a:buNone/>
                      </a:pPr>
                      <a:r>
                        <a:rPr lang="en-US" sz="1000"/>
                        <a:t>Input Form</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BFEFFF"/>
                    </a:solidFill>
                  </a:tcPr>
                </a:tc>
                <a:tc>
                  <a:txBody>
                    <a:bodyPr/>
                    <a:lstStyle/>
                    <a:p>
                      <a:pPr marL="0" indent="0">
                        <a:buNone/>
                      </a:pPr>
                      <a:r>
                        <a:rPr lang="en-US" sz="1000"/>
                        <a:t>Reporting Structure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indent="0">
                        <a:buNone/>
                      </a:pPr>
                      <a:r>
                        <a:rPr lang="en-US" sz="1000">
                          <a:solidFill>
                            <a:schemeClr val="bg1"/>
                          </a:solidFill>
                        </a:rPr>
                        <a:t>Income Statement Revised</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2060"/>
                    </a:solidFill>
                  </a:tcPr>
                </a:tc>
                <a:tc>
                  <a:txBody>
                    <a:bodyPr/>
                    <a:lstStyle/>
                    <a:p>
                      <a:pPr marL="0" indent="0">
                        <a:buNone/>
                      </a:pPr>
                      <a:r>
                        <a:rPr lang="en-US" sz="1000">
                          <a:solidFill>
                            <a:schemeClr val="bg1"/>
                          </a:solidFill>
                        </a:rPr>
                        <a:t>Financials &amp; KPIs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6B8E"/>
                    </a:solidFill>
                  </a:tcPr>
                </a:tc>
                <a:tc>
                  <a:txBody>
                    <a:bodyPr/>
                    <a:lstStyle/>
                    <a:p>
                      <a:pPr marL="0" indent="0">
                        <a:buNone/>
                      </a:pPr>
                      <a:r>
                        <a:rPr lang="en-US" sz="1000" err="1">
                          <a:solidFill>
                            <a:schemeClr val="bg1"/>
                          </a:solidFill>
                        </a:rPr>
                        <a:t>Mekko</a:t>
                      </a:r>
                      <a:r>
                        <a:rPr lang="en-US" sz="1000">
                          <a:solidFill>
                            <a:schemeClr val="bg1"/>
                          </a:solidFill>
                        </a:rPr>
                        <a:t> Graph Outputs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6B8E"/>
                    </a:solidFill>
                  </a:tcPr>
                </a:tc>
                <a:tc>
                  <a:txBody>
                    <a:bodyPr/>
                    <a:lstStyle/>
                    <a:p>
                      <a:pPr marL="0" indent="0">
                        <a:buNone/>
                      </a:pPr>
                      <a:r>
                        <a:rPr lang="en-US" sz="1000">
                          <a:solidFill>
                            <a:schemeClr val="bg1"/>
                          </a:solidFill>
                        </a:rPr>
                        <a:t>TSR Analysis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006393"/>
                    </a:solidFill>
                  </a:tcPr>
                </a:tc>
                <a:tc>
                  <a:txBody>
                    <a:bodyPr/>
                    <a:lstStyle/>
                    <a:p>
                      <a:pPr marL="0" indent="0">
                        <a:buNone/>
                      </a:pPr>
                      <a:r>
                        <a:rPr lang="en-US" sz="1000"/>
                        <a:t>EV/EBIT(DA) Calculation</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F9C295"/>
                    </a:solidFill>
                  </a:tcPr>
                </a:tc>
                <a:tc>
                  <a:txBody>
                    <a:bodyPr/>
                    <a:lstStyle/>
                    <a:p>
                      <a:pPr marL="0" indent="0">
                        <a:buNone/>
                      </a:pPr>
                      <a:r>
                        <a:rPr lang="en-US" sz="1000">
                          <a:solidFill>
                            <a:schemeClr val="bg1"/>
                          </a:solidFill>
                        </a:rPr>
                        <a:t>Slide Automation Excel Input</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660000"/>
                    </a:solidFill>
                  </a:tcPr>
                </a:tc>
                <a:extLst>
                  <a:ext uri="{0D108BD9-81ED-4DB2-BD59-A6C34878D82A}">
                    <a16:rowId xmlns:a16="http://schemas.microsoft.com/office/drawing/2014/main" val="3733444549"/>
                  </a:ext>
                </a:extLst>
              </a:tr>
            </a:tbl>
          </a:graphicData>
        </a:graphic>
      </p:graphicFrame>
      <p:sp>
        <p:nvSpPr>
          <p:cNvPr id="74" name="TextBox 73">
            <a:extLst>
              <a:ext uri="{FF2B5EF4-FFF2-40B4-BE49-F238E27FC236}">
                <a16:creationId xmlns:a16="http://schemas.microsoft.com/office/drawing/2014/main" id="{1A199258-D16F-7A25-2DB4-061ABCEBE092}"/>
              </a:ext>
            </a:extLst>
          </p:cNvPr>
          <p:cNvSpPr txBox="1"/>
          <p:nvPr/>
        </p:nvSpPr>
        <p:spPr bwMode="gray">
          <a:xfrm>
            <a:off x="330200" y="4881091"/>
            <a:ext cx="11531600" cy="288147"/>
          </a:xfrm>
          <a:prstGeom prst="rect">
            <a:avLst/>
          </a:prstGeom>
          <a:noFill/>
        </p:spPr>
        <p:txBody>
          <a:bodyPr wrap="square" lIns="36000" tIns="36000" rIns="36000" bIns="36000" rtlCol="0">
            <a:spAutoFit/>
          </a:bodyPr>
          <a:lstStyle/>
          <a:p>
            <a:pPr marL="0" indent="0">
              <a:buNone/>
            </a:pPr>
            <a:r>
              <a:rPr lang="en-US" sz="1400" i="1"/>
              <a:t>Overview of the main tabs in the Excel Dashboard:</a:t>
            </a:r>
          </a:p>
        </p:txBody>
      </p:sp>
      <p:grpSp>
        <p:nvGrpSpPr>
          <p:cNvPr id="76" name="btfpRunningAgenda1Level747472">
            <a:extLst>
              <a:ext uri="{FF2B5EF4-FFF2-40B4-BE49-F238E27FC236}">
                <a16:creationId xmlns:a16="http://schemas.microsoft.com/office/drawing/2014/main" id="{D2C088D7-45A8-7398-D881-D17957092D1A}"/>
              </a:ext>
            </a:extLst>
          </p:cNvPr>
          <p:cNvGrpSpPr/>
          <p:nvPr>
            <p:custDataLst>
              <p:tags r:id="rId5"/>
            </p:custDataLst>
          </p:nvPr>
        </p:nvGrpSpPr>
        <p:grpSpPr>
          <a:xfrm>
            <a:off x="0" y="944429"/>
            <a:ext cx="1833863" cy="257442"/>
            <a:chOff x="0" y="876300"/>
            <a:chExt cx="1833863" cy="257442"/>
          </a:xfrm>
        </p:grpSpPr>
        <p:sp>
          <p:nvSpPr>
            <p:cNvPr id="77" name="btfpRunningAgenda1LevelBarLeft747472">
              <a:extLst>
                <a:ext uri="{FF2B5EF4-FFF2-40B4-BE49-F238E27FC236}">
                  <a16:creationId xmlns:a16="http://schemas.microsoft.com/office/drawing/2014/main" id="{BEAD519E-A5B4-D965-A323-DDF3E8C78A25}"/>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8" name="btfpRunningAgenda1LevelTextLeft747472">
              <a:extLst>
                <a:ext uri="{FF2B5EF4-FFF2-40B4-BE49-F238E27FC236}">
                  <a16:creationId xmlns:a16="http://schemas.microsoft.com/office/drawing/2014/main" id="{FA2B6011-D6B7-2284-5F42-EC5F28F70FB4}"/>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3175255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p:cNvGraphicFramePr>
          <p:nvPr>
            <p:custDataLst>
              <p:tags r:id="rId2"/>
            </p:custDataLst>
            <p:extLst>
              <p:ext uri="{D42A27DB-BD31-4B8C-83A1-F6EECF244321}">
                <p14:modId xmlns:p14="http://schemas.microsoft.com/office/powerpoint/2010/main" val="3094727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(2/5)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28" name="Picture 27">
            <a:extLst>
              <a:ext uri="{FF2B5EF4-FFF2-40B4-BE49-F238E27FC236}">
                <a16:creationId xmlns:a16="http://schemas.microsoft.com/office/drawing/2014/main" id="{9A263A5D-FB52-0DD0-3964-2DFB20FF6402}"/>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30199" y="1651566"/>
            <a:ext cx="5359395" cy="2851351"/>
          </a:xfrm>
          <a:prstGeom prst="rect">
            <a:avLst/>
          </a:prstGeom>
        </p:spPr>
      </p:pic>
      <p:pic>
        <p:nvPicPr>
          <p:cNvPr id="30" name="Picture 29">
            <a:extLst>
              <a:ext uri="{FF2B5EF4-FFF2-40B4-BE49-F238E27FC236}">
                <a16:creationId xmlns:a16="http://schemas.microsoft.com/office/drawing/2014/main" id="{3D33092A-8FDF-B36C-E740-033855C2AA1D}"/>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6210710" y="1766537"/>
            <a:ext cx="5522610" cy="2344353"/>
          </a:xfrm>
          <a:prstGeom prst="rect">
            <a:avLst/>
          </a:prstGeom>
        </p:spPr>
      </p:pic>
      <p:grpSp>
        <p:nvGrpSpPr>
          <p:cNvPr id="43" name="btfpColumnHeaderBox686182">
            <a:extLst>
              <a:ext uri="{FF2B5EF4-FFF2-40B4-BE49-F238E27FC236}">
                <a16:creationId xmlns:a16="http://schemas.microsoft.com/office/drawing/2014/main" id="{B631D38D-217C-C33D-D930-1490C8141180}"/>
              </a:ext>
            </a:extLst>
          </p:cNvPr>
          <p:cNvGrpSpPr/>
          <p:nvPr>
            <p:custDataLst>
              <p:tags r:id="rId4"/>
            </p:custDataLst>
          </p:nvPr>
        </p:nvGrpSpPr>
        <p:grpSpPr>
          <a:xfrm>
            <a:off x="330200" y="1268762"/>
            <a:ext cx="5522610" cy="318997"/>
            <a:chOff x="4354248" y="1502208"/>
            <a:chExt cx="3483504" cy="318997"/>
          </a:xfrm>
        </p:grpSpPr>
        <p:sp>
          <p:nvSpPr>
            <p:cNvPr id="44" name="btfpColumnHeaderBoxText686182">
              <a:extLst>
                <a:ext uri="{FF2B5EF4-FFF2-40B4-BE49-F238E27FC236}">
                  <a16:creationId xmlns:a16="http://schemas.microsoft.com/office/drawing/2014/main" id="{63C54D68-DB3F-36D8-3CF2-E892CC181EA4}"/>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 Form Tab</a:t>
              </a:r>
            </a:p>
          </p:txBody>
        </p:sp>
        <p:cxnSp>
          <p:nvCxnSpPr>
            <p:cNvPr id="45" name="btfpColumnHeaderBoxLine686182">
              <a:extLst>
                <a:ext uri="{FF2B5EF4-FFF2-40B4-BE49-F238E27FC236}">
                  <a16:creationId xmlns:a16="http://schemas.microsoft.com/office/drawing/2014/main" id="{CDD4F245-4656-0149-2978-3D66C4EE81B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49" name="btfpColumnHeaderBox686182">
            <a:extLst>
              <a:ext uri="{FF2B5EF4-FFF2-40B4-BE49-F238E27FC236}">
                <a16:creationId xmlns:a16="http://schemas.microsoft.com/office/drawing/2014/main" id="{8170F9C6-5552-5B4E-D758-8AF0C778915E}"/>
              </a:ext>
            </a:extLst>
          </p:cNvPr>
          <p:cNvGrpSpPr/>
          <p:nvPr>
            <p:custDataLst>
              <p:tags r:id="rId5"/>
            </p:custDataLst>
          </p:nvPr>
        </p:nvGrpSpPr>
        <p:grpSpPr>
          <a:xfrm>
            <a:off x="6210710" y="1269092"/>
            <a:ext cx="5522610" cy="318997"/>
            <a:chOff x="4354248" y="1502208"/>
            <a:chExt cx="3483504" cy="318997"/>
          </a:xfrm>
        </p:grpSpPr>
        <p:sp>
          <p:nvSpPr>
            <p:cNvPr id="50" name="btfpColumnHeaderBoxText686182">
              <a:extLst>
                <a:ext uri="{FF2B5EF4-FFF2-40B4-BE49-F238E27FC236}">
                  <a16:creationId xmlns:a16="http://schemas.microsoft.com/office/drawing/2014/main" id="{CFC98858-8F82-34A1-153C-6E3AAA65152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Reporting Structure Tab</a:t>
              </a:r>
            </a:p>
          </p:txBody>
        </p:sp>
        <p:cxnSp>
          <p:nvCxnSpPr>
            <p:cNvPr id="51" name="btfpColumnHeaderBoxLine686182">
              <a:extLst>
                <a:ext uri="{FF2B5EF4-FFF2-40B4-BE49-F238E27FC236}">
                  <a16:creationId xmlns:a16="http://schemas.microsoft.com/office/drawing/2014/main" id="{57B74E96-77B2-8A97-C088-FF6237B0922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52" name="btfpBulletedList430166">
            <a:extLst>
              <a:ext uri="{FF2B5EF4-FFF2-40B4-BE49-F238E27FC236}">
                <a16:creationId xmlns:a16="http://schemas.microsoft.com/office/drawing/2014/main" id="{4D8599E4-4018-0836-AA44-BB697AF8EE48}"/>
              </a:ext>
            </a:extLst>
          </p:cNvPr>
          <p:cNvSpPr txBox="1"/>
          <p:nvPr>
            <p:custDataLst>
              <p:tags r:id="rId6"/>
            </p:custDataLst>
          </p:nvPr>
        </p:nvSpPr>
        <p:spPr bwMode="gray">
          <a:xfrm>
            <a:off x="330203" y="4595046"/>
            <a:ext cx="5765797" cy="1811641"/>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Input Form </a:t>
            </a:r>
            <a:r>
              <a:rPr lang="en-US" sz="1400"/>
              <a:t>tab is used to input critical information regarding the target, its peer set, and the parameters of the intended analysis</a:t>
            </a:r>
          </a:p>
          <a:p>
            <a:pPr>
              <a:spcBef>
                <a:spcPts val="900"/>
              </a:spcBef>
              <a:defRPr/>
            </a:pPr>
            <a:r>
              <a:rPr kumimoji="0" lang="en-US" sz="1400" b="0" i="0" u="none" strike="noStrike" kern="1200" cap="none" spc="0" normalizeH="0" baseline="0" noProof="0">
                <a:ln>
                  <a:noFill/>
                </a:ln>
                <a:solidFill>
                  <a:srgbClr val="000000"/>
                </a:solidFill>
                <a:effectLst/>
                <a:uLnTx/>
                <a:uFillTx/>
                <a:latin typeface="Arial"/>
              </a:rPr>
              <a:t>The full name of each company must be inputted under the ‘Names of Companies’ column, with the associated </a:t>
            </a:r>
            <a:r>
              <a:rPr kumimoji="0" lang="en-US" sz="1400" b="0" i="0" u="none" strike="noStrike" kern="1200" cap="none" spc="0" normalizeH="0" baseline="0" noProof="0" err="1">
                <a:ln>
                  <a:noFill/>
                </a:ln>
                <a:solidFill>
                  <a:srgbClr val="000000"/>
                </a:solidFill>
                <a:effectLst/>
                <a:uLnTx/>
                <a:uFillTx/>
                <a:latin typeface="Arial"/>
              </a:rPr>
              <a:t>CapIQ</a:t>
            </a:r>
            <a:r>
              <a:rPr kumimoji="0" lang="en-US" sz="1400" b="0" i="0" u="none" strike="noStrike" kern="1200" cap="none" spc="0" normalizeH="0" baseline="0" noProof="0">
                <a:ln>
                  <a:noFill/>
                </a:ln>
                <a:solidFill>
                  <a:srgbClr val="000000"/>
                </a:solidFill>
                <a:effectLst/>
                <a:uLnTx/>
                <a:uFillTx/>
                <a:latin typeface="Arial"/>
              </a:rPr>
              <a:t> ticker added from the company</a:t>
            </a:r>
            <a:r>
              <a:rPr lang="en-US" sz="1400">
                <a:solidFill>
                  <a:srgbClr val="000000"/>
                </a:solidFill>
                <a:latin typeface="Arial"/>
              </a:rPr>
              <a:t>’s </a:t>
            </a:r>
            <a:r>
              <a:rPr lang="en-US" sz="1400" err="1">
                <a:solidFill>
                  <a:srgbClr val="000000"/>
                </a:solidFill>
                <a:latin typeface="Arial"/>
              </a:rPr>
              <a:t>CapIQ</a:t>
            </a:r>
            <a:r>
              <a:rPr lang="en-US" sz="1400">
                <a:solidFill>
                  <a:srgbClr val="000000"/>
                </a:solidFill>
                <a:latin typeface="Arial"/>
              </a:rPr>
              <a:t> page</a:t>
            </a:r>
          </a:p>
          <a:p>
            <a:pPr>
              <a:spcBef>
                <a:spcPts val="900"/>
              </a:spcBef>
              <a:defRPr/>
            </a:pPr>
            <a:r>
              <a:rPr kumimoji="0" lang="en-US" sz="1400" b="0" i="0" u="none" strike="noStrike" kern="1200" cap="none" spc="0" normalizeH="0" baseline="0" noProof="0">
                <a:ln>
                  <a:noFill/>
                </a:ln>
                <a:solidFill>
                  <a:srgbClr val="000000"/>
                </a:solidFill>
                <a:effectLst/>
                <a:uLnTx/>
                <a:uFillTx/>
                <a:latin typeface="Arial"/>
              </a:rPr>
              <a:t>It is important to adjust the time period of the analysis as well as the monetary units that should be used</a:t>
            </a:r>
          </a:p>
        </p:txBody>
      </p:sp>
      <p:sp>
        <p:nvSpPr>
          <p:cNvPr id="53" name="btfpBulletedList430166">
            <a:extLst>
              <a:ext uri="{FF2B5EF4-FFF2-40B4-BE49-F238E27FC236}">
                <a16:creationId xmlns:a16="http://schemas.microsoft.com/office/drawing/2014/main" id="{A2399C6D-2D95-4FC0-D84C-C4AF7C9E4028}"/>
              </a:ext>
            </a:extLst>
          </p:cNvPr>
          <p:cNvSpPr txBox="1"/>
          <p:nvPr>
            <p:custDataLst>
              <p:tags r:id="rId7"/>
            </p:custDataLst>
          </p:nvPr>
        </p:nvSpPr>
        <p:spPr bwMode="gray">
          <a:xfrm>
            <a:off x="6128180" y="4595046"/>
            <a:ext cx="5605140" cy="1480781"/>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Reporting Structure </a:t>
            </a:r>
            <a:r>
              <a:rPr lang="en-US" sz="1400"/>
              <a:t>tab includes information on the reporting period for each peer as well as its industry, latest revenue, and a description of its operations</a:t>
            </a:r>
          </a:p>
          <a:p>
            <a:pPr>
              <a:spcBef>
                <a:spcPts val="900"/>
              </a:spcBef>
              <a:defRPr/>
            </a:pPr>
            <a:r>
              <a:rPr lang="en-US" sz="1400"/>
              <a:t>No input is needed for this tab; however, the tab should be reviewed to account for differences in peers’ reporting structure – which must be noted in the footnotes of the OI analysis</a:t>
            </a:r>
            <a:endParaRPr kumimoji="0" lang="en-US" sz="1200" b="0" i="0" u="none" strike="noStrike" kern="1200" cap="none" spc="0" normalizeH="0" baseline="0" noProof="0">
              <a:ln>
                <a:noFill/>
              </a:ln>
              <a:solidFill>
                <a:srgbClr val="000000"/>
              </a:solidFill>
              <a:effectLst/>
              <a:uLnTx/>
              <a:uFillTx/>
              <a:latin typeface="Arial"/>
            </a:endParaRPr>
          </a:p>
        </p:txBody>
      </p:sp>
      <p:sp>
        <p:nvSpPr>
          <p:cNvPr id="27" name="btfpNumberBubble557534">
            <a:extLst>
              <a:ext uri="{FF2B5EF4-FFF2-40B4-BE49-F238E27FC236}">
                <a16:creationId xmlns:a16="http://schemas.microsoft.com/office/drawing/2014/main" id="{7E59D6E2-564A-2040-C6EA-6FE836ED7B6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943604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p:cNvGraphicFramePr>
          <p:nvPr>
            <p:custDataLst>
              <p:tags r:id="rId2"/>
            </p:custDataLst>
            <p:extLst>
              <p:ext uri="{D42A27DB-BD31-4B8C-83A1-F6EECF244321}">
                <p14:modId xmlns:p14="http://schemas.microsoft.com/office/powerpoint/2010/main" val="1140784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606" imgH="608" progId="TCLayout.ActiveDocument.1">
                  <p:embed/>
                </p:oleObj>
              </mc:Choice>
              <mc:Fallback>
                <p:oleObj name="think-cell Slide" r:id="rId9"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(3/5)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28" name="Picture 27">
            <a:extLst>
              <a:ext uri="{FF2B5EF4-FFF2-40B4-BE49-F238E27FC236}">
                <a16:creationId xmlns:a16="http://schemas.microsoft.com/office/drawing/2014/main" id="{9A263A5D-FB52-0DD0-3964-2DFB20FF6402}"/>
              </a:ext>
            </a:extLst>
          </p:cNvPr>
          <p:cNvPicPr>
            <a:picLocks noChangeAspect="1"/>
          </p:cNvPicPr>
          <p:nvPr/>
        </p:nvPicPr>
        <p:blipFill>
          <a:blip r:embed="rId11"/>
          <a:stretch>
            <a:fillRect/>
          </a:stretch>
        </p:blipFill>
        <p:spPr>
          <a:xfrm>
            <a:off x="458680" y="1752165"/>
            <a:ext cx="5522610" cy="2723439"/>
          </a:xfrm>
          <a:prstGeom prst="rect">
            <a:avLst/>
          </a:prstGeom>
        </p:spPr>
      </p:pic>
      <p:pic>
        <p:nvPicPr>
          <p:cNvPr id="30" name="Picture 29">
            <a:extLst>
              <a:ext uri="{FF2B5EF4-FFF2-40B4-BE49-F238E27FC236}">
                <a16:creationId xmlns:a16="http://schemas.microsoft.com/office/drawing/2014/main" id="{3D33092A-8FDF-B36C-E740-033855C2AA1D}"/>
              </a:ext>
            </a:extLst>
          </p:cNvPr>
          <p:cNvPicPr>
            <a:picLocks noChangeAspect="1"/>
          </p:cNvPicPr>
          <p:nvPr/>
        </p:nvPicPr>
        <p:blipFill>
          <a:blip r:embed="rId12"/>
          <a:stretch>
            <a:fillRect/>
          </a:stretch>
        </p:blipFill>
        <p:spPr>
          <a:xfrm>
            <a:off x="6210710" y="1700443"/>
            <a:ext cx="5522610" cy="2894603"/>
          </a:xfrm>
          <a:prstGeom prst="rect">
            <a:avLst/>
          </a:prstGeom>
        </p:spPr>
      </p:pic>
      <p:grpSp>
        <p:nvGrpSpPr>
          <p:cNvPr id="43" name="btfpColumnHeaderBox686182">
            <a:extLst>
              <a:ext uri="{FF2B5EF4-FFF2-40B4-BE49-F238E27FC236}">
                <a16:creationId xmlns:a16="http://schemas.microsoft.com/office/drawing/2014/main" id="{B631D38D-217C-C33D-D930-1490C8141180}"/>
              </a:ext>
            </a:extLst>
          </p:cNvPr>
          <p:cNvGrpSpPr/>
          <p:nvPr>
            <p:custDataLst>
              <p:tags r:id="rId4"/>
            </p:custDataLst>
          </p:nvPr>
        </p:nvGrpSpPr>
        <p:grpSpPr>
          <a:xfrm>
            <a:off x="330200" y="1268762"/>
            <a:ext cx="5522610" cy="318997"/>
            <a:chOff x="4354248" y="1502208"/>
            <a:chExt cx="3483504" cy="318997"/>
          </a:xfrm>
        </p:grpSpPr>
        <p:sp>
          <p:nvSpPr>
            <p:cNvPr id="44" name="btfpColumnHeaderBoxText686182">
              <a:extLst>
                <a:ext uri="{FF2B5EF4-FFF2-40B4-BE49-F238E27FC236}">
                  <a16:creationId xmlns:a16="http://schemas.microsoft.com/office/drawing/2014/main" id="{63C54D68-DB3F-36D8-3CF2-E892CC181EA4}"/>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Income Statement Revised Tab</a:t>
              </a:r>
            </a:p>
          </p:txBody>
        </p:sp>
        <p:cxnSp>
          <p:nvCxnSpPr>
            <p:cNvPr id="45" name="btfpColumnHeaderBoxLine686182">
              <a:extLst>
                <a:ext uri="{FF2B5EF4-FFF2-40B4-BE49-F238E27FC236}">
                  <a16:creationId xmlns:a16="http://schemas.microsoft.com/office/drawing/2014/main" id="{CDD4F245-4656-0149-2978-3D66C4EE81B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49" name="btfpColumnHeaderBox686182">
            <a:extLst>
              <a:ext uri="{FF2B5EF4-FFF2-40B4-BE49-F238E27FC236}">
                <a16:creationId xmlns:a16="http://schemas.microsoft.com/office/drawing/2014/main" id="{8170F9C6-5552-5B4E-D758-8AF0C778915E}"/>
              </a:ext>
            </a:extLst>
          </p:cNvPr>
          <p:cNvGrpSpPr/>
          <p:nvPr>
            <p:custDataLst>
              <p:tags r:id="rId5"/>
            </p:custDataLst>
          </p:nvPr>
        </p:nvGrpSpPr>
        <p:grpSpPr>
          <a:xfrm>
            <a:off x="6210710" y="1269092"/>
            <a:ext cx="5522610" cy="318997"/>
            <a:chOff x="4354248" y="1502208"/>
            <a:chExt cx="3483504" cy="318997"/>
          </a:xfrm>
        </p:grpSpPr>
        <p:sp>
          <p:nvSpPr>
            <p:cNvPr id="50" name="btfpColumnHeaderBoxText686182">
              <a:extLst>
                <a:ext uri="{FF2B5EF4-FFF2-40B4-BE49-F238E27FC236}">
                  <a16:creationId xmlns:a16="http://schemas.microsoft.com/office/drawing/2014/main" id="{CFC98858-8F82-34A1-153C-6E3AAA65152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Financials &amp; KPIs Tab</a:t>
              </a:r>
            </a:p>
          </p:txBody>
        </p:sp>
        <p:cxnSp>
          <p:nvCxnSpPr>
            <p:cNvPr id="51" name="btfpColumnHeaderBoxLine686182">
              <a:extLst>
                <a:ext uri="{FF2B5EF4-FFF2-40B4-BE49-F238E27FC236}">
                  <a16:creationId xmlns:a16="http://schemas.microsoft.com/office/drawing/2014/main" id="{57B74E96-77B2-8A97-C088-FF6237B0922D}"/>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52" name="btfpBulletedList430166">
            <a:extLst>
              <a:ext uri="{FF2B5EF4-FFF2-40B4-BE49-F238E27FC236}">
                <a16:creationId xmlns:a16="http://schemas.microsoft.com/office/drawing/2014/main" id="{4D8599E4-4018-0836-AA44-BB697AF8EE48}"/>
              </a:ext>
            </a:extLst>
          </p:cNvPr>
          <p:cNvSpPr txBox="1"/>
          <p:nvPr>
            <p:custDataLst>
              <p:tags r:id="rId6"/>
            </p:custDataLst>
          </p:nvPr>
        </p:nvSpPr>
        <p:spPr bwMode="gray">
          <a:xfrm>
            <a:off x="458680" y="4713570"/>
            <a:ext cx="5765797" cy="1873196"/>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Income Statement Revised</a:t>
            </a:r>
            <a:r>
              <a:rPr lang="en-US" sz="1400"/>
              <a:t> tab is where all </a:t>
            </a:r>
            <a:r>
              <a:rPr lang="en-US" sz="1400" b="1"/>
              <a:t>adjustments</a:t>
            </a:r>
            <a:r>
              <a:rPr lang="en-US" sz="1400"/>
              <a:t> are made, with reported figures for each peer categorized under the appropriate headers</a:t>
            </a:r>
          </a:p>
          <a:p>
            <a:pPr>
              <a:spcBef>
                <a:spcPts val="900"/>
              </a:spcBef>
              <a:defRPr/>
            </a:pPr>
            <a:r>
              <a:rPr lang="en-US" sz="1400"/>
              <a:t>At the bottom, a </a:t>
            </a:r>
            <a:r>
              <a:rPr lang="en-US" sz="1400" b="1"/>
              <a:t>reconciliation section</a:t>
            </a:r>
            <a:r>
              <a:rPr lang="en-US" sz="1400"/>
              <a:t> ensures accuracy by comparing the reported and calculated numbers</a:t>
            </a:r>
          </a:p>
          <a:p>
            <a:pPr>
              <a:spcBef>
                <a:spcPts val="900"/>
              </a:spcBef>
              <a:defRPr/>
            </a:pPr>
            <a:r>
              <a:rPr lang="en-US" sz="1400"/>
              <a:t>Further, </a:t>
            </a:r>
            <a:r>
              <a:rPr lang="en-US" sz="1400" b="1"/>
              <a:t>Balance Sheet figures</a:t>
            </a:r>
            <a:r>
              <a:rPr lang="en-US" sz="1400"/>
              <a:t> for </a:t>
            </a:r>
            <a:r>
              <a:rPr lang="en-US" sz="1400" b="1"/>
              <a:t>Trade Receivables and Trade Payables</a:t>
            </a:r>
            <a:r>
              <a:rPr lang="en-US" sz="1400"/>
              <a:t> are also included</a:t>
            </a:r>
            <a:endParaRPr kumimoji="0" lang="en-US" sz="1400" b="0" i="0" u="none" strike="noStrike" kern="1200" cap="none" spc="0" normalizeH="0" baseline="0" noProof="0">
              <a:ln>
                <a:noFill/>
              </a:ln>
              <a:solidFill>
                <a:srgbClr val="000000"/>
              </a:solidFill>
              <a:effectLst/>
              <a:uLnTx/>
              <a:uFillTx/>
              <a:latin typeface="Arial"/>
            </a:endParaRPr>
          </a:p>
        </p:txBody>
      </p:sp>
      <p:sp>
        <p:nvSpPr>
          <p:cNvPr id="53" name="btfpBulletedList430166">
            <a:extLst>
              <a:ext uri="{FF2B5EF4-FFF2-40B4-BE49-F238E27FC236}">
                <a16:creationId xmlns:a16="http://schemas.microsoft.com/office/drawing/2014/main" id="{A2399C6D-2D95-4FC0-D84C-C4AF7C9E4028}"/>
              </a:ext>
            </a:extLst>
          </p:cNvPr>
          <p:cNvSpPr txBox="1"/>
          <p:nvPr>
            <p:custDataLst>
              <p:tags r:id="rId7"/>
            </p:custDataLst>
          </p:nvPr>
        </p:nvSpPr>
        <p:spPr bwMode="gray">
          <a:xfrm>
            <a:off x="6128180" y="4716655"/>
            <a:ext cx="5605140" cy="1696224"/>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Financials &amp; KPIs</a:t>
            </a:r>
            <a:r>
              <a:rPr lang="en-US" sz="1400"/>
              <a:t> tab consolidates key financial data from the </a:t>
            </a:r>
            <a:r>
              <a:rPr lang="en-US" sz="1400" b="1"/>
              <a:t>Income Statement Revised</a:t>
            </a:r>
            <a:r>
              <a:rPr lang="en-US" sz="1400"/>
              <a:t> tab, including </a:t>
            </a:r>
            <a:r>
              <a:rPr lang="en-US" sz="1400" b="1"/>
              <a:t>Revenue, Cost Buckets, Profitability, and Balance Sheet figures</a:t>
            </a:r>
            <a:r>
              <a:rPr lang="en-US" sz="1400"/>
              <a:t>. Additionally, it incorporates </a:t>
            </a:r>
            <a:r>
              <a:rPr lang="en-US" sz="1400" b="1"/>
              <a:t>other financial metrics sourced directly from Capital IQ</a:t>
            </a:r>
            <a:r>
              <a:rPr lang="en-US" sz="1400"/>
              <a:t> to ensure comprehensive benchmarking</a:t>
            </a:r>
          </a:p>
          <a:p>
            <a:pPr>
              <a:spcBef>
                <a:spcPts val="900"/>
              </a:spcBef>
              <a:defRPr/>
            </a:pPr>
            <a:r>
              <a:rPr lang="en-US" sz="1400"/>
              <a:t>Proper integration of financial data in the </a:t>
            </a:r>
            <a:r>
              <a:rPr lang="en-US" sz="1400" b="1"/>
              <a:t>Financials &amp; KPIs</a:t>
            </a:r>
            <a:r>
              <a:rPr lang="en-US" sz="1400"/>
              <a:t> tab establishes a </a:t>
            </a:r>
            <a:r>
              <a:rPr lang="en-US" sz="1400" b="1"/>
              <a:t>strong foundation</a:t>
            </a:r>
            <a:r>
              <a:rPr lang="en-US" sz="1400"/>
              <a:t> for all subsequent analysis</a:t>
            </a:r>
            <a:endParaRPr kumimoji="0" lang="en-US" sz="1200" b="0" i="0" u="none" strike="noStrike" kern="1200" cap="none" spc="0" normalizeH="0" baseline="0" noProof="0">
              <a:ln>
                <a:noFill/>
              </a:ln>
              <a:solidFill>
                <a:srgbClr val="000000"/>
              </a:solidFill>
              <a:effectLst/>
              <a:uLnTx/>
              <a:uFillTx/>
              <a:latin typeface="Arial"/>
            </a:endParaRPr>
          </a:p>
        </p:txBody>
      </p:sp>
      <p:sp>
        <p:nvSpPr>
          <p:cNvPr id="13" name="btfpNumberBubble557534">
            <a:extLst>
              <a:ext uri="{FF2B5EF4-FFF2-40B4-BE49-F238E27FC236}">
                <a16:creationId xmlns:a16="http://schemas.microsoft.com/office/drawing/2014/main" id="{0B13C15D-C072-148E-5DA1-9DAEFB2A3ED7}"/>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3617931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p:cNvGraphicFramePr>
          <p:nvPr>
            <p:custDataLst>
              <p:tags r:id="rId2"/>
            </p:custDataLst>
            <p:extLst>
              <p:ext uri="{D42A27DB-BD31-4B8C-83A1-F6EECF244321}">
                <p14:modId xmlns:p14="http://schemas.microsoft.com/office/powerpoint/2010/main" val="32452025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(4/5)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34" name="Picture 33">
            <a:extLst>
              <a:ext uri="{FF2B5EF4-FFF2-40B4-BE49-F238E27FC236}">
                <a16:creationId xmlns:a16="http://schemas.microsoft.com/office/drawing/2014/main" id="{5B6E6547-4EDF-6552-EC18-919F2F731E90}"/>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6224477" y="1710501"/>
            <a:ext cx="5522611" cy="2572329"/>
          </a:xfrm>
          <a:prstGeom prst="rect">
            <a:avLst/>
          </a:prstGeom>
        </p:spPr>
      </p:pic>
      <p:grpSp>
        <p:nvGrpSpPr>
          <p:cNvPr id="2" name="btfpColumnHeaderBox686182">
            <a:extLst>
              <a:ext uri="{FF2B5EF4-FFF2-40B4-BE49-F238E27FC236}">
                <a16:creationId xmlns:a16="http://schemas.microsoft.com/office/drawing/2014/main" id="{9FED74D3-FAB5-A0C3-7B25-BE430A77EA74}"/>
              </a:ext>
            </a:extLst>
          </p:cNvPr>
          <p:cNvGrpSpPr/>
          <p:nvPr>
            <p:custDataLst>
              <p:tags r:id="rId4"/>
            </p:custDataLst>
          </p:nvPr>
        </p:nvGrpSpPr>
        <p:grpSpPr>
          <a:xfrm>
            <a:off x="330200" y="1268762"/>
            <a:ext cx="5522610" cy="318997"/>
            <a:chOff x="4354248" y="1502208"/>
            <a:chExt cx="3483504" cy="318997"/>
          </a:xfrm>
        </p:grpSpPr>
        <p:sp>
          <p:nvSpPr>
            <p:cNvPr id="14" name="btfpColumnHeaderBoxText686182">
              <a:extLst>
                <a:ext uri="{FF2B5EF4-FFF2-40B4-BE49-F238E27FC236}">
                  <a16:creationId xmlns:a16="http://schemas.microsoft.com/office/drawing/2014/main" id="{CA899190-4E85-D2AA-D112-791901711C6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b="1" err="1">
                  <a:solidFill>
                    <a:srgbClr val="000000"/>
                  </a:solidFill>
                </a:rPr>
                <a:t>Mekko</a:t>
              </a:r>
              <a:r>
                <a:rPr lang="en-US" b="1">
                  <a:solidFill>
                    <a:srgbClr val="000000"/>
                  </a:solidFill>
                </a:rPr>
                <a:t> Graph Outputs Tab</a:t>
              </a:r>
              <a:endParaRPr lang="en-US" sz="1600" b="1">
                <a:solidFill>
                  <a:srgbClr val="000000"/>
                </a:solidFill>
              </a:endParaRPr>
            </a:p>
          </p:txBody>
        </p:sp>
        <p:cxnSp>
          <p:nvCxnSpPr>
            <p:cNvPr id="15" name="btfpColumnHeaderBoxLine686182">
              <a:extLst>
                <a:ext uri="{FF2B5EF4-FFF2-40B4-BE49-F238E27FC236}">
                  <a16:creationId xmlns:a16="http://schemas.microsoft.com/office/drawing/2014/main" id="{6BEEEEED-5E23-749C-240F-5C087A3F391C}"/>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6" name="btfpBulletedList430166">
            <a:extLst>
              <a:ext uri="{FF2B5EF4-FFF2-40B4-BE49-F238E27FC236}">
                <a16:creationId xmlns:a16="http://schemas.microsoft.com/office/drawing/2014/main" id="{C04D6BFA-5F47-0FFD-1A8B-1905104560C2}"/>
              </a:ext>
            </a:extLst>
          </p:cNvPr>
          <p:cNvSpPr txBox="1"/>
          <p:nvPr>
            <p:custDataLst>
              <p:tags r:id="rId5"/>
            </p:custDataLst>
          </p:nvPr>
        </p:nvSpPr>
        <p:spPr bwMode="gray">
          <a:xfrm>
            <a:off x="379385" y="4529850"/>
            <a:ext cx="5765797" cy="1480781"/>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err="1"/>
              <a:t>Mekko</a:t>
            </a:r>
            <a:r>
              <a:rPr lang="en-US" sz="1400" b="1"/>
              <a:t> Graph Outputs</a:t>
            </a:r>
            <a:r>
              <a:rPr lang="en-US" sz="1400"/>
              <a:t> tab consolidates data from the Financials &amp; KPIs tab, ensuring that key financial metrics are </a:t>
            </a:r>
            <a:r>
              <a:rPr lang="en-US" sz="1400" b="1"/>
              <a:t>accurately mapped to relevant tables </a:t>
            </a:r>
            <a:r>
              <a:rPr lang="en-US" sz="1400"/>
              <a:t>such as EBITDA Margin, Net Working Capital (NWC) metrics, and other performance indicators</a:t>
            </a:r>
          </a:p>
          <a:p>
            <a:pPr>
              <a:spcBef>
                <a:spcPts val="900"/>
              </a:spcBef>
              <a:defRPr/>
            </a:pPr>
            <a:r>
              <a:rPr lang="en-US" sz="1400"/>
              <a:t>This tab </a:t>
            </a:r>
            <a:r>
              <a:rPr lang="en-US" sz="1400" b="1"/>
              <a:t>facilitates automated calculations</a:t>
            </a:r>
            <a:r>
              <a:rPr lang="en-US" sz="1400"/>
              <a:t>, reducing manual effort and potential errors</a:t>
            </a:r>
          </a:p>
        </p:txBody>
      </p:sp>
      <p:grpSp>
        <p:nvGrpSpPr>
          <p:cNvPr id="17" name="btfpColumnHeaderBox686182">
            <a:extLst>
              <a:ext uri="{FF2B5EF4-FFF2-40B4-BE49-F238E27FC236}">
                <a16:creationId xmlns:a16="http://schemas.microsoft.com/office/drawing/2014/main" id="{D79BA160-5A4F-45A5-39FF-DBE1822D1C74}"/>
              </a:ext>
            </a:extLst>
          </p:cNvPr>
          <p:cNvGrpSpPr/>
          <p:nvPr>
            <p:custDataLst>
              <p:tags r:id="rId6"/>
            </p:custDataLst>
          </p:nvPr>
        </p:nvGrpSpPr>
        <p:grpSpPr>
          <a:xfrm>
            <a:off x="6210710" y="1269092"/>
            <a:ext cx="5522610" cy="318997"/>
            <a:chOff x="4354248" y="1502208"/>
            <a:chExt cx="3483504" cy="318997"/>
          </a:xfrm>
        </p:grpSpPr>
        <p:sp>
          <p:nvSpPr>
            <p:cNvPr id="18" name="btfpColumnHeaderBoxText686182">
              <a:extLst>
                <a:ext uri="{FF2B5EF4-FFF2-40B4-BE49-F238E27FC236}">
                  <a16:creationId xmlns:a16="http://schemas.microsoft.com/office/drawing/2014/main" id="{76D9C560-B9C8-AEDB-FC1D-CE610D9D4545}"/>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TSR Analysis Tab</a:t>
              </a:r>
            </a:p>
          </p:txBody>
        </p:sp>
        <p:cxnSp>
          <p:nvCxnSpPr>
            <p:cNvPr id="19" name="btfpColumnHeaderBoxLine686182">
              <a:extLst>
                <a:ext uri="{FF2B5EF4-FFF2-40B4-BE49-F238E27FC236}">
                  <a16:creationId xmlns:a16="http://schemas.microsoft.com/office/drawing/2014/main" id="{2B16E3E0-561E-CC81-BD73-250CF6C244DB}"/>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20" name="btfpBulletedList430166">
            <a:extLst>
              <a:ext uri="{FF2B5EF4-FFF2-40B4-BE49-F238E27FC236}">
                <a16:creationId xmlns:a16="http://schemas.microsoft.com/office/drawing/2014/main" id="{958A5B07-42CF-7C0E-01F3-967AF261EE3D}"/>
              </a:ext>
            </a:extLst>
          </p:cNvPr>
          <p:cNvSpPr txBox="1"/>
          <p:nvPr>
            <p:custDataLst>
              <p:tags r:id="rId7"/>
            </p:custDataLst>
          </p:nvPr>
        </p:nvSpPr>
        <p:spPr bwMode="gray">
          <a:xfrm>
            <a:off x="6207475" y="4529850"/>
            <a:ext cx="5605140" cy="1265337"/>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TSR Analysis </a:t>
            </a:r>
            <a:r>
              <a:rPr lang="en-US" sz="1400"/>
              <a:t>tab includes granular data on indexed dividend-adjusted share price for all peers in the last 5 years; this information is used to calculation 5-year, 3-year, and 1-year TSR for each peer</a:t>
            </a:r>
          </a:p>
          <a:p>
            <a:pPr>
              <a:spcBef>
                <a:spcPts val="900"/>
              </a:spcBef>
              <a:defRPr/>
            </a:pPr>
            <a:r>
              <a:rPr lang="en-US" sz="1400"/>
              <a:t>Data from this tab is used to generate the TSR Analysis and Share Price Analysis slides of the standard OI loop</a:t>
            </a:r>
            <a:endParaRPr kumimoji="0" lang="en-US" sz="1400" b="0" i="0" u="none" strike="noStrike" kern="1200" cap="none" spc="0" normalizeH="0" baseline="0" noProof="0">
              <a:ln>
                <a:noFill/>
              </a:ln>
              <a:solidFill>
                <a:srgbClr val="000000"/>
              </a:solidFill>
              <a:effectLst/>
              <a:uLnTx/>
              <a:uFillTx/>
              <a:latin typeface="Arial"/>
            </a:endParaRPr>
          </a:p>
        </p:txBody>
      </p:sp>
      <p:pic>
        <p:nvPicPr>
          <p:cNvPr id="27" name="Picture 26">
            <a:extLst>
              <a:ext uri="{FF2B5EF4-FFF2-40B4-BE49-F238E27FC236}">
                <a16:creationId xmlns:a16="http://schemas.microsoft.com/office/drawing/2014/main" id="{BFA0373B-C71E-46EF-AFCD-152E26F7904D}"/>
              </a:ext>
            </a:extLst>
          </p:cNvPr>
          <p:cNvPicPr>
            <a:picLocks noChangeAspect="1"/>
          </p:cNvPicPr>
          <p:nvPr/>
        </p:nvPicPr>
        <p:blipFill>
          <a:blip r:embed="rId13"/>
          <a:stretch>
            <a:fillRect/>
          </a:stretch>
        </p:blipFill>
        <p:spPr>
          <a:xfrm>
            <a:off x="386259" y="1710501"/>
            <a:ext cx="5581265" cy="2503995"/>
          </a:xfrm>
          <a:prstGeom prst="rect">
            <a:avLst/>
          </a:prstGeom>
        </p:spPr>
      </p:pic>
      <p:sp>
        <p:nvSpPr>
          <p:cNvPr id="30" name="btfpNumberBubble557534">
            <a:extLst>
              <a:ext uri="{FF2B5EF4-FFF2-40B4-BE49-F238E27FC236}">
                <a16:creationId xmlns:a16="http://schemas.microsoft.com/office/drawing/2014/main" id="{390F475C-7340-D5F7-3F69-14FFCFAEC0F4}"/>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4239127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5449B5C5-F30F-FDFE-4C68-EEFEA6FDAA42}"/>
              </a:ext>
            </a:extLst>
          </p:cNvPr>
          <p:cNvGraphicFramePr>
            <a:graphicFrameLocks/>
          </p:cNvGraphicFramePr>
          <p:nvPr>
            <p:custDataLst>
              <p:tags r:id="rId2"/>
            </p:custDataLst>
            <p:extLst>
              <p:ext uri="{D42A27DB-BD31-4B8C-83A1-F6EECF244321}">
                <p14:modId xmlns:p14="http://schemas.microsoft.com/office/powerpoint/2010/main" val="32056866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23" name="think-cell data - do not delete" hidden="1">
                        <a:extLst>
                          <a:ext uri="{FF2B5EF4-FFF2-40B4-BE49-F238E27FC236}">
                            <a16:creationId xmlns:a16="http://schemas.microsoft.com/office/drawing/2014/main" id="{5449B5C5-F30F-FDFE-4C68-EEFEA6FDAA42}"/>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694152A7-61D7-6F5F-9D7C-771D2A31A001}"/>
              </a:ext>
            </a:extLst>
          </p:cNvPr>
          <p:cNvGrpSpPr/>
          <p:nvPr/>
        </p:nvGrpSpPr>
        <p:grpSpPr>
          <a:xfrm>
            <a:off x="0" y="6926580"/>
            <a:ext cx="12192000" cy="137160"/>
            <a:chOff x="0" y="6926580"/>
            <a:chExt cx="12192000" cy="137160"/>
          </a:xfrm>
        </p:grpSpPr>
        <p:sp>
          <p:nvSpPr>
            <p:cNvPr id="10" name="btfpColumnGapBlocker316553">
              <a:extLst>
                <a:ext uri="{FF2B5EF4-FFF2-40B4-BE49-F238E27FC236}">
                  <a16:creationId xmlns:a16="http://schemas.microsoft.com/office/drawing/2014/main" id="{5C55778B-CE77-1FBD-F800-9BC77F59C60F}"/>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31727">
              <a:extLst>
                <a:ext uri="{FF2B5EF4-FFF2-40B4-BE49-F238E27FC236}">
                  <a16:creationId xmlns:a16="http://schemas.microsoft.com/office/drawing/2014/main" id="{53EC5744-EF13-928F-31A5-696F4B004977}"/>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328363">
              <a:extLst>
                <a:ext uri="{FF2B5EF4-FFF2-40B4-BE49-F238E27FC236}">
                  <a16:creationId xmlns:a16="http://schemas.microsoft.com/office/drawing/2014/main" id="{E2EDF5D5-D8FE-D1E0-753E-1C41B0EC93A7}"/>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551751">
              <a:extLst>
                <a:ext uri="{FF2B5EF4-FFF2-40B4-BE49-F238E27FC236}">
                  <a16:creationId xmlns:a16="http://schemas.microsoft.com/office/drawing/2014/main" id="{1E377F04-87A9-359F-98DF-D5C4AE86D277}"/>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C301AB0B-5529-4AD9-F988-9677FE555008}"/>
              </a:ext>
            </a:extLst>
          </p:cNvPr>
          <p:cNvGrpSpPr/>
          <p:nvPr/>
        </p:nvGrpSpPr>
        <p:grpSpPr>
          <a:xfrm>
            <a:off x="0" y="-205740"/>
            <a:ext cx="12192000" cy="137160"/>
            <a:chOff x="0" y="-205740"/>
            <a:chExt cx="12192000" cy="137160"/>
          </a:xfrm>
        </p:grpSpPr>
        <p:sp>
          <p:nvSpPr>
            <p:cNvPr id="9" name="btfpColumnGapBlocker312616">
              <a:extLst>
                <a:ext uri="{FF2B5EF4-FFF2-40B4-BE49-F238E27FC236}">
                  <a16:creationId xmlns:a16="http://schemas.microsoft.com/office/drawing/2014/main" id="{35A0B9A1-BE10-192C-8A6B-04DD3899155F}"/>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680036">
              <a:extLst>
                <a:ext uri="{FF2B5EF4-FFF2-40B4-BE49-F238E27FC236}">
                  <a16:creationId xmlns:a16="http://schemas.microsoft.com/office/drawing/2014/main" id="{2026025D-83E4-8643-C073-AA3AE66CDE84}"/>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795440">
              <a:extLst>
                <a:ext uri="{FF2B5EF4-FFF2-40B4-BE49-F238E27FC236}">
                  <a16:creationId xmlns:a16="http://schemas.microsoft.com/office/drawing/2014/main" id="{218841F8-BB0E-FDFB-534B-43F62569711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77282">
              <a:extLst>
                <a:ext uri="{FF2B5EF4-FFF2-40B4-BE49-F238E27FC236}">
                  <a16:creationId xmlns:a16="http://schemas.microsoft.com/office/drawing/2014/main" id="{8F82CF2F-A4F3-6151-1950-B46CABAFA3A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1" name="Title 1">
            <a:extLst>
              <a:ext uri="{FF2B5EF4-FFF2-40B4-BE49-F238E27FC236}">
                <a16:creationId xmlns:a16="http://schemas.microsoft.com/office/drawing/2014/main" id="{4FB89295-8D9A-0CDE-C057-E16877E86D4B}"/>
              </a:ext>
            </a:extLst>
          </p:cNvPr>
          <p:cNvSpPr>
            <a:spLocks noGrp="1"/>
          </p:cNvSpPr>
          <p:nvPr>
            <p:ph type="title"/>
          </p:nvPr>
        </p:nvSpPr>
        <p:spPr>
          <a:xfrm>
            <a:off x="334963" y="0"/>
            <a:ext cx="11522075" cy="876300"/>
          </a:xfrm>
        </p:spPr>
        <p:txBody>
          <a:bodyPr vert="horz"/>
          <a:lstStyle/>
          <a:p>
            <a:r>
              <a:rPr lang="en-US" b="1" u="sng"/>
              <a:t>Stage 2 – Data Collection &amp; Output Creation:</a:t>
            </a:r>
            <a:r>
              <a:rPr lang="en-US" b="1"/>
              <a:t> </a:t>
            </a:r>
            <a:r>
              <a:rPr lang="en-US"/>
              <a:t>Introduction (5/5)</a:t>
            </a:r>
          </a:p>
        </p:txBody>
      </p:sp>
      <p:grpSp>
        <p:nvGrpSpPr>
          <p:cNvPr id="24" name="btfpRunningAgenda1Level747472">
            <a:extLst>
              <a:ext uri="{FF2B5EF4-FFF2-40B4-BE49-F238E27FC236}">
                <a16:creationId xmlns:a16="http://schemas.microsoft.com/office/drawing/2014/main" id="{092DE4F3-68F5-2218-B0B9-5BD909E822C3}"/>
              </a:ext>
            </a:extLst>
          </p:cNvPr>
          <p:cNvGrpSpPr/>
          <p:nvPr>
            <p:custDataLst>
              <p:tags r:id="rId3"/>
            </p:custDataLst>
          </p:nvPr>
        </p:nvGrpSpPr>
        <p:grpSpPr>
          <a:xfrm>
            <a:off x="0" y="944429"/>
            <a:ext cx="1833863" cy="257442"/>
            <a:chOff x="0" y="876300"/>
            <a:chExt cx="1833863" cy="257442"/>
          </a:xfrm>
        </p:grpSpPr>
        <p:sp>
          <p:nvSpPr>
            <p:cNvPr id="25" name="btfpRunningAgenda1LevelBarLeft747472">
              <a:extLst>
                <a:ext uri="{FF2B5EF4-FFF2-40B4-BE49-F238E27FC236}">
                  <a16:creationId xmlns:a16="http://schemas.microsoft.com/office/drawing/2014/main" id="{05BA67E6-0EE9-D925-ABE5-72044295A46F}"/>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RunningAgenda1LevelTextLeft747472">
              <a:extLst>
                <a:ext uri="{FF2B5EF4-FFF2-40B4-BE49-F238E27FC236}">
                  <a16:creationId xmlns:a16="http://schemas.microsoft.com/office/drawing/2014/main" id="{F8707D61-DB38-F0DA-F224-3AE228A9D3FA}"/>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pic>
        <p:nvPicPr>
          <p:cNvPr id="34" name="Picture 33">
            <a:extLst>
              <a:ext uri="{FF2B5EF4-FFF2-40B4-BE49-F238E27FC236}">
                <a16:creationId xmlns:a16="http://schemas.microsoft.com/office/drawing/2014/main" id="{5B6E6547-4EDF-6552-EC18-919F2F731E90}"/>
              </a:ext>
            </a:extLst>
          </p:cNvPr>
          <p:cNvPicPr>
            <a:picLocks noChangeAspect="1"/>
          </p:cNvPicPr>
          <p:nvPr/>
        </p:nvPicPr>
        <p:blipFill>
          <a:blip r:embed="rId12"/>
          <a:stretch>
            <a:fillRect/>
          </a:stretch>
        </p:blipFill>
        <p:spPr>
          <a:xfrm>
            <a:off x="6224477" y="1739932"/>
            <a:ext cx="5522611" cy="2433474"/>
          </a:xfrm>
          <a:prstGeom prst="rect">
            <a:avLst/>
          </a:prstGeom>
        </p:spPr>
      </p:pic>
      <p:grpSp>
        <p:nvGrpSpPr>
          <p:cNvPr id="2" name="btfpColumnHeaderBox686182">
            <a:extLst>
              <a:ext uri="{FF2B5EF4-FFF2-40B4-BE49-F238E27FC236}">
                <a16:creationId xmlns:a16="http://schemas.microsoft.com/office/drawing/2014/main" id="{9FED74D3-FAB5-A0C3-7B25-BE430A77EA74}"/>
              </a:ext>
            </a:extLst>
          </p:cNvPr>
          <p:cNvGrpSpPr/>
          <p:nvPr>
            <p:custDataLst>
              <p:tags r:id="rId4"/>
            </p:custDataLst>
          </p:nvPr>
        </p:nvGrpSpPr>
        <p:grpSpPr>
          <a:xfrm>
            <a:off x="330200" y="1268762"/>
            <a:ext cx="5522610" cy="318997"/>
            <a:chOff x="4354248" y="1502208"/>
            <a:chExt cx="3483504" cy="318997"/>
          </a:xfrm>
        </p:grpSpPr>
        <p:sp>
          <p:nvSpPr>
            <p:cNvPr id="14" name="btfpColumnHeaderBoxText686182">
              <a:extLst>
                <a:ext uri="{FF2B5EF4-FFF2-40B4-BE49-F238E27FC236}">
                  <a16:creationId xmlns:a16="http://schemas.microsoft.com/office/drawing/2014/main" id="{CA899190-4E85-D2AA-D112-791901711C6C}"/>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EV/EBIT(DA) Calculation Tab</a:t>
              </a:r>
            </a:p>
          </p:txBody>
        </p:sp>
        <p:cxnSp>
          <p:nvCxnSpPr>
            <p:cNvPr id="15" name="btfpColumnHeaderBoxLine686182">
              <a:extLst>
                <a:ext uri="{FF2B5EF4-FFF2-40B4-BE49-F238E27FC236}">
                  <a16:creationId xmlns:a16="http://schemas.microsoft.com/office/drawing/2014/main" id="{6BEEEEED-5E23-749C-240F-5C087A3F391C}"/>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16" name="btfpBulletedList430166">
            <a:extLst>
              <a:ext uri="{FF2B5EF4-FFF2-40B4-BE49-F238E27FC236}">
                <a16:creationId xmlns:a16="http://schemas.microsoft.com/office/drawing/2014/main" id="{C04D6BFA-5F47-0FFD-1A8B-1905104560C2}"/>
              </a:ext>
            </a:extLst>
          </p:cNvPr>
          <p:cNvSpPr txBox="1"/>
          <p:nvPr>
            <p:custDataLst>
              <p:tags r:id="rId5"/>
            </p:custDataLst>
          </p:nvPr>
        </p:nvSpPr>
        <p:spPr bwMode="gray">
          <a:xfrm>
            <a:off x="330199" y="4318610"/>
            <a:ext cx="5765797" cy="2242528"/>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EV/EBIT(DA) Calculation </a:t>
            </a:r>
            <a:r>
              <a:rPr lang="en-US" sz="1400"/>
              <a:t>tab is used to model the TSR and EV uplift provided to the target by the value-at-stake opportunity recommended in the OI analysis</a:t>
            </a:r>
          </a:p>
          <a:p>
            <a:pPr>
              <a:spcBef>
                <a:spcPts val="900"/>
              </a:spcBef>
              <a:defRPr/>
            </a:pPr>
            <a:r>
              <a:rPr lang="en-US" sz="1400"/>
              <a:t>The ‘low end’ and ‘high end’ savings numbers and ‘scenario toggle’ fields need to be inputted to generate the output for the associated EV uplift waterfall slide in the standard OI</a:t>
            </a:r>
          </a:p>
          <a:p>
            <a:pPr>
              <a:spcBef>
                <a:spcPts val="900"/>
              </a:spcBef>
              <a:defRPr/>
            </a:pPr>
            <a:r>
              <a:rPr lang="en-US" sz="1400"/>
              <a:t>If the target’s EV is significantly lower than peer median or top quartile, the OI team may consider recommending multiple expansion based on a close peer</a:t>
            </a:r>
          </a:p>
        </p:txBody>
      </p:sp>
      <p:grpSp>
        <p:nvGrpSpPr>
          <p:cNvPr id="17" name="btfpColumnHeaderBox686182">
            <a:extLst>
              <a:ext uri="{FF2B5EF4-FFF2-40B4-BE49-F238E27FC236}">
                <a16:creationId xmlns:a16="http://schemas.microsoft.com/office/drawing/2014/main" id="{D79BA160-5A4F-45A5-39FF-DBE1822D1C74}"/>
              </a:ext>
            </a:extLst>
          </p:cNvPr>
          <p:cNvGrpSpPr/>
          <p:nvPr>
            <p:custDataLst>
              <p:tags r:id="rId6"/>
            </p:custDataLst>
          </p:nvPr>
        </p:nvGrpSpPr>
        <p:grpSpPr>
          <a:xfrm>
            <a:off x="6210710" y="1269092"/>
            <a:ext cx="5522610" cy="318997"/>
            <a:chOff x="4354248" y="1502208"/>
            <a:chExt cx="3483504" cy="318997"/>
          </a:xfrm>
        </p:grpSpPr>
        <p:sp>
          <p:nvSpPr>
            <p:cNvPr id="18" name="btfpColumnHeaderBoxText686182">
              <a:extLst>
                <a:ext uri="{FF2B5EF4-FFF2-40B4-BE49-F238E27FC236}">
                  <a16:creationId xmlns:a16="http://schemas.microsoft.com/office/drawing/2014/main" id="{76D9C560-B9C8-AEDB-FC1D-CE610D9D4545}"/>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Slide Automation Excel Input Tab</a:t>
              </a:r>
            </a:p>
          </p:txBody>
        </p:sp>
        <p:cxnSp>
          <p:nvCxnSpPr>
            <p:cNvPr id="19" name="btfpColumnHeaderBoxLine686182">
              <a:extLst>
                <a:ext uri="{FF2B5EF4-FFF2-40B4-BE49-F238E27FC236}">
                  <a16:creationId xmlns:a16="http://schemas.microsoft.com/office/drawing/2014/main" id="{2B16E3E0-561E-CC81-BD73-250CF6C244DB}"/>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20" name="btfpBulletedList430166">
            <a:extLst>
              <a:ext uri="{FF2B5EF4-FFF2-40B4-BE49-F238E27FC236}">
                <a16:creationId xmlns:a16="http://schemas.microsoft.com/office/drawing/2014/main" id="{958A5B07-42CF-7C0E-01F3-967AF261EE3D}"/>
              </a:ext>
            </a:extLst>
          </p:cNvPr>
          <p:cNvSpPr txBox="1"/>
          <p:nvPr>
            <p:custDataLst>
              <p:tags r:id="rId7"/>
            </p:custDataLst>
          </p:nvPr>
        </p:nvSpPr>
        <p:spPr bwMode="gray">
          <a:xfrm>
            <a:off x="6207475" y="4314077"/>
            <a:ext cx="5605140" cy="1696224"/>
          </a:xfrm>
          <a:prstGeom prst="rect">
            <a:avLst/>
          </a:prstGeom>
          <a:noFill/>
        </p:spPr>
        <p:txBody>
          <a:bodyPr vert="horz" wrap="square" lIns="36000" tIns="36000" rIns="36000" bIns="36000" rtlCol="0">
            <a:spAutoFit/>
          </a:bodyPr>
          <a:lstStyle/>
          <a:p>
            <a:pPr>
              <a:spcBef>
                <a:spcPts val="900"/>
              </a:spcBef>
              <a:defRPr/>
            </a:pPr>
            <a:r>
              <a:rPr lang="en-US" sz="1400"/>
              <a:t>The </a:t>
            </a:r>
            <a:r>
              <a:rPr lang="en-US" sz="1400" b="1"/>
              <a:t>Slide Automation Excel Input</a:t>
            </a:r>
            <a:r>
              <a:rPr lang="en-US" sz="1400"/>
              <a:t> tab is similar to the </a:t>
            </a:r>
            <a:r>
              <a:rPr lang="en-US" sz="1400" b="1" err="1"/>
              <a:t>Mekko</a:t>
            </a:r>
            <a:r>
              <a:rPr lang="en-US" sz="1400" b="1"/>
              <a:t> Graph Outputs</a:t>
            </a:r>
            <a:r>
              <a:rPr lang="en-US" sz="1400"/>
              <a:t> tab, as both contain the same financial and performance data. However, this tab ensures data is </a:t>
            </a:r>
            <a:r>
              <a:rPr lang="en-US" sz="1400" b="1"/>
              <a:t>pre-sorted and structured</a:t>
            </a:r>
            <a:r>
              <a:rPr lang="en-US" sz="1400"/>
              <a:t> for direct use in generating automated slide outputs </a:t>
            </a:r>
          </a:p>
          <a:p>
            <a:pPr>
              <a:spcBef>
                <a:spcPts val="900"/>
              </a:spcBef>
              <a:defRPr/>
            </a:pPr>
            <a:r>
              <a:rPr lang="en-US" sz="1400"/>
              <a:t>Data from this tab is copied and pasted into the </a:t>
            </a:r>
            <a:r>
              <a:rPr lang="en-US" sz="1400" b="1"/>
              <a:t>Slide Automation Excel</a:t>
            </a:r>
            <a:r>
              <a:rPr lang="en-US" sz="1400"/>
              <a:t> to facilitate </a:t>
            </a:r>
            <a:r>
              <a:rPr lang="en-US" sz="1400" b="1"/>
              <a:t>slide generation and automate the slide deck</a:t>
            </a:r>
            <a:r>
              <a:rPr lang="en-US" sz="1400"/>
              <a:t> using </a:t>
            </a:r>
            <a:r>
              <a:rPr lang="en-US" sz="1400" b="1"/>
              <a:t>Think-Cell</a:t>
            </a:r>
            <a:endParaRPr kumimoji="0" lang="en-US" sz="1400" b="0" i="0" u="none" strike="noStrike" kern="1200" cap="none" spc="0" normalizeH="0" baseline="0" noProof="0">
              <a:ln>
                <a:noFill/>
              </a:ln>
              <a:solidFill>
                <a:srgbClr val="000000"/>
              </a:solidFill>
              <a:effectLst/>
              <a:uLnTx/>
              <a:uFillTx/>
              <a:latin typeface="Arial"/>
            </a:endParaRPr>
          </a:p>
        </p:txBody>
      </p:sp>
      <p:pic>
        <p:nvPicPr>
          <p:cNvPr id="27" name="Picture 26">
            <a:extLst>
              <a:ext uri="{FF2B5EF4-FFF2-40B4-BE49-F238E27FC236}">
                <a16:creationId xmlns:a16="http://schemas.microsoft.com/office/drawing/2014/main" id="{BFA0373B-C71E-46EF-AFCD-152E26F7904D}"/>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330199" y="1739932"/>
            <a:ext cx="5522599" cy="2433476"/>
          </a:xfrm>
          <a:prstGeom prst="rect">
            <a:avLst/>
          </a:prstGeom>
        </p:spPr>
      </p:pic>
      <p:sp>
        <p:nvSpPr>
          <p:cNvPr id="31" name="btfpNumberBubble557534">
            <a:extLst>
              <a:ext uri="{FF2B5EF4-FFF2-40B4-BE49-F238E27FC236}">
                <a16:creationId xmlns:a16="http://schemas.microsoft.com/office/drawing/2014/main" id="{E04BE350-D913-F011-151B-4108C7FAFF35}"/>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690722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think-cell data - do not delete" hidden="1">
            <a:extLst>
              <a:ext uri="{FF2B5EF4-FFF2-40B4-BE49-F238E27FC236}">
                <a16:creationId xmlns:a16="http://schemas.microsoft.com/office/drawing/2014/main" id="{68618EF8-A430-F3C0-DF21-EDAD88720585}"/>
              </a:ext>
            </a:extLst>
          </p:cNvPr>
          <p:cNvGraphicFramePr>
            <a:graphicFrameLocks/>
          </p:cNvGraphicFramePr>
          <p:nvPr>
            <p:custDataLst>
              <p:tags r:id="rId2"/>
            </p:custDataLst>
            <p:extLst>
              <p:ext uri="{D42A27DB-BD31-4B8C-83A1-F6EECF244321}">
                <p14:modId xmlns:p14="http://schemas.microsoft.com/office/powerpoint/2010/main" val="9931957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31" name="think-cell data - do not delete" hidden="1">
                        <a:extLst>
                          <a:ext uri="{FF2B5EF4-FFF2-40B4-BE49-F238E27FC236}">
                            <a16:creationId xmlns:a16="http://schemas.microsoft.com/office/drawing/2014/main" id="{68618EF8-A430-F3C0-DF21-EDAD88720585}"/>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25" name="btfpColumnIndicatorGroup2">
            <a:extLst>
              <a:ext uri="{FF2B5EF4-FFF2-40B4-BE49-F238E27FC236}">
                <a16:creationId xmlns:a16="http://schemas.microsoft.com/office/drawing/2014/main" id="{CEC16C71-83C6-407D-8F90-D5FE8384C74E}"/>
              </a:ext>
            </a:extLst>
          </p:cNvPr>
          <p:cNvGrpSpPr/>
          <p:nvPr/>
        </p:nvGrpSpPr>
        <p:grpSpPr>
          <a:xfrm>
            <a:off x="0" y="6926580"/>
            <a:ext cx="12192000" cy="137160"/>
            <a:chOff x="0" y="6926580"/>
            <a:chExt cx="12192000" cy="137160"/>
          </a:xfrm>
        </p:grpSpPr>
        <p:sp>
          <p:nvSpPr>
            <p:cNvPr id="23" name="btfpColumnGapBlocker552125">
              <a:extLst>
                <a:ext uri="{FF2B5EF4-FFF2-40B4-BE49-F238E27FC236}">
                  <a16:creationId xmlns:a16="http://schemas.microsoft.com/office/drawing/2014/main" id="{D2B4B9F1-32FF-433B-A2A2-16611F09F3E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ColumnGapBlocker368549">
              <a:extLst>
                <a:ext uri="{FF2B5EF4-FFF2-40B4-BE49-F238E27FC236}">
                  <a16:creationId xmlns:a16="http://schemas.microsoft.com/office/drawing/2014/main" id="{2229A227-D0D6-439B-8657-04C9B606842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 name="btfpColumnIndicator665655">
              <a:extLst>
                <a:ext uri="{FF2B5EF4-FFF2-40B4-BE49-F238E27FC236}">
                  <a16:creationId xmlns:a16="http://schemas.microsoft.com/office/drawing/2014/main" id="{0877E8A9-D341-4DD5-9332-06F6EA8861C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9" name="btfpColumnIndicator732246">
              <a:extLst>
                <a:ext uri="{FF2B5EF4-FFF2-40B4-BE49-F238E27FC236}">
                  <a16:creationId xmlns:a16="http://schemas.microsoft.com/office/drawing/2014/main" id="{DDD7BD5F-07F2-4375-BDCF-259AEB60677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24" name="btfpColumnIndicatorGroup1">
            <a:extLst>
              <a:ext uri="{FF2B5EF4-FFF2-40B4-BE49-F238E27FC236}">
                <a16:creationId xmlns:a16="http://schemas.microsoft.com/office/drawing/2014/main" id="{01616773-EEFF-4211-A3F7-A43BA51B6FAB}"/>
              </a:ext>
            </a:extLst>
          </p:cNvPr>
          <p:cNvGrpSpPr/>
          <p:nvPr/>
        </p:nvGrpSpPr>
        <p:grpSpPr>
          <a:xfrm>
            <a:off x="0" y="-205740"/>
            <a:ext cx="12192000" cy="137160"/>
            <a:chOff x="0" y="-205740"/>
            <a:chExt cx="12192000" cy="137160"/>
          </a:xfrm>
        </p:grpSpPr>
        <p:sp>
          <p:nvSpPr>
            <p:cNvPr id="19" name="btfpColumnGapBlocker678915">
              <a:extLst>
                <a:ext uri="{FF2B5EF4-FFF2-40B4-BE49-F238E27FC236}">
                  <a16:creationId xmlns:a16="http://schemas.microsoft.com/office/drawing/2014/main" id="{1439BF0E-74E5-4D1C-A6E6-11FC4A704FE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430105">
              <a:extLst>
                <a:ext uri="{FF2B5EF4-FFF2-40B4-BE49-F238E27FC236}">
                  <a16:creationId xmlns:a16="http://schemas.microsoft.com/office/drawing/2014/main" id="{F8481007-FB58-4E93-84DD-804234EB7F1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 name="btfpColumnIndicator817600">
              <a:extLst>
                <a:ext uri="{FF2B5EF4-FFF2-40B4-BE49-F238E27FC236}">
                  <a16:creationId xmlns:a16="http://schemas.microsoft.com/office/drawing/2014/main" id="{6353729F-1A51-4405-9B02-0D9C0D5E261A}"/>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554198">
              <a:extLst>
                <a:ext uri="{FF2B5EF4-FFF2-40B4-BE49-F238E27FC236}">
                  <a16:creationId xmlns:a16="http://schemas.microsoft.com/office/drawing/2014/main" id="{72FC70F5-418E-4B59-A04C-E4D4EEE6C20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overall_0_132077626006419448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2165789594"/>
              </p:ext>
            </p:extLst>
          </p:nvPr>
        </p:nvGraphicFramePr>
        <p:xfrm>
          <a:off x="330200" y="1270001"/>
          <a:ext cx="11526838" cy="4389167"/>
        </p:xfrm>
        <a:graphic>
          <a:graphicData uri="http://schemas.openxmlformats.org/drawingml/2006/table">
            <a:tbl>
              <a:tblPr firstRow="1" firstCol="1">
                <a:tableStyleId>{9D7B26C5-4107-4FEC-AEDC-1716B250A1EF}</a:tableStyleId>
              </a:tblPr>
              <a:tblGrid>
                <a:gridCol w="499725">
                  <a:extLst>
                    <a:ext uri="{9D8B030D-6E8A-4147-A177-3AD203B41FA5}">
                      <a16:colId xmlns:a16="http://schemas.microsoft.com/office/drawing/2014/main" val="3215929653"/>
                    </a:ext>
                  </a:extLst>
                </a:gridCol>
                <a:gridCol w="445019">
                  <a:extLst>
                    <a:ext uri="{9D8B030D-6E8A-4147-A177-3AD203B41FA5}">
                      <a16:colId xmlns:a16="http://schemas.microsoft.com/office/drawing/2014/main" val="3863182739"/>
                    </a:ext>
                  </a:extLst>
                </a:gridCol>
                <a:gridCol w="2930306">
                  <a:extLst>
                    <a:ext uri="{9D8B030D-6E8A-4147-A177-3AD203B41FA5}">
                      <a16:colId xmlns:a16="http://schemas.microsoft.com/office/drawing/2014/main" val="3410592685"/>
                    </a:ext>
                  </a:extLst>
                </a:gridCol>
                <a:gridCol w="5640605">
                  <a:extLst>
                    <a:ext uri="{9D8B030D-6E8A-4147-A177-3AD203B41FA5}">
                      <a16:colId xmlns:a16="http://schemas.microsoft.com/office/drawing/2014/main" val="2818076346"/>
                    </a:ext>
                  </a:extLst>
                </a:gridCol>
                <a:gridCol w="1090459">
                  <a:extLst>
                    <a:ext uri="{9D8B030D-6E8A-4147-A177-3AD203B41FA5}">
                      <a16:colId xmlns:a16="http://schemas.microsoft.com/office/drawing/2014/main" val="3473590596"/>
                    </a:ext>
                  </a:extLst>
                </a:gridCol>
                <a:gridCol w="920724">
                  <a:extLst>
                    <a:ext uri="{9D8B030D-6E8A-4147-A177-3AD203B41FA5}">
                      <a16:colId xmlns:a16="http://schemas.microsoft.com/office/drawing/2014/main" val="3350346648"/>
                    </a:ext>
                  </a:extLst>
                </a:gridCol>
              </a:tblGrid>
              <a:tr h="591321">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Est.</a:t>
                      </a:r>
                      <a:r>
                        <a:rPr lang="en-US" sz="1100" baseline="0"/>
                        <a:t> time allocation</a:t>
                      </a:r>
                      <a:endParaRPr lang="en-US" sz="1100"/>
                    </a:p>
                  </a:txBody>
                  <a:tcPr anchor="b"/>
                </a:tc>
                <a:tc>
                  <a:txBody>
                    <a:bodyPr/>
                    <a:lstStyle/>
                    <a:p>
                      <a:pPr marL="0" indent="0">
                        <a:spcBef>
                          <a:spcPts val="0"/>
                        </a:spcBef>
                        <a:buFontTx/>
                        <a:buNone/>
                      </a:pPr>
                      <a:r>
                        <a:rPr lang="en-US" sz="1100"/>
                        <a:t>Value</a:t>
                      </a:r>
                      <a:r>
                        <a:rPr lang="en-US" sz="1100" baseline="0"/>
                        <a:t> addition</a:t>
                      </a:r>
                      <a:endParaRPr lang="en-US" sz="1100"/>
                    </a:p>
                  </a:txBody>
                  <a:tcPr anchor="b"/>
                </a:tc>
                <a:extLst>
                  <a:ext uri="{0D108BD9-81ED-4DB2-BD59-A6C34878D82A}">
                    <a16:rowId xmlns:a16="http://schemas.microsoft.com/office/drawing/2014/main" val="2276346153"/>
                  </a:ext>
                </a:extLst>
              </a:tr>
              <a:tr h="1010422">
                <a:tc rowSpan="5">
                  <a:txBody>
                    <a:bodyPr/>
                    <a:lstStyle/>
                    <a:p>
                      <a:pPr marL="0" indent="0" algn="ctr" defTabSz="711200" rtl="0" eaLnBrk="1" latinLnBrk="0" hangingPunct="1">
                        <a:spcBef>
                          <a:spcPts val="1200"/>
                        </a:spcBef>
                        <a:buFontTx/>
                        <a:buNone/>
                      </a:pPr>
                      <a:r>
                        <a:rPr lang="en-US" sz="1100" b="1" i="0" kern="1200">
                          <a:solidFill>
                            <a:schemeClr val="dk1"/>
                          </a:solidFill>
                          <a:latin typeface="+mn-lt"/>
                          <a:ea typeface="+mn-ea"/>
                          <a:cs typeface="+mn-cs"/>
                        </a:rPr>
                        <a:t>Data Collection &amp; Output Creation Process</a:t>
                      </a:r>
                    </a:p>
                  </a:txBody>
                  <a:tcPr vert="vert270" anchor="ct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Create an empty Excel Dashboard</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Use the Excel Dashboard template to set up a new file for the OI analysis</a:t>
                      </a:r>
                    </a:p>
                  </a:txBody>
                  <a:tcPr anchor="ctr"/>
                </a:tc>
                <a:tc>
                  <a:txBody>
                    <a:bodyPr/>
                    <a:lstStyle/>
                    <a:p>
                      <a:pPr marL="0" indent="0">
                        <a:buFontTx/>
                        <a:buNone/>
                      </a:pPr>
                      <a:r>
                        <a:rPr lang="en-US" sz="1100"/>
                        <a:t>10 minutes</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8"/>
                        </a:buBlip>
                      </a:pPr>
                      <a:r>
                        <a:rPr lang="en-US" sz="1100" baseline="0"/>
                        <a:t> </a:t>
                      </a:r>
                    </a:p>
                  </a:txBody>
                  <a:tcPr anchor="ctr"/>
                </a:tc>
                <a:extLst>
                  <a:ext uri="{0D108BD9-81ED-4DB2-BD59-A6C34878D82A}">
                    <a16:rowId xmlns:a16="http://schemas.microsoft.com/office/drawing/2014/main" val="920372209"/>
                  </a:ext>
                </a:extLst>
              </a:tr>
              <a:tr h="1010422">
                <a:tc vMerge="1">
                  <a:txBody>
                    <a:bodyPr/>
                    <a:lstStyle/>
                    <a:p>
                      <a:endParaRPr/>
                    </a:p>
                  </a:txBody>
                  <a:tcPr vert="vert270" anchor="ct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Pull in peer financial data</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Pull in the </a:t>
                      </a:r>
                      <a:r>
                        <a:rPr lang="en-US" sz="1100" b="1"/>
                        <a:t>Reported Financials</a:t>
                      </a:r>
                      <a:r>
                        <a:rPr lang="en-US" sz="1100"/>
                        <a:t> from </a:t>
                      </a:r>
                      <a:r>
                        <a:rPr lang="en-US" sz="1100" err="1"/>
                        <a:t>CapIQ</a:t>
                      </a:r>
                      <a:r>
                        <a:rPr lang="en-US" sz="1100"/>
                        <a:t> or peer annual reports for each year</a:t>
                      </a:r>
                    </a:p>
                  </a:txBody>
                  <a:tcPr anchor="ctr"/>
                </a:tc>
                <a:tc rowSpan="4">
                  <a:txBody>
                    <a:bodyPr/>
                    <a:lstStyle/>
                    <a:p>
                      <a:pPr marL="0" indent="0">
                        <a:buFontTx/>
                        <a:buNone/>
                      </a:pPr>
                      <a:r>
                        <a:rPr lang="en-US" sz="1100"/>
                        <a:t>14-16 hours</a:t>
                      </a: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661190020"/>
                  </a:ext>
                </a:extLst>
              </a:tr>
              <a:tr h="591321">
                <a:tc vMerge="1">
                  <a:txBody>
                    <a:bodyPr/>
                    <a:lstStyle/>
                    <a:p>
                      <a:endParaRPr/>
                    </a:p>
                  </a:txBody>
                  <a:tcPr vert="vert270">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Make adjustments to peer financials</a:t>
                      </a:r>
                    </a:p>
                  </a:txBody>
                  <a:tcPr anchor="ctr"/>
                </a:tc>
                <a:tc>
                  <a:txBody>
                    <a:bodyPr/>
                    <a:lstStyle/>
                    <a:p>
                      <a:pPr marL="0" indent="0">
                        <a:buFontTx/>
                        <a:buNone/>
                      </a:pPr>
                      <a:r>
                        <a:rPr lang="en-US" sz="1100"/>
                        <a:t>Create</a:t>
                      </a:r>
                      <a:r>
                        <a:rPr lang="en-US" sz="1100" baseline="0"/>
                        <a:t> Non-GAAP / adjusted income statement for the peers to standardize reporting structure to that of the target company </a:t>
                      </a:r>
                      <a:endParaRPr lang="en-US" sz="1100"/>
                    </a:p>
                  </a:txBody>
                  <a:tcPr anchor="ctr"/>
                </a:tc>
                <a:tc vMerge="1">
                  <a:txBody>
                    <a:bodyPr/>
                    <a:lstStyle/>
                    <a:p>
                      <a:endParaRP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9"/>
                        </a:buBlip>
                      </a:pPr>
                      <a:r>
                        <a:rPr lang="en-US" sz="1100" baseline="0"/>
                        <a:t> </a:t>
                      </a:r>
                    </a:p>
                  </a:txBody>
                  <a:tcPr anchor="ctr"/>
                </a:tc>
                <a:extLst>
                  <a:ext uri="{0D108BD9-81ED-4DB2-BD59-A6C34878D82A}">
                    <a16:rowId xmlns:a16="http://schemas.microsoft.com/office/drawing/2014/main" val="1960213926"/>
                  </a:ext>
                </a:extLst>
              </a:tr>
              <a:tr h="591321">
                <a:tc vMerge="1">
                  <a:txBody>
                    <a:bodyPr/>
                    <a:lstStyle/>
                    <a:p>
                      <a:pPr marL="0" indent="0">
                        <a:buFontTx/>
                        <a:buNone/>
                      </a:pPr>
                      <a:endParaRPr lang="en-US" sz="1100"/>
                    </a:p>
                  </a:txBody>
                  <a:tcPr>
                    <a:solidFill>
                      <a:schemeClr val="accent5">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Review adjustments</a:t>
                      </a:r>
                      <a:r>
                        <a:rPr lang="en-US" sz="1100" baseline="0"/>
                        <a:t> and validate the dashboard</a:t>
                      </a:r>
                      <a:endParaRPr lang="en-US" sz="1100"/>
                    </a:p>
                  </a:txBody>
                  <a:tcPr anchor="ctr"/>
                </a:tc>
                <a:tc>
                  <a:txBody>
                    <a:bodyPr/>
                    <a:lstStyle/>
                    <a:p>
                      <a:pPr marL="0" indent="0">
                        <a:buFontTx/>
                        <a:buNone/>
                      </a:pPr>
                      <a:r>
                        <a:rPr lang="en-US" sz="1100"/>
                        <a:t>Review</a:t>
                      </a:r>
                      <a:r>
                        <a:rPr lang="en-US" sz="1100" baseline="0"/>
                        <a:t> the adjustments and understand the “why” behind the numbers, making additional adjustments as needed </a:t>
                      </a:r>
                      <a:endParaRPr lang="en-US" sz="1100"/>
                    </a:p>
                  </a:txBody>
                  <a:tcPr anchor="ctr"/>
                </a:tc>
                <a:tc vMerge="1">
                  <a:txBody>
                    <a:bodyPr/>
                    <a:lstStyle/>
                    <a:p>
                      <a:endParaRP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10"/>
                        </a:buBlip>
                      </a:pPr>
                      <a:r>
                        <a:rPr lang="en-US" sz="1100" baseline="0"/>
                        <a:t> </a:t>
                      </a:r>
                    </a:p>
                  </a:txBody>
                  <a:tcPr anchor="ctr"/>
                </a:tc>
                <a:extLst>
                  <a:ext uri="{0D108BD9-81ED-4DB2-BD59-A6C34878D82A}">
                    <a16:rowId xmlns:a16="http://schemas.microsoft.com/office/drawing/2014/main" val="3471228904"/>
                  </a:ext>
                </a:extLst>
              </a:tr>
              <a:tr h="591321">
                <a:tc vMerge="1">
                  <a:txBody>
                    <a:bodyPr/>
                    <a:lstStyle/>
                    <a:p>
                      <a:pPr marL="0" indent="0" algn="ctr">
                        <a:buFontTx/>
                        <a:buNone/>
                      </a:pPr>
                      <a:r>
                        <a:rPr lang="en-US" sz="1100" b="1" i="0" kern="1200">
                          <a:solidFill>
                            <a:schemeClr val="dk1"/>
                          </a:solidFill>
                          <a:latin typeface="+mn-lt"/>
                          <a:ea typeface="+mn-ea"/>
                          <a:cs typeface="+mn-cs"/>
                        </a:rPr>
                        <a:t>Dashboard</a:t>
                      </a:r>
                      <a:endParaRPr lang="en-US" sz="1100"/>
                    </a:p>
                  </a:txBody>
                  <a:tcPr vert="vert270" anchor="ctr">
                    <a:solidFill>
                      <a:schemeClr val="accent4">
                        <a:lumMod val="40000"/>
                        <a:lumOff val="60000"/>
                      </a:schemeClr>
                    </a:solidFill>
                  </a:tcPr>
                </a:tc>
                <a:tc>
                  <a:txBody>
                    <a:bodyPr/>
                    <a:lstStyle/>
                    <a:p>
                      <a:pPr marL="0" indent="0">
                        <a:buFontTx/>
                        <a:buNone/>
                      </a:pPr>
                      <a:endParaRPr lang="en-US" sz="1100"/>
                    </a:p>
                  </a:txBody>
                  <a:tcPr/>
                </a:tc>
                <a:tc>
                  <a:txBody>
                    <a:bodyPr/>
                    <a:lstStyle/>
                    <a:p>
                      <a:pPr marL="0" indent="0">
                        <a:buFontTx/>
                        <a:buNone/>
                      </a:pPr>
                      <a:r>
                        <a:rPr lang="en-US" sz="1100"/>
                        <a:t>Create the initial slide output</a:t>
                      </a:r>
                    </a:p>
                  </a:txBody>
                  <a:tcPr anchor="ctr"/>
                </a:tc>
                <a:tc>
                  <a:txBody>
                    <a:bodyPr/>
                    <a:lstStyle/>
                    <a:p>
                      <a:pPr marL="0" indent="0">
                        <a:buFontTx/>
                        <a:buNone/>
                      </a:pPr>
                      <a:r>
                        <a:rPr lang="en-US" sz="1100"/>
                        <a:t>Run the linked version of the slide deck template to populate slides</a:t>
                      </a:r>
                      <a:r>
                        <a:rPr lang="en-US" sz="1100" baseline="0"/>
                        <a:t> with data; take a first pass at updating the deck formatting and tags (e.g., set quartiles on charts, add labels and color coding to bars, revise auto-generated slide tags)</a:t>
                      </a:r>
                      <a:endParaRPr lang="en-US" sz="1100"/>
                    </a:p>
                  </a:txBody>
                  <a:tcPr anchor="ctr"/>
                </a:tc>
                <a:tc vMerge="1">
                  <a:txBody>
                    <a:bodyPr/>
                    <a:lstStyle/>
                    <a:p>
                      <a:endParaRPr/>
                    </a:p>
                  </a:txBody>
                  <a:tcPr anchor="ctr"/>
                </a:tc>
                <a:tc>
                  <a:txBody>
                    <a:bodyPr/>
                    <a:lstStyle/>
                    <a:p>
                      <a:pPr marL="0" indent="0" algn="ctr" defTabSz="711200" rtl="0" eaLnBrk="1" fontAlgn="ctr" latinLnBrk="0" hangingPunct="1">
                        <a:spcBef>
                          <a:spcPts val="1200"/>
                        </a:spcBef>
                        <a:buSzPct val="180000"/>
                        <a:buFont typeface="Arial" panose="020B0604020202020204" pitchFamily="34" charset="0"/>
                        <a:buBlip>
                          <a:blip r:embed="rId10"/>
                        </a:buBlip>
                      </a:pPr>
                      <a:r>
                        <a:rPr lang="en-US" sz="1100" baseline="0"/>
                        <a:t> </a:t>
                      </a:r>
                    </a:p>
                  </a:txBody>
                  <a:tcPr anchor="ctr"/>
                </a:tc>
                <a:extLst>
                  <a:ext uri="{0D108BD9-81ED-4DB2-BD59-A6C34878D82A}">
                    <a16:rowId xmlns:a16="http://schemas.microsoft.com/office/drawing/2014/main" val="3564549158"/>
                  </a:ext>
                </a:extLst>
              </a:tr>
            </a:tbl>
          </a:graphicData>
        </a:graphic>
      </p:graphicFrame>
      <p:sp>
        <p:nvSpPr>
          <p:cNvPr id="15" name="Rectangle 14"/>
          <p:cNvSpPr/>
          <p:nvPr/>
        </p:nvSpPr>
        <p:spPr bwMode="gray">
          <a:xfrm>
            <a:off x="54999" y="1875692"/>
            <a:ext cx="267789" cy="3780437"/>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2: </a:t>
            </a:r>
            <a:r>
              <a:rPr lang="en-US" sz="1100" b="1" i="1">
                <a:solidFill>
                  <a:schemeClr val="accent3"/>
                </a:solidFill>
              </a:rPr>
              <a:t>Data collection and output creation </a:t>
            </a:r>
          </a:p>
        </p:txBody>
      </p:sp>
      <p:sp>
        <p:nvSpPr>
          <p:cNvPr id="17" name="btfpNumberBubble266422"/>
          <p:cNvSpPr/>
          <p:nvPr/>
        </p:nvSpPr>
        <p:spPr bwMode="gray">
          <a:xfrm>
            <a:off x="918491" y="2230637"/>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2a</a:t>
            </a:r>
          </a:p>
        </p:txBody>
      </p:sp>
      <p:sp>
        <p:nvSpPr>
          <p:cNvPr id="26" name="btfpNumberBubble557534">
            <a:extLst>
              <a:ext uri="{FF2B5EF4-FFF2-40B4-BE49-F238E27FC236}">
                <a16:creationId xmlns:a16="http://schemas.microsoft.com/office/drawing/2014/main" id="{67BAEFC1-F8B1-D5C4-9F6B-45B06064411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27" name="btfpNumberBubble266422">
            <a:extLst>
              <a:ext uri="{FF2B5EF4-FFF2-40B4-BE49-F238E27FC236}">
                <a16:creationId xmlns:a16="http://schemas.microsoft.com/office/drawing/2014/main" id="{90F2B68D-32BA-51F9-6D39-4459C4173B28}"/>
              </a:ext>
            </a:extLst>
          </p:cNvPr>
          <p:cNvSpPr/>
          <p:nvPr/>
        </p:nvSpPr>
        <p:spPr bwMode="gray">
          <a:xfrm>
            <a:off x="918491" y="3249078"/>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2b</a:t>
            </a:r>
          </a:p>
        </p:txBody>
      </p:sp>
      <p:sp>
        <p:nvSpPr>
          <p:cNvPr id="28" name="btfpNumberBubble266422">
            <a:extLst>
              <a:ext uri="{FF2B5EF4-FFF2-40B4-BE49-F238E27FC236}">
                <a16:creationId xmlns:a16="http://schemas.microsoft.com/office/drawing/2014/main" id="{76FF25D7-FD2D-860C-BD00-3B5D12742066}"/>
              </a:ext>
            </a:extLst>
          </p:cNvPr>
          <p:cNvSpPr/>
          <p:nvPr/>
        </p:nvSpPr>
        <p:spPr bwMode="gray">
          <a:xfrm>
            <a:off x="918491" y="404438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2c</a:t>
            </a:r>
          </a:p>
        </p:txBody>
      </p:sp>
      <p:sp>
        <p:nvSpPr>
          <p:cNvPr id="30" name="btfpNumberBubble266422">
            <a:extLst>
              <a:ext uri="{FF2B5EF4-FFF2-40B4-BE49-F238E27FC236}">
                <a16:creationId xmlns:a16="http://schemas.microsoft.com/office/drawing/2014/main" id="{B477B52E-AE3B-EFAE-EBA0-3724548C3D25}"/>
              </a:ext>
            </a:extLst>
          </p:cNvPr>
          <p:cNvSpPr/>
          <p:nvPr/>
        </p:nvSpPr>
        <p:spPr bwMode="gray">
          <a:xfrm>
            <a:off x="923364" y="462435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2d</a:t>
            </a:r>
          </a:p>
        </p:txBody>
      </p:sp>
      <p:sp>
        <p:nvSpPr>
          <p:cNvPr id="33" name="btfpNumberBubble266422">
            <a:extLst>
              <a:ext uri="{FF2B5EF4-FFF2-40B4-BE49-F238E27FC236}">
                <a16:creationId xmlns:a16="http://schemas.microsoft.com/office/drawing/2014/main" id="{4741AE2E-A323-38E4-36AE-461D8AAB25D7}"/>
              </a:ext>
            </a:extLst>
          </p:cNvPr>
          <p:cNvSpPr/>
          <p:nvPr/>
        </p:nvSpPr>
        <p:spPr bwMode="gray">
          <a:xfrm>
            <a:off x="918491" y="5235573"/>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2e</a:t>
            </a:r>
          </a:p>
        </p:txBody>
      </p:sp>
      <p:grpSp>
        <p:nvGrpSpPr>
          <p:cNvPr id="34" name="btfpRunningAgenda1Level747472">
            <a:extLst>
              <a:ext uri="{FF2B5EF4-FFF2-40B4-BE49-F238E27FC236}">
                <a16:creationId xmlns:a16="http://schemas.microsoft.com/office/drawing/2014/main" id="{B81C3778-BBC5-119E-32A3-987ED7A94C3E}"/>
              </a:ext>
            </a:extLst>
          </p:cNvPr>
          <p:cNvGrpSpPr/>
          <p:nvPr>
            <p:custDataLst>
              <p:tags r:id="rId4"/>
            </p:custDataLst>
          </p:nvPr>
        </p:nvGrpSpPr>
        <p:grpSpPr>
          <a:xfrm>
            <a:off x="0" y="944429"/>
            <a:ext cx="1779142" cy="257442"/>
            <a:chOff x="0" y="876300"/>
            <a:chExt cx="1779142" cy="257442"/>
          </a:xfrm>
        </p:grpSpPr>
        <p:sp>
          <p:nvSpPr>
            <p:cNvPr id="35" name="btfpRunningAgenda1LevelBarLeft747472">
              <a:extLst>
                <a:ext uri="{FF2B5EF4-FFF2-40B4-BE49-F238E27FC236}">
                  <a16:creationId xmlns:a16="http://schemas.microsoft.com/office/drawing/2014/main" id="{56A2D35D-631B-960A-BE41-0DCECE79CCB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RunningAgenda1LevelTextLeft747472">
              <a:extLst>
                <a:ext uri="{FF2B5EF4-FFF2-40B4-BE49-F238E27FC236}">
                  <a16:creationId xmlns:a16="http://schemas.microsoft.com/office/drawing/2014/main" id="{9E7394B8-F04F-1D7C-D621-10B30DC9945B}"/>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4241029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605323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(1/8)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90107205"/>
              </p:ext>
            </p:extLst>
          </p:nvPr>
        </p:nvGraphicFramePr>
        <p:xfrm>
          <a:off x="408598" y="1610644"/>
          <a:ext cx="11296403" cy="4667222"/>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44574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create an empty Excel Dashboard</a:t>
                      </a:r>
                    </a:p>
                  </a:txBody>
                  <a:tcPr anchor="b"/>
                </a:tc>
                <a:extLst>
                  <a:ext uri="{0D108BD9-81ED-4DB2-BD59-A6C34878D82A}">
                    <a16:rowId xmlns:a16="http://schemas.microsoft.com/office/drawing/2014/main" val="2276346153"/>
                  </a:ext>
                </a:extLst>
              </a:tr>
              <a:tr h="3378991">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1</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Create an empty</a:t>
                      </a:r>
                      <a:br>
                        <a:rPr lang="en-US" sz="1100"/>
                      </a:br>
                      <a:r>
                        <a:rPr lang="en-US" sz="1100"/>
                        <a:t>Excel Dashboard</a:t>
                      </a:r>
                    </a:p>
                  </a:txBody>
                  <a:tcPr anchor="ctr"/>
                </a:tc>
                <a:tc>
                  <a:txBody>
                    <a:bodyPr/>
                    <a:lstStyle/>
                    <a:p>
                      <a:pPr>
                        <a:lnSpc>
                          <a:spcPct val="100000"/>
                        </a:lnSpc>
                        <a:spcAft>
                          <a:spcPts val="0"/>
                        </a:spcAft>
                      </a:pPr>
                      <a:r>
                        <a:rPr lang="en-US" sz="1100" b="0"/>
                        <a:t>Once the peer list is confirmed, every OI begins by </a:t>
                      </a:r>
                      <a:r>
                        <a:rPr lang="en-US" sz="1100" b="1"/>
                        <a:t>checking Trello </a:t>
                      </a:r>
                      <a:r>
                        <a:rPr lang="en-US" sz="1100" b="0"/>
                        <a:t>for details on context provided by the account team (incl. peer list, additional slides that are of interest, etc.)</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solidFill>
                            <a:schemeClr val="tx1"/>
                          </a:solidFill>
                        </a:rPr>
                        <a:t>The next step is to create an empty Excel Dashboard:</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Create a folder for the target company in </a:t>
                      </a:r>
                      <a:r>
                        <a:rPr lang="en-US" sz="900"/>
                        <a:t>Case M9DC &gt; </a:t>
                      </a:r>
                      <a:r>
                        <a:rPr lang="en-US" sz="900">
                          <a:solidFill>
                            <a:schemeClr val="tx1"/>
                          </a:solidFill>
                        </a:rPr>
                        <a:t>OI folder in </a:t>
                      </a:r>
                      <a:r>
                        <a:rPr lang="en-US" sz="900" b="1" err="1">
                          <a:solidFill>
                            <a:schemeClr val="tx1"/>
                          </a:solidFill>
                        </a:rPr>
                        <a:t>xxx.</a:t>
                      </a:r>
                      <a:r>
                        <a:rPr lang="en-US" sz="900" b="1" i="1" err="1"/>
                        <a:t>T</a:t>
                      </a:r>
                      <a:r>
                        <a:rPr lang="en-US" sz="900" b="1" i="1" err="1">
                          <a:solidFill>
                            <a:schemeClr val="tx1"/>
                          </a:solidFill>
                        </a:rPr>
                        <a:t>arget</a:t>
                      </a:r>
                      <a:r>
                        <a:rPr lang="en-US" sz="900" b="1" i="1">
                          <a:solidFill>
                            <a:schemeClr val="tx1"/>
                          </a:solidFill>
                        </a:rPr>
                        <a:t> Name </a:t>
                      </a:r>
                      <a:r>
                        <a:rPr lang="en-US" sz="900">
                          <a:solidFill>
                            <a:schemeClr val="tx1"/>
                          </a:solidFill>
                        </a:rPr>
                        <a:t>format</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Get an excel dashboard template from OI Templates&gt;Standard OI&gt;Template Internal. Copy it to the folder and rename it in </a:t>
                      </a:r>
                      <a:r>
                        <a:rPr lang="en-US" sz="900" b="1" i="1" err="1"/>
                        <a:t>yymmdd</a:t>
                      </a:r>
                      <a:r>
                        <a:rPr lang="en-US" sz="900" b="1" i="1" err="1">
                          <a:solidFill>
                            <a:schemeClr val="tx1"/>
                          </a:solidFill>
                        </a:rPr>
                        <a:t>_Adjustment</a:t>
                      </a:r>
                      <a:r>
                        <a:rPr lang="en-US" sz="900" b="1" i="1">
                          <a:solidFill>
                            <a:schemeClr val="tx1"/>
                          </a:solidFill>
                        </a:rPr>
                        <a:t> Summary+Dashboard_Target_v1 </a:t>
                      </a:r>
                      <a:r>
                        <a:rPr lang="en-US" sz="900">
                          <a:solidFill>
                            <a:schemeClr val="tx1"/>
                          </a:solidFill>
                        </a:rPr>
                        <a:t>format</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Once Capital IQ Excel plugin is installed from its website, then enable the Plugin using </a:t>
                      </a:r>
                      <a:r>
                        <a:rPr lang="en-US" sz="900" b="1">
                          <a:solidFill>
                            <a:schemeClr val="tx1"/>
                          </a:solidFill>
                        </a:rPr>
                        <a:t>Click to Enable</a:t>
                      </a:r>
                    </a:p>
                    <a:p>
                      <a:pPr marL="355600" marR="0" lvl="1" indent="-177800" algn="l" defTabSz="711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900">
                          <a:solidFill>
                            <a:schemeClr val="tx1"/>
                          </a:solidFill>
                        </a:rPr>
                        <a:t>Update the peer list in the </a:t>
                      </a:r>
                      <a:r>
                        <a:rPr lang="en-US" sz="900" b="1">
                          <a:solidFill>
                            <a:schemeClr val="tx1"/>
                          </a:solidFill>
                        </a:rPr>
                        <a:t>Input Form </a:t>
                      </a:r>
                      <a:r>
                        <a:rPr lang="en-US" sz="900">
                          <a:solidFill>
                            <a:schemeClr val="tx1"/>
                          </a:solidFill>
                        </a:rPr>
                        <a:t>tab, starting with the target. </a:t>
                      </a:r>
                      <a:r>
                        <a:rPr lang="en-US" sz="900" b="1">
                          <a:solidFill>
                            <a:schemeClr val="tx1"/>
                          </a:solidFill>
                        </a:rPr>
                        <a:t>Add Tickers for each peer</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sp>
        <p:nvSpPr>
          <p:cNvPr id="5" name="btfpNumberBubble266422">
            <a:extLst>
              <a:ext uri="{FF2B5EF4-FFF2-40B4-BE49-F238E27FC236}">
                <a16:creationId xmlns:a16="http://schemas.microsoft.com/office/drawing/2014/main" id="{BB375876-E178-28D4-E8A2-92B5138BA6BE}"/>
              </a:ext>
            </a:extLst>
          </p:cNvPr>
          <p:cNvSpPr/>
          <p:nvPr/>
        </p:nvSpPr>
        <p:spPr bwMode="gray">
          <a:xfrm>
            <a:off x="1332235" y="3565165"/>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2a</a:t>
            </a:r>
          </a:p>
        </p:txBody>
      </p:sp>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pic>
        <p:nvPicPr>
          <p:cNvPr id="15" name="Picture 14">
            <a:extLst>
              <a:ext uri="{FF2B5EF4-FFF2-40B4-BE49-F238E27FC236}">
                <a16:creationId xmlns:a16="http://schemas.microsoft.com/office/drawing/2014/main" id="{F03B3318-6076-935C-BF6E-EC8CEB4C8431}"/>
              </a:ext>
            </a:extLst>
          </p:cNvPr>
          <p:cNvPicPr>
            <a:picLocks noChangeAspect="1"/>
          </p:cNvPicPr>
          <p:nvPr/>
        </p:nvPicPr>
        <p:blipFill>
          <a:blip r:embed="rId10"/>
          <a:srcRect l="5605" r="24874" b="8925"/>
          <a:stretch/>
        </p:blipFill>
        <p:spPr>
          <a:xfrm>
            <a:off x="5061473" y="2217418"/>
            <a:ext cx="2230281" cy="2338951"/>
          </a:xfrm>
          <a:prstGeom prst="rect">
            <a:avLst/>
          </a:prstGeom>
        </p:spPr>
      </p:pic>
      <p:pic>
        <p:nvPicPr>
          <p:cNvPr id="18" name="Picture 17">
            <a:extLst>
              <a:ext uri="{FF2B5EF4-FFF2-40B4-BE49-F238E27FC236}">
                <a16:creationId xmlns:a16="http://schemas.microsoft.com/office/drawing/2014/main" id="{B84EC62F-5DF0-8897-030C-A75C10290978}"/>
              </a:ext>
            </a:extLst>
          </p:cNvPr>
          <p:cNvPicPr>
            <a:picLocks noChangeAspect="1"/>
          </p:cNvPicPr>
          <p:nvPr/>
        </p:nvPicPr>
        <p:blipFill>
          <a:blip r:embed="rId11"/>
          <a:srcRect l="26823"/>
          <a:stretch/>
        </p:blipFill>
        <p:spPr>
          <a:xfrm>
            <a:off x="8640582" y="2181894"/>
            <a:ext cx="2042947" cy="2519416"/>
          </a:xfrm>
          <a:prstGeom prst="rect">
            <a:avLst/>
          </a:prstGeom>
        </p:spPr>
      </p:pic>
      <p:pic>
        <p:nvPicPr>
          <p:cNvPr id="48" name="Picture 47">
            <a:extLst>
              <a:ext uri="{FF2B5EF4-FFF2-40B4-BE49-F238E27FC236}">
                <a16:creationId xmlns:a16="http://schemas.microsoft.com/office/drawing/2014/main" id="{4A1D98DC-9224-9CD3-1F2D-1364903D5050}"/>
              </a:ext>
            </a:extLst>
          </p:cNvPr>
          <p:cNvPicPr>
            <a:picLocks noChangeAspect="1"/>
          </p:cNvPicPr>
          <p:nvPr/>
        </p:nvPicPr>
        <p:blipFill>
          <a:blip r:embed="rId12"/>
          <a:stretch>
            <a:fillRect/>
          </a:stretch>
        </p:blipFill>
        <p:spPr>
          <a:xfrm>
            <a:off x="8640582" y="4701310"/>
            <a:ext cx="2173892" cy="1622307"/>
          </a:xfrm>
          <a:prstGeom prst="rect">
            <a:avLst/>
          </a:prstGeom>
        </p:spPr>
      </p:pic>
      <p:pic>
        <p:nvPicPr>
          <p:cNvPr id="49" name="Picture 8">
            <a:extLst>
              <a:ext uri="{FF2B5EF4-FFF2-40B4-BE49-F238E27FC236}">
                <a16:creationId xmlns:a16="http://schemas.microsoft.com/office/drawing/2014/main" id="{A2DA42B5-69D4-6FEC-3BE4-8800EC6D5C7F}"/>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061473" y="4693622"/>
            <a:ext cx="2533966" cy="1629995"/>
          </a:xfrm>
          <a:prstGeom prst="rect">
            <a:avLst/>
          </a:prstGeom>
          <a:noFill/>
          <a:extLst>
            <a:ext uri="{909E8E84-426E-40DD-AFC4-6F175D3DCCD1}">
              <a14:hiddenFill xmlns:a14="http://schemas.microsoft.com/office/drawing/2010/main">
                <a:solidFill>
                  <a:srgbClr val="FFFFFF"/>
                </a:solidFill>
              </a14:hiddenFill>
            </a:ext>
          </a:extLst>
        </p:spPr>
      </p:pic>
      <p:sp>
        <p:nvSpPr>
          <p:cNvPr id="60" name="Arrow: Right 59">
            <a:extLst>
              <a:ext uri="{FF2B5EF4-FFF2-40B4-BE49-F238E27FC236}">
                <a16:creationId xmlns:a16="http://schemas.microsoft.com/office/drawing/2014/main" id="{32C46837-26FD-CC60-592F-1185F7B4F426}"/>
              </a:ext>
            </a:extLst>
          </p:cNvPr>
          <p:cNvSpPr/>
          <p:nvPr/>
        </p:nvSpPr>
        <p:spPr bwMode="gray">
          <a:xfrm>
            <a:off x="7736598" y="3324687"/>
            <a:ext cx="531446" cy="208625"/>
          </a:xfrm>
          <a:prstGeom prst="rightArrow">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5" name="Arrow: Right 64">
            <a:extLst>
              <a:ext uri="{FF2B5EF4-FFF2-40B4-BE49-F238E27FC236}">
                <a16:creationId xmlns:a16="http://schemas.microsoft.com/office/drawing/2014/main" id="{D2000917-D4C9-04F8-00FE-16083155FC76}"/>
              </a:ext>
            </a:extLst>
          </p:cNvPr>
          <p:cNvSpPr/>
          <p:nvPr/>
        </p:nvSpPr>
        <p:spPr bwMode="gray">
          <a:xfrm>
            <a:off x="7852287" y="5404306"/>
            <a:ext cx="531446" cy="208625"/>
          </a:xfrm>
          <a:prstGeom prst="rightArrow">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grpSp>
        <p:nvGrpSpPr>
          <p:cNvPr id="66" name="btfpRunningAgenda1Level747472">
            <a:extLst>
              <a:ext uri="{FF2B5EF4-FFF2-40B4-BE49-F238E27FC236}">
                <a16:creationId xmlns:a16="http://schemas.microsoft.com/office/drawing/2014/main" id="{9BDC54E5-9BEC-26A6-BB28-BF2BE7EEA5A4}"/>
              </a:ext>
            </a:extLst>
          </p:cNvPr>
          <p:cNvGrpSpPr/>
          <p:nvPr>
            <p:custDataLst>
              <p:tags r:id="rId5"/>
            </p:custDataLst>
          </p:nvPr>
        </p:nvGrpSpPr>
        <p:grpSpPr>
          <a:xfrm>
            <a:off x="0" y="944429"/>
            <a:ext cx="1779142" cy="257442"/>
            <a:chOff x="0" y="876300"/>
            <a:chExt cx="1779142" cy="257442"/>
          </a:xfrm>
        </p:grpSpPr>
        <p:sp>
          <p:nvSpPr>
            <p:cNvPr id="67" name="btfpRunningAgenda1LevelBarLeft747472">
              <a:extLst>
                <a:ext uri="{FF2B5EF4-FFF2-40B4-BE49-F238E27FC236}">
                  <a16:creationId xmlns:a16="http://schemas.microsoft.com/office/drawing/2014/main" id="{2EC1648E-CFB6-6E72-6430-1D7DACA6BF74}"/>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8" name="btfpRunningAgenda1LevelTextLeft747472">
              <a:extLst>
                <a:ext uri="{FF2B5EF4-FFF2-40B4-BE49-F238E27FC236}">
                  <a16:creationId xmlns:a16="http://schemas.microsoft.com/office/drawing/2014/main" id="{AF7995D4-16C6-FD45-F743-5AF7AACDC7D6}"/>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453684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21607229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(2/8)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6495543"/>
              </p:ext>
            </p:extLst>
          </p:nvPr>
        </p:nvGraphicFramePr>
        <p:xfrm>
          <a:off x="408598" y="1610644"/>
          <a:ext cx="11296403" cy="4914492"/>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pull in financial data</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Pull in peer </a:t>
                      </a:r>
                      <a:br>
                        <a:rPr lang="en-US" sz="1100"/>
                      </a:br>
                      <a:r>
                        <a:rPr lang="en-US" sz="1100"/>
                        <a:t>financial data</a:t>
                      </a:r>
                    </a:p>
                  </a:txBody>
                  <a:tcPr anchor="ctr"/>
                </a:tc>
                <a:tc>
                  <a:txBody>
                    <a:bodyPr/>
                    <a:lstStyle/>
                    <a:p>
                      <a:r>
                        <a:rPr lang="en-US" sz="1100" b="0"/>
                        <a:t>Once the Excel Dashboard is set up, the next step is to create the Income Statement Revised for all peers</a:t>
                      </a:r>
                    </a:p>
                    <a:p>
                      <a:r>
                        <a:rPr lang="en-US" sz="1100" b="0"/>
                        <a:t>Begin by pulling in reported financial information for the target, including any Non-GAAP adjustments (see screenshot)</a:t>
                      </a:r>
                    </a:p>
                    <a:p>
                      <a:pPr marL="177800" indent="-177800"/>
                      <a:r>
                        <a:rPr lang="en-US" sz="1100"/>
                        <a:t>After reviewing the </a:t>
                      </a:r>
                      <a:r>
                        <a:rPr lang="en-US" sz="1100" b="1"/>
                        <a:t>reporting structure of each peer</a:t>
                      </a:r>
                      <a:r>
                        <a:rPr lang="en-US" sz="1100"/>
                        <a:t>, each peer’s section of the Income Statement Revised tab with </a:t>
                      </a:r>
                      <a:r>
                        <a:rPr lang="en-US" sz="1100" b="1"/>
                        <a:t>reported figures</a:t>
                      </a:r>
                      <a:r>
                        <a:rPr lang="en-US" sz="1100"/>
                        <a:t> for each line item (using data from the </a:t>
                      </a:r>
                      <a:r>
                        <a:rPr lang="en-US" sz="1100" b="1"/>
                        <a:t>10-K Report, Annual Report, or Press Release</a:t>
                      </a:r>
                      <a:r>
                        <a:rPr lang="en-US" sz="1100" b="0"/>
                        <a:t>)</a:t>
                      </a:r>
                      <a:endParaRPr lang="en-US" sz="1100"/>
                    </a:p>
                    <a:p>
                      <a:pPr marL="177800" indent="-177800"/>
                      <a:r>
                        <a:rPr lang="en-US" sz="1100"/>
                        <a:t>Before moving on to the next step, Non-GAAP adjustments and non-recurring / exceptional line items must be carved out of reported financials (see ‘Tips &amp; Best Practices’ section for a list of these one-time adjustments)</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20792" y="2236570"/>
            <a:ext cx="6784209" cy="2772042"/>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156080" y="3764474"/>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2b</a:t>
            </a:r>
          </a:p>
        </p:txBody>
      </p:sp>
      <p:sp>
        <p:nvSpPr>
          <p:cNvPr id="45" name="TextBox 44">
            <a:extLst>
              <a:ext uri="{FF2B5EF4-FFF2-40B4-BE49-F238E27FC236}">
                <a16:creationId xmlns:a16="http://schemas.microsoft.com/office/drawing/2014/main" id="{02059461-F5FD-1520-ABC2-01ADB6DD97ED}"/>
              </a:ext>
            </a:extLst>
          </p:cNvPr>
          <p:cNvSpPr txBox="1"/>
          <p:nvPr/>
        </p:nvSpPr>
        <p:spPr bwMode="gray">
          <a:xfrm>
            <a:off x="4920792" y="5063319"/>
            <a:ext cx="6784209" cy="241980"/>
          </a:xfrm>
          <a:prstGeom prst="rect">
            <a:avLst/>
          </a:prstGeom>
          <a:noFill/>
        </p:spPr>
        <p:txBody>
          <a:bodyPr wrap="square" lIns="36000" tIns="36000" rIns="36000" bIns="36000" rtlCol="0">
            <a:spAutoFit/>
          </a:bodyPr>
          <a:lstStyle/>
          <a:p>
            <a:pPr marL="0" indent="0" algn="ctr">
              <a:buNone/>
            </a:pPr>
            <a:r>
              <a:rPr lang="en-US" sz="1100" i="1"/>
              <a:t>Reported financials for target company used as basis for adjustments made to peers in the next step</a:t>
            </a:r>
          </a:p>
        </p:txBody>
      </p:sp>
      <p:grpSp>
        <p:nvGrpSpPr>
          <p:cNvPr id="48" name="btfpRunningAgenda1Level747472">
            <a:extLst>
              <a:ext uri="{FF2B5EF4-FFF2-40B4-BE49-F238E27FC236}">
                <a16:creationId xmlns:a16="http://schemas.microsoft.com/office/drawing/2014/main" id="{012B9C59-A47A-89EB-89D9-C90BDD846A7E}"/>
              </a:ext>
            </a:extLst>
          </p:cNvPr>
          <p:cNvGrpSpPr/>
          <p:nvPr>
            <p:custDataLst>
              <p:tags r:id="rId5"/>
            </p:custDataLst>
          </p:nvPr>
        </p:nvGrpSpPr>
        <p:grpSpPr>
          <a:xfrm>
            <a:off x="0" y="944429"/>
            <a:ext cx="1779142" cy="257442"/>
            <a:chOff x="0" y="876300"/>
            <a:chExt cx="1779142" cy="257442"/>
          </a:xfrm>
        </p:grpSpPr>
        <p:sp>
          <p:nvSpPr>
            <p:cNvPr id="49" name="btfpRunningAgenda1LevelBarLeft747472">
              <a:extLst>
                <a:ext uri="{FF2B5EF4-FFF2-40B4-BE49-F238E27FC236}">
                  <a16:creationId xmlns:a16="http://schemas.microsoft.com/office/drawing/2014/main" id="{2058DACA-7E00-1356-2A93-A07C02E444F0}"/>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0" name="btfpRunningAgenda1LevelTextLeft747472">
              <a:extLst>
                <a:ext uri="{FF2B5EF4-FFF2-40B4-BE49-F238E27FC236}">
                  <a16:creationId xmlns:a16="http://schemas.microsoft.com/office/drawing/2014/main" id="{5DD83134-9856-EB51-7E98-3A0339BEAA16}"/>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2622723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25880861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(3/8)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519125058"/>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045075">
                  <a:extLst>
                    <a:ext uri="{9D8B030D-6E8A-4147-A177-3AD203B41FA5}">
                      <a16:colId xmlns:a16="http://schemas.microsoft.com/office/drawing/2014/main" val="3410592685"/>
                    </a:ext>
                  </a:extLst>
                </a:gridCol>
                <a:gridCol w="3587261">
                  <a:extLst>
                    <a:ext uri="{9D8B030D-6E8A-4147-A177-3AD203B41FA5}">
                      <a16:colId xmlns:a16="http://schemas.microsoft.com/office/drawing/2014/main" val="2818076346"/>
                    </a:ext>
                  </a:extLst>
                </a:gridCol>
                <a:gridCol w="6171709">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pull in financial data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Pull in peer </a:t>
                      </a:r>
                      <a:br>
                        <a:rPr lang="en-US" sz="1100"/>
                      </a:br>
                      <a:r>
                        <a:rPr lang="en-US" sz="1100"/>
                        <a:t>financial data</a:t>
                      </a:r>
                    </a:p>
                  </a:txBody>
                  <a:tcPr anchor="ctr"/>
                </a:tc>
                <a:tc>
                  <a:txBody>
                    <a:bodyPr/>
                    <a:lstStyle/>
                    <a:p>
                      <a:pPr>
                        <a:spcBef>
                          <a:spcPts val="900"/>
                        </a:spcBef>
                        <a:defRPr/>
                      </a:pPr>
                      <a:r>
                        <a:rPr lang="en-US" sz="1100" b="0"/>
                        <a:t>The following presents an example of Step 2b for Travis Perkins:</a:t>
                      </a:r>
                    </a:p>
                    <a:p>
                      <a:pPr lvl="1">
                        <a:spcBef>
                          <a:spcPts val="300"/>
                        </a:spcBef>
                        <a:defRPr/>
                      </a:pPr>
                      <a:r>
                        <a:rPr lang="en-US" sz="900" b="1"/>
                        <a:t>Non-GAAP (Adjusted) numbers have been recorded </a:t>
                      </a:r>
                      <a:r>
                        <a:rPr lang="en-US" sz="900"/>
                        <a:t>for Travis Perkins; the cost buckets are COGS, and SG&amp;A - with the split between S&amp;M and G&amp;A recorded separately</a:t>
                      </a:r>
                    </a:p>
                    <a:p>
                      <a:pPr lvl="1">
                        <a:spcBef>
                          <a:spcPts val="300"/>
                        </a:spcBef>
                        <a:defRPr/>
                      </a:pPr>
                      <a:r>
                        <a:rPr lang="en-US" sz="900"/>
                        <a:t>Following BDP, we have </a:t>
                      </a:r>
                      <a:r>
                        <a:rPr lang="en-US" sz="900" b="1"/>
                        <a:t>removed non-recurring and exceptional items</a:t>
                      </a:r>
                      <a:r>
                        <a:rPr lang="en-US" sz="900"/>
                        <a:t> (e.g., amortization of acquired intangibles) from the relevant cost buckets</a:t>
                      </a:r>
                    </a:p>
                    <a:p>
                      <a:pPr lvl="1">
                        <a:spcBef>
                          <a:spcPts val="300"/>
                        </a:spcBef>
                        <a:defRPr/>
                      </a:pPr>
                      <a:r>
                        <a:rPr lang="en-US" sz="900"/>
                        <a:t>Since Depreciation and Amortization are bucketed under each cost head (e.g., COGS, SG&amp;A, R&amp;D), we have </a:t>
                      </a:r>
                      <a:r>
                        <a:rPr lang="en-US" sz="900" b="1"/>
                        <a:t>done the analysis at the EBIT level</a:t>
                      </a:r>
                    </a:p>
                    <a:p>
                      <a:pPr lvl="1">
                        <a:spcBef>
                          <a:spcPts val="300"/>
                        </a:spcBef>
                        <a:defRPr/>
                      </a:pPr>
                      <a:r>
                        <a:rPr lang="en-US" sz="900"/>
                        <a:t>The items added below the </a:t>
                      </a:r>
                      <a:r>
                        <a:rPr lang="en-US" sz="900" b="1"/>
                        <a:t>“Check”</a:t>
                      </a:r>
                      <a:r>
                        <a:rPr lang="en-US" sz="900"/>
                        <a:t> row have been used as </a:t>
                      </a:r>
                      <a:r>
                        <a:rPr lang="en-US" sz="900" b="1"/>
                        <a:t>reconciling items </a:t>
                      </a:r>
                      <a:r>
                        <a:rPr lang="en-US" sz="900"/>
                        <a:t>to reconcile our calculated Adjusted EBIT (row 34) with the Reported Adjusted EBIT (row 47)</a:t>
                      </a:r>
                    </a:p>
                    <a:p>
                      <a:pPr lvl="1">
                        <a:spcBef>
                          <a:spcPts val="300"/>
                        </a:spcBef>
                        <a:defRPr/>
                      </a:pPr>
                      <a:r>
                        <a:rPr lang="en-US" sz="900" b="1"/>
                        <a:t>Gross Trade Receivables have been manually pulled </a:t>
                      </a:r>
                      <a:r>
                        <a:rPr lang="en-US" sz="900"/>
                        <a:t>from annual reports across all years. If a company reports Net Trade Receivables, we must add back provisions to calculate Gross Receivables</a:t>
                      </a:r>
                    </a:p>
                    <a:p>
                      <a:pPr lvl="1">
                        <a:spcBef>
                          <a:spcPts val="300"/>
                        </a:spcBef>
                        <a:defRPr/>
                      </a:pPr>
                      <a:r>
                        <a:rPr lang="en-US" sz="900"/>
                        <a:t>Trade Payables and Inventory have not been recorded, as they are generally pulled directly from </a:t>
                      </a:r>
                      <a:r>
                        <a:rPr lang="en-US" sz="900" err="1"/>
                        <a:t>CapIQ</a:t>
                      </a:r>
                      <a:endParaRPr lang="en-US" sz="900"/>
                    </a:p>
                    <a:p>
                      <a:pPr lvl="1">
                        <a:spcBef>
                          <a:spcPts val="300"/>
                        </a:spcBef>
                        <a:defRPr/>
                      </a:pPr>
                      <a:r>
                        <a:rPr lang="en-US" sz="900"/>
                        <a:t>Note that if a company does not separately report TR and TP, it is okay to use total AR and AP as proxies</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5562344" y="2510968"/>
            <a:ext cx="6142658" cy="2880091"/>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56" name="btfpNumberBubble266422">
            <a:extLst>
              <a:ext uri="{FF2B5EF4-FFF2-40B4-BE49-F238E27FC236}">
                <a16:creationId xmlns:a16="http://schemas.microsoft.com/office/drawing/2014/main" id="{06583C2D-44E0-7DFA-6A1D-99282B3F9A11}"/>
              </a:ext>
            </a:extLst>
          </p:cNvPr>
          <p:cNvSpPr/>
          <p:nvPr/>
        </p:nvSpPr>
        <p:spPr bwMode="gray">
          <a:xfrm>
            <a:off x="1156080" y="358861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2b</a:t>
            </a:r>
          </a:p>
        </p:txBody>
      </p:sp>
      <p:grpSp>
        <p:nvGrpSpPr>
          <p:cNvPr id="57" name="btfpRunningAgenda1Level747472">
            <a:extLst>
              <a:ext uri="{FF2B5EF4-FFF2-40B4-BE49-F238E27FC236}">
                <a16:creationId xmlns:a16="http://schemas.microsoft.com/office/drawing/2014/main" id="{662D6C93-87CA-0CE9-A232-292ABCD9ED86}"/>
              </a:ext>
            </a:extLst>
          </p:cNvPr>
          <p:cNvGrpSpPr/>
          <p:nvPr>
            <p:custDataLst>
              <p:tags r:id="rId5"/>
            </p:custDataLst>
          </p:nvPr>
        </p:nvGrpSpPr>
        <p:grpSpPr>
          <a:xfrm>
            <a:off x="0" y="944429"/>
            <a:ext cx="1779142" cy="257442"/>
            <a:chOff x="0" y="876300"/>
            <a:chExt cx="1779142" cy="257442"/>
          </a:xfrm>
        </p:grpSpPr>
        <p:sp>
          <p:nvSpPr>
            <p:cNvPr id="58" name="btfpRunningAgenda1LevelBarLeft747472">
              <a:extLst>
                <a:ext uri="{FF2B5EF4-FFF2-40B4-BE49-F238E27FC236}">
                  <a16:creationId xmlns:a16="http://schemas.microsoft.com/office/drawing/2014/main" id="{7DC0E2E5-5C69-F5BC-EE0F-08A3B77AA828}"/>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RunningAgenda1LevelTextLeft747472">
              <a:extLst>
                <a:ext uri="{FF2B5EF4-FFF2-40B4-BE49-F238E27FC236}">
                  <a16:creationId xmlns:a16="http://schemas.microsoft.com/office/drawing/2014/main" id="{1348FF6E-1EC1-4397-2B36-907ADAD0BDAC}"/>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2840342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1127236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(4/8)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700562051"/>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make adjustments to peer financials</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3</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Make adjustments</a:t>
                      </a:r>
                      <a:br>
                        <a:rPr lang="en-US" sz="1100"/>
                      </a:br>
                      <a:r>
                        <a:rPr lang="en-US" sz="1100"/>
                        <a:t>to peer financials </a:t>
                      </a:r>
                    </a:p>
                  </a:txBody>
                  <a:tcPr anchor="ctr"/>
                </a:tc>
                <a:tc>
                  <a:txBody>
                    <a:bodyPr/>
                    <a:lstStyle/>
                    <a:p>
                      <a:r>
                        <a:rPr lang="en-US" sz="1100" b="0"/>
                        <a:t>Once financials for the target and its peers are recorded (less any Non-GAAP adjustments and non-recurring items), we are ready to begin adjusting peers’ income statements to </a:t>
                      </a:r>
                      <a:r>
                        <a:rPr lang="en-US" sz="1100" b="1"/>
                        <a:t>align cost bucketing with that of the target</a:t>
                      </a:r>
                    </a:p>
                    <a:p>
                      <a:r>
                        <a:rPr lang="en-US" sz="1100"/>
                        <a:t>The first step to do this is to </a:t>
                      </a:r>
                      <a:r>
                        <a:rPr lang="en-US" sz="1100" b="0"/>
                        <a:t>visit the target’s latest earnings report to </a:t>
                      </a:r>
                      <a:r>
                        <a:rPr lang="en-US" sz="1100" b="1"/>
                        <a:t>review the definitions of each cost bucket</a:t>
                      </a:r>
                      <a:r>
                        <a:rPr lang="en-US" sz="1100"/>
                        <a:t> (e.g., COGS) to determine what items have been included or excluded</a:t>
                      </a:r>
                    </a:p>
                    <a:p>
                      <a:r>
                        <a:rPr lang="en-US" sz="1100"/>
                        <a:t>Based on whether peers also include / exclude these items from the relevant cost buckets, we must </a:t>
                      </a:r>
                      <a:r>
                        <a:rPr lang="en-US" sz="1100" b="1"/>
                        <a:t>re-allocate expenses for peers</a:t>
                      </a:r>
                      <a:r>
                        <a:rPr lang="en-US" sz="1100"/>
                        <a:t> based on how the target has allocated them</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77821" y="2381006"/>
            <a:ext cx="6730834"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2c</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3878515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22061753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(5/8)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731024740"/>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make adjustments to peer financials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3</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Make adjustments</a:t>
                      </a:r>
                      <a:br>
                        <a:rPr lang="en-US" sz="1100"/>
                      </a:br>
                      <a:r>
                        <a:rPr lang="en-US" sz="1100"/>
                        <a:t>to peer financials </a:t>
                      </a:r>
                    </a:p>
                  </a:txBody>
                  <a:tcPr anchor="ctr"/>
                </a:tc>
                <a:tc>
                  <a:txBody>
                    <a:bodyPr/>
                    <a:lstStyle/>
                    <a:p>
                      <a:pPr>
                        <a:spcBef>
                          <a:spcPts val="1200"/>
                        </a:spcBef>
                      </a:pPr>
                      <a:r>
                        <a:rPr lang="en-US" sz="1100" b="0"/>
                        <a:t>The following presents an example of Step 2c for Travis Perkins &amp; its peers:</a:t>
                      </a:r>
                    </a:p>
                    <a:p>
                      <a:pPr lvl="1">
                        <a:spcBef>
                          <a:spcPts val="600"/>
                        </a:spcBef>
                        <a:defRPr/>
                      </a:pPr>
                      <a:r>
                        <a:rPr lang="en-US" sz="900"/>
                        <a:t>For one of the peers, Grafton, we can see various adjustments have been made to ensure </a:t>
                      </a:r>
                      <a:r>
                        <a:rPr lang="en-US" sz="900" b="1"/>
                        <a:t>all one-off costs have been removed </a:t>
                      </a:r>
                    </a:p>
                    <a:p>
                      <a:pPr lvl="1">
                        <a:spcBef>
                          <a:spcPts val="600"/>
                        </a:spcBef>
                        <a:defRPr/>
                      </a:pPr>
                      <a:r>
                        <a:rPr lang="en-US" sz="900"/>
                        <a:t>Likewise, we see </a:t>
                      </a:r>
                      <a:r>
                        <a:rPr lang="en-US" sz="900" b="1"/>
                        <a:t>Staff Costs have been re-bucketed </a:t>
                      </a:r>
                      <a:r>
                        <a:rPr lang="en-US" sz="900"/>
                        <a:t>from SG&amp;A to COGS to align with how Travis Perkins has allocated this item</a:t>
                      </a:r>
                    </a:p>
                    <a:p>
                      <a:pPr lvl="1">
                        <a:spcBef>
                          <a:spcPts val="600"/>
                        </a:spcBef>
                        <a:defRPr/>
                      </a:pPr>
                      <a:r>
                        <a:rPr lang="en-US" sz="900"/>
                        <a:t>Travis Perkins included D&amp;A in each cost bucket; however, Grafton reported its </a:t>
                      </a:r>
                      <a:r>
                        <a:rPr lang="en-US" sz="900" b="1"/>
                        <a:t>D&amp;A as a separate line item </a:t>
                      </a:r>
                      <a:r>
                        <a:rPr lang="en-US" sz="900"/>
                        <a:t>in its Income Statement. As such, we have proportionally split D&amp;A across the two cost buckets</a:t>
                      </a:r>
                    </a:p>
                    <a:p>
                      <a:pPr lvl="1">
                        <a:spcBef>
                          <a:spcPts val="600"/>
                        </a:spcBef>
                        <a:defRPr/>
                      </a:pPr>
                      <a:r>
                        <a:rPr lang="en-US" sz="900"/>
                        <a:t>Grafton’s </a:t>
                      </a:r>
                      <a:r>
                        <a:rPr lang="en-US" sz="900" b="1"/>
                        <a:t>LTM has been excluded</a:t>
                      </a:r>
                      <a:r>
                        <a:rPr lang="en-US" sz="900"/>
                        <a:t> from the analysis due to lack of public data available for 2024. In cases such as these, we only include the peer from FY19 to the latest year available</a:t>
                      </a:r>
                      <a:endParaRPr lang="en-US" sz="900" b="1"/>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77821" y="2381006"/>
            <a:ext cx="6730834"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2c</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3117934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1288591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(6/8)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580978690"/>
              </p:ext>
            </p:extLst>
          </p:nvPr>
        </p:nvGraphicFramePr>
        <p:xfrm>
          <a:off x="408598" y="1610643"/>
          <a:ext cx="11296403" cy="486111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44151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review adjustments &amp; validate the dashboard</a:t>
                      </a:r>
                    </a:p>
                  </a:txBody>
                  <a:tcPr anchor="b"/>
                </a:tc>
                <a:extLst>
                  <a:ext uri="{0D108BD9-81ED-4DB2-BD59-A6C34878D82A}">
                    <a16:rowId xmlns:a16="http://schemas.microsoft.com/office/drawing/2014/main" val="2276346153"/>
                  </a:ext>
                </a:extLst>
              </a:tr>
              <a:tr h="4364273">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4</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Review adjustments &amp; validate the dashboard</a:t>
                      </a:r>
                    </a:p>
                  </a:txBody>
                  <a:tcPr anchor="ctr"/>
                </a:tc>
                <a:tc>
                  <a:txBody>
                    <a:bodyPr/>
                    <a:lstStyle/>
                    <a:p>
                      <a:pPr marL="177800" indent="-177800"/>
                      <a:r>
                        <a:rPr lang="en-US" sz="1100"/>
                        <a:t>Review once more to ensure any </a:t>
                      </a:r>
                      <a:r>
                        <a:rPr lang="en-US" sz="1100" b="1"/>
                        <a:t>one-off or non-relevant expenses</a:t>
                      </a:r>
                      <a:r>
                        <a:rPr lang="en-US" sz="1100"/>
                        <a:t> have been removed from the reported figures. For instance, if </a:t>
                      </a:r>
                      <a:r>
                        <a:rPr lang="en-US" sz="1100" b="1"/>
                        <a:t>amortization of intangible assets</a:t>
                      </a:r>
                      <a:r>
                        <a:rPr lang="en-US" sz="1100"/>
                        <a:t> is included in a cost bucket, it should be adjusted accordingly. See ‘Tips &amp; Best Practices’ page for a list of expenses that should be adjusted out</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Reverse calculate </a:t>
                      </a:r>
                      <a:r>
                        <a:rPr lang="en-US" sz="1100" b="1"/>
                        <a:t>Reported Adjusted EBIT/DA</a:t>
                      </a:r>
                      <a:r>
                        <a:rPr lang="en-US" sz="1100"/>
                        <a:t> by subtracting Reconciled items (as reported in the company’s financials) from the calculated Adjusted EBIT/DA; use the CHECK formula to validate that these numbers match</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Lastly, add a backup tab in our Excel Dashboard for each peer (with screenshots and links of reports used to record numbers) for future reference</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977821" y="2134487"/>
            <a:ext cx="6730834"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554036" y="3725771"/>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2d</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
        <p:nvSpPr>
          <p:cNvPr id="15" name="TextBox 14">
            <a:extLst>
              <a:ext uri="{FF2B5EF4-FFF2-40B4-BE49-F238E27FC236}">
                <a16:creationId xmlns:a16="http://schemas.microsoft.com/office/drawing/2014/main" id="{24FE65A2-E3AB-BBFD-258A-9A7E00DCCF76}"/>
              </a:ext>
            </a:extLst>
          </p:cNvPr>
          <p:cNvSpPr txBox="1"/>
          <p:nvPr/>
        </p:nvSpPr>
        <p:spPr bwMode="gray">
          <a:xfrm>
            <a:off x="4974167" y="5130596"/>
            <a:ext cx="6730834" cy="411257"/>
          </a:xfrm>
          <a:prstGeom prst="rect">
            <a:avLst/>
          </a:prstGeom>
          <a:noFill/>
        </p:spPr>
        <p:txBody>
          <a:bodyPr wrap="square" lIns="36000" tIns="36000" rIns="36000" bIns="36000" rtlCol="0">
            <a:spAutoFit/>
          </a:bodyPr>
          <a:lstStyle/>
          <a:p>
            <a:pPr marL="0" indent="0" algn="ctr">
              <a:buNone/>
            </a:pPr>
            <a:r>
              <a:rPr lang="en-US" sz="1100" i="1"/>
              <a:t>The CHECK formula validates that ‘Reported Adjusted EBIT’ plus the 3 items Grafton</a:t>
            </a:r>
            <a:br>
              <a:rPr lang="en-US" sz="1100" i="1"/>
            </a:br>
            <a:r>
              <a:rPr lang="en-US" sz="1100" i="1"/>
              <a:t>lists as Reconciled items equals our calculated ‘Adjusted EBIT’</a:t>
            </a:r>
          </a:p>
        </p:txBody>
      </p:sp>
    </p:spTree>
    <p:custDataLst>
      <p:tags r:id="rId1"/>
    </p:custDataLst>
    <p:extLst>
      <p:ext uri="{BB962C8B-B14F-4D97-AF65-F5344CB8AC3E}">
        <p14:creationId xmlns:p14="http://schemas.microsoft.com/office/powerpoint/2010/main" val="1922674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3151134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(7/8)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2063724457"/>
              </p:ext>
            </p:extLst>
          </p:nvPr>
        </p:nvGraphicFramePr>
        <p:xfrm>
          <a:off x="408598" y="1610643"/>
          <a:ext cx="11296403" cy="4805783"/>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321982">
                  <a:extLst>
                    <a:ext uri="{9D8B030D-6E8A-4147-A177-3AD203B41FA5}">
                      <a16:colId xmlns:a16="http://schemas.microsoft.com/office/drawing/2014/main" val="3410592685"/>
                    </a:ext>
                  </a:extLst>
                </a:gridCol>
                <a:gridCol w="3239814">
                  <a:extLst>
                    <a:ext uri="{9D8B030D-6E8A-4147-A177-3AD203B41FA5}">
                      <a16:colId xmlns:a16="http://schemas.microsoft.com/office/drawing/2014/main" val="2818076346"/>
                    </a:ext>
                  </a:extLst>
                </a:gridCol>
                <a:gridCol w="6242249">
                  <a:extLst>
                    <a:ext uri="{9D8B030D-6E8A-4147-A177-3AD203B41FA5}">
                      <a16:colId xmlns:a16="http://schemas.microsoft.com/office/drawing/2014/main" val="872472245"/>
                    </a:ext>
                  </a:extLst>
                </a:gridCol>
              </a:tblGrid>
              <a:tr h="44151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create the initial slide output</a:t>
                      </a:r>
                    </a:p>
                  </a:txBody>
                  <a:tcPr anchor="b"/>
                </a:tc>
                <a:extLst>
                  <a:ext uri="{0D108BD9-81ED-4DB2-BD59-A6C34878D82A}">
                    <a16:rowId xmlns:a16="http://schemas.microsoft.com/office/drawing/2014/main" val="2276346153"/>
                  </a:ext>
                </a:extLst>
              </a:tr>
              <a:tr h="4364273">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5</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Create the initial</a:t>
                      </a:r>
                      <a:br>
                        <a:rPr lang="en-US" sz="1100"/>
                      </a:br>
                      <a:r>
                        <a:rPr lang="en-US" sz="1100"/>
                        <a:t>slide output</a:t>
                      </a:r>
                    </a:p>
                  </a:txBody>
                  <a:tcPr anchor="ctr"/>
                </a:tc>
                <a:tc>
                  <a:txBody>
                    <a:body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Create a copy of the Excel Dashboard; in this new file, open the </a:t>
                      </a:r>
                      <a:r>
                        <a:rPr lang="en-US" sz="1100" err="1"/>
                        <a:t>CapIQ</a:t>
                      </a:r>
                      <a:r>
                        <a:rPr lang="en-US" sz="1100"/>
                        <a:t> dashboard in the Excel ribbon and click ‘Unlink’</a:t>
                      </a:r>
                    </a:p>
                    <a:p>
                      <a:pPr marL="177800" indent="-177800"/>
                      <a:r>
                        <a:rPr lang="en-US" sz="1100"/>
                        <a:t>Visit the “Input_v3.pptx” file using the following pathway: "8. Templates" -&gt; "OI Templates" -&gt; "1. Standard OI" -&gt; "Automated OI" -&gt; "Think-cell“</a:t>
                      </a:r>
                    </a:p>
                    <a:p>
                      <a:pPr marL="355600" lvl="1" indent="-177800"/>
                      <a:r>
                        <a:rPr lang="en-US" sz="900"/>
                        <a:t>Copy a version of this file into the same OI folder where the Excel Dashboard sits</a:t>
                      </a:r>
                    </a:p>
                    <a:p>
                      <a:pPr marL="355600" lvl="1" indent="-177800"/>
                      <a:r>
                        <a:rPr lang="en-US" sz="900"/>
                        <a:t>Follow the same process for the Slide Automation Excel (</a:t>
                      </a:r>
                      <a:r>
                        <a:rPr lang="en-US" sz="900" err="1"/>
                        <a:t>Thinkcell</a:t>
                      </a:r>
                      <a:r>
                        <a:rPr lang="en-US" sz="900"/>
                        <a:t>) file that sits in the “Think-cell” folder</a:t>
                      </a:r>
                    </a:p>
                    <a:p>
                      <a:pPr marL="177800" lvl="0" indent="-177800"/>
                      <a:r>
                        <a:rPr lang="en-US" sz="1100"/>
                        <a:t>Copy the values from the Slide Automation Excel Input tab of the unlinked file and paste them into the same tab of the Slide Automation Excel</a:t>
                      </a:r>
                    </a:p>
                    <a:p>
                      <a:pPr marL="177800" indent="-177800"/>
                      <a:r>
                        <a:rPr lang="en-US" sz="1100"/>
                        <a:t>In the “</a:t>
                      </a:r>
                      <a:r>
                        <a:rPr lang="en-US" sz="1100" err="1"/>
                        <a:t>Header_Meta</a:t>
                      </a:r>
                      <a:r>
                        <a:rPr lang="en-US" sz="1100"/>
                        <a:t>” tab of the Slide Automation Excel, update the text in Column C to personalize the content; address errors</a:t>
                      </a:r>
                    </a:p>
                    <a:p>
                      <a:pPr marL="177800" indent="-177800"/>
                      <a:r>
                        <a:rPr lang="en-US" sz="1100"/>
                        <a:t>Close all tabs except for the Slide Automation Excel and the Input PPT and click “Play”</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5584470" y="2221522"/>
            <a:ext cx="6123565" cy="3136765"/>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01788" y="3652745"/>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2e</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557350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6252303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2 – Data Collection &amp; Output Creation:</a:t>
            </a:r>
            <a:r>
              <a:rPr lang="en-US" b="1"/>
              <a:t> </a:t>
            </a:r>
            <a:r>
              <a:rPr lang="en-US"/>
              <a:t>Process Breakdown (8/8)</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4233761810"/>
              </p:ext>
            </p:extLst>
          </p:nvPr>
        </p:nvGraphicFramePr>
        <p:xfrm>
          <a:off x="408598" y="1610643"/>
          <a:ext cx="11296403" cy="4805783"/>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321982">
                  <a:extLst>
                    <a:ext uri="{9D8B030D-6E8A-4147-A177-3AD203B41FA5}">
                      <a16:colId xmlns:a16="http://schemas.microsoft.com/office/drawing/2014/main" val="3410592685"/>
                    </a:ext>
                  </a:extLst>
                </a:gridCol>
                <a:gridCol w="3239814">
                  <a:extLst>
                    <a:ext uri="{9D8B030D-6E8A-4147-A177-3AD203B41FA5}">
                      <a16:colId xmlns:a16="http://schemas.microsoft.com/office/drawing/2014/main" val="2818076346"/>
                    </a:ext>
                  </a:extLst>
                </a:gridCol>
                <a:gridCol w="6242249">
                  <a:extLst>
                    <a:ext uri="{9D8B030D-6E8A-4147-A177-3AD203B41FA5}">
                      <a16:colId xmlns:a16="http://schemas.microsoft.com/office/drawing/2014/main" val="872472245"/>
                    </a:ext>
                  </a:extLst>
                </a:gridCol>
              </a:tblGrid>
              <a:tr h="44151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create the initial slide output</a:t>
                      </a:r>
                    </a:p>
                  </a:txBody>
                  <a:tcPr anchor="b"/>
                </a:tc>
                <a:extLst>
                  <a:ext uri="{0D108BD9-81ED-4DB2-BD59-A6C34878D82A}">
                    <a16:rowId xmlns:a16="http://schemas.microsoft.com/office/drawing/2014/main" val="2276346153"/>
                  </a:ext>
                </a:extLst>
              </a:tr>
              <a:tr h="4364273">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5</a:t>
                      </a:r>
                    </a:p>
                  </a:txBody>
                  <a:tcPr vert="vert270" anchor="ctr">
                    <a:solidFill>
                      <a:schemeClr val="accent5">
                        <a:lumMod val="40000"/>
                        <a:lumOff val="60000"/>
                      </a:schemeClr>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Create the initial</a:t>
                      </a:r>
                      <a:br>
                        <a:rPr lang="en-US" sz="1100"/>
                      </a:br>
                      <a:r>
                        <a:rPr lang="en-US" sz="1100"/>
                        <a:t>slide output</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endParaRPr lang="en-US" sz="1100"/>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Once the automated slide gen has been run, the next step is to update the deck</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It is necessary to flip through each page to make the following updates: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logos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Color-code bars as necessary (to visualize different peer groupings, segments, etc.)</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y-axis labels to all charts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Update Median and Top Q lines using data from the </a:t>
                      </a:r>
                      <a:r>
                        <a:rPr lang="en-US" sz="900" err="1"/>
                        <a:t>Mekko</a:t>
                      </a:r>
                      <a:r>
                        <a:rPr lang="en-US" sz="900"/>
                        <a:t> Graph Outputs tab of the unlinked Excel</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footnotes</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a:t>Add ESG slide (see Appendix for more information)</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100"/>
                        <a:t>Note that the Performance Summary, Cost Savings Summary, Bain Experience, and EBIT/DA / EV waterfall slides will not be updated until Stages 3 and 4</a:t>
                      </a:r>
                      <a:endParaRPr lang="en-US" sz="900"/>
                    </a:p>
                  </a:txBody>
                  <a:tcP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5591825" y="2294203"/>
            <a:ext cx="6113176" cy="3438662"/>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01788" y="3652745"/>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507867"/>
                </a:solidFill>
              </a:rPr>
              <a:t>2e</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299493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p:cNvGraphicFramePr>
          <p:nvPr>
            <p:custDataLst>
              <p:tags r:id="rId2"/>
            </p:custDataLst>
            <p:extLst>
              <p:ext uri="{D42A27DB-BD31-4B8C-83A1-F6EECF244321}">
                <p14:modId xmlns:p14="http://schemas.microsoft.com/office/powerpoint/2010/main" val="859657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2 – Data Collection &amp; Output Creation:</a:t>
            </a:r>
            <a:r>
              <a:rPr lang="en-US" b="1"/>
              <a:t> </a:t>
            </a:r>
            <a:r>
              <a:rPr lang="en-US"/>
              <a:t>Tips &amp; Best Practices (1/2)</a:t>
            </a:r>
          </a:p>
        </p:txBody>
      </p:sp>
      <p:sp>
        <p:nvSpPr>
          <p:cNvPr id="19" name="btfpBulletedList430166">
            <a:extLst>
              <a:ext uri="{FF2B5EF4-FFF2-40B4-BE49-F238E27FC236}">
                <a16:creationId xmlns:a16="http://schemas.microsoft.com/office/drawing/2014/main" id="{45E79BE1-4329-D74A-0213-99BCFBC27D48}"/>
              </a:ext>
            </a:extLst>
          </p:cNvPr>
          <p:cNvSpPr txBox="1"/>
          <p:nvPr>
            <p:custDataLst>
              <p:tags r:id="rId3"/>
            </p:custDataLst>
          </p:nvPr>
        </p:nvSpPr>
        <p:spPr bwMode="gray">
          <a:xfrm>
            <a:off x="325438" y="1269612"/>
            <a:ext cx="11531600" cy="4989434"/>
          </a:xfrm>
          <a:prstGeom prst="rect">
            <a:avLst/>
          </a:prstGeom>
          <a:noFill/>
        </p:spPr>
        <p:txBody>
          <a:bodyPr vert="horz" wrap="square" lIns="36000" tIns="36000" rIns="36000" bIns="36000" rtlCol="0">
            <a:spAutoFit/>
          </a:bodyPr>
          <a:lstStyle/>
          <a:p>
            <a:pPr>
              <a:spcBef>
                <a:spcPts val="1800"/>
              </a:spcBef>
              <a:defRPr/>
            </a:pPr>
            <a:r>
              <a:rPr lang="en-US" sz="1400" b="1" u="sng">
                <a:solidFill>
                  <a:srgbClr val="000000"/>
                </a:solidFill>
                <a:latin typeface="Arial"/>
              </a:rPr>
              <a:t>Making the adjustments:</a:t>
            </a:r>
          </a:p>
          <a:p>
            <a:pPr lvl="1">
              <a:spcBef>
                <a:spcPts val="900"/>
              </a:spcBef>
              <a:defRPr/>
            </a:pPr>
            <a:r>
              <a:rPr lang="en-US" sz="1200">
                <a:solidFill>
                  <a:srgbClr val="000000"/>
                </a:solidFill>
              </a:rPr>
              <a:t>Always </a:t>
            </a:r>
            <a:r>
              <a:rPr lang="en-US" sz="1200" b="1">
                <a:solidFill>
                  <a:srgbClr val="000000"/>
                </a:solidFill>
              </a:rPr>
              <a:t>double check the reported numbers </a:t>
            </a:r>
            <a:r>
              <a:rPr lang="en-US" sz="1200">
                <a:solidFill>
                  <a:srgbClr val="000000"/>
                </a:solidFill>
              </a:rPr>
              <a:t>of the “target” against its Annual Report / 10-K, as these are the numbers the account team and the client are most likely to be familiar with. If there are major discrepancies, identify why and determine appropriate path forward (generally try to align with ARs / 10-Ks) </a:t>
            </a:r>
          </a:p>
          <a:p>
            <a:pPr lvl="1">
              <a:spcBef>
                <a:spcPts val="900"/>
              </a:spcBef>
              <a:defRPr/>
            </a:pPr>
            <a:r>
              <a:rPr lang="en-US" sz="1200">
                <a:solidFill>
                  <a:srgbClr val="000000"/>
                </a:solidFill>
              </a:rPr>
              <a:t>Wherever available</a:t>
            </a:r>
            <a:r>
              <a:rPr lang="en-US" sz="1200" b="1">
                <a:solidFill>
                  <a:srgbClr val="000000"/>
                </a:solidFill>
              </a:rPr>
              <a:t>, use Non-GAAP financials (for US companies) and Adjusted/Underlined financials (for EU companies)</a:t>
            </a:r>
            <a:r>
              <a:rPr lang="en-US" sz="1200">
                <a:solidFill>
                  <a:srgbClr val="000000"/>
                </a:solidFill>
              </a:rPr>
              <a:t>. If there are any major outliers in the peer set (SG&amp;A, COGS, etc. looks way off from rest of peers), utilize the 10-K reports to try to figure out why this might be the case and ensure that we have apples-to-apples comparison</a:t>
            </a:r>
          </a:p>
          <a:p>
            <a:pPr lvl="1">
              <a:spcBef>
                <a:spcPts val="900"/>
              </a:spcBef>
              <a:defRPr/>
            </a:pPr>
            <a:r>
              <a:rPr lang="en-US" sz="1200">
                <a:solidFill>
                  <a:srgbClr val="000000"/>
                </a:solidFill>
              </a:rPr>
              <a:t>Ensure bucketing of COGS and SG&amp;A is consistent across peers to </a:t>
            </a:r>
            <a:r>
              <a:rPr lang="en-US" sz="1200" b="1">
                <a:solidFill>
                  <a:srgbClr val="000000"/>
                </a:solidFill>
              </a:rPr>
              <a:t>ensure apples-to-apples comparison</a:t>
            </a:r>
            <a:r>
              <a:rPr lang="en-US" sz="1200">
                <a:solidFill>
                  <a:srgbClr val="000000"/>
                </a:solidFill>
              </a:rPr>
              <a:t>. One of the key components that usually create discrepancies across peers are Depreciation &amp; Amortization, which could either be its own line item and/or could be included in COGS or SG&amp;A. Ensure this is consistent across all peers (usually by adding to COGS when it is a separate line item)</a:t>
            </a:r>
          </a:p>
          <a:p>
            <a:pPr lvl="1">
              <a:spcBef>
                <a:spcPts val="900"/>
              </a:spcBef>
              <a:defRPr/>
            </a:pPr>
            <a:r>
              <a:rPr lang="en-US" sz="1200" b="1">
                <a:solidFill>
                  <a:srgbClr val="000000"/>
                </a:solidFill>
                <a:latin typeface="Arial"/>
              </a:rPr>
              <a:t>Write-offs / asset impairment / facility closure / obsolete inventory should be adjusted out from the reported numbers</a:t>
            </a:r>
          </a:p>
          <a:p>
            <a:pPr>
              <a:spcBef>
                <a:spcPts val="1800"/>
              </a:spcBef>
              <a:defRPr/>
            </a:pPr>
            <a:r>
              <a:rPr lang="en-US" sz="1400" b="1" u="sng">
                <a:solidFill>
                  <a:srgbClr val="000000"/>
                </a:solidFill>
                <a:latin typeface="Arial"/>
              </a:rPr>
              <a:t>Before unlinking the dashboard:</a:t>
            </a:r>
          </a:p>
          <a:p>
            <a:pPr lvl="1">
              <a:spcBef>
                <a:spcPts val="900"/>
              </a:spcBef>
              <a:defRPr/>
            </a:pPr>
            <a:r>
              <a:rPr lang="en-US" sz="1200"/>
              <a:t>Verify that all values in the </a:t>
            </a:r>
            <a:r>
              <a:rPr lang="en-US" sz="1200" b="1"/>
              <a:t>Financials &amp; KPIs</a:t>
            </a:r>
            <a:r>
              <a:rPr lang="en-US" sz="1200"/>
              <a:t> tab are </a:t>
            </a:r>
            <a:r>
              <a:rPr lang="en-US" sz="1200" b="1"/>
              <a:t>TRUE</a:t>
            </a:r>
            <a:r>
              <a:rPr lang="en-US" sz="1200"/>
              <a:t>. If any </a:t>
            </a:r>
            <a:r>
              <a:rPr lang="en-US" sz="1200" b="1"/>
              <a:t>FALSE</a:t>
            </a:r>
            <a:r>
              <a:rPr lang="en-US" sz="1200"/>
              <a:t> values appear, identify the issue and resolve it accordingly</a:t>
            </a:r>
          </a:p>
          <a:p>
            <a:pPr lvl="1">
              <a:spcBef>
                <a:spcPts val="900"/>
              </a:spcBef>
              <a:defRPr/>
            </a:pPr>
            <a:r>
              <a:rPr lang="en-US" sz="1200"/>
              <a:t> Review the </a:t>
            </a:r>
            <a:r>
              <a:rPr lang="en-US" sz="1200" b="1"/>
              <a:t>CAGR values</a:t>
            </a:r>
            <a:r>
              <a:rPr lang="en-US" sz="1200"/>
              <a:t> and identify any </a:t>
            </a:r>
            <a:r>
              <a:rPr lang="en-US" sz="1200" b="1"/>
              <a:t>spikes or drops</a:t>
            </a:r>
            <a:r>
              <a:rPr lang="en-US" sz="1200"/>
              <a:t> in </a:t>
            </a:r>
            <a:r>
              <a:rPr lang="en-US" sz="1200" b="1"/>
              <a:t>Net Working Capital (NWC) numbers</a:t>
            </a:r>
            <a:endParaRPr lang="en-US" sz="1200">
              <a:solidFill>
                <a:srgbClr val="000000"/>
              </a:solidFill>
            </a:endParaRPr>
          </a:p>
          <a:p>
            <a:pPr>
              <a:spcBef>
                <a:spcPts val="1800"/>
              </a:spcBef>
              <a:defRPr/>
            </a:pPr>
            <a:r>
              <a:rPr lang="en-US" sz="1400" b="1" u="sng">
                <a:solidFill>
                  <a:srgbClr val="000000"/>
                </a:solidFill>
                <a:latin typeface="Arial"/>
              </a:rPr>
              <a:t>To run the slide Gen:</a:t>
            </a:r>
          </a:p>
          <a:p>
            <a:pPr lvl="1">
              <a:spcBef>
                <a:spcPts val="900"/>
              </a:spcBef>
              <a:defRPr/>
            </a:pPr>
            <a:r>
              <a:rPr lang="en-US" sz="1200"/>
              <a:t>Copy and paste the values from the </a:t>
            </a:r>
            <a:r>
              <a:rPr lang="en-US" sz="1200" b="1"/>
              <a:t>Slide Automation Excel Input</a:t>
            </a:r>
            <a:r>
              <a:rPr lang="en-US" sz="1200"/>
              <a:t> tab of the </a:t>
            </a:r>
            <a:r>
              <a:rPr lang="en-US" sz="1200" b="1"/>
              <a:t>unlinked file</a:t>
            </a:r>
            <a:endParaRPr lang="en-US" sz="1200"/>
          </a:p>
          <a:p>
            <a:pPr lvl="1">
              <a:spcBef>
                <a:spcPts val="900"/>
              </a:spcBef>
              <a:defRPr/>
            </a:pPr>
            <a:r>
              <a:rPr lang="en-US" sz="1200"/>
              <a:t>Check for any </a:t>
            </a:r>
            <a:r>
              <a:rPr lang="en-US" sz="1200" b="1"/>
              <a:t># or error values</a:t>
            </a:r>
            <a:r>
              <a:rPr lang="en-US" sz="1200"/>
              <a:t> in the </a:t>
            </a:r>
            <a:r>
              <a:rPr lang="en-US" sz="1200" b="1"/>
              <a:t>Header Meta</a:t>
            </a:r>
            <a:r>
              <a:rPr lang="en-US" sz="1200"/>
              <a:t> tab of the </a:t>
            </a:r>
            <a:r>
              <a:rPr lang="en-US" sz="1200" b="1"/>
              <a:t>Slide Automation Excel</a:t>
            </a:r>
            <a:r>
              <a:rPr lang="en-US" sz="1200"/>
              <a:t>. If errors are found, locate the relevant cells and resolve the issue before running the </a:t>
            </a:r>
            <a:r>
              <a:rPr lang="en-US" sz="1200" b="1"/>
              <a:t>slide generation</a:t>
            </a:r>
            <a:r>
              <a:rPr lang="en-US" sz="1200"/>
              <a:t> process</a:t>
            </a:r>
          </a:p>
          <a:p>
            <a:pPr lvl="1">
              <a:spcBef>
                <a:spcPts val="900"/>
              </a:spcBef>
              <a:defRPr/>
            </a:pPr>
            <a:r>
              <a:rPr kumimoji="0" lang="en-US" altLang="en-US" sz="1200" b="0" i="0" u="none" strike="noStrike" cap="none" normalizeH="0" baseline="0">
                <a:ln>
                  <a:noFill/>
                </a:ln>
                <a:solidFill>
                  <a:schemeClr val="tx1"/>
                </a:solidFill>
                <a:effectLst/>
                <a:latin typeface="Arial" panose="020B0604020202020204" pitchFamily="34" charset="0"/>
              </a:rPr>
              <a:t>Rename the </a:t>
            </a:r>
            <a:r>
              <a:rPr kumimoji="0" lang="en-US" altLang="en-US" sz="1200" b="1" i="0" u="none" strike="noStrike" cap="none" normalizeH="0" baseline="0">
                <a:ln>
                  <a:noFill/>
                </a:ln>
                <a:solidFill>
                  <a:schemeClr val="tx1"/>
                </a:solidFill>
                <a:effectLst/>
                <a:latin typeface="Arial" panose="020B0604020202020204" pitchFamily="34" charset="0"/>
              </a:rPr>
              <a:t>output generation deck</a:t>
            </a:r>
            <a:r>
              <a:rPr kumimoji="0" lang="en-US" altLang="en-US" sz="1200" b="0" i="0" u="none" strike="noStrike" cap="none" normalizeH="0" baseline="0">
                <a:ln>
                  <a:noFill/>
                </a:ln>
                <a:solidFill>
                  <a:schemeClr val="tx1"/>
                </a:solidFill>
                <a:effectLst/>
                <a:latin typeface="Arial" panose="020B0604020202020204" pitchFamily="34" charset="0"/>
              </a:rPr>
              <a:t> to </a:t>
            </a:r>
            <a:r>
              <a:rPr kumimoji="0" lang="en-US" altLang="en-US" sz="1200" b="1" i="0" u="none" strike="noStrike" cap="none" normalizeH="0" baseline="0">
                <a:ln>
                  <a:noFill/>
                </a:ln>
                <a:solidFill>
                  <a:schemeClr val="tx1"/>
                </a:solidFill>
                <a:effectLst/>
                <a:latin typeface="Arial" panose="020B0604020202020204" pitchFamily="34" charset="0"/>
              </a:rPr>
              <a:t>Input.ppt</a:t>
            </a:r>
            <a:r>
              <a:rPr kumimoji="0" lang="en-US" altLang="en-US" sz="1200" b="0" i="0" u="none" strike="noStrike" cap="none" normalizeH="0" baseline="0">
                <a:ln>
                  <a:noFill/>
                </a:ln>
                <a:solidFill>
                  <a:schemeClr val="tx1"/>
                </a:solidFill>
                <a:effectLst/>
                <a:latin typeface="Arial" panose="020B0604020202020204" pitchFamily="34" charset="0"/>
              </a:rPr>
              <a:t> before running </a:t>
            </a:r>
            <a:r>
              <a:rPr kumimoji="0" lang="en-US" altLang="en-US" sz="1200" b="1" i="0" u="none" strike="noStrike" cap="none" normalizeH="0" baseline="0">
                <a:ln>
                  <a:noFill/>
                </a:ln>
                <a:solidFill>
                  <a:schemeClr val="tx1"/>
                </a:solidFill>
                <a:effectLst/>
                <a:latin typeface="Arial" panose="020B0604020202020204" pitchFamily="34" charset="0"/>
              </a:rPr>
              <a:t>Slide Gen</a:t>
            </a:r>
            <a:r>
              <a:rPr lang="en-US" altLang="en-US" sz="1200">
                <a:latin typeface="Arial" panose="020B0604020202020204" pitchFamily="34" charset="0"/>
              </a:rPr>
              <a:t> (</a:t>
            </a:r>
            <a:r>
              <a:rPr kumimoji="0" lang="en-US" altLang="en-US" sz="1200" b="0" i="0" u="none" strike="noStrike" cap="none" normalizeH="0" baseline="0">
                <a:ln>
                  <a:noFill/>
                </a:ln>
                <a:solidFill>
                  <a:schemeClr val="tx1"/>
                </a:solidFill>
                <a:effectLst/>
                <a:latin typeface="Arial" panose="020B0604020202020204" pitchFamily="34" charset="0"/>
              </a:rPr>
              <a:t>if it has a different name)</a:t>
            </a:r>
            <a:endParaRPr lang="en-US" sz="1200">
              <a:solidFill>
                <a:srgbClr val="000000"/>
              </a:solidFill>
              <a:latin typeface="Arial"/>
            </a:endParaRPr>
          </a:p>
        </p:txBody>
      </p:sp>
      <p:grpSp>
        <p:nvGrpSpPr>
          <p:cNvPr id="15" name="btfpRunningAgenda1Level747472">
            <a:extLst>
              <a:ext uri="{FF2B5EF4-FFF2-40B4-BE49-F238E27FC236}">
                <a16:creationId xmlns:a16="http://schemas.microsoft.com/office/drawing/2014/main" id="{6BB39F58-EF7C-61C6-4494-D45365B6A98A}"/>
              </a:ext>
            </a:extLst>
          </p:cNvPr>
          <p:cNvGrpSpPr/>
          <p:nvPr>
            <p:custDataLst>
              <p:tags r:id="rId4"/>
            </p:custDataLst>
          </p:nvPr>
        </p:nvGrpSpPr>
        <p:grpSpPr>
          <a:xfrm>
            <a:off x="0" y="944429"/>
            <a:ext cx="1833863" cy="257442"/>
            <a:chOff x="0" y="876300"/>
            <a:chExt cx="1833863" cy="257442"/>
          </a:xfrm>
        </p:grpSpPr>
        <p:sp>
          <p:nvSpPr>
            <p:cNvPr id="16" name="btfpRunningAgenda1LevelBarLeft747472">
              <a:extLst>
                <a:ext uri="{FF2B5EF4-FFF2-40B4-BE49-F238E27FC236}">
                  <a16:creationId xmlns:a16="http://schemas.microsoft.com/office/drawing/2014/main" id="{F01923C3-76D0-7E69-DC0C-A7E29126EC53}"/>
                </a:ext>
              </a:extLst>
            </p:cNvPr>
            <p:cNvSpPr/>
            <p:nvPr/>
          </p:nvSpPr>
          <p:spPr bwMode="gray">
            <a:xfrm>
              <a:off x="0" y="876300"/>
              <a:ext cx="1833863"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Lst>
              <a:ahLst/>
              <a:cxnLst>
                <a:cxn ang="0">
                  <a:pos x="connsiteX0" y="connsiteY0"/>
                </a:cxn>
                <a:cxn ang="0">
                  <a:pos x="connsiteX1" y="connsiteY1"/>
                </a:cxn>
                <a:cxn ang="0">
                  <a:pos x="connsiteX2" y="connsiteY2"/>
                </a:cxn>
                <a:cxn ang="0">
                  <a:pos x="connsiteX3" y="connsiteY3"/>
                </a:cxn>
              </a:cxnLst>
              <a:rect l="l" t="t" r="r" b="b"/>
              <a:pathLst>
                <a:path w="1833863" h="257442">
                  <a:moveTo>
                    <a:pt x="1833863" y="0"/>
                  </a:moveTo>
                  <a:lnTo>
                    <a:pt x="1779142"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67062CC-8870-E727-90D5-4749CFB4BA4F}"/>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
        <p:nvSpPr>
          <p:cNvPr id="30" name="btfpNumberBubble557534">
            <a:extLst>
              <a:ext uri="{FF2B5EF4-FFF2-40B4-BE49-F238E27FC236}">
                <a16:creationId xmlns:a16="http://schemas.microsoft.com/office/drawing/2014/main" id="{CCFC0DEF-2551-C9BE-BB73-02BBF0EDD6AB}"/>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spTree>
    <p:custDataLst>
      <p:tags r:id="rId1"/>
    </p:custDataLst>
    <p:extLst>
      <p:ext uri="{BB962C8B-B14F-4D97-AF65-F5344CB8AC3E}">
        <p14:creationId xmlns:p14="http://schemas.microsoft.com/office/powerpoint/2010/main" val="2449679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p:cNvGraphicFramePr>
          <p:nvPr>
            <p:custDataLst>
              <p:tags r:id="rId2"/>
            </p:custDataLst>
            <p:extLst>
              <p:ext uri="{D42A27DB-BD31-4B8C-83A1-F6EECF244321}">
                <p14:modId xmlns:p14="http://schemas.microsoft.com/office/powerpoint/2010/main" val="11342615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2 – Data Collection &amp; Output Creation:</a:t>
            </a:r>
            <a:r>
              <a:rPr lang="en-US" b="1"/>
              <a:t> </a:t>
            </a:r>
            <a:r>
              <a:rPr lang="en-US"/>
              <a:t>Tips &amp; Best Practices (2/2)</a:t>
            </a:r>
          </a:p>
        </p:txBody>
      </p:sp>
      <p:sp>
        <p:nvSpPr>
          <p:cNvPr id="30" name="btfpNumberBubble557534">
            <a:extLst>
              <a:ext uri="{FF2B5EF4-FFF2-40B4-BE49-F238E27FC236}">
                <a16:creationId xmlns:a16="http://schemas.microsoft.com/office/drawing/2014/main" id="{CCFC0DEF-2551-C9BE-BB73-02BBF0EDD6AB}"/>
              </a:ext>
            </a:extLst>
          </p:cNvPr>
          <p:cNvSpPr/>
          <p:nvPr/>
        </p:nvSpPr>
        <p:spPr bwMode="gray">
          <a:xfrm>
            <a:off x="40250" y="509129"/>
            <a:ext cx="274320" cy="274320"/>
          </a:xfrm>
          <a:prstGeom prst="ellipse">
            <a:avLst/>
          </a:prstGeom>
          <a:solidFill>
            <a:srgbClr val="FFFFFF"/>
          </a:solidFill>
          <a:ln w="19050" cap="flat" cmpd="sng" algn="ctr">
            <a:solidFill>
              <a:srgbClr val="507867"/>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507867"/>
                </a:solidFill>
              </a:rPr>
              <a:t>2</a:t>
            </a:r>
          </a:p>
        </p:txBody>
      </p:sp>
      <p:graphicFrame>
        <p:nvGraphicFramePr>
          <p:cNvPr id="18" name="Table 17">
            <a:extLst>
              <a:ext uri="{FF2B5EF4-FFF2-40B4-BE49-F238E27FC236}">
                <a16:creationId xmlns:a16="http://schemas.microsoft.com/office/drawing/2014/main" id="{26320ECF-A543-72BD-BE80-87051B0EC140}"/>
              </a:ext>
            </a:extLst>
          </p:cNvPr>
          <p:cNvGraphicFramePr>
            <a:graphicFrameLocks noGrp="1"/>
          </p:cNvGraphicFramePr>
          <p:nvPr>
            <p:extLst>
              <p:ext uri="{D42A27DB-BD31-4B8C-83A1-F6EECF244321}">
                <p14:modId xmlns:p14="http://schemas.microsoft.com/office/powerpoint/2010/main" val="2645280516"/>
              </p:ext>
            </p:extLst>
          </p:nvPr>
        </p:nvGraphicFramePr>
        <p:xfrm>
          <a:off x="334962" y="1676759"/>
          <a:ext cx="11531599" cy="4678316"/>
        </p:xfrm>
        <a:graphic>
          <a:graphicData uri="http://schemas.openxmlformats.org/drawingml/2006/table">
            <a:tbl>
              <a:tblPr/>
              <a:tblGrid>
                <a:gridCol w="4795420">
                  <a:extLst>
                    <a:ext uri="{9D8B030D-6E8A-4147-A177-3AD203B41FA5}">
                      <a16:colId xmlns:a16="http://schemas.microsoft.com/office/drawing/2014/main" val="1834033530"/>
                    </a:ext>
                  </a:extLst>
                </a:gridCol>
                <a:gridCol w="6736179">
                  <a:extLst>
                    <a:ext uri="{9D8B030D-6E8A-4147-A177-3AD203B41FA5}">
                      <a16:colId xmlns:a16="http://schemas.microsoft.com/office/drawing/2014/main" val="3558169204"/>
                    </a:ext>
                  </a:extLst>
                </a:gridCol>
              </a:tblGrid>
              <a:tr h="223182">
                <a:tc>
                  <a:txBody>
                    <a:bodyPr/>
                    <a:lstStyle/>
                    <a:p>
                      <a:pPr marL="91440" indent="0" algn="l" rtl="0" fontAlgn="ctr">
                        <a:buNone/>
                      </a:pPr>
                      <a:r>
                        <a:rPr lang="en-US" sz="1100" b="1" i="0" u="none" strike="noStrike">
                          <a:solidFill>
                            <a:srgbClr val="FFFFFF"/>
                          </a:solidFill>
                          <a:effectLst/>
                          <a:latin typeface="Arial" panose="020B0604020202020204" pitchFamily="34" charset="0"/>
                        </a:rPr>
                        <a:t>Item</a:t>
                      </a:r>
                    </a:p>
                  </a:txBody>
                  <a:tcPr marL="0" marR="0" marT="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00"/>
                    </a:solidFill>
                  </a:tcPr>
                </a:tc>
                <a:tc>
                  <a:txBody>
                    <a:bodyPr/>
                    <a:lstStyle/>
                    <a:p>
                      <a:pPr marL="91440" indent="0" algn="l" rtl="0" fontAlgn="ctr">
                        <a:buNone/>
                      </a:pPr>
                      <a:r>
                        <a:rPr lang="en-US" sz="1100" b="1" i="0" u="none" strike="noStrike">
                          <a:solidFill>
                            <a:srgbClr val="FFFFFF"/>
                          </a:solidFill>
                          <a:effectLst/>
                          <a:latin typeface="Arial" panose="020B0604020202020204" pitchFamily="34" charset="0"/>
                        </a:rPr>
                        <a:t>Action</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0000"/>
                    </a:solidFill>
                  </a:tcPr>
                </a:tc>
                <a:extLst>
                  <a:ext uri="{0D108BD9-81ED-4DB2-BD59-A6C34878D82A}">
                    <a16:rowId xmlns:a16="http://schemas.microsoft.com/office/drawing/2014/main" val="3784365716"/>
                  </a:ext>
                </a:extLst>
              </a:tr>
              <a:tr h="223182">
                <a:tc>
                  <a:txBody>
                    <a:bodyPr/>
                    <a:lstStyle/>
                    <a:p>
                      <a:pPr marL="91440" indent="0" algn="l" rtl="0" fontAlgn="ctr">
                        <a:buNone/>
                      </a:pPr>
                      <a:r>
                        <a:rPr lang="en-US" sz="1100" b="1" i="0" u="none" strike="noStrike">
                          <a:solidFill>
                            <a:sysClr val="windowText" lastClr="000000"/>
                          </a:solidFill>
                          <a:effectLst/>
                          <a:latin typeface="Arial" panose="020B0604020202020204" pitchFamily="34" charset="0"/>
                        </a:rPr>
                        <a:t>Write-offs / asset impairment / facility closure / obsolete inventory</a:t>
                      </a:r>
                    </a:p>
                  </a:txBody>
                  <a:tcPr marL="0" marR="0" marT="0" marB="0" anchor="ctr">
                    <a:lnL w="1270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91440" indent="0" algn="l" rtl="0" fontAlgn="ctr">
                        <a:buNone/>
                      </a:pPr>
                      <a:r>
                        <a:rPr lang="en-US" sz="1100" b="0" i="0" u="none" strike="noStrike">
                          <a:solidFill>
                            <a:sysClr val="windowText" lastClr="000000"/>
                          </a:solidFill>
                          <a:effectLst/>
                          <a:latin typeface="Arial" panose="020B0604020202020204" pitchFamily="34" charset="0"/>
                        </a:rPr>
                        <a:t>Adjust out</a:t>
                      </a:r>
                    </a:p>
                  </a:txBody>
                  <a:tcPr marL="0" marR="0" marT="0" marB="0" anchor="ctr">
                    <a:lnL>
                      <a:noFill/>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651672"/>
                  </a:ext>
                </a:extLst>
              </a:tr>
              <a:tr h="223182">
                <a:tc>
                  <a:txBody>
                    <a:bodyPr/>
                    <a:lstStyle/>
                    <a:p>
                      <a:pPr marL="91440" indent="0" algn="l" rtl="0" fontAlgn="ctr">
                        <a:buNone/>
                      </a:pPr>
                      <a:r>
                        <a:rPr lang="en-US" sz="1100" b="1" i="0" u="none" strike="noStrike">
                          <a:solidFill>
                            <a:srgbClr val="000000"/>
                          </a:solidFill>
                          <a:effectLst/>
                          <a:latin typeface="Arial" panose="020B0604020202020204" pitchFamily="34" charset="0"/>
                        </a:rPr>
                        <a:t>Restructuring costs / severance</a:t>
                      </a:r>
                    </a:p>
                  </a:txBody>
                  <a:tcPr marL="0" marR="0" marT="0" marB="0" anchor="ctr">
                    <a:lnL w="12700" cap="flat" cmpd="sng" algn="ctr">
                      <a:solidFill>
                        <a:schemeClr val="tx1"/>
                      </a:solidFill>
                      <a:prstDash val="solid"/>
                      <a:round/>
                      <a:headEnd type="none" w="med" len="med"/>
                      <a:tailEnd type="none" w="med" len="med"/>
                    </a:lnL>
                    <a:lnR>
                      <a:noFill/>
                    </a:lnR>
                    <a:lnT w="6350" cap="flat" cmpd="sng" algn="ctr">
                      <a:solidFill>
                        <a:schemeClr val="accent1"/>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chemeClr val="tx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86360750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Litigation / settlements / legal accruals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98839204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Credit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 unless related to operations (e.g., companies that extend credit cards / financing)</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95973809"/>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Stock-based compensation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Usually included, unless technology sector (or client excludes)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186016814"/>
                  </a:ext>
                </a:extLst>
              </a:tr>
              <a:tr h="374096">
                <a:tc>
                  <a:txBody>
                    <a:bodyPr/>
                    <a:lstStyle/>
                    <a:p>
                      <a:pPr marL="91440" indent="0" algn="l" rtl="0" fontAlgn="ctr">
                        <a:buNone/>
                      </a:pPr>
                      <a:r>
                        <a:rPr lang="en-US" sz="1100" b="1" i="0" u="none" strike="noStrike">
                          <a:solidFill>
                            <a:srgbClr val="000000"/>
                          </a:solidFill>
                          <a:effectLst/>
                          <a:latin typeface="Arial" panose="020B0604020202020204" pitchFamily="34" charset="0"/>
                        </a:rPr>
                        <a:t>Acquisition-related costs / transaction fees / business combination</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771085580"/>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Net gain on asset disposal</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619192464"/>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Provision for bad debt /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657888057"/>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Reduction in contingent liability</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572642196"/>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Casualty reserve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155001518"/>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Amortization of </a:t>
                      </a:r>
                      <a:r>
                        <a:rPr lang="en-US" sz="1100" b="1" i="0" u="sng" strike="noStrike">
                          <a:solidFill>
                            <a:srgbClr val="000000"/>
                          </a:solidFill>
                          <a:effectLst/>
                          <a:latin typeface="Arial" panose="020B0604020202020204" pitchFamily="34" charset="0"/>
                        </a:rPr>
                        <a:t>acquired</a:t>
                      </a:r>
                      <a:r>
                        <a:rPr lang="en-US" sz="1100" b="1" i="0" u="none" strike="noStrike">
                          <a:solidFill>
                            <a:srgbClr val="000000"/>
                          </a:solidFill>
                          <a:effectLst/>
                          <a:latin typeface="Arial" panose="020B0604020202020204" pitchFamily="34" charset="0"/>
                        </a:rPr>
                        <a:t> intangibles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 </a:t>
                      </a:r>
                      <a:r>
                        <a:rPr lang="en-US" sz="1100" b="0" i="1" u="none" strike="noStrike">
                          <a:solidFill>
                            <a:srgbClr val="000000"/>
                          </a:solidFill>
                          <a:effectLst/>
                          <a:latin typeface="Arial" panose="020B0604020202020204" pitchFamily="34" charset="0"/>
                        </a:rPr>
                        <a:t>ONLY IF ASSOCIATED WITH ACQUISITIONS</a:t>
                      </a:r>
                      <a:endParaRPr lang="en-US" sz="1100" b="0" i="0" u="none" strike="noStrike">
                        <a:solidFill>
                          <a:srgbClr val="000000"/>
                        </a:solidFill>
                        <a:effectLst/>
                        <a:latin typeface="Arial" panose="020B0604020202020204" pitchFamily="34" charset="0"/>
                      </a:endParaRP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849587125"/>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Change in fair value of deferred earnout</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723242809"/>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COVID-19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723530919"/>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Derivatives / hedging (usually under Other </a:t>
                      </a:r>
                      <a:r>
                        <a:rPr lang="en-US" sz="1100" b="1" i="0" u="none" strike="noStrike" err="1">
                          <a:solidFill>
                            <a:srgbClr val="000000"/>
                          </a:solidFill>
                          <a:effectLst/>
                          <a:latin typeface="Arial" panose="020B0604020202020204" pitchFamily="34" charset="0"/>
                        </a:rPr>
                        <a:t>OpEx</a:t>
                      </a:r>
                      <a:r>
                        <a:rPr lang="en-US" sz="1100" b="1" i="0" u="none" strike="noStrike">
                          <a:solidFill>
                            <a:srgbClr val="000000"/>
                          </a:solidFill>
                          <a:effectLst/>
                          <a:latin typeface="Arial" panose="020B0604020202020204" pitchFamily="34" charset="0"/>
                        </a:rPr>
                        <a:t>)</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 (watch out for utilities or oil/gas where it might be more common)</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109589347"/>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Russia / Ukraine costs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1785252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Foreign currency losses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Keep in</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570025005"/>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Gain on sale of PPE</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163271522"/>
                  </a:ext>
                </a:extLst>
              </a:tr>
              <a:tr h="223182">
                <a:tc>
                  <a:txBody>
                    <a:bodyPr/>
                    <a:lstStyle/>
                    <a:p>
                      <a:pPr marL="91440" indent="0" algn="l" rtl="0" fontAlgn="ctr">
                        <a:buNone/>
                      </a:pPr>
                      <a:r>
                        <a:rPr lang="en-US" sz="1100" b="1" i="0" u="none" strike="noStrike">
                          <a:solidFill>
                            <a:srgbClr val="000000"/>
                          </a:solidFill>
                          <a:effectLst/>
                          <a:latin typeface="Arial" panose="020B0604020202020204" pitchFamily="34" charset="0"/>
                        </a:rPr>
                        <a:t>D&amp;A on cash flow sheet and income statement does not match</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Difference in D&amp;A should be adjusted out/in of relevant cost bucket if needed (usually COGS)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401037871"/>
                  </a:ext>
                </a:extLst>
              </a:tr>
              <a:tr h="212554">
                <a:tc>
                  <a:txBody>
                    <a:bodyPr/>
                    <a:lstStyle/>
                    <a:p>
                      <a:pPr marL="91440" indent="0" algn="l" rtl="0" fontAlgn="ctr">
                        <a:buNone/>
                      </a:pPr>
                      <a:r>
                        <a:rPr lang="en-US" sz="1100" b="1" i="0" u="none" strike="noStrike">
                          <a:solidFill>
                            <a:srgbClr val="000000"/>
                          </a:solidFill>
                          <a:effectLst/>
                          <a:latin typeface="Arial" panose="020B0604020202020204" pitchFamily="34" charset="0"/>
                        </a:rPr>
                        <a:t>Purchase price allocation / pro forma adjustments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Adjust out</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6350" cap="flat" cmpd="sng" algn="ctr">
                      <a:solidFill>
                        <a:srgbClr val="B4B4B4"/>
                      </a:solidFill>
                      <a:prstDash val="solid"/>
                      <a:round/>
                      <a:headEnd type="none" w="med" len="med"/>
                      <a:tailEnd type="none" w="med" len="med"/>
                    </a:lnB>
                    <a:noFill/>
                  </a:tcPr>
                </a:tc>
                <a:extLst>
                  <a:ext uri="{0D108BD9-81ED-4DB2-BD59-A6C34878D82A}">
                    <a16:rowId xmlns:a16="http://schemas.microsoft.com/office/drawing/2014/main" val="3494880500"/>
                  </a:ext>
                </a:extLst>
              </a:tr>
              <a:tr h="223182">
                <a:tc>
                  <a:txBody>
                    <a:bodyPr/>
                    <a:lstStyle/>
                    <a:p>
                      <a:pPr marL="91440" indent="0" algn="l" rtl="0" fontAlgn="ctr">
                        <a:buNone/>
                      </a:pPr>
                      <a:r>
                        <a:rPr lang="en-US" sz="1100" b="1" i="0" u="none" strike="noStrike">
                          <a:solidFill>
                            <a:srgbClr val="000000"/>
                          </a:solidFill>
                          <a:effectLst/>
                          <a:latin typeface="Arial" panose="020B0604020202020204" pitchFamily="34" charset="0"/>
                        </a:rPr>
                        <a:t>Pro forma financials</a:t>
                      </a:r>
                    </a:p>
                  </a:txBody>
                  <a:tcPr marL="0" marR="0" marT="0" marB="0" anchor="ctr">
                    <a:lnL w="12700" cap="flat" cmpd="sng" algn="ctr">
                      <a:solidFill>
                        <a:srgbClr val="000000"/>
                      </a:solidFill>
                      <a:prstDash val="solid"/>
                      <a:round/>
                      <a:headEnd type="none" w="med" len="med"/>
                      <a:tailEnd type="none" w="med" len="med"/>
                    </a:lnL>
                    <a:lnR>
                      <a:noFill/>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91440" indent="0" algn="l" rtl="0" fontAlgn="ctr">
                        <a:buNone/>
                      </a:pPr>
                      <a:r>
                        <a:rPr lang="en-US" sz="1100" b="0" i="0" u="none" strike="noStrike">
                          <a:solidFill>
                            <a:srgbClr val="000000"/>
                          </a:solidFill>
                          <a:effectLst/>
                          <a:latin typeface="Arial" panose="020B0604020202020204" pitchFamily="34" charset="0"/>
                        </a:rPr>
                        <a:t>Okay to use pro forma financials for merger cases</a:t>
                      </a:r>
                    </a:p>
                  </a:txBody>
                  <a:tcPr marL="0" marR="0" marT="0" marB="0" anchor="ctr">
                    <a:lnL>
                      <a:noFill/>
                    </a:lnL>
                    <a:lnR w="12700" cap="flat" cmpd="sng" algn="ctr">
                      <a:solidFill>
                        <a:srgbClr val="000000"/>
                      </a:solidFill>
                      <a:prstDash val="solid"/>
                      <a:round/>
                      <a:headEnd type="none" w="med" len="med"/>
                      <a:tailEnd type="none" w="med" len="med"/>
                    </a:lnR>
                    <a:lnT w="6350" cap="flat" cmpd="sng" algn="ctr">
                      <a:solidFill>
                        <a:srgbClr val="B4B4B4"/>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5113295"/>
                  </a:ext>
                </a:extLst>
              </a:tr>
            </a:tbl>
          </a:graphicData>
        </a:graphic>
      </p:graphicFrame>
      <p:grpSp>
        <p:nvGrpSpPr>
          <p:cNvPr id="25" name="btfpColumnHeaderBox686182">
            <a:extLst>
              <a:ext uri="{FF2B5EF4-FFF2-40B4-BE49-F238E27FC236}">
                <a16:creationId xmlns:a16="http://schemas.microsoft.com/office/drawing/2014/main" id="{6F027258-4084-D88E-F790-9D379A178BA3}"/>
              </a:ext>
            </a:extLst>
          </p:cNvPr>
          <p:cNvGrpSpPr/>
          <p:nvPr>
            <p:custDataLst>
              <p:tags r:id="rId3"/>
            </p:custDataLst>
          </p:nvPr>
        </p:nvGrpSpPr>
        <p:grpSpPr>
          <a:xfrm>
            <a:off x="330200" y="1285461"/>
            <a:ext cx="11531599" cy="318997"/>
            <a:chOff x="4354248" y="1502208"/>
            <a:chExt cx="3483504" cy="318997"/>
          </a:xfrm>
        </p:grpSpPr>
        <p:sp>
          <p:nvSpPr>
            <p:cNvPr id="26" name="btfpColumnHeaderBoxText686182">
              <a:extLst>
                <a:ext uri="{FF2B5EF4-FFF2-40B4-BE49-F238E27FC236}">
                  <a16:creationId xmlns:a16="http://schemas.microsoft.com/office/drawing/2014/main" id="{09C69F4F-70CC-7AE2-155C-3944BDC8EC66}"/>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Guidance for adjusting non-recurring line items</a:t>
              </a:r>
            </a:p>
          </p:txBody>
        </p:sp>
        <p:cxnSp>
          <p:nvCxnSpPr>
            <p:cNvPr id="27" name="btfpColumnHeaderBoxLine686182">
              <a:extLst>
                <a:ext uri="{FF2B5EF4-FFF2-40B4-BE49-F238E27FC236}">
                  <a16:creationId xmlns:a16="http://schemas.microsoft.com/office/drawing/2014/main" id="{B629B4D9-CC4A-7C86-4C53-43C96BFF4758}"/>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14" name="btfpRunningAgenda1Level747472">
            <a:extLst>
              <a:ext uri="{FF2B5EF4-FFF2-40B4-BE49-F238E27FC236}">
                <a16:creationId xmlns:a16="http://schemas.microsoft.com/office/drawing/2014/main" id="{CDAB6BCD-74E6-FDCE-E9C2-AE62C8B0FDFE}"/>
              </a:ext>
            </a:extLst>
          </p:cNvPr>
          <p:cNvGrpSpPr/>
          <p:nvPr>
            <p:custDataLst>
              <p:tags r:id="rId4"/>
            </p:custDataLst>
          </p:nvPr>
        </p:nvGrpSpPr>
        <p:grpSpPr>
          <a:xfrm>
            <a:off x="0" y="944429"/>
            <a:ext cx="1779142" cy="257442"/>
            <a:chOff x="0" y="876300"/>
            <a:chExt cx="1779142" cy="257442"/>
          </a:xfrm>
        </p:grpSpPr>
        <p:sp>
          <p:nvSpPr>
            <p:cNvPr id="19" name="btfpRunningAgenda1LevelBarLeft747472">
              <a:extLst>
                <a:ext uri="{FF2B5EF4-FFF2-40B4-BE49-F238E27FC236}">
                  <a16:creationId xmlns:a16="http://schemas.microsoft.com/office/drawing/2014/main" id="{6668B7DE-4F3E-F8D5-1BBC-C9FFBC80B979}"/>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0" name="btfpRunningAgenda1LevelTextLeft747472">
              <a:extLst>
                <a:ext uri="{FF2B5EF4-FFF2-40B4-BE49-F238E27FC236}">
                  <a16:creationId xmlns:a16="http://schemas.microsoft.com/office/drawing/2014/main" id="{CFF2FFA2-D5F1-5723-A503-A6336DA3E1E7}"/>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2</a:t>
              </a:r>
            </a:p>
          </p:txBody>
        </p:sp>
      </p:grpSp>
    </p:spTree>
    <p:custDataLst>
      <p:tags r:id="rId1"/>
    </p:custDataLst>
    <p:extLst>
      <p:ext uri="{BB962C8B-B14F-4D97-AF65-F5344CB8AC3E}">
        <p14:creationId xmlns:p14="http://schemas.microsoft.com/office/powerpoint/2010/main" val="1837357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3252564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606" imgH="608" progId="TCLayout.ActiveDocument.1">
                  <p:embed/>
                </p:oleObj>
              </mc:Choice>
              <mc:Fallback>
                <p:oleObj name="think-cell Slide" r:id="rId7"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b="1"/>
              <a:t> </a:t>
            </a:r>
            <a:r>
              <a:rPr lang="en-US"/>
              <a:t>Introduction</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sp>
        <p:nvSpPr>
          <p:cNvPr id="5" name="btfpBulletedList430166">
            <a:extLst>
              <a:ext uri="{FF2B5EF4-FFF2-40B4-BE49-F238E27FC236}">
                <a16:creationId xmlns:a16="http://schemas.microsoft.com/office/drawing/2014/main" id="{0385EB76-0384-506E-79F0-DF184AF9FEC4}"/>
              </a:ext>
            </a:extLst>
          </p:cNvPr>
          <p:cNvSpPr txBox="1"/>
          <p:nvPr>
            <p:custDataLst>
              <p:tags r:id="rId3"/>
            </p:custDataLst>
          </p:nvPr>
        </p:nvSpPr>
        <p:spPr bwMode="gray">
          <a:xfrm>
            <a:off x="325438" y="1595183"/>
            <a:ext cx="11531600" cy="2142501"/>
          </a:xfrm>
          <a:prstGeom prst="rect">
            <a:avLst/>
          </a:prstGeom>
          <a:noFill/>
        </p:spPr>
        <p:txBody>
          <a:bodyPr vert="horz" wrap="square" lIns="36000" tIns="36000" rIns="36000" bIns="36000" rtlCol="0">
            <a:spAutoFit/>
          </a:bodyPr>
          <a:lstStyle/>
          <a:p>
            <a:pPr>
              <a:spcBef>
                <a:spcPts val="900"/>
              </a:spcBef>
              <a:defRPr/>
            </a:pPr>
            <a:r>
              <a:rPr lang="en-US">
                <a:solidFill>
                  <a:srgbClr val="000000"/>
                </a:solidFill>
              </a:rPr>
              <a:t>Savings identification is a </a:t>
            </a:r>
            <a:r>
              <a:rPr lang="en-US" b="1">
                <a:solidFill>
                  <a:srgbClr val="000000"/>
                </a:solidFill>
              </a:rPr>
              <a:t>critical step </a:t>
            </a:r>
            <a:r>
              <a:rPr lang="en-US">
                <a:solidFill>
                  <a:srgbClr val="000000"/>
                </a:solidFill>
              </a:rPr>
              <a:t>in uncovering </a:t>
            </a:r>
            <a:r>
              <a:rPr lang="en-US" b="1">
                <a:solidFill>
                  <a:srgbClr val="000000"/>
                </a:solidFill>
              </a:rPr>
              <a:t>optimization opportunities </a:t>
            </a:r>
            <a:r>
              <a:rPr lang="en-US">
                <a:solidFill>
                  <a:srgbClr val="000000"/>
                </a:solidFill>
              </a:rPr>
              <a:t>across the cost bar and net working capital </a:t>
            </a:r>
          </a:p>
          <a:p>
            <a:pPr>
              <a:spcBef>
                <a:spcPts val="900"/>
              </a:spcBef>
              <a:defRPr/>
            </a:pPr>
            <a:r>
              <a:rPr lang="en-US">
                <a:solidFill>
                  <a:srgbClr val="000000"/>
                </a:solidFill>
              </a:rPr>
              <a:t>To size the value-at-stake opportunity for the target company, we compare its </a:t>
            </a:r>
            <a:r>
              <a:rPr lang="en-US" b="1">
                <a:solidFill>
                  <a:srgbClr val="000000"/>
                </a:solidFill>
              </a:rPr>
              <a:t>performance on each metric against benchmarks for comparable peers </a:t>
            </a:r>
            <a:r>
              <a:rPr lang="en-US">
                <a:solidFill>
                  <a:srgbClr val="000000"/>
                </a:solidFill>
              </a:rPr>
              <a:t>(typically, but not always, median and top quartile)</a:t>
            </a:r>
            <a:endParaRPr lang="en-US" b="1">
              <a:solidFill>
                <a:srgbClr val="000000"/>
              </a:solidFill>
            </a:endParaRPr>
          </a:p>
          <a:p>
            <a:pPr>
              <a:spcBef>
                <a:spcPts val="900"/>
              </a:spcBef>
              <a:defRPr/>
            </a:pPr>
            <a:r>
              <a:rPr lang="en-US">
                <a:solidFill>
                  <a:srgbClr val="000000"/>
                </a:solidFill>
              </a:rPr>
              <a:t>Based on these benchmarks, as well as Bain’s internal experience in a given sector, we </a:t>
            </a:r>
            <a:r>
              <a:rPr lang="en-US" b="1">
                <a:solidFill>
                  <a:srgbClr val="000000"/>
                </a:solidFill>
              </a:rPr>
              <a:t>triangulate a size of prize across 4 core areas</a:t>
            </a:r>
            <a:r>
              <a:rPr lang="en-US">
                <a:solidFill>
                  <a:srgbClr val="000000"/>
                </a:solidFill>
              </a:rPr>
              <a:t>: shareholder returns, topline growth, cost, and net working capital</a:t>
            </a:r>
          </a:p>
          <a:p>
            <a:pPr>
              <a:spcBef>
                <a:spcPts val="900"/>
              </a:spcBef>
              <a:defRPr/>
            </a:pPr>
            <a:r>
              <a:rPr lang="en-US"/>
              <a:t>This analysis serves as a key input for the </a:t>
            </a:r>
            <a:r>
              <a:rPr lang="en-US" b="1"/>
              <a:t>partner/account team</a:t>
            </a:r>
            <a:r>
              <a:rPr lang="en-US"/>
              <a:t> to drive efficiency and cost transformation initiatives for prospective clients</a:t>
            </a:r>
          </a:p>
        </p:txBody>
      </p:sp>
      <p:sp>
        <p:nvSpPr>
          <p:cNvPr id="42" name="btfpCallout243221">
            <a:extLst>
              <a:ext uri="{FF2B5EF4-FFF2-40B4-BE49-F238E27FC236}">
                <a16:creationId xmlns:a16="http://schemas.microsoft.com/office/drawing/2014/main" id="{26F32618-7E2E-8FEA-5D1E-2689716AB450}"/>
              </a:ext>
            </a:extLst>
          </p:cNvPr>
          <p:cNvSpPr/>
          <p:nvPr/>
        </p:nvSpPr>
        <p:spPr bwMode="gray">
          <a:xfrm>
            <a:off x="5924640" y="4319238"/>
            <a:ext cx="3365664" cy="1270000"/>
          </a:xfrm>
          <a:prstGeom prst="wedgeRectCallout">
            <a:avLst>
              <a:gd name="adj1" fmla="val -69973"/>
              <a:gd name="adj2" fmla="val 15273"/>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200">
                <a:solidFill>
                  <a:srgbClr val="5C5C5C"/>
                </a:solidFill>
              </a:rPr>
              <a:t>Example Cost Savings Summary (for Travis Perkins), which showcases the target’s current performance across core cost &amp; net working capital metrics and recommends a size of prize based on peer benchmarks and Bain experience</a:t>
            </a:r>
          </a:p>
        </p:txBody>
      </p:sp>
      <p:sp>
        <p:nvSpPr>
          <p:cNvPr id="14" name="btfpNumberBubble557534">
            <a:extLst>
              <a:ext uri="{FF2B5EF4-FFF2-40B4-BE49-F238E27FC236}">
                <a16:creationId xmlns:a16="http://schemas.microsoft.com/office/drawing/2014/main" id="{5D4DEDCF-E42A-08CD-2B13-4794CFECBCA2}"/>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grpSp>
        <p:nvGrpSpPr>
          <p:cNvPr id="15" name="btfpColumnHeaderBox686182">
            <a:extLst>
              <a:ext uri="{FF2B5EF4-FFF2-40B4-BE49-F238E27FC236}">
                <a16:creationId xmlns:a16="http://schemas.microsoft.com/office/drawing/2014/main" id="{9592B3A1-8ADD-621C-85C7-26268D477E71}"/>
              </a:ext>
            </a:extLst>
          </p:cNvPr>
          <p:cNvGrpSpPr/>
          <p:nvPr>
            <p:custDataLst>
              <p:tags r:id="rId4"/>
            </p:custDataLst>
          </p:nvPr>
        </p:nvGrpSpPr>
        <p:grpSpPr>
          <a:xfrm>
            <a:off x="417614" y="1268762"/>
            <a:ext cx="11444186" cy="318997"/>
            <a:chOff x="4354248" y="1502208"/>
            <a:chExt cx="3483504" cy="318997"/>
          </a:xfrm>
        </p:grpSpPr>
        <p:sp>
          <p:nvSpPr>
            <p:cNvPr id="16" name="btfpColumnHeaderBoxText686182">
              <a:extLst>
                <a:ext uri="{FF2B5EF4-FFF2-40B4-BE49-F238E27FC236}">
                  <a16:creationId xmlns:a16="http://schemas.microsoft.com/office/drawing/2014/main" id="{8D015C68-89FD-CC6C-4F32-3153ADC8EFD2}"/>
                </a:ext>
              </a:extLst>
            </p:cNvPr>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b="1">
                  <a:solidFill>
                    <a:srgbClr val="000000"/>
                  </a:solidFill>
                </a:rPr>
                <a:t>Overview</a:t>
              </a:r>
              <a:endParaRPr lang="en-US" sz="1600" b="1">
                <a:solidFill>
                  <a:srgbClr val="000000"/>
                </a:solidFill>
              </a:endParaRPr>
            </a:p>
          </p:txBody>
        </p:sp>
        <p:cxnSp>
          <p:nvCxnSpPr>
            <p:cNvPr id="17" name="btfpColumnHeaderBoxLine686182">
              <a:extLst>
                <a:ext uri="{FF2B5EF4-FFF2-40B4-BE49-F238E27FC236}">
                  <a16:creationId xmlns:a16="http://schemas.microsoft.com/office/drawing/2014/main" id="{08ED5AF1-1E8A-3E9C-B621-A2D344F3CA10}"/>
                </a:ext>
              </a:extLst>
            </p:cNvPr>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pic>
        <p:nvPicPr>
          <p:cNvPr id="31" name="Picture 30">
            <a:extLst>
              <a:ext uri="{FF2B5EF4-FFF2-40B4-BE49-F238E27FC236}">
                <a16:creationId xmlns:a16="http://schemas.microsoft.com/office/drawing/2014/main" id="{716A4589-73FF-07B3-2EC1-EF900493CA34}"/>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325438" y="3863600"/>
            <a:ext cx="4682547" cy="2633932"/>
          </a:xfrm>
          <a:prstGeom prst="rect">
            <a:avLst/>
          </a:prstGeom>
        </p:spPr>
      </p:pic>
      <p:grpSp>
        <p:nvGrpSpPr>
          <p:cNvPr id="7" name="btfpRunningAgenda1Level747472">
            <a:extLst>
              <a:ext uri="{FF2B5EF4-FFF2-40B4-BE49-F238E27FC236}">
                <a16:creationId xmlns:a16="http://schemas.microsoft.com/office/drawing/2014/main" id="{8BC15B13-8C87-6819-ECBB-C201EDE2C0E9}"/>
              </a:ext>
            </a:extLst>
          </p:cNvPr>
          <p:cNvGrpSpPr/>
          <p:nvPr>
            <p:custDataLst>
              <p:tags r:id="rId5"/>
            </p:custDataLst>
          </p:nvPr>
        </p:nvGrpSpPr>
        <p:grpSpPr>
          <a:xfrm>
            <a:off x="0" y="944429"/>
            <a:ext cx="1779142" cy="257442"/>
            <a:chOff x="0" y="876300"/>
            <a:chExt cx="1779142" cy="257442"/>
          </a:xfrm>
        </p:grpSpPr>
        <p:sp>
          <p:nvSpPr>
            <p:cNvPr id="9" name="btfpRunningAgenda1LevelBarLeft747472">
              <a:extLst>
                <a:ext uri="{FF2B5EF4-FFF2-40B4-BE49-F238E27FC236}">
                  <a16:creationId xmlns:a16="http://schemas.microsoft.com/office/drawing/2014/main" id="{F21CEA49-A46A-9D09-3090-8599DD0922A2}"/>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unningAgenda1LevelTextLeft747472">
              <a:extLst>
                <a:ext uri="{FF2B5EF4-FFF2-40B4-BE49-F238E27FC236}">
                  <a16:creationId xmlns:a16="http://schemas.microsoft.com/office/drawing/2014/main" id="{0A092CB8-7756-5D0C-47D1-0D33D3A2A365}"/>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Tree>
    <p:custDataLst>
      <p:tags r:id="rId1"/>
    </p:custDataLst>
    <p:extLst>
      <p:ext uri="{BB962C8B-B14F-4D97-AF65-F5344CB8AC3E}">
        <p14:creationId xmlns:p14="http://schemas.microsoft.com/office/powerpoint/2010/main" val="33655474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F9F4BE31-F268-5016-5509-D407AD21111E}"/>
              </a:ext>
            </a:extLst>
          </p:cNvPr>
          <p:cNvGraphicFramePr>
            <a:graphicFrameLocks/>
          </p:cNvGraphicFramePr>
          <p:nvPr>
            <p:custDataLst>
              <p:tags r:id="rId2"/>
            </p:custDataLst>
            <p:extLst>
              <p:ext uri="{D42A27DB-BD31-4B8C-83A1-F6EECF244321}">
                <p14:modId xmlns:p14="http://schemas.microsoft.com/office/powerpoint/2010/main" val="4074101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84" imgH="486" progId="TCLayout.ActiveDocument.1">
                  <p:embed/>
                </p:oleObj>
              </mc:Choice>
              <mc:Fallback>
                <p:oleObj name="think-cell Slide" r:id="rId7" imgW="484" imgH="486" progId="TCLayout.ActiveDocument.1">
                  <p:embed/>
                  <p:pic>
                    <p:nvPicPr>
                      <p:cNvPr id="23" name="think-cell data - do not delete" hidden="1">
                        <a:extLst>
                          <a:ext uri="{FF2B5EF4-FFF2-40B4-BE49-F238E27FC236}">
                            <a16:creationId xmlns:a16="http://schemas.microsoft.com/office/drawing/2014/main" id="{F9F4BE31-F268-5016-5509-D407AD21111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21" name="btfpColumnIndicatorGroup2">
            <a:extLst>
              <a:ext uri="{FF2B5EF4-FFF2-40B4-BE49-F238E27FC236}">
                <a16:creationId xmlns:a16="http://schemas.microsoft.com/office/drawing/2014/main" id="{92D398F4-1F29-4E14-B528-7C7A642DD441}"/>
              </a:ext>
            </a:extLst>
          </p:cNvPr>
          <p:cNvGrpSpPr/>
          <p:nvPr/>
        </p:nvGrpSpPr>
        <p:grpSpPr>
          <a:xfrm>
            <a:off x="0" y="6926580"/>
            <a:ext cx="12192000" cy="137160"/>
            <a:chOff x="0" y="6926580"/>
            <a:chExt cx="12192000" cy="137160"/>
          </a:xfrm>
        </p:grpSpPr>
        <p:sp>
          <p:nvSpPr>
            <p:cNvPr id="17" name="btfpColumnGapBlocker280406">
              <a:extLst>
                <a:ext uri="{FF2B5EF4-FFF2-40B4-BE49-F238E27FC236}">
                  <a16:creationId xmlns:a16="http://schemas.microsoft.com/office/drawing/2014/main" id="{95BE7D46-39BF-4A13-9388-F91C114C15F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844410">
              <a:extLst>
                <a:ext uri="{FF2B5EF4-FFF2-40B4-BE49-F238E27FC236}">
                  <a16:creationId xmlns:a16="http://schemas.microsoft.com/office/drawing/2014/main" id="{BD26EE87-E06D-4BB9-9D73-D01A7CCA77D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9" name="btfpColumnIndicator726070">
              <a:extLst>
                <a:ext uri="{FF2B5EF4-FFF2-40B4-BE49-F238E27FC236}">
                  <a16:creationId xmlns:a16="http://schemas.microsoft.com/office/drawing/2014/main" id="{A7C99079-39D1-45A0-9AA6-8D52BC964ECC}"/>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983706">
              <a:extLst>
                <a:ext uri="{FF2B5EF4-FFF2-40B4-BE49-F238E27FC236}">
                  <a16:creationId xmlns:a16="http://schemas.microsoft.com/office/drawing/2014/main" id="{681C53BA-8927-4860-A040-6C8FF766C098}"/>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9B461B99-F178-42E6-A2C8-2688F796089E}"/>
              </a:ext>
            </a:extLst>
          </p:cNvPr>
          <p:cNvGrpSpPr/>
          <p:nvPr/>
        </p:nvGrpSpPr>
        <p:grpSpPr>
          <a:xfrm>
            <a:off x="0" y="-205740"/>
            <a:ext cx="12192000" cy="137160"/>
            <a:chOff x="0" y="-205740"/>
            <a:chExt cx="12192000" cy="137160"/>
          </a:xfrm>
        </p:grpSpPr>
        <p:sp>
          <p:nvSpPr>
            <p:cNvPr id="14" name="btfpColumnGapBlocker400466">
              <a:extLst>
                <a:ext uri="{FF2B5EF4-FFF2-40B4-BE49-F238E27FC236}">
                  <a16:creationId xmlns:a16="http://schemas.microsoft.com/office/drawing/2014/main" id="{1090C0A3-79A5-499B-BEB7-54DF9E4231C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856706">
              <a:extLst>
                <a:ext uri="{FF2B5EF4-FFF2-40B4-BE49-F238E27FC236}">
                  <a16:creationId xmlns:a16="http://schemas.microsoft.com/office/drawing/2014/main" id="{F282D2EC-AE07-4E8B-921A-1F590870FDA8}"/>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277417">
              <a:extLst>
                <a:ext uri="{FF2B5EF4-FFF2-40B4-BE49-F238E27FC236}">
                  <a16:creationId xmlns:a16="http://schemas.microsoft.com/office/drawing/2014/main" id="{D3F2FDB1-64A1-405B-9775-6B02A34728CC}"/>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198336">
              <a:extLst>
                <a:ext uri="{FF2B5EF4-FFF2-40B4-BE49-F238E27FC236}">
                  <a16:creationId xmlns:a16="http://schemas.microsoft.com/office/drawing/2014/main" id="{0B63814D-90A7-4A5A-B218-178B8A477ED7}"/>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overall_0_132080267593530230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2257638431"/>
              </p:ext>
            </p:extLst>
          </p:nvPr>
        </p:nvGraphicFramePr>
        <p:xfrm>
          <a:off x="330199" y="1159813"/>
          <a:ext cx="11522070" cy="4095628"/>
        </p:xfrm>
        <a:graphic>
          <a:graphicData uri="http://schemas.openxmlformats.org/drawingml/2006/table">
            <a:tbl>
              <a:tblPr firstRow="1" firstCol="1">
                <a:tableStyleId>{9D7B26C5-4107-4FEC-AEDC-1716B250A1EF}</a:tableStyleId>
              </a:tblPr>
              <a:tblGrid>
                <a:gridCol w="472051">
                  <a:extLst>
                    <a:ext uri="{9D8B030D-6E8A-4147-A177-3AD203B41FA5}">
                      <a16:colId xmlns:a16="http://schemas.microsoft.com/office/drawing/2014/main" val="3215929653"/>
                    </a:ext>
                  </a:extLst>
                </a:gridCol>
                <a:gridCol w="420375">
                  <a:extLst>
                    <a:ext uri="{9D8B030D-6E8A-4147-A177-3AD203B41FA5}">
                      <a16:colId xmlns:a16="http://schemas.microsoft.com/office/drawing/2014/main" val="3863182739"/>
                    </a:ext>
                  </a:extLst>
                </a:gridCol>
                <a:gridCol w="2346667">
                  <a:extLst>
                    <a:ext uri="{9D8B030D-6E8A-4147-A177-3AD203B41FA5}">
                      <a16:colId xmlns:a16="http://schemas.microsoft.com/office/drawing/2014/main" val="3410592685"/>
                    </a:ext>
                  </a:extLst>
                </a:gridCol>
                <a:gridCol w="5915330">
                  <a:extLst>
                    <a:ext uri="{9D8B030D-6E8A-4147-A177-3AD203B41FA5}">
                      <a16:colId xmlns:a16="http://schemas.microsoft.com/office/drawing/2014/main" val="2818076346"/>
                    </a:ext>
                  </a:extLst>
                </a:gridCol>
                <a:gridCol w="1346717">
                  <a:extLst>
                    <a:ext uri="{9D8B030D-6E8A-4147-A177-3AD203B41FA5}">
                      <a16:colId xmlns:a16="http://schemas.microsoft.com/office/drawing/2014/main" val="3473590596"/>
                    </a:ext>
                  </a:extLst>
                </a:gridCol>
                <a:gridCol w="1020930">
                  <a:extLst>
                    <a:ext uri="{9D8B030D-6E8A-4147-A177-3AD203B41FA5}">
                      <a16:colId xmlns:a16="http://schemas.microsoft.com/office/drawing/2014/main" val="3350346648"/>
                    </a:ext>
                  </a:extLst>
                </a:gridCol>
              </a:tblGrid>
              <a:tr h="533242">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200"/>
                        <a:t>Action</a:t>
                      </a:r>
                    </a:p>
                  </a:txBody>
                  <a:tcPr anchor="b"/>
                </a:tc>
                <a:tc>
                  <a:txBody>
                    <a:bodyPr/>
                    <a:lstStyle/>
                    <a:p>
                      <a:pPr marL="0" indent="0">
                        <a:spcBef>
                          <a:spcPts val="0"/>
                        </a:spcBef>
                        <a:buFontTx/>
                        <a:buNone/>
                      </a:pPr>
                      <a:r>
                        <a:rPr lang="en-US" sz="1200"/>
                        <a:t>Description</a:t>
                      </a:r>
                    </a:p>
                  </a:txBody>
                  <a:tcPr anchor="b"/>
                </a:tc>
                <a:tc>
                  <a:txBody>
                    <a:bodyPr/>
                    <a:lstStyle/>
                    <a:p>
                      <a:pPr marL="0" indent="0">
                        <a:spcBef>
                          <a:spcPts val="0"/>
                        </a:spcBef>
                        <a:buFontTx/>
                        <a:buNone/>
                      </a:pPr>
                      <a:r>
                        <a:rPr lang="en-US" sz="1200"/>
                        <a:t>Est.</a:t>
                      </a:r>
                      <a:r>
                        <a:rPr lang="en-US" sz="1200" baseline="0"/>
                        <a:t> time allocation</a:t>
                      </a:r>
                      <a:endParaRPr lang="en-US" sz="1200"/>
                    </a:p>
                  </a:txBody>
                  <a:tcPr anchor="b"/>
                </a:tc>
                <a:tc>
                  <a:txBody>
                    <a:bodyPr/>
                    <a:lstStyle/>
                    <a:p>
                      <a:pPr marL="0" indent="0">
                        <a:spcBef>
                          <a:spcPts val="0"/>
                        </a:spcBef>
                        <a:buFontTx/>
                        <a:buNone/>
                      </a:pPr>
                      <a:r>
                        <a:rPr lang="en-US" sz="1200"/>
                        <a:t>Value</a:t>
                      </a:r>
                      <a:r>
                        <a:rPr lang="en-US" sz="1200" baseline="0"/>
                        <a:t> addition</a:t>
                      </a:r>
                      <a:endParaRPr lang="en-US" sz="1200"/>
                    </a:p>
                  </a:txBody>
                  <a:tcPr anchor="b"/>
                </a:tc>
                <a:extLst>
                  <a:ext uri="{0D108BD9-81ED-4DB2-BD59-A6C34878D82A}">
                    <a16:rowId xmlns:a16="http://schemas.microsoft.com/office/drawing/2014/main" val="2276346153"/>
                  </a:ext>
                </a:extLst>
              </a:tr>
              <a:tr h="1145052">
                <a:tc rowSpan="4">
                  <a:txBody>
                    <a:bodyPr/>
                    <a:lstStyle/>
                    <a:p>
                      <a:pPr marL="0" indent="0" algn="ctr">
                        <a:buFontTx/>
                        <a:buNone/>
                      </a:pPr>
                      <a:r>
                        <a:rPr lang="en-US" sz="1200" baseline="0"/>
                        <a:t>Savings Identification Process</a:t>
                      </a:r>
                      <a:endParaRPr lang="en-US" sz="1200"/>
                    </a:p>
                  </a:txBody>
                  <a:tcPr vert="vert270" anchor="ctr">
                    <a:solidFill>
                      <a:srgbClr val="EED6E5"/>
                    </a:solidFill>
                  </a:tcPr>
                </a:tc>
                <a:tc>
                  <a:txBody>
                    <a:bodyPr/>
                    <a:lstStyle/>
                    <a:p>
                      <a:pPr marL="0" indent="0">
                        <a:buFontTx/>
                        <a:buNone/>
                      </a:pPr>
                      <a:endParaRPr lang="en-US" sz="1200"/>
                    </a:p>
                  </a:txBody>
                  <a:tcPr/>
                </a:tc>
                <a:tc>
                  <a:txBody>
                    <a:bodyPr/>
                    <a:lstStyle/>
                    <a:p>
                      <a:pPr marL="0" indent="0">
                        <a:buFontTx/>
                        <a:buNone/>
                      </a:pPr>
                      <a:r>
                        <a:rPr lang="en-US" sz="1200" baseline="0"/>
                        <a:t>Research peer performance and trends</a:t>
                      </a:r>
                      <a:endParaRPr lang="en-US" sz="1200"/>
                    </a:p>
                  </a:txBody>
                  <a:tcPr anchor="ctr"/>
                </a:tc>
                <a:tc>
                  <a:txBody>
                    <a:bodyPr/>
                    <a:lstStyle/>
                    <a:p>
                      <a:pPr marL="0" indent="0">
                        <a:buFontTx/>
                        <a:buNone/>
                      </a:pPr>
                      <a:r>
                        <a:rPr lang="en-US" sz="1200"/>
                        <a:t>Flip through each page to identify and research key trends in the data; add call-outs to note the rationale behind industry-wide trends, outliers, and the target’s performance over time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1 hour</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3328002151"/>
                  </a:ext>
                </a:extLst>
              </a:tr>
              <a:tr h="1145052">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baseline="0"/>
                        <a:t>Assess value-at-stake </a:t>
                      </a:r>
                      <a:br>
                        <a:rPr lang="en-US" sz="1200" baseline="0"/>
                      </a:br>
                      <a:r>
                        <a:rPr lang="en-US" sz="1200" baseline="0"/>
                        <a:t>across core metrics</a:t>
                      </a:r>
                      <a:endParaRPr lang="en-US" sz="1200"/>
                    </a:p>
                  </a:txBody>
                  <a:tcPr anchor="ctr"/>
                </a:tc>
                <a:tc>
                  <a:txBody>
                    <a:bodyPr/>
                    <a:lstStyle/>
                    <a:p>
                      <a:pPr marL="0" indent="0">
                        <a:buFontTx/>
                        <a:buNone/>
                      </a:pPr>
                      <a:r>
                        <a:rPr lang="en-US" sz="1200"/>
                        <a:t>Calculate value-at-stake opportunity based on peer benchmarks across top-line growth, cost, and net working capital metrics; conduct research to inform value-at-stake recommendation (‘down arrow’) on each slide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1-2 hours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883383098"/>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a:t>Calculate Bain Experience savings potential</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200"/>
                        <a:t>Calculate savings potential</a:t>
                      </a:r>
                      <a:r>
                        <a:rPr lang="en-US" sz="1200" baseline="0"/>
                        <a:t> based on Bain Experience (cross check and validate with practice area, previous OIs, and industry benchmarks on IRIS)</a:t>
                      </a:r>
                      <a:endParaRPr lang="en-US" sz="1200"/>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836750479"/>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a:t>Deliver comprehensive value-at-stake recommendation</a:t>
                      </a:r>
                    </a:p>
                  </a:txBody>
                  <a:tcPr anchor="ctr"/>
                </a:tc>
                <a:tc>
                  <a:txBody>
                    <a:bodyPr/>
                    <a:lstStyle/>
                    <a:p>
                      <a:pPr marL="0" indent="0">
                        <a:buFontTx/>
                        <a:buNone/>
                      </a:pPr>
                      <a:r>
                        <a:rPr lang="en-US" sz="1200"/>
                        <a:t>Construct Cost Savings Summary &amp; overall value-at-stake recommendation based on peer benchmarking and Bain experience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598342951"/>
                  </a:ext>
                </a:extLst>
              </a:tr>
            </a:tbl>
          </a:graphicData>
        </a:graphic>
      </p:graphicFrame>
      <p:sp>
        <p:nvSpPr>
          <p:cNvPr id="8" name="btfpNumberBubble266422"/>
          <p:cNvSpPr/>
          <p:nvPr/>
        </p:nvSpPr>
        <p:spPr bwMode="gray">
          <a:xfrm>
            <a:off x="888507" y="2081991"/>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3a</a:t>
            </a:r>
          </a:p>
        </p:txBody>
      </p:sp>
      <p:sp>
        <p:nvSpPr>
          <p:cNvPr id="15" name="Rectangle 14"/>
          <p:cNvSpPr/>
          <p:nvPr/>
        </p:nvSpPr>
        <p:spPr bwMode="gray">
          <a:xfrm>
            <a:off x="58255" y="1726163"/>
            <a:ext cx="276708" cy="352927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3: </a:t>
            </a:r>
            <a:r>
              <a:rPr lang="en-US" sz="1100" b="1" i="1">
                <a:solidFill>
                  <a:schemeClr val="accent3"/>
                </a:solidFill>
              </a:rPr>
              <a:t>Savings identification Process</a:t>
            </a:r>
          </a:p>
        </p:txBody>
      </p:sp>
      <p:sp>
        <p:nvSpPr>
          <p:cNvPr id="25" name="btfpNumberBubble557534">
            <a:extLst>
              <a:ext uri="{FF2B5EF4-FFF2-40B4-BE49-F238E27FC236}">
                <a16:creationId xmlns:a16="http://schemas.microsoft.com/office/drawing/2014/main" id="{B019324E-9864-0C5E-F95B-A58BA51D2364}"/>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
        <p:nvSpPr>
          <p:cNvPr id="28" name="btfpNumberBubble266422">
            <a:extLst>
              <a:ext uri="{FF2B5EF4-FFF2-40B4-BE49-F238E27FC236}">
                <a16:creationId xmlns:a16="http://schemas.microsoft.com/office/drawing/2014/main" id="{23A0C876-06AE-0B32-62AE-E2DAA919C63C}"/>
              </a:ext>
            </a:extLst>
          </p:cNvPr>
          <p:cNvSpPr/>
          <p:nvPr/>
        </p:nvSpPr>
        <p:spPr bwMode="gray">
          <a:xfrm>
            <a:off x="888506" y="3244326"/>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3b</a:t>
            </a:r>
          </a:p>
        </p:txBody>
      </p:sp>
      <p:sp>
        <p:nvSpPr>
          <p:cNvPr id="31" name="btfpNumberBubble266422">
            <a:extLst>
              <a:ext uri="{FF2B5EF4-FFF2-40B4-BE49-F238E27FC236}">
                <a16:creationId xmlns:a16="http://schemas.microsoft.com/office/drawing/2014/main" id="{205AA83B-282F-94F9-D432-8E03A6D58810}"/>
              </a:ext>
            </a:extLst>
          </p:cNvPr>
          <p:cNvSpPr/>
          <p:nvPr/>
        </p:nvSpPr>
        <p:spPr bwMode="gray">
          <a:xfrm>
            <a:off x="888505" y="4131621"/>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3c</a:t>
            </a:r>
          </a:p>
        </p:txBody>
      </p:sp>
      <p:sp>
        <p:nvSpPr>
          <p:cNvPr id="32" name="btfpNumberBubble266422">
            <a:extLst>
              <a:ext uri="{FF2B5EF4-FFF2-40B4-BE49-F238E27FC236}">
                <a16:creationId xmlns:a16="http://schemas.microsoft.com/office/drawing/2014/main" id="{12995807-7B12-5056-87EC-5A2F39841828}"/>
              </a:ext>
            </a:extLst>
          </p:cNvPr>
          <p:cNvSpPr/>
          <p:nvPr/>
        </p:nvSpPr>
        <p:spPr bwMode="gray">
          <a:xfrm>
            <a:off x="886186" y="4755563"/>
            <a:ext cx="340817" cy="340817"/>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3d</a:t>
            </a:r>
          </a:p>
        </p:txBody>
      </p:sp>
      <p:grpSp>
        <p:nvGrpSpPr>
          <p:cNvPr id="11" name="btfpRunningAgenda1Level747472">
            <a:extLst>
              <a:ext uri="{FF2B5EF4-FFF2-40B4-BE49-F238E27FC236}">
                <a16:creationId xmlns:a16="http://schemas.microsoft.com/office/drawing/2014/main" id="{817B83B8-8CF6-5120-B098-613AA5DA03B6}"/>
              </a:ext>
            </a:extLst>
          </p:cNvPr>
          <p:cNvGrpSpPr/>
          <p:nvPr>
            <p:custDataLst>
              <p:tags r:id="rId4"/>
            </p:custDataLst>
          </p:nvPr>
        </p:nvGrpSpPr>
        <p:grpSpPr>
          <a:xfrm>
            <a:off x="0" y="944429"/>
            <a:ext cx="1779142" cy="257442"/>
            <a:chOff x="0" y="876300"/>
            <a:chExt cx="1779142" cy="257442"/>
          </a:xfrm>
        </p:grpSpPr>
        <p:sp>
          <p:nvSpPr>
            <p:cNvPr id="13" name="btfpRunningAgenda1LevelBarLeft747472">
              <a:extLst>
                <a:ext uri="{FF2B5EF4-FFF2-40B4-BE49-F238E27FC236}">
                  <a16:creationId xmlns:a16="http://schemas.microsoft.com/office/drawing/2014/main" id="{628E98AC-2C68-5778-E892-7B641DC68EA1}"/>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2" name="btfpRunningAgenda1LevelTextLeft747472">
              <a:extLst>
                <a:ext uri="{FF2B5EF4-FFF2-40B4-BE49-F238E27FC236}">
                  <a16:creationId xmlns:a16="http://schemas.microsoft.com/office/drawing/2014/main" id="{E266F85E-B932-A1F0-254D-61FBBC9EA4D1}"/>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Tree>
    <p:custDataLst>
      <p:tags r:id="rId1"/>
    </p:custDataLst>
    <p:extLst>
      <p:ext uri="{BB962C8B-B14F-4D97-AF65-F5344CB8AC3E}">
        <p14:creationId xmlns:p14="http://schemas.microsoft.com/office/powerpoint/2010/main" val="224048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4010444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Breakdown (1/5)</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43551758"/>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research peer performance and trends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1</a:t>
                      </a:r>
                    </a:p>
                  </a:txBody>
                  <a:tcPr vert="vert270" anchor="ctr">
                    <a:solidFill>
                      <a:srgbClr val="EED6E5"/>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Research peer performance &amp; trends</a:t>
                      </a:r>
                    </a:p>
                  </a:txBody>
                  <a:tcPr anchor="ctr"/>
                </a:tc>
                <a:tc>
                  <a:txBody>
                    <a:bodyPr/>
                    <a:lstStyle/>
                    <a:p>
                      <a:pPr>
                        <a:spcBef>
                          <a:spcPts val="1200"/>
                        </a:spcBef>
                      </a:pPr>
                      <a:r>
                        <a:rPr lang="en-US" sz="1100" b="0"/>
                        <a:t>Before sizing the value-at-stake opportunity across core OI metrics, it is important to research the industry, key events / shifts, and trends that are visible in the slides</a:t>
                      </a:r>
                    </a:p>
                    <a:p>
                      <a:pPr>
                        <a:spcBef>
                          <a:spcPts val="1200"/>
                        </a:spcBef>
                      </a:pPr>
                      <a:r>
                        <a:rPr lang="en-US" sz="1100" b="0"/>
                        <a:t>Leverage AI tools (see ‘Set up and collaboration’ section for more information), earnings reports / press releases, and online research to </a:t>
                      </a:r>
                      <a:r>
                        <a:rPr lang="en-US" sz="1100" b="1"/>
                        <a:t>understand trends and add call outs to slides</a:t>
                      </a:r>
                    </a:p>
                    <a:p>
                      <a:pPr>
                        <a:spcBef>
                          <a:spcPts val="1200"/>
                        </a:spcBef>
                      </a:pPr>
                      <a:r>
                        <a:rPr lang="en-US" sz="1100" b="0"/>
                        <a:t>It is not necessary to research every trend in every slide; focus on the trends that will be most answer-changing</a:t>
                      </a:r>
                      <a:endParaRPr lang="en-US" sz="900" b="0"/>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4956925" y="2592196"/>
            <a:ext cx="5298387" cy="2980343"/>
          </a:xfrm>
          <a:prstGeom prst="rect">
            <a:avLst/>
          </a:prstGeom>
        </p:spPr>
      </p:pic>
      <p:sp>
        <p:nvSpPr>
          <p:cNvPr id="7" name="btfpNumberBubble557534">
            <a:extLst>
              <a:ext uri="{FF2B5EF4-FFF2-40B4-BE49-F238E27FC236}">
                <a16:creationId xmlns:a16="http://schemas.microsoft.com/office/drawing/2014/main" id="{9009935B-8257-AFCA-32BB-1808A933A430}"/>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3a</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46" name="btfpCallout243221">
            <a:extLst>
              <a:ext uri="{FF2B5EF4-FFF2-40B4-BE49-F238E27FC236}">
                <a16:creationId xmlns:a16="http://schemas.microsoft.com/office/drawing/2014/main" id="{BEA0C3B3-6D14-B9D2-022F-7D600AAA72F4}"/>
              </a:ext>
            </a:extLst>
          </p:cNvPr>
          <p:cNvSpPr/>
          <p:nvPr/>
        </p:nvSpPr>
        <p:spPr bwMode="gray">
          <a:xfrm>
            <a:off x="10366310" y="2892493"/>
            <a:ext cx="1495489" cy="2680044"/>
          </a:xfrm>
          <a:prstGeom prst="wedgeRectCallout">
            <a:avLst>
              <a:gd name="adj1" fmla="val -66229"/>
              <a:gd name="adj2" fmla="val -24974"/>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In the Travis Perkins example, call-outs are added to explain why GM has decreased over time for the target as well as why certain peers are performing exceptionally well; researching these trends helps us </a:t>
            </a:r>
            <a:r>
              <a:rPr lang="en-US" sz="1000" b="1">
                <a:solidFill>
                  <a:srgbClr val="5C5C5C"/>
                </a:solidFill>
              </a:rPr>
              <a:t>understand whether the company’s worsening performance is truly addressable </a:t>
            </a:r>
            <a:r>
              <a:rPr lang="en-US" sz="1000">
                <a:solidFill>
                  <a:srgbClr val="5C5C5C"/>
                </a:solidFill>
              </a:rPr>
              <a:t>and highlights best practices from comparable peers</a:t>
            </a:r>
          </a:p>
        </p:txBody>
      </p:sp>
    </p:spTree>
    <p:custDataLst>
      <p:tags r:id="rId1"/>
    </p:custDataLst>
    <p:extLst>
      <p:ext uri="{BB962C8B-B14F-4D97-AF65-F5344CB8AC3E}">
        <p14:creationId xmlns:p14="http://schemas.microsoft.com/office/powerpoint/2010/main" val="2546380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1905894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Breakdown (2/5)</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90077257"/>
              </p:ext>
            </p:extLst>
          </p:nvPr>
        </p:nvGraphicFramePr>
        <p:xfrm>
          <a:off x="408598" y="1610645"/>
          <a:ext cx="11296403" cy="492252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3276600">
                  <a:extLst>
                    <a:ext uri="{9D8B030D-6E8A-4147-A177-3AD203B41FA5}">
                      <a16:colId xmlns:a16="http://schemas.microsoft.com/office/drawing/2014/main" val="2818076346"/>
                    </a:ext>
                  </a:extLst>
                </a:gridCol>
                <a:gridCol w="5898090">
                  <a:extLst>
                    <a:ext uri="{9D8B030D-6E8A-4147-A177-3AD203B41FA5}">
                      <a16:colId xmlns:a16="http://schemas.microsoft.com/office/drawing/2014/main" val="872472245"/>
                    </a:ext>
                  </a:extLst>
                </a:gridCol>
              </a:tblGrid>
              <a:tr h="170081">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assess value-at-stake across core metrics (Travis Perkins example)</a:t>
                      </a:r>
                    </a:p>
                  </a:txBody>
                  <a:tcPr anchor="b"/>
                </a:tc>
                <a:extLst>
                  <a:ext uri="{0D108BD9-81ED-4DB2-BD59-A6C34878D82A}">
                    <a16:rowId xmlns:a16="http://schemas.microsoft.com/office/drawing/2014/main" val="2276346153"/>
                  </a:ext>
                </a:extLst>
              </a:tr>
              <a:tr h="3171520">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rgbClr val="EED6E5"/>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Assess value-at-stake across core metrics</a:t>
                      </a:r>
                    </a:p>
                  </a:txBody>
                  <a:tcPr anchor="ctr"/>
                </a:tc>
                <a:tc>
                  <a:txBody>
                    <a:bodyPr/>
                    <a:lstStyle/>
                    <a:p>
                      <a:pPr>
                        <a:spcBef>
                          <a:spcPts val="1200"/>
                        </a:spcBef>
                      </a:pPr>
                      <a:r>
                        <a:rPr lang="en-US" sz="1100" b="0"/>
                        <a:t>Once you understand the trends and similarities / differences across the peer set, the next step is to assess the value-at-stake across core OI metrics</a:t>
                      </a:r>
                    </a:p>
                    <a:p>
                      <a:pPr>
                        <a:spcBef>
                          <a:spcPts val="1200"/>
                        </a:spcBef>
                      </a:pPr>
                      <a:r>
                        <a:rPr lang="en-US" sz="1100" b="0"/>
                        <a:t>For Cost metrics (e.g., Gross Margin), the value-at-stake is typically calculated as follows:</a:t>
                      </a: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Calculate the difference between the target’s latest performance and peer median / Top Q</a:t>
                      </a: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If relevant (i.e., client is above Top Q or other savings are unreasonable), calculate the gap to historical performance</a:t>
                      </a:r>
                      <a:r>
                        <a:rPr lang="en-US" sz="900">
                          <a:solidFill>
                            <a:srgbClr val="000000"/>
                          </a:solidFill>
                          <a:latin typeface="+mn-lt"/>
                        </a:rPr>
                        <a:t> </a:t>
                      </a:r>
                      <a:r>
                        <a:rPr kumimoji="0" lang="en-US" sz="900" b="0" i="0" u="none" strike="noStrike" kern="1200" cap="none" spc="0" normalizeH="0" baseline="0" noProof="0">
                          <a:ln>
                            <a:noFill/>
                          </a:ln>
                          <a:solidFill>
                            <a:srgbClr val="000000"/>
                          </a:solidFill>
                          <a:effectLst/>
                          <a:uLnTx/>
                          <a:uFillTx/>
                          <a:latin typeface="+mn-lt"/>
                        </a:rPr>
                        <a:t>/ close comparable peer</a:t>
                      </a: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Multiply the </a:t>
                      </a:r>
                      <a:r>
                        <a:rPr kumimoji="0" lang="en-US" sz="900" b="1" i="0" u="none" strike="noStrike" kern="1200" cap="none" spc="0" normalizeH="0" baseline="0" noProof="0">
                          <a:ln>
                            <a:noFill/>
                          </a:ln>
                          <a:solidFill>
                            <a:srgbClr val="000000"/>
                          </a:solidFill>
                          <a:effectLst/>
                          <a:uLnTx/>
                          <a:uFillTx/>
                          <a:latin typeface="+mn-lt"/>
                        </a:rPr>
                        <a:t>gap by the target’s overall revenue; </a:t>
                      </a:r>
                      <a:r>
                        <a:rPr kumimoji="0" lang="en-US" sz="900" b="0" i="0" u="none" strike="noStrike" kern="1200" cap="none" spc="0" normalizeH="0" baseline="0" noProof="0">
                          <a:ln>
                            <a:noFill/>
                          </a:ln>
                          <a:solidFill>
                            <a:srgbClr val="000000"/>
                          </a:solidFill>
                          <a:effectLst/>
                          <a:uLnTx/>
                          <a:uFillTx/>
                          <a:latin typeface="+mn-lt"/>
                        </a:rPr>
                        <a:t>the result is the value-at-stake opportunity</a:t>
                      </a:r>
                    </a:p>
                    <a:p>
                      <a:pPr lvl="1">
                        <a:spcBef>
                          <a:spcPts val="600"/>
                        </a:spcBef>
                        <a:defRPr/>
                      </a:pPr>
                      <a:r>
                        <a:rPr lang="en-US" sz="900">
                          <a:solidFill>
                            <a:srgbClr val="000000"/>
                          </a:solidFill>
                          <a:latin typeface="+mn-lt"/>
                        </a:rPr>
                        <a:t>For COGS, divide the calculated gap with Revenue to find </a:t>
                      </a:r>
                      <a:r>
                        <a:rPr lang="en-US" sz="900" b="1">
                          <a:solidFill>
                            <a:srgbClr val="000000"/>
                          </a:solidFill>
                          <a:latin typeface="+mn-lt"/>
                        </a:rPr>
                        <a:t>margin improvement %</a:t>
                      </a:r>
                      <a:r>
                        <a:rPr lang="en-US" sz="900" b="0">
                          <a:solidFill>
                            <a:srgbClr val="000000"/>
                          </a:solidFill>
                          <a:latin typeface="+mn-lt"/>
                        </a:rPr>
                        <a:t>; for </a:t>
                      </a:r>
                      <a:r>
                        <a:rPr lang="en-US" sz="900">
                          <a:solidFill>
                            <a:srgbClr val="000000"/>
                          </a:solidFill>
                          <a:latin typeface="+mn-lt"/>
                        </a:rPr>
                        <a:t>other cost buckets, divide the calculated gap with the cost for that bucket (e.g., SG&amp;A expense) to find </a:t>
                      </a:r>
                      <a:r>
                        <a:rPr lang="en-US" sz="900" b="1">
                          <a:solidFill>
                            <a:srgbClr val="000000"/>
                          </a:solidFill>
                          <a:latin typeface="+mn-lt"/>
                        </a:rPr>
                        <a:t>% of cost base</a:t>
                      </a:r>
                      <a:endParaRPr lang="en-US" sz="900" b="0">
                        <a:solidFill>
                          <a:srgbClr val="000000"/>
                        </a:solidFill>
                        <a:latin typeface="+mn-lt"/>
                      </a:endParaRPr>
                    </a:p>
                    <a:p>
                      <a:pPr lvl="1">
                        <a:spcBef>
                          <a:spcPts val="600"/>
                        </a:spcBef>
                        <a:defRPr/>
                      </a:pPr>
                      <a:r>
                        <a:rPr kumimoji="0" lang="en-US" sz="900" b="0" i="0" u="none" strike="noStrike" kern="1200" cap="none" spc="0" normalizeH="0" baseline="0" noProof="0">
                          <a:ln>
                            <a:noFill/>
                          </a:ln>
                          <a:solidFill>
                            <a:srgbClr val="000000"/>
                          </a:solidFill>
                          <a:effectLst/>
                          <a:uLnTx/>
                          <a:uFillTx/>
                          <a:latin typeface="+mn-lt"/>
                        </a:rPr>
                        <a:t>Add value-at-stake opportunity and % margin improvement / % of cost base to the down arrow</a:t>
                      </a:r>
                      <a:endParaRPr kumimoji="0" lang="en-US" sz="900" b="1" i="0" u="none" strike="noStrike" kern="1200" cap="none" spc="0" normalizeH="0" baseline="0" noProof="0">
                        <a:ln>
                          <a:noFill/>
                        </a:ln>
                        <a:solidFill>
                          <a:srgbClr val="000000"/>
                        </a:solidFill>
                        <a:effectLst/>
                        <a:uLnTx/>
                        <a:uFillTx/>
                        <a:latin typeface="+mn-lt"/>
                      </a:endParaRPr>
                    </a:p>
                    <a:p>
                      <a:pPr>
                        <a:spcBef>
                          <a:spcPts val="1200"/>
                        </a:spcBef>
                      </a:pPr>
                      <a:r>
                        <a:rPr lang="en-US" sz="1100" b="0"/>
                        <a:t>A similar process is followed for NWC metrics; the difference is:</a:t>
                      </a:r>
                    </a:p>
                    <a:p>
                      <a:pPr lvl="1">
                        <a:spcBef>
                          <a:spcPts val="600"/>
                        </a:spcBef>
                      </a:pPr>
                      <a:r>
                        <a:rPr lang="en-US" sz="900" b="0"/>
                        <a:t>Instead of multiplying by Revenue to get the value-at-stake opportunity, we must multiply the gap by </a:t>
                      </a:r>
                      <a:r>
                        <a:rPr lang="en-US" sz="900" b="1"/>
                        <a:t>cash released per day of improvement</a:t>
                      </a:r>
                      <a:r>
                        <a:rPr lang="en-US" sz="900" b="0"/>
                        <a:t>, which is total [Inventories, Receivables, or Payables] divided by [latest DIO, DSO, or DPO value]</a:t>
                      </a:r>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sp>
        <p:nvSpPr>
          <p:cNvPr id="42" name="btfpNumberBubble266422">
            <a:extLst>
              <a:ext uri="{FF2B5EF4-FFF2-40B4-BE49-F238E27FC236}">
                <a16:creationId xmlns:a16="http://schemas.microsoft.com/office/drawing/2014/main" id="{30B5A6B7-DB06-C456-86EB-61FE79779579}"/>
              </a:ext>
            </a:extLst>
          </p:cNvPr>
          <p:cNvSpPr/>
          <p:nvPr/>
        </p:nvSpPr>
        <p:spPr bwMode="gray">
          <a:xfrm>
            <a:off x="1335834" y="358861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3b</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pic>
        <p:nvPicPr>
          <p:cNvPr id="52" name="Picture 51">
            <a:extLst>
              <a:ext uri="{FF2B5EF4-FFF2-40B4-BE49-F238E27FC236}">
                <a16:creationId xmlns:a16="http://schemas.microsoft.com/office/drawing/2014/main" id="{0B3F045C-1136-7EFB-6C98-403C4AEEB899}"/>
              </a:ext>
            </a:extLst>
          </p:cNvPr>
          <p:cNvPicPr>
            <a:picLocks noChangeAspect="1"/>
          </p:cNvPicPr>
          <p:nvPr/>
        </p:nvPicPr>
        <p:blipFill>
          <a:blip r:embed="rId10"/>
          <a:srcRect r="46117" b="62846"/>
          <a:stretch/>
        </p:blipFill>
        <p:spPr>
          <a:xfrm>
            <a:off x="5943783" y="1976678"/>
            <a:ext cx="5797995" cy="1501875"/>
          </a:xfrm>
          <a:prstGeom prst="rect">
            <a:avLst/>
          </a:prstGeom>
          <a:ln>
            <a:solidFill>
              <a:schemeClr val="tx1"/>
            </a:solidFill>
          </a:ln>
        </p:spPr>
      </p:pic>
      <p:sp>
        <p:nvSpPr>
          <p:cNvPr id="60" name="btfpCallout243221">
            <a:extLst>
              <a:ext uri="{FF2B5EF4-FFF2-40B4-BE49-F238E27FC236}">
                <a16:creationId xmlns:a16="http://schemas.microsoft.com/office/drawing/2014/main" id="{ED1FFF1D-1212-1B27-C14F-5C3657E82D8F}"/>
              </a:ext>
            </a:extLst>
          </p:cNvPr>
          <p:cNvSpPr/>
          <p:nvPr/>
        </p:nvSpPr>
        <p:spPr bwMode="gray">
          <a:xfrm>
            <a:off x="8944037" y="1976801"/>
            <a:ext cx="2913001" cy="804118"/>
          </a:xfrm>
          <a:prstGeom prst="wedgeRectCallout">
            <a:avLst>
              <a:gd name="adj1" fmla="val -54207"/>
              <a:gd name="adj2" fmla="val 81482"/>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For Travis Perkins:</a:t>
            </a:r>
          </a:p>
          <a:p>
            <a:pPr marL="171450" lvl="1" indent="-171450">
              <a:spcBef>
                <a:spcPts val="0"/>
              </a:spcBef>
            </a:pPr>
            <a:r>
              <a:rPr lang="en-US" sz="1000">
                <a:solidFill>
                  <a:srgbClr val="5C5C5C"/>
                </a:solidFill>
              </a:rPr>
              <a:t>Gap to Median is 32% - 26.4% = 5.6%</a:t>
            </a:r>
          </a:p>
          <a:p>
            <a:pPr marL="171450" lvl="1" indent="-171450">
              <a:spcBef>
                <a:spcPts val="0"/>
              </a:spcBef>
            </a:pPr>
            <a:r>
              <a:rPr lang="en-US" sz="1000">
                <a:solidFill>
                  <a:srgbClr val="5C5C5C"/>
                </a:solidFill>
              </a:rPr>
              <a:t>Value-at-stake is 5.6% * 4,752M = </a:t>
            </a:r>
            <a:r>
              <a:rPr lang="en-US" sz="1000" b="1">
                <a:solidFill>
                  <a:srgbClr val="5C5C5C"/>
                </a:solidFill>
              </a:rPr>
              <a:t>266M </a:t>
            </a:r>
          </a:p>
          <a:p>
            <a:pPr marL="171450" lvl="1" indent="-171450">
              <a:spcBef>
                <a:spcPts val="0"/>
              </a:spcBef>
            </a:pPr>
            <a:r>
              <a:rPr lang="en-US" sz="1000">
                <a:solidFill>
                  <a:srgbClr val="5C5C5C"/>
                </a:solidFill>
              </a:rPr>
              <a:t>Represents a (266 / 4752) = 5.6 p.p. uplift</a:t>
            </a:r>
            <a:endParaRPr lang="en-US" sz="1000" b="1">
              <a:solidFill>
                <a:srgbClr val="5C5C5C"/>
              </a:solidFill>
            </a:endParaRPr>
          </a:p>
        </p:txBody>
      </p:sp>
      <p:pic>
        <p:nvPicPr>
          <p:cNvPr id="14" name="Picture 13">
            <a:extLst>
              <a:ext uri="{FF2B5EF4-FFF2-40B4-BE49-F238E27FC236}">
                <a16:creationId xmlns:a16="http://schemas.microsoft.com/office/drawing/2014/main" id="{C13B7B35-BB68-5F55-5E53-6B76D69B5D22}"/>
              </a:ext>
            </a:extLst>
          </p:cNvPr>
          <p:cNvPicPr>
            <a:picLocks noChangeAspect="1"/>
          </p:cNvPicPr>
          <p:nvPr/>
        </p:nvPicPr>
        <p:blipFill>
          <a:blip r:embed="rId11">
            <a:extLst>
              <a:ext uri="{28A0092B-C50C-407E-A947-70E740481C1C}">
                <a14:useLocalDpi xmlns:a14="http://schemas.microsoft.com/office/drawing/2010/main" val="0"/>
              </a:ext>
            </a:extLst>
          </a:blip>
          <a:srcRect l="522" t="-1608" r="23506" b="26868"/>
          <a:stretch/>
        </p:blipFill>
        <p:spPr>
          <a:xfrm>
            <a:off x="5943783" y="3706940"/>
            <a:ext cx="5791908" cy="1322260"/>
          </a:xfrm>
          <a:prstGeom prst="rect">
            <a:avLst/>
          </a:prstGeom>
          <a:ln>
            <a:solidFill>
              <a:schemeClr val="tx1"/>
            </a:solidFill>
          </a:ln>
        </p:spPr>
      </p:pic>
      <p:sp>
        <p:nvSpPr>
          <p:cNvPr id="15" name="btfpCallout243221">
            <a:extLst>
              <a:ext uri="{FF2B5EF4-FFF2-40B4-BE49-F238E27FC236}">
                <a16:creationId xmlns:a16="http://schemas.microsoft.com/office/drawing/2014/main" id="{00E5DFEF-3EFC-20C3-6F96-4693FA783259}"/>
              </a:ext>
            </a:extLst>
          </p:cNvPr>
          <p:cNvSpPr/>
          <p:nvPr/>
        </p:nvSpPr>
        <p:spPr bwMode="gray">
          <a:xfrm>
            <a:off x="8378296" y="5247355"/>
            <a:ext cx="3205907" cy="804118"/>
          </a:xfrm>
          <a:prstGeom prst="wedgeRectCallout">
            <a:avLst>
              <a:gd name="adj1" fmla="val -9459"/>
              <a:gd name="adj2" fmla="val -63686"/>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For Travis Perkins:</a:t>
            </a:r>
          </a:p>
          <a:p>
            <a:pPr marL="171450" lvl="1" indent="-171450">
              <a:spcBef>
                <a:spcPts val="0"/>
              </a:spcBef>
            </a:pPr>
            <a:r>
              <a:rPr lang="en-US" sz="1000">
                <a:solidFill>
                  <a:srgbClr val="5C5C5C"/>
                </a:solidFill>
              </a:rPr>
              <a:t>Gap to Median is 44 – 42 = 2 days</a:t>
            </a:r>
          </a:p>
          <a:p>
            <a:pPr marL="171450" lvl="1" indent="-171450">
              <a:spcBef>
                <a:spcPts val="0"/>
              </a:spcBef>
            </a:pPr>
            <a:r>
              <a:rPr lang="en-US" sz="1000">
                <a:solidFill>
                  <a:srgbClr val="5C5C5C"/>
                </a:solidFill>
              </a:rPr>
              <a:t>Cash released is 592M / 44 days = $13M / day</a:t>
            </a:r>
          </a:p>
          <a:p>
            <a:pPr marL="171450" lvl="1" indent="-171450">
              <a:spcBef>
                <a:spcPts val="0"/>
              </a:spcBef>
            </a:pPr>
            <a:r>
              <a:rPr lang="en-US" sz="1000">
                <a:solidFill>
                  <a:srgbClr val="5C5C5C"/>
                </a:solidFill>
              </a:rPr>
              <a:t>Value-at-stake is 2 * $13M = </a:t>
            </a:r>
            <a:r>
              <a:rPr lang="en-US" sz="1000" b="1">
                <a:solidFill>
                  <a:srgbClr val="5C5C5C"/>
                </a:solidFill>
              </a:rPr>
              <a:t>$26M </a:t>
            </a:r>
          </a:p>
        </p:txBody>
      </p:sp>
      <p:sp>
        <p:nvSpPr>
          <p:cNvPr id="16" name="btfpNumberBubble557534">
            <a:extLst>
              <a:ext uri="{FF2B5EF4-FFF2-40B4-BE49-F238E27FC236}">
                <a16:creationId xmlns:a16="http://schemas.microsoft.com/office/drawing/2014/main" id="{78E5FC1A-0CE9-E30B-0A86-686B27345B29}"/>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3461211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2425943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3 – Savings Identification:</a:t>
            </a:r>
            <a:r>
              <a:rPr lang="en-US"/>
              <a:t> Process Breakdown (3/5)</a:t>
            </a:r>
          </a:p>
        </p:txBody>
      </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388228"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096593038"/>
              </p:ext>
            </p:extLst>
          </p:nvPr>
        </p:nvGraphicFramePr>
        <p:xfrm>
          <a:off x="408598" y="1610644"/>
          <a:ext cx="11296403" cy="4649480"/>
        </p:xfrm>
        <a:graphic>
          <a:graphicData uri="http://schemas.openxmlformats.org/drawingml/2006/table">
            <a:tbl>
              <a:tblPr firstRow="1" firstCol="1">
                <a:tableStyleId>{9D7B26C5-4107-4FEC-AEDC-1716B250A1EF}</a:tableStyleId>
              </a:tblPr>
              <a:tblGrid>
                <a:gridCol w="492358">
                  <a:extLst>
                    <a:ext uri="{9D8B030D-6E8A-4147-A177-3AD203B41FA5}">
                      <a16:colId xmlns:a16="http://schemas.microsoft.com/office/drawing/2014/main" val="3215929653"/>
                    </a:ext>
                  </a:extLst>
                </a:gridCol>
                <a:gridCol w="1629355">
                  <a:extLst>
                    <a:ext uri="{9D8B030D-6E8A-4147-A177-3AD203B41FA5}">
                      <a16:colId xmlns:a16="http://schemas.microsoft.com/office/drawing/2014/main" val="3410592685"/>
                    </a:ext>
                  </a:extLst>
                </a:gridCol>
                <a:gridCol w="2352982">
                  <a:extLst>
                    <a:ext uri="{9D8B030D-6E8A-4147-A177-3AD203B41FA5}">
                      <a16:colId xmlns:a16="http://schemas.microsoft.com/office/drawing/2014/main" val="2818076346"/>
                    </a:ext>
                  </a:extLst>
                </a:gridCol>
                <a:gridCol w="6821708">
                  <a:extLst>
                    <a:ext uri="{9D8B030D-6E8A-4147-A177-3AD203B41FA5}">
                      <a16:colId xmlns:a16="http://schemas.microsoft.com/office/drawing/2014/main" val="872472245"/>
                    </a:ext>
                  </a:extLst>
                </a:gridCol>
              </a:tblGrid>
              <a:tr h="51013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indent="0">
                        <a:spcBef>
                          <a:spcPts val="0"/>
                        </a:spcBef>
                        <a:buFontTx/>
                        <a:buNone/>
                      </a:pPr>
                      <a:r>
                        <a:rPr lang="en-US" sz="1100"/>
                        <a:t>Process to assess value-at-stake across core metrics (Travis Perkins example)</a:t>
                      </a:r>
                    </a:p>
                  </a:txBody>
                  <a:tcPr anchor="b"/>
                </a:tc>
                <a:extLst>
                  <a:ext uri="{0D108BD9-81ED-4DB2-BD59-A6C34878D82A}">
                    <a16:rowId xmlns:a16="http://schemas.microsoft.com/office/drawing/2014/main" val="2276346153"/>
                  </a:ext>
                </a:extLst>
              </a:tr>
              <a:tr h="4139348">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100"/>
                        <a:t>STEP 2</a:t>
                      </a:r>
                    </a:p>
                  </a:txBody>
                  <a:tcPr vert="vert270" anchor="ctr">
                    <a:solidFill>
                      <a:srgbClr val="EED6E5"/>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a:t>Assess value-at-stake across core metrics</a:t>
                      </a:r>
                    </a:p>
                  </a:txBody>
                  <a:tcPr anchor="ctr"/>
                </a:tc>
                <a:tc>
                  <a:txBody>
                    <a:bodyPr/>
                    <a:lstStyle/>
                    <a:p>
                      <a:pPr>
                        <a:spcBef>
                          <a:spcPts val="1200"/>
                        </a:spcBef>
                      </a:pPr>
                      <a:r>
                        <a:rPr lang="en-US" sz="1100" b="0"/>
                        <a:t>Once the value-at-stake opportunity has been calculated, it is important to validate whether the opportunity size is feasible</a:t>
                      </a:r>
                    </a:p>
                    <a:p>
                      <a:pPr>
                        <a:spcBef>
                          <a:spcPts val="1200"/>
                        </a:spcBef>
                      </a:pPr>
                      <a:r>
                        <a:rPr lang="en-US" sz="1100" b="0"/>
                        <a:t>Identify which peers are driving Median / Top Q and research whether there are any </a:t>
                      </a:r>
                      <a:r>
                        <a:rPr lang="en-US" sz="1100" b="1"/>
                        <a:t>core business model differences that would make the gap less addressable</a:t>
                      </a:r>
                    </a:p>
                    <a:p>
                      <a:pPr>
                        <a:spcBef>
                          <a:spcPts val="1200"/>
                        </a:spcBef>
                      </a:pPr>
                      <a:r>
                        <a:rPr lang="en-US" sz="1100" b="0"/>
                        <a:t>Based on this research</a:t>
                      </a:r>
                      <a:r>
                        <a:rPr lang="en-US" sz="1100" b="1"/>
                        <a:t>, deliver a recommendation </a:t>
                      </a:r>
                      <a:r>
                        <a:rPr lang="en-US" sz="1100" b="0"/>
                        <a:t>and add it as a ‘down arrow’ to the slide</a:t>
                      </a:r>
                    </a:p>
                    <a:p>
                      <a:pPr lvl="1">
                        <a:spcBef>
                          <a:spcPts val="600"/>
                        </a:spcBef>
                      </a:pPr>
                      <a:r>
                        <a:rPr lang="en-US" sz="900" b="0"/>
                        <a:t>You may choose not to deliver a savings recommendation if the opportunity is not addressable or if the target outperforms all peers</a:t>
                      </a:r>
                    </a:p>
                    <a:p>
                      <a:pPr lvl="1">
                        <a:spcBef>
                          <a:spcPts val="600"/>
                        </a:spcBef>
                      </a:pPr>
                      <a:r>
                        <a:rPr lang="en-US" sz="900" b="0"/>
                        <a:t>You may also assess whether there is a more appropriate / feasible benchmark to aim for given industry / company context (e.g., previous year, closest peer)</a:t>
                      </a:r>
                      <a:endParaRPr lang="en-US" sz="700" b="0"/>
                    </a:p>
                  </a:txBody>
                  <a:tcPr anchor="ctr"/>
                </a:tc>
                <a:tc>
                  <a:txBody>
                    <a:bodyPr/>
                    <a:lstStyle/>
                    <a:p>
                      <a:pPr marL="0" indent="0">
                        <a:buFontTx/>
                        <a:buNone/>
                      </a:pPr>
                      <a:endParaRPr lang="en-US" sz="1100"/>
                    </a:p>
                  </a:txBody>
                  <a:tcPr anchor="ctr"/>
                </a:tc>
                <a:extLst>
                  <a:ext uri="{0D108BD9-81ED-4DB2-BD59-A6C34878D82A}">
                    <a16:rowId xmlns:a16="http://schemas.microsoft.com/office/drawing/2014/main" val="3360390014"/>
                  </a:ext>
                </a:extLst>
              </a:tr>
            </a:tbl>
          </a:graphicData>
        </a:graphic>
      </p:graphicFrame>
      <p:pic>
        <p:nvPicPr>
          <p:cNvPr id="54" name="Picture 53">
            <a:extLst>
              <a:ext uri="{FF2B5EF4-FFF2-40B4-BE49-F238E27FC236}">
                <a16:creationId xmlns:a16="http://schemas.microsoft.com/office/drawing/2014/main" id="{BF3F6380-CAEF-6EB2-FBC3-1C4AD0588C7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4956925" y="2235599"/>
            <a:ext cx="5298387" cy="2980343"/>
          </a:xfrm>
          <a:prstGeom prst="rect">
            <a:avLst/>
          </a:prstGeom>
        </p:spPr>
      </p:pic>
      <p:sp>
        <p:nvSpPr>
          <p:cNvPr id="42" name="btfpNumberBubble266422">
            <a:extLst>
              <a:ext uri="{FF2B5EF4-FFF2-40B4-BE49-F238E27FC236}">
                <a16:creationId xmlns:a16="http://schemas.microsoft.com/office/drawing/2014/main" id="{30B5A6B7-DB06-C456-86EB-61FE79779579}"/>
              </a:ext>
            </a:extLst>
          </p:cNvPr>
          <p:cNvSpPr/>
          <p:nvPr/>
        </p:nvSpPr>
        <p:spPr bwMode="gray">
          <a:xfrm>
            <a:off x="1434128" y="358861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3b</a:t>
            </a:r>
          </a:p>
        </p:txBody>
      </p:sp>
      <p:grpSp>
        <p:nvGrpSpPr>
          <p:cNvPr id="5" name="btfpRunningAgenda1Level747472">
            <a:extLst>
              <a:ext uri="{FF2B5EF4-FFF2-40B4-BE49-F238E27FC236}">
                <a16:creationId xmlns:a16="http://schemas.microsoft.com/office/drawing/2014/main" id="{532D6CCE-ECA7-2EFE-4B8A-2B314D94648F}"/>
              </a:ext>
            </a:extLst>
          </p:cNvPr>
          <p:cNvGrpSpPr/>
          <p:nvPr>
            <p:custDataLst>
              <p:tags r:id="rId5"/>
            </p:custDataLst>
          </p:nvPr>
        </p:nvGrpSpPr>
        <p:grpSpPr>
          <a:xfrm>
            <a:off x="0" y="944429"/>
            <a:ext cx="1779142" cy="257442"/>
            <a:chOff x="0" y="876300"/>
            <a:chExt cx="1779142" cy="257442"/>
          </a:xfrm>
        </p:grpSpPr>
        <p:sp>
          <p:nvSpPr>
            <p:cNvPr id="6" name="btfpRunningAgenda1LevelBarLeft747472">
              <a:extLst>
                <a:ext uri="{FF2B5EF4-FFF2-40B4-BE49-F238E27FC236}">
                  <a16:creationId xmlns:a16="http://schemas.microsoft.com/office/drawing/2014/main" id="{5B165B5C-6428-047E-F24A-75328D27634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732874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732874 w 1732874"/>
                <a:gd name="connsiteY0" fmla="*/ 0 h 257442"/>
                <a:gd name="connsiteX1" fmla="*/ 1678153 w 1732874"/>
                <a:gd name="connsiteY1" fmla="*/ 257442 h 257442"/>
                <a:gd name="connsiteX2" fmla="*/ 0 w 1732874"/>
                <a:gd name="connsiteY2" fmla="*/ 257442 h 257442"/>
                <a:gd name="connsiteX3" fmla="*/ 0 w 1732874"/>
                <a:gd name="connsiteY3" fmla="*/ 0 h 257442"/>
                <a:gd name="connsiteX0" fmla="*/ 1590207 w 1678153"/>
                <a:gd name="connsiteY0" fmla="*/ 0 h 257442"/>
                <a:gd name="connsiteX1" fmla="*/ 1678153 w 1678153"/>
                <a:gd name="connsiteY1" fmla="*/ 257442 h 257442"/>
                <a:gd name="connsiteX2" fmla="*/ 0 w 1678153"/>
                <a:gd name="connsiteY2" fmla="*/ 257442 h 257442"/>
                <a:gd name="connsiteX3" fmla="*/ 0 w 1678153"/>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691197 w 1779142"/>
                <a:gd name="connsiteY0" fmla="*/ 0 h 257442"/>
                <a:gd name="connsiteX1" fmla="*/ 1779142 w 1779142"/>
                <a:gd name="connsiteY1" fmla="*/ 257442 h 257442"/>
                <a:gd name="connsiteX2" fmla="*/ 0 w 1779142"/>
                <a:gd name="connsiteY2" fmla="*/ 257442 h 257442"/>
                <a:gd name="connsiteX3" fmla="*/ 1 w 1779142"/>
                <a:gd name="connsiteY3" fmla="*/ 0 h 257442"/>
                <a:gd name="connsiteX0" fmla="*/ 1691197 w 1691197"/>
                <a:gd name="connsiteY0" fmla="*/ 0 h 257442"/>
                <a:gd name="connsiteX1" fmla="*/ 1636476 w 1691197"/>
                <a:gd name="connsiteY1" fmla="*/ 257442 h 257442"/>
                <a:gd name="connsiteX2" fmla="*/ 0 w 1691197"/>
                <a:gd name="connsiteY2" fmla="*/ 257442 h 257442"/>
                <a:gd name="connsiteX3" fmla="*/ 1 w 1691197"/>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1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1"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3" name="btfpRunningAgenda1LevelTextLeft747472">
              <a:extLst>
                <a:ext uri="{FF2B5EF4-FFF2-40B4-BE49-F238E27FC236}">
                  <a16:creationId xmlns:a16="http://schemas.microsoft.com/office/drawing/2014/main" id="{89770E87-BD27-1682-152A-501BB889BB82}"/>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46" name="btfpCallout243221">
            <a:extLst>
              <a:ext uri="{FF2B5EF4-FFF2-40B4-BE49-F238E27FC236}">
                <a16:creationId xmlns:a16="http://schemas.microsoft.com/office/drawing/2014/main" id="{BEA0C3B3-6D14-B9D2-022F-7D600AAA72F4}"/>
              </a:ext>
            </a:extLst>
          </p:cNvPr>
          <p:cNvSpPr/>
          <p:nvPr/>
        </p:nvSpPr>
        <p:spPr bwMode="gray">
          <a:xfrm>
            <a:off x="10255312" y="2559466"/>
            <a:ext cx="1606487" cy="3337129"/>
          </a:xfrm>
          <a:prstGeom prst="wedgeRectCallout">
            <a:avLst>
              <a:gd name="adj1" fmla="val -67825"/>
              <a:gd name="adj2" fmla="val 15743"/>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In the Travis Perkins example, </a:t>
            </a:r>
            <a:r>
              <a:rPr lang="en-US" sz="1000" b="1">
                <a:solidFill>
                  <a:srgbClr val="5C5C5C"/>
                </a:solidFill>
              </a:rPr>
              <a:t>peer Top Q is driven by less comparable peers </a:t>
            </a:r>
            <a:r>
              <a:rPr lang="en-US" sz="1000">
                <a:solidFill>
                  <a:srgbClr val="5C5C5C"/>
                </a:solidFill>
              </a:rPr>
              <a:t>(e.g., </a:t>
            </a:r>
            <a:r>
              <a:rPr lang="en-US" sz="1000" err="1">
                <a:solidFill>
                  <a:srgbClr val="5C5C5C"/>
                </a:solidFill>
              </a:rPr>
              <a:t>Geberit</a:t>
            </a:r>
            <a:r>
              <a:rPr lang="en-US" sz="1000">
                <a:solidFill>
                  <a:srgbClr val="5C5C5C"/>
                </a:solidFill>
              </a:rPr>
              <a:t> and Buzzi </a:t>
            </a:r>
            <a:r>
              <a:rPr lang="en-US" sz="1000" err="1">
                <a:solidFill>
                  <a:srgbClr val="5C5C5C"/>
                </a:solidFill>
              </a:rPr>
              <a:t>Unicern</a:t>
            </a:r>
            <a:r>
              <a:rPr lang="en-US" sz="1000">
                <a:solidFill>
                  <a:srgbClr val="5C5C5C"/>
                </a:solidFill>
              </a:rPr>
              <a:t>, which are more diversified; and Howdens, which drives higher margins due to its niche focus). As such, the recommended opportunity was based on a previous year (FY21) and peer median. The team believed it was feasible to achieve these targets because FY21 was not an outlier year and because several close peers performed near the median.</a:t>
            </a:r>
          </a:p>
        </p:txBody>
      </p:sp>
      <p:sp>
        <p:nvSpPr>
          <p:cNvPr id="15" name="btfpNumberBubble557534">
            <a:extLst>
              <a:ext uri="{FF2B5EF4-FFF2-40B4-BE49-F238E27FC236}">
                <a16:creationId xmlns:a16="http://schemas.microsoft.com/office/drawing/2014/main" id="{E80B85CD-882D-6943-722D-25D105D48168}"/>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3859611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1969925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507555429"/>
              </p:ext>
            </p:extLst>
          </p:nvPr>
        </p:nvGraphicFramePr>
        <p:xfrm>
          <a:off x="325472" y="1601373"/>
          <a:ext cx="11531601" cy="4796742"/>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229401">
                  <a:extLst>
                    <a:ext uri="{9D8B030D-6E8A-4147-A177-3AD203B41FA5}">
                      <a16:colId xmlns:a16="http://schemas.microsoft.com/office/drawing/2014/main" val="3410592685"/>
                    </a:ext>
                  </a:extLst>
                </a:gridCol>
                <a:gridCol w="4339086">
                  <a:extLst>
                    <a:ext uri="{9D8B030D-6E8A-4147-A177-3AD203B41FA5}">
                      <a16:colId xmlns:a16="http://schemas.microsoft.com/office/drawing/2014/main" val="2818076346"/>
                    </a:ext>
                  </a:extLst>
                </a:gridCol>
                <a:gridCol w="5594296">
                  <a:extLst>
                    <a:ext uri="{9D8B030D-6E8A-4147-A177-3AD203B41FA5}">
                      <a16:colId xmlns:a16="http://schemas.microsoft.com/office/drawing/2014/main" val="3050331554"/>
                    </a:ext>
                  </a:extLst>
                </a:gridCol>
              </a:tblGrid>
              <a:tr h="438102">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Process to build out the Bain Experience slide (Travis Perkins example)</a:t>
                      </a:r>
                    </a:p>
                  </a:txBody>
                  <a:tcPr anchor="b"/>
                </a:tc>
                <a:extLst>
                  <a:ext uri="{0D108BD9-81ED-4DB2-BD59-A6C34878D82A}">
                    <a16:rowId xmlns:a16="http://schemas.microsoft.com/office/drawing/2014/main" val="2276346153"/>
                  </a:ext>
                </a:extLst>
              </a:tr>
              <a:tr h="4271159">
                <a:tc>
                  <a:txBody>
                    <a:bodyPr/>
                    <a:lstStyle/>
                    <a:p>
                      <a:pPr marL="0" indent="0" algn="ctr">
                        <a:buFontTx/>
                        <a:buNone/>
                      </a:pPr>
                      <a:r>
                        <a:rPr lang="en-US" sz="1100"/>
                        <a:t>STEP 3</a:t>
                      </a:r>
                    </a:p>
                  </a:txBody>
                  <a:tcPr vert="vert270" anchor="ctr">
                    <a:solidFill>
                      <a:srgbClr val="EED6E5"/>
                    </a:solidFill>
                  </a:tcPr>
                </a:tc>
                <a:tc>
                  <a:txBody>
                    <a:bodyPr/>
                    <a:lstStyle/>
                    <a:p>
                      <a:pPr marL="0" indent="0">
                        <a:buFontTx/>
                        <a:buNone/>
                      </a:pPr>
                      <a:r>
                        <a:rPr lang="en-US" sz="1100"/>
                        <a:t>Calculate Bain Experience savings potential</a:t>
                      </a:r>
                    </a:p>
                  </a:txBody>
                  <a:tcPr anchor="ctr"/>
                </a:tc>
                <a:tc>
                  <a:txBody>
                    <a:bodyPr/>
                    <a:lstStyle/>
                    <a:p>
                      <a:pPr marL="177800" indent="-177800"/>
                      <a:r>
                        <a:rPr lang="en-US" sz="1100" b="0"/>
                        <a:t>Build the ‘cost profile’ section of the Bain Experience slide by </a:t>
                      </a:r>
                      <a:r>
                        <a:rPr lang="en-US" sz="1100" b="1"/>
                        <a:t>breaking out the target’s cost bar into its various line items</a:t>
                      </a:r>
                      <a:endParaRPr lang="en-US" sz="1100" b="0"/>
                    </a:p>
                    <a:p>
                      <a:pPr marL="355600" lvl="1" indent="-177800"/>
                      <a:r>
                        <a:rPr lang="en-US" sz="900" b="0"/>
                        <a:t>Include sub-cost bucket breakdowns (e.g., G&amp;A and S&amp;D) where sufficient granularity exists; where this granularity does not exist, it may be reasonable to use the split from a comparable peer – though we must note that we have done so</a:t>
                      </a:r>
                    </a:p>
                    <a:p>
                      <a:pPr marL="355600" marR="0" lvl="1" indent="-177800" algn="l" defTabSz="711200" rtl="0" eaLnBrk="1" fontAlgn="auto" latinLnBrk="0" hangingPunct="1">
                        <a:lnSpc>
                          <a:spcPct val="100000"/>
                        </a:lnSpc>
                        <a:spcBef>
                          <a:spcPts val="600"/>
                        </a:spcBef>
                        <a:spcAft>
                          <a:spcPts val="0"/>
                        </a:spcAft>
                        <a:buClrTx/>
                        <a:buSzTx/>
                        <a:buFontTx/>
                        <a:buChar char="–"/>
                        <a:tabLst/>
                        <a:defRPr/>
                      </a:pPr>
                      <a:r>
                        <a:rPr lang="en-US" sz="900" b="0"/>
                        <a:t>Ensure cost bucket names match the target’s income statement (e.g., verify how ‘COGS’ is labeled and update across the deck)</a:t>
                      </a:r>
                    </a:p>
                    <a:p>
                      <a:pPr marL="177800" lvl="0" indent="-177800"/>
                      <a:r>
                        <a:rPr lang="en-US" sz="1100" b="0"/>
                        <a:t>Identify the ‘Category Avg. Savings’ by leveraging the savings percentages from a comparable OI in the industry; if such an OI does not exist, find benchmarks from IRIS or online research</a:t>
                      </a:r>
                    </a:p>
                    <a:p>
                      <a:pPr marL="177800" indent="-177800"/>
                      <a:r>
                        <a:rPr lang="en-US" sz="1100" b="0"/>
                        <a:t>If a comparable OI is used, take the example savings levers from the relevant Bain Experience page; confirm that </a:t>
                      </a:r>
                      <a:r>
                        <a:rPr lang="en-US" sz="1100" b="1"/>
                        <a:t>savings levers accurately reflect the target’s actual operations</a:t>
                      </a:r>
                      <a:r>
                        <a:rPr lang="en-US" sz="1100" b="0"/>
                        <a:t>, especially if the cost profile is not derived from the company’s financials</a:t>
                      </a:r>
                    </a:p>
                    <a:p>
                      <a:pPr marL="177800" indent="-177800"/>
                      <a:r>
                        <a:rPr lang="en-US" sz="1100" b="0"/>
                        <a:t>Compare </a:t>
                      </a:r>
                      <a:r>
                        <a:rPr lang="en-US" sz="1100" b="1"/>
                        <a:t>savings percentages </a:t>
                      </a:r>
                      <a:r>
                        <a:rPr lang="en-US" sz="1100" b="0"/>
                        <a:t>and</a:t>
                      </a:r>
                      <a:r>
                        <a:rPr lang="en-US" sz="1100" b="1"/>
                        <a:t> total dollar amounts with other OI studies </a:t>
                      </a:r>
                      <a:r>
                        <a:rPr lang="en-US" sz="1100" b="0"/>
                        <a:t>in the same industry to ensure consistency and feasibility</a:t>
                      </a:r>
                    </a:p>
                    <a:p>
                      <a:pPr marL="177800" indent="-177800"/>
                      <a:r>
                        <a:rPr lang="en-US" sz="1100" b="0"/>
                        <a:t>Calculate the value-at-stake opportunity by </a:t>
                      </a:r>
                      <a:r>
                        <a:rPr lang="en-US" sz="1100" b="1"/>
                        <a:t>multiplying the target’s expenditure under the relevant bucket with the associated savings percentages</a:t>
                      </a:r>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15" name="Picture 14">
            <a:extLst>
              <a:ext uri="{FF2B5EF4-FFF2-40B4-BE49-F238E27FC236}">
                <a16:creationId xmlns:a16="http://schemas.microsoft.com/office/drawing/2014/main" id="{235B8290-807F-7440-4A5B-F5E9795095E3}"/>
              </a:ext>
            </a:extLst>
          </p:cNvPr>
          <p:cNvPicPr>
            <a:picLocks noChangeAspect="1"/>
          </p:cNvPicPr>
          <p:nvPr/>
        </p:nvPicPr>
        <p:blipFill>
          <a:blip r:embed="rId10"/>
          <a:stretch>
            <a:fillRect/>
          </a:stretch>
        </p:blipFill>
        <p:spPr>
          <a:xfrm>
            <a:off x="6310931" y="2160319"/>
            <a:ext cx="5589342" cy="3176705"/>
          </a:xfrm>
          <a:prstGeom prst="rect">
            <a:avLst/>
          </a:prstGeom>
        </p:spPr>
      </p:pic>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851495" cy="257442"/>
            <a:chOff x="0" y="876300"/>
            <a:chExt cx="1851495"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851495"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Lst>
              <a:ahLst/>
              <a:cxnLst>
                <a:cxn ang="0">
                  <a:pos x="connsiteX0" y="connsiteY0"/>
                </a:cxn>
                <a:cxn ang="0">
                  <a:pos x="connsiteX1" y="connsiteY1"/>
                </a:cxn>
                <a:cxn ang="0">
                  <a:pos x="connsiteX2" y="connsiteY2"/>
                </a:cxn>
                <a:cxn ang="0">
                  <a:pos x="connsiteX3" y="connsiteY3"/>
                </a:cxn>
              </a:cxnLst>
              <a:rect l="l" t="t" r="r" b="b"/>
              <a:pathLst>
                <a:path w="1851495" h="257442">
                  <a:moveTo>
                    <a:pt x="1851495" y="0"/>
                  </a:moveTo>
                  <a:lnTo>
                    <a:pt x="17967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3 – Savings Identification:</a:t>
            </a:r>
            <a:r>
              <a:rPr lang="en-US"/>
              <a:t> Process Breakdown (4/5)</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028687" y="3494582"/>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3c</a:t>
            </a:r>
          </a:p>
        </p:txBody>
      </p:sp>
      <p:sp>
        <p:nvSpPr>
          <p:cNvPr id="50" name="btfpNumberBubble557534">
            <a:extLst>
              <a:ext uri="{FF2B5EF4-FFF2-40B4-BE49-F238E27FC236}">
                <a16:creationId xmlns:a16="http://schemas.microsoft.com/office/drawing/2014/main" id="{0B85D2D5-EA04-AE6B-0AC9-14AB111715A8}"/>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1376807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2206617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079876262"/>
              </p:ext>
            </p:extLst>
          </p:nvPr>
        </p:nvGraphicFramePr>
        <p:xfrm>
          <a:off x="325472" y="1601373"/>
          <a:ext cx="11531601" cy="5000023"/>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630899">
                  <a:extLst>
                    <a:ext uri="{9D8B030D-6E8A-4147-A177-3AD203B41FA5}">
                      <a16:colId xmlns:a16="http://schemas.microsoft.com/office/drawing/2014/main" val="3410592685"/>
                    </a:ext>
                  </a:extLst>
                </a:gridCol>
                <a:gridCol w="4101737">
                  <a:extLst>
                    <a:ext uri="{9D8B030D-6E8A-4147-A177-3AD203B41FA5}">
                      <a16:colId xmlns:a16="http://schemas.microsoft.com/office/drawing/2014/main" val="2818076346"/>
                    </a:ext>
                  </a:extLst>
                </a:gridCol>
                <a:gridCol w="5430147">
                  <a:extLst>
                    <a:ext uri="{9D8B030D-6E8A-4147-A177-3AD203B41FA5}">
                      <a16:colId xmlns:a16="http://schemas.microsoft.com/office/drawing/2014/main" val="3050331554"/>
                    </a:ext>
                  </a:extLst>
                </a:gridCol>
              </a:tblGrid>
              <a:tr h="268989">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Process to deliver a value-at-stake recommendation (Travis Perkins example)</a:t>
                      </a:r>
                    </a:p>
                  </a:txBody>
                  <a:tcPr anchor="b"/>
                </a:tc>
                <a:extLst>
                  <a:ext uri="{0D108BD9-81ED-4DB2-BD59-A6C34878D82A}">
                    <a16:rowId xmlns:a16="http://schemas.microsoft.com/office/drawing/2014/main" val="2276346153"/>
                  </a:ext>
                </a:extLst>
              </a:tr>
              <a:tr h="4731034">
                <a:tc>
                  <a:txBody>
                    <a:bodyPr/>
                    <a:lstStyle/>
                    <a:p>
                      <a:pPr marL="0" indent="0" algn="ctr">
                        <a:buFontTx/>
                        <a:buNone/>
                      </a:pPr>
                      <a:r>
                        <a:rPr lang="en-US" sz="1100"/>
                        <a:t>STEP 4</a:t>
                      </a:r>
                    </a:p>
                  </a:txBody>
                  <a:tcPr vert="vert270" anchor="ctr">
                    <a:solidFill>
                      <a:srgbClr val="EED6E5"/>
                    </a:solidFill>
                  </a:tcPr>
                </a:tc>
                <a:tc>
                  <a:txBody>
                    <a:bodyPr/>
                    <a:lstStyle/>
                    <a:p>
                      <a:pPr marL="0" indent="0">
                        <a:buFontTx/>
                        <a:buNone/>
                      </a:pPr>
                      <a:r>
                        <a:rPr lang="en-US" sz="1100"/>
                        <a:t>Deliver comprehensive value-at-stake recommendation</a:t>
                      </a:r>
                    </a:p>
                  </a:txBody>
                  <a:tcPr anchor="ctr"/>
                </a:tc>
                <a:tc>
                  <a:txBody>
                    <a:bodyPr/>
                    <a:lstStyle/>
                    <a:p>
                      <a:pPr marL="177800" indent="-177800"/>
                      <a:r>
                        <a:rPr lang="en-US" sz="1100" b="0"/>
                        <a:t>The overall value-at-stake recommendation is </a:t>
                      </a:r>
                      <a:r>
                        <a:rPr lang="en-US" sz="1100" b="1"/>
                        <a:t>typically delivered using the Cost Savings Summary slide</a:t>
                      </a:r>
                    </a:p>
                    <a:p>
                      <a:pPr marL="355600" lvl="1" indent="-177800"/>
                      <a:r>
                        <a:rPr lang="en-US" sz="900" b="0"/>
                        <a:t>The ‘Current spend / performance’ column of this slide can be filled out using data from the Excel Dashboard</a:t>
                      </a:r>
                    </a:p>
                    <a:p>
                      <a:pPr marL="355600" lvl="1" indent="-177800"/>
                      <a:r>
                        <a:rPr lang="en-US" sz="900" b="0"/>
                        <a:t>The Harvey balls are inputted based on whether the target performs worse than median, better than median, or in the Top Q for a given metric</a:t>
                      </a:r>
                    </a:p>
                    <a:p>
                      <a:pPr marL="355600" lvl="1" indent="-177800"/>
                      <a:r>
                        <a:rPr lang="en-US" sz="900" b="0"/>
                        <a:t>The ‘Size of opportunity (Benchmarking)’ column is filled in using the ‘down arrow’ value-at-stake opportunity from each slide</a:t>
                      </a:r>
                    </a:p>
                    <a:p>
                      <a:pPr marL="355600" lvl="1" indent="-177800"/>
                      <a:r>
                        <a:rPr lang="en-US" sz="900" b="0"/>
                        <a:t>The ‘Size of opportunity (Bain Experience)’ column comes from the Bain Experience slide</a:t>
                      </a:r>
                    </a:p>
                    <a:p>
                      <a:pPr marL="177800" indent="-177800"/>
                      <a:r>
                        <a:rPr lang="en-US" sz="1100" b="0"/>
                        <a:t>The size of opportunity recommendation is created based on the </a:t>
                      </a:r>
                      <a:r>
                        <a:rPr lang="en-US" sz="1100" b="1"/>
                        <a:t>synthesis of peer benchmarking &amp; Bain Experience</a:t>
                      </a:r>
                    </a:p>
                    <a:p>
                      <a:pPr marL="355600" lvl="1" indent="-177800"/>
                      <a:r>
                        <a:rPr lang="en-US" sz="900" b="0"/>
                        <a:t>The team should decide which values to use based on what feels most </a:t>
                      </a:r>
                      <a:r>
                        <a:rPr lang="en-US" sz="900" b="1"/>
                        <a:t>feasible / addressable </a:t>
                      </a:r>
                      <a:r>
                        <a:rPr lang="en-US" sz="900" b="0"/>
                        <a:t>for the target</a:t>
                      </a:r>
                    </a:p>
                    <a:p>
                      <a:pPr marL="355600" lvl="1" indent="-177800"/>
                      <a:r>
                        <a:rPr lang="en-US" sz="900" b="0"/>
                        <a:t>If an opportunity within a given metric does not feel addressable, it is </a:t>
                      </a:r>
                      <a:r>
                        <a:rPr lang="en-US" sz="900" b="1"/>
                        <a:t>reasonable to avoid making a savings recommendation</a:t>
                      </a:r>
                    </a:p>
                    <a:p>
                      <a:pPr marL="355600" lvl="1" indent="-177800"/>
                      <a:r>
                        <a:rPr lang="en-US" sz="900" b="0"/>
                        <a:t>If possible, we should </a:t>
                      </a:r>
                      <a:r>
                        <a:rPr lang="en-US" sz="900" b="1"/>
                        <a:t>never recommend an opportunity using both the low-end and high-end from Bain Experience</a:t>
                      </a:r>
                      <a:r>
                        <a:rPr lang="en-US" sz="900" b="0"/>
                        <a:t>; it is important to leverage our peer benchmarking for at least one end of the range</a:t>
                      </a:r>
                    </a:p>
                    <a:p>
                      <a:pPr marL="177800" lvl="0" indent="-177800"/>
                      <a:r>
                        <a:rPr lang="en-US" sz="1100" b="0"/>
                        <a:t>Once the Cost Savings Summary page is created, it is important to </a:t>
                      </a:r>
                      <a:r>
                        <a:rPr lang="en-US" sz="1100" b="1"/>
                        <a:t>update the EBIT/DA Margin waterfall </a:t>
                      </a:r>
                      <a:r>
                        <a:rPr lang="en-US" sz="1100" b="0"/>
                        <a:t>(see Appendix for more information)</a:t>
                      </a:r>
                    </a:p>
                  </a:txBody>
                  <a:tcPr anchor="ct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15" name="Picture 14">
            <a:extLst>
              <a:ext uri="{FF2B5EF4-FFF2-40B4-BE49-F238E27FC236}">
                <a16:creationId xmlns:a16="http://schemas.microsoft.com/office/drawing/2014/main" id="{235B8290-807F-7440-4A5B-F5E9795095E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6437558" y="1926558"/>
            <a:ext cx="5589342" cy="3139916"/>
          </a:xfrm>
          <a:prstGeom prst="rect">
            <a:avLst/>
          </a:prstGeom>
        </p:spPr>
      </p:pic>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851495" cy="257442"/>
            <a:chOff x="0" y="876300"/>
            <a:chExt cx="1851495"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851495"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Lst>
              <a:ahLst/>
              <a:cxnLst>
                <a:cxn ang="0">
                  <a:pos x="connsiteX0" y="connsiteY0"/>
                </a:cxn>
                <a:cxn ang="0">
                  <a:pos x="connsiteX1" y="connsiteY1"/>
                </a:cxn>
                <a:cxn ang="0">
                  <a:pos x="connsiteX2" y="connsiteY2"/>
                </a:cxn>
                <a:cxn ang="0">
                  <a:pos x="connsiteX3" y="connsiteY3"/>
                </a:cxn>
              </a:cxnLst>
              <a:rect l="l" t="t" r="r" b="b"/>
              <a:pathLst>
                <a:path w="1851495" h="257442">
                  <a:moveTo>
                    <a:pt x="1851495" y="0"/>
                  </a:moveTo>
                  <a:lnTo>
                    <a:pt x="17967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3 – Savings Identification:</a:t>
            </a:r>
            <a:r>
              <a:rPr lang="en-US"/>
              <a:t> Process Breakdown (4/5)</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209842" y="3474351"/>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973B74"/>
                </a:solidFill>
              </a:rPr>
              <a:t>3d</a:t>
            </a:r>
          </a:p>
        </p:txBody>
      </p:sp>
      <p:pic>
        <p:nvPicPr>
          <p:cNvPr id="48" name="Picture 47">
            <a:extLst>
              <a:ext uri="{FF2B5EF4-FFF2-40B4-BE49-F238E27FC236}">
                <a16:creationId xmlns:a16="http://schemas.microsoft.com/office/drawing/2014/main" id="{A065E7B3-46AA-DF41-84DD-8603CE43C5FD}"/>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a:off x="7179064" y="3883738"/>
            <a:ext cx="4759822" cy="2677400"/>
          </a:xfrm>
          <a:prstGeom prst="rect">
            <a:avLst/>
          </a:prstGeom>
        </p:spPr>
      </p:pic>
      <p:sp>
        <p:nvSpPr>
          <p:cNvPr id="52" name="btfpNumberBubble557534">
            <a:extLst>
              <a:ext uri="{FF2B5EF4-FFF2-40B4-BE49-F238E27FC236}">
                <a16:creationId xmlns:a16="http://schemas.microsoft.com/office/drawing/2014/main" id="{B0CC11E0-E7F7-8E44-2B2D-C2DF2C8A0E54}"/>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35561431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p:cNvGraphicFramePr>
          <p:nvPr>
            <p:custDataLst>
              <p:tags r:id="rId2"/>
            </p:custDataLst>
            <p:extLst>
              <p:ext uri="{D42A27DB-BD31-4B8C-83A1-F6EECF244321}">
                <p14:modId xmlns:p14="http://schemas.microsoft.com/office/powerpoint/2010/main" val="14211625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3 – Savings Identification:</a:t>
            </a:r>
            <a:r>
              <a:rPr lang="en-US"/>
              <a:t> Tips &amp; Best Practices (1/2)</a:t>
            </a:r>
          </a:p>
        </p:txBody>
      </p:sp>
      <p:sp>
        <p:nvSpPr>
          <p:cNvPr id="19" name="btfpBulletedList430166">
            <a:extLst>
              <a:ext uri="{FF2B5EF4-FFF2-40B4-BE49-F238E27FC236}">
                <a16:creationId xmlns:a16="http://schemas.microsoft.com/office/drawing/2014/main" id="{45E79BE1-4329-D74A-0213-99BCFBC27D48}"/>
              </a:ext>
            </a:extLst>
          </p:cNvPr>
          <p:cNvSpPr txBox="1"/>
          <p:nvPr>
            <p:custDataLst>
              <p:tags r:id="rId3"/>
            </p:custDataLst>
          </p:nvPr>
        </p:nvSpPr>
        <p:spPr bwMode="gray">
          <a:xfrm>
            <a:off x="325438" y="1269612"/>
            <a:ext cx="11531600" cy="4879147"/>
          </a:xfrm>
          <a:prstGeom prst="rect">
            <a:avLst/>
          </a:prstGeom>
          <a:noFill/>
        </p:spPr>
        <p:txBody>
          <a:bodyPr vert="horz" wrap="square" lIns="36000" tIns="36000" rIns="36000" bIns="36000" rtlCol="0">
            <a:spAutoFit/>
          </a:bodyPr>
          <a:lstStyle/>
          <a:p>
            <a:pPr>
              <a:defRPr/>
            </a:pPr>
            <a:r>
              <a:rPr lang="en-US" sz="1400">
                <a:solidFill>
                  <a:srgbClr val="000000"/>
                </a:solidFill>
                <a:latin typeface="Arial"/>
              </a:rPr>
              <a:t>When going through an OI, it is important to conduct 3 sense checks before finalizing our savings recommendation:</a:t>
            </a:r>
          </a:p>
          <a:p>
            <a:pPr rtl="0" fontAlgn="ctr">
              <a:buFont typeface="Arial" panose="020B0604020202020204" pitchFamily="34" charset="0"/>
              <a:buChar char="•"/>
            </a:pPr>
            <a:r>
              <a:rPr lang="en-US" sz="1400" b="1">
                <a:effectLst/>
                <a:latin typeface="+mj-lt"/>
              </a:rPr>
              <a:t>#1 - Do the benchmarks make sense? </a:t>
            </a:r>
          </a:p>
          <a:p>
            <a:pPr lvl="1" fontAlgn="ctr">
              <a:buFont typeface="Arial" panose="020B0604020202020204" pitchFamily="34" charset="0"/>
              <a:buChar char="‒"/>
            </a:pPr>
            <a:r>
              <a:rPr lang="en-US" sz="1200">
                <a:effectLst/>
                <a:latin typeface="+mj-lt"/>
              </a:rPr>
              <a:t>Run through the </a:t>
            </a:r>
            <a:r>
              <a:rPr lang="en-US" sz="1200" u="sng">
                <a:effectLst/>
                <a:latin typeface="+mj-lt"/>
              </a:rPr>
              <a:t>core cost slides</a:t>
            </a:r>
            <a:r>
              <a:rPr lang="en-US" sz="1200">
                <a:effectLst/>
                <a:latin typeface="+mj-lt"/>
              </a:rPr>
              <a:t> &amp; check whether the recommended savings ranges are reasonable given the context of the industry / trends we observe in the analysis; if the ranges are unreasonable, look for another benchmark we can use (i.e., prior year, etc.)</a:t>
            </a:r>
          </a:p>
          <a:p>
            <a:pPr lvl="1" fontAlgn="ctr">
              <a:buFont typeface="Arial" panose="020B0604020202020204" pitchFamily="34" charset="0"/>
              <a:buChar char="‒"/>
            </a:pPr>
            <a:r>
              <a:rPr lang="en-US" sz="1200">
                <a:effectLst/>
                <a:latin typeface="+mj-lt"/>
              </a:rPr>
              <a:t>Check the Bain experience savings slide</a:t>
            </a:r>
          </a:p>
          <a:p>
            <a:pPr lvl="2" fontAlgn="ctr">
              <a:buFont typeface="Arial" panose="020B0604020202020204" pitchFamily="34" charset="0"/>
              <a:buChar char="&gt;"/>
            </a:pPr>
            <a:r>
              <a:rPr lang="en-US" sz="1200">
                <a:effectLst/>
                <a:latin typeface="+mj-lt"/>
              </a:rPr>
              <a:t>Check to make sure the naming of each cost bucket aligns with the target's income statement (e.g., COGS v. </a:t>
            </a:r>
            <a:r>
              <a:rPr lang="en-US" sz="1200" err="1">
                <a:effectLst/>
                <a:latin typeface="+mj-lt"/>
              </a:rPr>
              <a:t>CoS</a:t>
            </a:r>
            <a:r>
              <a:rPr lang="en-US" sz="1200">
                <a:effectLst/>
                <a:latin typeface="+mj-lt"/>
              </a:rPr>
              <a:t>); update throughout the deck</a:t>
            </a:r>
          </a:p>
          <a:p>
            <a:pPr lvl="2" fontAlgn="ctr">
              <a:buFont typeface="Arial" panose="020B0604020202020204" pitchFamily="34" charset="0"/>
              <a:buChar char="&gt;"/>
            </a:pPr>
            <a:r>
              <a:rPr lang="en-US" sz="1200">
                <a:effectLst/>
                <a:latin typeface="+mj-lt"/>
              </a:rPr>
              <a:t>If the cost profile does not come from the target's actuals, confirm that the savings levers accurately represent the target's operations / activities</a:t>
            </a:r>
          </a:p>
          <a:p>
            <a:pPr lvl="2" fontAlgn="ctr">
              <a:buFont typeface="Arial" panose="020B0604020202020204" pitchFamily="34" charset="0"/>
              <a:buChar char="&gt;"/>
            </a:pPr>
            <a:r>
              <a:rPr lang="en-US" sz="1200">
                <a:effectLst/>
                <a:latin typeface="+mj-lt"/>
              </a:rPr>
              <a:t>Find a previous OI in the industry and compare the savings %s and overall savings $$ against it; make sure the %s align and that we're in the same ballpark; the quickest way to do this is to check if we have already done an OI for one of the target’s peers and to sense check this OI for the savings %s</a:t>
            </a:r>
          </a:p>
          <a:p>
            <a:pPr rtl="0" fontAlgn="ctr">
              <a:buFont typeface="Arial" panose="020B0604020202020204" pitchFamily="34" charset="0"/>
              <a:buChar char="•"/>
            </a:pPr>
            <a:r>
              <a:rPr lang="en-US" sz="1400" b="1">
                <a:effectLst/>
                <a:latin typeface="+mj-lt"/>
              </a:rPr>
              <a:t>#2 - Does the story make sense?</a:t>
            </a:r>
            <a:endParaRPr lang="en-US" sz="1400">
              <a:effectLst/>
              <a:latin typeface="+mj-lt"/>
            </a:endParaRPr>
          </a:p>
          <a:p>
            <a:pPr marL="742950" lvl="1" indent="-285750" rtl="0" fontAlgn="ctr">
              <a:buFont typeface="Arial" panose="020B0604020202020204" pitchFamily="34" charset="0"/>
              <a:buChar char="‒"/>
            </a:pPr>
            <a:r>
              <a:rPr lang="en-US" sz="1200">
                <a:effectLst/>
                <a:latin typeface="+mj-lt"/>
              </a:rPr>
              <a:t>Go through each slide to observe the main trends. Does the target’s performance make sense given what we know about the industry and about each metric?  </a:t>
            </a:r>
          </a:p>
          <a:p>
            <a:pPr marL="920750" lvl="2" indent="-285750" fontAlgn="ctr">
              <a:buFont typeface="Arial" panose="020B0604020202020204" pitchFamily="34" charset="0"/>
              <a:buChar char="&gt;"/>
            </a:pPr>
            <a:r>
              <a:rPr lang="en-US" sz="1200">
                <a:effectLst/>
                <a:latin typeface="+mj-lt"/>
              </a:rPr>
              <a:t>[For answer-changing trends] Add call-outs to explain why the target is overperforming / underperforming relative to peers </a:t>
            </a:r>
          </a:p>
          <a:p>
            <a:pPr marL="920750" lvl="2" indent="-285750" fontAlgn="ctr">
              <a:buFont typeface="Arial" panose="020B0604020202020204" pitchFamily="34" charset="0"/>
              <a:buChar char="&gt;"/>
            </a:pPr>
            <a:r>
              <a:rPr lang="en-US" sz="1200">
                <a:effectLst/>
                <a:latin typeface="+mj-lt"/>
              </a:rPr>
              <a:t>Generally, we want to call out whenever the target looks like an outlier in the data or whenever a key metric has declined up to this year (e.g., revenue has declined recently, SG&amp;A cost has gone up, etc.)</a:t>
            </a:r>
          </a:p>
          <a:p>
            <a:pPr marL="920750" lvl="2" indent="-285750" fontAlgn="ctr">
              <a:buFont typeface="Arial" panose="020B0604020202020204" pitchFamily="34" charset="0"/>
              <a:buChar char="&gt;"/>
            </a:pPr>
            <a:r>
              <a:rPr lang="en-US" sz="1200">
                <a:effectLst/>
                <a:latin typeface="+mj-lt"/>
              </a:rPr>
              <a:t>Update tags to tell the story; check good examples (i.e., Travis Perkins, Autodesk) to make sure the sentence structure for a given slide matches</a:t>
            </a:r>
          </a:p>
          <a:p>
            <a:pPr rtl="0" fontAlgn="ctr">
              <a:buFont typeface="Arial" panose="020B0604020202020204" pitchFamily="34" charset="0"/>
              <a:buChar char="•"/>
            </a:pPr>
            <a:r>
              <a:rPr lang="en-US" sz="1400" b="1">
                <a:effectLst/>
                <a:latin typeface="+mj-lt"/>
              </a:rPr>
              <a:t>#3 - What is our overall savings recommendation?</a:t>
            </a:r>
            <a:endParaRPr lang="en-US" sz="1400">
              <a:effectLst/>
              <a:latin typeface="+mj-lt"/>
            </a:endParaRPr>
          </a:p>
          <a:p>
            <a:pPr marL="742950" lvl="1" indent="-285750" rtl="0" fontAlgn="ctr">
              <a:buFont typeface="Arial" panose="020B0604020202020204" pitchFamily="34" charset="0"/>
              <a:buChar char="‒"/>
            </a:pPr>
            <a:r>
              <a:rPr lang="en-US" sz="1200">
                <a:effectLst/>
                <a:latin typeface="+mj-lt"/>
              </a:rPr>
              <a:t>Update the savings #s based on any updates we make to benchmarks throughout the review process</a:t>
            </a:r>
          </a:p>
          <a:p>
            <a:pPr marL="742950" lvl="1" indent="-285750" rtl="0" fontAlgn="ctr">
              <a:buFont typeface="Arial" panose="020B0604020202020204" pitchFamily="34" charset="0"/>
              <a:buChar char="‒"/>
            </a:pPr>
            <a:r>
              <a:rPr lang="en-US" sz="1200">
                <a:effectLst/>
                <a:latin typeface="+mj-lt"/>
              </a:rPr>
              <a:t>When the Cost Savings Summary is updated, make sure to revise any slides that depend on it for inputs (</a:t>
            </a:r>
            <a:r>
              <a:rPr lang="en-US" sz="1200">
                <a:latin typeface="+mj-lt"/>
              </a:rPr>
              <a:t>i.e., Performance Summary, waterfall slides)</a:t>
            </a:r>
            <a:endParaRPr lang="en-US" sz="1200">
              <a:effectLst/>
              <a:latin typeface="+mj-lt"/>
            </a:endParaRPr>
          </a:p>
        </p:txBody>
      </p:sp>
      <p:grpSp>
        <p:nvGrpSpPr>
          <p:cNvPr id="15" name="btfpRunningAgenda1Level747472">
            <a:extLst>
              <a:ext uri="{FF2B5EF4-FFF2-40B4-BE49-F238E27FC236}">
                <a16:creationId xmlns:a16="http://schemas.microsoft.com/office/drawing/2014/main" id="{6BB39F58-EF7C-61C6-4494-D45365B6A98A}"/>
              </a:ext>
            </a:extLst>
          </p:cNvPr>
          <p:cNvGrpSpPr/>
          <p:nvPr>
            <p:custDataLst>
              <p:tags r:id="rId4"/>
            </p:custDataLst>
          </p:nvPr>
        </p:nvGrpSpPr>
        <p:grpSpPr>
          <a:xfrm>
            <a:off x="0" y="944429"/>
            <a:ext cx="1779142" cy="257442"/>
            <a:chOff x="0" y="876300"/>
            <a:chExt cx="1779142" cy="257442"/>
          </a:xfrm>
        </p:grpSpPr>
        <p:sp>
          <p:nvSpPr>
            <p:cNvPr id="16" name="btfpRunningAgenda1LevelBarLeft747472">
              <a:extLst>
                <a:ext uri="{FF2B5EF4-FFF2-40B4-BE49-F238E27FC236}">
                  <a16:creationId xmlns:a16="http://schemas.microsoft.com/office/drawing/2014/main" id="{F01923C3-76D0-7E69-DC0C-A7E29126EC53}"/>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67062CC-8870-E727-90D5-4749CFB4BA4F}"/>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20" name="btfpNumberBubble557534">
            <a:extLst>
              <a:ext uri="{FF2B5EF4-FFF2-40B4-BE49-F238E27FC236}">
                <a16:creationId xmlns:a16="http://schemas.microsoft.com/office/drawing/2014/main" id="{A4CECCEA-B716-5D67-D04D-8208DF848EA0}"/>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440776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69AE2A4-F2AB-65BC-0973-786D5BD7360B}"/>
              </a:ext>
            </a:extLst>
          </p:cNvPr>
          <p:cNvGraphicFramePr>
            <a:graphicFrameLocks/>
          </p:cNvGraphicFramePr>
          <p:nvPr>
            <p:custDataLst>
              <p:tags r:id="rId2"/>
            </p:custDataLst>
            <p:extLst>
              <p:ext uri="{D42A27DB-BD31-4B8C-83A1-F6EECF244321}">
                <p14:modId xmlns:p14="http://schemas.microsoft.com/office/powerpoint/2010/main" val="39445794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3" name="think-cell data - do not delete" hidden="1">
                        <a:extLst>
                          <a:ext uri="{FF2B5EF4-FFF2-40B4-BE49-F238E27FC236}">
                            <a16:creationId xmlns:a16="http://schemas.microsoft.com/office/drawing/2014/main" id="{069AE2A4-F2AB-65BC-0973-786D5BD7360B}"/>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C7A98E52-F525-BD05-ECF3-AB460CCDEB31}"/>
              </a:ext>
            </a:extLst>
          </p:cNvPr>
          <p:cNvGrpSpPr/>
          <p:nvPr/>
        </p:nvGrpSpPr>
        <p:grpSpPr>
          <a:xfrm>
            <a:off x="0" y="6926580"/>
            <a:ext cx="12192000" cy="137160"/>
            <a:chOff x="0" y="6926580"/>
            <a:chExt cx="12192000" cy="137160"/>
          </a:xfrm>
        </p:grpSpPr>
        <p:sp>
          <p:nvSpPr>
            <p:cNvPr id="10" name="btfpColumnGapBlocker980824">
              <a:extLst>
                <a:ext uri="{FF2B5EF4-FFF2-40B4-BE49-F238E27FC236}">
                  <a16:creationId xmlns:a16="http://schemas.microsoft.com/office/drawing/2014/main" id="{AAFC14F7-04A6-8CE1-A00C-42BE26DF030B}"/>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349293">
              <a:extLst>
                <a:ext uri="{FF2B5EF4-FFF2-40B4-BE49-F238E27FC236}">
                  <a16:creationId xmlns:a16="http://schemas.microsoft.com/office/drawing/2014/main" id="{87B64EFF-23B8-5A0E-4731-FB26C49A0015}"/>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984179">
              <a:extLst>
                <a:ext uri="{FF2B5EF4-FFF2-40B4-BE49-F238E27FC236}">
                  <a16:creationId xmlns:a16="http://schemas.microsoft.com/office/drawing/2014/main" id="{37D47B5F-3C8C-6F2B-9E4D-7E773BC5960F}"/>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292166">
              <a:extLst>
                <a:ext uri="{FF2B5EF4-FFF2-40B4-BE49-F238E27FC236}">
                  <a16:creationId xmlns:a16="http://schemas.microsoft.com/office/drawing/2014/main" id="{67224007-9E33-C289-E40C-87C6CAA738D3}"/>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4345BD11-AD1B-B47D-33F0-AD648620674B}"/>
              </a:ext>
            </a:extLst>
          </p:cNvPr>
          <p:cNvGrpSpPr/>
          <p:nvPr/>
        </p:nvGrpSpPr>
        <p:grpSpPr>
          <a:xfrm>
            <a:off x="0" y="-205740"/>
            <a:ext cx="12192000" cy="137160"/>
            <a:chOff x="0" y="-205740"/>
            <a:chExt cx="12192000" cy="137160"/>
          </a:xfrm>
        </p:grpSpPr>
        <p:sp>
          <p:nvSpPr>
            <p:cNvPr id="9" name="btfpColumnGapBlocker978183">
              <a:extLst>
                <a:ext uri="{FF2B5EF4-FFF2-40B4-BE49-F238E27FC236}">
                  <a16:creationId xmlns:a16="http://schemas.microsoft.com/office/drawing/2014/main" id="{BB368B0B-4C26-0556-EDB3-C1313B6D5881}"/>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516898">
              <a:extLst>
                <a:ext uri="{FF2B5EF4-FFF2-40B4-BE49-F238E27FC236}">
                  <a16:creationId xmlns:a16="http://schemas.microsoft.com/office/drawing/2014/main" id="{7E3FF45C-409D-A6FB-63C0-17EFF82E845C}"/>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566654">
              <a:extLst>
                <a:ext uri="{FF2B5EF4-FFF2-40B4-BE49-F238E27FC236}">
                  <a16:creationId xmlns:a16="http://schemas.microsoft.com/office/drawing/2014/main" id="{983127DE-BF7C-1C7F-2F20-7E8B579AF093}"/>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624309">
              <a:extLst>
                <a:ext uri="{FF2B5EF4-FFF2-40B4-BE49-F238E27FC236}">
                  <a16:creationId xmlns:a16="http://schemas.microsoft.com/office/drawing/2014/main" id="{8CD97B40-2CB1-33B3-F9EB-86A7FDCE2B1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80869269-9D3C-CF8D-7F80-BB7EBBF8D079}"/>
              </a:ext>
            </a:extLst>
          </p:cNvPr>
          <p:cNvSpPr>
            <a:spLocks noGrp="1"/>
          </p:cNvSpPr>
          <p:nvPr>
            <p:ph type="title"/>
          </p:nvPr>
        </p:nvSpPr>
        <p:spPr/>
        <p:txBody>
          <a:bodyPr vert="horz"/>
          <a:lstStyle/>
          <a:p>
            <a:pPr marL="0" indent="0"/>
            <a:r>
              <a:rPr lang="en-US" b="1" u="sng"/>
              <a:t>Stage 3 – Savings Identification:</a:t>
            </a:r>
            <a:r>
              <a:rPr lang="en-US"/>
              <a:t> Tips &amp; Best Practices (2/2)</a:t>
            </a:r>
          </a:p>
        </p:txBody>
      </p:sp>
      <p:sp>
        <p:nvSpPr>
          <p:cNvPr id="19" name="btfpBulletedList430166">
            <a:extLst>
              <a:ext uri="{FF2B5EF4-FFF2-40B4-BE49-F238E27FC236}">
                <a16:creationId xmlns:a16="http://schemas.microsoft.com/office/drawing/2014/main" id="{45E79BE1-4329-D74A-0213-99BCFBC27D48}"/>
              </a:ext>
            </a:extLst>
          </p:cNvPr>
          <p:cNvSpPr txBox="1"/>
          <p:nvPr>
            <p:custDataLst>
              <p:tags r:id="rId3"/>
            </p:custDataLst>
          </p:nvPr>
        </p:nvSpPr>
        <p:spPr bwMode="gray">
          <a:xfrm>
            <a:off x="325438" y="1269612"/>
            <a:ext cx="11531600" cy="5566515"/>
          </a:xfrm>
          <a:prstGeom prst="rect">
            <a:avLst/>
          </a:prstGeom>
          <a:noFill/>
        </p:spPr>
        <p:txBody>
          <a:bodyPr vert="horz" wrap="square" lIns="36000" tIns="36000" rIns="36000" bIns="36000" rtlCol="0">
            <a:spAutoFit/>
          </a:bodyPr>
          <a:lstStyle/>
          <a:p>
            <a:pPr>
              <a:defRPr/>
            </a:pPr>
            <a:r>
              <a:rPr lang="en-US" sz="1400" b="1" u="sng">
                <a:solidFill>
                  <a:srgbClr val="000000"/>
                </a:solidFill>
                <a:latin typeface="Arial"/>
              </a:rPr>
              <a:t>Median and Top Q ranges:</a:t>
            </a:r>
          </a:p>
          <a:p>
            <a:pPr lvl="1">
              <a:defRPr/>
            </a:pPr>
            <a:r>
              <a:rPr lang="en-US" sz="1200">
                <a:solidFill>
                  <a:srgbClr val="000000"/>
                </a:solidFill>
                <a:latin typeface="Arial"/>
              </a:rPr>
              <a:t>Sometimes, companies in the peer set are less comparable to the target in their operations and cost profile; in cases where peers are so structurally different that they skew the quartile ranges, we may exclude them from our quartiles and value-at-stake sizing. In these cases, we must note that we have done so using a footnote or call-out</a:t>
            </a:r>
            <a:endParaRPr lang="en-US" sz="1200" b="1" u="sng">
              <a:solidFill>
                <a:srgbClr val="000000"/>
              </a:solidFill>
              <a:latin typeface="Arial"/>
            </a:endParaRPr>
          </a:p>
          <a:p>
            <a:pPr>
              <a:defRPr/>
            </a:pPr>
            <a:r>
              <a:rPr lang="en-US" sz="1400" b="1" u="sng">
                <a:solidFill>
                  <a:srgbClr val="000000"/>
                </a:solidFill>
                <a:latin typeface="Arial"/>
              </a:rPr>
              <a:t>How to interpret R&amp;D:</a:t>
            </a:r>
            <a:endParaRPr lang="en-US" sz="1400">
              <a:solidFill>
                <a:srgbClr val="000000"/>
              </a:solidFill>
              <a:latin typeface="Arial"/>
            </a:endParaRPr>
          </a:p>
          <a:p>
            <a:pPr lvl="1">
              <a:defRPr/>
            </a:pPr>
            <a:r>
              <a:rPr lang="en-US" sz="1200">
                <a:solidFill>
                  <a:srgbClr val="000000"/>
                </a:solidFill>
                <a:latin typeface="Arial"/>
              </a:rPr>
              <a:t>When R&amp;D is benchmarked in an OI, we pay special attention to our verbiage and recommendations; E.g.,</a:t>
            </a:r>
          </a:p>
          <a:p>
            <a:pPr lvl="2">
              <a:defRPr/>
            </a:pPr>
            <a:r>
              <a:rPr lang="en-US" sz="1200">
                <a:solidFill>
                  <a:srgbClr val="000000"/>
                </a:solidFill>
                <a:latin typeface="Arial"/>
              </a:rPr>
              <a:t>We do not always assume that an R&amp;D spend reduction is a positive outcome for the target; if R&amp;D spend is strongly correlated with revenue &amp; gross margin improvement (see ‘R&amp;D Correlation’ slide in the Appendix), higher R&amp;D investment may be beneficial for the target</a:t>
            </a:r>
          </a:p>
          <a:p>
            <a:pPr lvl="2">
              <a:defRPr/>
            </a:pPr>
            <a:r>
              <a:rPr lang="en-US" sz="1200">
                <a:solidFill>
                  <a:srgbClr val="000000"/>
                </a:solidFill>
                <a:latin typeface="Arial"/>
              </a:rPr>
              <a:t>If R&amp;D spend is not correlated with revenue &amp; gross margin improvement, and the target’s R&amp;D (% of revenue) is still higher than peer median, we may recommend a cost reduction opportunity</a:t>
            </a:r>
          </a:p>
          <a:p>
            <a:pPr lvl="2">
              <a:defRPr/>
            </a:pPr>
            <a:r>
              <a:rPr lang="en-US" sz="1200">
                <a:solidFill>
                  <a:srgbClr val="000000"/>
                </a:solidFill>
                <a:latin typeface="Arial"/>
              </a:rPr>
              <a:t>For these reasons, we generally do not write that the target should ‘close the gap to peer median’; instead, we might write that ‘bringing R&amp;D spend to peer median would require a ~$50M spend reduction (~0.2x current spend)’ </a:t>
            </a:r>
          </a:p>
          <a:p>
            <a:pPr lvl="2">
              <a:defRPr/>
            </a:pPr>
            <a:r>
              <a:rPr lang="en-US" sz="1200">
                <a:solidFill>
                  <a:srgbClr val="000000"/>
                </a:solidFill>
                <a:latin typeface="Arial"/>
              </a:rPr>
              <a:t>In our cost metric bubble chart slide (see Appendix), we color the R&amp;D chart gray to highlight that performing above peer median is neither good nor bad</a:t>
            </a:r>
          </a:p>
          <a:p>
            <a:pPr>
              <a:defRPr/>
            </a:pPr>
            <a:r>
              <a:rPr lang="en-US" sz="1400" b="1" u="sng">
                <a:solidFill>
                  <a:srgbClr val="000000"/>
                </a:solidFill>
                <a:latin typeface="Arial"/>
              </a:rPr>
              <a:t>Additional guidance on building the Bain Experience slide:</a:t>
            </a:r>
          </a:p>
          <a:p>
            <a:pPr lvl="1">
              <a:defRPr/>
            </a:pPr>
            <a:r>
              <a:rPr kumimoji="0" lang="en-US" sz="1200" i="0" u="none" strike="noStrike" kern="1200" cap="none" spc="0" normalizeH="0" baseline="0" noProof="0">
                <a:ln>
                  <a:noFill/>
                </a:ln>
                <a:solidFill>
                  <a:srgbClr val="000000"/>
                </a:solidFill>
                <a:effectLst/>
                <a:uLnTx/>
                <a:uFillTx/>
                <a:latin typeface="Arial"/>
              </a:rPr>
              <a:t>Search the OI folder and tracker for past OIs of the target company's peers to identify the most comparable Bain Experience savings benchmarks</a:t>
            </a:r>
          </a:p>
          <a:p>
            <a:pPr lvl="1">
              <a:defRPr/>
            </a:pPr>
            <a:r>
              <a:rPr kumimoji="0" lang="en-US" sz="1200" i="0" u="none" strike="noStrike" kern="1200" cap="none" spc="0" normalizeH="0" baseline="0" noProof="0">
                <a:ln>
                  <a:noFill/>
                </a:ln>
                <a:solidFill>
                  <a:srgbClr val="000000"/>
                </a:solidFill>
                <a:effectLst/>
                <a:uLnTx/>
                <a:uFillTx/>
                <a:latin typeface="Arial"/>
              </a:rPr>
              <a:t>Ensure cost levers align with client-reported categories (e.g., COGS, </a:t>
            </a:r>
            <a:r>
              <a:rPr kumimoji="0" lang="en-US" sz="1200" i="0" u="none" strike="noStrike" kern="1200" cap="none" spc="0" normalizeH="0" baseline="0" noProof="0" err="1">
                <a:ln>
                  <a:noFill/>
                </a:ln>
                <a:solidFill>
                  <a:srgbClr val="000000"/>
                </a:solidFill>
                <a:effectLst/>
                <a:uLnTx/>
                <a:uFillTx/>
                <a:latin typeface="Arial"/>
              </a:rPr>
              <a:t>OpEx</a:t>
            </a:r>
            <a:r>
              <a:rPr kumimoji="0" lang="en-US" sz="1200" i="0" u="none" strike="noStrike" kern="1200" cap="none" spc="0" normalizeH="0" baseline="0" noProof="0">
                <a:ln>
                  <a:noFill/>
                </a:ln>
                <a:solidFill>
                  <a:srgbClr val="000000"/>
                </a:solidFill>
                <a:effectLst/>
                <a:uLnTx/>
                <a:uFillTx/>
                <a:latin typeface="Arial"/>
              </a:rPr>
              <a:t>, SG&amp;A, R&amp;D). If cost structures differ across peers, reference multiple OIs or similar industry benchmarks to validate comparability</a:t>
            </a:r>
          </a:p>
          <a:p>
            <a:pPr lvl="1">
              <a:defRPr/>
            </a:pPr>
            <a:r>
              <a:rPr kumimoji="0" lang="en-US" sz="1200" i="0" u="none" strike="noStrike" kern="1200" cap="none" spc="0" normalizeH="0" baseline="0" noProof="0">
                <a:ln>
                  <a:noFill/>
                </a:ln>
                <a:solidFill>
                  <a:srgbClr val="000000"/>
                </a:solidFill>
                <a:effectLst/>
                <a:uLnTx/>
                <a:uFillTx/>
                <a:latin typeface="Arial"/>
              </a:rPr>
              <a:t>Adjust for cost breakdown differences if peers lack detailed splits (e.g., merchandising costs in COGS). Use multiple past OIs, industry benchmarks, or adjacent sector insights to make these adjustments - with proper validation and sense checks </a:t>
            </a:r>
          </a:p>
          <a:p>
            <a:pPr lvl="1">
              <a:defRPr/>
            </a:pPr>
            <a:r>
              <a:rPr kumimoji="0" lang="en-US" sz="1200" i="0" u="none" strike="noStrike" kern="1200" cap="none" spc="0" normalizeH="0" baseline="0" noProof="0">
                <a:ln>
                  <a:noFill/>
                </a:ln>
                <a:solidFill>
                  <a:srgbClr val="000000"/>
                </a:solidFill>
                <a:effectLst/>
                <a:uLnTx/>
                <a:uFillTx/>
                <a:latin typeface="Arial"/>
              </a:rPr>
              <a:t>Enter the finalized savings levers into the "Size of Prize" tab in the dashboard under the Bain Experience table, ensuring accurate data input for calculations</a:t>
            </a:r>
          </a:p>
          <a:p>
            <a:pPr lvl="1">
              <a:defRPr/>
            </a:pPr>
            <a:r>
              <a:rPr kumimoji="0" lang="en-US" sz="1200" i="0" u="none" strike="noStrike" kern="1200" cap="none" spc="0" normalizeH="0" baseline="0" noProof="0">
                <a:ln>
                  <a:noFill/>
                </a:ln>
                <a:solidFill>
                  <a:srgbClr val="000000"/>
                </a:solidFill>
                <a:effectLst/>
                <a:uLnTx/>
                <a:uFillTx/>
                <a:latin typeface="Arial"/>
              </a:rPr>
              <a:t>Derive the Bain Experience savings $$s by multiplying the savings %s with the target’s financials and rounding to the nearest 5</a:t>
            </a:r>
          </a:p>
          <a:p>
            <a:pPr lvl="1">
              <a:spcBef>
                <a:spcPts val="0"/>
              </a:spcBef>
              <a:defRPr/>
            </a:pPr>
            <a:endParaRPr lang="en-US" sz="1200" b="1" u="sng">
              <a:solidFill>
                <a:srgbClr val="000000"/>
              </a:solidFill>
              <a:latin typeface="Arial"/>
            </a:endParaRPr>
          </a:p>
        </p:txBody>
      </p:sp>
      <p:grpSp>
        <p:nvGrpSpPr>
          <p:cNvPr id="15" name="btfpRunningAgenda1Level747472">
            <a:extLst>
              <a:ext uri="{FF2B5EF4-FFF2-40B4-BE49-F238E27FC236}">
                <a16:creationId xmlns:a16="http://schemas.microsoft.com/office/drawing/2014/main" id="{6BB39F58-EF7C-61C6-4494-D45365B6A98A}"/>
              </a:ext>
            </a:extLst>
          </p:cNvPr>
          <p:cNvGrpSpPr/>
          <p:nvPr>
            <p:custDataLst>
              <p:tags r:id="rId4"/>
            </p:custDataLst>
          </p:nvPr>
        </p:nvGrpSpPr>
        <p:grpSpPr>
          <a:xfrm>
            <a:off x="0" y="944429"/>
            <a:ext cx="1779142" cy="257442"/>
            <a:chOff x="0" y="876300"/>
            <a:chExt cx="1779142" cy="257442"/>
          </a:xfrm>
        </p:grpSpPr>
        <p:sp>
          <p:nvSpPr>
            <p:cNvPr id="16" name="btfpRunningAgenda1LevelBarLeft747472">
              <a:extLst>
                <a:ext uri="{FF2B5EF4-FFF2-40B4-BE49-F238E27FC236}">
                  <a16:creationId xmlns:a16="http://schemas.microsoft.com/office/drawing/2014/main" id="{F01923C3-76D0-7E69-DC0C-A7E29126EC53}"/>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7" name="btfpRunningAgenda1LevelTextLeft747472">
              <a:extLst>
                <a:ext uri="{FF2B5EF4-FFF2-40B4-BE49-F238E27FC236}">
                  <a16:creationId xmlns:a16="http://schemas.microsoft.com/office/drawing/2014/main" id="{367062CC-8870-E727-90D5-4749CFB4BA4F}"/>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3</a:t>
              </a:r>
            </a:p>
          </p:txBody>
        </p:sp>
      </p:grpSp>
      <p:sp>
        <p:nvSpPr>
          <p:cNvPr id="20" name="btfpNumberBubble557534">
            <a:extLst>
              <a:ext uri="{FF2B5EF4-FFF2-40B4-BE49-F238E27FC236}">
                <a16:creationId xmlns:a16="http://schemas.microsoft.com/office/drawing/2014/main" id="{EBFD7364-E9BF-FBB1-B603-58A289BC48F7}"/>
              </a:ext>
            </a:extLst>
          </p:cNvPr>
          <p:cNvSpPr/>
          <p:nvPr/>
        </p:nvSpPr>
        <p:spPr bwMode="gray">
          <a:xfrm>
            <a:off x="40250" y="509129"/>
            <a:ext cx="274320" cy="274320"/>
          </a:xfrm>
          <a:prstGeom prst="ellipse">
            <a:avLst/>
          </a:prstGeom>
          <a:solidFill>
            <a:srgbClr val="FFFFFF"/>
          </a:solidFill>
          <a:ln w="19050" cap="flat" cmpd="sng" algn="ctr">
            <a:solidFill>
              <a:srgbClr val="973B74"/>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973B74"/>
                </a:solidFill>
              </a:rPr>
              <a:t>3</a:t>
            </a:r>
          </a:p>
        </p:txBody>
      </p:sp>
    </p:spTree>
    <p:custDataLst>
      <p:tags r:id="rId1"/>
    </p:custDataLst>
    <p:extLst>
      <p:ext uri="{BB962C8B-B14F-4D97-AF65-F5344CB8AC3E}">
        <p14:creationId xmlns:p14="http://schemas.microsoft.com/office/powerpoint/2010/main" val="2907182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F9F4BE31-F268-5016-5509-D407AD21111E}"/>
              </a:ext>
            </a:extLst>
          </p:cNvPr>
          <p:cNvGraphicFramePr>
            <a:graphicFrameLocks/>
          </p:cNvGraphicFramePr>
          <p:nvPr>
            <p:custDataLst>
              <p:tags r:id="rId2"/>
            </p:custDataLst>
            <p:extLst>
              <p:ext uri="{D42A27DB-BD31-4B8C-83A1-F6EECF244321}">
                <p14:modId xmlns:p14="http://schemas.microsoft.com/office/powerpoint/2010/main" val="16191859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84" imgH="486" progId="TCLayout.ActiveDocument.1">
                  <p:embed/>
                </p:oleObj>
              </mc:Choice>
              <mc:Fallback>
                <p:oleObj name="think-cell Slide" r:id="rId7" imgW="484" imgH="486" progId="TCLayout.ActiveDocument.1">
                  <p:embed/>
                  <p:pic>
                    <p:nvPicPr>
                      <p:cNvPr id="23" name="think-cell data - do not delete" hidden="1">
                        <a:extLst>
                          <a:ext uri="{FF2B5EF4-FFF2-40B4-BE49-F238E27FC236}">
                            <a16:creationId xmlns:a16="http://schemas.microsoft.com/office/drawing/2014/main" id="{F9F4BE31-F268-5016-5509-D407AD21111E}"/>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grpSp>
        <p:nvGrpSpPr>
          <p:cNvPr id="21" name="btfpColumnIndicatorGroup2">
            <a:extLst>
              <a:ext uri="{FF2B5EF4-FFF2-40B4-BE49-F238E27FC236}">
                <a16:creationId xmlns:a16="http://schemas.microsoft.com/office/drawing/2014/main" id="{92D398F4-1F29-4E14-B528-7C7A642DD441}"/>
              </a:ext>
            </a:extLst>
          </p:cNvPr>
          <p:cNvGrpSpPr/>
          <p:nvPr/>
        </p:nvGrpSpPr>
        <p:grpSpPr>
          <a:xfrm>
            <a:off x="0" y="6926580"/>
            <a:ext cx="12192000" cy="137160"/>
            <a:chOff x="0" y="6926580"/>
            <a:chExt cx="12192000" cy="137160"/>
          </a:xfrm>
        </p:grpSpPr>
        <p:sp>
          <p:nvSpPr>
            <p:cNvPr id="17" name="btfpColumnGapBlocker280406">
              <a:extLst>
                <a:ext uri="{FF2B5EF4-FFF2-40B4-BE49-F238E27FC236}">
                  <a16:creationId xmlns:a16="http://schemas.microsoft.com/office/drawing/2014/main" id="{95BE7D46-39BF-4A13-9388-F91C114C15F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2" name="btfpColumnGapBlocker844410">
              <a:extLst>
                <a:ext uri="{FF2B5EF4-FFF2-40B4-BE49-F238E27FC236}">
                  <a16:creationId xmlns:a16="http://schemas.microsoft.com/office/drawing/2014/main" id="{BD26EE87-E06D-4BB9-9D73-D01A7CCA77D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9" name="btfpColumnIndicator726070">
              <a:extLst>
                <a:ext uri="{FF2B5EF4-FFF2-40B4-BE49-F238E27FC236}">
                  <a16:creationId xmlns:a16="http://schemas.microsoft.com/office/drawing/2014/main" id="{A7C99079-39D1-45A0-9AA6-8D52BC964ECC}"/>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 name="btfpColumnIndicator983706">
              <a:extLst>
                <a:ext uri="{FF2B5EF4-FFF2-40B4-BE49-F238E27FC236}">
                  <a16:creationId xmlns:a16="http://schemas.microsoft.com/office/drawing/2014/main" id="{681C53BA-8927-4860-A040-6C8FF766C098}"/>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9B461B99-F178-42E6-A2C8-2688F796089E}"/>
              </a:ext>
            </a:extLst>
          </p:cNvPr>
          <p:cNvGrpSpPr/>
          <p:nvPr/>
        </p:nvGrpSpPr>
        <p:grpSpPr>
          <a:xfrm>
            <a:off x="0" y="-205740"/>
            <a:ext cx="12192000" cy="137160"/>
            <a:chOff x="0" y="-205740"/>
            <a:chExt cx="12192000" cy="137160"/>
          </a:xfrm>
        </p:grpSpPr>
        <p:sp>
          <p:nvSpPr>
            <p:cNvPr id="14" name="btfpColumnGapBlocker400466">
              <a:extLst>
                <a:ext uri="{FF2B5EF4-FFF2-40B4-BE49-F238E27FC236}">
                  <a16:creationId xmlns:a16="http://schemas.microsoft.com/office/drawing/2014/main" id="{1090C0A3-79A5-499B-BEB7-54DF9E4231C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0" name="btfpColumnGapBlocker856706">
              <a:extLst>
                <a:ext uri="{FF2B5EF4-FFF2-40B4-BE49-F238E27FC236}">
                  <a16:creationId xmlns:a16="http://schemas.microsoft.com/office/drawing/2014/main" id="{F282D2EC-AE07-4E8B-921A-1F590870FDA8}"/>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 name="btfpColumnIndicator277417">
              <a:extLst>
                <a:ext uri="{FF2B5EF4-FFF2-40B4-BE49-F238E27FC236}">
                  <a16:creationId xmlns:a16="http://schemas.microsoft.com/office/drawing/2014/main" id="{D3F2FDB1-64A1-405B-9775-6B02A34728CC}"/>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 name="btfpColumnIndicator198336">
              <a:extLst>
                <a:ext uri="{FF2B5EF4-FFF2-40B4-BE49-F238E27FC236}">
                  <a16:creationId xmlns:a16="http://schemas.microsoft.com/office/drawing/2014/main" id="{0B63814D-90A7-4A5A-B218-178B8A477ED7}"/>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u="sng"/>
              <a:t>Stage 4 – Output Completion:</a:t>
            </a:r>
            <a:r>
              <a:rPr lang="en-US"/>
              <a:t> Process Overview</a:t>
            </a:r>
          </a:p>
        </p:txBody>
      </p:sp>
      <p:sp>
        <p:nvSpPr>
          <p:cNvPr id="3" name="btfpLayoutConfig" hidden="1"/>
          <p:cNvSpPr txBox="1"/>
          <p:nvPr/>
        </p:nvSpPr>
        <p:spPr bwMode="gray">
          <a:xfrm>
            <a:off x="12700" y="12700"/>
            <a:ext cx="57604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overall_0_132080267593530230 columns_1_132076921966464267 4_1_132076953839434906 </a:t>
            </a:r>
            <a:endParaRPr lang="en-US" sz="100" err="1">
              <a:solidFill>
                <a:srgbClr val="FFFFFF">
                  <a:alpha val="0"/>
                </a:srgbClr>
              </a:solidFill>
            </a:endParaRPr>
          </a:p>
        </p:txBody>
      </p:sp>
      <p:graphicFrame>
        <p:nvGraphicFramePr>
          <p:cNvPr id="4" name="btfpTable410507"/>
          <p:cNvGraphicFramePr>
            <a:graphicFrameLocks noGrp="1"/>
          </p:cNvGraphicFramePr>
          <p:nvPr>
            <p:custDataLst>
              <p:tags r:id="rId3"/>
            </p:custDataLst>
            <p:extLst>
              <p:ext uri="{D42A27DB-BD31-4B8C-83A1-F6EECF244321}">
                <p14:modId xmlns:p14="http://schemas.microsoft.com/office/powerpoint/2010/main" val="3152943507"/>
              </p:ext>
            </p:extLst>
          </p:nvPr>
        </p:nvGraphicFramePr>
        <p:xfrm>
          <a:off x="330199" y="1159813"/>
          <a:ext cx="11522070" cy="4648207"/>
        </p:xfrm>
        <a:graphic>
          <a:graphicData uri="http://schemas.openxmlformats.org/drawingml/2006/table">
            <a:tbl>
              <a:tblPr firstRow="1" firstCol="1">
                <a:tableStyleId>{9D7B26C5-4107-4FEC-AEDC-1716B250A1EF}</a:tableStyleId>
              </a:tblPr>
              <a:tblGrid>
                <a:gridCol w="472051">
                  <a:extLst>
                    <a:ext uri="{9D8B030D-6E8A-4147-A177-3AD203B41FA5}">
                      <a16:colId xmlns:a16="http://schemas.microsoft.com/office/drawing/2014/main" val="3215929653"/>
                    </a:ext>
                  </a:extLst>
                </a:gridCol>
                <a:gridCol w="420375">
                  <a:extLst>
                    <a:ext uri="{9D8B030D-6E8A-4147-A177-3AD203B41FA5}">
                      <a16:colId xmlns:a16="http://schemas.microsoft.com/office/drawing/2014/main" val="3863182739"/>
                    </a:ext>
                  </a:extLst>
                </a:gridCol>
                <a:gridCol w="2346667">
                  <a:extLst>
                    <a:ext uri="{9D8B030D-6E8A-4147-A177-3AD203B41FA5}">
                      <a16:colId xmlns:a16="http://schemas.microsoft.com/office/drawing/2014/main" val="3410592685"/>
                    </a:ext>
                  </a:extLst>
                </a:gridCol>
                <a:gridCol w="5915330">
                  <a:extLst>
                    <a:ext uri="{9D8B030D-6E8A-4147-A177-3AD203B41FA5}">
                      <a16:colId xmlns:a16="http://schemas.microsoft.com/office/drawing/2014/main" val="2818076346"/>
                    </a:ext>
                  </a:extLst>
                </a:gridCol>
                <a:gridCol w="1346717">
                  <a:extLst>
                    <a:ext uri="{9D8B030D-6E8A-4147-A177-3AD203B41FA5}">
                      <a16:colId xmlns:a16="http://schemas.microsoft.com/office/drawing/2014/main" val="3473590596"/>
                    </a:ext>
                  </a:extLst>
                </a:gridCol>
                <a:gridCol w="1020930">
                  <a:extLst>
                    <a:ext uri="{9D8B030D-6E8A-4147-A177-3AD203B41FA5}">
                      <a16:colId xmlns:a16="http://schemas.microsoft.com/office/drawing/2014/main" val="3350346648"/>
                    </a:ext>
                  </a:extLst>
                </a:gridCol>
              </a:tblGrid>
              <a:tr h="533242">
                <a:tc>
                  <a:txBody>
                    <a:bodyPr/>
                    <a:lstStyle/>
                    <a:p>
                      <a:pPr marL="0" indent="0">
                        <a:spcBef>
                          <a:spcPts val="0"/>
                        </a:spcBef>
                        <a:buFontTx/>
                        <a:buNone/>
                      </a:pPr>
                      <a:endParaRPr lang="en-US" sz="1100"/>
                    </a:p>
                  </a:txBody>
                  <a:tcPr anchor="b"/>
                </a:tc>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200"/>
                        <a:t>Action</a:t>
                      </a:r>
                    </a:p>
                  </a:txBody>
                  <a:tcPr anchor="b"/>
                </a:tc>
                <a:tc>
                  <a:txBody>
                    <a:bodyPr/>
                    <a:lstStyle/>
                    <a:p>
                      <a:pPr marL="0" indent="0">
                        <a:spcBef>
                          <a:spcPts val="0"/>
                        </a:spcBef>
                        <a:buFontTx/>
                        <a:buNone/>
                      </a:pPr>
                      <a:r>
                        <a:rPr lang="en-US" sz="1200"/>
                        <a:t>Description</a:t>
                      </a:r>
                    </a:p>
                  </a:txBody>
                  <a:tcPr anchor="b"/>
                </a:tc>
                <a:tc>
                  <a:txBody>
                    <a:bodyPr/>
                    <a:lstStyle/>
                    <a:p>
                      <a:pPr marL="0" indent="0">
                        <a:spcBef>
                          <a:spcPts val="0"/>
                        </a:spcBef>
                        <a:buFontTx/>
                        <a:buNone/>
                      </a:pPr>
                      <a:r>
                        <a:rPr lang="en-US" sz="1200"/>
                        <a:t>Est.</a:t>
                      </a:r>
                      <a:r>
                        <a:rPr lang="en-US" sz="1200" baseline="0"/>
                        <a:t> time allocation</a:t>
                      </a:r>
                      <a:endParaRPr lang="en-US" sz="1200"/>
                    </a:p>
                  </a:txBody>
                  <a:tcPr anchor="b"/>
                </a:tc>
                <a:tc>
                  <a:txBody>
                    <a:bodyPr/>
                    <a:lstStyle/>
                    <a:p>
                      <a:pPr marL="0" indent="0">
                        <a:spcBef>
                          <a:spcPts val="0"/>
                        </a:spcBef>
                        <a:buFontTx/>
                        <a:buNone/>
                      </a:pPr>
                      <a:r>
                        <a:rPr lang="en-US" sz="1200"/>
                        <a:t>Value</a:t>
                      </a:r>
                      <a:r>
                        <a:rPr lang="en-US" sz="1200" baseline="0"/>
                        <a:t> addition</a:t>
                      </a:r>
                      <a:endParaRPr lang="en-US" sz="1200"/>
                    </a:p>
                  </a:txBody>
                  <a:tcPr anchor="b"/>
                </a:tc>
                <a:extLst>
                  <a:ext uri="{0D108BD9-81ED-4DB2-BD59-A6C34878D82A}">
                    <a16:rowId xmlns:a16="http://schemas.microsoft.com/office/drawing/2014/main" val="2276346153"/>
                  </a:ext>
                </a:extLst>
              </a:tr>
              <a:tr h="1145052">
                <a:tc rowSpan="4">
                  <a:txBody>
                    <a:bodyPr/>
                    <a:lstStyle/>
                    <a:p>
                      <a:pPr marL="0" indent="0" algn="ctr">
                        <a:buFontTx/>
                        <a:buNone/>
                      </a:pPr>
                      <a:r>
                        <a:rPr lang="en-US" sz="1200" baseline="0"/>
                        <a:t>Output Completion Process</a:t>
                      </a:r>
                      <a:endParaRPr lang="en-US" sz="1200"/>
                    </a:p>
                  </a:txBody>
                  <a:tcPr vert="vert270" anchor="ctr">
                    <a:solidFill>
                      <a:srgbClr val="FAEEC3"/>
                    </a:solidFill>
                  </a:tcPr>
                </a:tc>
                <a:tc>
                  <a:txBody>
                    <a:bodyPr/>
                    <a:lstStyle/>
                    <a:p>
                      <a:pPr marL="0" indent="0">
                        <a:buFontTx/>
                        <a:buNone/>
                      </a:pPr>
                      <a:endParaRPr lang="en-US" sz="1200"/>
                    </a:p>
                  </a:txBody>
                  <a:tcPr/>
                </a:tc>
                <a:tc>
                  <a:txBody>
                    <a:bodyPr/>
                    <a:lstStyle/>
                    <a:p>
                      <a:pPr marL="0" indent="0">
                        <a:buFontTx/>
                        <a:buNone/>
                      </a:pPr>
                      <a:r>
                        <a:rPr lang="en-US" sz="1200" baseline="0"/>
                        <a:t>Present initial findings</a:t>
                      </a:r>
                      <a:br>
                        <a:rPr lang="en-US" sz="1200" baseline="0"/>
                      </a:br>
                      <a:r>
                        <a:rPr lang="en-US" sz="1200" baseline="0"/>
                        <a:t>to the LT team</a:t>
                      </a:r>
                      <a:endParaRPr lang="en-US" sz="1200"/>
                    </a:p>
                  </a:txBody>
                  <a:tcPr anchor="ctr"/>
                </a:tc>
                <a:tc>
                  <a:txBody>
                    <a:bodyPr/>
                    <a:lstStyle/>
                    <a:p>
                      <a:pPr marL="0" indent="0">
                        <a:buFontTx/>
                        <a:buNone/>
                      </a:pPr>
                      <a:r>
                        <a:rPr lang="en-US" sz="1200"/>
                        <a:t>Discuss the emerging answer, story, and critical questions with the LT team; identify any net-new slides or additional research that must be completed</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0.5-1 hour</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3328002151"/>
                  </a:ext>
                </a:extLst>
              </a:tr>
              <a:tr h="1145052">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baseline="0"/>
                        <a:t>Update remaining slides</a:t>
                      </a:r>
                      <a:endParaRPr lang="en-US" sz="1200"/>
                    </a:p>
                  </a:txBody>
                  <a:tcPr anchor="ctr"/>
                </a:tc>
                <a:tc>
                  <a:txBody>
                    <a:bodyPr/>
                    <a:lstStyle/>
                    <a:p>
                      <a:pPr marL="0" indent="0">
                        <a:buFontTx/>
                        <a:buNone/>
                      </a:pPr>
                      <a:r>
                        <a:rPr lang="en-US" sz="1200"/>
                        <a:t>Update the EBIT/DA waterfall slide (if the value-at-stake recommendations shifted), the EV waterfall slide, and the Performance Summary slide</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9"/>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883383098"/>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baseline="0"/>
                        <a:t>Review the full deck &amp; refine the storyline</a:t>
                      </a:r>
                      <a:endParaRPr lang="en-US" sz="1200"/>
                    </a:p>
                  </a:txBody>
                  <a:tcPr anchor="ctr"/>
                </a:tc>
                <a:tc>
                  <a:txBody>
                    <a:bodyPr/>
                    <a:lstStyle/>
                    <a:p>
                      <a:pPr marL="0" indent="0">
                        <a:buFontTx/>
                        <a:buNone/>
                      </a:pPr>
                      <a:r>
                        <a:rPr lang="en-US" sz="1200"/>
                        <a:t>Flip through each page to perform a full ZD, ensuring that numbers and labels tie throughout the deck; adjust taglines as needed to ensure that the story flows and that is answer-oriented</a:t>
                      </a:r>
                      <a:br>
                        <a:rPr lang="en-US" sz="1200"/>
                      </a:br>
                      <a:br>
                        <a:rPr lang="en-US" sz="1200"/>
                      </a:br>
                      <a:r>
                        <a:rPr lang="en-US" sz="1200" i="1"/>
                        <a:t>Note: Once this step is performed, send the deck to LT for final review; action feedback before proceeding to the final step</a:t>
                      </a:r>
                      <a:endParaRPr lang="en-US" sz="1200"/>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1 hour</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836750479"/>
                  </a:ext>
                </a:extLst>
              </a:tr>
              <a:tr h="636141">
                <a:tc vMerge="1">
                  <a:txBody>
                    <a:bodyPr/>
                    <a:lstStyle/>
                    <a:p>
                      <a:endParaRPr lang="en-US"/>
                    </a:p>
                  </a:txBody>
                  <a:tcPr/>
                </a:tc>
                <a:tc>
                  <a:txBody>
                    <a:bodyPr/>
                    <a:lstStyle/>
                    <a:p>
                      <a:pPr marL="0" indent="0">
                        <a:buFontTx/>
                        <a:buNone/>
                      </a:pPr>
                      <a:endParaRPr lang="en-US" sz="1200"/>
                    </a:p>
                  </a:txBody>
                  <a:tcPr/>
                </a:tc>
                <a:tc>
                  <a:txBody>
                    <a:bodyPr/>
                    <a:lstStyle/>
                    <a:p>
                      <a:pPr marL="0" indent="0">
                        <a:buFontTx/>
                        <a:buNone/>
                      </a:pPr>
                      <a:r>
                        <a:rPr lang="en-US" sz="1200"/>
                        <a:t>Share findings with </a:t>
                      </a:r>
                      <a:br>
                        <a:rPr lang="en-US" sz="1200"/>
                      </a:br>
                      <a:r>
                        <a:rPr lang="en-US" sz="1200"/>
                        <a:t>the account team</a:t>
                      </a:r>
                    </a:p>
                  </a:txBody>
                  <a:tcPr anchor="ctr"/>
                </a:tc>
                <a:tc>
                  <a:txBody>
                    <a:bodyPr/>
                    <a:lstStyle/>
                    <a:p>
                      <a:pPr marL="0" indent="0">
                        <a:buFontTx/>
                        <a:buNone/>
                      </a:pPr>
                      <a:r>
                        <a:rPr lang="en-US" sz="1200"/>
                        <a:t>After incorporating LT feedback and performing a final ZD, draft an email to the account team and share the OI</a:t>
                      </a:r>
                    </a:p>
                  </a:txBody>
                  <a:tcPr anchor="ct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30 minutes</a:t>
                      </a:r>
                    </a:p>
                  </a:txBody>
                  <a:tcPr anchor="ctr"/>
                </a:tc>
                <a:tc>
                  <a:txBody>
                    <a:bodyPr/>
                    <a:lstStyle/>
                    <a:p>
                      <a:pPr marL="0" marR="0" lvl="0" indent="0" algn="ctr" defTabSz="711200" rtl="0" eaLnBrk="1" fontAlgn="ctr" latinLnBrk="0" hangingPunct="1">
                        <a:lnSpc>
                          <a:spcPct val="100000"/>
                        </a:lnSpc>
                        <a:spcBef>
                          <a:spcPts val="1200"/>
                        </a:spcBef>
                        <a:spcAft>
                          <a:spcPts val="0"/>
                        </a:spcAft>
                        <a:buClrTx/>
                        <a:buSzPct val="180000"/>
                        <a:buFont typeface="Arial" panose="020B0604020202020204" pitchFamily="34" charset="0"/>
                        <a:buBlip>
                          <a:blip r:embed="rId10"/>
                        </a:buBlip>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 </a:t>
                      </a:r>
                    </a:p>
                  </a:txBody>
                  <a:tcPr anchor="ctr"/>
                </a:tc>
                <a:extLst>
                  <a:ext uri="{0D108BD9-81ED-4DB2-BD59-A6C34878D82A}">
                    <a16:rowId xmlns:a16="http://schemas.microsoft.com/office/drawing/2014/main" val="1598342951"/>
                  </a:ext>
                </a:extLst>
              </a:tr>
            </a:tbl>
          </a:graphicData>
        </a:graphic>
      </p:graphicFrame>
      <p:sp>
        <p:nvSpPr>
          <p:cNvPr id="8" name="btfpNumberBubble266422"/>
          <p:cNvSpPr/>
          <p:nvPr/>
        </p:nvSpPr>
        <p:spPr bwMode="gray">
          <a:xfrm>
            <a:off x="888507" y="2081991"/>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4a</a:t>
            </a:r>
          </a:p>
        </p:txBody>
      </p:sp>
      <p:sp>
        <p:nvSpPr>
          <p:cNvPr id="15" name="Rectangle 14"/>
          <p:cNvSpPr/>
          <p:nvPr/>
        </p:nvSpPr>
        <p:spPr bwMode="gray">
          <a:xfrm>
            <a:off x="58255" y="1726162"/>
            <a:ext cx="276708" cy="408185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36000" tIns="36000" rIns="36000" bIns="36000" numCol="1" spcCol="0" rtlCol="0" fromWordArt="0" anchor="b" anchorCtr="0" forceAA="0" compatLnSpc="1">
            <a:prstTxWarp prst="textNoShape">
              <a:avLst/>
            </a:prstTxWarp>
            <a:noAutofit/>
          </a:bodyPr>
          <a:lstStyle/>
          <a:p>
            <a:pPr marL="0" indent="0" algn="ctr">
              <a:buNone/>
            </a:pPr>
            <a:r>
              <a:rPr lang="en-US" sz="1100" b="1" i="1">
                <a:solidFill>
                  <a:schemeClr val="tx1"/>
                </a:solidFill>
              </a:rPr>
              <a:t>Stage 4: </a:t>
            </a:r>
            <a:r>
              <a:rPr lang="en-US" sz="1100" b="1" i="1">
                <a:solidFill>
                  <a:schemeClr val="accent3"/>
                </a:solidFill>
              </a:rPr>
              <a:t>Output Completion Process</a:t>
            </a:r>
          </a:p>
        </p:txBody>
      </p:sp>
      <p:grpSp>
        <p:nvGrpSpPr>
          <p:cNvPr id="16" name="btfpRunningAgenda1Level747472">
            <a:extLst>
              <a:ext uri="{FF2B5EF4-FFF2-40B4-BE49-F238E27FC236}">
                <a16:creationId xmlns:a16="http://schemas.microsoft.com/office/drawing/2014/main" id="{3869CAA8-33FD-4541-A35A-95C79B21E7D2}"/>
              </a:ext>
            </a:extLst>
          </p:cNvPr>
          <p:cNvGrpSpPr/>
          <p:nvPr>
            <p:custDataLst>
              <p:tags r:id="rId4"/>
            </p:custDataLst>
          </p:nvPr>
        </p:nvGrpSpPr>
        <p:grpSpPr>
          <a:xfrm>
            <a:off x="-1064" y="944429"/>
            <a:ext cx="1779142" cy="257442"/>
            <a:chOff x="0" y="876300"/>
            <a:chExt cx="1779142" cy="257442"/>
          </a:xfrm>
        </p:grpSpPr>
        <p:sp>
          <p:nvSpPr>
            <p:cNvPr id="19" name="btfpRunningAgenda1LevelBarLeft747472">
              <a:extLst>
                <a:ext uri="{FF2B5EF4-FFF2-40B4-BE49-F238E27FC236}">
                  <a16:creationId xmlns:a16="http://schemas.microsoft.com/office/drawing/2014/main" id="{326D84A1-6C7A-4F59-9730-DF10D374A32F}"/>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 name="connsiteX0" fmla="*/ 1691196 w 1796775"/>
                <a:gd name="connsiteY0" fmla="*/ 0 h 257442"/>
                <a:gd name="connsiteX1" fmla="*/ 1796775 w 1796775"/>
                <a:gd name="connsiteY1" fmla="*/ 257442 h 257442"/>
                <a:gd name="connsiteX2" fmla="*/ 0 w 1796775"/>
                <a:gd name="connsiteY2" fmla="*/ 257442 h 257442"/>
                <a:gd name="connsiteX3" fmla="*/ 0 w 1796775"/>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0" name="btfpRunningAgenda1LevelTextLeft747472">
              <a:extLst>
                <a:ext uri="{FF2B5EF4-FFF2-40B4-BE49-F238E27FC236}">
                  <a16:creationId xmlns:a16="http://schemas.microsoft.com/office/drawing/2014/main" id="{140465B7-3A45-4A1E-88E6-74DB85FC442E}"/>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4</a:t>
              </a:r>
            </a:p>
          </p:txBody>
        </p:sp>
      </p:grpSp>
      <p:sp>
        <p:nvSpPr>
          <p:cNvPr id="25" name="btfpNumberBubble557534">
            <a:extLst>
              <a:ext uri="{FF2B5EF4-FFF2-40B4-BE49-F238E27FC236}">
                <a16:creationId xmlns:a16="http://schemas.microsoft.com/office/drawing/2014/main" id="{B019324E-9864-0C5E-F95B-A58BA51D2364}"/>
              </a:ext>
            </a:extLst>
          </p:cNvPr>
          <p:cNvSpPr/>
          <p:nvPr/>
        </p:nvSpPr>
        <p:spPr bwMode="gray">
          <a:xfrm>
            <a:off x="40250" y="509129"/>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
        <p:nvSpPr>
          <p:cNvPr id="28" name="btfpNumberBubble266422">
            <a:extLst>
              <a:ext uri="{FF2B5EF4-FFF2-40B4-BE49-F238E27FC236}">
                <a16:creationId xmlns:a16="http://schemas.microsoft.com/office/drawing/2014/main" id="{23A0C876-06AE-0B32-62AE-E2DAA919C63C}"/>
              </a:ext>
            </a:extLst>
          </p:cNvPr>
          <p:cNvSpPr/>
          <p:nvPr/>
        </p:nvSpPr>
        <p:spPr bwMode="gray">
          <a:xfrm>
            <a:off x="888506" y="3244326"/>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4b</a:t>
            </a:r>
          </a:p>
        </p:txBody>
      </p:sp>
      <p:sp>
        <p:nvSpPr>
          <p:cNvPr id="31" name="btfpNumberBubble266422">
            <a:extLst>
              <a:ext uri="{FF2B5EF4-FFF2-40B4-BE49-F238E27FC236}">
                <a16:creationId xmlns:a16="http://schemas.microsoft.com/office/drawing/2014/main" id="{205AA83B-282F-94F9-D432-8E03A6D58810}"/>
              </a:ext>
            </a:extLst>
          </p:cNvPr>
          <p:cNvSpPr/>
          <p:nvPr/>
        </p:nvSpPr>
        <p:spPr bwMode="gray">
          <a:xfrm>
            <a:off x="888505" y="4413071"/>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4c</a:t>
            </a:r>
          </a:p>
        </p:txBody>
      </p:sp>
      <p:sp>
        <p:nvSpPr>
          <p:cNvPr id="32" name="btfpNumberBubble266422">
            <a:extLst>
              <a:ext uri="{FF2B5EF4-FFF2-40B4-BE49-F238E27FC236}">
                <a16:creationId xmlns:a16="http://schemas.microsoft.com/office/drawing/2014/main" id="{12995807-7B12-5056-87EC-5A2F39841828}"/>
              </a:ext>
            </a:extLst>
          </p:cNvPr>
          <p:cNvSpPr/>
          <p:nvPr/>
        </p:nvSpPr>
        <p:spPr bwMode="gray">
          <a:xfrm>
            <a:off x="886186" y="5329106"/>
            <a:ext cx="340817" cy="340817"/>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4d</a:t>
            </a:r>
          </a:p>
        </p:txBody>
      </p:sp>
      <p:sp>
        <p:nvSpPr>
          <p:cNvPr id="13" name="Rectangle 12">
            <a:extLst>
              <a:ext uri="{FF2B5EF4-FFF2-40B4-BE49-F238E27FC236}">
                <a16:creationId xmlns:a16="http://schemas.microsoft.com/office/drawing/2014/main" id="{ACE86AFB-4378-5555-FFDF-8A3BFD9D0832}"/>
              </a:ext>
            </a:extLst>
          </p:cNvPr>
          <p:cNvSpPr/>
          <p:nvPr/>
        </p:nvSpPr>
        <p:spPr bwMode="gray">
          <a:xfrm>
            <a:off x="330200" y="6004967"/>
            <a:ext cx="11531600" cy="42762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indent="0" algn="ctr">
              <a:buNone/>
            </a:pPr>
            <a:r>
              <a:rPr lang="en-US" sz="1200">
                <a:solidFill>
                  <a:schemeClr val="tx1"/>
                </a:solidFill>
              </a:rPr>
              <a:t>Once the OI is shared with the account team, be cognizant of potential follow-ups or questions that might come up</a:t>
            </a:r>
          </a:p>
        </p:txBody>
      </p:sp>
    </p:spTree>
    <p:custDataLst>
      <p:tags r:id="rId1"/>
    </p:custDataLst>
    <p:extLst>
      <p:ext uri="{BB962C8B-B14F-4D97-AF65-F5344CB8AC3E}">
        <p14:creationId xmlns:p14="http://schemas.microsoft.com/office/powerpoint/2010/main" val="167613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17886987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3225574817"/>
              </p:ext>
            </p:extLst>
          </p:nvPr>
        </p:nvGraphicFramePr>
        <p:xfrm>
          <a:off x="325472" y="1601373"/>
          <a:ext cx="11414615" cy="4922012"/>
        </p:xfrm>
        <a:graphic>
          <a:graphicData uri="http://schemas.openxmlformats.org/drawingml/2006/table">
            <a:tbl>
              <a:tblPr firstRow="1" firstCol="1">
                <a:tableStyleId>{9D7B26C5-4107-4FEC-AEDC-1716B250A1EF}</a:tableStyleId>
              </a:tblPr>
              <a:tblGrid>
                <a:gridCol w="709062">
                  <a:extLst>
                    <a:ext uri="{9D8B030D-6E8A-4147-A177-3AD203B41FA5}">
                      <a16:colId xmlns:a16="http://schemas.microsoft.com/office/drawing/2014/main" val="3215929653"/>
                    </a:ext>
                  </a:extLst>
                </a:gridCol>
                <a:gridCol w="1722314">
                  <a:extLst>
                    <a:ext uri="{9D8B030D-6E8A-4147-A177-3AD203B41FA5}">
                      <a16:colId xmlns:a16="http://schemas.microsoft.com/office/drawing/2014/main" val="3410592685"/>
                    </a:ext>
                  </a:extLst>
                </a:gridCol>
                <a:gridCol w="8983239">
                  <a:extLst>
                    <a:ext uri="{9D8B030D-6E8A-4147-A177-3AD203B41FA5}">
                      <a16:colId xmlns:a16="http://schemas.microsoft.com/office/drawing/2014/main" val="2818076346"/>
                    </a:ext>
                  </a:extLst>
                </a:gridCol>
              </a:tblGrid>
              <a:tr h="259789">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extLst>
                  <a:ext uri="{0D108BD9-81ED-4DB2-BD59-A6C34878D82A}">
                    <a16:rowId xmlns:a16="http://schemas.microsoft.com/office/drawing/2014/main" val="2276346153"/>
                  </a:ext>
                </a:extLst>
              </a:tr>
              <a:tr h="1004623">
                <a:tc>
                  <a:txBody>
                    <a:bodyPr/>
                    <a:lstStyle/>
                    <a:p>
                      <a:pPr marL="0" indent="0" algn="ctr">
                        <a:buFontTx/>
                        <a:buNone/>
                      </a:pPr>
                      <a:r>
                        <a:rPr lang="en-US" sz="1100"/>
                        <a:t>STEP 1</a:t>
                      </a:r>
                    </a:p>
                  </a:txBody>
                  <a:tcPr vert="vert270" anchor="ctr">
                    <a:solidFill>
                      <a:srgbClr val="FAEEC3"/>
                    </a:solidFill>
                  </a:tcPr>
                </a:tc>
                <a:tc>
                  <a:txBody>
                    <a:bodyPr/>
                    <a:lstStyle/>
                    <a:p>
                      <a:pPr marL="0" indent="0">
                        <a:buFontTx/>
                        <a:buNone/>
                      </a:pPr>
                      <a:r>
                        <a:rPr lang="en-US" sz="1100" baseline="0"/>
                        <a:t>Present initial findings</a:t>
                      </a:r>
                      <a:br>
                        <a:rPr lang="en-US" sz="1100" baseline="0"/>
                      </a:br>
                      <a:r>
                        <a:rPr lang="en-US" sz="1100" baseline="0"/>
                        <a:t>to the LT team</a:t>
                      </a:r>
                      <a:endParaRPr lang="en-US" sz="1100"/>
                    </a:p>
                  </a:txBody>
                  <a:tcPr anchor="ctr"/>
                </a:tc>
                <a:tc>
                  <a:txBody>
                    <a:bodyPr/>
                    <a:lstStyle/>
                    <a:p>
                      <a:pPr marL="177800" indent="-177800"/>
                      <a:r>
                        <a:rPr lang="en-US" sz="1100" b="0"/>
                        <a:t>Review the emerging answer with the LT team during our daily content sync, making sure to </a:t>
                      </a:r>
                      <a:r>
                        <a:rPr lang="en-US" sz="1100" b="1"/>
                        <a:t>draw attention to the most important areas for input (i.e., savings recommendations, open questions)</a:t>
                      </a:r>
                    </a:p>
                  </a:txBody>
                  <a:tcPr/>
                </a:tc>
                <a:extLst>
                  <a:ext uri="{0D108BD9-81ED-4DB2-BD59-A6C34878D82A}">
                    <a16:rowId xmlns:a16="http://schemas.microsoft.com/office/drawing/2014/main" val="661190020"/>
                  </a:ext>
                </a:extLst>
              </a:tr>
              <a:tr h="1518190">
                <a:tc>
                  <a:txBody>
                    <a:bodyPr/>
                    <a:lstStyle/>
                    <a:p>
                      <a:pPr marL="0" indent="0" algn="ctr">
                        <a:buFontTx/>
                        <a:buNone/>
                      </a:pPr>
                      <a:r>
                        <a:rPr lang="en-US" sz="1100"/>
                        <a:t>Step 2</a:t>
                      </a:r>
                    </a:p>
                  </a:txBody>
                  <a:tcPr vert="vert270" anchor="ctr">
                    <a:solidFill>
                      <a:srgbClr val="FAEEC3"/>
                    </a:solidFill>
                  </a:tcPr>
                </a:tc>
                <a:tc>
                  <a:txBody>
                    <a:bodyPr/>
                    <a:lstStyle/>
                    <a:p>
                      <a:pPr marL="0" indent="0">
                        <a:buFontTx/>
                        <a:buNone/>
                      </a:pPr>
                      <a:r>
                        <a:rPr lang="en-US" sz="1100"/>
                        <a:t>Update remaining</a:t>
                      </a:r>
                      <a:br>
                        <a:rPr lang="en-US" sz="1100"/>
                      </a:br>
                      <a:r>
                        <a:rPr lang="en-US" sz="1100"/>
                        <a:t>slides in the deck</a:t>
                      </a:r>
                    </a:p>
                  </a:txBody>
                  <a:tcPr anchor="ctr"/>
                </a:tc>
                <a:tc>
                  <a:txBody>
                    <a:bodyPr/>
                    <a:lstStyle/>
                    <a:p>
                      <a:pPr marL="177800" indent="-177800"/>
                      <a:r>
                        <a:rPr lang="en-US" sz="1100" b="0"/>
                        <a:t>Revise the benchmarking pages and the Cost Savings Summary based on LT feedback</a:t>
                      </a:r>
                    </a:p>
                    <a:p>
                      <a:pPr marL="177800" indent="-177800"/>
                      <a:r>
                        <a:rPr lang="en-US" sz="1100" b="1"/>
                        <a:t>Update the EBIT/DA Margin waterfall once </a:t>
                      </a:r>
                      <a:r>
                        <a:rPr lang="en-US" sz="1100" b="0"/>
                        <a:t>the Cost Savings Summary has been finalized (see details in Appendix)</a:t>
                      </a:r>
                    </a:p>
                    <a:p>
                      <a:pPr marL="355600" lvl="1" indent="-177800"/>
                      <a:r>
                        <a:rPr lang="en-US" sz="900" b="0"/>
                        <a:t>Once the full-potential EBIT/DA Margin is calculated, multiply this value (either low- or high-end) by the incremental revenue figure in the down arrow of the projected revenue slide to arrive at the incremental EBIT/DA opportunity from revenue growth; this value will be </a:t>
                      </a:r>
                      <a:r>
                        <a:rPr lang="en-US" sz="900" b="1"/>
                        <a:t>included in the Cost Savings &amp; Performance summaries</a:t>
                      </a:r>
                    </a:p>
                    <a:p>
                      <a:pPr marL="177800" indent="-177800"/>
                      <a:r>
                        <a:rPr lang="en-US" sz="1100" b="0"/>
                        <a:t>Leverage the ‘EV/EBIT(DA) Calculation’ tab of the Excel Dashboard to model the EV uplift provided by the recommended cost savings; update the EV uplift waterfall slide (see details in Appendix); the TSR uplift calculated here will be </a:t>
                      </a:r>
                      <a:r>
                        <a:rPr lang="en-US" sz="1100" b="1"/>
                        <a:t>added to the Performance Summary</a:t>
                      </a:r>
                    </a:p>
                    <a:p>
                      <a:pPr marL="177800" indent="-177800"/>
                      <a:r>
                        <a:rPr lang="en-US" sz="1100" b="1"/>
                        <a:t>Construct the Performance Summary </a:t>
                      </a:r>
                      <a:r>
                        <a:rPr lang="en-US" sz="1100" b="0"/>
                        <a:t>slide based on key insights across the deck (see details in Appendix)</a:t>
                      </a:r>
                    </a:p>
                  </a:txBody>
                  <a:tcPr anchor="ctr"/>
                </a:tc>
                <a:extLst>
                  <a:ext uri="{0D108BD9-81ED-4DB2-BD59-A6C34878D82A}">
                    <a16:rowId xmlns:a16="http://schemas.microsoft.com/office/drawing/2014/main" val="768662691"/>
                  </a:ext>
                </a:extLst>
              </a:tr>
              <a:tr h="1677675">
                <a:tc>
                  <a:txBody>
                    <a:bodyPr/>
                    <a:lstStyle/>
                    <a:p>
                      <a:pPr marL="0" indent="0" algn="ctr">
                        <a:buFontTx/>
                        <a:buNone/>
                      </a:pPr>
                      <a:r>
                        <a:rPr lang="en-US" sz="1100"/>
                        <a:t>Step 3</a:t>
                      </a:r>
                    </a:p>
                  </a:txBody>
                  <a:tcPr vert="vert270" anchor="ctr">
                    <a:solidFill>
                      <a:srgbClr val="FAEEC3"/>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100" baseline="0"/>
                        <a:t>Review the full deck &amp; refine the storyline</a:t>
                      </a:r>
                      <a:endParaRPr lang="en-US" sz="1100"/>
                    </a:p>
                  </a:txBody>
                  <a:tcPr anchor="ctr"/>
                </a:tc>
                <a:tc>
                  <a:txBody>
                    <a:bodyPr/>
                    <a:lstStyle/>
                    <a:p>
                      <a:pPr marL="177800" indent="-177800"/>
                      <a:r>
                        <a:rPr lang="en-US" sz="1100"/>
                        <a:t>Flip through each page to perform a full ZD, </a:t>
                      </a:r>
                      <a:r>
                        <a:rPr lang="en-US" sz="1100" b="1"/>
                        <a:t>ensuring that numbers and labels tie </a:t>
                      </a:r>
                      <a:r>
                        <a:rPr lang="en-US" sz="1100"/>
                        <a:t>throughout the deck; E.g.,</a:t>
                      </a:r>
                    </a:p>
                    <a:p>
                      <a:pPr marL="355600" lvl="1" indent="-177800"/>
                      <a:r>
                        <a:rPr lang="en-US" sz="900" b="0"/>
                        <a:t>The ‘Size of Opportunity’ column of the Performance Summary slide should tie to the recommendations in the Cost Savings Summary &amp; waterfall slides</a:t>
                      </a:r>
                    </a:p>
                    <a:p>
                      <a:pPr marL="355600" lvl="1" indent="-177800"/>
                      <a:r>
                        <a:rPr lang="en-US" sz="900" b="0"/>
                        <a:t>Ensure all numbers reflect the same currency and unit (e.g., $M)</a:t>
                      </a:r>
                    </a:p>
                    <a:p>
                      <a:pPr marL="355600" lvl="1" indent="-177800"/>
                      <a:r>
                        <a:rPr lang="en-US" sz="900" b="0"/>
                        <a:t>Confirm that footnotes and sources are updated for each slide</a:t>
                      </a:r>
                    </a:p>
                    <a:p>
                      <a:pPr marL="355600" lvl="1" indent="-177800"/>
                      <a:r>
                        <a:rPr lang="en-US" sz="900" b="0"/>
                        <a:t>Validate that Bps changes and color coding are accurate</a:t>
                      </a:r>
                    </a:p>
                    <a:p>
                      <a:pPr marL="177800" lvl="0" indent="-177800"/>
                      <a:r>
                        <a:rPr lang="en-US" sz="1100" b="1"/>
                        <a:t>Update taglines to ensure that the story flows </a:t>
                      </a:r>
                      <a:r>
                        <a:rPr lang="en-US" sz="1100" b="0"/>
                        <a:t>from slide-to-slide and that each tagline is additive to the answer; reference best-practice examples like Travis Perkins and Autodesk. Please visit </a:t>
                      </a:r>
                      <a:r>
                        <a:rPr lang="en-US" sz="1100" b="0">
                          <a:hlinkClick r:id="rId10"/>
                        </a:rPr>
                        <a:t>this</a:t>
                      </a:r>
                      <a:r>
                        <a:rPr lang="en-US" sz="1100" b="0"/>
                        <a:t> </a:t>
                      </a:r>
                      <a:r>
                        <a:rPr lang="en-US" sz="1100"/>
                        <a:t>document for more information on how to frame the answer.</a:t>
                      </a:r>
                      <a:endParaRPr lang="en-US" sz="1100" b="0"/>
                    </a:p>
                    <a:p>
                      <a:pPr marL="177800" lvl="0" indent="-177800"/>
                      <a:r>
                        <a:rPr lang="en-US" sz="1100" b="0"/>
                        <a:t>Share the full deck for LT feedback and action any changes as needed</a:t>
                      </a:r>
                    </a:p>
                  </a:txBody>
                  <a:tcPr anchor="ctr"/>
                </a:tc>
                <a:extLst>
                  <a:ext uri="{0D108BD9-81ED-4DB2-BD59-A6C34878D82A}">
                    <a16:rowId xmlns:a16="http://schemas.microsoft.com/office/drawing/2014/main" val="1620797465"/>
                  </a:ext>
                </a:extLst>
              </a:tr>
            </a:tbl>
          </a:graphicData>
        </a:graphic>
      </p:graphicFrame>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779142" cy="257442"/>
            <a:chOff x="0" y="876300"/>
            <a:chExt cx="1779142"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 name="connsiteX0" fmla="*/ 1691196 w 1796775"/>
                <a:gd name="connsiteY0" fmla="*/ 0 h 257442"/>
                <a:gd name="connsiteX1" fmla="*/ 1796775 w 1796775"/>
                <a:gd name="connsiteY1" fmla="*/ 257442 h 257442"/>
                <a:gd name="connsiteX2" fmla="*/ 0 w 1796775"/>
                <a:gd name="connsiteY2" fmla="*/ 257442 h 257442"/>
                <a:gd name="connsiteX3" fmla="*/ 0 w 1796775"/>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4</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4 – Output Completion:</a:t>
            </a:r>
            <a:r>
              <a:rPr lang="en-US"/>
              <a:t> Process Breakdown (1/2)</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503758" y="1893395"/>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4a</a:t>
            </a:r>
          </a:p>
        </p:txBody>
      </p:sp>
      <p:sp>
        <p:nvSpPr>
          <p:cNvPr id="5" name="btfpNumberBubble557534">
            <a:extLst>
              <a:ext uri="{FF2B5EF4-FFF2-40B4-BE49-F238E27FC236}">
                <a16:creationId xmlns:a16="http://schemas.microsoft.com/office/drawing/2014/main" id="{33055E00-2BC1-4068-0026-D8F25A7FD516}"/>
              </a:ext>
            </a:extLst>
          </p:cNvPr>
          <p:cNvSpPr/>
          <p:nvPr/>
        </p:nvSpPr>
        <p:spPr bwMode="gray">
          <a:xfrm>
            <a:off x="40250" y="509129"/>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
        <p:nvSpPr>
          <p:cNvPr id="21" name="btfpNumberBubble266422">
            <a:extLst>
              <a:ext uri="{FF2B5EF4-FFF2-40B4-BE49-F238E27FC236}">
                <a16:creationId xmlns:a16="http://schemas.microsoft.com/office/drawing/2014/main" id="{AC70BA1E-1C13-E651-EB6E-659DF2F1E974}"/>
              </a:ext>
            </a:extLst>
          </p:cNvPr>
          <p:cNvSpPr/>
          <p:nvPr/>
        </p:nvSpPr>
        <p:spPr bwMode="gray">
          <a:xfrm>
            <a:off x="1503758" y="3198991"/>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4b</a:t>
            </a:r>
          </a:p>
        </p:txBody>
      </p:sp>
      <p:sp>
        <p:nvSpPr>
          <p:cNvPr id="31" name="btfpNumberBubble266422">
            <a:extLst>
              <a:ext uri="{FF2B5EF4-FFF2-40B4-BE49-F238E27FC236}">
                <a16:creationId xmlns:a16="http://schemas.microsoft.com/office/drawing/2014/main" id="{8C8569D7-1707-06AF-2F05-18B7C35662A7}"/>
              </a:ext>
            </a:extLst>
          </p:cNvPr>
          <p:cNvSpPr/>
          <p:nvPr/>
        </p:nvSpPr>
        <p:spPr bwMode="gray">
          <a:xfrm>
            <a:off x="1503758" y="4979222"/>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4c</a:t>
            </a:r>
          </a:p>
        </p:txBody>
      </p:sp>
    </p:spTree>
    <p:custDataLst>
      <p:tags r:id="rId1"/>
    </p:custDataLst>
    <p:extLst>
      <p:ext uri="{BB962C8B-B14F-4D97-AF65-F5344CB8AC3E}">
        <p14:creationId xmlns:p14="http://schemas.microsoft.com/office/powerpoint/2010/main" val="6620141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F4E80406-82AC-D5C5-0818-B0D7B2CDBDAA}"/>
              </a:ext>
            </a:extLst>
          </p:cNvPr>
          <p:cNvGraphicFramePr>
            <a:graphicFrameLocks/>
          </p:cNvGraphicFramePr>
          <p:nvPr>
            <p:custDataLst>
              <p:tags r:id="rId2"/>
            </p:custDataLst>
            <p:extLst>
              <p:ext uri="{D42A27DB-BD31-4B8C-83A1-F6EECF244321}">
                <p14:modId xmlns:p14="http://schemas.microsoft.com/office/powerpoint/2010/main" val="15565740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44" name="think-cell data - do not delete" hidden="1">
                        <a:extLst>
                          <a:ext uri="{FF2B5EF4-FFF2-40B4-BE49-F238E27FC236}">
                            <a16:creationId xmlns:a16="http://schemas.microsoft.com/office/drawing/2014/main" id="{F4E80406-82AC-D5C5-0818-B0D7B2CDBDA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41" name="btfpColumnIndicatorGroup2">
            <a:extLst>
              <a:ext uri="{FF2B5EF4-FFF2-40B4-BE49-F238E27FC236}">
                <a16:creationId xmlns:a16="http://schemas.microsoft.com/office/drawing/2014/main" id="{BD240BB4-0D3D-41E7-AE64-573F8201CE1D}"/>
              </a:ext>
            </a:extLst>
          </p:cNvPr>
          <p:cNvGrpSpPr/>
          <p:nvPr/>
        </p:nvGrpSpPr>
        <p:grpSpPr>
          <a:xfrm>
            <a:off x="0" y="6926580"/>
            <a:ext cx="12192000" cy="137160"/>
            <a:chOff x="0" y="6926580"/>
            <a:chExt cx="12192000" cy="137160"/>
          </a:xfrm>
        </p:grpSpPr>
        <p:sp>
          <p:nvSpPr>
            <p:cNvPr id="39" name="btfpColumnGapBlocker812644">
              <a:extLst>
                <a:ext uri="{FF2B5EF4-FFF2-40B4-BE49-F238E27FC236}">
                  <a16:creationId xmlns:a16="http://schemas.microsoft.com/office/drawing/2014/main" id="{350B4511-F677-4B33-AF78-BD30494C3B9F}"/>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7" name="btfpColumnGapBlocker473636">
              <a:extLst>
                <a:ext uri="{FF2B5EF4-FFF2-40B4-BE49-F238E27FC236}">
                  <a16:creationId xmlns:a16="http://schemas.microsoft.com/office/drawing/2014/main" id="{FADADE73-02E8-4F94-9B8D-69A9AB8E6BC7}"/>
                </a:ext>
              </a:extLst>
            </p:cNvPr>
            <p:cNvSpPr/>
            <p:nvPr/>
          </p:nvSpPr>
          <p:spPr bwMode="gray">
            <a:xfrm>
              <a:off x="7837752"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5" name="btfpColumnIndicator840051">
              <a:extLst>
                <a:ext uri="{FF2B5EF4-FFF2-40B4-BE49-F238E27FC236}">
                  <a16:creationId xmlns:a16="http://schemas.microsoft.com/office/drawing/2014/main" id="{9B1F5E51-8365-4C1B-81E1-06088FB4DADF}"/>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3" name="btfpColumnIndicator585783">
              <a:extLst>
                <a:ext uri="{FF2B5EF4-FFF2-40B4-BE49-F238E27FC236}">
                  <a16:creationId xmlns:a16="http://schemas.microsoft.com/office/drawing/2014/main" id="{7A882CFD-B9E2-4CB4-A899-41581F30012E}"/>
                </a:ext>
              </a:extLst>
            </p:cNvPr>
            <p:cNvCxnSpPr/>
            <p:nvPr/>
          </p:nvCxnSpPr>
          <p:spPr bwMode="gray">
            <a:xfrm flipV="1">
              <a:off x="8378296"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0" name="btfpColumnGapBlocker442402">
              <a:extLst>
                <a:ext uri="{FF2B5EF4-FFF2-40B4-BE49-F238E27FC236}">
                  <a16:creationId xmlns:a16="http://schemas.microsoft.com/office/drawing/2014/main" id="{0BAFCACB-43B8-4EAE-B27D-DD071131AB10}"/>
                </a:ext>
              </a:extLst>
            </p:cNvPr>
            <p:cNvSpPr/>
            <p:nvPr/>
          </p:nvSpPr>
          <p:spPr bwMode="gray">
            <a:xfrm>
              <a:off x="3813704"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562409">
              <a:extLst>
                <a:ext uri="{FF2B5EF4-FFF2-40B4-BE49-F238E27FC236}">
                  <a16:creationId xmlns:a16="http://schemas.microsoft.com/office/drawing/2014/main" id="{B436F3DB-5F90-45B0-AACB-033239B4652C}"/>
                </a:ext>
              </a:extLst>
            </p:cNvPr>
            <p:cNvCxnSpPr/>
            <p:nvPr/>
          </p:nvCxnSpPr>
          <p:spPr bwMode="gray">
            <a:xfrm flipV="1">
              <a:off x="783775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979779">
              <a:extLst>
                <a:ext uri="{FF2B5EF4-FFF2-40B4-BE49-F238E27FC236}">
                  <a16:creationId xmlns:a16="http://schemas.microsoft.com/office/drawing/2014/main" id="{3BFC9327-CBF3-49B8-8D7E-53987A5E866F}"/>
                </a:ext>
              </a:extLst>
            </p:cNvPr>
            <p:cNvCxnSpPr/>
            <p:nvPr/>
          </p:nvCxnSpPr>
          <p:spPr bwMode="gray">
            <a:xfrm flipV="1">
              <a:off x="435424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4" name="btfpColumnGapBlocker203162">
              <a:extLst>
                <a:ext uri="{FF2B5EF4-FFF2-40B4-BE49-F238E27FC236}">
                  <a16:creationId xmlns:a16="http://schemas.microsoft.com/office/drawing/2014/main" id="{BAFD34E1-D945-40D7-88AC-3FFEAD9335CE}"/>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2" name="btfpColumnIndicator345932">
              <a:extLst>
                <a:ext uri="{FF2B5EF4-FFF2-40B4-BE49-F238E27FC236}">
                  <a16:creationId xmlns:a16="http://schemas.microsoft.com/office/drawing/2014/main" id="{04F58DC3-4200-42F6-95D6-56EA1CEE692C}"/>
                </a:ext>
              </a:extLst>
            </p:cNvPr>
            <p:cNvCxnSpPr/>
            <p:nvPr/>
          </p:nvCxnSpPr>
          <p:spPr bwMode="gray">
            <a:xfrm flipV="1">
              <a:off x="3813704"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81511">
              <a:extLst>
                <a:ext uri="{FF2B5EF4-FFF2-40B4-BE49-F238E27FC236}">
                  <a16:creationId xmlns:a16="http://schemas.microsoft.com/office/drawing/2014/main" id="{4F87E4D2-1B94-4A92-B3B2-3D3D3FFE839D}"/>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40" name="btfpColumnIndicatorGroup1">
            <a:extLst>
              <a:ext uri="{FF2B5EF4-FFF2-40B4-BE49-F238E27FC236}">
                <a16:creationId xmlns:a16="http://schemas.microsoft.com/office/drawing/2014/main" id="{DF9952CA-5488-40D8-8330-A6E038DAB2DC}"/>
              </a:ext>
            </a:extLst>
          </p:cNvPr>
          <p:cNvGrpSpPr/>
          <p:nvPr/>
        </p:nvGrpSpPr>
        <p:grpSpPr>
          <a:xfrm>
            <a:off x="0" y="-205740"/>
            <a:ext cx="12192000" cy="137160"/>
            <a:chOff x="0" y="-205740"/>
            <a:chExt cx="12192000" cy="137160"/>
          </a:xfrm>
        </p:grpSpPr>
        <p:sp>
          <p:nvSpPr>
            <p:cNvPr id="38" name="btfpColumnGapBlocker958683">
              <a:extLst>
                <a:ext uri="{FF2B5EF4-FFF2-40B4-BE49-F238E27FC236}">
                  <a16:creationId xmlns:a16="http://schemas.microsoft.com/office/drawing/2014/main" id="{CB037423-2075-42A1-9639-9C60619B943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6" name="btfpColumnGapBlocker866338">
              <a:extLst>
                <a:ext uri="{FF2B5EF4-FFF2-40B4-BE49-F238E27FC236}">
                  <a16:creationId xmlns:a16="http://schemas.microsoft.com/office/drawing/2014/main" id="{D0624488-4682-4CA9-95F1-34C1FBFE164D}"/>
                </a:ext>
              </a:extLst>
            </p:cNvPr>
            <p:cNvSpPr/>
            <p:nvPr/>
          </p:nvSpPr>
          <p:spPr bwMode="gray">
            <a:xfrm>
              <a:off x="7837752"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296914">
              <a:extLst>
                <a:ext uri="{FF2B5EF4-FFF2-40B4-BE49-F238E27FC236}">
                  <a16:creationId xmlns:a16="http://schemas.microsoft.com/office/drawing/2014/main" id="{3731F4FD-BF0B-4418-B887-EC3D264CA05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2" name="btfpColumnIndicator910180">
              <a:extLst>
                <a:ext uri="{FF2B5EF4-FFF2-40B4-BE49-F238E27FC236}">
                  <a16:creationId xmlns:a16="http://schemas.microsoft.com/office/drawing/2014/main" id="{81EAD543-20D1-4EA6-8435-AC572C3B6516}"/>
                </a:ext>
              </a:extLst>
            </p:cNvPr>
            <p:cNvCxnSpPr/>
            <p:nvPr/>
          </p:nvCxnSpPr>
          <p:spPr bwMode="gray">
            <a:xfrm flipV="1">
              <a:off x="8378296"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9" name="btfpColumnGapBlocker212424">
              <a:extLst>
                <a:ext uri="{FF2B5EF4-FFF2-40B4-BE49-F238E27FC236}">
                  <a16:creationId xmlns:a16="http://schemas.microsoft.com/office/drawing/2014/main" id="{BF8DF872-5845-488F-9822-E6F33FB355FD}"/>
                </a:ext>
              </a:extLst>
            </p:cNvPr>
            <p:cNvSpPr/>
            <p:nvPr/>
          </p:nvSpPr>
          <p:spPr bwMode="gray">
            <a:xfrm>
              <a:off x="3813704"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321593">
              <a:extLst>
                <a:ext uri="{FF2B5EF4-FFF2-40B4-BE49-F238E27FC236}">
                  <a16:creationId xmlns:a16="http://schemas.microsoft.com/office/drawing/2014/main" id="{B31E1EAE-FD93-4641-B7FB-04019A7518C4}"/>
                </a:ext>
              </a:extLst>
            </p:cNvPr>
            <p:cNvCxnSpPr/>
            <p:nvPr/>
          </p:nvCxnSpPr>
          <p:spPr bwMode="gray">
            <a:xfrm flipV="1">
              <a:off x="783775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310752">
              <a:extLst>
                <a:ext uri="{FF2B5EF4-FFF2-40B4-BE49-F238E27FC236}">
                  <a16:creationId xmlns:a16="http://schemas.microsoft.com/office/drawing/2014/main" id="{24E5EAC2-9602-418E-835B-F0F72FD765F0}"/>
                </a:ext>
              </a:extLst>
            </p:cNvPr>
            <p:cNvCxnSpPr/>
            <p:nvPr/>
          </p:nvCxnSpPr>
          <p:spPr bwMode="gray">
            <a:xfrm flipV="1">
              <a:off x="435424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23" name="btfpColumnGapBlocker158453">
              <a:extLst>
                <a:ext uri="{FF2B5EF4-FFF2-40B4-BE49-F238E27FC236}">
                  <a16:creationId xmlns:a16="http://schemas.microsoft.com/office/drawing/2014/main" id="{604B244A-35EF-4582-8AB0-4FC72485ADD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9" name="btfpColumnIndicator151195">
              <a:extLst>
                <a:ext uri="{FF2B5EF4-FFF2-40B4-BE49-F238E27FC236}">
                  <a16:creationId xmlns:a16="http://schemas.microsoft.com/office/drawing/2014/main" id="{61715709-4105-43C0-A834-2310918EA8F5}"/>
                </a:ext>
              </a:extLst>
            </p:cNvPr>
            <p:cNvCxnSpPr/>
            <p:nvPr/>
          </p:nvCxnSpPr>
          <p:spPr bwMode="gray">
            <a:xfrm flipV="1">
              <a:off x="3813704"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 name="btfpColumnIndicator967331">
              <a:extLst>
                <a:ext uri="{FF2B5EF4-FFF2-40B4-BE49-F238E27FC236}">
                  <a16:creationId xmlns:a16="http://schemas.microsoft.com/office/drawing/2014/main" id="{DFCE843F-90B6-4C7D-9019-6EAFCC06180B}"/>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btfpLayoutConfig" hidden="1"/>
          <p:cNvSpPr txBox="1"/>
          <p:nvPr/>
        </p:nvSpPr>
        <p:spPr bwMode="gray">
          <a:xfrm>
            <a:off x="12700" y="12700"/>
            <a:ext cx="1172363" cy="88092"/>
          </a:xfrm>
          <a:prstGeom prst="rect">
            <a:avLst/>
          </a:prstGeom>
          <a:noFill/>
        </p:spPr>
        <p:txBody>
          <a:bodyPr vert="horz" wrap="none" lIns="36000" tIns="36000" rIns="36000" bIns="36000" rtlCol="0">
            <a:spAutoFit/>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kumimoji="0" lang="en-US" sz="100" b="0" i="0" u="none" strike="noStrike" kern="1200" cap="none" spc="0" normalizeH="0" baseline="0" noProof="0">
                <a:ln>
                  <a:noFill/>
                </a:ln>
                <a:solidFill>
                  <a:srgbClr val="FFFFFF">
                    <a:alpha val="0"/>
                  </a:srgbClr>
                </a:solidFill>
                <a:effectLst/>
                <a:uLnTx/>
                <a:uFillTx/>
                <a:latin typeface="Arial"/>
                <a:ea typeface="+mn-ea"/>
                <a:cs typeface="+mn-cs"/>
              </a:rPr>
              <a:t>overall_0_132502973815464807 columns_3_132068249530534771 4_1_132068243855844808 7_1_132502972248158988 12_1_132502972248328154 15_1_132502972248488500 26_1_132502973655446130 </a:t>
            </a:r>
            <a:endParaRPr kumimoji="0" lang="en-US" sz="100" b="0" i="0" u="none" strike="noStrike" kern="1200" cap="none" spc="0" normalizeH="0" baseline="0" noProof="0" err="1">
              <a:ln>
                <a:noFill/>
              </a:ln>
              <a:solidFill>
                <a:srgbClr val="FFFFFF">
                  <a:alpha val="0"/>
                </a:srgbClr>
              </a:solidFill>
              <a:effectLst/>
              <a:uLnTx/>
              <a:uFillTx/>
              <a:latin typeface="Arial"/>
              <a:ea typeface="+mn-ea"/>
              <a:cs typeface="+mn-cs"/>
            </a:endParaRPr>
          </a:p>
        </p:txBody>
      </p:sp>
      <p:grpSp>
        <p:nvGrpSpPr>
          <p:cNvPr id="12" name="btfpColumnHeaderBox686182"/>
          <p:cNvGrpSpPr/>
          <p:nvPr>
            <p:custDataLst>
              <p:tags r:id="rId3"/>
            </p:custDataLst>
          </p:nvPr>
        </p:nvGrpSpPr>
        <p:grpSpPr>
          <a:xfrm>
            <a:off x="316776" y="1285461"/>
            <a:ext cx="11423311" cy="318997"/>
            <a:chOff x="4354248" y="1502208"/>
            <a:chExt cx="3483504" cy="318997"/>
          </a:xfrm>
        </p:grpSpPr>
        <p:sp>
          <p:nvSpPr>
            <p:cNvPr id="9" name="btfpColumnHeaderBoxText686182"/>
            <p:cNvSpPr txBox="1"/>
            <p:nvPr/>
          </p:nvSpPr>
          <p:spPr bwMode="gray">
            <a:xfrm>
              <a:off x="4354248" y="1502208"/>
              <a:ext cx="3483504"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Process &amp; Output</a:t>
              </a:r>
            </a:p>
          </p:txBody>
        </p:sp>
        <p:cxnSp>
          <p:nvCxnSpPr>
            <p:cNvPr id="11" name="btfpColumnHeaderBoxLine686182"/>
            <p:cNvCxnSpPr/>
            <p:nvPr/>
          </p:nvCxnSpPr>
          <p:spPr bwMode="gray">
            <a:xfrm>
              <a:off x="4354248" y="1821205"/>
              <a:ext cx="3483504"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4" name="btfpTable410507">
            <a:extLst>
              <a:ext uri="{FF2B5EF4-FFF2-40B4-BE49-F238E27FC236}">
                <a16:creationId xmlns:a16="http://schemas.microsoft.com/office/drawing/2014/main" id="{DBDBDB36-B75C-F470-AA34-9B6403A9D7CC}"/>
              </a:ext>
            </a:extLst>
          </p:cNvPr>
          <p:cNvGraphicFramePr>
            <a:graphicFrameLocks noGrp="1"/>
          </p:cNvGraphicFramePr>
          <p:nvPr>
            <p:custDataLst>
              <p:tags r:id="rId4"/>
            </p:custDataLst>
            <p:extLst>
              <p:ext uri="{D42A27DB-BD31-4B8C-83A1-F6EECF244321}">
                <p14:modId xmlns:p14="http://schemas.microsoft.com/office/powerpoint/2010/main" val="1835289294"/>
              </p:ext>
            </p:extLst>
          </p:nvPr>
        </p:nvGraphicFramePr>
        <p:xfrm>
          <a:off x="325472" y="1601374"/>
          <a:ext cx="11531601" cy="3041077"/>
        </p:xfrm>
        <a:graphic>
          <a:graphicData uri="http://schemas.openxmlformats.org/drawingml/2006/table">
            <a:tbl>
              <a:tblPr firstRow="1" firstCol="1">
                <a:tableStyleId>{9D7B26C5-4107-4FEC-AEDC-1716B250A1EF}</a:tableStyleId>
              </a:tblPr>
              <a:tblGrid>
                <a:gridCol w="368818">
                  <a:extLst>
                    <a:ext uri="{9D8B030D-6E8A-4147-A177-3AD203B41FA5}">
                      <a16:colId xmlns:a16="http://schemas.microsoft.com/office/drawing/2014/main" val="3215929653"/>
                    </a:ext>
                  </a:extLst>
                </a:gridCol>
                <a:gridCol w="1134510">
                  <a:extLst>
                    <a:ext uri="{9D8B030D-6E8A-4147-A177-3AD203B41FA5}">
                      <a16:colId xmlns:a16="http://schemas.microsoft.com/office/drawing/2014/main" val="3410592685"/>
                    </a:ext>
                  </a:extLst>
                </a:gridCol>
                <a:gridCol w="3357349">
                  <a:extLst>
                    <a:ext uri="{9D8B030D-6E8A-4147-A177-3AD203B41FA5}">
                      <a16:colId xmlns:a16="http://schemas.microsoft.com/office/drawing/2014/main" val="2818076346"/>
                    </a:ext>
                  </a:extLst>
                </a:gridCol>
                <a:gridCol w="6670924">
                  <a:extLst>
                    <a:ext uri="{9D8B030D-6E8A-4147-A177-3AD203B41FA5}">
                      <a16:colId xmlns:a16="http://schemas.microsoft.com/office/drawing/2014/main" val="3050331554"/>
                    </a:ext>
                  </a:extLst>
                </a:gridCol>
              </a:tblGrid>
              <a:tr h="198680">
                <a:tc>
                  <a:txBody>
                    <a:bodyPr/>
                    <a:lstStyle/>
                    <a:p>
                      <a:pPr marL="0" indent="0">
                        <a:spcBef>
                          <a:spcPts val="0"/>
                        </a:spcBef>
                        <a:buFontTx/>
                        <a:buNone/>
                      </a:pPr>
                      <a:endParaRPr lang="en-US" sz="1100"/>
                    </a:p>
                  </a:txBody>
                  <a:tcPr anchor="b"/>
                </a:tc>
                <a:tc>
                  <a:txBody>
                    <a:bodyPr/>
                    <a:lstStyle/>
                    <a:p>
                      <a:pPr marL="0" indent="0">
                        <a:spcBef>
                          <a:spcPts val="0"/>
                        </a:spcBef>
                        <a:buFontTx/>
                        <a:buNone/>
                      </a:pPr>
                      <a:r>
                        <a:rPr lang="en-US" sz="1100"/>
                        <a:t>Action</a:t>
                      </a:r>
                    </a:p>
                  </a:txBody>
                  <a:tcPr anchor="b"/>
                </a:tc>
                <a:tc>
                  <a:txBody>
                    <a:bodyPr/>
                    <a:lstStyle/>
                    <a:p>
                      <a:pPr marL="0" indent="0">
                        <a:spcBef>
                          <a:spcPts val="0"/>
                        </a:spcBef>
                        <a:buFontTx/>
                        <a:buNone/>
                      </a:pPr>
                      <a:r>
                        <a:rPr lang="en-US" sz="1100"/>
                        <a:t>Description</a:t>
                      </a:r>
                    </a:p>
                  </a:txBody>
                  <a:tcPr anchor="b"/>
                </a:tc>
                <a:tc>
                  <a:txBody>
                    <a:bodyPr/>
                    <a:lstStyle/>
                    <a:p>
                      <a:pPr marL="0" marR="0" lvl="0" indent="0" algn="l" defTabSz="711200" rtl="0" eaLnBrk="1" fontAlgn="auto" latinLnBrk="0" hangingPunct="1">
                        <a:lnSpc>
                          <a:spcPct val="100000"/>
                        </a:lnSpc>
                        <a:spcBef>
                          <a:spcPts val="0"/>
                        </a:spcBef>
                        <a:spcAft>
                          <a:spcPts val="0"/>
                        </a:spcAft>
                        <a:buClrTx/>
                        <a:buSzTx/>
                        <a:buFontTx/>
                        <a:buNone/>
                        <a:tabLst/>
                        <a:defRPr/>
                      </a:pPr>
                      <a:r>
                        <a:rPr lang="en-US" sz="1100" b="1">
                          <a:solidFill>
                            <a:srgbClr val="C00000"/>
                          </a:solidFill>
                        </a:rPr>
                        <a:t>Process to share findings with the account team (Travis Perkins example)</a:t>
                      </a:r>
                    </a:p>
                  </a:txBody>
                  <a:tcPr anchor="b"/>
                </a:tc>
                <a:extLst>
                  <a:ext uri="{0D108BD9-81ED-4DB2-BD59-A6C34878D82A}">
                    <a16:rowId xmlns:a16="http://schemas.microsoft.com/office/drawing/2014/main" val="2276346153"/>
                  </a:ext>
                </a:extLst>
              </a:tr>
              <a:tr h="2781997">
                <a:tc>
                  <a:txBody>
                    <a:bodyPr/>
                    <a:lstStyle/>
                    <a:p>
                      <a:pPr marL="0" indent="0" algn="ctr">
                        <a:buFontTx/>
                        <a:buNone/>
                      </a:pPr>
                      <a:r>
                        <a:rPr lang="en-US" sz="1100"/>
                        <a:t>STEP 4</a:t>
                      </a:r>
                    </a:p>
                  </a:txBody>
                  <a:tcPr vert="vert270" anchor="ctr">
                    <a:solidFill>
                      <a:srgbClr val="FAEEC3"/>
                    </a:solidFill>
                  </a:tcPr>
                </a:tc>
                <a:tc>
                  <a:txBody>
                    <a:bodyPr/>
                    <a:lstStyle/>
                    <a:p>
                      <a:pPr marL="0" indent="0">
                        <a:buFontTx/>
                        <a:buNone/>
                      </a:pPr>
                      <a:r>
                        <a:rPr lang="en-US" sz="1100"/>
                        <a:t>Share findings with the account team</a:t>
                      </a:r>
                    </a:p>
                  </a:txBody>
                  <a:tcPr anchor="ctr"/>
                </a:tc>
                <a:tc>
                  <a:txBody>
                    <a:bodyPr/>
                    <a:lstStyle/>
                    <a:p>
                      <a:pPr marL="177800" indent="-177800"/>
                      <a:r>
                        <a:rPr lang="en-US" sz="1100" b="0"/>
                        <a:t>Draft an email to the account team with the standard format (see screenshot)</a:t>
                      </a:r>
                    </a:p>
                    <a:p>
                      <a:pPr marL="177800" indent="-177800"/>
                      <a:r>
                        <a:rPr lang="en-US" sz="1100" b="0"/>
                        <a:t>Bullet points for the ‘Additional details’ section can be pulled from the Performance Summary</a:t>
                      </a:r>
                    </a:p>
                    <a:p>
                      <a:pPr marL="177800" indent="-177800"/>
                      <a:r>
                        <a:rPr lang="en-US" sz="1100" b="0"/>
                        <a:t>Do a final ZD check by opening the attached file to confirm that all the latest changes are reflected and that there are no stickies present in the deck</a:t>
                      </a:r>
                    </a:p>
                    <a:p>
                      <a:pPr marL="177800" indent="-177800"/>
                      <a:r>
                        <a:rPr lang="en-US" sz="1100" b="0"/>
                        <a:t>When sending the email, make sure to respond in the correct thread; CC the BCN working team (check Trello to see who worked on the OI) and the OI LT (incl. BCN LT)</a:t>
                      </a:r>
                    </a:p>
                  </a:txBody>
                  <a:tcPr/>
                </a:tc>
                <a:tc>
                  <a:txBody>
                    <a:bodyPr/>
                    <a:lstStyle/>
                    <a:p>
                      <a:pPr marL="177800" indent="-177800"/>
                      <a:endParaRPr lang="en-US" sz="1100"/>
                    </a:p>
                  </a:txBody>
                  <a:tcPr anchor="ctr"/>
                </a:tc>
                <a:extLst>
                  <a:ext uri="{0D108BD9-81ED-4DB2-BD59-A6C34878D82A}">
                    <a16:rowId xmlns:a16="http://schemas.microsoft.com/office/drawing/2014/main" val="661190020"/>
                  </a:ext>
                </a:extLst>
              </a:tr>
            </a:tbl>
          </a:graphicData>
        </a:graphic>
      </p:graphicFrame>
      <p:pic>
        <p:nvPicPr>
          <p:cNvPr id="15" name="Picture 14">
            <a:extLst>
              <a:ext uri="{FF2B5EF4-FFF2-40B4-BE49-F238E27FC236}">
                <a16:creationId xmlns:a16="http://schemas.microsoft.com/office/drawing/2014/main" id="{235B8290-807F-7440-4A5B-F5E9795095E3}"/>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5313353" y="2010147"/>
            <a:ext cx="6426730" cy="2320478"/>
          </a:xfrm>
          <a:prstGeom prst="rect">
            <a:avLst/>
          </a:prstGeom>
        </p:spPr>
      </p:pic>
      <p:grpSp>
        <p:nvGrpSpPr>
          <p:cNvPr id="16" name="btfpRunningAgenda1Level747472">
            <a:extLst>
              <a:ext uri="{FF2B5EF4-FFF2-40B4-BE49-F238E27FC236}">
                <a16:creationId xmlns:a16="http://schemas.microsoft.com/office/drawing/2014/main" id="{7CF3B2F6-958D-C1AA-9FD1-F48E25960A1A}"/>
              </a:ext>
            </a:extLst>
          </p:cNvPr>
          <p:cNvGrpSpPr/>
          <p:nvPr>
            <p:custDataLst>
              <p:tags r:id="rId5"/>
            </p:custDataLst>
          </p:nvPr>
        </p:nvGrpSpPr>
        <p:grpSpPr>
          <a:xfrm>
            <a:off x="-1064" y="944429"/>
            <a:ext cx="1779142" cy="257442"/>
            <a:chOff x="0" y="876300"/>
            <a:chExt cx="1779142" cy="257442"/>
          </a:xfrm>
        </p:grpSpPr>
        <p:sp>
          <p:nvSpPr>
            <p:cNvPr id="17" name="btfpRunningAgenda1LevelBarLeft747472">
              <a:extLst>
                <a:ext uri="{FF2B5EF4-FFF2-40B4-BE49-F238E27FC236}">
                  <a16:creationId xmlns:a16="http://schemas.microsoft.com/office/drawing/2014/main" id="{0B1E3AC0-F58A-1B65-AB31-9FBBE75F3521}"/>
                </a:ext>
              </a:extLst>
            </p:cNvPr>
            <p:cNvSpPr/>
            <p:nvPr/>
          </p:nvSpPr>
          <p:spPr bwMode="gray">
            <a:xfrm>
              <a:off x="0" y="876300"/>
              <a:ext cx="1691196" cy="257442"/>
            </a:xfrm>
            <a:custGeom>
              <a:avLst/>
              <a:gdLst>
                <a:gd name="connsiteX0" fmla="*/ 942786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42786 w 1816204"/>
                <a:gd name="connsiteY0" fmla="*/ 0 h 257442"/>
                <a:gd name="connsiteX1" fmla="*/ 888066 w 1816204"/>
                <a:gd name="connsiteY1" fmla="*/ 257442 h 257442"/>
                <a:gd name="connsiteX2" fmla="*/ 1816204 w 1816204"/>
                <a:gd name="connsiteY2" fmla="*/ 257442 h 257442"/>
                <a:gd name="connsiteX3" fmla="*/ 0 w 1816204"/>
                <a:gd name="connsiteY3" fmla="*/ 257442 h 257442"/>
                <a:gd name="connsiteX0" fmla="*/ 942786 w 942786"/>
                <a:gd name="connsiteY0" fmla="*/ 0 h 257442"/>
                <a:gd name="connsiteX1" fmla="*/ 888066 w 942786"/>
                <a:gd name="connsiteY1" fmla="*/ 257442 h 257442"/>
                <a:gd name="connsiteX2" fmla="*/ 1 w 942786"/>
                <a:gd name="connsiteY2" fmla="*/ 257442 h 257442"/>
                <a:gd name="connsiteX3" fmla="*/ 0 w 942786"/>
                <a:gd name="connsiteY3" fmla="*/ 257442 h 257442"/>
                <a:gd name="connsiteX0" fmla="*/ 942785 w 942785"/>
                <a:gd name="connsiteY0" fmla="*/ 0 h 257442"/>
                <a:gd name="connsiteX1" fmla="*/ 888065 w 942785"/>
                <a:gd name="connsiteY1" fmla="*/ 257442 h 257442"/>
                <a:gd name="connsiteX2" fmla="*/ 0 w 942785"/>
                <a:gd name="connsiteY2" fmla="*/ 257442 h 257442"/>
                <a:gd name="connsiteX3" fmla="*/ 0 w 942785"/>
                <a:gd name="connsiteY3" fmla="*/ 0 h 257442"/>
                <a:gd name="connsiteX0" fmla="*/ 1251973 w 1251973"/>
                <a:gd name="connsiteY0" fmla="*/ 0 h 257442"/>
                <a:gd name="connsiteX1" fmla="*/ 888065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251973 w 1251973"/>
                <a:gd name="connsiteY0" fmla="*/ 0 h 257442"/>
                <a:gd name="connsiteX1" fmla="*/ 1197252 w 1251973"/>
                <a:gd name="connsiteY1" fmla="*/ 257442 h 257442"/>
                <a:gd name="connsiteX2" fmla="*/ 0 w 1251973"/>
                <a:gd name="connsiteY2" fmla="*/ 257442 h 257442"/>
                <a:gd name="connsiteX3" fmla="*/ 0 w 1251973"/>
                <a:gd name="connsiteY3" fmla="*/ 0 h 257442"/>
                <a:gd name="connsiteX0" fmla="*/ 1429907 w 1429907"/>
                <a:gd name="connsiteY0" fmla="*/ 0 h 257442"/>
                <a:gd name="connsiteX1" fmla="*/ 1197252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429907 w 1429907"/>
                <a:gd name="connsiteY0" fmla="*/ 0 h 257442"/>
                <a:gd name="connsiteX1" fmla="*/ 1375186 w 1429907"/>
                <a:gd name="connsiteY1" fmla="*/ 257442 h 257442"/>
                <a:gd name="connsiteX2" fmla="*/ 0 w 1429907"/>
                <a:gd name="connsiteY2" fmla="*/ 257442 h 257442"/>
                <a:gd name="connsiteX3" fmla="*/ 0 w 1429907"/>
                <a:gd name="connsiteY3" fmla="*/ 0 h 257442"/>
                <a:gd name="connsiteX0" fmla="*/ 1590207 w 1590207"/>
                <a:gd name="connsiteY0" fmla="*/ 0 h 257442"/>
                <a:gd name="connsiteX1" fmla="*/ 13751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6 w 1590207"/>
                <a:gd name="connsiteY1" fmla="*/ 257442 h 257442"/>
                <a:gd name="connsiteX2" fmla="*/ 0 w 1590207"/>
                <a:gd name="connsiteY2" fmla="*/ 257442 h 257442"/>
                <a:gd name="connsiteX3" fmla="*/ 0 w 1590207"/>
                <a:gd name="connsiteY3" fmla="*/ 0 h 257442"/>
                <a:gd name="connsiteX0" fmla="*/ 1833863 w 1833863"/>
                <a:gd name="connsiteY0" fmla="*/ 0 h 257442"/>
                <a:gd name="connsiteX1" fmla="*/ 1535486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0 w 1833863"/>
                <a:gd name="connsiteY3" fmla="*/ 0 h 257442"/>
                <a:gd name="connsiteX0" fmla="*/ 1691196 w 1779142"/>
                <a:gd name="connsiteY0" fmla="*/ 0 h 257442"/>
                <a:gd name="connsiteX1" fmla="*/ 1779142 w 1779142"/>
                <a:gd name="connsiteY1" fmla="*/ 257442 h 257442"/>
                <a:gd name="connsiteX2" fmla="*/ 0 w 1779142"/>
                <a:gd name="connsiteY2" fmla="*/ 257442 h 257442"/>
                <a:gd name="connsiteX3" fmla="*/ 0 w 1779142"/>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590207 w 1636475"/>
                <a:gd name="connsiteY0" fmla="*/ 0 h 257442"/>
                <a:gd name="connsiteX1" fmla="*/ 1636475 w 1636475"/>
                <a:gd name="connsiteY1" fmla="*/ 257442 h 257442"/>
                <a:gd name="connsiteX2" fmla="*/ 0 w 1636475"/>
                <a:gd name="connsiteY2" fmla="*/ 257442 h 257442"/>
                <a:gd name="connsiteX3" fmla="*/ 0 w 1636475"/>
                <a:gd name="connsiteY3" fmla="*/ 0 h 257442"/>
                <a:gd name="connsiteX0" fmla="*/ 1590207 w 1590207"/>
                <a:gd name="connsiteY0" fmla="*/ 0 h 257442"/>
                <a:gd name="connsiteX1" fmla="*/ 1535487 w 1590207"/>
                <a:gd name="connsiteY1" fmla="*/ 257442 h 257442"/>
                <a:gd name="connsiteX2" fmla="*/ 0 w 1590207"/>
                <a:gd name="connsiteY2" fmla="*/ 257442 h 257442"/>
                <a:gd name="connsiteX3" fmla="*/ 0 w 1590207"/>
                <a:gd name="connsiteY3" fmla="*/ 0 h 257442"/>
                <a:gd name="connsiteX0" fmla="*/ 1590207 w 1590207"/>
                <a:gd name="connsiteY0" fmla="*/ 0 h 257442"/>
                <a:gd name="connsiteX1" fmla="*/ 1535487 w 1590207"/>
                <a:gd name="connsiteY1" fmla="*/ 257442 h 257442"/>
                <a:gd name="connsiteX2" fmla="*/ 1 w 1590207"/>
                <a:gd name="connsiteY2" fmla="*/ 257442 h 257442"/>
                <a:gd name="connsiteX3" fmla="*/ 0 w 1590207"/>
                <a:gd name="connsiteY3" fmla="*/ 0 h 257442"/>
                <a:gd name="connsiteX0" fmla="*/ 1590206 w 1590206"/>
                <a:gd name="connsiteY0" fmla="*/ 0 h 257442"/>
                <a:gd name="connsiteX1" fmla="*/ 1535486 w 1590206"/>
                <a:gd name="connsiteY1" fmla="*/ 257442 h 257442"/>
                <a:gd name="connsiteX2" fmla="*/ 0 w 1590206"/>
                <a:gd name="connsiteY2" fmla="*/ 257442 h 257442"/>
                <a:gd name="connsiteX3" fmla="*/ 0 w 1590206"/>
                <a:gd name="connsiteY3" fmla="*/ 0 h 257442"/>
                <a:gd name="connsiteX0" fmla="*/ 1833862 w 1833862"/>
                <a:gd name="connsiteY0" fmla="*/ 0 h 257442"/>
                <a:gd name="connsiteX1" fmla="*/ 1535486 w 1833862"/>
                <a:gd name="connsiteY1" fmla="*/ 257442 h 257442"/>
                <a:gd name="connsiteX2" fmla="*/ 0 w 1833862"/>
                <a:gd name="connsiteY2" fmla="*/ 257442 h 257442"/>
                <a:gd name="connsiteX3" fmla="*/ 0 w 1833862"/>
                <a:gd name="connsiteY3" fmla="*/ 0 h 257442"/>
                <a:gd name="connsiteX0" fmla="*/ 1833862 w 1833862"/>
                <a:gd name="connsiteY0" fmla="*/ 0 h 257442"/>
                <a:gd name="connsiteX1" fmla="*/ 1779141 w 1833862"/>
                <a:gd name="connsiteY1" fmla="*/ 257442 h 257442"/>
                <a:gd name="connsiteX2" fmla="*/ 0 w 1833862"/>
                <a:gd name="connsiteY2" fmla="*/ 257442 h 257442"/>
                <a:gd name="connsiteX3" fmla="*/ 0 w 1833862"/>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1833863 w 1833863"/>
                <a:gd name="connsiteY0" fmla="*/ 0 h 257442"/>
                <a:gd name="connsiteX1" fmla="*/ 1779142 w 1833863"/>
                <a:gd name="connsiteY1" fmla="*/ 257442 h 257442"/>
                <a:gd name="connsiteX2" fmla="*/ 0 w 1833863"/>
                <a:gd name="connsiteY2" fmla="*/ 257442 h 257442"/>
                <a:gd name="connsiteX3" fmla="*/ 1 w 1833863"/>
                <a:gd name="connsiteY3" fmla="*/ 0 h 257442"/>
                <a:gd name="connsiteX0" fmla="*/ 2097462 w 2097462"/>
                <a:gd name="connsiteY0" fmla="*/ 0 h 257442"/>
                <a:gd name="connsiteX1" fmla="*/ 1779142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1 w 2097462"/>
                <a:gd name="connsiteY3" fmla="*/ 0 h 257442"/>
                <a:gd name="connsiteX0" fmla="*/ 2097462 w 2097462"/>
                <a:gd name="connsiteY0" fmla="*/ 0 h 257442"/>
                <a:gd name="connsiteX1" fmla="*/ 2042740 w 2097462"/>
                <a:gd name="connsiteY1" fmla="*/ 257442 h 257442"/>
                <a:gd name="connsiteX2" fmla="*/ 0 w 2097462"/>
                <a:gd name="connsiteY2" fmla="*/ 257442 h 257442"/>
                <a:gd name="connsiteX3" fmla="*/ 0 w 2097462"/>
                <a:gd name="connsiteY3" fmla="*/ 0 h 257442"/>
                <a:gd name="connsiteX0" fmla="*/ 2265777 w 2265777"/>
                <a:gd name="connsiteY0" fmla="*/ 0 h 257442"/>
                <a:gd name="connsiteX1" fmla="*/ 2042740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434091 w 2434091"/>
                <a:gd name="connsiteY0" fmla="*/ 0 h 257442"/>
                <a:gd name="connsiteX1" fmla="*/ 2211056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434091 w 2434091"/>
                <a:gd name="connsiteY0" fmla="*/ 0 h 257442"/>
                <a:gd name="connsiteX1" fmla="*/ 2379370 w 2434091"/>
                <a:gd name="connsiteY1" fmla="*/ 257442 h 257442"/>
                <a:gd name="connsiteX2" fmla="*/ 0 w 2434091"/>
                <a:gd name="connsiteY2" fmla="*/ 257442 h 257442"/>
                <a:gd name="connsiteX3" fmla="*/ 0 w 2434091"/>
                <a:gd name="connsiteY3" fmla="*/ 0 h 257442"/>
                <a:gd name="connsiteX0" fmla="*/ 2265777 w 2379370"/>
                <a:gd name="connsiteY0" fmla="*/ 0 h 257442"/>
                <a:gd name="connsiteX1" fmla="*/ 2379370 w 2379370"/>
                <a:gd name="connsiteY1" fmla="*/ 257442 h 257442"/>
                <a:gd name="connsiteX2" fmla="*/ 0 w 2379370"/>
                <a:gd name="connsiteY2" fmla="*/ 257442 h 257442"/>
                <a:gd name="connsiteX3" fmla="*/ 0 w 2379370"/>
                <a:gd name="connsiteY3" fmla="*/ 0 h 257442"/>
                <a:gd name="connsiteX0" fmla="*/ 2265777 w 2265777"/>
                <a:gd name="connsiteY0" fmla="*/ 0 h 257442"/>
                <a:gd name="connsiteX1" fmla="*/ 2211056 w 2265777"/>
                <a:gd name="connsiteY1" fmla="*/ 257442 h 257442"/>
                <a:gd name="connsiteX2" fmla="*/ 0 w 2265777"/>
                <a:gd name="connsiteY2" fmla="*/ 257442 h 257442"/>
                <a:gd name="connsiteX3" fmla="*/ 0 w 2265777"/>
                <a:gd name="connsiteY3" fmla="*/ 0 h 257442"/>
                <a:gd name="connsiteX0" fmla="*/ 2265777 w 2265777"/>
                <a:gd name="connsiteY0" fmla="*/ 0 h 257442"/>
                <a:gd name="connsiteX1" fmla="*/ 2211056 w 2265777"/>
                <a:gd name="connsiteY1" fmla="*/ 257442 h 257442"/>
                <a:gd name="connsiteX2" fmla="*/ 1 w 2265777"/>
                <a:gd name="connsiteY2" fmla="*/ 257442 h 257442"/>
                <a:gd name="connsiteX3" fmla="*/ 0 w 2265777"/>
                <a:gd name="connsiteY3" fmla="*/ 0 h 257442"/>
                <a:gd name="connsiteX0" fmla="*/ 2265776 w 2265776"/>
                <a:gd name="connsiteY0" fmla="*/ 0 h 257442"/>
                <a:gd name="connsiteX1" fmla="*/ 2211055 w 2265776"/>
                <a:gd name="connsiteY1" fmla="*/ 257442 h 257442"/>
                <a:gd name="connsiteX2" fmla="*/ 0 w 2265776"/>
                <a:gd name="connsiteY2" fmla="*/ 257442 h 257442"/>
                <a:gd name="connsiteX3" fmla="*/ 0 w 2265776"/>
                <a:gd name="connsiteY3" fmla="*/ 0 h 257442"/>
                <a:gd name="connsiteX0" fmla="*/ 2097460 w 2211055"/>
                <a:gd name="connsiteY0" fmla="*/ 0 h 257442"/>
                <a:gd name="connsiteX1" fmla="*/ 2211055 w 2211055"/>
                <a:gd name="connsiteY1" fmla="*/ 257442 h 257442"/>
                <a:gd name="connsiteX2" fmla="*/ 0 w 2211055"/>
                <a:gd name="connsiteY2" fmla="*/ 257442 h 257442"/>
                <a:gd name="connsiteX3" fmla="*/ 0 w 2211055"/>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2097460 w 2097460"/>
                <a:gd name="connsiteY0" fmla="*/ 0 h 257442"/>
                <a:gd name="connsiteX1" fmla="*/ 2042740 w 2097460"/>
                <a:gd name="connsiteY1" fmla="*/ 257442 h 257442"/>
                <a:gd name="connsiteX2" fmla="*/ 0 w 2097460"/>
                <a:gd name="connsiteY2" fmla="*/ 257442 h 257442"/>
                <a:gd name="connsiteX3" fmla="*/ 0 w 2097460"/>
                <a:gd name="connsiteY3" fmla="*/ 0 h 257442"/>
                <a:gd name="connsiteX0" fmla="*/ 1934852 w 2042740"/>
                <a:gd name="connsiteY0" fmla="*/ 0 h 257442"/>
                <a:gd name="connsiteX1" fmla="*/ 2042740 w 2042740"/>
                <a:gd name="connsiteY1" fmla="*/ 257442 h 257442"/>
                <a:gd name="connsiteX2" fmla="*/ 0 w 2042740"/>
                <a:gd name="connsiteY2" fmla="*/ 257442 h 257442"/>
                <a:gd name="connsiteX3" fmla="*/ 0 w 2042740"/>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1934852 w 1934852"/>
                <a:gd name="connsiteY0" fmla="*/ 0 h 257442"/>
                <a:gd name="connsiteX1" fmla="*/ 1880131 w 1934852"/>
                <a:gd name="connsiteY1" fmla="*/ 257442 h 257442"/>
                <a:gd name="connsiteX2" fmla="*/ 0 w 1934852"/>
                <a:gd name="connsiteY2" fmla="*/ 257442 h 257442"/>
                <a:gd name="connsiteX3" fmla="*/ 0 w 1934852"/>
                <a:gd name="connsiteY3" fmla="*/ 0 h 257442"/>
                <a:gd name="connsiteX0" fmla="*/ 2178509 w 2178509"/>
                <a:gd name="connsiteY0" fmla="*/ 0 h 257442"/>
                <a:gd name="connsiteX1" fmla="*/ 1880131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178509 w 2178509"/>
                <a:gd name="connsiteY0" fmla="*/ 0 h 257442"/>
                <a:gd name="connsiteX1" fmla="*/ 2123788 w 2178509"/>
                <a:gd name="connsiteY1" fmla="*/ 257442 h 257442"/>
                <a:gd name="connsiteX2" fmla="*/ 0 w 2178509"/>
                <a:gd name="connsiteY2" fmla="*/ 257442 h 257442"/>
                <a:gd name="connsiteX3" fmla="*/ 0 w 2178509"/>
                <a:gd name="connsiteY3" fmla="*/ 0 h 257442"/>
                <a:gd name="connsiteX0" fmla="*/ 2346824 w 2346824"/>
                <a:gd name="connsiteY0" fmla="*/ 0 h 257442"/>
                <a:gd name="connsiteX1" fmla="*/ 2123788 w 2346824"/>
                <a:gd name="connsiteY1" fmla="*/ 257442 h 257442"/>
                <a:gd name="connsiteX2" fmla="*/ 0 w 2346824"/>
                <a:gd name="connsiteY2" fmla="*/ 257442 h 257442"/>
                <a:gd name="connsiteX3" fmla="*/ 0 w 2346824"/>
                <a:gd name="connsiteY3" fmla="*/ 0 h 257442"/>
                <a:gd name="connsiteX0" fmla="*/ 2346824 w 2346824"/>
                <a:gd name="connsiteY0" fmla="*/ 0 h 257442"/>
                <a:gd name="connsiteX1" fmla="*/ 2292102 w 2346824"/>
                <a:gd name="connsiteY1" fmla="*/ 257442 h 257442"/>
                <a:gd name="connsiteX2" fmla="*/ 0 w 2346824"/>
                <a:gd name="connsiteY2" fmla="*/ 257442 h 257442"/>
                <a:gd name="connsiteX3" fmla="*/ 0 w 2346824"/>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346825 w 2346825"/>
                <a:gd name="connsiteY0" fmla="*/ 0 h 257442"/>
                <a:gd name="connsiteX1" fmla="*/ 2292103 w 2346825"/>
                <a:gd name="connsiteY1" fmla="*/ 257442 h 257442"/>
                <a:gd name="connsiteX2" fmla="*/ 0 w 2346825"/>
                <a:gd name="connsiteY2" fmla="*/ 257442 h 257442"/>
                <a:gd name="connsiteX3" fmla="*/ 1 w 2346825"/>
                <a:gd name="connsiteY3" fmla="*/ 0 h 257442"/>
                <a:gd name="connsiteX0" fmla="*/ 2507126 w 2507126"/>
                <a:gd name="connsiteY0" fmla="*/ 0 h 257442"/>
                <a:gd name="connsiteX1" fmla="*/ 2292103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1 w 2507126"/>
                <a:gd name="connsiteY3" fmla="*/ 0 h 257442"/>
                <a:gd name="connsiteX0" fmla="*/ 2507126 w 2507126"/>
                <a:gd name="connsiteY0" fmla="*/ 0 h 257442"/>
                <a:gd name="connsiteX1" fmla="*/ 2452404 w 2507126"/>
                <a:gd name="connsiteY1" fmla="*/ 257442 h 257442"/>
                <a:gd name="connsiteX2" fmla="*/ 0 w 2507126"/>
                <a:gd name="connsiteY2" fmla="*/ 257442 h 257442"/>
                <a:gd name="connsiteX3" fmla="*/ 0 w 2507126"/>
                <a:gd name="connsiteY3" fmla="*/ 0 h 257442"/>
                <a:gd name="connsiteX0" fmla="*/ 2263468 w 2452404"/>
                <a:gd name="connsiteY0" fmla="*/ 0 h 257442"/>
                <a:gd name="connsiteX1" fmla="*/ 2452404 w 2452404"/>
                <a:gd name="connsiteY1" fmla="*/ 257442 h 257442"/>
                <a:gd name="connsiteX2" fmla="*/ 0 w 2452404"/>
                <a:gd name="connsiteY2" fmla="*/ 257442 h 257442"/>
                <a:gd name="connsiteX3" fmla="*/ 0 w 2452404"/>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263468 w 2263468"/>
                <a:gd name="connsiteY0" fmla="*/ 0 h 257442"/>
                <a:gd name="connsiteX1" fmla="*/ 2208747 w 2263468"/>
                <a:gd name="connsiteY1" fmla="*/ 257442 h 257442"/>
                <a:gd name="connsiteX2" fmla="*/ 0 w 2263468"/>
                <a:gd name="connsiteY2" fmla="*/ 257442 h 257442"/>
                <a:gd name="connsiteX3" fmla="*/ 0 w 2263468"/>
                <a:gd name="connsiteY3" fmla="*/ 0 h 257442"/>
                <a:gd name="connsiteX0" fmla="*/ 2095152 w 2208747"/>
                <a:gd name="connsiteY0" fmla="*/ 0 h 257442"/>
                <a:gd name="connsiteX1" fmla="*/ 2208747 w 2208747"/>
                <a:gd name="connsiteY1" fmla="*/ 257442 h 257442"/>
                <a:gd name="connsiteX2" fmla="*/ 0 w 2208747"/>
                <a:gd name="connsiteY2" fmla="*/ 257442 h 257442"/>
                <a:gd name="connsiteX3" fmla="*/ 0 w 2208747"/>
                <a:gd name="connsiteY3" fmla="*/ 0 h 257442"/>
                <a:gd name="connsiteX0" fmla="*/ 2095152 w 2095152"/>
                <a:gd name="connsiteY0" fmla="*/ 0 h 257442"/>
                <a:gd name="connsiteX1" fmla="*/ 2040432 w 2095152"/>
                <a:gd name="connsiteY1" fmla="*/ 257442 h 257442"/>
                <a:gd name="connsiteX2" fmla="*/ 0 w 2095152"/>
                <a:gd name="connsiteY2" fmla="*/ 257442 h 257442"/>
                <a:gd name="connsiteX3" fmla="*/ 0 w 2095152"/>
                <a:gd name="connsiteY3" fmla="*/ 0 h 257442"/>
                <a:gd name="connsiteX0" fmla="*/ 2095152 w 2095152"/>
                <a:gd name="connsiteY0" fmla="*/ 0 h 257442"/>
                <a:gd name="connsiteX1" fmla="*/ 2040432 w 2095152"/>
                <a:gd name="connsiteY1" fmla="*/ 257442 h 257442"/>
                <a:gd name="connsiteX2" fmla="*/ 1 w 2095152"/>
                <a:gd name="connsiteY2" fmla="*/ 257442 h 257442"/>
                <a:gd name="connsiteX3" fmla="*/ 0 w 2095152"/>
                <a:gd name="connsiteY3" fmla="*/ 0 h 257442"/>
                <a:gd name="connsiteX0" fmla="*/ 2095151 w 2095151"/>
                <a:gd name="connsiteY0" fmla="*/ 0 h 257442"/>
                <a:gd name="connsiteX1" fmla="*/ 2040431 w 2095151"/>
                <a:gd name="connsiteY1" fmla="*/ 257442 h 257442"/>
                <a:gd name="connsiteX2" fmla="*/ 0 w 2095151"/>
                <a:gd name="connsiteY2" fmla="*/ 257442 h 257442"/>
                <a:gd name="connsiteX3" fmla="*/ 0 w 2095151"/>
                <a:gd name="connsiteY3" fmla="*/ 0 h 257442"/>
                <a:gd name="connsiteX0" fmla="*/ 1994164 w 2040431"/>
                <a:gd name="connsiteY0" fmla="*/ 0 h 257442"/>
                <a:gd name="connsiteX1" fmla="*/ 2040431 w 2040431"/>
                <a:gd name="connsiteY1" fmla="*/ 257442 h 257442"/>
                <a:gd name="connsiteX2" fmla="*/ 0 w 2040431"/>
                <a:gd name="connsiteY2" fmla="*/ 257442 h 257442"/>
                <a:gd name="connsiteX3" fmla="*/ 0 w 2040431"/>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994164 w 1994164"/>
                <a:gd name="connsiteY0" fmla="*/ 0 h 257442"/>
                <a:gd name="connsiteX1" fmla="*/ 1939443 w 1994164"/>
                <a:gd name="connsiteY1" fmla="*/ 257442 h 257442"/>
                <a:gd name="connsiteX2" fmla="*/ 0 w 1994164"/>
                <a:gd name="connsiteY2" fmla="*/ 257442 h 257442"/>
                <a:gd name="connsiteX3" fmla="*/ 0 w 1994164"/>
                <a:gd name="connsiteY3" fmla="*/ 0 h 257442"/>
                <a:gd name="connsiteX0" fmla="*/ 1851496 w 1939443"/>
                <a:gd name="connsiteY0" fmla="*/ 0 h 257442"/>
                <a:gd name="connsiteX1" fmla="*/ 1939443 w 1939443"/>
                <a:gd name="connsiteY1" fmla="*/ 257442 h 257442"/>
                <a:gd name="connsiteX2" fmla="*/ 0 w 1939443"/>
                <a:gd name="connsiteY2" fmla="*/ 257442 h 257442"/>
                <a:gd name="connsiteX3" fmla="*/ 0 w 1939443"/>
                <a:gd name="connsiteY3" fmla="*/ 0 h 257442"/>
                <a:gd name="connsiteX0" fmla="*/ 1851496 w 1851496"/>
                <a:gd name="connsiteY0" fmla="*/ 0 h 257442"/>
                <a:gd name="connsiteX1" fmla="*/ 1796776 w 1851496"/>
                <a:gd name="connsiteY1" fmla="*/ 257442 h 257442"/>
                <a:gd name="connsiteX2" fmla="*/ 0 w 1851496"/>
                <a:gd name="connsiteY2" fmla="*/ 257442 h 257442"/>
                <a:gd name="connsiteX3" fmla="*/ 0 w 1851496"/>
                <a:gd name="connsiteY3" fmla="*/ 0 h 257442"/>
                <a:gd name="connsiteX0" fmla="*/ 1851496 w 1851496"/>
                <a:gd name="connsiteY0" fmla="*/ 0 h 257442"/>
                <a:gd name="connsiteX1" fmla="*/ 1796776 w 1851496"/>
                <a:gd name="connsiteY1" fmla="*/ 257442 h 257442"/>
                <a:gd name="connsiteX2" fmla="*/ 1 w 1851496"/>
                <a:gd name="connsiteY2" fmla="*/ 257442 h 257442"/>
                <a:gd name="connsiteX3" fmla="*/ 0 w 1851496"/>
                <a:gd name="connsiteY3" fmla="*/ 0 h 257442"/>
                <a:gd name="connsiteX0" fmla="*/ 1851495 w 1851495"/>
                <a:gd name="connsiteY0" fmla="*/ 0 h 257442"/>
                <a:gd name="connsiteX1" fmla="*/ 1796775 w 1851495"/>
                <a:gd name="connsiteY1" fmla="*/ 257442 h 257442"/>
                <a:gd name="connsiteX2" fmla="*/ 0 w 1851495"/>
                <a:gd name="connsiteY2" fmla="*/ 257442 h 257442"/>
                <a:gd name="connsiteX3" fmla="*/ 0 w 1851495"/>
                <a:gd name="connsiteY3" fmla="*/ 0 h 257442"/>
                <a:gd name="connsiteX0" fmla="*/ 1691196 w 1796775"/>
                <a:gd name="connsiteY0" fmla="*/ 0 h 257442"/>
                <a:gd name="connsiteX1" fmla="*/ 1796775 w 1796775"/>
                <a:gd name="connsiteY1" fmla="*/ 257442 h 257442"/>
                <a:gd name="connsiteX2" fmla="*/ 0 w 1796775"/>
                <a:gd name="connsiteY2" fmla="*/ 257442 h 257442"/>
                <a:gd name="connsiteX3" fmla="*/ 0 w 1796775"/>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 name="connsiteX0" fmla="*/ 1691196 w 1691196"/>
                <a:gd name="connsiteY0" fmla="*/ 0 h 257442"/>
                <a:gd name="connsiteX1" fmla="*/ 1636475 w 1691196"/>
                <a:gd name="connsiteY1" fmla="*/ 257442 h 257442"/>
                <a:gd name="connsiteX2" fmla="*/ 0 w 1691196"/>
                <a:gd name="connsiteY2" fmla="*/ 257442 h 257442"/>
                <a:gd name="connsiteX3" fmla="*/ 0 w 1691196"/>
                <a:gd name="connsiteY3" fmla="*/ 0 h 257442"/>
              </a:gdLst>
              <a:ahLst/>
              <a:cxnLst>
                <a:cxn ang="0">
                  <a:pos x="connsiteX0" y="connsiteY0"/>
                </a:cxn>
                <a:cxn ang="0">
                  <a:pos x="connsiteX1" y="connsiteY1"/>
                </a:cxn>
                <a:cxn ang="0">
                  <a:pos x="connsiteX2" y="connsiteY2"/>
                </a:cxn>
                <a:cxn ang="0">
                  <a:pos x="connsiteX3" y="connsiteY3"/>
                </a:cxn>
              </a:cxnLst>
              <a:rect l="l" t="t" r="r" b="b"/>
              <a:pathLst>
                <a:path w="1691196" h="257442">
                  <a:moveTo>
                    <a:pt x="1691196" y="0"/>
                  </a:moveTo>
                  <a:lnTo>
                    <a:pt x="1636475"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8" name="btfpRunningAgenda1LevelTextLeft747472">
              <a:extLst>
                <a:ext uri="{FF2B5EF4-FFF2-40B4-BE49-F238E27FC236}">
                  <a16:creationId xmlns:a16="http://schemas.microsoft.com/office/drawing/2014/main" id="{ACA4F44E-BFC6-1728-86A3-C0E51FBF0AE0}"/>
                </a:ext>
              </a:extLst>
            </p:cNvPr>
            <p:cNvSpPr txBox="1"/>
            <p:nvPr/>
          </p:nvSpPr>
          <p:spPr bwMode="gray">
            <a:xfrm>
              <a:off x="0" y="876300"/>
              <a:ext cx="177914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Stage 4</a:t>
              </a:r>
            </a:p>
          </p:txBody>
        </p:sp>
      </p:grpSp>
      <p:sp>
        <p:nvSpPr>
          <p:cNvPr id="13" name="Title 12">
            <a:extLst>
              <a:ext uri="{FF2B5EF4-FFF2-40B4-BE49-F238E27FC236}">
                <a16:creationId xmlns:a16="http://schemas.microsoft.com/office/drawing/2014/main" id="{2B2A4AEB-F187-BDE3-B1A6-8A1C065409B2}"/>
              </a:ext>
            </a:extLst>
          </p:cNvPr>
          <p:cNvSpPr>
            <a:spLocks noGrp="1"/>
          </p:cNvSpPr>
          <p:nvPr>
            <p:ph type="title"/>
          </p:nvPr>
        </p:nvSpPr>
        <p:spPr/>
        <p:txBody>
          <a:bodyPr vert="horz"/>
          <a:lstStyle/>
          <a:p>
            <a:r>
              <a:rPr lang="en-US" b="1" u="sng"/>
              <a:t>Stage 4 – Output Completion:</a:t>
            </a:r>
            <a:r>
              <a:rPr lang="en-US"/>
              <a:t> Process Breakdown (2/2)</a:t>
            </a:r>
          </a:p>
        </p:txBody>
      </p:sp>
      <p:sp>
        <p:nvSpPr>
          <p:cNvPr id="42" name="btfpNumberBubble266422">
            <a:extLst>
              <a:ext uri="{FF2B5EF4-FFF2-40B4-BE49-F238E27FC236}">
                <a16:creationId xmlns:a16="http://schemas.microsoft.com/office/drawing/2014/main" id="{242182DE-B0FF-A010-258C-EA2CE6653BE2}"/>
              </a:ext>
            </a:extLst>
          </p:cNvPr>
          <p:cNvSpPr/>
          <p:nvPr/>
        </p:nvSpPr>
        <p:spPr bwMode="gray">
          <a:xfrm>
            <a:off x="1059716" y="2494263"/>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200" b="1">
                <a:solidFill>
                  <a:srgbClr val="C6AA3D"/>
                </a:solidFill>
              </a:rPr>
              <a:t>4d</a:t>
            </a:r>
          </a:p>
        </p:txBody>
      </p:sp>
      <p:sp>
        <p:nvSpPr>
          <p:cNvPr id="2" name="btfpNumberBubble557534">
            <a:extLst>
              <a:ext uri="{FF2B5EF4-FFF2-40B4-BE49-F238E27FC236}">
                <a16:creationId xmlns:a16="http://schemas.microsoft.com/office/drawing/2014/main" id="{08FED28A-34A3-F1B3-3801-E3BD8E9E8301}"/>
              </a:ext>
            </a:extLst>
          </p:cNvPr>
          <p:cNvSpPr/>
          <p:nvPr/>
        </p:nvSpPr>
        <p:spPr bwMode="gray">
          <a:xfrm>
            <a:off x="40250" y="509129"/>
            <a:ext cx="274320" cy="274320"/>
          </a:xfrm>
          <a:prstGeom prst="ellipse">
            <a:avLst/>
          </a:prstGeom>
          <a:solidFill>
            <a:srgbClr val="FFFFFF"/>
          </a:solidFill>
          <a:ln w="19050" cap="flat" cmpd="sng" algn="ctr">
            <a:solidFill>
              <a:srgbClr val="C6AA3D"/>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indent="0" algn="ctr">
              <a:spcBef>
                <a:spcPts val="0"/>
              </a:spcBef>
              <a:buNone/>
            </a:pPr>
            <a:r>
              <a:rPr lang="en-US" sz="1400" b="1">
                <a:solidFill>
                  <a:srgbClr val="C6AA3D"/>
                </a:solidFill>
              </a:rPr>
              <a:t>4</a:t>
            </a:r>
          </a:p>
        </p:txBody>
      </p:sp>
    </p:spTree>
    <p:custDataLst>
      <p:tags r:id="rId1"/>
    </p:custDataLst>
    <p:extLst>
      <p:ext uri="{BB962C8B-B14F-4D97-AF65-F5344CB8AC3E}">
        <p14:creationId xmlns:p14="http://schemas.microsoft.com/office/powerpoint/2010/main" val="3440304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3"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a:t>Introduction to OI</a:t>
            </a:r>
          </a:p>
          <a:p>
            <a:pPr marL="0" indent="0">
              <a:spcBef>
                <a:spcPts val="3600"/>
              </a:spcBef>
              <a:buNone/>
            </a:pPr>
            <a:r>
              <a:rPr lang="en-US" sz="2000"/>
              <a:t>Process to build an OI</a:t>
            </a:r>
          </a:p>
          <a:p>
            <a:pPr marL="0" indent="0">
              <a:spcBef>
                <a:spcPts val="3600"/>
              </a:spcBef>
              <a:buNone/>
            </a:pPr>
            <a:r>
              <a:rPr lang="en-US" sz="2000" b="1">
                <a:solidFill>
                  <a:srgbClr val="CC0000"/>
                </a:solidFill>
              </a:rPr>
              <a:t>Set up and collaboration</a:t>
            </a:r>
          </a:p>
          <a:p>
            <a:pPr marL="0" indent="0">
              <a:spcBef>
                <a:spcPts val="3600"/>
              </a:spcBef>
              <a:buNone/>
            </a:pPr>
            <a:r>
              <a:rPr lang="en-US" sz="2000"/>
              <a:t>Additional guidelines</a:t>
            </a:r>
          </a:p>
          <a:p>
            <a:pPr marL="0" indent="0">
              <a:spcBef>
                <a:spcPts val="3600"/>
              </a:spcBef>
              <a:buNone/>
            </a:pPr>
            <a:endParaRPr lang="en-US" sz="2000"/>
          </a:p>
          <a:p>
            <a:pPr marL="0" indent="0">
              <a:spcBef>
                <a:spcPts val="3600"/>
              </a:spcBef>
              <a:buNone/>
            </a:pPr>
            <a:endParaRPr lang="en-US" sz="2000"/>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2606314"/>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5525310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FEE25B2-9502-DEC2-82CE-109EA56D9D27}"/>
              </a:ext>
            </a:extLst>
          </p:cNvPr>
          <p:cNvGraphicFramePr>
            <a:graphicFrameLocks/>
          </p:cNvGraphicFramePr>
          <p:nvPr>
            <p:custDataLst>
              <p:tags r:id="rId2"/>
            </p:custDataLst>
            <p:extLst>
              <p:ext uri="{D42A27DB-BD31-4B8C-83A1-F6EECF244321}">
                <p14:modId xmlns:p14="http://schemas.microsoft.com/office/powerpoint/2010/main" val="3023402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4" name="think-cell data - do not delete" hidden="1">
                        <a:extLst>
                          <a:ext uri="{FF2B5EF4-FFF2-40B4-BE49-F238E27FC236}">
                            <a16:creationId xmlns:a16="http://schemas.microsoft.com/office/drawing/2014/main" id="{DFEE25B2-9502-DEC2-82CE-109EA56D9D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4AE749DD-B79F-D671-74BF-A8E98A235E0E}"/>
              </a:ext>
            </a:extLst>
          </p:cNvPr>
          <p:cNvGrpSpPr/>
          <p:nvPr/>
        </p:nvGrpSpPr>
        <p:grpSpPr>
          <a:xfrm>
            <a:off x="0" y="6926580"/>
            <a:ext cx="12192000" cy="137160"/>
            <a:chOff x="0" y="6926580"/>
            <a:chExt cx="12192000" cy="137160"/>
          </a:xfrm>
        </p:grpSpPr>
        <p:sp>
          <p:nvSpPr>
            <p:cNvPr id="10" name="btfpColumnGapBlocker240378">
              <a:extLst>
                <a:ext uri="{FF2B5EF4-FFF2-40B4-BE49-F238E27FC236}">
                  <a16:creationId xmlns:a16="http://schemas.microsoft.com/office/drawing/2014/main" id="{BE84177F-5D61-199C-B8D6-02AF3C72AA48}"/>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11580">
              <a:extLst>
                <a:ext uri="{FF2B5EF4-FFF2-40B4-BE49-F238E27FC236}">
                  <a16:creationId xmlns:a16="http://schemas.microsoft.com/office/drawing/2014/main" id="{99098610-7F2A-4BC5-F6FE-F791F59547A0}"/>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771946">
              <a:extLst>
                <a:ext uri="{FF2B5EF4-FFF2-40B4-BE49-F238E27FC236}">
                  <a16:creationId xmlns:a16="http://schemas.microsoft.com/office/drawing/2014/main" id="{749B8F10-67F3-4D2A-39EA-521B602FFF5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64342">
              <a:extLst>
                <a:ext uri="{FF2B5EF4-FFF2-40B4-BE49-F238E27FC236}">
                  <a16:creationId xmlns:a16="http://schemas.microsoft.com/office/drawing/2014/main" id="{BAF219DD-3E02-7E92-5B81-C9A8402C0E9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F61E7BC-090A-F898-6C8D-DDD57F1BEF3F}"/>
              </a:ext>
            </a:extLst>
          </p:cNvPr>
          <p:cNvGrpSpPr/>
          <p:nvPr/>
        </p:nvGrpSpPr>
        <p:grpSpPr>
          <a:xfrm>
            <a:off x="0" y="-205740"/>
            <a:ext cx="12192000" cy="137160"/>
            <a:chOff x="0" y="-205740"/>
            <a:chExt cx="12192000" cy="137160"/>
          </a:xfrm>
        </p:grpSpPr>
        <p:sp>
          <p:nvSpPr>
            <p:cNvPr id="9" name="btfpColumnGapBlocker973429">
              <a:extLst>
                <a:ext uri="{FF2B5EF4-FFF2-40B4-BE49-F238E27FC236}">
                  <a16:creationId xmlns:a16="http://schemas.microsoft.com/office/drawing/2014/main" id="{4F52E896-0C9E-4979-EB01-AC0C873CF3E8}"/>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282687">
              <a:extLst>
                <a:ext uri="{FF2B5EF4-FFF2-40B4-BE49-F238E27FC236}">
                  <a16:creationId xmlns:a16="http://schemas.microsoft.com/office/drawing/2014/main" id="{345C47E6-2FFA-4299-49CA-EFBFBE364AA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482016">
              <a:extLst>
                <a:ext uri="{FF2B5EF4-FFF2-40B4-BE49-F238E27FC236}">
                  <a16:creationId xmlns:a16="http://schemas.microsoft.com/office/drawing/2014/main" id="{CDED2947-C11C-94E9-0090-37A281745CD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71388">
              <a:extLst>
                <a:ext uri="{FF2B5EF4-FFF2-40B4-BE49-F238E27FC236}">
                  <a16:creationId xmlns:a16="http://schemas.microsoft.com/office/drawing/2014/main" id="{7CC9402B-1CBB-FBCD-B1A9-DE90B381F411}"/>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D7CC47C-28EF-4923-051B-7C6319FE5782}"/>
              </a:ext>
            </a:extLst>
          </p:cNvPr>
          <p:cNvSpPr>
            <a:spLocks noGrp="1"/>
          </p:cNvSpPr>
          <p:nvPr>
            <p:ph type="title"/>
          </p:nvPr>
        </p:nvSpPr>
        <p:spPr/>
        <p:txBody>
          <a:bodyPr vert="horz"/>
          <a:lstStyle/>
          <a:p>
            <a:r>
              <a:rPr lang="en-US" b="1"/>
              <a:t>Set up: </a:t>
            </a:r>
            <a:r>
              <a:rPr lang="en-US"/>
              <a:t>Overview of tools available to the OI team</a:t>
            </a:r>
          </a:p>
        </p:txBody>
      </p:sp>
      <p:graphicFrame>
        <p:nvGraphicFramePr>
          <p:cNvPr id="29" name="Table 28">
            <a:extLst>
              <a:ext uri="{FF2B5EF4-FFF2-40B4-BE49-F238E27FC236}">
                <a16:creationId xmlns:a16="http://schemas.microsoft.com/office/drawing/2014/main" id="{5632A5DE-5899-1180-4883-8E8B9C014062}"/>
              </a:ext>
            </a:extLst>
          </p:cNvPr>
          <p:cNvGraphicFramePr>
            <a:graphicFrameLocks noGrp="1"/>
          </p:cNvGraphicFramePr>
          <p:nvPr>
            <p:extLst>
              <p:ext uri="{D42A27DB-BD31-4B8C-83A1-F6EECF244321}">
                <p14:modId xmlns:p14="http://schemas.microsoft.com/office/powerpoint/2010/main" val="2407510628"/>
              </p:ext>
            </p:extLst>
          </p:nvPr>
        </p:nvGraphicFramePr>
        <p:xfrm>
          <a:off x="334962" y="1247866"/>
          <a:ext cx="11515885" cy="4400804"/>
        </p:xfrm>
        <a:graphic>
          <a:graphicData uri="http://schemas.openxmlformats.org/drawingml/2006/table">
            <a:tbl>
              <a:tblPr firstRow="1" firstCol="1">
                <a:tableStyleId>{9D7B26C5-4107-4FEC-AEDC-1716B250A1EF}</a:tableStyleId>
              </a:tblPr>
              <a:tblGrid>
                <a:gridCol w="1642668">
                  <a:extLst>
                    <a:ext uri="{9D8B030D-6E8A-4147-A177-3AD203B41FA5}">
                      <a16:colId xmlns:a16="http://schemas.microsoft.com/office/drawing/2014/main" val="2028583961"/>
                    </a:ext>
                  </a:extLst>
                </a:gridCol>
                <a:gridCol w="1642668">
                  <a:extLst>
                    <a:ext uri="{9D8B030D-6E8A-4147-A177-3AD203B41FA5}">
                      <a16:colId xmlns:a16="http://schemas.microsoft.com/office/drawing/2014/main" val="1434695398"/>
                    </a:ext>
                  </a:extLst>
                </a:gridCol>
                <a:gridCol w="6971526">
                  <a:extLst>
                    <a:ext uri="{9D8B030D-6E8A-4147-A177-3AD203B41FA5}">
                      <a16:colId xmlns:a16="http://schemas.microsoft.com/office/drawing/2014/main" val="4080870118"/>
                    </a:ext>
                  </a:extLst>
                </a:gridCol>
                <a:gridCol w="1259023">
                  <a:extLst>
                    <a:ext uri="{9D8B030D-6E8A-4147-A177-3AD203B41FA5}">
                      <a16:colId xmlns:a16="http://schemas.microsoft.com/office/drawing/2014/main" val="2071277289"/>
                    </a:ext>
                  </a:extLst>
                </a:gridCol>
              </a:tblGrid>
              <a:tr h="344623">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endParaRPr lang="en-US" sz="1200" noProof="0">
                        <a:solidFill>
                          <a:schemeClr val="bg1"/>
                        </a:solidFill>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r>
                        <a:rPr lang="en-US" sz="1200" noProof="0">
                          <a:solidFill>
                            <a:schemeClr val="bg1"/>
                          </a:solidFill>
                        </a:rPr>
                        <a:t>Tool</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0" indent="0" algn="ctr">
                        <a:spcBef>
                          <a:spcPct val="0"/>
                        </a:spcBef>
                        <a:buFontTx/>
                        <a:buNone/>
                      </a:pPr>
                      <a:r>
                        <a:rPr lang="en-US" sz="1200" noProof="0">
                          <a:solidFill>
                            <a:schemeClr val="bg1"/>
                          </a:solidFill>
                        </a:rPr>
                        <a:t>Description </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46647B"/>
                    </a:solidFill>
                  </a:tcPr>
                </a:tc>
                <a:tc>
                  <a:txBody>
                    <a:bodyPr/>
                    <a:lstStyle/>
                    <a:p>
                      <a:pPr marL="0" marR="0" lvl="0" indent="0" algn="ctr" defTabSz="711200" rtl="0" eaLnBrk="1" fontAlgn="auto" latinLnBrk="0" hangingPunct="1">
                        <a:lnSpc>
                          <a:spcPct val="100000"/>
                        </a:lnSpc>
                        <a:spcBef>
                          <a:spcPct val="0"/>
                        </a:spcBef>
                        <a:spcAft>
                          <a:spcPts val="0"/>
                        </a:spcAft>
                        <a:buClrTx/>
                        <a:buSzTx/>
                        <a:buFontTx/>
                        <a:buNone/>
                        <a:tabLst/>
                        <a:defRPr/>
                      </a:pPr>
                      <a:r>
                        <a:rPr lang="en-US" sz="1200" noProof="0">
                          <a:solidFill>
                            <a:schemeClr val="bg1"/>
                          </a:solidFill>
                        </a:rPr>
                        <a:t>Links </a:t>
                      </a: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938343178"/>
                  </a:ext>
                </a:extLst>
              </a:tr>
              <a:tr h="948747">
                <a:tc rowSpan="2">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1" noProof="0">
                          <a:solidFill>
                            <a:schemeClr val="tx1"/>
                          </a:solidFill>
                        </a:rPr>
                        <a:t>Required tools</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Capital IQ</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Data &amp; analytics platform (incl. Excel plug-in) providing detailed company information and financials</a:t>
                      </a: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ctr" latinLnBrk="0" hangingPunct="1">
                        <a:lnSpc>
                          <a:spcPct val="100000"/>
                        </a:lnSpc>
                        <a:spcBef>
                          <a:spcPts val="0"/>
                        </a:spcBef>
                        <a:spcAft>
                          <a:spcPct val="0"/>
                        </a:spcAft>
                        <a:buClrTx/>
                        <a:buSzPct val="180000"/>
                        <a:buNone/>
                      </a:pPr>
                      <a:r>
                        <a:rPr lang="en-US" sz="1200" b="0" i="1" u="sng" baseline="0" noProof="0">
                          <a:solidFill>
                            <a:schemeClr val="tx1"/>
                          </a:solidFill>
                          <a:hlinkClick r:id="rId6"/>
                        </a:rPr>
                        <a:t>Capital IQ</a:t>
                      </a:r>
                      <a:endParaRPr lang="en-US" sz="1200" b="0" i="1" u="sng" baseline="0" noProof="0">
                        <a:solidFill>
                          <a:schemeClr val="tx1"/>
                        </a:solidFill>
                      </a:endParaRPr>
                    </a:p>
                  </a:txBody>
                  <a:tcPr>
                    <a:lnT w="28575" cap="flat" cmpd="sng" algn="ctr">
                      <a:solidFill>
                        <a:schemeClr val="bg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069385173"/>
                  </a:ext>
                </a:extLst>
              </a:tr>
              <a:tr h="619966">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Trello</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Project management tool to organize the OI workflow process for the US and BCN teams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7"/>
                        </a:rPr>
                        <a:t>Trello</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946351871"/>
                  </a:ext>
                </a:extLst>
              </a:tr>
              <a:tr h="619966">
                <a:tc rowSpan="4">
                  <a:txBody>
                    <a:bodyPr/>
                    <a:lstStyle/>
                    <a:p>
                      <a:pPr marL="0" lvl="0" indent="0" algn="l">
                        <a:spcBef>
                          <a:spcPct val="0"/>
                        </a:spcBef>
                        <a:buNone/>
                      </a:pPr>
                      <a:r>
                        <a:rPr lang="en-US" sz="1200" b="1" noProof="0">
                          <a:solidFill>
                            <a:schemeClr val="tx1"/>
                          </a:solidFill>
                        </a:rPr>
                        <a:t>Supplemental tools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lvl="0" indent="0" algn="l">
                        <a:spcBef>
                          <a:spcPct val="0"/>
                        </a:spcBef>
                        <a:buNone/>
                      </a:pPr>
                      <a:r>
                        <a:rPr lang="en-US" sz="1200" b="0" noProof="0">
                          <a:solidFill>
                            <a:schemeClr val="tx1"/>
                          </a:solidFill>
                        </a:rPr>
                        <a:t>OI tracker </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Detailed tracker with key information and statistics on prior OIs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8"/>
                        </a:rPr>
                        <a:t>OI tracker</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963068087"/>
                  </a:ext>
                </a:extLst>
              </a:tr>
              <a:tr h="619966">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A1OI</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Interactive Tableau dashboard providing a rapid “A1” on benchmarking and savings opportunities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9"/>
                        </a:rPr>
                        <a:t>A1OI</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578288060"/>
                  </a:ext>
                </a:extLst>
              </a:tr>
              <a:tr h="539190">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OI GenAI tools repository</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Collection of AI tools that can help when generating OIs</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10"/>
                        </a:rPr>
                        <a:t>OI GenAI tools repository</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367285304"/>
                  </a:ext>
                </a:extLst>
              </a:tr>
              <a:tr h="708346">
                <a:tc vMerge="1">
                  <a:txBody>
                    <a:bodyPr/>
                    <a:lstStyle/>
                    <a:p>
                      <a:pPr marL="0" lvl="0" indent="0" algn="l">
                        <a:spcBef>
                          <a:spcPct val="0"/>
                        </a:spcBef>
                        <a:buNone/>
                      </a:pPr>
                      <a:endParaRPr lang="en-US" sz="1200" b="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noProof="0">
                          <a:solidFill>
                            <a:schemeClr val="tx1"/>
                          </a:solidFill>
                        </a:rPr>
                        <a:t>PEG Get Smart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711200" rtl="0" eaLnBrk="1" fontAlgn="auto" latinLnBrk="0" hangingPunct="1">
                        <a:lnSpc>
                          <a:spcPct val="100000"/>
                        </a:lnSpc>
                        <a:spcBef>
                          <a:spcPct val="0"/>
                        </a:spcBef>
                        <a:spcAft>
                          <a:spcPts val="0"/>
                        </a:spcAft>
                        <a:buClrTx/>
                        <a:buSzTx/>
                        <a:buFontTx/>
                        <a:buNone/>
                        <a:tabLst/>
                        <a:defRPr/>
                      </a:pPr>
                      <a:r>
                        <a:rPr lang="en-US" sz="1200" b="0" noProof="0">
                          <a:solidFill>
                            <a:schemeClr val="tx1"/>
                          </a:solidFill>
                        </a:rPr>
                        <a:t>Research platform generating instant reports on a company / industry</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lvl="0" indent="0" algn="l">
                        <a:spcBef>
                          <a:spcPct val="0"/>
                        </a:spcBef>
                        <a:buNone/>
                      </a:pPr>
                      <a:r>
                        <a:rPr lang="en-US" sz="1200" b="0" i="1" u="sng" baseline="0" noProof="0">
                          <a:solidFill>
                            <a:schemeClr val="tx1"/>
                          </a:solidFill>
                          <a:hlinkClick r:id="rId11"/>
                        </a:rPr>
                        <a:t>PEG Get Smart</a:t>
                      </a:r>
                      <a:endParaRPr lang="en-US" sz="1200" b="0" i="1" u="sng" baseline="0" noProof="0">
                        <a:solidFill>
                          <a:schemeClr val="tx1"/>
                        </a:solidFil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017901966"/>
                  </a:ext>
                </a:extLst>
              </a:tr>
            </a:tbl>
          </a:graphicData>
        </a:graphic>
      </p:graphicFrame>
    </p:spTree>
    <p:custDataLst>
      <p:tags r:id="rId1"/>
    </p:custDataLst>
    <p:extLst>
      <p:ext uri="{BB962C8B-B14F-4D97-AF65-F5344CB8AC3E}">
        <p14:creationId xmlns:p14="http://schemas.microsoft.com/office/powerpoint/2010/main" val="23213812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FEE25B2-9502-DEC2-82CE-109EA56D9D27}"/>
              </a:ext>
            </a:extLst>
          </p:cNvPr>
          <p:cNvGraphicFramePr>
            <a:graphicFrameLocks/>
          </p:cNvGraphicFramePr>
          <p:nvPr>
            <p:custDataLst>
              <p:tags r:id="rId2"/>
            </p:custDataLst>
            <p:extLst>
              <p:ext uri="{D42A27DB-BD31-4B8C-83A1-F6EECF244321}">
                <p14:modId xmlns:p14="http://schemas.microsoft.com/office/powerpoint/2010/main" val="2959546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4" name="think-cell data - do not delete" hidden="1">
                        <a:extLst>
                          <a:ext uri="{FF2B5EF4-FFF2-40B4-BE49-F238E27FC236}">
                            <a16:creationId xmlns:a16="http://schemas.microsoft.com/office/drawing/2014/main" id="{DFEE25B2-9502-DEC2-82CE-109EA56D9D2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35" name="btfpColumnIndicatorGroup2">
            <a:extLst>
              <a:ext uri="{FF2B5EF4-FFF2-40B4-BE49-F238E27FC236}">
                <a16:creationId xmlns:a16="http://schemas.microsoft.com/office/drawing/2014/main" id="{407DB048-9846-FBC1-B8E6-1A4CAC4BF56B}"/>
              </a:ext>
            </a:extLst>
          </p:cNvPr>
          <p:cNvGrpSpPr/>
          <p:nvPr/>
        </p:nvGrpSpPr>
        <p:grpSpPr>
          <a:xfrm>
            <a:off x="0" y="6926580"/>
            <a:ext cx="12192000" cy="137160"/>
            <a:chOff x="0" y="6926580"/>
            <a:chExt cx="12192000" cy="137160"/>
          </a:xfrm>
        </p:grpSpPr>
        <p:sp>
          <p:nvSpPr>
            <p:cNvPr id="33" name="btfpColumnGapBlocker542027">
              <a:extLst>
                <a:ext uri="{FF2B5EF4-FFF2-40B4-BE49-F238E27FC236}">
                  <a16:creationId xmlns:a16="http://schemas.microsoft.com/office/drawing/2014/main" id="{BB5E6058-8B57-1557-9CC5-68A9BDECB7FC}"/>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1" name="btfpColumnGapBlocker176597">
              <a:extLst>
                <a:ext uri="{FF2B5EF4-FFF2-40B4-BE49-F238E27FC236}">
                  <a16:creationId xmlns:a16="http://schemas.microsoft.com/office/drawing/2014/main" id="{134D3D7C-2CD4-AAE0-0360-F6A1DBBD352B}"/>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8" name="btfpColumnIndicator277089">
              <a:extLst>
                <a:ext uri="{FF2B5EF4-FFF2-40B4-BE49-F238E27FC236}">
                  <a16:creationId xmlns:a16="http://schemas.microsoft.com/office/drawing/2014/main" id="{D73DCB94-DD5F-81A4-6F0E-BAAD1EFEA8D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6" name="btfpColumnIndicator474121">
              <a:extLst>
                <a:ext uri="{FF2B5EF4-FFF2-40B4-BE49-F238E27FC236}">
                  <a16:creationId xmlns:a16="http://schemas.microsoft.com/office/drawing/2014/main" id="{63AD7F8F-1B21-12B1-A551-640215FBC281}"/>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4" name="btfpColumnIndicatorGroup1">
            <a:extLst>
              <a:ext uri="{FF2B5EF4-FFF2-40B4-BE49-F238E27FC236}">
                <a16:creationId xmlns:a16="http://schemas.microsoft.com/office/drawing/2014/main" id="{A9F14367-A26B-8389-91B8-38BE4BE7727F}"/>
              </a:ext>
            </a:extLst>
          </p:cNvPr>
          <p:cNvGrpSpPr/>
          <p:nvPr/>
        </p:nvGrpSpPr>
        <p:grpSpPr>
          <a:xfrm>
            <a:off x="0" y="-205740"/>
            <a:ext cx="12192000" cy="137160"/>
            <a:chOff x="0" y="-205740"/>
            <a:chExt cx="12192000" cy="137160"/>
          </a:xfrm>
        </p:grpSpPr>
        <p:sp>
          <p:nvSpPr>
            <p:cNvPr id="32" name="btfpColumnGapBlocker578032">
              <a:extLst>
                <a:ext uri="{FF2B5EF4-FFF2-40B4-BE49-F238E27FC236}">
                  <a16:creationId xmlns:a16="http://schemas.microsoft.com/office/drawing/2014/main" id="{E96FFF6E-256C-F688-C717-86A3E14FCD3B}"/>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30" name="btfpColumnGapBlocker691849">
              <a:extLst>
                <a:ext uri="{FF2B5EF4-FFF2-40B4-BE49-F238E27FC236}">
                  <a16:creationId xmlns:a16="http://schemas.microsoft.com/office/drawing/2014/main" id="{F86319CD-50B8-EE38-1AF0-B31018639560}"/>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7" name="btfpColumnIndicator171227">
              <a:extLst>
                <a:ext uri="{FF2B5EF4-FFF2-40B4-BE49-F238E27FC236}">
                  <a16:creationId xmlns:a16="http://schemas.microsoft.com/office/drawing/2014/main" id="{5C40DFCC-D701-39CB-73ED-485F0075A9D4}"/>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688818">
              <a:extLst>
                <a:ext uri="{FF2B5EF4-FFF2-40B4-BE49-F238E27FC236}">
                  <a16:creationId xmlns:a16="http://schemas.microsoft.com/office/drawing/2014/main" id="{963033B3-8C55-4C83-DB6A-BF76A4BE14AE}"/>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D7CC47C-28EF-4923-051B-7C6319FE5782}"/>
              </a:ext>
            </a:extLst>
          </p:cNvPr>
          <p:cNvSpPr>
            <a:spLocks noGrp="1"/>
          </p:cNvSpPr>
          <p:nvPr>
            <p:ph type="title"/>
          </p:nvPr>
        </p:nvSpPr>
        <p:spPr/>
        <p:txBody>
          <a:bodyPr vert="horz"/>
          <a:lstStyle/>
          <a:p>
            <a:r>
              <a:rPr lang="en-US" b="1"/>
              <a:t>Set up: </a:t>
            </a:r>
            <a:r>
              <a:rPr lang="en-US"/>
              <a:t>Capital IQ</a:t>
            </a:r>
            <a:endParaRPr lang="en-US" b="1"/>
          </a:p>
        </p:txBody>
      </p:sp>
      <p:graphicFrame>
        <p:nvGraphicFramePr>
          <p:cNvPr id="16" name="btfpTable410507">
            <a:extLst>
              <a:ext uri="{FF2B5EF4-FFF2-40B4-BE49-F238E27FC236}">
                <a16:creationId xmlns:a16="http://schemas.microsoft.com/office/drawing/2014/main" id="{4A25942F-286E-AB0D-95F9-AFEC6A12F16E}"/>
              </a:ext>
            </a:extLst>
          </p:cNvPr>
          <p:cNvGraphicFramePr>
            <a:graphicFrameLocks noGrp="1"/>
          </p:cNvGraphicFramePr>
          <p:nvPr>
            <p:custDataLst>
              <p:tags r:id="rId3"/>
            </p:custDataLst>
            <p:extLst>
              <p:ext uri="{D42A27DB-BD31-4B8C-83A1-F6EECF244321}">
                <p14:modId xmlns:p14="http://schemas.microsoft.com/office/powerpoint/2010/main" val="3274592637"/>
              </p:ext>
            </p:extLst>
          </p:nvPr>
        </p:nvGraphicFramePr>
        <p:xfrm>
          <a:off x="495300" y="1311364"/>
          <a:ext cx="11531600" cy="5112510"/>
        </p:xfrm>
        <a:graphic>
          <a:graphicData uri="http://schemas.openxmlformats.org/drawingml/2006/table">
            <a:tbl>
              <a:tblPr firstRow="1" firstCol="1">
                <a:tableStyleId>{9D7B26C5-4107-4FEC-AEDC-1716B250A1EF}</a:tableStyleId>
              </a:tblPr>
              <a:tblGrid>
                <a:gridCol w="502609">
                  <a:extLst>
                    <a:ext uri="{9D8B030D-6E8A-4147-A177-3AD203B41FA5}">
                      <a16:colId xmlns:a16="http://schemas.microsoft.com/office/drawing/2014/main" val="3215929653"/>
                    </a:ext>
                  </a:extLst>
                </a:gridCol>
                <a:gridCol w="1663279">
                  <a:extLst>
                    <a:ext uri="{9D8B030D-6E8A-4147-A177-3AD203B41FA5}">
                      <a16:colId xmlns:a16="http://schemas.microsoft.com/office/drawing/2014/main" val="3410592685"/>
                    </a:ext>
                  </a:extLst>
                </a:gridCol>
                <a:gridCol w="2401972">
                  <a:extLst>
                    <a:ext uri="{9D8B030D-6E8A-4147-A177-3AD203B41FA5}">
                      <a16:colId xmlns:a16="http://schemas.microsoft.com/office/drawing/2014/main" val="2818076346"/>
                    </a:ext>
                  </a:extLst>
                </a:gridCol>
                <a:gridCol w="6963740">
                  <a:extLst>
                    <a:ext uri="{9D8B030D-6E8A-4147-A177-3AD203B41FA5}">
                      <a16:colId xmlns:a16="http://schemas.microsoft.com/office/drawing/2014/main" val="872472245"/>
                    </a:ext>
                  </a:extLst>
                </a:gridCol>
              </a:tblGrid>
              <a:tr h="360716">
                <a:tc>
                  <a:txBody>
                    <a:bodyPr/>
                    <a:lstStyle/>
                    <a:p>
                      <a:pPr marL="0" indent="0">
                        <a:spcBef>
                          <a:spcPts val="0"/>
                        </a:spcBef>
                        <a:buFontTx/>
                        <a:buNone/>
                      </a:pPr>
                      <a:endParaRPr lang="en-US" sz="1200"/>
                    </a:p>
                  </a:txBody>
                  <a:tcPr anchor="b"/>
                </a:tc>
                <a:tc>
                  <a:txBody>
                    <a:bodyPr/>
                    <a:lstStyle/>
                    <a:p>
                      <a:pPr marL="0" indent="0">
                        <a:spcBef>
                          <a:spcPts val="0"/>
                        </a:spcBef>
                        <a:buFontTx/>
                        <a:buNone/>
                      </a:pPr>
                      <a:r>
                        <a:rPr lang="en-US" sz="1200"/>
                        <a:t>Action</a:t>
                      </a:r>
                    </a:p>
                  </a:txBody>
                  <a:tcPr anchor="b"/>
                </a:tc>
                <a:tc>
                  <a:txBody>
                    <a:bodyPr/>
                    <a:lstStyle/>
                    <a:p>
                      <a:pPr marL="0" indent="0">
                        <a:spcBef>
                          <a:spcPts val="0"/>
                        </a:spcBef>
                        <a:buFontTx/>
                        <a:buNone/>
                      </a:pPr>
                      <a:r>
                        <a:rPr lang="en-US" sz="1200"/>
                        <a:t>Description</a:t>
                      </a:r>
                    </a:p>
                  </a:txBody>
                  <a:tcPr anchor="b"/>
                </a:tc>
                <a:tc>
                  <a:txBody>
                    <a:bodyPr/>
                    <a:lstStyle/>
                    <a:p>
                      <a:pPr marL="0" indent="0">
                        <a:spcBef>
                          <a:spcPts val="0"/>
                        </a:spcBef>
                        <a:buFontTx/>
                        <a:buNone/>
                      </a:pPr>
                      <a:r>
                        <a:rPr lang="en-US" sz="1200"/>
                        <a:t>Illustrative steps</a:t>
                      </a:r>
                    </a:p>
                  </a:txBody>
                  <a:tcPr anchor="b"/>
                </a:tc>
                <a:extLst>
                  <a:ext uri="{0D108BD9-81ED-4DB2-BD59-A6C34878D82A}">
                    <a16:rowId xmlns:a16="http://schemas.microsoft.com/office/drawing/2014/main" val="2276346153"/>
                  </a:ext>
                </a:extLst>
              </a:tr>
              <a:tr h="2008594">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200"/>
                        <a:t>STEP 1</a:t>
                      </a:r>
                    </a:p>
                  </a:txBody>
                  <a:tcPr vert="vert270" anchor="ctr">
                    <a:solidFill>
                      <a:srgbClr val="DCE5EA"/>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200"/>
                        <a:t>Obtain access to “</a:t>
                      </a:r>
                      <a:r>
                        <a:rPr lang="en-US" sz="1200" err="1"/>
                        <a:t>CapIQ</a:t>
                      </a:r>
                      <a:r>
                        <a:rPr lang="en-US" sz="1200"/>
                        <a:t> Classic”</a:t>
                      </a:r>
                    </a:p>
                  </a:txBody>
                  <a:tcPr anchor="ctr"/>
                </a:tc>
                <a:tc>
                  <a:txBody>
                    <a:bodyPr/>
                    <a:lstStyle/>
                    <a:p>
                      <a:pPr algn="l">
                        <a:spcBef>
                          <a:spcPts val="1200"/>
                        </a:spcBef>
                      </a:pPr>
                      <a:r>
                        <a:rPr lang="en-US" sz="1200" b="0"/>
                        <a:t>Default platform for Bain is CapIQ Pro, which is accessible on Compass</a:t>
                      </a:r>
                    </a:p>
                    <a:p>
                      <a:pPr algn="l">
                        <a:spcBef>
                          <a:spcPts val="1200"/>
                        </a:spcBef>
                      </a:pPr>
                      <a:r>
                        <a:rPr lang="en-US" sz="1200" b="0"/>
                        <a:t>Our team prefers CapIQ Classic given its more intuitive user interface – </a:t>
                      </a:r>
                      <a:r>
                        <a:rPr lang="en-US" sz="1200" b="1"/>
                        <a:t>for access, please ask team manager to reach out to RDS contact</a:t>
                      </a:r>
                    </a:p>
                  </a:txBody>
                  <a:tcPr anchor="ctr"/>
                </a:tc>
                <a:tc>
                  <a:txBody>
                    <a:bodyPr/>
                    <a:lstStyle/>
                    <a:p>
                      <a:pPr marL="0" indent="0">
                        <a:buFontTx/>
                        <a:buNone/>
                      </a:pPr>
                      <a:endParaRPr lang="en-US" sz="1200"/>
                    </a:p>
                  </a:txBody>
                  <a:tcPr anchor="ctr"/>
                </a:tc>
                <a:extLst>
                  <a:ext uri="{0D108BD9-81ED-4DB2-BD59-A6C34878D82A}">
                    <a16:rowId xmlns:a16="http://schemas.microsoft.com/office/drawing/2014/main" val="3360390014"/>
                  </a:ext>
                </a:extLst>
              </a:tr>
              <a:tr h="2743200">
                <a:tc>
                  <a:txBody>
                    <a:bodyPr/>
                    <a:lstStyle/>
                    <a:p>
                      <a:pPr marL="0" marR="0" lvl="0" indent="0" algn="ctr" defTabSz="711200" rtl="0" eaLnBrk="1" fontAlgn="auto" latinLnBrk="0" hangingPunct="1">
                        <a:lnSpc>
                          <a:spcPct val="100000"/>
                        </a:lnSpc>
                        <a:spcBef>
                          <a:spcPts val="1200"/>
                        </a:spcBef>
                        <a:spcAft>
                          <a:spcPts val="0"/>
                        </a:spcAft>
                        <a:buClrTx/>
                        <a:buSzTx/>
                        <a:buFontTx/>
                        <a:buNone/>
                        <a:tabLst/>
                        <a:defRPr/>
                      </a:pPr>
                      <a:r>
                        <a:rPr lang="en-US" sz="1200"/>
                        <a:t>STEP 2</a:t>
                      </a:r>
                    </a:p>
                  </a:txBody>
                  <a:tcPr vert="vert270" anchor="ctr">
                    <a:solidFill>
                      <a:srgbClr val="DCE5EA"/>
                    </a:solidFill>
                  </a:tcPr>
                </a:tc>
                <a:tc>
                  <a:txBody>
                    <a:bodyPr/>
                    <a:lstStyle/>
                    <a:p>
                      <a:pPr marL="0" marR="0" lvl="0" indent="0" algn="l" defTabSz="711200" rtl="0" eaLnBrk="1" fontAlgn="auto" latinLnBrk="0" hangingPunct="1">
                        <a:lnSpc>
                          <a:spcPct val="100000"/>
                        </a:lnSpc>
                        <a:spcBef>
                          <a:spcPts val="1200"/>
                        </a:spcBef>
                        <a:spcAft>
                          <a:spcPts val="0"/>
                        </a:spcAft>
                        <a:buClrTx/>
                        <a:buSzTx/>
                        <a:buFontTx/>
                        <a:buNone/>
                        <a:tabLst/>
                        <a:defRPr/>
                      </a:pPr>
                      <a:r>
                        <a:rPr lang="en-US" sz="1200"/>
                        <a:t>Configure the </a:t>
                      </a:r>
                      <a:r>
                        <a:rPr lang="en-US" sz="1200" err="1"/>
                        <a:t>CapIQ</a:t>
                      </a:r>
                      <a:r>
                        <a:rPr lang="en-US" sz="1200"/>
                        <a:t> Excel plug-in</a:t>
                      </a:r>
                    </a:p>
                  </a:txBody>
                  <a:tcPr anchor="ctr"/>
                </a:tc>
                <a:tc>
                  <a:txBody>
                    <a:bodyPr/>
                    <a:lstStyle/>
                    <a:p>
                      <a:pPr>
                        <a:spcBef>
                          <a:spcPts val="1200"/>
                        </a:spcBef>
                      </a:pPr>
                      <a:r>
                        <a:rPr lang="en-US" sz="1200" b="0"/>
                        <a:t>The BCN team uses the Classic plug-in, but you may use either that or Pro</a:t>
                      </a:r>
                    </a:p>
                    <a:p>
                      <a:pPr>
                        <a:spcBef>
                          <a:spcPts val="1200"/>
                        </a:spcBef>
                      </a:pPr>
                      <a:r>
                        <a:rPr lang="en-US" sz="1200" b="0"/>
                        <a:t>If you use Pro, click on “Settings” in the toolbar and enable CIQ Formula Refresh, allowing you to refresh adjustment summaries completed by BCN</a:t>
                      </a:r>
                    </a:p>
                    <a:p>
                      <a:pPr marL="177800" marR="0" lvl="0" indent="-177800" algn="l" defTabSz="711200" rtl="0" eaLnBrk="1" fontAlgn="auto" latinLnBrk="0" hangingPunct="1">
                        <a:lnSpc>
                          <a:spcPct val="100000"/>
                        </a:lnSpc>
                        <a:spcBef>
                          <a:spcPts val="1200"/>
                        </a:spcBef>
                        <a:spcAft>
                          <a:spcPts val="0"/>
                        </a:spcAft>
                        <a:buClrTx/>
                        <a:buSzTx/>
                        <a:buFontTx/>
                        <a:buChar char="•"/>
                        <a:tabLst/>
                        <a:defRPr/>
                      </a:pPr>
                      <a:r>
                        <a:rPr lang="en-US" sz="1200" b="0"/>
                        <a:t>For rapid setup, </a:t>
                      </a:r>
                      <a:r>
                        <a:rPr lang="en-US" sz="1200" b="1"/>
                        <a:t>please visit your local TSG team</a:t>
                      </a:r>
                    </a:p>
                  </a:txBody>
                  <a:tcPr anchor="ctr"/>
                </a:tc>
                <a:tc>
                  <a:txBody>
                    <a:bodyPr/>
                    <a:lstStyle/>
                    <a:p>
                      <a:pPr marL="0" indent="0">
                        <a:buFontTx/>
                        <a:buNone/>
                      </a:pPr>
                      <a:endParaRPr lang="en-US" sz="1200"/>
                    </a:p>
                  </a:txBody>
                  <a:tcPr anchor="ctr"/>
                </a:tc>
                <a:extLst>
                  <a:ext uri="{0D108BD9-81ED-4DB2-BD59-A6C34878D82A}">
                    <a16:rowId xmlns:a16="http://schemas.microsoft.com/office/drawing/2014/main" val="532818207"/>
                  </a:ext>
                </a:extLst>
              </a:tr>
            </a:tbl>
          </a:graphicData>
        </a:graphic>
      </p:graphicFrame>
      <p:pic>
        <p:nvPicPr>
          <p:cNvPr id="38" name="Picture 37">
            <a:extLst>
              <a:ext uri="{FF2B5EF4-FFF2-40B4-BE49-F238E27FC236}">
                <a16:creationId xmlns:a16="http://schemas.microsoft.com/office/drawing/2014/main" id="{A1EFAE1F-6D5B-5F9D-E3DE-86ABCBC77177}"/>
              </a:ext>
            </a:extLst>
          </p:cNvPr>
          <p:cNvPicPr>
            <a:picLocks noChangeAspect="1"/>
          </p:cNvPicPr>
          <p:nvPr/>
        </p:nvPicPr>
        <p:blipFill>
          <a:blip r:embed="rId8"/>
          <a:srcRect l="42554" b="29519"/>
          <a:stretch/>
        </p:blipFill>
        <p:spPr>
          <a:xfrm>
            <a:off x="5367130" y="3887476"/>
            <a:ext cx="6397486" cy="986722"/>
          </a:xfrm>
          <a:prstGeom prst="rect">
            <a:avLst/>
          </a:prstGeom>
        </p:spPr>
      </p:pic>
      <p:pic>
        <p:nvPicPr>
          <p:cNvPr id="44" name="Picture 43" descr="A screenshot of a computer&#10;&#10;Description automatically generated">
            <a:extLst>
              <a:ext uri="{FF2B5EF4-FFF2-40B4-BE49-F238E27FC236}">
                <a16:creationId xmlns:a16="http://schemas.microsoft.com/office/drawing/2014/main" id="{8C683784-94B2-89E1-9D56-6E94FFE84BB0}"/>
              </a:ext>
            </a:extLst>
          </p:cNvPr>
          <p:cNvPicPr>
            <a:picLocks noChangeAspect="1"/>
          </p:cNvPicPr>
          <p:nvPr/>
        </p:nvPicPr>
        <p:blipFill>
          <a:blip r:embed="rId9"/>
          <a:srcRect l="18565" t="56020" b="12785"/>
          <a:stretch/>
        </p:blipFill>
        <p:spPr>
          <a:xfrm>
            <a:off x="6420678" y="5214789"/>
            <a:ext cx="4300330" cy="1177827"/>
          </a:xfrm>
          <a:prstGeom prst="rect">
            <a:avLst/>
          </a:prstGeom>
        </p:spPr>
      </p:pic>
      <p:sp>
        <p:nvSpPr>
          <p:cNvPr id="56" name="Rectangle 55">
            <a:extLst>
              <a:ext uri="{FF2B5EF4-FFF2-40B4-BE49-F238E27FC236}">
                <a16:creationId xmlns:a16="http://schemas.microsoft.com/office/drawing/2014/main" id="{93CFEF92-A4FE-E105-E6D6-5FFD3CB868A0}"/>
              </a:ext>
            </a:extLst>
          </p:cNvPr>
          <p:cNvSpPr/>
          <p:nvPr/>
        </p:nvSpPr>
        <p:spPr bwMode="gray">
          <a:xfrm>
            <a:off x="6537960" y="5803702"/>
            <a:ext cx="3813048" cy="401483"/>
          </a:xfrm>
          <a:prstGeom prst="rect">
            <a:avLst/>
          </a:prstGeom>
          <a:noFill/>
          <a:ln w="19050" cap="flat" cmpd="sng" algn="ctr">
            <a:solidFill>
              <a:srgbClr val="CC0000"/>
            </a:solidFill>
            <a:prstDash val="solid"/>
            <a:miter lim="800000"/>
            <a:headEnd type="none" w="med" len="med"/>
            <a:tailEnd type="none" w="med" len="med"/>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pic>
        <p:nvPicPr>
          <p:cNvPr id="75" name="Picture 74">
            <a:extLst>
              <a:ext uri="{FF2B5EF4-FFF2-40B4-BE49-F238E27FC236}">
                <a16:creationId xmlns:a16="http://schemas.microsoft.com/office/drawing/2014/main" id="{255AB775-B37D-9F15-EE7A-332B5687C25B}"/>
              </a:ext>
            </a:extLst>
          </p:cNvPr>
          <p:cNvPicPr>
            <a:picLocks noChangeAspect="1"/>
          </p:cNvPicPr>
          <p:nvPr/>
        </p:nvPicPr>
        <p:blipFill>
          <a:blip r:embed="rId10"/>
          <a:srcRect r="51351"/>
          <a:stretch/>
        </p:blipFill>
        <p:spPr>
          <a:xfrm>
            <a:off x="5600169" y="1861494"/>
            <a:ext cx="5931408" cy="1646529"/>
          </a:xfrm>
          <a:prstGeom prst="rect">
            <a:avLst/>
          </a:prstGeom>
        </p:spPr>
      </p:pic>
      <p:sp>
        <p:nvSpPr>
          <p:cNvPr id="57" name="Rectangle 56">
            <a:extLst>
              <a:ext uri="{FF2B5EF4-FFF2-40B4-BE49-F238E27FC236}">
                <a16:creationId xmlns:a16="http://schemas.microsoft.com/office/drawing/2014/main" id="{A3D4E52D-8516-64F9-F78B-46CBDD22512F}"/>
              </a:ext>
            </a:extLst>
          </p:cNvPr>
          <p:cNvSpPr/>
          <p:nvPr/>
        </p:nvSpPr>
        <p:spPr bwMode="gray">
          <a:xfrm>
            <a:off x="10871200" y="4592320"/>
            <a:ext cx="805180" cy="292038"/>
          </a:xfrm>
          <a:prstGeom prst="rect">
            <a:avLst/>
          </a:prstGeom>
          <a:noFill/>
          <a:ln w="19050" cap="flat" cmpd="sng" algn="ctr">
            <a:solidFill>
              <a:srgbClr val="CC0000"/>
            </a:solidFill>
            <a:prstDash val="solid"/>
            <a:miter lim="800000"/>
            <a:headEnd type="none" w="med" len="med"/>
            <a:tailEnd type="none" w="med" len="med"/>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Tree>
    <p:custDataLst>
      <p:tags r:id="rId1"/>
    </p:custDataLst>
    <p:extLst>
      <p:ext uri="{BB962C8B-B14F-4D97-AF65-F5344CB8AC3E}">
        <p14:creationId xmlns:p14="http://schemas.microsoft.com/office/powerpoint/2010/main" val="3705905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BA88E32F-1D30-D083-851F-CDC299558359}"/>
              </a:ext>
            </a:extLst>
          </p:cNvPr>
          <p:cNvGraphicFramePr>
            <a:graphicFrameLocks/>
          </p:cNvGraphicFramePr>
          <p:nvPr>
            <p:custDataLst>
              <p:tags r:id="rId2"/>
            </p:custDataLst>
            <p:extLst>
              <p:ext uri="{D42A27DB-BD31-4B8C-83A1-F6EECF244321}">
                <p14:modId xmlns:p14="http://schemas.microsoft.com/office/powerpoint/2010/main" val="524241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14" name="think-cell data - do not delete" hidden="1">
                        <a:extLst>
                          <a:ext uri="{FF2B5EF4-FFF2-40B4-BE49-F238E27FC236}">
                            <a16:creationId xmlns:a16="http://schemas.microsoft.com/office/drawing/2014/main" id="{BA88E32F-1D30-D083-851F-CDC29955835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EDBBE557-EEBA-27B7-D999-A5933753C840}"/>
              </a:ext>
            </a:extLst>
          </p:cNvPr>
          <p:cNvGrpSpPr/>
          <p:nvPr/>
        </p:nvGrpSpPr>
        <p:grpSpPr>
          <a:xfrm>
            <a:off x="0" y="6926580"/>
            <a:ext cx="12192000" cy="137160"/>
            <a:chOff x="0" y="6926580"/>
            <a:chExt cx="12192000" cy="137160"/>
          </a:xfrm>
        </p:grpSpPr>
        <p:sp>
          <p:nvSpPr>
            <p:cNvPr id="10" name="btfpColumnGapBlocker846501">
              <a:extLst>
                <a:ext uri="{FF2B5EF4-FFF2-40B4-BE49-F238E27FC236}">
                  <a16:creationId xmlns:a16="http://schemas.microsoft.com/office/drawing/2014/main" id="{A3DC237D-A7F1-65D0-42A3-DA93BE3B65A7}"/>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734215">
              <a:extLst>
                <a:ext uri="{FF2B5EF4-FFF2-40B4-BE49-F238E27FC236}">
                  <a16:creationId xmlns:a16="http://schemas.microsoft.com/office/drawing/2014/main" id="{F7573FEB-7497-5EAF-3E31-2AFA25AB5E60}"/>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544963">
              <a:extLst>
                <a:ext uri="{FF2B5EF4-FFF2-40B4-BE49-F238E27FC236}">
                  <a16:creationId xmlns:a16="http://schemas.microsoft.com/office/drawing/2014/main" id="{8213874F-051A-BEEC-8684-099AF1C16D18}"/>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69768">
              <a:extLst>
                <a:ext uri="{FF2B5EF4-FFF2-40B4-BE49-F238E27FC236}">
                  <a16:creationId xmlns:a16="http://schemas.microsoft.com/office/drawing/2014/main" id="{B02281A9-003F-E8C4-EC79-9B244BD2FA41}"/>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8AAAE126-0CF2-F1D2-204E-0E4B25DDDAB6}"/>
              </a:ext>
            </a:extLst>
          </p:cNvPr>
          <p:cNvGrpSpPr/>
          <p:nvPr/>
        </p:nvGrpSpPr>
        <p:grpSpPr>
          <a:xfrm>
            <a:off x="0" y="-205740"/>
            <a:ext cx="12192000" cy="137160"/>
            <a:chOff x="0" y="-205740"/>
            <a:chExt cx="12192000" cy="137160"/>
          </a:xfrm>
        </p:grpSpPr>
        <p:sp>
          <p:nvSpPr>
            <p:cNvPr id="9" name="btfpColumnGapBlocker717373">
              <a:extLst>
                <a:ext uri="{FF2B5EF4-FFF2-40B4-BE49-F238E27FC236}">
                  <a16:creationId xmlns:a16="http://schemas.microsoft.com/office/drawing/2014/main" id="{B038BC1B-70C7-8A62-4078-D73902EBBFE8}"/>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495356">
              <a:extLst>
                <a:ext uri="{FF2B5EF4-FFF2-40B4-BE49-F238E27FC236}">
                  <a16:creationId xmlns:a16="http://schemas.microsoft.com/office/drawing/2014/main" id="{B5F7F90F-86BC-DF46-BB56-70E2B152C01B}"/>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317339">
              <a:extLst>
                <a:ext uri="{FF2B5EF4-FFF2-40B4-BE49-F238E27FC236}">
                  <a16:creationId xmlns:a16="http://schemas.microsoft.com/office/drawing/2014/main" id="{FFD7693B-78FE-7A63-CD48-EEB813E9C382}"/>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706541">
              <a:extLst>
                <a:ext uri="{FF2B5EF4-FFF2-40B4-BE49-F238E27FC236}">
                  <a16:creationId xmlns:a16="http://schemas.microsoft.com/office/drawing/2014/main" id="{45D4E73F-93F1-97AC-8152-AFB772D06CE2}"/>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201BCBA-AF17-C35A-0F58-A2978DAE1498}"/>
              </a:ext>
            </a:extLst>
          </p:cNvPr>
          <p:cNvSpPr>
            <a:spLocks noGrp="1"/>
          </p:cNvSpPr>
          <p:nvPr>
            <p:ph type="title"/>
          </p:nvPr>
        </p:nvSpPr>
        <p:spPr/>
        <p:txBody>
          <a:bodyPr vert="horz"/>
          <a:lstStyle/>
          <a:p>
            <a:r>
              <a:rPr lang="en-US" b="1" dirty="0"/>
              <a:t>Set up: </a:t>
            </a:r>
            <a:r>
              <a:rPr lang="en-US" dirty="0"/>
              <a:t>Using ChatGPT well</a:t>
            </a:r>
          </a:p>
        </p:txBody>
      </p:sp>
      <p:sp>
        <p:nvSpPr>
          <p:cNvPr id="13" name="btfpBulletedList871996">
            <a:extLst>
              <a:ext uri="{FF2B5EF4-FFF2-40B4-BE49-F238E27FC236}">
                <a16:creationId xmlns:a16="http://schemas.microsoft.com/office/drawing/2014/main" id="{32F0F390-830F-2633-3D4D-342317C67B5D}"/>
              </a:ext>
            </a:extLst>
          </p:cNvPr>
          <p:cNvSpPr txBox="1"/>
          <p:nvPr>
            <p:custDataLst>
              <p:tags r:id="rId3"/>
            </p:custDataLst>
          </p:nvPr>
        </p:nvSpPr>
        <p:spPr bwMode="gray">
          <a:xfrm>
            <a:off x="330199" y="1270000"/>
            <a:ext cx="11531600" cy="4858629"/>
          </a:xfrm>
          <a:prstGeom prst="rect">
            <a:avLst/>
          </a:prstGeom>
          <a:noFill/>
        </p:spPr>
        <p:txBody>
          <a:bodyPr vert="horz" wrap="square" lIns="36000" tIns="36000" rIns="36000" bIns="36000" rtlCol="0">
            <a:spAutoFit/>
          </a:bodyPr>
          <a:lstStyle/>
          <a:p>
            <a:pPr defTabSz="914400" eaLnBrk="0" fontAlgn="base" hangingPunct="0"/>
            <a:r>
              <a:rPr kumimoji="0" lang="en-US" altLang="en-US" sz="1600" b="0" u="none" strike="noStrike" cap="none" normalizeH="0" baseline="0" dirty="0">
                <a:ln>
                  <a:noFill/>
                </a:ln>
                <a:solidFill>
                  <a:schemeClr val="tx1"/>
                </a:solidFill>
                <a:effectLst/>
                <a:latin typeface="Arial" panose="020B0604020202020204" pitchFamily="34" charset="0"/>
              </a:rPr>
              <a:t>ChatGPT is a </a:t>
            </a:r>
            <a:r>
              <a:rPr kumimoji="0" lang="en-US" altLang="en-US" sz="1600" b="1" u="none" strike="noStrike" cap="none" normalizeH="0" baseline="0" dirty="0">
                <a:ln>
                  <a:noFill/>
                </a:ln>
                <a:solidFill>
                  <a:schemeClr val="tx1"/>
                </a:solidFill>
                <a:effectLst/>
                <a:latin typeface="Arial" panose="020B0604020202020204" pitchFamily="34" charset="0"/>
              </a:rPr>
              <a:t>useful tool throughout the OI process </a:t>
            </a:r>
            <a:r>
              <a:rPr kumimoji="0" lang="en-US" altLang="en-US" sz="1600" b="0" u="none" strike="noStrike" cap="none" normalizeH="0" baseline="0" dirty="0">
                <a:ln>
                  <a:noFill/>
                </a:ln>
                <a:solidFill>
                  <a:schemeClr val="tx1"/>
                </a:solidFill>
                <a:effectLst/>
                <a:latin typeface="Arial" panose="020B0604020202020204" pitchFamily="34" charset="0"/>
              </a:rPr>
              <a:t>– from initial “get smart” to deeper investigations into recent trends</a:t>
            </a:r>
          </a:p>
          <a:p>
            <a:pPr defTabSz="914400" eaLnBrk="0" fontAlgn="base" hangingPunct="0"/>
            <a:r>
              <a:rPr lang="en-US" altLang="en-US" dirty="0">
                <a:latin typeface="Arial" panose="020B0604020202020204" pitchFamily="34" charset="0"/>
              </a:rPr>
              <a:t>When starting an OI, it is often helpful to </a:t>
            </a:r>
            <a:r>
              <a:rPr lang="en-US" altLang="en-US" b="1" dirty="0">
                <a:latin typeface="Arial" panose="020B0604020202020204" pitchFamily="34" charset="0"/>
              </a:rPr>
              <a:t>prompt ChatGPT for a “primer” on the company and its sector</a:t>
            </a:r>
            <a:r>
              <a:rPr lang="en-US" altLang="en-US" dirty="0">
                <a:latin typeface="Arial" panose="020B0604020202020204" pitchFamily="34" charset="0"/>
              </a:rPr>
              <a:t>, asking for input on:</a:t>
            </a:r>
          </a:p>
          <a:p>
            <a:pPr lvl="1" defTabSz="914400" eaLnBrk="0" fontAlgn="base" hangingPunct="0"/>
            <a:r>
              <a:rPr kumimoji="0" lang="en-US" altLang="en-US" b="0" u="none" strike="noStrike" cap="none" normalizeH="0" baseline="0" dirty="0">
                <a:ln>
                  <a:noFill/>
                </a:ln>
                <a:solidFill>
                  <a:schemeClr val="tx1"/>
                </a:solidFill>
                <a:effectLst/>
                <a:latin typeface="Arial" panose="020B0604020202020204" pitchFamily="34" charset="0"/>
              </a:rPr>
              <a:t>Company history</a:t>
            </a:r>
          </a:p>
          <a:p>
            <a:pPr lvl="1" defTabSz="914400" eaLnBrk="0" fontAlgn="base" hangingPunct="0"/>
            <a:r>
              <a:rPr lang="en-US" altLang="en-US" dirty="0">
                <a:latin typeface="Arial" panose="020B0604020202020204" pitchFamily="34" charset="0"/>
              </a:rPr>
              <a:t>Stock price performance</a:t>
            </a:r>
            <a:endParaRPr kumimoji="0" lang="en-US" altLang="en-US" b="0" u="none" strike="noStrike" cap="none" normalizeH="0" baseline="0" dirty="0">
              <a:ln>
                <a:noFill/>
              </a:ln>
              <a:solidFill>
                <a:schemeClr val="tx1"/>
              </a:solidFill>
              <a:effectLst/>
              <a:latin typeface="Arial" panose="020B0604020202020204" pitchFamily="34" charset="0"/>
            </a:endParaRPr>
          </a:p>
          <a:p>
            <a:pPr lvl="1" defTabSz="914400" eaLnBrk="0" fontAlgn="base" hangingPunct="0"/>
            <a:r>
              <a:rPr kumimoji="0" lang="en-US" altLang="en-US" b="0" u="none" strike="noStrike" cap="none" normalizeH="0" baseline="0" dirty="0">
                <a:ln>
                  <a:noFill/>
                </a:ln>
                <a:solidFill>
                  <a:schemeClr val="tx1"/>
                </a:solidFill>
                <a:effectLst/>
                <a:latin typeface="Arial" panose="020B0604020202020204" pitchFamily="34" charset="0"/>
              </a:rPr>
              <a:t>Profitability trends</a:t>
            </a:r>
          </a:p>
          <a:p>
            <a:pPr lvl="1" defTabSz="914400" eaLnBrk="0" fontAlgn="base" hangingPunct="0"/>
            <a:r>
              <a:rPr lang="en-US" altLang="en-US" dirty="0">
                <a:latin typeface="Arial" panose="020B0604020202020204" pitchFamily="34" charset="0"/>
              </a:rPr>
              <a:t>Key competitors</a:t>
            </a:r>
          </a:p>
          <a:p>
            <a:pPr lvl="1" defTabSz="914400" eaLnBrk="0" fontAlgn="base" hangingPunct="0"/>
            <a:r>
              <a:rPr kumimoji="0" lang="en-US" altLang="en-US" b="0" u="none" strike="noStrike" cap="none" normalizeH="0" baseline="0" dirty="0">
                <a:ln>
                  <a:noFill/>
                </a:ln>
                <a:solidFill>
                  <a:schemeClr val="tx1"/>
                </a:solidFill>
                <a:effectLst/>
                <a:latin typeface="Arial" panose="020B0604020202020204" pitchFamily="34" charset="0"/>
              </a:rPr>
              <a:t>Recent acquisitions</a:t>
            </a:r>
          </a:p>
          <a:p>
            <a:pPr defTabSz="914400" eaLnBrk="0" fontAlgn="base" hangingPunct="0"/>
            <a:r>
              <a:rPr lang="en-US" altLang="en-US" dirty="0">
                <a:latin typeface="Arial" panose="020B0604020202020204" pitchFamily="34" charset="0"/>
              </a:rPr>
              <a:t>ChatGPT can also </a:t>
            </a:r>
            <a:r>
              <a:rPr lang="en-US" altLang="en-US" b="1" dirty="0">
                <a:latin typeface="Arial" panose="020B0604020202020204" pitchFamily="34" charset="0"/>
              </a:rPr>
              <a:t>provide relevant context to explain key trends </a:t>
            </a:r>
            <a:r>
              <a:rPr lang="en-US" altLang="en-US" dirty="0">
                <a:latin typeface="Arial" panose="020B0604020202020204" pitchFamily="34" charset="0"/>
              </a:rPr>
              <a:t>(e.g., why did SG&amp;A rise suddenly in FY22) as you investigate performance, though it is best practice to </a:t>
            </a:r>
            <a:r>
              <a:rPr lang="en-US" altLang="en-US" b="1" dirty="0">
                <a:latin typeface="Arial" panose="020B0604020202020204" pitchFamily="34" charset="0"/>
              </a:rPr>
              <a:t>validate its output against company reporting </a:t>
            </a:r>
            <a:r>
              <a:rPr lang="en-US" altLang="en-US" dirty="0">
                <a:latin typeface="Arial" panose="020B0604020202020204" pitchFamily="34" charset="0"/>
              </a:rPr>
              <a:t>via annual (10-K) or quarterly (10-Q) filings, earnings reports, and call transcripts</a:t>
            </a:r>
          </a:p>
          <a:p>
            <a:pPr defTabSz="914400" eaLnBrk="0" fontAlgn="base" hangingPunct="0"/>
            <a:r>
              <a:rPr lang="en-US" altLang="en-US" dirty="0">
                <a:latin typeface="Arial" panose="020B0604020202020204" pitchFamily="34" charset="0"/>
              </a:rPr>
              <a:t>ChatGPT can also help provide </a:t>
            </a:r>
            <a:r>
              <a:rPr lang="en-US" altLang="en-US" b="1" dirty="0">
                <a:latin typeface="Arial" panose="020B0604020202020204" pitchFamily="34" charset="0"/>
              </a:rPr>
              <a:t>quick analysis on annual reports / financial statements </a:t>
            </a:r>
            <a:r>
              <a:rPr lang="en-US" altLang="en-US" dirty="0">
                <a:latin typeface="Arial" panose="020B0604020202020204" pitchFamily="34" charset="0"/>
              </a:rPr>
              <a:t>with questions like “What page shows segment level EBIT margins” or “Does the annual report mention why COGS has increased in the past year?”</a:t>
            </a:r>
          </a:p>
          <a:p>
            <a:pPr defTabSz="914400" eaLnBrk="0" fontAlgn="base" hangingPunct="0"/>
            <a:r>
              <a:rPr lang="en-US" altLang="en-US" b="1" dirty="0">
                <a:latin typeface="Arial" panose="020B0604020202020204" pitchFamily="34" charset="0"/>
              </a:rPr>
              <a:t>Importantly, always be cautious with output generated by ChatGPT </a:t>
            </a:r>
            <a:r>
              <a:rPr lang="en-US" altLang="en-US" dirty="0">
                <a:latin typeface="Arial" panose="020B0604020202020204" pitchFamily="34" charset="0"/>
              </a:rPr>
              <a:t>given possible “hallucinations” or incorrect responses and instead view it as a supporting tool for your analysis. Always verify through additional research in company website / financials before adding callouts to the deck</a:t>
            </a:r>
            <a:endParaRPr kumimoji="0" lang="en-US" altLang="en-US" b="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9959151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FEE25B2-9502-DEC2-82CE-109EA56D9D27}"/>
              </a:ext>
            </a:extLst>
          </p:cNvPr>
          <p:cNvGraphicFramePr>
            <a:graphicFrameLocks/>
          </p:cNvGraphicFramePr>
          <p:nvPr>
            <p:custDataLst>
              <p:tags r:id="rId2"/>
            </p:custDataLst>
            <p:extLst>
              <p:ext uri="{D42A27DB-BD31-4B8C-83A1-F6EECF244321}">
                <p14:modId xmlns:p14="http://schemas.microsoft.com/office/powerpoint/2010/main" val="38763676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6" imgH="608" progId="TCLayout.ActiveDocument.1">
                  <p:embed/>
                </p:oleObj>
              </mc:Choice>
              <mc:Fallback>
                <p:oleObj name="think-cell Slide" r:id="rId5" imgW="606" imgH="608" progId="TCLayout.ActiveDocument.1">
                  <p:embed/>
                  <p:pic>
                    <p:nvPicPr>
                      <p:cNvPr id="14" name="think-cell data - do not delete" hidden="1">
                        <a:extLst>
                          <a:ext uri="{FF2B5EF4-FFF2-40B4-BE49-F238E27FC236}">
                            <a16:creationId xmlns:a16="http://schemas.microsoft.com/office/drawing/2014/main" id="{DFEE25B2-9502-DEC2-82CE-109EA56D9D2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2" name="btfpColumnIndicatorGroup2">
            <a:extLst>
              <a:ext uri="{FF2B5EF4-FFF2-40B4-BE49-F238E27FC236}">
                <a16:creationId xmlns:a16="http://schemas.microsoft.com/office/drawing/2014/main" id="{4AE749DD-B79F-D671-74BF-A8E98A235E0E}"/>
              </a:ext>
            </a:extLst>
          </p:cNvPr>
          <p:cNvGrpSpPr/>
          <p:nvPr/>
        </p:nvGrpSpPr>
        <p:grpSpPr>
          <a:xfrm>
            <a:off x="0" y="6926580"/>
            <a:ext cx="12192000" cy="137160"/>
            <a:chOff x="0" y="6926580"/>
            <a:chExt cx="12192000" cy="137160"/>
          </a:xfrm>
        </p:grpSpPr>
        <p:sp>
          <p:nvSpPr>
            <p:cNvPr id="10" name="btfpColumnGapBlocker240378">
              <a:extLst>
                <a:ext uri="{FF2B5EF4-FFF2-40B4-BE49-F238E27FC236}">
                  <a16:creationId xmlns:a16="http://schemas.microsoft.com/office/drawing/2014/main" id="{BE84177F-5D61-199C-B8D6-02AF3C72AA48}"/>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 name="btfpColumnGapBlocker811580">
              <a:extLst>
                <a:ext uri="{FF2B5EF4-FFF2-40B4-BE49-F238E27FC236}">
                  <a16:creationId xmlns:a16="http://schemas.microsoft.com/office/drawing/2014/main" id="{99098610-7F2A-4BC5-F6FE-F791F59547A0}"/>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 name="btfpColumnIndicator771946">
              <a:extLst>
                <a:ext uri="{FF2B5EF4-FFF2-40B4-BE49-F238E27FC236}">
                  <a16:creationId xmlns:a16="http://schemas.microsoft.com/office/drawing/2014/main" id="{749B8F10-67F3-4D2A-39EA-521B602FFF5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 name="btfpColumnIndicator864342">
              <a:extLst>
                <a:ext uri="{FF2B5EF4-FFF2-40B4-BE49-F238E27FC236}">
                  <a16:creationId xmlns:a16="http://schemas.microsoft.com/office/drawing/2014/main" id="{BAF219DD-3E02-7E92-5B81-C9A8402C0E92}"/>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 name="btfpColumnIndicatorGroup1">
            <a:extLst>
              <a:ext uri="{FF2B5EF4-FFF2-40B4-BE49-F238E27FC236}">
                <a16:creationId xmlns:a16="http://schemas.microsoft.com/office/drawing/2014/main" id="{7F61E7BC-090A-F898-6C8D-DDD57F1BEF3F}"/>
              </a:ext>
            </a:extLst>
          </p:cNvPr>
          <p:cNvGrpSpPr/>
          <p:nvPr/>
        </p:nvGrpSpPr>
        <p:grpSpPr>
          <a:xfrm>
            <a:off x="0" y="-205740"/>
            <a:ext cx="12192000" cy="137160"/>
            <a:chOff x="0" y="-205740"/>
            <a:chExt cx="12192000" cy="137160"/>
          </a:xfrm>
        </p:grpSpPr>
        <p:sp>
          <p:nvSpPr>
            <p:cNvPr id="9" name="btfpColumnGapBlocker973429">
              <a:extLst>
                <a:ext uri="{FF2B5EF4-FFF2-40B4-BE49-F238E27FC236}">
                  <a16:creationId xmlns:a16="http://schemas.microsoft.com/office/drawing/2014/main" id="{4F52E896-0C9E-4979-EB01-AC0C873CF3E8}"/>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 name="btfpColumnGapBlocker282687">
              <a:extLst>
                <a:ext uri="{FF2B5EF4-FFF2-40B4-BE49-F238E27FC236}">
                  <a16:creationId xmlns:a16="http://schemas.microsoft.com/office/drawing/2014/main" id="{345C47E6-2FFA-4299-49CA-EFBFBE364AA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 name="btfpColumnIndicator482016">
              <a:extLst>
                <a:ext uri="{FF2B5EF4-FFF2-40B4-BE49-F238E27FC236}">
                  <a16:creationId xmlns:a16="http://schemas.microsoft.com/office/drawing/2014/main" id="{CDED2947-C11C-94E9-0090-37A281745CD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 name="btfpColumnIndicator371388">
              <a:extLst>
                <a:ext uri="{FF2B5EF4-FFF2-40B4-BE49-F238E27FC236}">
                  <a16:creationId xmlns:a16="http://schemas.microsoft.com/office/drawing/2014/main" id="{7CC9402B-1CBB-FBCD-B1A9-DE90B381F411}"/>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D7CC47C-28EF-4923-051B-7C6319FE5782}"/>
              </a:ext>
            </a:extLst>
          </p:cNvPr>
          <p:cNvSpPr>
            <a:spLocks noGrp="1"/>
          </p:cNvSpPr>
          <p:nvPr>
            <p:ph type="title"/>
          </p:nvPr>
        </p:nvSpPr>
        <p:spPr/>
        <p:txBody>
          <a:bodyPr vert="horz"/>
          <a:lstStyle/>
          <a:p>
            <a:r>
              <a:rPr lang="en-US" b="1"/>
              <a:t>Collaboration: </a:t>
            </a:r>
            <a:r>
              <a:rPr lang="en-US"/>
              <a:t>Working on the OI team involves ongoing collaboration between the US and India teams</a:t>
            </a:r>
            <a:endParaRPr lang="en-US" b="1"/>
          </a:p>
        </p:txBody>
      </p:sp>
      <p:sp>
        <p:nvSpPr>
          <p:cNvPr id="13" name="btfpBulletedList871996">
            <a:extLst>
              <a:ext uri="{FF2B5EF4-FFF2-40B4-BE49-F238E27FC236}">
                <a16:creationId xmlns:a16="http://schemas.microsoft.com/office/drawing/2014/main" id="{0A3AF0D9-4C04-A3DE-0D47-943199D7A486}"/>
              </a:ext>
            </a:extLst>
          </p:cNvPr>
          <p:cNvSpPr txBox="1"/>
          <p:nvPr>
            <p:custDataLst>
              <p:tags r:id="rId3"/>
            </p:custDataLst>
          </p:nvPr>
        </p:nvSpPr>
        <p:spPr bwMode="gray">
          <a:xfrm>
            <a:off x="330199" y="1270000"/>
            <a:ext cx="11531600" cy="4320020"/>
          </a:xfrm>
          <a:prstGeom prst="rect">
            <a:avLst/>
          </a:prstGeom>
          <a:noFill/>
        </p:spPr>
        <p:txBody>
          <a:bodyPr vert="horz" wrap="square" lIns="36000" tIns="36000" rIns="36000" bIns="36000" rtlCol="0">
            <a:spAutoFit/>
          </a:bodyPr>
          <a:lstStyle/>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We complete OIs with the help of a </a:t>
            </a:r>
            <a:r>
              <a:rPr kumimoji="0" lang="en-US" altLang="en-US" sz="1600" b="1" u="none" strike="noStrike" cap="none" normalizeH="0" baseline="0">
                <a:ln>
                  <a:noFill/>
                </a:ln>
                <a:solidFill>
                  <a:schemeClr val="tx1"/>
                </a:solidFill>
                <a:effectLst/>
                <a:latin typeface="Arial" panose="020B0604020202020204" pitchFamily="34" charset="0"/>
              </a:rPr>
              <a:t>dedicated BCN India team</a:t>
            </a:r>
            <a:r>
              <a:rPr kumimoji="0" lang="en-US" altLang="en-US" sz="1600" b="0" u="none" strike="noStrike" cap="none" normalizeH="0" baseline="0">
                <a:ln>
                  <a:noFill/>
                </a:ln>
                <a:solidFill>
                  <a:schemeClr val="tx1"/>
                </a:solidFill>
                <a:effectLst/>
                <a:latin typeface="Arial" panose="020B0604020202020204" pitchFamily="34" charset="0"/>
              </a:rPr>
              <a:t>, who has deep expertise and is a critical partner as we strive to deliver outputs efficiently</a:t>
            </a: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The BCN team is ~6–8 people and has capacity for supporting </a:t>
            </a:r>
            <a:r>
              <a:rPr kumimoji="0" lang="en-US" altLang="en-US" sz="1600" b="1" u="none" strike="noStrike" cap="none" normalizeH="0" baseline="0">
                <a:ln>
                  <a:noFill/>
                </a:ln>
                <a:solidFill>
                  <a:schemeClr val="tx1"/>
                </a:solidFill>
                <a:effectLst/>
                <a:latin typeface="Arial" panose="020B0604020202020204" pitchFamily="34" charset="0"/>
              </a:rPr>
              <a:t>up to three workstreams each night</a:t>
            </a: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Before ~7:00 PM PST, send an </a:t>
            </a:r>
            <a:r>
              <a:rPr kumimoji="0" lang="en-US" altLang="en-US" sz="1600" b="1" u="none" strike="noStrike" cap="none" normalizeH="0" baseline="0">
                <a:ln>
                  <a:noFill/>
                </a:ln>
                <a:solidFill>
                  <a:schemeClr val="tx1"/>
                </a:solidFill>
                <a:effectLst/>
                <a:latin typeface="Arial" panose="020B0604020202020204" pitchFamily="34" charset="0"/>
              </a:rPr>
              <a:t>EOD note </a:t>
            </a:r>
            <a:r>
              <a:rPr kumimoji="0" lang="en-US" altLang="en-US" sz="1600" b="0" u="none" strike="noStrike" cap="none" normalizeH="0" baseline="0">
                <a:ln>
                  <a:noFill/>
                </a:ln>
                <a:solidFill>
                  <a:schemeClr val="tx1"/>
                </a:solidFill>
                <a:effectLst/>
                <a:latin typeface="Arial" panose="020B0604020202020204" pitchFamily="34" charset="0"/>
              </a:rPr>
              <a:t>to the BCN team outlining progress made that day and next steps on any outstanding tasks. Be sure to </a:t>
            </a:r>
            <a:r>
              <a:rPr kumimoji="0" lang="en-US" altLang="en-US" sz="1600" b="1" u="none" strike="noStrike" cap="none" normalizeH="0" baseline="0">
                <a:ln>
                  <a:noFill/>
                </a:ln>
                <a:solidFill>
                  <a:schemeClr val="tx1"/>
                </a:solidFill>
                <a:effectLst/>
                <a:latin typeface="Arial" panose="020B0604020202020204" pitchFamily="34" charset="0"/>
              </a:rPr>
              <a:t>include all open OIs</a:t>
            </a:r>
            <a:r>
              <a:rPr kumimoji="0" lang="en-US" altLang="en-US" sz="1600" b="0" u="none" strike="noStrike" cap="none" normalizeH="0" baseline="0">
                <a:ln>
                  <a:noFill/>
                </a:ln>
                <a:solidFill>
                  <a:schemeClr val="tx1"/>
                </a:solidFill>
                <a:effectLst/>
                <a:latin typeface="Arial" panose="020B0604020202020204" pitchFamily="34" charset="0"/>
              </a:rPr>
              <a:t>—even if no action is needed from BCN—so they have full visibility</a:t>
            </a: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Supplement the EOD note with more detailed instructions on the </a:t>
            </a:r>
            <a:r>
              <a:rPr kumimoji="0" lang="en-US" altLang="en-US" sz="1600" b="1" u="none" strike="noStrike" cap="none" normalizeH="0" baseline="0">
                <a:ln>
                  <a:noFill/>
                </a:ln>
                <a:solidFill>
                  <a:schemeClr val="tx1"/>
                </a:solidFill>
                <a:effectLst/>
                <a:latin typeface="Arial" panose="020B0604020202020204" pitchFamily="34" charset="0"/>
              </a:rPr>
              <a:t>Trello board</a:t>
            </a:r>
            <a:r>
              <a:rPr kumimoji="0" lang="en-US" altLang="en-US" sz="1600" b="0" u="none" strike="noStrike" cap="none" normalizeH="0" baseline="0">
                <a:ln>
                  <a:noFill/>
                </a:ln>
                <a:solidFill>
                  <a:schemeClr val="tx1"/>
                </a:solidFill>
                <a:effectLst/>
                <a:latin typeface="Arial" panose="020B0604020202020204" pitchFamily="34" charset="0"/>
              </a:rPr>
              <a:t>. While the overview in the EOD note is helpful, Trello should include clear, step-by-step guidance to ensure accurate execution</a:t>
            </a:r>
          </a:p>
          <a:p>
            <a:pPr defTabSz="914400" eaLnBrk="0" fontAlgn="base" hangingPunct="0"/>
            <a:r>
              <a:rPr lang="en-US" altLang="en-US">
                <a:latin typeface="Arial" panose="020B0604020202020204" pitchFamily="34" charset="0"/>
              </a:rPr>
              <a:t>Given large gaps in time zones, </a:t>
            </a:r>
            <a:r>
              <a:rPr lang="en-US" altLang="en-US" b="1">
                <a:latin typeface="Arial" panose="020B0604020202020204" pitchFamily="34" charset="0"/>
              </a:rPr>
              <a:t>clear communication is very important</a:t>
            </a:r>
            <a:r>
              <a:rPr lang="en-US" altLang="en-US">
                <a:latin typeface="Arial" panose="020B0604020202020204" pitchFamily="34" charset="0"/>
              </a:rPr>
              <a:t>. We have limited hours (either late at night or early in the morning) where we overlap and meeting to ask clarifying questions can be very difficult</a:t>
            </a:r>
            <a:endParaRPr kumimoji="0" lang="en-US" altLang="en-US" sz="1600" b="0" u="none" strike="noStrike" cap="none" normalizeH="0" baseline="0">
              <a:ln>
                <a:noFill/>
              </a:ln>
              <a:solidFill>
                <a:schemeClr val="tx1"/>
              </a:solidFill>
              <a:effectLst/>
              <a:latin typeface="Arial" panose="020B0604020202020204" pitchFamily="34" charset="0"/>
            </a:endParaRPr>
          </a:p>
          <a:p>
            <a:pPr defTabSz="914400" eaLnBrk="0" fontAlgn="base" hangingPunct="0"/>
            <a:r>
              <a:rPr kumimoji="0" lang="en-US" altLang="en-US" sz="1600" b="0" u="none" strike="noStrike" cap="none" normalizeH="0" baseline="0">
                <a:ln>
                  <a:noFill/>
                </a:ln>
                <a:solidFill>
                  <a:schemeClr val="tx1"/>
                </a:solidFill>
                <a:effectLst/>
                <a:latin typeface="Arial" panose="020B0604020202020204" pitchFamily="34" charset="0"/>
              </a:rPr>
              <a:t>When planning work with the BCN team, it’s helpful to </a:t>
            </a:r>
            <a:r>
              <a:rPr kumimoji="0" lang="en-US" altLang="en-US" sz="1600" b="1" u="none" strike="noStrike" cap="none" normalizeH="0" baseline="0">
                <a:ln>
                  <a:noFill/>
                </a:ln>
                <a:solidFill>
                  <a:schemeClr val="tx1"/>
                </a:solidFill>
                <a:effectLst/>
                <a:latin typeface="Arial" panose="020B0604020202020204" pitchFamily="34" charset="0"/>
              </a:rPr>
              <a:t>leverage their strengths</a:t>
            </a:r>
            <a:r>
              <a:rPr kumimoji="0" lang="en-US" altLang="en-US" sz="1600" b="0" u="none" strike="noStrike" cap="none" normalizeH="0" baseline="0">
                <a:ln>
                  <a:noFill/>
                </a:ln>
                <a:solidFill>
                  <a:schemeClr val="tx1"/>
                </a:solidFill>
                <a:effectLst/>
                <a:latin typeface="Arial" panose="020B0604020202020204" pitchFamily="34" charset="0"/>
              </a:rPr>
              <a:t>:</a:t>
            </a:r>
          </a:p>
          <a:p>
            <a:pPr lvl="1" defTabSz="914400" eaLnBrk="0" fontAlgn="base" hangingPunct="0"/>
            <a:r>
              <a:rPr kumimoji="0" lang="en-US" altLang="en-US" b="0" u="none" strike="noStrike" cap="none" normalizeH="0" baseline="0">
                <a:ln>
                  <a:noFill/>
                </a:ln>
                <a:solidFill>
                  <a:schemeClr val="tx1"/>
                </a:solidFill>
                <a:effectLst/>
                <a:latin typeface="Arial" panose="020B0604020202020204" pitchFamily="34" charset="0"/>
              </a:rPr>
              <a:t>The team is highly skilled at creating </a:t>
            </a:r>
            <a:r>
              <a:rPr kumimoji="0" lang="en-US" altLang="en-US" b="1" u="none" strike="noStrike" cap="none" normalizeH="0" baseline="0">
                <a:ln>
                  <a:noFill/>
                </a:ln>
                <a:solidFill>
                  <a:schemeClr val="tx1"/>
                </a:solidFill>
                <a:effectLst/>
                <a:latin typeface="Arial" panose="020B0604020202020204" pitchFamily="34" charset="0"/>
              </a:rPr>
              <a:t>adjustment summaries </a:t>
            </a:r>
            <a:r>
              <a:rPr kumimoji="0" lang="en-US" altLang="en-US" b="0" u="none" strike="noStrike" cap="none" normalizeH="0" baseline="0">
                <a:ln>
                  <a:noFill/>
                </a:ln>
                <a:solidFill>
                  <a:schemeClr val="tx1"/>
                </a:solidFill>
                <a:effectLst/>
                <a:latin typeface="Arial" panose="020B0604020202020204" pitchFamily="34" charset="0"/>
              </a:rPr>
              <a:t>and often completes them more quickly than the US team. We typically recommend having them lead the charge in creating these, while the US team leads the charge on the OI presentations</a:t>
            </a:r>
          </a:p>
          <a:p>
            <a:pPr lvl="1" defTabSz="914400" eaLnBrk="0" fontAlgn="base" hangingPunct="0"/>
            <a:r>
              <a:rPr kumimoji="0" lang="en-US" altLang="en-US" b="0" u="none" strike="noStrike" cap="none" normalizeH="0" baseline="0">
                <a:ln>
                  <a:noFill/>
                </a:ln>
                <a:solidFill>
                  <a:schemeClr val="tx1"/>
                </a:solidFill>
                <a:effectLst/>
                <a:latin typeface="Arial" panose="020B0604020202020204" pitchFamily="34" charset="0"/>
              </a:rPr>
              <a:t>It is often helpful to have the BCN team </a:t>
            </a:r>
            <a:r>
              <a:rPr kumimoji="0" lang="en-US" altLang="en-US" b="1" u="none" strike="noStrike" cap="none" normalizeH="0" baseline="0">
                <a:ln>
                  <a:noFill/>
                </a:ln>
                <a:solidFill>
                  <a:schemeClr val="tx1"/>
                </a:solidFill>
                <a:effectLst/>
                <a:latin typeface="Arial" panose="020B0604020202020204" pitchFamily="34" charset="0"/>
              </a:rPr>
              <a:t>focus on formatting changes </a:t>
            </a:r>
            <a:r>
              <a:rPr kumimoji="0" lang="en-US" altLang="en-US" b="0" u="none" strike="noStrike" cap="none" normalizeH="0" baseline="0">
                <a:ln>
                  <a:noFill/>
                </a:ln>
                <a:solidFill>
                  <a:schemeClr val="tx1"/>
                </a:solidFill>
                <a:effectLst/>
                <a:latin typeface="Arial" panose="020B0604020202020204" pitchFamily="34" charset="0"/>
              </a:rPr>
              <a:t>(e.g., logos, bar colors, footnotes), as the US team typically leads on sizing and recommendations after discussions with LT</a:t>
            </a:r>
          </a:p>
        </p:txBody>
      </p:sp>
    </p:spTree>
    <p:custDataLst>
      <p:tags r:id="rId1"/>
    </p:custDataLst>
    <p:extLst>
      <p:ext uri="{BB962C8B-B14F-4D97-AF65-F5344CB8AC3E}">
        <p14:creationId xmlns:p14="http://schemas.microsoft.com/office/powerpoint/2010/main" val="12622210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9" name="btfpColumnIndicatorGroup2">
            <a:extLst>
              <a:ext uri="{FF2B5EF4-FFF2-40B4-BE49-F238E27FC236}">
                <a16:creationId xmlns:a16="http://schemas.microsoft.com/office/drawing/2014/main" id="{0A1F3D95-7174-22FB-A70B-238AAB8F6540}"/>
              </a:ext>
            </a:extLst>
          </p:cNvPr>
          <p:cNvGrpSpPr/>
          <p:nvPr/>
        </p:nvGrpSpPr>
        <p:grpSpPr>
          <a:xfrm>
            <a:off x="0" y="6926580"/>
            <a:ext cx="12192000" cy="137160"/>
            <a:chOff x="0" y="6926580"/>
            <a:chExt cx="12192000" cy="137160"/>
          </a:xfrm>
        </p:grpSpPr>
        <p:sp>
          <p:nvSpPr>
            <p:cNvPr id="17" name="btfpColumnGapBlocker527486">
              <a:extLst>
                <a:ext uri="{FF2B5EF4-FFF2-40B4-BE49-F238E27FC236}">
                  <a16:creationId xmlns:a16="http://schemas.microsoft.com/office/drawing/2014/main" id="{7378E2FE-2935-590E-7B1D-904EB17AC6D6}"/>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5" name="btfpColumnGapBlocker336914">
              <a:extLst>
                <a:ext uri="{FF2B5EF4-FFF2-40B4-BE49-F238E27FC236}">
                  <a16:creationId xmlns:a16="http://schemas.microsoft.com/office/drawing/2014/main" id="{257B5D48-B435-72F1-161F-20D8E624944B}"/>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3" name="btfpColumnIndicator693925">
              <a:extLst>
                <a:ext uri="{FF2B5EF4-FFF2-40B4-BE49-F238E27FC236}">
                  <a16:creationId xmlns:a16="http://schemas.microsoft.com/office/drawing/2014/main" id="{6B5BD348-EFA1-4827-7A0A-00FB20F52BFA}"/>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1" name="btfpColumnIndicator123365">
              <a:extLst>
                <a:ext uri="{FF2B5EF4-FFF2-40B4-BE49-F238E27FC236}">
                  <a16:creationId xmlns:a16="http://schemas.microsoft.com/office/drawing/2014/main" id="{8AC624AF-3D8D-25E0-E9EE-F5C8E0F5082C}"/>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8" name="btfpColumnIndicatorGroup1">
            <a:extLst>
              <a:ext uri="{FF2B5EF4-FFF2-40B4-BE49-F238E27FC236}">
                <a16:creationId xmlns:a16="http://schemas.microsoft.com/office/drawing/2014/main" id="{0E80EB19-ECE9-8953-E810-2AB728B3A2D9}"/>
              </a:ext>
            </a:extLst>
          </p:cNvPr>
          <p:cNvGrpSpPr/>
          <p:nvPr/>
        </p:nvGrpSpPr>
        <p:grpSpPr>
          <a:xfrm>
            <a:off x="0" y="-205740"/>
            <a:ext cx="12192000" cy="137160"/>
            <a:chOff x="0" y="-205740"/>
            <a:chExt cx="12192000" cy="137160"/>
          </a:xfrm>
        </p:grpSpPr>
        <p:sp>
          <p:nvSpPr>
            <p:cNvPr id="16" name="btfpColumnGapBlocker535390">
              <a:extLst>
                <a:ext uri="{FF2B5EF4-FFF2-40B4-BE49-F238E27FC236}">
                  <a16:creationId xmlns:a16="http://schemas.microsoft.com/office/drawing/2014/main" id="{3F7D355A-A6F8-D943-FBDD-6B9142C66A57}"/>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4" name="btfpColumnGapBlocker538776">
              <a:extLst>
                <a:ext uri="{FF2B5EF4-FFF2-40B4-BE49-F238E27FC236}">
                  <a16:creationId xmlns:a16="http://schemas.microsoft.com/office/drawing/2014/main" id="{4CF180C9-C56A-7118-D84A-498D09A90167}"/>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ColumnIndicator324950">
              <a:extLst>
                <a:ext uri="{FF2B5EF4-FFF2-40B4-BE49-F238E27FC236}">
                  <a16:creationId xmlns:a16="http://schemas.microsoft.com/office/drawing/2014/main" id="{3820C21F-8590-671A-EB75-627C39322197}"/>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939866">
              <a:extLst>
                <a:ext uri="{FF2B5EF4-FFF2-40B4-BE49-F238E27FC236}">
                  <a16:creationId xmlns:a16="http://schemas.microsoft.com/office/drawing/2014/main" id="{FD4C6FD2-6FD0-948F-AE18-90B99F33F0B8}"/>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3" name="AgendaTitle">
            <a:extLst>
              <a:ext uri="{FF2B5EF4-FFF2-40B4-BE49-F238E27FC236}">
                <a16:creationId xmlns:a16="http://schemas.microsoft.com/office/drawing/2014/main" id="{1429C3D7-79E1-A936-A566-A8F3984D08FF}"/>
              </a:ext>
            </a:extLst>
          </p:cNvPr>
          <p:cNvSpPr txBox="1"/>
          <p:nvPr/>
        </p:nvSpPr>
        <p:spPr bwMode="gray">
          <a:xfrm>
            <a:off x="330200" y="952500"/>
            <a:ext cx="1102585" cy="235611"/>
          </a:xfrm>
          <a:prstGeom prst="rect">
            <a:avLst/>
          </a:prstGeom>
          <a:noFill/>
        </p:spPr>
        <p:txBody>
          <a:bodyPr vert="horz" wrap="none" lIns="18136" tIns="25226" rIns="72073" bIns="25226" rtlCol="0">
            <a:spAutoFit/>
          </a:bodyPr>
          <a:lstStyle/>
          <a:p>
            <a:pPr marL="0" indent="0">
              <a:buNone/>
            </a:pPr>
            <a:r>
              <a:rPr lang="en-US" sz="1200" b="1" cap="all" spc="450"/>
              <a:t>Agenda</a:t>
            </a:r>
            <a:endParaRPr lang="en-US" sz="1200" b="1" cap="all" spc="450" err="1"/>
          </a:p>
        </p:txBody>
      </p:sp>
      <p:cxnSp>
        <p:nvCxnSpPr>
          <p:cNvPr id="4" name="AgendaLine">
            <a:extLst>
              <a:ext uri="{FF2B5EF4-FFF2-40B4-BE49-F238E27FC236}">
                <a16:creationId xmlns:a16="http://schemas.microsoft.com/office/drawing/2014/main" id="{785AAC32-6322-50CD-073E-0ACAC4F5AD9E}"/>
              </a:ext>
            </a:extLst>
          </p:cNvPr>
          <p:cNvCxnSpPr/>
          <p:nvPr/>
        </p:nvCxnSpPr>
        <p:spPr bwMode="gray">
          <a:xfrm>
            <a:off x="1616981" y="876300"/>
            <a:ext cx="0" cy="5689600"/>
          </a:xfrm>
          <a:prstGeom prst="line">
            <a:avLst/>
          </a:prstGeom>
          <a:ln w="19050" cap="flat" cmpd="sng">
            <a:solidFill>
              <a:srgbClr val="CC0000"/>
            </a:solidFill>
            <a:miter lim="800000"/>
            <a:tailEnd type="none" w="med" len="lg"/>
          </a:ln>
        </p:spPr>
        <p:style>
          <a:lnRef idx="1">
            <a:schemeClr val="accent1"/>
          </a:lnRef>
          <a:fillRef idx="0">
            <a:schemeClr val="accent1"/>
          </a:fillRef>
          <a:effectRef idx="0">
            <a:schemeClr val="accent1"/>
          </a:effectRef>
          <a:fontRef idx="minor">
            <a:schemeClr val="tx1"/>
          </a:fontRef>
        </p:style>
      </p:cxnSp>
      <p:sp>
        <p:nvSpPr>
          <p:cNvPr id="5" name="AgendaTextBox">
            <a:extLst>
              <a:ext uri="{FF2B5EF4-FFF2-40B4-BE49-F238E27FC236}">
                <a16:creationId xmlns:a16="http://schemas.microsoft.com/office/drawing/2014/main" id="{4B853AC0-9B1D-014B-5C0D-278BC78E24FB}"/>
              </a:ext>
            </a:extLst>
          </p:cNvPr>
          <p:cNvSpPr txBox="1"/>
          <p:nvPr/>
        </p:nvSpPr>
        <p:spPr bwMode="gray">
          <a:xfrm>
            <a:off x="2034253" y="1270000"/>
            <a:ext cx="9827547" cy="5295900"/>
          </a:xfrm>
          <a:prstGeom prst="rect">
            <a:avLst/>
          </a:prstGeom>
          <a:noFill/>
        </p:spPr>
        <p:txBody>
          <a:bodyPr vert="horz" wrap="square" lIns="36000" tIns="36000" rIns="36000" bIns="36000" rtlCol="0">
            <a:noAutofit/>
          </a:bodyPr>
          <a:lstStyle/>
          <a:p>
            <a:pPr marL="0" indent="0">
              <a:spcBef>
                <a:spcPts val="3600"/>
              </a:spcBef>
              <a:buNone/>
            </a:pPr>
            <a:r>
              <a:rPr lang="en-US" sz="2000"/>
              <a:t>Introduction to OI</a:t>
            </a:r>
          </a:p>
          <a:p>
            <a:pPr marL="0" indent="0">
              <a:spcBef>
                <a:spcPts val="3600"/>
              </a:spcBef>
              <a:buNone/>
            </a:pPr>
            <a:r>
              <a:rPr lang="en-US" sz="2000"/>
              <a:t>Process to build an OI</a:t>
            </a:r>
          </a:p>
          <a:p>
            <a:pPr marL="0" indent="0">
              <a:spcBef>
                <a:spcPts val="3600"/>
              </a:spcBef>
              <a:buNone/>
            </a:pPr>
            <a:r>
              <a:rPr lang="en-US" sz="2000"/>
              <a:t>Set up and collaboration</a:t>
            </a:r>
          </a:p>
          <a:p>
            <a:pPr marL="0" indent="0">
              <a:spcBef>
                <a:spcPts val="3600"/>
              </a:spcBef>
              <a:buNone/>
            </a:pPr>
            <a:r>
              <a:rPr lang="en-US" sz="2000" b="1">
                <a:solidFill>
                  <a:srgbClr val="CC0000"/>
                </a:solidFill>
              </a:rPr>
              <a:t>Additional guidelines</a:t>
            </a:r>
          </a:p>
          <a:p>
            <a:pPr marL="0" indent="0">
              <a:spcBef>
                <a:spcPts val="3600"/>
              </a:spcBef>
              <a:buNone/>
            </a:pPr>
            <a:endParaRPr lang="en-US" sz="2000"/>
          </a:p>
          <a:p>
            <a:pPr marL="0" indent="0">
              <a:spcBef>
                <a:spcPts val="3600"/>
              </a:spcBef>
              <a:buNone/>
            </a:pPr>
            <a:endParaRPr lang="en-US" sz="2000"/>
          </a:p>
        </p:txBody>
      </p:sp>
      <p:sp>
        <p:nvSpPr>
          <p:cNvPr id="9" name="AgendaEmphasisBar">
            <a:extLst>
              <a:ext uri="{FF2B5EF4-FFF2-40B4-BE49-F238E27FC236}">
                <a16:creationId xmlns:a16="http://schemas.microsoft.com/office/drawing/2014/main" id="{84364D5A-B7E5-EE85-17C0-4B64570AB0B7}"/>
              </a:ext>
            </a:extLst>
          </p:cNvPr>
          <p:cNvSpPr/>
          <p:nvPr/>
        </p:nvSpPr>
        <p:spPr bwMode="gray">
          <a:xfrm>
            <a:off x="1616981" y="3383062"/>
            <a:ext cx="127000" cy="743179"/>
          </a:xfrm>
          <a:prstGeom prst="rect">
            <a:avLst/>
          </a:prstGeom>
          <a:solidFill>
            <a:srgbClr val="CC0000"/>
          </a:solidFill>
          <a:ln w="19050">
            <a:solidFill>
              <a:srgbClr val="CC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5" name="AgendaSeparator2">
            <a:extLst>
              <a:ext uri="{FF2B5EF4-FFF2-40B4-BE49-F238E27FC236}">
                <a16:creationId xmlns:a16="http://schemas.microsoft.com/office/drawing/2014/main" id="{AB12C16B-29DE-9FE0-BAA1-B628174B16D1}"/>
              </a:ext>
            </a:extLst>
          </p:cNvPr>
          <p:cNvCxnSpPr/>
          <p:nvPr/>
        </p:nvCxnSpPr>
        <p:spPr bwMode="gray">
          <a:xfrm>
            <a:off x="1970752" y="2601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nvGrpSpPr>
          <p:cNvPr id="30" name="Agenda">
            <a:extLst>
              <a:ext uri="{FF2B5EF4-FFF2-40B4-BE49-F238E27FC236}">
                <a16:creationId xmlns:a16="http://schemas.microsoft.com/office/drawing/2014/main" id="{8D993BE7-43C1-AE7E-5A48-5518EF485A58}"/>
              </a:ext>
            </a:extLst>
          </p:cNvPr>
          <p:cNvGrpSpPr/>
          <p:nvPr/>
        </p:nvGrpSpPr>
        <p:grpSpPr>
          <a:xfrm>
            <a:off x="1970752" y="1839400"/>
            <a:ext cx="2641601" cy="1524000"/>
            <a:chOff x="1970752" y="1839400"/>
            <a:chExt cx="2641601" cy="1524000"/>
          </a:xfrm>
        </p:grpSpPr>
        <p:cxnSp>
          <p:nvCxnSpPr>
            <p:cNvPr id="24" name="AgendaSeparator1">
              <a:extLst>
                <a:ext uri="{FF2B5EF4-FFF2-40B4-BE49-F238E27FC236}">
                  <a16:creationId xmlns:a16="http://schemas.microsoft.com/office/drawing/2014/main" id="{9F39770E-3A02-672C-E27D-B350D02B3CC4}"/>
                </a:ext>
              </a:extLst>
            </p:cNvPr>
            <p:cNvCxnSpPr/>
            <p:nvPr/>
          </p:nvCxnSpPr>
          <p:spPr bwMode="gray">
            <a:xfrm>
              <a:off x="1970752" y="1839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cxnSp>
          <p:nvCxnSpPr>
            <p:cNvPr id="26" name="AgendaSeparator3">
              <a:extLst>
                <a:ext uri="{FF2B5EF4-FFF2-40B4-BE49-F238E27FC236}">
                  <a16:creationId xmlns:a16="http://schemas.microsoft.com/office/drawing/2014/main" id="{DF3072CE-FBC8-5065-31FC-6681EAF7DC17}"/>
                </a:ext>
              </a:extLst>
            </p:cNvPr>
            <p:cNvCxnSpPr/>
            <p:nvPr/>
          </p:nvCxnSpPr>
          <p:spPr bwMode="gray">
            <a:xfrm>
              <a:off x="1970752" y="3363400"/>
              <a:ext cx="2641601" cy="0"/>
            </a:xfrm>
            <a:prstGeom prst="line">
              <a:avLst/>
            </a:prstGeom>
            <a:ln w="9525" cap="flat">
              <a:solidFill>
                <a:srgbClr val="D6D6D6"/>
              </a:solidFill>
              <a:miter lim="800000"/>
              <a:tailEnd type="none" w="med"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2332307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3727193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Performance Summary</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4335409"/>
          </a:xfrm>
          <a:prstGeom prst="rect">
            <a:avLst/>
          </a:prstGeom>
          <a:noFill/>
        </p:spPr>
        <p:txBody>
          <a:bodyPr vert="horz" wrap="square" lIns="36000" tIns="36000" rIns="36000" bIns="36000" rtlCol="0">
            <a:spAutoFit/>
          </a:bodyPr>
          <a:lstStyle/>
          <a:p>
            <a:r>
              <a:rPr lang="en-US" sz="1200"/>
              <a:t>There is no Excel input for this slide; it needs to be constructed by synthesizing the main insights from the OI</a:t>
            </a:r>
          </a:p>
          <a:p>
            <a:r>
              <a:rPr lang="en-US" sz="1200" u="sng"/>
              <a:t>Shareholder returns:</a:t>
            </a:r>
            <a:r>
              <a:rPr lang="en-US" sz="1200"/>
              <a:t> Usually comes from the two pages on TSR and share price performance over time</a:t>
            </a:r>
          </a:p>
          <a:p>
            <a:pPr lvl="1"/>
            <a:r>
              <a:rPr lang="en-US" sz="1000"/>
              <a:t>Size of opportunity is taken from the EV uplift slide (see P62)</a:t>
            </a:r>
          </a:p>
          <a:p>
            <a:r>
              <a:rPr lang="en-US" sz="1200" u="sng"/>
              <a:t>Topline growth:</a:t>
            </a:r>
            <a:r>
              <a:rPr lang="en-US" sz="1200"/>
              <a:t> Based on insights on historical revenue growth and projected revenue growth</a:t>
            </a:r>
          </a:p>
          <a:p>
            <a:pPr lvl="1"/>
            <a:r>
              <a:rPr lang="en-US" sz="1000"/>
              <a:t>Incremental revenue opportunity is taken from the projected revenue growth page</a:t>
            </a:r>
          </a:p>
          <a:p>
            <a:pPr lvl="1"/>
            <a:r>
              <a:rPr lang="en-US" sz="1000"/>
              <a:t>Incremental EBIT/DA opportunity is usually the product of the incremental revenue opportunity and full-potential EBIT/DA margin (see P61)</a:t>
            </a:r>
          </a:p>
          <a:p>
            <a:r>
              <a:rPr lang="en-US" sz="1200" u="sng"/>
              <a:t>Cost:</a:t>
            </a:r>
            <a:r>
              <a:rPr lang="en-US" sz="1200"/>
              <a:t> Based on the core cost slides in the OI (e.g., EBIT/DA Margin, Gross Margin, SG&amp;A, R&amp;D)</a:t>
            </a:r>
          </a:p>
          <a:p>
            <a:pPr lvl="1"/>
            <a:r>
              <a:rPr lang="en-US" sz="1000"/>
              <a:t>Top-down EBIT/DA opportunity comes from the EBIT/DA margin page (see P56)</a:t>
            </a:r>
          </a:p>
          <a:p>
            <a:pPr lvl="1"/>
            <a:r>
              <a:rPr lang="en-US" sz="1000"/>
              <a:t>Bottom-up opportunity is the recommended cost opportunity in the cost savings summary (see P51)</a:t>
            </a:r>
          </a:p>
          <a:p>
            <a:r>
              <a:rPr lang="en-US" sz="1200" u="sng"/>
              <a:t>Cash Conversion Cycle:</a:t>
            </a:r>
            <a:r>
              <a:rPr lang="en-US" sz="1200"/>
              <a:t> Based on the CCC slides; size of opportunity comes from the recommended value-at-stake in the cost savings summary (see P51)</a:t>
            </a:r>
          </a:p>
          <a:p>
            <a:r>
              <a:rPr lang="en-US" sz="1200" u="sng"/>
              <a:t>ESG:</a:t>
            </a:r>
            <a:r>
              <a:rPr lang="en-US" sz="1200"/>
              <a:t> Comes from the ESG benchmarking page (see P65)</a:t>
            </a:r>
            <a:endParaRPr lang="en-US" sz="1200" u="sng"/>
          </a:p>
        </p:txBody>
      </p:sp>
      <p:pic>
        <p:nvPicPr>
          <p:cNvPr id="34" name="Picture 33">
            <a:extLst>
              <a:ext uri="{FF2B5EF4-FFF2-40B4-BE49-F238E27FC236}">
                <a16:creationId xmlns:a16="http://schemas.microsoft.com/office/drawing/2014/main" id="{64771537-59EE-64E0-6794-1D35DC74963B}"/>
              </a:ext>
            </a:extLst>
          </p:cNvPr>
          <p:cNvPicPr>
            <a:picLocks noChangeAspect="1"/>
          </p:cNvPicPr>
          <p:nvPr/>
        </p:nvPicPr>
        <p:blipFill>
          <a:blip r:embed="rId12"/>
          <a:stretch>
            <a:fillRect/>
          </a:stretch>
        </p:blipFill>
        <p:spPr>
          <a:xfrm>
            <a:off x="6485710" y="1715997"/>
            <a:ext cx="5059007" cy="2783664"/>
          </a:xfrm>
          <a:prstGeom prst="rect">
            <a:avLst/>
          </a:prstGeom>
        </p:spPr>
      </p:pic>
      <p:grpSp>
        <p:nvGrpSpPr>
          <p:cNvPr id="69"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70"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1"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3"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4"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75"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6"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7"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pic>
        <p:nvPicPr>
          <p:cNvPr id="81" name="Picture 80">
            <a:extLst>
              <a:ext uri="{FF2B5EF4-FFF2-40B4-BE49-F238E27FC236}">
                <a16:creationId xmlns:a16="http://schemas.microsoft.com/office/drawing/2014/main" id="{9191396E-1A61-A5C3-6DC1-809AC0BC1855}"/>
              </a:ext>
            </a:extLst>
          </p:cNvPr>
          <p:cNvPicPr>
            <a:picLocks noChangeAspect="1"/>
          </p:cNvPicPr>
          <p:nvPr/>
        </p:nvPicPr>
        <p:blipFill>
          <a:blip r:embed="rId13"/>
          <a:stretch>
            <a:fillRect/>
          </a:stretch>
        </p:blipFill>
        <p:spPr>
          <a:xfrm>
            <a:off x="6497927" y="4621478"/>
            <a:ext cx="5046790" cy="1838155"/>
          </a:xfrm>
          <a:prstGeom prst="rect">
            <a:avLst/>
          </a:prstGeom>
        </p:spPr>
      </p:pic>
      <p:sp>
        <p:nvSpPr>
          <p:cNvPr id="84" name="btfpCallout880271">
            <a:extLst>
              <a:ext uri="{FF2B5EF4-FFF2-40B4-BE49-F238E27FC236}">
                <a16:creationId xmlns:a16="http://schemas.microsoft.com/office/drawing/2014/main" id="{ADD981BA-1894-700B-F339-1DEBB0489EE8}"/>
              </a:ext>
            </a:extLst>
          </p:cNvPr>
          <p:cNvSpPr/>
          <p:nvPr/>
        </p:nvSpPr>
        <p:spPr bwMode="gray">
          <a:xfrm>
            <a:off x="9498013" y="1358637"/>
            <a:ext cx="2376696" cy="698185"/>
          </a:xfrm>
          <a:prstGeom prst="wedgeRectCallout">
            <a:avLst>
              <a:gd name="adj1" fmla="val -58906"/>
              <a:gd name="adj2" fmla="val 40177"/>
            </a:avLst>
          </a:prstGeom>
          <a:solidFill>
            <a:srgbClr val="FFFFFF"/>
          </a:solidFill>
          <a:ln w="1905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73" tIns="72073" rIns="72073" bIns="72073" numCol="1" spcCol="0" rtlCol="0" fromWordArt="0" anchor="ctr" anchorCtr="0" forceAA="0" compatLnSpc="1">
            <a:prstTxWarp prst="textNoShape">
              <a:avLst/>
            </a:prstTxWarp>
            <a:noAutofit/>
          </a:bodyPr>
          <a:lstStyle/>
          <a:p>
            <a:pPr marL="0" lvl="1" indent="0">
              <a:spcBef>
                <a:spcPts val="0"/>
              </a:spcBef>
              <a:buNone/>
            </a:pPr>
            <a:r>
              <a:rPr lang="en-US" sz="1000">
                <a:solidFill>
                  <a:srgbClr val="5C5C5C"/>
                </a:solidFill>
              </a:rPr>
              <a:t>Performance Summary output is commonly shown as one page, though certain OIs also highlight additional “Operating Metrics”</a:t>
            </a:r>
          </a:p>
        </p:txBody>
      </p:sp>
    </p:spTree>
    <p:custDataLst>
      <p:tags r:id="rId1"/>
    </p:custDataLst>
    <p:extLst>
      <p:ext uri="{BB962C8B-B14F-4D97-AF65-F5344CB8AC3E}">
        <p14:creationId xmlns:p14="http://schemas.microsoft.com/office/powerpoint/2010/main" val="1070259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btfpColumnIndicatorGroup2">
            <a:extLst>
              <a:ext uri="{FF2B5EF4-FFF2-40B4-BE49-F238E27FC236}">
                <a16:creationId xmlns:a16="http://schemas.microsoft.com/office/drawing/2014/main" id="{5A0371E5-9876-01AD-F8B3-6F92AE5ED388}"/>
              </a:ext>
            </a:extLst>
          </p:cNvPr>
          <p:cNvGrpSpPr/>
          <p:nvPr/>
        </p:nvGrpSpPr>
        <p:grpSpPr>
          <a:xfrm>
            <a:off x="0" y="6926580"/>
            <a:ext cx="12192000" cy="137160"/>
            <a:chOff x="0" y="6926580"/>
            <a:chExt cx="12192000" cy="137160"/>
          </a:xfrm>
        </p:grpSpPr>
        <p:sp>
          <p:nvSpPr>
            <p:cNvPr id="82" name="btfpColumnGapBlocker668804">
              <a:extLst>
                <a:ext uri="{FF2B5EF4-FFF2-40B4-BE49-F238E27FC236}">
                  <a16:creationId xmlns:a16="http://schemas.microsoft.com/office/drawing/2014/main" id="{FE5353B9-E334-424C-8E8B-42AB19E6ADB9}"/>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80" name="btfpColumnGapBlocker248963">
              <a:extLst>
                <a:ext uri="{FF2B5EF4-FFF2-40B4-BE49-F238E27FC236}">
                  <a16:creationId xmlns:a16="http://schemas.microsoft.com/office/drawing/2014/main" id="{2154D98A-E332-01F7-458F-919DFDB97D7B}"/>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8" name="btfpColumnIndicator706195">
              <a:extLst>
                <a:ext uri="{FF2B5EF4-FFF2-40B4-BE49-F238E27FC236}">
                  <a16:creationId xmlns:a16="http://schemas.microsoft.com/office/drawing/2014/main" id="{A4148782-0598-B865-CAF4-B04EE9A65C5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6" name="btfpColumnIndicator115937">
              <a:extLst>
                <a:ext uri="{FF2B5EF4-FFF2-40B4-BE49-F238E27FC236}">
                  <a16:creationId xmlns:a16="http://schemas.microsoft.com/office/drawing/2014/main" id="{C053022F-6B6A-DAC0-C1C1-DB50BFF61909}"/>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74" name="btfpColumnGapBlocker210567">
              <a:extLst>
                <a:ext uri="{FF2B5EF4-FFF2-40B4-BE49-F238E27FC236}">
                  <a16:creationId xmlns:a16="http://schemas.microsoft.com/office/drawing/2014/main" id="{D9ED3D9F-1BF3-D424-C041-D23E76C8259A}"/>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1" name="btfpColumnIndicator386738">
              <a:extLst>
                <a:ext uri="{FF2B5EF4-FFF2-40B4-BE49-F238E27FC236}">
                  <a16:creationId xmlns:a16="http://schemas.microsoft.com/office/drawing/2014/main" id="{4619CA66-D1AF-8087-A7EB-6490578EFC11}"/>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9" name="btfpColumnIndicator645192">
              <a:extLst>
                <a:ext uri="{FF2B5EF4-FFF2-40B4-BE49-F238E27FC236}">
                  <a16:creationId xmlns:a16="http://schemas.microsoft.com/office/drawing/2014/main" id="{0233298F-C1CE-29EA-AF2E-007A8B8F19C2}"/>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83" name="btfpColumnIndicatorGroup1">
            <a:extLst>
              <a:ext uri="{FF2B5EF4-FFF2-40B4-BE49-F238E27FC236}">
                <a16:creationId xmlns:a16="http://schemas.microsoft.com/office/drawing/2014/main" id="{F9D00B53-F253-555D-AB0B-345553E1BFC9}"/>
              </a:ext>
            </a:extLst>
          </p:cNvPr>
          <p:cNvGrpSpPr/>
          <p:nvPr/>
        </p:nvGrpSpPr>
        <p:grpSpPr>
          <a:xfrm>
            <a:off x="0" y="-205740"/>
            <a:ext cx="12192000" cy="137160"/>
            <a:chOff x="0" y="-205740"/>
            <a:chExt cx="12192000" cy="137160"/>
          </a:xfrm>
        </p:grpSpPr>
        <p:sp>
          <p:nvSpPr>
            <p:cNvPr id="81" name="btfpColumnGapBlocker915463">
              <a:extLst>
                <a:ext uri="{FF2B5EF4-FFF2-40B4-BE49-F238E27FC236}">
                  <a16:creationId xmlns:a16="http://schemas.microsoft.com/office/drawing/2014/main" id="{872ECAD4-E616-EC88-995B-A148E3606B60}"/>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79" name="btfpColumnGapBlocker716409">
              <a:extLst>
                <a:ext uri="{FF2B5EF4-FFF2-40B4-BE49-F238E27FC236}">
                  <a16:creationId xmlns:a16="http://schemas.microsoft.com/office/drawing/2014/main" id="{F894EE67-D4CA-6979-ACC9-11CE682ADDF8}"/>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7" name="btfpColumnIndicator476165">
              <a:extLst>
                <a:ext uri="{FF2B5EF4-FFF2-40B4-BE49-F238E27FC236}">
                  <a16:creationId xmlns:a16="http://schemas.microsoft.com/office/drawing/2014/main" id="{26BCD889-98EC-34F3-68D2-33929D0021CD}"/>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75" name="btfpColumnIndicator676397">
              <a:extLst>
                <a:ext uri="{FF2B5EF4-FFF2-40B4-BE49-F238E27FC236}">
                  <a16:creationId xmlns:a16="http://schemas.microsoft.com/office/drawing/2014/main" id="{3563146C-0E7D-7DE6-B333-E2DC461F201E}"/>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73" name="btfpColumnGapBlocker427185">
              <a:extLst>
                <a:ext uri="{FF2B5EF4-FFF2-40B4-BE49-F238E27FC236}">
                  <a16:creationId xmlns:a16="http://schemas.microsoft.com/office/drawing/2014/main" id="{BE3AF693-D885-907F-CB26-911831C55956}"/>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70" name="btfpColumnIndicator764026">
              <a:extLst>
                <a:ext uri="{FF2B5EF4-FFF2-40B4-BE49-F238E27FC236}">
                  <a16:creationId xmlns:a16="http://schemas.microsoft.com/office/drawing/2014/main" id="{A0DBADEC-5934-B915-BCBA-08CC71C8984D}"/>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8" name="btfpColumnIndicator248837">
              <a:extLst>
                <a:ext uri="{FF2B5EF4-FFF2-40B4-BE49-F238E27FC236}">
                  <a16:creationId xmlns:a16="http://schemas.microsoft.com/office/drawing/2014/main" id="{F291430D-1D74-07D9-9C9E-9091619F1EFE}"/>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13007657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Peer Set Overview</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473360"/>
          </a:xfrm>
          <a:prstGeom prst="rect">
            <a:avLst/>
          </a:prstGeom>
          <a:noFill/>
        </p:spPr>
        <p:txBody>
          <a:bodyPr vert="horz" wrap="square" lIns="36000" tIns="36000" rIns="36000" bIns="36000" rtlCol="0">
            <a:spAutoFit/>
          </a:bodyPr>
          <a:lstStyle/>
          <a:p>
            <a:r>
              <a:rPr lang="en-US" sz="1200"/>
              <a:t>Summary data on the peer set is in the below Summary Table found on the </a:t>
            </a:r>
            <a:r>
              <a:rPr lang="en-US" sz="1200" i="1" err="1"/>
              <a:t>Mekko</a:t>
            </a:r>
            <a:r>
              <a:rPr lang="en-US" sz="1200" i="1"/>
              <a:t> Graph Outputs</a:t>
            </a:r>
            <a:r>
              <a:rPr lang="en-US" sz="1200"/>
              <a:t> tab</a:t>
            </a:r>
          </a:p>
          <a:p>
            <a:r>
              <a:rPr lang="en-US" sz="1200"/>
              <a:t>Pull in revenue, historical growth, projected growth, EBIT (or EBITDA), EBIT (or EBITDA) Margin, and any other OI-specific metrics (e.g., ROCE, fleet size)</a:t>
            </a:r>
          </a:p>
          <a:p>
            <a:pPr lvl="1"/>
            <a:r>
              <a:rPr lang="en-US" sz="1000"/>
              <a:t>Note: Figures should be rounded to the nearest 0.1 (e.g., $1.3B, 22.6%)</a:t>
            </a:r>
          </a:p>
          <a:p>
            <a:r>
              <a:rPr lang="en-US" sz="1200"/>
              <a:t>Footnote must include the timeframe for historical and projected growth, highlight adjustments for non-recurring line items, explain fiscal year timing across peers, and identify any significant adjustments to the financials</a:t>
            </a:r>
          </a:p>
          <a:p>
            <a:pPr lvl="1"/>
            <a:r>
              <a:rPr lang="en-US" sz="1000"/>
              <a:t>Note: We often leverage BCN to help draft the footnote given their detailed knowledge of the adjustments made</a:t>
            </a:r>
          </a:p>
        </p:txBody>
      </p:sp>
      <p:pic>
        <p:nvPicPr>
          <p:cNvPr id="22" name="Picture 21">
            <a:extLst>
              <a:ext uri="{FF2B5EF4-FFF2-40B4-BE49-F238E27FC236}">
                <a16:creationId xmlns:a16="http://schemas.microsoft.com/office/drawing/2014/main" id="{3391177C-A006-D82F-389B-44786B5BE6DF}"/>
              </a:ext>
            </a:extLst>
          </p:cNvPr>
          <p:cNvPicPr>
            <a:picLocks noChangeAspect="1"/>
          </p:cNvPicPr>
          <p:nvPr/>
        </p:nvPicPr>
        <p:blipFill>
          <a:blip r:embed="rId12"/>
          <a:stretch>
            <a:fillRect/>
          </a:stretch>
        </p:blipFill>
        <p:spPr>
          <a:xfrm>
            <a:off x="6366272" y="1715997"/>
            <a:ext cx="5436926" cy="2997111"/>
          </a:xfrm>
          <a:prstGeom prst="rect">
            <a:avLst/>
          </a:prstGeom>
        </p:spPr>
      </p:pic>
      <p:pic>
        <p:nvPicPr>
          <p:cNvPr id="30" name="Picture 29">
            <a:extLst>
              <a:ext uri="{FF2B5EF4-FFF2-40B4-BE49-F238E27FC236}">
                <a16:creationId xmlns:a16="http://schemas.microsoft.com/office/drawing/2014/main" id="{8D256D57-5466-F554-7F7D-93DC1B2AED46}"/>
              </a:ext>
            </a:extLst>
          </p:cNvPr>
          <p:cNvPicPr>
            <a:picLocks noChangeAspect="1"/>
          </p:cNvPicPr>
          <p:nvPr/>
        </p:nvPicPr>
        <p:blipFill>
          <a:blip r:embed="rId13"/>
          <a:stretch>
            <a:fillRect/>
          </a:stretch>
        </p:blipFill>
        <p:spPr>
          <a:xfrm>
            <a:off x="330199" y="4466973"/>
            <a:ext cx="5495528" cy="957554"/>
          </a:xfrm>
          <a:prstGeom prst="rect">
            <a:avLst/>
          </a:prstGeom>
        </p:spPr>
      </p:pic>
    </p:spTree>
    <p:custDataLst>
      <p:tags r:id="rId1"/>
    </p:custDataLst>
    <p:extLst>
      <p:ext uri="{BB962C8B-B14F-4D97-AF65-F5344CB8AC3E}">
        <p14:creationId xmlns:p14="http://schemas.microsoft.com/office/powerpoint/2010/main" val="30725538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btfpColumnIndicatorGroup2">
            <a:extLst>
              <a:ext uri="{FF2B5EF4-FFF2-40B4-BE49-F238E27FC236}">
                <a16:creationId xmlns:a16="http://schemas.microsoft.com/office/drawing/2014/main" id="{FC75006E-0F72-F6FB-F3D1-752C0FA3BD2B}"/>
              </a:ext>
            </a:extLst>
          </p:cNvPr>
          <p:cNvGrpSpPr/>
          <p:nvPr/>
        </p:nvGrpSpPr>
        <p:grpSpPr>
          <a:xfrm>
            <a:off x="0" y="6926580"/>
            <a:ext cx="12192000" cy="137160"/>
            <a:chOff x="0" y="6926580"/>
            <a:chExt cx="12192000" cy="137160"/>
          </a:xfrm>
        </p:grpSpPr>
        <p:sp>
          <p:nvSpPr>
            <p:cNvPr id="57" name="btfpColumnGapBlocker182899">
              <a:extLst>
                <a:ext uri="{FF2B5EF4-FFF2-40B4-BE49-F238E27FC236}">
                  <a16:creationId xmlns:a16="http://schemas.microsoft.com/office/drawing/2014/main" id="{89D648E4-BA26-E46B-0CA8-7CF3C59B5E2D}"/>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5" name="btfpColumnGapBlocker838049">
              <a:extLst>
                <a:ext uri="{FF2B5EF4-FFF2-40B4-BE49-F238E27FC236}">
                  <a16:creationId xmlns:a16="http://schemas.microsoft.com/office/drawing/2014/main" id="{9D58AF67-F8B2-04FE-C05D-DFBC44B4B156}"/>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3" name="btfpColumnIndicator691353">
              <a:extLst>
                <a:ext uri="{FF2B5EF4-FFF2-40B4-BE49-F238E27FC236}">
                  <a16:creationId xmlns:a16="http://schemas.microsoft.com/office/drawing/2014/main" id="{EFEFE0D0-2985-368F-504E-94A01AB42EA8}"/>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5" name="btfpColumnIndicator763348">
              <a:extLst>
                <a:ext uri="{FF2B5EF4-FFF2-40B4-BE49-F238E27FC236}">
                  <a16:creationId xmlns:a16="http://schemas.microsoft.com/office/drawing/2014/main" id="{7CD69F69-4D44-9E16-2966-6E0FEBD108E4}"/>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0" name="btfpColumnGapBlocker399740">
              <a:extLst>
                <a:ext uri="{FF2B5EF4-FFF2-40B4-BE49-F238E27FC236}">
                  <a16:creationId xmlns:a16="http://schemas.microsoft.com/office/drawing/2014/main" id="{695B9C98-D00B-BCBB-B877-0F252A4CBD73}"/>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8" name="btfpColumnIndicator152595">
              <a:extLst>
                <a:ext uri="{FF2B5EF4-FFF2-40B4-BE49-F238E27FC236}">
                  <a16:creationId xmlns:a16="http://schemas.microsoft.com/office/drawing/2014/main" id="{8A389BED-EE72-5572-781B-2ED0CFF9218B}"/>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6" name="btfpColumnIndicator895224">
              <a:extLst>
                <a:ext uri="{FF2B5EF4-FFF2-40B4-BE49-F238E27FC236}">
                  <a16:creationId xmlns:a16="http://schemas.microsoft.com/office/drawing/2014/main" id="{59F4BE89-2D4D-F52A-ADB6-3707D3FFBB8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58" name="btfpColumnIndicatorGroup1">
            <a:extLst>
              <a:ext uri="{FF2B5EF4-FFF2-40B4-BE49-F238E27FC236}">
                <a16:creationId xmlns:a16="http://schemas.microsoft.com/office/drawing/2014/main" id="{B0A152AD-D9AC-D4F9-82A8-48B325A3F1DB}"/>
              </a:ext>
            </a:extLst>
          </p:cNvPr>
          <p:cNvGrpSpPr/>
          <p:nvPr/>
        </p:nvGrpSpPr>
        <p:grpSpPr>
          <a:xfrm>
            <a:off x="0" y="-205740"/>
            <a:ext cx="12192000" cy="137160"/>
            <a:chOff x="0" y="-205740"/>
            <a:chExt cx="12192000" cy="137160"/>
          </a:xfrm>
        </p:grpSpPr>
        <p:sp>
          <p:nvSpPr>
            <p:cNvPr id="56" name="btfpColumnGapBlocker564967">
              <a:extLst>
                <a:ext uri="{FF2B5EF4-FFF2-40B4-BE49-F238E27FC236}">
                  <a16:creationId xmlns:a16="http://schemas.microsoft.com/office/drawing/2014/main" id="{4BF43F83-BA93-3558-DED8-480B5F6B4CBD}"/>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4" name="btfpColumnGapBlocker899441">
              <a:extLst>
                <a:ext uri="{FF2B5EF4-FFF2-40B4-BE49-F238E27FC236}">
                  <a16:creationId xmlns:a16="http://schemas.microsoft.com/office/drawing/2014/main" id="{DF31C7A2-5A22-5054-75E1-A79CE5CAA31B}"/>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2" name="btfpColumnIndicator776780">
              <a:extLst>
                <a:ext uri="{FF2B5EF4-FFF2-40B4-BE49-F238E27FC236}">
                  <a16:creationId xmlns:a16="http://schemas.microsoft.com/office/drawing/2014/main" id="{1F16F58A-559C-ECA8-4777-F1BF7CDE7C52}"/>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1" name="btfpColumnIndicator155416">
              <a:extLst>
                <a:ext uri="{FF2B5EF4-FFF2-40B4-BE49-F238E27FC236}">
                  <a16:creationId xmlns:a16="http://schemas.microsoft.com/office/drawing/2014/main" id="{2B646C7E-F4FF-C37D-B488-2670DAB41FF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9" name="btfpColumnGapBlocker254940">
              <a:extLst>
                <a:ext uri="{FF2B5EF4-FFF2-40B4-BE49-F238E27FC236}">
                  <a16:creationId xmlns:a16="http://schemas.microsoft.com/office/drawing/2014/main" id="{C4971050-6528-3793-38E0-7C0381293BB1}"/>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7" name="btfpColumnIndicator845189">
              <a:extLst>
                <a:ext uri="{FF2B5EF4-FFF2-40B4-BE49-F238E27FC236}">
                  <a16:creationId xmlns:a16="http://schemas.microsoft.com/office/drawing/2014/main" id="{67BF4A1E-F5D2-9CF9-90AC-13516B6C7490}"/>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5" name="btfpColumnIndicator638925">
              <a:extLst>
                <a:ext uri="{FF2B5EF4-FFF2-40B4-BE49-F238E27FC236}">
                  <a16:creationId xmlns:a16="http://schemas.microsoft.com/office/drawing/2014/main" id="{16ACE866-F0CA-2BCE-E995-6199B5D0DE13}"/>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58497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TSR Analysis </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488475"/>
          </a:xfrm>
          <a:prstGeom prst="rect">
            <a:avLst/>
          </a:prstGeom>
          <a:noFill/>
        </p:spPr>
        <p:txBody>
          <a:bodyPr vert="horz" wrap="square" lIns="36000" tIns="36000" rIns="36000" bIns="36000" rtlCol="0">
            <a:spAutoFit/>
          </a:bodyPr>
          <a:lstStyle/>
          <a:p>
            <a:r>
              <a:rPr lang="en-US" sz="1200"/>
              <a:t>TSR data is found on the </a:t>
            </a:r>
            <a:r>
              <a:rPr lang="en-US" sz="1200" i="1"/>
              <a:t>TSR Analysis</a:t>
            </a:r>
            <a:r>
              <a:rPr lang="en-US" sz="1200"/>
              <a:t> tab, which contains calculated TSR and rank for each peer over the 5Y, 3Y, and 1Y periods</a:t>
            </a:r>
          </a:p>
          <a:p>
            <a:r>
              <a:rPr lang="en-US" sz="1200"/>
              <a:t>To build out the </a:t>
            </a:r>
            <a:r>
              <a:rPr lang="en-US" sz="1200" b="1"/>
              <a:t>TSR performance slide</a:t>
            </a:r>
            <a:r>
              <a:rPr lang="en-US" sz="1200"/>
              <a:t>, pull the calculated TSR for each peer into the think-cell chart and manually update the data row below with the target company’s TSR and the peer median TSR</a:t>
            </a:r>
          </a:p>
          <a:p>
            <a:r>
              <a:rPr lang="en-US" sz="1200"/>
              <a:t>On the chart itself, update the dotted lines to reflect the median</a:t>
            </a:r>
          </a:p>
        </p:txBody>
      </p:sp>
      <p:sp>
        <p:nvSpPr>
          <p:cNvPr id="76" name="btfpBulletedList652992">
            <a:extLst>
              <a:ext uri="{FF2B5EF4-FFF2-40B4-BE49-F238E27FC236}">
                <a16:creationId xmlns:a16="http://schemas.microsoft.com/office/drawing/2014/main" id="{A6C592CB-8636-AF70-2D36-916C6617F8AA}"/>
              </a:ext>
            </a:extLst>
          </p:cNvPr>
          <p:cNvSpPr txBox="1"/>
          <p:nvPr>
            <p:custDataLst>
              <p:tags r:id="rId9"/>
            </p:custDataLst>
          </p:nvPr>
        </p:nvSpPr>
        <p:spPr bwMode="gray">
          <a:xfrm>
            <a:off x="330199" y="4698761"/>
            <a:ext cx="5495528" cy="442035"/>
          </a:xfrm>
          <a:prstGeom prst="rect">
            <a:avLst/>
          </a:prstGeom>
          <a:noFill/>
        </p:spPr>
        <p:txBody>
          <a:bodyPr vert="horz" wrap="square" lIns="36000" tIns="36000" rIns="36000" bIns="36000" rtlCol="0">
            <a:spAutoFit/>
          </a:bodyPr>
          <a:lstStyle/>
          <a:p>
            <a:r>
              <a:rPr lang="en-US" sz="1200"/>
              <a:t>For the </a:t>
            </a:r>
            <a:r>
              <a:rPr lang="en-US" sz="1200" b="1"/>
              <a:t>indexed share price slide</a:t>
            </a:r>
            <a:r>
              <a:rPr lang="en-US" sz="1200"/>
              <a:t>, pull in the relevant data from the </a:t>
            </a:r>
            <a:r>
              <a:rPr lang="en-US" sz="1200" i="1"/>
              <a:t>Indexed Share Price Movement</a:t>
            </a:r>
            <a:r>
              <a:rPr lang="en-US" sz="1200"/>
              <a:t> section and add any relevant callouts</a:t>
            </a:r>
          </a:p>
        </p:txBody>
      </p:sp>
      <p:pic>
        <p:nvPicPr>
          <p:cNvPr id="87" name="Picture 86">
            <a:extLst>
              <a:ext uri="{FF2B5EF4-FFF2-40B4-BE49-F238E27FC236}">
                <a16:creationId xmlns:a16="http://schemas.microsoft.com/office/drawing/2014/main" id="{948299BA-272E-6AF7-EA7D-B125B687E98D}"/>
              </a:ext>
            </a:extLst>
          </p:cNvPr>
          <p:cNvPicPr>
            <a:picLocks noChangeAspect="1"/>
          </p:cNvPicPr>
          <p:nvPr/>
        </p:nvPicPr>
        <p:blipFill>
          <a:blip r:embed="rId13"/>
          <a:stretch>
            <a:fillRect/>
          </a:stretch>
        </p:blipFill>
        <p:spPr>
          <a:xfrm>
            <a:off x="330199" y="3265465"/>
            <a:ext cx="5495528" cy="1133370"/>
          </a:xfrm>
          <a:prstGeom prst="rect">
            <a:avLst/>
          </a:prstGeom>
        </p:spPr>
      </p:pic>
      <p:pic>
        <p:nvPicPr>
          <p:cNvPr id="93" name="Picture 92">
            <a:extLst>
              <a:ext uri="{FF2B5EF4-FFF2-40B4-BE49-F238E27FC236}">
                <a16:creationId xmlns:a16="http://schemas.microsoft.com/office/drawing/2014/main" id="{C50B2FAA-A5AA-670D-7F1B-62303B4F977E}"/>
              </a:ext>
            </a:extLst>
          </p:cNvPr>
          <p:cNvPicPr>
            <a:picLocks noChangeAspect="1"/>
          </p:cNvPicPr>
          <p:nvPr/>
        </p:nvPicPr>
        <p:blipFill>
          <a:blip r:embed="rId14"/>
          <a:stretch>
            <a:fillRect/>
          </a:stretch>
        </p:blipFill>
        <p:spPr>
          <a:xfrm>
            <a:off x="330200" y="5078754"/>
            <a:ext cx="5583584" cy="1042081"/>
          </a:xfrm>
          <a:prstGeom prst="rect">
            <a:avLst/>
          </a:prstGeom>
        </p:spPr>
      </p:pic>
      <p:pic>
        <p:nvPicPr>
          <p:cNvPr id="100" name="Picture 99">
            <a:extLst>
              <a:ext uri="{FF2B5EF4-FFF2-40B4-BE49-F238E27FC236}">
                <a16:creationId xmlns:a16="http://schemas.microsoft.com/office/drawing/2014/main" id="{B1BFE885-4C8D-D1CC-D13F-1D7E386E73F0}"/>
              </a:ext>
            </a:extLst>
          </p:cNvPr>
          <p:cNvPicPr>
            <a:picLocks noChangeAspect="1"/>
          </p:cNvPicPr>
          <p:nvPr/>
        </p:nvPicPr>
        <p:blipFill>
          <a:blip r:embed="rId15"/>
          <a:stretch>
            <a:fillRect/>
          </a:stretch>
        </p:blipFill>
        <p:spPr>
          <a:xfrm>
            <a:off x="7069595" y="1713778"/>
            <a:ext cx="4087061" cy="2240557"/>
          </a:xfrm>
          <a:prstGeom prst="rect">
            <a:avLst/>
          </a:prstGeom>
        </p:spPr>
      </p:pic>
      <p:pic>
        <p:nvPicPr>
          <p:cNvPr id="106" name="Picture 105">
            <a:extLst>
              <a:ext uri="{FF2B5EF4-FFF2-40B4-BE49-F238E27FC236}">
                <a16:creationId xmlns:a16="http://schemas.microsoft.com/office/drawing/2014/main" id="{A6E632BA-5BA4-4643-DF8E-31767750E562}"/>
              </a:ext>
            </a:extLst>
          </p:cNvPr>
          <p:cNvPicPr>
            <a:picLocks noChangeAspect="1"/>
          </p:cNvPicPr>
          <p:nvPr/>
        </p:nvPicPr>
        <p:blipFill>
          <a:blip r:embed="rId16"/>
          <a:stretch>
            <a:fillRect/>
          </a:stretch>
        </p:blipFill>
        <p:spPr>
          <a:xfrm>
            <a:off x="7069595" y="4141368"/>
            <a:ext cx="4087061" cy="2255270"/>
          </a:xfrm>
          <a:prstGeom prst="rect">
            <a:avLst/>
          </a:prstGeom>
        </p:spPr>
      </p:pic>
    </p:spTree>
    <p:custDataLst>
      <p:tags r:id="rId1"/>
    </p:custDataLst>
    <p:extLst>
      <p:ext uri="{BB962C8B-B14F-4D97-AF65-F5344CB8AC3E}">
        <p14:creationId xmlns:p14="http://schemas.microsoft.com/office/powerpoint/2010/main" val="23868814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12562921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Cost Savings Summary</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812188"/>
          </a:xfrm>
          <a:prstGeom prst="rect">
            <a:avLst/>
          </a:prstGeom>
          <a:noFill/>
        </p:spPr>
        <p:txBody>
          <a:bodyPr vert="horz" wrap="square" lIns="36000" tIns="36000" rIns="36000" bIns="36000" rtlCol="0">
            <a:spAutoFit/>
          </a:bodyPr>
          <a:lstStyle/>
          <a:p>
            <a:r>
              <a:rPr lang="en-US" sz="1200"/>
              <a:t>This slide summarizes the </a:t>
            </a:r>
            <a:r>
              <a:rPr lang="en-US" sz="1200" b="1"/>
              <a:t>company’s current performance and resulting size of opportunity</a:t>
            </a:r>
          </a:p>
          <a:p>
            <a:r>
              <a:rPr lang="en-US" sz="1200"/>
              <a:t>First step is to </a:t>
            </a:r>
            <a:r>
              <a:rPr lang="en-US" sz="1200" b="1"/>
              <a:t>align on the rows you’ll include</a:t>
            </a:r>
            <a:r>
              <a:rPr lang="en-US" sz="1200"/>
              <a:t>, which are commonly the simple cost items shown in the Tidewater example, though we sometimes show others depending on the context (e.g., advertising, top-down EBIT)</a:t>
            </a:r>
          </a:p>
          <a:p>
            <a:r>
              <a:rPr lang="en-US" sz="1200"/>
              <a:t>Next, pull in the </a:t>
            </a:r>
            <a:r>
              <a:rPr lang="en-US" sz="1200" b="1"/>
              <a:t>current spend / performance column</a:t>
            </a:r>
            <a:r>
              <a:rPr lang="en-US" sz="1200"/>
              <a:t>:</a:t>
            </a:r>
          </a:p>
          <a:p>
            <a:pPr lvl="1"/>
            <a:r>
              <a:rPr lang="en-US" sz="1000"/>
              <a:t>Values can be found on either the Income Statement Revised (e.g., COGS, SG&amp;A) and Financials &amp; KPIs (e.g., Inventory $ amount)</a:t>
            </a:r>
          </a:p>
          <a:p>
            <a:r>
              <a:rPr lang="en-US" sz="1200"/>
              <a:t>For </a:t>
            </a:r>
            <a:r>
              <a:rPr lang="en-US" sz="1200" b="1"/>
              <a:t>performance vs. peers</a:t>
            </a:r>
            <a:r>
              <a:rPr lang="en-US" sz="1200"/>
              <a:t>, visit the benchmarking slide for each line item (e.g., Gross Margin for COGS) and note whether the target is Top Q, better than Median, or worse than Median</a:t>
            </a:r>
          </a:p>
          <a:p>
            <a:r>
              <a:rPr lang="en-US" sz="1200"/>
              <a:t>For </a:t>
            </a:r>
            <a:r>
              <a:rPr lang="en-US" sz="1200" b="1"/>
              <a:t>Benchmarking &amp; Bain Experience</a:t>
            </a:r>
            <a:r>
              <a:rPr lang="en-US" sz="1200"/>
              <a:t>, pull in the savings amounts from the down arrows and recommendations on each slide</a:t>
            </a:r>
          </a:p>
          <a:p>
            <a:r>
              <a:rPr lang="en-US" sz="1200"/>
              <a:t>Lastly, use your judgment to </a:t>
            </a:r>
            <a:r>
              <a:rPr lang="en-US" sz="1200" b="1"/>
              <a:t>issue a recommendation </a:t>
            </a:r>
            <a:r>
              <a:rPr lang="en-US" sz="1200"/>
              <a:t>based on these benchmarks and carefully update the footnotes to specify how each benchmarking analysis was done (e.g., Closing the gap to Median)</a:t>
            </a:r>
          </a:p>
        </p:txBody>
      </p:sp>
      <p:pic>
        <p:nvPicPr>
          <p:cNvPr id="45" name="Picture 44">
            <a:extLst>
              <a:ext uri="{FF2B5EF4-FFF2-40B4-BE49-F238E27FC236}">
                <a16:creationId xmlns:a16="http://schemas.microsoft.com/office/drawing/2014/main" id="{E69F88EF-F7E5-0CA4-3352-B31717FC3715}"/>
              </a:ext>
            </a:extLst>
          </p:cNvPr>
          <p:cNvPicPr>
            <a:picLocks noChangeAspect="1"/>
          </p:cNvPicPr>
          <p:nvPr/>
        </p:nvPicPr>
        <p:blipFill>
          <a:blip r:embed="rId12"/>
          <a:stretch>
            <a:fillRect/>
          </a:stretch>
        </p:blipFill>
        <p:spPr>
          <a:xfrm>
            <a:off x="6366272" y="1918705"/>
            <a:ext cx="5490762" cy="2988200"/>
          </a:xfrm>
          <a:prstGeom prst="rect">
            <a:avLst/>
          </a:prstGeom>
        </p:spPr>
      </p:pic>
    </p:spTree>
    <p:custDataLst>
      <p:tags r:id="rId1"/>
    </p:custDataLst>
    <p:extLst>
      <p:ext uri="{BB962C8B-B14F-4D97-AF65-F5344CB8AC3E}">
        <p14:creationId xmlns:p14="http://schemas.microsoft.com/office/powerpoint/2010/main" val="2115541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btfpColumnIndicatorGroup2">
            <a:extLst>
              <a:ext uri="{FF2B5EF4-FFF2-40B4-BE49-F238E27FC236}">
                <a16:creationId xmlns:a16="http://schemas.microsoft.com/office/drawing/2014/main" id="{F58DE06E-0010-D30D-78FF-3A95CABDE5F6}"/>
              </a:ext>
            </a:extLst>
          </p:cNvPr>
          <p:cNvGrpSpPr/>
          <p:nvPr/>
        </p:nvGrpSpPr>
        <p:grpSpPr>
          <a:xfrm>
            <a:off x="0" y="6926580"/>
            <a:ext cx="12192000" cy="137160"/>
            <a:chOff x="0" y="6926580"/>
            <a:chExt cx="12192000" cy="137160"/>
          </a:xfrm>
        </p:grpSpPr>
        <p:sp>
          <p:nvSpPr>
            <p:cNvPr id="93" name="btfpColumnGapBlocker654481">
              <a:extLst>
                <a:ext uri="{FF2B5EF4-FFF2-40B4-BE49-F238E27FC236}">
                  <a16:creationId xmlns:a16="http://schemas.microsoft.com/office/drawing/2014/main" id="{88C694CD-0609-8E85-87C4-AB658E9A72E9}"/>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1" name="btfpColumnGapBlocker537706">
              <a:extLst>
                <a:ext uri="{FF2B5EF4-FFF2-40B4-BE49-F238E27FC236}">
                  <a16:creationId xmlns:a16="http://schemas.microsoft.com/office/drawing/2014/main" id="{C0DE9922-E69E-F739-BA5E-D67D6171CB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9" name="btfpColumnIndicator562086">
              <a:extLst>
                <a:ext uri="{FF2B5EF4-FFF2-40B4-BE49-F238E27FC236}">
                  <a16:creationId xmlns:a16="http://schemas.microsoft.com/office/drawing/2014/main" id="{5FA982BB-E59A-00BD-3DD6-759EEAACE53E}"/>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7" name="btfpColumnIndicator484048">
              <a:extLst>
                <a:ext uri="{FF2B5EF4-FFF2-40B4-BE49-F238E27FC236}">
                  <a16:creationId xmlns:a16="http://schemas.microsoft.com/office/drawing/2014/main" id="{152B96FF-C76C-06EB-452F-12E21A1474AE}"/>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85" name="btfpColumnGapBlocker924328">
              <a:extLst>
                <a:ext uri="{FF2B5EF4-FFF2-40B4-BE49-F238E27FC236}">
                  <a16:creationId xmlns:a16="http://schemas.microsoft.com/office/drawing/2014/main" id="{6CB68113-22C3-696F-4EBA-F3DB8E4FDFDC}"/>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3" name="btfpColumnIndicator441731">
              <a:extLst>
                <a:ext uri="{FF2B5EF4-FFF2-40B4-BE49-F238E27FC236}">
                  <a16:creationId xmlns:a16="http://schemas.microsoft.com/office/drawing/2014/main" id="{33D6B6F7-EB33-6690-92AB-D6964886C2E7}"/>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1" name="btfpColumnIndicator480973">
              <a:extLst>
                <a:ext uri="{FF2B5EF4-FFF2-40B4-BE49-F238E27FC236}">
                  <a16:creationId xmlns:a16="http://schemas.microsoft.com/office/drawing/2014/main" id="{1A076362-1DE8-7077-15E3-181973949EB4}"/>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94" name="btfpColumnIndicatorGroup1">
            <a:extLst>
              <a:ext uri="{FF2B5EF4-FFF2-40B4-BE49-F238E27FC236}">
                <a16:creationId xmlns:a16="http://schemas.microsoft.com/office/drawing/2014/main" id="{623A6325-E537-E329-483C-D2587DB9DBBE}"/>
              </a:ext>
            </a:extLst>
          </p:cNvPr>
          <p:cNvGrpSpPr/>
          <p:nvPr/>
        </p:nvGrpSpPr>
        <p:grpSpPr>
          <a:xfrm>
            <a:off x="0" y="-205740"/>
            <a:ext cx="12192000" cy="137160"/>
            <a:chOff x="0" y="-205740"/>
            <a:chExt cx="12192000" cy="137160"/>
          </a:xfrm>
        </p:grpSpPr>
        <p:sp>
          <p:nvSpPr>
            <p:cNvPr id="92" name="btfpColumnGapBlocker602539">
              <a:extLst>
                <a:ext uri="{FF2B5EF4-FFF2-40B4-BE49-F238E27FC236}">
                  <a16:creationId xmlns:a16="http://schemas.microsoft.com/office/drawing/2014/main" id="{759B49BD-DE14-DAF2-EBE4-8157AA93CF9A}"/>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90" name="btfpColumnGapBlocker673094">
              <a:extLst>
                <a:ext uri="{FF2B5EF4-FFF2-40B4-BE49-F238E27FC236}">
                  <a16:creationId xmlns:a16="http://schemas.microsoft.com/office/drawing/2014/main" id="{BB17E6F1-1A9A-E02C-C952-E7B2A65393B9}"/>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8" name="btfpColumnIndicator596533">
              <a:extLst>
                <a:ext uri="{FF2B5EF4-FFF2-40B4-BE49-F238E27FC236}">
                  <a16:creationId xmlns:a16="http://schemas.microsoft.com/office/drawing/2014/main" id="{2D49A53A-EBE9-D85F-B5D8-67CA04E6D909}"/>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6" name="btfpColumnIndicator183457">
              <a:extLst>
                <a:ext uri="{FF2B5EF4-FFF2-40B4-BE49-F238E27FC236}">
                  <a16:creationId xmlns:a16="http://schemas.microsoft.com/office/drawing/2014/main" id="{64F5F14D-2BAE-EA5D-19A3-886D6934581B}"/>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84" name="btfpColumnGapBlocker242083">
              <a:extLst>
                <a:ext uri="{FF2B5EF4-FFF2-40B4-BE49-F238E27FC236}">
                  <a16:creationId xmlns:a16="http://schemas.microsoft.com/office/drawing/2014/main" id="{B34C152F-7858-AD30-AB56-EECDFDA53E94}"/>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82" name="btfpColumnIndicator778557">
              <a:extLst>
                <a:ext uri="{FF2B5EF4-FFF2-40B4-BE49-F238E27FC236}">
                  <a16:creationId xmlns:a16="http://schemas.microsoft.com/office/drawing/2014/main" id="{F7DBA465-8E68-DDEB-1F3A-32DF390E0908}"/>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80" name="btfpColumnIndicator921338">
              <a:extLst>
                <a:ext uri="{FF2B5EF4-FFF2-40B4-BE49-F238E27FC236}">
                  <a16:creationId xmlns:a16="http://schemas.microsoft.com/office/drawing/2014/main" id="{6CE3E7B7-20F3-E7DC-F08D-92E4AB85C76A}"/>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3201855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Revenue Build</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104028"/>
          </a:xfrm>
          <a:prstGeom prst="rect">
            <a:avLst/>
          </a:prstGeom>
          <a:noFill/>
        </p:spPr>
        <p:txBody>
          <a:bodyPr vert="horz" wrap="square" lIns="36000" tIns="36000" rIns="36000" bIns="36000" rtlCol="0">
            <a:spAutoFit/>
          </a:bodyPr>
          <a:lstStyle/>
          <a:p>
            <a:r>
              <a:rPr lang="en-US" sz="1200"/>
              <a:t>Data for this slide can be found in the </a:t>
            </a:r>
            <a:r>
              <a:rPr lang="en-US" sz="1200" i="1"/>
              <a:t>Financial Trends</a:t>
            </a:r>
            <a:r>
              <a:rPr lang="en-US" sz="1200"/>
              <a:t> section on the </a:t>
            </a:r>
            <a:r>
              <a:rPr lang="en-US" sz="1200" i="1" err="1"/>
              <a:t>Mekko</a:t>
            </a:r>
            <a:r>
              <a:rPr lang="en-US" sz="1200" i="1"/>
              <a:t> Graph Output</a:t>
            </a:r>
            <a:r>
              <a:rPr lang="en-US" sz="1200"/>
              <a:t> tab</a:t>
            </a:r>
          </a:p>
          <a:p>
            <a:r>
              <a:rPr lang="en-US" sz="1200"/>
              <a:t>Once the think-cell cart is updated, manually calculate the FY19-24 and FY23-24 bps change in Excel and add it to the relevant text boxes</a:t>
            </a:r>
          </a:p>
          <a:p>
            <a:r>
              <a:rPr lang="en-US" sz="1200"/>
              <a:t>Review the slide in detail, </a:t>
            </a:r>
            <a:r>
              <a:rPr lang="en-US" sz="1200" b="1"/>
              <a:t>looking for key trends or outliers </a:t>
            </a:r>
            <a:r>
              <a:rPr lang="en-US" sz="1200"/>
              <a:t>(e.g., revenue jumps, profitability declines) and add brief callouts explaining the change</a:t>
            </a:r>
          </a:p>
          <a:p>
            <a:pPr lvl="1"/>
            <a:r>
              <a:rPr lang="en-US" sz="1000"/>
              <a:t>Potential sources include company annual (10-K) and quarterly (10-Q) filings, earnings reports, call transcripts, ChatGPT</a:t>
            </a:r>
            <a:r>
              <a:rPr lang="en-US" sz="1000" baseline="30000"/>
              <a:t>*</a:t>
            </a:r>
            <a:endParaRPr lang="en-US" sz="1000"/>
          </a:p>
          <a:p>
            <a:pPr lvl="1"/>
            <a:r>
              <a:rPr lang="en-US" sz="1000" b="1"/>
              <a:t>Be aware of acquisitions </a:t>
            </a:r>
            <a:r>
              <a:rPr lang="en-US" sz="1000"/>
              <a:t>as a potential source of YoY revenue swings</a:t>
            </a:r>
          </a:p>
        </p:txBody>
      </p:sp>
      <p:sp>
        <p:nvSpPr>
          <p:cNvPr id="64" name="btfpNotesBox314760">
            <a:extLst>
              <a:ext uri="{FF2B5EF4-FFF2-40B4-BE49-F238E27FC236}">
                <a16:creationId xmlns:a16="http://schemas.microsoft.com/office/drawing/2014/main" id="{1FFDDBBE-E1F8-8D4D-962E-7CFA4BC7F3EA}"/>
              </a:ext>
            </a:extLst>
          </p:cNvPr>
          <p:cNvSpPr txBox="1"/>
          <p:nvPr>
            <p:custDataLst>
              <p:tags r:id="rId9"/>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*See slide on </a:t>
            </a:r>
            <a:r>
              <a:rPr lang="en-US" sz="800" i="1">
                <a:solidFill>
                  <a:srgbClr val="000000"/>
                </a:solidFill>
              </a:rPr>
              <a:t>Using ChatGPT well</a:t>
            </a:r>
            <a:r>
              <a:rPr lang="en-US" sz="800">
                <a:solidFill>
                  <a:srgbClr val="000000"/>
                </a:solidFill>
              </a:rPr>
              <a:t> and follow those best practices, particularly on vetting its output against company reporting</a:t>
            </a:r>
          </a:p>
        </p:txBody>
      </p:sp>
      <p:pic>
        <p:nvPicPr>
          <p:cNvPr id="68" name="Picture 67">
            <a:extLst>
              <a:ext uri="{FF2B5EF4-FFF2-40B4-BE49-F238E27FC236}">
                <a16:creationId xmlns:a16="http://schemas.microsoft.com/office/drawing/2014/main" id="{3A88BD22-FACA-197E-1D50-A34748F96EF6}"/>
              </a:ext>
            </a:extLst>
          </p:cNvPr>
          <p:cNvPicPr>
            <a:picLocks noChangeAspect="1"/>
          </p:cNvPicPr>
          <p:nvPr/>
        </p:nvPicPr>
        <p:blipFill>
          <a:blip r:embed="rId13"/>
          <a:stretch>
            <a:fillRect/>
          </a:stretch>
        </p:blipFill>
        <p:spPr>
          <a:xfrm>
            <a:off x="6366272" y="1748560"/>
            <a:ext cx="5490766" cy="3006534"/>
          </a:xfrm>
          <a:prstGeom prst="rect">
            <a:avLst/>
          </a:prstGeom>
        </p:spPr>
      </p:pic>
      <p:pic>
        <p:nvPicPr>
          <p:cNvPr id="77" name="Picture 76">
            <a:extLst>
              <a:ext uri="{FF2B5EF4-FFF2-40B4-BE49-F238E27FC236}">
                <a16:creationId xmlns:a16="http://schemas.microsoft.com/office/drawing/2014/main" id="{0051130C-8651-DEB6-B684-B5BE75CCD8CA}"/>
              </a:ext>
            </a:extLst>
          </p:cNvPr>
          <p:cNvPicPr>
            <a:picLocks noChangeAspect="1"/>
          </p:cNvPicPr>
          <p:nvPr/>
        </p:nvPicPr>
        <p:blipFill>
          <a:blip r:embed="rId14"/>
          <a:stretch>
            <a:fillRect/>
          </a:stretch>
        </p:blipFill>
        <p:spPr>
          <a:xfrm>
            <a:off x="330199" y="3930462"/>
            <a:ext cx="5388367" cy="1537590"/>
          </a:xfrm>
          <a:prstGeom prst="rect">
            <a:avLst/>
          </a:prstGeom>
        </p:spPr>
      </p:pic>
    </p:spTree>
    <p:custDataLst>
      <p:tags r:id="rId1"/>
    </p:custDataLst>
    <p:extLst>
      <p:ext uri="{BB962C8B-B14F-4D97-AF65-F5344CB8AC3E}">
        <p14:creationId xmlns:p14="http://schemas.microsoft.com/office/powerpoint/2010/main" val="4204904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btfpColumnIndicatorGroup2">
            <a:extLst>
              <a:ext uri="{FF2B5EF4-FFF2-40B4-BE49-F238E27FC236}">
                <a16:creationId xmlns:a16="http://schemas.microsoft.com/office/drawing/2014/main" id="{1FBFD196-420D-0B44-133D-0DAF5777B3FB}"/>
              </a:ext>
            </a:extLst>
          </p:cNvPr>
          <p:cNvGrpSpPr/>
          <p:nvPr/>
        </p:nvGrpSpPr>
        <p:grpSpPr>
          <a:xfrm>
            <a:off x="0" y="6926580"/>
            <a:ext cx="12192000" cy="137160"/>
            <a:chOff x="0" y="6926580"/>
            <a:chExt cx="12192000" cy="137160"/>
          </a:xfrm>
        </p:grpSpPr>
        <p:sp>
          <p:nvSpPr>
            <p:cNvPr id="60" name="btfpColumnGapBlocker716295">
              <a:extLst>
                <a:ext uri="{FF2B5EF4-FFF2-40B4-BE49-F238E27FC236}">
                  <a16:creationId xmlns:a16="http://schemas.microsoft.com/office/drawing/2014/main" id="{3E9CC376-E851-9AD2-8DAB-59C4E54B2224}"/>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144285">
              <a:extLst>
                <a:ext uri="{FF2B5EF4-FFF2-40B4-BE49-F238E27FC236}">
                  <a16:creationId xmlns:a16="http://schemas.microsoft.com/office/drawing/2014/main" id="{27EE4484-DFCC-E36D-63A9-6F58F557B9B6}"/>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653950">
              <a:extLst>
                <a:ext uri="{FF2B5EF4-FFF2-40B4-BE49-F238E27FC236}">
                  <a16:creationId xmlns:a16="http://schemas.microsoft.com/office/drawing/2014/main" id="{C142C739-D331-BE54-3541-C70F61AEC68C}"/>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560265">
              <a:extLst>
                <a:ext uri="{FF2B5EF4-FFF2-40B4-BE49-F238E27FC236}">
                  <a16:creationId xmlns:a16="http://schemas.microsoft.com/office/drawing/2014/main" id="{D4062295-7752-65CC-8A2E-18C66EBEC579}"/>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521052">
              <a:extLst>
                <a:ext uri="{FF2B5EF4-FFF2-40B4-BE49-F238E27FC236}">
                  <a16:creationId xmlns:a16="http://schemas.microsoft.com/office/drawing/2014/main" id="{79FC51DA-3A0D-3EB9-C67F-2C7B8052A831}"/>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804809">
              <a:extLst>
                <a:ext uri="{FF2B5EF4-FFF2-40B4-BE49-F238E27FC236}">
                  <a16:creationId xmlns:a16="http://schemas.microsoft.com/office/drawing/2014/main" id="{03C753D4-003E-7BA1-FE8A-C89E939C7B1B}"/>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671562">
              <a:extLst>
                <a:ext uri="{FF2B5EF4-FFF2-40B4-BE49-F238E27FC236}">
                  <a16:creationId xmlns:a16="http://schemas.microsoft.com/office/drawing/2014/main" id="{4F58443B-A834-8D34-7C45-C73A8605DE87}"/>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1" name="btfpColumnIndicatorGroup1">
            <a:extLst>
              <a:ext uri="{FF2B5EF4-FFF2-40B4-BE49-F238E27FC236}">
                <a16:creationId xmlns:a16="http://schemas.microsoft.com/office/drawing/2014/main" id="{869AF67B-7126-5B7C-0ABD-D286E8F26CC3}"/>
              </a:ext>
            </a:extLst>
          </p:cNvPr>
          <p:cNvGrpSpPr/>
          <p:nvPr/>
        </p:nvGrpSpPr>
        <p:grpSpPr>
          <a:xfrm>
            <a:off x="0" y="-205740"/>
            <a:ext cx="12192000" cy="137160"/>
            <a:chOff x="0" y="-205740"/>
            <a:chExt cx="12192000" cy="137160"/>
          </a:xfrm>
        </p:grpSpPr>
        <p:sp>
          <p:nvSpPr>
            <p:cNvPr id="59" name="btfpColumnGapBlocker240532">
              <a:extLst>
                <a:ext uri="{FF2B5EF4-FFF2-40B4-BE49-F238E27FC236}">
                  <a16:creationId xmlns:a16="http://schemas.microsoft.com/office/drawing/2014/main" id="{EE7A5869-46EE-FB2B-7A8E-60C5CF82E47E}"/>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7" name="btfpColumnGapBlocker732042">
              <a:extLst>
                <a:ext uri="{FF2B5EF4-FFF2-40B4-BE49-F238E27FC236}">
                  <a16:creationId xmlns:a16="http://schemas.microsoft.com/office/drawing/2014/main" id="{B219819E-43E4-EBF1-887E-CA0EC49940E2}"/>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5" name="btfpColumnIndicator715912">
              <a:extLst>
                <a:ext uri="{FF2B5EF4-FFF2-40B4-BE49-F238E27FC236}">
                  <a16:creationId xmlns:a16="http://schemas.microsoft.com/office/drawing/2014/main" id="{EB7178EB-7DF2-3215-CEB7-0282B9910742}"/>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3" name="btfpColumnIndicator420339">
              <a:extLst>
                <a:ext uri="{FF2B5EF4-FFF2-40B4-BE49-F238E27FC236}">
                  <a16:creationId xmlns:a16="http://schemas.microsoft.com/office/drawing/2014/main" id="{032AEE4B-E42A-8BF9-F5C0-BB3906B1128C}"/>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5" name="btfpColumnGapBlocker446196">
              <a:extLst>
                <a:ext uri="{FF2B5EF4-FFF2-40B4-BE49-F238E27FC236}">
                  <a16:creationId xmlns:a16="http://schemas.microsoft.com/office/drawing/2014/main" id="{781BFE9D-B761-AC34-34C8-1EA97F2D2D27}"/>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0" name="btfpColumnIndicator954789">
              <a:extLst>
                <a:ext uri="{FF2B5EF4-FFF2-40B4-BE49-F238E27FC236}">
                  <a16:creationId xmlns:a16="http://schemas.microsoft.com/office/drawing/2014/main" id="{770AF290-7455-B277-5046-AEFF277B11D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8" name="btfpColumnIndicator692908">
              <a:extLst>
                <a:ext uri="{FF2B5EF4-FFF2-40B4-BE49-F238E27FC236}">
                  <a16:creationId xmlns:a16="http://schemas.microsoft.com/office/drawing/2014/main" id="{95DF8F4B-35FE-5888-A03D-17A1D023AC69}"/>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1976708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Historical Revenue Growth</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796526"/>
          </a:xfrm>
          <a:prstGeom prst="rect">
            <a:avLst/>
          </a:prstGeom>
          <a:noFill/>
        </p:spPr>
        <p:txBody>
          <a:bodyPr vert="horz" wrap="square" lIns="36000" tIns="36000" rIns="36000" bIns="36000" rtlCol="0">
            <a:spAutoFit/>
          </a:bodyPr>
          <a:lstStyle/>
          <a:p>
            <a:r>
              <a:rPr lang="en-US" sz="1200"/>
              <a:t>Historical revenue growth is found in the </a:t>
            </a:r>
            <a:r>
              <a:rPr lang="en-US" sz="1200" i="1"/>
              <a:t>Growth</a:t>
            </a:r>
            <a:r>
              <a:rPr lang="en-US" sz="1200"/>
              <a:t> column of the Summary Table on the </a:t>
            </a:r>
            <a:r>
              <a:rPr lang="en-US" sz="1200" i="1" err="1"/>
              <a:t>Mekko</a:t>
            </a:r>
            <a:r>
              <a:rPr lang="en-US" sz="1200" i="1"/>
              <a:t> Graph Outputs</a:t>
            </a:r>
            <a:r>
              <a:rPr lang="en-US" sz="1200"/>
              <a:t> tab</a:t>
            </a:r>
          </a:p>
          <a:p>
            <a:r>
              <a:rPr lang="en-US" sz="1200"/>
              <a:t>Update the think-cell chart with the historical growth for each company, as well as the Median and Top Q which you should calculate in Excel</a:t>
            </a:r>
          </a:p>
          <a:p>
            <a:r>
              <a:rPr lang="en-US" sz="1200"/>
              <a:t>Determine whether benchmarking is feasible</a:t>
            </a:r>
          </a:p>
          <a:p>
            <a:r>
              <a:rPr lang="en-US" sz="1200" b="1"/>
              <a:t>If benchmarking is feasible</a:t>
            </a:r>
            <a:r>
              <a:rPr lang="en-US" sz="1200"/>
              <a:t>, follow the below steps:</a:t>
            </a:r>
          </a:p>
          <a:p>
            <a:pPr lvl="1"/>
            <a:r>
              <a:rPr lang="en-US" sz="1000"/>
              <a:t>Start with the beginning period revenue (FY19 in this example) and grow it by the actual historical growth rate (22.4%), which should tie exactly to FY24 revenue</a:t>
            </a:r>
          </a:p>
          <a:p>
            <a:pPr lvl="1"/>
            <a:r>
              <a:rPr lang="en-US" sz="1000"/>
              <a:t>Then determine the benchmarked growth rate (e.g., median, top Q) and grow beginning period revenue by that growth rate to calculate implied FY24 revenue</a:t>
            </a:r>
          </a:p>
          <a:p>
            <a:pPr lvl="1"/>
            <a:r>
              <a:rPr lang="en-US" sz="1000"/>
              <a:t>Difference between implied FY24 revenue from the benchmarked growth rate and actual FY24 revenue provides the savings opportunity to be included in the down arrow</a:t>
            </a:r>
          </a:p>
        </p:txBody>
      </p:sp>
      <p:pic>
        <p:nvPicPr>
          <p:cNvPr id="81" name="Picture 80">
            <a:extLst>
              <a:ext uri="{FF2B5EF4-FFF2-40B4-BE49-F238E27FC236}">
                <a16:creationId xmlns:a16="http://schemas.microsoft.com/office/drawing/2014/main" id="{26DCB18D-A375-D1F8-3F01-D1571591881E}"/>
              </a:ext>
            </a:extLst>
          </p:cNvPr>
          <p:cNvPicPr>
            <a:picLocks noChangeAspect="1"/>
          </p:cNvPicPr>
          <p:nvPr/>
        </p:nvPicPr>
        <p:blipFill>
          <a:blip r:embed="rId12"/>
          <a:stretch>
            <a:fillRect/>
          </a:stretch>
        </p:blipFill>
        <p:spPr>
          <a:xfrm>
            <a:off x="742932" y="4881855"/>
            <a:ext cx="4670062" cy="1397027"/>
          </a:xfrm>
          <a:prstGeom prst="rect">
            <a:avLst/>
          </a:prstGeom>
        </p:spPr>
      </p:pic>
      <p:pic>
        <p:nvPicPr>
          <p:cNvPr id="87" name="Picture 86">
            <a:extLst>
              <a:ext uri="{FF2B5EF4-FFF2-40B4-BE49-F238E27FC236}">
                <a16:creationId xmlns:a16="http://schemas.microsoft.com/office/drawing/2014/main" id="{32B12E4C-E611-3F25-F738-9C17280A9AF0}"/>
              </a:ext>
            </a:extLst>
          </p:cNvPr>
          <p:cNvPicPr>
            <a:picLocks noChangeAspect="1"/>
          </p:cNvPicPr>
          <p:nvPr/>
        </p:nvPicPr>
        <p:blipFill>
          <a:blip r:embed="rId13"/>
          <a:stretch>
            <a:fillRect/>
          </a:stretch>
        </p:blipFill>
        <p:spPr>
          <a:xfrm>
            <a:off x="6366273" y="1732849"/>
            <a:ext cx="5490766" cy="3000514"/>
          </a:xfrm>
          <a:prstGeom prst="rect">
            <a:avLst/>
          </a:prstGeom>
        </p:spPr>
      </p:pic>
    </p:spTree>
    <p:custDataLst>
      <p:tags r:id="rId1"/>
    </p:custDataLst>
    <p:extLst>
      <p:ext uri="{BB962C8B-B14F-4D97-AF65-F5344CB8AC3E}">
        <p14:creationId xmlns:p14="http://schemas.microsoft.com/office/powerpoint/2010/main" val="1846741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1505999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Cost Productivity</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842418"/>
          </a:xfrm>
          <a:prstGeom prst="rect">
            <a:avLst/>
          </a:prstGeom>
          <a:noFill/>
        </p:spPr>
        <p:txBody>
          <a:bodyPr vert="horz" wrap="square" lIns="36000" tIns="36000" rIns="36000" bIns="36000" rtlCol="0">
            <a:spAutoFit/>
          </a:bodyPr>
          <a:lstStyle/>
          <a:p>
            <a:r>
              <a:rPr lang="en-US" sz="1200"/>
              <a:t>See the </a:t>
            </a:r>
            <a:r>
              <a:rPr lang="en-US" sz="1200" i="1"/>
              <a:t>Cost Productivity</a:t>
            </a:r>
            <a:r>
              <a:rPr lang="en-US" sz="1200"/>
              <a:t> section on the </a:t>
            </a:r>
            <a:r>
              <a:rPr lang="en-US" sz="1200" i="1" err="1"/>
              <a:t>Mekko</a:t>
            </a:r>
            <a:r>
              <a:rPr lang="en-US" sz="1200" i="1"/>
              <a:t> Graph Outputs </a:t>
            </a:r>
            <a:r>
              <a:rPr lang="en-US" sz="1200"/>
              <a:t>tab</a:t>
            </a:r>
          </a:p>
          <a:p>
            <a:r>
              <a:rPr lang="en-US" sz="1200"/>
              <a:t>For the tagline, be sure to </a:t>
            </a:r>
            <a:r>
              <a:rPr lang="en-US" sz="1200" b="1"/>
              <a:t>lead with the insight </a:t>
            </a:r>
            <a:r>
              <a:rPr lang="en-US" sz="1200"/>
              <a:t>rather than describing the definition of cost productivity</a:t>
            </a:r>
          </a:p>
          <a:p>
            <a:pPr lvl="1"/>
            <a:r>
              <a:rPr lang="en-US" sz="1000"/>
              <a:t>Cost productivity is calculated as Adj. EBIT/DA CAGR – Revenue CAGR, which contextualizes a change in EBIT margin by indicating how effectively the company optimized its profitability</a:t>
            </a:r>
          </a:p>
          <a:p>
            <a:r>
              <a:rPr lang="en-US" sz="1200" b="1"/>
              <a:t>Note:</a:t>
            </a:r>
            <a:r>
              <a:rPr lang="en-US" sz="1200"/>
              <a:t> In certain cases where the EBIT/DA $ value starts or ends negatively, they must be excluded from this chart</a:t>
            </a:r>
          </a:p>
        </p:txBody>
      </p:sp>
      <p:pic>
        <p:nvPicPr>
          <p:cNvPr id="37" name="Picture 36">
            <a:extLst>
              <a:ext uri="{FF2B5EF4-FFF2-40B4-BE49-F238E27FC236}">
                <a16:creationId xmlns:a16="http://schemas.microsoft.com/office/drawing/2014/main" id="{14BEF870-8D2F-8C49-B247-C4CE5874AFD7}"/>
              </a:ext>
            </a:extLst>
          </p:cNvPr>
          <p:cNvPicPr>
            <a:picLocks noChangeAspect="1"/>
          </p:cNvPicPr>
          <p:nvPr/>
        </p:nvPicPr>
        <p:blipFill>
          <a:blip r:embed="rId12"/>
          <a:stretch>
            <a:fillRect/>
          </a:stretch>
        </p:blipFill>
        <p:spPr>
          <a:xfrm>
            <a:off x="6452286" y="1873129"/>
            <a:ext cx="5323500" cy="2926864"/>
          </a:xfrm>
          <a:prstGeom prst="rect">
            <a:avLst/>
          </a:prstGeom>
        </p:spPr>
      </p:pic>
      <p:pic>
        <p:nvPicPr>
          <p:cNvPr id="53" name="Picture 52">
            <a:extLst>
              <a:ext uri="{FF2B5EF4-FFF2-40B4-BE49-F238E27FC236}">
                <a16:creationId xmlns:a16="http://schemas.microsoft.com/office/drawing/2014/main" id="{190018BB-C635-5D54-1DC4-06F458542749}"/>
              </a:ext>
            </a:extLst>
          </p:cNvPr>
          <p:cNvPicPr>
            <a:picLocks noChangeAspect="1"/>
          </p:cNvPicPr>
          <p:nvPr/>
        </p:nvPicPr>
        <p:blipFill>
          <a:blip r:embed="rId13"/>
          <a:stretch>
            <a:fillRect/>
          </a:stretch>
        </p:blipFill>
        <p:spPr>
          <a:xfrm>
            <a:off x="330199" y="3806720"/>
            <a:ext cx="5409512" cy="1356253"/>
          </a:xfrm>
          <a:prstGeom prst="rect">
            <a:avLst/>
          </a:prstGeom>
        </p:spPr>
      </p:pic>
    </p:spTree>
    <p:custDataLst>
      <p:tags r:id="rId1"/>
    </p:custDataLst>
    <p:extLst>
      <p:ext uri="{BB962C8B-B14F-4D97-AF65-F5344CB8AC3E}">
        <p14:creationId xmlns:p14="http://schemas.microsoft.com/office/powerpoint/2010/main" val="711151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btfpColumnIndicatorGroup2">
            <a:extLst>
              <a:ext uri="{FF2B5EF4-FFF2-40B4-BE49-F238E27FC236}">
                <a16:creationId xmlns:a16="http://schemas.microsoft.com/office/drawing/2014/main" id="{50C4A284-0E03-9544-D85B-6CA9435C4713}"/>
              </a:ext>
            </a:extLst>
          </p:cNvPr>
          <p:cNvGrpSpPr/>
          <p:nvPr/>
        </p:nvGrpSpPr>
        <p:grpSpPr>
          <a:xfrm>
            <a:off x="0" y="6926580"/>
            <a:ext cx="12192000" cy="137160"/>
            <a:chOff x="0" y="6926580"/>
            <a:chExt cx="12192000" cy="137160"/>
          </a:xfrm>
        </p:grpSpPr>
        <p:sp>
          <p:nvSpPr>
            <p:cNvPr id="62" name="btfpColumnGapBlocker193738">
              <a:extLst>
                <a:ext uri="{FF2B5EF4-FFF2-40B4-BE49-F238E27FC236}">
                  <a16:creationId xmlns:a16="http://schemas.microsoft.com/office/drawing/2014/main" id="{A1242CE4-0335-CBAB-A4D7-ABD32FE90564}"/>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0" name="btfpColumnGapBlocker832303">
              <a:extLst>
                <a:ext uri="{FF2B5EF4-FFF2-40B4-BE49-F238E27FC236}">
                  <a16:creationId xmlns:a16="http://schemas.microsoft.com/office/drawing/2014/main" id="{7DD66F09-E216-636D-1CB5-2119020AE8F9}"/>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8" name="btfpColumnIndicator917086">
              <a:extLst>
                <a:ext uri="{FF2B5EF4-FFF2-40B4-BE49-F238E27FC236}">
                  <a16:creationId xmlns:a16="http://schemas.microsoft.com/office/drawing/2014/main" id="{BB71B283-4D35-F4B9-9423-8B6037F7F4E1}"/>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6" name="btfpColumnIndicator362769">
              <a:extLst>
                <a:ext uri="{FF2B5EF4-FFF2-40B4-BE49-F238E27FC236}">
                  <a16:creationId xmlns:a16="http://schemas.microsoft.com/office/drawing/2014/main" id="{5F0D480E-5951-998A-C195-A944C9F00D4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4" name="btfpColumnGapBlocker317519">
              <a:extLst>
                <a:ext uri="{FF2B5EF4-FFF2-40B4-BE49-F238E27FC236}">
                  <a16:creationId xmlns:a16="http://schemas.microsoft.com/office/drawing/2014/main" id="{3351D3A8-D3CD-0A3F-89F5-D0E8C1BD94EA}"/>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2" name="btfpColumnIndicator684605">
              <a:extLst>
                <a:ext uri="{FF2B5EF4-FFF2-40B4-BE49-F238E27FC236}">
                  <a16:creationId xmlns:a16="http://schemas.microsoft.com/office/drawing/2014/main" id="{68F232FD-BF7C-04CE-5809-15FA152EFFD2}"/>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1" name="btfpColumnIndicator902040">
              <a:extLst>
                <a:ext uri="{FF2B5EF4-FFF2-40B4-BE49-F238E27FC236}">
                  <a16:creationId xmlns:a16="http://schemas.microsoft.com/office/drawing/2014/main" id="{940A80CD-185E-91BE-F56E-22FC21F7F509}"/>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3" name="btfpColumnIndicatorGroup1">
            <a:extLst>
              <a:ext uri="{FF2B5EF4-FFF2-40B4-BE49-F238E27FC236}">
                <a16:creationId xmlns:a16="http://schemas.microsoft.com/office/drawing/2014/main" id="{043403D4-7B08-5BCC-B0A1-3CBC65D0F672}"/>
              </a:ext>
            </a:extLst>
          </p:cNvPr>
          <p:cNvGrpSpPr/>
          <p:nvPr/>
        </p:nvGrpSpPr>
        <p:grpSpPr>
          <a:xfrm>
            <a:off x="0" y="-205740"/>
            <a:ext cx="12192000" cy="137160"/>
            <a:chOff x="0" y="-205740"/>
            <a:chExt cx="12192000" cy="137160"/>
          </a:xfrm>
        </p:grpSpPr>
        <p:sp>
          <p:nvSpPr>
            <p:cNvPr id="61" name="btfpColumnGapBlocker876826">
              <a:extLst>
                <a:ext uri="{FF2B5EF4-FFF2-40B4-BE49-F238E27FC236}">
                  <a16:creationId xmlns:a16="http://schemas.microsoft.com/office/drawing/2014/main" id="{86C12EA0-5745-95C1-E9E0-F2E27B8D17F7}"/>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672741">
              <a:extLst>
                <a:ext uri="{FF2B5EF4-FFF2-40B4-BE49-F238E27FC236}">
                  <a16:creationId xmlns:a16="http://schemas.microsoft.com/office/drawing/2014/main" id="{62D37256-9DEB-A189-C5DA-B0BB1E42C14E}"/>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675288">
              <a:extLst>
                <a:ext uri="{FF2B5EF4-FFF2-40B4-BE49-F238E27FC236}">
                  <a16:creationId xmlns:a16="http://schemas.microsoft.com/office/drawing/2014/main" id="{36EFD756-5587-7CCE-252E-4BCD45955640}"/>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102988">
              <a:extLst>
                <a:ext uri="{FF2B5EF4-FFF2-40B4-BE49-F238E27FC236}">
                  <a16:creationId xmlns:a16="http://schemas.microsoft.com/office/drawing/2014/main" id="{84A6553F-E060-24DF-FF49-F8CE4FEE7C2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608776">
              <a:extLst>
                <a:ext uri="{FF2B5EF4-FFF2-40B4-BE49-F238E27FC236}">
                  <a16:creationId xmlns:a16="http://schemas.microsoft.com/office/drawing/2014/main" id="{DBDEBB4D-56DA-ECDA-CB2A-DD06A2BA2FB3}"/>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422032">
              <a:extLst>
                <a:ext uri="{FF2B5EF4-FFF2-40B4-BE49-F238E27FC236}">
                  <a16:creationId xmlns:a16="http://schemas.microsoft.com/office/drawing/2014/main" id="{52E1ABAC-837E-5CB5-ABFF-5C229A01E5A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272150">
              <a:extLst>
                <a:ext uri="{FF2B5EF4-FFF2-40B4-BE49-F238E27FC236}">
                  <a16:creationId xmlns:a16="http://schemas.microsoft.com/office/drawing/2014/main" id="{B4A91DB0-22D9-280C-2CA8-F504120FADA7}"/>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1191551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Projected Revenue Growth</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273579"/>
          </a:xfrm>
          <a:prstGeom prst="rect">
            <a:avLst/>
          </a:prstGeom>
          <a:noFill/>
        </p:spPr>
        <p:txBody>
          <a:bodyPr vert="horz" wrap="square" lIns="36000" tIns="36000" rIns="36000" bIns="36000" rtlCol="0">
            <a:spAutoFit/>
          </a:bodyPr>
          <a:lstStyle/>
          <a:p>
            <a:r>
              <a:rPr lang="en-US" sz="1200"/>
              <a:t>Historical revenue growth is found in the </a:t>
            </a:r>
            <a:r>
              <a:rPr lang="en-US" sz="1200" i="1"/>
              <a:t>Projected Revenue</a:t>
            </a:r>
            <a:r>
              <a:rPr lang="en-US" sz="1200"/>
              <a:t> column of the Summary Table on the </a:t>
            </a:r>
            <a:r>
              <a:rPr lang="en-US" sz="1200" i="1" err="1"/>
              <a:t>Mekko</a:t>
            </a:r>
            <a:r>
              <a:rPr lang="en-US" sz="1200" i="1"/>
              <a:t> Graph Outputs</a:t>
            </a:r>
            <a:r>
              <a:rPr lang="en-US" sz="1200"/>
              <a:t> tab</a:t>
            </a:r>
          </a:p>
          <a:p>
            <a:r>
              <a:rPr lang="en-US" sz="1200"/>
              <a:t>Update the think-cell chart with the projected growth for each company, as well as the Median and Top Q which you should calculate in Excel</a:t>
            </a:r>
          </a:p>
          <a:p>
            <a:r>
              <a:rPr lang="en-US" sz="1200"/>
              <a:t>Determine whether benchmarking is feasible – </a:t>
            </a:r>
            <a:r>
              <a:rPr lang="en-US" sz="1200" i="1"/>
              <a:t>not feasible here as DOF’s growth was due to an acquisition</a:t>
            </a:r>
            <a:endParaRPr lang="en-US" sz="1200"/>
          </a:p>
          <a:p>
            <a:r>
              <a:rPr lang="en-US" sz="1200" b="1"/>
              <a:t>Incremental revenue </a:t>
            </a:r>
            <a:r>
              <a:rPr lang="en-US" sz="1200"/>
              <a:t>calculation proceeds as follows:</a:t>
            </a:r>
          </a:p>
          <a:p>
            <a:pPr lvl="1"/>
            <a:r>
              <a:rPr lang="en-US" sz="1000"/>
              <a:t>Take current period (FY24 in this case) revenue</a:t>
            </a:r>
          </a:p>
          <a:p>
            <a:pPr lvl="1"/>
            <a:r>
              <a:rPr lang="en-US" sz="1000"/>
              <a:t>Grow that revenue by the projected CAGR (4.9%) through CY26*</a:t>
            </a:r>
            <a:endParaRPr lang="en-US" sz="1000" b="1"/>
          </a:p>
          <a:p>
            <a:pPr lvl="1"/>
            <a:r>
              <a:rPr lang="en-US" sz="1000"/>
              <a:t>Calculate the implied CY26 value using the benchmarked growth rate</a:t>
            </a:r>
            <a:endParaRPr lang="en-US" sz="1000" b="1"/>
          </a:p>
          <a:p>
            <a:pPr lvl="1"/>
            <a:r>
              <a:rPr lang="en-US" sz="1000"/>
              <a:t>Difference between implied and projected CY26 values gives incremental revenue</a:t>
            </a:r>
            <a:endParaRPr lang="en-US" sz="1000" b="1"/>
          </a:p>
          <a:p>
            <a:r>
              <a:rPr lang="en-US" sz="1200"/>
              <a:t>For </a:t>
            </a:r>
            <a:r>
              <a:rPr lang="en-US" sz="1200" b="1"/>
              <a:t>incremental EBIT</a:t>
            </a:r>
            <a:r>
              <a:rPr lang="en-US" sz="1200"/>
              <a:t>, multiply the incremental revenue by the full-potential EBIT calculated on the full potential waterfall (slide 61)</a:t>
            </a:r>
            <a:endParaRPr lang="en-US" sz="1200" b="1">
              <a:highlight>
                <a:srgbClr val="FFFF00"/>
              </a:highlight>
            </a:endParaRPr>
          </a:p>
        </p:txBody>
      </p:sp>
      <p:sp>
        <p:nvSpPr>
          <p:cNvPr id="71" name="btfpNotesBox123402">
            <a:extLst>
              <a:ext uri="{FF2B5EF4-FFF2-40B4-BE49-F238E27FC236}">
                <a16:creationId xmlns:a16="http://schemas.microsoft.com/office/drawing/2014/main" id="{ED3A30FE-291D-FED7-87CC-2A383CC39660}"/>
              </a:ext>
            </a:extLst>
          </p:cNvPr>
          <p:cNvSpPr txBox="1"/>
          <p:nvPr>
            <p:custDataLst>
              <p:tags r:id="rId9"/>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*Be sure to calculate the exact time period gap from FY24 to CY26 – in certain cases of a Dec FY end, you could use a gap of two periods; however, some other fiscal years might end at different points</a:t>
            </a:r>
          </a:p>
        </p:txBody>
      </p:sp>
      <p:pic>
        <p:nvPicPr>
          <p:cNvPr id="75" name="Picture 74">
            <a:extLst>
              <a:ext uri="{FF2B5EF4-FFF2-40B4-BE49-F238E27FC236}">
                <a16:creationId xmlns:a16="http://schemas.microsoft.com/office/drawing/2014/main" id="{77897769-8B78-4B28-66C2-73237D522708}"/>
              </a:ext>
            </a:extLst>
          </p:cNvPr>
          <p:cNvPicPr>
            <a:picLocks noChangeAspect="1"/>
          </p:cNvPicPr>
          <p:nvPr/>
        </p:nvPicPr>
        <p:blipFill>
          <a:blip r:embed="rId13"/>
          <a:stretch>
            <a:fillRect/>
          </a:stretch>
        </p:blipFill>
        <p:spPr>
          <a:xfrm>
            <a:off x="1039090" y="5008417"/>
            <a:ext cx="4072567" cy="1218289"/>
          </a:xfrm>
          <a:prstGeom prst="rect">
            <a:avLst/>
          </a:prstGeom>
        </p:spPr>
      </p:pic>
      <p:pic>
        <p:nvPicPr>
          <p:cNvPr id="82" name="Picture 81">
            <a:extLst>
              <a:ext uri="{FF2B5EF4-FFF2-40B4-BE49-F238E27FC236}">
                <a16:creationId xmlns:a16="http://schemas.microsoft.com/office/drawing/2014/main" id="{F55C12EB-D5EB-9582-DDF3-2678D8F22A59}"/>
              </a:ext>
            </a:extLst>
          </p:cNvPr>
          <p:cNvPicPr>
            <a:picLocks noChangeAspect="1"/>
          </p:cNvPicPr>
          <p:nvPr/>
        </p:nvPicPr>
        <p:blipFill>
          <a:blip r:embed="rId14"/>
          <a:stretch>
            <a:fillRect/>
          </a:stretch>
        </p:blipFill>
        <p:spPr>
          <a:xfrm>
            <a:off x="6366272" y="1765904"/>
            <a:ext cx="5490766" cy="2982693"/>
          </a:xfrm>
          <a:prstGeom prst="rect">
            <a:avLst/>
          </a:prstGeom>
        </p:spPr>
      </p:pic>
    </p:spTree>
    <p:custDataLst>
      <p:tags r:id="rId1"/>
    </p:custDataLst>
    <p:extLst>
      <p:ext uri="{BB962C8B-B14F-4D97-AF65-F5344CB8AC3E}">
        <p14:creationId xmlns:p14="http://schemas.microsoft.com/office/powerpoint/2010/main" val="33149284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btfpColumnIndicatorGroup2">
            <a:extLst>
              <a:ext uri="{FF2B5EF4-FFF2-40B4-BE49-F238E27FC236}">
                <a16:creationId xmlns:a16="http://schemas.microsoft.com/office/drawing/2014/main" id="{E69DD3C8-6E40-4828-CE8F-465FE4602B84}"/>
              </a:ext>
            </a:extLst>
          </p:cNvPr>
          <p:cNvGrpSpPr/>
          <p:nvPr/>
        </p:nvGrpSpPr>
        <p:grpSpPr>
          <a:xfrm>
            <a:off x="0" y="6926580"/>
            <a:ext cx="12192000" cy="137160"/>
            <a:chOff x="0" y="6926580"/>
            <a:chExt cx="12192000" cy="137160"/>
          </a:xfrm>
        </p:grpSpPr>
        <p:sp>
          <p:nvSpPr>
            <p:cNvPr id="58" name="btfpColumnGapBlocker178659">
              <a:extLst>
                <a:ext uri="{FF2B5EF4-FFF2-40B4-BE49-F238E27FC236}">
                  <a16:creationId xmlns:a16="http://schemas.microsoft.com/office/drawing/2014/main" id="{AE548C6C-8067-C3FF-9F7B-7304DD1E278E}"/>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6" name="btfpColumnGapBlocker267044">
              <a:extLst>
                <a:ext uri="{FF2B5EF4-FFF2-40B4-BE49-F238E27FC236}">
                  <a16:creationId xmlns:a16="http://schemas.microsoft.com/office/drawing/2014/main" id="{0E678AC0-847A-AB9F-311A-BD9A64CB3223}"/>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4" name="btfpColumnIndicator941058">
              <a:extLst>
                <a:ext uri="{FF2B5EF4-FFF2-40B4-BE49-F238E27FC236}">
                  <a16:creationId xmlns:a16="http://schemas.microsoft.com/office/drawing/2014/main" id="{2FAD4BDE-0E84-BB73-9774-92AA6991D82E}"/>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2" name="btfpColumnIndicator584447">
              <a:extLst>
                <a:ext uri="{FF2B5EF4-FFF2-40B4-BE49-F238E27FC236}">
                  <a16:creationId xmlns:a16="http://schemas.microsoft.com/office/drawing/2014/main" id="{604F6061-53D4-19E6-4E3F-55A83C4B259F}"/>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1" name="btfpColumnGapBlocker645617">
              <a:extLst>
                <a:ext uri="{FF2B5EF4-FFF2-40B4-BE49-F238E27FC236}">
                  <a16:creationId xmlns:a16="http://schemas.microsoft.com/office/drawing/2014/main" id="{0A51E991-329A-1121-CEB2-BE7977B49595}"/>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9" name="btfpColumnIndicator631431">
              <a:extLst>
                <a:ext uri="{FF2B5EF4-FFF2-40B4-BE49-F238E27FC236}">
                  <a16:creationId xmlns:a16="http://schemas.microsoft.com/office/drawing/2014/main" id="{7064D903-7621-3A67-0378-0B9442AAC21E}"/>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7" name="btfpColumnIndicator812678">
              <a:extLst>
                <a:ext uri="{FF2B5EF4-FFF2-40B4-BE49-F238E27FC236}">
                  <a16:creationId xmlns:a16="http://schemas.microsoft.com/office/drawing/2014/main" id="{483B206B-837A-132E-EC44-8E4DE3C82C6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59" name="btfpColumnIndicatorGroup1">
            <a:extLst>
              <a:ext uri="{FF2B5EF4-FFF2-40B4-BE49-F238E27FC236}">
                <a16:creationId xmlns:a16="http://schemas.microsoft.com/office/drawing/2014/main" id="{43ED2316-D814-5A80-5563-1FEFF25E7B04}"/>
              </a:ext>
            </a:extLst>
          </p:cNvPr>
          <p:cNvGrpSpPr/>
          <p:nvPr/>
        </p:nvGrpSpPr>
        <p:grpSpPr>
          <a:xfrm>
            <a:off x="0" y="-205740"/>
            <a:ext cx="12192000" cy="137160"/>
            <a:chOff x="0" y="-205740"/>
            <a:chExt cx="12192000" cy="137160"/>
          </a:xfrm>
        </p:grpSpPr>
        <p:sp>
          <p:nvSpPr>
            <p:cNvPr id="57" name="btfpColumnGapBlocker175436">
              <a:extLst>
                <a:ext uri="{FF2B5EF4-FFF2-40B4-BE49-F238E27FC236}">
                  <a16:creationId xmlns:a16="http://schemas.microsoft.com/office/drawing/2014/main" id="{30C94B3F-D7BD-FE7A-AA33-914739187C39}"/>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5" name="btfpColumnGapBlocker906046">
              <a:extLst>
                <a:ext uri="{FF2B5EF4-FFF2-40B4-BE49-F238E27FC236}">
                  <a16:creationId xmlns:a16="http://schemas.microsoft.com/office/drawing/2014/main" id="{189D1B69-4D8E-5A47-87F2-CD99D5BB61BF}"/>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3" name="btfpColumnIndicator980701">
              <a:extLst>
                <a:ext uri="{FF2B5EF4-FFF2-40B4-BE49-F238E27FC236}">
                  <a16:creationId xmlns:a16="http://schemas.microsoft.com/office/drawing/2014/main" id="{B220898F-7762-16C5-D911-A0E9C0F1E0F8}"/>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5" name="btfpColumnIndicator858890">
              <a:extLst>
                <a:ext uri="{FF2B5EF4-FFF2-40B4-BE49-F238E27FC236}">
                  <a16:creationId xmlns:a16="http://schemas.microsoft.com/office/drawing/2014/main" id="{5263927F-21CB-314B-7C0D-C846D54C7178}"/>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0" name="btfpColumnGapBlocker157603">
              <a:extLst>
                <a:ext uri="{FF2B5EF4-FFF2-40B4-BE49-F238E27FC236}">
                  <a16:creationId xmlns:a16="http://schemas.microsoft.com/office/drawing/2014/main" id="{117A7074-1F1D-87AA-E7B0-1DD50F7273E8}"/>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8" name="btfpColumnIndicator479310">
              <a:extLst>
                <a:ext uri="{FF2B5EF4-FFF2-40B4-BE49-F238E27FC236}">
                  <a16:creationId xmlns:a16="http://schemas.microsoft.com/office/drawing/2014/main" id="{85260533-8812-5636-ED95-A9CC977B3BF3}"/>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6" name="btfpColumnIndicator529221">
              <a:extLst>
                <a:ext uri="{FF2B5EF4-FFF2-40B4-BE49-F238E27FC236}">
                  <a16:creationId xmlns:a16="http://schemas.microsoft.com/office/drawing/2014/main" id="{DDF45114-CB4E-AD56-4544-D3C7CC87B0F9}"/>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31788720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EBIT/DA Margin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950414"/>
          </a:xfrm>
          <a:prstGeom prst="rect">
            <a:avLst/>
          </a:prstGeom>
          <a:noFill/>
        </p:spPr>
        <p:txBody>
          <a:bodyPr vert="horz" wrap="square" lIns="36000" tIns="36000" rIns="36000" bIns="36000" rtlCol="0">
            <a:spAutoFit/>
          </a:bodyPr>
          <a:lstStyle/>
          <a:p>
            <a:r>
              <a:rPr lang="en-US" sz="1200"/>
              <a:t>See the </a:t>
            </a:r>
            <a:r>
              <a:rPr lang="en-US" sz="1200" i="1"/>
              <a:t>EBIT Margin</a:t>
            </a:r>
            <a:r>
              <a:rPr lang="en-US" sz="1200"/>
              <a:t> section on the </a:t>
            </a:r>
            <a:r>
              <a:rPr lang="en-US" sz="1200" i="1" err="1"/>
              <a:t>Mekko</a:t>
            </a:r>
            <a:r>
              <a:rPr lang="en-US" sz="1200" i="1"/>
              <a:t> Graph Outputs</a:t>
            </a:r>
            <a:r>
              <a:rPr lang="en-US" sz="1200"/>
              <a:t> tab</a:t>
            </a:r>
          </a:p>
          <a:p>
            <a:pPr lvl="1"/>
            <a:r>
              <a:rPr lang="en-US" sz="1000"/>
              <a:t>Note that even when the analysis is done at the EBITDA level, the EBIT Margin section is where the output is shown – always be sure to verify this against BCN’s work on the </a:t>
            </a:r>
            <a:r>
              <a:rPr lang="en-US" sz="1000" i="1"/>
              <a:t>Income Statement Revised</a:t>
            </a:r>
            <a:r>
              <a:rPr lang="en-US" sz="1000"/>
              <a:t> tab</a:t>
            </a:r>
          </a:p>
          <a:p>
            <a:r>
              <a:rPr lang="en-US" sz="1200"/>
              <a:t>Update the think-cell chart (incl. Median and Top Q), considering the below:</a:t>
            </a:r>
          </a:p>
          <a:p>
            <a:pPr lvl="1"/>
            <a:r>
              <a:rPr lang="en-US" sz="1000" b="1"/>
              <a:t>Timing:</a:t>
            </a:r>
            <a:r>
              <a:rPr lang="en-US" sz="1000"/>
              <a:t> See the </a:t>
            </a:r>
            <a:r>
              <a:rPr lang="en-US" sz="1000" i="1"/>
              <a:t>Input Form</a:t>
            </a:r>
            <a:r>
              <a:rPr lang="en-US" sz="1000"/>
              <a:t> which shows the end of FY for each company and label LTM accordingly (e.g., MMA Offshore)</a:t>
            </a:r>
          </a:p>
          <a:p>
            <a:pPr lvl="1"/>
            <a:r>
              <a:rPr lang="en-US" sz="1000" b="1"/>
              <a:t>Order:</a:t>
            </a:r>
            <a:r>
              <a:rPr lang="en-US" sz="1000"/>
              <a:t> To show values from “worse to better” sort from low to high based on the latest (FY24 or LTM) values</a:t>
            </a:r>
            <a:endParaRPr lang="en-US" sz="1000" b="1"/>
          </a:p>
          <a:p>
            <a:r>
              <a:rPr lang="en-US" sz="1200"/>
              <a:t>For the savings calculation, consider the feasibility of your recommendation, which could range from Median, Top Q, past performance, etc. </a:t>
            </a:r>
          </a:p>
          <a:p>
            <a:r>
              <a:rPr lang="en-US" sz="1200"/>
              <a:t>Additionally, be sure to sense check any significant trends or outliers and add callouts as needed</a:t>
            </a:r>
          </a:p>
        </p:txBody>
      </p:sp>
      <p:pic>
        <p:nvPicPr>
          <p:cNvPr id="94" name="Picture 93">
            <a:extLst>
              <a:ext uri="{FF2B5EF4-FFF2-40B4-BE49-F238E27FC236}">
                <a16:creationId xmlns:a16="http://schemas.microsoft.com/office/drawing/2014/main" id="{A9C13F75-3FA4-1362-A01D-9262AF4F7733}"/>
              </a:ext>
            </a:extLst>
          </p:cNvPr>
          <p:cNvPicPr>
            <a:picLocks noChangeAspect="1"/>
          </p:cNvPicPr>
          <p:nvPr/>
        </p:nvPicPr>
        <p:blipFill>
          <a:blip r:embed="rId12"/>
          <a:stretch>
            <a:fillRect/>
          </a:stretch>
        </p:blipFill>
        <p:spPr>
          <a:xfrm>
            <a:off x="6366272" y="1715997"/>
            <a:ext cx="5490761" cy="2986280"/>
          </a:xfrm>
          <a:prstGeom prst="rect">
            <a:avLst/>
          </a:prstGeom>
        </p:spPr>
      </p:pic>
      <p:pic>
        <p:nvPicPr>
          <p:cNvPr id="100" name="Picture 99">
            <a:extLst>
              <a:ext uri="{FF2B5EF4-FFF2-40B4-BE49-F238E27FC236}">
                <a16:creationId xmlns:a16="http://schemas.microsoft.com/office/drawing/2014/main" id="{FDAA41B7-602A-F598-1C66-B87D8974B0E9}"/>
              </a:ext>
            </a:extLst>
          </p:cNvPr>
          <p:cNvPicPr>
            <a:picLocks noChangeAspect="1"/>
          </p:cNvPicPr>
          <p:nvPr/>
        </p:nvPicPr>
        <p:blipFill>
          <a:blip r:embed="rId13"/>
          <a:stretch>
            <a:fillRect/>
          </a:stretch>
        </p:blipFill>
        <p:spPr>
          <a:xfrm>
            <a:off x="854109" y="4702277"/>
            <a:ext cx="4659215" cy="1725215"/>
          </a:xfrm>
          <a:prstGeom prst="rect">
            <a:avLst/>
          </a:prstGeom>
        </p:spPr>
      </p:pic>
    </p:spTree>
    <p:custDataLst>
      <p:tags r:id="rId1"/>
    </p:custDataLst>
    <p:extLst>
      <p:ext uri="{BB962C8B-B14F-4D97-AF65-F5344CB8AC3E}">
        <p14:creationId xmlns:p14="http://schemas.microsoft.com/office/powerpoint/2010/main" val="31202314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btfpColumnIndicatorGroup2">
            <a:extLst>
              <a:ext uri="{FF2B5EF4-FFF2-40B4-BE49-F238E27FC236}">
                <a16:creationId xmlns:a16="http://schemas.microsoft.com/office/drawing/2014/main" id="{49A7AA0F-4395-413E-2522-3473956A2646}"/>
              </a:ext>
            </a:extLst>
          </p:cNvPr>
          <p:cNvGrpSpPr/>
          <p:nvPr/>
        </p:nvGrpSpPr>
        <p:grpSpPr>
          <a:xfrm>
            <a:off x="0" y="6926580"/>
            <a:ext cx="12192000" cy="137160"/>
            <a:chOff x="0" y="6926580"/>
            <a:chExt cx="12192000" cy="137160"/>
          </a:xfrm>
        </p:grpSpPr>
        <p:sp>
          <p:nvSpPr>
            <p:cNvPr id="64" name="btfpColumnGapBlocker430139">
              <a:extLst>
                <a:ext uri="{FF2B5EF4-FFF2-40B4-BE49-F238E27FC236}">
                  <a16:creationId xmlns:a16="http://schemas.microsoft.com/office/drawing/2014/main" id="{C7432E7E-977D-2086-1146-203F86508DD7}"/>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2" name="btfpColumnGapBlocker347448">
              <a:extLst>
                <a:ext uri="{FF2B5EF4-FFF2-40B4-BE49-F238E27FC236}">
                  <a16:creationId xmlns:a16="http://schemas.microsoft.com/office/drawing/2014/main" id="{8D071C55-8686-1DD5-5F8C-C2A0ED85C129}"/>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60" name="btfpColumnIndicator314836">
              <a:extLst>
                <a:ext uri="{FF2B5EF4-FFF2-40B4-BE49-F238E27FC236}">
                  <a16:creationId xmlns:a16="http://schemas.microsoft.com/office/drawing/2014/main" id="{06ED2C7D-D544-C526-59A5-85227DA4036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8" name="btfpColumnIndicator874738">
              <a:extLst>
                <a:ext uri="{FF2B5EF4-FFF2-40B4-BE49-F238E27FC236}">
                  <a16:creationId xmlns:a16="http://schemas.microsoft.com/office/drawing/2014/main" id="{4FC73B9D-CBB9-0646-9011-3A8C6E37B5E1}"/>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6" name="btfpColumnGapBlocker439120">
              <a:extLst>
                <a:ext uri="{FF2B5EF4-FFF2-40B4-BE49-F238E27FC236}">
                  <a16:creationId xmlns:a16="http://schemas.microsoft.com/office/drawing/2014/main" id="{7E394793-1448-D2AA-0935-4FD38D061008}"/>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4" name="btfpColumnIndicator210655">
              <a:extLst>
                <a:ext uri="{FF2B5EF4-FFF2-40B4-BE49-F238E27FC236}">
                  <a16:creationId xmlns:a16="http://schemas.microsoft.com/office/drawing/2014/main" id="{6845D60E-167F-5D68-CEC3-519154AA9661}"/>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2" name="btfpColumnIndicator291239">
              <a:extLst>
                <a:ext uri="{FF2B5EF4-FFF2-40B4-BE49-F238E27FC236}">
                  <a16:creationId xmlns:a16="http://schemas.microsoft.com/office/drawing/2014/main" id="{C335B1A5-B9B9-4181-BB6E-362DE5259369}"/>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5" name="btfpColumnIndicatorGroup1">
            <a:extLst>
              <a:ext uri="{FF2B5EF4-FFF2-40B4-BE49-F238E27FC236}">
                <a16:creationId xmlns:a16="http://schemas.microsoft.com/office/drawing/2014/main" id="{F8D55312-22FD-0676-1EE6-FD1CD738AB88}"/>
              </a:ext>
            </a:extLst>
          </p:cNvPr>
          <p:cNvGrpSpPr/>
          <p:nvPr/>
        </p:nvGrpSpPr>
        <p:grpSpPr>
          <a:xfrm>
            <a:off x="0" y="-205740"/>
            <a:ext cx="12192000" cy="137160"/>
            <a:chOff x="0" y="-205740"/>
            <a:chExt cx="12192000" cy="137160"/>
          </a:xfrm>
        </p:grpSpPr>
        <p:sp>
          <p:nvSpPr>
            <p:cNvPr id="63" name="btfpColumnGapBlocker179910">
              <a:extLst>
                <a:ext uri="{FF2B5EF4-FFF2-40B4-BE49-F238E27FC236}">
                  <a16:creationId xmlns:a16="http://schemas.microsoft.com/office/drawing/2014/main" id="{6DFA8172-3805-E20F-5C2D-C5375F609358}"/>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1" name="btfpColumnGapBlocker329272">
              <a:extLst>
                <a:ext uri="{FF2B5EF4-FFF2-40B4-BE49-F238E27FC236}">
                  <a16:creationId xmlns:a16="http://schemas.microsoft.com/office/drawing/2014/main" id="{600447E0-3A7B-2AA7-3AC5-48D4E018D3D9}"/>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9" name="btfpColumnIndicator369320">
              <a:extLst>
                <a:ext uri="{FF2B5EF4-FFF2-40B4-BE49-F238E27FC236}">
                  <a16:creationId xmlns:a16="http://schemas.microsoft.com/office/drawing/2014/main" id="{84C47C98-E38C-D3F0-6CC8-F1B79C897713}"/>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7" name="btfpColumnIndicator591197">
              <a:extLst>
                <a:ext uri="{FF2B5EF4-FFF2-40B4-BE49-F238E27FC236}">
                  <a16:creationId xmlns:a16="http://schemas.microsoft.com/office/drawing/2014/main" id="{0374B9D5-B122-C196-E1B0-DFC489FAD533}"/>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5" name="btfpColumnGapBlocker259208">
              <a:extLst>
                <a:ext uri="{FF2B5EF4-FFF2-40B4-BE49-F238E27FC236}">
                  <a16:creationId xmlns:a16="http://schemas.microsoft.com/office/drawing/2014/main" id="{238C9D59-7720-37D8-642F-760B371B05D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3" name="btfpColumnIndicator420552">
              <a:extLst>
                <a:ext uri="{FF2B5EF4-FFF2-40B4-BE49-F238E27FC236}">
                  <a16:creationId xmlns:a16="http://schemas.microsoft.com/office/drawing/2014/main" id="{BB480A44-D3A7-AAAE-B3BF-BFEB2EE11BA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5" name="btfpColumnIndicator279311">
              <a:extLst>
                <a:ext uri="{FF2B5EF4-FFF2-40B4-BE49-F238E27FC236}">
                  <a16:creationId xmlns:a16="http://schemas.microsoft.com/office/drawing/2014/main" id="{85F64D23-EBA5-8B6D-45A4-35F0B196110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4179369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Gross Margin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581082"/>
          </a:xfrm>
          <a:prstGeom prst="rect">
            <a:avLst/>
          </a:prstGeom>
          <a:noFill/>
        </p:spPr>
        <p:txBody>
          <a:bodyPr vert="horz" wrap="square" lIns="36000" tIns="36000" rIns="36000" bIns="36000" rtlCol="0">
            <a:spAutoFit/>
          </a:bodyPr>
          <a:lstStyle/>
          <a:p>
            <a:r>
              <a:rPr lang="en-US" sz="1200"/>
              <a:t>See the </a:t>
            </a:r>
            <a:r>
              <a:rPr lang="en-US" sz="1200" i="1"/>
              <a:t>Gross Margin</a:t>
            </a:r>
            <a:r>
              <a:rPr lang="en-US" sz="1200"/>
              <a:t> section on the </a:t>
            </a:r>
            <a:r>
              <a:rPr lang="en-US" sz="1200" i="1" err="1"/>
              <a:t>Mekko</a:t>
            </a:r>
            <a:r>
              <a:rPr lang="en-US" sz="1200" i="1"/>
              <a:t> Graph Outputs</a:t>
            </a:r>
            <a:r>
              <a:rPr lang="en-US" sz="1200"/>
              <a:t> tab</a:t>
            </a:r>
          </a:p>
          <a:p>
            <a:r>
              <a:rPr lang="en-US" sz="1200"/>
              <a:t>Update the think-cell chart (incl. Median and Top Q), considering timing and order</a:t>
            </a:r>
            <a:endParaRPr lang="en-US" sz="1200" b="1"/>
          </a:p>
          <a:p>
            <a:r>
              <a:rPr lang="en-US" sz="1200"/>
              <a:t>For the savings calculation, consider the feasibility of your recommendation, which could range from Median, Top Q, past performance, etc.</a:t>
            </a:r>
          </a:p>
          <a:p>
            <a:pPr lvl="1"/>
            <a:r>
              <a:rPr lang="en-US" sz="1000"/>
              <a:t>We chose Top Q given comparability with Sea1 and prior upward trajectory, which implied savings of ~2% margin improvement</a:t>
            </a:r>
          </a:p>
          <a:p>
            <a:r>
              <a:rPr lang="en-US" sz="1200"/>
              <a:t>We </a:t>
            </a:r>
            <a:r>
              <a:rPr lang="en-US" sz="1200" b="1"/>
              <a:t>often dig one level deeper </a:t>
            </a:r>
            <a:r>
              <a:rPr lang="en-US" sz="1200"/>
              <a:t>(e.g., here COGS is split into crew costs and other vessel operating costs) and calculate savings for each – </a:t>
            </a:r>
            <a:r>
              <a:rPr lang="en-US" sz="1200" i="1"/>
              <a:t>these costs can be found on the Income Statement Revised tab as part of the COGS breakdown pulled in by the BCN team</a:t>
            </a:r>
            <a:endParaRPr lang="en-US" sz="1200"/>
          </a:p>
        </p:txBody>
      </p:sp>
      <p:pic>
        <p:nvPicPr>
          <p:cNvPr id="75" name="Picture 74">
            <a:extLst>
              <a:ext uri="{FF2B5EF4-FFF2-40B4-BE49-F238E27FC236}">
                <a16:creationId xmlns:a16="http://schemas.microsoft.com/office/drawing/2014/main" id="{BB591B0D-AAFB-2A7D-DB23-6CC0374BD4AB}"/>
              </a:ext>
            </a:extLst>
          </p:cNvPr>
          <p:cNvPicPr>
            <a:picLocks noChangeAspect="1"/>
          </p:cNvPicPr>
          <p:nvPr/>
        </p:nvPicPr>
        <p:blipFill>
          <a:blip r:embed="rId12"/>
          <a:stretch>
            <a:fillRect/>
          </a:stretch>
        </p:blipFill>
        <p:spPr>
          <a:xfrm>
            <a:off x="558165" y="4424078"/>
            <a:ext cx="5039596" cy="1895130"/>
          </a:xfrm>
          <a:prstGeom prst="rect">
            <a:avLst/>
          </a:prstGeom>
        </p:spPr>
      </p:pic>
      <p:pic>
        <p:nvPicPr>
          <p:cNvPr id="85" name="Picture 84">
            <a:extLst>
              <a:ext uri="{FF2B5EF4-FFF2-40B4-BE49-F238E27FC236}">
                <a16:creationId xmlns:a16="http://schemas.microsoft.com/office/drawing/2014/main" id="{51F1C1B9-F4E8-0E9A-CD90-28EC430AC5C6}"/>
              </a:ext>
            </a:extLst>
          </p:cNvPr>
          <p:cNvPicPr>
            <a:picLocks noChangeAspect="1"/>
          </p:cNvPicPr>
          <p:nvPr/>
        </p:nvPicPr>
        <p:blipFill>
          <a:blip r:embed="rId13"/>
          <a:stretch>
            <a:fillRect/>
          </a:stretch>
        </p:blipFill>
        <p:spPr>
          <a:xfrm>
            <a:off x="6366271" y="1672799"/>
            <a:ext cx="5039595" cy="2513775"/>
          </a:xfrm>
          <a:prstGeom prst="rect">
            <a:avLst/>
          </a:prstGeom>
        </p:spPr>
      </p:pic>
      <p:pic>
        <p:nvPicPr>
          <p:cNvPr id="91" name="Picture 90">
            <a:extLst>
              <a:ext uri="{FF2B5EF4-FFF2-40B4-BE49-F238E27FC236}">
                <a16:creationId xmlns:a16="http://schemas.microsoft.com/office/drawing/2014/main" id="{3E13787C-3DA4-A364-D43E-C9B9D0B79A29}"/>
              </a:ext>
            </a:extLst>
          </p:cNvPr>
          <p:cNvPicPr>
            <a:picLocks noChangeAspect="1"/>
          </p:cNvPicPr>
          <p:nvPr/>
        </p:nvPicPr>
        <p:blipFill>
          <a:blip r:embed="rId14"/>
          <a:stretch>
            <a:fillRect/>
          </a:stretch>
        </p:blipFill>
        <p:spPr>
          <a:xfrm>
            <a:off x="7714037" y="4276340"/>
            <a:ext cx="4143001" cy="2249623"/>
          </a:xfrm>
          <a:prstGeom prst="rect">
            <a:avLst/>
          </a:prstGeom>
        </p:spPr>
      </p:pic>
    </p:spTree>
    <p:custDataLst>
      <p:tags r:id="rId1"/>
    </p:custDataLst>
    <p:extLst>
      <p:ext uri="{BB962C8B-B14F-4D97-AF65-F5344CB8AC3E}">
        <p14:creationId xmlns:p14="http://schemas.microsoft.com/office/powerpoint/2010/main" val="34273691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2023403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SG&amp;A (% of revenue)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673141"/>
          </a:xfrm>
          <a:prstGeom prst="rect">
            <a:avLst/>
          </a:prstGeom>
          <a:noFill/>
        </p:spPr>
        <p:txBody>
          <a:bodyPr vert="horz" wrap="square" lIns="36000" tIns="36000" rIns="36000" bIns="36000" rtlCol="0">
            <a:spAutoFit/>
          </a:bodyPr>
          <a:lstStyle/>
          <a:p>
            <a:r>
              <a:rPr lang="en-US" sz="1200"/>
              <a:t>See the </a:t>
            </a:r>
            <a:r>
              <a:rPr lang="en-US" sz="1200" i="1"/>
              <a:t>SG&amp;A, Selling &amp; Marketing, and G&amp;A </a:t>
            </a:r>
            <a:r>
              <a:rPr lang="en-US" sz="1200"/>
              <a:t>sections on the </a:t>
            </a:r>
            <a:r>
              <a:rPr lang="en-US" sz="1200" i="1" err="1"/>
              <a:t>Mekko</a:t>
            </a:r>
            <a:r>
              <a:rPr lang="en-US" sz="1200" i="1"/>
              <a:t> Graph Outputs</a:t>
            </a:r>
            <a:r>
              <a:rPr lang="en-US" sz="1200"/>
              <a:t> Tab</a:t>
            </a:r>
          </a:p>
          <a:p>
            <a:r>
              <a:rPr lang="en-US" sz="1200"/>
              <a:t>We often start with top-down SG&amp;A and </a:t>
            </a:r>
            <a:r>
              <a:rPr lang="en-US" sz="1200" b="1"/>
              <a:t>might add a detailed split </a:t>
            </a:r>
            <a:r>
              <a:rPr lang="en-US" sz="1200"/>
              <a:t>(e.g., advertising vs. other SG&amp;A) where relevant</a:t>
            </a:r>
          </a:p>
          <a:p>
            <a:r>
              <a:rPr lang="en-US" sz="1200"/>
              <a:t>In this case, the more detailed cost split was at the COGS level, so we instead did a top-down benchmarking to Top Q, which would imply ~10% of cost base savings</a:t>
            </a:r>
          </a:p>
        </p:txBody>
      </p:sp>
      <p:pic>
        <p:nvPicPr>
          <p:cNvPr id="40" name="Picture 39">
            <a:extLst>
              <a:ext uri="{FF2B5EF4-FFF2-40B4-BE49-F238E27FC236}">
                <a16:creationId xmlns:a16="http://schemas.microsoft.com/office/drawing/2014/main" id="{7B603132-2A00-5B59-1D11-664E927EB93E}"/>
              </a:ext>
            </a:extLst>
          </p:cNvPr>
          <p:cNvPicPr>
            <a:picLocks noChangeAspect="1"/>
          </p:cNvPicPr>
          <p:nvPr/>
        </p:nvPicPr>
        <p:blipFill>
          <a:blip r:embed="rId12"/>
          <a:stretch>
            <a:fillRect/>
          </a:stretch>
        </p:blipFill>
        <p:spPr>
          <a:xfrm>
            <a:off x="6366271" y="1782038"/>
            <a:ext cx="5490766" cy="2923768"/>
          </a:xfrm>
          <a:prstGeom prst="rect">
            <a:avLst/>
          </a:prstGeom>
        </p:spPr>
      </p:pic>
      <p:pic>
        <p:nvPicPr>
          <p:cNvPr id="53" name="Picture 52">
            <a:extLst>
              <a:ext uri="{FF2B5EF4-FFF2-40B4-BE49-F238E27FC236}">
                <a16:creationId xmlns:a16="http://schemas.microsoft.com/office/drawing/2014/main" id="{AFED130F-3725-4703-B39D-6F41AE3CB613}"/>
              </a:ext>
            </a:extLst>
          </p:cNvPr>
          <p:cNvPicPr>
            <a:picLocks noChangeAspect="1"/>
          </p:cNvPicPr>
          <p:nvPr/>
        </p:nvPicPr>
        <p:blipFill>
          <a:blip r:embed="rId13"/>
          <a:stretch>
            <a:fillRect/>
          </a:stretch>
        </p:blipFill>
        <p:spPr>
          <a:xfrm>
            <a:off x="334963" y="3386988"/>
            <a:ext cx="5394447" cy="2135163"/>
          </a:xfrm>
          <a:prstGeom prst="rect">
            <a:avLst/>
          </a:prstGeom>
        </p:spPr>
      </p:pic>
    </p:spTree>
    <p:custDataLst>
      <p:tags r:id="rId1"/>
    </p:custDataLst>
    <p:extLst>
      <p:ext uri="{BB962C8B-B14F-4D97-AF65-F5344CB8AC3E}">
        <p14:creationId xmlns:p14="http://schemas.microsoft.com/office/powerpoint/2010/main" val="2247677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23414428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606" imgH="608" progId="TCLayout.ActiveDocument.1">
                  <p:embed/>
                </p:oleObj>
              </mc:Choice>
              <mc:Fallback>
                <p:oleObj name="think-cell Slide" r:id="rId11"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SG&amp;A Breakdown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950140"/>
          </a:xfrm>
          <a:prstGeom prst="rect">
            <a:avLst/>
          </a:prstGeom>
          <a:noFill/>
        </p:spPr>
        <p:txBody>
          <a:bodyPr vert="horz" wrap="square" lIns="36000" tIns="36000" rIns="36000" bIns="36000" rtlCol="0">
            <a:spAutoFit/>
          </a:bodyPr>
          <a:lstStyle/>
          <a:p>
            <a:r>
              <a:rPr lang="en-US" sz="1200"/>
              <a:t>See the </a:t>
            </a:r>
            <a:r>
              <a:rPr lang="en-US" sz="1200" i="1"/>
              <a:t>Selling &amp; Marketing</a:t>
            </a:r>
            <a:r>
              <a:rPr lang="en-US" sz="1200"/>
              <a:t> and </a:t>
            </a:r>
            <a:r>
              <a:rPr lang="en-US" sz="1200" i="1"/>
              <a:t>G&amp;A </a:t>
            </a:r>
            <a:r>
              <a:rPr lang="en-US" sz="1200"/>
              <a:t>sections on the </a:t>
            </a:r>
            <a:r>
              <a:rPr lang="en-US" sz="1200" i="1" err="1"/>
              <a:t>Mekko</a:t>
            </a:r>
            <a:r>
              <a:rPr lang="en-US" sz="1200" i="1"/>
              <a:t> Graph Outputs</a:t>
            </a:r>
            <a:r>
              <a:rPr lang="en-US" sz="1200"/>
              <a:t> Tab</a:t>
            </a:r>
          </a:p>
          <a:p>
            <a:r>
              <a:rPr lang="en-US" sz="1200"/>
              <a:t>We’ll often show a </a:t>
            </a:r>
            <a:r>
              <a:rPr lang="en-US" sz="1200" b="1"/>
              <a:t>detailed breakdown of SG&amp;A</a:t>
            </a:r>
            <a:r>
              <a:rPr lang="en-US" sz="1200"/>
              <a:t> oriented around these two primary cost buckets, as shown in this example for Electronic Arts:</a:t>
            </a:r>
          </a:p>
          <a:p>
            <a:pPr lvl="1"/>
            <a:r>
              <a:rPr lang="en-US" sz="1000"/>
              <a:t>Selling &amp; marketing (S&amp;M)</a:t>
            </a:r>
          </a:p>
          <a:p>
            <a:pPr lvl="1"/>
            <a:r>
              <a:rPr lang="en-US" sz="1000"/>
              <a:t>General &amp; administrative (G&amp;A)</a:t>
            </a:r>
          </a:p>
          <a:p>
            <a:r>
              <a:rPr lang="en-US" sz="1200"/>
              <a:t>As a </a:t>
            </a:r>
            <a:r>
              <a:rPr lang="en-US" sz="1200" b="1"/>
              <a:t>ZD check</a:t>
            </a:r>
            <a:r>
              <a:rPr lang="en-US" sz="1200"/>
              <a:t>, it’s helpful to ensure that the broken-down SG&amp;A spend you show sums to the overall SG&amp;A value</a:t>
            </a:r>
          </a:p>
        </p:txBody>
      </p:sp>
      <p:sp>
        <p:nvSpPr>
          <p:cNvPr id="27" name="btfpNotesBox928118">
            <a:extLst>
              <a:ext uri="{FF2B5EF4-FFF2-40B4-BE49-F238E27FC236}">
                <a16:creationId xmlns:a16="http://schemas.microsoft.com/office/drawing/2014/main" id="{648A8BF0-C790-6D48-6E3E-38BD71A94FCA}"/>
              </a:ext>
            </a:extLst>
          </p:cNvPr>
          <p:cNvSpPr txBox="1"/>
          <p:nvPr>
            <p:custDataLst>
              <p:tags r:id="rId9"/>
            </p:custDataLst>
          </p:nvPr>
        </p:nvSpPr>
        <p:spPr bwMode="gray">
          <a:xfrm>
            <a:off x="330199" y="6442789"/>
            <a:ext cx="11531600" cy="123111"/>
          </a:xfrm>
          <a:prstGeom prst="rect">
            <a:avLst/>
          </a:prstGeom>
          <a:noFill/>
        </p:spPr>
        <p:txBody>
          <a:bodyPr vert="horz" wrap="square" lIns="0" tIns="0" rIns="0" bIns="0" rtlCol="0" anchor="b">
            <a:spAutoFit/>
          </a:bodyPr>
          <a:lstStyle/>
          <a:p>
            <a:pPr marL="0" indent="0">
              <a:spcBef>
                <a:spcPts val="0"/>
              </a:spcBef>
              <a:buNone/>
            </a:pPr>
            <a:r>
              <a:rPr lang="en-US" sz="800">
                <a:solidFill>
                  <a:srgbClr val="000000"/>
                </a:solidFill>
              </a:rPr>
              <a:t>Note: This SG&amp;A breakdown varies by company and sector – see the adjustment summary for a detailed breakdown of the key line items.</a:t>
            </a:r>
          </a:p>
        </p:txBody>
      </p:sp>
      <p:pic>
        <p:nvPicPr>
          <p:cNvPr id="20" name="Picture 19">
            <a:extLst>
              <a:ext uri="{FF2B5EF4-FFF2-40B4-BE49-F238E27FC236}">
                <a16:creationId xmlns:a16="http://schemas.microsoft.com/office/drawing/2014/main" id="{A0923415-B005-5678-3184-0F1E90B917EE}"/>
              </a:ext>
            </a:extLst>
          </p:cNvPr>
          <p:cNvPicPr>
            <a:picLocks noChangeAspect="1"/>
          </p:cNvPicPr>
          <p:nvPr/>
        </p:nvPicPr>
        <p:blipFill>
          <a:blip r:embed="rId13"/>
          <a:stretch>
            <a:fillRect/>
          </a:stretch>
        </p:blipFill>
        <p:spPr>
          <a:xfrm>
            <a:off x="6366273" y="2050967"/>
            <a:ext cx="5490766" cy="3005595"/>
          </a:xfrm>
          <a:prstGeom prst="rect">
            <a:avLst/>
          </a:prstGeom>
        </p:spPr>
      </p:pic>
      <p:pic>
        <p:nvPicPr>
          <p:cNvPr id="25" name="Picture 24">
            <a:extLst>
              <a:ext uri="{FF2B5EF4-FFF2-40B4-BE49-F238E27FC236}">
                <a16:creationId xmlns:a16="http://schemas.microsoft.com/office/drawing/2014/main" id="{6EE04BAB-1665-808F-C391-04B8ECCFA8E5}"/>
              </a:ext>
            </a:extLst>
          </p:cNvPr>
          <p:cNvPicPr>
            <a:picLocks noChangeAspect="1"/>
          </p:cNvPicPr>
          <p:nvPr/>
        </p:nvPicPr>
        <p:blipFill>
          <a:blip r:embed="rId14"/>
          <a:stretch>
            <a:fillRect/>
          </a:stretch>
        </p:blipFill>
        <p:spPr>
          <a:xfrm>
            <a:off x="165100" y="3684394"/>
            <a:ext cx="5346699" cy="1881450"/>
          </a:xfrm>
          <a:prstGeom prst="rect">
            <a:avLst/>
          </a:prstGeom>
        </p:spPr>
      </p:pic>
      <p:pic>
        <p:nvPicPr>
          <p:cNvPr id="38" name="Picture 37">
            <a:extLst>
              <a:ext uri="{FF2B5EF4-FFF2-40B4-BE49-F238E27FC236}">
                <a16:creationId xmlns:a16="http://schemas.microsoft.com/office/drawing/2014/main" id="{936C54C6-973B-F95D-F805-0866AA74C836}"/>
              </a:ext>
            </a:extLst>
          </p:cNvPr>
          <p:cNvPicPr>
            <a:picLocks noChangeAspect="1"/>
          </p:cNvPicPr>
          <p:nvPr/>
        </p:nvPicPr>
        <p:blipFill>
          <a:blip r:embed="rId15"/>
          <a:stretch>
            <a:fillRect/>
          </a:stretch>
        </p:blipFill>
        <p:spPr>
          <a:xfrm>
            <a:off x="739914" y="4403584"/>
            <a:ext cx="5085813" cy="1382351"/>
          </a:xfrm>
          <a:prstGeom prst="rect">
            <a:avLst/>
          </a:prstGeom>
        </p:spPr>
      </p:pic>
    </p:spTree>
    <p:custDataLst>
      <p:tags r:id="rId1"/>
    </p:custDataLst>
    <p:extLst>
      <p:ext uri="{BB962C8B-B14F-4D97-AF65-F5344CB8AC3E}">
        <p14:creationId xmlns:p14="http://schemas.microsoft.com/office/powerpoint/2010/main" val="31978623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btfpColumnIndicatorGroup2">
            <a:extLst>
              <a:ext uri="{FF2B5EF4-FFF2-40B4-BE49-F238E27FC236}">
                <a16:creationId xmlns:a16="http://schemas.microsoft.com/office/drawing/2014/main" id="{09C46646-C60B-281F-74C9-27C88F4BBDE0}"/>
              </a:ext>
            </a:extLst>
          </p:cNvPr>
          <p:cNvGrpSpPr/>
          <p:nvPr/>
        </p:nvGrpSpPr>
        <p:grpSpPr>
          <a:xfrm>
            <a:off x="0" y="6926580"/>
            <a:ext cx="12192000" cy="137160"/>
            <a:chOff x="0" y="6926580"/>
            <a:chExt cx="12192000" cy="137160"/>
          </a:xfrm>
        </p:grpSpPr>
        <p:sp>
          <p:nvSpPr>
            <p:cNvPr id="61" name="btfpColumnGapBlocker398149">
              <a:extLst>
                <a:ext uri="{FF2B5EF4-FFF2-40B4-BE49-F238E27FC236}">
                  <a16:creationId xmlns:a16="http://schemas.microsoft.com/office/drawing/2014/main" id="{8CD8D14B-31C0-E401-45E8-FDA901D743D8}"/>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962755">
              <a:extLst>
                <a:ext uri="{FF2B5EF4-FFF2-40B4-BE49-F238E27FC236}">
                  <a16:creationId xmlns:a16="http://schemas.microsoft.com/office/drawing/2014/main" id="{5AD11AA8-FEAD-875B-9A8F-8BDFBA8D6D0A}"/>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737688">
              <a:extLst>
                <a:ext uri="{FF2B5EF4-FFF2-40B4-BE49-F238E27FC236}">
                  <a16:creationId xmlns:a16="http://schemas.microsoft.com/office/drawing/2014/main" id="{A5BBC848-FD5E-F654-AFC3-626D14D1F62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489922">
              <a:extLst>
                <a:ext uri="{FF2B5EF4-FFF2-40B4-BE49-F238E27FC236}">
                  <a16:creationId xmlns:a16="http://schemas.microsoft.com/office/drawing/2014/main" id="{DEFADF03-8744-DC70-D2F0-53688810E350}"/>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209719">
              <a:extLst>
                <a:ext uri="{FF2B5EF4-FFF2-40B4-BE49-F238E27FC236}">
                  <a16:creationId xmlns:a16="http://schemas.microsoft.com/office/drawing/2014/main" id="{05A92EE1-53EF-D237-F00D-9D36C71CC9F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537271">
              <a:extLst>
                <a:ext uri="{FF2B5EF4-FFF2-40B4-BE49-F238E27FC236}">
                  <a16:creationId xmlns:a16="http://schemas.microsoft.com/office/drawing/2014/main" id="{FB26F770-B733-B9FB-55B5-037307D32E66}"/>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125614">
              <a:extLst>
                <a:ext uri="{FF2B5EF4-FFF2-40B4-BE49-F238E27FC236}">
                  <a16:creationId xmlns:a16="http://schemas.microsoft.com/office/drawing/2014/main" id="{B9604CCF-AD3F-9655-74B1-061EC448551E}"/>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2" name="btfpColumnIndicatorGroup1">
            <a:extLst>
              <a:ext uri="{FF2B5EF4-FFF2-40B4-BE49-F238E27FC236}">
                <a16:creationId xmlns:a16="http://schemas.microsoft.com/office/drawing/2014/main" id="{99DE37D9-909D-9E38-DF94-FAE9CC3609AE}"/>
              </a:ext>
            </a:extLst>
          </p:cNvPr>
          <p:cNvGrpSpPr/>
          <p:nvPr/>
        </p:nvGrpSpPr>
        <p:grpSpPr>
          <a:xfrm>
            <a:off x="0" y="-205740"/>
            <a:ext cx="12192000" cy="137160"/>
            <a:chOff x="0" y="-205740"/>
            <a:chExt cx="12192000" cy="137160"/>
          </a:xfrm>
        </p:grpSpPr>
        <p:sp>
          <p:nvSpPr>
            <p:cNvPr id="60" name="btfpColumnGapBlocker771083">
              <a:extLst>
                <a:ext uri="{FF2B5EF4-FFF2-40B4-BE49-F238E27FC236}">
                  <a16:creationId xmlns:a16="http://schemas.microsoft.com/office/drawing/2014/main" id="{50276EA8-7E10-BC8A-C413-C40CE527FE4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525436">
              <a:extLst>
                <a:ext uri="{FF2B5EF4-FFF2-40B4-BE49-F238E27FC236}">
                  <a16:creationId xmlns:a16="http://schemas.microsoft.com/office/drawing/2014/main" id="{C3C4AD68-6F39-9177-575D-47074A58B6E0}"/>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124763">
              <a:extLst>
                <a:ext uri="{FF2B5EF4-FFF2-40B4-BE49-F238E27FC236}">
                  <a16:creationId xmlns:a16="http://schemas.microsoft.com/office/drawing/2014/main" id="{4A91D639-406B-9EA9-C755-32763A87A81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245658">
              <a:extLst>
                <a:ext uri="{FF2B5EF4-FFF2-40B4-BE49-F238E27FC236}">
                  <a16:creationId xmlns:a16="http://schemas.microsoft.com/office/drawing/2014/main" id="{F68D4F91-C4B7-5E21-32DE-99B1BD676C0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834482">
              <a:extLst>
                <a:ext uri="{FF2B5EF4-FFF2-40B4-BE49-F238E27FC236}">
                  <a16:creationId xmlns:a16="http://schemas.microsoft.com/office/drawing/2014/main" id="{64AFCC27-0358-C5CD-F605-2C422E83966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635751">
              <a:extLst>
                <a:ext uri="{FF2B5EF4-FFF2-40B4-BE49-F238E27FC236}">
                  <a16:creationId xmlns:a16="http://schemas.microsoft.com/office/drawing/2014/main" id="{8B319189-AA66-8D8E-25A8-F566D1526F0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567648">
              <a:extLst>
                <a:ext uri="{FF2B5EF4-FFF2-40B4-BE49-F238E27FC236}">
                  <a16:creationId xmlns:a16="http://schemas.microsoft.com/office/drawing/2014/main" id="{A545B42A-33FB-4C2D-D57E-124E197C569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4245690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R&amp;D</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088913"/>
          </a:xfrm>
          <a:prstGeom prst="rect">
            <a:avLst/>
          </a:prstGeom>
          <a:noFill/>
        </p:spPr>
        <p:txBody>
          <a:bodyPr vert="horz" wrap="square" lIns="36000" tIns="36000" rIns="36000" bIns="36000" rtlCol="0">
            <a:spAutoFit/>
          </a:bodyPr>
          <a:lstStyle/>
          <a:p>
            <a:r>
              <a:rPr lang="en-US" sz="1200"/>
              <a:t>See the </a:t>
            </a:r>
            <a:r>
              <a:rPr lang="en-US" sz="1200" i="1"/>
              <a:t>R&amp;D </a:t>
            </a:r>
            <a:r>
              <a:rPr lang="en-US" sz="1200"/>
              <a:t>section on the </a:t>
            </a:r>
            <a:r>
              <a:rPr lang="en-US" sz="1200" i="1" err="1"/>
              <a:t>Mekko</a:t>
            </a:r>
            <a:r>
              <a:rPr lang="en-US" sz="1200" i="1"/>
              <a:t> Graph Outputs</a:t>
            </a:r>
            <a:r>
              <a:rPr lang="en-US" sz="1200"/>
              <a:t> tab</a:t>
            </a:r>
          </a:p>
          <a:p>
            <a:r>
              <a:rPr lang="en-US" sz="1200"/>
              <a:t>Savings is more nuanced for R&amp;D than many other cost items as lower cost is </a:t>
            </a:r>
            <a:r>
              <a:rPr lang="en-US" sz="1200" b="1"/>
              <a:t>not necessarily </a:t>
            </a:r>
            <a:r>
              <a:rPr lang="en-US" sz="1200"/>
              <a:t>an indicator of better performance, therefore the </a:t>
            </a:r>
            <a:r>
              <a:rPr lang="en-US" sz="1200" b="1"/>
              <a:t>BPS change data row is color gray </a:t>
            </a:r>
            <a:r>
              <a:rPr lang="en-US" sz="1200"/>
              <a:t>regardless of whether it is positive or negative</a:t>
            </a:r>
          </a:p>
          <a:p>
            <a:r>
              <a:rPr lang="en-US" sz="1200"/>
              <a:t>If you decide to include R&amp;D benchmarking, it is </a:t>
            </a:r>
            <a:r>
              <a:rPr lang="en-US" sz="1200" b="1"/>
              <a:t>best practice to include the R&amp;D correlation with Gross Margin slide </a:t>
            </a:r>
            <a:r>
              <a:rPr lang="en-US" sz="1200"/>
              <a:t>to demonstrate how effectively the R&amp;D spend translates into profitability (see S69)</a:t>
            </a:r>
          </a:p>
          <a:p>
            <a:r>
              <a:rPr lang="en-US" sz="1200"/>
              <a:t>For the right-hand side SLB example, we did not recommend savings and instead included the theoretical savings to median as a callout given low correlation with gross margin</a:t>
            </a:r>
          </a:p>
          <a:p>
            <a:r>
              <a:rPr lang="en-US" sz="1200"/>
              <a:t>As with other cost items, be sure to sense check and add any relevant callouts</a:t>
            </a:r>
          </a:p>
        </p:txBody>
      </p:sp>
      <p:pic>
        <p:nvPicPr>
          <p:cNvPr id="28" name="Picture 27">
            <a:extLst>
              <a:ext uri="{FF2B5EF4-FFF2-40B4-BE49-F238E27FC236}">
                <a16:creationId xmlns:a16="http://schemas.microsoft.com/office/drawing/2014/main" id="{76176ABA-E635-0EE4-C26E-189F0C117874}"/>
              </a:ext>
            </a:extLst>
          </p:cNvPr>
          <p:cNvPicPr>
            <a:picLocks noChangeAspect="1"/>
          </p:cNvPicPr>
          <p:nvPr/>
        </p:nvPicPr>
        <p:blipFill>
          <a:blip r:embed="rId12"/>
          <a:stretch>
            <a:fillRect/>
          </a:stretch>
        </p:blipFill>
        <p:spPr>
          <a:xfrm>
            <a:off x="6560635" y="1823207"/>
            <a:ext cx="5001445" cy="2702620"/>
          </a:xfrm>
          <a:prstGeom prst="rect">
            <a:avLst/>
          </a:prstGeom>
        </p:spPr>
      </p:pic>
      <p:pic>
        <p:nvPicPr>
          <p:cNvPr id="37" name="Picture 36">
            <a:extLst>
              <a:ext uri="{FF2B5EF4-FFF2-40B4-BE49-F238E27FC236}">
                <a16:creationId xmlns:a16="http://schemas.microsoft.com/office/drawing/2014/main" id="{A6AD7CC6-CEDD-F284-7BB0-C33390413B73}"/>
              </a:ext>
            </a:extLst>
          </p:cNvPr>
          <p:cNvPicPr>
            <a:picLocks noChangeAspect="1"/>
          </p:cNvPicPr>
          <p:nvPr/>
        </p:nvPicPr>
        <p:blipFill>
          <a:blip r:embed="rId13"/>
          <a:srcRect r="20837"/>
          <a:stretch/>
        </p:blipFill>
        <p:spPr>
          <a:xfrm>
            <a:off x="573240" y="4804910"/>
            <a:ext cx="5009445" cy="1539244"/>
          </a:xfrm>
          <a:prstGeom prst="rect">
            <a:avLst/>
          </a:prstGeom>
        </p:spPr>
      </p:pic>
    </p:spTree>
    <p:custDataLst>
      <p:tags r:id="rId1"/>
    </p:custDataLst>
    <p:extLst>
      <p:ext uri="{BB962C8B-B14F-4D97-AF65-F5344CB8AC3E}">
        <p14:creationId xmlns:p14="http://schemas.microsoft.com/office/powerpoint/2010/main" val="2646107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btfpColumnIndicatorGroup2">
            <a:extLst>
              <a:ext uri="{FF2B5EF4-FFF2-40B4-BE49-F238E27FC236}">
                <a16:creationId xmlns:a16="http://schemas.microsoft.com/office/drawing/2014/main" id="{09C46646-C60B-281F-74C9-27C88F4BBDE0}"/>
              </a:ext>
            </a:extLst>
          </p:cNvPr>
          <p:cNvGrpSpPr/>
          <p:nvPr/>
        </p:nvGrpSpPr>
        <p:grpSpPr>
          <a:xfrm>
            <a:off x="0" y="6926580"/>
            <a:ext cx="12192000" cy="137160"/>
            <a:chOff x="0" y="6926580"/>
            <a:chExt cx="12192000" cy="137160"/>
          </a:xfrm>
        </p:grpSpPr>
        <p:sp>
          <p:nvSpPr>
            <p:cNvPr id="61" name="btfpColumnGapBlocker398149">
              <a:extLst>
                <a:ext uri="{FF2B5EF4-FFF2-40B4-BE49-F238E27FC236}">
                  <a16:creationId xmlns:a16="http://schemas.microsoft.com/office/drawing/2014/main" id="{8CD8D14B-31C0-E401-45E8-FDA901D743D8}"/>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962755">
              <a:extLst>
                <a:ext uri="{FF2B5EF4-FFF2-40B4-BE49-F238E27FC236}">
                  <a16:creationId xmlns:a16="http://schemas.microsoft.com/office/drawing/2014/main" id="{5AD11AA8-FEAD-875B-9A8F-8BDFBA8D6D0A}"/>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737688">
              <a:extLst>
                <a:ext uri="{FF2B5EF4-FFF2-40B4-BE49-F238E27FC236}">
                  <a16:creationId xmlns:a16="http://schemas.microsoft.com/office/drawing/2014/main" id="{A5BBC848-FD5E-F654-AFC3-626D14D1F62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489922">
              <a:extLst>
                <a:ext uri="{FF2B5EF4-FFF2-40B4-BE49-F238E27FC236}">
                  <a16:creationId xmlns:a16="http://schemas.microsoft.com/office/drawing/2014/main" id="{DEFADF03-8744-DC70-D2F0-53688810E350}"/>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209719">
              <a:extLst>
                <a:ext uri="{FF2B5EF4-FFF2-40B4-BE49-F238E27FC236}">
                  <a16:creationId xmlns:a16="http://schemas.microsoft.com/office/drawing/2014/main" id="{05A92EE1-53EF-D237-F00D-9D36C71CC9F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537271">
              <a:extLst>
                <a:ext uri="{FF2B5EF4-FFF2-40B4-BE49-F238E27FC236}">
                  <a16:creationId xmlns:a16="http://schemas.microsoft.com/office/drawing/2014/main" id="{FB26F770-B733-B9FB-55B5-037307D32E66}"/>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125614">
              <a:extLst>
                <a:ext uri="{FF2B5EF4-FFF2-40B4-BE49-F238E27FC236}">
                  <a16:creationId xmlns:a16="http://schemas.microsoft.com/office/drawing/2014/main" id="{B9604CCF-AD3F-9655-74B1-061EC448551E}"/>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2" name="btfpColumnIndicatorGroup1">
            <a:extLst>
              <a:ext uri="{FF2B5EF4-FFF2-40B4-BE49-F238E27FC236}">
                <a16:creationId xmlns:a16="http://schemas.microsoft.com/office/drawing/2014/main" id="{99DE37D9-909D-9E38-DF94-FAE9CC3609AE}"/>
              </a:ext>
            </a:extLst>
          </p:cNvPr>
          <p:cNvGrpSpPr/>
          <p:nvPr/>
        </p:nvGrpSpPr>
        <p:grpSpPr>
          <a:xfrm>
            <a:off x="0" y="-205740"/>
            <a:ext cx="12192000" cy="137160"/>
            <a:chOff x="0" y="-205740"/>
            <a:chExt cx="12192000" cy="137160"/>
          </a:xfrm>
        </p:grpSpPr>
        <p:sp>
          <p:nvSpPr>
            <p:cNvPr id="60" name="btfpColumnGapBlocker771083">
              <a:extLst>
                <a:ext uri="{FF2B5EF4-FFF2-40B4-BE49-F238E27FC236}">
                  <a16:creationId xmlns:a16="http://schemas.microsoft.com/office/drawing/2014/main" id="{50276EA8-7E10-BC8A-C413-C40CE527FE4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525436">
              <a:extLst>
                <a:ext uri="{FF2B5EF4-FFF2-40B4-BE49-F238E27FC236}">
                  <a16:creationId xmlns:a16="http://schemas.microsoft.com/office/drawing/2014/main" id="{C3C4AD68-6F39-9177-575D-47074A58B6E0}"/>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124763">
              <a:extLst>
                <a:ext uri="{FF2B5EF4-FFF2-40B4-BE49-F238E27FC236}">
                  <a16:creationId xmlns:a16="http://schemas.microsoft.com/office/drawing/2014/main" id="{4A91D639-406B-9EA9-C755-32763A87A81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245658">
              <a:extLst>
                <a:ext uri="{FF2B5EF4-FFF2-40B4-BE49-F238E27FC236}">
                  <a16:creationId xmlns:a16="http://schemas.microsoft.com/office/drawing/2014/main" id="{F68D4F91-C4B7-5E21-32DE-99B1BD676C0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834482">
              <a:extLst>
                <a:ext uri="{FF2B5EF4-FFF2-40B4-BE49-F238E27FC236}">
                  <a16:creationId xmlns:a16="http://schemas.microsoft.com/office/drawing/2014/main" id="{64AFCC27-0358-C5CD-F605-2C422E83966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635751">
              <a:extLst>
                <a:ext uri="{FF2B5EF4-FFF2-40B4-BE49-F238E27FC236}">
                  <a16:creationId xmlns:a16="http://schemas.microsoft.com/office/drawing/2014/main" id="{8B319189-AA66-8D8E-25A8-F566D1526F0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567648">
              <a:extLst>
                <a:ext uri="{FF2B5EF4-FFF2-40B4-BE49-F238E27FC236}">
                  <a16:creationId xmlns:a16="http://schemas.microsoft.com/office/drawing/2014/main" id="{A545B42A-33FB-4C2D-D57E-124E197C569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894406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Bubble Chart</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396142"/>
          </a:xfrm>
          <a:prstGeom prst="rect">
            <a:avLst/>
          </a:prstGeom>
          <a:noFill/>
        </p:spPr>
        <p:txBody>
          <a:bodyPr vert="horz" wrap="square" lIns="36000" tIns="36000" rIns="36000" bIns="36000" rtlCol="0">
            <a:spAutoFit/>
          </a:bodyPr>
          <a:lstStyle/>
          <a:p>
            <a:r>
              <a:rPr lang="en-US" sz="1200"/>
              <a:t>See the </a:t>
            </a:r>
            <a:r>
              <a:rPr lang="en-US" sz="1200" i="1"/>
              <a:t>EBIT/DA, Gross Margin and SG&amp;A with respect to size- 3 bubble charts</a:t>
            </a:r>
            <a:r>
              <a:rPr lang="en-US" sz="1200"/>
              <a:t> section of the </a:t>
            </a:r>
            <a:r>
              <a:rPr lang="en-US" sz="1200" i="1" err="1"/>
              <a:t>Mekko</a:t>
            </a:r>
            <a:r>
              <a:rPr lang="en-US" sz="1200" i="1"/>
              <a:t> Graph Outputs</a:t>
            </a:r>
            <a:r>
              <a:rPr lang="en-US" sz="1200"/>
              <a:t> tab</a:t>
            </a:r>
            <a:endParaRPr lang="en-US" sz="1200" i="1"/>
          </a:p>
          <a:p>
            <a:r>
              <a:rPr lang="en-US" sz="1200"/>
              <a:t>Update each of the think-cell charts and headers, ensuring that:</a:t>
            </a:r>
          </a:p>
          <a:p>
            <a:pPr lvl="1"/>
            <a:r>
              <a:rPr lang="en-US" sz="1000"/>
              <a:t>Target company’s circle is colored </a:t>
            </a:r>
            <a:r>
              <a:rPr lang="en-US" sz="1000" i="1"/>
              <a:t>Bain Red</a:t>
            </a:r>
            <a:endParaRPr lang="en-US" sz="1000"/>
          </a:p>
          <a:p>
            <a:pPr lvl="1"/>
            <a:r>
              <a:rPr lang="en-US" sz="1000"/>
              <a:t>All key metrics called out on prior slides are shown (e.g., had we called out R&amp;D for Tidewater, we would have shown it as a segment here)</a:t>
            </a:r>
          </a:p>
        </p:txBody>
      </p:sp>
      <p:pic>
        <p:nvPicPr>
          <p:cNvPr id="30" name="Picture 29">
            <a:extLst>
              <a:ext uri="{FF2B5EF4-FFF2-40B4-BE49-F238E27FC236}">
                <a16:creationId xmlns:a16="http://schemas.microsoft.com/office/drawing/2014/main" id="{6697A09F-9D17-7A1E-2E42-1CF0BFD17B98}"/>
              </a:ext>
            </a:extLst>
          </p:cNvPr>
          <p:cNvPicPr>
            <a:picLocks noChangeAspect="1"/>
          </p:cNvPicPr>
          <p:nvPr/>
        </p:nvPicPr>
        <p:blipFill>
          <a:blip r:embed="rId12"/>
          <a:stretch>
            <a:fillRect/>
          </a:stretch>
        </p:blipFill>
        <p:spPr>
          <a:xfrm>
            <a:off x="6366272" y="1715997"/>
            <a:ext cx="5490766" cy="2976180"/>
          </a:xfrm>
          <a:prstGeom prst="rect">
            <a:avLst/>
          </a:prstGeom>
        </p:spPr>
      </p:pic>
      <p:pic>
        <p:nvPicPr>
          <p:cNvPr id="68" name="Picture 67">
            <a:extLst>
              <a:ext uri="{FF2B5EF4-FFF2-40B4-BE49-F238E27FC236}">
                <a16:creationId xmlns:a16="http://schemas.microsoft.com/office/drawing/2014/main" id="{4E07FD2F-1618-9A45-04FD-42C4AAAE2D38}"/>
              </a:ext>
            </a:extLst>
          </p:cNvPr>
          <p:cNvPicPr>
            <a:picLocks noChangeAspect="1"/>
          </p:cNvPicPr>
          <p:nvPr/>
        </p:nvPicPr>
        <p:blipFill>
          <a:blip r:embed="rId13"/>
          <a:stretch>
            <a:fillRect/>
          </a:stretch>
        </p:blipFill>
        <p:spPr>
          <a:xfrm>
            <a:off x="330194" y="3474520"/>
            <a:ext cx="5495529" cy="925562"/>
          </a:xfrm>
          <a:prstGeom prst="rect">
            <a:avLst/>
          </a:prstGeom>
        </p:spPr>
      </p:pic>
    </p:spTree>
    <p:custDataLst>
      <p:tags r:id="rId1"/>
    </p:custDataLst>
    <p:extLst>
      <p:ext uri="{BB962C8B-B14F-4D97-AF65-F5344CB8AC3E}">
        <p14:creationId xmlns:p14="http://schemas.microsoft.com/office/powerpoint/2010/main" val="24565087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3265384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Full Potential EBIT/DA Margin Waterfall</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904521"/>
          </a:xfrm>
          <a:prstGeom prst="rect">
            <a:avLst/>
          </a:prstGeom>
          <a:noFill/>
        </p:spPr>
        <p:txBody>
          <a:bodyPr vert="horz" wrap="square" lIns="36000" tIns="36000" rIns="36000" bIns="36000" rtlCol="0">
            <a:spAutoFit/>
          </a:bodyPr>
          <a:lstStyle/>
          <a:p>
            <a:r>
              <a:rPr lang="en-US" sz="1200"/>
              <a:t>This slide demonstrates how your recommended cost savings would be </a:t>
            </a:r>
            <a:r>
              <a:rPr lang="en-US" sz="1200" b="1"/>
              <a:t>reflected in a “full-potential” EBITDA</a:t>
            </a:r>
          </a:p>
          <a:p>
            <a:r>
              <a:rPr lang="en-US" sz="1200" b="1"/>
              <a:t>Refer to the upfront cost savings slide (S51) </a:t>
            </a:r>
            <a:r>
              <a:rPr lang="en-US" sz="1200"/>
              <a:t>and ensure that you are pulling in all of the buckets of cost savings, which are Gross Margin Expansion and SG&amp;A Optimization in this example</a:t>
            </a:r>
          </a:p>
          <a:p>
            <a:r>
              <a:rPr lang="en-US" sz="1200"/>
              <a:t>Tactically, you should open the think-cell chart and pull in the below information:</a:t>
            </a:r>
          </a:p>
          <a:p>
            <a:pPr lvl="1"/>
            <a:r>
              <a:rPr lang="en-US" sz="1000" b="1"/>
              <a:t>Adj. EBITDA Margin </a:t>
            </a:r>
            <a:r>
              <a:rPr lang="en-US" sz="1000"/>
              <a:t>– sourced from EBITDA margin slide</a:t>
            </a:r>
            <a:endParaRPr lang="en-US" sz="1000" b="1"/>
          </a:p>
          <a:p>
            <a:pPr lvl="1"/>
            <a:r>
              <a:rPr lang="en-US" sz="1000" b="1"/>
              <a:t>Gross Margin Expansion </a:t>
            </a:r>
            <a:r>
              <a:rPr lang="en-US" sz="1000"/>
              <a:t>– sourced from upfront cost savings slide (S51) based on your chosen range there</a:t>
            </a:r>
          </a:p>
          <a:p>
            <a:pPr lvl="1"/>
            <a:r>
              <a:rPr lang="en-US" sz="1000" b="1"/>
              <a:t>SG&amp;A Optimization </a:t>
            </a:r>
            <a:r>
              <a:rPr lang="en-US" sz="1000"/>
              <a:t>– sourced from upfront cost savings slide (S51) based on your chosen range there</a:t>
            </a:r>
          </a:p>
          <a:p>
            <a:r>
              <a:rPr lang="en-US" sz="1200"/>
              <a:t>Additionally, based on what you’ve inputted, add relevant callouts for each area of savings identifying what you are benchmarking to and the size of the opportunity</a:t>
            </a:r>
          </a:p>
          <a:p>
            <a:r>
              <a:rPr lang="en-US" sz="1200"/>
              <a:t>It’s best practice to run </a:t>
            </a:r>
            <a:r>
              <a:rPr lang="en-US" sz="1200" b="1"/>
              <a:t>several ZD checks on this slide </a:t>
            </a:r>
            <a:r>
              <a:rPr lang="en-US" sz="1200"/>
              <a:t>as it brings together several key components in the analysis</a:t>
            </a:r>
          </a:p>
        </p:txBody>
      </p:sp>
      <p:pic>
        <p:nvPicPr>
          <p:cNvPr id="34" name="Picture 33">
            <a:extLst>
              <a:ext uri="{FF2B5EF4-FFF2-40B4-BE49-F238E27FC236}">
                <a16:creationId xmlns:a16="http://schemas.microsoft.com/office/drawing/2014/main" id="{54776406-552E-40AF-02E1-4F9B18EE5190}"/>
              </a:ext>
            </a:extLst>
          </p:cNvPr>
          <p:cNvPicPr>
            <a:picLocks noChangeAspect="1"/>
          </p:cNvPicPr>
          <p:nvPr/>
        </p:nvPicPr>
        <p:blipFill>
          <a:blip r:embed="rId12"/>
          <a:stretch>
            <a:fillRect/>
          </a:stretch>
        </p:blipFill>
        <p:spPr>
          <a:xfrm>
            <a:off x="6366273" y="1937015"/>
            <a:ext cx="5490766" cy="2981076"/>
          </a:xfrm>
          <a:prstGeom prst="rect">
            <a:avLst/>
          </a:prstGeom>
        </p:spPr>
      </p:pic>
    </p:spTree>
    <p:custDataLst>
      <p:tags r:id="rId1"/>
    </p:custDataLst>
    <p:extLst>
      <p:ext uri="{BB962C8B-B14F-4D97-AF65-F5344CB8AC3E}">
        <p14:creationId xmlns:p14="http://schemas.microsoft.com/office/powerpoint/2010/main" val="2042477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btfpColumnIndicatorGroup2">
            <a:extLst>
              <a:ext uri="{FF2B5EF4-FFF2-40B4-BE49-F238E27FC236}">
                <a16:creationId xmlns:a16="http://schemas.microsoft.com/office/drawing/2014/main" id="{09C46646-C60B-281F-74C9-27C88F4BBDE0}"/>
              </a:ext>
            </a:extLst>
          </p:cNvPr>
          <p:cNvGrpSpPr/>
          <p:nvPr/>
        </p:nvGrpSpPr>
        <p:grpSpPr>
          <a:xfrm>
            <a:off x="0" y="6926580"/>
            <a:ext cx="12192000" cy="137160"/>
            <a:chOff x="0" y="6926580"/>
            <a:chExt cx="12192000" cy="137160"/>
          </a:xfrm>
        </p:grpSpPr>
        <p:sp>
          <p:nvSpPr>
            <p:cNvPr id="61" name="btfpColumnGapBlocker398149">
              <a:extLst>
                <a:ext uri="{FF2B5EF4-FFF2-40B4-BE49-F238E27FC236}">
                  <a16:creationId xmlns:a16="http://schemas.microsoft.com/office/drawing/2014/main" id="{8CD8D14B-31C0-E401-45E8-FDA901D743D8}"/>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9" name="btfpColumnGapBlocker962755">
              <a:extLst>
                <a:ext uri="{FF2B5EF4-FFF2-40B4-BE49-F238E27FC236}">
                  <a16:creationId xmlns:a16="http://schemas.microsoft.com/office/drawing/2014/main" id="{5AD11AA8-FEAD-875B-9A8F-8BDFBA8D6D0A}"/>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7" name="btfpColumnIndicator737688">
              <a:extLst>
                <a:ext uri="{FF2B5EF4-FFF2-40B4-BE49-F238E27FC236}">
                  <a16:creationId xmlns:a16="http://schemas.microsoft.com/office/drawing/2014/main" id="{A5BBC848-FD5E-F654-AFC3-626D14D1F629}"/>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5" name="btfpColumnIndicator489922">
              <a:extLst>
                <a:ext uri="{FF2B5EF4-FFF2-40B4-BE49-F238E27FC236}">
                  <a16:creationId xmlns:a16="http://schemas.microsoft.com/office/drawing/2014/main" id="{DEFADF03-8744-DC70-D2F0-53688810E350}"/>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3" name="btfpColumnGapBlocker209719">
              <a:extLst>
                <a:ext uri="{FF2B5EF4-FFF2-40B4-BE49-F238E27FC236}">
                  <a16:creationId xmlns:a16="http://schemas.microsoft.com/office/drawing/2014/main" id="{05A92EE1-53EF-D237-F00D-9D36C71CC9F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5" name="btfpColumnIndicator537271">
              <a:extLst>
                <a:ext uri="{FF2B5EF4-FFF2-40B4-BE49-F238E27FC236}">
                  <a16:creationId xmlns:a16="http://schemas.microsoft.com/office/drawing/2014/main" id="{FB26F770-B733-B9FB-55B5-037307D32E66}"/>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0" name="btfpColumnIndicator125614">
              <a:extLst>
                <a:ext uri="{FF2B5EF4-FFF2-40B4-BE49-F238E27FC236}">
                  <a16:creationId xmlns:a16="http://schemas.microsoft.com/office/drawing/2014/main" id="{B9604CCF-AD3F-9655-74B1-061EC448551E}"/>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62" name="btfpColumnIndicatorGroup1">
            <a:extLst>
              <a:ext uri="{FF2B5EF4-FFF2-40B4-BE49-F238E27FC236}">
                <a16:creationId xmlns:a16="http://schemas.microsoft.com/office/drawing/2014/main" id="{99DE37D9-909D-9E38-DF94-FAE9CC3609AE}"/>
              </a:ext>
            </a:extLst>
          </p:cNvPr>
          <p:cNvGrpSpPr/>
          <p:nvPr/>
        </p:nvGrpSpPr>
        <p:grpSpPr>
          <a:xfrm>
            <a:off x="0" y="-205740"/>
            <a:ext cx="12192000" cy="137160"/>
            <a:chOff x="0" y="-205740"/>
            <a:chExt cx="12192000" cy="137160"/>
          </a:xfrm>
        </p:grpSpPr>
        <p:sp>
          <p:nvSpPr>
            <p:cNvPr id="60" name="btfpColumnGapBlocker771083">
              <a:extLst>
                <a:ext uri="{FF2B5EF4-FFF2-40B4-BE49-F238E27FC236}">
                  <a16:creationId xmlns:a16="http://schemas.microsoft.com/office/drawing/2014/main" id="{50276EA8-7E10-BC8A-C413-C40CE527FE43}"/>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8" name="btfpColumnGapBlocker525436">
              <a:extLst>
                <a:ext uri="{FF2B5EF4-FFF2-40B4-BE49-F238E27FC236}">
                  <a16:creationId xmlns:a16="http://schemas.microsoft.com/office/drawing/2014/main" id="{C3C4AD68-6F39-9177-575D-47074A58B6E0}"/>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56" name="btfpColumnIndicator124763">
              <a:extLst>
                <a:ext uri="{FF2B5EF4-FFF2-40B4-BE49-F238E27FC236}">
                  <a16:creationId xmlns:a16="http://schemas.microsoft.com/office/drawing/2014/main" id="{4A91D639-406B-9EA9-C755-32763A87A81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4" name="btfpColumnIndicator245658">
              <a:extLst>
                <a:ext uri="{FF2B5EF4-FFF2-40B4-BE49-F238E27FC236}">
                  <a16:creationId xmlns:a16="http://schemas.microsoft.com/office/drawing/2014/main" id="{F68D4F91-C4B7-5E21-32DE-99B1BD676C05}"/>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52" name="btfpColumnGapBlocker834482">
              <a:extLst>
                <a:ext uri="{FF2B5EF4-FFF2-40B4-BE49-F238E27FC236}">
                  <a16:creationId xmlns:a16="http://schemas.microsoft.com/office/drawing/2014/main" id="{64AFCC27-0358-C5CD-F605-2C422E83966B}"/>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635751">
              <a:extLst>
                <a:ext uri="{FF2B5EF4-FFF2-40B4-BE49-F238E27FC236}">
                  <a16:creationId xmlns:a16="http://schemas.microsoft.com/office/drawing/2014/main" id="{8B319189-AA66-8D8E-25A8-F566D1526F0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567648">
              <a:extLst>
                <a:ext uri="{FF2B5EF4-FFF2-40B4-BE49-F238E27FC236}">
                  <a16:creationId xmlns:a16="http://schemas.microsoft.com/office/drawing/2014/main" id="{A545B42A-33FB-4C2D-D57E-124E197C5690}"/>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15069435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EV Uplift Waterfall</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704467"/>
          </a:xfrm>
          <a:prstGeom prst="rect">
            <a:avLst/>
          </a:prstGeom>
          <a:noFill/>
        </p:spPr>
        <p:txBody>
          <a:bodyPr vert="horz" wrap="square" lIns="36000" tIns="36000" rIns="36000" bIns="36000" rtlCol="0">
            <a:spAutoFit/>
          </a:bodyPr>
          <a:lstStyle/>
          <a:p>
            <a:r>
              <a:rPr lang="en-US" sz="1200"/>
              <a:t>This slide demonstrates the </a:t>
            </a:r>
            <a:r>
              <a:rPr lang="en-US" sz="1200" b="1"/>
              <a:t>EV uplift resulting from your recommended revenue and cost improvements</a:t>
            </a:r>
          </a:p>
          <a:p>
            <a:r>
              <a:rPr lang="en-US" sz="1200"/>
              <a:t>First step is to navigate to the </a:t>
            </a:r>
            <a:r>
              <a:rPr lang="en-US" sz="1200" i="1"/>
              <a:t>EVEBIT(DA) Calculation</a:t>
            </a:r>
            <a:r>
              <a:rPr lang="en-US" sz="1200"/>
              <a:t> tab and </a:t>
            </a:r>
            <a:r>
              <a:rPr lang="en-US" sz="1200" b="1"/>
              <a:t>input the low-end and high-end savings </a:t>
            </a:r>
            <a:r>
              <a:rPr lang="en-US" sz="1200"/>
              <a:t>for each of your recommended buckets – refer to the upfront cost savings slide (S51)</a:t>
            </a:r>
          </a:p>
          <a:p>
            <a:r>
              <a:rPr lang="en-US" sz="1200"/>
              <a:t>Next, </a:t>
            </a:r>
            <a:r>
              <a:rPr lang="en-US" sz="1200" b="1"/>
              <a:t>see the </a:t>
            </a:r>
            <a:r>
              <a:rPr lang="en-US" sz="1200" b="1" i="1"/>
              <a:t>Output for PPT</a:t>
            </a:r>
            <a:r>
              <a:rPr lang="en-US" sz="1200" b="1"/>
              <a:t> section </a:t>
            </a:r>
            <a:r>
              <a:rPr lang="en-US" sz="1200"/>
              <a:t>and select either low-end or high-end savings in the scenario toggle</a:t>
            </a:r>
          </a:p>
          <a:p>
            <a:pPr lvl="1"/>
            <a:r>
              <a:rPr lang="en-US" sz="1000"/>
              <a:t>Note: we often use low end savings as the default, though use your judgement and get alignment with LT during content session</a:t>
            </a:r>
          </a:p>
          <a:p>
            <a:pPr lvl="1"/>
            <a:r>
              <a:rPr lang="en-US" sz="1000"/>
              <a:t>Assuming you did use high-end, we often add in incremental sales and assume that margin expands to high-end full potential from the waterfall slide (S61)</a:t>
            </a:r>
          </a:p>
          <a:p>
            <a:r>
              <a:rPr lang="en-US" sz="1200"/>
              <a:t>Lastly, be sure to </a:t>
            </a:r>
            <a:r>
              <a:rPr lang="en-US" sz="1200" b="1"/>
              <a:t>add the below</a:t>
            </a:r>
            <a:r>
              <a:rPr lang="en-US" sz="1200"/>
              <a:t>:</a:t>
            </a:r>
          </a:p>
          <a:p>
            <a:pPr lvl="1"/>
            <a:r>
              <a:rPr lang="en-US" sz="1000"/>
              <a:t>A text box with median / Top Q multiples (see rows 25-26 in Excel)</a:t>
            </a:r>
          </a:p>
          <a:p>
            <a:pPr lvl="1"/>
            <a:r>
              <a:rPr lang="en-US" sz="1000"/>
              <a:t>Consider adding “Scenario 2” if there is significant opportunity for multiple expansion</a:t>
            </a:r>
          </a:p>
          <a:p>
            <a:pPr lvl="1"/>
            <a:r>
              <a:rPr lang="en-US" sz="1000"/>
              <a:t>Callouts explaining the assumptions for base case and scenarios</a:t>
            </a:r>
          </a:p>
          <a:p>
            <a:pPr lvl="1"/>
            <a:r>
              <a:rPr lang="en-US" sz="1000"/>
              <a:t>Update footnote to explain recommendations and assumptions</a:t>
            </a:r>
          </a:p>
        </p:txBody>
      </p:sp>
      <p:pic>
        <p:nvPicPr>
          <p:cNvPr id="15" name="Picture 14">
            <a:extLst>
              <a:ext uri="{FF2B5EF4-FFF2-40B4-BE49-F238E27FC236}">
                <a16:creationId xmlns:a16="http://schemas.microsoft.com/office/drawing/2014/main" id="{82E02941-580D-DAFD-5874-7A06BBF2CF2F}"/>
              </a:ext>
            </a:extLst>
          </p:cNvPr>
          <p:cNvPicPr>
            <a:picLocks noChangeAspect="1"/>
          </p:cNvPicPr>
          <p:nvPr/>
        </p:nvPicPr>
        <p:blipFill>
          <a:blip r:embed="rId12"/>
          <a:stretch>
            <a:fillRect/>
          </a:stretch>
        </p:blipFill>
        <p:spPr>
          <a:xfrm>
            <a:off x="6366273" y="1786385"/>
            <a:ext cx="5490766" cy="3058823"/>
          </a:xfrm>
          <a:prstGeom prst="rect">
            <a:avLst/>
          </a:prstGeom>
        </p:spPr>
      </p:pic>
      <p:pic>
        <p:nvPicPr>
          <p:cNvPr id="20" name="Picture 19">
            <a:extLst>
              <a:ext uri="{FF2B5EF4-FFF2-40B4-BE49-F238E27FC236}">
                <a16:creationId xmlns:a16="http://schemas.microsoft.com/office/drawing/2014/main" id="{0413597A-5D79-0BDD-B04B-BF7A3DDEE153}"/>
              </a:ext>
            </a:extLst>
          </p:cNvPr>
          <p:cNvPicPr>
            <a:picLocks noChangeAspect="1"/>
          </p:cNvPicPr>
          <p:nvPr/>
        </p:nvPicPr>
        <p:blipFill>
          <a:blip r:embed="rId13"/>
          <a:stretch>
            <a:fillRect/>
          </a:stretch>
        </p:blipFill>
        <p:spPr>
          <a:xfrm>
            <a:off x="1432437" y="5396190"/>
            <a:ext cx="3109042" cy="1102086"/>
          </a:xfrm>
          <a:prstGeom prst="rect">
            <a:avLst/>
          </a:prstGeom>
        </p:spPr>
      </p:pic>
    </p:spTree>
    <p:custDataLst>
      <p:tags r:id="rId1"/>
    </p:custDataLst>
    <p:extLst>
      <p:ext uri="{BB962C8B-B14F-4D97-AF65-F5344CB8AC3E}">
        <p14:creationId xmlns:p14="http://schemas.microsoft.com/office/powerpoint/2010/main" val="20954798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4130676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31" name="btfpColumnIndicatorGroup2">
            <a:extLst>
              <a:ext uri="{FF2B5EF4-FFF2-40B4-BE49-F238E27FC236}">
                <a16:creationId xmlns:a16="http://schemas.microsoft.com/office/drawing/2014/main" id="{0F8BAB78-0EE0-4D2E-AEFE-ED86E184B072}"/>
              </a:ext>
            </a:extLst>
          </p:cNvPr>
          <p:cNvGrpSpPr/>
          <p:nvPr/>
        </p:nvGrpSpPr>
        <p:grpSpPr>
          <a:xfrm>
            <a:off x="0" y="6926580"/>
            <a:ext cx="12192000" cy="137160"/>
            <a:chOff x="0" y="6926580"/>
            <a:chExt cx="12192000" cy="137160"/>
          </a:xfrm>
        </p:grpSpPr>
        <p:sp>
          <p:nvSpPr>
            <p:cNvPr id="29" name="btfpColumnGapBlocker718954">
              <a:extLst>
                <a:ext uri="{FF2B5EF4-FFF2-40B4-BE49-F238E27FC236}">
                  <a16:creationId xmlns:a16="http://schemas.microsoft.com/office/drawing/2014/main" id="{CF9921CB-DAEC-4B6D-9D31-EE0F4B113AE9}"/>
                </a:ext>
              </a:extLst>
            </p:cNvPr>
            <p:cNvSpPr/>
            <p:nvPr/>
          </p:nvSpPr>
          <p:spPr bwMode="gray">
            <a:xfrm>
              <a:off x="1186180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7" name="btfpColumnGapBlocker922425">
              <a:extLst>
                <a:ext uri="{FF2B5EF4-FFF2-40B4-BE49-F238E27FC236}">
                  <a16:creationId xmlns:a16="http://schemas.microsoft.com/office/drawing/2014/main" id="{845A63FA-E62A-4C45-BBC6-C41F42A51D46}"/>
                </a:ext>
              </a:extLst>
            </p:cNvPr>
            <p:cNvSpPr/>
            <p:nvPr/>
          </p:nvSpPr>
          <p:spPr bwMode="gray">
            <a:xfrm>
              <a:off x="5825728" y="692658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4" name="btfpColumnIndicator905622">
              <a:extLst>
                <a:ext uri="{FF2B5EF4-FFF2-40B4-BE49-F238E27FC236}">
                  <a16:creationId xmlns:a16="http://schemas.microsoft.com/office/drawing/2014/main" id="{E37E1DBF-54BC-40E0-B80E-9C124699313C}"/>
                </a:ext>
              </a:extLst>
            </p:cNvPr>
            <p:cNvCxnSpPr/>
            <p:nvPr/>
          </p:nvCxnSpPr>
          <p:spPr bwMode="gray">
            <a:xfrm flipV="1">
              <a:off x="118618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2" name="btfpColumnIndicator204087">
              <a:extLst>
                <a:ext uri="{FF2B5EF4-FFF2-40B4-BE49-F238E27FC236}">
                  <a16:creationId xmlns:a16="http://schemas.microsoft.com/office/drawing/2014/main" id="{92B89031-24B7-438C-B411-2D652AA3E364}"/>
                </a:ext>
              </a:extLst>
            </p:cNvPr>
            <p:cNvCxnSpPr/>
            <p:nvPr/>
          </p:nvCxnSpPr>
          <p:spPr bwMode="gray">
            <a:xfrm flipV="1">
              <a:off x="6366272"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8" name="btfpColumnGapBlocker493667">
              <a:extLst>
                <a:ext uri="{FF2B5EF4-FFF2-40B4-BE49-F238E27FC236}">
                  <a16:creationId xmlns:a16="http://schemas.microsoft.com/office/drawing/2014/main" id="{EED7CABE-9341-4531-8E07-174278F2E446}"/>
                </a:ext>
              </a:extLst>
            </p:cNvPr>
            <p:cNvSpPr/>
            <p:nvPr/>
          </p:nvSpPr>
          <p:spPr bwMode="gray">
            <a:xfrm>
              <a:off x="0" y="692658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5" name="btfpColumnIndicator330253">
              <a:extLst>
                <a:ext uri="{FF2B5EF4-FFF2-40B4-BE49-F238E27FC236}">
                  <a16:creationId xmlns:a16="http://schemas.microsoft.com/office/drawing/2014/main" id="{B7E1E93A-BBF7-4199-A81B-BAB96BD60688}"/>
                </a:ext>
              </a:extLst>
            </p:cNvPr>
            <p:cNvCxnSpPr/>
            <p:nvPr/>
          </p:nvCxnSpPr>
          <p:spPr bwMode="gray">
            <a:xfrm flipV="1">
              <a:off x="5825728"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3" name="btfpColumnIndicator998740">
              <a:extLst>
                <a:ext uri="{FF2B5EF4-FFF2-40B4-BE49-F238E27FC236}">
                  <a16:creationId xmlns:a16="http://schemas.microsoft.com/office/drawing/2014/main" id="{0C2361A0-23F1-4CDB-94C7-E8D8E60F8A40}"/>
                </a:ext>
              </a:extLst>
            </p:cNvPr>
            <p:cNvCxnSpPr/>
            <p:nvPr/>
          </p:nvCxnSpPr>
          <p:spPr bwMode="gray">
            <a:xfrm flipV="1">
              <a:off x="330200" y="692658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30" name="btfpColumnIndicatorGroup1">
            <a:extLst>
              <a:ext uri="{FF2B5EF4-FFF2-40B4-BE49-F238E27FC236}">
                <a16:creationId xmlns:a16="http://schemas.microsoft.com/office/drawing/2014/main" id="{DAAD77AE-B1DC-43EE-8C35-55077CBC3ADF}"/>
              </a:ext>
            </a:extLst>
          </p:cNvPr>
          <p:cNvGrpSpPr/>
          <p:nvPr/>
        </p:nvGrpSpPr>
        <p:grpSpPr>
          <a:xfrm>
            <a:off x="0" y="-205740"/>
            <a:ext cx="12192000" cy="137160"/>
            <a:chOff x="0" y="-205740"/>
            <a:chExt cx="12192000" cy="137160"/>
          </a:xfrm>
        </p:grpSpPr>
        <p:sp>
          <p:nvSpPr>
            <p:cNvPr id="28" name="btfpColumnGapBlocker377465">
              <a:extLst>
                <a:ext uri="{FF2B5EF4-FFF2-40B4-BE49-F238E27FC236}">
                  <a16:creationId xmlns:a16="http://schemas.microsoft.com/office/drawing/2014/main" id="{D2DC9E90-7B5D-4EBA-81A2-EBE8AD76CE54}"/>
                </a:ext>
              </a:extLst>
            </p:cNvPr>
            <p:cNvSpPr/>
            <p:nvPr/>
          </p:nvSpPr>
          <p:spPr bwMode="gray">
            <a:xfrm>
              <a:off x="1186180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26" name="btfpColumnGapBlocker497134">
              <a:extLst>
                <a:ext uri="{FF2B5EF4-FFF2-40B4-BE49-F238E27FC236}">
                  <a16:creationId xmlns:a16="http://schemas.microsoft.com/office/drawing/2014/main" id="{85BFBC77-0263-464B-99D3-C2147A83B7AA}"/>
                </a:ext>
              </a:extLst>
            </p:cNvPr>
            <p:cNvSpPr/>
            <p:nvPr/>
          </p:nvSpPr>
          <p:spPr bwMode="gray">
            <a:xfrm>
              <a:off x="5825728" y="-205740"/>
              <a:ext cx="540544"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23" name="btfpColumnIndicator744268">
              <a:extLst>
                <a:ext uri="{FF2B5EF4-FFF2-40B4-BE49-F238E27FC236}">
                  <a16:creationId xmlns:a16="http://schemas.microsoft.com/office/drawing/2014/main" id="{D2F702D3-1D8E-40EA-B0AA-681269124D51}"/>
                </a:ext>
              </a:extLst>
            </p:cNvPr>
            <p:cNvCxnSpPr/>
            <p:nvPr/>
          </p:nvCxnSpPr>
          <p:spPr bwMode="gray">
            <a:xfrm flipV="1">
              <a:off x="118618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1" name="btfpColumnIndicator228386">
              <a:extLst>
                <a:ext uri="{FF2B5EF4-FFF2-40B4-BE49-F238E27FC236}">
                  <a16:creationId xmlns:a16="http://schemas.microsoft.com/office/drawing/2014/main" id="{823768EF-091F-4CC2-8B9D-1924301469BC}"/>
                </a:ext>
              </a:extLst>
            </p:cNvPr>
            <p:cNvCxnSpPr/>
            <p:nvPr/>
          </p:nvCxnSpPr>
          <p:spPr bwMode="gray">
            <a:xfrm flipV="1">
              <a:off x="6366272"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6" name="btfpColumnGapBlocker364824">
              <a:extLst>
                <a:ext uri="{FF2B5EF4-FFF2-40B4-BE49-F238E27FC236}">
                  <a16:creationId xmlns:a16="http://schemas.microsoft.com/office/drawing/2014/main" id="{B62A2273-8EDB-4A3A-AE3F-EAD7E2FC6DA5}"/>
                </a:ext>
              </a:extLst>
            </p:cNvPr>
            <p:cNvSpPr/>
            <p:nvPr/>
          </p:nvSpPr>
          <p:spPr bwMode="gray">
            <a:xfrm>
              <a:off x="0" y="-205740"/>
              <a:ext cx="330200" cy="137160"/>
            </a:xfrm>
            <a:prstGeom prst="rect">
              <a:avLst/>
            </a:prstGeom>
            <a:pattFill prst="ltUpDiag">
              <a:fgClr>
                <a:srgbClr val="BBCABA"/>
              </a:fgClr>
              <a:bgClr>
                <a:srgbClr val="FFFFFF"/>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4" name="btfpColumnIndicator630395">
              <a:extLst>
                <a:ext uri="{FF2B5EF4-FFF2-40B4-BE49-F238E27FC236}">
                  <a16:creationId xmlns:a16="http://schemas.microsoft.com/office/drawing/2014/main" id="{12D7D175-DB33-453E-B05C-1F6E0430FD21}"/>
                </a:ext>
              </a:extLst>
            </p:cNvPr>
            <p:cNvCxnSpPr/>
            <p:nvPr/>
          </p:nvCxnSpPr>
          <p:spPr bwMode="gray">
            <a:xfrm flipV="1">
              <a:off x="5825728"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 name="btfpColumnIndicator761415">
              <a:extLst>
                <a:ext uri="{FF2B5EF4-FFF2-40B4-BE49-F238E27FC236}">
                  <a16:creationId xmlns:a16="http://schemas.microsoft.com/office/drawing/2014/main" id="{EB11C832-77B2-4D40-9806-ED9B0531CF49}"/>
                </a:ext>
              </a:extLst>
            </p:cNvPr>
            <p:cNvCxnSpPr/>
            <p:nvPr/>
          </p:nvCxnSpPr>
          <p:spPr bwMode="gray">
            <a:xfrm flipV="1">
              <a:off x="330200" y="-205740"/>
              <a:ext cx="0" cy="137160"/>
            </a:xfrm>
            <a:prstGeom prst="line">
              <a:avLst/>
            </a:prstGeom>
            <a:ln w="19050" cap="flat" cmpd="sng" algn="ctr">
              <a:solidFill>
                <a:srgbClr val="507867"/>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Cash Conversion Cycle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57369"/>
          </a:xfrm>
          <a:prstGeom prst="rect">
            <a:avLst/>
          </a:prstGeom>
          <a:noFill/>
        </p:spPr>
        <p:txBody>
          <a:bodyPr vert="horz" wrap="square" lIns="36000" tIns="36000" rIns="36000" bIns="36000" rtlCol="0">
            <a:spAutoFit/>
          </a:bodyPr>
          <a:lstStyle/>
          <a:p>
            <a:r>
              <a:rPr lang="en-US" sz="1200"/>
              <a:t>See the </a:t>
            </a:r>
            <a:r>
              <a:rPr lang="en-US" sz="1200" i="1"/>
              <a:t>Cash Conversion Cycle</a:t>
            </a:r>
            <a:r>
              <a:rPr lang="en-US" sz="1200"/>
              <a:t> section of the </a:t>
            </a:r>
            <a:r>
              <a:rPr lang="en-US" sz="1200" i="1" err="1"/>
              <a:t>Mekko</a:t>
            </a:r>
            <a:r>
              <a:rPr lang="en-US" sz="1200" i="1"/>
              <a:t> Graph Outputs</a:t>
            </a:r>
            <a:r>
              <a:rPr lang="en-US" sz="1200"/>
              <a:t> tab</a:t>
            </a:r>
            <a:endParaRPr lang="en-US" sz="1200" i="1"/>
          </a:p>
        </p:txBody>
      </p:sp>
      <p:pic>
        <p:nvPicPr>
          <p:cNvPr id="36" name="Picture 35">
            <a:extLst>
              <a:ext uri="{FF2B5EF4-FFF2-40B4-BE49-F238E27FC236}">
                <a16:creationId xmlns:a16="http://schemas.microsoft.com/office/drawing/2014/main" id="{2D12EAD0-B941-630F-4943-6F6C97E82163}"/>
              </a:ext>
            </a:extLst>
          </p:cNvPr>
          <p:cNvPicPr>
            <a:picLocks noChangeAspect="1"/>
          </p:cNvPicPr>
          <p:nvPr/>
        </p:nvPicPr>
        <p:blipFill>
          <a:blip r:embed="rId12"/>
          <a:stretch>
            <a:fillRect/>
          </a:stretch>
        </p:blipFill>
        <p:spPr>
          <a:xfrm>
            <a:off x="6499446" y="1770462"/>
            <a:ext cx="5229180" cy="2608300"/>
          </a:xfrm>
          <a:prstGeom prst="rect">
            <a:avLst/>
          </a:prstGeom>
        </p:spPr>
      </p:pic>
      <p:pic>
        <p:nvPicPr>
          <p:cNvPr id="52" name="Picture 51">
            <a:extLst>
              <a:ext uri="{FF2B5EF4-FFF2-40B4-BE49-F238E27FC236}">
                <a16:creationId xmlns:a16="http://schemas.microsoft.com/office/drawing/2014/main" id="{84AA3426-8584-6829-0093-D3E3A8920DC4}"/>
              </a:ext>
            </a:extLst>
          </p:cNvPr>
          <p:cNvPicPr>
            <a:picLocks noChangeAspect="1"/>
          </p:cNvPicPr>
          <p:nvPr/>
        </p:nvPicPr>
        <p:blipFill>
          <a:blip r:embed="rId13"/>
          <a:stretch>
            <a:fillRect/>
          </a:stretch>
        </p:blipFill>
        <p:spPr>
          <a:xfrm>
            <a:off x="460963" y="2214880"/>
            <a:ext cx="5231592" cy="2608301"/>
          </a:xfrm>
          <a:prstGeom prst="rect">
            <a:avLst/>
          </a:prstGeom>
        </p:spPr>
      </p:pic>
    </p:spTree>
    <p:custDataLst>
      <p:tags r:id="rId1"/>
    </p:custDataLst>
    <p:extLst>
      <p:ext uri="{BB962C8B-B14F-4D97-AF65-F5344CB8AC3E}">
        <p14:creationId xmlns:p14="http://schemas.microsoft.com/office/powerpoint/2010/main" val="3002303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40795484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Typical OI Output – NWC Pages</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612134"/>
          </a:xfrm>
          <a:prstGeom prst="rect">
            <a:avLst/>
          </a:prstGeom>
          <a:noFill/>
        </p:spPr>
        <p:txBody>
          <a:bodyPr vert="horz" wrap="square" lIns="36000" tIns="36000" rIns="36000" bIns="36000" rtlCol="0">
            <a:spAutoFit/>
          </a:bodyPr>
          <a:lstStyle/>
          <a:p>
            <a:r>
              <a:rPr lang="en-US" sz="1200"/>
              <a:t>See the relevant sections on the </a:t>
            </a:r>
            <a:r>
              <a:rPr lang="en-US" sz="1200" i="1" err="1"/>
              <a:t>Mekko</a:t>
            </a:r>
            <a:r>
              <a:rPr lang="en-US" sz="1200" i="1"/>
              <a:t> Graph Outputs</a:t>
            </a:r>
            <a:r>
              <a:rPr lang="en-US" sz="1200"/>
              <a:t> tab</a:t>
            </a:r>
          </a:p>
          <a:p>
            <a:r>
              <a:rPr lang="en-US" sz="1200"/>
              <a:t>For each of DIO, DSO, and DPO, you will </a:t>
            </a:r>
            <a:r>
              <a:rPr lang="en-US" sz="1200" b="1"/>
              <a:t>determine the relevant benchmark </a:t>
            </a:r>
            <a:r>
              <a:rPr lang="en-US" sz="1200"/>
              <a:t>(median, top Q, past performance, etc.)</a:t>
            </a:r>
          </a:p>
          <a:p>
            <a:r>
              <a:rPr lang="en-US" sz="1200" b="1"/>
              <a:t>DPO example:</a:t>
            </a:r>
          </a:p>
          <a:p>
            <a:pPr lvl="1"/>
            <a:r>
              <a:rPr lang="en-US" sz="1000"/>
              <a:t>Here we recommended closing the gap to Median / </a:t>
            </a:r>
            <a:r>
              <a:rPr lang="en-US" sz="1000" err="1"/>
              <a:t>Seacor</a:t>
            </a:r>
            <a:r>
              <a:rPr lang="en-US" sz="1000"/>
              <a:t>, and taking the median as an example:</a:t>
            </a:r>
          </a:p>
          <a:p>
            <a:pPr lvl="2"/>
            <a:r>
              <a:rPr lang="en-US" sz="1000" b="1" u="sng"/>
              <a:t>Days:</a:t>
            </a:r>
            <a:r>
              <a:rPr lang="en-US" sz="1000"/>
              <a:t> Tidewater FY24: 31 days; Median: 42 days; </a:t>
            </a:r>
            <a:r>
              <a:rPr lang="en-US" sz="1000" i="1"/>
              <a:t>Difference: 11 days</a:t>
            </a:r>
          </a:p>
          <a:p>
            <a:pPr lvl="2"/>
            <a:r>
              <a:rPr lang="en-US" sz="1000" b="1" u="sng"/>
              <a:t>Cash released:</a:t>
            </a:r>
            <a:r>
              <a:rPr lang="en-US" sz="1000" b="1"/>
              <a:t> </a:t>
            </a:r>
            <a:r>
              <a:rPr lang="en-US" sz="1000"/>
              <a:t>$71M payables / 31 DPO = </a:t>
            </a:r>
            <a:r>
              <a:rPr lang="en-US" sz="1000" i="1"/>
              <a:t>$2.32M</a:t>
            </a:r>
            <a:endParaRPr lang="en-US" sz="1000" i="1" u="sng"/>
          </a:p>
          <a:p>
            <a:pPr lvl="2"/>
            <a:r>
              <a:rPr lang="en-US" sz="1000" b="1" u="sng"/>
              <a:t>Savings:</a:t>
            </a:r>
            <a:r>
              <a:rPr lang="en-US" sz="1000"/>
              <a:t> Days difference x cash released = </a:t>
            </a:r>
            <a:r>
              <a:rPr lang="en-US" sz="1000" i="1"/>
              <a:t>~$25M</a:t>
            </a:r>
            <a:endParaRPr lang="en-US" sz="1000" b="1" i="1"/>
          </a:p>
          <a:p>
            <a:r>
              <a:rPr lang="en-US" sz="1200"/>
              <a:t>As with other metrics, ensure that you sense check and add callouts on any notable trends or outliers (e.g., here we added further detail on what Tidewater considered inventory)</a:t>
            </a:r>
          </a:p>
          <a:p>
            <a:r>
              <a:rPr lang="en-US" sz="1200" b="1"/>
              <a:t>Note:</a:t>
            </a:r>
            <a:r>
              <a:rPr lang="en-US" sz="1200"/>
              <a:t> we sometimes calculate DPO differently (O&amp;G; when we have Other </a:t>
            </a:r>
            <a:r>
              <a:rPr lang="en-US" sz="1200" err="1"/>
              <a:t>Opex</a:t>
            </a:r>
            <a:r>
              <a:rPr lang="en-US" sz="1200"/>
              <a:t> – we use COGS + Other </a:t>
            </a:r>
            <a:r>
              <a:rPr lang="en-US" sz="1200" err="1"/>
              <a:t>OpEx</a:t>
            </a:r>
            <a:r>
              <a:rPr lang="en-US" sz="1200"/>
              <a:t>) – be sure to align with BCN on whether they have made any relevant adjustments that would result in this</a:t>
            </a:r>
          </a:p>
        </p:txBody>
      </p:sp>
      <p:pic>
        <p:nvPicPr>
          <p:cNvPr id="15" name="Picture 14">
            <a:extLst>
              <a:ext uri="{FF2B5EF4-FFF2-40B4-BE49-F238E27FC236}">
                <a16:creationId xmlns:a16="http://schemas.microsoft.com/office/drawing/2014/main" id="{E86BD97D-9BB8-466F-50B4-F6F6487CB805}"/>
              </a:ext>
            </a:extLst>
          </p:cNvPr>
          <p:cNvPicPr>
            <a:picLocks noChangeAspect="1"/>
          </p:cNvPicPr>
          <p:nvPr/>
        </p:nvPicPr>
        <p:blipFill>
          <a:blip r:embed="rId12"/>
          <a:stretch>
            <a:fillRect/>
          </a:stretch>
        </p:blipFill>
        <p:spPr>
          <a:xfrm>
            <a:off x="6451390" y="1692352"/>
            <a:ext cx="4784746" cy="2625259"/>
          </a:xfrm>
          <a:prstGeom prst="rect">
            <a:avLst/>
          </a:prstGeom>
        </p:spPr>
      </p:pic>
      <p:pic>
        <p:nvPicPr>
          <p:cNvPr id="20" name="Picture 19">
            <a:extLst>
              <a:ext uri="{FF2B5EF4-FFF2-40B4-BE49-F238E27FC236}">
                <a16:creationId xmlns:a16="http://schemas.microsoft.com/office/drawing/2014/main" id="{3018AE2D-6ABF-97A3-E0A1-EA6EABBE50D8}"/>
              </a:ext>
            </a:extLst>
          </p:cNvPr>
          <p:cNvPicPr>
            <a:picLocks noChangeAspect="1"/>
          </p:cNvPicPr>
          <p:nvPr/>
        </p:nvPicPr>
        <p:blipFill>
          <a:blip r:embed="rId13"/>
          <a:stretch>
            <a:fillRect/>
          </a:stretch>
        </p:blipFill>
        <p:spPr>
          <a:xfrm>
            <a:off x="6780440" y="2811201"/>
            <a:ext cx="4883023" cy="2627237"/>
          </a:xfrm>
          <a:prstGeom prst="rect">
            <a:avLst/>
          </a:prstGeom>
        </p:spPr>
      </p:pic>
      <p:pic>
        <p:nvPicPr>
          <p:cNvPr id="26" name="Picture 25">
            <a:extLst>
              <a:ext uri="{FF2B5EF4-FFF2-40B4-BE49-F238E27FC236}">
                <a16:creationId xmlns:a16="http://schemas.microsoft.com/office/drawing/2014/main" id="{E435B00D-DA55-6E38-4017-9D71D90C39BA}"/>
              </a:ext>
            </a:extLst>
          </p:cNvPr>
          <p:cNvPicPr>
            <a:picLocks noChangeAspect="1"/>
          </p:cNvPicPr>
          <p:nvPr/>
        </p:nvPicPr>
        <p:blipFill>
          <a:blip r:embed="rId14"/>
          <a:stretch>
            <a:fillRect/>
          </a:stretch>
        </p:blipFill>
        <p:spPr>
          <a:xfrm>
            <a:off x="7031981" y="3734809"/>
            <a:ext cx="4825057" cy="2627236"/>
          </a:xfrm>
          <a:prstGeom prst="rect">
            <a:avLst/>
          </a:prstGeom>
        </p:spPr>
      </p:pic>
      <p:pic>
        <p:nvPicPr>
          <p:cNvPr id="36" name="Picture 35">
            <a:extLst>
              <a:ext uri="{FF2B5EF4-FFF2-40B4-BE49-F238E27FC236}">
                <a16:creationId xmlns:a16="http://schemas.microsoft.com/office/drawing/2014/main" id="{2D3D5B11-7C64-5E55-3251-21BE33E21ABF}"/>
              </a:ext>
            </a:extLst>
          </p:cNvPr>
          <p:cNvPicPr>
            <a:picLocks noChangeAspect="1"/>
          </p:cNvPicPr>
          <p:nvPr/>
        </p:nvPicPr>
        <p:blipFill>
          <a:blip r:embed="rId15"/>
          <a:stretch>
            <a:fillRect/>
          </a:stretch>
        </p:blipFill>
        <p:spPr>
          <a:xfrm>
            <a:off x="1468071" y="5327972"/>
            <a:ext cx="2664567" cy="1171197"/>
          </a:xfrm>
          <a:prstGeom prst="rect">
            <a:avLst/>
          </a:prstGeom>
        </p:spPr>
      </p:pic>
    </p:spTree>
    <p:custDataLst>
      <p:tags r:id="rId1"/>
    </p:custDataLst>
    <p:extLst>
      <p:ext uri="{BB962C8B-B14F-4D97-AF65-F5344CB8AC3E}">
        <p14:creationId xmlns:p14="http://schemas.microsoft.com/office/powerpoint/2010/main" val="17650717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btfpColumnIndicatorGroup2">
            <a:extLst>
              <a:ext uri="{FF2B5EF4-FFF2-40B4-BE49-F238E27FC236}">
                <a16:creationId xmlns:a16="http://schemas.microsoft.com/office/drawing/2014/main" id="{D939F699-5732-9134-6666-751F8D893B0D}"/>
              </a:ext>
            </a:extLst>
          </p:cNvPr>
          <p:cNvGrpSpPr/>
          <p:nvPr/>
        </p:nvGrpSpPr>
        <p:grpSpPr>
          <a:xfrm>
            <a:off x="0" y="6926580"/>
            <a:ext cx="12192000" cy="137160"/>
            <a:chOff x="0" y="6926580"/>
            <a:chExt cx="12192000" cy="137160"/>
          </a:xfrm>
        </p:grpSpPr>
        <p:sp>
          <p:nvSpPr>
            <p:cNvPr id="55" name="btfpColumnGapBlocker376077">
              <a:extLst>
                <a:ext uri="{FF2B5EF4-FFF2-40B4-BE49-F238E27FC236}">
                  <a16:creationId xmlns:a16="http://schemas.microsoft.com/office/drawing/2014/main" id="{D38DD80D-7B89-C0F0-3291-D844760A5D1B}"/>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53" name="btfpColumnGapBlocker848834">
              <a:extLst>
                <a:ext uri="{FF2B5EF4-FFF2-40B4-BE49-F238E27FC236}">
                  <a16:creationId xmlns:a16="http://schemas.microsoft.com/office/drawing/2014/main" id="{453CBEB2-611A-F8B9-8D89-B2F36930C7FD}"/>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1" name="btfpColumnIndicator392154">
              <a:extLst>
                <a:ext uri="{FF2B5EF4-FFF2-40B4-BE49-F238E27FC236}">
                  <a16:creationId xmlns:a16="http://schemas.microsoft.com/office/drawing/2014/main" id="{23F6C73D-09AC-002B-2D34-114A946C32C5}"/>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9" name="btfpColumnIndicator942999">
              <a:extLst>
                <a:ext uri="{FF2B5EF4-FFF2-40B4-BE49-F238E27FC236}">
                  <a16:creationId xmlns:a16="http://schemas.microsoft.com/office/drawing/2014/main" id="{F0594A62-D731-A9E4-5499-BED9836B4537}"/>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7" name="btfpColumnGapBlocker528751">
              <a:extLst>
                <a:ext uri="{FF2B5EF4-FFF2-40B4-BE49-F238E27FC236}">
                  <a16:creationId xmlns:a16="http://schemas.microsoft.com/office/drawing/2014/main" id="{E29C013B-32F1-2F3E-3BDC-3BABAEDCA4D2}"/>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4" name="btfpColumnIndicator810154">
              <a:extLst>
                <a:ext uri="{FF2B5EF4-FFF2-40B4-BE49-F238E27FC236}">
                  <a16:creationId xmlns:a16="http://schemas.microsoft.com/office/drawing/2014/main" id="{03927C77-C635-6BD7-8904-99FCAA19FFC7}"/>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5" name="btfpColumnIndicator264473">
              <a:extLst>
                <a:ext uri="{FF2B5EF4-FFF2-40B4-BE49-F238E27FC236}">
                  <a16:creationId xmlns:a16="http://schemas.microsoft.com/office/drawing/2014/main" id="{9AB53210-864F-DC0E-4DD4-EF393FA1530A}"/>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56" name="btfpColumnIndicatorGroup1">
            <a:extLst>
              <a:ext uri="{FF2B5EF4-FFF2-40B4-BE49-F238E27FC236}">
                <a16:creationId xmlns:a16="http://schemas.microsoft.com/office/drawing/2014/main" id="{DAD5FDA1-3539-CC54-CAA0-B112497040F1}"/>
              </a:ext>
            </a:extLst>
          </p:cNvPr>
          <p:cNvGrpSpPr/>
          <p:nvPr/>
        </p:nvGrpSpPr>
        <p:grpSpPr>
          <a:xfrm>
            <a:off x="0" y="-205740"/>
            <a:ext cx="12192000" cy="137160"/>
            <a:chOff x="0" y="-205740"/>
            <a:chExt cx="12192000" cy="137160"/>
          </a:xfrm>
        </p:grpSpPr>
        <p:sp>
          <p:nvSpPr>
            <p:cNvPr id="54" name="btfpColumnGapBlocker147615">
              <a:extLst>
                <a:ext uri="{FF2B5EF4-FFF2-40B4-BE49-F238E27FC236}">
                  <a16:creationId xmlns:a16="http://schemas.microsoft.com/office/drawing/2014/main" id="{1E8CD101-6AD8-F0D8-85D1-21B34E8BDBD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5" name="btfpColumnGapBlocker622819">
              <a:extLst>
                <a:ext uri="{FF2B5EF4-FFF2-40B4-BE49-F238E27FC236}">
                  <a16:creationId xmlns:a16="http://schemas.microsoft.com/office/drawing/2014/main" id="{4A6BF777-7C92-DD75-5580-BB74F70486BA}"/>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40" name="btfpColumnIndicator808990">
              <a:extLst>
                <a:ext uri="{FF2B5EF4-FFF2-40B4-BE49-F238E27FC236}">
                  <a16:creationId xmlns:a16="http://schemas.microsoft.com/office/drawing/2014/main" id="{7651906B-A74E-9218-38C6-0FC31A92605A}"/>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38" name="btfpColumnIndicator588172">
              <a:extLst>
                <a:ext uri="{FF2B5EF4-FFF2-40B4-BE49-F238E27FC236}">
                  <a16:creationId xmlns:a16="http://schemas.microsoft.com/office/drawing/2014/main" id="{0EB67F83-F204-0801-A9E1-7F62CE2CA9F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35" name="btfpColumnGapBlocker565707">
              <a:extLst>
                <a:ext uri="{FF2B5EF4-FFF2-40B4-BE49-F238E27FC236}">
                  <a16:creationId xmlns:a16="http://schemas.microsoft.com/office/drawing/2014/main" id="{1E8FF57B-516D-7438-04AE-AB2489FE2726}"/>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32" name="btfpColumnIndicator402159">
              <a:extLst>
                <a:ext uri="{FF2B5EF4-FFF2-40B4-BE49-F238E27FC236}">
                  <a16:creationId xmlns:a16="http://schemas.microsoft.com/office/drawing/2014/main" id="{9C0248B4-80F0-2148-B6EF-8C79343759CE}"/>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20" name="btfpColumnIndicator543357">
              <a:extLst>
                <a:ext uri="{FF2B5EF4-FFF2-40B4-BE49-F238E27FC236}">
                  <a16:creationId xmlns:a16="http://schemas.microsoft.com/office/drawing/2014/main" id="{39E688DE-B152-8CF0-25D5-2D2675BB5E4F}"/>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3765736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b="1"/>
              <a:t>Additional guidelines: </a:t>
            </a:r>
            <a:r>
              <a:rPr lang="en-US"/>
              <a:t>Typical OI Output – ESG</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658200" cy="257442"/>
            <a:chOff x="0" y="944429"/>
            <a:chExt cx="6658200"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770657"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Lst>
              <a:ahLst/>
              <a:cxnLst>
                <a:cxn ang="0">
                  <a:pos x="connsiteX0" y="connsiteY0"/>
                </a:cxn>
                <a:cxn ang="0">
                  <a:pos x="connsiteX1" y="connsiteY1"/>
                </a:cxn>
                <a:cxn ang="0">
                  <a:pos x="connsiteX2" y="connsiteY2"/>
                </a:cxn>
                <a:cxn ang="0">
                  <a:pos x="connsiteX3" y="connsiteY3"/>
                </a:cxn>
              </a:cxnLst>
              <a:rect l="l" t="t" r="r" b="b"/>
              <a:pathLst>
                <a:path w="2770657" h="257442">
                  <a:moveTo>
                    <a:pt x="2770657" y="0"/>
                  </a:moveTo>
                  <a:lnTo>
                    <a:pt x="2715937"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868222"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typical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E9CD49">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E9CD49">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488475"/>
          </a:xfrm>
          <a:prstGeom prst="rect">
            <a:avLst/>
          </a:prstGeom>
          <a:noFill/>
        </p:spPr>
        <p:txBody>
          <a:bodyPr vert="horz" wrap="square" lIns="36000" tIns="36000" rIns="36000" bIns="36000" rtlCol="0">
            <a:spAutoFit/>
          </a:bodyPr>
          <a:lstStyle/>
          <a:p>
            <a:r>
              <a:rPr lang="en-US" sz="1200"/>
              <a:t>Pull the ESG scores and trajectories from the latest </a:t>
            </a:r>
            <a:r>
              <a:rPr lang="en-US" sz="1200" i="1"/>
              <a:t>ESG Global Output</a:t>
            </a:r>
            <a:r>
              <a:rPr lang="en-US" sz="1200"/>
              <a:t> Excel file, which is </a:t>
            </a:r>
            <a:r>
              <a:rPr lang="en-US" sz="1200" b="1"/>
              <a:t>updated around every quarter</a:t>
            </a:r>
          </a:p>
          <a:p>
            <a:r>
              <a:rPr lang="en-US" sz="1200"/>
              <a:t>If certain peers or metrics are unavailable, please mark as “N/A” and note accordingly, as shown for this example</a:t>
            </a:r>
          </a:p>
          <a:p>
            <a:r>
              <a:rPr lang="en-US" sz="1200"/>
              <a:t>Lastly, it is best practice to </a:t>
            </a:r>
            <a:r>
              <a:rPr lang="en-US" sz="1200" b="1"/>
              <a:t>paste the table as a screenshot </a:t>
            </a:r>
            <a:r>
              <a:rPr lang="en-US" sz="1200"/>
              <a:t>such that it cannot be edited in PowerPoint</a:t>
            </a:r>
          </a:p>
        </p:txBody>
      </p:sp>
      <p:pic>
        <p:nvPicPr>
          <p:cNvPr id="61" name="Picture 60">
            <a:extLst>
              <a:ext uri="{FF2B5EF4-FFF2-40B4-BE49-F238E27FC236}">
                <a16:creationId xmlns:a16="http://schemas.microsoft.com/office/drawing/2014/main" id="{086B85C7-B5F1-E8B6-C5F4-0D1E498B4B1F}"/>
              </a:ext>
            </a:extLst>
          </p:cNvPr>
          <p:cNvPicPr>
            <a:picLocks noChangeAspect="1"/>
          </p:cNvPicPr>
          <p:nvPr/>
        </p:nvPicPr>
        <p:blipFill>
          <a:blip r:embed="rId12"/>
          <a:stretch>
            <a:fillRect/>
          </a:stretch>
        </p:blipFill>
        <p:spPr>
          <a:xfrm>
            <a:off x="6438097" y="1813660"/>
            <a:ext cx="5351878" cy="2914134"/>
          </a:xfrm>
          <a:prstGeom prst="rect">
            <a:avLst/>
          </a:prstGeom>
        </p:spPr>
      </p:pic>
    </p:spTree>
    <p:custDataLst>
      <p:tags r:id="rId1"/>
    </p:custDataLst>
    <p:extLst>
      <p:ext uri="{BB962C8B-B14F-4D97-AF65-F5344CB8AC3E}">
        <p14:creationId xmlns:p14="http://schemas.microsoft.com/office/powerpoint/2010/main" val="9198699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2223789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Segment Breakdown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12437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12437 w 2012437"/>
                <a:gd name="connsiteY0" fmla="*/ 0 h 257442"/>
                <a:gd name="connsiteX1" fmla="*/ 1957717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175494 w 2175494"/>
                <a:gd name="connsiteY0" fmla="*/ 0 h 257442"/>
                <a:gd name="connsiteX1" fmla="*/ 1957716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3 w 2175494"/>
                <a:gd name="connsiteY1" fmla="*/ 257442 h 257442"/>
                <a:gd name="connsiteX2" fmla="*/ 0 w 2175494"/>
                <a:gd name="connsiteY2" fmla="*/ 257442 h 257442"/>
                <a:gd name="connsiteX3" fmla="*/ 54720 w 2175494"/>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1 w 2175495"/>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2 w 2175495"/>
                <a:gd name="connsiteY3" fmla="*/ 0 h 257442"/>
                <a:gd name="connsiteX0" fmla="*/ 2335797 w 2335797"/>
                <a:gd name="connsiteY0" fmla="*/ 0 h 257442"/>
                <a:gd name="connsiteX1" fmla="*/ 2120774 w 2335797"/>
                <a:gd name="connsiteY1" fmla="*/ 257442 h 257442"/>
                <a:gd name="connsiteX2" fmla="*/ 0 w 2335797"/>
                <a:gd name="connsiteY2" fmla="*/ 257442 h 257442"/>
                <a:gd name="connsiteX3" fmla="*/ 54722 w 2335797"/>
                <a:gd name="connsiteY3" fmla="*/ 0 h 257442"/>
                <a:gd name="connsiteX0" fmla="*/ 2335797 w 2335797"/>
                <a:gd name="connsiteY0" fmla="*/ 0 h 257442"/>
                <a:gd name="connsiteX1" fmla="*/ 2281076 w 2335797"/>
                <a:gd name="connsiteY1" fmla="*/ 257442 h 257442"/>
                <a:gd name="connsiteX2" fmla="*/ 0 w 2335797"/>
                <a:gd name="connsiteY2" fmla="*/ 257442 h 257442"/>
                <a:gd name="connsiteX3" fmla="*/ 54722 w 2335797"/>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1 w 2335796"/>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0 w 2335796"/>
                <a:gd name="connsiteY3" fmla="*/ 0 h 257442"/>
                <a:gd name="connsiteX0" fmla="*/ 2175494 w 2281075"/>
                <a:gd name="connsiteY0" fmla="*/ 0 h 257442"/>
                <a:gd name="connsiteX1" fmla="*/ 2281075 w 2281075"/>
                <a:gd name="connsiteY1" fmla="*/ 257442 h 257442"/>
                <a:gd name="connsiteX2" fmla="*/ 0 w 2281075"/>
                <a:gd name="connsiteY2" fmla="*/ 257442 h 257442"/>
                <a:gd name="connsiteX3" fmla="*/ 54720 w 2281075"/>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1 w 2175494"/>
                <a:gd name="connsiteY3" fmla="*/ 0 h 257442"/>
                <a:gd name="connsiteX0" fmla="*/ 2012437 w 2120774"/>
                <a:gd name="connsiteY0" fmla="*/ 0 h 257442"/>
                <a:gd name="connsiteX1" fmla="*/ 2120774 w 2120774"/>
                <a:gd name="connsiteY1" fmla="*/ 257442 h 257442"/>
                <a:gd name="connsiteX2" fmla="*/ 0 w 2120774"/>
                <a:gd name="connsiteY2" fmla="*/ 257442 h 257442"/>
                <a:gd name="connsiteX3" fmla="*/ 54721 w 2120774"/>
                <a:gd name="connsiteY3" fmla="*/ 0 h 257442"/>
                <a:gd name="connsiteX0" fmla="*/ 2012437 w 2012437"/>
                <a:gd name="connsiteY0" fmla="*/ 0 h 257442"/>
                <a:gd name="connsiteX1" fmla="*/ 1957716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1862908 w 1957715"/>
                <a:gd name="connsiteY0" fmla="*/ 0 h 257442"/>
                <a:gd name="connsiteX1" fmla="*/ 1957715 w 1957715"/>
                <a:gd name="connsiteY1" fmla="*/ 257442 h 257442"/>
                <a:gd name="connsiteX2" fmla="*/ 0 w 1957715"/>
                <a:gd name="connsiteY2" fmla="*/ 257442 h 257442"/>
                <a:gd name="connsiteX3" fmla="*/ 54720 w 1957715"/>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1 w 1862908"/>
                <a:gd name="connsiteY3" fmla="*/ 0 h 257442"/>
                <a:gd name="connsiteX0" fmla="*/ 2023210 w 2023210"/>
                <a:gd name="connsiteY0" fmla="*/ 0 h 257442"/>
                <a:gd name="connsiteX1" fmla="*/ 1808188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027084"/>
          </a:xfrm>
          <a:prstGeom prst="rect">
            <a:avLst/>
          </a:prstGeom>
          <a:noFill/>
        </p:spPr>
        <p:txBody>
          <a:bodyPr vert="horz" wrap="square" lIns="36000" tIns="36000" rIns="36000" bIns="36000" rtlCol="0">
            <a:spAutoFit/>
          </a:bodyPr>
          <a:lstStyle/>
          <a:p>
            <a:r>
              <a:rPr lang="en-US" sz="1200"/>
              <a:t>This slide demonstrates a </a:t>
            </a:r>
            <a:r>
              <a:rPr lang="en-US" sz="1200" b="1"/>
              <a:t>breakdown of a company’s key segments </a:t>
            </a:r>
            <a:r>
              <a:rPr lang="en-US" sz="1200"/>
              <a:t>and is often shown when:</a:t>
            </a:r>
          </a:p>
          <a:p>
            <a:pPr lvl="1"/>
            <a:r>
              <a:rPr lang="en-US" sz="1000"/>
              <a:t>The company operates multiple, distinct segments</a:t>
            </a:r>
          </a:p>
          <a:p>
            <a:pPr lvl="1"/>
            <a:r>
              <a:rPr lang="en-US" sz="1000"/>
              <a:t>Profitability levels and/or trends vary widely across segments</a:t>
            </a:r>
          </a:p>
          <a:p>
            <a:pPr lvl="1"/>
            <a:r>
              <a:rPr lang="en-US" sz="1000"/>
              <a:t>Account team is curious about opportunities in a particular segment of the business</a:t>
            </a:r>
          </a:p>
          <a:p>
            <a:r>
              <a:rPr lang="en-US" sz="1200"/>
              <a:t>As a BDP, we </a:t>
            </a:r>
            <a:r>
              <a:rPr lang="en-US" sz="1200" b="1"/>
              <a:t>often have the BCN team pull in the relevant segment-level metrics </a:t>
            </a:r>
            <a:r>
              <a:rPr lang="en-US" sz="1200"/>
              <a:t>once we decide to do this analysis; however, if time-sensitive, these metrics can often be found in the company’s latest annual (10-K) or quarterly (10-Q) filings</a:t>
            </a:r>
          </a:p>
        </p:txBody>
      </p:sp>
      <p:pic>
        <p:nvPicPr>
          <p:cNvPr id="16" name="Picture 15">
            <a:extLst>
              <a:ext uri="{FF2B5EF4-FFF2-40B4-BE49-F238E27FC236}">
                <a16:creationId xmlns:a16="http://schemas.microsoft.com/office/drawing/2014/main" id="{9612E3F0-B34C-4B81-AEFF-1D02412E42FE}"/>
              </a:ext>
            </a:extLst>
          </p:cNvPr>
          <p:cNvPicPr>
            <a:picLocks noChangeAspect="1"/>
          </p:cNvPicPr>
          <p:nvPr/>
        </p:nvPicPr>
        <p:blipFill>
          <a:blip r:embed="rId12"/>
          <a:stretch>
            <a:fillRect/>
          </a:stretch>
        </p:blipFill>
        <p:spPr>
          <a:xfrm>
            <a:off x="6456696" y="1850524"/>
            <a:ext cx="5399251" cy="3037079"/>
          </a:xfrm>
          <a:prstGeom prst="rect">
            <a:avLst/>
          </a:prstGeom>
        </p:spPr>
      </p:pic>
    </p:spTree>
    <p:custDataLst>
      <p:tags r:id="rId1"/>
    </p:custDataLst>
    <p:extLst>
      <p:ext uri="{BB962C8B-B14F-4D97-AF65-F5344CB8AC3E}">
        <p14:creationId xmlns:p14="http://schemas.microsoft.com/office/powerpoint/2010/main" val="8372721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9320509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Personnel Analysis</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6" cy="257442"/>
            <a:chOff x="0" y="944429"/>
            <a:chExt cx="6456696"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7"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23210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23210 w 2023210"/>
                <a:gd name="connsiteY0" fmla="*/ 0 h 257442"/>
                <a:gd name="connsiteX1" fmla="*/ 1968490 w 2023210"/>
                <a:gd name="connsiteY1" fmla="*/ 257442 h 257442"/>
                <a:gd name="connsiteX2" fmla="*/ 0 w 2023210"/>
                <a:gd name="connsiteY2" fmla="*/ 257442 h 257442"/>
                <a:gd name="connsiteX3" fmla="*/ 54721 w 2023210"/>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0 w 2023209"/>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1 w 2023209"/>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8 w 2183510"/>
                <a:gd name="connsiteY1" fmla="*/ 257442 h 257442"/>
                <a:gd name="connsiteX2" fmla="*/ 0 w 2183510"/>
                <a:gd name="connsiteY2" fmla="*/ 257442 h 257442"/>
                <a:gd name="connsiteX3" fmla="*/ 54721 w 2183510"/>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504111 w 2504111"/>
                <a:gd name="connsiteY0" fmla="*/ 0 h 257442"/>
                <a:gd name="connsiteX1" fmla="*/ 2128789 w 2504111"/>
                <a:gd name="connsiteY1" fmla="*/ 257442 h 257442"/>
                <a:gd name="connsiteX2" fmla="*/ 0 w 2504111"/>
                <a:gd name="connsiteY2" fmla="*/ 257442 h 257442"/>
                <a:gd name="connsiteX3" fmla="*/ 54722 w 2504111"/>
                <a:gd name="connsiteY3" fmla="*/ 0 h 257442"/>
                <a:gd name="connsiteX0" fmla="*/ 2504111 w 2504111"/>
                <a:gd name="connsiteY0" fmla="*/ 0 h 257442"/>
                <a:gd name="connsiteX1" fmla="*/ 2449390 w 2504111"/>
                <a:gd name="connsiteY1" fmla="*/ 257442 h 257442"/>
                <a:gd name="connsiteX2" fmla="*/ 0 w 2504111"/>
                <a:gd name="connsiteY2" fmla="*/ 257442 h 257442"/>
                <a:gd name="connsiteX3" fmla="*/ 54722 w 2504111"/>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0 w 2504110"/>
                <a:gd name="connsiteY3" fmla="*/ 0 h 257442"/>
                <a:gd name="connsiteX0" fmla="*/ 2666718 w 2666718"/>
                <a:gd name="connsiteY0" fmla="*/ 0 h 257442"/>
                <a:gd name="connsiteX1" fmla="*/ 2449389 w 2666718"/>
                <a:gd name="connsiteY1" fmla="*/ 257442 h 257442"/>
                <a:gd name="connsiteX2" fmla="*/ 0 w 2666718"/>
                <a:gd name="connsiteY2" fmla="*/ 257442 h 257442"/>
                <a:gd name="connsiteX3" fmla="*/ 54720 w 2666718"/>
                <a:gd name="connsiteY3" fmla="*/ 0 h 257442"/>
                <a:gd name="connsiteX0" fmla="*/ 2666718 w 2666718"/>
                <a:gd name="connsiteY0" fmla="*/ 0 h 257442"/>
                <a:gd name="connsiteX1" fmla="*/ 2611997 w 2666718"/>
                <a:gd name="connsiteY1" fmla="*/ 257442 h 257442"/>
                <a:gd name="connsiteX2" fmla="*/ 0 w 2666718"/>
                <a:gd name="connsiteY2" fmla="*/ 257442 h 257442"/>
                <a:gd name="connsiteX3" fmla="*/ 54720 w 2666718"/>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2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2"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3842966"/>
          </a:xfrm>
          <a:prstGeom prst="rect">
            <a:avLst/>
          </a:prstGeom>
          <a:noFill/>
        </p:spPr>
        <p:txBody>
          <a:bodyPr vert="horz" wrap="square" lIns="36000" tIns="36000" rIns="36000" bIns="36000" rtlCol="0">
            <a:spAutoFit/>
          </a:bodyPr>
          <a:lstStyle/>
          <a:p>
            <a:r>
              <a:rPr lang="en-US" sz="1200"/>
              <a:t>Personnel expenses are often a key cost item and a source of potential savings in an OI analysis</a:t>
            </a:r>
          </a:p>
          <a:p>
            <a:r>
              <a:rPr lang="en-US" sz="1200"/>
              <a:t>Where relevant, you might want to consider the below analysis to diagnose potential personnel expense savings</a:t>
            </a:r>
          </a:p>
          <a:p>
            <a:r>
              <a:rPr lang="en-US" sz="1200" b="1"/>
              <a:t>Personnel Expenses as a % of revenue</a:t>
            </a:r>
          </a:p>
          <a:p>
            <a:pPr lvl="1"/>
            <a:r>
              <a:rPr lang="en-US" sz="1000"/>
              <a:t>When reported, BCN will often pull Personnel Expenses as a line item either on the Income Statement Revised or Financials &amp; KPIs tab</a:t>
            </a:r>
          </a:p>
          <a:p>
            <a:r>
              <a:rPr lang="en-US" sz="1200" b="1"/>
              <a:t>FTEs per $B in revenue</a:t>
            </a:r>
          </a:p>
          <a:p>
            <a:pPr lvl="1"/>
            <a:r>
              <a:rPr lang="en-US" sz="1000"/>
              <a:t>This calculation requires that you or BCN pull in FTE count for the target and peers over time</a:t>
            </a:r>
          </a:p>
          <a:p>
            <a:pPr lvl="1"/>
            <a:r>
              <a:rPr lang="en-US" sz="1000"/>
              <a:t># of FTEs is often included in the Financials &amp; KPIs tab via </a:t>
            </a:r>
            <a:r>
              <a:rPr lang="en-US" sz="1000" err="1"/>
              <a:t>CapIQ</a:t>
            </a:r>
            <a:r>
              <a:rPr lang="en-US" sz="1000"/>
              <a:t>; however, when unavailable there, it can be found in the company’s financial filings and reporting</a:t>
            </a:r>
          </a:p>
          <a:p>
            <a:r>
              <a:rPr lang="en-US" sz="1200" b="1"/>
              <a:t>Personnel Expenses per FTE</a:t>
            </a:r>
            <a:endParaRPr lang="en-US" sz="1200"/>
          </a:p>
          <a:p>
            <a:r>
              <a:rPr lang="en-US" sz="1200"/>
              <a:t>As with other cost items, ensure that you ZD these metrics thoroughly and leave callouts where relevant (e.g., if a particular company needs to be excluded for not isolating personnel expenses)</a:t>
            </a:r>
          </a:p>
        </p:txBody>
      </p:sp>
      <p:pic>
        <p:nvPicPr>
          <p:cNvPr id="16" name="Picture 15">
            <a:extLst>
              <a:ext uri="{FF2B5EF4-FFF2-40B4-BE49-F238E27FC236}">
                <a16:creationId xmlns:a16="http://schemas.microsoft.com/office/drawing/2014/main" id="{1D63A660-BF5F-0117-CDE6-5AB234CBF93C}"/>
              </a:ext>
            </a:extLst>
          </p:cNvPr>
          <p:cNvPicPr>
            <a:picLocks noChangeAspect="1"/>
          </p:cNvPicPr>
          <p:nvPr/>
        </p:nvPicPr>
        <p:blipFill>
          <a:blip r:embed="rId12"/>
          <a:stretch>
            <a:fillRect/>
          </a:stretch>
        </p:blipFill>
        <p:spPr>
          <a:xfrm>
            <a:off x="6361510" y="1928778"/>
            <a:ext cx="5495528" cy="2985071"/>
          </a:xfrm>
          <a:prstGeom prst="rect">
            <a:avLst/>
          </a:prstGeom>
        </p:spPr>
      </p:pic>
    </p:spTree>
    <p:custDataLst>
      <p:tags r:id="rId1"/>
    </p:custDataLst>
    <p:extLst>
      <p:ext uri="{BB962C8B-B14F-4D97-AF65-F5344CB8AC3E}">
        <p14:creationId xmlns:p14="http://schemas.microsoft.com/office/powerpoint/2010/main" val="39041831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21890781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R&amp;D Correlation</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12437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12437 w 2012437"/>
                <a:gd name="connsiteY0" fmla="*/ 0 h 257442"/>
                <a:gd name="connsiteX1" fmla="*/ 1957717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6 w 2012436"/>
                <a:gd name="connsiteY1" fmla="*/ 257442 h 257442"/>
                <a:gd name="connsiteX2" fmla="*/ 0 w 2012436"/>
                <a:gd name="connsiteY2" fmla="*/ 257442 h 257442"/>
                <a:gd name="connsiteX3" fmla="*/ 54720 w 2012436"/>
                <a:gd name="connsiteY3" fmla="*/ 0 h 257442"/>
                <a:gd name="connsiteX0" fmla="*/ 2175494 w 2175494"/>
                <a:gd name="connsiteY0" fmla="*/ 0 h 257442"/>
                <a:gd name="connsiteX1" fmla="*/ 1957716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3 w 2175494"/>
                <a:gd name="connsiteY1" fmla="*/ 257442 h 257442"/>
                <a:gd name="connsiteX2" fmla="*/ 0 w 2175494"/>
                <a:gd name="connsiteY2" fmla="*/ 257442 h 257442"/>
                <a:gd name="connsiteX3" fmla="*/ 54720 w 2175494"/>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1 w 2175495"/>
                <a:gd name="connsiteY3" fmla="*/ 0 h 257442"/>
                <a:gd name="connsiteX0" fmla="*/ 2175495 w 2175495"/>
                <a:gd name="connsiteY0" fmla="*/ 0 h 257442"/>
                <a:gd name="connsiteX1" fmla="*/ 2120774 w 2175495"/>
                <a:gd name="connsiteY1" fmla="*/ 257442 h 257442"/>
                <a:gd name="connsiteX2" fmla="*/ 0 w 2175495"/>
                <a:gd name="connsiteY2" fmla="*/ 257442 h 257442"/>
                <a:gd name="connsiteX3" fmla="*/ 54722 w 2175495"/>
                <a:gd name="connsiteY3" fmla="*/ 0 h 257442"/>
                <a:gd name="connsiteX0" fmla="*/ 2335797 w 2335797"/>
                <a:gd name="connsiteY0" fmla="*/ 0 h 257442"/>
                <a:gd name="connsiteX1" fmla="*/ 2120774 w 2335797"/>
                <a:gd name="connsiteY1" fmla="*/ 257442 h 257442"/>
                <a:gd name="connsiteX2" fmla="*/ 0 w 2335797"/>
                <a:gd name="connsiteY2" fmla="*/ 257442 h 257442"/>
                <a:gd name="connsiteX3" fmla="*/ 54722 w 2335797"/>
                <a:gd name="connsiteY3" fmla="*/ 0 h 257442"/>
                <a:gd name="connsiteX0" fmla="*/ 2335797 w 2335797"/>
                <a:gd name="connsiteY0" fmla="*/ 0 h 257442"/>
                <a:gd name="connsiteX1" fmla="*/ 2281076 w 2335797"/>
                <a:gd name="connsiteY1" fmla="*/ 257442 h 257442"/>
                <a:gd name="connsiteX2" fmla="*/ 0 w 2335797"/>
                <a:gd name="connsiteY2" fmla="*/ 257442 h 257442"/>
                <a:gd name="connsiteX3" fmla="*/ 54722 w 2335797"/>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1 w 2335796"/>
                <a:gd name="connsiteY3" fmla="*/ 0 h 257442"/>
                <a:gd name="connsiteX0" fmla="*/ 2335796 w 2335796"/>
                <a:gd name="connsiteY0" fmla="*/ 0 h 257442"/>
                <a:gd name="connsiteX1" fmla="*/ 2281075 w 2335796"/>
                <a:gd name="connsiteY1" fmla="*/ 257442 h 257442"/>
                <a:gd name="connsiteX2" fmla="*/ 0 w 2335796"/>
                <a:gd name="connsiteY2" fmla="*/ 257442 h 257442"/>
                <a:gd name="connsiteX3" fmla="*/ 54720 w 2335796"/>
                <a:gd name="connsiteY3" fmla="*/ 0 h 257442"/>
                <a:gd name="connsiteX0" fmla="*/ 2175494 w 2281075"/>
                <a:gd name="connsiteY0" fmla="*/ 0 h 257442"/>
                <a:gd name="connsiteX1" fmla="*/ 2281075 w 2281075"/>
                <a:gd name="connsiteY1" fmla="*/ 257442 h 257442"/>
                <a:gd name="connsiteX2" fmla="*/ 0 w 2281075"/>
                <a:gd name="connsiteY2" fmla="*/ 257442 h 257442"/>
                <a:gd name="connsiteX3" fmla="*/ 54720 w 2281075"/>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0 w 2175494"/>
                <a:gd name="connsiteY3" fmla="*/ 0 h 257442"/>
                <a:gd name="connsiteX0" fmla="*/ 2175494 w 2175494"/>
                <a:gd name="connsiteY0" fmla="*/ 0 h 257442"/>
                <a:gd name="connsiteX1" fmla="*/ 2120774 w 2175494"/>
                <a:gd name="connsiteY1" fmla="*/ 257442 h 257442"/>
                <a:gd name="connsiteX2" fmla="*/ 0 w 2175494"/>
                <a:gd name="connsiteY2" fmla="*/ 257442 h 257442"/>
                <a:gd name="connsiteX3" fmla="*/ 54721 w 2175494"/>
                <a:gd name="connsiteY3" fmla="*/ 0 h 257442"/>
                <a:gd name="connsiteX0" fmla="*/ 2012437 w 2120774"/>
                <a:gd name="connsiteY0" fmla="*/ 0 h 257442"/>
                <a:gd name="connsiteX1" fmla="*/ 2120774 w 2120774"/>
                <a:gd name="connsiteY1" fmla="*/ 257442 h 257442"/>
                <a:gd name="connsiteX2" fmla="*/ 0 w 2120774"/>
                <a:gd name="connsiteY2" fmla="*/ 257442 h 257442"/>
                <a:gd name="connsiteX3" fmla="*/ 54721 w 2120774"/>
                <a:gd name="connsiteY3" fmla="*/ 0 h 257442"/>
                <a:gd name="connsiteX0" fmla="*/ 2012437 w 2012437"/>
                <a:gd name="connsiteY0" fmla="*/ 0 h 257442"/>
                <a:gd name="connsiteX1" fmla="*/ 1957716 w 2012437"/>
                <a:gd name="connsiteY1" fmla="*/ 257442 h 257442"/>
                <a:gd name="connsiteX2" fmla="*/ 0 w 2012437"/>
                <a:gd name="connsiteY2" fmla="*/ 257442 h 257442"/>
                <a:gd name="connsiteX3" fmla="*/ 54721 w 2012437"/>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2012436 w 2012436"/>
                <a:gd name="connsiteY0" fmla="*/ 0 h 257442"/>
                <a:gd name="connsiteX1" fmla="*/ 1957715 w 2012436"/>
                <a:gd name="connsiteY1" fmla="*/ 257442 h 257442"/>
                <a:gd name="connsiteX2" fmla="*/ 0 w 2012436"/>
                <a:gd name="connsiteY2" fmla="*/ 257442 h 257442"/>
                <a:gd name="connsiteX3" fmla="*/ 54720 w 2012436"/>
                <a:gd name="connsiteY3" fmla="*/ 0 h 257442"/>
                <a:gd name="connsiteX0" fmla="*/ 1862908 w 1957715"/>
                <a:gd name="connsiteY0" fmla="*/ 0 h 257442"/>
                <a:gd name="connsiteX1" fmla="*/ 1957715 w 1957715"/>
                <a:gd name="connsiteY1" fmla="*/ 257442 h 257442"/>
                <a:gd name="connsiteX2" fmla="*/ 0 w 1957715"/>
                <a:gd name="connsiteY2" fmla="*/ 257442 h 257442"/>
                <a:gd name="connsiteX3" fmla="*/ 54720 w 1957715"/>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0 w 1862908"/>
                <a:gd name="connsiteY3" fmla="*/ 0 h 257442"/>
                <a:gd name="connsiteX0" fmla="*/ 1862908 w 1862908"/>
                <a:gd name="connsiteY0" fmla="*/ 0 h 257442"/>
                <a:gd name="connsiteX1" fmla="*/ 1808188 w 1862908"/>
                <a:gd name="connsiteY1" fmla="*/ 257442 h 257442"/>
                <a:gd name="connsiteX2" fmla="*/ 0 w 1862908"/>
                <a:gd name="connsiteY2" fmla="*/ 257442 h 257442"/>
                <a:gd name="connsiteX3" fmla="*/ 54721 w 1862908"/>
                <a:gd name="connsiteY3" fmla="*/ 0 h 257442"/>
                <a:gd name="connsiteX0" fmla="*/ 2023210 w 2023210"/>
                <a:gd name="connsiteY0" fmla="*/ 0 h 257442"/>
                <a:gd name="connsiteX1" fmla="*/ 1808188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023210 w 2023210"/>
                <a:gd name="connsiteY0" fmla="*/ 0 h 257442"/>
                <a:gd name="connsiteX1" fmla="*/ 1968489 w 2023210"/>
                <a:gd name="connsiteY1" fmla="*/ 257442 h 257442"/>
                <a:gd name="connsiteX2" fmla="*/ 0 w 2023210"/>
                <a:gd name="connsiteY2" fmla="*/ 257442 h 257442"/>
                <a:gd name="connsiteX3" fmla="*/ 54721 w 2023210"/>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1857807"/>
          </a:xfrm>
          <a:prstGeom prst="rect">
            <a:avLst/>
          </a:prstGeom>
          <a:noFill/>
        </p:spPr>
        <p:txBody>
          <a:bodyPr vert="horz" wrap="square" lIns="36000" tIns="36000" rIns="36000" bIns="36000" rtlCol="0">
            <a:spAutoFit/>
          </a:bodyPr>
          <a:lstStyle/>
          <a:p>
            <a:r>
              <a:rPr lang="en-US" sz="1200"/>
              <a:t>As a reminder from S69, if you decide to include R&amp;D benchmarking, it is </a:t>
            </a:r>
            <a:r>
              <a:rPr lang="en-US" sz="1200" b="1"/>
              <a:t>best practice to include the R&amp;D correlation with Gross Margin slide </a:t>
            </a:r>
            <a:r>
              <a:rPr lang="en-US" sz="1200"/>
              <a:t>to demonstrate how effectively the R&amp;D spend translates into profitability</a:t>
            </a:r>
          </a:p>
          <a:p>
            <a:r>
              <a:rPr lang="en-US" sz="1200"/>
              <a:t>Following that SLB example, we built this slide, but observed that the correlations were under our </a:t>
            </a:r>
            <a:r>
              <a:rPr lang="en-US" sz="1200" b="1"/>
              <a:t>usual significance threshold (0.30)</a:t>
            </a:r>
            <a:r>
              <a:rPr lang="en-US" sz="1200"/>
              <a:t>, such that we could not recommend R&amp;D savings</a:t>
            </a:r>
          </a:p>
          <a:p>
            <a:r>
              <a:rPr lang="en-US" sz="1200"/>
              <a:t>To calculate the significance value, you can use the </a:t>
            </a:r>
            <a:r>
              <a:rPr lang="en-US" sz="1200" b="1"/>
              <a:t>CORREL </a:t>
            </a:r>
            <a:r>
              <a:rPr lang="en-US" sz="1200"/>
              <a:t>function in Excel</a:t>
            </a:r>
          </a:p>
        </p:txBody>
      </p:sp>
      <p:pic>
        <p:nvPicPr>
          <p:cNvPr id="25" name="Picture 24">
            <a:extLst>
              <a:ext uri="{FF2B5EF4-FFF2-40B4-BE49-F238E27FC236}">
                <a16:creationId xmlns:a16="http://schemas.microsoft.com/office/drawing/2014/main" id="{B8A33332-80CE-0A9F-9592-74C25464DD4B}"/>
              </a:ext>
            </a:extLst>
          </p:cNvPr>
          <p:cNvPicPr>
            <a:picLocks noChangeAspect="1"/>
          </p:cNvPicPr>
          <p:nvPr/>
        </p:nvPicPr>
        <p:blipFill>
          <a:blip r:embed="rId12"/>
          <a:stretch>
            <a:fillRect/>
          </a:stretch>
        </p:blipFill>
        <p:spPr>
          <a:xfrm>
            <a:off x="6526535" y="1978291"/>
            <a:ext cx="5175001" cy="2636943"/>
          </a:xfrm>
          <a:prstGeom prst="rect">
            <a:avLst/>
          </a:prstGeom>
        </p:spPr>
      </p:pic>
      <p:pic>
        <p:nvPicPr>
          <p:cNvPr id="35" name="Picture 34">
            <a:extLst>
              <a:ext uri="{FF2B5EF4-FFF2-40B4-BE49-F238E27FC236}">
                <a16:creationId xmlns:a16="http://schemas.microsoft.com/office/drawing/2014/main" id="{F9A6B6DC-4B6E-C86A-7ABD-618B54766CC2}"/>
              </a:ext>
            </a:extLst>
          </p:cNvPr>
          <p:cNvPicPr>
            <a:picLocks noChangeAspect="1"/>
          </p:cNvPicPr>
          <p:nvPr/>
        </p:nvPicPr>
        <p:blipFill>
          <a:blip r:embed="rId13"/>
          <a:stretch>
            <a:fillRect/>
          </a:stretch>
        </p:blipFill>
        <p:spPr>
          <a:xfrm>
            <a:off x="853520" y="3844734"/>
            <a:ext cx="4231636" cy="1743265"/>
          </a:xfrm>
          <a:prstGeom prst="rect">
            <a:avLst/>
          </a:prstGeom>
        </p:spPr>
      </p:pic>
    </p:spTree>
    <p:custDataLst>
      <p:tags r:id="rId1"/>
    </p:custDataLst>
    <p:extLst>
      <p:ext uri="{BB962C8B-B14F-4D97-AF65-F5344CB8AC3E}">
        <p14:creationId xmlns:p14="http://schemas.microsoft.com/office/powerpoint/2010/main" val="36335052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42598925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SG&amp;A vs. Relative Revenue Size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23210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23210 w 2023210"/>
                <a:gd name="connsiteY0" fmla="*/ 0 h 257442"/>
                <a:gd name="connsiteX1" fmla="*/ 1968490 w 2023210"/>
                <a:gd name="connsiteY1" fmla="*/ 257442 h 257442"/>
                <a:gd name="connsiteX2" fmla="*/ 0 w 2023210"/>
                <a:gd name="connsiteY2" fmla="*/ 257442 h 257442"/>
                <a:gd name="connsiteX3" fmla="*/ 54721 w 2023210"/>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0 w 2023209"/>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1 w 2023209"/>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8 w 2183510"/>
                <a:gd name="connsiteY1" fmla="*/ 257442 h 257442"/>
                <a:gd name="connsiteX2" fmla="*/ 0 w 2183510"/>
                <a:gd name="connsiteY2" fmla="*/ 257442 h 257442"/>
                <a:gd name="connsiteX3" fmla="*/ 54721 w 2183510"/>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351827 w 2351827"/>
                <a:gd name="connsiteY0" fmla="*/ 0 h 257442"/>
                <a:gd name="connsiteX1" fmla="*/ 2128789 w 2351827"/>
                <a:gd name="connsiteY1" fmla="*/ 257442 h 257442"/>
                <a:gd name="connsiteX2" fmla="*/ 0 w 2351827"/>
                <a:gd name="connsiteY2" fmla="*/ 257442 h 257442"/>
                <a:gd name="connsiteX3" fmla="*/ 54722 w 2351827"/>
                <a:gd name="connsiteY3" fmla="*/ 0 h 257442"/>
                <a:gd name="connsiteX0" fmla="*/ 2351827 w 2351827"/>
                <a:gd name="connsiteY0" fmla="*/ 0 h 257442"/>
                <a:gd name="connsiteX1" fmla="*/ 2297106 w 2351827"/>
                <a:gd name="connsiteY1" fmla="*/ 257442 h 257442"/>
                <a:gd name="connsiteX2" fmla="*/ 0 w 2351827"/>
                <a:gd name="connsiteY2" fmla="*/ 257442 h 257442"/>
                <a:gd name="connsiteX3" fmla="*/ 54722 w 2351827"/>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1 w 2351826"/>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0 w 2351826"/>
                <a:gd name="connsiteY3" fmla="*/ 0 h 257442"/>
                <a:gd name="connsiteX0" fmla="*/ 2514433 w 2514433"/>
                <a:gd name="connsiteY0" fmla="*/ 0 h 257442"/>
                <a:gd name="connsiteX1" fmla="*/ 2297105 w 2514433"/>
                <a:gd name="connsiteY1" fmla="*/ 257442 h 257442"/>
                <a:gd name="connsiteX2" fmla="*/ 0 w 2514433"/>
                <a:gd name="connsiteY2" fmla="*/ 257442 h 257442"/>
                <a:gd name="connsiteX3" fmla="*/ 54720 w 2514433"/>
                <a:gd name="connsiteY3" fmla="*/ 0 h 257442"/>
                <a:gd name="connsiteX0" fmla="*/ 2514433 w 2514433"/>
                <a:gd name="connsiteY0" fmla="*/ 0 h 257442"/>
                <a:gd name="connsiteX1" fmla="*/ 2459712 w 2514433"/>
                <a:gd name="connsiteY1" fmla="*/ 257442 h 257442"/>
                <a:gd name="connsiteX2" fmla="*/ 0 w 2514433"/>
                <a:gd name="connsiteY2" fmla="*/ 257442 h 257442"/>
                <a:gd name="connsiteX3" fmla="*/ 54720 w 2514433"/>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351826 w 2459713"/>
                <a:gd name="connsiteY0" fmla="*/ 0 h 257442"/>
                <a:gd name="connsiteX1" fmla="*/ 2459713 w 2459713"/>
                <a:gd name="connsiteY1" fmla="*/ 257442 h 257442"/>
                <a:gd name="connsiteX2" fmla="*/ 0 w 2459713"/>
                <a:gd name="connsiteY2" fmla="*/ 257442 h 257442"/>
                <a:gd name="connsiteX3" fmla="*/ 54721 w 2459713"/>
                <a:gd name="connsiteY3" fmla="*/ 0 h 257442"/>
                <a:gd name="connsiteX0" fmla="*/ 2351826 w 2351826"/>
                <a:gd name="connsiteY0" fmla="*/ 0 h 257442"/>
                <a:gd name="connsiteX1" fmla="*/ 2297106 w 2351826"/>
                <a:gd name="connsiteY1" fmla="*/ 257442 h 257442"/>
                <a:gd name="connsiteX2" fmla="*/ 0 w 2351826"/>
                <a:gd name="connsiteY2" fmla="*/ 257442 h 257442"/>
                <a:gd name="connsiteX3" fmla="*/ 54721 w 2351826"/>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0 w 2351825"/>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1 w 2351825"/>
                <a:gd name="connsiteY3" fmla="*/ 0 h 257442"/>
                <a:gd name="connsiteX0" fmla="*/ 2183510 w 2297105"/>
                <a:gd name="connsiteY0" fmla="*/ 0 h 257442"/>
                <a:gd name="connsiteX1" fmla="*/ 2297105 w 2297105"/>
                <a:gd name="connsiteY1" fmla="*/ 257442 h 257442"/>
                <a:gd name="connsiteX2" fmla="*/ 0 w 2297105"/>
                <a:gd name="connsiteY2" fmla="*/ 257442 h 257442"/>
                <a:gd name="connsiteX3" fmla="*/ 54721 w 2297105"/>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350250"/>
          </a:xfrm>
          <a:prstGeom prst="rect">
            <a:avLst/>
          </a:prstGeom>
          <a:noFill/>
        </p:spPr>
        <p:txBody>
          <a:bodyPr vert="horz" wrap="square" lIns="36000" tIns="36000" rIns="36000" bIns="36000" rtlCol="0">
            <a:spAutoFit/>
          </a:bodyPr>
          <a:lstStyle/>
          <a:p>
            <a:r>
              <a:rPr lang="en-US" sz="1200"/>
              <a:t>This slide highlights SG&amp;A spend relative to a company’s scale</a:t>
            </a:r>
          </a:p>
          <a:p>
            <a:r>
              <a:rPr lang="en-US" sz="1200"/>
              <a:t>First step is to </a:t>
            </a:r>
            <a:r>
              <a:rPr lang="en-US" sz="1200" b="1"/>
              <a:t>plot the relative revenue size and SG&amp;A % of revenue</a:t>
            </a:r>
          </a:p>
          <a:p>
            <a:r>
              <a:rPr lang="en-US" sz="1200"/>
              <a:t>Next, use the </a:t>
            </a:r>
            <a:r>
              <a:rPr lang="en-US" sz="1200" b="1"/>
              <a:t>CORREL</a:t>
            </a:r>
            <a:r>
              <a:rPr lang="en-US" sz="1200"/>
              <a:t> function in Excel to calculate R-squared (note that you’ll need to use the function </a:t>
            </a:r>
            <a:r>
              <a:rPr lang="en-US" sz="1200" i="1"/>
              <a:t>twice</a:t>
            </a:r>
            <a:r>
              <a:rPr lang="en-US" sz="1200"/>
              <a:t> to get R-</a:t>
            </a:r>
            <a:r>
              <a:rPr lang="en-US" sz="1200" i="1"/>
              <a:t>squared</a:t>
            </a:r>
            <a:r>
              <a:rPr lang="en-US" sz="1200"/>
              <a:t>); add that R-squared value on the upper right of the slide</a:t>
            </a:r>
          </a:p>
          <a:p>
            <a:r>
              <a:rPr lang="en-US" sz="1200"/>
              <a:t>We need to </a:t>
            </a:r>
            <a:r>
              <a:rPr lang="en-US" sz="1200" b="1"/>
              <a:t>manually calculate </a:t>
            </a:r>
            <a:r>
              <a:rPr lang="en-US" sz="1200"/>
              <a:t>the line of best fit, as well as the implied savings; for both of which, </a:t>
            </a:r>
            <a:r>
              <a:rPr lang="en-US" sz="1200" b="1"/>
              <a:t>we tend to leverage BCN’s support</a:t>
            </a:r>
          </a:p>
          <a:p>
            <a:r>
              <a:rPr lang="en-US" sz="1200"/>
              <a:t>We’ll often </a:t>
            </a:r>
            <a:r>
              <a:rPr lang="en-US" sz="1200" b="1"/>
              <a:t>calculate an implied savings </a:t>
            </a:r>
            <a:r>
              <a:rPr lang="en-US" sz="1200"/>
              <a:t>by closing the gap to the line of best fit, but this is </a:t>
            </a:r>
            <a:r>
              <a:rPr lang="en-US" sz="1200" b="1"/>
              <a:t>not always included </a:t>
            </a:r>
            <a:r>
              <a:rPr lang="en-US" sz="1200"/>
              <a:t>in our recommendations</a:t>
            </a:r>
          </a:p>
        </p:txBody>
      </p:sp>
      <p:pic>
        <p:nvPicPr>
          <p:cNvPr id="19" name="Picture 18">
            <a:extLst>
              <a:ext uri="{FF2B5EF4-FFF2-40B4-BE49-F238E27FC236}">
                <a16:creationId xmlns:a16="http://schemas.microsoft.com/office/drawing/2014/main" id="{C254EF6E-8134-907C-61CD-46B578E2C950}"/>
              </a:ext>
            </a:extLst>
          </p:cNvPr>
          <p:cNvPicPr>
            <a:picLocks noChangeAspect="1"/>
          </p:cNvPicPr>
          <p:nvPr/>
        </p:nvPicPr>
        <p:blipFill>
          <a:blip r:embed="rId12"/>
          <a:stretch>
            <a:fillRect/>
          </a:stretch>
        </p:blipFill>
        <p:spPr>
          <a:xfrm>
            <a:off x="6651266" y="2075536"/>
            <a:ext cx="4956534" cy="2706928"/>
          </a:xfrm>
          <a:prstGeom prst="rect">
            <a:avLst/>
          </a:prstGeom>
        </p:spPr>
      </p:pic>
      <p:pic>
        <p:nvPicPr>
          <p:cNvPr id="23" name="Picture 22">
            <a:extLst>
              <a:ext uri="{FF2B5EF4-FFF2-40B4-BE49-F238E27FC236}">
                <a16:creationId xmlns:a16="http://schemas.microsoft.com/office/drawing/2014/main" id="{349EE441-BD1B-2AA0-414F-4D1C1A7A0963}"/>
              </a:ext>
            </a:extLst>
          </p:cNvPr>
          <p:cNvPicPr>
            <a:picLocks noChangeAspect="1"/>
          </p:cNvPicPr>
          <p:nvPr/>
        </p:nvPicPr>
        <p:blipFill>
          <a:blip r:embed="rId13"/>
          <a:stretch>
            <a:fillRect/>
          </a:stretch>
        </p:blipFill>
        <p:spPr>
          <a:xfrm>
            <a:off x="330199" y="4118549"/>
            <a:ext cx="5406624" cy="2151177"/>
          </a:xfrm>
          <a:prstGeom prst="rect">
            <a:avLst/>
          </a:prstGeom>
        </p:spPr>
      </p:pic>
    </p:spTree>
    <p:custDataLst>
      <p:tags r:id="rId1"/>
    </p:custDataLst>
    <p:extLst>
      <p:ext uri="{BB962C8B-B14F-4D97-AF65-F5344CB8AC3E}">
        <p14:creationId xmlns:p14="http://schemas.microsoft.com/office/powerpoint/2010/main" val="32063246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15273823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606" imgH="608" progId="TCLayout.ActiveDocument.1">
                  <p:embed/>
                </p:oleObj>
              </mc:Choice>
              <mc:Fallback>
                <p:oleObj name="think-cell Slide" r:id="rId10"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Extra Output – SG&amp;A Required Change</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6456697" cy="257442"/>
            <a:chOff x="0" y="944429"/>
            <a:chExt cx="6456697"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8" y="944429"/>
              <a:ext cx="2666719"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025518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025518 w 2025518"/>
                <a:gd name="connsiteY0" fmla="*/ 0 h 257442"/>
                <a:gd name="connsiteX1" fmla="*/ 1970797 w 2025518"/>
                <a:gd name="connsiteY1" fmla="*/ 257442 h 257442"/>
                <a:gd name="connsiteX2" fmla="*/ 0 w 2025518"/>
                <a:gd name="connsiteY2" fmla="*/ 257442 h 257442"/>
                <a:gd name="connsiteX3" fmla="*/ 54721 w 2025518"/>
                <a:gd name="connsiteY3" fmla="*/ 0 h 257442"/>
                <a:gd name="connsiteX0" fmla="*/ 2199540 w 2199540"/>
                <a:gd name="connsiteY0" fmla="*/ 0 h 257442"/>
                <a:gd name="connsiteX1" fmla="*/ 1970797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199540 w 2199540"/>
                <a:gd name="connsiteY0" fmla="*/ 0 h 257442"/>
                <a:gd name="connsiteX1" fmla="*/ 2144819 w 2199540"/>
                <a:gd name="connsiteY1" fmla="*/ 257442 h 257442"/>
                <a:gd name="connsiteX2" fmla="*/ 0 w 2199540"/>
                <a:gd name="connsiteY2" fmla="*/ 257442 h 257442"/>
                <a:gd name="connsiteX3" fmla="*/ 54721 w 2199540"/>
                <a:gd name="connsiteY3" fmla="*/ 0 h 257442"/>
                <a:gd name="connsiteX0" fmla="*/ 2367856 w 2367856"/>
                <a:gd name="connsiteY0" fmla="*/ 0 h 257442"/>
                <a:gd name="connsiteX1" fmla="*/ 2144819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367856 w 2367856"/>
                <a:gd name="connsiteY0" fmla="*/ 0 h 257442"/>
                <a:gd name="connsiteX1" fmla="*/ 2313135 w 2367856"/>
                <a:gd name="connsiteY1" fmla="*/ 257442 h 257442"/>
                <a:gd name="connsiteX2" fmla="*/ 0 w 2367856"/>
                <a:gd name="connsiteY2" fmla="*/ 257442 h 257442"/>
                <a:gd name="connsiteX3" fmla="*/ 54721 w 2367856"/>
                <a:gd name="connsiteY3" fmla="*/ 0 h 257442"/>
                <a:gd name="connsiteX0" fmla="*/ 2621130 w 2621130"/>
                <a:gd name="connsiteY0" fmla="*/ 0 h 257442"/>
                <a:gd name="connsiteX1" fmla="*/ 2313135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621130 w 2621130"/>
                <a:gd name="connsiteY0" fmla="*/ 0 h 257442"/>
                <a:gd name="connsiteX1" fmla="*/ 2566409 w 2621130"/>
                <a:gd name="connsiteY1" fmla="*/ 257442 h 257442"/>
                <a:gd name="connsiteX2" fmla="*/ 0 w 2621130"/>
                <a:gd name="connsiteY2" fmla="*/ 257442 h 257442"/>
                <a:gd name="connsiteX3" fmla="*/ 54721 w 2621130"/>
                <a:gd name="connsiteY3" fmla="*/ 0 h 257442"/>
                <a:gd name="connsiteX0" fmla="*/ 2900052 w 2900052"/>
                <a:gd name="connsiteY0" fmla="*/ 0 h 257442"/>
                <a:gd name="connsiteX1" fmla="*/ 2566409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2900052 w 2900052"/>
                <a:gd name="connsiteY0" fmla="*/ 0 h 257442"/>
                <a:gd name="connsiteX1" fmla="*/ 2845332 w 2900052"/>
                <a:gd name="connsiteY1" fmla="*/ 257442 h 257442"/>
                <a:gd name="connsiteX2" fmla="*/ 0 w 2900052"/>
                <a:gd name="connsiteY2" fmla="*/ 257442 h 257442"/>
                <a:gd name="connsiteX3" fmla="*/ 54721 w 2900052"/>
                <a:gd name="connsiteY3" fmla="*/ 0 h 257442"/>
                <a:gd name="connsiteX0" fmla="*/ 3068368 w 3068368"/>
                <a:gd name="connsiteY0" fmla="*/ 0 h 257442"/>
                <a:gd name="connsiteX1" fmla="*/ 2845332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068368 w 3068368"/>
                <a:gd name="connsiteY0" fmla="*/ 0 h 257442"/>
                <a:gd name="connsiteX1" fmla="*/ 3013647 w 3068368"/>
                <a:gd name="connsiteY1" fmla="*/ 257442 h 257442"/>
                <a:gd name="connsiteX2" fmla="*/ 0 w 3068368"/>
                <a:gd name="connsiteY2" fmla="*/ 257442 h 257442"/>
                <a:gd name="connsiteX3" fmla="*/ 54721 w 3068368"/>
                <a:gd name="connsiteY3" fmla="*/ 0 h 257442"/>
                <a:gd name="connsiteX0" fmla="*/ 3230976 w 3230976"/>
                <a:gd name="connsiteY0" fmla="*/ 0 h 257442"/>
                <a:gd name="connsiteX1" fmla="*/ 3013647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3230976 w 3230976"/>
                <a:gd name="connsiteY0" fmla="*/ 0 h 257442"/>
                <a:gd name="connsiteX1" fmla="*/ 3176255 w 3230976"/>
                <a:gd name="connsiteY1" fmla="*/ 257442 h 257442"/>
                <a:gd name="connsiteX2" fmla="*/ 0 w 3230976"/>
                <a:gd name="connsiteY2" fmla="*/ 257442 h 257442"/>
                <a:gd name="connsiteX3" fmla="*/ 54721 w 3230976"/>
                <a:gd name="connsiteY3" fmla="*/ 0 h 257442"/>
                <a:gd name="connsiteX0" fmla="*/ 2023210 w 3176255"/>
                <a:gd name="connsiteY0" fmla="*/ 0 h 257442"/>
                <a:gd name="connsiteX1" fmla="*/ 3176255 w 3176255"/>
                <a:gd name="connsiteY1" fmla="*/ 257442 h 257442"/>
                <a:gd name="connsiteX2" fmla="*/ 0 w 3176255"/>
                <a:gd name="connsiteY2" fmla="*/ 257442 h 257442"/>
                <a:gd name="connsiteX3" fmla="*/ 54721 w 3176255"/>
                <a:gd name="connsiteY3" fmla="*/ 0 h 257442"/>
                <a:gd name="connsiteX0" fmla="*/ 2023210 w 2023210"/>
                <a:gd name="connsiteY0" fmla="*/ 0 h 257442"/>
                <a:gd name="connsiteX1" fmla="*/ 1968490 w 2023210"/>
                <a:gd name="connsiteY1" fmla="*/ 257442 h 257442"/>
                <a:gd name="connsiteX2" fmla="*/ 0 w 2023210"/>
                <a:gd name="connsiteY2" fmla="*/ 257442 h 257442"/>
                <a:gd name="connsiteX3" fmla="*/ 54721 w 2023210"/>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0 w 2023209"/>
                <a:gd name="connsiteY3" fmla="*/ 0 h 257442"/>
                <a:gd name="connsiteX0" fmla="*/ 2023209 w 2023209"/>
                <a:gd name="connsiteY0" fmla="*/ 0 h 257442"/>
                <a:gd name="connsiteX1" fmla="*/ 1968489 w 2023209"/>
                <a:gd name="connsiteY1" fmla="*/ 257442 h 257442"/>
                <a:gd name="connsiteX2" fmla="*/ 0 w 2023209"/>
                <a:gd name="connsiteY2" fmla="*/ 257442 h 257442"/>
                <a:gd name="connsiteX3" fmla="*/ 54721 w 2023209"/>
                <a:gd name="connsiteY3" fmla="*/ 0 h 257442"/>
                <a:gd name="connsiteX0" fmla="*/ 2183510 w 2183510"/>
                <a:gd name="connsiteY0" fmla="*/ 0 h 257442"/>
                <a:gd name="connsiteX1" fmla="*/ 19684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8 w 2183510"/>
                <a:gd name="connsiteY1" fmla="*/ 257442 h 257442"/>
                <a:gd name="connsiteX2" fmla="*/ 0 w 2183510"/>
                <a:gd name="connsiteY2" fmla="*/ 257442 h 257442"/>
                <a:gd name="connsiteX3" fmla="*/ 54721 w 2183510"/>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183511 w 2183511"/>
                <a:gd name="connsiteY0" fmla="*/ 0 h 257442"/>
                <a:gd name="connsiteX1" fmla="*/ 2128789 w 2183511"/>
                <a:gd name="connsiteY1" fmla="*/ 257442 h 257442"/>
                <a:gd name="connsiteX2" fmla="*/ 0 w 2183511"/>
                <a:gd name="connsiteY2" fmla="*/ 257442 h 257442"/>
                <a:gd name="connsiteX3" fmla="*/ 54722 w 2183511"/>
                <a:gd name="connsiteY3" fmla="*/ 0 h 257442"/>
                <a:gd name="connsiteX0" fmla="*/ 2351827 w 2351827"/>
                <a:gd name="connsiteY0" fmla="*/ 0 h 257442"/>
                <a:gd name="connsiteX1" fmla="*/ 2128789 w 2351827"/>
                <a:gd name="connsiteY1" fmla="*/ 257442 h 257442"/>
                <a:gd name="connsiteX2" fmla="*/ 0 w 2351827"/>
                <a:gd name="connsiteY2" fmla="*/ 257442 h 257442"/>
                <a:gd name="connsiteX3" fmla="*/ 54722 w 2351827"/>
                <a:gd name="connsiteY3" fmla="*/ 0 h 257442"/>
                <a:gd name="connsiteX0" fmla="*/ 2351827 w 2351827"/>
                <a:gd name="connsiteY0" fmla="*/ 0 h 257442"/>
                <a:gd name="connsiteX1" fmla="*/ 2297106 w 2351827"/>
                <a:gd name="connsiteY1" fmla="*/ 257442 h 257442"/>
                <a:gd name="connsiteX2" fmla="*/ 0 w 2351827"/>
                <a:gd name="connsiteY2" fmla="*/ 257442 h 257442"/>
                <a:gd name="connsiteX3" fmla="*/ 54722 w 2351827"/>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1 w 2351826"/>
                <a:gd name="connsiteY3" fmla="*/ 0 h 257442"/>
                <a:gd name="connsiteX0" fmla="*/ 2351826 w 2351826"/>
                <a:gd name="connsiteY0" fmla="*/ 0 h 257442"/>
                <a:gd name="connsiteX1" fmla="*/ 2297105 w 2351826"/>
                <a:gd name="connsiteY1" fmla="*/ 257442 h 257442"/>
                <a:gd name="connsiteX2" fmla="*/ 0 w 2351826"/>
                <a:gd name="connsiteY2" fmla="*/ 257442 h 257442"/>
                <a:gd name="connsiteX3" fmla="*/ 54720 w 2351826"/>
                <a:gd name="connsiteY3" fmla="*/ 0 h 257442"/>
                <a:gd name="connsiteX0" fmla="*/ 2514433 w 2514433"/>
                <a:gd name="connsiteY0" fmla="*/ 0 h 257442"/>
                <a:gd name="connsiteX1" fmla="*/ 2297105 w 2514433"/>
                <a:gd name="connsiteY1" fmla="*/ 257442 h 257442"/>
                <a:gd name="connsiteX2" fmla="*/ 0 w 2514433"/>
                <a:gd name="connsiteY2" fmla="*/ 257442 h 257442"/>
                <a:gd name="connsiteX3" fmla="*/ 54720 w 2514433"/>
                <a:gd name="connsiteY3" fmla="*/ 0 h 257442"/>
                <a:gd name="connsiteX0" fmla="*/ 2514433 w 2514433"/>
                <a:gd name="connsiteY0" fmla="*/ 0 h 257442"/>
                <a:gd name="connsiteX1" fmla="*/ 2459712 w 2514433"/>
                <a:gd name="connsiteY1" fmla="*/ 257442 h 257442"/>
                <a:gd name="connsiteX2" fmla="*/ 0 w 2514433"/>
                <a:gd name="connsiteY2" fmla="*/ 257442 h 257442"/>
                <a:gd name="connsiteX3" fmla="*/ 54720 w 2514433"/>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514434 w 2514434"/>
                <a:gd name="connsiteY0" fmla="*/ 0 h 257442"/>
                <a:gd name="connsiteX1" fmla="*/ 2459713 w 2514434"/>
                <a:gd name="connsiteY1" fmla="*/ 257442 h 257442"/>
                <a:gd name="connsiteX2" fmla="*/ 0 w 2514434"/>
                <a:gd name="connsiteY2" fmla="*/ 257442 h 257442"/>
                <a:gd name="connsiteX3" fmla="*/ 54721 w 2514434"/>
                <a:gd name="connsiteY3" fmla="*/ 0 h 257442"/>
                <a:gd name="connsiteX0" fmla="*/ 2351826 w 2459713"/>
                <a:gd name="connsiteY0" fmla="*/ 0 h 257442"/>
                <a:gd name="connsiteX1" fmla="*/ 2459713 w 2459713"/>
                <a:gd name="connsiteY1" fmla="*/ 257442 h 257442"/>
                <a:gd name="connsiteX2" fmla="*/ 0 w 2459713"/>
                <a:gd name="connsiteY2" fmla="*/ 257442 h 257442"/>
                <a:gd name="connsiteX3" fmla="*/ 54721 w 2459713"/>
                <a:gd name="connsiteY3" fmla="*/ 0 h 257442"/>
                <a:gd name="connsiteX0" fmla="*/ 2351826 w 2351826"/>
                <a:gd name="connsiteY0" fmla="*/ 0 h 257442"/>
                <a:gd name="connsiteX1" fmla="*/ 2297106 w 2351826"/>
                <a:gd name="connsiteY1" fmla="*/ 257442 h 257442"/>
                <a:gd name="connsiteX2" fmla="*/ 0 w 2351826"/>
                <a:gd name="connsiteY2" fmla="*/ 257442 h 257442"/>
                <a:gd name="connsiteX3" fmla="*/ 54721 w 2351826"/>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0 w 2351825"/>
                <a:gd name="connsiteY3" fmla="*/ 0 h 257442"/>
                <a:gd name="connsiteX0" fmla="*/ 2351825 w 2351825"/>
                <a:gd name="connsiteY0" fmla="*/ 0 h 257442"/>
                <a:gd name="connsiteX1" fmla="*/ 2297105 w 2351825"/>
                <a:gd name="connsiteY1" fmla="*/ 257442 h 257442"/>
                <a:gd name="connsiteX2" fmla="*/ 0 w 2351825"/>
                <a:gd name="connsiteY2" fmla="*/ 257442 h 257442"/>
                <a:gd name="connsiteX3" fmla="*/ 54721 w 2351825"/>
                <a:gd name="connsiteY3" fmla="*/ 0 h 257442"/>
                <a:gd name="connsiteX0" fmla="*/ 2183510 w 2297105"/>
                <a:gd name="connsiteY0" fmla="*/ 0 h 257442"/>
                <a:gd name="connsiteX1" fmla="*/ 2297105 w 2297105"/>
                <a:gd name="connsiteY1" fmla="*/ 257442 h 257442"/>
                <a:gd name="connsiteX2" fmla="*/ 0 w 2297105"/>
                <a:gd name="connsiteY2" fmla="*/ 257442 h 257442"/>
                <a:gd name="connsiteX3" fmla="*/ 54721 w 2297105"/>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183510 w 2183510"/>
                <a:gd name="connsiteY0" fmla="*/ 0 h 257442"/>
                <a:gd name="connsiteX1" fmla="*/ 2128789 w 2183510"/>
                <a:gd name="connsiteY1" fmla="*/ 257442 h 257442"/>
                <a:gd name="connsiteX2" fmla="*/ 0 w 2183510"/>
                <a:gd name="connsiteY2" fmla="*/ 257442 h 257442"/>
                <a:gd name="connsiteX3" fmla="*/ 54721 w 2183510"/>
                <a:gd name="connsiteY3" fmla="*/ 0 h 257442"/>
                <a:gd name="connsiteX0" fmla="*/ 2504110 w 2504110"/>
                <a:gd name="connsiteY0" fmla="*/ 0 h 257442"/>
                <a:gd name="connsiteX1" fmla="*/ 21287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504110 w 2504110"/>
                <a:gd name="connsiteY0" fmla="*/ 0 h 257442"/>
                <a:gd name="connsiteX1" fmla="*/ 2449389 w 2504110"/>
                <a:gd name="connsiteY1" fmla="*/ 257442 h 257442"/>
                <a:gd name="connsiteX2" fmla="*/ 0 w 2504110"/>
                <a:gd name="connsiteY2" fmla="*/ 257442 h 257442"/>
                <a:gd name="connsiteX3" fmla="*/ 54721 w 2504110"/>
                <a:gd name="connsiteY3" fmla="*/ 0 h 257442"/>
                <a:gd name="connsiteX0" fmla="*/ 2666719 w 2666719"/>
                <a:gd name="connsiteY0" fmla="*/ 0 h 257442"/>
                <a:gd name="connsiteX1" fmla="*/ 2449389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 name="connsiteX0" fmla="*/ 2666719 w 2666719"/>
                <a:gd name="connsiteY0" fmla="*/ 0 h 257442"/>
                <a:gd name="connsiteX1" fmla="*/ 2611998 w 2666719"/>
                <a:gd name="connsiteY1" fmla="*/ 257442 h 257442"/>
                <a:gd name="connsiteX2" fmla="*/ 0 w 2666719"/>
                <a:gd name="connsiteY2" fmla="*/ 257442 h 257442"/>
                <a:gd name="connsiteX3" fmla="*/ 54721 w 2666719"/>
                <a:gd name="connsiteY3" fmla="*/ 0 h 257442"/>
              </a:gdLst>
              <a:ahLst/>
              <a:cxnLst>
                <a:cxn ang="0">
                  <a:pos x="connsiteX0" y="connsiteY0"/>
                </a:cxn>
                <a:cxn ang="0">
                  <a:pos x="connsiteX1" y="connsiteY1"/>
                </a:cxn>
                <a:cxn ang="0">
                  <a:pos x="connsiteX2" y="connsiteY2"/>
                </a:cxn>
                <a:cxn ang="0">
                  <a:pos x="connsiteX3" y="connsiteY3"/>
                </a:cxn>
              </a:cxnLst>
              <a:rect l="l" t="t" r="r" b="b"/>
              <a:pathLst>
                <a:path w="2666719" h="257442">
                  <a:moveTo>
                    <a:pt x="2666719" y="0"/>
                  </a:moveTo>
                  <a:lnTo>
                    <a:pt x="2611998" y="257442"/>
                  </a:lnTo>
                  <a:lnTo>
                    <a:pt x="0" y="257442"/>
                  </a:lnTo>
                  <a:lnTo>
                    <a:pt x="54721"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2611998"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extra output</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grpSp>
        <p:nvGrpSpPr>
          <p:cNvPr id="44" name="btfpColumnHeaderBox932686">
            <a:extLst>
              <a:ext uri="{FF2B5EF4-FFF2-40B4-BE49-F238E27FC236}">
                <a16:creationId xmlns:a16="http://schemas.microsoft.com/office/drawing/2014/main" id="{7FEB1233-8933-7594-4EB2-662397FF6174}"/>
              </a:ext>
            </a:extLst>
          </p:cNvPr>
          <p:cNvGrpSpPr/>
          <p:nvPr>
            <p:custDataLst>
              <p:tags r:id="rId6"/>
            </p:custDataLst>
          </p:nvPr>
        </p:nvGrpSpPr>
        <p:grpSpPr>
          <a:xfrm>
            <a:off x="6366272" y="1270000"/>
            <a:ext cx="5495528" cy="318997"/>
            <a:chOff x="6366272" y="1270000"/>
            <a:chExt cx="5495528" cy="318997"/>
          </a:xfrm>
        </p:grpSpPr>
        <p:sp>
          <p:nvSpPr>
            <p:cNvPr id="42" name="btfpColumnHeaderBoxText932686">
              <a:extLst>
                <a:ext uri="{FF2B5EF4-FFF2-40B4-BE49-F238E27FC236}">
                  <a16:creationId xmlns:a16="http://schemas.microsoft.com/office/drawing/2014/main" id="{A4DF306E-C70A-C73A-C023-851A4B5E0F67}"/>
                </a:ext>
              </a:extLst>
            </p:cNvPr>
            <p:cNvSpPr txBox="1"/>
            <p:nvPr/>
          </p:nvSpPr>
          <p:spPr bwMode="gray">
            <a:xfrm>
              <a:off x="6366272"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Output</a:t>
              </a:r>
            </a:p>
          </p:txBody>
        </p:sp>
        <p:cxnSp>
          <p:nvCxnSpPr>
            <p:cNvPr id="43" name="btfpColumnHeaderBoxLine932686">
              <a:extLst>
                <a:ext uri="{FF2B5EF4-FFF2-40B4-BE49-F238E27FC236}">
                  <a16:creationId xmlns:a16="http://schemas.microsoft.com/office/drawing/2014/main" id="{F5502620-1B4C-754F-5110-3D90EB27E623}"/>
                </a:ext>
              </a:extLst>
            </p:cNvPr>
            <p:cNvCxnSpPr/>
            <p:nvPr/>
          </p:nvCxnSpPr>
          <p:spPr bwMode="gray">
            <a:xfrm>
              <a:off x="6366272"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grpSp>
        <p:nvGrpSpPr>
          <p:cNvPr id="51" name="btfpColumnHeaderBox871538">
            <a:extLst>
              <a:ext uri="{FF2B5EF4-FFF2-40B4-BE49-F238E27FC236}">
                <a16:creationId xmlns:a16="http://schemas.microsoft.com/office/drawing/2014/main" id="{74216C94-B936-93F6-88D6-082DAFBA3734}"/>
              </a:ext>
            </a:extLst>
          </p:cNvPr>
          <p:cNvGrpSpPr/>
          <p:nvPr>
            <p:custDataLst>
              <p:tags r:id="rId7"/>
            </p:custDataLst>
          </p:nvPr>
        </p:nvGrpSpPr>
        <p:grpSpPr>
          <a:xfrm>
            <a:off x="330200" y="1270000"/>
            <a:ext cx="5495528" cy="318997"/>
            <a:chOff x="330200" y="1270000"/>
            <a:chExt cx="5495528" cy="318997"/>
          </a:xfrm>
        </p:grpSpPr>
        <p:sp>
          <p:nvSpPr>
            <p:cNvPr id="49" name="btfpColumnHeaderBoxText871538">
              <a:extLst>
                <a:ext uri="{FF2B5EF4-FFF2-40B4-BE49-F238E27FC236}">
                  <a16:creationId xmlns:a16="http://schemas.microsoft.com/office/drawing/2014/main" id="{0E330C97-E976-36ED-E1B1-67D1FD6A85E7}"/>
                </a:ext>
              </a:extLst>
            </p:cNvPr>
            <p:cNvSpPr txBox="1"/>
            <p:nvPr/>
          </p:nvSpPr>
          <p:spPr bwMode="gray">
            <a:xfrm>
              <a:off x="330200" y="1270000"/>
              <a:ext cx="5495528" cy="315913"/>
            </a:xfrm>
            <a:prstGeom prst="rect">
              <a:avLst/>
            </a:prstGeom>
            <a:noFill/>
          </p:spPr>
          <p:txBody>
            <a:bodyPr vert="horz" wrap="square" lIns="36036" tIns="36036" rIns="36036" bIns="36036" rtlCol="0" anchor="b">
              <a:spAutoFit/>
            </a:bodyPr>
            <a:lstStyle/>
            <a:p>
              <a:pPr marL="0" indent="0">
                <a:spcBef>
                  <a:spcPts val="0"/>
                </a:spcBef>
                <a:buNone/>
              </a:pPr>
              <a:r>
                <a:rPr lang="en-US" sz="1600" b="1">
                  <a:solidFill>
                    <a:srgbClr val="000000"/>
                  </a:solidFill>
                </a:rPr>
                <a:t>Input</a:t>
              </a:r>
            </a:p>
          </p:txBody>
        </p:sp>
        <p:cxnSp>
          <p:nvCxnSpPr>
            <p:cNvPr id="50" name="btfpColumnHeaderBoxLine871538">
              <a:extLst>
                <a:ext uri="{FF2B5EF4-FFF2-40B4-BE49-F238E27FC236}">
                  <a16:creationId xmlns:a16="http://schemas.microsoft.com/office/drawing/2014/main" id="{242DD447-0845-1590-D2C0-30A6E3084588}"/>
                </a:ext>
              </a:extLst>
            </p:cNvPr>
            <p:cNvCxnSpPr/>
            <p:nvPr/>
          </p:nvCxnSpPr>
          <p:spPr bwMode="gray">
            <a:xfrm>
              <a:off x="330200" y="1588997"/>
              <a:ext cx="5495528" cy="0"/>
            </a:xfrm>
            <a:prstGeom prst="line">
              <a:avLst/>
            </a:prstGeom>
            <a:ln w="9525" cap="flat">
              <a:solidFill>
                <a:srgbClr val="000000"/>
              </a:solidFill>
              <a:miter lim="800000"/>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8"/>
            </p:custDataLst>
          </p:nvPr>
        </p:nvSpPr>
        <p:spPr bwMode="gray">
          <a:xfrm>
            <a:off x="330199" y="1715997"/>
            <a:ext cx="5495528" cy="2011695"/>
          </a:xfrm>
          <a:prstGeom prst="rect">
            <a:avLst/>
          </a:prstGeom>
          <a:noFill/>
        </p:spPr>
        <p:txBody>
          <a:bodyPr vert="horz" wrap="square" lIns="36000" tIns="36000" rIns="36000" bIns="36000" rtlCol="0">
            <a:spAutoFit/>
          </a:bodyPr>
          <a:lstStyle/>
          <a:p>
            <a:r>
              <a:rPr lang="en-US" sz="1200"/>
              <a:t>This slide explains how </a:t>
            </a:r>
            <a:r>
              <a:rPr lang="en-US" sz="1200" b="1"/>
              <a:t>SG&amp;A would need to change for its % of revenue to remain consistent </a:t>
            </a:r>
            <a:r>
              <a:rPr lang="en-US" sz="1200"/>
              <a:t>over time</a:t>
            </a:r>
          </a:p>
          <a:p>
            <a:r>
              <a:rPr lang="en-US" sz="1200"/>
              <a:t>We’ll often leverage this slide in cases where a company’s </a:t>
            </a:r>
            <a:r>
              <a:rPr lang="en-US" sz="1200" b="1"/>
              <a:t>revenue is expected to fall significantly</a:t>
            </a:r>
            <a:endParaRPr lang="en-US" sz="1200"/>
          </a:p>
          <a:p>
            <a:r>
              <a:rPr lang="en-US" sz="1200"/>
              <a:t>For this slide, you’ll need to </a:t>
            </a:r>
            <a:r>
              <a:rPr lang="en-US" sz="1200" b="1"/>
              <a:t>manually calculate </a:t>
            </a:r>
            <a:r>
              <a:rPr lang="en-US" sz="1200"/>
              <a:t>the SG&amp;A spend reduction needed to maintain a particular % of revenue</a:t>
            </a:r>
          </a:p>
          <a:p>
            <a:r>
              <a:rPr lang="en-US" sz="1200"/>
              <a:t>The output should clearly illustrate </a:t>
            </a:r>
            <a:r>
              <a:rPr lang="en-US" sz="1200" b="1"/>
              <a:t>historical SG&amp;A % of revenue</a:t>
            </a:r>
            <a:r>
              <a:rPr lang="en-US" sz="1200"/>
              <a:t>, as well as the </a:t>
            </a:r>
            <a:r>
              <a:rPr lang="en-US" sz="1200" b="1"/>
              <a:t>default and reduced scenarios</a:t>
            </a:r>
          </a:p>
        </p:txBody>
      </p:sp>
      <p:pic>
        <p:nvPicPr>
          <p:cNvPr id="16" name="Picture 15">
            <a:extLst>
              <a:ext uri="{FF2B5EF4-FFF2-40B4-BE49-F238E27FC236}">
                <a16:creationId xmlns:a16="http://schemas.microsoft.com/office/drawing/2014/main" id="{D6DE0760-36F1-B5B5-DD2C-A61C8EEA5C1F}"/>
              </a:ext>
            </a:extLst>
          </p:cNvPr>
          <p:cNvPicPr>
            <a:picLocks noChangeAspect="1"/>
          </p:cNvPicPr>
          <p:nvPr/>
        </p:nvPicPr>
        <p:blipFill>
          <a:blip r:embed="rId12"/>
          <a:stretch>
            <a:fillRect/>
          </a:stretch>
        </p:blipFill>
        <p:spPr>
          <a:xfrm>
            <a:off x="6718712" y="1900612"/>
            <a:ext cx="4790647" cy="2614237"/>
          </a:xfrm>
          <a:prstGeom prst="rect">
            <a:avLst/>
          </a:prstGeom>
        </p:spPr>
      </p:pic>
    </p:spTree>
    <p:custDataLst>
      <p:tags r:id="rId1"/>
    </p:custDataLst>
    <p:extLst>
      <p:ext uri="{BB962C8B-B14F-4D97-AF65-F5344CB8AC3E}">
        <p14:creationId xmlns:p14="http://schemas.microsoft.com/office/powerpoint/2010/main" val="19420746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5504781B-C86C-84A2-FF6E-AC30446C81C9}"/>
              </a:ext>
            </a:extLst>
          </p:cNvPr>
          <p:cNvGraphicFramePr>
            <a:graphicFrameLocks/>
          </p:cNvGraphicFramePr>
          <p:nvPr>
            <p:custDataLst>
              <p:tags r:id="rId2"/>
            </p:custDataLst>
            <p:extLst>
              <p:ext uri="{D42A27DB-BD31-4B8C-83A1-F6EECF244321}">
                <p14:modId xmlns:p14="http://schemas.microsoft.com/office/powerpoint/2010/main" val="41593317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606" imgH="608" progId="TCLayout.ActiveDocument.1">
                  <p:embed/>
                </p:oleObj>
              </mc:Choice>
              <mc:Fallback>
                <p:oleObj name="think-cell Slide" r:id="rId8" imgW="606" imgH="608" progId="TCLayout.ActiveDocument.1">
                  <p:embed/>
                  <p:pic>
                    <p:nvPicPr>
                      <p:cNvPr id="33" name="think-cell data - do not delete" hidden="1">
                        <a:extLst>
                          <a:ext uri="{FF2B5EF4-FFF2-40B4-BE49-F238E27FC236}">
                            <a16:creationId xmlns:a16="http://schemas.microsoft.com/office/drawing/2014/main" id="{5504781B-C86C-84A2-FF6E-AC30446C81C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17" name="btfpColumnIndicatorGroup2">
            <a:extLst>
              <a:ext uri="{FF2B5EF4-FFF2-40B4-BE49-F238E27FC236}">
                <a16:creationId xmlns:a16="http://schemas.microsoft.com/office/drawing/2014/main" id="{1264C450-986E-3D37-9B71-C2156E7FC1B9}"/>
              </a:ext>
            </a:extLst>
          </p:cNvPr>
          <p:cNvGrpSpPr/>
          <p:nvPr/>
        </p:nvGrpSpPr>
        <p:grpSpPr>
          <a:xfrm>
            <a:off x="0" y="6926580"/>
            <a:ext cx="12192000" cy="137160"/>
            <a:chOff x="0" y="6926580"/>
            <a:chExt cx="12192000" cy="137160"/>
          </a:xfrm>
        </p:grpSpPr>
        <p:sp>
          <p:nvSpPr>
            <p:cNvPr id="115" name="btfpColumnGapBlocker326714">
              <a:extLst>
                <a:ext uri="{FF2B5EF4-FFF2-40B4-BE49-F238E27FC236}">
                  <a16:creationId xmlns:a16="http://schemas.microsoft.com/office/drawing/2014/main" id="{655501E8-EC93-3B37-998C-724C73C965C1}"/>
                </a:ext>
              </a:extLst>
            </p:cNvPr>
            <p:cNvSpPr/>
            <p:nvPr/>
          </p:nvSpPr>
          <p:spPr bwMode="gray">
            <a:xfrm>
              <a:off x="1186180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3" name="btfpColumnGapBlocker905319">
              <a:extLst>
                <a:ext uri="{FF2B5EF4-FFF2-40B4-BE49-F238E27FC236}">
                  <a16:creationId xmlns:a16="http://schemas.microsoft.com/office/drawing/2014/main" id="{63104853-ADDF-8717-7A7D-5996455BBD40}"/>
                </a:ext>
              </a:extLst>
            </p:cNvPr>
            <p:cNvSpPr/>
            <p:nvPr/>
          </p:nvSpPr>
          <p:spPr bwMode="gray">
            <a:xfrm>
              <a:off x="5825728" y="692658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1" name="btfpColumnIndicator109358">
              <a:extLst>
                <a:ext uri="{FF2B5EF4-FFF2-40B4-BE49-F238E27FC236}">
                  <a16:creationId xmlns:a16="http://schemas.microsoft.com/office/drawing/2014/main" id="{2C9C4FDD-9AB7-654D-DBDA-10F1BA8310CB}"/>
                </a:ext>
              </a:extLst>
            </p:cNvPr>
            <p:cNvCxnSpPr/>
            <p:nvPr/>
          </p:nvCxnSpPr>
          <p:spPr bwMode="gray">
            <a:xfrm flipV="1">
              <a:off x="118618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9" name="btfpColumnIndicator296341">
              <a:extLst>
                <a:ext uri="{FF2B5EF4-FFF2-40B4-BE49-F238E27FC236}">
                  <a16:creationId xmlns:a16="http://schemas.microsoft.com/office/drawing/2014/main" id="{6ED1E3BF-7731-690F-267B-0714286DC38B}"/>
                </a:ext>
              </a:extLst>
            </p:cNvPr>
            <p:cNvCxnSpPr/>
            <p:nvPr/>
          </p:nvCxnSpPr>
          <p:spPr bwMode="gray">
            <a:xfrm flipV="1">
              <a:off x="6366272"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7" name="btfpColumnGapBlocker948297">
              <a:extLst>
                <a:ext uri="{FF2B5EF4-FFF2-40B4-BE49-F238E27FC236}">
                  <a16:creationId xmlns:a16="http://schemas.microsoft.com/office/drawing/2014/main" id="{95188702-7F97-CCB2-D67D-CF26F442702D}"/>
                </a:ext>
              </a:extLst>
            </p:cNvPr>
            <p:cNvSpPr/>
            <p:nvPr/>
          </p:nvSpPr>
          <p:spPr bwMode="gray">
            <a:xfrm>
              <a:off x="0" y="692658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5" name="btfpColumnIndicator109210">
              <a:extLst>
                <a:ext uri="{FF2B5EF4-FFF2-40B4-BE49-F238E27FC236}">
                  <a16:creationId xmlns:a16="http://schemas.microsoft.com/office/drawing/2014/main" id="{CF834AAB-C83C-0C56-F57C-423D71909CD4}"/>
                </a:ext>
              </a:extLst>
            </p:cNvPr>
            <p:cNvCxnSpPr/>
            <p:nvPr/>
          </p:nvCxnSpPr>
          <p:spPr bwMode="gray">
            <a:xfrm flipV="1">
              <a:off x="5825728"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3" name="btfpColumnIndicator462704">
              <a:extLst>
                <a:ext uri="{FF2B5EF4-FFF2-40B4-BE49-F238E27FC236}">
                  <a16:creationId xmlns:a16="http://schemas.microsoft.com/office/drawing/2014/main" id="{7034809A-4116-19C8-BE6B-BA3ECB6EBA2F}"/>
                </a:ext>
              </a:extLst>
            </p:cNvPr>
            <p:cNvCxnSpPr/>
            <p:nvPr/>
          </p:nvCxnSpPr>
          <p:spPr bwMode="gray">
            <a:xfrm flipV="1">
              <a:off x="330200" y="692658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grpSp>
        <p:nvGrpSpPr>
          <p:cNvPr id="116" name="btfpColumnIndicatorGroup1">
            <a:extLst>
              <a:ext uri="{FF2B5EF4-FFF2-40B4-BE49-F238E27FC236}">
                <a16:creationId xmlns:a16="http://schemas.microsoft.com/office/drawing/2014/main" id="{69EE4460-3DD3-F5BB-80E5-FC1789D0B458}"/>
              </a:ext>
            </a:extLst>
          </p:cNvPr>
          <p:cNvGrpSpPr/>
          <p:nvPr/>
        </p:nvGrpSpPr>
        <p:grpSpPr>
          <a:xfrm>
            <a:off x="0" y="-205740"/>
            <a:ext cx="12192000" cy="137160"/>
            <a:chOff x="0" y="-205740"/>
            <a:chExt cx="12192000" cy="137160"/>
          </a:xfrm>
        </p:grpSpPr>
        <p:sp>
          <p:nvSpPr>
            <p:cNvPr id="114" name="btfpColumnGapBlocker721373">
              <a:extLst>
                <a:ext uri="{FF2B5EF4-FFF2-40B4-BE49-F238E27FC236}">
                  <a16:creationId xmlns:a16="http://schemas.microsoft.com/office/drawing/2014/main" id="{2C061634-97A6-1D63-7B48-D49F66D42796}"/>
                </a:ext>
              </a:extLst>
            </p:cNvPr>
            <p:cNvSpPr/>
            <p:nvPr/>
          </p:nvSpPr>
          <p:spPr bwMode="gray">
            <a:xfrm>
              <a:off x="1186180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2" name="btfpColumnGapBlocker171392">
              <a:extLst>
                <a:ext uri="{FF2B5EF4-FFF2-40B4-BE49-F238E27FC236}">
                  <a16:creationId xmlns:a16="http://schemas.microsoft.com/office/drawing/2014/main" id="{CE05BD4C-45B7-0F13-C2E2-F7EF0E99A664}"/>
                </a:ext>
              </a:extLst>
            </p:cNvPr>
            <p:cNvSpPr/>
            <p:nvPr/>
          </p:nvSpPr>
          <p:spPr bwMode="gray">
            <a:xfrm>
              <a:off x="5825728" y="-205740"/>
              <a:ext cx="540544"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10" name="btfpColumnIndicator923792">
              <a:extLst>
                <a:ext uri="{FF2B5EF4-FFF2-40B4-BE49-F238E27FC236}">
                  <a16:creationId xmlns:a16="http://schemas.microsoft.com/office/drawing/2014/main" id="{FB104F03-4C6A-214F-95E8-4AAE147E226F}"/>
                </a:ext>
              </a:extLst>
            </p:cNvPr>
            <p:cNvCxnSpPr/>
            <p:nvPr/>
          </p:nvCxnSpPr>
          <p:spPr bwMode="gray">
            <a:xfrm flipV="1">
              <a:off x="118618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8" name="btfpColumnIndicator706080">
              <a:extLst>
                <a:ext uri="{FF2B5EF4-FFF2-40B4-BE49-F238E27FC236}">
                  <a16:creationId xmlns:a16="http://schemas.microsoft.com/office/drawing/2014/main" id="{A35B39C6-6BCD-7D1E-23FA-31E8D0F12C49}"/>
                </a:ext>
              </a:extLst>
            </p:cNvPr>
            <p:cNvCxnSpPr/>
            <p:nvPr/>
          </p:nvCxnSpPr>
          <p:spPr bwMode="gray">
            <a:xfrm flipV="1">
              <a:off x="6366272"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106" name="btfpColumnGapBlocker927435">
              <a:extLst>
                <a:ext uri="{FF2B5EF4-FFF2-40B4-BE49-F238E27FC236}">
                  <a16:creationId xmlns:a16="http://schemas.microsoft.com/office/drawing/2014/main" id="{4B9F5DA2-790F-753A-BC86-B92B4783AA15}"/>
                </a:ext>
              </a:extLst>
            </p:cNvPr>
            <p:cNvSpPr/>
            <p:nvPr/>
          </p:nvSpPr>
          <p:spPr bwMode="gray">
            <a:xfrm>
              <a:off x="0" y="-205740"/>
              <a:ext cx="330200" cy="137160"/>
            </a:xfrm>
            <a:prstGeom prst="rect">
              <a:avLst/>
            </a:prstGeom>
            <a:pattFill prst="ltUpDiag">
              <a:fgClr>
                <a:srgbClr val="333333">
                  <a:alpha val="50000"/>
                </a:srgbClr>
              </a:fgClr>
              <a:bgClr>
                <a:srgbClr val="FFFFFF">
                  <a:alpha val="50000"/>
                </a:srgbClr>
              </a:bgClr>
            </a:patt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04" name="btfpColumnIndicator873388">
              <a:extLst>
                <a:ext uri="{FF2B5EF4-FFF2-40B4-BE49-F238E27FC236}">
                  <a16:creationId xmlns:a16="http://schemas.microsoft.com/office/drawing/2014/main" id="{0B1D4E05-EFD8-1790-3DB1-68226617783B}"/>
                </a:ext>
              </a:extLst>
            </p:cNvPr>
            <p:cNvCxnSpPr/>
            <p:nvPr/>
          </p:nvCxnSpPr>
          <p:spPr bwMode="gray">
            <a:xfrm flipV="1">
              <a:off x="5825728"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102" name="btfpColumnIndicator682062">
              <a:extLst>
                <a:ext uri="{FF2B5EF4-FFF2-40B4-BE49-F238E27FC236}">
                  <a16:creationId xmlns:a16="http://schemas.microsoft.com/office/drawing/2014/main" id="{EAC0185F-F397-910D-B4D2-446752D5ECF8}"/>
                </a:ext>
              </a:extLst>
            </p:cNvPr>
            <p:cNvCxnSpPr/>
            <p:nvPr/>
          </p:nvCxnSpPr>
          <p:spPr bwMode="gray">
            <a:xfrm flipV="1">
              <a:off x="330200" y="-205740"/>
              <a:ext cx="0" cy="137160"/>
            </a:xfrm>
            <a:prstGeom prst="line">
              <a:avLst/>
            </a:prstGeom>
            <a:ln w="3175" cap="flat" cmpd="sng" algn="ctr">
              <a:solidFill>
                <a:srgbClr val="B4B4B4"/>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vert="horz"/>
          <a:lstStyle/>
          <a:p>
            <a:r>
              <a:rPr lang="en-US" b="1"/>
              <a:t>Additional guidelines: </a:t>
            </a:r>
            <a:r>
              <a:rPr lang="en-US"/>
              <a:t>More Guidance and OI Best Practices</a:t>
            </a:r>
            <a:endParaRPr lang="en-US" b="1"/>
          </a:p>
        </p:txBody>
      </p:sp>
      <p:sp>
        <p:nvSpPr>
          <p:cNvPr id="3" name="btfpLayoutConfig" hidden="1"/>
          <p:cNvSpPr txBox="1"/>
          <p:nvPr/>
        </p:nvSpPr>
        <p:spPr bwMode="gray">
          <a:xfrm>
            <a:off x="12700" y="12700"/>
            <a:ext cx="1329457"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rPr>
              <a:t>overall_1_132068218561777362 columns_2_132068240461622282 8_1_132068218988632400 17_0_132068240611373894 32_1_132068242579311268 37_0_132068245183525871 45_1_132068245913371389 48_1_132068246261560536 </a:t>
            </a:r>
            <a:endParaRPr lang="en-US" sz="100" err="1">
              <a:solidFill>
                <a:srgbClr val="FFFFFF">
                  <a:alpha val="0"/>
                </a:srgbClr>
              </a:solidFill>
            </a:endParaRPr>
          </a:p>
        </p:txBody>
      </p:sp>
      <p:grpSp>
        <p:nvGrpSpPr>
          <p:cNvPr id="8" name="btfpRunningAgenda2Level809054"/>
          <p:cNvGrpSpPr/>
          <p:nvPr>
            <p:custDataLst>
              <p:tags r:id="rId3"/>
            </p:custDataLst>
          </p:nvPr>
        </p:nvGrpSpPr>
        <p:grpSpPr>
          <a:xfrm>
            <a:off x="0" y="944429"/>
            <a:ext cx="9546582" cy="257442"/>
            <a:chOff x="0" y="944429"/>
            <a:chExt cx="9546582" cy="257442"/>
          </a:xfrm>
        </p:grpSpPr>
        <p:sp>
          <p:nvSpPr>
            <p:cNvPr id="5" name="btfpRunningAgenda2LevelBarLeft809054"/>
            <p:cNvSpPr/>
            <p:nvPr/>
          </p:nvSpPr>
          <p:spPr bwMode="gray">
            <a:xfrm>
              <a:off x="0" y="944429"/>
              <a:ext cx="3924820" cy="257442"/>
            </a:xfrm>
            <a:custGeom>
              <a:avLst/>
              <a:gdLst>
                <a:gd name="connsiteX0" fmla="*/ 950801 w 1870925"/>
                <a:gd name="connsiteY0" fmla="*/ 0 h 257442"/>
                <a:gd name="connsiteX1" fmla="*/ 1870925 w 1870925"/>
                <a:gd name="connsiteY1" fmla="*/ 0 h 257442"/>
                <a:gd name="connsiteX2" fmla="*/ 1816204 w 1870925"/>
                <a:gd name="connsiteY2" fmla="*/ 257442 h 257442"/>
                <a:gd name="connsiteX3" fmla="*/ 0 w 1870925"/>
                <a:gd name="connsiteY3" fmla="*/ 257442 h 257442"/>
                <a:gd name="connsiteX0" fmla="*/ 950801 w 1816204"/>
                <a:gd name="connsiteY0" fmla="*/ 0 h 257442"/>
                <a:gd name="connsiteX1" fmla="*/ 896081 w 1816204"/>
                <a:gd name="connsiteY1" fmla="*/ 257442 h 257442"/>
                <a:gd name="connsiteX2" fmla="*/ 1816204 w 1816204"/>
                <a:gd name="connsiteY2" fmla="*/ 257442 h 257442"/>
                <a:gd name="connsiteX3" fmla="*/ 0 w 1816204"/>
                <a:gd name="connsiteY3" fmla="*/ 257442 h 257442"/>
                <a:gd name="connsiteX0" fmla="*/ 950801 w 950801"/>
                <a:gd name="connsiteY0" fmla="*/ 0 h 257442"/>
                <a:gd name="connsiteX1" fmla="*/ 896081 w 950801"/>
                <a:gd name="connsiteY1" fmla="*/ 257442 h 257442"/>
                <a:gd name="connsiteX2" fmla="*/ 1 w 950801"/>
                <a:gd name="connsiteY2" fmla="*/ 257442 h 257442"/>
                <a:gd name="connsiteX3" fmla="*/ 0 w 950801"/>
                <a:gd name="connsiteY3" fmla="*/ 257442 h 257442"/>
                <a:gd name="connsiteX0" fmla="*/ 950800 w 950800"/>
                <a:gd name="connsiteY0" fmla="*/ 0 h 257442"/>
                <a:gd name="connsiteX1" fmla="*/ 896080 w 950800"/>
                <a:gd name="connsiteY1" fmla="*/ 257442 h 257442"/>
                <a:gd name="connsiteX2" fmla="*/ 0 w 950800"/>
                <a:gd name="connsiteY2" fmla="*/ 257442 h 257442"/>
                <a:gd name="connsiteX3" fmla="*/ 1 w 950800"/>
                <a:gd name="connsiteY3" fmla="*/ 0 h 257442"/>
                <a:gd name="connsiteX0" fmla="*/ 1051790 w 1051790"/>
                <a:gd name="connsiteY0" fmla="*/ 0 h 257442"/>
                <a:gd name="connsiteX1" fmla="*/ 896080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1 w 1051790"/>
                <a:gd name="connsiteY3" fmla="*/ 0 h 257442"/>
                <a:gd name="connsiteX0" fmla="*/ 1051790 w 1051790"/>
                <a:gd name="connsiteY0" fmla="*/ 0 h 257442"/>
                <a:gd name="connsiteX1" fmla="*/ 997069 w 1051790"/>
                <a:gd name="connsiteY1" fmla="*/ 257442 h 257442"/>
                <a:gd name="connsiteX2" fmla="*/ 0 w 1051790"/>
                <a:gd name="connsiteY2" fmla="*/ 257442 h 257442"/>
                <a:gd name="connsiteX3" fmla="*/ 0 w 1051790"/>
                <a:gd name="connsiteY3" fmla="*/ 0 h 257442"/>
                <a:gd name="connsiteX0" fmla="*/ 1229724 w 1229724"/>
                <a:gd name="connsiteY0" fmla="*/ 0 h 257442"/>
                <a:gd name="connsiteX1" fmla="*/ 997069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229724 w 1229724"/>
                <a:gd name="connsiteY0" fmla="*/ 0 h 257442"/>
                <a:gd name="connsiteX1" fmla="*/ 1175003 w 1229724"/>
                <a:gd name="connsiteY1" fmla="*/ 257442 h 257442"/>
                <a:gd name="connsiteX2" fmla="*/ 0 w 1229724"/>
                <a:gd name="connsiteY2" fmla="*/ 257442 h 257442"/>
                <a:gd name="connsiteX3" fmla="*/ 0 w 1229724"/>
                <a:gd name="connsiteY3" fmla="*/ 0 h 257442"/>
                <a:gd name="connsiteX0" fmla="*/ 1330712 w 1330712"/>
                <a:gd name="connsiteY0" fmla="*/ 0 h 257442"/>
                <a:gd name="connsiteX1" fmla="*/ 1175003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330712 w 1330712"/>
                <a:gd name="connsiteY0" fmla="*/ 0 h 257442"/>
                <a:gd name="connsiteX1" fmla="*/ 1275991 w 1330712"/>
                <a:gd name="connsiteY1" fmla="*/ 257442 h 257442"/>
                <a:gd name="connsiteX2" fmla="*/ 0 w 1330712"/>
                <a:gd name="connsiteY2" fmla="*/ 257442 h 257442"/>
                <a:gd name="connsiteX3" fmla="*/ 0 w 1330712"/>
                <a:gd name="connsiteY3" fmla="*/ 0 h 257442"/>
                <a:gd name="connsiteX0" fmla="*/ 1499028 w 1499028"/>
                <a:gd name="connsiteY0" fmla="*/ 0 h 257442"/>
                <a:gd name="connsiteX1" fmla="*/ 1275991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499028 w 1499028"/>
                <a:gd name="connsiteY0" fmla="*/ 0 h 257442"/>
                <a:gd name="connsiteX1" fmla="*/ 1444307 w 1499028"/>
                <a:gd name="connsiteY1" fmla="*/ 257442 h 257442"/>
                <a:gd name="connsiteX2" fmla="*/ 0 w 1499028"/>
                <a:gd name="connsiteY2" fmla="*/ 257442 h 257442"/>
                <a:gd name="connsiteX3" fmla="*/ 0 w 1499028"/>
                <a:gd name="connsiteY3" fmla="*/ 0 h 257442"/>
                <a:gd name="connsiteX0" fmla="*/ 1667343 w 1667343"/>
                <a:gd name="connsiteY0" fmla="*/ 0 h 257442"/>
                <a:gd name="connsiteX1" fmla="*/ 1444307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667343 w 1667343"/>
                <a:gd name="connsiteY0" fmla="*/ 0 h 257442"/>
                <a:gd name="connsiteX1" fmla="*/ 1612622 w 1667343"/>
                <a:gd name="connsiteY1" fmla="*/ 257442 h 257442"/>
                <a:gd name="connsiteX2" fmla="*/ 0 w 1667343"/>
                <a:gd name="connsiteY2" fmla="*/ 257442 h 257442"/>
                <a:gd name="connsiteX3" fmla="*/ 0 w 1667343"/>
                <a:gd name="connsiteY3" fmla="*/ 0 h 257442"/>
                <a:gd name="connsiteX0" fmla="*/ 1835659 w 1835659"/>
                <a:gd name="connsiteY0" fmla="*/ 0 h 257442"/>
                <a:gd name="connsiteX1" fmla="*/ 1612622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1835659 w 1835659"/>
                <a:gd name="connsiteY0" fmla="*/ 0 h 257442"/>
                <a:gd name="connsiteX1" fmla="*/ 1780938 w 1835659"/>
                <a:gd name="connsiteY1" fmla="*/ 257442 h 257442"/>
                <a:gd name="connsiteX2" fmla="*/ 0 w 1835659"/>
                <a:gd name="connsiteY2" fmla="*/ 257442 h 257442"/>
                <a:gd name="connsiteX3" fmla="*/ 0 w 1835659"/>
                <a:gd name="connsiteY3" fmla="*/ 0 h 257442"/>
                <a:gd name="connsiteX0" fmla="*/ 2003974 w 2003974"/>
                <a:gd name="connsiteY0" fmla="*/ 0 h 257442"/>
                <a:gd name="connsiteX1" fmla="*/ 1780938 w 2003974"/>
                <a:gd name="connsiteY1" fmla="*/ 257442 h 257442"/>
                <a:gd name="connsiteX2" fmla="*/ 0 w 2003974"/>
                <a:gd name="connsiteY2" fmla="*/ 257442 h 257442"/>
                <a:gd name="connsiteX3" fmla="*/ 0 w 2003974"/>
                <a:gd name="connsiteY3" fmla="*/ 0 h 257442"/>
                <a:gd name="connsiteX0" fmla="*/ 2003974 w 2003974"/>
                <a:gd name="connsiteY0" fmla="*/ 0 h 257442"/>
                <a:gd name="connsiteX1" fmla="*/ 1949252 w 2003974"/>
                <a:gd name="connsiteY1" fmla="*/ 257442 h 257442"/>
                <a:gd name="connsiteX2" fmla="*/ 0 w 2003974"/>
                <a:gd name="connsiteY2" fmla="*/ 257442 h 257442"/>
                <a:gd name="connsiteX3" fmla="*/ 0 w 2003974"/>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003975 w 2003975"/>
                <a:gd name="connsiteY0" fmla="*/ 0 h 257442"/>
                <a:gd name="connsiteX1" fmla="*/ 1949253 w 2003975"/>
                <a:gd name="connsiteY1" fmla="*/ 257442 h 257442"/>
                <a:gd name="connsiteX2" fmla="*/ 0 w 2003975"/>
                <a:gd name="connsiteY2" fmla="*/ 257442 h 257442"/>
                <a:gd name="connsiteX3" fmla="*/ 1 w 2003975"/>
                <a:gd name="connsiteY3" fmla="*/ 0 h 257442"/>
                <a:gd name="connsiteX0" fmla="*/ 2181907 w 2181907"/>
                <a:gd name="connsiteY0" fmla="*/ 0 h 257442"/>
                <a:gd name="connsiteX1" fmla="*/ 1949253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1 w 2181907"/>
                <a:gd name="connsiteY3" fmla="*/ 0 h 257442"/>
                <a:gd name="connsiteX0" fmla="*/ 2181907 w 2181907"/>
                <a:gd name="connsiteY0" fmla="*/ 0 h 257442"/>
                <a:gd name="connsiteX1" fmla="*/ 2127186 w 2181907"/>
                <a:gd name="connsiteY1" fmla="*/ 257442 h 257442"/>
                <a:gd name="connsiteX2" fmla="*/ 0 w 2181907"/>
                <a:gd name="connsiteY2" fmla="*/ 257442 h 257442"/>
                <a:gd name="connsiteX3" fmla="*/ 0 w 2181907"/>
                <a:gd name="connsiteY3" fmla="*/ 0 h 257442"/>
                <a:gd name="connsiteX0" fmla="*/ 2350222 w 2350222"/>
                <a:gd name="connsiteY0" fmla="*/ 0 h 257442"/>
                <a:gd name="connsiteX1" fmla="*/ 2127186 w 2350222"/>
                <a:gd name="connsiteY1" fmla="*/ 257442 h 257442"/>
                <a:gd name="connsiteX2" fmla="*/ 0 w 2350222"/>
                <a:gd name="connsiteY2" fmla="*/ 257442 h 257442"/>
                <a:gd name="connsiteX3" fmla="*/ 0 w 2350222"/>
                <a:gd name="connsiteY3" fmla="*/ 0 h 257442"/>
                <a:gd name="connsiteX0" fmla="*/ 2350222 w 2350222"/>
                <a:gd name="connsiteY0" fmla="*/ 0 h 257442"/>
                <a:gd name="connsiteX1" fmla="*/ 2295500 w 2350222"/>
                <a:gd name="connsiteY1" fmla="*/ 257442 h 257442"/>
                <a:gd name="connsiteX2" fmla="*/ 0 w 2350222"/>
                <a:gd name="connsiteY2" fmla="*/ 257442 h 257442"/>
                <a:gd name="connsiteX3" fmla="*/ 0 w 2350222"/>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350223 w 2350223"/>
                <a:gd name="connsiteY0" fmla="*/ 0 h 257442"/>
                <a:gd name="connsiteX1" fmla="*/ 2295501 w 2350223"/>
                <a:gd name="connsiteY1" fmla="*/ 257442 h 257442"/>
                <a:gd name="connsiteX2" fmla="*/ 0 w 2350223"/>
                <a:gd name="connsiteY2" fmla="*/ 257442 h 257442"/>
                <a:gd name="connsiteX3" fmla="*/ 1 w 2350223"/>
                <a:gd name="connsiteY3" fmla="*/ 0 h 257442"/>
                <a:gd name="connsiteX0" fmla="*/ 2518538 w 2518538"/>
                <a:gd name="connsiteY0" fmla="*/ 0 h 257442"/>
                <a:gd name="connsiteX1" fmla="*/ 2295501 w 2518538"/>
                <a:gd name="connsiteY1" fmla="*/ 257442 h 257442"/>
                <a:gd name="connsiteX2" fmla="*/ 0 w 2518538"/>
                <a:gd name="connsiteY2" fmla="*/ 257442 h 257442"/>
                <a:gd name="connsiteX3" fmla="*/ 1 w 2518538"/>
                <a:gd name="connsiteY3" fmla="*/ 0 h 257442"/>
                <a:gd name="connsiteX0" fmla="*/ 2518538 w 2518538"/>
                <a:gd name="connsiteY0" fmla="*/ 0 h 257442"/>
                <a:gd name="connsiteX1" fmla="*/ 2463816 w 2518538"/>
                <a:gd name="connsiteY1" fmla="*/ 257442 h 257442"/>
                <a:gd name="connsiteX2" fmla="*/ 0 w 2518538"/>
                <a:gd name="connsiteY2" fmla="*/ 257442 h 257442"/>
                <a:gd name="connsiteX3" fmla="*/ 1 w 2518538"/>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2 w 2518539"/>
                <a:gd name="connsiteY3" fmla="*/ 0 h 257442"/>
                <a:gd name="connsiteX0" fmla="*/ 2518539 w 2518539"/>
                <a:gd name="connsiteY0" fmla="*/ 0 h 257442"/>
                <a:gd name="connsiteX1" fmla="*/ 2463817 w 2518539"/>
                <a:gd name="connsiteY1" fmla="*/ 257442 h 257442"/>
                <a:gd name="connsiteX2" fmla="*/ 0 w 2518539"/>
                <a:gd name="connsiteY2" fmla="*/ 257442 h 257442"/>
                <a:gd name="connsiteX3" fmla="*/ 1 w 2518539"/>
                <a:gd name="connsiteY3" fmla="*/ 0 h 257442"/>
                <a:gd name="connsiteX0" fmla="*/ 2686853 w 2686853"/>
                <a:gd name="connsiteY0" fmla="*/ 0 h 257442"/>
                <a:gd name="connsiteX1" fmla="*/ 2463817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1 w 2686853"/>
                <a:gd name="connsiteY3" fmla="*/ 0 h 257442"/>
                <a:gd name="connsiteX0" fmla="*/ 2686853 w 2686853"/>
                <a:gd name="connsiteY0" fmla="*/ 0 h 257442"/>
                <a:gd name="connsiteX1" fmla="*/ 2632132 w 2686853"/>
                <a:gd name="connsiteY1" fmla="*/ 257442 h 257442"/>
                <a:gd name="connsiteX2" fmla="*/ 0 w 2686853"/>
                <a:gd name="connsiteY2" fmla="*/ 257442 h 257442"/>
                <a:gd name="connsiteX3" fmla="*/ 0 w 2686853"/>
                <a:gd name="connsiteY3" fmla="*/ 0 h 257442"/>
                <a:gd name="connsiteX0" fmla="*/ 2847153 w 2847153"/>
                <a:gd name="connsiteY0" fmla="*/ 0 h 257442"/>
                <a:gd name="connsiteX1" fmla="*/ 26321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2847153 w 2847153"/>
                <a:gd name="connsiteY0" fmla="*/ 0 h 257442"/>
                <a:gd name="connsiteX1" fmla="*/ 2792432 w 2847153"/>
                <a:gd name="connsiteY1" fmla="*/ 257442 h 257442"/>
                <a:gd name="connsiteX2" fmla="*/ 0 w 2847153"/>
                <a:gd name="connsiteY2" fmla="*/ 257442 h 257442"/>
                <a:gd name="connsiteX3" fmla="*/ 0 w 2847153"/>
                <a:gd name="connsiteY3" fmla="*/ 0 h 257442"/>
                <a:gd name="connsiteX0" fmla="*/ 960419 w 2792432"/>
                <a:gd name="connsiteY0" fmla="*/ 0 h 257442"/>
                <a:gd name="connsiteX1" fmla="*/ 2792432 w 2792432"/>
                <a:gd name="connsiteY1" fmla="*/ 257442 h 257442"/>
                <a:gd name="connsiteX2" fmla="*/ 0 w 2792432"/>
                <a:gd name="connsiteY2" fmla="*/ 257442 h 257442"/>
                <a:gd name="connsiteX3" fmla="*/ 0 w 2792432"/>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0 w 960419"/>
                <a:gd name="connsiteY3" fmla="*/ 0 h 257442"/>
                <a:gd name="connsiteX0" fmla="*/ 960419 w 960419"/>
                <a:gd name="connsiteY0" fmla="*/ 0 h 257442"/>
                <a:gd name="connsiteX1" fmla="*/ 905698 w 960419"/>
                <a:gd name="connsiteY1" fmla="*/ 257442 h 257442"/>
                <a:gd name="connsiteX2" fmla="*/ 1 w 960419"/>
                <a:gd name="connsiteY2" fmla="*/ 257442 h 257442"/>
                <a:gd name="connsiteX3" fmla="*/ 0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1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1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1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0 w 1281020"/>
                <a:gd name="connsiteY3" fmla="*/ 0 h 257442"/>
                <a:gd name="connsiteX0" fmla="*/ 1281021 w 1281021"/>
                <a:gd name="connsiteY0" fmla="*/ 0 h 257442"/>
                <a:gd name="connsiteX1" fmla="*/ 1226300 w 1281021"/>
                <a:gd name="connsiteY1" fmla="*/ 257442 h 257442"/>
                <a:gd name="connsiteX2" fmla="*/ 1 w 1281021"/>
                <a:gd name="connsiteY2" fmla="*/ 257442 h 257442"/>
                <a:gd name="connsiteX3" fmla="*/ 0 w 1281021"/>
                <a:gd name="connsiteY3" fmla="*/ 0 h 257442"/>
                <a:gd name="connsiteX0" fmla="*/ 1458954 w 1458954"/>
                <a:gd name="connsiteY0" fmla="*/ 0 h 257442"/>
                <a:gd name="connsiteX1" fmla="*/ 1226300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1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458954 w 1458954"/>
                <a:gd name="connsiteY0" fmla="*/ 0 h 257442"/>
                <a:gd name="connsiteX1" fmla="*/ 1404232 w 1458954"/>
                <a:gd name="connsiteY1" fmla="*/ 257442 h 257442"/>
                <a:gd name="connsiteX2" fmla="*/ 0 w 1458954"/>
                <a:gd name="connsiteY2" fmla="*/ 257442 h 257442"/>
                <a:gd name="connsiteX3" fmla="*/ 0 w 1458954"/>
                <a:gd name="connsiteY3" fmla="*/ 0 h 257442"/>
                <a:gd name="connsiteX0" fmla="*/ 1627268 w 1627268"/>
                <a:gd name="connsiteY0" fmla="*/ 0 h 257442"/>
                <a:gd name="connsiteX1" fmla="*/ 1404232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627268 w 1627268"/>
                <a:gd name="connsiteY0" fmla="*/ 0 h 257442"/>
                <a:gd name="connsiteX1" fmla="*/ 1572547 w 1627268"/>
                <a:gd name="connsiteY1" fmla="*/ 257442 h 257442"/>
                <a:gd name="connsiteX2" fmla="*/ 0 w 1627268"/>
                <a:gd name="connsiteY2" fmla="*/ 257442 h 257442"/>
                <a:gd name="connsiteX3" fmla="*/ 0 w 1627268"/>
                <a:gd name="connsiteY3" fmla="*/ 0 h 257442"/>
                <a:gd name="connsiteX0" fmla="*/ 1779553 w 1779553"/>
                <a:gd name="connsiteY0" fmla="*/ 0 h 257442"/>
                <a:gd name="connsiteX1" fmla="*/ 1572547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779553 w 1779553"/>
                <a:gd name="connsiteY0" fmla="*/ 0 h 257442"/>
                <a:gd name="connsiteX1" fmla="*/ 1724832 w 1779553"/>
                <a:gd name="connsiteY1" fmla="*/ 257442 h 257442"/>
                <a:gd name="connsiteX2" fmla="*/ 0 w 1779553"/>
                <a:gd name="connsiteY2" fmla="*/ 257442 h 257442"/>
                <a:gd name="connsiteX3" fmla="*/ 0 w 1779553"/>
                <a:gd name="connsiteY3" fmla="*/ 0 h 257442"/>
                <a:gd name="connsiteX0" fmla="*/ 1947869 w 1947869"/>
                <a:gd name="connsiteY0" fmla="*/ 0 h 257442"/>
                <a:gd name="connsiteX1" fmla="*/ 1724832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1947869 w 1947869"/>
                <a:gd name="connsiteY0" fmla="*/ 0 h 257442"/>
                <a:gd name="connsiteX1" fmla="*/ 1893148 w 1947869"/>
                <a:gd name="connsiteY1" fmla="*/ 257442 h 257442"/>
                <a:gd name="connsiteX2" fmla="*/ 0 w 1947869"/>
                <a:gd name="connsiteY2" fmla="*/ 257442 h 257442"/>
                <a:gd name="connsiteX3" fmla="*/ 0 w 1947869"/>
                <a:gd name="connsiteY3" fmla="*/ 0 h 257442"/>
                <a:gd name="connsiteX0" fmla="*/ 2116184 w 2116184"/>
                <a:gd name="connsiteY0" fmla="*/ 0 h 257442"/>
                <a:gd name="connsiteX1" fmla="*/ 1893148 w 2116184"/>
                <a:gd name="connsiteY1" fmla="*/ 257442 h 257442"/>
                <a:gd name="connsiteX2" fmla="*/ 0 w 2116184"/>
                <a:gd name="connsiteY2" fmla="*/ 257442 h 257442"/>
                <a:gd name="connsiteX3" fmla="*/ 0 w 2116184"/>
                <a:gd name="connsiteY3" fmla="*/ 0 h 257442"/>
                <a:gd name="connsiteX0" fmla="*/ 2116184 w 2116184"/>
                <a:gd name="connsiteY0" fmla="*/ 0 h 257442"/>
                <a:gd name="connsiteX1" fmla="*/ 2061462 w 2116184"/>
                <a:gd name="connsiteY1" fmla="*/ 257442 h 257442"/>
                <a:gd name="connsiteX2" fmla="*/ 0 w 2116184"/>
                <a:gd name="connsiteY2" fmla="*/ 257442 h 257442"/>
                <a:gd name="connsiteX3" fmla="*/ 0 w 2116184"/>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116185 w 2116185"/>
                <a:gd name="connsiteY0" fmla="*/ 0 h 257442"/>
                <a:gd name="connsiteX1" fmla="*/ 2061463 w 2116185"/>
                <a:gd name="connsiteY1" fmla="*/ 257442 h 257442"/>
                <a:gd name="connsiteX2" fmla="*/ 0 w 2116185"/>
                <a:gd name="connsiteY2" fmla="*/ 257442 h 257442"/>
                <a:gd name="connsiteX3" fmla="*/ 1 w 2116185"/>
                <a:gd name="connsiteY3" fmla="*/ 0 h 257442"/>
                <a:gd name="connsiteX0" fmla="*/ 2217174 w 2217174"/>
                <a:gd name="connsiteY0" fmla="*/ 0 h 257442"/>
                <a:gd name="connsiteX1" fmla="*/ 2061463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1 w 2217174"/>
                <a:gd name="connsiteY3" fmla="*/ 0 h 257442"/>
                <a:gd name="connsiteX0" fmla="*/ 2217174 w 2217174"/>
                <a:gd name="connsiteY0" fmla="*/ 0 h 257442"/>
                <a:gd name="connsiteX1" fmla="*/ 2162452 w 2217174"/>
                <a:gd name="connsiteY1" fmla="*/ 257442 h 257442"/>
                <a:gd name="connsiteX2" fmla="*/ 0 w 2217174"/>
                <a:gd name="connsiteY2" fmla="*/ 257442 h 257442"/>
                <a:gd name="connsiteX3" fmla="*/ 0 w 2217174"/>
                <a:gd name="connsiteY3" fmla="*/ 0 h 257442"/>
                <a:gd name="connsiteX0" fmla="*/ 2369458 w 2369458"/>
                <a:gd name="connsiteY0" fmla="*/ 0 h 257442"/>
                <a:gd name="connsiteX1" fmla="*/ 2162452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369458 w 2369458"/>
                <a:gd name="connsiteY0" fmla="*/ 0 h 257442"/>
                <a:gd name="connsiteX1" fmla="*/ 2314737 w 2369458"/>
                <a:gd name="connsiteY1" fmla="*/ 257442 h 257442"/>
                <a:gd name="connsiteX2" fmla="*/ 0 w 2369458"/>
                <a:gd name="connsiteY2" fmla="*/ 257442 h 257442"/>
                <a:gd name="connsiteX3" fmla="*/ 0 w 2369458"/>
                <a:gd name="connsiteY3" fmla="*/ 0 h 257442"/>
                <a:gd name="connsiteX0" fmla="*/ 2529759 w 2529759"/>
                <a:gd name="connsiteY0" fmla="*/ 0 h 257442"/>
                <a:gd name="connsiteX1" fmla="*/ 2314737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8 w 2529759"/>
                <a:gd name="connsiteY1" fmla="*/ 257442 h 257442"/>
                <a:gd name="connsiteX2" fmla="*/ 0 w 2529759"/>
                <a:gd name="connsiteY2" fmla="*/ 257442 h 257442"/>
                <a:gd name="connsiteX3" fmla="*/ 0 w 2529759"/>
                <a:gd name="connsiteY3" fmla="*/ 0 h 257442"/>
                <a:gd name="connsiteX0" fmla="*/ 2627991 w 2627991"/>
                <a:gd name="connsiteY0" fmla="*/ 0 h 257442"/>
                <a:gd name="connsiteX1" fmla="*/ 2475038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627991 w 2627991"/>
                <a:gd name="connsiteY0" fmla="*/ 0 h 257442"/>
                <a:gd name="connsiteX1" fmla="*/ 2573270 w 2627991"/>
                <a:gd name="connsiteY1" fmla="*/ 257442 h 257442"/>
                <a:gd name="connsiteX2" fmla="*/ 0 w 2627991"/>
                <a:gd name="connsiteY2" fmla="*/ 257442 h 257442"/>
                <a:gd name="connsiteX3" fmla="*/ 0 w 2627991"/>
                <a:gd name="connsiteY3" fmla="*/ 0 h 257442"/>
                <a:gd name="connsiteX0" fmla="*/ 2728980 w 2728980"/>
                <a:gd name="connsiteY0" fmla="*/ 0 h 257442"/>
                <a:gd name="connsiteX1" fmla="*/ 2573270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8 w 2728980"/>
                <a:gd name="connsiteY1" fmla="*/ 257442 h 257442"/>
                <a:gd name="connsiteX2" fmla="*/ 0 w 2728980"/>
                <a:gd name="connsiteY2" fmla="*/ 257442 h 257442"/>
                <a:gd name="connsiteX3" fmla="*/ 0 w 2728980"/>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728981 w 2728981"/>
                <a:gd name="connsiteY0" fmla="*/ 0 h 257442"/>
                <a:gd name="connsiteX1" fmla="*/ 2674259 w 2728981"/>
                <a:gd name="connsiteY1" fmla="*/ 257442 h 257442"/>
                <a:gd name="connsiteX2" fmla="*/ 0 w 2728981"/>
                <a:gd name="connsiteY2" fmla="*/ 257442 h 257442"/>
                <a:gd name="connsiteX3" fmla="*/ 1 w 2728981"/>
                <a:gd name="connsiteY3" fmla="*/ 0 h 257442"/>
                <a:gd name="connsiteX0" fmla="*/ 2897296 w 2897296"/>
                <a:gd name="connsiteY0" fmla="*/ 0 h 257442"/>
                <a:gd name="connsiteX1" fmla="*/ 2674259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1 w 2897296"/>
                <a:gd name="connsiteY3" fmla="*/ 0 h 257442"/>
                <a:gd name="connsiteX0" fmla="*/ 2897296 w 2897296"/>
                <a:gd name="connsiteY0" fmla="*/ 0 h 257442"/>
                <a:gd name="connsiteX1" fmla="*/ 2842574 w 2897296"/>
                <a:gd name="connsiteY1" fmla="*/ 257442 h 257442"/>
                <a:gd name="connsiteX2" fmla="*/ 0 w 2897296"/>
                <a:gd name="connsiteY2" fmla="*/ 257442 h 257442"/>
                <a:gd name="connsiteX3" fmla="*/ 0 w 2897296"/>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897295 w 2897295"/>
                <a:gd name="connsiteY0" fmla="*/ 0 h 257442"/>
                <a:gd name="connsiteX1" fmla="*/ 2674259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897295 w 2897295"/>
                <a:gd name="connsiteY0" fmla="*/ 0 h 257442"/>
                <a:gd name="connsiteX1" fmla="*/ 2842574 w 2897295"/>
                <a:gd name="connsiteY1" fmla="*/ 257442 h 257442"/>
                <a:gd name="connsiteX2" fmla="*/ 0 w 2897295"/>
                <a:gd name="connsiteY2" fmla="*/ 257442 h 257442"/>
                <a:gd name="connsiteX3" fmla="*/ 0 w 2897295"/>
                <a:gd name="connsiteY3" fmla="*/ 0 h 257442"/>
                <a:gd name="connsiteX0" fmla="*/ 2728980 w 2842574"/>
                <a:gd name="connsiteY0" fmla="*/ 0 h 257442"/>
                <a:gd name="connsiteX1" fmla="*/ 2842574 w 2842574"/>
                <a:gd name="connsiteY1" fmla="*/ 257442 h 257442"/>
                <a:gd name="connsiteX2" fmla="*/ 0 w 2842574"/>
                <a:gd name="connsiteY2" fmla="*/ 257442 h 257442"/>
                <a:gd name="connsiteX3" fmla="*/ 0 w 2842574"/>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728980 w 2728980"/>
                <a:gd name="connsiteY0" fmla="*/ 0 h 257442"/>
                <a:gd name="connsiteX1" fmla="*/ 2674259 w 2728980"/>
                <a:gd name="connsiteY1" fmla="*/ 257442 h 257442"/>
                <a:gd name="connsiteX2" fmla="*/ 0 w 2728980"/>
                <a:gd name="connsiteY2" fmla="*/ 257442 h 257442"/>
                <a:gd name="connsiteX3" fmla="*/ 0 w 2728980"/>
                <a:gd name="connsiteY3" fmla="*/ 0 h 257442"/>
                <a:gd name="connsiteX0" fmla="*/ 2529759 w 2674259"/>
                <a:gd name="connsiteY0" fmla="*/ 0 h 257442"/>
                <a:gd name="connsiteX1" fmla="*/ 2674259 w 2674259"/>
                <a:gd name="connsiteY1" fmla="*/ 257442 h 257442"/>
                <a:gd name="connsiteX2" fmla="*/ 0 w 2674259"/>
                <a:gd name="connsiteY2" fmla="*/ 257442 h 257442"/>
                <a:gd name="connsiteX3" fmla="*/ 0 w 2674259"/>
                <a:gd name="connsiteY3" fmla="*/ 0 h 257442"/>
                <a:gd name="connsiteX0" fmla="*/ 2529759 w 2529759"/>
                <a:gd name="connsiteY0" fmla="*/ 0 h 257442"/>
                <a:gd name="connsiteX1" fmla="*/ 2475039 w 2529759"/>
                <a:gd name="connsiteY1" fmla="*/ 257442 h 257442"/>
                <a:gd name="connsiteX2" fmla="*/ 0 w 2529759"/>
                <a:gd name="connsiteY2" fmla="*/ 257442 h 257442"/>
                <a:gd name="connsiteX3" fmla="*/ 0 w 2529759"/>
                <a:gd name="connsiteY3" fmla="*/ 0 h 257442"/>
                <a:gd name="connsiteX0" fmla="*/ 2529759 w 2529759"/>
                <a:gd name="connsiteY0" fmla="*/ 0 h 257442"/>
                <a:gd name="connsiteX1" fmla="*/ 2475039 w 2529759"/>
                <a:gd name="connsiteY1" fmla="*/ 257442 h 257442"/>
                <a:gd name="connsiteX2" fmla="*/ 1 w 2529759"/>
                <a:gd name="connsiteY2" fmla="*/ 257442 h 257442"/>
                <a:gd name="connsiteX3" fmla="*/ 0 w 2529759"/>
                <a:gd name="connsiteY3" fmla="*/ 0 h 257442"/>
                <a:gd name="connsiteX0" fmla="*/ 2529758 w 2529758"/>
                <a:gd name="connsiteY0" fmla="*/ 0 h 257442"/>
                <a:gd name="connsiteX1" fmla="*/ 2475038 w 2529758"/>
                <a:gd name="connsiteY1" fmla="*/ 257442 h 257442"/>
                <a:gd name="connsiteX2" fmla="*/ 0 w 2529758"/>
                <a:gd name="connsiteY2" fmla="*/ 257442 h 257442"/>
                <a:gd name="connsiteX3" fmla="*/ 0 w 2529758"/>
                <a:gd name="connsiteY3" fmla="*/ 0 h 257442"/>
                <a:gd name="connsiteX0" fmla="*/ 950800 w 2475038"/>
                <a:gd name="connsiteY0" fmla="*/ 0 h 257442"/>
                <a:gd name="connsiteX1" fmla="*/ 2475038 w 2475038"/>
                <a:gd name="connsiteY1" fmla="*/ 257442 h 257442"/>
                <a:gd name="connsiteX2" fmla="*/ 0 w 2475038"/>
                <a:gd name="connsiteY2" fmla="*/ 257442 h 257442"/>
                <a:gd name="connsiteX3" fmla="*/ 0 w 2475038"/>
                <a:gd name="connsiteY3" fmla="*/ 0 h 257442"/>
                <a:gd name="connsiteX0" fmla="*/ 950800 w 950800"/>
                <a:gd name="connsiteY0" fmla="*/ 0 h 257442"/>
                <a:gd name="connsiteX1" fmla="*/ 896079 w 950800"/>
                <a:gd name="connsiteY1" fmla="*/ 257442 h 257442"/>
                <a:gd name="connsiteX2" fmla="*/ 0 w 950800"/>
                <a:gd name="connsiteY2" fmla="*/ 257442 h 257442"/>
                <a:gd name="connsiteX3" fmla="*/ 0 w 950800"/>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1 w 950801"/>
                <a:gd name="connsiteY3" fmla="*/ 0 h 257442"/>
                <a:gd name="connsiteX0" fmla="*/ 1119117 w 1119117"/>
                <a:gd name="connsiteY0" fmla="*/ 0 h 257442"/>
                <a:gd name="connsiteX1" fmla="*/ 896080 w 1119117"/>
                <a:gd name="connsiteY1" fmla="*/ 257442 h 257442"/>
                <a:gd name="connsiteX2" fmla="*/ 0 w 1119117"/>
                <a:gd name="connsiteY2" fmla="*/ 257442 h 257442"/>
                <a:gd name="connsiteX3" fmla="*/ 1 w 1119117"/>
                <a:gd name="connsiteY3" fmla="*/ 0 h 257442"/>
                <a:gd name="connsiteX0" fmla="*/ 1119117 w 1119117"/>
                <a:gd name="connsiteY0" fmla="*/ 0 h 257442"/>
                <a:gd name="connsiteX1" fmla="*/ 1064396 w 1119117"/>
                <a:gd name="connsiteY1" fmla="*/ 257442 h 257442"/>
                <a:gd name="connsiteX2" fmla="*/ 0 w 1119117"/>
                <a:gd name="connsiteY2" fmla="*/ 257442 h 257442"/>
                <a:gd name="connsiteX3" fmla="*/ 1 w 1119117"/>
                <a:gd name="connsiteY3" fmla="*/ 0 h 257442"/>
                <a:gd name="connsiteX0" fmla="*/ 1119116 w 1119116"/>
                <a:gd name="connsiteY0" fmla="*/ 0 h 257442"/>
                <a:gd name="connsiteX1" fmla="*/ 1064395 w 1119116"/>
                <a:gd name="connsiteY1" fmla="*/ 257442 h 257442"/>
                <a:gd name="connsiteX2" fmla="*/ 0 w 1119116"/>
                <a:gd name="connsiteY2" fmla="*/ 257442 h 257442"/>
                <a:gd name="connsiteX3" fmla="*/ 0 w 1119116"/>
                <a:gd name="connsiteY3" fmla="*/ 0 h 257442"/>
                <a:gd name="connsiteX0" fmla="*/ 1119117 w 1119117"/>
                <a:gd name="connsiteY0" fmla="*/ 0 h 257442"/>
                <a:gd name="connsiteX1" fmla="*/ 1064396 w 1119117"/>
                <a:gd name="connsiteY1" fmla="*/ 257442 h 257442"/>
                <a:gd name="connsiteX2" fmla="*/ 1 w 1119117"/>
                <a:gd name="connsiteY2" fmla="*/ 257442 h 257442"/>
                <a:gd name="connsiteX3" fmla="*/ 0 w 1119117"/>
                <a:gd name="connsiteY3" fmla="*/ 0 h 257442"/>
                <a:gd name="connsiteX0" fmla="*/ 1287433 w 1287433"/>
                <a:gd name="connsiteY0" fmla="*/ 0 h 257442"/>
                <a:gd name="connsiteX1" fmla="*/ 1064396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3 w 1287433"/>
                <a:gd name="connsiteY0" fmla="*/ 0 h 257442"/>
                <a:gd name="connsiteX1" fmla="*/ 1232712 w 1287433"/>
                <a:gd name="connsiteY1" fmla="*/ 257442 h 257442"/>
                <a:gd name="connsiteX2" fmla="*/ 1 w 1287433"/>
                <a:gd name="connsiteY2" fmla="*/ 257442 h 257442"/>
                <a:gd name="connsiteX3" fmla="*/ 0 w 1287433"/>
                <a:gd name="connsiteY3" fmla="*/ 0 h 257442"/>
                <a:gd name="connsiteX0" fmla="*/ 1287432 w 1287432"/>
                <a:gd name="connsiteY0" fmla="*/ 0 h 257442"/>
                <a:gd name="connsiteX1" fmla="*/ 1232711 w 1287432"/>
                <a:gd name="connsiteY1" fmla="*/ 257442 h 257442"/>
                <a:gd name="connsiteX2" fmla="*/ 0 w 1287432"/>
                <a:gd name="connsiteY2" fmla="*/ 257442 h 257442"/>
                <a:gd name="connsiteX3" fmla="*/ 0 w 1287432"/>
                <a:gd name="connsiteY3" fmla="*/ 0 h 257442"/>
                <a:gd name="connsiteX0" fmla="*/ 1388419 w 1388419"/>
                <a:gd name="connsiteY0" fmla="*/ 0 h 257442"/>
                <a:gd name="connsiteX1" fmla="*/ 1232711 w 1388419"/>
                <a:gd name="connsiteY1" fmla="*/ 257442 h 257442"/>
                <a:gd name="connsiteX2" fmla="*/ 0 w 1388419"/>
                <a:gd name="connsiteY2" fmla="*/ 257442 h 257442"/>
                <a:gd name="connsiteX3" fmla="*/ 0 w 1388419"/>
                <a:gd name="connsiteY3" fmla="*/ 0 h 257442"/>
                <a:gd name="connsiteX0" fmla="*/ 1388419 w 1388419"/>
                <a:gd name="connsiteY0" fmla="*/ 0 h 257442"/>
                <a:gd name="connsiteX1" fmla="*/ 1333698 w 1388419"/>
                <a:gd name="connsiteY1" fmla="*/ 257442 h 257442"/>
                <a:gd name="connsiteX2" fmla="*/ 0 w 1388419"/>
                <a:gd name="connsiteY2" fmla="*/ 257442 h 257442"/>
                <a:gd name="connsiteX3" fmla="*/ 0 w 1388419"/>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1 w 1388420"/>
                <a:gd name="connsiteY3" fmla="*/ 0 h 257442"/>
                <a:gd name="connsiteX0" fmla="*/ 1388420 w 1388420"/>
                <a:gd name="connsiteY0" fmla="*/ 0 h 257442"/>
                <a:gd name="connsiteX1" fmla="*/ 1333699 w 1388420"/>
                <a:gd name="connsiteY1" fmla="*/ 257442 h 257442"/>
                <a:gd name="connsiteX2" fmla="*/ 0 w 1388420"/>
                <a:gd name="connsiteY2" fmla="*/ 257442 h 257442"/>
                <a:gd name="connsiteX3" fmla="*/ 0 w 1388420"/>
                <a:gd name="connsiteY3" fmla="*/ 0 h 257442"/>
                <a:gd name="connsiteX0" fmla="*/ 1540706 w 1540706"/>
                <a:gd name="connsiteY0" fmla="*/ 0 h 257442"/>
                <a:gd name="connsiteX1" fmla="*/ 1333699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0 w 1540706"/>
                <a:gd name="connsiteY3" fmla="*/ 0 h 257442"/>
                <a:gd name="connsiteX0" fmla="*/ 1641695 w 1641695"/>
                <a:gd name="connsiteY0" fmla="*/ 0 h 257442"/>
                <a:gd name="connsiteX1" fmla="*/ 1485985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641695 w 1641695"/>
                <a:gd name="connsiteY0" fmla="*/ 0 h 257442"/>
                <a:gd name="connsiteX1" fmla="*/ 1586974 w 1641695"/>
                <a:gd name="connsiteY1" fmla="*/ 257442 h 257442"/>
                <a:gd name="connsiteX2" fmla="*/ 0 w 1641695"/>
                <a:gd name="connsiteY2" fmla="*/ 257442 h 257442"/>
                <a:gd name="connsiteX3" fmla="*/ 0 w 1641695"/>
                <a:gd name="connsiteY3" fmla="*/ 0 h 257442"/>
                <a:gd name="connsiteX0" fmla="*/ 1819629 w 1819629"/>
                <a:gd name="connsiteY0" fmla="*/ 0 h 257442"/>
                <a:gd name="connsiteX1" fmla="*/ 1586974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819629 w 1819629"/>
                <a:gd name="connsiteY0" fmla="*/ 0 h 257442"/>
                <a:gd name="connsiteX1" fmla="*/ 1764908 w 1819629"/>
                <a:gd name="connsiteY1" fmla="*/ 257442 h 257442"/>
                <a:gd name="connsiteX2" fmla="*/ 0 w 1819629"/>
                <a:gd name="connsiteY2" fmla="*/ 257442 h 257442"/>
                <a:gd name="connsiteX3" fmla="*/ 0 w 1819629"/>
                <a:gd name="connsiteY3" fmla="*/ 0 h 257442"/>
                <a:gd name="connsiteX0" fmla="*/ 1987944 w 1987944"/>
                <a:gd name="connsiteY0" fmla="*/ 0 h 257442"/>
                <a:gd name="connsiteX1" fmla="*/ 1764908 w 1987944"/>
                <a:gd name="connsiteY1" fmla="*/ 257442 h 257442"/>
                <a:gd name="connsiteX2" fmla="*/ 0 w 1987944"/>
                <a:gd name="connsiteY2" fmla="*/ 257442 h 257442"/>
                <a:gd name="connsiteX3" fmla="*/ 0 w 1987944"/>
                <a:gd name="connsiteY3" fmla="*/ 0 h 257442"/>
                <a:gd name="connsiteX0" fmla="*/ 1987944 w 1987944"/>
                <a:gd name="connsiteY0" fmla="*/ 0 h 257442"/>
                <a:gd name="connsiteX1" fmla="*/ 1933222 w 1987944"/>
                <a:gd name="connsiteY1" fmla="*/ 257442 h 257442"/>
                <a:gd name="connsiteX2" fmla="*/ 0 w 1987944"/>
                <a:gd name="connsiteY2" fmla="*/ 257442 h 257442"/>
                <a:gd name="connsiteX3" fmla="*/ 0 w 1987944"/>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1987945 w 1987945"/>
                <a:gd name="connsiteY0" fmla="*/ 0 h 257442"/>
                <a:gd name="connsiteX1" fmla="*/ 1933223 w 1987945"/>
                <a:gd name="connsiteY1" fmla="*/ 257442 h 257442"/>
                <a:gd name="connsiteX2" fmla="*/ 0 w 1987945"/>
                <a:gd name="connsiteY2" fmla="*/ 257442 h 257442"/>
                <a:gd name="connsiteX3" fmla="*/ 1 w 1987945"/>
                <a:gd name="connsiteY3" fmla="*/ 0 h 257442"/>
                <a:gd name="connsiteX0" fmla="*/ 2156260 w 2156260"/>
                <a:gd name="connsiteY0" fmla="*/ 0 h 257442"/>
                <a:gd name="connsiteX1" fmla="*/ 1933223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1 w 2156260"/>
                <a:gd name="connsiteY3" fmla="*/ 0 h 257442"/>
                <a:gd name="connsiteX0" fmla="*/ 2156260 w 2156260"/>
                <a:gd name="connsiteY0" fmla="*/ 0 h 257442"/>
                <a:gd name="connsiteX1" fmla="*/ 2101538 w 2156260"/>
                <a:gd name="connsiteY1" fmla="*/ 257442 h 257442"/>
                <a:gd name="connsiteX2" fmla="*/ 0 w 2156260"/>
                <a:gd name="connsiteY2" fmla="*/ 257442 h 257442"/>
                <a:gd name="connsiteX3" fmla="*/ 0 w 2156260"/>
                <a:gd name="connsiteY3" fmla="*/ 0 h 257442"/>
                <a:gd name="connsiteX0" fmla="*/ 2308544 w 2308544"/>
                <a:gd name="connsiteY0" fmla="*/ 0 h 257442"/>
                <a:gd name="connsiteX1" fmla="*/ 2101538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308544 w 2308544"/>
                <a:gd name="connsiteY0" fmla="*/ 0 h 257442"/>
                <a:gd name="connsiteX1" fmla="*/ 2253823 w 2308544"/>
                <a:gd name="connsiteY1" fmla="*/ 257442 h 257442"/>
                <a:gd name="connsiteX2" fmla="*/ 0 w 2308544"/>
                <a:gd name="connsiteY2" fmla="*/ 257442 h 257442"/>
                <a:gd name="connsiteX3" fmla="*/ 0 w 2308544"/>
                <a:gd name="connsiteY3" fmla="*/ 0 h 257442"/>
                <a:gd name="connsiteX0" fmla="*/ 2406776 w 2406776"/>
                <a:gd name="connsiteY0" fmla="*/ 0 h 257442"/>
                <a:gd name="connsiteX1" fmla="*/ 2253823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406776 w 2406776"/>
                <a:gd name="connsiteY0" fmla="*/ 0 h 257442"/>
                <a:gd name="connsiteX1" fmla="*/ 2352055 w 2406776"/>
                <a:gd name="connsiteY1" fmla="*/ 257442 h 257442"/>
                <a:gd name="connsiteX2" fmla="*/ 0 w 2406776"/>
                <a:gd name="connsiteY2" fmla="*/ 257442 h 257442"/>
                <a:gd name="connsiteX3" fmla="*/ 0 w 2406776"/>
                <a:gd name="connsiteY3" fmla="*/ 0 h 257442"/>
                <a:gd name="connsiteX0" fmla="*/ 2584710 w 2584710"/>
                <a:gd name="connsiteY0" fmla="*/ 0 h 257442"/>
                <a:gd name="connsiteX1" fmla="*/ 2352055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584710 w 2584710"/>
                <a:gd name="connsiteY0" fmla="*/ 0 h 257442"/>
                <a:gd name="connsiteX1" fmla="*/ 2529989 w 2584710"/>
                <a:gd name="connsiteY1" fmla="*/ 257442 h 257442"/>
                <a:gd name="connsiteX2" fmla="*/ 0 w 2584710"/>
                <a:gd name="connsiteY2" fmla="*/ 257442 h 257442"/>
                <a:gd name="connsiteX3" fmla="*/ 0 w 2584710"/>
                <a:gd name="connsiteY3" fmla="*/ 0 h 257442"/>
                <a:gd name="connsiteX0" fmla="*/ 2753025 w 2753025"/>
                <a:gd name="connsiteY0" fmla="*/ 0 h 257442"/>
                <a:gd name="connsiteX1" fmla="*/ 2529989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753025 w 2753025"/>
                <a:gd name="connsiteY0" fmla="*/ 0 h 257442"/>
                <a:gd name="connsiteX1" fmla="*/ 2698304 w 2753025"/>
                <a:gd name="connsiteY1" fmla="*/ 257442 h 257442"/>
                <a:gd name="connsiteX2" fmla="*/ 0 w 2753025"/>
                <a:gd name="connsiteY2" fmla="*/ 257442 h 257442"/>
                <a:gd name="connsiteX3" fmla="*/ 0 w 2753025"/>
                <a:gd name="connsiteY3" fmla="*/ 0 h 257442"/>
                <a:gd name="connsiteX0" fmla="*/ 2854014 w 2854014"/>
                <a:gd name="connsiteY0" fmla="*/ 0 h 257442"/>
                <a:gd name="connsiteX1" fmla="*/ 2698304 w 2854014"/>
                <a:gd name="connsiteY1" fmla="*/ 257442 h 257442"/>
                <a:gd name="connsiteX2" fmla="*/ 0 w 2854014"/>
                <a:gd name="connsiteY2" fmla="*/ 257442 h 257442"/>
                <a:gd name="connsiteX3" fmla="*/ 0 w 2854014"/>
                <a:gd name="connsiteY3" fmla="*/ 0 h 257442"/>
                <a:gd name="connsiteX0" fmla="*/ 2854014 w 2854014"/>
                <a:gd name="connsiteY0" fmla="*/ 0 h 257442"/>
                <a:gd name="connsiteX1" fmla="*/ 2799292 w 2854014"/>
                <a:gd name="connsiteY1" fmla="*/ 257442 h 257442"/>
                <a:gd name="connsiteX2" fmla="*/ 0 w 2854014"/>
                <a:gd name="connsiteY2" fmla="*/ 257442 h 257442"/>
                <a:gd name="connsiteX3" fmla="*/ 0 w 2854014"/>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2854015 w 2854015"/>
                <a:gd name="connsiteY0" fmla="*/ 0 h 257442"/>
                <a:gd name="connsiteX1" fmla="*/ 2799293 w 2854015"/>
                <a:gd name="connsiteY1" fmla="*/ 257442 h 257442"/>
                <a:gd name="connsiteX2" fmla="*/ 0 w 2854015"/>
                <a:gd name="connsiteY2" fmla="*/ 257442 h 257442"/>
                <a:gd name="connsiteX3" fmla="*/ 1 w 2854015"/>
                <a:gd name="connsiteY3" fmla="*/ 0 h 257442"/>
                <a:gd name="connsiteX0" fmla="*/ 3022330 w 3022330"/>
                <a:gd name="connsiteY0" fmla="*/ 0 h 257442"/>
                <a:gd name="connsiteX1" fmla="*/ 2799293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1 w 3022330"/>
                <a:gd name="connsiteY3" fmla="*/ 0 h 257442"/>
                <a:gd name="connsiteX0" fmla="*/ 3022330 w 3022330"/>
                <a:gd name="connsiteY0" fmla="*/ 0 h 257442"/>
                <a:gd name="connsiteX1" fmla="*/ 2967608 w 3022330"/>
                <a:gd name="connsiteY1" fmla="*/ 257442 h 257442"/>
                <a:gd name="connsiteX2" fmla="*/ 0 w 3022330"/>
                <a:gd name="connsiteY2" fmla="*/ 257442 h 257442"/>
                <a:gd name="connsiteX3" fmla="*/ 0 w 3022330"/>
                <a:gd name="connsiteY3" fmla="*/ 0 h 257442"/>
                <a:gd name="connsiteX0" fmla="*/ 3182630 w 3182630"/>
                <a:gd name="connsiteY0" fmla="*/ 0 h 257442"/>
                <a:gd name="connsiteX1" fmla="*/ 2967608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182630 w 3182630"/>
                <a:gd name="connsiteY0" fmla="*/ 0 h 257442"/>
                <a:gd name="connsiteX1" fmla="*/ 3127909 w 3182630"/>
                <a:gd name="connsiteY1" fmla="*/ 257442 h 257442"/>
                <a:gd name="connsiteX2" fmla="*/ 0 w 3182630"/>
                <a:gd name="connsiteY2" fmla="*/ 257442 h 257442"/>
                <a:gd name="connsiteX3" fmla="*/ 0 w 3182630"/>
                <a:gd name="connsiteY3" fmla="*/ 0 h 257442"/>
                <a:gd name="connsiteX0" fmla="*/ 3334915 w 3334915"/>
                <a:gd name="connsiteY0" fmla="*/ 0 h 257442"/>
                <a:gd name="connsiteX1" fmla="*/ 3127909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334915 w 3334915"/>
                <a:gd name="connsiteY0" fmla="*/ 0 h 257442"/>
                <a:gd name="connsiteX1" fmla="*/ 3280194 w 3334915"/>
                <a:gd name="connsiteY1" fmla="*/ 257442 h 257442"/>
                <a:gd name="connsiteX2" fmla="*/ 0 w 3334915"/>
                <a:gd name="connsiteY2" fmla="*/ 257442 h 257442"/>
                <a:gd name="connsiteX3" fmla="*/ 0 w 3334915"/>
                <a:gd name="connsiteY3" fmla="*/ 0 h 257442"/>
                <a:gd name="connsiteX0" fmla="*/ 3435904 w 3435904"/>
                <a:gd name="connsiteY0" fmla="*/ 0 h 257442"/>
                <a:gd name="connsiteX1" fmla="*/ 3280194 w 3435904"/>
                <a:gd name="connsiteY1" fmla="*/ 257442 h 257442"/>
                <a:gd name="connsiteX2" fmla="*/ 0 w 3435904"/>
                <a:gd name="connsiteY2" fmla="*/ 257442 h 257442"/>
                <a:gd name="connsiteX3" fmla="*/ 0 w 3435904"/>
                <a:gd name="connsiteY3" fmla="*/ 0 h 257442"/>
                <a:gd name="connsiteX0" fmla="*/ 3435904 w 3435904"/>
                <a:gd name="connsiteY0" fmla="*/ 0 h 257442"/>
                <a:gd name="connsiteX1" fmla="*/ 3381182 w 3435904"/>
                <a:gd name="connsiteY1" fmla="*/ 257442 h 257442"/>
                <a:gd name="connsiteX2" fmla="*/ 0 w 3435904"/>
                <a:gd name="connsiteY2" fmla="*/ 257442 h 257442"/>
                <a:gd name="connsiteX3" fmla="*/ 0 w 3435904"/>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435905 w 3435905"/>
                <a:gd name="connsiteY0" fmla="*/ 0 h 257442"/>
                <a:gd name="connsiteX1" fmla="*/ 3381183 w 3435905"/>
                <a:gd name="connsiteY1" fmla="*/ 257442 h 257442"/>
                <a:gd name="connsiteX2" fmla="*/ 0 w 3435905"/>
                <a:gd name="connsiteY2" fmla="*/ 257442 h 257442"/>
                <a:gd name="connsiteX3" fmla="*/ 1 w 3435905"/>
                <a:gd name="connsiteY3" fmla="*/ 0 h 257442"/>
                <a:gd name="connsiteX0" fmla="*/ 3604221 w 3604221"/>
                <a:gd name="connsiteY0" fmla="*/ 0 h 257442"/>
                <a:gd name="connsiteX1" fmla="*/ 3381183 w 3604221"/>
                <a:gd name="connsiteY1" fmla="*/ 257442 h 257442"/>
                <a:gd name="connsiteX2" fmla="*/ 0 w 3604221"/>
                <a:gd name="connsiteY2" fmla="*/ 257442 h 257442"/>
                <a:gd name="connsiteX3" fmla="*/ 1 w 3604221"/>
                <a:gd name="connsiteY3" fmla="*/ 0 h 257442"/>
                <a:gd name="connsiteX0" fmla="*/ 3604221 w 3604221"/>
                <a:gd name="connsiteY0" fmla="*/ 0 h 257442"/>
                <a:gd name="connsiteX1" fmla="*/ 3549500 w 3604221"/>
                <a:gd name="connsiteY1" fmla="*/ 257442 h 257442"/>
                <a:gd name="connsiteX2" fmla="*/ 0 w 3604221"/>
                <a:gd name="connsiteY2" fmla="*/ 257442 h 257442"/>
                <a:gd name="connsiteX3" fmla="*/ 1 w 3604221"/>
                <a:gd name="connsiteY3" fmla="*/ 0 h 257442"/>
                <a:gd name="connsiteX0" fmla="*/ 3604220 w 3604220"/>
                <a:gd name="connsiteY0" fmla="*/ 0 h 257442"/>
                <a:gd name="connsiteX1" fmla="*/ 3549499 w 3604220"/>
                <a:gd name="connsiteY1" fmla="*/ 257442 h 257442"/>
                <a:gd name="connsiteX2" fmla="*/ 0 w 3604220"/>
                <a:gd name="connsiteY2" fmla="*/ 257442 h 257442"/>
                <a:gd name="connsiteX3" fmla="*/ 0 w 3604220"/>
                <a:gd name="connsiteY3" fmla="*/ 0 h 257442"/>
                <a:gd name="connsiteX0" fmla="*/ 3604221 w 3604221"/>
                <a:gd name="connsiteY0" fmla="*/ 0 h 257442"/>
                <a:gd name="connsiteX1" fmla="*/ 3549500 w 3604221"/>
                <a:gd name="connsiteY1" fmla="*/ 257442 h 257442"/>
                <a:gd name="connsiteX2" fmla="*/ 1 w 3604221"/>
                <a:gd name="connsiteY2" fmla="*/ 257442 h 257442"/>
                <a:gd name="connsiteX3" fmla="*/ 0 w 3604221"/>
                <a:gd name="connsiteY3" fmla="*/ 0 h 257442"/>
                <a:gd name="connsiteX0" fmla="*/ 3764521 w 3764521"/>
                <a:gd name="connsiteY0" fmla="*/ 0 h 257442"/>
                <a:gd name="connsiteX1" fmla="*/ 35495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1 w 3764521"/>
                <a:gd name="connsiteY0" fmla="*/ 0 h 257442"/>
                <a:gd name="connsiteX1" fmla="*/ 3709800 w 3764521"/>
                <a:gd name="connsiteY1" fmla="*/ 257442 h 257442"/>
                <a:gd name="connsiteX2" fmla="*/ 1 w 3764521"/>
                <a:gd name="connsiteY2" fmla="*/ 257442 h 257442"/>
                <a:gd name="connsiteX3" fmla="*/ 0 w 3764521"/>
                <a:gd name="connsiteY3" fmla="*/ 0 h 257442"/>
                <a:gd name="connsiteX0" fmla="*/ 3764520 w 3764520"/>
                <a:gd name="connsiteY0" fmla="*/ 0 h 257442"/>
                <a:gd name="connsiteX1" fmla="*/ 3709799 w 3764520"/>
                <a:gd name="connsiteY1" fmla="*/ 257442 h 257442"/>
                <a:gd name="connsiteX2" fmla="*/ 0 w 3764520"/>
                <a:gd name="connsiteY2" fmla="*/ 257442 h 257442"/>
                <a:gd name="connsiteX3" fmla="*/ 0 w 3764520"/>
                <a:gd name="connsiteY3" fmla="*/ 0 h 257442"/>
                <a:gd name="connsiteX0" fmla="*/ 3924819 w 3924819"/>
                <a:gd name="connsiteY0" fmla="*/ 0 h 257442"/>
                <a:gd name="connsiteX1" fmla="*/ 3709799 w 3924819"/>
                <a:gd name="connsiteY1" fmla="*/ 257442 h 257442"/>
                <a:gd name="connsiteX2" fmla="*/ 0 w 3924819"/>
                <a:gd name="connsiteY2" fmla="*/ 257442 h 257442"/>
                <a:gd name="connsiteX3" fmla="*/ 0 w 3924819"/>
                <a:gd name="connsiteY3" fmla="*/ 0 h 257442"/>
                <a:gd name="connsiteX0" fmla="*/ 3924819 w 3924819"/>
                <a:gd name="connsiteY0" fmla="*/ 0 h 257442"/>
                <a:gd name="connsiteX1" fmla="*/ 3870098 w 3924819"/>
                <a:gd name="connsiteY1" fmla="*/ 257442 h 257442"/>
                <a:gd name="connsiteX2" fmla="*/ 0 w 3924819"/>
                <a:gd name="connsiteY2" fmla="*/ 257442 h 257442"/>
                <a:gd name="connsiteX3" fmla="*/ 0 w 3924819"/>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1 w 3924820"/>
                <a:gd name="connsiteY3" fmla="*/ 0 h 257442"/>
                <a:gd name="connsiteX0" fmla="*/ 3924820 w 3924820"/>
                <a:gd name="connsiteY0" fmla="*/ 0 h 257442"/>
                <a:gd name="connsiteX1" fmla="*/ 3870099 w 3924820"/>
                <a:gd name="connsiteY1" fmla="*/ 257442 h 257442"/>
                <a:gd name="connsiteX2" fmla="*/ 0 w 3924820"/>
                <a:gd name="connsiteY2" fmla="*/ 257442 h 257442"/>
                <a:gd name="connsiteX3" fmla="*/ 0 w 3924820"/>
                <a:gd name="connsiteY3" fmla="*/ 0 h 257442"/>
              </a:gdLst>
              <a:ahLst/>
              <a:cxnLst>
                <a:cxn ang="0">
                  <a:pos x="connsiteX0" y="connsiteY0"/>
                </a:cxn>
                <a:cxn ang="0">
                  <a:pos x="connsiteX1" y="connsiteY1"/>
                </a:cxn>
                <a:cxn ang="0">
                  <a:pos x="connsiteX2" y="connsiteY2"/>
                </a:cxn>
                <a:cxn ang="0">
                  <a:pos x="connsiteX3" y="connsiteY3"/>
                </a:cxn>
              </a:cxnLst>
              <a:rect l="l" t="t" r="r" b="b"/>
              <a:pathLst>
                <a:path w="3924820" h="257442">
                  <a:moveTo>
                    <a:pt x="3924820" y="0"/>
                  </a:moveTo>
                  <a:lnTo>
                    <a:pt x="3870099" y="257442"/>
                  </a:lnTo>
                  <a:lnTo>
                    <a:pt x="0" y="257442"/>
                  </a:lnTo>
                  <a:lnTo>
                    <a:pt x="0" y="0"/>
                  </a:lnTo>
                  <a:close/>
                </a:path>
              </a:pathLst>
            </a:custGeom>
            <a:solidFill>
              <a:srgbClr val="5C5C5C"/>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4" name="btfpRunningAgenda2LevelTextLeft809054"/>
            <p:cNvSpPr txBox="1"/>
            <p:nvPr/>
          </p:nvSpPr>
          <p:spPr bwMode="gray">
            <a:xfrm>
              <a:off x="0" y="944429"/>
              <a:ext cx="3870099"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additional guidelines</a:t>
              </a:r>
            </a:p>
          </p:txBody>
        </p:sp>
        <p:sp>
          <p:nvSpPr>
            <p:cNvPr id="7" name="btfpRunningAgenda2LevelBarRight809054"/>
            <p:cNvSpPr/>
            <p:nvPr/>
          </p:nvSpPr>
          <p:spPr bwMode="gray">
            <a:xfrm>
              <a:off x="3789977" y="944429"/>
              <a:ext cx="5756605" cy="257442"/>
            </a:xfrm>
            <a:custGeom>
              <a:avLst/>
              <a:gdLst>
                <a:gd name="connsiteX0" fmla="*/ 934771 w 2367856"/>
                <a:gd name="connsiteY0" fmla="*/ 0 h 257442"/>
                <a:gd name="connsiteX1" fmla="*/ 2367856 w 2367856"/>
                <a:gd name="connsiteY1" fmla="*/ 0 h 257442"/>
                <a:gd name="connsiteX2" fmla="*/ 2313135 w 2367856"/>
                <a:gd name="connsiteY2" fmla="*/ 257442 h 257442"/>
                <a:gd name="connsiteX3" fmla="*/ 0 w 2367856"/>
                <a:gd name="connsiteY3" fmla="*/ 257442 h 257442"/>
                <a:gd name="connsiteX0" fmla="*/ 934771 w 2313135"/>
                <a:gd name="connsiteY0" fmla="*/ 0 h 257442"/>
                <a:gd name="connsiteX1" fmla="*/ 880050 w 2313135"/>
                <a:gd name="connsiteY1" fmla="*/ 257442 h 257442"/>
                <a:gd name="connsiteX2" fmla="*/ 2313135 w 2313135"/>
                <a:gd name="connsiteY2" fmla="*/ 257442 h 257442"/>
                <a:gd name="connsiteX3" fmla="*/ 0 w 2313135"/>
                <a:gd name="connsiteY3" fmla="*/ 257442 h 257442"/>
                <a:gd name="connsiteX0" fmla="*/ 934771 w 934771"/>
                <a:gd name="connsiteY0" fmla="*/ 0 h 257442"/>
                <a:gd name="connsiteX1" fmla="*/ 880050 w 934771"/>
                <a:gd name="connsiteY1" fmla="*/ 257442 h 257442"/>
                <a:gd name="connsiteX2" fmla="*/ 1 w 934771"/>
                <a:gd name="connsiteY2" fmla="*/ 257442 h 257442"/>
                <a:gd name="connsiteX3" fmla="*/ 0 w 934771"/>
                <a:gd name="connsiteY3" fmla="*/ 257442 h 257442"/>
                <a:gd name="connsiteX0" fmla="*/ 934770 w 934770"/>
                <a:gd name="connsiteY0" fmla="*/ 0 h 257442"/>
                <a:gd name="connsiteX1" fmla="*/ 880049 w 934770"/>
                <a:gd name="connsiteY1" fmla="*/ 257442 h 257442"/>
                <a:gd name="connsiteX2" fmla="*/ 0 w 934770"/>
                <a:gd name="connsiteY2" fmla="*/ 257442 h 257442"/>
                <a:gd name="connsiteX3" fmla="*/ 54721 w 934770"/>
                <a:gd name="connsiteY3" fmla="*/ 0 h 257442"/>
                <a:gd name="connsiteX0" fmla="*/ 1204075 w 1204075"/>
                <a:gd name="connsiteY0" fmla="*/ 0 h 257442"/>
                <a:gd name="connsiteX1" fmla="*/ 880049 w 1204075"/>
                <a:gd name="connsiteY1" fmla="*/ 257442 h 257442"/>
                <a:gd name="connsiteX2" fmla="*/ 0 w 1204075"/>
                <a:gd name="connsiteY2" fmla="*/ 257442 h 257442"/>
                <a:gd name="connsiteX3" fmla="*/ 54721 w 1204075"/>
                <a:gd name="connsiteY3" fmla="*/ 0 h 257442"/>
                <a:gd name="connsiteX0" fmla="*/ 1204075 w 1204075"/>
                <a:gd name="connsiteY0" fmla="*/ 0 h 257442"/>
                <a:gd name="connsiteX1" fmla="*/ 1149354 w 1204075"/>
                <a:gd name="connsiteY1" fmla="*/ 257442 h 257442"/>
                <a:gd name="connsiteX2" fmla="*/ 0 w 1204075"/>
                <a:gd name="connsiteY2" fmla="*/ 257442 h 257442"/>
                <a:gd name="connsiteX3" fmla="*/ 54721 w 1204075"/>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2 w 1204076"/>
                <a:gd name="connsiteY3" fmla="*/ 0 h 257442"/>
                <a:gd name="connsiteX0" fmla="*/ 1204076 w 1204076"/>
                <a:gd name="connsiteY0" fmla="*/ 0 h 257442"/>
                <a:gd name="connsiteX1" fmla="*/ 1149355 w 1204076"/>
                <a:gd name="connsiteY1" fmla="*/ 257442 h 257442"/>
                <a:gd name="connsiteX2" fmla="*/ 0 w 1204076"/>
                <a:gd name="connsiteY2" fmla="*/ 257442 h 257442"/>
                <a:gd name="connsiteX3" fmla="*/ 54721 w 1204076"/>
                <a:gd name="connsiteY3" fmla="*/ 0 h 257442"/>
                <a:gd name="connsiteX0" fmla="*/ 1372390 w 1372390"/>
                <a:gd name="connsiteY0" fmla="*/ 0 h 257442"/>
                <a:gd name="connsiteX1" fmla="*/ 1149355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372390 w 1372390"/>
                <a:gd name="connsiteY0" fmla="*/ 0 h 257442"/>
                <a:gd name="connsiteX1" fmla="*/ 1317669 w 1372390"/>
                <a:gd name="connsiteY1" fmla="*/ 257442 h 257442"/>
                <a:gd name="connsiteX2" fmla="*/ 0 w 1372390"/>
                <a:gd name="connsiteY2" fmla="*/ 257442 h 257442"/>
                <a:gd name="connsiteX3" fmla="*/ 54721 w 1372390"/>
                <a:gd name="connsiteY3" fmla="*/ 0 h 257442"/>
                <a:gd name="connsiteX0" fmla="*/ 1540706 w 1540706"/>
                <a:gd name="connsiteY0" fmla="*/ 0 h 257442"/>
                <a:gd name="connsiteX1" fmla="*/ 1317669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540706 w 1540706"/>
                <a:gd name="connsiteY0" fmla="*/ 0 h 257442"/>
                <a:gd name="connsiteX1" fmla="*/ 1485985 w 1540706"/>
                <a:gd name="connsiteY1" fmla="*/ 257442 h 257442"/>
                <a:gd name="connsiteX2" fmla="*/ 0 w 1540706"/>
                <a:gd name="connsiteY2" fmla="*/ 257442 h 257442"/>
                <a:gd name="connsiteX3" fmla="*/ 54721 w 1540706"/>
                <a:gd name="connsiteY3" fmla="*/ 0 h 257442"/>
                <a:gd name="connsiteX0" fmla="*/ 1709021 w 1709021"/>
                <a:gd name="connsiteY0" fmla="*/ 0 h 257442"/>
                <a:gd name="connsiteX1" fmla="*/ 1485985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709021 w 1709021"/>
                <a:gd name="connsiteY0" fmla="*/ 0 h 257442"/>
                <a:gd name="connsiteX1" fmla="*/ 1654300 w 1709021"/>
                <a:gd name="connsiteY1" fmla="*/ 257442 h 257442"/>
                <a:gd name="connsiteX2" fmla="*/ 0 w 1709021"/>
                <a:gd name="connsiteY2" fmla="*/ 257442 h 257442"/>
                <a:gd name="connsiteX3" fmla="*/ 54721 w 1709021"/>
                <a:gd name="connsiteY3" fmla="*/ 0 h 257442"/>
                <a:gd name="connsiteX0" fmla="*/ 1978326 w 1978326"/>
                <a:gd name="connsiteY0" fmla="*/ 0 h 257442"/>
                <a:gd name="connsiteX1" fmla="*/ 1654300 w 1978326"/>
                <a:gd name="connsiteY1" fmla="*/ 257442 h 257442"/>
                <a:gd name="connsiteX2" fmla="*/ 0 w 1978326"/>
                <a:gd name="connsiteY2" fmla="*/ 257442 h 257442"/>
                <a:gd name="connsiteX3" fmla="*/ 54721 w 1978326"/>
                <a:gd name="connsiteY3" fmla="*/ 0 h 257442"/>
                <a:gd name="connsiteX0" fmla="*/ 1978326 w 1978326"/>
                <a:gd name="connsiteY0" fmla="*/ 0 h 257442"/>
                <a:gd name="connsiteX1" fmla="*/ 1923604 w 1978326"/>
                <a:gd name="connsiteY1" fmla="*/ 257442 h 257442"/>
                <a:gd name="connsiteX2" fmla="*/ 0 w 1978326"/>
                <a:gd name="connsiteY2" fmla="*/ 257442 h 257442"/>
                <a:gd name="connsiteX3" fmla="*/ 54721 w 1978326"/>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1978327 w 1978327"/>
                <a:gd name="connsiteY0" fmla="*/ 0 h 257442"/>
                <a:gd name="connsiteX1" fmla="*/ 1923605 w 1978327"/>
                <a:gd name="connsiteY1" fmla="*/ 257442 h 257442"/>
                <a:gd name="connsiteX2" fmla="*/ 0 w 1978327"/>
                <a:gd name="connsiteY2" fmla="*/ 257442 h 257442"/>
                <a:gd name="connsiteX3" fmla="*/ 54722 w 1978327"/>
                <a:gd name="connsiteY3" fmla="*/ 0 h 257442"/>
                <a:gd name="connsiteX0" fmla="*/ 2290913 w 2290913"/>
                <a:gd name="connsiteY0" fmla="*/ 0 h 257442"/>
                <a:gd name="connsiteX1" fmla="*/ 1923605 w 2290913"/>
                <a:gd name="connsiteY1" fmla="*/ 257442 h 257442"/>
                <a:gd name="connsiteX2" fmla="*/ 0 w 2290913"/>
                <a:gd name="connsiteY2" fmla="*/ 257442 h 257442"/>
                <a:gd name="connsiteX3" fmla="*/ 54722 w 2290913"/>
                <a:gd name="connsiteY3" fmla="*/ 0 h 257442"/>
                <a:gd name="connsiteX0" fmla="*/ 2290913 w 2290913"/>
                <a:gd name="connsiteY0" fmla="*/ 0 h 257442"/>
                <a:gd name="connsiteX1" fmla="*/ 2236192 w 2290913"/>
                <a:gd name="connsiteY1" fmla="*/ 257442 h 257442"/>
                <a:gd name="connsiteX2" fmla="*/ 0 w 2290913"/>
                <a:gd name="connsiteY2" fmla="*/ 257442 h 257442"/>
                <a:gd name="connsiteX3" fmla="*/ 54722 w 2290913"/>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1 w 2290912"/>
                <a:gd name="connsiteY3" fmla="*/ 0 h 257442"/>
                <a:gd name="connsiteX0" fmla="*/ 2290912 w 2290912"/>
                <a:gd name="connsiteY0" fmla="*/ 0 h 257442"/>
                <a:gd name="connsiteX1" fmla="*/ 2236191 w 2290912"/>
                <a:gd name="connsiteY1" fmla="*/ 257442 h 257442"/>
                <a:gd name="connsiteX2" fmla="*/ 0 w 2290912"/>
                <a:gd name="connsiteY2" fmla="*/ 257442 h 257442"/>
                <a:gd name="connsiteX3" fmla="*/ 54720 w 2290912"/>
                <a:gd name="connsiteY3" fmla="*/ 0 h 257442"/>
                <a:gd name="connsiteX0" fmla="*/ 2560215 w 2560215"/>
                <a:gd name="connsiteY0" fmla="*/ 0 h 257442"/>
                <a:gd name="connsiteX1" fmla="*/ 2236191 w 2560215"/>
                <a:gd name="connsiteY1" fmla="*/ 257442 h 257442"/>
                <a:gd name="connsiteX2" fmla="*/ 0 w 2560215"/>
                <a:gd name="connsiteY2" fmla="*/ 257442 h 257442"/>
                <a:gd name="connsiteX3" fmla="*/ 54720 w 2560215"/>
                <a:gd name="connsiteY3" fmla="*/ 0 h 257442"/>
                <a:gd name="connsiteX0" fmla="*/ 2560215 w 2560215"/>
                <a:gd name="connsiteY0" fmla="*/ 0 h 257442"/>
                <a:gd name="connsiteX1" fmla="*/ 2505494 w 2560215"/>
                <a:gd name="connsiteY1" fmla="*/ 257442 h 257442"/>
                <a:gd name="connsiteX2" fmla="*/ 0 w 2560215"/>
                <a:gd name="connsiteY2" fmla="*/ 257442 h 257442"/>
                <a:gd name="connsiteX3" fmla="*/ 54720 w 2560215"/>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560216 w 2560216"/>
                <a:gd name="connsiteY0" fmla="*/ 0 h 257442"/>
                <a:gd name="connsiteX1" fmla="*/ 2505495 w 2560216"/>
                <a:gd name="connsiteY1" fmla="*/ 257442 h 257442"/>
                <a:gd name="connsiteX2" fmla="*/ 0 w 2560216"/>
                <a:gd name="connsiteY2" fmla="*/ 257442 h 257442"/>
                <a:gd name="connsiteX3" fmla="*/ 54721 w 2560216"/>
                <a:gd name="connsiteY3" fmla="*/ 0 h 257442"/>
                <a:gd name="connsiteX0" fmla="*/ 2829521 w 2829521"/>
                <a:gd name="connsiteY0" fmla="*/ 0 h 257442"/>
                <a:gd name="connsiteX1" fmla="*/ 2505495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829521 w 2829521"/>
                <a:gd name="connsiteY0" fmla="*/ 0 h 257442"/>
                <a:gd name="connsiteX1" fmla="*/ 2774800 w 2829521"/>
                <a:gd name="connsiteY1" fmla="*/ 257442 h 257442"/>
                <a:gd name="connsiteX2" fmla="*/ 0 w 2829521"/>
                <a:gd name="connsiteY2" fmla="*/ 257442 h 257442"/>
                <a:gd name="connsiteX3" fmla="*/ 54721 w 2829521"/>
                <a:gd name="connsiteY3" fmla="*/ 0 h 257442"/>
                <a:gd name="connsiteX0" fmla="*/ 2989821 w 2989821"/>
                <a:gd name="connsiteY0" fmla="*/ 0 h 257442"/>
                <a:gd name="connsiteX1" fmla="*/ 27748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2989821 w 2989821"/>
                <a:gd name="connsiteY0" fmla="*/ 0 h 257442"/>
                <a:gd name="connsiteX1" fmla="*/ 2935100 w 2989821"/>
                <a:gd name="connsiteY1" fmla="*/ 257442 h 257442"/>
                <a:gd name="connsiteX2" fmla="*/ 0 w 2989821"/>
                <a:gd name="connsiteY2" fmla="*/ 257442 h 257442"/>
                <a:gd name="connsiteX3" fmla="*/ 54721 w 2989821"/>
                <a:gd name="connsiteY3" fmla="*/ 0 h 257442"/>
                <a:gd name="connsiteX0" fmla="*/ 3251110 w 3251110"/>
                <a:gd name="connsiteY0" fmla="*/ 0 h 257442"/>
                <a:gd name="connsiteX1" fmla="*/ 2935100 w 3251110"/>
                <a:gd name="connsiteY1" fmla="*/ 257442 h 257442"/>
                <a:gd name="connsiteX2" fmla="*/ 0 w 3251110"/>
                <a:gd name="connsiteY2" fmla="*/ 257442 h 257442"/>
                <a:gd name="connsiteX3" fmla="*/ 54721 w 3251110"/>
                <a:gd name="connsiteY3" fmla="*/ 0 h 257442"/>
                <a:gd name="connsiteX0" fmla="*/ 3251110 w 3251110"/>
                <a:gd name="connsiteY0" fmla="*/ 0 h 257442"/>
                <a:gd name="connsiteX1" fmla="*/ 3196388 w 3251110"/>
                <a:gd name="connsiteY1" fmla="*/ 257442 h 257442"/>
                <a:gd name="connsiteX2" fmla="*/ 0 w 3251110"/>
                <a:gd name="connsiteY2" fmla="*/ 257442 h 257442"/>
                <a:gd name="connsiteX3" fmla="*/ 54721 w 3251110"/>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3251111 w 3251111"/>
                <a:gd name="connsiteY0" fmla="*/ 0 h 257442"/>
                <a:gd name="connsiteX1" fmla="*/ 3196389 w 3251111"/>
                <a:gd name="connsiteY1" fmla="*/ 257442 h 257442"/>
                <a:gd name="connsiteX2" fmla="*/ 0 w 3251111"/>
                <a:gd name="connsiteY2" fmla="*/ 257442 h 257442"/>
                <a:gd name="connsiteX3" fmla="*/ 54722 w 3251111"/>
                <a:gd name="connsiteY3" fmla="*/ 0 h 257442"/>
                <a:gd name="connsiteX0" fmla="*/ 960420 w 3196389"/>
                <a:gd name="connsiteY0" fmla="*/ 0 h 257442"/>
                <a:gd name="connsiteX1" fmla="*/ 3196389 w 3196389"/>
                <a:gd name="connsiteY1" fmla="*/ 257442 h 257442"/>
                <a:gd name="connsiteX2" fmla="*/ 0 w 3196389"/>
                <a:gd name="connsiteY2" fmla="*/ 257442 h 257442"/>
                <a:gd name="connsiteX3" fmla="*/ 54722 w 3196389"/>
                <a:gd name="connsiteY3" fmla="*/ 0 h 257442"/>
                <a:gd name="connsiteX0" fmla="*/ 960420 w 960420"/>
                <a:gd name="connsiteY0" fmla="*/ 0 h 257442"/>
                <a:gd name="connsiteX1" fmla="*/ 905699 w 960420"/>
                <a:gd name="connsiteY1" fmla="*/ 257442 h 257442"/>
                <a:gd name="connsiteX2" fmla="*/ 0 w 960420"/>
                <a:gd name="connsiteY2" fmla="*/ 257442 h 257442"/>
                <a:gd name="connsiteX3" fmla="*/ 54722 w 960420"/>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1 w 960419"/>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2 w 1128734"/>
                <a:gd name="connsiteY1" fmla="*/ 257442 h 257442"/>
                <a:gd name="connsiteX2" fmla="*/ 0 w 1128734"/>
                <a:gd name="connsiteY2" fmla="*/ 257442 h 257442"/>
                <a:gd name="connsiteX3" fmla="*/ 54721 w 1128734"/>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128735 w 1128735"/>
                <a:gd name="connsiteY0" fmla="*/ 0 h 257442"/>
                <a:gd name="connsiteX1" fmla="*/ 1074013 w 1128735"/>
                <a:gd name="connsiteY1" fmla="*/ 257442 h 257442"/>
                <a:gd name="connsiteX2" fmla="*/ 0 w 1128735"/>
                <a:gd name="connsiteY2" fmla="*/ 257442 h 257442"/>
                <a:gd name="connsiteX3" fmla="*/ 54722 w 1128735"/>
                <a:gd name="connsiteY3" fmla="*/ 0 h 257442"/>
                <a:gd name="connsiteX0" fmla="*/ 1441321 w 1441321"/>
                <a:gd name="connsiteY0" fmla="*/ 0 h 257442"/>
                <a:gd name="connsiteX1" fmla="*/ 1074013 w 1441321"/>
                <a:gd name="connsiteY1" fmla="*/ 257442 h 257442"/>
                <a:gd name="connsiteX2" fmla="*/ 0 w 1441321"/>
                <a:gd name="connsiteY2" fmla="*/ 257442 h 257442"/>
                <a:gd name="connsiteX3" fmla="*/ 54722 w 1441321"/>
                <a:gd name="connsiteY3" fmla="*/ 0 h 257442"/>
                <a:gd name="connsiteX0" fmla="*/ 1441321 w 1441321"/>
                <a:gd name="connsiteY0" fmla="*/ 0 h 257442"/>
                <a:gd name="connsiteX1" fmla="*/ 1386600 w 1441321"/>
                <a:gd name="connsiteY1" fmla="*/ 257442 h 257442"/>
                <a:gd name="connsiteX2" fmla="*/ 0 w 1441321"/>
                <a:gd name="connsiteY2" fmla="*/ 257442 h 257442"/>
                <a:gd name="connsiteX3" fmla="*/ 54722 w 1441321"/>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1 w 1441320"/>
                <a:gd name="connsiteY3" fmla="*/ 0 h 257442"/>
                <a:gd name="connsiteX0" fmla="*/ 1441320 w 1441320"/>
                <a:gd name="connsiteY0" fmla="*/ 0 h 257442"/>
                <a:gd name="connsiteX1" fmla="*/ 1386599 w 1441320"/>
                <a:gd name="connsiteY1" fmla="*/ 257442 h 257442"/>
                <a:gd name="connsiteX2" fmla="*/ 0 w 1441320"/>
                <a:gd name="connsiteY2" fmla="*/ 257442 h 257442"/>
                <a:gd name="connsiteX3" fmla="*/ 54720 w 1441320"/>
                <a:gd name="connsiteY3" fmla="*/ 0 h 257442"/>
                <a:gd name="connsiteX0" fmla="*/ 1609634 w 1609634"/>
                <a:gd name="connsiteY0" fmla="*/ 0 h 257442"/>
                <a:gd name="connsiteX1" fmla="*/ 1386599 w 1609634"/>
                <a:gd name="connsiteY1" fmla="*/ 257442 h 257442"/>
                <a:gd name="connsiteX2" fmla="*/ 0 w 1609634"/>
                <a:gd name="connsiteY2" fmla="*/ 257442 h 257442"/>
                <a:gd name="connsiteX3" fmla="*/ 54720 w 1609634"/>
                <a:gd name="connsiteY3" fmla="*/ 0 h 257442"/>
                <a:gd name="connsiteX0" fmla="*/ 1609634 w 1609634"/>
                <a:gd name="connsiteY0" fmla="*/ 0 h 257442"/>
                <a:gd name="connsiteX1" fmla="*/ 1554913 w 1609634"/>
                <a:gd name="connsiteY1" fmla="*/ 257442 h 257442"/>
                <a:gd name="connsiteX2" fmla="*/ 0 w 1609634"/>
                <a:gd name="connsiteY2" fmla="*/ 257442 h 257442"/>
                <a:gd name="connsiteX3" fmla="*/ 54720 w 1609634"/>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1 w 1609635"/>
                <a:gd name="connsiteY3" fmla="*/ 0 h 257442"/>
                <a:gd name="connsiteX0" fmla="*/ 1609635 w 1609635"/>
                <a:gd name="connsiteY0" fmla="*/ 0 h 257442"/>
                <a:gd name="connsiteX1" fmla="*/ 1554914 w 1609635"/>
                <a:gd name="connsiteY1" fmla="*/ 257442 h 257442"/>
                <a:gd name="connsiteX2" fmla="*/ 0 w 1609635"/>
                <a:gd name="connsiteY2" fmla="*/ 257442 h 257442"/>
                <a:gd name="connsiteX3" fmla="*/ 54722 w 1609635"/>
                <a:gd name="connsiteY3" fmla="*/ 0 h 257442"/>
                <a:gd name="connsiteX0" fmla="*/ 960419 w 1554914"/>
                <a:gd name="connsiteY0" fmla="*/ 0 h 257442"/>
                <a:gd name="connsiteX1" fmla="*/ 1554914 w 1554914"/>
                <a:gd name="connsiteY1" fmla="*/ 257442 h 257442"/>
                <a:gd name="connsiteX2" fmla="*/ 0 w 1554914"/>
                <a:gd name="connsiteY2" fmla="*/ 257442 h 257442"/>
                <a:gd name="connsiteX3" fmla="*/ 54722 w 1554914"/>
                <a:gd name="connsiteY3" fmla="*/ 0 h 257442"/>
                <a:gd name="connsiteX0" fmla="*/ 960419 w 960419"/>
                <a:gd name="connsiteY0" fmla="*/ 0 h 257442"/>
                <a:gd name="connsiteX1" fmla="*/ 905698 w 960419"/>
                <a:gd name="connsiteY1" fmla="*/ 257442 h 257442"/>
                <a:gd name="connsiteX2" fmla="*/ 0 w 960419"/>
                <a:gd name="connsiteY2" fmla="*/ 257442 h 257442"/>
                <a:gd name="connsiteX3" fmla="*/ 54722 w 960419"/>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1 w 960418"/>
                <a:gd name="connsiteY3" fmla="*/ 0 h 257442"/>
                <a:gd name="connsiteX0" fmla="*/ 960418 w 960418"/>
                <a:gd name="connsiteY0" fmla="*/ 0 h 257442"/>
                <a:gd name="connsiteX1" fmla="*/ 905697 w 960418"/>
                <a:gd name="connsiteY1" fmla="*/ 257442 h 257442"/>
                <a:gd name="connsiteX2" fmla="*/ 0 w 960418"/>
                <a:gd name="connsiteY2" fmla="*/ 257442 h 257442"/>
                <a:gd name="connsiteX3" fmla="*/ 54720 w 960418"/>
                <a:gd name="connsiteY3" fmla="*/ 0 h 257442"/>
                <a:gd name="connsiteX0" fmla="*/ 1120718 w 1120718"/>
                <a:gd name="connsiteY0" fmla="*/ 0 h 257442"/>
                <a:gd name="connsiteX1" fmla="*/ 9056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2 w 1120719"/>
                <a:gd name="connsiteY3" fmla="*/ 0 h 257442"/>
                <a:gd name="connsiteX0" fmla="*/ 1281021 w 1281021"/>
                <a:gd name="connsiteY0" fmla="*/ 0 h 257442"/>
                <a:gd name="connsiteX1" fmla="*/ 1065998 w 1281021"/>
                <a:gd name="connsiteY1" fmla="*/ 257442 h 257442"/>
                <a:gd name="connsiteX2" fmla="*/ 0 w 1281021"/>
                <a:gd name="connsiteY2" fmla="*/ 257442 h 257442"/>
                <a:gd name="connsiteX3" fmla="*/ 54722 w 1281021"/>
                <a:gd name="connsiteY3" fmla="*/ 0 h 257442"/>
                <a:gd name="connsiteX0" fmla="*/ 1281021 w 1281021"/>
                <a:gd name="connsiteY0" fmla="*/ 0 h 257442"/>
                <a:gd name="connsiteX1" fmla="*/ 1226300 w 1281021"/>
                <a:gd name="connsiteY1" fmla="*/ 257442 h 257442"/>
                <a:gd name="connsiteX2" fmla="*/ 0 w 1281021"/>
                <a:gd name="connsiteY2" fmla="*/ 257442 h 257442"/>
                <a:gd name="connsiteX3" fmla="*/ 54722 w 1281021"/>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1 w 1281020"/>
                <a:gd name="connsiteY3" fmla="*/ 0 h 257442"/>
                <a:gd name="connsiteX0" fmla="*/ 1281020 w 1281020"/>
                <a:gd name="connsiteY0" fmla="*/ 0 h 257442"/>
                <a:gd name="connsiteX1" fmla="*/ 1226299 w 1281020"/>
                <a:gd name="connsiteY1" fmla="*/ 257442 h 257442"/>
                <a:gd name="connsiteX2" fmla="*/ 0 w 1281020"/>
                <a:gd name="connsiteY2" fmla="*/ 257442 h 257442"/>
                <a:gd name="connsiteX3" fmla="*/ 54720 w 1281020"/>
                <a:gd name="connsiteY3" fmla="*/ 0 h 257442"/>
                <a:gd name="connsiteX0" fmla="*/ 1449334 w 1449334"/>
                <a:gd name="connsiteY0" fmla="*/ 0 h 257442"/>
                <a:gd name="connsiteX1" fmla="*/ 1226299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3 w 1449334"/>
                <a:gd name="connsiteY1" fmla="*/ 257442 h 257442"/>
                <a:gd name="connsiteX2" fmla="*/ 0 w 1449334"/>
                <a:gd name="connsiteY2" fmla="*/ 257442 h 257442"/>
                <a:gd name="connsiteX3" fmla="*/ 54720 w 1449334"/>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1 w 1449335"/>
                <a:gd name="connsiteY3" fmla="*/ 0 h 257442"/>
                <a:gd name="connsiteX0" fmla="*/ 1449335 w 1449335"/>
                <a:gd name="connsiteY0" fmla="*/ 0 h 257442"/>
                <a:gd name="connsiteX1" fmla="*/ 1394614 w 1449335"/>
                <a:gd name="connsiteY1" fmla="*/ 257442 h 257442"/>
                <a:gd name="connsiteX2" fmla="*/ 0 w 1449335"/>
                <a:gd name="connsiteY2" fmla="*/ 257442 h 257442"/>
                <a:gd name="connsiteX3" fmla="*/ 54722 w 1449335"/>
                <a:gd name="connsiteY3" fmla="*/ 0 h 257442"/>
                <a:gd name="connsiteX0" fmla="*/ 1707868 w 1707868"/>
                <a:gd name="connsiteY0" fmla="*/ 0 h 257442"/>
                <a:gd name="connsiteX1" fmla="*/ 1394614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2 w 1707868"/>
                <a:gd name="connsiteY3" fmla="*/ 0 h 257442"/>
                <a:gd name="connsiteX0" fmla="*/ 1707868 w 1707868"/>
                <a:gd name="connsiteY0" fmla="*/ 0 h 257442"/>
                <a:gd name="connsiteX1" fmla="*/ 1653146 w 1707868"/>
                <a:gd name="connsiteY1" fmla="*/ 257442 h 257442"/>
                <a:gd name="connsiteX2" fmla="*/ 0 w 1707868"/>
                <a:gd name="connsiteY2" fmla="*/ 257442 h 257442"/>
                <a:gd name="connsiteX3" fmla="*/ 54721 w 1707868"/>
                <a:gd name="connsiteY3" fmla="*/ 0 h 257442"/>
                <a:gd name="connsiteX0" fmla="*/ 1868167 w 1868167"/>
                <a:gd name="connsiteY0" fmla="*/ 0 h 257442"/>
                <a:gd name="connsiteX1" fmla="*/ 16531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2071749 w 2071749"/>
                <a:gd name="connsiteY0" fmla="*/ 0 h 257442"/>
                <a:gd name="connsiteX1" fmla="*/ 1813446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325024 w 2325024"/>
                <a:gd name="connsiteY0" fmla="*/ 0 h 257442"/>
                <a:gd name="connsiteX1" fmla="*/ 2017028 w 2325024"/>
                <a:gd name="connsiteY1" fmla="*/ 257442 h 257442"/>
                <a:gd name="connsiteX2" fmla="*/ 0 w 2325024"/>
                <a:gd name="connsiteY2" fmla="*/ 257442 h 257442"/>
                <a:gd name="connsiteX3" fmla="*/ 54721 w 2325024"/>
                <a:gd name="connsiteY3" fmla="*/ 0 h 257442"/>
                <a:gd name="connsiteX0" fmla="*/ 2325024 w 2325024"/>
                <a:gd name="connsiteY0" fmla="*/ 0 h 257442"/>
                <a:gd name="connsiteX1" fmla="*/ 2270302 w 2325024"/>
                <a:gd name="connsiteY1" fmla="*/ 257442 h 257442"/>
                <a:gd name="connsiteX2" fmla="*/ 0 w 2325024"/>
                <a:gd name="connsiteY2" fmla="*/ 257442 h 257442"/>
                <a:gd name="connsiteX3" fmla="*/ 54721 w 2325024"/>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325025 w 2325025"/>
                <a:gd name="connsiteY0" fmla="*/ 0 h 257442"/>
                <a:gd name="connsiteX1" fmla="*/ 2270303 w 2325025"/>
                <a:gd name="connsiteY1" fmla="*/ 257442 h 257442"/>
                <a:gd name="connsiteX2" fmla="*/ 0 w 2325025"/>
                <a:gd name="connsiteY2" fmla="*/ 257442 h 257442"/>
                <a:gd name="connsiteX3" fmla="*/ 54722 w 2325025"/>
                <a:gd name="connsiteY3" fmla="*/ 0 h 257442"/>
                <a:gd name="connsiteX0" fmla="*/ 2172739 w 2270303"/>
                <a:gd name="connsiteY0" fmla="*/ 0 h 257442"/>
                <a:gd name="connsiteX1" fmla="*/ 2270303 w 2270303"/>
                <a:gd name="connsiteY1" fmla="*/ 257442 h 257442"/>
                <a:gd name="connsiteX2" fmla="*/ 0 w 2270303"/>
                <a:gd name="connsiteY2" fmla="*/ 257442 h 257442"/>
                <a:gd name="connsiteX3" fmla="*/ 54722 w 2270303"/>
                <a:gd name="connsiteY3" fmla="*/ 0 h 257442"/>
                <a:gd name="connsiteX0" fmla="*/ 2172739 w 2172739"/>
                <a:gd name="connsiteY0" fmla="*/ 0 h 257442"/>
                <a:gd name="connsiteX1" fmla="*/ 2118018 w 2172739"/>
                <a:gd name="connsiteY1" fmla="*/ 257442 h 257442"/>
                <a:gd name="connsiteX2" fmla="*/ 0 w 2172739"/>
                <a:gd name="connsiteY2" fmla="*/ 257442 h 257442"/>
                <a:gd name="connsiteX3" fmla="*/ 54722 w 2172739"/>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1 w 2172738"/>
                <a:gd name="connsiteY3" fmla="*/ 0 h 257442"/>
                <a:gd name="connsiteX0" fmla="*/ 2172738 w 2172738"/>
                <a:gd name="connsiteY0" fmla="*/ 0 h 257442"/>
                <a:gd name="connsiteX1" fmla="*/ 2118017 w 2172738"/>
                <a:gd name="connsiteY1" fmla="*/ 257442 h 257442"/>
                <a:gd name="connsiteX2" fmla="*/ 0 w 2172738"/>
                <a:gd name="connsiteY2" fmla="*/ 257442 h 257442"/>
                <a:gd name="connsiteX3" fmla="*/ 54720 w 2172738"/>
                <a:gd name="connsiteY3" fmla="*/ 0 h 257442"/>
                <a:gd name="connsiteX0" fmla="*/ 2350671 w 2350671"/>
                <a:gd name="connsiteY0" fmla="*/ 0 h 257442"/>
                <a:gd name="connsiteX1" fmla="*/ 2118017 w 2350671"/>
                <a:gd name="connsiteY1" fmla="*/ 257442 h 257442"/>
                <a:gd name="connsiteX2" fmla="*/ 0 w 2350671"/>
                <a:gd name="connsiteY2" fmla="*/ 257442 h 257442"/>
                <a:gd name="connsiteX3" fmla="*/ 54720 w 2350671"/>
                <a:gd name="connsiteY3" fmla="*/ 0 h 257442"/>
                <a:gd name="connsiteX0" fmla="*/ 2350671 w 2350671"/>
                <a:gd name="connsiteY0" fmla="*/ 0 h 257442"/>
                <a:gd name="connsiteX1" fmla="*/ 2295950 w 2350671"/>
                <a:gd name="connsiteY1" fmla="*/ 257442 h 257442"/>
                <a:gd name="connsiteX2" fmla="*/ 0 w 2350671"/>
                <a:gd name="connsiteY2" fmla="*/ 257442 h 257442"/>
                <a:gd name="connsiteX3" fmla="*/ 54720 w 2350671"/>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603946 w 2603946"/>
                <a:gd name="connsiteY0" fmla="*/ 0 h 257442"/>
                <a:gd name="connsiteX1" fmla="*/ 2295951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603946 w 2603946"/>
                <a:gd name="connsiteY0" fmla="*/ 0 h 257442"/>
                <a:gd name="connsiteX1" fmla="*/ 2549225 w 2603946"/>
                <a:gd name="connsiteY1" fmla="*/ 257442 h 257442"/>
                <a:gd name="connsiteX2" fmla="*/ 0 w 2603946"/>
                <a:gd name="connsiteY2" fmla="*/ 257442 h 257442"/>
                <a:gd name="connsiteX3" fmla="*/ 54721 w 2603946"/>
                <a:gd name="connsiteY3" fmla="*/ 0 h 257442"/>
                <a:gd name="connsiteX0" fmla="*/ 2502956 w 2549225"/>
                <a:gd name="connsiteY0" fmla="*/ 0 h 257442"/>
                <a:gd name="connsiteX1" fmla="*/ 2549225 w 2549225"/>
                <a:gd name="connsiteY1" fmla="*/ 257442 h 257442"/>
                <a:gd name="connsiteX2" fmla="*/ 0 w 2549225"/>
                <a:gd name="connsiteY2" fmla="*/ 257442 h 257442"/>
                <a:gd name="connsiteX3" fmla="*/ 54721 w 2549225"/>
                <a:gd name="connsiteY3" fmla="*/ 0 h 257442"/>
                <a:gd name="connsiteX0" fmla="*/ 2502956 w 2502956"/>
                <a:gd name="connsiteY0" fmla="*/ 0 h 257442"/>
                <a:gd name="connsiteX1" fmla="*/ 2448236 w 2502956"/>
                <a:gd name="connsiteY1" fmla="*/ 257442 h 257442"/>
                <a:gd name="connsiteX2" fmla="*/ 0 w 2502956"/>
                <a:gd name="connsiteY2" fmla="*/ 257442 h 257442"/>
                <a:gd name="connsiteX3" fmla="*/ 54721 w 2502956"/>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0 w 2502955"/>
                <a:gd name="connsiteY3" fmla="*/ 0 h 257442"/>
                <a:gd name="connsiteX0" fmla="*/ 2502955 w 2502955"/>
                <a:gd name="connsiteY0" fmla="*/ 0 h 257442"/>
                <a:gd name="connsiteX1" fmla="*/ 2448235 w 2502955"/>
                <a:gd name="connsiteY1" fmla="*/ 257442 h 257442"/>
                <a:gd name="connsiteX2" fmla="*/ 0 w 2502955"/>
                <a:gd name="connsiteY2" fmla="*/ 257442 h 257442"/>
                <a:gd name="connsiteX3" fmla="*/ 54721 w 2502955"/>
                <a:gd name="connsiteY3" fmla="*/ 0 h 257442"/>
                <a:gd name="connsiteX0" fmla="*/ 2350672 w 2448235"/>
                <a:gd name="connsiteY0" fmla="*/ 0 h 257442"/>
                <a:gd name="connsiteX1" fmla="*/ 2448235 w 2448235"/>
                <a:gd name="connsiteY1" fmla="*/ 257442 h 257442"/>
                <a:gd name="connsiteX2" fmla="*/ 0 w 2448235"/>
                <a:gd name="connsiteY2" fmla="*/ 257442 h 257442"/>
                <a:gd name="connsiteX3" fmla="*/ 54721 w 2448235"/>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350672 w 2350672"/>
                <a:gd name="connsiteY0" fmla="*/ 0 h 257442"/>
                <a:gd name="connsiteX1" fmla="*/ 2295951 w 2350672"/>
                <a:gd name="connsiteY1" fmla="*/ 257442 h 257442"/>
                <a:gd name="connsiteX2" fmla="*/ 0 w 2350672"/>
                <a:gd name="connsiteY2" fmla="*/ 257442 h 257442"/>
                <a:gd name="connsiteX3" fmla="*/ 54721 w 2350672"/>
                <a:gd name="connsiteY3" fmla="*/ 0 h 257442"/>
                <a:gd name="connsiteX0" fmla="*/ 2172738 w 2295951"/>
                <a:gd name="connsiteY0" fmla="*/ 0 h 257442"/>
                <a:gd name="connsiteX1" fmla="*/ 2295951 w 2295951"/>
                <a:gd name="connsiteY1" fmla="*/ 257442 h 257442"/>
                <a:gd name="connsiteX2" fmla="*/ 0 w 2295951"/>
                <a:gd name="connsiteY2" fmla="*/ 257442 h 257442"/>
                <a:gd name="connsiteX3" fmla="*/ 54721 w 2295951"/>
                <a:gd name="connsiteY3" fmla="*/ 0 h 257442"/>
                <a:gd name="connsiteX0" fmla="*/ 2172738 w 2172738"/>
                <a:gd name="connsiteY0" fmla="*/ 0 h 257442"/>
                <a:gd name="connsiteX1" fmla="*/ 2118018 w 2172738"/>
                <a:gd name="connsiteY1" fmla="*/ 257442 h 257442"/>
                <a:gd name="connsiteX2" fmla="*/ 0 w 2172738"/>
                <a:gd name="connsiteY2" fmla="*/ 257442 h 257442"/>
                <a:gd name="connsiteX3" fmla="*/ 54721 w 2172738"/>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0 w 2172737"/>
                <a:gd name="connsiteY3" fmla="*/ 0 h 257442"/>
                <a:gd name="connsiteX0" fmla="*/ 2172737 w 2172737"/>
                <a:gd name="connsiteY0" fmla="*/ 0 h 257442"/>
                <a:gd name="connsiteX1" fmla="*/ 2118017 w 2172737"/>
                <a:gd name="connsiteY1" fmla="*/ 257442 h 257442"/>
                <a:gd name="connsiteX2" fmla="*/ 0 w 2172737"/>
                <a:gd name="connsiteY2" fmla="*/ 257442 h 257442"/>
                <a:gd name="connsiteX3" fmla="*/ 54721 w 2172737"/>
                <a:gd name="connsiteY3" fmla="*/ 0 h 257442"/>
                <a:gd name="connsiteX0" fmla="*/ 2071749 w 2118017"/>
                <a:gd name="connsiteY0" fmla="*/ 0 h 257442"/>
                <a:gd name="connsiteX1" fmla="*/ 2118017 w 2118017"/>
                <a:gd name="connsiteY1" fmla="*/ 257442 h 257442"/>
                <a:gd name="connsiteX2" fmla="*/ 0 w 2118017"/>
                <a:gd name="connsiteY2" fmla="*/ 257442 h 257442"/>
                <a:gd name="connsiteX3" fmla="*/ 54721 w 2118017"/>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2071749 w 2071749"/>
                <a:gd name="connsiteY0" fmla="*/ 0 h 257442"/>
                <a:gd name="connsiteX1" fmla="*/ 2017028 w 2071749"/>
                <a:gd name="connsiteY1" fmla="*/ 257442 h 257442"/>
                <a:gd name="connsiteX2" fmla="*/ 0 w 2071749"/>
                <a:gd name="connsiteY2" fmla="*/ 257442 h 257442"/>
                <a:gd name="connsiteX3" fmla="*/ 54721 w 2071749"/>
                <a:gd name="connsiteY3" fmla="*/ 0 h 257442"/>
                <a:gd name="connsiteX0" fmla="*/ 1868167 w 2017028"/>
                <a:gd name="connsiteY0" fmla="*/ 0 h 257442"/>
                <a:gd name="connsiteX1" fmla="*/ 2017028 w 2017028"/>
                <a:gd name="connsiteY1" fmla="*/ 257442 h 257442"/>
                <a:gd name="connsiteX2" fmla="*/ 0 w 2017028"/>
                <a:gd name="connsiteY2" fmla="*/ 257442 h 257442"/>
                <a:gd name="connsiteX3" fmla="*/ 54721 w 2017028"/>
                <a:gd name="connsiteY3" fmla="*/ 0 h 257442"/>
                <a:gd name="connsiteX0" fmla="*/ 1868167 w 1868167"/>
                <a:gd name="connsiteY0" fmla="*/ 0 h 257442"/>
                <a:gd name="connsiteX1" fmla="*/ 1813446 w 1868167"/>
                <a:gd name="connsiteY1" fmla="*/ 257442 h 257442"/>
                <a:gd name="connsiteX2" fmla="*/ 0 w 1868167"/>
                <a:gd name="connsiteY2" fmla="*/ 257442 h 257442"/>
                <a:gd name="connsiteX3" fmla="*/ 54721 w 1868167"/>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868166 w 1868166"/>
                <a:gd name="connsiteY0" fmla="*/ 0 h 257442"/>
                <a:gd name="connsiteX1" fmla="*/ 1813445 w 1868166"/>
                <a:gd name="connsiteY1" fmla="*/ 257442 h 257442"/>
                <a:gd name="connsiteX2" fmla="*/ 0 w 1868166"/>
                <a:gd name="connsiteY2" fmla="*/ 257442 h 257442"/>
                <a:gd name="connsiteX3" fmla="*/ 54720 w 1868166"/>
                <a:gd name="connsiteY3" fmla="*/ 0 h 257442"/>
                <a:gd name="connsiteX0" fmla="*/ 1707866 w 1813445"/>
                <a:gd name="connsiteY0" fmla="*/ 0 h 257442"/>
                <a:gd name="connsiteX1" fmla="*/ 1813445 w 1813445"/>
                <a:gd name="connsiteY1" fmla="*/ 257442 h 257442"/>
                <a:gd name="connsiteX2" fmla="*/ 0 w 1813445"/>
                <a:gd name="connsiteY2" fmla="*/ 257442 h 257442"/>
                <a:gd name="connsiteX3" fmla="*/ 54720 w 1813445"/>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0 w 1707866"/>
                <a:gd name="connsiteY3" fmla="*/ 0 h 257442"/>
                <a:gd name="connsiteX0" fmla="*/ 1707866 w 1707866"/>
                <a:gd name="connsiteY0" fmla="*/ 0 h 257442"/>
                <a:gd name="connsiteX1" fmla="*/ 1653146 w 1707866"/>
                <a:gd name="connsiteY1" fmla="*/ 257442 h 257442"/>
                <a:gd name="connsiteX2" fmla="*/ 0 w 1707866"/>
                <a:gd name="connsiteY2" fmla="*/ 257442 h 257442"/>
                <a:gd name="connsiteX3" fmla="*/ 54721 w 1707866"/>
                <a:gd name="connsiteY3" fmla="*/ 0 h 257442"/>
                <a:gd name="connsiteX0" fmla="*/ 1606878 w 1653146"/>
                <a:gd name="connsiteY0" fmla="*/ 0 h 257442"/>
                <a:gd name="connsiteX1" fmla="*/ 1653146 w 1653146"/>
                <a:gd name="connsiteY1" fmla="*/ 257442 h 257442"/>
                <a:gd name="connsiteX2" fmla="*/ 0 w 1653146"/>
                <a:gd name="connsiteY2" fmla="*/ 257442 h 257442"/>
                <a:gd name="connsiteX3" fmla="*/ 54721 w 1653146"/>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606878 w 1606878"/>
                <a:gd name="connsiteY0" fmla="*/ 0 h 257442"/>
                <a:gd name="connsiteX1" fmla="*/ 1552157 w 1606878"/>
                <a:gd name="connsiteY1" fmla="*/ 257442 h 257442"/>
                <a:gd name="connsiteX2" fmla="*/ 0 w 1606878"/>
                <a:gd name="connsiteY2" fmla="*/ 257442 h 257442"/>
                <a:gd name="connsiteX3" fmla="*/ 54721 w 1606878"/>
                <a:gd name="connsiteY3" fmla="*/ 0 h 257442"/>
                <a:gd name="connsiteX0" fmla="*/ 1449335 w 1552157"/>
                <a:gd name="connsiteY0" fmla="*/ 0 h 257442"/>
                <a:gd name="connsiteX1" fmla="*/ 1552157 w 1552157"/>
                <a:gd name="connsiteY1" fmla="*/ 257442 h 257442"/>
                <a:gd name="connsiteX2" fmla="*/ 0 w 1552157"/>
                <a:gd name="connsiteY2" fmla="*/ 257442 h 257442"/>
                <a:gd name="connsiteX3" fmla="*/ 54721 w 1552157"/>
                <a:gd name="connsiteY3" fmla="*/ 0 h 257442"/>
                <a:gd name="connsiteX0" fmla="*/ 1449335 w 1449335"/>
                <a:gd name="connsiteY0" fmla="*/ 0 h 257442"/>
                <a:gd name="connsiteX1" fmla="*/ 1394615 w 1449335"/>
                <a:gd name="connsiteY1" fmla="*/ 257442 h 257442"/>
                <a:gd name="connsiteX2" fmla="*/ 0 w 1449335"/>
                <a:gd name="connsiteY2" fmla="*/ 257442 h 257442"/>
                <a:gd name="connsiteX3" fmla="*/ 54721 w 1449335"/>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449334 w 1449334"/>
                <a:gd name="connsiteY0" fmla="*/ 0 h 257442"/>
                <a:gd name="connsiteX1" fmla="*/ 1394614 w 1449334"/>
                <a:gd name="connsiteY1" fmla="*/ 257442 h 257442"/>
                <a:gd name="connsiteX2" fmla="*/ 0 w 1449334"/>
                <a:gd name="connsiteY2" fmla="*/ 257442 h 257442"/>
                <a:gd name="connsiteX3" fmla="*/ 54720 w 1449334"/>
                <a:gd name="connsiteY3" fmla="*/ 0 h 257442"/>
                <a:gd name="connsiteX0" fmla="*/ 1281019 w 1394614"/>
                <a:gd name="connsiteY0" fmla="*/ 0 h 257442"/>
                <a:gd name="connsiteX1" fmla="*/ 1394614 w 1394614"/>
                <a:gd name="connsiteY1" fmla="*/ 257442 h 257442"/>
                <a:gd name="connsiteX2" fmla="*/ 0 w 1394614"/>
                <a:gd name="connsiteY2" fmla="*/ 257442 h 257442"/>
                <a:gd name="connsiteX3" fmla="*/ 54720 w 1394614"/>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0 w 1281019"/>
                <a:gd name="connsiteY3" fmla="*/ 0 h 257442"/>
                <a:gd name="connsiteX0" fmla="*/ 1281019 w 1281019"/>
                <a:gd name="connsiteY0" fmla="*/ 0 h 257442"/>
                <a:gd name="connsiteX1" fmla="*/ 1226298 w 1281019"/>
                <a:gd name="connsiteY1" fmla="*/ 257442 h 257442"/>
                <a:gd name="connsiteX2" fmla="*/ 0 w 1281019"/>
                <a:gd name="connsiteY2" fmla="*/ 257442 h 257442"/>
                <a:gd name="connsiteX3" fmla="*/ 54721 w 1281019"/>
                <a:gd name="connsiteY3" fmla="*/ 0 h 257442"/>
                <a:gd name="connsiteX0" fmla="*/ 1120719 w 1226298"/>
                <a:gd name="connsiteY0" fmla="*/ 0 h 257442"/>
                <a:gd name="connsiteX1" fmla="*/ 1226298 w 1226298"/>
                <a:gd name="connsiteY1" fmla="*/ 257442 h 257442"/>
                <a:gd name="connsiteX2" fmla="*/ 0 w 1226298"/>
                <a:gd name="connsiteY2" fmla="*/ 257442 h 257442"/>
                <a:gd name="connsiteX3" fmla="*/ 54721 w 1226298"/>
                <a:gd name="connsiteY3" fmla="*/ 0 h 257442"/>
                <a:gd name="connsiteX0" fmla="*/ 1120719 w 1120719"/>
                <a:gd name="connsiteY0" fmla="*/ 0 h 257442"/>
                <a:gd name="connsiteX1" fmla="*/ 1065998 w 1120719"/>
                <a:gd name="connsiteY1" fmla="*/ 257442 h 257442"/>
                <a:gd name="connsiteX2" fmla="*/ 0 w 1120719"/>
                <a:gd name="connsiteY2" fmla="*/ 257442 h 257442"/>
                <a:gd name="connsiteX3" fmla="*/ 54721 w 1120719"/>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1120718 w 1120718"/>
                <a:gd name="connsiteY0" fmla="*/ 0 h 257442"/>
                <a:gd name="connsiteX1" fmla="*/ 1065997 w 1120718"/>
                <a:gd name="connsiteY1" fmla="*/ 257442 h 257442"/>
                <a:gd name="connsiteX2" fmla="*/ 0 w 1120718"/>
                <a:gd name="connsiteY2" fmla="*/ 257442 h 257442"/>
                <a:gd name="connsiteX3" fmla="*/ 54720 w 1120718"/>
                <a:gd name="connsiteY3" fmla="*/ 0 h 257442"/>
                <a:gd name="connsiteX0" fmla="*/ 960418 w 1065997"/>
                <a:gd name="connsiteY0" fmla="*/ 0 h 257442"/>
                <a:gd name="connsiteX1" fmla="*/ 1065997 w 1065997"/>
                <a:gd name="connsiteY1" fmla="*/ 257442 h 257442"/>
                <a:gd name="connsiteX2" fmla="*/ 0 w 1065997"/>
                <a:gd name="connsiteY2" fmla="*/ 257442 h 257442"/>
                <a:gd name="connsiteX3" fmla="*/ 54720 w 1065997"/>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1 w 960418"/>
                <a:gd name="connsiteY3" fmla="*/ 0 h 257442"/>
                <a:gd name="connsiteX0" fmla="*/ 1128734 w 1128734"/>
                <a:gd name="connsiteY0" fmla="*/ 0 h 257442"/>
                <a:gd name="connsiteX1" fmla="*/ 905698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1128734 w 1128734"/>
                <a:gd name="connsiteY0" fmla="*/ 0 h 257442"/>
                <a:gd name="connsiteX1" fmla="*/ 1074013 w 1128734"/>
                <a:gd name="connsiteY1" fmla="*/ 257442 h 257442"/>
                <a:gd name="connsiteX2" fmla="*/ 0 w 1128734"/>
                <a:gd name="connsiteY2" fmla="*/ 257442 h 257442"/>
                <a:gd name="connsiteX3" fmla="*/ 54721 w 1128734"/>
                <a:gd name="connsiteY3" fmla="*/ 0 h 257442"/>
                <a:gd name="connsiteX0" fmla="*/ 960419 w 1074013"/>
                <a:gd name="connsiteY0" fmla="*/ 0 h 257442"/>
                <a:gd name="connsiteX1" fmla="*/ 1074013 w 1074013"/>
                <a:gd name="connsiteY1" fmla="*/ 257442 h 257442"/>
                <a:gd name="connsiteX2" fmla="*/ 0 w 1074013"/>
                <a:gd name="connsiteY2" fmla="*/ 257442 h 257442"/>
                <a:gd name="connsiteX3" fmla="*/ 54721 w 1074013"/>
                <a:gd name="connsiteY3" fmla="*/ 0 h 257442"/>
                <a:gd name="connsiteX0" fmla="*/ 960419 w 960419"/>
                <a:gd name="connsiteY0" fmla="*/ 0 h 257442"/>
                <a:gd name="connsiteX1" fmla="*/ 905699 w 960419"/>
                <a:gd name="connsiteY1" fmla="*/ 257442 h 257442"/>
                <a:gd name="connsiteX2" fmla="*/ 0 w 960419"/>
                <a:gd name="connsiteY2" fmla="*/ 257442 h 257442"/>
                <a:gd name="connsiteX3" fmla="*/ 54721 w 960419"/>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960418 w 960418"/>
                <a:gd name="connsiteY0" fmla="*/ 0 h 257442"/>
                <a:gd name="connsiteX1" fmla="*/ 905698 w 960418"/>
                <a:gd name="connsiteY1" fmla="*/ 257442 h 257442"/>
                <a:gd name="connsiteX2" fmla="*/ 0 w 960418"/>
                <a:gd name="connsiteY2" fmla="*/ 257442 h 257442"/>
                <a:gd name="connsiteX3" fmla="*/ 54720 w 960418"/>
                <a:gd name="connsiteY3" fmla="*/ 0 h 257442"/>
                <a:gd name="connsiteX0" fmla="*/ 782549 w 905698"/>
                <a:gd name="connsiteY0" fmla="*/ 0 h 257442"/>
                <a:gd name="connsiteX1" fmla="*/ 905698 w 905698"/>
                <a:gd name="connsiteY1" fmla="*/ 257442 h 257442"/>
                <a:gd name="connsiteX2" fmla="*/ 0 w 905698"/>
                <a:gd name="connsiteY2" fmla="*/ 257442 h 257442"/>
                <a:gd name="connsiteX3" fmla="*/ 54720 w 905698"/>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0 w 782549"/>
                <a:gd name="connsiteY3" fmla="*/ 0 h 257442"/>
                <a:gd name="connsiteX0" fmla="*/ 782549 w 782549"/>
                <a:gd name="connsiteY0" fmla="*/ 0 h 257442"/>
                <a:gd name="connsiteX1" fmla="*/ 727828 w 782549"/>
                <a:gd name="connsiteY1" fmla="*/ 257442 h 257442"/>
                <a:gd name="connsiteX2" fmla="*/ 0 w 782549"/>
                <a:gd name="connsiteY2" fmla="*/ 257442 h 257442"/>
                <a:gd name="connsiteX3" fmla="*/ 54721 w 782549"/>
                <a:gd name="connsiteY3" fmla="*/ 0 h 257442"/>
                <a:gd name="connsiteX0" fmla="*/ 1095071 w 1095071"/>
                <a:gd name="connsiteY0" fmla="*/ 0 h 257442"/>
                <a:gd name="connsiteX1" fmla="*/ 727828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095071 w 1095071"/>
                <a:gd name="connsiteY0" fmla="*/ 0 h 257442"/>
                <a:gd name="connsiteX1" fmla="*/ 1040350 w 1095071"/>
                <a:gd name="connsiteY1" fmla="*/ 257442 h 257442"/>
                <a:gd name="connsiteX2" fmla="*/ 0 w 1095071"/>
                <a:gd name="connsiteY2" fmla="*/ 257442 h 257442"/>
                <a:gd name="connsiteX3" fmla="*/ 54721 w 1095071"/>
                <a:gd name="connsiteY3" fmla="*/ 0 h 257442"/>
                <a:gd name="connsiteX0" fmla="*/ 1255372 w 1255372"/>
                <a:gd name="connsiteY0" fmla="*/ 0 h 257442"/>
                <a:gd name="connsiteX1" fmla="*/ 1040350 w 1255372"/>
                <a:gd name="connsiteY1" fmla="*/ 257442 h 257442"/>
                <a:gd name="connsiteX2" fmla="*/ 0 w 1255372"/>
                <a:gd name="connsiteY2" fmla="*/ 257442 h 257442"/>
                <a:gd name="connsiteX3" fmla="*/ 54721 w 1255372"/>
                <a:gd name="connsiteY3" fmla="*/ 0 h 257442"/>
                <a:gd name="connsiteX0" fmla="*/ 1255372 w 1255372"/>
                <a:gd name="connsiteY0" fmla="*/ 0 h 257442"/>
                <a:gd name="connsiteX1" fmla="*/ 1200650 w 1255372"/>
                <a:gd name="connsiteY1" fmla="*/ 257442 h 257442"/>
                <a:gd name="connsiteX2" fmla="*/ 0 w 1255372"/>
                <a:gd name="connsiteY2" fmla="*/ 257442 h 257442"/>
                <a:gd name="connsiteX3" fmla="*/ 54721 w 1255372"/>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255373 w 1255373"/>
                <a:gd name="connsiteY0" fmla="*/ 0 h 257442"/>
                <a:gd name="connsiteX1" fmla="*/ 1200651 w 1255373"/>
                <a:gd name="connsiteY1" fmla="*/ 257442 h 257442"/>
                <a:gd name="connsiteX2" fmla="*/ 0 w 1255373"/>
                <a:gd name="connsiteY2" fmla="*/ 257442 h 257442"/>
                <a:gd name="connsiteX3" fmla="*/ 54722 w 1255373"/>
                <a:gd name="connsiteY3" fmla="*/ 0 h 257442"/>
                <a:gd name="connsiteX0" fmla="*/ 1524677 w 1524677"/>
                <a:gd name="connsiteY0" fmla="*/ 0 h 257442"/>
                <a:gd name="connsiteX1" fmla="*/ 120065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92990 w 1692990"/>
                <a:gd name="connsiteY0" fmla="*/ 0 h 257442"/>
                <a:gd name="connsiteX1" fmla="*/ 1469955 w 1692990"/>
                <a:gd name="connsiteY1" fmla="*/ 257442 h 257442"/>
                <a:gd name="connsiteX2" fmla="*/ 0 w 1692990"/>
                <a:gd name="connsiteY2" fmla="*/ 257442 h 257442"/>
                <a:gd name="connsiteX3" fmla="*/ 54720 w 1692990"/>
                <a:gd name="connsiteY3" fmla="*/ 0 h 257442"/>
                <a:gd name="connsiteX0" fmla="*/ 1692990 w 1692990"/>
                <a:gd name="connsiteY0" fmla="*/ 0 h 257442"/>
                <a:gd name="connsiteX1" fmla="*/ 1638269 w 1692990"/>
                <a:gd name="connsiteY1" fmla="*/ 257442 h 257442"/>
                <a:gd name="connsiteX2" fmla="*/ 0 w 1692990"/>
                <a:gd name="connsiteY2" fmla="*/ 257442 h 257442"/>
                <a:gd name="connsiteX3" fmla="*/ 54720 w 1692990"/>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1 w 1692991"/>
                <a:gd name="connsiteY3" fmla="*/ 0 h 257442"/>
                <a:gd name="connsiteX0" fmla="*/ 1692991 w 1692991"/>
                <a:gd name="connsiteY0" fmla="*/ 0 h 257442"/>
                <a:gd name="connsiteX1" fmla="*/ 1638270 w 1692991"/>
                <a:gd name="connsiteY1" fmla="*/ 257442 h 257442"/>
                <a:gd name="connsiteX2" fmla="*/ 0 w 1692991"/>
                <a:gd name="connsiteY2" fmla="*/ 257442 h 257442"/>
                <a:gd name="connsiteX3" fmla="*/ 54722 w 1692991"/>
                <a:gd name="connsiteY3" fmla="*/ 0 h 257442"/>
                <a:gd name="connsiteX0" fmla="*/ 1943510 w 1943510"/>
                <a:gd name="connsiteY0" fmla="*/ 0 h 257442"/>
                <a:gd name="connsiteX1" fmla="*/ 1638270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2 w 1943510"/>
                <a:gd name="connsiteY3" fmla="*/ 0 h 257442"/>
                <a:gd name="connsiteX0" fmla="*/ 1943510 w 1943510"/>
                <a:gd name="connsiteY0" fmla="*/ 0 h 257442"/>
                <a:gd name="connsiteX1" fmla="*/ 1888788 w 1943510"/>
                <a:gd name="connsiteY1" fmla="*/ 257442 h 257442"/>
                <a:gd name="connsiteX2" fmla="*/ 0 w 1943510"/>
                <a:gd name="connsiteY2" fmla="*/ 257442 h 257442"/>
                <a:gd name="connsiteX3" fmla="*/ 54721 w 1943510"/>
                <a:gd name="connsiteY3" fmla="*/ 0 h 257442"/>
                <a:gd name="connsiteX0" fmla="*/ 2121442 w 2121442"/>
                <a:gd name="connsiteY0" fmla="*/ 0 h 257442"/>
                <a:gd name="connsiteX1" fmla="*/ 1888788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121442 w 2121442"/>
                <a:gd name="connsiteY0" fmla="*/ 0 h 257442"/>
                <a:gd name="connsiteX1" fmla="*/ 2066721 w 2121442"/>
                <a:gd name="connsiteY1" fmla="*/ 257442 h 257442"/>
                <a:gd name="connsiteX2" fmla="*/ 0 w 2121442"/>
                <a:gd name="connsiteY2" fmla="*/ 257442 h 257442"/>
                <a:gd name="connsiteX3" fmla="*/ 54721 w 2121442"/>
                <a:gd name="connsiteY3" fmla="*/ 0 h 257442"/>
                <a:gd name="connsiteX0" fmla="*/ 2289757 w 2289757"/>
                <a:gd name="connsiteY0" fmla="*/ 0 h 257442"/>
                <a:gd name="connsiteX1" fmla="*/ 2066721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289757 w 2289757"/>
                <a:gd name="connsiteY0" fmla="*/ 0 h 257442"/>
                <a:gd name="connsiteX1" fmla="*/ 2235036 w 2289757"/>
                <a:gd name="connsiteY1" fmla="*/ 257442 h 257442"/>
                <a:gd name="connsiteX2" fmla="*/ 0 w 2289757"/>
                <a:gd name="connsiteY2" fmla="*/ 257442 h 257442"/>
                <a:gd name="connsiteX3" fmla="*/ 54721 w 2289757"/>
                <a:gd name="connsiteY3" fmla="*/ 0 h 257442"/>
                <a:gd name="connsiteX0" fmla="*/ 2602343 w 2602343"/>
                <a:gd name="connsiteY0" fmla="*/ 0 h 257442"/>
                <a:gd name="connsiteX1" fmla="*/ 2235036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602343 w 2602343"/>
                <a:gd name="connsiteY0" fmla="*/ 0 h 257442"/>
                <a:gd name="connsiteX1" fmla="*/ 2547622 w 2602343"/>
                <a:gd name="connsiteY1" fmla="*/ 257442 h 257442"/>
                <a:gd name="connsiteX2" fmla="*/ 0 w 2602343"/>
                <a:gd name="connsiteY2" fmla="*/ 257442 h 257442"/>
                <a:gd name="connsiteX3" fmla="*/ 54721 w 2602343"/>
                <a:gd name="connsiteY3" fmla="*/ 0 h 257442"/>
                <a:gd name="connsiteX0" fmla="*/ 2770657 w 2770657"/>
                <a:gd name="connsiteY0" fmla="*/ 0 h 257442"/>
                <a:gd name="connsiteX1" fmla="*/ 2547622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2770657 w 2770657"/>
                <a:gd name="connsiteY0" fmla="*/ 0 h 257442"/>
                <a:gd name="connsiteX1" fmla="*/ 2715937 w 2770657"/>
                <a:gd name="connsiteY1" fmla="*/ 257442 h 257442"/>
                <a:gd name="connsiteX2" fmla="*/ 0 w 2770657"/>
                <a:gd name="connsiteY2" fmla="*/ 257442 h 257442"/>
                <a:gd name="connsiteX3" fmla="*/ 54721 w 2770657"/>
                <a:gd name="connsiteY3" fmla="*/ 0 h 257442"/>
                <a:gd name="connsiteX0" fmla="*/ 950801 w 2715937"/>
                <a:gd name="connsiteY0" fmla="*/ 0 h 257442"/>
                <a:gd name="connsiteX1" fmla="*/ 2715937 w 2715937"/>
                <a:gd name="connsiteY1" fmla="*/ 257442 h 257442"/>
                <a:gd name="connsiteX2" fmla="*/ 0 w 2715937"/>
                <a:gd name="connsiteY2" fmla="*/ 257442 h 257442"/>
                <a:gd name="connsiteX3" fmla="*/ 54721 w 2715937"/>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5472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54721 w 950801"/>
                <a:gd name="connsiteY3" fmla="*/ 0 h 257442"/>
                <a:gd name="connsiteX0" fmla="*/ 950801 w 950801"/>
                <a:gd name="connsiteY0" fmla="*/ 0 h 257442"/>
                <a:gd name="connsiteX1" fmla="*/ 896080 w 950801"/>
                <a:gd name="connsiteY1" fmla="*/ 257442 h 257442"/>
                <a:gd name="connsiteX2" fmla="*/ 0 w 950801"/>
                <a:gd name="connsiteY2" fmla="*/ 257442 h 257442"/>
                <a:gd name="connsiteX3" fmla="*/ 54721 w 950801"/>
                <a:gd name="connsiteY3" fmla="*/ 0 h 257442"/>
                <a:gd name="connsiteX0" fmla="*/ 1111101 w 1111101"/>
                <a:gd name="connsiteY0" fmla="*/ 0 h 257442"/>
                <a:gd name="connsiteX1" fmla="*/ 896080 w 1111101"/>
                <a:gd name="connsiteY1" fmla="*/ 257442 h 257442"/>
                <a:gd name="connsiteX2" fmla="*/ 0 w 1111101"/>
                <a:gd name="connsiteY2" fmla="*/ 257442 h 257442"/>
                <a:gd name="connsiteX3" fmla="*/ 54721 w 1111101"/>
                <a:gd name="connsiteY3" fmla="*/ 0 h 257442"/>
                <a:gd name="connsiteX0" fmla="*/ 1111101 w 1111101"/>
                <a:gd name="connsiteY0" fmla="*/ 0 h 257442"/>
                <a:gd name="connsiteX1" fmla="*/ 1056380 w 1111101"/>
                <a:gd name="connsiteY1" fmla="*/ 257442 h 257442"/>
                <a:gd name="connsiteX2" fmla="*/ 0 w 1111101"/>
                <a:gd name="connsiteY2" fmla="*/ 257442 h 257442"/>
                <a:gd name="connsiteX3" fmla="*/ 54721 w 1111101"/>
                <a:gd name="connsiteY3" fmla="*/ 0 h 257442"/>
                <a:gd name="connsiteX0" fmla="*/ 1111101 w 1111101"/>
                <a:gd name="connsiteY0" fmla="*/ 0 h 257442"/>
                <a:gd name="connsiteX1" fmla="*/ 1056380 w 1111101"/>
                <a:gd name="connsiteY1" fmla="*/ 257442 h 257442"/>
                <a:gd name="connsiteX2" fmla="*/ 0 w 1111101"/>
                <a:gd name="connsiteY2" fmla="*/ 257442 h 257442"/>
                <a:gd name="connsiteX3" fmla="*/ 54721 w 1111101"/>
                <a:gd name="connsiteY3" fmla="*/ 0 h 257442"/>
                <a:gd name="connsiteX0" fmla="*/ 1111101 w 1111101"/>
                <a:gd name="connsiteY0" fmla="*/ 0 h 257442"/>
                <a:gd name="connsiteX1" fmla="*/ 1056380 w 1111101"/>
                <a:gd name="connsiteY1" fmla="*/ 257442 h 257442"/>
                <a:gd name="connsiteX2" fmla="*/ 0 w 1111101"/>
                <a:gd name="connsiteY2" fmla="*/ 257442 h 257442"/>
                <a:gd name="connsiteX3" fmla="*/ 54721 w 1111101"/>
                <a:gd name="connsiteY3" fmla="*/ 0 h 257442"/>
                <a:gd name="connsiteX0" fmla="*/ 1271402 w 1271402"/>
                <a:gd name="connsiteY0" fmla="*/ 0 h 257442"/>
                <a:gd name="connsiteX1" fmla="*/ 1056380 w 1271402"/>
                <a:gd name="connsiteY1" fmla="*/ 257442 h 257442"/>
                <a:gd name="connsiteX2" fmla="*/ 0 w 1271402"/>
                <a:gd name="connsiteY2" fmla="*/ 257442 h 257442"/>
                <a:gd name="connsiteX3" fmla="*/ 54721 w 1271402"/>
                <a:gd name="connsiteY3" fmla="*/ 0 h 257442"/>
                <a:gd name="connsiteX0" fmla="*/ 1271402 w 1271402"/>
                <a:gd name="connsiteY0" fmla="*/ 0 h 257442"/>
                <a:gd name="connsiteX1" fmla="*/ 1216680 w 1271402"/>
                <a:gd name="connsiteY1" fmla="*/ 257442 h 257442"/>
                <a:gd name="connsiteX2" fmla="*/ 0 w 1271402"/>
                <a:gd name="connsiteY2" fmla="*/ 257442 h 257442"/>
                <a:gd name="connsiteX3" fmla="*/ 54721 w 1271402"/>
                <a:gd name="connsiteY3" fmla="*/ 0 h 257442"/>
                <a:gd name="connsiteX0" fmla="*/ 1271403 w 1271403"/>
                <a:gd name="connsiteY0" fmla="*/ 0 h 257442"/>
                <a:gd name="connsiteX1" fmla="*/ 1216681 w 1271403"/>
                <a:gd name="connsiteY1" fmla="*/ 257442 h 257442"/>
                <a:gd name="connsiteX2" fmla="*/ 0 w 1271403"/>
                <a:gd name="connsiteY2" fmla="*/ 257442 h 257442"/>
                <a:gd name="connsiteX3" fmla="*/ 54722 w 1271403"/>
                <a:gd name="connsiteY3" fmla="*/ 0 h 257442"/>
                <a:gd name="connsiteX0" fmla="*/ 1271403 w 1271403"/>
                <a:gd name="connsiteY0" fmla="*/ 0 h 257442"/>
                <a:gd name="connsiteX1" fmla="*/ 1216681 w 1271403"/>
                <a:gd name="connsiteY1" fmla="*/ 257442 h 257442"/>
                <a:gd name="connsiteX2" fmla="*/ 0 w 1271403"/>
                <a:gd name="connsiteY2" fmla="*/ 257442 h 257442"/>
                <a:gd name="connsiteX3" fmla="*/ 54722 w 1271403"/>
                <a:gd name="connsiteY3" fmla="*/ 0 h 257442"/>
                <a:gd name="connsiteX0" fmla="*/ 1524677 w 1524677"/>
                <a:gd name="connsiteY0" fmla="*/ 0 h 257442"/>
                <a:gd name="connsiteX1" fmla="*/ 1216681 w 1524677"/>
                <a:gd name="connsiteY1" fmla="*/ 257442 h 257442"/>
                <a:gd name="connsiteX2" fmla="*/ 0 w 1524677"/>
                <a:gd name="connsiteY2" fmla="*/ 257442 h 257442"/>
                <a:gd name="connsiteX3" fmla="*/ 54722 w 1524677"/>
                <a:gd name="connsiteY3" fmla="*/ 0 h 257442"/>
                <a:gd name="connsiteX0" fmla="*/ 1524677 w 1524677"/>
                <a:gd name="connsiteY0" fmla="*/ 0 h 257442"/>
                <a:gd name="connsiteX1" fmla="*/ 1469956 w 1524677"/>
                <a:gd name="connsiteY1" fmla="*/ 257442 h 257442"/>
                <a:gd name="connsiteX2" fmla="*/ 0 w 1524677"/>
                <a:gd name="connsiteY2" fmla="*/ 257442 h 257442"/>
                <a:gd name="connsiteX3" fmla="*/ 54722 w 1524677"/>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1 w 1524676"/>
                <a:gd name="connsiteY3" fmla="*/ 0 h 257442"/>
                <a:gd name="connsiteX0" fmla="*/ 1524676 w 1524676"/>
                <a:gd name="connsiteY0" fmla="*/ 0 h 257442"/>
                <a:gd name="connsiteX1" fmla="*/ 1469955 w 1524676"/>
                <a:gd name="connsiteY1" fmla="*/ 257442 h 257442"/>
                <a:gd name="connsiteX2" fmla="*/ 0 w 1524676"/>
                <a:gd name="connsiteY2" fmla="*/ 257442 h 257442"/>
                <a:gd name="connsiteX3" fmla="*/ 54720 w 1524676"/>
                <a:gd name="connsiteY3" fmla="*/ 0 h 257442"/>
                <a:gd name="connsiteX0" fmla="*/ 1684975 w 1684975"/>
                <a:gd name="connsiteY0" fmla="*/ 0 h 257442"/>
                <a:gd name="connsiteX1" fmla="*/ 1469955 w 1684975"/>
                <a:gd name="connsiteY1" fmla="*/ 257442 h 257442"/>
                <a:gd name="connsiteX2" fmla="*/ 0 w 1684975"/>
                <a:gd name="connsiteY2" fmla="*/ 257442 h 257442"/>
                <a:gd name="connsiteX3" fmla="*/ 54720 w 1684975"/>
                <a:gd name="connsiteY3" fmla="*/ 0 h 257442"/>
                <a:gd name="connsiteX0" fmla="*/ 1684975 w 1684975"/>
                <a:gd name="connsiteY0" fmla="*/ 0 h 257442"/>
                <a:gd name="connsiteX1" fmla="*/ 1630254 w 1684975"/>
                <a:gd name="connsiteY1" fmla="*/ 257442 h 257442"/>
                <a:gd name="connsiteX2" fmla="*/ 0 w 1684975"/>
                <a:gd name="connsiteY2" fmla="*/ 257442 h 257442"/>
                <a:gd name="connsiteX3" fmla="*/ 54720 w 1684975"/>
                <a:gd name="connsiteY3" fmla="*/ 0 h 257442"/>
                <a:gd name="connsiteX0" fmla="*/ 1684976 w 1684976"/>
                <a:gd name="connsiteY0" fmla="*/ 0 h 257442"/>
                <a:gd name="connsiteX1" fmla="*/ 1630255 w 1684976"/>
                <a:gd name="connsiteY1" fmla="*/ 257442 h 257442"/>
                <a:gd name="connsiteX2" fmla="*/ 0 w 1684976"/>
                <a:gd name="connsiteY2" fmla="*/ 257442 h 257442"/>
                <a:gd name="connsiteX3" fmla="*/ 54721 w 1684976"/>
                <a:gd name="connsiteY3" fmla="*/ 0 h 257442"/>
                <a:gd name="connsiteX0" fmla="*/ 1684976 w 1684976"/>
                <a:gd name="connsiteY0" fmla="*/ 0 h 257442"/>
                <a:gd name="connsiteX1" fmla="*/ 1630255 w 1684976"/>
                <a:gd name="connsiteY1" fmla="*/ 257442 h 257442"/>
                <a:gd name="connsiteX2" fmla="*/ 0 w 1684976"/>
                <a:gd name="connsiteY2" fmla="*/ 257442 h 257442"/>
                <a:gd name="connsiteX3" fmla="*/ 54721 w 1684976"/>
                <a:gd name="connsiteY3" fmla="*/ 0 h 257442"/>
                <a:gd name="connsiteX0" fmla="*/ 1853291 w 1853291"/>
                <a:gd name="connsiteY0" fmla="*/ 0 h 257442"/>
                <a:gd name="connsiteX1" fmla="*/ 1630255 w 1853291"/>
                <a:gd name="connsiteY1" fmla="*/ 257442 h 257442"/>
                <a:gd name="connsiteX2" fmla="*/ 0 w 1853291"/>
                <a:gd name="connsiteY2" fmla="*/ 257442 h 257442"/>
                <a:gd name="connsiteX3" fmla="*/ 54721 w 1853291"/>
                <a:gd name="connsiteY3" fmla="*/ 0 h 257442"/>
                <a:gd name="connsiteX0" fmla="*/ 1853291 w 1853291"/>
                <a:gd name="connsiteY0" fmla="*/ 0 h 257442"/>
                <a:gd name="connsiteX1" fmla="*/ 1798570 w 1853291"/>
                <a:gd name="connsiteY1" fmla="*/ 257442 h 257442"/>
                <a:gd name="connsiteX2" fmla="*/ 0 w 1853291"/>
                <a:gd name="connsiteY2" fmla="*/ 257442 h 257442"/>
                <a:gd name="connsiteX3" fmla="*/ 54721 w 1853291"/>
                <a:gd name="connsiteY3" fmla="*/ 0 h 257442"/>
                <a:gd name="connsiteX0" fmla="*/ 1853291 w 1853291"/>
                <a:gd name="connsiteY0" fmla="*/ 0 h 257442"/>
                <a:gd name="connsiteX1" fmla="*/ 1798570 w 1853291"/>
                <a:gd name="connsiteY1" fmla="*/ 257442 h 257442"/>
                <a:gd name="connsiteX2" fmla="*/ 0 w 1853291"/>
                <a:gd name="connsiteY2" fmla="*/ 257442 h 257442"/>
                <a:gd name="connsiteX3" fmla="*/ 54721 w 1853291"/>
                <a:gd name="connsiteY3" fmla="*/ 0 h 257442"/>
                <a:gd name="connsiteX0" fmla="*/ 1853291 w 1853291"/>
                <a:gd name="connsiteY0" fmla="*/ 0 h 257442"/>
                <a:gd name="connsiteX1" fmla="*/ 1798570 w 1853291"/>
                <a:gd name="connsiteY1" fmla="*/ 257442 h 257442"/>
                <a:gd name="connsiteX2" fmla="*/ 0 w 1853291"/>
                <a:gd name="connsiteY2" fmla="*/ 257442 h 257442"/>
                <a:gd name="connsiteX3" fmla="*/ 54721 w 1853291"/>
                <a:gd name="connsiteY3" fmla="*/ 0 h 257442"/>
                <a:gd name="connsiteX0" fmla="*/ 2021607 w 2021607"/>
                <a:gd name="connsiteY0" fmla="*/ 0 h 257442"/>
                <a:gd name="connsiteX1" fmla="*/ 1798570 w 2021607"/>
                <a:gd name="connsiteY1" fmla="*/ 257442 h 257442"/>
                <a:gd name="connsiteX2" fmla="*/ 0 w 2021607"/>
                <a:gd name="connsiteY2" fmla="*/ 257442 h 257442"/>
                <a:gd name="connsiteX3" fmla="*/ 54721 w 2021607"/>
                <a:gd name="connsiteY3" fmla="*/ 0 h 257442"/>
                <a:gd name="connsiteX0" fmla="*/ 2021607 w 2021607"/>
                <a:gd name="connsiteY0" fmla="*/ 0 h 257442"/>
                <a:gd name="connsiteX1" fmla="*/ 1966886 w 2021607"/>
                <a:gd name="connsiteY1" fmla="*/ 257442 h 257442"/>
                <a:gd name="connsiteX2" fmla="*/ 0 w 2021607"/>
                <a:gd name="connsiteY2" fmla="*/ 257442 h 257442"/>
                <a:gd name="connsiteX3" fmla="*/ 54721 w 2021607"/>
                <a:gd name="connsiteY3" fmla="*/ 0 h 257442"/>
                <a:gd name="connsiteX0" fmla="*/ 2021607 w 2021607"/>
                <a:gd name="connsiteY0" fmla="*/ 0 h 257442"/>
                <a:gd name="connsiteX1" fmla="*/ 1966886 w 2021607"/>
                <a:gd name="connsiteY1" fmla="*/ 257442 h 257442"/>
                <a:gd name="connsiteX2" fmla="*/ 0 w 2021607"/>
                <a:gd name="connsiteY2" fmla="*/ 257442 h 257442"/>
                <a:gd name="connsiteX3" fmla="*/ 54721 w 2021607"/>
                <a:gd name="connsiteY3" fmla="*/ 0 h 257442"/>
                <a:gd name="connsiteX0" fmla="*/ 2021607 w 2021607"/>
                <a:gd name="connsiteY0" fmla="*/ 0 h 257442"/>
                <a:gd name="connsiteX1" fmla="*/ 1966886 w 2021607"/>
                <a:gd name="connsiteY1" fmla="*/ 257442 h 257442"/>
                <a:gd name="connsiteX2" fmla="*/ 0 w 2021607"/>
                <a:gd name="connsiteY2" fmla="*/ 257442 h 257442"/>
                <a:gd name="connsiteX3" fmla="*/ 54721 w 2021607"/>
                <a:gd name="connsiteY3" fmla="*/ 0 h 257442"/>
                <a:gd name="connsiteX0" fmla="*/ 2189922 w 2189922"/>
                <a:gd name="connsiteY0" fmla="*/ 0 h 257442"/>
                <a:gd name="connsiteX1" fmla="*/ 1966886 w 2189922"/>
                <a:gd name="connsiteY1" fmla="*/ 257442 h 257442"/>
                <a:gd name="connsiteX2" fmla="*/ 0 w 2189922"/>
                <a:gd name="connsiteY2" fmla="*/ 257442 h 257442"/>
                <a:gd name="connsiteX3" fmla="*/ 54721 w 2189922"/>
                <a:gd name="connsiteY3" fmla="*/ 0 h 257442"/>
                <a:gd name="connsiteX0" fmla="*/ 2189922 w 2189922"/>
                <a:gd name="connsiteY0" fmla="*/ 0 h 257442"/>
                <a:gd name="connsiteX1" fmla="*/ 2135200 w 2189922"/>
                <a:gd name="connsiteY1" fmla="*/ 257442 h 257442"/>
                <a:gd name="connsiteX2" fmla="*/ 0 w 2189922"/>
                <a:gd name="connsiteY2" fmla="*/ 257442 h 257442"/>
                <a:gd name="connsiteX3" fmla="*/ 54721 w 2189922"/>
                <a:gd name="connsiteY3" fmla="*/ 0 h 257442"/>
                <a:gd name="connsiteX0" fmla="*/ 2189923 w 2189923"/>
                <a:gd name="connsiteY0" fmla="*/ 0 h 257442"/>
                <a:gd name="connsiteX1" fmla="*/ 2135201 w 2189923"/>
                <a:gd name="connsiteY1" fmla="*/ 257442 h 257442"/>
                <a:gd name="connsiteX2" fmla="*/ 0 w 2189923"/>
                <a:gd name="connsiteY2" fmla="*/ 257442 h 257442"/>
                <a:gd name="connsiteX3" fmla="*/ 54722 w 2189923"/>
                <a:gd name="connsiteY3" fmla="*/ 0 h 257442"/>
                <a:gd name="connsiteX0" fmla="*/ 2189923 w 2189923"/>
                <a:gd name="connsiteY0" fmla="*/ 0 h 257442"/>
                <a:gd name="connsiteX1" fmla="*/ 2135201 w 2189923"/>
                <a:gd name="connsiteY1" fmla="*/ 257442 h 257442"/>
                <a:gd name="connsiteX2" fmla="*/ 0 w 2189923"/>
                <a:gd name="connsiteY2" fmla="*/ 257442 h 257442"/>
                <a:gd name="connsiteX3" fmla="*/ 54722 w 2189923"/>
                <a:gd name="connsiteY3" fmla="*/ 0 h 257442"/>
                <a:gd name="connsiteX0" fmla="*/ 2443197 w 2443197"/>
                <a:gd name="connsiteY0" fmla="*/ 0 h 257442"/>
                <a:gd name="connsiteX1" fmla="*/ 2135201 w 2443197"/>
                <a:gd name="connsiteY1" fmla="*/ 257442 h 257442"/>
                <a:gd name="connsiteX2" fmla="*/ 0 w 2443197"/>
                <a:gd name="connsiteY2" fmla="*/ 257442 h 257442"/>
                <a:gd name="connsiteX3" fmla="*/ 54722 w 2443197"/>
                <a:gd name="connsiteY3" fmla="*/ 0 h 257442"/>
                <a:gd name="connsiteX0" fmla="*/ 2443197 w 2443197"/>
                <a:gd name="connsiteY0" fmla="*/ 0 h 257442"/>
                <a:gd name="connsiteX1" fmla="*/ 2388476 w 2443197"/>
                <a:gd name="connsiteY1" fmla="*/ 257442 h 257442"/>
                <a:gd name="connsiteX2" fmla="*/ 0 w 2443197"/>
                <a:gd name="connsiteY2" fmla="*/ 257442 h 257442"/>
                <a:gd name="connsiteX3" fmla="*/ 54722 w 2443197"/>
                <a:gd name="connsiteY3" fmla="*/ 0 h 257442"/>
                <a:gd name="connsiteX0" fmla="*/ 2443196 w 2443196"/>
                <a:gd name="connsiteY0" fmla="*/ 0 h 257442"/>
                <a:gd name="connsiteX1" fmla="*/ 2388475 w 2443196"/>
                <a:gd name="connsiteY1" fmla="*/ 257442 h 257442"/>
                <a:gd name="connsiteX2" fmla="*/ 0 w 2443196"/>
                <a:gd name="connsiteY2" fmla="*/ 257442 h 257442"/>
                <a:gd name="connsiteX3" fmla="*/ 54721 w 2443196"/>
                <a:gd name="connsiteY3" fmla="*/ 0 h 257442"/>
                <a:gd name="connsiteX0" fmla="*/ 2443196 w 2443196"/>
                <a:gd name="connsiteY0" fmla="*/ 0 h 257442"/>
                <a:gd name="connsiteX1" fmla="*/ 2388475 w 2443196"/>
                <a:gd name="connsiteY1" fmla="*/ 257442 h 257442"/>
                <a:gd name="connsiteX2" fmla="*/ 0 w 2443196"/>
                <a:gd name="connsiteY2" fmla="*/ 257442 h 257442"/>
                <a:gd name="connsiteX3" fmla="*/ 54720 w 2443196"/>
                <a:gd name="connsiteY3" fmla="*/ 0 h 257442"/>
                <a:gd name="connsiteX0" fmla="*/ 2611511 w 2611511"/>
                <a:gd name="connsiteY0" fmla="*/ 0 h 257442"/>
                <a:gd name="connsiteX1" fmla="*/ 2388475 w 2611511"/>
                <a:gd name="connsiteY1" fmla="*/ 257442 h 257442"/>
                <a:gd name="connsiteX2" fmla="*/ 0 w 2611511"/>
                <a:gd name="connsiteY2" fmla="*/ 257442 h 257442"/>
                <a:gd name="connsiteX3" fmla="*/ 54720 w 2611511"/>
                <a:gd name="connsiteY3" fmla="*/ 0 h 257442"/>
                <a:gd name="connsiteX0" fmla="*/ 2611511 w 2611511"/>
                <a:gd name="connsiteY0" fmla="*/ 0 h 257442"/>
                <a:gd name="connsiteX1" fmla="*/ 2556790 w 2611511"/>
                <a:gd name="connsiteY1" fmla="*/ 257442 h 257442"/>
                <a:gd name="connsiteX2" fmla="*/ 0 w 2611511"/>
                <a:gd name="connsiteY2" fmla="*/ 257442 h 257442"/>
                <a:gd name="connsiteX3" fmla="*/ 54720 w 2611511"/>
                <a:gd name="connsiteY3" fmla="*/ 0 h 257442"/>
                <a:gd name="connsiteX0" fmla="*/ 2611512 w 2611512"/>
                <a:gd name="connsiteY0" fmla="*/ 0 h 257442"/>
                <a:gd name="connsiteX1" fmla="*/ 2556791 w 2611512"/>
                <a:gd name="connsiteY1" fmla="*/ 257442 h 257442"/>
                <a:gd name="connsiteX2" fmla="*/ 0 w 2611512"/>
                <a:gd name="connsiteY2" fmla="*/ 257442 h 257442"/>
                <a:gd name="connsiteX3" fmla="*/ 54721 w 2611512"/>
                <a:gd name="connsiteY3" fmla="*/ 0 h 257442"/>
                <a:gd name="connsiteX0" fmla="*/ 2611512 w 2611512"/>
                <a:gd name="connsiteY0" fmla="*/ 0 h 257442"/>
                <a:gd name="connsiteX1" fmla="*/ 2556791 w 2611512"/>
                <a:gd name="connsiteY1" fmla="*/ 257442 h 257442"/>
                <a:gd name="connsiteX2" fmla="*/ 0 w 2611512"/>
                <a:gd name="connsiteY2" fmla="*/ 257442 h 257442"/>
                <a:gd name="connsiteX3" fmla="*/ 54721 w 2611512"/>
                <a:gd name="connsiteY3" fmla="*/ 0 h 257442"/>
                <a:gd name="connsiteX0" fmla="*/ 2771811 w 2771811"/>
                <a:gd name="connsiteY0" fmla="*/ 0 h 257442"/>
                <a:gd name="connsiteX1" fmla="*/ 2556791 w 2771811"/>
                <a:gd name="connsiteY1" fmla="*/ 257442 h 257442"/>
                <a:gd name="connsiteX2" fmla="*/ 0 w 2771811"/>
                <a:gd name="connsiteY2" fmla="*/ 257442 h 257442"/>
                <a:gd name="connsiteX3" fmla="*/ 54721 w 2771811"/>
                <a:gd name="connsiteY3" fmla="*/ 0 h 257442"/>
                <a:gd name="connsiteX0" fmla="*/ 2771811 w 2771811"/>
                <a:gd name="connsiteY0" fmla="*/ 0 h 257442"/>
                <a:gd name="connsiteX1" fmla="*/ 2717091 w 2771811"/>
                <a:gd name="connsiteY1" fmla="*/ 257442 h 257442"/>
                <a:gd name="connsiteX2" fmla="*/ 0 w 2771811"/>
                <a:gd name="connsiteY2" fmla="*/ 257442 h 257442"/>
                <a:gd name="connsiteX3" fmla="*/ 54721 w 2771811"/>
                <a:gd name="connsiteY3" fmla="*/ 0 h 257442"/>
                <a:gd name="connsiteX0" fmla="*/ 2771811 w 2771811"/>
                <a:gd name="connsiteY0" fmla="*/ 0 h 257442"/>
                <a:gd name="connsiteX1" fmla="*/ 2717091 w 2771811"/>
                <a:gd name="connsiteY1" fmla="*/ 257442 h 257442"/>
                <a:gd name="connsiteX2" fmla="*/ 0 w 2771811"/>
                <a:gd name="connsiteY2" fmla="*/ 257442 h 257442"/>
                <a:gd name="connsiteX3" fmla="*/ 54721 w 2771811"/>
                <a:gd name="connsiteY3" fmla="*/ 0 h 257442"/>
                <a:gd name="connsiteX0" fmla="*/ 2771811 w 2771811"/>
                <a:gd name="connsiteY0" fmla="*/ 0 h 257442"/>
                <a:gd name="connsiteX1" fmla="*/ 2717091 w 2771811"/>
                <a:gd name="connsiteY1" fmla="*/ 257442 h 257442"/>
                <a:gd name="connsiteX2" fmla="*/ 0 w 2771811"/>
                <a:gd name="connsiteY2" fmla="*/ 257442 h 257442"/>
                <a:gd name="connsiteX3" fmla="*/ 54721 w 2771811"/>
                <a:gd name="connsiteY3" fmla="*/ 0 h 257442"/>
                <a:gd name="connsiteX0" fmla="*/ 3033101 w 3033101"/>
                <a:gd name="connsiteY0" fmla="*/ 0 h 257442"/>
                <a:gd name="connsiteX1" fmla="*/ 2717091 w 3033101"/>
                <a:gd name="connsiteY1" fmla="*/ 257442 h 257442"/>
                <a:gd name="connsiteX2" fmla="*/ 0 w 3033101"/>
                <a:gd name="connsiteY2" fmla="*/ 257442 h 257442"/>
                <a:gd name="connsiteX3" fmla="*/ 54721 w 3033101"/>
                <a:gd name="connsiteY3" fmla="*/ 0 h 257442"/>
                <a:gd name="connsiteX0" fmla="*/ 3033101 w 3033101"/>
                <a:gd name="connsiteY0" fmla="*/ 0 h 257442"/>
                <a:gd name="connsiteX1" fmla="*/ 2978380 w 3033101"/>
                <a:gd name="connsiteY1" fmla="*/ 257442 h 257442"/>
                <a:gd name="connsiteX2" fmla="*/ 0 w 3033101"/>
                <a:gd name="connsiteY2" fmla="*/ 257442 h 257442"/>
                <a:gd name="connsiteX3" fmla="*/ 54721 w 3033101"/>
                <a:gd name="connsiteY3" fmla="*/ 0 h 257442"/>
                <a:gd name="connsiteX0" fmla="*/ 3033101 w 3033101"/>
                <a:gd name="connsiteY0" fmla="*/ 0 h 257442"/>
                <a:gd name="connsiteX1" fmla="*/ 2978380 w 3033101"/>
                <a:gd name="connsiteY1" fmla="*/ 257442 h 257442"/>
                <a:gd name="connsiteX2" fmla="*/ 0 w 3033101"/>
                <a:gd name="connsiteY2" fmla="*/ 257442 h 257442"/>
                <a:gd name="connsiteX3" fmla="*/ 54721 w 3033101"/>
                <a:gd name="connsiteY3" fmla="*/ 0 h 257442"/>
                <a:gd name="connsiteX0" fmla="*/ 3033101 w 3033101"/>
                <a:gd name="connsiteY0" fmla="*/ 0 h 257442"/>
                <a:gd name="connsiteX1" fmla="*/ 2978380 w 3033101"/>
                <a:gd name="connsiteY1" fmla="*/ 257442 h 257442"/>
                <a:gd name="connsiteX2" fmla="*/ 0 w 3033101"/>
                <a:gd name="connsiteY2" fmla="*/ 257442 h 257442"/>
                <a:gd name="connsiteX3" fmla="*/ 54721 w 3033101"/>
                <a:gd name="connsiteY3" fmla="*/ 0 h 257442"/>
                <a:gd name="connsiteX0" fmla="*/ 3201417 w 3201417"/>
                <a:gd name="connsiteY0" fmla="*/ 0 h 257442"/>
                <a:gd name="connsiteX1" fmla="*/ 2978380 w 3201417"/>
                <a:gd name="connsiteY1" fmla="*/ 257442 h 257442"/>
                <a:gd name="connsiteX2" fmla="*/ 0 w 3201417"/>
                <a:gd name="connsiteY2" fmla="*/ 257442 h 257442"/>
                <a:gd name="connsiteX3" fmla="*/ 54721 w 3201417"/>
                <a:gd name="connsiteY3" fmla="*/ 0 h 257442"/>
                <a:gd name="connsiteX0" fmla="*/ 3201417 w 3201417"/>
                <a:gd name="connsiteY0" fmla="*/ 0 h 257442"/>
                <a:gd name="connsiteX1" fmla="*/ 3146696 w 3201417"/>
                <a:gd name="connsiteY1" fmla="*/ 257442 h 257442"/>
                <a:gd name="connsiteX2" fmla="*/ 0 w 3201417"/>
                <a:gd name="connsiteY2" fmla="*/ 257442 h 257442"/>
                <a:gd name="connsiteX3" fmla="*/ 54721 w 3201417"/>
                <a:gd name="connsiteY3" fmla="*/ 0 h 257442"/>
                <a:gd name="connsiteX0" fmla="*/ 3201417 w 3201417"/>
                <a:gd name="connsiteY0" fmla="*/ 0 h 257442"/>
                <a:gd name="connsiteX1" fmla="*/ 3146696 w 3201417"/>
                <a:gd name="connsiteY1" fmla="*/ 257442 h 257442"/>
                <a:gd name="connsiteX2" fmla="*/ 0 w 3201417"/>
                <a:gd name="connsiteY2" fmla="*/ 257442 h 257442"/>
                <a:gd name="connsiteX3" fmla="*/ 54721 w 3201417"/>
                <a:gd name="connsiteY3" fmla="*/ 0 h 257442"/>
                <a:gd name="connsiteX0" fmla="*/ 3201417 w 3201417"/>
                <a:gd name="connsiteY0" fmla="*/ 0 h 257442"/>
                <a:gd name="connsiteX1" fmla="*/ 3146696 w 3201417"/>
                <a:gd name="connsiteY1" fmla="*/ 257442 h 257442"/>
                <a:gd name="connsiteX2" fmla="*/ 0 w 3201417"/>
                <a:gd name="connsiteY2" fmla="*/ 257442 h 257442"/>
                <a:gd name="connsiteX3" fmla="*/ 54721 w 3201417"/>
                <a:gd name="connsiteY3" fmla="*/ 0 h 257442"/>
                <a:gd name="connsiteX0" fmla="*/ 3369731 w 3369731"/>
                <a:gd name="connsiteY0" fmla="*/ 0 h 257442"/>
                <a:gd name="connsiteX1" fmla="*/ 3146696 w 3369731"/>
                <a:gd name="connsiteY1" fmla="*/ 257442 h 257442"/>
                <a:gd name="connsiteX2" fmla="*/ 0 w 3369731"/>
                <a:gd name="connsiteY2" fmla="*/ 257442 h 257442"/>
                <a:gd name="connsiteX3" fmla="*/ 54721 w 3369731"/>
                <a:gd name="connsiteY3" fmla="*/ 0 h 257442"/>
                <a:gd name="connsiteX0" fmla="*/ 3369731 w 3369731"/>
                <a:gd name="connsiteY0" fmla="*/ 0 h 257442"/>
                <a:gd name="connsiteX1" fmla="*/ 3315011 w 3369731"/>
                <a:gd name="connsiteY1" fmla="*/ 257442 h 257442"/>
                <a:gd name="connsiteX2" fmla="*/ 0 w 3369731"/>
                <a:gd name="connsiteY2" fmla="*/ 257442 h 257442"/>
                <a:gd name="connsiteX3" fmla="*/ 54721 w 3369731"/>
                <a:gd name="connsiteY3" fmla="*/ 0 h 257442"/>
                <a:gd name="connsiteX0" fmla="*/ 3369731 w 3369731"/>
                <a:gd name="connsiteY0" fmla="*/ 0 h 257442"/>
                <a:gd name="connsiteX1" fmla="*/ 3315011 w 3369731"/>
                <a:gd name="connsiteY1" fmla="*/ 257442 h 257442"/>
                <a:gd name="connsiteX2" fmla="*/ 0 w 3369731"/>
                <a:gd name="connsiteY2" fmla="*/ 257442 h 257442"/>
                <a:gd name="connsiteX3" fmla="*/ 54721 w 3369731"/>
                <a:gd name="connsiteY3" fmla="*/ 0 h 257442"/>
                <a:gd name="connsiteX0" fmla="*/ 3369731 w 3369731"/>
                <a:gd name="connsiteY0" fmla="*/ 0 h 257442"/>
                <a:gd name="connsiteX1" fmla="*/ 3315011 w 3369731"/>
                <a:gd name="connsiteY1" fmla="*/ 257442 h 257442"/>
                <a:gd name="connsiteX2" fmla="*/ 0 w 3369731"/>
                <a:gd name="connsiteY2" fmla="*/ 257442 h 257442"/>
                <a:gd name="connsiteX3" fmla="*/ 54721 w 3369731"/>
                <a:gd name="connsiteY3" fmla="*/ 0 h 257442"/>
                <a:gd name="connsiteX0" fmla="*/ 3538048 w 3538048"/>
                <a:gd name="connsiteY0" fmla="*/ 0 h 257442"/>
                <a:gd name="connsiteX1" fmla="*/ 3315011 w 3538048"/>
                <a:gd name="connsiteY1" fmla="*/ 257442 h 257442"/>
                <a:gd name="connsiteX2" fmla="*/ 0 w 3538048"/>
                <a:gd name="connsiteY2" fmla="*/ 257442 h 257442"/>
                <a:gd name="connsiteX3" fmla="*/ 54721 w 3538048"/>
                <a:gd name="connsiteY3" fmla="*/ 0 h 257442"/>
                <a:gd name="connsiteX0" fmla="*/ 3538048 w 3538048"/>
                <a:gd name="connsiteY0" fmla="*/ 0 h 257442"/>
                <a:gd name="connsiteX1" fmla="*/ 3483326 w 3538048"/>
                <a:gd name="connsiteY1" fmla="*/ 257442 h 257442"/>
                <a:gd name="connsiteX2" fmla="*/ 0 w 3538048"/>
                <a:gd name="connsiteY2" fmla="*/ 257442 h 257442"/>
                <a:gd name="connsiteX3" fmla="*/ 54721 w 3538048"/>
                <a:gd name="connsiteY3" fmla="*/ 0 h 257442"/>
                <a:gd name="connsiteX0" fmla="*/ 3538049 w 3538049"/>
                <a:gd name="connsiteY0" fmla="*/ 0 h 257442"/>
                <a:gd name="connsiteX1" fmla="*/ 3483327 w 3538049"/>
                <a:gd name="connsiteY1" fmla="*/ 257442 h 257442"/>
                <a:gd name="connsiteX2" fmla="*/ 0 w 3538049"/>
                <a:gd name="connsiteY2" fmla="*/ 257442 h 257442"/>
                <a:gd name="connsiteX3" fmla="*/ 54722 w 3538049"/>
                <a:gd name="connsiteY3" fmla="*/ 0 h 257442"/>
                <a:gd name="connsiteX0" fmla="*/ 3538049 w 3538049"/>
                <a:gd name="connsiteY0" fmla="*/ 0 h 257442"/>
                <a:gd name="connsiteX1" fmla="*/ 3483327 w 3538049"/>
                <a:gd name="connsiteY1" fmla="*/ 257442 h 257442"/>
                <a:gd name="connsiteX2" fmla="*/ 0 w 3538049"/>
                <a:gd name="connsiteY2" fmla="*/ 257442 h 257442"/>
                <a:gd name="connsiteX3" fmla="*/ 54722 w 3538049"/>
                <a:gd name="connsiteY3" fmla="*/ 0 h 257442"/>
                <a:gd name="connsiteX0" fmla="*/ 3807353 w 3807353"/>
                <a:gd name="connsiteY0" fmla="*/ 0 h 257442"/>
                <a:gd name="connsiteX1" fmla="*/ 3483327 w 3807353"/>
                <a:gd name="connsiteY1" fmla="*/ 257442 h 257442"/>
                <a:gd name="connsiteX2" fmla="*/ 0 w 3807353"/>
                <a:gd name="connsiteY2" fmla="*/ 257442 h 257442"/>
                <a:gd name="connsiteX3" fmla="*/ 54722 w 3807353"/>
                <a:gd name="connsiteY3" fmla="*/ 0 h 257442"/>
                <a:gd name="connsiteX0" fmla="*/ 3807353 w 3807353"/>
                <a:gd name="connsiteY0" fmla="*/ 0 h 257442"/>
                <a:gd name="connsiteX1" fmla="*/ 3752632 w 3807353"/>
                <a:gd name="connsiteY1" fmla="*/ 257442 h 257442"/>
                <a:gd name="connsiteX2" fmla="*/ 0 w 3807353"/>
                <a:gd name="connsiteY2" fmla="*/ 257442 h 257442"/>
                <a:gd name="connsiteX3" fmla="*/ 54722 w 3807353"/>
                <a:gd name="connsiteY3" fmla="*/ 0 h 257442"/>
                <a:gd name="connsiteX0" fmla="*/ 3807352 w 3807352"/>
                <a:gd name="connsiteY0" fmla="*/ 0 h 257442"/>
                <a:gd name="connsiteX1" fmla="*/ 3752631 w 3807352"/>
                <a:gd name="connsiteY1" fmla="*/ 257442 h 257442"/>
                <a:gd name="connsiteX2" fmla="*/ 0 w 3807352"/>
                <a:gd name="connsiteY2" fmla="*/ 257442 h 257442"/>
                <a:gd name="connsiteX3" fmla="*/ 54721 w 3807352"/>
                <a:gd name="connsiteY3" fmla="*/ 0 h 257442"/>
                <a:gd name="connsiteX0" fmla="*/ 3807352 w 3807352"/>
                <a:gd name="connsiteY0" fmla="*/ 0 h 257442"/>
                <a:gd name="connsiteX1" fmla="*/ 3752631 w 3807352"/>
                <a:gd name="connsiteY1" fmla="*/ 257442 h 257442"/>
                <a:gd name="connsiteX2" fmla="*/ 0 w 3807352"/>
                <a:gd name="connsiteY2" fmla="*/ 257442 h 257442"/>
                <a:gd name="connsiteX3" fmla="*/ 54720 w 3807352"/>
                <a:gd name="connsiteY3" fmla="*/ 0 h 257442"/>
                <a:gd name="connsiteX0" fmla="*/ 3985284 w 3985284"/>
                <a:gd name="connsiteY0" fmla="*/ 0 h 257442"/>
                <a:gd name="connsiteX1" fmla="*/ 3752631 w 3985284"/>
                <a:gd name="connsiteY1" fmla="*/ 257442 h 257442"/>
                <a:gd name="connsiteX2" fmla="*/ 0 w 3985284"/>
                <a:gd name="connsiteY2" fmla="*/ 257442 h 257442"/>
                <a:gd name="connsiteX3" fmla="*/ 54720 w 3985284"/>
                <a:gd name="connsiteY3" fmla="*/ 0 h 257442"/>
                <a:gd name="connsiteX0" fmla="*/ 3985284 w 3985284"/>
                <a:gd name="connsiteY0" fmla="*/ 0 h 257442"/>
                <a:gd name="connsiteX1" fmla="*/ 3930563 w 3985284"/>
                <a:gd name="connsiteY1" fmla="*/ 257442 h 257442"/>
                <a:gd name="connsiteX2" fmla="*/ 0 w 3985284"/>
                <a:gd name="connsiteY2" fmla="*/ 257442 h 257442"/>
                <a:gd name="connsiteX3" fmla="*/ 54720 w 3985284"/>
                <a:gd name="connsiteY3" fmla="*/ 0 h 257442"/>
                <a:gd name="connsiteX0" fmla="*/ 3985285 w 3985285"/>
                <a:gd name="connsiteY0" fmla="*/ 0 h 257442"/>
                <a:gd name="connsiteX1" fmla="*/ 3930564 w 3985285"/>
                <a:gd name="connsiteY1" fmla="*/ 257442 h 257442"/>
                <a:gd name="connsiteX2" fmla="*/ 0 w 3985285"/>
                <a:gd name="connsiteY2" fmla="*/ 257442 h 257442"/>
                <a:gd name="connsiteX3" fmla="*/ 54721 w 3985285"/>
                <a:gd name="connsiteY3" fmla="*/ 0 h 257442"/>
                <a:gd name="connsiteX0" fmla="*/ 3985285 w 3985285"/>
                <a:gd name="connsiteY0" fmla="*/ 0 h 257442"/>
                <a:gd name="connsiteX1" fmla="*/ 3930564 w 3985285"/>
                <a:gd name="connsiteY1" fmla="*/ 257442 h 257442"/>
                <a:gd name="connsiteX2" fmla="*/ 0 w 3985285"/>
                <a:gd name="connsiteY2" fmla="*/ 257442 h 257442"/>
                <a:gd name="connsiteX3" fmla="*/ 54722 w 3985285"/>
                <a:gd name="connsiteY3" fmla="*/ 0 h 257442"/>
                <a:gd name="connsiteX0" fmla="*/ 968435 w 3930564"/>
                <a:gd name="connsiteY0" fmla="*/ 0 h 257442"/>
                <a:gd name="connsiteX1" fmla="*/ 3930564 w 3930564"/>
                <a:gd name="connsiteY1" fmla="*/ 257442 h 257442"/>
                <a:gd name="connsiteX2" fmla="*/ 0 w 3930564"/>
                <a:gd name="connsiteY2" fmla="*/ 257442 h 257442"/>
                <a:gd name="connsiteX3" fmla="*/ 54722 w 3930564"/>
                <a:gd name="connsiteY3" fmla="*/ 0 h 257442"/>
                <a:gd name="connsiteX0" fmla="*/ 968435 w 968435"/>
                <a:gd name="connsiteY0" fmla="*/ 0 h 257442"/>
                <a:gd name="connsiteX1" fmla="*/ 913714 w 968435"/>
                <a:gd name="connsiteY1" fmla="*/ 257442 h 257442"/>
                <a:gd name="connsiteX2" fmla="*/ 0 w 968435"/>
                <a:gd name="connsiteY2" fmla="*/ 257442 h 257442"/>
                <a:gd name="connsiteX3" fmla="*/ 54722 w 968435"/>
                <a:gd name="connsiteY3" fmla="*/ 0 h 257442"/>
                <a:gd name="connsiteX0" fmla="*/ 968433 w 968433"/>
                <a:gd name="connsiteY0" fmla="*/ 0 h 257442"/>
                <a:gd name="connsiteX1" fmla="*/ 913712 w 968433"/>
                <a:gd name="connsiteY1" fmla="*/ 257442 h 257442"/>
                <a:gd name="connsiteX2" fmla="*/ 0 w 968433"/>
                <a:gd name="connsiteY2" fmla="*/ 257442 h 257442"/>
                <a:gd name="connsiteX3" fmla="*/ 54720 w 968433"/>
                <a:gd name="connsiteY3" fmla="*/ 0 h 257442"/>
                <a:gd name="connsiteX0" fmla="*/ 968433 w 968433"/>
                <a:gd name="connsiteY0" fmla="*/ 0 h 257442"/>
                <a:gd name="connsiteX1" fmla="*/ 913712 w 968433"/>
                <a:gd name="connsiteY1" fmla="*/ 257442 h 257442"/>
                <a:gd name="connsiteX2" fmla="*/ 0 w 968433"/>
                <a:gd name="connsiteY2" fmla="*/ 257442 h 257442"/>
                <a:gd name="connsiteX3" fmla="*/ 54721 w 968433"/>
                <a:gd name="connsiteY3" fmla="*/ 0 h 257442"/>
                <a:gd name="connsiteX0" fmla="*/ 1146368 w 1146368"/>
                <a:gd name="connsiteY0" fmla="*/ 0 h 257442"/>
                <a:gd name="connsiteX1" fmla="*/ 913712 w 1146368"/>
                <a:gd name="connsiteY1" fmla="*/ 257442 h 257442"/>
                <a:gd name="connsiteX2" fmla="*/ 0 w 1146368"/>
                <a:gd name="connsiteY2" fmla="*/ 257442 h 257442"/>
                <a:gd name="connsiteX3" fmla="*/ 54721 w 1146368"/>
                <a:gd name="connsiteY3" fmla="*/ 0 h 257442"/>
                <a:gd name="connsiteX0" fmla="*/ 1146368 w 1146368"/>
                <a:gd name="connsiteY0" fmla="*/ 0 h 257442"/>
                <a:gd name="connsiteX1" fmla="*/ 1091646 w 1146368"/>
                <a:gd name="connsiteY1" fmla="*/ 257442 h 257442"/>
                <a:gd name="connsiteX2" fmla="*/ 0 w 1146368"/>
                <a:gd name="connsiteY2" fmla="*/ 257442 h 257442"/>
                <a:gd name="connsiteX3" fmla="*/ 54721 w 1146368"/>
                <a:gd name="connsiteY3" fmla="*/ 0 h 257442"/>
                <a:gd name="connsiteX0" fmla="*/ 1146369 w 1146369"/>
                <a:gd name="connsiteY0" fmla="*/ 0 h 257442"/>
                <a:gd name="connsiteX1" fmla="*/ 1091647 w 1146369"/>
                <a:gd name="connsiteY1" fmla="*/ 257442 h 257442"/>
                <a:gd name="connsiteX2" fmla="*/ 0 w 1146369"/>
                <a:gd name="connsiteY2" fmla="*/ 257442 h 257442"/>
                <a:gd name="connsiteX3" fmla="*/ 54722 w 1146369"/>
                <a:gd name="connsiteY3" fmla="*/ 0 h 257442"/>
                <a:gd name="connsiteX0" fmla="*/ 1146369 w 1146369"/>
                <a:gd name="connsiteY0" fmla="*/ 0 h 257442"/>
                <a:gd name="connsiteX1" fmla="*/ 1091647 w 1146369"/>
                <a:gd name="connsiteY1" fmla="*/ 257442 h 257442"/>
                <a:gd name="connsiteX2" fmla="*/ 0 w 1146369"/>
                <a:gd name="connsiteY2" fmla="*/ 257442 h 257442"/>
                <a:gd name="connsiteX3" fmla="*/ 54722 w 1146369"/>
                <a:gd name="connsiteY3" fmla="*/ 0 h 257442"/>
                <a:gd name="connsiteX0" fmla="*/ 1314683 w 1314683"/>
                <a:gd name="connsiteY0" fmla="*/ 0 h 257442"/>
                <a:gd name="connsiteX1" fmla="*/ 1091647 w 1314683"/>
                <a:gd name="connsiteY1" fmla="*/ 257442 h 257442"/>
                <a:gd name="connsiteX2" fmla="*/ 0 w 1314683"/>
                <a:gd name="connsiteY2" fmla="*/ 257442 h 257442"/>
                <a:gd name="connsiteX3" fmla="*/ 54722 w 1314683"/>
                <a:gd name="connsiteY3" fmla="*/ 0 h 257442"/>
                <a:gd name="connsiteX0" fmla="*/ 1314683 w 1314683"/>
                <a:gd name="connsiteY0" fmla="*/ 0 h 257442"/>
                <a:gd name="connsiteX1" fmla="*/ 1259962 w 1314683"/>
                <a:gd name="connsiteY1" fmla="*/ 257442 h 257442"/>
                <a:gd name="connsiteX2" fmla="*/ 0 w 1314683"/>
                <a:gd name="connsiteY2" fmla="*/ 257442 h 257442"/>
                <a:gd name="connsiteX3" fmla="*/ 54722 w 1314683"/>
                <a:gd name="connsiteY3" fmla="*/ 0 h 257442"/>
                <a:gd name="connsiteX0" fmla="*/ 1314682 w 1314682"/>
                <a:gd name="connsiteY0" fmla="*/ 0 h 257442"/>
                <a:gd name="connsiteX1" fmla="*/ 1259961 w 1314682"/>
                <a:gd name="connsiteY1" fmla="*/ 257442 h 257442"/>
                <a:gd name="connsiteX2" fmla="*/ 0 w 1314682"/>
                <a:gd name="connsiteY2" fmla="*/ 257442 h 257442"/>
                <a:gd name="connsiteX3" fmla="*/ 54721 w 1314682"/>
                <a:gd name="connsiteY3" fmla="*/ 0 h 257442"/>
                <a:gd name="connsiteX0" fmla="*/ 1314682 w 1314682"/>
                <a:gd name="connsiteY0" fmla="*/ 0 h 257442"/>
                <a:gd name="connsiteX1" fmla="*/ 1259961 w 1314682"/>
                <a:gd name="connsiteY1" fmla="*/ 257442 h 257442"/>
                <a:gd name="connsiteX2" fmla="*/ 0 w 1314682"/>
                <a:gd name="connsiteY2" fmla="*/ 257442 h 257442"/>
                <a:gd name="connsiteX3" fmla="*/ 54720 w 1314682"/>
                <a:gd name="connsiteY3" fmla="*/ 0 h 257442"/>
                <a:gd name="connsiteX0" fmla="*/ 1474982 w 1474982"/>
                <a:gd name="connsiteY0" fmla="*/ 0 h 257442"/>
                <a:gd name="connsiteX1" fmla="*/ 1259961 w 1474982"/>
                <a:gd name="connsiteY1" fmla="*/ 257442 h 257442"/>
                <a:gd name="connsiteX2" fmla="*/ 0 w 1474982"/>
                <a:gd name="connsiteY2" fmla="*/ 257442 h 257442"/>
                <a:gd name="connsiteX3" fmla="*/ 54720 w 1474982"/>
                <a:gd name="connsiteY3" fmla="*/ 0 h 257442"/>
                <a:gd name="connsiteX0" fmla="*/ 1474982 w 1474982"/>
                <a:gd name="connsiteY0" fmla="*/ 0 h 257442"/>
                <a:gd name="connsiteX1" fmla="*/ 1420261 w 1474982"/>
                <a:gd name="connsiteY1" fmla="*/ 257442 h 257442"/>
                <a:gd name="connsiteX2" fmla="*/ 0 w 1474982"/>
                <a:gd name="connsiteY2" fmla="*/ 257442 h 257442"/>
                <a:gd name="connsiteX3" fmla="*/ 54720 w 1474982"/>
                <a:gd name="connsiteY3" fmla="*/ 0 h 257442"/>
                <a:gd name="connsiteX0" fmla="*/ 1474983 w 1474983"/>
                <a:gd name="connsiteY0" fmla="*/ 0 h 257442"/>
                <a:gd name="connsiteX1" fmla="*/ 1420262 w 1474983"/>
                <a:gd name="connsiteY1" fmla="*/ 257442 h 257442"/>
                <a:gd name="connsiteX2" fmla="*/ 0 w 1474983"/>
                <a:gd name="connsiteY2" fmla="*/ 257442 h 257442"/>
                <a:gd name="connsiteX3" fmla="*/ 54721 w 1474983"/>
                <a:gd name="connsiteY3" fmla="*/ 0 h 257442"/>
                <a:gd name="connsiteX0" fmla="*/ 1474983 w 1474983"/>
                <a:gd name="connsiteY0" fmla="*/ 0 h 257442"/>
                <a:gd name="connsiteX1" fmla="*/ 1420262 w 1474983"/>
                <a:gd name="connsiteY1" fmla="*/ 257442 h 257442"/>
                <a:gd name="connsiteX2" fmla="*/ 0 w 1474983"/>
                <a:gd name="connsiteY2" fmla="*/ 257442 h 257442"/>
                <a:gd name="connsiteX3" fmla="*/ 54722 w 1474983"/>
                <a:gd name="connsiteY3" fmla="*/ 0 h 257442"/>
                <a:gd name="connsiteX0" fmla="*/ 1753906 w 1753906"/>
                <a:gd name="connsiteY0" fmla="*/ 0 h 257442"/>
                <a:gd name="connsiteX1" fmla="*/ 1420262 w 1753906"/>
                <a:gd name="connsiteY1" fmla="*/ 257442 h 257442"/>
                <a:gd name="connsiteX2" fmla="*/ 0 w 1753906"/>
                <a:gd name="connsiteY2" fmla="*/ 257442 h 257442"/>
                <a:gd name="connsiteX3" fmla="*/ 54722 w 1753906"/>
                <a:gd name="connsiteY3" fmla="*/ 0 h 257442"/>
                <a:gd name="connsiteX0" fmla="*/ 1753906 w 1753906"/>
                <a:gd name="connsiteY0" fmla="*/ 0 h 257442"/>
                <a:gd name="connsiteX1" fmla="*/ 1699184 w 1753906"/>
                <a:gd name="connsiteY1" fmla="*/ 257442 h 257442"/>
                <a:gd name="connsiteX2" fmla="*/ 0 w 1753906"/>
                <a:gd name="connsiteY2" fmla="*/ 257442 h 257442"/>
                <a:gd name="connsiteX3" fmla="*/ 54722 w 1753906"/>
                <a:gd name="connsiteY3" fmla="*/ 0 h 257442"/>
                <a:gd name="connsiteX0" fmla="*/ 1753906 w 1753906"/>
                <a:gd name="connsiteY0" fmla="*/ 0 h 257442"/>
                <a:gd name="connsiteX1" fmla="*/ 1699184 w 1753906"/>
                <a:gd name="connsiteY1" fmla="*/ 257442 h 257442"/>
                <a:gd name="connsiteX2" fmla="*/ 0 w 1753906"/>
                <a:gd name="connsiteY2" fmla="*/ 257442 h 257442"/>
                <a:gd name="connsiteX3" fmla="*/ 54722 w 1753906"/>
                <a:gd name="connsiteY3" fmla="*/ 0 h 257442"/>
                <a:gd name="connsiteX0" fmla="*/ 1753906 w 1753906"/>
                <a:gd name="connsiteY0" fmla="*/ 0 h 257442"/>
                <a:gd name="connsiteX1" fmla="*/ 1699184 w 1753906"/>
                <a:gd name="connsiteY1" fmla="*/ 257442 h 257442"/>
                <a:gd name="connsiteX2" fmla="*/ 0 w 1753906"/>
                <a:gd name="connsiteY2" fmla="*/ 257442 h 257442"/>
                <a:gd name="connsiteX3" fmla="*/ 54721 w 1753906"/>
                <a:gd name="connsiteY3" fmla="*/ 0 h 257442"/>
                <a:gd name="connsiteX0" fmla="*/ 1922221 w 1922221"/>
                <a:gd name="connsiteY0" fmla="*/ 0 h 257442"/>
                <a:gd name="connsiteX1" fmla="*/ 1699184 w 1922221"/>
                <a:gd name="connsiteY1" fmla="*/ 257442 h 257442"/>
                <a:gd name="connsiteX2" fmla="*/ 0 w 1922221"/>
                <a:gd name="connsiteY2" fmla="*/ 257442 h 257442"/>
                <a:gd name="connsiteX3" fmla="*/ 54721 w 1922221"/>
                <a:gd name="connsiteY3" fmla="*/ 0 h 257442"/>
                <a:gd name="connsiteX0" fmla="*/ 1922221 w 1922221"/>
                <a:gd name="connsiteY0" fmla="*/ 0 h 257442"/>
                <a:gd name="connsiteX1" fmla="*/ 1867500 w 1922221"/>
                <a:gd name="connsiteY1" fmla="*/ 257442 h 257442"/>
                <a:gd name="connsiteX2" fmla="*/ 0 w 1922221"/>
                <a:gd name="connsiteY2" fmla="*/ 257442 h 257442"/>
                <a:gd name="connsiteX3" fmla="*/ 54721 w 1922221"/>
                <a:gd name="connsiteY3" fmla="*/ 0 h 257442"/>
                <a:gd name="connsiteX0" fmla="*/ 1922221 w 1922221"/>
                <a:gd name="connsiteY0" fmla="*/ 0 h 257442"/>
                <a:gd name="connsiteX1" fmla="*/ 1867500 w 1922221"/>
                <a:gd name="connsiteY1" fmla="*/ 257442 h 257442"/>
                <a:gd name="connsiteX2" fmla="*/ 0 w 1922221"/>
                <a:gd name="connsiteY2" fmla="*/ 257442 h 257442"/>
                <a:gd name="connsiteX3" fmla="*/ 54721 w 1922221"/>
                <a:gd name="connsiteY3" fmla="*/ 0 h 257442"/>
                <a:gd name="connsiteX0" fmla="*/ 1922221 w 1922221"/>
                <a:gd name="connsiteY0" fmla="*/ 0 h 257442"/>
                <a:gd name="connsiteX1" fmla="*/ 1867500 w 1922221"/>
                <a:gd name="connsiteY1" fmla="*/ 257442 h 257442"/>
                <a:gd name="connsiteX2" fmla="*/ 0 w 1922221"/>
                <a:gd name="connsiteY2" fmla="*/ 257442 h 257442"/>
                <a:gd name="connsiteX3" fmla="*/ 54721 w 1922221"/>
                <a:gd name="connsiteY3" fmla="*/ 0 h 257442"/>
                <a:gd name="connsiteX0" fmla="*/ 2191525 w 2191525"/>
                <a:gd name="connsiteY0" fmla="*/ 0 h 257442"/>
                <a:gd name="connsiteX1" fmla="*/ 1867500 w 2191525"/>
                <a:gd name="connsiteY1" fmla="*/ 257442 h 257442"/>
                <a:gd name="connsiteX2" fmla="*/ 0 w 2191525"/>
                <a:gd name="connsiteY2" fmla="*/ 257442 h 257442"/>
                <a:gd name="connsiteX3" fmla="*/ 54721 w 2191525"/>
                <a:gd name="connsiteY3" fmla="*/ 0 h 257442"/>
                <a:gd name="connsiteX0" fmla="*/ 2191525 w 2191525"/>
                <a:gd name="connsiteY0" fmla="*/ 0 h 257442"/>
                <a:gd name="connsiteX1" fmla="*/ 2136804 w 2191525"/>
                <a:gd name="connsiteY1" fmla="*/ 257442 h 257442"/>
                <a:gd name="connsiteX2" fmla="*/ 0 w 2191525"/>
                <a:gd name="connsiteY2" fmla="*/ 257442 h 257442"/>
                <a:gd name="connsiteX3" fmla="*/ 54721 w 2191525"/>
                <a:gd name="connsiteY3" fmla="*/ 0 h 257442"/>
                <a:gd name="connsiteX0" fmla="*/ 2191525 w 2191525"/>
                <a:gd name="connsiteY0" fmla="*/ 0 h 257442"/>
                <a:gd name="connsiteX1" fmla="*/ 2136804 w 2191525"/>
                <a:gd name="connsiteY1" fmla="*/ 257442 h 257442"/>
                <a:gd name="connsiteX2" fmla="*/ 0 w 2191525"/>
                <a:gd name="connsiteY2" fmla="*/ 257442 h 257442"/>
                <a:gd name="connsiteX3" fmla="*/ 54721 w 2191525"/>
                <a:gd name="connsiteY3" fmla="*/ 0 h 257442"/>
                <a:gd name="connsiteX0" fmla="*/ 2191525 w 2191525"/>
                <a:gd name="connsiteY0" fmla="*/ 0 h 257442"/>
                <a:gd name="connsiteX1" fmla="*/ 2136804 w 2191525"/>
                <a:gd name="connsiteY1" fmla="*/ 257442 h 257442"/>
                <a:gd name="connsiteX2" fmla="*/ 0 w 2191525"/>
                <a:gd name="connsiteY2" fmla="*/ 257442 h 257442"/>
                <a:gd name="connsiteX3" fmla="*/ 54721 w 2191525"/>
                <a:gd name="connsiteY3" fmla="*/ 0 h 257442"/>
                <a:gd name="connsiteX0" fmla="*/ 2359840 w 2359840"/>
                <a:gd name="connsiteY0" fmla="*/ 0 h 257442"/>
                <a:gd name="connsiteX1" fmla="*/ 2136804 w 2359840"/>
                <a:gd name="connsiteY1" fmla="*/ 257442 h 257442"/>
                <a:gd name="connsiteX2" fmla="*/ 0 w 2359840"/>
                <a:gd name="connsiteY2" fmla="*/ 257442 h 257442"/>
                <a:gd name="connsiteX3" fmla="*/ 54721 w 2359840"/>
                <a:gd name="connsiteY3" fmla="*/ 0 h 257442"/>
                <a:gd name="connsiteX0" fmla="*/ 2359840 w 2359840"/>
                <a:gd name="connsiteY0" fmla="*/ 0 h 257442"/>
                <a:gd name="connsiteX1" fmla="*/ 2305118 w 2359840"/>
                <a:gd name="connsiteY1" fmla="*/ 257442 h 257442"/>
                <a:gd name="connsiteX2" fmla="*/ 0 w 2359840"/>
                <a:gd name="connsiteY2" fmla="*/ 257442 h 257442"/>
                <a:gd name="connsiteX3" fmla="*/ 54721 w 2359840"/>
                <a:gd name="connsiteY3" fmla="*/ 0 h 257442"/>
                <a:gd name="connsiteX0" fmla="*/ 2359841 w 2359841"/>
                <a:gd name="connsiteY0" fmla="*/ 0 h 257442"/>
                <a:gd name="connsiteX1" fmla="*/ 2305119 w 2359841"/>
                <a:gd name="connsiteY1" fmla="*/ 257442 h 257442"/>
                <a:gd name="connsiteX2" fmla="*/ 0 w 2359841"/>
                <a:gd name="connsiteY2" fmla="*/ 257442 h 257442"/>
                <a:gd name="connsiteX3" fmla="*/ 54722 w 2359841"/>
                <a:gd name="connsiteY3" fmla="*/ 0 h 257442"/>
                <a:gd name="connsiteX0" fmla="*/ 2359841 w 2359841"/>
                <a:gd name="connsiteY0" fmla="*/ 0 h 257442"/>
                <a:gd name="connsiteX1" fmla="*/ 2305119 w 2359841"/>
                <a:gd name="connsiteY1" fmla="*/ 257442 h 257442"/>
                <a:gd name="connsiteX2" fmla="*/ 0 w 2359841"/>
                <a:gd name="connsiteY2" fmla="*/ 257442 h 257442"/>
                <a:gd name="connsiteX3" fmla="*/ 54722 w 2359841"/>
                <a:gd name="connsiteY3" fmla="*/ 0 h 257442"/>
                <a:gd name="connsiteX0" fmla="*/ 2528157 w 2528157"/>
                <a:gd name="connsiteY0" fmla="*/ 0 h 257442"/>
                <a:gd name="connsiteX1" fmla="*/ 2305119 w 2528157"/>
                <a:gd name="connsiteY1" fmla="*/ 257442 h 257442"/>
                <a:gd name="connsiteX2" fmla="*/ 0 w 2528157"/>
                <a:gd name="connsiteY2" fmla="*/ 257442 h 257442"/>
                <a:gd name="connsiteX3" fmla="*/ 54722 w 2528157"/>
                <a:gd name="connsiteY3" fmla="*/ 0 h 257442"/>
                <a:gd name="connsiteX0" fmla="*/ 2528157 w 2528157"/>
                <a:gd name="connsiteY0" fmla="*/ 0 h 257442"/>
                <a:gd name="connsiteX1" fmla="*/ 2473436 w 2528157"/>
                <a:gd name="connsiteY1" fmla="*/ 257442 h 257442"/>
                <a:gd name="connsiteX2" fmla="*/ 0 w 2528157"/>
                <a:gd name="connsiteY2" fmla="*/ 257442 h 257442"/>
                <a:gd name="connsiteX3" fmla="*/ 54722 w 2528157"/>
                <a:gd name="connsiteY3" fmla="*/ 0 h 257442"/>
                <a:gd name="connsiteX0" fmla="*/ 2528156 w 2528156"/>
                <a:gd name="connsiteY0" fmla="*/ 0 h 257442"/>
                <a:gd name="connsiteX1" fmla="*/ 2473435 w 2528156"/>
                <a:gd name="connsiteY1" fmla="*/ 257442 h 257442"/>
                <a:gd name="connsiteX2" fmla="*/ 0 w 2528156"/>
                <a:gd name="connsiteY2" fmla="*/ 257442 h 257442"/>
                <a:gd name="connsiteX3" fmla="*/ 54721 w 2528156"/>
                <a:gd name="connsiteY3" fmla="*/ 0 h 257442"/>
                <a:gd name="connsiteX0" fmla="*/ 2528156 w 2528156"/>
                <a:gd name="connsiteY0" fmla="*/ 0 h 257442"/>
                <a:gd name="connsiteX1" fmla="*/ 2473435 w 2528156"/>
                <a:gd name="connsiteY1" fmla="*/ 257442 h 257442"/>
                <a:gd name="connsiteX2" fmla="*/ 0 w 2528156"/>
                <a:gd name="connsiteY2" fmla="*/ 257442 h 257442"/>
                <a:gd name="connsiteX3" fmla="*/ 54720 w 2528156"/>
                <a:gd name="connsiteY3" fmla="*/ 0 h 257442"/>
                <a:gd name="connsiteX0" fmla="*/ 2696470 w 2696470"/>
                <a:gd name="connsiteY0" fmla="*/ 0 h 257442"/>
                <a:gd name="connsiteX1" fmla="*/ 2473435 w 2696470"/>
                <a:gd name="connsiteY1" fmla="*/ 257442 h 257442"/>
                <a:gd name="connsiteX2" fmla="*/ 0 w 2696470"/>
                <a:gd name="connsiteY2" fmla="*/ 257442 h 257442"/>
                <a:gd name="connsiteX3" fmla="*/ 54720 w 2696470"/>
                <a:gd name="connsiteY3" fmla="*/ 0 h 257442"/>
                <a:gd name="connsiteX0" fmla="*/ 2696470 w 2696470"/>
                <a:gd name="connsiteY0" fmla="*/ 0 h 257442"/>
                <a:gd name="connsiteX1" fmla="*/ 2641749 w 2696470"/>
                <a:gd name="connsiteY1" fmla="*/ 257442 h 257442"/>
                <a:gd name="connsiteX2" fmla="*/ 0 w 2696470"/>
                <a:gd name="connsiteY2" fmla="*/ 257442 h 257442"/>
                <a:gd name="connsiteX3" fmla="*/ 54720 w 2696470"/>
                <a:gd name="connsiteY3" fmla="*/ 0 h 257442"/>
                <a:gd name="connsiteX0" fmla="*/ 2696471 w 2696471"/>
                <a:gd name="connsiteY0" fmla="*/ 0 h 257442"/>
                <a:gd name="connsiteX1" fmla="*/ 2641750 w 2696471"/>
                <a:gd name="connsiteY1" fmla="*/ 257442 h 257442"/>
                <a:gd name="connsiteX2" fmla="*/ 0 w 2696471"/>
                <a:gd name="connsiteY2" fmla="*/ 257442 h 257442"/>
                <a:gd name="connsiteX3" fmla="*/ 54721 w 2696471"/>
                <a:gd name="connsiteY3" fmla="*/ 0 h 257442"/>
                <a:gd name="connsiteX0" fmla="*/ 2696471 w 2696471"/>
                <a:gd name="connsiteY0" fmla="*/ 0 h 257442"/>
                <a:gd name="connsiteX1" fmla="*/ 2641750 w 2696471"/>
                <a:gd name="connsiteY1" fmla="*/ 257442 h 257442"/>
                <a:gd name="connsiteX2" fmla="*/ 0 w 2696471"/>
                <a:gd name="connsiteY2" fmla="*/ 257442 h 257442"/>
                <a:gd name="connsiteX3" fmla="*/ 54722 w 2696471"/>
                <a:gd name="connsiteY3" fmla="*/ 0 h 257442"/>
                <a:gd name="connsiteX0" fmla="*/ 2856772 w 2856772"/>
                <a:gd name="connsiteY0" fmla="*/ 0 h 257442"/>
                <a:gd name="connsiteX1" fmla="*/ 2641750 w 2856772"/>
                <a:gd name="connsiteY1" fmla="*/ 257442 h 257442"/>
                <a:gd name="connsiteX2" fmla="*/ 0 w 2856772"/>
                <a:gd name="connsiteY2" fmla="*/ 257442 h 257442"/>
                <a:gd name="connsiteX3" fmla="*/ 54722 w 2856772"/>
                <a:gd name="connsiteY3" fmla="*/ 0 h 257442"/>
                <a:gd name="connsiteX0" fmla="*/ 2856772 w 2856772"/>
                <a:gd name="connsiteY0" fmla="*/ 0 h 257442"/>
                <a:gd name="connsiteX1" fmla="*/ 2802050 w 2856772"/>
                <a:gd name="connsiteY1" fmla="*/ 257442 h 257442"/>
                <a:gd name="connsiteX2" fmla="*/ 0 w 2856772"/>
                <a:gd name="connsiteY2" fmla="*/ 257442 h 257442"/>
                <a:gd name="connsiteX3" fmla="*/ 54722 w 2856772"/>
                <a:gd name="connsiteY3" fmla="*/ 0 h 257442"/>
                <a:gd name="connsiteX0" fmla="*/ 2856772 w 2856772"/>
                <a:gd name="connsiteY0" fmla="*/ 0 h 257442"/>
                <a:gd name="connsiteX1" fmla="*/ 2802050 w 2856772"/>
                <a:gd name="connsiteY1" fmla="*/ 257442 h 257442"/>
                <a:gd name="connsiteX2" fmla="*/ 0 w 2856772"/>
                <a:gd name="connsiteY2" fmla="*/ 257442 h 257442"/>
                <a:gd name="connsiteX3" fmla="*/ 54722 w 2856772"/>
                <a:gd name="connsiteY3" fmla="*/ 0 h 257442"/>
                <a:gd name="connsiteX0" fmla="*/ 2856772 w 2856772"/>
                <a:gd name="connsiteY0" fmla="*/ 0 h 257442"/>
                <a:gd name="connsiteX1" fmla="*/ 2802050 w 2856772"/>
                <a:gd name="connsiteY1" fmla="*/ 257442 h 257442"/>
                <a:gd name="connsiteX2" fmla="*/ 0 w 2856772"/>
                <a:gd name="connsiteY2" fmla="*/ 257442 h 257442"/>
                <a:gd name="connsiteX3" fmla="*/ 54721 w 2856772"/>
                <a:gd name="connsiteY3" fmla="*/ 0 h 257442"/>
                <a:gd name="connsiteX0" fmla="*/ 3126076 w 3126076"/>
                <a:gd name="connsiteY0" fmla="*/ 0 h 257442"/>
                <a:gd name="connsiteX1" fmla="*/ 2802050 w 3126076"/>
                <a:gd name="connsiteY1" fmla="*/ 257442 h 257442"/>
                <a:gd name="connsiteX2" fmla="*/ 0 w 3126076"/>
                <a:gd name="connsiteY2" fmla="*/ 257442 h 257442"/>
                <a:gd name="connsiteX3" fmla="*/ 54721 w 3126076"/>
                <a:gd name="connsiteY3" fmla="*/ 0 h 257442"/>
                <a:gd name="connsiteX0" fmla="*/ 3126076 w 3126076"/>
                <a:gd name="connsiteY0" fmla="*/ 0 h 257442"/>
                <a:gd name="connsiteX1" fmla="*/ 3071355 w 3126076"/>
                <a:gd name="connsiteY1" fmla="*/ 257442 h 257442"/>
                <a:gd name="connsiteX2" fmla="*/ 0 w 3126076"/>
                <a:gd name="connsiteY2" fmla="*/ 257442 h 257442"/>
                <a:gd name="connsiteX3" fmla="*/ 54721 w 3126076"/>
                <a:gd name="connsiteY3" fmla="*/ 0 h 257442"/>
                <a:gd name="connsiteX0" fmla="*/ 3126076 w 3126076"/>
                <a:gd name="connsiteY0" fmla="*/ 0 h 257442"/>
                <a:gd name="connsiteX1" fmla="*/ 3071355 w 3126076"/>
                <a:gd name="connsiteY1" fmla="*/ 257442 h 257442"/>
                <a:gd name="connsiteX2" fmla="*/ 0 w 3126076"/>
                <a:gd name="connsiteY2" fmla="*/ 257442 h 257442"/>
                <a:gd name="connsiteX3" fmla="*/ 54721 w 3126076"/>
                <a:gd name="connsiteY3" fmla="*/ 0 h 257442"/>
                <a:gd name="connsiteX0" fmla="*/ 3126076 w 3126076"/>
                <a:gd name="connsiteY0" fmla="*/ 0 h 257442"/>
                <a:gd name="connsiteX1" fmla="*/ 3071355 w 3126076"/>
                <a:gd name="connsiteY1" fmla="*/ 257442 h 257442"/>
                <a:gd name="connsiteX2" fmla="*/ 0 w 3126076"/>
                <a:gd name="connsiteY2" fmla="*/ 257442 h 257442"/>
                <a:gd name="connsiteX3" fmla="*/ 54721 w 3126076"/>
                <a:gd name="connsiteY3" fmla="*/ 0 h 257442"/>
                <a:gd name="connsiteX0" fmla="*/ 3404998 w 3404998"/>
                <a:gd name="connsiteY0" fmla="*/ 0 h 257442"/>
                <a:gd name="connsiteX1" fmla="*/ 3071355 w 3404998"/>
                <a:gd name="connsiteY1" fmla="*/ 257442 h 257442"/>
                <a:gd name="connsiteX2" fmla="*/ 0 w 3404998"/>
                <a:gd name="connsiteY2" fmla="*/ 257442 h 257442"/>
                <a:gd name="connsiteX3" fmla="*/ 54721 w 3404998"/>
                <a:gd name="connsiteY3" fmla="*/ 0 h 257442"/>
                <a:gd name="connsiteX0" fmla="*/ 3404998 w 3404998"/>
                <a:gd name="connsiteY0" fmla="*/ 0 h 257442"/>
                <a:gd name="connsiteX1" fmla="*/ 3350277 w 3404998"/>
                <a:gd name="connsiteY1" fmla="*/ 257442 h 257442"/>
                <a:gd name="connsiteX2" fmla="*/ 0 w 3404998"/>
                <a:gd name="connsiteY2" fmla="*/ 257442 h 257442"/>
                <a:gd name="connsiteX3" fmla="*/ 54721 w 3404998"/>
                <a:gd name="connsiteY3" fmla="*/ 0 h 257442"/>
                <a:gd name="connsiteX0" fmla="*/ 3404998 w 3404998"/>
                <a:gd name="connsiteY0" fmla="*/ 0 h 257442"/>
                <a:gd name="connsiteX1" fmla="*/ 3350277 w 3404998"/>
                <a:gd name="connsiteY1" fmla="*/ 257442 h 257442"/>
                <a:gd name="connsiteX2" fmla="*/ 0 w 3404998"/>
                <a:gd name="connsiteY2" fmla="*/ 257442 h 257442"/>
                <a:gd name="connsiteX3" fmla="*/ 54721 w 3404998"/>
                <a:gd name="connsiteY3" fmla="*/ 0 h 257442"/>
                <a:gd name="connsiteX0" fmla="*/ 3404998 w 3404998"/>
                <a:gd name="connsiteY0" fmla="*/ 0 h 257442"/>
                <a:gd name="connsiteX1" fmla="*/ 3350277 w 3404998"/>
                <a:gd name="connsiteY1" fmla="*/ 257442 h 257442"/>
                <a:gd name="connsiteX2" fmla="*/ 0 w 3404998"/>
                <a:gd name="connsiteY2" fmla="*/ 257442 h 257442"/>
                <a:gd name="connsiteX3" fmla="*/ 54721 w 3404998"/>
                <a:gd name="connsiteY3" fmla="*/ 0 h 257442"/>
                <a:gd name="connsiteX0" fmla="*/ 3606977 w 3606977"/>
                <a:gd name="connsiteY0" fmla="*/ 0 h 257442"/>
                <a:gd name="connsiteX1" fmla="*/ 3350277 w 3606977"/>
                <a:gd name="connsiteY1" fmla="*/ 257442 h 257442"/>
                <a:gd name="connsiteX2" fmla="*/ 0 w 3606977"/>
                <a:gd name="connsiteY2" fmla="*/ 257442 h 257442"/>
                <a:gd name="connsiteX3" fmla="*/ 54721 w 3606977"/>
                <a:gd name="connsiteY3" fmla="*/ 0 h 257442"/>
                <a:gd name="connsiteX0" fmla="*/ 3606977 w 3606977"/>
                <a:gd name="connsiteY0" fmla="*/ 0 h 257442"/>
                <a:gd name="connsiteX1" fmla="*/ 3552256 w 3606977"/>
                <a:gd name="connsiteY1" fmla="*/ 257442 h 257442"/>
                <a:gd name="connsiteX2" fmla="*/ 0 w 3606977"/>
                <a:gd name="connsiteY2" fmla="*/ 257442 h 257442"/>
                <a:gd name="connsiteX3" fmla="*/ 54721 w 3606977"/>
                <a:gd name="connsiteY3" fmla="*/ 0 h 257442"/>
                <a:gd name="connsiteX0" fmla="*/ 3606977 w 3606977"/>
                <a:gd name="connsiteY0" fmla="*/ 0 h 257442"/>
                <a:gd name="connsiteX1" fmla="*/ 3552256 w 3606977"/>
                <a:gd name="connsiteY1" fmla="*/ 257442 h 257442"/>
                <a:gd name="connsiteX2" fmla="*/ 0 w 3606977"/>
                <a:gd name="connsiteY2" fmla="*/ 257442 h 257442"/>
                <a:gd name="connsiteX3" fmla="*/ 54721 w 3606977"/>
                <a:gd name="connsiteY3" fmla="*/ 0 h 257442"/>
                <a:gd name="connsiteX0" fmla="*/ 3606977 w 3606977"/>
                <a:gd name="connsiteY0" fmla="*/ 0 h 257442"/>
                <a:gd name="connsiteX1" fmla="*/ 3552256 w 3606977"/>
                <a:gd name="connsiteY1" fmla="*/ 257442 h 257442"/>
                <a:gd name="connsiteX2" fmla="*/ 0 w 3606977"/>
                <a:gd name="connsiteY2" fmla="*/ 257442 h 257442"/>
                <a:gd name="connsiteX3" fmla="*/ 54721 w 3606977"/>
                <a:gd name="connsiteY3" fmla="*/ 0 h 257442"/>
                <a:gd name="connsiteX0" fmla="*/ 3775292 w 3775292"/>
                <a:gd name="connsiteY0" fmla="*/ 0 h 257442"/>
                <a:gd name="connsiteX1" fmla="*/ 3552256 w 3775292"/>
                <a:gd name="connsiteY1" fmla="*/ 257442 h 257442"/>
                <a:gd name="connsiteX2" fmla="*/ 0 w 3775292"/>
                <a:gd name="connsiteY2" fmla="*/ 257442 h 257442"/>
                <a:gd name="connsiteX3" fmla="*/ 54721 w 3775292"/>
                <a:gd name="connsiteY3" fmla="*/ 0 h 257442"/>
                <a:gd name="connsiteX0" fmla="*/ 3775292 w 3775292"/>
                <a:gd name="connsiteY0" fmla="*/ 0 h 257442"/>
                <a:gd name="connsiteX1" fmla="*/ 3720570 w 3775292"/>
                <a:gd name="connsiteY1" fmla="*/ 257442 h 257442"/>
                <a:gd name="connsiteX2" fmla="*/ 0 w 3775292"/>
                <a:gd name="connsiteY2" fmla="*/ 257442 h 257442"/>
                <a:gd name="connsiteX3" fmla="*/ 54721 w 3775292"/>
                <a:gd name="connsiteY3" fmla="*/ 0 h 257442"/>
                <a:gd name="connsiteX0" fmla="*/ 3775293 w 3775293"/>
                <a:gd name="connsiteY0" fmla="*/ 0 h 257442"/>
                <a:gd name="connsiteX1" fmla="*/ 3720571 w 3775293"/>
                <a:gd name="connsiteY1" fmla="*/ 257442 h 257442"/>
                <a:gd name="connsiteX2" fmla="*/ 0 w 3775293"/>
                <a:gd name="connsiteY2" fmla="*/ 257442 h 257442"/>
                <a:gd name="connsiteX3" fmla="*/ 54722 w 3775293"/>
                <a:gd name="connsiteY3" fmla="*/ 0 h 257442"/>
                <a:gd name="connsiteX0" fmla="*/ 3775293 w 3775293"/>
                <a:gd name="connsiteY0" fmla="*/ 0 h 257442"/>
                <a:gd name="connsiteX1" fmla="*/ 3720571 w 3775293"/>
                <a:gd name="connsiteY1" fmla="*/ 257442 h 257442"/>
                <a:gd name="connsiteX2" fmla="*/ 0 w 3775293"/>
                <a:gd name="connsiteY2" fmla="*/ 257442 h 257442"/>
                <a:gd name="connsiteX3" fmla="*/ 54722 w 3775293"/>
                <a:gd name="connsiteY3" fmla="*/ 0 h 257442"/>
                <a:gd name="connsiteX0" fmla="*/ 3935593 w 3935593"/>
                <a:gd name="connsiteY0" fmla="*/ 0 h 257442"/>
                <a:gd name="connsiteX1" fmla="*/ 3720571 w 3935593"/>
                <a:gd name="connsiteY1" fmla="*/ 257442 h 257442"/>
                <a:gd name="connsiteX2" fmla="*/ 0 w 3935593"/>
                <a:gd name="connsiteY2" fmla="*/ 257442 h 257442"/>
                <a:gd name="connsiteX3" fmla="*/ 54722 w 3935593"/>
                <a:gd name="connsiteY3" fmla="*/ 0 h 257442"/>
                <a:gd name="connsiteX0" fmla="*/ 3935593 w 3935593"/>
                <a:gd name="connsiteY0" fmla="*/ 0 h 257442"/>
                <a:gd name="connsiteX1" fmla="*/ 3880873 w 3935593"/>
                <a:gd name="connsiteY1" fmla="*/ 257442 h 257442"/>
                <a:gd name="connsiteX2" fmla="*/ 0 w 3935593"/>
                <a:gd name="connsiteY2" fmla="*/ 257442 h 257442"/>
                <a:gd name="connsiteX3" fmla="*/ 54722 w 3935593"/>
                <a:gd name="connsiteY3" fmla="*/ 0 h 257442"/>
                <a:gd name="connsiteX0" fmla="*/ 3935592 w 3935592"/>
                <a:gd name="connsiteY0" fmla="*/ 0 h 257442"/>
                <a:gd name="connsiteX1" fmla="*/ 3880872 w 3935592"/>
                <a:gd name="connsiteY1" fmla="*/ 257442 h 257442"/>
                <a:gd name="connsiteX2" fmla="*/ 0 w 3935592"/>
                <a:gd name="connsiteY2" fmla="*/ 257442 h 257442"/>
                <a:gd name="connsiteX3" fmla="*/ 54721 w 3935592"/>
                <a:gd name="connsiteY3" fmla="*/ 0 h 257442"/>
                <a:gd name="connsiteX0" fmla="*/ 3935592 w 3935592"/>
                <a:gd name="connsiteY0" fmla="*/ 0 h 257442"/>
                <a:gd name="connsiteX1" fmla="*/ 3880872 w 3935592"/>
                <a:gd name="connsiteY1" fmla="*/ 257442 h 257442"/>
                <a:gd name="connsiteX2" fmla="*/ 0 w 3935592"/>
                <a:gd name="connsiteY2" fmla="*/ 257442 h 257442"/>
                <a:gd name="connsiteX3" fmla="*/ 54720 w 3935592"/>
                <a:gd name="connsiteY3" fmla="*/ 0 h 257442"/>
                <a:gd name="connsiteX0" fmla="*/ 4095892 w 4095892"/>
                <a:gd name="connsiteY0" fmla="*/ 0 h 257442"/>
                <a:gd name="connsiteX1" fmla="*/ 3880872 w 4095892"/>
                <a:gd name="connsiteY1" fmla="*/ 257442 h 257442"/>
                <a:gd name="connsiteX2" fmla="*/ 0 w 4095892"/>
                <a:gd name="connsiteY2" fmla="*/ 257442 h 257442"/>
                <a:gd name="connsiteX3" fmla="*/ 54720 w 4095892"/>
                <a:gd name="connsiteY3" fmla="*/ 0 h 257442"/>
                <a:gd name="connsiteX0" fmla="*/ 4095892 w 4095892"/>
                <a:gd name="connsiteY0" fmla="*/ 0 h 257442"/>
                <a:gd name="connsiteX1" fmla="*/ 4041171 w 4095892"/>
                <a:gd name="connsiteY1" fmla="*/ 257442 h 257442"/>
                <a:gd name="connsiteX2" fmla="*/ 0 w 4095892"/>
                <a:gd name="connsiteY2" fmla="*/ 257442 h 257442"/>
                <a:gd name="connsiteX3" fmla="*/ 54720 w 4095892"/>
                <a:gd name="connsiteY3" fmla="*/ 0 h 257442"/>
                <a:gd name="connsiteX0" fmla="*/ 4095893 w 4095893"/>
                <a:gd name="connsiteY0" fmla="*/ 0 h 257442"/>
                <a:gd name="connsiteX1" fmla="*/ 4041172 w 4095893"/>
                <a:gd name="connsiteY1" fmla="*/ 257442 h 257442"/>
                <a:gd name="connsiteX2" fmla="*/ 0 w 4095893"/>
                <a:gd name="connsiteY2" fmla="*/ 257442 h 257442"/>
                <a:gd name="connsiteX3" fmla="*/ 54721 w 4095893"/>
                <a:gd name="connsiteY3" fmla="*/ 0 h 257442"/>
                <a:gd name="connsiteX0" fmla="*/ 4095893 w 4095893"/>
                <a:gd name="connsiteY0" fmla="*/ 0 h 257442"/>
                <a:gd name="connsiteX1" fmla="*/ 4041172 w 4095893"/>
                <a:gd name="connsiteY1" fmla="*/ 257442 h 257442"/>
                <a:gd name="connsiteX2" fmla="*/ 0 w 4095893"/>
                <a:gd name="connsiteY2" fmla="*/ 257442 h 257442"/>
                <a:gd name="connsiteX3" fmla="*/ 54722 w 4095893"/>
                <a:gd name="connsiteY3" fmla="*/ 0 h 257442"/>
                <a:gd name="connsiteX0" fmla="*/ 4349168 w 4349168"/>
                <a:gd name="connsiteY0" fmla="*/ 0 h 257442"/>
                <a:gd name="connsiteX1" fmla="*/ 4041172 w 4349168"/>
                <a:gd name="connsiteY1" fmla="*/ 257442 h 257442"/>
                <a:gd name="connsiteX2" fmla="*/ 0 w 4349168"/>
                <a:gd name="connsiteY2" fmla="*/ 257442 h 257442"/>
                <a:gd name="connsiteX3" fmla="*/ 54722 w 4349168"/>
                <a:gd name="connsiteY3" fmla="*/ 0 h 257442"/>
                <a:gd name="connsiteX0" fmla="*/ 4349168 w 4349168"/>
                <a:gd name="connsiteY0" fmla="*/ 0 h 257442"/>
                <a:gd name="connsiteX1" fmla="*/ 4294446 w 4349168"/>
                <a:gd name="connsiteY1" fmla="*/ 257442 h 257442"/>
                <a:gd name="connsiteX2" fmla="*/ 0 w 4349168"/>
                <a:gd name="connsiteY2" fmla="*/ 257442 h 257442"/>
                <a:gd name="connsiteX3" fmla="*/ 54722 w 4349168"/>
                <a:gd name="connsiteY3" fmla="*/ 0 h 257442"/>
                <a:gd name="connsiteX0" fmla="*/ 4349168 w 4349168"/>
                <a:gd name="connsiteY0" fmla="*/ 0 h 257442"/>
                <a:gd name="connsiteX1" fmla="*/ 4294446 w 4349168"/>
                <a:gd name="connsiteY1" fmla="*/ 257442 h 257442"/>
                <a:gd name="connsiteX2" fmla="*/ 0 w 4349168"/>
                <a:gd name="connsiteY2" fmla="*/ 257442 h 257442"/>
                <a:gd name="connsiteX3" fmla="*/ 54722 w 4349168"/>
                <a:gd name="connsiteY3" fmla="*/ 0 h 257442"/>
                <a:gd name="connsiteX0" fmla="*/ 4349168 w 4349168"/>
                <a:gd name="connsiteY0" fmla="*/ 0 h 257442"/>
                <a:gd name="connsiteX1" fmla="*/ 4294446 w 4349168"/>
                <a:gd name="connsiteY1" fmla="*/ 257442 h 257442"/>
                <a:gd name="connsiteX2" fmla="*/ 0 w 4349168"/>
                <a:gd name="connsiteY2" fmla="*/ 257442 h 257442"/>
                <a:gd name="connsiteX3" fmla="*/ 54721 w 4349168"/>
                <a:gd name="connsiteY3" fmla="*/ 0 h 257442"/>
                <a:gd name="connsiteX0" fmla="*/ 4509467 w 4509467"/>
                <a:gd name="connsiteY0" fmla="*/ 0 h 257442"/>
                <a:gd name="connsiteX1" fmla="*/ 4294446 w 4509467"/>
                <a:gd name="connsiteY1" fmla="*/ 257442 h 257442"/>
                <a:gd name="connsiteX2" fmla="*/ 0 w 4509467"/>
                <a:gd name="connsiteY2" fmla="*/ 257442 h 257442"/>
                <a:gd name="connsiteX3" fmla="*/ 54721 w 4509467"/>
                <a:gd name="connsiteY3" fmla="*/ 0 h 257442"/>
                <a:gd name="connsiteX0" fmla="*/ 4509467 w 4509467"/>
                <a:gd name="connsiteY0" fmla="*/ 0 h 257442"/>
                <a:gd name="connsiteX1" fmla="*/ 4454747 w 4509467"/>
                <a:gd name="connsiteY1" fmla="*/ 257442 h 257442"/>
                <a:gd name="connsiteX2" fmla="*/ 0 w 4509467"/>
                <a:gd name="connsiteY2" fmla="*/ 257442 h 257442"/>
                <a:gd name="connsiteX3" fmla="*/ 54721 w 4509467"/>
                <a:gd name="connsiteY3" fmla="*/ 0 h 257442"/>
                <a:gd name="connsiteX0" fmla="*/ 4509467 w 4509467"/>
                <a:gd name="connsiteY0" fmla="*/ 0 h 257442"/>
                <a:gd name="connsiteX1" fmla="*/ 4454747 w 4509467"/>
                <a:gd name="connsiteY1" fmla="*/ 257442 h 257442"/>
                <a:gd name="connsiteX2" fmla="*/ 0 w 4509467"/>
                <a:gd name="connsiteY2" fmla="*/ 257442 h 257442"/>
                <a:gd name="connsiteX3" fmla="*/ 54721 w 4509467"/>
                <a:gd name="connsiteY3" fmla="*/ 0 h 257442"/>
                <a:gd name="connsiteX0" fmla="*/ 4509467 w 4509467"/>
                <a:gd name="connsiteY0" fmla="*/ 0 h 257442"/>
                <a:gd name="connsiteX1" fmla="*/ 4454747 w 4509467"/>
                <a:gd name="connsiteY1" fmla="*/ 257442 h 257442"/>
                <a:gd name="connsiteX2" fmla="*/ 0 w 4509467"/>
                <a:gd name="connsiteY2" fmla="*/ 257442 h 257442"/>
                <a:gd name="connsiteX3" fmla="*/ 54721 w 4509467"/>
                <a:gd name="connsiteY3" fmla="*/ 0 h 257442"/>
                <a:gd name="connsiteX0" fmla="*/ 4677781 w 4677781"/>
                <a:gd name="connsiteY0" fmla="*/ 0 h 257442"/>
                <a:gd name="connsiteX1" fmla="*/ 4454747 w 4677781"/>
                <a:gd name="connsiteY1" fmla="*/ 257442 h 257442"/>
                <a:gd name="connsiteX2" fmla="*/ 0 w 4677781"/>
                <a:gd name="connsiteY2" fmla="*/ 257442 h 257442"/>
                <a:gd name="connsiteX3" fmla="*/ 54721 w 4677781"/>
                <a:gd name="connsiteY3" fmla="*/ 0 h 257442"/>
                <a:gd name="connsiteX0" fmla="*/ 4677781 w 4677781"/>
                <a:gd name="connsiteY0" fmla="*/ 0 h 257442"/>
                <a:gd name="connsiteX1" fmla="*/ 4623060 w 4677781"/>
                <a:gd name="connsiteY1" fmla="*/ 257442 h 257442"/>
                <a:gd name="connsiteX2" fmla="*/ 0 w 4677781"/>
                <a:gd name="connsiteY2" fmla="*/ 257442 h 257442"/>
                <a:gd name="connsiteX3" fmla="*/ 54721 w 4677781"/>
                <a:gd name="connsiteY3" fmla="*/ 0 h 257442"/>
                <a:gd name="connsiteX0" fmla="*/ 4677781 w 4677781"/>
                <a:gd name="connsiteY0" fmla="*/ 0 h 257442"/>
                <a:gd name="connsiteX1" fmla="*/ 4623060 w 4677781"/>
                <a:gd name="connsiteY1" fmla="*/ 257442 h 257442"/>
                <a:gd name="connsiteX2" fmla="*/ 0 w 4677781"/>
                <a:gd name="connsiteY2" fmla="*/ 257442 h 257442"/>
                <a:gd name="connsiteX3" fmla="*/ 54721 w 4677781"/>
                <a:gd name="connsiteY3" fmla="*/ 0 h 257442"/>
                <a:gd name="connsiteX0" fmla="*/ 4677781 w 4677781"/>
                <a:gd name="connsiteY0" fmla="*/ 0 h 257442"/>
                <a:gd name="connsiteX1" fmla="*/ 4623060 w 4677781"/>
                <a:gd name="connsiteY1" fmla="*/ 257442 h 257442"/>
                <a:gd name="connsiteX2" fmla="*/ 0 w 4677781"/>
                <a:gd name="connsiteY2" fmla="*/ 257442 h 257442"/>
                <a:gd name="connsiteX3" fmla="*/ 54721 w 4677781"/>
                <a:gd name="connsiteY3" fmla="*/ 0 h 257442"/>
                <a:gd name="connsiteX0" fmla="*/ 4846098 w 4846098"/>
                <a:gd name="connsiteY0" fmla="*/ 0 h 257442"/>
                <a:gd name="connsiteX1" fmla="*/ 4623060 w 4846098"/>
                <a:gd name="connsiteY1" fmla="*/ 257442 h 257442"/>
                <a:gd name="connsiteX2" fmla="*/ 0 w 4846098"/>
                <a:gd name="connsiteY2" fmla="*/ 257442 h 257442"/>
                <a:gd name="connsiteX3" fmla="*/ 54721 w 4846098"/>
                <a:gd name="connsiteY3" fmla="*/ 0 h 257442"/>
                <a:gd name="connsiteX0" fmla="*/ 4846098 w 4846098"/>
                <a:gd name="connsiteY0" fmla="*/ 0 h 257442"/>
                <a:gd name="connsiteX1" fmla="*/ 4791376 w 4846098"/>
                <a:gd name="connsiteY1" fmla="*/ 257442 h 257442"/>
                <a:gd name="connsiteX2" fmla="*/ 0 w 4846098"/>
                <a:gd name="connsiteY2" fmla="*/ 257442 h 257442"/>
                <a:gd name="connsiteX3" fmla="*/ 54721 w 4846098"/>
                <a:gd name="connsiteY3" fmla="*/ 0 h 257442"/>
                <a:gd name="connsiteX0" fmla="*/ 4846099 w 4846099"/>
                <a:gd name="connsiteY0" fmla="*/ 0 h 257442"/>
                <a:gd name="connsiteX1" fmla="*/ 4791377 w 4846099"/>
                <a:gd name="connsiteY1" fmla="*/ 257442 h 257442"/>
                <a:gd name="connsiteX2" fmla="*/ 0 w 4846099"/>
                <a:gd name="connsiteY2" fmla="*/ 257442 h 257442"/>
                <a:gd name="connsiteX3" fmla="*/ 54722 w 4846099"/>
                <a:gd name="connsiteY3" fmla="*/ 0 h 257442"/>
                <a:gd name="connsiteX0" fmla="*/ 4846099 w 4846099"/>
                <a:gd name="connsiteY0" fmla="*/ 0 h 257442"/>
                <a:gd name="connsiteX1" fmla="*/ 4791377 w 4846099"/>
                <a:gd name="connsiteY1" fmla="*/ 257442 h 257442"/>
                <a:gd name="connsiteX2" fmla="*/ 0 w 4846099"/>
                <a:gd name="connsiteY2" fmla="*/ 257442 h 257442"/>
                <a:gd name="connsiteX3" fmla="*/ 54722 w 4846099"/>
                <a:gd name="connsiteY3" fmla="*/ 0 h 257442"/>
                <a:gd name="connsiteX0" fmla="*/ 5014413 w 5014413"/>
                <a:gd name="connsiteY0" fmla="*/ 0 h 257442"/>
                <a:gd name="connsiteX1" fmla="*/ 4791377 w 5014413"/>
                <a:gd name="connsiteY1" fmla="*/ 257442 h 257442"/>
                <a:gd name="connsiteX2" fmla="*/ 0 w 5014413"/>
                <a:gd name="connsiteY2" fmla="*/ 257442 h 257442"/>
                <a:gd name="connsiteX3" fmla="*/ 54722 w 5014413"/>
                <a:gd name="connsiteY3" fmla="*/ 0 h 257442"/>
                <a:gd name="connsiteX0" fmla="*/ 5014413 w 5014413"/>
                <a:gd name="connsiteY0" fmla="*/ 0 h 257442"/>
                <a:gd name="connsiteX1" fmla="*/ 4959693 w 5014413"/>
                <a:gd name="connsiteY1" fmla="*/ 257442 h 257442"/>
                <a:gd name="connsiteX2" fmla="*/ 0 w 5014413"/>
                <a:gd name="connsiteY2" fmla="*/ 257442 h 257442"/>
                <a:gd name="connsiteX3" fmla="*/ 54722 w 5014413"/>
                <a:gd name="connsiteY3" fmla="*/ 0 h 257442"/>
                <a:gd name="connsiteX0" fmla="*/ 5014412 w 5014412"/>
                <a:gd name="connsiteY0" fmla="*/ 0 h 257442"/>
                <a:gd name="connsiteX1" fmla="*/ 4959692 w 5014412"/>
                <a:gd name="connsiteY1" fmla="*/ 257442 h 257442"/>
                <a:gd name="connsiteX2" fmla="*/ 0 w 5014412"/>
                <a:gd name="connsiteY2" fmla="*/ 257442 h 257442"/>
                <a:gd name="connsiteX3" fmla="*/ 54721 w 5014412"/>
                <a:gd name="connsiteY3" fmla="*/ 0 h 257442"/>
                <a:gd name="connsiteX0" fmla="*/ 5014412 w 5014412"/>
                <a:gd name="connsiteY0" fmla="*/ 0 h 257442"/>
                <a:gd name="connsiteX1" fmla="*/ 4959692 w 5014412"/>
                <a:gd name="connsiteY1" fmla="*/ 257442 h 257442"/>
                <a:gd name="connsiteX2" fmla="*/ 0 w 5014412"/>
                <a:gd name="connsiteY2" fmla="*/ 257442 h 257442"/>
                <a:gd name="connsiteX3" fmla="*/ 54720 w 5014412"/>
                <a:gd name="connsiteY3" fmla="*/ 0 h 257442"/>
                <a:gd name="connsiteX0" fmla="*/ 5267687 w 5267687"/>
                <a:gd name="connsiteY0" fmla="*/ 0 h 257442"/>
                <a:gd name="connsiteX1" fmla="*/ 4959692 w 5267687"/>
                <a:gd name="connsiteY1" fmla="*/ 257442 h 257442"/>
                <a:gd name="connsiteX2" fmla="*/ 0 w 5267687"/>
                <a:gd name="connsiteY2" fmla="*/ 257442 h 257442"/>
                <a:gd name="connsiteX3" fmla="*/ 54720 w 5267687"/>
                <a:gd name="connsiteY3" fmla="*/ 0 h 257442"/>
                <a:gd name="connsiteX0" fmla="*/ 5267687 w 5267687"/>
                <a:gd name="connsiteY0" fmla="*/ 0 h 257442"/>
                <a:gd name="connsiteX1" fmla="*/ 5212966 w 5267687"/>
                <a:gd name="connsiteY1" fmla="*/ 257442 h 257442"/>
                <a:gd name="connsiteX2" fmla="*/ 0 w 5267687"/>
                <a:gd name="connsiteY2" fmla="*/ 257442 h 257442"/>
                <a:gd name="connsiteX3" fmla="*/ 54720 w 5267687"/>
                <a:gd name="connsiteY3" fmla="*/ 0 h 257442"/>
                <a:gd name="connsiteX0" fmla="*/ 5267688 w 5267688"/>
                <a:gd name="connsiteY0" fmla="*/ 0 h 257442"/>
                <a:gd name="connsiteX1" fmla="*/ 5212967 w 5267688"/>
                <a:gd name="connsiteY1" fmla="*/ 257442 h 257442"/>
                <a:gd name="connsiteX2" fmla="*/ 0 w 5267688"/>
                <a:gd name="connsiteY2" fmla="*/ 257442 h 257442"/>
                <a:gd name="connsiteX3" fmla="*/ 54721 w 5267688"/>
                <a:gd name="connsiteY3" fmla="*/ 0 h 257442"/>
                <a:gd name="connsiteX0" fmla="*/ 5267688 w 5267688"/>
                <a:gd name="connsiteY0" fmla="*/ 0 h 257442"/>
                <a:gd name="connsiteX1" fmla="*/ 5212967 w 5267688"/>
                <a:gd name="connsiteY1" fmla="*/ 257442 h 257442"/>
                <a:gd name="connsiteX2" fmla="*/ 0 w 5267688"/>
                <a:gd name="connsiteY2" fmla="*/ 257442 h 257442"/>
                <a:gd name="connsiteX3" fmla="*/ 54721 w 5267688"/>
                <a:gd name="connsiteY3" fmla="*/ 0 h 257442"/>
                <a:gd name="connsiteX0" fmla="*/ 5436003 w 5436003"/>
                <a:gd name="connsiteY0" fmla="*/ 0 h 257442"/>
                <a:gd name="connsiteX1" fmla="*/ 5212967 w 5436003"/>
                <a:gd name="connsiteY1" fmla="*/ 257442 h 257442"/>
                <a:gd name="connsiteX2" fmla="*/ 0 w 5436003"/>
                <a:gd name="connsiteY2" fmla="*/ 257442 h 257442"/>
                <a:gd name="connsiteX3" fmla="*/ 54721 w 5436003"/>
                <a:gd name="connsiteY3" fmla="*/ 0 h 257442"/>
                <a:gd name="connsiteX0" fmla="*/ 5436003 w 5436003"/>
                <a:gd name="connsiteY0" fmla="*/ 0 h 257442"/>
                <a:gd name="connsiteX1" fmla="*/ 5381282 w 5436003"/>
                <a:gd name="connsiteY1" fmla="*/ 257442 h 257442"/>
                <a:gd name="connsiteX2" fmla="*/ 0 w 5436003"/>
                <a:gd name="connsiteY2" fmla="*/ 257442 h 257442"/>
                <a:gd name="connsiteX3" fmla="*/ 54721 w 5436003"/>
                <a:gd name="connsiteY3" fmla="*/ 0 h 257442"/>
                <a:gd name="connsiteX0" fmla="*/ 5436003 w 5436003"/>
                <a:gd name="connsiteY0" fmla="*/ 0 h 257442"/>
                <a:gd name="connsiteX1" fmla="*/ 5381282 w 5436003"/>
                <a:gd name="connsiteY1" fmla="*/ 257442 h 257442"/>
                <a:gd name="connsiteX2" fmla="*/ 0 w 5436003"/>
                <a:gd name="connsiteY2" fmla="*/ 257442 h 257442"/>
                <a:gd name="connsiteX3" fmla="*/ 54721 w 5436003"/>
                <a:gd name="connsiteY3" fmla="*/ 0 h 257442"/>
                <a:gd name="connsiteX0" fmla="*/ 5436003 w 5436003"/>
                <a:gd name="connsiteY0" fmla="*/ 0 h 257442"/>
                <a:gd name="connsiteX1" fmla="*/ 5381282 w 5436003"/>
                <a:gd name="connsiteY1" fmla="*/ 257442 h 257442"/>
                <a:gd name="connsiteX2" fmla="*/ 0 w 5436003"/>
                <a:gd name="connsiteY2" fmla="*/ 257442 h 257442"/>
                <a:gd name="connsiteX3" fmla="*/ 54721 w 5436003"/>
                <a:gd name="connsiteY3" fmla="*/ 0 h 257442"/>
                <a:gd name="connsiteX0" fmla="*/ 5596303 w 5596303"/>
                <a:gd name="connsiteY0" fmla="*/ 0 h 257442"/>
                <a:gd name="connsiteX1" fmla="*/ 5381282 w 5596303"/>
                <a:gd name="connsiteY1" fmla="*/ 257442 h 257442"/>
                <a:gd name="connsiteX2" fmla="*/ 0 w 5596303"/>
                <a:gd name="connsiteY2" fmla="*/ 257442 h 257442"/>
                <a:gd name="connsiteX3" fmla="*/ 54721 w 5596303"/>
                <a:gd name="connsiteY3" fmla="*/ 0 h 257442"/>
                <a:gd name="connsiteX0" fmla="*/ 5596303 w 5596303"/>
                <a:gd name="connsiteY0" fmla="*/ 0 h 257442"/>
                <a:gd name="connsiteX1" fmla="*/ 5541583 w 5596303"/>
                <a:gd name="connsiteY1" fmla="*/ 257442 h 257442"/>
                <a:gd name="connsiteX2" fmla="*/ 0 w 5596303"/>
                <a:gd name="connsiteY2" fmla="*/ 257442 h 257442"/>
                <a:gd name="connsiteX3" fmla="*/ 54721 w 5596303"/>
                <a:gd name="connsiteY3" fmla="*/ 0 h 257442"/>
                <a:gd name="connsiteX0" fmla="*/ 5596303 w 5596303"/>
                <a:gd name="connsiteY0" fmla="*/ 0 h 257442"/>
                <a:gd name="connsiteX1" fmla="*/ 5541583 w 5596303"/>
                <a:gd name="connsiteY1" fmla="*/ 257442 h 257442"/>
                <a:gd name="connsiteX2" fmla="*/ 0 w 5596303"/>
                <a:gd name="connsiteY2" fmla="*/ 257442 h 257442"/>
                <a:gd name="connsiteX3" fmla="*/ 54721 w 5596303"/>
                <a:gd name="connsiteY3" fmla="*/ 0 h 257442"/>
                <a:gd name="connsiteX0" fmla="*/ 5596303 w 5596303"/>
                <a:gd name="connsiteY0" fmla="*/ 0 h 257442"/>
                <a:gd name="connsiteX1" fmla="*/ 5541583 w 5596303"/>
                <a:gd name="connsiteY1" fmla="*/ 257442 h 257442"/>
                <a:gd name="connsiteX2" fmla="*/ 0 w 5596303"/>
                <a:gd name="connsiteY2" fmla="*/ 257442 h 257442"/>
                <a:gd name="connsiteX3" fmla="*/ 54721 w 5596303"/>
                <a:gd name="connsiteY3" fmla="*/ 0 h 257442"/>
                <a:gd name="connsiteX0" fmla="*/ 5756604 w 5756604"/>
                <a:gd name="connsiteY0" fmla="*/ 0 h 257442"/>
                <a:gd name="connsiteX1" fmla="*/ 5541583 w 5756604"/>
                <a:gd name="connsiteY1" fmla="*/ 257442 h 257442"/>
                <a:gd name="connsiteX2" fmla="*/ 0 w 5756604"/>
                <a:gd name="connsiteY2" fmla="*/ 257442 h 257442"/>
                <a:gd name="connsiteX3" fmla="*/ 54721 w 5756604"/>
                <a:gd name="connsiteY3" fmla="*/ 0 h 257442"/>
                <a:gd name="connsiteX0" fmla="*/ 5756604 w 5756604"/>
                <a:gd name="connsiteY0" fmla="*/ 0 h 257442"/>
                <a:gd name="connsiteX1" fmla="*/ 5701882 w 5756604"/>
                <a:gd name="connsiteY1" fmla="*/ 257442 h 257442"/>
                <a:gd name="connsiteX2" fmla="*/ 0 w 5756604"/>
                <a:gd name="connsiteY2" fmla="*/ 257442 h 257442"/>
                <a:gd name="connsiteX3" fmla="*/ 54721 w 5756604"/>
                <a:gd name="connsiteY3" fmla="*/ 0 h 257442"/>
                <a:gd name="connsiteX0" fmla="*/ 5756605 w 5756605"/>
                <a:gd name="connsiteY0" fmla="*/ 0 h 257442"/>
                <a:gd name="connsiteX1" fmla="*/ 5701883 w 5756605"/>
                <a:gd name="connsiteY1" fmla="*/ 257442 h 257442"/>
                <a:gd name="connsiteX2" fmla="*/ 0 w 5756605"/>
                <a:gd name="connsiteY2" fmla="*/ 257442 h 257442"/>
                <a:gd name="connsiteX3" fmla="*/ 54722 w 5756605"/>
                <a:gd name="connsiteY3" fmla="*/ 0 h 257442"/>
                <a:gd name="connsiteX0" fmla="*/ 5756605 w 5756605"/>
                <a:gd name="connsiteY0" fmla="*/ 0 h 257442"/>
                <a:gd name="connsiteX1" fmla="*/ 5701883 w 5756605"/>
                <a:gd name="connsiteY1" fmla="*/ 257442 h 257442"/>
                <a:gd name="connsiteX2" fmla="*/ 0 w 5756605"/>
                <a:gd name="connsiteY2" fmla="*/ 257442 h 257442"/>
                <a:gd name="connsiteX3" fmla="*/ 54722 w 5756605"/>
                <a:gd name="connsiteY3" fmla="*/ 0 h 257442"/>
              </a:gdLst>
              <a:ahLst/>
              <a:cxnLst>
                <a:cxn ang="0">
                  <a:pos x="connsiteX0" y="connsiteY0"/>
                </a:cxn>
                <a:cxn ang="0">
                  <a:pos x="connsiteX1" y="connsiteY1"/>
                </a:cxn>
                <a:cxn ang="0">
                  <a:pos x="connsiteX2" y="connsiteY2"/>
                </a:cxn>
                <a:cxn ang="0">
                  <a:pos x="connsiteX3" y="connsiteY3"/>
                </a:cxn>
              </a:cxnLst>
              <a:rect l="l" t="t" r="r" b="b"/>
              <a:pathLst>
                <a:path w="5756605" h="257442">
                  <a:moveTo>
                    <a:pt x="5756605" y="0"/>
                  </a:moveTo>
                  <a:lnTo>
                    <a:pt x="5701883" y="257442"/>
                  </a:lnTo>
                  <a:lnTo>
                    <a:pt x="0" y="257442"/>
                  </a:lnTo>
                  <a:lnTo>
                    <a:pt x="54722" y="0"/>
                  </a:lnTo>
                  <a:close/>
                </a:path>
              </a:pathLst>
            </a:custGeom>
            <a:solidFill>
              <a:srgbClr val="B4B4B4"/>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6" name="btfpRunningAgenda2LevelTextRight809054"/>
            <p:cNvSpPr txBox="1"/>
            <p:nvPr/>
          </p:nvSpPr>
          <p:spPr bwMode="gray">
            <a:xfrm>
              <a:off x="3789978" y="944429"/>
              <a:ext cx="5701883" cy="257442"/>
            </a:xfrm>
            <a:prstGeom prst="rect">
              <a:avLst/>
            </a:prstGeom>
            <a:noFill/>
          </p:spPr>
          <p:txBody>
            <a:bodyPr vert="horz" wrap="none" lIns="360363" tIns="36036" rIns="360363" bIns="36036" rtlCol="0" anchor="t">
              <a:spAutoFit/>
            </a:bodyPr>
            <a:lstStyle/>
            <a:p>
              <a:pPr marL="0" indent="0">
                <a:spcBef>
                  <a:spcPts val="0"/>
                </a:spcBef>
                <a:buNone/>
              </a:pPr>
              <a:r>
                <a:rPr lang="en-US" sz="1200" b="1" cap="all" spc="450">
                  <a:solidFill>
                    <a:srgbClr val="FFFFFF"/>
                  </a:solidFill>
                </a:rPr>
                <a:t>More guidance &amp; Oi best practices</a:t>
              </a:r>
            </a:p>
          </p:txBody>
        </p:sp>
      </p:grpSp>
      <p:grpSp>
        <p:nvGrpSpPr>
          <p:cNvPr id="17" name="btfpRowSeparator183777"/>
          <p:cNvGrpSpPr/>
          <p:nvPr>
            <p:custDataLst>
              <p:tags r:id="rId4"/>
            </p:custDataLst>
          </p:nvPr>
        </p:nvGrpSpPr>
        <p:grpSpPr>
          <a:xfrm>
            <a:off x="-264954" y="2242766"/>
            <a:ext cx="12721908" cy="180181"/>
            <a:chOff x="-264954" y="-2540000"/>
            <a:chExt cx="12721908" cy="180181"/>
          </a:xfrm>
        </p:grpSpPr>
        <p:sp>
          <p:nvSpPr>
            <p:cNvPr id="9" name="btfpRowSeparatorArrowLeft183777"/>
            <p:cNvSpPr/>
            <p:nvPr/>
          </p:nvSpPr>
          <p:spPr bwMode="gray">
            <a:xfrm>
              <a:off x="-264954"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sp>
          <p:nvSpPr>
            <p:cNvPr id="11" name="btfpRowSeparatorArrowRight183777"/>
            <p:cNvSpPr/>
            <p:nvPr/>
          </p:nvSpPr>
          <p:spPr bwMode="gray">
            <a:xfrm>
              <a:off x="12204700" y="-2540000"/>
              <a:ext cx="252254" cy="180181"/>
            </a:xfrm>
            <a:prstGeom prst="upDownArrow">
              <a:avLst>
                <a:gd name="adj1" fmla="val 50000"/>
                <a:gd name="adj2" fmla="val 33000"/>
              </a:avLst>
            </a:prstGeom>
            <a:solidFill>
              <a:srgbClr val="AB8933">
                <a:alpha val="75000"/>
              </a:srgbClr>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err="1">
                <a:solidFill>
                  <a:schemeClr val="tx1"/>
                </a:solidFill>
              </a:endParaRPr>
            </a:p>
          </p:txBody>
        </p:sp>
        <p:cxnSp>
          <p:nvCxnSpPr>
            <p:cNvPr id="12" name="btfpRowSeparatorLine183777"/>
            <p:cNvCxnSpPr/>
            <p:nvPr/>
          </p:nvCxnSpPr>
          <p:spPr bwMode="gray">
            <a:xfrm>
              <a:off x="330200" y="-2540000"/>
              <a:ext cx="11531600" cy="0"/>
            </a:xfrm>
            <a:prstGeom prst="line">
              <a:avLst/>
            </a:prstGeom>
            <a:noFill/>
            <a:ln w="9525" cap="flat" cmpd="sng" algn="ctr">
              <a:noFill/>
              <a:prstDash val="solid"/>
              <a:miter lim="800000"/>
              <a:tailEnd type="none" w="med" len="lg"/>
            </a:ln>
            <a:effectLst/>
            <a:extLst>
              <a:ext uri="{91240B29-F687-4F45-9708-019B960494DF}">
                <a14:hiddenLine xmlns:a14="http://schemas.microsoft.com/office/drawing/2010/main" w="9525" cap="flat" cmpd="sng" algn="ctr">
                  <a:solidFill>
                    <a:schemeClr val="tx1"/>
                  </a:solidFill>
                  <a:prstDash val="solid"/>
                  <a:miter lim="800000"/>
                  <a:tailEnd type="none" w="med" len="lg"/>
                </a14:hiddenLine>
              </a:ext>
            </a:extLst>
          </p:spPr>
          <p:style>
            <a:lnRef idx="1">
              <a:schemeClr val="accent1"/>
            </a:lnRef>
            <a:fillRef idx="0">
              <a:schemeClr val="accent1"/>
            </a:fillRef>
            <a:effectRef idx="0">
              <a:schemeClr val="accent1"/>
            </a:effectRef>
            <a:fontRef idx="minor">
              <a:schemeClr val="tx1"/>
            </a:fontRef>
          </p:style>
        </p:cxnSp>
      </p:grpSp>
      <p:grpSp>
        <p:nvGrpSpPr>
          <p:cNvPr id="48" name="btfpStatusSticker469838"/>
          <p:cNvGrpSpPr/>
          <p:nvPr>
            <p:custDataLst>
              <p:tags r:id="rId5"/>
            </p:custDataLst>
          </p:nvPr>
        </p:nvGrpSpPr>
        <p:grpSpPr>
          <a:xfrm>
            <a:off x="10003470" y="955344"/>
            <a:ext cx="1858330" cy="235611"/>
            <a:chOff x="10003470" y="955344"/>
            <a:chExt cx="1858330" cy="235611"/>
          </a:xfrm>
        </p:grpSpPr>
        <p:sp>
          <p:nvSpPr>
            <p:cNvPr id="46" name="btfpStatusStickerText469838"/>
            <p:cNvSpPr txBox="1"/>
            <p:nvPr/>
          </p:nvSpPr>
          <p:spPr bwMode="gray">
            <a:xfrm>
              <a:off x="10003470" y="955344"/>
              <a:ext cx="1858330" cy="235611"/>
            </a:xfrm>
            <a:prstGeom prst="rect">
              <a:avLst/>
            </a:prstGeom>
            <a:noFill/>
          </p:spPr>
          <p:txBody>
            <a:bodyPr vert="horz" wrap="none" lIns="72073" tIns="25226" rIns="0" bIns="25226" rtlCol="0" anchor="t">
              <a:spAutoFit/>
            </a:bodyPr>
            <a:lstStyle/>
            <a:p>
              <a:pPr marL="0" indent="0" algn="r">
                <a:spcBef>
                  <a:spcPts val="0"/>
                </a:spcBef>
                <a:buNone/>
              </a:pPr>
              <a:r>
                <a:rPr lang="en-US" sz="1200" b="1" cap="all" spc="450">
                  <a:solidFill>
                    <a:srgbClr val="000000"/>
                  </a:solidFill>
                </a:rPr>
                <a:t>Illustrative</a:t>
              </a:r>
            </a:p>
          </p:txBody>
        </p:sp>
        <p:cxnSp>
          <p:nvCxnSpPr>
            <p:cNvPr id="47" name="btfpStatusStickerLine469838"/>
            <p:cNvCxnSpPr/>
            <p:nvPr/>
          </p:nvCxnSpPr>
          <p:spPr bwMode="gray">
            <a:xfrm rot="720000">
              <a:off x="10003470" y="955344"/>
              <a:ext cx="0" cy="235611"/>
            </a:xfrm>
            <a:prstGeom prst="line">
              <a:avLst/>
            </a:prstGeom>
            <a:ln w="19050" cap="flat" cmpd="sng">
              <a:solidFill>
                <a:srgbClr val="000000"/>
              </a:solidFill>
              <a:prstDash val="solid"/>
              <a:miter lim="800000"/>
              <a:headEnd type="none"/>
              <a:tailEnd type="none" w="med" len="lg"/>
            </a:ln>
          </p:spPr>
          <p:style>
            <a:lnRef idx="1">
              <a:schemeClr val="accent1"/>
            </a:lnRef>
            <a:fillRef idx="0">
              <a:schemeClr val="accent1"/>
            </a:fillRef>
            <a:effectRef idx="0">
              <a:schemeClr val="accent1"/>
            </a:effectRef>
            <a:fontRef idx="minor">
              <a:schemeClr val="tx1"/>
            </a:fontRef>
          </p:style>
        </p:cxnSp>
      </p:grpSp>
      <p:sp>
        <p:nvSpPr>
          <p:cNvPr id="72" name="btfpBulletedList652992">
            <a:extLst>
              <a:ext uri="{FF2B5EF4-FFF2-40B4-BE49-F238E27FC236}">
                <a16:creationId xmlns:a16="http://schemas.microsoft.com/office/drawing/2014/main" id="{B88D6D43-69BB-41AB-2C57-6D4DCF293577}"/>
              </a:ext>
            </a:extLst>
          </p:cNvPr>
          <p:cNvSpPr txBox="1"/>
          <p:nvPr>
            <p:custDataLst>
              <p:tags r:id="rId6"/>
            </p:custDataLst>
          </p:nvPr>
        </p:nvSpPr>
        <p:spPr bwMode="gray">
          <a:xfrm>
            <a:off x="330198" y="1338769"/>
            <a:ext cx="11522073" cy="1088366"/>
          </a:xfrm>
          <a:prstGeom prst="rect">
            <a:avLst/>
          </a:prstGeom>
          <a:noFill/>
        </p:spPr>
        <p:txBody>
          <a:bodyPr vert="horz" wrap="square" lIns="36000" tIns="36000" rIns="36000" bIns="36000" rtlCol="0">
            <a:spAutoFit/>
          </a:bodyPr>
          <a:lstStyle/>
          <a:p>
            <a:r>
              <a:rPr lang="en-US" sz="1400"/>
              <a:t>In an attempt to continually improve our process to build an OI, we created a ‘Best Practice Sharing’ document – which should be updated regularly with guidance on proposed changes to the Slide Gen template, feedback on answer framing, and </a:t>
            </a:r>
            <a:r>
              <a:rPr lang="en-US" sz="1400" b="1"/>
              <a:t>additional output that may be created for specific industries</a:t>
            </a:r>
          </a:p>
          <a:p>
            <a:r>
              <a:rPr lang="en-US" sz="1400"/>
              <a:t>Please visit and update this document </a:t>
            </a:r>
            <a:r>
              <a:rPr lang="en-US" sz="1400">
                <a:hlinkClick r:id="rId10"/>
              </a:rPr>
              <a:t>here</a:t>
            </a:r>
            <a:endParaRPr lang="en-US" sz="1400"/>
          </a:p>
        </p:txBody>
      </p:sp>
    </p:spTree>
    <p:custDataLst>
      <p:tags r:id="rId1"/>
    </p:custDataLst>
    <p:extLst>
      <p:ext uri="{BB962C8B-B14F-4D97-AF65-F5344CB8AC3E}">
        <p14:creationId xmlns:p14="http://schemas.microsoft.com/office/powerpoint/2010/main" val="33773419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OFFICE" val="San Francisco"/>
  <p:tag name="MEKKOFORMATS" val="&lt;MekkoFormats&gt;&lt;NumberFormat DecimalSeparator=&quot;.&quot; ThousandSeparator=&quot;,&quot; NegativeNumberFormat=&quot;1&quot; /&gt;&lt;DateFormat CultureID=&quot;1033&quot; FormatString=&quot;M/d/yyyy&quot; /&gt;&lt;Font&gt;&lt;Output_Font_Name Default=&quot;Arial&quot; UsePPTTheme=&quot;True&quot; /&gt;&lt;/Font&gt;&lt;/MekkoFormats&gt;"/>
  <p:tag name="BAINFLOWCONTROLSECTIONVIEW" val="True"/>
  <p:tag name="BTFPCOLUMNGUIDE" val="Visibl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xml><?xml version="1.0" encoding="utf-8"?>
<p:tagLst xmlns:a="http://schemas.openxmlformats.org/drawingml/2006/main" xmlns:r="http://schemas.openxmlformats.org/officeDocument/2006/relationships" xmlns:p="http://schemas.openxmlformats.org/presentationml/2006/main">
  <p:tag name="BTFP_TEMPLATE" val="&lt;?xml version=&quot;1.0&quot; encoding=&quot;utf-8&quot;?&gt;&lt;Template&gt;&lt;Id&gt;850dd1ec0356264f98b5183597e98a0b&lt;/Id&gt;&lt;Version&gt;2&lt;/Version&gt;&lt;/Template&gt;"/>
  <p:tag name="BTFPLAYOUTENABLED" val="0"/>
  <p:tag name="BTFPLAYOUTCOLUMNS" val="1"/>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BTFPLAYOUTENABLED" val="0"/>
</p:tagLst>
</file>

<file path=ppt/tags/tag9.xml><?xml version="1.0" encoding="utf-8"?>
<p:tagLst xmlns:a="http://schemas.openxmlformats.org/drawingml/2006/main" xmlns:r="http://schemas.openxmlformats.org/officeDocument/2006/relationships" xmlns:p="http://schemas.openxmlformats.org/presentationml/2006/main">
  <p:tag name="BTFPLAYOUTENABLED" val="0"/>
</p:tagLst>
</file>

<file path=ppt/tags/tag10.xml><?xml version="1.0" encoding="utf-8"?>
<p:tagLst xmlns:a="http://schemas.openxmlformats.org/drawingml/2006/main" xmlns:r="http://schemas.openxmlformats.org/officeDocument/2006/relationships" xmlns:p="http://schemas.openxmlformats.org/presentationml/2006/main">
  <p:tag name="BTFPLAYOUTENABLED" val="1"/>
</p:tagLst>
</file>

<file path=ppt/tags/tag11.xml><?xml version="1.0" encoding="utf-8"?>
<p:tagLst xmlns:a="http://schemas.openxmlformats.org/drawingml/2006/main" xmlns:r="http://schemas.openxmlformats.org/officeDocument/2006/relationships" xmlns:p="http://schemas.openxmlformats.org/presentationml/2006/main">
  <p:tag name="BTFPLAYOUTENABLED" val="1"/>
</p:tagLst>
</file>

<file path=ppt/tags/tag12.xml><?xml version="1.0" encoding="utf-8"?>
<p:tagLst xmlns:a="http://schemas.openxmlformats.org/drawingml/2006/main" xmlns:r="http://schemas.openxmlformats.org/officeDocument/2006/relationships" xmlns:p="http://schemas.openxmlformats.org/presentationml/2006/main">
  <p:tag name="BTFPLAYOUTENABLED" val="1"/>
</p:tagLst>
</file>

<file path=ppt/tags/tag13.xml><?xml version="1.0" encoding="utf-8"?>
<p:tagLst xmlns:a="http://schemas.openxmlformats.org/drawingml/2006/main" xmlns:r="http://schemas.openxmlformats.org/officeDocument/2006/relationships" xmlns:p="http://schemas.openxmlformats.org/presentationml/2006/main">
  <p:tag name="BTFPLAYOUTENABLED" val="1"/>
</p:tagLst>
</file>

<file path=ppt/tags/tag14.xml><?xml version="1.0" encoding="utf-8"?>
<p:tagLst xmlns:a="http://schemas.openxmlformats.org/drawingml/2006/main" xmlns:r="http://schemas.openxmlformats.org/officeDocument/2006/relationships" xmlns:p="http://schemas.openxmlformats.org/presentationml/2006/main">
  <p:tag name="BTFPLAYOUTENABLED" val="1"/>
</p:tagLst>
</file>

<file path=ppt/tags/tag15.xml><?xml version="1.0" encoding="utf-8"?>
<p:tagLst xmlns:a="http://schemas.openxmlformats.org/drawingml/2006/main" xmlns:r="http://schemas.openxmlformats.org/officeDocument/2006/relationships" xmlns:p="http://schemas.openxmlformats.org/presentationml/2006/main">
  <p:tag name="BTFPLAYOUTENABLED" val="1"/>
</p:tagLst>
</file>

<file path=ppt/tags/tag16.xml><?xml version="1.0" encoding="utf-8"?>
<p:tagLst xmlns:a="http://schemas.openxmlformats.org/drawingml/2006/main" xmlns:r="http://schemas.openxmlformats.org/officeDocument/2006/relationships" xmlns:p="http://schemas.openxmlformats.org/presentationml/2006/main">
  <p:tag name="BTFPLAYOUTENABLED" val="1"/>
</p:tagLst>
</file>

<file path=ppt/tags/tag17.xml><?xml version="1.0" encoding="utf-8"?>
<p:tagLst xmlns:a="http://schemas.openxmlformats.org/drawingml/2006/main" xmlns:r="http://schemas.openxmlformats.org/officeDocument/2006/relationships" xmlns:p="http://schemas.openxmlformats.org/presentationml/2006/main">
  <p:tag name="BTFPLAYOUTENABLED" val="1"/>
</p:tagLst>
</file>

<file path=ppt/tags/tag18.xml><?xml version="1.0" encoding="utf-8"?>
<p:tagLst xmlns:a="http://schemas.openxmlformats.org/drawingml/2006/main" xmlns:r="http://schemas.openxmlformats.org/officeDocument/2006/relationships" xmlns:p="http://schemas.openxmlformats.org/presentationml/2006/main">
  <p:tag name="BTFPLAYOUTENABLED" val="1"/>
</p:tagLst>
</file>

<file path=ppt/tags/tag19.xml><?xml version="1.0" encoding="utf-8"?>
<p:tagLst xmlns:a="http://schemas.openxmlformats.org/drawingml/2006/main" xmlns:r="http://schemas.openxmlformats.org/officeDocument/2006/relationships" xmlns:p="http://schemas.openxmlformats.org/presentationml/2006/main">
  <p:tag name="BTFPLAYOUTENABLED" val="1"/>
</p:tagLst>
</file>

<file path=ppt/tags/tag20.xml><?xml version="1.0" encoding="utf-8"?>
<p:tagLst xmlns:a="http://schemas.openxmlformats.org/drawingml/2006/main" xmlns:r="http://schemas.openxmlformats.org/officeDocument/2006/relationships" xmlns:p="http://schemas.openxmlformats.org/presentationml/2006/main">
  <p:tag name="BTFPLAYOUTENABLED" val="1"/>
</p:tagLst>
</file>

<file path=ppt/tags/tag21.xml><?xml version="1.0" encoding="utf-8"?>
<p:tagLst xmlns:a="http://schemas.openxmlformats.org/drawingml/2006/main" xmlns:r="http://schemas.openxmlformats.org/officeDocument/2006/relationships" xmlns:p="http://schemas.openxmlformats.org/presentationml/2006/main">
  <p:tag name="BTFPLAYOUTENABLED" val="1"/>
</p:tagLst>
</file>

<file path=ppt/tags/tag2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BTFPLAYOUTENABLED" val="1"/>
</p:tagLst>
</file>

<file path=ppt/tags/tag28.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BTFPLAYOUTENABLED" val="1"/>
</p:tagLst>
</file>

<file path=ppt/tags/tag31.xml><?xml version="1.0" encoding="utf-8"?>
<p:tagLst xmlns:a="http://schemas.openxmlformats.org/drawingml/2006/main" xmlns:r="http://schemas.openxmlformats.org/officeDocument/2006/relationships" xmlns:p="http://schemas.openxmlformats.org/presentationml/2006/main">
  <p:tag name="BTFPLAYOUTENABLED" val="1"/>
</p:tagLst>
</file>

<file path=ppt/tags/tag3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BTFPLAYOUTENABLED" val="1"/>
</p:tagLst>
</file>

<file path=ppt/tags/tag35.xml><?xml version="1.0" encoding="utf-8"?>
<p:tagLst xmlns:a="http://schemas.openxmlformats.org/drawingml/2006/main" xmlns:r="http://schemas.openxmlformats.org/officeDocument/2006/relationships" xmlns:p="http://schemas.openxmlformats.org/presentationml/2006/main">
  <p:tag name="BTFPLAYOUTENABLED" val="1"/>
</p:tagLst>
</file>

<file path=ppt/tags/tag36.xml><?xml version="1.0" encoding="utf-8"?>
<p:tagLst xmlns:a="http://schemas.openxmlformats.org/drawingml/2006/main" xmlns:r="http://schemas.openxmlformats.org/officeDocument/2006/relationships" xmlns:p="http://schemas.openxmlformats.org/presentationml/2006/main">
  <p:tag name="BTFPLAYOUTENABLED" val="1"/>
</p:tagLst>
</file>

<file path=ppt/tags/tag37.xml><?xml version="1.0" encoding="utf-8"?>
<p:tagLst xmlns:a="http://schemas.openxmlformats.org/drawingml/2006/main" xmlns:r="http://schemas.openxmlformats.org/officeDocument/2006/relationships" xmlns:p="http://schemas.openxmlformats.org/presentationml/2006/main">
  <p:tag name="BTFPLAYOUTENABLED" val="1"/>
</p:tagLst>
</file>

<file path=ppt/tags/tag38.xml><?xml version="1.0" encoding="utf-8"?>
<p:tagLst xmlns:a="http://schemas.openxmlformats.org/drawingml/2006/main" xmlns:r="http://schemas.openxmlformats.org/officeDocument/2006/relationships" xmlns:p="http://schemas.openxmlformats.org/presentationml/2006/main">
  <p:tag name="BTFPLAYOUTENABLED" val="1"/>
</p:tagLst>
</file>

<file path=ppt/tags/tag39.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BTFPLAYOUTENABLED" val="1"/>
</p:tagLst>
</file>

<file path=ppt/tags/tag42.xml><?xml version="1.0" encoding="utf-8"?>
<p:tagLst xmlns:a="http://schemas.openxmlformats.org/drawingml/2006/main" xmlns:r="http://schemas.openxmlformats.org/officeDocument/2006/relationships" xmlns:p="http://schemas.openxmlformats.org/presentationml/2006/main">
  <p:tag name="BTFPLAYOUTENABLED" val="1"/>
</p:tagLst>
</file>

<file path=ppt/tags/tag43.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BTFPLAYOUTENABLED" val="1"/>
</p:tagLst>
</file>

<file path=ppt/tags/tag46.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4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48.xml><?xml version="1.0" encoding="utf-8"?>
<p:tagLst xmlns:a="http://schemas.openxmlformats.org/drawingml/2006/main" xmlns:r="http://schemas.openxmlformats.org/officeDocument/2006/relationships" xmlns:p="http://schemas.openxmlformats.org/presentationml/2006/main">
  <p:tag name="BTFPLAYOUTENABLED" val="1"/>
</p:tagLst>
</file>

<file path=ppt/tags/tag49.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BTFPLAYOUTENABLED" val="1"/>
</p:tagLst>
</file>

<file path=ppt/tags/tag52.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53.xml><?xml version="1.0" encoding="utf-8"?>
<p:tagLst xmlns:a="http://schemas.openxmlformats.org/drawingml/2006/main" xmlns:r="http://schemas.openxmlformats.org/officeDocument/2006/relationships" xmlns:p="http://schemas.openxmlformats.org/presentationml/2006/main">
  <p:tag name="BTFPLAYOUTENABLED" val="1"/>
</p:tagLst>
</file>

<file path=ppt/tags/tag5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BTFPLAYOUTENABLED" val="1"/>
</p:tagLst>
</file>

<file path=ppt/tags/tag57.xml><?xml version="1.0" encoding="utf-8"?>
<p:tagLst xmlns:a="http://schemas.openxmlformats.org/drawingml/2006/main" xmlns:r="http://schemas.openxmlformats.org/officeDocument/2006/relationships" xmlns:p="http://schemas.openxmlformats.org/presentationml/2006/main">
  <p:tag name="BTFPLAYOUTENABLED" val="1"/>
</p:tagLst>
</file>

<file path=ppt/tags/tag58.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BTFPLAYOUTENABLED" val="1"/>
</p:tagLst>
</file>

<file path=ppt/tags/tag61.xml><?xml version="1.0" encoding="utf-8"?>
<p:tagLst xmlns:a="http://schemas.openxmlformats.org/drawingml/2006/main" xmlns:r="http://schemas.openxmlformats.org/officeDocument/2006/relationships" xmlns:p="http://schemas.openxmlformats.org/presentationml/2006/main">
  <p:tag name="BTFPLAYOUTENABLED" val="1"/>
</p:tagLst>
</file>

<file path=ppt/tags/tag6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BTFPLAYOUTENABLED" val="0"/>
  <p:tag name="BTFPLAYOUTCOLUMNS" val="2"/>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BTFPLAYOUTENABLED" val="1"/>
</p:tagLst>
</file>

<file path=ppt/tags/tag73.xml><?xml version="1.0" encoding="utf-8"?>
<p:tagLst xmlns:a="http://schemas.openxmlformats.org/drawingml/2006/main" xmlns:r="http://schemas.openxmlformats.org/officeDocument/2006/relationships" xmlns:p="http://schemas.openxmlformats.org/presentationml/2006/main">
  <p:tag name="BTFPLAYOUTENABLED" val="0"/>
</p:tagLst>
</file>

<file path=ppt/tags/tag74.xml><?xml version="1.0" encoding="utf-8"?>
<p:tagLst xmlns:a="http://schemas.openxmlformats.org/drawingml/2006/main" xmlns:r="http://schemas.openxmlformats.org/officeDocument/2006/relationships" xmlns:p="http://schemas.openxmlformats.org/presentationml/2006/main">
  <p:tag name="BTFPLAYOUTENABLED" val="1"/>
</p:tagLst>
</file>

<file path=ppt/tags/tag75.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BTFPLAYOUTENABLED" val="1"/>
</p:tagLst>
</file>

<file path=ppt/tags/tag78.xml><?xml version="1.0" encoding="utf-8"?>
<p:tagLst xmlns:a="http://schemas.openxmlformats.org/drawingml/2006/main" xmlns:r="http://schemas.openxmlformats.org/officeDocument/2006/relationships" xmlns:p="http://schemas.openxmlformats.org/presentationml/2006/main">
  <p:tag name="BTFPLAYOUTENABLED" val="0"/>
</p:tagLst>
</file>

<file path=ppt/tags/tag79.xml><?xml version="1.0" encoding="utf-8"?>
<p:tagLst xmlns:a="http://schemas.openxmlformats.org/drawingml/2006/main" xmlns:r="http://schemas.openxmlformats.org/officeDocument/2006/relationships" xmlns:p="http://schemas.openxmlformats.org/presentationml/2006/main">
  <p:tag name="BTFPLAYOUTENABLED" val="0"/>
</p:tagLst>
</file>

<file path=ppt/tags/tag80.xml><?xml version="1.0" encoding="utf-8"?>
<p:tagLst xmlns:a="http://schemas.openxmlformats.org/drawingml/2006/main" xmlns:r="http://schemas.openxmlformats.org/officeDocument/2006/relationships" xmlns:p="http://schemas.openxmlformats.org/presentationml/2006/main">
  <p:tag name="BTFPLAYOUTENABLED" val="0"/>
</p:tagLst>
</file>

<file path=ppt/tags/tag81.xml><?xml version="1.0" encoding="utf-8"?>
<p:tagLst xmlns:a="http://schemas.openxmlformats.org/drawingml/2006/main" xmlns:r="http://schemas.openxmlformats.org/officeDocument/2006/relationships" xmlns:p="http://schemas.openxmlformats.org/presentationml/2006/main">
  <p:tag name="BTFPLAYOUTENABLED" val="0"/>
</p:tagLst>
</file>

<file path=ppt/tags/tag8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BTFPLAYOUTENABLED" val="1"/>
</p:tagLst>
</file>

<file path=ppt/tags/tag85.xml><?xml version="1.0" encoding="utf-8"?>
<p:tagLst xmlns:a="http://schemas.openxmlformats.org/drawingml/2006/main" xmlns:r="http://schemas.openxmlformats.org/officeDocument/2006/relationships" xmlns:p="http://schemas.openxmlformats.org/presentationml/2006/main">
  <p:tag name="BTFPLAYOUTENABLED" val="0"/>
</p:tagLst>
</file>

<file path=ppt/tags/tag86.xml><?xml version="1.0" encoding="utf-8"?>
<p:tagLst xmlns:a="http://schemas.openxmlformats.org/drawingml/2006/main" xmlns:r="http://schemas.openxmlformats.org/officeDocument/2006/relationships" xmlns:p="http://schemas.openxmlformats.org/presentationml/2006/main">
  <p:tag name="BTFPLAYOUTENABLED" val="0"/>
</p:tagLst>
</file>

<file path=ppt/tags/tag87.xml><?xml version="1.0" encoding="utf-8"?>
<p:tagLst xmlns:a="http://schemas.openxmlformats.org/drawingml/2006/main" xmlns:r="http://schemas.openxmlformats.org/officeDocument/2006/relationships" xmlns:p="http://schemas.openxmlformats.org/presentationml/2006/main">
  <p:tag name="BTFPLAYOUTENABLED" val="0"/>
</p:tagLst>
</file>

<file path=ppt/tags/tag88.xml><?xml version="1.0" encoding="utf-8"?>
<p:tagLst xmlns:a="http://schemas.openxmlformats.org/drawingml/2006/main" xmlns:r="http://schemas.openxmlformats.org/officeDocument/2006/relationships" xmlns:p="http://schemas.openxmlformats.org/presentationml/2006/main">
  <p:tag name="BTFPLAYOUTENABLED" val="0"/>
</p:tagLst>
</file>

<file path=ppt/tags/tag89.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BTFPLAYOUTENABLED" val="1"/>
</p:tagLst>
</file>

<file path=ppt/tags/tag92.xml><?xml version="1.0" encoding="utf-8"?>
<p:tagLst xmlns:a="http://schemas.openxmlformats.org/drawingml/2006/main" xmlns:r="http://schemas.openxmlformats.org/officeDocument/2006/relationships" xmlns:p="http://schemas.openxmlformats.org/presentationml/2006/main">
  <p:tag name="BTFPLAYOUTENABLED" val="0"/>
</p:tagLst>
</file>

<file path=ppt/tags/tag93.xml><?xml version="1.0" encoding="utf-8"?>
<p:tagLst xmlns:a="http://schemas.openxmlformats.org/drawingml/2006/main" xmlns:r="http://schemas.openxmlformats.org/officeDocument/2006/relationships" xmlns:p="http://schemas.openxmlformats.org/presentationml/2006/main">
  <p:tag name="BTFPLAYOUTENABLED" val="0"/>
</p:tagLst>
</file>

<file path=ppt/tags/tag94.xml><?xml version="1.0" encoding="utf-8"?>
<p:tagLst xmlns:a="http://schemas.openxmlformats.org/drawingml/2006/main" xmlns:r="http://schemas.openxmlformats.org/officeDocument/2006/relationships" xmlns:p="http://schemas.openxmlformats.org/presentationml/2006/main">
  <p:tag name="BTFPLAYOUTENABLED" val="0"/>
</p:tagLst>
</file>

<file path=ppt/tags/tag95.xml><?xml version="1.0" encoding="utf-8"?>
<p:tagLst xmlns:a="http://schemas.openxmlformats.org/drawingml/2006/main" xmlns:r="http://schemas.openxmlformats.org/officeDocument/2006/relationships" xmlns:p="http://schemas.openxmlformats.org/presentationml/2006/main">
  <p:tag name="BTFPLAYOUTENABLED" val="0"/>
</p:tagLst>
</file>

<file path=ppt/tags/tag96.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BTFPLAYOUTENABLED" val="1"/>
</p:tagLst>
</file>

<file path=ppt/tags/tag99.xml><?xml version="1.0" encoding="utf-8"?>
<p:tagLst xmlns:a="http://schemas.openxmlformats.org/drawingml/2006/main" xmlns:r="http://schemas.openxmlformats.org/officeDocument/2006/relationships" xmlns:p="http://schemas.openxmlformats.org/presentationml/2006/main">
  <p:tag name="BTFPLAYOUTENABLED" val="0"/>
</p:tagLst>
</file>

<file path=ppt/tags/tag100.xml><?xml version="1.0" encoding="utf-8"?>
<p:tagLst xmlns:a="http://schemas.openxmlformats.org/drawingml/2006/main" xmlns:r="http://schemas.openxmlformats.org/officeDocument/2006/relationships" xmlns:p="http://schemas.openxmlformats.org/presentationml/2006/main">
  <p:tag name="BTFPLAYOUTENABLED" val="0"/>
</p:tagLst>
</file>

<file path=ppt/tags/tag101.xml><?xml version="1.0" encoding="utf-8"?>
<p:tagLst xmlns:a="http://schemas.openxmlformats.org/drawingml/2006/main" xmlns:r="http://schemas.openxmlformats.org/officeDocument/2006/relationships" xmlns:p="http://schemas.openxmlformats.org/presentationml/2006/main">
  <p:tag name="BTFPLAYOUTENABLED" val="0"/>
</p:tagLst>
</file>

<file path=ppt/tags/tag102.xml><?xml version="1.0" encoding="utf-8"?>
<p:tagLst xmlns:a="http://schemas.openxmlformats.org/drawingml/2006/main" xmlns:r="http://schemas.openxmlformats.org/officeDocument/2006/relationships" xmlns:p="http://schemas.openxmlformats.org/presentationml/2006/main">
  <p:tag name="BTFPLAYOUTENABLED" val="0"/>
</p:tagLst>
</file>

<file path=ppt/tags/tag103.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BTFPLAYOUTENABLED" val="1"/>
</p:tagLst>
</file>

<file path=ppt/tags/tag106.xml><?xml version="1.0" encoding="utf-8"?>
<p:tagLst xmlns:a="http://schemas.openxmlformats.org/drawingml/2006/main" xmlns:r="http://schemas.openxmlformats.org/officeDocument/2006/relationships" xmlns:p="http://schemas.openxmlformats.org/presentationml/2006/main">
  <p:tag name="BTFPLAYOUTENABLED" val="1"/>
</p:tagLst>
</file>

<file path=ppt/tags/tag10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BTFPLAYOUTENABLED" val="1"/>
</p:tagLst>
</file>

<file path=ppt/tags/tag11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11.xml><?xml version="1.0" encoding="utf-8"?>
<p:tagLst xmlns:a="http://schemas.openxmlformats.org/drawingml/2006/main" xmlns:r="http://schemas.openxmlformats.org/officeDocument/2006/relationships" xmlns:p="http://schemas.openxmlformats.org/presentationml/2006/main">
  <p:tag name="BTFPLAYOUTENABLED" val="1"/>
</p:tagLst>
</file>

<file path=ppt/tags/tag11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BTFPLAYOUTENABLED" val="1"/>
</p:tagLst>
</file>

<file path=ppt/tags/tag11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16.xml><?xml version="1.0" encoding="utf-8"?>
<p:tagLst xmlns:a="http://schemas.openxmlformats.org/drawingml/2006/main" xmlns:r="http://schemas.openxmlformats.org/officeDocument/2006/relationships" xmlns:p="http://schemas.openxmlformats.org/presentationml/2006/main">
  <p:tag name="BTFPLAYOUTENABLED" val="1"/>
</p:tagLst>
</file>

<file path=ppt/tags/tag11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BTFPLAYOUTENABLED" val="1"/>
</p:tagLst>
</file>

<file path=ppt/tags/tag12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21.xml><?xml version="1.0" encoding="utf-8"?>
<p:tagLst xmlns:a="http://schemas.openxmlformats.org/drawingml/2006/main" xmlns:r="http://schemas.openxmlformats.org/officeDocument/2006/relationships" xmlns:p="http://schemas.openxmlformats.org/presentationml/2006/main">
  <p:tag name="BTFPLAYOUTENABLED" val="1"/>
</p:tagLst>
</file>

<file path=ppt/tags/tag12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BTFPLAYOUTENABLED" val="1"/>
</p:tagLst>
</file>

<file path=ppt/tags/tag12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26.xml><?xml version="1.0" encoding="utf-8"?>
<p:tagLst xmlns:a="http://schemas.openxmlformats.org/drawingml/2006/main" xmlns:r="http://schemas.openxmlformats.org/officeDocument/2006/relationships" xmlns:p="http://schemas.openxmlformats.org/presentationml/2006/main">
  <p:tag name="BTFPLAYOUTENABLED" val="1"/>
</p:tagLst>
</file>

<file path=ppt/tags/tag12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BTFPLAYOUTENABLED" val="1"/>
</p:tagLst>
</file>

<file path=ppt/tags/tag13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31.xml><?xml version="1.0" encoding="utf-8"?>
<p:tagLst xmlns:a="http://schemas.openxmlformats.org/drawingml/2006/main" xmlns:r="http://schemas.openxmlformats.org/officeDocument/2006/relationships" xmlns:p="http://schemas.openxmlformats.org/presentationml/2006/main">
  <p:tag name="BTFPLAYOUTENABLED" val="1"/>
</p:tagLst>
</file>

<file path=ppt/tags/tag13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BTFPLAYOUTENABLED" val="1"/>
</p:tagLst>
</file>

<file path=ppt/tags/tag13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36.xml><?xml version="1.0" encoding="utf-8"?>
<p:tagLst xmlns:a="http://schemas.openxmlformats.org/drawingml/2006/main" xmlns:r="http://schemas.openxmlformats.org/officeDocument/2006/relationships" xmlns:p="http://schemas.openxmlformats.org/presentationml/2006/main">
  <p:tag name="BTFPLAYOUTENABLED" val="1"/>
</p:tagLst>
</file>

<file path=ppt/tags/tag137.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BTFPLAYOUTENABLED" val="1"/>
</p:tagLst>
</file>

<file path=ppt/tags/tag140.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41.xml><?xml version="1.0" encoding="utf-8"?>
<p:tagLst xmlns:a="http://schemas.openxmlformats.org/drawingml/2006/main" xmlns:r="http://schemas.openxmlformats.org/officeDocument/2006/relationships" xmlns:p="http://schemas.openxmlformats.org/presentationml/2006/main">
  <p:tag name="BTFPLAYOUTENABLED" val="1"/>
</p:tagLst>
</file>

<file path=ppt/tags/tag142.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BTFPLAYOUTENABLED" val="1"/>
</p:tagLst>
</file>

<file path=ppt/tags/tag145.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46.xml><?xml version="1.0" encoding="utf-8"?>
<p:tagLst xmlns:a="http://schemas.openxmlformats.org/drawingml/2006/main" xmlns:r="http://schemas.openxmlformats.org/officeDocument/2006/relationships" xmlns:p="http://schemas.openxmlformats.org/presentationml/2006/main">
  <p:tag name="BTFPLAYOUTENABLED" val="1"/>
</p:tagLst>
</file>

<file path=ppt/tags/tag147.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BTFPLAYOUTENABLED" val="0"/>
</p:tagLst>
</file>

<file path=ppt/tags/tag150.xml><?xml version="1.0" encoding="utf-8"?>
<p:tagLst xmlns:a="http://schemas.openxmlformats.org/drawingml/2006/main" xmlns:r="http://schemas.openxmlformats.org/officeDocument/2006/relationships" xmlns:p="http://schemas.openxmlformats.org/presentationml/2006/main">
  <p:tag name="BTFPLAYOUTENABLED" val="1"/>
</p:tagLst>
</file>

<file path=ppt/tags/tag151.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BTFPLAYOUTENABLED" val="1"/>
</p:tagLst>
</file>

<file path=ppt/tags/tag154.xml><?xml version="1.0" encoding="utf-8"?>
<p:tagLst xmlns:a="http://schemas.openxmlformats.org/drawingml/2006/main" xmlns:r="http://schemas.openxmlformats.org/officeDocument/2006/relationships" xmlns:p="http://schemas.openxmlformats.org/presentationml/2006/main">
  <p:tag name="BTFPLAYOUTENABLED" val="1"/>
</p:tagLst>
</file>

<file path=ppt/tags/tag155.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BTFPLAYOUTENABLED" val="0"/>
</p:tagLst>
</file>

<file path=ppt/tags/tag158.xml><?xml version="1.0" encoding="utf-8"?>
<p:tagLst xmlns:a="http://schemas.openxmlformats.org/drawingml/2006/main" xmlns:r="http://schemas.openxmlformats.org/officeDocument/2006/relationships" xmlns:p="http://schemas.openxmlformats.org/presentationml/2006/main">
  <p:tag name="BTFPLAYOUTENABLED" val="1"/>
</p:tagLst>
</file>

<file path=ppt/tags/tag159.xml><?xml version="1.0" encoding="utf-8"?>
<p:tagLst xmlns:a="http://schemas.openxmlformats.org/drawingml/2006/main" xmlns:r="http://schemas.openxmlformats.org/officeDocument/2006/relationships" xmlns:p="http://schemas.openxmlformats.org/presentationml/2006/main">
  <p:tag name="BTFPLAYOUTENABLED" val="1"/>
</p:tagLst>
</file>

<file path=ppt/tags/tag160.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BTFPLAYOUTENABLED" val="1"/>
</p:tagLst>
</file>

<file path=ppt/tags/tag163.xml><?xml version="1.0" encoding="utf-8"?>
<p:tagLst xmlns:a="http://schemas.openxmlformats.org/drawingml/2006/main" xmlns:r="http://schemas.openxmlformats.org/officeDocument/2006/relationships" xmlns:p="http://schemas.openxmlformats.org/presentationml/2006/main">
  <p:tag name="BTFPLAYOUTENABLED" val="1"/>
</p:tagLst>
</file>

<file path=ppt/tags/tag16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BTFPLAYOUTENABLED" val="1"/>
</p:tagLst>
</file>

<file path=ppt/tags/tag16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68.xml><?xml version="1.0" encoding="utf-8"?>
<p:tagLst xmlns:a="http://schemas.openxmlformats.org/drawingml/2006/main" xmlns:r="http://schemas.openxmlformats.org/officeDocument/2006/relationships" xmlns:p="http://schemas.openxmlformats.org/presentationml/2006/main">
  <p:tag name="BTFPLAYOUTENABLED" val="1"/>
</p:tagLst>
</file>

<file path=ppt/tags/tag169.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BTFPLAYOUTENABLED" val="1"/>
</p:tagLst>
</file>

<file path=ppt/tags/tag172.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73.xml><?xml version="1.0" encoding="utf-8"?>
<p:tagLst xmlns:a="http://schemas.openxmlformats.org/drawingml/2006/main" xmlns:r="http://schemas.openxmlformats.org/officeDocument/2006/relationships" xmlns:p="http://schemas.openxmlformats.org/presentationml/2006/main">
  <p:tag name="BTFPLAYOUTENABLED" val="1"/>
</p:tagLst>
</file>

<file path=ppt/tags/tag17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BTFPLAYOUTENABLED" val="1"/>
</p:tagLst>
</file>

<file path=ppt/tags/tag17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78.xml><?xml version="1.0" encoding="utf-8"?>
<p:tagLst xmlns:a="http://schemas.openxmlformats.org/drawingml/2006/main" xmlns:r="http://schemas.openxmlformats.org/officeDocument/2006/relationships" xmlns:p="http://schemas.openxmlformats.org/presentationml/2006/main">
  <p:tag name="BTFPLAYOUTENABLED" val="1"/>
</p:tagLst>
</file>

<file path=ppt/tags/tag179.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BTFPLAYOUTENABLED" val="1"/>
</p:tagLst>
</file>

<file path=ppt/tags/tag182.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83.xml><?xml version="1.0" encoding="utf-8"?>
<p:tagLst xmlns:a="http://schemas.openxmlformats.org/drawingml/2006/main" xmlns:r="http://schemas.openxmlformats.org/officeDocument/2006/relationships" xmlns:p="http://schemas.openxmlformats.org/presentationml/2006/main">
  <p:tag name="BTFPLAYOUTENABLED" val="1"/>
</p:tagLst>
</file>

<file path=ppt/tags/tag184.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BTFPLAYOUTENABLED" val="1"/>
</p:tagLst>
</file>

<file path=ppt/tags/tag187.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188.xml><?xml version="1.0" encoding="utf-8"?>
<p:tagLst xmlns:a="http://schemas.openxmlformats.org/drawingml/2006/main" xmlns:r="http://schemas.openxmlformats.org/officeDocument/2006/relationships" xmlns:p="http://schemas.openxmlformats.org/presentationml/2006/main">
  <p:tag name="BTFPLAYOUTENABLED" val="1"/>
</p:tagLst>
</file>

<file path=ppt/tags/tag189.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BTFPLAYOUTENABLED" val="0"/>
</p:tagLst>
</file>

<file path=ppt/tags/tag192.xml><?xml version="1.0" encoding="utf-8"?>
<p:tagLst xmlns:a="http://schemas.openxmlformats.org/drawingml/2006/main" xmlns:r="http://schemas.openxmlformats.org/officeDocument/2006/relationships" xmlns:p="http://schemas.openxmlformats.org/presentationml/2006/main">
  <p:tag name="BTFPLAYOUTENABLED" val="1"/>
</p:tagLst>
</file>

<file path=ppt/tags/tag19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BTFPLAYOUTENABLED" val="0"/>
</p:tagLst>
</file>

<file path=ppt/tags/tag196.xml><?xml version="1.0" encoding="utf-8"?>
<p:tagLst xmlns:a="http://schemas.openxmlformats.org/drawingml/2006/main" xmlns:r="http://schemas.openxmlformats.org/officeDocument/2006/relationships" xmlns:p="http://schemas.openxmlformats.org/presentationml/2006/main">
  <p:tag name="BTFPLAYOUTENABLED" val="1"/>
</p:tagLst>
</file>

<file path=ppt/tags/tag197.xml><?xml version="1.0" encoding="utf-8"?>
<p:tagLst xmlns:a="http://schemas.openxmlformats.org/drawingml/2006/main" xmlns:r="http://schemas.openxmlformats.org/officeDocument/2006/relationships" xmlns:p="http://schemas.openxmlformats.org/presentationml/2006/main">
  <p:tag name="BTFPLAYOUTENABLED" val="0"/>
  <p:tag name="BTFPLAYOUTCOLUMNS" val="1"/>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BTFPLAYOUTENABLED" val="1"/>
</p:tagLst>
</file>

<file path=ppt/tags/tag200.xml><?xml version="1.0" encoding="utf-8"?>
<p:tagLst xmlns:a="http://schemas.openxmlformats.org/drawingml/2006/main" xmlns:r="http://schemas.openxmlformats.org/officeDocument/2006/relationships" xmlns:p="http://schemas.openxmlformats.org/presentationml/2006/main">
  <p:tag name="BTFPLAYOUTENABLED" val="1"/>
</p:tagLst>
</file>

<file path=ppt/tags/tag201.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BTFPLAYOUTENABLED" val="1"/>
</p:tagLst>
</file>

<file path=ppt/tags/tag204.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205.xml><?xml version="1.0" encoding="utf-8"?>
<p:tagLst xmlns:a="http://schemas.openxmlformats.org/drawingml/2006/main" xmlns:r="http://schemas.openxmlformats.org/officeDocument/2006/relationships" xmlns:p="http://schemas.openxmlformats.org/presentationml/2006/main">
  <p:tag name="BTFPLAYOUTENABLED" val="1"/>
</p:tagLst>
</file>

<file path=ppt/tags/tag206.xml><?xml version="1.0" encoding="utf-8"?>
<p:tagLst xmlns:a="http://schemas.openxmlformats.org/drawingml/2006/main" xmlns:r="http://schemas.openxmlformats.org/officeDocument/2006/relationships" xmlns:p="http://schemas.openxmlformats.org/presentationml/2006/main">
  <p:tag name="BTFPLAYOUTENABLED" val="0"/>
  <p:tag name="BTFPLAYOUTCOLUMNS" val="3"/>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BTFPLAYOUTENABLED" val="1"/>
</p:tagLst>
</file>

<file path=ppt/tags/tag209.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210.xml><?xml version="1.0" encoding="utf-8"?>
<p:tagLst xmlns:a="http://schemas.openxmlformats.org/drawingml/2006/main" xmlns:r="http://schemas.openxmlformats.org/officeDocument/2006/relationships" xmlns:p="http://schemas.openxmlformats.org/presentationml/2006/main">
  <p:tag name="BTFPLAYOUTENABLED" val="1"/>
</p:tagLst>
</file>

<file path=ppt/tags/tag211.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12.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BTFPLAYOUTCOLUMNS" val="1"/>
  <p:tag name="BTFPLAYOUTENABLED" val="0"/>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BTFPLAYOUTENABLED" val="1"/>
  <p:tag name="BTFPBAINBULLETS" val="1"/>
</p:tagLst>
</file>

<file path=ppt/tags/tag217.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BTFPLAYOUTENABLED" val="1"/>
</p:tagLst>
</file>

<file path=ppt/tags/tag220.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BTFPLAYOUTENABLED" val="1"/>
</p:tagLst>
</file>

<file path=ppt/tags/tag223.xml><?xml version="1.0" encoding="utf-8"?>
<p:tagLst xmlns:a="http://schemas.openxmlformats.org/drawingml/2006/main" xmlns:r="http://schemas.openxmlformats.org/officeDocument/2006/relationships" xmlns:p="http://schemas.openxmlformats.org/presentationml/2006/main">
  <p:tag name="BTFPLAYOUTENABLED" val="1"/>
  <p:tag name="BTFPLAYOUTCOLUMNS" val="1"/>
</p:tagLst>
</file>

<file path=ppt/tags/tag224.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BTFPLAYOUTENABLED" val="1"/>
</p:tagLst>
</file>

<file path=ppt/tags/tag227.xml><?xml version="1.0" encoding="utf-8"?>
<p:tagLst xmlns:a="http://schemas.openxmlformats.org/drawingml/2006/main" xmlns:r="http://schemas.openxmlformats.org/officeDocument/2006/relationships" xmlns:p="http://schemas.openxmlformats.org/presentationml/2006/main">
  <p:tag name="BTFPLAYOUTENABLED" val="0"/>
</p:tagLst>
</file>

<file path=ppt/tags/tag228.xml><?xml version="1.0" encoding="utf-8"?>
<p:tagLst xmlns:a="http://schemas.openxmlformats.org/drawingml/2006/main" xmlns:r="http://schemas.openxmlformats.org/officeDocument/2006/relationships" xmlns:p="http://schemas.openxmlformats.org/presentationml/2006/main">
  <p:tag name="BTFPLAYOUTENABLED" val="1"/>
</p:tagLst>
</file>

<file path=ppt/tags/tag229.xml><?xml version="1.0" encoding="utf-8"?>
<p:tagLst xmlns:a="http://schemas.openxmlformats.org/drawingml/2006/main" xmlns:r="http://schemas.openxmlformats.org/officeDocument/2006/relationships" xmlns:p="http://schemas.openxmlformats.org/presentationml/2006/main">
  <p:tag name="BTFPLAYOUTENABLED" val="1"/>
</p:tagLst>
</file>

<file path=ppt/tags/tag230.xml><?xml version="1.0" encoding="utf-8"?>
<p:tagLst xmlns:a="http://schemas.openxmlformats.org/drawingml/2006/main" xmlns:r="http://schemas.openxmlformats.org/officeDocument/2006/relationships" xmlns:p="http://schemas.openxmlformats.org/presentationml/2006/main">
  <p:tag name="BTFPLAYOUTENABLED" val="1"/>
</p:tagLst>
</file>

<file path=ppt/tags/tag231.xml><?xml version="1.0" encoding="utf-8"?>
<p:tagLst xmlns:a="http://schemas.openxmlformats.org/drawingml/2006/main" xmlns:r="http://schemas.openxmlformats.org/officeDocument/2006/relationships" xmlns:p="http://schemas.openxmlformats.org/presentationml/2006/main">
  <p:tag name="BTFPLAYOUTENABLED" val="1"/>
</p:tagLst>
</file>

<file path=ppt/tags/tag23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BTFPLAYOUTENABLED" val="1"/>
</p:tagLst>
</file>

<file path=ppt/tags/tag235.xml><?xml version="1.0" encoding="utf-8"?>
<p:tagLst xmlns:a="http://schemas.openxmlformats.org/drawingml/2006/main" xmlns:r="http://schemas.openxmlformats.org/officeDocument/2006/relationships" xmlns:p="http://schemas.openxmlformats.org/presentationml/2006/main">
  <p:tag name="BTFPLAYOUTENABLED" val="0"/>
</p:tagLst>
</file>

<file path=ppt/tags/tag236.xml><?xml version="1.0" encoding="utf-8"?>
<p:tagLst xmlns:a="http://schemas.openxmlformats.org/drawingml/2006/main" xmlns:r="http://schemas.openxmlformats.org/officeDocument/2006/relationships" xmlns:p="http://schemas.openxmlformats.org/presentationml/2006/main">
  <p:tag name="BTFPLAYOUTENABLED" val="1"/>
</p:tagLst>
</file>

<file path=ppt/tags/tag237.xml><?xml version="1.0" encoding="utf-8"?>
<p:tagLst xmlns:a="http://schemas.openxmlformats.org/drawingml/2006/main" xmlns:r="http://schemas.openxmlformats.org/officeDocument/2006/relationships" xmlns:p="http://schemas.openxmlformats.org/presentationml/2006/main">
  <p:tag name="BTFPLAYOUTENABLED" val="1"/>
</p:tagLst>
</file>

<file path=ppt/tags/tag238.xml><?xml version="1.0" encoding="utf-8"?>
<p:tagLst xmlns:a="http://schemas.openxmlformats.org/drawingml/2006/main" xmlns:r="http://schemas.openxmlformats.org/officeDocument/2006/relationships" xmlns:p="http://schemas.openxmlformats.org/presentationml/2006/main">
  <p:tag name="BTFPLAYOUTENABLED" val="1"/>
</p:tagLst>
</file>

<file path=ppt/tags/tag239.xml><?xml version="1.0" encoding="utf-8"?>
<p:tagLst xmlns:a="http://schemas.openxmlformats.org/drawingml/2006/main" xmlns:r="http://schemas.openxmlformats.org/officeDocument/2006/relationships" xmlns:p="http://schemas.openxmlformats.org/presentationml/2006/main">
  <p:tag name="BTFPLAYOUTENABLED" val="1"/>
</p:tagLst>
</file>

<file path=ppt/tags/tag240.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BTFPLAYOUTENABLED" val="1"/>
</p:tagLst>
</file>

<file path=ppt/tags/tag243.xml><?xml version="1.0" encoding="utf-8"?>
<p:tagLst xmlns:a="http://schemas.openxmlformats.org/drawingml/2006/main" xmlns:r="http://schemas.openxmlformats.org/officeDocument/2006/relationships" xmlns:p="http://schemas.openxmlformats.org/presentationml/2006/main">
  <p:tag name="BTFPLAYOUTENABLED" val="0"/>
</p:tagLst>
</file>

<file path=ppt/tags/tag244.xml><?xml version="1.0" encoding="utf-8"?>
<p:tagLst xmlns:a="http://schemas.openxmlformats.org/drawingml/2006/main" xmlns:r="http://schemas.openxmlformats.org/officeDocument/2006/relationships" xmlns:p="http://schemas.openxmlformats.org/presentationml/2006/main">
  <p:tag name="BTFPLAYOUTENABLED" val="1"/>
</p:tagLst>
</file>

<file path=ppt/tags/tag245.xml><?xml version="1.0" encoding="utf-8"?>
<p:tagLst xmlns:a="http://schemas.openxmlformats.org/drawingml/2006/main" xmlns:r="http://schemas.openxmlformats.org/officeDocument/2006/relationships" xmlns:p="http://schemas.openxmlformats.org/presentationml/2006/main">
  <p:tag name="BTFPLAYOUTENABLED" val="1"/>
</p:tagLst>
</file>

<file path=ppt/tags/tag246.xml><?xml version="1.0" encoding="utf-8"?>
<p:tagLst xmlns:a="http://schemas.openxmlformats.org/drawingml/2006/main" xmlns:r="http://schemas.openxmlformats.org/officeDocument/2006/relationships" xmlns:p="http://schemas.openxmlformats.org/presentationml/2006/main">
  <p:tag name="BTFPLAYOUTENABLED" val="1"/>
</p:tagLst>
</file>

<file path=ppt/tags/tag247.xml><?xml version="1.0" encoding="utf-8"?>
<p:tagLst xmlns:a="http://schemas.openxmlformats.org/drawingml/2006/main" xmlns:r="http://schemas.openxmlformats.org/officeDocument/2006/relationships" xmlns:p="http://schemas.openxmlformats.org/presentationml/2006/main">
  <p:tag name="BTFPLAYOUTENABLED" val="1"/>
</p:tagLst>
</file>

<file path=ppt/tags/tag248.xml><?xml version="1.0" encoding="utf-8"?>
<p:tagLst xmlns:a="http://schemas.openxmlformats.org/drawingml/2006/main" xmlns:r="http://schemas.openxmlformats.org/officeDocument/2006/relationships" xmlns:p="http://schemas.openxmlformats.org/presentationml/2006/main">
  <p:tag name="BTFPLAYOUTENABLED" val="1"/>
</p:tagLst>
</file>

<file path=ppt/tags/tag249.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BTFPLAYOUTENABLED" val="1"/>
</p:tagLst>
</file>

<file path=ppt/tags/tag252.xml><?xml version="1.0" encoding="utf-8"?>
<p:tagLst xmlns:a="http://schemas.openxmlformats.org/drawingml/2006/main" xmlns:r="http://schemas.openxmlformats.org/officeDocument/2006/relationships" xmlns:p="http://schemas.openxmlformats.org/presentationml/2006/main">
  <p:tag name="BTFPLAYOUTENABLED" val="0"/>
</p:tagLst>
</file>

<file path=ppt/tags/tag253.xml><?xml version="1.0" encoding="utf-8"?>
<p:tagLst xmlns:a="http://schemas.openxmlformats.org/drawingml/2006/main" xmlns:r="http://schemas.openxmlformats.org/officeDocument/2006/relationships" xmlns:p="http://schemas.openxmlformats.org/presentationml/2006/main">
  <p:tag name="BTFPLAYOUTENABLED" val="1"/>
</p:tagLst>
</file>

<file path=ppt/tags/tag254.xml><?xml version="1.0" encoding="utf-8"?>
<p:tagLst xmlns:a="http://schemas.openxmlformats.org/drawingml/2006/main" xmlns:r="http://schemas.openxmlformats.org/officeDocument/2006/relationships" xmlns:p="http://schemas.openxmlformats.org/presentationml/2006/main">
  <p:tag name="BTFPLAYOUTENABLED" val="1"/>
</p:tagLst>
</file>

<file path=ppt/tags/tag255.xml><?xml version="1.0" encoding="utf-8"?>
<p:tagLst xmlns:a="http://schemas.openxmlformats.org/drawingml/2006/main" xmlns:r="http://schemas.openxmlformats.org/officeDocument/2006/relationships" xmlns:p="http://schemas.openxmlformats.org/presentationml/2006/main">
  <p:tag name="BTFPLAYOUTENABLED" val="1"/>
</p:tagLst>
</file>

<file path=ppt/tags/tag256.xml><?xml version="1.0" encoding="utf-8"?>
<p:tagLst xmlns:a="http://schemas.openxmlformats.org/drawingml/2006/main" xmlns:r="http://schemas.openxmlformats.org/officeDocument/2006/relationships" xmlns:p="http://schemas.openxmlformats.org/presentationml/2006/main">
  <p:tag name="BTFPLAYOUTENABLED" val="1"/>
</p:tagLst>
</file>

<file path=ppt/tags/tag257.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BTFPLAYOUTENABLED" val="1"/>
</p:tagLst>
</file>

<file path=ppt/tags/tag260.xml><?xml version="1.0" encoding="utf-8"?>
<p:tagLst xmlns:a="http://schemas.openxmlformats.org/drawingml/2006/main" xmlns:r="http://schemas.openxmlformats.org/officeDocument/2006/relationships" xmlns:p="http://schemas.openxmlformats.org/presentationml/2006/main">
  <p:tag name="BTFPLAYOUTENABLED" val="0"/>
</p:tagLst>
</file>

<file path=ppt/tags/tag261.xml><?xml version="1.0" encoding="utf-8"?>
<p:tagLst xmlns:a="http://schemas.openxmlformats.org/drawingml/2006/main" xmlns:r="http://schemas.openxmlformats.org/officeDocument/2006/relationships" xmlns:p="http://schemas.openxmlformats.org/presentationml/2006/main">
  <p:tag name="BTFPLAYOUTENABLED" val="1"/>
</p:tagLst>
</file>

<file path=ppt/tags/tag262.xml><?xml version="1.0" encoding="utf-8"?>
<p:tagLst xmlns:a="http://schemas.openxmlformats.org/drawingml/2006/main" xmlns:r="http://schemas.openxmlformats.org/officeDocument/2006/relationships" xmlns:p="http://schemas.openxmlformats.org/presentationml/2006/main">
  <p:tag name="BTFPLAYOUTENABLED" val="1"/>
</p:tagLst>
</file>

<file path=ppt/tags/tag263.xml><?xml version="1.0" encoding="utf-8"?>
<p:tagLst xmlns:a="http://schemas.openxmlformats.org/drawingml/2006/main" xmlns:r="http://schemas.openxmlformats.org/officeDocument/2006/relationships" xmlns:p="http://schemas.openxmlformats.org/presentationml/2006/main">
  <p:tag name="BTFPLAYOUTENABLED" val="1"/>
</p:tagLst>
</file>

<file path=ppt/tags/tag264.xml><?xml version="1.0" encoding="utf-8"?>
<p:tagLst xmlns:a="http://schemas.openxmlformats.org/drawingml/2006/main" xmlns:r="http://schemas.openxmlformats.org/officeDocument/2006/relationships" xmlns:p="http://schemas.openxmlformats.org/presentationml/2006/main">
  <p:tag name="BTFPLAYOUTENABLED" val="1"/>
</p:tagLst>
</file>

<file path=ppt/tags/tag265.xml><?xml version="1.0" encoding="utf-8"?>
<p:tagLst xmlns:a="http://schemas.openxmlformats.org/drawingml/2006/main" xmlns:r="http://schemas.openxmlformats.org/officeDocument/2006/relationships" xmlns:p="http://schemas.openxmlformats.org/presentationml/2006/main">
  <p:tag name="BTFPLAYOUTENABLED" val="1"/>
</p:tagLst>
</file>

<file path=ppt/tags/tag266.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BTFPLAYOUTENABLED" val="1"/>
</p:tagLst>
</file>

<file path=ppt/tags/tag269.xml><?xml version="1.0" encoding="utf-8"?>
<p:tagLst xmlns:a="http://schemas.openxmlformats.org/drawingml/2006/main" xmlns:r="http://schemas.openxmlformats.org/officeDocument/2006/relationships" xmlns:p="http://schemas.openxmlformats.org/presentationml/2006/main">
  <p:tag name="BTFPLAYOUTENABLED" val="0"/>
</p:tagLst>
</file>

<file path=ppt/tags/tag270.xml><?xml version="1.0" encoding="utf-8"?>
<p:tagLst xmlns:a="http://schemas.openxmlformats.org/drawingml/2006/main" xmlns:r="http://schemas.openxmlformats.org/officeDocument/2006/relationships" xmlns:p="http://schemas.openxmlformats.org/presentationml/2006/main">
  <p:tag name="BTFPLAYOUTENABLED" val="1"/>
</p:tagLst>
</file>

<file path=ppt/tags/tag271.xml><?xml version="1.0" encoding="utf-8"?>
<p:tagLst xmlns:a="http://schemas.openxmlformats.org/drawingml/2006/main" xmlns:r="http://schemas.openxmlformats.org/officeDocument/2006/relationships" xmlns:p="http://schemas.openxmlformats.org/presentationml/2006/main">
  <p:tag name="BTFPLAYOUTENABLED" val="1"/>
</p:tagLst>
</file>

<file path=ppt/tags/tag272.xml><?xml version="1.0" encoding="utf-8"?>
<p:tagLst xmlns:a="http://schemas.openxmlformats.org/drawingml/2006/main" xmlns:r="http://schemas.openxmlformats.org/officeDocument/2006/relationships" xmlns:p="http://schemas.openxmlformats.org/presentationml/2006/main">
  <p:tag name="BTFPLAYOUTENABLED" val="1"/>
</p:tagLst>
</file>

<file path=ppt/tags/tag273.xml><?xml version="1.0" encoding="utf-8"?>
<p:tagLst xmlns:a="http://schemas.openxmlformats.org/drawingml/2006/main" xmlns:r="http://schemas.openxmlformats.org/officeDocument/2006/relationships" xmlns:p="http://schemas.openxmlformats.org/presentationml/2006/main">
  <p:tag name="BTFPLAYOUTENABLED" val="0"/>
</p:tagLst>
</file>

<file path=ppt/tags/tag274.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6.xml><?xml version="1.0" encoding="utf-8"?>
<p:tagLst xmlns:a="http://schemas.openxmlformats.org/drawingml/2006/main" xmlns:r="http://schemas.openxmlformats.org/officeDocument/2006/relationships" xmlns:p="http://schemas.openxmlformats.org/presentationml/2006/main">
  <p:tag name="BTFPLAYOUTENABLED" val="1"/>
</p:tagLst>
</file>

<file path=ppt/tags/tag277.xml><?xml version="1.0" encoding="utf-8"?>
<p:tagLst xmlns:a="http://schemas.openxmlformats.org/drawingml/2006/main" xmlns:r="http://schemas.openxmlformats.org/officeDocument/2006/relationships" xmlns:p="http://schemas.openxmlformats.org/presentationml/2006/main">
  <p:tag name="BTFPLAYOUTENABLED" val="0"/>
</p:tagLst>
</file>

<file path=ppt/tags/tag278.xml><?xml version="1.0" encoding="utf-8"?>
<p:tagLst xmlns:a="http://schemas.openxmlformats.org/drawingml/2006/main" xmlns:r="http://schemas.openxmlformats.org/officeDocument/2006/relationships" xmlns:p="http://schemas.openxmlformats.org/presentationml/2006/main">
  <p:tag name="BTFPLAYOUTENABLED" val="1"/>
</p:tagLst>
</file>

<file path=ppt/tags/tag279.xml><?xml version="1.0" encoding="utf-8"?>
<p:tagLst xmlns:a="http://schemas.openxmlformats.org/drawingml/2006/main" xmlns:r="http://schemas.openxmlformats.org/officeDocument/2006/relationships" xmlns:p="http://schemas.openxmlformats.org/presentationml/2006/main">
  <p:tag name="BTFPLAYOUTENABLED" val="1"/>
</p:tagLst>
</file>

<file path=ppt/tags/tag280.xml><?xml version="1.0" encoding="utf-8"?>
<p:tagLst xmlns:a="http://schemas.openxmlformats.org/drawingml/2006/main" xmlns:r="http://schemas.openxmlformats.org/officeDocument/2006/relationships" xmlns:p="http://schemas.openxmlformats.org/presentationml/2006/main">
  <p:tag name="BTFPLAYOUTENABLED" val="1"/>
</p:tagLst>
</file>

<file path=ppt/tags/tag281.xml><?xml version="1.0" encoding="utf-8"?>
<p:tagLst xmlns:a="http://schemas.openxmlformats.org/drawingml/2006/main" xmlns:r="http://schemas.openxmlformats.org/officeDocument/2006/relationships" xmlns:p="http://schemas.openxmlformats.org/presentationml/2006/main">
  <p:tag name="BTFPLAYOUTENABLED" val="1"/>
</p:tagLst>
</file>

<file path=ppt/tags/tag28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BTFPLAYOUTENABLED" val="1"/>
</p:tagLst>
</file>

<file path=ppt/tags/tag285.xml><?xml version="1.0" encoding="utf-8"?>
<p:tagLst xmlns:a="http://schemas.openxmlformats.org/drawingml/2006/main" xmlns:r="http://schemas.openxmlformats.org/officeDocument/2006/relationships" xmlns:p="http://schemas.openxmlformats.org/presentationml/2006/main">
  <p:tag name="BTFPLAYOUTENABLED" val="0"/>
</p:tagLst>
</file>

<file path=ppt/tags/tag286.xml><?xml version="1.0" encoding="utf-8"?>
<p:tagLst xmlns:a="http://schemas.openxmlformats.org/drawingml/2006/main" xmlns:r="http://schemas.openxmlformats.org/officeDocument/2006/relationships" xmlns:p="http://schemas.openxmlformats.org/presentationml/2006/main">
  <p:tag name="BTFPLAYOUTENABLED" val="1"/>
</p:tagLst>
</file>

<file path=ppt/tags/tag287.xml><?xml version="1.0" encoding="utf-8"?>
<p:tagLst xmlns:a="http://schemas.openxmlformats.org/drawingml/2006/main" xmlns:r="http://schemas.openxmlformats.org/officeDocument/2006/relationships" xmlns:p="http://schemas.openxmlformats.org/presentationml/2006/main">
  <p:tag name="BTFPLAYOUTENABLED" val="1"/>
</p:tagLst>
</file>

<file path=ppt/tags/tag288.xml><?xml version="1.0" encoding="utf-8"?>
<p:tagLst xmlns:a="http://schemas.openxmlformats.org/drawingml/2006/main" xmlns:r="http://schemas.openxmlformats.org/officeDocument/2006/relationships" xmlns:p="http://schemas.openxmlformats.org/presentationml/2006/main">
  <p:tag name="BTFPLAYOUTENABLED" val="1"/>
</p:tagLst>
</file>

<file path=ppt/tags/tag289.xml><?xml version="1.0" encoding="utf-8"?>
<p:tagLst xmlns:a="http://schemas.openxmlformats.org/drawingml/2006/main" xmlns:r="http://schemas.openxmlformats.org/officeDocument/2006/relationships" xmlns:p="http://schemas.openxmlformats.org/presentationml/2006/main">
  <p:tag name="BTFPLAYOUTENABLED" val="1"/>
</p:tagLst>
</file>

<file path=ppt/tags/tag290.xml><?xml version="1.0" encoding="utf-8"?>
<p:tagLst xmlns:a="http://schemas.openxmlformats.org/drawingml/2006/main" xmlns:r="http://schemas.openxmlformats.org/officeDocument/2006/relationships" xmlns:p="http://schemas.openxmlformats.org/presentationml/2006/main">
  <p:tag name="BTFPLAYOUTENABLED" val="1"/>
</p:tagLst>
</file>

<file path=ppt/tags/tag291.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3.xml><?xml version="1.0" encoding="utf-8"?>
<p:tagLst xmlns:a="http://schemas.openxmlformats.org/drawingml/2006/main" xmlns:r="http://schemas.openxmlformats.org/officeDocument/2006/relationships" xmlns:p="http://schemas.openxmlformats.org/presentationml/2006/main">
  <p:tag name="BTFPLAYOUTENABLED" val="1"/>
</p:tagLst>
</file>

<file path=ppt/tags/tag294.xml><?xml version="1.0" encoding="utf-8"?>
<p:tagLst xmlns:a="http://schemas.openxmlformats.org/drawingml/2006/main" xmlns:r="http://schemas.openxmlformats.org/officeDocument/2006/relationships" xmlns:p="http://schemas.openxmlformats.org/presentationml/2006/main">
  <p:tag name="BTFPLAYOUTENABLED" val="0"/>
</p:tagLst>
</file>

<file path=ppt/tags/tag295.xml><?xml version="1.0" encoding="utf-8"?>
<p:tagLst xmlns:a="http://schemas.openxmlformats.org/drawingml/2006/main" xmlns:r="http://schemas.openxmlformats.org/officeDocument/2006/relationships" xmlns:p="http://schemas.openxmlformats.org/presentationml/2006/main">
  <p:tag name="BTFPLAYOUTENABLED" val="1"/>
</p:tagLst>
</file>

<file path=ppt/tags/tag296.xml><?xml version="1.0" encoding="utf-8"?>
<p:tagLst xmlns:a="http://schemas.openxmlformats.org/drawingml/2006/main" xmlns:r="http://schemas.openxmlformats.org/officeDocument/2006/relationships" xmlns:p="http://schemas.openxmlformats.org/presentationml/2006/main">
  <p:tag name="BTFPLAYOUTENABLED" val="1"/>
</p:tagLst>
</file>

<file path=ppt/tags/tag297.xml><?xml version="1.0" encoding="utf-8"?>
<p:tagLst xmlns:a="http://schemas.openxmlformats.org/drawingml/2006/main" xmlns:r="http://schemas.openxmlformats.org/officeDocument/2006/relationships" xmlns:p="http://schemas.openxmlformats.org/presentationml/2006/main">
  <p:tag name="BTFPLAYOUTENABLED" val="1"/>
</p:tagLst>
</file>

<file path=ppt/tags/tag298.xml><?xml version="1.0" encoding="utf-8"?>
<p:tagLst xmlns:a="http://schemas.openxmlformats.org/drawingml/2006/main" xmlns:r="http://schemas.openxmlformats.org/officeDocument/2006/relationships" xmlns:p="http://schemas.openxmlformats.org/presentationml/2006/main">
  <p:tag name="BTFPLAYOUTENABLED" val="1"/>
</p:tagLst>
</file>

<file path=ppt/tags/tag299.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1.xml><?xml version="1.0" encoding="utf-8"?>
<p:tagLst xmlns:a="http://schemas.openxmlformats.org/drawingml/2006/main" xmlns:r="http://schemas.openxmlformats.org/officeDocument/2006/relationships" xmlns:p="http://schemas.openxmlformats.org/presentationml/2006/main">
  <p:tag name="BTFPLAYOUTENABLED" val="1"/>
</p:tagLst>
</file>

<file path=ppt/tags/tag302.xml><?xml version="1.0" encoding="utf-8"?>
<p:tagLst xmlns:a="http://schemas.openxmlformats.org/drawingml/2006/main" xmlns:r="http://schemas.openxmlformats.org/officeDocument/2006/relationships" xmlns:p="http://schemas.openxmlformats.org/presentationml/2006/main">
  <p:tag name="BTFPLAYOUTENABLED" val="0"/>
</p:tagLst>
</file>

<file path=ppt/tags/tag303.xml><?xml version="1.0" encoding="utf-8"?>
<p:tagLst xmlns:a="http://schemas.openxmlformats.org/drawingml/2006/main" xmlns:r="http://schemas.openxmlformats.org/officeDocument/2006/relationships" xmlns:p="http://schemas.openxmlformats.org/presentationml/2006/main">
  <p:tag name="BTFPLAYOUTENABLED" val="1"/>
</p:tagLst>
</file>

<file path=ppt/tags/tag304.xml><?xml version="1.0" encoding="utf-8"?>
<p:tagLst xmlns:a="http://schemas.openxmlformats.org/drawingml/2006/main" xmlns:r="http://schemas.openxmlformats.org/officeDocument/2006/relationships" xmlns:p="http://schemas.openxmlformats.org/presentationml/2006/main">
  <p:tag name="BTFPLAYOUTENABLED" val="1"/>
</p:tagLst>
</file>

<file path=ppt/tags/tag305.xml><?xml version="1.0" encoding="utf-8"?>
<p:tagLst xmlns:a="http://schemas.openxmlformats.org/drawingml/2006/main" xmlns:r="http://schemas.openxmlformats.org/officeDocument/2006/relationships" xmlns:p="http://schemas.openxmlformats.org/presentationml/2006/main">
  <p:tag name="BTFPLAYOUTENABLED" val="1"/>
</p:tagLst>
</file>

<file path=ppt/tags/tag306.xml><?xml version="1.0" encoding="utf-8"?>
<p:tagLst xmlns:a="http://schemas.openxmlformats.org/drawingml/2006/main" xmlns:r="http://schemas.openxmlformats.org/officeDocument/2006/relationships" xmlns:p="http://schemas.openxmlformats.org/presentationml/2006/main">
  <p:tag name="BTFPLAYOUTENABLED" val="1"/>
</p:tagLst>
</file>

<file path=ppt/tags/tag307.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9.xml><?xml version="1.0" encoding="utf-8"?>
<p:tagLst xmlns:a="http://schemas.openxmlformats.org/drawingml/2006/main" xmlns:r="http://schemas.openxmlformats.org/officeDocument/2006/relationships" xmlns:p="http://schemas.openxmlformats.org/presentationml/2006/main">
  <p:tag name="BTFPLAYOUTENABLED" val="1"/>
</p:tagLst>
</file>

<file path=ppt/tags/tag310.xml><?xml version="1.0" encoding="utf-8"?>
<p:tagLst xmlns:a="http://schemas.openxmlformats.org/drawingml/2006/main" xmlns:r="http://schemas.openxmlformats.org/officeDocument/2006/relationships" xmlns:p="http://schemas.openxmlformats.org/presentationml/2006/main">
  <p:tag name="BTFPLAYOUTENABLED" val="0"/>
</p:tagLst>
</file>

<file path=ppt/tags/tag311.xml><?xml version="1.0" encoding="utf-8"?>
<p:tagLst xmlns:a="http://schemas.openxmlformats.org/drawingml/2006/main" xmlns:r="http://schemas.openxmlformats.org/officeDocument/2006/relationships" xmlns:p="http://schemas.openxmlformats.org/presentationml/2006/main">
  <p:tag name="BTFPLAYOUTENABLED" val="1"/>
</p:tagLst>
</file>

<file path=ppt/tags/tag312.xml><?xml version="1.0" encoding="utf-8"?>
<p:tagLst xmlns:a="http://schemas.openxmlformats.org/drawingml/2006/main" xmlns:r="http://schemas.openxmlformats.org/officeDocument/2006/relationships" xmlns:p="http://schemas.openxmlformats.org/presentationml/2006/main">
  <p:tag name="BTFPLAYOUTENABLED" val="1"/>
</p:tagLst>
</file>

<file path=ppt/tags/tag313.xml><?xml version="1.0" encoding="utf-8"?>
<p:tagLst xmlns:a="http://schemas.openxmlformats.org/drawingml/2006/main" xmlns:r="http://schemas.openxmlformats.org/officeDocument/2006/relationships" xmlns:p="http://schemas.openxmlformats.org/presentationml/2006/main">
  <p:tag name="BTFPLAYOUTENABLED" val="1"/>
</p:tagLst>
</file>

<file path=ppt/tags/tag314.xml><?xml version="1.0" encoding="utf-8"?>
<p:tagLst xmlns:a="http://schemas.openxmlformats.org/drawingml/2006/main" xmlns:r="http://schemas.openxmlformats.org/officeDocument/2006/relationships" xmlns:p="http://schemas.openxmlformats.org/presentationml/2006/main">
  <p:tag name="BTFPLAYOUTENABLED" val="1"/>
</p:tagLst>
</file>

<file path=ppt/tags/tag315.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7.xml><?xml version="1.0" encoding="utf-8"?>
<p:tagLst xmlns:a="http://schemas.openxmlformats.org/drawingml/2006/main" xmlns:r="http://schemas.openxmlformats.org/officeDocument/2006/relationships" xmlns:p="http://schemas.openxmlformats.org/presentationml/2006/main">
  <p:tag name="BTFPLAYOUTENABLED" val="1"/>
</p:tagLst>
</file>

<file path=ppt/tags/tag318.xml><?xml version="1.0" encoding="utf-8"?>
<p:tagLst xmlns:a="http://schemas.openxmlformats.org/drawingml/2006/main" xmlns:r="http://schemas.openxmlformats.org/officeDocument/2006/relationships" xmlns:p="http://schemas.openxmlformats.org/presentationml/2006/main">
  <p:tag name="BTFPLAYOUTENABLED" val="0"/>
</p:tagLst>
</file>

<file path=ppt/tags/tag319.xml><?xml version="1.0" encoding="utf-8"?>
<p:tagLst xmlns:a="http://schemas.openxmlformats.org/drawingml/2006/main" xmlns:r="http://schemas.openxmlformats.org/officeDocument/2006/relationships" xmlns:p="http://schemas.openxmlformats.org/presentationml/2006/main">
  <p:tag name="BTFPLAYOUTENABLED" val="1"/>
</p:tagLst>
</file>

<file path=ppt/tags/tag320.xml><?xml version="1.0" encoding="utf-8"?>
<p:tagLst xmlns:a="http://schemas.openxmlformats.org/drawingml/2006/main" xmlns:r="http://schemas.openxmlformats.org/officeDocument/2006/relationships" xmlns:p="http://schemas.openxmlformats.org/presentationml/2006/main">
  <p:tag name="BTFPLAYOUTENABLED" val="1"/>
</p:tagLst>
</file>

<file path=ppt/tags/tag321.xml><?xml version="1.0" encoding="utf-8"?>
<p:tagLst xmlns:a="http://schemas.openxmlformats.org/drawingml/2006/main" xmlns:r="http://schemas.openxmlformats.org/officeDocument/2006/relationships" xmlns:p="http://schemas.openxmlformats.org/presentationml/2006/main">
  <p:tag name="BTFPLAYOUTENABLED" val="1"/>
</p:tagLst>
</file>

<file path=ppt/tags/tag322.xml><?xml version="1.0" encoding="utf-8"?>
<p:tagLst xmlns:a="http://schemas.openxmlformats.org/drawingml/2006/main" xmlns:r="http://schemas.openxmlformats.org/officeDocument/2006/relationships" xmlns:p="http://schemas.openxmlformats.org/presentationml/2006/main">
  <p:tag name="BTFPLAYOUTENABLED" val="1"/>
</p:tagLst>
</file>

<file path=ppt/tags/tag323.xml><?xml version="1.0" encoding="utf-8"?>
<p:tagLst xmlns:a="http://schemas.openxmlformats.org/drawingml/2006/main" xmlns:r="http://schemas.openxmlformats.org/officeDocument/2006/relationships" xmlns:p="http://schemas.openxmlformats.org/presentationml/2006/main">
  <p:tag name="BTFPLAYOUTENABLED" val="1"/>
</p:tagLst>
</file>

<file path=ppt/tags/tag324.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6.xml><?xml version="1.0" encoding="utf-8"?>
<p:tagLst xmlns:a="http://schemas.openxmlformats.org/drawingml/2006/main" xmlns:r="http://schemas.openxmlformats.org/officeDocument/2006/relationships" xmlns:p="http://schemas.openxmlformats.org/presentationml/2006/main">
  <p:tag name="BTFPLAYOUTENABLED" val="1"/>
</p:tagLst>
</file>

<file path=ppt/tags/tag327.xml><?xml version="1.0" encoding="utf-8"?>
<p:tagLst xmlns:a="http://schemas.openxmlformats.org/drawingml/2006/main" xmlns:r="http://schemas.openxmlformats.org/officeDocument/2006/relationships" xmlns:p="http://schemas.openxmlformats.org/presentationml/2006/main">
  <p:tag name="BTFPLAYOUTENABLED" val="0"/>
</p:tagLst>
</file>

<file path=ppt/tags/tag328.xml><?xml version="1.0" encoding="utf-8"?>
<p:tagLst xmlns:a="http://schemas.openxmlformats.org/drawingml/2006/main" xmlns:r="http://schemas.openxmlformats.org/officeDocument/2006/relationships" xmlns:p="http://schemas.openxmlformats.org/presentationml/2006/main">
  <p:tag name="BTFPLAYOUTENABLED" val="1"/>
</p:tagLst>
</file>

<file path=ppt/tags/tag329.xml><?xml version="1.0" encoding="utf-8"?>
<p:tagLst xmlns:a="http://schemas.openxmlformats.org/drawingml/2006/main" xmlns:r="http://schemas.openxmlformats.org/officeDocument/2006/relationships" xmlns:p="http://schemas.openxmlformats.org/presentationml/2006/main">
  <p:tag name="BTFPLAYOUTENABLED" val="1"/>
</p:tagLst>
</file>

<file path=ppt/tags/tag330.xml><?xml version="1.0" encoding="utf-8"?>
<p:tagLst xmlns:a="http://schemas.openxmlformats.org/drawingml/2006/main" xmlns:r="http://schemas.openxmlformats.org/officeDocument/2006/relationships" xmlns:p="http://schemas.openxmlformats.org/presentationml/2006/main">
  <p:tag name="BTFPLAYOUTENABLED" val="1"/>
</p:tagLst>
</file>

<file path=ppt/tags/tag331.xml><?xml version="1.0" encoding="utf-8"?>
<p:tagLst xmlns:a="http://schemas.openxmlformats.org/drawingml/2006/main" xmlns:r="http://schemas.openxmlformats.org/officeDocument/2006/relationships" xmlns:p="http://schemas.openxmlformats.org/presentationml/2006/main">
  <p:tag name="BTFPLAYOUTENABLED" val="1"/>
</p:tagLst>
</file>

<file path=ppt/tags/tag33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4.xml><?xml version="1.0" encoding="utf-8"?>
<p:tagLst xmlns:a="http://schemas.openxmlformats.org/drawingml/2006/main" xmlns:r="http://schemas.openxmlformats.org/officeDocument/2006/relationships" xmlns:p="http://schemas.openxmlformats.org/presentationml/2006/main">
  <p:tag name="BTFPLAYOUTENABLED" val="1"/>
</p:tagLst>
</file>

<file path=ppt/tags/tag335.xml><?xml version="1.0" encoding="utf-8"?>
<p:tagLst xmlns:a="http://schemas.openxmlformats.org/drawingml/2006/main" xmlns:r="http://schemas.openxmlformats.org/officeDocument/2006/relationships" xmlns:p="http://schemas.openxmlformats.org/presentationml/2006/main">
  <p:tag name="BTFPLAYOUTENABLED" val="0"/>
</p:tagLst>
</file>

<file path=ppt/tags/tag336.xml><?xml version="1.0" encoding="utf-8"?>
<p:tagLst xmlns:a="http://schemas.openxmlformats.org/drawingml/2006/main" xmlns:r="http://schemas.openxmlformats.org/officeDocument/2006/relationships" xmlns:p="http://schemas.openxmlformats.org/presentationml/2006/main">
  <p:tag name="BTFPLAYOUTENABLED" val="1"/>
</p:tagLst>
</file>

<file path=ppt/tags/tag337.xml><?xml version="1.0" encoding="utf-8"?>
<p:tagLst xmlns:a="http://schemas.openxmlformats.org/drawingml/2006/main" xmlns:r="http://schemas.openxmlformats.org/officeDocument/2006/relationships" xmlns:p="http://schemas.openxmlformats.org/presentationml/2006/main">
  <p:tag name="BTFPLAYOUTENABLED" val="1"/>
</p:tagLst>
</file>

<file path=ppt/tags/tag338.xml><?xml version="1.0" encoding="utf-8"?>
<p:tagLst xmlns:a="http://schemas.openxmlformats.org/drawingml/2006/main" xmlns:r="http://schemas.openxmlformats.org/officeDocument/2006/relationships" xmlns:p="http://schemas.openxmlformats.org/presentationml/2006/main">
  <p:tag name="BTFPLAYOUTENABLED" val="1"/>
</p:tagLst>
</file>

<file path=ppt/tags/tag339.xml><?xml version="1.0" encoding="utf-8"?>
<p:tagLst xmlns:a="http://schemas.openxmlformats.org/drawingml/2006/main" xmlns:r="http://schemas.openxmlformats.org/officeDocument/2006/relationships" xmlns:p="http://schemas.openxmlformats.org/presentationml/2006/main">
  <p:tag name="BTFPLAYOUTENABLED" val="1"/>
</p:tagLst>
</file>

<file path=ppt/tags/tag340.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3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2.xml><?xml version="1.0" encoding="utf-8"?>
<p:tagLst xmlns:a="http://schemas.openxmlformats.org/drawingml/2006/main" xmlns:r="http://schemas.openxmlformats.org/officeDocument/2006/relationships" xmlns:p="http://schemas.openxmlformats.org/presentationml/2006/main">
  <p:tag name="BTFPLAYOUTENABLED" val="1"/>
</p:tagLst>
</file>

<file path=ppt/tags/tag343.xml><?xml version="1.0" encoding="utf-8"?>
<p:tagLst xmlns:a="http://schemas.openxmlformats.org/drawingml/2006/main" xmlns:r="http://schemas.openxmlformats.org/officeDocument/2006/relationships" xmlns:p="http://schemas.openxmlformats.org/presentationml/2006/main">
  <p:tag name="BTFPLAYOUTENABLED" val="0"/>
</p:tagLst>
</file>

<file path=ppt/tags/tag344.xml><?xml version="1.0" encoding="utf-8"?>
<p:tagLst xmlns:a="http://schemas.openxmlformats.org/drawingml/2006/main" xmlns:r="http://schemas.openxmlformats.org/officeDocument/2006/relationships" xmlns:p="http://schemas.openxmlformats.org/presentationml/2006/main">
  <p:tag name="BTFPLAYOUTENABLED" val="1"/>
</p:tagLst>
</file>

<file path=ppt/tags/tag345.xml><?xml version="1.0" encoding="utf-8"?>
<p:tagLst xmlns:a="http://schemas.openxmlformats.org/drawingml/2006/main" xmlns:r="http://schemas.openxmlformats.org/officeDocument/2006/relationships" xmlns:p="http://schemas.openxmlformats.org/presentationml/2006/main">
  <p:tag name="BTFPLAYOUTENABLED" val="1"/>
</p:tagLst>
</file>

<file path=ppt/tags/tag346.xml><?xml version="1.0" encoding="utf-8"?>
<p:tagLst xmlns:a="http://schemas.openxmlformats.org/drawingml/2006/main" xmlns:r="http://schemas.openxmlformats.org/officeDocument/2006/relationships" xmlns:p="http://schemas.openxmlformats.org/presentationml/2006/main">
  <p:tag name="BTFPLAYOUTENABLED" val="1"/>
</p:tagLst>
</file>

<file path=ppt/tags/tag347.xml><?xml version="1.0" encoding="utf-8"?>
<p:tagLst xmlns:a="http://schemas.openxmlformats.org/drawingml/2006/main" xmlns:r="http://schemas.openxmlformats.org/officeDocument/2006/relationships" xmlns:p="http://schemas.openxmlformats.org/presentationml/2006/main">
  <p:tag name="BTFPLAYOUTENABLED" val="1"/>
</p:tagLst>
</file>

<file path=ppt/tags/tag348.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0.xml><?xml version="1.0" encoding="utf-8"?>
<p:tagLst xmlns:a="http://schemas.openxmlformats.org/drawingml/2006/main" xmlns:r="http://schemas.openxmlformats.org/officeDocument/2006/relationships" xmlns:p="http://schemas.openxmlformats.org/presentationml/2006/main">
  <p:tag name="BTFPLAYOUTENABLED" val="1"/>
</p:tagLst>
</file>

<file path=ppt/tags/tag351.xml><?xml version="1.0" encoding="utf-8"?>
<p:tagLst xmlns:a="http://schemas.openxmlformats.org/drawingml/2006/main" xmlns:r="http://schemas.openxmlformats.org/officeDocument/2006/relationships" xmlns:p="http://schemas.openxmlformats.org/presentationml/2006/main">
  <p:tag name="BTFPLAYOUTENABLED" val="0"/>
</p:tagLst>
</file>

<file path=ppt/tags/tag352.xml><?xml version="1.0" encoding="utf-8"?>
<p:tagLst xmlns:a="http://schemas.openxmlformats.org/drawingml/2006/main" xmlns:r="http://schemas.openxmlformats.org/officeDocument/2006/relationships" xmlns:p="http://schemas.openxmlformats.org/presentationml/2006/main">
  <p:tag name="BTFPLAYOUTENABLED" val="1"/>
</p:tagLst>
</file>

<file path=ppt/tags/tag353.xml><?xml version="1.0" encoding="utf-8"?>
<p:tagLst xmlns:a="http://schemas.openxmlformats.org/drawingml/2006/main" xmlns:r="http://schemas.openxmlformats.org/officeDocument/2006/relationships" xmlns:p="http://schemas.openxmlformats.org/presentationml/2006/main">
  <p:tag name="BTFPLAYOUTENABLED" val="1"/>
</p:tagLst>
</file>

<file path=ppt/tags/tag354.xml><?xml version="1.0" encoding="utf-8"?>
<p:tagLst xmlns:a="http://schemas.openxmlformats.org/drawingml/2006/main" xmlns:r="http://schemas.openxmlformats.org/officeDocument/2006/relationships" xmlns:p="http://schemas.openxmlformats.org/presentationml/2006/main">
  <p:tag name="BTFPLAYOUTENABLED" val="1"/>
</p:tagLst>
</file>

<file path=ppt/tags/tag355.xml><?xml version="1.0" encoding="utf-8"?>
<p:tagLst xmlns:a="http://schemas.openxmlformats.org/drawingml/2006/main" xmlns:r="http://schemas.openxmlformats.org/officeDocument/2006/relationships" xmlns:p="http://schemas.openxmlformats.org/presentationml/2006/main">
  <p:tag name="BTFPLAYOUTENABLED" val="1"/>
</p:tagLst>
</file>

<file path=ppt/tags/tag356.xml><?xml version="1.0" encoding="utf-8"?>
<p:tagLst xmlns:a="http://schemas.openxmlformats.org/drawingml/2006/main" xmlns:r="http://schemas.openxmlformats.org/officeDocument/2006/relationships" xmlns:p="http://schemas.openxmlformats.org/presentationml/2006/main">
  <p:tag name="BTFPLAYOUTCOLUMNS" val="2"/>
  <p:tag name="BTFPLAYOUTENABLED" val="1"/>
</p:tagLst>
</file>

<file path=ppt/tags/tag3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8.xml><?xml version="1.0" encoding="utf-8"?>
<p:tagLst xmlns:a="http://schemas.openxmlformats.org/drawingml/2006/main" xmlns:r="http://schemas.openxmlformats.org/officeDocument/2006/relationships" xmlns:p="http://schemas.openxmlformats.org/presentationml/2006/main">
  <p:tag name="BTFPLAYOUTENABLED" val="1"/>
</p:tagLst>
</file>

<file path=ppt/tags/tag359.xml><?xml version="1.0" encoding="utf-8"?>
<p:tagLst xmlns:a="http://schemas.openxmlformats.org/drawingml/2006/main" xmlns:r="http://schemas.openxmlformats.org/officeDocument/2006/relationships" xmlns:p="http://schemas.openxmlformats.org/presentationml/2006/main">
  <p:tag name="BTFPLAYOUTENABLED" val="0"/>
</p:tagLst>
</file>

<file path=ppt/tags/tag360.xml><?xml version="1.0" encoding="utf-8"?>
<p:tagLst xmlns:a="http://schemas.openxmlformats.org/drawingml/2006/main" xmlns:r="http://schemas.openxmlformats.org/officeDocument/2006/relationships" xmlns:p="http://schemas.openxmlformats.org/presentationml/2006/main">
  <p:tag name="BTFPLAYOUTENABLED" val="1"/>
</p:tagLst>
</file>

<file path=ppt/tags/tag361.xml><?xml version="1.0" encoding="utf-8"?>
<p:tagLst xmlns:a="http://schemas.openxmlformats.org/drawingml/2006/main" xmlns:r="http://schemas.openxmlformats.org/officeDocument/2006/relationships" xmlns:p="http://schemas.openxmlformats.org/presentationml/2006/main">
  <p:tag name="BTFPLAYOUTENABLED" val="1"/>
</p:tagLst>
</file>

<file path=ppt/tags/tag362.xml><?xml version="1.0" encoding="utf-8"?>
<p:tagLst xmlns:a="http://schemas.openxmlformats.org/drawingml/2006/main" xmlns:r="http://schemas.openxmlformats.org/officeDocument/2006/relationships" xmlns:p="http://schemas.openxmlformats.org/presentationml/2006/main">
  <p:tag name="BTFPLAYOUTENABLED" val="1"/>
</p:tagLst>
</file>

<file path=ppt/tags/tag363.xml><?xml version="1.0" encoding="utf-8"?>
<p:tagLst xmlns:a="http://schemas.openxmlformats.org/drawingml/2006/main" xmlns:r="http://schemas.openxmlformats.org/officeDocument/2006/relationships" xmlns:p="http://schemas.openxmlformats.org/presentationml/2006/main">
  <p:tag name="BTFPLAYOUTENABLED" val="1"/>
</p:tagLst>
</file>

<file path=ppt/tags/tag364.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6.xml><?xml version="1.0" encoding="utf-8"?>
<p:tagLst xmlns:a="http://schemas.openxmlformats.org/drawingml/2006/main" xmlns:r="http://schemas.openxmlformats.org/officeDocument/2006/relationships" xmlns:p="http://schemas.openxmlformats.org/presentationml/2006/main">
  <p:tag name="BTFPLAYOUTENABLED" val="1"/>
</p:tagLst>
</file>

<file path=ppt/tags/tag367.xml><?xml version="1.0" encoding="utf-8"?>
<p:tagLst xmlns:a="http://schemas.openxmlformats.org/drawingml/2006/main" xmlns:r="http://schemas.openxmlformats.org/officeDocument/2006/relationships" xmlns:p="http://schemas.openxmlformats.org/presentationml/2006/main">
  <p:tag name="BTFPLAYOUTENABLED" val="0"/>
</p:tagLst>
</file>

<file path=ppt/tags/tag368.xml><?xml version="1.0" encoding="utf-8"?>
<p:tagLst xmlns:a="http://schemas.openxmlformats.org/drawingml/2006/main" xmlns:r="http://schemas.openxmlformats.org/officeDocument/2006/relationships" xmlns:p="http://schemas.openxmlformats.org/presentationml/2006/main">
  <p:tag name="BTFPLAYOUTENABLED" val="1"/>
</p:tagLst>
</file>

<file path=ppt/tags/tag369.xml><?xml version="1.0" encoding="utf-8"?>
<p:tagLst xmlns:a="http://schemas.openxmlformats.org/drawingml/2006/main" xmlns:r="http://schemas.openxmlformats.org/officeDocument/2006/relationships" xmlns:p="http://schemas.openxmlformats.org/presentationml/2006/main">
  <p:tag name="BTFPLAYOUTENABLED" val="1"/>
</p:tagLst>
</file>

<file path=ppt/tags/tag370.xml><?xml version="1.0" encoding="utf-8"?>
<p:tagLst xmlns:a="http://schemas.openxmlformats.org/drawingml/2006/main" xmlns:r="http://schemas.openxmlformats.org/officeDocument/2006/relationships" xmlns:p="http://schemas.openxmlformats.org/presentationml/2006/main">
  <p:tag name="BTFPLAYOUTENABLED" val="1"/>
</p:tagLst>
</file>

<file path=ppt/tags/tag371.xml><?xml version="1.0" encoding="utf-8"?>
<p:tagLst xmlns:a="http://schemas.openxmlformats.org/drawingml/2006/main" xmlns:r="http://schemas.openxmlformats.org/officeDocument/2006/relationships" xmlns:p="http://schemas.openxmlformats.org/presentationml/2006/main">
  <p:tag name="BTFPLAYOUTENABLED" val="1"/>
</p:tagLst>
</file>

<file path=ppt/tags/tag37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4.xml><?xml version="1.0" encoding="utf-8"?>
<p:tagLst xmlns:a="http://schemas.openxmlformats.org/drawingml/2006/main" xmlns:r="http://schemas.openxmlformats.org/officeDocument/2006/relationships" xmlns:p="http://schemas.openxmlformats.org/presentationml/2006/main">
  <p:tag name="BTFPLAYOUTENABLED" val="1"/>
</p:tagLst>
</file>

<file path=ppt/tags/tag375.xml><?xml version="1.0" encoding="utf-8"?>
<p:tagLst xmlns:a="http://schemas.openxmlformats.org/drawingml/2006/main" xmlns:r="http://schemas.openxmlformats.org/officeDocument/2006/relationships" xmlns:p="http://schemas.openxmlformats.org/presentationml/2006/main">
  <p:tag name="BTFPLAYOUTENABLED" val="0"/>
</p:tagLst>
</file>

<file path=ppt/tags/tag376.xml><?xml version="1.0" encoding="utf-8"?>
<p:tagLst xmlns:a="http://schemas.openxmlformats.org/drawingml/2006/main" xmlns:r="http://schemas.openxmlformats.org/officeDocument/2006/relationships" xmlns:p="http://schemas.openxmlformats.org/presentationml/2006/main">
  <p:tag name="BTFPLAYOUTENABLED" val="1"/>
</p:tagLst>
</file>

<file path=ppt/tags/tag377.xml><?xml version="1.0" encoding="utf-8"?>
<p:tagLst xmlns:a="http://schemas.openxmlformats.org/drawingml/2006/main" xmlns:r="http://schemas.openxmlformats.org/officeDocument/2006/relationships" xmlns:p="http://schemas.openxmlformats.org/presentationml/2006/main">
  <p:tag name="BTFPLAYOUTENABLED" val="1"/>
</p:tagLst>
</file>

<file path=ppt/tags/tag378.xml><?xml version="1.0" encoding="utf-8"?>
<p:tagLst xmlns:a="http://schemas.openxmlformats.org/drawingml/2006/main" xmlns:r="http://schemas.openxmlformats.org/officeDocument/2006/relationships" xmlns:p="http://schemas.openxmlformats.org/presentationml/2006/main">
  <p:tag name="BTFPLAYOUTENABLED" val="1"/>
</p:tagLst>
</file>

<file path=ppt/tags/tag379.xml><?xml version="1.0" encoding="utf-8"?>
<p:tagLst xmlns:a="http://schemas.openxmlformats.org/drawingml/2006/main" xmlns:r="http://schemas.openxmlformats.org/officeDocument/2006/relationships" xmlns:p="http://schemas.openxmlformats.org/presentationml/2006/main">
  <p:tag name="BTFPLAYOUTENABLED" val="0"/>
</p:tagLst>
</file>

<file path=ppt/tags/tag380.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2.xml><?xml version="1.0" encoding="utf-8"?>
<p:tagLst xmlns:a="http://schemas.openxmlformats.org/drawingml/2006/main" xmlns:r="http://schemas.openxmlformats.org/officeDocument/2006/relationships" xmlns:p="http://schemas.openxmlformats.org/presentationml/2006/main">
  <p:tag name="BTFPLAYOUTENABLED" val="1"/>
</p:tagLst>
</file>

<file path=ppt/tags/tag383.xml><?xml version="1.0" encoding="utf-8"?>
<p:tagLst xmlns:a="http://schemas.openxmlformats.org/drawingml/2006/main" xmlns:r="http://schemas.openxmlformats.org/officeDocument/2006/relationships" xmlns:p="http://schemas.openxmlformats.org/presentationml/2006/main">
  <p:tag name="BTFPLAYOUTENABLED" val="0"/>
</p:tagLst>
</file>

<file path=ppt/tags/tag384.xml><?xml version="1.0" encoding="utf-8"?>
<p:tagLst xmlns:a="http://schemas.openxmlformats.org/drawingml/2006/main" xmlns:r="http://schemas.openxmlformats.org/officeDocument/2006/relationships" xmlns:p="http://schemas.openxmlformats.org/presentationml/2006/main">
  <p:tag name="BTFPLAYOUTENABLED" val="1"/>
</p:tagLst>
</file>

<file path=ppt/tags/tag385.xml><?xml version="1.0" encoding="utf-8"?>
<p:tagLst xmlns:a="http://schemas.openxmlformats.org/drawingml/2006/main" xmlns:r="http://schemas.openxmlformats.org/officeDocument/2006/relationships" xmlns:p="http://schemas.openxmlformats.org/presentationml/2006/main">
  <p:tag name="BTFPLAYOUTENABLED" val="1"/>
</p:tagLst>
</file>

<file path=ppt/tags/tag386.xml><?xml version="1.0" encoding="utf-8"?>
<p:tagLst xmlns:a="http://schemas.openxmlformats.org/drawingml/2006/main" xmlns:r="http://schemas.openxmlformats.org/officeDocument/2006/relationships" xmlns:p="http://schemas.openxmlformats.org/presentationml/2006/main">
  <p:tag name="BTFPLAYOUTENABLED" val="1"/>
</p:tagLst>
</file>

<file path=ppt/tags/tag387.xml><?xml version="1.0" encoding="utf-8"?>
<p:tagLst xmlns:a="http://schemas.openxmlformats.org/drawingml/2006/main" xmlns:r="http://schemas.openxmlformats.org/officeDocument/2006/relationships" xmlns:p="http://schemas.openxmlformats.org/presentationml/2006/main">
  <p:tag name="BTFPLAYOUTENABLED" val="1"/>
</p:tagLst>
</file>

<file path=ppt/tags/tag388.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0.xml><?xml version="1.0" encoding="utf-8"?>
<p:tagLst xmlns:a="http://schemas.openxmlformats.org/drawingml/2006/main" xmlns:r="http://schemas.openxmlformats.org/officeDocument/2006/relationships" xmlns:p="http://schemas.openxmlformats.org/presentationml/2006/main">
  <p:tag name="BTFPLAYOUTENABLED" val="1"/>
</p:tagLst>
</file>

<file path=ppt/tags/tag391.xml><?xml version="1.0" encoding="utf-8"?>
<p:tagLst xmlns:a="http://schemas.openxmlformats.org/drawingml/2006/main" xmlns:r="http://schemas.openxmlformats.org/officeDocument/2006/relationships" xmlns:p="http://schemas.openxmlformats.org/presentationml/2006/main">
  <p:tag name="BTFPLAYOUTENABLED" val="0"/>
</p:tagLst>
</file>

<file path=ppt/tags/tag392.xml><?xml version="1.0" encoding="utf-8"?>
<p:tagLst xmlns:a="http://schemas.openxmlformats.org/drawingml/2006/main" xmlns:r="http://schemas.openxmlformats.org/officeDocument/2006/relationships" xmlns:p="http://schemas.openxmlformats.org/presentationml/2006/main">
  <p:tag name="BTFPLAYOUTENABLED" val="1"/>
</p:tagLst>
</file>

<file path=ppt/tags/tag393.xml><?xml version="1.0" encoding="utf-8"?>
<p:tagLst xmlns:a="http://schemas.openxmlformats.org/drawingml/2006/main" xmlns:r="http://schemas.openxmlformats.org/officeDocument/2006/relationships" xmlns:p="http://schemas.openxmlformats.org/presentationml/2006/main">
  <p:tag name="BTFPLAYOUTENABLED" val="1"/>
</p:tagLst>
</file>

<file path=ppt/tags/tag394.xml><?xml version="1.0" encoding="utf-8"?>
<p:tagLst xmlns:a="http://schemas.openxmlformats.org/drawingml/2006/main" xmlns:r="http://schemas.openxmlformats.org/officeDocument/2006/relationships" xmlns:p="http://schemas.openxmlformats.org/presentationml/2006/main">
  <p:tag name="BTFPLAYOUTENABLED" val="1"/>
</p:tagLst>
</file>

<file path=ppt/tags/tag395.xml><?xml version="1.0" encoding="utf-8"?>
<p:tagLst xmlns:a="http://schemas.openxmlformats.org/drawingml/2006/main" xmlns:r="http://schemas.openxmlformats.org/officeDocument/2006/relationships" xmlns:p="http://schemas.openxmlformats.org/presentationml/2006/main">
  <p:tag name="BTFPLAYOUTENABLED" val="1"/>
</p:tagLst>
</file>

<file path=ppt/tags/tag396.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BTFPLAYOUTENABLED" val="1"/>
</p:tagLst>
</file>

<file path=ppt/tags/tag399.xml><?xml version="1.0" encoding="utf-8"?>
<p:tagLst xmlns:a="http://schemas.openxmlformats.org/drawingml/2006/main" xmlns:r="http://schemas.openxmlformats.org/officeDocument/2006/relationships" xmlns:p="http://schemas.openxmlformats.org/presentationml/2006/main">
  <p:tag name="BTFPLAYOUTENABLED" val="0"/>
</p:tagLst>
</file>

<file path=ppt/tags/tag400.xml><?xml version="1.0" encoding="utf-8"?>
<p:tagLst xmlns:a="http://schemas.openxmlformats.org/drawingml/2006/main" xmlns:r="http://schemas.openxmlformats.org/officeDocument/2006/relationships" xmlns:p="http://schemas.openxmlformats.org/presentationml/2006/main">
  <p:tag name="BTFPLAYOUTENABLED" val="1"/>
</p:tagLst>
</file>

<file path=ppt/tags/tag401.xml><?xml version="1.0" encoding="utf-8"?>
<p:tagLst xmlns:a="http://schemas.openxmlformats.org/drawingml/2006/main" xmlns:r="http://schemas.openxmlformats.org/officeDocument/2006/relationships" xmlns:p="http://schemas.openxmlformats.org/presentationml/2006/main">
  <p:tag name="BTFPLAYOUTENABLED" val="1"/>
</p:tagLst>
</file>

<file path=ppt/tags/tag402.xml><?xml version="1.0" encoding="utf-8"?>
<p:tagLst xmlns:a="http://schemas.openxmlformats.org/drawingml/2006/main" xmlns:r="http://schemas.openxmlformats.org/officeDocument/2006/relationships" xmlns:p="http://schemas.openxmlformats.org/presentationml/2006/main">
  <p:tag name="BTFPLAYOUTENABLED" val="1"/>
</p:tagLst>
</file>

<file path=ppt/tags/tag403.xml><?xml version="1.0" encoding="utf-8"?>
<p:tagLst xmlns:a="http://schemas.openxmlformats.org/drawingml/2006/main" xmlns:r="http://schemas.openxmlformats.org/officeDocument/2006/relationships" xmlns:p="http://schemas.openxmlformats.org/presentationml/2006/main">
  <p:tag name="BTFPLAYOUTENABLED" val="1"/>
</p:tagLst>
</file>

<file path=ppt/tags/tag404.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4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6.xml><?xml version="1.0" encoding="utf-8"?>
<p:tagLst xmlns:a="http://schemas.openxmlformats.org/drawingml/2006/main" xmlns:r="http://schemas.openxmlformats.org/officeDocument/2006/relationships" xmlns:p="http://schemas.openxmlformats.org/presentationml/2006/main">
  <p:tag name="BTFPLAYOUTENABLED" val="1"/>
</p:tagLst>
</file>

<file path=ppt/tags/tag407.xml><?xml version="1.0" encoding="utf-8"?>
<p:tagLst xmlns:a="http://schemas.openxmlformats.org/drawingml/2006/main" xmlns:r="http://schemas.openxmlformats.org/officeDocument/2006/relationships" xmlns:p="http://schemas.openxmlformats.org/presentationml/2006/main">
  <p:tag name="BTFPLAYOUTENABLED" val="0"/>
</p:tagLst>
</file>

<file path=ppt/tags/tag408.xml><?xml version="1.0" encoding="utf-8"?>
<p:tagLst xmlns:a="http://schemas.openxmlformats.org/drawingml/2006/main" xmlns:r="http://schemas.openxmlformats.org/officeDocument/2006/relationships" xmlns:p="http://schemas.openxmlformats.org/presentationml/2006/main">
  <p:tag name="BTFPLAYOUTENABLED" val="1"/>
</p:tagLst>
</file>

<file path=ppt/tags/tag409.xml><?xml version="1.0" encoding="utf-8"?>
<p:tagLst xmlns:a="http://schemas.openxmlformats.org/drawingml/2006/main" xmlns:r="http://schemas.openxmlformats.org/officeDocument/2006/relationships" xmlns:p="http://schemas.openxmlformats.org/presentationml/2006/main">
  <p:tag name="BTFPLAYOUTENABLED" val="1"/>
</p:tagLst>
</file>

<file path=ppt/tags/tag410.xml><?xml version="1.0" encoding="utf-8"?>
<p:tagLst xmlns:a="http://schemas.openxmlformats.org/drawingml/2006/main" xmlns:r="http://schemas.openxmlformats.org/officeDocument/2006/relationships" xmlns:p="http://schemas.openxmlformats.org/presentationml/2006/main">
  <p:tag name="BTFPLAYOUTENABLED" val="1"/>
</p:tagLst>
</file>

<file path=ppt/tags/tag411.xml><?xml version="1.0" encoding="utf-8"?>
<p:tagLst xmlns:a="http://schemas.openxmlformats.org/drawingml/2006/main" xmlns:r="http://schemas.openxmlformats.org/officeDocument/2006/relationships" xmlns:p="http://schemas.openxmlformats.org/presentationml/2006/main">
  <p:tag name="BTFPLAYOUTENABLED" val="1"/>
</p:tagLst>
</file>

<file path=ppt/tags/tag412.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4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4.xml><?xml version="1.0" encoding="utf-8"?>
<p:tagLst xmlns:a="http://schemas.openxmlformats.org/drawingml/2006/main" xmlns:r="http://schemas.openxmlformats.org/officeDocument/2006/relationships" xmlns:p="http://schemas.openxmlformats.org/presentationml/2006/main">
  <p:tag name="BTFPLAYOUTENABLED" val="1"/>
</p:tagLst>
</file>

<file path=ppt/tags/tag415.xml><?xml version="1.0" encoding="utf-8"?>
<p:tagLst xmlns:a="http://schemas.openxmlformats.org/drawingml/2006/main" xmlns:r="http://schemas.openxmlformats.org/officeDocument/2006/relationships" xmlns:p="http://schemas.openxmlformats.org/presentationml/2006/main">
  <p:tag name="BTFPLAYOUTENABLED" val="0"/>
</p:tagLst>
</file>

<file path=ppt/tags/tag416.xml><?xml version="1.0" encoding="utf-8"?>
<p:tagLst xmlns:a="http://schemas.openxmlformats.org/drawingml/2006/main" xmlns:r="http://schemas.openxmlformats.org/officeDocument/2006/relationships" xmlns:p="http://schemas.openxmlformats.org/presentationml/2006/main">
  <p:tag name="BTFPLAYOUTENABLED" val="1"/>
</p:tagLst>
</file>

<file path=ppt/tags/tag417.xml><?xml version="1.0" encoding="utf-8"?>
<p:tagLst xmlns:a="http://schemas.openxmlformats.org/drawingml/2006/main" xmlns:r="http://schemas.openxmlformats.org/officeDocument/2006/relationships" xmlns:p="http://schemas.openxmlformats.org/presentationml/2006/main">
  <p:tag name="BTFPLAYOUTENABLED" val="1"/>
</p:tagLst>
</file>

<file path=ppt/tags/tag418.xml><?xml version="1.0" encoding="utf-8"?>
<p:tagLst xmlns:a="http://schemas.openxmlformats.org/drawingml/2006/main" xmlns:r="http://schemas.openxmlformats.org/officeDocument/2006/relationships" xmlns:p="http://schemas.openxmlformats.org/presentationml/2006/main">
  <p:tag name="BTFPLAYOUTENABLED" val="1"/>
</p:tagLst>
</file>

<file path=ppt/tags/tag419.xml><?xml version="1.0" encoding="utf-8"?>
<p:tagLst xmlns:a="http://schemas.openxmlformats.org/drawingml/2006/main" xmlns:r="http://schemas.openxmlformats.org/officeDocument/2006/relationships" xmlns:p="http://schemas.openxmlformats.org/presentationml/2006/main">
  <p:tag name="BTFPLAYOUTENABLED" val="1"/>
</p:tagLst>
</file>

<file path=ppt/tags/tag420.xml><?xml version="1.0" encoding="utf-8"?>
<p:tagLst xmlns:a="http://schemas.openxmlformats.org/drawingml/2006/main" xmlns:r="http://schemas.openxmlformats.org/officeDocument/2006/relationships" xmlns:p="http://schemas.openxmlformats.org/presentationml/2006/main">
  <p:tag name="BTFPLAYOUTCOLUMNS" val="2"/>
  <p:tag name="BTFPLAYOUTENABLED" val="0"/>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2.xml><?xml version="1.0" encoding="utf-8"?>
<p:tagLst xmlns:a="http://schemas.openxmlformats.org/drawingml/2006/main" xmlns:r="http://schemas.openxmlformats.org/officeDocument/2006/relationships" xmlns:p="http://schemas.openxmlformats.org/presentationml/2006/main">
  <p:tag name="BTFPLAYOUTENABLED" val="1"/>
</p:tagLst>
</file>

<file path=ppt/tags/tag423.xml><?xml version="1.0" encoding="utf-8"?>
<p:tagLst xmlns:a="http://schemas.openxmlformats.org/drawingml/2006/main" xmlns:r="http://schemas.openxmlformats.org/officeDocument/2006/relationships" xmlns:p="http://schemas.openxmlformats.org/presentationml/2006/main">
  <p:tag name="BTFPLAYOUTENABLED" val="0"/>
</p:tagLst>
</file>

<file path=ppt/tags/tag424.xml><?xml version="1.0" encoding="utf-8"?>
<p:tagLst xmlns:a="http://schemas.openxmlformats.org/drawingml/2006/main" xmlns:r="http://schemas.openxmlformats.org/officeDocument/2006/relationships" xmlns:p="http://schemas.openxmlformats.org/presentationml/2006/main">
  <p:tag name="BTFPLAYOUTENABLED" val="1"/>
</p:tagLst>
</file>

<file path=ppt/tags/tag425.xml><?xml version="1.0" encoding="utf-8"?>
<p:tagLst xmlns:a="http://schemas.openxmlformats.org/drawingml/2006/main" xmlns:r="http://schemas.openxmlformats.org/officeDocument/2006/relationships" xmlns:p="http://schemas.openxmlformats.org/presentationml/2006/main">
  <p:tag name="BTFPLAYOUTENABLED" val="1"/>
</p:tagLst>
</file>

<file path=ppt/theme/theme1.xml><?xml version="1.0" encoding="utf-8"?>
<a:theme xmlns:a="http://schemas.openxmlformats.org/drawingml/2006/main" name="Bain Core">
  <a:themeElements>
    <a:clrScheme name="Bain">
      <a:dk1>
        <a:srgbClr val="000000"/>
      </a:dk1>
      <a:lt1>
        <a:srgbClr val="FFFFFF"/>
      </a:lt1>
      <a:dk2>
        <a:srgbClr val="D6D6D6"/>
      </a:dk2>
      <a:lt2>
        <a:srgbClr val="5C5C5C"/>
      </a:lt2>
      <a:accent1>
        <a:srgbClr val="B4B4B4"/>
      </a:accent1>
      <a:accent2>
        <a:srgbClr val="D6D6D6"/>
      </a:accent2>
      <a:accent3>
        <a:srgbClr val="CC0000"/>
      </a:accent3>
      <a:accent4>
        <a:srgbClr val="46647B"/>
      </a:accent4>
      <a:accent5>
        <a:srgbClr val="507867"/>
      </a:accent5>
      <a:accent6>
        <a:srgbClr val="973B74"/>
      </a:accent6>
      <a:hlink>
        <a:srgbClr val="46647B"/>
      </a:hlink>
      <a:folHlink>
        <a:srgbClr val="7891A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9525">
          <a:solidFill>
            <a:schemeClr val="tx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marL="0" indent="0" algn="ctr">
          <a:buNone/>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9525" cap="flat">
          <a:solidFill>
            <a:schemeClr val="tx1"/>
          </a:solidFill>
          <a:miter lim="800000"/>
          <a:tailEnd type="none" w="med" len="lg"/>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36000" tIns="36000" rIns="36000" bIns="36000" rtlCol="0">
        <a:spAutoFit/>
      </a:bodyPr>
      <a:lstStyle>
        <a:defPPr marL="0" indent="0">
          <a:buNone/>
          <a:defRPr sz="1600" dirty="0" err="1" smtClean="0"/>
        </a:defPPr>
      </a:lstStyle>
    </a:txDef>
  </a:objectDefaults>
  <a:extraClrSchemeLst/>
  <a:extLst>
    <a:ext uri="{05A4C25C-085E-4340-85A3-A5531E510DB2}">
      <thm15:themeFamily xmlns:thm15="http://schemas.microsoft.com/office/thememl/2012/main" name="Bain Core On Screen Show (16_9).potx" id="{56CF97D2-A744-43CA-AE15-0214FF29DAC4}" vid="{A64E784E-EE2A-4031-BBD4-3B52B2D870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076094d-626a-47d6-b70b-65f1571c0e83" xsi:nil="true"/>
    <lcf76f155ced4ddcb4097134ff3c332f xmlns="b7810096-b8ae-4cab-a0a4-7ef89b2282e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F8FA43199862044828F3ECEAE151F51" ma:contentTypeVersion="12" ma:contentTypeDescription="Create a new document." ma:contentTypeScope="" ma:versionID="929220cbbfffee9ed7669ca968da2806">
  <xsd:schema xmlns:xsd="http://www.w3.org/2001/XMLSchema" xmlns:xs="http://www.w3.org/2001/XMLSchema" xmlns:p="http://schemas.microsoft.com/office/2006/metadata/properties" xmlns:ns2="b7810096-b8ae-4cab-a0a4-7ef89b2282ea" xmlns:ns3="6076094d-626a-47d6-b70b-65f1571c0e83" targetNamespace="http://schemas.microsoft.com/office/2006/metadata/properties" ma:root="true" ma:fieldsID="996a5566e5001b579d4e89a03ba9570c" ns2:_="" ns3:_="">
    <xsd:import namespace="b7810096-b8ae-4cab-a0a4-7ef89b2282ea"/>
    <xsd:import namespace="6076094d-626a-47d6-b70b-65f1571c0e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810096-b8ae-4cab-a0a4-7ef89b2282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b166abb-7d38-406f-9233-2f33b10aef2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76094d-626a-47d6-b70b-65f1571c0e8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111fbc-f006-4a96-94fb-a5cb753bfbff}" ma:internalName="TaxCatchAll" ma:showField="CatchAllData" ma:web="6076094d-626a-47d6-b70b-65f1571c0e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AC2019-E075-4B1F-B3F8-8F9D3E6F5E83}">
  <ds:schemaRefs>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http://purl.org/dc/dcmitype/"/>
    <ds:schemaRef ds:uri="http://purl.org/dc/terms/"/>
    <ds:schemaRef ds:uri="b7810096-b8ae-4cab-a0a4-7ef89b2282ea"/>
    <ds:schemaRef ds:uri="http://purl.org/dc/elements/1.1/"/>
    <ds:schemaRef ds:uri="http://schemas.openxmlformats.org/package/2006/metadata/core-properties"/>
    <ds:schemaRef ds:uri="6076094d-626a-47d6-b70b-65f1571c0e83"/>
  </ds:schemaRefs>
</ds:datastoreItem>
</file>

<file path=customXml/itemProps2.xml><?xml version="1.0" encoding="utf-8"?>
<ds:datastoreItem xmlns:ds="http://schemas.openxmlformats.org/officeDocument/2006/customXml" ds:itemID="{AD835C2C-3CD2-40BE-BE8B-84BB9926EAC4}">
  <ds:schemaRefs>
    <ds:schemaRef ds:uri="http://schemas.microsoft.com/sharepoint/v3/contenttype/forms"/>
  </ds:schemaRefs>
</ds:datastoreItem>
</file>

<file path=customXml/itemProps3.xml><?xml version="1.0" encoding="utf-8"?>
<ds:datastoreItem xmlns:ds="http://schemas.openxmlformats.org/officeDocument/2006/customXml" ds:itemID="{40A33ECB-4942-43E8-B560-4763B30C0A26}"/>
</file>

<file path=docProps/app.xml><?xml version="1.0" encoding="utf-8"?>
<Properties xmlns="http://schemas.openxmlformats.org/officeDocument/2006/extended-properties" xmlns:vt="http://schemas.openxmlformats.org/officeDocument/2006/docPropsVTypes">
  <Template>blank</Template>
  <TotalTime>13707</TotalTime>
  <Words>15560</Words>
  <Application>Microsoft Office PowerPoint</Application>
  <PresentationFormat>Widescreen</PresentationFormat>
  <Paragraphs>1333</Paragraphs>
  <Slides>76</Slides>
  <Notes>27</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0" baseType="lpstr">
      <vt:lpstr>Arial</vt:lpstr>
      <vt:lpstr>Calibri</vt:lpstr>
      <vt:lpstr>Bain Core</vt:lpstr>
      <vt:lpstr>think-cell Slide</vt:lpstr>
      <vt:lpstr>Opportunity Indicator Onboarding</vt:lpstr>
      <vt:lpstr>PowerPoint Presentation</vt:lpstr>
      <vt:lpstr>The Opportunity Indicator is a 48-hr service performed by the Cost Diagnostic COE to help identify cost opportunities &amp; provide commercial support to account teams</vt:lpstr>
      <vt:lpstr>The Opportunity Indicator output takes several forms; most requests are for a Standard OI, while some requests require more bespoke materials</vt:lpstr>
      <vt:lpstr>PowerPoint Presentation</vt:lpstr>
      <vt:lpstr>Process to build an OI: High-level cadence for engagement with account teams</vt:lpstr>
      <vt:lpstr>Process to build an OI: Overview of the step-by-step process</vt:lpstr>
      <vt:lpstr>Stage 1 – Peer Selection: Introduction</vt:lpstr>
      <vt:lpstr>Stage 1 – Peer Selection: Process Overview</vt:lpstr>
      <vt:lpstr>Stage 1 – Peer Selection: Process Breakdown (1/2)</vt:lpstr>
      <vt:lpstr>Stage 1 – Peer Selection: Process Breakdown (2/2)</vt:lpstr>
      <vt:lpstr>Stage 1 – Peer Selection: Tips &amp; Best Practices (1/2)</vt:lpstr>
      <vt:lpstr>Stage 1 – Peer Selection: Tips &amp; Best Practices (2/2)</vt:lpstr>
      <vt:lpstr>Specific Industry Guidelines</vt:lpstr>
      <vt:lpstr>Adjustments to look out for while building out the Adjustment Summary</vt:lpstr>
      <vt:lpstr>Adjustment summary- Data collection</vt:lpstr>
      <vt:lpstr>Adjustment Summary- Cost Adjustments</vt:lpstr>
      <vt:lpstr>Stage 2 – Data Collection &amp; Output Creation: Introduction (1/5)</vt:lpstr>
      <vt:lpstr>Stage 2 – Data Collection &amp; Output Creation: Introduction (2/5)</vt:lpstr>
      <vt:lpstr>Stage 2 – Data Collection &amp; Output Creation: Introduction (3/5)</vt:lpstr>
      <vt:lpstr>Stage 2 – Data Collection &amp; Output Creation: Introduction (4/5)</vt:lpstr>
      <vt:lpstr>Stage 2 – Data Collection &amp; Output Creation: Introduction (5/5)</vt:lpstr>
      <vt:lpstr>Stage 2 – Data Collection &amp; Output Creation: Process overview</vt:lpstr>
      <vt:lpstr>Stage 2 – Data Collection &amp; Output Creation: Process Breakdown (1/8)</vt:lpstr>
      <vt:lpstr>Stage 2 – Data Collection &amp; Output Creation: Process Breakdown (2/8)</vt:lpstr>
      <vt:lpstr>Stage 2 – Data Collection &amp; Output Creation: Process Breakdown (3/8)</vt:lpstr>
      <vt:lpstr>Stage 2 – Data Collection &amp; Output Creation: Process Breakdown (4/8)</vt:lpstr>
      <vt:lpstr>Stage 2 – Data Collection &amp; Output Creation: Process Breakdown (5/8)</vt:lpstr>
      <vt:lpstr>Stage 2 – Data Collection &amp; Output Creation: Process Breakdown (6/8)</vt:lpstr>
      <vt:lpstr>Stage 2 – Data Collection &amp; Output Creation: Process Breakdown (7/8)</vt:lpstr>
      <vt:lpstr>Stage 2 – Data Collection &amp; Output Creation: Process Breakdown (8/8)</vt:lpstr>
      <vt:lpstr>Stage 2 – Data Collection &amp; Output Creation: Tips &amp; Best Practices (1/2)</vt:lpstr>
      <vt:lpstr>Stage 2 – Data Collection &amp; Output Creation: Tips &amp; Best Practices (2/2)</vt:lpstr>
      <vt:lpstr>Stage 3 – Savings Identification: Introduction</vt:lpstr>
      <vt:lpstr>Stage 3 – Savings Identification: Process Overview</vt:lpstr>
      <vt:lpstr>Stage 3 – Savings Identification: Process Breakdown (1/5)</vt:lpstr>
      <vt:lpstr>Stage 3 – Savings Identification: Process Breakdown (2/5)</vt:lpstr>
      <vt:lpstr>Stage 3 – Savings Identification: Process Breakdown (3/5)</vt:lpstr>
      <vt:lpstr>Stage 3 – Savings Identification: Process Breakdown (4/5)</vt:lpstr>
      <vt:lpstr>Stage 3 – Savings Identification: Process Breakdown (4/5)</vt:lpstr>
      <vt:lpstr>Stage 3 – Savings Identification: Tips &amp; Best Practices (1/2)</vt:lpstr>
      <vt:lpstr>Stage 3 – Savings Identification: Tips &amp; Best Practices (2/2)</vt:lpstr>
      <vt:lpstr>Stage 4 – Output Completion: Process Overview</vt:lpstr>
      <vt:lpstr>Stage 4 – Output Completion: Process Breakdown (1/2)</vt:lpstr>
      <vt:lpstr>Stage 4 – Output Completion: Process Breakdown (2/2)</vt:lpstr>
      <vt:lpstr>PowerPoint Presentation</vt:lpstr>
      <vt:lpstr>Set up: Overview of tools available to the OI team</vt:lpstr>
      <vt:lpstr>Set up: Capital IQ</vt:lpstr>
      <vt:lpstr>Set up: Using ChatGPT well</vt:lpstr>
      <vt:lpstr>Collaboration: Working on the OI team involves ongoing collaboration between the US and India teams</vt:lpstr>
      <vt:lpstr>PowerPoint Presentation</vt:lpstr>
      <vt:lpstr>Additional guidelines: Typical OI Output – Performance Summary</vt:lpstr>
      <vt:lpstr>Additional guidelines: Typical OI Output – Peer Set Overview</vt:lpstr>
      <vt:lpstr>Additional guidelines: Typical OI Output – TSR Analysis </vt:lpstr>
      <vt:lpstr>Additional guidelines: Typical OI Output – Cost Savings Summary</vt:lpstr>
      <vt:lpstr>Additional guidelines: Typical OI Output – Revenue Build</vt:lpstr>
      <vt:lpstr>Additional guidelines: Typical OI Output – Historical Revenue Growth</vt:lpstr>
      <vt:lpstr>Additional guidelines: Typical OI Output – Cost Productivity</vt:lpstr>
      <vt:lpstr>Additional guidelines: Typical OI Output – Projected Revenue Growth</vt:lpstr>
      <vt:lpstr>Additional guidelines: Typical OI Output – EBIT/DA Margin</vt:lpstr>
      <vt:lpstr>Additional guidelines: Typical OI Output – Gross Margin</vt:lpstr>
      <vt:lpstr>Additional guidelines: Typical OI Output – SG&amp;A (% of revenue)</vt:lpstr>
      <vt:lpstr>Additional guidelines: Typical OI Output – SG&amp;A Breakdown</vt:lpstr>
      <vt:lpstr>Additional guidelines: Typical OI Output – R&amp;D</vt:lpstr>
      <vt:lpstr>Additional guidelines: Typical OI Output – Bubble Chart</vt:lpstr>
      <vt:lpstr>Additional guidelines: Typical OI Output – Full Potential EBIT/DA Margin Waterfall</vt:lpstr>
      <vt:lpstr>Additional guidelines: Typical OI Output – EV Uplift Waterfall</vt:lpstr>
      <vt:lpstr>Additional guidelines: Typical OI Output – Cash Conversion Cycle</vt:lpstr>
      <vt:lpstr>Additional guidelines: Typical OI Output – NWC Pages</vt:lpstr>
      <vt:lpstr>Additional guidelines: Typical OI Output – ESG</vt:lpstr>
      <vt:lpstr>Additional guidelines: Extra Output – Segment Breakdown</vt:lpstr>
      <vt:lpstr>Additional guidelines: Extra Output – Personnel Analysis</vt:lpstr>
      <vt:lpstr>Additional guidelines: Extra Output – R&amp;D Correlation</vt:lpstr>
      <vt:lpstr>Additional guidelines: Extra Output – SG&amp;A vs. Relative Revenue Size</vt:lpstr>
      <vt:lpstr>Additional guidelines: Extra Output – SG&amp;A Required Change</vt:lpstr>
      <vt:lpstr>Additional guidelines: More Guidance and OI Best Practices</vt:lpstr>
    </vt:vector>
  </TitlesOfParts>
  <Company>Bain and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Nachinaba, Richard</dc:creator>
  <cp:lastModifiedBy>Huitrón, Sebastián</cp:lastModifiedBy>
  <cp:revision>4</cp:revision>
  <cp:lastPrinted>2017-02-15T14:23:56Z</cp:lastPrinted>
  <dcterms:created xsi:type="dcterms:W3CDTF">2025-02-06T05:31:15Z</dcterms:created>
  <dcterms:modified xsi:type="dcterms:W3CDTF">2026-06-23T23:55:54Z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0x010100EF8FA43199862044828F3ECEAE151F51</vt:lpwstr>
  </property>
  <property fmtid="{D5CDD505-2E9C-101B-9397-08002B2CF9AE}" pid="3" name="MediaServiceImageTags">
    <vt:lpwstr/>
  </property>
  <property fmtid="{D5CDD505-2E9C-101B-9397-08002B2CF9AE}" pid="4" name="Order">
    <vt:r8>4784800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