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317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OI 3.0: Platform Feature Overview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331012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business-user view of the platform's capabilities, distinguishing what's available for the GLS feature set from what's planned for the post-GLS feature set.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4617720"/>
            <a:ext cx="24688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03320" y="4617720"/>
            <a:ext cx="274320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A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 business stakeholders   |   OI 3.0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6400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overview walks through the OI 3.0 journey screen by screen, from the dashboard through to output, plus the chat capability that runs across every screen.</a:t>
            </a:r>
            <a:endParaRPr lang="en-US" sz="155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each screen, features are grouped into two sets:</a:t>
            </a:r>
            <a:endParaRPr lang="en-US" sz="15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capabilities in scope for the Global Leadership Summit release.</a:t>
            </a:r>
            <a:endParaRPr lang="en-US" sz="15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pPr indent="0" marL="0">
              <a:lnSpc>
                <a:spcPct val="132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capabilities planned for later releases, typically requiring further data, process, or design work.</a:t>
            </a:r>
            <a:endParaRPr lang="en-US" sz="15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50" i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Throughout, the focus stays on business-friendly features: what each screen does for the people using it, in plain terms. This is not a technical spec, and it does not describe engineering shortcuts or implementation detail.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05750" y="2331720"/>
            <a:ext cx="358140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67422" y="21762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567422" y="21671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51192" y="2551176"/>
            <a:ext cx="943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29650" y="2331720"/>
            <a:ext cx="358140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91322" y="21762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8291322" y="21671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75092" y="2551176"/>
            <a:ext cx="943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Sel.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353550" y="2331720"/>
            <a:ext cx="358140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15222" y="21762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9015222" y="21671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98992" y="2551176"/>
            <a:ext cx="943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Peer List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77450" y="2331720"/>
            <a:ext cx="358140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9122" y="21762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9739122" y="21671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22892" y="2551176"/>
            <a:ext cx="943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for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801350" y="2331720"/>
            <a:ext cx="358140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63022" y="21762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0463022" y="21671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46792" y="2551176"/>
            <a:ext cx="943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186922" y="21762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1186922" y="21671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870692" y="2551176"/>
            <a:ext cx="943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60920" y="320040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screens covered in this 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60920" y="3703320"/>
            <a:ext cx="4343400" cy="1554480"/>
          </a:xfrm>
          <a:prstGeom prst="rect">
            <a:avLst>
              <a:gd name="adj" fmla="val 4706"/>
            </a:avLst>
          </a:prstGeom>
          <a:solidFill>
            <a:srgbClr val="EAEAEA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3913632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Written for business users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feature is described by what it does for the user, not by how it is built.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26364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GLS: available at launch          Post-GLS: planned for a later release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420624"/>
            <a:ext cx="1072865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OI Dashboard 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6" name="Shape 4"/>
          <p:cNvSpPr/>
          <p:nvPr/>
        </p:nvSpPr>
        <p:spPr>
          <a:xfrm>
            <a:off x="6223864" y="914400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OI Search Capability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and retrieve existing OIs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Creating New OI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a new OI directly from the dashboard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Visibility of Latest OIs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Sizes shown by P&amp;L impact and hard cash savings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Sector/Industry Visibility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Bain, client, and CapIQ taxonomies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Deletion/Archive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Older OIs archived once no longer relevant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3320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23864" y="1298448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Refresh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Auto-refresh with version history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Re-upload a prior OI to modify format or content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Go-Back &amp; Change Inputs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 to earlier screens to refresh the OI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511296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502152"/>
            <a:ext cx="1072865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Selection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3995928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105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379976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Search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the target company for analysis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 the OI's audience (e.g., CFO, CEO)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Peer Set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a range to select the relevant peers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Framing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Pre-frame key themes to shape the narrative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Document Upload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documents beyond primary sources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 Peers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proposes peers via CapIQ, VCC, and web search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3320" y="4105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3864" y="4379976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 Scope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 geography ahead of the conversation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 Breakdown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target/peer business unit for comparability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420624"/>
            <a:ext cx="1072865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Peer List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6" name="Shape 4"/>
          <p:cNvSpPr/>
          <p:nvPr/>
        </p:nvSpPr>
        <p:spPr>
          <a:xfrm>
            <a:off x="6223864" y="914400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Peer Suggestions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Ranked list built from CapIQ, VCC, and web data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score with supporting rationale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Manually Add/Remove Peers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and adjust peers within the longlist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Drill-Down on Rationale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why each peer was selected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Concepts Flagged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 or comparability mismatches flagged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Peer Set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Triggers reporting normalization in the background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3320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23864" y="1298448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BU-Level Breakdown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peer comparability at the business-unit level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511296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502152"/>
            <a:ext cx="1072865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for Change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3995928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105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379976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Pool Identification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identifies the case for change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Flexibility to Change Value Pools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Add/remove levers, or run a full analysis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 Workflow Alignment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Aligns peer and target reporting structures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Calculations Workflow Alignment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Adjustments and bucketing for comparability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Control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Cross-checked against 10-Ks and investor reports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Chat-Based Audit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and adjust system assumptions via chat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&amp; Build Analysis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Levers quantified against benchmarks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Coverage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Launches with 2 to 3 sectors, likely healthcare, technology, and retail/CPG (final list to be confirmed)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443320" y="4105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3864" y="4379976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Further Validation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Cross-checking of figures between source systems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Sectors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 expands to further sectors once the initial GLS sectors are demonstrated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420624"/>
            <a:ext cx="1072865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6" name="Shape 4"/>
          <p:cNvSpPr/>
          <p:nvPr/>
        </p:nvSpPr>
        <p:spPr>
          <a:xfrm>
            <a:off x="6223864" y="914400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Pool Quantification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quantified across P&amp;L and cash flow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Visualization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Granular improvement bridge from baseline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Sub-Lever Drill Down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view within each high-level lever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Drill-Down/Scenario Analysis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base vs. high scenarios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Before Committing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the overview before output is generated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Shortlist   </a:t>
            </a:r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Moves the screen to the output page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3320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23864" y="1298448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post-GLS features identified for this screen.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511296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502152"/>
            <a:ext cx="1072865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3995928"/>
            <a:ext cx="5464912" cy="2404872"/>
          </a:xfrm>
          <a:prstGeom prst="rect">
            <a:avLst>
              <a:gd name="adj" fmla="val 2281"/>
            </a:avLst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105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379976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Artifact Generation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and narrative generation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Reasoning/Traceability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Calculations and sources retained for traceability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Download &amp; PPT Editability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Download and further edit as a PPT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Permissions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view-only access to the board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Output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Download the final artifact in PPT or HTML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3320" y="4105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3864" y="4379976"/>
            <a:ext cx="5464912" cy="1892808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Editing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Chat-based editing of the finalized output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Deck Refresh   </a:t>
            </a:r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an edited PPTX to update content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93776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484632"/>
            <a:ext cx="1072865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Chat, Log &amp; Sources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0120" y="905256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Applies across all screens, throughout the OI journey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97864"/>
            <a:ext cx="5464912" cy="2231136"/>
          </a:xfrm>
          <a:prstGeom prst="rect">
            <a:avLst>
              <a:gd name="adj" fmla="val 2459"/>
            </a:avLst>
          </a:pr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6223864" y="1197864"/>
            <a:ext cx="5464912" cy="2231136"/>
          </a:xfrm>
          <a:prstGeom prst="rect">
            <a:avLst>
              <a:gd name="adj" fmla="val 2459"/>
            </a:avLst>
          </a:prstGeom>
          <a:solidFill>
            <a:srgbClr val="EAEAEA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307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GLS FEATURE 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5464912" cy="1719072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Preservation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Retains source context while the OI is active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Co-Working Agent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Chat-driven requests update the UI directly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Explains how it reached a conclusion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Grounding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 from known context only, not generic knowledge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Control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Cross-checks financials across source documents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 Panel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Lists every document and contributor behind the OI</a:t>
            </a:r>
            <a:endParaRPr lang="en-US" sz="92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 / Audit Trail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Records every user and agent action for full transparency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443320" y="1307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POST-GLS FEATURE 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23864" y="1581912"/>
            <a:ext cx="5464912" cy="1719072"/>
          </a:xfrm>
          <a:prstGeom prst="rect">
            <a:avLst/>
          </a:prstGeom>
          <a:noFill/>
          <a:ln/>
        </p:spPr>
        <p:txBody>
          <a:bodyPr wrap="square" lIns="25400" tIns="330200" rIns="228600" bIns="76200" rtlCol="0" anchor="t"/>
          <a:lstStyle/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A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Approval Flows/Real-Time Collaboration   </a:t>
            </a:r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2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Adds approval steps across the journey, from analysts to consultants to partners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379955" y="5074920"/>
            <a:ext cx="1193749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1627" y="49194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041627" y="49103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7592" y="5294376"/>
            <a:ext cx="1778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9464" y="5074920"/>
            <a:ext cx="1193749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1136" y="49194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3601136" y="49103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67101" y="5294376"/>
            <a:ext cx="1778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Sel.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98973" y="5074920"/>
            <a:ext cx="1193749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0645" y="49194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5160645" y="49103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26610" y="5294376"/>
            <a:ext cx="1778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Peer List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58482" y="5074920"/>
            <a:ext cx="1193749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154" y="49194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154" y="49103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86120" y="5294376"/>
            <a:ext cx="1778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for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17991" y="5074920"/>
            <a:ext cx="1193749" cy="0"/>
          </a:xfrm>
          <a:prstGeom prst="line">
            <a:avLst/>
          </a:prstGeom>
          <a:noFill/>
          <a:ln w="15875">
            <a:solidFill>
              <a:srgbClr val="CFC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9663" y="49194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8279663" y="49103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45629" y="5294376"/>
            <a:ext cx="1778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839173" y="4919472"/>
            <a:ext cx="310896" cy="310896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9839173" y="49103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05138" y="5294376"/>
            <a:ext cx="1778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17320" y="5943600"/>
            <a:ext cx="9357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Chat, Log, and Sources are available alongside every screen above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2026-08-25T15:07:53Z</dcterms:created>
  <dcterms:modified xsi:type="dcterms:W3CDTF">2026-08-25T15:07:53Z</dcterms:modified>
</cp:coreProperties>
</file>