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2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3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4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5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6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7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8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9.xml" ContentType="application/vnd.openxmlformats-officedocument.presentationml.notesSlid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notesSlides/notesSlide10.xml" ContentType="application/vnd.openxmlformats-officedocument.presentationml.notesSlide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notesSlides/notesSlide11.xml" ContentType="application/vnd.openxmlformats-officedocument.presentationml.notesSlide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notesSlides/notesSlide12.xml" ContentType="application/vnd.openxmlformats-officedocument.presentationml.notesSlide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notesSlides/notesSlide13.xml" ContentType="application/vnd.openxmlformats-officedocument.presentationml.notesSlide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notesSlides/notesSlide14.xml" ContentType="application/vnd.openxmlformats-officedocument.presentationml.notesSlide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notesSlides/notesSlide15.xml" ContentType="application/vnd.openxmlformats-officedocument.presentationml.notesSlide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notesSlides/notesSlide16.xml" ContentType="application/vnd.openxmlformats-officedocument.presentationml.notesSlide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notesSlides/notesSlide17.xml" ContentType="application/vnd.openxmlformats-officedocument.presentationml.notesSlide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4"/>
  </p:sldMasterIdLst>
  <p:notesMasterIdLst>
    <p:notesMasterId r:id="rId28"/>
  </p:notesMasterIdLst>
  <p:sldIdLst>
    <p:sldId id="267" r:id="rId5"/>
    <p:sldId id="256" r:id="rId6"/>
    <p:sldId id="2147483425" r:id="rId7"/>
    <p:sldId id="1451" r:id="rId8"/>
    <p:sldId id="1456" r:id="rId9"/>
    <p:sldId id="1484" r:id="rId10"/>
    <p:sldId id="2147474531" r:id="rId11"/>
    <p:sldId id="2147474372" r:id="rId12"/>
    <p:sldId id="2147483647" r:id="rId13"/>
    <p:sldId id="1492" r:id="rId14"/>
    <p:sldId id="636139803" r:id="rId15"/>
    <p:sldId id="2147483265" r:id="rId16"/>
    <p:sldId id="1417" r:id="rId17"/>
    <p:sldId id="1188" r:id="rId18"/>
    <p:sldId id="1468" r:id="rId19"/>
    <p:sldId id="2147483646" r:id="rId20"/>
    <p:sldId id="360" r:id="rId21"/>
    <p:sldId id="459" r:id="rId22"/>
    <p:sldId id="261" r:id="rId23"/>
    <p:sldId id="288" r:id="rId24"/>
    <p:sldId id="293" r:id="rId25"/>
    <p:sldId id="756" r:id="rId26"/>
    <p:sldId id="259" r:id="rId27"/>
  </p:sldIdLst>
  <p:sldSz cx="12192000" cy="6858000"/>
  <p:notesSz cx="6797675" cy="9926638"/>
  <p:custDataLst>
    <p:tags r:id="rId29"/>
  </p:custDataLst>
  <p:defaultTextStyle>
    <a:defPPr>
      <a:defRPr lang="en-US"/>
    </a:defPPr>
    <a:lvl1pPr marL="177800" indent="-177800" algn="l" defTabSz="711200" rtl="0" eaLnBrk="1" latinLnBrk="0" hangingPunct="1">
      <a:spcBef>
        <a:spcPts val="1200"/>
      </a:spcBef>
      <a:buChar char="•"/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3556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5334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7112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8890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0668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12446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14224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16002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FAEEC3"/>
    <a:srgbClr val="FFFFFF"/>
    <a:srgbClr val="5C5C5C"/>
    <a:srgbClr val="F2DE8A"/>
    <a:srgbClr val="E9CD49"/>
    <a:srgbClr val="C6AA3D"/>
    <a:srgbClr val="AB8933"/>
    <a:srgbClr val="FAECDB"/>
    <a:srgbClr val="EDDA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FB2B79-C6D8-413A-84D3-1C513B457268}" v="621" dt="2026-08-28T19:33:28.528"/>
  </p1510:revLst>
</p1510:revInfo>
</file>

<file path=ppt/tableStyles.xml><?xml version="1.0" encoding="utf-8"?>
<a:tblStyleLst xmlns:a="http://schemas.openxmlformats.org/drawingml/2006/main" def="{2D5ABB26-0587-4C30-8999-92F81FD0307C}">
  <a:tblStyle styleId="{9D7B26C5-4107-4FEC-AEDC-1716B250A1EF}" styleName="Light Style 1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9525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dk2"/>
          </a:solidFill>
        </a:fill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firstCol>
      <a:tcTxStyle b="on"/>
      <a:tcStyle>
        <a:tcBdr/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1905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accent3"/>
      </a:tcTxStyle>
      <a:tcStyle>
        <a:tcBdr>
          <a:bottom>
            <a:ln w="1905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lson, Stephanie (Bula)" userId="69b768f2-7601-4471-9b80-7695b53cd60c" providerId="ADAL" clId="{2DFB2B79-C6D8-413A-84D3-1C513B457268}"/>
    <pc:docChg chg="undo custSel addSld delSld modSld sldOrd delMainMaster">
      <pc:chgData name="Nelson, Stephanie (Bula)" userId="69b768f2-7601-4471-9b80-7695b53cd60c" providerId="ADAL" clId="{2DFB2B79-C6D8-413A-84D3-1C513B457268}" dt="2026-08-28T19:33:28.528" v="1753" actId="20577"/>
      <pc:docMkLst>
        <pc:docMk/>
      </pc:docMkLst>
      <pc:sldChg chg="del">
        <pc:chgData name="Nelson, Stephanie (Bula)" userId="69b768f2-7601-4471-9b80-7695b53cd60c" providerId="ADAL" clId="{2DFB2B79-C6D8-413A-84D3-1C513B457268}" dt="2026-08-28T17:18:10.131" v="23" actId="2696"/>
        <pc:sldMkLst>
          <pc:docMk/>
          <pc:sldMk cId="2574343321" sldId="256"/>
        </pc:sldMkLst>
      </pc:sldChg>
      <pc:sldChg chg="addSp delSp modSp add mod">
        <pc:chgData name="Nelson, Stephanie (Bula)" userId="69b768f2-7601-4471-9b80-7695b53cd60c" providerId="ADAL" clId="{2DFB2B79-C6D8-413A-84D3-1C513B457268}" dt="2026-08-28T19:33:21.830" v="1704" actId="20577"/>
        <pc:sldMkLst>
          <pc:docMk/>
          <pc:sldMk cId="3152339711" sldId="256"/>
        </pc:sldMkLst>
        <pc:spChg chg="add mod">
          <ac:chgData name="Nelson, Stephanie (Bula)" userId="69b768f2-7601-4471-9b80-7695b53cd60c" providerId="ADAL" clId="{2DFB2B79-C6D8-413A-84D3-1C513B457268}" dt="2026-08-28T19:33:09.298" v="1461"/>
          <ac:spMkLst>
            <pc:docMk/>
            <pc:sldMk cId="3152339711" sldId="256"/>
            <ac:spMk id="27" creationId="{09D317EE-1CD5-3B9B-AA08-17666D7E54EB}"/>
          </ac:spMkLst>
        </pc:spChg>
        <pc:spChg chg="add mod">
          <ac:chgData name="Nelson, Stephanie (Bula)" userId="69b768f2-7601-4471-9b80-7695b53cd60c" providerId="ADAL" clId="{2DFB2B79-C6D8-413A-84D3-1C513B457268}" dt="2026-08-28T19:33:09.304" v="1463"/>
          <ac:spMkLst>
            <pc:docMk/>
            <pc:sldMk cId="3152339711" sldId="256"/>
            <ac:spMk id="28" creationId="{CF44A279-0F25-41BA-1065-9BB145CA4089}"/>
          </ac:spMkLst>
        </pc:spChg>
        <pc:spChg chg="add mod">
          <ac:chgData name="Nelson, Stephanie (Bula)" userId="69b768f2-7601-4471-9b80-7695b53cd60c" providerId="ADAL" clId="{2DFB2B79-C6D8-413A-84D3-1C513B457268}" dt="2026-08-28T19:33:09.298" v="1461"/>
          <ac:spMkLst>
            <pc:docMk/>
            <pc:sldMk cId="3152339711" sldId="256"/>
            <ac:spMk id="29" creationId="{4068A3EC-66A1-84C3-FF52-E5D332D5EB98}"/>
          </ac:spMkLst>
        </pc:spChg>
        <pc:spChg chg="add mod">
          <ac:chgData name="Nelson, Stephanie (Bula)" userId="69b768f2-7601-4471-9b80-7695b53cd60c" providerId="ADAL" clId="{2DFB2B79-C6D8-413A-84D3-1C513B457268}" dt="2026-08-28T19:33:09.304" v="1463"/>
          <ac:spMkLst>
            <pc:docMk/>
            <pc:sldMk cId="3152339711" sldId="256"/>
            <ac:spMk id="30" creationId="{1EC90F1C-AA62-1E59-F5F5-0BA7FF5920D6}"/>
          </ac:spMkLst>
        </pc:spChg>
        <pc:spChg chg="add mod">
          <ac:chgData name="Nelson, Stephanie (Bula)" userId="69b768f2-7601-4471-9b80-7695b53cd60c" providerId="ADAL" clId="{2DFB2B79-C6D8-413A-84D3-1C513B457268}" dt="2026-08-28T19:33:21.830" v="1704" actId="20577"/>
          <ac:spMkLst>
            <pc:docMk/>
            <pc:sldMk cId="3152339711" sldId="256"/>
            <ac:spMk id="33" creationId="{3A9F28E7-B143-E3AB-E969-26444229DF1D}"/>
          </ac:spMkLst>
        </pc:spChg>
        <pc:grpChg chg="del">
          <ac:chgData name="Nelson, Stephanie (Bula)" userId="69b768f2-7601-4471-9b80-7695b53cd60c" providerId="ADAL" clId="{2DFB2B79-C6D8-413A-84D3-1C513B457268}" dt="2026-08-28T19:33:09.190" v="1400"/>
          <ac:grpSpMkLst>
            <pc:docMk/>
            <pc:sldMk cId="3152339711" sldId="256"/>
            <ac:grpSpMk id="19" creationId="{A98E389B-9C87-70A2-6293-D82DBA4EAD3B}"/>
          </ac:grpSpMkLst>
        </pc:grpChg>
        <pc:grpChg chg="del">
          <ac:chgData name="Nelson, Stephanie (Bula)" userId="69b768f2-7601-4471-9b80-7695b53cd60c" providerId="ADAL" clId="{2DFB2B79-C6D8-413A-84D3-1C513B457268}" dt="2026-08-28T19:33:09.186" v="1399"/>
          <ac:grpSpMkLst>
            <pc:docMk/>
            <pc:sldMk cId="3152339711" sldId="256"/>
            <ac:grpSpMk id="20" creationId="{24DE143E-677A-7B63-C716-E07DEDC1F65A}"/>
          </ac:grpSpMkLst>
        </pc:grpChg>
        <pc:grpChg chg="add mod">
          <ac:chgData name="Nelson, Stephanie (Bula)" userId="69b768f2-7601-4471-9b80-7695b53cd60c" providerId="ADAL" clId="{2DFB2B79-C6D8-413A-84D3-1C513B457268}" dt="2026-08-28T19:33:09.301" v="1462"/>
          <ac:grpSpMkLst>
            <pc:docMk/>
            <pc:sldMk cId="3152339711" sldId="256"/>
            <ac:grpSpMk id="31" creationId="{D131A2B8-B968-04D5-76C3-EEFE43DDED9E}"/>
          </ac:grpSpMkLst>
        </pc:grpChg>
        <pc:grpChg chg="add mod">
          <ac:chgData name="Nelson, Stephanie (Bula)" userId="69b768f2-7601-4471-9b80-7695b53cd60c" providerId="ADAL" clId="{2DFB2B79-C6D8-413A-84D3-1C513B457268}" dt="2026-08-28T19:33:09.306" v="1464"/>
          <ac:grpSpMkLst>
            <pc:docMk/>
            <pc:sldMk cId="3152339711" sldId="256"/>
            <ac:grpSpMk id="32" creationId="{D86F2E28-E2AB-62C6-725C-F260AE89069F}"/>
          </ac:grpSpMkLst>
        </pc:grpChg>
        <pc:cxnChg chg="add mod ord">
          <ac:chgData name="Nelson, Stephanie (Bula)" userId="69b768f2-7601-4471-9b80-7695b53cd60c" providerId="ADAL" clId="{2DFB2B79-C6D8-413A-84D3-1C513B457268}" dt="2026-08-28T19:33:09.298" v="1461"/>
          <ac:cxnSpMkLst>
            <pc:docMk/>
            <pc:sldMk cId="3152339711" sldId="256"/>
            <ac:cxnSpMk id="6" creationId="{9DBE5AB9-D213-BEC0-C5A8-D168CF268BB5}"/>
          </ac:cxnSpMkLst>
        </pc:cxnChg>
        <pc:cxnChg chg="add mod ord">
          <ac:chgData name="Nelson, Stephanie (Bula)" userId="69b768f2-7601-4471-9b80-7695b53cd60c" providerId="ADAL" clId="{2DFB2B79-C6D8-413A-84D3-1C513B457268}" dt="2026-08-28T19:33:09.304" v="1463"/>
          <ac:cxnSpMkLst>
            <pc:docMk/>
            <pc:sldMk cId="3152339711" sldId="256"/>
            <ac:cxnSpMk id="21" creationId="{ED3AA91B-39A9-C5E0-B674-BABBE4A3D365}"/>
          </ac:cxnSpMkLst>
        </pc:cxnChg>
        <pc:cxnChg chg="add mod ord">
          <ac:chgData name="Nelson, Stephanie (Bula)" userId="69b768f2-7601-4471-9b80-7695b53cd60c" providerId="ADAL" clId="{2DFB2B79-C6D8-413A-84D3-1C513B457268}" dt="2026-08-28T19:33:09.298" v="1461"/>
          <ac:cxnSpMkLst>
            <pc:docMk/>
            <pc:sldMk cId="3152339711" sldId="256"/>
            <ac:cxnSpMk id="22" creationId="{3BCA2FD3-DE6E-CD65-70DF-373E7E73049A}"/>
          </ac:cxnSpMkLst>
        </pc:cxnChg>
        <pc:cxnChg chg="add mod ord">
          <ac:chgData name="Nelson, Stephanie (Bula)" userId="69b768f2-7601-4471-9b80-7695b53cd60c" providerId="ADAL" clId="{2DFB2B79-C6D8-413A-84D3-1C513B457268}" dt="2026-08-28T19:33:09.304" v="1463"/>
          <ac:cxnSpMkLst>
            <pc:docMk/>
            <pc:sldMk cId="3152339711" sldId="256"/>
            <ac:cxnSpMk id="25" creationId="{EF1B1743-F698-FA72-07B9-3C4CDEEB65CA}"/>
          </ac:cxnSpMkLst>
        </pc:cxnChg>
      </pc:sldChg>
      <pc:sldChg chg="del">
        <pc:chgData name="Nelson, Stephanie (Bula)" userId="69b768f2-7601-4471-9b80-7695b53cd60c" providerId="ADAL" clId="{2DFB2B79-C6D8-413A-84D3-1C513B457268}" dt="2026-08-28T17:18:11.344" v="78" actId="2696"/>
        <pc:sldMkLst>
          <pc:docMk/>
          <pc:sldMk cId="539591871" sldId="258"/>
        </pc:sldMkLst>
      </pc:sldChg>
      <pc:sldChg chg="del">
        <pc:chgData name="Nelson, Stephanie (Bula)" userId="69b768f2-7601-4471-9b80-7695b53cd60c" providerId="ADAL" clId="{2DFB2B79-C6D8-413A-84D3-1C513B457268}" dt="2026-08-28T17:18:11.322" v="76" actId="2696"/>
        <pc:sldMkLst>
          <pc:docMk/>
          <pc:sldMk cId="1911598375" sldId="259"/>
        </pc:sldMkLst>
      </pc:sldChg>
      <pc:sldChg chg="modSp add mod ord">
        <pc:chgData name="Nelson, Stephanie (Bula)" userId="69b768f2-7601-4471-9b80-7695b53cd60c" providerId="ADAL" clId="{2DFB2B79-C6D8-413A-84D3-1C513B457268}" dt="2026-08-28T18:17:03.184" v="1396"/>
        <pc:sldMkLst>
          <pc:docMk/>
          <pc:sldMk cId="2396144236" sldId="259"/>
        </pc:sldMkLst>
        <pc:spChg chg="mod">
          <ac:chgData name="Nelson, Stephanie (Bula)" userId="69b768f2-7601-4471-9b80-7695b53cd60c" providerId="ADAL" clId="{2DFB2B79-C6D8-413A-84D3-1C513B457268}" dt="2026-08-28T17:35:27.322" v="746" actId="20577"/>
          <ac:spMkLst>
            <pc:docMk/>
            <pc:sldMk cId="2396144236" sldId="259"/>
            <ac:spMk id="4" creationId="{36F45FD6-FEE2-F48F-E1EC-10363F184423}"/>
          </ac:spMkLst>
        </pc:spChg>
      </pc:sldChg>
      <pc:sldChg chg="del">
        <pc:chgData name="Nelson, Stephanie (Bula)" userId="69b768f2-7601-4471-9b80-7695b53cd60c" providerId="ADAL" clId="{2DFB2B79-C6D8-413A-84D3-1C513B457268}" dt="2026-08-28T17:18:11.317" v="75" actId="2696"/>
        <pc:sldMkLst>
          <pc:docMk/>
          <pc:sldMk cId="212077734" sldId="260"/>
        </pc:sldMkLst>
      </pc:sldChg>
      <pc:sldChg chg="addSp delSp modSp add mod modTransition">
        <pc:chgData name="Nelson, Stephanie (Bula)" userId="69b768f2-7601-4471-9b80-7695b53cd60c" providerId="ADAL" clId="{2DFB2B79-C6D8-413A-84D3-1C513B457268}" dt="2026-08-28T17:35:38.823" v="813"/>
        <pc:sldMkLst>
          <pc:docMk/>
          <pc:sldMk cId="1880079901" sldId="261"/>
        </pc:sldMkLst>
        <pc:spChg chg="add mod">
          <ac:chgData name="Nelson, Stephanie (Bula)" userId="69b768f2-7601-4471-9b80-7695b53cd60c" providerId="ADAL" clId="{2DFB2B79-C6D8-413A-84D3-1C513B457268}" dt="2026-08-28T17:35:32.667" v="809"/>
          <ac:spMkLst>
            <pc:docMk/>
            <pc:sldMk cId="1880079901" sldId="261"/>
            <ac:spMk id="13" creationId="{4D433C19-DC45-7B41-E6D7-D8FC32B4C77F}"/>
          </ac:spMkLst>
        </pc:spChg>
        <pc:spChg chg="add mod">
          <ac:chgData name="Nelson, Stephanie (Bula)" userId="69b768f2-7601-4471-9b80-7695b53cd60c" providerId="ADAL" clId="{2DFB2B79-C6D8-413A-84D3-1C513B457268}" dt="2026-08-28T17:35:32.669" v="811"/>
          <ac:spMkLst>
            <pc:docMk/>
            <pc:sldMk cId="1880079901" sldId="261"/>
            <ac:spMk id="14" creationId="{D7CE32FC-E4A1-D36A-CEE1-E61158FF2C07}"/>
          </ac:spMkLst>
        </pc:spChg>
        <pc:spChg chg="add mod">
          <ac:chgData name="Nelson, Stephanie (Bula)" userId="69b768f2-7601-4471-9b80-7695b53cd60c" providerId="ADAL" clId="{2DFB2B79-C6D8-413A-84D3-1C513B457268}" dt="2026-08-28T17:35:32.667" v="809"/>
          <ac:spMkLst>
            <pc:docMk/>
            <pc:sldMk cId="1880079901" sldId="261"/>
            <ac:spMk id="15" creationId="{1CBAF0A4-A29A-B95C-2E99-B8CC6E468A31}"/>
          </ac:spMkLst>
        </pc:spChg>
        <pc:spChg chg="add mod">
          <ac:chgData name="Nelson, Stephanie (Bula)" userId="69b768f2-7601-4471-9b80-7695b53cd60c" providerId="ADAL" clId="{2DFB2B79-C6D8-413A-84D3-1C513B457268}" dt="2026-08-28T17:35:32.669" v="811"/>
          <ac:spMkLst>
            <pc:docMk/>
            <pc:sldMk cId="1880079901" sldId="261"/>
            <ac:spMk id="19" creationId="{E6585884-96F1-06A8-2B9E-16795360385C}"/>
          </ac:spMkLst>
        </pc:spChg>
        <pc:spChg chg="add mod">
          <ac:chgData name="Nelson, Stephanie (Bula)" userId="69b768f2-7601-4471-9b80-7695b53cd60c" providerId="ADAL" clId="{2DFB2B79-C6D8-413A-84D3-1C513B457268}" dt="2026-08-28T17:35:38.823" v="813"/>
          <ac:spMkLst>
            <pc:docMk/>
            <pc:sldMk cId="1880079901" sldId="261"/>
            <ac:spMk id="22" creationId="{7BC96BAA-0D92-94BB-1AEB-557B04F6C9DC}"/>
          </ac:spMkLst>
        </pc:spChg>
        <pc:spChg chg="add mod">
          <ac:chgData name="Nelson, Stephanie (Bula)" userId="69b768f2-7601-4471-9b80-7695b53cd60c" providerId="ADAL" clId="{2DFB2B79-C6D8-413A-84D3-1C513B457268}" dt="2026-08-28T17:35:38.823" v="813"/>
          <ac:spMkLst>
            <pc:docMk/>
            <pc:sldMk cId="1880079901" sldId="261"/>
            <ac:spMk id="24" creationId="{85AF6A8E-ECFE-9CD7-943A-8D6A78B4D9D0}"/>
          </ac:spMkLst>
        </pc:spChg>
        <pc:grpChg chg="add mod">
          <ac:chgData name="Nelson, Stephanie (Bula)" userId="69b768f2-7601-4471-9b80-7695b53cd60c" providerId="ADAL" clId="{2DFB2B79-C6D8-413A-84D3-1C513B457268}" dt="2026-08-28T17:35:32.668" v="810"/>
          <ac:grpSpMkLst>
            <pc:docMk/>
            <pc:sldMk cId="1880079901" sldId="261"/>
            <ac:grpSpMk id="20" creationId="{71924AB4-FF7B-3B3C-1530-4FC165D0DA3B}"/>
          </ac:grpSpMkLst>
        </pc:grpChg>
        <pc:grpChg chg="add mod">
          <ac:chgData name="Nelson, Stephanie (Bula)" userId="69b768f2-7601-4471-9b80-7695b53cd60c" providerId="ADAL" clId="{2DFB2B79-C6D8-413A-84D3-1C513B457268}" dt="2026-08-28T17:35:32.669" v="812"/>
          <ac:grpSpMkLst>
            <pc:docMk/>
            <pc:sldMk cId="1880079901" sldId="261"/>
            <ac:grpSpMk id="21" creationId="{61F5288D-6B13-A4E2-808A-760218ACD583}"/>
          </ac:grpSpMkLst>
        </pc:grpChg>
        <pc:grpChg chg="del">
          <ac:chgData name="Nelson, Stephanie (Bula)" userId="69b768f2-7601-4471-9b80-7695b53cd60c" providerId="ADAL" clId="{2DFB2B79-C6D8-413A-84D3-1C513B457268}" dt="2026-08-28T17:35:32.622" v="748"/>
          <ac:grpSpMkLst>
            <pc:docMk/>
            <pc:sldMk cId="1880079901" sldId="261"/>
            <ac:grpSpMk id="29" creationId="{74F6CEB4-E785-739F-B5E9-6A022BCDD1B2}"/>
          </ac:grpSpMkLst>
        </pc:grpChg>
        <pc:grpChg chg="del">
          <ac:chgData name="Nelson, Stephanie (Bula)" userId="69b768f2-7601-4471-9b80-7695b53cd60c" providerId="ADAL" clId="{2DFB2B79-C6D8-413A-84D3-1C513B457268}" dt="2026-08-28T17:35:32.606" v="747"/>
          <ac:grpSpMkLst>
            <pc:docMk/>
            <pc:sldMk cId="1880079901" sldId="261"/>
            <ac:grpSpMk id="30" creationId="{5E445E6C-A316-93BD-DCC0-E9BF3A20247B}"/>
          </ac:grpSpMkLst>
        </pc:grpChg>
        <pc:graphicFrameChg chg="modGraphic">
          <ac:chgData name="Nelson, Stephanie (Bula)" userId="69b768f2-7601-4471-9b80-7695b53cd60c" providerId="ADAL" clId="{2DFB2B79-C6D8-413A-84D3-1C513B457268}" dt="2026-08-28T17:30:54.230" v="370" actId="948"/>
          <ac:graphicFrameMkLst>
            <pc:docMk/>
            <pc:sldMk cId="1880079901" sldId="261"/>
            <ac:graphicFrameMk id="4" creationId="{00000000-0000-0000-0000-000000000000}"/>
          </ac:graphicFrameMkLst>
        </pc:graphicFrameChg>
        <pc:cxnChg chg="add mod ord">
          <ac:chgData name="Nelson, Stephanie (Bula)" userId="69b768f2-7601-4471-9b80-7695b53cd60c" providerId="ADAL" clId="{2DFB2B79-C6D8-413A-84D3-1C513B457268}" dt="2026-08-28T17:35:32.667" v="809"/>
          <ac:cxnSpMkLst>
            <pc:docMk/>
            <pc:sldMk cId="1880079901" sldId="261"/>
            <ac:cxnSpMk id="9" creationId="{4479BEBF-D519-A604-C152-AC8E91A6342E}"/>
          </ac:cxnSpMkLst>
        </pc:cxnChg>
        <pc:cxnChg chg="add mod ord">
          <ac:chgData name="Nelson, Stephanie (Bula)" userId="69b768f2-7601-4471-9b80-7695b53cd60c" providerId="ADAL" clId="{2DFB2B79-C6D8-413A-84D3-1C513B457268}" dt="2026-08-28T17:35:32.669" v="811"/>
          <ac:cxnSpMkLst>
            <pc:docMk/>
            <pc:sldMk cId="1880079901" sldId="261"/>
            <ac:cxnSpMk id="10" creationId="{AA7C530A-6B10-2328-A119-78B449151EC0}"/>
          </ac:cxnSpMkLst>
        </pc:cxnChg>
        <pc:cxnChg chg="add mod ord">
          <ac:chgData name="Nelson, Stephanie (Bula)" userId="69b768f2-7601-4471-9b80-7695b53cd60c" providerId="ADAL" clId="{2DFB2B79-C6D8-413A-84D3-1C513B457268}" dt="2026-08-28T17:35:32.667" v="809"/>
          <ac:cxnSpMkLst>
            <pc:docMk/>
            <pc:sldMk cId="1880079901" sldId="261"/>
            <ac:cxnSpMk id="11" creationId="{391FA96F-5C8F-C6E9-6305-C4E982197608}"/>
          </ac:cxnSpMkLst>
        </pc:cxnChg>
        <pc:cxnChg chg="add mod ord">
          <ac:chgData name="Nelson, Stephanie (Bula)" userId="69b768f2-7601-4471-9b80-7695b53cd60c" providerId="ADAL" clId="{2DFB2B79-C6D8-413A-84D3-1C513B457268}" dt="2026-08-28T17:35:32.669" v="811"/>
          <ac:cxnSpMkLst>
            <pc:docMk/>
            <pc:sldMk cId="1880079901" sldId="261"/>
            <ac:cxnSpMk id="12" creationId="{BD279F00-8DEF-A54C-9CDE-AC452C661D14}"/>
          </ac:cxnSpMkLst>
        </pc:cxnChg>
      </pc:sldChg>
      <pc:sldChg chg="del">
        <pc:chgData name="Nelson, Stephanie (Bula)" userId="69b768f2-7601-4471-9b80-7695b53cd60c" providerId="ADAL" clId="{2DFB2B79-C6D8-413A-84D3-1C513B457268}" dt="2026-08-28T17:18:11.280" v="74" actId="2696"/>
        <pc:sldMkLst>
          <pc:docMk/>
          <pc:sldMk cId="4114001763" sldId="262"/>
        </pc:sldMkLst>
      </pc:sldChg>
      <pc:sldChg chg="del">
        <pc:chgData name="Nelson, Stephanie (Bula)" userId="69b768f2-7601-4471-9b80-7695b53cd60c" providerId="ADAL" clId="{2DFB2B79-C6D8-413A-84D3-1C513B457268}" dt="2026-08-28T17:18:11.272" v="73" actId="2696"/>
        <pc:sldMkLst>
          <pc:docMk/>
          <pc:sldMk cId="3940014947" sldId="263"/>
        </pc:sldMkLst>
      </pc:sldChg>
      <pc:sldChg chg="del">
        <pc:chgData name="Nelson, Stephanie (Bula)" userId="69b768f2-7601-4471-9b80-7695b53cd60c" providerId="ADAL" clId="{2DFB2B79-C6D8-413A-84D3-1C513B457268}" dt="2026-08-28T17:18:11.243" v="72" actId="2696"/>
        <pc:sldMkLst>
          <pc:docMk/>
          <pc:sldMk cId="2156793547" sldId="264"/>
        </pc:sldMkLst>
      </pc:sldChg>
      <pc:sldChg chg="del">
        <pc:chgData name="Nelson, Stephanie (Bula)" userId="69b768f2-7601-4471-9b80-7695b53cd60c" providerId="ADAL" clId="{2DFB2B79-C6D8-413A-84D3-1C513B457268}" dt="2026-08-28T17:18:11.224" v="70" actId="2696"/>
        <pc:sldMkLst>
          <pc:docMk/>
          <pc:sldMk cId="134472234" sldId="265"/>
        </pc:sldMkLst>
      </pc:sldChg>
      <pc:sldChg chg="del">
        <pc:chgData name="Nelson, Stephanie (Bula)" userId="69b768f2-7601-4471-9b80-7695b53cd60c" providerId="ADAL" clId="{2DFB2B79-C6D8-413A-84D3-1C513B457268}" dt="2026-08-28T17:18:11.210" v="69" actId="2696"/>
        <pc:sldMkLst>
          <pc:docMk/>
          <pc:sldMk cId="297799655" sldId="266"/>
        </pc:sldMkLst>
      </pc:sldChg>
      <pc:sldChg chg="addSp modSp mod">
        <pc:chgData name="Nelson, Stephanie (Bula)" userId="69b768f2-7601-4471-9b80-7695b53cd60c" providerId="ADAL" clId="{2DFB2B79-C6D8-413A-84D3-1C513B457268}" dt="2026-08-28T17:22:40.761" v="159" actId="20577"/>
        <pc:sldMkLst>
          <pc:docMk/>
          <pc:sldMk cId="207211408" sldId="267"/>
        </pc:sldMkLst>
        <pc:spChg chg="add mod">
          <ac:chgData name="Nelson, Stephanie (Bula)" userId="69b768f2-7601-4471-9b80-7695b53cd60c" providerId="ADAL" clId="{2DFB2B79-C6D8-413A-84D3-1C513B457268}" dt="2026-08-28T17:22:40.761" v="159" actId="20577"/>
          <ac:spMkLst>
            <pc:docMk/>
            <pc:sldMk cId="207211408" sldId="267"/>
            <ac:spMk id="2" creationId="{B02A944A-2F34-3BB6-8AAC-1D10E798106E}"/>
          </ac:spMkLst>
        </pc:spChg>
      </pc:sldChg>
      <pc:sldChg chg="del">
        <pc:chgData name="Nelson, Stephanie (Bula)" userId="69b768f2-7601-4471-9b80-7695b53cd60c" providerId="ADAL" clId="{2DFB2B79-C6D8-413A-84D3-1C513B457268}" dt="2026-08-28T17:18:11.187" v="68" actId="2696"/>
        <pc:sldMkLst>
          <pc:docMk/>
          <pc:sldMk cId="2035437971" sldId="268"/>
        </pc:sldMkLst>
      </pc:sldChg>
      <pc:sldChg chg="del">
        <pc:chgData name="Nelson, Stephanie (Bula)" userId="69b768f2-7601-4471-9b80-7695b53cd60c" providerId="ADAL" clId="{2DFB2B79-C6D8-413A-84D3-1C513B457268}" dt="2026-08-28T17:18:11.159" v="65" actId="2696"/>
        <pc:sldMkLst>
          <pc:docMk/>
          <pc:sldMk cId="3753874012" sldId="269"/>
        </pc:sldMkLst>
      </pc:sldChg>
      <pc:sldChg chg="del">
        <pc:chgData name="Nelson, Stephanie (Bula)" userId="69b768f2-7601-4471-9b80-7695b53cd60c" providerId="ADAL" clId="{2DFB2B79-C6D8-413A-84D3-1C513B457268}" dt="2026-08-28T17:18:11.143" v="64" actId="2696"/>
        <pc:sldMkLst>
          <pc:docMk/>
          <pc:sldMk cId="3582209389" sldId="271"/>
        </pc:sldMkLst>
      </pc:sldChg>
      <pc:sldChg chg="del">
        <pc:chgData name="Nelson, Stephanie (Bula)" userId="69b768f2-7601-4471-9b80-7695b53cd60c" providerId="ADAL" clId="{2DFB2B79-C6D8-413A-84D3-1C513B457268}" dt="2026-08-28T17:18:11.115" v="62" actId="2696"/>
        <pc:sldMkLst>
          <pc:docMk/>
          <pc:sldMk cId="2574731240" sldId="272"/>
        </pc:sldMkLst>
      </pc:sldChg>
      <pc:sldChg chg="del">
        <pc:chgData name="Nelson, Stephanie (Bula)" userId="69b768f2-7601-4471-9b80-7695b53cd60c" providerId="ADAL" clId="{2DFB2B79-C6D8-413A-84D3-1C513B457268}" dt="2026-08-28T17:18:11.065" v="60" actId="2696"/>
        <pc:sldMkLst>
          <pc:docMk/>
          <pc:sldMk cId="2019270208" sldId="273"/>
        </pc:sldMkLst>
      </pc:sldChg>
      <pc:sldChg chg="del">
        <pc:chgData name="Nelson, Stephanie (Bula)" userId="69b768f2-7601-4471-9b80-7695b53cd60c" providerId="ADAL" clId="{2DFB2B79-C6D8-413A-84D3-1C513B457268}" dt="2026-08-28T17:18:11.040" v="59" actId="2696"/>
        <pc:sldMkLst>
          <pc:docMk/>
          <pc:sldMk cId="3906226300" sldId="274"/>
        </pc:sldMkLst>
      </pc:sldChg>
      <pc:sldChg chg="del">
        <pc:chgData name="Nelson, Stephanie (Bula)" userId="69b768f2-7601-4471-9b80-7695b53cd60c" providerId="ADAL" clId="{2DFB2B79-C6D8-413A-84D3-1C513B457268}" dt="2026-08-28T17:18:11.019" v="58" actId="2696"/>
        <pc:sldMkLst>
          <pc:docMk/>
          <pc:sldMk cId="592237476" sldId="275"/>
        </pc:sldMkLst>
      </pc:sldChg>
      <pc:sldChg chg="del">
        <pc:chgData name="Nelson, Stephanie (Bula)" userId="69b768f2-7601-4471-9b80-7695b53cd60c" providerId="ADAL" clId="{2DFB2B79-C6D8-413A-84D3-1C513B457268}" dt="2026-08-28T17:18:10.952" v="56" actId="2696"/>
        <pc:sldMkLst>
          <pc:docMk/>
          <pc:sldMk cId="2302161712" sldId="277"/>
        </pc:sldMkLst>
      </pc:sldChg>
      <pc:sldChg chg="del">
        <pc:chgData name="Nelson, Stephanie (Bula)" userId="69b768f2-7601-4471-9b80-7695b53cd60c" providerId="ADAL" clId="{2DFB2B79-C6D8-413A-84D3-1C513B457268}" dt="2026-08-28T17:18:10.902" v="54" actId="2696"/>
        <pc:sldMkLst>
          <pc:docMk/>
          <pc:sldMk cId="1665964180" sldId="278"/>
        </pc:sldMkLst>
      </pc:sldChg>
      <pc:sldChg chg="del">
        <pc:chgData name="Nelson, Stephanie (Bula)" userId="69b768f2-7601-4471-9b80-7695b53cd60c" providerId="ADAL" clId="{2DFB2B79-C6D8-413A-84D3-1C513B457268}" dt="2026-08-28T17:18:10.861" v="52" actId="2696"/>
        <pc:sldMkLst>
          <pc:docMk/>
          <pc:sldMk cId="1384869373" sldId="279"/>
        </pc:sldMkLst>
      </pc:sldChg>
      <pc:sldChg chg="del">
        <pc:chgData name="Nelson, Stephanie (Bula)" userId="69b768f2-7601-4471-9b80-7695b53cd60c" providerId="ADAL" clId="{2DFB2B79-C6D8-413A-84D3-1C513B457268}" dt="2026-08-28T17:18:10.826" v="51" actId="2696"/>
        <pc:sldMkLst>
          <pc:docMk/>
          <pc:sldMk cId="4176781216" sldId="280"/>
        </pc:sldMkLst>
      </pc:sldChg>
      <pc:sldChg chg="del">
        <pc:chgData name="Nelson, Stephanie (Bula)" userId="69b768f2-7601-4471-9b80-7695b53cd60c" providerId="ADAL" clId="{2DFB2B79-C6D8-413A-84D3-1C513B457268}" dt="2026-08-28T17:18:10.886" v="53" actId="2696"/>
        <pc:sldMkLst>
          <pc:docMk/>
          <pc:sldMk cId="3631740488" sldId="281"/>
        </pc:sldMkLst>
      </pc:sldChg>
      <pc:sldChg chg="del">
        <pc:chgData name="Nelson, Stephanie (Bula)" userId="69b768f2-7601-4471-9b80-7695b53cd60c" providerId="ADAL" clId="{2DFB2B79-C6D8-413A-84D3-1C513B457268}" dt="2026-08-28T17:18:10.783" v="50" actId="2696"/>
        <pc:sldMkLst>
          <pc:docMk/>
          <pc:sldMk cId="2075559147" sldId="282"/>
        </pc:sldMkLst>
      </pc:sldChg>
      <pc:sldChg chg="del">
        <pc:chgData name="Nelson, Stephanie (Bula)" userId="69b768f2-7601-4471-9b80-7695b53cd60c" providerId="ADAL" clId="{2DFB2B79-C6D8-413A-84D3-1C513B457268}" dt="2026-08-28T17:18:10.776" v="49" actId="2696"/>
        <pc:sldMkLst>
          <pc:docMk/>
          <pc:sldMk cId="633110126" sldId="283"/>
        </pc:sldMkLst>
      </pc:sldChg>
      <pc:sldChg chg="del">
        <pc:chgData name="Nelson, Stephanie (Bula)" userId="69b768f2-7601-4471-9b80-7695b53cd60c" providerId="ADAL" clId="{2DFB2B79-C6D8-413A-84D3-1C513B457268}" dt="2026-08-28T17:18:10.769" v="48" actId="2696"/>
        <pc:sldMkLst>
          <pc:docMk/>
          <pc:sldMk cId="807508024" sldId="284"/>
        </pc:sldMkLst>
      </pc:sldChg>
      <pc:sldChg chg="del">
        <pc:chgData name="Nelson, Stephanie (Bula)" userId="69b768f2-7601-4471-9b80-7695b53cd60c" providerId="ADAL" clId="{2DFB2B79-C6D8-413A-84D3-1C513B457268}" dt="2026-08-28T17:18:10.740" v="47" actId="2696"/>
        <pc:sldMkLst>
          <pc:docMk/>
          <pc:sldMk cId="3049097724" sldId="285"/>
        </pc:sldMkLst>
      </pc:sldChg>
      <pc:sldChg chg="del">
        <pc:chgData name="Nelson, Stephanie (Bula)" userId="69b768f2-7601-4471-9b80-7695b53cd60c" providerId="ADAL" clId="{2DFB2B79-C6D8-413A-84D3-1C513B457268}" dt="2026-08-28T17:18:10.717" v="46" actId="2696"/>
        <pc:sldMkLst>
          <pc:docMk/>
          <pc:sldMk cId="2282082260" sldId="286"/>
        </pc:sldMkLst>
      </pc:sldChg>
      <pc:sldChg chg="addSp modSp add mod">
        <pc:chgData name="Nelson, Stephanie (Bula)" userId="69b768f2-7601-4471-9b80-7695b53cd60c" providerId="ADAL" clId="{2DFB2B79-C6D8-413A-84D3-1C513B457268}" dt="2026-08-28T17:37:38.074" v="934" actId="20577"/>
        <pc:sldMkLst>
          <pc:docMk/>
          <pc:sldMk cId="1584713016" sldId="288"/>
        </pc:sldMkLst>
        <pc:spChg chg="add mod">
          <ac:chgData name="Nelson, Stephanie (Bula)" userId="69b768f2-7601-4471-9b80-7695b53cd60c" providerId="ADAL" clId="{2DFB2B79-C6D8-413A-84D3-1C513B457268}" dt="2026-08-28T17:37:38.074" v="934" actId="20577"/>
          <ac:spMkLst>
            <pc:docMk/>
            <pc:sldMk cId="1584713016" sldId="288"/>
            <ac:spMk id="3" creationId="{7E26567A-3557-423F-0256-814B09EB3E9A}"/>
          </ac:spMkLst>
        </pc:spChg>
      </pc:sldChg>
      <pc:sldChg chg="del">
        <pc:chgData name="Nelson, Stephanie (Bula)" userId="69b768f2-7601-4471-9b80-7695b53cd60c" providerId="ADAL" clId="{2DFB2B79-C6D8-413A-84D3-1C513B457268}" dt="2026-08-28T17:18:10.591" v="42" actId="2696"/>
        <pc:sldMkLst>
          <pc:docMk/>
          <pc:sldMk cId="2419641970" sldId="289"/>
        </pc:sldMkLst>
      </pc:sldChg>
      <pc:sldChg chg="del">
        <pc:chgData name="Nelson, Stephanie (Bula)" userId="69b768f2-7601-4471-9b80-7695b53cd60c" providerId="ADAL" clId="{2DFB2B79-C6D8-413A-84D3-1C513B457268}" dt="2026-08-28T17:18:10.564" v="41" actId="2696"/>
        <pc:sldMkLst>
          <pc:docMk/>
          <pc:sldMk cId="3005829819" sldId="290"/>
        </pc:sldMkLst>
      </pc:sldChg>
      <pc:sldChg chg="del">
        <pc:chgData name="Nelson, Stephanie (Bula)" userId="69b768f2-7601-4471-9b80-7695b53cd60c" providerId="ADAL" clId="{2DFB2B79-C6D8-413A-84D3-1C513B457268}" dt="2026-08-28T17:18:10.522" v="40" actId="2696"/>
        <pc:sldMkLst>
          <pc:docMk/>
          <pc:sldMk cId="4099417796" sldId="291"/>
        </pc:sldMkLst>
      </pc:sldChg>
      <pc:sldChg chg="del">
        <pc:chgData name="Nelson, Stephanie (Bula)" userId="69b768f2-7601-4471-9b80-7695b53cd60c" providerId="ADAL" clId="{2DFB2B79-C6D8-413A-84D3-1C513B457268}" dt="2026-08-28T17:18:10.504" v="39" actId="2696"/>
        <pc:sldMkLst>
          <pc:docMk/>
          <pc:sldMk cId="1629994962" sldId="292"/>
        </pc:sldMkLst>
      </pc:sldChg>
      <pc:sldChg chg="addSp modSp add mod">
        <pc:chgData name="Nelson, Stephanie (Bula)" userId="69b768f2-7601-4471-9b80-7695b53cd60c" providerId="ADAL" clId="{2DFB2B79-C6D8-413A-84D3-1C513B457268}" dt="2026-08-28T17:37:54.772" v="1000" actId="20577"/>
        <pc:sldMkLst>
          <pc:docMk/>
          <pc:sldMk cId="864678383" sldId="293"/>
        </pc:sldMkLst>
        <pc:spChg chg="add mod">
          <ac:chgData name="Nelson, Stephanie (Bula)" userId="69b768f2-7601-4471-9b80-7695b53cd60c" providerId="ADAL" clId="{2DFB2B79-C6D8-413A-84D3-1C513B457268}" dt="2026-08-28T17:37:54.772" v="1000" actId="20577"/>
          <ac:spMkLst>
            <pc:docMk/>
            <pc:sldMk cId="864678383" sldId="293"/>
            <ac:spMk id="3" creationId="{C397E7AF-5617-4EE8-1ED8-B08FA0B73596}"/>
          </ac:spMkLst>
        </pc:spChg>
      </pc:sldChg>
      <pc:sldChg chg="del">
        <pc:chgData name="Nelson, Stephanie (Bula)" userId="69b768f2-7601-4471-9b80-7695b53cd60c" providerId="ADAL" clId="{2DFB2B79-C6D8-413A-84D3-1C513B457268}" dt="2026-08-28T17:18:10.472" v="38" actId="2696"/>
        <pc:sldMkLst>
          <pc:docMk/>
          <pc:sldMk cId="4073237028" sldId="293"/>
        </pc:sldMkLst>
      </pc:sldChg>
      <pc:sldChg chg="del">
        <pc:chgData name="Nelson, Stephanie (Bula)" userId="69b768f2-7601-4471-9b80-7695b53cd60c" providerId="ADAL" clId="{2DFB2B79-C6D8-413A-84D3-1C513B457268}" dt="2026-08-28T17:18:10.457" v="37" actId="2696"/>
        <pc:sldMkLst>
          <pc:docMk/>
          <pc:sldMk cId="1403734880" sldId="294"/>
        </pc:sldMkLst>
      </pc:sldChg>
      <pc:sldChg chg="del">
        <pc:chgData name="Nelson, Stephanie (Bula)" userId="69b768f2-7601-4471-9b80-7695b53cd60c" providerId="ADAL" clId="{2DFB2B79-C6D8-413A-84D3-1C513B457268}" dt="2026-08-28T17:18:10.436" v="36" actId="2696"/>
        <pc:sldMkLst>
          <pc:docMk/>
          <pc:sldMk cId="2304299901" sldId="295"/>
        </pc:sldMkLst>
      </pc:sldChg>
      <pc:sldChg chg="del">
        <pc:chgData name="Nelson, Stephanie (Bula)" userId="69b768f2-7601-4471-9b80-7695b53cd60c" providerId="ADAL" clId="{2DFB2B79-C6D8-413A-84D3-1C513B457268}" dt="2026-08-28T17:18:10.406" v="35" actId="2696"/>
        <pc:sldMkLst>
          <pc:docMk/>
          <pc:sldMk cId="1790039992" sldId="296"/>
        </pc:sldMkLst>
      </pc:sldChg>
      <pc:sldChg chg="del">
        <pc:chgData name="Nelson, Stephanie (Bula)" userId="69b768f2-7601-4471-9b80-7695b53cd60c" providerId="ADAL" clId="{2DFB2B79-C6D8-413A-84D3-1C513B457268}" dt="2026-08-28T17:18:10.322" v="32" actId="2696"/>
        <pc:sldMkLst>
          <pc:docMk/>
          <pc:sldMk cId="120138007" sldId="298"/>
        </pc:sldMkLst>
      </pc:sldChg>
      <pc:sldChg chg="del">
        <pc:chgData name="Nelson, Stephanie (Bula)" userId="69b768f2-7601-4471-9b80-7695b53cd60c" providerId="ADAL" clId="{2DFB2B79-C6D8-413A-84D3-1C513B457268}" dt="2026-08-28T17:18:10.305" v="31" actId="2696"/>
        <pc:sldMkLst>
          <pc:docMk/>
          <pc:sldMk cId="2062273827" sldId="299"/>
        </pc:sldMkLst>
      </pc:sldChg>
      <pc:sldChg chg="del">
        <pc:chgData name="Nelson, Stephanie (Bula)" userId="69b768f2-7601-4471-9b80-7695b53cd60c" providerId="ADAL" clId="{2DFB2B79-C6D8-413A-84D3-1C513B457268}" dt="2026-08-28T17:18:10.236" v="30" actId="2696"/>
        <pc:sldMkLst>
          <pc:docMk/>
          <pc:sldMk cId="3210528672" sldId="300"/>
        </pc:sldMkLst>
      </pc:sldChg>
      <pc:sldChg chg="del">
        <pc:chgData name="Nelson, Stephanie (Bula)" userId="69b768f2-7601-4471-9b80-7695b53cd60c" providerId="ADAL" clId="{2DFB2B79-C6D8-413A-84D3-1C513B457268}" dt="2026-08-28T17:18:10.206" v="29" actId="2696"/>
        <pc:sldMkLst>
          <pc:docMk/>
          <pc:sldMk cId="3786780165" sldId="301"/>
        </pc:sldMkLst>
      </pc:sldChg>
      <pc:sldChg chg="del">
        <pc:chgData name="Nelson, Stephanie (Bula)" userId="69b768f2-7601-4471-9b80-7695b53cd60c" providerId="ADAL" clId="{2DFB2B79-C6D8-413A-84D3-1C513B457268}" dt="2026-08-28T17:18:10.195" v="27" actId="2696"/>
        <pc:sldMkLst>
          <pc:docMk/>
          <pc:sldMk cId="2699981873" sldId="302"/>
        </pc:sldMkLst>
      </pc:sldChg>
      <pc:sldChg chg="del">
        <pc:chgData name="Nelson, Stephanie (Bula)" userId="69b768f2-7601-4471-9b80-7695b53cd60c" providerId="ADAL" clId="{2DFB2B79-C6D8-413A-84D3-1C513B457268}" dt="2026-08-28T17:18:10.166" v="26" actId="2696"/>
        <pc:sldMkLst>
          <pc:docMk/>
          <pc:sldMk cId="3790296845" sldId="303"/>
        </pc:sldMkLst>
      </pc:sldChg>
      <pc:sldChg chg="del">
        <pc:chgData name="Nelson, Stephanie (Bula)" userId="69b768f2-7601-4471-9b80-7695b53cd60c" providerId="ADAL" clId="{2DFB2B79-C6D8-413A-84D3-1C513B457268}" dt="2026-08-28T17:18:10.155" v="25" actId="2696"/>
        <pc:sldMkLst>
          <pc:docMk/>
          <pc:sldMk cId="4173056810" sldId="304"/>
        </pc:sldMkLst>
      </pc:sldChg>
      <pc:sldChg chg="del">
        <pc:chgData name="Nelson, Stephanie (Bula)" userId="69b768f2-7601-4471-9b80-7695b53cd60c" providerId="ADAL" clId="{2DFB2B79-C6D8-413A-84D3-1C513B457268}" dt="2026-08-28T17:18:10.055" v="21" actId="2696"/>
        <pc:sldMkLst>
          <pc:docMk/>
          <pc:sldMk cId="4270678868" sldId="307"/>
        </pc:sldMkLst>
      </pc:sldChg>
      <pc:sldChg chg="del">
        <pc:chgData name="Nelson, Stephanie (Bula)" userId="69b768f2-7601-4471-9b80-7695b53cd60c" providerId="ADAL" clId="{2DFB2B79-C6D8-413A-84D3-1C513B457268}" dt="2026-08-28T17:18:10.005" v="19" actId="2696"/>
        <pc:sldMkLst>
          <pc:docMk/>
          <pc:sldMk cId="3724221004" sldId="308"/>
        </pc:sldMkLst>
      </pc:sldChg>
      <pc:sldChg chg="del">
        <pc:chgData name="Nelson, Stephanie (Bula)" userId="69b768f2-7601-4471-9b80-7695b53cd60c" providerId="ADAL" clId="{2DFB2B79-C6D8-413A-84D3-1C513B457268}" dt="2026-08-28T17:18:09.987" v="18" actId="2696"/>
        <pc:sldMkLst>
          <pc:docMk/>
          <pc:sldMk cId="2902356841" sldId="309"/>
        </pc:sldMkLst>
      </pc:sldChg>
      <pc:sldChg chg="del">
        <pc:chgData name="Nelson, Stephanie (Bula)" userId="69b768f2-7601-4471-9b80-7695b53cd60c" providerId="ADAL" clId="{2DFB2B79-C6D8-413A-84D3-1C513B457268}" dt="2026-08-28T17:18:09.919" v="17" actId="2696"/>
        <pc:sldMkLst>
          <pc:docMk/>
          <pc:sldMk cId="55890354" sldId="310"/>
        </pc:sldMkLst>
      </pc:sldChg>
      <pc:sldChg chg="del">
        <pc:chgData name="Nelson, Stephanie (Bula)" userId="69b768f2-7601-4471-9b80-7695b53cd60c" providerId="ADAL" clId="{2DFB2B79-C6D8-413A-84D3-1C513B457268}" dt="2026-08-28T17:18:09.887" v="16" actId="2696"/>
        <pc:sldMkLst>
          <pc:docMk/>
          <pc:sldMk cId="1561352630" sldId="311"/>
        </pc:sldMkLst>
      </pc:sldChg>
      <pc:sldChg chg="del">
        <pc:chgData name="Nelson, Stephanie (Bula)" userId="69b768f2-7601-4471-9b80-7695b53cd60c" providerId="ADAL" clId="{2DFB2B79-C6D8-413A-84D3-1C513B457268}" dt="2026-08-28T17:18:09.887" v="15" actId="2696"/>
        <pc:sldMkLst>
          <pc:docMk/>
          <pc:sldMk cId="1029469963" sldId="312"/>
        </pc:sldMkLst>
      </pc:sldChg>
      <pc:sldChg chg="del">
        <pc:chgData name="Nelson, Stephanie (Bula)" userId="69b768f2-7601-4471-9b80-7695b53cd60c" providerId="ADAL" clId="{2DFB2B79-C6D8-413A-84D3-1C513B457268}" dt="2026-08-28T17:18:09.839" v="14" actId="2696"/>
        <pc:sldMkLst>
          <pc:docMk/>
          <pc:sldMk cId="1722737579" sldId="313"/>
        </pc:sldMkLst>
      </pc:sldChg>
      <pc:sldChg chg="del">
        <pc:chgData name="Nelson, Stephanie (Bula)" userId="69b768f2-7601-4471-9b80-7695b53cd60c" providerId="ADAL" clId="{2DFB2B79-C6D8-413A-84D3-1C513B457268}" dt="2026-08-28T17:18:09.807" v="13" actId="2696"/>
        <pc:sldMkLst>
          <pc:docMk/>
          <pc:sldMk cId="323591735" sldId="314"/>
        </pc:sldMkLst>
      </pc:sldChg>
      <pc:sldChg chg="del">
        <pc:chgData name="Nelson, Stephanie (Bula)" userId="69b768f2-7601-4471-9b80-7695b53cd60c" providerId="ADAL" clId="{2DFB2B79-C6D8-413A-84D3-1C513B457268}" dt="2026-08-28T17:18:09.791" v="12" actId="2696"/>
        <pc:sldMkLst>
          <pc:docMk/>
          <pc:sldMk cId="1031206373" sldId="315"/>
        </pc:sldMkLst>
      </pc:sldChg>
      <pc:sldChg chg="del">
        <pc:chgData name="Nelson, Stephanie (Bula)" userId="69b768f2-7601-4471-9b80-7695b53cd60c" providerId="ADAL" clId="{2DFB2B79-C6D8-413A-84D3-1C513B457268}" dt="2026-08-28T17:18:09.721" v="11" actId="2696"/>
        <pc:sldMkLst>
          <pc:docMk/>
          <pc:sldMk cId="3626019289" sldId="316"/>
        </pc:sldMkLst>
      </pc:sldChg>
      <pc:sldChg chg="del">
        <pc:chgData name="Nelson, Stephanie (Bula)" userId="69b768f2-7601-4471-9b80-7695b53cd60c" providerId="ADAL" clId="{2DFB2B79-C6D8-413A-84D3-1C513B457268}" dt="2026-08-28T17:18:09.679" v="10" actId="2696"/>
        <pc:sldMkLst>
          <pc:docMk/>
          <pc:sldMk cId="1008156256" sldId="317"/>
        </pc:sldMkLst>
      </pc:sldChg>
      <pc:sldChg chg="del">
        <pc:chgData name="Nelson, Stephanie (Bula)" userId="69b768f2-7601-4471-9b80-7695b53cd60c" providerId="ADAL" clId="{2DFB2B79-C6D8-413A-84D3-1C513B457268}" dt="2026-08-28T17:18:09.637" v="9" actId="2696"/>
        <pc:sldMkLst>
          <pc:docMk/>
          <pc:sldMk cId="751074528" sldId="318"/>
        </pc:sldMkLst>
      </pc:sldChg>
      <pc:sldChg chg="del">
        <pc:chgData name="Nelson, Stephanie (Bula)" userId="69b768f2-7601-4471-9b80-7695b53cd60c" providerId="ADAL" clId="{2DFB2B79-C6D8-413A-84D3-1C513B457268}" dt="2026-08-28T17:18:09.607" v="8" actId="2696"/>
        <pc:sldMkLst>
          <pc:docMk/>
          <pc:sldMk cId="1931049329" sldId="319"/>
        </pc:sldMkLst>
      </pc:sldChg>
      <pc:sldChg chg="del">
        <pc:chgData name="Nelson, Stephanie (Bula)" userId="69b768f2-7601-4471-9b80-7695b53cd60c" providerId="ADAL" clId="{2DFB2B79-C6D8-413A-84D3-1C513B457268}" dt="2026-08-28T17:18:09.558" v="7" actId="2696"/>
        <pc:sldMkLst>
          <pc:docMk/>
          <pc:sldMk cId="3503128748" sldId="320"/>
        </pc:sldMkLst>
      </pc:sldChg>
      <pc:sldChg chg="del">
        <pc:chgData name="Nelson, Stephanie (Bula)" userId="69b768f2-7601-4471-9b80-7695b53cd60c" providerId="ADAL" clId="{2DFB2B79-C6D8-413A-84D3-1C513B457268}" dt="2026-08-28T17:18:09.524" v="6" actId="2696"/>
        <pc:sldMkLst>
          <pc:docMk/>
          <pc:sldMk cId="3948444303" sldId="321"/>
        </pc:sldMkLst>
      </pc:sldChg>
      <pc:sldChg chg="del">
        <pc:chgData name="Nelson, Stephanie (Bula)" userId="69b768f2-7601-4471-9b80-7695b53cd60c" providerId="ADAL" clId="{2DFB2B79-C6D8-413A-84D3-1C513B457268}" dt="2026-08-28T17:18:09.424" v="5" actId="2696"/>
        <pc:sldMkLst>
          <pc:docMk/>
          <pc:sldMk cId="2097806597" sldId="322"/>
        </pc:sldMkLst>
      </pc:sldChg>
      <pc:sldChg chg="del">
        <pc:chgData name="Nelson, Stephanie (Bula)" userId="69b768f2-7601-4471-9b80-7695b53cd60c" providerId="ADAL" clId="{2DFB2B79-C6D8-413A-84D3-1C513B457268}" dt="2026-08-28T17:18:09.389" v="4" actId="2696"/>
        <pc:sldMkLst>
          <pc:docMk/>
          <pc:sldMk cId="1144435795" sldId="323"/>
        </pc:sldMkLst>
      </pc:sldChg>
      <pc:sldChg chg="del">
        <pc:chgData name="Nelson, Stephanie (Bula)" userId="69b768f2-7601-4471-9b80-7695b53cd60c" providerId="ADAL" clId="{2DFB2B79-C6D8-413A-84D3-1C513B457268}" dt="2026-08-28T17:18:09.341" v="3" actId="2696"/>
        <pc:sldMkLst>
          <pc:docMk/>
          <pc:sldMk cId="1423307684" sldId="324"/>
        </pc:sldMkLst>
      </pc:sldChg>
      <pc:sldChg chg="del">
        <pc:chgData name="Nelson, Stephanie (Bula)" userId="69b768f2-7601-4471-9b80-7695b53cd60c" providerId="ADAL" clId="{2DFB2B79-C6D8-413A-84D3-1C513B457268}" dt="2026-08-28T17:18:09.305" v="2" actId="2696"/>
        <pc:sldMkLst>
          <pc:docMk/>
          <pc:sldMk cId="1639277790" sldId="325"/>
        </pc:sldMkLst>
      </pc:sldChg>
      <pc:sldChg chg="del">
        <pc:chgData name="Nelson, Stephanie (Bula)" userId="69b768f2-7601-4471-9b80-7695b53cd60c" providerId="ADAL" clId="{2DFB2B79-C6D8-413A-84D3-1C513B457268}" dt="2026-08-28T17:18:08.401" v="1" actId="2696"/>
        <pc:sldMkLst>
          <pc:docMk/>
          <pc:sldMk cId="965405257" sldId="326"/>
        </pc:sldMkLst>
      </pc:sldChg>
      <pc:sldChg chg="del">
        <pc:chgData name="Nelson, Stephanie (Bula)" userId="69b768f2-7601-4471-9b80-7695b53cd60c" providerId="ADAL" clId="{2DFB2B79-C6D8-413A-84D3-1C513B457268}" dt="2026-08-28T17:18:08.365" v="0" actId="2696"/>
        <pc:sldMkLst>
          <pc:docMk/>
          <pc:sldMk cId="3170762840" sldId="327"/>
        </pc:sldMkLst>
      </pc:sldChg>
      <pc:sldChg chg="del">
        <pc:chgData name="Nelson, Stephanie (Bula)" userId="69b768f2-7601-4471-9b80-7695b53cd60c" providerId="ADAL" clId="{2DFB2B79-C6D8-413A-84D3-1C513B457268}" dt="2026-08-28T17:18:10.087" v="22" actId="2696"/>
        <pc:sldMkLst>
          <pc:docMk/>
          <pc:sldMk cId="532268968" sldId="328"/>
        </pc:sldMkLst>
      </pc:sldChg>
      <pc:sldChg chg="addSp delSp modSp add mod">
        <pc:chgData name="Nelson, Stephanie (Bula)" userId="69b768f2-7601-4471-9b80-7695b53cd60c" providerId="ADAL" clId="{2DFB2B79-C6D8-413A-84D3-1C513B457268}" dt="2026-08-28T17:27:40.334" v="276" actId="21"/>
        <pc:sldMkLst>
          <pc:docMk/>
          <pc:sldMk cId="1897351160" sldId="360"/>
        </pc:sldMkLst>
        <pc:spChg chg="add del mod">
          <ac:chgData name="Nelson, Stephanie (Bula)" userId="69b768f2-7601-4471-9b80-7695b53cd60c" providerId="ADAL" clId="{2DFB2B79-C6D8-413A-84D3-1C513B457268}" dt="2026-08-28T17:27:40.334" v="276" actId="21"/>
          <ac:spMkLst>
            <pc:docMk/>
            <pc:sldMk cId="1897351160" sldId="360"/>
            <ac:spMk id="5" creationId="{69DAFCE5-4B95-08F3-DF2B-31F69ED4662B}"/>
          </ac:spMkLst>
        </pc:spChg>
      </pc:sldChg>
      <pc:sldChg chg="addSp delSp modSp add mod modTransition">
        <pc:chgData name="Nelson, Stephanie (Bula)" userId="69b768f2-7601-4471-9b80-7695b53cd60c" providerId="ADAL" clId="{2DFB2B79-C6D8-413A-84D3-1C513B457268}" dt="2026-08-28T17:31:21.709" v="595" actId="20577"/>
        <pc:sldMkLst>
          <pc:docMk/>
          <pc:sldMk cId="3977369937" sldId="459"/>
        </pc:sldMkLst>
        <pc:spChg chg="add mod">
          <ac:chgData name="Nelson, Stephanie (Bula)" userId="69b768f2-7601-4471-9b80-7695b53cd60c" providerId="ADAL" clId="{2DFB2B79-C6D8-413A-84D3-1C513B457268}" dt="2026-08-28T17:30:54.770" v="433"/>
          <ac:spMkLst>
            <pc:docMk/>
            <pc:sldMk cId="3977369937" sldId="459"/>
            <ac:spMk id="10" creationId="{9FCAC0BA-585B-B6F3-44F8-B4A8FF2E9245}"/>
          </ac:spMkLst>
        </pc:spChg>
        <pc:spChg chg="add mod">
          <ac:chgData name="Nelson, Stephanie (Bula)" userId="69b768f2-7601-4471-9b80-7695b53cd60c" providerId="ADAL" clId="{2DFB2B79-C6D8-413A-84D3-1C513B457268}" dt="2026-08-28T17:30:54.770" v="435"/>
          <ac:spMkLst>
            <pc:docMk/>
            <pc:sldMk cId="3977369937" sldId="459"/>
            <ac:spMk id="11" creationId="{FF8D75F5-3FFE-0EB2-4FD5-1A5AD5669CFB}"/>
          </ac:spMkLst>
        </pc:spChg>
        <pc:spChg chg="add mod">
          <ac:chgData name="Nelson, Stephanie (Bula)" userId="69b768f2-7601-4471-9b80-7695b53cd60c" providerId="ADAL" clId="{2DFB2B79-C6D8-413A-84D3-1C513B457268}" dt="2026-08-28T17:30:54.770" v="433"/>
          <ac:spMkLst>
            <pc:docMk/>
            <pc:sldMk cId="3977369937" sldId="459"/>
            <ac:spMk id="12" creationId="{117FE96D-2956-314B-04F2-14292A59A98A}"/>
          </ac:spMkLst>
        </pc:spChg>
        <pc:spChg chg="add mod">
          <ac:chgData name="Nelson, Stephanie (Bula)" userId="69b768f2-7601-4471-9b80-7695b53cd60c" providerId="ADAL" clId="{2DFB2B79-C6D8-413A-84D3-1C513B457268}" dt="2026-08-28T17:30:54.770" v="435"/>
          <ac:spMkLst>
            <pc:docMk/>
            <pc:sldMk cId="3977369937" sldId="459"/>
            <ac:spMk id="13" creationId="{D672154B-080F-3EBC-C3DE-F5B6D3BA3749}"/>
          </ac:spMkLst>
        </pc:spChg>
        <pc:spChg chg="add mod">
          <ac:chgData name="Nelson, Stephanie (Bula)" userId="69b768f2-7601-4471-9b80-7695b53cd60c" providerId="ADAL" clId="{2DFB2B79-C6D8-413A-84D3-1C513B457268}" dt="2026-08-28T17:31:21.709" v="595" actId="20577"/>
          <ac:spMkLst>
            <pc:docMk/>
            <pc:sldMk cId="3977369937" sldId="459"/>
            <ac:spMk id="19" creationId="{6F24F40D-9481-0E08-F128-2369526C843F}"/>
          </ac:spMkLst>
        </pc:spChg>
        <pc:spChg chg="add mod">
          <ac:chgData name="Nelson, Stephanie (Bula)" userId="69b768f2-7601-4471-9b80-7695b53cd60c" providerId="ADAL" clId="{2DFB2B79-C6D8-413A-84D3-1C513B457268}" dt="2026-08-28T17:31:16.480" v="578" actId="571"/>
          <ac:spMkLst>
            <pc:docMk/>
            <pc:sldMk cId="3977369937" sldId="459"/>
            <ac:spMk id="22" creationId="{0E1CA59F-FE34-7352-47C4-30E3B1A5EA53}"/>
          </ac:spMkLst>
        </pc:spChg>
        <pc:grpChg chg="add mod">
          <ac:chgData name="Nelson, Stephanie (Bula)" userId="69b768f2-7601-4471-9b80-7695b53cd60c" providerId="ADAL" clId="{2DFB2B79-C6D8-413A-84D3-1C513B457268}" dt="2026-08-28T17:30:54.770" v="434"/>
          <ac:grpSpMkLst>
            <pc:docMk/>
            <pc:sldMk cId="3977369937" sldId="459"/>
            <ac:grpSpMk id="14" creationId="{D29ACA72-F72C-CFC7-2C49-F162DA0ED130}"/>
          </ac:grpSpMkLst>
        </pc:grpChg>
        <pc:grpChg chg="add mod">
          <ac:chgData name="Nelson, Stephanie (Bula)" userId="69b768f2-7601-4471-9b80-7695b53cd60c" providerId="ADAL" clId="{2DFB2B79-C6D8-413A-84D3-1C513B457268}" dt="2026-08-28T17:30:54.770" v="436"/>
          <ac:grpSpMkLst>
            <pc:docMk/>
            <pc:sldMk cId="3977369937" sldId="459"/>
            <ac:grpSpMk id="15" creationId="{798BDAC0-2955-C7D6-1EC5-7CDF3D8479CC}"/>
          </ac:grpSpMkLst>
        </pc:grpChg>
        <pc:grpChg chg="del">
          <ac:chgData name="Nelson, Stephanie (Bula)" userId="69b768f2-7601-4471-9b80-7695b53cd60c" providerId="ADAL" clId="{2DFB2B79-C6D8-413A-84D3-1C513B457268}" dt="2026-08-28T17:30:54.718" v="372"/>
          <ac:grpSpMkLst>
            <pc:docMk/>
            <pc:sldMk cId="3977369937" sldId="459"/>
            <ac:grpSpMk id="29" creationId="{74F6CEB4-E785-739F-B5E9-6A022BCDD1B2}"/>
          </ac:grpSpMkLst>
        </pc:grpChg>
        <pc:grpChg chg="del">
          <ac:chgData name="Nelson, Stephanie (Bula)" userId="69b768f2-7601-4471-9b80-7695b53cd60c" providerId="ADAL" clId="{2DFB2B79-C6D8-413A-84D3-1C513B457268}" dt="2026-08-28T17:30:54.718" v="371"/>
          <ac:grpSpMkLst>
            <pc:docMk/>
            <pc:sldMk cId="3977369937" sldId="459"/>
            <ac:grpSpMk id="30" creationId="{5E445E6C-A316-93BD-DCC0-E9BF3A20247B}"/>
          </ac:grpSpMkLst>
        </pc:grpChg>
        <pc:cxnChg chg="add mod ord">
          <ac:chgData name="Nelson, Stephanie (Bula)" userId="69b768f2-7601-4471-9b80-7695b53cd60c" providerId="ADAL" clId="{2DFB2B79-C6D8-413A-84D3-1C513B457268}" dt="2026-08-28T17:30:54.770" v="433"/>
          <ac:cxnSpMkLst>
            <pc:docMk/>
            <pc:sldMk cId="3977369937" sldId="459"/>
            <ac:cxnSpMk id="6" creationId="{B7B39BAC-1FC2-4A6B-4C33-BF69361C97CB}"/>
          </ac:cxnSpMkLst>
        </pc:cxnChg>
        <pc:cxnChg chg="add mod ord">
          <ac:chgData name="Nelson, Stephanie (Bula)" userId="69b768f2-7601-4471-9b80-7695b53cd60c" providerId="ADAL" clId="{2DFB2B79-C6D8-413A-84D3-1C513B457268}" dt="2026-08-28T17:30:54.770" v="435"/>
          <ac:cxnSpMkLst>
            <pc:docMk/>
            <pc:sldMk cId="3977369937" sldId="459"/>
            <ac:cxnSpMk id="7" creationId="{FB852316-1B94-F9FB-E78B-314E9688717E}"/>
          </ac:cxnSpMkLst>
        </pc:cxnChg>
        <pc:cxnChg chg="add mod ord">
          <ac:chgData name="Nelson, Stephanie (Bula)" userId="69b768f2-7601-4471-9b80-7695b53cd60c" providerId="ADAL" clId="{2DFB2B79-C6D8-413A-84D3-1C513B457268}" dt="2026-08-28T17:30:54.770" v="433"/>
          <ac:cxnSpMkLst>
            <pc:docMk/>
            <pc:sldMk cId="3977369937" sldId="459"/>
            <ac:cxnSpMk id="8" creationId="{E22262D0-A452-86AD-B51A-90FC6FBD3FE0}"/>
          </ac:cxnSpMkLst>
        </pc:cxnChg>
        <pc:cxnChg chg="add mod ord">
          <ac:chgData name="Nelson, Stephanie (Bula)" userId="69b768f2-7601-4471-9b80-7695b53cd60c" providerId="ADAL" clId="{2DFB2B79-C6D8-413A-84D3-1C513B457268}" dt="2026-08-28T17:30:54.770" v="435"/>
          <ac:cxnSpMkLst>
            <pc:docMk/>
            <pc:sldMk cId="3977369937" sldId="459"/>
            <ac:cxnSpMk id="9" creationId="{A40D6CDE-B400-C51A-6FC4-E10F430D3929}"/>
          </ac:cxnSpMkLst>
        </pc:cxnChg>
      </pc:sldChg>
      <pc:sldChg chg="del">
        <pc:chgData name="Nelson, Stephanie (Bula)" userId="69b768f2-7601-4471-9b80-7695b53cd60c" providerId="ADAL" clId="{2DFB2B79-C6D8-413A-84D3-1C513B457268}" dt="2026-08-28T17:18:10.141" v="24" actId="2696"/>
        <pc:sldMkLst>
          <pc:docMk/>
          <pc:sldMk cId="3529661068" sldId="680"/>
        </pc:sldMkLst>
      </pc:sldChg>
      <pc:sldChg chg="add">
        <pc:chgData name="Nelson, Stephanie (Bula)" userId="69b768f2-7601-4471-9b80-7695b53cd60c" providerId="ADAL" clId="{2DFB2B79-C6D8-413A-84D3-1C513B457268}" dt="2026-08-28T18:17:04.673" v="1397"/>
        <pc:sldMkLst>
          <pc:docMk/>
          <pc:sldMk cId="3950104894" sldId="756"/>
        </pc:sldMkLst>
      </pc:sldChg>
      <pc:sldChg chg="addSp modSp add mod">
        <pc:chgData name="Nelson, Stephanie (Bula)" userId="69b768f2-7601-4471-9b80-7695b53cd60c" providerId="ADAL" clId="{2DFB2B79-C6D8-413A-84D3-1C513B457268}" dt="2026-08-28T18:09:13.203" v="1314"/>
        <pc:sldMkLst>
          <pc:docMk/>
          <pc:sldMk cId="3106412810" sldId="1188"/>
        </pc:sldMkLst>
        <pc:spChg chg="mod">
          <ac:chgData name="Nelson, Stephanie (Bula)" userId="69b768f2-7601-4471-9b80-7695b53cd60c" providerId="ADAL" clId="{2DFB2B79-C6D8-413A-84D3-1C513B457268}" dt="2026-08-28T18:09:13.155" v="1300" actId="299"/>
          <ac:spMkLst>
            <pc:docMk/>
            <pc:sldMk cId="3106412810" sldId="1188"/>
            <ac:spMk id="2" creationId="{00000000-0000-0000-0000-000000000000}"/>
          </ac:spMkLst>
        </pc:spChg>
        <pc:graphicFrameChg chg="add mod ord modVis">
          <ac:chgData name="Nelson, Stephanie (Bula)" userId="69b768f2-7601-4471-9b80-7695b53cd60c" providerId="ADAL" clId="{2DFB2B79-C6D8-413A-84D3-1C513B457268}" dt="2026-08-28T18:09:13.203" v="1314"/>
          <ac:graphicFrameMkLst>
            <pc:docMk/>
            <pc:sldMk cId="3106412810" sldId="1188"/>
            <ac:graphicFrameMk id="19" creationId="{DD98932D-5F5A-0FA0-B5C2-D6B14F7D3DAF}"/>
          </ac:graphicFrameMkLst>
        </pc:graphicFrameChg>
      </pc:sldChg>
      <pc:sldChg chg="add">
        <pc:chgData name="Nelson, Stephanie (Bula)" userId="69b768f2-7601-4471-9b80-7695b53cd60c" providerId="ADAL" clId="{2DFB2B79-C6D8-413A-84D3-1C513B457268}" dt="2026-08-28T18:08:00.800" v="1227"/>
        <pc:sldMkLst>
          <pc:docMk/>
          <pc:sldMk cId="3578528585" sldId="1417"/>
        </pc:sldMkLst>
      </pc:sldChg>
      <pc:sldChg chg="add">
        <pc:chgData name="Nelson, Stephanie (Bula)" userId="69b768f2-7601-4471-9b80-7695b53cd60c" providerId="ADAL" clId="{2DFB2B79-C6D8-413A-84D3-1C513B457268}" dt="2026-08-28T17:42:54.458" v="1001"/>
        <pc:sldMkLst>
          <pc:docMk/>
          <pc:sldMk cId="4240115222" sldId="1451"/>
        </pc:sldMkLst>
      </pc:sldChg>
      <pc:sldChg chg="add">
        <pc:chgData name="Nelson, Stephanie (Bula)" userId="69b768f2-7601-4471-9b80-7695b53cd60c" providerId="ADAL" clId="{2DFB2B79-C6D8-413A-84D3-1C513B457268}" dt="2026-08-28T17:53:16.965" v="1002"/>
        <pc:sldMkLst>
          <pc:docMk/>
          <pc:sldMk cId="813886659" sldId="1456"/>
        </pc:sldMkLst>
      </pc:sldChg>
      <pc:sldChg chg="addSp modSp add mod">
        <pc:chgData name="Nelson, Stephanie (Bula)" userId="69b768f2-7601-4471-9b80-7695b53cd60c" providerId="ADAL" clId="{2DFB2B79-C6D8-413A-84D3-1C513B457268}" dt="2026-08-28T18:09:05.107" v="1278"/>
        <pc:sldMkLst>
          <pc:docMk/>
          <pc:sldMk cId="1588079126" sldId="1468"/>
        </pc:sldMkLst>
        <pc:spChg chg="mod">
          <ac:chgData name="Nelson, Stephanie (Bula)" userId="69b768f2-7601-4471-9b80-7695b53cd60c" providerId="ADAL" clId="{2DFB2B79-C6D8-413A-84D3-1C513B457268}" dt="2026-08-28T18:09:05.070" v="1264" actId="299"/>
          <ac:spMkLst>
            <pc:docMk/>
            <pc:sldMk cId="1588079126" sldId="1468"/>
            <ac:spMk id="2" creationId="{00000000-0000-0000-0000-000000000000}"/>
          </ac:spMkLst>
        </pc:spChg>
        <pc:graphicFrameChg chg="add mod ord modVis">
          <ac:chgData name="Nelson, Stephanie (Bula)" userId="69b768f2-7601-4471-9b80-7695b53cd60c" providerId="ADAL" clId="{2DFB2B79-C6D8-413A-84D3-1C513B457268}" dt="2026-08-28T18:09:05.107" v="1278"/>
          <ac:graphicFrameMkLst>
            <pc:docMk/>
            <pc:sldMk cId="1588079126" sldId="1468"/>
            <ac:graphicFrameMk id="20" creationId="{55A0C8C9-72C5-74EB-ACD0-BA782D73E3A2}"/>
          </ac:graphicFrameMkLst>
        </pc:graphicFrameChg>
      </pc:sldChg>
      <pc:sldChg chg="add">
        <pc:chgData name="Nelson, Stephanie (Bula)" userId="69b768f2-7601-4471-9b80-7695b53cd60c" providerId="ADAL" clId="{2DFB2B79-C6D8-413A-84D3-1C513B457268}" dt="2026-08-28T17:53:33.936" v="1003"/>
        <pc:sldMkLst>
          <pc:docMk/>
          <pc:sldMk cId="3903235475" sldId="1484"/>
        </pc:sldMkLst>
      </pc:sldChg>
      <pc:sldChg chg="add">
        <pc:chgData name="Nelson, Stephanie (Bula)" userId="69b768f2-7601-4471-9b80-7695b53cd60c" providerId="ADAL" clId="{2DFB2B79-C6D8-413A-84D3-1C513B457268}" dt="2026-08-28T18:06:56.067" v="1225"/>
        <pc:sldMkLst>
          <pc:docMk/>
          <pc:sldMk cId="204538283" sldId="1492"/>
        </pc:sldMkLst>
      </pc:sldChg>
      <pc:sldChg chg="add">
        <pc:chgData name="Nelson, Stephanie (Bula)" userId="69b768f2-7601-4471-9b80-7695b53cd60c" providerId="ADAL" clId="{2DFB2B79-C6D8-413A-84D3-1C513B457268}" dt="2026-08-28T18:07:12.204" v="1226"/>
        <pc:sldMkLst>
          <pc:docMk/>
          <pc:sldMk cId="1776310710" sldId="636139803"/>
        </pc:sldMkLst>
      </pc:sldChg>
      <pc:sldChg chg="addSp delSp modSp add mod">
        <pc:chgData name="Nelson, Stephanie (Bula)" userId="69b768f2-7601-4471-9b80-7695b53cd60c" providerId="ADAL" clId="{2DFB2B79-C6D8-413A-84D3-1C513B457268}" dt="2026-08-28T18:00:42.060" v="1223" actId="20577"/>
        <pc:sldMkLst>
          <pc:docMk/>
          <pc:sldMk cId="1489407143" sldId="2147474372"/>
        </pc:sldMkLst>
        <pc:spChg chg="add mod">
          <ac:chgData name="Nelson, Stephanie (Bula)" userId="69b768f2-7601-4471-9b80-7695b53cd60c" providerId="ADAL" clId="{2DFB2B79-C6D8-413A-84D3-1C513B457268}" dt="2026-08-28T18:00:19.660" v="1187"/>
          <ac:spMkLst>
            <pc:docMk/>
            <pc:sldMk cId="1489407143" sldId="2147474372"/>
            <ac:spMk id="13" creationId="{1DC06707-062E-3EC7-79A4-DFBF4FE4969A}"/>
          </ac:spMkLst>
        </pc:spChg>
        <pc:spChg chg="add mod">
          <ac:chgData name="Nelson, Stephanie (Bula)" userId="69b768f2-7601-4471-9b80-7695b53cd60c" providerId="ADAL" clId="{2DFB2B79-C6D8-413A-84D3-1C513B457268}" dt="2026-08-28T18:00:19.660" v="1189"/>
          <ac:spMkLst>
            <pc:docMk/>
            <pc:sldMk cId="1489407143" sldId="2147474372"/>
            <ac:spMk id="14" creationId="{9C458899-7C1D-DBF9-D951-1DD6588AC932}"/>
          </ac:spMkLst>
        </pc:spChg>
        <pc:spChg chg="add mod">
          <ac:chgData name="Nelson, Stephanie (Bula)" userId="69b768f2-7601-4471-9b80-7695b53cd60c" providerId="ADAL" clId="{2DFB2B79-C6D8-413A-84D3-1C513B457268}" dt="2026-08-28T18:00:19.660" v="1187"/>
          <ac:spMkLst>
            <pc:docMk/>
            <pc:sldMk cId="1489407143" sldId="2147474372"/>
            <ac:spMk id="15" creationId="{1A5885B5-D6E7-BEC7-D924-5962B43385D9}"/>
          </ac:spMkLst>
        </pc:spChg>
        <pc:spChg chg="add mod">
          <ac:chgData name="Nelson, Stephanie (Bula)" userId="69b768f2-7601-4471-9b80-7695b53cd60c" providerId="ADAL" clId="{2DFB2B79-C6D8-413A-84D3-1C513B457268}" dt="2026-08-28T18:00:19.660" v="1189"/>
          <ac:spMkLst>
            <pc:docMk/>
            <pc:sldMk cId="1489407143" sldId="2147474372"/>
            <ac:spMk id="16" creationId="{E87C51E8-5A1D-5540-B813-CA0FECE06195}"/>
          </ac:spMkLst>
        </pc:spChg>
        <pc:spChg chg="add mod">
          <ac:chgData name="Nelson, Stephanie (Bula)" userId="69b768f2-7601-4471-9b80-7695b53cd60c" providerId="ADAL" clId="{2DFB2B79-C6D8-413A-84D3-1C513B457268}" dt="2026-08-28T18:00:42.060" v="1223" actId="20577"/>
          <ac:spMkLst>
            <pc:docMk/>
            <pc:sldMk cId="1489407143" sldId="2147474372"/>
            <ac:spMk id="25" creationId="{38AB52BA-77B3-176E-E45A-228A27017E7C}"/>
          </ac:spMkLst>
        </pc:spChg>
        <pc:grpChg chg="add mod">
          <ac:chgData name="Nelson, Stephanie (Bula)" userId="69b768f2-7601-4471-9b80-7695b53cd60c" providerId="ADAL" clId="{2DFB2B79-C6D8-413A-84D3-1C513B457268}" dt="2026-08-28T18:00:19.660" v="1188"/>
          <ac:grpSpMkLst>
            <pc:docMk/>
            <pc:sldMk cId="1489407143" sldId="2147474372"/>
            <ac:grpSpMk id="17" creationId="{DA3CC2E8-1BBE-0041-7C3B-877BE38CACB5}"/>
          </ac:grpSpMkLst>
        </pc:grpChg>
        <pc:grpChg chg="add mod">
          <ac:chgData name="Nelson, Stephanie (Bula)" userId="69b768f2-7601-4471-9b80-7695b53cd60c" providerId="ADAL" clId="{2DFB2B79-C6D8-413A-84D3-1C513B457268}" dt="2026-08-28T18:00:19.660" v="1190"/>
          <ac:grpSpMkLst>
            <pc:docMk/>
            <pc:sldMk cId="1489407143" sldId="2147474372"/>
            <ac:grpSpMk id="18" creationId="{DF82629A-888E-F916-F170-8B9A7D6DCC5B}"/>
          </ac:grpSpMkLst>
        </pc:grpChg>
        <pc:grpChg chg="del">
          <ac:chgData name="Nelson, Stephanie (Bula)" userId="69b768f2-7601-4471-9b80-7695b53cd60c" providerId="ADAL" clId="{2DFB2B79-C6D8-413A-84D3-1C513B457268}" dt="2026-08-28T18:00:19.618" v="1126"/>
          <ac:grpSpMkLst>
            <pc:docMk/>
            <pc:sldMk cId="1489407143" sldId="2147474372"/>
            <ac:grpSpMk id="52" creationId="{19869E1D-323E-49ED-9FEC-00E94E1222BC}"/>
          </ac:grpSpMkLst>
        </pc:grpChg>
        <pc:grpChg chg="del">
          <ac:chgData name="Nelson, Stephanie (Bula)" userId="69b768f2-7601-4471-9b80-7695b53cd60c" providerId="ADAL" clId="{2DFB2B79-C6D8-413A-84D3-1C513B457268}" dt="2026-08-28T18:00:19.618" v="1125"/>
          <ac:grpSpMkLst>
            <pc:docMk/>
            <pc:sldMk cId="1489407143" sldId="2147474372"/>
            <ac:grpSpMk id="53" creationId="{97B56137-FE99-47CB-A373-FA1B0366341D}"/>
          </ac:grpSpMkLst>
        </pc:grpChg>
        <pc:cxnChg chg="add mod ord">
          <ac:chgData name="Nelson, Stephanie (Bula)" userId="69b768f2-7601-4471-9b80-7695b53cd60c" providerId="ADAL" clId="{2DFB2B79-C6D8-413A-84D3-1C513B457268}" dt="2026-08-28T18:00:19.660" v="1187"/>
          <ac:cxnSpMkLst>
            <pc:docMk/>
            <pc:sldMk cId="1489407143" sldId="2147474372"/>
            <ac:cxnSpMk id="4" creationId="{93D64008-2355-FA4E-2DEA-CCDAB4B7F323}"/>
          </ac:cxnSpMkLst>
        </pc:cxnChg>
        <pc:cxnChg chg="add mod ord">
          <ac:chgData name="Nelson, Stephanie (Bula)" userId="69b768f2-7601-4471-9b80-7695b53cd60c" providerId="ADAL" clId="{2DFB2B79-C6D8-413A-84D3-1C513B457268}" dt="2026-08-28T18:00:19.660" v="1189"/>
          <ac:cxnSpMkLst>
            <pc:docMk/>
            <pc:sldMk cId="1489407143" sldId="2147474372"/>
            <ac:cxnSpMk id="5" creationId="{D353884B-6443-5347-B45C-50AD069663EA}"/>
          </ac:cxnSpMkLst>
        </pc:cxnChg>
        <pc:cxnChg chg="add mod ord">
          <ac:chgData name="Nelson, Stephanie (Bula)" userId="69b768f2-7601-4471-9b80-7695b53cd60c" providerId="ADAL" clId="{2DFB2B79-C6D8-413A-84D3-1C513B457268}" dt="2026-08-28T18:00:19.660" v="1187"/>
          <ac:cxnSpMkLst>
            <pc:docMk/>
            <pc:sldMk cId="1489407143" sldId="2147474372"/>
            <ac:cxnSpMk id="7" creationId="{449CAE2D-256E-96E0-6E5E-FB716EA8F076}"/>
          </ac:cxnSpMkLst>
        </pc:cxnChg>
        <pc:cxnChg chg="add mod ord">
          <ac:chgData name="Nelson, Stephanie (Bula)" userId="69b768f2-7601-4471-9b80-7695b53cd60c" providerId="ADAL" clId="{2DFB2B79-C6D8-413A-84D3-1C513B457268}" dt="2026-08-28T18:00:19.660" v="1189"/>
          <ac:cxnSpMkLst>
            <pc:docMk/>
            <pc:sldMk cId="1489407143" sldId="2147474372"/>
            <ac:cxnSpMk id="8" creationId="{54B9487E-DD66-D024-E06D-874CB881129E}"/>
          </ac:cxnSpMkLst>
        </pc:cxnChg>
      </pc:sldChg>
      <pc:sldChg chg="addSp delSp modSp add mod">
        <pc:chgData name="Nelson, Stephanie (Bula)" userId="69b768f2-7601-4471-9b80-7695b53cd60c" providerId="ADAL" clId="{2DFB2B79-C6D8-413A-84D3-1C513B457268}" dt="2026-08-28T18:00:34.810" v="1211" actId="20577"/>
        <pc:sldMkLst>
          <pc:docMk/>
          <pc:sldMk cId="1491272318" sldId="2147474531"/>
        </pc:sldMkLst>
        <pc:spChg chg="add mod">
          <ac:chgData name="Nelson, Stephanie (Bula)" userId="69b768f2-7601-4471-9b80-7695b53cd60c" providerId="ADAL" clId="{2DFB2B79-C6D8-413A-84D3-1C513B457268}" dt="2026-08-28T18:00:11.313" v="1067"/>
          <ac:spMkLst>
            <pc:docMk/>
            <pc:sldMk cId="1491272318" sldId="2147474531"/>
            <ac:spMk id="17" creationId="{D0133760-88DC-003C-ED02-BA31A8488882}"/>
          </ac:spMkLst>
        </pc:spChg>
        <pc:spChg chg="add mod">
          <ac:chgData name="Nelson, Stephanie (Bula)" userId="69b768f2-7601-4471-9b80-7695b53cd60c" providerId="ADAL" clId="{2DFB2B79-C6D8-413A-84D3-1C513B457268}" dt="2026-08-28T18:00:11.313" v="1069"/>
          <ac:spMkLst>
            <pc:docMk/>
            <pc:sldMk cId="1491272318" sldId="2147474531"/>
            <ac:spMk id="18" creationId="{9B7C9233-0AA6-D6B1-570A-C5AC7BD99D1B}"/>
          </ac:spMkLst>
        </pc:spChg>
        <pc:spChg chg="add mod">
          <ac:chgData name="Nelson, Stephanie (Bula)" userId="69b768f2-7601-4471-9b80-7695b53cd60c" providerId="ADAL" clId="{2DFB2B79-C6D8-413A-84D3-1C513B457268}" dt="2026-08-28T18:00:11.313" v="1067"/>
          <ac:spMkLst>
            <pc:docMk/>
            <pc:sldMk cId="1491272318" sldId="2147474531"/>
            <ac:spMk id="19" creationId="{826047EC-79A4-B78C-F2A6-DD645FA24339}"/>
          </ac:spMkLst>
        </pc:spChg>
        <pc:spChg chg="add mod">
          <ac:chgData name="Nelson, Stephanie (Bula)" userId="69b768f2-7601-4471-9b80-7695b53cd60c" providerId="ADAL" clId="{2DFB2B79-C6D8-413A-84D3-1C513B457268}" dt="2026-08-28T18:00:11.313" v="1069"/>
          <ac:spMkLst>
            <pc:docMk/>
            <pc:sldMk cId="1491272318" sldId="2147474531"/>
            <ac:spMk id="20" creationId="{C77DDD15-9D37-0171-C7FB-B262A762EBEC}"/>
          </ac:spMkLst>
        </pc:spChg>
        <pc:spChg chg="add mod">
          <ac:chgData name="Nelson, Stephanie (Bula)" userId="69b768f2-7601-4471-9b80-7695b53cd60c" providerId="ADAL" clId="{2DFB2B79-C6D8-413A-84D3-1C513B457268}" dt="2026-08-28T18:00:34.810" v="1211" actId="20577"/>
          <ac:spMkLst>
            <pc:docMk/>
            <pc:sldMk cId="1491272318" sldId="2147474531"/>
            <ac:spMk id="23" creationId="{3B76F751-FE0E-66AB-B82D-67B225C64B5A}"/>
          </ac:spMkLst>
        </pc:spChg>
        <pc:grpChg chg="del">
          <ac:chgData name="Nelson, Stephanie (Bula)" userId="69b768f2-7601-4471-9b80-7695b53cd60c" providerId="ADAL" clId="{2DFB2B79-C6D8-413A-84D3-1C513B457268}" dt="2026-08-28T18:00:11.265" v="1006"/>
          <ac:grpSpMkLst>
            <pc:docMk/>
            <pc:sldMk cId="1491272318" sldId="2147474531"/>
            <ac:grpSpMk id="11" creationId="{F11053AB-B667-43AE-96BB-AC8C807C9ADB}"/>
          </ac:grpSpMkLst>
        </pc:grpChg>
        <pc:grpChg chg="del">
          <ac:chgData name="Nelson, Stephanie (Bula)" userId="69b768f2-7601-4471-9b80-7695b53cd60c" providerId="ADAL" clId="{2DFB2B79-C6D8-413A-84D3-1C513B457268}" dt="2026-08-28T18:00:11.262" v="1005"/>
          <ac:grpSpMkLst>
            <pc:docMk/>
            <pc:sldMk cId="1491272318" sldId="2147474531"/>
            <ac:grpSpMk id="12" creationId="{51514CC4-BDBE-4FE1-8B04-07D5AD3E2E7B}"/>
          </ac:grpSpMkLst>
        </pc:grpChg>
        <pc:grpChg chg="add mod">
          <ac:chgData name="Nelson, Stephanie (Bula)" userId="69b768f2-7601-4471-9b80-7695b53cd60c" providerId="ADAL" clId="{2DFB2B79-C6D8-413A-84D3-1C513B457268}" dt="2026-08-28T18:00:11.313" v="1068"/>
          <ac:grpSpMkLst>
            <pc:docMk/>
            <pc:sldMk cId="1491272318" sldId="2147474531"/>
            <ac:grpSpMk id="21" creationId="{0CBFB260-B6F1-2A48-D7EB-466818910192}"/>
          </ac:grpSpMkLst>
        </pc:grpChg>
        <pc:grpChg chg="add mod">
          <ac:chgData name="Nelson, Stephanie (Bula)" userId="69b768f2-7601-4471-9b80-7695b53cd60c" providerId="ADAL" clId="{2DFB2B79-C6D8-413A-84D3-1C513B457268}" dt="2026-08-28T18:00:11.319" v="1070"/>
          <ac:grpSpMkLst>
            <pc:docMk/>
            <pc:sldMk cId="1491272318" sldId="2147474531"/>
            <ac:grpSpMk id="22" creationId="{296D6FEA-33BA-1C22-BEE5-FC55E8B612DE}"/>
          </ac:grpSpMkLst>
        </pc:grpChg>
        <pc:cxnChg chg="add mod ord">
          <ac:chgData name="Nelson, Stephanie (Bula)" userId="69b768f2-7601-4471-9b80-7695b53cd60c" providerId="ADAL" clId="{2DFB2B79-C6D8-413A-84D3-1C513B457268}" dt="2026-08-28T18:00:11.313" v="1067"/>
          <ac:cxnSpMkLst>
            <pc:docMk/>
            <pc:sldMk cId="1491272318" sldId="2147474531"/>
            <ac:cxnSpMk id="13" creationId="{59A5A255-8B21-0263-7CD9-4ECC5AE43DC6}"/>
          </ac:cxnSpMkLst>
        </pc:cxnChg>
        <pc:cxnChg chg="add mod ord">
          <ac:chgData name="Nelson, Stephanie (Bula)" userId="69b768f2-7601-4471-9b80-7695b53cd60c" providerId="ADAL" clId="{2DFB2B79-C6D8-413A-84D3-1C513B457268}" dt="2026-08-28T18:00:11.313" v="1069"/>
          <ac:cxnSpMkLst>
            <pc:docMk/>
            <pc:sldMk cId="1491272318" sldId="2147474531"/>
            <ac:cxnSpMk id="14" creationId="{2BD3F108-3E99-BA41-3F2A-C4D5B08961A2}"/>
          </ac:cxnSpMkLst>
        </pc:cxnChg>
        <pc:cxnChg chg="add mod ord">
          <ac:chgData name="Nelson, Stephanie (Bula)" userId="69b768f2-7601-4471-9b80-7695b53cd60c" providerId="ADAL" clId="{2DFB2B79-C6D8-413A-84D3-1C513B457268}" dt="2026-08-28T18:00:11.313" v="1067"/>
          <ac:cxnSpMkLst>
            <pc:docMk/>
            <pc:sldMk cId="1491272318" sldId="2147474531"/>
            <ac:cxnSpMk id="15" creationId="{4043EA81-766B-C8EF-69E4-BE1C801B1D64}"/>
          </ac:cxnSpMkLst>
        </pc:cxnChg>
        <pc:cxnChg chg="add mod ord">
          <ac:chgData name="Nelson, Stephanie (Bula)" userId="69b768f2-7601-4471-9b80-7695b53cd60c" providerId="ADAL" clId="{2DFB2B79-C6D8-413A-84D3-1C513B457268}" dt="2026-08-28T18:00:11.313" v="1069"/>
          <ac:cxnSpMkLst>
            <pc:docMk/>
            <pc:sldMk cId="1491272318" sldId="2147474531"/>
            <ac:cxnSpMk id="16" creationId="{9D11010D-5E39-E92A-0E72-B2EA11EA79D6}"/>
          </ac:cxnSpMkLst>
        </pc:cxnChg>
      </pc:sldChg>
      <pc:sldChg chg="addSp modSp add mod">
        <pc:chgData name="Nelson, Stephanie (Bula)" userId="69b768f2-7601-4471-9b80-7695b53cd60c" providerId="ADAL" clId="{2DFB2B79-C6D8-413A-84D3-1C513B457268}" dt="2026-08-28T18:11:41.951" v="1394" actId="20577"/>
        <pc:sldMkLst>
          <pc:docMk/>
          <pc:sldMk cId="129294789" sldId="2147483265"/>
        </pc:sldMkLst>
        <pc:spChg chg="add mod">
          <ac:chgData name="Nelson, Stephanie (Bula)" userId="69b768f2-7601-4471-9b80-7695b53cd60c" providerId="ADAL" clId="{2DFB2B79-C6D8-413A-84D3-1C513B457268}" dt="2026-08-28T18:11:41.951" v="1394" actId="20577"/>
          <ac:spMkLst>
            <pc:docMk/>
            <pc:sldMk cId="129294789" sldId="2147483265"/>
            <ac:spMk id="12" creationId="{01B820A6-7FD5-3DA2-3CF8-963424B05C39}"/>
          </ac:spMkLst>
        </pc:spChg>
        <pc:spChg chg="mod">
          <ac:chgData name="Nelson, Stephanie (Bula)" userId="69b768f2-7601-4471-9b80-7695b53cd60c" providerId="ADAL" clId="{2DFB2B79-C6D8-413A-84D3-1C513B457268}" dt="2026-08-28T18:11:32.574" v="1371" actId="1076"/>
          <ac:spMkLst>
            <pc:docMk/>
            <pc:sldMk cId="129294789" sldId="2147483265"/>
            <ac:spMk id="214" creationId="{8A6CBDDA-9D7A-4136-9674-62A8EBE65A39}"/>
          </ac:spMkLst>
        </pc:spChg>
      </pc:sldChg>
      <pc:sldChg chg="addSp delSp modSp add mod">
        <pc:chgData name="Nelson, Stephanie (Bula)" userId="69b768f2-7601-4471-9b80-7695b53cd60c" providerId="ADAL" clId="{2DFB2B79-C6D8-413A-84D3-1C513B457268}" dt="2026-08-28T19:33:28.528" v="1753" actId="20577"/>
        <pc:sldMkLst>
          <pc:docMk/>
          <pc:sldMk cId="1749064335" sldId="2147483425"/>
        </pc:sldMkLst>
        <pc:spChg chg="add mod">
          <ac:chgData name="Nelson, Stephanie (Bula)" userId="69b768f2-7601-4471-9b80-7695b53cd60c" providerId="ADAL" clId="{2DFB2B79-C6D8-413A-84D3-1C513B457268}" dt="2026-08-28T19:33:09.605" v="1659"/>
          <ac:spMkLst>
            <pc:docMk/>
            <pc:sldMk cId="1749064335" sldId="2147483425"/>
            <ac:spMk id="12" creationId="{944AB9AE-8F9D-77CE-F7E8-7B356E02FB16}"/>
          </ac:spMkLst>
        </pc:spChg>
        <pc:spChg chg="add mod">
          <ac:chgData name="Nelson, Stephanie (Bula)" userId="69b768f2-7601-4471-9b80-7695b53cd60c" providerId="ADAL" clId="{2DFB2B79-C6D8-413A-84D3-1C513B457268}" dt="2026-08-28T19:33:09.609" v="1661"/>
          <ac:spMkLst>
            <pc:docMk/>
            <pc:sldMk cId="1749064335" sldId="2147483425"/>
            <ac:spMk id="14" creationId="{137F5BE7-47C2-1BED-C1B4-5BBB6B59963A}"/>
          </ac:spMkLst>
        </pc:spChg>
        <pc:spChg chg="add mod">
          <ac:chgData name="Nelson, Stephanie (Bula)" userId="69b768f2-7601-4471-9b80-7695b53cd60c" providerId="ADAL" clId="{2DFB2B79-C6D8-413A-84D3-1C513B457268}" dt="2026-08-28T19:33:09.605" v="1659"/>
          <ac:spMkLst>
            <pc:docMk/>
            <pc:sldMk cId="1749064335" sldId="2147483425"/>
            <ac:spMk id="45" creationId="{7BCBB73A-2250-1146-A603-458A6BEDE007}"/>
          </ac:spMkLst>
        </pc:spChg>
        <pc:spChg chg="add mod">
          <ac:chgData name="Nelson, Stephanie (Bula)" userId="69b768f2-7601-4471-9b80-7695b53cd60c" providerId="ADAL" clId="{2DFB2B79-C6D8-413A-84D3-1C513B457268}" dt="2026-08-28T19:33:09.609" v="1661"/>
          <ac:spMkLst>
            <pc:docMk/>
            <pc:sldMk cId="1749064335" sldId="2147483425"/>
            <ac:spMk id="46" creationId="{779F24F5-378D-907E-4B86-C7B536D1F0EF}"/>
          </ac:spMkLst>
        </pc:spChg>
        <pc:spChg chg="add mod">
          <ac:chgData name="Nelson, Stephanie (Bula)" userId="69b768f2-7601-4471-9b80-7695b53cd60c" providerId="ADAL" clId="{2DFB2B79-C6D8-413A-84D3-1C513B457268}" dt="2026-08-28T19:33:09.605" v="1659"/>
          <ac:spMkLst>
            <pc:docMk/>
            <pc:sldMk cId="1749064335" sldId="2147483425"/>
            <ac:spMk id="51" creationId="{4AD64446-9415-1B01-C8A2-CA684246AC6D}"/>
          </ac:spMkLst>
        </pc:spChg>
        <pc:spChg chg="add mod">
          <ac:chgData name="Nelson, Stephanie (Bula)" userId="69b768f2-7601-4471-9b80-7695b53cd60c" providerId="ADAL" clId="{2DFB2B79-C6D8-413A-84D3-1C513B457268}" dt="2026-08-28T19:33:09.609" v="1661"/>
          <ac:spMkLst>
            <pc:docMk/>
            <pc:sldMk cId="1749064335" sldId="2147483425"/>
            <ac:spMk id="52" creationId="{D7AA3A3B-E174-C8F6-FF75-9A82888883B3}"/>
          </ac:spMkLst>
        </pc:spChg>
        <pc:spChg chg="add mod">
          <ac:chgData name="Nelson, Stephanie (Bula)" userId="69b768f2-7601-4471-9b80-7695b53cd60c" providerId="ADAL" clId="{2DFB2B79-C6D8-413A-84D3-1C513B457268}" dt="2026-08-28T19:33:09.605" v="1659"/>
          <ac:spMkLst>
            <pc:docMk/>
            <pc:sldMk cId="1749064335" sldId="2147483425"/>
            <ac:spMk id="57" creationId="{B5399C41-75AB-CD0B-AEE1-53B4CC46B379}"/>
          </ac:spMkLst>
        </pc:spChg>
        <pc:spChg chg="add mod">
          <ac:chgData name="Nelson, Stephanie (Bula)" userId="69b768f2-7601-4471-9b80-7695b53cd60c" providerId="ADAL" clId="{2DFB2B79-C6D8-413A-84D3-1C513B457268}" dt="2026-08-28T19:33:09.609" v="1661"/>
          <ac:spMkLst>
            <pc:docMk/>
            <pc:sldMk cId="1749064335" sldId="2147483425"/>
            <ac:spMk id="61" creationId="{E319DD37-99BC-0092-98A5-8274FDF4120D}"/>
          </ac:spMkLst>
        </pc:spChg>
        <pc:spChg chg="add mod">
          <ac:chgData name="Nelson, Stephanie (Bula)" userId="69b768f2-7601-4471-9b80-7695b53cd60c" providerId="ADAL" clId="{2DFB2B79-C6D8-413A-84D3-1C513B457268}" dt="2026-08-28T19:33:09.605" v="1659"/>
          <ac:spMkLst>
            <pc:docMk/>
            <pc:sldMk cId="1749064335" sldId="2147483425"/>
            <ac:spMk id="64" creationId="{C9E92707-651A-B214-9777-C95C770BD77A}"/>
          </ac:spMkLst>
        </pc:spChg>
        <pc:spChg chg="add mod">
          <ac:chgData name="Nelson, Stephanie (Bula)" userId="69b768f2-7601-4471-9b80-7695b53cd60c" providerId="ADAL" clId="{2DFB2B79-C6D8-413A-84D3-1C513B457268}" dt="2026-08-28T19:33:09.609" v="1661"/>
          <ac:spMkLst>
            <pc:docMk/>
            <pc:sldMk cId="1749064335" sldId="2147483425"/>
            <ac:spMk id="66" creationId="{31C33D15-094F-8C27-B6F2-F48987CB6167}"/>
          </ac:spMkLst>
        </pc:spChg>
        <pc:spChg chg="add mod">
          <ac:chgData name="Nelson, Stephanie (Bula)" userId="69b768f2-7601-4471-9b80-7695b53cd60c" providerId="ADAL" clId="{2DFB2B79-C6D8-413A-84D3-1C513B457268}" dt="2026-08-28T19:33:28.528" v="1753" actId="20577"/>
          <ac:spMkLst>
            <pc:docMk/>
            <pc:sldMk cId="1749064335" sldId="2147483425"/>
            <ac:spMk id="95" creationId="{625A47F9-517C-7890-0E30-8AAD88310A71}"/>
          </ac:spMkLst>
        </pc:spChg>
        <pc:grpChg chg="add mod">
          <ac:chgData name="Nelson, Stephanie (Bula)" userId="69b768f2-7601-4471-9b80-7695b53cd60c" providerId="ADAL" clId="{2DFB2B79-C6D8-413A-84D3-1C513B457268}" dt="2026-08-28T19:33:09.607" v="1660"/>
          <ac:grpSpMkLst>
            <pc:docMk/>
            <pc:sldMk cId="1749064335" sldId="2147483425"/>
            <ac:grpSpMk id="67" creationId="{66D81387-C4F4-E634-78DA-204D92D415C4}"/>
          </ac:grpSpMkLst>
        </pc:grpChg>
        <pc:grpChg chg="add mod">
          <ac:chgData name="Nelson, Stephanie (Bula)" userId="69b768f2-7601-4471-9b80-7695b53cd60c" providerId="ADAL" clId="{2DFB2B79-C6D8-413A-84D3-1C513B457268}" dt="2026-08-28T19:33:09.611" v="1662"/>
          <ac:grpSpMkLst>
            <pc:docMk/>
            <pc:sldMk cId="1749064335" sldId="2147483425"/>
            <ac:grpSpMk id="69" creationId="{DA22C571-20B3-3145-D416-C3E96D750D46}"/>
          </ac:grpSpMkLst>
        </pc:grpChg>
        <pc:grpChg chg="del">
          <ac:chgData name="Nelson, Stephanie (Bula)" userId="69b768f2-7601-4471-9b80-7695b53cd60c" providerId="ADAL" clId="{2DFB2B79-C6D8-413A-84D3-1C513B457268}" dt="2026-08-28T19:33:09.317" v="1466"/>
          <ac:grpSpMkLst>
            <pc:docMk/>
            <pc:sldMk cId="1749064335" sldId="2147483425"/>
            <ac:grpSpMk id="93" creationId="{86994B0F-B347-2B5C-5ABA-66C54FFCCB41}"/>
          </ac:grpSpMkLst>
        </pc:grpChg>
        <pc:grpChg chg="del">
          <ac:chgData name="Nelson, Stephanie (Bula)" userId="69b768f2-7601-4471-9b80-7695b53cd60c" providerId="ADAL" clId="{2DFB2B79-C6D8-413A-84D3-1C513B457268}" dt="2026-08-28T19:33:09.315" v="1465"/>
          <ac:grpSpMkLst>
            <pc:docMk/>
            <pc:sldMk cId="1749064335" sldId="2147483425"/>
            <ac:grpSpMk id="94" creationId="{41B7C05D-2B09-0042-8ABC-FFEFA6090D22}"/>
          </ac:grpSpMkLst>
        </pc:grpChg>
        <pc:cxnChg chg="add mod ord">
          <ac:chgData name="Nelson, Stephanie (Bula)" userId="69b768f2-7601-4471-9b80-7695b53cd60c" providerId="ADAL" clId="{2DFB2B79-C6D8-413A-84D3-1C513B457268}" dt="2026-08-28T19:33:09.329" v="1473"/>
          <ac:cxnSpMkLst>
            <pc:docMk/>
            <pc:sldMk cId="1749064335" sldId="2147483425"/>
            <ac:cxnSpMk id="6" creationId="{098EE7A8-950F-83BF-5B25-C5F630C43127}"/>
          </ac:cxnSpMkLst>
        </pc:cxnChg>
        <pc:cxnChg chg="add mod ord">
          <ac:chgData name="Nelson, Stephanie (Bula)" userId="69b768f2-7601-4471-9b80-7695b53cd60c" providerId="ADAL" clId="{2DFB2B79-C6D8-413A-84D3-1C513B457268}" dt="2026-08-28T19:33:09.335" v="1480"/>
          <ac:cxnSpMkLst>
            <pc:docMk/>
            <pc:sldMk cId="1749064335" sldId="2147483425"/>
            <ac:cxnSpMk id="9" creationId="{9EE74C70-E50B-03BE-D6CF-D650D1F81237}"/>
          </ac:cxnSpMkLst>
        </pc:cxnChg>
        <pc:cxnChg chg="add mod ord">
          <ac:chgData name="Nelson, Stephanie (Bula)" userId="69b768f2-7601-4471-9b80-7695b53cd60c" providerId="ADAL" clId="{2DFB2B79-C6D8-413A-84D3-1C513B457268}" dt="2026-08-28T19:33:09.340" v="1487"/>
          <ac:cxnSpMkLst>
            <pc:docMk/>
            <pc:sldMk cId="1749064335" sldId="2147483425"/>
            <ac:cxnSpMk id="10" creationId="{8E47A8D9-077E-EBE5-B340-1E2B9D529DAB}"/>
          </ac:cxnSpMkLst>
        </pc:cxnChg>
        <pc:cxnChg chg="add mod ord">
          <ac:chgData name="Nelson, Stephanie (Bula)" userId="69b768f2-7601-4471-9b80-7695b53cd60c" providerId="ADAL" clId="{2DFB2B79-C6D8-413A-84D3-1C513B457268}" dt="2026-08-28T19:33:09.609" v="1661"/>
          <ac:cxnSpMkLst>
            <pc:docMk/>
            <pc:sldMk cId="1749064335" sldId="2147483425"/>
            <ac:cxnSpMk id="11" creationId="{667C7589-B76B-AE33-E5F1-A66D7FB63DB2}"/>
          </ac:cxnSpMkLst>
        </pc:cxnChg>
        <pc:cxnChg chg="add mod ord">
          <ac:chgData name="Nelson, Stephanie (Bula)" userId="69b768f2-7601-4471-9b80-7695b53cd60c" providerId="ADAL" clId="{2DFB2B79-C6D8-413A-84D3-1C513B457268}" dt="2026-08-28T19:33:09.605" v="1659"/>
          <ac:cxnSpMkLst>
            <pc:docMk/>
            <pc:sldMk cId="1749064335" sldId="2147483425"/>
            <ac:cxnSpMk id="15" creationId="{0D220A66-E755-4FCD-975D-D7A6DC609636}"/>
          </ac:cxnSpMkLst>
        </pc:cxnChg>
        <pc:cxnChg chg="add mod ord">
          <ac:chgData name="Nelson, Stephanie (Bula)" userId="69b768f2-7601-4471-9b80-7695b53cd60c" providerId="ADAL" clId="{2DFB2B79-C6D8-413A-84D3-1C513B457268}" dt="2026-08-28T19:33:09.387" v="1524"/>
          <ac:cxnSpMkLst>
            <pc:docMk/>
            <pc:sldMk cId="1749064335" sldId="2147483425"/>
            <ac:cxnSpMk id="42" creationId="{8706780D-C0E3-503C-C4BE-BD2F6026467D}"/>
          </ac:cxnSpMkLst>
        </pc:cxnChg>
        <pc:cxnChg chg="add mod ord">
          <ac:chgData name="Nelson, Stephanie (Bula)" userId="69b768f2-7601-4471-9b80-7695b53cd60c" providerId="ADAL" clId="{2DFB2B79-C6D8-413A-84D3-1C513B457268}" dt="2026-08-28T19:33:09.398" v="1531"/>
          <ac:cxnSpMkLst>
            <pc:docMk/>
            <pc:sldMk cId="1749064335" sldId="2147483425"/>
            <ac:cxnSpMk id="43" creationId="{5B64F5EE-B7C8-7513-1EE9-6F4AEACB7334}"/>
          </ac:cxnSpMkLst>
        </pc:cxnChg>
        <pc:cxnChg chg="add mod ord">
          <ac:chgData name="Nelson, Stephanie (Bula)" userId="69b768f2-7601-4471-9b80-7695b53cd60c" providerId="ADAL" clId="{2DFB2B79-C6D8-413A-84D3-1C513B457268}" dt="2026-08-28T19:33:09.609" v="1661"/>
          <ac:cxnSpMkLst>
            <pc:docMk/>
            <pc:sldMk cId="1749064335" sldId="2147483425"/>
            <ac:cxnSpMk id="44" creationId="{CE0C81FE-8660-E741-C53F-EBE5A4F779A6}"/>
          </ac:cxnSpMkLst>
        </pc:cxnChg>
        <pc:cxnChg chg="add mod ord">
          <ac:chgData name="Nelson, Stephanie (Bula)" userId="69b768f2-7601-4471-9b80-7695b53cd60c" providerId="ADAL" clId="{2DFB2B79-C6D8-413A-84D3-1C513B457268}" dt="2026-08-28T19:33:09.605" v="1659"/>
          <ac:cxnSpMkLst>
            <pc:docMk/>
            <pc:sldMk cId="1749064335" sldId="2147483425"/>
            <ac:cxnSpMk id="47" creationId="{0BC53F9A-8C2F-0E08-28D8-D14C996EFB84}"/>
          </ac:cxnSpMkLst>
        </pc:cxnChg>
        <pc:cxnChg chg="add mod ord">
          <ac:chgData name="Nelson, Stephanie (Bula)" userId="69b768f2-7601-4471-9b80-7695b53cd60c" providerId="ADAL" clId="{2DFB2B79-C6D8-413A-84D3-1C513B457268}" dt="2026-08-28T19:33:09.447" v="1568"/>
          <ac:cxnSpMkLst>
            <pc:docMk/>
            <pc:sldMk cId="1749064335" sldId="2147483425"/>
            <ac:cxnSpMk id="48" creationId="{D89D62B4-5862-E6C6-3EBC-24F0954552AF}"/>
          </ac:cxnSpMkLst>
        </pc:cxnChg>
        <pc:cxnChg chg="add mod ord">
          <ac:chgData name="Nelson, Stephanie (Bula)" userId="69b768f2-7601-4471-9b80-7695b53cd60c" providerId="ADAL" clId="{2DFB2B79-C6D8-413A-84D3-1C513B457268}" dt="2026-08-28T19:33:09.605" v="1659"/>
          <ac:cxnSpMkLst>
            <pc:docMk/>
            <pc:sldMk cId="1749064335" sldId="2147483425"/>
            <ac:cxnSpMk id="49" creationId="{EACA4D89-7A03-493C-9773-66DA0C4D1DD8}"/>
          </ac:cxnSpMkLst>
        </pc:cxnChg>
        <pc:cxnChg chg="add mod ord">
          <ac:chgData name="Nelson, Stephanie (Bula)" userId="69b768f2-7601-4471-9b80-7695b53cd60c" providerId="ADAL" clId="{2DFB2B79-C6D8-413A-84D3-1C513B457268}" dt="2026-08-28T19:33:09.609" v="1661"/>
          <ac:cxnSpMkLst>
            <pc:docMk/>
            <pc:sldMk cId="1749064335" sldId="2147483425"/>
            <ac:cxnSpMk id="50" creationId="{A19226A7-F898-AC2A-3397-D5791C27E531}"/>
          </ac:cxnSpMkLst>
        </pc:cxnChg>
        <pc:cxnChg chg="add mod ord">
          <ac:chgData name="Nelson, Stephanie (Bula)" userId="69b768f2-7601-4471-9b80-7695b53cd60c" providerId="ADAL" clId="{2DFB2B79-C6D8-413A-84D3-1C513B457268}" dt="2026-08-28T19:33:09.605" v="1659"/>
          <ac:cxnSpMkLst>
            <pc:docMk/>
            <pc:sldMk cId="1749064335" sldId="2147483425"/>
            <ac:cxnSpMk id="53" creationId="{FFB0BCD8-C2EF-A829-2BB2-E4F0AE06B2A0}"/>
          </ac:cxnSpMkLst>
        </pc:cxnChg>
        <pc:cxnChg chg="add mod ord">
          <ac:chgData name="Nelson, Stephanie (Bula)" userId="69b768f2-7601-4471-9b80-7695b53cd60c" providerId="ADAL" clId="{2DFB2B79-C6D8-413A-84D3-1C513B457268}" dt="2026-08-28T19:33:09.528" v="1612"/>
          <ac:cxnSpMkLst>
            <pc:docMk/>
            <pc:sldMk cId="1749064335" sldId="2147483425"/>
            <ac:cxnSpMk id="54" creationId="{13A08190-7129-13BC-5FD8-028D6D7B9F54}"/>
          </ac:cxnSpMkLst>
        </pc:cxnChg>
        <pc:cxnChg chg="add mod ord">
          <ac:chgData name="Nelson, Stephanie (Bula)" userId="69b768f2-7601-4471-9b80-7695b53cd60c" providerId="ADAL" clId="{2DFB2B79-C6D8-413A-84D3-1C513B457268}" dt="2026-08-28T19:33:09.536" v="1619"/>
          <ac:cxnSpMkLst>
            <pc:docMk/>
            <pc:sldMk cId="1749064335" sldId="2147483425"/>
            <ac:cxnSpMk id="55" creationId="{DE0168BD-AF90-B445-9F5F-22FA858597EE}"/>
          </ac:cxnSpMkLst>
        </pc:cxnChg>
        <pc:cxnChg chg="add mod ord">
          <ac:chgData name="Nelson, Stephanie (Bula)" userId="69b768f2-7601-4471-9b80-7695b53cd60c" providerId="ADAL" clId="{2DFB2B79-C6D8-413A-84D3-1C513B457268}" dt="2026-08-28T19:33:09.609" v="1661"/>
          <ac:cxnSpMkLst>
            <pc:docMk/>
            <pc:sldMk cId="1749064335" sldId="2147483425"/>
            <ac:cxnSpMk id="56" creationId="{66C7ACA7-65C0-1DD1-17DE-D7A849B97EE4}"/>
          </ac:cxnSpMkLst>
        </pc:cxnChg>
      </pc:sldChg>
      <pc:sldChg chg="del">
        <pc:chgData name="Nelson, Stephanie (Bula)" userId="69b768f2-7601-4471-9b80-7695b53cd60c" providerId="ADAL" clId="{2DFB2B79-C6D8-413A-84D3-1C513B457268}" dt="2026-08-28T17:18:10.622" v="43" actId="2696"/>
        <pc:sldMkLst>
          <pc:docMk/>
          <pc:sldMk cId="2385450651" sldId="2147483641"/>
        </pc:sldMkLst>
      </pc:sldChg>
      <pc:sldChg chg="del">
        <pc:chgData name="Nelson, Stephanie (Bula)" userId="69b768f2-7601-4471-9b80-7695b53cd60c" providerId="ADAL" clId="{2DFB2B79-C6D8-413A-84D3-1C513B457268}" dt="2026-08-28T17:18:10.672" v="45" actId="2696"/>
        <pc:sldMkLst>
          <pc:docMk/>
          <pc:sldMk cId="2267653323" sldId="2147483642"/>
        </pc:sldMkLst>
      </pc:sldChg>
      <pc:sldChg chg="del">
        <pc:chgData name="Nelson, Stephanie (Bula)" userId="69b768f2-7601-4471-9b80-7695b53cd60c" providerId="ADAL" clId="{2DFB2B79-C6D8-413A-84D3-1C513B457268}" dt="2026-08-28T17:18:10.952" v="57" actId="2696"/>
        <pc:sldMkLst>
          <pc:docMk/>
          <pc:sldMk cId="4203448597" sldId="2147483645"/>
        </pc:sldMkLst>
      </pc:sldChg>
      <pc:sldChg chg="del">
        <pc:chgData name="Nelson, Stephanie (Bula)" userId="69b768f2-7601-4471-9b80-7695b53cd60c" providerId="ADAL" clId="{2DFB2B79-C6D8-413A-84D3-1C513B457268}" dt="2026-08-28T17:18:10.356" v="33" actId="2696"/>
        <pc:sldMkLst>
          <pc:docMk/>
          <pc:sldMk cId="1250856614" sldId="2147483646"/>
        </pc:sldMkLst>
      </pc:sldChg>
      <pc:sldChg chg="addSp modSp add mod">
        <pc:chgData name="Nelson, Stephanie (Bula)" userId="69b768f2-7601-4471-9b80-7695b53cd60c" providerId="ADAL" clId="{2DFB2B79-C6D8-413A-84D3-1C513B457268}" dt="2026-08-28T17:28:25.830" v="363" actId="20577"/>
        <pc:sldMkLst>
          <pc:docMk/>
          <pc:sldMk cId="4040126450" sldId="2147483646"/>
        </pc:sldMkLst>
        <pc:spChg chg="add mod">
          <ac:chgData name="Nelson, Stephanie (Bula)" userId="69b768f2-7601-4471-9b80-7695b53cd60c" providerId="ADAL" clId="{2DFB2B79-C6D8-413A-84D3-1C513B457268}" dt="2026-08-28T17:24:10.826" v="238" actId="20577"/>
          <ac:spMkLst>
            <pc:docMk/>
            <pc:sldMk cId="4040126450" sldId="2147483646"/>
            <ac:spMk id="4" creationId="{6CAFE995-C957-CD88-99CF-87EA13C50775}"/>
          </ac:spMkLst>
        </pc:spChg>
        <pc:spChg chg="add mod">
          <ac:chgData name="Nelson, Stephanie (Bula)" userId="69b768f2-7601-4471-9b80-7695b53cd60c" providerId="ADAL" clId="{2DFB2B79-C6D8-413A-84D3-1C513B457268}" dt="2026-08-28T17:28:25.830" v="363" actId="20577"/>
          <ac:spMkLst>
            <pc:docMk/>
            <pc:sldMk cId="4040126450" sldId="2147483646"/>
            <ac:spMk id="9" creationId="{69DAFCE5-4B95-08F3-DF2B-31F69ED4662B}"/>
          </ac:spMkLst>
        </pc:spChg>
      </pc:sldChg>
      <pc:sldChg chg="add">
        <pc:chgData name="Nelson, Stephanie (Bula)" userId="69b768f2-7601-4471-9b80-7695b53cd60c" providerId="ADAL" clId="{2DFB2B79-C6D8-413A-84D3-1C513B457268}" dt="2026-08-28T18:06:44.953" v="1224"/>
        <pc:sldMkLst>
          <pc:docMk/>
          <pc:sldMk cId="995070809" sldId="2147483647"/>
        </pc:sldMkLst>
      </pc:sldChg>
      <pc:sldChg chg="del">
        <pc:chgData name="Nelson, Stephanie (Bula)" userId="69b768f2-7601-4471-9b80-7695b53cd60c" providerId="ADAL" clId="{2DFB2B79-C6D8-413A-84D3-1C513B457268}" dt="2026-08-28T17:18:11.159" v="66" actId="2696"/>
        <pc:sldMkLst>
          <pc:docMk/>
          <pc:sldMk cId="2297190955" sldId="2147483647"/>
        </pc:sldMkLst>
      </pc:sldChg>
      <pc:sldMasterChg chg="del">
        <pc:chgData name="Nelson, Stephanie (Bula)" userId="69b768f2-7601-4471-9b80-7695b53cd60c" providerId="ADAL" clId="{2DFB2B79-C6D8-413A-84D3-1C513B457268}" dt="2026-08-28T17:18:11.080" v="61" actId="2696"/>
        <pc:sldMasterMkLst>
          <pc:docMk/>
          <pc:sldMasterMk cId="3956182710" sldId="2147483734"/>
        </pc:sldMasterMkLst>
      </pc:sldMasterChg>
      <pc:sldMasterChg chg="del">
        <pc:chgData name="Nelson, Stephanie (Bula)" userId="69b768f2-7601-4471-9b80-7695b53cd60c" providerId="ADAL" clId="{2DFB2B79-C6D8-413A-84D3-1C513B457268}" dt="2026-08-28T17:18:10.206" v="28" actId="2696"/>
        <pc:sldMasterMkLst>
          <pc:docMk/>
          <pc:sldMasterMk cId="736543814" sldId="2147483755"/>
        </pc:sldMasterMkLst>
      </pc:sldMasterChg>
      <pc:sldMasterChg chg="del">
        <pc:chgData name="Nelson, Stephanie (Bula)" userId="69b768f2-7601-4471-9b80-7695b53cd60c" providerId="ADAL" clId="{2DFB2B79-C6D8-413A-84D3-1C513B457268}" dt="2026-08-28T17:18:11.126" v="63" actId="2696"/>
        <pc:sldMasterMkLst>
          <pc:docMk/>
          <pc:sldMasterMk cId="545524355" sldId="2147483761"/>
        </pc:sldMasterMkLst>
      </pc:sldMasterChg>
      <pc:sldMasterChg chg="del">
        <pc:chgData name="Nelson, Stephanie (Bula)" userId="69b768f2-7601-4471-9b80-7695b53cd60c" providerId="ADAL" clId="{2DFB2B79-C6D8-413A-84D3-1C513B457268}" dt="2026-08-28T17:18:11.326" v="77" actId="2696"/>
        <pc:sldMasterMkLst>
          <pc:docMk/>
          <pc:sldMasterMk cId="3578983638" sldId="2147483784"/>
        </pc:sldMasterMkLst>
      </pc:sldMasterChg>
      <pc:sldMasterChg chg="del">
        <pc:chgData name="Nelson, Stephanie (Bula)" userId="69b768f2-7601-4471-9b80-7695b53cd60c" providerId="ADAL" clId="{2DFB2B79-C6D8-413A-84D3-1C513B457268}" dt="2026-08-28T17:18:11.182" v="67" actId="2696"/>
        <pc:sldMasterMkLst>
          <pc:docMk/>
          <pc:sldMasterMk cId="1847869727" sldId="2147483791"/>
        </pc:sldMasterMkLst>
      </pc:sldMasterChg>
      <pc:sldMasterChg chg="del">
        <pc:chgData name="Nelson, Stephanie (Bula)" userId="69b768f2-7601-4471-9b80-7695b53cd60c" providerId="ADAL" clId="{2DFB2B79-C6D8-413A-84D3-1C513B457268}" dt="2026-08-28T17:18:10.906" v="55" actId="2696"/>
        <pc:sldMasterMkLst>
          <pc:docMk/>
          <pc:sldMasterMk cId="1719190028" sldId="2147483805"/>
        </pc:sldMasterMkLst>
      </pc:sldMasterChg>
      <pc:sldMasterChg chg="del">
        <pc:chgData name="Nelson, Stephanie (Bula)" userId="69b768f2-7601-4471-9b80-7695b53cd60c" providerId="ADAL" clId="{2DFB2B79-C6D8-413A-84D3-1C513B457268}" dt="2026-08-28T17:18:11.240" v="71" actId="2696"/>
        <pc:sldMasterMkLst>
          <pc:docMk/>
          <pc:sldMasterMk cId="3849366528" sldId="2147483811"/>
        </pc:sldMasterMkLst>
      </pc:sldMasterChg>
      <pc:sldMasterChg chg="del">
        <pc:chgData name="Nelson, Stephanie (Bula)" userId="69b768f2-7601-4471-9b80-7695b53cd60c" providerId="ADAL" clId="{2DFB2B79-C6D8-413A-84D3-1C513B457268}" dt="2026-08-28T17:18:10.021" v="20" actId="2696"/>
        <pc:sldMasterMkLst>
          <pc:docMk/>
          <pc:sldMasterMk cId="3729795247" sldId="2147483826"/>
        </pc:sldMasterMkLst>
      </pc:sldMasterChg>
      <pc:sldMasterChg chg="del">
        <pc:chgData name="Nelson, Stephanie (Bula)" userId="69b768f2-7601-4471-9b80-7695b53cd60c" providerId="ADAL" clId="{2DFB2B79-C6D8-413A-84D3-1C513B457268}" dt="2026-08-28T17:18:10.645" v="44" actId="2696"/>
        <pc:sldMasterMkLst>
          <pc:docMk/>
          <pc:sldMasterMk cId="3046042051" sldId="2147483831"/>
        </pc:sldMasterMkLst>
      </pc:sldMasterChg>
      <pc:sldMasterChg chg="del">
        <pc:chgData name="Nelson, Stephanie (Bula)" userId="69b768f2-7601-4471-9b80-7695b53cd60c" providerId="ADAL" clId="{2DFB2B79-C6D8-413A-84D3-1C513B457268}" dt="2026-08-28T17:18:10.380" v="34" actId="2696"/>
        <pc:sldMasterMkLst>
          <pc:docMk/>
          <pc:sldMasterMk cId="524464775" sldId="214748383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58380-0E72-4097-B17C-F466BD26690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DB6E1B-7A35-412D-9A22-F9191DF6B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341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177800" marR="0" lvl="0" indent="-17780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fld id="{642B0606-54EF-4498-BBC7-DEAF932B27B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177800" marR="0" lvl="0" indent="-17780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7325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B0606-54EF-4498-BBC7-DEAF932B27B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07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177800" marR="0" lvl="0" indent="-17780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fld id="{A134C8B6-E473-4081-A961-47075D0F9C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177800" marR="0" lvl="0" indent="-17780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4242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824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323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824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B0606-54EF-4498-BBC7-DEAF932B27B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9176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B0606-54EF-4498-BBC7-DEAF932B27B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371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177800" marR="0" lvl="0" indent="-17780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fld id="{34B3EDCD-108A-4E5E-A6FB-AD67E898211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177800" marR="0" lvl="0" indent="-17780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134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7148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075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075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F634-9F19-417D-B6AD-B9387F55A98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2519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CA2F5-A7F4-411A-B877-4329806F461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081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CA2F5-A7F4-411A-B877-4329806F461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3196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B8F4AA-B82B-49DB-BC35-EBCEF0E80AE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9987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6AC89C-57DB-47DB-B6C4-7EE6996598B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6509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757CE-2D7E-4BAB-9D2B-4D234A1D2E1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61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34963" y="5077602"/>
            <a:ext cx="88485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buNone/>
            </a:pPr>
            <a:r>
              <a:rPr lang="en-US" sz="1600" b="1" cap="all" spc="300" baseline="0">
                <a:solidFill>
                  <a:schemeClr val="tx1"/>
                </a:solidFill>
              </a:rPr>
              <a:t>Draft</a:t>
            </a:r>
          </a:p>
        </p:txBody>
      </p:sp>
      <p:cxnSp>
        <p:nvCxnSpPr>
          <p:cNvPr id="5" name="SeparatorLine"/>
          <p:cNvCxnSpPr/>
          <p:nvPr userDrawn="1"/>
        </p:nvCxnSpPr>
        <p:spPr>
          <a:xfrm>
            <a:off x="0" y="4873803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lientLogo"/>
          <p:cNvSpPr>
            <a:spLocks noGrp="1"/>
          </p:cNvSpPr>
          <p:nvPr>
            <p:ph type="pic" sz="quarter" idx="10"/>
          </p:nvPr>
        </p:nvSpPr>
        <p:spPr>
          <a:xfrm>
            <a:off x="8617039" y="3364443"/>
            <a:ext cx="3239999" cy="139964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8" name="Disclaimer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5468" y="6547288"/>
            <a:ext cx="6407451" cy="274344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34965" y="2420938"/>
            <a:ext cx="11522075" cy="90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add subtitle/contacts/date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334964" y="1268413"/>
            <a:ext cx="11522075" cy="900112"/>
          </a:xfrm>
        </p:spPr>
        <p:txBody>
          <a:bodyPr anchor="b"/>
          <a:lstStyle>
            <a:lvl1pPr algn="l">
              <a:spcBef>
                <a:spcPts val="0"/>
              </a:spcBef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5201926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408142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st Pa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cxnSp>
        <p:nvCxnSpPr>
          <p:cNvPr id="39" name="SeparatorLine"/>
          <p:cNvCxnSpPr/>
          <p:nvPr userDrawn="1"/>
        </p:nvCxnSpPr>
        <p:spPr>
          <a:xfrm>
            <a:off x="0" y="5481638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758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53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1784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lus B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47472" y="164591"/>
            <a:ext cx="11521440" cy="1097280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29315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3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DB22019D-08F5-311D-B7E7-A7A6ACD03971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1057262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807" imgH="812" progId="TCLayout.ActiveDocument.1">
                  <p:embed/>
                </p:oleObj>
              </mc:Choice>
              <mc:Fallback>
                <p:oleObj name="think-cell Slide" r:id="rId9" imgW="807" imgH="812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22019D-08F5-311D-B7E7-A7A6ACD039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tfpConfiguration" hidden="1"/>
          <p:cNvSpPr txBox="1"/>
          <p:nvPr userDrawn="1"/>
        </p:nvSpPr>
        <p:spPr bwMode="hidden">
          <a:xfrm>
            <a:off x="0" y="0"/>
            <a:ext cx="36000" cy="36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>
              <a:buNone/>
            </a:pPr>
            <a:r>
              <a:rPr lang="en-US" sz="100">
                <a:solidFill>
                  <a:schemeClr val="bg1">
                    <a:alpha val="0"/>
                  </a:schemeClr>
                </a:solidFill>
              </a:rPr>
              <a:t>&lt;BTFP&gt;&lt;!-- BTFPCONFIGURATION:3C627466703E0D0A20203C74656D706C6174652076657273696F6E3D22322E332E342220747970653D226272616E64656422207061676553697A653D227769646573637265656E22202F3E0D0A20203C4775696465733E0D0A202020203C4C656674477569646520786D6C6E733D22323622202F3E0D0A202020203C5269676874477569646520786D6C6E733D2239333422202F3E0D0A202020203C5570706572537469636B6572477569646520786D6C6E733D22363922202F3E0D0A202020203C4C6F776572537469636B6572477569646520786D6C6E733D2231303022202F3E0D0A202020203C426F74746F6D477569646520786D6C6E733D2235313722202F3E0D0A20203C2F4775696465733E0D0A3C2F627466703E --&gt;&lt;/BTFP&gt;</a:t>
            </a:r>
          </a:p>
        </p:txBody>
      </p:sp>
      <p:pic>
        <p:nvPicPr>
          <p:cNvPr id="12" name="BainLogo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60000" y="6654664"/>
            <a:ext cx="1152000" cy="144000"/>
          </a:xfrm>
          <a:prstGeom prst="rect">
            <a:avLst/>
          </a:prstGeom>
        </p:spPr>
      </p:pic>
      <p:sp>
        <p:nvSpPr>
          <p:cNvPr id="8" name="CreatedFooter"/>
          <p:cNvSpPr/>
          <p:nvPr userDrawn="1"/>
        </p:nvSpPr>
        <p:spPr>
          <a:xfrm>
            <a:off x="8263033" y="6642830"/>
            <a:ext cx="1368171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Retail savings levers</a:t>
            </a:r>
          </a:p>
        </p:txBody>
      </p:sp>
      <p:sp>
        <p:nvSpPr>
          <p:cNvPr id="7" name="OfficeCode"/>
          <p:cNvSpPr/>
          <p:nvPr userDrawn="1"/>
        </p:nvSpPr>
        <p:spPr>
          <a:xfrm>
            <a:off x="7348519" y="6642830"/>
            <a:ext cx="288036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DAL</a:t>
            </a:r>
          </a:p>
        </p:txBody>
      </p:sp>
      <p:pic>
        <p:nvPicPr>
          <p:cNvPr id="14" name="Disclaimer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16547" y="6641266"/>
            <a:ext cx="6407451" cy="176799"/>
          </a:xfrm>
          <a:prstGeom prst="rect">
            <a:avLst/>
          </a:prstGeom>
        </p:spPr>
      </p:pic>
      <p:cxnSp>
        <p:nvCxnSpPr>
          <p:cNvPr id="20" name="FooterSeparatorLine"/>
          <p:cNvCxnSpPr/>
          <p:nvPr userDrawn="1"/>
        </p:nvCxnSpPr>
        <p:spPr>
          <a:xfrm>
            <a:off x="0" y="6598800"/>
            <a:ext cx="11857037" cy="0"/>
          </a:xfrm>
          <a:prstGeom prst="line">
            <a:avLst/>
          </a:prstGeom>
          <a:ln w="9525" cap="flat">
            <a:solidFill>
              <a:schemeClr val="accent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334435" y="1268413"/>
            <a:ext cx="11522603" cy="5292725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TitleSeparatorLine"/>
          <p:cNvCxnSpPr/>
          <p:nvPr userDrawn="1"/>
        </p:nvCxnSpPr>
        <p:spPr>
          <a:xfrm>
            <a:off x="0" y="873125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334963" y="1"/>
            <a:ext cx="11522075" cy="876687"/>
          </a:xfrm>
          <a:prstGeom prst="rect">
            <a:avLst/>
          </a:prstGeom>
        </p:spPr>
        <p:txBody>
          <a:bodyPr vert="horz" lIns="36000" tIns="36000" rIns="36000" bIns="7200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SlideNumber"/>
          <p:cNvSpPr/>
          <p:nvPr userDrawn="1"/>
        </p:nvSpPr>
        <p:spPr bwMode="gray">
          <a:xfrm>
            <a:off x="11715975" y="6649694"/>
            <a:ext cx="141064" cy="13849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/>
          <a:p>
            <a:pPr marL="0" indent="0" algn="r" defTabSz="711200" rtl="0" eaLnBrk="1" latinLnBrk="0" hangingPunct="1">
              <a:spcBef>
                <a:spcPts val="1200"/>
              </a:spcBef>
              <a:buNone/>
            </a:pPr>
            <a:fld id="{BB69BBE8-4DB2-4642-B003-B220ACD5A2FD}" type="slidenum">
              <a:rPr lang="en-US" sz="900" b="0" baseline="0" smtClean="0">
                <a:solidFill>
                  <a:schemeClr val="bg2"/>
                </a:solidFill>
                <a:latin typeface="+mn-lt"/>
              </a:rPr>
              <a:pPr marL="0" indent="0" algn="r" defTabSz="711200" rtl="0" eaLnBrk="1" latinLnBrk="0" hangingPunct="1">
                <a:spcBef>
                  <a:spcPts val="1200"/>
                </a:spcBef>
                <a:buNone/>
              </a:pPr>
              <a:t>‹#›</a:t>
            </a:fld>
            <a:endParaRPr lang="en-US" sz="900" b="0">
              <a:solidFill>
                <a:schemeClr val="bg2"/>
              </a:solidFill>
              <a:latin typeface="+mn-lt"/>
            </a:endParaRPr>
          </a:p>
        </p:txBody>
      </p:sp>
    </p:spTree>
    <p:custDataLst>
      <p:tags r:id="rId7"/>
    </p:custDataLst>
    <p:extLst>
      <p:ext uri="{BB962C8B-B14F-4D97-AF65-F5344CB8AC3E}">
        <p14:creationId xmlns:p14="http://schemas.microsoft.com/office/powerpoint/2010/main" val="2833961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</p:sldLayoutIdLst>
  <p:txStyles>
    <p:titleStyle>
      <a:lvl1pPr algn="l" defTabSz="7112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354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4988" indent="-173038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77800" indent="-177800" algn="l" defTabSz="711200" rtl="0" eaLnBrk="1" latinLnBrk="0" hangingPunct="1">
        <a:spcBef>
          <a:spcPts val="1200"/>
        </a:spcBef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12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890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446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4224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02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0">
          <p15:clr>
            <a:srgbClr val="D1D1D1"/>
          </p15:clr>
        </p15:guide>
        <p15:guide id="2" pos="211">
          <p15:clr>
            <a:srgbClr val="D1D1D1"/>
          </p15:clr>
        </p15:guide>
        <p15:guide id="4" orient="horz" pos="799">
          <p15:clr>
            <a:srgbClr val="D1D1D1"/>
          </p15:clr>
        </p15:guide>
        <p15:guide id="7" orient="horz" pos="4133">
          <p15:clr>
            <a:srgbClr val="D1D1D1"/>
          </p15:clr>
        </p15:guide>
        <p15:guide id="8" pos="7469">
          <p15:clr>
            <a:srgbClr val="D1D1D1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3" Type="http://schemas.openxmlformats.org/officeDocument/2006/relationships/tags" Target="../tags/tag7.xml"/><Relationship Id="rId21" Type="http://schemas.openxmlformats.org/officeDocument/2006/relationships/notesSlide" Target="../notesSlides/notesSlide1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slideLayout" Target="../slideLayouts/slideLayout5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10" Type="http://schemas.openxmlformats.org/officeDocument/2006/relationships/tags" Target="../tags/tag14.xml"/><Relationship Id="rId19" Type="http://schemas.openxmlformats.org/officeDocument/2006/relationships/tags" Target="../tags/tag23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image" Target="../media/image6.emf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2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tags" Target="../tags/tag40.xml"/><Relationship Id="rId18" Type="http://schemas.openxmlformats.org/officeDocument/2006/relationships/tags" Target="../tags/tag45.xml"/><Relationship Id="rId3" Type="http://schemas.openxmlformats.org/officeDocument/2006/relationships/tags" Target="../tags/tag30.xml"/><Relationship Id="rId21" Type="http://schemas.openxmlformats.org/officeDocument/2006/relationships/oleObject" Target="../embeddings/oleObject2.bin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17" Type="http://schemas.openxmlformats.org/officeDocument/2006/relationships/tags" Target="../tags/tag44.xml"/><Relationship Id="rId2" Type="http://schemas.openxmlformats.org/officeDocument/2006/relationships/tags" Target="../tags/tag29.xml"/><Relationship Id="rId16" Type="http://schemas.openxmlformats.org/officeDocument/2006/relationships/tags" Target="../tags/tag43.xml"/><Relationship Id="rId20" Type="http://schemas.openxmlformats.org/officeDocument/2006/relationships/notesSlide" Target="../notesSlides/notesSlide3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5" Type="http://schemas.openxmlformats.org/officeDocument/2006/relationships/tags" Target="../tags/tag32.xml"/><Relationship Id="rId15" Type="http://schemas.openxmlformats.org/officeDocument/2006/relationships/tags" Target="../tags/tag42.xml"/><Relationship Id="rId23" Type="http://schemas.openxmlformats.org/officeDocument/2006/relationships/image" Target="../media/image8.emf"/><Relationship Id="rId10" Type="http://schemas.openxmlformats.org/officeDocument/2006/relationships/tags" Target="../tags/tag37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tags" Target="../tags/tag41.xml"/><Relationship Id="rId22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7" Type="http://schemas.openxmlformats.org/officeDocument/2006/relationships/image" Target="../media/image9.emf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image" Target="../media/image10.emf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7" Type="http://schemas.openxmlformats.org/officeDocument/2006/relationships/image" Target="../media/image11.wmf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12" Type="http://schemas.openxmlformats.org/officeDocument/2006/relationships/image" Target="../media/image14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image" Target="../media/image13.emf"/><Relationship Id="rId5" Type="http://schemas.openxmlformats.org/officeDocument/2006/relationships/tags" Target="../tags/tag62.xml"/><Relationship Id="rId10" Type="http://schemas.openxmlformats.org/officeDocument/2006/relationships/image" Target="../media/image12.emf"/><Relationship Id="rId4" Type="http://schemas.openxmlformats.org/officeDocument/2006/relationships/tags" Target="../tags/tag6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13" Type="http://schemas.openxmlformats.org/officeDocument/2006/relationships/tags" Target="../tags/tag77.xml"/><Relationship Id="rId18" Type="http://schemas.openxmlformats.org/officeDocument/2006/relationships/tags" Target="../tags/tag82.xml"/><Relationship Id="rId26" Type="http://schemas.openxmlformats.org/officeDocument/2006/relationships/tags" Target="../tags/tag90.xml"/><Relationship Id="rId3" Type="http://schemas.openxmlformats.org/officeDocument/2006/relationships/tags" Target="../tags/tag67.xml"/><Relationship Id="rId21" Type="http://schemas.openxmlformats.org/officeDocument/2006/relationships/tags" Target="../tags/tag85.xml"/><Relationship Id="rId7" Type="http://schemas.openxmlformats.org/officeDocument/2006/relationships/tags" Target="../tags/tag71.xml"/><Relationship Id="rId12" Type="http://schemas.openxmlformats.org/officeDocument/2006/relationships/tags" Target="../tags/tag76.xml"/><Relationship Id="rId17" Type="http://schemas.openxmlformats.org/officeDocument/2006/relationships/tags" Target="../tags/tag81.xml"/><Relationship Id="rId25" Type="http://schemas.openxmlformats.org/officeDocument/2006/relationships/tags" Target="../tags/tag89.xml"/><Relationship Id="rId2" Type="http://schemas.openxmlformats.org/officeDocument/2006/relationships/tags" Target="../tags/tag66.xml"/><Relationship Id="rId16" Type="http://schemas.openxmlformats.org/officeDocument/2006/relationships/tags" Target="../tags/tag80.xml"/><Relationship Id="rId20" Type="http://schemas.openxmlformats.org/officeDocument/2006/relationships/tags" Target="../tags/tag84.xml"/><Relationship Id="rId29" Type="http://schemas.openxmlformats.org/officeDocument/2006/relationships/slideLayout" Target="../slideLayouts/slideLayout2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tags" Target="../tags/tag75.xml"/><Relationship Id="rId24" Type="http://schemas.openxmlformats.org/officeDocument/2006/relationships/tags" Target="../tags/tag88.xml"/><Relationship Id="rId5" Type="http://schemas.openxmlformats.org/officeDocument/2006/relationships/tags" Target="../tags/tag69.xml"/><Relationship Id="rId15" Type="http://schemas.openxmlformats.org/officeDocument/2006/relationships/tags" Target="../tags/tag79.xml"/><Relationship Id="rId23" Type="http://schemas.openxmlformats.org/officeDocument/2006/relationships/tags" Target="../tags/tag87.xml"/><Relationship Id="rId28" Type="http://schemas.openxmlformats.org/officeDocument/2006/relationships/tags" Target="../tags/tag92.xml"/><Relationship Id="rId10" Type="http://schemas.openxmlformats.org/officeDocument/2006/relationships/tags" Target="../tags/tag74.xml"/><Relationship Id="rId19" Type="http://schemas.openxmlformats.org/officeDocument/2006/relationships/tags" Target="../tags/tag83.xml"/><Relationship Id="rId31" Type="http://schemas.openxmlformats.org/officeDocument/2006/relationships/image" Target="../media/image15.emf"/><Relationship Id="rId4" Type="http://schemas.openxmlformats.org/officeDocument/2006/relationships/tags" Target="../tags/tag68.xml"/><Relationship Id="rId9" Type="http://schemas.openxmlformats.org/officeDocument/2006/relationships/tags" Target="../tags/tag73.xml"/><Relationship Id="rId14" Type="http://schemas.openxmlformats.org/officeDocument/2006/relationships/tags" Target="../tags/tag78.xml"/><Relationship Id="rId22" Type="http://schemas.openxmlformats.org/officeDocument/2006/relationships/tags" Target="../tags/tag86.xml"/><Relationship Id="rId27" Type="http://schemas.openxmlformats.org/officeDocument/2006/relationships/tags" Target="../tags/tag91.xml"/><Relationship Id="rId3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7" Type="http://schemas.openxmlformats.org/officeDocument/2006/relationships/image" Target="../media/image17.png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image" Target="../media/image16.emf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10" Type="http://schemas.openxmlformats.org/officeDocument/2006/relationships/image" Target="../media/image19.emf"/><Relationship Id="rId4" Type="http://schemas.openxmlformats.org/officeDocument/2006/relationships/tags" Target="../tags/tag100.xml"/><Relationship Id="rId9" Type="http://schemas.openxmlformats.org/officeDocument/2006/relationships/image" Target="../media/image1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7" Type="http://schemas.openxmlformats.org/officeDocument/2006/relationships/image" Target="../media/image20.emf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8.xml"/><Relationship Id="rId4" Type="http://schemas.openxmlformats.org/officeDocument/2006/relationships/tags" Target="../tags/tag10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16.xml"/><Relationship Id="rId13" Type="http://schemas.openxmlformats.org/officeDocument/2006/relationships/tags" Target="../tags/tag121.xml"/><Relationship Id="rId18" Type="http://schemas.openxmlformats.org/officeDocument/2006/relationships/image" Target="../media/image22.emf"/><Relationship Id="rId3" Type="http://schemas.openxmlformats.org/officeDocument/2006/relationships/tags" Target="../tags/tag111.xml"/><Relationship Id="rId7" Type="http://schemas.openxmlformats.org/officeDocument/2006/relationships/tags" Target="../tags/tag115.xml"/><Relationship Id="rId12" Type="http://schemas.openxmlformats.org/officeDocument/2006/relationships/tags" Target="../tags/tag120.xml"/><Relationship Id="rId17" Type="http://schemas.openxmlformats.org/officeDocument/2006/relationships/image" Target="../media/image21.emf"/><Relationship Id="rId2" Type="http://schemas.openxmlformats.org/officeDocument/2006/relationships/tags" Target="../tags/tag110.xml"/><Relationship Id="rId16" Type="http://schemas.openxmlformats.org/officeDocument/2006/relationships/notesSlide" Target="../notesSlides/notesSlide9.xml"/><Relationship Id="rId20" Type="http://schemas.openxmlformats.org/officeDocument/2006/relationships/image" Target="../media/image24.emf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11" Type="http://schemas.openxmlformats.org/officeDocument/2006/relationships/tags" Target="../tags/tag119.xml"/><Relationship Id="rId5" Type="http://schemas.openxmlformats.org/officeDocument/2006/relationships/tags" Target="../tags/tag113.xml"/><Relationship Id="rId15" Type="http://schemas.openxmlformats.org/officeDocument/2006/relationships/slideLayout" Target="../slideLayouts/slideLayout5.xml"/><Relationship Id="rId10" Type="http://schemas.openxmlformats.org/officeDocument/2006/relationships/tags" Target="../tags/tag118.xml"/><Relationship Id="rId19" Type="http://schemas.openxmlformats.org/officeDocument/2006/relationships/image" Target="../media/image23.emf"/><Relationship Id="rId4" Type="http://schemas.openxmlformats.org/officeDocument/2006/relationships/tags" Target="../tags/tag112.xml"/><Relationship Id="rId9" Type="http://schemas.openxmlformats.org/officeDocument/2006/relationships/tags" Target="../tags/tag117.xml"/><Relationship Id="rId14" Type="http://schemas.openxmlformats.org/officeDocument/2006/relationships/tags" Target="../tags/tag12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30.xml"/><Relationship Id="rId13" Type="http://schemas.openxmlformats.org/officeDocument/2006/relationships/image" Target="../media/image26.emf"/><Relationship Id="rId3" Type="http://schemas.openxmlformats.org/officeDocument/2006/relationships/tags" Target="../tags/tag125.xml"/><Relationship Id="rId7" Type="http://schemas.openxmlformats.org/officeDocument/2006/relationships/tags" Target="../tags/tag129.xml"/><Relationship Id="rId12" Type="http://schemas.openxmlformats.org/officeDocument/2006/relationships/image" Target="../media/image25.emf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tags" Target="../tags/tag128.xml"/><Relationship Id="rId11" Type="http://schemas.openxmlformats.org/officeDocument/2006/relationships/notesSlide" Target="../notesSlides/notesSlide10.xml"/><Relationship Id="rId5" Type="http://schemas.openxmlformats.org/officeDocument/2006/relationships/tags" Target="../tags/tag127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26.xml"/><Relationship Id="rId9" Type="http://schemas.openxmlformats.org/officeDocument/2006/relationships/tags" Target="../tags/tag13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134.xml"/><Relationship Id="rId7" Type="http://schemas.openxmlformats.org/officeDocument/2006/relationships/notesSlide" Target="../notesSlides/notesSlide11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6.xml"/><Relationship Id="rId10" Type="http://schemas.openxmlformats.org/officeDocument/2006/relationships/image" Target="../media/image27.emf"/><Relationship Id="rId4" Type="http://schemas.openxmlformats.org/officeDocument/2006/relationships/tags" Target="../tags/tag135.xml"/><Relationship Id="rId9" Type="http://schemas.openxmlformats.org/officeDocument/2006/relationships/image" Target="../media/image7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139.xml"/><Relationship Id="rId7" Type="http://schemas.openxmlformats.org/officeDocument/2006/relationships/notesSlide" Target="../notesSlides/notesSlide12.xml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1.xml"/><Relationship Id="rId10" Type="http://schemas.openxmlformats.org/officeDocument/2006/relationships/image" Target="../media/image28.emf"/><Relationship Id="rId4" Type="http://schemas.openxmlformats.org/officeDocument/2006/relationships/tags" Target="../tags/tag140.xml"/><Relationship Id="rId9" Type="http://schemas.openxmlformats.org/officeDocument/2006/relationships/image" Target="../media/image7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44.xml"/><Relationship Id="rId7" Type="http://schemas.openxmlformats.org/officeDocument/2006/relationships/tags" Target="../tags/tag148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9" Type="http://schemas.openxmlformats.org/officeDocument/2006/relationships/image" Target="../media/image29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56.xml"/><Relationship Id="rId13" Type="http://schemas.openxmlformats.org/officeDocument/2006/relationships/tags" Target="../tags/tag161.xml"/><Relationship Id="rId18" Type="http://schemas.openxmlformats.org/officeDocument/2006/relationships/image" Target="../media/image31.emf"/><Relationship Id="rId3" Type="http://schemas.openxmlformats.org/officeDocument/2006/relationships/tags" Target="../tags/tag151.xml"/><Relationship Id="rId7" Type="http://schemas.openxmlformats.org/officeDocument/2006/relationships/tags" Target="../tags/tag155.xml"/><Relationship Id="rId12" Type="http://schemas.openxmlformats.org/officeDocument/2006/relationships/tags" Target="../tags/tag160.xml"/><Relationship Id="rId17" Type="http://schemas.openxmlformats.org/officeDocument/2006/relationships/image" Target="../media/image30.emf"/><Relationship Id="rId2" Type="http://schemas.openxmlformats.org/officeDocument/2006/relationships/tags" Target="../tags/tag150.xml"/><Relationship Id="rId16" Type="http://schemas.openxmlformats.org/officeDocument/2006/relationships/oleObject" Target="../embeddings/oleObject5.bin"/><Relationship Id="rId1" Type="http://schemas.openxmlformats.org/officeDocument/2006/relationships/tags" Target="../tags/tag149.xml"/><Relationship Id="rId6" Type="http://schemas.openxmlformats.org/officeDocument/2006/relationships/tags" Target="../tags/tag154.xml"/><Relationship Id="rId11" Type="http://schemas.openxmlformats.org/officeDocument/2006/relationships/tags" Target="../tags/tag159.xml"/><Relationship Id="rId5" Type="http://schemas.openxmlformats.org/officeDocument/2006/relationships/tags" Target="../tags/tag153.xml"/><Relationship Id="rId15" Type="http://schemas.openxmlformats.org/officeDocument/2006/relationships/notesSlide" Target="../notesSlides/notesSlide13.xml"/><Relationship Id="rId10" Type="http://schemas.openxmlformats.org/officeDocument/2006/relationships/tags" Target="../tags/tag158.xml"/><Relationship Id="rId4" Type="http://schemas.openxmlformats.org/officeDocument/2006/relationships/tags" Target="../tags/tag152.xml"/><Relationship Id="rId9" Type="http://schemas.openxmlformats.org/officeDocument/2006/relationships/tags" Target="../tags/tag157.xml"/><Relationship Id="rId1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tags" Target="../tags/tag162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tags" Target="../tags/tag170.xml"/><Relationship Id="rId7" Type="http://schemas.openxmlformats.org/officeDocument/2006/relationships/image" Target="../media/image32.jpeg"/><Relationship Id="rId12" Type="http://schemas.openxmlformats.org/officeDocument/2006/relationships/image" Target="../media/image37.png"/><Relationship Id="rId2" Type="http://schemas.openxmlformats.org/officeDocument/2006/relationships/tags" Target="../tags/tag169.xml"/><Relationship Id="rId1" Type="http://schemas.openxmlformats.org/officeDocument/2006/relationships/tags" Target="../tags/tag168.xml"/><Relationship Id="rId6" Type="http://schemas.openxmlformats.org/officeDocument/2006/relationships/notesSlide" Target="../notesSlides/notesSlide16.xml"/><Relationship Id="rId11" Type="http://schemas.openxmlformats.org/officeDocument/2006/relationships/image" Target="../media/image36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35.jpeg"/><Relationship Id="rId4" Type="http://schemas.openxmlformats.org/officeDocument/2006/relationships/tags" Target="../tags/tag171.xml"/><Relationship Id="rId9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tags" Target="../tags/tag17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73.xml"/><Relationship Id="rId1" Type="http://schemas.openxmlformats.org/officeDocument/2006/relationships/tags" Target="../tags/tag172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180.xml"/><Relationship Id="rId7" Type="http://schemas.openxmlformats.org/officeDocument/2006/relationships/image" Target="../media/image40.emf"/><Relationship Id="rId2" Type="http://schemas.openxmlformats.org/officeDocument/2006/relationships/tags" Target="../tags/tag179.xml"/><Relationship Id="rId1" Type="http://schemas.openxmlformats.org/officeDocument/2006/relationships/tags" Target="../tags/tag178.xml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84.xml"/><Relationship Id="rId7" Type="http://schemas.openxmlformats.org/officeDocument/2006/relationships/tags" Target="../tags/tag188.xml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9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btfpNotesBox245945">
            <a:extLst>
              <a:ext uri="{FF2B5EF4-FFF2-40B4-BE49-F238E27FC236}">
                <a16:creationId xmlns:a16="http://schemas.microsoft.com/office/drawing/2014/main" id="{A57F4D61-51AE-4DE8-9678-082565487CA4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gray">
          <a:xfrm>
            <a:off x="325438" y="6454804"/>
            <a:ext cx="11531600" cy="215444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marL="0" indent="0">
              <a:spcBef>
                <a:spcPts val="0"/>
              </a:spcBef>
              <a:buNone/>
              <a:defRPr sz="700">
                <a:solidFill>
                  <a:srgbClr val="000000"/>
                </a:solidFill>
              </a:defRPr>
            </a:lvl1pPr>
          </a:lstStyle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Sources: Internal Bain IP, company financials</a:t>
            </a:r>
          </a:p>
        </p:txBody>
      </p:sp>
      <p:grpSp>
        <p:nvGrpSpPr>
          <p:cNvPr id="53" name="btfpColumnIndicatorGroup2">
            <a:extLst>
              <a:ext uri="{FF2B5EF4-FFF2-40B4-BE49-F238E27FC236}">
                <a16:creationId xmlns:a16="http://schemas.microsoft.com/office/drawing/2014/main" id="{97B56137-FE99-47CB-A373-FA1B0366341D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49" name="btfpColumnGapBlocker744653">
              <a:extLst>
                <a:ext uri="{FF2B5EF4-FFF2-40B4-BE49-F238E27FC236}">
                  <a16:creationId xmlns:a16="http://schemas.microsoft.com/office/drawing/2014/main" id="{2B69138E-A3DE-4B29-AAE0-8AECAF5BA76B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btfpColumnGapBlocker886278">
              <a:extLst>
                <a:ext uri="{FF2B5EF4-FFF2-40B4-BE49-F238E27FC236}">
                  <a16:creationId xmlns:a16="http://schemas.microsoft.com/office/drawing/2014/main" id="{C9E96629-6D2E-4449-8FD0-68FBD77A46AE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42" name="btfpColumnIndicator181430">
              <a:extLst>
                <a:ext uri="{FF2B5EF4-FFF2-40B4-BE49-F238E27FC236}">
                  <a16:creationId xmlns:a16="http://schemas.microsoft.com/office/drawing/2014/main" id="{CE71702B-368D-4C4C-9E51-F1FA75D428D9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btfpColumnIndicator660420">
              <a:extLst>
                <a:ext uri="{FF2B5EF4-FFF2-40B4-BE49-F238E27FC236}">
                  <a16:creationId xmlns:a16="http://schemas.microsoft.com/office/drawing/2014/main" id="{3958F372-2DA0-4D03-BAE8-125899C0E0FD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btfpColumnIndicatorGroup1">
            <a:extLst>
              <a:ext uri="{FF2B5EF4-FFF2-40B4-BE49-F238E27FC236}">
                <a16:creationId xmlns:a16="http://schemas.microsoft.com/office/drawing/2014/main" id="{19869E1D-323E-49ED-9FEC-00E94E1222BC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46" name="btfpColumnGapBlocker772298">
              <a:extLst>
                <a:ext uri="{FF2B5EF4-FFF2-40B4-BE49-F238E27FC236}">
                  <a16:creationId xmlns:a16="http://schemas.microsoft.com/office/drawing/2014/main" id="{A4DF15D9-AC09-4D83-9847-D9DECB24BF90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btfpColumnGapBlocker913238">
              <a:extLst>
                <a:ext uri="{FF2B5EF4-FFF2-40B4-BE49-F238E27FC236}">
                  <a16:creationId xmlns:a16="http://schemas.microsoft.com/office/drawing/2014/main" id="{7C8F9634-5F79-4957-8EEB-D41BCA8F4E00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40" name="btfpColumnIndicator332879">
              <a:extLst>
                <a:ext uri="{FF2B5EF4-FFF2-40B4-BE49-F238E27FC236}">
                  <a16:creationId xmlns:a16="http://schemas.microsoft.com/office/drawing/2014/main" id="{BB723F37-414D-41EB-A27D-78A31B1052B4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btfpColumnIndicator875381">
              <a:extLst>
                <a:ext uri="{FF2B5EF4-FFF2-40B4-BE49-F238E27FC236}">
                  <a16:creationId xmlns:a16="http://schemas.microsoft.com/office/drawing/2014/main" id="{3C60A424-2EBF-4A84-B1B8-D3D11529F652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1781504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overall_0_132188452698399317 columns_4_132188453963620266 6_1_132188445999145145 12_1_132188452708154467 27_1_132188454203714627 30_1_132188454203834298 33_1_132188454203944005 36_1_132188454204036078 37_1_132188454676626664 38_1_132188454847342073 39_1_132188455101490352 </a:t>
            </a:r>
          </a:p>
        </p:txBody>
      </p:sp>
      <p:sp>
        <p:nvSpPr>
          <p:cNvPr id="31" name="btfpColumnHeaderBoxText108987"/>
          <p:cNvSpPr txBox="1"/>
          <p:nvPr/>
        </p:nvSpPr>
        <p:spPr bwMode="gray">
          <a:xfrm>
            <a:off x="3940106" y="1004054"/>
            <a:ext cx="13090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>
              <a:buNone/>
              <a:defRPr sz="1200" spc="300"/>
            </a:lvl1pPr>
          </a:lstStyle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2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SAVINGS POTENTIAL</a:t>
            </a:r>
          </a:p>
        </p:txBody>
      </p:sp>
      <p:sp>
        <p:nvSpPr>
          <p:cNvPr id="64" name="Rectangle 63" descr="Enter Chart Description Here:&#10;&#10;End of Chart Description&#10;DO NOT ALTER TEXT BELOW THIS POINT! IF YOU DO YOUR CHART WILL NOT BE EDITABLE!&#10;mkkoexcel__~~~~~~~~~~False~~False~~Falsemkko__4HooU0THZk28POP9trq+pbTvvzd/gcV8t56cq85kb3NDTsUhojRA0EsgEHHMH7oYP1SYpn09ysXVivguJdhTvfyVMsBLTGvcX7WPTor/CmWiWcfk2RmY+GE6Q6T90sFUr0lg9IPP9y8umrse/9AoLT5R0GKq+XM9pr/aTyOTf0wptcuHbHxeyqBm9svU01qeeEM1v0hpSHUgirOnAK/wuq/Tyw5TLbs2TsaVR3tAj88RUqg2qJENmT81p6ZIpssB938i4VNQequXAVybqrEp7AaQZgyrVSx0yh2/GJuTNJFAB5ge6MhxFXgjwATMQB2dFFGIFBt57G+hxzb87guEZQkZYWiYobnEl90Lsgjd620lcm0MDf8MeRFrt6BNCMpY0zjOkVRg6zQ/A6b6Kui7J8sadq+3IstTQgEVtVfDBw53kn4zAAmX0Uh1cadDLflnc73KFWv2TcIwf7Rf7cmpl6skMAZ7qf5bmUTgV1JtZy+dpvHwhOH9O00O900K3wdeeUi79+QZXBB80Y8b1bGa3Gs6ghKZzYjMOO9ZpKUKcH1bS2M9HtFvUSUXM7rk4wDWRnSwt/l1dYnulvgJ0X11XYDlZi7ylDHEmTa5nVX24eZCDjGHEoKboOnBnNC/3N1xoFh74nifG8m6OTI9cWw5fOY4kwc4/8tcgvKXUCs1e5aXUD8dUIJdRRTnZr1kpe8kgy86ROP3aiHCB4ol9F8pMkjg/D74cQxoSWWc4obSifD7oj9Pgy/Ik62m+25VII2/GFMIjlauV17ngKEajfzHwWT9JUy+SAkZWBpDlpVjAQWV/SsUUOM8k9uiOYZBpUyr/p4tNwqKYKHCss6TLctplZ8yBZHxleNilqIupkP5b9dTcvYnmlSEWfA8vJmehvc/nrxlqg3oC02oEsVCXvUUvcEi9jTGKj4cA+rK4etiQfHhrgNFtzbIV8Djq8lIaMbQQ6w2SbITR4Exz9SmTmvfMDZF1NfPrpYSrebQy4oF6OD0NcT/bBxj5DJXzc9Y/hk1P7s9Uap0oMJOjHQGYtzthSsQQroH82O7e3RY2JR+rAjzzbPp6BwnhBiibNoyJuLy4NwQME3w6D1cmg0QsSvIr3PGcTHDb5/jxNfS5WOwq0+YBxK/bX32BAVih2xNpJiy4QkvvceEB/Y9iuYPgI/GF4j8Xujpowts3Id/nHehtZQpkAsEzIjUtItgVoHow4u5cSqmatjrDFo9lgsHZ3EzNUKUB3CPjTcwJp+545/h+7sBoeoDyCXCuUKCfkABfGue2VvEXwwdCB3SFZRkezJxdMlv4QQD2M91nchniIYeUTfYCo//qFP0p67XoiOjvCkJq23Mn1p/vX6ZJ8PajqJJmhfFaX7AK06a3n8L5P+sKTqr2l01IcWEM4p69xbibDnEvx6xEcPREOSFupAazgWrQ4fAEtJdOPZBo8j6n23qeIb4c9P4O+Uo9bPyf3Hl2o8Y6YTM4MSJJCuXc2UZJL0qqpXNSko2XTeSavM4okCr16QMBaE9ueCrnSUFgMBozYaz0+r3cePIndcv4BWHg6+3xWuFE+pnlI4jNXulYWY2LGBWrmrPVv2YdYlS8fVCbuWnGnnx8xMkcudJz5c/26KkLCrBY7C3EZ+8mAc117i3ZfvGJzdNsteCLyOHpBe0D/EKtERKyrMQicP2iNz7lar8Gb26rkDIFlidYO/35/m7b8HNGgLg+LtHvRUo4Vqib0MkFlEeN3N0829ZyOj6jlAW5BiizpFrPxm7Sb5tSjZfL7rAbnZFSYQe/34tOlk5g85KMN/yBrV5+EzWshVtA1ZmA9B/gYdL0kkKS3Zr09ZK/QSIRvaVIkY7BbR3Fd7Mz6FDpxW9nUtXhmx7rCYbQ+8wEwZV+eMZ6jOJupDavkEDQfvOdiPpQjdp+SrJWmRCW9q6BukeoVHJoLakaVTMHGj17qFDR/hUakcu+PeKfRo0C4FUssZpDWubsDBc8NQX8+AKsvvXwJU0Aw9XujvJMpEFiJxUtFjOLbq8PpjiW53vO3mLC8gKpIZeU6N5pSvBYcTH7FP5bCluglawbr24m0dija0R6JBrWVSuxoXe2k9hkeNKmXnzHLqo9+q43Qhu0V/8igX9Jo7LPTbe8kGUXD+9coHOEy/FS2UcuXe4Dq9K3QyRQlscTuISbA6dgQk8Vti4dqtuAC7LeZ+LCb2X+1rUVY1k94kfGrZwuyMXeJaDSorVAK207P4m5o5Giq/r/pj7XMx9H/i7xVoKdPFfgMOtmNJlmacNK7PMHyzNPGU61ISp+9bxsk7LPpI5X9yKgr1pl//ovpsIEgdT1aQu+1eGb19Uw+W8HLxN/OuYckYC4ooVty40FWoozbJubUWnJKyzWAyZHlfTpgRZqNZ22gixhs/J5S2gjxNlxuiu9hAoeHitOuvv5ETZASIa48yx1+3Ynj20OtyvF8k91RFH0+n6x/k097B4qemyssx1WcY90VHZgxv7pF3PcAQjgompq9A0ZJBfOTSchmyZHdO/5E0eTZxs9MoTepbAWrcRVgZz5jCm7Qj5b5NvE+AZQ6P6mqlWzQsM86Vk3QbEk7aeooRm5Xv1BQCNII44jsNuhcIhhjU9YhUwEznU3/tuWQlgv8Nrc0cFq/dD0ryHAUMH9HC3vANMP9LF6o/rZ1MIqGnd4nEkjdwc6nOkWu+Q2GhJ1QGjgfm9lxUOVItHHvwGzoVDfY1aplZpjgpxOqwuQS63VF8V8cwXEgCSTQ0i1RnKrZaQdLGOoCMs8d+gTRvh51aqsb95Y0hc3DXX4sMEcoEVzNAdrgtgFI7qYxnk+rM+tIdw2G+aSHXu5vEzyyx/vIjjidBerTaEhKkesd3aYbN0gHQCDzCk0l+09WJ2dI9gpzzt4mpM3ymDpFOjRwhwR5nFtFhzBXMqInFh4mdpx9qD4n66wDNeyrpimLIeprkysJUIgOPvSQaHTw8uKpz1UO5xjySKEuIaoHP/j8Nb5GjXO4JfB+LxL4G8zMyagtlo+8fLMQUDrTIkkg8GCA1tOZJT3gQD3+RidZAJhmCU9QMN4YhYSMjxwhuW9+jgUDGX1EKg4D4F0z8Gp4JzGMhogpIWwnH8ys/o/1JHcwk93ss17nVybQbTXl2abXVJoUyGwjynktpLU8sjW6N7kgYtWh2uHKkAX0CwgXHXnIqYBaurUOgxSdu0XhytPeKq6T2f7DzNpRAnRCITxxzfq6Ijd4tlTzJWyfvhy+WeRFOXEU6EPmSp1TcYAcSMXcOhzNFge5q8MvFJQ2Gn27oypP/XZXIaWxa/UZq3WshBb3lRtJQcu/27Gk4vWbjv20c3tumKzl5RMVk3lAorI9A7k0geeQSXRQBImSPpQO1vfMsuegRTB8ri6k+5xPcwfR/svOsKrYVULdd1NxyFLci9C73BvPt5tuOGEagfDqdqmUq0GU0mM+7nbAju9haSD/BpnDIiW/z2skQXg3SiWa7PyShAecA+JkfcQbb8zuQ7EwJ+pzLLDbMQvGPUrqsSDItRqztD5goC37y1gjXHJLbdVPCGUz4Oj947ASETgN0VoZtZnFwZd8+/ztOBFna3LDltJjmyGu81HJs7AtSbtn/aM5OH5vwvzl/1rqLIFqbvClRplyI1oi2IrnyRYyqsH2BKodnUaaiCwf1mN7+mh2agRIqUszJVKoOaGsZmkmQRFjyeyqshxe87Z4+c5dPGiACN2p0VUHu5AJy3HQltyF3+Nv0Ml7G48qIv0vGzrS9QH1WikgLd33lpyEA7+I6A9k84kaqz3vP6n//ASU49tGLllG/+mDAahfOFIrRXw4eT1iHkJXkaBqlYUKeZgds0tsrVVv+UPA/WG+ekEWyGgT2f/W2cIxkow2OslrpBnKAYzfkAzwwANH6NeySvYLu1hrhafOmXZxy+YuJ4nNpL9cTuWuCWAct4LUBZsBGigJL15iIaux2BA0S5odHwT8P6HBlXlT/Nse/FztGZw57KEvmQb16Qrwon67xM1UpG0ImzM8NCzqmjgwqNVQup7lCjThAWKlVIzmrl6fvnDF87sMR3/nEotUahOIdTMJ8pZANlg3Mozcenaa+7/GDoDbxxnUMGym6kbDy7sLoOUrAzzW2iCkGfcqa8x85tqKqJntPrPA5noeprwkaDU/hh7VwgEcpcnV4G7UzwfdtxTQgjVN6mkRSvduZpChcAfXej867aDkL4TT3idh4JxUru6+DVgaj7uZrMUMuCa0nuU6YCdLl2QsdRZXiUxhZM8sU9CJVNlgrcwtJ6nBj6c0jPbnu1NMqk4ZNNOpWCmrjU2vlcNhRGrRgpXVrO88RvfLFbFTc1ENVk4+o+gAJjNVAqwbwtVytMEMw/8cFvJbC/iAW55vj4yqN/rx0vHCbnysAOMZ4bDjM/7tRpPYelGvh3eeJXaS+9UlCkfICjKBL9o+GHuVfxFcxOiCVU8hDokpH6hX1Aw6Ngg6P+pG6d5YyJz/L9Jhi8e2y7TTSYoFbtJR+Fn0aDS3OFkNC8mOAotAG9sLa4kcrZnFrNAEpeIi+tkJlBBTM0RppGm7/Ua1l3LfYCKubx8CXtYN7BI7sUerv89IIicy4kcSQ95TAX+IDOo8SbE1V6lsPpgb8/jYm11CvyXTe8uNRxPyhfcVrcl5OU0wreE4uAE8vjfszcHKB4ZEoUdM51eEkCFxSswvceWXGx79GRxG+Bp10vqxsdynIbVYCMxQMv7NqoqjVtzKVrvz3swAj9LdOo3W3sde1cLKnAYPbh/+VJ+S2wZRRCRE0uIljXUmuMslzeGy3q05KiNo9XkjuXynJZ/DKx6Ze8yblP62DtV9jp5ifjtCYslNQIF29PycMfbCpP2hysChgSNacXJYON1hx6uVIpD/EZ+JYW08KkQpHeXgesbmsqPE11bAWkpZ5m2whmklegZK1Yk0V1ElRvvIN+lBdYQbV03sQlC4sMqIHIzA9CcjSkmDD7nXEFKpX5w21ov7h4xRtmw0WRkgVepi98ZuK0IcZGX1eSiM4+ymwDK21/2dQAkDCEfzbCMc5efl68cw8oOJX458MLa9JeQTHUeGiC79nrhSS45rGtjwXO0xwnkyB7YMYp1J3Cj1s7H+BA3/fuajkV7qEjSY3JUe7sPAROxA6e9ychv/9/PL1Sqwj8BTqT/DnZuO8nNQE4d0ya8+wEqpD7fMs5OSsqv0dds2RsB3J7RQsMP9HpDIdA6kMArs8gT9MX6kOK8ijMZLUCttbdzSIu4zizFVhEUogli5tQb9U4QqZedcRhnHerM2aXKS4tJnZa2PMUXM3fFbmRph9sAIOfKZTjdghX0UMpsN/XE11jcSD4czT9q1TUIZBB5u8yfPG9CBqWzTPe9XMVgbxdL7Q0l2pIwaF/sqQchWool/Wtxou6dsK9EvHE2fk9D0HzSDvUZ+yJeEK1URGpcDwGaN/ddopJ2P1nTIfLFLPKiJhQCtsvHBVuD9YX8zoVREa+LJ7VzyyL9a/MTms/uHXDcxaDKC/c25DmbC5XYUiINFgE1P4+MK+y1Dhj/i+ZkwK97nLfT/kAu+He1gaTN6ds5Ii1RDM1ccpVJXENa9nV4HRBcr6bMydcBSYg3ppW5jeS9nyr+JLxFn04Mh4WHY6rhtcuvmyaRQSHNiUAAdO3ViqG/1JNcvt6kq2FjIBqImIydXFzoCcJdxRGGpTEwjF2710krt8CR4CowzNllrTbLVQKQfB9inRkmdmGDg2MMvSa8xPU1aScUAkkCnaEWTSRGUT8Tj5uF/kVkPWYuKWylmdklmguek7kNCUx66vIh+QbxT2jigrcpmgVbntZT7hL7hm6ghA6wplsShYUfAakIuncPtU+8rpbr3GU2YPXmwWNuhUv8XDEDyenJQD9DYWUJTMpHiNpnKXDJJJnnxG3rEZzQgwOM9bvm8kEUhGwKn8dQxR2vgMANrdDYclJk+p5Xaaft0mQTTbhrxZBzTakHGb3mgTESpkuEQB+K1mncM8H1CGxE8CXmkQGet7XvUC+tQ29178ZnzfXDqcDRJe9/umrtawEcVizGd9Yx47yUlVSOi4WcqzNVChNPo/GwmWOslC4VHV/jZNYn4ci0s/R7b+7BLVJpoVP9TAnPlXuF3htrFd5z46SFOzUc7WulevL1+sK8oRdJPftN3AfycOFPuZcmNHDLrdeb7vOVPtzsyY6bheS/uXvl8h8xMFKfhoSlGnBZ9SEnK4aZ3WTC4dFzBIRXEKQ8HCPfR2KEQ7c8oZN4tMuBEoIUijwC7Nf5b3ePlP6c019cjf+EFfJ8xc2EJhS9voMLxlhjOiWh5q0LT2zCI1CLpIS3Hf1sd4SqWpXdOyGAzWUkbVb3h0Uxe4/jpLsht2qzeuYp9VKvSkjeUIc/Dl2rnA1YSZBeDw8fHXqUnMIq7whlndrdLP7cHdouvNRrYui5jW+oGMSTnx0gj0TybW5Z+wsI6RRgwMhCGRcsscw8Xrgm3mGm6IcWSOEjp31fWshQtwjX83nZFEUlbhMO0no9rzNgN9VaxzS0rTaw8SgCBJ6Hzq9wbZDKVWyY3fFGUtXHDTa0ilc9lyJWvhWyNN4hW09pxYSs2LHZqa3X4zmnxmVeF57GiBsr2IFaa813+R/uXcSS3OCjR58rxG4nd2RrnHwTyEhmCR6x3y1BQ8kyUZTYzCKrQedNwo24bQXwyk5sB0Usadez3vPV5tojgxgRS/04Tgim37OQZJvdCS+Yr6cpSev8/zPSqNkmIg6sy8AG6oFKSHiQq4jeQXLWE7TdYb4LERarmf9gQctPd/rb8K+kD7vlv49tmyaYG9oFhaL6sxCoWZ29N6ufLdOq8IhC33aFrKG631vuTmgXmNkI3Mcw32+YRdu7HgNLkTzDsKOlAfPgnh92XvzSn23J8QJ5y/hIDTX6FaGUCTQcGU8GW5tsWRILbRtuv8dhW6I2yZMJut+ZGltBRxuxfqgjypQAeYy+odksBM+cYVgmoc1KyI6fs6Vz0y80zU2zpDoLB6zeUnf9GMSdTlpZrql/vpt6zm0rwtCkmPi5VoDGXOYaxGKvba1PKqYkO8E18ehlnT6weeMSS1YBv/x/J/T5J1T4pd7Vq8yolD9HCnGhfsUkPQqOUbT/znZsXB6MT27lf6HT9pMB6p9zneSy2PCiBKUiXcDXf27NpyOawATQ6bxRtcBS21ADYdmS3OblfkGED7ZH+H8aP1Wi/zIry14zfKQhPYzwTJy3/3wKi1qb+MFc/UexAMP6/db3X9VfocgfpoJXzfnSeAgVQJbh8r9Qbdn1UraCVbmKK+kjIfr37Qz1Vmy9id1kMc3kU9JQTwfiEZhYESx0BkRIwOcSCxOM39Bx24dwOTMfJKw20ZcchnAcNC+hLIzNZO5piAFQpGoKa1ezmQVMyUvgM9P0x1gxduKgAYH48aGAX7cdtbU0Vr/J2rZvcWGRtoIbpPG72jUHRmOCQiW3k0WF9OzSKQtI7ejPGI5fHWuHel68x3wpSHFjRjlTOET0tFXXlvtHLbgiclCOl/+az+WfdNp++5J2PRiF4KN3ec0sHk07wKFleE2/qXwM2YpIzlgTAkWGFwnVhhCHERQ6JqEQGJJWlVMXyqmEMf0nlvOXfhar/G+cZC15EjZnaQzxerTRxCu+6MtDeRulEp93ctDk+h4dPezbIqWxGB5X1xHZEuNM0MeVfFEwpt/IA9OshkWq6mt3ZR5posacD95R+zC0pKxmzwDt/YZigDP0k8FV3wicdrmybSdR7/wXPYc8f68oO/APQVUmeXIiIfxijtQ4jLn9ZGYVw8gxJKpdEIf5fwPfs4Lmy791D8DWesUgkBt3u5LIwv5TXvo1wqndI7AZtjJNhglzW3gNE+r7E+gggTNts+4mUTa0gDSoHE8fcPEhYzup9MiK6RHXlut8ssU9YwEbvgQmR39XxmHw376Mi7dmMF0swSBItTFsrMos6/QeccJ+/LGBWaEG5+14TuV40wLBF9EoR+/g/AjecE7ULLzQ8NI1r1edOnJIZQVHvAlGyx6Y/di8cehiVV956ruaZaEs5ygRVOPfOHKswQeY9wRfxMsC95oWtabMEY7Vi1OnbszqJHvxJdZcp+XWWevkYWIEcEv6cRFfmsu4gHNQjRWYxX7EfGaV1Sfsvo3ShS3rJO1hMbr5VXSRXgHqETTu8zf0y42QpizcYrAX1vrjtaPFnt9UyKgQCsd7ToZwUSxVnhh2cAHFtXRgAsJILalKXNPM85U/mnO6GJfSKWLkwlzI6t9WS9IRvD3o4bkj6MA8SI1clhrRQ7fu565NzZMfi+0Soe0On9Qsgdw3H4kwzPj8mtOL7V/5yfnIL353uUsys+NEWq5mi5ca7Gb0BuJ0O/m8GiOixOuwvhqNUYh46MVmFnAJvTTFin8Zjj835O8XSydU2gfD6Z6R1R7+n0eyu2M64Q2c0pdvLMudvt3Wgq32g7nz8GgzUXR/7z6iwsB5BGNiQuyeIedJOJ0yQUp3oW5FhKLAGstGJpTD9V8BHXds09Ea4pBPXJvZuUZSDtpzIeW6/rLztzu3c4ViZzWX2hWtyajll2Yp+YJyGqYrLi7mRWLcMC5t3V/5maMGzAcZoZrbXSlVy5UZWlzcCffXirhIp4RJ4g6VrXDdZY3S3sBnfNtvGWeWiTDX8E+eiP/auWL926sqX4MF7gy0woP2aUoD+TMZ0IejTMVPhjxl2YUVl+s2z/nYQTufLoMwKwsCwLEmYNtTm5+yjEJAjcEpolgDz+sdy4jynl063J0Kn559dDquwrYTbsZL1wfpULV7T102DbD8yqeHC7JyxR4OE7fbO0cB/aDHZOkvnl1NgYfrUFy6d6lsND3b3Wwd4ZOZq354GvyKIl0bl4og5mofp0imjrprjh6d2T/KwMoewkLmu58BTfS/jLiohcjyDB/5UNYD+6cmARv0fOiLSS/e6yDVYXsCtZBZFmLo7+MIfLKrnJ3+CoG1CQJruFErAEo6QgHUDSBfbAqQlSCwao+NGTMwEesQxkZLV6B6Yn4k1niWbZZEkk6c1D2BsblVE/0oU8i/4b13jVRDCuzDOxWwzVKqHKZdM4mfvClQUI+KjIJoS2G0sg8avH7/za9YexGYVfsCFt4J1t9icpZoxkr9Q0rGAsrzRGpkkNs18C35y+PPbF12bVYWpdp3fznsNJXRsZ9+0j8TVCKwRfVH5IA9FLooyDeb0sYQ6Uvxbq+ZsYDYq3G5kT3RNjcmBam5xHt2tx273E8rv7/cWCJqVHj6L3NnmSTfz8RFsBoyuXdBYuVGBD5na9xRZabM4zkYUabp2+bspeReiCOCk4B9txmWqd6kKkiROItM98gi9nCnEEOGQV9BB7lmKFxtpurr42DdJvH0hbhQqXCTGxDVxgUSGagghj57Dl06YqtJ3jvTs3443ikkaK0owF+RJ5qoa3R6URwZ0clvPzCiIeMHjIOVONaj0GDr2MP1Gc9bGSEtV4KCdBCUkIISWF4VIrziRHDu/H6fRRmqnXc/oBKOrnXYsmtn7IHYxQkAPGPvKQRA1pVit9q5VMpYuZya15Mi/v6bHaQNfWy9oKPnrbcikoo+76uwHCwPkf++BBuojbW5UrjhwdsPuY4m6dwyighikMVFnIuC9Uqct/IMIavfCPaZ/XRSzDsCtdGbtT9dlylrMSqz6PrTkwEscV8iWrwbUzsm2RhWZXP15R7bFORyj1zNQ3dTfwU9UIZBS85nwhKq222bV+dXYadq87nRuwQFCTJKUNWD1q0u/k6XJh8fYzI7uj/6JyhjUZ+mA2ZvkLHn7re8PiO5CDktBb4jQIbP+nZg1D/GcgJg6kNAcsLEmsOTnCIzxUBxK4BhwLowTDZfmbksJeOW+TnHRZXbHL85F6D4iv1NFrGmK6fGnVTmKilKeEJLkTVBpte9ssgbopgznbhbUEQSdx5rxhTFXpBTJ4CrCY52b1RFGYnpcVceuwllkBC7f85OohAruadvSsVtmmZ+s3C4RhoJGwE05BUb/+FwPiYT8js0CMxhC/okppWgwSIoz0I6o9kMEVPx+13jCydVnagObNLhW1c7zKFowWZjglEEHNvl13UTw4LyoU+oUE1BaFDOOcHJjqU+pnXLHAL5dZ2dG3zdZIR7qn8u8uhIF8a4R9F+mVitqceWPvWIl3SlpBJ8PSTBOEXim+LO2d6gf3qdsQKTB9/MAPayS/CuYRdg9C5NRiI4wiil55fUVyNxQGXxp5nR9/usVbXAzmsTdfULsrhduC9iba6rQ96xXHbHWvU0I3Jc41faMTFLJu1QCN1TnI/RPvfySTeopTewb5KeXBggrpqdmLZY0nUASg+eeZm3B0YMBzpfm5oY1Ws0R4hkPmeJr0w6oLh3GVLTLwUk66adcEnCVi2iacWkfVi8+mIQdqGZotej+CaW0w5tLgwGrV0/Sopm9dYNSLMhWMIcoffk/PXTEeRww+tgTuR+EKoYl0IY1jFC5Z1YnbbKUCaJy9JhpxAHrvYgGhqpo2t3jA6IpKfm+WzzfrKhqiMzQ6/g6Y3y5ENfnFJww4z7NsjazFswle3Zs/ZPdTefnkhVCDOcIXAaou0Q77hiEV4hohqWFCMOXl4AF4tlC87TA9hyb6+T7DFU3mYlIz+SNdP34tjGYctWkk+a7wGKc8JSzLj34xRLGbsb0DCuRVeVdiulI761nisShVtUnLuKgEh7MRreZOE0Ydv3S8yyE6BV49AZPmS8bs+Dpo5OZLm832o8+jEuq4yOuuXQrbhHwPtG6MKof+ggFYfRUOPkNL2hAk18PDbOIMtiu3AsoynHXk5zLE7Wq2kAPfsMt4+Fyu9YCpcJeJSSUVmrHyiZyBIrLv6x3RWkYY8Ll/2LJnaJAXtH/7U2HZjgpmjM+VuLt3hvaX6Sg8jquFJtg9suAW/0lOU2KQjVEMLtwoVa+IVuZRET6HR4F/lvBm70qWrRjT4mwN86gWiFOoq5jpcIbR6UyBRCefTZTrd9fMtXDUd6vnw+2lbVIrFNvawZmL0S/N9z2aIfPwvneVBKClf5eva2FkfapUEdU/AXU0Dkf1mFp5WOZMEc0SkiF5kX1iBpSTFNjKjBEGZh6tuW4aaxFhisgOSMXta75MZNosU37khgv7FA679RkD13AAmEGdQPVl46eI9vxKmhe6Bzjnz0VCiYlir9sY+qNcoY8o5rCOTg1a8/jQEN3Qyf+nP68UHXRGdIhZU5csuG72/RekjMB4chJ66wUFV6I6hjXqST7HVnbWQ4NXfzM2y7yTFmk4f0dPxjQFr9etEGS/QdwMb42ihlLVbXMRjpx/7hUQOJ46jpS6N+1nu/bgHw2X9o93sqBGdgRrEB0ZXPOSdATh+xTTDq+cx9Oqb7KjYph4/9hzhNVT8gxkoRnfmGeuQnMs1aXiCqkuqUdFFFz/V71gEZ4lerkcba229K/kQC7GLQTlVsZ2JEqsXiqM1VpfQywODy8rnlAhsExLVQuZAodmQ0LaLrG0AVd7fVcKdf7qQRdVfHwgOJ0VTPmUoj7LMqq2Y/ujLdwgxTz36wV+q8gwYkrLUZvXhxRvq6vkHPzBPDA2uvG+uw0FLIiCfG3FxD5FsSpHaS0+Mzv4o64JEgp8hUyJFSWBT+VcpHXDFz3J3B5qcMe6UZr+eefCpNjR0bcJb8YAZEQ+xVeD4gMVZz1Qx8xLkyvNVY0Kxmxqvdcr8hTI0v0MFTvf7ew6EVoP7YJkCpEMaas4knwh4c/LxzZeeTQ0biGqfdrCYxonbUak+Zpbi9S2+8tV3UsQIMv05Ni/PnlcIxvonNoL8Whb61pF0GPbQdQpW5rwOW7d7YbrDzSasyBtBG9O0LFDe6RTLljZYaO4cBS4N8oyI28cWm1ujl07iAhsRLIgCxLFcWQSldyH+LXBvaVM8XNHTKoOZgctZsKjR09nrNQb9asb0JWyd00awgUJnnPhQwK+Z6VhOpNfIRo5f38hH7CB5UCf8EnoELsD0DrMImLbw8SJp2I3QZMVwDgj95fhlhWq8IRnoNR+KugWHFGFABAg2twMBboP0yChbkly3K2xZ5RtXil0CKGB+Vaw+8rXdoXQtN9p1vdJfD1+f3tjEBoH0sis2VSM401DbrdtkaJ69GkcuezQV4FpBCd0p72irataoBHuUWlkdVSq8S4SU3OKTf4M4dK1VgcH4czpnwQqoVSmKOZYTJ49QHf3g2yJIHIn2HPLHtjYcOvqg4Wc/CGo/0xYHXj8eRkuXyN4Wz2r3UtM9q7o/rs8HhgDhWvYyEMpz8EV9mOL/2M2iHNTUsaduYCIuHE1RNBapVLml5zk4CEeWaeIFnyJCm5h9Qnjz+kRTQEx27f8C9UmWunKe5dHlE07Kop6W8ARNsMMOuA3+anViXy0yIq/3DDbgjr/hDm7HGY1g1ShhffrpSa9szlFzVAqUX+Y13IQFu0vO9iTkGORYBqlM5P2WBXhsp1TV3b5XutzgkQ41Vk5iQoapoygC1tO3xAdLd8mH/1hsh1NZgSBeOjUA0PUeG6XR1nMBM3oHicG5IY2vGoK770LavZy0sXzM3AoJAl9EJQi5dLCkE72pJJvR02UsERYfSrkuLuGdsq4XXd5jA3W7M3Z4EFvnta4/15TrO348h4fHKXKkvM2oOpeAGyU6SXxttGOYIGTypETAfdlivQKWE4xOWa+ZrSACWBLi6Q2o7PtMfbCh5JFYiuorgDJQePERX4bubBe+bAHwN9HZs291kek4eY+/nQc6djHy7ezB2l1fLtb5AYIynmxfmf9zf0W379PrXU1u4rPTdQp0LTAJ3N0+fZ200N5hECMDNQgiRPMu3KkqO4wo/DPdCU1madHTULUt8etFjEPOuRA7YdM/SSSFHbonMjUGAIb2HHQd2lPdIR5dr9Bs0fPK4Eace0Ugw4eMaOET9YU28kKs2mARYCqFUCYG6gNNCc5J1r7w1gSCX6HA4zkdpOO+Esq8KhaW0ae+Ml2xWJnLrgTfV0kHy0gcXCxv+ouhP4Grk/ChIDy8mvd00Yv8GMeCgLKhkw9fE3eed6jM06ZCpb75KApGLy8ZvlKXgEtgqQBRiqRxN8d9/WCYfQFo5cmPAnPkAEVwzpwbxwtoj9D3in3/ZQa0GPeA2/28IsaU8+yE+bbD4glFpySiximJwFQRITKqMnNhH6DzSPTBKwwyx4/xHnnsMBP/UDI9rzcY7bmqHbrRD7zGvGgHT37OPUmrT4NB8j8nr+H+WxAkNHvOwOiUaZYV0+iUZrHgikJH7bRZJEAsC+zyYbK7WNhqVjwoHK7B1sn4gSWFt/emP1xZaXhLgLnfeCDupOsVRYqb5YI3MVSluekzDlwfk7LXNYq2ajwGqdzpqvWWGKkgd6WYIAmvYcbHW9L+PO3CAg6650bAT4M/BcBJxgT4r/HxhmpWZV6vbFxg3N5Jq4XcVDtaPRLGBu6jzlpbMtmz/CTq0AZ1ELlavuNpqKeM+drvFLInPd+u1QoclrSOaIrX4LFfwPaO43XiJuRB6B2ZR1HqKCYBMDmFphQnsHIaPgUTS7e/FARJzmlYG+yBU73i1isO990mN/3xUowizSxmdL0cNeazmhmQo7FYM+Uma77JtV9D4MKchLMgfyLdWC8YOAGz810ZEKS2gQtnUKaXRVpqBsEUQgrEdxdk5+aS/Tfy1uOW4xVJgjbqzdPVEwSIV4ra93Wq6+2hxPJ0Jfn2dvrpaX0ZhfSihEy7HrRs62PS/K6y3uK3PhHLK1LXARJXX28DNUHGIM49ookdb3vBpsxgQeM07mTBfLi0NJ3PW47DgzJ5itnqdOCPhWGgtTneAY6Cx5XCfHaa0461kgynP5+Ce9OWR3ZpUSuRF4qdENwek68viB4Bn6+IX9vD4hNSKbD83qAcvsvhmaVtWNzxVcOUSKS3mCjbkST/TGQZURvxIqh8jmm8FZPvQLP/o+TuppyE/yFhe/lD+Tmy9C19bXYScdZYDLc82OOg89ukN/2TRfoWtPqVkresoVuhUU+9cHj6cwbMhOC9hmvZegGT+nfhhWNXqAGZQfSXMWqVWsNznjDbzRAjrogiNMx7OLyqNaSciWLJ/PDUUnw6bhX9mQNsd1ELVJTJcg5LS6ca8AKH1SCk92aOcr2IvkMbuvL0V2e1ZGlGp+2TVWw5jTEGfMCd9qXiANq+FfvR20G+nDwzk7earA7mqPO8kkBRzC+8f33x1eLt886WTz1z5sOjlx0VKI8hAReQSLRNQLyMi+/pDNyqXgUxq90NoGv9eBnGw9YuoL4Z8bTpLcZIACMQC23IdKzMqroic7X1+37X2h1WrsdG4cG3mmCUSd14uGA1v4un27P9i+NIS19I5tjyT06OgWMgU0H6lMb3nAh/8Rl4lrG3/675AOqWdo8g4vVziTXg/INimgrOZFqJRGqgfRmCxYwyHniRBL/kD89dRHV9c/o/na5+bB08PEoiOQg2+Lz7mPVs5BLes3CL2rITUkr6HEHJ/Bx6DPi/OQuGaIK9hxXw7BU9OTDo6NgSBfjd25gIklJYUy+WprJWOxtRpIeCY+xtwzqlP736eHpWLMxT9m/7b9oJwbW8nNNtGSG/H8kZKsB7z3kc2sdIbA4BofVh6LVfG26DNT2SBlUPA2eCFKhEp+QHGpY/i90db24c1cIyJzlzgVHOS5++No9W4/0RBwC6C+6n0dIcg47tccPyliPt62is6kLsspifrWbvX6+6tW+rn2zwdoKI15sl+Nd0c52EyjJ56JJQkJyHsKgZpzHDoPRe3wR+TrUJHTHbK3xRPLAQOfXMJxp6TktYPzJq/sQvVdkDq16i5HN2eVAvcz2EcOx1HTvI1auI9RoTKCkiAtCwounvzbAf/3RPtUnsiaZUNG681gevAA63U/bRsql8Q8gT2enPRccJbsBCGV9SOofldJ7VCNH8Lh01iNPLNavJD8SGj7ZhR5auKHk3jhXdphHc4Va/OSeuARb9BJQIaCk76bAn8535WvCzvnl0nuMMNm4G5Y9oXqt5jhVFaC91tHETEFBQi59OHQvPjpJR1EPw3ATEUUV2Jx9w7NnppEGtJkZmmitG0UsnBHoYmWBcoi5icXZLDmHmnxhyM959KGg3UvDlI+dsVIibn4zE5oR8LH2tcplU/Hu7cOaj59hfaZgBF0X+7o9N8mXjcadMOetsYZ/TmunMgfe9I4tPy+5SNGJtdTn7C7g+bT/m0XVNfN9bNDl6zgyUAwN3iw9kC4X1TXfUij1EBAbGhk7M16NIt3kcaZI0c0u7UaRmdVdDsTnpai9aW8toZMMrY9MrVPX01+z7I5Czcr8tpOTYIzbLlm5mq3+UX09lZAXLboEGjmFsk/Z57pUcFFo/j2CdVoxJnY8OqfrDCdM3yoFv7l+WNaehXpz3EhSS1WaAvDH3nFIaNCMu/fl7VbY0n04oFH5uuwngvvgevmOPMvmqebZcyhQYieOtUvRqSCF3G6z5G7g1vXuSu22QJEP+jyLUnHoVF/Ez/q/3PeKhP6eEalUmDyqZRJx6jsOH5FvDsDz1XL0NajiLEcJIf9iNSnClTbz/MqkgCQJLSLy8d/xrQpNAeWwxs5O5UZ7M5J7+15zDElpSSe28+vGKE7861ypE9Dpw80zc+3JH/9xlWFUoAm5PlQWvuMqHA+yAkqe6iarRi0GKuh9IFv9qptTJwuuth250uRjAiMVoa9KjxvhWb1ivk5CGLAio14jS46IrFEkf+y1LD+Q4zh6b/P0RGFrB3gtEV103LuhCXg33rw6RF4zsnb3NwhRIkFG+ecI11d8RfJqn3j4Fl9c6icx/9FIn51ggvTwxBkr+h6IztXFloHJuxVg2uRu7ioEGYMI0hjPb2JQwWst8n0jUpBJJ6RotDyyl1sR6DteLfeM+fdi8o8ZwJAihIWzFUU1NYo+mCXJ1s9LBDRuUErkqhZayLdo+rlR0HUVF+VADQ7X/91C1uTXFdeTGLLCA5pj6yhiTppk5+0aX1FEnGwBEIRkD3siUR+7rkNgJojTSpKQZwV5FvyabcugNpJPpMBEuCz6ghzsrdBURRhcuqqEVyfeKxdMADhUzuzNsYoUHf0V4cT+YfN0YHrgLNDH8289VBbNOKzGBPSmXvNIKb95bs4KOYHiJSwQCJfgHbYvIIhqGGlvo3gyuQhxSlGAhRsQDmrvv4Z3ZmANwahXRC7Lys/qcSO/Uf1tjuKdhMtL73uc5rGBvds19F4+DAwkklb6qfhBciVWNbnE1saSd5GauwOaNZViF3lyhPhIvhWkpoaSXqoojvVgPo6TGl2tHM66tPTA4U2qoFVxecvqcBxY/xbCYLbeyrIjwLwfNlp7vZrXatM5bXVqVsGCkSMi5hFYyadgPRlfAahMuheOPdg11oydUrEqQ7H8YGbqFa0ThXL5qq9Cqe5rThzxxM7chaNMKMFuddBfPWRE8fMZsDfC/odcQN7DBqsg8apvpXWS+GHS/QpVqlkNrYzDIHt73tv8lEwVsUp0Y/h6nxpw8gPRBrgqGatQx5kCMm0q39FiE1RCb1No3r6EAezSSjVMlUhIfLLlpiK62rEvgxEPzGUtOfqmOzlx/Z/ZKFUc60zh6FRpS6dh/OaGLTrAFiWRFhg7E/NnXYKEBB7xExk4y+D8REt6ux2z/2JBZmIUJnWsDJdPHW6UmxoleVJKapDodhNcOQMPdZ5DmtQbaW08/v/RbLsR9LkLmvYFY2Jxhb07ze6t/GaFA/gMJHPyd8zrNPAXNgMUnYtfjZ07oEAcL9kvM9FmDWVBOYQxcUO88aDDlMayi4xlLbEAVCAU18aj43FTobZfEyI36YdjM/j5CTZq3SmBtyVu3t0l5o00tRhYL1AqTqhkqXV+tsL6HnBR/gElEjwZtwmfkAmTk2cWmGMzmXigPSeSqiuggPrKGs9TcYbH7fLHKXjT6UClA2BD+DCPrK0AoXp2lQ6HsQzz6JNeRKurF0pyVaCcRzgxOS+qB8ImOtcXFVoW4Vi5odZxameN6DawxTi35gqGqpesQzSjNKvd3XREchCRm/ujOkxdYOQ4799JrciQY+Vp/+QEjdDGGbNsV/W/nNxWrHjaZ8cBtAlU7Y1nWd7zufEfymbwdAi1szVrd5Js4f1EcSgVA/GGExd52tR3NATfFGVTfKJWzjO/TrtfRM67Q/ksemp7c/C30vkYdwHmlU1AmiiNjALPJqsLIRN5nJxIfRA2JHmoupuzqcoCtp+GC9wJIc7xMHoPT0KlRuEYg1Sz6KDEEAQV6GVjaofDsUXRmZVlZMTCjFiYA0sqehYY9EHc12m+NkqRmYwhTfCEa5siCWeW/aJUzwL58QVzgdoiaIoY4VQjCXWTgzbuc58m61ReyRcTa5C6fxpOPJO1CPk3rdupZKezNmybbzTgoe31p7A/qmsgo5e97Y2TureskJWk2ivRaOqfnA/2NDAgAOi2xURVfrOsLVTwmecCrMgTYofwqPRgudjXaQyyfGVyJJdLiPizXwceZCA05NHzkhTzGVp4Js7efsveLrMRMrJN7LOiHm7UMHsrDIIrzZpogbLlKa5am2iDe32BiYtcACyqc+UgQ6Cl5KrAdst6F6CWw8grE87H8cOY2GiviGmfegDhqrGvNHlqbl4a6FOXLuiDwI/2NTcUb8g5rWjAAMS2LSUByHbWdO+gutEKa7ISSszf/PW2uQ0aYRjdbzBC1gffNLrbsy5NvzarHYZ/18twb+4Z8TWy8IxLEjwTKt+x9+aCNLPasR1EI3yGK4ajh3XGN3Oy9NCLbhc+jsPghmKmM2TrFDTEpUsP/B9bi1efivhWmUGUE/W47P5zjAeBp41rFHIUI/53QFm1Oozz4q57j1bF2dOf2b5ChRaUfXGXQkIXI2Mm0FXKTWBm8exIcTMlADGmyOsJ4o8TiPGb/W35NUel+WRuIxnvxkBRZsy3YJXfp7O8KpJ+dDsaEps0b6YQ2llIH9PioONjmhff0jctq7kwiw5YoX9LVDHTtfyp+SId1KLkWA/2zo+RZfryKY5qzJNkfbAZAcWjOyvAaQQmpi9hyFXe1urM7an8RuBasTxmWo10LsICIt4ojwiQijYPINWCZObvcy17xa43nhiav1QNs1py+uoLNyHwL5JRqQwWW20dZIZetyefmuTOfda8epg5OIi7iOSfhoD3uB3OyW/Lpu7B8KA/lpFTge0sVPf6RX3gJf1ge8sPPgwx1AzhuAFeVGKdqL0mT33tZ8GKF+jP2bFuWPZmaj7PYm3hJGzZ7FoDNR3cGDWsB1KF/Y7vlyjgRJoCY4BLmKXth99BtYrQEBJZiYplrt+hV3ZpCSkLVnkVng8fYeBP0tcD/rYaljbP/AAtGri+Bhk9I8ewUblyoYRXK5Tj2xGTDLFDk9YcovQiFAerfx3HrpHp3YFch/qf3+yIUh351yP+AxOnR055wK0QMFmBCEiq8k7jsOtMnI8bcy8ZFYbyYaEoBuobh99zLCUBuSgWL/v5ScWoJ1tzSvzFIAUmGQATUtkcob7kff2kqM7z9cuT6Bj3oOcd6hdC6Eul5YOnoEEi3DZLk1mV447Ns9Rodm44pkm0q0NRtchbDfTE9YC6g5dI3fhx7ihE936Y1u/8TMKCgIrI8T6hK5LRddRiKB3pbs09cZnI5vbNxaoOasq8tcMWA3v5sxofHeM0jxi/tzHj8oVzVgBoz4D10UQRYgEzTecpbKrGIA4pA/ZSnUig3uwV/4ySXk2bRVZyaJptUPGLwVi/iXMMWXD42/9iOo8Db2X9owhrxl54yReQ1scR54/dn0O1W8pWBGfkcZsheQEyDVkCHxpGI/+oMUH02dxb0vkOB/2biJHBRBtX2I+kcxyNG4cnbAK5V0QWTeZdADla4LOALzjusQqCOozxNeRAn91yjx/zCE7lYqsWVgiw/exM/QhChml1a4zEMVZtohubCt3QBkJCJjElXRZkP6/8F9gchQ8cowVmjaUaEQBbAFJJ8bOCaVnbQm2r6izxQ/zmiFP5SrtHmmjk8fwcnNEU4fDOjLVJ/fP3nLPnsWBR7R3T9lBeAYFEbI8i7DREcDWAXN/n6sQnZcraY5YJNOEZy+HawNww8V15uUGNki8uN0/5taFthjFZ7+O7VFORF608uvtJENbGvOcjkofoaDupv4cm9hjuvRoK+K/joGw0cRGqCCKkdcrLpZGppUBO1g7wIJPGGhtZOcxPCKMmfMd0tdMigcfA3nfrOzjNaUgDLjbOpN+VzwRJBbeAy4qC0PbH+WD2TSb54FpkmfsuwUqFc/BsAHomw95BlMLemcssd3zvP7/vhXiV6mfvMTnptdURBZ2t1WDdM5G+NsSfKUmTS14ddQXWmq/4RhT0kX0PQAaSFCIscm6iJPifsz7fZTwA52EtO9DXr0NDU0gDuLN0nvGQOr0f4oT3/SlPmmdeEUCGfinC1rBqeUIzr282Ylwmico82wErdDzJG30vigpOxeknfub1yCuUteY25N3fmJz5Z5ORI89DNTvsmXplReTHUIwoXNaGkGYY+1Mw1bbaIrDTUsPHRhyqSl2LRkawzTEiapjJ+xEKUezRNXCCdRLPsmb+oOrCXpmQvmOnxHVYNaJcyzYAdX4iGsQBI4IN/i91pzj1UX5AZLGQqDvH9hXAzwX2KuAMBoIMgrpqT4to3JZFTkW+mdKVnwg59wuzMbPf6OPr8mSUmjeg62AUOKQi1fxCPoYd2yrAPDz619gAwR96W5xJBXsH8cU8LqqS2s4qYyrUZUba32TGD7ifPlSb1v3Xv+O3OIpv2IEpoa60MByg1UkoPZOq6pEaw+TlVmIuvyQvjI1IbRaIbErqdYJywrVsH+2rbtdY6sLplid0O6Rx1pD2N0K0DUaYKKp8Z5yaaLt+jl0AFfikOItriC/EdLy3NMrM5+J9lrM8FMpMHKtG0a2cBS1afwh0VOoKw9kh48uVkyat2IBrQJvvaueFxD4zPmYjp756ziDJDzH7ZhF04YywOb7PraVNvMB5Zgh1jhK4hYgTF2tW8BJ3sCq9VRpV62phem+wkXNOpv2YGKGFGQZpespjMRRhbKKVVONlmT3g457BDy64BnUVBSpkwAuCnUA1yAzDhhOkIbX2XtYpN393kBVNbTnLNrL3qsg0uyVy8BG8F/V1dPvfXJltTfJ/4nOL2H5VGtjMcp3aOgh+VHuM7uMF/8PVDm7MMcR6qNAf2a2ngE6lucnvcel8Vmdfzsfxjuwp+qaY54dhW+9KJ9cQ7KW7GTwyodojE4dFh9znhUKEc0924tcDCX+mtDKDsVSgw/rM399q8cBoRWKGjzF4VZARPdsPuPIccEM6503Q2slQL/9XDj4JOGhVvqGhBSDzxFdigh6NIGZJwFxtmSm26OSJfLaKhkGHFDT1nV110vEs07xO1Nc/Pt1LJDjz1LE+lRV/j5ZCZAor4SYdJN9m761MpVGKG9Bs1ABk++bcQSSKwkZYWC/bfeE9a8b9LHnoM6DnJ+0Vw204aNMDvaMt0pdWNvxBqqxRg4JhP7GyZLJty5MfhOGqtVYjln+f149oej0nzz/IpMouiE1l/50UFHtwxausVsD4nSPeQDT5WiOBYPVq7mve86GK8gTgQZ8LrzrdnqT2RYXOTORy+uLjKUc2IjEUEbIthvyXITgliqBUQ26XWev2u6o/ZL2YWUeKvgbpMgWHT2uCm2tE/rUFAgbZ8LZ0X3cQ/YD94ZArupM7Zgwr3WeuQ1pFkgWWH2UymsR/TMjK8R8f1awmajdKRulD2oCzTWidZgus6dRqYzhU9oay3YohXbFkUmSdQwQNNAmJISSzN0/nNIDVV+nC8lnFuHg/hwvkV8OFqHJlBuigLFQw1S/ma4sMDVylmiryG4Rfhr515XsAuyhp9ANSk70cU08DdvBW+9A/vNivOSthXz6VxWcuZxzBv6dMr65gIM0FjQske4hJxO7iHRE50g02z5Sbw4mziXyD+vhGiHUW1DodOioGLkU/ENTwqbxXNAAYMDBgWFMZ2Wqm691ZpTb6bWVQ8ohcRmsgG7PppV9joJ0an4GgiRSgNavBfbSZajajN54OtJZ9tlb0dGd/t1kSBnbhKeQudB9DJ6hdJ1G2SJB0OCWOIFRk2WLRTEsNJOoCf2F6mojxqz6mKdynWeREVYEGXW91Qa9nErH/aSbwffMjdlotEDaupBORB31e59W18rAeB0AInDCpSGBdmCj8wkyXnIiAXC6uEJoARCTRC8EszLy3qFUPhU1Zk+MESJBs9NWc2nTodVvrxLi+diB8E/65f6b/SNjiTmUGstzOGTDp7cwscBJJ0vcTxJZFC0fZw6sCVwNIS+1OLa2W74L5P7FnF59I02Zj1a/MuQhZ7kCHLRfJVGoLLFJvg2DwX+H3wjJbzfUygyMTZpk0YXhtq6SGN+lZiMNFMI0fEHzpb69Kkhu2ndnzBWZ5wvXif8BGBr20LRmOgT/dm957vMRAypF2zMBExeaYYL0YTIuURj55MYvrUF1+uC/fTZ66oeXSYH5hwaEeutJdzzMwNPCWkWgi4aDg5XbF3jFFer21CEf1qbhIUlPSPxvf5Tflp/Tw4fOlsISyadhqvdsf+CFt2DXhDgPInt7wR9l8nn19lMab7YLVTXf6y/kQAQF9sAqK0BGYvLjkfcrUs/xKcJg7tVo0OLK/ppLd7sEFfE3SHkwgipOo+H1tKH9xVwChQ4jxUdTZ/olI+3KPMbkKExT0MV2pj4onD7jY8qxfLYi88chPWlNvzFrpup/wzle31M7rEoZpel+tFAW1qEeSXcMc0N6mb6XwC6laUjBMf2yWEUb3x/4yOPx3zB/uTmhEfwRB5g1RrIw3qOUgFeQWgh3DnmOI4YnjYlfa59ap/3LIM94f3+6ruRgoTzc9VlsRnCalLLAI6WuPrzeYsIcjrHKKiuWVZE+V6hul9JDLEzh2p4pkTX7pf3EJ7tKqJcFGaxx1Ona8Zx6FBzQJeEPh9yYnmAQBD/Ak7d872UNr0Zcv1n9lPytxHcMlK4YXpRm9FoKjHYt+Puo2hDDSpXyaiWkan89i15zsVlmN2DBGjago9C4aLg6iI1JxHg3D/pxQkw0bxZv2wq1W5JWtIjE0Hhi+Sw98OI80SSVzwuKN1o84TDx7eac3x2sUfqunBnuB9upSopqEbpjjsDCvqjw8OKrkHxGjy4E1n9Fs5bpl6yfWbMHpE9g8KtU2hgZByi9DbF7JMUS9JPVf4UFHC1Usm4KUlDc5G/TMVURvoA0sULHPqXQ5demafGug2a0ZSSNkmQ7yMDXFvj6loYqf4vn/OG2SRA17wbszS/o97E4ews55xbzurJppGf8ZHMi2aaNznaAeZpCZsHDbwhFgcxskVI69XevFOXiiGt3h01gPg8iTNOMw6XaDdk22IitT9BeUEvqrff/no+KqkCwJCaOSYpBQpSegdsZrTARztahPjwBsNKTfRQ8TqKjDLQpNwRjnQLEhhXx7LbxwUp8DA/5vk9X/uXpliBDXCjj+zcpiuBUITk1L8Na4g5UObDBhFq5pVKOz8Q7/mREbzoA/+pHDGmr/f7grG6RXNcu0oqZ9K8gBWoznksZx9UD1FriXoiORxdPrmzQUJ5NhGLT29ar6uJ76AD2J6drS+3YlHMCGQhAGjJeLq1u97rCbHm2Lj8OgvICuofrPsX4hkNQA45yT/AqZ2+TUVGcd5q81SHy2TgDFx8xcXStZcP8GdnQS4ja67RmD4RcLbeYkNX812XAnX5hxrdGzQoySZnNJ7HA4sUWCsit5IlTbSkFYdqTQhGBGAJus3DOs4thQE5gxe+kFAzyBtRY1Wvw6jqA/2oQU+kfBur+y/SppWTWDvlYBK9UvKtYGblJStXvNobo1zxLrEHcp987DuzUZywi/t8i+Y0H8++uZlUo5x2EtiZCGFN0RMunbZ0dbnbtWJdN2kL8oG2KcLzkMmG0InRgKbBtVxrNkTBH4LUIS9GWPdh++PrQXrlueOkA3JpRJoXS0Y2w1l07V1W5fiqKehIneM9vlpqBGRWGHhY6XqZg2oGa5u+ZiWCLOLAQIrq3tsI0gXMXAVAWfHaJV6DGYrN/zPE6Eqeoe516/2h5soVxe1SuAU0Y2nrNycNWD50wzmwDFVW19F1qomaNW+tPzjgmtoexd4wViFEqTKn9jz5LMRzVsRgJ8I+UmoNIR4n+BNnPdQ11VLg7gE3/3cn1fZzjFeRMDi17/VN5S7QLTO/shiNF9P+NvJckE3FtWpPIFb6TFHrKYP1DEyyFeVUI5K9QZO3Mt+qhhd3rcaJy7QGTZ9nF4uTf8cs+mhAlv7ZyW4uXQrLEn3ATJAlUl92J76TJMidjAzGZgtkOOXLOmFn0yuqhjfWdUH9fVFMsnQ33/g/V2+9fZ4ynraSR/L9ySHeLOlRn83QmsK+4IudjAAH3LdTofTzkmnuXYpvuXGRssK4hW7VO6k9MJKXFIynVCJ6QG/4QlBSLCfvyGqWQyYbFk96ME2ronv6R6Kjh4W1Ii9AqXPuFVpOI4um3cgf62NoKitNSgozzrxNRaB/8IKZ9cldEHHSi8W5kiOX3ARdhr+ITBd4svNUPpi39lPNa79HUjepQVen1Zng9Wxy8UTwsAWOGadRmYYn90L/BLPuaFwpxDggxQ6jfOXzC5HIFWxV9/dD6AfiiDOv3Wl26OKkx1hLOUoNzKBDTQzH1WqPZVy6uQDsG0wnPbr0iRFM+cApXrHUdUTgn7S8iBoq1FydkOlkWiOmE4rHOp7PzXqz9OWhMRi9PF/JcP8upazMlzYBRHPLG+M4vyb2skXiUlmVaJWTalMz2l9Ek2yIN77p5ByrrYn52/fGtYwdOoHALVosb4n8zxpx/IzNYxJAZk11mMGn1q/WXcqb5xK2HMbWFD/23hDqBtbZ61Dp1bmhnZ/I75Dlv4l86ORmLKYZqSGr0QPBaBNeIcmuU3TTrgdF/4RAaUdVRwAZgYEtbCsDzsVXki0k9y+mlxiwdaV4dEEBW/1EuvBs/lm7V1+wH5k7PT8bgevPzAgnVIc7c8zIXRkvND3UGomk8TQw8WTlKQ8YtntMDvzvPAouve5BdOvI6RlV1hSwm4IwZ++gmtO2wu00k7GIRGw/O5dX7BFGlxp48Li7BZy/ky7DstXSWuN0KWoqte62rw4semczTOS98TDbPX6Ug71sZkHq3QNc0YL7wld3EVawUrDoRh0l4WXMPz3mIuAJ8Yw2A06MUR3pDZcZmDnyk8jFpKk+NnB5PyZ3axJMx42LSO285XcsuVfL/RhQChreeLHeeDTgANlDqPUnxdlF7gcrGDNSpw7hOmtBqDfogk0TiQL77OJwd2RsDdroIZ2kCHHulL//U/IhfILXs8RVv100268uBnycnhUgiqXyOqK4ceAD2Rb5nGbf/DGbOA62s9CI15+5zan7Ujj7P1TQzE0lrifpJOZeKaMveSWI6k7nTIspsBZJ59d4iAFNBevQfleRr0K4iUGaP7hgynGrGfr1a3EkT4xEBbIfd52H+I/DGu6VKDOfqKBTH77PISRH5BeBrFJ+Z5XZ0y6BSnDS/H/nejWN2z5CMXt+P8/OwxX3EwmpRxaY7Jfzo3O7bC0pLjmMFP5JbfvgOUV8v315hCwD603EvuM3VLeeNUKF8FXTup0nMcoqKy51AWc2GjcvdhQZWus/4GXj7FY35jjMH+1qnlaj2aGlTLyWkSMi7KX6MCUIAJs4YtdpgNB5JCGJlaXiQXORMMBqwP3tbSsn9q0jvnHUuMU9Q+Llr/0ULHX7pSWnOMkhr+rEW+nIq9/tLEky+eBA0Ct2WGFLuUYg9kMOA5SawylHAsyG2nX1ci63AuYuSSKiVR+rtXK8xle0SgiawSZBFdcs8ZPRRTxK+i7s1xLWHYcpwuH4SjHSAMZZUWsLlMR/AoNylkcUMEaFBR9jP9IRy3uVYIx9p2WOMG8x0/+hLvERcdZykg/ODfIs/dhMaSXZZw17Igji0tnzIombQ/VOHmrb7G7XpuDWPGD+P3/rSe074yCORi5B3XGQnJ2cXaSI4MlfQICfttfVQU+eYFgELvXDYcmZl/jFHCIABo0Q73JR8lGRc8Et5f/ifeci+UFK/gScLPPnS6mFiQOWKl4h144/OCjXUE/hgNPuI+kkW+p4NPbYoZ6Vkf6a6OuqwAaOaB4hc5YNyvTzw5XjumHc8KhATk3cZ2UUDRofp1gg2dEV5kUFDxwkAxuM5Teg3unbzxcvNRuPqRepAja8G6qza4qPVkUSnT5U9J6pMHzeGG2sR+cpCmpyMa7uQ64hu5C3q6/i2NRjkKVBoooafN89AnhO5Nn9FtE8mLq9eLtXnjlEwD645PYbtlGNlFALQ/vYMMLe6Brm3DepxQ8BdjW4q94xYuBv2vYcWe2T78O5BwQ4FM5YKSwlV4E+18I1eee50GQSnscxPstSoiO8LRzChnA5PRYU55iPCUKZ3caSKp6Cq8UA6ZedisuoYMS9kucdgjGR8M6FWMeeyYLky+Oh4RKhELGuVwg4wlFXu0uGXA0+7XLt5NisRdTdH54ugud5NA9I9Ev/vXFOZLycyyIcYwrkvDiYwabdWftn1IayHUjiAAz/FF2zncizcAgRgr2H9jVWDYgre72SWwADCO8ZVbsc5O3hgGby6jHv30nfaMwuxnh3TK/bkaZ6kcq41qNU/gtgD2kE+iUGQM8ahWddSkbW3/hVsFB1GhoAWBqPpf6OyH64jUUt7U+EgE+JbeEbJUBTVQZN1s5wXfGSPVvqB1A2qJEkpycFHHlaHfgMnhgHo5DhfgLADWoz7tMFgb1+0vajSYR3ViMwd0n08x2oswG2/fqEC/IDmgcS1wrCLyERo6/Ne23zBkwS9kaeWjF9W6SuF+1g4pMd6M1wZiUw5umCQTHtdr/xLUOrxc/jpXcm5YGfRGo5hbN+hqqx1oZWZnFdVD84DY+RmkHOZ/Ce4T0vVVjVJWGCvYHTuNyu8VdLvuGOWgWZcmmbACVPp3Dpzvnqhpjlcn7WyKKecGXJUTQwVZ+umX8FpBjBgLSTeNKJ4qxMLGin0ZHRLfLAG9BTCtEWKLQFeufv1r9GoiBeQqLRA0ox5LRFh3R+OJJ304QEVt8+1Z+9lkYdbdjRlWXslNKfAcodvy/aJuSz1ffaJs1YzWE38YDcMcDX/ZDB/0A9Nvn2J/k0lqAoabgXR+lmrbwmvC8Sa8F2sBEm0ajwoTmKCO2aBAjajZOUCO4i/NlSb8e0o4l5gNsLDiPZo/6Xgi+KhSKahWYEOJxVYaX8GuhPnThummoH6hoBT+aBcMpn1ygNc1Dx0ieFz7ggIYPG8xL/Mruzl79fiQjowtkpkj9T91mU2MZgiQDjdgbi51NgwtP4spNs+/UEYl8lQzXN6/N2QcCmdonfMgw6n2khujiZkJ7XPww0NkitHAvuOZ3ajF4rv8GhzdsE1iYNjxFsYlz7C0dQGuYJ+WUw7kSLKpFayTY/HAw8VZ21YuuF7T7wArAcFDV4VrrGE7c2NV2CMZFNH3PdFXVC28uaWeh1mJ6/8mLKYvzxBqeyONGQ+lfB1OgpF2x1oB9oeXCmWo6KCRBB8kzBr49bw9l+/282OuxTxfEyS9deMzUEPfXBBB/B7oi6r6fDdbk0vIbUc8JqxrCJwmV6FRlZsALJrey6x1/KcqyAXGzftSryEaXR+pvmkNyb9kO7J3HWiX80Nm1KXZZPf7i9pRLlhv3kb4H0npk+J9BezkzDipcOY4qvi+kPL11EQ7d+SyiDcBvEro+Z9EIeguGpHtX7xDfXbLUy8tmBVO7O7Z3C1J8PaR6rujiJLWBXEJahaMV8YmUmfZ/Zoh2rWnj6hjPC9WbA8/4Cqsc90LvpTZq6gGSUi3g1Q/9l7NDVMWpaJMzmfJM50q478D79Fnk4fOdc1jEsUGjxrIiEwJBRRQu4H3s8T8lq7NFLLuj4o7x/leKJC7ZwGjZm75Jv8LBMclcl6QYp2Is6CKery45QqF4ddMJ7iRPu8VIj92ym2Gd/J6uG4AFOi3+uEvWpGS2nJ+K1j3xdbzPDeIuEC69bFp7QN/38pNCN79a0vUE8UU4rtKMciI9GvXPLlSfNs0qzFKsuuMXiiiHNmCNm4vlXSasEjEonm5OJB49dDVLqL/8OZi9DkZRxZ82OenLND/cOzp0mg2Aknl+3QPqIadco+cmyjlC7ev9u5rTtj/k13jeKUtu4LUKfTM15ZbS4isEfGwN+GLH/wVgxnCkMLkBbc9NLY382TbkwbxGXijcC0Jl/OnlhLuUB34ApCrRDL+oK0jjcalVPxLgOP1sileeMeG1mxGscf00uC69iKKEhvh5RjZZ9RMUVLw25li2q7p43p5o8OygT6Xph+bs3NWLaPznsH3q895FbwFDxpoVDW4lYLSvxvunL58p4rpywMMi2OBhTx2vuJr0delWLu7Xe7j7rQSfMPsnDHHuZseJxMZEyIEMbXoz1wP++o+gyRXZrTQ1eaHussmOYhKrPDLXlcbiYWlHUy+/0CbAPGaZ8n3O4n6j82EQKGxOyuQyUkRM/RLDnwA41dLafTdjwrWJsTrEhk+fcZbfo0pnsdrhxUtwwE2sSGiAnJgwOn/JRBmsDaXTedOt6HiM9dVsbnfpiq2kI7fp0L8ChclnYd08nwXByjJ1PYLV6vYxkVCQk4htUSB7texHPUjOWSMTMZZ3nSyn1lgntSxof5N5ZQVDclGiWLpbKN9Ni9r+uPLFKN2DaWemPz9yhkuNjapdYErQDk6l8uSIz2/vFlIesbmi4ap2JKOLH3IWB5Nvxv36KaQTL/UzVEPZIxvDySTnm0qFRd9BnE6DQTloKtNV/RCW/NvVe70e0pTfaIY3/cZmrb99IFRFHnBxpVugp9vCmJEPmnB+hVBhqkOF1QROOu2u9NS8bswQkt9yZhMIk5kVlveEs6zUMPgJl/1XMVHX3XNcWSSo45c5TnG/F5d9Arb6CPyZEwiX2J6Ijy35Eg5cgrSUwboJ5Qul1i80rIO7mtFPaYlS6PAvbS08ZyYY/l7zTFuIgdRROF6jiIDovpPfcDiwOAAIGjgCPcoVrrM3WC4Xhe1IWlSZUmOMREr5kQA++PAPkSWb0hBmpx+mElz5AUaRKpeI3vHSIzaVB+gEAXughkuJ5nwj3nDTj76INaOHvmzd+y/9kgBeeuDGqVmJndZl0V8hUo1abeQIwMLfhI1KFbBlJgG7hSTXks5oxI+qDUcDBUG2b0UJjGEboPZwcfdq4TtMn9OfcrlbkEeqgiTXFyoWMYc7sjktAU5JHq7nXSZ86RnUDYeEHXeVeytwxKMzkAC+bzB/JdARZYmGoB0FABAhFP/LVtUXGf1u8u8iltimagAS6HoQVxJoypOxnrhfa5/AZrISaGcBdVtoMQSXT24gzeQznn5AUgQTuh1yvQv9cK6uwyws37YUETvkfsRZWN77RsWYjLCmsfwXwxY4hQHbuxNgVmdtw7v1ckwlTLF04CV2zWBF7iPz8FiAucreYp4XZw7Ym+zit/9qNAQB8IA4KSUpLqDeaec1jqZX+4AAMkDc4B3FdKA8jdYJICnVG1zO5A2LvSvah+HMWNBcQMyxR1XkBaiN42SSdwxh6rbHfsXB2vSvGoUBEaK8aBKXZLJ1qJtSPdocY/bmO+7pFakPOSyuoi6CVW23kM4shW2m/HIu0aeMTUGWp8LUlmbQjJ1j5i+8kckyqYSxfNYxXJKZKKaWHTJPcBFw5o4e0tw5QdPkYn+ulw33k3es3W32KQOjVxMf6aAxHdASbHMIVWLdSxsSoR5AVOBwm3FEDvBd27xlHCAGNhuj2qdNkkbB/uo97kjBsbNpVd0uNbLXaiuxy81TeOzPzMQMpYdXOMT/n3nsY5tmWsuMqttEDNBSknHPf9HOqPubD1yNgEyon2UbtXZwfRNF7tWhAGxEWigKLGH5tLCX+9OiMQ+9JQe7X6f94Yei5Gnf0meVkSsMPAD7Gwmwt/UzSN2ywISnS8hYWTj1I9DWvHHzId2zqLKPpvClp2NSAQMzz1SDaI5FxzDad+NNyE+skxci5frJHan3loAuuaIK1iifhYG6BzKBF6WsKMIvzE57gU/6P1hFZxw1XtAKf4UfHI18ZuoYemS5yGKZI0LISVq0rOVcuaXcooheNN+ArJFWeCp39neL2Wx8JVXbyrKqB+cvWWcPS5kcJRw2FVdpZa1QgHV8MuxoPCw2NkdlXelZlKIMTgjC/+26KwhODuC1wD2rBsrYmfG7QqguNcN0p3UTPE7AIrF5eL/NNCG0FSPTq6nbd/sSgBztKruBg3IAEXUogqH3iaieKLNnQbexY3TdZxSxk23F3HR8rEMJXPMaskL37jw4zTWFtYolSDUdy7A91pc8434ENoOcWSsd3vMAvU5HHly1D79xVCESwkyY2o3A18lHa+MadSzKK0nYl8ldN1lhvHEoZT5k1x3eyyWlvyr9fmw8Jqu+SNEw0DwN3w7giGLK0T67IIPum5f9uPwpiWotf+/ldvIRPTYVbSTjIuQshWgEKH+PfHhTBGEz0Qz+QqbyscJARuGhHc6YypQXC8sMSEgUYLEKrpqxjwaCe7quURXRy1j1A7H38jgAJ5ag5aojF+u1872B7U56/WeXZjBXn/Dii0zuGTSgBgFuEKIjyrFR/fo0u82A2QyVFG8JotV2QNHo89l/QtCwb2Z6OMUckmkI5TX7++3eEDA3Qu6OLxilgE/Zh4uInLWnWpideZgfrpu9dLpxzudzzUWwl77FpPKEMPmIY9uCA7RZBvtVZQMhKBMTRRyWH+mJMi4NXHjFapHUoJghGMdpmRqNAdbE+3pgzKb8AGnsCXWdNo/0U+6W4bXwnRjpd2miPGg61dmpQqpJCCLltORuzqjwbWMw5J1pVMA6kKevXI/txf3nsuMg4sZgm58EGrpcVAaE3AgWgjzhuP4e/MqsT/4+/iSClLW5A07Eh59EEYJflLdKzswE/kj2lepsJq4LdP7WRJpbAODaHV/xztHgGmihwKs1cAXBXQrCeqz2Sgh4TyrM3e1SexrkkRXEwqP23Csx09d/nT+FqLtlXo5WyVOAMcPMs/p4DswvvMiof8iTe4tvgWKQmVVHA7i+PWuPvj6AkIvUa5ypByPV/CEV7B818QtgjWo3E32rIQS6pbXDvS4qppG01bKKoOlas6mDlNw4Zdfh/K/S7tlpsAn9zDq9dKIxDI/NxVWPPGm/evouqCttI/d0EE9PbxgsLPub4sUiwsQBUqYNc/NTVMFc5cux/dxwooAEaVER6T6CVUlgMDVMS2z+C4ajZFXgdXDjHlx/t9xKTNqPlWYxRLwyRPRerHukauIo+DcF05chmqEJnz1V7eYwa/V5/78PwK6h9hDg3uF7MSbEHtFSqviMPTxlOS6bntJW0gJkZNXsUml6qeAJrPJOI31UxdrMMMuXWOjXMlh4syuWvm9Rp0xOAvXS8Mv0aCYIGTywBLp1E3pft3L9cwKOxE0c4l4/ek0ch6VLnqktTAJxtcxFwWwiIq6P+4rXpUt3lU3FRUSgVK0w5ZZ1dFMTDJxVpZMWFsQVqJCASqoleh1XTjf2pnjKRdb4cBXSJPKDy+oO2JEBEk3XjNm7J3yxFYqQ6+dFY3J8rQ0iF4Gn+6TRMU8NB78z507g8aPAuTawvd2b/pIEBVRs2NojVMaIAVrpkyYfwWPO9SAvIIoBO7IhBBF88ENqOqGPTaY+M2gLDyL7gC7+Na11+s3iyrW8az/iqf5DbzPpnfddbOSApEqXF3oVmKBF6Bj/MspvoKu7PhpGlkw26QWYXc2pO9+kJ4iBwFvX8WtvtZukiep4uYCNvxbuYtGdlnI634W2qTQ78DhcZ/ForgAqyUcXQYqlzhx/3b06ypjXmQd81N+DjPueUIOdlPTx66g7Fc4pLzV0FQYmQKP/z1qkD7qovvA3bv5RIDIehEbCOT3jtF51fjRe6utE35lZNwj4YMrWHMg2UEySGyxOcFVQxfnT6sjx9DoLZU9hYNkBAKyk5r6M7dgMlc3HHI0H8c4ScptmTpACVkpWJVpEtmmPDlu0CJaAzBcF9GmlUinbz/jm4QZofQ78W8/sXXiVHRV5gPxDoSRa6G6MK5781qvcfnFk/an2YEGs8II1RQs46LwiV/3N6j5ujnXMREhrqpWqs6Hc+InAKU+s+z55ZT/XlomJuncafj3W7amvr/lBQx6U8HyQ9UH9QOWcyIyeptiSX8F4ZVdzojEimnRyh9N4BCX2dhRu0Gpl7HGTyLpCSsej4nO5Eoh0x7rKteHrtCEgL4+C/2kRJnTcj0lvcFCc7bOEThbC33TBEIQUkGYwObporxKEeFzc0D3I8/dkrfzCxd00coHFutoWzvS8OxSakm+g1xwMfS5hWNuqkBpnI3OGgjMoHivjzXAGGYYvd3REBKIERKTlTe4ruToyC0e10ZCGaXl7Ym4r7Ix6cnUOWaCa/i/fpUkqGXd6kAURlzml1+jEfrN/fTmqL8OMCewMho1Y3UdZmkMJgsi5y9V+wMrStadZHqc5xvbovMywm5cr55evyC0u//Pnyt0s1phJxpzw0QLtddjjRcrmgSw3xKzu7F8B/mkHs+DQFW4qGUNU6C2ClTRFQgV2IJg4Gk7Zdntf4EqeyAC/pQm4anHwZMI71eZsWlhRhZWSIjjjvXAHxTNy2TTDDLWJp8qf8XYBC21zMT1HWqx2gXWmiMlGBjixJGYpouJOmdwIZhQnVV0zqHdQpBsl3FqklVwKee/Q/V8yBBUl4GjXq2wnP9Ph7tc9PQWKzvHWCWkAC+qmInx/fKbsCEquRTZV7qugdiLAgIbbCIdmXeoC3sKioYbOolB2d4hziRMxex5JcNGELOSCAmtCcr0WG5FcXRNGxPxiAlIs331dWcRgCHRLTOpQx1XqMNlF4a6DyWS33K2iuiSa7VOBwPLw7siit6rvpk3JgAGdLoN+n88CXJZtl//x7hiHiJ/oNYFrWC9RZrIqaeMmEB/iVU/eSAHmOSzI9Ia7Bo9jk4bHR+x4+ux8MI6SEc5CLQD5Z1nSPcZSCdVgFmYV/9ySN9DmPUyknlClZ2kcb7p6JzpOTW02OA6EncgM84EB6XS/dGeUtElhfhlGYkJEF1mGgbfcftO/Hoq+yi+86HbJJKpvpZR9oSUbK7jE8J6kBnmy+lRq8WWIOnX1JzJQnZbdwKCVhi4gZc3wtQnRQaV6bnZ4dhMT9M384xH1GiV2o9B81mLltm1pmOjHImI+vTKt1oL3DX85vTXvhbPfRumkos86MmEeR5Br4Z4GbQzfepwJ0fQbbPBpNz0D8B1kmKYErMtkTKkurIOpgUwHD1Gw/A3B31psaW34v3NNoCGh4QaSo6PaydWH6mgtBxXHB0x0C+HgZUXOzFQUeXvllT0xXtkGsE6EEEcf+DSO6za/UIv43Rl4jG9TYBx2fcR0g1f6yk4aC0BGqo3f5E783COiLzfXfbGKkVvr2dRL+ihijUFViypP1NSvtFV9jLEHAS1lx+pqSgYM3QjsSVndZAmeUvYFIOi8OzriwxhHH143mafZaNQSYb2I0UrlX5QHfX4J7k+m6N3egI3knEmxvlJejEqiu/8Klr+uBnmjHFRiEK6KasuF4vq8VKTEgTNW53l+9HOA4LaZchT8HaOnx4Y1XzcZNvvMsQGj0MZnYaiOFtgCVnIdCngbzxe0tgCI4Xiiepq3wnuga/wICP0TNwcwjXWBeqxqeFf+vnZC/DB7T3LJI55veL/EPxv231q/j0iz7941uxU3QWrYaerm2jmJygqYSI8UokFQC+qO9Amc3uvMJWRBwtoDSUbJLL4iMAwvB+GzIPKTtpD2MG6QEcnELuEbJMjsNfkFRyFBkzc7yNVaDbPhRLfyC0AQxf2QrloWxKDL2Ht06C41UbBKJBBLQFG6b+L33sfRvwrQsxJVIXV7T3zYX/qYEB0TDSzyfIWAYnDzyOVCTnFhd3BqYEm5uOAxkBy3wmdy2xT59aGbygXI3p6Jwip5j9K6ybCy+U6tju2bnLOQNFuUkPbAEAZorcLGZL276FyRn7KFG9/aKTF0CHnCxerL1B/4+6V/HeIA1qt5Ak6Udp3y1fDCNaoIxG4J0cCQCVJtfYyPK+QgEBHupZS8CUDUpLkK5xqpzkP1k3schn0Lqa5mr8Kkr7UGvU5yDmmhCeLech2UdRjgItDZfoyaupgmUBbyWuy0A+j548SQ0HWt3cbJaWPzvH0Ng80ePHNjVsOS0GTif8508a8ByqDdpnZv8gfA3dGNOuXPCcaEdK8dd3x17h3KRbC5lL56lf8n7NW7oEkOmIu7yy3LdhuLmAavRHhTJ+4evEx+F691n5RV5DyFetmsHmAL/Axb76/RLm0AhynZFHT3w095gS7a5nK4r7BhSHHxbpNRgOQ8M48o8IHMfYZajUY91LoEzsGUea04jrClObT/3qOvEoXVflRfIdIvljLlXFAb6RizJbkvLPARkGvkKQxVSQC81PKqL0Hf+pg/u4KyO/pyb70Wt2xS7NhksxphDThVWX52QE1XvSaJpFnyOdwXP7Mj3qJyOueHuD+i03lb1hlFhy77+XZj1dtS1DgIFuny7QN6Wx/GEoDPkSMXxHq6VUzL9qC4x/sIxYrrz76oo43Tyx+Rc6mM5RDC4oA1MzBvruEi3OapwbuWA3otJv6wfWjnyDMk8HJdsNxlGyKtBiiONuSQHOfk2XIa3P18eogsyKZakDm5QnbxjwNNWILcSNYJqrowkKFZkEKiEj2TAyXuwvEET701syofpKR0PRtwtL0lNWGUg5CKkLL9XiiRg1AuejEjXixjUcw0XeXwa8598nYyRFGLs0auO6TdulzgEC8nK7XQQuTgbMMidjhls2oU3I8UZ6N1Ql4GQiP3sYdCtqo4Ycy0YKdWQL5KanJaNIY6/OqAqoxGUb8ZJtt3iqOeqhs/pFda2YYwyOyZw665SpISMYAsfdtvCsAFccQBYOKPT6zyA+uju50nIieFBAvdmNRsok9ynSGVxrHGXO9kZDIvNcFcPmtmr0VjpZpEa+/ep3D+H8ZZlh/tWIdk8jUNPEhvE7HWDpOWkvzUYdVh43oKCTTHJ82HvLdMFRA8PUWKH6SWl6hs8jolU9iPqg6TUbnAKvCghLDy9HFb8BEgEYpMIif0OO7kiqPj2xg3M95LVi5hLyvlU7t7ve9P7iY1M9LEdGs/2IpoP/Lv8+T1zWmvIDQnYoy8kk5WzzcOcoKsZu3f3At9NzLA02el26DCbqwlq9ziS1cStJrFhPtE3DtC/VALVjFJHNhUBUryteOyUvOyvCguhfZfVcQABs8R/q2VjDM8A3EfB6a6PZiSxEduxPnK8w/IZ1bh5nhQTMrGNScRXD942XCk7cOc/DiY5Z9z2V5r2nJSvubLdLST39jEOXBPIrZw5/AMII9qcVy+XkLB11xeqJnaQk+DNL6grevUC2l2bCUFJ/crWnYOgYuNcR9qusDXvZNo85ERom+2IAUqL2zUKnSoMoyHjmWVMG/XeiyCcp2mDGzt0jprzbqWWU9OcUJx43WQQQcBSbAAxa7T/b+JBeKgbrwi7AtzlJZv16csOAoZgsvd2UnSXY2zXcnyvEf81ycNzS5fa9Yo0nehEjg832YalOdZXVt8bOQ3njD5INuC5oDfZpEfuQ9DVN2xceN848TQN/Br/tW3jWU8UR8A+fkWg75BiFaiwU5YwkPGqL6yJUjl6es1jTrDoUidAJzCHT14I7+82aGZt412d4iFjX4lrFdQseXR9h2oJwTMtEalmNo41N0b6OJa9389q/zULamCtcQW9O/WTzQIOp7kxftLUhnYKXwyT6QCnKXUCeFIeUpRMfzcfUJ/EDnuJNjmTwkkKXtvY2zmqM2SMjBSUKB9cvrq0wrIaYueNLFIg7CwQlW8K2WtbvXj5Ktje5dRTJpZs7jSSZTbhRbZWhg+jnXICIpwwUaAsRFOrw8zTqCaUqY9pQWNOp8toyheSbuZJFPa4VefyDyqgyr/C6gM2MvMe2Nv6f5XjehrBB+1sLDIcwJxSvINLKcX9NYSlqPVXSUnV/ODn9FkAaJBpvkXInqNvGe1IhJKSj4IwyVdqrxOj56oRmi/Vb841FMNZA/+32lMhMEXdHp3hUt68yKrP9C1A5ICuZFwOH99xFj70ZxpjdfLmgl7ZC++P1Gbw6TdIPRFU+KEH7wRD+D104h/0fl8DIWdSKgkON6xW2jd3EdCXbihu3zjBmV+RDegqXbY6z+Fem1rM4NmrCzJ/DNLK6/jqI4EBEYCImteJF1iiesTrAwxo4mry2Lsl8QLwghfbJK2iVVTvuhj219Ur1R6aeKmC6vLgPMoYjYjATpCJKbWwkvGFvwSYHC59hEb3dpS4NnXzP5IeVgzMK5RiL9pTHzFjZkYj3jYvpqiYbfF/sTJeS+8gJjiCCptwGUE9rSFFPZqDRtjaaTpjK37vR4Z2Mwt6wVIt2hq1E+fykaK9la0JJZYRiLWPbWe6d7UdgAVwNKtyFwGXDBVTjAzKoGN7uxa+e/2wJ6GoQ7RcmKRet+mUmIE6bV6Mb3O3Xl1ExIVbyw85eGtgOwNKH5GqufvVAc2ICRekEOUEz7FVkUqpotzC8q/mTdVtOLsFRNYttTPjn2lcN3lZs3jzJgJgpIer+v+UAP4D2OuQPKI+bMDUNFfr+1ptDXoF2DyG5TyiCA87q6cmOVuAUHnVLbDmuNasVhx4+q54c/vJZe21i4S79P0ApawvgV2OK1lgEiVOtj1JatKAGZxi//KWLK8audwqz//R7OBXuagJXrVIr0feWzu7RL6ugDzeLc4DeZzB+zCyfMcJu/RcBi5/5GquHq85aKpNGIGRhUPfTcBH6yEHwOP97R19xx4pt9WrLSeIV6+R2FZ0FmGjhmCF3SxHCYOgH9gvc1InezUGQk/2x8RYIOvnZiIRNm4iS3X1vnsXtWg5lxzVphlrWHCPQVVNoN6Hoh2hWzmeCHF3xc/4DQ9Cq4KBo47IiyOkAXeU3l1sgzPPyMMyrHMe+kvIATgnMR9Lnh64Wof5YjmmVMt3FIZ35rJx/dL7+4JGNvp1giR39qauwFNOiEih4Fq20acc62U1ua2phbbsVC2z+LVfypjCsi82x65ll6LS3fM04XJgrAwm3/I2XnkJh1mWk+92euJJhpNNNrw/pKduPj1hFeQuipQfw4/BF3K757IBQe2JPnIbr83Z5XaqykWFx0LN2INT0RpxwA8khwm+vlKhG9n0c3u8oUziOiY1Q4BxXgvwpLfjttiu1U776mjHurh3d7zcSdDskQ/gPbEOOztWSaHsPNUf92Sx3j0GxOkrnvB/Im51BK2N8lzofCBnnogAgqq1X839hNLXhg6lUtHICVJXbBa+Gczq9K3fYYl+madIb6Z9AINjVoQ2NMnaLQ20xnTR/t0ct3KaQKpu54t72pPR+QdRW3UpX+9kpQ8TdoawZQnKeRY+G62mShkMj728ZCK8HxKnjUW/nUZgKE43U4Z4vHfcLGYsdrLoqmMcVSd3F8TxMvaLtb4vzq/CHRajQScfWIkdv/jJkBNwTc7ohpBvD0ACtvyaqf23ArqWom85PkVeHIDWoYi93SJVt8WnOE/093AsvCmq+hbz1gM/bnhS/vciZOuyxe2PgfJNQMmqm2BCtxMXSECnRRNG7GiYP5I+300+3Wiu81IOzbIPrtQfU3eEyoIyMsv4QqybVTyBmC5CK7WpjhCCxotF6lLOT2SNbeIfAFwZk5T+J/74zQdaJHQAtV3dqamSwkZS0I7iRNoJMduQNGfeDfOEHjC5uUPY0N1V3hY2BRru/PQ5PFUf0xrqHwTxOs+84jcmt5vyUCst0psUUVkoK8AA3hzGdVy0ghj9kXNKJBO+4kuLiSE7FRPUA1qPawVcQoI9fnAba3/xm5W5eFI4zdDhDoZIoCSGQbvuIGS2oe9B+CxyHuK47J7t0sNZCvf0P+2jxGSJWmq1k/ItT5Akl0/Y3MjLAyvby3I3uIwRhlesqTr+UDvnH7Wzo55BgeHFSLc37B9Ghrw6z3RqIPe7NPKYtwCPkY+jCJ6YwMCqvBpwlrZANAnJeuxN8IvxXvfd+sV/Vy8h/qGoR3Wmafw0VQpbgXAIGQt31Pl45R5eKycm+l4R7CS10L/Kbu41SAj2CX+Bq7fY0XpvNMFT8tTTOGe1S67Mus34Chk8+IKz0lhUvELPzVtA9ttaWJjWAIuVngQCHejZQDNkRjMze5LQTxGrvfDC+9EEdqoB11mx6vFIJosJOruGy2qDA4Ds4FpDXOXwQKnmgOcfY6rIzro1wsRwlis5z/wu2YCWGNw4QKBx7qxeUUWrcjZG7/Shlt9UcPrtBZntG+Xo0i7InGndeP+/2a6HV453za4U6GJ6q0AGEy69chTZGsb0806mg8q/WDMoFSjHPabNQoZGh+cD7uFjSxPFqHo2jdbMM4hNaad4LKmvh0UWH9KzZndtxQ4GABYSEq9bXc+xz+PflxsLFmfsT4PMPHETdh2CuyIAC5f//YMi+d2EAgYqC9m9YqxZa0E1cIhWEH+oQyIJYNIgkJRuErv+drSF3qygOwJ8H3icmZ7iVO+V+MCLS8jNTCIDEWKi+w8S+HIrPsEPMyNIz2LRjHHSEHtOttbyaEa9o5uvrA4acRktpuA4rNyqoThQbWPgUGGHG3AR7MusvLWWIjpqXyzCAguus2byAsSffp8rql2oh5fSL3y4PhA3XX43N3zgAY1tpJlBI/WFO5okdq2Xh7zhWcvBIdYB0jcWJZ9O8+MIw1IkE1qqWyXt+62jXoWeci7F+kH6orPwQIN5mV5btRbw7jRb1bLjAffcpsAtcpwshL16IgThofelZNLUANHScy4Nd8A/Xq32LtnxjVsyGk38h6pIZg49kSuNrwvmfHKF1fSRvRRodZ6iPjlnBKsOaLYKIV44uSbxphbFxlZHdgOMEn6PtgXjpe+cqg5ZBhIExGaDsF9nPiVFzPN8MRkJ0I3Yj5Dj05aB78BXvLVImxNI766htSfw/WPwwTHn8ohVzl+jBNN23ebDw0DkwtrCIbvv/bqxWbv8KtEp9yR/0+B4zMn0gAq2vgzAMKMlLn8Dn99LsWpWmkj0hDZQBFfIa0drIwXzG+4Ij0+xnqRzgUI57UrTP9qm87SCih5xPn7es/QcbuHHJErSZBANlpC/Ody0PpNcoziry/w0GJ2e265TAd7NmnssIES0qCTSGTIF0pGQ8cevfNrn72HtAqqz25AlxCBYDig+4NVZupiwRUqB/4zz2f+Qhar/reIPoqvcDyp/Z8jRNhCDo04zB+MZHFc3FAeG/MieSMcsFxh4BNDAVMS7Zy3RiPPI4iE0b241WDJanFsSsSPb+5GrrbEvf51QdP7RCCbIjCtLMWnhXqV5nzJmfMznxKB5LhfmDsl8XPmsCoFoJ3z5tsS9fP3LpzuGha/zhH47wm1qp8LHj5QD9U9D7lU8D0TNGUxamlJ59vq1pio3x9Yd87l/Xvw3vFIC6cpJu4umW72bHHnYIZVOGTEm7B8iLMfbvaRv4UH/q2cu7jlo2xf4qcUcVh84CF2aswWB8UYs8eVp75J7beyk42lfCCPDge0uBIWOR59OL8+rqvHA32cJuyGxmX58CXu2Y56o0VtYSUITMnbeol2GRn0bx0yrVS08VRjpl5VbZPsBEDwQNW77QL9BhwpgNHDHzVPCk0Q8HAudp9iHnNyxaLPZ3YZsAioyEqP5CToBJe6AcUspWye0v0KfxmmI8HOpcTIsSKOHHjvz1zL6GDkX/H8dToMKSmcYaQKjQwuz8wBc5Qm/JU1Lg/foue1Zc/LTNDZbRe16M5vljTZ15focm0bYvoFzsGCR//3IRtb77C6+WhCNZsGoxrWEOJmkcPoUgW5yedkkXhz/7JKi6QyoMuZZRSaYGgkuPCEK0bmpkvXB+OvihXwlGSWm+KLK2G4YeskxVfeCfMr/lGpmb8GbbRUAwb+ZXK1CpwoHqt48GmXx/Qj9Iv7k5ZaqEr1uqBmJp8YOZ82c7Jv3qIZuobjkxLaSoa+zxMfppGloeLqgSY1eQt8h6ljmTZePWjEsnVz1PJn2Dn89HZct/Itk6Jto6JRITv6Zceq2q1/SStrTH/hJw2KChzPDOKFsWb2pC7trF5CJ2nyh2eP4GgwfIF95L5AYuaDQP4+ouSyvkTpGZRAxHyDc+k4nsaECPrHdK5Jl/Q96lTYfluzo5fZwVyRh8/C2HcRtcJDBlTLU0lETWZNu+8apJTsaCqOIo3AZJOilrQH2IkvcMo2JODBgvxt8TkR3kdaEMmWTmhyyTcZ9q5OdHGIhqImMjbsTVoUuMcvvmGeay1Bw7dQHE8fovHClkJ6FTLdX+TPjIfIXvuXQ0wXoYAdAQu9CMg4jinWXFhLenRY8lnshRMaC7lzbhcfvTDajhj/VHrvMZNPqrMFTVCkLCLurHwoXLSyjtHExqhH/Co063KCoro2FzpfHGcxYXHPd8EfSZeNzjP93kJ3GntTX8aHm4EKRUdCo0vrXgOxVDBf0F8+Z7Lh4myEAiVCB0bG4BwcHCse6/z73O3JoY/5wWnRKwYujqOHLEqS8E8xsVQIlJZj+8AqqlK/yu9ysEKCA/+Rp9sdELGxoi7z+Nf/o4LOtVqZyR7eKHQytrdikdsOroIj6IXi9L3bng9tXhV4b7aKJvZW0RmF4damyizpIDNYF6HmtXgimNQO8P9knZnSIXCHdF8WbDstqk/ROOVp2aYKl7mYhNQItlR460Kl5Z/dhSKWu6aKrEQavrE7lBjwJMPgJm7C5O3FpFPsJvizNOAn7U9HaY/b4xyme5Wt7Xvz2iFDK/4kikee04plY08grUNwipq7UFKbP5TtVWQOAQco138wh1zKUwAnA9cqdCFfNv89V5oJGmziP/rx42Jdoarazvu/3oyU/TrFdtRS+nUISmUOlSsfIDdSPnToqQLesZ3lSbQRCmnHm+boGCxehf740EXV23lTAAQbB1UAODycbf+7aGaHLxBvHS3IiypqiAp7vb0CdYnRQYhxlsQolY0rmrCRsYSr3LTasJO6x4uUOoMlpVa3cEPDqLnW6K4oM35QqZf/f3FhmZ5R2h04Jh3Dg/Vkiay/ZPaz8Y0/TUJHA/1wgEmc//s4XbX34OK5DRi9edqtCPds3512oXNHTGRplYzcPsitm5FZVxQW53HHW24FthAe2nX5hLCwhqyndfSYwJi7r3wKAcLkraY8kDZyzjbmGay4e5QoqQ8S2yGyYsUKVO3m4K0vHAE+TmvIpfwLx+qG9ICBp2/F0FWimq3mZAOddHHmNGfemx5G7RTZYnFdSBkCS4VdIjoEhaXTbLXMqn/p6P8iSJy2m5MIbpfwz7++0JuvbAc4+Dv4Xa4fb1vc3Dvu8957i101F3/JeT0et93CV6hz/ms8Kn7ZzNnvWvIhwPb1feraWukzxfk8ByHqUsVSClUtMv3ysXlAtt0qUOMmYe/oBM6egurfJFwGzKXmkduSkKdNrfCx3AU4nwmYUV1w3va3q/ClORux+B2UfhDyfapZfZoC2gcX+pT5ZPUtaAabHcIXpyl8UQzvegf+0RA6+g1ecLCq/7nwXlFUhSwcPchtvBcyvgZqdiIMjIVgM5XkpzD/JCKcOxsS3aY8KK7F8fBjhwTEBXro6oaOhfvN8q34Xw9IQWNG1rVIf2KKpdVg0rIONq0CIuSC0I8A6075bw3NwWDh6w1VFHtuvMUZQ/0zNmpjxn5p2SMBlgfhEQWm6uhb6Fh7ny/wcBtn1P/bi5XxFETSaibjqPZimv00JAaYR/yevKChXWH3a3SJSngeJiZWc2ehJL8pccQd9yjlbcKf3MHp+3lZErQ0mwxD59duuEq6+O3nZykgcJEZBWCJJBYEvSna/YwsZTxXoxGiuaPePlBKQ+w2JPOsHKhpf6iHBbpcJjMXuQb8DS/xrWv333tpdLwcS/u8By646kaHo45VWTiB6bTAMKHONfja3DyabWg42eoALn8GjjGxIN6D4LgYm/Cn13jdTx2PUWWOFp5MHhsNNZBUTyLJ9KUN61zZ7UC7jJfYiNxIfmPpGg5zLrBKYi8Y/x42L6mHCiwNXkjDpTDZPNnto+ZZZ+DRUyKnWq+x3Y8TuE79zL7x/kNRDe7R3KMER3qVQwjQ433Ku7B4oELjgJQgRdsHxaoHTILlrTarqouUg0KHWDM3c2Rh8wmO84wmNxQFdhXgffDI5rrVWOOKIE4xQymR9OrJKQn36j+j4h8wIJi5x36nu/4GZPDK9KiXzw3S6kHuwRKe3POXMeaCXrQhqKEwviR97YFI14SshhUlPwNDThMYF/v93cBNlKmd0ZNC65wQZqnkRWggN1vjpA20EZwSLz19iXHzGXYM2UiTljGZ1A7jtCEMmJ1lK2sAYfCPa78y4qUuyBLp+RZ393t8uV/XmrDHQrk+t7jZfg2BaKS9nlg7UOl2DLapwDiD/0VJ3jzNtBIiScU+q+LcIS/Pn5UDbh1Jmx9TVfj6k1VD16fO6bUytHXj+WmQzZIbf5rTbZHh6ZUIwr4Bf/7bed8lzqHI4LFPs7LhauCQM1VgvtXm8XIiFwEGqmPzVpdiQ9NipqN708u8wqGt9R75N8f0USPPKvxSSJaMvRJpH4CkzqmwkDcv7h+z1xrs4uUa0dXFjvEEAQW2tsmc2ru7CKxSqwfnvOV6CoeHqwGi4LCPxJ0R21BAxpIoEzpShIPwjkVuL32a7+3ktWmCLbItyAHcXwCksPigSfgdPmdCjRVaE8rOr3z/m3jza1rDuNJ8xeVZFuu0RrOCjN3xgOA4/wssl7xM4JzX0i7BBBASIQZO3ZoCGJu0RmXtaxDkQvGw61/nMPp/+dEwXlmsYxNPF/7h7Q4kDCaUgGWA04NslQ6nuYWrWsOInER7Si7+EM7LP7uc4j45ENDzMygXdIKx8NLTPcqtb31J7E3feIezdQKF1woC7l35l8cVK2wHXPCi9tYBgl1kPiB/P8WJq7rT+JhTjNGWXrehA37aFNWxZDuQWNjPGao8svNGaXiHtvUARji/KKAoUw3LrEvOxV6BFcgpxd4NJj9vwa1ECKTGaEvoj3o7ZG0fGH3Mkysikf+fnq+QgmngHNNGxYS4xB1laXUR66rIOI+Q/IN0gx1wAvoaOJ5K8J5OKhtWIbXkoXOHMXUkLkU5Wrj6NzeTqy/B0se+xiw9LBaslh62O22fAtyBA7WRbgjm1AH4sPAaCxxlhOxWV6Y7ItTa4nqVN+IPXiXzN4jnzGg8A9bhHniRbxq1eYD0wY8zHHued2roF00rRKxkBKG4oE1HT4eFViHnOqnBWkOV65e9qZYGqyErzYk/4PICPnrdy4QtmxeUFPUWCwXOiyZUJyTzC6tzrBZqOM6u0YH1j6B9WCFd6x+BMiOiDISmKn7DMW+2Os4ENzmkbaG+MaeM9TTgfqPGd7okcamcG7XjxIHcY/2brPQCZ4AnsskqAo+GAMr+ChtXWrnqMc3GLW3pJHfCoogSHuC/Gw6Chx5ZB8L11TOml3aCNdzr9OwvKfRTaF+39C3Xn9Ndda+3OmISg193H4d50PtkN9C5Sm4rdtCUglcsFlCuEtmtHxJDe/QfLp1TBpB4SU9MC13T6dwaC1vK8KjF8wkKX9T8tSFyHay2e419nUm7qTSXjWdn6Azk6vinPKhGk+mMSE+D3vWIcn/quZiDGtiskJ2oNwJ/6s64ObJOOarfc5oWnTQwgXmpDtDjrbtQKbpR6/7bGTlikVpeW2xUYdS0J6KGTX/BoaJtqDtw1Sr7XPLLUqmh4xDnmlwj9fMPMvLRHoSu2Vc+JfiVMp33JRjcdHePHHW2fBKS2w6499sUU1RmMqAcwngKDcEMzoLBnVHW2OQ79sldgMR2Q/4Jgxv2+nsGH6WsoFwHVhc6nT+UyKdsKpZfnT6r/Bigd17rF7EF515m022QyVa9IQx6+7c72E+CeoNouNOpSidOqS80AJULOQK57uEh5BM03KedhrBBAlXxr/lbQIuZGN9Fk7+0AJJTM1nc46zOkVnOH/gpuys170CNWg2KBsaz5BxFhn6V9eMxe/S2UjvVquYXGCc1CG/Am/uTaWel+BB2vNi+khrRs1q8DbtgYH4YdajBiTmVb0A3F4nJdliIY7BSJxWin7G/OwH5UmV1/Lt7iHCW6SiS5Qy+c9buuuXa+1eIH6HMu9xOwVAShjF59QLTT5VY3tKVREV55+5P2J7sammqNwnoK+BmEQSQpOAl5AQIJf9pnvgfMb17bQgq4jsgv6rQgefhCkZHgwqPe/Zho7zK3XYCrtT5nUgGgCKZCaN2m3+SGmdiW2G2KY/uZ8Nx/lXfX8c9ov8EbFC2fdrAn3BbvARcUknIZAqiLumLQaP7aEB9+k4rCAtWvvKHY/zs6CEcI0SVNrkwOHEBFzzBogYMp5OgP79eUwC8T4UdNB05ZONuUCGZaQy50fF66/fvN4h2gTdv+FPJ1PjroLo9estb1RJvysxG23uGgR/14VqwcgtKWRkBz4QNf4U3zX/Vp/CPhNO2pttB0RJUkNOYetQjDkbCIRhp5rNO/Of2wL/C5t4dDNWjrVnUlN4dEjwnu/iMsi4vYxsYWklfHc8uJBoXIAj0uPUzcwLBu/I18EL9MaxNWWZlWa5Z/7UKAUo0IzZ2DU5G5kZcR0B3tFdeVTB1tA2JkOTmxAi2Q2DEFcAjD0u//c/swZ7HqtRPhqr+YulYfPBI3JyCj58lm2qynUtBTNn776DtquoDq406hyTexcl2p0dyNpCWMBVDy88rQaArDiJ3liQD3a3gkf8jiEUVEJW2m/+GPeZLPLDAlGFhUzvZEClY1MnVY9Bm9EM0TaFO5+eyt2rx2zgSXiv5n21mc6PyK/syiq7hq6VG1LM+yXxPIK38EbKgqPRtp/Nfj+YP/StcwnWsuEZKFf4p5DQUiNl+43W28JdCe9WcV9VgSiFqd5W5g/sDLjDk82A0uDrqab0Tl9hgdINnuGUAaSMXekgDhuL3zzV9aLF4vpjmYRUErGq4s0qvGa468jlEgQFgl89CyOIgvawzMKZCaTORnEA69zBCw7P01Np/W9rWHQj1y0L6J1qzaFaqfDxSMFc3fjKTWGvANjd42ZSAAaejJk+0yZTOj4tstsYwVtNWoQP+21+Fw/5x2FTSuqVi/VIajwVpNI5GXx2H0KkvhNrgG9NwiVB4N0eV0Cqcb/h4cCyEOQp0NWGBectX4mpir3qu+eby6SXYVFZRl6TSrldI1NIDUtYD0/khhRvwWSlTmnNuORhJ09YgIb2S54TpsTSWVGiT3b/BAC5mhuRUMnGfqPFq4tm9b4iZIs5Towaav/v5lQO2aVXPIpZyIlWx9ZKzeBeBGEcdszs0fDs3R6ThwZfFwYDxF74xWdFSOBYCsJc5JdTDNrcbfdd/KmYsJu33T9dxX+B3aYLvpgqLz0fBVkRQk7SjRNsLr5H1SFV8u8XD2MzMUO6rQA9dZMYtZKPc1dP2Ac3VsKufBuFvFTk3DQAtKUXv0sdgm8oaBFGibbkFyI+CUOov5ejdofedQqZSQNtf1086ujASWnlT3Z7yJajRMflv5H1RLhN7bBw6yEE7qaAATesTsWWypCZMiMLIUtLlyQvPBMQ32iORPwge1iBpxumrx7tPIehmwbA1KFE9r5Zcna2xUmswZJ/haEUPtdtnvt2eOScBg1qHCD9HwpEuWlNNrea5WIEYTPkzEM4aVMQ3edT8RDGUY6e4zYdJnZTc4+cqUYPEaeIUHxNFx7IeTFSCqukNtArTtrQ7TR9kQwKChaKwvcCcOa4x9nF0F9kMXbiWT9z7j1a9u9VV2Q3SL8Vp4qm6Q4IaOoAcYsKtWaP8THaHIFUf2c8wnpKH5xGLJql4/BevSAvT0CE9mLjxf+H/PbvF/ZzwwPjK7xHfp5LwUV/4ixe5BNBbcV+4znm4nEKXJEHE3eKDIsnCeWG1/0kFHJmX9YIQINBnNWXgHX9mBUn7Ca6uKGsbfkbnX+lyoR91Y9k4RePAGeUedmkpMCPZf3fkzEGu15ZlrmqHRv4zFC4568i2Ig1gSP2GtAEhlAvNO4WabUtCaLbbiecKdcKrd4swD1ky1xzxjwLIFEUjARcg98Smkww0/1gxLW6+j58S4GalO7XI9T98Uj3Dh2KtcgYfiC8fCeTZSboLZgwmO/aMW5K1bEsh6oPp80lwwwFBLzwhIG0FwSuY96IA5VvRlVmF5g3UgzIuhnND2+Zp0AmjtE4s92IXc1mtXM+FqKkDX4BmKu+Z9yftdmlHbvGYpsLHMWdqvR0rcE69UiLZjeVBnMWqpKiMoiCq1mJ+7i67oyqp8LyljyxHMy6WKGzHhdWUB9eE87HQ0zS4tNyEUPPri0xb6LNUMex0lcIaHPGkBXqetmO8qQkm+OkYaIuH4Lo1kkMvYzKhdgqeMcsgEr1jQyJ4ERBABtOyaPVtD0UlVKC0KqjRfFcw+gP9VgCnvQNUVbPgd1KPmo7as9icwdHuXiDT+bKQ14/5+yPVdLzc+FfHlwuCaja05tbiFO2ZhcqwgJKCmfEZh06MxAITpC6o3jMCMHT7123y8mbrGUC+8q+LKZX/NLmGeq5jn48ap5uuqFQvU6ttWaBPJJ/SPLS57J+3/52qij6SXNrLEJQOtl2CY+2aFI7hQ8232tsziBYGfeoz2ukPWkixpZGpZf3Bxd5bxpewhCdQFzoqzh9GWDJXiF8SEoCWtssC6q7BgDl1Oi2CdWgma2rugtnyY4biv74eumFCvd3O2HDmKVsoocTmZwjy8hcigWTDD7OK8gNdZTrtpkU2ERl1w/UAUzq96ZYJdDEZmbegpcO5NxeHZAqHX4qbk0fJaGW+zXEjAN9xygKHEmIMxlYPo6rjpkSETK6aLWF8F9W9YDUShGtTo4Pozn7G5w9NA6CQSd9bVfgKouQK8SJaEaWPLJM4XHGWWyk7UtgvYw1eCPXW/UKh7nRP0rfa1jXU3O95UqjLEMxka0cOfnwJ88Z1h7hp8RzkEqiqX9rV3vO8d221dNiB1tG4MK6XUL94IY/SQO1V3/W8VGaSfFSp9KdJkqaZLYayIBb/X1dhDjQ7+CEv57dFcoXofdzvXff6UJh/DcT66nLrzotOcfdalKYbmp/u3WyEf/7G60c4js7oDDcYdFCiGt+0cq3qT5WCJOsarziabNaDq5vTU4zjhnW0fw3PPm8g++CHd8K0/IjuKBjW9yRPQRh6C1cp6nadDzmD5+chUuxdAxkedzjDgVm3lR8jaZRMcTHoILutoooslKIxGlUVbfCcCErAAjfKl52qtYgoWu1MGFs4rf9ayg7xle2ablaCEIeKjkBS8z8lF4h+zo+pT5U1tmljxAu4Mhjkdrc0SuL/fBPlmuNuF/KA35x6q541BrsXKTkKpu3/ytNzeZvFTd19m9s9rXhZYWTOOUhWSlkRdWcIol/gZ3fcsZJcDIFIRwDQ0GRzus9W8pTVG9DeKjYJvi+dHW0JLC7wFfqQyJUJQ7B/iyR+UI9oaL+Xqfb1uoG+o8hmej94+Vxk6zIOp7hBEaSVm5r4PB4WIQ6HxL3CvI5Rns74hLG+HBRHT2TiiLVXHt33XurYuZpqs6gGqey6eiLeA1SV73AAz2VgfJ7xMr+2qF5flzMIgy1zjDIavLoFgV0NVklraLIoTPnkFFJFuTRQ7VCwwdL8hNr0kUeRyRP0OIakk5i8l0rUW6zKIQT/q1tN9UwX5aCdYDyNMUBNaqwdLuoCFKtLaqpiByEuMZxagQjlqhXkqMwApJwBpERpo12rgDvWb7Fi2Gn7b4PZ0/SvUsMGJuEVz0ZjBjbrx8AVt9xkO472Ufva2DlIZj48sedg7EKICO9g4/Y25v9ncB0IEEnKq4AJcNGYhoR+H9yhPKhzUuk6WGlm/9MHAfuVfyquROXQMwKJ6rOek6QwPLR6e/TdhAM6zsBi1hLhZGqMo4dOk6nlNx6Lr4O3b5nUtlcQE6Tg48ynzb0VOIeA/kSOG5jMh4Atm9wYcP2B9Dgq8bypv1KzQcyjff6YE+cAdkS+AsYRKXh9Xypa3hMb5clbOvfC7+jNmOSHdC6Ci3iT8QRexwRLeK4xb0C3IuByXrbnrtTnhl0O95kcDYr7uYNVCedq9ZaH2QWT+cfLflariZecLAiBxenUMALKKImaJ2K6HN+YMvIOF0sq0tipJtSdtxAiDML7ztXvmKDlhNTbZsANb0I1GQ2/E5p2EtXsfK/4JO5dXnKKkqn8iFR5qwxml3vKdJ33JV6n6Dr1hty5jwhxIeH6xDHCN+MzluNTv407V5oEzDaN1tHp09eBFjsetCC94zNxKoG/iyLFyGkmPwcb+bcfnpIWKmbAVED6sRbghQfqr5MsaXI4SJ/ulHrW3CTCpJxrMD97vV39CWFdqykohrRL4veK08Eefyhxf9I3kwZtXr3l7jvPp/kef4R+LhQxyXpkCe4tMSjpBAXLaNocxzRi8Y6Cme2f2NoRN/XkWS1AG/czeam/MPR5CsHkQAwuHNGwS/h7e3W09nO8tsjWdyPOgKimh4/prklqq59oy6iljuUF7vhzJ6X96ZO5OKAEjACgzt2qu1AsqopnhnSNkDb5/PNV0PE4BPlQWt9eSvncNC+svAIRi0ZTyCs7sC38MGl47LRCgRp9jUdTSL6T5ZUSIj81lZ5aU4ER2rwuCZFCWFU0nRpdb/VElr2Cp7ZiZbYUnl0elEeykGK9iLJ8GycCa/IiHSxy+Ya1H7yJ6j4RlapLiI/2verTqkWWErxW1dSv4JwZ/R6aztEVWng33pgbhXVLUNSAMDwxD6Rn4HJBoE4MOiLNc75Qk/5ae0PshvHq5lcqR3x7gy7n2C/kbq2hHC2gxTAOBMC0K4F44qqFKBLqMOW2FWZVtz5r2tbD8RZhGQPoF0WMAL9WyxL3SFrhjZUAE4sMBBi9xoQiAKu5+9v9DWINQ9ZIQSpy9tLq8uHJlCFRsX3AiOIsgYnixcfVaKG89ZPUgUOLuMTZp7lhwIZUL7aYkkG65JKuobNu5sizC/92LmpcH8k0sbINq5LmLnNUeUMAlvVmVc7Z8DH+acNKArsGHj8W3QUctL4eyhRe9jxsIk+YWxNVU2mgMCr9UX7aoLHCgn8ZkwAVPujza3fA3RQaXWunk0KIbuQFBv/84TS+G+LWvGhLTStPg+gAC7eU3bBnPkTjykL8y8VcENr2wDFDI9eYcyIMgd4oshN5padU0P+h1neM9YT0hc6bg6qzMPcBeyIFIVukE9dY/tHa9kruNCtoOvvvKHyzvRvtyFajF0cFxz5k8OTCxDfbToD2HdFaC0/IC6aIuImE+JggfIDnvdzUJx3ks4x/rMLsvEF4x00rF5N9D4fY3jwS5IR3LBvPfNhFb28R9S28rfXbn7a8al3STTC6daOW8uYJzIv46z0KF1R5z5ReE3ar9J4KcccdGW0G3cPnGNGWADBAbUMMnzbdDnmxObDzrYrQwvE0GNkWuo4lhU0aEuIKJh24+xSbXKc/BaOYW71yb0EU3uK0743SzC9639ZOClnWJfkbGrTG3PtUeJyAGau44fiOLLuQMtZama2AHcKHimcopAUAUYjyPo1RJkPq0LpebdDWYHdTwGLxHIRhgBfBwvnMzvg1PZo26PZnQr5py+oV3/YqkPZdidGIZK2CCI8++Vn4hfKP+F2GXkDfRSPYpB9BxIM1kl/BlH20lOaW3frW72beCspIV4rh8XMkknLVAUCe7q7rSOLmx4O+adfuysLDGJgXzjOcnI5eir4gwk7/Oq76+aJ63NXFwrmmP6vXcG2MbpM7mCTWxFTsrev3ISgT3kf3WLFdNb1R6O/sgV4DbSRxkjNQI67FUYBslphwYZj+73TkRzDZ7FDD6Z8XpYt+WpZ0qPWLplPYsABQMKMMbHlFMiyXZ7mrvNNPm6+EAzZJBf0S7MyVilkv0x73w4o+Y+Vx5fsVf4jwgBrYMu0Md1o3rc+9W4QgkcKwY11rMl4gJZ1c3N/m7kyY1Vlco6s8jN63xmBJbCHyyILEYtahI8hZdSumoNpE1MtcYBVo/ovnzeWHNHvAV4bm2w/22ytDK7hm1VrvB72SnDoPvMwqjMho41JFfhlTUCNxqjyyp3xzgW5+DASKszjgQmGdlGV01ZixgsgoHZka9he+8uLO7xK9H+Pc2pMdAHwV1WIkPf8L7JDUEZs26rbgxnTTgoMfE1e2mMyfugv5dM4E8peo1ocdOhf4UOXQPU0wZPirqHN+AvZfw+PL00i1DlAaUlX83XolP/PV5UGzC0Y61Q5/B9S/Q7ssT5A6zJsh4pJx/8NwnoQHpEpo+hIIvrMmDhtBDetr6PEric+z48CKi/fsM+WMaFC7tUsDfKucjDLhUH1B94O2zurU67m9cT+fN2CaXJmTES1uMty2oaDYM/zf0sm9fawsJXh3a0BnLyFUiIQi4NgQvGoz+7kGtzFoZEskf0+kww5sNbKNN8SlWx75Sf1W2gcyCPtwWxKLvNeaAedmykjNEMvyJt8iaDRWZOmQ683L6kGlv8IxlnhDJBhe/0MWdk7qohUevsZz5zh39c0EwefRDS3NMnwBcZCeo9pu2p7BOErFN7V+MoVYFCmnZkNwZym+Sd3GvoCBFppV7g4CrC5oSUEFccXIWXmD6hslFAogPzgr6QSI4FwUXKo5xAfo/h7l9HaX7Q0BJCkk6d8WQ9/cK+ZY7+E01KtqmNcP0MVvuOGdoFLtD8eZqPbPJ3jZD5Lv3ge3qiDBdL1/7GZ1JqbBQikMczbedRaWwPFpNND+Ob9/G+/zcqc/wyJQPYeSUls/pc6cpWWItr+KVbOF5L98gz2G6KtPEOJjyIzycP/JG8pDUeTbtxo2p3lJnx6cmjYMe1bQ7rACpn4r7wJo308M8+gQjUQ6lFpWZy531dygynd9TPfS+eH/LfAPPoPj+I4dG3363sr+Qxq0GOmxz1kTeZKoRea7u/sI581MS4fFHMfTNbZsx2xVVkQSwu1boZgVx3G+ygKNSRtO9eeSNb1f23z6lhpJx9YK/ZL2J3/sSQe1qKGQ1IwXiG8QtgFGAbb9XY7scvs7OzbriIlhUZb+3LdhSy8T">
            <a:extLst>
              <a:ext uri="{FF2B5EF4-FFF2-40B4-BE49-F238E27FC236}">
                <a16:creationId xmlns:a16="http://schemas.microsoft.com/office/drawing/2014/main" id="{593C0805-420F-40C4-81FB-3975DE3BB6C8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 bwMode="gray">
          <a:xfrm>
            <a:off x="229983" y="1356468"/>
            <a:ext cx="2489417" cy="5486628"/>
          </a:xfrm>
          <a:prstGeom prst="rect">
            <a:avLst/>
          </a:prstGeom>
          <a:blipFill>
            <a:blip r:embed="rId22"/>
            <a:stretch>
              <a:fillRect/>
            </a:stretch>
          </a:blip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B95C74C-D74F-4A43-BD27-E976AA0B3626}"/>
              </a:ext>
            </a:extLst>
          </p:cNvPr>
          <p:cNvSpPr txBox="1"/>
          <p:nvPr/>
        </p:nvSpPr>
        <p:spPr bwMode="gray">
          <a:xfrm>
            <a:off x="-1" y="1007561"/>
            <a:ext cx="310580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2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ILLUSTRATIVE SPEND BREAKDOWN</a:t>
            </a:r>
          </a:p>
        </p:txBody>
      </p:sp>
      <p:sp>
        <p:nvSpPr>
          <p:cNvPr id="60" name="ADAPT@BAIN">
            <a:extLst>
              <a:ext uri="{FF2B5EF4-FFF2-40B4-BE49-F238E27FC236}">
                <a16:creationId xmlns:a16="http://schemas.microsoft.com/office/drawing/2014/main" id="{5643D3BB-7BC8-4852-900D-F1E58C60B59C}"/>
              </a:ext>
            </a:extLst>
          </p:cNvPr>
          <p:cNvSpPr txBox="1"/>
          <p:nvPr/>
        </p:nvSpPr>
        <p:spPr>
          <a:xfrm>
            <a:off x="10594524" y="45774"/>
            <a:ext cx="1274388" cy="226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 algn="l" defTabSz="821531">
              <a:defRPr sz="2000" b="0" spc="200">
                <a:solidFill>
                  <a:srgbClr val="000000">
                    <a:alpha val="20000"/>
                  </a:srgb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 marL="0" marR="0" lvl="0" indent="0" algn="r" defTabSz="82153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all" spc="200" normalizeH="0" baseline="0" noProof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Arial" panose="020B0604020202020204" pitchFamily="34" charset="0"/>
                <a:sym typeface="Arial Black"/>
              </a:rPr>
              <a:t>ILLUSTRATIVE</a:t>
            </a:r>
          </a:p>
        </p:txBody>
      </p:sp>
      <p:sp>
        <p:nvSpPr>
          <p:cNvPr id="97" name="btfpColumnHeaderBoxText541351">
            <a:extLst>
              <a:ext uri="{FF2B5EF4-FFF2-40B4-BE49-F238E27FC236}">
                <a16:creationId xmlns:a16="http://schemas.microsoft.com/office/drawing/2014/main" id="{DAF36B61-EF84-4DCA-A009-A3C116ED105B}"/>
              </a:ext>
            </a:extLst>
          </p:cNvPr>
          <p:cNvSpPr txBox="1"/>
          <p:nvPr/>
        </p:nvSpPr>
        <p:spPr bwMode="gray">
          <a:xfrm>
            <a:off x="5703067" y="1173331"/>
            <a:ext cx="30878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>
              <a:buNone/>
              <a:defRPr sz="1200" spc="300"/>
            </a:lvl1pPr>
          </a:lstStyle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2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LEVERS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739694F-E187-4085-B8D4-28A28A7E5AD8}"/>
              </a:ext>
            </a:extLst>
          </p:cNvPr>
          <p:cNvSpPr txBox="1"/>
          <p:nvPr/>
        </p:nvSpPr>
        <p:spPr bwMode="gray">
          <a:xfrm>
            <a:off x="-27212" y="3015368"/>
            <a:ext cx="833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25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COS:</a:t>
            </a:r>
            <a:br>
              <a:rPr kumimoji="0" lang="en-US" sz="900" b="1" i="0" u="none" strike="noStrike" kern="1200" cap="none" spc="25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900" b="1" i="0" u="none" strike="noStrike" kern="1200" cap="none" spc="25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$25.2B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25C2162-3267-4A1A-BC7C-36F83FABADF2}"/>
              </a:ext>
            </a:extLst>
          </p:cNvPr>
          <p:cNvSpPr txBox="1"/>
          <p:nvPr/>
        </p:nvSpPr>
        <p:spPr bwMode="gray">
          <a:xfrm>
            <a:off x="-27212" y="5088068"/>
            <a:ext cx="833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25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SG&amp;A:</a:t>
            </a:r>
            <a:br>
              <a:rPr lang="en-US" sz="900" b="1" spc="250">
                <a:solidFill>
                  <a:schemeClr val="bg1">
                    <a:lumMod val="50000"/>
                  </a:schemeClr>
                </a:solidFill>
                <a:latin typeface="Arial"/>
              </a:rPr>
            </a:br>
            <a:r>
              <a:rPr lang="en-US" sz="900" b="1" spc="250">
                <a:solidFill>
                  <a:schemeClr val="bg1">
                    <a:lumMod val="50000"/>
                  </a:schemeClr>
                </a:solidFill>
                <a:latin typeface="Arial"/>
              </a:rPr>
              <a:t>$14.8B</a:t>
            </a:r>
            <a:endParaRPr kumimoji="0" lang="en-US" sz="900" b="1" i="0" u="none" strike="noStrike" kern="1200" cap="none" spc="250" normalizeH="0" baseline="0" noProof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7F7DC402-C4B3-47E4-A1B6-0BBF9AB91352}"/>
              </a:ext>
            </a:extLst>
          </p:cNvPr>
          <p:cNvSpPr/>
          <p:nvPr/>
        </p:nvSpPr>
        <p:spPr bwMode="gray">
          <a:xfrm>
            <a:off x="617441" y="1890585"/>
            <a:ext cx="170708" cy="2643915"/>
          </a:xfrm>
          <a:prstGeom prst="leftBrace">
            <a:avLst/>
          </a:prstGeom>
          <a:ln w="9525" cap="flat">
            <a:solidFill>
              <a:schemeClr val="accent4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Left Brace 120">
            <a:extLst>
              <a:ext uri="{FF2B5EF4-FFF2-40B4-BE49-F238E27FC236}">
                <a16:creationId xmlns:a16="http://schemas.microsoft.com/office/drawing/2014/main" id="{7E58BEAE-9844-414C-9FFA-8071544C159A}"/>
              </a:ext>
            </a:extLst>
          </p:cNvPr>
          <p:cNvSpPr/>
          <p:nvPr/>
        </p:nvSpPr>
        <p:spPr bwMode="gray">
          <a:xfrm>
            <a:off x="617442" y="4611216"/>
            <a:ext cx="164964" cy="1307163"/>
          </a:xfrm>
          <a:prstGeom prst="leftBrace">
            <a:avLst/>
          </a:prstGeom>
          <a:ln w="9525" cap="flat">
            <a:solidFill>
              <a:schemeClr val="bg1">
                <a:lumMod val="50000"/>
              </a:schemeClr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btfpRowHeaderBoxText807881">
            <a:extLst>
              <a:ext uri="{FF2B5EF4-FFF2-40B4-BE49-F238E27FC236}">
                <a16:creationId xmlns:a16="http://schemas.microsoft.com/office/drawing/2014/main" id="{E397DEDF-7471-4640-8955-503293E304CA}"/>
              </a:ext>
            </a:extLst>
          </p:cNvPr>
          <p:cNvSpPr txBox="1"/>
          <p:nvPr/>
        </p:nvSpPr>
        <p:spPr bwMode="gray">
          <a:xfrm>
            <a:off x="2413623" y="4527624"/>
            <a:ext cx="1139617" cy="243143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Stores/leases</a:t>
            </a:r>
          </a:p>
        </p:txBody>
      </p:sp>
      <p:sp>
        <p:nvSpPr>
          <p:cNvPr id="125" name="btfpRowHeaderBoxText807881">
            <a:extLst>
              <a:ext uri="{FF2B5EF4-FFF2-40B4-BE49-F238E27FC236}">
                <a16:creationId xmlns:a16="http://schemas.microsoft.com/office/drawing/2014/main" id="{813932F1-FE68-4100-9F87-AC423B27A0B8}"/>
              </a:ext>
            </a:extLst>
          </p:cNvPr>
          <p:cNvSpPr txBox="1"/>
          <p:nvPr/>
        </p:nvSpPr>
        <p:spPr bwMode="gray">
          <a:xfrm>
            <a:off x="2413623" y="5057337"/>
            <a:ext cx="1551498" cy="412421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Corp. G&amp;A </a:t>
            </a:r>
          </a:p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(excl. IT)</a:t>
            </a:r>
          </a:p>
        </p:txBody>
      </p:sp>
      <p:sp>
        <p:nvSpPr>
          <p:cNvPr id="126" name="btfpBulletedList196696">
            <a:extLst>
              <a:ext uri="{FF2B5EF4-FFF2-40B4-BE49-F238E27FC236}">
                <a16:creationId xmlns:a16="http://schemas.microsoft.com/office/drawing/2014/main" id="{1DDA751D-0569-4097-B8AF-380CB6BA00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gray">
          <a:xfrm>
            <a:off x="5703068" y="4526773"/>
            <a:ext cx="5685127" cy="534368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91440" marR="0" lvl="0" indent="-91440" algn="l" defTabSz="711200" rtl="0" eaLnBrk="1" fontAlgn="auto" latinLnBrk="0" hangingPunct="1">
              <a:spcBef>
                <a:spcPts val="0"/>
              </a:spcBef>
              <a:buClrTx/>
              <a:buSzTx/>
              <a:buFontTx/>
              <a:buChar char="•"/>
              <a:tabLst/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Optimize store labor; align </a:t>
            </a:r>
            <a:r>
              <a:rPr kumimoji="0" lang="en-GB" sz="1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schedules to guest demand; optimize tasks and time of day (e.g., filling)</a:t>
            </a:r>
          </a:p>
          <a:p>
            <a:pPr marL="91440" marR="0" lvl="0" indent="-91440" algn="l" defTabSz="711200" rtl="0" eaLnBrk="1" fontAlgn="auto" latinLnBrk="0" hangingPunct="1">
              <a:spcBef>
                <a:spcPts val="0"/>
              </a:spcBef>
              <a:buClrTx/>
              <a:buSzTx/>
              <a:buFontTx/>
              <a:buChar char="•"/>
              <a:tabLst/>
              <a:defRPr/>
            </a:pPr>
            <a:r>
              <a:rPr kumimoji="0" lang="en-GB" sz="1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Arial"/>
                <a:ea typeface="+mn-ea"/>
                <a:cs typeface="+mn-cs"/>
              </a:rPr>
              <a:t>R</a:t>
            </a: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Arial"/>
                <a:ea typeface="+mn-ea"/>
                <a:cs typeface="+mn-cs"/>
              </a:rPr>
              <a:t>educe/eliminate in-store activities that do not drive enhanced customer experience or sales</a:t>
            </a:r>
          </a:p>
          <a:p>
            <a:pPr marL="91440" indent="-91440">
              <a:spcBef>
                <a:spcPts val="0"/>
              </a:spcBef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Simplified processes, tools, and automation to facilitate tasks/reduce labor hours</a:t>
            </a:r>
            <a:endParaRPr kumimoji="0" lang="en-US" sz="10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7" name="btfpBulletedList196696">
            <a:extLst>
              <a:ext uri="{FF2B5EF4-FFF2-40B4-BE49-F238E27FC236}">
                <a16:creationId xmlns:a16="http://schemas.microsoft.com/office/drawing/2014/main" id="{1F161ADA-1329-4B9F-BA23-115DC621D660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gray">
          <a:xfrm>
            <a:off x="5703068" y="6425821"/>
            <a:ext cx="5685127" cy="380480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91440" marR="0" lvl="0" indent="-91440" algn="l" defTabSz="711200" rtl="0" eaLnBrk="1" fontAlgn="auto" latinLnBrk="0" hangingPunct="1">
              <a:spcBef>
                <a:spcPts val="0"/>
              </a:spcBef>
              <a:buClrTx/>
              <a:buSzTx/>
              <a:buFontTx/>
              <a:buChar char="•"/>
              <a:tabLst/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Arial"/>
                <a:ea typeface="+mn-ea"/>
                <a:cs typeface="+mn-cs"/>
              </a:rPr>
              <a:t>Align capital funding with strategy and strengthening of process/ROI metrics </a:t>
            </a:r>
          </a:p>
          <a:p>
            <a:pPr marL="91440" indent="-91440">
              <a:spcBef>
                <a:spcPts val="0"/>
              </a:spcBef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New store and re-model spend optimization</a:t>
            </a:r>
          </a:p>
        </p:txBody>
      </p:sp>
      <p:sp>
        <p:nvSpPr>
          <p:cNvPr id="128" name="btfpRowHeaderBoxText807881">
            <a:extLst>
              <a:ext uri="{FF2B5EF4-FFF2-40B4-BE49-F238E27FC236}">
                <a16:creationId xmlns:a16="http://schemas.microsoft.com/office/drawing/2014/main" id="{E54E058E-4BE6-4A52-8C8F-D59EFF29A5D8}"/>
              </a:ext>
            </a:extLst>
          </p:cNvPr>
          <p:cNvSpPr txBox="1"/>
          <p:nvPr/>
        </p:nvSpPr>
        <p:spPr bwMode="gray">
          <a:xfrm>
            <a:off x="2413623" y="6421354"/>
            <a:ext cx="1321003" cy="412421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Cash/</a:t>
            </a: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CapEx</a:t>
            </a:r>
            <a:r>
              <a:rPr lang="en-US" sz="1100" b="1">
                <a:solidFill>
                  <a:schemeClr val="accent1"/>
                </a:solidFill>
                <a:latin typeface="Arial"/>
              </a:rPr>
              <a:t>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(excl. IT)</a:t>
            </a:r>
          </a:p>
        </p:txBody>
      </p:sp>
      <p:sp>
        <p:nvSpPr>
          <p:cNvPr id="129" name="btfpBulletedList196696">
            <a:extLst>
              <a:ext uri="{FF2B5EF4-FFF2-40B4-BE49-F238E27FC236}">
                <a16:creationId xmlns:a16="http://schemas.microsoft.com/office/drawing/2014/main" id="{C710F0E3-6E46-4C9F-90C9-56B591EC7C7A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gray">
          <a:xfrm>
            <a:off x="4006019" y="4514631"/>
            <a:ext cx="1436352" cy="257369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~2-6%</a:t>
            </a:r>
            <a:endParaRPr kumimoji="0" lang="en-US" sz="1200" b="0" i="1" u="none" strike="noStrike" kern="1200" cap="none" spc="0" normalizeH="0" baseline="0" noProof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0" name="btfpBulletedList196696">
            <a:extLst>
              <a:ext uri="{FF2B5EF4-FFF2-40B4-BE49-F238E27FC236}">
                <a16:creationId xmlns:a16="http://schemas.microsoft.com/office/drawing/2014/main" id="{0BDBDD3D-2F9F-4193-AE0D-9667FAAC4263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gray">
          <a:xfrm>
            <a:off x="4006019" y="5062094"/>
            <a:ext cx="1335643" cy="257369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~10-15%</a:t>
            </a:r>
            <a:endParaRPr kumimoji="0" lang="en-US" sz="1200" b="0" i="1" u="none" strike="noStrike" kern="1200" cap="none" spc="0" normalizeH="0" baseline="0" noProof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1" name="btfpBulletedList196696">
            <a:extLst>
              <a:ext uri="{FF2B5EF4-FFF2-40B4-BE49-F238E27FC236}">
                <a16:creationId xmlns:a16="http://schemas.microsoft.com/office/drawing/2014/main" id="{5A953C7A-6D62-4731-87FF-7A57AD28E86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gray">
          <a:xfrm>
            <a:off x="4006019" y="6431079"/>
            <a:ext cx="1335643" cy="257369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~5-15%</a:t>
            </a:r>
            <a:endParaRPr kumimoji="0" lang="en-US" sz="1200" b="0" i="1" u="none" strike="noStrike" kern="1200" cap="none" spc="0" normalizeH="0" baseline="0" noProof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2" name="btfpBulletedList196696">
            <a:extLst>
              <a:ext uri="{FF2B5EF4-FFF2-40B4-BE49-F238E27FC236}">
                <a16:creationId xmlns:a16="http://schemas.microsoft.com/office/drawing/2014/main" id="{37DBB82B-F4C4-44AD-B6C0-2587ABBABC8B}"/>
              </a:ext>
            </a:extLst>
          </p:cNvPr>
          <p:cNvSpPr txBox="1"/>
          <p:nvPr>
            <p:custDataLst>
              <p:tags r:id="rId9"/>
            </p:custDataLst>
          </p:nvPr>
        </p:nvSpPr>
        <p:spPr bwMode="gray">
          <a:xfrm>
            <a:off x="5703068" y="5057121"/>
            <a:ext cx="5685127" cy="688256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91440" indent="-91440">
              <a:spcBef>
                <a:spcPts val="0"/>
              </a:spcBef>
              <a:defRPr/>
            </a:pPr>
            <a:r>
              <a:rPr lang="en-US" sz="1000" b="1">
                <a:solidFill>
                  <a:srgbClr val="000000"/>
                </a:solidFill>
                <a:latin typeface="Arial"/>
              </a:rPr>
              <a:t>Spans and layers optimization; broader operating model re-design for select functions where over-invested</a:t>
            </a:r>
          </a:p>
          <a:p>
            <a:pPr marL="91440" indent="-91440">
              <a:spcBef>
                <a:spcPts val="0"/>
              </a:spcBef>
              <a:defRPr/>
            </a:pPr>
            <a:r>
              <a:rPr lang="en-US" sz="1000">
                <a:solidFill>
                  <a:srgbClr val="000000"/>
                </a:solidFill>
                <a:latin typeface="Arial"/>
              </a:rPr>
              <a:t>Conduct CDA post-mortem to establish stronger governance for spans &amp; layers implementation</a:t>
            </a:r>
          </a:p>
          <a:p>
            <a:pPr marL="91440" marR="0" lvl="0" indent="-91440" algn="l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More efficient operations and lower overhead through re-design of work, automation</a:t>
            </a:r>
          </a:p>
        </p:txBody>
      </p:sp>
      <p:sp>
        <p:nvSpPr>
          <p:cNvPr id="133" name="btfpRowHeaderBoxText807881">
            <a:extLst>
              <a:ext uri="{FF2B5EF4-FFF2-40B4-BE49-F238E27FC236}">
                <a16:creationId xmlns:a16="http://schemas.microsoft.com/office/drawing/2014/main" id="{98A0011A-A15E-47C5-9AAC-84AB46C8B0F8}"/>
              </a:ext>
            </a:extLst>
          </p:cNvPr>
          <p:cNvSpPr txBox="1"/>
          <p:nvPr/>
        </p:nvSpPr>
        <p:spPr bwMode="gray">
          <a:xfrm>
            <a:off x="2413624" y="4057749"/>
            <a:ext cx="1598323" cy="412421"/>
          </a:xfrm>
          <a:prstGeom prst="rect">
            <a:avLst/>
          </a:prstGeom>
          <a:noFill/>
        </p:spPr>
        <p:txBody>
          <a:bodyPr vert="horz" wrap="none" lIns="36576" tIns="36576" rIns="36576" bIns="36576" rtlCol="0" anchor="t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Indirect procurement / </a:t>
            </a:r>
          </a:p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GNFR</a:t>
            </a:r>
          </a:p>
        </p:txBody>
      </p:sp>
      <p:sp>
        <p:nvSpPr>
          <p:cNvPr id="134" name="btfpBulletedList196696">
            <a:extLst>
              <a:ext uri="{FF2B5EF4-FFF2-40B4-BE49-F238E27FC236}">
                <a16:creationId xmlns:a16="http://schemas.microsoft.com/office/drawing/2014/main" id="{BA89B948-760D-4690-A1BA-2B63C2098212}"/>
              </a:ext>
            </a:extLst>
          </p:cNvPr>
          <p:cNvSpPr txBox="1"/>
          <p:nvPr>
            <p:custDataLst>
              <p:tags r:id="rId10"/>
            </p:custDataLst>
          </p:nvPr>
        </p:nvSpPr>
        <p:spPr bwMode="gray">
          <a:xfrm>
            <a:off x="4006019" y="4061174"/>
            <a:ext cx="1335643" cy="257369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~8-15%</a:t>
            </a:r>
          </a:p>
        </p:txBody>
      </p:sp>
      <p:sp>
        <p:nvSpPr>
          <p:cNvPr id="135" name="btfpBulletedList196696">
            <a:extLst>
              <a:ext uri="{FF2B5EF4-FFF2-40B4-BE49-F238E27FC236}">
                <a16:creationId xmlns:a16="http://schemas.microsoft.com/office/drawing/2014/main" id="{6FF26EB4-5097-4066-B8E3-B71D0850F968}"/>
              </a:ext>
            </a:extLst>
          </p:cNvPr>
          <p:cNvSpPr txBox="1"/>
          <p:nvPr>
            <p:custDataLst>
              <p:tags r:id="rId11"/>
            </p:custDataLst>
          </p:nvPr>
        </p:nvSpPr>
        <p:spPr bwMode="gray">
          <a:xfrm>
            <a:off x="5702158" y="4016973"/>
            <a:ext cx="5686038" cy="534368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91440" indent="-91440" defTabSz="981334" fontAlgn="b">
              <a:spcBef>
                <a:spcPts val="0"/>
              </a:spcBef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Improve spend controls and policy compliance across regions and channels</a:t>
            </a:r>
          </a:p>
          <a:p>
            <a:pPr marL="91440" indent="-91440" defTabSz="981334" fontAlgn="b">
              <a:spcBef>
                <a:spcPts val="0"/>
              </a:spcBef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Standardize supplier terms/agreements to take advantage of scale and consolidate vendors</a:t>
            </a:r>
            <a:endParaRPr kumimoji="0" lang="en-US" sz="10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Arial"/>
              <a:ea typeface="+mn-ea"/>
              <a:cs typeface="+mn-cs"/>
            </a:endParaRPr>
          </a:p>
          <a:p>
            <a:pPr marL="91440" marR="0" lvl="0" indent="-91440" algn="l" defTabSz="981334" rtl="0" eaLnBrk="1" fontAlgn="b" latinLnBrk="0" hangingPunct="1">
              <a:spcBef>
                <a:spcPts val="0"/>
              </a:spcBef>
              <a:buClrTx/>
              <a:buSzTx/>
              <a:buFontTx/>
              <a:buChar char="•"/>
              <a:tabLst/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Arial"/>
                <a:ea typeface="+mn-ea"/>
                <a:cs typeface="+mn-cs"/>
              </a:rPr>
              <a:t>Re-design SLAs and specs on key spend items to reduce cost</a:t>
            </a:r>
          </a:p>
        </p:txBody>
      </p:sp>
      <p:sp>
        <p:nvSpPr>
          <p:cNvPr id="136" name="btfpRowHeaderBoxText807881">
            <a:extLst>
              <a:ext uri="{FF2B5EF4-FFF2-40B4-BE49-F238E27FC236}">
                <a16:creationId xmlns:a16="http://schemas.microsoft.com/office/drawing/2014/main" id="{F91304DF-BFEF-4323-AE45-2CDE48AF3B8E}"/>
              </a:ext>
            </a:extLst>
          </p:cNvPr>
          <p:cNvSpPr txBox="1"/>
          <p:nvPr/>
        </p:nvSpPr>
        <p:spPr bwMode="gray">
          <a:xfrm>
            <a:off x="2413624" y="5717575"/>
            <a:ext cx="237373" cy="243143"/>
          </a:xfrm>
          <a:prstGeom prst="rect">
            <a:avLst/>
          </a:prstGeom>
          <a:noFill/>
        </p:spPr>
        <p:txBody>
          <a:bodyPr vert="horz" wrap="none" lIns="36576" tIns="36576" rIns="36576" bIns="36576" rtlCol="0" anchor="t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IT </a:t>
            </a:r>
          </a:p>
        </p:txBody>
      </p:sp>
      <p:sp>
        <p:nvSpPr>
          <p:cNvPr id="137" name="btfpBulletedList196696">
            <a:extLst>
              <a:ext uri="{FF2B5EF4-FFF2-40B4-BE49-F238E27FC236}">
                <a16:creationId xmlns:a16="http://schemas.microsoft.com/office/drawing/2014/main" id="{7E5940A2-6CD0-4453-9301-E06C17B18466}"/>
              </a:ext>
            </a:extLst>
          </p:cNvPr>
          <p:cNvSpPr txBox="1"/>
          <p:nvPr>
            <p:custDataLst>
              <p:tags r:id="rId12"/>
            </p:custDataLst>
          </p:nvPr>
        </p:nvSpPr>
        <p:spPr bwMode="gray">
          <a:xfrm>
            <a:off x="4006019" y="5717709"/>
            <a:ext cx="1335643" cy="257369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~5-15%</a:t>
            </a:r>
            <a:endParaRPr kumimoji="0" lang="en-US" sz="1200" b="0" i="1" u="none" strike="noStrike" kern="1200" cap="none" spc="0" normalizeH="0" baseline="0" noProof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8" name="btfpBulletedList196696">
            <a:extLst>
              <a:ext uri="{FF2B5EF4-FFF2-40B4-BE49-F238E27FC236}">
                <a16:creationId xmlns:a16="http://schemas.microsoft.com/office/drawing/2014/main" id="{37A69A9D-234F-48C6-B44F-A13D55D9D791}"/>
              </a:ext>
            </a:extLst>
          </p:cNvPr>
          <p:cNvSpPr txBox="1"/>
          <p:nvPr>
            <p:custDataLst>
              <p:tags r:id="rId13"/>
            </p:custDataLst>
          </p:nvPr>
        </p:nvSpPr>
        <p:spPr bwMode="gray">
          <a:xfrm>
            <a:off x="5703068" y="5721031"/>
            <a:ext cx="5685127" cy="688256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91440" indent="-91440">
              <a:spcBef>
                <a:spcPts val="0"/>
              </a:spcBef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Arial"/>
                <a:ea typeface="+mn-ea"/>
                <a:cs typeface="+mn-cs"/>
              </a:rPr>
              <a:t>Prioritize and optimize top enterprise projects to align on highest value investments</a:t>
            </a:r>
          </a:p>
          <a:p>
            <a:pPr marL="91440" marR="0" lvl="0" indent="-91440" algn="l" defTabSz="711200" rtl="0" eaLnBrk="1" fontAlgn="auto" latinLnBrk="0" hangingPunct="1">
              <a:spcBef>
                <a:spcPts val="0"/>
              </a:spcBef>
              <a:buClrTx/>
              <a:buSzTx/>
              <a:buFontTx/>
              <a:buChar char="•"/>
              <a:tabLst/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Optimize labor and delivery model (agile ways of working, insource vs. outsource, onshore vs. offshore); rationalize redundant contracts and licenses</a:t>
            </a:r>
            <a:endParaRPr kumimoji="0" lang="en-US" sz="10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0F0F0"/>
              </a:highlight>
              <a:uLnTx/>
              <a:uFillTx/>
              <a:latin typeface="Arial"/>
              <a:ea typeface="+mn-ea"/>
              <a:cs typeface="+mn-cs"/>
            </a:endParaRPr>
          </a:p>
          <a:p>
            <a:pPr marL="91440" indent="-91440">
              <a:spcBef>
                <a:spcPts val="0"/>
              </a:spcBef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Enhanced productivity through re-design of IT organization and negotiated vendor contracts</a:t>
            </a:r>
          </a:p>
        </p:txBody>
      </p:sp>
      <p:sp>
        <p:nvSpPr>
          <p:cNvPr id="139" name="btfpRowHeaderBoxText807881">
            <a:extLst>
              <a:ext uri="{FF2B5EF4-FFF2-40B4-BE49-F238E27FC236}">
                <a16:creationId xmlns:a16="http://schemas.microsoft.com/office/drawing/2014/main" id="{E4AC1954-8794-491C-982D-E2C33649AC0E}"/>
              </a:ext>
            </a:extLst>
          </p:cNvPr>
          <p:cNvSpPr txBox="1"/>
          <p:nvPr/>
        </p:nvSpPr>
        <p:spPr bwMode="gray">
          <a:xfrm>
            <a:off x="2326159" y="1440616"/>
            <a:ext cx="936282" cy="243143"/>
          </a:xfrm>
          <a:prstGeom prst="rect">
            <a:avLst/>
          </a:prstGeom>
          <a:noFill/>
        </p:spPr>
        <p:txBody>
          <a:bodyPr vert="horz" wrap="none" lIns="36576" tIns="36576" rIns="36576" bIns="36576" rtlCol="0" anchor="t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 cost</a:t>
            </a:r>
          </a:p>
        </p:txBody>
      </p:sp>
      <p:sp>
        <p:nvSpPr>
          <p:cNvPr id="140" name="btfpBulletedList196696">
            <a:extLst>
              <a:ext uri="{FF2B5EF4-FFF2-40B4-BE49-F238E27FC236}">
                <a16:creationId xmlns:a16="http://schemas.microsoft.com/office/drawing/2014/main" id="{0377056C-DF1F-4A80-8964-FE4C80C91158}"/>
              </a:ext>
            </a:extLst>
          </p:cNvPr>
          <p:cNvSpPr txBox="1"/>
          <p:nvPr>
            <p:custDataLst>
              <p:tags r:id="rId14"/>
            </p:custDataLst>
          </p:nvPr>
        </p:nvSpPr>
        <p:spPr bwMode="gray">
          <a:xfrm>
            <a:off x="4006019" y="1440616"/>
            <a:ext cx="1335643" cy="257369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~2-5%</a:t>
            </a:r>
          </a:p>
        </p:txBody>
      </p:sp>
      <p:sp>
        <p:nvSpPr>
          <p:cNvPr id="141" name="btfpBulletedList196696">
            <a:extLst>
              <a:ext uri="{FF2B5EF4-FFF2-40B4-BE49-F238E27FC236}">
                <a16:creationId xmlns:a16="http://schemas.microsoft.com/office/drawing/2014/main" id="{58276CF2-3843-43AE-8467-ACAC5AEEE04C}"/>
              </a:ext>
            </a:extLst>
          </p:cNvPr>
          <p:cNvSpPr txBox="1"/>
          <p:nvPr>
            <p:custDataLst>
              <p:tags r:id="rId15"/>
            </p:custDataLst>
          </p:nvPr>
        </p:nvSpPr>
        <p:spPr bwMode="gray">
          <a:xfrm>
            <a:off x="5727056" y="1402440"/>
            <a:ext cx="6141460" cy="1457698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t">
            <a:spAutoFit/>
          </a:bodyPr>
          <a:lstStyle/>
          <a:p>
            <a:pPr marL="91440" indent="-91440" defTabSz="981334" fontAlgn="b">
              <a:spcBef>
                <a:spcPts val="0"/>
              </a:spcBef>
              <a:defRPr/>
            </a:pPr>
            <a:r>
              <a:rPr lang="en-US" sz="1000" b="1">
                <a:highlight>
                  <a:srgbClr val="FFFFFF"/>
                </a:highlight>
                <a:latin typeface="Arial"/>
                <a:cs typeface="Arial"/>
              </a:rPr>
              <a:t>Strategic sourcing for direct materials across Tiers 2-4 and enhanced SRM</a:t>
            </a:r>
            <a:endParaRPr lang="en-US" sz="1000" b="1">
              <a:highlight>
                <a:srgbClr val="FFFFFF"/>
              </a:highlight>
              <a:latin typeface="Arial"/>
            </a:endParaRPr>
          </a:p>
          <a:p>
            <a:pPr marL="91440" marR="0" lvl="0" indent="-91440" algn="l" defTabSz="981334">
              <a:spcBef>
                <a:spcPts val="0"/>
              </a:spcBef>
              <a:buClrTx/>
              <a:buSzTx/>
              <a:buFontTx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effectLst/>
                <a:highlight>
                  <a:srgbClr val="FFFFFF"/>
                </a:highlight>
                <a:uLnTx/>
                <a:uFillTx/>
                <a:latin typeface="Arial"/>
              </a:rPr>
              <a:t>Right-size and optimize franchise-to-factory allocations</a:t>
            </a:r>
            <a:endParaRPr lang="en-US" sz="1000"/>
          </a:p>
          <a:p>
            <a:pPr marL="91440" indent="-91440" defTabSz="981334" fontAlgn="b">
              <a:spcBef>
                <a:spcPts val="0"/>
              </a:spcBef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effectLst/>
                <a:highlight>
                  <a:srgbClr val="FFFFFF"/>
                </a:highlight>
                <a:uLnTx/>
                <a:uFillTx/>
                <a:latin typeface="Arial"/>
              </a:rPr>
              <a:t>Flexibly source to groups of like-capability factories</a:t>
            </a:r>
            <a:r>
              <a:rPr lang="en-US" sz="1000" b="1">
                <a:highlight>
                  <a:srgbClr val="FFFFFF"/>
                </a:highlight>
                <a:latin typeface="Arial"/>
              </a:rPr>
              <a:t> </a:t>
            </a:r>
          </a:p>
          <a:p>
            <a:pPr marL="91440" marR="0" lvl="0" indent="-91440" algn="l" defTabSz="981334" rtl="0" eaLnBrk="1" fontAlgn="b" latinLnBrk="0" hangingPunct="1">
              <a:spcBef>
                <a:spcPts val="0"/>
              </a:spcBef>
              <a:buClrTx/>
              <a:buSzTx/>
              <a:buFontTx/>
              <a:buChar char="•"/>
              <a:tabLst/>
              <a:defRPr/>
            </a:pPr>
            <a:r>
              <a:rPr lang="en-US" sz="1000" b="1">
                <a:highlight>
                  <a:srgbClr val="FFFFFF"/>
                </a:highlight>
                <a:latin typeface="Arial"/>
              </a:rPr>
              <a:t>Standardized methods of make and BDP sharing across factories </a:t>
            </a:r>
            <a:endParaRPr lang="en-US" sz="1000" b="1">
              <a:highlight>
                <a:srgbClr val="FFFFFF"/>
              </a:highlight>
              <a:latin typeface="Arial"/>
              <a:cs typeface="Arial"/>
            </a:endParaRPr>
          </a:p>
          <a:p>
            <a:pPr marL="91440" indent="-91440" defTabSz="981334">
              <a:spcBef>
                <a:spcPts val="0"/>
              </a:spcBef>
              <a:buSzPct val="100000"/>
              <a:defRPr/>
            </a:pPr>
            <a:r>
              <a:rPr lang="en-US" sz="1000" b="1">
                <a:highlight>
                  <a:srgbClr val="FFFFFF"/>
                </a:highlight>
              </a:rPr>
              <a:t>Total cost of ownership (TCO) via waste reduction and value engineering</a:t>
            </a:r>
            <a:endParaRPr lang="en-US" sz="1000" b="1">
              <a:highlight>
                <a:srgbClr val="FFFFFF"/>
              </a:highlight>
              <a:cs typeface="Arial"/>
            </a:endParaRPr>
          </a:p>
          <a:p>
            <a:pPr marL="91440" indent="-91440" defTabSz="981334">
              <a:spcBef>
                <a:spcPts val="0"/>
              </a:spcBef>
              <a:buSzPct val="100000"/>
              <a:defRPr/>
            </a:pPr>
            <a:r>
              <a:rPr lang="en-US" sz="1000">
                <a:highlight>
                  <a:srgbClr val="FFFFFF"/>
                </a:highlight>
                <a:latin typeface="Arial"/>
              </a:rPr>
              <a:t>Raw material simplification (harmonization, standardization, recyclable material, ail spend optimization) </a:t>
            </a:r>
            <a:endParaRPr kumimoji="0" lang="en-US" sz="10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</a:endParaRPr>
          </a:p>
          <a:p>
            <a:pPr marL="91440" indent="-91440" defTabSz="981334">
              <a:spcBef>
                <a:spcPts val="0"/>
              </a:spcBef>
              <a:buSzPct val="100000"/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</a:rPr>
              <a:t>Improved forecasting and demand planning (e.g., in-season planning) using ML/AI and analytics</a:t>
            </a:r>
            <a:endParaRPr lang="en-US" sz="10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  <a:p>
            <a:pPr marL="91440" indent="-91440">
              <a:spcBef>
                <a:spcPts val="0"/>
              </a:spcBef>
              <a:buSzPct val="100000"/>
              <a:defRPr/>
            </a:pPr>
            <a:r>
              <a:rPr lang="en-US" sz="1000">
                <a:highlight>
                  <a:srgbClr val="FFFFFF"/>
                </a:highlight>
                <a:cs typeface="Arial"/>
              </a:rPr>
              <a:t>Optimize PO sizes to avoid fragmentation</a:t>
            </a:r>
            <a:endParaRPr lang="en-US" sz="1000">
              <a:ea typeface="+mn-lt"/>
              <a:cs typeface="+mn-lt"/>
            </a:endParaRPr>
          </a:p>
          <a:p>
            <a:pPr marL="91440" indent="-91440">
              <a:spcBef>
                <a:spcPts val="0"/>
              </a:spcBef>
              <a:defRPr/>
            </a:pPr>
            <a:r>
              <a:rPr lang="en-US" sz="1000"/>
              <a:t>Increased digital connectivity with Tier 1-2 partners (e.g., touch-less data exchange and planning)</a:t>
            </a:r>
            <a:endParaRPr lang="en-US" sz="1000">
              <a:highlight>
                <a:srgbClr val="FFFFFF"/>
              </a:highlight>
              <a:latin typeface="Arial"/>
            </a:endParaRPr>
          </a:p>
        </p:txBody>
      </p:sp>
      <p:sp>
        <p:nvSpPr>
          <p:cNvPr id="142" name="btfpBulletedList196696">
            <a:extLst>
              <a:ext uri="{FF2B5EF4-FFF2-40B4-BE49-F238E27FC236}">
                <a16:creationId xmlns:a16="http://schemas.microsoft.com/office/drawing/2014/main" id="{E2126863-292E-4019-8A38-2BCA76746CE7}"/>
              </a:ext>
            </a:extLst>
          </p:cNvPr>
          <p:cNvSpPr txBox="1"/>
          <p:nvPr>
            <p:custDataLst>
              <p:tags r:id="rId16"/>
            </p:custDataLst>
          </p:nvPr>
        </p:nvSpPr>
        <p:spPr bwMode="gray">
          <a:xfrm>
            <a:off x="5703068" y="3517447"/>
            <a:ext cx="6258949" cy="534368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91440" marR="0" lvl="0" indent="-91440" algn="l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Shift spend </a:t>
            </a:r>
            <a:r>
              <a:rPr lang="en-US" sz="1000" b="1">
                <a:solidFill>
                  <a:srgbClr val="000000"/>
                </a:solidFill>
                <a:latin typeface="Arial"/>
              </a:rPr>
              <a:t>across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non-working </a:t>
            </a:r>
            <a:r>
              <a:rPr lang="en-US" sz="1000" b="1">
                <a:solidFill>
                  <a:srgbClr val="000000"/>
                </a:solidFill>
                <a:latin typeface="Arial"/>
              </a:rPr>
              <a:t>and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working media</a:t>
            </a:r>
          </a:p>
          <a:p>
            <a:pPr marL="91440" marR="0" lvl="0" indent="-91440" algn="l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1000" b="1">
                <a:solidFill>
                  <a:srgbClr val="000000"/>
                </a:solidFill>
                <a:latin typeface="Arial"/>
              </a:rPr>
              <a:t>Evaluate current contracts with assets in Sports Marketing to assess if they are being fully utilized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91440" marR="0" lvl="0" indent="-91440" algn="l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Improve ROI/marketing mix with focus on high-impact areas, test-and-learn, and digital tools</a:t>
            </a:r>
          </a:p>
        </p:txBody>
      </p:sp>
      <p:sp>
        <p:nvSpPr>
          <p:cNvPr id="143" name="btfpRowHeaderBoxText807881">
            <a:extLst>
              <a:ext uri="{FF2B5EF4-FFF2-40B4-BE49-F238E27FC236}">
                <a16:creationId xmlns:a16="http://schemas.microsoft.com/office/drawing/2014/main" id="{A25927DC-E503-4E2F-8057-D3385D4D2B03}"/>
              </a:ext>
            </a:extLst>
          </p:cNvPr>
          <p:cNvSpPr txBox="1"/>
          <p:nvPr/>
        </p:nvSpPr>
        <p:spPr bwMode="gray">
          <a:xfrm>
            <a:off x="2413622" y="3507585"/>
            <a:ext cx="1218410" cy="243143"/>
          </a:xfrm>
          <a:prstGeom prst="rect">
            <a:avLst/>
          </a:prstGeom>
          <a:noFill/>
        </p:spPr>
        <p:txBody>
          <a:bodyPr vert="horz" wrap="none" lIns="36576" tIns="36576" rIns="36576" bIns="36576" rtlCol="0" anchor="t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Demand creation</a:t>
            </a:r>
          </a:p>
        </p:txBody>
      </p:sp>
      <p:sp>
        <p:nvSpPr>
          <p:cNvPr id="144" name="btfpBulletedList196696">
            <a:extLst>
              <a:ext uri="{FF2B5EF4-FFF2-40B4-BE49-F238E27FC236}">
                <a16:creationId xmlns:a16="http://schemas.microsoft.com/office/drawing/2014/main" id="{0433077A-E485-40DB-B591-DB6475F0CB0D}"/>
              </a:ext>
            </a:extLst>
          </p:cNvPr>
          <p:cNvSpPr txBox="1"/>
          <p:nvPr>
            <p:custDataLst>
              <p:tags r:id="rId17"/>
            </p:custDataLst>
          </p:nvPr>
        </p:nvSpPr>
        <p:spPr bwMode="gray">
          <a:xfrm>
            <a:off x="4006019" y="3528951"/>
            <a:ext cx="1335643" cy="442035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~5-10% </a:t>
            </a:r>
          </a:p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sales uplift</a:t>
            </a:r>
            <a:endParaRPr kumimoji="0" lang="en-US" sz="1200" b="0" i="1" u="none" strike="noStrike" kern="1200" cap="none" spc="0" normalizeH="0" baseline="0" noProof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5" name="btfpRowHeaderBoxText807881">
            <a:extLst>
              <a:ext uri="{FF2B5EF4-FFF2-40B4-BE49-F238E27FC236}">
                <a16:creationId xmlns:a16="http://schemas.microsoft.com/office/drawing/2014/main" id="{F3532C99-4E07-4289-BAE9-EC31A4BAE46F}"/>
              </a:ext>
            </a:extLst>
          </p:cNvPr>
          <p:cNvSpPr txBox="1"/>
          <p:nvPr/>
        </p:nvSpPr>
        <p:spPr bwMode="gray">
          <a:xfrm>
            <a:off x="2413624" y="2852908"/>
            <a:ext cx="1080267" cy="412421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Logistics and distribution</a:t>
            </a:r>
          </a:p>
        </p:txBody>
      </p:sp>
      <p:sp>
        <p:nvSpPr>
          <p:cNvPr id="146" name="btfpBulletedList196696">
            <a:extLst>
              <a:ext uri="{FF2B5EF4-FFF2-40B4-BE49-F238E27FC236}">
                <a16:creationId xmlns:a16="http://schemas.microsoft.com/office/drawing/2014/main" id="{E8CE23C7-8427-4B93-B9A3-97C618DA14A8}"/>
              </a:ext>
            </a:extLst>
          </p:cNvPr>
          <p:cNvSpPr txBox="1"/>
          <p:nvPr>
            <p:custDataLst>
              <p:tags r:id="rId18"/>
            </p:custDataLst>
          </p:nvPr>
        </p:nvSpPr>
        <p:spPr bwMode="gray">
          <a:xfrm>
            <a:off x="5703068" y="2848327"/>
            <a:ext cx="5685127" cy="688256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91440" indent="-91440">
              <a:spcBef>
                <a:spcPts val="0"/>
              </a:spcBef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effectLst/>
                <a:highlight>
                  <a:srgbClr val="FFFFFF"/>
                </a:highlight>
                <a:uLnTx/>
                <a:uFillTx/>
                <a:latin typeface="Arial"/>
                <a:ea typeface="+mn-ea"/>
                <a:cs typeface="+mn-cs"/>
              </a:rPr>
              <a:t>End-to-end (supplier-to-shelf) inventory and fulfillment flow</a:t>
            </a:r>
          </a:p>
          <a:p>
            <a:pPr marL="91440" indent="-91440">
              <a:spcBef>
                <a:spcPts val="0"/>
              </a:spcBef>
              <a:defRPr/>
            </a:pPr>
            <a:r>
              <a:rPr lang="en-US" sz="1000" b="1">
                <a:highlight>
                  <a:srgbClr val="FFFFFF"/>
                </a:highlight>
                <a:latin typeface="Arial"/>
              </a:rPr>
              <a:t>Best-in-class reverse logistics to reduce cost of returns 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91440" marR="0" lvl="0" indent="-91440" algn="l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Optimize transportation routes (e.g., inbound freight) and delivery frequency; case pick productivity</a:t>
            </a:r>
          </a:p>
          <a:p>
            <a:pPr marL="91440" marR="0" lvl="0" indent="-91440" algn="l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Distribution network optimization and productivity improvements via RPA/automation</a:t>
            </a:r>
          </a:p>
        </p:txBody>
      </p:sp>
      <p:sp>
        <p:nvSpPr>
          <p:cNvPr id="147" name="btfpBulletedList196696">
            <a:extLst>
              <a:ext uri="{FF2B5EF4-FFF2-40B4-BE49-F238E27FC236}">
                <a16:creationId xmlns:a16="http://schemas.microsoft.com/office/drawing/2014/main" id="{3A5FBB83-5CAF-4449-A064-1E58615B24ED}"/>
              </a:ext>
            </a:extLst>
          </p:cNvPr>
          <p:cNvSpPr txBox="1"/>
          <p:nvPr>
            <p:custDataLst>
              <p:tags r:id="rId19"/>
            </p:custDataLst>
          </p:nvPr>
        </p:nvSpPr>
        <p:spPr bwMode="gray">
          <a:xfrm>
            <a:off x="4006019" y="2858246"/>
            <a:ext cx="1335643" cy="257369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~5-10%</a:t>
            </a:r>
            <a:endParaRPr kumimoji="0" lang="en-US" sz="1200" b="0" i="1" u="none" strike="noStrike" kern="1200" cap="none" spc="0" normalizeH="0" baseline="0" noProof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F154D0BD-FCC8-4469-94B8-BF31C807D786}"/>
              </a:ext>
            </a:extLst>
          </p:cNvPr>
          <p:cNvCxnSpPr>
            <a:cxnSpLocks/>
          </p:cNvCxnSpPr>
          <p:nvPr/>
        </p:nvCxnSpPr>
        <p:spPr bwMode="gray">
          <a:xfrm>
            <a:off x="2413620" y="4034394"/>
            <a:ext cx="9454896" cy="0"/>
          </a:xfrm>
          <a:prstGeom prst="line">
            <a:avLst/>
          </a:prstGeom>
          <a:ln w="9525" cap="flat" cmpd="sng" algn="ctr">
            <a:solidFill>
              <a:srgbClr val="D6D6D6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69B4DE00-F469-4EB7-BFAD-0E2323185C16}"/>
              </a:ext>
            </a:extLst>
          </p:cNvPr>
          <p:cNvCxnSpPr>
            <a:cxnSpLocks/>
          </p:cNvCxnSpPr>
          <p:nvPr/>
        </p:nvCxnSpPr>
        <p:spPr bwMode="gray">
          <a:xfrm>
            <a:off x="2413620" y="4513372"/>
            <a:ext cx="9454896" cy="0"/>
          </a:xfrm>
          <a:prstGeom prst="line">
            <a:avLst/>
          </a:prstGeom>
          <a:ln w="9525" cap="flat" cmpd="sng" algn="ctr">
            <a:solidFill>
              <a:srgbClr val="D6D6D6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58B79134-AEC8-4F8F-BB3A-3FC85F5685D6}"/>
              </a:ext>
            </a:extLst>
          </p:cNvPr>
          <p:cNvCxnSpPr>
            <a:cxnSpLocks/>
          </p:cNvCxnSpPr>
          <p:nvPr/>
        </p:nvCxnSpPr>
        <p:spPr bwMode="gray">
          <a:xfrm>
            <a:off x="2413621" y="5707630"/>
            <a:ext cx="9454896" cy="0"/>
          </a:xfrm>
          <a:prstGeom prst="line">
            <a:avLst/>
          </a:prstGeom>
          <a:ln w="9525" cap="flat" cmpd="sng" algn="ctr">
            <a:solidFill>
              <a:srgbClr val="D6D6D6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54DE12E9-14B8-4C69-BEA1-924276E63F6A}"/>
              </a:ext>
            </a:extLst>
          </p:cNvPr>
          <p:cNvCxnSpPr>
            <a:cxnSpLocks/>
          </p:cNvCxnSpPr>
          <p:nvPr/>
        </p:nvCxnSpPr>
        <p:spPr bwMode="gray">
          <a:xfrm>
            <a:off x="2413620" y="6420435"/>
            <a:ext cx="9454896" cy="0"/>
          </a:xfrm>
          <a:prstGeom prst="line">
            <a:avLst/>
          </a:prstGeom>
          <a:ln w="19050" cap="flat" cmpd="sng" algn="ctr">
            <a:solidFill>
              <a:srgbClr val="B4B4B4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C2A6975B-1E4D-464E-9402-1D77342F5439}"/>
              </a:ext>
            </a:extLst>
          </p:cNvPr>
          <p:cNvCxnSpPr>
            <a:cxnSpLocks/>
          </p:cNvCxnSpPr>
          <p:nvPr/>
        </p:nvCxnSpPr>
        <p:spPr bwMode="gray">
          <a:xfrm>
            <a:off x="2413620" y="5043720"/>
            <a:ext cx="9454896" cy="0"/>
          </a:xfrm>
          <a:prstGeom prst="line">
            <a:avLst/>
          </a:prstGeom>
          <a:ln w="9525" cap="flat" cmpd="sng" algn="ctr">
            <a:solidFill>
              <a:srgbClr val="D6D6D6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A2CC0F8E-9B6E-448A-B5A0-7AAC6FA0551B}"/>
              </a:ext>
            </a:extLst>
          </p:cNvPr>
          <p:cNvCxnSpPr>
            <a:cxnSpLocks/>
          </p:cNvCxnSpPr>
          <p:nvPr/>
        </p:nvCxnSpPr>
        <p:spPr bwMode="gray">
          <a:xfrm>
            <a:off x="2413620" y="3504046"/>
            <a:ext cx="9454896" cy="0"/>
          </a:xfrm>
          <a:prstGeom prst="line">
            <a:avLst/>
          </a:prstGeom>
          <a:ln w="19050" cap="flat" cmpd="sng" algn="ctr">
            <a:solidFill>
              <a:srgbClr val="B4B4B4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4A4097EB-C176-4C61-AD78-5BEFC4E683EF}"/>
              </a:ext>
            </a:extLst>
          </p:cNvPr>
          <p:cNvCxnSpPr>
            <a:cxnSpLocks/>
          </p:cNvCxnSpPr>
          <p:nvPr/>
        </p:nvCxnSpPr>
        <p:spPr bwMode="gray">
          <a:xfrm>
            <a:off x="2413621" y="2847505"/>
            <a:ext cx="9455291" cy="0"/>
          </a:xfrm>
          <a:prstGeom prst="line">
            <a:avLst/>
          </a:prstGeom>
          <a:ln w="9525" cap="flat" cmpd="sng" algn="ctr">
            <a:solidFill>
              <a:srgbClr val="D6D6D6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CE1BBDAF-564F-4BA3-8544-2435E76EBAAA}"/>
              </a:ext>
            </a:extLst>
          </p:cNvPr>
          <p:cNvCxnSpPr>
            <a:cxnSpLocks/>
          </p:cNvCxnSpPr>
          <p:nvPr/>
        </p:nvCxnSpPr>
        <p:spPr bwMode="gray">
          <a:xfrm flipV="1">
            <a:off x="2074768" y="3504046"/>
            <a:ext cx="338852" cy="1107171"/>
          </a:xfrm>
          <a:prstGeom prst="line">
            <a:avLst/>
          </a:prstGeom>
          <a:ln w="19050" cap="flat" cmpd="sng" algn="ctr">
            <a:solidFill>
              <a:srgbClr val="B4B4B4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200A3B72-F697-4DBE-9869-748D0DA3F6DB}"/>
              </a:ext>
            </a:extLst>
          </p:cNvPr>
          <p:cNvCxnSpPr>
            <a:cxnSpLocks/>
          </p:cNvCxnSpPr>
          <p:nvPr/>
        </p:nvCxnSpPr>
        <p:spPr bwMode="gray">
          <a:xfrm>
            <a:off x="2045234" y="5980631"/>
            <a:ext cx="368386" cy="436231"/>
          </a:xfrm>
          <a:prstGeom prst="line">
            <a:avLst/>
          </a:prstGeom>
          <a:ln w="19050" cap="flat" cmpd="sng" algn="ctr">
            <a:solidFill>
              <a:srgbClr val="B4B4B4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172D634-1AF2-4C7F-8EFD-43E4C133EC26}"/>
              </a:ext>
            </a:extLst>
          </p:cNvPr>
          <p:cNvCxnSpPr>
            <a:cxnSpLocks/>
          </p:cNvCxnSpPr>
          <p:nvPr/>
        </p:nvCxnSpPr>
        <p:spPr bwMode="gray">
          <a:xfrm flipV="1">
            <a:off x="2063028" y="2882232"/>
            <a:ext cx="332802" cy="1016791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7E24883-97AA-4D86-A330-12DE9DEAD3DE}"/>
              </a:ext>
            </a:extLst>
          </p:cNvPr>
          <p:cNvCxnSpPr>
            <a:cxnSpLocks/>
          </p:cNvCxnSpPr>
          <p:nvPr/>
        </p:nvCxnSpPr>
        <p:spPr bwMode="gray">
          <a:xfrm flipV="1">
            <a:off x="2069025" y="4051815"/>
            <a:ext cx="332802" cy="948599"/>
          </a:xfrm>
          <a:prstGeom prst="line">
            <a:avLst/>
          </a:prstGeom>
          <a:ln w="9525" cap="flat" cmpd="sng" algn="ctr">
            <a:solidFill>
              <a:srgbClr val="B4B4B4"/>
            </a:solidFill>
            <a:prstDash val="dash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6DBCAC-57E2-477B-98E9-2EC5F50FA61B}"/>
              </a:ext>
            </a:extLst>
          </p:cNvPr>
          <p:cNvCxnSpPr>
            <a:cxnSpLocks/>
          </p:cNvCxnSpPr>
          <p:nvPr/>
        </p:nvCxnSpPr>
        <p:spPr bwMode="gray">
          <a:xfrm flipV="1">
            <a:off x="2063028" y="4526773"/>
            <a:ext cx="332801" cy="589842"/>
          </a:xfrm>
          <a:prstGeom prst="line">
            <a:avLst/>
          </a:prstGeom>
          <a:ln w="9525" cap="flat" cmpd="sng" algn="ctr">
            <a:solidFill>
              <a:srgbClr val="B4B4B4"/>
            </a:solidFill>
            <a:prstDash val="dash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3533B6-26D7-4069-A7A4-90C7C801FD33}"/>
              </a:ext>
            </a:extLst>
          </p:cNvPr>
          <p:cNvCxnSpPr>
            <a:cxnSpLocks/>
          </p:cNvCxnSpPr>
          <p:nvPr/>
        </p:nvCxnSpPr>
        <p:spPr bwMode="gray">
          <a:xfrm flipV="1">
            <a:off x="2063027" y="5043720"/>
            <a:ext cx="350593" cy="330580"/>
          </a:xfrm>
          <a:prstGeom prst="line">
            <a:avLst/>
          </a:prstGeom>
          <a:ln w="9525" cap="flat" cmpd="sng" algn="ctr">
            <a:solidFill>
              <a:srgbClr val="B4B4B4"/>
            </a:solidFill>
            <a:prstDash val="dash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E960D44-2624-4228-A5B5-3327119775F0}"/>
              </a:ext>
            </a:extLst>
          </p:cNvPr>
          <p:cNvCxnSpPr>
            <a:cxnSpLocks/>
          </p:cNvCxnSpPr>
          <p:nvPr/>
        </p:nvCxnSpPr>
        <p:spPr bwMode="gray">
          <a:xfrm flipV="1">
            <a:off x="2063027" y="5707630"/>
            <a:ext cx="350593" cy="43399"/>
          </a:xfrm>
          <a:prstGeom prst="line">
            <a:avLst/>
          </a:prstGeom>
          <a:ln w="9525" cap="flat" cmpd="sng" algn="ctr">
            <a:solidFill>
              <a:srgbClr val="B4B4B4"/>
            </a:solidFill>
            <a:prstDash val="dash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itle 4">
            <a:extLst>
              <a:ext uri="{FF2B5EF4-FFF2-40B4-BE49-F238E27FC236}">
                <a16:creationId xmlns:a16="http://schemas.microsoft.com/office/drawing/2014/main" id="{E97B334E-FE42-4F79-B7E5-635715BE9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164591"/>
            <a:ext cx="11521440" cy="1097280"/>
          </a:xfrm>
        </p:spPr>
        <p:txBody>
          <a:bodyPr/>
          <a:lstStyle/>
          <a:p>
            <a:r>
              <a:rPr lang="en-US" sz="2400">
                <a:solidFill>
                  <a:srgbClr val="000000"/>
                </a:solidFill>
              </a:rPr>
              <a:t>Potential ‘dig sites’ to achieve ~$1.5-3B of value at Nike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2396253-2BB1-44CC-8496-39214796B18C}"/>
              </a:ext>
            </a:extLst>
          </p:cNvPr>
          <p:cNvGrpSpPr/>
          <p:nvPr/>
        </p:nvGrpSpPr>
        <p:grpSpPr>
          <a:xfrm>
            <a:off x="8545177" y="1028752"/>
            <a:ext cx="3306277" cy="241980"/>
            <a:chOff x="8565506" y="977312"/>
            <a:chExt cx="3306277" cy="241980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C0AECEC-174A-41F2-B7A4-D1BCF61C36E5}"/>
                </a:ext>
              </a:extLst>
            </p:cNvPr>
            <p:cNvSpPr txBox="1"/>
            <p:nvPr/>
          </p:nvSpPr>
          <p:spPr bwMode="gray">
            <a:xfrm>
              <a:off x="8565506" y="977312"/>
              <a:ext cx="72768" cy="241980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BB330DC-F7EC-4A95-9CD1-214A17DD67F3}"/>
                </a:ext>
              </a:extLst>
            </p:cNvPr>
            <p:cNvSpPr txBox="1"/>
            <p:nvPr/>
          </p:nvSpPr>
          <p:spPr bwMode="gray">
            <a:xfrm>
              <a:off x="9518006" y="977312"/>
              <a:ext cx="2353777" cy="2419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lIns="36000" tIns="36000" rIns="36000" bIns="36000" rtlCol="0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Bold </a:t>
              </a:r>
              <a:r>
                <a:rPr kumimoji="0" lang="en-US" sz="110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indicates highest priority levers</a:t>
              </a:r>
            </a:p>
          </p:txBody>
        </p:sp>
      </p:grpSp>
      <p:sp>
        <p:nvSpPr>
          <p:cNvPr id="2" name="CommentBox">
            <a:extLst>
              <a:ext uri="{FF2B5EF4-FFF2-40B4-BE49-F238E27FC236}">
                <a16:creationId xmlns:a16="http://schemas.microsoft.com/office/drawing/2014/main" id="{B02A944A-2F34-3BB6-8AAC-1D10E798106E}"/>
              </a:ext>
            </a:extLst>
          </p:cNvPr>
          <p:cNvSpPr/>
          <p:nvPr/>
        </p:nvSpPr>
        <p:spPr bwMode="gray">
          <a:xfrm>
            <a:off x="10748867" y="93290"/>
            <a:ext cx="1387151" cy="771676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B03C6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900" b="1">
                <a:solidFill>
                  <a:srgbClr val="FFFFFF"/>
                </a:solidFill>
                <a:latin typeface="Arial" panose="020B0604020202020204" pitchFamily="34" charset="0"/>
              </a:rPr>
              <a:t>SBN: Retail Apparel with outsourced manufacturing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211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btfpColumnIndicatorGroup2">
            <a:extLst>
              <a:ext uri="{FF2B5EF4-FFF2-40B4-BE49-F238E27FC236}">
                <a16:creationId xmlns:a16="http://schemas.microsoft.com/office/drawing/2014/main" id="{D86F2E28-E2AB-62C6-725C-F260AE89069F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0" name="btfpColumnGapBlocker574015">
              <a:extLst>
                <a:ext uri="{FF2B5EF4-FFF2-40B4-BE49-F238E27FC236}">
                  <a16:creationId xmlns:a16="http://schemas.microsoft.com/office/drawing/2014/main" id="{1EC90F1C-AA62-1E59-F5F5-0BA7FF5920D6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8" name="btfpColumnGapBlocker319798">
              <a:extLst>
                <a:ext uri="{FF2B5EF4-FFF2-40B4-BE49-F238E27FC236}">
                  <a16:creationId xmlns:a16="http://schemas.microsoft.com/office/drawing/2014/main" id="{CF44A279-0F25-41BA-1065-9BB145CA4089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25" name="btfpColumnIndicator586013">
              <a:extLst>
                <a:ext uri="{FF2B5EF4-FFF2-40B4-BE49-F238E27FC236}">
                  <a16:creationId xmlns:a16="http://schemas.microsoft.com/office/drawing/2014/main" id="{EF1B1743-F698-FA72-07B9-3C4CDEEB65CA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btfpColumnIndicator615450">
              <a:extLst>
                <a:ext uri="{FF2B5EF4-FFF2-40B4-BE49-F238E27FC236}">
                  <a16:creationId xmlns:a16="http://schemas.microsoft.com/office/drawing/2014/main" id="{ED3AA91B-39A9-C5E0-B674-BABBE4A3D365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btfpColumnIndicatorGroup1">
            <a:extLst>
              <a:ext uri="{FF2B5EF4-FFF2-40B4-BE49-F238E27FC236}">
                <a16:creationId xmlns:a16="http://schemas.microsoft.com/office/drawing/2014/main" id="{D131A2B8-B968-04D5-76C3-EEFE43DDED9E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9" name="btfpColumnGapBlocker967584">
              <a:extLst>
                <a:ext uri="{FF2B5EF4-FFF2-40B4-BE49-F238E27FC236}">
                  <a16:creationId xmlns:a16="http://schemas.microsoft.com/office/drawing/2014/main" id="{4068A3EC-66A1-84C3-FF52-E5D332D5EB98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7" name="btfpColumnGapBlocker131393">
              <a:extLst>
                <a:ext uri="{FF2B5EF4-FFF2-40B4-BE49-F238E27FC236}">
                  <a16:creationId xmlns:a16="http://schemas.microsoft.com/office/drawing/2014/main" id="{09D317EE-1CD5-3B9B-AA08-17666D7E54EB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22" name="btfpColumnIndicator846794">
              <a:extLst>
                <a:ext uri="{FF2B5EF4-FFF2-40B4-BE49-F238E27FC236}">
                  <a16:creationId xmlns:a16="http://schemas.microsoft.com/office/drawing/2014/main" id="{3BCA2FD3-DE6E-CD65-70DF-373E7E73049A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btfpColumnIndicator213656">
              <a:extLst>
                <a:ext uri="{FF2B5EF4-FFF2-40B4-BE49-F238E27FC236}">
                  <a16:creationId xmlns:a16="http://schemas.microsoft.com/office/drawing/2014/main" id="{9DBE5AB9-D213-BEC0-C5A8-D168CF268BB5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" name="Rectangle 155" descr="Enter Chart Description Here:&#10;&#10;End of Chart Description&#10;DO NOT ALTER TEXT BELOW THIS POINT! IF YOU DO YOUR CHART WILL NOT BE EDITABLE!&#10;mkkoexcel__~~~~~~~~~~False~~False~~Falsemkko__4HooU0THZk28POP9trq+pbTvvzd/gcV8t56cq85kb3NDTsUhojRA0EsgEHHMH7oYP1SYpn09ysXVivguJdhTvfyVMsBLTGvcX7WPTor/CmWiWcfk2RmY+GE6Q6T90sFUr0lg9IPP9y8umrse/9AoLT5R0GKq+XM9pr/aTyOTf0wptcuHbHxeyqBm9svU01qeeEM1v0hpSHUgirOnAK/wuv4jpkCPk/1EymUCoOilhCOi0N//ymBKEcMqL3yldzUIb/8o1Q+RgBUwiRCBinLWScMKSfX+ml66sRIjzYEb+6yX8IeTNFtMyOh8Nu21H0HPzegDZjQl7B8tdvDHGDFMJFCYS2K/r8j31oc4MVlFSb3R8E5W4bk4J+Md9qTSPTWjJve8eGFjTcynpjPP3Ol6vVljgSCDVNmpRsCjYtjZuxt4gx7C0YBQXSqoVR8vTAqev4apQYTeRpb3+4ZHYJqYBIUmyfyaSvuro8I/xRvnjXJBJorfnYsNb5ae/zrV0GLf4WVDuYPnLWWFJYaVnrXaN5rqHrezhDgjlJ2XkIOSy84btQRX7M3fSD2wqMSknm67FE82f3lzU9flR6UYyflgWZWRrnN3KDSHOaAMK0Eyr5SEssWBaWrzpk8K6XuHFnTaWX11gcl6UyTy8f3fWC1XoBMooYD8JjVxkRkZDYSoh4qKE62zCQ3iO14jm6gxJCc8o9/ipLIqlcFBYJ2I2PNjK45aERao5FyhPqqm4mmdiJPMpGmQSIxUctrieQ8kmCoMKXn0fikenhyWW7sysjEHVk8ONuccluBGGp5VHT54UZa7eH4IZCm/kNoN1ktsU7mooBFZZ2s9xCn9kBPcoKyzkjlWhEL68Qhhm1PdS3deYOnHbSDEbhYL05awaLhlB+YkFkhFBMzPpD1tX+gkQh82A6KISd26tvDdBIX++V9USQii4qYP5cy/26UXfbe4Roy5Y8/N7MoqvluoYj4gs4xctnlZ+Xm+ZFT5laU7JgaE/ZuHsf+Oe1qq59bQn3wL5Fzm8AGolWvRlEXveMJa8QvoHBjO6RR/ABDpuVQgy37HCv+2Zd+vj9mctyA8R57S9H72hNEOIjInzb+hsTRl+GWalVK2p2VvHdE9BBLADV9Lg7sKzfpkbprPQVkMWrcoo5jBeomEyyTVZBoBoWfLrekEQ7AOfs8m4h1zXkbLCdpoIIdW/GRLlBBf30pt2XKELexscpiZ6zqhKEsgryIQIRZuDfCjYxal84q24w/8Ly9DzfertjNVMJYJU3WOy+ios+Zo5cy7RSRRyTwBDsBt3AdHp+Suaxm1XFY4iotCq63RFJvTaIO0IDA5ObCPsN3YgXExJChC5M/ct8rkYRQx8AvOdJloAp1MA8yIDweE/sJueKCWTblcYWBFHJC3toMdHGTe1BZDtyV5y8iby5Qfx0dgEjhJ6k+jpH0o8uSHlDBFjiXkAuyz3Y4UCB27dVIf94FkBvFtREZsopA568R3Luqu4FJnmUyT7qkJmimsqUOBOq667c4Bqmt1wY/1zL1Z+ZdcMRn13SK1L1XKHH+x7qlUCgC1Ic8azpPwIeq1IwYN7vJ8LzK9XGu8vMQbabbagYMpBuzPKoJ2cynBKC3onYyKmfuBUejWwPFwOEJbxob11sQt3vSBtnkpmkBA4UnCvfYFDXEU3MIzWkauP3ljKq/AIwb0UEX+ThCjW/wZfASvfkZ248lRSWfmDBRwvcot7sdsCVmgPPI1xBh+P7o1y7G0/V12McNtjxEq6vKfkcd3qPcZiK1b5dLV8Mj6PM/SM/MQYwo1OLQaSWFPnG7wZswFydbvfYSluLu3YIOemzp10ZwO8QA5bgHrY4sflDRI/b+OzCuF+YWpnIN4hicH1WBCrh7JNcbgKL2aTW8cpwXQv/O70EJBtD7PYkWo/wUC7bTY06E+4zP+4vApghaxibnqcICmyfbHe1Ar70Lf77FteGkW6mksbpFlhNDqNIpFszByxyJ9+Cy2u+T050h6MmWDobAyTbSAWdMEbyjXjuYk15JX4aGYUtAuRp7PKaTRa4uJVatcr8UhhlHTi9Sg7IObY09+7A/BgqjBaDbjBks1WiLBuNk7jrwOob7QeNDITnflExnQi3dcmXA1vPg5Nnzn8E/GSwWE6gJF3+OPmqupofC440NqnD+pg5SMj6kY/OoH/b36Vl/jehuLTLdJMWYWOR5fZmtzR+YjS3eOdb8qB63fUaryksc24xqVgGfi4ByvYtnkWEggABl0f6+2Fd4UIqBNvRuWypseItaDRAKqa2Shjbvqct5MeuOujOesxIHwzlnPY40EfpYWAwRFF3YaDgv/CWrW0lldeo2kMr0S07n9I9IWfhwZAC4u0iMvnlb0d9fuxpBRc7GvbFmKHXILzKjTaYQ3g4haMEYY8U7Rpf5ww5hMB21CyQ6NOWWqLqLO6K3pvzVNWVr5q8YNRKQ2ZszGI+N0wJZEIAvwh8P/JJGRZgnuN58vAlRXNUP/HFonDtYIwdyl5Unmm7dosHgpvWUVWQssPcY1odJ/1OE9n2gMq5Lnb7RlDwSF/fXbkAuK/b86R6Riejqb2sb3vrHs1aAwTOihMM8LyfcPb3emr7n7N5BCB6wbjwS5FEO1eDOlsyNpipZv7veXpk+9Lf4EObybnSIfpyFj4Fz0JtilziizjHIQhNes24dUOyvfud1ePoIbOuDrhpZWKuRuFV193zC7dnjy7GO4nW2g35zOQG3KXADvMfNz147IrC0VCQteF6DIc3DZAlA2ZOG2OmecfegxByFaLF4yKmonY5IPBMnzx2+qdcy6u6kQjRlu0c/mz+M2oVGst+V1j4f8UoTyO7iwwr2AsO/FYQnT+DmB/rnMYn/BG7SojuMsuK7ontqLF6fo567Az5vfTkV62zq5owBleDxxIQCc7RLMSALca4Ko+Vrqe1TfZy9bSk5mrzkLjh+Edw+JqX/ZkqUSnipOaliJhujS8/Gge2MoTp7WGVazweVOtWBcC1rYbv9neWh8JAlqXgKG8C1MDxKoxvTj/EI+98aMrdGx0Jb8PqM0rTikabulDKs4bY0LJ+M9b9ien0alMHVFge+/fFPv5V7kFFRT8TzYYlWbmIxUWP2ijj+q5UOeqz0RzQdmrxqI4Mi92psSCZVpx+L4z0ZT9kQFNlZIRbIw7g4qyzUvDGp+h3d/f+gZHCG6dkBu9Janu8czlR7j8DOxopEUfarcOG80EGotERCz6UyGpgzBmv0/KLNGkfWKIml0fuJJPMnilPpsPl+Ow9YPy75Gav1G3d+0GBxHHqFoQt1AopCNDjkqxlIM7j+1AZXWoBVmBfqTabznQoeUAlMXNZ1pnyxi0hJF7p3WDS6enOQwAB+LyBeOlXUu8Gr4oLbUb1tItYjgzdqX9IKBWZvk7/OrcCxvyHPLKApiAoXAOgjiepC9uCSO3WDLpuhGob22MKjYkb1sieUVvqzu3B2Moq++sQq7mWhx/DUMKHEgw2WCLXoba9wICTbTwzBGOIru6s0T3u41toRL0djD1H2DMp8GZuZ+ujSjgBSG3y+H45Wlrp/BSYtci69mlgNGPv5FnMrxnV/8hkzbPL8PNNJMJ/oVetEmYmagfqbb2Pe4m4G+tpz6TT+hKejxfD+esD/B4Qnwyrb+8j995+eCaqN8MxpL76pCCQNdLIGGfVpDvFxgfFSIhSyDKG84vho+QJpiToOaKKw5KwohzPMs88TK2+ypSjZbr2w8+vl32LTvye2/q27S+b9W7eAG87Rk3RjR5RJIgwrz1O8pPqtwrfw35IN833lJKUGm+oEx2gga0gscWbye47LPsYpaNN8FB3CjMOgYORAfAsJpllqnZBbref7RCO3qn7xdDQF133HnPEj84gzmC6lGmYTZqDQrp3Q6NDumyduADRXq1lpEfgl6BivzRim3Tm192ItOlKk6GX19NbR7nvXNI6gBNR8oIidtB6apvV0fdQK1k7+xqcavv+G7q/XrtZNQb3w8YIps53haFC/O5WAOvSbMJgZH+FIdP4OAy9MI8EHri2wUjbszkNMQZyArkpFY8022o1NUchvIc0l/eoK4bc70Dk4mp3sic6CX6EULdiYd1zuEBLb0inOcW8gWCxUhwiyDXt9YZd5vaiWq8zB2HSTMw4TXLHsYxexDB+S2BYUffTWWRsKYYMjojNIs8n+goBK5o9bR5dAtSMQXEqTYM4TRsfuvdpfwSyDxoQLZ/ASeQxA2KiSfTTZOU0QLktjs4x6ArRSGDI4Hw2eMpDQuKsg3od1ZjAirv3HK3pdS148SPKZPfc6FxqU+6kBrgwQQvLD7WmrkbF+OvRMHYTW4w9qYs9o4Mf0O2xsX7XuGJLv2UPV7/ny76LgHvl2PEeC3dwU58kH1l8TLcEKO+cvQW8FckvS1aWDhhsdvFK52jkKoZ3tEKBmOYZZ+HzL7bmSF+3GnmBLQHW2Llli+/VjwMjfpNcfsrNGVGgPFyrWYUYaUbF3xC9/G2uU74JKLz+Qjjcz0/ms6FJTSdGk9gIPo2Ra/bqdVBY2R8F1w9YkC2XQDtAJpoxdJmMUSJQh6V9NIXiT4FeY6zS2I3Ba+IQ0w9xN25kWvj7NhcP1DailGkB91KN+zz6qVSLmEvkaR0kidgTCZrxQCIaleGRvA7sJ/NBgl9J4WHNCUC3UUd2bMe8OsQjdAJfLaa48wk0awdA+IXVAflyt07mR5z87s8xQ5pyZsy7GcC6GL741ocmbz/y4g9VM8GxES2QTf3xXCpCzElyrQYY+qrKK4eeM42nt4Tdg1vuBQSxjK9Ok5ffDTt2lNjG+sS0MnR91gxNr8LZP9q2aGTKQTtGUpzmRKQC28Yr/3ZtGUBe5FKUg4UjHszL3Syaf9PMrFN7aSuNrhAcbZjVF8O41oE7p5c5tyGNlDri9xYKfBh2hKYh4yUTyBdyhb/FbOIQ5zsj1QSTEVZBoiGSLF1aqT8SMxWq4f4FIL0HQcqm+ZY6sFc7rHbFbm2DE49TWx16gs6YkimqOf97ixbHpYlJ0mPPot2+kjsYDHdJ0keO80UInTkLDWNQhecIX9ImIMI3sKAQCLbe+yRtL3vMpjkwMonpSjXUKh5P4f3OnL6jBnJ7q3Xmj100LN9E43vi3jes7RwSG29ksJbHgDWTBQN50arPj1OjEBIUBY1pQ57hv2VKcXFUvyBOqB/txcOJGn8/03MsK650EZbOGJk2i9md7vHWr/ra9SQhLXWxIrxw4913lYUj70oKY+t5dU8APQS2zjWllkU/bqKjN7TYph8SAHudEoWb559s9QkT0sV4utJk/zaCPOCkJrcXNw4gKYeJ+uLCWFyvSWbXbSlNX7zkWfhVpMYlCW2ZbhKOnR7Wvq/ramqrkPiuyESS3VND/fE/9U8Y54baaAhWKQ3BqdZ3IYqYZi62K7FdGRIPopscij5iQDfgg5XQP/HKXoVjvwNGr4JvnZDrm/JsKqB3rIp5prqDPryQcipqRZyG4uxH6aZiwvHQhKIndYA9QjH2H2iU7IE/XxFRsYbmvZAR6xmqgMwTijeR7dQh0WUVq9f3np2WOqrkNzQZV5Qpwa928HxO+HiIoqYOqoXNLqZNRTeWpVlJyAwsf5Dgxm/jsvFva54pjdG3ohgBrVyCByrCobgsSm7sfSu1rZFvoKils8ABX+eeeYkE8q+fW2j0pXk4L2yZHNEC8YGtOXU3Rq/gwmgDJ8cb+ISll5VjukY+CRaoYRRnFOhK+AaRGVgQnek4Y2yKf+YxzcAqjxEAtcCFHA6bT3bYudOROZPBrzD7dEyzVlVlkbGWyOgaS+PrYmCXj2lIUht38J4dpAvqYbjbWxBh6rKBDA9xdrebhxBt2jq05V3p8eu2+jYvSRutCu+Cln1LwMYY5HhkrPonceFw8uSk6hUIVBZ+0MJal/ta7KTH6jfOQEoOvUaEkz0T+wGez2PcCohv+YAdu90syx7OcQdGJKnvKlekozLY4FTm75ulw2whXyaNWMjn+9i5QVCSryYRJ1J9n6AeP42X6mktVbYUYaAETEbqJPVyBDJo9v3GoTn5Gd2MRbh8QZgw5WXIOYX9ir85DY8LX+Tnu6Q8ovq4Mr3AaG6BU52klPISBIKrZxJydA9Utz5NXCQlUN+HqSN2VYGCzk2Xfl8ZNBGH5IypE9oN/SH0F3FTN30euHwh4HuEbnuTKF25aqSSvy/ogxquBRTxCUDeOovjdfREVf1oFbX6wK5DHNgxI1jT0PA60j786HoikC7fSFWQGrijxdzHuVRZyZqrpdQ5EcMphOtaO075MhcQ8pWZlHOvRm8HtU4QTNgNTMvMo0vTioB/C7jidPiaeemnMXaCoemH0r4d19eRsOA65EHfoDyKp8oCgO36C5jCAjQIJbbGs5WTmbajYgoLrYezVEifucal7ApOo/SJe9egbI/XwDizLSh4qV8Ec9Gotna7nkUcI1WNR2rXzdvc6ajSCw6+o2y2eio3GiD/pGwvpsAsXoCaxWkp/Rz89PN0Q4T+XAJoEfA6o1piO+VWRd2/fng+zCrtiPHFd3WGNZ8Hp9C1zHw/OMuLmQ7xCXE/gtZvtLsOBTE1dngYB1e7uBoNhBxZ8PNtHG2efFMWyJ0U3dTvvoTzwDOx94uTPVEFDSKIOaIu3CbWMcpgxpWUsl3UQIv8mHGu2Cbl5unpUyUVheTPSsKlL0VQR3Y45y4r4i4TcNv6jUPa2tgXrclD0EEHIUXA2LD6m87yGGzjqAVZC4B3LJIZkRNxiQPaRep2KEDPgrS4EmkAdK6J1G5Mih0NxPBgxUGGBxnm7+OkO6I20u8JueBFlEFoSWGcHI9Khf7Q1F9cQbO+SI5M9I4jzx0tkVexNntFF7NWcOQoh65jmKFFZ4kgf8vBpye1ubIXmi3IbbmLA/ixQWHnUPTjqIe6//YL4vC0IjwvOEKYMigkcL9iB6xBrxZWM9qS1l40dV1398iDa7b/uhJqB3Tzxhnbk35M5TdicU9i+GBbaE+7bvrLfXSkKpSaF02wldHxO/G9YqI3ekqMgc0x1ah3VnPh8V0bsnLyfz3POBNFUqpAg7utKn/OUKqK9l/dGsivH1rXoslUpn66Fub9YJFygsWP0lvj1H32Lyu55D2xSOBrDk1FmBNE/3fdc31dODxQT8rDtMtKa5OkoMndv6Sbp4z494vn47i5mIvs9+RJKXRt1UHXg4EMrI7wkCspJav5PWK3RwPQj96t4iNvU1YzzsiaV4LWtxZUWh+eiTuyZym5tN8Njbrtmx47+1i03RuhwxQ5Rlh6hPhuPMXgj34X46yA3trtms6GMa8qLtKn4rC+ReypTT9ZYqsZKrJ8nK0oOg2RdadwG3s2083ztcDuNpbdul+uGPN2Ubu/PXZ/go1T3dH694qJWuvzAUuJ+R0JBK4TZ8l6nv/xASNNhPeB9dG3bs3OiI6lI6GQTAdNCGLJvTTCUpEJwzvyx4PyakJmWIuWJ6qv0gTb5oq47CMueUk8VhbyJRHQvfjPN0hg4eMrbVCIeDgoFbfjnD+UuBnF5gwNYXtOjQUlQERCanZM3slDf+j6xr8h3DwnETdEzLTu4BnC7JpvtP5F9gd4SIltLYaoXU3WcNkTxK2IK/RnarCr/75H/N0aXvySmj+TKPjs139M0h3EdkJBBbfneGmFXDQqOdbFmGev6c7mc01mjwDRsL837t1KXiMw6h4bpaqRO9x/ZeQ/r/XgPs51mf/3IaayUCQ8447HEwpuLO59fm3kTWk8VoV3YfBxD+EHOthrDAJ95PF849iDJaxYKe1b99r6v2iQtjm0NiW23Ws2rN0nwlN0gYy5bU6w/JVvf7xMnFcEcZrFVZY7FjRMKglqCo0LRpbgMGdTZXGLrG+0puX8lHlXv42w144nXZEWcM74Zu/iIST4lDBTi3xtvIVPIgdaF/dzck8nw4JtkuVyeTurnOkohHyAPhs3eYlOZgMGG+GTluVOcAXfTwlcYtzE8Tmm+hjGQndFm7VH8FQPZIHDOAHjqFe5Bdh+ascSbEssQDmTkqpLoUmTnt6tPxdgLem1bSK++ylCUHi/yiXk+a0FhkW0aPuzxWpnL7dPT4O1yDXE4U92cJWGhF+IYycBgjf11EKKwh06++ekjXHbm6RbLHV5vZcFm2Kvnxe3rvnRO6NVKVM8I7B1oMT3k2SWhhQwlZjlHdSg1yn0VEcpHnYWI/fkV4T981V4q60h9g0s4LhnxKYMYE9/MEoPgCBsDfO0xc4cEpoYN5Ge0yV8vZGrTsfa/281yYUJQ/4d3nu/Jr3HbZ6mOjr3gZeCRYy/P4NgYZPTga30EvIR6jFgAOzgUvpkEjMLhO50aSKET55Q0DlMwKm/J2VkNUKegWae06Qucisdqfr3Dl4/DauC0dsR4yrsPI+cOE/Sts0D+LylgMBfqkc4ZM7vI4FyXqwrFGq8NQ29dfDBGEt//i3QNk4POLmXLWPloBoGbAg0gPK/tOA47/6fsYHRr3m4k75ZmZib3w4hbnKetYYJS8ga5JHoqIvzKxn9GUKWC9IITPKq74Xve8SIJTlTqWzx2KDBEfr59xaepFtvq13b6s0dIO/Lo/wpRmcGD8hnr1aWHCUuGId2BjXIADZ2b8SfuuiBC2rxN5rYPi2XihCgWkZPdKjrQdFmWH5z9OlTKntwwORyQVoUq/9B3Uo1XMNlGN0taW9nS0Smgq9OkWZsNIw5ImjPXXAktTCVYGUyvdoyloIPyvh9WI6RQzf/ZqYdj4xaat3yoXXLdGlapucxzNCjPXHkbGoQcmD5DNnChcTpU18SnvfRU6Y6ZhpgHYTTEKMgPeYW3/wW0Mek33KzObDha0FzcG1LK8v7xc1W3OAQlm81hIyG0Baxem2fbS9y1yJ0Z16kwGkS4V9185qjBrUYHJt9iAOkwUAf4ikOPmZd/zmtTCsiNj1Jo0ulMZ5CFLUDSYm1vfgf7X/QcR0AmHvRQbQjHMeRPJo5iD+IF7MvJGx7RevgVv6rS9vPgz6Bu+PELLl8ZlqjFriL/fPp0u6hN+tA5jTpeAOjrCnjr/ibVgCiKwkO4xiKQCwAjkBpc7YKNFEsQXyL6qKINp6mgDYSRXTxZamcTgJkQD02o6YTvsGVwhJtAbB3mw4jj0aHdgGrpv3T8WqysZ2k7WYhUMryQmre1XKuV7cZ2orW9pCCxF5Qh2adox5kzrF1VOIf47/daV+W6yRxsdC1YmXFjOBwSdmdVsOd7qfw+fAMeEvicrpvaiYk3DjpRYeUfjeG0usX57N4KHVbE26AZ39Sa3x6jHcK8dWW5I42+dKD9iRMEz4JGN/hUIDoVGNdHB2zlL8g37VDxZv8TqPi/J8KIBS88J4k6dULpmjXbyYCIfaP89sZz0zhXulFL66kqVnQnvYHgMHJ+W6TrMYNuwvsYFvUMUSW3gIDqiC/07PuCLNV9RmjwGA05YitpgHwQSVEhV3yXOIKoDkq5tRhMqgvBtXaBHamliXkhGJR5GOYWrWam+I/S6KrR4Kq1cTf+/UUN2YLhf7qJiTFwyf8dj4GizExM/bEjThaT/icnQbPoQd9+pcB2uZZ14cFODt8Ziz3Wxya1xY8abFa+2AL2jAKBGTm1/TZvZEzJfN2TRPQ9wmD9I/4gGCRXYb6z5+yiqr9MmJln3qF6o8lBPo/E9h3FzXWFmw6L5LheW61Am1CJ+2LD4F5jww+DebiD3P0nb+lH5JWte1oi3E3fSv5WfN0TmIo1nsh7uiwPtsK3BfqRR1RFeqfejwXoyJWsIiC+GM5MNvLHnuDiu/K90KzN85TPm55sYz97GF+5ccB/8LyaARIjraeTOoBOXZ1St9CWANm/zA6Gc7ol2lHODNDKm9ZCy4ZDNUFFZJnx8S1yC0ZQHNaKXWpQmpgx27r4BAaYYp2d+p/sAxpZ2Ib242ONGBslPbFVTJH4/qHmvRxc9Xb8MZOTGkpgfHqjOO6bh1S1bGbbF9IoINg0ghM8HpkzQoKjKUyx9KIAGinEebCRwR4FpfbsH42seTWJeuQtHYvTL0Fglc2FoEAp1CveRPi5VzBv3xtiRHRCYTqPjtyxDH2fz4lEQmTosw38J8llWulgJujBQIYyIjmwyenPUvRfpUbl+hmkt02iwtPtDwnHVYJqOcLXZWbAGlYCd7FYdT1xfD/9ggv18l/VZUuonYn524GSRrevWO9I+5BlVU/7XnfnfRCaKiqFRMYKGRcmxsvssxtltB2GZcuVGuM+V7WrM/VHjZnXLOcaxgdm9pbCtCEaXs75Bku7YFpmFffDUTENh8suJnWtmJ3Mbyq3e99mpF7Jci1VsjZ4bgIVsonDsplLK+wzeKbULWz61puQ4GRWzVSDRouGNaJrQSZosJK20AFjlSJi46fPmbCJJYyXrIuZvD53+Jfiuo6ZW4U/+WFuutz1LJ+98Y9mOfPk6QwuQmkoZ7y/u4AJaWB1dF9NOVbkC0xhqfUlx1E9wBwKDNRkznRoE22quWE2EO/QvMRj09qnHZlO3I6cUBQjmWUDedgj7x9UgfC2F6OibDtUfkJ+bSYTn7w9DBR8h7S4zuFZtRQFKeBoj5+Gm39NObeXozPq9Rv4NbEcJkpTtju38SE/q4Rait9mYue72tLQdNAz1zurZTZbCBzZch2w5mhzb0VUUvcMGHuxsfDmC6cp5icSdXiJbKv83GUnqV//yEdGHyJ7qf3OX8C/g4ueN834t/6uhF9yPLppnOSXt/1s9Ob/TBq7V4fzd5JQj13JmGJnICAUArvxYZvs4Lu9i66xDS+gBKKiDxahc+2j3bJ39LA12n11J1Id2hA9dxLVNQozAlQwlYi+stRO3N+sTyV6nMfc1QdyXuNZPvc2GIvSRW19hcN0HUXlvaMdJLeJXwmgEdEs4w09CqnNraPob5K6CrrBRB50DyPOPUMdQKcJbPQFGFNjxJBHvD/2A+kPlk0bU8sNSjxawCn/2zXubB4yvYWB82vnT2q7J/q5DKYB4ooQheXL6P7+hiZ0CJkn6MECVa/XXdlztsWm7JL+8Qidw3xY9vKSZ8CEQx08mr59iTm2wMhw6A1youqynhXQPwNAlS9ZLHSdUoRU3A7bMtVnbbumq4L+YjPGVYO2cBwj2seqp1OSQzZWadF5M5AL1EuhO+KMtyW4oOEVZd6az2cvTVkQ+gHY8L62Pg7NTg3isYj7FU6gY5CaPv0Sr4l28r9SFDROaeYNaxyBrD2RiMZChdS2PFjMbUStDCadqmquZt+EOwmkmCAzOJf9nAzb2t9/sEHYOHNzTH3acXZYSYgKABSOek2k6spqh+cym4zeaD9BYEd/C2LcwfQnMQIgO7eByIXgaRRfm1B/Ssrz7pkVt2KxuaqGZvTNgpQtiWx99FtjWBg9Y9QMj/8/JVjyMlmU/+kuPJsgQLqSw4CvKnxmQncjZm1xgsl58p7B5MHh4tYEDfIAm3PQGL7SZoCjiAcfv/jDerQZxvmDofJnAGWNq0cZIhAWZxcVtVh737C/5vOPbdYvTxFCL+B3LVYnTHnNdUzrG0d2eU2wDJP33J6O/cCMBhMqPD1Lq7aacTxXzKVfhjbvxs2gCXxTY9I7N+U/UzzosLoP3krlCsy6MtAJyn1+7NltxLruDtDJjzQc0aSDlaAFHsUQdqxW2wtZVEXNfJvQGganJR76oVDZHW6Cku3VjSoLQXg59o4RjgP48xGASTetiud57TOaPC9dBCMXi4ehcSHy/ySeX16YvvGflOVEf/0spvYqhVFTm098rLTXublKwkG18sEeVe/a6q9IUCFglAqIlSAkiXNgUhFqYqp5o3ZUddJ42Kba4zyWDp+dHQ5jUZLxhUdme6BE5vWh7eoTpckftC3k1r3VkbeJEb5eZwWZnSbmIwUvlT8xKhriEwRZb+RsqdjpHYb8+TmxEkE9fwaAmqOgshhLC0y47SOx2lzbfNkLhAxkGgN2zxxSyC+nOQVWvNJKaPK/ha9tAZnbHIu2D/92FC2+2T6grmc7NiUj/1GkcmrIUHlIJCckiJqAQpWSatdjMCL/GaunGp8c2wwutuaZBwm9GN7nhdnOZDW5fb2WJW+9Ffb5kWZwlP9u3LUOZo70q7ifmlWkZvoqAL103FJ2VOqxHqli7eFDmQNddfkUFo2f0w8V1CZfbaDjRizUiE+7zLPmGAYQCWUbmhPP30L/dZgpzV3lP42eTac06IPAaMsyuTmTsaJK5aJNXMnt+NvgcIL2VqqfoWUMjK5F9EBdSIUPC6wvLwwxbtDN2Hm9OJ6i4Q4WxNACS9USIaHeYokSLtklcFrLYyhZYNd1HddawrkSOAYAYc71sNQjpcdX6L5dwAyho8BmZgDNkGyRr3N99hmHVtd1xzebJlxLZIoS+76P9udHwaJGt2AmDobfJg0VE/9hZrlgz9dql6JktThl8mUASYCzkkXIlbss/s3vM5xFtbGnVI+7+z6bt2hzoYuiqEgptJnvTjQMmgoKyiNFG6NiOacIRgvX4Pj0Q3mJgEvpb1RPoQ9I/mdoKd+heEWJNP/SS3R7Wf3PfwMEBp/srftH6P8jsl3fIkfo3RtyS+gIL8kVe88iLQOSiV/KxGqQHZOFZbko3TyOndVBxi1XABcjYoFDW3fnKnaqDDQI5w+5YJYDIBVrfKJ2zHjHC46cbXHrM9y9+iCCZXbG3QBXbz8F6i6CSm1Q+byCoPNcWYAx+szud5CXWy+/sPYGBcFJ7KvquhKaiVAiNY6RBuAwbo+15oLAPozCZY6BnyIAv1GIFpf43BOt2WHXm1xfEu2CxgTCG8viK/mZErBbAzm1Y47GY9/fWHCMByvOcJ12XZcHDy7eFoL26ThGnLWJM+IbFgbRTLW1cC4N2l2yWnmnR8rkPu1ZzqiVB53W2/BQvqbLG/EPe8CP4AVRjKRuuAPybnDhVjZQhCSCw+Efx9v6k4AnTD5o8pQIOpAgxpbaOqkRnqZ8/itxRDJE9NJLRt8CVDUdF+o8Ne/x055bj4FSjt2vBfmBdSx/2iAjrJgMtMvPvJtTByHkm0kJVaIwI4k/eroJcGHT/GSwnhR8OcrVbXU7ZT480OtTAYKQoksxd3LFkYgFPznvc0iEahTi+aOtfpZqLAeliKQvz3PF6tgwvvgk1ADotA+KOuhQHxDDS1Mvacn8STO/uZBmgRLRg0ey93Pj34ftBJCMZuo/3pj3awzMl9DGpKETnHYbUsVbTeMcjaXkohqDmihgPDZrXmpTAuFjSxKEOcqKmbqZjOqA9ME5ZUGhj/7ad0Ubor8gC4I40l1ukzsnK/q55/0ar9kX2GwHLS2tfwBTZZtbQxan9M1TA8Feoc1d4IX57iQOMfEacmsNdNIfHWdJ/BEwN7bES3tj4MoHo97rRkJ4rUux+lC0etW2+MYuSvngvJ76Z/QrvO1cfTaRyRQyg+NI4TnFz7pabs9bhr8xIx23TzJPAFe4DBMRbJLBtfZirDPbJxuswhnf6NLwNr2vhexjgTchJ0qAzrglNugbLQARwdshJ8uLsizm23P5+VAJYlcaS02ku8B37+5PIZk6U5i0M5lO84yL1qLiqx+3606HYkMpDg3g2DQ30E7NYDF/XemAELkzO9I+vgvIiFLBViwIsdwMPzv1Ix5AWi9JUSDRWB1cRLDQDMTrjyHfLFLdMU/Lge/daM1auGQE1lFUHfUNOpqd1C7Sahn9DwBPH+kHxZJn0qNJH1pvz68g9Eeuwhz5/O2/yXFMcJ5pbcUHmNfNRXGzEnWzwAr/yM044Z+lZHz1C5DbsBP4YuUppiP6FgtA3BwZqRuebU44XZDXsaLWlc5/i3gJyO60YvHQcKP9LxuCIPXM+dW8aZzmX7gr94nlGOQ9oijZVdE1yNTs4KDatBXtnXZOnTTrHkPi5YvNbuYptCtnp0SNztG5y2HSSAv740VIxHSO+6WzAvHlPXN0W4Cl45/e3RXxuse4uVZOZgpM3YNzc8yLJT77y4ERybqBMb8Uy+QSZ9lostvAOMEQNJ3uPoGvCgMIn2vCVBpZVyH/6A6biuT7XJeFFFyLIojJx9K18D42TQdwWrxStNv3bDmX5D9s8ifkgrwzKJ2KN1DJWl5JXCZhCCkP6FSZ2RTJZzclGjcJxZ0xFXv5D6HWCOvH5q1IT9TIp4EbF+EWlio7o2DQHU3425N4LFByIBRcTk5DqX2Wo6Wjj6Xly9CciQpiZDem4YLzeemgSs9oV4Pd+Xu/yHX5RQ6R+ncu2aJYmqWTMOmXqYawurWgh/qSUSHO1EmlM2+r8qk7CkEH1WM/+xf5s6sAAicLyy847jPYJU2nRGC7RHS5dWdvHXhHBqAyjcRseZ38QYsFnYjI6mM21QhHM5bQNh3QmUy32PXHh8z+KADfEPXVxLAMHzvkDhvAW4FeK8TUTEgly6hzMoJZZW3v5eJ7bhdrdPQ2iIqg5grypoS9yL2L/f1GXhudjH/9vN5bOLMRBG/zYXQtaImeAMeLImXvmEf3UeMuB4nGeQnP0cIRdvqRLLHskLBLX+ozLmmcC8PFTRu0ynJruZeGtJQD1BIgOdgo0MKSmsecpjHdVn/ZJnm3SfUGsYORejQXi1Hn/DAl7JMWXZLE2TmAJLX9c7EAwG7mHla5vanRDXnND4JE6UFPwqBlRL9myhHILQMRQImLCD/xF9Kgt1X8xA5W1Fth7JtyvPm77g2mcsiw6utG3l06FzP6B0h559bgzh15J7TV0Nw4FLmKA/VlL2Uw6vl0gvqhXRO9wZuRI7uCli1yk9aolDzyJ1cOhiT2aaUc3f2hoc1NwdkfsecG2YpDfx5zsQSrL9R2DHor63zH1yxRokOYpHR1Bhvik3u13ZEO4ceGv8G1TaLSUwlO4UvDRX63+F581hLowchJtdhONHH4/CVNhXqYQ6HDwDSES60NBkoeZVarc/FBCusL/bAR/k11Bh7nPjyOXgqOj6ygAq71iZ+PsdTtGSart1F+ZBzP9wksZKXRCMPw+U9rDcrS0N7hxPTYVuf3GcaYRMvCAuRdfZ3QS/5FvHR6lie5r1sOgMunAcNinVKuDBttl2RB3wr4zRSq3G1rfOZsTX2MsuEjc5i2+V9ZocJ8aevtV/PwtW739F/6V7/jA13FLDsaQ/g05Zjc8T+UkmT65QcbMsqprdvrWnqRjaOnddHo31wvrZFoGX8N3tb/Lm415/nxTgbbhMwTYHAw6eQ0nEk52fBo0R36ATgQGHA06jzzRuOxkQhJjG2ttDcBCkafi25t1I0a7qzPC1YslC4olUO1URDkxd8IovZWvDjDyQ1ZvRag/Wk7ylYVYI5FbItmzuLKGaiOr9qD2RT9kmRy08vz7OsMmwjBy4YPWSw5rvYl5CIpTQO1C9KKuGsj2Xe5nAAY1z1JJkPeejhGSpJBfMMIOUmAF4S2YYVHfe2V9i8/1B5+TEqB1wEr6l/gP/psFp8Vb7Hj+Aw05/wjpJKsNafPMYeyh/9ogMctlhQpXlS7NIRK7OTJRpMQF8SeF1G1/jFCkdOPc+XSfJXPL3WDHE+opM2KyQ5cFi8OkM2d+6iXJak3KswxKyoUoHyORfonF27Lgi+dU1RE4rkfC1C1yFRNv4SeYlLoKDaFWgURylCHdJSQlBSnjmXRPYGGpa0JOuI9DGxRxNHae/Dmjy+bR6+KBjxPv15LVHKAeB65ipzPk3RSGHsRZA4gcIH/CdEGu0vtnA5JKIM2ajpxG++hUssSwfdvEhVEtuvkosPnwSl0Ia/ma6gEW4ZVnJXe7pOIhqHCbKN1nQtEepsztyvKgFXxYXG6F5XbroYEU8UkN5IpmOHJGJlM9MsxK5MgZ4F6Mn1CUbJXUyGuAugBPwR3n0IoCDyTCajSkmJBzv/A0MQRkKxGA0QvDGo8mipQrtX1XxdeyWHoaBmVx6rMQUdMOUK7dGFwCxXStpCL4CsnWXsbawPngYvw6itr6frqzWD44h5eqGMUWDHkpY/4w0bVUJ/4ukuPpDysJ7+kwNOBTbTkAvgQtQqePUkw3t/ePK0jz2Vg7piDHbDvspYZ7O5IA38daAyoJBITGNuRGuoHM3ncqFjLuJsuDX6ZeFWweRlql2uqFNs8GwHWQOV26lCEfjqC1TDs0cjZRwILZ5RrbQfE5ZDDF04Da9wvqCiXzFw/HgiSkMHvqfph7+sR3vg0+V+PP0RdWOzDTfEjkThSMv44FKMUh847OcLIKhvjqZhOP82/PwpggEia3OY8A9z+vMtWtUTNWMJNnMA1KveeKDlWTleMoYQoOECD40Ki1DXzRP1vjAftJ1JRnEFc+m5ZTYiO22aLVhO3CnadirO2KLwutvsUilNixAi+CAEIRfGWX0wZ/kPpueG7A3OccKbhQ6H3dEUeiSV2r8dNTfOuDAaLtn5CmTzRqrbjYSrnl3wM0IiL6/jm2hfS4B3wJfqqKNsuHmPxfOzlgmhMguXtsBu1ltlmIhdulFpl8OT9QGcEZvVekETDwjLZDEmKKz5H4ozeKqbsfLdn1nWn9pTrcdVdLFgD+HslIb4zaXfIlWmsVPFUl0ecEKz3uDUxuDHCXehSxh3GqBP0BwvbJy22vWr3j/PKZeYvf6ggE0V+ulHkzI5Ho79HoryK9KC5kp51ZPow8st9hrlk5XXW5TdizyRxu8VKpceEAdeGOC3AfXrT+nYlKCYz2zUlcpNv0cj33Qk2mzBmYaPeBII1d9A+DYGhIFxOdXEX4oDt166OoRYUDCSv8M2aAwcCkj/cMSj9wnNFFQAuuJlyKBoyKrAKjyKIeLPHTTPdtaSHIWYSwRmfBdBN1IOnfr2On/3dMb0eoGCs0XvIDlNfXAr0hQc/tqksVzWyi8VSFoYK0n8aoGs7PrA8DwUS18LmNC6Fik8yAu/+KIVX8ZEg2eZQn4j/nSs8tZtVw1EMb384aQfJRmp72GdY74LY+6ENXytiHSwqZpEOzHsPZcwKYz6OfN3yF2egMZ/QoLFsU610zfQNbScbhfRvFBP3ukxtviR0gFWPzPT+zj6HeBckFp8RMlKbq8sQm1ZcGerkVakV+cDPP/OnVQtjLmIABfBJYXehdpyRrwQjWRTUn+qy4covlSgUVmBnmfKaH0akHpCCnxzDktVRFIrW1EBfdNB9LbBAmqPwE0AEAKE+OHLJa3GW20sTuCOsRNn64RO1ptZsS3agxeczGb/aH/j+W++76a4B7cjz8SW9fbltzGxAqHtS8RrD3/B6vigRLS9pVbQoB5/JXU/TA0h7X0B0tNMAiWR8JwwfWe/u0zjxCx1cRBFuQl+TQciGp6Pny7wDwrpHy1WBX0HGHMEguJ9wIfjPPTImbFPeXRnCTi0JgZBcxKbqZHrkaVR+ERQleQBwkTF1wEo3X/9K3XlTutBnTBquctyUwKEpoRctUBgVW2miad+1Hi1/DOny21xiOiikIyWDWRYjq0vzuzc4QDIuQ5nNBfDwddKSI34s5wUJEq2msczHuCYF+SBIj+/Nw3JCvbD6HMnwjOeRDwsrZuBCRRphbdf3YBRh3GNXxIhoYUDGno1cWz7EiPFEiguT18NaiwjIWQpW2kZbba6SkrSoyKfXW+E24PImP3CjMWnITzQ2vDkgvNm0UpGeR2meyt0CkuJgncGhkS/1/bqH2KJ6vXCXHb+H3MRFaBnYgDzubkiPuSA7+3pufCKA1N0MqV1I1aTBEJGYVggCrMKqRw4W+hvFu4z5t5NsJojz/GE9u4/yfVRUPIFg06Co4OGE5NheZq35GrmKd5A05POqjfTUodMj9spDx/QWynDCQrPha2WCFoCWhD6vsh6qa4EZfzr1Ib3L3dOPxNHbSkJ1CiKmDb0PcagePXge7MfJZ1ANHqYwvuAR8Ivxjdx5NiDY7MCmuLzrgpZIiKSyuO7KDRJkabI9GsVSqG+vbvaUkOG+6ODvjdAe9d8QIQYc6l4Mf6ZXqcyG+eVTBKraJfjXosLLoNfAQXhGRzUE31uTZsNaFpchfGg2dga5IdqZFxdeqbsavx2rFXxZL3wOM/I3Y0inFigjQbKZQKHjl+D0TcHKOXiwUCf/P7v5Id//+jy9sMu0BAWwiEgFKEsMicUVww4+KX218ivGwzj7PRlkAQcCxGa0qQIjwEyeTivozzExCgRmyJSOQaEsworq4BOAO2z9OdB6BQWdi2+yEhjxhgmhsnIaVXn5BUlX/f66nF7G6eAvD6A43t2zIWk9MHRFIwgEHBWyk36PUqxerYeQdU+zt4jsbYV4pEWnRCxVoYBOafr3l+0qEH5OCpwLCVd5lYvcwUMjj9GqacMjqxV3WkpMPhYy5CZWqM+BvW8PRRraoBDnjsUbvuGmIAIZeDmdRGctneEbTOrxOyheXDSIZRYFZ+yxVgi3jw1gDrE8UopiceNigqfrhQ77oT76RXtLXD6LlDLbEwJWtpCX2HZnMO+D/uA5ZKKZndsHNre/XTMG7xUr8XAEvli49VhNd8X0kngR9f+3SrPeveVj4p31KuXpqJ8kyWS8NYCYhw0364lep8KnrFiNmuuftSsyhg6Hn4f43pjYgWudrMNt1G/+L+PyHZd/dfjy6jSOxxyCcR9vxHpfV9m/6k4myRIAgSbJbCqZvKQzv7hJKSjdGoSWRD0pVB0esFweF2SLoXZvopaTiDy2G2oJEnrUnMPf9kNef6IB3F+WZvRNonxMk5Pvk58+i0YuTN5zVt6rdjrnMBm6Lu11sagqeaILlY/TLWvEwq0hsC/dcfxGZgSfc+duwkx3Vh7iD28IiKnEhPVoB6X1QMbzzPPSgKXlmziyq4ykuFr1YZ0JANDCO45YH6jnQf5Xo6MiD02zyHgn65Usyjm/e0KAz7GVXkGnMcljwyKhVH7GR59VniDOjyAWvr5LbpksSGTHKkNUhIHSOhXSrioCn7QP+l41YzFj3o2w03UdopQ9ALVCjhnIzD/EeLkupOyksoh6/70L3fh0090q7ONZtZbYHcP06YP5ELD9ueissEDbLbN9frMSJxeDSzLgVQ/rRuND+e3rjZzRmkCl7f+vzK5ApOvP6+4qMMOiLIC6ajufim1Z1/G0gh+R/P3RIaCL4Ey44/YsWNO6eMkdPX6w5c+iuG57TvhMppnxBxLn9qF+c1TXlPK+YbWMaYT1V/khdr0WRpHBerZARQ9KBe7JMuxjrQv7g8+VTX9dsWuCTrFEKVg+s9zZI7BtpR0uhScqAe5KLYiFE1axkbkki055c8jdmn8MKgThla7Oj/ourCtwAX+TYUOFgGP69/pgjgqie7Ghc4dw98kIs/xzIvbpiOXN+W4NE5DAdG62vhO9xZRMBzWHoNjCpV24IfjZL0fsZb8+MZB/3tpv/iyE/87lMdLePDyUdxRlsNV//RqMedLxuMhuD4wvH63MS+JLYvGfOoj6XafjMd5GS0/0C8/UQUf7nGwytVSj1+ZDUl0QSbnZraK35kq7xHtUo84324eOIMjwtRlN3a46peDNdSKsL4lA1i3GK3Z5Z7u+I3J7Lrtc8doT9/frj7Hsx/ZTBxxgk6Mg6BLqub9wVRmiUoBxo4k7yvp4LAytrsSguCRMK0uDRXjH5Pc93kbTdRkvaKXxnZNyK7douNKgcWJd/+kP+gJQVDuuIauOzU1r/AvBhRfaIUanvpXkBdjvQKSM3XxiMxLI2FmKMVi9xQmQwBa0N9cGZutTGoZ3Y6D3RZzw6rjZOe3rj5qNSDyag6Tl+tHv0YWy2UQV8Bxd1qCQf69N0muYcPkUdaU7BNankpIIOnH0Wk0qfx5R5gsTG5/Xb6JJTpbNQodj5zbBsq98W0l+DuYNHVJJ2uY99guimgn16g1kHhPI5gZVoMKmi0/8ojPMNW9rRsCzgHjACM8KJqCtsy40C84k9QMmXM17CloKvt8Wvi3wWOB7fgXqss5xN6pgSrx4Muqjugt6s1pRrd/Y0juDG46ysOniWXpdbIn2h3OtxuxhYAFAT5rpKB6HR94pL9YiO3/QgnXvSQFF8tCHayTWyc/ZX6s0HQt3CYn77NwIjLxJ7GfqSHaxhaY0M/HZI2WrBNjkXqGhz+nIJM8WQ9XgU1UK2KdxDP6PSBn2aCHVjf9EfvzTLJd6kvcaSwp/U1lIlcOda1JHjYiUJqOtRPoi0mgL/mid8d3tEzRqBUETqHhekgvMMFkiB0/FGHppYxoHDsaOID8DpSgJdfMiS3tXmAIDDngHzeIFrxgVOCNOUlBhgMu72PaGtOEx7Jng6rJOfGhqCRJ5majOciKaiMh8C+/J2k4Sc5kyPTBoO+ngVtRnz0Sx1GYT/Q2h8nS3Q9ndIkxxt8M1tMXfI2y/STHZGf1J5vBnoL8GODaQuNfcTnZvClfca6X8462rjL/WKBuoi915vLi7pQneNyW9YavCUOIWNNN1NuXvIiAEzkZFxdXyoKlYY45GuQUMIbr1Lx17QXeJB9ijOtqEeXuV1wLTyUf0dpVr1H/CesrsZWgIacKmJg06nxAnUMVkZNgn4c2h0UWr52gTkwB7mWk6pTGDutaCo5CSpxE7eesshwz8aRyx3tZKuY5QyVWe/qdHyS69VYt9mn4p5Ck+wvf1pcQodPPs8XXObe3DdWOiB5NRvtdyUUgjPBgp2Y1L+DLbtS8EnmL8pAR4g3naZcR1Tfz9lT+ijGnJIJxDfnf3XZbJIYZKQeI5fWZxnFRR6YLsfTzPz7b3uXLKowb7xGwAD8B0GtaqfFjOK0qzACPAP/4RtCf3ugzJoayPGtWFlnnL6wTEGWkWsDKrcHhhovpWar/7hOu8zFJL5+5sGwFmc6WlugyJgTunsuwTdHgn/hhKO/06CoTKEYkmQw963LHwjaUgQbMNOZv2YpTZXTxR9AQXj7tpspW6bTt26H51FQ7Pm4ID0qqLmRxNWh+VIoRB/fGWuntoBYfwmc4zGlce8x7cOjmhsPNYrhnc270x9udrf3R1+dykYqyYqboQ0VBMb0ikKr4z3gLkODV1K+VddCdSaADZ2uQvMpVe3nPl4g4XowCJUEVDXa7Uo/lgsN1pYMmFTRWqQzCX6bPCHvbl9EJz1hHJzJ91pVlZ4rXZlJ/zbEhP4fgAh51c9inEen2Ve4A0uh9xFF4cYreHH/+qv/QcPG/HFy6gVXZpM6psrhfPo8vl7TYlagudSlpuCNqaxgAISkSIVV7xt1IaN5JFGRjWLAMlYH4fZVsINKPCJAwlVwvgKyDe84OLMPOTUSXHgIY1wq49rIPziPnDfdqk1J8waXAMC0MN42TtkO1+vWJfKjnOFymSO66hqMjy+IEgFZUs1xn3o4s+V2ctIRNGjBz8OlZjHZeprE5aX4knbNS3Dwc1RxBWyTGLMRugUElFdF4wrVtHDlhSBvQLUCTfyB/X84VYlcOc36IfqB6AQI/Arz71YL/525DsqZYKxVbvi/bogf3Qe+jr3hYF/6bIFU4cKi/TQCRKYaStGz6J8tT1t+ZYQ99jHjSzgur2LbmvRTPt/NKUP94ZLp4DF7JMo+iaFYB1auKU0AwsdZoGhlLszulfFkvWrzdtshw+G/JoBEDUa/jPj1HXu//blh4MHZhi7Sm5gNTGCsXwNGBoX82eWHwD4MIPKoLRNOYy9kA6OOMPOMrUrwNAk2ppIz4m5zxVvQnYIY5Ql9JuegEKp/s3jvs1E8qNc7icqUPI4rOdUNulsYVmS6ygTNG3vnAcf/+VWnPeWG71pN+Xgc9EZVDVxh8RBemLyblu4YvBuv83cshpmXvxUDxbZFz2uIt3NznjBObX0BdnyuXqf42s6NhWkOC+EsejiA1DSMqWc74sl0E1kNQCIfMjspzku7s5ffvSYfCP2kLCcTTs5dxNwC8tTU/MD3+fsvlGW4dgugkTvrW6nBrhewAGyBfj6h0skLZP4vYEPYFUAlQ5By/D1dIVpRZzlMFJNzU6yPH1nd/qiOMtRywQ4d6hwWO4L3adJAyu+UbgC+NnSXP5y5XzrQPPHH9dFrCYXRPvFWYmUl9a/S9p2kQPrIJDlWI2QDBC9mFmn1HE6FKb1HOVXuUaRH5bNMfEbbJSgqLFSQ+NP9zFk22EzUladUjoohKCbNtu1J/fUjM3SZnSXs2IhkTJIdur5fTm1iBA/Qsqtc/wHStpGMwAiEOffmHZy2zbkv3AmWQsvlVQCps7MnLc8QxXrgjUVP+iwpNP/GglFCTIY9XzJUcmjtGPQ3x3Ddo1jJ/v5bB7WQVjw5zzV4oTD1gqEVZQ5n5pJPtqGUbAHVmIUMWNtTIJ2qKQkPTvwFqPO1XhIdGOW3Rc0fL5tYSR5t++kySRnN2xRTUqsuhgKjWGU7hESMfVqFoN5k/hegOPiBrpMK7La2Q3DdVYqxcvu3YFiAOYqEMl5cI7Q7/5a7zIiEmB3Dpmmb/Hn8dzdT5VpEwH00/1cS6+qzQkDAW/ieilwM4pwcId+z6QoIOy74zLeVxj/fY/C9XiWIwfVEoo0E/omK0gi2qDB/W0sxalSE+4gCZBI3DWNdDCheFschlOKJyMmnO1l5j7v4JoPnldB3n5Hp4X4YD9q8dximce/vPzPVE0VFTjvXVhFvr5wxEbCHcVdy7q282Hbn6CVDFbf+y1gbiBjuitAFQYe4N6p41hRO4iO+v31VLZ4lrELoUoUsNZ/3sJg2wICHTkVF4Q6bufeYFM3Rg+BNfg3b742xfhuUQh4m3BbJr+REWL0npuuDjEQvNjGSm8NY4NH0WK+3tSOo/1RTZed6cx47vTEZoPeZAK/CzstULLxGwn8G7050dCxm+UvhJ2JEDYXRalVcRTmOI8bkp+cQ0xSCKTXf9ffKRGIhW0PNraSNf3gmtqb5IidN5B/tfZIuLE+LJJ8c//EUbPaWWczG7d1mnWuYD/SpO93Olvu69kIgPNMSfSxO5lO/rT5bP6i2yB53abbc/9deLR3VjfgdQ9DDQDW9RPZ+rIf0/56hYmKLmXk8dIIyV67dWvAGrB0cQkINlM+q9l6bmh5ZTpq+Ok6V/Bh+LrnjGYsuK3lFMUWXTe1or6pClqOI6RriYY97BUw+ApsiW5vmRs5JAqkq6E9jyTEK1321bCduMMpXpxJ9OYg2M9y95feUJB704kGcQapkLt7KuxRob/aGFKPGx5EGkpDWaB03M1WUFkWtP7fJKzQFeaGIF08IBFOdaw6wCILDCP7O4fTOPgRvS5+Lf1foQbI8iM9nDagL+Kq2v7s8T6OPAklytBon0SDWA6mfEILxkRxGJYJO/tfsrYV2K4Y/bo9pNX+0Xp6Pnw6+SYZaGmK3uQnER2jyokl1P40o+TE0k0l7B171hAhCxhGGYUK/MuKmskSkkUqcDyw0nURR8EwYRjygl2GCrWpYVJzGovT9zQKY0Qo4Ua6YvX15LHtoGfdWVWj7lu7MxJAJl/5aQjO0MYx+9WWN1ye55AYveJWY6oH/3mwI6rmgr/vxdHn6LU26f2dIKp05GRZa3c/jaOqCUEj3q+4InrUDxI57iJXxP40JNjGPMSXqG942WB/3t1ChsEFcQiFKdJz6NfPit9TAHrMqoCQaqoDAog2beS4s5VYRMI+AM7vRX8U8/SMXMKlxkUp/+/tJbqmEKnL4htBLFpaBOdQVjnF/oUZUP8mRsQClu6bvuqmUcMvqVqUqRt89nTWm2pi+bM6HrABwNSn+SQQIHdZ6EQfnOCa3FFz0GC7TvLy/ZdUmgomG7FWSJ7j7nBqHzWU5sU/oDHytxaAjNXOjJhEzQk0kvToE7omUB+WSJXPdjyNTQfrmeGqa9l6OhRfUPutkHPLT/MEu02EjnEQrEm0Gn9JTQCJusSOak2cqz1sQpIvltgMHQvmytekCXhnDVrVou7CW0Qfy9AH+5ucAFN4wEN1M97OmhPtKFnjGBnak1rlLK25tCKUwO5aZ02591KT/e1uTm+BLqbKPfkuq7e6OcoD8SQXo4TrEYhzFyVE4sZnAkcwoTzfJ/3IaXsUmnye4D+iT7ojP6hr6xHUXEe5wUROV8x3eAcookM+3niuP1m0rSpsYnbgZNdnyvcjCAHNFwSoEip8oeNt2tKAjtc2DaVJ9+BWJB6c1KKKrbFt0dZJlEzOpIUPvsHRuOhrwTzmCDxsraKcgQMMiitVwbrmI9o0f8NTub5xuAJiRLtkcLeSwdnd7Lyf/P4UWaQsR9Lz/Hm7ntsBfDthnDB+IYGrXrfjsQPFocY4FWvcQEfcoCxLTA4+9OqYEU2IqZDpKbFe3WsTn9OcGLrXilfb0ow93npkU5sbaHsv6vN0RcR1TniRdHGSkoORfi42bPcaDwFdfsUUbDVhu2ogOS6yaaeWFtbTjPZAsDTwQEVvOBjhurygQ0g/b3VtTDlnEaNjrC1xJM0LufROoDP1AOicjA2CYI2Np+D6mXuBqEC+5XX/TWPbZNGi5u6HP0DAug+lN4NXad1Rnv24pZWicIqx0EEpMWMzdvhtqx+34TfoNX9G68f930MbzdW7T4YqgbsxFVa7XxIUVt6B1Yn3SoKMjMIuYk06WfArOeckObqe64Js0JbzJ1m6fLFR9TSdTo4Qb4ZHEL9nCD7IS0h2wjLsuVmLLE2o3CRbZyK3Rr0beeq9bQtNOaAMT2csNM0nzQtSa6RUVE2NX2T/mZ6BhSSzw0msO7ZHdbM6eiEckkRZfhmh/rSmSGD+INWE1ftNUbSrwcbfeoJ+9MHjhFJsy/XRcQAzLsPCmfiHYincyB+khX1fhkE5YCIfUWEycyd/mlROOoazQ2t1Io7DlkyjCnTqFVfEkQPUbMSBXUZ7PCG0YP0rfmGVjEk3Obo8EWeJVVEmoXXVj7stF0vSAGty/gl71gjCnyxkKRiVIfupcXv2D/sYTKhY6Zo8EVNRgplp43i2fFGxcqiZ3jRe0lUFPfpmpIO/43Z6RNw8gUp8PgqhMf95FjYfbALWqyLoTRbaBVoIg11ewbluJFPk/yVtGpa9YN+aHvmFzM/dwbugVyoMVer+M98Y7l6ec5GylR0/zf3G5NUfJxTp9FyBNJa++qJpIFq+IJyeF0a5WgHD1+D7RjsTorxbXjv+A25XwQuD9T5kZmhQl2YzT0MW4z48zQ0YXQ+T2CfhSnOUKEolJrJ1AUpgbKEjiztkyfdu/DOSj6W5Jq/vLgYlQa9wgzFICcLa4gV3Xu8hI/XyXP8KXlSZ4jgfBxuo3CMu1BZTlLQN7DG0018+amlk8ZIxEQ2Lk76e5eRdSQh1P5MkWcrRvR6X6/eGRntJPn7UrTHa71UWUEJIypyG5Sk6LY4xFMbz8NsbFcx0qEbWzqIgC9vUzTt7rWi7f+MjirxwGD7NqmMDlyULvw1LMh+ifyZDeZP8HMDh6mozz1+L8L3Vb6TQ/byCH3BYXW40+h8H+5B4F7vMPFPuoQbDswmSg+8JNPaE1NWosgqXbowMuEazJPDwN9GZ2cggiUxL9OEcdK5/+DUtkdfcTT0+zl1H9FFON13PTHC4PGSiR64SrKphsafOxD2wTuKJdZqNlWERSvv5r1qivzL0vnp7plygbfYjFfNBMRgRmuSWaiVUy0+Bf533QGExjUSbkIrkaWKHRNs20UO66OoLR8pzQfwQxXIDvMoBDC26QbgMjU5+gh6Vxk5H2qyrD5fffnJtoPJHVOoqU+n1n9daWIGGM5TGUU1oF9g4FlEwcj7txg1NJ83jcsV8rBEgWFigIlVdyCHNI+XYC/GIVRQRFdipf0jqtwg9LW6Y34NLktbqTCSmlluLI/HxkQLwE/5NnYxlStIr1dm9Zl/IaWULGC9j5MX7gjHs/gG4wDu7ryc4eXtJpVJvYbTyBYUkkEmrGdtDuaMgDAqWj1ZEgGSZNzXyenebUWw2+0uqHBCvvktCRNVbyqo+SObHuw1TdyjM+3NPhMQnOxkP2KDLvx6f5WAfF5M5D6AS+vh/dKjrjUsQDu2DPJ2uRhujvCbKOhT8aIcq+QRIqweO+xEfWKseh/+apAhId+XmA8OLz1yyBWuo6q5hjPzFfft0b6ZASI4G9r3nLlHAuBqwU/6Umd/d6LilMmoKYbI+P2kDc7JhexjK6cAaPKsZkEo90DIYIoAABrNau93uQs185oI2B3N3rtfyGTaxDqlryULWvXdx9hZJXKYWLncE206uRVkEgh8DxwUnV1XSZxhINedoVyqb9e0lqQE8+4NKGepBqFO2Rn8ULepub9dOZNBGRrVXFpZ460o0R6CXDvD6JH8/XSS3kjpCK9+F9kYZxxZmoXAuO1iR+j9Cj0eHjwCGOw6maIPMR5PAm7YbtjTIiFOCo2ucJe94nGVdHQcwKugk47p9pVFkqS/p4kJs6sbxleRYR8LAjVmKjD0HnsTst9IigsxTgRYUoEbYTr7aQVqUcL9RUQzVPdI9Xnw8P0k3dPpf/H3a4m2jFsU2ClAteklAwV+O3RAn0Mx//XoSLeuIcikyOv4TRMHitMqMhekSsLMVEg+xUOlRaYBk115G+mVvBtmLzYRcrM5KiFzZ5slXvK5Sl4IxWcnasNh2IuhqgXnZYr+BlNPXQBcJuKQQvNoDwBj0ksaDZlRAygmsryaOSAcnqJkinCHuvmSCFbgx+5v/XPaQyaUTmMOkGqfnutnu/2lFVN68ns4uRj3VDIdzc/VOR3CyMk4kq0ERN0etl0RRWWlyMJp6xNNEa8xvEJPbA8FV9AeRdJJKGnuvE6vnRGxfnxw0MrFRkppC/or+SqSb/hF6Skq1+cAtr3wU4CcWFByi0dfhdY2kYbva2DBYVGHbjs0Ee7IfMEtoejD0uU1tFR402+fGdn1rF6flx2EknCLN3Egj6lPCgpO3e3taETTN4k5IlXNSaMswVkqQdDXyoNKmyG93WoIlCf8BuVeZ2F2AMDne7Bn/bJkKDDVbCutffmaof0S7z4Fhu34ESIgmCsk/TktctaB0LH8XR+MgTZLVCpo5q1NVceAuGHe1BM9G4flbyxqCchB4rx8tNmNxA6tl3Dwdle54yv0yzHw1TSBleKLVSWCugACz0ydlUO14xE02dJOo6h6arXZwgYkngu/A7p70gHpAP5L9hZGCVqZjt2UoVdSskh9eoed1ayLsP3LKCzd8Gx8mWyJtkoRmYYbbWhVurLwt7K1iQZtLAPSG4NKuK0hkY7Wm1IHM6mTSPnAXMR8B9nxGduotyosqYmXZ5rMjnTZK0iCiFkAlyG+X3sxpRx08ftcRh16cI+hjZ2Pexcb4bH7DL9pq7gti1Gz5wT/pv0dK5C4d75Vkquo8LEpt/eoCiE38/VmSJcSB7OBte/6etEQ0TWisGSaKRldJhblpKFFfcnH3K0HYRQl4WckeC5L6af3p6fsxumffcdDobjYTO5siXL7MaKhaxLBVDj/tSZmMWYZJXHaOvemu9JoYEgR7ul5D9ZCc/6zlbn1PoZv6nrZ4TB7pwG9rOH+z6UJGrUe+GcW0Cq6jUDbIT7iU0lWPhvrerlPVw4CbR8Zva9DyCjytsXsnth9IiMd/xYak4ak4cFOtlxQPZTBaXkqslLZkLVG3BoL2U8ts6cJDXuFGIWH0FhGXdnqbNpIN4RHAODTfJfoTAIcFFHMkdJE8+JAk9L/fFGKLt/5rqZ3mISjlTNCvJ80dVYZB8D/EZBeV2OLFMNlFAVjVwdwx699R3JPQvXxsi0784bYrOB7oH9fSaJEuu/O+8JY8vJb8ASgFWv//+p0CnCluBRAyMe+7xf2R4y6ICcqCYhFsvmIEP0qVXGxSeWv0e1fJWY4CNltdfMUJu0HFBPEh6z6arqv8tdDfvUKQ0buePR2iOqw1JoEWmQBeMKcX2/6EQRp+mRJAIZ9g1GQcK7ptgO2q6+eqDBLk4UMmFUlNBBjbGsCW3UL/3REbKJIcpDe4CnzuURtgNl2QuE1ELP65ASC1KN2HZCQ8Trd1z8AQ4wzAF5eYH6vqY/JrKv8U7ZrQ+HoGLoTgRp0PIWZS7U3pmvcAb2pb5T9RuKIRs5qrzErUXoEfetNHEhCFv4Sfg8bkRrSJXIhpVRp2big31kFrHUbiog1WFge2HZfFzuxueTmMz+GdjKBQrjN7EMRlCzLFTB9yZFBXRG5KnCylzAkad5yelW/W/DS4UCFtZvKblLzHCrUpm6eXnI+aJN5kvG1/YylJJA3qzeo7YjxVqO1c9AcRj+hdx7fTIiWbIhHv3q+RqgYOxUWVodIYfh67gQLvaO7RwP/1Sy9nzsRoV/xEpslqYsUk0dBGJfJ9aE8nrVUf2BiEmm0643UFJ5Xu/hN61W3Dk+JZN50nSjiL3a6CCca1IqnnoFgoRbVoINO1qUZ+I9zXtqp76wfhwzvdMtzLMVbFAQs69jyOquLvlfYsD4wS+Qaybk2jexAQHdHg1EwOnj0sxf6vKU7dlV/Ho+s/sweFJ6CleEYAn88wkGclMtu+wht3GDGEWHxhM49aClIrF4mINU+BNJrtpMk6rSuQyUGdWBuYt8FgO1TnMjSWZ9UsBugXyU5+bVjoPOrpG5yX4Bive13nWW9uvmi5yhQbAQDMrAX1se5hH44irvmd3QWE3Aq+wOGraRkbjVCygpfDn81V+D15VgtXYKC0fPQbJLe92yfbMuaOnHf83NPHAqUuk2nDYGEOpM2NTSvtguR2MLp3ATlA3qFZcQhLbV9+H9L5BoLa6qfWCG69fxA97WT+pExV/V02h/x5s6JN91H7eBr9AV3LhpNwxAaUrxldfG7i3+Cx+pDgyZ5f8OeqK7HRo0XLS50kGw1NPglzAmrxbkfTqpBtXCtsX4E9yu7i4mfe5OWIFMuHba4O5xER4Iho8XQbenEYw0TugO8W1ux4l5Z7x59X7OcozD2cmdBd5IEQTVHxcrW7FjMCTN1mBkcvMogQLa+bqrM3SUgcYOHqROnKcjZ2tdgVL9SNRX4q9E2QVgxIrX2dCjscSBaO9SFTTZW3nck3GyfymZGJUUPMerjf+otRadmmnDPnj91moyJH2hpbdLcSxFEBEQLNXJS5RPszhyN63mgQJkZJEo0DYtN6p4fPKXYNwKaUU9v8P2Jf72x4Bo7AZoHd7ufOWNOXXCepYV0jlfk2UrGBtCp5Qs/rEx+vboa1ei/wezgrIZP0iLtV4uzCgZHyDKenACbqOWpmUfbk2BhDbeTXWmcEsk5Z/zlxlG068yx+NPKXU85BdSE1CVKZIA7aJamjYvMp+I/3xmTRH24maUb/jzBmscnW8WnM9dXXpm1i/k+srgZDrQe5u2b6PBD51DgWigDKXvoJ7uIHRvGZlbrBjwciv0Ocbns8LEPqTT+Wg0RtTZC9W0XagbHl69B6U8rDrwwyU5MKJtpucRJi5kwnP0rCkG6y00UFwMJjUNMjw0gr69/6tPg9RLdFq7GQKtzOlnnrJEyhcF9lN/L0N0KTiJxATUFBh2M6AeQfEhPITfOeIo5XvhMR5YtsdfHeSNMbTfmYuX9ET3JJDn6GCosbp2gyVeubKdAx3KawUd/eoZJEA65JT4fdgeqzqIttUJaGHn+kx99CEhDMk7f5Y2/M9dHg5oiFHkXM0nObWrmrTGQn4buRQ/RM4o7h88kMBxkFA92ew9xe3wLAGiUuJKgT2VzTDjTWFxFTMvsJwAETQEIgVUxfr8Ei/uK4FlUJkZgY4Hg4Z8LA89uHc+wsgyoaCohK3IQx93F48DrQy7Sq8U1y9Rl8TUxQZgHsmOwGytslPmBAhE+tet3frph3h4C/yvqVI6MXVnidKZEj2xyXy0r+SKvjLL1H3dUy44pW1aPoIK6zPHQsA1XGI/6R2K4pEiTLgjpzep0/2KvlFLmC6okXjTdOn+XXGtxmebpAr4xHQeBNLKKYvYsWFcq9lvnKBfw1d4O2bgPUhitYrUR6RdlFQ0E1466fUxO38V4Msl7v5ZTScSC2mDfIvF36sYKtJOC5vKKc1pe0Eb3dzwY2Exf3cRrXQ3K+UscqdzbiTcQngECpEvpU/8gg5rgneIpJg+yW7QyhZJTDAz9vpe+zljXR5/ask8L4P5hSo8P8VgnzFvYFwWhdCsckJXJ755BYOVFPe/ZvZno5J0C79dH4iVDlOj6MsAc4RNRzFOVCIvtt7FL9HA0or/n6LmaXOX+bjvs/r9irkGUuNWPPzU0Yxwa5qNs3nqVpcFam2/9fS2H7+sN6O+MFTepBZ+iihi+n1JhqsCB58tjxZOR2BCvfhVvFTxEGMwxmMDOzKlLrhtJvYDw+eXrVsX902hg1/RIO5peQxMrt+Tmh8JHCrp2dhQE9Z+iHG5MVmb9p4swKkXH8l9iccp81vbx0iYsyvOdUUjEjnx9O5J3pCysjoaE6XnetjsjM7+zYcfb/vVo+e8h0AZxw6a2DZukS81I9SE+u+dJyhw1gOS5GWlJJr1xEwfhQZBLq+LPScSbWDHlfFQXExTs4TTVz4y6bz9yY2YZzgKROGxYklHI/+GUFjj06Ivcc3eMIFscwWeRl+h3AuDfXTzy37ufPDW/+N3bs2V4FMntAyR/tZBwGdVdHxjqDO0EjHpw/J4BvzsjkNOyR5YwqVloSJWfegUtNGtFXqmT1QwNLtuHnoyjDJA7xC66AGCz2V259jIWhkvWCCO0I+9h4orga6NaBW4Wj/UuZWbmgq2v5C6/02P8BigruIyRdVTMUt2fmFRguK7phBqRl1nanTsJRbbROd1P0+mf8OErUegj8JgmXP1hL5xSCQFU6bu6Yh20FWYfaix3Jv3Qp9uvgLWMLOgkmVULcvB1Xzy4hDM4o4Qpg0dkEaWH9Ni8okKk+fYONfgrdF+q8UJ7a/JPLfGwFIhDppEEOgeTIi9tX1egIn6WS0Au7pTypaJuyevXmKUUG0gGcVz+Mj499Tt2OU4bv1w4Lgl2DS9uAIX3LcBJjtosetFIw5Q0w7MyF+e2x1JDjBPpaKMrfzU45BvYl50dxf35uSECpcP46JjgZZQ1CxtjSuS6ryVX2qaOMT0ZutVg8Vr3nlvxa/kam+YtbeD2+Q0pXBBi5KDuZcI3RZjQDE74Bc2v4m2BL6HcFaa4u2x0if7w9SbEeNEnIksILbNXzi0Wp1A4QAryw2WBzN76eWqD3S1yZP+UFbXUsTmuBKHM9bUnNY1oi0AatKIafdnjhBOmwu4oH+/o8sTj4yz9haLbIAbt1YYPFerAQxkEkgZQjQkgN48cME3pMwLPJSd5oXg2qad1Q1aUIvIXA1XsjgwFqBOIAvof6BgbVYH3h206taRoW0Sngq40UKuMFKxpShZgZdIUHk6NOJidpeSiWOPN0Q1x2ZVaSXOIHmCWzi2iYTnsHOn+F25eye4RVEgYXIHcJ4XBRbZxPp5F/Imqr+DfDnkYY1OjP9BqoC89U3aamo+V0xaIGErZRpj/UjL7CJ/jqKJyabKXBC77z7U4/JeKaYYRkZD5DcAcIqa8PUtbyeiWYYej0G7wdyZupkxgbXuDVfiR9jQWtC6qvE+anErWfab0qupbCZD/PWCGPpVnD4NAq2S7ZeNWSIuCQOx6TE/OR5OQVZlo0gyJSIUm0UYbJMUHaGAKU8EAid3GzGYGcJVCz5ZX2LDh8gnCL/1Hc3klNLOnWJhYUyhpRSXT+zoHRUCGHxvrc4uR5R6ZX6+Hh6MBm64xSLSI64o+FKv3/uXNDpD/qoSplwK3yOJFxzzirGYJT/js49pk4OqWIL79FmqC2USugF3ySbrQqMqv1wRayZ2KcyVXodCrGf0mUkzE0rGEuJdtovcTp40XU9A0YSnakZbDdJBpsTGX7AWeyGy3XYtmGkrIkxwzI72WGlHSODYovNsKKo4KzHCIjPil5u8sSVLR1xqrG79yX6Cz1F+cs1b9aMUBuvT0h5ZyG4yUoUsC72aDJbthnsBtfl+KvlY8OV48wr6WHErl1iXv+cPPZ6z7prSygAbRkY+pqJsHqGbozdUgj9dNmml+RM47oza+NV2PSFY6Jb5IMZakP2vWJ41ry6Wa8+MtRDHnm0lfMS19aFRp7rU7Ph2TUNKFxQgL9OVsdw9HHxRtLShIzk91C9if52kuLi6UVswphpLHhWfjVHLJOwBpwLdnIjAFPNseJKAVJAzOqbXpKyBsBmuawf8QnuVvI6DRY7VXVuEsyr0TUoEdOiC5yEGvuT0fH6ESkc/Jq9TGO1lKYO3Hw9buAticHxcvH+DX4IzEyWBqqIa7kCAD/fO2USxVXZGwuA56DE10xRNmDxqHuFECNabq3IKeLgj2D6esV3Q91IazX4CCSCxya4jv6D2jNYIqkxBdw+tsK0hPbVqmbwayp2bd1Cknbv2RYjAJR+bJ0BoBiBWmTFnWuYn0I7/xWq4KhJdhj6JVomS6y2bmOkp2GtLWz3l3/Zp8E+b9bSnDBpP/iSl8h/cP7VM0y1W87u/Nqz7AkoJ/2vkwXyF/xA657A99NorP4ZgBSl1zr2qsXHaNpdHGK6R0J29W65uR9DEKZe98FMVcqMQGAku7LlBER8RGZDsWkf1+FqEgeCqpz30u7VEijR+wl6OqWruzyUpvT1oAQt2K9t5o77lDHz6FUamciwu1UboeacDCQ2vcWBEVY6IwlaJvPB0f3+VPQtAHUioboOVEqg1gDNXYC3TLgETUCTW0UKsUX7CMqcmWCoSQDD8CZw0naPMaAqZEsnIql/p5XN40f8uAVgQd4bX39cI2ZE41L6PGGGBMRNQqEF3L6eoQIqM9HWz7BAewLIjDD34/TXltsFcmd9legc6itd4pP8/7uFgNsXCX40l44IdNHZoSWozm3REEoQ4ZNzyMNnl+7ia4Q+zgVaUXhtmsFEt/b+HL7fEqZ+W7H3xt7D7gCs0I2w9snBUV0mu/4PJXGWYT6YK4pcyofWQ9UwKrvG4AW+tXvTKHC2ohQVGMj+AvkCPO0hwPyc8OjYB2UCoCst0YFDiRGyfYahDv3DxAzmgod+Gg4kk9+efGhi1qM2bWQzrRxbbrwNbf6IOy/Mj5BBFt40UFf6NWnp2hkpUTGiTUm5TPem4YiPRmAaGQ8ERTaIWacPFDeamoUVVuevEvUE0eXJ32zKh651hQYtH6lPYokzS62EKG81u9PTtK25P2x5seKtk99pyz9UJI/buclPKv0DHO97Mgy56f+5Vik/hab1jLg3wUb0JlBH711vzF1cVviu+AD2eQFDdL27AAb9z5wkSSRxLIayvA+FDxvQ2VkSt4nMhI/Nqv0lSj3NaDKyIl1GJBgOqS+dcUKuVebk657vHWNZ4FHFZfATvsuhcoGHc6l+LED4/HUVVWz6oxAM0+Lj4/GycYy5hoJb5jz2BPG3gVkD8FM7lGxdoTkQY4FhTIPLzf8pPoJcZfALeewEUK2P5fo2Ev5dTwn3oZSNQm6veQ8dmP+GJ6xPu/rSNR9WWQSdIoXisVo3q+ru9zH6wPhuOMW/gX7TR6OWw8r0so0WZXZB/68OiJepUYl+SlFLdKa3gHZU9Q+KYqBx4P+jK0d65lsbtU2COLnLp7CXhoWJhgs1FRrAZMHfc4JH4klg6PaJm+iH8z6S907QtBizXF7XwafnDKdfC45RCJWsmY1pRo+QJmTpYTHigcVxLlGLBAMWJK6Dh8Uhvtq2JWLJjXlmscjVvPVFJohutyvjnvvPRo50klDag2igR5uomcpiU2QDLBfB5gssi9MgpvW0cms02kgH3NeocTmVq3SLW6ofWz1n073cmugfVUzutVVtgB2g7PpeCrANeB/brffb8arFG/YiBws/03s/fE8FkjEBxZhDXs4OfZ0OIb/s+98VRYLUchzAHMYfC4jYhX+ksu0Hangp/pBAGfL3t22BGtHVC56Rj8qavQFxDbAHj9Bl7zokRFU5tH0NIJsop1OVsBR5SBHRhU49DshZhTSzUHVzD+HOW2gtbb7wpbg3HMb7EIx8i6M22K8kQhIaO1cJikMDl7p1SjLUauq9Uv7tXZlLBnfwWy0jo5Pugh3B/Aw1/pAor/SJZ7ZuzVpwGrKvaXGuVHEO91/eVUsGfz5ld4+LEoEJl5lhF7L4+SG2NXRLPVsJxrKUuvSXEQwTMLTRVV2unHxg1HcXw8G2fYS+T603rMaG/ukb+thU8n1QLsGKHA4gWO6W9LCDYi1spTyBn/J2J5yAj4Fuy4Ej/BDKid7zp6bV0Hja3N8ViTyy2TRgcBvj7rmaBSHvudimeQxuBeE3qyvKAaG1TwzuOZz36OI46cp+rhA0iK6JxJE6kQORXl5loS1JkzWMmRYH6PkdqubZF8uSLSR+j+VSTQPwOfYzVhQh0eZ1zRL8Nd+1/RcCaklzKPvY2CTQOW0lwSG4Np7DwdDBXoWG+w9TMkIuRKqfPKYQwjQT8xLRj57mqtviNKeTMUER0IVsTK5kgaAV9DPSFeUqXqG1CWibOqLlA1g/e46Oqs+rAwGHj5KfCqOAY28+77FimVCP1lyIr8G9AnQ70ea6PzoAGvagQf2m9y547slVE92xGAZ40DG2/IEKI/3LGGcWpWvtLnlUV5bVhd3HKzC50pnTwctbx4DdOYvv0IZq6RQXBRJ8XuAzEpK0p1sPI5u/JKJnjBeab+kRNDoUqrhZfuQ7srCXsCnToWvWYO7khn2JZFr6OgonVRNupw2UxDK3hz+tDuRfpnuRsXF6zj9ac7A2dtcK2HNhQmHELJzya5amKG1ksVxkOL9MQNssuJhRsAq6fOEflNbqtUph33HMpwdKDlcVMI6JwCf6IkDt1irN9YPPQGvyA8/OkexBLSBwzBAYWtXysCLNQeBT0V661k1ONMF5w559EB9kZeRigGGKLCqZTVIaTcx0bay1yM6xo0qniKBdqcpJdg8eOE/Yq8+c48jwyrlIgBFSRVV4LtLervaG46S1hPpu7VWEQk6VB1LcBeJI9YmjtDbPORUzv2/H/Cytua75W9Jmk0KCNWAz066p6hzm3pzQdRvU/0vJbE0wei+bA7564Et7N19Iudtsd/ffbb9nZUrsTdBLHQLMJJYlCygFsOjOvB1/07llEoKvAJul1iMCd5bfAGrjOM0qTkFLwXvJ2Z/ODG2Kzkw18Q/rLzzOL1RUhJ4CbsWdMaGFovWLK7tdBvNpdi31TLkVIWy1RitBF/4cVzUwmagt2ZjzMnCJ7W3527RKyPhArMZ3cdKXq4bg7OoQc7V7cwbWCd1sAKpXVkVeuQ45dDzj0kHu4cRxpSYqEdyeGDMT9700beMZpr72tD8HzO1qunu4RAD8L9LEiWvocdVlsBDXS6AMeyqe/0U10HBVjfqf3dafU0JO/kz+owYeIXtr31qcptTt/a8XGzwFitPkilJwfcEYQAAiQgexIjW6/B9zvN+A4wL81YlUoDmxQJla4YUtXCFYoG/NQSI4tDRq8/ddC3mb/96xSnekaM3/t6mQDBawFD1/MnlwB/B8GcaV+U8jvoORePZUQSUGuOnGjJbz3dZM1vMd/QM0EcOhc4bYUxDp+ci/rYd31lYZ6ecnzmx9+TTAaz/ee5mcr/cYI7hO8AsHIujqAobR6/ZalLm/G53AKHBO0og9qedrVN4ECWCdU0wQiYLHg56pLmSAAZQTF6blYW6j9NDGrv76ERJRlMO4y2nXcK4CBC+J3GwhXvKcG+XoYk39DDLTZvNjfG9Q4UVyvMNfXuODTjPxf15tDq0BebWgsUIfkcvFlljAFL39oMmMFzH/4JmbqecCgBmznDc52kevBxsxCqVjYhQyw7FtIK//DzO6zKqfjQlV9kh4Z1NAQxQ1ianhH1NuixO4eEATpDeuUQfLpFLn9ZURtUkaReOOrJUVKsB3JAz9e5QHWd2GWyrUFT3oi+UyeTmuE3KHpqHGsCeQCFmAshxzrSiGO4ihmW9JUiEPsGUjZZeziU5Ntfyb0mlgC0ls5fHFZ0xM2OD9twwDJhrUbQd8/KJAkvGyPBH4L0kjzn9PZQdnPrRcivuVrdreuWLXUWvrJC5COh4eIbRYjwMYoifrsItkHyWgCrf3t0Wquqhypp85pjxEwK6W2EYLzmNa7BQZcy8e7Aytv7Hv8oifY7ncF/wXKIdEyzP1t4McTy5TsbmeTo3ieEXlZLVwWGkUZ+c9QMeeqQIYTonE0o5dzU0a6z0gyZw99uJXg1Rg41DVPKxlRqprNJkISpKOcW6A+46lptcO5MmndibvFNf4KwbJRPSquHjrXLGU0dTubS4YpdPZDUbBusHGwggY43HCd5cGOi3JAKm2kQIArClQ01ts1ERYha1+rc7R18/1kWgyCK3zBouN0pHDzIyUTJKq5fDVK50NkY7P5e27qpAjMJSQoJ9Uw2tAQETvi/AMFCvzchY60oC0EvOWqmIKTynI+mjj341LJvklS0CxpQAay7Zh6C9ZuW1grj44vK7FvaP96BHRLTQgCP5I1XM0IN8QUBfKbPfbwCpzKuo5aBOUeXgxS4bkCi+8f4mrt9mN8fMyM6GEI8+eEQQ1E6I31NiAhxKnsTYteQ0GAzyXm4439Au6/6Vs//jBKp8qoRBdRC/N6gEeSOvJQjqDCDpQiY1r+q+ZVIdZKPwyL+w+ct+Jk/xwI6hZxfvTSmkP7izlyb06qisjIuwd8cn5RGB7plUtT9s+2bO+dzU2cCYx9oJ/CIJ7lXDXFpAM5ncHARC6O4uD0cBnkd6kBi1z5vryoYOCtbujXNsE9bpiiIZVlsTOkp8JoPvbusExjCaqQNocKZxjZCjiMvyGBVUsJBGDiMgvkMwef0VUSlUywUrA4zRd260ePMMHpJ23sVd5ogi+WGIxzeXN3gTYBEfbMWgy7MVA/p0GBjs8VTuCnK6JGtVKOotjcBuxlLo5QuUnsz/vtUW8Gtf0oVPeUNFfoVrp3XJ1Ch8O4qFwbv8s0PMoHN24EX1Xr8ZfosrP3qFLGw52e7AyRWGnbDak4A8vqtdDxctwyqP8G4SkGaTxA+uglbeK9TuNGtCwA1hbTGJc11KgYOSghT0DmLy0YXhO2jSxnthIGYeYzKj0983GCw41g75nqyzbm3xHlCDvzsa5j5zvN0fNQYaSnwuK8qRGGdMqewljbfFF8ZsFfcT8NVNFVnTi/kzq5Kko7mJmWZYOLuuqQJb/lrPQQroFtyc+ipFOYczOCMt9zi8/udA9PBRj4OVxPxCRcK2My3DECqaxX+3/DaMsdn64VRB5HwtL8aVhLm1Pix+kQtYDYGtDsHitpPd66RkwSrGcUr+/d9nj6cZgDZ1rPTOM8DAR72zMBtI+yGOhk2HsieJpyhi82xmAu2vPnWPqtkwYWsThI1bm8bKnksTLKKL8h1iEkfAgHFjYjoCWCgdYtH4P0JTKarb06vMCWbH+N0SGjg0QXufsNIyib4KXrJLh1g/rfT89B6xGXUOlM0qiumyQnCutHZ7ImMAfJJzSYLxgc/7lXOP7+K/yMi4/G3ViVkuGPUN6wdC6uFZcABnpuh4E1oZDr4s6cY/Ran5M3zuN32i27ZzSh05+2LXe2XueSDLe4HxKZkCSNIbenCuIdjV3imwyHW+uPdXAMyIi8mwY9i1+UPndcTAJa97ZcUTudVf6+UdVH0QIPykCKaGhf0Uzsg6ru7lIgMnIePvcbAx7kyW3xQdC6pDqQd293rG8HPSCNxadSdaoabHXHDuIXW2Xlf8zNqIEIN4Jkpd5ekCz6CRFjqCz1+1AFh6530PfyIuhFqcFlFa2S11t5pKNhw5dgGEprNokFO9sUptT5MRY/aZKaWPcDYd8yHoCA+PZ7zqzEdPJ7SwOORM3JlOxwERRHqP1IuvJuGp4ORymoCshAQ1rpxArGUgRlVHQ46VtHh+1urP46jSfqpGxbnYc3v4w0so5oYxA54Hz9+7rZZP3CCF1ot9dqAFYUCkVtJJ5XuKZHeHI7DGVpEmNLliPBqNAgowgBxx5OD0oEMx0mSsuPaighlaxlF0zt7n6L+nrDmM5dkhg5ZtDy1Ea2peoLhkpKjyw3qSZpQC858ZgomIoaEObKj8+oQxpG8GAP1ThTid7C3UWr+YLm5jDIHvPfqdxSIPXR4y/RqVVLBfcKwziSwTj5QSycgmF9Y0uc3QDopUBMLj+0RzKxtYJJ9s5qHN294LbnXyby2M+g0K7aAJozbjau6O3fFh2LUmGkl29nuJKnRUHYi/heCA0betcluSvgPiY3Fv7y3pRcdMpdLJjXMpETGHVhlaj9hIC70+7WY0dRpyuncxOc9sbnK0ZkFkRIpi3rndWIhBaCmfm3O/UoTSrJEB1sHwGoEKI6ALeBZqIYUmxFvTsmsLvOZz4GkAftxazpy8TCXRSlVT9v/JN+RhJfqUXP3kp4MbZAAgyf62qn5EPuOu1M6V21eHVb7pVWUFh25eNEy1c78xAL08acjeE7kBNa6oxP7Kd+XcBlOCeEkQWaX+zQACN2iZwvMf5R3pni/EiJh2sTXJIf0/xApOJB0cOcLEIWFlY26yBuBT9VuzBiGrbqUl77IJccYnfs7m6dGI2+EkCOQHx316eozjp+IgQE8qWiJELHI4qjt58LL1QqenRWaTfNMTuLxl3Fz/GC8yl1t1OKT8nc435PxEHwwFrr9ybPhMvR5n0AHL7n/BSvm9WFQQSq0gbmAlAC8Gdhr5cILujAfj9TuLnVbLQqIzXyyn/k4oeFKNFq2BSA9G7x+zn2eabW7P99YDsEITgxkDo/iTBndogrRVsdMOmufzJAISY1gWOlNejr4xIPlgncvaljlI9xCvSmgt74Hh7DKN+7jaMy17r0ksZ/0f7QfgA9VLeH/iIWt+Tbm4AXgHpIxgIL9FLdEMYTSyqzrxBMNvAVJ9t7XMR6IFUylu7gkrAB2tpTcaHpYfghk6Ja2lLzvwJ09/UeHm/66r7kNKOtoENx8qCYyaeCfe8+/jaZBdp8x4zvXvlzvfjwkQNkH/h18znuRs56sjNpHV2DZes8y8vuFyWFOj3ytVb7o6VjD2l4yfhrdzjEJ8HXjMf2JFNy9AI0yGnqITb4k4wR5QTB2vB1dPI4zxsYV2F+7rNrKqBjXxJHWTrP3l54bTUB/KWQmJr8o0kj4wSib73EgT5b1sfrxXhj/ejr/m31DDjP3WcLLm6jiOOQlvWS3hHwo0SF4UpqQoqVIHm8FXzGGPtIlS6iFUE0ieaI8b6JVY9HbapZ3gHv2Y/dxYWpIgqbWsw2IXOKDLNU7JzQ0jifkM0ol9EaQwu8J0oXoDCuzTPwhaZKymYLPvrcan0Uk/7DK6QhMcarB7Qn2bq31rQ4MU+RUOk7Mnuq+q+rhWU+B6S+YQHBineBGj3Wwl+H+vLRiHwVZhq6r46fvuEDpEZQ5sJRC+pdIZlWZljNgFagPgVRN2tzAbvU2QbA/SbWajJDSq88QMHcSlg51BmpLFU2rUVfG5NTJ190vOcLo3N2fPrW8399dU/XP/g4LbsY6J/ywxTivUmuWrKwKBLn7x7GdbENoO1ntdObBBDhzr5fbs+2Ptzntq0ro5DhrwCoVyeZTbbOLSbHjrwHW9JM/TXI7qfgGlzkj71qYJT39IkJjI9VREo1R8Z7zonDNUiauWV9FAIvXeNDM+tqCulQ2FD66TerQQi9PkR28MKwN+/dy5hkUi5uJyRQYuO9vNV5h2osoMyvMqdu0ulSfNRWz18jhUskx7iQoQ3xUpqSs8LiCkhucl4SvBpLvHoq8UzAtFtVpP/KXQuqyvbNAp9J1qYAMEW/TBtIM+uHKzyJ8s1rdYqNLhqjPHJfV77MiE1/Hjtzy7lkOPnLaPPr+Oey+yIQM0Ia4B5VvmiCYUp+NTZYnvsKkkW/B65Ip7pZIiAehMsoFLr+aSmPVWV89qg8Oh4EvIApZdSI0U87veZzf2YzldpB/NESYwOQjw2/ZU1wqK/TZlb6p8/LRhF1LPolmgHnoAcRHv4E1rEXZ6+CUBn9tLOwSGEVL1suIl47mg5MdDjyr8HqhmDXwxPJF1SMkKKk9nL12YY+sj+wzTzUvjlpgFFe+t6u1HttJw0NZllj72JAN3AvGwBkAvWVCnQzQJOq7Fc8rrgWBtLGDCddGn6ZFYH+DwxPR7P/R3Jdlb4si5UywZwal9x3c2kKSWgfUn1cdQmR6lr0NClghnFG1OklQCAMmvnrngruKX7E6XaG2xgxpT0a3UgKueKuMJ+DFUKCKF2LNJYfpoeONCApIV0SM2Fg2ohU9gGb7t5Y5sCSoJHKuM99F5CWBDHnflfvJK9uTSQW4JJz6N+ZHtKM+w3Bs/pUDhqWrJIBuVgSpZH1hotATZUdxbI1CywjU8uV/5QKYKQFoFZUg2Nnvjg/JF3xDs1tkvuKJLOgnC/86MUz+GnwaDVP3J5ZJ566aF5ad4lrML+QJKmHc1sDhegBmGFTEPKDXSJfzowrD2h0rLBQGz9SSUsFdAbLqOMZrXgJNOR4ie9c9+XYgFcf5N348WbIAN6JufQEcf86xechwheV33c3XlaC11boy/N6f3EiVBYxPdBBC6DUQoU5McuNRXj59j+q1zeIXsgiIwGhZSmvwtUAB8LVqZLMyctiF/uViDYOEHW3rMlYh35Y+tdqBS909mVPzul60bx0QADOa6KQWfvjBUf76pfarnI9ghTO9JdvRlQezJMZ2vjdZ0serX2nBjn18W8wDOE9vsAEIl4kQaJOMhiqbpijQv/MXp8rEzHRFTJIH3PCYxRMgS/i2SYkwZ3cQ2zKPaoYacIVj++bfVaWywkDhj8UwxDdmfUAg0XY2qf4W9WhAVjaVwJGW2Tqhag77oqquHcXN6I/qLUGNRKGgS2GkBIiLz6phY7Cbj5BDGD6koI9C/2sTbhtYNL3qmDPa+DLbkV9qLeCtRvg07XvTOiCbck8julY/ydzc/DMBJzyxkQYatbijbBrhWOFnBOQto7dELyfLm379YCVi+fl2m9seoAXT0Ykre8Y+5Sm5c22UIftz4z82hXeDl5/pEGuiIdGbrITQOIkF0Sbil5H0+cbhtUwuPc01VvL6aWWZsjFJAVk6XYtfafQc2jngg8XcdnhIpmqJlqldZ5zXpsFpM2EhTZWdDPm+BXbRuzJihXTCLQL9a+o423L+9NQplHk6mvp6OrYaGOE5vX/c44ixLgceFxsSkhmdQxi2DQ7LZGkVM4d0QaMmovTggGzVL5ce2/G/rBDZECCK3dDAcdPYmb2XyljiX6cRjUj8rVKbMry7+zrhTTtgYHOmctAgGJZsBOXXwmcR2ARCATo91GGXGaN+tioRbECut35Jaln50VJxxJOpaotidBbsDxH0fezqukVmBS3CRPYF4XNkwpGORNRrfhYHOnUhWKYs5T+C9iGuZSeolUsysDM1KVO03JdeE6qfkOFa/M1IUft01zVVU899KnW1tiBj4lRQfj60tTVg4Patz6iiS7PontILnMFfuN1+jEW3x5UUznYh8RgRd7uzjsbx1fwIHpYEj9d2Bmps3GhGUZRoUUA8pfF8LEnBBNsJtVRXubUI2sORg85wwLsbI6OQnXw/TlCBC+2mHzP+n8bPKVA5KlTmGOetX9aCKEZx3649byfslkUOlzFBXVekLTpaHNff4LiT2YCPGewgFbS/6rPQDanzLy31r9f8ZrIvxb9FOk0UKFwcqiR07qQTqrdKfQykxqKWAVVrAQ3XDOOG9ChFUSFVyCEn/jLWIIjGd8kJCjjesSiLjMlAsLkXicyeNGsYv+bZDXICEoyprQ9NoUfTqH7hG4VqYb6v90Fgk512A/+ORc3t/IsI8ACnVpHtH+DrnYyLc6fxYkaCNtAQEPb+O3I+d8dbBaLLPQZpXkQEt340IjNCR2kBngVh5JWb2IShW/mx2v1JgftWFsQILDQq0YJHfpDEgx7cK0ZShPfk1yO/A6I2I0iNbOdgy5zUKxSQjQxAZ7E5sBtVjQmHus17DRCdJFAK8BUkRoJ3sSj6Qai2BdeT2paJIvai7n0/Z9mDUgJ1EXEEX9kGPWimlx9BfOJP69NLejCtoeBVbMMNZu0cADq81NJ27+S1rjEoaotu22zXN8h4WPxKOc9X/+qxN7oKgZlfP6zg5+rGEcTBy92SU58BQSCO8j4iAAjMm06sJVR/R29m/mNXz/B+L0GBRBgLVhbKyq0YGiZSRz+nYGQxQp0n27XsvupksCGGbiFkk4RD9BX6zh2gGXoZ+Ehcl8kp2EaU2a4H8sRDWr/5LWVVR7Sn4tFJXzWXjBk9M0SkHQSrcIzNPh3vdWI4vFdK1kxyjSzU3vMLQfeEzVIl7GQ6oNNgbqjtWckHG7chJZVY1ZTyWSwz0pQ4MUawYjjKWqaF4qoZZEXeBYMhSjg4LBPFSVmnL1wAFaH3UVWyin7jOETyeLZ/OusEjo9oiGoBz6tDiM+d7zOxxX7fVF/qmgLxjo68m1HkR6PdOmqBZNJ56J58cxy9Ar2ZIc2h7n6n8zXucr8vjveiGrT1bIqADsG9rgLkXvfC6xTE/67OZ4pP5TnKvl2UC450OJw7VBoAQoOG/1zMHVmOHPdGFOn5dEbIJE7MzWAoz9+mwdvxZRXP7hJlX6qhQZQ0rd7XvdVeLbCH8UIGxPzWKUZRhlBFmNPMFvdyAh1q+cTyuNAfWgKRTKJwUzquu3tJwB0suoyERKCcpMKkd0YHWmn65Hxv+LxKALnRlyATQcm2S60kKeZuLO8qlx7x2fI42CvkxZ1PbeqDbFsYdpoqbzL63+UCT7kBdhsMWRlNuHdFVzV9/f6G39IpXuk7U/2WlheozzHrRWxxTZCeSlOLfHIrAEKebbuGBiLyF5FFrdcsVwUMDIOI8w6UJG553B3SslIF9EUD37StGrYzg/EDKhmlFSBQwcZiIhTBTdj9ZT6KUJ0fOZvFyYgBNhJMH77GoyHy+SCbMFl72A6nuWeI/0ieuefI22a3rLKoiuS5orghDF0UrdlT+Y197Sk4tzYqlztkS/7+R96ZLTPNEVoBQ5Mre0biiizcDnZV/XCcVQf141TCVmavyBMarSzjYD57M8x/1aG9Ujg20pphZwAf/MXOvide+Grl4d4jzGayr3opgLmb7DzBWt+vjnqpvRi1+SBT4G9iTPydOfzP5Qdw16qhKGrDcxfr3XH6nCjPJvuOT1gJLMVo2Ht0x6YMyZDgVXcaV29FP5Ixi/JD+MPwdlSoOtUMEJKYLZRnX7ADy7VO3oNftCGM/lzaJP4UN8jbCBWhQazFVUmdVCArhJvHSBFZhuPEOgepeQK3JWCjVXP1TgwkV7JeNG5v7mF2lc90TU+SEO9ZeEhfqtVaQy4Cxym/Jm21LqUVc5+FsJIt+nJM50olmPcrnjqJHlmxaCZYw5aT8cHdB0NwAMqtrjZLZs5b9IOziCV7/IqHwFNSkR6jQWbS6e2go9czisbbICfHaWPpUe0DqsE5W3D1piZUM33cLaYDvWbwAnUJVfSOsZFpBrOt3SdBAiSvuTJDi4tQCUMm4FooDT0UUkUZRLuGIVlD1yc7QeHp2mesrKkEl1hocvtTsPGLCmmakGkCB7tKETjwzrmLG4MfZpq0ExOOuAoyuho5Os4a/m21PhfpELS6HomN5488No1Cxn0KXAkKz/i8IJ19wh6jhYKhHa+1DEA2aaIIYik9rkDGX03gAxgDX5HodGmv4/x3tLQa+ZMqXzKpW0Pf8IoNXxjxJKroD/CqV2YJ/0IMzunAxK8t4IUuTEHngVN+1+BOU+L8pPdaQcM8lZ0WTF0vDH1jvR9XwWgqAFHb8QGozKcPVW/oe/HLntq8JMlPvFv7mAA/R9bRhfc4Cid7kq+SsIWv9+CLWbUQDT+2FGQBDIb5OWyVpr1XUBTM24HmMpvu82VnCcLfd5cpfOe+Ac4tGDMkFX2HT0+huUBu+V3QL6s2tpXVuE1rcg6Ww9UMSX6PtjXKQSvjdwja1c63/g/DDVptEk8ZaJjjoxDgARlxRLnZ1esX245LDkh9OGWNAAXIc1pRBCXbXXbmeEwFqlaT8zV96V0foWFd0h7Skc6Gp5R1h5OF662TWjHrzF2F+Lousb+yZDafPH3aZu5ozQiqd1hI1Edd52GGi6vtfqrkRR8qrglNuiadV6x/7fNFOheWHI/8qmIxkc1i74ltNV+uuTpO7wfCJzdYEJFSYkVn8NwWpjuoKtcx4elr9QqmtYM90IvCgIgSjy8/tLXH6WD8GpXtA1rz1nz8uG1TKco2AF2zdGzV4ZaR4mQ9qL30Mvf4DjJfurDoSPbHOJP+6/2ENQL+DfEN2mqvNwnOvipHI2yNowMHn5hi46qCVLaQGKykTZbAds7aQ9rPwpAPuRRqhAr51QjUEKRelMF17SkmjQ8auHWHsIgnzTUx+/ls0SjfzMln9r5MRb7300Rg5q6OrfrvlwkSzhZlGhR83PO0pZABaiTbD6iTxWvktsh9a5MIvYbAh291A3lnoI60A524elweUlefAY92jSIYsACzSzh6C+Jzvx+ENUZYqY5Z8Hqf2MC6D1szPWJKMi0mTEsn//IPkdffrMV0XLGjRkQhWbW/ZmDHi2DT5Vpxh7fDNIWIEhJ12mUIpKIuERpoZ34AVAgqmEh6odluPHe+z/W/sqa8DBSJl/+LZZe/2iZVVX/WS1QC/ksk8YXB4Nl7npri6YmWqXE+wIK+xMyQ3w7enhaLzV1UCL1QJ6ZMXMhP4lAZV56n+LMFyhQ+0EEvjMA3QyyrNLrz7CuGjBcTJhSNFoLHqhAWxShW5X2uL1pSwqLndkNk+gaCJdxHNkUS0JDEuMzrQyXiPMyzInIAui8TV83+84fPCOx03M7WlcqZA47/DupgxONawVYcbqu158R6mEE+XaydTfmZKCDtKH5/pQnyDL7SVARWQlVn9h3a8BFwxII6wLFNV352+83jg6v3fc70mu7fg4N8M+vwSFQ+aL9HmP87xUAvKQlleWFsTHhhOXUurQltXKGxEF/X/2K4W2DZ2Z+3SjlY2lopAz5XfdXOIA1Tbg5rannasNTpAKm3aGMI/Mq69PmF74HPIl2DUBT270Okuhti0U+c6qd2plgXmY8YYniInmFbh2cmGU0FiTY0auzrCscp6vP56hMQqoCT68IfQEBM7UhC9CmKv4PeAKFe2yfLWl5oPR7k9gqsUyFjqkg1cScSnkUecxE7ATiyYsk0nChEGgd0hyggiB4s+lnw5S74kE5kZnrIELEXz1mbzHwZHOPZOrWoq5uc1AQ8AHQUOvOdL4PXODsbFD7ZNIQBg6g1Lc/kbksxIcwQkaSjP8BkSpE0LFbSkkbZNYXb4YGmrdnOMGYEQpzVXurbUz2AxfxN6wpLTUCYqVR8Zq5JdecTmbr/XyQS8whv96OpxWIqe4POhUoOWtxGlMe86Te3+tL6lfEQ5x/qKPtsN9R9/5SlSEWHiqRFCPAfqXgF9UZQL8AS1Ivx2b3fCisUnwKk6/cBOHOZNuo+mznUmN8GFADcWmRGJ0AZNgCeljm5EcsW+dTBHBq53cCZz5K53iuSADcnEr0HkY0eaRoDUiqarV8ORn5iTW0c1HVuEjfzsizs1RSS9bFWxZg+R1s49Q0E6cxrdwyMMH2EvDrJ1qOb5b9Yb57URbkTuE3pcNfIu+XjPHKk5HtSo89T0MTeI7884ViiWsE7y0/+yZ653BHJg2lAC224jMoohr/EtnpvCNF5groVYqUOciHWjkjBds0s57aY0GIHABMEPi45L+9IKi+Ww2jSCLIsWUz3NJfphGUQQqkRoD9vIxg3WzpkNm45Jvs6rBThcKvmZTV8g76j/gs/DZPIE4+ubmv1/Qt9knydndC+3c7uX1iZ9NMDRIqE1noibYb7iEOlUI64kdMHwT2t2fNMlpV0Uoi9hTZNBda+GsDgLRLXM9d9TTCBd4safFGA1SfHMZZUyHUxBQApykfrSHO7Ya5vSQuZtGsxHck1ududiljeSVz3xKeAf/3fLQlKAlyCM0qF1JVB6rAr8us/m3q6IP5mJcpl/2XmUcSjabLJdENmV1fS9yOgyD/2WbsQAmZZMwAvWhKKFXKVIRMKjr0QgsGVtmMoCyZWhGIJVzwH21oWsBoWf1SyKnL/FzyCQS1DPTP5SmfUQ621qR0eXUGmXzZ4wtwzYUBPXxeE/jiMT1NuTuWmRsU/R0uktAlzMK4F+iTYicPk40VVYTZxI05xOOAssiJ05OGpZGrvVIHvR53JsUAR+RkpM89XQud0HIu4B4Fj08OuE8DrrgckN/WVtjCJ5gejXtctl0H256vk9OD04wGSygy6YB7rKvrc/tfUVPz9R4BqRcKSE112xACU8BZvTsw8awhAQixNFYaNDyqm4BloWeeTZcIuaaQjcPbM/sJITpRWJB5Xrv+QdgKftLGa31MrjtXy+RzDW2KUYrrTR8TWcFz8MTpMxlWpx3rxltmEajShgBIjGqqdJXJyNdw/Yo6jSP655hPesKLku+64H1kgVoCzmZYZP4cvqZS+vWQ0X2jIYCSDjkNuXNORgRXhBnv0M2Xbs43rAlNmprY0x2fxVxpZ3vpY5rSt4OC2ze5zH+5lnWGSpepYCUQhT/dmPM7zENsAoGQOLAt5BTfiy2LBsJKfKGveq3ZIU5bvIZIe9nXtvtTrj0qctZmMcaWvmm/XluXw2gQM4LQTvOItI5SocctiitNzoRSyO83Isw3JQSv+aWQdJNABz18DJ5LpGCUF/xCACEL/ubOb3XZNtZtEfUAjRcwufblK1U4mPBlGOvVMgzECqf997akBnPAn4OdDsHqJU80EZ0J6L2fnHrnk7wf+6JZvYG2VUB+izBiCCctM7JfcX5cQIHWCJuVgk00C5uYaGhGbs2bE4vyU7+xgNBG/8uNlOXJQ5i/Kdirn7rZDQeWV/Gv/jF49HbhDKTLcrVgBu7ofnmPApy2x4i4VcUj6V8K9bDTZkqAJfZlq73I8h0I8r95CviU9QLlOzKOWFKUTpOKMj9glSrq9iuwBlJVQzsWAgGqQ+u/HdWkHtKEr1V3rD4DuSo3evdORuy8PzBopaCSKTsgyjVvzPQ3cAHqb86CMWTdiy9jv3VNP73rqeyQR+AzfopGEe52pC7rxbjUfb/6PzP9oMpFn1/a6ZApObiDp4y5kMtIX1i3HeruoS3MMDUs3QUhGuSFrX2o5X3Rh2Q+yg83UiTRPU8fSOVfW07Lpx/bznAXMl6q18rH3BDZAmEN0WbkWE8zUOI17/IiKfV0419u3M4Vrl6hu8I/cwxTtTiJgzO5Hk4xRsdRz7Thm/XFBm57jtmq+5zsvBj6yELk9ER2zEXjE0PxsYGrWHe2eQzhgDVNr+DK6WC+yMgwoZE4aYw1FxxmYMy55hD99hCRTIoDTtQTjQXXia9bR1erVMH1xuJ5rr5IUvg4cohKpq616YvYDBh0eF0KPiVf/3eShWyXp9MW/I4Xz3VXaubsXnCFcuQqBJn9qOmtbY9RFNFF1giJbU2HOM/sAH+GnBUqCWS7Yj7ymdFJx85Y1D/1eDOYYeBGC26tKyXcCxjeAAGfceGZe8elzweRoMJPRGOB008UC3RkDOOGyUmHEWvCKy07Jfp3XGarhIgcDRp515GQqwNpuBT4YZ/ZbxV87jmq4S930qpubK1o35wfalXkikA/C0AqlNGQvRKwmO/OxLshZODabjMvByovOQYnp+jNcde17miSPgo+MkgJhSDoJN8QPngQJFtUXQ2mEmzG5ayMbt/gLsc/z6YZ+RBulmnGsqxX6k3iF9LzqFCEjYGprTVp197mvSPINEPty87m5H9aaSfOOhU8UfFe0mwBn03cwfj7RW12kxVccMxxxxybWA5i4XvLxZ/XX0we852EemGKGl+SL7Qm4gvyIZMouMhvJlJpDb/Jq4BCYuGRj+B0IdfWKWUm+/Nb3MaCL9dAyNwyKa0mzr65cKJRN3522406kSPZnB2q0G6EP4n+wOFYNo2DXYSqV5GhiV2BOamto23Ic81Cfuo9XgPyAI5CuSDLrYTDiCBOuVcTHDYALASp4RPcIDlbkqVGk9zM6qJH/m6wsoLr/OwWLGeFDJdHePC80TNPYBkymRTxQfhzkKGTnnqCxJzzGPV5vZiDCWSFzefDgU4gTGrYnjkweSOJ/YlcS0v1uZOUMzNjOEGvWAfqOvsqvK2gteAb5Hw3Z45UMF4d6uHBKLSjZSAjJoSPYYopOOx57M5gpIPwq/WS8DnBfKdvLTsNUjC4HUKn0D+zEWcmiPIDGzc2eyKJDFBJ89uQ3hDVy92Zp1KHPYOVE2ZJqXD9WgLjncrPfsu3uKqw7UUzmWFQcviX9DZhsNpEp6+zkrJdRYAlLdJdlezarQ5a9RkcLFz05MYD3v0I0WU+cO5j/Mc3wUDhZkuO3SSXPPVSyY9ZtQhKtwumtXyHyApomvc8xZGLABHLKy89LsewWo+GRW1NetpPtXqZrW1O03J2M/bK1iIywk5A4Ui40ZRu1nzeVDIkYXCpiOhmsBrfkWN1wBiyQUOOCxTWSJKqyxGB7Hncc7TQxZpsK+v4/vN+fa+UaqoTmnw+1zeJ2eOx8cbQbkH+APV2wq4byWgKHrBi+KOY2jnTXgxaquSbAlaPj7j2t2dmzLJF1qdl8JVphniu92SteVG3oD/6wnxeTgcmL/XXVYGLfRgtVDyJ4jykkIdetCQNReHl1si+VCrnQQ64h50XCRepqXOb9zrSjs16M5vpqRYT0uWpFOWdnAV3ZmHX0O0nm0kfN8OzC04U+c1XZOrO8FUJEhTcTmstOV4dk62M/NE8llyVSxilt4Yp93nzUwsMSG/Z7D7KsYtMaDJH/izkZJTpd3D1r26IOcG/w4EakveQlqmZHXfcndS0DAps7ASRFvj5B6b1IWcE6n4gpbAuPIsRrvTZpuKQkA7gtdFGAvXAg0hLWt30YcFJHsqtch9xKbYo3v21M9W7+KXkf+jgu/r9PiZG68tI69RboKaADff2cux7Dt3DI0dacityiI2zl86+nv/vxEVCfPMH/Kb5CwhYebtKxBSpuLzUhzXoSpbmkvnXLNKMbwmD6XcUqwomfs6sQNuHm5ozowSKg/ZTGMg3e6jtfIyDclliDXKphBVhizYs1KdQ0v/dWV9/pR8YCj+hczcwopW2JOwuS1yTUSXKnvF6P3s9sr6kh5UXmunM/swW1U3HTl7ak4HTJfXWLxzKqCZj6xfZiFB0P9PnupjeVAWQTCMadS43w0dwcHzWVXFBBQknZhn2N8Z+nri47JMk25bIQQuasfMd3RKxAaLfIvTKVgUmVMwT3tfIjuyH9MhSOQpTHlwxkHHMeiQntxtXhdgtg+3smi+4eZf+IwXIeMbdewi/Gaq2ENMZqzTDzUdO9NsYZn44MO5Bxft0cBpSOf3kEUYIFVSj6GrDQfwG4+jsn3ycpVFcNQL3wMiBoN1FQb+7K3CI4uWfKD2WMQk3WeIUvQBx5mLSDf87wgFHnG3u/wyvu4zdWk9EFcFo+I891Rkb+m+aU9v3VkxEeWwrAh8ufpJdvE7VhrHayAIOrs82/fGkXZdvbAzL3XosrBMU9yn+MreweRoVfFC0uvyOUmVn+ulyxW/zU9PXMXL2mafRsxhycjWy3QzSvkYwqYgZ0PJDezF9/BkyNBymAGKhwNoikdPGA/LcTfM1kE3TAlwuyEB443WetQmX7fXjCdIGJMsVZRsBuUAvbjWbdKrtha1vPP2WUtugatWpIBHdrOvSBqwluVBqRcpw1xZU6Jdfc/Myop38rNmWI0hi5WzEWFnEkA/ORt8kc7IJI8pKEQMkfVax4NxGit7pZjMXE09H8q1l/jckw3F8w4mlZo8np6SItDrq2E3sjvpg63wOWCh3rOAMzyeAkz2p56NKB1+WBawnF8lWbVGLQMWg8+8EyTn3JjAcm2QMTFAkrn6Y5Kq5HenZ3OobRNR39cWBKmXyXrXaED5JLUg2Z985bM00+5Nv8I7Lvj8/4M6PHx+4UXoiauWr6MOv+A/5pPJkSg7Pd51P8JGouBSsfHElqBLTRp+uxt6s3SmP3WZryEgB8j8FOZjw3srCjVBCJgf9oJNFNH1rq2nLCsr/MVIOyKQrVQoC7af2ud">
            <a:extLst>
              <a:ext uri="{FF2B5EF4-FFF2-40B4-BE49-F238E27FC236}">
                <a16:creationId xmlns:a16="http://schemas.microsoft.com/office/drawing/2014/main" id="{54C4DC46-9525-62B3-A7E1-5F07C5B2B44D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 bwMode="gray">
          <a:xfrm>
            <a:off x="334963" y="1517673"/>
            <a:ext cx="2368588" cy="4754006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Initial outside-in hypothesis on “size of the prize” across the cost bar, based on Bain’s case experience 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1781504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overall_0_132188452698399317 columns_4_132188453963620266 6_1_132188445999145145 12_1_132188452708154467 27_1_132188454203714627 30_1_132188454203834298 33_1_132188454203944005 36_1_132188454204036078 37_1_132188454676626664 38_1_132188454847342073 39_1_132188455101490352 </a:t>
            </a:r>
          </a:p>
        </p:txBody>
      </p:sp>
      <p:graphicFrame>
        <p:nvGraphicFramePr>
          <p:cNvPr id="24" name="btfpTable184668">
            <a:extLst>
              <a:ext uri="{FF2B5EF4-FFF2-40B4-BE49-F238E27FC236}">
                <a16:creationId xmlns:a16="http://schemas.microsoft.com/office/drawing/2014/main" id="{5D5771D8-33F1-5C00-3D01-692EB565A3CD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3030496" y="1268412"/>
          <a:ext cx="8838411" cy="4569416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2151104">
                  <a:extLst>
                    <a:ext uri="{9D8B030D-6E8A-4147-A177-3AD203B41FA5}">
                      <a16:colId xmlns:a16="http://schemas.microsoft.com/office/drawing/2014/main" val="3146461153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55620498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1831536724"/>
                    </a:ext>
                  </a:extLst>
                </a:gridCol>
                <a:gridCol w="1764434">
                  <a:extLst>
                    <a:ext uri="{9D8B030D-6E8A-4147-A177-3AD203B41FA5}">
                      <a16:colId xmlns:a16="http://schemas.microsoft.com/office/drawing/2014/main" val="3581032055"/>
                    </a:ext>
                  </a:extLst>
                </a:gridCol>
                <a:gridCol w="2493998">
                  <a:extLst>
                    <a:ext uri="{9D8B030D-6E8A-4147-A177-3AD203B41FA5}">
                      <a16:colId xmlns:a16="http://schemas.microsoft.com/office/drawing/2014/main" val="1639868706"/>
                    </a:ext>
                  </a:extLst>
                </a:gridCol>
              </a:tblGrid>
              <a:tr h="545171"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200" b="0" spc="300">
                          <a:solidFill>
                            <a:srgbClr val="CC0000"/>
                          </a:solidFill>
                        </a:rPr>
                        <a:t>COST CATEGORY</a:t>
                      </a:r>
                    </a:p>
                  </a:txBody>
                  <a:tcPr marL="45720" marR="45720" anchor="b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0" spc="300">
                          <a:solidFill>
                            <a:srgbClr val="CC0000"/>
                          </a:solidFill>
                        </a:rPr>
                        <a:t>2022 COST</a:t>
                      </a:r>
                    </a:p>
                  </a:txBody>
                  <a:tcPr marL="45720" marR="45720" anchor="b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0" spc="300">
                          <a:solidFill>
                            <a:srgbClr val="CC0000"/>
                          </a:solidFill>
                        </a:rPr>
                        <a:t>FULL POTENTIAL (%)</a:t>
                      </a:r>
                    </a:p>
                  </a:txBody>
                  <a:tcPr marL="45720" marR="45720" anchor="b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0" spc="300">
                          <a:solidFill>
                            <a:srgbClr val="CC0000"/>
                          </a:solidFill>
                        </a:rPr>
                        <a:t>FULL POTENTIAL ($)</a:t>
                      </a:r>
                    </a:p>
                  </a:txBody>
                  <a:tcPr marL="45720" marR="45720" anchor="b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200" b="0" spc="300">
                          <a:solidFill>
                            <a:srgbClr val="CC0000"/>
                          </a:solidFill>
                        </a:rPr>
                        <a:t>RELEVANT TARGET OPPORTUNITY AREAS</a:t>
                      </a:r>
                    </a:p>
                  </a:txBody>
                  <a:tcPr marL="45720" marR="45720" anchor="b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382559"/>
                  </a:ext>
                </a:extLst>
              </a:tr>
              <a:tr h="58151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200" b="1">
                          <a:solidFill>
                            <a:srgbClr val="990000"/>
                          </a:solidFill>
                        </a:rPr>
                        <a:t>Cost of merchandise</a:t>
                      </a:r>
                    </a:p>
                  </a:txBody>
                  <a:tcPr marR="7315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0">
                          <a:solidFill>
                            <a:srgbClr val="990000"/>
                          </a:solidFill>
                        </a:rPr>
                        <a:t>~$64B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0">
                          <a:solidFill>
                            <a:srgbClr val="990000"/>
                          </a:solidFill>
                        </a:rPr>
                        <a:t>~2-5%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0">
                          <a:solidFill>
                            <a:srgbClr val="990000"/>
                          </a:solidFill>
                        </a:rPr>
                        <a:t>~$1-3B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Product cost</a:t>
                      </a:r>
                    </a:p>
                    <a:p>
                      <a:pPr marL="177800" indent="-177800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Freight (inbound)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5288255"/>
                  </a:ext>
                </a:extLst>
              </a:tr>
              <a:tr h="58151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200" b="1">
                          <a:solidFill>
                            <a:srgbClr val="CC0000"/>
                          </a:solidFill>
                        </a:rPr>
                        <a:t>Total Markdowns</a:t>
                      </a:r>
                    </a:p>
                  </a:txBody>
                  <a:tcPr marR="73152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0">
                          <a:solidFill>
                            <a:srgbClr val="CC0000"/>
                          </a:solidFill>
                        </a:rPr>
                        <a:t>~$9B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0">
                          <a:solidFill>
                            <a:srgbClr val="CC0000"/>
                          </a:solidFill>
                        </a:rPr>
                        <a:t>~4-6%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0">
                          <a:solidFill>
                            <a:srgbClr val="CC0000"/>
                          </a:solidFill>
                        </a:rPr>
                        <a:t>~$350-550M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Promotional rates</a:t>
                      </a:r>
                    </a:p>
                    <a:p>
                      <a:pPr marL="177800" indent="-177800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Clearance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5302013"/>
                  </a:ext>
                </a:extLst>
              </a:tr>
              <a:tr h="327102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200" b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Shortage</a:t>
                      </a:r>
                    </a:p>
                  </a:txBody>
                  <a:tcPr marR="73152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~$2B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~10-20%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~$200-400M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200" b="0"/>
                        <a:t>Shortage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6530624"/>
                  </a:ext>
                </a:extLst>
              </a:tr>
              <a:tr h="58151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200" b="1">
                          <a:solidFill>
                            <a:srgbClr val="858585"/>
                          </a:solidFill>
                        </a:rPr>
                        <a:t>Supply chain</a:t>
                      </a:r>
                    </a:p>
                  </a:txBody>
                  <a:tcPr marR="73152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0">
                          <a:solidFill>
                            <a:srgbClr val="858585"/>
                          </a:solidFill>
                        </a:rPr>
                        <a:t>~$8B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0">
                          <a:solidFill>
                            <a:srgbClr val="858585"/>
                          </a:solidFill>
                        </a:rPr>
                        <a:t>~5-10%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0">
                          <a:solidFill>
                            <a:srgbClr val="858585"/>
                          </a:solidFill>
                        </a:rPr>
                        <a:t>~$400-800M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/>
                        <a:t>Replenishment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/>
                        <a:t>Fulfillment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640527"/>
                  </a:ext>
                </a:extLst>
              </a:tr>
              <a:tr h="327102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200" b="1">
                          <a:solidFill>
                            <a:srgbClr val="5C5C5C"/>
                          </a:solidFill>
                        </a:rPr>
                        <a:t>Store expense – labor</a:t>
                      </a:r>
                      <a:r>
                        <a:rPr lang="en-US" sz="1200" b="1" baseline="30000">
                          <a:solidFill>
                            <a:srgbClr val="5C5C5C"/>
                          </a:solidFill>
                        </a:rPr>
                        <a:t>1</a:t>
                      </a:r>
                    </a:p>
                  </a:txBody>
                  <a:tcPr marR="73152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0">
                          <a:solidFill>
                            <a:srgbClr val="5C5C5C"/>
                          </a:solidFill>
                        </a:rPr>
                        <a:t>~$7B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0">
                          <a:solidFill>
                            <a:srgbClr val="5C5C5C"/>
                          </a:solidFill>
                        </a:rPr>
                        <a:t>~2-10%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0">
                          <a:solidFill>
                            <a:srgbClr val="5C5C5C"/>
                          </a:solidFill>
                        </a:rPr>
                        <a:t>~$150-700M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200" b="0"/>
                        <a:t>Store labor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4965784"/>
                  </a:ext>
                </a:extLst>
              </a:tr>
              <a:tr h="327102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200" b="1">
                          <a:solidFill>
                            <a:srgbClr val="333333"/>
                          </a:solidFill>
                        </a:rPr>
                        <a:t>Store expense – other</a:t>
                      </a:r>
                      <a:r>
                        <a:rPr lang="en-US" sz="1200" b="1" baseline="3000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marR="73152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0">
                          <a:solidFill>
                            <a:srgbClr val="333333"/>
                          </a:solidFill>
                        </a:rPr>
                        <a:t>~$2B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0">
                          <a:solidFill>
                            <a:srgbClr val="333333"/>
                          </a:solidFill>
                        </a:rPr>
                        <a:t>~5-7%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0">
                          <a:solidFill>
                            <a:srgbClr val="333333"/>
                          </a:solidFill>
                        </a:rPr>
                        <a:t>~$100-150M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200" b="0"/>
                        <a:t>Property management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881613"/>
                  </a:ext>
                </a:extLst>
              </a:tr>
              <a:tr h="327102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Corporate SG&amp;A</a:t>
                      </a:r>
                    </a:p>
                  </a:txBody>
                  <a:tcPr marR="73152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</a:rPr>
                        <a:t>~$9B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</a:rPr>
                        <a:t>~10-20%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</a:rPr>
                        <a:t>~$1-1.5B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200" b="0"/>
                        <a:t>Corporate SG&amp;A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8335243"/>
                  </a:ext>
                </a:extLst>
              </a:tr>
              <a:tr h="399792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Gross savings opportunity</a:t>
                      </a:r>
                    </a:p>
                  </a:txBody>
                  <a:tcPr marR="73152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$105B</a:t>
                      </a:r>
                      <a:r>
                        <a:rPr lang="en-US" sz="1200" b="1" baseline="3000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~3–7%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~$3–7B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 i="1">
                          <a:solidFill>
                            <a:srgbClr val="000000"/>
                          </a:solidFill>
                        </a:rPr>
                        <a:t>Includes Corp SG&amp;A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495238"/>
                  </a:ext>
                </a:extLst>
              </a:tr>
              <a:tr h="508826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Potential realized savings</a:t>
                      </a:r>
                      <a:br>
                        <a:rPr lang="en-US" sz="1200" b="1">
                          <a:solidFill>
                            <a:srgbClr val="000000"/>
                          </a:solidFill>
                        </a:rPr>
                      </a:br>
                      <a:r>
                        <a:rPr lang="en-US" sz="1200" b="0" i="1">
                          <a:solidFill>
                            <a:srgbClr val="000000"/>
                          </a:solidFill>
                        </a:rPr>
                        <a:t>(Net of investment)</a:t>
                      </a:r>
                    </a:p>
                  </a:txBody>
                  <a:tcPr marR="73152" anchor="ctr">
                    <a:lnT w="190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1200" b="1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~2–4.5%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~$2–4.5B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 i="1">
                          <a:solidFill>
                            <a:srgbClr val="000000"/>
                          </a:solidFill>
                        </a:rPr>
                        <a:t>Assumes ~40% reduction in realized value due to prioritization/tradeoffs, required investment, etc. 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787475"/>
                  </a:ext>
                </a:extLst>
              </a:tr>
            </a:tbl>
          </a:graphicData>
        </a:graphic>
      </p:graphicFrame>
      <p:sp>
        <p:nvSpPr>
          <p:cNvPr id="187" name="Rectangle 186">
            <a:extLst>
              <a:ext uri="{FF2B5EF4-FFF2-40B4-BE49-F238E27FC236}">
                <a16:creationId xmlns:a16="http://schemas.microsoft.com/office/drawing/2014/main" id="{6A38A1A9-8869-1A05-5FF7-6F7F0A26AC9C}"/>
              </a:ext>
            </a:extLst>
          </p:cNvPr>
          <p:cNvSpPr/>
          <p:nvPr/>
        </p:nvSpPr>
        <p:spPr bwMode="gray">
          <a:xfrm>
            <a:off x="3030495" y="6052312"/>
            <a:ext cx="8838411" cy="292350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1200" b="1" i="1">
                <a:solidFill>
                  <a:srgbClr val="000000"/>
                </a:solidFill>
              </a:rPr>
              <a:t>Target’s 2022 </a:t>
            </a:r>
            <a:r>
              <a:rPr lang="en-US" sz="1200" b="1" i="1" err="1">
                <a:solidFill>
                  <a:srgbClr val="000000"/>
                </a:solidFill>
              </a:rPr>
              <a:t>CapEx</a:t>
            </a:r>
            <a:r>
              <a:rPr lang="en-US" sz="1200" b="1" i="1">
                <a:solidFill>
                  <a:srgbClr val="000000"/>
                </a:solidFill>
              </a:rPr>
              <a:t> Spend ($5B) has been excluded from the Operating Expense cost bar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3CE3EB9-9338-33C2-2F50-5BFD21E38B13}"/>
              </a:ext>
            </a:extLst>
          </p:cNvPr>
          <p:cNvCxnSpPr>
            <a:cxnSpLocks/>
          </p:cNvCxnSpPr>
          <p:nvPr/>
        </p:nvCxnSpPr>
        <p:spPr bwMode="gray">
          <a:xfrm flipV="1">
            <a:off x="2225675" y="2388358"/>
            <a:ext cx="800894" cy="1923292"/>
          </a:xfrm>
          <a:prstGeom prst="line">
            <a:avLst/>
          </a:prstGeom>
          <a:ln w="9525" cap="flat" cmpd="sng" algn="ctr">
            <a:solidFill>
              <a:srgbClr val="D6D6D6"/>
            </a:solidFill>
            <a:prstDash val="sysDot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0399C20-6FFA-3E9B-A2AA-51FA069AAC4A}"/>
              </a:ext>
            </a:extLst>
          </p:cNvPr>
          <p:cNvCxnSpPr>
            <a:cxnSpLocks/>
          </p:cNvCxnSpPr>
          <p:nvPr/>
        </p:nvCxnSpPr>
        <p:spPr bwMode="gray">
          <a:xfrm flipV="1">
            <a:off x="2228850" y="2968388"/>
            <a:ext cx="797719" cy="1721087"/>
          </a:xfrm>
          <a:prstGeom prst="line">
            <a:avLst/>
          </a:prstGeom>
          <a:ln w="9525" cap="flat" cmpd="sng" algn="ctr">
            <a:solidFill>
              <a:srgbClr val="D6D6D6"/>
            </a:solidFill>
            <a:prstDash val="sysDot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9B0F1AC-2145-A5BD-553D-8F9F2B94A7C3}"/>
              </a:ext>
            </a:extLst>
          </p:cNvPr>
          <p:cNvCxnSpPr>
            <a:cxnSpLocks/>
          </p:cNvCxnSpPr>
          <p:nvPr/>
        </p:nvCxnSpPr>
        <p:spPr bwMode="gray">
          <a:xfrm flipV="1">
            <a:off x="2235200" y="3295934"/>
            <a:ext cx="791369" cy="1482443"/>
          </a:xfrm>
          <a:prstGeom prst="line">
            <a:avLst/>
          </a:prstGeom>
          <a:ln w="9525" cap="flat" cmpd="sng" algn="ctr">
            <a:solidFill>
              <a:srgbClr val="D6D6D6"/>
            </a:solidFill>
            <a:prstDash val="sysDot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52F8351-2ECF-545E-0D22-AA722E32BEEA}"/>
              </a:ext>
            </a:extLst>
          </p:cNvPr>
          <p:cNvCxnSpPr>
            <a:cxnSpLocks/>
          </p:cNvCxnSpPr>
          <p:nvPr/>
        </p:nvCxnSpPr>
        <p:spPr bwMode="gray">
          <a:xfrm flipV="1">
            <a:off x="2232025" y="3869140"/>
            <a:ext cx="794544" cy="1233087"/>
          </a:xfrm>
          <a:prstGeom prst="line">
            <a:avLst/>
          </a:prstGeom>
          <a:ln w="9525" cap="flat" cmpd="sng" algn="ctr">
            <a:solidFill>
              <a:srgbClr val="D6D6D6"/>
            </a:solidFill>
            <a:prstDash val="sysDot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07E4C5B-4566-E6BD-D39D-4F5F3218B3E9}"/>
              </a:ext>
            </a:extLst>
          </p:cNvPr>
          <p:cNvCxnSpPr>
            <a:cxnSpLocks/>
          </p:cNvCxnSpPr>
          <p:nvPr/>
        </p:nvCxnSpPr>
        <p:spPr bwMode="gray">
          <a:xfrm flipV="1">
            <a:off x="2232025" y="4210334"/>
            <a:ext cx="794544" cy="1174467"/>
          </a:xfrm>
          <a:prstGeom prst="line">
            <a:avLst/>
          </a:prstGeom>
          <a:ln w="9525" cap="flat" cmpd="sng" algn="ctr">
            <a:solidFill>
              <a:srgbClr val="D6D6D6"/>
            </a:solidFill>
            <a:prstDash val="sysDot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D331D0C-6DBD-D323-D979-4B892965E6A0}"/>
              </a:ext>
            </a:extLst>
          </p:cNvPr>
          <p:cNvCxnSpPr>
            <a:cxnSpLocks/>
          </p:cNvCxnSpPr>
          <p:nvPr/>
        </p:nvCxnSpPr>
        <p:spPr bwMode="gray">
          <a:xfrm flipV="1">
            <a:off x="2228850" y="4531057"/>
            <a:ext cx="797719" cy="942645"/>
          </a:xfrm>
          <a:prstGeom prst="line">
            <a:avLst/>
          </a:prstGeom>
          <a:ln w="9525" cap="flat" cmpd="sng" algn="ctr">
            <a:solidFill>
              <a:srgbClr val="D6D6D6"/>
            </a:solidFill>
            <a:prstDash val="sysDot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09ADB11-D225-1F55-A30D-16F069B9E8C8}"/>
              </a:ext>
            </a:extLst>
          </p:cNvPr>
          <p:cNvCxnSpPr>
            <a:cxnSpLocks/>
          </p:cNvCxnSpPr>
          <p:nvPr/>
        </p:nvCxnSpPr>
        <p:spPr bwMode="gray">
          <a:xfrm flipV="1">
            <a:off x="2228850" y="4872251"/>
            <a:ext cx="797719" cy="960225"/>
          </a:xfrm>
          <a:prstGeom prst="line">
            <a:avLst/>
          </a:prstGeom>
          <a:ln w="9525" cap="flat" cmpd="sng" algn="ctr">
            <a:solidFill>
              <a:srgbClr val="D6D6D6"/>
            </a:solidFill>
            <a:prstDash val="sysDot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Rectangle 190">
            <a:extLst>
              <a:ext uri="{FF2B5EF4-FFF2-40B4-BE49-F238E27FC236}">
                <a16:creationId xmlns:a16="http://schemas.microsoft.com/office/drawing/2014/main" id="{0C937C0D-DCC8-4EE6-8C5A-E12F84E1E45C}"/>
              </a:ext>
            </a:extLst>
          </p:cNvPr>
          <p:cNvSpPr/>
          <p:nvPr/>
        </p:nvSpPr>
        <p:spPr bwMode="gray">
          <a:xfrm>
            <a:off x="2162697" y="1728788"/>
            <a:ext cx="45719" cy="2593180"/>
          </a:xfrm>
          <a:prstGeom prst="rect">
            <a:avLst/>
          </a:prstGeom>
          <a:solidFill>
            <a:srgbClr val="990000"/>
          </a:solidFill>
          <a:ln w="9525" cap="flat" cmpd="sng" algn="ctr">
            <a:solidFill>
              <a:srgbClr val="99000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err="1">
              <a:solidFill>
                <a:srgbClr val="FFFFF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E16134-1792-9A3C-8F38-57486FE108A2}"/>
              </a:ext>
            </a:extLst>
          </p:cNvPr>
          <p:cNvSpPr/>
          <p:nvPr/>
        </p:nvSpPr>
        <p:spPr bwMode="gray">
          <a:xfrm>
            <a:off x="2162697" y="4342605"/>
            <a:ext cx="45719" cy="344377"/>
          </a:xfrm>
          <a:prstGeom prst="rect">
            <a:avLst/>
          </a:prstGeom>
          <a:solidFill>
            <a:srgbClr val="CC0000"/>
          </a:solidFill>
          <a:ln w="9525" cap="flat" cmpd="sng" algn="ctr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err="1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620A22-7A5A-0D73-C383-6609CF8C16D4}"/>
              </a:ext>
            </a:extLst>
          </p:cNvPr>
          <p:cNvSpPr/>
          <p:nvPr/>
        </p:nvSpPr>
        <p:spPr bwMode="gray">
          <a:xfrm>
            <a:off x="2162697" y="4707619"/>
            <a:ext cx="45719" cy="6439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solidFill>
              <a:schemeClr val="accent3">
                <a:lumMod val="40000"/>
                <a:lumOff val="6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err="1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6673AF-F9C6-0909-B30D-E7F0D1119024}"/>
              </a:ext>
            </a:extLst>
          </p:cNvPr>
          <p:cNvSpPr/>
          <p:nvPr/>
        </p:nvSpPr>
        <p:spPr bwMode="gray">
          <a:xfrm>
            <a:off x="2162697" y="4792648"/>
            <a:ext cx="45719" cy="307636"/>
          </a:xfrm>
          <a:prstGeom prst="rect">
            <a:avLst/>
          </a:prstGeom>
          <a:solidFill>
            <a:srgbClr val="B4B4B4"/>
          </a:solidFill>
          <a:ln w="9525" cap="flat" cmpd="sng" algn="ctr">
            <a:solidFill>
              <a:srgbClr val="B4B4B4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err="1">
              <a:solidFill>
                <a:srgbClr val="0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A9144C-E6D1-DFDE-9929-571E1B1FA801}"/>
              </a:ext>
            </a:extLst>
          </p:cNvPr>
          <p:cNvSpPr/>
          <p:nvPr/>
        </p:nvSpPr>
        <p:spPr bwMode="gray">
          <a:xfrm>
            <a:off x="2162698" y="5120921"/>
            <a:ext cx="45719" cy="265323"/>
          </a:xfrm>
          <a:prstGeom prst="rect">
            <a:avLst/>
          </a:prstGeom>
          <a:solidFill>
            <a:srgbClr val="858585"/>
          </a:solidFill>
          <a:ln w="9525" cap="flat" cmpd="sng" algn="ctr">
            <a:solidFill>
              <a:srgbClr val="85858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err="1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7077FC-7CAB-788F-D64F-0C80E3A61A38}"/>
              </a:ext>
            </a:extLst>
          </p:cNvPr>
          <p:cNvSpPr/>
          <p:nvPr/>
        </p:nvSpPr>
        <p:spPr bwMode="gray">
          <a:xfrm>
            <a:off x="2162698" y="5406881"/>
            <a:ext cx="45719" cy="60052"/>
          </a:xfrm>
          <a:prstGeom prst="rect">
            <a:avLst/>
          </a:prstGeom>
          <a:solidFill>
            <a:srgbClr val="5C5C5C"/>
          </a:solidFill>
          <a:ln w="9525" cap="flat" cmpd="sng" algn="ctr">
            <a:solidFill>
              <a:srgbClr val="5C5C5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err="1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9EFCAD-E3FD-AAFE-157C-4EF8DE99F8AD}"/>
              </a:ext>
            </a:extLst>
          </p:cNvPr>
          <p:cNvSpPr/>
          <p:nvPr/>
        </p:nvSpPr>
        <p:spPr bwMode="gray">
          <a:xfrm>
            <a:off x="2162697" y="5487571"/>
            <a:ext cx="45719" cy="344379"/>
          </a:xfrm>
          <a:prstGeom prst="rect">
            <a:avLst/>
          </a:prstGeom>
          <a:solidFill>
            <a:srgbClr val="333333"/>
          </a:solidFill>
          <a:ln w="9525" cap="flat" cmpd="sng" algn="ctr">
            <a:solidFill>
              <a:srgbClr val="33333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err="1">
              <a:solidFill>
                <a:srgbClr val="FFFFFF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10FE81B-4D4E-4AB0-8D3A-D070F07BC124}"/>
              </a:ext>
            </a:extLst>
          </p:cNvPr>
          <p:cNvSpPr txBox="1"/>
          <p:nvPr/>
        </p:nvSpPr>
        <p:spPr bwMode="gray">
          <a:xfrm>
            <a:off x="330199" y="1291081"/>
            <a:ext cx="2463800" cy="226591"/>
          </a:xfrm>
          <a:prstGeom prst="rect">
            <a:avLst/>
          </a:prstGeom>
          <a:solidFill>
            <a:srgbClr val="D6D6D6"/>
          </a:solidFill>
        </p:spPr>
        <p:txBody>
          <a:bodyPr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0" spc="300">
                <a:solidFill>
                  <a:srgbClr val="000000"/>
                </a:solidFill>
              </a:rPr>
              <a:t>% TOTAL OP. SPEND</a:t>
            </a:r>
          </a:p>
        </p:txBody>
      </p:sp>
      <p:sp>
        <p:nvSpPr>
          <p:cNvPr id="35" name="btfpNotesBox835649">
            <a:extLst>
              <a:ext uri="{FF2B5EF4-FFF2-40B4-BE49-F238E27FC236}">
                <a16:creationId xmlns:a16="http://schemas.microsoft.com/office/drawing/2014/main" id="{D9D335B4-268B-4659-88E2-3F08A2C3432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gray">
          <a:xfrm>
            <a:off x="330199" y="6468523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(1) $9B of 2022 store expense split across Store expense – labor and Store expense – other; $7B allocated to store labor based on Target’s 2023 goal for stores hourly payroll, with the remaining $2B attributed to store expense – other; (2) $105B total 2022 cost includes depreciation and other, which is excluded from the table given exclusion from Target’s priority opportunity areas for efficiency realization | Source: Bain experience; Target Financial Overview 5.24.23</a:t>
            </a:r>
          </a:p>
        </p:txBody>
      </p:sp>
      <p:sp>
        <p:nvSpPr>
          <p:cNvPr id="36" name="ADAPT@BAIN">
            <a:extLst>
              <a:ext uri="{FF2B5EF4-FFF2-40B4-BE49-F238E27FC236}">
                <a16:creationId xmlns:a16="http://schemas.microsoft.com/office/drawing/2014/main" id="{4499EBC3-558A-4EB0-9E96-1177E5EF9410}"/>
              </a:ext>
            </a:extLst>
          </p:cNvPr>
          <p:cNvSpPr txBox="1"/>
          <p:nvPr/>
        </p:nvSpPr>
        <p:spPr>
          <a:xfrm>
            <a:off x="10653835" y="45774"/>
            <a:ext cx="1215077" cy="226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 algn="l" defTabSz="821531">
              <a:defRPr sz="2000" b="0" spc="200">
                <a:solidFill>
                  <a:srgbClr val="000000">
                    <a:alpha val="20000"/>
                  </a:srgb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 marL="0" marR="0" lvl="0" indent="0" algn="r" defTabSz="82153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all" spc="200" normalizeH="0" baseline="0" noProof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latin typeface="Arial" panose="020B0604020202020204" pitchFamily="34" charset="0"/>
                <a:sym typeface="Arial Black"/>
              </a:rPr>
              <a:t>Directional</a:t>
            </a:r>
          </a:p>
        </p:txBody>
      </p:sp>
      <p:sp>
        <p:nvSpPr>
          <p:cNvPr id="33" name="CommentBox">
            <a:extLst>
              <a:ext uri="{FF2B5EF4-FFF2-40B4-BE49-F238E27FC236}">
                <a16:creationId xmlns:a16="http://schemas.microsoft.com/office/drawing/2014/main" id="{3A9F28E7-B143-E3AB-E969-26444229DF1D}"/>
              </a:ext>
            </a:extLst>
          </p:cNvPr>
          <p:cNvSpPr/>
          <p:nvPr/>
        </p:nvSpPr>
        <p:spPr bwMode="gray">
          <a:xfrm>
            <a:off x="10748867" y="93290"/>
            <a:ext cx="1387151" cy="771676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B03C6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900" b="1">
                <a:solidFill>
                  <a:srgbClr val="FFFFFF"/>
                </a:solidFill>
                <a:latin typeface="Arial" panose="020B0604020202020204" pitchFamily="34" charset="0"/>
              </a:rPr>
              <a:t>SBN: Target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2339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btfpColumnIndicatorGroup2">
            <a:extLst>
              <a:ext uri="{FF2B5EF4-FFF2-40B4-BE49-F238E27FC236}">
                <a16:creationId xmlns:a16="http://schemas.microsoft.com/office/drawing/2014/main" id="{DA22C571-20B3-3145-D416-C3E96D750D46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66" name="btfpColumnGapBlocker424098">
              <a:extLst>
                <a:ext uri="{FF2B5EF4-FFF2-40B4-BE49-F238E27FC236}">
                  <a16:creationId xmlns:a16="http://schemas.microsoft.com/office/drawing/2014/main" id="{31C33D15-094F-8C27-B6F2-F48987CB6167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61" name="btfpColumnGapBlocker629039">
              <a:extLst>
                <a:ext uri="{FF2B5EF4-FFF2-40B4-BE49-F238E27FC236}">
                  <a16:creationId xmlns:a16="http://schemas.microsoft.com/office/drawing/2014/main" id="{E319DD37-99BC-0092-98A5-8274FDF4120D}"/>
                </a:ext>
              </a:extLst>
            </p:cNvPr>
            <p:cNvSpPr/>
            <p:nvPr/>
          </p:nvSpPr>
          <p:spPr bwMode="gray">
            <a:xfrm>
              <a:off x="884376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6" name="btfpColumnIndicator478168">
              <a:extLst>
                <a:ext uri="{FF2B5EF4-FFF2-40B4-BE49-F238E27FC236}">
                  <a16:creationId xmlns:a16="http://schemas.microsoft.com/office/drawing/2014/main" id="{66C7ACA7-65C0-1DD1-17DE-D7A849B97EE4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btfpColumnIndicator434450">
              <a:extLst>
                <a:ext uri="{FF2B5EF4-FFF2-40B4-BE49-F238E27FC236}">
                  <a16:creationId xmlns:a16="http://schemas.microsoft.com/office/drawing/2014/main" id="{13A08190-7129-13BC-5FD8-028D6D7B9F54}"/>
                </a:ext>
              </a:extLst>
            </p:cNvPr>
            <p:cNvCxnSpPr/>
            <p:nvPr/>
          </p:nvCxnSpPr>
          <p:spPr bwMode="gray">
            <a:xfrm flipV="1">
              <a:off x="938430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btfpColumnGapBlocker238136">
              <a:extLst>
                <a:ext uri="{FF2B5EF4-FFF2-40B4-BE49-F238E27FC236}">
                  <a16:creationId xmlns:a16="http://schemas.microsoft.com/office/drawing/2014/main" id="{D7AA3A3B-E174-C8F6-FF75-9A82888883B3}"/>
                </a:ext>
              </a:extLst>
            </p:cNvPr>
            <p:cNvSpPr/>
            <p:nvPr/>
          </p:nvSpPr>
          <p:spPr bwMode="gray">
            <a:xfrm>
              <a:off x="5825728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0" name="btfpColumnIndicator697783">
              <a:extLst>
                <a:ext uri="{FF2B5EF4-FFF2-40B4-BE49-F238E27FC236}">
                  <a16:creationId xmlns:a16="http://schemas.microsoft.com/office/drawing/2014/main" id="{A19226A7-F898-AC2A-3397-D5791C27E531}"/>
                </a:ext>
              </a:extLst>
            </p:cNvPr>
            <p:cNvCxnSpPr/>
            <p:nvPr/>
          </p:nvCxnSpPr>
          <p:spPr bwMode="gray">
            <a:xfrm flipV="1">
              <a:off x="884376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btfpColumnIndicator693786">
              <a:extLst>
                <a:ext uri="{FF2B5EF4-FFF2-40B4-BE49-F238E27FC236}">
                  <a16:creationId xmlns:a16="http://schemas.microsoft.com/office/drawing/2014/main" id="{D89D62B4-5862-E6C6-3EBC-24F0954552AF}"/>
                </a:ext>
              </a:extLst>
            </p:cNvPr>
            <p:cNvCxnSpPr/>
            <p:nvPr/>
          </p:nvCxnSpPr>
          <p:spPr bwMode="gray">
            <a:xfrm flipV="1">
              <a:off x="636627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btfpColumnGapBlocker168205">
              <a:extLst>
                <a:ext uri="{FF2B5EF4-FFF2-40B4-BE49-F238E27FC236}">
                  <a16:creationId xmlns:a16="http://schemas.microsoft.com/office/drawing/2014/main" id="{779F24F5-378D-907E-4B86-C7B536D1F0EF}"/>
                </a:ext>
              </a:extLst>
            </p:cNvPr>
            <p:cNvSpPr/>
            <p:nvPr/>
          </p:nvSpPr>
          <p:spPr bwMode="gray">
            <a:xfrm>
              <a:off x="2807692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4" name="btfpColumnIndicator230841">
              <a:extLst>
                <a:ext uri="{FF2B5EF4-FFF2-40B4-BE49-F238E27FC236}">
                  <a16:creationId xmlns:a16="http://schemas.microsoft.com/office/drawing/2014/main" id="{CE0C81FE-8660-E741-C53F-EBE5A4F779A6}"/>
                </a:ext>
              </a:extLst>
            </p:cNvPr>
            <p:cNvCxnSpPr/>
            <p:nvPr/>
          </p:nvCxnSpPr>
          <p:spPr bwMode="gray">
            <a:xfrm flipV="1">
              <a:off x="582572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btfpColumnIndicator747076">
              <a:extLst>
                <a:ext uri="{FF2B5EF4-FFF2-40B4-BE49-F238E27FC236}">
                  <a16:creationId xmlns:a16="http://schemas.microsoft.com/office/drawing/2014/main" id="{8706780D-C0E3-503C-C4BE-BD2F6026467D}"/>
                </a:ext>
              </a:extLst>
            </p:cNvPr>
            <p:cNvCxnSpPr/>
            <p:nvPr/>
          </p:nvCxnSpPr>
          <p:spPr bwMode="gray">
            <a:xfrm flipV="1">
              <a:off x="334823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btfpColumnGapBlocker528280">
              <a:extLst>
                <a:ext uri="{FF2B5EF4-FFF2-40B4-BE49-F238E27FC236}">
                  <a16:creationId xmlns:a16="http://schemas.microsoft.com/office/drawing/2014/main" id="{137F5BE7-47C2-1BED-C1B4-5BBB6B59963A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1" name="btfpColumnIndicator100413">
              <a:extLst>
                <a:ext uri="{FF2B5EF4-FFF2-40B4-BE49-F238E27FC236}">
                  <a16:creationId xmlns:a16="http://schemas.microsoft.com/office/drawing/2014/main" id="{667C7589-B76B-AE33-E5F1-A66D7FB63DB2}"/>
                </a:ext>
              </a:extLst>
            </p:cNvPr>
            <p:cNvCxnSpPr/>
            <p:nvPr/>
          </p:nvCxnSpPr>
          <p:spPr bwMode="gray">
            <a:xfrm flipV="1">
              <a:off x="280769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btfpColumnIndicator867185">
              <a:extLst>
                <a:ext uri="{FF2B5EF4-FFF2-40B4-BE49-F238E27FC236}">
                  <a16:creationId xmlns:a16="http://schemas.microsoft.com/office/drawing/2014/main" id="{9EE74C70-E50B-03BE-D6CF-D650D1F81237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btfpColumnIndicatorGroup1">
            <a:extLst>
              <a:ext uri="{FF2B5EF4-FFF2-40B4-BE49-F238E27FC236}">
                <a16:creationId xmlns:a16="http://schemas.microsoft.com/office/drawing/2014/main" id="{66D81387-C4F4-E634-78DA-204D92D415C4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64" name="btfpColumnGapBlocker831501">
              <a:extLst>
                <a:ext uri="{FF2B5EF4-FFF2-40B4-BE49-F238E27FC236}">
                  <a16:creationId xmlns:a16="http://schemas.microsoft.com/office/drawing/2014/main" id="{C9E92707-651A-B214-9777-C95C770BD77A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57" name="btfpColumnGapBlocker605019">
              <a:extLst>
                <a:ext uri="{FF2B5EF4-FFF2-40B4-BE49-F238E27FC236}">
                  <a16:creationId xmlns:a16="http://schemas.microsoft.com/office/drawing/2014/main" id="{B5399C41-75AB-CD0B-AEE1-53B4CC46B379}"/>
                </a:ext>
              </a:extLst>
            </p:cNvPr>
            <p:cNvSpPr/>
            <p:nvPr/>
          </p:nvSpPr>
          <p:spPr bwMode="gray">
            <a:xfrm>
              <a:off x="884376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5" name="btfpColumnIndicator736544">
              <a:extLst>
                <a:ext uri="{FF2B5EF4-FFF2-40B4-BE49-F238E27FC236}">
                  <a16:creationId xmlns:a16="http://schemas.microsoft.com/office/drawing/2014/main" id="{DE0168BD-AF90-B445-9F5F-22FA858597EE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btfpColumnIndicator378973">
              <a:extLst>
                <a:ext uri="{FF2B5EF4-FFF2-40B4-BE49-F238E27FC236}">
                  <a16:creationId xmlns:a16="http://schemas.microsoft.com/office/drawing/2014/main" id="{FFB0BCD8-C2EF-A829-2BB2-E4F0AE06B2A0}"/>
                </a:ext>
              </a:extLst>
            </p:cNvPr>
            <p:cNvCxnSpPr/>
            <p:nvPr/>
          </p:nvCxnSpPr>
          <p:spPr bwMode="gray">
            <a:xfrm flipV="1">
              <a:off x="938430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btfpColumnGapBlocker166775">
              <a:extLst>
                <a:ext uri="{FF2B5EF4-FFF2-40B4-BE49-F238E27FC236}">
                  <a16:creationId xmlns:a16="http://schemas.microsoft.com/office/drawing/2014/main" id="{4AD64446-9415-1B01-C8A2-CA684246AC6D}"/>
                </a:ext>
              </a:extLst>
            </p:cNvPr>
            <p:cNvSpPr/>
            <p:nvPr/>
          </p:nvSpPr>
          <p:spPr bwMode="gray">
            <a:xfrm>
              <a:off x="5825728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9" name="btfpColumnIndicator325841">
              <a:extLst>
                <a:ext uri="{FF2B5EF4-FFF2-40B4-BE49-F238E27FC236}">
                  <a16:creationId xmlns:a16="http://schemas.microsoft.com/office/drawing/2014/main" id="{EACA4D89-7A03-493C-9773-66DA0C4D1DD8}"/>
                </a:ext>
              </a:extLst>
            </p:cNvPr>
            <p:cNvCxnSpPr/>
            <p:nvPr/>
          </p:nvCxnSpPr>
          <p:spPr bwMode="gray">
            <a:xfrm flipV="1">
              <a:off x="884376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btfpColumnIndicator280572">
              <a:extLst>
                <a:ext uri="{FF2B5EF4-FFF2-40B4-BE49-F238E27FC236}">
                  <a16:creationId xmlns:a16="http://schemas.microsoft.com/office/drawing/2014/main" id="{0BC53F9A-8C2F-0E08-28D8-D14C996EFB84}"/>
                </a:ext>
              </a:extLst>
            </p:cNvPr>
            <p:cNvCxnSpPr/>
            <p:nvPr/>
          </p:nvCxnSpPr>
          <p:spPr bwMode="gray">
            <a:xfrm flipV="1">
              <a:off x="636627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btfpColumnGapBlocker125780">
              <a:extLst>
                <a:ext uri="{FF2B5EF4-FFF2-40B4-BE49-F238E27FC236}">
                  <a16:creationId xmlns:a16="http://schemas.microsoft.com/office/drawing/2014/main" id="{7BCBB73A-2250-1146-A603-458A6BEDE007}"/>
                </a:ext>
              </a:extLst>
            </p:cNvPr>
            <p:cNvSpPr/>
            <p:nvPr/>
          </p:nvSpPr>
          <p:spPr bwMode="gray">
            <a:xfrm>
              <a:off x="2807692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3" name="btfpColumnIndicator541468">
              <a:extLst>
                <a:ext uri="{FF2B5EF4-FFF2-40B4-BE49-F238E27FC236}">
                  <a16:creationId xmlns:a16="http://schemas.microsoft.com/office/drawing/2014/main" id="{5B64F5EE-B7C8-7513-1EE9-6F4AEACB7334}"/>
                </a:ext>
              </a:extLst>
            </p:cNvPr>
            <p:cNvCxnSpPr/>
            <p:nvPr/>
          </p:nvCxnSpPr>
          <p:spPr bwMode="gray">
            <a:xfrm flipV="1">
              <a:off x="582572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btfpColumnIndicator813721">
              <a:extLst>
                <a:ext uri="{FF2B5EF4-FFF2-40B4-BE49-F238E27FC236}">
                  <a16:creationId xmlns:a16="http://schemas.microsoft.com/office/drawing/2014/main" id="{0D220A66-E755-4FCD-975D-D7A6DC609636}"/>
                </a:ext>
              </a:extLst>
            </p:cNvPr>
            <p:cNvCxnSpPr/>
            <p:nvPr/>
          </p:nvCxnSpPr>
          <p:spPr bwMode="gray">
            <a:xfrm flipV="1">
              <a:off x="334823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btfpColumnGapBlocker424462">
              <a:extLst>
                <a:ext uri="{FF2B5EF4-FFF2-40B4-BE49-F238E27FC236}">
                  <a16:creationId xmlns:a16="http://schemas.microsoft.com/office/drawing/2014/main" id="{944AB9AE-8F9D-77CE-F7E8-7B356E02FB16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0" name="btfpColumnIndicator383904">
              <a:extLst>
                <a:ext uri="{FF2B5EF4-FFF2-40B4-BE49-F238E27FC236}">
                  <a16:creationId xmlns:a16="http://schemas.microsoft.com/office/drawing/2014/main" id="{8E47A8D9-077E-EBE5-B340-1E2B9D529DAB}"/>
                </a:ext>
              </a:extLst>
            </p:cNvPr>
            <p:cNvCxnSpPr/>
            <p:nvPr/>
          </p:nvCxnSpPr>
          <p:spPr bwMode="gray">
            <a:xfrm flipV="1">
              <a:off x="280769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btfpColumnIndicator196509">
              <a:extLst>
                <a:ext uri="{FF2B5EF4-FFF2-40B4-BE49-F238E27FC236}">
                  <a16:creationId xmlns:a16="http://schemas.microsoft.com/office/drawing/2014/main" id="{098EE7A8-950F-83BF-5B25-C5F630C43127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12670595-DB05-43FE-9A96-9263F73D7F74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606" imgH="608" progId="TCLayout.ActiveDocument.1">
                  <p:embed/>
                </p:oleObj>
              </mc:Choice>
              <mc:Fallback>
                <p:oleObj name="think-cell Slide" r:id="rId21" imgW="606" imgH="608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670595-DB05-43FE-9A96-9263F73D7F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BDBC0A3-12BD-4CCE-BC8F-5148E0155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1"/>
            <a:ext cx="11522075" cy="876687"/>
          </a:xfrm>
        </p:spPr>
        <p:txBody>
          <a:bodyPr vert="horz"/>
          <a:lstStyle/>
          <a:p>
            <a:r>
              <a:rPr lang="en-US" sz="2400" b="1"/>
              <a:t>Outside-in-hypothesis:</a:t>
            </a:r>
            <a:r>
              <a:rPr lang="en-US" b="1"/>
              <a:t> </a:t>
            </a:r>
            <a:r>
              <a:rPr lang="en-US"/>
              <a:t>There is likely $50-75M in savings on the current in scope expense (additional potential if cost base increases)</a:t>
            </a:r>
          </a:p>
        </p:txBody>
      </p:sp>
      <p:grpSp>
        <p:nvGrpSpPr>
          <p:cNvPr id="40" name="btfpStatusSticker519668">
            <a:extLst>
              <a:ext uri="{FF2B5EF4-FFF2-40B4-BE49-F238E27FC236}">
                <a16:creationId xmlns:a16="http://schemas.microsoft.com/office/drawing/2014/main" id="{338C1A15-0573-4568-85CC-294AD9832639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0100356" y="955344"/>
            <a:ext cx="1761444" cy="235611"/>
            <a:chOff x="-3416449" y="876300"/>
            <a:chExt cx="1761444" cy="235611"/>
          </a:xfrm>
        </p:grpSpPr>
        <p:sp>
          <p:nvSpPr>
            <p:cNvPr id="38" name="btfpStatusStickerText519668">
              <a:extLst>
                <a:ext uri="{FF2B5EF4-FFF2-40B4-BE49-F238E27FC236}">
                  <a16:creationId xmlns:a16="http://schemas.microsoft.com/office/drawing/2014/main" id="{5730700E-2DF3-487C-B3EC-CED9ADFA8F9E}"/>
                </a:ext>
              </a:extLst>
            </p:cNvPr>
            <p:cNvSpPr txBox="1"/>
            <p:nvPr/>
          </p:nvSpPr>
          <p:spPr bwMode="gray">
            <a:xfrm>
              <a:off x="-3416449" y="876300"/>
              <a:ext cx="1761444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all" spc="45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Preliminary</a:t>
              </a:r>
            </a:p>
          </p:txBody>
        </p:sp>
        <p:cxnSp>
          <p:nvCxnSpPr>
            <p:cNvPr id="39" name="btfpStatusStickerLine519668">
              <a:extLst>
                <a:ext uri="{FF2B5EF4-FFF2-40B4-BE49-F238E27FC236}">
                  <a16:creationId xmlns:a16="http://schemas.microsoft.com/office/drawing/2014/main" id="{E46FA075-EDC3-4BF2-B9E8-56D555EF43A2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3416449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" name="btfpTable271735">
            <a:extLst>
              <a:ext uri="{FF2B5EF4-FFF2-40B4-BE49-F238E27FC236}">
                <a16:creationId xmlns:a16="http://schemas.microsoft.com/office/drawing/2014/main" id="{C28B6A60-A539-4E37-94F9-E85D41C71009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4063999" y="1269999"/>
          <a:ext cx="7800348" cy="5153359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202482">
                  <a:extLst>
                    <a:ext uri="{9D8B030D-6E8A-4147-A177-3AD203B41FA5}">
                      <a16:colId xmlns:a16="http://schemas.microsoft.com/office/drawing/2014/main" val="4227306312"/>
                    </a:ext>
                  </a:extLst>
                </a:gridCol>
                <a:gridCol w="1516284">
                  <a:extLst>
                    <a:ext uri="{9D8B030D-6E8A-4147-A177-3AD203B41FA5}">
                      <a16:colId xmlns:a16="http://schemas.microsoft.com/office/drawing/2014/main" val="2662201501"/>
                    </a:ext>
                  </a:extLst>
                </a:gridCol>
                <a:gridCol w="5081582">
                  <a:extLst>
                    <a:ext uri="{9D8B030D-6E8A-4147-A177-3AD203B41FA5}">
                      <a16:colId xmlns:a16="http://schemas.microsoft.com/office/drawing/2014/main" val="1891723889"/>
                    </a:ext>
                  </a:extLst>
                </a:gridCol>
              </a:tblGrid>
              <a:tr h="487689"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/>
                        <a:t>Saving potential </a:t>
                      </a:r>
                      <a:r>
                        <a:rPr lang="en-US" sz="1000" b="0"/>
                        <a:t>(Directional est.)</a:t>
                      </a:r>
                      <a:endParaRPr lang="en-US" sz="1000" b="0" i="1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/>
                        <a:t>Addressable 2025E cost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/>
                        <a:t>Key levers (not exhaustive)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59996418"/>
                  </a:ext>
                </a:extLst>
              </a:tr>
              <a:tr h="44419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858585"/>
                          </a:solidFill>
                        </a:rPr>
                        <a:t>3-5%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/>
                        <a:t>$39.7M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/>
                        <a:t>Levers highly varied, TBD based on current state assessment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4962192"/>
                  </a:ext>
                </a:extLst>
              </a:tr>
              <a:tr h="46813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858585"/>
                          </a:solidFill>
                        </a:rPr>
                        <a:t>3-5%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/>
                        <a:t>$57.3M </a:t>
                      </a:r>
                      <a:br>
                        <a:rPr lang="en-US" sz="1000" b="1"/>
                      </a:br>
                      <a:r>
                        <a:rPr lang="en-US" sz="800"/>
                        <a:t>(Excludes IMS Fees)</a:t>
                      </a: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/>
                        <a:t>Near-term </a:t>
                      </a:r>
                      <a:r>
                        <a:rPr lang="en-US" sz="1000" b="0"/>
                        <a:t>R</a:t>
                      </a:r>
                      <a:r>
                        <a:rPr lang="en-US" sz="1000"/>
                        <a:t>ationalize investment funds to reduce complexity</a:t>
                      </a:r>
                    </a:p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/>
                        <a:t>Long-term:</a:t>
                      </a:r>
                      <a:r>
                        <a:rPr lang="en-US" sz="1000"/>
                        <a:t> Review investment team resourcing for potential consolidation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7893833"/>
                  </a:ext>
                </a:extLst>
              </a:tr>
              <a:tr h="676309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858585"/>
                          </a:solidFill>
                        </a:rPr>
                        <a:t>3-7%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/>
                        <a:t>$77.8M</a:t>
                      </a:r>
                      <a:r>
                        <a:rPr lang="en-US" sz="1000"/>
                        <a:t> </a:t>
                      </a:r>
                      <a:br>
                        <a:rPr lang="en-US" sz="1000"/>
                      </a:br>
                      <a:r>
                        <a:rPr lang="en-US" sz="800"/>
                        <a:t>(excludes Marketing Agency Fees)</a:t>
                      </a: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/>
                        <a:t>Near-term:</a:t>
                      </a:r>
                      <a:r>
                        <a:rPr lang="en-US" sz="1000" b="0"/>
                        <a:t> Review existing partnerships for return on investment and assess mix of marketing investment across brand building and activation activity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00" b="1"/>
                        <a:t>Long-term:</a:t>
                      </a:r>
                      <a:r>
                        <a:rPr lang="en-US" sz="1000" b="0"/>
                        <a:t> Optimize distribution network to reduce low-performing wholesalers</a:t>
                      </a:r>
                      <a:endParaRPr 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472206"/>
                  </a:ext>
                </a:extLst>
              </a:tr>
              <a:tr h="921171"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600"/>
                        </a:spcBef>
                        <a:buNone/>
                      </a:pPr>
                      <a:r>
                        <a:rPr lang="en-US" sz="1100">
                          <a:solidFill>
                            <a:srgbClr val="CC0000"/>
                          </a:solidFill>
                        </a:rPr>
                        <a:t>20-30%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600"/>
                        </a:spcBef>
                        <a:buNone/>
                      </a:pPr>
                      <a:r>
                        <a:rPr lang="en-US" sz="1000" b="1"/>
                        <a:t>$57.1M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600"/>
                        </a:spcBef>
                        <a:buNone/>
                      </a:pPr>
                      <a:r>
                        <a:rPr lang="en-US" sz="1000" b="1"/>
                        <a:t>Near-term:</a:t>
                      </a:r>
                      <a:r>
                        <a:rPr lang="en-US" sz="1000" b="0"/>
                        <a:t> Reduce high-cost interactions through self-service, process redesign, and addressing upstream drivers</a:t>
                      </a:r>
                    </a:p>
                    <a:p>
                      <a:pPr marL="0" indent="0">
                        <a:spcBef>
                          <a:spcPts val="600"/>
                        </a:spcBef>
                        <a:buNone/>
                      </a:pPr>
                      <a:r>
                        <a:rPr lang="en-US" sz="1000" b="1"/>
                        <a:t>Long-term:</a:t>
                      </a:r>
                      <a:r>
                        <a:rPr lang="en-US" sz="1000" b="0"/>
                        <a:t> Increase automation / digitization to reduce human intervention, consider outsourcing high complexity processes, simplify and digitize the customer experience, and focus development on cost-effective products</a:t>
                      </a:r>
                      <a:endParaRPr lang="en-US" sz="10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0506645"/>
                  </a:ext>
                </a:extLst>
              </a:tr>
              <a:tr h="99667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CC0000"/>
                          </a:solidFill>
                        </a:rPr>
                        <a:t>10-30%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/>
                        <a:t>$125.2M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/>
                        <a:t>Near-term: </a:t>
                      </a:r>
                      <a:r>
                        <a:rPr lang="en-US" sz="1000" b="0"/>
                        <a:t>Optimize sourcing / shoring mix, manage Finance &amp; Actuarial demand (e.g., reduce non-critical reporting requirements), and introduce zero based budgeting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00" b="1"/>
                        <a:t>Long-term:</a:t>
                      </a:r>
                      <a:r>
                        <a:rPr lang="en-US" sz="1000" b="0"/>
                        <a:t> Modernize technology systems and increase automation, implement zero-based budgeting enterprise-wide, and expand sourcing / shoring usage across functions</a:t>
                      </a:r>
                      <a:endParaRPr lang="en-US" sz="10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912409"/>
                  </a:ext>
                </a:extLst>
              </a:tr>
              <a:tr h="845665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CC0000"/>
                          </a:solidFill>
                        </a:rPr>
                        <a:t>10-30%</a:t>
                      </a: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/>
                        <a:t>$132.9M</a:t>
                      </a: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/>
                        <a:t>Near-term:</a:t>
                      </a:r>
                      <a:r>
                        <a:rPr lang="en-US" sz="1000" b="0"/>
                        <a:t> Reduce IT activities through de-duplication, project rationalization, and more efficient project mgmt.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00" b="1"/>
                        <a:t>Long-term:</a:t>
                      </a:r>
                      <a:r>
                        <a:rPr lang="en-US" sz="1000" b="0"/>
                        <a:t> Optimize technology systems / architecture by reducing unused capacity, consolidating assets (e.g., data centers), and migration to next-gen technology</a:t>
                      </a:r>
                      <a:endParaRPr lang="en-US" sz="1000" b="1"/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3529171"/>
                  </a:ext>
                </a:extLst>
              </a:tr>
              <a:tr h="256719">
                <a:tc>
                  <a:txBody>
                    <a:bodyPr/>
                    <a:lstStyle/>
                    <a:p>
                      <a:pPr marL="0" indent="0" algn="r">
                        <a:spcBef>
                          <a:spcPts val="600"/>
                        </a:spcBef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~10-15%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600"/>
                        </a:spcBef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</a:rPr>
                        <a:t>$483M*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600"/>
                        </a:spcBef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</a:rPr>
                        <a:t>Total cost savings of ~$50-75M on addressable cost base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43546269"/>
                  </a:ext>
                </a:extLst>
              </a:tr>
            </a:tbl>
          </a:graphicData>
        </a:graphic>
      </p:graphicFrame>
      <p:sp>
        <p:nvSpPr>
          <p:cNvPr id="4" name="btfpLegendSquare976026">
            <a:extLst>
              <a:ext uri="{FF2B5EF4-FFF2-40B4-BE49-F238E27FC236}">
                <a16:creationId xmlns:a16="http://schemas.microsoft.com/office/drawing/2014/main" id="{153E9ABB-962D-4838-B656-E53998D8B67E}"/>
              </a:ext>
            </a:extLst>
          </p:cNvPr>
          <p:cNvSpPr/>
          <p:nvPr/>
        </p:nvSpPr>
        <p:spPr bwMode="gray">
          <a:xfrm>
            <a:off x="2057139" y="1448558"/>
            <a:ext cx="108109" cy="108109"/>
          </a:xfrm>
          <a:prstGeom prst="rect">
            <a:avLst/>
          </a:prstGeom>
          <a:solidFill>
            <a:srgbClr val="CC0000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80181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Deep dive to follow</a:t>
            </a:r>
          </a:p>
        </p:txBody>
      </p:sp>
      <p:sp>
        <p:nvSpPr>
          <p:cNvPr id="75" name="btfpLegendSquare97602611">
            <a:extLst>
              <a:ext uri="{FF2B5EF4-FFF2-40B4-BE49-F238E27FC236}">
                <a16:creationId xmlns:a16="http://schemas.microsoft.com/office/drawing/2014/main" id="{D0E8E2C3-62AF-4E68-9637-83A22E6BAFA5}"/>
              </a:ext>
            </a:extLst>
          </p:cNvPr>
          <p:cNvSpPr/>
          <p:nvPr/>
        </p:nvSpPr>
        <p:spPr bwMode="gray">
          <a:xfrm>
            <a:off x="2057139" y="1600248"/>
            <a:ext cx="108109" cy="108109"/>
          </a:xfrm>
          <a:prstGeom prst="rect">
            <a:avLst/>
          </a:prstGeom>
          <a:pattFill prst="wdUpDiag">
            <a:fgClr>
              <a:srgbClr val="BBCABA"/>
            </a:fgClr>
            <a:bgClr>
              <a:schemeClr val="bg1"/>
            </a:bgClr>
          </a:pattFill>
          <a:ln w="9525" cap="flat" cmpd="sng" algn="ctr">
            <a:solidFill>
              <a:srgbClr val="DCE2D6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80181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Costs outside of scope</a:t>
            </a:r>
          </a:p>
        </p:txBody>
      </p:sp>
      <p:sp>
        <p:nvSpPr>
          <p:cNvPr id="5" name="btfpConnectorBox743178">
            <a:extLst>
              <a:ext uri="{FF2B5EF4-FFF2-40B4-BE49-F238E27FC236}">
                <a16:creationId xmlns:a16="http://schemas.microsoft.com/office/drawing/2014/main" id="{8C62D241-0E49-48ED-BC65-FEC41ABCAD05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2699583" y="3806113"/>
            <a:ext cx="108109" cy="10810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3AC9A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" name="btfpConnectorBox74317813">
            <a:extLst>
              <a:ext uri="{FF2B5EF4-FFF2-40B4-BE49-F238E27FC236}">
                <a16:creationId xmlns:a16="http://schemas.microsoft.com/office/drawing/2014/main" id="{64F4D9D9-BB0B-4B36-925F-AA5B12A2E59F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2699583" y="5257088"/>
            <a:ext cx="108109" cy="10810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3AC9A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7" name="btfpConnectorBox74317814">
            <a:extLst>
              <a:ext uri="{FF2B5EF4-FFF2-40B4-BE49-F238E27FC236}">
                <a16:creationId xmlns:a16="http://schemas.microsoft.com/office/drawing/2014/main" id="{58CC51D3-8941-4B0D-8007-537C16FA3E04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2699583" y="2904413"/>
            <a:ext cx="108109" cy="10810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3AC9A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btfpConnectorBox74317815">
            <a:extLst>
              <a:ext uri="{FF2B5EF4-FFF2-40B4-BE49-F238E27FC236}">
                <a16:creationId xmlns:a16="http://schemas.microsoft.com/office/drawing/2014/main" id="{208277E1-25AB-40BF-98C9-1455657ED0A7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2699583" y="2409113"/>
            <a:ext cx="108109" cy="10810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3AC9A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btfpConnectorBox74317816">
            <a:extLst>
              <a:ext uri="{FF2B5EF4-FFF2-40B4-BE49-F238E27FC236}">
                <a16:creationId xmlns:a16="http://schemas.microsoft.com/office/drawing/2014/main" id="{1E0589BC-4897-4C28-964B-1573D6F37D38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2699583" y="2021763"/>
            <a:ext cx="108109" cy="10810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3AC9A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btfpConnectorBox74317817">
            <a:extLst>
              <a:ext uri="{FF2B5EF4-FFF2-40B4-BE49-F238E27FC236}">
                <a16:creationId xmlns:a16="http://schemas.microsoft.com/office/drawing/2014/main" id="{73AF5F49-35EB-4194-A3A9-F22DC44750D9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2699583" y="1831263"/>
            <a:ext cx="108109" cy="10810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3AC9A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1" name="btfpConnectorBox74317818">
            <a:extLst>
              <a:ext uri="{FF2B5EF4-FFF2-40B4-BE49-F238E27FC236}">
                <a16:creationId xmlns:a16="http://schemas.microsoft.com/office/drawing/2014/main" id="{39F66E34-D2C3-4546-AEE7-56C6D3147FFD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4414083" y="4559747"/>
            <a:ext cx="108109" cy="10810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3AC9A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" name="btfpConnectorBox74317819">
            <a:extLst>
              <a:ext uri="{FF2B5EF4-FFF2-40B4-BE49-F238E27FC236}">
                <a16:creationId xmlns:a16="http://schemas.microsoft.com/office/drawing/2014/main" id="{92A32278-A9E3-4450-BAF4-BB259AE3ABC8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4414083" y="5202729"/>
            <a:ext cx="108109" cy="10810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3AC9A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" name="btfpConnectorBox74317820">
            <a:extLst>
              <a:ext uri="{FF2B5EF4-FFF2-40B4-BE49-F238E27FC236}">
                <a16:creationId xmlns:a16="http://schemas.microsoft.com/office/drawing/2014/main" id="{03FE221A-ACF8-47F0-B516-566E399D383E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4528383" y="3916765"/>
            <a:ext cx="108109" cy="10810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3AC9A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4" name="btfpConnectorBox74317821">
            <a:extLst>
              <a:ext uri="{FF2B5EF4-FFF2-40B4-BE49-F238E27FC236}">
                <a16:creationId xmlns:a16="http://schemas.microsoft.com/office/drawing/2014/main" id="{9FF6A0FC-C873-4B3A-9FAA-11E375D5423E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414083" y="3275222"/>
            <a:ext cx="108109" cy="10810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3AC9A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5" name="btfpConnectorBox74317822">
            <a:extLst>
              <a:ext uri="{FF2B5EF4-FFF2-40B4-BE49-F238E27FC236}">
                <a16:creationId xmlns:a16="http://schemas.microsoft.com/office/drawing/2014/main" id="{2E8D44B1-36DF-467D-B0E1-A3E64175140D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4677608" y="2637634"/>
            <a:ext cx="108109" cy="10810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3AC9A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" name="btfpConnectorBox74317823">
            <a:extLst>
              <a:ext uri="{FF2B5EF4-FFF2-40B4-BE49-F238E27FC236}">
                <a16:creationId xmlns:a16="http://schemas.microsoft.com/office/drawing/2014/main" id="{40CABFCA-A3D8-4CEF-9D87-910C0D9E9BC2}"/>
              </a:ext>
            </a:extLst>
          </p:cNvPr>
          <p:cNvSpPr/>
          <p:nvPr>
            <p:custDataLst>
              <p:tags r:id="rId16"/>
            </p:custDataLst>
          </p:nvPr>
        </p:nvSpPr>
        <p:spPr bwMode="gray">
          <a:xfrm>
            <a:off x="4677608" y="1994736"/>
            <a:ext cx="108109" cy="10810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3AC9A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B5F71F5F-B6AA-44AD-BC06-7509B3A53F74}"/>
              </a:ext>
            </a:extLst>
          </p:cNvPr>
          <p:cNvCxnSpPr>
            <a:cxnSpLocks/>
          </p:cNvCxnSpPr>
          <p:nvPr/>
        </p:nvCxnSpPr>
        <p:spPr bwMode="gray">
          <a:xfrm>
            <a:off x="2970774" y="5660391"/>
            <a:ext cx="1335200" cy="97907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rgbClr val="CC0000"/>
            </a:solidFill>
            <a:prstDash val="solid"/>
            <a:miter lim="800000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806BDE78-1E64-4F8E-919E-FBFAE44890D0}"/>
              </a:ext>
            </a:extLst>
          </p:cNvPr>
          <p:cNvCxnSpPr>
            <a:cxnSpLocks/>
          </p:cNvCxnSpPr>
          <p:nvPr/>
        </p:nvCxnSpPr>
        <p:spPr bwMode="gray">
          <a:xfrm flipV="1">
            <a:off x="3369922" y="4701423"/>
            <a:ext cx="936052" cy="97907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rgbClr val="CC0000"/>
            </a:solidFill>
            <a:prstDash val="solid"/>
            <a:miter lim="800000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A98AB234-924E-4B61-B9E1-C67617CF1B14}"/>
              </a:ext>
            </a:extLst>
          </p:cNvPr>
          <p:cNvCxnSpPr>
            <a:cxnSpLocks/>
          </p:cNvCxnSpPr>
          <p:nvPr/>
        </p:nvCxnSpPr>
        <p:spPr bwMode="gray">
          <a:xfrm flipV="1">
            <a:off x="3422822" y="3840362"/>
            <a:ext cx="883152" cy="34103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rgbClr val="CC0000"/>
            </a:solidFill>
            <a:prstDash val="solid"/>
            <a:miter lim="800000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FA92555C-2FB2-47D8-AEC6-0BA7DE29F205}"/>
              </a:ext>
            </a:extLst>
          </p:cNvPr>
          <p:cNvCxnSpPr>
            <a:cxnSpLocks/>
            <a:stCxn id="30" idx="3"/>
          </p:cNvCxnSpPr>
          <p:nvPr/>
        </p:nvCxnSpPr>
        <p:spPr bwMode="gray">
          <a:xfrm>
            <a:off x="3480530" y="2430440"/>
            <a:ext cx="825444" cy="64785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rgbClr val="B4B4B4"/>
            </a:solidFill>
            <a:prstDash val="solid"/>
            <a:miter lim="800000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btfpMGChart787946" descr="Enter Chart Description Here:&#10;&#10;End of Chart Description&#10;DO NOT ALTER TEXT BELOW THIS POINT! IF YOU DO YOUR CHART WILL NOT BE EDITABLE!&#10;mkkoexcel__~~~~~~~~~~False~~False~~Falsemkko__4HooU0THZk28POP9trq+pbTvvzd/gcV8t56cq85kb3NDTsUhojRA0EsgEHHMH7oYP1SYpn09ysXVivguJdhTvfyVMsBLTGvcX7WPTor/CmWiWcfk2RmY+GE6Q6T90sFUr0lg9IPP9y8umrse/9AoLT5R0GKq+XM9pr/aTyOTf0wptcuHbHxeyqBm9svU01qeeEM1v0hpSHUgirOnAK/wuuoipkQ2N4QuOo3XRkxGbZd1SBaNvszMpknDbQN8cV204gqxrVOnEzHhuny4xnhhoe9CmzIgSh6jINhdcf/xPd9G2tJ9Fohp0+S9JhCSAe4YAWOJQqPIkQTqzsCoT8h18S95fevhi7kHtjsoAHMqQeK6boaweC8nsLIjWfFhSXrG/n+qj0c2m6W6cpGNlEbEsRW3vs0+8ThiRMPFBrmXlaIoVfmerrnC3OA0RoQ3Ls5+vzmB1H37ANgK2UlLI87AyevoylL/dXOHJ07sdNVmvCKCi6k2LvXy0hLjPNIgYS6utQbPtl5je9LTZDrWHR4TrsWy/qkMODAqValtGSOGwGnVyWytkaysW43BpMvY/ANOKwqjCs7BSN3qslnd/gi4YqavhMdMeuRz8X9T3EKlJLHa7rp4SMr0eUzePZIFOddLXkGc9RGverbe/hw79YvZwexpTEOoQqtN7mQWSDiSU5jHLdVoblXZtqtMCVMKeAcqFVi+1X2Ry07tLDbWqObwxmYW5QvI08VCuQ4cSVBLELPOefMHeY8dWI1nWY+0WUaVjPGIDTx1qm8cs8TurBkbd/2QzeMF/Jtew66gJdBuC1Bdajc8kcqEAws0VxXPrzP5RyusHsXWADvv21R/l+xBjz0A+225eT4ebSYmTky+/cVBdJE33ceCvaxPHfrMzF5tlo8jUOSbY6b4xX1jLKc/OCqtmiqGgTaFimB9KQMxacUACqDvn2fzTeiqBA6nzm8SueBFLC+m6zotAGGN+ICnPLu+mmPrKPmegr2SjBZu528MLuncwNN2Sx4cr0sZIIcIJrrDgz2Gil8xm9yrUUF/WRzPfGiM0IzRu/gtR178Gjyg5MafsG9InYQdOx6iK8FbsMPfavlTbtmO056AQQe6Sw2WiEE+LgGG7bkw1X8bPV+Pc9nL0CHkZnTx4jFJozPjiJGm0g9fO+wbc21HKAimKYx58AdEE4DVo5CgUK6PppFqaKYYpCMmiZ0QeAOimvyp96kLJGNBVh8276WYzd+DzXegDUeQSEEpexz1TNKsJU4B60eEwCo1nrnCi118KT+Sze8I1WQltntYLrymAgT2dMFo48c1TlL9y+mvsW2JyyzHbHamLbHkGtAlHEGF3gp7BXZkJdQ40WGOeqCXZsR0r92xIVNJJNsN4CMh/+vKh0QVlRTUHpNYfbsjasYAHnD0zqwf2yyE3nWNJH2XD1FK2NutqjTj6dl3G9yBtwG4oxHUnnS3Oqs6n7wNZlJUdv3Hwj5d4bFMS79YnPG0J2CWrY2/LO2ABxrbMN3Wz9L/m/CW6OA7NefOuXn8+N286cPUpZ16XdK6dWzSg+DByXR1u1FzYV6xEn0j49pD0JdL90jKX44pzkQYVL/nh2f1zAeZ1Ms2JJc6zytV0hc3GmGj2rAKZ8miSYfJQtPUJXvMAazOzUdoMgIBsygSnGA+JjBUBLkOnOkhe52uCM4t53rhdGE+ijIqek+BeuVwk3KX4VO0PotVh1br0Sa3n41yV0Rz0mxyU8uJGuFfwfwQ42Bx+bcziaLXkHFl5uOEJK2dsIQwfLSC2Euv6OVsMbNmk0bu//ll8jd+hAhe8S5QIL6mDRHi5w94+6wCYeIE2x0NO/0yOaKan1sIARrDboxBh5mjZjs0htMOdJLHjSlVbYKfuG425hnBpHa26xDLxY7jYT+k9BO1Ak8vxkNYbUPIPm1Y51WmMh0N3nhpDE/FH+AHRYqhcDUBemIGTC2kBQwrtRuKsgR0wIAWtHH+KaIGr5iGGo2yKMSz2MxtIQKp1qD5fOMA/hFusV8wrhiBK9x9wrx9mtKxa3njf8egIuz50bL7uIXluQ3M+bqQICu8tdrSLgki+Zg8sNmiVYQ+WdoHvW1O/8kERIOsjBWGGDqHGgcnD6/n4Lc8HoYWplkCSaqotcDPIxlnzpLLj6wMuyw0YyfXd7r4QzLZg9Gw1YwzJIz0UWEdTQGg9e+Xs20ZzNKTknEEuDuEyCURCwbrbHCTtn9GB90DNscO6uA7qlk/ns/orlkf/fGAsVBJnv4TAcqhxAvKHj5yOZsKjpM4hFXt8AMSVtYhpubcotuBflsldELPOIOj31d0bjqCLMavIw86XJDSMu7D4MxjP2alMdQWCDoJNbItZOevdxsCqe/6nHRyb1JA8N1oJHvdwR2MffsUI9OFDiK6s4LqfswM+sIb/GSgaBAr90F8UnckNs+TZJzUi55GNNg/+37PFZirjysUJpabIHxSz3Vfo+Jb8ifF44trfrnuOg1AB7u1R9aIpJrycYmpaRxI0FYANuqUGvbblnH231CRuEIjiVS+j4S7k6YFpTpW0rszL8K5RmvJGMnw3e8tBVP4z/1/4z+kUwsjaPLtAd5AWFwi/yObeO288tYrJqocRmo61Ip2cyaMBgjFMUXltD7gZB3bXY8NP+t4HGEmr/11l012KmdNgROzGFMgcY/ntiXGur5K5mBAZNDOiN9xPdDTl8IzuSLGte8ztLonDgv38Ub9oIjOf7bU0P5Dh+C+WwNBJ0OQ9cnjQBUXIdn9i7GJ2mkiGF/ZIW1jvGxUQcb3QlBctbtdZG155FGwWouJJ0AmzXCScNd4u/NX2qkrwfJJz6vhxHrojYhjqOtxao4clxtdqCc35mNplAoz6jrz66qBXs80W5Ei9PPKiZvIsjCajnfr51rDPB1ikIj8hjQTPywFD7oxh61hscfoutBUWzP21LPf6U6Q7HIoo0U1vfEWqqYqs5gSPU7cEfsQDQXc5WveLdwRBU3hF04AVNUQsBOXclCqNy+8xzwwETgk3oXSoQbdn2v6ATzS8Fk+STYbWjajNybv4phZimayh7u6GtoqwmaQIIpwU6JDZ3iNUMYA+bHTiT/Qanrb3BnMKG+Zt3JsqkQyVYBYAjkJhoVA2oNY6dddiCtFvx89MlHYIBlqhy0aD6Mi49d9AuqiqVejuz1tJrBGIGMQCYoKLDGn5hCJBaRJIfQ28rbOz3YmPAobST6GHVSznh0dbmJsiKA2M2KxVewIEtSWq6pdjQu5sg5hNOP6z9eS+7/Z+9GrGLDH3Y5P/niRSulxSiiZBvOpKTCeFuxQNfdIT/zNR0KfWkcRnNBMW9S4IAw6VyqouZLrXpWiq5TZxIxXBfKAQwSu83JCI4a3ZDzZ5ygHUXo0z9Ro9vj70sSDZfZ6PYWtb9igkpnb4rShLZt8OBj8i8zsK4WpQsTRX7F2JrJQWNkwRWOp9A0EvxPLg/PP2mDugOoAIfQYJaVq4IlJq2qH9O2PllvlAIGWf2+KaaomY/4OL7hI+Olj4gPhBj48qmxrcq+x4G2UgVIFFK1rnGByeYwg5SMpyZjdl+f31EPnG4vjxvwDk9heODBi9DivIQH9NDuWSme/9e14JpPgaHTZdm7JitSSERh5kOPemCFaxZzOJwAlyZVqJhM8Uo9hL0PV7uhbJWNud8oZYhUmw//8+eU0FqWtyZczHSSejN7y5j7EX0jXYuCJpx9kpO7vdj6RTEUXQ07axADrQ45k17/9d7EFQ0NcPctFjxOpxAe2isGXAGEG6vFhvmiksx/sET41cC9fZrWjH8n2UOF80OnnqrGqYqWL3EVAnih5wxCoh4nR8+QDZ/iLmAlSDP85Uy8VVm0KnLFq60htOLDrUgie152aqYe5D86K3Hiu5lTbJqgvY8VKuGzUyMahUV9a/+BcKudEqI/NxxpWL/VsrQk3Lm1Ye+Ejx4/PGfaJi+Ij7ztfkpZCvXSJ6MfQltPOzL+aVa00Wrsm+Cu0sqbE2h88acPUolY2KU6hjJZLhKtOKFMeSBk86tQmrqW+LQSaIhCkiFL5u8ieGb5z+uP1lEoeJ8Kf7UoJKW9pA/qg/LrObI378TrfsVRx/M+omMczdhX3lHJcxXuGDUsdelcqun14XY9W3QDU4XtHJrReO96FChRyWS74p+Okg1S9ym3l0P9djNtbGWnyi59ZbrRCg7LCoC4oMHuyxFVXNBgTX9bndn9Vz7ZT7liw2FQbeZzfr9Il/UZWF9grbAfvMtJ6/UCRVsh/aUDQbqbMZrFsmirOQvDWUa8cPJDXYzAs0NULis6eIy3VIiMwtytYFsbSB8Nx7iOXcNYUGrZ9UYBDpbKK9r71/t7q+XT9oSMRN0R/rSziFq8hOeiYdqsegRD3ShbmEUcX3BeOiiye+IZHleJ+qP2sRPYUUZ4AxdxzitmYnYLTpHpWaONDm5PGJPr0/UM0bwbviqNoI38wwJSxvxG0fFJTmbmk9fYuXvrpVP+KxiU9T53ZAh1qST4+PQWAgkmFbvENJWFgbxbDeiNDx56pwB5NLo1C2cne4fEvU2jRsxsxu++SoSMgHRWz0RQruN5a0YIU8fOa0qH1cklod4pYBsk9YP0kfTVAsbyamOUJiz9SuG5EDnSFUjJi1TJc74yfoKulgFEYhuyaS6fzoYnQmQQpappvwa8hyuwYTX9WH1wzdh1YSGwRAPmkLAPJhkErOmJvPG/x99mh+Mv6addxeKvdEro4KBBijh90nIOcm+jyr+r8cEm7Yux2c1cQZFM8+/Jz+jZ0FOV2snC3zuNU9lq4RZqpbTgvwopqiWvUUFzuWgHidY0lfUoz9WnGjoP7BvFxX3hMnyaTzyIvm/I/w6rTRwJ1DPKhQz917KYXo1/+ZHWsa2q8Cd3QLwHBjb3D7YlWyM9lY5e4m50qL3yUGr9KYl2B7CEMaA0NB16f3wOgb2sYy9x0tyHg3iJ+LVsho3/pSd5hvOnHHlSy6U0uy6uuTTBOmakPfBrlWp2eKHX28n8JZ/w0MHoq2aBa6Mr8kcNin8tPx6A3o2u39jSdkatMhDRD0u0eK71mRXc++L5RUiZFyd/d6/UNubCIXxagFTehxeegKbOVYb4BJnzREMLtKucTN7b/lfWdCuuRqkd/z1Q1lw2ShcTPMe6MbZWL9TW2tKHduYrNh9X9EiXc5VEPde1/qrri2IJQJlK4WeN57R6SjsRzEm+unLzRV7PFWKv+LIBcTQGXGjbb1/kwjPxqdslzNt5QZFGnbNcaCgc2sRIgELQWEL98B9GIIdRXXAnKHlmjf9v+mYE1P0rowzXLhgmj1vPXhQDOjICk2e8g+x6E3Zi56NeHKHFh8tWV944suv2Sq9Sgxhga9AwImGtUw8UioNrMF8ato7fE8B91ufDcGwlWXVdajri7yk6sLtuKpMovetqnSzJS7MbzQSOe0ATDx54s8FNhoQAmFEYpLcapqc0cjZEi3stLJy/dqqK2K1CpXPDh7bq9vId4AbgmG2g8Ztw5y/NtPIMIHZi/69VJbJOV2am+4zdVLAu/QdXgVyujN33e5bjLRqkV5Pm1Jkxs+qwS7jXoa0UNBgDawzVkaQqfYr/T9/FPpTcfFiWaKuh1/Sp+7otCE5XgsWUWkcsARDRAs9iv72sZtFnsH6dYQru6gxXN6fFQ79bl+RSy1uV1AqpCBBV4ygiY19P9RN6wcc2f1PaMnMrTLJDJLzx2fH6DwEJjpi59Wr1wckqUuFO9hk2QE1RPLRr7/7Kh+h66KLUwFLNU/CTrAGeL7TMCgpD276JtsgUAh3CutMjtGjFftJuaaZpdDngIOcEaHf3cw6FIQ/5H7GKz/+bKX3V9XWAjqXunY4L3ZOmvTO5eIbPIruY0SlDI+xYYbcMTn9mtFTP073xf4MZKyEJlzrqx6SzxbSQIlVTakMyLZzeddyCZx9+d1jp/cpNiYMkv615daEjXEoF4OTCZ2k1vfaj6iaRicw3pwTaNAUAuuHKdbvQNEEMEEb+Mr97Nw2eQwosuXaqTCFtApRelOLc+sZhzGgcbXpilMHRnB6bNrAAbrEEA1prccX0QY+dK/VJXelY11vrXzikucf5RvoMlEIvtU6j6lxlTZFPXGjDzZ//vjSErmZH26eK/Yp6g+crTuxfEM4yaNV2DNRaYN3nETM3t5bMku3sngN4j3WfonsWnHTTusDjYgLPC7sEKx72k4NWwqlIef05ea7COVwhJnExNVyIAS0Ecq4BdixBKy182oCCDbLRZFoEvIl8GnDE5VxPjpzcOntANtwxJ2Uwt1G0XAcDmKwPNa1FbwZFkaJvxsaKzaG9Nk8ZTVkw1rpxw0zB7szix9eJnn9G2AsecxxlRaQ4kM6Qb8YdnlRUm4Xb527vjsf1AskhJtDQ3DGhAAfS7Gw2T1DTmMi27x256csdqxR09i0OWF4UZin62DYhugxLW7fLD92EZbyMa4nBxxiENHxth1NCsBa+LGDv+FlYZMt+JS0kLc9VMSTRY+AvVJDGQ54KxBHBEKIbxJ7dDksJq/jFG84/GFVLJ3a0m7kACI9s71FDx6YplSMvV+t8ZxmqghUMAHcAr1rGyCakS7OPBtx0so010nVQHjaTvJexaAKgRpjcUvtrbbHgbgoV2bi6NyWFMM1HFmJlQWuyY75hdodJz5MhO7Ne967S0WbjDtFR9f/MqP3O/z8M1qshs45zE3Qgk8ECwCZLv3rAewvDOdQsTOQ9Xl6yOvtWRHkQORWcvF7yc48IEnpCxpqMclqTL7zRS1S8IaB4zCKcLdpbTME53kKueGiJO/9vgCqJFlT3/F6NsYuhJLc+pWVpJsRfp+k1soKrs/ymk3DddGL19MsgqZwm3peH+2eFPUezgxZ5HbuKOozVB6ias2RVufE1XUclvI4mOx2q0xxLRLT/M07xqpqX0rutOBppbmgjJ31TdoxObG0/Odnv9BmRmuYQCeiHzkFcWddLNQ4XP9w6qfDxHaP6/Xa1On4KX1azm63avU5SRDjQZIgWcY34E35Qc9SBT07inexlqTVWHkNzh/rkcpwXu9GK7JcAUzJKSoFksEO9kTaIO2G3ixx8D9oloYbH+QH0crKFK61MeHqkhvC1e9C9Lgf/tYDr10wvPhum5bY6T7cRxqhrcXVioSOtzm1zxMT+uVTyJBZ9oW+IGAYWwPKuLvsbwjHxYaNEOzch8Ygme8vscwlQFQdWoJhOxMqsZaVX1ZNSyMX1qmMtPYBKlO7xFPw70bV0A2/nYf1VBIsWT0WHw6ynyDh/AoKgZaNzpBzlC9EafQ/VgzEbK4z8vTHTVUA1qbyk4J1P5YoohJpSLLAVYJa3zQ773L+jjm1QM4cpY/MoBcbHQ2Qx42+IGjiFqAep/+eaF6gFMOo6lMwUruNOUNlJ+UJz0YDGZFD+vP709MWrc0Nm+quHUMPakqoFiOvIuhFlDF4bMqxzpnpXWisCug1zHzI19e7XqyeQlrisxQ/5CwbBhHVVSyibN3OnCqhLkb57dY9lR2x4Te6f9FccpdHgELfHsgt3I4XMiOwGNpunaDA0r5cT5udf7wgJcN2FOhPOq5qu6FArkcI4hrXyBe3N3WxoPuCJQWAsxBGxGIsA+rw0ReObPAdC+RDnG9XgqMhaKo9F+CcjizXl+ejEgZCdZ0f1x+FUx8bzTAqZdmgl3jxJEOavggFdyD44glskou/0mifyKrb1jsW1tpY8PWM5GXWmm8XJr2zQDwBiK1ioU2CpFamcExuIkaBwXLyNFELI/mY2CV70oBQZLK4QlCim41wezMO4Yys79Jy/0noAk+Jca/WxAeFqPQdeaC/1xWxBgsa67pZzLqpPNXEArJPPGnhuFY9d9JuIM8PwLZz07eb2CVxsN8rESYz5C9V+sQYlVHQns6ZE4hsKoD2V/CdKj5WXeo1V2VYHkf3G8YwCV4d6j272rBAsa2KOeg738ssvPsMwu+JCYBcTljKzC44buq7j4iRm1jztKyFEdrAZeW2yI1KAq9At1+8sQ5p5c/LzijtR2YKDzo5RxowGyyB0Hz8lswNiwIJb/DMBq9mY0mRjsnZIJqsTZ7sLVJYkRe49zCbc2VBHMRRMaWQH2J/IrPara4AexBvwwOR5DGPEE+SHFKHNwMXKi9TRTTaXJUOF/EDNu8MLzjCwZNBWoy4+Qnm/T1FJhDpL2PedLqAgRbafmIxEAfeZxY3RUQldHRSGgBZ+iAoWZI7MZgGzPBTYq0VZUvGbP8WX4o3vFHRo1XxRGHtOuIzlJATOG4e3kGJlo2kR7vkvU/XgUjMO61lraODkFxUXmCl8O1c52wy/KfMGUxUHqcWxynXY9ApsSssr/TPJsa/E0y65CFSuMCsk6LprHe5Ocj18koobt+LUIgH7wlTQdhQjMF9+Q/93z2J0hduhUGWFp+3npZkOxxLxfVI5pmeTc7l2tr/jdmOKw+9B6IrPizn1x7czHeu0PlF3hPqnxyNSURxXv1v52XXzDUbxZBbJeJ+lgTgN5NAKyivGwWQaw6jlit/gsYi31DbPgjT4ywt8ePiJpKl+9pR7GHevGIm+sXcS3ASKm29TfbPW28kVwwQ7zGi1EN1eK38EGh2E2FkXqvK3I44Jb7AJ1UGhCDr2tgP0ZKRnp13OBSsXXejk+kwvKjaOUH0VTjcxubGbdkbpUMmTmJCUa4ofVH9aKTC+fOLzFTw+UuTDaKsiajsmwDepQ6ytZ08JxgHmOA0e8aPftCTDHRBGXoWbffjf86kU2S79Pb9n7p/fMLeGVWg+3XWjYEionximEhoNJT09liX9nJjXEh9WkAD+5jY23FyaqW8UMGDcfJnlUlrgPiGPrUL6PGAlFCj2LSRZAehtcPhGhMhQYrw9BLRJ1XJEH7zPp89b+2etWfRFfGJrgv7KBEu0sgzmbBKDNywR2tgLsALiAkxhEizYR2kiU6BYvoE+xfksi32PcnURzi437L+/yHJnBFwfeccOlpuG8KhqThedN7dIJewlE9jmKQIGFLSrrIc1VvWWQGhW81gqtrWG0+1rcF2f2B2ZtWRuTv0eJ11r7Sdjc3heKqc3VlFNU0MPVSOm/jKIzg7Q6xvn+aHJZuLwjgza7dl/VMiFx8X76bVtXVL/YZnKYg3INbCuY7tW1k+0vGFTohjOwSpK8t9Ao9Ae2KSM413mahJkUvTWCaJ1hr2yTfPNKbq8+C40Q4HUfX5hfhzdj4BHL8d3J7Lfat/EfbU3IQgsAFBP3BzyUSDeBiekrFpIcLiJ56QrCRVRZWGmoHqn0OO9WSHh4b8gxHVmmO4P6V03TfEU3W3juRceS2KAOyoDO01O+XZLt1Epml8bdtO0KdFIRP1A7uKmHJgNOE4/KuF0DRr+UiyIn9sMC0bej/j4M3I/oPCoVA6cgiNDr4Mr4S/cyawTio+/LEXd19i8LmtTMPH39lBMWsaxFqxwPC3R9bAU4N7ATt2IFH/JAFOMt1Hllgp+940i7aIUMH2n7QdYRKGwhT2r4zBgSuQBvgmdt2g9CTowQuZVFQV3WAcmv2yZTWzd90dTKxWHjfxPzlyK9bso6T4BmDMPRGRDtAsHK5sWs0MSYM0AZPAK3K9/7GyIs3pCovC3Lp18dp5CKN+DzIuswgD/gkpU7BQ484wm6vfnedPQ5sC/6d62Z2SaMJFQB3eiSEAn0gscY+cxqHeuFnFoWstOzo/xsIu8d5XRgUIbYFEWJkKCytwjnDtVlQG7nKU38xK1xQPCUKIAtuk7rYgcnXl2zeyrfWMLy07aEX1oWP5UVzlP/6y1ZP5f/JxdCxmoXeZe66RKYj/jh+EeKBEo6lFbTNfxjDJpo0jw/prVBkkFTTdFIT1ZgfbOh0qMuZ3HD8mSRXlMj6GKkFYdqRhiTBeZl9cGXwsBThYfvihCuApNwprDWugOpE9iVXi/r6OGexJwPL/eN60raWftoTOXChe/Gqmv6lgmn7B6ia+Z80m1cv8lqEMUuY2ftuUN2HdCIzsgGZb3Q42G3dUpCbGL318docQdMLOD/MulkkfvP6FlIkUexuKiXnL107yWZxKM2IbEBg0zCSkACSKqSm6wuR7WnZZdUTZ3VzzYTZJMyVVhEoXE9/d6HHFOLwMZjzFja+GzgyXpPwegrhg0blAy38dqyegJrYbeoc5Y8jFcwajgKJx3uEzWB575qFrH8KVLqQtbDN2DdFLkuH0vqeaxdXCGtxxz5ga5yQWJfnpwAGljP7VcCCKcpONijK1kU3AW5cAjktqXty/i9mdn7R3v3HJjuMyfmjyPQb75wlSwYz2Tgi+/PxBJmK+WJBPgiMEwht06V7jDOFzI5tB8yOc0lqBNxWVBCA216RSbO7qzm7bm3ue/1yYNublKd9ZFxbF1PmeISbgo7v94ok+kUWVh3O6IB33FcNsgJX6M3Cg1zAr6yMt/S0gFN+xXNSSfhNlSEDD49dDMvhB1OLP4tuxIcmVDWH+7K1BxfQzQ1HF8xpLTtCJxv1vpYvDbqlhFZAhT8Uo+Tya7Z7jXAPdPxHa6Vermk2OqYWb37kWqTyajEhy7X0dpYNRl270fWKz1gkUtDvv5/Nu8Epf1geJd2L6wq4B29Y8Oa1vTwj2jTc7OQXz5PEhRRl2K8gshnZfpB8JwMfcwI9uODCy83iA78uypu2icNRHjj1zooKFpPBrn3DoIRj3dc3184vXmahDR6QY+YAK9pmRsZj8bZxjD5De4Ae60LzcxZ6xB+OjpxRfGCupSSDlEz2Re2IRUUsHx7cP9gFOcZd5toJMw47X6ed/ZPyLgyPWXwbsPpFDWjfcTbD32S+nysYZg7lEo86P/VnVYRobz9S2r6eqnJBtKG+4eelYhgtCqDLAKd0a4S1gsf4tN/6yph2zP3rn5MAqtji1rNROd/MrLpLvlpAgC6fpWCmTaXmoph2nHkb1q5dqhm92cQ42Tvv5eMbJBecye9H3HHr/8nYzK7Tip7ITvarPdoDNLEY4jcZC85uzNol6KpLGgmLBiJ1Zr+TlonuP4A3cd8ZB6HAHM8yStExox5M5wseg8fZ3mzY7awQ+bUJDvJ4eIWKbV3gEzp6OSsWIx7sBWsYToA4HOgc3Lh0G2mYPsXadI6F1V/naHG5kBssjX0fOPJlC2ICDwYQnvegryHz6cbqGTBJfPE9s5U6mu6NIlfX0k/npLaN7ogMF4F31dg08cQrwst2bq4MUje2OnOL+1ui2voer8bzSVsksLPyskSivZUDxPjOGLp0C6mJF8RIwZSPDJLrWhksyrSaymaicWlTzukmSXww2O1iO0bH57iaPiUagqzlHCwmcgWxja49l6sVsJyEQqrKQQNnPJONZdbaZ8H1l6Gj/KV78MZT+zX9LItFB/IUwNddAjY4REV6tfe7azzL8X3FUmfEiZaZqnX+XpGwA+F9npaT5f2wyOcLbhlMPoZBvNqet0QCDFtLYpSv4+1HGxGeSauQ+3fz42p7dfihwBswcQP/4YtYpF2AZmMzbMYRSszPhcaRCzt5PoPIfH1/zvBr8u1mwXEdmCTtMwLrX7t823b2Y0AslRKCYUHsNOPKuuYHohlf76z+J5P6sk56n91z/XcS3o9szb2jPrJA7pV33sIamr8fm14ozCw+/uoCQxcteL4Wuy1KNZeEvKncTpnKGO/J0qucfUGKEjaKRa8wAQywklwhW+Pgy/acV2T7j7cCGBCCyx8wlK34nCAy8mk+g/4lq3uzycllOPzUVvUOagR7sXDNB1Zi3X24805pXy8wjkVEUoORDqvPbQq80ZV48iBhBxUzma1h3Rx1Vs3Fhu1wbKqKhFxrQ4Ds2ZrcKmjpPejj9dp5gEkOluwzueu2UT/GyVw90DTXk87zrebs2zzVHSsRxT6oO1rLrzhCAlmyERogENzxNFAiFc2+hhh/rmEZHTNZSTp5zNfppS6+f3JnpXeyG6+m5uKTYkk3hVqf9NlwZHWSPZBjEuFC9pl/A4O+QeLpTNTlXy4LgpVdEGd8ynFX3fQfQezS4+KPc4x14ziftYdkQIxxI3UjZTm5qKrsTbfEvzDoVJ6e7qQm5VfhGXtjH53EofZpPe42wepPzUaTFu37heUI1L92EcLJxCnEo7nyNRk/Ob9goc2uO0I8CVQusqTKHXedgqj04MenbskIDBPk8vfrIdd7F6g7NIHjxZU20TwNCC3Kt/5tiVAgesfg/bC+/d9u7zjq3exBQoE6zU+wOwBmOB8gjY81+bO+3iBBUIu8JpSCsw+yafYI4JCOTfr1Zo8dnThaXF7HyJocpWwBZNncTTn+M8Xoc/Vos3EqYwGLOWIaE+014FH6GlIpC0fUDktiEk4zdw/B+5sd9YODAHOea6SD6s1+Vl2w2CgNuJug3kz1Fk/5DAkX58033S3YqKfVN/hDh2VkwTR38TjTkU/oc+g5hH7eWWrD62tfF8tUBE3E2dSngozDD1qxdXHUu5cjsgb+Y14S4kvcIOJCFHfIJYunCrEID3NPM20UU6oiEHjabWPmanmieGB22jGBDgTc3gQW028M8kr1DOF0xAPbTdJllRHvwrsO0PQZ4aG+k+tyvLYJWRYFctRVBVMuNREpqWrUrGkinF5Jdw4isLdR2z2o0XvtRB1bnuS1QCw9X9/5mLEWlmfzpLO9zJidJzH7RfIMryRQFNdRYIZVASS0r8mvGWLxL+r2OIX/4ZS+S9Moyci+RRIwfIVquKHuCHOVNBtRXBDhnuhTNMgBL0KUFDqPVyUNwp+pxBNnKe5G2ba6IOGUgDi7YtbdmBxr7TUlJ+1lzu2kBrVwLXJ3utFnQOYpvbs66cy3ATh2ANARpG6huVHvTyf6JlTAfKmUsvPOFICbQ0FNg0EYQgnv3bTcWM2tOZjPigZbgGrKA4n29Xb1BuhlG7KrvAn6gM3b66VYFUXfsks1U96vB/3BqfQzlDYcsFBIAarlZ9CVIm0f7/IAACWUEdw4z9DS9Fy89otJX7/oOGpgJD3fpGjXbqo9ptfFXw/sF6+G5nxy245tnFJfcbmnWPJYWh+MgqXi4asB3+kqZVB+WqwupD9P/Gmxv6VQEENMYKbhhIOsoa23XkJBKaEEMe7PEk5J/w0DoUxh9x0yAEtd5aSGaN/9Ir2KzXTsvWqIwyPFKAXarjFvw0h7B6G/GixP/iSreAT0bfrtA7R2QwTr8tD7J0boaRgPuYSS61FkJqLPrK3xI25MiKKPOlY6Aj0yI2o+R1w9DKMixhJ5FW7G1N0H2PAG7g3VDxu3jtqkqjMg0b2rTE4F4cK8uN5FJtL/N6J9F51xEwEZRxR4HErRd678sx7vQoM8Q4Dlewrw/2YT8yQzxSQo956DVBxfyeeBs1BSaM6aQoizQ4EOSDcWynb2oprMOI+v1ILvFjpeVxut1mK1NFU7g3Bn0jfYL3eNkzw4klrOfEXglYqywfVzxsK5e2aSov2zq7XzqMqVo4pJf7a3IjPQOwJt/yiyYDBUHNL+7eidNBZZHAOt+BsOg3twa8uwZXpdO4w+Gfh2e9Gv97S6SF6oRXdCSTADjhFpUycmq1yWFBEuXhe8Yu4PsutBJIUuIJKD3dtk2Mzsy4eP9a/iGKXC15fzC+qdCzjXQayeU1ctqamVKw9enFiHZrllwul8G/TrQ1bQu9h4IBjE1KCPcOGYL/JU0qrsPhEteVCAubeRIRoTYDCMIIyy85YBGkhOJhDN9xCPzPDJYzVbVKGGbUYiXuKuUXMuHM0T79uO0G1GQn8sKHwAqa07LneAYe7LEt9pItZ+wACVx0i3HHsFiW6Dw5lnyxPGGjBnbqbWxrayNSNaP72B8FUmC605f+sR4jb1ZgE6C4R/o+4G7p97DP93FuzRzfp8YIE//TOYvT65UTqIXv/qZcEJ/caym971e9MNHm89BMXI53NWPZgq27Dy4LICPPkI8mKtDiy6by2RTDMKyN14af8hf9pxPugR6ciut6qhjtUbEXyh9jl/mdEIm895PZggXTosqJxnx4UDaR7zhKGXx2YDCboj1Pqzebq0zUQ/oMGgVcNupvOLJ8QCQ3sTk//R+XkzU3TcnQN5jfDomzlTB8uzwSh7S1WaovP3rD8fkmnPk0UAahW5MJ5MT4ZD+mBBXBOsLf+4oEr6UunMhkBow+nmeMlQMmaI7AF64+lnLqdXe9SW21Qf03VP2OslJcGkG4jP5zm4TnN/UZv7pIoVH5gFGhAUb01RtbbGx4b7LarobYvDIO77V0l97OM9bvWSc79Ng9m+oOsfHjIRgqoog812vCgG8gGhQj1uV0Cf9pklIMIwzeNfWgfpICUw3ZnET7tEnW/nC4iNwJcTDHY/3Mj/CbxNe0AKxeDT2ofgK8BHF6Y+hhUgLu9v+/o3/93/woELErmgyTPsxKnIzea55rh72JD+GciRVRDRHFfzixwXLUvp2yNPnX32zvXfn4jyWH6brF2uD5/tldkBgD2ElTEGsXBexDYxlZooETIwUSFCrY4MiwJY5+YWaZ6gaCcTtuK3iCA/fkCWbJtGjuTrmiBlSefwa/v3X5BACvvZyhUMXoEjsIVZbvT0UMFY0eBuU/lGva/sDawzlqTRa6f+SUVFppCSaWLjd+VoYAH4am6dipmQm0+lKeykhuj4XjS3L3RfeGVk8sdFOpBXCUdAY+4K2MS4FZ5uVU/S1kVmWVkjR2qM7Hy/1uLPBaw1i3nwGz5Sl3mZuQIR4fWwqgK02REjUy2Gx/Df5BjgTgNqfnRWlQJrMLsWgzTuWEBaP6z0sI87hizU3HV5jUc111uMcmIIbxWaKxDWo7AGo0M8WsSxD79GPWBBfLlfmr5t/z2MOO9osbRKFBvAOqZVEHDnMwKK2KF6Q3LE2I3/3wPccOauAu8fNtA9OtwEuM22bqnanOMXp2iBqKk4EdliHgEG6svI7fyeKXe/yB/6watnttUajO50Sdm6UaK2hLc9XPeWi8zTCrGWkruQHvrBDAOrk0D0CJPnqoncWyxkRUs5sYRxsf5sLcVTtjscq2nt/W7rUwQQCZVc25iWiEcAB6ye/Lgzq1JFyDDd9r5SrwYJ0OEFg+UROWwSFuDFfjck9MkA3IyNnfpoxcPMGxOMIOwuUpZjk5/TpbF+woriCqPDs4SWSAIwiagtS9OWhMbmbE4VKyZjgDGvzXDhU+/RrdWKqR/e1FCu0og7yTF874Y0ETYbWnRk8+yYvgoe9yB58QoiZos1R1L+K5xcCiAJbBhDY2ZV52/Ctfc6MzbjUi3FVbJJXhOQ+Upb1ErS2Rr8jpQwq0Nb0F4rzqKXlgmRqgH4S+A3KlfauomVHQVS7hzW7lXRq8ugDK5AvCyluA9JziMXdWZwiZiJQh8Jr1jsBoyGlet7kk+ejS2giEtA60MsJGJJYDzILePZc4qRSVbVz3ll2aTa+ebraCPwiyHyv5xomIsU+TwFwTs7lOyVdeik2A6xXtVt+XAZSQ1/vwhBq1lezEZE7S7Bz+jqRrHzpZWtahmiPseuIVVky20G/Cr/5xzT3jESO8slvT7OzM6oZHdlvARU3UZ2s90EOK7QHcXeOiVQ/i3cNwqWbpR0C60q/zUapEYcWa5y3w8/lWd0vYJ3WZY6SeR3BiJ3XZBh6l3kXIM3fPq+e4rBmrCpNNWLmrFSdx5hf7ynDawVw7vU/LIkOwcJqfFTyEwe51V/b0PQrWx0vPVIu8UzuAFfs4rt3GEvd8Ab2zfyIhyRyyMaI39JWt8J0N2qX7CQPKpruJqVBy9VJZjF7/FVHAuvui7xMb0rahWWC+XVaspFF6cOIb72rYR6H/1hw539+22DaLnUiHa4I8lDlJ3h3CjajFeDw6Qh4o1IEZd55EgEQ/F4K2knHW2aZVQMU0Sz+GihwG4cEgt/ulIJ/McydUnW/DV4bdAc62xKWPM7/2Ph/bQ7jKwmjV9UwM2f9E0Fkbvi0TEAsgoP6JoIuQ20yPs4go6pSvLLGZY1blM5A77iYpxDWglGnrWlyQJJtH6Ui7iWGs71J3dOKQ/6YNy7pPJrEjShPq4nAxppSYGK0RSTEkboD+wzf+N3gsKUSR96Ww8nxwb/y5GLPlSutbAuf8Z5RjYQJE2yPI6+1Wn/IwDw2XjVlSjytVlwU0nWbAfGK3GOu5u1j4lVw8J5LWdkJG49MZzX1sD0kD825OYDP/nCq3QG/NJR7R1a8+qVXm3qxppKHSlej2MYL6wr62DJpqbYlea/cG4jX1I9BqdbnB2Up+lulYfy+H8AWcFJn+MhYfnkj/WWgV4M0S31J9bGf9pgqF3duCMN6qcm2R97Rx1k0+2S92tiQFSKRwhC4Yp0svs+Jj0eylkc1EUjHXowH4mvK7ro8kzptzyRgsuEnySPx+tcjsWJ8Dp4Ixj/CsrUeafXkFNZc5uQUyJerhs8uJhU+0y2Bf9HPC7QglZA7zzwVKbPJLbLd+NsdT7eyqJRr85ICIRXHGYQ1L2od9+ZQVSxw7rxsq3uVD3stXbwaZwPMUBsdlPmRqEYoNufkgYOfldShATCMq0tLzJfg0YaXQG+Zoc4wpzNazssz7Fr6G779Qq8ueMyiyDwARRwoJ76ZZ6P16h/uRLoDEgidiQiA3ZtVwn66TNRsThN+NMZpKinZ5C3bfIsONUg30U7kUupSlzCvlk8MB/TwAu7Gk5I5XFs1Tt6aCUXbCZkqiobSVRlWzNlacjshFfd/cvTwrB7KBBWUmm4kKkgrJTCC/EQvFk937Jjo3OGFDxSKabJiUieWk42vtAf+36MWzz8f4JHW7vIO6LK74QgoLHCkcBc4oTuectE7k5ECX6ZwWlI6lfHOVRgbbXbIHwg7SRHh+8O8QL6wSVKQGEC05VCVIaUT8fdcUv7zFUSkMmymvdS5eA+IP8zYOqBstNvOJjW1Co2NXAfn4GYgvin1biN2qJlSlvOUbyOvm36CKMS1LrzxwvA7GmC+DKxd60aJzFeejWIkKnWRCJHJH7OgDOUD1Cti1Z0JekYWMDzlQ1nW+syYlODDpFJLO/BDEIwt9/rt7W/UOswm96bxtBssUZ/9ntC0sEcCLmmNPtoGfuFBLBtsHaYCzaR1eMoRoBZ8SekjN9f5nySRFhSjdc6pb6Isvl1Gj6s4s7ErxebOMHQrF7ADMiy3xL0SrXWohuRhg+XJmm1QCFi1nMPx5k+p+lN42WTq1+Pb4F6RHXvEf25K6WLl4UTexLHFk+1JQT4xzC8M44rqWw0162FAdVvjEQxKpXsKTyF+MeIxQ6M1bXdmm8NNORajGn6O26zU+pHS/Yn52zcfOhk6+rgbogZrMXmXVpYKVLhax8F73dgS6tK1UglPM6lv/GKC9l0/1XCvR3cSUIXZ9mcIBEB9Tq7Fb2rD7XW0sIzmb7COJr/4HtUXkdCQI3sLW0m/LiwjlAfO5Td40eKiUvnq/8oJDZZW6UqIEm5MXkXJSHEIiIz0RnI9f4MajFCgrTefY3PQPgHogkioXzjgVLLEK8nRpp2gl/MJ8Ish8jxLpy9F1gZuphJxKVTVX+m9omsneStbIAzxupm2sSaOwlVv/N/1iQ8kw/2MGqQHiosCg/tM4W9CYDE26s3CtgUa9exFxrqdEjTcfVp9gG/sqedOeh7NdOqjM1Yeu0Ky8oVGDVgbYL/O8/yJ7iunNlZDzh6xdwOvqQRdJGD4BHwFvPLwwa26W47mRS7r0GUNsByxGk+iOxS8deIHj/PerLIEH14CPjK5i5O0cQv1f7SlS5/HjmPNIwVEdm6cEoAk8CYOj5ZK15Osy78RnE9QQpho05Hr+zjr9nunAZnEt3zIfEJeMs+woLY1RHdLZbOt06Myo7X4kUba9xO/P2jFqnVJ9r1U5EzP1GaBYr//3eCV5v0gsrXh5LA9fKdi19sLrbyEmZyUNSoAI6pvv6+llpxA8mYscbTpd1lj5tKt3R2bjhfUO0jUsyIviaZQ2i2olehVCYi+k8OHHdX3+biOL2AkJ4JdcVli5ob2PCsKtA0zA2gYhO13MWWwfphXRIcC2V/fL8B58uFQFB4nzvPKKji62OyInGB78GTiedLMgA03/DopT671au+bXfhJBQsUY5GoZwLaXBKcZKGY4CAGeQzmmrDGa+MCVgcVsgI/ZBOB/jCdrW0LcuKxkcZxVobjapKCV0Zo0QX84HTpGDXPbrj1SaBP4rrtZUNjFPVy8eEieQZt41KggFGI40Rv5BUA6FrLUM0s0uOfWPiTT53Y1MK0U2XCFlvWBM6yQl5CmEmXBRD6a2tHlQoSP80Wj8TJNlhvm7JtX5Je/dn+5KyuG2MwSL892cr/lM/PxSE0EEoX+ylWwMuCnUb8xQdyLvY5u6rxgnDuxlwWLEayjm5ww0+i5qLSbOeqyrBP2u9jTlVjTwchrtwaO3KOiRoBR+pdCCYdg6CHA2UokDxm88z6lrS+HpkRSgO7GJuJqojDl9bMM6+/yR24T9CitCY4LxxBt8wFvkUAKi6RFxH/o2gzPKgv7rc24iqNJfc82GmwAp7gAxeDkVGUPUegR1ot82Fyj3/iH2zHp0Pr5o129o7zwdGAinrkdCoUbdnJTyvhlpZXLnJBkKm6J0WnOEdQMAkSFRl8PbOTifZhZe12aWmnqkJc5wozIZYYrxFpyNTQo/rWI0rpACGmSFJgbbCvaP70O33P6qsc8JeRjeJNHyZUIqN8vxhZkwjAWSno8md0cjWt1EJV8gS1dyr5MyQ2fD4vQL0uep+N65zLjghKEivPD8bBlPOeEniakodVQYaFtOmxEJxzodh1CBRt3L2mVgqXu28jUfPPlzU3smPSOFFOoePh7xs3hNnxZDXoUoQ1oH5cNFFCmm4/1oCxInKE30ZakIEL0P5g3vjbbQCVR7VP/v2yYzJOKtdM+3s8HjQsm//PViJo9AsWaHOI+S6wxSnSgktrZ/oeOar2aKhbfhbTSdQMwsW4SXKJ+gG0Pk+z2tinAIIwFnzLdxA8z9WGJKL2uzIhPhzTmd+3roF64CAva6/ZLPJUdN3p5hB5tiS7TPl92F5ge0SMBqlb5jTJ75f4SDNBc1IzvfEdyPbww3Z5LZrL6BBYTSkeny0EnhFT2sbG39PfI3fZbq387HvCXMaE2HQVU4MQMIhnRE5FeYmbZBZf2tZxtUPXs+mxn/cj1X/uX1Rrkz3xwivbpGUjIydMmz66fyHgm3JLvqD4YRhizYeDj/vszAoi8+UNCXSNgDJX18fLUH8Yz9wVukvivU1labWSF6/sYF/Vc/uMHV/N7AC+EC/1J1TmB/BIrTd/Sb5woiOuh0S31qGcK/dltlRA4wikh5kB5nqZ8lgXf1NEPsGrkmCYIoWdX7QJzF57FFC3UrP4cHUXaPhTZn2NgxmBOx509XQfpKF/WKI0wPlfLJeSiM9LwYRHVB34rzBwJxSWJXBnLn4fxJKH9fyXdbApItX3DbiQ7aexFbUtOcVE5IWDA+/FatTYuXhNaKVNrtbe7wNyWhZ/Kl2hgtPtqbfJh0R0lAzH4WFcTCAyYvzcHa1kPaa/whJaW4fJTXV7cEKjkE9rJLcgM0+pXb+6nVOnOMEt11DznBsRYLG5fPrzT8KrqN9hY6kH7xxx8oaE4i2kbfyl+avGb7FamUHeSRzbE98Gw+/UPH6EOcGlEIjmMGxzGGqHN82cw+UVJG9MuIZVSoUTuQBmXTfoLaSkylNm43ufbtQwreTp+0Xdym6yhtXVmM6QHoMi+zZp2R+aGqc5WJ14kD1sHVYN9wMYTGeppPK0ITflYht4CYsMCxC6UUs7JHCKLugcCD7JaI74lKWSNgCp8Kxitv67mqDHVyKorn0ZwVJkDu+Evrq5P9cYMjZ3LYfuCUp0jkdiw9s8IuWjc4MZvms0DSEgnb3MLFa/Z2G61s/+0MbjqBnYTddzrkB5FoqyGVUNRaghrxL5DO/dck+JnzFYJz/+DDQepMJQ9e7M6Om4asILUVul1ISd9KB4FpU7h9PB8vCt/c6MlmO2lIJtVKsSJ+b2vO7gljXFOae95nY2MI5JgTwi5DaFZfmWMCSMi1QZkOK30v+of39du5sxcV8JcvXITEGz+omR1kMSn1uF6wJ3DgAhFFTuxxSwc+P1+DnkIBoEcdTBWCj9MZC/9JqrzXWkSweVNptDLy5hZewy7FB/j9kEM4HbnOyAq5a5wf72J/Ry2QK9gExxwOEnCmR/PIkvc0Wj8yLJNF2np52t9XMoaU5knQYrlxwixKfnkeuURaRrwi2+NZPydJbb9bJL1FVvTmGh+OHKqEyUC1+sfPpVzCkWWne0NObLY+vc+gs+0X9qQiFzzZ+ZoJEOYPMLTwYHs3i268NIUt8xgE0/2aph25O1bzNXMmk1cJlYeJgFgrHdesSHurBiNUR8gp+A2g4G+T8LBzgXWCgiQxGoWIfcxcmKEroT51OOypEspy7x8pcGM30+5UKJJjgg3AJm1oMXqn0zXhOGXhc1G3kRb09WpBKhl0qxq80SdEbRogMaXMnLn4zT0lmlOmW+dhCuCa6/Nf5tTf3LdMwpZHyQHEnMVdcO+QKAUHBv7qx7SFUpeG96AzQDziYuTBR3DhjDW/z8BPXVWB/HYWtfBVBjUGQt5FJqP+y9aA3gYaHYcbqC5UkAy++6lfSbcAVMhlKeMWdDe1pOyfUqvCQ1vtV904CiOB5GXKr4pJwSwUCFlf10KJHJ4VZGBKU38tfyLafQNNtPHL87Gcq/uUhMFbNtkO645+mX0zrCzMV+eXaNsu4BJlDa2h1AUv8NpEzaohlwMCI362Rxn0uMNDPBZNOSQRX6WghyWp3bXf0vjVitvzL2iTQOydizUPiQ+EiYmodIVOm8lpeQqXT8NwOFE5xxZvMSGQd1f/fuCvGPnuV5lRo5n4i9GrH6XXSaBpFdWGmFz7ccAKamHiAA3j8P+IrhRA7WnYXYkLKSYNJykRAkV/pXSUqWj8oMpvNSEW/UF8TkFALq1I8/Tv8uuYGrdstN1J1pDnIuqe73zc3Pg2tg/3RAMtuKrgVJxcoSnc8IA/fDR2FEeL824bigPMnUQo9jHwMf2lGe/JTh27vkTX6Ggxpof50Ul5+1jh4mjEOMwSGVJeq3cgI3Dj1w42QbQnYsw2gqO3atoYKiaEhUOriq/cgGiW4lAhbM+3Ydm0KsncLuocbYq6ukgJDOZId4ucwVBHC/kK0rpBEQmNRQktPi04NnKItNUP0dl7zFTGVnPVq0UglToBQfpi/hZzB3BqgrYXzStDLX29j559us7UzX2icfEnladAfOMQB75rYo8R9tGLRKuceImv1HVRf4ner0CUvSBoQE3OUNilx3FNhSTM2ELOatcvSoSKhvqmO1tki6mVsFS/Ebwjj7xA6Qhf58DbgxOYbY5/nPG8U0S1DXcIIpUufeSTrQoTgUqEoo8AdIh6cdLJjY+UOpW4OmDWV8oyMQVvXn1D7TzoTJD/aiCpjE8xtoNAVqR0jagyhA1BfM7wo3yQCorx5pzGzA5M9uPcLKKFFP4R4x4TU6tpWdrWoSK1jHN7IRdpXgjz7JbHbfjq5qXStOFK4zAobmYCDkd6DzahDbI+6u5Jxno0MaB35mgXJPyIuXFnL/aNYPrSdop8p9HGZTj3s8duk846JlyCY56vsmc5u65kEdrApwXLbAEybHb8/W7BjGdoRC7RlOt8XQy6LpBlTj+wWNYrjUNLpxBKuawXiYmnT4zmraxFdnyC0LXH1Nd2R8cogx6sg9QEjQ+YUUTZppyWWr1KODK1QuREwBTvV3NHax7FDQXyinuZAgcB4cyOigNQBEPmADEfA1yWEBYkw13foEPghAuPAIyA1wLa9m2PS9dREaa4I5C+ywX+X4i7VGnWsb8bxnqfENClQ2jRDNGfFj88j6FsZKIisOVyRaIbV4GvWRkfLu/5t2RmvPS79ZmYJsh8ln57TdSMya4zz8PKMWraCS0Hm4ZyRkQ3quBry8fdAHklHS59+EzBSSRSHZsez5pfM+kbxuNkSOZWDDzIQ833QMro298/ukKHOUxO9HbKqh+3IfCncJgR7Sl9nWUlHHDeFZ1KnoGZ7Sk9dhn/Mrxt7hgIOx2OnwnXCg626jx2yDYy5LUWJgXH/lbweGRGX7Pk9iHQ4Ln3YpbBkVvvD416xNabACMaI5+6y26L6kivmZ45JI8dtgQkjq63IBjmBeowaLcXqiiG/dozOxPoAgadZi39IYIfohNbpuX3w/xvzEO5lUzO1isfdH2r9tzDfiPVTkYnjj8BW/d13crbOa1f3P69u2jE1KoCknmANtS9fTRVgBKowQIT6KSLVO0HO3SWt4Ocj6PprSu0wK6YGdDk7BHRit3O3JoSNhOPt+9dzE9XCXTl3rTe7ueOUwMY2O/gsXaPaEOW7ll0D52zeBZnoxzXBWtso5ofwCdmAwbe+F4dcvj+2Gi9B1KRePkDTBYFlNRAAzIXsReArXm+dKvCOIDfWhSFPBDt8FC5KVLtjCwFBqTntr3kbWdoOuWMPBp7stbE0N+gvH9v/LLDB0uMzJyk45v/1oh9oM22l24t8eLZ9lSNLUwnZNHTovxpnIK11vHnR1cGaSfPl9CmOZLK1R8TktA5cWFXFTyM5jmzhI/zXGET9LsjR7CP2QDsbUlg4TIIVisQJSYMwI8ISJvddzC4FxpvgxOSQIuBPyDK5o1tozXNGAVLwuAFU/QU+tg3TjhJ5TKA9Lish1ZSLdwH5kVuoYsV0eekSqPFU1OCNJ0xH6pJ/Ga13ktcGTklUicAneo5o+8MNRDbH0SeriDA4aHNAsFkLUT66JLPUvfJCT4l5losWH5c9K1PGXGQbnyeH43X9T/2BOeJ9S+pZkp4wYCn38XCV6XNHswG8zcHIrFpFE5gqGW0c3W0xOGBTBceg4qL+Sj7FvdTAkSYYjWRKEa/oGQug/2XemBGhwTeV+nzY3CqNjvG9zfP8AryfbMHzzAVYdT4teAGbHd4qk8BjdatHBFrRn81x4rVFsTE6GiFhNiUq7uGS5+7JQRuYz7CSe53SeSjTCzttvzW0hjefpgIFOSm1PA9m9q5Aex/ZQ75KLJH82arHkHLk5nEOevCwyLgVWHhjAYEGM/2J9tYnJjExTj9fgnrLLfdcStHr1RZIOv8qz0s3A/eYRvf44ITZmG6w3YOQ9pqnxGwuJ+T2T39S4da+pV7iyqT7ZAQOMepLAWMDbnet9cVYrIwlgKZnTQalh4cGxioQa+JiHr50Nj4RM0IOkWU6a7st2Q2cHwNNrSQ/PI2w9MmsYPKwl+sS1W9G3S3j8QJ/X+IoSuSJ0DLUoEOhKGYEKxOBGSz05EfUVTBKwsgTPHUCdMps8HFe0H6iDZCHPNAT4Js8qRQwoVjF1jKI7sab4hwqsMHLbARR/XhduB8CchT1oTq531Ks1D7SCBGcM+JOur+MMjwHi5T77xXYokCxf0V0qupwXZLUWsAll/+QcD5+c7zT3Yg6YGeRiq4zR7R9Xppa9ZxkoA8aPxsdMmOwM5fp7nXmGg1AegO/vMyR5idBB4YMBY3oU/CiseDdi3RZlg556MWXZGLEt2V6yY4d1m6VvoAv7qlSKy9YtpQU+I5+LXl2xVuv1i2L9vvnRcI6nh7igQTgPaMl9pNKNezeFH+ccBqjq8cyR1hw5YeYU8CgHlvq2GsoC/VjPVVrLlEhc+POY+i+hWQtd9eIk9zSxLZn0hqHFQatuvxgn+ssZZf8InzArwA/fcmc/KKo35idHvYUM6YmUEblPka7hLsrYQarc5U8KMmVi7Z0xqT+bkmp4qRihLCs8WoyCwUoZHZF5j/2VdgYk58NCla7YNwMOhohrVhy3w0ybd+NHkIX+5PycKJf21awOjP3g8uFDvOVj/cLtUYK3h4wUIU8utuewCiQBejKsUqD+F+dEA02iPZkiRJjSUhWLQpc/bvppoziVQEkv5PEdo/wtFOAIhcyaf4iSP0vAbHH4G0qNJyLjXE5L/hC4E0wg3s0sCyCKnXkwqKnBlK03j3C7PlxIGNhQAtSNBwuf3WtuXHJ4tIv5uyP/0j7Ao3CWsjIJfHbxACU4JhQXtqesTNNcmsyk7SgpygnfS6nQUcKtrqNBaxslmM//4I6dQCusYyMp7abk0Nv5FnHsJn036YJDaYNywZ6Jdf0Xih4X7tvsd58IQs/Npv+Gm2fcW58J0Uy2zzdk1co/r03M6o1ElFiVfWgZ/0L4sGN0/d95yrn/2Li57UIrc4ylho5mr1gm6ildALEEtIQHY6Z3Qk76rFuexQNqcUM79xCTBxgsuN7gj/P2KNse80BUI+AQ+b42hEkFxRt6xyJ8rlUFC8qW+TU1CqPrx1+w8TGoMWA/Ds/FpjgwlOX1TWhC8mRHSsviGz167JkEryKI9PUrJ3Ssq5rz7ow6R+GjnAggkb93VC3VqAGslhOzcNPz35DCi3LCmBjKr+O4c3VsNB1nNUH9Di7G7+RopGE0WkBFh9cLuNA/1LiiNH15jQG8sRqLjGugat95j9au8k2f6+PMEWtGbjCeZQFg6H3yz0S710QDBp+X4PfGlNwmy+Aqb0YvqRzhL81UDR6oRpz6NrHXPa0ZwJOisDIzkOMyIes/YpooBQllw59/uotuozXosq/HhT59nJqR+G72rTzFPYGbf7c32ReKjQmlXacl3dORyqJMZutDIizOGFbrYSyzjRbyswBG6ytHX+9qMtw7nB4aGN1cc7vs6OuH9sRR361msF2I5P/6e8TRgDRc9onZ2BY16HfkZnDr/jetUwTg5n6IIBUJL0I9Uhwq2P9pg4vQiBSUp+j7ooLfVEayQ+K3Lq62E0vjfgktE35OA/PDimckNicxggrmWM3ABj4U8Cb7O6dP0pfF5X/CX2ow6JVIfYzSn6sGlY3gucfl7YBkv/Uf/3q3xYynWaiJR6miqZi2qceJapFsXyOdeqr2LYRtd9oGyQfnIWOndjSOsc43cuorBZJD+AcDKOjDItmo8GYRPIBxy/nRfKz6Mc5f1z4rKLotlTnC5ObUYwZDdnB3WshQ4ucKlPGxqHCV0B+Porle2ZtDTYzSoQnNKCxR+5B0UeDXBV/SbyTfLpEI3aajpjmBzrfVUSMS9xLM1XFZ7NEb4onWIcVTKsRSProPslzu/w8epIZnPd8e8bx8VMSZJU6KrtL8IJUePO0hpFlQFN6RpUPT/DwtK+KEmV0pPqNhHyN1+g0JH6OrP7CxhfwD2rI79pb+OGULnphSL3pEMbTjPQ574THFbQfNpokIPr2aDsh3o2cLEJZFA/3duoNqFBeroGFOQP8xJ7hKn+p1hbNsFVFwxl/V8JS+RRfr0/WyhqGKZcmqW3p+tPAU9uaDnu6fw9+VdkmgqrABFA/aMOyu/Mrv/SY45/isGObq3Ozp4nAkpg/gxIc1+3ybKV6aX8udQqZ6zEwvZikGRLIU/K8bQcHXhpr4480Yq0twrXFCv62jwNQ1qdsIMLRt4jQZPxw21PEzvlnNnIDRPwNQE9hIocOHnCi/krBKy17KDJxQE30ufJt6G5hJBj+wdnIMxcqeRLAhb0qdN8TGdJ8ANPYsPK6uYrtNBi5GaaazF7PuUnNJGO7rvqcp0LIr/L+EmvWV7PyKOaS7jZ+2lhwA/lZxh32/1JaJcABHNRdPYYggPxqeuQY90BFdq59gH11J+E2nGE2se3vrmtcC7UWnqAnyeAJQ7sRr88yCu7YOEvt/H1xlC8HdByOpmcD8v26bVSbxgNDMBldj7hvSDm6uphNRNrJiPZXFr4rYexEqymO5px2yqunfMSl8SDz76tBKZDOP5gsLVyiSCliaIYeIrMWF9zUIImqDpi/zQJ1CW7uXEGInBygEHBV/Q4s+QEjAqOW5IItdngwde5T1ZKLKek38V6QLh//9QB+dR9QGD0l7RfXu1Cx+kKilGHvzuusPnkLxCQauEUpPe9CLHdIk2G+JtRAlmhTTx+fG0pLsGo/4K/wX5o5XhFzOQNRqeY44kZcl3orTlSUVIPh0R7TMviAT6TralE+wpgCmPeFpCN96+jOivqbVKMDRBtaMtLUSpQJQMtFvU+OJ/93Et3gZZvqR3NQC70IFWzqPZzhaasLjvV0EwmrTO2LOsZXmn57ToLpNrKw12bopN+NQlSiP3LSA34oXSrV4mwc0lzQyUjsAjFJzGK3azx0LmRMfZgJnKz8zWEYeYGexsR5PEzZzNzmR3U7aCLb6bakrX56aaFP7OYLogvn5er5gqqxzSbmuaTma25QnoQcGe/jh3j8hUMXTQ3cqusSrL5HD6EsZkb3B0+BJS2rCGOAT4opAHPUKM+y3iyy7EXKaSWpkksxaqTBMhc7/CL0R2Bm2WyA0HRytkDSEZzevUn4AXA6mRQeB1b0WiNWcKZHp1fiE+edzuy4UdJ1Drk1nuWKrrvcUIk4k2u/MW4/OTardEjShN9X0sqq5tnYe1cWdSYj7PEazeB/I6WhLgjfclKudzUkyGMKoqeRFsH1PtFvBqhXz22XrRNFUdJcHhhAyJPzF5fH69+d7uxWrYZ2UADkfQ/UN7WAeEv+vD2rwNPGhDoy0I1wvZo/SxPDqKf7oUoHmhI0wXorB81g8B3r5iIe1KaFTo43fsCOeQwLeKCbXuGz44XILQMGQ1AWEeb27/r5QFm1qD/VtPMSYTSpNsa4ZA+u9b/snDxNU89Zgf6PXxkNF1+W+scTeb90Ed7IAnboafdf9sYgqeaYt0y/+KV+Bpn5Nj3aoy2PZPcKXqjohMP3cRqtUC9YLeLwEfyJCcnRLN7PoIq5w51SqOjcwn1gdms9M2+ZKPkeS5lRbF/jwuaRlWufpg+NR+tu1cVjmP6cpnMs5vZbddB39JRxlqgojFtvCqE6NukdiRsH0I3ul7v3G5p+LJXu/T+uPnOfl8TT2YhRljtx01N83QCc4ualS+1h+9h39Q43+eGyvg61S5YIXTPA9lW8LIE+xZWwZeTnPqXcq/yYt18l9+geOPN+IGZDTG0BqDzAv9GhmNJNtVCwT3UqOzAIjEVpBrtw18qEPS4MHX2Fi50M2F6c8lMQJjc+IxhpXAgl/Ha+QaZQ7wTh2MwPpMi2wdLuNTQfJX19gRu2qbtXqd2Yseq92279IkVsYs4+7rvjUJVcCdKCyhZGWwuODzRh1I95A80Ntxf57qXpia6QEPnmPYGgvBbi2jsE1eMHJPDPsGWUqABA6062KebqyDTZfcX6yWBlYOyTpoJ4SLpiPafP45sUkVFEMcxNI77zjgYJ9ie/uTBUU1MeOOMjCIaRTT7NcGpID0AhcG5Xt0vW6pC9lSS1QtUB4VE6reo+bQ+kFTaALFWe3ZjGOMTYLDTL4fwGGLc1agdOQO9RHexuYN4wNltEcuii8ZDXGRcZCn3x3K4OW8qWvLwoh4xhKzOZ/v5L+dWpIiU7U0cYSHI00o1mYxSXPxL9KuXvUPWTZz+ZUBL7Ygncq3kmUp0s6a+s+vCF5KSl/DUFqbcmtobBeKu7inA8N3+PD1Of0+gVmAJewm+XAELrIXr2V+5fDkhPJkh8C8kclNgciGjuSQwStpsRL6ELFRcG2fk1wsXyYvwfMni+4UHaCIVgN6MLpcQyUDO4oBD8O3ZweT1hDbQ2y0/Wg8inTYj/1SEJBmIJFZfw2GMx3ijo2npAsOVV6BOOAb61Jz3pT04pPazI1q7J3oKBtfPjeVlRqZ+9+YCuO71DyK0mtWg/S/SFv5ga+bdoil35hpCqJDLDVmZ5jJci7AM2E+sfF9lHXvs/w4q0DayPT70krosAzJ9ByUc71RAsT0L9AQc+Oj27RhovjJsc+bDUjqV3JQW7RFGLB9FD2UUbDg/ZeJFSibeF+jeB/VFjZQmLJ1sd0NBZ/mhM0ErMd1cMSXc3a7eVQb5GdJt9h5KHiCUzdAR+9i8+4cKO/Y1nv56HNiAPnC59Y+UL0Rqkox8NDhoC8iyvIrXSWhpXMpGt47EXQ+6SmOOgjzBcZanVwOKFnLotRzcc+rKJOpLFGRa9AO1s4fT6Z0KCotRr/haX3Uq/PDeEfI3+JVg5LKXZ/ZFiOiiZSU+UJabjkLk7w9GC+K7XPZ/Gg00nLwGJ4jDapAvtO/95CI4lVFBDzcAQELny5bcDCEZjdC1UsGsLvYelCHeWepMwSXjkN/0VGbgZGqG+xrehmIg3qEmhVdVk/ytA9a+M0hoUvwmC7MEK7cg3GuwfPShVCDSm6sWoQ295bh+OFRm0FuzJwr/Jr3mI1P8R+PxrCQSQoZgGPTMeDRacUmqAcRs6Oa4h483ZytlYtk/9mwu/IZFlPiD2cr47lf9zqib24SiCxRxy64NxOaWs7W/ZX/lk1Vh+h2XbpfNZPpmWH3Ar4c62oAs0A1qQHOLlLjnKUm1j6TYVrC61/0ThghuDJ8xBLobeVhkOUzN6vLHOMObfzx428Iai0RIpJKMBa9wmygwzjGMxzMsROkF85HGGfRBPagX35LIia+pAPzq8/Y4D/sXNJhxGv9PXLkX2BhMkUmzb+2MQNnB8KiEvQBaMvuVhe4UAcS9+dYJACuy6LpOAKlp514U3wZDWNF42R5SlzcxblFVhVsNJLuomxpKgNDthdiWQeKNuk8duM5/Zsd8pohjeHC0vG1iOJtb/4aH+obO0VnB1njGSRvzIvJ7dVfljm/S1mNSN8tjAhLy4kLGR9D/n9z0FmSuS0IxQTPnxWSBkieUH2g1yn4CR41/Rcc7eVBH5voO6Aa9oGoiP0/9gXxVOl53E4UYFZHJQHcZjyI4VGXAv7K5uNDjKb3yMecObzZfpBbZp+MOb7MqW+3J8Vb11IgMBqktwd6VK1k/ID7XA1UtPM4KqRE/FqakdT0zeDI3t5RjZ+4gb6cVa1szcjtDjMa3LSsIq/luptFTXecoDcNcovp2LeTGuaaXTkzwTuBvZSVKZWckGpWSw68U/JRoVhW7zy5GWERpdLu3SZkVngLMs7UiboygW8z/eoszTromEu6gSungbaQl5Qq0ngvsLiyWY9r1QWzl/uMqhCYF7VUuRCALFREWTlnOtpLrI7pPOZcxwjJEK/9u7g0gcifdQ8hl5GfJ95Vk6NHfDUbEY4iH5Xx+jbYj4UWo7AC4Ob4kemRI/F6jdpEoK59uh8Gtrw8b00fGc22OkxkvFrNKwT4a3N2Pg5zoubHKtpXNQFkBT61VA4Wpvo9LnwG1obmjLYSx+BnP1hXsawn5Ag4jCKqvu82oWusbkTRvDTSX07oGFIqFtuGv4/v7vozvrmpzjxSbwzJDzfb/m+UDjt7rgCbjhWsqPwJ9Ua9KNGKfsjIwyTSb42E5/xd2cUtrBVfnMIubXXC7mKxIsDKEMNkhQuof3RnMd0/JbqhEYCtQ28wz+9AUA46TpfZP+Z+tfUCIi4OsJ94PZ5AA2yZ2BuS/xMPpql8S0+Fucd0rZsGmOVIy/amWogNn/kYNzuIE2yAa8IqC29Klpr1koIOFCOyEOGZC0ODoc/XEGJAEmpNo+vGH/7VeIToSDQbge9NkaCVMBFWIcuZmdrfls9Sy3Iaus8llehwcQxKAyxgV6CUU3USn4oSpyvpR1hrgXpbchjGGbtw2IRF3dyVJ4ZNfEno+Qyf185BKDt7nQYc7/yy8CxRa057YPsO7mXXV3jZC/r4pHDn3htUlQS9is4YvaXgUlbCTVIMWGMKARO0Iy4jjC2oq5N6OIRh+GHp4NNsrHAkgMQCfyXiuUfUsS3S8Ub8G2H03R6QHMgkgdbUzYDCAYmv1Zh2OCbLw6RpyyNVv61ANriOz/lOELSpKN5r7sNkNtG/UO9BRg59KnJ0qdYxtu32JMtWEmZzqhFDnZcJtSKaWoqi1bSkMCJMdfXPleA7CFxNhlW8zsyReQdSd/11ai7jWsg6GjYwix+fySkybrad8CS81QsabK/FN419mdplyx/T9+Qa7cZNmnNBMQel7nEFXaMrnv2R3HqN+mys8783HWuhQU/O7188T3JcQRfXRurFJp1I/rVoNWimTpM13nwdpqB6IGLKhng9th6+j1zSho/Fbo0MOhdLH7PMbH20iwzODyTJOsCGo6tTKWYiaWWsNM6NsbgdJePdjWIffz0TqajSi91dtaxyen4wqVmN8IZxiM0qKvqWMSjcBSUuJ3kUxPUZ0jCVXYooyPM0jdzp3BDDlFr0uhtQEyWrxLmTf1BzVkSlrwsCqlMeEu48x0GYsoGT8AluUTM6ooCgSqi8vgC2PXGf3SWwd6XsX+ycjKEEc8i5otxDqIKk/YzJE37ozddDZwpqIRLK3pw1VD2rHWlgNGiIiGk3efMnEhmL6vAOilZnZbd9wB74NCRhlaQ589VQkRIMq/lr84aiZ97H+QzL7DfB8iCCsV3tNAjTVcDV2wOa0Q9YatAld/JLmq9eg54K1SWkJeu9ijTAmutZoP8HDKRY/25GTglSfFyp2XMIH+vDQUQpFTrqbYv1hRK41irP9G1gnw2YVufQVfmtuex11gV/3bf3BHwcJkN9jX/2IeFgG9RUvkvZMBC+k6XXfcPo+eSlKJqbJS5alXD862gj/rSduAmev6loh4QkzeVG+9MeFn1v80MvF8DrevRPLkNnWDb2dE5Mf1MBAi7Q0ABtHcjbdZ8vHYqXIo2IcdtnJDChBLLgpERvYgVkh9RMKePU3+PVQPbrpbba8Q8AMYEzZuPRqh/opv0QbM7tzOzphq8vANTiZKn82DS2QBNMiMf3leKAMV8PfyXEoMxah+L8u0WohsFxTOBwJiEA+6q8is3v6pDfVM1ZdPcfd81k488cYjBXBIp5ygq6wmHPcezLDNqk8RnUitUyZPyvfpnZyrC8wdb6+qsDLLnF2+3+5d1/0PWZNQiF1yCi92lUfx3OU0km8OKcAQElkNvIUfH7iQcEv4tDA/kY4xE4hQDdcc+91l6DvfxEZDMlqXPFcZtd9m7uFG8O0k8Hub7qpXKTXVGhJTSAp5q0wF1L/qHmReV6+XV3lzQohpHdEeT1bg4FtuTejZ2KQqHjrhD2GG6bJYgKFBYX9FFR2M9Cv3I7cD41ked1EAV3eGP9mo7H7VlJazQWDsRy4bP7zvMio/ucHIsh2p6AcvGNHUgUzQmTrDXZ74ABo7t0UNVYs31rykT9unBJptpBj30JkmcLovRYEmieO9FjGa8RU8Z4poAZyTA74ZaiJEen5KwOqMhgmistgA3rLKiN9MYJYqDtlIa7Itup9fOg82TwyFqIBhaNxIQaqGD8ogGxhah3nu+6hZdVkV1FD9H/HKlbcTGzmjdVES7Hf4eQU/1+RkY6H19ddeumAoo3+6ur0pR6xkvY2VwYXzDI9pn8qIoiikZSafeVBmuXjLDCNHgyylaD4TdP9emD27g6IF+8s/DT+WsxYAfrku5ScLDC9tCrl+ArNyH0kS8CIeyEvl8dFHE7cnWkCFNtt1Mt1qDTtaIGbfKRr4sgog5ud82qLvMDuupYX3h1OUXx9UTo5SEbTrx28KAcr5zG5XJ0ekR3hdA/cSm4lsIMZZX2Oe/5NrpVOaxN04og9m0vNrNAsdprO6OnPOmks2TVwGIzIxB7odcAa+cpc+/XitqfMcMfZoVeOaZtT+SQYpjx+ZcAFjpdMiQvplzmS/IeKH94+AwvUnHCZ2/gw6iDVmwirbROnTbzSP9VIMq1RjsVpsh3O03gRIXJaTne8ELU0gcbwXuY88/Vr4nwbZKuhbSXdN4K3q87u7X8fLYt19otCmkEtk4EJTZcZnqPTGpUptRTcSm7813uYT37Ktdvndf5bziZwLRBytHabZrcKS10r+0h2vvgJ5o2L5vm1beJAutfPBsHSJ986DYyTIXe2h1vE2DC6atrXl1lAEnRZlbUdYqLpLJWz6yl8sdZWkovbwVXiNhTpwagW/9471JSt1M6b8qbS2Vxnn8qwIlJOE5bvLAswWGkd9PlhcB5NE/b12iMTj+gJgK/zVHtUk4O4I6EwyvAmW3rFjJfQ8fuHu4B9ogr2h6fWU88beLq0HPtFBsmCpBjHXBik6ZcBJOvXvXvneoekEJsEQiA8k8Af6VdJb0pcuKLcuOI95MorJ+SCPzStNfWC7i6GIQC32NT+zbuwwwbWNRzT21Kmlo3NDhQkTpd+3dRbOkaWtF7UR4D7hbLFvHP5q6j/ia7iNz/LpI8LKrsb/QusQc04Jvk1b2wljoHuA7IeM/Lw0d3QiDQlVV9a7Z96iUIiVeRuUdxW2RA/9QXMESuZnOT0NOxD9FzSBDDNH1Z+bCUwx2d/KzORf6NYWMFvJ/DdIRHaizC0nsUOOP3zQCQvYsBcnBtInldZbkESTGA/lvRHjTKJlOjA5UztXsNCV3mdwXnQlFVumc1yKZucxFRhHEqqKsoXbOmldcUBWVCj846hC4Ubah+lhLGBamiuM4L7jpMeUu6Yld1/R6bKRc/lSJVTxbgJx39zoMouc80fs8SoeGeBkt8LFpehayIqFngrQGbj9cXo/gIR5GWauSmvN/2qZBht7P0qViAC7Q8360DP6tcA6/jqjny2hYXMPzKmkulMND1nE0YE2a/TKGOPCZIKf501rlgtKG9JU0myrXW9jQUg4/N1pZ1KmIoTex6OCryTXu891b31mzV2aSXnJt7JB1BfhFtIKtUxFzJz86NJyIgu0+vmtAzzpdg1QCA3Z8y8Sn7crJpp9OsjSk0ECfgIKw1qM3PpN9Uzfosqr6TxIvcILSKH2fsOmu9JPpreqUGyFJHtGoVGQse45u2gmnQHF5sT5Ex/RJhDCbvREnSoiOBq20laUh2KYLVTkynJFhmQOy5HImyNWwpyK6r7su+ghRsBGi2d1iQrsHZHYKQnTWTgzG5xkF37Uc5cTA18TFx4c/nNo02rVyNPhsqKIpMoFKcsBNUVU/E2U2HpODb969pZYpZfkA7i1Ni3xqPVQTIwioYfHND3aLm5zY2dRzOwciA6tqE+a+sMZ7eUeZI2voUJYrBopD6gfCBMuS8KtHSlFswWGMfVimRA0J+Wrx98DhX4+HMnQj3v3MoiX6NJ5B1tpkLElCvW5BGnyJLJnRMPu1DxBM6xxv396Z1XmpM8dK3NFGL7QPLHAQLbMXVcm0gmL+vriHvAYh4ctjeg3xFTn/8Iy0xknfCO+Oy5ne0BqFXJCU/ghGRSXkbuOSSn9GpmxU/7K7Ncy6FLAEcfoxwa2VEAPHnIFY7i0KdrcKcO1C6WPD8wQMwFkFU6cpIer6bHM+sbgEHT4LqsRxbOAzIHsLdSJq2Ro29pllMc5HJ/eyXgq9TDFU0DHJl4gNMf40zEbbaA5C1DDW2Y7wiqthqhBgM7ZHZZwN6aWHzCogkwnzPASLPdpzh7nZRCP/Fri6vSRf4ZTyJNSY/zWAjMHgTp7fG2LWqmaHF2JJkOKjVa/L7/r8lc3LkgW41WpjQxmm7hPEFivsBPQIku5pPB+Bsql9inbrE56qEqqoGBpqC+srZxpSCxhBPBTWFI/+3O1ckb0EXKFTN5dZ1X58y1bTYJ0iZCoLr0hA38p81f8kizZtw/l+jvzkeNcRc+0+2hxUYbNNfe5Gyda93pmXsT02CzwVAsXx1RGdTzoY5tnfFyjj58bYvuojSep/8kAfEy4xomZdGM7j2rguLfg5vEC9uEc3fis2E6+wmaHw5eNwstzugrlAn7orD4kkp2lVXr2mJpcpYhTfdngeCg7vy4T1dnmR1PoBMcZEH5wxuMYHEzpjK6761Lf9VTyfKkJdddt8alPxt0xWd7c9dUupL+SqxXndQrSauuk+1t5e50lTTUXGH/wnBmosDcP6ZS3V/N249Pwkma8ix4dg9RYbC3QgGa4VgvmXOOhC1YFiM+zvQWzK5TDErXgwtNpF1tnF4LqDBiN89s08QSi0hs1EZcnjdMIzT+nkFZNA1SkZYwo8EPh1iOHpm/CjRnhYnU5UYisT+DtxxrPDIw0svdhNy0ZXZByyhvP1HlucCnOZwEbUey2ksmJtdBA+H6UoUTdUjiDHe/RtKdbjGqPV5xEoDXx17X74GgsPOLgJHGw28lF3vKx/hSLMzH6MLdD3+4mhzBaVbqZWUbq1ZZl9wEoqP4Par6G1JRD3NjmkcwDm8B05JBAZ0VvHy+i4y94R4LFoR8CXMND1lZzNv2zRozzH6cmSVur4wb4l/fdfQZOeVwxg5Zs3pRv/4LG3HZmvHiCjVBtlFrt5gaJlt0avhJm6DBWvViBf2xvScI88LxZ7f39r4chn0WSTha768b3MJ5cjCs+BOUszI6W67qj2S26rSDE7DRaqGutgnaDr4ZmtoZUQMDUA6Uq60x5d01AdtyNzVIpLhP8JV5cL5LiMJULeoRlW1l+1ZukgVYPXqzQuxTLNHKVuJJCqxOvmvAnz2HJmYmDt4VShW44gmB9POJzOi/oznd5kVNeSWhm2mg5KVcGlgKYGwDSmd2BRpbU5lQS2attl43fvckYVMXwbzUjr/tJFXk1rhAZmehLyWVugI00ELdIkxTkGwNCz4b7WUcO88TbUS68zgnIZ4WCFDL4o1MmcLEV61IjHqvYqcwndCaClBnV5AIUTMViDBgVVPyeco+UopSZ895iHKHF8vBbIP+tT+9pZtjXf6iQkVuQj1pxDPBTa6L9u596or3oHPMf9dfY2//kKgN/pCOtcULcl8ySoIJ202D08DnzxZ9aJrAIZ8Au0WM0AGXkuY2g5+LwHDo6FH6Hoe6sEtO76DnirnHSCp88UAmr5wRdYshxM9I0j//htcI3EQ/aNVnXt2S+B2H1N5c08nHm2MhyJ+kvfnWSIwx3bPxiv5/KFRXjwVtT7z5eidn8oLiIKfGz8VXB+8jS55PjevRqKneAcn+UB6Czv/3qpQyTYfc6XPNwBwU8Hjy4DRDH40WHAlkscTmHfGgZAW4585fTO9UkoUMf7uRFr1sPak7iQ7KbJJhLW4MQA3U6hkLjpjY4kb66XH9XgVuTqjEqmYRSJvT5s8SOCNmAXHJ5e97wjjxZ+KFPj+dDd81FaabWO4se0zoeb7N7DG/2dCYjfUZl0g6Tu1S5cGTRsBHBnJtpk+Dq872KlvR6gim6MUY+9FgCWTH4c+iBhQZ6izA/ix/B4wlmvmiUvVImjMGScPClWdxOrafwbl/Q64+ISiGDEEOQVBR2lCICv18WGEsdpmgLe4EbDvpNZK4LCdDTs5oD7GQZCQ2YGwPOB5MFKOKC0uoXk8R4wFtuAQfB10rwRQAxPtT1BIWVbHrqNrvh5BZ+/7Eel+wmDrkLPk9GsdVgj5965qpLYww3hM2/D/v3R1R5l1nDSRhwhM10PUwfPM/Eb/vX7skzepAxt+AO/NgnYsTuuXVJhqqSN2avHEACKniBHFUighx0ym7J65exU45E3yugHcvzy1Gpk6Esb4umOC56ecjiPc3Byd+8yz0lYh6gDhtMTlYwIGhU1P2DnVwpDOkFRSefGEulC2b6unCRj4HGq77PLfzUQDnOfiw/LAonkjvA5fQv/RhXcGKp/nd7ezvdEjBjThy7Mr78D5kc+o4Zhj5Cy2NrBgbawverEYXn4k4kN6f3QI6i1W/ZWjmdAjxaX/Xb5lE5gidbJi4yuXKW4KRliuqUpF2HRVzBtlc9KATuYw1K1tG8iPpqeC41K57GjXHKbDhtiWdUkNW9Kt9fWkgXt2UFhvoxdChsTKx9GMqABrLnnJ0HR7sc97VyoLSqQe799XvxL/qrjY/edRP2s7qwBAInmPsN8SwNMeww/oCGhlU4xk7Yzg4d4XsIh0m5f/BJzgBVMAFB0Oz8025LjUGMNkXEMpa/MwnXuX6yC3rXxmeYdPtlS5GX6tYYWi+1z/x+0EeJO3kv1M3fbtnXN5GMtB/4idC2kx7lFsxzWYmZ+DyQwbyFlZla29NXhO+aBJixeewOZQQFJKwjwWPldgk/egBY8c6DzFSJRph+crzfCmV6ak0VtBumYLxezA4v3kNvuU4ddJSlUKe5kRHRYEI046HJtZahosq/17lM7sjMrdbOK5KwulXdO+dbI3xBzIg1Z+hUIDit/MNThTQmjMPxNpMbLxumUg+SyIU51dGxw/sw0LGhI80UomCuBmwCpfXJ2mopNm9iIzsG+P6niWiUW5uuCUtI01M/qPjGo58X5A5PrqeJuW+fGstzk3358IITB6zYMoQKSjGy2JCyXRNrmX9of+vtjjO1Y/fAS3s8vf+40K+mHOZ9327QfkQ+ofjF9+La1/t2z94GzKggkmX+g0WDJh/Y0itiDzXQLV0B706egC+QzkDiolU1EPtB/OWyso/jF/ni5RMJQUwhkcvaONps36lxYt0UaxS4REQhnDmhSqSZ+BiiJxqjX163U8vde35gltA/cY6oKdIfycRJ1Rhd4erApeOEAzSi8lj2O3GZ05AOBd6/TWHH91oFIZ4C46+bP8xVOz27HPWK3z+sjiZSiLD6q+3w6t4azb0txRYc26VXoJzX5UOq+ISYt7IU8uczdQWHdcJ5jgmY0wlRX1T7zMwZyiDOL78aMSl5USpZ/mPPGEURlh3iDhv+JVE6d1cHWgFBLdrjlONvogZNaHPSdx3wgnh9U2vcgsUz7sqxGKpfzf8e8UuBTg06HW5M/10Sd7zXNvQ9Vn5GZfhoRdgHIG7bVksFqLPkhl0UnZEIhHSP8pyEggutlolw0anqat2kY1pv2kbE4DETDqIZW1v2OhwGE4Ldz2QpGBsXUFHfb4OiQu5o/0aYSg79QPqQYhdOpOe57fYo5vZt1YICoeA+WG5vL2vI+wYD9B/+E7Bzm+bQO3W75usfot33olyhTJeSeePNWDBT9p4xO1B6MHUbC4uvhlK3oqn1MssxSFarBObqsUvNfYTv6+DG74Bhz300gQawmu5EJ+AEcsutYa2m9IPsadDS0YkYIbgcL6mQHTTY2fxk82oiw/1WVizvAM3/93Ml1tXFmWwEDqX4daioYNV7wIAUuhw7KQu4Nyf4vlqjWLIAsxLRj0/lkAtzlojtGY13wA2SyVjRo3p2lqpZpJIIo2+b1mAcRN4k+lZAwY1SYae9JIYIrLP2z1LBJkkuUPhASU+muQZ9EVHmpQYtGxid5vYRMzBFPPVZHzLjT80/PO5QX2DSHs8uqpScQklsWwYbZDuh+dVE/I6tHJy0odD1hYd4cGWiae9e5c6AaEHtxKs6F2THLb7wDtkid1/4ZGGiQYS5PlBiGRGJV9553DhoPb3PKF8g5Jb6PR6XlH2nmuSWc7BK4/ki+qQf/rppe7gq/reBtNXyIyBrIvhL+w0igeWctSGmQ/Fy89g47NOueiBi2c9uPUHKkhR9Z0wbl3ZNmmkhT/ukV0Cd2GW3ZzU2NfIYorNNYcJhRuw7TWtc9DK/uRJsEJ2/V1JMOzF7Kk1/FHQ/LRKqUdokoi9J5WUYFraU+s2WFWmH14yLYs1baZrRcUg2XpFNAn/je3iPB/hiEfor7mIUuHZ9lJmw3o+nTzamIpBCUHA+PDB4FHzE2vs2pQ+B8rb85aiRZ17FD7nooHjOvHq0XzsKcxrWjxnkfBS85EcoAHQM+4MNnOgFHWH+mXW/FUv+vkYXMNymjbDYnTjNE/mWBycUyuhW+forD9QVqln9UH+hVjNlqvsn0Vvs6/KPC/r9ngZQGtLI1Nv/fpoxRhPNXC/v7PQtt6TE0oMBA97mWZO4ATnZvMODxYPsNmVsMjaczUB7rDbb2JdDZ9y9mIVQxSe+naCVJFBwp1J/C19gs1CkkGGjJLDLEUMWXAMEUEJ3dqXE6ahw609HJxN7mlwQ/PQf5ge19rM2ONO2QyT+d+r/MblulOIfhymVviVV4u8Ve3upnKfldi5NP71TAp5shhFfU2JR12CX4HXRsCzXENLl3PqtLgypLwCrKYCutpMf0AG0v5toxH44Rc5K07yyd4QkMsDJnKyd2ECMH+OSEI40u+y82ntUj69gv78sSNR4G/cmeQVmJCFO7iiKXF8ykNWmAfxrMm4VIJ877GZveIOFZDS60RCgIXKAjRJ6npE+5fQhHosZRrjtIDpyZ1ktl/CqGE0K85p8ilxJFhcW7bfcEUhlb+VvXDRCcXPeJtg/d7UkLIjhNh/6K127RCJVFOPcjTE50367iF4IBXV8+18BNy/154nv60yyvoY5w3MCW04sF/SuLrRlmtiIz1VUEzxNZnfwj2+jStH8cUCH/B7dvaAWkakSTheXciUcdNlcKeBgYt71jbWAz/J17eActvWloosg55UzvuIPiXhaCu5pPkwGT+L7Xi+Rjztz7xXDf70SHq6BuIvoaeRpTc8z9Mzw9tge/WNmOor7RkFU0siCO/796VUAApm3dh0ERNjcFpnSweKaBna2P6zlKxpBRM7knoB1r/IRA/q3CXv58jc6nSTu6zW9zGGkN0oAFbbdYd5kRNmhossHKgIeuD1CJ3/jlWf3/7xraOVEmLZeptEwCwXQKj7Ii82fFKMAI4RgE+2SyphAuJyX3yCpjz70T9sUCM7V+nh1SYakxGIzgTPd5Cl9p/HYnxLObi5EhO72s9Tws0poXbnaTUO9EH3xcx/cDa75wWh7PInS3saCBOAKFgXU4x5nGzyqAaNGPSP3XYEwse6LcT1E6N6wSX0EftJIoZob9SeD06pRawRyyxwJY+VmvB24cwxhv1D46Rq80v4fRpZyhp3y90oIBwAm4F5QzFUKZIkbvaZ1whacsXlIwjbuwHr22pMGDSjCPJXFxY/g1BTodhWVdBdgAF4cPX7fPAVmj1+UGQz3b22XtxWpFNLRSKggp0e8bKOcbOf088DLBqu5hxgMlni3+WkatfEchd7dPHaWkViMqW6i+kolSgT+OeH2PA0GOBA7vLe5fYO1ebqYScZ7TVgcXWVruFHc0Ys91IK0aTPfApbobYyVhqahseD4UNZbMiNdsoEItYDYNd8tkLwdWCGYvFQ5E7e50wNejRm51bjQFp2GLGLkFezyTLRiCIdwv9e+9Zm8rc1It/eZuT/O6fqv8LDgo41dl5OuRz3zYpVpr3ebqiZXTnj6HMtepFWKcZW/FESsL5JdfBhDjAQOgpMoXt+DxkagPNPjrwtnoAx40kID6YWolYjCnOpgqljqDTcvnuqTME0XB4oYqVAjrux3HspwS23q+8jL2ojw6VAiVcjR3H202+soWIF7tl6AuI4seN7afhe4EsLOP03ofOxHs/UpraXwETzUDi7o8MSJNequ0odmbDTExQPW6h7QfZVD2oRrxQEj5LvRRCW7Eb4Rsc+3EunGQnFa0rsWZ2UD8d00PGMIbtaw8YOJiruHn5X5wLuKR1aVaawzsT2bRaXs8/TzmrxgiFmFe9gRYMEwDW0Q+9a0UkmZdopriaz1/K6FmB/S2b4uDup2xF+4iATXZUPaK1cYxPfA7vaEiHxmH+snIqvNt3yMP6NdbwSp3p2PrMysVFmPeSv9H1MofBf/yfaih6QAixG+T+s0WD7run/C6WURcWvO4r1NieWir3/Crvu97LynwhddFP5oZzfxbXDNrso159md9ePkijwgIvjQ/Wt7x3JIOpt2NmoFhd/OQK0yUIWCnmCLq35u757kDxXDvem6i41XG1S8hOecZWBns2HDFX34h5OOZw9WtotX9wpeTgNfXPh3eZzMWwurGhW4pziaXgxzhBWIgUKAAmYuHydMLyGQzqQCqlA1I6xfmX40lup3VALuQoYie5aARDBZA1ff7JUUiyLx0SE6kXvomtEp6wjIAhnpBuQgBv5SHTevz7urpWEFjvkIJdTpOcZDs3Xn7iMCMWd9piLhQTj5iZSTC4UEqZLrQSWjKXeyNGCEtEW34C/z+tr1+eK1tn++55AdWrZs441P2mJcj+wdB4z6VceA1MSQLn6CfLycUV0tC+VMVbDUl9BJTMJs45tAwjLKB9my6IcQuIhKH9wu0BlQs625Gg/c1FL3ZI/6tOgwPTuB17LZpPxTsyWYNtN3UgEx6Zv93hu23ZYbG8z0FFhXb5sI6+NludTeocPf9n/w0LM4KhiNKGjzAJ6Pl8NzjPcyTBL+xHvUs7IrlbYWTdCX0uNP/dMvZIOueYIES9yjEFB2BQwitkfQ8IAJZnObBtoshvr3zJp2HK99WGW8cNwKr21QF3LHrqPZha1q3e0zPNcH2KtT62VX+E7Jfup8ygr4b5X9pZERljA9flbdQfkU0wZ2Q8X7M3YBigoZ5DgoHgYEc6wvkkUaxuP7vkeOqjGmX1H9ShVkunPFQ2/WuBJntfBfbYkSu3vwG/xMRyLtaVnRg1iRBIgSu7yldHeqIZWTTuY7wEIUC/DcPc2abSJw4FBXW9AzuRULibJtWhCtLsSIYSai1R9A+vqcYhFG8DfRcCWI2lu6bV3fpeopa3s/ljjXjSU+eR0KiJvvyGpH4aP2vRfqTa9MOGD7rHH2MuvMlfTw+gYTET1cuEdujxcUD73ta3KKTLzqqqNo94KP+Uz92TyYMTq7+3aV28Y3EaZOs8yNzsSYH2CBfQKqCV4IRi5bhMNk0RsmO/pEQWqF89ImjuCleYNvyTRmggiNphkEJ8Jc1nYhZNwDYKSIywuJSgaqQplZ2UkCRIq9uz8EsFx5hsAk1IQhJ349lK2tF/CdoMB94/sSTAUEs2GmA3bV3UB3YnwLLcbN1u7iscFacezOlOkkqbnFKRCuLoAFd2G1/1XuE0qA0vs2UIS6FnhBE2BDidSEd1prfti95mopHEYs2I3WuFiN7I7H+UtEuM2p1aXWRGDnVCwhPX9trJJdcmlIsyrKVCiJoi9xx2VEYJzI2xEzoOC/WC0/6PiZ+rOUrUdZzWPPKL2Bmj5dcDeq3J68Nm3G6nt1Nahcic/IIFfkp7uvfJhJtv9IWMnj28YhwvVdysWNv+v/BY5Tg+0G7tcjHzU4v+qjFewIkMIIWc5teIbOkTmdlmkaoBRHVJbmTJxoz5SkrS4bb90+HJCcnKBBSuKnEPv4tDTEWlSCzTZMSrCy3f2kU+88iP957Mt6MHEEW3iWVmbn0fz09w2Y+lLvi5saeJKSzYOSAhzkkb/ECXwCutsTmIqZIzo8IUa2TcNuXYxu3T4uOFKHbRfBC8WoU92LeommtGN+dyPVP2pHb9uP4fBX7b+uq8UXTxVwdLP5UuJoKhnHmkiL/T8AlkwoqMcg6SywO8nfSbTnjGZUtBYekJ0HV2szk314W3J8AHRkYE9QHujdTRrYCA50J0R0YJaLaOTt+AKsxZZandRr31Zg9ioIJ5VOFuv+FF0FfqQ84pi2W527Jk0hqOI7VV2uJDxMj/hSgBJPQGcF1Pdp7lLsSRwcOsHG1fJV0xksajEpl1GLLkuUNZsuv41pXn1WY98WhH9O1H7Xl9k6XqLgme+UisgJEaokrI665zSNROy6zubrUK/DZQERgHZiMAB/Qea8onEOL2RO9IY214ygS1b1LSmgly4lKrn2uLLOvkWaLOoDV9b1v57pL7qQBhxnzCS/IK0CF2xKb20Hd7XPexc5vRGCYK3Q6LqLP8I+Ej4byf1YZwP3IVgNUypTCdVTX54bXuCaL+Jw+t6Ew0es1oWB8enW1KIFbTug10aqxeG3inAsV0CohMqukYqHaae+HCmLD/NKg0BtuU1uwZbKiSFixAIPQbsgaxJm5ArxiWpF5eGLCQVLmAgVB3WAySs6ZLOpRni5IsC8K/EF23VAH1LiTDAkXYQPlCT1XoMJyLfZs2FB4+g4Ctvq0ZF+b29iMvaYIb+gKz/OVnm4KcsrHLqf6hX13h1KX3P7lV+YFLEryT9/1ASizwa8s5jgw8ZJWY2nZXiOiOePw5vkRdl7lAcCVYlFO/v2bqNxUPwq3JDLmqB61S/jDT+pYTwMUEhXZ/KNtpKh5fSq+kYi/RYaIgz92Bh4phFxVgd9xhPxQA1FiZxV2hoM0cc6Rw7DxjtTH7EbSHdCV627ZrwlQlM9lGuzlbm6YkQw/ByaFGL2AepOEp2SHLFTQiagXZi3TQafWZBJsVyzS4S5uCEwQ2X7X07BgpidQKogB48tQxFw4se7yZWfANMs1g/WdNfkyDSIOIHWYOWPk2mzC6vmRLOhSroJDD0hWCBMBBx7EeBAhoj4xz9YeTEd5YXfQA/VbxAuemytyReaEaPQRmHUo4Jt3qnbwdwSBYoyZDSAVo4MLTJVUGK8njHgelrC25pwq980MYbio7z4Gn8+JlMqoI7YMKBIGv3c70J3NhKtJ28NyRPmdWGsOVLt0w2aUsdYpakKn5ax5D4hSyOizpAnzjtSwGgNlzFkYR06MbYnomR0LdCuNdghIIDLZVvNdtd3gmX2PmfIb82tTsL+KlMYhRHtGDpScNUBt3uGs3UdBNNisFKLPdDKZEpo1LW0cBY2uWgodkCLiMxC20caVyYrbQ6fBlQjt+W5TEhZPbEYxk/uaJyE53m+z7T0KiJAbXKJvESrA6376pXNrPvTXL+q0tSlELiAPB/CnzSy0qt5QHtSL+ene1ewnVRPLNiPjr7BoRaO0yZwlkXyB1XY+399c2wCzXyJpIazy0Po+I5Xu6UEzuESjysxU4GhxQxBvHpy5sQlb1FOhzgi7YhvH5Qs8bzt7EBTYHcXEqeCpSmUJCNWH0iv6JCsbeBtev4oD/FAWdeS6W7G6UgFbtvJ0/JT0PjQOqvQwZOKtL39mT0Ad2Xj762qn8WQoTooiKSqu024e/jSHEUqBgjKonj/siAeMPhCWT5OTvQG3iK6oJ5y9rSc/6ynCjtNhSL9A7YPzHKW0nYL2QhfVwcX88kVcOTp/8HVIlq8V2ucon+6ZfaJrQmTonsbyIQMChTbgU72zcDf7ITbxRCtrHyFHu37oU+JzNb2LpRQxKhZCv5QLafKZx/WQTYNs5EArHBtv6uIJ+M7N05TuJSx0F/rHzvVD2e4ZZm6c7AtKUaT76NbFp3X1n8tVvZv0YVTALTHi0gr9ilA4PJh0jzzBTA5QTo8UU6/7f8NnNfJVQ/QCcIg3FLgeO6vuuexc8T7ZaWO/Gf8+ZQHSpUdaTI5qEznz7Y4pMUA2rvrJ5+BVipacjmo0fP5ghD249GGl8jU5b7wgM5WQhppukC+O2f3o1IEqHVFEyCxLJkNIPjo/HGFXy4ghMGbVCaKlkYoOLB+3/48FzRJQ01L5IIl4w0oFTEDK+qXqk9jk9flRLAVQmzngP/chRFDHxVPciqxVwkqK7p/FIXLJ4rvuMxL4buZePwUUeRWh2qKKgHgjGZQ6nUG6whkGhQNbzQQpJSw0+ZLoB2XR+rXMA2B4Zbu1XM2O8GFp5u5DOmJs5F755jywETLK0ZDl9mHuWiH5Ww62gY5YiXJNO04eebPdiID1fiwx3k0zRW+4saW7tRhsX7oVNBSWUkZC6IUV1tqjFPVk4/rnyvD0X23Z8+Ocwp8yeU+GQ8m4JHGn9ZYf+KYp+4J7GEoh6Juhr4yLIW86dHfcstAbeSh7PBKS1jYuhMl1qLz5cLsCv0gcWuYws+FMEQ4yaVDbS44CWthQFtMm4TsoKZAkm+DRL9Xv1Ta5iUk47TND2qdnh8WP1ayXxgnbcY3H46sc4LqnwMjL17G2ep7fFEwbcgJc0ZyYnqOU9XVEhpvPxi8tCE8hWhwWtVxDH2q1N72XnG+lYHkwFau21GbB52HJ624+gNBZMl+VHiLTsLQqdI4nV/AqAhEghH1G6bY2vJt3tgnSydm+Ek2AZqD4z46cJh9eWTtRC5JHaeLYEjfQRBAvWSdooNZOH2tmc4YnqDeIo+M2NUia7QcxhmcHPed8uo1yWMEIPyju+63mLI6LaErC1wbzHMwJij52yw+RFBsh6deeb6egFOnOf1vBkx5jZC+ZrLg6RpfSpojLrbJmbxNaU5nid+GMPotAnVaZeFTmzEAkOvwpeMhseeLn4k0aJqCydBgS4z+xFnd+hU4kklRvMZvEax/WdVetovso8mcS54kaBJmqEG8UHAYyqbiRd8kK6FTmzz3+froQobSDUbkm0vrhaMfTFuDG08C3SLcT1GNsH57q36jfr4YZ/2INo+rQVztMU1ryzY/mJgQrRerbJKW7CYYNXt0luD+QIX/XuHsTAUvQEe96RETdzXx3IhGAYHqMETq1Ys80+Qlm9ABelmkLtbKyCK3qmV423y6gqgkv44h3SqeKOYWAFVQGNZoXjl9LyQvRVHrctdq1lnz9QPsf0d/IUgAr44qSY8guaQwV7f6Yjwc0hHeIpwXqeVhw3VRvilAF5XoXGAESIZc0QFrtLXN73bhIdB0tiMFqFUIjqCeGAbbNvNJQqnqiiHlc9w1o9+LEFKDgUcIt++6uURm3tr/64v/mETD6ow1pWu6PIZSLbnBfIozhyjcLGZxdMxo0DBrsl0tjgyFCnBktE3p3TB9af1YeQ0gKHdOMIt90OnPELL4+uH3uMfY8C+Fbttji+m4P2VopyxYkDTafCZW8ysI/dKmic0jo4JRbHr/k9B81OYBRWON1funiMsXL5uaEhuUzsTf06oWnk+sA0LniFF3lwVTvEcH/9O3MVgdUWXUoirNHVxZZL4UajJSVLMwMBLEAg8AYv7tVVhDvJUlhDgh+4CZ9dF2Gh4jy+qGnqbTP21wOiJH8ty1pEuayoaA4DGt6GJeAmAJ5odVUiK/9pKmVKcV0wNRwAJHNpG12ipjiTfXeWtDH2MLUgHOmN7Gr9xaVe6d/ad4DstfOLN0bCpdKH4yTVxzuVHdkGUOl2W3tPxJIPaR/oK5eJEr4J9toMb4rV/C249BUud1el+EgLwEViB+8GwQr+u5/ov/xH99mhPz7QywJELl4MmE4k5dwOz/eEpWqeqEoLevIV4LVA+/Y6bts7MSL/CZugSVyCFVqX9g/tJy+aLzUqcDUfZRDivzas+Buxcw1oxhJolWxciDMtq2yqdCaWQ0CcYPTvqrBVV1NHZoQb1xPMlIMSOUFkAyb+lcarqvo85Dp/TEY6ZsSbWCVcv1THJ283nIOe8HtU8qRbke0ntd50xHS8Q7Hp0gV6t1ec5r7iksWUwpM27/PzSUK34SiG1OKcKCd22yVjIsacFIwQAILHf+4QrHo2EtiRItpPnM9o9W6Eh57bYmoJzS+t5DwhYE+ag6yLKzruMRCGLiJwp2l6ZE9ImrQ3rA9RMOasokBcWZhe+nWaGsHQTh4r6nuE39z0FGr7utzVymPvDVTSIZRaea8ls+B1JopLbeBxBkSvch4O2n8+7JokMuC3M+v/yDTPzZ3X5JuZ/vWdW4Ep0ZmT8vURu8qChFilee8hlkildOa14uYMZlRtz0CgJG/b8+CF+AiZ7/IwHuV2+Unhx8JKAD0fyE+bpt989cv5xtku9g03+6pLbMhVDy/kStqWycZFMMlkXPbOEZFeDGktxoQi+FCO5RRAM2lnpUJrJAXJCUHjCMHdyrud5FI28cPqZx12Q8GJyUsfgsrimpHk0xKg8aLpVfk5V7UPuLXR8q+/BDN4c/gpLf+msRTsWnoy3eu4g4EpaGFdctFQiNXxvmIAJ68u1qkFcl1cGveU7Jm+HM9TjkS7RGY2nZbSiVEmB/gzLsxK43MNUN1r9KL0ZnetUWQWN8r4TIt3M4l9mFnY8z5e+nBhaHOK/3qK5YOFdftyvVJU04MSd3c8TuO0AqpPrBKNj8i3ap49uGFw+nsF8kcbxsTCEfigrImjpBfa92GL1o4QXCvxg6WTFuET/fpHVyWQ93yGK0vS6Pka+6zzThf/QDw9Lwkg8qnZDwIG6i0+kf0g5PEObSaHvL4xqohOg2vJQyKWdvhV4vKqE6gitL/4n2ewgM24jQ2DDeNh41S6VHRzJ6OVnKUfMlg9fXSoiLLBH5b6NtxB0bHCKwHpiHdK8y/Ks5ygrWkeQ3tHxCxZyKNYf1QKm2654USJ0xhPnaDYw22/ZIQy37l8SteJFtXWxvA4m4DpO2tZAkdt87L1KueH0mMpOuq+Clyw+Gsj8ip/VQiQ9dQ6k/LwLN6sa/RFLSMJGu/seNpC2xDgp3e0i9uZwtDILnaOXkqsR4aSwZ8nWd9+MJPtEl+mXmGN3eYSI+5zybKriXEKzuqsG+Ni411+XgeRtQnOTLq3C9Xkcn74fK2KqnDTju3nVnlcsKNZ2jPGoGXOQusAlJiDak8T7eRapWMVVZb0iErN0bkRFGZMBiinu9dT3nNn+G/2E5xoHv9vUQ+TZvi0hftM6Hwv218DvAxDpQvBejGUi562HgRYTlsI/4Y0D+To0YTru1+q/P4mj/tiMObapEx5nhp5kUmSXsbj7gZq8SJT/rvodfj+xT86A6Foj+yuncMH5cQ+kFSEP1Vddk0IjrRMln8XwL7fQkVTlCqSoDs1SJ7K1LZ8zdk2mWOZ8ChMc5W+0fA3GOKE29xzbw708BCeQqeuGjdEkgRNIfFQ0jspV+WlsO2LBeNxxfFor51Qik0ZvsD8Uf2rwwweSWIP/g+ZNiYobngq51BIyfUr1/Z4dOZLp1EL7B+2ZneuWj+hzoGYVeJsGnIvxIgCNFSGmxOmJF6AyGPBy3HbwaqfvhZSzZGWPkvkm8wOFEkRd23URlI+ayqopQPZd6Xtbm8XQafblcGm5uys0l4QEMQ3P1E7nK5WAMwP0geGLdNgXwZFGEBOTlxYQMLG82bzYqUX8Kgqoip+bxIHlaKHY0Z8045x9yTm/XBLTF+Bxv97c6fgmCTmmFYdJWo5UKVBzwruLX65ua04+NUQcypZpz+LVt6odXeAB8Rc/zphB/qruLx+PEXGNAaPoi0RmyuRo4ketVjvhzy0DGj0NTAA6VGz3anwceOSgeBG0ei4Bw0QtTH73uZv9q0/uZihoYmnau0K77BeGFPDq+5M1r/Vb/POzB6NUM2cI6CslJZ/kcGO/7g9VCJCL6XnwkpXCfAO4ditwUYLuzCpeSvfg1+NAJAY0nkQLHJK7mTBy7HJYf+1ZPVDoH5QWqSKFwYqu/N70xH9HTsdeRzYjx2gpyGktCwUWQQaJb2Xt7SVw5BF2t8Gxn52p227ZBTecCnDwSclfvHhpV82gHpCmSeHTo5JliJNHumVcezKa8s6TODZCCC+cSPIEa26lSLs/s+FfY6QsvN4Hm3DqcOPLRrUDCNdkZJMxIC7ye/vEREHwDP88Ky1hkitX8LVQCpb5jQe0sopcPS2OC+zwGJppwBhqCv2c5P5ynCrBW01eRacjXzHZV+HK2HpLRcQsFL33cIRh3QmDTXStaxhHfadeMAWbOah1aGpbduZzIKSqEsbthwdaN0/Tl/V5nozvarrGNeQTqwJj9beY1AIB1Vwkl6OPXRMHnQqa/svGg57iuMV3TfgsVMsvpkfIJ3SQCH0nTfF0p8kLniF18zN1Q6hnZCnLX9X5Nj7Yqmmg9pZstbePh0m9by8T8RA28ENDnFNRq/XUZuDVmkKz7kdI58Gv+3u4IXW7vnS+Y0uHwJ53PjUEWRNM/1gLNgNpujkMJvCnha506aBut/3r/Cx/X4ya4VDZyNXEg13ft0BWpf7c2IYBlOpgwRyhcR7WOMSsb8qgLD479MhxKM6QtWcqQn0KvDHRflUVO9YCcCa/2dZDQWdaqUoR3FwMm9sRLTXlbbSG46iTw6UrkxCgsCLcew1aXDdph/BScPYMFEVbuEhDX9Or0l5JULe0q5NmBVLLaf/tf1W+nfx7LtYV+lb00MhHxcNph1/OAg908A3YsYz2FiJwZgXiXnCecZz8fP3yCLaNgWjs6LDHlhvmnKu6LTRPDUpfHbRhYPAfYrCz3fCvPlw7aYetVoGOi3ZbcP9HYBZmRga4ImAYtyVHD/g0OFCR92umhq4oPZgQ/5B4eSdbdXOgmmVRgsut0PGfw06FEv1UnEBOS5Pp2V85UGD8P7nfCgMJbXPLO+bqdEMeJUjQem0x6gHpOv+ZeWWqMP/Tu8kziCXrJEKVMwOwWIb8l8OEP0/sb2ENtz9igJGnBVvlSTdFFHi0BiXXnwEOrhktfYSavrg7OI0tppP7GLVQ0qEHq6y75YaHWo/U09b/eGwNBBWqEARjLIFvPkoaTskCKbXJu0Mu3arQNXR7ewklc243jODpTosMmT1aVVhLITqJlgZbPokFMWUxZvidIWSOCeb9slzU8bHFdiU3qa64m+w0xdIzQf3k8SdGHTbnoOm/Gvs/HaGfYb5LjdJaT/X3vfk0eCeGhK8uaFAKJ8NR1Q5t6GbTdsONvmnNPo+wAALawrYRrz1wUisXtcPEmR+iXOUEjEUwuiVAzNhmN1yeml05Zu653gTU2tJeSCfCN7FCmzKPTq0+IbkCNR7kR4YmLmKxcbFAVD9ZZq96YGKFwqz0dZKYAS3BBWL2Uf/IRcBg+/SXDZvP3lCqmOW3vBTRI2ZUdC/4GVxUqsr42rJRzlxt8+m2V3id5XO7dKzEIe4No3Y82Kv2Zm2eTupOvEuIY/kXjvlskoNskmbf0enrK/+tha8P0T0ZHjBOZAab4ily/4KMXpeuZbHfMNig3lwjXTeAonkoVgLIc3ZEjWXjOfQq7wJ1UYgT37DoKldrxYW9P0x2UhRr+c0PG2HRKlY4ReGYThpVeyzFBjpZjvPY3mkSgT8kHQdzuY2BYzUUklhYKfEy9uVFnqsQ6piFv1OBPc14Bc2RGK93J2xq9KY9P4MOltYhNqnkX8uAwOY0XsHx9B+U+7RbKZWESO40OGrF1VspoqZ47+cQXBx2JjkQlZIWBrWTdZNdcI5RpGx6Ip3MGmBcCpO9THnmgPHDAwmGA97SxtqAPqvPYnHRSL6Swb/drZS082U03A3FdJ0TpqhYM8zT3tEh8LA7hHCfUqtE4/E7Gteq+76+DOOjMEfE3AwxuToAHvthrSXBJwXsPxsu+rQRqbPx4ZSeOOCaFC0SuLvqzwha5j9bIxBn4U+RFeMuK71wWcqSe9hSuVfIWkQSzT6djQWqPfYeAt0r3GLrV315I7zlzgwPTLHz/Zf5B0HQkQum0RILGv2GnK2DfUFoYIx73/UsXTjiprVftNYjuKnt0jUFchlx7QJadeadMUvE52iaUWDDvZIEqLLZR+ClIycPpTOwcJ95RNOZBYQ3sMaQdA/andQ1E7PG1sH66CVbnM/CKXCNUhMtbJmYxbSvo56U+kDK4f/l6MQFK0hmmlxAq7YS196+j0vnD3qEgKYjI1IVqJ4nk6Zq0Tgcl8PleqlekIP95EXhvGwqnss23AahRfO0iNQgStvg1OdcGBTx7CujfG36iVREt4Yk7Jbr73lMwD/OFhSVdWt5rheBQvVwuYKd2hsCo4YixQMmgeVNRS2jXBTHpSC/1D2mr03+ahb2ZAvAdGT6mTfD0d6+RyX9mPRBP+BdwOWS8VF7pISU5aIW7JgWKY3oGarJnQb/w7zWTRthzeRfvsHpUCdABb6iaAajzuZzyIDF/zklk/02jmfH6Rfq1ae0hvLNr2PWnFjI1WbwM8qlJTaHHUrrWeNXJDfstty1syyYWL3V96XQwfA5WerwL6RBsiNozdtEUroIK9P/+4TF8CFpUUWxSpSYQCkiFbdAg3NOwTLoCZk3RVwyZkKODCT7sri0ApClkio2YuWKAV7yxppaVu+TbL4R6K2fUAg8OMXLxGSMsI43y9gM6qILdPag/E62u+0KIVzwn0a6cJ90BK6yWb5i6KHPgigBa5r05oUamOMUHs5RsPDMkZ90EjhCQphE6khxDN8HY6pt1asmWzgt9xYxIfmNCnDB7/74IGj2y5/6zkAdhy7gREXP+UNeibbP7C8K9nl+RLE62U4Uom1c98d//uJuvLmo4Absl3NiW7bWSjqdXzCq+3pKrE/OSf2Wx138Iy/SlQP26JUSZzuAxKhofcsp2SJbOs7xTVRG8VB1ORWVLgQUGiyxx/97OC2uaVoZpMHGAagTvHqUqmRTmca8AjfutH0mWp3UeHvFKrbW1d7FC42Dy209z3mxT3RHG4UqqRM4ijkJWzSzrjMZUmDhZr3WWJZl+8eJrFAQQ1T9nU3gudwFZKLHsn2tLBL7NCNEUxESdyQbdlbNHDdFMCFYLrn/VwYFMeuNjLSMX2u02zu5xq4VHEKItseMtyXTvTv6sNyRxGyvoqVB/C+ZAxe7ck/zkLAd8vtiZcswWpO0WiJkjoJWJh/+jFmKIejq/7GYZo0eTNHh3iXBkVOpFpFGaNCcgdmP47muZiby3fsHFIkCcx5XTHX6LEsYKoxLT16dpdu1gOtMPcKx5O69QeIbvWbBRGY8qi/tquHc4Db4HYLLboS96RxMRMBS/6hr07BTnbhrDd5vbvIAo5JmezefrpNZgyIlqaeJK1n/Mbqh/U/8zES9GkGE4WLoAN/UkVQvX+omYtEniIVPHVKzR+rrc16tuJL/6swV0LWcCEAtAtwGbU8R/2XQsLeCErgGE2WSCgtM8qKcKCcWO67i24lh9VZrU6XU28pfm9nFb4VCan+FJ2P3ayeTSSGAQZcAa0YnaztTtvq4gnsm5JQmgTMOd9DACnnGu2nVvYwYtgM4PRU4Z7yT+m7a8LhXkvpoHuhmEnM+fjGPK2kQJSRw0acYWz5HXN4N/EV1DXnoqt3PPIy5yKrD3bdfjdx+V6zQBXL7c/vYPvNMXa0pGg3H/Oy2+St9HPFxZLfiWCV0q0bflNoiuI38yPzLzghc48EmTElGezbu3+l9d+6ffzY3UlEC8gyZ0luCAVeQb80NEYTHflF8/lRjBrjd01Sr9d1/YVuDZUWMTAUXQh+v15AoprCCZriWtborYMC2hkh0k8P5D18Pakm/dJfnPQB//qFkFqUOGDEUWLO8/i9NKeweGfdEhId4q4BxPBAdnkZep9cM0wwrQ5MD5jzxkrOCTr6UOgzBr5o8Db+jDrNuQcj8a0aV1CgYe6M/v/0FrakbWm3FSFvAniMxqwlN/UvyyqIqYHyOAeTjSyFgrB4E99nQ4s9jL1UFry9Lxvml4/l1Y8e4yjWqm5Rsg4QEAw4LUSjVcHgT0QeFI/PRbdPieveDLc0vplb3Xjuj9CYYJtFuuqDDcFzaKP9jP1cEKVf6P/z+C9JtLOZ6GbOLzZNOcPzwWYgRlcjkjVQJgP05fFaQCMcJ5Xv/P65mReoKyieZaKiJ+2aT87v6rhXXYSF2+rzkCDDjRrIM6vgsTwzzly6CcsZMFT0X/EE1xshVermmzYoD3giDzliQ/IXzEBvhWMi0kRyd5HwfGKdgpwE4v3Qe1NIQxlkVH6XVl9i+QVDCgZmQUiRu5rQXfH3uYIExJwkp3uXgSFtAyVppKuAex3QFddCFn7Y1PXlLq1tGuJ9ORCt/xhNbZFIVfPHYtOW2Afus9HlExkdkrqxp7zLCbsCYa29Ji/FGKLYwz7VxECJmL939pilT0aDxQBG/dWQUM3YRwI5pEAPF/Vg9qJOODiCFxf4FKmOragrF+CGKnmvERswwCrpdYfVV9o+T3OT+1+IgMUEA3fjU5SPVDGOoeNcwZGSNxWx2tfL/lrBBdtHVeGhgZ5+9n25T+awlr7GNZV6KIKq20cJqxD3KL7jeRkX1GzRK702zv7LRUIFBxNBV0sQmCEfkKglhUK+SoLLyHRq397veLFj5ISAYaloLg0y5Hbe/cSXWdGuE4iNRKtozOEIRkLCafEwKe6Uu/BEW7fP4zglEFgfuoBdxmRB9wDtAIunrpO/Xj5/6FpafI4i5TooErmxEofCo59Z4lSBSlJTQJu3zWK73x9mvtQ6m5kmV0GRYhYXEjY+DHnUZPbZqSKmmR6w6HLKu/EJksSNgAb4ouv+DyJZ7lrL/9f0dZ8NxZkK2pmSsGebWrbOPUNcPYayyiqoLeaEy8+TKnvp13YJkFUkiMWOQPUzpCkFKWiByGxuhxfdUHZ2yD0ZWrhA29zHl+/eBYFoTHoznzNZUco0kidOpjYvckA9ewX1fD1UTzsfvKLrG6qxbAM0zC9KokUvRWd8CpDZN3AwtEZqHKyfwj0+RguI4mK6MWPelS1AGKOAtkrNilql7FL2HDhIjSd0BVAgOq3Jfd0CAQ9IVGCeNajwcqe2VFclieUiVDJJ41zkQ4/xHgDpQbi8zwzRJ2ynQ/6+1MCX/EQstB4QBAh8O8oSf2WNlx1HbhVwa5Kd1a1FhjGYxd5VRvEcGZ91J31Y+ZLxjsnxdSQqP7EX7x9oCIJNWAltGj6wset69ICruXZjhflOvHhzr/j42zIcSuVMqKi3lOWZDGpnJ+TV4ygX6Mx9R5A3olAYyh4/udJULwWr56Tn/SFAKJAko8z+zcLDlxciSFfXG+oV2j22nlkT4yefgKUOwNVmDVfHzxtcPr/pQefWiI1W6l9cA9+eIBlOhhZgDzsWQzdB4Hn8bZhDXuxCrc82pJyYtIxXbFC1fAIBfg5b+jgmFzvlHsSIR75OiG1C94C97f9+iR4sg42m7eqUp8cW0uYT/WAqscmc59hY+GwHJ34I4G1wE+C5mkmG+Xn/FTsrGFodpWErWVG8B+Wslp9P7kU3NRapS6MoI4msvRyyMrnjL6wyYsdZ+Lh9kDL1v0kdTlcCWeu7wTDbklJAiwgDlli9ghTz7gwDNnr2W9bAFeOOI/iJz8AosxaBXqiQkU92LBZiH6er5HUrhjUUxQD38iUUqgAZHp2W0AFm33A1IpUhJOyjr1HRCQAYRGScPIG470gXFROENwgN9Tn4pUk7B61dZViV9RKI1kMp+BBNzvqQ4f5HbYB9lBsEKHle4YXM75/6QkLG6r+q+lZ2fb+L++Y4stEKufChL4IjVXyypoVhATLPkscTfF1FkLnd4YcNolRDAXNmyUZGgGhEmR+kWHGQftyvoAlILawWhfoIAeTCCexeKwsph/lrLpvKmep0OoHGdFccRlaJv1tWrjvFRm+Wcd3yTZuZifnNMosqJ9E1fVzLguC6Dq1PKpsW0C2CIEEyZsOG0pVTVlqxxn5wku35AEZQ7Bc+imk6oqQZRKbStA/OLO+OXjQKOzC4Jh/vJi/gSlOy2BFm/VcW3ZJoky3nxmtUVxZ+hwXafV0se9Hq/odw3XLJGCPLDs3TSBCKLk36+yWPMhe7koOnaMG00XYtzlbBahY75Fb1BSZQ303soM63tIuVFtkc74nRdQvXUIs0wQBkkN39umks8sE+7Ww0vsqe/RY01LFiTbTbO3obppriypVGkWCgKz00fZOoctiH+bvseYF/vMJjyhbHlsb4fNbCjvjunpSjvrau2Aqh3dXxpqEpmmLU6ya19bMI8BgAt3jnT/wPxp018M8hLTxB1kWBFNt2ty6XxF+ml+nIvHMTlzr0goU+vQ2255T7zpv4liOjlI2n44xyggn9MYGhMKLBDjUpqU2br/OloafByfexAxAnLsaIdXcNLDmQYvwD/JKepc3rd2vPg2iHXANfKNy6wTZVOHN3O5uWccAR7sPwOcj+Ld8dGFkPy3STAMUUEhS4UNE3ag8RVu2qnR2KhKXNEgrlM2+vRdquWDyU/HgagcTVu1rUQoI0FaryZ/v8wADmQCjj2N1dzHTUV+zJ6nHXzh/mCwqoTz07Dyhfbaaad9cMNrKlIcrQaTAt37sk4WbwJeHK1fRUTEZqjeTxeJRBAOdvC3x5SUSpR3l7O8Rlph+2ZQHejGPffAWG4w4cSQWiz++Mu4MDX8IoA3NX0Vw9oQ5FGALn9tdaG+I7l3K7bKu+bEinWSvBO1onuzXRDYRgtpoCP5YSBQ+WTuMXn30jIz3mHnBncOL6AaDq5y9mmvm1HpxXBEElY0aNZr+X1QBD1+e9Q/xOXZewnlbsP4vQzQDsb6caT9rXamd2LPt7MxoOIctPCjNUfY43k25zH2azBEvljTbtubfeasgvgVKayHwLxfV0wWzDfATEU6GqxCpYeAxj+93R7A8zWgfYceN4FKEs1jOeF290v2vMt+9+0DIv1xW+hCMgVPda8k+8slNq4rmY2Xrzeppr2A0e5FByP06Guhn6IWBDDOYLo5zCqwZSKNM1U9kShibNxBZBQPEtAXFWQkO3pGB1PYykXZFs290xVO319IztWC9co/AKRGIryrtQ9XYsjjND0TLqorPSlEz28m30eNFd3DK3lS0+jNPs6F57lzyEvgo5o9w30F5Q+QYx4PmkxHFxPy+5brUMYROscTkKvGGc4ld9T1G967Y+P6LIKOIuQ01e8Gy9LKOZc/YUVywmWtSN92ygMOlmxccjILe7nZk9jazuSVWyVPdNLcVGPIveEAdc7avMqcD9wuevMSC/YwI08oOJNY2WaljyDEUSmjsPELW2paglvx1iN61Fnc5xscZN1pfA6aI6bCTjn6Ss67FUbKmDhUdQ7apRL+0xZ1QEVTcV1h8uIOnrALevogUNIL3QL4Ucy8ugynoXW/hr5PYz9OQDYSagPvCP4/59jlzP96gm9/9/Ky2U+grQcZlhUi1TDm7J8xwBk5/RVsi2+e7Nts0SN2UiB0C3rZtpCFwykF1Npxv8D8mkNPk/VdI1XFlNGXv0so/MVnSlB7Qg8g+VZ74wE9Sm44cF3xvzDqmP4zMDZYOzXs3QUTyZK4lUjfonkmyzQNUclogyGvwvtLJXS4823IeAeKiH9p4zYmHV67/cg6Jt8dpQ40SNbYkHwnN1bmoL2/fc8g6udmzubsmUOsu+KfPiBxuYoONnttIYJlfscsPef0j96LFiOQSpOHBMtoflaodgZMhCf/Escvpf3z/dapVklDQBrrCPp5KdmEjo1KY3ls5Z8FZbfDNRBll1bWTwyHjobU/UqbZ34C5DfoSaCa7CgxSJhRZeytKPgaC2x4XMdOTWTO46SBQmw+FVs5/+D3itHZcXCV+KKxHXNrMTqSpDJnTPwr0cnIzPs83qNyr8VItI2pqpOW53sErMgDpY49PzM4jgs++iS6x46NxqoSuUte8uELzinBk8eSLxVJeCI5EOBVGepQLxhv1wV8W8qUfMavV18UVjppy7KD7B3Fwh37gK8khuaT6t+xLBNNUpXbSRkyeigawS/tMddsJyXjIGgaQGFmW70t3SqRI4PcDbeDSdPsxcZmaapkMehAG9F5S/5N52TSstLhAxjXwRDl7nPKX9kgquZ6mPkHV5zB1vi5tY4vvav5IjeoJEAulgO0Ha5ybSib5xGNJG0IcwRE6fNUGzpQxxo0q6j1tUu4nj4A/QTEJjjT+AFPPxauUu3j9/xTuA6wW5qxFn2BgNujN5hAaCpLbFxMK36VYXibSwUCyVz2jvxldqxwyM4Do8DGg9EWBWNBacvJmYdewQdltGGxW7X6+/2eshC+6v5Q/E2GPDDiILOWo9+86KY48wMbTsaNqL2f0T/AWo72c11xEoypZUSAwKGz2SIGmIFW2WX/ldlAfBH3GL2gl5LzGc7+epFbLhoRDOdrrAaMhMwfQ33dFt0PXzo3P9IxDgeWNBYxeEMtI0RR4xWJP0vroaonzPJHdxfdwjKgJVRonRJcYk+OSfoAw8CSfJzlwThu3sSgVEC8U0wdsiqdMmxRyoUsqkkZmgLPTyRnficV39bMoxTLv2niO9UE46qwhX/mzZPzx8Cfu/0Eyzz4tIQgXTrybHQjlowJKnJmvJ57biyD8INugKxhnhb93BP+apjALIOhmeospl++1s5XFtt+oBeLXOTEEz+tOLwJ+ASen8e9iGhe63Jlqw+/JucTQ62//oQfvAg7EhCJRvjxhk3HmGBSTCWMgtQnuEUvYgv82c18rTpXAs2VTba8TgAcIIMXmlZvfgpUE1bnR/SLFr+Mj0htw7L1qwWl4Sc67tVa0P9gdAtfVdqmskVjbKdaE/Y4dMe4TPR+nmM9c1QUMX2c5lhTCHmO16lxXAErprlyFANySzGDhUOFLIGVrw9lX0d+riV0qNig5ICJ9xm/zbknprm2vF42H3IqhQPMnSgv74qQICA3Wxy8lcS9vSGcMzh8KwB784vWsb3RT/+Vzq3DeH7h+POcRCrA9ccFwrKj6eIcHfrxQUxMHfoRD4OOkaQ6IiPsFrcj7mBuGp1uHxPSPvZGv226d9n77UXI+FFN1JOG+/YYiQOg0PlrPNNJt0/kHgmYtxiQa3BJEj/8S5hQOk0IhFpoTq+sHugpMj1LPURHG24xPOJX8WSZa4/sDui2NftPqRujokbmyK+qboOeYTYxNKTTpddpyf1pqS2/ZeqWf3eNs9bbEfZ6vVGvGdobgg5CyM3GkU7ynFn58FrF6u9i/MuZb7FKzo2T1CZ5RXWXKnRIPHvLtSSKSW0SiOxxlMtvIfzakZsUTvZ9xIUbcBsqKlVI0DhMGwNR51ltuMiy+viqmOkR8gZLh5gFUlRiiEh9cTPR+rznob10yYi+0gjwSVrRFNR7H9E2ONQkMO80OZ01qy4mIF6BO7DtY4h6IkGPy0nPteFxqijvymm2UO3JCxEn5eqXWm0G36/nBm3n+GRxktkZCESY0O6fGvzi2/KfLGCdxAjS3FQ7k+cbdhfk/k7XMF9pU1eFdAUXXmgnuWnsdFuu/uenXr9oViV8Amh7Ho/o/ko6LW/pd1axAexxq3L5j6qIeR8qauWTFtKiJfc2t26+Amur2F4CtnGdztjU3r7vfPVD6xyXKI9k1V9j9Cj5H4u3zWsqvp4iBbi+ms32vOIN9vsAcQRZ0Ygej7VOfHmwV1t1tomlab4FCAVZP2LCx6aQ1bPVz09NaNcTzrVNn4jZdXknNaabZpY4kU2xCWMDx7On7njOrzIBaJWAUY/YAekHqtgmA4vHT1oQ2ce/Eg8m8kz0IIiAkfd5w3nvMBxpNoGRk8zJwUTHMasjrpVVVGvvf73jOU7OxzAdp6B3/23QFvO7iS8N13lrOD5njiTCFi1AUIEujjzqjcgIUuy9kaW5Ic5TtmVx50uSyx5sIog46ncM5d8Mh3pHVdgQTx0t1nRPE1mPKbVg+jWhCPJG27ptPeE3Fr9LbqwyCqwop9A2Re/Uql5xKhxGGLJCKsnvLFOSgl/YZgP6NvMcvnFIAoZdxHXnpebExADvCo9UGIRBb8bIsh4NgxOtvTCQI3SH6jS/bWzFhMtg2KBWSKvj9XLN+Dr9aHZtZfkw/s6F1YVDBiJ13T+JqrvpzmijrK7pCKVmhyt8vABFfGd/lBb/VT+GYcLcwZ0CQ8EEDxpFbWiZ8Xyp1VkQswt/D97hz3EGujc+CEZdHsRiXb4/dJrwAdu53Y+7BuOHKs+LWWacuEDFugwIpWP5Wupzij+wIXSa47jil4n5PS/1p1o964+5ZCjJvZU/c0/kX0vgVqJG0uvZQV1KQaYGogNDlHQnlyUqKG+8XZA85Qrv/eeTHGUp1c7MCN687QPxw484pDTPk7BmyvQe4t/TJxLANfdn1o/I3NWaxCG98YDzIBNbV/pZDwFvE1tXSHtrv8arr7lkrhDIomRG2mLRAcU5yHWnlHrGs6oPy5R5e70PZyp0BQwJb8HEWgkOy05xrs7z+ILRnd222O+8qwTmW+uu9sleI+FfR7MpSXUnOii0hy082dJbPHaesSpv2MjNMdwEPKSHkrX7qpJ7BuUR07rWwAiz6tJXgGSOr0Vm5E2qYfbNDiQwD2fJ1mTKEURkVEakPfn3BXhqWF020kcmIA7eyeW3ry9wx5hmnudBcx6u2EE/SiAzG+wGmTTciFyyFw/ObbWzs/XXNQ+nbaKSM9kLDh0URLmYtdGR64StHnZeNlBsjdccC49sRp2pZc7oTsHVbdfKedeJhelB/np5TPmNTxnwQtjUBiw/7m4ZTMydUY4H6cG1ogtDIIJYJqFU8dNwmNOHbUWQOg1kK+X9i58IE3YwBEfbygPntb9Y6QPro26N9x83a7lHjwDsgMYvH5XjsP0epiIKasEswIMKF8HVsZP8bRqk+5egFSN3oS885gvu2oGHEgh+BebWYW+QMRquiuJLqp+319wq4CpYE+iWYHBBbru0/jk56YcMpXLjnA14n/Dbu8JZRrOKa8PxG27TilVpJW9Ie9u1Hxd7A7x9lGwuuFipr0scE0XTOzQKEXOLQQQ+70xPZ4NHNrd+QhQeNHeE4UYS1saA3ULir27h2r2aOL6D4isp6I6AgXYHSkmUaHf2IzprhOFAgerL42h7EuWcTHfDsJXibcP+rUKZ+rfyH15USEX5AGUqclLgJXHsGlWsBRP80k2Bz0pc7FJSHVJ9R20N18fyc7t2PnvCMFxDsfJZkoLyOwyY4cK8NuJGqBT5mw8Nn+RAhSp1rIAILX8LJKap1DWXRHI5AlEPdRAfkRUkZ5C8usPF0BlFaRj4kZV8LhfsqEQL0v5B/5FSiGI3bYYSr59jKIUUwzSwVofCjLqp0v8F+KosbxW8Uqzm3vh84+BZ0XUpYc+e8Z6DbbFinwU4O7J8zBz8lj5Ot9vlD99hWav5xpUu9xIm7EhoLIOXOuHfB7u+gUbTmNYnr+kOywlDEztFjHnAJt9BikttWu8daViU/ZoI/ops8U6lYYjGVD4ICfeUXhJNOmrw3KLRkth5BWaQeVnzkH6ampgcu4z/DcpInCVx+IJRW6Yg0//JPw/73hp47G0Uzswj/JZmg9ZsjkuGLj5pb3jQ+eELwKaZ5Ys9rxATlLlCYO6ciHCgssQ/lx6FUlp0vrABL9EbiCc9Q75Mrg2shJDk43yuxDEPPVyK7/5JJfrkNyd5eUwB0utvG4xdPPUfyOPUgFUg1r+z+IUfmX44Bm3OCWVMG3owmswNHWnbiDPNHlqWC65WS7ABli4FpiA6S9vUFa/PfIGxSCjfD3MVE615ncp6c2SylGqMKIklyiC71piJ+xqjbycVhdFpq4JdKO543x3S+MwW/7zBVe4HWH01umuOf65B5/T712Mk2B3kp+Xo9H/JEzWkcLwhSefofmZJYDx4CnOz0eQ7M/0nuEYVU7oMq41be/7X7lTzyBL0Z6ExNYiyDvWVGwdyZNlC8M8CDthlkYuQycwmRdT3BZskmrbbZo/qL9AbuDxNaSv3O1Ph6SexSMl/ygTaoYwJcOPgNTbPObOZSVHitvqYt+/ybuxZ9uCDqB4WSZKlZToW9PyGITr0dmltno0BydBEF46GSGjEHcmQp8mFuW1YD8108eJ4YWZZ7QPSccPPZqfFQdNCHJekoeM2eeQZeD7ed9Tm4FaHfPKyqherupVIuINCukWQic/H7ndWGOV34r3JN8UeAjDEJJvi8S8IPiriYd3RRpNfACzqpVp8tYNNfTF5pcs8CezhXiaaR4Ix4pzaZ+OX4iq3iipzKeOCRoqZYimKRgmeenkPQt26HoAO/JFTpMs2Y3tXP3jBPe8LdskaBQlgQoFawri7HlavBkyJolZ3XaIdH0FURiYwBkueECYhrlljW99URFEVWgwhK9k13HaBJsEeUpjUQTqUaQrzgZDHvcK1tMW+HcWYMrreQWH5A4E2ZhR230TrpUk9rpD0evFh3bSDYSt7qEkqMtRL9Pk+1oOmYt4M+oJPYM/qKmtnb4es/9kFFm+4u9EJi72uVWHRoZvK1WNPfFRs6qQVf3Lm3YNxKk030zxG0jDcA5ClATARnB/IEFqKvsUvf0OXPtqkbGy6Jb5lueNfUcmVsoFn+G8bsVJ13UrE+V6ueaYq6bSJLZmclc7e2r08Z+oShsTTL1w+4uniBEgnDEUwKrlA00oNmjOXUq0vaLrbMnDfhqUPpf/Y4ejtkteVM11s1WWz1alpw5HaOFlRCGsn4h1xmzL955BIeWRDJTcarn2m6er198mCGntvrdTciT0q2jPw8bK71C9baJdKGP4DUKicnoSJDcCFopdmSWn9vgAUn25cbSeC0r3fgzBOohkHT9Dz3liM4kXjDf2/WtK/PoQjeUtR01eRQCcg+i9nOlV249kvAb3epsEV910R6w5yOsJc0VHX1q7p/0YIzwHfa6UxuoOkShmgKRlL5JiWMtljrLtS2PxwPZo6dMYjX8sZ/X1oDtoC3QcRb89kK1jQODvyIt7dcuqGPouCL6O80R9x6jipL1eUeQEbL5UlGTWXY4gJ6ZPMmzz1i03p9QS6JU8HEbGISthIKq9JZT2DRM7ZphMSjZd5dlZkJYKHFsqVpA5ycCLbZhtprgh3QptvRv4d29tWY+PI82emgg3hWNzeaBpADBI+SHxGuOhZgDH15/Cp6DuzZ9A8UL6lr6YdhC0aZmmEfaSnvy3QaSYAMUMFdafkd0YrfWU1E203U8uDm7wi8LqGLH7Ur19ryMfTSmct4bSVoKZZqI5zYR6XVWjvb4+fmafrq35BP3jy48a7R8NkufKkUHQx/r7bvdymlebExR1x3kaQwhhaZ7TKkZ28GUeNWIxLqNOxFVG65wwVb+HRvdqMh/xJ8jzNPXMcHCLGk6fpqscn/hCAjdSrfUMeHTYQExfiBRhJBC4BOOCvesOi2esusbdzqp6vpVsXTacJXz5vg9VLNcT4lal+wSn9LOQ+qC9wo3QamQkwACKSx1I6/XiGgfVfrOKxEVZjBitT5qnaTGdCpi0BTPDEffiSJR1ggbJDf3z3MCFM0/OcrGJPYjSaj8cDmKxAv9swpA7sXDthvl/cyf3S4R8NrY3efL/tmWtq4L5xGQ35278Jb80lY3ZMEcTadz1gOxTkAkOjMRerRDg7s6LP/OuPU7HaYtrWaCGzJgeCz6x7MyqhsSLobuJ3EOhJqFCOeQHq3rFycFOUL29hVXlsJvjTpuZsMtyC5y4xEmJXOJBM/lnNzHIrqMCrrYe6zHkJC2ssDf0scW54iuFYgGOoJ8OhFVLMQtiwHPE9RELngD3g3RUNfRsgueOy7Yfz0Px3GMVLu1RTq3Lh2tUsURVuypD9IhzmAIQNS0djbiSizD8IHc6bSeZ7UBuJNMXWAV4BzBy16p4QofpIywpi8dSj8EKFiZkSvWOAKFXe5wkjffqIX4+Yh1wUkMBC+ex6oEhjzLwEf3hApZsBDI8zD+lneUCN0swbVITBUJS5Ddk3TxnUm7nc7ND5Ylj22bbdkkNKborpdod7vdOtWfnOIE4VIm/EC5iPCI9MFaY7qOChgS6YOCwkWnAhmAZHRrPG2ynGNX/ajaTn8ITJcq6wijDkJTncCGoUd57injV22GUedT40YV/cDP0La+ZKaE/O4nG6sxbD9nUqLJTrOJEuynffZqKlVz+ADuI0COW87UhdPrziY8Na1f7CbFzkZijRqucexzhsf5c/ZTd5T6jAz6yJ/HWxkVCr+3lCRkmcP9Y40eE6hHP7uoKTiFLa4hf4NvPN5Qwbuzshkn8509otLXqQQOQFsDrAbtwL0Pl4RHJLT2exyTh0YU7kAaOD+qRaCE3Etz5LrTomGAtFEyVaRw7snfQWS638RawyK34mmOgPJepSAwqS5H+czVeWE+DIkgyYyCkGlAKbe2Pra/03P0evj19ntiMk2ZiKoPMINvsQeLYPMrzUR96hr7hojXnCqABYthqBaSXBa1mg6ZhJM5xkq4YyCt0Bb5OV86rqFm2jDyPSR4NfYhgseGNdn68uF9F90R4pMDTiWljh16k7ONqiRZ1QLYf5K1GhDnSZTO0Wk/3RTYrxZ3Bdl/+n9VCLnKcJXeZZlVJog8hIatjSLl/Yjs3yk9pBLPU8gsvcUF0ilon25OkDyuIbx+BwW75jemzQ1lPDpWJoK+V9pIT4sfIFL5RDWGh+Q7r16dKjAwYQHIi2/HxMc5ppCMaW7qWjMCtscM6tFIco9z/xnP3kzEG/fRDdgc64u8ImgVY7g6vNBfqnfI+cJHRT8YGlghYgM5AHLo+9TZG8qJDlZe8C28urpAIzhEkQfal1Xv4oEcvjPk5T+R27GAYBFA9D8woR6GsqvHPPrux2NZzpnf62Pt+kNwyg3SC6OtiGiN6UCtLVINqlmdpJMthvePbwaolEb9iKEaQ9higyClobq/na9CXPw51kG79Dd81/VVXXKXgW0q+XO7kYZ+2LPUILHOCDrWqqyZVz6bvj9dJjFW5vAog/FZ9YlbgD4jNo/dCJkx/eNwSbiinZYpGZsTqxA/DedIvEewGQpuJ9MEDYVG8k5YU4z8Z7LyvvCZiuBO5OSeIcP42NBO7C7V3KR+JtISeroF+tueqXi+U2/fJb2CskDho0s2HnWasM6j6gojL0k9wrljrZBO7wn3o42UH+DXrsGdtekmGoEyuavUD+OxZZsqRUPZgdnkgQAsNotDpSWwGB0eFCWa9Km8GaYpO95NYn8Z22AQ+fiiz4f0AGW4zmkAMtzFFLGZBeU3pvDuONkMFn4SC4Qfww70B42XjLfSuR9su8VRtJqI4gklReGwMJ7ME2BnnXHeoXN2aBOBw7jKWP9eJL5ut3EfrTooyb6LqN8+LlQXgZrmkwEYiBtMBZiQ+79PNjJjjipAg30nDMZe8E4pIsw2NEwNHmRX86bHMMojcj+a3IvC/tg9NjDxhZI6mQROnwkrYHGpryEkzggOhIEfv89fKQspyNb8c3/HzroVivnI4piAhnHkQ6cz3X6vXDubKKnCi43B1aXpL91KeJOXzBsFRVR+uhjKcnFtb2olnjYf31xuT0JSKeUIsTYfEaKxikfByj7eRfyxSfWwpC5fVlJb1L6PB/A6OftLrrEPtwwv26p66vF/prh0p522t33e/ePxM00EH002/3nMyABKzot6YBjciUuJxbT+scJjqV8JMIvvU13OPu91/rY06MVlSHQR0HKTtcDbY0tUyKwBN4aiEyB6Xb4D1pBRwlkBq4qZ+b7Jf16wvM3BmsERPMTXfpDssy1O9EechPKLWNGNRfQ69i0TrXyJayMlyfwcwwwYiHBSwCrSPisYnd5gix2Xn22qq+Zge28SPV4VQtJJnh/y1lSfkw/3n9/P/mZn1aviGYOum2rn1/4xJElyu5lJYctNFxt9Jtgj0TBEMuVnlv8pLzsd32+3ZaSz/WsE/ei36SkOFeuC+zkQ08fqwvODgo9hxgIUcLCAYNZ1fQKRiafPT511jh9QUZm7RZJ5sJjn4eJmY0hqD+RfsjqDm7pu9oWbEJrRuOHJbFYBsEXVyQPj/UaqqA/3fxQ1r9TmI1Asye1vnlUyF/sifz3US8wrA0erRrZ47VbQGF3vaI51Nx3Nk5RYORO5+M/IgxozW0coaiTUeTSgIbSlwX/s3gNHAbN1AAUrYMBlOg91AKsxWFP+vvdwjkD97vqWjTR2ZWp3No69FOiEkKK6aCrvJt9TeWNcvFfZSoxISfylc+i70+BL9e9odkg+kSFSxTk7xzUjLRZgKxS6zxtZNmY1hswLq4Py4ItwLoOi9tIoWEwT2l7q5ZD+qfRT17mccl0h+preBHYkO2scNFQMf/jUBOqzdVWu4PmtHWnYtHPMhlmkGqGUbdEZbA7zdrv07B59Dy4mLKGiTr52yohUC7xmqT1hrrz8twXG7aPnX8vya8c5XzNSZXfj7PBwm9dLsfxGXYTmu6fo+PQixproOPaosCIgsuLIjY6Af8Q7wBU8e47Wr5O4KpYYk/AehvUS61dldUvUJ1mRpRb74VQki7MQ02AjhN7lOCNINi1s6K7WmhVlLoCL0nx8t2THumvOxkmIi/vMmgi5yCP0euXLovbfONcfXdTpDleF2ta2ylhIfhTM4XmYevBYeH3YBxrn1LQNbpZquIVilMaeBKtxTqYrvBgIBO0WnrDquliLGT0ajkKV5JA2d7CCs39Qin66sO65KNpQxc92D7v2efl9BMgdhZh1mHLq8hvk9N2ZyWfyAQpkT6haYMNPqoacCOUt0sxdJHA4u6+P+iBcLw/CYM4p42bRg6UthlIkR2sK6j6PZTMI+a8AXcOtP8v1dS+afPPEwei4PCRSjHAqy5kMTKHrnirPyLGU6eoJKI8Urt0QR/d3MD+YWtFL94uZumLbSwzAioo9Ljpqs98XbFEbRhT5wGzve6tX4KmKhKN+5AK0ETv9h5SIuM9/j9osYWXLGbsfy5Kl4a4sQKAuqAwOh0oeQxNc7YZnHqcPoGtIq4jVYfXz2TxEJQV33sPTJyrBEW2e9fMCeDdpcV57avWSEnTCdg8AzbnL0h3KBs4+1PQAn4Qo8UBwLLvS00vv6jb0RDYvlmBnh/EddRF6AV36OsvlEzG3PD9M+ENTdSCFmBxHYiUMAQh5CvRccLX66bQcS3W7EPvnAeCIhBY1U7roEpZmLza1EHYQ5e3cUfMXTFnC3Y+zMCPoT2JodPpjc+meJo4TWm9TuVrrnmpWgB2E8UuBLFjOjlVYg/baAD3QPBvxBVh+pydvETGBp14DpjKBkEQRI/BeQbj2wWfggbcIOWGT/kSBXJAyLCUTXlBdsgu9j9gw43bJEhF1yIbPwoi9dWkTJXNda0wrB0KnHcovenZhSRbwlfrA1sD2syjlF7l4Fe1x89Eraz6VASZGbyOlItvv+eaBMADRnwKkZBaOZAdOK25xoZvIKmSa7tog2M8i4e6RjyC0x14JylA7bgK0fwyRwhpwcnJOzDFCRYWwPEUCM9VMOvbKWXmHwHSKMhrdzwoDggqQiGFog578+jO1ywMmlBceJAuj0k0SuEVXB+Hz5rHVkf1YmzamcusJnzoniF3o2JB8H4eRnxmB2uJSaJcWa+vuPhFgt7L5fG7SIYSb2IitcFwfPt+qgibBXQGSnye9xbWzR8vhl4MuPJmX7w9FmZt2v9j2ZnZGBelSo17Z/6BC+juu3c+vOBNWSIPBirUCJns14lCMq/kvEeE/Y0btVsfyvZClcCsim6Ux04LndDVOPRuJYXwfyL49dMmd3hckfLRptNO0ouGUQB2jOfC7prPU/6dliWI+2lpfsD+ZEBOpQIMrYBf+WqfUBItK19NsJAHLQwZmzC3+ICuBldpyVnM0oCYO+3zbTjW2C4lnvZnEtcr0LAYu942s4fXR4WI6WjY0Q9UgBJkmqit7rvnATHLna8tkw0LB8O66tshh5mBndQJhDwWN7+nHAxhroP1WjKPGzWtnPm96j9r7fi0gXXkoeoTOioEr36nRk1NI4ndNYejQVgrM83ZL4z9jI0DBTTYA80GBPlou2snOOVJuntXemjaRgwitjEyR345n5jysQG7uHbHi73uPX6wc/vYruyOVLM3Ao5XCC3gFst+6aX8ynKcsh+WCbvVDidKO1uXpRaD2fko10Yfay/byQN7/qlj09kePipRtiT++8Xo01fcGjDqaDk4vacIfhythAtj4r2sVJxhpviJqkTJQKH+j4hevo3lYte2mCqdL3fAxSUkD0dKhwQz0Jjal2a+LNDEzJKvdNwL8tO1LJE+3lVpdjkQMViZuW4vMXbzmo1R29VELQt4ChKsXOPnE//PD8pwmdujUFZvtkpQHH4zlk0rU7Phghb98Zl6dQgmNXhxeUAR2WHKBBDue+oOm/zqfTWsAntUan/q/W2wy1XhJjPlarPkTKffL2JNoZdrj4DkCiD7u00EAEt/6Bc6iwIfEuL0SBpTjxRCdMKmcBiRl/LeQlW9LYmsNHXcZ7CY9RxRTzNHnlM8oKlNNV0jOmvo/J3nmq1EpUIEgL474Vvo/6luwS7jC6IGXi5gxUV2KmOSLxZy72nklhmw4sJfVgh3YFqpaYLyRKj9gQKG13wOvV0aFQvQj+W4VviTqw4CjAzgRDy9MjJ65pMhA09We8LqbkTqS2LXWeKjkvBSTCaRSYYHoEVnOJwBwTDMidOr0AKsCkEeE1m81bJV8bmxVKXJ5BC0yZRoYvi2UNnrKxfLnrpWuLlgdh3jJJsI9eb5fTDFx2zPViSY65+uZvuKKfsE1KOFVS8+AqW0uRaIyO3UeDc0eiyriqQ1zLXR0o9QBebKq/C9ZSpiaASx7IuNfdOfeK9bCdi3uYaFQTqO5tlrjMfBENvpX9xTKJD2fZ25Z8jx+nb6oeZYGgcyLBqzq45TPOFAyVcqn+VKNaBLAWNXbWOVWRHRRKTZX5PIuABGE/zsnA+bDLZ7NdDpZccDTw5UnTAlY+NJUJGbZvIzn6Vai/DFX/KmKEzwyn21gmNhR+sNprTOzS5GMqkIsbn01mtYrlrL674Ds1874uJve0rVO0BPn35O6cyjeQ8hjRnVzAhij+DWXfbYhPiAD1TUiJpD7k+dWdI3dadd4U3brbY/7A8qZcv5a/uxVTPbq7SBADqAY03PXFzJkAW1Dbu4cTwAMEcieLGeTw4h/eilALRI8vMTX5uQd8S4GIUwTRPHObJPdU8bh8Li+twlxJWPCSjl0DX8pE/ny1oZy+I8v68YLaHT+elG4d+kMQUPOeeBoZV8gM/7qHEBXa1M6H1zpZyFs=">
            <a:extLst>
              <a:ext uri="{FF2B5EF4-FFF2-40B4-BE49-F238E27FC236}">
                <a16:creationId xmlns:a16="http://schemas.microsoft.com/office/drawing/2014/main" id="{057D96A1-F446-4A1E-A257-73E09FB957C8}"/>
              </a:ext>
            </a:extLst>
          </p:cNvPr>
          <p:cNvSpPr>
            <a:spLocks noChangeAspect="1"/>
          </p:cNvSpPr>
          <p:nvPr>
            <p:custDataLst>
              <p:tags r:id="rId17"/>
            </p:custDataLst>
          </p:nvPr>
        </p:nvSpPr>
        <p:spPr bwMode="gray">
          <a:xfrm>
            <a:off x="327652" y="1302993"/>
            <a:ext cx="3162307" cy="5006240"/>
          </a:xfrm>
          <a:prstGeom prst="rect">
            <a:avLst/>
          </a:prstGeom>
          <a:blipFill>
            <a:blip r:embed="rId23"/>
            <a:stretch>
              <a:fillRect/>
            </a:stretch>
          </a:blip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FD713F01-EAFC-0403-DE54-427B5549983A}"/>
              </a:ext>
            </a:extLst>
          </p:cNvPr>
          <p:cNvCxnSpPr>
            <a:cxnSpLocks/>
            <a:stCxn id="27" idx="3"/>
          </p:cNvCxnSpPr>
          <p:nvPr/>
        </p:nvCxnSpPr>
        <p:spPr bwMode="gray">
          <a:xfrm flipV="1">
            <a:off x="3581745" y="3003223"/>
            <a:ext cx="724229" cy="583420"/>
          </a:xfrm>
          <a:prstGeom prst="bentConnector3">
            <a:avLst>
              <a:gd name="adj1" fmla="val 25951"/>
            </a:avLst>
          </a:prstGeom>
          <a:ln w="19050" cap="flat" cmpd="sng" algn="ctr">
            <a:solidFill>
              <a:srgbClr val="B4B4B4"/>
            </a:solidFill>
            <a:prstDash val="solid"/>
            <a:miter lim="800000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29D8027-A322-DB91-3C74-50660AD0D49B}"/>
              </a:ext>
            </a:extLst>
          </p:cNvPr>
          <p:cNvSpPr/>
          <p:nvPr/>
        </p:nvSpPr>
        <p:spPr bwMode="gray">
          <a:xfrm>
            <a:off x="2622550" y="5229687"/>
            <a:ext cx="155448" cy="861407"/>
          </a:xfrm>
          <a:prstGeom prst="rightBrace">
            <a:avLst/>
          </a:prstGeom>
          <a:ln w="9525" cap="flat">
            <a:solidFill>
              <a:schemeClr val="tx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B1FC31-511B-6131-D02C-6422AA33A690}"/>
              </a:ext>
            </a:extLst>
          </p:cNvPr>
          <p:cNvSpPr txBox="1"/>
          <p:nvPr/>
        </p:nvSpPr>
        <p:spPr bwMode="gray">
          <a:xfrm>
            <a:off x="2806699" y="5562484"/>
            <a:ext cx="164075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800" b="1"/>
              <a:t>IT</a:t>
            </a: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27FA347C-6DD7-8454-C748-A12275E8F6C1}"/>
              </a:ext>
            </a:extLst>
          </p:cNvPr>
          <p:cNvSpPr/>
          <p:nvPr/>
        </p:nvSpPr>
        <p:spPr bwMode="gray">
          <a:xfrm>
            <a:off x="2622550" y="4387809"/>
            <a:ext cx="155448" cy="823043"/>
          </a:xfrm>
          <a:prstGeom prst="rightBrace">
            <a:avLst/>
          </a:prstGeom>
          <a:ln w="9525" cap="flat">
            <a:solidFill>
              <a:schemeClr val="tx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714685-9F2C-7B8D-3C67-2EA40ED090E9}"/>
              </a:ext>
            </a:extLst>
          </p:cNvPr>
          <p:cNvSpPr txBox="1"/>
          <p:nvPr/>
        </p:nvSpPr>
        <p:spPr bwMode="gray">
          <a:xfrm>
            <a:off x="2806700" y="4701423"/>
            <a:ext cx="56322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800" b="1"/>
              <a:t>Corporate</a:t>
            </a: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A0E40D5C-D6BA-F62A-29F9-33FB027EBCEE}"/>
              </a:ext>
            </a:extLst>
          </p:cNvPr>
          <p:cNvSpPr/>
          <p:nvPr/>
        </p:nvSpPr>
        <p:spPr bwMode="gray">
          <a:xfrm>
            <a:off x="2622550" y="4003360"/>
            <a:ext cx="155448" cy="356066"/>
          </a:xfrm>
          <a:prstGeom prst="rightBrace">
            <a:avLst/>
          </a:prstGeom>
          <a:ln w="9525" cap="flat">
            <a:solidFill>
              <a:schemeClr val="tx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914770-2F80-7F49-8A7C-37D466B43785}"/>
              </a:ext>
            </a:extLst>
          </p:cNvPr>
          <p:cNvSpPr txBox="1"/>
          <p:nvPr/>
        </p:nvSpPr>
        <p:spPr bwMode="gray">
          <a:xfrm>
            <a:off x="2806700" y="4083486"/>
            <a:ext cx="61612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800" b="1"/>
              <a:t>Operations</a:t>
            </a:r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046376AD-DC88-72C2-1405-1D7503E7A87A}"/>
              </a:ext>
            </a:extLst>
          </p:cNvPr>
          <p:cNvSpPr/>
          <p:nvPr/>
        </p:nvSpPr>
        <p:spPr bwMode="gray">
          <a:xfrm>
            <a:off x="2622550" y="2828710"/>
            <a:ext cx="155448" cy="1146533"/>
          </a:xfrm>
          <a:prstGeom prst="rightBrace">
            <a:avLst/>
          </a:prstGeom>
          <a:ln w="9525" cap="flat">
            <a:solidFill>
              <a:schemeClr val="tx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97C551-40BA-BD9E-2F54-5DB6558AAE99}"/>
              </a:ext>
            </a:extLst>
          </p:cNvPr>
          <p:cNvSpPr txBox="1"/>
          <p:nvPr/>
        </p:nvSpPr>
        <p:spPr bwMode="gray">
          <a:xfrm>
            <a:off x="2806701" y="3304070"/>
            <a:ext cx="775044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800" b="1"/>
              <a:t>Marketing, Distribution, </a:t>
            </a:r>
            <a:br>
              <a:rPr lang="en-US" sz="800" b="1"/>
            </a:br>
            <a:r>
              <a:rPr lang="en-US" sz="800" b="1"/>
              <a:t>and Partnerships</a:t>
            </a:r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1D9211FC-9860-F806-D55A-B9C7959B5079}"/>
              </a:ext>
            </a:extLst>
          </p:cNvPr>
          <p:cNvSpPr/>
          <p:nvPr/>
        </p:nvSpPr>
        <p:spPr bwMode="gray">
          <a:xfrm>
            <a:off x="2622550" y="2063701"/>
            <a:ext cx="155448" cy="733478"/>
          </a:xfrm>
          <a:prstGeom prst="rightBrace">
            <a:avLst/>
          </a:prstGeom>
          <a:ln w="9525" cap="flat">
            <a:solidFill>
              <a:schemeClr val="tx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D9F7E6-B053-BBA6-745D-B25D1B5E758E}"/>
              </a:ext>
            </a:extLst>
          </p:cNvPr>
          <p:cNvSpPr txBox="1"/>
          <p:nvPr/>
        </p:nvSpPr>
        <p:spPr bwMode="gray">
          <a:xfrm>
            <a:off x="2806700" y="2332533"/>
            <a:ext cx="673830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800" b="1"/>
              <a:t>Investments</a:t>
            </a:r>
          </a:p>
        </p:txBody>
      </p:sp>
      <p:sp>
        <p:nvSpPr>
          <p:cNvPr id="19" name="btfpNotesBox475317">
            <a:extLst>
              <a:ext uri="{FF2B5EF4-FFF2-40B4-BE49-F238E27FC236}">
                <a16:creationId xmlns:a16="http://schemas.microsoft.com/office/drawing/2014/main" id="{27722CA8-6B5B-5483-972D-BDFA4DB586A5}"/>
              </a:ext>
            </a:extLst>
          </p:cNvPr>
          <p:cNvSpPr txBox="1"/>
          <p:nvPr>
            <p:custDataLst>
              <p:tags r:id="rId18"/>
            </p:custDataLst>
          </p:nvPr>
        </p:nvSpPr>
        <p:spPr bwMode="gray">
          <a:xfrm>
            <a:off x="330199" y="6319679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(*) Excludes an ~$7M internal Shared Service Chargeback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Group1001 Preliminary 2025 Sales and Expense forecast</a:t>
            </a:r>
            <a:endParaRPr lang="en-US" sz="800">
              <a:solidFill>
                <a:srgbClr val="000000"/>
              </a:solidFill>
            </a:endParaRP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68B0DE10-C44F-DFE8-79C0-FFA07FD48CC3}"/>
              </a:ext>
            </a:extLst>
          </p:cNvPr>
          <p:cNvCxnSpPr>
            <a:cxnSpLocks/>
          </p:cNvCxnSpPr>
          <p:nvPr/>
        </p:nvCxnSpPr>
        <p:spPr bwMode="gray">
          <a:xfrm>
            <a:off x="2622550" y="1945853"/>
            <a:ext cx="1683424" cy="64785"/>
          </a:xfrm>
          <a:prstGeom prst="bentConnector3">
            <a:avLst>
              <a:gd name="adj1" fmla="val 48965"/>
            </a:avLst>
          </a:prstGeom>
          <a:ln w="19050" cap="flat" cmpd="sng" algn="ctr">
            <a:solidFill>
              <a:srgbClr val="B4B4B4"/>
            </a:solidFill>
            <a:prstDash val="solid"/>
            <a:miter lim="800000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CommentBox">
            <a:extLst>
              <a:ext uri="{FF2B5EF4-FFF2-40B4-BE49-F238E27FC236}">
                <a16:creationId xmlns:a16="http://schemas.microsoft.com/office/drawing/2014/main" id="{625A47F9-517C-7890-0E30-8AAD88310A71}"/>
              </a:ext>
            </a:extLst>
          </p:cNvPr>
          <p:cNvSpPr/>
          <p:nvPr/>
        </p:nvSpPr>
        <p:spPr bwMode="gray">
          <a:xfrm>
            <a:off x="10748867" y="93290"/>
            <a:ext cx="1387151" cy="771676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B03C6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900" b="1">
                <a:solidFill>
                  <a:srgbClr val="FFFFFF"/>
                </a:solidFill>
                <a:latin typeface="Arial" panose="020B0604020202020204" pitchFamily="34" charset="0"/>
              </a:rPr>
              <a:t>SBN: Group1001</a:t>
            </a:r>
            <a:endParaRPr lang="en-US" sz="900" b="1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9064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btfpColumnIndicatorGroup2">
            <a:extLst>
              <a:ext uri="{FF2B5EF4-FFF2-40B4-BE49-F238E27FC236}">
                <a16:creationId xmlns:a16="http://schemas.microsoft.com/office/drawing/2014/main" id="{43127B72-0122-4402-9BFD-2BB858BB7C51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2" name="btfpColumnGapBlocker547525">
              <a:extLst>
                <a:ext uri="{FF2B5EF4-FFF2-40B4-BE49-F238E27FC236}">
                  <a16:creationId xmlns:a16="http://schemas.microsoft.com/office/drawing/2014/main" id="{AE9EE95D-BF6D-4D24-A0FD-40FAC276AC62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0" name="btfpColumnGapBlocker575389">
              <a:extLst>
                <a:ext uri="{FF2B5EF4-FFF2-40B4-BE49-F238E27FC236}">
                  <a16:creationId xmlns:a16="http://schemas.microsoft.com/office/drawing/2014/main" id="{39179AF9-F4B8-456E-945A-E6DEAE573F51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7" name="btfpColumnIndicator828724">
              <a:extLst>
                <a:ext uri="{FF2B5EF4-FFF2-40B4-BE49-F238E27FC236}">
                  <a16:creationId xmlns:a16="http://schemas.microsoft.com/office/drawing/2014/main" id="{5AFC1ED2-BF6A-4EF7-8A5D-FC5CE449A05C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btfpColumnIndicator625310">
              <a:extLst>
                <a:ext uri="{FF2B5EF4-FFF2-40B4-BE49-F238E27FC236}">
                  <a16:creationId xmlns:a16="http://schemas.microsoft.com/office/drawing/2014/main" id="{ECCC8CD7-E8E8-4A41-BE76-F2E16181F894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btfpColumnIndicatorGroup1">
            <a:extLst>
              <a:ext uri="{FF2B5EF4-FFF2-40B4-BE49-F238E27FC236}">
                <a16:creationId xmlns:a16="http://schemas.microsoft.com/office/drawing/2014/main" id="{89A5C494-41B0-42DA-A2F3-8D80E24548C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1" name="btfpColumnGapBlocker982671">
              <a:extLst>
                <a:ext uri="{FF2B5EF4-FFF2-40B4-BE49-F238E27FC236}">
                  <a16:creationId xmlns:a16="http://schemas.microsoft.com/office/drawing/2014/main" id="{F9C5F276-771E-4278-A7E2-EA787A886474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8" name="btfpColumnGapBlocker950964">
              <a:extLst>
                <a:ext uri="{FF2B5EF4-FFF2-40B4-BE49-F238E27FC236}">
                  <a16:creationId xmlns:a16="http://schemas.microsoft.com/office/drawing/2014/main" id="{263ED900-18E6-4700-914C-04D611A30C26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6" name="btfpColumnIndicator670650">
              <a:extLst>
                <a:ext uri="{FF2B5EF4-FFF2-40B4-BE49-F238E27FC236}">
                  <a16:creationId xmlns:a16="http://schemas.microsoft.com/office/drawing/2014/main" id="{E0EAD954-4052-45C4-B1C9-2C29184C34CD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btfpColumnIndicator573797">
              <a:extLst>
                <a:ext uri="{FF2B5EF4-FFF2-40B4-BE49-F238E27FC236}">
                  <a16:creationId xmlns:a16="http://schemas.microsoft.com/office/drawing/2014/main" id="{1AC84D48-E4D5-403D-986B-ECBD9DD1791E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078" y="3145"/>
            <a:ext cx="11522075" cy="876687"/>
          </a:xfrm>
        </p:spPr>
        <p:txBody>
          <a:bodyPr/>
          <a:lstStyle/>
          <a:p>
            <a:r>
              <a:rPr lang="en-US"/>
              <a:t>Illustrative pharmaceuticals cost bar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sp>
        <p:nvSpPr>
          <p:cNvPr id="11" name="Rectangle 10" descr="Enter Chart Description Here:&#10;&#10;End of Chart Description&#10;DO NOT ALTER TEXT BELOW THIS POINT! IF YOU DO YOUR CHART WILL NOT BE EDITABLE!&#10;mkkoexcel__~~~~~~~~~~False~~False~~Falsemkko__4HooU0THZk28POP9trq+pbTvvzd/gcV8t56cq85kb3NDTsUhojRA0EsgEHHMH7oYP1SYpn09ysXVivguJdhTvfyVMsBLTGvcX7WPTor/CmWV7V/wylEnRSjNa0bZedd8Yjfz6TiCJG8OqoXAl5SrIeF08dlXg26VCLQSuMwFMmWGmihLwizelWVh0+YrBGrvbI9abCAsXIvQHRa+DCJaU3PJON0K1yeblBWRz/cL7a0uwAyWMqmGTLsBbUcrm/D/6eTHTkijpiVodNB8ZFnPU0d0nJ2fXTu7+1OPwHTjemllQ9kavxNazLbt8yFiyNcOJa4Y1PJQvNYq9NGWHotWgHaIiGCUQvA5i7CSjuzGM4XnPw2+ryRtSB2Q4+qs4lxYcVRxmzddUch4RoCeA8jZp3cI500kVDLtSZLC0DiuK7WPKYffJyQ30WTWT2s/6MxC9qKuXTRUbrqlZaVLv+CTHIzyFxw5wNm331M+qIBbhrMiOx2c3czOCEBOJQ5Yv7AYW3Vgu/mxNhVmyYJqBgo4pPf8FUznT4iIymbruq0o3Zfv27ko6QhfaboqfJoyU8kyTyElkwZkb74VP5WEdcoLxR4ZYD2ehOAE2T4RWa8tuCFvWel5++zMQMJWZJBznEKYguTLAjMUziCHM9hSvOzAbTe7JIS0YJ3SRF3a/IR97SdRUSp6ypoUdhkhMVIp7gmgzmSPktyG7IdvjPyAon+8TSbZcs6g2M7NZfzdQLjTg56A8srk0IJCSasOr8catD5CFGbZTMiUX5HueSNDKOVzZoTT/dQdTHG0oMIeOswSaOG0aEdYE0SQGjpLbycUmDqOtqqi4Gt6hSPaHo/u6d3Thpi7GkgP/8rl1k1W7UqKwrRa/8HC4WPes9HpcK0cQJQYvZFbJ4c21wpccovFPTjnrVoNiewfH3rBgG7/yXqvYPhgnFsCpUihEoIO+/PwL3LE4z1hiMoWjokbRb+EPO6JEzHf+jzSFvugcmkjm19y6t8d3cOkiZQlMnC8k+JbZNWNOX6m93b2vY++bzRQWHvL64AJwbikiKKmHkNrS1UwL+iPoRSzI6ddxyocLXvpeCD/5eDBtKh4zON4SEei3V6c7HiDKhG7Q2DUcADeX8NNV+WXr6bf6E9MOmR2/yQNtEhFa4SQ4OjDOZ6e+kE55Fymw0FWuVVA/7jH++i/0ChnnaGkLcRTy6IvB5USBeaiYJ6OWhsyNWH9UF4vvmS0Hg3dwTYecjz2NQNO/EdpdECoWhNXlQhL0QkPrTh3u/UzWnBb+ghw9qlZPGvQJ1LoQgkvo9MIp/H4I/FbX2Wn/gVcy8WjJRWgtHOHSLfPVDzGOwHdkAObHBHRnEk3vYgwsFG7cL8G6P6IBosRWvj3soqtrBAHJd+O1bLt7l811MUJKtWXNC62EIPa6dmsCrqj+SjT+yqlSAQz6wciCvZ7UI1tfre09/BiGdkt4syL1R3l/Wq4hgeNipioRrnhEk2VvfdKhcVndF7ZhBwZ5K2TxwLvoC9cCF2Y50qWde6rTSY6w2raXMejkNN5+1mWYSiYEcpjXRow3nKCtEZupEGSNC2KZuDPxDjOhrg4zMCoL+vUvXrnHPoUGueKFVbsBeV/0bKcRwVwh/4C6I0EQCQRrdrLM/YuKrOMgVfIG7vw1ySOrdXUB5bccFNVSD6uJCktGGFd3xmQt6XScZYji5x5awT39mfySuaXS2f7rbH6C1d6CgN0zAQkPaXLbXV8jc0LIIrQjqWQe7/b5rlbL58XBjmqW1OaJ/f7H64N//pcAe/wg4KNrCRYKBLU4r36T3bQNBZi0Pam5Up7QflPcUbd4CDJ25EocOPv8Uytr+0lh181M/L55XBI+S9cZ+fjoHZTWIcugG4+jY+k/J97OqfMVxg95XxK2GbOxSMHH3gSoCdrwZpPVyWisr/vkbiCV5CG623XwnUiFgn6/igHUyn26pK88z2REtGfB0GcRovGyVYqfdhIjkNA8BLFNz4GfD7ZQlkSdJa6QCIDJThc5TKXbqqCEvDB2BnyKAFIu9PG/0sk2toCrUK7/vvRS3cuOW70gTekc7MEvPG0e/efIKSLxpYjp3A7B2//O0ulUZ7tCDeZ55LyQhm8nGZfCFV2Y1cG57B6Wd9Unnf8mjKl8/YfDsLrvnHhhhGtN4xd4NVvfWhS82JUuiFh1C5HwXxvL18jKIsEw2CotK4dBR/OU2u/JR6mv5BBfUYfkeuGJ1cwTNLcqZ15V49Yz+iAQLGJJINbB0XMGtaFhW/epAs3QEW4mK3Ca9k5DNCG3/omHag4Vc3nM1c7/kCcW74cqR4YrS2fH1cyc/XNLPqkuirVWMyfSOoMKMJpKTLHLAWe/iQsFvo1DSnbtmFZQjfTUYeF4ygaykjai7mNjDbEOaW18jXPw2isHYc7XJd45bjFgSvDy7tzu5+jEkIneiodUxRffAdtwv2pAG06FHG5ZDNEBAMLrd6OJUysoG7IrlBMtPrArsiTZ9Q5oJgeNFffkSBobvGeq6+o+H5RAD3TP67SdO476mttqtdwG4ahHGJm7/s8dotysMq9vjtyBtUrL9p64nEiXvlKB68n15aNO8nFSgMpHmoXIt44H5psVVITbR0tNEeR2s3SazpmHMYbOZQjqsRdCLPKZgdxkIOnWDgGZ7vnyqepVO/iZ6A1zFnll5ZpfAlmZZlSrvRKrVG0uCkN4QMK1gkBMjPpKfZDLr3E/upKxuVi5thuG84IboRAObnKYykotmH7ZvgQ4Ss6vcHvTwTxJfSVCQu2/s/TWXk40Ik39rISU0kBVtp8crlYacn3BxN+GndVufc/+BtyiWQL+kWxdUwEvaO9Ie5U8g45fPIA28B2fJZfRzlUHXha0YY/1lUluqhdAesQobW84Fje/O/LNhQoWThPR6JMFu+M3a0Rbk28sC17G4wNxXF+BYYneDAKg+HlidkMKOPMuxdpf/kfstZdV29rdaavLMm+QFT5zSnluJeiVINbjGPa4F8+CwXib7d4yMjfKK+Arhrh16VrvUpufxuMB/65ut6rqUo9B0iE2zx6HEqSUJELTMaaJWtV+RB5mc+X3E5TMDdLxpr4NrU+7/klaFIxYcPv3nucURa/HwgU0O/jal+rJ7quN9k6PXI9KO2Bkx7nBnxPcb+6acoZOEyCGucJZK/K6InPvi9PwJWZ/wY5efR7x0jrNlPe7XUyQUg2u3dhjKpqVO69RinbaEum58/Y71bx0Q1Ylzj6sCnkNc59zeAO5Zufqe44FTOunRfLlRQdWHbZkx4WwN00ZiS6KMoGCa7E4Th29qIVdzwK4hMKp1fzEiZ4RAIbWF6atCIM5gCzRhK721hSJ0SU0oz9rnC2tPsNOnXXWySf6JukxCXQu5v4Oi2FrdHAkzorHYft2Fc/DWZZfhX10jlDwlT4hUFTMBlecY6Jg7JmhT8ZeDNpTHb3WRIE8B5LsuTLsmemXglVWN38ETt0GG2/HUtuAl0UHTNVSG1NHKmQHuV1DaEfRpf2oZmf4NW9ZeA6fTGE4wdsrHSqrjMXRYlAayhqaF4/pnhRm4crYoyhCYL+4LEHXwKvv5Sler4YiHN0a9flyAySrRLTRQKSaqdPiGkbNoivJb3cpxPr+04bTLPfBw2A0oNMoUPm9dFEwEr9Y75nBFHJ+ejJCYKnFguUgh9JbjNub/r82cDYqUuzBQCNlRW2fuZAwhZH8gFp0jzLHaFx6gpizRiL5bpZrLyqlhaU2yC4NhpKaIJQDZJ4Gc2oJCpid59kWcXzY5IF4WIXTXZjKioI8nXQyDdn4KCCvXE+GKzEXQrsE7YIaINrZle3gznd2IfzUlRL/H91VUlNv0GfSBTvPPRfhOqejgVIQc0P7UajI91LJRUYcGyBjxmS/8waciTkMpeHaRRxiHEBJ3FQBlp91d9mMuXBEyckDrJdT9QHVpyqD/EBrah2BcVJNGE85GsoQnm7M/Vqkcf8/vTSaHOa7D8fTvYib6J3a36yn/s5tG2Pb0+tuXIYs4azZsbYDYf5yThnGdUIA7TSYbCZSMLDUhVpX9TreambGBvWvWQykl5V/NjfKY3+EWf7IJ6YD87TejUO6lyOEFhkfHyFv0fwWZhrN937xBDqooaFGIucqee+8M52EZ+SclyNBYOwczzCItai2Se92RKEGM+ODLiVTxRYhZ/+t0F6o9EhVNnWIGAgkfkn22b5TEhJ8EVPJ+rzu/6CvkBM2X620j9bKPVv+mWAa+bndQwBFvDh53Mx3ZvZA9E+LqMpIsNmGHbn8W73U0zzvh5+rGhsdMvXVxqZhc963XBZMfi47iRMKNKgGRDN3oFMd9jnqCasiFNVESGcyBy6eC6jsqNxZBxyYX6sRSqHWhC7n/4cjfc0K4h5L+BzT04yxSSK9BuoEPxArXX97ncOqL354cWw5TRZqyp90zIr9unqIx75RZlp7JIeRsGYqYJHGEyEyX7WZ5CkVCK7TZZMq1uXS2oHKfqVXgPA19ny+/p2rQWppECh/F3ix5Y/W7JYH91AbsAmYPBGDmggxO4uIhsVP9MY83PxLPn+spmDjHVbEmHQl0qzt8d9aKsehAaD+EXQGw7pbbKGL1ck4kzZQKEyOJ82LD4ya8kGjm+SvjQXGUScdjxxLju1KEFZhqxRWw/7FVVsawXpvfqGsrPCKSXmNe6Wt+qYGM0o88ICoS1GH/dOlHPtvr+qnXg3/GQTFIwoJagq29hKj6RjDix5Q8zowpmlW9URZWQFDCxTKhiakfcZMcSnMrqFWmRYpHxuPaU0U3Ox4U1Wg+EldtX/f/pEH8loFdpAhsm+IEv24jrynaYW7XyLbxoP8sv9U0EYYlZZSHFrKNkzPpFo0HIQ0txiV7mtglY9xvXKF4vrS1+xvmz6Ho5rOSp2+sFxWciUtQdgBVfxJneMVz+oFvYRKO5fw5fJmVnO8JfMfp8QA285TS8KH1t9hMdIXIHQ5XX8VHPjPRMqubkdgslN7gAMxoaBP/4GbOBQz/rt0Nfh1ZflXPFOX7Bva7X8RyPDAWcA2Ga6KAuZPbX6P6TS5HoufEuJD9DyWfI+cc2gWAtvSthtwK0b3PnMuFZxsNyDS732MT1tSAmgvcXmZnUnW2jL/vjgLyqqSkLm4DNp+dsVlR8d4f/gyXh2I/g5JAfiWIjtCc6Ux1AE/KTkiZ4fOVTdtDhsEQqe0Vym71I4MmGetW7D1FfwYgQflSUldgaLtybq7vdG5KfSnYG9KH/JlosbRdcZ/gWTR1oVh+YaqbX7Cu6hGIYIQpynqO1tg8yS9yme8DAcXIWB0B8NRA4vBHK2PZSCT8bmJv0Qg8EtdG5D9i6UaJP8+Yt6CZwCQLGlBXCWWqGhHcjaR86WvMyJn4k7J0WB6nCMRp0xxo2jxEMnMptDIM3zzk3KWAq6uvqsxVS+RYk6gjmqKpev6srt5vPIdsnuU9m2FVTUNbMi0U87pkRjbve2EuIqqjrGzqe/rAWGLCpAgK22EGXlFBO7/y8PSFvSHjIjsdvuNXJNPaDxK7oE1WjMG7zySQglyWhgNrLKo/evV/iIEU5MetZcCvZEu5Gw0fKiZKCZS6+BcVyqG2uYGz4RY2CZOlikN5q2vGHHvELHN33lwtsdQWUwnORdVdKug2f0NNgvZw7iLJ28VFXGBPUP8Tbgy7exN2ur4mpwRp7QZdavox/wg1hDIw9oUx+Bk9//3P2a2Zc/UAIbWQMWUbWtgA4F0RmLhgqNR+CUxdMVJYf/jCnrmjwAabjdTWi6ASJVdQqRiSFua6wcu0RVv9ArEQ/jMxdwVlIX063QBxr2ibhWT5r6duyi6/ImAFFNeETw6wib7lteAmtBVWlTT0lRUHKQRrpbJtRYRAd8m2W1nyrVTmfbCdmRaMqiX5w7oU0u2bq5f1rU3bVMvaFRJgAaDKCawN7WAvtrhbE1eeQDP7L8PN9xU+MouVQv+rFskl59AnG058SeJtXXUxU73Nu4aJ3rkT3XQYOVkzEJ0ai9Vq2tcQQXxZN+lG3I+nC1a4p6nH+VYDu124WxlaCYKfblK6xYgMTXbiofv5O22PPnKyWOfPKoxUcifpRbjJtcZie3vOdh3QL+aq/OybGNQgWC8iVAKUzc33UtTnzdOSI9s3dEVMQ2Nip055mb845rQHQItJuPIw7MHP/Jsc8EOfJ0yrlzkRrMJQNLO5GKiAxYyoffrG5CmQpcJ+pcEaSWaLSwaBKdhAHAT8Qe5XbV0DVQ9WNxs8N0Mb98UlklIUU29fgEO1P2CqUq3C0vzS3Nc0NNIZo36Q5/sWDL8e6MMkMJ3rqhyfSCgFLgkiVzdjKftoZuAxnIJDrVIkHVKoDL7t/dFlVDyb+w7yMy4QN1aXogq4dBopNgzovOVbZmuX75OAzZXKuQ+r/CFx1zDdZldgumI6jD16sZ/GX7f4/A5/KPOoTQh5sxdQky2VQJSLkCx1y8czZU5XnWx3tLQM0Vzf1Lpht8K0URxBU1nWNsVyJLqYMLOoGA0DWkUsGC0cVpkect6l8hYl0AqTz21fzHkmZOlnJMkhxCHb4E/wrZVx1lMt/CQ94gM40IFdv5zDfusvKIRUQzkq57zTn9lWux63FTigFjwLvSUIs+TAwN+6JuwTwtTwsFuFkhi9EyhNDz6DJReFonWFB8bp7Com/IhahkhYpY1IinUICKUOQMw0SprwPwP6MhLC8CsdEc/+bVWgZQvtT3C1rC0PlI7FV4mAYNRnxvmDYOpxVW9SZOrSE5/URzvC9iGdX8QqFuqlsrL4OlQvqkaURdQIKV0p122Co6REuPgaAeAF316xpUk4pcFVSknysZd67ho508k7R2rLCDinb7U3y41VibK3ZhJVBoGoqgTOpQ2FyiQIUfK4BK3gdErqYJ+GSNwUoz0WN/S3Z7zCrtWaRIyKeb7rtdjx6DPw9Dwfz9swbXyw5SiNEgWX7f1CkuiPzRgBqvc+5CKLwhNFcneupBhaEoTHYPiwdYJU9SFlpqNFhWHTQxwhBzJJnAIxGoI0Fi0rAFlVxuX8ZQRHTbi+fdsVW/t0ZQIQKlsbtiuGkf4JIEcEUU67qgPV6uJz8iwPM8m8j5Wu5RVVlfBlEa4GUJNx3HfLdWKJH6YddbhbKtE9GiLyr+PJ9c2Eaaa4DmtCPMkv6Bsyj4P2LhQXkOhqLlD3xYWV8ub5YLq1yTfRMPlSAk1Njsr289Ruf5kt7BGgmUPXc754C5MlguYC+ihRM/zhfS1rOBIh0xGJHHug1NN5ajxLaqeWOi6n3qgwf8kpp+5B5VEaCtYII5YB3JMrE7ghnew3KjPSgg+kboi5qJj1MI8JGa0LtcKF20w0KgoICcutth8+y03+FE6eFdyxdDbsIzF5xjNMOKNvtOi7XFJ40cBef765qIFLOfJV6/quv/pzxAelhBsDfXXToYfoNdCQ5HrA9gSFMlHzONK/4Jy8QqufZdX/usgCNL18eURT03IfLD2oXeoKJrUvDkAhqUKm9OEniY0QSrqGhilQ/WyPL3DHDbMhAp4qqfoYchcTMapbVsnut04eIXg6XU4ZGeN8TckCbZmZoh83NWQVNIIa7idiIyNLDSKTaWlscwqTQ4mAHHSYO2yL3yTsYQcIJT/VmsJ79GtdpvoOyx2dv98NfeExHVGUIEME7kmqPdBuMqSl6ndr4al091mgVxgB27kudUf352feuA/0Qqm7Ur4id6Ndc78uK+N2nDVREAvWOSZyZv+QQV+gB5HkkU76xH0P95aWrjndxV8f+5dbpI+n7Bd3MruIPY20DHn6ERc0BBaufY1q4Ykx6vMwCX9V3I3YEsvZMKkCaRB4BnVt6Txk/Sttb1Fe6DL9RMBnerYhTsqPipW94wccZM1zD3rqPM6iFd5sZuuGqWSSH/fhgPsCy8JS5BB6PiCClxaQo4WF06sfdP2DTeVG9lWTk/2VKTbjQuXUHTdabazgzghU7Au4yYqeh6BV4NfgqCeftntIL6KMJmYuabZ38uPRMQ+7kdXGcvPNikbqjksB8OGZzJt0qWjhBoXut56rEt9qyOQYwnh1UE9R9Qhs3XA/C2Di6OnNMAqdlv6YeJDVw6ZQt7yCU1VvutgYvsjdWTAMqDrBVn23sbytcjLdpQiL6PSFIMneZ8kHWqeBg/01gmuMXRryU7ng7aSzLvNobeuoPPkDyA60ZVQdTPQo9ODafbfH4lj/HHHSkKuolbwgzWkt9lvIKOjpqNqVcBtGMt6kG1V39MASWvDp5I73T+ycLLZeOtgZHCTEqsqXurn1EwNRXZf+8mynNoQBZdLFjxZm7m8+FPj8vwBWrJoNeYBaSiacFj7DvpdEbMXE0KJ+y3LHmRTI6MoqCl1Xa1g7Yj3nE2jkXTdY+wWdF2wyxbhGWSpqRiEhkJLoazxBlBiORO/uGa+i12UoFeiTuFG/CY6hvkp0fNbnscA62W3W1QXVogpqG2DVR374b/Swf2qW1Qk7CHOv7VzKvkfSbCV19h6O7pQU9SBDIbx3omG4lV9z9YTppB62EYZbbzHjGFRmSWDwggScSpYexa7ioaOud3s+xbfveyZtmgayOaiJ4ZTbauE7WgeHMJpGEFNMAaistmIa3hDrKYBU8txHHvOOEwJrpkoUAHVr1SNk+lo17CkkbB1GxoD7xCMUq70OwxeuhxWn1IZZqbbciwkU5M4lb8tfn2EaDvXYKkvVF4Xw2h51adLyRN1qAEUxsi8k7hoIfbYYRRAvsoxKkGzoFfQzpraLY1iqaGTZKJt+mnxIzxYjNPcv7sVfRjOkkXm+DjIlN2BPJxRyO8FFE5votfGwPWyDVCgPDZaQjApTakOVdt1zHDtm1JZwQKryp1a4ox6FbMUkBCIkk7l/Wq1uz4nus6Y6Xi+5CVCBEluQZHq80YxzY4a2IVrTIPCokFp0QzO9cgqp6Rz+WqCdumfq2yXGiUOFuTeo78wyCzN4SgawipPmgV+Na8GK5i5FBMbeP/Po1H6T2eb76Q5N5idDWqJUH9fJJJ2CrpqdD5qQZZnQZcl8W6G/TiwkpLr7SkxhIRI9ed451LWfNGXvn7ECIsKJkjCG2DaQy0CrfCnrxJWWJt2S6EuifX1XVUCW8EPWzWbqQ9GvqPs5l4czP+Vt4sbgwFn8gAy+qFG7mMG+SzfO+MNZHZJSNxjrJAXA+DnqUepQR3en/H4wGnhkBpH2yyigujHfNv9dX/hIobH6mtSoxBDlYsT/F7AN9KtWRpQqzhMGaivsoTNNHCGdqJAiD+bJDXOztlcV1FYhyAMaoxomPyifCPeZBekcst8x1F2QNXMWPW0jV3ZIybys5dsV47E+qySLrJBiaSysgdL+T+HBqotu7Y0NS0wQ/GOBc4MMW/vkBLUB3T/RqDQEBYrIhfrnjIMSlH4vAtgoQHr3ZaPVNy8Xr/odoa2dBPWQ0L2A6jLtLJnmV1xIotEoJ3IrxQwYl81UEGvoOqX1wWx7NJV4E3ObCDOqoIHxVlR6lr5ZdK+VRDA8HIyZUZIW7+C6AuQFVr3q0S0BegkV2Kb+EzTzz/vo96Hv/CTnoxGxnXI2C2aBdLz3+HpsRQX+OXhHf0V0yK5XQHEnfvzbLvRX4u9I7u6TyJPeZi5anqtQqVscnnCfuCanIWcWYAZySTEFDm30BstRbpTaclMVz+I2cbAPvBBYX5EcOuSOlW2q9vB92u/X5PeczBlH8sdrKQrydMIyjkG1TRibCqNJsipvZa6g9n//N2fwNZ+3iIGC8vMEtdTYPvRLhCpGWmuysbiCgkPfZXEPAclyUc7xem3p0VopIlufKCIHmnMz+ntR/EeCWBvs6JQBY3eKToFLhYRoB4+b3FX5LukJGwmrF7O6BSm9rNj0E0p3/UPXof44od9gQOx1iAl1bT1iqmMKVIIsBtbYiEWKsrxLMpFXCvQByzHSgD9zn0EqoBhmMS00h0oHD3v2pHs8pIM3dB2DhhekVUEQOa4oDgrELxbxvflxVm4E3VtUbH55FvmI1RV93EuCksmIozfGwu+5LhDIT64JLiqqbpMdSj5xan9qNQkHYLEvWhgmB+nIrC04gETbuTZn9l8V4tMsX8W43mefxITaJAiaOAmDB/oS/vrCI4vE2IfmkQB2BttN83TiwCqCmCtXdx+Ut8KAJr84sVmbE60ZnGvpnOQfEyBq8Ih9vonaNRFeVgrsAvnmA+CLKWJ6mTFyHDey+iFD4mjVRQ8f+DfUTd+cw3IglBrthWi6ZcOQPfJU53JELBWaAp0XZROgjzTvtRxoOre0PvTgpPkI0kvSVCghhoGKPqrkA5RDd0UR8auk08MQ/rh6R9smZ6A9q1+AWMqVjSUtFkFiEIdMI3mXpELUWWuTT11yI+sleIshxIjld22GR0NGiW390IvCzUPiUimayKnFJx3nG6Ja4Ch3XupLpizsYUfSYUWRrVCefFohv56KGGUCPcZkfIsaZTFkoo7BqqgO/w0939q0hkIbmb8xAFjIN6XAbC/WEPzvaBlKmiRzVyCZwTPN8hwqqwuNXNuAstqktN/ovT2J2qgMCJqdayB4pBeozO1yppquAFUQTACwcljcwoZUQum02KicVmN8UmG1ZowifOQmS7Z7RiY1HuxlHMCIUiuDSsoKp7GXCa/RdLhqpam0M0eyVy96UW56YdYEH/mLWWR/v4F39/x+gFI6CnYvdNAAX3K5rAqL1Rwb+8jFKsiFTUmN7ggrCSIAFERCLXeIfqJCUfxNHaV0qS8GKG4B6DcOSZObktpUFFu6j3xCi1YKKtv6NCchPPKXFpwJIrtrN+yRURnjhSs+cQ0SFL+2xPXuVj/VhLD4HPYUPOaLSHN4cjL0Qji/8NAR+BuBmdHfPsQsppew8f/gMyPVZfQ1NdeIIMgT7zePI/lH4c1MKJd29wp4dxbALvKq8oiGFa67H2Sg+Y9x+ouZFPrzYEzg/GF3ynf06ZleTsoGxzR0/Amgny7WEjTg2KqmePq+IlBG6+rW4GICNLIMCw5HGf2TPT8Q83DYs2BxnU5IUqsEL9ydgj9UIXemqAxaE4TVWwomYYbHR7d+tb5OjyP0TtHeoSxodWj2S7BoCQ4Y/HdrivSJfz6TgDadAlgfBON1TFJtexaVM8AJ0lb2MEFVKkgoR0x+FTomcAts6enEei1hW6nveffM7A9vrYHFE9iHkz+vkVkkJg8cu4KuW8v2DVVEpTlnA25bha2ueZ98CugisMsohI/V9naNTB/SFgVSK7cR4c1d2V+78Tc+tbRjHCTtEe0BtaFIyTBq8Ouiuio0WfGyNg51w2bDNms1K9RWZwK8nfALVItXhVGcBuB6jNtsbGbPIfy2eae9zNu+GHMhmVVdiQJtvzFn8jc0BlP+XGipAAsRqpKb9o5OKMWBSYfUDA3+8oavXK1yBfrC0+sZDdnPYBEkWfPVfaA3Kd2ehh6ehODszGwWhcjR04bBx/Rv/nFQhqj4JU0un46xsek5TyDqiZJ122Y0zELYKu1VS1IR+iHe0hg/uvxSehftg4hrVNR/ge+U1b7moQlD/EUgL7HUBYMWzUqeg7XeNzgzGlRsOzdOlyMOG427OSfugkyGXvmJyAR+bb4ZG7/5qn0vedzyAZHKH02xZgwewJd3/WTeEbhSfR35dzBtK6ZVWywKlOzexzU3kShAQzX0wlLYXVAEW/bjzfasa4FgPRxSoTbVou57MuLnnTFIgyhbHFzzlO4hSWPYnPE1b+ohLZOID4jIeyd+zlfSP7Z69nR+2uri2OEk3xzmxl1pGPQsilgiKe9u7//G3AkH2LeRbo/F4Zi2Hzhefl+ro/G6JEw6en5fUeA/hl1WDMzlsOOuzsDUmVOkgURcccL/BSAWyl+XeyQTINVidqqpMuriBdS9tJmxHbrFz030I61PkSkv87gNQWWE8ZYsS/JkQS3GuuL0vygbgU7OYWxVe/7GxJnorIZ/sO/0h3WvCSG9h4e7N8shdia0WNG92uk/AXOCZVWtVq51bnr+mT+joQ2GX+UV4V2hWX3LJRuL76W//ysv03GVamTUzCYqAPaSrY1NJFB1Bz17w0u+Cd9yFkNoiMA/GReParWjN00EUBvhMeiaadz7K77djoEErzROkJNryU1FGSkBFOxqwpOWzaBHWN5jIaG8E2e1VOJwxECGqD0wuXzS3PWCL8HiAj+B/JyafXfCk+pvinF5xGGYLhtd9vmpKBqtK0WhXR7jzjPmp7UOVOVhuvLGXTyTIYPGtuMeoBUYoT3SdNqQXaP2I/WUDnODzx+fcNAHD5eTgQGXp0DEYFBTyrfgsU2InVQpCfo6MNJDg+E80qtk4uNhDTkTlmHKMRlmMaDHJQgwRaQPwp9zsXnBCfB0iXcifBtQGvIgHVFFGUvpq3Y4hLsCMl6xK1VhK/F/ldUwHSY5roLT+rZaq+FRodlRlJUe23vfSViQ8O8RljVmmtfg5gxnNqGayotLe5mFQuTGIO/tGm8g0hZoIjSBcTLv72keMLjjWkWjJij+OOxEG00S3nGceqdk2ORbnNRLvx7TFj//eoUipVviFsHhdT3jexpv5/sfLuioM61l7+DmxEYn82I+EEwGxlHEnNoMS1BPBPdzZh6jTDIyl9X4O2hm2C8hFTD6o3mo4oMY8/SsUVOa2xCz9ZYFB8vJ2mp5tZUAb+i1qfVKPiS6oUCbF3lUdDkZxfn/0SrZGGDnugT1Jhlf0Fco7HQ8MHog54yNOj8TQsBC0NmUsKOYkJ/Tq27BwRZL1Wr+8jwBMYqNMCLWmn7jI0FPOjOSoJpqFjcZ+MeqVfsyV6ZgfJRIoue3krAPMTgQztdUi4JrKXxTUkpiE808BumHE9LxvGI7xcWKwHFs5b1NTnUcyNufxp++vvF3QvWk123tINYXvSoG6HtdO7ISu2I7X+7TCLyTjKk/pdgKyIIgmUrZQI75RWxvnp6en6gbYMRi49OQb6kqzgbxGQWWNpHOrdHZEsc9/aEXTW1p4pHW4PXmx6STZ9KBsHWeBClR/MMWLNc8xJEJAAm0pn/BHpAPuSWT6JXJ113aqV4VsF1ZicbAB1cMrQzBELV2tnA0o7/fyTCWcKGXqYJGT6JWdEg3B+8EEf1NESX49+79JxjkCuVGcSynXIIDrM3YujPHbIEdHvs+1vAhEFKuCIDrn0+61BB+f+h29w037tmTVpwv5Fh8TA1gJaiCNRwBCeBx1Vh1oI8vcpChTNbbVSyd+Qlj4UssHdWaAjIfDHQ0ETXjBOoPbu9QHTgcGKC8CAW/wBHdKTxLGHsPVZL5kL0uY2nx5/7Z7L24La+YKHXA/DcdcDgQ5n0Ct0EVDf86Tcg9ICwBHTJ+5zqExZcJSmdeDN0ZiGQ8QGCE0gXBLeHlKdl49ULRvqUF0FhbJGSON5GfV675FnmBEHvw/gu+XO7L+pn7P7f6gmEMV5pEfBOGkieM/xf2DmM8dWHJemtfJ040l7+Eogg+R1XEefLtGmcQse/WfHMsUcwpmqjmX8dL/aqBZPjVqDjNbjL3hTfKiN7nTT5K+WW8MjL3kvpCzBvEtF7NpP6ohgmwUxM/S+FIJpWSzq1wRDklFTjBsE113to6Q4SBOOm741O8lSlheIBfM3zILco28kaj8rLfK4B0M5vUB8MRr4fpIgcvQ1OUR7D81+4bOtl8r9lKwCIVbJHggNPR9jVnKhcluok0svku38osfWWdy5Qlzsghgha3PrcuRmo6+I9vm18Splio5hhNCyN7ZwbuQouEM1kfd6yx5gtiDrlAWDYNSd9IPvphF9Uk5IHGDOsyHWUeu/Dl3S2494JHnKOXw4TpNbv4g+oUowhlsTGY+Eg5QdQF6N0+kHNeqMoJF6Isu3kCHyvgPyYN4OKra65TCjo5dS0fColI2AnrbVfCp1g6kIMSTiWMYuik1hL9h3fMCekiAx1bgR0TbKfFRNiRwt8NAU19/aSTLhPLhmKty9I/YYL+3CAZJi0wNsjUukqD3NwCZGtbzel+dCQrFxSO8dA/Q7WPAhvml5OoVCFuXiwRnVgTpWvsOjgtNVD6EiENlDqCavvzWODBmNcp8/9ZwqhG0oUSA5Ta59qUNPrEq+LN2NybXPMZZ4JOS2Ihbokow0unP2izhIY2MqxhEYFCNovbsbE+LsB1r7sYpewWe1tsZli6hfL/7RWgemVOcjDAVi8Hk4InrOsT1oaUsMX6sGxjYhqplJg1y2NU7LMpzbQQSoSXg5POy1SmHjjSekPOQ8ud3s6+0rdOwAp3qwWTm3dwQQvGobhDkx3hNODKUnfXfF0hEkrBignjIbGkjm8UJrHIBaYCHQ6+cUX9xAqb4lUELChNEgr+2PD1SYJG+f+ghkY6IQQIYlNo/TvfVqPjv3qtLc4buAWGKSI5Ez4XqdnqMWYKb8jA3lr7RUnYZXX9OYm1WHhv7+M9B5IqSFf7xdH2yfjj5ZneHodPeww36aA8kupTx/BbE3gaC/ZZ8gUC/ylTB0vqGdwp3ZcTLQr583WnGO1/7IRh4FGkiAKwlWMY1AQ7WVSWmhtCl4bh3AelSxdiViASSOwYtLRi0blWl1bJPshw4nBMBs2LQf3+LPr7MPlHM9EHDzkpa2errYDlPTk6i1wS727KJxNGkdEQA4pAHVfqXAxaVguKPkjVhoLXjm5vBnEDY5rsAqt7veIu0/dAvNj7BXqTjXB6GdClkNGbUv7+9tVkPSScmQ0p2BY/ZQ7IljTHrk1yMAorCD+neaHNRDm4WdMKeeJcyRDIVMimhKpgUKLlCNDmy3uayDBJlr5NVFuMtuRl0xiqxOSaK0X9Mz5ufs4FXtt6g0ZvjUdUDsvKbCCaukmfqff9232sVCUoTdKQWTlusq8nvvE2Hj+nGzHEUPPp/f9pl5MUwI0ijWBjgAcZ7TyFsC0kugKON0tSoa+nF7OlRPKWbR25A8XeEfjeTclc4amcLweH/8qn5ghAeuM7LLj0aR+g7ekUTOjWWzgLOmJq7LofRLF5O54WxWg+C7qTgTicrjfmQ7r8zmFUf1+jY+xlgpTLxfnz3Vwa0YGjD6Q69rpjWdmJUaIuwYpX9OOa8V+fEQixGjIBlP/80zfxD9NOE18UkXAZMZsSr+zK5IhlSTApATb82SYF5U8dbDi20+ssbXO14dCxQU53rYXUr3k05mYybzwEsCw4usfGOjYKpN86YGKWW+L6ztjtuLG3kq94b9Qe0YCMxkqmmXNZXoQ9I5SO2AIL8ognAMrgzkBPRHqiWhbt2h7i3gOZIZTVPtU1Coz1TiIwqctATBfDGDLiaWkDNNYeI8tmGx0Zb+x3t/pUC1Qi8laBNulqLr7wY+DcFDEeub43UyxvcycOP/VjztT6DdTcAP1RaXGpR8JrTYkhr75/FtBb/PdJW/64z1NgZY+qKnR3XD4SyzW7ZTreyuofCwa6wNnEG5tzq1aiZVPl6QAHJ0JiGSqxtfuAZrdGwB3hYzXT87LK1TxQpmMGXuSLlSQwl/XqgvBUqaFDXqZjF2BCDxLbOUWtRBUOQX+JKZz5isjVtF4UPfioudyAIWi944S0cHeKv+tgU9qdUBwZD6f2gNC3jQA5u2nVOyOwqf4b010pKfNKFBFEL7UmvgQdlvOffm8H9kP8rlKZ6sqlty07vM7BpI6TUTFx+GTGzRn+/N1LiLeXHXAN14gaHiR1xBUQ8pjr7azV3rj0/W4fi5mzXeaRfliEQe8yFDYUgkAkmYow4zTifR6EonFYuvcG97TkEv7ZxUYUtZjrLIovg8NZQXJuuCljIX4Pt9ZDOIrJ0RRrxdMtXM54Fk6+UaAnmlLVeFGg/neJeaulvq+CEx79pf3Nm4FrqGp/xvJfLHP7XI5RT1OLEFVdF6D1qr5TfEOqVXq6Bkr1B+eveFIhizMSUdzKX0npS+Q1+cO13Ub3blGLbFyE9LEkYst1ygroIjkRbhNoujCkvQykR57g5+3W/zwFxlHRtZpPJcqpDLAHJ5MeZQ/N1Ae4FIzSGjGxHFNGtA8CF0O5ARKUb60b9S3OBvGMQUsECBOXEnDetv8DSIEw9ePywKE7WYy76jB6abMtLIl3YsswxsUYCAAFUi5SUEQ2HP+TU2ZmjLxhIX095eTlwwvLcL7rz8r7fSVOp+RfMcxeo9dDJ2uy/K9RN/0S+r9kQNdXycIGr3C+L3wv5h+5hx+j9CcsThMJ0S3z1weewhO1WHp2tF4uiivFSh7FKvUJlEsqkMNtB12s7t/bPZtBtmbcNU+F3WQ0qyJEA4G48K/DjfLsoZ3fFyevSMvjW6BX0eKWvdLUo8FHWLeHIkGPCIvxt8TvBE7HDlDSr9Ugai3+EfqDXQflTs6c+DpDpKukZH52U3IufqgERUJx0Max53olHY+GJm+03imMpu/XtI6O3SE/qlWEMztIpBYuVYTN1Yb+c6mKgt15IS+G/SRQzNSuzzqaqPQjJypAFdgW5asvQAlsEeRzzx4ELc1egUwql3suwS65gbFUax3ku6kkg3IOeFVs4MqqhZFnpGZ3obhuz1s+ziXT3SMrs9Jhy69bRl0I+gJf86cZPvbXUmQw0CnU2GBYXtDAOmri6c8pkxAAW95BP3pmgxNHBKdSCg4noVhCDKIGveVKOENHOlumYYDk/RlFoRy6bbFkDhpaQOY3+8iJ7dbxd9sebmn72Rwdpd78fB4mHd2Vr9klh6VnFJuJok15H9yFLkOhHCdkgQotVhDuiuljJALIUUmprcYEmW2VoPEKMWrUhbO2riGk75a273+1YVRJ2exWCIYaMsU9BveFW8z5pOKyO4AUlBkAFv/TxX0fBAGhtr1Cf++gKPD2QIor4fi7Daliuz5H8JENCOnmzfI4NLuNw5/YziZ5ehp9tcHLEx2D/gEqyPHuSc9vsssU9T3nrHsPwa1U3oepIYhZU/rpAFg3/DCaoTH4wZ6LwRZbEhT+4XfZKKE+cSCqPd/Fe7c51olOXb2RL/8sCZ4Rl8ROuEW3iYnAvfk2O5svJv1tjKYJufei45v32xNL9BEyXFgPFEMS4dW0oX62mxkaZYlMzcLCmkBumYaRG1edy+AwPe4nI2jrhRPMhQpQ48FF291IrnkY6Hc/lKHvjMW9M9O4AlfwNeWJ0bjX2s6jJY7mrWPwMSIqK63YAQPoc4bpzBZ4s9QhhIEKDjy8Ft7T/dT4SzeBtQrdSyvooX4XhCCQbmCFtXRuYgrKeDPm8OJhOmiyFtmyyAVmd5r+SfNAyTHqk2mFZJ5z4vlRKug8w5BPIREMsNv8kMoeNjCdLi1W4U6FfrZm8d6OWXggyuwAASl44F4f8piTqkIFQL8SdLxJ+LxUohQqPsSffkr+VlKUCi933pURSNqJ4PDqrhXIQZ7jhH2nZgDrDZiuGXcksBK9wDQVZ7PGuJvBPG1AIxEoZvg4dDGufP3ESowoxFCWUB9wFWKwohxyRcdzdHcO0gpPIkv8pfDSRM9ijaDobm08tKw6aBxQWT8DxEDPcgNw9F6H8cIm1RkHZ+ESfbVihj8G99P5W5/GhCOOJF922GoAdRGVlW2/y+83UZ4YLvvyUBc2LDAOmB8ZiMrmsrthPLSnOPQvu8kwyuGeNmA7dWM3Igg34nVQJuKpJuswxhtbv6tszu/cEpONoh6SI/MMSxOLryz86t3XOlFxFpc7kJNJIGg0zz8InCAdRcQEd7fZuQnPohlGcw3MGLaKsmntpc2r8MZtwrauKN1b+cSaSiSi2OO63ctIJe+ug9mh51B0Ky/TRu0aOa6qCkRIIrCfMxXS7hr2QiCeaQjjMcDwUQESUTDHw+mzLGCyXicuLnypRLTuRJn8eyNlLEoAR3aJFmpwJ5xEKk4ptfk/3HUQzihKCrAjJRsm1Z3l2m+hjS9vYGxLzyzQebCcFxZGuko4IJbwcThX5yRupt+5FE2VY9nZJd/3khMh0Y31/R52s2qRlwrBHcy7TYTr+Z5nS5HA7YxAgq+k064Mcnt8i3VujVsr2/1Wn40zJt46a5dSqDYY5CYslqDjL9um1IboF7S4s6jtk8yjOiOQQUzrD5fh8bsBRM4roCrrDMJ6tDzkEl416SgBV4dpu4Li0Ql6ozNFJWivbT2Fa7198aFoeY6OZEteXtTZo72xBnegatM1OBaehS3nmON0kdahBInR/qn4j3QTyR51inqH9MPjzGx2GLPyR58uXdBiinTce0H8YwTDC790y/AgGl+QAcf12usviZX04+8bjqFx7tGL1WL9ovqY4tN9Y/GLq6jLqkOajvoVws0/abLCbiq4lbfpWPhK7hY/4Wwm4imjRoMZ8hjjrV0LLNtdek85gmok2hsYyK/hwdk5xuuOVFF88COqQAptOPzaKspwcY3iYMLhKCYIDHMPDAZ1Mop7kk5WctKNPVivczU/5aKVRdVQFYl+rvYRVOjF2ThosS07PPLovdvlyyffulW6mseAbj/iyks/+4DfmIvRGTzOAHpjpSh0Q/YBuVXpKhuLZKgMxvmUdI/tf+sLHl/f793YvcPgKiwGIZQDKwW2jQaZUeEMkv7qG4mgD20DDCqaKlHEaC4fduIM48LSkG9ePjFESLPlh0UxXyqFXDSkN4g8C2EDi4Jhyfv0OxmuLknv2HkkovgGBJow4N1kSx9+eQeeMebAT/nF1Aed88btWXPyjB1vSN1vwNxuiAQF1hU0mictYXm1pYy2RVurG96OFpGUp1MU8tiLMBgfM+iKdaIu8VoMoszIvcYDANvWmoWuNiImU5xgZrqf3g4SKvr0DsgcxUBD6isScBpWEMFMsoij7vddtnMHJeD7df/6vLvUG2arUcy1pYpBZo7t7LY3xE5j/2RwgmKLnUQCdsrohaSWoqxcSq8jTbOFURgRE3hLS+lHJEPN4e1uvosRCgl9Fh/PTfqMpcyBRAPjBUEgluGcRA7csfPGkFHtwemItV2EiYUZG2GqyOeMMus+YKw51aPb5d4aL4oXkx7YU4hTlbmID1HB1k9BYp9UwcAdckoC+YEeBLBNhlku/mL8O4kSGj3iEeAXYRrypIEgyhE/p/o/bZTYuc/OVNSjDwyHVVWOJwbLr58eHRDI4m5HwHx8qmMc6pi7WzFRBc/ojh4y5nk17d+4f9263/R6ff8P/G0VQYsugntjslqImHKgPevPB1T7XzlSpHLpZP371e4WYBazV2TNoiwUTh2TgkYxFtk1LSMyWXWHLgk3POnYDkPjA/TJv1Pyk5MtnPmYo6EljRlBvvVopOqnz4c/6HgS1JtxNAvu9dFES2WKSvYFLQOtAAdBmfEtlz767/vUKKE7UoUnVf9dxo9+rFLd8p5i+OLOS2X05rFRN8LQSOU4oTCp58IkiMG8yuW3klv6G0c9Yvw4jMIxjjfPQNaBKhw+SnJH6YvrY6u1cvs8PhNfGG1jp6+pN+HbW8xA0ABSkmvMiPQ/mEcjdRYa/xOFRBSqSJjgrNVoWkZLHE5lQM6unyF0Hh5GXbMpNZVxMdg5p1y8lm0SehEKktOutH6VipWI1UF+6gr4Y/WUdTUbkn1HKLfoZVVtyW94JZMT52quTJE5OiDaoDdI+vaS8urHA7W8ZivwZwaK5Xcpop3DAkPpaKoER/2ddks2/3aDglJHT/BZt7Zt68pto/xpPNu7fUWkZUmYS1nAM51k2pziqnihuvAH87ElQ4xhmiv54tLGOVISLjh9QgEY1H897L2rKzAwJniK2x8oQHZJFdsHlw6EYjFJatzB1uoRNiFz+J//o0g3z5LB0Wo1vRSYiH0y7XvVgqvekl8x6jWob+qFhucW2mWSTsWh0REDv/8jXUREgXoySs7JC3ru1ZZYnIFQlucIZASAtywHtjUDRRWW8ddjrVQQnsktLQoIiKVCcUz3t4PVbzv+lRsewczV1IekeD5AFPYhA+YjFUMiKOgByn4dv9c7Y8tMm75EU6qdvqG8lOpvGrkDnWFcWnmMElwEwVcnQlzNTC8dgp4yln0982pXbRvr3FoQuk5cy1/BipkQ7lzkN6ptiphHX20c70csZDaWF2YUJufKA3RF1Oa1U8a2vMtazQYmC6a03/2/37ymHRhBjyPyNCauCaBN7xJnUMz5ACFkufmat/05Q3KeIyuPApCeaSFhFIY4MOmmlZECel9JSpMWPShxmJiiUdXOUWbdIvzkpld3/Y1PucZq1yjcnzvyP6nBUpDlhJWZPvwB5ZCDJxfMN8A+ipmDBq//pnLDiVPdZLE5eeesFeFmmaMgHai+kjwHYJLDXGKTLxZzgoC74NgGLrMcL6+OKAeO1gmfJUkqg1f5wkr1Roq7VeQx47U2gLyI8FFq26bYQK0W5HkFXktsJZLn4e0oFd7LGKoY/xqT1wHsSUpMWNVGvVVA7lTgRVWsgdPACP6Ta/bWeIqVO78w9WEo1ertXM1kPvx38cIfjlX7YkP8NzSocqA4gNHn5Z8dJ8D7L5ymXhaJXdlkfTfPdgNcFz4XUBVVeqXGPwd6/qD2VJ9s8eX/dyYBAx8mmWpv1L7ca8OT5+xh+qV6XlWSB8yv2oFDv/LvW4wHJBkr7edTbXlOQvin8/VWQ2q6IKbMKuFBMd8pctYtnJ/qG8c7kWLE4IW3B7n9p7vzPdaBM7gydqqeX3UKwiRyq9KKHWwe/BasB9wOrnThBFNSVx7HAv8JpRMtWAj/RMPytNQZAoDs+yRFh2K9h3KOi+aks68jjCsL8FsIvoXEMggwHM4QCsSfRNRKqE42bQdbfYoQdbJTvhBigA3mb4M9dKwb9Ap3t9w6xMEnVfZSM064ejgkq6lDaycKJzmrm9Zx8tfh264jreQ58EhbyLSyz2vGMUXdr5suqnmJ5jiN4ZNvc/qLzZO183GQyKAfnRRLcTBzhkhp0kacwR+Hvqa42N3tjphzkLSxjMaEn032PJv2rUBpfm6xh4Fwug0yoYeffCSXFrDXQIhoTkPKXasvL91KxuLy8hmVgd6wSz2Y/i9SZOw7ml3jQs6VBdU97q5SECcGZEeN+A0txghXIF0384eDeQvENR1yJT3a7Q20UPFyK7Q7A1nJ8ZyzoVDHQXPUni8NhEJ6sNu7TOS2qQIB0AREpIc9/7Gs+u5JUPZrIFJWgFQgZwruYJmjYvON0SN6jyexWkyNODH55XDzHf0eeTFvHjEq23ix7/Kwaj2GHN0yr2ZKC+4mP5IvG27UP7BmuDvc35j+wC3BVZqZYMTL/sFfJBVqcRaCLSvAJnDD3LZ/A0PBsr9miT//tiNtgPmtgXjNu+ej51DCQiBQQka4YUbAdUjN4t8sXehUBp1jxX2GGYZL2gZuyxUCy8USkVcSUYLW12FbNo7ldIhixEPrKbDvlTDXbsyGjXGHkCkurv8fSxLfvZPovRMSMtEpP1Nezf6K8lCX30mYzY6OR3y73SxSXPYS5Nl9COl/FbD8c1L95nI0rAfGn0QKm2zPAERwDZRk8V81SAosliQtjsIjEEF1Tcrb0Uau8pCVfUj1pIxLiW4jZHW51LRUUuI25jh7T3PeW8xARckbZmi9yBmb3hyr5HC9hmZnmO3S/1Km43MK31XfQpABOSM4Dvtb4+NWEvqu8t64ekjPilUw3LuR7s81eTTAMtTPa1Sxi9Pu08zLOaxjYKTty982gYObIccac8qiYYOFXrfCiRj15Y7KLkHChKgG9pTcT683Q0FaBcg9bkFByYaCsZtU35E65gCWJr2Emx2FLmsaghskzP4eX90jVwSvHwKujPv75uxTECzBqM4S3+qAITAd4IjOau2+BqSOHImO/ggTgyUElh4CwA7g+c8N6q4F4pMobSHFo82d46yCewRzUhk27CG1O30m0QDJwP5h6OxGZjOiCEx9Kj+j45EoknF1E0WvJYoaaB31Ye8Ix47CcSs1iA0D6/Tbs7U7Omu/5FjPKljULjn3bPdQcaC5HnCgc4JUhrCaMZ0XWnkY/Iuzut/pKch8PE1vTCH5aGFQndIUncMKDj0EJarvaPrwtJAf3iFNIm8qZ6aG7mawI8hQgnvmCNDg4YxshWkUQnw25SYfcQ2WPSq1uTQrei97aFEf6KCpwl8V3LFrVInHUsVi7dgso74JgGy2p2UMQ89tJqGBdxQ7QjOFvsAs7k7wMjPQYgcdk+jsqdqlLXc4zU/vmecWBqpA6ZuQDTnj3Wp+3jpumpEksXGqBcRIPGfBYVTJnZmobiScJEzBzCsFEGBuVU3nVIariJxbgPxBFyssYyeOBV32RB3+S1Acp36MonuesYQcLYwxGi/Ie06gWaYMmFYKBynEDcNx92lSccqJ1KhRFt5g5LKeW0NQ8dFLdWZsOxIs6pwgfP3Z1oPj/RCzHrBjhxUcUZa5Eqi4MgxAx41armG7pNljByjRXt/Y2mQPxWs/r6pBTIMJsCOXXe36MfQA784n6+He0Px7oNic7VzeVDRIWPuH9g5stAZB6W8JQnql2qyOLAcq1qMXMopmt3b3LErvS/rpbM4tsTpjGliu+xLAqKpG/stGTSUpsfUHLeMNQVNyBjZ4yYQt6z0H7i9u3tcpUw8IfbZETcYjWPnCn7ER67UUB9yA72g7AolFQQAqFH676upQTRDOYFrFNRYDhXOF8CRSpD2eQlklOZEpQqKwG6PerDSXQfZKN8p4s7qv0O4Y0NIrBgtL+mkrPw0narrrF/h/nux5A07KfT+bpAs0RkgK5ii1JT3dPXNYo3qwmL9SMshcsBAdjt7QVhVMAx2DSwwgf88taAg9SXpWgpUUJEVAttSkXyTeoGOj6/KpxKJl3nx7Pul8f6pmQdSjBK5V3E51AEUlDMVMvTljJxaOTE5Pj+vwSPpgwEAL7YXPsS7QSzcA2CpK2Ea78muubxjED3D1v0hbeUWgYXchkTBp8y8d00X6xNPrI8qwh0K/0MXVeFVVIu5/+AZ5/G7BxY53DNjJsR4gaFXYnnkHBbC/eDqE2YPWNbvkr2FhS4bRXUKGjNx5OcQD0Re4XWDyeALufNzC5plNRURk2sOCFZvf7dYtUdCWZ0nryuPW9npuF9N+tlOyK5gP1WKommJ+HcG45aBYnt6pRNLdcD8RBXqlcVfE7lUufV8FxYqTTqtCXfIRiYPhIB9T897IdCyX0kHZmtajm4EXW03Dl749QtjJE5JTc+Z80Pvvx9FZXBLVhqsMkM0oF1f0ztcCwkLeSLeZ5UfzyuLebIjyc+BkegFZVbrtjzr4Lwx48igreGCA4pt6JVnul2ZUKDH5mW5YPnXABx8WZS6b5g/yRY6nyYFpOYhyJuBJBkGThejZPB7mSAGJewzzG1pa2FSLUtypOmFEayQhSmcsBAUrN0pBa5ywfNkpFN8KI/5ojsKhH0IdAuvvevlvmhTicK0iActwlYUS53onnbNIRGP9KaiLVK3YShfDSxkBtoo25oGCZ4VxzWWPQsNs2UfGy+zR4PmfFN3QldLEnC3CzfX1Z738EvEvKIPiLtK7Av6EkmrukDl9R65IyrT7Mux5w1yG1YN1AJ4Q553btN6qMA8zgrSTfsW4ShEz7LkH5FFcABTplTbsgx2ppDdgAriXBiORBBcaSJM1t6QJVFULmQmB64mwWTxUOXX6NOKywJFErn7VoecRIIKijzbuF86IEhMIiQRvK5cc3OY+auiuONpHc1QTiSaFR/7stTy5hU2h0bK7TAMt9Gd/jvZJRvywTgs7CI/M7SoGMmSiSTYA41nZha7cUvzg6h2peM3ciYLB0tlWbZDQa7fQFF5M3ZFan6kCesbSLd2Jbvm2pSZiMuxkTxLkPl5CG7P2kAJVWdlxbEjt0iLMaS4sbSgqQLocvjAqXvXtrRyqLY70li/ttD56LqSUkd0oAPX+ZHINswbyqf1ijBNlrTVv5mfNAZ/6quQidkJIR3eq3QIZJHKnL+2YAy3rNmimmzAFiTzqdOR6dKGNDMPxKyZxjTRoDUp00qlA7lxs9mja8lMLeWArbfJAl4NMXgnklc3p5ozEWrE1J/fga4OqcP8KUOLlIM79f9pZwZWTCoJvwYb+47lCEngwSNZGth23/NEXFi/AIAavYku1l53rPUKF6kqr7pUrKmyPEz9MG8P2/b0GyNrH4VUu4OGxnsCmD8tU+0gt9ARUFH1PCqgnUTO4xsNvXwgNMJhy+JpZ+MAEMk3zNy41sxp/dzr6oSuxnvMlD+XqIUzYOaZSXoGfwb3B4sRHdo0PoZDqV4C/q/lR4r5RDuloBPCjN/NY//fdhNU1vh5nzx5iuNBrbm1n8gKEKvtPx2pe0ThNWdPQ9lQrEMjL9cqIpC0ko+rt2L9n5I229OdAyt0UC7R4BvPbJpplVWL3qxRj+C8ARXWYHbkMM2wmFjB+xC8Yj/cxcnsFFfVbz1pIFttJpCU9dvYiaWPr3K0OgnsWO+30M+Jzsvn6LpGtZqIDLXH2f6BNaWhzAIdmw6B2OwhL49aXl8VkAyqOk4g07nqGgcPO4r8nfEpwnCPLroX9XouSmWdoKYAN3m3VaiHGmo9bI+m3CrrUzWxa36cymrnWrdq152VJVmyPvof7WZHBJ6DD6OjkHQj5l0CDd7wx9oCHGxn0t5MBend7Y18axm/KFajy/QX6gDckJVDgU+YT4NyjUrp2bhx1zojhkoZD1G6ny9wDYg0K34fspMPNNNmkoUWB8Kp2jSL9HijpYJGobs4/0O0SQixjKFq6vZHKqLG9xOgyfpPQ2KctiMW/ZFTMRPlpgQUSZp9q2F0exqeD1t81vT08hrQ5uNOExyMvZHRdPr55nJYyqt6KrNti5BTNotavmHHGVYbDOGHm8TECRdUIqjcbqvECivWRybxfMgjJ3w0fTAb8TVC0Sg66aRI50vU2tWE8S2hNd6YDLg0fWAIHliYKTi/gple7O5CLJKhk7rZaY9KpIX/AHL4T+ZPbfcAx8fMpxu4f12e7KEDbm7JZr5IShlUr/26EL3hQmT4ZkVbY9iZvZeAFjX3PQP9J3ZdXzn27qYONS70CGWaGht+lnACwfdvV06Py2qDXhlvTPBpdUg7WQEYQtO6H5HRDryLScRe35ycmbvZJRSbron0oKQlB/m5UIElFfqCcNs6vHqME3StbVJlYTWIZ0jFFTM9Wx3Mw3TIKLp7YfHIEguNIeBc8sIHaVj9P6ha5hOKtZdiclygFkF6UirkL7eeqqPmB1c7WZWdY1PcNvRlUsquviY+1SvUyc7qSVK6/EH0yd4+n5OID97Eq/Co51wlgxZkgGc4N49vHsgk7cokQmcqcbiGUhjchfna1cnhU8vvv+rTfyMhmas0syLwUQCpWVClF2S9LYlnU4oRhy5SQiQvVrmglXpN8eyAy4xdPyUL3HLF7XocUigcM4l6WV/HqHEb+1k98pBqQsYeGb3V6GRgPHVoJJtByoUr7FKjC2ddtVmxuJAc61RQMV+r365b+BBHFJcx9sZ5LuejZtBfNT7Icb0XD0jZkKKY2abteF2zDJ4p2Vc3XRpSGywd1IR4dalOGsSdv6Z8K+mRYHUlmAOH5PsW6eiW5HjLDaDxeny+iZQ56/LqdpYfFB2LkEv3yyE4lHvdVw0fAraV3gn6DbIY8wkQMonoM06B5pc74oiKWP+Cokk3UrUQw0cCW2d2pxjU79Kvbm/h292Nf8kFapvu+TLNlWVp2A7KWKj53JuUOXrd8gH7XyNQTyqaOKwniXivkpAWj1/e+W2OBaqeD8JzzHeDm4HPa+EVO+njt6nYdLPD6xioByomBrK+f7JvyAaRKTggZjirmwx++EOz9S7fbjThKV3MOCbr/EzXYqQqBy0mmIbZrIvZ5w40qGQRG3ph6UbYkWe2/WcQQwhTt3Ms5Ue3NbWW4l4fXnnase8jXPCuCKXwdaRFi4P0MTeEWcApVVAA4We5FuMoCr4R/h+9kKvi3xPyaKnstZC9BZgc79kIZ9Tm/HyLKknqQuD7dyDK70ySR441aNbmchNhxy2XyXInCFQwDKHjPfrDs/cVhD9doePd+q6/Dibv6+T1EtcIdFoVdyYjU3hFcG4BxXLGuAZUEReXt6w2/2zpkO1adlz5tKL5Y++Jv0SMh4pRobNUkCIcVZaWrt3NOXrydQBaGIVKZYH4I0F3WFjNr2yrUBMhKL849UpQ4E5zYq9t/1k+zTcRKg4RMNYs20/PvgaNGdJrD9BAwIA5lg8LbXKq9MVAXg7WWD8D13QIJHAcPaZwCQFFWevqv00kSbg1OxXPW1KW5PN1QI6nkKGO/frVMTwaKELLARjno/mobePL5Th/YBM9oQZ21FBtVinZfQUaeXVqPLkfiOSqN8EYurJz1RZsuFEpDPOzEhY7sl11sHaQcN4F45s3MrzxFc3nnCx5opA705engGl/sZlSHD3nxdh73olnZ+EBiHIsNGYc/5SvEzpic+J99F0jPG7/K+9OeSXf90lA7kxtLi8pDNcXpWpBMpQvyRG0Up3utXt9kg2yopd4tHe6IfM2TsxB0UYf1cYIaU7BQgG0nsvHWHT59njW8woe3K1wuebM8QGKCERfOGwML5XxNL9mLxF8sNLpWx8y58tAquwqrxvtu7AbFMRuq+NX0s925ZDDOpOsFuCcgypAD19HxlWMELxpNNAfW25ZyKP0CuEyinPa2pL7Lf8BBDBFivGUV1aXM18L3r9RqI9iMKr9+3G5sfKw5/CY5yCOfg4+pCONcLhqG/Qhw43Z7greTzYnR9V619GUy1DBWmgmMk/Vo+dA4Ao492pZVwKNcokiqbFrsytpdeEzVsMnQc6dzPivgMqyh4RDL3jze2eY6za5W9RnDAuj+4aC4wn/C7qEqbl6jk1HVAinkjY8yb2IXhmIRLq7HSDMr+mai+0yTdHu50HjGlU15HTLIONzuVVYLDpK9wuDGR95dTEELbsg20DvGvciMvQMyheTiDXpHENSxhyhoVQ6t14NH9U9IFZB3JNcSma3fZQ4mF7DEdW2kCGd2vzC8mhPbLikg+PZsK61nuaQjWn2fkE0UBOFVeZAqmc6HNsi1lnKDkKXu6C8wYCYQpBaypn94iBGIWETvDBsdj6CM4M8nJOv9cwHn0KL0SC/FkQI4AWYDMUhaQS5z53QCUjT07UQM4VFnE1JvWhgfl9gwUfek+BAE6WJMgEeq0yxMAeWZpjvrUH0FuZZgK5hpHjpgVqzvBev2NBYi5MhfA2/9goZImCFoJ2hrrhvf+WTZmjTf9l/uFdJhphLOR/sSRHckSjZZ1UaEF6fFJ/zl0/DlbVVidYHZ1KzXmfIsHXG86gKYFUnyHhLGQkH4vGVcm1Dm+ny4H3gSqWlEGAh2ytRBRp+5KC75ss4n00E7z0uyqkj2na7Mug/HqVpI8iOBVkgbezk6f13ZncsvFpKE7CK6qRv+DlF7aKySSL528PPIh7GETlhiZaU5l+SrUf3k8rbvvk27buzt06qGmB+idTsF8hWCIOYRnGEjSpCSUkZhJNYubNq7xJMDumWP/kryJ9quGOgTVIN0C9pt0aWGRMtJ+eevtx+Yv1K0Sxfl9F8IRYFwFg/MgiDBXtXvUEMP4v04wUhgbd8rgkekHZMPBbIBy3D1xrzpIN+wPmYzq6VvsTutojQ3e9FoFKhW6dNV4Oy+m5Wf1p2rSp62X6WpPiDod8+IymzGk4nBA2hTOd4Dnv1IAOwK81JxyjmI6Tujg7SAcM3jAZi/LtzPXXq/44BFTx79HljQvh/U0W4RYY7jO1hOKtZA2C2aimFQp4EpQzApmn6Dyp96WUXGEWLJQELdDPWJ9wX4DklNIfDN8CH87f9VcyvtclmbUt9TpqQ3mCafqzUMCr25PN0XYYGaqIaXuukZYByVMvXqzKXUvmtxSPmdTihA2fWNwYPfYUkI/YxjFZJ2ebkYuDwD7twVzIDw0eETHH1EN7XJChal7oy0QLtu5hJbtoUnnlKNMtxrHpJ9lesiAPZ/1dUz//QZL4IpFyiA+TleJMHQToS0W2+Mkhy3r5C7phP2D3J0KhMVfaSqeCcTwyTbu6nG5j+fzSMClI3vPy2NkkU5l2+ZDaoHREOV+iUm79a0Ndl9Wl/ijtXvVKXCeENnl5uLNBd0hVAZvDENJ3/jo9aLm7+ak8z3tWx5884wfOd7MVu2kpLmulBIAVYCbxnKq1bXr2Jx4ApDnsM1TeSPc+bCx4gzBsMhjOYaCaPtAns/CUXHlrVKwZcoYh5FFFrz2atSRggXSGvFK6kov3JO70hdlZwmiRwvj7Co/OsGVeWRcSOy+VU+r+GakLGjMifLRPlB4v+IkuPdXDFVs5Ewc7+3iC+XPqRmoDw5rzVoPHJdco43PUWBgwaKxJ1p9mLuEdqTJknWrfTIS5lCCV0n7kSCjj+HGeSq6fqhlpvjRKk+SDX5XADrQCaEFLP45rBKIOSmiJ7vVh/7dYsVGU/stXAIVLF/oDZL6CK3yHUzCnJAwyhAySoS5nGY3g8fCYYPaue8mfE2Y48Er5d/v7/K+chlpEKN1CWIx8PCcKFjqMzc3THf8sRqJ2wIG8vI/kJYfxevMoIIKqVRGdF5J4dg7AZ9DsjN9Av4USjaajPR4nFsfCZRE38pL1U1w3YpplswI4pSyxcoxp5yD6tia1EOEGlOMpoOnPO8iHVD6eehuTZBX2QO/j99JPufsnbO3olbPLaVBVzVlN0MTtDJg1YqWSHtn8rZWXZsEjEHMbe78Pe8ByaOjR0tQCfQNdJeyILtVzOwqS3qtNSNK0l4Vo1l5VNNVO5ZyiYqfDzebt84U2R2plhnPfP+mmB9Jgv5oba8nRtfdTiniufwzHmQYncHSWAfCFCx/tMWwOi+AEki6u4hGd/rkuITuYubG6+2gyRa2DyfEtB5nI4DvKFdAh/QwYqcAomia0JYOeM9gFUABQ/6ZLU0vqIjSQkR+OWQ655oJM2d1xFZQszykFInIfxWMYrlv7E0+x2KwzV1zqKgfW/ZoyR/C1DFlb/JDQ4EjDp2AYEremz0c5hhoKlS5uXt9OG7EYS5WXXSTYSQKeWZEmhZ5QaRJmaLU1GX/MTpR5h1Rerh2sePH74YnvD2LTh9qNzHjfVLDrHhGLDTfjDzWy3wv38Jyi6+n9keO+19yHXA98lf8RmkI8jZU0EmwUyNV2aKWWTiMDuwm8y+MyADDX+Bs3u6qNZ4D3eheZ3VLoUkJxghaRbrPXLnM0zx9SCMYXeFdVodtT5lKM4QWRJFOcc9LWoz/xLA4qp+t4mipdOGbvEJriTRS6mtROMFD9ExlwtXFdDWTTfovj4I8hdwNdb0f6p2oFw4dTZs4ko3OA6czKDlj1MzAzzSKEJlMMFj8oTkQkKz9Hb4TPdj4xZva6tmb7cTYaWi60eZxAx7kC6sD1UZCwC3KhXChvgRk+4cyb+D/ZZYBiCKwCs1+1c4fcVJoQM4Fxt/S1sSAun0OPCH1k5GY9RvlTUjPBf5jS7fMe/m90ZQYBjxWj8iaOHhWkpC2p+hRMclY6Zrvxl60IaNsk/3LXcpES/Vne7olSbVEQ/WT2ZErpOKYaUPjN5KtmB4gxMQbX0Fr2O+RgRNpgIGSHi4NK7EaDMn45RKS900+0rr1GD6+nQwT9KXNsh98piuGI5LwUAS+qTWkcfHIFQWSK2FJlzZ8Lk8baRxJgDMsPRMu0pxQC5butzaD9j0V58OZvpagjdCRsap3ChKcYotv2/AzQeVIK6IPJal/a6H5eFOmAteSPMBmtoV5s1N8aDm8VtnkXLmEePu5XAa1NcRI3/80g6TDxKb7mleQEOJrUGminoYWmHsPCLP09LjcyYXW8ypo8PM0zNl3ibwD/JtLRowmUMDcB/eCzbh1sN7J/MzAS11KTotSXTHJBz/F51LihUg3Qqgy45b9kjLRb93Y44/fsBogCKqGLOyI9Xj2FhmrwS5cWd510ZtRgKVwF5GBYzMX+KLxnOPLvaK9gYq/hGGZ0Ww9D7Iij7Bv8adwxzOpNm1g5L4RtUa22ChiqA2YJPFsXisYUSu/sF2C8rGkzM9XebSakSVG2AygdQ8BpUp+c3UDbEMY9qRjED/q3DeCdCQi+5H78lvnd9GevypNDfD7B7SfVpu0v+4kL/vDdXWp8D8tvA3pkNAodnG5Z+Pl/AkRjaf0p4Q8EskXw3kYJt5wIiQ2h/46nxIFdhT5tAVGlkeiseZ+SBTqAyNz1NEvqtHDLqUStd+MKsTvictgorQKD7JdwFXmMv3hSee9aOigEugCujSjB2PcOx3j3E3GSPD1EOa8Ax4Ork7FEDLAMvIMJVXsKlZspVyxFroq8qCq5Q4oARydAv/I+LF6C1sSE9hFnw9LCje537wCW/9PciQZzgGpj6EkO5qSSYiXOknEO4N3XxFe0MaoiIClT6hl8325xmZlNqsW6dt1eYt2UjxMovW22oQgNRifdYWSISUUgX+ghI83WmCvdNM9mZmeUIYEBeQIYipe6zwQ6O4jpgQ2wSpNJ2ga5zr4c66UgDleiHhddqNp0ovUomPauOi+jntgDowdzsKkkrk93XTPcqsEYK8r0fUdCkEIN/lHaoyVuZNdvlJB/Z8AzwcGZfuRG+lnUTxbFGB7sdkry1YepOWfQisnchwkg3+mnk8uAuT5L03zjiPs0LW8VwacFuL1lgwI+Um1UWNpcHi3IanhSkDp9Rp4Sz3F6g+VQA9GXwv66AIvFXOl0THJVHOFuKNQahIHpgfkg90wdEdxFC68DjNCCWvaowwRkFRmd4o2PfVMpjDAr6b5LZ4VWVgyHfmWy8AS1uUAnoPMds+qzZjFE1cVLSEqcPZvxxwR913zeYc2+wtFeHUiW4DeOkPkFlE2m5OXBXhzmofil7PycmO20ItlOLmM8fCA8F/vFkGcHbHoaDQlZyW+tC4BMoDzJ/B2LAdGYHsczeqR1av6E9acHk8cx0g2K2Q8NdGftgdDgI08h42hjCWcXpsEyZU52wkQXcdKCJ/RBHcKwJ+b1WWCTJF8x9GtucQ3w3hUc8FAh22PF5sUfpFANaQ4mkIOhGqZ4Fk0HgE8qVN+iiKt+akIw2tiIPgXwQhOTe574HX631Cm91EDUSoVqeEJ3JelJjVcbuOa59eLpr1Nsu7B0ViwZXw1qiElq/BHXifqGLlqhJwvdw10MvqjmyD93WQXVEYbIutMBLjh6cSnAu3URQZDVQNh6E4m6r8Qk/I3Mj2BdzFk/z0TC/05ltFPQWexLEnn5qsZcsSM+I/beIcTot+LiUzItDuOYS18wsRFaunjGqFfgtYswy0jqpu0TqVefkwXmyWCiDEvhPQTMAYcomNBdg0FovApJ9j1+8KHrZYwmvi2OQIplFcdSmH8r7Cp66yl9bG+aQtb76999x6vo06SJ8n1r/jrSim5+3fpoHnqp0P/fvdy9hPFSpWLMsRmjNEiWOJsl2b5b0LdwOM7qgHyqrM1BF/2pjhwtZTvba2+V5TNeSOTEY1qZOyTNlAsHPwaxst2R0Wmd2rJVSMCuGiphl7oZJYQjqy5mcRZ+DrgrAcixnkkYsGxnATaIpeLrCifiH0o2fJ7h+xhyhaY04+mjTDYvl+NGcpVX3tjnaPVYAFcK9nFaSGH95wBUntM+uHm05fbOP6MjwsyL8PbL/dn0yBEEz0NY/tcIoO/mV0b/N/HCY+xhCZrNoQzcdimEXvgF6OKYL6tZRBN6ack7HU2aLyZqqjYGSEUP4yZ+YoFwaTkE8LScx5ODqXXob4xEPy/gxJilLNuNfD09i8NVqL5SIypMLq3wjgg1u/GNznaA7Z9Ap80vpoVA5r1oR3xhDHLqoReBRgnuZVOhPDyHkVmnyLsNxGWoeqs7jG5VBI8ExgP3WXON60/goelf8rek/c8MYpzzoFN7WGRx5RCsBvkSVv5q11bq4GqsifNRVZGPMOUXnPwSoH60yo/jjg9A8oqQTGXIs9wv7Cq3hEG2iGUGJhedrNxLnp7Z73f9myEEUD8G91CwwJ/trpGPOzmWzLiNgW13i+l6GBA7fmJlZ/hFcdZA7k/JTpwIPiuWm/EzKwM7dAEQFiGKKwVisPXOf2fW7MVtzrmp+hvPlRzESplw/AKa13qCU286Nt7h7V4TBMG6j+DDBQMHMUFnZ2bP7eYchAeV4FCHnfFf3Mo1bgKflXN32IUusfJUP6vD45v9cQL3eQj4I5+J6KvZDKi8elUUyjrZOVHCD1cSqbYPo0rjT4J+2C2Qm9PM4M7f0sSDxybTrVSejLKgf7xrgpcO0tYoiO7X0GYa+kd9EWGqwndymoN1VxUwWwNHPrziELCBxFxNJXGMfknT6wasEndcVay7oFvqbVHYJoRvnavxCgyfs7HpN4k2uw0QEZ1SJoA27HFMUeF9KRvBMS+HYXxKOoAe/NzCbNAYhgknJzIlivA8rlRTxLNqi65R6mFf5vRbF6ce/O/7waR1SnDclmKPu2E8poLc1/yriL5BLHDGmA0Z4Og8irPgnvrCLrual9gYiVxbfvGKooYY6QE6n2JhcBortWkZB1YTJVnIsXeQiuebUYRCAnlq9q3GkTpGOrqLmTJ4b775G0JuPXZqM3Q+F65xqvCE3/DTfd3j2clbn4xoJsHz5+QZgRaV3c6B+PBI5Ag32abbNpQ8TxUzVjijkdP1/y4MpuWwJrWgcf7bWVk8Q1z8qM1UNFxAi5xABa+T+fedXuKM2eftKQjU4Vt0cQ1iraCFpkhTwUUc3SknC0R01f+EPnsR9ZGASJRiwEsEiCp19hsjRvATRmBYIz9g6d2bwrxn/rly+kS8rMxFNbORnhDUcWTTWp2vwuGOrmyg94P/nNpQGbktub89MgsvG2HzLwGAQyMwh35ooR8nTX3mQdF/cdJl3mcJJ4SF3kqMxz+GYdIuZ8Df2iwCIaPag7Lk5OVhoXszeQw9Uf5+c7KyDKpHHF8DCV22caNdcxliYhmCou1FXrNjiYf2kr9KAexmY+ZEBNGO310dJA2bxuIeaMHA1WCAOxcpTTDlUtkIcTqMNv9e6NmVYABgWCcQjcpMVNH9B/2ZCvx5v3nK/uVoJr7bBJixACk8iqhthKt7Lak2JgITku2Rc+O2YUWYPv6dvfNvP5pjGm9/AJOc3jGHjT2+g/9bSoHRfy+0jkeyQ6MsVByAQhdH2n4jXW1kyyEEkQHY20SI2xLnO2jbl1fhwixfqmVXVNr7H2booHHKU+9XSlPzzgAmgOvfmPbM5mqf+B47FXzc0iu3HxOH+5yB0i88fzZqj2cUz0LSvieqOzJaomkQBXxULtr6jIe890NzfIc8U9csYQpG8S7DYvgurTXXwyU8FzMZGO2ID8ykY/oIjAWrHT3NUaFYa1crU1RK/LPK18Qk5l8yxBM9TW+/HvKJBQHTBKFs2awA0MLGF9RRACQ7YJ8rUKpEqx10vDRlhGPhC2ylm/CrV9jWgTYS26Sc6pFurY72qzD935gE2TyP8IWOEjBFNrZt4oyrfXDsI5yeDdjORcGhdls/zP702QzP6I1RBYnzQLjuMEknxFvu3DbE96Q9W9jyHs4EPOKLp2T5fiek+h+xsCDWAMQDKhodglAmmKjQbYvBK/WckNrCqH+O2B/cH+wr0dxrGb+PsWcX9HNCE/4yrJ8LIMDkruOEsm2rlAc2fIWj1E+zZBi46xnfnRMs1inYuYNBGQgmJdv/AxMIng2JufvAKc4H6ixC6maYXPW1dfHmo27pa7nhocJ/Z5JcB0sTchyaTPLK++4iO9qaayNXx5CwHAHpDPklQtX5/CbKVuj5g8OZ5D0u2nxNXmhDpGzG/XdMUn3rIhk1FQvjg4WmvTIcg681Y4ln5cJ+V1E1UU0ABtqVU4Ykima3zjSI+ytUHb7JiOwzdoUwSjq2jsUlkcmd5V9XTpeHjJKSCHG8JbsmcGlEHN1NTcZnxvMG3Q6kYLPh/GWqHLWlwINuCB8BcJm2+NCw0vQBOFjja+MWbC4cCRHeBcao6M1DHj2dpI7mC4EkCClts25gL8ucp7mp6d+5sEmnf9VqsUgY3K2OeTJ8zaaZZW+Q37ZLdOMUs5Jv2+Zi9xm7KcaTyqMxSABDpClRfuZ1Kv4zu1T6Rdkv4T+pF57OJImCH30N3C1MTfvBDpeyvqeqXlwiz+64EwApGpL7tR7Gy0p8on0rYi9/Bi5NRBViry0oKR7u5hpvkP6KpIIVSNVUe1Q8me+wShe07MLhfbjZ6cjmTO1pxbWo5iQ4WdKFxeCMXWBJ5HayExbMv/21HXmFpNi7Ar2i1K1IrC2em/IPWmQrgiUJN74zcIQ9MTTRAoSs8yMuX9fjUgSpOA1oOx5uDCLe4QkwlnwD268dMx/UlSfSI7pE+5eqbjkEtBjlzjYKlD14iEJKQwonuqIzjfyXd+ukTqDeN86r3qcV3DMYFOFoneJf0aKrx/0DUH7/JHmghHZtjuG44Tm/cnVmTBt6GqTyiPihj8wlX7u0qfxmWnQD55ajzWdmHrtMNlz2d38pwDgPcl6pAgUx5BKsqckNUXzFijw9ASGYr9LFvz3l9ybf7N0sLSx6+dNDayk9zzIPRtgOe62cnsV3F67Yvi8cKvnhnANWmN0QPDtznQBU24MfM7Be9VpuqFuoYBPvwS619j3ICKsl1acC3GYKw4Lis1hQrxj5QeYwprnflJ+AlqSb0JFvNeUZXmCs17/RnS1AJYjWrkcBBrFNzTXSqhZe/1ftX+SB/Tiwprt1Nr4fnzlxskSMFgX50LdT2IXNq+mUkK7bn3+kOdB3lC6oAj8wK3qLjFeP7fdr7yvKjPdMK8upo7xZIlU+n5+7n92WiRuEFPOCN0h5km3j8zcu50qiw+idPeoGNaSzLBtZqqdkiNgerac73o1DWY50LvOfRqm7JAkeMAoaAW8HSfm6Ny+VDKGv/FFC+Yt+tOKPHkQzb3GWS7yjyqYQMrsRMkVk02FHSJScXfCw3osw45b0ublzy8M7oe2pOg6pVYGI4lYRfZwQcEfUa1mP4rUyCAM1HivI08Ne4VMz51cI+IdYlBDwrQH7ZjFdk3Ex8RW4H+TfytrrELAe3zsZkIfmHdYa8gGS5lxxkYUCxOKcVLL7K07gK5PGRxnSg6mppNkQKlrBABXngwrSWcIC+rwewzJ2aZ6DbAM/W9ZH8CeoQ6U4v5BZqsaSwKOG36MCWwwetA+m4q/paDVM/RHr/n/BSXy+ywKe9e2p+Ec65hnqX1iFPRL63NVGP/bTWu7Zvwv/u4ILyJyN+bE3tIWtHodXr4LGlYkcItPSQvAt419m7taSwjcHnB3edf46CW0c76SOOQxkma2UfE8VGxhbjm3i6CyMVHnPIyhVkSaE5wMrZdG8mmFHsjsPEv97EYVCYRWCmVwRNLkuTpAenNC4AmAr36+vaPt0oBPD/sUrbdf7ThVKh9jrK68w46wNZbCAlImPsziYIoAKByDbYRdnNhXdMUFuRLsGmbN+6vHui9cRYC7H3m1sPq16xIdOBscuILiMJQQ9fXBb0NwAH7eV8p9YarGVx+P6HFTAncZlz2cPhXeoUBtssi7x1LRwUgpgTUdfC9tX636Bgh9DH5bJhPv8R9rRillUAkwjfnLKs5ea3vQbtfa3IbpqXeJ6Fz1uQ2mby3b9JBFnBkLEi+7E1mtY9Whk/QijECheC5bA7F8gvi6wa2F5Q8B51I4GGtntQFW9lByczonUBNJSOpVOY/UWF8hLVI38oyLKeIGdq4LmYZXtBNI55UvCuWJq1QBmu/KGw4fv9vup5pRiuzAQmhhtvoXz5nEUSaUFr3ZOHh0IJDcryXnKleBqAbg4Gu7CI640xpxaB4Th/HNAz3QX2Dj0rPSYnE4jV7T2mmFKYHfMf9UD2fZTr5QRe3pG07bjdM5UxLgXT+SK4KXOak7j0N/w+NHddU1kpEnNY7JABFW/A4yTJWPCeo7wuYcvOYFCG+tlvRpIWSDRgkSkK0oatX+4JcuZ+oQEI+9sf2s7+ZBZbfZ6Nt7Dv6mUuc2iILTEXsV6LcQbVLSU5IgzTj/nq+LVyuEVd0t1jEfhMMstam8T3fpkbEazi3/66ls2q1Cok4ztFKCXOqMWF/cOsl/Hu/mlUCQ2EmUz7J2bTfiQNeLNcaw5SJVg+TM0tKaNFOu/iZrSQtuUfkgU3XqSyaflPN4aM4+mg+Sxy12Bdtro0LtHfAMsi+RmkiW45EpTxRty/mk2PJ5cWmQsCEd7m/XyQgl9eyVVaQ+kW8RrwndazEokM/P6XTXhdIjTmUA6NKkHgRNlRRiEYasUTaj/ZvDNbDObk8U3lWswf68TJ0GABZcvxpDl5AMK5ZUOW/yc1gfYDIwVQ7kVBBNRyR4hCxdcHxmvrk4rRrRO4W+xrmDpv1rXNczmJnLS8doe2TRW0vHuFp2uLPl/pl7KdJ/bz/UoVcO7faHsY0pm/D1jOmFw74m+wG6u7GBSNsdb9QY5M+f97VLJ0F1Z8Cuj1Rzr4wFY0l7NHt9apMH2nvKHyzQ5oXCd8uP08b93LHya12bOCweNE/Hn64DwDHWBq8fGHRzg3xnsdZioisKK1601iPX+7MUm8KRaJLSINEcNKiZ2s87MvSoNXWSmqdyDDxdZLlkDKdR6qDvgYYTbnCD5QX6qH6BIbiqRryPvXWkDlJqZFwlhMt44BEG7y45rrVuKMzfkAI8c7daJSuAsodJhN0smSj9tfWF+vtRplsqBhm7RgLgRsq5u6DCh3FkwyfJt34gBXeIvvSby9swc6o4oGzHDXTH3i5u0MT1jK6JBNKd4r+HMnZERUD0602ANVhqwdl5d1xT1nToMfPouo3mbD9tS5XDRsTrD5jKPFQ6sDzWCW9e00NcJRLen7GXvvCpJpsmQ2yM3Rtyw224CHCMXSzWXnp3AHthVg+UoIGbMUFG18TvBkkSxhJK8z870LU4VrcJjw+PjJzkwYPLBwk94ajX9acvlMA0s1TLwo3C6xIqKVac8z0p5uQyLhCIWT/qPxUvi677Kn0SIEZaBRsYkdixLnpPJE0pdAg/KYbEkxpp14puBJOLTh5jT25+KooiAQouzb/VMShhKAMr7yODlouEWl/Jm0Qzxanl9adRRDRfbh8SUit6zsqz4uvmZ20iOn4juOS3T0w6fHQvA1nOj1uXh1gvD+ue+C7ZeuE8fjPOPqgwFIfeBDbhBCzXQLaINmlDKZelMapcg+klSOOwEw598iPV01c0EAZC7HN3PpROMHLePJ8Ujp6rt3YL89Cle/yR1ejGmS8ESWu4+Qhs5WDHNPFz22ccx1ZDeY/PFwpbXvs/4rN6xub1Qg48wCiuMPW7h+X/bTuloqvaXNVfghg4ZvBCpgvKDx/ZCLnVnrybAzYIxHGb+NjkeDjCmbhjMPpnvVUXkcshaM4fvgYjEzHotTnKjc4ibuLBvNJStlJdkwxGLVyHln6ltTPUzB8CFTadtA5l86zHj6x/q3yHMbENMpGqpyqsS5pDJrsfglEZSVTsawTJShzn4IPf+CEqRQ/YDa5VxoSmJFomvy6JZv/3ZLkhZhIzOJwN4HVMCpiigRVWJzdg89wKalIggUwoaW+mR96GSanbDQhgST4+9FLJPN71xbGu3i1X6+oIMyIveaaaJoVK4P1fHBKx/IlYuigduHeYMriHyXFk8c5vVqcXHDkUVIXfVvviUfHHnlXoV1kMW6HLIIxCkDI56Jhg01CbY7MrKdjB2ZKDTbq7rRXx9WpU3u/5J4gQQNNJnOaqe4ymDpYgLbdDBotEHibwQlAkY027gAQAqdqX+IsZ7cWWb+pZc1l8C3X8tMlRZ3b7fRoIPk/OGG6xm8AJeAU4Wd3EVXlQalD/xvf+NbBJr7WILf4qZ3LiLTXteU84KPxS3u9ChhItaDhryy15ogbkGY5EtUiq8GJvnUOj1buqFVbYrT/W5PrtoLsLNhWz2RQnO1VS2D5Znp3tP7ake9AzPKrqqf4uay5fdVJiJ6osDumC6lhp783zBDIK0rWChieWIXI/jdwysz642GoqgPakusf55Mpp2c/us6BQwHgTNKqhM3vxvv25Eig0LT5cAx2O86qeGIx+AckwsO7TpZ1LMw9jfk2zqqshymwGxak6ZAhdG8Ooy6gQHj9kumowA/Ouzgfm0vagqkO6rz4hbCqcN2lTmFXIa/TKA/UwsckXC8zwLKQqyUAHmu+RjSPZ9jfP6QYZDfsAD7+dS3oiYn8M3aX0eSwJaGATtdu1oUZc0bRk+Gwce6Oqsqpa6m6QMlZIW/O2IKWiAkPTW9/0XaYjOG7TNfb2pzEmJFyVCFQgNL7fEUKDfS01Ml4X0wgFguMHM3XcjfScj5pJHBcytFuqru9q1fV9PUeAwZASoZ8T7e3nLiVyzH0xRiOTU2r1cziTzTXdSRAnx0xH7Rbv31lSneiMXPnyfQPcFWo5W39BQP4HJ6ZB+UUHT0+OI42SVggaF3fhryUtwa9iIiXuATn+Sxi7Wc8+qbeKzzy6nyMgkt948xB43SI3NOTi4hCXR88mSZRRxdA3UDKueGa+PDJQ+FlhonqJV5vFZAXPr7FoONXiq+tC7IKkSwEWs92GJWvpALHrJQNWUznPUMgL8wkNFsxUN45AL+N9NBA5bXVXSvmfs4n2xEdKaN7uh3dYFXzWRIlghwU3ulcmT844Lb81777S26g7nkc/QpHAQDQ1iyP7dH9Hj3j3iXaQJmcfIk6q+gtd4add6XQM/fjD07OzFY09XAneKidXLTKWLjBi/pSLlDPDsLyfLW4LRZz3B481m4IX4IF07sY0oIGxXvFvtRHY5+7mdK1JpioezCYow42QDQLgWvPEzIBEid4r3ZrmhNSq37LkePwHj4E9R/4zHF0h/dzYu2zLWkZrTAUJlJPUM9FMDPDZdOD/8FN/ImVgECuX1YD/SHVuUdQQ7BGjpBEBF2XLmq0FGxcbuvECAQ7E3ci0QfH6gEU6fEf34CUNBE221Q5KJv9cte1zdS/Bd4cT47SOtbjUbxng+bHzVxFfh12Zk+lfmShk10GpqC/HH0TS7asq/DSB/n6S6x/NtTE28OaWi8vpkd/eN0MNEkphGFs7ex6e69gD5m3ztDAVJrVJ5cM865QeVJEKF3VxRF6ZiOv1gzV8vASxXjQ9A5VuQVDThSWpSxxVV/wa18TTk9r9vPUv6Ru7YcJpGWxClSxiPbr0zhzt7sap+6vhlXtWExHE1QohboyOuNUWRFGi4trWr/BjWFkIzpUjdoYASmo+FI/dVPtirS3kpkW81qXPpTEJZxgtk+Pt6x1MTfpKlkK60rLQddxR0v4y6QQ04TQdgqVRYu/a2Jh20FqsXI2NT4BSgG0u2I74zU6tl25KU3iellvya2zAW8NteWE0jzM3q0MifsNn5gDO+mxiT7uB3mvHhnsg8HuIzJr+lPjFIsTB5DmU75/QOmHqK4vRMBqox6nCDOLx/wPiBWMY/B+Ews5vkMhGZZdUnihdnklZO8W2IMLmhaIQ8RfXPO9dhTrGiOp//F6wfKC0HOS4UCvCw2hg5HvNHU41/MQPWd1sexr/YXoh3k4VFhoq7sLlmuE0MirAwXguBPGOGgl1NIJX6H3LQY3P37eERiCY3Cd+BiFUSvw5raTNnoJNqYPAUiiblH9bwy2nuGqTsBvve8kJsDvfwcgS+Kop0C4537w72sHFQyJ4635zxdshMLMzkLQ0nANteyzd1i5+tundRMmllWZkpGljF8Mmsb9lLeWJgMlJz/HsmMceKI3HqAipqdrzZjKknKeyl+kyEqncXSwGXCLYFpUnzjNljj29NnCuNEuNOP4msbFIrNuaPdeEueD170rimeVW9gPCjtz2lnXqcbJru76I+dB0YOtQgZFPJB4MV1Lm4vyfbQ3PMGIo41lToOCK1w2b8NfPffzMwLtnZlZ7d6Zd3miudMTbBo/m2UUMg2CfFkaHOQNWU4dXnXko0i57ArXPxdfUeeV9poFfS9tstMi6YLCdywAur0/M6Sn5dVua5bLrusb8SiEPhKhrDUOy8Ktimp5tQpKSyatjX2Ljw3JwMtmUXKt18s++F4coGYjMR4BXBZ2bkIbJcw+C3na8S079NR0f3INIFRI3s68IbZMg2TCqRMndbhFCl1O88PSAmBQuzWkydQFybfKRowCyddQeo4ODoh0F+9Y7y7fqFRuKJkMaPRpD7xBzWtVuP37gY7+BrBBUsOx5FKcfcxLxOaOQ6XOPkqh2sSbnnlFRUtMJajqo6bcVIN0x37pLK+d3BS3DhSCRbDxEGsdoRsLfTTXxy6QYuk9fBWJVdnIBofKTp2ftijX+rmbW14qnDI31hpeRaOvF5EDxxXdzuOl3Nx+Wlf1CDP3p4ChPYdr8gA3ejf/0mJm9q+Hcfp+1hBs+naS05N0kwEmxgUYh7lL0utru+3q2RMGI50t+/qIGi84PHQkXvobAwnRbeILm2+/iVQkznfwu4ZdI+2USi9sZ+g8Zngf3OKnvZmiVFinyTSuzqoPaJGNA2+p884rm6rupaUX863hTvasHDwlZF549XFAofMVLMxkjeaOf0NFEK5pOhu+cbNr9n+TV+3loSgoaEsudUuLc07YiatjFCFlAZxie/2ViR7mZXKlkVXjP71Yn+VICmcZKLkL/kkUz+dXNwolIvB9lwNSM7/R49ZovnNzU/3UB4XgSDiGj7in4PTEsOLDJYfMqeZqoMMqaBjoA2Om7Yk53Zqmhrb5RN5C/sKl1fjmOuGypoeVvljXl55iRIJzRn60P/ZPP87tEgmt86FIpv4zB7OCJLnUDKDpQRT1ZM6Wv08izUdqt5N5G7vQsngk5DTn8fEpFUTrLx1FV7m+sPfGkr77tPlkDrE8gV9iWvE5ipzIQ1PRH90+CW2RDCgj481UD3pt5PmC6zBAR7Ti3feDyNWJ9LZX/WcznbAGRx2wk2or8BWMQMYvwpapnItGeiMxD6Nwr8SFbw1+VviN8UMzqaGjrdxvgAhhWEB5ogrkckNMuKP+5tSg3uZcWogfPkCthNFDBGAKgQ6Im5Hg3lESVDIgpDk+mvy/pWpwuQnF0Kjb3ohZ+1xWQL1MQ6PgeaHfnWssTk6u1fuPEQNunYlzGWIoE4G/aDvwJEavcazCbKVHDrZnENrmMgoFCocz/s4rPZLGGSs3Y7FISq0BV1E3uGncN4jEV2tLJp1fBeZDgI4Zb/yFJmnTHZgaMmvMVMTJYfrn1URXVKmSyt8GORFYOhdHuNen0NODGX9X49NeRgE+HR6lyNM+r85HlX9euc4M35GmSNvBuW5p5y8wBkZWJzgIkkpha2SdgK17ntQaZuz7n659ec0dMGb31VyUlP9yEyKekT7kOAJnVbPfnAWJDPjs60xMWRDhdMG9CtaaAG3ZFalvPWQkNH5pYkhPXazO/+Em8XU/+Hhp5Un3tHZOYsole86r03+kCG6RjiZEaCapOqFuy8WCwUefTx8bkcuaQSn6YZJpdY5Pi87jFXOwi49o7ZvCYl0aISpWROwHKtPjuX7Og/6648jKC05A1lONgxzbyI6PS6iNzeoWrGKDf/mCKQ1UtKBgt0NDyC030RQYecrp9Zl6gaIFoLiLR9j+zG95ZujBNBl4+nx2Sv+H9NVMetvw6+r+kDjPIceAPcsW0x8IuJoKZK7uIwZaxQ5k8adKweR+6TyPjeSef/8WyYixk4HvhEqCEd6LDTXrP9RxqFmGKNgPdhwUrzzo9eOHJg/tL5qWKyo50OuEteuHnYfPh1cOPDZIqcXZPTvVF/TxkNpd6zeUvxWhf12bpiB0/YfxY45L04QwAmKCNluLzJd6okZ1TUgr2LZW25FOBV7Y7Y35HjBcEAjijcY818Ikl7r2clIwlmHP0bstuEk3lR9VrK30IVln42zr7msiR+rw3u9d+Nvkv7zZ3+qG9u/WK+rLORMbcwGAUArbgm1uUL/Y4b1XgbPf7ueoCEM0JpptYqhCfP6JFIqG2eNbje1SUixtpRAl2mh0/jOyeG1FMR1IvVK2wc+RQ5/g3FR4Wxh+olUoXkYRyKbtlJRyLDWB9vk4S767+BTNHKtyeriXGsBBDm5Z+dTzFB5GSyQZ1bPHaXykXO8nAryRMjmtf4LR28dSWYxlbltMSbCBbW0e4m2RF9SiIbJVAzq6qmgLxSCU9EU976CROh78/PBmrM5xcjEexXgIwvY0xY56Ln+zi/8H2ZK0fUFS+clFpugP4ELFU1d7b+RzsoP+q1QMVwkOmjYB9h7uooCvV2sQZSM3NKwa3zq8D3R/3+k4ub9CH4JfU39c0CkgoYGOefkV+jLHgwQMNrOIFKinE4QydjQJuAP49I0/IpeC1XT8uj57+aPxeE+9sK0U3zOhgIfEYRviuWfOclBqwJOBhP320Y1cqUQ38i767Wk2WaareQbSMLZ39u0FQTPm7D0KFMxaCvqiK22hnsPyqGIEpkXAhTbGxAoVVm8Ts+poGI78AmrY3zC5hkLH3YTHHh1F+Yz4tqv8jGhx0WuvJ/O3TLOlDQkeFFclojivDhCv7rlqkWCfdwe3sFvmQzQIQm7Y6eYkZxtRa5O7Nwe+LFvESwYJpjLuH+g8hoGbibz628FlQSVjbLspxtqVvPDIKoOvAW5T5Frl2QelNwpKIFimBLTOrwbJYhqgoU9p7pTWDzRrXUhp73ODDCg13hRszu10kodQPQJmA6E9rMlVKrtWNQGvqLSpaucCx7a0j3TbLT23uypi8+9Gm1Qo0ViX4yRg/OEqoBTIcyjpVfyIuqsazmx0FwSraHM+FUMukhOugRdZGZ/oxlN+cV2ZwQKY6kXqh0u0BfDBmRasCzFiCI2h4RKqBFTALY0NpkxcA0O3yf6ZYGggJdTNl7eDSd8VoaRxng0+n0+EMvttb9FsW3ngkiga/ZsBg4956KKhuiEEXJklhtcrD+SAEaoiVfbFqVuMVewwkrf9rrLH/+XXwMMVfcUShYUL8k356qXPBoRLx65gvpuMVdhkyDpxE4ZuucYWyhluvkzFTkaw/zOf0Zr8lSa0N/bcGyQnMWESAk5Bcts/5wDszlM9X5jS2U/YQKGx756HXK+a9pn0XooJ0fm6fKxDX+smjFbSgNuqNaEs9XTdVexmI+BYNerJ9J5DgwejxRmTUJItANSX73kRklXF4MTz5G7memH1iGATJLoj9SZboCAnKk/Bw7iX03lC5/fz9Ovm7pUK1ulkpuf/CnB/OuA/sF7WOfCfuk1WK7tigr5Pc3a7TnN7FnBUMAHqPaUG9+WKhbTFJccbH+4NIuV81+ONDTewYmoM/lL/M4g0quZyVPYmsnuL+h0VXIZeyOMkXs3xvMWjZd+BJzGPCsrCDGVQkJp74E++tas3Z3Z59goxkGY5Op34ns1QjQUYl8xRp04zCospBiRTFOqTeySXBVbfRC8GWahZEM2KKNwv26P3roRtv40sfhwi5ffGphCbc6m1qPzRWjszn50Xkc2EUCSlKgZmpPC8MqA0cqHaRUrBxlwBI2hxpyZ9M8ZjMujlOHOKWpsESb7c1Laim9aQaFvKOw7N0zNTbFcoGfIEsNz8sWZ25iN25bdOGT0hLzIqPKMkSPo43EF6Q07VUnl7PTAMNb3OWyeBX4lUzMXcMcVjsHKsTV3ITbRLpO/ZOeW9fbU4txTsfyRNmTXdrXW+fhoY5bk6XzGaL13fYOFhFnDk8yk/0V0LwStnX8tUuom7QXs82j2/zPt0WUYLJfcdKTZyaWGFhePMj6dYQD4yocMmR0aBvFjW9S8EQGdtzMOeoTX+h2TmcWTWyiex4bHRjkbrz987qIHIPJHPSqqsUcIvqsjfS2jHsHLFcMx99JeACnRcrKR/XcoUpRhidjU2OMxbVmz80TUw9/Dtz8HrMU9prah5oJxIH8Rk7Kee/VQ9xiy86eqt3Jxj3UUn5WT+LyhZuVkVX/Z91DFWMXt7WCF3COVT7ormvSfwYRIrhqtd6Ei5Y118EcvgiS4SlKsI5GLMBVW0zC0aEUk9dshynZTRIpp3KD65GRHHEyE63yTcvTBWTkxDgpj089/RGFGOm4bU3xw6KYkJKodX3VINLbr2mfsCuSN+kXpkuP0mcphuzUL+fP47NsACb2ipwhjuJX8qvCi5ld9QiNgS0/ILUexxLM8Io3JuAdtk4x3HXOyqO2Ng6G82DztRL9pxgjkvOh1bK4M7S+3T5Gxyo8B4XFTvaIJ/GrKAlYYZ/PZOZeXEw9pV8UOlpyzYWPjWoLzlPKLO3xu/aPcj0aubIzh2sPisPYvOjbWnj1NBMb20ErltX3yTV/QDObwbhUqsjAR1s+0N1BrOHBMfsoB0ZNDgLQjfR4QQ+reRgpiEqP1VOlXgnFpiJB6fS80IAvA/j8Gk3fP+PQQJ7mBoolRNOlgt115+aXsktnIajkNAdWfYkV3VxozVaNOVvTjv+IOqju2Cyh7UfaFJ94hpSLgBmQSsabRcfaUGZgDVs6Oz19LQhcvaMf3wkmfRt/gSrYcxUcNVGi5IzV9bAr1oPMjwQ5hVDea74JMC+8UWhMP17bnQ9lxkCEpJPt2H275+97FO4h4O2EMd80hA3NbOvgLJk0Kl1t1WGxFVnlt/L9L46f9gIabA7e3tTFr/kkAZCld4IdXZyoehM5g0zmpo47gfBe+OBZwHVSMKEiGfumBQhdBil4f3sS1sDUDiSK44CdvidRhaEzCpR+Wgle0vtaINEXo1TCj3LKeexb7A7WLTKvryxkPev/A4KDllegFnQIWgddJoggrI56kTL/yHtyL6VIoPIbPofsKn0YBtU+agbcRq49thhWIl6MEsZDut1P5hLj71IfSAMwgQi1ZmU3M7/rMa4sfhpKSoMdsj1CHSUEFZnmThPWetq8cvzlRVZdXOA7Cogul3TxiQ3dgjLnRfMxD2oYvJzxZEV0CfXRoXxu1kqzQ+CapLeULNE8G5vAY3VZn9ZMoMV57k3m5cGgXh57loyaZpFdenxUINlbuS6XuuZDvH/XYrgMZyzSoU6BU4M0glhZRFxBmmbRRx8lpysIwBJ5PKy2YoCOZkSqOt2jakihMkIdnufrEw+RbO+pBBtcRCOwvO+rFDHJdNdn+PXjRdUBvA+WVYYqRD93KxOu9WH1gl/HSHwc4GRjGZ7oTnxtYa0kn6wnUQP3Xqyh9vogMtuVum533LngSQhxoJlg5a1/Y4oNmGnh6qWJksilN0KOLbu66b6RWUQbBG1H7TPVzHmxz1PQ54B30wL5kj0LNZN7kUWLWHXU7qhpLs2hMoUKo3av9fW8VDYa/+hEJe4ua0joqbKAzdDfw7gPrWhFJtDrwDjsGpXIVbmk7RBS7GB+Fh21K3FYgilzwnC3qTIZeCoJNcGFXBK7hND5eiqNQ1G0FCgIsUMfLLP6T9zL6XnNxzYuL3Ps0wwKdH41N8cyCwL/nDXmda5gse4snmnhjPPGxrQzgKb0ZQBvJP58ozz8B7+PZg3aizSWCkn5/s8laJLyGKh3RfdsGDPzaBkXc1s2mONAPOFcYwBqwjLrFDZS0HhSHM+I6ZlmZvDZL6aPGePvttfqaXI33cJED08cvUHG//Dm42mMIj/HVYRQrJWrfsNEEcMZFey1LOP6NiWpmBXvt4LoEFXU3jIhv5QKLqaaZuDDnWDLh2VI+GIV2Y6KksC2A+KLbRpON/fTV7tdrjOx6P3hDkA9U9/7XMVnxbIZ8rFrkA+W3WO9ajqRaZlhNQ3PzOZPNIgHqN54Wu3kjZnV+j1Z8gD75+CFjhCp+F7ft2O4CAV2GkAhs/Xcq9UZmnaJHnNEWXIIaonPtaSD6FKqbXW34YhszpgX1cwQfRJ2YN2LrRbOAk1Gyl6xriv/xM10kRbjMG4YHIp6HW4T9CKXwvsWliDGLioamqMpBU/1+zrSV1W+OMIc/dN/YAaXJfYz0OnBaDXj+wOcJ//oCQa3/7tPqE2hn/5/dwpJfB7nWLXOfZXvzy1WPMlENFxHAkCMMu6Ju50an/qgRLwwAMvy31Dg3IiPLxpAHpAg2uJOcoyGSsPa5LzW25fVbXFdkp3LCNQmF5b6y0vrWtAnbBR0tPvAhtogWWC1D/b1cFp9aFml8pw5MBPe6n0dZPt/kQXZslSRXa09YpOWyzFMtupOceVZONrCQpcmWIXpIJeEQvg33SI4Y9MIEq6LBD4b7tjMmAP6fWP57+iJpkRmiDvyBa+bU0DmfsmVbJCdkKFIRnTi35SfKAyOxLiboox+/3gqQU0U8uau630ObVWKoSBXEe5OBxakeYw740lkB1iKs1YYdcmA9VOv1R5F84WhXMhup898DDuGG+GGmjTrPERII2/fNhXulxY4HMxY8LCeIFEFGbNctnVpPiI0Afitnf7K9zrjTldVQj9N7WGMjRRq5/UT13RciP1FnwZ1MwW6gv7YnF/0L7+cxP4ZIRRz89k5gF2Ggg+/dscT1ejukt8ll/ti0XXF0/lm3nzF3nFnDY25zyZMxAri2kWhBEU3CB3KE+y7I+C212k5amhhsKfoznLOO4vJArGjLI9EoegXciwdvN7+ky0aZSbqzQYtF8RgOZpPCHvxcvfyyYb5KUPGAwjDYWZYWKV4hmoHEHRW8KXPXOklzHgozK8COYFMD6+KPYp+TImyX5VgItC2KEkFlYnLPOGFUpSRcxY0Q3/SszgV3uZX19HI8+ca9OQEN0Ru/C8yHHK7Mvx3WE4bzByyBJjBvrW7c9a8IFHRq1xEkRk/A0xPqvswUTQrlYsJ4IJa79DArs/0i+BekV5qxNgiiQmPswUdmmBc11BITfC1z5pMKZ4IN3KBocIw3rC2h2975TJvVvD+ozaPpbATuLOSXjAMvqgeGHNFIf5m6x4hd0g9IEjV3rgVblMC9bm0k4saYX510gnGfku5hKypalsuiUUdh47a9dUDaJlNuaihdJko0aet67Z3RBAy1xMoufToUa8apFxFXYRuI+QRWRmNbTbXjHSNAtURI4nCsmKDRSp3hso+nCXvMeXJDfDQESiy2pXN2U115HSs2qtV2+rxAf/1smnkoFee1whFBae4wCz3bQgEL4VovI/JtRzIwYE4eALxLSCbm4+LlSZnJhOMgQn0SGoc+a5tgtBaygdOkXSuf1gUVne5Hj9IE+VBZr140g0qZgsfbQpiMNnNLJvPNcxkRMaQg5B2GBW2Cgx+RJNYCkjHI3OKcspp5hWgeRAOXWusBk7PHSD1Y5KosWsLStxCDWmU8N+gSHvdVg5ZcB6medDaFvm4m0h+XRvTgvjHd5qb2E6F8Q1YCxQFigvGL6LCDAS6mH551NOOXxCpl0Wsrx57kdO8/gtRCip4Y5GDejIVX10aXSX5gl/Vbx/RuaVm19SPYxhgQ9u3VjoyrROquSKGduVfE0TRMJQLWKH0m7+Q1r4hqKyF3Ck66TC9aPTVh4Mhfbzuz6OcSd7uzVqeF+pEu1PnU0gn3B8+FUMYOIQ+dzpAZuvFSJyQ18O2NKDS3HIBEAAmfFAy/7rNTYEc7ZU/MOTWTsbxYPiVQVk0DGfpcfM97rhPkHgNyk3rhZDCnMz+kirNtwsjHrQC+7BzWJsXm8z62scMX57dknlhGipY/EPUj/2OyiMZJ1hXZADRENa+JQo7EmiS0EnqW66/O8H6PwgOEKS/83BbmWp8bCHt+CYO++VYB81aix/ZJdavqpSZLYLDRFM7qnD43X4mJgWuvEPz/GO48z8PsYwlhsv0CYpKlZQvhknjY1/m9mch9Ptgk1eGFZ/dstqC3INBDKfuHGGnUXEz22lLRG1tEjoefWkfbQEgQ4ujTKByVi5+R3N2/gqQ2/Tm44JtojPb5KfRa+brN2ZUXbx03b1ITLNhral2i5DNm9c1yzSMFhPgiu17PRyDK3mNpDkeJo8FPA4Y43HqEtzXARULXWc6cSGT45I3TgXGihRcSXegNKJY0uQeAiO5QSha3bRNNprwJrB9X7zxf3x8Qgh1bcnNhQogAtkIgQhJRujJwXecPuxmIkhVX90z4IJMPe61WOF/RwET+3AcPIlgtP/+nV0ZX2IKdcqZyqmsF/o4DcaX5W+cJ6efiN1PdoLRKO3e41qu24nX4s1MV+dUT5DCbdVE8oCU1MNFmMjqHN8sTy4w/AKvL0rReiz3qV04lUPuOp0vh6rzQnR4eG2G/p1USXSwV3ToS3nbi4rZEAQpY7Df8276mP/Gf7XgRBJDmndyT+QiyhZKyMTY2TtSatx0vu1SB1xTh+HRSKE5S4eDtnZJOY51hHGsiYQtT/eCq5dO//cLjSLyMmgP/B3KkLur4dYs0V0NJ9r2XPayV0E2CusSluVf5M/eRE8e0ZvRzvrOWfZbDbWSfs2FWZ61IuQPkAvX0OkLGfNz3DgBJdvzDtAzgyf5VCYv98nEINzUHhRYCiKB4wEGO6BSfCskidDQxzsvdn1vyXpFsrpU13PeADa+XxWMW7CTPyCu/obp+fb47mXVkLDL+shMl1OhgKVmgEOV5EZQGvcTCIMLJWEyDzm2IH6vYZWlBePSEuWln9k874c2V09SZ3KnZj9tDNf5Yk2661Oyi4HMRGyMmtM0AxcE0HU4Zx3YGfinLONSiWJ6QmTR9L0G3O3qCVHN5470+4l3xBkaGvZuG4UzDRgXY94+pDAh0Tr9BIbRTMZGn3CMLdgtEsyHutzOoNDPpwjK/ssNK219KcszS+cfQkhlUayV+SS3a36hGhonIIbpV6A4uO7q1YP3lYq0yWPVq6ip2YDKsuvz1HDqpniXO+AHirXdfkTkFxRxd6I6JLQ/Ln/wNs3xh8tVjjhyDODezEtiEHMwAAscXQlsUpp3TasjgwTlssRYZ9FTWzcDKv/qCoV7NA4l4mVc+dtRS9w5w1hiuPzebjql6rVz3b5p/tV3M1lZqf8WeId0DL/U7Ozh3qNg4TQH87JqnIKH3I6aH211np8R0GrZTQE9WXEtCOREfO9H+qyRnEK0yIoJzm5afHk05DLrLfRgptxXPd702RdBZccaXaBKHJaHo67e0rNaIgMS0RdM4JxW6NQMU111aPtuM470lUeor1EWddKNd5ebxn8QyqtNkcAqgijmijEmxCCbaAZVLzTlhrnWOR7uogFE9AZ1oIaKE/T3ikF+vvNx2+d3Tve0N4nqa/hXw39inkVx0Dtd07vD4Z4cEkKIjPmjGqQq5ZAMDNs8B6R1UHdiPyzLWFuNQtJV3M/CiZk61/2FHRJIGyjGq5K0jCoMFd4e4b9gmwkz6/eY2QgwPfSAhlQp4nFw2aZ9BFUjNPJAEfxKuEJboXm8KLszi2edcj1uK0HMqCjt6YIuUettWGZ9cEQzHLiC92hxgYjT4inYVGvf2It6RvjBDaJKAJ7ScF+pKfkZy22hf0nEh87DE03eaBzQsQO3tlL+hbg7hgUn/4qzQyw7olrIWgoWT0idR9PTzSjZQxOkO4RgyJNGVlrImonjrjk4Sm6/7K92CKqpj39Kkd+OzYUUiroTgY5tqnP4OmOiegt0/c9fk68V8sZd2+/iewrX3Opo1b2ccxbiHAE3DB8ljQt9f250Vy0xIBYwxlw+4waUAaTW87WFnlRWnSqnO0BXH9kyAB/+C5Lf+uAaefV91Bmu3UAEeh+AFgwvor7Kt0OSNG/vAUaFE0FAa1PxhdmPlkL0IfZ/fdOvhZ2kOLiKOT+Jp4kyuIfmc8J6wzzhGFs9H0kieBqwmSW0s3OeFARxDZaZswDy8A7zQ9U2M7EwlHvL7WLmT6CZuhQK8kSR1ByRbKLCE41NMS99DhoDkCnqb2G4rsefDGyUuEr2jh3VUpKBUUvVY2oFDENm4abnchcpe7p8oe+OYtsoq1sX4LlFTcE0qpSQcJLczgUCMNcbIgw5bW3Eu/s5PV9nV89d0BZo/1qDnGi0i6cV0GTyeHWR0NF6isTXJiGpEyNn0xtouBD+y4E5ULM7AKNn0efpHjfSMbV7Z/pNe424wabLpm526CLs9FydFG2BXVqc7+1RatkEqLBL71Cfm1G8uZTaseTOCAGZZ/Mu46axS2AiegeB1ufPp4y2EBcJBXkMHQoHovjckDntq6tw77ll//RLPnmq9J5j7cuZQBQ+ID5s2AXsNXM+xA/XtunMvDz5AFAuSUEwu9jYpk2fUMn4QgE3pjZ9zOnd5qP1VOvLvJE1wvomKM3iVnhQlZOcbTULWEZfYKVAni6ljfO/uZr27sCAp8LhfItKOICnh6uUK0QmKVMHglieo/o4KtDrrGwiR3osUJabxpNJHDOAEB0r3iF4LjIb84ojjBdncPgd+PsS7JZ06HSpBB6LBZzG0fNqa2vuefnQKe8LrYsYHJl4zBIrMJVcCcWzdQQ9pzFpAw+zBYBk09+t+3orChMnYIttq3zcY2YexCnJwgKKoz9Q0Rq04pYFgOTwRgUBMpzt1YPJgE9jwcQYUlC1vEx6rAB8C5iORubMpNzHClWI4EhByngvkymGH7jW0j20OGrVbyP/+kt9hHqJ51Boocn4+ltHeyt2PDNoRZ2K3YddMezPD2VhHkRAUVIMRqtMZXFmFpOKMySE0EyMVqO8Iip7nk9apO495QLR0a3TuiD/Gi6amMakeEADimharCJc2+jaUeN/w9dOSoRaz3qu+bYkAkiHfKTjy/kLEtYbA8Oqge6OAguXY6qW7w4CiCAE+JMnfzpk3oAr/SFbIw3CE2YGOkGn5ClOrBLjjtdlq/bNasQ8zbNIZMVh3kqncuF+uraooKmxUYlO9RDtx/gxC/vtUoIKSFeZJjcgGUGGE1JSSeEug7akOCRT3fHjRpdGtI75b5zbPVSS34qLyp6kQZZM8veNmHDG37HTUlVa3I15WikOSfMz0AyBhb36uwQL70AvxjW4VPpFZIt/XQKwcJXawUHf7Q00EfnSqNOGgnU+oiWkMxxdSlNlp8GLMzb3epNtxsOopbxwejMZ3VQzUfTTrfQ/Moxts2KmgvzimugKMZdIDloWe/OPYe4TETccYZoqxRPfH8i/6uUpLvDn13l/Gt927rya+6+gQMTlQEqBMofH+tt1MESkYo3xOQiTgBh0RCkbUlCr3te0efVLMMOs0Bii8hqcVd8fBjn1DZIKOCJeaYjTCWuoLkojyfIXV6MRxtEnMQHscz5vAvQYqY8iqkJV10UjaeyRYVVSTz8HZu2th3758oWtXh9Q/b6jPuSN84Gxdha850QLdxR3FtyftUzLV7Gx0S/NepV3lTo2nrW+5PTXVyb4q9U7K9zFZLW88+xo0y7on0R08ZdEqYVdwQFmISEmigrqfjHSa0sFpMB0MHt59Bqn7FdMAaEgPCRV9knZLXkZ3PuHokLzqA1/ARE46Ya3fpVP5XLcrDQIEkOtuDaYxa78DdhNci244Sq6x/Okm7aUTPvr3srjsU+I+ws6DOLoqb9KGNT5bsb3UQ572nrJhOpgJchOeM9KWCN2/JUJr2M909uw12LF4+vRFxr3yBH7Gxsv6wsWS+YMWsPqHvteRhcgEL8EF0JwLvjUe1lFLoGaWTFvMu10uwvIdKEm2qr+ZKs1aobvd19NL2a6flDjBMjyfk5orvix3jUsUWodmPI9bJ30wm4WvW/kzAeLSKhIcUc6b9zCVIAwZxJQ0CzJs3HBGniIfrWKZhm4AmI8Y1dbizJh3D0IN++7D9fXuKSK5oewtbQVUWeeGqaw60Mnpr54gsg16cucNgaaZSw1nvVNABOaqCEnqYUgs4Eow6tTYGlWsXX9T2hsyIlsjXPuF9KlclRHZ+3IOHGFqgh8PSSeWIKLsJWur0fjbo2FKlQfgo36ykEFx9NjOgLxOCMCzIKAD2SZ2Vqt76otWnAxZMQwlcP1gE5az+ily6BNLX7fZNYwW1QOnMMLvpoqJs9wdK17q+qvNKZV+Z43XO4kW5m889L9W8rttwpJYZ4UWi7RcRx+Luza2KMXaq2VSakfLjBus7NWIlynujtRsSpURcMjEv/DHnU2gzpEuPPj9DD+hB1+1Ba96ah+bx836vUB+C1sMCM2vHKLFeV9hpu/BDoHwQw6hm2+bwVRrRPAPx/nT/BT1tek8v4MdOPE07EaTHpVdk6wB75YCfp/U4cUVljFpoxpn0fBbfrQiAqw4ai/zAI/g7Ztv8iA2rA76GbM4ofnsHnsbjvDzUoy7Crzxgnr29V88zdmMzkXATA=" title="Mekko Graphics Chart"/>
          <p:cNvSpPr>
            <a:spLocks noChangeAspect="1"/>
          </p:cNvSpPr>
          <p:nvPr>
            <p:custDataLst>
              <p:tags r:id="rId2"/>
            </p:custDataLst>
          </p:nvPr>
        </p:nvSpPr>
        <p:spPr bwMode="gray">
          <a:xfrm>
            <a:off x="246353" y="1554189"/>
            <a:ext cx="11459996" cy="5494987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4" name="btfpNotesBox953997"/>
          <p:cNvSpPr txBox="1"/>
          <p:nvPr>
            <p:custDataLst>
              <p:tags r:id="rId3"/>
            </p:custDataLst>
          </p:nvPr>
        </p:nvSpPr>
        <p:spPr bwMode="gray">
          <a:xfrm>
            <a:off x="330199" y="6442789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Annual report; Capital IQ</a:t>
            </a:r>
          </a:p>
        </p:txBody>
      </p:sp>
      <p:grpSp>
        <p:nvGrpSpPr>
          <p:cNvPr id="7" name="btfpStatusSticker885439">
            <a:extLst>
              <a:ext uri="{FF2B5EF4-FFF2-40B4-BE49-F238E27FC236}">
                <a16:creationId xmlns:a16="http://schemas.microsoft.com/office/drawing/2014/main" id="{D022A097-74DD-460C-B0B7-F7F789573DE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0003470" y="955344"/>
            <a:ext cx="1858330" cy="235611"/>
            <a:chOff x="-1727845" y="876300"/>
            <a:chExt cx="1858330" cy="235611"/>
          </a:xfrm>
        </p:grpSpPr>
        <p:sp>
          <p:nvSpPr>
            <p:cNvPr id="5" name="btfpStatusStickerText885439">
              <a:extLst>
                <a:ext uri="{FF2B5EF4-FFF2-40B4-BE49-F238E27FC236}">
                  <a16:creationId xmlns:a16="http://schemas.microsoft.com/office/drawing/2014/main" id="{42C6A012-79DB-40BC-8A76-01EEBA132338}"/>
                </a:ext>
              </a:extLst>
            </p:cNvPr>
            <p:cNvSpPr txBox="1"/>
            <p:nvPr/>
          </p:nvSpPr>
          <p:spPr bwMode="gray">
            <a:xfrm>
              <a:off x="-1727845" y="876300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6" name="btfpStatusStickerLine885439">
              <a:extLst>
                <a:ext uri="{FF2B5EF4-FFF2-40B4-BE49-F238E27FC236}">
                  <a16:creationId xmlns:a16="http://schemas.microsoft.com/office/drawing/2014/main" id="{DC2810BC-C3CD-43D4-8F6E-8379A175FA0A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1727845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5D240110-B97C-4E10-A297-2F4186F039F2}"/>
              </a:ext>
            </a:extLst>
          </p:cNvPr>
          <p:cNvSpPr/>
          <p:nvPr/>
        </p:nvSpPr>
        <p:spPr bwMode="gray">
          <a:xfrm>
            <a:off x="423786" y="954081"/>
            <a:ext cx="262467" cy="21854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err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179474-4441-47A7-AAAE-AB99A7689CD0}"/>
              </a:ext>
            </a:extLst>
          </p:cNvPr>
          <p:cNvSpPr/>
          <p:nvPr/>
        </p:nvSpPr>
        <p:spPr bwMode="gray">
          <a:xfrm>
            <a:off x="792241" y="960998"/>
            <a:ext cx="262467" cy="218546"/>
          </a:xfrm>
          <a:prstGeom prst="rect">
            <a:avLst/>
          </a:prstGeom>
          <a:solidFill>
            <a:srgbClr val="E9CD4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err="1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D9A724-6985-46B4-8D22-3592AF735559}"/>
              </a:ext>
            </a:extLst>
          </p:cNvPr>
          <p:cNvSpPr/>
          <p:nvPr/>
        </p:nvSpPr>
        <p:spPr bwMode="gray">
          <a:xfrm>
            <a:off x="1158225" y="960998"/>
            <a:ext cx="262467" cy="218546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err="1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F01C8D-B70B-48CF-8C17-0557CED6C305}"/>
              </a:ext>
            </a:extLst>
          </p:cNvPr>
          <p:cNvSpPr txBox="1"/>
          <p:nvPr/>
        </p:nvSpPr>
        <p:spPr bwMode="gray">
          <a:xfrm>
            <a:off x="1524209" y="894469"/>
            <a:ext cx="3786412" cy="41125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50"/>
              <a:t>Colored segments of cost bar in-scope for this exercise; gray sections out of scope or covered by other benchmarks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966865-E9F0-49DE-B7C5-6886C124C9B6}"/>
              </a:ext>
            </a:extLst>
          </p:cNvPr>
          <p:cNvSpPr/>
          <p:nvPr/>
        </p:nvSpPr>
        <p:spPr bwMode="gray">
          <a:xfrm>
            <a:off x="9250186" y="206908"/>
            <a:ext cx="2595967" cy="411257"/>
          </a:xfrm>
          <a:prstGeom prst="rect">
            <a:avLst/>
          </a:prstGeom>
          <a:solidFill>
            <a:srgbClr val="FAEEC3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000000"/>
                </a:solidFill>
              </a:rPr>
              <a:t>Appropriate allocation and relative share of CMC in costs to be confirmed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0115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btfpColumnIndicatorGroup2">
            <a:extLst>
              <a:ext uri="{FF2B5EF4-FFF2-40B4-BE49-F238E27FC236}">
                <a16:creationId xmlns:a16="http://schemas.microsoft.com/office/drawing/2014/main" id="{64DD88FD-9C81-4D62-95D9-B063F338210E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8" name="btfpColumnGapBlocker413833">
              <a:extLst>
                <a:ext uri="{FF2B5EF4-FFF2-40B4-BE49-F238E27FC236}">
                  <a16:creationId xmlns:a16="http://schemas.microsoft.com/office/drawing/2014/main" id="{2419FC7A-1F2D-4581-999E-AF3DCA97D7FE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6" name="btfpColumnGapBlocker723409">
              <a:extLst>
                <a:ext uri="{FF2B5EF4-FFF2-40B4-BE49-F238E27FC236}">
                  <a16:creationId xmlns:a16="http://schemas.microsoft.com/office/drawing/2014/main" id="{2DDB225D-2D6A-4E77-A62A-FEBA09109FC9}"/>
                </a:ext>
              </a:extLst>
            </p:cNvPr>
            <p:cNvSpPr/>
            <p:nvPr/>
          </p:nvSpPr>
          <p:spPr bwMode="gray">
            <a:xfrm>
              <a:off x="7837752" y="6926580"/>
              <a:ext cx="540544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24" name="btfpColumnIndicator384243">
              <a:extLst>
                <a:ext uri="{FF2B5EF4-FFF2-40B4-BE49-F238E27FC236}">
                  <a16:creationId xmlns:a16="http://schemas.microsoft.com/office/drawing/2014/main" id="{D33C9FAB-FB4A-4A43-B88F-5BE3D3680198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btfpColumnIndicator597748">
              <a:extLst>
                <a:ext uri="{FF2B5EF4-FFF2-40B4-BE49-F238E27FC236}">
                  <a16:creationId xmlns:a16="http://schemas.microsoft.com/office/drawing/2014/main" id="{B3B7F9EA-E73E-4054-B832-4DDACC822BEE}"/>
                </a:ext>
              </a:extLst>
            </p:cNvPr>
            <p:cNvCxnSpPr/>
            <p:nvPr/>
          </p:nvCxnSpPr>
          <p:spPr bwMode="gray">
            <a:xfrm flipV="1">
              <a:off x="8378296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btfpColumnGapBlocker104634">
              <a:extLst>
                <a:ext uri="{FF2B5EF4-FFF2-40B4-BE49-F238E27FC236}">
                  <a16:creationId xmlns:a16="http://schemas.microsoft.com/office/drawing/2014/main" id="{A500320D-606C-48EB-A5CA-0137715D04BA}"/>
                </a:ext>
              </a:extLst>
            </p:cNvPr>
            <p:cNvSpPr/>
            <p:nvPr/>
          </p:nvSpPr>
          <p:spPr bwMode="gray">
            <a:xfrm>
              <a:off x="3813704" y="6926580"/>
              <a:ext cx="540544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8" name="btfpColumnIndicator234518">
              <a:extLst>
                <a:ext uri="{FF2B5EF4-FFF2-40B4-BE49-F238E27FC236}">
                  <a16:creationId xmlns:a16="http://schemas.microsoft.com/office/drawing/2014/main" id="{2BA0AB57-C29A-462D-AE89-E8497E3FC9CB}"/>
                </a:ext>
              </a:extLst>
            </p:cNvPr>
            <p:cNvCxnSpPr/>
            <p:nvPr/>
          </p:nvCxnSpPr>
          <p:spPr bwMode="gray">
            <a:xfrm flipV="1">
              <a:off x="7837752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btfpColumnIndicator856917">
              <a:extLst>
                <a:ext uri="{FF2B5EF4-FFF2-40B4-BE49-F238E27FC236}">
                  <a16:creationId xmlns:a16="http://schemas.microsoft.com/office/drawing/2014/main" id="{76A95DC3-BF30-433B-A7AD-F01A00AC4A11}"/>
                </a:ext>
              </a:extLst>
            </p:cNvPr>
            <p:cNvCxnSpPr/>
            <p:nvPr/>
          </p:nvCxnSpPr>
          <p:spPr bwMode="gray">
            <a:xfrm flipV="1">
              <a:off x="4354248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btfpColumnGapBlocker583392">
              <a:extLst>
                <a:ext uri="{FF2B5EF4-FFF2-40B4-BE49-F238E27FC236}">
                  <a16:creationId xmlns:a16="http://schemas.microsoft.com/office/drawing/2014/main" id="{EA463A23-F0B3-4A94-A341-8C3CE2557721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" name="btfpColumnIndicator299579">
              <a:extLst>
                <a:ext uri="{FF2B5EF4-FFF2-40B4-BE49-F238E27FC236}">
                  <a16:creationId xmlns:a16="http://schemas.microsoft.com/office/drawing/2014/main" id="{F19F5AF9-68BE-4C87-B7E1-8DB475E03A95}"/>
                </a:ext>
              </a:extLst>
            </p:cNvPr>
            <p:cNvCxnSpPr/>
            <p:nvPr/>
          </p:nvCxnSpPr>
          <p:spPr bwMode="gray">
            <a:xfrm flipV="1">
              <a:off x="3813704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btfpColumnIndicator657970">
              <a:extLst>
                <a:ext uri="{FF2B5EF4-FFF2-40B4-BE49-F238E27FC236}">
                  <a16:creationId xmlns:a16="http://schemas.microsoft.com/office/drawing/2014/main" id="{832D03E7-96E5-4098-AE96-F4C1006300D7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btfpColumnIndicatorGroup1">
            <a:extLst>
              <a:ext uri="{FF2B5EF4-FFF2-40B4-BE49-F238E27FC236}">
                <a16:creationId xmlns:a16="http://schemas.microsoft.com/office/drawing/2014/main" id="{EB1CEFDF-2535-4E58-BAD4-443A64B11D8A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7" name="btfpColumnGapBlocker984658">
              <a:extLst>
                <a:ext uri="{FF2B5EF4-FFF2-40B4-BE49-F238E27FC236}">
                  <a16:creationId xmlns:a16="http://schemas.microsoft.com/office/drawing/2014/main" id="{3953A8C5-39F8-4F15-9FD3-81B98B4F5B8D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5" name="btfpColumnGapBlocker833080">
              <a:extLst>
                <a:ext uri="{FF2B5EF4-FFF2-40B4-BE49-F238E27FC236}">
                  <a16:creationId xmlns:a16="http://schemas.microsoft.com/office/drawing/2014/main" id="{1055C95B-9582-4AD0-8BBD-8D8C2239456D}"/>
                </a:ext>
              </a:extLst>
            </p:cNvPr>
            <p:cNvSpPr/>
            <p:nvPr/>
          </p:nvSpPr>
          <p:spPr bwMode="gray">
            <a:xfrm>
              <a:off x="7837752" y="-205740"/>
              <a:ext cx="540544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23" name="btfpColumnIndicator244045">
              <a:extLst>
                <a:ext uri="{FF2B5EF4-FFF2-40B4-BE49-F238E27FC236}">
                  <a16:creationId xmlns:a16="http://schemas.microsoft.com/office/drawing/2014/main" id="{009B5C0E-ED53-4877-982C-21C5489011AD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btfpColumnIndicator207269">
              <a:extLst>
                <a:ext uri="{FF2B5EF4-FFF2-40B4-BE49-F238E27FC236}">
                  <a16:creationId xmlns:a16="http://schemas.microsoft.com/office/drawing/2014/main" id="{AEA5323C-1287-43C3-BD3C-8A50211CA3BB}"/>
                </a:ext>
              </a:extLst>
            </p:cNvPr>
            <p:cNvCxnSpPr/>
            <p:nvPr/>
          </p:nvCxnSpPr>
          <p:spPr bwMode="gray">
            <a:xfrm flipV="1">
              <a:off x="8378296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btfpColumnGapBlocker401129">
              <a:extLst>
                <a:ext uri="{FF2B5EF4-FFF2-40B4-BE49-F238E27FC236}">
                  <a16:creationId xmlns:a16="http://schemas.microsoft.com/office/drawing/2014/main" id="{5045A66C-2AA4-414E-B27A-37AE4A638160}"/>
                </a:ext>
              </a:extLst>
            </p:cNvPr>
            <p:cNvSpPr/>
            <p:nvPr/>
          </p:nvSpPr>
          <p:spPr bwMode="gray">
            <a:xfrm>
              <a:off x="3813704" y="-205740"/>
              <a:ext cx="540544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3" name="btfpColumnIndicator853055">
              <a:extLst>
                <a:ext uri="{FF2B5EF4-FFF2-40B4-BE49-F238E27FC236}">
                  <a16:creationId xmlns:a16="http://schemas.microsoft.com/office/drawing/2014/main" id="{99CA73BE-C862-42CD-90C7-8730008AD162}"/>
                </a:ext>
              </a:extLst>
            </p:cNvPr>
            <p:cNvCxnSpPr/>
            <p:nvPr/>
          </p:nvCxnSpPr>
          <p:spPr bwMode="gray">
            <a:xfrm flipV="1">
              <a:off x="7837752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725150">
              <a:extLst>
                <a:ext uri="{FF2B5EF4-FFF2-40B4-BE49-F238E27FC236}">
                  <a16:creationId xmlns:a16="http://schemas.microsoft.com/office/drawing/2014/main" id="{4211FDA8-9C98-43CB-85B4-29F9A32123AA}"/>
                </a:ext>
              </a:extLst>
            </p:cNvPr>
            <p:cNvCxnSpPr/>
            <p:nvPr/>
          </p:nvCxnSpPr>
          <p:spPr bwMode="gray">
            <a:xfrm flipV="1">
              <a:off x="4354248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btfpColumnGapBlocker214867">
              <a:extLst>
                <a:ext uri="{FF2B5EF4-FFF2-40B4-BE49-F238E27FC236}">
                  <a16:creationId xmlns:a16="http://schemas.microsoft.com/office/drawing/2014/main" id="{EA7D488A-94DE-4813-9C96-57E063C6D079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186235">
              <a:extLst>
                <a:ext uri="{FF2B5EF4-FFF2-40B4-BE49-F238E27FC236}">
                  <a16:creationId xmlns:a16="http://schemas.microsoft.com/office/drawing/2014/main" id="{6CD7EEC0-39A4-4AB4-96AD-BAFADDAA69FB}"/>
                </a:ext>
              </a:extLst>
            </p:cNvPr>
            <p:cNvCxnSpPr/>
            <p:nvPr/>
          </p:nvCxnSpPr>
          <p:spPr bwMode="gray">
            <a:xfrm flipV="1">
              <a:off x="3813704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597149">
              <a:extLst>
                <a:ext uri="{FF2B5EF4-FFF2-40B4-BE49-F238E27FC236}">
                  <a16:creationId xmlns:a16="http://schemas.microsoft.com/office/drawing/2014/main" id="{D9656C7F-05A3-4702-90B6-2DD411906C64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Illustrative healthcare providers cost bar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columns_3_132338282751520314 14_1_131853095735509976 17_1_131853101701930982 </a:t>
            </a:r>
          </a:p>
        </p:txBody>
      </p:sp>
      <p:sp>
        <p:nvSpPr>
          <p:cNvPr id="11" name="Rectangle 10" descr="Enter Chart Description Here:&#10;&#10;End of Chart Description&#10;DO NOT ALTER TEXT BELOW THIS POINT! IF YOU DO YOUR CHART WILL NOT BE EDITABLE!&#10;mkkoexcel__~~~~~~~~~~False~~False~~Falsemkko__4HooU0THZk28POP9trq+pbTvvzd/gcV8t56cq85kb3NDTsUhojRA0EsgEHHMH7oYP1SYpn09ysXVivguJdhTvfyVMsBLTGvcX7WPTor/CmWV7V/wylEnRSjNa0bZedd8Yjfz6TiCJG8OqoXAl5SrIeF08dlXg26VCLQSuMwFMmWGmihLwizelWVh0+YrBGrvbI9abCAsXIvQHRa+DCJaU3PJON0K1yeblBWRz/cL7a0uwAyWMqmGTLsBbUcrm/D/6eTHTkijpiVodNB8ZFnPU0d0nJ2fXTu7+1OPwHTjemllQ9kavxNazLbt8yFiyNcOJa4Y1PJQvNYq9NGWHotWgHaIiGCUQvA5i7CSjuzGM4XnPw2+ryRtSB2Q4+qs4lxYcVRxmzddUch4RoCeA8jZp3cI500kVDLtSZLC0DiuK7WPKYffJyQ30WTWT2s/6MxC9qKuXTRUbrqlZaVLv+CTHIzyFxw5wNm331M+qIBbhrMiOx2c3czOCEBOJQ5Yv7AYSy9OmlYPWCnO68VERNec0U488e2L/gqmyEJGOaJh/VDQ+7NqgZw6My2LaDe9D7G/gAAPjPuZ9s18RfTUsil2aG32x7hAnfV7B1ZiMwoyca72gTDbA5nwPhtjjxA3SrvJXGtaJAgctKlOGktooAoXnWr0CL/LvrOlReJEiabCNtxb7vBX3wYkYRIOT8tq76uhTHuexguOxNBvgfczAZD7etuam9HPJkRGclClMireWiyCw48qXhdkf7cTVctHFRPhQzFaezTTaJcBEhIv0i2eO8qJq8hi4bFGYBOLNj5RK90cU6S+iWtZfUnC3cF4SViTv7GdxaZyg+Vi/Wp/ZPDLyKpFLReKIaXOMo30WAds19URmLLsMsIKkl9B4G2681GCgwQDGBWW/IisDbAwb2+cYvOpOv7yGCxEGgZq6++fH0gYrsCIeJ/Yui0oRY710gN7M0xVgYyJtJfs5rfN1eNfCCP03KfQeOtKcBCjkD/DTXUVnrX72A/11ilmx3PajJ9lTj2mrbRP2vKo/a89ZnZGtd+zrZP3moNyzRyJOWw2VJAeOLdcaFWoap6k44E+TfhqdcsY2oFo5D23wi1CKaXC8/d+Q3elWkSRVd9CwBlkZioWYbgb8WYDbnGwgf7SS7EjvBWnJ9EkLQ8iv6Yh/XliGyhnShilNiAEngq2dWLKkufWd6/kbTq9oZRYI9XKQcXDCEXTO0LJ7HYe919LEvfi6KBICuq7JcVqqIHliEMzGtcrWv7KsWonBxCUmQ0AK53fyvoSXjhbJiU+q5I3DEZml45dpue8+IKzQ8hn/KFlEyesEesf+UGZJDUqqZW123W+5ea/0JKyhtGlHMRSTKs+Ci/Mprj/J2WFwl8oegSjuaL+kb0OIcvEg7V7VXEjglZLncEHybGCm8ZjFIXuygzHgMSH+nXhAXSOyFOO5BEBlY3xMg6NOPIP+OTOWc56sAo+h9B1Y4bIFxVFnPBCFbyIibzXKvZaIrLR84e/zs+EuGlzhdqbD2nK33eIQ+fqHbTLlg4Q8WZBJkXoGQbHuAHBl26AUP4FRRzuPdYfSpoiEqaFiB+fDF9W4Pbo1txj12qYZXe+3brHnLMIE7NXRJzyrSQx2oYsJShQwYmVViyzXxCV8g65sDE3VeX8p1ukZ3b369JznOQ1t8118bSY8RAqKNq/8Lzk3gTJNbbWvHfoG2uZZl+zhXdW0+X2UPwE6GGQp/7lVGyXZqwruJ4lZ+p8S9m9h66KFDXDU0rK6ZS1tM+eesQoTRT5u1qag+zgKuwS6Q5ek2JxgN6GSZDuuuLl27AbyRQ+0eocsylfJu/LeCR6qhXITLKTbUqmR7h9/e/kMcGky8S4GQKsiuWpv0D3dykGX0xQtS/FwBKoV8ZEm8mgHcBFzDLSRfphWqEKeoLTnJiWfK93YVeDdoX0I6oC90tHFlfNME4m+Ffp0Wkih4B3cHshK040j8boJFjEVVkFq+c3qRYOrAyo0iRCwoidLYmATXro7jm78FMmBU9qXaUo2VbHRILvWrZJqR0VljbF5htjeJ6D5NewAlnFPn9UB2PGe9KQRkMWPySsinczju6wj4Rhg04KT3r03sFikdF0hXVP9Zz4k/c+QeoYv076xP2bccGsP5UvANaqb7pCG96RzxAVr8drABfH4fPnHUzImDQ/6OWszynQHbYmTmVwblAYIQrQZLiD7QO7Ak758kdJNwx+WSCkqLI8mwDUgnlkZZ5HyZk8+RQ9rezLcSenHCH5RlHV8EpCqxTnvt9A9dxTb6zoSRYgS2ONe5dKdl6VqE7xDxd01Vj2K6BlFlY/Pcpa/+IB+BE2Fa1IoHvy/fjCR1uVlqo+FKnzx1cyInXk3DeWMTPucjIUzVCdL3ZrlGFs2H3fmegDm0hDK+LTI9yTNmRY9Gsl2s2WYyqDUQPenPpmvZLlUU8Eobhy4Q3fh/j7QieZaP5gZkavegxsMGX4NjdZ+sKAUTEy0AihPel19HtC+DrTgNoI1bbysQGD19C6kZ+GkDpPEw2GEbyPcIlGmhJibQjDe6hvdtym7w0mGV9qEFCjqcFaDcbzvf+rNdXHL05wSoPLS4yBLtNX9CWZL08L8rip0D5g1MNXk1wpaoRn1wU/J+qZpDxfYusSfKBR7cG4Uvn5ZEzyowGVNcTXuXMrah3VTvO6Nk8YpefXqWfVHLG9Z2O/hyCt7YN19XZwlptDZbI54CNCH9/gbhws6BdjWKrZTBqQNAbPyYVoJkmI8NMMd29Wwh6HUZNK4AAhPkKMesQsPOc2tYnx/gF3+J4vyGk7vUIZVkulY5/O00DYzIhBeqBfsNzAKAEqBhWJ02Mp/4itc6S8fblWABkqcm6LKWYrcumeXADXdkm1ofFkb4HY343oX1UDQVjySUGstJx7/EkmpI0t5lKI9BGFGoMipLy1y6b9FtZ5n4693VLfvWh4WqICowodhvNB+gtSO+7wAX1mIv7K0K1gtR5o5iahMvzm2w3HD5IIoS9Q5RFPV3FE8+xs18A6EB+HW1XT1z40pEGUkghqOeWuAZkG4/eifsUPqKRep+1TyW6WscvzulG9TQ0HJbo+42p/XJ/EHifAraCUZ/hbslqXp9PrfmnXvWQIo1ZmuAH3bdEkKOHhyfWRfJo6wLKa9OyioEzIcH7QpOLOAiupENCX3CjSoryTm95EXYDN186CPi1oc/ZLh3JZJ3Rk+lmuzSiFrgugzP+MX0oMFscD3KDauKAeNktKKNU05bIuouEc53aXxKAxKp1ypjl/JjEmyrHVGtH4Jy12ZB3+8Cdmd05IOfiv+xKHzGGDdcXVmMbV/rZzY1x4uwFlkmLOTbfTCXRQs4yWiDQHwxs0kABI2PDNKlLzZjkg/a3emY7piJEZ7J8takqM8fpmloxG2OHzxZyeh2ifw427j0u6mDlgU+Lvx+VNpPEZXzzgF2KKq4wDtthIMAKzbkz3xjeBaP4op1feR2sA/fF3m1pjmF6bGCau95LuG3iak670X5hOp5ou1k3fJfTWJ7FaRCB9ALetL1yY5ne7hLfEDWOJ5U+vsdhMrvpl6x/UMOd/7f8S+hqmrnpR3hScqusEGZBkeW2hSJXaEMZebxNwT0+WqKvm006KmzioQdMA2uutbLNoBFXsYt0e845UrjkH/sWtBejYLJ5d8YcZCSz0rSP1yCuFbw+P5MrgrzNgC6AhqiXrkw/llwTpBK9IpFNZk0A1FIyCErUVOuNszh5N8uHvIRQbwnWysceM+DrF2O1OqLN12hmrFgduK6jQOHwfelj/NhJ8Gauz60OJ2iwSNGSzorMzWzYB3B9rzXmHNNb0DoCL1VNDi1RT2H0Envzu6xGdW6f7gEGwwn2nVDwzib9NYWeVMnoSJyL4a2s77aXbQhe7sp142Dj98Y2kos/b0IQFv8tTC/QazP9Xm9hsXDLUWjWAerURcMjiabvEyfc89/Ge0cyiiFgmWexl0+fxo9jQATWAsjwWPrnq2NJ7JJP/yYY0ED1cs+X9Ee0ljVBXn17gJ6xC4UEkPtwnZvKTWa+2S2BDREOM7D6w7CYBdFEwDwirL6mpOP2849PFxX6cv5XhKErTbnSadW0YY2ZMVajXWQet0aePmqGm800cJKXUgU/k8u1nENIpcukqdvnAQahOZgpiRjL1f5LvxPAneMq66LhSiZsBQg6MF0p1qWWOSj3bQquKcoy+jh161+uZkui+JdD/fjJw2iKI8RL4tDOHYYMqtIqn5DsaU/GP9pEsA1GyHrPqYqzR3DKCP0wj/HdZxm9paNLnZM9r8CewqdxffTe1YAxfWb0bc3AZPsun8voDEbTPLT8n47gYEu5U6BHCD6sYVCwkBzN2KjhCaHrwFT3Lt/G17T6lBxXcrFRXzvbZXFJr5/+JD2oBd8OENcnA9m8ZhIF9PbB9deAn3f+FDCTWJpIagKKqXCGmRUh/0rqRVaBofoAPZtPJzKxdcBPfb1VQOuopXqdRzQODTXHQWOSEcquSVMTOLoc7LIHfOscRFM+UlQh1uuuMxQW2UPQl1i5CEV1x+lcd0CVcBCtyQ8jS0U+oqGLmgMGEzSRC/WErOlIBjrV1Wfm+uFnG/HstS8SVH2lCaXuJUVseKMMFhmWNjc9bnEfPscLlH/Xd9AGLBmBCY+FYQEi+GgnGgi+F2nuY9QgDIc0T9kxlZzq1qAPkZhx0IPMFi8AQhn/kCDKeFsvSNV8sBGpd94uipFyjzfAv6r+dBsaXTkmzCRvVrRenPsK2VEBuc479Hb5V7w61WBmotH0ZmzPGvKDtuYWq4ntGpZMb3a5mAScI8uKcMy66ovyBe5LnDmjpnFYd7WkUv4QUxjK6N90UHIIyUcvpBXXgTnsCs/WeF/Amj2TfNe0VMN8s6CooaxLiaqcrYv1eJ/Le5gLRHEZ/2QSygb+V4nKYJHtyn3eI13DNHjcjGI8043OAitORp3n60oxgufUTh2s8Q9osCOS1Ap1iULKkvhjHDjB9YhW8ryQq0VpwIcOrJKyPYxSEGhx6ZnhyaXVfZjxzypYvBxgPYhTg5wHtHP+Hrt/ouWg8UkGFEI3tXDHqZ5lIJ+6qUuXlepoIDgbzlpvTyJscaqPikDTAquNq3ZVX9xsuHETAc8PCA+FgxjUNaTyMlavEKqRj5rH1JvoDAmmijNCi4aW8lnw2MZ8MQheH/mxntrIuXmm4AsncWpUViJ4iTBlwj3su33WzRa2DLS4pfR7XMQ/DnxA1MuHEw0UbUBnAtiefihF7X/LIKhPrRNOGvqyo5R4CvrnpwHWoa7XiuS+In3IwLXhULOYVTtoBgXRqQGNssP/wI3XWdqX5sw4V58b/KKOCnZd3dY5Ai8se/4xHpWnndSx2npv2xlW76XpwnS8xXVeyWAl5LMlDnlXuYFjSoQzYTT1stftMz1OL1WFQ/pZV67OFcyVQT8cabwIkNviJmkolCdC2/bR/qxm/qOyyxvmCoo7gfqx/6LmjwN1IFeruuIHl3SkTfyN2jMUBytyicZgn1qezf4Ly2qEvHh64T0n2NxZQcI0ZBRxScPiqasgftVEcUV7btBhFlzL3fjeZ1h0A7yAWWXms1xjA0qiSOgHgIStYkM/4eTTJRV9XrmLsVuBfcBLKPeUPZQEBTvj8BeO79f19/+ZPfAaE12xOoUyGCPXyY5WiNa762zKxSVeutMLrqmpHE+VeQGWwrPAytXl3jpKG5ad5gz8LbbtB+teWftQheUd80D86zVBJvsukqBG+gZjqsmtMjjh/IHHtnuGoG+9fVV3Ju47V1cSJjfJIQS8LsEIMMaaymH4xDiPwYfdikSRcW0qn1T31mh0zsngEyE08wUUksNThniFHIFnQOAbobRMmtvsqedf4lCASP1OtCsSiOGfSUl/sIF18s5VV5fbdO9S1QPi9x55MCKp1ZIINX7ALX9/8YuY6pKT1euBRpDOo2kHRXMX9FffppWZvM9yMaOFdO/omzIe5ql1BiwLPLeXXQkkIaQyRLZPsbbXyBY3BPdt1hxB1c+iD9DY910Ikj7sA1pR8pBtnpF7HmP6joP1ourWgO80fOAl8zSy887VSCbrIA3t6VOAxwbarWGpZ+z2/CGMgL6uvZuJnUM3NUcuWJNy70CcMDILEWYUXxtc6QPUd+nvRtC7PYYjAPqXQ8g2J37y84NAyRy9NR3M00xP6e91ZJy8qxuMqHtWM5XOaUlw88yhXaF/vRvJnPIlDbNSrUlXUJuTEoODwxWwtvEj9rwwyvl5zf9Ex1Zzl+u71tSKQcJEp9c6k3NRKJh+cPIUrUhGkYGYe1Suy2rmR04cyFNm1GwafYo7P+o72pVt8Vc2DuNPJQY5VyJ9DaOWVZZgL1IokiyggZ7UwcgmvF1T5CEkh8uael9BK62IKzEGoC9+XTsLiAGhgHiI/qMetH4/I28Q5j24nAYGqAdk2BDqX7oWFNv0aU806eqqpspijHuspeaGhhTCZp5rpF4cWpWvx6GAdgXimDJQI/Q/jKRMMlxJLaWM45h6Q9MvuteHe3/Ru8DLAhmT6lMQROpR5A5zgpjdfjbD6TKI8NmFP65YSJONPMNwDeor/56p0hVHol1gowJz1Zl+G5S2QNvGnB2KsimWBYW6IMxkwmplElSDuUj9tDwlTxGIqen4X0+3WERNV+OzBXlb8aB7i8KnRcwZeoFA4syCnx0MrQwJ5SK0XvT8RqonFe55nEbM54ADPSuZR3O86LtIaGShBw4ywBL34+pbXaeOhaje4+y9C3h81IuPKmbKjoFTjPB/Vg8vxYseErJnrlv6unY1d1+oVD51SrKpFuFzkX1ChbkXuXRZTUgx7dW/hszd7wp839n71ubuW7Zy+rwoOc8NhSkVIEMfZMHSk5BlwMK2/HIwHlhNRr4tnsMm+wqqYY2D6rs+v02NvIF3KHa3phAPM876XRCq4J1IJg6Aw3+00frDLUbIox+JvfSuqdH0WuuIzw+y7t2wkNPCSBb+t0xVcGxXDH33q0vM3EPHmCTPMoBJkrQR55mQcfz7AmpECj/xd4utXKfONNnuCJ5HBApbvwVzgpGoliV3PiZnJKcpO+J8szgGmwj2QyDMY6TPc0u/WVlb/s6UdhrKxuB3/Ej8TzWFMwiTpiuKnZEbGNxBN6WOUv922RviHQ5TmeNA+I0u9/lVb6t+grL8AWsAzw+S+g/aayf0RqmG9uhGNZGFw4uBHXKjgzUeV/HfSy480ijNHc/0GFLLV5QOXIRqBrcTTiCf9TG4A6W4zmh2DmHAkourulIkrVnaCUCryUMEnovFEVGTIzW+iGjBhX8a1o3j/Q42nXBVU8o8zoqpr5v29GC4aTNvkMFnsyw5bZrlhduEKdB+q/tzu4QbT4LWTrxo0QuKK8+ytQQlLhHIGmhXpjpGtEWIc8R/IQrLAi6cDeq1bGqNFrVkoKPVtaftzFyNrU9HH4WnXrY/aLI+nXr5zgTJjVYFKC1ub+Gw8MNLEsMC+g2t5IGq+jsKP5RA8+RDS3CofF1c7SPvqa1X3S0EvA+cKP9de34aUBAMZeLo+heANmv9dyTjCBRkmwxcui16+wxYGTBSsUpGp+TaWljA+u6R31GsZDk3go2ykDlLqhgQVOkhG6wE6d3e39DUJbJmzjJf3fKFPfuxpMFWauQ2mfbuB2SlA8ao0f7MRES5MFOHkJnhir9teFZa8ytY8iUBQTOvRa4nb/odWxsvck5oFufE7S05CcspyLUZ4wJfa9Nmcq9x8gJ1OMjLZm8HuLkY+9RB8T1gI2DQQ9WPSE61SOQSu8BdfoDu5chECzlo6OBGQ8ETeTOx8kwZboZrF3t21WvtwWeWBonm25CyRCwOyc1PFEKd1tbPzHLCxrdKn+zSssxGLVjAKikZ2b4lbca8lvav/AnnlvDQsJaSHnQE6Y+wKaSNhviB42UamWcoTQpm18NRZ/A4pSHu0efoESJAyfPqzWut20EWVHVGqkV+X1y0LPKjRyEDB3x7S2kHjXKvhZwj7v9pZ9GxrHXQGmnq7PTYbJDCX02a4LYW5kAsdFUiUWb433ec4ERwPoLgruZov0km5tTme6D5q5xGCmbZzwyan5tXlzNOYq0Ag4MoXc9TipKdtu6GD3DDKbWOJCED7GkqowMls5jNtLZr3ryfF/dUvOFy8HV78FZgasrwShsBZ8Q0haDZ5Z8JoHLwlO0JaTS2b/QceS3qJ3olQH41o3HMg8zRW5A2Z2ExFIEZxpbYWsTzRSLC3btjbjsAEyjSeHfRdR6YK8BJvNDcGYfLd8ID/lXbPfO4cLCYY9Nh4x1VMv9ylqtIvPQk+prf0Y8bOQg8DMO1WKAqez+pGhCFB56sdivdEn66eyQWhr6tHoPZhI8WZn1iirGTzeQlsaN79ggvBVMYSqRnsKo+KlHddTVqGguZ7LUGG1VImPQSQWinmgBY8H9rFjRxb8dAHKJF/N4ocJ6Z013fMEepFXEfhMwP9S69nejzRA892guWiRBNm72SO9XiDlvWVn54uG4WklI0PXJZscYVE//d2oWAX0sWC783EgA1i3DvkAk4n4HN/tW37Vv+IU5tVo+jKvVgdU3lxZNuG8Q78zucl8QlL/wRBKaaZ/hBa4y9yzHsm37zo9nZU4Gp/16tyFiBLA5jCAmtG9z1eL6mqJIEedIU4F6GtifK9gEowTVTIYGW6Zem9u6Zee5PxGioO5LTCFMfxZ59VJ0EH+7u7p+4+WthNjfaMsPmPVPmuc9gI6+32uSXl3O4U+BD1uOetElDHDSQFmtJlj4l5mNJsmRms6ezoql37Ey5WkILyvqd7l8aw5zHLhSAHvGeHmOpgGj2uQ0k/Rf6jz4YVaH/i3+CwynLuqcY0rJMvMcxsliYcM6CF/m0hsstDDUFWYF25pxfViRzLMqCobsWSijYTQ91HhILxbr9LznMvr03Dh/te2U4cRilmB5B3TyYLNfxJDY+NjRAqj2xW69gpIfSFQISPkKbBgpsCf9SdILikKU8mBEVdFfSfR4obZLUv/6vafxISox2btCE3i7ZM7QIYnSiscuoBHRQOIM9FVSfQIKr56l31SOP7CZsTaGi/DWH9ggKm/tDW6K5PNS7DygjYX/Uq6D7mYaziwYyZEIO+lXDDFgw/MgWxPnNMdMEMCldCckqYiZsA8/3/6CofkMPlH3qNmrWORxiVxDt9lIXCEr50mupZpXtCM+sO311+e4of/N/d9EG9Pdl9Og3c6YruZ3jj1rvYQUE/jiFainS6vwshvdsJpFpIEKfqLIymDBgEbL7Q/MCdeGE0KyEOYftdON/KLf7SNshaS9ppWkyJSCGYUfDr9B6tDAIhJzckQ+0fjyLcJD9BYQ2TQtIVk0xk59jWt+J2fmhu8Q6MGPyfA/bLKxVC0MGKtp4d45txfefWgZi0SZri3tbK7+1yyiWytvkJxgW9U2X/euiAmt1HfLehvPgly/2brboBrlh5APegFDNom/orp7F9yj9f0zRlAfhonWmvO/nxzND2VfFN/t4YNV6VzWb+Esvu4bqrEfzFxGBezqnhEuGJYUP9IjPOkRr32aYJ8RI6lkKZmefSIpNQtD4HVgTdAKm4sTwgs2oh6bDoMXZ+qza3PjyFTOzyNBz869Hu5Od9QSX6WvKr1zQk4Jj2pXlysXFLOXBo40Tmqqjaecao+KFlqI5g/gAGVYr73HctwJPieG46immWZo6e6nihovc1K9jIsHyJ4QwI5TaVtfK7jy5tF0QD2iclVOmYMJiVe5r8i66QMlEL4nDGZE/y9XHTTvRVIeNEmbTz2QgMLzRM2AHGUg66plXBXHwfLpyiV00vagoSotsL89Gwhtp1kycYJwgxTfLVVUIVWD1lzFWwS+mZ8jkof8ZGzvgCnQFjnSg5joeQleUyjd8devUyDxUC/+Id/KZ4Gilifkl7BIjlU4NrHyaXPooHIDQZqohygxr4XY9ZtIbpKkoJHuYpllNS7d7BM2jQdL/jQvKj76gwXg8DMbgQGW2cPfXWnlPEYJXrv7JWjXOp8ZHnUFgQQ5VCA1agxbAEAPR/pLolWaDGay9UPdEtCrJ6KnqTc2KiqD0BFlBFQzLQKA8q6OkQWbfxgM5LRGrsS5FSPcXBi/Hwf2UpY7PTIiUdHgyTWHDb69qAMv0FyJuOGpCD9umO5j22n+bgHjK22XdAK/KX2FXADTj+zChYGPa9BPIdAhV1ZQaBB7cuA6/2RpQcNpZ3wdtT6kSgybUunvC/uxnLlzF1CI8Sgd4eNVmKF8o24dseCjXy8sHjbR9ieNRqhWATLy2g26uq0yylI83qo12PoRZnrf5a1WCwwqNs1uqToyIe9d/HsWgEbzMNAB1ygnWoDBlsdRhAbXJgEusLEJkHQ4Opb23XRQfHy6qcgskStNAI7RvK5U1r4Yd8bXoSRZroZibUjnPtCkfhRPQ+yYlg4dM06GXSqqiR+fnxN+iLh6Dl/nlbh2CJWaE2rkCTVPIXL/DlUGqJcO7fPrE4bedtK3p067b0knXl1CnqZCJPiDZmBwbHvMol1t29pvlQIPtePdT8KlpTCnBDpQc+MxfquHzto1M2/1alNDL3P9EwyM7OCHaDmJtDS6DAJElAlDxaqaE0EXzMsiZ9msvomRexkda+UK8hXm81JoI9p6TdQ3J+7aCdfgwBoiW17KxwE2E9S4gF0AvzZatguCQzKrBNqw4wOA7Zik3glDC0IDiJ0r9I5ldzipgjhoJnoAPItCTa/30CjZKA4sL7VoAk9xvxJBvmxGgKEYYCQRMlR5VPxHtvP7zAhIiSG5HveRZhhTXVMaAxIYnSCbWW10YsouxMwr6M8GibZCj9VLchRd4OyqjJQGNR2E2Bmb2N1L8IOmjW1hDRF48aSBHOSKt2QZZfOK0KJODonzMtqDoDgKZE738hS9WicvaAbz4FDgfZ78cdTJPPlrXepz3h99vJizvhx3c2ecuVxEkDFWrEV/6Dw6CmRVqi26DLaHG6z+5rvgBGxh1pDVrV8qdMkTobEKG7UlkA73Me6C1B3eywfpAa2cgZDxvAelMiGwWptktTxhR26c4jcPEVmlaVFZBMvZn3Nb2KKsZf+iHZbW8svrautguvVvXVV7tpq3ZKzzpXJ884IrcOsC3XMEDnWnmRTAX74G9Mqqa9OkGAzZ+VW5pkyFBBZdU7ldq87gaC7Ij0TKCOEpGgdfrfNjknNqyhbDpRs7Jro4KUxJL/agLSqlQPmds3/PjDL0/jHZIuxkH5fYiCbdvyz6dElgTCl/urzGo2yt6mAtQNeeEpkBNFbfjk/TpOD1wRApQgrXYfgT/u5kfe+2Bb67+rKfM4pufhLyYPHULyuz9K1HgtenkEfEw/KispmXVne5nBWUoeuL9Q44X68gCvC7+NcjqydI16CfRFonsSGrHFV3ojHljS31B5X5xdrlZ4OMDtK/UNLmN1mL62IJkaigne9xXmjiWcQNL1n6Lb43q2iPDnPM0waQI+4YUSnK9u/llTjQVu2gLGpjPXhIQRuL8HIF29k0qlLcpM5mVGXlnwiIPv4McUxfdlLBOvGL38t/8mnG8EvHzFF7wYGO2Vb3q1tYTSKV0182bfZKKONChMYg6MtxpZ0GWJFR3uSmH0qyQXQ0yY/EA6rJsbQAOZOx47PCH7mjsMOP7tpZlRXAGKpF7AfyRgS9LZXW1tBu+VUCZZOGVPfyMAZO3HfsKKHV8ajFWa+xrk6OJIeK2xuU17/sQKoT3iLjX6tmGK1l63LRNynZCny1lObK8CsOQTTFIeqSO7PALcQn3h0RQzdoACmsr3Kv099+8bXQn/6q4BDx8bjivvkHgoHDsnAzzzhbOjGEeSZ8gaNX99hISAvDQgwuqBEACNAdLNdIPA+OQOVRVetmobst7AbDGAiWJG75Dq+Q9h67XkKJyEakvDVqA+x5uqwlJ5lQLYe0hH/vmGoRyLpqCM3RVKiGKr7C0F8u2kQ3snwjxUfl34KMnocD27J6Eac/IOnO+mk2x/bLJFfmM7fhhkM+AOmb8A1AzM/xyDX+OXQsRYn6oAPIetKBiziZy3HT1jYFX3YhLdZqK6Q2g99sMSEX/fVAxl9CQ+SF56etfL1FXGb79Tc4YNyYO/3AxnGh/QdR+ZnOv5KUtcPq80Z3dW0uMlg4iWVrTmPdMmYMAFEo3eGQmW+9wkiY5E0DZCjs/NV8WtgRhiVEeVFUx1cxyCTSGs3hhAmX3bzg4sH1n4pSsWf+zflDE3S+Q5a/Zgk78y+ILMkMSsHz363NDHktFlB2nNwkE0R+XNqDSTvdz1rp9IEC42yt26un5rUhTTjYKrnH0Qs1FBM7WuvPznF1j+X2HHgaH/9BckFrL44z3beKVv3T6ECtwIsC/g9DxbvXHBXMSL0zQ3BgvxHqCf3LCGSRGNgpKr+LucFGU98d6iZbSZGlxJQ8U/b8QuzWaeJLepbSmtVu9t5l80ruY21Q6IKIj3uF6quntWY1dINLxENeStIWbubeV9j4VZPI1RYpcbPgnY+z3Q2vtAT3K2VYvLK2cfERjk5btFxYU6rzMxUKNToyJplSpUKSjH+FZJ9NoX7d6fqqW08zy3zriLeGC9upULB+nmzZHTHtMObHhGeDFVHEqSSeO+gw54VSewb6c79L3M8rgFdaVhTFRIkmKilNAIVhAgu5vV3AgwMRjABJYrQaXQyV2fevVDQ5V4Z3+Q88CGzO2MMefFVph1nZYEhrSE9vBLA40hk8itluckjbTUCStUgG1TD54A+kVq+e2olPVxIjLDGhcClJAkBrb0A6EZdeZqsxsK2yQk+H4ycaQTUiZTniohPjZ9wmnozpCOdv2YvCIvQ6D9X4QKTVxLBsuAcZC4wgNGjTxVuu8qgHFvBmiW8Q2FjA2Gd5NhlCl578usUFVZDsHrXlahG1w7bmnl22w24/7SMo361sPfymGPH6X6xC7IY7KkAZW9wrxwHmWJAQ+bW62FmrBNG8AAd+j1gTPmGNPtH8LxN3nevcehptgbJUSjfzOLSqvFh94br7TDU+BoR10R9M3g071kIkCRMXdffOtHVHVvW1JOTjClwk0K3tYOH3BrsqzEirB7DhLWPhyov56RFU5tgIO9kfMISKv/P90sYpwDf6QuQGdf15OiZVA4p1SooDwMMIhJP4XCFy69ZCCPJYWcAKdM7XA2inuL1GkyrwqeE2EvlueG7BrLAPYWdpp0wH0MmqpUuATXNvEtbr8/By64ZYwJvl/PsDnWdJmPd2RqimZ0FaZnXwCreax2kDB3yQo+0Tp9sMI1K/0ClX8BpTr8DtiMkpsuET2erf7vpSzpnNq44RHJdpeh4XFNRxyLkZlOj37zOTIUiFJDXtrIDTzqkdyGI01oF2Isof1U/VUjYnAXYV3Qf+iG9WQ7j0SPs3fW2XEqzd+s+kQ82DIWtWOdh9grCl/yzOaKMni6XM27ursWT5m4n9Ku+BT36x10DwYZF653JgVO2dHwHKCYmwizHioy/Hwrnr6PGG6rp0FKBtM45O/fNvvENRwQMv/M/B1s9gMNgPhu0UTbdq+kALN2X9scFqPNmLcdFZaekbA5/0WFKvhEdISVl73YPkm6HhfXwlHWka8MibZTN0sfvfiqkOKtnmbTYnJwnpG7p57a+aFRbi2H6FgswaXX/KADXSM2IrO3q/Fs4PCBb8n+7dWfDmitLH62JmA2k+u+gL+YUlKfpKPBf6YCDvKUg9+mXGFA0mjvHDjDHZ9RaKgXDWT95wmtfe68ho/5Nnysz0MfQtqmkZIqZoVocppOAo63JaE/e1tO4h+KQHQ/wq+gbjhz0QU/f4bZzEOmRy97q2A8Hk7Qpvq92depS1+OpuDkK2mgEL9rrw/UH5XiT3ACwHdXpEi0ZdnaQSfdiSa3bis49YwNFhIxWJFdEn0TfIsvwadMck2i367UYndvq0Eobz1jAOwIgeWWoYVyv2Oh72EZy4SH1XmwRJFpjOFsKO10L+6eAcZdxGfDeg5CGlcFl0VYybYJjqB/+usoIXGxZCg6jW1LypIZa2sDag99KDMBDtwnnRZpaCh7mi/UxJrfNkB42IZgjRZtVjCJTztjgDniVQhrp6+aZk71s89bdowPDGSPCGtbD86HutEd4LuHZ/RCRx5Jw03bGpHxmaYwbCLBCb9uTmYp79PaDBRqpOdSh2QGLm7DUmNOulc1NoxVeCb5RtKqxRiKkRqycM0tA094ZNvFNjlw/4NxzaJ7i5hOtb6U15ICsxhUZ1z6s1HQhGsgnd74VogFUmEriYodgC4xEqWelMPtiNOiffupQEA/d//fWmeX+uTb8YGkH/UfuNwBc7T8EgYuFKnRN3LD2vcuJ9DIA6epoYQ7FUf8Rqjz7zdFndZBXSxRYN2H3PVYGUeavry3Ld7Vx6HDJPeCV5fHsf95SWocDwY6ecO6TaRrmYTLOHHmjWTaCDHDrogCHNKND32/BQ99lCb7Tgne0cA1R8leEyQYU9oZB8Wg8fZ8ur4bWiYeVXT/J7xz5aGlI3wODUgMJlfUMC7WP5yfV1cxd0ERI1YFwmAA0eC1qQKsF5in5DMykJOQflna17Ch/BbyMLsQDJ1jxws1DMd9wS4g26WMT3vvn1GtP5R3fjJVdS30jmLN2ZrgVZj0ZBEgqtBxxvmg789JUNlq+mie9xG3Hf57x30hyBd+MwNeYGbkz6Gp3nM7pHD0KKbc9T+pBnfAmb6HlWXjzn65LLHBIzh6jdmNAmhnU+TgDQDc15snny6Tvp12hPru/ErRmDCNanH1SSYU0l7FZduicWztUdMUaaBV6jTgbiQwQ7vmFxl/415MoDZ5DpWw+DInNm+NQm28Bt4d9EAGtZ/zVEMRmqpnz+FMEEFq+qhlWwe05RH7esUopVdGqbyorhpFNg8R7Me9albyR4Xq1vZrrTvUojZQmItYhHOyFvGHl6+/OHEwmk1juRvUJ0Fs7jGO/CIS114wwXIas8L/ceUfCWxZEmJyCEvsuIPhwnpaJH6+zeBlnQkMTI3xEx5UfIOQO6ktw4QwGpjihF/iGFFxol1xb7dR0u6x/+4s2h7ilTyrxEYSiZhQjritpZsDgYYCHtTtMWx7NoSaqO5UOFvAPv/urZcqhfl8lSTqcu4HaDvnIRmuuQgJg4bwVZQsZ0+w0uIUSja3VF8yD6FRySixffRq5vgEvc/TBbPIfovenB4yeO6R8/AzhmhN0O8RQubWYtucQAKhuA/KpdUvWAcYjRTsw3Vm2x8TOJc/iz8QnH8p1m1PcrGrALSULhLIphKvRkvFDs7LP2ZRfyBpH8JqLaLpv4rJmyHLFbS19zk61xSBvsWxAVe3F/s7EvweEs1jjVJq+o1RkcSUOc7bkNv2iz6VLlzLPftgXpm5zBXCNisce/rFW5EHNqnbrkydZx54v1hctGaAA9BmrdnmHEepfvAiGk8xt9PNhXBWxdYdftnd46ez5gnc24OA3jbDKjqBkwn/m59Q//gKw1/OvumC3/oYTkzh8juVz5VL1rmp307erZ8EU4QcAM/to+IGlrl+MhiWX6bH80/a0jX84kD6opAgB5Z5OqgSG9k6Xj/5yLGNpjGkSVe8kO0VJVYnGaZS4w3zf69sjb8F7TLfcU57KfwQLHt1xt+K0P9VZdB+KpZKGJK81MM0AWOb8iNwyqRCnSeGBWQjTJ1HEeYSzr4bpmvSh5ygqOvqu9Zk8pUqhn25s7/DSBJwGxWZo4ET0zZJDqiCcESyUEfWKHRHAj3dFpDyl+/v9fnOlPAfjTsPe9NMu5Q8GX1A4lGu4V/lRAOpdCqVlGkGGodLdVQkSZjUlxQlLTIKMlwo8WQQDBO7Yp/bbo/kJp6Mwv3lREeKITtWg3g9kA4+0HQ8i0k8TwV9nnTWUJfsCY3eC/2MDDlLSM72T+QCCzcrcMF26wJcoulnzjwyFx5TlRBeA4KcOKIDSgWkFnYsq7QjPRz9URuhloleSqN8y6ssMnee0yRaJLBGCLCiAFKmwk1wVFNP5iRFVNsVx9NMA1CZbEYwVO2T+9o99XbQ2HM6w5PP5MJfutgV1Mxx6YIbqsbCWI6neXdHgz+7SbTeWwOgv8UNTRkpVjtL/q14UKog5nSrT0Qxbje5F+py+wcIEvVntw7FkkK+rgCp5FHdi53xq8ZndUD9iT7acvTm7AMS9tTD+3J5E2KMV4PpHH8Yb41MDLj0mBgvYjtz+UgwtnA780n6YF4vEAkJHIByOkvcyLr+PWUu20BlJX9tbJlVdWrTpeBmIQAFCaQmabcn2oCPWG9Pvz+BiJe+5HxmnUQ39sUJKNTWMO5ZYpaLsFs1EXh5AfnZiUaGJIYV/QBWB6k/bXP5zlnqiYHHkL5q8oB/a4U7cFsoBxzKZJbHSHjQD0aK72JZEKHaP7PS5RsFEeLSafu8sqqyACtDXReZLVZLXRaG5sHYmjhT2TAvyO+gQvzFfEXw0FVqFaBJsIU5oHqyVECIUHXu84mD3n8hWVNoMGaygTAsDJ2sbkWy9/d5VpZdgGpb/b/aEiedzsQh1GkeuTMITaXD/E3yF8Woz2zDuHLegP/H+sRRdBxV2wmQURpuFqiBquOgbEArPp+wygGySYGpx+Fj4irl1Zo+5Kyzizss3OwclugVlXWE+vzH+8wtkrisNGpd8a1PXm3HZM7RWkJWQK7tLEz5g7XHJhj/YPyiqSIzs2PvWVaIYSkbcBDgsMpJ5SWoJtuN7dExRyTXErt+x9cW9qIllTVYQXedw40luV1SabHIMwbEq+UXMBMx9dB33YdhG4a+HHwErCMaQrnPsbOSbwq1tckONYP+aKEniLotjJt7ViTj8Izt6sJlmIwUVtxtCK9DM5FMkrTAJxxetp3uDkKJl5WwwnS4tON3gdrxbjUl3e2BHd8mnuiJ7rxkLe8iXzrFY/gVnqgiSUlfV3+KixIqS6LJd6r6jhcG5/YylHhTMgZru3Oz3s+q0lke72/9XzTp3iTXduAEQ0sfcDdCVMDrz7ZX2tTzHuX7m6MDdM+bWObhye31m66ebG/3UncO8Li/Aemf0Cvlvfk2ZmTn1X5X4W0GuXgHatWIKz0P8uzkr0041Y/j5CctQRA9LBWog0Xca+Pb5s0+NeL9hXM26S/y+XlDIbX1mZHN8hKto0DV3idoXT4wV75WSV8tKb03Wgulvcr5YI654JofmZ4F63am/kM8v3BYV/FmxXc28yAgl9C5Kpx0P49WBtn6dTMcdVCh+kR1VF/z9b2OzfAfXwa8zaCABqFwAoYURbOqYjg10TPTFusn715Xui3aYwexZf+BBRxUEGGfxfEhSwI72YCPuROMuXAwOxY/oSkw3v/JbKWbzDaolMTxg59F/yjVptxzU3qQyqigUl3HeDi3DMWIzPJ7IUEMFsmcqsgTs8y7HVNBFOaNbwzNoXh69Ux1bBnKezE80M+fe6G8F65tnBgsHSwASiI2oOUic/8lWOjO/89NvJgWXtAixnXlkfQoPFJo8i8+DX1Bu4Zf8sbjmrnNLopypS4wilX918lnsagIMgR9P3yeO3ZtQfaZQuo//MkjxxaC0pQxZzw9VhpQsWNufgMSgeFbtjeoltJVbhnHB1pSt7twt8VLqg7lHiw8/ajFBfFtBk0g1XL5RkchTGk5/MqWrKlS1ptwDzJRYcIrfP0mbkxHy7LVd3+tpddluIEh6aO8CF5Xrfwhhq23vf5j5PbuIeLPugSNH8iKDSHGEXvkc+kkNopAEhBpbYtML3HgM3kciSt/bzf/2HtgpgkdhuIPOFZ/xdcOjQaxtvASuZWuu8SWLDRfJr3leei2Ky4wbe5bNofSFBnaBRW626YuT39Ek+Vmf2/gq6Y5mtq+qo0EVDaT2cdc+QqkPLsk6LcQeQDkubgzgvc+UrrYIL74iPMLEBf8dZv+RRDYl8trz65HaxUu4m4RITxWZ/JoZrmqQ5sPxwkHkco7zfuB1z1ouS+YsnCAGArHvicyqXFFq17SKJKTmfqdLlr4Bj4r+ZdDStAwe/zEP5EyWGWaK9G7OQOKlzNX1rZ+Wvsw39cyL8VBWDw/qEPtg8wyVxF5ta+JEBA+nzyFlq64qC1qW3hy8Xy+9sCulVBbR6uxkj8bv79+MK03DDnmMQx0ICPeLKofNQxk99PWe9jhE81X5IINhXd//uA7WhCc14lHXSQo9yeFdWf1KMWcmZ/HXW2xf2WhLwxmAkRPGCWGhAqLT9+6HkSzUt3wmDKXI1ioVqWRUthRAlAYgZXsIYGuRUkcCt7wyu2PdJOoa39ZKlAikVpM9Pip/o6q8lwz/DChbI/17+0o4q+/lfdJtt1QT/XrhDepDWnhNPJfiVeFGdQEsgFTOOEFQEcQ89elcBdIyZCo4ruDYIwURvZt+qBS6avYw6EEe4CuDPxAZVtNPMwjaMPawi/4l1GY6a4B28YVBMOSFU4SI1vqOwnr6z7IMyc5lUPdHX4lQD+ehJhxtTnIznQwwjsxBM6WqWvhXyXLs0aZGFdQYCxfjZ62xvWgBON83wckvWMapbsEiNXOyh6oU2UEh8zy9U1FdBNp8dUI9LTf0+HdhJ9kCuodmXMwLLpOVllELUYRWsYyECFcND8vHpo1kVtLjrSzefjL6BH6LzYjtDhOyCjrSpSzr/aTjEWO/DNpmh6NAApOVj72LZOMpRh4GpxWKpjs/NWVcNuU09aHLaYbajwzcY0fw5pNHfzWeHXQMECyEXThMF89xFkjcNWPnrC0r0WwWN6Jh6xdpjaf8CbFrgKDJoR56i3OCMewK+50i79e4m25pkEAHArOvozmNMQCaKkeS6xb5SG/t8keggOY3blWGLhOOrlDN6IH0+kRXkByny8qtE3xME53lg4N6BUmsios/e6E5/rtjglNx7oUvGWRjQ1r7Ax2Z5r50E2dubnYm1AmI/InxobNwf9BBYh+B9bXQQDKc6KRjSI5TJcguN68CWo3rqT8C4Tu2c9xIPnOS9wdYFlsIyAOfuWEFR4UMi+dgBRecIwIOyyy6AXPKKL3aIlL+C880+GWGW0Gtf+4yfKOJVTlQl+OcEPLntcadYFJnT1gVmlhn6TL1v7+mW2+D7OchC7JXS8KaHWAUkCI/OIQZliBzqKa/73d0VLjjgBkS8wLN86Viyi02OjTkr5GHmqffniyrbkyIfMEGcAxsLr/EZm5HaEaSxTbJG4VPCFx2JI/OtcBIqmu/0mZwW6l28f5S8BGDiGO6Ps1Zfymtg1Wcs5nyZ/ErCqiC93viOHsFGpjk/nVq6aWyULSCE43y+dMW27GLM7914pmmNt4uQ/uQFoxZ7Nt8ob9uaYJdQ/HmuOPbWeqXn33LmwI3jzz8wmFLd/qTl4P0Bswy4h1yH86R4jw7s9j48lE07zcIDOIsAQk4Dpj4U7dCaxJ6IT1ARHZ4oZmGiYA4+mXYL4R81ck5069v2UrtkalSOfRFSDjbZ8Ly111wOq1unVkDWnnVZcO6plhL8ADnT6gT22B0nX0yA1rydEPk/utvk9UX9IDI5YnhbI6uh9pGrGTulVkVWT/gYaAvE9YBpAEHdcmqyTEvV0kQk4jjFRmNgg64YHC7ySxoW+aqMxBOMAiW3TIdmTXLn5kHcQsCqmQbVfgmHDdWSekR3YuOuVWA6yNDR/+RRxFTyw2fdOwMCbHrrgcFrsMXx5HcVmrZT/pTs09Pm5rPcj8KyrJF/W/jwxGo9Ozz0RS6r+SVai1ppl23L385PjkP+Dm4YJlJV8OLU7IeJuyanmHW0QDC4VpWStQN49tWUlwh4O2B+pUpbUUFZaowBu1KASts8quXr4Kf7QXqQnuUV5NnpoxYXIexXePkYaaoGa5vhJzeYuUQw7N4arAe95/CA6BEjfwSm4cvEr7DN3Mu8dRy+uwi7gebFB9acEqnPbjdTKBKReCPeOjI4kW9rcIFcCpqAmZvs2rfi/08HJGcede8dkGh5cMQfxCF9VecczsHEvN5ul5PCRwEnT1wOjM/DJhFGFODZzyVw3JtGyw5oXaq8GRNcr4LI1EX0kPMW59tqQ4Mouq6RZ8up2SxweysF/NdisE9Jow2vGa29rJH0Aohw2f8jASdQzO1zqZR/uTRKpXNZrKJxKTFBGjExYJ56lyLezXUxkQlVObcLirfosc6I9GZ8BrqX8VLKjYrVWXsSO58zQMIyAHkqkfD0/GmidyLqcGfdXzhq6zB2akIQ6PoXRuSporm46VyZjm8kG8VLcjfhSzvSly3kg7a4V9+HQwNT5lrg8UAvXVr7SW3I45k3QpQN88GZ+PPWX65ZtdaT3aPNasDkD7FDCgImHPPalqPvJynvESGLV1iz3U9DIZYI6AWITcvOSbjJPjFD2+z3wrXmHExVqPGoLmXiA5kMela0dnm03OjavEi2Gpvx6tAjs1Kb6fGZChfGNpQg2yx75kx7Oihnnvpj34zY0HuwyRsVvoDIKZVYfAzwI1dwzVqvO7HRQe8BjQy7n/iInr7p4phZvrQytpNNsVBpzQVz3q/q92EpMT9tX64t96+uhUGplX8ZFreuheauWJ8Yq7dGtsAa4jsonyr5x51Vzf6XnHykdMRrdYOtXCrW+OAt3ZtbDt7dwpmkRH9HSiuFWRfsq26ltmodBmg3FVeNfXTRbk7v4M6OsfS2EcYRuylEUfkzKEwSc0lAV5Xvltq75WX+uf4Re4ZRhVcqXmhI2YpgyxVIRknMUbQ+tZxnTpyQOWzZoftctUEQ5KhplFUIRPgtEhFvfRdiNMHHiUbI4S6AEE7gCNLnN0pY3Sz8bizKrm9vDirO+Zlhh+qBqgvzQsS5zifY1a8HkeP6Q5EBGBP/keI2j1rsereM67mjMZVb+T64gJQfiJoyLIFg1GcGvCDpSMPalvQUJFdmpoYVnTYsKI8hYbgA2JecXciZ6bkmO2o7EPtBjjU6RvOAwRvt34kvUDmbewqb7yf6NZDQpvIau6+RawI/LYrOiXasPWk6z7FyRuo/I980gL8sd5ahT8PomjzPpf+xZ/sjNjPlxV4sWcNsVOJbqHL5c7xbPa9x+NnSYAqHiatjOyxhvSVuPHdBcbIM0lF8noypsEKpaO1wYqNGzagvGLJ2m0UfmHpjWwRy/HpjO0RHwm23oRgCQjhBkY8v6FHUSw9x7QuJrBwmVpY81budgBPXpHIBZllMEuCM/xlwnUYeUuyawoWiycW0b5T5kdIjxE32ErmepG98ihKGjf4svN7hBvzMF1iTSWBCpjDwciNdeSrD6wkwGar2YlYBu/dJJt1BaCxvKxuehkZTWeESUq4mDAp520a+WKjNscOV6Mdxfix6ddYdiB8pXFnXZmslnvgd9CCL8VdafEwanfFKsoC/lb7LRIqpaMfek389DF5bR98Y3EyMzlSctbfYEkjPxm68EWo9OIVv1XiCflfBXlpf7c9rM9sHbqhX9ZjHYULfcdCmnJy9cuq+dhce/XVyMvRMStMDYMQ8NaflM+I6Kl8yge/GXJpfXHdxqiyysQCK4V1e14rx93y66nAIaljSIPIDgQWfjcizJO55KdsrZVKdMV/qNzScBGNA57KNebFkjUnm7YmBorblUIGbDbPBX5oEXEAjSQPY4ZD6Yw6ywXaupnMdoXlnUgp7ddUOYBcEfjw5QqD5b4I/Da2FmZaXMMeI5iR51ShoUK3kZwNzj2jjsdYP90zlbQm5EpEkrtWzbQx2M6MuQS+59WYnH6mjiwJ9MQcoi0mLVFudaPJgdzIpuHvEHRzF1CTNzT1UNLgmSd9kyaxYEcVbp4J/zS3inF5wi6QITfzG+TJLGsn5Qd74xZ1X4qlT4BQKciiUsMjrsEpIVLVxjt0bqbVitsNC1jRBQ5E9bsytBmF3U3tFA2aLtPdRm7FbiYlqFtauypsH4c/N3xFurTqQYf7B9iOzN2NcR1jiEkLCfP6neya/F8vibULtAw7jubvp8Cjj4/0vJbT54UTtOkkeqgysAobI236UlEdfC39yDoCfHs73rocrBLbQLFje3c8boElNGYOCervVwr9QLrDH80oPnI7rkuNSCHJxgZTpqS/X5+5d7C7yCYR2uBkwmqGWhaqgHopLDSwJQUOcKSSqp5gXv8VSkXVUqtPGD8PbbHi4qXTWWCYmT7wquiRh95nAbDGeYNQq1LpsBHYl2uXM2pDPTOtbr12s8sugKXxcOwcydstuYuI7EE7ut5rEXzk8TtPSpUFHjh/qnV6QOPDk2QSsNo1y0PixE3Izr0ZMUnDnB9KIAaZ6MGuDzFuD+lM7chUHdwaeFblqwYzmqFIJi5Va5dMO9qQOAuUj/fjzNb/MBY6OkV7J9m4N7P/ud0+poZQsdNo2lmAE2xPAZBsgROfeULgeSrKEEUTVAgH+4qUdo/H2VVIhO3+UAgH4tJCIQyYGZ2JWbPBVA+jowPt+TP3jUFMzNQJyPCMVHvv3brJv2jVyrRpkeui7QgB7BFN7imFV1I0w7L1+LLVb555rm/j+lCtF2vYWwGjjk/Ree0HidqRMTUHjQFlZTLmwplLx4MC6MVDkw+5WvyZ76Fs7eAnkrA4sI2Rz5vhifkJlOhZQFuymXh84I3DjZV3h24k6300iPFFjH453/14WDdt2tuZm6qo/F3q4W2AQgadSoHA8uuz4N4IbCd5IwKajqqSlg5HZePHPWJ31yv7aImylWGy3mrkC8As/yv19Q0Lt2FuKH+Zzp5e16h4zcDuLmh3blUsDXJRDAdfoYQj7p3vdDC/epfowaY9DT18FyOQb2FyEBNaIz8JSwL0GJueH0n/Ki4Iu5pqy+tgngHnDkNbd2gY0mPRHCEiSTtIcd6NjQasAHXKDqajfOCeNa/z8gMIytY3TsRd4qQEhoJx5Ezz+8VoHMMeWIznFWn4rf1cRrcjILu2xN8hnY1l3HHgExZiGH0OibwGQlYxDTBvMMqEykTlS+H0vWdYs5RI74/U0u+Ywb7z/JQLdZfvajQ1l8Gfih1VQ5nKobx7TlHjWA5yYcpRwJ/25t0adk3VL2Eqp9S1jXaXMZBzKBr6jSaaEOWDVy6HRLduEXqdEmEX/KO3fjwAlMM2Eas6WWSTUyNR6qBfsj7AIhP4aQXg/zp2QQ9cxEBaN2XUhkP6Iu1l13DXXncOlRyrxmYBKk65ej0oztKdWjXORbZdP7h7mX0M7IOpYrHtOvRltd8BOVnM3RIWqRpRPsTnkghJEvo/HZjLjS/xps01WV6Hdm+hmgozewfReqPLzu51zHRXlv/U50eJtr9Ro8rrupxRxJKpiT24DpkwRdNodcWimCJvuznJUh4i52T93euS5+q3dcriB97coitJoQGxioK+/e+LKy2RHiisDQGehkz+bG/blRDibfdKRhimjrz+9l12+rzkt1oibPBbCVXgIUmrFUyeB0pt0FSktkzp9UeOCco1Z17Bu8xathk31DFSMvZb9D+TaYIGmckC7J6OVJXmtsq5qH1iy880WnOgrUw1oYDY+kWHLsi2NJ6S0xYwoFNZDx8saN5Qy1Vq7kExTSGjwdVtHgPye+GrimAjOr8Cf2ezpvYFQbbJmsX3IQrEvy+0fVNp2UJFKgU9X71OelOO/GcKawWmjL0M1iW9h7cAJ6pXfVBBhGaXj3VYk4lkWJoUIn9N0jQF00p3WGcaWP82hZVKDGf9Y9HmbVW+YMkO3jyYciH58s9HvIGzVfJ50c/+9Soy6bHjljSdQ+/Ww1JEPgfNgv/8EtRvLoA5AEzmx918XhsaSPBiShmHafykmiaZ6naxLYbv9chsO1UXAQQ4LP6ccRZ95f9cBU+ycJdVkfiFZWmrfAsPTQUCL0/WNzQ0UNy81rIy757iQ4EnQQP5UVOKB9hgsx+N+/7qhAwnbSlO47r2D3UWWkL1u8fj6Go2VVTI6rCwLP/1qeb+caGkJopyJleB1C34cgtFsBqfZj4TK0lYo4WnG2xCbhRtjncZ4XCTf+vBkpOlGUDwxMiY/ONe7VYQMTD1k8kB1EEtbGxvLcSjDeKp5cjbYdTo8F4NtdaFYo61cVHblCe+bYyLZ6cTAAB2xq4AoeL+yrTf2WROKeJW7qRpHEzcwd1CwT0GdZaQAtuasNT/UYWjE1nuwamR27bz+scC3TKqdZfIv4gmwC9rq6UloweWFWj4t+YAaKEHmU3kBKRp6pzYcFoI+vIytaJgOpzxcKrX4pa7/d5KrQU6qw2s/RhHZ2G1KdZ3kFC8ExIDwkGBMA964iQwlecndQUnrgkxu/jdH1NX0uCNswctXwcdnrZnJpIonLHwQBVMVro9n9n+x3HahdmQp3D71lbEAzsAwj+mwVZjREByYUjOQpj043Rn2EobxgAUJUkI0CxzPfsGkHH5wQGcREu2HHulx0d8ueBOiDXmD/KPx4IV2KIzTbR/zS+9NB+7UsEgetSasoV8tjcvuQaak1713bgFWCE2TS+ex1ya6LoIztUcrLZSJU+HNAnjAyMKMgfQAAZuExePQUpU8C65bjwatpeXYQs+qLU8qn5uADlqNxzPl49tdl91iiqmMGFdA/0dBdbzIYjjsYRdTnCQjnjVAPStlrcEsKu5V9RIVJ6aRvw4ySe2FaJauTFcmbPxbve0DaX1mc3COjCi4/G3ao4kp31POObzp2GJwhjx1GbLkfgOGGygnwwPHNzSa3JUYTiVoQ7VOcJxJHzwA70zHfyYXPLoiq11sWPizjJJPNHK5absBgqOsV1/GreHAGwwscMTCrWGcaKRomq1DTU14oY8G0bsJTqYgKL+rLbTz+S6EKDoWmW3CdR/6jV7loFhehfwkFh0JEbparTWBBQ7MEWK6QZJ9MdyKaOD9LEupIqiIjl+1pZ+SbVWgDViAXuUHrtB7LUTChZzF916N/0lW0vwBTRNtE9o/PjGLJeV2y1/viRfyNqkw/4eAW53T+YD8rCCkEw6S6A6c9E6UgsP58uLedh6ysU+3I1Jr3ekStkttCO6j74OKLHglIsOR4pwewep1AI4jCu7dMn9fX6TBevlueAGdAqfx18AgEbHkmu8pI+ct315OaXBxbP99Zi8ylln9TNWJmMdihuaAQBJ51X5S7VFyW4unXZcEy5RAH5tif8PTKWhUVuW3xrYOHhY6le+eaQ6KYdT4IbOPU4VFcnOLsxt9qjOdnzb/CWt9jmaTxtWCLK6Qf75HQL6jqGBNk2HMgSnW6eN/COflFynQoVnAbhrRADfHkE9+b4BwnITP6RiL426zdE8SZw6M5h44QJIEwh7zk5OfxGDOv1ZrmSgNd13hMdyDrxwj0U/AHjHIHMRD2OOwF9U9MO1/OC0pxKamjKefVGp61LJumv8hUvNSOjLp3EDGhg/6RTOuyJtVofw0m7HZTokY4xAvcLea1+5lt/9JHxt1hhZ3A3/fIk5vz8ffa6XEesOIF6fi6WKN7sHwwdcP4q1qUcl6Nfe1X1SvHP4sngTFQkjlmaoVZ0yf1OX8/zJhb1PcYG2OaQFD35UzzOkxj6/yhIu7jh7/M/heKmHHwffUlRjVSn9rRWdE0yU4OuPFXGA0pt3bYke2COUi7VkL1CvXeXyZ8mIlRPNjBxUbxW+FDnyzBaWeUVTyCZ9CCo9tnt2pWdvCIWf/VSWi6eyL61S7z9Fmy1lMpr96aKSrL/Rbp2KmXjleGVm7759YpFcvG62y88iNTUIwK0Q9G9mwgUrB2HxcEsXu7OTKm1/mr3/H3iE2Lw6HPxPgkKGEP7blTtZx6+ifMf1AE2mKh3qLDZrA6y2bxEvRW1WfPerB766iRdhaMYE1USC4yOR2Xjyzr3JilVxkOgmc4FJFyRLykMrIGS9Q2TFN3oYFxl6IQ46I3hY/H+RVt3QVN+c+xKD91CN5eEjHkZXmSoNYiINNVGo6Qekb6DiWgtva1sQ5gcMHxNk0fvGpSvqCX91TGyOOdNR6Jn8RumihPvzs0aJVSAod87LA18Fuf2MBGR4HOTQcWY85uGp7TlTai7x7Ol+npRk+eRFoev7hPcU3LE3W09f6qi7pIv/F5ibjVvU1S8BcLjpNscJWdOVBySzsLYXY58UvqWr+D+9gckuM+d3MynCGFgtG8zCmbTtiStStR7O5kvjQohFx9kj6wLL7x25KXiZXw01XPH5g1C7avd4oIpHSz48yBi1DqlEOJWw0FjfP3LPKVDrTA7dhQXP2Z5FKpV37nLNZJ3k5niX3dRMxZ95WG3WYS5CeNeWalR8XLUDPJ+hWM5am4UlRSBWJDOtlqHcVkRPFJrHyWHKrrFnNm40T1wNklwXY2083L3AJJb6/6J9w8uxi2fBooe8Hr+yC5aaD63S25LX6EajjmPvD2hKNn49hQIbuxvo8A3RNdVGSEpSMKBeyLJskHc+9oRkWxeeDDNe27mrbXnDfBQBrtsoIZHiREy+7xJaW23Aoes6iREobVJDf5z84aTQXWT1QLx26AQRkqZEeCVhuOTsSggbZvHf819Zac+kCzjLtsZqFcOZH53Yub85C7CXdJrjD/fkPC/DXnx3wgadkaR3eJFCg8U+fs5SWGprEbu5rJs1YTKYuzV+S7chuUyFFGfwxBwwPx3Fsk9dElwD1mKkTqQ/poqFN4xCKiXcoyxTAmztqgMVI3juphY8r83nnd++YgBfRLnly0qqMN5hP1DrFYFuhZKS92bGO6c6XnGf66zXLEQ/89eyNm8IitEOFA8qDJmg711QBtkvOrAidfUHpbcz/sx194vnpBc6UMLd9NbMFmHaV3WSwtV/IazNDL9c0pIFHbos3F4mL5FbXdFa8jRRVJUJq9mwbwpS/d/vjYDHSY+I1kOl8IrHMRLwhf2ToeqQlvlnfczuEW4nGqWD/14A4nM1o5x471LcJVUUUn+1FCXCFhr0Pw/sBoe6J8VAAVyJepvWT2jgnR/Usiwc99YBSRl1po9ZLdgBkDeOC/R77JUjmzRzDEepQVo5OXfjJC+IHo8x56BceGBqD8PobDmdpxMC/Q6ZBRv+3F4YanzET6douQz8NmUrxqIF8PmafubUi1eJA1jV4rldGqA2SE/QaVRr1EUzBrTyFPHN/Ql/3dBYwXAh+lc41WFiwMDV0OdPuthLhPNn9UyFbefKNQ1alYxATKVuhSrMoYFhiGdJK5FMLL12ftN3gCfMBrpx/Yk74QbPXjA4tXx7O4T9UU/7SANRoIXOsqhyjgI80mGKPhrf45Av54NuAWZ4ZJMT7G1fJvB9A5ijvdQxmqaoeNXfovsMWqi/CyjgbezykLnsPT1dRt/a+v5UNd3jn0eYQ78Aw5upXiFFlfk3iVzvvnxMxzoMAI2homSdCuS4V+f5mDZiyKMwIzBx34bgNQLdJPJZ46KDAirVy82w8pNhdKGfls8P0a6RpIpDSGginSRqu3BAt56sIHrR5VBYqx0pkBIoNrz9PxWH0PNPIlaRQTbECg1xC5cIYK9giD5b8GtseYVQAukxiRp7jHZTZBlFsV3tTBA8vcVytEkw4/fHqh+O99oih0G1sHx0U5gMRG6umypfz/LhYnpQZPj/77A+Qf1ezeOQ/VFBfXGIZFQzPJIre+Xv/vmQC9F5VsNwvWzUvJ4mMhj3XcTybD4GbjwTRU1FweWuZijy1Giiic9GcszqjjTR1qFlO5B16lIZRHwr7F3/2r6AUq0/5My9fAWacPz9n61IjNp+K9a1l1Ajo3fWnHt2tGL3Xy5+yyePsM9C1dE4FY6h3BDtMqWZSftmRGFVtjPEHm3+SjEANth+TwMJuZBBjYHW24IW2IXjGey1AlwEJnAX8jUj1YVqgH8x+j6aeNZ8jN/2Y36vXjeFK4G+zpIhTebHljOvt+txzDPAZ1dLqoZjk6xwMIXp/jP1BVlB8aL9t0U/lXHnIwAE+7ghOhlyRssgRCmCBYugD3RnONw1KfUOc0CuuhEUZapkCJiqIc1UAuPa/Vlb1LUNo5J0qt8B4LwS0Zs5BdQCfpMCWjXxX6ckCRlEwJssSZsJuvTH4h4vNfLcOh7/4yrGQmiDu5GIDGtvvaQiUIhA1FFXKOKeK36jFDj/Ou+8U43oMqM6rcdw7Zl6r9JxByOtXQ5/n4dc+WAwg47fvxcKrELG87s7l/iaMIfSh8Wl0kHxwC4JqN8FRnn/6I95uFKRIdUdBHhCBw4JreyHsNuxLG34/aBaBrkOa2HgsGNFZNM+0cQ4HiKWK2xirhQ3JouCleWNJZW4MtI2HEzbPKsOP9kEBE2ZQLs6aSDvodxHQcyOBPZiRjhCljBX0cEsqYDhsCzqMpl9F8QjyKLeEC2V2KHXMPHgKFju98eDSNX6eEIjMeW6o8lGuRAX5vnBdnpFDEfP6XqBAB56mi5opWC6SRuMwoa6ULA3TBEITWZCqwNFvOZM4GJNVoWpkXJMwMhzB/udWaYJWtdlVeGxQOKFqQXKKGL46c4yVBJwLBh7ZRRQKGOdiKId3+cgefFUR2LqWio+zPV0OQj2wzr2rI46/SVhcHSnSrvdFW0sStTwWs9kUFZZGEkDxhgGpF6nIzedAmoQ1aPWrlL5RK9InoDnl7gpt+QR/t701MSgW/XoO6T1VtR2kjV0GKF9xd56s0jQJt2DWoBlI7eD2msFMMkvjwmJ6Cd2JTWWYVReruI8oI2wU9YyTmq6OQuag++I1PXFCNem93vHygoBH/P2Yclgt2JCWkc496mOBfHnKzXhS4Ean6+Kt9K3PjItpfr8NhCtunegkta+DxRpiQPiigMb7jrDmmrHZEx6Ib1FtVVdGfSwrj+9c7NS6Mbqrmn9RRJ3sy21Ebv9Lx94loXIh2OHPNmKD3hdtDK1kjJBHm5eD7WULmDyGly/KxD/rjsBymQHUCQAX+sgg8KDBgPImQy1TBz+8jvp3XSsFDkw2gyToiXMLDpKVetaMGiPC3MGbsFRRNqMXt9BkrIhUdo2w7ltnOXgN3yWKYkOckQj7FHytNoAt8quAAMl/WVwInsjnWR7UGr66vUn32xb+F9FfsEmwSRprH/mRfOqsHO3DbtPwgX9nSNV3wnhItah0HJK3+PfYyXaStPqwHw4EE7Yy8OrCvWJbj0TsmDcySE+65EVFRaFhzoNa7ow80c0CFqq2ty3h0kluk2jC3y5aHhvvHBK30qBGc8e7CDwuXha9aTAETk5OQ4JyBwUhq5wAwpVE4T/QPCIbk2t0AJ8H50cqV66aqap8ZH+Lc0LO0kzfU66H5+a4BgHAl6iv5OcC9wtjB/8wO75JV4vFab7aO4ZrTQEqzY/yVYVYdNmj2oN/9YmncWeBV8EmovFuf9lS0UX5hczc09qHsMvPQd4Ff932yVPJHctYNES7yNlfx+utI27xPdxukAiC9k444Ghhk9H4l893uS3du05Ya+Nqif9Nd5Gp8qlEVPbWGKp6SYFkb5kX/CumEcmjuHVaq+srx0asoRlUCg3xzV45r6LdYRHSy2xMtzJpoa7EYxO6IKZ40DExjUToyVACvKWq9B93/b7WpQCdyupjyYVTjgqKC/JYjlIEcrLB/DDZQQ2N6qVa4FYbmzOqahOOK8jFcHfVdwPon1DTESJem6ZLo9DICxqqgriUULMbj6E4NAOsKG419at3qIuIxK2OK6k8M4WSc3WLVbw3uo8Ypk6lxs/1/jLWaUg4PuTX//mOCFg7XasRvNvZxmGwQbTB0YeYCfD5hqEIjTKaiAQ3gvyEnMMrkzUpTttf7ecmd4U6DarPu1TTuuwKPuhw/6AeTcaAU07sqS2b04hIcA2Nd42R6Kn1HCw5f8F4lveXDMGjdgBucSIjpfOnIIJoa3UzV8gkriX27zQL2r8ARdGe64p+YLKg8P7JXoqI4cEHee36NmgzY62XDS2DRteXw8rroZJ18XH0MbzQEHINCYLtvxf8GRsCAmu1CwgSfH4YF5SBMCJzSXbNKpkcBGmtotkVA6RfkPNB/PE8G0pBryahItco4NHYALsfPKJuHH75T27/ZeH1/FNXbT3YeJmYVcGpASRjuza1adfjUczMQbzyZndI3T1E0tSvNX/5ud6VSi/EH4qVUMPZDpMFoJuw8+fvzoDmbbxaXxM+6AMP5kF2HN2UIMX823HTTGRlFvQ1cbUw35Ck6lObUefqHkyoEo1UcdNPHJKgVIQv+gV96tiLOwO7D44PRozuWpXJHYGFNuCJNosVqCymFSkaYy7MLdMDwuyM4Kgx7gjvu7J+msMwFMf8LoeTfIwmInzVzOHKIINL4q+vK79jUUtfOhgybNVvLqTN/X1wYZveB+EXDbvxOnWiTXrybShi+pli65geBkPniTXB2yqEyM1MCKzrAUMps9ec5I4pyeLHuNC41Qzc9F5guqUC1HOb89pygDkdWevJzAJC4yaLpMxz8h49uqMJBfkt8vrdhWOX64e628YQIrxMALqE0pL9gHUAPvuDY36panSGCtcTTxYlLZFdIsx11ismXno8cCCyBWxqFWxevcAxMlSZfbtyl+0jdYZPYLywaKezkvq2p1CeMoxINhHU2POMCGzb1OHT9cLBujxZsLKuuveCqeZ8CZTOhobxfBiXUx+NvgqoKvYjS+7DxOLeoxEbGuQAmmXtjJ/E2sSExDBQU4l/OQ/rEYWNeyfqmg4oPBOGkZM0oKebvF3h9p9bm58VayH/F7Qotl9auLHRn4Egn/7gXl1CS3xC4rfgB7OvIQWNAP1rMLIRBPyxLTIttNePuFLUhAiUemItOucoCpAx2hF4gWTn4RuhYW5ccgNxJt8vreTea/IpSC2Rsint4gQfXWFMOtnyQkM7NS4zC/sNo/VZf5h7FlFx5riAZakPuY+olSgj+yhnxQhJh0Yu/39ok1n9Cj8ZnDFC5Da5mGLdhomVAuVtUTnU2l//vpXTqzR92XYQiI3zk07xY80FCklEkebpoK9dJ7c2vRMyRtnATHjWafAAlMr8BZtUxZn5M7D0JhM11K1f2TMM01u24Ozeh3PPc7qQkjJEc0BxbviFDvlgv19kKauxCmiHljHDvMzwz8YPsTJ1yl/1XRYVZ/kJ9dqtvE+01oJAjL0NucQ4Q2AHsirhgTgTFEOreTg90ivfsdQTMIc9Lck7tH8iAajtTOZVyQ5mDwWhoJNw6faIzd/9ZMsgSePu5NJhI4v9jrlS+Fvmx/BTUcvwFeer2PiIfukgo1oBXtJ7aC5km8yNO64LLva6lj+VlXt08XOwZsVXb2cGYqhueJBkO60MufLTOn96YM+ma4gbwFREpzB+fUIeSuNghkXiVNO5HO0Tr6XpIPLgjaq4YFiCxiAn+adV2exppknSpM2TIHY1umWljyx3Xui8vwCkCDTbIecZ8r0NDK+YnsRDWK+J/vjXzsJQfn4QCBynIpf/k2W5o/gB5x6a9oF0btleNeOEHGmfVqIPTSFSXFFA+YSwcQYOdwAebW+/VNvZ35Q9CjF8NEq8pQa3DqG4YJJZIdyTCl90Ont3480AM9v0m19LAxfVFE9JQRgCAnHcrRu7mXbITwtAkXas+xnjPW8UhbSIyTZi1/sf9p613wW9M9awWopXHkzfWbn02kPZtujU0FQBbX1HS9itobHAZGmMXuEQh+Gm60VnRQxuT3raCP/qPz0IcJaAagSv4ojyBeBz8y4dvoh56l015DV1M6NkHlQKpTNHccZ7dP/qq6HkS1XoLsQzJn7w693IW36XmC4ZyKJdR05RrL2sZqlYv7egR8KN3e570HRADVKoqrYe7+OMl33vEKCFeMKYiyxqIrwBwsrJadR81u/LYbca143mnADHqkHWHM0+JluRmlzUqXbw8I86kTKp4GwwWJlu0MGxuvtVwF2A0CfTDT4zfaX0xM3xsXkBQP+f2RMVd8k6z9C8mfC5EzhrWmasbVXwiyt+hY5UlB20T4dE2x1Im0WuivzDyG9nDYpmXcT1iGKdsVCX9e595HGCfUKyggKRU1OrKO60bdlCbdwHN/s+jw5Y/h7FrmG9Spr0zprezEf/vt/cm7509Qx02DpniniMyatTqJTHzepdqryLnfuEQzcl0ilPZzAI/crcnrhZxm5q2J2zUrT27XsXIVXiOEdGMpi8X7RY+MMv0v8rvtL23ukqPhGggew4b+ErqOqD2m3prZwnPZD6mO6sajD9laU5JnmsywyegXsQEyPUEPw2kxpD2Ucogt5rA/bO9K9SRo1c+68FscSAaXtm1onbOVICNb89eOxqxKZ48JwNI7QR5oT9Tt8SJuhYB7Jrbt3VRRSSpJhelHdesDpIylgRjGtVWcoTkdHP7tow0hGlEioLR5Nq9AGa7nZ9VTdDCujLtdcu338lxCWw9LPIR05q+4yNf1mJ2UjC5JegTk76248M2ThYiAb7r/C5ObmhDKGO97ZDD93ZZ35ppPZAntaZg3InNoH8zN9gIE7vdzxNykHfjwx6GpdCXgvCWjHbr1U3GqbUyDoNIUM00YmFZ+/9eNZBmfrWSqQRkALDwkzpUQZ6PQvHuWvK2w5iZRoBI74FQaRGgYnTkPSnbFZsW+ZwxEtcz9UA0EGJKKTFhqkonIDyEA4vbiGQs+0HVTn3bES2XMp8uWvGkPT8hxLyeiQicsH4k+XiUnm33rYsMvScrlOYZHf71dI/KrxH5uArkk5TNOiovkRP3gT2Xn8E0oXc8Is+4yww9c8eWWzgW8ZUev4tSQX/6GaEFPq3RZnEQeT6Qr8mGufNdtw2e8cxLTxLl5fV8j9uSAp23i7KFpx/DRUwJTvtnEtAW+Q3HMxsUO6pUq5zV8j1JpKVNBo0cXO7nbdPdiwOmso0h1gFF72pY1htMyKPlzHe1eTGbhwXBonTb1w/go8Wm7yFiTDrZyeOsVFsPm2KOuzw/ALovZ+/3c1zwj875Du00S7W8McpBZKUj5sQ64u/zXq/mRt0xL81qyFFvG7jz9UxCzCINDIwa5CJrADVKJbERbN3AOBGcpERMgCK0MP3erdp5Eb1J8/6vS3VgQyIzE5Ajj3YB0ym7sft87FrpHvj5k6BEQQmNxkD4rbuBz+YtgV1BS/JmLtDImFp+lv+8Y4wau8U2H+mTdCJdH/b+Sy69TLsZ/flW5aPQyU4inr+ZyiuyqCQpVy1gXxVv9HqoTUnQBOpedgqZdh6MKje2sLwNTGeqIW04AyV5NFymSZyYlwNyxvkG5xjs8eMygutWpEFnPVNJlsjuZfmlIP7xXgpzBR+YjREXAnZj+GLGLpY38ry74hntzbfrSvJ0bYKkOF51ipBXNicLVMOdbwmmUkCAeyWMNJD6K4r9qAvrwHNSXubtc/TNwvgcOql09PbCidoRmHkXwGhcjPdwc77FIZI6Eb7lZ9iTxa+2fwKhVpkNfaP8bT8nPELoYBzTmkIYtFez4lyjMHc84UMqCxh9tIL34ulHqwLVpkHqXLrW8yheMiAMroelwtovP2ZajgGk44fTLaBrENjmnEMvkJsuAvqx/cScCXFtLJJI/ehZDZl86bvgYvOmtnfDE4F7XsdVOBuQRZWIlFEwnP5BMhLKtG/FEtTakHOcj1e/McxtUku54S4SsHVDnfNXiWTFoC0tWc9C7rrrLggB0vPbs1S2MDuLlKYdHP1oIovX1R/ZxoxK/mE3r4ZxKoaMIkVliaU9MFtkwm7MNA8Dq9khdAdcvv3CuDzF/maCVgjrKngxpL3SsGLs1m/ANqS609Z9NcJIrgm2mayVxytDpfjS/pZ2JuaUpvBiHPgAl9D9aXPM/sonEf4uCizueoY4fIWUCCjmIfaB+qJrU1GbyewleEfVMw+QJMRn1HvAA7nkOWYAEgpxYLMZK8tQF644GfjV8S4w1GJZIqhvtOLH78Te+TOETmeXusXueyqZugRuBhOlgKhznDmZxC0sySsBV53DxfSKojhOdThMLGW5AvBlqMhcNacttMxPEu/gf7nglqt/Aj0uoEaeEcuzhZCG03env8qVwWc40tx4BCpjOJWmSFj9sqf677y5fhoW5uCiOZeCp9qg/xYxdawjXcDcTssF3JZ28T9vIIEkcIcR/XYvG5ZF6P061B9dK/hB5m6uY/8WDYn3adHuJ+r3R5g2T00Mti245wsGLgOmvNr43ziHm4A0czKPxIQW0HwtXU7P1JhwbG79aJqaEiYXkiK30bsPXe7TMUSmWmUMBZ0RpgFTmfyHm5OlayIX67Zgpkc3Bq81JviouAt/i9OVWWwNECRHuEiIxyEEJT7CLG06Scq7exJlHz2Eumw9D98AkLpnLoe4a5OCfOSRwJWdBTcw3Bf+wuWma5P2fDMHCA+Hp8myryYrowWzXH0zQj+t01mEWlLW4S8kBYZMVZnX8LClzXiqHQcKBW1oJ2RymKx355N7nT4s2W7G3ZNjqCY7EziatPWidQcsfCjujbWQtePkyjI1+30QQrebRRVj/v6jKcGfkDREezHTXFzdhpw4OXSwiYD0KK1lIcDRHSp8iK/xaEec6NhIq1LnwQQYu0zvXUrYff9IWG2pBNtCESwskv/Y+KqTCX5T5g/YXu6JgivsjiSwH43L30kpZMS5s3/7skkAm0dExWnGSEbDPvUWF8NIJCgkLAIlNY4KQCvODdWQIm4oHngpAIP8eij+mRLiQsO3j8JSvHliUB0+IGyzEWWOyRmuZvm76cJQ1klsEOS/EqgWGiP/56bmKaXVKh9RdZJI3+mZ8hjufRPU99B38eud2DR//KXpbDjQ9fS8C4Hn7RzJG3CqDj4H5zmfrcDU9b6QL1RD2BXwCLbxJ/Mt9g9wr9VQtGnJgblzjwzU8Yee2XqvVoXL0vEtCuDIResh2SbK3Ff9OrEjtCkeJflnqwxdYfZ1CjzPixdGO6XVzUZJ3rx3lBibfCcZ9MAwSVx21ZuZesrJ4VnxHfwVfnfuOOiwTFDwKSjX3QrfRrsn38WK+B+8ZMcenOGKIkAOovOYGFSrEj+GWARn9Dyt308T6ydRXtrAXWASQsh3htLke0rZwZNK03GqdKLEWGW8kIJ7Q5cu/nVc1b1tZjN5JSji/buunOq7/D7VxqsZYIeZ0PIDR9O1ck9+rB25cZ8ZYwd0pRx0EURUxj/5HUqebSLFysKUcF0GUjjzwRsgHI4jv10Ic/EOJ5qxTdy9oof1B1q0hU0lUUn1rdIWt6dT9VNiB206nhSMP2NhTdPSN9AhSY0ysZS81mUUEvOBlKT+BWkKrrmECpYL29EAcxV2RyeaMOe6QbOMJ44bnlofozxHdGRF6RcfuAT58f8mSFg940FpWM9UrDLdpRYNxz0voRp48ZvS00/yrL4gA9AX9DdaXn1Y6jj6//96eVFd0IV00HtEKzX8i8SlQyFbHiriTy0bRJsxcLJmRVmbL6kooPscr431YL3n2hmIbI7fFlMYFreKHhbYe2XLKfUAdq2YOhHNH3pJqn3DwqkuLzuHtOjOP9hNuDHxBlVeyOcfswiXGpIxLlRvFnlXqby9D94vFwdvRxHelBZjB83+WeTUbZsovHd+2V1xZh+PGkXup4SIomgDURZdvZJiy52Ft67NMqUEvKJT3wgBxvhIVVS06c2tSIXcRVKlb84crtIJt8uEA7rS0azBeXJT0M9QZRqHm/MMAJy8lw4Y7t6mrnDxF0BisdjNvdMA2GmYNssKeh7Ae2wbOivJ+XaUF2xq1F0jPdjoVhS62oSsNmdJVYnp3T4toeTKk956oZHZGUfeai7x/pLwGALHG8hMiDw6PZVWokQYuWvMEA6bgG9f1BdnCFyJvfRIMNJKPpbFtsWxLqIkT7GL+i8CDdez7pjUYvlcAh83qcEwvOF51LqB6MgG2x4WcsO5OHRCRUfO3ukZdVz4YTtVlBDtjBwVedhHrUdJfMVnJl/eULrhIXNp+Utp8s9bdfMWDA+5JOX6CTb9yq7W+CUNa33E2GfgVOi3U/nzi++unSu7dMHw7Mr3yKtH79Qzo15JOAZa+gn9mVrttKOIV6JDUG6i94o7H8NjDujajL8/WuWhMxAjWrtlKoVDXKwUb2l7ZkdTrssptuhTnA4a+/OW5z9KIvxUZ38VImnuVfEfT5+rn6DpQMqZtBqjNnkQaQelalJoXKkjjZusozaIW8lj7nwpl9gdvNXljacoB9VDoGdvSKAsa+Eged9dFpzSMzUvjkjk1HGokQG6gqTnYNu57CcsJQ3XZhCGOz8etNff7bFL31L0el0hL92+E724o3ziwrktGCJ1MD51x/29Mt3bYg5qwE6AX0R56k/UlbiHXvWF94JvlxhJLfBsprux3Ail1PgwUt6WJUbKM46SpjkSj2z7sAtiol3tv9Ori2fsciOeevZieU+jM1KfCbv8fvwonFSds6Vpes3/1AAh8wQjk/PMjKNWtk/JJYshgghh0OgxaR3vLaaTd2NtDXAiTioi2/R9QoZoVI/McX6vlHPSaaZTuP73fiePUZhLdBBBQC6S4w5gc8uhicq++rxAcVD0nnS6KNsmMfrxZLhLO9TtEUXnqNd6VrhdWcYeBTJCnUxQ1A6dLl85V3r9TOGYBeXxoQDkwPKn2aQdVqSqlU9kQCUP4wRHvq6ffZzqL6JFE7rHHIlx7uNWoFsTbEwWc+SLTQvHmXeDhx0TDyMpywa/iAOsJVpzNYwKFBsSDC7jJItEyZHAXCs3lpdBBMH6nYvUh3yOk/DL1CeU7ChEEy4h7XZOJygrAlHCKfrbUiNyYIs8opW3as46mLl3q1cGxjS+yXulIlEw4+nkt5eF9txXoc6rC33MhZEngYEaMn9aklkO/kDj64kj4cdMlpFRdlYytB0LxkiupwuCJJ0C7FQoaNuJso5oE71Q9Uzh9dNWA3SwDM+S0SymN1vaZiEBwQjQK5w83wfB4fd4hVLSLw6B4jCNy+cUbL9k72LTDrMS34ynowu5saWp7Gqr9YDrr0r41YD27Y5lPSJSn/XE41x2HbENz4wDRO4BD6xjrbTPg4IArDPJ3z9NoZv7m6kfZUCU7OY9JPD3R//tprjbuLKXpwQnt5EjxjjJmr2ARHRcxhyxJIyx5Hf3NDDwis/m/T21qtlME/+00F6GC/e9Sq5INhR0pRPWSFLkIsJmYRBJsNdKol+q4d3xnA3q19eajYmF62FzH2cYveDSMwzLk/rGGY/4Q5rJznrE+3lRUyxeMsVS9tWIq6T92ByWlIOct0E8JmTbgQq5teoi4H4quxgW6aiZtnCgbGwdkH63pvgkrG/Yg20FAAX3iyNqqWFQm0quFJqnv+Gs0DkMuIbM8aFMI5nvxdK8rO1VIgV61C4RdRMYOwLZILop64b05LT3ESmheH0TjeRpzY0t1POpKY84CoW2l1ZcAHCalocq/mZx6C/ZkFqPrfACZiSXr6gSMR3BfeiRvPebo6KtOOPdFfjPwaCKBjkwCnb0Z7h3jA8KNF60jPjq1TAq8hRhhXsMyrTd2/32CA/34VyonSxODkgc3FlpkEOpCPWFIR73uKgDUamcxGUAdAK2OLtYg4FkJM29HajWUcYEryk0FNA0ZeRjDWnD43Iclq6patFfYyLObTbrqdKNg1iSwgItZK8d7sxgCbAQnZJHcpY6BkKjDIDQXf3SGmkaebNE60Sw9do0VcddqUEOYUoU24/u3VI10Evb23IJ4zPMHYk/xVEAqMy7rvOBbUIC/HDb6N2t3RfJFSub8RpS58q3qMCxtDZlkVOjaW1Pa/eCFDM+wJctHfSFgAbPku/WLe7WhdfqbKC9V/MzHr+TZQr60PhxbqDD6UObhPfS69DR/OQNofxkwjsK6M+NP5r+ygV29/caHvOusH/pwpZSHFeYztxWnZPizXp/Okq5itJUljROpRzRWe3aqhFyYAWKR45jN5iVJG3RxT2vcuBQ67ZKCj80Sy5ko6ZtGsuVdPA1CanqsnAo17BGe39hLjw4pKdjsuzyPMIn79AcngQhE0wCqgAW1O8gYN9EbEdpjBKTil/60gHnSCcy8gWO/gZtCUQnP+Fytnpoe/m/uZAsmkzStkvJ8x8/fuFyJQOmi1VCBk7bQ5DY76Fr0xGFll2L4i4NpGGQ+cSQEemy23SmJGsI9Dgdjn4H/MDlTqmVJB+3IBHeppXiVOZfg4HnRODWhMQ1K3p404hduY848Yc+zSwuy+LXGseiHm9Ld7CUbEwWday1hFm68ODCkEMSZ14FaqOHlxSzA7t5/xr+Xpcrmg/VOtOg1wcmSh1nfzA/OoiCLgkWSmvmEjhgtwqCxfnbuFdQX3E0ZyFGrc6D8+fq06zF9O7J8DaHQTEgyj2IbCXJTbRpbI1qrkrGL+Ih/yYjrorXErrPHaiIlLlDTLbE9ap6oSFHGWdNUQIrxu6dg/jdaa/aKLewNq7a2yeQWANkTrd6+gbxK/HdH8pTr5jQ/0nzn2q0nCR4eePGRxi1fPKRugew0Cj4zASBH53/kVdmqKUZRMd+8BHANWCb6ic0MwNURKDwhz+VhcftpuqnqEnWt7/EvM4uMsdMpq8vPNG8gNT5pHZsq+aXDnIb+05qja+5FeFXuHjKwLjbLnWTxfBHZWnqb4Tn0rHYJ7u1wLWq0V4MrxvwFT4/nQtexZ6kMskNg85ViXffbZju0LWq3Qzzlwu59MnAVLWOdB8ASPuW9ddhYyVbp1CdXixZwzVj4p6O0KTETngO+iS5mCmzwNA00BUO/wMY4w2U6cv982zjS7Zi1l9UOL3DuUAOrEakA2dqP1FRCulzM8HKORNAZWxejf09yK8HXHUBciW3y0pToT8e6JBrLoQQ26JcF7tsL7e46vl64TZs9by0tV6VP1s4886jdGEGBj6lFTpUrC3XqGVG9JOMoYdkje/GAmmpeJX0z5U/ywq+RWPON8p3c5tWYEsz/8Z72qimzxi2nkvK8c9qPQWoIW9S3ozvPP3MHDGfo8GUl2Jbsq3267s89+HyZhuaaxO0VT5PIh60Y7QKmPNHxSGWvEafxavi6NBers39/6re5cxGKyMYe3RJtg84tWXkNC/xtjkSH6Zpc8NiZGwnL8mG/SEuv65YgCjH02SGY36iapEjXWiff6ju97TKtM/qBQ6oTaVl0C1kOycMUCjiQ2YoRJHakn2M7fa6MNoOKzSSOaTNeyhWR6cF7QiQ1YZIA3efdCg3D6iI3rUR+egBP9zc67DPyZLuR/9uQQqUxQh7c1bxhMH20e4LVsItmJCftMH+bEZXt1uX7ZAiZ5lF9hoUD6JDSjkKH5dFbR3EL0C8hUk7j11xzQDT9K91RR9KYV/BiTstWPMYQ2Op09nG+4IgY9EtHMim566ZXdgsM5uGGdwBxGO15Ky+OOZoRtB8ujzghXll86UjVmyMzq7yfZ/Wjsj/70x7s5h/yfsusdzOXKcQ/ri1ojzXPI71fiyTCbOGkm3CT4i6TZYqOPPHnGqWswRjNX5FbnR2RREMqrDSeKX+rER4bvRNgFRprEPrJ53f4gjUXRxvL22tmANn+PM+Menk6DJ92bkSxqWB7qFZ4YD/aoXbpg2/PLGg1KviLtiBhTPsRUXW+jt98hjPNwrs+1H9ZCO/nF93cE5ewnlnoS39kGh28V9iSDBUTPy7yGQ+X/SYxI+u5jpeiz9RLYnjy2ifAVhYafgTtu0RqjwaalcKa3UWuiwmC+opoGQIF3bypr/M4bB6/9N76rS+iqWlrAAmPLhaH/i/8WVUo6+bhsbmhMdCNZXIhm4qWAJf3qrYDtQuGkmqX9D0hpdX4S845nyQ38ASL3BSp72SzAbMtC386XWFjOjy+6NqlTXKPRx673MoKOVoP6qjMsScDVQMBokrZRmYrfi28kHRlGGD7dSiWS78fa9HPlNRE3tXAe3l8JvM3UCOiwO8zH4SnrMigt7fzMbk1Pvp1QHVzDWNKB7dFoPLhve1EOM0oGR061hLW5gu77XtjI0uk3mbiQTbyRyvFBLnb6m9ehSPOGZQ6F00w6eEJpFNm2M7g96m+fkZIV94UgLAO70vajk6kgftRh6DPbas81J7VwwbKA0D3bMlvCpTXmqT7t/dkCtGnTitPgWdgIMvxAMQ8dGe3MOBk4cwn7/symaDW6Nkh9ONTzmllm8xV/Euv68z2Yd6x6O4LQOj9a+FqlLhLxR8dzXeC1zipJmMSA47uhh/nWuBqWWpp73z6PUnaABykmUiPG0RK599ysxF4ENsTDoaeUmWBwbQH775zo4BbYg6f8WFfVHgEZGo30M3R6Y2zBS7iLjhmgALAGQoWMBG+cxZyPj5YIsfXtbly3HnGcAKiS7lyT9DSQjEUQVLG6SOyTt4wJArGCeZ2+ojeBg35uMMcwSfdpxez6EQn+hejHYEdq6MRVeshQk6ek53t5a+6CDQBXdCZ1L9SCvw6bvGTbDZlGjJZPFzDpH4cHZADvMln/XZ+3KahKQucIbUQSR1wZDZMwKmhHQ83CI8geDi3ioyCzm8WJgwb7stkFGQG+U3yVoZdK8mQhw+HqrXef3fiWvGJZiO6W1yo9BDrR3tRgRcSCNjlsVztnDx+tyRHRuhd1AtYAtQUzX5pt5+OW8Di4PDmX4+MBUkkNiCF5+S2DAYsPlCO8wfaA3dVExdnkHKmUyc0lSTnAQNhQZ4gtZuS30fw1ysb72RxwlHUlLdD4ndIF25GNZLmYPSHqwVjsAB/oQs/f4eSPPRvx4dQgxEwNcJ2dXM8qkuPwGH2Sf+WIAmdqA5C6Kz4IPf1u9IqvRNzXnQxr+Fru/Q7tXWP+jsm/uMujF8IH742cWHCraAmZ6Fnc6IoW9S5ra6RH27lhZXcN1YiZzFR9J3eBZ95GGbrZh6UKnLLNGg2k/w8WBbuZurgy6vbqk+Lk1gmdxd6CETLjlvDr5yVincvDeVw+bF3q7vSjRcbgnrG6mUBiyTeXKfgccVAR52FlOEL7ZW4FinyJzUWT2tRctQslVUY8LMZjUYzD5M6P0L4TW5X3jnumt5wqXzmf2AlLvOzMQxhUEZuGMseolAShpdS3fshpqH/f08RSnI0zRQgw3dQqV2b4fZOqwk3BJHIMs6LZRvvBOxQJaw6cFp3G04nE9N8LDLJgAMUHbloLv17fzsqZut9QWVOyr4FmsT05R45mcNWz56Cv2pOPZCj6pQ+KpFVt4kpIf+xK/kH0y5liv6shMgg0cFP961I45kdksrEEU4s3cnTsCQblJocExlN08L77ZrzDs5ZhuLTxiCTkfZbIO1ad6oPrTmWAWpQYsvQu45KaF0eGIcLT4n1xQ7PAieKzNfTY8FO6+8tZVJVIwU0NWJfS6BoXLO0g3uqBvqJiF1SmALkF5ihcnXZzneE4CxAw2TCSOLp/UeOKkzAiLyPhKvfO3TaN+eUA9eiPkvWJOiYIQ86w7/MtBGYqRsHd2fQAT84/GHkgB1/sx15UGzU8T1wpYT2iikCqwe5mx4SV/7A6Awu+rfo1abby8ItjwGwVS3TIw1go6HENwrfS3WQuOGr7mqdyJXQBr0si4vbg6capfjYBVR0vZv36CjB8b86IRkQlshyO/RJVNelUi3A3JLG96zFvEY7Ov6Z78m/S/hUi1tPYI/GDoUM0WPnCksqS8NPZFcXZxP0R3niRsnOmxsUuCxCMqBsemzO1BpGLXOB4dNydpOmnKEAz4CNQ6PwCFyNwi+Y8KId7drpO5sfQLATdpPz+x3rG9kN+avJzU8ddVDFykoINvNbv1xZCyAjN50hVuZzSclEPlz/OA14vxOmTi04X26/KAwFI8AZyMXlm9jsJ4cHd/UKbhiMD7aR9JHwFNkCwD1KuIhtkZcoYL1YuNSYxfjMpj15SQAOJ4QXHHgclJDCxVqvbLIjJXagB/jGHv42N9HoT9FLbTEk6VTMahsGpTbCj0TPt5Pizm7NTmqSPG6OaY80PMkQczj40EK4+5t8eG5RMW0thhHanEQu1UiAunyQBVroNxxYCloysXuidDIQtUdXBV9Shh3UNAWk95fFK+ItsoyN4zhGh0nssE+8emQ+nNl+KEUUPaejQqRsfGLPXD2pW2QozYQWRGUlvM8kdHPb7EgZQ1zTQoyD/PmqmO3ZsKCjbfyCx1lDKPDy3NyBTQ7Q7Zv2Ad0A/FSC5EnlagAMcamrXMkMyi89w9Qk9f95725oDB1ALRGd7xyle80uAnGPBBY1vxdqx0N2uky1RlPWRVeOI+psPsGrtEs6It4Z5qxWAQqdi2RGCa+d6JhltCRqyA96hOMD3mKPhSPmyAbl31Cfa7G3tte0aR8Ldg645FRmRygo0Akh93bf6G9mgZy2d8vCmVCN7s9XZ+5D7lWxAwjwGZp2qdLuyFbBN/b0h2h2pw7UoqNRPwMAiU/L/wih2fuJTc80h4DQ3uaXaFN64Owltq33Nokku8oFB6UmbIPrtBM0NhurQdKvyoHbg1/yaCN7Q9m4R32Qxmy9icETUu9PPCAui2LuHNOiyd2hVhHCcHHKgqRPdjq6u7wdUYtyoMVLB2mcLiDQWgIkWQaipJuiS2v+SM0dflG+utmvOeJ6alK8CM0c3GtNXq1Vt2UrXAfiYKovcNXkvZQOZWHg2tpock2VvgGxUF4JekYLg8VJUhRaTYjqJc9ViMi/nXKiuWQ/+eBxvjM/UiltaASDDmYRqsmEGJPBsNeYcjzp04X6WyrdBLcTSW1RhhLiqmDFLIYZYwztuV0rQdpeMjNIMg6r8rply8aBe7XsAakl/1OzYbH1q1OrFI7G5eH47MtdSg7V7kFFuOUIIfSsr4nGaEKn2TEf2jRJfRdE81aDy7WkEtA6r8Oj7F0Or0P9l5B/qKZh5ORmuC0c6DddZRawljTvwWn4q4JTJu3Z9zSJt6LKhYZAi0JVS6r0/AKTRx8CiE7jAyw=" title="Mekko Graphics Chart"/>
          <p:cNvSpPr>
            <a:spLocks noChangeAspect="1"/>
          </p:cNvSpPr>
          <p:nvPr>
            <p:custDataLst>
              <p:tags r:id="rId2"/>
            </p:custDataLst>
          </p:nvPr>
        </p:nvSpPr>
        <p:spPr bwMode="gray">
          <a:xfrm>
            <a:off x="363427" y="1219237"/>
            <a:ext cx="11477245" cy="5498292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4" name="btfpNotesBox953997"/>
          <p:cNvSpPr txBox="1"/>
          <p:nvPr>
            <p:custDataLst>
              <p:tags r:id="rId3"/>
            </p:custDataLst>
          </p:nvPr>
        </p:nvSpPr>
        <p:spPr bwMode="gray">
          <a:xfrm>
            <a:off x="330199" y="6442789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Annual report; Capital IQ</a:t>
            </a:r>
          </a:p>
        </p:txBody>
      </p:sp>
      <p:grpSp>
        <p:nvGrpSpPr>
          <p:cNvPr id="17" name="btfpStatusSticker584984"/>
          <p:cNvGrpSpPr/>
          <p:nvPr>
            <p:custDataLst>
              <p:tags r:id="rId4"/>
            </p:custDataLst>
          </p:nvPr>
        </p:nvGrpSpPr>
        <p:grpSpPr>
          <a:xfrm>
            <a:off x="10003470" y="955344"/>
            <a:ext cx="1858330" cy="235611"/>
            <a:chOff x="10003470" y="955344"/>
            <a:chExt cx="1858330" cy="235611"/>
          </a:xfrm>
        </p:grpSpPr>
        <p:sp>
          <p:nvSpPr>
            <p:cNvPr id="15" name="btfpStatusStickerText584984"/>
            <p:cNvSpPr txBox="1"/>
            <p:nvPr/>
          </p:nvSpPr>
          <p:spPr bwMode="gray">
            <a:xfrm>
              <a:off x="10003470" y="955344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16" name="btfpStatusStickerLine584984"/>
            <p:cNvCxnSpPr/>
            <p:nvPr/>
          </p:nvCxnSpPr>
          <p:spPr bwMode="gray">
            <a:xfrm rot="720000">
              <a:off x="10003470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813886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tfpColumnIndicatorGroup2">
            <a:extLst>
              <a:ext uri="{FF2B5EF4-FFF2-40B4-BE49-F238E27FC236}">
                <a16:creationId xmlns:a16="http://schemas.microsoft.com/office/drawing/2014/main" id="{8132D7B3-1B3C-475B-A9A9-DD07D66B35A2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2" name="btfpColumnGapBlocker685436">
              <a:extLst>
                <a:ext uri="{FF2B5EF4-FFF2-40B4-BE49-F238E27FC236}">
                  <a16:creationId xmlns:a16="http://schemas.microsoft.com/office/drawing/2014/main" id="{425D39CB-A5EC-487A-B6E9-780C3AAC75E4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9" name="btfpColumnGapBlocker491723">
              <a:extLst>
                <a:ext uri="{FF2B5EF4-FFF2-40B4-BE49-F238E27FC236}">
                  <a16:creationId xmlns:a16="http://schemas.microsoft.com/office/drawing/2014/main" id="{638E3A00-B987-4660-AD55-F3BD48E23D30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" name="btfpColumnIndicator161775">
              <a:extLst>
                <a:ext uri="{FF2B5EF4-FFF2-40B4-BE49-F238E27FC236}">
                  <a16:creationId xmlns:a16="http://schemas.microsoft.com/office/drawing/2014/main" id="{B56A9CBE-218F-4A54-8A5A-964A17B27A87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btfpColumnIndicator434897">
              <a:extLst>
                <a:ext uri="{FF2B5EF4-FFF2-40B4-BE49-F238E27FC236}">
                  <a16:creationId xmlns:a16="http://schemas.microsoft.com/office/drawing/2014/main" id="{8AAD10CD-C78E-44AD-BA3F-E5A12E233914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btfpColumnIndicatorGroup1">
            <a:extLst>
              <a:ext uri="{FF2B5EF4-FFF2-40B4-BE49-F238E27FC236}">
                <a16:creationId xmlns:a16="http://schemas.microsoft.com/office/drawing/2014/main" id="{7F9BFE8A-3FCC-4A44-BEE3-A241DEBF2615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0" name="btfpColumnGapBlocker277300">
              <a:extLst>
                <a:ext uri="{FF2B5EF4-FFF2-40B4-BE49-F238E27FC236}">
                  <a16:creationId xmlns:a16="http://schemas.microsoft.com/office/drawing/2014/main" id="{042A24C0-BA0F-426B-99E3-C5A546D69A76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816706">
              <a:extLst>
                <a:ext uri="{FF2B5EF4-FFF2-40B4-BE49-F238E27FC236}">
                  <a16:creationId xmlns:a16="http://schemas.microsoft.com/office/drawing/2014/main" id="{17D86E16-999D-4402-B640-358F1495A66D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905566">
              <a:extLst>
                <a:ext uri="{FF2B5EF4-FFF2-40B4-BE49-F238E27FC236}">
                  <a16:creationId xmlns:a16="http://schemas.microsoft.com/office/drawing/2014/main" id="{9697C2CC-9670-4749-9628-5DDA6F793FD5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633813">
              <a:extLst>
                <a:ext uri="{FF2B5EF4-FFF2-40B4-BE49-F238E27FC236}">
                  <a16:creationId xmlns:a16="http://schemas.microsoft.com/office/drawing/2014/main" id="{8BF1C16E-A3E6-4CFB-96D9-52C0C7E8DADB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078" y="3145"/>
            <a:ext cx="11522075" cy="876687"/>
          </a:xfrm>
        </p:spPr>
        <p:txBody>
          <a:bodyPr/>
          <a:lstStyle/>
          <a:p>
            <a:r>
              <a:rPr lang="en-US"/>
              <a:t>Illustrative healthcare payers cost bar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sp>
        <p:nvSpPr>
          <p:cNvPr id="11" name="Rectangle 10" descr="Enter Chart Description Here:&#10;&#10;End of Chart Description&#10;DO NOT ALTER TEXT BELOW THIS POINT! IF YOU DO YOUR CHART WILL NOT BE EDITABLE!&#10;mkkoexcel__~~~~~~~~~~False~~False~~Falsemkko__4HooU0THZk28POP9trq+pbTvvzd/gcV8t56cq85kb3NDTsUhojRA0EsgEHHMH7oYP1SYpn09ysXVivguJdhTvfyVMsBLTGvcX7WPTor/CmWiWcfk2RmY+GE6Q6T90sFUr0lg9IPP9y8umrse/9AoLT5R0GKq+XM9pr/aTyOTf0wptcuHbHxeyqBm9svU01qeeEM1v0hpSHUgirOnAK/wunjZPmzVPPwFyUBDlDfxgncyrn26mfUxYRA79xbk5zo/zvtIH1wUlJEoc3ym/tE0R7TFuylI/Ka2jPa3hxGxqIcsuoAMr2BhzJBCBPZe4yurIN19wt/gMUjAGy97TwjZifIBF+Hck3maX8bxqwmWN5Lz4DqIq7RLGwL8cJPdxHxrFyTKy81ndsieYrArIDksaybtutEDKS7lWtJ6JAcGZVRCI4SlTtmuy++sF4Qk1arz3+8FEg3sMj9Rge/ETmV4S87SOjLD+N8VBYalxY0z1S8o5Esh2vtszQhq6PM/KUiCj3hXiIfhoLl5kPba/BSzRWnBIcRf2PiMrnZnyV6jP2uKe5X0RHv/gkYVlLDWL508Ia/EyDTJX0e3GU+Y3B6jqNPmLIsbSA0lmV0ppvraD9V7NDk+cLLOZW5V06dr5ant0NmjZ7xsFYwGo11OyftNiag3UTngCDyrKVIU4FKjCWMc89JWzfnekpQ0bM53HOzwS1gTEE6bGG6j3qdok5uFEbf5BoqBGghF5/SyBU+onpL7+nfJSs78WvSGWxP4tkepuuhnpg/wiOFs0AGXQV981j3IsASYzywXnvYxGP1vb2N4odHZb9c6lq7/BTtjG6bjFNGwoOvdn4vmIY5VEgTDPOjBrNfJjwiDZd8mHBlh6VIH6UUNMfH2sPUSoh04QktiREjlVA+N4LpdiKVfAEGWn4nKYohVzBI6aWeVXYfUbq+zO6vYg7i4tRZA0I/RjTDmuS+bS1erEFBrZSCxp1wWJBjaEpod4WVUfBvhPdwrFyOqoiaQpSkRBYxQW0Ac/GtsLUHWt5kLezboRDSNuexNTUUUix/r4XkGTeQXMZ/MMLpOZCEb4pEOWcGWyOAg9tFwDviHckdgZhL1zoHolpxpHSmKHJ/fkdLnPzC7edjsFD7oRbTLkpnmcqhkw7CyRO9EMsEp7S2Udc+Pb5P7Tvqz8AGq7RbwlS4f2BXzwUG3ZNxP189G68X8YpwG2DQ8G1l3csyZSlxdXa8heoNgGdsdpr5YiahBeaTE1PEAHE1U2rdNnK4XmIQAFw6LFR2SLkXgqSMgCwBR3UhInI6GkJq8dbcqxBkl4UoRDGmCoaIq+J8WQUD9yJTZcFaV5us5SmtLullHFM/UcJtEiVl2Kbp+z/lecUbMrgeHzQp/VW8cE2ktXdUWzTLVncRrcIZH+PAndXhFYIKaVkel2WtxQHsHolhP0Vx55xs4lQZBs4ln0bXYsHfACtVByvt7f8CZ9/jMS8HmjrQM0KM99C05vyzqAIx7RReOt26hECumgpNfaCvyD1KPQPvcWF5eroQ1LYZ5P+qoOVGK4GPbFTWctV4vBdXoW3JbWdmb5UdQb51QVYx7s3HROr5TiUrtyHYYwZsbQuJrZ0sybmOmeLufKp2MPTF/Nqpda8aURgdgwhgKa9+T8lz4OtaIBuG+fW2uRJ6+MDYWTiZKd5J057hwbp2IDQ277/5jJ9J5r8s2CRKY79TgY3bQQwt4Ybx/k5WWnjnQd+dPRKStjb9JI2oX0UuoRG0tgyzT4rAmGFOP1R5Xy3Tf0+9VQ0nkOkhKdl8UWf4lNzeX1jJB0azhFozbNb9l3H0x2gXBdof9meknObuOTeHFfR7NHKdJn6vQo18wcAUiiNDGJ0EPCcNJxW3ZI/iWQ5dYIh9bRiIm8/qvOmxnVFh/GIsLpgejSHU5pkILZAN87/dIysxbkYWufGyNa1wOg9ZaCXAiFJ4BqGL+yw+wI3pSh/PmgJgHCCtCnVNvzIn6ilIVMhVpCGe8i3oZMn5GZIP5UpL5j4dyF024EnCfJgEKKFjxQBjUJKyOdrYpwtvmAmb0UleNZt0522T8Y369ozZmJx4I+Gakw1+3cQa75OLGMsbnOc9i50+oejurwqQOvPNE9z+Q/zoz4dH5R6VPD/uQ5LpfqfPZJF8TIZh7ENdPBgewKMJbsgbEPrBJX2HUaitl4zqu/Ckiiha9UsYVuGwGPkrsJtcK+FqAzGhnCLItuasCMPNQEgdK6UnQkji7i9benlz17UD6JFCyMsPmW+hkM1sTQhNQIq7oLEZRE4H/sZRNjme99cNSJJMQnMN5nK1pjCSjD63KM5QTuD7Cbn2dDq+HpFZPhpduYn5U+ICbJJlf3hDrej8MI0DX8FnXPEznPBC/zKwvtC5H+TP9XOahhiM8JPTvTVCEnTvKx3u3WSP0zL4Zb+rO/cGVEEh7ZaA1v7+mbeZy617dAgbqubEjggysBftd2sDr78+dejmcPx1QvNDpgjNG27E40vZ4LZSXV2FZ3P0wyvEnygL7cQeqdjvGpTgpb/LkQTE3r5+rSdo3RyG8ZmNMT+fzuHoVdsslBQQXQrL79mEGVKqQM2Or1u3SMp8gYc36+ZhtL5kRNLUW2NqZD35xUwsiSF4JvFMTYJUBC0k3UPpYGyVh4Icm/7B+0Rv23ZsGXcZvrjQWNHYb8z3WdnbDRHo1VXm0BBHa5BG2qJW/BxY0yLyj3W6GddvUSsbDL0GVquUsPxY3vOq6mSKKWsE6Cq1OSuZYzhFmaCbIxFl9yRG77AKFPSBwIrE4U42vKK0dpy6Bbss7XgRHDIXZvWJwtPmnWkUx3Q1LStsYVUyDNZ9Wt7DZDWehc2JvLpuuvQed5K8rIVm/tYjw+6x2Slp30exrR5gUz2HhPMQVP88upT6a2YF5Blt+rpC5pelLHFSBewfFbvFXmhQyi0oU23Tz+MIUOkfGvUX1WYR+aUpCDHP6zqY8k0XniYBMxUZdbQCqXfGDAi/AbH6ByQFQWYKuEOtkyN5L1j1+x+CvOBKulL8vBuO/TnAmSg/ETrc143A/yOz9+EMK45gsL3i+40evymJDPdV7Rf3KA1kT5l0ywOoHOh9fjBsSe/HZUChIseaksQTJkoPPg/hq+Wiad8XXisFBdcjh6WOxs4UpY0og3+UPUaaxhdEAkgqVWQ6tqSKJlwPGeYvTKqqmj4PontpG2rW8sHmMY9EhS1X2YPjcXOa8qvolIgW5s5nlLW4IFxwHPxkLIBweehJBcd8roidxRAlOYk7ZpV9EDmOeiqBjWRmrjVxmoCDWnT4P0r+H1TpmxYHLFZ53kN6yiWVD77Dye8Jjkfwj0hagw/Bl7j1i4HwLYOmlT9SRDYAdeglCNd1k8kxakVOx54NncMyEmAwA2Q10gblpCpa8yk2Cda+pS6ovfR87iFg97+vSCwrkpXy6CTF9HnwIfCugDhZNqir3Yh6z0w/+0I5oXZC3AEaJ3suO189G72N0/ezyys+UyfZi8roX2e+XDmahWsUcHaL1rtoAzBX7azrT2bE6HVi50qFiXKFekbvzx/XbDsbCKowShdtC3/IJVWEtxl5sWGldliQdnmKhurtechc6ViW0K9Ca07lMoC0qmhIxnggfyYKOP1HTvX4bMoMU9bW9e5vHjIODWXSn/oaJ+CkhsNjbH+K9QHkVvlak1YKDJwhqxgYRp1Chek32lbe4VHOXsun8C6MiUM5cbaaHPIdgXxm0BecG78Cr0WbrCUDo3FzsCDRRVc0FQltoPSiM9DU23d0Pwk2S0T0Zs7cLeQGPhqccKK83hyaqbmWBLS0H6FqtfBZTQMlxrDg4jQFIjuv1sNE2ObepwwllVayQNNJF8II+2XFNSBYvs/jDhmlFfrYFP7RofXlMDPlPLY8jER0nOJ9BFIypg/JOBXGgQa7f6gLdIEcR95x9x1j8zOopH2dAs+2Nh5sqaOCLDy3897GU1XJ8oDVEl14bYe/fDGCNhwMZXJQq/J9AS7W6jQlM53VdA8lZPxwgYiEMMNi9p1e5m/kOAO4djfplUSa7xX6yvaxrYg+OMPwcba9H4J6ggY4rtK6bIN8L/bk2dVgKF0o1GzmONjpNZDWk+Pmw1qtdNonaX668wFszFl7M9M1M+ceggl4DZScyyNxRpTLccQ47YJSgI1xpXC5AqmX9jC7GVseRWGi27LqpD2h5O/hpwaI3xCi2Vr5TW6nB1s3OjNNJ7ENBSLkwOal4HhXn1op6jyzJYAFHb0Z0ccgRGKD98U3CSAH0smgF2XRVeNhHXjOZESrFKcpBJxxgDmtb6d8gEV8g5GPokDeY4OWZZB9DdI1iSbwd+tj3zvfK+00Wq/hgN0C/IPRcNclMBpwgFsrrfyIN1C13R8BDVfED60YGynoJ5eg3L37mi7SJqzPqy3d9BnVbCgPSAHnVAvArFaYSKZQaxfaoHkDKuHrL9E4EEmDVu9WT3e9qctYl9f30OmXqalWcRTlYBNJCIa0DL3U9JB6/ou2n/kS2diA0EjCSGIaPwPIPFldGmMbf35MlmnslMn42XflOcZh22sy6quAe+RSX/gNPD9aDYo6pLR7zI5xRVl5s6y3J6721rNM8jwhoQvQUw0lT+AOZIJ6hf9Ve/7b40v5BzJO8SsFSw5JIRQ7Kd3eYkNRN41kLNLKpNitb73jC5A5WuABgEgqj+YOeXnJ3or29sggd0vFEXB3yHw4246g5LoBbCoXU6AT4bBDGa/eLf23U/uJP2R9HxJAYj8F4Avbw1UaGk26/EuFIydBpGYl8108p7rvOuVazhC/hScIQ6cjMQ/oorB2wgjc1MzUPmKyN6s+qpfasHj2Mx1N0uIQ8ls9l3iWktUhJsmA4yAa3ZjAoBx09UR2QHjEIBN4B0941me4q3pbUVSmhOY+/vs+7CJ2jkCzggkoJxzPrx0P2NKmV7NokXnYK1/KnILuVHdB5aXSswjrdXueRK7bdnOGcLcxabJPCTg9iOxQARPImFc7M9hH6x5+W8F3QjgcyUk6W5038cRzDVAQehmfF383b93yd4zu4PwsN40Sm/aW7fFp7q4AzDC4M5fUz/2OBsDPA3Vt/AjrWzhmg3drrS2XY0d6C1hCVCUqTNnBYQYjFISVZ36nOSLiLwoyxOHjli9r+SAd2mso0wxhMikBrCYm2JQVq0vSNxWUaAiOVrk7cM5+pqz1kMW9VItlIwWh4oz/lY6+zyxeluvUGL27Ns/qncLzCQKTvP1Hluwq7t/zXbUpm0fRTS4UADmHJSuURALOkp3XO6LfCQnw66WChDus3wyDUoy32qBX5VF+PRP52LOtxSZs5zIVXq8nqxyrBklXCrNodHKpVWOr2sQH+IqW1DeAQDKnO0AVP1unlZ99pTXp1nprot5T4QHXTsKVZjHqVNT7aPe3I4HJdJ8wxFxNnsg4t1w9sieSRZ8XuT0OmA2lbLujb9KK1imzkKg8r7vK+LiMgDBpbxXVofc34AVBB/5KrYqEQuifpc63yBjnczWn0ROhhsGBdlkBt22eXYRq0SnXPIxgjs7ZU+bIa/6mT2b6G2HJZ36+TUCBsvhpYsCXKTPFbne9J09OYlvcP5+c0FY778jKHR7YUH4dX1WWPPEVm/yELrYasOeX1xyenXPgd9CRdrnvEoXcjI9uwnCGjukh2AgZddkOrUmwzJrgERQalzU2UPprtWdf9et4ZTz6hexNMf1+XLNV0hafbBR5EJCLb1qCgOHhYCMrk72YS8YJSUPIPEUhiATRnPR8brvoPZc3EFZKKCvdAzHvLDSmuvNTLeQesBIcuJdGL0mboi5OK7FICL0tUSbFy6e60y3LSpbkNBjxgpOuq6g2UVuZ5X66A2WgAN3B80fmPCETmm51Yb4oevxOv//1yuHW6GCwxhL3kOJXDOz9KOPNndoDw09WHq4TSGRr9aUi7tx2ErIhlxhCaAWvUPc2XUVa/1pj9j4nx/ZT+xwl4bofFhn4eaal9Yfe8MIfYsJGQHSBJq0mtJPaPj3DFC3SuTqydeHN6ApbjxD5a5fJ5+eFeuJ9xlej6qVnQBCMltVr2IplE7g36e5QKnecHTAi3eR/OC7r3Q951E4iuP+lF3A4eJPVdvfnXAnEGY3/ik3hjwv+dFcvmsjlynOs2h1pryj+CJwBTuUqKvDvTmXzhtscJvecOFVT/xfWKFHkyIfv2WfA6614F18lVANcX3xxeMC+0QTQRyF3mkfHNX/RFeNr/fnZ8Zr+oL5WV9nYB8NYh9sBb9vgKlIkurB+QyZUv73vVqYm0B2eGPbZ7AyNtmW1jcfBqkyGHpvvNn2cI8K8U+FguQk2Ah+pZyfdJOLOPOzLIc5tdMdn+nECnRLvcIUuSU6sEFP4GRmKnibfkh0dLYVPQFuqUaLJB8WM/bqef1TzbhzS2ya6jv5J6KZg7CBDHm1BH2j3k6eyASzgbKA6k1wCPA4UWaaT5aITtKAeDPNIy6EfvPMd9NUEkqU+ADQcH2omE87BLFRpkkCnYk6QMIpGuyANWvchNT/cWAVT51OdFOUYlCbFpQSMvIiceeFxtI8j1HC27gbEOJAsSkSFXCksXxk3IXyO/azRcNdX0MqIeTz1c5XyuI54GEKhc12sNhxdPP/nDV3G4Iy8vAzZl+hjtVGvpmvbOfQjE1XmWijZXwemiVP6SVE90gQ0IoNiXwPUl0nYbyGPVMdtkpGz7FNYgyJ+iw8Cp/m7/zvTjcGilZPH3QZ6+9V52HY1WFLVQEoQb12sG0oT0sU3s9r0wezXgPZiMbooCLepLP4QqN9pFYc4h3E2OD5Pbd1xUiW7c71gEivEyjjrXKqrVB0DC2r/tCIG67qxbpKIa5LMsfytbH6yyN35hdJmX+/3avPIEdJyr1kFk7INUVsZzxEd4AzcSQBpl1yNOEH9qPDX+C6e1MtGLhmh9rW7yisrm2jfEy/bnkFtzGJivQTfOiNKp9CsYFsLqflQivSJT6e6SDV97MCWQnMmEtyT2dyf8yqB8P00c/0Wdm30KvlTOo8tfGzTlI4th9L3OA0XOufYS7mFqOSVN8Ss7OAgdS8/AEphci6NOavjpWTYRv3RBW8cG4r/WnW1oUtQ6HZnQfejuNryqtm6Xf5xFvhgH5wuqjIxHLTWkCRksrXxkJ0A2QqzfPCuuW1HyC81BxatyxdKAnnJYLU1x7d+riFq1YsWa44HT6BP/2nYofz0U3FwMpkkIXpA8TCXGkF5XXiLMYZQ2LAll48FiY2eSd2GUv/An9CWM1z5AM8zq82Ap1++7XuGiu0kuYG9dmKveSvTSGSvgVLg1V0BlNFwDuekpy3vl38vi25uoUc16WdWURlzBjrsndHIaa90zDjOLIV1EkEqrsSeX2xW1yw0r8sOyz/LT6BHssOpGTlSMmP4+HpkZKxjZFle2BZi8lGm4+jKxOt7YXd/TIXeLeTByAnXcWCWP5xYc4Fbgnh2LUvttzwypPGpd4wMfWcREAeIzRhFdRjF84Rg8i60Kzfym9xg3U7pTB/t/y4F9wnHvM7EzYZwiiRX2JFQCm7tT1W2IByqVpDGMUcmg+RSQUtrRoymgrU9d6+dfAOIes18agRCKZTNyWBzRGhC/jSLQvpJoCDHIQtpaAo7/TnW1Gio+GdoCLKLCs3zAAsVOxWkF+4P5GBiKfuh2SmUrz/F9dyaG+JKGq2fJ0JqS7J+4Sbz5jQp64ZW1cw4FRElESHPpxRhBeE2Zog2P9K/sItYAv1kUUDeoG0mbFtSCPGMHAEO7WZdeWHEe8Oi+34NKZlIkB9/iaJhhxdGGifl6a3ERRwbIC2AKOXHVg7JM/aJNC7Z5TGEgZHny9bxW+RVLlbnnTk77OMPxLRDQ5LUV20Xrcf17wNMnW1/1gDqEwMoTDnfRZlZAKhY8GD6D1plZmB2grh6MX+iI3dtQPIujwmAWoYMSoMcvw/AIBXLISiSWzTGgCPpaQS699Zx6Emipbg80B/NNVFhp/rzKYFA00bK+JaMh9Larkz/uOLRKCstowDsNf1HIPsMJ/G5W3K1n0MYtroeV3NHd0cGVCw9mIR3hhk+STkirDFf0p/N4qulqa3Tddv1kKbBNqLe1jDKPDT/qT1AdGufItyx4FgDT3zsy1NEHaeGpFa2OrWO+j/5ke3fUSirgIBUjumjbDOZIiGX6S9fC1UsHwWSpjMEnWJEdn90YHSIpQphRlhQ4/WYMu9+OWo5Nu7tAJyNsia70+OviABac9ZfN5TAi8XCbGnme7AiShCj7ylru6DS4Owm6kSESKPV0CUBKtvK1BYsha2Q9T2Gn/YZ5S+Q3rSmmupchzWNb/96GGL/+C9Vk+W1N8TOwSZwPdQdIpreP+bEkNX0TT3qQ8r6YBNh5S/s7Z4sBq7LbDKoWgP3zLzGIMzBRa82UsUFGJrC3BukqrHQco3wX+j/6lH95xY9dbBG5qWlpxoywO7DLtJmvC18GFC5BsZEcxTK5PtnuabYhD4BP9cbjCCzANVUd1nP43n/UKIKncEwQyMlWXIKke0T0k8x54g8hc0N8WhSfQ1nRPqTrKQgopO0uwhLksEaD4TjXsAN0kALoOtIINoD0NfANIg7zjHtArE/abo+/DoxlaLyn4oMFygZ+oZ0wORNyE9b1q/VSXlojVZwL1MFAFHQoqdwPsk22dBoyKBnECVl06pfxCoodZ6s9vMJtJc7STDiFj4amHZOGI09zn4mnvGTB+HB8jm2+H99CggSsSUytqrpk0iw1atFQQR9M+G5mQm5H9gS1os3i5xFh+0k6tATkpub/sX1MpuJLWDlmoAOFMRITEXbe61aB5d7zhjkKSFke2/YHvpWGwTkFKxnE5a5ZocPnBsEYQ8ACAVOkWY3mCHm9cmYM3EhLCsIZj+p3bz4M/quNpwDDqkyQiQt/lznhLNGz3cObSJWrHSKHb2Fx2KCRhZouR1Rs5sFF8aLnJlzUnZUwkTLmFpkZHaKaOb4ntFkCGRCCAhlZj+8FyvqBx8kNQf0NDLDJJ3v/PXMY30EagcVRHrvBzARLZQcQdwkOBcrTXVZuLhXXzbSxH7g8VrxEz+X50loM0Z+ggh+aove2mRdHI1ony6jnBuA0812N85TTLdnvdVyILv6MmukuLd6t33V+zIRFc77SO2a572ajwGfmjMYSj1CbHEItMimxZ4XgRIeYiPS8eIVpDDBTWQAAW5Zffd1ODNcffQ7J1O+GTTp7y2/5gG4lE9IwMIhjuXArprxaJdKLfe9vUtLvKs7eHZtjLbcVQVQhWjYsiRm0jW2EORR6zpKjvG0vRwowKY40peUGtlDDQobDCRbhId8+okOYfqE/GUWanG6T0gs/k+JGnxfb+wHR0tMQQnY+D0GIm1A2mVe3p7yCwgBeOPEuD4R0maV5BXwJHtmFbL7ojlqTTnzsHUK5LXqywqtvYtyu1gk/HhVOgxmySFwiM7dQp5RNXJl4zcO+cqlecjPE50jMw4RM/xl1pgz5UH8mJJohs8f/4tlpvjuyNKZoXP+GIDcKDEb2OdkaXDW1TrnBYImKMScAzZNOQRuxyqp6p2ZmTVzudZjkP0Xzv5zVnBDdZAgTY+70EGykfS8k57oESOqxwIsPm+UNQ+NY+HDzvCAfG9R5Pp2jVgS3HhykfeAChQd8ii5var67BS7yZjUjBwr4fwV8M8PZDFshJwVma5Z3TeM8+OptHJ58t7FTfl7FwL2qv1IMHh0eTD7zobqebJ8LJyS0HtN93go44CNt3FHnIRComM4ghlouDMLivpBpEv9gboKYLPgjDZOQWayNdKkUgGtMOFwqiAAnZqEZ+Q2vB7YHeFLDgSLLDhBGK/xLB++bUC84RrW4OfOi37r7Lm4np+v92bKdHwZT4D90UntGNZ6yynZOhHvQlTVfIU0V9HZO5HTtk5L+a8gq/IaLxQKvVNkYhXMYMLwGZ/KQ4n1JhTC/+OY99AjoVaLX1HxL4h+juXYkkp7QDr2+lXitRPrmAgcnEruvQCZAY1flv7+aAADbLd5hWeykFxi88IKLP+6LKFlcGXz0ZsvJvjTK6VDBcU8PTbUzi04+TP5HiCXS583V8iKDm0Z140w2EsqiS35YBsbkr6pHkmae3Jn9G7qsLtUjO+6dY1Hmih6Fyt24uLEI7t5Koarpa/B6u8SNpFHgk3YxhlgUMuUmqK5cQmUNHsLsDZpDruiQAIIt5oyTVb2EAu8XeFHXfLpVOS7lb8uYKk7XtTapfYGvuPgFVlK2ppHVWQPVPd4c4B619rDGGkdJrYDkf6B6Eg+222GXwT8N8xrJF0e2V8+HtpLD2gIVU93Mwub+7BSFt7ZTRs71J4RvZPp4pYM9rAWmcLrAvp86RBcww1VWMMfTIE5iEeKjK/Z/uTISqe7KVVC5U8N0nkZoiATCLElKPXQB0HGLf1FcAExxVffWhN+Djkr6WEduWX4lxM/Sm67hdZI6oFZhGpSk9y2F9wVA/YtYvqwJCLPMnNYXHC0ckFPA1TelUj9QuFJj0Q6qHJv8gNMmgSaHimyIOYHRVHEDjBrppVQI40lg5SAwRIpFxks4S1LHgOvU6yLH3GwjTGWmlS6gFuNIc+6zt9r0BqvKeVErzeON3Akqw/feZFq+IbUe+B20ZWeLZHXlZtQ+pUi9gZ9RIKzmsYce6zVQ/JvceQr413Up46FaUJ1ZI2otc9uDcInpUkzIB0HdeH4uZ38ZkqAcXJ8Rjt5E+N3GhGrAhYQ23jnPXsrxF4oSFVx6X7yv2pBUkpm6DKR3Xtx4qxPLiuSPSF7tSNom+Nc+UwH1YRL7pcGYs9GIWAagcuKAKEVp77mhaVuW7GtcV/XJ/xQvW45BICIWRZjZsxjXIQZz9YPucUuP8bdUlDFKO+fO4soT+baqhEpDNsLw/Cn5W4X1sJnnvvk+kDWEsGszc6Sg1KB4WWgMahmQv0mdfwBDRUZ8qYD0us+yR4lSkX6PonCXFTYPqwgfHQnPUheEEoFN/ns86hViJ+HhIDxCR132nBwsu2J7mvrBZJnzYuSKEKbIt+pp28BgWQ2jMU7WR12mWxJouq6cW1RuWezoIwd3zFtwPJnPqpGRJX3VOT9AuwBGYBzW6YFQVOAz5k6p212SarVyhyPeZv7u9JgaNRqIiYoScgJIHp13u6J/pDRlrZd565jZ4hvhjvHR9xEKlGrU7tSYN12yTZRosIUOYFYmMihmALyFaPv9iiZ1l5Wy0xXoRq66gxuc6TqMTyCKnlaKdEB1Dg+GGKgEPUdxFsbsN3bBmz9an2462c2WOxD8DVssUlbEKy2aaRS7pJ3Iqqfzvg3bsyARdeLXAcAhCgXN41uYrTcXHzPV55KhwkjWUQXl42jOWg3ErHGGXJOCeaSjFoIa8YqikU2G/rYDc34mtnlNxVowg0pMoO4mCfx4Ia01wmJTp9KRQJKe5IQFIRzr9fbBXyeXtpersb/SPyHhVgSLZMXbxeEs15uEC6Dz+xedcgbGecbHHt53AN1tG7QZwp8yruEDGXDiBkUKvbbxnKPnTljVdHnWWcqNuvUW0KPxpdlr9Ou/kMsIG9MsyIYK0apNgHaAy2WOSovGOTWcNCYYnU01g74bNg2vxvlnO8mQ1o2ahkRASz6X6zsiV+XWAnJ5rDGfKQ6Qn6mroBzhM+iEcnbpNaNetM21/ysKtDxFpozgi1Ys6NmzsEd1pxbSYaWvLIZJqazv2xLb+xurNhsTeJ28ykkTn1OQ6SKCMuaQKHZIT1fSmDZ85XwEZ3FhUeH/G8ObVM4mM83o/QsSMfODXFkn7aBRcYoSXju4eN5/WJVgNKULQ9yKkSTREC30TsVNfXE9oSwtTj9Wydkft0xtCP/YOAQeyfzSqYZ64pBPpw5ltIiJoEVcl42Ix8Q1Nh9ZiNVbdmpW14i25r9khZrga7ZhYfYSYMdU0UT76MA+162yAFnOe5Nl1sFvsvzu6jg9B0nJWj/uX8IWb8R/j/po31x0hAradxeZ2Zix97h01x4T8MDQvQ22P+ctI9Q3U8pXeM12axWrcFvkX36G1wTJ4gk0JxCtsNKI6HrZ0TqTZ95EKGpcDktd5QSVcqEpQtregteAx32xr99YYqVvQS1JLHXoULBK1j8kOYnhyIIiKFij9xO3RY8b6+OmPdLJrcA5axAtmv6oGyuQWZvRZtxY5K2m2iesp+agy4kNpvfLAGT01PIF3XTFRRkdJOyt66gzz7d1EoQv82uwnhQzW2QDam+vU97X2B3oycGTq6jZbMJ2kP1Hq3lCcHYt2dxrdoq90cBRF08iRv8yddAjMNqrqGdbz9fy9SPgaXtbNX7UTRDMS0c1Lvmt+uc1eg7QyDwus4CHESCbrOGlWG8MBnTgoixYuDLGbPCbRmY/1luoGoE8kho8dkue+UxQ7q4o8Y2bzYE9iSbLaObhX20G2hnRtS0T2ADFyt4zRwzv93kooeqd3A7VpRROBWdgSo5pQNbYVrWn9ocPNgMY6hfW5NlQ0X0tA4PlT+xiUntiV3omzUGD3iLW+xRNfkToYLVvD4K9Gtu8t02Rmq42Nm+shRyGouysBWRjC3uXCHxiwmMkr6vWo7eLFFoTgTZ3iohvCs4kZOIDYE9TWIxcy5k27GU+xo+GV8RBantRU9kE0X1PbPeVDujp06/izr0lykxyAcrNWBy2ygfSBmVOKcM8lsKJAG7q+Dd01nEcnrmnWWd8FZ+GJUKOB/Xgkj+4cOzjAxG5fymrPxwM2k0WZqUc7XMB0UVRzg++pX/63qp2O70I6FVm7BrHnw9jrmk28xDBwbiuaI6i5o0u2kL/5fM3XPSOKKdyONyBL3ZnXBJv2IpliQ+X2os/ThN8uxNU2HMmCCo3xuUQII2nHJzIAXlfw01rlw4WdNTB5wVAaQjb8FOvtVgTHKNTsQNzEcuuUORcFRjUcru8+El6TItAM2odGHDVZUxjhbzHvd2gJsJdXq6yYhNofmUR4U6c9bbQDApiexHtq8N4qFYlIBdFCVmVuHkelzVT41cHJ9lyTrDKR6ifMxXgBD9JXMDw1Vvgs0cUH6Kt2UpTsv9sqS50LlNG4h2bLXvX3V33O/H0zsavciqXYkM99kwTLWCo2Q1mU8CIVrQ7RdsSs0xSN0CbsRQWXYsWWPOFHE1ZgSQAUZ7xkUh57sAbWR0m99bdCBy5g2VjzoSD6tV9tT6nvsalhZH9/iVV+0tBD8geXAsC/haHRLSDB5g/AC3cFDJCnLAt5UEYAFP2z91etlQ5bzkNlfhh++6IYRM6eBzugDw8rqqaWrlZ8Uy9JPnPhTWuWbf8cqSDe/XOw19Fiz4QIqUBhuh5hcMiCOK5O9xe1L+EKFoyjfOdFfy5uQReKavBw3u6zdG+Ldn8BhqoA3Nxbjj01dDHeFHSVIqgUK94gTY0XvA94mKZDgh0Ly9khI22D+re7R+0BOKJa70MI0Hm/gtDlZ4LW6lNLYe/mZUqAqiZZPiPXvAMqHzFfKbgJuRdyV6ALQHMExloGkA41jl0prx7Ad+dOgzI0fjRggA62jH6SItFMrKKnntvsK8iXMi+c9NG2Jr9tDep4RCI/nCvozyOJw0JfMFW4Zv6sExJp0Cd6mwrgICNAl4p1bYPBBRfwHPWe0dMulzprjFEthzb6VA7Gm5KBx86dm2CWSxLiuWQH4AqIhueZvRIig35XY4v18ieY8cO2cgIRDo8vL6R9k8bSWnORkYFz35W33OOQrCgHBK28oOzjX/G7zyn5Kas656ZXgOCo8nS6AXzdXTjvnYXy1H2LabUZLZ39lcfz/XfwB7N33xpF+xgKNKYlKpc87ryAqNBVfPAolQ13K7RpNfSS19JmySEULAg9Piof5Se7N/DcQbvOmTDA/pKA6Ade1AOGFwvAxFLOxTMX8I6LFt/z52RVj+PnapndJsRYuFJtRdwF2Wzu70N1i2DVS6WKeXTRoUy0/hYO2nPgkX5tTKfhb4+YZm/Ry3kflIbGj3dtYfpVJIbNaLxnthcHFCTxmiEYzk5cPy7NQiPy7UIjhEXst20yKMIvj8e7zwuuCJv7HDhp8a8ixbZhXgVB/pMXVkjparIcmpiBPau42mKmopZVqHuaCyxxfZ9GDILSufCuQfuU+NX/daJcLn4AaV6SAeAEokgJ+P0/L3mEdxodF1uknXgjAZzL5ONzJb6FVj+1jt2m26tqCDe3uYh/uItWSTGzrnQYrqshOaTayRMpPYwS6W74xEklDYAs/qTXYMvd0VQSiokzGmO5N2xOtjZlvkzAWzlxGe2i6IpdzRRWP7FXFtYpnkvoO75JTw8uD+iDSiA873uX/ZRSNkp8Ivuy8GBpe+opQWlz6AXwqLakkUAEdA2ziIE5T2WllJNev7JOKL+sAatYQ7S+WZ/s1aox627j6gw8U8YD+o5KILnFPno+2bRckWdjeWv0XhpNvjRQI99E9iLPWx0g6ocw7XGpmAa93WXJXziNqLGUWjHMkPwi0g78A2RHk1P+5rHetw864+e3uRYmBYNXihpISmQw3+Mx3pR8pe3lhRMgk1FoIP870g9yrzzAF3xmYXhmqLZawefwNFqq2vePM1Q0AxqpBwLd7Gjo+Ti+Awsq0a+JxApl+ghzA+jjdwnm3E6J4wIrwJJOJ13ih+c/6976VbjUJJj3k/LIKgxGd59WEbl7/9NGyqyIZcXGinDn55yZLOjxaOBn4/7oJbRlx7qGiSHUGXxCsZMnvCNMo3RCABGK6FrOfU3EPE6+AkgBDL2bojZkFd288/bXfFiWHGa6+Fw7ZVAV1FFuxmvlTa7/u4f2rBC39HLB8Cq0tlX9LSiI7KfW/sWFrdeN6MqHy1bk/t2ZkA4MBJS3bBjZuXF176Stg3n7ilDgKhz5R5D+BvxBzd9+86LA7AQVt1BUAa0UWfGtGMIC7/fOw9lI7hFI0KCJ8y3Jz0J+2KC8ZJTlxQAY75LQTCXkZxfDpzrWT6PIr2xldjYkJhfdQQy8w/92C3uQh4F9QbRBeVSiie8MakkWri0IjVelPVKa2PvN5hlrG0VsSh+X/nDfnM0+JyKgdCvaxQ4r5BLkY0C9EbhD9MP3KVatrVP7o2Lc0XKpoFXa/cJay4r1eXCK7OoWAYjCgnS6Oyummy13M+w+UXYDr/GzCcZ+k0nUIGodlQdmd74Eu7xRm0FWUlG+MWeE1qpnom2vaPAKtuBv4fZIMbmqBl7QLbPCDlgkqOTA3d/CZWNivIBWEjwuarzmv06E03tznUyjFqAn39OoEF7GFU0cRiEFS/tF5y239XevYhfC37oe19wSXuCZeX5SFwFXhPR+pHwMpSx6L8HxWH244TUqDpLVP5vlpyCJ3FmklD+pVPQZnuYgVYcx4qg3ZPrA67UKInW9QOLCcRduQVLcimSHhzhFmFAMs371WNY/vGpES2Bk7ILXsL2m9qGeOv3LjLIlkgiJVUs8Tzzh0Ga806cmMg4/FZeD7P71JpSxGIV8+HYeMLB4LFhs7I9HD0ivlF7l16GbMzYhMXMR6b1100E4G+ucwGKo1XlTwHkJoWOMMTvau9I5suqv9ysbIwp+WV1we3mG/uIPcWdeaNI9pWUrvk/ZtTckJoh963hHCk0dd7tYlox2b697jMbf45wBqt5jNuoLkSYrInIurVSytH/p5xV6RiyhNTO0YP0mYzrJkdySVlx52EAkZSqkJwsPLUYyxvt9uWKgpdrNWJxiqwxsKW+zRvPzyIcqB+YnpxNf1w8GjEBkxob/dfKeFVRXz+ni9ELhtc183GK5d0nLoS4SZb3dAPXwu0f5RgVrqfV3H8bM9uXTT88Exi5FtpxKjf1mb7fQhyV/ZHqp0PPG17ulb7dvln8u8mO72hWkDOsv0KF99Bv17C1/j9wjwo2MHBWJvIn7AbVRQOGMJUbTyMNmpvlBJ7KVW9CnN3P+qSIwSdyOERdT0ihQ8NkBBS8/2MYfoajlLjk2kti6lemqIVV0H3JE6riu/GoNLbd9x/9JYG8DLFchnlR94AlsLs6HN+bgdtZjc9iLNRYZ6iVwKC5jUTGkY2FJXbGCVKditOxgCeby7HkurVT74/odgyp498GW0CHWqtzfea2HOVlBkvXUTjzXguXu6I0MZurfL5iY85cchagY5dkUlAK9ld9JWTSXTa+aB/dpOS6HV3uUoCwgwFOLAIEH3gfVyHXApK4iwgwO3geYJ+1dCCHYVLxovS8T1MphbGnnMjm2OCCGrK9k2OkY8o64GqKBds0Jabs0J9UYVNroBR3Gq9X6HvK0MPBqk6TWJ1+BIj32z2Ja/r/FiH3R58ZHcOWJgeDbjlAXsPgDXIkL9kA9YjTKyFUgCr7dT72OFYsDCnnaTpJjYE8LLZvRyh4QuXSD3exhkByo4cF2rSevQ82CQ6Jzpbj6j2DY2BMVeL00iOkLo8SN/f5sTaIu0eUsFzIDl3/53FmPa81kMFTgeamxImQw2fuT4FX7z9d8QFIAPzIQHagidfhKxOQL1+qTHmFUGfUiF7rEEsz4H7iGNRc/X6B9zbQy0apFaavKQOmzcjv66nDvq/NBLhkoZUQx4t1Gfp6yFU7k4dzXUGL5SXKluOENlVGG3k0CKy6FbZW88haHwNdeX4jYJhPGwfWaGU3B21OsNdMfBBfvfLgoliYxgvnqdrrcFFrTEIps4zng+u8k4Spi/KgDcI4TwuC5JUxFM7aOrjnMWbife+kJyEnOUXhzNaLwRM8PxhQEFMyP8P0KfP3KO1ciNZrcqLLlNjbme6kFoFRzECOlfgLPrLJXtKa7LpAys8YN1QDJwUibKTZgFstiG5yb9qw4qQMHiIqfsifK6hohcl+Sl488hGfDGVv8QkJs3VjqawJEWNBk9DKjZbb7XzxcCRS8aOYCkFvd0ePZ5tIEz27KvY/FvdZF28V8a+9RQ7ApOJYHB2OKkhqlUDAL29tJlxHBBZlCyC0a+QF4ldM6edrBdBo60ysTU5JGzDcE7MfY+1e/i/wlPFKVYCVHTedP6F2AhizWF/POBJs7TQagni/k2mbNlltBR+PoZUtnpd1c64xf5fndLh0AwtJcLd9dLz9vn1xTV3zkT3IZKogui3eQJ8+sV+e+mm4zNnFvund6JLZROU/SzKBPmhjtuX5MgUHHz68DkUHQxaqnEOCNoykJcWwlzu64UlCB8uEv63LjawG9ZmP8j9iwj8XsgpQ8dgAkJsLcIS1jk09y6CPNEIFRZMrawb+l1/SFMYWJ5lk/KlNc7zmVKqR1WGJYPVpI+VtA1l2p1/8atlp+1Q1ZHHB+AQv3O/4F9Lxa+ftBG1qTgBH1GD1h0i/UDgIvo/JuJFb4IdkAGi45sN61HEsyHYSzKh2xxu9j8vVELkmNAhyoRNWi927UP3wIHPvgZPFpxX165C8h16t16vmlGLUFS176YC5l+qAdrvbCxUKSO6l5LKtMtaWXba9+hlhU0WgggAePPzl2kUMA1J63taJ3l2/8Ed1KRFNZWnaDln0RsjleJPRblajE9W64wS9rGJXgCUJCqd/lQLT2ao2ZuZNo+hszsPT9VTaEcx88DdlEoQ/122e0+olao+QvcGHDn/aTfQLCZccTeEpqFDs7stPf+5krV80RhopHzZtel7YKy0W9dao7j0cLozFl4uE67ZjD1NP047q+8jhnECMrgcvUecnqDI/J6MbsyGfn0p3LAOTWMgGPuyG7VQaPIEO/7wRecGeLrbOwV4R9zgncDHkFQHCrvDXnx/HyFLdIpe+6uK9anDNMUr903Xkc4KcL1vNnSPMp4QnGj+c6NzDgcXu+l14Entv4ZiLy6LUDMaTDbj039gb1crQu4IV3HvZvlobIvV3TrPT9DecaNqEcyCwDaixHCT+4jNXMR3aIuhauEpjGec4ZNewMW4ORRb6X9vy72v6Nxu/HrCmKaky41FIIlTKTvntWpTXN/b7Gc2c9BAOCoqJ5w1+U8v2CHzr07PPo7F37w+3+1DyZjrZYqHLjwlw9neb8r00mHKCBKaVPpsHTd/DNvstmspg3nqJ3HNeijZ0hoabplYxiBsCXeTZ/ihS88Qp9jWeCebNUdr8ts588fFx44E6DcbY6NlU5uzvO3Awr/Tk7d4/TVpdNvO1wEc9uFI4wkNYPmTb6P4klH2fQNCB89bvpJiqP4bz1Z1gYR8yKVIxdQKprSAEQiw8i8FX2xi3B2JH6+TOIOvQJM/tstiO+mxFRJbhcKulPvOo3FFw0K1wvoZ89ofE8GHOhkMUkWEvYS7RVm0pvkH9wxdrAN8dG2fyTNXA4u5w2k6wW20W71topvR7DpPuiX/rTUXywDE0f3yM7GTL1dP2zGcgJ4dZ5+Lohmv+UrLAEq4MQSDDJQ5PMEUyYq0e0ME/pFvgSoJS81IWYLbnXAjW9B79FmdJjMUpBkY3SUsBuztzOmikeM/QTgWKi133OXN9JxwNfTVDh7rkKIS1KxOO5eSzs+OXxVfwr8o/qPndEDGLhI5CTkBZjTvyI0UywcH4uRH2QqKsl56HxqrAs/TloFdaZ/YKvHPMH0PCMlL5cCtrDeMybnlR08a2KKfZGIu9Hi2RtRf2OIRTh7VNTrnfaD64X7ETL9bBIhv3yr98iCXMzex6DROSrUfj+l9AudROHjFNzbJA5+sTxudvaj4tLCJkuNrMA0qOivy8ztQrdEQfpPIEID5towggiwaV2czkKZ1IHgw64n2XSfpGRHkHD26iAlnilKSougdIdpwGrneZtCSTyM8vuXlCHUdBzESTmvyDQpYMTN1cZUPHGPLU2Qfz4uLoUvozB7ZMDQeVVEhJ+szGqZXMPv+AqFuV7Bcnur6J2LM8FEFE77/aOKG5/nlh0qMTuhxK3zl6x/7y6epmEWkYFVlvNrxUxpAhq9AvCOv6rZ65TMTN9y1QDIgDtoyutMLZz9+ajR3d9BlFD2AOOLHYpG8puKfwgPJSKmmZie7tQH3x+5BRYRI2Z2T+8GVcBSU2F2W8C/553bGTve/XoofTForPyDhssMbVpHMs9/SYEM42MrDvKnxCDtjDnzMJmkpJHOOU4aCtK9LjmzWCdbeOPKEqO3F5ojwqcSEb+Lvptz5YEZqbjrT/vyAtJihD9KjMeZLbXFZOlp46Aykx4PPtS/9G2C6i6IUocyhncPnRJYS9NBY+4lI0QPKNgN+MU4zUKu526ja4jN7VVei9tJUUUqhDdL0Jm1CuVSmk9SHtPKY2cSgKLEJnis7CQEMmJXTL/ouUmMBvTHHj2Pbblwpb/cUsfVDVm3ne9TdqMfuMtcPk9HPeO74kQnyphjtiHtD3JoiV2TlippfUbE1njTPVpypLPUSwrNQ6jB8Lt3cwXJORGRACgjUeISTs8x0UPc93IxooiT1PYUleHYU6l725GeHp2rc5dk7OR+/iUuEPvLEne1VblBsr8fH9BE+g2rWGNcP2PS4ts67APlsu29DzsvvOE9LAUv6y584B67RKmEbiCai/4Ak55ROOEzHGd4ieHzA8phbISHffmjPwGfDo0DxuUPVMWwbRa7kvxV54OxJ+f9qAPmCMd9st/cwXLuunx0zcJfBoqpJW85QWQ2bHGdnueghAJjzClzMHVBRv6HmxQoGBgaWKQD3zxi1wdcSTMSrc7SAXfUC4xs6vFOUqGTSVuo/2qcCCxROdf9tpIKChLXT/tUgErrr5c73EE+SAzPKneb1LRHsAh5P4k7G7WD7jwzxUEdf7huulJP5lLsKkQLSbt2kOsJg3b9j0dF+AUrbffr0BntbXU+ozBMMITiUnyFwk0E3LVDcPjup0b2eVTQncIFx/eyk68FQ4W+flfaSw6uaGVpDpALpUrXDvSMK+cBpBMjXjtlLRFi3mWFmAzOtUtAx9MyDsaf8x2OfHRhYh9TMqWmyKHBUhRFchEYH/gf+y/aCMHjJu+6SyvNB1aQmr446PITu9TK709HGQdASdpR2C1GRBgQ42eqtrMHGnosXUbJGvHgk1c0zugPqt33kX3klHqzUfW5Rmo6HnMqqdSPxXDwTI7dIVeoxRUlJi5WMli/bRGWuLq6no52wEFW232a7yxtZSVWMza2JUJLxP2v0T1WybDIr6FcC3EA1oeDAP9w7Gicfa2BPnIgRZo2e4CjFRlCVfGAjo0bcVDRwBJy+30IqqiuGxJU3wrs1bYeuscmkUXl5AVyjuXBJuSAdw0oUzRvqAyb0G9iQFUVo4e23sEJTWbMsw5yQDJsl8vcVdikIcVHcuKqV+oqYiGrdzigYUPcwRZRpE4jBKUxh761iMiWkSzkohMT4X8CbVvsIokbcoKpMKUiQcbZ96scym1ARMTYF7xLgkSbAh53eHBure+ZoW9uotoI/ZXxGRL3Kkl/0KYg+SAaqCj9f+4D0x8Z2+lCVH6q6tnpNxCFauB5AiYMyAfsTW5rGWSi83ye9fONrVqCOm4HT+IFloaY3lK4Zb6+4kXp9na9XvXUUQu9Ex+VZNe2f8XW2A62EpnFEnljytLd0/GrjIsOuNJIpyTxSSMMR1MH/95eLspKJkyozrfcpPrZCs1rVivrtZuVGmZ4KWuNtsm/ycNr3AMJb1gzv+yhSUbGAgeIryVP/HtZUpYSOTcR8zV9pf/MktzZQs/rocUONgV86WVdGCtoBKYOIdHd+hL8k0n8ilQHjbloH26uWEniKE0QNpQilAmnHYxZi4ij2DiBOV4P/TpqXMcwBrMBtl86X9ook9v1Z4RYDVg/krDIEqNK6WbGQYcDS4V+6zgDMPc0fSCqeI0BudUmzt7REiuIoDcvQjl86dT0eYk+IFg9UAJrSyP71Qp4vZOC0CiTznEevMxjYw/mT2Uey8JR0aL2E8ZKft2/1FtGwHylOcZG8AxlFQA4Jrd8RGRenfW8KH/vUNlH3a0y5rrkyBH2M9Mxdu2MB3TQ7KNyaWMQU2EOKhldjO9W7sOqu6+iADdTDrGWJHb7s7OG3GrsK7UeUicgICzT4cKAJK6ZpjsCEe1xLqviIzN9B8/MbyVJMiW1loqBRtHIvAf+mRj/u9Igo+Ys/yhCfDLw9J2vmcHjoruiIqEuEfb0RjjK56wQo9MImAB5z2vMS9vFCi0lnxFF70BFkN17iA1DqwAJNpUn97LYa1e5UbdKKAzoVFe4t7cYn0vbGzItVLcNqN/v09x35oPPM0Z5VUsaBDJZz/pLjLxvi+2quyEtipUQZYo7V7bDIEgkP10yi5ImTAIAOV/UHhucC/OkPpRDO35SKTNp5I8eGqILytmz/ijiqb00jz+a1aEMVE7QPUefsDU7dkc9ld9zKiptRn6taOPHoIFzHMycN0z7Vd/TnG4GjycJMFQZyQL/RGoh8lc+DF3/qbbLMd2DDPL52rt4/Fnbpd0EATnbkZcRsqICyR5HRteKXkojU+9CcrvldigA0lYz22VBWGyY1cTTU20CK0SOfAF1ijPUV8W9EsCmsb7buu9hBCcuMVb6/+oOOwSzDwC6Y76QAWXMx+Hjj5gn+bHaa03h2QiGw4CZYynT42tdxwRA12stHgcrRNHSSKXaV52DmPbuusF2C1J7hFUYhyBFsHGQaq78DxZ2KicCxhX1jRApa5SHT5ICdSxGn1HZL2BYWgvGzRZpxfGRztXEyjd6n5AZM2TSkxONBGVqXZ7+5zkkTBDuBarAxz5OoSb4KRdp3mfMrDCFSp7JxEDnHWGjaJi0vbuwlByIk3w4svrWb/pI2MZh6wdcKNeWpyAzbT7/BpSDgYROnPcnLGBmyv3HMzzcn3a/Pi/3VA/8H/+wr1/WLodhjTKfD8a3ZZD4p36iedDdFqi7rmnFBfLEigZlplBHLtS4d3XZGuQ2/B5bpnxV/STqM+2Q4KzzOk23iPZWbqMsLwEYuh02mtKQrJ44V7510oZ/eRbMZ9UpggcFUdj4/SHOZzb4spXX0f9fx5Sw4H0U7LlIjtTL4OGYtp/+KY6gCn9zlwX9mBlIu+nQNTLMiHozm/WOfoL6W4C71mRWYGTUrYWkLXg/VhB+lOXu5Blk+gr6Y7BtTg4Uo9B9jXVM4KvgTX67ZiQ+OHLHmsSKKmTYH+zN+AD2rjwnhsY526lhpz/fphprY1ZLMF1guUTiz0CJzFRgRf9bzY5GP5LFoSAp9nejrog1CLvIHxi6CGQ5IYpi95+SRs7nn5C30Kp8/ah13xeeUMEcAw+HzsPU0rqrVq32De3rX51jgcX++qqhTtZI9hjTLgyb38vb/kdtcD+HC5lcjHAXdFJlxFO2eYaCfN6/KuQqmT/Ce1T3/pDLNWB/Qk+m49uCMGbXQfMLK+1HhgMV+Ki9dGyHkW+/VEVpjKTVKvlKjLTsHBnXn5/4UeB5n1pHIfLQgoQs8Wcd0j6WEyPuq5MpYInct1Ye9QACvxjlBQ1cgDOU5rdBgiRzf1wbd+NzLRkBbANla6S1dvTt2KkXqofVpQ2qVaw0UbqaW26F9y+pDqE2B5zeHyZNrm6Wr63KZ4s68YfHDXeGtJxTo9BryfChNAnJmQq36GT41vQa3e+en7keUyxrP7Kj+AuAi5y7wwBL0ECM4TKJ7bUEm5JZbMytOLjiZW4DdHvaYbiM/UYf/TVoQn+Q4Yllax5/3uHCXFICnsqQhX7Os38dF9ZfsMtuzTWq0sRNlxoKPfhVIUj/aOCcX9OXW03ceiNtdKjiYWBGQomXz6qTnDhxm4dlwBKpvmEudCrKKeNjVgIR4HqTskhpcXr0Tm/mQ20tkpyGsYVdvKSTlJDKz9S7Pf5UXRr1GyQVbjG9cpfk/ZVpz/yd05MCv/mLiOzDDXMPF2SR+VGDBtdqVPYSCduppgqhWNGuRuUcKOANOXaTW5h3WZyYF5aYtR2y7I9D6bep6HkGFzW2IHNmxwbbgHdzlmlZ4ugw0iLkQCpgacjJwQJm7PfuocEPw6cc3W6aVEGD4FofDdMJjRGyMOxA+lq09L4pGhYr8IUkin5o1oamsiqoJROXunZs8545U3rIVBoTh0bvZ+nbOjlQg+A5kTC4rovUG8hV8Q5/B6FNgMC819TUNIy6F5/bkLWvSdbWl0/zzgAcJbw6xbs5z+LNV8MhWkQAr8y2/+GOOv9peTeA85vC8lgX04BjWoY+2R10bZmVWyxTqQmgECfjoNZ5UPu2HGIp8DgJL0bOsrYkETIWc5CIU/dqEViA9I5Dsj/tLBdxmv9npKKyLA5o5TMotTVmdSaOfgdijZKDqlEvAao1+iPrRD5t1PhHbgtDIjj7eVnbkuKoBsG1WZQzxRytJxnp7quSWERlYoJSBV0wN98/KrJFNuV3Y4D6CL15YlhOnHbpswuN2wxoM7HDbptu2wzCMVOfrcAj/siQrbMTSjLLkcWqO5qATIze2hW60esnw5x7UUkdvBHke6NQEeKqKSUqVupTe7dl9EmS67uSoDvtW1+aIx+M4Ji3suPcjVLJbx/sVUK5D6cUk9RxOzdGCbhk0hnyaLhUI3/INby4KDydrSxSaSUkNJTEcLo57W10Iz+bnzyh1gQI7pePN8FMlQgb1ijJr4Rahsq/Ol6PphDgkOcgmy2SDbIa/RO1HqpE+ZP8NPA9u9hVulfDAuXQlUMM2Ut+awar67AyK3nwngQhgj/tgpXvmQIaTBcBK2I1MfaTHg87gUFlIZpmv8G6OgNF5+25aBt2Kjy9SxOL4bzhR++AjiPXOB6aFhNK1GxUZEXnSvvDVj7TU/a9F8W7INVbXEbuD0od3CsOoBtkx0ixH6EplE1pEw8BzBxm9dcxwYVvku6Z+tOQ5PKalrkDNIqa/AH4gohAC0PsFE0O286BPzNuZHdahiLiXQa2UuueSpiEo1fsGQILqNUdRMeXD1+93bzWzeTg+U0NxiM9LRwym1cXGwf/rjfGxUCPCMmt7qqx7gEJ5s1BlDoXypRP0h7tei9Yd1Fza3weG6mZ95IpVc5qILcDWPvA3Drr8s91TkEFgTdkC9uqLEoptKpyv7JsrjoS05Qsb//Z5MzN1UDO2rZkBnlfYGoVFIuA3HlKLHKssUuVYDZIGXT339rXEbyFpsAcvFTfF36hRng+yT9jBpqomDs27gaOzKTUAoMqPtC4sHZJisvbV2abczde2HMhDfgy78MGbIkv8hmIrqZWFzhI/pWad19LNRPV3IwTZoWXcKX7KV60dt4h2fk8gcOPy0Z0r+3Z37f53UGxi1ZocvoQEk1qLJpkQKGkUrgsxfLdS39OggYNDKYomJd0jBBVJQ1rQj7F8+UCZ4hpEYsazSNPgvb32D2aT1+HAolVWeObQxj4DzRfKGeNnyb7App3ot0RNFbQeGXDm6HnVSOa0nTBJSGahdWrLbzwsX9q9eUGX2e21LvrNazlksFSRFQMn9mVTYD1Pkk9Wt46Q0ekuWNDcxrR/xh3JjNrBBNwdRB9c9sxu1M2KSovMhwTlEBnt6fI9LcVq9vRv5EN87FZaiSnlFDvnLM2yJruhaxDZ4icb6hkTQpvah6D7sPd2aui+SHpxDosI5dY2laXOHy3xUj7KgM8z4O+gRQIvGMVQCukCcTmFqA9b1CoDXkQMem37YQ2efNoYltsNBagyRRM43RBG+Y4psM6zs5KDYyeBsMxKRzmJYRkY04OV1u/q639Usg4/wL5G9BzENF+qevd58tVUB8K8T9dhZHvNPW69Cds2zzblQgQsFHik9sk+9O7S2QYmBYQZXsNvDGWgbIKUyNvZnCf5g/0HY+5msGPRVWCqyeK9Q0N5d/mcKenQZxYzgCgZ4d/HRJnySyXxGyeVIN0gPvydA41mE7yCZ1gA2bvGjZTjKxGo0McVdMYwT9pmgOsuJUP3HXMZc5lUwCIxG7YMMHK2Jd+UJlQ7UOJ5phj6GBztyfb9uhnoHP5Z8EMqQwAUOq5VpvT9VXi5zp/0ExfToT+qesMea4z2niFqKj9+XV7lbVYkZOU7EkBkHKHNqXmVr4J3AM6pp1wBBGdGRcQ1GI9YcOyrvRF8Es6ymLqmn7x7qgaXNJGpf0PccibRcq7TicPuVlLq1oa5hq436NIOXOqcleNsvzWLofe50h5QYr6GcMk02TM2oBKWA/tIfz+UrzeqW2zDflq1ncUnBYSSc/FjgzSLlmWjrMPDWgidO5EJMaN3xIsxz5bvw/eghxAAR7XKDr41Lk2vutSPVgkMoxEeBl54i/FoMODUcZvZFMKNNOntovgIkSsi3K4+ZtFJjKgDCXtQalo3++X5LDq4F/OSPR0ph8Gp1RnZdz4835HhaZcHw5uxs463C+ciXWN3EMMuBSR0eKN5GnWbWEUrH3SG2Xp4/oobhNlfYuEEjf5iI6uoB6zZ/cXKiFAuJpofnHCo0K0xJiTNv+OUAT6Oh/94sv/yaAGzkEME8dJ1WSRvOi3yTF8K+LkNVnneQoyh8a9+ElStmJGjXqa9V9uKgbPQWhebKn3w3FNEh09sdfzhD4NkerCFEiNV8hwnKE7OO+lM/0vXk8T8GWX1oMifcA2dW1sPcsfdSrpS4w1Ho1+5P//Bo5Eubot+3R1uYmRL9affBnpryPjEahqpEXma+53WRXyA6P+hqzO5XuD/WMwfQpD0yE+JDzWBWjZ5/X/L1dZwcKaQ4fbm6o32rut9s4OuCrlsPU0wPWUcCpwlHin7rHO35XiqZ2t9Twb6qWsku9ja0Nag7zEa3L3UM4SZDr039JWnty269c5TcZQN+pI7AxsTMSswBVeTrctgY1p8v9VPeS9rcT9O6sXPpVjUTgdiXDwIA0RZZoEWnVLQwBxNanezZF+tQO1WZBp8jTJjaAT2D8V0W5sjznmWfMHvVH6h29SsIRlQvZeVFPg92dtk26paRQFa9Px8BBBGK2edbCDETk7rMk7UZPoPrqcQ7w/0tgpOhzhcjSFKoKjIYX9I1bafmqia1UGe6g4OZARdrXroKPNknsY4RNKX4Q5ePIjqwIfB21X9W7gS1y3lBIgJLj3lHkbZNS39yJigM8BTEUD8WHedfB2m5OQgQ8O7K+AG57OpwRkGo2Sce9Qk9vdNO4PWdIXyjq6RGcW6G9VNUX3MOM/3JjSmg4DvNilWJKydDlGS3498wDVIAyQ7baufPW+1TQk/GOdisALKLjCuIFa6QqsyK1DU8+8zzNMQ5/1Vpn4m/DJBN6vGjFKWxc9UaSIfkGlGqlpxr35/DUbcjM52q1Q7tnRYFlkOGiqJYvkFNhAogpEFu934SfqLkQAvVakbFsYLJykl3jHpPGnDK6GIo+DaN1reVJwcN+T5GQNQZInl7cfPkZkNSX8D/rIWKi7PHSnB9vTROzB7blK3WMh27F5ov7IYoc6Q6Nrmxc9HKea3CaYcQjG9XltY5K+3YM99QHS42ctSh3ik1pjeNSh05wK7DufG6yb2LVkjaqNpVadRjApNVs250s2ubUwt2IwBEum0Q72P+K7cWyZJmF4IKHqh3BP2CGIGrX4tGH5+WTUi4DYUbYHSzjtoRtGuBB2Z/37a/RVQiy/uihLQmiK0ndXcmOCD7my8hHBWnoBVR4rmvfD7YH9+DzBJ7VtTOwhqroSUWYSFBcTabEjsFhBbssWlQZMoWl72/oJUyHZ1/mTCfwq1eXG5wzX5wGP/Cd30bELa0V9SruK5XjooiL3+itmtxWtjS5Dk3Gi3cX91ldlN26rm+2BpuEuCQl6pYXw8cJfDVUH7HV+qqdNrs5NugHRySJnHeEbNFnFsSRtizc+J1Xf+dawqF9Dc6WgIsF2mclKlRX1qEyUPJrihFLBBIi5HXy11kdQMX9tH1GB7vSij68PascCib+vVA7q+sB/wzwhLpyOnyaIURPnIPv4NdU5PYchcn6bJUqKZ04/TtwR5SPe9ewrhLRtx7eGsK0oAEWPMY1LpmYB59/xUgb02FwGpBuUgrrf2WBx+iXSaf1s6My4y/j7RsBoWZNEKtsz1rC0DMifjSqEYSd+MZnspIJqyGXEYIGjCT7RXTxVY+cZkU9ahXKdopiFbgpl/YhSD4TntrMBlLCPTBVQ96d8KY6IjUr9kNzPHw+f8L+pccQrfzo2YhxEfQtNRfo+P/UDwrjGXR6jeSq+H2eL7+lx42ikjoqcGSBRVzvSSsqlW6I8L0fEVwlVm0vhxqqhnMQynbrocxxzz6Shi3cw2TXR0NKOjozEBHEBLjI9RR+VkHvP3cnioU8E9qHOaG7vmdL6HX9LCMvPkTlcotLtVp1mWUfeclKZ6kS1hnBLKH6UiTuOvlAN0O43i8VDofVTRiihlgkOQ7ZS/j9hX8PkknWpiTx66RBGgaQhomY4HWTBS6mJzNGfivEwxotwFo+D0yHziHPGMtrC+Urg/JWHcbkD4VkFhpJEiGxw90yHODBrksDFl0a0iKPUlDW3+bO+U3Od7uceJkCTsNB4Rw/EVeECZintfsgio+ETZGZQ+mwYRiEb6RR+Wx9XVcTllezOWHgts7iGwGc75BHsfAT8dICxMk95XMkEVc5R9oAL4f3+8Mt8XcjQhZG0afgtOa6dZdSOo1pt5eOYt/AAeaaeubXmKlocYX9OfwHKnzVMyYYUavXLb+U/7FIW55A1+Sa75hweDIowKnz1JSln3F2u/8sqkWEuIZ4x0OLu/+0wYvsMWx+TmbVlKCQ1Id504pebKmvPkVcEaQ3SZwAUP7kFUVZz0+qHGeu41vLsOOltz+lZrRt/r5zvij3EWYL8qzrmTSwMOs15perJn2L1ip2BohzNPu+arATcr0b56nboaG4OtQTojKK8znk0bWm3mZkWZjUQBsZWvJzlN4bqn2Eh9gAeUtM+3zi9J5E082OhdEdZxxYxQVTTsKEkX5wK3l0Zkc4wp2LCeaTBmi3M0a+N1yFFAiPc9zbQsRRCkezUPkUnwuiXE0BkInFPyzOSltA91y/n28ZUyLEU96lG5feJHbqnQoxsDS869Mwfbt75AlrrB4BgvqQlfF/zeBZ+fT0rNg0bXstdh76vGUIreiro74OPmsmEjJCvkqy4g35koRjMGtDoufNrRXTjcghof7O8x9qERJphUGu1LtMHiB6Ky9r+uLZlQeApNhgWeC0yIUThJuWl8PT20A51C6r3E9ljRvGf0A4k3ZrTRYWaapzzBUVisHB2/8xaHILGmW0pZWa8q0pYWwdoEruQ2FTc+kWJNIcJ8vPCKjy6zyoW/CiwXlCHFnVCStz03WuHbklJR0UmwZbqiVt5+UaE1xY9mkhPDoWrUo8+3jjMefCKxSTI4ONGMHeTpSWoPxH/8gXSqKw2YrzndvPsri9zJeqPiBnr235SkkF89rjBqrhimANgoblrlh7g/VDMT3vdA0ploWNdYv1x5gMSOU9aoxutUzYilO+3mVBFIW5oJXp5XlzxLMxGe8SKUBZcdDhgSV7uYqqaraT/PY0OMD2vTZY/kepbQZKCraoyIRhKjzddu1YSZTqpVwR2CGmD4G2VRz3Kck1EqAGg9EuBIplXOG5RpmO170Of0HFINnaMLwTDSdYI3J9YitBvkvo92y1TH9ukn5h1WmiMym+gJJueuA19xA17b79h/Uf77r1loE9J44VgrvG79JT12VWXoYla04ta9Z/pEntgTFauqGP5sz8gUizOojjeV1djn+XXS6ANZKgn/PCNcs5hheLay2DaNcWhjGbFhWA8mgMBqcIHKQ31saoRvl+zeILIyECydSE5b6rBwU9S+dkuubRT6kXLzBr/mYjSkmxxy1mXMODSBzEpN1gZP+dI2e7B6fC5kK4lHzJWGFfLmS10zv9NkJr+j+IdXKJTRNvav/0mdpmrlLM1GTsIJr5dOZyDFaMqhpHIRMZsykx0nGCChJACquNaVT2DlSuVtGocLdSe1CUhvxN9RcUFDB5e3zRVvk8B1+8Pgfaj4zmtDq2C55UIaCk+MVZLjXW46DeXIiOL/JeFga0UEswn2U3cwFgy6OwGuYb6j7k058lxJbNapLrcNp902vpHdgXwDiz8BH6KPOhmnZyoNDZ64kbwkaWPfNdNDtU0UtxOmRmO5qBqP1GVfw6XF1Nb+1vJIgDJSI8DYcOsfEgHEKEJH5FtKr6zjzrurW2zV3BI98ayxEvtfeMg3GUe1eO+WOeEA7EiTcmYsgM4GF/VPMLPHggQckxYQZh3ZQIniypUzvViGvrkc+GIY4KdGQvi0EgmE2Mtjy9lGuBBLinuI/nr0XweCcCb3HXN4dsJMYInQk5B/PU/KKZvmrhV0MS2Co3UYztE5+t1NREep758yyG4N7qBuIZs0FuVLGeyaGgqD6x2RA24nDEFFGQH1Pq9VyCpOS1LUmkEcAyCYtWRfHmpmkcNFPRAVRO8BFTRxlVRiJOCdZp9QyVYubmZOIoDuKbWK4XFE4NLpNNTnuVNSVwdHQwPBYi/X3Z7nZNHszpyM4KsMKsltFR3jyScwHIoqah9u6wryHYcMjPvZkMoJomXX8D2CXcYiBtVC76diXcywa1R2s8iekny3NQfWnAsuyz7sBeVdpKtAAj+Gh5IGL1T+z/FrkLJJwR+MRwoAC3fToav8QBnMPWmQOkCrxZC5Pwc/mpwT23P35TQ5KYrNDzl85gkHq1jLiarUqdiiBxphKioJ5xlJeCQUUhO02m03ukoZT+0fvwsfJj8edBYpPmVPscN2o1BGfYWaNIJibDGAI5iHIKAeSYZIqZls7wSEJYi/QEsaEjzZx9aZ/YzofY9tQveQl3reLjUBmCDNbhqdAc22SCJHr7mT1N1NkgiJNw3ZPOY319u/wLxSGqjkPO3YLtkELWjD/X3OQXEjjfzhHrThoPDGMpBL/EWeVKuu2BDyVh/+aDCIRzU4UVvfnLAmMcqbF8xc28IQh/5bTQe2sdCHJ3ed5Iv0yh64qtrgsXRwIydNAdUqRDN7Wr03+7CY2tMe0FPXc3VTaH8f34J9hsmW+jgL0qYywzHZ/4W922u/ypoRAaLwEp0pB+pbxn83DeEOIdJRnTJZl+6L0+iS+MPNi7w+gb/ZduovLpNYejt/4Ky1RYdafMmMfHazx0Xz0TPp+GPW0kbieNHkbaw99nw9wPwEtf3T+e/6ffCgA4DZALrdr0XEur8PiXdh+lqzszEQpPWbzSknAVltSGP7/lblllbyH8E6afgiBWlcZOpsu7m1xTmC1aCnjVfKDV9aanPBl2CQr/wuyVJsLi2vtqNTa8BGG81r6kSZkvaHh6lTMCFG8mo6HO7uJk1YASjIZwuHEMyuJSbOzfXVAeUcX/uDNB1be5Gl2y78/OQN3aSagyKdA7EkkMy/bWe1Fdl5Gs5pHFE5TeAhL67LVmtpMju+En6hHiyhtHguNg5Xo8Uff97CLkUUp5fPF83vNkBizZbpgFXsKkHaCzhJilRYEc7PejVcrlgd0SmL3tu60v7yNnlqUzCkuIj6YJOGu+RCE0DDb1hjzU1us3F4bBW1YnZ+eIpxlp/FrsqnoK6Av5M8SK/9lC7DZVbp5ltKqKuV42yL+71Db+vYk7cZKHgbqM1We/J5TvGXjYfk7OU4+Yy5HJBFfEFH2pK+uO9jfAMj1JDDv/qwq9rTDJumDvbwuMMQLM/0AHYYjKznUE4ZC7NGzIa0+kyjzTfQXnyPpGvqRzV43nhl+xxODxWxXPp3jacnNQacoIAkL1LSqrzAsK2MDI59UVg6RWt4Qk0UQXSlZ0why/f5M7fCUCXyI41njxWrWaOjSlkcxtRDcmeVIcYLsLyJIY5GV6VC/+6sWbxZvaU9pQBeYNyUjnQfE5rgv/XnvEATOLzPjWd/Q2b4HnLIpnu6AzT9iJmqCU8Kp3j0Syt7WOBgafvdLUOD6obI4ajvGFV73/z4S4cJhCeXHyK+8vggwjhWqp//MxKp4DgpwmoqnM3pozY6ig6hnGlyN9bqmiI4YpZ+B3M7NdR0uUesgh5rHAxaNpPzGpkyEwNYDXSL94a8YjqIJZmrQBu7uMRR4XAhnFGGAQRf2esgEkN5OkrsIZUQBbS4fstpz7pV8RuEmtprFX/2UtWvs9JAiMm0qzTBY6SbXUh8JkG81CtlsqnXggZC5X1ablta/sv8CP4b8yhlRY9HRvVD2B4udpem8Hf3G10LTynpBdJMDOKrgQhY9g+5JPC7LlC7lUJjWXOQDIQV/c73S/yhAU5iNvp3NZ60AvMCsFLPblcVssBoqTMzbwza5ESUbuh4wrvcOl7JHlj2bjzHfVPKGYaTEeD860ZJnuXrp7zVir/WjoHSvtELQjh1/czDKaKOY3S67q3RQOZEZpTPydHutatNL+t1YeLg3h/SujDE4UwO38mPvbyCcW98aE9S3LBuDAvMgkNa2uhjovA2uUE9WK99rg0t4kct9ZnXlu88YVstzCvwft+Mf8fCOywYK5+A/aev4jhEAFrR/+tJlR8AOjGZOkvjK7KYbjhSpoQAK0jLtqX604DGniaSSXTG/3nqXE5MfVpJ3s7CZhFg/6hankZflvgRyWJ05MAmDGDyDRKGc3W3j1gVpJNRDwACeSAukDW/M7Wt3/ZOldIJPdWX7fopTkvlY21w8R3+Q3Gp4SsXFH83AujyNHCNxT5nm8ddHGnZ6EdA1dQ+/lYxP3w2j+G9BNLUyhC8ilmdMbzTeDaLhYCBoFD7KC2bGPLEv+rsGtU0Dah8xulalYpa7iN/wOqDf3Zql6ug+xxqPTZuZz4IVAndcTNPPweJ/okIw/XhBbUtAP1HL8SCvyoQ19zGzDFcFZfhYeS5GUm0kyTZZ5U1buLZ23zq4UVeX2fo+lEj7yHB2Xud3RJ6nbvSACiR3MLPvlkYt5bxG4q0tFUmXDiQz+w4DAAy+CJwdXZ+idx9aSdB7YRd7CJTlKldQQW50QRMpsllt1KBjlrA1MY58etvk5TwOs+PuQEYXuyMRbYbzVmYmHNOb/X93ZkSSv7w4eoPjUsGgtRl9fO4dk2h8J5h0Cg3VIZ/A5cuY/TBOaM4JmGcyj6iKHGbLfuOcdbiWXARyZJIJP03RrSCeZOjqqHR6gRRila5o1lerbq5z9rG3cPP2HgMrZtnDxnOM6Bg/Ruf8qQqqjktOD/INDAE7rrkq0ILbGUTmeM7PeJkdg6EJJd7ALIw+sli36x2jMyk+QI0oz+4zqQyQ5lQwiG/vZrMcfId0UZJbQAVwa4ErqELS6B15QSA+4mRGuZySgByRig6Ua+TnWbDxZEdsBVZ81H0TJMZp7czqGirBZq+FqAMSei2Q2Eu56PVJxE+F/M+R+Za4Usfo5mJLgA0r+p1Oa8t+z706nElY7TFxZ+nyRu8yTcdZP7S5UvyDqBL2zShWybCTJZkreZ8yjp2beRBdDaa7kbqjly4IeBcXFey1fdkNGzeu+kgBxqBqY2x60u6fQP0Nwz2oDDWnIli7curOSOuIfHqt+12FJtC+JscorG7h94OkxrwbE8/PqxqNBFyZV131AQn2aDOpddHlCUIl0tcp7GUx8fzPBzGdnqHQt9mPpDaa373ryhN+wCq+kP/I/d+5ZMt+wiHE1WHQX9KIkcCNa267me1OZ28AScasoIYVAgMVwaAyKsSXkR2JVsgAm8ohvw1Qnwu+uN6YFTX8KJ8WU2QQPEP6LCZcdM/SxqhMiMF3mveAs3eibRZ+Mx0BU/dQ3U7Ga3FSFLyXlaoxAn7O5zVIwNNR1Wq07R1w1cfhZVlxJFxoip+y3zq/pHZTzpi0hz8LgRTkMR661zyVa/a62pw8LiguKHFYlweaZbyVDP+BhddAArJHV/sJkhDUDgCyqr6CzHbq3QRm2i/3xkiyRSIs91l8Ftyvv+eFJQ9cE6QUnAibH/CnW5NCC9KNZ4YxwKmpWw1v5Yg1ydD/Jz7HOlcusThWzqXKIPphZs0s27DLriudAYL6G72uO3hicEZ0FztXO5AnVRvDwG9FV3Uq38c9LKclaOiM3ZkwpVYuYqLA4LtyWj3aw5vBSSftXS5igCKMAD5n06kVebVOOrppuK7wVHUZG/dJaiPlbsEbJBBXaEkzcN/b+hmfS+9Wg+BAF5XA86VrNiyB8dtVyIdh6Nne46cTQFrBKEz1jXEusa8jMdWxu+JiHxj2L04zfZo3Mc0zEkpESsr/Jl8j3i40lhbPA5VdxEu8VnWbJ/P9xb6Nf5CAL3Ym0nm7JNX+dx4800TeyPAJ1eOshETeI7kQ9cK6NslTTvNdFRswRq3sVud4ZYVbrBKSlTYezqODghpS90s6rLvTPqP2WDIaUiWgFMw0CxHI/ErP2E8he0xg4luZ+pWdvxKQ6MwtoIYsKY6We68sn3m+3Y20BPs+palB4qEnZ7HLPk0Xpfl0m28K8tYwqfEvCN4xGgYJd+cLiTY01BZTBhOhmHdFmwGgC+7Codmibjd1MyRkNaPi3ePOycQxOotNFkZ1MSnmLKhsE2Cy4flOAVTTCUZnkYUh535oJ/M6mAfNsCYO5GYMIjxUPSzucWVwyFPFmMsDoR0K9kCpv1UNvsl/rjsw4E7QVUu4tTGIuAFf66TSJPCiayDojVo6hdJe9vlZeTc+vySPrqHhvoqfx0Q+ftALo0bd+OcSGWpxy5RBycTriF1ImNQtBbIKCD33CarNCzhgj/Fh0cMXSiGj1RQHOnmC4EfH2TLSsdGNInLRu3TmkST9JOWWhbsMFr53LoCud1xr9Q/nDWZf+Ge39Gb6PJPt2F4AneXdshIBKgTV/jbAzL/e9qCN/PJF7STeNPPdwevM7WbUxPOCf4uqtPJ3YjJxyge6XrwD6U7AGQL4AOHZb09SzmZuKU966dE48qN/NbBIrF/K7ODjn55Z/5VqZHuH7b2G4IwfcLvOnX0EcB3/g1UhqKXN/8PNWe8Hsx+zb92W5U409mqWCu2U1+lo1skRe1suY/g8RVS/QWdlITzpbtJ+rooQ1Bj72D2hlzb7eifcs4IGr22/oKiAj6OPcxbGn7I1yvfy6DNB570e+e7koOTX25iu09wbO1qT5oY7vpCUmupbKj2FomW7Sc55U6eIBI/lrWNJ0zgaOhu+5XMYva2rGg2bvPXs0gTGO64sitv9S23NiSAnpQB1ssBJDvAMfVeJ0sSmFhKAXCrUx7eyxXAxYtJSN8iE8U91n48BRjQI5JSlo/4YdXM+fZUk9rx/+zjcotvKByZtx8dhzQmp4YqArjNV+roezBJdpWtVZQIZOpx+PfHV8wgXWSs2xgpElZilk94/kix76Wx53h7vYAopOHid9qgpMcPwSzkKKQZRdF5xLaujxQSomVSyUjXEVYRiKJZj18zHXmItwDBJKzcVWTnpGlmT7jxWhQm7/c/tbarAkpF3WbE7u7H7IYmofTRo2KvKtuxbSKU5t8DvTFv5SGgYEsSZ5O+KgnNjk8NMEkqgGUOvCwgHxxQ2sd12BgSksfy+E5VKSnXr+CS0Ie6faJut8pJz5kEHA7oFl6uVsatTd8NKijBpfXNsLA69uEvqVg0PFCDy34exCJii+M1OuqXbMaOXQUawgAdQaxOgMi3QXpK+cr7JJEUTHthLVbRhWbg56Pw08RnO1bX7tuW3Wtmo3BsC10NClJNbXNbe52NjoweTm3pN0YaRhBsQtY7VbLJXqrXbINE9F8l0p5bc1gITVXS4BdOH5sslP8XGrNamcOtA7oJDsAKHygKF0ma4x5yZYbQ/OONIGQd+TL10RIO9gv+aXfQrE44XnF8+Jj5RECm7NpkgYZyAy6toLOwHDFQEFqtMl3NPuFfRoU4GXAgGNLIxI1n6TklLSGH11DXm++XkCXNII48xyKEv12kyjT4/OAtxFS2zx627iHzIxiOrVzAJaA0Th4c2mDEhdMfqaPwMXh+5ukCsKPQeUkVa2N43eBCaJ0vq6rW3uuUYeEiocRc8VW//8Ggh86EQY6teMDoujUmZzMFl3c9FnRuyc7jZP55L1d1kvBlFceYJGKpHgIaS7XX3o/UvWfMAd/f2ZQC8Z5T60DVi+bSMjfnHETDlPY9u8DfTTxW5SSC2OsON1if+A9ug9oVuz8J4iwkCpKWBKto+wzYw5L0qKRN7XKjX4Egi2VnLagwagem29VZwVtnjdTL0ZXy7XXxKQGJf9i6Y07P/MxhN05eMzxu7uFGn6kjLv4UlgE9P9hXs/T/yUlm0dSy8/Uew01PGk73Kbq9yTpYi3tMguMpCHmpSDBsCSAt12HgRCh15mP7IVjJdAVWW5KT85bTKMx/vtSL9S+gZ1UpbaAlDGBtBOkOERwvA1kXkf9RmLEgzyG38Wen4mjCYnM0SO6tIuc2QQLozw6CDudx3n+Wfrgs+vihFUC/6QCjGGxqASXMMM+mGCY4Z1oR1NgRKwiwnrXqDxDOcXTcvHbyMdwygKtLcPuz85F1kki1ppa+HHOgoZr/Pm9UY8q7uEUP7qjeWbdncVF+5i8EjnCnWNKlpY0CgxkizOrQq3srLe6I0nqpOPXxbs2wQg1iCr2WC88R058+bA7yg5t0UY3PPK1pwXkgf0tgJqEwpDX4A3OjHXmIZOmeoBqcpW4OVW2Lf7HOgA80cnOvSLtpx4bV+SwH/4WUv9yiII7FXUO3cQSG6ekYRgI/4HoD09lfu0sh0Oz82pBEyO9U9JSVoIFZtE8Nq++5Mvso9wrCV55K7+t7qrDMaoYBC0O8WdKLA2MyTvm8E9/MoO0A2uTkTmUs2SPCfn/Q96Endd+OlLyYi0e22oetbRzBMxkAzxLaf761CJcqqL9AKoFMY5uaxKpJQ5+ydz9RCgHX/U3lt/Ey92M7iLCGCGPmki2otQ/ETm4pqpg/6E6X599m6aOW8CyCvK03LSVG4BWDwb/KF0uLC/Y00Ehf+YZjcORcGxcqVSptqxhvKHIoh3X0dunmon5jEhluOjDYX6hRM40TTHP+MIZ+G8Ec9rZ1RzK0AxQYO03e9mC58rlU5ZXAMO9MBHGXn+GpNPSN3ZxSg1B8Mvnfzcq8XdHIBlEH3xRuT4fZ4w0pZxCccQZljjXUnOm06tkinpTp0owHM9niaKgnYIWaRsta7UEK46tuiiHGWGCGkCQA1HxsEISDR4lyGa/pc9Qe64AB9ivWhE+JAWAonnGX7QZFB/ZgcyJLVRYKPLkWEmXkppGInY09GB2Nin9VJS2TRr9ZvZgqzIunw9qCztqCa/rZwa/06Y3UVI19qLgO968IDnx0WnuBkjPreMtYQRvki8oO9Ax4aoDHmOs1DZhlboLc8r36Ywu/w2YSGykvc0Gbi39GhoDiTGViWsf0OdO4naS8PRZEetgciK8hDuDEHPg+zcZfxZPTOsm0/U0mBoae0xTgoXzy+80DHxYMDswDIcG9zxpQ7nqmgXHq5ileBfuNPnThPm4zkcij5sX0LEo4BluQlgveGZeL6lSVi+yOFXJRSrbLlZ2LslTRHjswxOI4r6kfQ2DCHasIqCP8B/KX+7oZnewaRV5aS0p6oFw+HBodBrHYiEwW5rHUSA8yOVDHg8U5yglDWCRYxpbXaemk/eCMDPEAUHNAxiCbvpkQT/6+uOuTWv1sRfdnhkBPd1N23NGQyorJKimOMB1YmZdSUlgTukPevsYAuGLHvxCNaLX54/ydwX0D3S5dTPM4PaPSIr2XWPWZ+JKN94/HMah7hBLCIFQtn32boEqkh5KCeiaXUOeVWYG2EbYFs143Q1DVq+FpimzYgtjbMIOBtFxgNwR0iqF5dOmG4L/1nkjpwdxA9eadFp3jmQdJ47M54AUrI7deMjjn3MXHdh7N1LP7moabcklimCzCSu7KjtM+h5hG636JeOLczpbS10cwCTZdDZ/NXLp2VJJu2/5uERgtLRA8Tf8scM1uQaKcBRaQKsL3hdR/jz25MTOqAWt2ZIfdx82AmzAkR+Xql3v7l5u+IpEFjUiqV8trHLRwp/2UYj22P14OSjubyr2EYfUqMXDCwzakNNsDTvxLRr/CmfyRzXPNshqttkswhSTe7QBBAOEB8wxaaWWi7fGCK3rmNGIKH7I5J29Sdxm0Du2vmFOFf8ytXtMATWNCV0goyzIYfyUKxMgWkNGmlX+tvvy3AkPHFCux/7Lw360PRpCddl0sDMi+xxFYICQjD9HFF/ktaeGKOOD5VP1QIe9T/zY/FEihp90uHxyMnHqak4T+9ujzQuqMUbmWIeNUtm0kRaP2g1fT2alvXoxOxmj5ywOj/+FPP9XydRbT8ndWs5BN4K57yDDimuAPMKIiDdZDnpuE/vWQRjkRgGYHBUnnGEzCRovnY9niJBnbRRKme0/uY8gsPUwJGQft5acz5rGtQFwkIAjDHUUDsV51vjfZq75SfFJKyG6pmScEigZgi71wPJBXdwgulguA0p9Zs4KPDW8Lz2w9+LcMpoe07hbTKp8IzxT9Ra3LQcH5sQmMn6iufwrJpIrc/aQr1FUqk3eIQoTzSXi3Pjpa+xX+45RsxgohiiUOwfv/wfW3Vlz4MqM/lg9PCzgJfefPt/dgWhrIh7O+jOKXSLQrX8E/nPb2ao2W/s9lHayz3u2KjS3RrcYqyvpyddNTUT3pYtGJfpKfTrOdUZqWB+HECWLEj/nALQk4dSSff6aNevTQqwqzynEofh3wnbPXEZwvZ2DhH6bBPTRS97rG9AfGLO7zUtC4AAfYafUlAhucLP+lipzqlPG8/v+7JVq7QepaPx9bRy7qGs1j0n52PwDjttROvBaaNk1G1iiYmH0Mp7NDQVbEHQ2GEgMnyJmJWn21RmvWf2Zc2Sz8nyBtf1FycssyE+5FA7fZV/Ot+vM+BcdGJQiEs/IlT5KZI2DVn6LrHmRLGo591zy58mRR6Er5yiy0aix6e5hfUW+Fph9Siu4sbfD8TcgN9FNE0vSX/KgAQROe3IJWlnGDHjqwmxZly0H6u+Co8nhecgaS8HfZEH0Qq2iwEgaXfkhTr1FbDb3ZqduNooxj9wHSPrnhkZtqO33KMcL8Sx0hEZ18wuo9es2rqIiVgEWCL8XWiDrSs+HJk/IEotr7GC7xuYUpB6DyL1XS5ZDtQIQEelqlakItHWIKMY+URy231Glgc5KYtvVK5I4ORbJWG+2m5V+ghokITB4/SW/55JYjuRdq2PApDwacVQ2z9pXK7CxBjkq84qicx/2Ej6RI8uaY/M0iYYISHAHco96PAoRfY9Hp/+YKBzn80jtpVBbobVDLIOqOXFLN1c8gRudOSR78NZR9TXz7XuqwkfiowU2EuZdbdqtroT3IR+FUYo4ariwBeduEQoy0f6RsFhm1vhi64cxYtwYZGgq9nxV81AP+lqxC/hPRyzAfmpT/HnOo1179raUAM9Q0itbf7eml8jda8Wtr0yJ3qcOWRKUzl4L3jzqlPDztqjwz91pZXERqIyDplNAgNUHXoPQWroW2PpDV7O8XGwF+ov3djLeaxIh0YSeWf0csesPdeE7sg00pxj6MpMEKAV8jM0L46LAwgRIgBnVamD6IllKFFtjDBeiSmuKWhw1FXaclmjQDBAkPxaGVAlBjVJS1aZ8bjvUjr0YrxSLU8U8uFJEPdWSFPU0tosmU/OEy7yIxdEINSWPKNk0xe/kJJp70CNXV9J/jgydD+E1LGOAKJ5q9FeyveWtxnGpN1pRpaNzVRlqVZY3tlrFzaj2W1hDnYWwu75GP1pFVqLo+d6I6H4rMmgkURQHqWzwwZ3kZzDUeomhzFWfNnTYtWKMdgc72zYf9QF4DUPlGygytvRmSeD0Bc+c/2k/oOM31fWw7Knavojxmo8DiAURtO80esn+laSi1N2Rtct2WHdXYNM3I91lTUFAJuONZIUU8kjVpnQc0G0JM0ijivG+VN2dcEvJItvJCAGSyq9mCWneS5zikG5RqBIZC+TGLfKlkckHc6DRDIPFbLSydVLF/PVllxjCUex7V6WQEljl++omr4G3wP/w0pQGjbKovYd1aARCP0u3tuN9bDH5AP7bJIyoH0DiqEb1vtEkfneZ3C+PIDy5lWlmZG8lf7EUidpKKay8xTrg8eWVV8hAnu6v8N3gad9qf3omAowFQHDKNApcvuD4S2IDGb59HuetMaXg==" title="Mekko Graphics Chart"/>
          <p:cNvSpPr>
            <a:spLocks noChangeAspect="1"/>
          </p:cNvSpPr>
          <p:nvPr>
            <p:custDataLst>
              <p:tags r:id="rId2"/>
            </p:custDataLst>
          </p:nvPr>
        </p:nvSpPr>
        <p:spPr bwMode="gray">
          <a:xfrm>
            <a:off x="324742" y="1230605"/>
            <a:ext cx="11459996" cy="5494987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4" name="btfpNotesBox953997"/>
          <p:cNvSpPr txBox="1"/>
          <p:nvPr>
            <p:custDataLst>
              <p:tags r:id="rId3"/>
            </p:custDataLst>
          </p:nvPr>
        </p:nvSpPr>
        <p:spPr bwMode="gray">
          <a:xfrm>
            <a:off x="330199" y="6442789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Annual report; Capital IQ</a:t>
            </a:r>
          </a:p>
        </p:txBody>
      </p:sp>
      <p:grpSp>
        <p:nvGrpSpPr>
          <p:cNvPr id="16" name="btfpStatusSticker584984">
            <a:extLst>
              <a:ext uri="{FF2B5EF4-FFF2-40B4-BE49-F238E27FC236}">
                <a16:creationId xmlns:a16="http://schemas.microsoft.com/office/drawing/2014/main" id="{E36DBDE0-A839-4B65-AB58-DBA7C9EE85E6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0003470" y="955344"/>
            <a:ext cx="1858330" cy="235611"/>
            <a:chOff x="10003470" y="955344"/>
            <a:chExt cx="1858330" cy="235611"/>
          </a:xfrm>
        </p:grpSpPr>
        <p:sp>
          <p:nvSpPr>
            <p:cNvPr id="17" name="btfpStatusStickerText584984">
              <a:extLst>
                <a:ext uri="{FF2B5EF4-FFF2-40B4-BE49-F238E27FC236}">
                  <a16:creationId xmlns:a16="http://schemas.microsoft.com/office/drawing/2014/main" id="{A3FFEDF8-264F-4255-A547-A18A7DE936AC}"/>
                </a:ext>
              </a:extLst>
            </p:cNvPr>
            <p:cNvSpPr txBox="1"/>
            <p:nvPr/>
          </p:nvSpPr>
          <p:spPr bwMode="gray">
            <a:xfrm>
              <a:off x="10003470" y="955344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18" name="btfpStatusStickerLine584984">
              <a:extLst>
                <a:ext uri="{FF2B5EF4-FFF2-40B4-BE49-F238E27FC236}">
                  <a16:creationId xmlns:a16="http://schemas.microsoft.com/office/drawing/2014/main" id="{EF96D152-7E22-4E2F-BA57-0B1A9D397A4C}"/>
                </a:ext>
              </a:extLst>
            </p:cNvPr>
            <p:cNvCxnSpPr/>
            <p:nvPr/>
          </p:nvCxnSpPr>
          <p:spPr bwMode="gray">
            <a:xfrm rot="720000">
              <a:off x="10003470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903235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btfpColumnIndicatorGroup2">
            <a:extLst>
              <a:ext uri="{FF2B5EF4-FFF2-40B4-BE49-F238E27FC236}">
                <a16:creationId xmlns:a16="http://schemas.microsoft.com/office/drawing/2014/main" id="{296D6FEA-33BA-1C22-BEE5-FC55E8B612DE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0" name="btfpColumnGapBlocker816379">
              <a:extLst>
                <a:ext uri="{FF2B5EF4-FFF2-40B4-BE49-F238E27FC236}">
                  <a16:creationId xmlns:a16="http://schemas.microsoft.com/office/drawing/2014/main" id="{C77DDD15-9D37-0171-C7FB-B262A762EBEC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8" name="btfpColumnGapBlocker364847">
              <a:extLst>
                <a:ext uri="{FF2B5EF4-FFF2-40B4-BE49-F238E27FC236}">
                  <a16:creationId xmlns:a16="http://schemas.microsoft.com/office/drawing/2014/main" id="{9B7C9233-0AA6-D6B1-570A-C5AC7BD99D1B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6" name="btfpColumnIndicator403034">
              <a:extLst>
                <a:ext uri="{FF2B5EF4-FFF2-40B4-BE49-F238E27FC236}">
                  <a16:creationId xmlns:a16="http://schemas.microsoft.com/office/drawing/2014/main" id="{9D11010D-5E39-E92A-0E72-B2EA11EA79D6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btfpColumnIndicator953543">
              <a:extLst>
                <a:ext uri="{FF2B5EF4-FFF2-40B4-BE49-F238E27FC236}">
                  <a16:creationId xmlns:a16="http://schemas.microsoft.com/office/drawing/2014/main" id="{2BD3F108-3E99-BA41-3F2A-C4D5B08961A2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btfpColumnIndicatorGroup1">
            <a:extLst>
              <a:ext uri="{FF2B5EF4-FFF2-40B4-BE49-F238E27FC236}">
                <a16:creationId xmlns:a16="http://schemas.microsoft.com/office/drawing/2014/main" id="{0CBFB260-B6F1-2A48-D7EB-466818910192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9" name="btfpColumnGapBlocker546268">
              <a:extLst>
                <a:ext uri="{FF2B5EF4-FFF2-40B4-BE49-F238E27FC236}">
                  <a16:creationId xmlns:a16="http://schemas.microsoft.com/office/drawing/2014/main" id="{826047EC-79A4-B78C-F2A6-DD645FA24339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7" name="btfpColumnGapBlocker942027">
              <a:extLst>
                <a:ext uri="{FF2B5EF4-FFF2-40B4-BE49-F238E27FC236}">
                  <a16:creationId xmlns:a16="http://schemas.microsoft.com/office/drawing/2014/main" id="{D0133760-88DC-003C-ED02-BA31A8488882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5" name="btfpColumnIndicator162939">
              <a:extLst>
                <a:ext uri="{FF2B5EF4-FFF2-40B4-BE49-F238E27FC236}">
                  <a16:creationId xmlns:a16="http://schemas.microsoft.com/office/drawing/2014/main" id="{4043EA81-766B-C8EF-69E4-BE1C801B1D64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btfpColumnIndicator927615">
              <a:extLst>
                <a:ext uri="{FF2B5EF4-FFF2-40B4-BE49-F238E27FC236}">
                  <a16:creationId xmlns:a16="http://schemas.microsoft.com/office/drawing/2014/main" id="{59A5A255-8B21-0263-7CD9-4ECC5AE43DC6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4425491-B10C-4DD5-BD45-B38F4D193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Bain experience suggests savings potential of $0.6-1.3B </a:t>
            </a:r>
            <a:r>
              <a:rPr lang="en-US" i="1">
                <a:solidFill>
                  <a:srgbClr val="000000"/>
                </a:solidFill>
                <a:latin typeface="Arial" panose="020B0604020202020204" pitchFamily="34" charset="0"/>
              </a:rPr>
              <a:t>– to be validated and refined in the diligence phase</a:t>
            </a:r>
            <a:endParaRPr lang="en-US" i="1"/>
          </a:p>
        </p:txBody>
      </p:sp>
      <p:graphicFrame>
        <p:nvGraphicFramePr>
          <p:cNvPr id="30" name="btfpTable430501">
            <a:extLst>
              <a:ext uri="{FF2B5EF4-FFF2-40B4-BE49-F238E27FC236}">
                <a16:creationId xmlns:a16="http://schemas.microsoft.com/office/drawing/2014/main" id="{E11CFCEE-65DE-4307-B9DA-21AED0C88473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286371" y="1034706"/>
          <a:ext cx="10570666" cy="5041832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062819">
                  <a:extLst>
                    <a:ext uri="{9D8B030D-6E8A-4147-A177-3AD203B41FA5}">
                      <a16:colId xmlns:a16="http://schemas.microsoft.com/office/drawing/2014/main" val="3881006203"/>
                    </a:ext>
                  </a:extLst>
                </a:gridCol>
                <a:gridCol w="1211766">
                  <a:extLst>
                    <a:ext uri="{9D8B030D-6E8A-4147-A177-3AD203B41FA5}">
                      <a16:colId xmlns:a16="http://schemas.microsoft.com/office/drawing/2014/main" val="3393239725"/>
                    </a:ext>
                  </a:extLst>
                </a:gridCol>
                <a:gridCol w="669073">
                  <a:extLst>
                    <a:ext uri="{9D8B030D-6E8A-4147-A177-3AD203B41FA5}">
                      <a16:colId xmlns:a16="http://schemas.microsoft.com/office/drawing/2014/main" val="2808942254"/>
                    </a:ext>
                  </a:extLst>
                </a:gridCol>
                <a:gridCol w="2720998">
                  <a:extLst>
                    <a:ext uri="{9D8B030D-6E8A-4147-A177-3AD203B41FA5}">
                      <a16:colId xmlns:a16="http://schemas.microsoft.com/office/drawing/2014/main" val="2397766120"/>
                    </a:ext>
                  </a:extLst>
                </a:gridCol>
                <a:gridCol w="4906010">
                  <a:extLst>
                    <a:ext uri="{9D8B030D-6E8A-4147-A177-3AD203B41FA5}">
                      <a16:colId xmlns:a16="http://schemas.microsoft.com/office/drawing/2014/main" val="3120935501"/>
                    </a:ext>
                  </a:extLst>
                </a:gridCol>
              </a:tblGrid>
              <a:tr h="474912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Tx/>
                        <a:buNone/>
                      </a:pP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Cost base </a:t>
                      </a:r>
                    </a:p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50" b="0" i="1">
                          <a:solidFill>
                            <a:schemeClr val="tx1"/>
                          </a:solidFill>
                        </a:rPr>
                        <a:t>(FY23 BP)</a:t>
                      </a:r>
                      <a:endParaRPr lang="en-US" sz="1050" b="0" i="1" baseline="3000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In-scope?</a:t>
                      </a:r>
                    </a:p>
                  </a:txBody>
                  <a:tcPr anchor="b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Typical savings potential</a:t>
                      </a:r>
                    </a:p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based on Bain experience</a:t>
                      </a:r>
                    </a:p>
                  </a:txBody>
                  <a:tcPr anchor="b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Hypothesis for opportunities</a:t>
                      </a:r>
                    </a:p>
                  </a:txBody>
                  <a:tcPr anchor="b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196494"/>
                  </a:ext>
                </a:extLst>
              </a:tr>
              <a:tr h="165288"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Fuel COGS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00"/>
                        <a:t>$41.7B</a:t>
                      </a:r>
                      <a:endParaRPr lang="en-US" sz="1000" i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10"/>
                        </a:buBlip>
                      </a:pPr>
                      <a:r>
                        <a:rPr lang="en-US" sz="1000" baseline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7800" indent="-177800" algn="l">
                        <a:spcBef>
                          <a:spcPts val="600"/>
                        </a:spcBef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7800" indent="-177800" algn="l">
                        <a:spcBef>
                          <a:spcPts val="600"/>
                        </a:spcBef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Out of scope – being addressed by Louise and team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56960"/>
                  </a:ext>
                </a:extLst>
              </a:tr>
              <a:tr h="451824"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Merch COGS </a:t>
                      </a: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(incl. supply chain)</a:t>
                      </a: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00"/>
                        <a:t>$12.3B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11"/>
                        </a:buBlip>
                      </a:pPr>
                      <a:r>
                        <a:rPr lang="en-US" sz="1000" baseline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7800" lvl="0" indent="-177800" algn="l" defTabSz="7112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har char="•"/>
                      </a:pP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7800" lvl="0" indent="-177800" algn="l" defTabSz="711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har char="•"/>
                      </a:pPr>
                      <a:r>
                        <a:rPr kumimoji="0" 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Use category strategies to develop carrots/sticks (</a:t>
                      </a:r>
                      <a:r>
                        <a:rPr kumimoji="0" 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assortment, space) to create leverage in </a:t>
                      </a:r>
                      <a:r>
                        <a:rPr kumimoji="0" 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negotiations to capture vendor funding</a:t>
                      </a:r>
                    </a:p>
                    <a:p>
                      <a:pPr marL="177800" lvl="0" indent="-177800" algn="l" defTabSz="711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har char="•"/>
                      </a:pPr>
                      <a:r>
                        <a:rPr kumimoji="0" 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Assume tobacco + alcohol are addressable, albeit with lower savings opportunity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6822392"/>
                  </a:ext>
                </a:extLst>
              </a:tr>
              <a:tr h="521084"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00"/>
                        <a:t>GNFR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00"/>
                        <a:t>$2.3B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11"/>
                        </a:buBlip>
                      </a:pPr>
                      <a:r>
                        <a:rPr lang="en-US" sz="1000" baseline="0">
                          <a:solidFill>
                            <a:schemeClr val="accent3"/>
                          </a:solidFill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lang="en-US" sz="100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Redesign SLAs, specs, etc. to improve cost position</a:t>
                      </a:r>
                    </a:p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Challenge unit pricing on GNFR items (e.g., supplies) against McLane and TSM</a:t>
                      </a:r>
                    </a:p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 store and functional budgets, improve spend controls and policy compliance across stores / regions, and standardize terms with suppliers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5412942"/>
                  </a:ext>
                </a:extLst>
              </a:tr>
              <a:tr h="699029"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00"/>
                        <a:t>Store Labor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00"/>
                        <a:t>$2.6B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11"/>
                        </a:buBlip>
                      </a:pPr>
                      <a:r>
                        <a:rPr lang="en-US" sz="1000" baseline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7800" indent="-177800" algn="l">
                        <a:spcBef>
                          <a:spcPts val="600"/>
                        </a:spcBef>
                      </a:pPr>
                      <a:endParaRPr lang="en-US" sz="1000" i="0" u="none" strike="noStrike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Assume limited net savings opportunity – ACT operates many stores at min. staffing levels and is experiencing tight labor market</a:t>
                      </a:r>
                    </a:p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Target hours deployed to non-customer facing activity with automation and process redesign to reduce hours/double staffing</a:t>
                      </a:r>
                      <a:endParaRPr lang="en-US" sz="90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Improve alignment of labor standards to store needs and ensure actual hours are at or near budgeted hours to drive top 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1419894"/>
                  </a:ext>
                </a:extLst>
              </a:tr>
              <a:tr h="483811"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00"/>
                        <a:t>Corp. G&amp;A</a:t>
                      </a:r>
                      <a:r>
                        <a:rPr lang="en-US" sz="1000" b="0" baseline="30000"/>
                        <a:t>2</a:t>
                      </a:r>
                      <a:endParaRPr lang="en-US" sz="800" b="0"/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00"/>
                        <a:t>$1.1B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ctr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80000"/>
                        <a:buFont typeface="Arial" panose="020B0604020202020204" pitchFamily="34" charset="0"/>
                        <a:buBlip>
                          <a:blip r:embed="rId11"/>
                        </a:buBlip>
                        <a:tabLst/>
                        <a:defRPr/>
                      </a:pPr>
                      <a:r>
                        <a:rPr lang="en-US" sz="1000" baseline="0"/>
                        <a:t> 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endParaRPr lang="en-US" sz="1000" u="none" strike="noStrike" baseline="0">
                        <a:effectLst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u="none" strike="noStrike">
                          <a:effectLst/>
                        </a:rPr>
                        <a:t>Eliminate duplicative and low-value work across BUs / HQ through changes to operating model, automation, and/or process redesign</a:t>
                      </a:r>
                    </a:p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u="none" strike="noStrike">
                          <a:effectLst/>
                        </a:rPr>
                        <a:t>Increase decision-making speed (operating model, organizational layers) with increased </a:t>
                      </a:r>
                      <a:r>
                        <a:rPr lang="en-US" sz="900" u="none" strike="noStrike" baseline="0">
                          <a:effectLst/>
                        </a:rPr>
                        <a:t>outsourcing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9114485"/>
                  </a:ext>
                </a:extLst>
              </a:tr>
              <a:tr h="423793"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00"/>
                        <a:t>IT </a:t>
                      </a:r>
                      <a:r>
                        <a:rPr lang="en-US" sz="800" b="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(OpEx+CapEx)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00"/>
                        <a:t>TBC</a:t>
                      </a:r>
                      <a:br>
                        <a:rPr lang="en-US" sz="1000"/>
                      </a:br>
                      <a:r>
                        <a:rPr lang="en-US" sz="800"/>
                        <a:t>($0.3B CapEx)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ctr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80000"/>
                        <a:buFont typeface="Arial" panose="020B0604020202020204" pitchFamily="34" charset="0"/>
                        <a:buBlip>
                          <a:blip r:embed="rId11"/>
                        </a:buBlip>
                        <a:tabLst/>
                        <a:defRPr/>
                      </a:pPr>
                      <a:r>
                        <a:rPr lang="en-US" sz="1000" baseline="0"/>
                        <a:t> 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endParaRPr lang="en-US" sz="1000" u="none" strike="noStrike" baseline="0">
                        <a:effectLst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Improve management of IT outsourced spend, infrastructure / hardware purchasing</a:t>
                      </a:r>
                    </a:p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Stop non-critical projects (incl. investments in unused apps), redirect investments towards strategy enabling initiatives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0598341"/>
                  </a:ext>
                </a:extLst>
              </a:tr>
              <a:tr h="492420"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00">
                          <a:solidFill>
                            <a:sysClr val="windowText" lastClr="000000"/>
                          </a:solidFill>
                        </a:rPr>
                        <a:t>CapEx</a:t>
                      </a:r>
                      <a:r>
                        <a:rPr lang="en-US" sz="8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sz="800" b="0">
                          <a:solidFill>
                            <a:sysClr val="windowText" lastClr="000000"/>
                          </a:solidFill>
                        </a:rPr>
                        <a:t>(excl. IT)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00"/>
                        <a:t>$1.8B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11"/>
                        </a:buBlip>
                      </a:pPr>
                      <a:r>
                        <a:rPr lang="en-US" sz="1000" baseline="0"/>
                        <a:t> 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indent="-177800" algn="l">
                        <a:spcBef>
                          <a:spcPts val="600"/>
                        </a:spcBef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Leverage scale and predictable construction volumes to improve general contractor / sub-contractor rates</a:t>
                      </a:r>
                    </a:p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Improve construction timeline to eliminate material &amp; time waste</a:t>
                      </a:r>
                    </a:p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Further consolidate designers, value re-engineer specs / materials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3046486"/>
                  </a:ext>
                </a:extLst>
              </a:tr>
              <a:tr h="165288"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Total</a:t>
                      </a:r>
                    </a:p>
                  </a:txBody>
                  <a:tcPr>
                    <a:lnT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100" b="1" i="0"/>
                        <a:t>$20.4B      </a:t>
                      </a:r>
                      <a:r>
                        <a:rPr lang="en-US" sz="800" b="0" i="1"/>
                        <a:t>($62.1B w/Fuel)</a:t>
                      </a:r>
                      <a:endParaRPr lang="en-US" sz="1100" b="0" i="1"/>
                    </a:p>
                  </a:txBody>
                  <a:tcPr>
                    <a:lnT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11"/>
                        </a:buBlip>
                      </a:pPr>
                      <a:endParaRPr lang="en-US" sz="1100" b="1" i="0" baseline="0"/>
                    </a:p>
                  </a:txBody>
                  <a:tcPr>
                    <a:lnT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0">
                          <a:latin typeface="+mj-lt"/>
                        </a:rPr>
                        <a:t>~$550-1,265M                                        </a:t>
                      </a:r>
                      <a:r>
                        <a:rPr lang="en-US" sz="800" b="0" i="1">
                          <a:latin typeface="+mj-lt"/>
                        </a:rPr>
                        <a:t>(3-6% addressable spend)</a:t>
                      </a:r>
                      <a:endParaRPr lang="en-US" sz="1000" b="1" i="0">
                        <a:latin typeface="+mj-lt"/>
                      </a:endParaRPr>
                    </a:p>
                  </a:txBody>
                  <a:tcPr>
                    <a:lnT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77800" indent="-177800" algn="l"/>
                      <a:endParaRPr lang="en-US" sz="1050" i="0">
                        <a:latin typeface="+mj-lt"/>
                      </a:endParaRPr>
                    </a:p>
                  </a:txBody>
                  <a:tcPr>
                    <a:lnT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98753021"/>
                  </a:ext>
                </a:extLst>
              </a:tr>
            </a:tbl>
          </a:graphicData>
        </a:graphic>
      </p:graphicFrame>
      <p:grpSp>
        <p:nvGrpSpPr>
          <p:cNvPr id="33" name="btfpRowHeaderBox983031">
            <a:extLst>
              <a:ext uri="{FF2B5EF4-FFF2-40B4-BE49-F238E27FC236}">
                <a16:creationId xmlns:a16="http://schemas.microsoft.com/office/drawing/2014/main" id="{F0DA40FA-AECB-428D-BE61-516100AD3FB2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34961" y="1534981"/>
            <a:ext cx="822514" cy="652794"/>
            <a:chOff x="942052" y="1261855"/>
            <a:chExt cx="2540000" cy="972979"/>
          </a:xfrm>
        </p:grpSpPr>
        <p:sp>
          <p:nvSpPr>
            <p:cNvPr id="31" name="btfpRowHeaderBoxText983031">
              <a:extLst>
                <a:ext uri="{FF2B5EF4-FFF2-40B4-BE49-F238E27FC236}">
                  <a16:creationId xmlns:a16="http://schemas.microsoft.com/office/drawing/2014/main" id="{041759C0-B49A-4B7B-BB8B-4C0F2EF89225}"/>
                </a:ext>
              </a:extLst>
            </p:cNvPr>
            <p:cNvSpPr txBox="1"/>
            <p:nvPr/>
          </p:nvSpPr>
          <p:spPr bwMode="gray">
            <a:xfrm>
              <a:off x="942052" y="1261855"/>
              <a:ext cx="2540000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400" b="1">
                  <a:solidFill>
                    <a:srgbClr val="858585"/>
                  </a:solidFill>
                </a:rPr>
                <a:t>COGS</a:t>
              </a:r>
              <a:endParaRPr lang="en-US" sz="1200" b="1">
                <a:solidFill>
                  <a:srgbClr val="858585"/>
                </a:solidFill>
              </a:endParaRPr>
            </a:p>
          </p:txBody>
        </p:sp>
        <p:cxnSp>
          <p:nvCxnSpPr>
            <p:cNvPr id="32" name="btfpRowHeaderBoxLine983031">
              <a:extLst>
                <a:ext uri="{FF2B5EF4-FFF2-40B4-BE49-F238E27FC236}">
                  <a16:creationId xmlns:a16="http://schemas.microsoft.com/office/drawing/2014/main" id="{0D5DB344-0590-423F-88DD-52044031B8F5}"/>
                </a:ext>
              </a:extLst>
            </p:cNvPr>
            <p:cNvCxnSpPr/>
            <p:nvPr/>
          </p:nvCxnSpPr>
          <p:spPr bwMode="gray">
            <a:xfrm>
              <a:off x="3482052" y="1261855"/>
              <a:ext cx="0" cy="972979"/>
            </a:xfrm>
            <a:prstGeom prst="line">
              <a:avLst/>
            </a:prstGeom>
            <a:ln w="152400" cap="flat">
              <a:solidFill>
                <a:srgbClr val="858585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btfpRowHeaderBox983031">
            <a:extLst>
              <a:ext uri="{FF2B5EF4-FFF2-40B4-BE49-F238E27FC236}">
                <a16:creationId xmlns:a16="http://schemas.microsoft.com/office/drawing/2014/main" id="{9393AD36-F422-4E99-A454-B56759B4ED00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341641" y="4555373"/>
            <a:ext cx="815834" cy="470513"/>
            <a:chOff x="330200" y="1270000"/>
            <a:chExt cx="2540000" cy="983249"/>
          </a:xfrm>
        </p:grpSpPr>
        <p:sp>
          <p:nvSpPr>
            <p:cNvPr id="35" name="btfpRowHeaderBoxText983031">
              <a:extLst>
                <a:ext uri="{FF2B5EF4-FFF2-40B4-BE49-F238E27FC236}">
                  <a16:creationId xmlns:a16="http://schemas.microsoft.com/office/drawing/2014/main" id="{9A6D4E04-3495-4A74-A8A5-66B3812BFE6A}"/>
                </a:ext>
              </a:extLst>
            </p:cNvPr>
            <p:cNvSpPr txBox="1"/>
            <p:nvPr/>
          </p:nvSpPr>
          <p:spPr bwMode="gray">
            <a:xfrm>
              <a:off x="330200" y="1270000"/>
              <a:ext cx="2540000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400" b="1">
                  <a:solidFill>
                    <a:srgbClr val="BBCABA"/>
                  </a:solidFill>
                </a:rPr>
                <a:t>IT</a:t>
              </a:r>
            </a:p>
          </p:txBody>
        </p:sp>
        <p:cxnSp>
          <p:nvCxnSpPr>
            <p:cNvPr id="36" name="btfpRowHeaderBoxLine983031">
              <a:extLst>
                <a:ext uri="{FF2B5EF4-FFF2-40B4-BE49-F238E27FC236}">
                  <a16:creationId xmlns:a16="http://schemas.microsoft.com/office/drawing/2014/main" id="{CF85D89F-C628-49E7-90EF-392F8890AF0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870200" y="1280270"/>
              <a:ext cx="0" cy="972979"/>
            </a:xfrm>
            <a:prstGeom prst="line">
              <a:avLst/>
            </a:prstGeom>
            <a:ln w="152400" cap="flat">
              <a:solidFill>
                <a:srgbClr val="BBCABA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btfpRowHeaderBox983031">
            <a:extLst>
              <a:ext uri="{FF2B5EF4-FFF2-40B4-BE49-F238E27FC236}">
                <a16:creationId xmlns:a16="http://schemas.microsoft.com/office/drawing/2014/main" id="{E0F68056-D9CC-41C9-B675-ACD89B5992D6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18649" y="2268709"/>
            <a:ext cx="838826" cy="2237311"/>
            <a:chOff x="163811" y="1270000"/>
            <a:chExt cx="3369028" cy="972979"/>
          </a:xfrm>
        </p:grpSpPr>
        <p:sp>
          <p:nvSpPr>
            <p:cNvPr id="38" name="btfpRowHeaderBoxText983031">
              <a:extLst>
                <a:ext uri="{FF2B5EF4-FFF2-40B4-BE49-F238E27FC236}">
                  <a16:creationId xmlns:a16="http://schemas.microsoft.com/office/drawing/2014/main" id="{BAA05420-C13A-4A7E-9F36-976560FFE297}"/>
                </a:ext>
              </a:extLst>
            </p:cNvPr>
            <p:cNvSpPr txBox="1"/>
            <p:nvPr/>
          </p:nvSpPr>
          <p:spPr bwMode="gray">
            <a:xfrm>
              <a:off x="163811" y="1270000"/>
              <a:ext cx="3369028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400" b="1">
                  <a:solidFill>
                    <a:srgbClr val="46647B"/>
                  </a:solidFill>
                </a:rPr>
                <a:t>SG&amp;A</a:t>
              </a:r>
            </a:p>
          </p:txBody>
        </p:sp>
        <p:cxnSp>
          <p:nvCxnSpPr>
            <p:cNvPr id="39" name="btfpRowHeaderBoxLine983031">
              <a:extLst>
                <a:ext uri="{FF2B5EF4-FFF2-40B4-BE49-F238E27FC236}">
                  <a16:creationId xmlns:a16="http://schemas.microsoft.com/office/drawing/2014/main" id="{361FA493-AF66-4C3F-9D42-734B0DB64DA4}"/>
                </a:ext>
              </a:extLst>
            </p:cNvPr>
            <p:cNvCxnSpPr/>
            <p:nvPr/>
          </p:nvCxnSpPr>
          <p:spPr bwMode="gray">
            <a:xfrm>
              <a:off x="3532839" y="1270000"/>
              <a:ext cx="0" cy="972979"/>
            </a:xfrm>
            <a:prstGeom prst="line">
              <a:avLst/>
            </a:prstGeom>
            <a:ln w="152400" cap="flat">
              <a:solidFill>
                <a:srgbClr val="46647B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07AAB2E5-096F-4C7B-96CE-321652B0AA9E}"/>
              </a:ext>
            </a:extLst>
          </p:cNvPr>
          <p:cNvSpPr/>
          <p:nvPr/>
        </p:nvSpPr>
        <p:spPr bwMode="gray">
          <a:xfrm>
            <a:off x="1286370" y="1543457"/>
            <a:ext cx="10554459" cy="202097"/>
          </a:xfrm>
          <a:prstGeom prst="rect">
            <a:avLst/>
          </a:prstGeom>
          <a:solidFill>
            <a:schemeClr val="accent1">
              <a:lumMod val="20000"/>
              <a:lumOff val="80000"/>
              <a:alpha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>
              <a:buNone/>
            </a:pPr>
            <a:endParaRPr lang="en-US" sz="1100" i="1">
              <a:solidFill>
                <a:schemeClr val="bg2"/>
              </a:solidFill>
            </a:endParaRPr>
          </a:p>
        </p:txBody>
      </p:sp>
      <p:grpSp>
        <p:nvGrpSpPr>
          <p:cNvPr id="75" name="btfpRowHeaderBox983031">
            <a:extLst>
              <a:ext uri="{FF2B5EF4-FFF2-40B4-BE49-F238E27FC236}">
                <a16:creationId xmlns:a16="http://schemas.microsoft.com/office/drawing/2014/main" id="{8A918A55-31AA-414E-9003-90CE3F635D18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334963" y="5080152"/>
            <a:ext cx="822512" cy="603407"/>
            <a:chOff x="330200" y="1270000"/>
            <a:chExt cx="2540000" cy="983249"/>
          </a:xfrm>
        </p:grpSpPr>
        <p:sp>
          <p:nvSpPr>
            <p:cNvPr id="76" name="btfpRowHeaderBoxText983031">
              <a:extLst>
                <a:ext uri="{FF2B5EF4-FFF2-40B4-BE49-F238E27FC236}">
                  <a16:creationId xmlns:a16="http://schemas.microsoft.com/office/drawing/2014/main" id="{157BBA5C-6C55-4BD7-98B4-E6CE24336967}"/>
                </a:ext>
              </a:extLst>
            </p:cNvPr>
            <p:cNvSpPr txBox="1"/>
            <p:nvPr/>
          </p:nvSpPr>
          <p:spPr bwMode="gray">
            <a:xfrm>
              <a:off x="330200" y="1270000"/>
              <a:ext cx="2540000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400" b="1">
                  <a:solidFill>
                    <a:srgbClr val="507867"/>
                  </a:solidFill>
                </a:rPr>
                <a:t>Capital</a:t>
              </a:r>
            </a:p>
          </p:txBody>
        </p:sp>
        <p:cxnSp>
          <p:nvCxnSpPr>
            <p:cNvPr id="77" name="btfpRowHeaderBoxLine983031">
              <a:extLst>
                <a:ext uri="{FF2B5EF4-FFF2-40B4-BE49-F238E27FC236}">
                  <a16:creationId xmlns:a16="http://schemas.microsoft.com/office/drawing/2014/main" id="{8F1D70A5-F2CC-4595-AFF1-EA23EE0ABCC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870200" y="1280270"/>
              <a:ext cx="0" cy="972979"/>
            </a:xfrm>
            <a:prstGeom prst="line">
              <a:avLst/>
            </a:prstGeom>
            <a:ln w="152400" cap="flat">
              <a:solidFill>
                <a:srgbClr val="507867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btfpNotesBox614137">
            <a:extLst>
              <a:ext uri="{FF2B5EF4-FFF2-40B4-BE49-F238E27FC236}">
                <a16:creationId xmlns:a16="http://schemas.microsoft.com/office/drawing/2014/main" id="{8A29DE80-88C4-4791-B280-113DD718CD7F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gray">
          <a:xfrm>
            <a:off x="330200" y="6242735"/>
            <a:ext cx="11531600" cy="323165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700">
                <a:solidFill>
                  <a:srgbClr val="000000"/>
                </a:solidFill>
              </a:rPr>
              <a:t>Notes: (1) Weighted average savings rate applied – 0-100 BPS improvement for cigarettes, tobacco and alcohol given category dynamics (e.g., regulations), 200-400 bps for all other categories; (2) To confirm and re-bucket portion of IT </a:t>
            </a:r>
            <a:r>
              <a:rPr lang="en-US" sz="700" err="1">
                <a:solidFill>
                  <a:srgbClr val="000000"/>
                </a:solidFill>
              </a:rPr>
              <a:t>OpEx</a:t>
            </a:r>
            <a:r>
              <a:rPr lang="en-US" sz="700">
                <a:solidFill>
                  <a:srgbClr val="000000"/>
                </a:solidFill>
              </a:rPr>
              <a:t> spend in Corp. G&amp;A during diagnostic; (3) Includes savings already captured by ACT in first phase of cost program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700">
                <a:solidFill>
                  <a:srgbClr val="000000"/>
                </a:solidFill>
              </a:rPr>
              <a:t>Source: Bain experience; CONSO PL - FY21-22-23_Values; CAPEX Historical (FY18-FY22)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72B2225-6130-440B-90E5-19EC891EE194}"/>
              </a:ext>
            </a:extLst>
          </p:cNvPr>
          <p:cNvSpPr txBox="1"/>
          <p:nvPr/>
        </p:nvSpPr>
        <p:spPr bwMode="gray">
          <a:xfrm>
            <a:off x="4389056" y="1776518"/>
            <a:ext cx="443090" cy="411257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marL="0" indent="0" algn="r">
              <a:buNone/>
            </a:pPr>
            <a:r>
              <a:rPr lang="en-US" sz="1100"/>
              <a:t>200 bps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FA08C3E-2BB4-4252-A4AC-6788511ACD50}"/>
              </a:ext>
            </a:extLst>
          </p:cNvPr>
          <p:cNvSpPr txBox="1"/>
          <p:nvPr/>
        </p:nvSpPr>
        <p:spPr bwMode="gray">
          <a:xfrm>
            <a:off x="6343915" y="1776518"/>
            <a:ext cx="468825" cy="411257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marL="0" indent="0">
              <a:buNone/>
            </a:pPr>
            <a:r>
              <a:rPr lang="en-US" sz="1100"/>
              <a:t>400 bps</a:t>
            </a:r>
          </a:p>
        </p:txBody>
      </p:sp>
      <p:sp>
        <p:nvSpPr>
          <p:cNvPr id="80" name="Minus 52">
            <a:extLst>
              <a:ext uri="{FF2B5EF4-FFF2-40B4-BE49-F238E27FC236}">
                <a16:creationId xmlns:a16="http://schemas.microsoft.com/office/drawing/2014/main" id="{EE269F31-C29F-430E-AF42-5E1914D3E3DB}"/>
              </a:ext>
            </a:extLst>
          </p:cNvPr>
          <p:cNvSpPr/>
          <p:nvPr/>
        </p:nvSpPr>
        <p:spPr bwMode="gray">
          <a:xfrm>
            <a:off x="4554379" y="1690189"/>
            <a:ext cx="2024871" cy="583915"/>
          </a:xfrm>
          <a:prstGeom prst="mathMinus">
            <a:avLst/>
          </a:prstGeom>
          <a:gradFill>
            <a:gsLst>
              <a:gs pos="0">
                <a:srgbClr val="00B050"/>
              </a:gs>
              <a:gs pos="62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0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F43ACFA-3B69-4A9A-9982-0852D7E3288C}"/>
              </a:ext>
            </a:extLst>
          </p:cNvPr>
          <p:cNvSpPr txBox="1"/>
          <p:nvPr/>
        </p:nvSpPr>
        <p:spPr bwMode="gray">
          <a:xfrm>
            <a:off x="5412559" y="2057507"/>
            <a:ext cx="1039840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900" i="1">
                <a:solidFill>
                  <a:schemeClr val="accent3"/>
                </a:solidFill>
              </a:rPr>
              <a:t>$100-280M</a:t>
            </a:r>
            <a:r>
              <a:rPr lang="en-US" sz="900" baseline="30000">
                <a:solidFill>
                  <a:srgbClr val="CC0000"/>
                </a:solidFill>
              </a:rPr>
              <a:t>1</a:t>
            </a:r>
            <a:endParaRPr lang="en-US" sz="900" i="1">
              <a:solidFill>
                <a:srgbClr val="CC0000"/>
              </a:solidFill>
            </a:endParaRP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D559886B-12DE-4BAD-9080-5849E85F356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0555" y="1873355"/>
            <a:ext cx="217582" cy="217582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E35B64C0-8B99-4EC3-B76A-BD96CD97D6D1}"/>
              </a:ext>
            </a:extLst>
          </p:cNvPr>
          <p:cNvSpPr txBox="1"/>
          <p:nvPr/>
        </p:nvSpPr>
        <p:spPr bwMode="gray">
          <a:xfrm>
            <a:off x="4363321" y="2473683"/>
            <a:ext cx="468825" cy="24198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marL="0" indent="0" algn="r">
              <a:buNone/>
            </a:pPr>
            <a:r>
              <a:rPr lang="en-US" sz="1100"/>
              <a:t>8%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BCED7AD-2FA5-46ED-B99B-8757C276050B}"/>
              </a:ext>
            </a:extLst>
          </p:cNvPr>
          <p:cNvSpPr txBox="1"/>
          <p:nvPr/>
        </p:nvSpPr>
        <p:spPr bwMode="gray">
          <a:xfrm>
            <a:off x="6343915" y="2473683"/>
            <a:ext cx="468825" cy="24198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marL="0" indent="0">
              <a:buNone/>
            </a:pPr>
            <a:r>
              <a:rPr lang="en-US" sz="1100"/>
              <a:t>15%</a:t>
            </a:r>
          </a:p>
        </p:txBody>
      </p:sp>
      <p:sp>
        <p:nvSpPr>
          <p:cNvPr id="93" name="Minus 52">
            <a:extLst>
              <a:ext uri="{FF2B5EF4-FFF2-40B4-BE49-F238E27FC236}">
                <a16:creationId xmlns:a16="http://schemas.microsoft.com/office/drawing/2014/main" id="{4DAF9C65-9D70-4451-9876-2E609AC092E4}"/>
              </a:ext>
            </a:extLst>
          </p:cNvPr>
          <p:cNvSpPr/>
          <p:nvPr/>
        </p:nvSpPr>
        <p:spPr bwMode="gray">
          <a:xfrm>
            <a:off x="4554379" y="2295342"/>
            <a:ext cx="2024871" cy="583915"/>
          </a:xfrm>
          <a:prstGeom prst="mathMinus">
            <a:avLst/>
          </a:prstGeom>
          <a:gradFill>
            <a:gsLst>
              <a:gs pos="0">
                <a:srgbClr val="00B050"/>
              </a:gs>
              <a:gs pos="62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0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BB24777-DDF6-4E3B-BD60-D4A80A817A08}"/>
              </a:ext>
            </a:extLst>
          </p:cNvPr>
          <p:cNvSpPr txBox="1"/>
          <p:nvPr/>
        </p:nvSpPr>
        <p:spPr bwMode="gray">
          <a:xfrm>
            <a:off x="5242326" y="2703920"/>
            <a:ext cx="1039840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900" i="1">
                <a:solidFill>
                  <a:schemeClr val="accent3"/>
                </a:solidFill>
              </a:rPr>
              <a:t>$185-350M</a:t>
            </a:r>
            <a:r>
              <a:rPr lang="en-US" sz="900" i="1" baseline="30000">
                <a:solidFill>
                  <a:schemeClr val="accent3"/>
                </a:solidFill>
              </a:rPr>
              <a:t>3</a:t>
            </a: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3AA2A3A3-1FDB-46A8-B1AE-FCFE47E4CDE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40322" y="2485882"/>
            <a:ext cx="217582" cy="217582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23AF6578-51C1-4AE5-87C9-4C3F2351005D}"/>
              </a:ext>
            </a:extLst>
          </p:cNvPr>
          <p:cNvSpPr txBox="1"/>
          <p:nvPr/>
        </p:nvSpPr>
        <p:spPr bwMode="gray">
          <a:xfrm>
            <a:off x="4363321" y="3259936"/>
            <a:ext cx="468825" cy="24198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marL="0" indent="0" algn="r">
              <a:buNone/>
            </a:pPr>
            <a:r>
              <a:rPr lang="en-US" sz="1100"/>
              <a:t>2%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4AD90D1-4747-4A4D-B888-28BFD78F45E3}"/>
              </a:ext>
            </a:extLst>
          </p:cNvPr>
          <p:cNvSpPr txBox="1"/>
          <p:nvPr/>
        </p:nvSpPr>
        <p:spPr bwMode="gray">
          <a:xfrm>
            <a:off x="6343915" y="3259936"/>
            <a:ext cx="468825" cy="24198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marL="0" indent="0">
              <a:buNone/>
            </a:pPr>
            <a:r>
              <a:rPr lang="en-US" sz="1100"/>
              <a:t>4%</a:t>
            </a:r>
          </a:p>
        </p:txBody>
      </p:sp>
      <p:sp>
        <p:nvSpPr>
          <p:cNvPr id="102" name="Minus 52">
            <a:extLst>
              <a:ext uri="{FF2B5EF4-FFF2-40B4-BE49-F238E27FC236}">
                <a16:creationId xmlns:a16="http://schemas.microsoft.com/office/drawing/2014/main" id="{EBCC75C0-1E1E-4E74-B456-DA3501DF3A39}"/>
              </a:ext>
            </a:extLst>
          </p:cNvPr>
          <p:cNvSpPr/>
          <p:nvPr/>
        </p:nvSpPr>
        <p:spPr bwMode="gray">
          <a:xfrm>
            <a:off x="4554379" y="3088969"/>
            <a:ext cx="2024871" cy="583915"/>
          </a:xfrm>
          <a:prstGeom prst="mathMinus">
            <a:avLst/>
          </a:prstGeom>
          <a:gradFill>
            <a:gsLst>
              <a:gs pos="0">
                <a:srgbClr val="00B050"/>
              </a:gs>
              <a:gs pos="62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0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C2BF9D6-32C5-439A-A28D-5C801074DAD9}"/>
              </a:ext>
            </a:extLst>
          </p:cNvPr>
          <p:cNvSpPr txBox="1"/>
          <p:nvPr/>
        </p:nvSpPr>
        <p:spPr bwMode="gray">
          <a:xfrm>
            <a:off x="4605486" y="3484260"/>
            <a:ext cx="945309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900" i="1">
                <a:solidFill>
                  <a:schemeClr val="accent3"/>
                </a:solidFill>
              </a:rPr>
              <a:t>$50-100M</a:t>
            </a:r>
          </a:p>
        </p:txBody>
      </p:sp>
      <p:pic>
        <p:nvPicPr>
          <p:cNvPr id="104" name="Picture 103">
            <a:extLst>
              <a:ext uri="{FF2B5EF4-FFF2-40B4-BE49-F238E27FC236}">
                <a16:creationId xmlns:a16="http://schemas.microsoft.com/office/drawing/2014/main" id="{60E4687E-9FDC-4305-B197-760A1483070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69330" y="3272135"/>
            <a:ext cx="217582" cy="217582"/>
          </a:xfrm>
          <a:prstGeom prst="rect">
            <a:avLst/>
          </a:prstGeom>
        </p:spPr>
      </p:pic>
      <p:sp>
        <p:nvSpPr>
          <p:cNvPr id="109" name="TextBox 108">
            <a:extLst>
              <a:ext uri="{FF2B5EF4-FFF2-40B4-BE49-F238E27FC236}">
                <a16:creationId xmlns:a16="http://schemas.microsoft.com/office/drawing/2014/main" id="{74D88DE1-3EF6-4D58-AD98-9BF56DC0431E}"/>
              </a:ext>
            </a:extLst>
          </p:cNvPr>
          <p:cNvSpPr txBox="1"/>
          <p:nvPr/>
        </p:nvSpPr>
        <p:spPr bwMode="gray">
          <a:xfrm>
            <a:off x="4363321" y="4041328"/>
            <a:ext cx="468825" cy="24198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marL="0" indent="0" algn="r">
              <a:buNone/>
            </a:pPr>
            <a:r>
              <a:rPr lang="en-US" sz="1100"/>
              <a:t>10%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1B3D5D4-59CE-4074-979E-A336E183A068}"/>
              </a:ext>
            </a:extLst>
          </p:cNvPr>
          <p:cNvSpPr txBox="1"/>
          <p:nvPr/>
        </p:nvSpPr>
        <p:spPr bwMode="gray">
          <a:xfrm>
            <a:off x="6343915" y="4041328"/>
            <a:ext cx="468825" cy="24198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marL="0" indent="0">
              <a:buNone/>
            </a:pPr>
            <a:r>
              <a:rPr lang="en-US" sz="1100"/>
              <a:t>20%</a:t>
            </a:r>
          </a:p>
        </p:txBody>
      </p:sp>
      <p:sp>
        <p:nvSpPr>
          <p:cNvPr id="111" name="Minus 52">
            <a:extLst>
              <a:ext uri="{FF2B5EF4-FFF2-40B4-BE49-F238E27FC236}">
                <a16:creationId xmlns:a16="http://schemas.microsoft.com/office/drawing/2014/main" id="{E270FD02-613B-48B7-AB4F-76E526A1CA6E}"/>
              </a:ext>
            </a:extLst>
          </p:cNvPr>
          <p:cNvSpPr/>
          <p:nvPr/>
        </p:nvSpPr>
        <p:spPr bwMode="gray">
          <a:xfrm>
            <a:off x="4554379" y="3870361"/>
            <a:ext cx="2024871" cy="583915"/>
          </a:xfrm>
          <a:prstGeom prst="mathMinus">
            <a:avLst/>
          </a:prstGeom>
          <a:gradFill>
            <a:gsLst>
              <a:gs pos="0">
                <a:srgbClr val="00B050"/>
              </a:gs>
              <a:gs pos="62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0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AB0D359-52F8-41CF-910E-5EC930DD26C3}"/>
              </a:ext>
            </a:extLst>
          </p:cNvPr>
          <p:cNvSpPr txBox="1"/>
          <p:nvPr/>
        </p:nvSpPr>
        <p:spPr bwMode="gray">
          <a:xfrm>
            <a:off x="5094160" y="4256435"/>
            <a:ext cx="945309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900" i="1">
                <a:solidFill>
                  <a:schemeClr val="accent3"/>
                </a:solidFill>
              </a:rPr>
              <a:t>$110-220M</a:t>
            </a:r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0BC50D96-9CE4-4C7F-AA4B-D6D93E30DA3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58023" y="4053527"/>
            <a:ext cx="217582" cy="217582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3BC048C9-4643-46A6-927C-11C89410DC4D}"/>
              </a:ext>
            </a:extLst>
          </p:cNvPr>
          <p:cNvSpPr txBox="1"/>
          <p:nvPr/>
        </p:nvSpPr>
        <p:spPr bwMode="gray">
          <a:xfrm>
            <a:off x="4363321" y="4616028"/>
            <a:ext cx="468825" cy="24198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marL="0" indent="0" algn="r">
              <a:buNone/>
            </a:pPr>
            <a:r>
              <a:rPr lang="en-US" sz="1100"/>
              <a:t>5%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62EB4EE-9275-452E-B934-890922E865F1}"/>
              </a:ext>
            </a:extLst>
          </p:cNvPr>
          <p:cNvSpPr txBox="1"/>
          <p:nvPr/>
        </p:nvSpPr>
        <p:spPr bwMode="gray">
          <a:xfrm>
            <a:off x="6343915" y="4616028"/>
            <a:ext cx="468825" cy="24198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marL="0" indent="0">
              <a:buNone/>
            </a:pPr>
            <a:r>
              <a:rPr lang="en-US" sz="1100"/>
              <a:t>15%</a:t>
            </a:r>
          </a:p>
        </p:txBody>
      </p:sp>
      <p:sp>
        <p:nvSpPr>
          <p:cNvPr id="120" name="Minus 52">
            <a:extLst>
              <a:ext uri="{FF2B5EF4-FFF2-40B4-BE49-F238E27FC236}">
                <a16:creationId xmlns:a16="http://schemas.microsoft.com/office/drawing/2014/main" id="{1E664996-A284-492E-9442-BB84201BAA6C}"/>
              </a:ext>
            </a:extLst>
          </p:cNvPr>
          <p:cNvSpPr/>
          <p:nvPr/>
        </p:nvSpPr>
        <p:spPr bwMode="gray">
          <a:xfrm>
            <a:off x="4554379" y="4445061"/>
            <a:ext cx="2024871" cy="583915"/>
          </a:xfrm>
          <a:prstGeom prst="mathMinus">
            <a:avLst/>
          </a:prstGeom>
          <a:gradFill>
            <a:gsLst>
              <a:gs pos="0">
                <a:srgbClr val="00B050"/>
              </a:gs>
              <a:gs pos="62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0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0B58DA0-77A4-4152-84FB-FA68E700F586}"/>
              </a:ext>
            </a:extLst>
          </p:cNvPr>
          <p:cNvSpPr txBox="1"/>
          <p:nvPr/>
        </p:nvSpPr>
        <p:spPr bwMode="gray">
          <a:xfrm>
            <a:off x="4363321" y="5261086"/>
            <a:ext cx="468825" cy="24198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marL="0" indent="0" algn="r">
              <a:buNone/>
            </a:pPr>
            <a:r>
              <a:rPr lang="en-US" sz="1100"/>
              <a:t>5%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96ED361-9E7E-4F5F-885E-7F9B488C0081}"/>
              </a:ext>
            </a:extLst>
          </p:cNvPr>
          <p:cNvSpPr txBox="1"/>
          <p:nvPr/>
        </p:nvSpPr>
        <p:spPr bwMode="gray">
          <a:xfrm>
            <a:off x="6343915" y="5261086"/>
            <a:ext cx="468825" cy="24198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marL="0" indent="0">
              <a:buNone/>
            </a:pPr>
            <a:r>
              <a:rPr lang="en-US" sz="1100"/>
              <a:t>15%</a:t>
            </a:r>
          </a:p>
        </p:txBody>
      </p:sp>
      <p:sp>
        <p:nvSpPr>
          <p:cNvPr id="123" name="Minus 52">
            <a:extLst>
              <a:ext uri="{FF2B5EF4-FFF2-40B4-BE49-F238E27FC236}">
                <a16:creationId xmlns:a16="http://schemas.microsoft.com/office/drawing/2014/main" id="{C15553D6-A847-4645-B198-FF2E2144A32A}"/>
              </a:ext>
            </a:extLst>
          </p:cNvPr>
          <p:cNvSpPr/>
          <p:nvPr/>
        </p:nvSpPr>
        <p:spPr bwMode="gray">
          <a:xfrm>
            <a:off x="4554379" y="5090119"/>
            <a:ext cx="2024871" cy="583915"/>
          </a:xfrm>
          <a:prstGeom prst="mathMinus">
            <a:avLst/>
          </a:prstGeom>
          <a:gradFill>
            <a:gsLst>
              <a:gs pos="0">
                <a:srgbClr val="00B050"/>
              </a:gs>
              <a:gs pos="62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0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2C1BCC6-E536-481D-B746-59FC02DF028F}"/>
              </a:ext>
            </a:extLst>
          </p:cNvPr>
          <p:cNvSpPr txBox="1"/>
          <p:nvPr/>
        </p:nvSpPr>
        <p:spPr bwMode="gray">
          <a:xfrm>
            <a:off x="5306269" y="4852783"/>
            <a:ext cx="945309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900" i="1">
                <a:solidFill>
                  <a:schemeClr val="accent3"/>
                </a:solidFill>
              </a:rPr>
              <a:t>$15-45M</a:t>
            </a:r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2FB41DF5-30EB-4EFE-861D-7669873EADA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90597" y="4628227"/>
            <a:ext cx="217582" cy="217582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AA19F23F-CDCA-465E-AD4B-D8399AD80F53}"/>
              </a:ext>
            </a:extLst>
          </p:cNvPr>
          <p:cNvSpPr txBox="1"/>
          <p:nvPr/>
        </p:nvSpPr>
        <p:spPr bwMode="gray">
          <a:xfrm>
            <a:off x="5094160" y="5472357"/>
            <a:ext cx="945309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900" i="1">
                <a:solidFill>
                  <a:schemeClr val="accent3"/>
                </a:solidFill>
              </a:rPr>
              <a:t>$90-270M</a:t>
            </a:r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id="{F8A7D0A2-3C9E-4961-A212-4D18FD5002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58023" y="5273285"/>
            <a:ext cx="217582" cy="217582"/>
          </a:xfrm>
          <a:prstGeom prst="rect">
            <a:avLst/>
          </a:prstGeom>
        </p:spPr>
      </p:pic>
      <p:sp>
        <p:nvSpPr>
          <p:cNvPr id="23" name="CommentBox">
            <a:extLst>
              <a:ext uri="{FF2B5EF4-FFF2-40B4-BE49-F238E27FC236}">
                <a16:creationId xmlns:a16="http://schemas.microsoft.com/office/drawing/2014/main" id="{3B76F751-FE0E-66AB-B82D-67B225C64B5A}"/>
              </a:ext>
            </a:extLst>
          </p:cNvPr>
          <p:cNvSpPr/>
          <p:nvPr/>
        </p:nvSpPr>
        <p:spPr bwMode="gray">
          <a:xfrm>
            <a:off x="10748867" y="93290"/>
            <a:ext cx="1387151" cy="771676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B03C6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900" b="1">
                <a:solidFill>
                  <a:srgbClr val="FFFFFF"/>
                </a:solidFill>
                <a:latin typeface="Arial" panose="020B0604020202020204" pitchFamily="34" charset="0"/>
              </a:rPr>
              <a:t>SBN: convenience store (see next page too)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1272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btfpColumnIndicatorGroup2">
            <a:extLst>
              <a:ext uri="{FF2B5EF4-FFF2-40B4-BE49-F238E27FC236}">
                <a16:creationId xmlns:a16="http://schemas.microsoft.com/office/drawing/2014/main" id="{DF82629A-888E-F916-F170-8B9A7D6DCC5B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6" name="btfpColumnGapBlocker690973">
              <a:extLst>
                <a:ext uri="{FF2B5EF4-FFF2-40B4-BE49-F238E27FC236}">
                  <a16:creationId xmlns:a16="http://schemas.microsoft.com/office/drawing/2014/main" id="{E87C51E8-5A1D-5540-B813-CA0FECE06195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4" name="btfpColumnGapBlocker774055">
              <a:extLst>
                <a:ext uri="{FF2B5EF4-FFF2-40B4-BE49-F238E27FC236}">
                  <a16:creationId xmlns:a16="http://schemas.microsoft.com/office/drawing/2014/main" id="{9C458899-7C1D-DBF9-D951-1DD6588AC932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8" name="btfpColumnIndicator773754">
              <a:extLst>
                <a:ext uri="{FF2B5EF4-FFF2-40B4-BE49-F238E27FC236}">
                  <a16:creationId xmlns:a16="http://schemas.microsoft.com/office/drawing/2014/main" id="{54B9487E-DD66-D024-E06D-874CB881129E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btfpColumnIndicator442869">
              <a:extLst>
                <a:ext uri="{FF2B5EF4-FFF2-40B4-BE49-F238E27FC236}">
                  <a16:creationId xmlns:a16="http://schemas.microsoft.com/office/drawing/2014/main" id="{D353884B-6443-5347-B45C-50AD069663EA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btfpColumnIndicatorGroup1">
            <a:extLst>
              <a:ext uri="{FF2B5EF4-FFF2-40B4-BE49-F238E27FC236}">
                <a16:creationId xmlns:a16="http://schemas.microsoft.com/office/drawing/2014/main" id="{DA3CC2E8-1BBE-0041-7C3B-877BE38CACB5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5" name="btfpColumnGapBlocker579943">
              <a:extLst>
                <a:ext uri="{FF2B5EF4-FFF2-40B4-BE49-F238E27FC236}">
                  <a16:creationId xmlns:a16="http://schemas.microsoft.com/office/drawing/2014/main" id="{1A5885B5-D6E7-BEC7-D924-5962B43385D9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3" name="btfpColumnGapBlocker379228">
              <a:extLst>
                <a:ext uri="{FF2B5EF4-FFF2-40B4-BE49-F238E27FC236}">
                  <a16:creationId xmlns:a16="http://schemas.microsoft.com/office/drawing/2014/main" id="{1DC06707-062E-3EC7-79A4-DFBF4FE4969A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" name="btfpColumnIndicator181819">
              <a:extLst>
                <a:ext uri="{FF2B5EF4-FFF2-40B4-BE49-F238E27FC236}">
                  <a16:creationId xmlns:a16="http://schemas.microsoft.com/office/drawing/2014/main" id="{449CAE2D-256E-96E0-6E5E-FB716EA8F076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490438">
              <a:extLst>
                <a:ext uri="{FF2B5EF4-FFF2-40B4-BE49-F238E27FC236}">
                  <a16:creationId xmlns:a16="http://schemas.microsoft.com/office/drawing/2014/main" id="{93D64008-2355-FA4E-2DEA-CCDAB4B7F323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963" y="1"/>
            <a:ext cx="12104686" cy="876687"/>
          </a:xfrm>
        </p:spPr>
        <p:txBody>
          <a:bodyPr/>
          <a:lstStyle/>
          <a:p>
            <a:r>
              <a:rPr lang="en-US"/>
              <a:t>ACT identified ~$500M in savings in first phase of cost program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1781504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overall_0_132188452698399317 columns_4_132188453963620266 6_1_132188445999145145 12_1_132188452708154467 27_1_132188454203714627 30_1_132188454203834298 33_1_132188454203944005 36_1_132188454204036078 37_1_132188454676626664 38_1_132188454847342073 39_1_132188455101490352 </a:t>
            </a:r>
          </a:p>
        </p:txBody>
      </p:sp>
      <p:grpSp>
        <p:nvGrpSpPr>
          <p:cNvPr id="12" name="btfpRowHeaderBox807881"/>
          <p:cNvGrpSpPr/>
          <p:nvPr>
            <p:custDataLst>
              <p:tags r:id="rId2"/>
            </p:custDataLst>
          </p:nvPr>
        </p:nvGrpSpPr>
        <p:grpSpPr>
          <a:xfrm>
            <a:off x="3564058" y="3833347"/>
            <a:ext cx="1506521" cy="437826"/>
            <a:chOff x="330200" y="1270000"/>
            <a:chExt cx="2477492" cy="972979"/>
          </a:xfrm>
        </p:grpSpPr>
        <p:sp>
          <p:nvSpPr>
            <p:cNvPr id="10" name="btfpRowHeaderBoxText807881"/>
            <p:cNvSpPr txBox="1"/>
            <p:nvPr/>
          </p:nvSpPr>
          <p:spPr bwMode="gray">
            <a:xfrm>
              <a:off x="330200" y="1270000"/>
              <a:ext cx="2477492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400" b="1">
                  <a:solidFill>
                    <a:srgbClr val="7891AA"/>
                  </a:solidFill>
                </a:rPr>
                <a:t>Store Labor</a:t>
              </a:r>
            </a:p>
          </p:txBody>
        </p:sp>
        <p:cxnSp>
          <p:nvCxnSpPr>
            <p:cNvPr id="11" name="btfpRowHeaderBoxLine807881"/>
            <p:cNvCxnSpPr/>
            <p:nvPr/>
          </p:nvCxnSpPr>
          <p:spPr bwMode="gray">
            <a:xfrm>
              <a:off x="2807692" y="1270000"/>
              <a:ext cx="0" cy="972979"/>
            </a:xfrm>
            <a:prstGeom prst="line">
              <a:avLst/>
            </a:prstGeom>
            <a:ln w="152400" cap="flat">
              <a:solidFill>
                <a:srgbClr val="7891AA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btfpRowHeaderBox807881"/>
          <p:cNvGrpSpPr/>
          <p:nvPr>
            <p:custDataLst>
              <p:tags r:id="rId3"/>
            </p:custDataLst>
          </p:nvPr>
        </p:nvGrpSpPr>
        <p:grpSpPr>
          <a:xfrm>
            <a:off x="3564058" y="4363073"/>
            <a:ext cx="1506521" cy="524304"/>
            <a:chOff x="330200" y="1270000"/>
            <a:chExt cx="2477492" cy="972979"/>
          </a:xfrm>
        </p:grpSpPr>
        <p:sp>
          <p:nvSpPr>
            <p:cNvPr id="20" name="btfpRowHeaderBoxText807881"/>
            <p:cNvSpPr txBox="1"/>
            <p:nvPr/>
          </p:nvSpPr>
          <p:spPr bwMode="gray">
            <a:xfrm>
              <a:off x="330200" y="1270000"/>
              <a:ext cx="2477492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400" b="1">
                  <a:solidFill>
                    <a:srgbClr val="A3BCD3"/>
                  </a:solidFill>
                </a:rPr>
                <a:t>Corp. G&amp;A </a:t>
              </a:r>
            </a:p>
            <a:p>
              <a:pPr marL="0" indent="0">
                <a:spcBef>
                  <a:spcPts val="0"/>
                </a:spcBef>
                <a:buNone/>
              </a:pPr>
              <a:r>
                <a:rPr lang="en-US" sz="1100" b="1">
                  <a:solidFill>
                    <a:srgbClr val="A3BCD3"/>
                  </a:solidFill>
                </a:rPr>
                <a:t>(excl. IT)</a:t>
              </a:r>
            </a:p>
          </p:txBody>
        </p:sp>
        <p:cxnSp>
          <p:nvCxnSpPr>
            <p:cNvPr id="21" name="btfpRowHeaderBoxLine807881"/>
            <p:cNvCxnSpPr/>
            <p:nvPr/>
          </p:nvCxnSpPr>
          <p:spPr bwMode="gray">
            <a:xfrm>
              <a:off x="2807692" y="1270000"/>
              <a:ext cx="0" cy="972979"/>
            </a:xfrm>
            <a:prstGeom prst="line">
              <a:avLst/>
            </a:prstGeom>
            <a:ln w="152400" cap="flat">
              <a:solidFill>
                <a:srgbClr val="A3BCD3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btfpRowHeaderBox807881"/>
          <p:cNvGrpSpPr/>
          <p:nvPr>
            <p:custDataLst>
              <p:tags r:id="rId4"/>
            </p:custDataLst>
          </p:nvPr>
        </p:nvGrpSpPr>
        <p:grpSpPr>
          <a:xfrm>
            <a:off x="3564058" y="2290073"/>
            <a:ext cx="1506521" cy="559318"/>
            <a:chOff x="330200" y="1270000"/>
            <a:chExt cx="2477492" cy="972979"/>
          </a:xfrm>
        </p:grpSpPr>
        <p:sp>
          <p:nvSpPr>
            <p:cNvPr id="23" name="btfpRowHeaderBoxText807881"/>
            <p:cNvSpPr txBox="1"/>
            <p:nvPr/>
          </p:nvSpPr>
          <p:spPr bwMode="gray">
            <a:xfrm>
              <a:off x="330200" y="1270000"/>
              <a:ext cx="2477492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400" b="1">
                  <a:solidFill>
                    <a:srgbClr val="858585"/>
                  </a:solidFill>
                </a:rPr>
                <a:t>Merch COGS </a:t>
              </a:r>
              <a:r>
                <a:rPr lang="en-US" sz="1100" b="1">
                  <a:solidFill>
                    <a:srgbClr val="858585"/>
                  </a:solidFill>
                </a:rPr>
                <a:t>(incl. supply chain) </a:t>
              </a:r>
              <a:endParaRPr lang="en-US" sz="1000" b="1">
                <a:solidFill>
                  <a:srgbClr val="858585"/>
                </a:solidFill>
              </a:endParaRPr>
            </a:p>
          </p:txBody>
        </p:sp>
        <p:cxnSp>
          <p:nvCxnSpPr>
            <p:cNvPr id="24" name="btfpRowHeaderBoxLine807881"/>
            <p:cNvCxnSpPr/>
            <p:nvPr/>
          </p:nvCxnSpPr>
          <p:spPr bwMode="gray">
            <a:xfrm>
              <a:off x="2807692" y="1270000"/>
              <a:ext cx="0" cy="972979"/>
            </a:xfrm>
            <a:prstGeom prst="line">
              <a:avLst/>
            </a:prstGeom>
            <a:ln w="152400" cap="flat">
              <a:solidFill>
                <a:srgbClr val="858585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btfpColumnHeaderBox108987"/>
          <p:cNvGrpSpPr/>
          <p:nvPr>
            <p:custDataLst>
              <p:tags r:id="rId5"/>
            </p:custDataLst>
          </p:nvPr>
        </p:nvGrpSpPr>
        <p:grpSpPr>
          <a:xfrm>
            <a:off x="5210175" y="1296911"/>
            <a:ext cx="1498534" cy="261717"/>
            <a:chOff x="5559602" y="1093033"/>
            <a:chExt cx="3444845" cy="380884"/>
          </a:xfrm>
        </p:grpSpPr>
        <p:sp>
          <p:nvSpPr>
            <p:cNvPr id="31" name="btfpColumnHeaderBoxText108987"/>
            <p:cNvSpPr txBox="1"/>
            <p:nvPr/>
          </p:nvSpPr>
          <p:spPr bwMode="gray">
            <a:xfrm>
              <a:off x="5559602" y="1093033"/>
              <a:ext cx="3444845" cy="371040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 algn="ctr">
                <a:spcBef>
                  <a:spcPts val="0"/>
                </a:spcBef>
                <a:buNone/>
              </a:pPr>
              <a:r>
                <a:rPr lang="en-US" sz="1200" b="1">
                  <a:solidFill>
                    <a:srgbClr val="000000"/>
                  </a:solidFill>
                </a:rPr>
                <a:t>Savings identified</a:t>
              </a:r>
            </a:p>
          </p:txBody>
        </p:sp>
        <p:cxnSp>
          <p:nvCxnSpPr>
            <p:cNvPr id="32" name="btfpColumnHeaderBoxLine108987"/>
            <p:cNvCxnSpPr/>
            <p:nvPr/>
          </p:nvCxnSpPr>
          <p:spPr bwMode="gray">
            <a:xfrm>
              <a:off x="5559602" y="1473917"/>
              <a:ext cx="3444845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btfpColumnHeaderBox541351"/>
          <p:cNvGrpSpPr/>
          <p:nvPr>
            <p:custDataLst>
              <p:tags r:id="rId6"/>
            </p:custDataLst>
          </p:nvPr>
        </p:nvGrpSpPr>
        <p:grpSpPr>
          <a:xfrm>
            <a:off x="6858000" y="1301187"/>
            <a:ext cx="4999038" cy="257441"/>
            <a:chOff x="9384308" y="1329881"/>
            <a:chExt cx="2477492" cy="374660"/>
          </a:xfrm>
        </p:grpSpPr>
        <p:sp>
          <p:nvSpPr>
            <p:cNvPr id="34" name="btfpColumnHeaderBoxText541351"/>
            <p:cNvSpPr txBox="1"/>
            <p:nvPr/>
          </p:nvSpPr>
          <p:spPr bwMode="gray">
            <a:xfrm>
              <a:off x="9384308" y="1329881"/>
              <a:ext cx="2477492" cy="371039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200" b="1">
                  <a:solidFill>
                    <a:srgbClr val="000000"/>
                  </a:solidFill>
                </a:rPr>
                <a:t>Key savings levers</a:t>
              </a:r>
            </a:p>
          </p:txBody>
        </p:sp>
        <p:cxnSp>
          <p:nvCxnSpPr>
            <p:cNvPr id="35" name="btfpColumnHeaderBoxLine541351"/>
            <p:cNvCxnSpPr/>
            <p:nvPr/>
          </p:nvCxnSpPr>
          <p:spPr bwMode="gray">
            <a:xfrm>
              <a:off x="9384308" y="1704541"/>
              <a:ext cx="2477492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btfpBulletedList196696"/>
          <p:cNvSpPr txBox="1"/>
          <p:nvPr>
            <p:custDataLst>
              <p:tags r:id="rId7"/>
            </p:custDataLst>
          </p:nvPr>
        </p:nvSpPr>
        <p:spPr bwMode="gray">
          <a:xfrm>
            <a:off x="6848466" y="2261081"/>
            <a:ext cx="4999034" cy="631831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>
              <a:spcBef>
                <a:spcPts val="200"/>
              </a:spcBef>
            </a:pPr>
            <a:r>
              <a:rPr lang="en-US" sz="1100">
                <a:solidFill>
                  <a:srgbClr val="000000"/>
                </a:solidFill>
              </a:rPr>
              <a:t>Continuous improvement margin initiatives</a:t>
            </a:r>
          </a:p>
          <a:p>
            <a:pPr>
              <a:spcBef>
                <a:spcPts val="200"/>
              </a:spcBef>
            </a:pPr>
            <a:r>
              <a:rPr lang="en-US" sz="1100">
                <a:solidFill>
                  <a:srgbClr val="000000"/>
                </a:solidFill>
              </a:rPr>
              <a:t>Supplier upcharges</a:t>
            </a:r>
          </a:p>
          <a:p>
            <a:pPr>
              <a:spcBef>
                <a:spcPts val="200"/>
              </a:spcBef>
            </a:pPr>
            <a:r>
              <a:rPr lang="en-US" sz="1100">
                <a:solidFill>
                  <a:srgbClr val="000000"/>
                </a:solidFill>
              </a:rPr>
              <a:t>Reduction in wholesale deliveries</a:t>
            </a:r>
          </a:p>
        </p:txBody>
      </p:sp>
      <p:sp>
        <p:nvSpPr>
          <p:cNvPr id="48" name="btfpBulletedList196696"/>
          <p:cNvSpPr txBox="1"/>
          <p:nvPr>
            <p:custDataLst>
              <p:tags r:id="rId8"/>
            </p:custDataLst>
          </p:nvPr>
        </p:nvSpPr>
        <p:spPr bwMode="gray">
          <a:xfrm>
            <a:off x="6848466" y="3808869"/>
            <a:ext cx="5003800" cy="411257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>
              <a:spcBef>
                <a:spcPts val="200"/>
              </a:spcBef>
            </a:pPr>
            <a:r>
              <a:rPr lang="en-US" sz="1100"/>
              <a:t>Simplified processes, tools, and automation to facilitate tasks and reduce labor hours (e.g., self-checkout, Easy Office)</a:t>
            </a:r>
          </a:p>
        </p:txBody>
      </p:sp>
      <p:sp>
        <p:nvSpPr>
          <p:cNvPr id="51" name="btfpBulletedList196696"/>
          <p:cNvSpPr txBox="1"/>
          <p:nvPr>
            <p:custDataLst>
              <p:tags r:id="rId9"/>
            </p:custDataLst>
          </p:nvPr>
        </p:nvSpPr>
        <p:spPr bwMode="gray">
          <a:xfrm>
            <a:off x="6848466" y="5288512"/>
            <a:ext cx="5003802" cy="631831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>
              <a:spcBef>
                <a:spcPts val="200"/>
              </a:spcBef>
            </a:pPr>
            <a:r>
              <a:rPr lang="en-US" sz="1100"/>
              <a:t>Reduced construction timelines on NTIs and remodels</a:t>
            </a:r>
          </a:p>
          <a:p>
            <a:pPr>
              <a:spcBef>
                <a:spcPts val="200"/>
              </a:spcBef>
            </a:pPr>
            <a:r>
              <a:rPr lang="en-US" sz="1100"/>
              <a:t>Fixed contracts for air conditioner and digital board equipment</a:t>
            </a:r>
          </a:p>
          <a:p>
            <a:pPr>
              <a:spcBef>
                <a:spcPts val="200"/>
              </a:spcBef>
            </a:pPr>
            <a:r>
              <a:rPr lang="en-US" sz="1100"/>
              <a:t>RFP bidding process for regional design and energy initiatives </a:t>
            </a:r>
          </a:p>
        </p:txBody>
      </p:sp>
      <p:grpSp>
        <p:nvGrpSpPr>
          <p:cNvPr id="37" name="btfpRowHeaderBox807881">
            <a:extLst>
              <a:ext uri="{FF2B5EF4-FFF2-40B4-BE49-F238E27FC236}">
                <a16:creationId xmlns:a16="http://schemas.microsoft.com/office/drawing/2014/main" id="{C49766ED-3BC0-41AD-9D05-FFAB7A4B818F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3564057" y="1583592"/>
            <a:ext cx="1506521" cy="631832"/>
            <a:chOff x="330200" y="1270000"/>
            <a:chExt cx="2477492" cy="972979"/>
          </a:xfrm>
        </p:grpSpPr>
        <p:sp>
          <p:nvSpPr>
            <p:cNvPr id="38" name="btfpRowHeaderBoxText807881">
              <a:extLst>
                <a:ext uri="{FF2B5EF4-FFF2-40B4-BE49-F238E27FC236}">
                  <a16:creationId xmlns:a16="http://schemas.microsoft.com/office/drawing/2014/main" id="{BBCC01F5-AFF2-45C2-9A17-9794996761C5}"/>
                </a:ext>
              </a:extLst>
            </p:cNvPr>
            <p:cNvSpPr txBox="1"/>
            <p:nvPr/>
          </p:nvSpPr>
          <p:spPr bwMode="gray">
            <a:xfrm>
              <a:off x="330200" y="1270000"/>
              <a:ext cx="2477492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400" b="1">
                  <a:solidFill>
                    <a:srgbClr val="5C5C5C"/>
                  </a:solidFill>
                </a:rPr>
                <a:t>Fuel COGS </a:t>
              </a:r>
              <a:r>
                <a:rPr lang="en-US" sz="1100" b="1">
                  <a:solidFill>
                    <a:srgbClr val="5C5C5C"/>
                  </a:solidFill>
                </a:rPr>
                <a:t>(incl. transport)</a:t>
              </a:r>
            </a:p>
          </p:txBody>
        </p:sp>
        <p:cxnSp>
          <p:nvCxnSpPr>
            <p:cNvPr id="41" name="btfpRowHeaderBoxLine807881">
              <a:extLst>
                <a:ext uri="{FF2B5EF4-FFF2-40B4-BE49-F238E27FC236}">
                  <a16:creationId xmlns:a16="http://schemas.microsoft.com/office/drawing/2014/main" id="{A396134E-F6A8-4BAD-9101-AA36F94031EF}"/>
                </a:ext>
              </a:extLst>
            </p:cNvPr>
            <p:cNvCxnSpPr/>
            <p:nvPr/>
          </p:nvCxnSpPr>
          <p:spPr bwMode="gray">
            <a:xfrm>
              <a:off x="2807692" y="1270000"/>
              <a:ext cx="0" cy="972979"/>
            </a:xfrm>
            <a:prstGeom prst="line">
              <a:avLst/>
            </a:prstGeom>
            <a:ln w="152400" cap="flat">
              <a:solidFill>
                <a:srgbClr val="5C5C5C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btfpBulletedList196696">
            <a:extLst>
              <a:ext uri="{FF2B5EF4-FFF2-40B4-BE49-F238E27FC236}">
                <a16:creationId xmlns:a16="http://schemas.microsoft.com/office/drawing/2014/main" id="{8352CF79-0327-4852-88C3-6B46B9C315B6}"/>
              </a:ext>
            </a:extLst>
          </p:cNvPr>
          <p:cNvSpPr txBox="1"/>
          <p:nvPr>
            <p:custDataLst>
              <p:tags r:id="rId11"/>
            </p:custDataLst>
          </p:nvPr>
        </p:nvSpPr>
        <p:spPr bwMode="gray">
          <a:xfrm>
            <a:off x="6848466" y="1597897"/>
            <a:ext cx="5003800" cy="631831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>
              <a:spcBef>
                <a:spcPts val="200"/>
              </a:spcBef>
            </a:pPr>
            <a:r>
              <a:rPr lang="en-US" sz="1100"/>
              <a:t>Fewer, higher volume deliveries (with appropriate full load fees charges)</a:t>
            </a:r>
          </a:p>
          <a:p>
            <a:pPr>
              <a:spcBef>
                <a:spcPts val="200"/>
              </a:spcBef>
            </a:pPr>
            <a:r>
              <a:rPr lang="en-US" sz="1100"/>
              <a:t>Distribution network optimization</a:t>
            </a:r>
          </a:p>
          <a:p>
            <a:pPr>
              <a:spcBef>
                <a:spcPts val="200"/>
              </a:spcBef>
            </a:pPr>
            <a:r>
              <a:rPr lang="en-US" sz="1100"/>
              <a:t>Performance reporting to reduce carrier overcharges </a:t>
            </a:r>
          </a:p>
        </p:txBody>
      </p:sp>
      <p:grpSp>
        <p:nvGrpSpPr>
          <p:cNvPr id="57" name="btfpRowHeaderBox807881">
            <a:extLst>
              <a:ext uri="{FF2B5EF4-FFF2-40B4-BE49-F238E27FC236}">
                <a16:creationId xmlns:a16="http://schemas.microsoft.com/office/drawing/2014/main" id="{A21B3837-E4F5-4890-8EE8-1923F8139478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3564058" y="5938953"/>
            <a:ext cx="1506521" cy="209164"/>
            <a:chOff x="330200" y="1270000"/>
            <a:chExt cx="2477492" cy="972979"/>
          </a:xfrm>
        </p:grpSpPr>
        <p:sp>
          <p:nvSpPr>
            <p:cNvPr id="58" name="btfpRowHeaderBoxText807881">
              <a:extLst>
                <a:ext uri="{FF2B5EF4-FFF2-40B4-BE49-F238E27FC236}">
                  <a16:creationId xmlns:a16="http://schemas.microsoft.com/office/drawing/2014/main" id="{5F550AE4-5731-4658-A392-953745F0F8DA}"/>
                </a:ext>
              </a:extLst>
            </p:cNvPr>
            <p:cNvSpPr txBox="1"/>
            <p:nvPr/>
          </p:nvSpPr>
          <p:spPr bwMode="gray">
            <a:xfrm>
              <a:off x="330200" y="1270000"/>
              <a:ext cx="2477492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400" b="1">
                  <a:solidFill>
                    <a:srgbClr val="CC0000"/>
                  </a:solidFill>
                </a:rPr>
                <a:t>Total</a:t>
              </a:r>
            </a:p>
          </p:txBody>
        </p:sp>
        <p:cxnSp>
          <p:nvCxnSpPr>
            <p:cNvPr id="59" name="btfpRowHeaderBoxLine807881">
              <a:extLst>
                <a:ext uri="{FF2B5EF4-FFF2-40B4-BE49-F238E27FC236}">
                  <a16:creationId xmlns:a16="http://schemas.microsoft.com/office/drawing/2014/main" id="{D5494350-F144-4557-A019-680723885A17}"/>
                </a:ext>
              </a:extLst>
            </p:cNvPr>
            <p:cNvCxnSpPr/>
            <p:nvPr/>
          </p:nvCxnSpPr>
          <p:spPr bwMode="gray">
            <a:xfrm>
              <a:off x="2807692" y="1270000"/>
              <a:ext cx="0" cy="972979"/>
            </a:xfrm>
            <a:prstGeom prst="line">
              <a:avLst/>
            </a:prstGeom>
            <a:ln w="152400" cap="flat">
              <a:solidFill>
                <a:srgbClr val="CC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Rectangle 63" descr="Enter Chart Description Here:&#10;&#10;End of Chart Description&#10;DO NOT ALTER TEXT BELOW THIS POINT! IF YOU DO YOUR CHART WILL NOT BE EDITABLE!&#10;mkkoexcel__~~~~~~~~~~False~~False~~Falsemkko__4HooU0THZk28POP9trq+pbTvvzd/gcV8t56cq85kb3NDTsUhojRA0EsgEHHMH7oYP1SYpn09ysXVivguJdhTvfyVMsBLTGvcX7WPTor/CmWiWcfk2RmY+GE6Q6T90sFUr0lg9IPP9y8umrse/9AoLT5R0GKq+XM9pr/aTyOTf0wptcuHbHxeyqBm9svU01qeeEM1v0hpSHUgirOnAK/wuq/Tyw5TLbs2TsaVR3tAj88RUqg2qJENmT81p6ZIpssB938i4VNQequXAVybqrEp7AaQZgyrVSx0yh2/GJuTNJFAB5ge6MhxFXgjwATMQB2dFFGIFBt57G+hxzb87guEZQkZYWiYobnEl90Lsgjd620lcm0MDf8MeRFrt6BNCMpY0zjOkVRg6zQ/A6b6Kui7J8sadq+3IstTQgEVtVfDBw53kn4zAAmX0Uh1cadDLflnc73KFWv2TcIwf7Rf7cmpl6skMAZ7qf5bmUTgV1JtZy+dpvHwhOH9O00O900K3wde0GPUGWxIYFxAyfTvEMhaDfv8GsU6wou1zg2/ON7h8FqRcmigcyoVnmfm0ImxyATvUe7wC0tMrFNEnAnq6188QOf3n8vPb2hRtvBQPhYVRsjXdtL8INCE9gYtQ+GOfdTq8Eks/ANM6gqjL6tKO5LYc/TNrT7rW4MUvGJb1BouEhmstkV9eyef7YIjoaBqY/4p05EM67kTkgADIYWaf+w2Gs1GdtgVYdMl5hiSl1U/7rFLyJ3paY5ABlMNYuP4POAUMdScKiNgrmSWsKb42Y5uELMyO5N2j9Nzl9BJZovgRYwKXBnymbsPl3fF20smavpRQEZVL+PWtI4wPX1aUye8cXG+l7jELedMTjrRyV8Dk3FDzVbuEW7Zov6DlCBM0nKCF/0wyzXAPrpktWQx2Uv6QJZqJnu5236zH+Dvwc/mo6HYtsDJ+wEl80RJARzn/NAThsy9ZsMWrOsWFhjaiqAgxwu7FzKmrgAPSmepGoemxdySw3o68a/VltkIjDkD3gjyeHuhAJCN+n9qmUT2t2r2hjU5a/XWOA7WiPmlxj3KX0x6FrdK86SKOxeWeEGI1l582txqXA92PXFBnMlShCOtjrB/VQRtvpw7nyxXcUHW1TCl1u1CvtSU+XUnAGS+U++HjZxQ9u2rPgU50cbi53zm8ZitXa9xdxRNuv5vfAL/DX8asdI+goi9NpnP23dJ575TDPc5arFz6XioBm7l3rwwKJ7pP8q5J5HdYVXH/nHUIPpNn3920WOt5clP2AhPkV5eRnTERVC4GeUCH577BDUZlwKdJdKTpuE3JChNuUmIoo31EYkBU+pX5DiQy2pmNaSEr0PAcnozDZFjtBqNnl61eH/kJ0V9yur8WgRW9sUL31YEtAZsK6rEilXM84NYJ0n01hlzU1xivRIEfOCIJFFVl2yZRLyTrirEpX5hRT5oUYTcqBXW9OYzbP9RPn4/gOxksnqzlMPlcpd7pC3tIzsJIohgU5cObDT5ZsQZQgWCZTJAyHqmYFCNzwqX2rjaIcSDFHoqUc1EY+TsqnR/o04yNMwdh7p+hGSuvTG38t4jif+sWx1SuoiEZQvXQG9lJJIakQQM+y16H+lcBS9Q7tuO0o1NR7XaxgusQ2rOlOqBJrzZuG4y7QE2PK6nvnPW4uv9PUaEfWamwYZuo4f6Axg+BVw3ni8FbvVxYRpZsrWXjORl/JYzogIuXSzvfj+cQu+4phL7yJ1A3XvcfA5NZdrSn5Lw5w7BL53OufsrgyRTiuOxD+jN32PnlOuZHXANV5meeDyGFUGOxcqaDhc0PDMvYEAa4YMhpBB9GMDOa9dga2c2of/wuVCTHKa5C8ePm0T0nKy780aWeaNO0IxEtQNSRp0gCw1M+BHddxTZnt6UHRI6K+xEVgvgD3lnlox3e4WmWYgakVHYkFkCZ3fOTB4L62b/j2w85CfxY3kFyaHncBcI5CTwSv7/UA5s2VfKREtHow230CET9IrfX7HVcJz2FenpWaPYpZuAfZsT1GG9bXw3sSbfqiipv+aeyei5SAcuN5KUvkKL+slUYVVmao9AErkWKU0zjgl/wKSJifTK3GPzyMVj/Czty+0Zc+vN2q0dGLB4jlmu07xoY3gCayapF68B95OPtItSbPTsgCsR51IGmRlHAFh8gmkgQnDHZ7tSpxfEmuYasoD1MXW7vnKvypaSJiVSYOP5U9BKJi2JzY2coBor+Si4SKfJ0hCehR4Pmu9C1ljRMByNg346Q0ybYyb++twMKiWfDlSB+gcApI9ohFYG83U514TMcTFNoMM3JCuroX8+qlAiqOUPrvEbKfjEDI5Woqnf3VzzvwAUZl82aGqMo9p8fea/ev35S1aRgI2wsjyrTLJkzxJwxeP5TG69HnuEAdnR2fDZB8zmy70NK80h1ZV5NKdbdD/MZwyXDhxfP/SW9N7jCSi6zNQkZYPpU1qJqZ6T74vuIsqnUZSLcY/BqWVDGnhZ/qvwzKGTnQjmuaWkjNvI4mXOwuer6cyCvnr+YE0pqFqWVqmESWC4GcXEmslxMYV0h0MN9982JuS1WF5L071cNJdD+tZ5seLExE9/HqFrCwAyqtENN+1TNZmStkqwp0mawG5bzPWd90efQ9Xc72/fd3tHriOv5o6TKs0OniEYwcV4Wn4yQ8I6xbM529J+iZNuNKLCVPJaYPYFHVWXgvyn49sqSaWTNPzTB7wajo5ADG/2Ln3HT/EkP3GSMhe7bkC6SmeYBmtHVKGwIOTOSSp/KRIH2vdVf4GfDcAeIke1iNjVtavHRat8D2CEKQIZkYY5SOzuxkR4W9Ril2a4QzpiMqnsVghAOGuBH64on8QodgCVaHrOdPXK1PODyo4FZVUjXCyJT5C1l8xzbHiKvgyiUOgEHP3GqgdqZWS+F5usJ18mjC/J/d9iHM4o+vwEjQmYTmoEtm203rraQfzcshR12fCjtyRyJRg9fReVkgZiHzOSLtoYFHyE7IMyHdPQx2wp7T05cm600/F/AsFtj0QBQ/lKIZb3lyJAg+SP2+I3GQ5dltiZF0/LAFPz3plCB7Vu6WsWvC8kuaTERB/5b8krD96CYZcJe9VI2LLEFJ5Kp3TlYPcGPJBBCotz2h/3t0ZAZEmOLVbP4geYdEjqcibQBJEV71zHfDQFo3L6vmysrp3m2KrUE0EIYlpgZ4k3QWQHS0E4k8KZpcXaIugEpB1dWBwzKHVkTZTczT/qd38tR3OkBWpBkswmGWgLeuzbl1ahaLdshZaipEPBHZVVcwqfN7DZCwX7MSl9QuHIhVu0OdALYa2RSG561thYAUUEycoQy6MkRPsTaunjkJRytUh5m6sEIXLcpQTOeh+ahLNCln6THpbJIctjue/Xp+UPEm2qMu5NkNXgS6C/RKYgmyfJM9vdaWy9HzzadShz9imYguOAdzQ1syuAJYL8HvfqxFR9J+seJDCsMxyQtQ8nHWU6roFRu/9yhi/VfdwB9vj3oWOnMK6srljB4RqKTtNnUfbjpSr4Sj1d80FtRR3l8Z0dNQ2Og3UNF9kIDzuCTI9IwIz77y7ZwmwjsdhZio54rk/V5kFdoVPkybpjvnWXNGvx+Acx2mckBxFi7VnchR7gadUJzQpydq6G2AUE7XBd6cj0rHA88ocHJp95+1cGFKjAQ2N7xvMAaL+NahlrDqDh93TKJDhI0YWwHGR4lQz+Cn66iKlaoSqD0+9tHwFDKWWyLb3Z4gQgDxWs14A+4WUjAUx2Ew3nnojlfLK9ADguq5HW4adPIINKRbEWS7GOgoEpFB6GFK+atilrFKkJt89imT7XrVDh3ZVB1GcDYaZww6QnN5Vmd7qB4KUtQPEpxN5DeNxURY2bqZZdMi3/LNiwUaUuqDPljNx3Rbhnr6ZUIxkqU4NEO31S+lmx8H8p1nhVNQFLty1CqG/D7X6bEZz+Snv0QWWJ6HZWnBoKSh3zVb57nJM6822yMezp5AwhTbSN1PAVm0nEQK4UJ+bVDyXl6nAC/orJHyeQOsuFpFqbkEOXTyHhNnmDdJO7XsZtQ75Vz0NyKjrrybL/ytFZPovRHVKKtfcgo7mIT26ghgkf6zoeBB+D6qO7MrUwjIg0gHCmlal4PjIH7ejugiiPVYI9yxFtEYgWZ9GuqUi3OgwqMNveb0G1e7z7bmTotfHzQNd8judxJDZHnqTU3gPjF6jI4t8FRHD5OsRSpoXpN+etzpMskldFyNJl0/n9i8JmcnoNpU7GiQOLjkffmF6b0rHBfkteBnoN4rIhFZ8J2EIlVQ0yvLC0SVW6Nsjw91PQsy+G/CCTzs0BC8vJMFXxNwJfPMdDxDkahZOogri0ETmKzGbV3wZUqkXnJolzv8c+PRX5A8lNdDiLqIHNhcvFnGBkfsUMZuU6bm5TyxWqMHjaMbUDRpR8+nEUpjL6YR4QRG7aks/MNsKpTzwdRJSybm+wu3wEVt11rw7XO7tpQEJcQfcNY58l4y4MuIe5jtNi8oI9z33vFccsDENhgMNBwAkVmjKBbq2yG26ER36aPoePPipABVhxdm/8ywAFV6uNHuEKpJrpjT2XsVQFG5xSBV5ZAolXkyMEkq8ztu4NoyrKnLs4HzKyDMnEreA4MoQ+U5EHjSKdNjx7TdNEx6EE948oaTrtHGDJ/Abl7vimn69KvNfByVWSKISNcZs5LKJcipZY5AJoHLdkXf0ZoK8pyHjgLdGgMNEBZMsVVWbk9LDiAqwXMsdSl6GdMo9Lb+gZ520X857q1wfbUKlbX/lj2D3jflo5PXVordRAEiabJS3UdUJl56hlmkUy4BBmSKyp75P7M8P/UnZraSdnxeKfE7YHJCl3fDGGdoDXV32N8v6hh8gkUaKRGnOlWj1wogiDHxN12cczYX5QMSlBsRGOEfvr9r/ga7NtZ3XPrlMUFKHBPRrLhWwil9oA7/YvjwSYkVTYRy773pyyOAWMQ0oTxl8GT4N4/rlmtrAqNTyjaqEfUiqJCESPB5xdLI/cSPMhC3iuXiWM7Lgvmit2zLDLZafJUkvdimw/lrLfNc4h5tGtJ2tFafZYyqk7lK+NSYbbOsWzECXIm5CPIYanr3btwBHqJIWfYrxeOtYZDLXDYMTPpMpO5Vpn/TXAnOqxuKcIhc96gl5dsaUwqRx7VfwVSax/woySs+CH4OFkUNC7uR/7EoxXaCbtszp5JrJ1hqoVlJPdOdijrPCVZRgDDd5ruRKF1K8xopUb4Bbg7ibCHg3Dy3s3YY+F2qoiluCux0fUkwJZnJiRHaGlpFKgsvBYcsEGf5zwHIEnGQhMZTBx98d2QcTPFph5kEhwAew5xj+xVkU+jU5PObDI3FJgK7qBV00G5w6EetuZrenzm3CKWc+mQAFncrPu1DHbZnyUfo1bbjfRmok8n/SZdzBnpAnd3fR6GMtp4DNg6CN0lSa2H6dJi/Cmc1++R91ObvRbp7xelcBovOBIpnFw/xQ4dxFIYq+f3sJh1N3INUKFEMq9dFjCWhVlmmKPrpZEOjbJ0p3wg7Q1ylH2NH3zSq1L20gn1/UT8H1zdyl7gNmKsTPJVL45zb5ZU3lAdHkyC+1MZYEAsqDMj1aNqfxKvW+MlyYYUU3G31Rw+8UQgh85ipSzFu8nrdzhZXpKsloj+togMc88fvcNmb+QQ2UNXA/y2ESduTRJ+KBTNoMOQ/mQTZYFI2dGDbKnYY2ggGxkgYkHXNyrGd07MFb2zzaoIxhtsNh3mM3abC1CjtxQLAUQHctzAORYe45N3KpErPHD18tC59n42kjYHc2Lem0Sm3sjpKNyGNMBR732Ufsgw9bDXWlUCXJX28MrBfxrFGRZmpBSa3Es3z7SYVK6JqG5GmJ1CDCyTT8MVwC980mO43R+LXd8nGJLf4IOBoWQYjV8m3q7Saw7HUKgPOUhdMXZMok/4+CGKGTBOxwGz65cVm278h9czlRyJFQ+VPR+wfgdZdQ8EGr1hNqIXg0DnJ9cTdzp8eoCIDAiw0zeC5Ey4JEdZH+5LY6R96M+7X1yeVMm820uo4jfSWtiL0NBo8kRo8BSpTC6PSdt3l4agQYRYsvjUg3mnTY5veNLJwea6aHN9gFUfPW0mxQjaIEoUnRkp3Vxi2M4NJqzPM2xek2ygGkjP3zKoXU42VzyQAjecxI5MAHNdsX1EbJQfJhzHqkciELncJQJ5HbK8cIO8Hnui7YOZr+QqBgH2OKzXs2LaDQCV5itlmAaUTzsn7+en5ih8FhcO22PFu6eq7WAyCRzxQBt/diHtDenwRqQ4yFykKuOi6UzAJmdKs1on3JIfzWF5v0U9mWMK/INZR6NTOEBCq1lPmFKkmw3c56Rpp7U3+7pDGo73YXJNLMHTNRQSME8F/rom6YTj/w5NdwmVQ6Rx/47nbSv8enpF1P+2eXYU9n/9ZPcBu4j9IWwbX/0zw4cQSA+HcnB/svz9Z79q7AQNhlMfcWYxgssaB6WF4gEmfqUqXnm3sk+f7Oq7X630aVsuspoqrDxmf/mxMRAHy36pD6F+B+cDDC238kWYdGzvR4Ox6hunbVvhEGhKhcodkjKDcOdxO21mLulmVEyf6zcw3BgcJpF3fZkMzlI3+LX7byN4AAL5eJMJuSPN5+unH1wW659qWwW2tR8MTClr8VosewVdJcYudJ4S+toLS6tEldYTr44tE1imRJlMl7FPAkeKCU2YgbzvI9ILF5FOX1mNY5COuHeyIDyZzAmuQzBf4hUmlHAU5kzHHQMIAB3YCkT7dQ7hquLGlhwRn3fP5dXp7jYKHMYHUvfW0WodQYQihjGGwZgjCTUZHAgb1wDBle5gPJoSCvuIN+gxJwpbIiTX0vd7s3uiQqwU+YfuPyhcpYG9C2ZkN9ghHo9faXpfrJvDulMWoc6XsCYSkH25yYUMn5fIFG9HSTDfnyfdJtrVEaLC+FgYvonaZUDbVf90rnJ/aJzuxNsLgRT2EwOoFvDApDVZxzkb6MjHnCW46JXK3c4UrHTiDmoTSNtKznyLZux6R8RBHavrWPgIrTwRHZW81FwcCsGKR4g7xzqIvFvnpEmTIxgIhJv2osYz9iwVpOxqv/t6joGa/J8UEDPxdEFS/B44A1cMxdoJne6DDm0yoKpUpqojHfqneNUwd8OPjFU5xe7+PSbyPHblhqyNLmUPjAUmz2RycGO9TtphiBsJrtYFIKVPzAQYEjhOKMtGToajoezd9ccY0U8jljIHLdZ68/k6WUrFA5y+kyDjOg5WZGxx0wEPDeJbkwYGXTWqMA9t+ItrbDtHp6Isi7kVNA45B8SLy0jev38HDG/Jg9XARyIruaTo2lim98N9Ezyp5Gi/zEA6rm5gPgf+A7Ly8CfkkTxWLiM/EkQcCMJNyfTGWrymXF1nivJqm60vKOuFLd5iNGs2q/pYXTYCUV47xvPeiGoxweFUTjM1e6Ib2YsueuU8XMI3egC9P05ZeoJ1TJYrJzqzMqOKatKl4bQXdUj2O9GSFHdkQU1rCfxzPMPApJiNHWEliDzM67xf9pvMaUoPGfffkVk2p4+/IcliSoT2k14pKcsUyWHszlSyTBe1Ha51C9a6AJT0XfgGxqpcbb4B2fPF9c61Raeywy1N4FBLKD1Zh8n0CY+oPRNfyK9i7VA5PVcxKk+dX4frxzy/DkY8nqpYGLqQZ/r0uVRWcPz/4C0H5LcKqqvx/Lk8vNZQMKsB8oM5pY7LnVe4VSwCs7E/IROdDPowYmRI9Ubstv8hoznos4l0neXBFoGEBYMajHOm2hKPpY692GQIUpCxIlbkHnIuH0fx2RD0b7ezpbA3DV6skSXotn4sPePg3v9Qwo67JcGag4R2VSRpOYwg/dawYSc3FyFxGD64N0iUE2u9ZO/TNUyXXAbaswS0xc+PLYDUb/UYxLoqV8UM/dd3wsnhL/vXm3YjqXKAgvmzU1t0iVx5kEt7SKp/j7C9QYfMijFZSrE9Kt6r29Jg/JihPQhQg9Xx1nBaZiS2T0fY3psCRP6mMhPG6KPsqi/E3F6hc0WUC066QhxSeNEyCdzWSDgsjFZjXNxV/y8OcLRFWwQ+Ts+m8dlBCA3FI79kIEreDNOcEvrvoz6oz+wNJLY+FiVsKTU5xC9ci+XAiJjYdWbuHnK7kZY+Z+mdjq5Gb5ABbL275chFPuVa7OIhozd5W4V6L2g3weQ1xmj4wNegyrra0cnnVMjxd1s0fPhteCUTJdMwmBYurm4/ZLzF5MvfI+NAXqBgkG9Ke1zAAXzU3H7BdBGD4AjzZ5eCU0CijNRQ9H8ZACtpkTWdKSls+J30oVGXMLD0hCEVoVZgyqqIzVfy+gf7lX9fFlQSVODO2bdbIJ+mcWC4zLBxEn0vEgnHkDBeMrCY/JI5ioSiTCtKoNlLKFmM7vNXkahMBJUUDvll38AQZB7Kr9paTFLEg96UQBRxKojMSZk5jqgm07x6G886oM1NTKUeCtpxIg4YeshyClbfaz+lL/cET1daZ83zL1No56rGTXRFfWST2baRoBSHo/gP+R8NZEZYFwWOLteDtLqmHwdpDEnQ10urrLeua9MajZSLE6PlFja0Y5oDh7Br0CKN1ewHGPDGYhWgXAaw1spOIF1+zsqm8fV3V9b2iP9cSQ8BEqirXelIkwChJ3wdqMrAfsNcWqs3Il8Dd8TK5aeo6M15FTm5N2pOr5iQ1waOcM9Um4EZVuLyV4WW4DLTD5OsQOPkIhx6+dXanr+E52I2UxLjlYe8WvglxOE6vijpWkajmnfaMIWIhoO+dTJxW/v8YaBa35veN62H7Sm17PKiy/ul3ZmaTq/ubNwXaisjehjjUNI7NOis/PlAI9VRqYqugBUw2JJ2netNBVUAN9ny9Pk7MhEYVxRvJgTa+rEKY1S8J/QZm/ls61KstkbJPZ13YwnPxg8klKouLCsTmTy1zuLQkb6GR/sBNh7RS/ff2ERYg7NRCLxn+eRticSEPlOBNv7gAhCyPk62b4mzO/6lo3nLBJfrZjQSZhx/hGfkdN73JW8/tLobP1V8wTFZylRwktmlctIRVbNcW0iTjj5MMxJ9W7Z47tpFJxryqX1RFPeXNi2wsZkaHIohercGRyEjokayecCo+tATIzq2vw7zEfSHhJhny8Ba486f7YxlTBlB0cEpzgwll3sFy3k3hnODIUtul7UKkzFbbXMYpYRKf2G+ASvTDEGSR/UMnxyrOkMlm1kaE3Mnj224ow5luEX7ugeOj/vnHBkCXFxc5CLfDZKH+4el+yax15K+VduygYIfMMyz2lh0DQ6QoxfJiycuwfTHC0hedvyagrygZ2HWdZRHYFlk41oYMcEpMAVfqDQi7sfunyeccEmNEe3KQ5QRF0Wl3RZm/0bNUi46PRmBLVo2BVpikakKOIRhIr0/Tj3FZwnjjUXm1dimr07XDSuuL2uXhSz70QNvnZlBUF0eXtYaJ/SvlYJcU2qP9WazxOc2RH6OVBN30rsiHXrLs/dtsXzDaQyjxp6alrgsp9zot/1UBpp6PNhVfqFtrMWiVeE3x8HSIPftKLy0JP3n6ujTcORaKTR9mT38PpTbamJkfp/twtUrWxzPjnz2oiTq8JLh5/uZY8agwIRcDk6Gyapqtc6v43hykmWvjNoXNsw1BnCCn3d+h22RWilV5NJeyir0uuc+FxrygOR4JjqhewwMcsppxS3W3dWJ29unLhcKXpcAV8fu/IqgYhfy06OET51AxwBzeB8tsdNN4Kg/r5kvwMZ9jzQSlmChf1UOEhmqbZIWlIiV9FhjwGXK3i3ESC1VQ7qCQnbrJtVC6I583lIIzxfF15XETqV37n5NxbUXyrurm7LcWLQoQ3de5BAyWYvi6wG1tzOWx+JmiDYxVDZiJJrY0Dmdx3J+VKbLdoNvZ0IBNxilb4lQKU9U3Jk6VjquSpgaWAV09fxjXkg+f69uKLxTcOoKbbEloJo2QRK9aQgaR66GsiCu3g6ySBw+a72q4faoGyMH+bHvYiOqn43vOV1AYz0ODltWJHT5dqJlePT3S66jU2GWJoSiNbKhObXACt/bSgHt8LEIVcyZmcm2nAA/7pr4kAUVEIWAsEV/z+sMH0plBiSjyRbicypViKIeyfzdTHbnJbJbEr25szyQ+eo69yncnzfzGx+4JW2iVqEqFlCcPxDO/GozhoEPqmBffqmmJ47e4TSlt9WlgAsbEbqtRpTgPW07WKbjRw6VU/Phi8Bp415LpNx28Pwee5lREW4s0gQiqeW+IvBVu9doZLbny04eoV91OQ1tTcCy46qlMzf1JULbKcikW/sg6XVChh/UapIZvHWK1zBBWo/BguWlngHAArl80dPU9U4hwufE7glLX9vv4aK+p6h8AfZYaMlW2skgXyD02f2n1yDskhfI1CxHLvIaR4QvwKxiBS+JWIelqN22P7ZknwQJLFxvBNq6D6SI3kYlnwnzqGDNJv7YCUsxpNXLJA+MoY28/xXDsBAXtyTACpCYZXprfekEmduQPvycxbOFZhsPgnmTEK5CG1r8ksxRWHkWNnprEqSBrQHfW0Lf8bcYyRk0SJDgOM8EBDaWh5KauGV4HEX/wWkPBhBg4McSAhfYdFeCiz21g64DBXhFKfItdUDhz/IAhaB48xVBIyjAJwkv/eI+cUGnfPACXi6ZZoni8XbFoC+HgGBvWlNOGSnEO2NprH+d5ev1NFZ1wSwPW0Wrprzt60wCsnQ5yMjSD196Bv9nW0FmfWTZnLAGiJo1/o66wSvN3aWvtJDxwfjx/o4aoMFZ4pdzoF5kTvVS76jO6oZB4GgeCyLssQBkQhddngANTJU2DmcmuuV6lyFDoiAX+ebZogpQ70PupIYSIKPuoi4N8uABxCg2C9RQ82uRTcgfBJ2sfVJYTJ0YQZOxx20u5U5GxqYgKYTZ/lwOYLQzCzEwLXiJlx5dKA3J+3aGGYPWQbzHLSF/U7RiURDV4DHKMepry0X8ZrISzAKgIaph9Z45mYFKhjHBdKZ70LptHnrjrPP87HjFUtvEWhGrOLjLijHEozlTaCEC/SqGJ//Cl/8TeuK8fE4J0Hkn+cRAFrdLkF8PyKnKqs6O+KP6phdi9Z863eDqOwFN/HidBvTPZGiCvQOJcl6oIHmsZZoBsFS+EK1u67UQgOxKuOl7mALFjgWL2kaqSTNIyl4135S7pjBo030fhqnUqclQXZlyEAu27/wzfvK/KCebJ94dMM3X60y5/bkReDFQ9jx9Tox15n6nuCwc0PA5rJUYY6mY/+WAw0O/0lX+nT8bi+PHjthLgrK6tlFxvVkSB+6c3v8GmzrYvGx5s0vomg0qQMWZ0gV8I//b4hlWLTr2vr43MpsvsAWVfSGIzOLo3jABO/eKHneLxjY9ykdhRfRwxj9QksrgfHK7NUKcY0cuFgLuTiHJHHTj94hbe+ul+BjXgNWz8bskfPAiejHDQ2+9l5cJgvrkoUXgv5VbocRs5DE7rkI3IfKIUneSVZHe7yG92wTWn97iBUp3jSBFH3xW6rRBbjELM9f6Gp8s4zzhc5jr6ne2MZeE65j6Z4l33Z2gadswgNpG6G9ZXM3FawZzsFx0//ah+SFsPfTndqQmaC5IPqUusWX9blDbqP3KNMdUgxQEpb5cFQBEKhEjpo3gR+ZUTNFe5WYpGzIuUvSEr27LdLQ8h+qCVD1s47YIAIzztoUqdRf4gJf5l1rcfV3mlz7poA3Vf8Cs5D9Cyi/9T5XT8BQmAMM6rRwWwibZ4vkHwsc7EF2lvMSbRi4cwr4F2txA653QmHS/+Ix1Jf6YIdlrcZOyNRB5MgAhv9eg/GwZNoNzHKw9pknWKogAKKtYcoKDqQPCCPa6guxVs/T/DeiaVsIXnLSUMIplaDLXClqrJs0Uj2qugnE04b87WXzA5eFdx7e5+s19jS9OPRo+2PB9gpYH08Wop76+pzbbarsS6Q7KRmmMHsxWKx+RMLLNgjyt6RfOnPMB/dQCgM7Hjd49qgH9a4rZ7JkaPojGlLxysIm3IX8c8dufUCPcFP+h+BYjuO+2ddJSl4IkKIMwD0zH9TU3dEkAvYKX2BNMMcBXMd3Wq3dHSPP9cHy+dFp/gC1ZAEFR2A+43G1Wzys0Ls48tXzJ6ifVKt9yr4y+UZZ1OfxbNgJlk9i156yp7FcJq8h+Erg5BMNMA+rjE3/4yOPCaSs1IinlH0UGNCtbYIZ672pVN9HXZJ/ths4gcVuAAXyXWIpJcamZhPcVwi3hzus/Ep+ffTtsgl2OVvFWDTuybKTdIsUl+VJPd/NbH/8oBs6A6X9tBhbm3o1gzwr/fsTow2/mG6ZQUpdgd26H5p4tICsSUKfCbO1M++kdMNf4w0OS3iWYcP2rXCBp3wFIuQsQN1aQY8C6yl+HThswVX1QFUcDvXHU8WKPLsFRUz9xDeucfY8FqFOxoX8wSIPlP/JeKFBzfW2TlKKT8p8tco3ju3AtjqpvTUFHoRpG9iWOMvdkmzrjFoB0Qby5Qf4pX+sD1sisRQbJFawShgYiEyENsZUtGmC8TH+5KYl/J+bg7v6OyMNdhz/fOClzcAkXac7YVgVOpw+7zgAUNTBNyoyXGCNxzplIv+90WWQDp76KcE1Tmdb8ifcCamDUvxoNN7rRhCKqGDYtIofss3cC5PLfXIKVCFRKOpn5wbDy6vUqDC44tqTq4DWM0wfFyp6QAeUGOMxrXVrkFTOyjzL0zXgfNE2SDk7AZD4bHzZbxv/qEMZSK4XrTGi/fKUdW+WIxQylFNXI2LPcbSX2/fB6lHBl7T0WB7AhTlLNQ0gUdlRS7ZE50hWv/GJmLFwMJcxxMvHDTAmlv+uCFRoZ0Wa35yVvVysIL1qBvfE+3gXUdUNTFCVkga5hRUDjAeWN3bUCqBdgXksJTV4FpKwcsvfCRp9QzPKxq4tgDfBAetU6y3qaco/79E3ic2o6PqpoHVBCyvd1A0676i8OS1gv0dNVKi5xA/qRdhEDBQ+Fb84vrWMYN57J9N54hfo8DvAP0Q6P+NsDI/yKpbS0Tt7KTTM6zr4qvUCfFSJDkBX8refy+FPc1yVkL5NVtT3S0podLEPXpAV4S4Ll2JOd+z3rk9P7p++vF8zTvruK0mZjLLd0CFU98V+QLnG66FhoVihzT2BHcj6/sUbyLkNRNjLMzPMel8TY0Wgmo47CCfIec/VEQf2A2TF6ve8ORXTBdfbVJXOeru4UJ1n0qs2oQyRntPdCDH3IssFcMFp+MsiYIXWLbYfeOy5PLN70IAruLEWZSFzpMXul30Z0xy0jKs0raQwzbZiw38YA28gVmZf1cWcaFFVWSm7tmsms9b5a0uTmAxtUOpNwyD6m/kFR5I5KIpkOlkwMh3NHaTHmVE1yUnKey3YaI/UB9mEPiyehGGZoFVP+n7V5rGEzGgVpJ6suIkSGeTmRUv85oVzl6BMVTdgkMdhgoPxJ6jrQvvoDJ2ayv7m+oHndGcfmE4lz/on7BjVoK/nllSNrntsiALPRFC2DNdBYiEPZQqipQu37VVoZ+PKBaCoIGW+2ICwkQ6Oz5TFGE8NomaYFbeQQEzpypF074NCKKP9kyZMA2xHVYD/zLMJ4zonDlg7uCXAdgTt11pQ3btSsGXXYv8zXFwoB7ivfCPJpHNrVM/iY7PplgP2eys9uF3CrbNsdVM47jj5cidlW5qGZLl7WDI1wtV2+PLmNmMGculXI5/v3nmiuUhN+LKW6z+YxiYoVfhCM6f9L1H5EtKhnpeRmB6bbz49SIQ13AEoProYvi5tVODJ6lYjm8bLOBVO/BPx2PjbaYS9En0eNYt/24m3ESINk0sAx+XcuHeGFBZLjVYIPvA468ZeS0xA08ysIUm2UjQrmEvT4WMPzoojf/TOFBU1d+Yjy0zGp6UerveBvqszsXpezuxcCD87FHtRZz+jP6vY4ZnG3NOLNJ9NL2YyOeJGiYd2QVodwydOtdgVH7o3Z5UT3rRWcS9z59FXRsUv4AjruP/gDvs9tnftMlPGtOW2dm59a3+YDmMQWiZ4Gh4HXc46DR3VkxgjJToYOnwRGmvqKWHjQGXVagSVxp5xGQ3doS0p8bOQa3KQ9b+M+TGM9fDb3gQC5KUjIrgCFC3TxVqp3+O0kOhss/oDSo+KBFcuiySzr6zsP07VMOa9k/fhkJl/Y71z7CwSTeu9iCEO6F1y/BgwvJE7A8Lx5ChYVZaBC/DN9mv9nuv9AfX7x0K32/2DMRSOnQAITX/v+XoQiPZ3hkWfatsAlFiU7S70rBvTOSAwWJ+sQuf6ys1p+7L7Fvp8ahNXt0v96LUyQZQQjAztpm2/YPja9Axuyw0tucLFVNrjXwMOyE5QU4+7uMVZ60G1MH4ggXAPRa38+tO8UIh9USMnl8OnWYbYnY+WNpMQe5/BdyxHgDvlKO3gXdobSI7ViZO0KjwtqQeFSZQ+aYvV4UGD+GBTrGRZig8znLoZAoFeLTiq9dDUIK2D7PFK3b3tYE5YKWL6O3U4Z37gP+aoTvqppwD1aJE1EwL9XhgUCBR50/bMLQd4IMYqNxSDQAixpULZfyNGbgV+9xus5DQ+skQ34x+i+zUvt83LB/EOeuzRsW+etk5PH7AkWd9YmKDAnY3lbQ9KrLZ+WMMMhpM6G/E7qioUeDgNudMxTSvrJBU3pC30i3VDD/aug7Ea0Qnzpj6AsXdDNpdq8/UdIIlDKNsMj4A5KYThtCeFz0o4KYyMIYrN6mf2ruOP08kZwWFettv53hkzpY+t5v6EXsTqIO1Jge9GR9XgNIeqcDqm4cSueGKtG0nHXaeigl0KvFKoaKOPUwVceGFU5oWVaofV3a7G5vfx9kCfuoRRLi/L3GBcFWGTI8Cn4+TPlqOZ4AAHCRuDcbw5AG232sNXQXkYe0TeM8QphW1z2Fuw/uuOxqt5xV8w1uz48f11mw0qOzWbnXDWoju2byc+TelApwYEhCxjsF62PSLCJkHGrm1LC2dUoGa7VsK2kYydy9vtNBN3x8RGUQIh3F9LaPJhC8ZFg0Zf0L3mtMdaj+SMfrbZn/qnW8KkC6hcfOjulLUpUOoQvon1kcBHsLXvxS8JmDi8ja7nQR69SaM6HEexOhqCeQwXYVPyoIkiqHG585mv8isRb0iWiVeqt2MqyJyqnIF8N/5vQg5dM1V9c2VgpSreGPe2DW1gTJBxoVMMGxWInHhhArPLjB/2VK+gCFYFY33YCSU7Uewctx793sDpb3dnZtR97Wv6UaJZFU6+71GODmXQXXtWcjCnX8msRqaoNvFRv4/srUyqXf5pAZM937E+Ud6282htDj6+iIraYLb4j52cqRHrJHgSvERbnfEbqzid97jU4IfjgYs3pFRuSNMfqFeM+xt+b0mvnMFA3i8zC3Gl54fJBfW3YvhyQf3kYpCidcAMr8YgugHmIZLj3uk04331QBRfb7FYcYtqUnBcqy/m3loTXBkzdyEVnCd8nZzzgNKMDuyb4RYyJpqNMUKrcwR0k2cFcGRBfkqsBulZurhOYz1vfwn7Zh/tSvs9JWBTeB/466rFftpmV75X22PIWEScZ83b0pVF3jxgOrTNf7FYYzGRGnvDBsIcgQPtzdvqR+VTe7xXs70pF+/zakLJWy3dslj7vGHRBz4rL+rGNrZwMU5Nks9H6OTPBFMQJj5sYOfRCPyVzt3TjReTGxILITnqORYaeALTjRiYNvoXae6atpIHn5RI5iOtnrBmLLB7x6ytrRwkU99SUgOYso61S2j3djbK+y5IYCFnPqDnQHqmOF9qOCre6AZF1ApWLFRx9VXHWJylkdd3xM3NhcGs79upHIh+D880I7stErMY8//XsXYnhUbZJLup7PZkTmDXUhrCcL3n26SBzpMIe5ts4SmP7dJeiorKviP2kw185Qhbdotih+K+wmTDZgWeSsZHdydgimLpm6XkZVyeMrovgVjofxqD2fjGqRygbzxaPQ51dILWvuyVxrS85+8r+pY4JknB2rGhrCL9AnXPwH8NNAp9Z8QUB4edhdAJJ9l3VmQSMrIO6xxrj8p9Y8tPVElGCn2D7MHj1LKE9V2O34KqpIXN0iVh6OW5YCDcmIPiIEkYiPA0RlkS5+PX/GjHmWnqbkQ1M6T+Ikmhp0xqTCa4Q88p9QF1fg9RmCGN5SVHJpwVJdhu7Jo9GFwVVbOxT2Gz4o/FRNPB6FOLVtv9Xnlr/MvF8CqAM099Uu9tklE1+ay1ol1rlyICl2dKfdKoQ2R1IIC6z7MqR51oKETIAv0KAzfq6p+bXSNM0K4xV7GnF1UfNYw2rkR7t3j5+V44WvM03eG/htEPJ73Z8rgMhJMxt67cyFeQXhEBJvgp5fU671fwecDCAWz0u3v/az5Vcz3MXF6L43TJCyTrjujnxTP3iIWpZN5NYecr1lcxyYHDa7xCk78NMtMpcolkUr49+ki11Tb55sCb4BjyXYFh2jx4xJwWcGj6a1v0PKWGHtkQieUsPj7rxJu51c+Voq8WAFJNogijS6wyvlti1XU+PSlyp33MPjJZv70qbrxiVUvi5BWBR7Zs7lgtunN4Hhn9z4az/e6phhG34HRzctB6ecTMbPqTyidlR8ri8tbU9lLZdBVKDLXgZMJC1jcmKcgASHFNCglX+4H9z4bxnhK3UgxQAd5SZJk9Xxuw6kHlRHwRaEXkKG0u9NBA6jvK88VuqyePxlBYUveRRe0nkAIvgVe91qXa7Pv6LTJRgxTM+uwYpgG01vfwp96yXKLK60yOH3VBGOsxiRnQD7bj0aoddNFVxPz1KhvfQRBvh7Rc/ambpYZm7n676HeNoFUy5oG4msljIccmA80mmLYNRDWQjBlgwfZwoxy9rGdifCPLIpAcOWSHIuOPWCkflQzPH77EQiiHsOaceOEalDqywI0wTZM8jpfaAKA2HYE10IvFazymzU8N18gutbypUUL19wzlUOCX/fdW5pyCOeTx59hFp429q+RytJuWw1Zlp3bY0MVmieLVfR3hovFM7B2Pr1nRmofdof0CIC4Mi/KR46Ix82eIkQ0E4AVbLRMcZmdE1/w5tW4FcWoyWAwOdraI4ONpjIUAFE+Ym3qE+1qpmGQd0YxHY8JxY2RbsKJ/HvaS0QV4vSADlcoxzkhOhSbxt+OjcEa6X8yBbtS8rujqaUWZhjuzKOoBmAosmNosvqDDaIL59rnW9BD4zcp/Qrx+MVoOSsAl3lmI42POPi5LmPz+bEBLGNqxRfdNE8edPYROcKbbgGhCKHx1Dq+Sx5NVhceCL9qPIMkCVxlZ5rY1jeyMzJqz8+9kzRkdhpKwOeVxzEaB2HNxQZCkT7SliMkPSYDWbkuWBYM3p+M+YDX+9hp7nkC0n9edkQDU+IoUSZHQt40x3KEFTA4Rm4HMDeQsFSXPMl+s0mId72iNE0q+brauSHCtTjIY4xKgS3oF8Y/cGbiMED4qEkVo6nY4fLH7W1EJ+j/WYcE5TWLgzfKY8NROpPkUCxQBNDk1I3u9M0ApauLMwWjgwovxgs1p4zS+IYmz8PqT0xnDQSv3sA9eEEQe0OKxbd7T7fvPcpItl//BgbHlrR8C7eEQ6tQJ2kOw4+McE/iKRgYkH5Xf9xYej8fz3FBIOeIoG6U7h0EhHNBwa6pkDFwR8B/UcJQDpANZJ61wuaaGfDXKtzKQrjdk6d6+vjnlBlu3jzU8cyroNehJD2LvhlEFNksD4sb9nb29YklaY9lRZ4RaaZxObDK68NiNBIKGdYx/i/2q2mXBu4yUyJvNQAXI7aiysauQvkAudcCMw7iuaWWJiModtaZv6KHSAkZyHyPNFm2ATraPPsp+zcXX5f6TjoN2ZDRC6fhCSRcaRhqiX9b3iN/GUXrh91/bZfXxX4DKNGC/kt9j1ScNFz0+r6FNwizVIWba0FlztxiioJva87s+VLMlRSsgATYm4Bs0blh7n5Rhjtv3l977Dnk5cOab4RgijU7a0ZIsradQv0cYeCtP2s74A6snOZW5pzKlupXu2dp3cQtcxRiplliH2NdjLW5LKGn+OwU/PNGG9wklAZHPGzcVygNQlr3NOEx4muJWJ3T7Tsby+Q99W1NyEXcQhFiVQlHxvGL10EjnOG1EJvZOylcMlcBnNLOTHcNXdPsXvP0WWnUYkZILC868fbxf/7m40TAfn6/V7Rr8rg/M77p2PYSJyd0J3e3esWWaETpWarL/aSPQxifB/aRA3hxXNrOPrxwTipHk2PzMXIn/3W8Q60rwYdwAOeNEY7FWlzGophqaQmduxClHovwd/0Om/3Fz8MqNkCKLh8q25ZV/YhRy8/I64B/6jJ4U2zTGES46qx9V9muqRib5h0psP9yXZzSFltGxQlkjbWyI5etbIfYkK0GkWNlyjldMCgnEfGL00ugjyyS+6L88qSuiFDsD3xBuIMM8/idPK8kvLkKlCVTanL/aw2rtcbh6Tk+5Sa+iXqooq9grvXTm3Gz5buPdRDy8/RjEHaTa2Cb0T0bHbUTyJDs+RyC9I2eT3gd8dhzQmCH6oSyXOpUKQFxYFFZ/YwXa78XcQv5n+Bwa4L4IdxeYEW5g6tATDhJuq8RwUhIGQaK8tTrKdzgSa4XV0KdGNP+zpRmv1FwwVOO8E5Ms276Id2vhtVGzFi4xi5qjOdrkLOQcMmylZNFmxy2IC6bsrwiP1ZhuPqMBEgjdT09GGgW/HmsXMlqbigDDCuTLwapxymJh50rN54kqpfGZwfV1TaQJl7GPvWUTwme50NOKf7ZPO5gZmgiJm51RLL6+NqZeRvHgzUkgaQNeHhi4QcC7uEhDQ22X00sTeVu3yOdOTUsUDIp1pP0zshbU0pXwv3nnoSrT6GgJ/d7BljZMiFm5xuL2u0oVf72IY+v4t2/v7X8jEm83s5A6g7WBKO7OCFsPoh1/2fJhiVIt1W85pD0pLS+bcWdm4ZRQyKaYBxQ5NYm0wxENiSqSjL08puFLZj/udMTov0NihXVtBQOw/EICYtETRG6tcB8nO3Ruy0M9KonocS6vrd+F8FMpNmh+IuiSqk2Z3zoXczHnskKFiWRxpGeZdGsfDlWYl7X+7vf6X7CNdE58jOMcJ++5XLlobGPM0+56IlwngyZh0TAEB8bffPiuHzX4/3vgngZrGg31bLbggeoj4ZNS5vu7FG7CRkUA4YWbDEoVjoUvOtiwHRTfclKxC8uTjSF0+VM0b3Ilzhw2WXKGLZmcgJb0yGeEB+okp5dtnqu8t7YI5xjFBKzKHF5QhQN9f9VC053ayXJuGqB4K8PF4MJonJkOSF443C5+O7hCBLADMCn9ftgdWAf0B3M28fr++LU7JuJMSJCJt+2s0C2T+4rnFdemPG4rRM9G7Y9v2Syzeftr56pAGmp5v8nPcJjRdodqgBuMJ4BlCevY4E1ppTGDVslYPkgr51OX36FHLqTAlxJ8VP3PswPKuTv3KiKxcae3NBW3jfSjm+oGGp4ppAr3ZMnz/npgr7eo2i+hah1FgDQ+AR7TavbMur5S8UWdgYK0EMdfhHayvHGqeD6c2qn6XEDvGjIyoaQboK97tkl0+867yPHifVrCc2pPvTEMAdhORR+N//8gEl9yypM8I3bIEM637sERAmsgYtKJ/BfcXKrGwAZQTkz2pAsZW1r2u7Vg9AOCMTh5Uj+3iauuTGYHFePyEsHMRoU/7Tgun2041gQ/WPU9xpCN5mZL8Hg0UhTqN2vg0qBXzwHvUEIAUrNlY5pRVHexvdaftJuA+5i84FVoTL8K4bx2zDTdU+i0LbuMPRMDeB1NcbBuLijMTRNHX7v4e+WvWv3ln5jjNfunke86vdXIPPIh6Q8kFDpDCbgpkaaR8sTTl4M6/owOWFRyzYnu81es9vK4YS/xdVRP8Qz5YLU0e2HDN+d2HwsKTGISR8TEXTKeOuoX3jNc5LzeHvCKdK7xMkGFsYrwRXXn0n6o4eKThuQeHek2Mzdojnk6e9QeYzYOXUaEnIgcPxLQeTuvd5LxlRTWch8t7rTC372eXNXOKCfBQOYdGqxPejRWWVpwjQtEerRmhWsldS0PQPY7rkBxlAuMAlENElkUdkT2DpzsgflVxO7XBc2UU/bc+PE7Jt4kPV+u9ujU4eC9ySccXynBK6l09QN47GWlerjGnwhMeMIpHXK5FBoD82yywJRtOmfdE0o/vIouAYqqulckQqXjJlvjLgVb5BGPH7ZfN40O5s2VMwizMwNM/DxQGkGZzYHGLSQRg0kLvu6Srl5tiHu8bvE/rhIpQJJGCAiBBF4lkSPNOkO7khajEelLgHuWylAstiuxDa4u2J3KHDsNMZk8ef8Z9t3NireQfDQx1b83iXI9Fs5fowzMBTlcznHrNdW1J5aFd+8LrKpOHUVFD+YaJJRjn9NT/OxPbPSTpiVdJZp2Z/mzMySd9BsFvBvSFreUyI9Pk41BFeQ+gTbSFSLRk+yIbvzVBy8mGpZYsp6eWOZbQEoYD+amtZWF+qJHyJkbQjnGYDBgLRxdIqtWurO7XA2nSeCbID5r9IUR9GuOOxPGY5REjekfyi/BWHnRepMUu79/Pj8sYln94dKez3OS79k1qTNWyDd+V8Tiy4hG6BUWpErVCaVmOEHAoP6wXEgzn/pgdrRqIXctw2hZr+l2MN3NE7Xw6hBqC73s47w/l+i77ulA57yewvGuToN0iJd/052Ei9CD/u6nXmtIbfhusqk6txnH2begJVy4M7ARlnDtzu7IpkkswXvfLmdOQCYnFK1G5gSjEebM3J9E6zmTqgZfKU7XDT2V+j6oPADJfEfSg51FSQhiALr6wuex/ZcNYE6OeCI2r+NBJ4tMZF8fmkBAa+gt5juJwSAdR7V62WQP1CImXvDnJT1ENoAph62rKWGYF65rj1Kk4tt/pejLk2eUEqRiqaTxsSDn1SqyZdaFMnkDND841JsOOZ2/ddRPatqdrJ0M1H/ssDh6+N8HBfHeq+YsGPwuvVf7o6dcKOqPuLjrBZsK4SGxV93HxcaZb7OuFQLNik+K2x2btJul4NSAi/HLGhHwuu4QEZn3uy3voX/YpK75bQCTywVPBs6UxhNqi4uiau7QgjI3pbwBU0pd5wlsW7tpyqhI3lDKByas4SWY5qB1u+mATy+OjH7/XQbKUUQH71XRPxTNQsjzi65+2JfPEPPCio26YpXdMF4NpgISxHTtV7Ar/u4r9308/r5rZ7mAGdpFvAVUSzYfxLW7LXifQ41xfxQhc9Q8XCiMyvLy1AMm7nADPdaa6/UNqii/A2W1ToGuvNeGyl5r2X5ZrfIAUcEe80BR2fhgy0jm2qDgbiMmCHbjhsdOAVXTjDid36Vv9R4JodlNvalbRR5GZnj6Uu/Ci6WtFlmUsnfNu/vn5qJp9zt27Rdot1sMYUpw515YbzEZBjUZ5Xhjpy2ssZTGd/Ze2VgMyS9/avU6zCVvhYNBajtCova+Duey/zWCylLHFPvuagDt4mE8a7he5qyjGwW8dQjE4kcJovEE+oIBPzCpiRjjvuHHBxlKcT/Sr58nq4yiOjJjcUZIG46ix7j/WZ7OpU7C4Ji83U8RlKUB3xzCTYqT+iczNpsyeyED9KYFZoiUlXtLXnxbuOcHLU0LD/1YLqu9PDrDMotTu+81FRXiFJUrEhKECXzCOBBBOyFiHLF3w1I6bfjFq/VLWggh3M462N4QJvi6AIFYcSNeRhGmW7HUMVuxFs2cz8V0i6hliZ6UW+K/aVLPM+A6EkmbVQvNityEPI6rJ15ZXDwduWUPsDWl3XC+FEX+i+3+nBjeJjH4i1WGmO1jtIf4L3CdXDwzTDB6sdrxfoQ5BM/ShWDnkFpEYLdrBhxLFjH5eLX13l2vjWHYdpesUyhJ1WaewBW7hd/I/Q3fo8+KeKTyJyCDhI3D3ewNHf8qgawBlei/xIV/ePih0jQNkPjaNLb3oNac3HkKdLtzmxTRcyl/g3/x4RGlBZDIzHUgMdXdoN+EYQtPtqjqHygSnsNe27TXmuvzLOcYA6y39Y4s993w+mmi2mRjhot07uL8mbstm83SeHi9Dg3PTkxR+BS+2L3tzQZJF2vj1898U1TZxLpm4SBNklXf9FZuuEl3/Wi8uKJvR0zgiVEuWKu5Q0AP8EJxQ1W6jP7JXsSw3DSyXHhaOhp8dHqF9sFGQtzhs1swiJ6IYytgkyneq1sNBNtBEnlDpz8Xx2MUrbJ0r9N5Gj1oBtdmg13EOfEyTckuHPnt+gq8TPfrjhCw4Gj450wgnJFz36X/khvRLrTcvaC1E5i9K916XYhQX7tkvG30CsBwZFTdi+q2LcLrTQVhFTSB7+WHIDF5ym9X6jZxEH9B3dnPMQGSVrFyCiGdMZGnfCiRAESseQZPGAYEJuJ5fw56fg4/Q7s7T2jR1ZLNQugonp5bG1FgTS7QeJcE4IiFYWGEIR3RkjR6qm/HaqREoJ0G1Yt88Xa5eKUGhCHxb5gWU1CAe9sw6W6gD+zyBhhKYBs860WqCwoar9vqbIFNwImcaeEPluhDcbu0ETOtfl/pmx8RQnnnYUzxxmPMrCfth+wuTeza6GjA24BfG3vpZ4vuxJxUhxET6jVkiCyAF0Ec5qQoe7tqinzcrqIsVXWMp8HSDKk7u+RcNS7bKTX4xVP6TWw3DGxX8X/J22iHrvuC1V+3CfS4Nt+9P7aRXUCSLXng0aOsU/JL99XOLV8YefViVT3ZfhtFe86i54kFIe0G/lZzyY+YVX+Ua+ANqywFpmeFEjYv3tGsRdHs3M+aBNO3XRO32+8Tv91/uJmzvX+zttA4gmiuza8hbF4hrA7jKVcBEpCWQ2JdngklBadf/EBuO7dD+vf1sZKydbRqV1eI1fZ2R+gIxiXj3x4KyuNXGDXIShCHT49lpuK6LkGjmRrGKjvoL2YfkaGtlDs3g2LCiZynRijveTqRLTf4WIB/KvRql0q81Cb7C3U8UJx7O0At9WKMhrDIpdHKRV28TE7g08h50lWBTwSdUyO+5lz/QGFUrUfryTHGPBv516G8dwLSOnadRf4ac85+7Gzwt5OaDAbGLoO/t9SSXSZK8tdtXET9DGGECxzA8tg4pgxeDdSoGIotYV11wOwk/nAtmYWbxUXJt8v6Eh/jpXpZbAM/yn7Pa8oWIUP8P3W4ShTH3nr3fr3b6GUrslAJDdgDYBIOW6BhydL+VoMbQpIUxnsLlZoZAklueeHX0JvQMt3a+oVGyGlIK4P7tLA+H5IJC+U9CRraP/5y+a+ZSiQsA2wqElPJCShvXgLBCDba5v+0rlsWsP/TeLkGq/w0JeXrZzgjC5QBIHSZFEXbasYa6gceRLpBgILjE/EWJ2vqcbzUN8QZC83LBRoSBZ8PRPa/bD7QDVsME8OJ84wdoP6DL4rkLJxmYdbSra6WbSJ3dmF9rZXc4ohMUMl4lb4Hi2ZYpCly8inI0bKcQvwZIXyCQE28xbWkrQVvsF/mGYfQtfsF48siuN/lTYyRXbGltiN++SelHvwMMk5+ANDu/Vbkd84FdkNIBIJgvkb1CcGs+uq5cTJyRodw08zYiHEJBsS2cGXj9lZOY/J/2q4sD/6zG6EGn/qcTxMbHvt2ZwnQbHpRYs90j4y1DIrlZ4hi39NTn1Ee5G33yHIlAViuY74T6iLPOMnIP4riLBPCrH+4m08wvLIWj2okLmKRrzsNJNxk47lrLCGspR72xrOlo4eg6vbSGegJc0GoRTs6w8jn33enb3pr04eQQscVDvOIQ99vR3PltlyYU+SUgBzqVA2cYFUVHPkN61DcvY+ct3eoyBWy4hGtXjbE7JwfP+E5SUueajSPdOySOc7kxnHPO7D4CCl6ntdEPzEU1LgoPEBIs/JH60JQGL+s0uL9c4hWDs8lFt3wHi5u4YnwSVU9+NJDV/Zg/08XwGzTet+VRSwDyF3lGVms76caFETCrvl1LtdnFp+i0Q1+CS1u8evUNp0Eqjq5Nux3PwLDVHJTklQ1e0lx58F9T6I7nLDfWWQi79eyJs+NnjXDuaLAbek52eoOhV0G/dlmL79gTbJ7MkanRjn74j89lUoJ7LCrLiXyY12N1oTUvBksQzP+QvbcicbaM639e5ub8qTi2LfxLN1BzeI2D6F3crZi3QaCUtBHeUaWJZrvV2EYwi9RaHie0OXeBGwyjSExCc8iHJWr3aFpMcnouJeWZ472yWmLeWANq+7Ng7jbkgAVk6XRBmug1uiplFP+9J1aXMffWk94X6Kg/wBJo26u518jEfnmQtMvbY7RBWh7P/4cXg351qCt1Ggy1zKNkAyuUerrXXgYn5ZN/UbsaI4iflI8+/Uz55usQa/h3dPVOJkOnb6waJDrBoQWnGq59mmTrigLuIUmD4WWKxsDoLK24hMXR2EeE0KpJ08Uae0lCEHYVCtMnQtivYu2x5lIMOKpbPHujZzwUSM5jx3EP9Tqqixg1QbYQ4z7900/9vI0lM8zUcs41eY/I/Jr+WIaPSdBVw2Tk+WaBlXOAU9/SimAJasc8ZIW0SK8LhkkcU1UM6WEUP3p/4ZH9YI+D5tlPArlN3L4MLIOyvk2lTjHdBRoG3mpKzem6IUttL5ThDcD9L1rEXIrGPwbOdliWOfmJYtUWp7xf3g9xv+TFIipABci8EfnQwjkPoHPwt51TlJO8qXHkINMYDEph/lwOhENA/wI0MjjFWmW11dIjgWM463w+N0pHEvGbZ/mxTe1HfosznQcsLVmc/Qfklu+Y3ghUiPBkIHMwj9TM/T7pamhe9xr+6FjqIr8lkeYP7lzMruejztPp2TX1Lzf2DO35Nwez1URWNluMXlnrlojijd3cmXYY1UnvGrGrcvF69/+DFtIEQ9FFZc6HBBxb6aO+lX4orOBvKcrgpT3DS0c9DfWW171Lv5LvhbwxNPg/YLGdarIyM50k1Ojwyv9SUSFAWnL7gK0rvQJzhclOeF+CTijAGSAMX/3pwb0/9BU+Ts+AKDZFx3K/og0pN6dPUbFKEj4csyqAc4QBhln95kWt7+r1E7SI1HXbf2AvzVK5jf+7ZtN7Gxx7bVqj8K8ADFm+42igFGG7vauFLz6rSy4fxcJXrrkOGmfoJUrjjwfaJ+jWJze2FFQb0Mk02tOxQ6EtgpYFCJ7HikikYOX3nIMcwb1lYkpV8q6Ts1lIEQq1iHSyyhy8JKXS75pfibbi0hsiS+uDZqTErOETxzbz97QjiOjUcden6vx9+0EI0R/yDSLWQxgSjO7PEukiNJbaoFwsMilCQjmccfaqFhxgfDmRzuSzUDivYjaapEfl1TDuuRw8eRmADgZVNdG+1EF+zVkc5ykwEazXmWLmQEQS5GlrqZk4Vud1BcWbQbBI9FdtMdnw4NSJdQK+I1kg8J5NeBOLFP9rmaHCDJEFbFtF9cFUll0EKF/JgITfnwR1L8GmYwM37RClt238WfYjnyx/Iy/AYrthThzY5AsvPYzkEwy+8H6yTEiWT7qnJzyfD9z5BuxjZnqH/5R53aNTqT2WpaNv1RVl47xr4Z+/bl2magUWKSYLGOHoWhHbV7nh8lqUayL/C4oi9bwkzdzAEcWFJKe6zHUSyMb0zqHKsC4QLjDITTesrpdyaCfpO61pB3DK3KzCyt+Q2VHTU0ArUTYoCJTaZJexda22LnlB55FEN0gCzK8uJ0c4l+ovD6b6zjzaGRmOsbNCkSlPfZ7O3L9N5JYCLUFFHZUJfYtVTGuv+0KXOxwSBiEv4tiSF/MhHrGo8L5IH+ViW1+/mxZka+ZSDA9Xq2+5ekKKT9DS24FumxQhh6LU/ZxVNf+gYf5GNXZ9DRajD46MXQUeemnb+wwNIIoNOyEdqu6Gfx4uDS1CyWzC7HIpvlzRGUxax6F8P9d9Pz0q5sJJJqEWtLnXqb3pSZLFoHD+Pd95Aad0YjMsRhXpi9Dvrt3kQnEcJbq41duFglQfS6nH5fyAmBiV588LW+hqG4LkEBVR6AIaSQNQ6B57hmfnCSWvV5ALpeiq4BvgR4auxpt6wH7Rhi/boaPPE3NUm3gCMiw1UhpX63QkLAX6RA0NCO+xs5UWdXGLDDo8UCirAqg2jYz7a54/QSUyMO8NdX6oc9BMs4l6lud7Mi/Y25LQtOVWoNGwrT09K+FgwifbrDiUGj+cQkEZ1r/SVKTxoFBHuGPR2BkPAt7GM6+PuOXnQK9XDqCbJ4e4JPMdvjUZOrDfNjIktRO8Ggwz2sMKMkrNVuAMGdVG4Ss0P8yeUWgK166fShnUAVp1DmkeBmeOX4qfEGIxU5ZFoT1p8O7DAs9aAXgTLZo9QVxh7xXcs6VWTVBThwvOP3iWw0TwHLUwVjuVo7hbARWqtxzh7MI/P15D3YmRs7rF4Bp+BWsUhnsu8VLkFhKrUcqM6Rwlm4WNxO/eA+PSoXzTIO8kVmXxeTnitEhKCBj3Cl54jG/XjyWrG6YEdzht2rDUaHzJ/tvdnkfiVubg/VWVFo2pEqu0vS1O1pv22HZ8hr60+a6n8ptuN9zubLNiGKNGz04r9g1BDySqnSSkdW7WgveXR3ukIbUiyCwVP9hDzDaUIAcTlPV1zBEJujwsPefhs1XHNjcpwnBG6cETKPliLlC06Jm0/XRrMFrOBLsvy6UVEIIuXpHiWOw2DtNRLMcWS1Qdyko/KYOCE35iibwGwepTx03mFIewpABFdLOMzHUitdpKQIJPVJOGwxQIauTG6CAYaZoFeCX6jh9quVhseu1IfOu/WOfmw7Z9hdjQI3ftfgMJt4aWZwwmhZgQMYYPCU78I8aA/7E5Jb2Z6ch83gjyzhft6pIgoHI/XO8T//uRN8vQ+/ptZLL3qmRwI2x1QTLIx1Xd8mONbOXXmV8TfPGbM0YnX42CxFZCG699otZ/mHDay6U+HpPdlWzNLowzu5BBWD8Zv8FLJepoO00XA8nEzK00K+olvC3H44D0krVQJOnv59PpwevjFnsq3ZChzHfb5yilxQMTAMmf+G4JecA7/bGg980on5RwtQsf4V5vKKpGqbJIOyAlTv6SluLMFsyVclpXgRWB906N9mD575nQ1taOGWIFDgbsWP4zouySPicQIu3gl1hRIry2xo7qOSq998BSx5ssClHeS6iNQU0fUkVJlsRqihkCCiDQvgFlIA5qOhxJ3kHjqg610mDVpfAmCzcoTmdoiQrDwmd2WKTFO5ugBEZrzNSvZTiBqXEZ/4ot5XSfgybg1kAyUTpRCpEfuWs1n9dhHY9U1qbeOeFt+DMi/zfikrIvA1Ov+IxLR/qRbJ2vTJMC60WB9aDXE/JrFn7MjLvFu/XXcU+8Q1iRmXFgdgR2CoTeRozyz/4qPjBbTMMAxPn9LPviMoQR9b1b/gGdXe0y7PCJxqnddlvRB120XYmiLocaldjtXhYlnBFOR1djYZwXxtVw5Cnx0huQ2WHmm0b5IKHDVem+b8D2/hBHD+EVBF9nR3mJkQ4rQsGLJlR2LsSTXLDjRgykJDp5FFHiaPEcglR1TVnv0+0QJY3SQmicZ1R7W6J36hD8tMHkmKQ7dTL7hMzW9182WGlZ5xbX0XwnHhDGqW7WqoJSmuLcHxDNGtbfHpOpqPEoqd/+cOiprkiEStH4YBrN8KgSH22A1CF5JEA66TfECI6SBe2mHtjiP078gCjZalS4EeIAQFxT4aJ4NmTa/4i9ORSZZYhBMALJM7Z8ClXuCDTpXTUIzLgFIpMryvAQ/YGQlcwbC46aDTEoE91LwgkzM8Vw9E/yHDG7UTPBNSVInrFCvbb3IJue/DxCT3J/4i0/7ghCCRmrD84qnKcdofroO3RbIiP82ay49j22p4F+N3cqxOeqpomvkWJwcWoG/CPs/fibfGWPXE6tSUVb7rzYwsFE800Wt7TAt7UHoM6VkEeex8EcviiC/PY1LjBBE63mRWFs5z9pzRv4gCRjD5+9Ih97Qv8biPHyMusuQanw1+z82iPk3EMpVEyHKJddyYNqze1vRVPj0IBeoJEbPZhAg9kBHtDNrF45U/bmoqECusYxicrcD2LFP9pS6WsxqIbWuk01JoaGiE2AF7rpYDBoVnPtbGfs8fzEl3bdlQbq0wggU1OmCVhve8dPe5S38GQJMkfY+kCxoZoiAJUrbE2rx1HstxIXW49CyHgUOB0goEtprRd+euPMT0uUBuF4jMr8NpcqpP9dyLuMPPhpB1KFuMC4wlArlxBcH6n8cT/dQ5rTQX5di/nj1R55Nk9drzZTQxajUEakFNJpX+CtbO0Z7Taasj4N4WGFsQreJR+xboywEeMgufl4QCspDCOkDxD34WYHJKuhlktzywhuVzigSpvtzVUPR+XPzmM9fw0DGZdVybbW00qHLRZfG8tpt35pvERumnbygCZNehmKL8gY9rkqtY++WvIeSPH8CVK6zJIY7Z39ZCYgqfyjws07/UawdpVZswl5XmHL2BRq8Z4KJXeZTZdr/6hQ+zd++WBjC6Es+0ubqUcnlG7mM8yuydM55Oq4iRZPe7ecEaSsmQKj2/W/bz+VM9kkH5piCqteHWiBeA3L6ADHMuPZvcBTONekHm91neKhVkjNcFYdXKZuIWQakoKEikiX9a8XW2+MWQEkj0kYZfFYPBDPKrfsGtUDbSSy2yA+jze7BUUCrvdWRQeUkJoGM0FqmlByb9X/t+bsWjb8VTZbr6CBSFTGrk9gdumqoVBy7MlKN+2WH7GuXkZ5vpFNvrIEqPq61cW3P3pjddVg4wY3g7FiD9U2t3urwmafGLQplKn+iHFbYM9+/ufwwXmzvqC2KTk+QdvTKmh1fC8dWFNE28kgFoGJcGQprc+HlMIFamG0trJChzqjQz38+LGNI3XA3lxZ0MnWoSaow+j452bkHsshs5MnaBA1YJIbDXywewsqYAly7wDbD1sjrC3z0jcp0rrvhxdMTx9c2Dw7vHzYxOGbkZlBV73SzFLB7eEHVTVzAQzLcyCCiSKuW3oQjaPG9fmrwEX8+itI6AeewIFL4CYYdyW3eT4xyl796WfDD/M0LxXxTm27b8vdcskQ0Get2e+dQyaZFlXrF5FH5nXgPVdk+6Y/9YmSJaizU4SgnEMNBOjRah+vtrKA/rO5wTtiU/Yfo6TO2rCKcwOqmHscosub/i6AGSofh7ahMk/QbMQWohNBawiU71E69QCCYy0b+CjnC6x7zSWHmD8ts+wpB7tMqK9UwLyduH4trrHI78C+E7MV32uwjm8ZHnazwKPPRNauMSFTF98sIDq9zsN4uHKVa5ifBCiaR9mAYgFHoNvP0IpsRogNIe5As4n4ZibEg9StVY1VMInypaA1o+RqKUG0xp+DKu20c6Vmol4TP9wnex8k+zh4jyqOj8O9AsvbvTIMEFKTioJBXKVELMTwPoWuTXiz550nUh9o+LzNN4ttLp93yAqy8/KDdr3MBCxQX00uiPe1sdaiBKU63g97kIMGSCh1XQ/uroXBsYYstJ+CaFEAewPX5EKdD6t/WRe/rZJIPlxUF/xXncTSdL5j8z/4QOAHQCqPXwqB22w/DP529VPZM/xSkMn1t4ACSUgCBgzOmkzivuUm2K6KB3EikuUE3PUM5+V3537/vxcVIdyp4LgOOIvC6W2uZ8OB/XlwfjmwdlfMIp1wsJezQWYIiGWY1WqQLn5CEoB+TD4MKPXxbhWmnHRb5zzXZI/UYs2kFIUihKLTRfmuQVoQ60rmAri4Zc8qbq2VRtLgZyK5PHeiWK4TdbQqhBnZvXCRHNOTb1YyXnfFHEG9Vzd9ypjjESM/ye9J8/1cAvPDUvsOczHkhW4JfBOMBimENQ6yXpF05kqK61W8HOLvSxj7/hLyuY8/0XLQRxRndHCJHfBQji4Y01fucHwmhD66aI37tjO8bIUz2vW6TGEookmZQZ2aJDlo76kVFter6tcL9EFuiYjUr53Bzn4Fwsm9SHbtq5/Z//3VC5lmrsTrFmZ0zzsQcxLL2tuNR+qHfx+GgT5d5jc07OZg5tj89M+p78mq37yZCrnA1CslRwVEQrPNfydwKVDlkwBKCAtGj3Q9URcjTnvr9sYeYzM+FFvOcy+VPh8CgfP68FUnNtLjomp2uejVmM03J7AFIaiNulfHG0DeN+GyQGu9nTdOmIF8TxtVjkkRR2r0v+pGb0bjHTmlRkhlG8ZROp6ijBN5GhiSLc8TMea4qA9JKQ7Zuw/9Awe/bjUqBBIqt8rGCDmRN3/B4yjnIRlgermy4xJgwPjNVlPIH3BRLCvZH8wg/nDQZVws4ibLqZDPWTi0C/w88uXKqMxaizHJboubPmk3vD3j8A4MwSxwv4/GvLlmlFf9bdxckB2OicKt9F7HvOyUvcbdcGSqM3frslKog6yxcEWsUh1d5f+lf5yTdUBrz2K441u/wZtPuuZtpWciZH4MKNUMhTFRP+H8TndyxFOzBHnboe5B9zptOvnzNjamBV/1bSNR9HEomF1k+C1C/cnUGvPjQzgkpZ/OZkuy53yIe+PemEniqrJnBRZOwD8FsdJcEhv+uFLeDM733p/zCm3CKR6bYeBSAe1x/to2oiC1mdz9Wj5SVUr304sVgTGSNBv5TuNEx/py32pSvoxJ/PyI7yNEaJhduQkpzAKuX7zO1Cwgqs1BV0ofH/lOYpzmDI4mgxDgZuhxQNrdJ/vd7K5Gdn97cm+0zDiO6rj4/nFNWAC9kBs1rLRUNeqIIMSiGahwYc3ILGeRCxmxx1IgWsFlAfctev5UR+gXyhUBkthmj7KbHJG0KUcFbhvonYrr4wmEQzxOIjniMYRo71P16RZ+uhJ80unL49YBcA7uSU4ng5YrvfSf8KllHNdsYTkbxe9WAL5i52JE4o2+IOdMjqHL8UdoWyHOqWCt3W34q8on/adzZBmRRblQMrq6aq+zCmtgHFc3yzij2SL5sJwEP2rZzJ6ExGMo8HpbgTQzTQMNwSXFkJTzeiogEe4g1VJ5Dw3ydfgPCf7SaXcMeFqNFCGP02Wyhbyi4eZlYez/VNIIDDAjG08GxiqsZIJG/IjOz05rmE1ejaVdeRPTPmLlDMlFQ16lbBTe+VOUeaH9cp/b7UqCjvxXCUVMpKZmTjVqtWJNqQWPhWrdWJfwOpxpKL53taVa0lA3VxzA7QX/1hhX0od0OzHFGo/RKrKMN1ezmEGHegaiKVSKi4xVPhZ0L1vRCdgggZIEUu2s0QYp3DCct4N7OPUbEff6jIuC+G0aqW0CIIgzalMW3ryBVIXIbN+QQQRE5T07CAW5O9R57j1fWytwRFZn4/isY/+WmigMxVQcPw626hEXE3HFVEUdozoQ+PEc1YnmDig02GZLNzhL52kn8WqOgpM82xweVVubvVtiPnQdMWLiKUcuNPMInNFL764tya3Qpr5/AFzd3SsVGiHj7P7mwLn9eCufOCRdJAHiu+wbon1LwSTyouoocGXy327x2gewk+Bl3dhhkC8eZq/m1vIO8E+7B1+IpW19ERoH9msGeDZzmuugPF3UTb+JH9qwU/lilNP+yBOp7ImJI4Fd0TLNN2oCRHvq1TBi1QBCDFP97jJNhYnQED6xl0Q3zTtiwfvWMGcj/bGAo+iZC0R/39OmRrV8mEYofv6HhGntFkTVW0+Tkw0KZ54C+FxL3fk1+BHRbCvedDhxA+7L2dIm7zRH0aev7LbUfrJM3oS3h5+s/neLsKxPrzRPgfeomxySMUeIn+Ykz1/YMKDLN0l4UrsfJdJEe5c0DqkwOG9GJtSrGgekM4FRxOjf6wMuyYPDCIgAv6fRdu3NkhJmlPA5b5Onnf45YfkYe3erfBATLOF65ETrvjmyXaJDubzVLVKC0FcItLSrBlEuwBbsvLS2Sl9aBOdJDjdaOtzK9gieDc2dx93S+tSGMtOwahENb9TohsxcGEbDiJwZq+wsDThw5QwluXO8fbK6pf/SY7LwzD5cr4F1UDvDYwGQtqFJvDmF+egzcQ5NbEu/AO4aqkPK5v1A57symnwTSnJ15tVnYD1yAPaOdm5aDI7eZ6KlsPTGRKXNbLB48u9IsFcxRIpfnhp1KtUQ1TXj3GSXpIjbn1qk8+zCrvQQvLAP2MnijTl6WGkDgKUFjDMDIE5iSfVK10ajKOCMWZbp6NoD6OIBV8vx/sLLtFN50/XhFZbxu9emI+ZU+1It3/ixDGjzDaM/EnAdeAFvCps9itwwfYVLJrUIJswhbvSBnPsqbKNnjxhjqNQ2aUwCSAYadUOHmZimiiEdlUDsoJ86oJTzHtEZP1/xQ6jfS6+5zqZOE1ZSa/ZEFFHy/uwj0elpVNzgELYFudN/Atqerc2oQj+ZRf9fyoTxUdSbdK4nBjlVa7SVXUcOJn1CU8uneeYH0/RGAncNJ+9ALJZEd7F7VMGz8ej88u+ElmZkf/q5DolVapIwl2IzuRVSKTkp5cmSHJo+fRszNBLO1QAoFuuG2DiCp1OagRtJDunr4dTHxNB2YLYWPUJuMcw+ba9rvl+H9fcJefuv1ysursfJ2kU9vMSQArtWyLC3DCyrByXD9fNiDU/6+j/z4rFq90c289HRTMdydjfdGwnuxwLXBQLY1PU+ZIPL+dw/7oFzzGuLj8iVRgAc63TT7p6dyNrEhQGmCYmTpTTGa3zwhyG11OHcXpKn5th7fdgKB8o40LgyvgJ+051xpOvWXDCG7YrEIL/W98V1U8ow3/c/t5AJpLoC90dWfn8m9luJnpotOgdpvoomRjy/qWTIsnJloH0feDL6xSPxiNxY2lR53Bdm8epqoo//0gbF8b1tH8i8Ffu0bsCr89mghIadSOGh6GPDajcEz4jl7DfrSl6K5e5i+n8d48tV9yeb8FipgQVGudJaIYftKZIB4pkdlpqaGP/6sWCpwOMgPOrpE51JkFSzfNmkdmkfZiEvWlb47a1qkUqW1D0ESA4ruqm9KYgnyP6bUOkN3U2PWZRLNaeYvAvbuzAb0UEaixfO0l7DAGIwsHf1AusOei54gGOw8edL0gj815zqgwOZne5zAYrWjldY+rFrPx7c6kfM0uu7XVmI1FPK7XiTqtwwSOGBfyfAkuXRQQ3vw1rm4YiYm6E2X0rd0Vv2QjO1QYJnqshcAMpTYz87GjBym43Foi3VMSwWHe7iWZrHYIz98yf/0IYbOU7jLf6Uzj6EGqkcOVj0hhRB7Jts0N1yuRr3TKNshxO2N0rlo663Roz0wHOC8w5aohsEc+yEyGOEUBjkVTzZ+YnUFp48gqZuBlx04JiS3g5kePrAdQPInF/OWmbFn/5/s51pmaSh7OMozhMoC7XXSf9ezenfh6jcbVtGg8NXyP+6g1E6e+hiL+XcTTl71+2EnJrk5TW054apLZWQ+QHSrCeji0q68xx6V0IICkHCNaeba9l2/Rv7xPJZe+wJSdcRO9jEIf+H4FPx5X4tE/e8v9KFiaWJtDp+hCEn/6TUvL9gpfB6mMHKz9VAg7rZ2vAeRAzxI91DAE7DqIY1R2FyK7sk3RnqkMF37Ibo+iazmBRB30yhWYnxh5YJ+VnCGZW/RDIciKzEbyVHZSlFwakpq/X7yRphnxnMbfEAtRo1vXIqV1T3KF1ky/ErCYSxKAc1cQBIcvpS/YqgWIg8wPHVWpGY8IvsI+0RCKfAlKwHJAYAuDInhvsW9xdzUHxrD0hF2r+/ROETOWRgmp5FTQ1880q29DjiN9/ZWG7yaLWY+uCUDneWXkvnq3dYggpXE4Om5JY/9dUYkoEsAeM5YNyeW2arnw7vue6cNpNWHFcymLGlrhbrcyk9XKKpHSujTdMJo5q62A91wzqgLg6C0o8z4rOiARzyNu7HtsMs+jk+wT9Zay6qIODRyR2XUQdkKAOpPR3S7gZTUhBqdRoWFLcXLBh6Fk/7cOwXU3kHMTVfDYsCxmsYtrNM5htI5P7lZCfmD+TeKv2saTZ4u2NiRUxOZey2dqHdE5xiVw5xuJL7uUBiJun8P1FYjE6WF8L0fHm8hamU4SKruvVRolUXCosfQ7TtY/IDWkjZctKAlqhi+9CXbAEzlee4feXwhp5GdCRMnEdh70OSutH1AFUjJ1Tc0rGTFgusouRoAnitkY8g+3NiPSj/sqB1Vjk+KL6zAJIxv1GMYRUgwJI5ZiHwlWLJTCF2yBYoBEe445hcaj00iCqRgyYovqVjtN3QYbfubR18HXY7gyRbcxAuS56+VDy05IX64/rBqgQ7e6EdBB9dNR1QJsqSZg2VXpS5M47LpqvJONaKthqcOy9oy+leXNaiz84586X97LWbOl3MCtVLSRJgDpEQLQSBv4AeDeC9UkVaZDsp2q/vn7JOXsIczDPYLowlGyACBT66E5GOIZJI0m2znngvGflgM0Osf5dJWr8WgYPuZEdVR0bDFlNYhyIrd9YYWK/znimzTKfQ/FETwymltM/eXivcvmkwAlSfurhSjrdbC6u90M2dirLnNsA+4vrHex/V6b4talpiSBqAKSvifZohR/OoL414fGYaxvUggX21DJvgvZtLJ9lQq8qOBVl2pqftYYBPiBIr35C+GH9Ba5d8EiFqwzCcfvgoqDLrHOqhrkQ1mvPbvBHc0kAYnN1hroDLaZXYdo+IJ6i3i1rMuvEqDYWoLbpkzPt3gHfP1aRvIf5J2mD1hEX5kpIh+ZlbksnmDcLTvRIZg8wKmKfyuoFlqq4+tjurXkgt/+Glmv5NKqe86yS18R8L3kAUzZFYedf7+U0Euc0wi5jVrfphy0sYfatCYjz9orhx6PS+UJUD3wrfawcyL6JikQK+u3IqdLrZA2tvh4xRZ4akVYhBEutO0NDVjKZhzJI5yahCHbO1GurA7V1bE1JOYMcrTfvAogEVMX6jE8wNyHqbAQsWeFuAUp6qQw9n656Fchkei/USc6nVYlcqsVR5LEyRZ1bDXjAnIqX03PXNEKK6AnqokxxWSfL8BSPajs+Bdy0xwgOswXS+NTuQkPCYrfJB1M+x7pjGVMoopAS2a+btomLFXuCHFx4LvLjELIlT81stGvZcqwuVyFjuJ73lAuFCl+dnZQ0Ru+qeIFPxKw/bWJr6ICyYSWTa49/w1rRyeTWGWaCi0eF+f5sSJov6bxIuBU73sp+TZm56MVVMVrojKXmMMg2fd2ixxK7x48qjXUOurQiWxFqMmQzWXO6WKdZPh2NRgF4u+qz9AIuIGW4wX2r/LCCJ3HqcNGcs+BxtunNFqxa0ucDN89DFOEZRXDmcE7iLMDjJ6WHLxSsc3uBSZIOlKBJzaY06qZpfTpk/Ndlr+jdveAchpZL8GirB+qwVbVQv8VgLZw5kMqcHTOsEISN6Vwdveuf2mU43h4MdtZYxLcDC6IISNhRO+zUbqckU2ykqevpqZusCwxPWjJgYSkE5LiCtaLV8UCnLA6VyWqDVys13evHavIhrNnWPUq3Cn7ws3FnvnFg2aRjSFt9YHtdiZtJP72JZcIuBxWjEL0M9R0gtrTKpKl9pCcvC6B9usLBh3x2y5kFfRnqTyNmM7bS0ESfK1IPv1Jo38Cb3zYWWckIKws2KzRGJnLOOqVADnZmJC8KoUYGLqHr/7Sn/THikK5kdak8y6PTsjd6rkX81G7ogXdSSkKN5CxmhFtGVLCssaku1LFRYVgMAYAEDjA4q3Q56cQMTI7n78XR/yCSl66rKZzseXcipejLMcSBLb4IhwoVm+LQx206EGHM26Oft4cwUas1YD+V8kLBim6zSVXA4bUp7kPvR5mEAfR5SIE8xckCzkUE6VL6KkEBiITFoPNhVCBYGJ2B3Ulzeo1D5Qj9EBjhZ75Y9zWnwDMPvzdTH0DeadfOJPY3dwhGqr1SX9jwq3lXL1YaNeqWCMq0io6MkZYYC/kSZOyqdXsYGdIOrgIwnVtLcHLkWs+DmXIcJn+padRGnxNqi2XKVRyWmQxYsIPS3ACP3rBhOoiLoR5b2j4jwjvqy7Tnf4iWZtLApHVEudkrBcNqiOmpI8nLdihdKPVe5b2vLSBnuezlVZqkesYHJzO7uqzwDwjm8kG4cFLKNZmzreKy4QgO2S9XHk/NyGpScqwXXZT8OjMr7eRJKPzdUjtXcVA4dOpOrmsEX5vPbBG845evtz0+G2hTqP8go5NphCZdwUjBMRN9L+NUzf1d2QJERq8PTv0c+aZB9OUQ8n9XAjq2U+FKsHu8yUa1vBjQIWTBsfcvX0r5cQju/gapJSiUQ1MDNQkwaHzmLH7vJo+gd/RORPGVuNetAWXxKBKBSfAxYC61J15pirw5jhq6ViI0MUsbyZZHxaRgXBYeM94OzBZ9ft/8G2xI6ytxahXSKp2iXi9ZFL3A09Slzqh9KH3PLBjUXXEDT4KkiiI8/j172734VMiskMeGSPRjB5rVn4X396qn9Go9jadOGsnBqpaoGc9HWTaMvKzjk0oAVAee2hOiIn+CzPTx+QeR6Wo5n6mo7cP8d7bsntpS36AtAwXqe+nnZyQ3De31VeiOGqZKFGuCEBQB29l/d0CpyrPLcrUU57jewbwQxU8+LovJAQohNzPDsE/VU3mrzXkvWyH5PvP+zooc+n8aBjYVLRwsg8xtvMTQOCIXNH1XTqaUF+dFkOkjiPh/9VvNi9onkM8rJcoXvcprp41VBEJfeE/Ti90wVP2sQYkW8irhAzuIH0hU47m6L0WsNSSR0hRDwacYFf8ClxX50GjQej7p4WWwjMxFO+fUTN5V1WwxvXZ+u+Oc3rMplFN9gzue3ylJNjrvVce44G2dYpXOV7fKszZ228ReVFwuMBndLl8aisHr2xYCjXIhQDb7lOtPOHtoXzgBLC4IRA6XsLj5EkD62KS/admZ5vgVcN6PvKz1wS3KcFOFT8dQT5eycRgPtEC3D2wsda66a0i/XP6oTJzNf/FQL4rTIeLXQmpb1W5E8T6OLMv34tR8lvAwXy31hv4fH+zKn0WpwycMMzjOOH8xT0lL60AkbZgFwakcntk5ugj6b2AWJjrLiH56MtvirsfsSbu4DdoHlAe4Z9WfmiDAGuFKptkJ+6Ahmvef6HT5VGepf4iEnLCX0ipqGmTb8V7aE/j2erKQrGU1LIS5gQ3luyIizNY0abSQ30WOqqBjOtQc8D6JFTZOG4EnGkOoXO63EKCkrDijdVMkOJBgI0XcQeJu5cLKsb1hHhVcLKxeTx2rzg4wt/izX2/Z0CuVpNtB2i6Du7Ey12DsHxKMpZPvOQEMzTQqPMon26ePtAznnYgZNFsVkjceEAHCSqfJnGlHoD5D/iQixXa2jRSVnBzKHos+ztxFXORgyW79l3OEe3UArfj7XyocUqUQCZaubolABXf5iChuEyPvMW+zCheFiHLTEUQ2awWYKI5zZJPdo1TtRnk8KMHhISWQdRBST2DceZZl6SFSFYYnL0kwCjGSWwNl60ZAuAlFnBB4mn3yq6ggi1tszssPzRZrNxDhHLBmWhHl7Ls4f5Fopv1d7wnZIxulkApuUiAeZUFJ8DiPSXs79wtqTLYOFDuYdUzyVSRTh3Pb2uwHNqOrJAmW3deZmW3Hq9uAYtWZAiI/8FO1lTcDF3/nEgB7I5oTCoAM6DJdPnQdzznNFcOVqZjL+nQrDSxMoRhDBNGLH3bv3kDm3+3uJSmFYabCSsidIf3AvvW7/sfQgA8/DUgAwvh1z118ainRewIGMnFkxm8TF9FxhEHZSG46132n9T+bHskbP8VsiSY9qQpneHp/D9kQxxs2K94zFLcZEm0c7pRvqokKkLWWAIGt4RmmW6aZXMvNnY5IFnbzYEiPpcC53VJpE9WLrQx6Cx1RAq+GcW8xY+s0ZwsFCNiJ2A2Hxr9Dm43rX9x1CCqGUlq4bH4PE8mix4JX918MO6j7fb/g5SdrMhNpDMaNM8mhEOJNoKR+UxvHwWdqFaz50N31zgZAAcl800VagOOzG2o6JXGkMSECkEVAy33J9ZyJSJBfo90q2sH3yVu3RLCrbTXf+2POp5dIMrGU1grHNJNUyLqP3fxW7qsRSnO4LMWl2EDIFPs99zInqFVB8bKGl9k7SV7QRHLrUAxDAvR0hV9qUX5ueublUhvP8mnA92OuCypCupYtB1jQXvbJbF8sUhzKQvb/Z12xwp++BcdkP6DfxCHp88y4LOZMOwwumX/ww134bPsvpNrWnEEs1NvvUhg7eKnixDTERslmISmUjFwTfh1MTDQdW4WsMWfcAoz3i2u//Eng22D6JSY3OCKP4Mt0mpB6T3qnnei6OUVBicQnmBCeH7/F8xCIcxenU/jnt/h+mTR1DfddghRPU0uV97tht0KXirvA41NtEXMIT3ztC1mNVH7y3N09US3qhXcAl22O25N1p2C3SU0vYVxgFA/UUsinXfvg7wpeVL8GTU97Vmg0nqO6ynDN9gm0Ly5LV6LkVhbUzzXfEin3P27jKAHNftUWKUXNBULwA1AkLnI3riJEwSCA/w4arRj8n0a7lPEeS6AQe6BmyljtD93qJDch+ErO6OEi2KsqaBuf70dBCYXfqJrURMiHZyJ6Syk3UjdQ1Zt48JFGkRK+kR+Uiv6/pVnBrbWSX0tyJTsZcctuNrvGPJ2huCsbgA29INdmU9i9SfEwB8f5MCRILqrS2MGuxK9/tC2ckJpDGyT7WPrSGzLiMD/Zyfio9RGgSx5STJCIFV9nUVA=">
            <a:extLst>
              <a:ext uri="{FF2B5EF4-FFF2-40B4-BE49-F238E27FC236}">
                <a16:creationId xmlns:a16="http://schemas.microsoft.com/office/drawing/2014/main" id="{593C0805-420F-40C4-81FB-3975DE3BB6C8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 bwMode="gray">
          <a:xfrm>
            <a:off x="388691" y="1268413"/>
            <a:ext cx="2965129" cy="5489490"/>
          </a:xfrm>
          <a:prstGeom prst="rect">
            <a:avLst/>
          </a:prstGeom>
          <a:blipFill>
            <a:blip r:embed="rId31"/>
            <a:stretch>
              <a:fillRect/>
            </a:stretch>
          </a:blip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grpSp>
        <p:nvGrpSpPr>
          <p:cNvPr id="56" name="btfpRowHeaderBox807881">
            <a:extLst>
              <a:ext uri="{FF2B5EF4-FFF2-40B4-BE49-F238E27FC236}">
                <a16:creationId xmlns:a16="http://schemas.microsoft.com/office/drawing/2014/main" id="{CBC6A193-A809-485D-982A-C65B0AF6291A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3564058" y="5314039"/>
            <a:ext cx="1506521" cy="524304"/>
            <a:chOff x="330200" y="1270000"/>
            <a:chExt cx="2477492" cy="972979"/>
          </a:xfrm>
        </p:grpSpPr>
        <p:sp>
          <p:nvSpPr>
            <p:cNvPr id="63" name="btfpRowHeaderBoxText807881">
              <a:extLst>
                <a:ext uri="{FF2B5EF4-FFF2-40B4-BE49-F238E27FC236}">
                  <a16:creationId xmlns:a16="http://schemas.microsoft.com/office/drawing/2014/main" id="{A6051B96-F3B2-449B-8876-5CB8FD1C4364}"/>
                </a:ext>
              </a:extLst>
            </p:cNvPr>
            <p:cNvSpPr txBox="1"/>
            <p:nvPr/>
          </p:nvSpPr>
          <p:spPr bwMode="gray">
            <a:xfrm>
              <a:off x="330200" y="1270000"/>
              <a:ext cx="2477492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400" b="1" err="1">
                  <a:solidFill>
                    <a:srgbClr val="507867"/>
                  </a:solidFill>
                </a:rPr>
                <a:t>CapEx</a:t>
              </a:r>
              <a:r>
                <a:rPr lang="en-US" sz="1400" b="1">
                  <a:solidFill>
                    <a:srgbClr val="507867"/>
                  </a:solidFill>
                </a:rPr>
                <a:t> </a:t>
              </a:r>
              <a:r>
                <a:rPr lang="en-US" sz="1100" b="1">
                  <a:solidFill>
                    <a:srgbClr val="507867"/>
                  </a:solidFill>
                </a:rPr>
                <a:t>(excl. IT) </a:t>
              </a:r>
            </a:p>
          </p:txBody>
        </p:sp>
        <p:cxnSp>
          <p:nvCxnSpPr>
            <p:cNvPr id="68" name="btfpRowHeaderBoxLine807881">
              <a:extLst>
                <a:ext uri="{FF2B5EF4-FFF2-40B4-BE49-F238E27FC236}">
                  <a16:creationId xmlns:a16="http://schemas.microsoft.com/office/drawing/2014/main" id="{15BD2438-8E8B-44B9-9D99-CC990BA3144D}"/>
                </a:ext>
              </a:extLst>
            </p:cNvPr>
            <p:cNvCxnSpPr/>
            <p:nvPr/>
          </p:nvCxnSpPr>
          <p:spPr bwMode="gray">
            <a:xfrm>
              <a:off x="2807692" y="1270000"/>
              <a:ext cx="0" cy="972979"/>
            </a:xfrm>
            <a:prstGeom prst="line">
              <a:avLst/>
            </a:prstGeom>
            <a:ln w="152400" cap="flat">
              <a:solidFill>
                <a:srgbClr val="507867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btfpBulletedList196696">
            <a:extLst>
              <a:ext uri="{FF2B5EF4-FFF2-40B4-BE49-F238E27FC236}">
                <a16:creationId xmlns:a16="http://schemas.microsoft.com/office/drawing/2014/main" id="{2EE202BD-95D9-4341-82AB-C05DC89228E4}"/>
              </a:ext>
            </a:extLst>
          </p:cNvPr>
          <p:cNvSpPr txBox="1"/>
          <p:nvPr>
            <p:custDataLst>
              <p:tags r:id="rId15"/>
            </p:custDataLst>
          </p:nvPr>
        </p:nvSpPr>
        <p:spPr bwMode="gray">
          <a:xfrm>
            <a:off x="5246121" y="1799196"/>
            <a:ext cx="1541572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400" b="1"/>
              <a:t>$16M</a:t>
            </a:r>
            <a:endParaRPr lang="en-US" sz="1400" i="1"/>
          </a:p>
        </p:txBody>
      </p:sp>
      <p:sp>
        <p:nvSpPr>
          <p:cNvPr id="70" name="btfpBulletedList196696">
            <a:extLst>
              <a:ext uri="{FF2B5EF4-FFF2-40B4-BE49-F238E27FC236}">
                <a16:creationId xmlns:a16="http://schemas.microsoft.com/office/drawing/2014/main" id="{B24D8340-EE44-4F38-997E-67AC6FFEC25E}"/>
              </a:ext>
            </a:extLst>
          </p:cNvPr>
          <p:cNvSpPr txBox="1"/>
          <p:nvPr>
            <p:custDataLst>
              <p:tags r:id="rId16"/>
            </p:custDataLst>
          </p:nvPr>
        </p:nvSpPr>
        <p:spPr bwMode="gray">
          <a:xfrm>
            <a:off x="5246121" y="2409671"/>
            <a:ext cx="1410605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</a:rPr>
              <a:t>$8M</a:t>
            </a:r>
          </a:p>
        </p:txBody>
      </p:sp>
      <p:sp>
        <p:nvSpPr>
          <p:cNvPr id="71" name="btfpBulletedList196696">
            <a:extLst>
              <a:ext uri="{FF2B5EF4-FFF2-40B4-BE49-F238E27FC236}">
                <a16:creationId xmlns:a16="http://schemas.microsoft.com/office/drawing/2014/main" id="{C9473F4C-ADB3-4208-8B91-527A62AE3391}"/>
              </a:ext>
            </a:extLst>
          </p:cNvPr>
          <p:cNvSpPr txBox="1"/>
          <p:nvPr>
            <p:custDataLst>
              <p:tags r:id="rId17"/>
            </p:custDataLst>
          </p:nvPr>
        </p:nvSpPr>
        <p:spPr bwMode="gray">
          <a:xfrm>
            <a:off x="5246121" y="3908187"/>
            <a:ext cx="1405349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400" b="1"/>
              <a:t>$175M</a:t>
            </a:r>
            <a:endParaRPr lang="en-US" sz="1000" i="1"/>
          </a:p>
        </p:txBody>
      </p:sp>
      <p:sp>
        <p:nvSpPr>
          <p:cNvPr id="73" name="btfpBulletedList196696">
            <a:extLst>
              <a:ext uri="{FF2B5EF4-FFF2-40B4-BE49-F238E27FC236}">
                <a16:creationId xmlns:a16="http://schemas.microsoft.com/office/drawing/2014/main" id="{5FA8722D-DDDC-4130-A5FD-21E652656F60}"/>
              </a:ext>
            </a:extLst>
          </p:cNvPr>
          <p:cNvSpPr txBox="1"/>
          <p:nvPr>
            <p:custDataLst>
              <p:tags r:id="rId18"/>
            </p:custDataLst>
          </p:nvPr>
        </p:nvSpPr>
        <p:spPr bwMode="gray">
          <a:xfrm>
            <a:off x="5246121" y="4481152"/>
            <a:ext cx="1241445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400" b="1"/>
              <a:t>$34M</a:t>
            </a:r>
            <a:endParaRPr lang="en-US" sz="1000" i="1"/>
          </a:p>
        </p:txBody>
      </p:sp>
      <p:sp>
        <p:nvSpPr>
          <p:cNvPr id="74" name="btfpBulletedList196696">
            <a:extLst>
              <a:ext uri="{FF2B5EF4-FFF2-40B4-BE49-F238E27FC236}">
                <a16:creationId xmlns:a16="http://schemas.microsoft.com/office/drawing/2014/main" id="{73764865-400D-42A8-9885-460B6F25BF31}"/>
              </a:ext>
            </a:extLst>
          </p:cNvPr>
          <p:cNvSpPr txBox="1"/>
          <p:nvPr>
            <p:custDataLst>
              <p:tags r:id="rId19"/>
            </p:custDataLst>
          </p:nvPr>
        </p:nvSpPr>
        <p:spPr bwMode="gray">
          <a:xfrm>
            <a:off x="5246121" y="5354243"/>
            <a:ext cx="1352641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400" b="1"/>
              <a:t>$43M</a:t>
            </a:r>
            <a:endParaRPr lang="en-US" sz="1000" i="1"/>
          </a:p>
        </p:txBody>
      </p:sp>
      <p:sp>
        <p:nvSpPr>
          <p:cNvPr id="78" name="btfpBulletedList196696">
            <a:extLst>
              <a:ext uri="{FF2B5EF4-FFF2-40B4-BE49-F238E27FC236}">
                <a16:creationId xmlns:a16="http://schemas.microsoft.com/office/drawing/2014/main" id="{0F0B27DA-6023-4232-A6E2-DFF7CDD709E7}"/>
              </a:ext>
            </a:extLst>
          </p:cNvPr>
          <p:cNvSpPr txBox="1"/>
          <p:nvPr>
            <p:custDataLst>
              <p:tags r:id="rId20"/>
            </p:custDataLst>
          </p:nvPr>
        </p:nvSpPr>
        <p:spPr bwMode="gray">
          <a:xfrm>
            <a:off x="5246121" y="5889627"/>
            <a:ext cx="1352641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400" b="1"/>
              <a:t>~$500M</a:t>
            </a:r>
          </a:p>
        </p:txBody>
      </p:sp>
      <p:sp>
        <p:nvSpPr>
          <p:cNvPr id="83" name="btfpBulletedList196696">
            <a:extLst>
              <a:ext uri="{FF2B5EF4-FFF2-40B4-BE49-F238E27FC236}">
                <a16:creationId xmlns:a16="http://schemas.microsoft.com/office/drawing/2014/main" id="{CDD9DCCA-82B5-4B2B-9A9C-214EC017F651}"/>
              </a:ext>
            </a:extLst>
          </p:cNvPr>
          <p:cNvSpPr txBox="1"/>
          <p:nvPr>
            <p:custDataLst>
              <p:tags r:id="rId21"/>
            </p:custDataLst>
          </p:nvPr>
        </p:nvSpPr>
        <p:spPr bwMode="gray">
          <a:xfrm>
            <a:off x="6848466" y="4308256"/>
            <a:ext cx="5003802" cy="631831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>
              <a:spcBef>
                <a:spcPts val="200"/>
              </a:spcBef>
            </a:pPr>
            <a:r>
              <a:rPr lang="en-US" sz="1100"/>
              <a:t>More efficient operations and lower overhead driven by staff reductions</a:t>
            </a:r>
          </a:p>
          <a:p>
            <a:pPr>
              <a:spcBef>
                <a:spcPts val="200"/>
              </a:spcBef>
            </a:pPr>
            <a:r>
              <a:rPr lang="en-US" sz="1100"/>
              <a:t>Streamlined Shared Services operations</a:t>
            </a:r>
          </a:p>
          <a:p>
            <a:pPr>
              <a:spcBef>
                <a:spcPts val="200"/>
              </a:spcBef>
            </a:pPr>
            <a:r>
              <a:rPr lang="en-US" sz="1100"/>
              <a:t>Property tax and legal cost savings </a:t>
            </a:r>
            <a:endParaRPr lang="en-US" sz="900"/>
          </a:p>
        </p:txBody>
      </p:sp>
      <p:grpSp>
        <p:nvGrpSpPr>
          <p:cNvPr id="67" name="btfpRowHeaderBox807881">
            <a:extLst>
              <a:ext uri="{FF2B5EF4-FFF2-40B4-BE49-F238E27FC236}">
                <a16:creationId xmlns:a16="http://schemas.microsoft.com/office/drawing/2014/main" id="{DA9D5A9D-D3FA-42EF-8160-CF03183BF24A}"/>
              </a:ext>
            </a:extLst>
          </p:cNvPr>
          <p:cNvGrpSpPr/>
          <p:nvPr>
            <p:custDataLst>
              <p:tags r:id="rId22"/>
            </p:custDataLst>
          </p:nvPr>
        </p:nvGrpSpPr>
        <p:grpSpPr>
          <a:xfrm>
            <a:off x="3564058" y="2941291"/>
            <a:ext cx="1506521" cy="796042"/>
            <a:chOff x="330200" y="1270000"/>
            <a:chExt cx="2477492" cy="972979"/>
          </a:xfrm>
        </p:grpSpPr>
        <p:sp>
          <p:nvSpPr>
            <p:cNvPr id="75" name="btfpRowHeaderBoxText807881">
              <a:extLst>
                <a:ext uri="{FF2B5EF4-FFF2-40B4-BE49-F238E27FC236}">
                  <a16:creationId xmlns:a16="http://schemas.microsoft.com/office/drawing/2014/main" id="{AFD36969-9F75-46E6-A687-E74DEE463DB3}"/>
                </a:ext>
              </a:extLst>
            </p:cNvPr>
            <p:cNvSpPr txBox="1"/>
            <p:nvPr/>
          </p:nvSpPr>
          <p:spPr bwMode="gray">
            <a:xfrm>
              <a:off x="330200" y="1270000"/>
              <a:ext cx="2477492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400" b="1">
                  <a:solidFill>
                    <a:srgbClr val="46647B"/>
                  </a:solidFill>
                </a:rPr>
                <a:t>GNFR</a:t>
              </a:r>
            </a:p>
          </p:txBody>
        </p:sp>
        <p:cxnSp>
          <p:nvCxnSpPr>
            <p:cNvPr id="84" name="btfpRowHeaderBoxLine807881">
              <a:extLst>
                <a:ext uri="{FF2B5EF4-FFF2-40B4-BE49-F238E27FC236}">
                  <a16:creationId xmlns:a16="http://schemas.microsoft.com/office/drawing/2014/main" id="{3F0A336A-FC03-420E-837B-0807362F4C86}"/>
                </a:ext>
              </a:extLst>
            </p:cNvPr>
            <p:cNvCxnSpPr/>
            <p:nvPr/>
          </p:nvCxnSpPr>
          <p:spPr bwMode="gray">
            <a:xfrm>
              <a:off x="2807692" y="1270000"/>
              <a:ext cx="0" cy="972979"/>
            </a:xfrm>
            <a:prstGeom prst="line">
              <a:avLst/>
            </a:prstGeom>
            <a:ln w="152400" cap="flat">
              <a:solidFill>
                <a:srgbClr val="46647B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btfpBulletedList196696">
            <a:extLst>
              <a:ext uri="{FF2B5EF4-FFF2-40B4-BE49-F238E27FC236}">
                <a16:creationId xmlns:a16="http://schemas.microsoft.com/office/drawing/2014/main" id="{8122C025-2E18-489D-BE04-3DFDC6485CA5}"/>
              </a:ext>
            </a:extLst>
          </p:cNvPr>
          <p:cNvSpPr txBox="1"/>
          <p:nvPr>
            <p:custDataLst>
              <p:tags r:id="rId23"/>
            </p:custDataLst>
          </p:nvPr>
        </p:nvSpPr>
        <p:spPr bwMode="gray">
          <a:xfrm>
            <a:off x="5246121" y="3195239"/>
            <a:ext cx="1396166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400" b="1"/>
              <a:t>$208M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D6EABB-BE5F-4734-B992-9262A172A0E4}"/>
              </a:ext>
            </a:extLst>
          </p:cNvPr>
          <p:cNvCxnSpPr/>
          <p:nvPr/>
        </p:nvCxnSpPr>
        <p:spPr bwMode="gray">
          <a:xfrm>
            <a:off x="5205404" y="2242934"/>
            <a:ext cx="6646862" cy="0"/>
          </a:xfrm>
          <a:prstGeom prst="line">
            <a:avLst/>
          </a:prstGeom>
          <a:ln w="9525" cap="flat">
            <a:solidFill>
              <a:schemeClr val="tx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2A60C05-AC62-4E66-9C7B-4937124AC19E}"/>
              </a:ext>
            </a:extLst>
          </p:cNvPr>
          <p:cNvCxnSpPr/>
          <p:nvPr/>
        </p:nvCxnSpPr>
        <p:spPr bwMode="gray">
          <a:xfrm>
            <a:off x="5205404" y="2883612"/>
            <a:ext cx="6646862" cy="0"/>
          </a:xfrm>
          <a:prstGeom prst="line">
            <a:avLst/>
          </a:prstGeom>
          <a:ln w="9525" cap="flat">
            <a:solidFill>
              <a:schemeClr val="tx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19D912B-F968-478C-B118-941F13C05BCB}"/>
              </a:ext>
            </a:extLst>
          </p:cNvPr>
          <p:cNvCxnSpPr/>
          <p:nvPr/>
        </p:nvCxnSpPr>
        <p:spPr bwMode="gray">
          <a:xfrm>
            <a:off x="5205404" y="3773423"/>
            <a:ext cx="6646862" cy="0"/>
          </a:xfrm>
          <a:prstGeom prst="line">
            <a:avLst/>
          </a:prstGeom>
          <a:ln w="9525" cap="flat">
            <a:solidFill>
              <a:schemeClr val="tx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0A19C7A-91BE-4651-B58B-528EBF75BAB9}"/>
              </a:ext>
            </a:extLst>
          </p:cNvPr>
          <p:cNvCxnSpPr/>
          <p:nvPr/>
        </p:nvCxnSpPr>
        <p:spPr bwMode="gray">
          <a:xfrm>
            <a:off x="5205404" y="4301310"/>
            <a:ext cx="6646862" cy="0"/>
          </a:xfrm>
          <a:prstGeom prst="line">
            <a:avLst/>
          </a:prstGeom>
          <a:ln w="9525" cap="flat">
            <a:solidFill>
              <a:schemeClr val="tx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1FFA8ED-A55B-4604-89CC-7876D9AC4B61}"/>
              </a:ext>
            </a:extLst>
          </p:cNvPr>
          <p:cNvCxnSpPr/>
          <p:nvPr/>
        </p:nvCxnSpPr>
        <p:spPr bwMode="gray">
          <a:xfrm>
            <a:off x="5205404" y="4925710"/>
            <a:ext cx="6646862" cy="0"/>
          </a:xfrm>
          <a:prstGeom prst="line">
            <a:avLst/>
          </a:prstGeom>
          <a:ln w="9525" cap="flat">
            <a:solidFill>
              <a:schemeClr val="tx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0081CBA-B382-49BF-8CA7-6A4447BEEBEF}"/>
              </a:ext>
            </a:extLst>
          </p:cNvPr>
          <p:cNvCxnSpPr>
            <a:cxnSpLocks/>
          </p:cNvCxnSpPr>
          <p:nvPr/>
        </p:nvCxnSpPr>
        <p:spPr bwMode="gray">
          <a:xfrm>
            <a:off x="3564057" y="5895728"/>
            <a:ext cx="8300053" cy="0"/>
          </a:xfrm>
          <a:prstGeom prst="line">
            <a:avLst/>
          </a:prstGeom>
          <a:ln w="9525" cap="flat">
            <a:solidFill>
              <a:schemeClr val="tx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btfpBulletedList196696">
            <a:extLst>
              <a:ext uri="{FF2B5EF4-FFF2-40B4-BE49-F238E27FC236}">
                <a16:creationId xmlns:a16="http://schemas.microsoft.com/office/drawing/2014/main" id="{11E399E9-54BD-4C73-9EA6-3BE3C2F3BD1F}"/>
              </a:ext>
            </a:extLst>
          </p:cNvPr>
          <p:cNvSpPr txBox="1"/>
          <p:nvPr>
            <p:custDataLst>
              <p:tags r:id="rId24"/>
            </p:custDataLst>
          </p:nvPr>
        </p:nvSpPr>
        <p:spPr bwMode="gray">
          <a:xfrm>
            <a:off x="6857999" y="2923251"/>
            <a:ext cx="4989499" cy="826756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lvl="0">
              <a:spcBef>
                <a:spcPts val="200"/>
              </a:spcBef>
              <a:defRPr/>
            </a:pPr>
            <a:r>
              <a:rPr lang="en-US" sz="1100"/>
              <a:t>Cloud-based tools to monitor cashier performance</a:t>
            </a:r>
          </a:p>
          <a:p>
            <a:pPr lvl="0">
              <a:spcBef>
                <a:spcPts val="200"/>
              </a:spcBef>
              <a:defRPr/>
            </a:pPr>
            <a:r>
              <a:rPr lang="en-US" sz="1100"/>
              <a:t>Inventory shrink and margin improvements   </a:t>
            </a:r>
          </a:p>
          <a:p>
            <a:pPr>
              <a:spcBef>
                <a:spcPts val="200"/>
              </a:spcBef>
              <a:defRPr/>
            </a:pPr>
            <a:r>
              <a:rPr lang="en-US" sz="1100"/>
              <a:t>Reduced BU media spend</a:t>
            </a:r>
          </a:p>
          <a:p>
            <a:pPr>
              <a:spcBef>
                <a:spcPts val="200"/>
              </a:spcBef>
              <a:defRPr/>
            </a:pPr>
            <a:r>
              <a:rPr lang="en-US" sz="1100"/>
              <a:t>Lease term renegotiations</a:t>
            </a:r>
          </a:p>
        </p:txBody>
      </p:sp>
      <p:grpSp>
        <p:nvGrpSpPr>
          <p:cNvPr id="77" name="btfpRowHeaderBox807881">
            <a:extLst>
              <a:ext uri="{FF2B5EF4-FFF2-40B4-BE49-F238E27FC236}">
                <a16:creationId xmlns:a16="http://schemas.microsoft.com/office/drawing/2014/main" id="{DCB104A1-69EB-44EE-95CA-175D80A07DCB}"/>
              </a:ext>
            </a:extLst>
          </p:cNvPr>
          <p:cNvGrpSpPr/>
          <p:nvPr>
            <p:custDataLst>
              <p:tags r:id="rId25"/>
            </p:custDataLst>
          </p:nvPr>
        </p:nvGrpSpPr>
        <p:grpSpPr>
          <a:xfrm>
            <a:off x="3565424" y="4964217"/>
            <a:ext cx="1506521" cy="276972"/>
            <a:chOff x="330200" y="1270000"/>
            <a:chExt cx="2477492" cy="972979"/>
          </a:xfrm>
        </p:grpSpPr>
        <p:sp>
          <p:nvSpPr>
            <p:cNvPr id="80" name="btfpRowHeaderBoxText807881">
              <a:extLst>
                <a:ext uri="{FF2B5EF4-FFF2-40B4-BE49-F238E27FC236}">
                  <a16:creationId xmlns:a16="http://schemas.microsoft.com/office/drawing/2014/main" id="{4E037497-634D-455F-9255-A1AED8B9FAB1}"/>
                </a:ext>
              </a:extLst>
            </p:cNvPr>
            <p:cNvSpPr txBox="1"/>
            <p:nvPr/>
          </p:nvSpPr>
          <p:spPr bwMode="gray">
            <a:xfrm>
              <a:off x="330200" y="1270000"/>
              <a:ext cx="2477492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400" b="1">
                  <a:solidFill>
                    <a:srgbClr val="BBCABA"/>
                  </a:solidFill>
                </a:rPr>
                <a:t>IT</a:t>
              </a:r>
              <a:r>
                <a:rPr lang="en-US" sz="1000" b="1">
                  <a:solidFill>
                    <a:srgbClr val="BBCABA"/>
                  </a:solidFill>
                </a:rPr>
                <a:t> (</a:t>
              </a:r>
              <a:r>
                <a:rPr lang="en-US" sz="1000" b="1" err="1">
                  <a:solidFill>
                    <a:srgbClr val="BBCABA"/>
                  </a:solidFill>
                </a:rPr>
                <a:t>OpEx</a:t>
              </a:r>
              <a:r>
                <a:rPr lang="en-US" sz="1000" b="1">
                  <a:solidFill>
                    <a:srgbClr val="BBCABA"/>
                  </a:solidFill>
                </a:rPr>
                <a:t> &amp; </a:t>
              </a:r>
              <a:r>
                <a:rPr lang="en-US" sz="1000" b="1" err="1">
                  <a:solidFill>
                    <a:srgbClr val="BBCABA"/>
                  </a:solidFill>
                </a:rPr>
                <a:t>CapEx</a:t>
              </a:r>
              <a:r>
                <a:rPr lang="en-US" sz="1000" b="1">
                  <a:solidFill>
                    <a:srgbClr val="BBCABA"/>
                  </a:solidFill>
                </a:rPr>
                <a:t>) </a:t>
              </a:r>
              <a:endParaRPr lang="en-US" sz="1400" b="1">
                <a:solidFill>
                  <a:srgbClr val="BBCABA"/>
                </a:solidFill>
              </a:endParaRPr>
            </a:p>
          </p:txBody>
        </p:sp>
        <p:cxnSp>
          <p:nvCxnSpPr>
            <p:cNvPr id="81" name="btfpRowHeaderBoxLine807881">
              <a:extLst>
                <a:ext uri="{FF2B5EF4-FFF2-40B4-BE49-F238E27FC236}">
                  <a16:creationId xmlns:a16="http://schemas.microsoft.com/office/drawing/2014/main" id="{15D34B1C-186B-4844-BEF1-702E8FD7D363}"/>
                </a:ext>
              </a:extLst>
            </p:cNvPr>
            <p:cNvCxnSpPr/>
            <p:nvPr/>
          </p:nvCxnSpPr>
          <p:spPr bwMode="gray">
            <a:xfrm>
              <a:off x="2807692" y="1270000"/>
              <a:ext cx="0" cy="972979"/>
            </a:xfrm>
            <a:prstGeom prst="line">
              <a:avLst/>
            </a:prstGeom>
            <a:ln w="152400" cap="flat">
              <a:solidFill>
                <a:srgbClr val="BBCABA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btfpBulletedList196696">
            <a:extLst>
              <a:ext uri="{FF2B5EF4-FFF2-40B4-BE49-F238E27FC236}">
                <a16:creationId xmlns:a16="http://schemas.microsoft.com/office/drawing/2014/main" id="{B1D1557A-19F0-4F5E-B3BD-890530DE3F9D}"/>
              </a:ext>
            </a:extLst>
          </p:cNvPr>
          <p:cNvSpPr txBox="1"/>
          <p:nvPr>
            <p:custDataLst>
              <p:tags r:id="rId26"/>
            </p:custDataLst>
          </p:nvPr>
        </p:nvSpPr>
        <p:spPr bwMode="gray">
          <a:xfrm>
            <a:off x="5246121" y="4983181"/>
            <a:ext cx="1352641" cy="288147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400" b="1"/>
              <a:t>$21M</a:t>
            </a:r>
            <a:endParaRPr lang="en-US" sz="1000" i="1"/>
          </a:p>
        </p:txBody>
      </p:sp>
      <p:sp>
        <p:nvSpPr>
          <p:cNvPr id="86" name="btfpBulletedList196696">
            <a:extLst>
              <a:ext uri="{FF2B5EF4-FFF2-40B4-BE49-F238E27FC236}">
                <a16:creationId xmlns:a16="http://schemas.microsoft.com/office/drawing/2014/main" id="{DA5474F2-F01F-42F6-A954-9B9F58E38107}"/>
              </a:ext>
            </a:extLst>
          </p:cNvPr>
          <p:cNvSpPr txBox="1"/>
          <p:nvPr>
            <p:custDataLst>
              <p:tags r:id="rId27"/>
            </p:custDataLst>
          </p:nvPr>
        </p:nvSpPr>
        <p:spPr bwMode="gray">
          <a:xfrm>
            <a:off x="6848465" y="4986356"/>
            <a:ext cx="5003802" cy="241980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>
              <a:spcBef>
                <a:spcPts val="200"/>
              </a:spcBef>
            </a:pPr>
            <a:r>
              <a:rPr lang="en-US" sz="1100"/>
              <a:t>Flat rate for monthly break fix support; insource developers 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C456275-3209-41DD-93FF-47544B68B8C3}"/>
              </a:ext>
            </a:extLst>
          </p:cNvPr>
          <p:cNvCxnSpPr/>
          <p:nvPr/>
        </p:nvCxnSpPr>
        <p:spPr bwMode="gray">
          <a:xfrm>
            <a:off x="5246121" y="5263789"/>
            <a:ext cx="6646862" cy="0"/>
          </a:xfrm>
          <a:prstGeom prst="line">
            <a:avLst/>
          </a:prstGeom>
          <a:ln w="9525" cap="flat">
            <a:solidFill>
              <a:schemeClr val="tx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btfpNotesBox245945">
            <a:extLst>
              <a:ext uri="{FF2B5EF4-FFF2-40B4-BE49-F238E27FC236}">
                <a16:creationId xmlns:a16="http://schemas.microsoft.com/office/drawing/2014/main" id="{A57F4D61-51AE-4DE8-9678-082565487CA4}"/>
              </a:ext>
            </a:extLst>
          </p:cNvPr>
          <p:cNvSpPr txBox="1"/>
          <p:nvPr>
            <p:custDataLst>
              <p:tags r:id="rId28"/>
            </p:custDataLst>
          </p:nvPr>
        </p:nvSpPr>
        <p:spPr bwMode="gray">
          <a:xfrm>
            <a:off x="325438" y="6377314"/>
            <a:ext cx="11531600" cy="215444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marL="0" indent="0">
              <a:spcBef>
                <a:spcPts val="0"/>
              </a:spcBef>
              <a:buNone/>
              <a:defRPr sz="700">
                <a:solidFill>
                  <a:srgbClr val="000000"/>
                </a:solidFill>
              </a:defRPr>
            </a:lvl1pPr>
          </a:lstStyle>
          <a:p>
            <a:r>
              <a:rPr lang="en-US"/>
              <a:t>Note: Does not include re-investments; COGS includes Gas, Specialty Rx; Fuel COGS includes transportation costs </a:t>
            </a:r>
          </a:p>
          <a:p>
            <a:r>
              <a:rPr lang="en-US"/>
              <a:t>Sources: Transformation program 3.0 Presentation to SLT March 8 2019 v5.pptx, transformation program Steer Co (P6) 2020.7.30 COVID Adjusted – Bain.pptx; Cost Optimization Program (Current); CAPEX Historical (FY18-FY22); CONSO PL - FY21-22-23_Values </a:t>
            </a:r>
          </a:p>
        </p:txBody>
      </p:sp>
      <p:sp>
        <p:nvSpPr>
          <p:cNvPr id="25" name="CommentBox">
            <a:extLst>
              <a:ext uri="{FF2B5EF4-FFF2-40B4-BE49-F238E27FC236}">
                <a16:creationId xmlns:a16="http://schemas.microsoft.com/office/drawing/2014/main" id="{38AB52BA-77B3-176E-E45A-228A27017E7C}"/>
              </a:ext>
            </a:extLst>
          </p:cNvPr>
          <p:cNvSpPr/>
          <p:nvPr/>
        </p:nvSpPr>
        <p:spPr bwMode="gray">
          <a:xfrm>
            <a:off x="10748867" y="93290"/>
            <a:ext cx="1387151" cy="771676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B03C6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900" b="1">
                <a:solidFill>
                  <a:srgbClr val="FFFFFF"/>
                </a:solidFill>
                <a:latin typeface="Arial" panose="020B0604020202020204" pitchFamily="34" charset="0"/>
              </a:rPr>
              <a:t>SBN: convenience store (see prior page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9407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btfpColumnIndicatorGroup2">
            <a:extLst>
              <a:ext uri="{FF2B5EF4-FFF2-40B4-BE49-F238E27FC236}">
                <a16:creationId xmlns:a16="http://schemas.microsoft.com/office/drawing/2014/main" id="{83B4DE85-ABDF-4BDD-9527-AB5E0605B055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0" name="btfpColumnGapBlocker924411">
              <a:extLst>
                <a:ext uri="{FF2B5EF4-FFF2-40B4-BE49-F238E27FC236}">
                  <a16:creationId xmlns:a16="http://schemas.microsoft.com/office/drawing/2014/main" id="{7669D46C-083C-4E3C-9222-1CA413821CCE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8" name="btfpColumnGapBlocker689092">
              <a:extLst>
                <a:ext uri="{FF2B5EF4-FFF2-40B4-BE49-F238E27FC236}">
                  <a16:creationId xmlns:a16="http://schemas.microsoft.com/office/drawing/2014/main" id="{E982EB32-21C1-414D-A4FA-082C5ECD805F}"/>
                </a:ext>
              </a:extLst>
            </p:cNvPr>
            <p:cNvSpPr/>
            <p:nvPr/>
          </p:nvSpPr>
          <p:spPr bwMode="gray">
            <a:xfrm>
              <a:off x="7837752" y="6926580"/>
              <a:ext cx="540544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26" name="btfpColumnIndicator926827">
              <a:extLst>
                <a:ext uri="{FF2B5EF4-FFF2-40B4-BE49-F238E27FC236}">
                  <a16:creationId xmlns:a16="http://schemas.microsoft.com/office/drawing/2014/main" id="{91C476AD-0965-417A-A65F-A12186FD9374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btfpColumnIndicator655250">
              <a:extLst>
                <a:ext uri="{FF2B5EF4-FFF2-40B4-BE49-F238E27FC236}">
                  <a16:creationId xmlns:a16="http://schemas.microsoft.com/office/drawing/2014/main" id="{367E102A-7B39-478D-B6C9-B85AED99AC02}"/>
                </a:ext>
              </a:extLst>
            </p:cNvPr>
            <p:cNvCxnSpPr/>
            <p:nvPr/>
          </p:nvCxnSpPr>
          <p:spPr bwMode="gray">
            <a:xfrm flipV="1">
              <a:off x="8378296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btfpColumnGapBlocker173764">
              <a:extLst>
                <a:ext uri="{FF2B5EF4-FFF2-40B4-BE49-F238E27FC236}">
                  <a16:creationId xmlns:a16="http://schemas.microsoft.com/office/drawing/2014/main" id="{6706B90E-C6E8-4C1E-B2FE-D4FC1FE7ECD3}"/>
                </a:ext>
              </a:extLst>
            </p:cNvPr>
            <p:cNvSpPr/>
            <p:nvPr/>
          </p:nvSpPr>
          <p:spPr bwMode="gray">
            <a:xfrm>
              <a:off x="3813704" y="6926580"/>
              <a:ext cx="540544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7" name="btfpColumnIndicator300194">
              <a:extLst>
                <a:ext uri="{FF2B5EF4-FFF2-40B4-BE49-F238E27FC236}">
                  <a16:creationId xmlns:a16="http://schemas.microsoft.com/office/drawing/2014/main" id="{79D5D335-C7CC-45B7-904F-808044E62B35}"/>
                </a:ext>
              </a:extLst>
            </p:cNvPr>
            <p:cNvCxnSpPr/>
            <p:nvPr/>
          </p:nvCxnSpPr>
          <p:spPr bwMode="gray">
            <a:xfrm flipV="1">
              <a:off x="7837752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375675">
              <a:extLst>
                <a:ext uri="{FF2B5EF4-FFF2-40B4-BE49-F238E27FC236}">
                  <a16:creationId xmlns:a16="http://schemas.microsoft.com/office/drawing/2014/main" id="{16B54319-AE63-4FDC-B3ED-54F75046F9F5}"/>
                </a:ext>
              </a:extLst>
            </p:cNvPr>
            <p:cNvCxnSpPr/>
            <p:nvPr/>
          </p:nvCxnSpPr>
          <p:spPr bwMode="gray">
            <a:xfrm flipV="1">
              <a:off x="4354248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btfpColumnGapBlocker234704">
              <a:extLst>
                <a:ext uri="{FF2B5EF4-FFF2-40B4-BE49-F238E27FC236}">
                  <a16:creationId xmlns:a16="http://schemas.microsoft.com/office/drawing/2014/main" id="{0D2859BB-3F24-4BCA-920E-C762D61C558A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239612">
              <a:extLst>
                <a:ext uri="{FF2B5EF4-FFF2-40B4-BE49-F238E27FC236}">
                  <a16:creationId xmlns:a16="http://schemas.microsoft.com/office/drawing/2014/main" id="{3354C5DA-F94B-4DBE-9E64-E1FAAC4D08A1}"/>
                </a:ext>
              </a:extLst>
            </p:cNvPr>
            <p:cNvCxnSpPr/>
            <p:nvPr/>
          </p:nvCxnSpPr>
          <p:spPr bwMode="gray">
            <a:xfrm flipV="1">
              <a:off x="3813704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550423">
              <a:extLst>
                <a:ext uri="{FF2B5EF4-FFF2-40B4-BE49-F238E27FC236}">
                  <a16:creationId xmlns:a16="http://schemas.microsoft.com/office/drawing/2014/main" id="{31755E4D-F571-4EE6-83E7-47EF0CB01868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btfpColumnIndicatorGroup1">
            <a:extLst>
              <a:ext uri="{FF2B5EF4-FFF2-40B4-BE49-F238E27FC236}">
                <a16:creationId xmlns:a16="http://schemas.microsoft.com/office/drawing/2014/main" id="{6CB65002-7D7C-4319-A9A1-EAF4211E19C7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9" name="btfpColumnGapBlocker695262">
              <a:extLst>
                <a:ext uri="{FF2B5EF4-FFF2-40B4-BE49-F238E27FC236}">
                  <a16:creationId xmlns:a16="http://schemas.microsoft.com/office/drawing/2014/main" id="{790A0761-2BCC-47B9-BB91-3FA94D4F2CC3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7" name="btfpColumnGapBlocker541198">
              <a:extLst>
                <a:ext uri="{FF2B5EF4-FFF2-40B4-BE49-F238E27FC236}">
                  <a16:creationId xmlns:a16="http://schemas.microsoft.com/office/drawing/2014/main" id="{ADC56EE3-75E8-4D86-985A-007ABC1BED48}"/>
                </a:ext>
              </a:extLst>
            </p:cNvPr>
            <p:cNvSpPr/>
            <p:nvPr/>
          </p:nvSpPr>
          <p:spPr bwMode="gray">
            <a:xfrm>
              <a:off x="7837752" y="-205740"/>
              <a:ext cx="540544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25" name="btfpColumnIndicator821992">
              <a:extLst>
                <a:ext uri="{FF2B5EF4-FFF2-40B4-BE49-F238E27FC236}">
                  <a16:creationId xmlns:a16="http://schemas.microsoft.com/office/drawing/2014/main" id="{9B27C957-AD3F-4017-BDBF-585B0504D4BF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btfpColumnIndicator414528">
              <a:extLst>
                <a:ext uri="{FF2B5EF4-FFF2-40B4-BE49-F238E27FC236}">
                  <a16:creationId xmlns:a16="http://schemas.microsoft.com/office/drawing/2014/main" id="{592DC377-8E5A-49FC-BD39-9FF26757D1C6}"/>
                </a:ext>
              </a:extLst>
            </p:cNvPr>
            <p:cNvCxnSpPr/>
            <p:nvPr/>
          </p:nvCxnSpPr>
          <p:spPr bwMode="gray">
            <a:xfrm flipV="1">
              <a:off x="8378296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btfpColumnGapBlocker937970">
              <a:extLst>
                <a:ext uri="{FF2B5EF4-FFF2-40B4-BE49-F238E27FC236}">
                  <a16:creationId xmlns:a16="http://schemas.microsoft.com/office/drawing/2014/main" id="{E7F6784B-819F-40B7-8C90-901C0D46644F}"/>
                </a:ext>
              </a:extLst>
            </p:cNvPr>
            <p:cNvSpPr/>
            <p:nvPr/>
          </p:nvSpPr>
          <p:spPr bwMode="gray">
            <a:xfrm>
              <a:off x="3813704" y="-205740"/>
              <a:ext cx="540544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1" name="btfpColumnIndicator899625">
              <a:extLst>
                <a:ext uri="{FF2B5EF4-FFF2-40B4-BE49-F238E27FC236}">
                  <a16:creationId xmlns:a16="http://schemas.microsoft.com/office/drawing/2014/main" id="{9E8341BE-B43E-4E84-8218-7A3686168B75}"/>
                </a:ext>
              </a:extLst>
            </p:cNvPr>
            <p:cNvCxnSpPr/>
            <p:nvPr/>
          </p:nvCxnSpPr>
          <p:spPr bwMode="gray">
            <a:xfrm flipV="1">
              <a:off x="7837752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btfpColumnIndicator305560">
              <a:extLst>
                <a:ext uri="{FF2B5EF4-FFF2-40B4-BE49-F238E27FC236}">
                  <a16:creationId xmlns:a16="http://schemas.microsoft.com/office/drawing/2014/main" id="{BE7C27FC-176D-4833-8BA1-5904B09A29C0}"/>
                </a:ext>
              </a:extLst>
            </p:cNvPr>
            <p:cNvCxnSpPr/>
            <p:nvPr/>
          </p:nvCxnSpPr>
          <p:spPr bwMode="gray">
            <a:xfrm flipV="1">
              <a:off x="4354248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btfpColumnGapBlocker265007">
              <a:extLst>
                <a:ext uri="{FF2B5EF4-FFF2-40B4-BE49-F238E27FC236}">
                  <a16:creationId xmlns:a16="http://schemas.microsoft.com/office/drawing/2014/main" id="{B0F4C261-AD74-4B56-8C35-8724FACF6D73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422486">
              <a:extLst>
                <a:ext uri="{FF2B5EF4-FFF2-40B4-BE49-F238E27FC236}">
                  <a16:creationId xmlns:a16="http://schemas.microsoft.com/office/drawing/2014/main" id="{13E19D4C-C517-4FFF-9F77-BCD8697CDB2F}"/>
                </a:ext>
              </a:extLst>
            </p:cNvPr>
            <p:cNvCxnSpPr/>
            <p:nvPr/>
          </p:nvCxnSpPr>
          <p:spPr bwMode="gray">
            <a:xfrm flipV="1">
              <a:off x="3813704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653955">
              <a:extLst>
                <a:ext uri="{FF2B5EF4-FFF2-40B4-BE49-F238E27FC236}">
                  <a16:creationId xmlns:a16="http://schemas.microsoft.com/office/drawing/2014/main" id="{58996F0B-1B49-4530-9DC1-7EA10C518E07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F4DEA5C-E934-47D5-8EEA-E859A76E3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Illustrative airlines cost bar</a:t>
            </a:r>
          </a:p>
        </p:txBody>
      </p:sp>
      <p:sp>
        <p:nvSpPr>
          <p:cNvPr id="12" name="Rectangle 11" descr="Enter Chart Description Here:&#10;&#10;End of Chart Description&#10;DO NOT ALTER TEXT BELOW THIS POINT! IF YOU DO YOUR CHART WILL NOT BE EDITABLE!&#10;mkkoexcel__~~~~~~~~~~False~~False~~Falsemkko__4HooU0THZk28POP9trq+pbTvvzd/gcV8t56cq85kb3NDTsUhojRA0EsgEHHMH7oYP1SYpn09ysXVivguJdhTvfyVMsBLTGvcX7WPTor/CmWiWcfk2RmY+GE6Q6T90sFUz2dD7pS103gZfJ6l4USC3jqtWOPR/ue0umjYEY9KlLthURXCUyUuZbmGDPUXB2idlVQc+R1c0j6vNnMaKvr/At3m6qQ6Cz6XYv/Z8sgBg+I5dE8Oq8aXpveyJ/UH/WhONIjHtmYq071OQilg6XTn9+EZImQjPgA5ThzJkclBvtmrOdiXeDKeawIOSKSfmaZkFSnWLb7L3fLhyIu9WFkBdroiS0XfeK+U1j4Im9HrlVBoRHrsngVxpuY3/yKXcm0pNSC9SZdBB3U3MHbAQeK96WClFzBvwxZsdPQXkP4/m/DuO0p38nBiKVzdKmKVV0NMqRMZqm13t51AYCvqbrRh43OwhqwOsDL1GflJKucTyc1/pjBQn4UWkAQzmKJvsC7u6dAZ9TBTmIv+32Up4xLTlufQlmJOQmLU0kD5ggdxCThXcavprO9lytW+WUMfb1pmrC5L6R4mndhbVBFoi23oY7pwGaoLrcEtAKuQYN1KWGNN8JluGnV3o7YgQqQOoCdHzoGEv0Lx0HR73t4B4QBW+ZSEkKHHP9gHV9cQAJ6RPY/dlxhS+Lcn0ayn/3hHi421Ih1rPgKDna2dQnQ51JYiI0Bx/cYi/pQnsUcDehj7Ktyszj/p193CO6kmfB5zaS2tOOajD8w/BjmonfOfHPUAwZOFQYOXvKtvTzq01OWkMa/c4ctywK7lNbsvNBcbT2C0HJCuZyKqF3x79yjEwEQEgE6eJOV1NqQ9PzAdSPTGtGxG9ApJyVObZeBBN6U01enfg63uBeyCR+NzfqwvQiB5SMqFgfzVJJ2y+AOftCGnfqrM7X9JPDVqxhlu98gDdT0+N4lZU2wvmlqh8uiXii7JfHP4LcPHqSBiNtm8oE7I5b3GiC8+rx5UxsESCUp+0t+ShIzEv3maBk90EBzbZg0Tgsgt0MvxeNHXdNNvvF5rUogPf9xroU8XVTkyph3RpV+P/2DI/RrBs1siwjhI0wh1jJhUogNG0j2o7zk42QYM9KA2/EovyNwc/aejimJ70BrIDqrJ/onFO7+x5Tmw9qq4laExNqVF2r6cLN6hOnUqAhvs7aguDZi67Gjbz/qk5XfuLdHHXKfOYkr9YciwIfta8NpEVijGH+rhz6MesSzAdLVAc7KpPTnU3WOQ9F98cawuawN+z8XTUGaiPUQivNzB+c6UVuRmgWurSOgV20HMs4ZzknEF4n4C/MqLzhyxSpYZv+ATUr34e8J2DefJMILsby4rWUPa2vZNLyzdIhmXIZLC2crV8mKUrmJNQbn0Dzp166s5uPs+3BZ6ut25xJs8tOOJHdg7YCWGki5WlVkuY3otjV4ZsIMGH5/cHIVDV1xKpC0Y4gUHtUCf8rlC1Wl/B0uvsMC9HJpwwAZocwJwMZX5X3/btt3nBHPeNBs9mnjqIeX7VmMnyEtKq9PitUJJe+K2s/cttTtBqH9InKN6ilO/6BO+4HArlyvH+Fvb6gskbARm+QMgs+/4S/Qbmn3OhUUUSQRVTuCgN/fp1PvNuc5mFcmyokf27PvGDjqrKcYonRUc46VqC8+02ttPTnQn7O4e0VCEM9w9FXtyzfknPIATVEeM207fczVh21nVYs+B6O4GmG0w/ArZ+/IVjJSzBkmT+rklEyy7FJ8DLMj9q0b3eF27ldvhGU5yxHY8tiJiFO8IOazAIy8X6GfY3fo7nh5mrd59VgNSbUPwyJU1eRJO+WWL/EcMF5CJa02iQ702xEiD/YgexdltW/JZMucD47OiqPJuRIv76iioM/QbJyg9GcrEMGcq3QCHCO3xKIX9vYBBBn50s2fDz+h2SgtNg/cVW04WibtfZKPO6TtnIVmeu8oX0Tev7MhQqHdVmdoNYgQNbcveDbiBYuDqq4FTRCueLFFUtWxZ389vGQlAyQxrtdRRvoV2W6SYttOoFXKSWLu6uBv6cIf0YQdyi6ih6eY7nlJcqzy0Nfmd72ZWBTK7SSgfgOW4b4qp24Zjb1fnXcvSTHrqHu2mZP78im/Ae5ARC1B3/hffBh/Ic3Qqr8B86j746288C3amQAAffR7RP8OS/B4OGNiBRfvcx2Hg9GwJtkiAOhoB9Tyrd3rTZl3ti2eZipvDeS+eKpFLEpw6HBhsB6OPdDeWWtR9Oii0Dzvm+TtPqKCtCduOwysNrDROlt9NBFPvACt9jSAroXt0CWlbFk+VCzDo8L3uFcNDPj7cDfJ6xaYfVtDDzXvUotwukDuzRzPBXrJll32+CNqjiLDgKyR9w2ntzs2+jprLHpYVysz1HtcCFRt6watkxKCxPrs/EqtTFvRyDSuxm8AfH4nTva2bxzKTeOJrbhjyN2p1Sd9B+tRzZzLy5CQIMO7g4WsNjm1oDob7/lQLRiHE1+Z6WTtZAFCEeurdl1P+UwZbAGPfEKlBnSUrRH27l17qlcjNeDZKIbr1uJ7m7mMFy/Y2QAOwNW7kR3EZGEeHIPpXhAF+0Xlpj5pba4C2Iw+4IlBYzPzjoxCkD6GrKblsrhGJcYBcmG+/qNclcjaCsJwo0R8iwGmtp6fozQI4XYEcqnW1cLA1cg60Izlq4cYmyRz3rEDWB8IjaGUrXav76+5EwPAG2eOr4TkEHwc0fuErbGugEAlAeTaMC1tWYWvwKy7EE+etV6wak5PWkX2mGUkNMg8Tfd+w+1nKb0dE9Y1g+GAsquVPOFHXmjhNpfA6uJRHIGG0otePH1rrOuhbt7QjWvh8cNRV/3NnZJCeCAKF7oPGWIODGGQm+LV9o5ZGK5PM99PmFvyweai2Xp0p9Agygo0lzFZCMgetStN2bq19CBdDBANgaQlycMuwBJfPf0Lc1+60NvW7x2eVh4CYpS7ip/C3HzCG31RTpLsy2KtV+qW2VMBsl4SHS4/VCdzWII7jUyBPorj8AvNHPYSF4/F5QTeHJetedOhYMTpfmbJa+fdPPMNwj0XF1TuMN/4yX4UAIW1aHLFP27lk7sKg2b4y6yk9ZKlVRXShpIVafVTYD15M2f1d8Rd/nJmMWs3vMFq8wiWdLcERVBKGh8FpiomftM4M9jL2RrA42UlNrNLgN/WXmoT84DktgokRmdEllKaUNBZ7k61D1mb6IMCCopwdg5IoMNu3X6zkQx5+fnwVsI1pvd52Tw/3w7g21yV6YGag4xGrqejI5QX1FjkO7MQAYbiA1f6a4Pv4z/K4k6WnwMhc7tyYPsbtrakjWVCcq9+rC+z1RRDhyhhmolX7BjS3croPHyBkRP6zkWm/ztqJmL7FaOA8bnQRnIm0kL+Jeh4mn8g1IbjPm6uU8WMGjn5XiwrkqDhNm/N+6TIBYB9urbXLOtGfjtH/L/z0GS/eHNF5BkjmNSxFapVmCx8+TPtjchQj7RRlt9rvFzVTEoYY7pOoEh8tVT7oRPSHJtnES8pxha+oQ3xhllS/vxcw46/DQ/9ozsIs9r4c3C9pLcpuCZAAL4unbd7LC9mcbdYnCPO6ci+MiO6R890XVHQLHdAJqT+pjbB/+qkSyO6OZoVceVwRw9IGAKrnKABunIlcPNJ8sEym1BarsQ4p0TqNRGUXsWN9M4434D8xYBplFbIusStJa1nuWeG3TL/J8yw6IQ7u8tJiRwuDGuLWGRBGtVyKua+gQMTBlideiFAY3HZMUDJuMoRbJvP0JZNEGTddL8JlN+c1L9hq4h+uzfepWpCqbLQ9IQxF2va13K5lg0Fg8ZEksJBnsSMye5KTfImxUOo0FSw3m9KPhq+LMW3SQs9N4riqiNk65CwmuM0fN2H/O5G+C9ZkBRcNMAPkbELZ1h6NriyFGamLMhynfPyO0v/szcu29crDdg1LtJf7ur2j6MetrLhKAcG+uO1snkefaXWoBm0oB8V/F8CwFmkkqu3veO+jGKiH//P0dsuqM3AJarSt3OAW2XiWYN/6LpJYcoXMcd6xWH7CKBbVYAuILN+vix+YodmrspwNj1fwKYSGv9kI8QqBtR3pN6r5WGHP6DFkkeeS2N5p769Ypf21/yVGre+/b0+PqKPrg3IW0Mjra5F7R9d3PqWK2zLM5s+xpVk7Je8hFX68yG62lya5Xgo9/QX1jMfuzTPd+WfdwtnXMxNMkwMLLa3c7OBWTeT9Lrr7g358RBWc7Cmnvv1aJDBQrx2v6hXPmemm6bjIfBavzHUz0g19bDqPijQ28Jq1CLe3eGH8ObeSlijZEFYNLEM2IqH9+p9OAUYF6c3/m2rYw0U4HMHpx53TcWKWDJm3rtIIkof3fH6DA9G4Us4ifNrVxYLGLzPG2rGh0P6c+3WSxk1RqCBfsBQJTFTpWoHyFvKn1Tj9pWhETtebWBCTpsMfz3nWlvQvf0MKphkjSTkP/PwwxKBc4VozmWV58FXIJVOYhlfKkfJHUzSEUKebJaLV/UF5RXSkZrpL+1Oa/d+UqSuKZl+sFSxutLGtcfg42N4v6X3B86PSODFlAMxo3WXwzC8NZ0Na0w4QQNGqYppxGTR81vPu4armKB3KVTuOdn0H1h/UNGIi84o2EaQN+up2vJu/H1e0Xnakp3xWerpEvcj4CXyBBDthhjnjr5znVdq6AbToHoh7MbbmXfzB84WDoL60PWfylznNk0ckA4+tPrLdQlhu4T8ALffyy78mG0dRKXKB0P40SR6dJZMSsix4MhfxDSHV7bx/DhF6F80WilXvl8ekX7jJ+yb2IOsZn3zr0FOcuLYLlaqGmjXgj/vQ8rPL4kd6VkO8KnY+Gu1h7Zi27d4RrvPRCZ7Iq3Oo/mY8KtceyUjOEhVnpzeSCxIw0VVyOTkLy2j5zeh7AuMqQjtgccfODrOLjA7+kA1TVmcZK4CDfboDLX/0DHXXLJ2KVFkHZihDfPEc+Ivin2rkEvL8+jRT/vBNODX21nqCCoYiRN5tpH4hcFoAV+8oBLGV8pMb0vwKK3D+UdgrKOgZu3jD+6/N60Em+qGDbX4EXujGuROCChWaBgzbMBJTiVvJggkBAxfyK+4wH96VbXn3QNOUR1KsVU1FKQE2V9oJz57BpSBzWp64AYfkn73Ge/0z1RNy7kqSkL9wIh63/p/xTV6uRGdur59NLwNRdYZLdZqL7HkI3YyzCqwniSnFakOQt9SH0bOknnyyM0iuKdcp3G4PBGe4YINu6EZKwQ2JX49J+9NncnqrObpj24e0DX1U2ktjzwd85Z7OK1Rt0GBGPyDRZU7nl0p27+HQB+fyXbO/kVFsvnmOJWt1ark6Pm3Fi5r0CuN1Vkcn54KlsZ4xFf5AO43GJDcmvb5pyDX40Ydb7uh5B5rkP8Ps+bWBxQC1jktgZlKsQe3ii/iLZ4IMYcJBvrAb7TAVW/QhifjVB2+u4qmZ2u80pxGM7SBxkd6RHUeLhuibO9xDc1zqWdf4XBpHL+jspFe1yEeMKoJ2nRoVNmfS/xfWh5jhCrY2uqZv/mCDLgZGIQtwpkJZMybd1X7j9A5oru35kU+oO5wT0YGgpYXEEZg6mScUaL9TUqVV7whLjMzMBC5x4oxQTEvDwT90qSFh9Kva/zeVEX3xB0jD/33CwwSOKm6pgSCwQWQnCjEe/cQF68d2BpGeKvScBViMWnc7ZLD8b8fQL49EenlUZYBN5pKt3c1nIkPGBJgTy2CXt+CIQz9sWBCuyG3GSCGHxTl4G3rM1RIL0vxGs4h/xSJsdJJz16njWCUeRwg4dBLnBcQK8UxFa4DV9QpwSTSP8re69tc6Ajx4QTAc2qngFx3EhefcAW9fZCo4Vx0EvLwS+tcfnG+5tRWR9SoGcOHWXfwgxtGR344uaV2ZAWygAPpNF0Ie5DYZjCqEiG8v0VudKA3LeEhuq5I9j8HtyeeRz3NVCPCU9fgEPNhVBjpCbGprYuvgAPYSnbdK9jyVqM18B6l3Kgm8wCN5id1qNh2bnakJk9JXiQ4ELd7+fKOiWnzGbSyIej1bRpPSqvtLBORTuk2th2saK7DTyYEJfV8879wtY52q2zBBb/dDZ2o9i3s5iOvkQlS1CDhSeJrrscDz1Jtv+V5ijxiosJ2zgdLnxmilk8f2MOR8rgqBkDKm6x/8BlzyOu72fd0fE+uF+FlLtpeNoZZCOtvQnbI2O3ByXscgb692p+qMcTRUW8WGoqjzSBUEf5vTxzLDv0rICx1SAWJiogRNAOpK6YWBmmgZqUfYOCpkS7BojQq1xWHC+V2gHbDPWRvaLHiSyl14zQDKwl72x3rlaY3adY9pYyE2S0dfnx9LzEx04MeIVFUXRbgKVP2KVVhJ/GNv4l+WiBrvrTRChgE26pfimV3FlFJ4j/Ajr0Op89npXymu/3tujYuUEZ7uIpZo58G+L0o0wKdng8+7omMiCcJ7AfXqtOLvL0cgPDQzZ7he2epf56Y6Hyi0ogxooWTeBbVxGAEKBEN/NUw1y3N67dHXVLC4kkgoDgHfsaRCrymdpBE1W1w/vuvqOJIb1g0SbksPbhGZC31/5Z7oZPzDGX/40UyL9+Ef1rS+TsSn9IStXUqpeDeLwSXoX6rKqZQCBFawVwv8PBScZywybqG76xbikAh4jNkOQkGogCyqozSoNNLAhmx7fKvJQtZin/JFMfjkvACFFKA5KrXuaNOvhtjy36jlw2sZN5g7FuzebNuIDlSPdFHTZsQuclG/LrZjI9HwlQMX2Kx8NQKce+VA5BfzPIMoUSx17EZ6CoKLF+19nQL0CocSDU/P686ZHRd0qWHeD8+UpVAy0sLmPEcjFelxO6nWrLV2AMayD+lbItGBZHYE5emIMw42BX6SlTr+hUxuN+mINqVW6Y6F1fgfHlEBCyxZdJBgd3Q1BWwvQChB4iPMm+MMpeYyZpIGYMODc/PKd/HvhBDs+TCisLZG8RtyRxF+hCGnKRXbaarkZIKEU4I2gMm/ft192nOIU4+5H0xeKtBSHV8UrroboQW+e3/6fczoZ71xFvP9u+26zVz/X4tseGZFTkB5Ml7PjNOKGIpaFIzc4Z4a/AmHFithuPq3ttKfd4EDrPjqwCPo8szsAeRBiB+N578YGcTI6pr0Z7hAjuVMZbr4wShz0E1Pp8l28x4OqLkrNOROX2Gxqw1YmmW6+mQK/BiggXNpeZmrO2+k3Qr5Y+hglD3qfJ3CLsNx08oMndSrfrhVu8CIPh5jszahc7SZXxpTj6/EeGw2VadOuZM9+Rnue030Go/1SGXDGddwMM79SBfXCe3/GqZGEnaqKEW6mPlvtr0AN8D5yBIX/wlCi8SsN/PRkGAd0+kr9VAsAAQfQmFmlBPRRvpuWcG3+wmDQYZZtjEIkz3MvXMTCohxQTfOpUcSm61kwGTB0UML7AS/tiI+sFUMOouFwmpOMhP6V9S3IF7ma371kr/mzCgoxDqlW+yy+h07XQass5QIPf4QJEb011uCOS3h69uHV+GZpRxEvS3BF5Y7Wi3zqtjRmjLrzj648NHtdAzWIF8/zfainjZQ3gE0RQcAqCyPrDFjb5UCgtx/BpO+W6N672hefKQC9Pa6xuWtkuH4NSQCLIqxA10AmqYqKpKdUENpQxBo/5XmI46JdB1wXgi8mzjbdjpTy6DZ3+jB3q/+eSd4i9QZQnQ/hLS20dG+2kUDpgQcGJzERc2PRg1WcxyDpVtp9XGZHmA3lyk7PzOYO9Z4T9yyJo/e8eglEgBMGUZrZskfVVd3RIqTFc25KZeHoVb19rcrgwfkfHUs/kjx9kjLzwMvssV2SzK23AU9D6FC0hse2KDLIkocxcTGNbyOCA8r/+8xPqsZuE1VeeXj1ANmFi2U33Ie3PeFI0veEXnvdrwJLVpeaM8UVD+qV6B2lb6qt1/aMqQ2lex6nAgEEWJ8uhpFLCsu5yuuSkuFt/SwmZhNi1pxCRN4nZ0ecEWMUNeV7Z5CS4Web+H5UgDf2PWsGBylFxSWOvgjAD3ahRK4UxeggK5PFpBohAbaNDYBBkSmUKfkXRsxAgIotXmdsF/svZSFtaXnivGVeOd9h4scoxvl+i9QjkWyG2ejEwey1cIJNYWY3aX7XQXfe/MSE3TFFLeNd8maA/WtdUwbEqN10Y98HV16vjoT33It3M1+XyskXtEfQcnUGtKUk1Zu68UMi8uNd8X0rVttOuTWhgxq4HMZ/pjWTcYt/jsss8dg7Q40y8kJyV8gHiYCimwyITYtQJ9Bmc/PoO3kwraSyztb927EYHmknVNo6VHQhfDhhduE37A0PS7UKEv9O1SwFKFVK5SBzpR00CPhc9lOg8bvdRSTu8Ry9b2Tr0iMTto651YKzlzL/EOVG44TOFJXuwrUPjmJcnuwga4AW4ZsPxugqcYUFl41iy3qFLiKDzZm8jjml3fOBksePPzFPh50loDGBUuNtUBA2tNAhVvLDcyTq0EbMrWoE7CtOYXsk614kRQ1GFxJfPfIWfl8W7GtYGQAsfOrwr6v7TlKwbme9id8El0pNaxaV4/y6Kdg41KJPZYRNedNqo/VwGMl17jHX87/Bi0IrHcNmDLjffO0cFzEc6PFHWAAIY6uciwge2zTOjP4IO+yLuj0vhUFtsMoWsJRK2uo3XWtCV2zex20lHWkBgq3Rd1lmhUo/V0MJdeYWhpP+H6f3GRSn6eWM3qJ7aGNyTNB1xxcjLrp9zJnfHiWXl1wVJiC85KvHhAqq5iYTyzIRlhPILyXlZPUzyh+oLYhj3fMell7qbe5ggDgk/96SDk8xegLo4nxajOG+UqMcd2C8Gzvjnhj4cGlj9j0lQAAPUqx0pwn+Eru+t166oWS0eTHFfWYTww+YO1QUY+Mx4eni5s5IJb2AIhFUJByKMYA4S7VlGdHPvLsu9IIONV3IBiwSjaIgtuLp1/7iI+aYt9nGT+d0mh+wfd9N3fYCIyX5cz9eI9VepB15QHA3ecFy++O4juodm+OLIAfnrAB1KD5uIvURxf4Kq6YZQjtqq/DxaXnrEuKED8M3KRfeOJ6at3QI8XL11Fexo0o6Rpfbj+VhQpqF1JEKvAm/lmJ7usOpMJwN7Ott1O6Iiysz9yvFzVY9gL2p2bdih3bJCN2mjMLdum9qFLat970n8Zt5PBuO1+HMGiO8hCY4Qu/omgYpRLmqs9hOhLiQvBXdFmfROXg2tMtL3YgjLiXQhkjmWOn1xpJsbF9LKCjpbEEf5q4cJycp4OztmNEB19O44Jancb6mG077oHgLyVf1Grm9ienDP4D3doXzP5eQGjxPs8mFHtLabNNrbSG7NCTvfcfNq/OmpuGUH2D35kS7bf7aEYUgiCmFAuH+KYMBdu635bRGIbV6Tbe2kcTrl3Y33OYG9jL6GZp6KB5pe7WWQ+iaqpWTFFFiD2r05XQinPOEA1xNsKdje8WsJ7y274xiMBRpJ1M+k5OoqVM2ZoomBY1waq59Px2OM/eGUohagSlrG4IYJLyy/G9DZw5zPSC2gY/64u75B2hHYMwwPMTjC/y0AI+R3XgHlt1NjNDneXsAs+XVkTjKIu3C/bLgdmD+gVzBU48suWr0XOL1HIYWrNU9Lxxhfk67JdhFYmB7VEzHvT24SrP+7kfNZ+Bvoq/qmQ/1oRgEvMz0eZKER56E6VByZa+iwzI9dpsAYZW/nIxUnmBuQ+MMWxm9QYiNtTFjx8+dvwpaSyoN2F7/ZkJfG6K55PmmmL+9qgD72dP2jrybjcB61ujnmq0TnSDPbSjxc+2PS4w44DV3rsTlfVObSB7DwaYU0tQmzTZLIjUICoRCPT8pbgIzlJao0wn4j0Pwmdewu+dZ0Qofn5kUgnwkZs4LBDBP2Z8PVIpy9FZJkQJRe3MT8VHlRgUr9oHMOabYzey6VRbHZWle92SakFUHNfi5JBSG7/HP2BivOlYNf81fGjKKJUI+l0OVKtx8yotzwneTao9cLY2z+pt2K8o/drTh1wtMLjGGyIgsF8gmw0/9WRMc16kZRcjh2+BC2oeYbLIV7JU/+cMqmpAGJg7/S/Fy7u78Gff5QSAeK5bjM1CwzKUZh4eYNggD/25KIIWN2b/FlpSPA9flxgwUwOV+rwJfhCKsRI0i5biixEA3NuNKdmmKInf9EZmSIJZIKSgGWjVFvy1wrdMNd1IjYw4g1nNG2Ug8j1RH65UPak0vl10j7WiLi3Dsxzg4W8YSoY9NPjB2WxF+r0FUjeNeiTPOXvmlhn5WxoKahrWkLjpNX6rk86xj9HelhdkCzmdBDH0oFgSyEhAn/dxaPTtG8uvz111KnmbctTAPGwy7AnsuHpX5E8UmmnnC7pv6h6Y/W7aXIcTwxwEgYqfT405NiK6OUd6nv7urD/tJ0hL7gn5BVq6KWgUz9L2nk5PRFHjt3Bq0a9oGmWb4ktUi2Q+htfl48ce2h/bhB7EbdVtGmARSr/gzWGqNLNbWyQpbmKuyyFIbojUMuVjWPvDEQRcVAbsYhqbSQRRqYFdGh/cLn1D3JAwnAqFcd17IFUrymcwrkYYJ5imKq+w/5twEtLgDQTPcUWGxwFZimpbyY4XafZA+dXeUnbGlIP3qnSxq1wJNaMM0vKfXrAW29yo1vSWq56KwhGodOKW8HzQ7sM/3j83l+xJSlrFdl2cNNOoOH4j5ft/MvulSKUyKSD92oElcfzlN/Oz20px8vk89HJV5zltDzsrBqB9EgyuGP3e9brvQ3Yfgv8J3izmk+irXZfVfOAxKR8TzBvcwFhGvKl9CjzFPwemTTK3NgKExTlg3UQA0brQ3E/ZWHQHBE4A8qraerOD71PS4iMKuZv639+dsnhbhpkKFHka0MwhBGYtoEVeZyvhxMiZMtzPQYvhcKs0NKGYsxFR3PFjD7ITXIgXqNqDOXohz9xdgVn62mn36U2tzgEYfqBr2Z81jBZ5ETnJjR5ERd2SHqL7YDFqCFubK17ZCi3tpTuq8/kEyfmw6tmIW8XQaQrQghhUy5I7BPc3ErbOeHkGxHsO9mdQCwBJ6MkOMwuk+oyBJGn/re6Zotuwg1mdUD6HxErT+4EqRBVn8IUwmW4/UqfKm6DmzDBzvZrduhcgK5+EEOwfBWWkOc+1weig/Ax+YibLRiBwwe41v0b54xNAB2RqvATHXrE4NoZ5UuO1fUEc0WSmdLXfLqcqmkh9aKPGtPeTnsNojGQWs0MpGI79CPjbDE2wqBqTh91mtWXAQL6CpHvjhTYJZ/eAXLJNA/y4/ls7C9fwf++LHrr1quRUFOsnvEVndIjud8SktSOhgvGFoXQjGQv/FDzgUpIWt1TBW7sVrgVByAPchMC5NAEbh+p9AVvTrZzODf26RucNg/JahUgYAS5+HAWrnV3vspxaLx7byJeC2oVZGFTHc4H1+7kot0myRaTd58EKf2/1yIWVe859sCP3dMo1HU5E91ftG9/Na3leqaOEZVOgFEQsw0ZNWH3j5ECSOLs+yhbX39T/YUoVnC7EsXWh6mmrPn++GEiBM5RwhA8PvWtoxYKvQaKA0qn9Uncl/5FgrBEWWbc/a3vdMc4YMKQ6LXb3vc0ymZzMS4ykElnRxncYrlT2BpfdpoO4jyCIcLsIdMks9550ohE+q9kL+uCUEzdeepSW5z6s00w6KkjEa7E6rL1L1n7BZOFX33pOE7IwWOwHYulAu+u7mndZQbhB6JK3d+hjej/ddKsKWm3zLZ/sdQqCtx0Po/5+KkRbXtVpJGvUOtXRmI+emsqvYkv8jH3+kmTlHPDpjKeU64aI1/raWBck1UyDiKgfpQTMZEsvm5hodxJEDNibwVdhWvACJ37fFVZ124CAoy6h9hyeZnP/UQpuONA815/Hct7b4FTDb4VRy3FG2zRT3pOWNuTe7j6MvyKuIzcp6Xs90Hj78lbJFR0gQC9QUi3a6Vq4cCBfhGpcmW69Of9Czj+GEdpKUsT1TcAp5foJT5sJXLYvCJkvyf3rFav+vazW+cGY720Buxr3N+u00uZFncQuta+L8IJDnpZqj5z+bBqnyRmGeuVDmE0eq4PjM98tNl+4w15WYgSdU5umaa8sFEFkMA6O40X4WTEW2js3P1QLRZsQwp9AQxoXXT7tN9ffCmVtVgNZjEufVn8ELGjOve9YM833P1X4t4H1K/GPFFF+hBzmvrgNInju0ZBDDJgfFmCKAKBfvOQsoOUWSumqKamsmIMEO8a1Ohb2UCwsT52vT0kBNRSLmq2Ze11El+bmf5NYcsFdpu4D3indaMuOR9Zn0r3EjSX60VAfng3u/xo44Ud2sYe7XByx+rtSIPA6loWD7nE8wQkM4frqTstMfPgGpid8ENi1k/0j//xQU70ZmrRlZQyasK7E1QNJJIqnrXLIGpsAgIZnRg9NdmXb1ftl8pAylGpT4pIR1zuQHpncqjwMmwpCkIfgSwFSKB3Q6gCv7wOzPq+lkKIk+ixWNI315TQ6CKCV18phGAuSpEQdHODDUIF1eC3uar1b8PoICGJVlbekie1AnxTxgH5CpjqeqxbPyx4JGPqo7fHmR2sT917vnpamsQK9ahOks21Q8dKjrnz+XYaBY+NaxRgkedS4M7XwXdGIdNJIRk+YaA+wlaIkXPnFshGfEF54hgSNDzLwuPT5eXiGO9tvqMDhwcV0VYVp92xvVY91Mob0mwEGIQf2laAFWduSn79YpgwPQD6Kb7sFrV+7aeEaIP+VTy1dqnLP3AwAaVDfkGsKnqyOZLg2phppfA4UdvRdADyOrWUdqKEQtWrckmflj0EyA5xDsPGoV36SwwvN2mtjwbP9Pyu1PNkrmhWSuXG1MNdsEoekzS2mUEswiPeHXehQFC7jJpoJ2WQZD6CRQPv+7hOgMumbWK/+LInQs4VzHjuUL6k0k+tpBkSmYwPvCAqOzanDuQG2wow0aOmiqBsXiNmc/POMYI4Tii/1ly8M/zBhFWW685npL/M+Ih+HEe+dBUZ4f/Sy4lhoT96ArjVBefXJgAKUXzysIJcyJwxohiTdt7i5FJ0f+lITJaxs4y1jpirI9updNZCaM4cT/XWZTaBbOPDET/oKvPraI/KpllXfN2VjpFQHDchHyehO9N0LjF6+HaimCpTo/TT9sSwP2Artd8xZPzgthNIz+ttwR6ZpolE4B3Uw7LZg7In/I9ty6v3kE+AnGDYxOPgIenStXr/RE3D1VBG2RKfhOlrR1XNm1Q0X6pAw+MkDvSppRjMqdTwCJ3B6on6Nvw0hD5RSQSBnKflFUQ3OSPupoQL12LsSeGcqm01c5Tclb6jyZg3bGfUYKCCqpvluJFu9tg2FPYGvjDRbfoMpEsDI290FToe17asPIQQF1+Dxgkmwz3noqAE48cxBhCqdErO29u+QTzKfB4zJr25J2zdXMyl5+SwKYiE8DvNpHUogQ+aLEhGle2wO0/nu/VWAOMZ2wy78SJ353Ne+kDSRbkrV28FO5HGZXmJvcoA3fQ8XpLdzdVoIPfomDFyWfqItdfHHZV5Aq2KdWbBAWi37KtgpgZCZSgVWU4fohEppM25ZRJEhSQf9b4w8WRP0++Y108hfjOmkKle6v+z2Yqy+TdbrgvV+/uOpw/y3aRA0mOxzA4a4lccZQpiYlWkv6aEhGyK+qDwak5rj4nSghyf3Fmpjb/LJGX4sYoaZBn02gE4besAStxgZ4bjrsrFquAfXi5Wut+4e4wM02w3RpO13wzsox5qXlMVzY/3NOXsT4/aVSMX5KS5b2+HP7+Pp6dqcxfiwUd2YckdT8gUW50Jt98CSu+oRDaQ/FCprjmsCoS3tdvyFm5GCutue7ZffD0WJznEZa17VLcwOb1prRd/wEs2Z0I8IYfgmK3k8JPY24/hp538XlwP7A3pJj7FJFFidxayB/RrHcMJ4HhM4vp2y/1MbQbCb3+CWlgBGzIEFbMnqjF9ihpucljDhb0+e6ItzAeO+U1w2PEMlaU+JjT2mRCihEX94i/NFOz/nrIUdx9QqFSxnA33qh76pwQw0kO/O6paHrZJ8ZYntda/M9pUHMzqHtCnGXFgZpE3tzVF4vTeaqVErKLOnsyPwh8kt2OLDkpI6YaL3o+RbCFjMJGj1orTkyE+S3KpBBzyYBvEH75Y0g5NebM1NXLIVHdx+N8WvAVLf7OXoyb6oqY5zS6S4lx4B3Zsvvu/ORRvqmPostSy/lNEYWB0Bg+mrzZm/LL78tBo6i9k+a1sulsHPAjDyrJWaUu2mibadMjRqEeGJLiJCSk7BqZNJrb+PSo9kfC/gBsP7oC99ezBu/+ELTfD/tqbeJlCZJK7idJ67FRcnrzFADBvIjlfdcVfRPtzBIc0Ncv/+CRPMFqzkhp8etYqoX5ytL7AyZUh0u+tkzBH+wgJ6xCfYH4FsLPPxikNXCAPI04txJ0VI6co2diN9xY+x5HFBgkbdkmknMsQvjodQMFpNev52++xUqpKzUNuW5wg03bZTvLpe/Xxy2n+MY1J14F7jvu/no30NiWoQSjLdfa+1mu2ZxlrV0yVEqr0NXLNId+GubJ+HAvbwewefbqXSMyY4KPm0tr3U+CVHfEW69f6bfMeQptxvSG9epkt1OfoJ+UzM3uMyJ6yH5dfOdMa21s8XFDyNaszcF9gAyoJ6m3Twm9aG4I8OMo73tz+JIW0pUqwNEepLM3FxAGR7mUVWoXyNUyUfQR+b1LbyH7CVdae1s9SqCBIfOPv50/vrQMa6vRYPey0JkmHSwlLmh/XXdUX0fxxEnWXnfOf3wHKK6il9Xl4xO0Ztv5VFrP72AW1YbDPN/W2k6UCAQIVI2wJBhV95ETmyAIOBBpBHjx30Uq1HeCH7Zet6nd2nDp48a7HTEIN+Ic7pkpVJHoRwn9ezjO/0YxYe7pFr2YZaDLdjhZ5c9XMHTED6BGI7pBDp0FUZn9f6E7DWTSWJplWOPAxO2hdlxk5QRyifvtCaHs6Sd39fTwVqD2FKHhFogwV+A+9BjHf0/h7USSCwmT48yaTAtA0JkVTcQ8LRBhMdNAkVr7HMnlEeN4UKOxGt7SCnbgGaBnBFp71ivHI8/ncHWOXki468EIOMzzZ0TROz7bmFG0KcF6xFGl2o7EDQkgJIAbU+neOXcHNOpyf2hciN+OzkUhZXXWWu/mtpgiCk4E6V2hrRiHygR1eMHyCLDWQANvHajCPPCupnWPhDLFDMb8i1jxR3pDchr0ep2BufxVNTh+gA0kLOE/4wcLsjOWu7zAVO7mrvG0O1ffzqlQEATvjkB5lnr8lxeImrqpM900Jgaty0zb7T9AMYSVVbjnxFlTSwHhTme2T0mdGxYsbYszIflq7HY7us6HGerkRhkVu2r0G+cIDAsuqpuwH+SoJwejZHpEsNH+BrSeOBusWHndPp6CjzaQAsMwxC2LXT3kzMJWp+GQZxD1ppYPkufth5K7rrfctiuQtPMHLwgiW2tH0yo7JCybQZJoc0+Up4SDAqOFGUWOqgK8AQUwhw2bmgpKJeUid6biFq/kehGv7rAUgRxF5CMgMFS8bvXCZtO8kMGGvFpTChGGq0fmUZO89pEt1sRBIJR2ZyK3fM3ZrJ7ODW4AcFjmGTftf5YRE7Vv6JiV/n2EZ9GVvhAWmLY5otMtqYzDpsHRrvCMVZKY9NNR6KFEUBcP3hLFULz3GfuiPGkJ3LX+s/DYdSeEoURnCf7BHpbqSMkREi7WccwWeY4+8MbT/DZRuwRU0kactEaSeIPGHO7xRVZBkWFb1n1z0vpWq91sgTIvyuFkH/PWOT2DqGDfnb7oj4clOm8dfptzNAhgA8G5bdO/ukfboj6XlSHVWocuTIzn3dLPFtQLHShhgTwjpelkzy0IEvWxD4KGmRPJMNcMoOwZ5494+yr2T+1iB6w8XgWhEMtsDKqJaso0WsKfDlfIsdnm84OLtYA6h9DIB5a1sI2F/bQgan7SLp1mqA5abQaJD4n3azcJR3rPt3+NTpBQGwTjTJSNXp44uaDAOZmILaHU9GQlUXhKM2P5etFi3wDavV+TNROtLikmKE9YFQ9FBDFJq2arD5mFYfbjic3ekDIIyPMTJ3IwuNX9ftc46FthuPEDsy+Nd+cP697TJNbPVGQigm92IlpYu8ZuvQAy+69/DMH6Sn7jvYbkNnXyr/g6/DHAtRQFSzZxc7X2vZrI7nK2pIquqH9itaKHaXpd7Eu4U3E6f2lmOSmkKAeuW7cf6ZyvLcY9oydwAdLcV0L71yC/7gjTdalaLIS54LOe9lBo/qDy6vSzpzfmqA82pV1mAQpnmMFH49T9xEjzL43WM+0X1iG5gfN98i5cbe2va9xcTZObqvbVtIlVJYJMdAwwIAIRJmEiYzTOd65oaCp02tO8GUY/AuDEgcNta6scbbXIygbWTtKliuQYzRpccjUqizCx5UGSvZ73vR+jwrt5kuHOhr+3BwjgLf91OS6tYcQPFcj/fEAFe/myJnhjsP9yhGyEI065PCKS6CWWIvvNfFLkebmqAC9Z+yP9ABv3eVLzvH4NS79qyAB+g/+ngTWz4M/Fj7vMqmhfwoeM7cjvkQcAwc2Sb7Lq/1Hj0Skjkr91vfSZ1/QuyT/BRf3W7qMXAkk0c+u0Nxq7HG/1aqXGcMZRT0+tnsoxu8Ry744HXv03nbE1bddcaIqUsfi2Bf4KrUUvVybXwFB2P8uoU+QyNZFFDXl55K865izb8p3gNlBUQmnMP/WZGHJUu90+B5hg/qHC9ATcNj0KiGwTSUDPjnGJpFKGw/SZIQ9OtOpLPhgkJD7609Rd2wkHo8QqP6e0NQyXFqkg5Y6qwIyDXKmu59YwexVoFFD3s7G8je8/48qgaJcOrpenbYFUn2kE8I3U4xxc3SUB6L9EpMWGqVNhXGVvmK9q0LcflUygORwy5nueXNaWI6u5Zq28DJvpAERerX3YSwsZrzXW1meJ92XdKRLSqL+VCNP/nSCEYOUE0uQWYMeMT9ds3PAa+45idVgY9n0q25I+w3QUTTM158Bonmiy41Kja1PSdlzvI2J/vDlunjp4Ifs69fcRRbU0SK97BW68AxM6iu0B3/I68A3sV6dAU+LY5efnfRXieGIGVLJQkN5zdPNjPMMW00mNhodNQUW0hLZCw4ufaVU7dhrPehxjPoVlgXWC8hkcELj1lll3MrY0SOFsmEVjJovLrLJxOhlR139kC2SGW4tOH2IKP/W+JDsbOK+Et9dAoxVWc1aDo85O/HXob80Jp4CZw1a65RGVXILry4LB8d1iJGzL5OtYmvfx7K9lNc5oinzpMLU4J0Fl4Af2bhtCzholFQ+6vfXY82mDrhU8ajQBpLPlINrrOmEg9pU6nnxCJ+xskyiZ+eX/LFXGD/LBAcoi2gbqPyAjEmSeYtODFr35UIgckwRRQv18q6+f4XIL9S46AMYwo2MsUZ/WMbalwmtFg023cF4QNU69Gk4IUAKW8YmMkFOzGW1/iIZNMIvf0L7u71CqGirCIkqz7W7eTufxo+tIIrxombvVR8zewhEp9zzrkE5Jy8G9lgwtktL0UqQTT9XjqJTfYD8Zoq1YQ/1gcLxZPZ8zBdAs2c607JuXWhj/wYcYfmGwo0fbVuEV987nipcaTTJn1JbSKFMh0YSokB173YR0XIga4fKqrL8BBwhg6AVQks94yDBCs+tjDRcxQBsV/7sHDhybTlSoCL2fTFxWZrB7gk5c7eNl3j63IaMmzu4aV+21mCPEDklh6yhv6rBA9XmB825tXseOQxdGHFz03xKf6dA6RbiI15Lm7u7vOHDKGfMZzESPcHi0Rchhlb+RkLQi4Nag9rssLImM8vntSoUMIOX1SxhpvFyxSrUoKoGOOe8H9+OaipMPdPUEv6RVd/un6CCRUUOHt7ySNeXOXKTuk7EHFHFykK6CKxjh0JPWQIZC96YT7AWlgsVMgPrZK8dePOlMMIXR3C+4lQi7NUfvo8sE0DTD2bvBEUmJthn/oq4Gsci88lSEdH+7nHyjFwv/6WLM8h3QYlxmZtFN4Mr64CFj5sarcKMUz0OC5PUuzpgo6aFvQz6aWXb6a8aQ7LEWFcUBP17+8YBiyP/q1v5gUZvVZKKnGLd8KUA5haoRfVeGOzWvKFHSge58mvYt+WPhr6xneFyGFpml3xHw/SfVxMIFu8BpXbh7e6uvchiRtJA9zEyRkR8e4KcnBLSP6/1EAnW3Pxg1YYrLtAORmsckSobPRZ8qkkEzrOXaKMJhpmCLHCt2XMRYabH6kMPASX8ifh4X4s0Vdu7eR75ihkwBXHqWUJ3gYEOwFi0RCLQzBB7+dDnJRDsGlw5x0g0V73s4OVXbppYxht0phHpGM79BNBKgYldXLcJROSOtSu88FvFlVhiaeX0W9TZ1DS8VAESzg7+xk5urItMik0DPYNiIhueKvJBbmd1BapCbjor7raXqtgTcO9CyvFjLS81NRP156fCkjJ8pwfCv7ScNLC1BuHOKAdMojc4Idvm4Yr2i8novGgdrSv7rjPOO9ueH7CexS0uT0H4ZVf0K0zE+doXnd96BfWncENAVl7ZlHYjdeXUO6R+FiSgoZVrH1GcMXZh8my3AIim0kUDFWd69R2iyZUgDYR3jE/bjX1S/pYgIQG/DYY6qENjgRxZl8mxAhhbUoOSdl706BKlYE0cge2ns4MW6ymBn33S3BcaqK/xySnSu055OGwDxtcEif2jhsv6lqYJQUYfOv/GUUu85Q9SPDYONx8RInF1wdhD/U+bSNXiLaeO5uI1aZy/Lz93gsGp1FGAtQHcdMUKi7SDq+f0Dr2uNQvSmSEGHt8lysbLnQ6TOGsl1IL0phVeKYU4eXe1YVBNs7IqGYaKc7OfbKBJi0kDKY3QYzqylmJec13BVBPGVZZgpajZN1erze6ZY52gOObz5clQ/kwNTzdmsWFeQShwJmfVyeT84xR4Z1q021fZKt3bGWTa1dns8KiKmMWKYrjdkhPWIuh8LqvTypRTziUj7ueJ7jX1ce/55P/LpJyET0VGGildClBi9An4K317krG9VNk18AZOrM14EAgKmI+s4jOiYE7moAC3YreoWXsj0yQDp0FrCVz4EPx/0m3AKlW46yVn1F3EswnmCXnLC/BfdeW+FXPc5Rlp8iWfizDVGC5sAkc8X2+PTGsOai171gld2ytiYUrBLD3PojmrPt/213GSFYDcXSCWzyS3FxaFpobElAD5FTkXcBThuQaA94cmzhubdJvAw201e4+g2h+S15s5OlUhnNaC+qOctgvtqs44e4ZVBOZPE+pOsGDbncAeY0+tve35JXGY65odk9TY5c2G5uoY1Ay4gb2BmcT8IA9+rPJLS2pranX2oRWdAfzqPHu3tVYIYTYvdqtkqw8dWG+DjaF5TdzGloqGvpPhWTzBAid3D75UGdzXAEMEy2B5AzLkYTWgiauB2XeQcdUV9Bm2ftuRcfM+9Qk/+zKV8+Sa+ndCdW/xmrqZFDoEdc/FroZgVc6B+nAdmg4IplGawy0PD1240/3jnQLDDltG9u9EjED0O5Ots6Dy63k7N4xoHShPGZwNHjCj80tj43SL6nM31gtVe+ZDyTF0a9gn7m8/FdEutrpacJBd5JCPV3wvfnJHzD5xEoVcHQONMHMsG1bkok8XlhSbXqtjJfJWWCasBqye0gPXaB1AoRQXGOgf7hYXxAlueTGyIdFYLFNU9+FsqcleJCPk1AbBQxYfNxo+MV+4fBWTTvnrJCby0IrFuyo/67ysNI/vtfqYfDQFKZQ6td2+z+9iTznV9qqM6e5pitCNNXvO+eIFRfVCElOQxyta7gWDW3tWGCEf/tFTtKkrYFcnv03kd8olf/yUmBXkNV60MY6ZzK53NGNKWmOT5QYnwCGHliqHYWDqEx0Oes4BziE5aRm6sg2usAE8D+GXKBfnFASBHlI8gBPHlIz7NS5x1Y3zx23xKJ8BqvGgy97LMjkvAqf0sMBWeptxVlBDvMfCD/zRUOIQ7aOFHpp+61X3LmRlkvUF07bN85uCCewuqA5uK1QHfVnPBJZ0QOzd/pYgna7pl8i67hl4qAelH0BuqZvWoeTOXi45T6FBQww30iEBDJrsvIbSFoMkW+Alh4yoLf7lW0aCsySDMUTdGgec7cE47CwNkUJ3nx+9YgZWys0t624xKKsuet0qrFEX7vgeUkkAlKbndgVx2p+VuTIurF88Vw85Tnrsu9hILlZJOft1Rhn40AQZ2sxegBVB0qmS14EeRC0DHDyzFF3LsttGMLhi/syEk39C1VcsGWGcrTPuSy5f8oCfqkAb6oZgRWOQem4APqRyop0LOkmXksFWUkFLcuCuGRhlcZUX6QAjjpwJ8759SXvYuyBatq8HX9hA0yruTNiPEYPWXhq9nGRQqJIOOLq52zB0JGfDsgmEB4jYcWayftpUp5SqfB2ChPs9gzD3nWUAEZhgVOeOG1LLjCjdnBbotcjHNd3MPGLLauJAzHBgGI4pImkTjULDP4CcVx6YNm/yy/svksziJMZ/Mn9e0IgbDrLkkU7y9UnCEN7CgWozImswpbwcah2PnO8pwjocKg0qOjLWxRZz6DgNYEUQkNsSjDW20LCSu7XMYvvmkcqwt3m7NdluvQvAaiE/GQoI6axFHzp0EJoD7l/2fHoU2V6mL25Q8v/+kStNEgOtnCwQhiBHVZ1+EdJqUDIGIKzvv5o081w9aPrVnlOk33GDS2509Cup0TrmbYXDPQGeDo2Do0gzl4HTuefWnUWSKKpMyX6MDBmnW01kKJB45b6wrggwLckIudBFUtywY8R4ygVMmE363dbPb9jHUCurHep+rHHtMQO6FBp05X+Q08foxFp9uQuAm2wkB9Fd4b/gv79SjNEHAxmqZIk6G9ssEVPGPbfm4m7rzRhMfvZ0V/au8+lr9a6m441DS+xwKykGZPfVlKmc4rsj3mWInOpb3BOzKrnlEw5vgoJaqw0V7ueBnX48o83ddkijG5v6fzue/Wr4QjPiL+DPnyRL8m80NtHv3qvzUG66a3qOoXNWDG4PVX7Xx0q/i3PHicE1dRLfzv+i8GEsdK6gDkWx4VUaGIWxIX248HEB4KBWwBE80KI0c/X54P7sV3xqaa3XBir3m+hv9CluAxaa93folDvPhrbHmum5GxMfpU9+UCoyNfD8IQhaTQ3HzYjdHT5/xHS36TnOmwdpfq/G722aM5HslrZJcSXZIIiGylhzBClU7GpN7tGKJeu5m+TDs2k+DFHRy9zSSopqSLRo9mI/NpGllHOghxx94sPP9jR9HfgK9S/NbBc8hdeaonvH3RDKO9O35wAgLC44CL/V2DOELbITvOJ05Luov3ftBpL5NW5BQ5tfzw1xp/OYgkVGI6Z++mtvF1WUHTC8RcmQdRfYRgn6myo1QCN3omCsLGvDyoSpZyXnOA5njzP1eqFbItObjDx8Uz/Ez68vrA1xvIrAucnohREqpdkCHsmx6F26yaugfVTj0t7p1ejbfSfR5bT/YOF6qhiLME5qjmFwAkfUoWDwOrcv5EsmyI1hTzcmrpwdGzlu3WhNWQJcj9HMkWRHoOuPy8OIGeLJHc3/a6Lcko0xBTUrpPcInhu2zx33yCocwu3KTy9Ylrm/sS0EuJ2k/M9GYuJ3LKXb8nEXZ//C1+v/zbKx5tlpXNjGyOX6sYXtRqPiKeCusVMueVc8A8S1ZpFCGYXXmF2L2QvZUTHpzDjrKRrmFJTbgowWoJwCFjxOjEjEY5v9V6emJAch2N3di75HyIh/xZEMFy0gabJu5VMr8JYD4rxb0B1MyOQAzJCL4hLsbmtP8VbYcSeMjlcDRg0XfyFaS7/X4Q0fgnzA5VyMvr5CpUtMIp6D89V/bhzFV0ehNG7l5RNS8wl0leIwHtt+qqXI2HLgC7O4ogjMdwGp9e0tvIq+UWn1Iq3iWTwXCKiuM977A0XHECYdAcIFi3pzfv4uPhFA6gxBECQqRbpAAZUIK3b61/ZViUr5UFhgQn9EtDm7P5sX3iNjGOghB31sGJUVT1csG341zoy41K+MnnxM0qpgXguqVDxXOrajcDCWKeL6vbryot1/TGTYs4rjp3/y32v8QwledDGy/ootFmKLyRzaxH4hKOROV7hj3lHoPhEbT7qUBwPEN4tFrmqt8b9XxrSeWIbiOO8UtGKSe8/DxE2vNUC4sc9+qNpGm4dA4WrfG0eZpy9wf0eGYEXPbtJl6+5TDQRkuujmWd1aNMODiAAHwnzsLWZybmdVGMO8B22f2qJchnmUU0U2CqqFVAVe19oHnSEzkEAnCL+a0l5XbZn2nzGuEFDas8HGEDTNkp1afuVJcXZQmuOJl//H2u7MpS7/4KJghePmqlhdHlOsd0MrXBp9ybUCNfD04JXVc17QwP17MdiBtrdWjMpOsNq94XKX+JINTZkMzJoYji9PlYgga+JsBNLuBvcCuYMC82zE476IUO7/HJhhvZDppqv6PZIyuTTCaO+KTsSEOHevPs3SRTj28Yto62iWOBHmW4jliMHllLF3ZKVG8gMf95iZEmlaQBtOlpzBjt5wM1VbbozMwP+xHs1zQM1QCTx8rUo3qYXbRiRK4s3pinjwoZcW+d+INO3uSTfsuIDiSBcpirV2oKqxXZlACU6nw29n6X9A7c6oyhhljUBHJNUDS/h6m/1zloaGNvJIw4Ygjwu/9RfOBtLqoYHku3+2Snab9u+5yFmPfrdFySehYkcp7+/qNG7E7mgKNf7LS+kM4loes/Fh2NDpVo29jvfqykt+hC+Clhq2eLWUIlRdumekWFiJHGclL0Yx5jQO1ic9GX61uVPUCf2JMYylfEjbGzs0H4R6ug8uFZLtP4vvw9qbEsvVtg6jpN8CW8U4fLgPw8rXBYQlMW+NfHlezBBplr/FQQNRzMjo0SDFFslvDn/YsKNdw8V/ib93iyJhM1oz8J4sTEbV+MA+0L1jDpJjpsEcG0tKo5Xo+nNDybDm1leTRuVdKXu1iRB+ovXvw/lVSRP6/+nIed02nF4Jjbz1VQaSvjAfKAcscjAnaj4mRBlEe1URO8I3ADxU7f/F3ZTlpJGOKVEGQi0Agwy1J3untoUPU9AZZ3gvp0SEx9vRILVkhHj3qCFU/xkGD3YkQZI8ZzLaVLteSNv8yLpxjwEALyQcrN0yNJ5iYzAUObtMxKNt7Q+YhPayl7tR+g94L8w5sbxEacALhsFK9c9QNbKiJ/iruwxNZrJ75Wi2mUoqWTDCD4QbUeksOwaK3HLc7YWEaF9HoUu58nauqMN/p0C1XgVGFqKq8U+EGrBU89djJ1ctEaxr2VUl+FAFS1iiaRGaX19HtoavenzJqh50GY279IUauKpbKqQbqjgfuq4fB9HV1mihMNlk91B56SMZqAnOpHoYorC/xxJPTTFZeiHw9wONn9c5RtBlqbQ4z3ysxQL8y0iFtEqVtEHKd9nSZF17BYN98MrR0HrPVUCxKpoUPo28BUMy3HI70rmtuLvyrq5Kc/IcAeQi79aVL/OSNIBzsmwdUg1Rx+8qJozzSrUX58QqHLHZHr9H8m0BVjQZVjxV23c7mqaMNSfzRu1W0IOpQDvsW96aumaK6TqF+iYuq/s5mrsvJbV1MdefPg/ICx0BeOwQCZUUhYi2mQB5p82gt+JM1Pypu6hwQhUwBIPP6r1Yt/dheqsJq7VPI7XG7vGLip6KldoUsLnGZ/VCE/19Hb+LYj/oZUJaO8mh+NUeg3m3zMwTL0bSDgocCbI5zTL2Vewwi0u7hq43RTYL5GVetev6TyNFfs9P8xYreAkiIUEY4ORg3rOLc5ufKkaqXnkfryhp7l+XEFWQJjWreAE5klvWvJSCd0takzjPXSwb9M+Xu9CcVcFOUJQxCZjccDbvT1YWBlJHiDXSIAhTL+ATbREdaXrFCBLHpbvJZyRDw65IwVSf7/3IsMcIUumruPaKeJp78zvYdqiwSA9Vg2I4+OGgYdfdHe7ycoLIsqO+7y7fOzEa32zYtqov+Y8R4Nc7KpHC1lxiE7S8ZVFY72FaEd3FHyNCNtNQnGmH8CzXT23Nsotakl9lWRLiFXJIyaBwim8rs1iF4qzDWdYTSd0TaF/a19PVj+JsOaxTKHIIg0N6ZPI3YK1MvXKn7LZ0OMeaQrskkzvIRNPz3V+IcoYMh/cql4KY6P8R6baHTd9VX0g49wQvEkDjBjkxBEvxsBrB9I4H9+ondmtZqgYDibhui5Ej5lt+YY9eCxK4lySiMfQN03/2NHemQLdRYv0zIQCy8ieweMl3g7p9t3QB8ZYl+lLVCtTB/hEyxdxZ7Bp351yhMeZvXXvjYdDiUkm1rl5YCVcS9qt2O6vtvAwXfKtjUyJEyU/p8mmKAQd2QAkM7yXfr0+dHfbdolx+dXCcdTwwm3DP1kabP51ynhJ2H25O7B8A2LBT4CUAhOuaEeCobd5vXpyp5jWwUkF9wwc6ufR+06RhiCwhVmchLs9PoiWjdN//otDmwNANAoRtYagpCk41BK9RbyWjLh2Ja2Ztv3hGPL9c6n0janTj00CzRNH89saAF1ZXWVc4rp+enXchAQXNsdHJNMD9t9EmpvC9qQ2KHw4+Uaoktk4/NbakFnyTdzMpuEga/PaQDAgCdL6PXbKWQUQKtn8Vv4MQctCd5xmDInPu07OzFIiox167/4kQ32GaIGlwQoUbYEzX+WQjK1jdy/pdBSIM1m1pzq1Bz7S4K24NyUx6Qjlt7wznhuLWyB/Zy4zF5jPnygnytX1qSnJAs5W8mxx1pZhx0xk9pWTAxRu4QyBeqENW2AVDyhgliI7pQ4bMuAAjZFilBcGAIBQfK31AJzR/QPsziC5q1BkF7xAodcENlQj1sNBz27OsPHZBikFzCbbwSVpaoPlF4yTPKmUEYgNF7oXOpyYokkXu8RQG0WC7qfTaumVBCPDfan6yYqjSymO91j4d4K3batzrPfPsZel/Lcqevw900YMsvR18YTeD6+k67n4vumk3qleKFRlxLuITj6Bwm0dHW5SUieYtAiPDCxLnb+v8/jSTINi6QZw2xiREUpXmaulu6i1JuKVrpRjA/FoIhfNTSgT9GG8ZC2/GKW/H7YYFfuINvqOpvG9/UmmRmlWHEyNNa014FhMOKwFgB1U/OkWXOp0zVvOrW5nzxTVBVLP6iMoFSAWxt/RQ+hKzs/kr0DLnThwJjM9qYZIKz2dAtVAblmyWW8mHVryxC/rc5diafIiiV/JFE2RPMIRXo0nNTsbwnDgku9csaZzl3P9oxmqVZdvRKQU76rpqKODmqOzJPS4WKwRlGq7DWe82VvIN3HUo9+LtZ0E1/rsKmDMb2rRZS/QHj01FJi7VF/JOutSjNPn4vLnLwmfTgGiCERULGS1KBgGU20gWE0ZGNlBBBCEu4bZMt1YFVfnlYI9t1flSvuOUaD7AKDrQnamVIjAT0/uB57ekk6HdAPB7gtN1hgIL8WjxQ2golTfQikdw7U4gH49Q4N134YT83OXU2qVbyjs36q6qdyvWR2/mhdJ7K2d1Qm05E98mLLy53DPSulNKPFfHRqIwUP7xwSFthnHL/WCXHIjEq9NluPlCW/7RBw5gGLsq0iqqvM570pchusYsbA9UZA6Lzyp4WPD3ANYnLMp5pP0IOaOizelw9mLG01Z27hjXylIvOHr5AuOBtI/b/aLAyos9h3OzgijsIe1mJ26+vivE9zo/2lKdu20LsREZIzQwj1jWwUsUjf6lV7VlLSig6kc7mVujqSPLFrNfEtwGamdEFRrOpwJiSXDgRRZ/t+bPH58QdUs3HMKBwvnbxdX5uxcxPSVBDJf50HprpDgEdETsKfTtuhB+YIwLTayVNcZRvq+T0eXsuKOZ2R8poEFoCUcqn+OLgL0+uFBK9p2NjWQk2TW+L5epTbq3+hV8TBjh+emlRu7rLvqYtBsj624oK+lD/oqgH6pLhc8VkTgMkNvGGitOLJUSLZHx/EN/OMoihYl6o2yCqjv0apS19EWYRU2eGiht/fJPDnmCtELeMLnf3KPKqwnN++fOfTRBcQACOIEjhCNYv2EfCTH8IJxJ8hlj8+B+q00KyC36KnMC1g7PXYJYj0ZymJnxogaf4JbZCw+Gxl3WEbYR28lz2INv1GKM3XEjIUR2OSrh8MdaCvpZzxPQPRwgNS9MWNWSnKIohNhm6QxsMQ/8kDnTy+UaXgsf/bvGntNMA5KV/DKi9gpDPwsUnnbL4xCzkUCNu4sLOmWS3C9pM3wSGzYOx6QyK6+kfOjEdwW2VoCEk9bH6padVNQM95Lo9HU5IKSsWcyg1dpc0qEh1v3qkTRGGpQZNe53GreUyiqvT8CFLDHuWgY+P3xoo2qrJN5emu/rZFZt421C3TRs6LqHCLZ+gNUXLQe9QqiPtIJr6xuSQRPwAqpVSMGag0W4RFbGUhOxhnSaTxxLSr4Y0bEL4s5EswsJr3e+6HXJmrL68XGrjf+rRdYEDeEdNGFBzjK8x+pKBA+TAltxFhaUtkeTIltKzWRYusaNAY3RByKjHAkGkXcz2hpvbZlI+LUyVHFaW8b1YJVPkMVlg9V8virpy24rupMWGKqoBgINRasUu7eGDjUadw1z8NG+X+4uMs/AAwl3J/8Cq4lQiZ7+qho88NGraJQvw1Zc2iLBpZV8azBJRnUhkkQRM0EjKn+aGWOdmnVTCK/owt5D4+BNB+dtduPgOH5cQtlxFIuID8jBPw5uv/lsbACi/uoAjxlPN4pWChynuuDq/GhYYxw32FaZLsU3Pqa10vf3HOFiYZjhr0HG7PnwrtIqt8xXZfxOGi5xMJpNTOkMQFQvXO/HhpzxfbsmfJTXQPXPeguf4hYvT4IMZBohenpFeoHgsAAElzZMivOEqEnZl7H4OavzZaTP9jtfCfVifjrFcxCtrufJi1bYAnspJjthO6kpFklt6GVR2vznOLeYgh08+5QIIqobY9ebLZhQBeCNhl2ZywiaVSJkPKoPUyVVmhWIpQu/Ly1QQpr4HKDPVlOs/3JoRVCJMdXrO9p2kbD0w6/ftbfq2wTw55IEn+lw8y9kLHPNpFwgoHgSYF9Sl+4/DnVtuYR38vLUbFV8HntWyLSZQZZVjgpaeYla+4jOuCqlzyzwiXAX3eSDilTWATORHqSUmEhCJQZ+5UHuadFl/aNQYGLOJwavZdDBt4f2/wRyytGOKxSaLNI0322tbLxDAwcxrEjzYMjTwVldkbwbWYYHv3vfxUQVOBvAcoGEBNUulEBBNRhKWXWpxmlD20jmlpxB4ldui9i7sH0ygFsJ2rn0SPu1QMo3E0cXlFx4ab3zZmywetSoDjzyI/sYiPtJbwatyafKXT1PwC2XseaF7AAayYuToo/VWxg92wZG4LZqTUXRduDuJpzr7FtXVrzb+qVmaawE4qysXnOlMvB/wcgk5tEdRJkm63IM73t/rmHt/ClijPR/yVfekXkS64AzeSBwr+F/1Bmbl0CBcHCIKOV581t55G41fBWvG+pwtfoweDaMXZoWM7+YcaQw29mUJVp6Zgw96fYNPyXCJHixD/c97isLVrzfX4zlZn72HiKGphEPqjOQ8C4Q2lKLE6ot+UyvSWfnP1LYtzjEVBKH8z4LxY9Os3a+zEyxqAAwIwS5mAHd/vl5NXmEMwtwKB2euoMF1Fv7K4e8d6E2CW7lRlI6XEouhY8lP7py8FdZZYCYHeHkBiMbjytw7/YEvgPvZ/yl/iASonro0oouG4flc3RXUOQyhqUrHXS9E21VlNfBF/lWqxCnBU/QK0yAI1/mmXLA5wbRM4/9Cs5SYJZF4ZaMZr/P26WSQxlofsQNuNBFqmY2i0Sewna4I5alGWyTfq9OSFiL7Nl38RDRvgAjifkOA6gyJ5R1HJ7EKNi7v97XZ6C4otG9SwUoHUADvZ95+wOFm3uV7Xgu8eyAKVecEEM6pL5ryAl9E2fgpIup0P/ieRxdSNy3SD1snsrlONSdKZATagx2KgQlB/1tbck33AEihZVL3uhOzDnc8tRZ14J/kbWODBG51BDFZtfw+y5BcaSYfdjFulnxxxWQj1/jpduby8xMDVP9d9G8Pxb41t3Rxy6P9nN4CVEevWMf9XGqaZvbwL1UlggrSW+WPmukj5zUWUzXfhHSA4aeT8NwNcAWGP3Kb6k67A30Q3CYs5yQ5q/347mH3zPsNM0fBm6wHn/HLX1cCN84J+X1i+helxU82BooityvwY0SgAYC5Bj7ZQpkw7ZUPs4lHtGzxYjxazXf5nhFIsNJN6dft/1aPZLOt2JsZQd0FcuSyGmybvj9RjFOViIglit+aMYQC5Nqwxy8NJc1ZgnrWTosEr7NEY8dNoxOUhli2Sd+Nt2P5JRHeyjAYRbFVtZIwFR1D+324+Lv7rZilxeAZaQXpHufbJBYy78Ewa05EaSJtVXn4oOokwFYupF71KWpEPNt8TZ2wNHmY7ZLSieHSFFpCLuphnIQRzqozIbW5LzFm4S5FGZnA0cy3VQOh9xbrB8aJR8kcGiCTY93IjDaJXpyRac8qw38Vli1A4HycUMj0lhMAzmd2QPZJYzwXK42SNHrFyHt0Y8jTkqCKRqy/NudrLI+ZjSXzYgp0BdA3/IpfaqCl9tQLzpn062eCAGY6OsCom9t2tdH44yD9ZH/aMsGK6nopVFF5omBx5Eo/Qn2IdmBlziODThl4tD0+dUc4+kgk+7jq8XPLUReyY9vBCyUDRRcY7/umrk1dAvkb+rQwEqN/Zkeuj9Dadp4hg6YMPbmXSdMwkg6pECqRgdtNB07y+Hbf2RonXtKvBtb0XMl6j6xpsUJOIiU3/M3/4kl/+e7krpEkPzxr6U3kFEsJt0G/DlTvIP9e4nhw49ixFFsFIbZstL82zLBARrK62n7Fb6YhXuYSY2zyi00ye32q2sgLaz73LMRpZ3ZW7jbYFHT1Ss5DaKudhLMHLQQV64fhQOnRMPC+Q/kzW9JTYpQ2f/M2UnTrBeZSYlGZf1+Cn6UZ9ARmbva7eNsl+SIj2v5j0Q7qtGaSBwjf5WsNB9KqwcHGku+I9lqQWDLMSxLwnKfSHeU78EyEj1vxsIDXtRqkj0YwYrLIdtGpKluNm08VDfr9vuxhA8Ogj/YEjlaMMo4WJ9dhbfTA6FHsEcrEDz1VOppPW/JUj8BYQv6AKvXboDLuPxjHMhLVNCwz0li6YdvbG52JyvPbwYUhtGhsIkSEaQcsP0rynyzjQQaPFmxpu2cDkh7gBscLR8/nvOKPFyC3aUe5jgNLJp5AhBrvRfFVhH1km28zXRnBV6epp9S1qQBPmFsK+tqGjzYUp72YIGwS5umNDUAcNCfYtC2pJLybZ0BcUTDMycEpP1eVqfG7fEjGH6Py5pqNEl3/2e+IOFMAtYjh5h0CTMZiMOtUGT4IEKLMBfR9A5zzy2Levx1bFuCUMI+Tx401KBdBbmrFA9gTHKDCQjz0ZJePMRR5KXJjARrU/AL4w+P37YTA/8E+dzb6q8Ej2H5fuI2LiIEYgQDqNh9nXlNWhtQsPOCloZhErIgNMFceIQ8oBdw5Plihm8V8dPCvPct7um6PW3oGOg9iGJ7IO8m49iSgyrgYngEyRueoVbNbOnW0IokalCCBaMkci07dqVU8jqERHx9Y0gaxQiTjNo4GvNBuOo5bM1Z5tk0VNl3JKeva34SM05yaTmPNjxqgZV5+n0v9s/5E4lI/z4LxfdRfN6yABzapOhUfVIvoIVfSPUFlOvwtqWcLsq+if6nX2ITegRajfdqOUXd2aH/uaW1Dc2mKJFwe64u+B05XkgBNQEeKKYy5VqI/0DTMzQlsIRSeJKBXTcr1q4uzzbZif3MpemPhPrU04vjsGADWEQ1K0fuEN1XRbcTDZkiWAL4Di/cmmuduBDBzVLyILtD3D3RVRp/GwMSY61hFMzmevY8HfUGX1PFDO4wTFeerEbJlE+yO+emn3Lv7PmKsT/Gx7JVm6NrX4cgbu0q8NTJqsnBUERZ5IvdyULgt16eF/6Io+nU+Io3pgroWn5RhM/Gpsvja3Zm5DgMxk8S+yNR4VllwZxhFUn14ECWD65cJAjyVu04N9dKiAW9R3QQK0kcoC8pnkIkEcSfGsnUHVr4QahM7BxuADJwHfYJDvrQHDBeHGCACvapAoy1R7bPQbYcthyCV5SOASLl+T8o9EbgKTSchc8LBXSOi9vXpwFqChv3TRpRmSeLSkUJOPBrb9B1pVKuuZB4xYIHVk/AA6ykKqgNAf1Mnq/rSDLifLDk5p9q5N1TSqPd6GZX/uJ/iGp80hUauQ/3d9eeAu0hgTYSZMXQEmD4IXEzB+/+NR3OCfyYY6d8g7VpNqt3CcOfgoXNOj5fcEqhQx4+0VM+dvMHFKRUZMukvnWERuAczfpOU+zHKWH45PmEtNvMi32UFXwTT1IyAgGaM0UL7y4h2Zq33xb3rbch6B0hYwi9l4ZxX6Gc4G4WXJGX8aBf0MEb926so9HOyuofMIf7wwztKT2byxZryyDEeOMMzzurPp3ddcxAYhfYW3udXPDBDmelGBgiAsbzR8JZIuilY9H8M11GgL2b8Js5MOE/Z8NXHX3usWwEjOD/BSaO2wY1pl2VJcrplRby35Z9mBDII4Gq+qiijaOcPbxZbU+L4Up1W39jNHCmdKRrfogWiXjEKzuI/rNbAnBDx4A94u5lVLgoefWFyH7jXpNVsyGDLaePGEMHmEJ+NgrEf2xyREch8+ZNGRA1aR1V5kEWQ9iJokKy7Zp8MNxp12qz0PU39VO9edZgF2tkGmRC8LYF+JamaAis74R+TNpk7mloajKTT/xlDqAXdn83JI3+t/GEJWkzllCIm4gW9O0bvpJkv+/vng9wGTTSrh9JL+iw4RXLfpXJkA1BhDtKsE+6XdK16bZMpykkhEGStD4vKyi9PMqJWMxiljYBhmjBs1eXoyohzpr4YFkmFmDjHNOmzIrJF7/vVCFazzuYfnnO1byaN8My5+GMs1hUNgeF75voFQ/UYAbpb0lVIS+HoYrL+Ydt99KW5aQDPGVHtnrUz5qWLjUcXyQrcMR0o9B0zkNbqSTqNYSLJMoeSyy6lPGSgAa7de8Cv1LqfmnODJ7lpKLUShXAfLlSyWmKdGvq+m0U76vo3ORd9MVMUqKeQkXfgQybtlerg+b+moSgUj5ePHAAbxwVf22j/3v2rldkgSGXqs4KfB6zHHkFYBKiaoFpBVkmWRQ02KYCc8V1oCnlIBDqN8lI2XVh/fwMS0lO744u4uXgQZ3YqTObV8VppOP8FJGIqFaXUU8Vi8ZDLh7xUJDdRiz+idYp9Pcf52fQjsqX2Ke/GuATEY8NZRxXxwoz88usmibEd0a2EHXD19XoYPLVFJNdOSUQoMzMv+8kbRQUOPhg+Ecf/W6DdzIZ0ZmNhEVLWp7G09vkjOKWyajKA6RuGJY+yZ8iwM5p7Fwn4C/rYERlhTHs2COnSLMH46UWe04UPBQt2uUstzWf+yApltajgoyRIu3KzwOr/VBemBJXAUG+POZrbSmeNbH4lEuQn61eAdH6Frtcg/BJ1fwWbJnP1tjCoJJf+jLQ9u9p24BKuwyvltnm7ZwjhIBqJwXSbL0hANtRRMwJ2T94i+2ubN1Yw4CfrGHKuHEom35yKI2ZsvZDo7fIklN/YJeBTetnMcov16a9ci7CqI8d3JBSzYjQIvLVjCZV6vCYFylR4SyJPTSnzxEunmB4wRSZ5SOCeBlAtl10tydA3stqMSyfjD6t6vOs/MJfRrFptIYGUKbQBCFY9fQRK4CU9OcmEpDhLTBLRfMagiS3WHhpKefDwJIm1byFrO6njKBN10jjfuxJvTS2v7pGQWhfotxeVw5Ao/ZMrnkTyVtoNcT9S6nvinPm2/Rex9tJR1/KkYIxy9/BdI4rkllENZMx8R/Q0TQJjWKx7LEjSqXCZXF8RKs/ihcnVuMsISFxEkSbvs6tQgMEkPcDRUWddN3lBJ2ez/Ob7CdG7gAS1U6DSoHoi4s+qXq++u2eqc9leWHfHw/fffmWMM2jpYlpBObgzCQM9DwdFN9lzLQ/DTk8l1aNq5n208jtLQyZQxI/oZqAuhZQvRE+eFwwxeIClU+k0xXwmFw6sStjF123ni1lisGb4YWFNiyW7+hlCQB6U4buCAkqnbjaWgG9KrMmz9oBDkACzRrGxz9OnYaj1mRZgUDWwWQQs5YmrHfr/ZPvPdf3j/ARbHdOalCxbgHDC18ZSrRfRV+dUWngcYrWnRhnyM41zn10v10wqgXGR60m36nSAYhKy2H1SH0EtJuvrpVl+tlzpyvqYy5Lrjvsqa633EYVzrjuOFzJ3bH7W/frxcwzHziemMR7z4CTv7Q48TuKXWYVEovXiz8THXGfZGx6hcWBmCvDV20+cVqKZRzQySkVgRGHVg7VtCUDMhLQMMuXjEvI7uE0yBf/BKyQNQ38RKJHvIRDzO0Jp+Xy9W4Le3iiwLu3pqBEB7eSwwlRic+T7yOl/FVxNco2e5+gPkLAJwPkiqUNT+Iz+SgHzxwcQLy/hhmDR/wkUL1FrT0LDQLghBHIc6sLaxXIrVaOU6TJEHzrG4EBAlfWzvq6HGxAoxgUXZr/h2vgjyFit0HrJtVf9hHxtqZkJ+VkqpUlxLOffREC/woc/OyDGRBU4WpmFMZIknC0FIZQIlmSSjTj8241MD7xRnLsTfXNNt/f550tyuZ7zaBaW8UznM/imXmXcEXB0Txd0lHQ6YOir9oD/7mvfTvdFOeL10QZQRQ7PnucUDuRE9TVrWP6ZyuCpvTpo1gsMHUOU6AZgFd2mHY6K4gWt7qSEGuQSfHKOXaGnXGg8wkYWl5VB1nvhIQV9wQzDi9zzGL+goCVNahuEenWqddjY6Z+kvTQGzNgmNOGgy0qrdsJyJROFw2NXWBmAYHwWfchphUkDNlDQSzXveXduAFfTSF+7bQ8PMn27MxcxMhowe2HvIt4coSRuWenmACmy7XVQF9M/CbqerrWCDXdd2e4XtDny9cxjuHKTRwE5ljvOlc6T3qKs3zAcDGs77hX7oqAYzruv6+6J2fbtZkaO54OcxS+XTPU8cO7QT0n8uq1QRKe2XQj3tWwW70G9dlDGNbGergkulxHAIgmejlvrpy7JesQpuASpqZdAHoKjzgy0PXpJtYjpRDGzsoltSUDL/4B9rJjB9rxRzezgxkI6VIfAJMqAxwk/M31LMStIbb0f0GttEITGa1JG5iqD0VXRHb96efTJp4L6N4QogbkWq8JNMOQ5O9jOpDKU6RGambuJRm7FjWakc9MmjS/TQakHwqmkFk7MmTbx11hMpCIfLHilE5RT5z6Vy51qYeD4ian4KYeEvTTZ+C/9Y7kK5e/s8R85u8eaO1x8Eeybwe6x8OW/2f4YL1Zeo+qp9ZqEgCyearXaN1kcQC6FOX1a5fGsb99UwNLSPrYXLDtzxPei1dOMobnuzT4GMScKo17nDv/ZeX2Dbwj7QDi0NmJ1i1mrEBpZ23Eca3Fd21WBZtk9jIMokeKxSpnbsL5TMg1wmk9HDc21C1gWSnLZEb+8gWPHKLoZB1OGjrSV0XF98KwTmzGTySIb9fqI3x2zQkUpMnfAAWITsgw2UANtWnnxwTFCqcnadyYeWju8UZ3NRCP+FdMRRK3G5qrw6lSkRPBFPP1qr8FmWm333KOj3uSPmL/iFuCJ1kEY6eAmUqCo94dGilSRchQCS0bTbIyIJsq9AKqVSUMqwReFC2GutwKOzHAWzLc/+ETAGpo53r2SIUcr6Yti1QZlyXB6z5jLTs+NVQ0rBgWAkfWx5MHDm5QcpfOQpLZ78ud/0iaP1TV3gsnOy/WmErE9VbM6GsYhuxhFH8TivQoMEnOdJkTkwfFBd0I/lFdXDjqkG30paKj2rb2uZDf8rdvXF0157bAURI2J2xXNr8gH1QqcSqp/Ogkk1/NR2tUZgE9YKf6KtZ8qP6S9lr4i5vBN2DMjzxBUr4b0XiihVsrAAQVrmUScbnGRHDsJ+1TB41kCacqC0tKEYghjKtvIoc6npFzU8x+Emz0M9eTE2sJKVrtnNVqrshT51NLXsx+OhlhoO3xW4S7o4wWFW2dQHfxoXIfu8Bvv+Pi+LjwCZiFvmeQfEHPBgsD9IB6FjlbBTzxE8crTws7ijMqI6cdm0BWLASIKF86RI5nNrD+WnYcTyn9mawi9hrCykEF27RXdHz9tKu3Qz7WI0MoTle6zLNReqE+Ux0Zjfm89j2J7gkoAi2OUkEzDhrajgaGOX6jPSje5UC4D3pBHQAF+GxsI4PFRlY6UavUAy8IY1vLLRUIuzN+uxM35DKUFdG9Kf2MSbI7Y6rS/sXbwEqWjBWaYPIdq5E5QDkySsmnSxZrJG6Bb8Cr1eM1PPGZjb95uUY+Jx1ko/2+Fv3pqUIvlykh146ksN5aSwPrViSWYJX9B2bNaRH7XCIX9IkiJiRY6cexyabnTEYcRkXoASa3T49THwk//S2z1mdROzCZFiMlCRPubRYEBfNSUNC2UfqDpBuCB/5RTbmLzAnIX1I6O9JzJNFFYKt6pVT2JYLnkXC403mD8yfnrI97XAEvEtbsvjrkegyzEF36IkeEWNzYWKice9/XIJRRLlKoFZg5IK7dlulGqJU9HMNnNlEzBFgOv1cfHxud4sV24lvW86iE3hbdSS6GOs0Z10HE94Beqex0heNdxCgm0kVRGt4xCPZCSD+Y/9Sq0pW8DaM0Usuv/JlAn6wJEajU51J9YY7f+33PH7SR3Frs6ztoJ1j20gPVqntgYksQwphJt7UY5BUGIqJED407cddFU4Jkkqapb4lTeFWQB2X7eSW6AMqF62ZCa5Rpgn4qPhZBZoaaozumBk0LUDsBUer609hTz+E4CPpsTRF2f5Lgdl4QBy6+y2PCKHuaegn2DH/IGLenvXcpWDyEmTcyQFRfmGCKW5XF+HSPTW3wZ9ZLjoZrSXHZzVf+n6frmxmZXo8iWjAn9a/yzQpJrcQEPwWrMfSGCQIxtL2A7z9HgkAkKhysygr2JQKCx4yqbV44tH8HS4xN+HSWfhv4HgxDUlK6PjRAWO4g/PZpW5UPq97VQAYKFORNsCVwp8z+tDA2/S0Qh5FvtnKGnhyVR1XrgU00haIlkNYcUSU0VXZXyQverJTy7jJr6C98Q6j7C/Qc3V56Zo8Y2QxgJ4PhelEk1seoER3Pqivk+lokdKbfUpJqgCJjzVw1u9BDFaqs2KtIuQUg+uycXzn+qDd2sKxaDB/JtT/AsSAo0cgJkLdHr8HKjGYSPuORy7ObMd+isIs4jJ8ym2Bk+WWUAk2q0ae6M7v3bNTmOKBEryXMYCRLkilNvMrPE+u/hrS7p8eprRNKJHNShKFjeZ34kEeCwlxL+fpdEervo/3g+Za8nQQwaKdZjBXLCprefLwcsX0N9iG67imQXkVwaR+3Pu7WMYz0M/rTdQJz53fL92F/h9edecdvQCbz9QRu2ybD+r/mI8Z/EhOEHLBrXEXkG8A+MHeSeG3ANCOGYo9p2F6cPxxgtU35LHcxxPAI8po/TlyPK1Dm2dIXGFjdwH3vrrunGuyF9bPx7pUjdEMQudVuUszyjnega7DG6UACoJl4k/CBWGLXHAAMniosIyoHD6PnA521NQchtdlIwad4/7OlTtLvMd/QqDI29yhbaYYOTa+ZTzH784VVWQn52amMCdfm1RX2wsUGB6loQ5RzIDjp3HfbPfSlTx3ZBZJksKl52a9d65iM0NS7cKuCLepUT4PnRHjkTmZu0DI93NSkNxAWt2+d07/D2g8o1VLhgRV0Rn5zeODAKJstxtiOqFUaOLNNgOMg38KoD28VPD0mKfrbN0JMaHV8l7l5L2LthmmYwiyNa7SOrDv/cy5cwzFM33FyNxlkVOtN4yi0XQc8zIgLd8fC3DhR5Mm4XMDNuepQPkM6TVIPI7qoQclcI0OAiebTgdWh74IJgheU38SkAL/JSwiJO+Cc/auLFSs/wRFLp7f6fHnH3TtMb2HLtrp4CV8Oun2reIZXHn7+CUSIFLoNqcqvcd9K2EyVn9ILsAfUBc+KWprjS+ieO6fM9JxefLpuVc5OL6r8XEts1MUbuNNJmPTRgReeTF1j6/oDAJjVc8K6Sy6u7eHradKNmrrmr2k8sVNCDKbUj4nBS1BAinPAFr8sdnpi1YOJp67411lw7VUdrRVm8kAbMgqH+COe8K29zSSUGYjAN2a/4DqEbs7G3l4D4BsElpxZ3/0N6X04Oef7sPR/tqCeCpm/4q2bzVFp2cOd9+IY2GtM/Hmy/JSd5+W99PhevIR11nlVolKT89UJfOWdBXVdG4FC6XElcXEgyLc5S0enQYJMIJ90zwtnUwvoC3f4ex4NzcTWrx/fRMdHrV1fNvY0XHiuZ+4IsbNvSlZzwntcW4RcAojDhKWczshuxuTmTe8hqTKO9M7qCJNW0LBtrUbXCTrYjRZHSTPVcvxqHSPGtp8mgfxfa5sjMCBIWiMdDaDY78CQ52hGF1THmn0AQN85kP/xk/2ABlpjF3D6TF4G8c3cOE64Y8exXysSu0PyCBHf5o17pObozmIcaRrVUBvtbGjc9w6yt/7sZ/omHFQfHzxZW6+eFzuVPxleyzjZotbfwtW3wVYIXwKuPHEAS+097uJOYBY3Wu6+1CpGL3hfLWBELn2/yQCJNfAiivraq7N47gderGDYwX4bSEtrBm+CTSIkwuxm902fpmmt4cwn6U0N+EdCe2BWSo7UtcPKu634bhS4Mfdaklz2V30yW19HEAWV5/9WDaLRcQKTHSMeO0QPQrtuMfuEuE2JE85QSu1rhyEgtraOTy9fmJiyWdBRG0cPxlY0YzApwu8K6cg7v6l5MJjFiPXNFe3Ne5clsDkqRsU5ounnkQhhn8Bqr51sHlzpOILEmpgCahW/DKOrlPxVJP7+Bq7/Fc6itXDrfD+oxzuRhQiiNB6LEwPE3tXnrNJ6uHEu/lFX6juhVWfj15+wIQiFPv5DWbsE+BhEiM8vqtXKwEnCGCnXma7xynUmx0AXxO08umngy+ZiayM+Q0NiVZRDa5UPllOJkjpl6VUXHClMtuziXMMNaWuEhu7ru5gENrulTp60yej6M6o+uFdICCBJug/c4adLZwFIKvlIAui88tBLvNtrsJqh4qNNavoF0/8ZSks/hi+6+FKFpM/i0PCx7WI8AvsiOox1G4CWMg5EU0o5sCG8WNbcsLuvLh0zbxDbip+PB/AhEJ951BWR4mz/6nguxqpu9FSI1SFICA1dkDGQy4lES7Ifr58gSdswiMv8HdENxtDN76mJjFwkw1Z3Yt7LifCD0OG18SZS/qI1F0L81XgziM8hvROzNnnbtRsJMVuwnC/uohp1Q+qKi+PHvPCtYY55IHPahC6IRhxWrgM2T0PCr04zfPCLyh7THQnt20Mepo5YMX/esQdqcExhtTiSwIDespWY+sX6uvrmTKVSAC9qUb2IRPu3RV25BuD37ieFf44NVsuDMj8HkhcfC5NdfeddMhUc0uOfp9tQVsoFl5hBvR4jgmKnPqn3SNWm4PbebwMcqC+8NV9oNJkpkn3RXZ/zgv+cZ8FZq0z+hDRDS9Fmunhk3qkv4F975akobxd2WTfPH3vhQ8VGn9bJC5gEZ8zfFzbuDgiZ4ZKiTTfeQb0A0QB6t3GcQ08M0srKKc8D+E43pC9G1VsVMillZWsr/NoVP9ARwZqUR23OdBStlttXyiL0HBNtoJ08TFmQIVq6PjpSciz3ZSF/KDvuzaahgBCea0oVauDWLTpwGg+/oP0C27ThXl6QBtbAokGAuAysQqzaGfvfmpHP+CEANe2U4TW3L5MXIub/ppv0s1MU1IXqBrVXRayCHqTNtr2qXFTh7eMpcrxYSroQHDeyaxpJH1zlCmLT08s3fFDSweoyykq1JHQHDA9LSQ2OibmfpqFvLJ4pLdusc8MzK5N8FGHST0I2feciXDdoIMUOkGdQAsYm/U9HSbBDbNFKqkiXLk4Mi39vnDvOMGevhBcJQK4Zf9x5xePxXVzjjYHH8+PHEVkMEgcJc0kaRNHol49th3j0PGIIo85OT9sUIreC75j/owtAizywIg15IwlOrhcgkHZ4+7vnziejdbJaEdtJfTNFD+75vPLEw5FP9kWSgdIn9Oc6TgTULEfXuMUjtS/03/Bx+3g6o0YACC1GvMnyzWjW/vO50mgioipkF1FtpP98+SGIrsdBJTCreZ+t0uhG0IIsQcnjKWgmJmznf+7tTIdKwiBN4KkL3p2KNeWBMIxWcvIiuxNiBZpH9lTqvi/SK4LrhaZed/i/hkaVTIyjVv+ND4sCbd7P8zqlsJu2vSRjuN72yJ+GlTI/xNGZ/6EgMyUNmXF/X5NcUCT+2cUT8OoCsuxQiTsWs60vnkpoX7kGRcqa/vZZMC6ZJuluNt5vUA2EGEoV1wYRPULDySt4X7Gi/+C4GaZyIl4xjuP82rbZa7oODDNXjSsrRWFFLav1zSyGiVSe4vC4W3ZfonUjahCB70j9TaeG7cpAfnmR/5MjXPM1otYoOErCxDSbBb2wnkIjS6aOsH5Vyq7zIPKV3FuAkeuHDm2RcY5ppeK5uMbGwqwiejlOavSf7HmmKNS0XWbkCsjRDtJnxOg4f+PFCcfPM0oDiczTUz6sz5KObVTnmXXcQaE" title="Mekko Graphics Chart">
            <a:extLst>
              <a:ext uri="{FF2B5EF4-FFF2-40B4-BE49-F238E27FC236}">
                <a16:creationId xmlns:a16="http://schemas.microsoft.com/office/drawing/2014/main" id="{4BBFEEAC-6526-4DB3-85A0-61A75AB3738B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 bwMode="gray">
          <a:xfrm>
            <a:off x="334963" y="1257406"/>
            <a:ext cx="3962559" cy="5303732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grpSp>
        <p:nvGrpSpPr>
          <p:cNvPr id="15" name="btfpStatusSticker105656">
            <a:extLst>
              <a:ext uri="{FF2B5EF4-FFF2-40B4-BE49-F238E27FC236}">
                <a16:creationId xmlns:a16="http://schemas.microsoft.com/office/drawing/2014/main" id="{2565E4D9-A0FF-48F2-9243-3E0BFDF45B33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0003470" y="955344"/>
            <a:ext cx="1858330" cy="235611"/>
            <a:chOff x="-1727845" y="876300"/>
            <a:chExt cx="1858330" cy="235611"/>
          </a:xfrm>
        </p:grpSpPr>
        <p:sp>
          <p:nvSpPr>
            <p:cNvPr id="13" name="btfpStatusStickerText105656">
              <a:extLst>
                <a:ext uri="{FF2B5EF4-FFF2-40B4-BE49-F238E27FC236}">
                  <a16:creationId xmlns:a16="http://schemas.microsoft.com/office/drawing/2014/main" id="{9141181B-8BA8-4BE9-B25B-02FF87635268}"/>
                </a:ext>
              </a:extLst>
            </p:cNvPr>
            <p:cNvSpPr txBox="1"/>
            <p:nvPr/>
          </p:nvSpPr>
          <p:spPr bwMode="gray">
            <a:xfrm>
              <a:off x="-1727845" y="876300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14" name="btfpStatusStickerLine105656">
              <a:extLst>
                <a:ext uri="{FF2B5EF4-FFF2-40B4-BE49-F238E27FC236}">
                  <a16:creationId xmlns:a16="http://schemas.microsoft.com/office/drawing/2014/main" id="{8A343390-8D47-4786-8327-3BE8421AB3C6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1727845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btfpColumnHeaderBox504825">
            <a:extLst>
              <a:ext uri="{FF2B5EF4-FFF2-40B4-BE49-F238E27FC236}">
                <a16:creationId xmlns:a16="http://schemas.microsoft.com/office/drawing/2014/main" id="{D571BE27-44E8-4F47-9AF7-B3CFB4DC0508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4354248" y="1269994"/>
            <a:ext cx="7502459" cy="315913"/>
            <a:chOff x="4354248" y="5727802"/>
            <a:chExt cx="3483505" cy="229087"/>
          </a:xfrm>
        </p:grpSpPr>
        <p:sp>
          <p:nvSpPr>
            <p:cNvPr id="22" name="btfpColumnHeaderBoxText504825">
              <a:extLst>
                <a:ext uri="{FF2B5EF4-FFF2-40B4-BE49-F238E27FC236}">
                  <a16:creationId xmlns:a16="http://schemas.microsoft.com/office/drawing/2014/main" id="{4E617803-0D27-4133-A11E-C8903772DC8D}"/>
                </a:ext>
              </a:extLst>
            </p:cNvPr>
            <p:cNvSpPr txBox="1"/>
            <p:nvPr/>
          </p:nvSpPr>
          <p:spPr bwMode="gray">
            <a:xfrm>
              <a:off x="4354248" y="5727802"/>
              <a:ext cx="3483504" cy="229087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>
                  <a:solidFill>
                    <a:srgbClr val="000000"/>
                  </a:solidFill>
                </a:rPr>
                <a:t>Illustrative OPEX deep-dive</a:t>
              </a:r>
            </a:p>
          </p:txBody>
        </p:sp>
        <p:cxnSp>
          <p:nvCxnSpPr>
            <p:cNvPr id="23" name="btfpColumnHeaderBoxLine504825">
              <a:extLst>
                <a:ext uri="{FF2B5EF4-FFF2-40B4-BE49-F238E27FC236}">
                  <a16:creationId xmlns:a16="http://schemas.microsoft.com/office/drawing/2014/main" id="{C73FD007-6859-4635-A9D8-D2890F0E5800}"/>
                </a:ext>
              </a:extLst>
            </p:cNvPr>
            <p:cNvCxnSpPr/>
            <p:nvPr/>
          </p:nvCxnSpPr>
          <p:spPr bwMode="gray">
            <a:xfrm>
              <a:off x="4354248" y="5956889"/>
              <a:ext cx="3483505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E44D6C19-A69C-4760-82E0-2E49AFD17E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4743" y="1663299"/>
            <a:ext cx="6981465" cy="392707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95070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btfpColumnIndicatorGroup2">
            <a:extLst>
              <a:ext uri="{FF2B5EF4-FFF2-40B4-BE49-F238E27FC236}">
                <a16:creationId xmlns:a16="http://schemas.microsoft.com/office/drawing/2014/main" id="{42FFD1FF-F6C6-405E-8E65-A9F641D4095B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64" name="btfpColumnGapBlocker758333">
              <a:extLst>
                <a:ext uri="{FF2B5EF4-FFF2-40B4-BE49-F238E27FC236}">
                  <a16:creationId xmlns:a16="http://schemas.microsoft.com/office/drawing/2014/main" id="{6B20F272-98E9-4065-90C2-605F4832E97B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62" name="btfpColumnGapBlocker496886">
              <a:extLst>
                <a:ext uri="{FF2B5EF4-FFF2-40B4-BE49-F238E27FC236}">
                  <a16:creationId xmlns:a16="http://schemas.microsoft.com/office/drawing/2014/main" id="{9DC863BE-5917-4C92-B17C-C719AEA8C25D}"/>
                </a:ext>
              </a:extLst>
            </p:cNvPr>
            <p:cNvSpPr/>
            <p:nvPr/>
          </p:nvSpPr>
          <p:spPr bwMode="gray">
            <a:xfrm>
              <a:off x="5825728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0" name="btfpColumnIndicator200311">
              <a:extLst>
                <a:ext uri="{FF2B5EF4-FFF2-40B4-BE49-F238E27FC236}">
                  <a16:creationId xmlns:a16="http://schemas.microsoft.com/office/drawing/2014/main" id="{58F7A1CE-DE62-415A-B77D-39561DF4ED37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btfpColumnIndicator320693">
              <a:extLst>
                <a:ext uri="{FF2B5EF4-FFF2-40B4-BE49-F238E27FC236}">
                  <a16:creationId xmlns:a16="http://schemas.microsoft.com/office/drawing/2014/main" id="{61CD62DA-C7A7-42ED-8BF5-42322C98F0F8}"/>
                </a:ext>
              </a:extLst>
            </p:cNvPr>
            <p:cNvCxnSpPr/>
            <p:nvPr/>
          </p:nvCxnSpPr>
          <p:spPr bwMode="gray">
            <a:xfrm flipV="1">
              <a:off x="636627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btfpColumnGapBlocker222055">
              <a:extLst>
                <a:ext uri="{FF2B5EF4-FFF2-40B4-BE49-F238E27FC236}">
                  <a16:creationId xmlns:a16="http://schemas.microsoft.com/office/drawing/2014/main" id="{6A86AA5A-43F4-4B34-9D49-73FA1EB5C82B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4" name="btfpColumnIndicator427104">
              <a:extLst>
                <a:ext uri="{FF2B5EF4-FFF2-40B4-BE49-F238E27FC236}">
                  <a16:creationId xmlns:a16="http://schemas.microsoft.com/office/drawing/2014/main" id="{E621A8D3-CAAE-46D5-BE6F-A2E5B8E91781}"/>
                </a:ext>
              </a:extLst>
            </p:cNvPr>
            <p:cNvCxnSpPr/>
            <p:nvPr/>
          </p:nvCxnSpPr>
          <p:spPr bwMode="gray">
            <a:xfrm flipV="1">
              <a:off x="582572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btfpColumnIndicator779933">
              <a:extLst>
                <a:ext uri="{FF2B5EF4-FFF2-40B4-BE49-F238E27FC236}">
                  <a16:creationId xmlns:a16="http://schemas.microsoft.com/office/drawing/2014/main" id="{34E5015E-B5F4-4B42-8A4E-7A14BAD8F341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btfpColumnIndicatorGroup1">
            <a:extLst>
              <a:ext uri="{FF2B5EF4-FFF2-40B4-BE49-F238E27FC236}">
                <a16:creationId xmlns:a16="http://schemas.microsoft.com/office/drawing/2014/main" id="{F5B0FED3-C514-4C2B-BF57-1DFF0F1C2125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63" name="btfpColumnGapBlocker709926">
              <a:extLst>
                <a:ext uri="{FF2B5EF4-FFF2-40B4-BE49-F238E27FC236}">
                  <a16:creationId xmlns:a16="http://schemas.microsoft.com/office/drawing/2014/main" id="{8C95524E-ABBF-4E7D-9244-2391CFA9573F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61" name="btfpColumnGapBlocker215516">
              <a:extLst>
                <a:ext uri="{FF2B5EF4-FFF2-40B4-BE49-F238E27FC236}">
                  <a16:creationId xmlns:a16="http://schemas.microsoft.com/office/drawing/2014/main" id="{6CA0EA3B-DD14-47AE-9DEE-B04E3B78610F}"/>
                </a:ext>
              </a:extLst>
            </p:cNvPr>
            <p:cNvSpPr/>
            <p:nvPr/>
          </p:nvSpPr>
          <p:spPr bwMode="gray">
            <a:xfrm>
              <a:off x="5825728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9" name="btfpColumnIndicator199780">
              <a:extLst>
                <a:ext uri="{FF2B5EF4-FFF2-40B4-BE49-F238E27FC236}">
                  <a16:creationId xmlns:a16="http://schemas.microsoft.com/office/drawing/2014/main" id="{1D449321-D929-4B9E-81F1-85ED40ED55B7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btfpColumnIndicator241822">
              <a:extLst>
                <a:ext uri="{FF2B5EF4-FFF2-40B4-BE49-F238E27FC236}">
                  <a16:creationId xmlns:a16="http://schemas.microsoft.com/office/drawing/2014/main" id="{12A9468F-DE2F-402E-8925-AE79EFEF2950}"/>
                </a:ext>
              </a:extLst>
            </p:cNvPr>
            <p:cNvCxnSpPr/>
            <p:nvPr/>
          </p:nvCxnSpPr>
          <p:spPr bwMode="gray">
            <a:xfrm flipV="1">
              <a:off x="636627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btfpColumnGapBlocker178682">
              <a:extLst>
                <a:ext uri="{FF2B5EF4-FFF2-40B4-BE49-F238E27FC236}">
                  <a16:creationId xmlns:a16="http://schemas.microsoft.com/office/drawing/2014/main" id="{D96A5539-A3C2-4A06-AEE2-28291656FCB4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3" name="btfpColumnIndicator609269">
              <a:extLst>
                <a:ext uri="{FF2B5EF4-FFF2-40B4-BE49-F238E27FC236}">
                  <a16:creationId xmlns:a16="http://schemas.microsoft.com/office/drawing/2014/main" id="{EC3762F5-7C36-4CCE-B4E8-36F688520252}"/>
                </a:ext>
              </a:extLst>
            </p:cNvPr>
            <p:cNvCxnSpPr/>
            <p:nvPr/>
          </p:nvCxnSpPr>
          <p:spPr bwMode="gray">
            <a:xfrm flipV="1">
              <a:off x="582572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btfpColumnIndicator484948">
              <a:extLst>
                <a:ext uri="{FF2B5EF4-FFF2-40B4-BE49-F238E27FC236}">
                  <a16:creationId xmlns:a16="http://schemas.microsoft.com/office/drawing/2014/main" id="{DEEB7EF2-CD46-4848-BB69-1198B2653B57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F4DEA5C-E934-47D5-8EEA-E859A76E3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Illustrative aerospace cost bars</a:t>
            </a:r>
          </a:p>
        </p:txBody>
      </p:sp>
      <p:sp>
        <p:nvSpPr>
          <p:cNvPr id="11" name="Rectangle 10" descr="Enter Chart Description Here:&#10;&#10;End of Chart Description&#10;DO NOT ALTER TEXT BELOW THIS POINT! IF YOU DO YOUR CHART WILL NOT BE EDITABLE!&#10;mkkoexcel__~~~~~~~~~~False~~False~~Falsemkko__4HooU0THZk28POP9trq+pbTvvzd/gcV8t56cq85kb3NDTsUhojRA0EsgEHHMH7oYP1SYpn09ysXVivguJdhTvfyVMsBLTGvcX7WPTor/CmWiWcfk2RmY+GE6Q6T90sFUr0lg9IPP9y8umrse/9AoLT5R0GKq+XM9pr/aTyOTf0wptcuHbHxeyqBm9svU01qeeEM1v0hpSHUgirOnAK/wunjZPmzVPPwFyUBDlDfxgncyrn26mfUxYRA79xbk5zo/zvtIH1wUlJEoc3ym/tE0R7TFuylI/Ka2jPa3hxGxqIcsuoAMr2BhzJBCBPZe4yurIN19wt/gMUjAGy97TwjZifIBF+Hck3maX8bxqwmWN5Lz4DqIq7RLGwL8cJPdxHxrFyTKy81ndsieYrArIDksaybtutEDKS7lWtJ6JAcGZVRCI4SlTtmuy++sF4Qk1arz3+8FEg3sMj9Rge/ETmV4S87SOjLD+N8VBYalxY0z1S8o5Esh2vtszQhq6PM/KUiCtqe6pbIL8mEX4+K8Xxcu9iFzMyfa+fhug8KsLCEOlnH1mATILrV6t8KRE/dH2bYnIDm2sZ25IbaaXNWc7UEDKxMGjzq0Ep+3nV8sZsEWVPVGy9LdtG8z9KF6kdiSB1gS9fkY00LjunfnpO7KKKER7PfU7g3kaGJCGLxtjr3BFqhFPloQ+a7dX1+1+WgZ9DhI3T47+9ljPtCeGbS/ef7qCL/ON1O4AGVPhhGzaPn+sONITmVMoBLpPwuGQrjbW8AHMG15UYM+A6j25+sCVoLBlPpM76QPF4pmw/8s2eNAztbnEOSCByRML8EVbrtv/PIIM7l/atiWDA6PBXAgiSQXHxFj/DWaNhFE2M383KdaE2Vqff/SHjhcmdK38H3BhtczRCOPSB0zuremmy6sQmG5TQGnl9t+rij4WFAoX/7Y+dqc2XF56GrqGWu7iz8vbVnLAuXdxkje5ezt7sK+cdwtvMWC0pBzDZsoLOwafPfxACeLAiEbhBjBDdbhoh/BXllNnzRnLNmoc5WLdVFxclJn0y/1ZYeyyiVCxYiAgzSSGosDYbhel84UbTWISdCUyGdNAIJm7rg+bFbXKHGyMsBbqNURZFtZuA7Dey4/B0aD1svth4HN+dwroEOa65r+kxYHX7YyD2Li6JQh7dJNJoBzBkC3EUkxnVoEjz8Ol5iAvtT/S4tYVKFjVAh4xv21Elc0NNmr/dmoUYGb6HngQh/weZhSXKa82BzToD2Eac9TlAflsW+U7gLpvNYtGgU6DaGZwiuvfhIOGd6gam+dDSsZszU6hZsPQ0VzPrclNpDfpcZxS9aC8YoMAhwlM+jTk3GUmoxEwCeZQ39ceE/q3KExAwHDiML1PR5RI81Gf+zu+4ISAzdW2/eDHECqw3DTIsqI0XtUsduUlWKVY02jl9pkQBW9c7Z3mI2AQ0IRBvSSLtJnNR58ihofllJACUZzDHlWGdjCE6KjsYNlA3vo1ZDDJ24DMiXaWmz5/1R1TlehfCR+ePadYxXMA9NuB3e+eGJ5Yo0AsRllXG8mpXA2DdWaM9QXnILNGHa7qlFbVc/Blce4FCwbZIfNWlrhmeB6KTDiQnY+mcA3tbgj9vzZFuAfqj734cqnQ5ZTPgqBnokFfaLoAJLeOTMiKLefcpXB0GDaHmUt6zQI8bq7b7epbw8bmPj23ksqhdKQ+PZI/HOJdWiLE9SpO1UHSVZkF1HAphf2XMShQVCzkKyJRbOr2MuWvNz5UFsnmtQDKd5OhGU1czRD9sJAR/a+JOtJrPdtnGFDUjGIpiF0nC0wPetBedAWTkrO6qVWOsckpCdrZkZ4S7KFZeopTWt9ZE/4Xo5IARIjXBp97nZxU/ZpaWYZs2PlOyhYGgFSWsiN+qP1MiuAl5pNJH1SQbaOqyvn1hVUUJQJhPJwNQ6kcQfrn8kRbYw3hzKpGOunq4QS2EI/fDvrec742fO4eQazTJ9XrKjmj92pdoPGMLq6PZRlb6Jcuug81aCNBINDuWiO7t7zvVIk9FnkQcVzSCSGXCxbXw9KxuOuu9Ox4TC52m9Bn+srdEUZyFV4pJMsb6suzgb6nGzeZ0KciMkOkLc817XI+s5s8NubHWl8QJ9mHS9w6FF66svdUVJApns3NEufq4DVZH1mLwMwymtTRZAcFywfHw81hePP05bGtO+qI8pUOmUiqp1WNHOMqaGAKmTZU7ZUAGf44/k3eZXm/Lh+pCb3RlWK1nTvAwkHzCdrWGivTKJOn098weO4q6rmPRnqeaJ8Nmc3f+hGh8E7WXqGyj5QlAhKctoanQ0r30pVrnIBby5pwjxqS5X1qiqrrGYxmox+SLCimHwYJMOkmN0OBD4ByThk6MyDDc17kbxKq1dtIc+SvnKMm17wfqRlfUOcOEk8j53R4arLdAkx5BtYuUC2FI+jipAM5UGrNfm/NtZJ2zSRFTFK7LrE7IW3GWexY3Z1aBmsZBONzWpPPuCQrVq5srFGQ220d2+vyqEdoUubs/tHIkVmZARXbn7pA2QHRG3w++W1y/Kvzd6QWMrZh86oVeo4r1syFjWwVAWYxl/G95NilmplLpKbVVjSZfx1Yb18EYqzhFrTpMf9mvtwGQWh8D+7rdNejRp+6uP4L/kErLCVLpi6bx8lQPKv8WexZ0PDOrXZqEKZwG777GD+gElWQH1SW/dAj52KY9X0sXNKrSrmB0408rWeuac0662iMd8rqWaMmXRKCPgihcwyrwRJdnQhpZcMtIZfG9iJ0AOXJ2MMc/LVEUm15LFDRkjkQ+RjfuDgUziC/5PMufix3ITFAhjs386AxkGnKZbnfuj4pu35JE1mm/vCiuvCXRyQJhD/cldhq1ERRihbXVdA4LoCV/AL8Y8gMttJOuSqniutjmNMCLHxSlskpTZoUqaOrRopOeUMLrHxhN/k50YtY3nZt+FgBbi20d622ySgvao0xfJOyiF07U16Van4z3/p7wP4W0L0+mKQtzZY52R9vQzjSgOXE1t9Fri2opGciPp3/D7e73F0cKkSfKuDRQMyMLY+XiIGC8aF49MdsKH+ygdrhZXp/mcrB0f7poYtoxrE5MSXCzXrAQsRlVYfvDws8zLxeDUR0ZxOpN72GXPzCkIrZV4rglWQm4ChnIBKuQ0lEKFHR4+EFgjs1dxQJVWVVBIVwfyLfJ+u4PyhQL5A+LM1KWA68LVmaAY75hW5KqS3+fwOkE4ukADrageZGoLNUoMlGtQZDzCLCS4hUNZn8tP3cVVmPi6VDinjCsXf7CHuy4rN5qUQxPsztfcaDkqZtKkLvQcc6KaWOZmx6u7mR2gcHGXyyXSskGh8UL6rWZGZMSYNQ+0AxeraQotonDi1s8MOQnMLuL0UfAu4RtMdjCwLRIJ1NILOrc8XCNvslgJXbbb/dWtaou8wk2rSMYin2fySwpfAD5xipfN6gS2lRYOXWnwAgg9ZSQ9H2o3unNI89lJY02WO8ukRO+AQ2FzR8u1KRhFw1Gv1tiCZ73OS2d3N42pF+XcWucrglMxCVELkQbLWF63rPBpdGmkbd6guW6NmZMBBg7pYnzQ5GrA4JA6frJYgX+ysVGGeUSZc4uDPY9MyMTmf32JHTzOhWCIS2TgyqRFjzKwwwYRaRbkONzTteIcy5GEEinmDAK+GTtxhyUTNPFnYgcaKG+7QNlndFVTm2Ha1vindW4LO7tT3CuoY4unE+GkOmGsISF2qjWmQYUs/U+XwdxxLALMA3ooKqSDIFNRRU7isu87pPV23ssLekPenvwPR8wlhI/9IsqH2T1awz+5Zf0aRUxJRCxgl4aFazsPrWgSm0HhFVecO8cCeS3XQaOtltx8WOqGFv/ca0oDaL7EfpthA1R/25FqaiTlyGX8QXoKf4EhwYT0Iq/QB55M5e6lGA3pXdYFlW1LssTAie63zg0rLJ++87PPCLrkzrrB4Wm5qJOLS8wGAYrkmpxw5zGeEI/IcxFP+UPKRFWVdyriugQcejzVoL6oGaU6bWOO9/m6W952vklaokf4LMfp8XkNDicTr/0s4U9c9LYrQShpN0A0OlkcbTdYKb+kL+ScikgVBl/L3SCwSB0XrKIWNOW1oyAMh0ztm90lZDjFJuZQiGPq0m5LjKoPoag1BqDsfErxPxv3OTcOnBxto/e3CmgKYzqlwmb1RprMecN/Fl28zR0K/yPybYW0w5YezAyLXpny2U0Ceiw5wLdTTKy/o+lhCVvqK9egMhLWmx9MWjfU5J8YczOSYHjulqmJ4M7iVokhpgCxKUQwYP0108/FUjDM0Bl0hascj+Fg6wJr7c/6hy5mR1suLcg1jR2P3OjEdFNaKKz/kwNHvehKI3UA4jHVFSflCII2R/9HXZY24KQdMqoSUUead6pAlxVdGQsgLFqwHXAsBmYIDsddNRX0zyz5TuEaRV59L2zHz86Z2VuUOKXB8VX/BsSLrlnHyndXigGofva+A47TF9pdow91Smcs6rW7mUtIX8OkywP5VVGU/677/gMEzGSFColyM4gkaM1rwSbBCtFhtRM2BPvlML1AbLz6a6e3p1MLfvk764wSpeADRVIGiziR8wXPNSR44RH3HJP0weUhWe9uonmKRth01YXUhNiYnshmmkCzteKFLWz/HPiGp0OCLTCpJHk5K+DxMjagcNyfe3KrWmPi5sxnAxPJqKGbzHcm4J5Q2mY9gtGrbxbdse0h6sSpsnlRGm7VOlyh92PPgvrmXDmvklT6V+UUbhsuLCSeKVqI9CwyDcVMA4uisUYV6Lg3eYtOBlESaUaWp+mgPWPmHstMHizZvARADsEiKUb3NZAfUYpQ/u/1aMU4xDnmvqZ48NQcd8gEwSbUuPK4RvrvCPTisDkRm82eyZ/XKtXU3S1EYNwFtpjfOq+LzCX9luFYFqNRD3If3Crr6aZ8GoTgAO4Ek7a8D/5mDS8FSDzEd/LjejikOgCNCpkXVBk8u5kH0y/ScRVSp7KrGtwTaS5x2oVGAiqrkNrbf6pnndiWnWKVRwCg9AxSyJX6iaeePSbUZ64WL9NdcwQB5kLI8z3PqY0/S6+rl2c/Cx0HrTxyXDnLjVWFvl2LnGT4OKzHbEL7FqqdufB4A8HRtksJtIXZUxKV2IvhZ3+jjtNWW4v779aEv5xGk0DbJ7nLkJLMG2jkXC0+PxrPVyg+pExUJmq19JVj7FeMzUYZ/mCD1YmS8uN4u7uu2A5592tmymObD5Q71oO41riSgyqKGl9wnlinfROjsBEPgV933MFCDN6F6Psb9UuWVD7Ow2xSOc+fvVZ7/vVQ7itIwQVh2RhmsJ/eIQWFIUNKVoriMTKBSHoR/ho1AkW3WwkZWQ1zBZmUeFUcux0dqHlVrBgfA/CvPHMowStVpbDsRuF2lurModQlsS1in9MhbhCQpbusaxHfUMWA0lXIsg6YBAZ/FYCdrclFcNMuoCP9m2gtrjZrAVonKXDbziFFDS9YE+ixEqLmXinv2ZvNtrY7c8BTnJZGKGPc0qs1/TPTA6NDfqJMMxFQqEcbHUJGwhgV2XqKe6vKCGjp2Aw+x1+CZNjLnBzUVX6P5u4e+oh297gFtZbMcd8esU4t29UwGiyKSyps+qdlvs1Slkis2idAWKJb6244wUXc+G5lwUps5xDvNlN+U2aDWp6oAoHMJOY3AClScaz4GH+gCrxWAIz/BluFZfeEvYXHQWjHFQR1j2t4DLsjaxPfM7cOoUyjlciH9wzfn6Pj5ZeS/8MBZ4t51y0a5oX5hoehGCuY9I2SZfCMtTCY86AeSsvpyAmkfwCBLceosMQooPx6DdH7Idm6qMYsCbNk3d7zbCBRn1GcS02TRHCPey1meHuFT+Ua2VlgFPlPyRYXE3SHvAi7KxScRfMeq2LzleAYQ7MC8KZrgKRNrethHBG0aIMa8sejuenqoO/Zv/UsHASLGKJxC9fxGBPRzHCRfSP7OQRLqHrVuT+DhoXL3RDMZ5vwIeJ4LKXe985re2Qv1iAAoukI6vqveCaHawkH1DZ4gKAp2uBDYSEPUwMcZOYIgC5MzzDtGcPIgS+SlIvs9bKRE5Xq3Knb7ETdkr+nnPl+KrqQYwsp/AM0FJ/53xPhoIvS63kbVQ6EQ6FKBUKwLgEGWKkjRgCvrumBZzta4qFCybZSy47U60lRmzWki9zQwB2yl9xR3YvoddDt9X2TO1C649KXGNBmD/v9lgX9p2dWsPBGpt3pwwuByIkKuS0BGOJBzDDnER8+T3G9QqTyanVYB5NTV9IlXvXqiIk1VNiQCBZyFjCOXWICO8Ohu2QsCbl2MIM1j/Lay8zUhNoaen5B1KUlgO/6VbbGZmqb51MjgJaLXT+fbW2Lzq10+FO1Dg7Tf3+jIGp77MvpvFbvsqxY2hKE/aKPStsdtDH1oG9+NF5m40uTcN0sspzqZcrCgEGF9RoqviZGB+vKkfKbXLXI2d7T4rqP0WHtGCHIfujYZe+cRgkoEwgqQBo1HIT6UPUa5tWKCoIfainK6xBQCa8vqWaYD5dayoKZ3iLsrm+qKZ59Yvrzyp+NSK8GPnZoBMUqOgD52IEqWQED+lT0IOCApAupWUwok4ARhzUuZAepw6VorzCs2f+Qr6RhxZa92FrvxyuoHmtQm32qX7ENmwJ5PL00TzbmOBjKN+Iu0/UiBZGAtIExUMiL9udlxOIC4tzyZEX/RSHowzZCFkH+aoGElBbquB6MiO6ChzpJ0ZBcjxCS4iABmhwkoPUqv2YbdIR7AReA7n2IdxIq4hO1/YrEf10d6Urs93fUiGIqHQsCS7ei8p0xVtnT+dCMrIJKzaM2ZWml08ESU9Alb+fKKEX675bgXXJojYu02CKdLdOcViJJY3jqYpls+SgSAv4jg1hxbmXWPs7EmZXE6jgZetssXlnm7oXaJQk00ds48nEllL/ydeKLOxEdXsK1kk1RMW9Gyy110GrAVqVVuFtpRr3/lX32/ESB4MAGWG9YcQ01Y+cSH8knDD9vmqVa2oPcsU2tV8KTvfpRyDnQacMetsC2E6hGn7HuvjPnFi7HwkzpmtxLheUj1ahpo97qszyhSG/niKRf1fp7Lv57ghBjzrW1VUxDiIQeVawOFQ5xqHaXOdjtxBi8uCEHu16V2q60/BTMs4osHo/cyir6KiijALVfPyX02XtI9uSZiH+I6GgrWsCh41pLhq2ywVJRoVB8M0yxc70mDzBT/EUaFqI/kfIq3/2y+kKLxOmUhBA5ymjFA/U13Jo4PtRku6MpkiSC7pXk8OoBTBqtwv0xJnRh+s1anNSTXxVi5sST3KBRLj//Um90dEga5qL9TPy2qtGVYJ+HA6UWjXNnGB98SEPo5CvmpVcf6gjzkyi+3/UNIwuvt+7Cg+k+RwfWjgMmmTKfkXamF2Blov+MzlrTnisic3Zsm2I2M+WGT23h6jCw4kGCnYM4vjOyOFKTTIjByO0ECcWZWpbVVBtcrMj3Hxd5PbQsVSQbTeEEMr4yaPVLQ4QWFQr2ZbHkG7XE0kfP+uorVzFTFJnKMeQ+xDff76j/3fWg8h91n8xUbx7ju66HwU0oIos6bUQhW8wf55+iSeayfXEOIoIWfMA/9UiWtarzJL4kjUe3C5yL3ho/MYiN+xGwX9f6a+a8W34GLIMqfQe5jMDTw78HQmJG5N5qwMTa0ek0deAtQt2zjUnmaFVmDCdk46O5BWSyauIZxhN4dGfnOku8lOGScmYr9WsIny9PDqPGtuqiB5/jDnZ6bZtqBCd5pOIAaN9hy5RRy8rtUp3ETKUEzJ7bcAxkCICaqpFjixQz2aeabe3yEwqsVwIos2VelvcDh4p3UDUDkUREU20HFqQzk97ZP2voDJgL6VLkA+qUSkzZiXuxQCds9RClBMFcGTiKLh6wDkCn7sEi0dJ5pUn+WZXMeq/cCpMRa1gArORKPDbFKn46PpkVTNAU0Fv+7lC3A4BwGyS2fBQwDuLmKSkbCGC2hIFX+e89ICrm8AXufxbqFtZXk3VtV0qGi9edpLJAuOaT0fdnwQ7iLKxNyfdrPktmf9a+TGLbaJP8spkqNWYaTrktAiUBFIPl6JFiuxAp+8WqQ7rFBPyMKJOhg9q30Pnz0677ok5jksIOttWMOcKXWcF1NypeePL9NPXKlSKaymFWO/7fLhq5GzbzE/d8AUD3oqDP6XM1wRCqMh5C6MrjTPvGC36KOxOKx7MpNhei0ww38yywrBlouIjJtFpVEvn4JUbMTucumlIwObJe8XxE/mLSS1uXWMcVCNE5iS0+IChcPtvHu26e8i1d6iZQTvxrGYejGn0lW4faJyCvO7CxN/dv2m2u2BNS/k7XOthaqEdn8HFpmCkng5mWd+18PpkHZEvaWimC5revZHvOgvC65/Xj9oXQ7dT5xKdWFLIEx6tRu50Kn4r25ax6ZNV9zPy9wkOE/qbUS7V+AqDnXi7LhvcjV+v/ROuJd6qIMAz658rCKAgahiVejuLwpSlCy4CxfmAHNuADl8k9IInLdXPPXG5xAU1yshSaavCjnDzeehbqnFw6f3nOz/8aOnQgCX2dgDSAl4hk7wYBFslzSdUmy4fFflzToE9RI/C/5+SmkADfGIXkaDAxpmxz91OvP81oDrg4iFNzNbSPXWstKxN8ieXxI8+JJElwRll8o92f87g4dwvJ/3nUy/CaHs0mdEAMYyChHsph9igVWRCzWrIxLR0MrjBnWmHU6m5WZpNv2HBCNSxdC6djvnrZ5DtD+DTXiqj7RaoVYULUrOBQnHYInWiQSgKtPprZjSC2t/TXVzY0G/7HSYGz0inykJyfKA4qqtl033tbzsur7ToigMZ7RAaeum8BCeqTzijMpZIBEYIe1ZZAXMSG7xqzCGX0ofSBBCM4BUm3pRIZzmjIvridjt8zTteaR2MHGMNFN4xjmcwyCQeV7ktHZkw/fsO3wTFcOCGCYzU2roL9RnwRgFWDqjJxVilMzP/Beb/vXbftGVKQw6Vc31cjgA4tUSPIUVZ9OWzbPth4QTLq12uA4QvuJ7/5CqqPyxCDV5DV2qR4Nv7r1KR6XsiwP5TCZCEAb8cLPhW73f9kQbZof3x0j5tc/pIG8Z+cYz8w6d1Q0bwqjBwXmGp5pHMv63Gb8gFUUE6ch+/rEtM2Gtuehr2oGwtKj0nCw8EEmmqTpGNSbe4ZZUIhnLsIZuf6v/ixwk+2eGr/CRceojO9WovwHY5IIe8iRyNe0+2ZJ4v13n5d6Hfp/RmOTA8XGcAoR9tpeioQ1jcAEjNGoo3RCYkQtvOBRdwNIbVxDHouLDOWQ5ql1GfVDFCbBUOYgVK0lzmrCa4oH8eCT8AMt7VG5PYhe0+8L/bgubpptOlG4GnuvxHjrjwNuUf3wl6t2OWJVxwLWhQYSttplKoe+xDHphi6ahEtTcgnONSzBITQsKGfqlk0WHgiEZZKIHwf7eNa0xjL4wsJ03ftoSw4vbNHkxbqXInDG0HgSrsvWzAZ7JGs2b1zoEL8Ck2Odwau891pCS71wue+4oBAmZCi+NNMaqa3p1pfPwJk93ZOlKI/BwY7GnXsjEH/SMLGH4EWc8dXQ13L80uuDZ/l1u42IXi10NKtCzkpncvu/g6hC5hSWp6/PhSe1LQNnmSE/geoGxvAD6/BdELs1VNR/Rt+5XXrloq53bpZs5ZRH6hbORw1khyBJfOw/VbcRMX3rcqildcH28doN21TFwAHGJAUTZhG6gnG4w1WcFzrtcGyDCJrRDhL8LOLSNHSPcfA9Vu1Jp7F6hK4gRFivRfAfRv2rtcPgldpTVSyJnMc4kBuOwhmaTcleh0n9rxjR1XKg0YAtwv6lo6BVYHvM3mMt8++zkesydADl091Uo7J3ytKfX9kwO6yMYqEMdKhizyE4SSgz8JV5oXrGbGEIfjXFM2wV8/1YwGkAki+XDnXtx3c4liscy15qGkPYZI+ymO5+9RhgLLKbjW3WMKQhd6BtU0Bjl34YYVlClPwxw+cWL7cmZPFr8Xmybs4WgkC7TFKkEGNkz9aRyOyTakHlaw7HS8to0xWXl/yhjq0BaPr6R6KVFmlFRLdPO793XOKKCvRS1IFJg2ezCQXuCD16MphvNAjXAeXpue81fPs+/KL5Qo35doROnVilyDBN8s2z22ZsKM2P1+BmHb8f+X5OyxKWASKNaYH2y9spnxjZkluWySCwolxbkN0g3ua1/hltSekLn8qlbnocZ5sk81EQHZ9Yxm62hW1LqQX6dfDi2gME1PIcZ8GKRWcgbR8UBkuIcf1IKdXEcFQ4/L8r/wISE4RFEJ4CYDTlo1H3WbNsBCW8qQh5WTK8KvG5hzdk8lepsEliS3aMxxtAoK4W7J0itB+84/TKKq87VyfAalQoR1fUviCQIOjB4r8CAQPJooDAlZxjtV6ZeJ9kBLgXLLl1VXD70704gIHiBKuBGHoT5PRbTCl24gnRgJ/Ruv8aP0j/gQgaiy7F6Lsw8pVLr6q2MeJBMCFqPqWKBjPWTKEV2Oz8Gx++U7mgeFG3MpoFau8rL1nX5LZZ98f8YJ2S/YU1sNxDC5MQUDK6UjOYUkmS81EYn2sPmzf2+dH/pNUApZcQmrXfRkaZZZDUcy0wJGHHV0nosWG70Z6EUwg4wb/+uhS2Rj+7BmS1cruqbxBvKZlfu1fDsDl5krgVRJ/v/TgGPIQqoadKk5cehNpSiBI946SgIjhccrzApgv0OoL77ULq6Qb2a5X/L1clNAbSvuEyDiYZYzQOccm8NnjxMkO9X65clv1/9h0Qk+/9D8Sr7npqhZK2r3g/by6e/710oHcLfYznrUVXk5WmWn+P/mqV6a1Sq4Fg+HTlsAbAMm2gx46nVIDhZG5ggf0cvyre5Puu5pjm24e9ixB0a0PPA5vB2486oNy+6oTOfq0JV8pmWWQjVTGHfwkyj1V63fqZnbD2De8AttH/R3UHiqjALEXoB0SPtI8yQycQ5B+VXJ+LWT6lDjiVhhGNBoWdpBnDnrpLDz5SwPwGVT20AgRIe+5YD7hlJSyS0rk5mphGtKaxAr/Nc52NoA7PM1f1FI4hH28MXhEWz5QMp72kC+oWFtB+KV4YMXmepQE9MVM9+d5Cl2EnNwBQzEsBmWLyliDcYILpYcqdycv/wj68/txbdRKTVY4sD2p4ECH9XVYZwuHPOxx6Dk+7vLzhJ/Fj/SQ7GgMiFGj5ldDvnIjW8//2tupYShdyZD5qWYsOPJiCKc0+Fdqnwh7SWomeQBr5hEd1hhysAfivfNS//IalVezqrG1+abEyRx89sibtsnA6oxTdPeBNO/r2RRIFQzu82amQs16RY/gAeyWB8jgBRn4vdwEwRsXTT4J4KAfP1JWU4YhSWe3FCnyaUC56n2KeLQAhu3Fv+PXKiEnKePtjxOPkjKeYdA1J++LWjgvbuBj5xKbnjKmQutmLr3J5OpfMlCW5D37FRM5EHdSTnYlvpuEbQJ0O9EXfRkwGgvm5lJpt9WnHMsaN93gyKF4BO4+R9xJzneLa0Zahkx6g/Onf6lfDdOqgTjA7rzx6dzNiLt6dt4LlwZKs8+3oge9s3hp8SpdR/zKpKusjNYWTTlIQDIZFqSbVVKZ2l3qGCzu5d7NWzEfmhr7UGeQ4vDph7eGINwf2L9AKK/yVqbz5ynDglW4Zp5mHNaCLJAHbgAmPAYhbvrgXjNKvbnWsu4FYs0776gDzyLFm2w6aTrUiBw44j5WW/kkZZchOo/K6EetTwKQLbdmI+BhCtirff7IXBP18Xqmg7+dIJajZPQQUk9oDpxbTgMKG9TF1NJG46NRdds21kAcVED27R/t1en0X3bHYrVfqm5NcqLt6cihfC0/uzM1psX0Annb5yznuatCbUa7/Ui0jMvc1RiCInWn7v8UF8p4sFf1cDjfPlAaGL18ef7WaB9bUsVldDSTyOYwTylG2MqTkz8nspTzhQpvtUpZfioAeloA2KN4K6XwsZupK6R+Vq7OBrinZTPdGBdIILiovQm30DGoTu/x28GHVqZSLAA4HwjbeCN4SJX98IC6waim7SupCNuvdRkjLdOS6qzelDdpRrmhZoPJhIGi9jiu0WvVwt0Vg2HFFz1FWQj8m0samSLegD3nl3Nr1yTRaZMG7XWqAYXzLBrs8PJ2Xou3VEMMDI2fUtLcAIHuxAJ26uX84JfANHRq3nWkdk+Cv63M/4fcIAxS2Lvnu6zg/DSss4+A/nJWIzBCU1IS42xqm3VeWYM6AOAr1VAJzGZ4KITCcafley8wiHov6seZN1zWAvpjEcAK0RRYJ5EmDZe+C1hdh0uHZ2WDbob0KOYkkNIuihWeLp6ytfNc+H2KWPf7ktKMOYqa6TMz1O+SQhsH4dRnqtQ6n7472DQ31rbdTAjmdppXq5fUJbsGOU7LEB2Btk7XYhknz6yE7eEtQc0k+VncHdEQLcuJx+rqBjanZWLL6VDf3eyJkHkX8g2pfSEcVYBAsHpuc7WAhU8pC2ugS597MhF+Hvp8uqmlFiZKwJO1qF2nf9tGb5bjg6gHT2MnnOKgUMrKd1rNArl9UIAvipb5+UgtxZ0uKORb7YhTz4QbceuE2WicQd+K9PB6KMxqUjrT7Ks8bDqRAz5W00Iy/K3jRDQdQ6cvQxtuAXl7ihhovHOCADnMJpUYIZqMbNQv464X8+q3UrtbW29rwxsXZZ7AUI7s8HpU97cs7+J8VCKzKBbMBX6uI5BXg21djdp/Nlh6f4WAuRpABFQFNEJeesEG3RUOL4e2bIGEBO82rm93XT4+I+Duj2fBYGUCyToWivwUF/2Pd2ZwfokE9Fdvys+iitNU1xW4xDHtyuVZC7xqoyFIhfAOTAOnmjQx5kwtVYM9sG+c4rUPJZakod7GufbYOUu3A/HFT/IRHXY9PcFm3NEyhDYUzS7DzT+AuAeNLVrFw4P4ZMQd0/atrx7b5qkY9bDiX6MQh/Zf+Fi7kzQigmIJispGnHcPkWjFmBQNCJyftAaWsqBYUmdvat6811Uzk0uKQbU++kmGwm5I30ZBVzKGRg7XpB06I/o8pZDGExA2Lec6LAXEDSjDn1nBAEds1PmvPL8smduHrIIWwTWeedvF5MCxXzpevwHMIoLqzdBWvVfSq9mv3h9WOeXVzRkuyex9Bi75VE4n/pDqGUHT/Kc2k1BoTVXQpdop4ujxQFfLILaKeoFKSAsY02UfsUkDAM1rd8RYP2Qa+NKO12hVgegbJrwNCVuTj8zvvLI7oRV8fhlk8VRCPN3kCHXWS/mTj554k6P3fbjZroBO5W8n/aCKneuTbt3kv6/9MV8nRhijHAw5HgVK2e3umRvxGCF6f3wHOkEIs1yO2Uj/USUh6oVpZfMn5kEQ5FMGULKLem7cy8PamUxG4krm7sMrtMLkAxbisM6BMXzOQYXvS4SIHYgBmhxAbcIzgcedqexyXx6PdXzluR7XkzyZ8EH6eGmt4WJxlZmtokKsPqEn0COWHgbZqQTLhsNqcaGoGuzLf7cU5o3s77t0wvRBqY3hsbNlrWv7QVeP4zCdVX2gTa9Ar/sn2fVuiMbEyFFOknHyRDO8N4ZZHOCoVGJJRygOMImkxexR/ulrgHCQ16Uh5PbtJ0FCb53ncEjmLK8ID6OSt/QbDc1aPhX2gvJf0QpDFBbQsXzTANc0SvYExAGzn+8qrONcOF1KChOV9OafyWsTF5JxNorid2zH9l04HzajBHDlOmhL7XKN4E6Q/7+9VnHlbaA0TANC/tvTUU31NqajW8l7b1aZrf8EFNs9d0tuBXFDBkzDBQPrWScn3n+gKHFvDr8LIkAmE27sw5GsuSv7Oh0qytPDOXe1xm3h9dp0u/PwqANycwX4pEIM44KPHhoCB3XMJfopPXeMf/AM3WhpGZDAKJmctSEavZWofYyvjAA6X/Tj6OaWsX4pH59n41cLrFNVOBdbHUpgTd7FH8ZYWZ8y3JzMYSpX6KpqnT/JSOTYbYVrg9UaLl/BYvwIVZ0xca9rfINf2hyF+vEAh3VjpAPZshfVus5YNs7qekK9fklGTtaoB/XQGjcmvR3PrA67uSnkcCQsJJju9IBMLQPih555q8BUXevHUXqh7z7dYCm0pnWgrUc14FTvUk9Y/K3Z9QBP41SSMhH49mUXfbIAmYVurfJnRbP9QIny+D72zC4P/m3QzQ8N2ouxtmcus0TJ7RQ7Ju+ZtslVQfwg/XcAyXSsh6hpZK99jsySsyW2LF8kzD0mnK6HRsYx2fodMCe0t7inbaoVwtr0EUo6ncnYSetCRGpvPQcbKZKhfnKZQ/xBd7I1UbSkFtOUh7cBPwYzGqrUctc9mQQ4KSKEr9KHpbgnq3XjgMvd1xnza0Ns8ST+0jfljh1o3vJkIL8emXe1wbDbWVda1Gzpc+eip1kFMo7Mxs8yDStpOGhX2Zq98zlWUwi/FwPL7or+DDKc6je9ANuE1O4+5t79LA8aqee8O2AL3cXVbDrQDz65qtNhJKjuADacoGJ9FtDvy8tB5Bc5U1CUqWILMmugQZclVrcX1BerdxVCSswr0m3VRTuyv7IQV3INrxhK6p1mmreUymoYV9EPhgMXJvdToOQ0wiY0ssHuAi5pATfc7WGKBwSNFVoQLcQwHyuAhtVDHfMfuNjxJmePwtnpVPsxcbQHdRUzklqS3/Xs6TpcnnLJ29LK0RuTUJ169UEMFttXoPRcqPlu1twshlKG4qHZGfDcSWlQbB1zccpNkV/21jhGyQM3duNlwSJeeV9dMsE+FaMdgVV3SrH7btU3W1HSp5FrAJabgux2GUx7pMmsu1UuLjtRPyQWmSJGg2zvwXE+fYriSdSxgAgr/Q4CE/Ic31pSZWGXR0Z2kDqf2K2ehRAyen0u2VSlOLIKZKYe+w8IRXkImtuaR23MzJnsqun104eFu6HgPsUTLbgCBYLOzpkMx/hDSdbNfxFtpbxeHepzTMV4G9uOF1xdyJPa6aZtgBiXNQ8/S0DWVZzW0SaplZeqcHAKKt2B7tyvk8MgvwnGC69xctVYgE9lkk/V5OjcXFwVwXjynIU06r+FEAe56FXoRmUiU0lVnIFNKorAaWqDFbF3AiVNFdxMRRkfhhM9q7SnYod6XM2LdIV7/HeMhP7A/7842Q8kPZiX1c34+pxsafmr8ADU//K0UFf6TYpDIxVFA+yspesTICHs0/QvMFZUC5TUkPbGuWp6hw+REN35eqhJOrG3yX5kiZPXlrLYcjEoNhoBSTw1rMcdMadnxHwEJKrb+UrkviVsyvWFnJvEVPv8o7iX/Yow50u6VyjK9dJPkGcx/GFdCJpvPA7Hm0aJheJZvJCrTV5CPOTwU3ZCzR60lgtJ1uVaLq5PiXC7VsXjqLu2XKhyPTQpJ1sqe4nZKFBroOwPty8wZ7BgyTMu4GfNTtW7SHPDbejecvR4g4FTIOtFmjWIse0N/7sTIgrcZCB6NckFOBr4mMDlUL1QBTNzXd5yWxeuMePU3FCQCuj4UkHT4kobwGjcQCHoe/ySf8UA1V7roKPQez0qrJiG/5rS/QfrHcoF9gY4nzTn7apvb3ibmPUgIdgiI9Jdi3GYgzcaMmftGLSA/HTAuH0QbjH/S5TMAfvhUMM2DizAsTt9oj5WKk+vQWkc8hV8A2rlfcizm0s1aPHX1z4obubQSEWKaIKFBRUT2l5jAjUA8kmLibNMp/J4qaScsWuK7aaI8Czt8KJ7umTJ1XbhrN3t8urMGv574H30yFzYj3ReneJtjHPbR91N1+SZCS8tikjISDitbbEBEvTElfoCYxgfDC8yVt1y19J/tkG/L9558VdsrShGedsWuLqeH/ypCxL+piLaXJ0evzBWPbKkr3Tk3zTRFOGhBwmDPhzq56PaIi7+lLMMAop01DW1bz3uwoE8+rydFI3j/WUc0VLN/jrB0KJ/zDRHet4pSJs2inq2h7JkHSRJYswCZaYiQA8azF3aWClV7qKZdGUAykkzEyZyUvBVYZP8vyHQk3ubhWuo7//xzMPEDDx1gEzogz9tYiCpRJJ8TGbtl6p6ZGumAnlHpaWpnQTs1mWEoWGKFzQQtDri3DSPGjur/p6Y7viWto2Mnw7HBKkXVJZJtv9AHStxaZ0sFKXvBNOmRyFgSLNGx+5XhDcnfMOysCi7quRiWJq4EeWRNmfyChTUBSsjlWUOoKTtqD0b1hjoglS4jiHJsYczPNGFCPSUk+8zrbQtoa+qVLswCrYqOpi17iWDaH3rXqkNMRpAES5amWS8/aF0SsifJG+vqtLnGVT+0FIdQpnjMTyNdSR6NxLnxNrZFR+kzYyPRaPV2EQ7O0IR4z6F6pxUijJAY3ZltW50UXo813bkqO6fLUIvMicxBF5/F/v+7/ZTFzP55o2CnBzkvL5x+Lkd46wAHipig3xivMfksZtzcMDFLY/jYA5lf2CuWbo/QrgI53E2tZeFUctvmLxKWtBJqMXFxIozV6R0dLLw6hbhwsgKo3L9+Bp36Z8viGptPrGnN/qpTduEQu1IE2KiEqJrJittrXc+FGaQEPIH7Myu0uQEM4TA3RgwHKW8bkk+3xJ04gwSODqAz5yxcqlgwgksw5oh39TTKbiVoNHO8Bf5HvH3oPHxQBWixDU0YGFZz1FGUfzd9nkY6+x9vgySJJ8z0Ajs9e7Xts3sElcCfVriHRpGzQRhWCLenyEr+t9dgQ+uj5WQfCWUnkcwLqy03dv0wheC+J0QuOiBW+maS5ivd86GVwuS7OWlNDohAIzobqesm48rjUEeFaRxmCrb0vio6uQnAC5Uyi89f0RpNF1SARsLKXcmH9KuX1MHbA/09tGnQOSMpRv0aWn5hscPk2YMEy5sm7HCEVLK3r1ysg35TMuI0V3uXWQeohdz2YsMCWemXCMpET9ZR608mjVZQJdHrNa6kQuYIfsPeCerltugUbG5XKPYTOCLJb2VTzzvvAcEP1L0kzpy7MrnJ0bVkkgG2X5bNtPaEmoGCpjjhQLTZKj+hfcHno68NARk0Skbh2pN+RdVMhnbvcQ+PS66s07w+5xLp884l24aAZepqMjV8zubFpNRBVwob36DtqWPP0pjTGtD2EPwhVOcCsJCsGx3LO+PIeds61sjzLIjjTQVQFZ0GMD77ijc9//QFS9zAtMXDBfDB8o/EnABG5MS0f8LFMsJZ3rojJl3c7v/iwTZ/4n7sm2cwKBcRL5QIuP4rme5ZIrm6EqunzCMcb2R1wmOVPKnFSeX1Ha/iAGyYgBMRoWVuTVrDnhl2gxj4I/5IcE7QoZulgVU8AS4ILYfZjiehPkW2HU9G+Er7y8bb0SbtyeZ10czYUNGoANmL5XqrlPhfPymPuLQNwq390u4CYNIMGwnRzYqEsx3S/KrNHpp0JgxLeHGq3nYtz56nvxsMMA6MSPBnS5+bdG0wPRJm2SCs3Sbuq5Rd7YnW6fXsXr48emtdiB9rAvwKYuzYgb+t4licZjRO/7a5bnqpuF57qnn2yM6RmfXtj63j//wPm9vaSydFRC/fpnfXwS5D072lBBfb9UdRlaRS2yRit4Pm6KUdoJjWEWBWc7S6jICXD+4tK/+9Zc1pdA01AChDRngZAvJCGLBfQe5pkMKI7/qYfHCGDwU9QNBHBR7NeU0v+QuN0ULRo9Zoqny4j6Yulifq5Ip5mE2B3JdWXWUhhGd8b2s9CyyZ4fKqQ3A0r4ND07A67fqOH5dJ1EIE9UVlTjlbUQFg9fxKdBCKS6ArDyutvNfHLz0GWt5EH4+WKny4MBNlzNdqyJ+93FrVWQnR/3VgNprF+LRt2oEG1qAgNmZfn5kQAkZP9Lw7LGavPqVI7w3HAiaLa3FmjnF9eGSliNPYlJc0S+onoAPL1peJxG7eIgeq+SDHeWAmuhB1lzHZnw8AfMRnNqaiLC3LzYDyBWZdR/QkOtnXYKMFNe51B3/YNlokj5K6VNLlHFlONymW0uJNx74S4Acbu4vzkzzMW5FbKDGP75BhV9+BD4UfmHA8J5IVWF2I4WSdR3WVaGLyCpEjFhUzSqecUaq8cddAE9HTRWwRAh602tt8yjgKb6bfKWX/u5xXFurrYlVn3jVJIXupU5McTqkVYKnKXzryRPmrR4AmAoBMLEW7+hX3YKgwOs0sdaXHlk11rXv+aERomUDiBrghobLvVpyE44ElD7CmGSu0vyffje8H/oY47cGBDaZ0Q+fQ8FZs3D9gy1cagvA56OMxT5/OLoVmnxAiEhC5LXj6Dh5nNQi8MbAVWJH0XBrBfAlNudyr+DUQGnxMhDi1Hrg5XKox/4D8GRewGNhN0gD2kLXCo8PEDleU/kut0DsFQWLhWZ6zpE3C0JTSPffAuOV/mf7JPNXZ0EGnOT3BqA1Oc8rrz+Ak4Nw3ii1koTJw7v70LJdLFDaFM8jSFrQC44xIFbZk6AW9TypGjJ27LxQpK7JoJSufoCu6hXKzuFU1zyG48f6xXgLaBz5pPChPDCFbgiatVL83+DN9/2rZdEkwrLNmB/DqtWYt3w8L6lEOTJySvB1SxRWCRvP86grQQP+1aT4EqcliUYM0xnfUIpiXTOPNH0RY/uFARJJ2x+QznV8dAGqXHczUPuYDaespFwuhlz0tGvRXoWQA84RY6Z3et6/TWtZ/xkdHkwcfG/6RU2JkWB/uBpAv34TYQtbmFZKRi5j/eEbXCYtA/I/hsz4gjseCqo88blwEtk75xSasQ+a7OJLkjugdtFONZLqp7LOF3PRZ0+/3IDydKEA21oncQLio/m48HYd/KTSV9G577MDkarAnRwws0XVhH1RBPsh1npsupuiNlQErAn70tFdm1RQ4bFXrd6UD7FQvBJpXfm8WduupSK7l2T1Am5WCA8IQSlpPlxALp2NxQ47u56eKswys7dbScTyJeGMTMYuntJFW8tMBgmNP3g9ym7Pk9YwJbQk3JvroL6YdEtOS/OZ5bvCjs7rHeZKVizPs8xlUuASt53vgbAwsEdjpXSgo6TcYHjdMAV4QPrI5iQ2UISlMFPtKBFPWyJsYw1usjdrHbWbQPtQJUcuGvj1Yw/P/nFIKmNHOesDCvA2FfjHmUQfVGxUT4r5dmNb+KqtwcdsTiEA5C54kJ+r5Wn0oYFJDAlHvN3btn4GObL/Y/N+tINAAqXsQB/VHNw03K4ThBKjgA6TeJr0d6PsJSEJpCDGYV9gPGJIcNAilBt06AXeZyYgr8ymy59Uj+12Kg1zBfQkqfKxKDKVF/IeedFtNhG1aZtOwAi3Eobxbs7d1Yo0VuCtzo3pK5hKcLypmVSaywiUQgLkUSNhWPGC+UYrTMbBuoRkuhX7GMnoNk1Qvi3CkSrgZNi1N0xMpdsnkAMZQMjIR0eR77Q6tSxR+PV1FEh9ahFdCUFcYSw9tklmp5Z+k5+iyiZx2W9LfiVX61EjD16+hKanEaCd3/f6hwFQIXbgWaFcCKwlkLclGm4dIkinOW6XJ4kk+Z99jYXMQ3R1oMfuSBjYwP+5yBnRfsHor5VkqNjS8pb3d2unNgpOidECwIOAY4BHmCshggHOeKvEARyfAQ2h/K4Zf6LcbKz1ExUY23e7f8JEe2twn8iB2Xca/hkHXh8vMhAeHFfzKoC88ylCKSGIvnctjWPo5iq8KTGXlJcZT+j1Qia584i4mRA1gT4II+Po/nPc2NP9zm2RJ+2ZQtg4s/qqJBt0GUYcmKzh0Jw0C+bG8pwqzHcg7KLTjqPyQOmELGJKhouLkdUhIirAv/9IwVffFpuTfbqdbLghiuwxWouZ+RsKKgPLjN+2srKq2ieapJ7KKwdfqojInsgFvmziXWEQ0I31usr6txyhJ8vQx2M50J+8m6bhgzKb8Si/tBFlCC05sLIFfNijFrDozzluSkc1tn4JRHsYKeNvAJnWpuDeHu1Re0nPTRa/Oqm00OvpJ5xDjOz8DVM6SJepdk/FUzm5jV7ddzjdnrjQ2KCAr7JEJQg1JBUKk/diuMuisoQdwokRtyNlLm1oXyKJtOKREfy1fzEhQeyUJesLfbmrrDc4A2VSchK5rO+UEFW3sB5XPe8EDdARjNZWPVa28nzpHq/P532mq8XAlm9p8o3SEreJ3FPKSyhN5AA/XnoH6kCM/aREVZ7LIgednkjmB8mFnb8kxw4YhvSEO3x2mz+y5DoUtzIhTO1XoCHvvBCl90YqZTYUl63oRt1IzwennLFQ//zfJ15rtUoVFTMxavzCVkP+Lu6RR8e49R9kNeDMMCKAv/2403kz1nSThLE7Sy7dPamPcKFJfLiLLOnw7GK3bwN4oYOyvF22wM2vI+A3XFnVjlMRsld4/MFXZDf1wVLpPbpg06W9nbcrLYSeMDh51cTh4cTh8vJtGZEtShGIixOVQXLoYcfUS38Gz6SgmUAO6bOCxqffa2frteYdfI26WpOrDJf/vV22hYdj7GaHLD+rqQ/AGRcIHMV6MbqODoSuM1f3nCYfL2QS/S8IrcTBu8mfapPd+V2Q2ZV+oX40qAncj/Oc6tdSLH60/6HPC3B6VJJYNpiSnsgW7tLB3CDf5CEQ0hhh8kVCTP4pCo9fPCU5zRGi05+jGPtUqx/kGjnXXBwqK+E+X/hoijn+FP96p8nKgBixcQDqaeWJISsHgHKdpGWBT3Zzgof2sZGbQr88C5Z/llGRTcc1T26Zn9NEL0zSyCaAQsoQ9M2vyX06nUtU7FEHwMpTVROUxC3PURPOrzyxTR5jI+vEF60VkeH7FyJPTsi3mizBfpHYAZjjlaiMXtqGLC6RFLYdp9uJmlX+TG33pryNbXrJuXS4oHjItEFryvsiwuebDzBOmYfi7R7EJBFCKnqUStvqUSRTX08QlbX/w2/IzO+leUndZ2/qC2vf6wRaTU2wC/Q8Hzg7jq3TsqFzSTqEw4pFICco8ndeUkaTlvOZbGRRccQ8DUf6p/D9gL0T1yoW8XIPw4y/FilB1OGHNjbF7Tx721Or+L/EcjGKqgGAHZXWIpa0Xo1JEp2TCsvHUxIYFo0qEB49oBVHOBlceoOQ8qvp9g0Dd4KLtOnciDC3OoPu04OTZVMO+m8RQDJHCFkhdXiDYmbNMNEHvF7GEkHF4/9X2EEwOmGFlAB7I48FAgM1Pa1Kanam5gPcgcfUd7K81FIM3RqiCpcG/k3Z2SceWWADu2eHkU1PYnt1oenrOenefoD9t/njgP8UNoZ0TsvOFHfY2EgpjjJQyY1tIJsZzjLox+4Hafevr9vPpYWw9tGu/XcqU5AQ+BC6qcWQbAlC+rxrI44FaZ60AvjUrofzJEHMTaxIW6YMrg6oCrsZ3qGzSU2XqP3qHAqnGv7/zTjmtQDrk6Tu76LRTBp1UKj4cD7LxA5OjXX1P2bsjqQNO1c5SG3edsSxXlHdLG6xAtkzPCq5nW9ElzR2eh/ElzjWW1KHvFt27a0q5cnOlIamDlqhpCsUshI9olAbonPFKjo0T/w+tV0tz2GK1RxTNKies5slHrCfjo0uW5mQMztl1EZgMSRzVqaBAXhZhAIWw7kMlr/wvrVHtUBxE0VKzZImwwDmj2YhKocNj6YRWsbsQFu5a378L7kyQy9UgYHULu+3J8bKiAf149v3QxVFAT8tve9tSBtQCsWaMpPOChABW8D/HcLCc42LdPvW/ow6juMugAE1J96eteHzvH2nn3D9gV7hltmvHZImJJGQ6XOkXNW6KUEJnT2Ov9iEBsEb8P8yxe2vZP3q4ZgvE5qi7eCCAX7z9Gwt379GZCQi2hayhiv0oUjqi24QqQtTAqaQy0M46v+9mZXsCFJpxsKl0LDbSP9Sji+gZo/ulZ9TlZc09IO+KLNyswUqbTt6wbpi16eC3myPOszrIZJSUtgMAxuDdz1M7WXaT4u3hUEG1dhIsV7wZU+9be45PSPCn+poh9ZGfT944BvFG8fNCQUaRN1V44A1Ny9aKkQTtfAsDsmxT1Fl7tnLz1Uy/2yLaoxwtNupn/Ds5OQ0hFlMqlQV8tFbAkizMKFDEkSiHmWL4XhokGadA1QdENh+OY7QFimlxmujn1hFNvYObKHQWm54iKPBFMCKY4i16WLVuUjGr2ae/wpy/BeyPxOZQwnaruum0awFr9I2F4/9QMyhJTvgSANJhLgnxPgFV8pYCKeTxuQB7oWO3qXPjPgigylru0BZQJqSJ/E+I/E9R237DH1WlbTfOkUVa+2ndfIC55OKruThS4vgiYQe+B0O7Kb3UCPbULHjyYXbCFCCIwxteX8gMBDzfEXW8aWyQNlCyEV67vQABw5d2UUTBKI4xsnRTS6aDL7dxPoFYm4UFeraVO7hcUVkWLHB9r8tOpylClq9ZfY0ATBNdUAUS6GYPRciAQCwlQRwHd2fJU0AVDXHta5pw9osfwVco57o9MH2IBrkQqLXOE/6mlAIqCzJqBWzxN1rg1B9k570xbtJn3djq4ldRaMDRuRMyf3nMBEdMp+6YOWXOv3j1sfQuc7GkZzAUTS8I3c27bLz+xm4JvDqkUtJYA7riGAeAJPozgKJBVJPG/qMaOVp7VrWtzs6v9dv37/IheP8uOqNmifz83dflaWSgmnCCdYaZkDLyWHOxTIMRXxcP4seX//99QeA9p1fISY6OtkOGvs4cWKrAKSnMf6Sk5LsMih2X6YAOHKChCL0MOXEMDcyEdkKwzBXchho1NhL/zKgwuG1s4P2+Z301dgL8/1vpWGx03iP1tHLKfKax0QmWRdPIk43bCdYUh/TX/r6b1j/WSdinMAXw3EXhOtFY6rxVYzNsV3clzTcEVC3fH+mhEjyojTUja6j/Z5SXwDGzeoSI+pOYMki5h0Z1co0waSQUnjyUm4CUU0LX9cfLNTHbsuW5Z6zxJQxSqtAZ/kAeylTZ7V7gfH2EzJAivBtbhXj2rJOEAwHScv2CLn8vVe3FQFiG3pqq+tVfDT6GE5OaynNqsRRfSntLQyDd0cMHcDb1qIYIVew8NN/n/Lp9rpeXlrVoXhA4yrcGqQCBsazksW+5Cv9mZHJwCRvoL4dUkhw0+VMWBytdMu+UH4f+1JC6lSZ8nr7pEXZHKsBmFMgfiWFmnUK0tmU9U5Mb+XdJ5VD5BCTfyMVgbz5TrrCMLJZLMB7PPPW8G9RhLwA47f/3vgXp3efcVrzcFl+RTOVvxFhD8UuCfM1uAuOXCEo/VhjuoGJJFnY9bxK53/iodR4yKsDqdcje8ZM7lYrGUz/5+ZFjU+mN94ti5Mrn07bkLPeP3RopfWeNiywO2XCQJ3Kgg2ZdUWGiKO1gIgxLk5/lYkHvhYYwDXjShzMNYbcLX3H+U5wPQb6dkJYTE05PzaTP6Jb7DbDKhG1btmcHXvMwdM+0gTAaMMbJmhgP78EjrfHGr6Ljkw/KAJZk0APtZ23fuyK8hsrdAZXIsWiNtsptqqCERcS21rYfgWt+MQ8XjtNf0mUw/9xpgSUrGXlGWxrPAcJr6LM7oMHVkenH63ASzqm0B25s2jPVXGcKN2vJfuLuWoCpHQn1WomE6kaudYaPXQXxheXXVWiMJFlIRKC9WQ7lt43pbZAhFSXcRFBu4KGw+owE9EesTPjsoQ+5jgxc8iQOfFSs8PsSlxJZGHmiNsDo4ojz0d1Pz60jp1NA7sVzU1W1sJ3nofffCNUorDiSvqFbSWDd5xwizzdUJqOLhBSqkkjThQb9ida79WcJFsev2Bt5Nzx+srzLyvEKRC5RBwsRn2OWbvh7KdwNi31401XbjgYCrHeSf9uu+up0ByvqPASxHL3I3eunGyrUE0fTGn4ylMzMbIW6jyRyuq7yiLUI6u8DFF2yyqYU1xIS9VczVfYG2b7OOBHeBwIelOoFUdQiJ8aLGxtuDFyID9eDiM/RwRspdSrc70fiDDNuJ53D7H4sYQVS8/s+v/upZlU9ZEe0q8Sq0cC3hjav4DgFDIjI4yw2hxAV58+D+I7qm9hff3/1/gbeZryiKNkCOAKrP2lL0Bbky0vFffD6fUasWBtPO8RwDvB6MMDpFywhZNOGJWBqw94wROCjPsKEyvEnT5yFKAxOtWAzDqmGCKIPr3AFoqJLuV3vRUJpKITPx9gBo2Ptom82E0azxi8rqR2z5lN/4VloAdCr4RoLM889zReqO7Vsf9a4sQ018YGLpJakdCAhbFoYS8oMBGt57HtBrwbjqrirQSZTDeuK0WJ2NMUfQyqkYPA8rlyX+TLcGBCzIgBTMAXEFiesXza+nB3Rp8OG1X9UejZNOnow1pMJx6NSQIZPmKdl++18l9+TRwfG2XwchabyQi3EMbfrDUfH7y2cyeLp5Ddim7qlGsuW6+D3g5TMeCDKkFNGGur1YN+fd3eyyI5yZBTTqFbKzr+bfmA/Zh525ZiiQVVL+iDEEvXz4XbVFa3McpwcM1dWXJ//lPH0KS/kPh8GMb+AGvK7LnE4KwkWXVa4UlK5HOot68vojSDrrANqpD3mGVLq2/Is1YxzPCVNX1z/3OWh3f136XiELvaphsdwzYcHMAkekAQVJCwX++miiLcHvNnTe5ttKevDbdSHHY8jEPz2UxjSt9j9gUcxN2FOR7+qYZb1AT3xNQhfjmEWL9SNjEkyaccN5EmpiayP1l216HFbHbVApfs+bdlIavcz981ZQTZspN5sAYZYM+S6UgqqznCMkEHn0quFYm5veIXeVzuwaZK+9qmS/Ed0VZWVYRUHlTb89pC0Fyf4EsT9gF+NVXOE9Kbuh/MrmvK6yvupjAfnlpTCc16+AZOREuB/a7M2sd0ozhJXcCkHmrUN39d5IpPmMDZ4UsSsn4Lrp5+8uXVKjDznztBdGLZcxtSxp0ZtNzkR5aoIANe1mhEhZVco6s0KOqMkCEz+9P/bwF3Q5u0s8IFNOgzfwwapmXhxOd8pHZ1Rp6zgKI+8ydInjuiRi3M+ryAOJmS7GgQL1bwIFRuU2Z+Fy0mrlCzAHX9hQd4i8Plo63ZYkO/Zgj0WEWIZwfG6HqDQDe9MPJSci8nTZTmFVYM4WEX7wky7gf/2p/Qm7EpEah8ERlFGU6/myeoLeaLufxP+PCXT9WNLYIeRcn8lQljtiOaIpGGTzEQaa1fvmaSq2Y5PRaag6kcDbLsAAt6DV6E1mnDDMmjxaR7H9hNpbZZI3ENjDFJgswzXQs87RbOMj5vZtfUYwJVGz75IvK/+sG55Xd/OY+TlYWpnvzqeV3YEVdvrGWgDwMf/i47RuOAa6umDjND76sSQ27InPMf2SdELuzMphy+/nXgMENuWm3ANWfjtDY6cxRt0zyEpPywEvftVEiOgiTjjYkEBKnaf8eJ7vawHyxZFUkAzwwFHb/pSFTSeg6WczDjIe34PpPdnku5r7ycWVtrKCQ9nbOmSLoa8L7/T4K6kcF10zEgebpt0ASKMVPJ2N1NKGdLnwcvPz8O+RTsm3uWdjcrZeF3xt0h+qXtZtC9P88G9Bt4XqPZb+hUSGwvohusfVxkBJs0xjtykm/Fj4OPRo+xOU/1p+NGqzqztGJx14pEBF0qShthpW5LmI0ADQIIzwJyIxRHT5vpnvhbMXtEkIUm+VI+1vV/7mCe/nlyYOqZEIju7uERBQqxQN9hZ1uz+9+S2COeDqxmg6XJEPm58oQALJ+5wJkK7jDx5N2hJwBy02TXIZFavfMH/aAAnjh8a3bj4hRlDl+YGrxbcRkwYwoMG/hrdoUJc6wBs/JSjtc/0pctPEUA4byhzuosH+rxyD4fMW6is1Q4+5CKa2gED2mz4KGI4aXvs8PiwaP8KVh52Ivne6QiYS8HzhIXFSKsYtOPapsh0lNrslAFiUwPvymUyhYo0gVqelL+TTA6sfbS8fcxc+TXVPPKKphJWdTJhH6ZU23Tb1wTqpC+bEMtZqd7kB1Oa3rca2ZcTallT+/2Aa4ySO6PCwDJPmSuGC6jM9vWQAA4vFE1eY+68abYuSMQgZon/vjcgw4sF5Yoz2ouupa4f3eQ2zKZVlEAFRj+iUIrWsTGWZPcvbwWMLSKj0RYeww4auSsXdyFqNqQkBXSIL/X3wgEnDVzBaShQ2WDqKJ+QQIfS2UYbFIhItdDnlqZuhIUvulTsW7u56I30ev2M1pNwhqr80LdcsVdenCMzoClr983KnQcYhhh+PoU4stwcryR7vCV9fVeWzs/p7uWCinbcdwZXCuxdmlahrssZ4QzY0yM2esknsjE0fzhgaM0V+JE87B/zFIpcIa1H8eqwtScYeacV0XdcyogJDw6DfbWlSt+GubYw4D9TGPMLp5HywKzBsDfHpqjKQk9dXGqugDkLXraABslvQHm/bA2HRGjLlhXiQKSbDK0qg/PWH8buPiE2oAseFu+OPNP4h699R6WZdcKpLhsePCJo7lYWYi2ONNuYnmj1BRJ1fKDe04E90rh4mQYN/6zlV3NV0i4zZLcHN1YrOyqNDwAuHNe+VgpR5fAKoB0A4soU1ZgGXA/e/0EUxiIHGZmDBduLYoSac/naftJFkHvJETfSAMkSfHrddCZbV0E43wU/LO0ESTyKuvpaj5rktom4ieaKsvhniDRoFpFXEz5miGm3CZCNS4D9hWygknHPl88cpoIhXZdK8Ur7qLJIHhXnvHgZJc2H43drsDZA/A5F+3X1SG/ttaZbncMssvO0us2Krlhjt9cgRiBU2rtasm/PbvCTmISmVzWmH/dxyl6kB4JiJdUNS8Vns9Poh0GvTxony3r/rVERLI6o9+6KqY/7No4qg56Eg7ClH5AvudbHiWzafb7c2fVIlgUF6Pl2mHVRMxwinjOnvPNljhHFENgoMPWOHrUlC3fENB50YWcW5+7KsLYQPaG6gpohL02pHVEzLHtmExYTm5JdPU2sANqZ1zK56PujKdGfNqCBy3Pgk/9CDtr4xq+IOjZnw/OejbOGdT9F96yo7Lm00cshyNA0jHJNdbbwC0Ew7ZxJA1M6toLb5cPcRwccFozRnCQ7SKtyYjmZpNZKagbJ4YPpk7TPFahwBZNWl0CEsRP953Wo53tSD9UikMILFk2LBC31KFQt/PMiYN6l2KwIcJGhJ4SEreWEVF2Kntj6i0E3PKGUeBuD7Wtr3LOPzhHU8SA8Mh8uz2hrjFiHUmi0aDkLOqsBVIPlrCcUmpVfUmGbPw8HtjNPFjQO13dUkKjuSa7UOCHMfod+0q0f4Jg4IWXzoSXD4izLNBHFstvXze6JgmsaTEQ7+TLia7cP4rFTK2DhISjEQNvPNMEL7PgpIIEispyezOTjmGMJDrB+MzW+JfnOc202no56nfcXJ2LX33zWRvJMV2RmM4hjtXc2rfWkvPuzeWNo7RUeGkKAqHdFTBHhYtVDOVQnrZ0sOgeMfCX6a6OvzrjKYEPqO2A5fyrNlfVsUYAK/9jQhF/QlDV8/Qn8lgN4OSlVRK97L184f0k8gM/R7FOxy0tAcjevFn7RacLGzwzp5AwcwwQVST47pE2RF1ZRyRhVubn921XK/KnEnj4OuCIf4FEk3bkTVUsYzTOgTCX5lK9ThZRdubOwI3PSWZBdhxq06pHoc9eaorqASKjbPA6GqkzjsBYHS0JA47MufCh0IY4WCELmhx/qsYvFOChS4tVOPa1dTDHsD4z+Ho1tdy6nTM6dL0NazCZHTXCQMWc1AhblbDiJptdE46S1LVUHIk7YAxcv4bBCzOPu/1gOXjtuwgzDgw/Jjr/fWszNgpqZOKD8q/9LqeWXI4Ae8ymZtH3YwlbUB5asVgxxpej5jQag5iWSMj/fC58cVJae2v+SmFCkCaxP3bz+YgPa6tbQpubk/j+NCd1nKqecEr/UQ/S5ddaTK6dNhCSasyFUmLydxXTGqLvDKYVSNa47NIuITES7l92ZJo9jcVdBMFKowLMTORznMUixhvJ/X+bTfUBMInXgZZnHwY6V8TYwz3S5kxl012B+1IgiSyaC6pfHpYzvR1O/u0WtwPPXpoiqS7DQhR9VhK84ue8Q7/lHutGXaqAk5GvbHoxpikcJEajVabFNnc/gRaamsoIKr5z7ZmwHyye5DbOzN2AQrwlXILvDLrnImD5v9smpckLl32S+ROAKTSQvtN73Q9gQBDukYq1h7MsTCdNRuNiTqtG4v0FytThg0t85jxeDfPK4gjlCxcGQkvLk5KFR6BgvLjH66by2A9n3iuXqhagXL+pRPyZUPu9z2xVozIGaqfQWACSovXTWIvpaPA+jTbgVDw7ABZrrqpAgvQhGUvBnOiazvufVzjPtnc22JQMg2f3559JlYpwI1i47laMWj7kpUgoheyghSwCibVJoEvL4hKLfDyAsCBj7yzozm4TBe0kuvXaHXY23obPvbqiH1Ohg9jP8f0CQ+ve0LPm5e18KapaRQ8dFNDBl2YqtJTBuwQWxhYhYhlfPkcJ+5bkcrILZpw7OIAgnd1LTG7Mw9Zu/cHB+K8Nwy4Xlq85vpiRtblAkxpZMDVtotZ4mp8m5AXq4Mv0ynHf6G1xnQJWEqNllYL+gKX6k3kX/UC9MYCOdUC8AfKJG+ZoOoVdi/bjvEpfcEpdV7wDuY0fcKfkoOzFDmza8tsTX1/2q4oWAPHTIRzpjtUXlxcL/q42D8UopWU+rkBSzVss9M1rDe/Nbu9TdwqnzNfaKpiDXES1V7EoMwi4RBTcGXalAEAPTpij1aMJmtUfQAlRagu/MtJzKXdgPbAGdG+7Vg1agphpdMPrdQRunk3HuQ5B8IZPmuovXAsEkHS62VgtXySzdMJy+kf0vULzYDjGpFsnnUSEFb0IeBVSmVn+Xdg5lTOKqIu8lIMGifwZ8KdHUQt2NYunf6sLEcHbxrHRfHeaBrc2VBeE8GD/9OQ3q8R52HWRyJMryU9UlbHePZ7gAqfoQQ83DJRdHgsSAE3bGrVWk/8MFGVBuyWwOzzvfohmzA9rRT0c+S+XiX9ca2RTefJrN93Og6z69XXX6WPlUcEMrJI/gu04UQ2i55Wiic+ZpmCrx3C1/Q2S19Tn6mLz4stMTd0NPMkM+mQ4aFvR/NtssBNyVcIFlwDjlSh1Sh6rnDbg/rwVv9ehzs/ILeXcwm15JII5CYjcSBKZGIXnG4zJJ3BEdOQPu1BE/B/mrXzPBhT3ixFYcO2RRBtW6y0Fx6Ny+8VbVr4C39zvMVdXUPF5vokAh4JDSM+UL3QC2S87O7+1UZMvSQNbUY0HWI1sIZfZO9t+RubAVRtfVxwqHpIkdEX6k1GzyiYuMfvIT7oqPgjmZ4ckLL8pCZ3g5ngoqVal3zCYNcVVCeV8kGXRKUDyRuS3o8THoXiCxviEssWMGk6/9nu1U5oJtqAwIRFtCh9CJTMfTCF9BHkwOExalg5wJYJcq4PeLe3dN7if4ujVa5hKj01kvpr3+CZCx79OnwTTnj7Eybt5pATeJ1TSXCT+H7RMKAP5rwcdBNt+94GOHQMBuJLNwANLB1FMn0Id7mHe5mVcZasfIi6tXFeo7j1y7D3PW2Z0UvOC15L1tTaqB+veZ89HzPzda/anyYya8C2Ys4sp21ck7nXD5G6dP60BWkrQO0a43Yf3GC/8kBFdSU51enTVVnr29yr/gd+JMHeNyrQ0LJploXHQnvjYKKHsbcXnWwQAK6i+EPZ61Bn7Ltf2SI6EM82lNuXG8UkwWuK58I/rioh7yH1B5K0ySpRY02yFMk78UCJHGDwyKXLBFGoE2yDIp1O9JmSVow6+DCrRUvG9NZY67J+a7rMFjmYSaMhHPdQEWgZztatPkVjb3XzeK/1/obTw8ODgzLF4X+J6JOplE9ILSF0TfgDgVaFQzw4j8mMLhADPlZd8pbgwOIUVBriHavTrULrE38GmevgZ4xp+Lxk2u0TaZMoXeeYG6UYp+BWulVI9Br0/BmE1ZDFYuCjmGguO9UQqTwcrR7+M/BVjr/OBl0tY0/2Uo55puk3mhgqHwwC+xAyBb5NBn4HtonspzclQCfdqxq4WFNW+vB2i47gjk4xy0ZUwkakniBNuugTZ8a5AuexmOAQ1uPbcdfENiL4DzdjOSNy9vutvzwDwsq+PUBVM1p9ah0dUN+1B/afDb/CzOGXulginImiD6/FUPvBg69VGNBLsLjUpMiR+rTh5tTlFoUxvjMuWFrlrFdv66Kqempq/g5Gb8+XWzHez8GEd14TK1FvPXAz3jnI75SwAx4w80WkAjs2KWiRhufVxuPHkXEC7rSH3TjBYeWooRzkR30+OVolMpsOOYTHq+A1zqjGluDIC2FELgQAgu4u3KoUkE889dsG68cZdoNut8/9XG/9RdePSncAMsCsdMMqHG0EcrGN7TruT9HEdrT0LdvUELHN63taTzMZdzSkc7G7m78xGZ2gpeJCMUmtzf6oEGUjW97tdJYEI/9EnRf7M+Jy+iIjnU2sg8Ok2O6C2r1Ad1/LgoehWuCwxU//bAGXrxMKgWgUjqomq2dfiOyR94f9/+BJxoh9nMBPWqlWJjPzi7rXLl8LMcyPMm5P4O5jK+lCbc5SyVkN88AMc3XOoHa5fHyvfekCnrPwCYw3XMsXJcJfHMSPITnhyjriacabAF6f2axDKjK2IqSS3j7TFxGjyAKhVzj+n9aMXastClQEtrKhI/NSxjlzxr9BeBGIqgDGdoZU2QRehXDuZ1Nu3EzK3mCYrY913qonBfKpKVNVIOj1kbTXcoda3YHbkVVB5iou8p9OBsUPltTSzD59MEwkc0s5Elu+7BMqfd1xt7Z46C6BbaJH/40QqLV7yt8vURPhzGfORqlF4s8tXTuqFXzcr64wnkS2XxUGF5AXLI1W+Lj52m/ytFGNOQYbdVtwCKfs+lJkBv/DpC/EBFZDk6F20DKO5dFyFzfxjQi04SawtzeTC/WjxPYCVOE+licVydE5ZnjCVfRo9mM2KWwg/3VTtK3mMSQ8Z58na4V8qk4/iC1rIPoEuJ9EVW0LyicJLO/xU+3vzo8lVoxTiz8HtOC3pbJ+zeWemzaeJJyIQp7tJCaH0xGDXOxfatpfSdIOEmyqT55MzVQB18w15a86Kc3dJajcbN7khDkkh88pe3itkRKlWpto7/oFN8+JSx6Yen/5nw9Eq57pp36eD8OJfhyj6vIdhligpc830u7l0wacsKjX9DtG8ABwHQD7z2NHKT/VC1RC6FZroar/JSDSg9bbXr78SU09gXXo/oCWVJgkj5wjx0d/KHebjC+aDHe3UVFmaaDdOoNPycPi0aTAQav/xxBcjZjcHT4nE+990C6IYxcKA+3e1xY5cPfEBhAb9NJkQK+ZskY0Ot/leF+2MRUucf1/0HH6QbeheNri1spJK9Hv8FloELRKDdS83z1gC6P4t4CI5l+rvdRAxlCcjK+u10RMgEwgk7GXOSX3o01/qhsrJ96jfcbJXwUQBwlYbiGT6ObRDh5uU2XA2pCpkUkyOaVmp5hpLhKFWebWgHqOFp5UccYWPrjGkPKyi/eUAAqBaEn7+bwdTlM4SS8okxpLoYuJYZRIgJQzpVEhI2qUpSIcD3rLcp/kFOjjChbJNaWNRODP8YIqF9F90p4Pe+qrSt+ADnZLU/s3B6cr7o4kxa2CmjtV0gOYN7MB4EZx7kmij/L17hVZtjP7/pAmWWlxj107Pshm7srqJYaAQKLgfPoAmvC83mLWH/SX37WLYIfcJ1h+/OQdV0vWEJKTF0hSvLUSxjaFL2274fHPb3w06V0QnBXrObyChEvwYFL9FT6Me+O4spX4YkTS+MPcZM+NyPODoeo+juX5TeAJmq/FtskiV7mr8bU2aI2OGlIK7G8Qi+o5KZyuq+4uki7prGakda2U2yJD28mi1m6OsLN8X6EZD+rwIFRmR52S2i4VQ8yjh8ODd+EWCZkpTFs7T+sPPWO2nmkFl0Khxe/02Uoe0ZY7NVH0DqdvMur9hB97kX3GoRFyGJKXdHbve5ONNGyvje6Ro5823TJR5BXzSEFxTpArLGNiOKxg/UKK6Z3x6YAoZrlUOvaFe3iqBgaMG+4lOZfPM3csqH2s0I5wf/RPZu2i8WOSg1sZuFd4qBk4kLrRZiqSYjxyFTAt/eIviNrdBiP+DjzeujEaptl2TFv+r/ddZ9n5klfJ58kZHcCxlpEvEdNAYqqKJfJu5lL15BtYZHnaiCTxwpPQC6nu6kTaYQXPZk9rGRIQyKnU+ZwUDxBPr35MWoGfH2/wCDFsPrDSEorzZRHwwGA1YX5whepCgIX9q5TJBkZGYXictVJWq9ZkgOOVrSQRbwyjQPDJ8yY9tYdUbAWqBeTgjJaYNe7hwvV70u0nPEtrIHMBcORWYT0eWmYiJCNWwQautAtqwAGPYFNaa4yiD7npQiq4QVVD/zS5Jy8vqrMzbNSzHdfwepGMFb3P0fSQkvHRjMoSj8JtXt9nPFYsC0rknjFLJERz4HoIOvOX4lz6qY44gnUg+hub5wSbfrT/wBEteytzYagE7O70TWbMnwVcGMgSmg8gpN/yucUkZSErWluyolbiOSrxcgLxBtkV+KJOpJUQmF1V29Y7nBerkrky6CvyzFA5MxV+m0k+Ddb/Xm7KjOClmEm7aWfb4a4d3Xx65IOKCJO0hIajlRW/MoAEz50YKxnHM7PrLFwSbYp7kvwz+UNZSxD2qdq+dDNUP0hh4NZKh+7FloLHSW+DY7EpTeElDdW6dq3+UPiGWptcNDUM8mimx/wBNBTn21+Mrp4TZsh2/U7IpUV/4dTlBfAy3cXDUKVoXX0izvvNwK7feT/MB12RnYHHA59M2OfxlL4xaEJlBG7Eq2O8yOy6NItpaTkrKExVNyNVIZ5WTiFTyfmhrxKq+0aeKjOIul0EolRSRmi+S21DmATVTV4OksyHW9Hpp8yuOZJISasZpTohlAj3tRT1DaYq78LoWCxiN6Xt7Fh/t6Uwwi6qAjuOCQ/ntW+ROSAbRUjsE2wup2vd3+FHriEPmfpe72UUnwr2kZMzN1Y5BYBMtpgOV3lBjhJlM0UZ+Xn/EV+e+6PvE0aiWUfJjqujnDhyNZsR2c0tF8aO0s/0J8ihI9dzAXqSnVXkq4q7nLfYe2HucFU44BE+JHmx9uvXzs4aPiX/w1goCCUSpDjJlEN+LbjiyT1nMv7nssX7gGy/mkpM+iSOoBBUOGP1ozo8cMH1vIdIG301B0QFdfSIonJfOP5YRKkkIzhXKrfI693zfiPC/iQOQUCfNW46UKnihJaDo5SxqLAzmnTW0ZPA/isNIwvgFTaDz7IwLU7xWV/5r+YOTrw0GXtFQE5LQd7JEdjfL3jp7Upv3YMfPI36uZ0iLjEpOboo4GWCB84l3lC6NCVJqzXNi+chyVrc83nCbd3MO2o5X7djTB185EpYgzx5kuxdfFf3owFQySxp57qgzZsMas2baTKp45noifSGQlea8o5C9yh6NbegCDh7YRyK++7m067PWLCWGj9RrpedAdFIzF4TYR3f9n/8nWETFz+OZf1G9O7IotEKhv8t8thgbDZp02cq3ve+7Q82eTZlHHEsjCnTt9UANgLG7dIcjjGmleEQC6gOxBytVl8LIheo0mBa1DbV9wcEkGJAlEn8KYGS1hrNA749OV1dmxEUkatvkDzDIW8ZyoGxTyveJA0xxHZN53q1DF39N+pAII9XZvPGyzP7TnZCiL0M0J9X6FqHLroXzzYCRxS1FywDmVxE+hmvX95sTFCBEcgGiYrVJi6xM/vGPyEgetOUITtD9KISWXSBekSu81JFW65hCgBYxVlxaEy2By2A2X9kUHmKnBIflEVjI0ioaq4xWDBaZWAOUvvnKzKbUo82LSyTEo9/kCeSQgtzRdwL7rJU86y7gneY+PYJGjyCKKluxZFE65ZWP+Yc8VeuEquv1XtYsQxmvkbeQyb4k+PKSY0mo32VDHEUw8YEF454bEeGzgTfwH0mrueKrxNM3ph4rPB43km55IAO/IGtA8FzCz5JWfv6k9VaSME1aXrxU9U4vBpnqJqioq00ug6vilbxGZd/rVz/PWQbK/U5woLZyGyy/YdfdNVGHuJiLFH6QSvCN/oYuIgWoKFfIyweSp1TINXHG+2aRT2Bh4LD8ucA+lF3aoadCwi1TlC9aASJrieJKynaqsNe5cvMwhXIaBzYEgKoDk+oJ0LgTibONeXEOKyYMD/ep1MxZaRqe7Stnju8Qk2rz/p+yACv9ODLy6nq4g72nUQyJWKWeXtVFLsxjgQ//R66N/2EyGwF2lk8n1r1tLahZYWtXbEZUGUhD5G3jTiBVe4xohy7/9prpNsBInf8PDN7aD3cBXhAzGBZRZd7T0Z7+YoJ/9aKJVKGjHPozlzNf3pnzVlAAABFLzb2rihViytPOpuNlqrGutIMF9JM6rpZgmXeX/RW+q/1/lKkuAGqwezvdk9nVgRnyV+2XbYGUHZvjwTgqAHW+HPCdhboN0baDQcAOQ8na/tF8n+9nloKrrIsbUVIvvOD+xL876d4rZSmUNuqVq5Qril0s/T9n/hCBR8GgL6uEwfiqZkMW6vKjiWvyT34ZzCuc6jSVESV0Oichc91pGTp42pOXLOS/E3h8MvyD21RKES/+kKmQnqSseHuVdD5fh0ANrJvPDB0YiSxx3iV9ZN0gF2f/8hDHhTWHQxzbtCcGnco/dFeKmdlyJl98Qr2s4llMz+HYu/qUKAYIO6xyPxwY1FXY82hDiwrada8Zi3ineyZi5RF3/2qO712wMVi0ixCc9MYtKnjbR9arfrzbjka+wS5ZSYEIzfiaZfOZPJFCvr4fR3nAy5OzXGki9vCGOKPM/EgpF1BUA0Z+IzYC1uvwHo2ff5unCjp6IM48fL2bkY59GZ8h1hGoSydIpAvIL0eBZJYvTvZEUe+cP0uzH2RQuIECHe1d2dDmAr36Jm3XTiuwp7nVPyKfDkQ4DlV0fbznQkM3Sqt5kL/o57ZiCaW2hafpjud7KKWr3o3YPsoDYKWeA/EYbARFlmC7NZ0tbai31SCjDkysssXxQvLiZIABQUkX2ig07SQjycvdY1PrVJr8Nzhldqcy7kzKzNRmeluTA8TPyIIoMjokxuwgesqj8+wBDTjiQt4Wq+uSKKJe46QC1fcIe5E4//mBjSMeX3Jn/199INfvq0osHeUa8iz1ayvhBvfDnzhNnwEXlUg7icU5rOyK3GsZ0ANpSfWKBK/BP6ZNqauF1xtSFnuiQcrf4E6NbNNNPSMPDyTh6Tw7QBAmVyL51Cv0iFNQU8+VvcYyOtYmtdFl/TBuf1gSS+z+TKTCLooDOiYNEvAUXLDAlM+VctN7LyFNjRMucxKYzVOvmsKQ5T06Dhijmg2x6b9AavSCggsVAGdFI2WOFW8Qf5GMdQGtm4SsJ/sTgAVRutaHbYYwIpTOb39OQajK6/6fannJYkO56tcfxzDfv4o/UfX7PCQYqzS3N3Na1fu1nA7ZZV5uan64fonlQfQjCTbkyIpFUAx2NDlVp//77qOTBpc8O0hAs/bDpctToBnn/ax3/ToTcl3OgNnxbgZavKRFuF79gofcFCTxcymAGQHFo9EzLM8nuQdAYUC2jpHUomQzFCW3RFyUpthUQ0r4p+icgeQUq1EjnUZVojAr2i+o/zHKNHon2ZGWOtf0WSF3h+cHZ84ovzghoJDlTiFn6FwRQkCREUqDluTJOQg2RrrKvFEt/VUS+ag/0A8blEHc2ye0h9f48JaBCbdo5YEn1/WNy342lRGfHR3xzEQ7eEycyhgdghzqiKeSbRGjAvVkUqn7l2t5ltKhuN4MxD2e/BMV3Uo1zAaPikNHtGkbgaa15OyyG9CwPREY2NDG/RuYTT0HYHm4pip3ifHNOZh87J68LyC6q12c/fFJEDgP+/XfiNZLWnqeH3ORjOztNvpKQgGdN9zqeqkKv+29bBfjlcYF0EBJ6rg4NGhwTd4BxBN6p12YqnBG/eALf/7HdQFhxAnc+sBbpv5rpxXpw8/RSL1tjBWoL4RhSMol8imetrZcdtwY7j4m6SZ8fU6XFSwENq3IgCVTUiFsNoIrCjyJ1KW9G37KCuyTnEki+qbAtDsyng/Iod+FAid9fTf4fnAr+sv23eE+Y2kwfMbZ1SOARPMSpAIvAvYUHbS7qyuYdEB2HXA8xcvL8Bcfj7c4DYW9t/Vi3SdfPcDjS6cPZuYN04ZkDsjGOnqII/wIUwhZBZ7x6RdC+Ym2h2cGciKgIwWelKZqet2K2odZpoQ9zWsr8KUA4976bX7KGEt6ucCKtbsaBRVbPs7k+Gsh+lJGtfffqyadZuzotSnbxwJW5TWSpCTyoO/NvsHLTXfhCp5/+gOmWDMVPGPF9sFpErL++isZydvISm/wHdM4O27cfgUqM9LxG4bcJ04fkZB5M4p4Ut/gj1j/qLHOAGS54HEKqhTD2j58YzmKW2jYh/M1U7RAmqc/YP7kiSK+FRK3SUFX/6oW99aNyhj74ZZ6+fIsRDqIAXHj7f+5tyu2r6io+ZkZc/HKAGxoLJKMDzD0yVKHTtKAs+nYtgmvFnxDm3p9QfKCUxYLepIItF2TpYWWHHEvXB0sncn7fsJIRugWfNKnmC5SByTNzrJhq+uYbIytak87XTjE6wNwgb1CE0MRgJLu/OhGAviv5k8sxSZRCP+YarG8b95geGrPYo/y8lzA2AsTrbs5y8jj7Nc463uNrt7uH8DujMa3l8N02snmsFJV1R8liYucDqLPu/QvwDBu4tSE40UsSceY5qcjtKSFkDiz0cBPoUnLFXfxYoNAsf8FLQ7Ta+IQrkusFvtB40K1RQFLTxXXdlhFasyOmOcK1wwf38R4XIdzir1GNWOFAjKQANki+iSTxCM4CZ36phDwyXmhR168dqhLHJry4G1X/cAM9a8bxzG2mqm1eO13aVy3yzTbDQd8Fhz44d/Qy/MfegS1+LRUQNBE/G8WkB5CLkyKGgOUecD844QIp+Tdec4PgPLjhFNh8/MpVuazXmEk5OB8ReS/ywTSxR/wzCGj0oT5WYpqzSAJ8PG+keXn4LMvI6HmvLtS/HIYnbR9lH5fJUGau7akEjJbgtDJ2p453up3MSt+pBYURs8/bwARci4F9gnFnhthLZ6t9haqBb6hLfVDtPF7J94uYDNDhWzha2JctfJW9uvRjpbfZqiGfDJuAxEV18y5e1rckZtKLjqT7I6S+8LnAalghKgRknotkoFSqDKd6vDCqrjuoeIN01R0vHAoLpjW5kfFPK2jqbgItN2NkCEZGMweLqOlCZAWIkfN6L/zsrFhsqvC4DaXpy8wK8XBkAUmWluUiPrPkA+NJu5bPfdtT+xl9Kc1y02BMuPuU8Sm96h+lI5s5NH2crD8MVYJDAh78WntXirgV23QwYQ3V2mnyZGgwEggz1L89SlndX2MtSSK+KplrulbLdjvnjpIWAzzAlbhDj2lJl9C6AEyAdcItLlkCtvkaf3yjf1+R6a/OREA13eE/UhmIqxQ3Y+kEKpj3SbKQC0d7/j/9JWSbhIMnayfZiQ1rBNzel05U4Xk+BSkq/PwDl2ntKgdPqG0qKwRPYIY3LTggZXGAjmhl3j/T1RAsMTOHp8LzXPK/0iAMCT11Wadvln1XVcnq3LHmlOpMcJWBxEjG/AGPXUaua4jN72qI4CilaopMc1zk4KTGIq6+UN7R2dDSrgoeSKDegkI5mgS+RX+a5Efj+olHIbmgkh6CjqsyGmNId7M0TN5NfqKf5WFfQZsYhLb4P9XBcE8uXYfjddKAxsgMPn+vMeseZYRyM/rY799wu2Mbz6i+x/ghdsiFsQ2Ivo+Oa+nqyjX8deNVcM2hl34EzTyp34lRPZ1DIG9EeJ3bKLBBP/C3aywoCcUiyjhgiAiX7w6zFpa5rsfCc9phbFxQww1z9hksJaGHFhYd1kcxIcQuIfvwlx6iuM85++rpUNYXdgFdtFiOxss9MgODVE94ap9rZ1lzIR/rURNr1G8i+xhgzGiG0qB+sTkm2H+y6GpQWE3lLZeQ9iUKPwodm+Eho3ZNYolyU2a5IukG8BHLdJeXPngIyqQyG+uupP9LcC7dScE/MALuxeWc3R6i/5/AjeOQUCB2+t09rtxM514EuMlOhgsraYSOnf9AVcbChvFGfoo6yDLodQoRTPmFcAd9nGQ+agYoewdc0AD2dmFhR/wG0W/RPm07VxXNbBgBzSPN3SWhzUA5cZDlwYOmAycaehxpoZmhG0eNvy/i4VDHDfV7WBoTuM8FhgjKQSN71kMRXyp3V0k/2uNMckdaU88bZC8klBy0QTYZP0Y/jybGrQ+HV5CcRdu5V7PHdNy6398V+JPEqLI667J9pgHSRFxTOK1bakj331S2FtJdVEcl4jsHKyvx13VOr4pU+citmNjCcD03SQqFotH2TaeV9aXQzu56PrymQwd5ROJPeEdBLJw+vyTKXarKbgDNx8oguXDs5JDRaTNviexocViUTkAC1Xu/agP2jMB132QX6jkVnCLPf2el1+En4MBSBr57giNu0OSw8hU4yy1gIXNQ3Dfg17r757Sl6FgiSS+RF0zCnSoP3hNkArwhg97WosCejjNHkXsJP79lsm/Wm89N8fTIImyC6zki7Qk8vH02bc10D/R4Ql12/pA1VzK19mHv8ZltoF16sTp/RlEto6Aopf9vkS8WNSovcxA6nM8dCeO2StVE0kK4I3AlyDAWjAkznCKdets53pIq+ANR8cMwQushSIzYqA8gX0T1MgfLFWFvNas3yJfBMopNDJm1SBQsz1+qCNwrs141KWM+ug8RWazTk3ZlI/aJvjt2KsvdtixUchS4dnq74+7XH+YhstxD6gzcoeHwpQGQPcgQcPKBpk2JB0rxpDY6Wk+oHT16HMCm+WhOc3hB7LuJUeKWmcJ/bDkUBPPcRsSBIKdMuXS125v1x5R4vlc0Rlfal2NMKjiqtL9W0Ew85s3iw1d0vryKz/Jf/Rh2zwTxhW2aqUcMxObilPERJYAot7R6ZWa7b+qDxytoF+cpxmm2Uos16BlW0nxjHALmFniF9TsIeSfwkjG7rHEWu6gi7l1/zYSGFl9Wai4/AF5HRV1TQHunUwqu9pAJ4pdbr6Ke31nxRyzueT3l74i08rlixV089YEWkps43oZxfVprTmuln6/12mRE+izYxmp5HWesWbKV4mmSwyKn6oNLixTkSDTLXR8/YoXuBkSoea+SqxnhGFWC6FO6pYYqV329ZmLm+993enTU6/uQ/WudjWBm4DkCegAHnNR3ATCoSzGI46694M5B6hIeKXY0UwEpA6KfyXeMsrjGq/6PalbxttdeiMRv2jENQOWDvoNb2pPLD1RaOJbn9ci0zTpbse6s197TtOwW3ZN8fpv5q6gXOLqIkEWNfUj6uox88IbvOWI4Go6ORZFXUGn1fjC2x5GOExhSF5mTccpRhS2Pf2Mfgusyt8l5num9Mo0XzZXPfzs+n3/Vh9mGJHVoa/0rbBH3Fx1UVnXySTdFIwh0PCsXJ+DsOzIIjMa957fRpQifARmWRcjN0r7wb3FbXu7Bd7fbkovuq4sdVnQt2eFSlELZ3QrDQ7aM/uF7NqU9F3cUo/FGOMKr3xVV28d9j8OSoyB+Nezsa8oNNeOyvF/qQtmqKn7FAXrTTB9I94HfE4VYmcHqCwceW0SX0DnNLa8XwlVE8lFJley3ZzdG/8S8pVcWdnXB3uzIJjzwd6Y0ahAZZP59ilviFHa8k4jNP6fgMasN1bNEFzlIcBK8o3zGXe7N6SgCvNPL7Ru51660EOA7flFQ/Zda0bbDzqtGwox3FNyNDqsfTAZ9IxiGnNyB0K52YbZtlx9O1scko4oKvuvLgkyCeG11PSoGYFLZKLMNyU4ue/A/aVtwWujeB9Vz8CU1QS7qKiYJyomExlFf22wngix/NVaAxx2aq339Sg3Qiar7hQio30nOzdSAZ+e157Q2QBceohD/OKEgcWt2W6CulrfWp9f1LH5waPlEA1giQi52dvM6YCKea2oK+lefWkIdIynvR81LOkqK9eyoMQv+Syo+yiG2+qEZ50To022XHdv4yQ964373odNkn3STbDpGXp4ttOlsM4xl4o6hcG4PdIOFuY2eSOvsnpC/NULuEPbC4t9WVk2aVJC8QcVPU/FKJTkjduc+qGuefX4YWm/o9rCbYkVgDpUfAF6jNz2Z5K3+cY9ybiw2gUPIycEZtRQ1xNKh8I5zvINXnz1yHgQ7g6Uj7mZxses5biD6roMG0VNQCXeGzOHJ3GeC0+gOYPcYVNJPfvhgybJ/t9JqweB/5d/8Q5RMu4z92LYG0kGfGXqhO099aWy1eMiKRkBoDFnwtR3ACVCBmugtWoU9lmwS5p0v4MTYZui/VoOb4HfuAmR8XgPJIVLtX77NS97qu8XV/MUl8E0MG678BFzt2khXHVkRNX/D+CVPvsJKIE8HcA5jEgyq1qDPDHmUdxAGCXwpvkrByBN27ClAJSVhiSuxi1idGMeYFOP7ZYbUPVHmUt51/KGAfdDp3EYO964+yUikq82OEyU+ku9twWMCWQEcHQ==" title="Mekko Graphics Chart">
            <a:extLst>
              <a:ext uri="{FF2B5EF4-FFF2-40B4-BE49-F238E27FC236}">
                <a16:creationId xmlns:a16="http://schemas.microsoft.com/office/drawing/2014/main" id="{BC60D36A-6590-4B58-9263-531F9E82974C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 bwMode="gray">
          <a:xfrm>
            <a:off x="660400" y="1565383"/>
            <a:ext cx="4022726" cy="5496990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C805D322-C009-40AE-BC6A-868389371B86}"/>
              </a:ext>
            </a:extLst>
          </p:cNvPr>
          <p:cNvSpPr/>
          <p:nvPr/>
        </p:nvSpPr>
        <p:spPr bwMode="gray">
          <a:xfrm>
            <a:off x="1803809" y="3465734"/>
            <a:ext cx="148560" cy="2493266"/>
          </a:xfrm>
          <a:prstGeom prst="leftBrace">
            <a:avLst/>
          </a:prstGeom>
          <a:ln w="9525" cap="flat">
            <a:solidFill>
              <a:schemeClr val="tx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3B0ACF-2223-4541-8789-0C86EAE97E90}"/>
              </a:ext>
            </a:extLst>
          </p:cNvPr>
          <p:cNvSpPr txBox="1"/>
          <p:nvPr/>
        </p:nvSpPr>
        <p:spPr bwMode="gray">
          <a:xfrm rot="16200000">
            <a:off x="1211828" y="4272993"/>
            <a:ext cx="1024128" cy="2419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100"/>
              <a:t>COGS</a:t>
            </a:r>
          </a:p>
        </p:txBody>
      </p:sp>
      <p:sp>
        <p:nvSpPr>
          <p:cNvPr id="9" name="btfpNotesBox168294">
            <a:extLst>
              <a:ext uri="{FF2B5EF4-FFF2-40B4-BE49-F238E27FC236}">
                <a16:creationId xmlns:a16="http://schemas.microsoft.com/office/drawing/2014/main" id="{07EFE72D-2FAB-47C9-B59E-45ACACD1C473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gray">
          <a:xfrm>
            <a:off x="330199" y="6442789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Estimated cost bar breakdown based on Bain experience; Indirect engineering includes engineering overhead, non-program / IRAD, and non-contractual R&amp;D</a:t>
            </a:r>
          </a:p>
        </p:txBody>
      </p:sp>
      <p:sp>
        <p:nvSpPr>
          <p:cNvPr id="24" name="Rectangle 23" descr="Enter Chart Description Here:&#10;&#10;End of Chart Description&#10;DO NOT ALTER TEXT BELOW THIS POINT! IF YOU DO YOUR CHART WILL NOT BE EDITABLE!&#10;mkkoexcel__~~~~~~~~~~False~~False~~Falsemkko__4HooU0THZk28POP9trq+pbTvvzd/gcV8t56cq85kb3NDTsUhojRA0EsgEHHMH7oYP1SYpn09ysXVivguJdhTvfyVMsBLTGvcX7WPTor/CmWiWcfk2RmY+GE6Q6T90sFUr0lg9IPP9y8umrse/9AoLT5R0GKq+XM9pr/aTyOTf0wptcuHbHxeyqBm9svU01qeeEM1v0hpSHUgirOnAK/wunjZPmzVPPwFyUBDlDfxgncyrn26mfUxYRA79xbk5zo/zvtIH1wUlJEoc3ym/tE0R7TFuylI/Ka2jPa3hxGxqIcsuoAMr2BhzJBCBPZe4yurIN19wt/gMUjAGy97TwjZifIBF+Hck3maX8bxqwmWN5Lz4DqIq7RLGwL8cJPdxHxrFyTKy81ndsieYrArIDksaybtutEDKS7lWtJ6JAcGZVRCI4SlTtmuy++sF4Qk1arz3+8FEg3sMj9Rge/ETmV4S87SOjLD+N8VBYalxY0z1S8o5Esh2vtszQhq6PM/KUiCM/Jq1ceN2cl3JoS66U94ZapEyyhcRcCgtFKQv6v0Ent04gZZy8ki7din4Pqb7qIIkcZSq3j1f5jNE/7ULWJ2YHAZ45kR/cBqWwT2kszjHQHsyJyBBiMlOqqvfko1MYEVvRp9/++ptvxYRFYWKCvKBt1Uct723CY9KPI2ZoGe238NGX3rrhW0TK7APzfWSmfil5FIM/Zp/o8VhC0ED+K9XQIMetvUciGOAhG3pJsP6ViYisJ4lNzFBYs/HYSNtASukd9UQHCEk40LOIJAp0tVMWX9XFEPiWLuujpgTgizH5oiS2Kn0xrp8P2rCVexxZFZENbP5U7vwvmpcPV9MEfkjn3S3ZAujTnKXya4KWyVxsL9Tmh54CEFbjzG/jRktAGPOUO7OZr05vNAvrrsYK+iP3DwRL+N8ItFd7qZv+uUmVorhhlfpQWzvA1U6nLUImYrh0agUvN6ZQsMk+43OSUWipHA8e0F2m/0t6TVYDb8Lzdi9Tlxu2AUQlNQjq2tl8y/P13ejlKF8hjG8lyhKzIUx+DHY8mGCsEHf2c+Fn/giKGa6JQqkFad8UWcO5/4AkkUEJXioEBSvEqrcR4oqvewNVTCmOgsmueRXi3AoQbRMR89uQnPw3JSpTHd8BkI1A7eNCe3goC96i8KFtYEmxcGQw7dlGLzy/3DXTZkXiWg1S3FREMNzEeCoRMWDWias9RRZdnSpwqgFQSXpsR5vf2C55pAUa/6on1qYj3/ownb+MR3oj2azZ32FLH21K6DmIKWQD3kV6SU3Nf9dEYLQiZxngDzd0s0flYOTli/OJvXK3RwUz/CSpLkblw4ABHPEp1eEAaWYoUFlk1aCgIV2autZBJUfirga9GHg/mnD4Tps2/XUkUH5JpxQiPuL1ok2500u1QcD2eceHISVuElpP7JIWQAomI6Kz8mTtScVtF0CAj32rKCoNh6J0zGuvC0g1G5jEhdqsf05dbKoQmJvaZQQKTN15/pXz/N2mOsvUtH+2YvWiITkexOpmVhiEx2BYwcn/5MumWkgP8EWCqcliUPisV53il6Qjpq5yhW7Y4hMOfLFE+FwAJaXVMdbzwrJpjD+8NZ2gURkGvj2T9e+fcP6wesVdzvugx5yvhR8beJoWGJLXw/oPG48HTB8e7YpY0GXbmcCQaq173J5EeVqAuB6LlmsBBQ+HwW8Wz1R0z0Naup/hS/tADvvJ652rjUvUNoYbDAA9j5qYLoUSw4fDbrNavv6dGTRB3Q/4Y/32RDm+YNFFy0ofArWrNiT1rCsgecGYjVQIQVcQgV2bPSU6iNRbI7CWoeh3Kqn5K5gzTXhNiRANXGeI2mTe29oBrPCASrdSpJ1YoYDZfFr31957Vx74KoCnTCwA1iSe5q/Y50zdq6FDc0xKtXQCLI3KwCvO70zyQIM9ccygIWacXmhNP3W73iPB5uamdbq9Lk2d2OmwYaUtkF1xvn4Gv9rfCNHoX2QLfnlnHtU/6PlshwIBeZ8JnX8Slf+SiyK/HEkPmDQQ1dXcx9WmycQiGCBmxXU2qcaQRZEQsu8zE65IXVX6WvuYFR9Ab1vMWCFXAMx0DPLQ6W8SHuFN0R8SIrx1MWHmU3gdHqvwze0IRQ8dJdti4T4UMlM8XcgXt2HAGat3zjVk9OoZHtOV20FASVUHPhH5pFnvBr5HWUVx3k5n8Ej25u+Vg3TPSCLkpzznudHeKpRV/oMP+pNdHswd/oTd1tloyxfLQHSAOZjb5rUQPvcLAWjrLHdiAagQ1Q4udsKoEmuM3aAWifsRZnOm0Fmj3QRPyjz7n08igKunLbk50bpoeR9PtSzsGLUu5z7TIHQBkea9ytpsGd2RqU6FIy7+tm3aKYbiR43/reD2dDjLu5+0fKvrzmiDfU+KXkWj35tyRUqAcWMAaR8E9wzhP8Z2EYNOvQKIm5+tl+G6sxn2g1j28v3VbWY1tunknqURqop13aeE25RQRUpsLv35gK4GseyAW8Su/p2WhMqxihC0eJapGNKZuehOR8QgoK/J+6wg3RKXCsyPO5FtSHF+/EPahy8ZWxALTN0fBPICe24xX2q4GIEp25lDqd4N3GZthDka8JsNmJWYmki+UuZ+eogz/LOiDVkuMZAxORaQScIuA9JX9SwYpfp/0U8+zIKc2w8++GjGRvoXhh8a87KIx/hWdXvPHE+d4+X2DxqmOAXYgHEPIFqKV9miAHpf4sXXLskx+lfLVlZzsUzxSQcuVK2trdf+yAXbdaoC6IrkpQhUyIG2NjDFlRFRPS4zYka8FnpPhjQjtxgh2I60uHGUEXxFVVUm9i10UsV9v0hNiMvOlNVTk04EK+7ikcf6whBpwsZ+BusWmDs06p8sR7ccO1FFEkngTRAxsb16nX+jLlidKurSup6gQpIiOEDURs5Sp1iOzaG8bWi099yuKrMY/lm1MGENyRpszEyNINypxqYPJJOiPnWu3U89+D+6lV32IXn6ZbKc3D+eioEqL4RruJVAQA/mVqjMfNWGgASkn4zwx9Ec8NjPDo8UOCG/GogA+4BGSHQgFdKt15EOqpCYfNR/E2uhfjm89PBDn/ICUMggMsqpR+TgSNMwgPAHKzqnEzeiwjZYAfY+7mBV83wDGqBT0dUGZolTDyUbiXSUnKdz3EOGFqHVHTLXhI9WRG9X+pEVm+i7FEVm3LPn8/pHbnYBVnuI+2HpDiJVZRMuXGqZGdGKamlmDt1IEbK4Q5dld0JVPt2FylrIKg7aEfIrUbkNmlOPX2igL2/aeQquXe1nIEEJKuORFuVGql81j7iqAi3kh7T2/IbZfWkl0o6jFseyyICKq3jolo9ErzFjYpDDxNnr4/lUrUDtK+GhT90ip5bwuPG3so034jM7HKbYbCfD4N3DIVnvS3Od60vziApiSaDyTBepKmf4EdZ1Ls1ejuDmMz1NnLRs1xwFZfRzNhCLfJhrmjk2VMz1t4cRwLRAJwRj41neoV4lyahdjIghRIl+gbXXSNrZM4uAgbC/EW/xPaAVi9Obog5LDQWX627xybF/6hhjoYBduBUTJrIpqHlgzSi3NylXkmggrThuVdVWC26n/W0sYYVrY1HQrN56epxpxUEojFUdx7CFj35NctilnCR8avLlozFMCPi+eNui/0CN03w8A91URkKFOR42Srg6eDAM1eMp4aL0oVjnA+BPBtTEywzEzKEQz75lEvn4JILYbRRRucEa5tQLaa4lQ6vclohmJEU2wEzE730ViCa6XYGKGWceoKYlmP6jUtv5CJy+TjwkMaUX1OYKzlLQ3Fgd+lo1d0QHUkN/EcTVDCqyWrdfPiFTwwLn+XKBtQyIknLQstBkt9WNKKff7wQa9Ara3gdkXHeTQUAZ4sfzQtEfOeFZfOA9+VhtdwEILhEd31iSh2aF+T9+rtUWt1JdDxN9+F6yWZbsh/3L8dLSpIsD7Xc3IdSLDy1MSR+TG7ABTpVeFNNvo51Y6VlgLa9BifegGjUqlC06nh34sW/DCNDQqq5thyK9IU7ezdi6wSJUNhtP2xCRYWqvB27NuYIUnic2kQJPjVvE0N5uBCVqiBQfFeUO+IpcRY06XRK3zpSG7Cf18f3PniBYH8vw8NeQyz84SQuaXFpv/zhYWtEXv0R0Ar21pVJcjvvbiR4++uOieqVNfB7cqn8S+ZXJCIIEkvOdBRrk47kLH8XOdfiHjpWl2or7K2W4ZXNTcWoNRPzmA8oiXwMjWX4jm1onSqUIJ5GBs9duYmMJrhD1UFe/lnf+n7mhxstirw6VXcbetEeFm1hCzZgLo6i3EaolnrM3mSeK/sXqAM5sM73hcFpuGE97jMkFgitCZHLU5XEU0kmX9Vf2tfmepYE+V4/pxvtADjPCJ1fTJ6Cex67D6faUcFCHJBOcFieYr/33TRLb4n5dm3qWDE+pnhzZw/5Tz1DLMvSvcwhVUKNoCs1UdctBic0H2Jm7Sm87TI6OiirUK0qPwAxsPkZ3HkSDmyg76KiGMmOXO0hkZyF68CKnzFFUnZla9V0FYntnGjYcrwh+FmJaYozOTJ+W1ZisYEUVx9obxCNOmHZ1fW4HgkPQEjyc4lsXaUmFro8H1lRzmVKn01cE2vCWrCtiKymKYYZ7LOqunqJeQcXIFV6Pxa8wd6SSEHbfHtr/WAIhSlxoGJL3uQKI7LKH0mCPg2wSM+s3iPDjIKCz+A3gxyICArOSjeUeX8ksC6ss0Xcrvo4KbzvZ3Flz4DEa90vicyo9c8zvPwp1JvpqXvqun6huK2oeJNZc5032dPsKcTZBbg1lvCF/nQtfDtgKW3o4oJkdfMtUVwypWPaCB1oMrW2jIRrnlrsWE+KilkANeA3cDmSKq3PyJyUyJ/7kDVAmTCvubEr/jyg+fNjuW1bbxGdpmbuiD8g1icd74lFab631N0z+dGDsP2KsZVVIi4UXyLl4lB6sZHEPLs3OOfRSBDrqaFyDWVFz2ydZBEGiWs2MN+s30M7B4R6Xteiwn/IYKW43WLOwLkNMUK9sMZZLMjcimdTXpUKkop4mRvWMRmMrt/M1p8aAiFSZA8K2/LC5bC0AGHgwjcUVY2wblYZ+5QMPHiyF90ibV4gZreuoap+iWQWjoiftcHByF9qm8GotWLvpD0NaGM780bAmgWWl/do6+CbdePaFibUnRzx3IhLjERhHPuH39MY6qKod3OKl5eCuT8HJBwHYzy/3BfKVd5J/B3CNV8c2BCGTmpgRyTpYqFgdqayhYVVmWttcC+36/CPwHrNFhiXdmJFPmjZ6bf43+MbYLu1S//wv08BC4oqzF1AP5DaeJ/1B3OA7NzVi3psf1GW8PvN6zZKU8OkkxtmZ8BiDmFNZspLu31wwFEcz+gT6C26hpqD/td9xF0ro5UMHDigfg9LXsK5s+AKoJbozLQNOqJx+pMIrDe/X+QmYEV40t/I22v3kR3wrHLC2qRoRWeaFeY30BvM87MX97ptNvx1hVzrRHh5lerUuePMwXayIeEHdgSGtMtjLB945JpBguqV6yn68oIi4iGIY787BJEH00YUzGGufvJ+VzEDvdBMbzIKc+wbZLegNFT0BXlxn0/077a+TKiVtlmtyFgNRDzVfOVhd1HtGMXSc5en//J7LCm/QLIWYUlZuljK4JcZk3HwLo/9WGa1L3UkxHatm0Iu3teOCn3N8dteIBUlar23wTGWkpLcqFsznIEDaQQ6kVVaCDHSxOLahDgYR4tcASiAFHHBpHCmpI/6ancnKZOGV0iozH+pcuWGNWLsorbZwHxgBz1BpSBUGXMOPcFwUDPKHeVlk2D6N6RbOXwo8tjSeKWYt+e94J0i/N1Fk4mfKnAiOJezVew9boRfezvVhI9uG/EHDmZ2O7USsIOyx6zDQp5ng7J1518MPKrxdDSaR4ST1uVJcS3GTBXNeegNf7ILVMJcy33Q/sx/v8C6YTUQezsP9DBlhgWgImcDY3DMVpeXve5Zrs5NA2v+ZjaiRIStGndcZ0dSnUv/E1CjvgrinYSuGLw37Gxw4nDXwsnI6VWxy+VhmYzKBQdgRpGXKyu9GABUtUTsMiSoDDTZoE/Hn0IIKhyBWrgFbS4212R6ddHYJHvWOR9UT9Urgxf28luEEhktZ6+686qsfBtAPH2d7WguFkRpj85bhT5NZQdRIxbqSFYycg66CFvB9JR6tht9EXla4lL9dPFyUXAu714NAhTd0n21qKwFHK9oggEnjv3KS9vK67/OfpADoWO9CITDQM3Ub3SjNfjkf40zsJrrG/F0znUUJdbS/L31TCxzIGwqysfky+FRVG+StF8WQCvTauceWW9EEoRQcsOVmOhJt4Fo8T41FdegHJSoE/CFlk7uLY8ONMuiTm8QeMExzDTsd5metLByI4zmrlaLZx2VjjDW4IDUtvmbM6R1QSiBikAPuh4vEZOUutheRKAoxX58PHModw7OtLtGTk11hfOeeh1ih0POX+ivlcpcl/z2UNnGIi5QaSn7805P7oEURkIaWKCRQ0fQ4BHDj9cyVpxU/32ReRx2Vy97TKj3ZH9atgXQhcURFCuz78NzR79DF69ABKRxDSF2uLMJpJ7R6eWS/oblEqzupJgm8jKOs33VYgJNOa62F1q1A6CYV7Xq1rNHs+tIuiXHxk5ZoQR+7UVArDNMgv24w/FWzFGf7zEZyFi6S9qbtfgT1tZSVCR/ydEn/vl2+254G8VURwtdvJGxVwcqfGUA6Tr2fiexK5LCLe+guVI0NIhyhCXMfqltOvwNyW7CY4gE3mM1wVNj5EEsl4ERmaSlQPLHIPNjLGiiiZXSKdQUxvWnw3JmllGorxYC3S14+EZnY5Lh5t9V2aFTXUiMoGmG7BT9w9DqytEcKApgdywv9hf3ldfgv3cGe0WMLMnASFdMWa9ZScGwSGbrXQXhhdBNaNQafGyRCruCAAEfJ6XMbC+XtxCngY3zvAylxS1OsLJV2MROK+G3plIKuory5sS8ZkswuJa4Wioii/IuwTQ7SXd69Mqez4kjmkR6d/x4Ij+nj8CEeyjITZo+AYFfh7zGfPUCWQgTh3fy3zmedWognLZuDAjO9r2L6W5NweQwKKd/7OvZ6SIQmo/O4vA6ZU7h+MumIs7OWeux8tEptaBckOtzc2yzD13PWMsHP78eZ7shXt8iuBtXR4bdoGwk/462nx0w7gBdG99R58/5uludRenE8s7eHBUuDiTsEDcyzmx8JaVSFM9pSuAH04hDK4YYM0d2ptMMjr3RkykLUW+ILdk6DNyt9cVOrWMDoveqMWEv5AM38XyUkipHZMNRrKQz0ekExmlJPNZDRFRWWwcmFFjJBTGNYyRSGuAdPBPLaLyGZxUbVzlkfzan7r9+UgKQaQrC0wRE8v5mmtrU5uE3AzkhtskYeTWBzDhfUKeCdhPHZyfNdJK3kGHkEtrI/Obj1tORHsvtxqqi9nBr0+NKxsnsQft5hAEkBPWhnzQhqL8Ql6s42t33Rh3l+zTyLnisD5zItTtijoKxhM6fzxvceYZChij0aXuQJdkFhqlBy+V3s970xNZne4wMZrqJcP9+vrxuKGdJK5EAKrTd/6Ez21V8+FNaWsBvhruW4POeR2bWex2xomFWv5kkMwrHkKq/Kq3NFrfdiIMX9GctVUWY6QWyFhqKgQiNmbxBwREcsEcx3wJZN712irm0WLAEWyobCjtbXlcfLmGCJ/ePGiKLCWRb7g3BVK3ViMvq4xIkgyVsNGCRUFZvqJMFCI0hHTazkYZyhHETL4fgmaYKpXjOKrm8e4wHPkeRkARNmfAG7mR9FICDOLfJGMSKHoWMVxla5aVtGP3iA1pkS7MsBM71/Xq4y259VLF7qWtSQiMrVbPNwRHy0tMrRPzLjr8bODL5pY7pVSJrtWdMCLPLF/0eg19hno/jKp7af1gf/Xs1dp8ReavCRcuqtG5tV6Tmhz2yO5IhKh4x2lSm4ztXE0O8MnxImE/C5S1k4eCSK/CBBP9lyEVkksBYvXcsgwWqg7zQ8h3IkYzCGge9Z7AJGLX+0xnkFVgcunINOQQR5w8rn5iVtMVMb1i/3Pys0qFPbe6jd4ygAba9hiNN9k1c92a2IpGKJBl643zCQ57H6s4970V22I4Ecf9034RL+Q6q7Sm+ilp+17ttHfJLz6HeRJ7eNhkCJa0qS0io+JSM7RNkhOc4I8n00FXzovXsqc+ainlMNrkSVsQCZRtmDv9GqblGwSNoLC0R5nT5hRToQIdUzifXElCGxG+UtOJInuGFPt+VLddjXgwAojfyCEtGBbldgI4irrWheP/lUphEzUqaUT3/0xskwLpT72ytiJz0GKFx0AzpcNbg+F+Qh/aZQXJ+2SPQZe6+kOyrAmjesTqs/vGwwMlVzForo2litdynQGzS0T0Zhfr4ZFW5WJ/NHAi1Ww744+JDhxuvUhhAq9/stRgKPtOTCKkHHqTBtw2zMIFKLlwrnW8C55AyDSPyhLb/pLywalzKneSrnfniK+2t2ZjyF3YBr59bV3qOb9X4kpZhzzbQ5yk1jmgKS8fYgbmQqDAu0uGFXX2rAjLzxE/RVvI3+iwp+DuaQtFNNCq5WuZBDd33ItjqzhZKPk0aFRiylIkmr2jr/d2GJFVb/L43r4uIPXCxoU0rq98KQb4xytOkXstcqzqMZkiwQEFY+BnvyyyKRchGjTZiT8+si7O8PDjkyeo8fm12VALrylRX+WyIkHmodLEukwK0QJU5zPXMqomLp9TRi4XWSEcPyaNIQeplSLEseGe/H1qqu4JTIl2SL4ILeUZCdnlA0v8m3nMzTKcv1l5Tsn/bD1GXtLmTZWX3TlV5WNbUKADPeDLQMzLaExjW69WXnK0LqyAef1Cb0ugniYJQmM0zgKWPPtEQCEmulbZ11CCPVX21RVwaW7oI7WmkV64EI9F4nzDi1jASuJEAb1SCLRPnIFP+NA6S35gtbMIRE13LbqdJN0ADdtX5I92MJdSqFnDwksmURYerK3dCWxHPpKwc5AslE4+FQNz6QWOxtMvTcWx+mKOl6IN4wdNb9ucpL/b58mS2efkQMulbh4PkUgc5fzMMpODMD5Ox6YOq/11IHmDWRsXd6fn4hVSehtldmBcVb18hNwfsLQ6mwPNGNHLJeV0q8PrExjBqVUkkEuhBM/6h3K+5iqlQE0xEAXCiUoNi7xykNshCzw7flpKNkgjTkff/Na9GoIqiCecp7MUrcevAeRJeDgig+tWE+soBqIOAaBrf6shwEUM70LySi5VU9P6oRQuvACQeNk9kcNwruW/vhMdZHEakjAtz5JYyM1y0kk4nEDsYRuNIt73OlmnhqwJFGAGqJfQJ9UycL5kLu4JlCvkqeCBZ7ZxfrvuFGOtK5X0BornC+VQqULXRVleGKDC9SnwmkFeyRZr5M4InOYchq7AZCaYT0vKT3LVfbmYYWFnvpJgdkg5+x7y17t69EOfQqJNaZQKNlpwiMzq+NKQBDEuhnUArTrWdMJCYHf10p3DAA7UzIcKq6JODhl1gUg4b44OMkz7zS9tU4ibwcjvD3LVpWas+QvYr7Z72UneKr5e0iLJhtV9P/+u7igaCI9ljmZzW0gKZTQcZQJuhWy0lXjG3qlO/21A1fmmG3bikWnTzd3qW1H0GAtyv7W3CKIlaWd+FILa/u2eQVmbOEyaPf5mFDtTxf6l2HMhkWNCTtt9AM2hLuUDn5jeGo+Wk6WQvxh68/SDzqgN4ZJh5kfLxodMo9QaOVuvgydbopBJ1RdjhOFJypgl3Q4TVvW/Xq/Yhb93A2BGy9jHKppOay8VDfjCi+ztqIHf/BhS4rSJN0GIWLxxZWkMC54BrHMWnOOvAUb8NqCBUkt4AnDpUTpdRnFg5Qmg8NQpBFHDSu08Wuo49nSOxsL1t11SLg/4yvImgs0e8xKOG0UD2vsxqUd+LlQQgsyFmFirF++LmMcok3JdpbthgXtO+XbPSs11zGaHUsHS/flG/eeNLSH/QHxKGKovAmanKvo5DPs5wQyayjviMuB9V6hah/WDrhEmgNbdq5PGCUaty6bLAwEbIIJ5ZFb0zl3sYsOnwpn27WxBwyhZq1F2XtBT0B2L1hjvfA9MO6IiZc12FGRuPmFq+YdnW+5RZ37bjnGXipc3+ohA6dNevJaYM8tEYRATzlS5bVkimyiHestWX9v7ZmF8j0BL+z7XVR+ivXzLB9uUuO7KklNXBl3C0odX7CE1rG0zkrtgrjfPRXeWSGPPOXx/KUokubWryuzeZ9rXv+j7J0YzFV6gsD3pRmTMgLzYUXg9mbUCSn9b8yosmJmDValRsro3JuPpbQ7F4OeSqa29BoayPMtNGpkhDQsPnprU7e3w5Cnl4Jvf1FUwAIKF7rfUowwBmSDFHfqIfC8FvbXvg8IMiHKmHa0N50B8iyqNsTqeFAqNbzYpvCVOQRAjUqhlG6M0gyTm24Ts9xo/zuVxiLxgD5T2Qf13i1JWuLVLlR6Dlq9giw0UIYQpTafssASdVXfjVOm968pv3hK6JU3Zz5Ty1leo1CU61e6lyJSmQ27EzTgzahEg0zcL9rOvGKNqmI6c9eEGDBiy7daqm77kQZUlQH7GOWd3skhbbqrWQSCZ3Q+0T7YOZ62xG7E1XXOy382uxkW2GcwtiQCSsIIIEAu2dxpIA7ifec2VqLAQENtxvz9nXENaZ2QXuYDVKllgxS4D8t15owBbiSdUhN0vsP1tYPq24YDR+OqBEJL8WiGQkyIwg+hl9qsq5czMJ9Lt/YIeG4dYDEvBMhRlTc+mlnZdXOgkXTTNU36l62EK5tGIKunpxKimJf+gcoM26jhTPAsuOvIfJQY4vX7KszC9odbGUfvxv7O94cwU/czXB3WnpDYIeaxPFOSEl9A9SPJMI4bMegO+HYIsY3TToLPP7Oainnndy0f67YTqq4nW7A/KO343u0WkPbZC74rOBmPStFdN33eq8yEKAcnyP90qniKGSYYAqfmbjwF5xKk7Btyld/zBYLZzSmxpcM3SRUDmlXwzP8Pe5kJvn293IHrFx160o4DHBHI9BPRpIQSQ2JKh+FE88dKF3zqpSiGMy+Y3w2eOqOijIW79BjE9j5B6/mHkLU/dt6kZLPQiwdtnbsjWe60exWYCIWUC+DODYRDh+T6kUIBF1Fjat5QeY/Sh7cGvZ1Of0gFYsnKumJt9qwHcbp/lQ769fHgaaXf4pkqVuK2cnFR+q5eayLPFDA7ePiLHSgw7qsm9mfwaQVYr+v/VVyybvtgqcd9lbGAQCdcrTkaYRY4+qlYUZbsnVXXeJUrNmB/X+VqEcNjLkhOyYzojYn3cWK2hQddW2gfO6tGhnLY6AEWCIfBf3WhL1ZRF40X4PmStDC9oYTTThRDo0ps1hIjlMPqb7O++T+fHPd8piZbV24TUNaH2oQ8oFbtz+NN/vNYZnKeLgr8Pr1chmvRJmLnNAPz/KYf/UPaFhjOc+3cTACEaBkpPk7GvmdVPY3r+H5vbevYAnKYQsSO82H2/9YmFUe/x+zrMpuEKmNgrhO5yCrWgIo+9BSWIC9wGbdaHAqPbq/Pm/jgt0Xmcd+/+v4dLU1CrLjZIbva6SmTe4IXV1oWA6EiQaDczLsJRE6ci/IK97D2X1uHsBOc5xNkMRLrePhDaWCiQkrYpMCFb5kDRcmhMwKQVFaDSLp2wQKaS0P0O02rb+bLNlAuIfiJlVhMWi/u88i+PSCAVamS1oKHArNFOvbdVxG0UZZ88mfDNDL5nvpnc0SMjrofNCKrt/1fxkWXBYhg2PvOLCvrR7vVRRTgTYJbMVPuYgL7VvPdOkSUXUcHMXPVST1nYgJw+kAd/dW5gWqHwzE+ne74RbdQEMNfO44y8C15uQrwJVntFQOzNBidjNcqEJNljVTurN9kzzqN9FIINZGQhzDs37xAZ6uDGgQV24IChEAdXWNid+fzp5eg2uf/wyiMweKsXH4FNhU8PnNl1ThYnypHy+EneaI++9C0TStvhs4Qhe3xPfpZEakoc2F9lCns/tQU6DPEmAYL56xy8dxaX+HsxDpSST1jaRkz5E9qieSc5MNy8foeAP4D97PC882unj90PPE6PDNfs3yPA2TlZL6k+ccnyql9sz/Sh/2aPJgL4rZNqfRS/kfkSFfuYIR3NJBj6p83nTaax81P1aKabkSfPYSxcO4Ru1OlEkqZ3lhzaRiioQXCztu6+e1Ln8qDxy4d4aCHBcOahFtKRLoR1bQIP8AJ2VS9rxS4PG+/9xhQiq0wJ3WlAVHUYEKQ6ieMqiZq1Nwo2w9NK/LrzqA6LUiyI/+QGfsswlyt0PDZVn774JqdFFMZ5bc71ZcCE4wkKoL0lixT+WgE1cdkfaSp6zz3r8OaqUIhDcVYJ6wdc+Lz8LPpSr8aLz0IW4JxdXq9BNLcWMdziWzUHqkCQ4lD1fiQJy7f80NAYkYqFTEjo1OmUky86pKneF9rG3peAUUz+fINBYMjoV124A4Frua6CZ95KU4wflei6SRVb8ybGrLd++WVxNUpfdX5FhVa1VCv2+O6LXXK5bC/F0BaN+9qSGkz1cql+7AhWOTGJiXdQhNkSOCFSdUIeL8C8udb1dTmbgAAkSjEUxqLFv0d2RmBJjwhWZjzHtQl1cyXcy2rz8B8pcv76FIyAk1qRXRAwDnN+DHdcbOOGkJgtr/l2ovwVpwvi6333PdvC8fz3mtXkJTOrHhKrQf3QuINIu5v5na9BI0jTji8ZB9QJrCS+85mgteJ8wT26ERUJ/Hc4ix2vx3r0sUxZ2jEPzwJjTqJnhdn0rijc0PSpwg1yQQUfLajYjE0d8lr8Hylx/kiaVxc3qYG6uGF05fYcNm9IGM107wF+QttgMh0vqxLqsqVZZQKSp4JwmO0s3ygTl4rIXwV3xHHWfLfWA3p3MG4chHuFKbqF3ngiwSw1afFR8XCrqnPcNKe8rcpG8OD9M5P7mb13l99JjbWm+1fV/Pzqj8EavsvWOHpgEx3t1Lw3KqdLAkaKCw9230E/6sijHqYRKyhOBdtfgOPpcX+P7uWKni7O/Ctu9SFGErMgLE69Rqs1rguLcA9B9cPAFltKPzcS1ooS5y+oqhTsrCjEwmh3Renf2B8pJS6tfQblNAgtuigGj8P7v5kq2S2pnBsKPq6eY8L0Qg1JPNoMRaoRfk7/Cz/0H0d9AXluEF/NbragJmV1Kcj7IoOdsWiy/KQmuMkgA9ojD8QFvEL+S3QM2DvcftGWtPJYkTfds0aP49K1FM6oRdP2jy+S0UZFD8LRbavYocIjEh3+DtWdjlLgc0AEj6A2wcxbR+HdsXyDUKmGeAgb/JAF3k8F50ihkmRVDfu/0q8PP+kFUKMQsSbi2x251gG7ezyBACs/J2euoyRBXSWoQMygepBhlCNBtNdDS5O0IU4rNwIZeCf4MX+B7XmOM+Dw/x9ovcd0WLWHjWNRdHd1l431LUo5GWKYdFQnyFB8a/Dgor0z7WwGrUJtK6PNv8G3vJKi5zUcIiTjLg6ajVjEaarYzR2v3iUGVezQnDR7cjns3iPKkoGuB4U8FgFMuvY/U7VhYoZJLhdUzm8l2IZcnwBP4yco7rY7gYYOHG9AtMFgU/fMYHnGVyhqhUjduhlULRxc2o94J4mi5HsRg1PlS9E+bBT3AGF51FF0zhBZk1NnaQ9VIlD9kd0Jo4uxMsqaJUc7FL1B4V2mOiB/godSsFBcUR191UE5CnEfySLt7ACyZgGeRnlsfaB6dgOvlCmODDIdbw7TyNspYzUgGDLiQ2XZfTrpyL1NgHThrtVLD6hcrN/IlI76H9KA6L5sC7TwTpX6NzFMN2eeafA2wa9ah4RbxWnaNsK2i5ZBg8Spi5eQxAoMcEB+g9GcYas75/xFsG+3TSRKBXH9BVfa0zwDGpr0HuJttW43O0iS8xn88ERsaDiO/BrjuEYiaDfpUbI0GVq9LAz1z3QKdEqIO/otkjXZML6jt2D63mP+6Yk/GDUz36eMq5wATa0PVoQrnr/5dwL4yEkfWYofo37lq1zUgEEsstPb5HnXJjYNAjkEhm0pGL8UhUOS2xXplDlIpH7RmQdAcALHBqtEGhOXkctKfjWlqz4KMvst7Zka/a3TLMSmID5cDsfbyEFs4xFapOWlt2ZvwGoJ+3QYJkiGRggyr4+zDDqLv7igoCaYyoQ0+DvdB+Twr30rcHAt+YJ19aH5QMTkQXAztTp9oiienCYjON7J7IGNKvei6IeQBGBogjWTyDHuEjfqypkuGrvK4/FJJm1sfxtVq2eblZ98z8V+RkRB2l84ysXGXOhMVlAebWEEUD5JAC36T/nOscvlHZ6AnnazjyKhK+UUXSips3S5Dgm7YvCTYCg3X1MjKED2opcZ3m6oXkNGbItO+JvvqSBpU2IFpYp2GTMqTscxTJU94CPDHyWPw6ptY3YKzprJiYh3jN+befktOPoDYzVGCd3PjAm4vAxXk7Ao4Nx0c4vGE7gQI4MGiu1cPnVxwMge+eEl464jAnKE0A2vNN1lep979kOAt9AxlGz9jVTMYWEaXoD4s1IZCF7xSPFG2hC21aPk2DyLLe6jg2Zm9lNAscxwEraqz/0JKBShIR46y1ZHNnguDJTQZaB/s1hzazM4GgmV/V07aTSWcjQxA8WGta3fCA31vWhmSrgxQM6KPKq6zP/vOwJeypQsdr6IMr9ob+GkQq54J/B9XnPvbSZIyhwRw/ta4JMCvi64+UCfb6mHsnGFkA/xWlt24tRixde+3Dbwh7JzrLzpmWWA7UMjF+rhtIywZbZZoXTijnI88PD8AozQX1t9ctcMgs2Jq1pcdbBBvHxI+mKvlpuBeyDTEfAlDBBUWVGCeHGvCIXxos0+sArNFpa9bzjlU4qZoji6LcHg7LJGL1KvttO7XY3YPiw06MRUpiQEe7fCLSEaO+NrM6LKfoZWPuhFbCzaeMl2c5UmYQFPmBIZB6gn5bSM+37J4oNitRxUwsjpR7kTQIa+FQeTutdwmDeeQ3XYVcCoqSfIlcI0Pm59VhEF5xRR8edQhRlrmvEbswvhbrFrg2IM+/1hGyGah5y9WMFNliy/Ftnimu+vWe5ODaj1XDZQ9ffupoIWee683pKSI3mp8cgqmYJlNMnCPISa+MuRlpLhkdkuDtrh1GoYn9E12EsFKQ76JGerHea5sLOxUS2NFt0PCCPEdA+X3rpyYycGWDn72dDa0Bmgo4hRdeF+h4UAyDyqhFQ8bgWuuBpxOdMbAdYCKIRnv5YF4tfa3XoBEOQY2lgc1zcQGhGdXYAn2TkJ+h5K1wxfQoaEQRTVxOBWKk0NnUtu0nLbkTevJ37JTHNZPKlhHIRBezFOjPfVQdEcJvkJvBy53O4yGEbDdPV1KofP7IyCWJoOtsaOalewGcZyrNFYxm+EsOZo54xhwXR+OuSi5Php2M0tt1BNRivditcmBqQHxhauZfVu8ITb6B0FH55MxOdy0Xb72YWBQN9hU6uMc0c07RXcKi0QPp3u7rwgDW2Nk0OJyygQn6SArbtq/WJ+kS3JDPXgDvzQo70c7reNA4joWIYFS0R5BDf67ugwqLjRdfYbt8ECmLRFDev8I4dSy4q7q23+rFNONdOIDXIAnKsTJTAVve1fZy0Am6+N/rsu2dWi8L7yr2UFV4CooKq76LQcV9yIbjVYPdaUE1W9gLz4zhhGp7ikxFB97KzyEJtakqYO7+P+tiaUZo8sVlP0R+lOg++c1I7atvXt7nPM91R7C1z5Y+T8UXHAQm5Xz9bKNMuRn5lo634cU1UOMTZrLEg7XGMH5q/QyEoKUdS4cYLdYQrQ6NBIGND7s9TAHKaxZQTW34xOXx9zEy/9QzQpqkgZiSTZZh93yxD/FEQ8QcyJ2Aer2Fyz5MCBww8GLciERJOsyiYpeBT+KirPrtDjh1LhOJ7r62OGBVAdBgYUXmCZSYgXylKgVOFe5sOBIFL+QtUQsu0DbW7GDYqFtaCRMGkGTK0vVxI3/a4NwgivjD1fo9D+ISpRgvx90/kCO5XoXzYTDtDjEGdp+NCw1wCOLrtE0OpuhMgQs9aJ6mANy0eSI3rHCpLPcSJGtULOQXYurGvsvfQS7gvy59+/OjafwKRYHlRIksytYFDAIkq30m0or8psGUiO5koXLU71Hkije+MfxithEWvTdCtODg9bRsUhA6S0BGkAHG9W4OLICYp2a1KpjskEekaQlrZRKNPqUxHo42qnqt2vKwBvBDwPrncF1+BV5tnljDfj7q3WJnnCLht8n3Osp3hLbMuFbQzyQlCtmm2zcrKi2G6BHp7cwAQxYV++S3cYgTPk4kV4KmCxLCJ5aWASppl0QUFA5TKaKReU4VxbI9pz2y178uWqZUElaFwNEQR/rDQSRLq5EIJ9+hiYDFbVHQnSQVvwGADI7LI9xg5klGY8wFT3O3sb+zEJuLWZK1MTCDAHoax2/AhW6gon4nid5GyLjEbOMD5LO5l9ZFJdJ/NJn22HxUr+aRdJAoqNb6APXENIklHpxmFbE/wUKQpbtzfxfCmGBUgIpvcItFfdE+adObR7X/h9rBb+Iq0xopo5l4hPqzRtalM5iW8TogMzfD02X7aPXlP/x7YF7H3WvH/+jMSEL2NNQYcnm+nu71AYzUPggfPr0a1UKkm6MNBpMYmbY4aAsPzU67BPe6jca7VTwIyaSBFavIdqzyNDYOzN49j78PcATVyqYcvwnPWJtImMrj81rPNX3K/qgIfssQkaHdi6pSnAfO1hNfPjjNoUBDDQ57oQZPFLIQbmH8gworY1wSga5pd6/2T6iRS+kH/jrgIMcosvMCMesTRe96/bA8fTNypPC6qJluDsTIECo6gXTeRjKPvANeA3wm0O0QC3IAhwepXHzd4mFPafoBHEkVaeJP98oDbXULUK6C9AVv+q/4ixCZ3RvU7x92nyZSrNOqwrUHFkzvBOuvLPzvLVlHx87jqQPA7bOrAe5oTgf7Zt48/D8ysz2U1D7gwkzXLRXh7GlhndSfAR2E1npPzoCIegTCpgDNvt1C72Ygj9h8z3B+x/3JJmx4+/l0brNxKwD4WfEMRaooUPrRuDuRsS0NvQgDKYNjmPOA7YK2Vhp1haQgCqyrEcO+wd2Bct4ptnJv5WUV69ZWHeEfQutkzmbIF92uG20LBKxVVTHMgxgfvtjWNdRwyea2y4ozBKSuFniZFT9OZQLADBC8NdnR/kjsAb7ncusOCL3vypRGUCCBEgm5hvX8Vtd7w8x7fvM0pLPzaWu2cevytLsYlFDa95AdZ0XhLtSsuupPvwtQlvwDCQDqI2sUPIEdmDnNs912mSQE142BOsSfTtQnp4ANBTeYg0cRxNZBDQTSay9JMIBG2b1F0Z5s5qwyO8hwSfmpj0C4i4sCJaTInTTVe1+oFzy9uAz7+4inuLiuEuf9NtNgnJokr4i7JRpnhD6S37ThaweYT2fcITUo49V3O9GL46gQ2CTE4H5W4jQ97yQYGsCHbUy2+6K9bGC9HwecLbbnwumFrzlBUInDP/pEqb+r6xusETbKQveBNUvgldysuUeLc4G8TUjNtdzOSvmRyqOvNqIFjhfKiEvJKbER/CalLkfeW5uymo51wixNG0/QqlA8iyF16gOHQoUc+JYMgLrd8a84T+uDgGpHcgj3S+rE9poceG+Wgaw2M2a69gsZLqqRLGTYzMwlLAs8ggjjK0MnqsrMW3myz5jNMAd/V5cJuT45wITcUzWNF50nzfr2FH7DLSR0L9s5QWMDOC22qTZLPkbYbtLoRyu4FrwQmgpltQaCTpoOxbZm0MSuVA2fDgXui4ps5H+KE3JLWqv42YfrTDgn9ED1f44oH4BV1O9Cm4t5d1HicYLkJ0Jds93/pOS59oFCChDYwPgUiZp/eQAJBiIy4Sv6OcCpJRfZRa4mFJ5arrYBYiPUT9C38Rp+82tUUqueVLVyCXc+BoHk5rRN/PXIJ1aKqG7jidVe3QhDsJWZ7LfrOSSSPlGTj1jKcVLVgdeqBFuxDok9/3QFwKMXyoHntjGj3rC83mGuTycv057PJ3MX80tK+UUf7VYQDzitmcKxqeN5kZIyg0brHOObIShGiRJGjflh/+0O50BZQrrvv2k23O1tgif96jO+EZMhq+2uAzLUh++yHNRcVPQ4o+XK4zWdOFyz03KwZVGSHLEozhmYolsmNkBKRXFK3ePZSk9Cwccp6On4fqcDLdHrSSGZOq7SiIugzYDIP48ljaseV76qduZ1XcvWR2Jk1Jo6LESdNCcgUvjJrUHWp0vHmrzIgVnM9URLOibIT9xDzrwZFfBtXMf2ixrw4AcwRTzYof9Jo6QCojf8/Esv7xWHzZgtTPbfqJ4sSzzgO8JwKPTz8RMz7YNSosf1bZ+Jqo7q8sqB3RWAZRDkmA5pt5OsN6mEJdJh1JQ7H7f7IhJ+UmBDs4GeXDfU9MiarQMb0nvVixHTXFhft5waNw7yByXJU89xQcDMxoDC3nb3PjNLqaK82K9uswj0rLcVpGFBr7wDMxAEtaCG0P1SqcK1w3+ehp5UtnBU3z/IqeEaFncxFOIzH85w6ZicYtqa7iuM8y9cgVYJdGXF3aUrpe+Ixf80Gb6qU7AwwoU89Z50Vo7bRlLjQre/tDz6bdFqP9uDjc7L/wkEobZPQmg+ibyNk1/+MgkeMiHtkHqhDFWbUhw2kP6BMLKE7JiBH3S5IdPZtnhC9Jhb8G+BELYsmuMWzTLj/t/NLCQM8o3aFKUT1wehs+uhs4q6E/Ct0VpUsaeRkgfPw+r5cU/AoQiNnTUma3c9uJKAef4cgiKN9A0GPM9Emg6JrA6m/FNu5Ra1NTI1cXeoAftcMvYNDUjqf2nLRtW7jM52Xv0wUMB3FeVZLRf6BagA9awXFTe1kIrpfKj+l9jOZPSMjpddStjP4IqNGGI0GqU8VdmbdBOH5iU3aPx2EDYOFMMwBuEEoFuIxCNpA5uuCOtdU4lntVHxx5if1EdgKAUg+b6MCxmg9NjhQILk2PVffpIuKJUUbXQbYhHDhAx9QhwOZJmnjQ7waTC4m3EW6FZttkf+fFeenQuoxJjf9U2JJwHLRDlAegVaIo89dWvqPw/q6NW9vprKgEpcP4CXz5kpnT0fTLshbmqQx0MRrtlgVtx23pSzbA6v0UDojoKEUZiwZ4sQzg6X6SiiSm6lYy3nUriM8laWMdcfByIS8uLOvv0DJY8aaCmiXTHocnZy+KXkoL/Aduzuyo4n/UcFr+TM2Zc/7gwJ5NIc6UY//MwkcVUUmhPlwPv0V0CDsW70diO7N/Z/Klk9Q1HqeesbCja6m8BB5z0/+qyva+Y4MUtBq8vDE1qxICQvGyGsudrHFNF4Qme4XNlQYnJ7Jwps/zerd2srv6xQoS+7nz2q/klUQabThoaJJLRPVoTNebwvKdh6N+wIIkDjyNRdgIRvSVxebWINDpkgDSxH6DYpvn6E7NqUyVE+o5waoJM1IyJ2RCma8sCwcN9Sz1DFlMz+zAHG7QBNKbGtM9JeqsKVrjN6/4Fd5rkILuoj7zeEZFFSiB2LC4f4uG8f+qayxDLCpjjyW4Kg8VbRLGD5jvYS8pOaHChzR0dmIZytHSKdBQJP+f+RLFw7e8dTT1+jNdAq42tXPBH4++t7rewrF2+ZNZfNSEYNrGivRKXxTnJ+yURON43stpbJk0i2QcP3zNAeZQsgQNWQKmquk+hQ7OQjXzATxPDc1E1+/WrITmhk9Eo+oFtf2KK1vSUtokwbs0JB/U6DzuGSHvdkLtO811P2rXfBNh8hlUhwoRD+ipYTUAi+PFj3mS32zY61lCpVvSk1l6CLVXUwM8kR+5RJkzocWvdelZx0lWqiHX2VugsdRNsAAQYWX/8xiyMOUqR8NQ4N32i5Mp06FCO4DHAMgDw/Jnz1Xf3XBFyabqYX1pGlY4ooD1ixzKmy3p+EqsHL/wy2yZImamMPfVAyEq+F3n6FHp+gzKfNoO4ieJmGcYdN1fwUbOYvOhgvwvBRDhqn4CegGxO2xLqbvSQy7Vz9ZE13Hb9C+TdaW6nNCW8vKmBE6v24A/k4uV+64fuzqMBY4Inu9Cnel7YWVXp3LzAKI47+u2/1OTaJx63b2JPUYTqidc/pAFUBU3xQGeD1hIMiZ4zOe8F6o19J7xPoWVi8aysatnFTIs74MY/N83b7Mi2KWtFeFBFLf7A5rvvCiG06gMgZm22aLolSYYLYU/poy3Sha9vdzX8uknfm33b/5tuRk4UwH8dJLD0yMiNIZDluBAOkfpQ8WGaUPo8rETx/sNOihJOe+rD0keAtALrR3TwTEovUV+Uh0QzATmAQkbG61/aKUAmQb63KgjTa4rM2D4uFG7Mn6g623C801I+I/F5o1DScN+UkCXr553fAHdU7H4ezuNhVBFNMCj+3wn4HGmHLfVuW6fKTB/jaUDjnR9z+YLMq86GfRUbWqqUgSISffF1KJXoeJ1E7H9rGk9u/cAtWyYzbNF1ShR7It4df+npdf/OdrEmK5S4O+3/qQiVwBwq0GZ4UHSOzyS0ZXnm7knc9hOpaCn/Q1IS8rsK2fSjlXl6JCw1uWdtU2FisJs7TlupAlWRF8C7scl/YyTsA8hG1MyZLkbJ/lJxnKdfCKDxFr9CdsyCjL73686Mvdrg3DSI7On5UNIAmViJ7ybuiOl71iAyGURz18b9iMKTAQADcUKUhMfjn0p2b3/ivQcZckAsh2l2cGgFOEySvXKRD1wwtsBWxuXqYiVDIgF4GMX861FoLj7wdB+rnSp6rijhBdq2vbqAeAZvdzsdkXg4ia5a3B6l33hzZ01B3ckh3Y38Ibcmc6cfHW6TSlW2hq2KM758XPMEQ5ZUFgMLuuu1JhS1X9sF06oh6YohZo3BImq9dB6RtjL9/ugQeDDSX+PfbarQ60zszv8jrWd3E/L8NUZRFAMWoVOWyF5RsUNJ7P6Kqi7cOvsS95HGWZYzvxgg//Xyj4tXyYscKu+JtFV8iGN2jWcy4FfqYgNEzNiY81CLE6k2knWaImdKmYaTWdFNPZUall5KRVMvhRIW/DFDISqF4I4iXEFNKhxf8gFVBLMMVlw+7JlD5bBmZHHKrlT/VNJeI0ZKFwAkwe72E7dkGZPCuTxaMEuDukAxzdOIh+vLefjA9nA8jbBn043CVfw4sUmq5LM1BNWa9+mf/8qqYj6N2lAgsVm7qHZ9sR0YMIiNaYUDt4mJe1+R0QdEtFqrVWDggsonVeFll6Xd9AgLKlFcP8fpAglFkvDn5NJ36PuvP60/UI2HuIkrFBOAGzM2Au3V7cZBw3j6IvyVCvlDSWV+VizXSkvvDkIBRqLBtD5aRLlEnDKyBLkazz3dRe65mhBcARajYZn5EwfQqyVTPI9qcAXVyMUPw6HG8khQf56yPWm5i/6356l8BU3b3PpsdIAGPzb3+0QAILTjOagbOqCyVD18w+k5m811XDEqYCV0OHngGcvIhc/rM0HThY0aOnx2xfyq0KzWTf50WEL6JmRbVOimEfARgap5ea88gLCARWVN3GjM3yBADzEx64UUOPeuv/zqU/Ff8/C4OEFxBkZjhht2GWMEihgIHQ3nvTH93YKxoDt6WTfOTr7tGoz6Orc/CyqrS48Tm3yH7mDTXhZKXYKc3EHxcx0lgJAd4XKj5GUyPuxJm1L6WEbSd3nVOrQMRUWpTEp7V9kszqjRB3A4VaG3OjgyiEF+twiAgcqXU+zrqZjjrbE28LnLic2+kkhDsIBfhLLfwHL4ubnIShD+O6TCgecNGnZEYkf2RUOKUmjMbJ7EnZAPL9wSqT0AXLzEbc7ZVELqndpUg+B9LwH7cUDR3Ky7WJW8SuGks6zTti7m1L/MosSaagJ0YAXRhMtoRHDCTZmr0dKh9j9vD4nMXy/n8vvEAb4F5N4dtb2cEI3wRs8NaBx1lqYgNI3L7eATjLEf8BFNoHfJ034tGsqN7rpug3GmCaq3tXuabiNZ+2KNna7qlxPgNEMPBXas5fxW6GheXurYHOHAB9PXUp7kvFS6+0xb2Tqz+z+xB5vQEqfIYW1iPFzMKKY1IvhLde1WUPNFfiUy7wjkZQYj9NIHlRQZvXx+YJs6NPpusxHaebC941w3phhYP6JLSq0e/NLOK6pWOqUYhQ1BgGs1PUkC7s8ppT2EBdyDbWm+q+Tdtl+cpMfDNLnMBCpFk7MuH5ZoiTAkKY6sf3J1SI1DUXbfOtMkCG62tXJ38mFVJCXGfR3ZHauDvJ3L5B5jx/wCE5WnwO0q1cHOj4w464FFgfFiMsMBeXC7FXRG3czgNQaYgX29+83LOdj1TIvtmCXOybbiAlnEf3OxOVY7q2Jgli5ecVjG8ikTAGa/3SLtXKPzYcouJN07Y+R14ExbQ5lUjOWtdAvcjgluIcLT19R+6TF6wXxYacrJlUQgyp2ldtuO0W9rW8OU600aBHBJy+dT3UFP6HJ180KkNx5TSB21H7ZWmnh6pN+DToj5aEveMCNrTaf8Hwl3Y9LNKBpsDEKAUuNaDPvXCmTS1VCRgzg2NHHTfcloj7wy/I5ciyb9IYpIQjeHzZDNQfZiP/qspzDDV43nBog2Wa/IgqmzFlhJ19Zhaj/God6eqIE5SHBfKHvv+LLhbtX7Sg7LyHlz+MvOyidnxqmu2cu3Rbs9Fsv3jVhJEdgc29E43FLBthQOp7iiqRaG0Tg7z0yeU75aQUqLofFG04YaKpeESXW+/yq1wQPeMYdNcHX0T/BLs75c0LGu7MgJJu81sTKbk0XK44KbiWTwXfAdwS1oleznRGEPM1RYFA4zdeXVxbFoj6eH0R/Vr485FaeWvTKtyq2OdfWVDhEV/zFHtTeK97mK4fTTw8TUZHitnYqE35aheB3WQyfTW+VziraO3FiGd74Uvj6HCZ5GoFgheZ1854NWfgBudNhI8hv0NnzIvEZ9qUaSleGnvIhvUpn9IaDhF5fjV52PjH+5chTRO/1vntxjg+1dRFcoJc8BebVbUBcPG3NqKVj9AD5Ii6HJY7GpeOkjkQYLKB6aXXyf4IvgZWiFsa9hOyuuc+es7z8r0bFhsZIRb5roC05qxq6Oq+yS4q90pyfjxLQBuQdM4L3q/5cwo+09cJeugRqfc+RW96cErCY9hySXnxlTvvh8GJK0btp3E8nymrN6y5DkqmjZ3KLj+RoiZdHRQN7XZeP9uT3vjC5Eh2EBrLCrwVcfSJGQKRYZGs+4sqN38VmRpCnkzBWdnBi/fy+Fatr7qh+Tk9oyB2dYD6sms9dzf7uoe/qQahhOW0JrcStsLfBkWSIMmmUfWaryp/b8ykDOG4yy1pMKVR7j4odXaHG9aWwxVY06wzBOgHcm+FRbw0EuhnStR5CLSHxVaysiSsUDk1dAwI/Ea2Rsw/GIc9icwWyYE6lZnxgJAC2SPqN27FwjmKnWrUf7nOltgIWoQ/6uRS4IJ/L9MmCiwQ0WK+6lWN37uAwKFnT+tjyovMJqDeOPbrnLCij09D1E2MtGgj21OSCpN3/Y6q7jk8j/bmpnwf8PQiGvGJP10YubaQM9r77O2zoeKfpTF2qMZ2MA4lnXdSS/7jQthfZ+p15H0TYhq5CUXvXEZ6KJHQdp5MAl69JLxFcXC+fSMAHNIRyDLcsEdDgMeaotEcDmdg4N/SLUhjqWQEWMn6T2R0qNWkgSyEdUpDSKzCKIRftLFKX2n5SnO2k2zZ+jP3rNmRJsOAU0jzn2BsO02HJx31NzOxsUp3P2Pzo+Whw3FjXTiEQngNfhwE9SUgIz1tq0eOOIt1KgY6hcxTojUM+zJA2AoJAXHBqTl/xxuWIjoz7XcUbW7jjSjtsa6S03NtePk/rv55M5u0mkRxJ4ktxG+cLW3gIUKRrWzeTyqymMzAZtcAKjUfupLK9yGYrzIh98A1+ty/Jp17gap+TX7NQxdBg1pFQ/eXdOddbBrsGWNriZPtryXuzSUeDO/hpTVKzFX0jzjk6UpqR+zF8pOBuVGBP6W1JeZMqIrakQdfJCgWMlVC8XLG+m6+etPVwPVquIbRscnkbDn6HYllNwqWZEw3LPN38EQutogjLKGcLEz6JB2ez6SrYAwZ5Os/2Gwz+QpKgv8FHeBJ1shBHdUfiiXvDXDb8REPC0DzqKbIrCAEUInssfNeBHD29TwDLe30o6TFz+CTc2IWAY7AcEjfOkkDtn4Ox9+NsZYy51N4+/HkQIDnBiFi1KvTDRL3HjrL4e2sFmazNIJ6dF6tkA0EmF1MqW/LTXyan/btFoa3f05nhTW/6TbOoMugHwe04B5gabpfhS3IDQkk54qKpVQyGHvwJ1WRSpFPouTHF8DQEgIdyG4KPOaw2DNoUf+s4BEClVbngIPtuZpF8qxgT8yJ0ZptWrBHkfIjL5/8oI3NRj2zfmLv8HAPtukqz/UWziksWkEsvZwzphYHBhiBHlNo792EY+X/98J6vH5uyeDKio0QLEjPlNRzdYtA/78TtpZV6ENwv2BIiJ0EYs90C6Ke8WrIDNDIXxB2HjGMcRPWBC+kVIcChP+u+namJ1Ra/sJJrGLmmQSSE/YmrbsQJNFXk9Wflww2I48UXCjiQAu/zn7HA0hhcQ9ydSzOUdUp0R6Fh8gqkYr+RunzqlpCNzLJ7m5Y2M+p1FnWwLhlgNJNrWx5yMPP+sEJzPomk4lFasKmcLEAKaZJpw7TbD7iTzp0QwsKaXmB8ZFU5acqQszjJ6dUCFvmOWx0NdPgM/U5Ydltj4z8b/pho23gPP4GZlgLZvb+nKuKAMFwnm/S6uGXgpozze9gGWk4DziZumQoIihBaQ6zIb09CDCviKAuOsLYuWMQzCSfMNixGf5FtR3yIKpkstZuJ96M2S0suXPnw31SP24uwHurlMJZ/SDY/Hr9SFms6TB2ySNVprVjCgFqKjZbmFLM5QebCzX1799UPwOp0yjtj4XosCoV04hao/ttNuzFZeu5pA+yahWkf9CtnSQA9LF99JUtxhNe79rNDnsmGLR1daTtBZvJ73IHAfJiQvwqoG9E5cqgxjwrxtYkQl2Qf0URlUKtKL/2pIA9ade26PQdT6RvL0mOfZSv3BYao8zte4oJpUcdaVPZLc62hTEWyxnNnemGs/EoXVbGkd33BF/36ycOcfZx7lotk7iCZBRY6uQB88xQJXUsceA3B9cTz4EAGrnqYX8UuhgjdEm8POjeOh/A3FwD6cRzlOdj7CIUG0zGvC7cQP9MnBgH2puPlFPrCWZ1+CuvrFiUk9Lzscq7nJvlA6BC6TY0kY3BHLPOLSj6TxBfXzsPjQ/8IJ3A06r+C5PaUVK/I9N3sgrIihwGF03LQwY243lWv9CStMd/HO2yb3WSssv38raCMqJOdwf7HvRwmZQ2O2/e5XTA8yjeDsYgb1PCDvYoC4KFFF83Al/pZJu+mKkMqRu5RGWeTTUE6uSFtxxDZLKFJWQluz1nd4Xwkn88TogToTEL43cTPAeD7djEQ9CtwskkUn9WHlLAUMl8mPre+FvaaxmhgdXMW06iGFP6SuyXsQ4kKHnb3JgZu4QqbPN/grIF/StDD3AEB1tTBKXKL2kuM9uGEH/61Q6UXvBYy/3AKM5XB+b66PV+qJmXjH79Y5mhYVfMdLshO1eFP1ETmt/lJwEtAfVpvjWPaEN9qL1gf/WukI4OtoUXldmNWKoDstr3ocNgrRCrriluUoMNRNwtphIB5004QyBuTzwms55I7Rot6rFsp2Jp7FBKVNOJiNPYHf1dFWpjKLjQXfvribnR/AGo+aUxa5q/FkHAOu2bRe6YgXWYS8Er2TAAt+ADQ0WiCmFX0qsnOYCRSgh9ptHw7eT5BR9lGaJc114GqYh199tQ/39DRGasKXPUgXvUINOGN4jepTm07hWtJV5xGxJxcwqLK21M798ShTOGxe1XqEtM3FGpRn3YxIQLaRYZLdIB7I4Q+u9ADG/uhBrP0v6MKLssZwJfOci7yriHcEjQ2AhtGgSbW0NmpTzZiMxUxF22XhAMuUueHQJq3Q5VGB6SIvrHiatB3Br+5g+RVDBJjoTYatulLeAVLLJnmdZXQvy+8aOjJLcOr9CdUMPgageLGcVTjs4ciW+ZAfCANB/lMpENgGgt7mfX8MEGAo2cY9PDEgyLtmtabxMXsV2pL8ZUDdMJQVL3nbe5xu2SdtfXAMq48kc4sO1xBJrqRfeA5HBcbjZw5FUYiaCgblJWALKLsnMZDRYzykU8wrKi+I/tKK9KRgEtfND1+u2IjI7VQhgLjVBEEKvuChZB0QCQXKfGsUIdett0YDj7LvXAuvpOt8ClZFxVklGiHq/TW7kMIW9aEpvrQDSq98Yk/4J643Jan1APeKO3xNFtkq52fXn+xJ4g4M4XtRlRKB76xkQWaTqsKUOJpzSPZhNuKFrR2KYXzyqZbt96PjR2hRr//4V262jt5mXo0U2swJDMZKNqcMXE9ZBB7D5OMJf9lzFUEVOGw+FuCOONj6LwcbZ617kEm/OWKZanb0Ebh0DQnDjKico6EgHcms2j3RxOU6G5SkOLltdwin9NvTeExY76zI0SA23umcSXXf13+rDF4E+RIHkD2kMT1W6Hn6nqvlL360e3XUp8/EamXCN0yU2g2E9gSQJRJjOiuP32IyHfg2/ybt31JeHYjslhxRZHSrXsEogEN+qh1g1TGhcCWvJvXD8UftRO+qRMF50/onIi/KlVCI8/7sAcpV+q+7fnaRv6fDplEdi0rcLoPQHaPU1CJQG1lgKgv6fi1vP7PEdAmTlb6w/akvIqoy019AXm67TzaiXptXpD93/ktjiU5V8F9qjfWciTMfQ2zHVYNqRw6iVQfRcajXl5OZ1BMVjhD+MjVN19cZ+B3OgBGbdLiIGMaq2LLPhc0ZiVmtZSAIW0tIsUOpgRYeMQCilPG1RPnYK19uT1fWPDb7F42dBDNvgYeUt43fK+V0DEgGt+pkNepFzN2ce82la6cAgaSyC91vUefONLL9C8RsXt8NTTozyBh1uhMTnnXDJ7dPXIg4I+nZJrDGC9WJtkjUXsC7bdw6Yq18A4i7eMlFsWSP0JEHmp/2Ddj+2mCUtkd2Ij7AgYigHOIP8kEz/RNvwSVJJNW9Ze70dgEoWs+u27TpQCGOWq2fmNhXl115ukNekaaSKgaCE/YCTuE7+zkCpyXGivsP/kx7RSO8d0h4TeZ8F8p71KTQI0phY3U+3f6syM88SMM6c4ldefb9pmy+vGv6mFqXHtmT7MOPiEWjdLatV6l64sqUWuj9YWlHv8+YRrTBQ79wF0tT+U2kV34YDxnuec1cq8799/x3fsJARTKxJwZowiVc//R8GYBJq6wKCR41ymseuwjgQSIfXbEAymLBtZ5iGvCf7PrwCI6Ejn8YKDNranHCNOsNThzI1z8TB4EBsZXGX8flSi62T461H1VG+y4TacNSE34C6PFdChMhuU4SDqVZwxYDmAOHox2Ig9lFgKYgsDZ8VrjW0qWR3j6qC923EVbj9tli6sIz2YarqI57pJWiilrs9rjoUOoUEnO8cLug2DMdXD0nLNUAqMgOxmg8BjZ5KZa8PDCKp2vxKA92JJQ3G3lyXpulbIR5FBrJ5WFQ7ReopUIQz1OZbOh+Yq+zBCA6m8YebcPOiFkjCfQKo+VhsAT+dnOKTakEtipOfeilr5hgQwuW39bYWmNuzrZGGRbCDfx1NwcQKWdjnDxK7R6pvgUWdc8IcxbWaEIfNKDh8gvMdT3yw/MACPkD9X/lfefoLznBUQ+oc3XeGu33ww+79vUpIyDjwecaSINKaee3FNeJDbTirNKVLuk8aX25mP0b7TD9GwhvPC9n29a7AuKEfoc2Ex6cWbXWSizrnfgdEFd6ViRdhW1XUGinfmM/GJdekAQuzgYiIPzCGw2RcUk4gz8z127iaG6k5/Atkoorsskeo01abxEuP5YSc4imj/0lzHIytOp19aUTOrDdx3D2ztItiVv7gXhkK/Q2P/afI4UOsi9916vUsUjsL9w4Z3LUhT168tloVBd9zpDZB+ROKyg9PIn5CH4ZVha0pNsrhP4nLzuc4aIYbuPrUdouSgxyNNvPUNVq/xUJbOKfJEnDmQAZ40ZBTl8ki0ypAJMX7yUTr5+kUWdd7t8TqFHyyUXRwqTik1ISaGHuhlSV5+eqI/w8f6Wvi1gc0fEaNfjNMsH2ZCRWSA5/S+p3GHv9apgstJ4X17dAWZxNwCbsrvOc6pA/Od8PvbjH/1v0nvS/oCuAQdzv///M5nnRTW8ygFAWw6zC4ejYzcQEpMWF1ywXC0N00Uhn6v14g69aqsojT5+Q+GIrA32rWCo5Cc8XWjdHmUKyBgndOFPK0Y5JF7R1uGViNM5QW7UEwVfSg9+EBE+hQrI0dsiQDp0aWQcS3FE+6lUBegHUhMFuTTwgXFbf5O18RyqwDk3gqs2DP/L/zaW90YKwULQ6NfKrLfje0B2F1m4HcMpIfADuyBhuwr2/o2PEYGLefTUVXB2LZobeYlyYuV40ZZhJL9SIk2VCPc0eeIw+5e/HGfR3nEoM52y0hEqkaQA0QPTMRqar38TpDEXxnQPOv1nmbIEbVyvAkoUMZeJClyyedShlvY4NZVK1RVeigOUYW4+e8FLz5gfLBk01DdgdZShmt03BUQtG+LZ1aNsCuJm46TE7cLUJfVc0S2R034+8n4YhRhjqT7a0HVAWy4Ev8y/AI7R9a8Lu6yuWjGaFwiynT9L3+9g42v2RU63GT1aCgUw+jKBw6miqwV26KM92dw1oJUQz0pUod4YpJ0IK2auAafIVxgrF8aIyCSxWQpDttCY6WUz4gEXE4TnwvyXZR/8DIYA9dG8X5l7rJ9eYE7sgGQm6OjC5JBtYXhTjJwq7+4SAwjaO7AnnW6SYc6Z7LsQ2yoUIhrjITYgO4A+7StVhLq4FwJ3AY/yd+zEPyqXcgM44k19Z7LJA6wGgUB4sJeM0c/J1JHPGUx/b7dwqD8jy9vQ5v3LLrEQMTkvQPJVW5b1zuaY+oOZoP9s1XdvmJWsjpC/Xg60mAsxpjkZrDjPC1ptTmgIjzsoqfE9zdFrhbIkHOLs0LXiwoDo2VCPtuWqSLEXA0CgSam7PKk0I7YJqjzHnGcvb5/oi0jjZmrtWfiizaa6vocqLJxnHq8OXiSyL09NQ63c9WdjdrssDsisTlUa98bAOsYvWPyELKJCj694F+cwjaAlteMvyfqKbVOt5MqyVjh+hhfIf1r5tjbED2Egj4wpS7h/kOZcVahAybX0a4F/yfreFD1XJNDY72Gk19Rw/4f8pImFRu78pk4BaFsLZvrmQHkxAmL7l0WQFAQJnwx1++t7M8aqx7uTkI7XznlKRinMcEV8Nxy1P1XuoMk/+Vxl1313b/0VUR50g0qOPYzYfAKZLxqlUNdox+AH6Jhy5YHlUptMHWHGPe0Cj06gyAQfRacJ+WfpoDO91Um8mj1WyanDm0Begz8DdbZ7pDyVCgKlW2RdOZyIp4vvFWTjOuxqosks9k7CC37h+LzupBMMZALAwSfrxmDqqKBeT9Z6diK+m7UqCzMMDOUSeFWeuANN/jL+QWUm/2m/Dc0vI9HO4gejKPKKLX+abIYLn8Ghqn8sAbN2adZQUntEaGNn6LTmGOZBhlaWqCuNFKLwP2OXDsmJ9e6af9/LfZ+sb7uY9jpb0QSr7XRkBvrneG7mHLd3HOfOvvO4024S67rHQhZduak10Hc21eibk+DnFKciJ5e7ul3hJkp5be+J4nOhBbEo4dG/NVARc16AFr+OnrwydC2YEDUTQADzMgdl7Z2HI06qI4ZC9R+GEjO4A6UfDGL2TmzZRe2RVF5MqHJSn0GyajTstKV5k/ZS1Jf+4W9NBgBQ05jbrrYc3Dtf2/P344xYK1SH8GTFckPUGqLZOW7TnpKdmjWI/uPfqDXKY/o+mCiUP2p8uNX9ShZNbcHXiiHfxiSLlp+7uXASaPC8deLjEiAH87sJ33lt4RE98tWC8akGg8YYOtozowxZPsmBlWPLEt4F7POmGZSVDxhB9l/39YBZeMWXVZQ0uqQfuts4nuZJAfw+YDrFumWpHfyqx7jwaGL8Cm932qNDdpMkW2877v9Vaiadue+8h8++n7p2svJPkshiK+qL4rW6l78NhUP1QbJOI7dNY5SrXk76WbzLF0cvZA2zwGsPxyN8mGac67svP3Inhn4cJf4aSZ6K+3mTy0Skks+9psCYGUWDJGt3xHcwwGdYoOEHf2dYMz6QBUL5pGQn/olGpQ8011jl9eensERtux8R0Bed5vwSD/GKrXT8Wfts0hqYb6irA8g/CBjEwVeijs+rgejWbF7F7gtvM42MjwPubLSa0sjYf/REkfYg8S+VSAokCA/Cr2mIInotCbO0xaeTbBMd/x7zPJD9w5vN/c5i5x1fsSjEQDwU3wRvnnduwVNNdsgP4IiQaJvTKSOLoBX5PzsLlN9K4n0aIslyNZV6tKlyAFMbXExwB/p4Zg7TMrzlVRHmhJB5GL91EVeuFYRawZJbjWhCMpgw0+J+nsyd4Qf8vtRC6t0HD15AaCcOJhEkLGHQzsuP9C+ibwoJWzF0D6iAbaCEsIGy7DArIeOJScHOWcwVquES78AtCSITeY5U80RH6JYhbe5og/6MkeDCN01rtdyMMnwZka/zKPK+Twr8fUSwMKYuCC3hH7RewwvqOC8TMZD0USjXy2BahmsG1vXgGLmLhOdiP7cAaVnVJ2/2j/KH3jdxsLyKfi1Mb6FyXEBG4hyEVkZbogCn9hfR6/34gLbIXIaz2n6yBDUY+hp8P/crLs5n01duGsWO6UCnNHn4aGmV/hcOjbdxqA8LLTQDV8MnMQuV2sd09BV71lNAFeehXmnPbeDgqAhKnUgmg3SMlAFmaUzr8FUDeG8mHJ3k5AyixNomeaqfD8WJLPNOBxbFbqgBhh5BOZZVDhm1Tb/uPVSYRxznIE7htsfJHXP31A8grngl2uMi2mXp37ydb9t2VZ0pAZf1NHSfAGzOrqkLHt6QQIHKPm1BAe6kdc/WCqLyWEhtDm/NayB5hK5ORlacvhQRdJhhPGFfbd6x4FYbMvCivyZjAwzKX1wZvW+kqRkgvNidsO8eeIaNvWVxrMzNF21LAxwYIZsQ2h+lJtQZjRCP0eLFIV328BKlDTRTATMMdwF/OwLdhFnMdBTNRmgFzaMQLyx7sotDP9x2tqz7BX9tzfvYScrB8to5grkbrgaPD2gqNhQuP5aEqgTTFVpD0/jSq6fIKwBKtcE5MprK3wk1byeRTAya4ByQu6LePN2YojSUk+/FPgIAcKyLTvfOibSx5gskLRjhXuSG1YPq1D+Ts0jXMnyToli78ZvObzOczyVacMraUPRDXS8JMx/ALoElvgMqFgGCs4Exj93zyGHB0o6OCYTj8R1tG0rZHGyXdvgyqWLQb+R1x6YKgGKPDhBe8Cev1gjrBvAgfdfstJUtb2H4r5f64dOaH2TrD15NU+a/uZi2m15xlI6d8xfXsL94t5a5wVUfKQEOpsr38SZKgevnbSKJEvJVL2umoCluNFvcP/qUmGtKYLYpRzJYX/lD7+Xv2uts3/pvxzG8s9hzBRBdgOkyKAfSaoJW51H04rBHTHYUdiKb4mGGkVxQUNGrxrP6gfGlSf5Jj9OhiMDQaSUc4O1+S5m4lFPsM1SczMO9/4kM1KQss9rMo4p66A3btpkt2e2VK1t1aiY9iPI3ogkm+oCS9NgtLn2aBiO2nnwRKKAg3fWXNqX0T9g74p97I+FEXU/GDzKenqHOds+DNOpQHOMYNwtimOJrFq1NUYI/F1+jlODijNE7iXhzRAos85HZ8C5UG6CytYhJPATy++d8y6nvZNZKWTjYSOQrm8E8SG4xCdJg7tkMAetKh1Cyq/wIP6pkVmb0R4Y6mQ9BcO5v7gMLvdUO5LhK2t4i/YI/Jt9SHkWVlZIr/bkURoGseAu9j1IFn+NI/pSe4vIE070JD78K3DDFJWc7ipzOhHaURj1uRtDZZd7rV3OeqzNzJZeWHt6YaVE61l0amdNBTxc3D8gYChTny0wkX0hCxR/965hUAKolu+nfrN4j8dLSFK7b9i924EpO+SQAaMCY8Qo9ICQSEM649ieuuSOReaTtEAnaXgzJgVj5OFdldZl1s/60K+zJmBYiTsD9/Gg3phF7IHE7hmfPFgLIQnlCx2wiWm+/U2R9zOvm2NXXy0866PPdEaGdRlBCP3ukeJbgIrrfIG/Naae6D4Gso5OeNdzCqXnyCqj4PPfN4hWSEsKo8Gd1bvAqGbVrahxry14GYbZZsergNvypJMA140VAO93c5L6srPuL4cWxA3ZTM/hfLpcbptfJ0mm1XcdOeIX6Ns7PFDuUUY4O/g2xOY8VFSjcLwsisDRqDBo0C7OAzOFdQjD78CF0CYtEXotajoP+XasW+n8O4//RPgQUJIlZtPoDtmXawixfR4y8C3AhO2wChpLPH7UWBaBIs6Qv9iaj1oENI7kXUCpph0cD8FNJ1mBGJCxWv22+aGzjirzCEScY8D2ze7AjPSrD3CYBuqPgKncMKOVTJP8EUuDyf9KTuqqbSAq+cYrBZCedW3rnCTwtcfHNuPxoWpZuxVo/vfPNcSirsDeT7bdCP3S3VDWWYlqVPxusC/n/XxYFAgNwjMpPnsWRhjVr5R4YIygCjz8y4QSwzKubvpGovFsK0Wsv6phYyjCGWWvkxyQuHsB0xkWqkUynTiLLIzFKJEpsIKNvIpkF5/1h/bSE31B+5estftMGtGC0z95oNy/iYQLGm7yRvVIbXPCITsuAFA83+9k3ZziDuuU6yiNJjaK1m7nZWLAuTCftmAuIH0AWt9pKPSBAtFp/o7IdTVgyLl+ONsPQPh+h4HCnOOoq1FHBmOhUY7LQ85gL9um5s+eWAYukaJsQZSeTCiCltJNBM2pjSCgHqw+DTqxo34SexdOK/4yFtcs335eO3DYUe3lTybS74qEYVL5iqJ4ZTpQpYdx9n9gdkr8E/QvdD9JuBZtwAwgreHSYoy5lwTub9+KA+kv8IwtlQ3wtNKxCos2nEaUp6iTTmoSSxlVZS7XcByOYGLSPfKKPYNnEjBUu1d6+g1PPSJwrCH21EI5YD2aFxNQkCxE44aUOSDqAQlKPhmIq3zs5idoebcP+ez+sbdCdQuEnRnOyM3a1EHCp1IE9LjCeJjS6Li0/DdCMMUyUMxCWNHGKUs8JD7Xfhau8WeQ9/ctZw+Bkn1iXFSjDXcRkuGSTjvwF865SmJq3IYVi4DAL9MkBH9mRG4QQn/vz366h3sNqaSJ6L+p5Xm8sikNoxrlCQF6snH8WRIlvKbfOKvDV2PdvlC5E9Ax3rw/fxpBT2KqMj3wHf/AVVHNRKWBtbo5KCd6XUnqPEehB3u+zvEA7Qb6awuh7y1tFKlRPrz2maRpnZ1J94atrNENgROqiVSQqeQSfvKqELRI0bVgq9uZNNM+ybY2vOTRGMGM2Pi7daVkWAPk1r9I26HArfRr+9K+P56qu73dO7dD9D6AVXWrehghzOX7FHPBzY71llbneXLwcYDHEKcxAYU2vIdKPj09Um6EWwTdr7HIQXeD6rOrPjf3/kUlhXuYVnPN3RDj2v5vQ6HYWJpFQ24hssJghSOqGNFJQWeP/SeoEiZgVAviQAn6dAQsJuDSdJjyEHAS4i1jy6KacZTqqVnff7HXK2YUmLkl8htBYwyxvGrkN7YItfPs6w81z9PEPw8FZ/CMSab7xbYYZ8ibmraZUTs49u5OpNCqKDIsvJMWqVvn768uIY9HkmZbe76wCUTIeEjsA9rI8VoEjBL9rEm9pjPFamz3+BJXWNQ+zYoGvdgeR57X1RH8kTnYvJTpVjP5gA1RtyE0MpEs04/pFJLNzpU5T/CwH51/CsuDVJAI0hhxcR/baI1Hza7Hjwqfe+FGrVSMXW9s/HNTrdKP+RCtd8q3velnodFouKlO4KUMChSKhMhUnBqdB4XuTiGUy95kQzOsjlggFCeBRh/ShixLLFhFmh+OrPNwKMhmAaWYSE1XSP1lfFGA3/o2ad0WbBibG5Th5W3Yi68Vw5bq6NTTZas3+d0ioUaE3bgSfTAdn+m0AcMBSkkc58LWJERYLkIqwcnfNp3qs722DCJLxoJVSnXNFWrIovMhGhicrxNs+YcF1X7843pAxse5yNlUSP4ASiq4EhvtlNNShHgIvJB0Mh3oKq3DSdF4sNY2JQet5+nt0AcpsAk5yvnwfWHTXuiI/rAaClVW2aCVztnlsEdXttZ0HCtf72AM2EhXBeWMnPdAm++yIPNDTbYQLiLaz+3DKqneVKFob1dwRiKsz/8XzpUz4nUPkundv7sSqeN/0mNcel8o7Ksx9E2jx/XCrNVGdLHV5kufpACkL5shJYf4sjnFC3NbPfbR7rPaXROz0huPquDrJD7Fan8kIaFbuYSNRqKNQxgVCypn0OwqhFrcK572Db2IZ/FQRdv9H/QmrWCKdOSgYTZigSnBPAbeL/SFqo7SdICBtnlcGuImalMvuCGfjQEVAPODSdSiLlDqxujVwF7pY+uPyFhWqaO29N18oyKTej7vJF3aZ+gYY3LqhZM+VrtSeCz2gq18AYcpWSR5EIQk7jFzUSGgBZbh5WJDag0/hQ9S2PFjEVtIqcNXZvcVMRfCQLXRWiql4kWXJO5J9FBe4Tq4tGEHtS+cb2iQD/b3SbGmUjWhqgjVVCSf7WfbS35fhuzZw7u/sXTwzgUyzxGTNJGBRRVT/p5J/o5Q3pwfEi0AJexBMhakWFn10iJRkFvp7jVcCLIdK9h8y1yUO7JrPnJb5YPI/c+VAVHBKE7gdK7gDioyUNlD8ygEkugpfq/21g2blCdCivK37bbHgPeoNWPSU1e/AeAxBrG0AcyA9y3v0YPOQw1uup1PPnhJO1z/tBrclinkJCnlXOT/4a9Bs+FzUQG78tv8BtYZU3I9mpy6e1WOuikqgmsWHyw1Px1vP0OZBbFONFpMkGCF/rJCj1L9bhxmNY+Vx9BnlZLUVkIs9EQS8Ox47MRIBQ4pF9mxQHE54uujNnzvxiMsTzdyUYKxsKbTa1ZCLpC88gahtgV3Hd2PvZKuVtJcFeowM0u6FJquqfWSFne2YjHGxeI8ILv2XvvDKceR2V1JRpwCzhpKKIr2eVI7Uzbkpbm2LLxoTBRjuNWCs5VuVfx4bGLvT1q/6+7rAdlf0oAP2MG2MDYVkkp5ge8mvAkWLpJvH6mHWb/BsnKlk5jNayT9JJct7xQossAsyZjh9aW2cbUqdvf3Bf/fzPildHGikNcHL2jgArs4db0Out5ELXS6HpM1uPbr8478uyeadLGBPyc8ZLOgNtDSOv//M4RL23JuYIyUYQ5mmp6lAmpG+sylwZrgQvoh5ekR1adYD+vfDGh7e2aPuOVmkITNNS4G4kJxvS7ASEPA0y4a6ij1A6ZCzGvMu329cY59opMhYyiaGJ43tmgtCb7rED/QR2csFaEK3+xoWymI+bVoqWT7u4YtVst5vJGxv+404dmd7o7N6eqkpJ4Qe+CXAh5Be2EkwSN6ugOcwI/PuDx0plHKe+y2Ke6AU+dT5ZMsATazEnSe4rZrpbP/eK6Y3bcjJgQ8O8zJmsNlYSH84Xvj6RUtODhHBOEbO/6SmTv+f/M6usVkKbEWiW5M/vD7R0NtHPg52QRxaADN/fcQSc0uXzMxiRka9XGmIMOjIWXOVkduEsznf8S31G3tQZT+F5oUW7KPl3umKt4AdnMEvwnPIgCXIqZSzg0cdAduMJ/IKmlgp3Pj1K2FBtJje9V2v8v2OEAZAp3dwcXWplEC0P0hyCqUPxGdXS05k3dsUSCWr+OpIFWn8ZRyQdl69q8QNKbdoe27hid2ruJsZEyUdoVVRD3OzQfgaF2KlzWhbDnvFHuAaguSvn89JeAahlt2SUjjfe2GSUy6nxXWHzcBtNPN7ny+sbpJ06l8ftsm7VXJSt9eaYg4ZG/eFn7jETkuDWQPAHgFZEMnIC0C8aS7wajC3hiZklUuRRZkba9tISijzyPWPTPNMgNUXNqROIVHJExEkzf+RU9QGFaQMpAwrFAfZAIft2npvKO6q9O1fXP+QmyTaoMvsP9LMIDfqRmxpYjkYvb3Rw+xdRELrWDk37KzWLG96yi4IsD+Ett+MiLOLxp4rK3d6R1bTWanTnQlDa+l5ahjPooNOgbxwt2y6aT5AC8F/zsyt01CU3PEYAcFo17X7Pm9Qgy55Z7Zi+PJFW48Y56ptGGPGoJ5G6cKtZPjlVxbF51IvQRXu4HqtrfX7kXJANh6kggnSEMAWWbBVvEFyWZ0bgsWJcUJQso7I+XmxBAeIJ3SSkfcaCkG/MCGiAfFnA3B2FP6bcqIycIMUmsnIkN77hrXt1G5zbgbVxN40IQPzRqP9mMH9loNQCLKVcNI3zMZbVqBvftB12WMGTg1Uwz7XFuP3oQAirnxPCWsACGwORwRhR+Aov74fwnW77FI7qXH3BuWgC7SzJ0DjQktrPMSjxK2Tzj14zcas79GNTYY6Gz8eexlI34LJQffMlJX6Kj4WnTwd+bIG18O8fNE78bmuB7WbiEcMdD2n1MZwIbfFv9H6TelS66BBvkR3aIl8OzQ1YS0NXcxS+6bbCwm7UmLs0bJeIjdT1bNmIrgc5fYERiOrCpMXpKqjDUu7aezUDVRzCG6C7fr9FU6+MGvAc5KXjSFLoA0KuNFw0KhcWE3A+jrSp14O+3Y0DvU2u0u6Dp6PAoqx4oSkDmOLyhAdImf+NtOBX3bAN10fTS6Dlf3lGRqM/VFMnd1MelhNQkLKAecroNpz6RGJKrD/GFliYfJfk3/rNIt82u9g5CTVqLX4tV1Cw9PsMGIy6Gwsa0Vu3T0ZYMjMW3wky1bM+Fv3MD1fylzpYbE6t7ocItKYqTxfZcsd4gUnOlaLaB5v8Nrrt9yRWPVOL143kRPu96orOlLENV8nxA3BmdBRjvnO2bsyQljpG5mnuZjEtQ2/7fDIrA7Ntdj8q0dkV1O+KinIySxNqXRrpN4Hj0nTq1FQvDvFnu45vWWJVwYJUbw6S8LGkq7oxne5xTAWKC0x7BvskXfggjG1KpIZEYBP/ELiLKJe1Dg0VQxEai+1BsB5NCgudX8Gs3xnO2X0wWcLa5iKjMC4HLnumwOTM5HAkdKzOeUj1K1ce54F/ThqJOU0kehgNr81L5QQb9XXGKRp3+TO2NadKDBkaMDRRJSoBOFcoEdjiuseJn8FlqAfTVD/LbohWC0IW8tjj/aprnIjsjHAFFoUHkPyqVgsRDG2Eob7e0HH9s9yWuSNdb/PTYha93/rg2cwOK5G0R/sGQmL3E2cVlPfA2S65Y16O3Wy3qgZlPEm1OLIyWJlmTaNCVYlJSF+ZXyMaKxcVwFwPcLR28LtwshHw0gW2Po+WgtezcFVWB30jbVnQ+EN1uJLO1JXSBTORLOdxW6xiw5GnaAQfjYreXQaT2wrARZ0zpXIhN14KJ081uJqO1AiVeotcCgp6pkHKVUY14TuvtUfW0ltFyKdibhNQxQ1NDJMMpekAp/9eVLTDSHHTjATp4D7Fwodu3NBRBy9OhjyB8jQYFOv4DlrPIoikmOMk1STNLtABX96V/Jy3URgSwHlg1IPKAvx5OI1/BMXPVK6vsr8ChvUPlwr+O2ORsn5tA617yS1wewKW9lG402w0coF9EDLt19vNsYaKlFbs5DKjaAjv4AUIFHoq3U09+cAXjKE7qHRMNz+ZZn7fSJuTry1927NJwzMGXeHuuKMEVEnsURc/H+VaboknWJ8ysfE0kcdkJAcxd4uz9hIuIUhYt0QupFDOkSr6fCN8jIvEVRS8JnHv/xKfxmNbMUigPgsV9qQtcTaQ4VHL8T089EPArfk1o31coxEINtFVb4ujbo+KSaNmxgc/EzUUGowz+rIs+gEEmqtu1cZDBywDMit+Af215X/w+U04FUUPyMo3RwH73jg83KJjwvfxPcZ74NuvYd7MECwH5ayTMDwzVYBN5ZMNOTmeMe7N08GPCqJsO7d+rbSjyr/aUAdIin13QAfrGCdiEbYaNjn1dz+gZtgkb881c4Wasjcjxzev823jvszfqqMBSLgVsTMHbcgKfujMydRhsxgGr1zxIPB4q2ok9SH/Iem1O5niqWHzPgG5aLGIDEPEpxUkQq33v+5J2pp0+6ItI/vcIqeDyfBPx2MKpxDxFYfVqxdvKph6fcAkWOeUe5F119Zu3lT3JAN7GTGOa3ONxLm69pWzjP96GtB5Hk4+WCliiSaJmVfNDU1xWt3SMSIkqQgfh0UxbSIgsFt1sWRhVr9JzQR3KWQQAJtOmOQyl5XczFfF0V4mJ92Yw1VKHjegGHa4ObDLdZlJiiVDetmkBAj9+N+sBcnj1yDmP/JAh2kEZQbMOLqcHYyaSh8l8ERlT8lLnEPAhkvjrmdxCak6THMB459nlJY6AP0Rsjn1PZdBdmdr1azplB3O5h+1qlzo5xX6IaTrZBnSh8CbleLScO9p3VWHWirckPMpiMelSueicMpD8ZRMMiWwJ4ZV/h5cgS4OOj26eGFPRy45q6zFoS/Nd8i1MjqeuCCsIXj04z7J7DK9WJyIoDBnkb642/cFd7A4+JStrlr5kVKajO0JC8nxvr7/px24EQG55AMzRcRuGOLqvOM42AQN+Ny2D78fwcTm2T4ihv+QwX6fE0OEgXS/7Mo04sA2QiFlgTfTQQJjAH+sibUklhs3XJgY53X70W8aWx0qrZLgSVRfeO80PYB/ZaTgKjcC0REovqFTHvde59mdSUmzg9X2dc4D7+ziFJ4tE4JmarmE2tY1NQl3W/JUoxTvt6JtfygqJsk97D36DmHj3Eu4yZOPxEfxhFxJbzG6svLls1E5oV3u8KfzZIzd4yAXuHC8YACt8XK0mBLwGQWaejCpQrU/39dH9DwJYnRyi4VPJforjM5zYMd3hqrk6ZQ1JoMhBELmU+G0GYmmUGl7cstC02GE9mp//pEppJSS/BFajx9kG2mcl/xDODxVAUc2wTGEraQTipJaqjnYQlHwF6rjhFz9W3Z/6shnFok6OEwk/8uWTX3eVVh8BAIzIfUU352AyykY7m+k1/T0Mf2lHQgqGKDxDfG0vJIsmlVB9AMXbFyvaG1Rons9GB6bO8QL4XYz7WxR281CW8tep9Ck8t1X+YQ18gEjvmNuYemHcQDxH/t49n9oTmRKhjXz3Y+gPRu/UHo71JB9tMzMPA4Uw8Mdn99KM1Wx+FkmURxDEpCN3JAtfu75K4TpLNcxJpUrSSlY0T/I0OJ2/PGZeHyEdupyKUcESzTc98MJ8Et2EbQjpySLQ3JotiqtjM8VQ3l8C6+vg78nFWbU/Czu4EMnx3Z/AcWhU1DVaDxOOJkL5e3vOLPGk9+lbTHbqBIVGYA8ApvKaWnpZZtxzeLo98BBqfkAyo+R9xO8xXAK2O2n2b68l6329QCMOoAaJ9CMAPwzE3dh+7JFETVjznzac/281Nf2DKtB25BIp4JImzUbw4lhRrM8fr9S8vKk36Ux3npTG2Qbvp6axr5Io172c5SJcq2ez7CnSdvL0iAjLgtVSBhgfcG4Gq29RmtUmtT4KQUPgMbSADCApmmBrGq/MeZVG2gpb/4LOVGaXXT0lng+joGo10Oh2BZT2INMTRYjCOR/iCIt5GiUSv3qIa6Hk6ewGt/2ni38lcrZgfEmgChBOSG0ciDEpCOwylxoHR7ZB9ReuedNRQlHfoL7P72nYoYkXUrGscENYvXqaE7Ui0Kp0ddaBGtNcszSUJDVr/weZ64n6fbG2FuKSAcLIZUrd+DTMyYJ16dz93mLmX1m6oMI9qghHcKM4u+KVCXzVOxtWCUMXu/XLicDKNrXrESIyViE+UyaNbfQXzas1VV0YfbBFWM74Fd+g6NfnogE56143DjQtkQN4ra+Ztf+o5oh9k9iOeeZUncHP15uXo4r9l7UCDr8WVCkSGtdkNV3Q0vkurhyl7cTGqTkb5JBf5vtbiPMBdBY9BmIMKYm66glbA7d61SKWkXAnMH51gx8Hic5Iz4hL8eo6jkmXWQ9pZ6yoKntoAh5XotbAO9f0V4Uyw5jp136oD+MWE87/kmkfL5XJ5ZKuTyw+MCAToCdcgQ3UYeFLB061yhQYBdAMA0rPaQQ93rrBlvzgjDJr/MTDBLNXzhjdHCJeoqA1V/nLrzCgDNkEAsi+25dmimCKvff7/ovxKn7ftTg2xqMoNZ40G9FEb/RdNV5Buj1iS8BOHCHKiW2eJEwEG5ZxI1b9DxAv+5n0zo1VpzgdnUMqMgYcvrdACkMfvGNF6Na7Eu97baazdA+G5Q/Vgy50kuFSl2BSTnSXHZI4mEivkGqzK0HiQJ50xNWSSvpJ1Uwlqpe+mxBN/i4Ltcq38wYKH/ZNGEByHtw78B0EtLmid6UqAWzyiAVsx/oPtV4nNnp+5saeFOoYFnzHXFGRoCXLYJZAyUm9ws0hogg1741yahVnOsRsjNHn44lox44n4+nwUNtSwB2dDcDZ9l8Dj5qkRDTo5jOBXuOxUz/g3ZbdEAkMJ7" title="Mekko Graphics Chart">
            <a:extLst>
              <a:ext uri="{FF2B5EF4-FFF2-40B4-BE49-F238E27FC236}">
                <a16:creationId xmlns:a16="http://schemas.microsoft.com/office/drawing/2014/main" id="{346AC784-AEFB-4806-B756-2F88C5B02D61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 bwMode="gray">
          <a:xfrm>
            <a:off x="7193089" y="1541084"/>
            <a:ext cx="4022726" cy="5496990"/>
          </a:xfrm>
          <a:prstGeom prst="rect">
            <a:avLst/>
          </a:prstGeom>
          <a:blipFill>
            <a:blip r:embed="rId10"/>
            <a:stretch>
              <a:fillRect/>
            </a:stretch>
          </a:blip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A303E21E-A021-48F4-92D4-C381C91D7859}"/>
              </a:ext>
            </a:extLst>
          </p:cNvPr>
          <p:cNvSpPr/>
          <p:nvPr/>
        </p:nvSpPr>
        <p:spPr bwMode="gray">
          <a:xfrm>
            <a:off x="8371340" y="3456821"/>
            <a:ext cx="154696" cy="2502177"/>
          </a:xfrm>
          <a:prstGeom prst="leftBrace">
            <a:avLst/>
          </a:prstGeom>
          <a:ln w="9525" cap="flat">
            <a:solidFill>
              <a:schemeClr val="tx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ACFEA1-F878-4561-8CC3-A68BA482B8D2}"/>
              </a:ext>
            </a:extLst>
          </p:cNvPr>
          <p:cNvSpPr txBox="1"/>
          <p:nvPr/>
        </p:nvSpPr>
        <p:spPr bwMode="gray">
          <a:xfrm rot="16200000">
            <a:off x="7738286" y="4344985"/>
            <a:ext cx="1024128" cy="2419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100"/>
              <a:t>COGS</a:t>
            </a:r>
          </a:p>
        </p:txBody>
      </p:sp>
      <p:grpSp>
        <p:nvGrpSpPr>
          <p:cNvPr id="69" name="btfpColumnHeaderBox681148">
            <a:extLst>
              <a:ext uri="{FF2B5EF4-FFF2-40B4-BE49-F238E27FC236}">
                <a16:creationId xmlns:a16="http://schemas.microsoft.com/office/drawing/2014/main" id="{5F3CA574-FEEA-4E9E-B6D2-35F06CF6B2CF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361511" y="1268413"/>
            <a:ext cx="5495528" cy="318997"/>
            <a:chOff x="6366272" y="1270000"/>
            <a:chExt cx="5495528" cy="318997"/>
          </a:xfrm>
        </p:grpSpPr>
        <p:sp>
          <p:nvSpPr>
            <p:cNvPr id="67" name="btfpColumnHeaderBoxText681148">
              <a:extLst>
                <a:ext uri="{FF2B5EF4-FFF2-40B4-BE49-F238E27FC236}">
                  <a16:creationId xmlns:a16="http://schemas.microsoft.com/office/drawing/2014/main" id="{440CC770-A2BC-4C3E-A0BF-1C08A801C3BE}"/>
                </a:ext>
              </a:extLst>
            </p:cNvPr>
            <p:cNvSpPr txBox="1"/>
            <p:nvPr/>
          </p:nvSpPr>
          <p:spPr bwMode="gray">
            <a:xfrm>
              <a:off x="6366272" y="1270000"/>
              <a:ext cx="5495528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>
                  <a:solidFill>
                    <a:srgbClr val="000000"/>
                  </a:solidFill>
                </a:rPr>
                <a:t>Aerospace Prime / OEM cost bar</a:t>
              </a:r>
            </a:p>
          </p:txBody>
        </p:sp>
        <p:cxnSp>
          <p:nvCxnSpPr>
            <p:cNvPr id="68" name="btfpColumnHeaderBoxLine681148">
              <a:extLst>
                <a:ext uri="{FF2B5EF4-FFF2-40B4-BE49-F238E27FC236}">
                  <a16:creationId xmlns:a16="http://schemas.microsoft.com/office/drawing/2014/main" id="{3E07FA20-65E0-4C98-B1CB-4F326EC2AD5D}"/>
                </a:ext>
              </a:extLst>
            </p:cNvPr>
            <p:cNvCxnSpPr/>
            <p:nvPr/>
          </p:nvCxnSpPr>
          <p:spPr bwMode="gray">
            <a:xfrm>
              <a:off x="6366272" y="1588997"/>
              <a:ext cx="5495528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btfpColumnHeaderBox328408">
            <a:extLst>
              <a:ext uri="{FF2B5EF4-FFF2-40B4-BE49-F238E27FC236}">
                <a16:creationId xmlns:a16="http://schemas.microsoft.com/office/drawing/2014/main" id="{8B7D08FC-263A-4E9E-ACB0-ECFE9E86CB86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334963" y="1268413"/>
            <a:ext cx="5495528" cy="318997"/>
            <a:chOff x="330200" y="1270000"/>
            <a:chExt cx="5495528" cy="318997"/>
          </a:xfrm>
        </p:grpSpPr>
        <p:sp>
          <p:nvSpPr>
            <p:cNvPr id="70" name="btfpColumnHeaderBoxText328408">
              <a:extLst>
                <a:ext uri="{FF2B5EF4-FFF2-40B4-BE49-F238E27FC236}">
                  <a16:creationId xmlns:a16="http://schemas.microsoft.com/office/drawing/2014/main" id="{877215AD-C8CC-4756-9643-D1ECB9B72907}"/>
                </a:ext>
              </a:extLst>
            </p:cNvPr>
            <p:cNvSpPr txBox="1"/>
            <p:nvPr/>
          </p:nvSpPr>
          <p:spPr bwMode="gray">
            <a:xfrm>
              <a:off x="330200" y="1270000"/>
              <a:ext cx="5495528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>
                  <a:solidFill>
                    <a:srgbClr val="000000"/>
                  </a:solidFill>
                </a:rPr>
                <a:t>Aerospace supplier cost bar</a:t>
              </a:r>
            </a:p>
          </p:txBody>
        </p:sp>
        <p:cxnSp>
          <p:nvCxnSpPr>
            <p:cNvPr id="71" name="btfpColumnHeaderBoxLine328408">
              <a:extLst>
                <a:ext uri="{FF2B5EF4-FFF2-40B4-BE49-F238E27FC236}">
                  <a16:creationId xmlns:a16="http://schemas.microsoft.com/office/drawing/2014/main" id="{5579296F-4E50-43C7-BCCA-3062E589C548}"/>
                </a:ext>
              </a:extLst>
            </p:cNvPr>
            <p:cNvCxnSpPr/>
            <p:nvPr/>
          </p:nvCxnSpPr>
          <p:spPr bwMode="gray">
            <a:xfrm>
              <a:off x="330200" y="1588997"/>
              <a:ext cx="5495528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btfpStatusSticker902960">
            <a:extLst>
              <a:ext uri="{FF2B5EF4-FFF2-40B4-BE49-F238E27FC236}">
                <a16:creationId xmlns:a16="http://schemas.microsoft.com/office/drawing/2014/main" id="{87FE6795-DCD6-4C8D-87F0-2AA1E5018F29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9952405" y="986786"/>
            <a:ext cx="1858330" cy="235611"/>
            <a:chOff x="-3760453" y="876300"/>
            <a:chExt cx="1858330" cy="235611"/>
          </a:xfrm>
        </p:grpSpPr>
        <p:sp>
          <p:nvSpPr>
            <p:cNvPr id="75" name="btfpStatusStickerText902960">
              <a:extLst>
                <a:ext uri="{FF2B5EF4-FFF2-40B4-BE49-F238E27FC236}">
                  <a16:creationId xmlns:a16="http://schemas.microsoft.com/office/drawing/2014/main" id="{6A41EE21-95D8-4BA9-8F22-D5ECBB1372CD}"/>
                </a:ext>
              </a:extLst>
            </p:cNvPr>
            <p:cNvSpPr txBox="1"/>
            <p:nvPr/>
          </p:nvSpPr>
          <p:spPr bwMode="gray">
            <a:xfrm>
              <a:off x="-3760453" y="876300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76" name="btfpStatusStickerLine902960">
              <a:extLst>
                <a:ext uri="{FF2B5EF4-FFF2-40B4-BE49-F238E27FC236}">
                  <a16:creationId xmlns:a16="http://schemas.microsoft.com/office/drawing/2014/main" id="{884F8526-3BC9-4175-8B82-223F02025AAC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3760453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04538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btfpColumnIndicatorGroup2">
            <a:extLst>
              <a:ext uri="{FF2B5EF4-FFF2-40B4-BE49-F238E27FC236}">
                <a16:creationId xmlns:a16="http://schemas.microsoft.com/office/drawing/2014/main" id="{D1146E80-4D4D-4692-9A3C-8948EB0FCE26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42" name="btfpColumnGapBlocker453498">
              <a:extLst>
                <a:ext uri="{FF2B5EF4-FFF2-40B4-BE49-F238E27FC236}">
                  <a16:creationId xmlns:a16="http://schemas.microsoft.com/office/drawing/2014/main" id="{E3A3D664-F491-4EFF-8A9A-67283646597A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0" name="btfpColumnGapBlocker838642">
              <a:extLst>
                <a:ext uri="{FF2B5EF4-FFF2-40B4-BE49-F238E27FC236}">
                  <a16:creationId xmlns:a16="http://schemas.microsoft.com/office/drawing/2014/main" id="{F681A622-87BE-41EB-982F-72978EC95D9A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38" name="btfpColumnIndicator444258">
              <a:extLst>
                <a:ext uri="{FF2B5EF4-FFF2-40B4-BE49-F238E27FC236}">
                  <a16:creationId xmlns:a16="http://schemas.microsoft.com/office/drawing/2014/main" id="{B8847029-C085-4E2F-8041-61474D58FA8C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btfpColumnIndicator570730">
              <a:extLst>
                <a:ext uri="{FF2B5EF4-FFF2-40B4-BE49-F238E27FC236}">
                  <a16:creationId xmlns:a16="http://schemas.microsoft.com/office/drawing/2014/main" id="{FE0CD5A0-623B-4F8A-83E9-9F88632C5532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btfpColumnIndicatorGroup1">
            <a:extLst>
              <a:ext uri="{FF2B5EF4-FFF2-40B4-BE49-F238E27FC236}">
                <a16:creationId xmlns:a16="http://schemas.microsoft.com/office/drawing/2014/main" id="{DC7B5743-36AA-4DE3-B690-76DE5A719C01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41" name="btfpColumnGapBlocker118259">
              <a:extLst>
                <a:ext uri="{FF2B5EF4-FFF2-40B4-BE49-F238E27FC236}">
                  <a16:creationId xmlns:a16="http://schemas.microsoft.com/office/drawing/2014/main" id="{B64C2580-8209-4578-8B16-1165A60F4D94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39" name="btfpColumnGapBlocker683728">
              <a:extLst>
                <a:ext uri="{FF2B5EF4-FFF2-40B4-BE49-F238E27FC236}">
                  <a16:creationId xmlns:a16="http://schemas.microsoft.com/office/drawing/2014/main" id="{BBD2A106-8348-460E-8C05-89A711C0F8CE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37" name="btfpColumnIndicator272114">
              <a:extLst>
                <a:ext uri="{FF2B5EF4-FFF2-40B4-BE49-F238E27FC236}">
                  <a16:creationId xmlns:a16="http://schemas.microsoft.com/office/drawing/2014/main" id="{EB818ABF-8DBB-4BD9-97D4-1C8BD15329E0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btfpColumnIndicator634028">
              <a:extLst>
                <a:ext uri="{FF2B5EF4-FFF2-40B4-BE49-F238E27FC236}">
                  <a16:creationId xmlns:a16="http://schemas.microsoft.com/office/drawing/2014/main" id="{9052D7FB-1464-4D7F-861E-4CC664BC7F26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F4DEA5C-E934-47D5-8EEA-E859A76E3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Illustrative auto parts supplier cost bar</a:t>
            </a:r>
          </a:p>
        </p:txBody>
      </p:sp>
      <p:grpSp>
        <p:nvGrpSpPr>
          <p:cNvPr id="15" name="btfpStatusSticker105656">
            <a:extLst>
              <a:ext uri="{FF2B5EF4-FFF2-40B4-BE49-F238E27FC236}">
                <a16:creationId xmlns:a16="http://schemas.microsoft.com/office/drawing/2014/main" id="{2565E4D9-A0FF-48F2-9243-3E0BFDF45B33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9978976" y="972719"/>
            <a:ext cx="1858330" cy="235611"/>
            <a:chOff x="-1727845" y="876300"/>
            <a:chExt cx="1858330" cy="235611"/>
          </a:xfrm>
        </p:grpSpPr>
        <p:sp>
          <p:nvSpPr>
            <p:cNvPr id="13" name="btfpStatusStickerText105656">
              <a:extLst>
                <a:ext uri="{FF2B5EF4-FFF2-40B4-BE49-F238E27FC236}">
                  <a16:creationId xmlns:a16="http://schemas.microsoft.com/office/drawing/2014/main" id="{9141181B-8BA8-4BE9-B25B-02FF87635268}"/>
                </a:ext>
              </a:extLst>
            </p:cNvPr>
            <p:cNvSpPr txBox="1"/>
            <p:nvPr/>
          </p:nvSpPr>
          <p:spPr bwMode="gray">
            <a:xfrm>
              <a:off x="-1727845" y="876300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14" name="btfpStatusStickerLine105656">
              <a:extLst>
                <a:ext uri="{FF2B5EF4-FFF2-40B4-BE49-F238E27FC236}">
                  <a16:creationId xmlns:a16="http://schemas.microsoft.com/office/drawing/2014/main" id="{8A343390-8D47-4786-8327-3BE8421AB3C6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1727845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10" descr="Enter Chart Description Here:&#10;&#10;End of Chart Description&#10;DO NOT ALTER TEXT BELOW THIS POINT! IF YOU DO YOUR CHART WILL NOT BE EDITABLE!&#10;mkkoexcel__~~~~~~~~~~False~~False~~Falsemkko__4HooU0THZk28POP9trq+pbTvvzd/gcV8t56cq85kb3NDTsUhojRA0EsgEHHMH7oYP1SYpn09ysXVivguJdhTvfyVMsBLTGvcX7WPTor/CmWiWcfk2RmY+GE6Q6T90sFUr0lg9IPP9y8umrse/9AoLT5R0GKq+XM9pr/aTyOTf0wptcuHbHxeyqBm9svU01qeeEM1v0hpSHUgirOnAK/wunjZPmzVPPwFyUBDlDfxgncyrn26mfUxYRA79xbk5zo/zvtIH1wUlJEoc3ym/tE0R7TFuylI/Ka2jPa3hxGxqIcsuoAMr2BhzJBCBPZe4yurIN19wt/gMUjAGy97TwjZifIBF+Hck3maX8bxqwmWN5Lz4DqIq7RLGwL8cJPdxHxrFyTKy81ndsieYrArIDksaybtutEDKS7lWtJ6JAcGZVRCI4SlTtmuy++sF4Qk1arz3+8FEg3sMj9Rge/ETmV4S87SOjLD+N8VBYalxY0z1S8o5Esh2vtszQhq6PM/KUiCgTiawqZOnsMwPF6K8NgMaGiiljxnxJxeS948ImFuUT3uzNGd1gayHTiTOuJzY9Z7upIF/Sp93Y5HcILuipsOZw6BMTc7qeomuS9cufKTQ9XGlX5EpH5Gio8bkwQop3J/ORBrha+4zQVmdBH9XgyWwD1b4eftRzBp+gnKtblf97cRuTQLHn/96KqFblgSLW5OOkLYbN9raSkg7PArrpoyjn61xTjh67QEqfXsbNGALFwI03tQt1Qcy0k6vN3ISB2Y3OUIOIPVlNwxmYDHf+3mNYx3ojzo3yQk7aXuGJEIUwGWjhxbBu3shGViqa7nliyWtEVwufs7QLbxL4lAEYMIaw+Y9UlyRfdz9vQmW3PaWnSwU63fEhGzCDJ78MPRpXCzMdxglLr1uBgs7YFrM1OG/7JacAPfz4kI8EceTIjwRSfLE1f0FczOJyLl7O/zJVnkhXbh3zTvonxKAdnnf8Gb2m/RpNrY4tKfJTUt2/d4c6lsGCp5uhDdO5WjamJjo3tKMh7jPP+CBH6v1nZqrNlTtOtYjkdSX6LZ5ejsbzHO8a0UB5XcRl/ponN9W+2meqn9AaOET/kk9sBgE3ZefCo7kn5G/3nFXoWaWlxvQKEBo+mhxcECPb+60xeFZvp9VMpC6Jyw0IB/qRjL2t0oy4Knk+SYIQLq5exo5gqg1erUWSs17hvSTWjcZhb4Hk7q8/GMoep8YT6MusFXJsMLCy5HGqnVDJG0xAzn1ZKMvR7zng5GM8GxUFSQU0Eb524x6mVcysPhex7xVZgbQ4GggeGVygJzE7IBr32ga5vmlbdAIldOoDUU1gyn+S0OYfuVu6hVsysvnv+iPTy/xRPnrHdbOOGwDuR1yOsHOH5RYCo5A1u+MWcyb8b5oixrVQ5f6qz56XfcgklOBFADuv+ObDmaKhxysPo5PfYgkNY8iqD5FGNhhNEvxezYZ8PiPW5GKIVcPd055XvaL7Kqdcz38DI6uk1bWyPp8d0nJE7HCwT65Wu1biKx/kD+Va/+uZMWsJQWljXF/9kiSuxLxIaOPMHgypgnBBv9SKo/pr23elH5B1kop8mo4hZr5fBYWrr0cKfv/Dy/jNK1PJSQ6m+YlQOxjCmdWPJGtcnHSkTjC2Pb84n96kP182VPZRutWxplM73OvbBhV1fRdkiKeTYElTspj1YKQLvxzhRki85pX/z8l9iUHHHOXL+57M9Ez70Y7aZeRkWopMRe5FQTrYLCSCErZZjtfhG/a5i8ll555XWuotXM7u6Uv58BC6wbAk9QfrJAVZHIGhpb8F8mUYF0Y6BX85R0pxNlx7O6U4fDjMMukzmZjlpN3f9xBaiCiDvvxTH0JoCFrVPhUTYrmdyoF+nNU8H6HqmIqDpp1DFRMR02KRkUqBLppAnswnd+YBfNPpkVf/8YS6zWCOYlLGZMzW5H44sNw/xWaOSXudte+QJNyMz8xQgEfRkEMD7vW/pM2W9ilc7qpXf232pEgnZLe6btUAhRsc+ADuFSeVNO/v2m5vcJCfVVcep97LIoNTLJZ7sZycfggtn856Hf22vGVEQ/PmTaX7fPXx/DVK/zK0wxXa8JH8jweWk5TaU0vJXTXDffU9SL9cqeKb+Qefcj0ubEse+YAzGuZrydzPyazo7scjq5R7Hv6tFmEooz67fIlJcOJCjlPyGhWQWc+gNk+8ZuSM/N5zxQX3HC/BPqXNvohcSA8DRpIy0+H7xq2mysSBNM5LAZ3hnI9+bQHTMwqgb8o7uCdSa3l3Q4i9enICoSQiyMut4q/PV0fkokcphokfPd2k87mN/AfBrL3Y5G/fnh5a5X/uzNfeaujD/BJ3KQ2uyuD24445JoVxOWnEWSJ0B3kIH/YlkmnnBWihL0WmejyOpq06bumROlZgHlGKC23HX851t9lalXlDvJpZyyBXdlgJ6ggJwcm6oEVR2FbfQEnH41nYKm9i5X1zSK36J35XFwpyURJnSi/DyphBsvJEvEPx99FfnqEeUW/xxM41LtZRuGbFerbEEBG2fkIJxF9UXyhFYgXq7Cz6KiyaazrJFtiPSdcEED4mnSHIVm3+qNVd4ttctn40+b6X8fIKNeSLROsGfSEzrOvzY+P20Y/Qthl7nB3q0JGoZBD5kNqxcSyMcD8shnKRJzlV3wgEX1j/pi0+6rc4HiYcAPEV+5SXx84W7Mn//J0TMlbLQH1LKvsxLGVgWZPxRyJSrPyklV3X/ms3CSKcPncMwoX+RhbR18Y9IIIOpoEpKQDX413E4lsJDu+nuE8z2m7OfNLJB5jU25IiWlKFLeQ1eBrNO/xyOewyADLqoS1ZI3WDHa6PGzWiyuqGfaemUYHNC5fgoe6TrWEkEni7HlL2izzuSG11EhGb8JVjdgWXtxQyR4r60GUrcNhdRH8vEP3qfqMsLDB/aFArR9OKpNDCqiCHlHe1csSl4jmvRWLKb2+VSUIRDEZyJlb2zYIKMFpw+IBmvkNquBI/6x2ZdzXrEP+UuvZ1cRkNc9nP2l3Yh0LHcvUIWkg1iUKqynxJ3WCunshIhtREj1vBUOKOKJzaRe+H8WUCFkurkzAMO9SDQvkDUV3/j6x5EPpESOlaB9fWhx6LLNJhYOe/DSRN4uPn1QAiKEFUwa10p7sqxUcZiyxZeptp+jWIg/g/ybKZZTa4lZeqrQi8E30g9zD3HzmvEvBC7O9w7oubHYxaQOWn9eAgV0ZjoVrB9OfSM0fg4D8cocgH6J6e8RRAi2pBCfaVlaWdU+X+n7A1yYS/Zlj1GmiMg2AFtYrurQFtJFyXvPdAdGBMlsHx+rYsh1RMAP4xnQigw8X8vhFJn/UNayohZpZpcYfj+iwx7z8gxc8CnJr2+vPI6GZAiduIkfnV5l1ur97txauNqq87q4U1ijPqPFPG/D2V733cusx1qjp6bEYPGyXGNTQaxqiHqQrxkuipfgdIFpr2/HKaCNW9jn0iioqyIN3qdhdV3REy8uDUotSNG5Mzm8oBSf51vEqlzqQLzYsq8reBzgy2149WFtPQvZw6Y39M2xx+rlQsRQM1SfTRYxwKUXHCK6/cVHJ5X3ISgbI2q2NkaQTcY9S2YyWO185VjMuJ7MY5avFj309ox85k28yyUrhiy/sjo4omzw87H3vrxPX17W7B8IO+4mdacUUYV7+TO/whIT7lQa6DtMlSgSFtv56yts1fAdAl3FzpeUbvzADlnPPTamtVuNEZR6GZeMz9cFXH0UyuVVb9Ba+fBEhoqsZ9+7LKeq5NWPrOjAcR8lpDP2rEREkBkBtiDMf+ZJbnn2JUtAkRjfEQJwhXNRzoaJ7D+3L2TQ4DF0ccxRXsfv/DR5iQWsu2dK6um6oNna4Ftr4bBKWbsTTz3y7BPB4C1QnfziMw7b5KCTbXjEaK93sEh22L5ZQLSuiNthRVEJ9hCLn2CJX/eAe1vryk4vHZIsPZECXsze9h/YjwjZdkn4ikymasXpWZaygH3Sqxez9DSKQYOfREOo0P3Kk1G3LZ6CR1D2yAJgoif0UkN0X5pr0Pd1SoQCtAjlC+sZjlfWdWSx/QGxUvNiKSFraJ4bciJuaG4Oe3QmqBDQaAmWMW+GkaxfB5hL6W0j5BP43qXjwe/kL6c5Y2liL2VNPIs+ud6CADWXndv31RNlfGXE5bTfRRU7b6WgXyuBcGV6Cqd2gwqsEjty5CPI1kGzsGDZ7Z1OMd7s+ECXevYTsikgAwrM+M9eYeQrVMxfGE3z6p95fYm14r6ekobBWbmAWxvSuVShIcMsWMo/KV6syMAZphE92FSuC+U7fWPjZy+lTA1aUMle+QuKMVnQ3ScLlUMIug6Ghy7A94Bw/QWXFbKvs1aDH+rgt37aXfEVgq6lwJ0mp5VZY0LdWdYj+c2mKavPspyrlebVQH8dshUyYTQr+5+a/wOiKOzhi7mIniE0m+8tP2551AxrfbTARefCU4lyyYeCQsavwYh2ZvL3rwjaJZleLEJVTQDY0K+hiLaoC7MFZ8zOsCfkvyXEfq5tLMEbH+xZqABO3P/xvToFEte+44jqRNarfzjNaiJ2PRXfb8KOFJJPdt+lvKIWnLPga04ZJqc9DBLAnLhMHTwEPXMH7u0yoEQDcFZKW8kOfc3Hwxl5T1TC5zTZSfzdtZh3Tdd6SrlgbW3ED5Xl283Nna2RmIN100uE6QfjnLa5hBVXSInHs8+ShyOpPhYQRWoEJtYXAhb78F7FcJOuUc/1FXYYQLYk2pSd6cMlfpfdbzt8FGwA+/XW0+UsPKxKAB4ozwt7cp5gnHYt2rDlwDbs74CZ/THLdSzQ2IaB5NJGlGkvmdta1DLu2QYA8oQlFgurezwJkhyGFogjtiTDSmNPX/RrMFY0q/CaThKYkHx6oup4i5WCKCjaesCottuTUssPjQj2pu3BAlD35BWsQVl4At+CVkqeOm1XD7/Vdx+RfMZlXxmmjRW+7Val6WeGTzy6xcIYo2njZPQkPxBSEv/ef7CGf42zi8OVuhdkbaopG0Ng0M96RkI8l1/f3Sht/jOBfa41AsoAON4Uli1dHYgcsS9NC2+KUW/VIt4fLBdY+7rUT7rvi4gPsZrpz/W1HZvccnBieQ8eiQ19Du7PRn8B68GTXrQGzN3nQlHQFuS953MXCXX7Ialac5aOKHYxYodNqcqRVSI/xaQT8OhxzPrjZJwyvh/s50EFl7vMT/FkP9A9SsiYNYWPbKsd4frxCDSVMLekRsEsybyUdilQKAeh86/Oo3jnGyrxJQp/nIEWDwYfFeWKDoFZebcIw/yuQ8JgsR9WRRUkVEhiinN3SBux+wEYtvfoX/fUDHio7/zQ9U2RKNMMxwsFnain1HW0S9ZbQgOKxi8iKTl24QhCwSzmXzgjPUYU51AeP7sLkr7L38RWg0qJ7qLeLS+qHrZs1DZlRvTdwDtMXiuo+7NwDZmTQyUVksi6viu6KdgQgiQICba+G10ZkGaZ0cDgk7lKAqvLJyUtBq56X9PgSdyhQxHiv0zB2UhxUVkb0lTzX/HR4WQCq95DIkEHpffipb+3BstlXA2CP2pglJ07c3qLX6klpk8CCFdUHbmfhY2Ey8PKRwnhrEvlH4U5hkIVHhRE7vSL1y6ZVNWP513koY8d0YdBhIAvtVUSclIwd4TFvbd4N/s5EEWX47KEwNUc+QOj7D9NOV1bt7D4xZTSZSzRPpSnZqjHt7SUlcyqnqCRBZVF4RP9NyQ2OfbKSujTH3pNONhLh1LvSH+ltSmCGmbHErKoBXYTiRGmXSe058cIzEHE/Y4XU/t8hQDDJnVHB9KQxjprSV7moszBWD+XCaBs2Z4fgFNzRnnqCFmuOztjnnK/nTkX0OOj3hvNUcGiKsnajXNKrRw1YEFCHROt4yFTbmcBnsLbXqYftx7wmNfo6yVq2ULYn7/eYgiWk+WTyuFcWj8u8OAKY9arKYMBTx47BAoSsjScDMqymSbycfJAxQVuZk/ShwHGTDqHBuNyewE9kA8454m7PCBlaSMFVFyHdJ3t2xhAK39CbaycPe7utLr6AC+msSIDDgkcBLQK2JvqRAxDT4vTb+qh5b76cHh/I3PbUd4+v0cbhzzia4gbMGvo6NYW61geRAcgsrIwsOMfArSCSFHa5VxyQeS3Y/TwnyTYU65T9o1LnhJPhDBqH9wTRi25stlJ0o3KZDDg8HAxBRsONJ21KqacDEDZEq8i7I/OfZDH306ml8RrjfCJChUQnVjw2C9KNesp1GPPsXNJymNvbbUHKj3ZMdxCJm7+LAbR1HL4OP4w0jNSP0mhsuTt1VycIMatVZet8e4sKOJU6TUrJ8WvVWJEMVnxc1Sh2FYSIVpe7EMbjMnu1Q0fi6TADemX3zGx01zro5xJ3qMQj/PTfUMAI+8Dm01NGuvgM8lKNriT7nmwj7tdoEc+u2YN1Sjcp4zzPAdSco/cE4/Qr6rxePHHTp6aH/CH/b5Apj/JrLXRrtB1cD6FcuS7pVRO3t32+8w+BOb/tL9/8S8SQofBL82R7bn4l6jDzLul1TApSpIfa+PuMCACln3v4hBiu9Zo+WMyyEhUdn2eTRnCQMwraSOcMBrgXD14eoW+XbssRvqVv22CQaJYQk0rI8ilt6HRPZ/bd54Ah19BzydbDZbtz8qAT/NpIAcivo1c8rvM07W7X3OTHh4jglTwbLRFePdUykubLhLq8uIc8BZt6JdCeD2WZxqB4nVEFuziz0ZN1D4INrxHSyQRSDV/n8airC6rGEKmWbB4j6xWuk1HX1e39Z20HHkHIxjndh4hLkDBL0KXq1H51n2exqATKddWAqHBGBzLzSSOemV47WxWsXU18Tl8Lo7llrSk0Pts9Sure6ohuOs98eS4UXthGD+/KDw4xHIAYMozqH933luFAza4llVhoFNUNwpXb0T1yemE24G62qiSXhi1Cpj+UmG2sw/ywKRUnCju8+IOZyB3Nx90VZVGBraKatMa2DKEnLHHe0CaF+HUKCLJP29csPVpD/okxU87KMeqnUca+a6dLpRq5duqZqFbQTrthRmLE/9CpYoAVBL53rjDf59eH6VwvKiIumu7sAjiCS9c24l6aSCnlcvKWI/M5F8O3QeP69kBYg+nwbhLnUBr0ww4aIZU1U8YlLCQhWyJe26jhsaBbc9Wmr4eOChzCwGXcMrZrUbAdZIOhDWoTNWJlkZj+appfDRYXpVSXOfTRuEgoSknVBTw9opvxvJ/1N+zpJVAFjrPXIBeE6kWkP6SmW6dQompw/i9eCgtIW5kxlli1h219JJQ9/j59KygbZDL9927Yjw1H9hNRNkikigJnxBf84WiXHzq3z/J1OcjEx+SsXeiXyYbCIuid0b1T6l6Kz42gjceqrZrvhcAmNayeYN9t2nj87SMInMrL8AflMaWF1LfZVkRsVFc7p53IBknbRLxQfvV2otIGLyL3wZ4RjgQWpQIY1G9fXqm+fFfDc593olFItIG50KhgEnhumuhkYvpG5dEFkhmu553dx3JzUfo5vZhn/Zd3986AH+y9YlkJR1n1gOy0r95OFkhOrl2afPsvCqqAdRdj8ILIGem1PEWx2cql5IEJn7lxhGg2oHrWYpZYkcX54ISWCllepqvcffwa+XnbXn1h6rwWDP6VvOE3n9tjpt28gMqIod1Nqh3F25OocUxgrS4dTIAmQ0/jS/vNxeqF5Lf4fRlF6utO4imOK+vhmhw93ka1UoDqc9vRRekDw159mLqD/Wl78kj9TMrSe851CSlmtrSvuc5RIyKhfpiwJO06aMLiBP9/WZQpudsUG3OuX6eT2ep5cqcL1balTcdpovw2iZSC13kxi0ir1HKhuzTWkEkGyaqiLTKg/w50j36Wq7Ib6M99wnJIf3CTSQlSvIZsEYHo5D8ieVVNOOysz07i/yZwTg4sg8tZy+OrFHD1KYd/4sE1mOk1m305FzJvFlSsfOdrolOSLKnk6Pd12Fk5MD2yMMnzh2O/zEe5yRUHwHq9ews6qx9+S16iXGpwmzKH9Xrci3++RaT/Cn+gLp40+XKnci9dd2cOhLdcW5fgeS9xS47HBRVTOJdO+mybfPsMAz8/wUBtT6ij8Rg3yBCZYnjDHoTVXHdplhbARuANeRZ1nc7cWhT9UFSve2j3z8EjjenbymxTbQ7OIV4VMNZdnms2v0/6y0/YjpfOKkn467wY/NZXwaRe1X8TymFJEm/DvtakWhs/eLt3GP2GsfJ6nQM2CtMceE1qIpavYVsR6OcSduAwbEBNEmQRIWJdd6eFeEmg/KosG3DM2t0RlZw2Ir2c9qDEPqyAx1DjgSEGzLVjBrWuOzEEQZ85K11jmkzbp9guZpe1YXP+W6H22R5gN1plcC21HIoOYfYbXK6DWEoaA6W7ovjnIfEma9qV3vAja8ZKYsueIw2ZYr8QlqFYUn1haQPywibYmdJV426Hgy0HBZBs9B7REs7tYQ64SHHYQuxzbxLWgs9Ah57E4lv66WLxbegvIXP6DP6/nva9fbpGsIyGNxjTEc1H4WWo9+o2t3/P3GBbhwNtLmv7O1xod2ESTIcq1pyGxd9tdYS9ccOaod0rh/iOAyNGkCi9EYIgOiF1kUVicT79ZJJXlf72d4C9l9ervZQV4pusLqaBY1D2b0hkXYHwDSYmnMpkTmlsSCIorCzPVeOax5C+VwtxCuyC4bH4v0dKMcQsHGIxfCqbFPnf8kszjRIVjtIBwu/Ei5vbHt+FjtZqhb9HLIzFCq8L2eXbRxQ81fvIMmYu2wo7WV1gJMqFLdXYqB6rpLxhJCJxGFT0baqKOlYBFox4Cxj+srviJpAd8yzDLYWDtVrcc51xpbN25PXh+wNcYjJZscps1VHaDeGUmII+2HegqqFMp2qxIosI+N0SLl4D6LGuyho6VdvF5YmhxOF2b9ufm2r/Hmqw10GMOiU7h5yG/cMcBM7fEHtrNt52rs/O1GsnkAF9MPQ9lJgC9WXi/KR3aBKN5pcLDrR94hKGG5oG6O8p6U3gvOuki/adJn4DmnIGzUW/K81F9H32k2btCusSpvT5e4ltI2nPICp0FTNUykpJoxGnlMcxGCtt7s4a2/fcfJ9gXRoGCBAwAJYXtDeq9UQ/9fB/KxfH1D/bmEIPFE+FCB1h43g8cq2/vqI4D5JbSTjKPXVvlzVNcGDV91KH/zSR1DnwK/OZGUFJzPMZj3knfknxQLbr4ctTEsvSaAXTuQqoIy0PtQsBOVPzBM5pk/MZtMh+tBZW2pIPVNAGiBytLoDYVETidWnqu88NMNgCsWJKFxkCbpZSYxWpJh2teX4/lB6S01CEfeQaBj//Cjzm6J/w6a94NsiPcG92gY1qW+xJXm2kofwm/juPKsIkBqeH15eoA9+Aficyj8E5wX7EvhJNyFNjyRqwN3hLwjcCDX+MxFP6TbCGmRV+QXydNG5+H78sAApo0iCsIvs5mUEMp37Rt9z0U2BN/0nNeseIaUOh3iJgul5VdcOybn839LY9UN5xO0HFyy2/aj15/5u9ZU5/a+O2+MOJFRzElVzlZlihfipQtd+Rjrh+cdvfrWi3vEK69yBMaLnQbdTcCHM9+NUnl3kG10TBi18l39KcjhcgKgaj+DaBZE6thrWu+SS6a6mQnqiaLE9/X/yyKAoAp9tRKUDjwa4kcoTBhWwDTMiGsZjG54eQafGbWTb2HK/irNmFWFccyUJ0hx0HQeaHgimdu9vhX3LbJxOhzt4SqBJQV0tET1pEaE2l5vJde5Zk9O2GiEiyJN6DzRW/F0GWzbpoZXd776yFVPTtaD4LM4bIop43vD7TjuINzI3iKIRFf8A9TZQH1Yd44XUkWQeRglQe/Sc50Vik2asfll3foWbXkk7eZwQh+KxVotIgKv6aVSDRuRaRxijXuobj/MHYWOeIu3xxjorGLetATf5JN+gbYDH6hFY9la2bK0U/zGNtl8IR7Wq+L0l5m2Y2G7KxwdU2ddwheBfERp2rFEfrXLA2faSOE68Zj/Ogt6+3t9N7+SOJLtKM4WxvUyZiDVpAOkGKRBmsQjdh/wWrZx2AjRdKLw0rkEoR6EDAXILU6s+2ZuFxCUkAIOutup3QGKpEORtnSbWRcP0MfNarpcQ2iRJC2iP4Tk6BUXlz6bkfyT4NkqBL35d8k2lU8eG/Rq++Qh2i4DZLkn3Dx5cH/oE8CECiObSlTeILrj71RGzAyY1oInc36+QqABcexi5a5GubCadd5/ZsgjIljRidTOt4R8ej+wnDjXTW/NJ5Xt2vTDNL2zm7HO0oheSWyPnDLi0aAy3TJ4bZD6l/LylGwJt5EcmLjZuOwV7cQj+NLNBzOKXxuJRTzd6QcmhL73+tv9dNYMvXKGhG1SexkWHAg/pEytMYFhZ6z2X0Znk62D1JnhxvHO/Fv2+GyNiFp4yL5wt8/abLUX10+/LejQ6K6WKFlPiHC9y3Qyow6+alvM49n54v61i8PLux6vrPD8jjsMfsbWo+5+KTPgDgK5Py8qjp4N+YloDWeN/H1kUENKwFp+RiBn7Or/Q5UxHiyJDVrZtdy+iEVFrIntaH+MqoAKTMQ80z8ZlIYcR+wq6JvFWuivV8Ao4np4W76aqEGYGMUukJSxUlRBkO5NLgLRxJzk+U7xkZcyYL3XbpYkGUSyfVn8sUNIeRH5d+4YURzpeG5LMLbU1bbk5pC77VyWrlgtzwCCMGhkWJOl1B2QSjm9t9nDQwWa9fJg4TmaA9Kxx92n4GVfdvLAg2Q5cSoExDz0e5BPVppP9zIHeQFD/KOzMqqYhoefzEFbQyOetgVvaZKv9IoX881e0xcMSQjz7ORnTJgAgMyBsWclXqp8Gh/WTnGzh/w861ec9Lavkn36pwki2oNoFjqJYs65mpn8u6acULyUomLloVNpF1+dSSmrQ+pPU/0Cv24Gih4RAkgzJYZhmp6ww74juF4k0Xl0G6wdjfhVoR9Pi1ZX/fT3Zir8xoyAoN10fHUyXvXigA3pFFnEo7WgujCzsXlOpxVAqsf10MEbSlpktKQ2OYV9pXVpKIHmpnLbp25HV9WFamhNlX7/3eIEpZQVgdV4JJm4R6l1MObEpoTjT9TVBM6otDYMNigHx9Q1i3SGQaaDDwjhYmwXZ8L61wLoXavuBDnylkZfVzmMTkoZmgwG61nDMDmB1iMqrvBO2yz5gwci0OCpwVXQp1YVbEPnr7HqgU22eUjN3wmppBT5Ua68AkvensnM/6P1aEUGlMeUKla73jRLa2IqmLyI89qGuDHeqYrYiTXCTECvos+2P6e00y2+GCotmkCIUb9nz+6bJHIfhvWBoDEDaZvtIT+54FbPt6sTf1HBbAqZGlAvOWwuo/hSVlrC/xi+glhy98riWp895QSWjs8O/wxXCFbyOFgfTj527VXLMeGzHhNe7wGp55/mwHI1ZGck2u5/OlZhdnmco0EanYL3mJZTDBAxu9yZ7FIKDxPBIRP6cgyzncyvoUZj8IbU+R9mTtnVDf2KK/woYeCjVWxHY6pM0JoMsPLX2CKkGC1hTGOoXm9oxPAu6O5xVNtThXDQgS15iBjAoHat6a6//1zteYj/AThkaH9DwZ1c+Ttvf6ziiaKq8h2YD25s2pNh+YIm2c4ufrjAA/8zRu87aobfC7jhqxTd12U5/p9AGmQuliuLnO68uZ//pCkdAnOKkK3IROWDKE3Z4C6DCVDF5MfHaUa+MfR9dQDsiUeVtQruHQzZlSMkx9D/IQXqicjvWwgwLP5w4fJaCxyaAEuSjgobnntqLbpdJGki08wQMl28cmCuQURBQpRMRQRzgK5rcznRm46nSACxNorlS+zMsz8vcGMKi0t9IuvaIAh2+YvXTMuZSY5ZjdbUgBFcWXl/w1fuT1rFvhhiTSQRug6lk4nhbQV91mOZ0jsoIQPOp+15LtU+MmnbdiiyBK+2Q1l3rPcseLR6kjYAqTVxI1IRCOJ/VTzMm6Q8d4Vem2i5Jcho/MN92N+n5PsvVBjJY707GzObKBNBMK3OZJ6yVFa15O5Tc52aGGTgbNw+UhO37gngmxflAOKcOd4tf8e3IAwiPMopFJePKLC3UMBs5ye8E7WBB5jcC+RX+7oKzcCg51rqoK0JMfz39YvGNsxeihV7ONB52ttDAHeQAMdLA9g0+bGFVwG8WSwHvAvzfHtk7y6CObu5+jgN2ZB7eBNBoMzdr+sF3XAcTM+s3suPXXZYSfaWzqsO/459hbInHorNSh5XCuVlKEJ0OfYxwnRVXPUdLhih29aVWZUyAmyLaIWBp4l3HsRLJ06P32JCXIp7EE3S6ACgiMj/0vEvfw9z5X++T8dU8DAs0RX19X3ic74GbO4L3PS1vVooSFGjs3vXb2vt+cHg9kkjY4+hhJNslk3tgbfI7YF/n0+oltGXROErS3C2Gsdk2nrDihzhXfX6Woj4momxW/AuCBZ1uKSoG8x88VjktIsI5sfb1xTRyPWQHj9jx4G0NJ8tvHAP36eHJfKl+qtd9MrOUlkSc3aMt3QMNBbhGzpiOzsaXgsrtrb0TEXVSdr93QrTZDsNYmSsMxw0vSPiiDkLmtu0riKhq/yGim/KFq1k8I6IUUnAQTQ1IvyKic4U001N3W9p5ImDTIOve9GI3pD3hWcgYFJ2kbYEUTFwD6UJDnGNmtoncW3JgZcJQmpqrmYfjMOurj5PO/J+8PZpmvzxXEcm6AVleogFs/mKES+khcT9y+/usBVJ7bhRtcezur0O9vdo1QhhJBE7TWWw8PlAos3DPBt21OQc4VNO1md0jqLp1V8/D1vYT0MaoccNTawf/lh3i3tpdsXKAN/mpdm0uB4A/Tpr6iEz1LE6f/UnMMwyDWgUmblmJnHUwzqhiaFDuBlDK9ki9gplfEvuX1sRxPUhjlYXZSmrfXghUpgDhmAlvEXZplQa64zNI/2msazvW7Z9+ZuDbMlJlKt0FEY1YeUbFJfu9P9AWU0Cspnklpxsy3hvUGyMB84etvWP3WnegkeDfAevyK5ci7OWF8OLk80iZDXfqSVrIaRWRMHX1doVnZgiO16g4ftlLMxaBGDKlqcap3PyANz7Q/uSu4daQSxACjyjRE9XqVsjvP+R+ZK0BO1PygKQwfx8FN3B8WToEVeuCoYlf5EJfUd4UUAsHP3bTOqal9lY7M98GOXjKq5K5NYSMRbckWtG+nkGdj+DG2L0IPIgjHP0N7jFX3/Tx9XHifyWwTdMNKuB00DOlfVml9exQO239g4VvXUD87emtT1NvxikSC8cm/R/uZljL/qnzrjJ0sAFY9M0abrcK4f1bQGZNM5kI3vsWdAMeviapwsjr7tUa3gSh1QO8PJzyxXkNz2lLKebGeiWdR0IJKu3F8CJMVEA9LbZVXVYwWL5Vfu7tcd7vBMfp9ufVPbOkwOxwev7O0vYbb2FphRgObJirPupZkVXssQH8H6TOsvpsmHD7XvvmeO9mtYqqJ/aA0yT8FijeN0gQ0Y0IbqnQQDJvexZujWZdl59Z90Qz5OyfTMwxho5u32wiRKpY2dCvsoqNg8jUvmrHVXpZnHbu0noxwN/+owUnE4QGomGZlAsMUORN+9huKvAVzGMbArKYLmpEYEWYTK7XOlVaUwBP4MMS1jhdXt/K1SkxHVsUwoqlOiTZHMQ5qieHZztkAMSKolZCK3XVKWz+Ho4Pwgf7ZX25LsosvtJQI0DO6NLnJ/wReW7797j1JTyUJBH5H+j91LdgQN85bORnfusWlxbvBEeWxBim8wlEwCGxe3RX5rkk+EvctGqbvTKFA/CLNmF8NlvktTL0RKtStGRBAPF5yrYnmb6k5baydZecTWSItRF3HRytSjt1HcorIA97D6TIUSUDCjcAcnCXs1ET+Sc+yFgccPZ2YjGcPOvWJltxS8rJ9wqD5afhClD/32PXN3Bv+am4ubxJxOsrTBXyANE5zm1QLGFulABwteIFArTtvVDRsPP5yE+f62qBfi3llzadeI7uH24qJJDjEwMqoqj6pO9HhjSksR4ZHVelQJsdDDwFFySiA2eV3/pO90zb2xrLtQyOs02DVPCUyGI70vH9iFs9eXv0SCoy/VSYmWXUtki9+ZB/ae7nL1lODTKFlvqYe2XFhlSCJkLgx1SLPeam2Bhv+UuRkCXvi7sK21AS6nrT9dldt8tJF/fgA7uyBY5F4NxrGwZiC4eXR46d28zBAkGs2QTgjucDGrMwFQ3YzjxThgJdld0rp4WupkqBkuHqzOOSbzO1ejxG+ta2YBwNJISKa4BLKqpIXtFz0xARuZ/h4Pgv7V95mR6xeIq1U/5hm+TrsbC5EXwQruaupI4nKHRZWdWS/SwmiYCLt270ePVC1LQKusnjgJLS4DEY9W4lZHtnlmv5WrrVPqA0GFwDPO1zt3j3VSTbG1c07VjqV9AVYpzZN2f36tBoJWOyRtE8rA0kz5kb80d0EBfXd2ejZ58Y8/LShLSn9O104VjOYJ6tSGRppMW3DM5kZ2NYEjb8/H75D5/Cznv0lSMvYP5yk2WZeewgSn4eym/uuN8sYzLuYY0R5wUxCj7ouHx07BCVPqgSETS2b7uDCQqfKZ8QnilBPnrRbcWHbYUT9irlVLliZHKLnCBGEqkyygRCGy/GXdzuCfq/vD2iRAiQD5tIUQ8fY68+ZftkmghxEVB+dSAD6SKhwH/tvCDnBO7Yc5aJj2jmSdo+ZjFOxS/yYfx2GHFCAxEZ1Wz0qdn5ktlG0Iuu7Gp1jd1jzuakwqyXKg1Xy/77h05+wxfjyKGe0I89uaDjhC4tIsuTkvV1fbK/WqE97oFce7Mwf0Xx96AfkbbuJ0dE8Csg+1NZpZz2kjQzEFriLjw+JbeMASx8Ah/+JNWtBmvifx1tAfhfXnbojTbn5K2T9o36dB486KWvQz1+Ox7bQM4aPg/6xlUX8QtPdYhQmJ5j+Vwyypyd79gmLPTF6e2pF6oP3m9+wPts+pzkr72BSesNyExHGx1+eKbNX2L5Kj6LWS4ZqqCjxxsE2VExRsbahngMu+SmWIy2AcnryYR8I1CzbhhCmYnpsWz5A9kF4IXtLzQRH8hqD8IAUj8cHpiR3PCPiPZ2pGxmdCmpLFP6tnTlHya6YUfvCvH3DS9fNZVc6bfhTdQScjWGdjzuFlf3LD4ktIcw3iilnSPXKyi3UOvPJ0s86erSM0jM40y6y2XExuVY6vkNXFMhjcbmka6iydycrTxytQ2ve9+mskIs2mC4pn1McyNBAlIh0ozJaBVIfI1wTTRgNRCbWBVYdIZPNmhffX9bhr92XjiKPLSZF6sGZeuJsUUBD5UtsUJAtKZu1mfskyic0nqPI8aNmlGeT/fIaRVHdica77ZAXbacBhHvlEzpZDkxmTuDnNlbh1fIf/lloz+TFq6JlFGOCOv2ly1FmuOOWV/eGkB9mAJKtUDnlrtB3nL1YuS3ptQKkS8tb3JAIwWAlG/YA3WHWBK+eajNOOyCLec+RTIy/l4ilS0hLOAk8GmBU6CMzmKaM3U1oFuAtBgzVqKK958mjLutpNDplhgKwqB29lPJZCORtvCi3x3dkKZjBvQtuJWcI4hk86PQuXNddUaWlggpk25WXubYWL8FYJ6IckIhtqZO61DCcKfbLlXtWSiQEyOLxI3pk7N2waS4Y16yStu3lTKdZU+897Nvrn1cpAgDOd/Cf2l/uBOx3a5Y6Nzi5kgTbGK/p9/9TnNUhbMDdqYx3RmnnwDvpn7hKuPrBQRSj+bZeNE22wwUOfbxxKg4fVEEpr/10X60v3T61AzhSJ79SrmgV6+07Ju+0K078PGKzgj9UsDQsT3W6AxjgKNzIhyfN6weV0o3EK0DXNKC+TdhcEOsrgPRiRHty1O6GW2H46+V+lEEbz93kILhXygPQfP2RJ2eLbksEbE0xPzzbHri/aVJf1zfzj8rLwBDr5l+3ZLKkmpA0mDscvdtERs+WyZsIS0a/mQ4yOFB+tWAH4gvibcHrATq2OO+Tb/ML2dq0POJ8+zLca48ps0sBm/q0FPUTqYEmrT53jGqZIMBmzQB/0dkWC7sVhJy1lguRAtiUih8yUZfY4ORQCODXOfQjKt57eIsFEKS3skJzlvAVQydsikL+TTrB4lSik8ABBLdtwabrOK5kMizdDhz6xHLF4TNpC25TDii/eKOXi3U+kC4fH/NwkjrifZhamz3trgrQ7w8m0bb7wkei7ZGdIT69bXQK0FS1kW88WN/8ggK6w5iVxdJ+12T+5FXomtya6KayfL/kwAmwuucc8osRQRjHPTY6dAH7FyO3DioUy5fOn9dWj9ghffc+JTfPpYi/2qoKxMlqKzPdC0qzajjGjPnhUL00srgdtVEVX3cauq105YoYE68O9nuWdieF3lO0nFCEiSF2oBe2btHP1pyZsCbjFfsIlyZdJPo3z5ZDse0VjT+e7X9sI1Iq/iGcNFEcA3SodI4S3oDT9OdGxtcNTaFz7s5HGnpBuB/pVMA/w5Ii1YKHl6i59cHt85KFm4s/XahBxoAwwc8QH0zN3OLb3CQ+DEG0HVloS0I3wIs0ASTsox5EnOYlGWvReS+bK6XzsHg+i2L2Fflyk8bFg5Vl5WSc8xXO6iXHINoo5Q1kzQO4PjvSroP+NkwGkTwyHqKHK3skfBFA282RwS2+jLmHbFfpBbxRB2NrFI82OE8CduS22MOiK6+fTSzVVisaPPzuQ9/VWJSfJEK0IPfW0mZCCKLXvxiuRcrZqLti2fmIvpNXzOSFfdVWDv7QVgtZwRguMS9Fehx2FxgHYSCBiuT29/nD13BnE+hQ/T7TuSqKfKwqH6yO4Bgzd0dP3gzUd48nw7mAAwVibt9/q7o836XNAxBifSbM39dx65wrlhDqhLeXawu6fuxMH+ftLao9C/1b84XCWZuyJheT+VbrhbVVXvpPUEySQzwJapPmcXw33nl9NR5ePW3XdhNdICWSvfqHfENh95/IXgLpemTJPm2jOzLoGH0PWTIIRQYo9REPJvW/9O7aSDvtq4e9FYLuzVcPXoG6hRCmRRLwsvg3Agcc6RNn+dIQFefVznHZgIkOwRZ0oshTPLIBEG56RdSoWsZ6GJB/j5mANztCXxXtsLAk1yTFSPiBESBQM0fOMuNS8l5mvoV3Rl3vIBPyijRlZKkIfB47XvK/yQLRMR3rl+w/zmVPXdz8C40x2tOWy0OhwbUcMDhPPNUYvpjbjeJW926ReKQ4d//2utLK778GKsm+6sdXXgEVgNYamSfTTJn+bFAlkdh2wpTEBC9FvCspSdF9AHy9TDes1meOs6CxR/MThL7JrW0dtu22hWhhHRwNhUFs5NIPdJA9l4NfX751NWZk07iNnQzQ4Ogx3+JnGkNGif3A5Fzd5zrCQPNmq/FIagoqJ6qFMPz56zFKcRDn7APedvtvcjgMdnPhPr4vSrD1aJS/PZ0Oa6sZRolPmQ1EENfbmPHVrrodLsKBq5NFYVQAmMtZ31G3wEw7yNUzY1oVnSYOV76HGuAC/vbePE7tlYdxRldQZ5n67gNjHMRxbKMkUFUSqdp/8mithG19ZbrdPEFD4dcN4L/1jyYAEWbE1OhJNhjygxvCT3eaSvgqtuHLViMW9KGztqlLKAGwV6JvMc3aSDKb4ZWBrRsElPQTllyYWPHxyL+OLgBHU6JEBLgFfcpMOuHZN+Ei2G69IdlKCxFi59jnIBANxMAXLw+R7L9TN5tM99USejzcJLjPcXwJSZQss86a5lzln8ozSRwSbGSnOSZ5aR2Xk4r+4T0/SO1w7HMuXcZ+N1iZACfh/pDrPLo5MTrd+Ntkdh/6AZ/+u4rXTUhxaEhXKmjlZUaOENcMma9e1JuGLTBsoyygY0shTX8szePTFLf0ZlM+S58BgnaRHEKhIk/HskXbn1qqc+UPuwR5iLYhnXfRdbaZLqecLErb0PGZa+jUKJQmm6JKH4vzRLysZ7mBq3a8C/V7nMrMN8zfSe0/kfCWpSJXeA+n0gZ9uSuq2PrVq7P6wOvLHVTWHng6KUXp2XBg0Z3TTk/LNdbzwCWJgMLyeodejgHxrC3NluKgU+Z9uXXJLDm1sn+5vy9yVbxxM8rgfUrB7wPr+w7+6BrrBG5IjTtz+RyR00X1ivXW5UP4ocxVQZ+LGYQg+PSA+CDlyHuZCd7IyVemmhBqHGodgFsT0UZDocUzlHy+esMnC1UwcpiRgW3IvVVNlFjueaz4FwNrqA+/mf2cATRzHeeujqqoROi+8xoASXL4hdeZBajjvy7thrQdkiqb6PUr8w7Ibiwk03eH/7dLcXic3wdnB0VzYGsaHJ2FQfqFx8jnnCyijgr1Jz19PUqcp9EXcXg8h4iAaoxgcZjs7kT+NXhQ0AiDi0TN9q8fMqfXvxzt32deq5Mz9ECY4e+1UUaCW17Uxff58T1T7RmIB8j2W4Jkm0j1tmm//8PtmTfb6fTW6YPC3+sL1x9nVx9N1V9Rim92F4jZSeJvZKIv9Vh4yWv0Fjx89kyTp2AlbXutgkiOqCwbkWYB3b45wXYGmm3rdycI2YBoKjvicnCtx1Rtm87/ddGnVcE7XjBdQblA4VXJYgJFVg8Z3Zg5xRsb6PooWSSDDnwFXbay5/Y0C1qaGbeBoFhKPzOgJM3xwUgks5xTTpyi5yBUlg7r/8MAOAtrnJPngaLJmTfnd5vyWPisxvBIlrOHY4Es/VOXo+MhHG8y39DGhaRtHbJoHsh+7D4fsB21j0TncJc6BEFA4R6ZO+4JTedOFNRNG6eZ0lJe3c7a8DqPKH0FWE24zN+HaCQtY4LL/e0x+J2/NRLYLutdeEb+yl1nBZe5040AMydBNhJIKyFrgrm8TSx1JZsnq82lF2C6zYsozozk3xioH7eNLPef2TO0fpZnLehrLCILofc2K2SrRKbhgrACsezTKaMEdpVM5Mr/Zw9Ajb64seH7C1OHgmcTNaGtuJ39zmB25B2QbKmRtLuKaNFBrf8BIXUkF+L7k7yWxvJQnDtbM7amTBEXGTCceQ4DfmdXLMAccVgtjCCjDxcRtpxC8mCFJgiLEzoJ3IfcJh+wqQT+/idFScdKvc8m1aQNx8L4JpDEeaOcEIgqBi9zSZ8028qM0fSnEVmof8JFNE6ebNr0eFF5SJbqA0NGDqA1GiNdU4GE0SM7OqS/XdS0ugZa53SV+UGXS1Z7vM3jDSvJ88kEScW3rd8+CBV2fq+lvWDPqefJlZUfssfq9PCqdtu+9nJM85JuwDTy6ISvAPiMEDNWY5zamrKg6kCxUAf0DKI9Ku5JSynd0g2z1GnroqX+NyWD0G6uDUozqxBham5I7AIuxw8+o8Z1Zak9uoJ2ulwF01lvXzq/xOKLCZZgZJ+nvDK+7gR62gMDmyQ6Sy1a60hv5ra7vQEfX21cAQPDNhDs5Gud86MILFF/0/4OLi2hgEg6Gdtu0dbJ7YcT/OPMVUJuuCuAeBO3I551TNEb/v4dfnpCqWSJ5p6322BILNz+dd2UkRRTKOInPG+Fni3ZupgKSi5DPzCSxExmrzZ6eeLfF76bYsDHLedZPiLo0bx8zbNqbw4XxGvgBVtQlC/i6j/9DXlcT6LV3H3wbCVsux1/kv27A/n9FjFzVRbv9Qxsx0Qiv5rXdvkyB6j6iTSbTry4Om2abMWuaItFlRHkFFvcGmFiF+WdvJ3Zq5xvbzLc4WfjFPLwWkuUqf53ivn1ek9VlY6Ack5lhO4dMSJ4dow1pzEe0guZjpIxjA5WdnLXjgLRrsA/tx+uisRBc0tv60CCoorcolA7hrxUJzg4T6ljevZL2scC/2iJr90Y2hu0ebOq47Spn26t/gRth3qDEoKwONjQVqatK1uB0q3CZkO8thyRmV4u7fZBQ0BL6yklHwZFathircy/WLu/dDpctP3lcWAADNdTLTf71P3ZGWaK91pNQmLpQEcm4jzJ4oGVWJZpYCZXAsD2YSANuJjElBb1z3c7kpSeIaCG+7/FO5poNoJIvIYk7xo2iykCQZVN0X41JefdHTVxY3IzYPFgt4fK29TNUiTLXTd/ua61otjNKrVDkNYSprSubtvkfr/HhYXzBWOZTiq5QqvUC1mdTJwO/A4ROVXvYzFmL/7i/jbJdT9WgqkjqRXRBKOJAQNkVsSiLHt/HnLXo0jhjNFRSgNnI8AmcXaOztrWsmxHtcpyN35Lp/nSdrp80xa2Y4zcO7IZGKVEQJgPwhv7j1KwkqPBbGAyWhDxyg8xRjyBPuKhXm1/5zbQ9cM5N4qn52ZPAuGmF+fYdN5uMIRHDhjf9k9nLlbSxOcm+Qh3R/n6p7Waett4pRlj7Eku1BWHpaw+Z2AfmzWZLYVGPV0LkyL/YNzAQbuUshldfOVD86Kg86HcaOFJn6aUJFckhKiWD+hfaudikcFkTbxDSnmssL1XLlfK/Fk17XFc1RhoMnOAMaSAYXe/YSD4Q96pVTIIZHg9Mekscc+FPt92sESdcV3vDHT06Ln9DE1RWXLqAlBj7GJ3mxyD/90RXQTMF+6YJ1DwuGTw0wyw1JBGE8sftDB8La5ugAD7DDnzSVMyR9JT4pKC1BUHrk49VbB8+KvKV16dzkUz7YPFeK58BbcfqzXybsEXMGeN0ffUHkuSLq37Nw6zEVuwFHfPGbdRqgyAIPfq8EULziNE9ObYCxSxG4ScN/et0dx4DAPgrx4rAWr3R8mlhnxSH2Al4+DhpTB87+amQba/aUh4Tl8eO4igyKBK/v3U2+D5lbQqTwtGcO9AjuLSA155vyryuLQfv8FRtRC5l6gXXBTeGYzwy1A7hPns2Nn8lSrmgjBcpYl6y5jh/8beU4IeRBj/HOMYYXcNKFE7FOH7iRaCq5txhRbb9zsWPFSZFXxlKZarZLnyXst8Cm8iUEdSwH0melcKAszvP1d5SIHs5RAcwaYCs5CZtWtJbH7VBCiCayfZV/S4kmZRG7RQEpKBbC3HuvQ3ECXTR1w2urKW0Yy1uodCVKfS/Bo+L5B9DpnEaUL5yEAyVXvMSeKIYGopnuzQFSQOKEcVCrUIsn+QQh+RibDpZ9aIlA+DIZSLGFSzaoNfpQD7k9Vc1v/Ann/pABerer5c61KwOeCkJI07jj8d3lt2U/jBbhK72nnyrpLqjyozgka2q4JJhtTRNuP7RK0EEtDixP7TYg6czNMfWAVZcrikKNLb822wIN8L8hAy+CPIxj1/Q4BN4MrTP2e/H/GT48XtqMo1gwJPrOD152e2qCcDC9YqUYmF//T4poG/4+6WmWOZcB3jYjG0JDXlO8IyyowOzs/P54OoS002CIxV+wiDYtI1qhhndI55LPSAM54op8WejPcYwnO80PzkbhEuiZNI9ERTeg0zRBG1Vpp6bchaQNH4BNJ3d8f2qQslh3m4NIfGlxqNV3YsGSrwtuKi8nIbQOdvPMCWObKA2jjThv/G6IZLoDYvtu/99HzwNASKTZD8WuAWADxkG/DyKQBs027reEdZuLcMicAF1uRrwW0GN86O7GU9bKqCoLp7O7JzxI6+IUs1iN1JQNsZ8lUJ7YpUcI2/ZPyUiSk9To+fuP+RA6ITqlNFc8efYQwt5Rvehk6JKKrlRdFaWlLDU7J13rVJQ6x+bXE2QwRZbQo6viM1327HsXL9Lw87+rF1ZZNPloSK28HO0JGynwzOT1vF3qf9V9uRMMOo/lFwEBKm5YxsGxm9c5A3npdZIQf2xrZy/yEGgzvs3ZhVyeA/bEE4fml/3QQ4yWep/HddjTasAVHlwyNIA3Icqutu1YgkHHKbNJag7jNz6K15JO1oi/WUId+o0WWovmFPFuaqlBlowWnX44rXuvMryF+9aiHaWYubav5MnmSHFYkuUoa6Fc9Kd5aXui+CDEnYrsGKi2ggJtgTe7YepJLOhglE6QBhU57pWX6ONzXhb34yDp42vEZ+2lJEbhPWdHCHwVgJyxqH9LiuRx986vQD4q8gq6fAix/4GsuFSQRBqz+C6v7m7Pv+EnQwaL/is9PERmq7Nve9yTH1lp9Ix0XfTKF1rMcCFkjgQ2stZwRtZQEipWk3u5j1YmpqQKBr4wljAH5sNXwcfNn8KqVBRXMu264AXUGLN7dZBVKuL/pPRmBVYyy+QdDT/hue646Dz0jvIjGxM5EciuiZnImivFQ6LofL+mj0RJjw8Er6l9rApS6cISRyw3rAt42wfWqtzEFqZJ87XncwsugIrtSzZi54nX6cma1BM+00lGS1A/Db1xm+5Vy0VqMmSNvpKgkWFTxUolyBBaY3XKw91rlxmlwi/oTJkU2ZnDYkSjSS58r/Djg+R7UIIvMx6nKkPjTpjNYC+VjRT30mtBiSOC/tyd2LCT83/BtVaMsXXbZwEBdfJPMbUYagjeIxCjEpKyQJSaCoBEmDUzBz9BjlLmqej7nfuL1QLIDQ1sed4rkgwf9mFi72tg83WWzvPPQqqoKZcfrX8P3jpwTa2Om4doilukeje5ItJ/bKCMsiYm+Rz83GG72i+1xYmNXbWWfcg04hABcvmqbilzlFphp13/AYAd7EB+9YF5FavcvOGhEkvk1QRM55ObKoiGpYk/MqrwiXB+qc8ROpSDPb60Se0mwHQ7gkd0owRSp/vZZcI3laHiFMEKNNjPYMmpHFcJ9weg/8lWamrl4zIiyB+VNgiOhf8T7nqsMFM20f743qNNEgC22wbjkvTuIZliNDvcYja2l/xOhzOabinZSFwj1xPJwg+LxrXF7apGcC4cfZlp6Zdk05zbyenQSgv03UilINUlW6ViSA/LyM8psMELGMGePq49ydmOQLtWi0GXpVIiGNfyTjvG9G2ADEfTzD6yjADJWLTq4c/Bd6C52l6ncSOF9CYvQZIrneW68UhqEejccUI2YQxw+i3KTQ6Hc/1XmD7LzvG07PUlWpi0C6E7FFHC2TEEEcZ50J41HjQI/PzaSKs64n6EUtwFf4Wc5sQMs7B0iGCtbo5osOsGxa8uVf0cj1+R3kbAdWI+vWC7f/z8L1yiKKxeFL7OJ0QRWu0barYGjQfifotViFlVZaZkAxSr53aNJWfgsIxzJ+LigDLfZO5vvNJTwEurvZLpa34IrNFEc0fKbWyDijZR3DPC9DpIF44PSxtvQUTfyYO/rplXAS6vgG1DMtep2SOfX5fQJHCcP/ZFwqLlsS61NfxZIADsOdGaXFTgUdjic4UesazE9S5w3U8Tokf/EoH7DbXtmLPa2SrXw6JEJfPN7DAhyrYpv7LE6Fve1xsAXtb8l8I82xj2R53PMFfevkw7hivpqH8+5cGpOEg8hormC9WDVuQNexKRNeKPByfHcfrCZsnevFGHmxBod9ySDi/itCOVByaUueJKXVcuQ+brZE8bGJs2/1OsQTtGYGeF+pnn7wtdnfS1YouiADeqOSPuppS5W80C382ytFQOzKjOvoOPN05cHB23RG8prKIpgPxOK2245CzPFgnOzSWxq5JYO7BBXnxTTTcqXTZ8OZcEsZRSNHm5t8fPo3t8sTaI69O2z5BLSm6Tt9oM+qDmeHHMb0TwfA4YwiGndqk8tBGxJcGAPsepl2Nv8FMKiWGn6oWQWDgT5npVCCJ70bfjGWlNZLfV3Pnvlo6EdyvgqS8YsLD2QqtdFPXsESL2qDnBvX889RpxcNwwl7Jvhs32y9fdhClIMBlcW+8BaN/x8RkuP9mhlgn2e/f1+sHCqyOBeTl0jozSEMBH8XUqGgTWqmWOf+uV5noYEJV/GeMe9zGUgZwVpRQ1NxWfkCZAnw7z2vKQ5KM2tSvXUUKRA0USs3hcy73xspmm2OjUwyGOKU/BlNyorIiLguxdUH2zkPYYQr90WqqmlEmDIM5dBjr847gkKjfk362CTjhBefpNMpounj6ftWHjzE5w6Yey5n1KsSQyxP0rnRE+OZOOBSb9Nois1vfZwayAg0bWkVQEvomQ1+uSntFt98buhpKqcrhZoRUuQYTbfB26ppDj3e6AUv/VFpjf+O4+KWjEshF9jptOhkdksfxOT+XAJoSIgFAowvTLgpkjZvFrVHMNCS+h+PjQ50FRGlPIhRCGrZ9uQy0hit6fsNzVaTMkUD4dMrMv1LrA+FGcLa0RXT3Q0sthQLJpxEYNQg1BlkQNea1SUfNcNChV0HYbtam0HZ+qtG0OAt4x5S1ROnUOh8yLTAdbpY14okdp6boMtIc3bHcTtHKrHXSmtviYLNGXqm0uYkroSDHuHX772E70hf7PohVNF5+WU9EgECGInzNNyLmBnwYRlDqM8WZ2wnYFt5ciiB8xT1BlL65iGONmwsUbDLHFzbwaqXowMU1DgW0QyFpvfQGTP2f2ECNKnNgKF1giy+d1aA8ESAHl5xwh1ih20jdRtl4UCV981mKXFDBSkt1N67XEUtakHE2UGginkXujZ1+k7zhf+Iu16XDDCY0Mg6jqA/MYmGAPhIIdrWVdQRMhKyY2Wn8KF4uOMfAaW539pNUMPzR7LPGEIYXjR8tcGvpNmY34FtKGglbUvGgEgX8RO/lSztZJkxleIuj+lzkdSlFqAID7OymSWH6uCzCN6ziNa8sBhnxzrSMOdVNrg9OgckoiL7zulc2XzWxfil4mkj5bdTfgnIdzlWF/XBIb3zBb1ylNNv1Ce6R0Axt8yq6K0xEO7KJanZyqRpoQHXAbPFMcOYs1jAf15wBxO1QAGh/EnBKRiApRT1SYL4HkrFkBg9qnkgh6k/wHniuyleir9XFapLG9NpNOiu7Z8+C4ibWHUQzcEtj7Yc/ShX+JbonJN0tZ7+C7GCKabFNWStX9SP3J1okS60L0WRarbmpXelsxRc8IxKzbykMluAByGlgRBbzR1P2W7qDCxvRm8mYobSiQzMb6Y2+THImH5jbhSJRzcCWx082dKxFZpj90ijr6UDbZwIEJxt7hElcShEhTYqlsWEoVGb27F1OPBIgeSE7d4b8g75ZId0SeMHMwAV5pSgIoTvuHiUkqoH4GHsQDa0Pfo+eWKbW291Rr34QTJO5M5R1veT4PX+4ZHShQwqp+BGdhsOhN4K2D7N2DygVY4oQ2jBY0DsMhmaM5ZMDecWiIg+2iLvWyBVdQ7dW4HTJ1Jc0AIvtWqZmz23Rt5LBDpy0w9hJtiO0Xlv76R94POGC2C4+K2SLBY+WMp/4uS6KjMQG8wDB2VYYfl4dSS3ESg5fgIE4WJAAwjLKEYNGfgVIGUY1qTrgFNeXlZCp0Zla1FbzcK0HLN25OH7vMbA7MfSSdgXIhd3/fvPv/2DMl9IKnQqQEe+IpEqOij67UHHAJ9AAdUoAwv4dDsbHxRjmUos9E9iY4uT8AnYmXhK92oYHlUwjuS0zA5dpb5Kzh7p3+3NiYnsFUTppWA54mEe082wPCH66QvNNqTnbRlaC9nzIYxuVenApmllH0m6/eBkszBwRrV6M/s6qSvaPkJ+dICaI57FBUl1GzA2KJvk3ue++rb1pmAbvwfA5xtJk5sIw+5xPNr9k/5Qq6NI/RWXLaExFlogTPiz4NxD9qW42Q3mF4suymGFm/PlhxdO0XcEGm/XsJgeR3lFiiPD4VbXOlEVku8dS3id6LoPSZaXdPS7LWe1ypivUcQUgaWwz9Pwt9ok28XkaDRmHbt+mW1bfqw23n9RG/u5DPxxBOlvCXWb9rV0PJP9f4wHlWLCxUZJg6Ga4bi00fKtj/toF5zuwUl1Wj5twB4MnlP9VagHePE2FrK2MiAr2HLc1uMxHMw3bBvOhoZF8T0CynrB23URIGx1mc6EpvE56+dlP64ZwVpVQgQjEhhyo6ujy2UMPBL8/vvWw4JmIGPkjzALR/qpyd+l93Wz4WhSGH4MQICxmLd0jLRVsLi2N0wM1Cv+QzB4N5VbFAdUeTwUZ9M2PpUiGklJKe1/ZpLuDZa2tcNFahcqeOJ/bdKeJooTfi0PGJEu+yklZhcBX6JVhruqpLrUcc0N6KR0PRFVt+QFmL6qm6/8Cg9rvCju+jhR8AkewXN4yR7aqVK6paTfL7N4wlVP12TkOac6+ASnbYkvr3cUQC65l4awp0MM0d4VqGczlq6pYUEYjwJ0FVvdQ6g/VzpGQ5OlE6EljofbfHbeAFMdw9J7m9ECUecSGYwELjXjGlIo+x3lvACg6RyooSs65N92lCQRLWkf8ucimt0lDK751br2hW/MBbXrnpOubmnpcKE1PP1DjALoFOkm0cszTyrZAS/MY5HPqW7CCEDoivT342zv+Bvu2dOrNQvhcA3fHye39sBw3x5HkVNxlDBlEQyfnfyv3ob+rQbtFxXrSZkouc24bmTNiwQNBjnRTmo6Gz5I9wDVysInhCkJ49dmuXNN9L2XubGIHCebxLDUbQazhRtT0t+Xpy4tKGGlvdj3UhztFmzcXgDQ+GsHjsw9a3ZVhmvueJfs2F6QwWFjdWj7UWf58H/9nFfJgrSob4dk/YySSBLBQbjXl3K+g1ombnfRaBik2g0bCi37fLYeJaP69p2R1S8mau+UVz3Spu9AKuACH8pYB5N7jqaLlUOrtqykLzgCreFUFiaF8U0yaGomHHgLXg/SZs/fSWXvGvxwgZCxUYDzo7RMM0ficyAlL0U4JXCFnDSNzm6DRpViK92i31uZUORln3ms0qiXR6eNUTyWNgCn/xy0838HfTXl+V7DtT6uCoRErKdcBjGGpQwU1tXZ/Cr4XRe/D/qai7vdsytVRlD8jrecfOBUE1E7wv2zvXmfwsft7sLd+40BaSjooN7sQY0nIR6/GjOloqKMHe8xoCf+94ubnkpCEzHBfmb5Moo8HFv5LqqB6OgI9Vd2u/oTUfDbwOH1Or/r87ebfIUZ73UlarIxFKuJ7VF7MjVr0PAtAwqj9UOUOhFsM6KL/1y316xvVHqkTvFIyYDtz9WBbYC4ZOgwkYIIujvlxcxBj0442sNCKkzMjGLkhoOVY1HCaqX9wUEU55qtLJ83tU11bs9jNIuzWDt1AQYX01fiEs7czUkfJpIvcJpKgRpzPVXwVvRxbaF8VnMv544QBetu+LmNNe69UzSB8QFVpyq2p9cT0RSjdLkub5/GfN9sTk8vxTG70vL/xXKjLJwRZm8P2WJn24O4FmIyUFcMecxYKCvvR1QJURKf7e1ZZiWvt1UZRQyrhw7y+0eHoU/9GzF6EUR9CSsSNJCrKaI1giymAynP5upIs/ChSuOYp5adm4yXfF0ljBDhYs0beK1Y34VAK91xh5Oq1Y4pxrxjCVEcqRSUCo0z8glXdfQcL+iCXvH+w+Ue/ZHV0J38ecqv6l5GIhPkyt6T2WCo3p+Q3DDkyyOXzh759ILYOuPUwqXBvO588BzfNZQUx1yEMlOt6pT0OZ6VDTejZRJG1AGFH+FHeoaTT/KinGDdSelWBm0PmFYuDmBtn5FALsAW4Une49mi60CpRVDAVeLLs3oNg/66MsrMNHFFgkMbankRXettKeK577kbAs7+Ob1XBW/ZxMCrXeTnUlJcOaAzQO95AVdkyfXScR2UdqJuTYHvJZFBpXheE9xTXSWWX75n8HbTA4pjLh0X7J8C4Mo+4i4GuW0hsRYm+gJ5bisVpXaA1XVSqc5eEBNidrY5rh9DYXlJkya98PVOtkF/3heDT1stfXsnjwn/SfFXHgb0KgpQLV7S9+NzX+o6RpAE5XJZLPaLlAMc0HevwQ15RwoeKQhrk4+9yIaF7cg5WUdWBzxhil5hfUJHzYHIdZtPnPRwhdEssAJn36ANWCiIQJrgDpjTP2EDrBoHgDlK4M/fahwQPsjD2Ba/aFZuSuhI+9u9vw4AZZuDbFA85SRFfl5IHjgbJ1BfLaS5cYd5fmy2hHQbFEz4+o3KoAbnMZaJcLJ75H2i54sTZgGXC1nkrY+JhnPNxb+3EIJWul0QARv0oyo6aP1lRf2Q3w1TCg1AfI4dwuxEe7537SWi65A98ZwRKQpEeKUVfeptqucBg/QxtqPzLhupcjPN5V2gB028qDzufSfGBaScqhAPVkIKMPChoRJ43FB2Pgt9sKtIMYL42qVLtQZsLUmPn0yHg5kz9WyHODXHA2+Z27cbrze5rL+a8nyuSXFdMj77WH0pkFk8o3QTIvhDH2ENsUiT7GQHAsoA5SjzQL5igwZlBrelcqtVc4i+hBQFv6Oh0dvfsY2e5KewU6cgut/HYn2hd7D90ZKiy1Qiy5w68vqbzxqXfgvLn3c3m9VzBwLDnMB+VeYiBK5+lR+eaO2sVD7KXQYiJ9+qtFdix1eE4OYShSv2x5G/T5qZNnXMZ2UpVrwnebQh++4S2RwyJ/NekgdSHjuAG7Niio3l3W5/nSAD5XVKMGYOLnXfIneIGTj4XwFLEaG1p9phfz6LM6rb0R7g8QsGTTSuhIcM2sH3o7dQtmx7gyBdzlS1Fu24TPH7DUQ3kdH/0TM8t97GhrYdb81Ux+TaDr3q3vOExN5K1Cjp2HEBUrz+N1ndqP5qn8hgSPPp2FS3eExn6hqWXIhbsOoKlfxMVSBo1Bd1BQADkLSIAUniEkvRfO++b4qFseZ17LqIRl89JmII12068gxCZYMI2zx7eds/6IIgoo8QRM+BjHPufA+d3Rsu6jd4Gr4q/QFAFk626F59eX+6YWicrOF8LqG6xL866etJLg1huuyBLugf/gF8mnCzGSqpCFBvZjImSqQdB8rV8aK6cuQGZDuXhwspWYNOHwG3Oiv22VJCkgTGvoiKYGJye1qBequytFvnuRlI6KNIMkNavNAn2XtYZAGVueCOFbOF7YAaosrhZCCo98UEFuY74wqRTfjNYZwooY32RcG1oHiENRDXr7Johb/TwlsgHp2PwV32HMlrAG2aNFv7xoM4UoX9zKjoSXeH+OqBzg3PJZAoSp4KjVhwI5gCb9VhfZ8Ein3nnzyCK4klOpCmNVyn4XaUZ6Y06jiilqo/JYfUymMNNNOM483cgYOCAdI9boJfHQiJnP3fP70bM65zdHhvhCWYSpCnYMN+bn4Tvk57XpNcrMExRYVZUF0b1LDRysRbJpl1CeWx9z/Df5llo16jO77lyZbXCr856dJHadyzi2ja4skCyXvQ8MmFGYdOrMiWkGfZvlia50K/p0O6mfXk0i47+Hxnaezv3sFDDKyPgNamtDYPBL1oQ0ALeZe7DUP+6ngW3dinpjzEJIr+kuQt3DStZc95ijRSQ1vtpW7k6fOt1f3+cgaXZIEgTsAmJoPNFwPGPLGaHW9zXYiEj0dMtla6M8Fn8R8U4NTqdtcQwpHNf2fMh//j/ATPsXcv/rJARjutCGZPP8NEK6jXs0D7y0baozE11BQOj52baOwnbIa8p8MFj731e0Yd1h17WqVxcm9QsEJ4uE1UcL4illXskincM+DJHmu9CYvgFMuTnUVtPjOfs+koMnE3Hzjo3hTRjxEbtmcaOaMhjPM2oogVf92mReuh68/rKGpINftZV8Hw/92pz/YDEHjrh6Xgd8HKs13PkWZKuHfSREakb9b/JFtgjSpXdtZiTxNAvTFzBhMirqwPSL+VHxHHV1BY5CZYTqmTO7+wK+ZNX5yiE06HaRGtJYb0rh2kyTPjPIS87+++jHCibc0TAP7e4qYfA5zSdaazV0EIoHJrLZnH83WhY/KceAAqwWoXgccs6IlpPLpWdxnDyJE2n7MrLCNl/j4R8RZYwNuVkS8pGQWXbW3mmlDAMyQA9Zzh2a2KLZ8tEwZhva2HxwR5fK6Ks9cphUu/gpJREaSqu9+/e/UOk9lp9OkEY/ddA1cP+rCLLhDiJLW64YIq8wRjfX+I0jx4dx4n5gPWcuyis5AvuIYFX4gFrk0FiygQt3g1ZfIXq+qns1HRaM+2d7AlI6cS3rbyIL3IHOb+tnbpQtKhqCFBGvIrpnzwRnXlm+x+RKp3MFWt6Qu6nQfHNBa6+Z8T318wf3xmiJtZg3QzXWOJAoVNRJrrW1mT1PpuR8YPY0wEg/i2r0HCg89zyigCMsipL7uCWbUl160MQdF0CdIGWgM16LzTA/fk7KdwXXLkDtSa5XmtgwZibcduGKKFDBYFuGq6eYTSRxIIsIRuqMBAmAycX0/U3eqtZRL9VSW/Dnci2S5/uyfFw1EGmHbEze1I4eyS+QNMGwA3o5YAviSmsr4jG59a8f4HWyvCnIVXW5Ls17WkSq4jXPIqHp8ewh1KJybMnNKCJE9g70WZhVU3xEzvGcGf2X7zwP4D0NHINAW6N94xVe98GTa9e5KyFdIWgd16Ygop3X4IJpZiPPAy44DAHKfhm3BdOUuGYui/qQdzbRUBi6stX4ivvM9nx+T+lYpNLOQLkFr5UWvt9BN1BfRvCBIYtglbdw3ZzOH+HlKlqrK9PJ7Ty6lsHjk0qAtFBF6gkmXm/oVsuerfPV5IYkq6xbitiW5Tfkg/1lkc8yIUXedqTtCA4eyzzWtiJDxSFfJX09YWx9s+78H3EiCDa5EiznXfnrCu0Mtogz5PCtBfyXNo/8iMMvgYH/veHkeH0u7BiV0yrfrlGTXRskaNxclEBe7ULa2y569NXcnBdcVeTdETboIJdj9q5cVBRhG6gJyd/NsxPGKTIyenAWL32Xv3CddWeVLVGlrzWJsCXf32pLuS6gmziOgG5sX/XqRLfOOYdmFVdXoR0h8TwAl+TJ7YIrick9uJsfIVUjNVEPl/N1hCmNdrDf0v5+UvmmROLVOTZjFoQ+huvrPNXRPKrcyv9sJZ6qoex3s65J+au7k0OaPTreSBHfdoMWKkv0majRrLw3JB9fuJvLOWJ1omcg612WCUUBJWqNNwQXrKieDC4/pviBiaeIAK3zpQ1SMv3RQjZPuB3t45yOAqyc/rGnGe/ENHz564pbZ3gzaliwSXec8346cuVR0VnW+a8PsQOYxTCnM1JeY8l+5a7mX2NoHpBOT+DRsWXvfAsGvKB7awy7Odc6OLyciIsMUlsA1gD2On7RMDuFZvQ1mEfEDnm4xrmynGgvcIZvhiB7F2X3ZS06PlCc7gtQDjGiktqJWC9aSO5FVUcfVCCpTilDC+2VmdveI4ZLS/lGu0NfX51oezjdTjuJWfA1jLpLbD9OoGFkqH5bZr1Z1XYDrv6HIImVxTXYOrgb2n8n+rL0gXOG/dJoQ9Gxq2/AbAnVYy1t83BJm4oTpcgurAsE03JUNnMJzjch8Z2irIO4PqaErYuVo+CV0fNe/sOXjBjxmxsIkDNJTL2t4g7zxrfmjyisgmmTN/WdXFboeZfGmLV4UL3zkYwGc8cDZYmj2fPs/3VlLU/9iBdhkt7OrAA2JgR+FKJXdG/K18m05Y2JcOK1NaY6xa9ZPc0NUcc+WD6tZnGMlzfkFrQJao1cvegSPnIBhAl/RBBquyk7Sj89OwGH9Rh6ZmN6XOSFFTljqtBWhR/e54cUsVECjt0QllY3BELU3dRnB4j97of3FvB2kqE0HqsMnORHWF8UtBJI0vMEmMMyRVAbYSMvTpxaG+8qyxg6HcHBa5qhEvy62RIkcxcFgqQKzqB4fLJKmHAFKht2SLyazqHA6nIiduv6NjnjyJjTuI3BYkM8hF25zd+I9XY+uQIBezTHNRlX5eTh3shxom9ilRrSs53/6nqODlBR78q0kd955/l4VwkpLNfyJhFoS+PZ9/UcOIh1qAf4JmyCed41PNap2yAiMd0I1u7O2H/FTUljyiHsrxuCbnAdNN0J9K734sSXH0GEXBV+T9000ag7qqydd7ewJyJjG1xn1FW0VewHgIYfCx+kZgGIsW82iavTx3gnGyXHMYBn+kP5IIR2x0deesDYGsm49SYgfWiUOHvnTMt6k3Q5ETINvMs8RoDlJlJygPPKQp0pMbezw7P74bKWdYsbLms4lmwxJDpeVzQsBUGRujoyhOcKIOza150OD2NYzuwBeNC8gxNuCJ352Cbttn11UO0wzM/0fbI3RNP/DoEPOun449f3Vvo16CMJ/nNXR03SL6qteP1vFFkRwkRkQtTf8HKfTxQlJu3H9goJf9GvTjmAuMhmiTEJWwQEj18O4Ro+S3UYPj/ie8zx8cPe6VWG3hUpK41aSn/g1hQSXTLg1HUcVotb78TZ7gLUcQIq2CqKihhUooUqcRetTn58aV07FNBtWOkYTjNRqFCa1F24+MHpE2cL3E15bFnfSbH3d1v93bdoErZ5uG8kxAHwaZIz2Lqh4d+SmYTi73Y5S9NOMoMz2hiAyiYKYMTpnG0O4Y3eE9JK6LVF1N5W8ZQvWDPt742i/N+/AJ7RsXU2yPm1Wt7Txa9aI4RJwSzO5pnbVmI5K8EKlKT0YHmPhwYcY7DZlexMJ60UWUA5DAauDAqC1tsJB3WlzQLUZM8mjdgRNs/eU4IjZeYixCXKd1kCdvqKXNSqNrDhUVDBbmRq3BlclFByV8HJ3L4FKX/+8l8Wr43w9RYLkQ5irhgYvRAvSJ6/ej7CFXBpEPD2GRc8wR5h0uEYfP52QVuUmhx+WZp2A5/lmbwZc8aTyxDacUB/E7VLIKCsV/gnyzw/BUwyqtIpCH75PaWG2jMvTFVUsXl26bRKk5aDaxcGFXMxpd55LlqfLx4PdBf/bWFMZ8gNKjFPAhDHu5rDp3ezUAt43OhYhDmbfecpMv9HumZaJqLFHdKutHFfhiqJJmBL48+hQtSh9qmjNJIKZhJYosol455fmK1kkJ6v4JqCIsjzygnYa/OP7wfmKW0X2110miHDN2jg516EAo7okoxjzWPeHZwnwhfwQTvuBfBOdgfpBWwks1AXpotKQDcBhdP3dbfEadrjmYid7dTuAaC3Pp/4a7aZ9Y2J6L2QWe4P5kcUwh2axYJ0VwaC4lGup7sj+UIIP2qVuTs+clAgi0PzscltMIp80PoFQGsRhZYiuEePM2KwO5ZLtLu5oF/9zFF51H6vRQXeTG1pVHSqYze0Ys50A56NWci3H2tGuTeu60xSDmDG6W14utqOBKbY5eiJhz4XiUVtD0b3Bf1/kcAFvjUgffJcii5oSoKis+IYTzTV/Myn216JxHbXJcOqwjrEShcym/4mVB2xAEsSMgn8giss7QflPNYi73If2CwId08GKt5uSQbjtlzh0gVCUlAjsgwhj+x8pA3yH7wHWdoJhbx4YQthZjqehnk0Q3lhFfU3ZNrIKOrOdVhMCR4GH+hTyVoRjgV38TJtVnXC+WSvhDwwS2ylk/+bIZZ7hhJlDn6FgMSz0OyTOYLZwdsFBZ6mEIiEjjSgzbhdr9gOMcLqDJSTyTpLPHz2Z6H7f24ykD9TeR1W3cUhz4D2behXfdW22ZxCrCnTWmRXdDj7zzCSxXWdMF1eqHMSpsOcppCwoinkoKyru+QSM4kYmOKGR08vrY7F3tUTNKj5ni6dkGd2at+xpuIi0TqeWJ5g680SPLhohgz2V7/Ij/gc7O6TZ3G2D9sng8lm3qn+ryrQHPaOSDHDK3qxwjle4kbLRYnYeuw3vHGL0MVjzwlERCst6TbOI8f33HkW+qzJuXJHyg9Yg9QClBbteM4YMfk4KIe5Tepg//4un1b4X1lw/fTPk7LDLd7ipGxxOwKd1fBdAJVFWz36GTd+W7hTJ24xcMx8vbPeL+bk3KnDYhJL61plk8dymVxaiRQKdOQ7jFW1xI0eGK8t3TLnGjsj2U/07SZYWH3OzHBR2kPwlXut3VR4phwuE+4NKxrSC0eVLLBzP4agfCaQgwi3uRilj01mbhavF/Ge8PtWC6/xpHn8/mQud8RSJNZtXglDvn2/AgfAzF4VJrvayhdF/2S3YVCW+XcowuFA9+FktjBJIFjUuGYAA+ISDBFppwSo6+GarSvOz72DiN0BSDVvaGePVFmoax0/pHWoWo9bfYlGunxMymGlMRty/rF8fmdlNn/AUbgKSLbvKt7/k1o4W2UxNj3fruWjV+UtnqaMTYy9t/UROGYX3rBIz50mrYsSpLRNlZi0mGGPGTSZra+mxygnGjwwCREAmLNHCT6SQyJlxP5Sn1TzY6zyjy2jNQjNyGUTWeCvKC5gt9lOSzqULtu5Tk6FqvvCuyBxjBuzLrW9DnLt7BeG48fJAjV0LCtT9T5z6/PeKJEVU74d+XdZt817xqQUw71mrBeYZ60zzVD5nAG93vg6wkxpGVlyJH2PSB+h9WZpHP1vk31efS2QceGwzrXdEcbYzi7+Jt+gXEmOzQxr5ddwtpgrmkSFwkeIntLKcDaoWoQoKMiM9CIf3xZmwVjP3wGToAb1r0w5nls1Oysy3+niqC4PkhWdDwAqu3RB4QlFlGf9d+cDNvwa4x69BFFrG/ZJDmC5C8Y3hdtl5goUK6pfxn9hG2sRHgvIcpyVwzzAZMnoTJjc1N6NP5S6WcG6P6wvLaFrJK/1ZuVW19aaxicoK0CqoURS8VZNcv+UX+0o3iBWmDj493xQ3fSGPF25PNvMFPkLbi5Lw8rBEFIFnNDnYzI/X/Hh/kpSvd+Hy84Z1tGrRUtq8GfI3DspF2pQhlNDUXeVxediRYHwzGJdFCiIF7QfqEUonZNa4R01rr8Z2QdKkLQ2Nk1sU/wI4JmthCqqX8dRKa8rNv4NhloBA7qEUHlVAUvt84nrr10plLwIC79tg0HVZZPCBaG4Wp0OswdvfonIN01ST61yfj4PToNo1o+0Beft8GqKEhpYhEmue8iGwt/uTvxhHumyv66yqH+V3RLM2176pXa8fmbT+JmmuXA6VY1lGDKFTd3IHENFH1IMf1DABOR/fa55FmgoOvisU2+cFkmoyYrhkNz8zz8NW11fLM9w5vj6F3LLjJtoJh0sCYg4SI+nQ8MfWzCzuHTGEcCKBX4U/f52S/+TR8cZgjYxSk5WghbbLAVPa1mUC2x1KWqtxi029CS8vuMQhsUBx+up6pkYbwB+NVKWYJAxJYMUqo8eDn6MtQolorwVq7UUMW7g0teNGFA9jBzlwdBhIdsYqe69ye9n6SpEiiHexgRlxmcLiXXsbTnyWOOvCyjwstBpsyj0r4U7vwyH7ASbJYeOf05zRQglG50RcOSgsjnnDMPngdE8Djn2WXckP+GxB8qVRpZiq3qhLM2bmpYBxSly/Pb6vOsyMxbHIRUw6hgrqTKEc5W0dw2dRkhSrsE4XQKARv3EHpUa7QM/i9s5duIX6Ld5OJ0m1w6sm5uakbi5infiez4g4JeZ0VVZM1VwCQSH7y2tpYMPsd1bg/v2bD2uRDpjUdvI8Wk9/ZZjJs/6Xf5WzUF0poyENrHrccTxisGDAqzo/MnAmc8+rOOOZRzel2wFvuMRiFTGtQPXtrrL8GmIOIgF4Ye3mExoh+nctmJAexE9Tc+7E+bjCsQLUSdilT+PW8ldX8Z0ATk+BLwXUgrHiaaLoxemVRi5vKKmj2UNDDxeurzVQYWdvKc/3hjj2JHRquxRhnsdc+px2W6J6hbtSq9VNdPbyv78xUyNLhaPJiiw/1JJCTByD2zevprDQ1ntdawBpsJsQJvmKSIQgNuI8HmGwePCl4nfbt/wkfR4tcaJ9qCiVIGhrYZ2f1Cg4Vpx+Jhlv5Dy6HAtza+n9Nx45IiCN+FdEyUdM6OyCBIVL48GmLYwwFG2cMQbhKHtxJpy0umucbSk8MiYuwWtxWRmc6hmhSJpP2IeDch8QStBVPipSXcACZ6AcHpOx4vZbqWZs691kGIIV/+TKy/O/Y9Ss3slkDWfvwgsKGkxH7er+DVhoFRV87uUiNiqESxXzi1PB57r7WYtmtn22foHOPR/N3mWX9oKtfKLWlBV4u8JLCfv/kLfpw3dz2bn3tTJ1qSitQB5gCTa0Ho1TNIHKDYl5clOa6gKLR8yNrzD3ICvGEfLM4Uk3pzjrxCbBdMQtvMvGUckqIkKgNAJ1xHGqBQDtzqwQB/YRj4nYiJJVOEAz4NkKKxf/crTYDdrYGZ1pUndJz2fxfB9YTzk1U1I3VQdcAVBJ6i/ctQ6pT6mas1BrKjnNr5815gKTIHag0RYcT6wW0z50ZAWK9mJjkRK/jxcM9r3H4CHU5rirKTjB+uC+zDct2+7D4zkyEktlAO3Sm22URvBoG5ZrQhM4FabyYSk3IArP3nVwo17u6SP2JiPgh/q+SJ3TqqqXevgUqOv76lvljfjx7LVp0O9iplEl3h9XbFTUnN0WL4xKum2h6jJ8Ea6z8ygGf2CBWDmoRNMj+Rr+VPINz8HRebLv42rz1qAkEhHLII/fMrwNjWVKkc+JQmtDac1KOw5KEP3wOwf7GJNQSXTRBqKNrLORzXpRSnput28E1QlF14XRiyXFq7tiV2hHM2ppTW6ocNLgHbOnUAI/vtATZY6kc2Kkd53Gp47POh7vVg6c1RHT5XwymN/V0Tc5kpk9Qk3Zp9vKOm23s2VDYQNXQwcVyynAjDy//Lhr71M+YX2eGGyKJ+cdjQj7FE0kdcnoGsQ9lnJBNcowTtmScqX5tmNEnf3Wdskyoy5pTJEJuX7G1IgFBCjbZylaP8kwiFt0P50I2IWB7zxKuOJObkB6QSBdti3QWuZ8KsiCQLlcIcWIedBDceMNb0yohiH7WMy7aA1mH/bsYPRSTHG6RJU8LODREKQoFA3UjR6EDLOKENm35D00Bkv/zLzFbFZaTqSt0KkJ5565tU4vv7WCDeokHn1HwSHildr6nRqUZD2pkdaoddC9qPO6LtVHwg1MH7nguckvtmwm488nnSQN/awWl42H8T0bE+uCMdQRLqN02lj+tNSUC+9ykMjYUr/faYiq80UEV75rxYu6ktxMDFzIVH8uvKNW6S/1rANsEIgNtNwdltrRoV+AHzE40i/zAr9bGnGSct2ftzyNka1M7UPmm5rR3uV7D3Z0n0saz3PBF6czyEWqaDEK4VDBLevMkJWWOMSVQaJIewijvgPsNfvSkOUURKbbZ5gi73zmaq2ojGw5fYcwo3JM8daYr4BwyDmiLFzSirEYP4NWaIwfjxU6vMkmlRXK8vw5bUpjTR29Z6VDp6J+cy2RHLMAX1aM41W0qcwKeCcsPXrGsb36J7MZjiHeTqw2Wo2tNB+UEuXebyx3z7jryYtnQiLB5qiziS3SFjvA/2AIT45MUbJ6aX9xj2qfanEZqrg5JSAS7cTZ4sPQysU94EwUC/W7u2LAFOB42+RWJ7CSq/z4ylnfvHZXuILcrYKi35hBj/4YmQoZWM4lwyuLJ2ZffPYNH5QnK23biiA+5uCSACd/0teVhrZeIW0WUloFgJGUIKa2XXX89vBgJb+4GPjYA2BbfIEI8NNoXoAU8tICEG9i0eVEEWlE3lwtq0ZGf0ifaLOhnK1OtaAjIdhf2xbKryzNcxjUTJ4XOyx3vWLJm/jh1qgV+YjL5Lyupk7aMuF/Cwwc9ze8ItO0SrK/B96hvsCDZspNGfXu0RIZ2/3UDq/RSdZbsl900TQNsfT4YBUjZZ+cBo1VNf3ds0n5fcc1+Wzfhjd/pfqvuGPS/eKfd8nH0X9eKRKzYwyU/y8yIIHTlwD5nYRUorzLignQPmqjd8vWvsxhAStZToRHK6K9Sx/i5SgL7XccGJZhvPPuuNy7NTNUwiqleQQpuZrglQDQuHGMp3F6xxE0KUjFvtIK5totOGP6JCBOyobmJcBgzyILMTxR6DzdZDw1s03SjQEGBRW1bDxM/6d4hmXwldqN0/olPmAtLMJABdWtMoYVMRQky3FQ+XE1FXOabRiGnW5JZr4br1g38F14Uy82sj+4wSiQfHF2DyRVwIuSRIi9fpb/6nb6gvltqtA3hH/esDo/tMwHPBjoLsQvooDomLYEHbLO5590lGxVI/4igdMg+raVLkAc2ovirEhqDeDV/V2+n+3kVDYGTbjaecssj0NW61Pqc5u5oVRifOnbqC97F52yeehZ+wpJXG4iZ2SaFFYbYLkhO+dvHwZ+W4YCWsy9wqFed6PTxCDXGOMr3dKrirJ9DhfSebhdIn7e3L79LPSgI1ZUemDwsjw902eSHR09nxAfAJ67KHm4KNNWb6v9MTb4aRRwvPWLdd04z0UxmcMr8zaFdBl2/EzPHLbDcEodf4quY0RGSvT/GvabmAj6j5PMioAyOS0D1uIzXqrc221LKQs5z37wQwDZ3MKsm6FsyY6EltB+ra17geZu9dmlTACdve+VQD1Jkmjx8jpIqDSsX3fLhhUFCriMQr/OdVg/pAGJ4H6ibwB1inWVJsTugXkhe5WmRfFKcOYDQ8fjjqWrnc4gBgNE8hHLXGtBDqiGByF7bh5qeSx8772ojOhzVDYP69S/z4sJo0nVRdvMcgSvwnUxnPhFVMCrxlYeSmpC2jp4NuYN4vBSHVmIFTopTkFDtk9RDPjHxtR1flWu3jvkFyxiLvPSgszZ/fZffQL8Pt/C68zLOhbaV7aVcU3VrxUNFDyEH31+5I4XdlIZC7b5Nes2rIpFnftkDOukkNGJdVedlaTfcE1L/Wnmg0n4HSinMijO/kO9tCQl01yRo992W6V0rquuwC+yLktH+l3NVx+49b0sJtsfQCc4uHOotdtLWBuQj7kI1xVmGkfhKQs84B8nbc9BpR3tUFFZOAAxhR4pDkjb6BC1KHMEWdc3Co6lMkWx6q4IWJjJshXf/NO4S0xmJNf4/k7oPnNb6lYkp7Qan6y6FUKoiiyvzvGAvkJTFVSt7iGD5wkYjSuFSFNBURPPF71lKFU4yrMPJD0ZTgZFfU5oO3G3BbAuRL90Sfz0UQeo3K8NAC9ezLAWUz6gBzwkL5RvcH0zlpWzRoZwTOMJo6v61MYG5vvgCxYEiia2OKslRqovDps8eczBYkzoRiNwDd9KEk+ZQZlrLVwD3bkrfQj9200weBqeCCLKQw5nVLzb/trc+BIsLN4AyXAPiAW98djm0ZZZKBREKX2PYo4Eoi5cFm/vb1ZeDCZo/VE2kJ/lrX4RhtQvKE/SbLcaNaXyGiX86O3c4gMI65uQJsorduUiNEYzA4Pb0AdiVdilyIHFB+pw97RDAWCBQPXqe2hA/9VsDhwjPyNmaQ2ZyzVymRH4nynkfVDIlwRbRMT6Z4qURtB1g0GzsXVI6RZeG15JpClhP5W9HFrOQvAy5C3wPXQOg34KXwvwOyNFKKUlWQxcnc6Vv2CFomodeLO0mY0HfZToyfc4UmJGDmq3ogwtHuF8iZa5iA4f4rWIDogVQsMOttAsFZMpxijrAcIDJtvfFAZSr+CpuGg16CLAZx7LTWubQeJpQycp+q6nDjlMfdHoSfzeJnMoXGpUkfif0XP4SBvpJPRfwUrNP7e+pwViZYrsGd7x9uJnaj00Ma7v3rbDuiYiL6Vf5R3lWObRAAoihLtX34y7m9BG+dvywLgnXzZoFn/ovIihlgqKVki+i1GwvLbT9UOCYWU/84akpNdQNnok7rz9RR2gyOzbAdqoVyhufzjFVz4PHLXsf9xOaKJ9aRp3gwsaH92RYpgBs+Qu91lDoEIHaaMkFs2lRddwsWqMnx6nmiPOAt5tCLGLznLB9vZcBK9qZM7p716JuScZzGqEsEpWulk1i4Y43hk7fEQIa2cA9N/0OlFWJi1H4kISPtfunZ05HN3/AE6GWwk2fDrv56TRm5byjGPmVMbmzSQE43hd7WPN1BfRk8QgDiC+qMvqOcln5VCzSBSrLyAIjrIX34eWU9nVb2UQprgDIbWbhJjQ3o0emrPB++EVuG38ZWiObnqFNh5VOK7xAzFcJGEM9JbqNW0OWk3RStaZ6BAXGZg0eaQ+tKtBFFu1CGKZorc3qQ9k7s7A6489yuER4cJqOcKh54ehAtKQTX9NtAljGO5F6UFf3Cz6xFol7tuK5deibgSgAL1TLI9tmpbEPNSWJh2GR6y45OMZTiP0oc1ZLBRPs5o7tp8YUPqnnlJx1K0zidD12P4YOjsIcNwxM6ElQ8v9s6U3d7VTHSmnvCH+RlEKZgpOVmuTqU4GSlhpEFtrWkxORT3cj4JI9qs5lcvsWLbt6x3SI6cnorJqzgQkN5rnfMQM4CCjOmSWJe/+MIsJMFaT41Nd11bMbRrMY1y1/ROYp8OuX0GVyXkP+PFkG7qWBEkxvCEeW7RyQG1+RIC4wRFP6Ojb21Pcr8VqjXkql0EkbPrQ+71LxTOljGt+sNrzJ7r4tWfIlYGxlaF9o4MWaO80rWncvYF2+HUvs/DTg7jVKWNyqXAzNqjrYi4GSbsmt22TIZAZz1zgRBH+NuDGM0QYZhgZ7MwzXWusVarrhQeEdt35NCfuN20uPOWEd7Yi5eedHJ/gacZ2fHaq9ng+TpTFkq80zC2UyeEgnu3ispxe3rzzjSPCCHs5KJdSVIsBWK0IBLp/b3v/AK2j1SKv2RFAEQMkW2j2FdEfrkb08SORyrcV0aVutmWCPfiRxWAaiEuWthxEOHTHvM9538fdnpaakEa6XU0Sdf0m+pgEyXydJOny7V+QqFjz7utdB+6GE4yymm7i+3C4v46DPJl8RUawxYjsNYlm96o6yZn+KiL0tUCxiTQtRoqZtKlkBvdWUz+p+3cBV+/uRWeetrG5miplHg9I3as8emuOz3jd/U/m9GaCIvEa2AzX7JP8Way85dVyhzzHkUVZsveS2huTL/nAMztvrgOrg6RTh7+VFVhd965KzwUmETydu/aOsfkvtHlPZFCqZ/8O59/Ckk+Kgf7g038bXDhvxb+2mvwhEE4xiRhCy7vbc4gCqvjmeH7s/sbdWoX4nwV7j2mVpPz85ToDAFN/Num8/n9qKEtE5vKvT0HUzp1Odui5HPUfduNz6wwYeSnNHfTo9Of0JvCf8z9m2Sn4BBbFYwd+BdI1+QpMT3aVHyQ5uwfjuSfDhzIl73m+WY2hqZeegNWjewRQu9ytQUBHbfJ+OWpHOfDCTXLXe+7eht4yCQ4YgVR0RIral6indk95efFElqfqLzH4z450MsuMrwaUniSfQ2ZlOXsQHImQHUSagfXY6TjNPDWXcUoUnD9JwNU92LShLZcbQWhg0zq1zDOXFcyjhimuwJig8IeJ2PZrZoV++xxHcgx+mGWGzoktxW4a9/Q6mcXDWuTw3fXG0WJT032Ac6PhUE0n4RRsVx1X0wisHGi1gyskFD0MCx4BebDjgu98kSLyOdw7WXOKvjFQ4yuum++wqPHulgqwqj5wDbxY4rDhIlwzXvDGbQ6u8xEM0wj7CRvU7LaAoiXk82Bq/TMZsbWmNSFR5LKSpG9SDlPpWYqONOrsbskAm4GuIjnAIAdfmsOhDXUfRkd+ftVJsZHyu3gk4izI/W2GNZ0ohGH8pnPVx44bERcg6yjeidu8OB8Gm5uGseBUog2JLbeB4yM0/eFGeYBq/40PHKp3/0z0yzC8FbuKNkK+iaVJ3gaCobqXww3FcTA3RXBqroc8spnvnIN7QknYh2vUP2izyBzSIxhdCGvqgXIJJ1dAkjwaOq7a1VTZxulSzerZqwgLTpp1WPgXzCWyOJeByMs5Ytr/AtGkrnHvQN6bJliVxBp7rbJrBcfmaXUvxafJP5o/8Yl1I9oyZEM4b9JS5S2aIxLmYRE5EwT5Puf49hH9pIZBmQvlUcsXpe0FWIWpq9/HYRo0PDi9hh0MjG+n4iUI2J9eAKRlPtORXWCEPkFIKg3EHt5chx3UeoHgKQEWEwKDHJKcuXwCxrI4Z3V+pB/jtem0LGhnbP8Am/zS0hG+2fOi8pRHbJiUTFD2xErQOdID31rPJnWaiEEkcrjYNPkJ48/K6R1WVUZnIaB+ym4SD9lLTyrCHB880DrRw3kjSZaXQiSY645tWMHIJaYXEBEm1mQ4z+0veZQwDby5SZiHvzj2WpzntuWqJChB0hqPwivgxIlbxjce8U7/Mvby0wHUfmHn0mrsxrq/8fZftUVdbKuLoIzbYPKW7vTEIbzATPfHNpT5cY8vXsIQUVyuYi6LFxZv2AYAvKP14wJtlMWkzD+dG4YfXmXu1rjhsLiKDJu6lds+v+pFKmrj5f34ap/iYpx/lernzCqqAFo0jKvJYzec9rVNPlV5LDJSsRZjc7Cb9AC8lWfHz8Anz3ycCqRbrvxQR22h/a8Tf64cEnt6J0pGGTz5ZNQDZivAPAf7Aq18t5OMmqc1g0PLfTeIWnODRBnQZDT3mIrWYc6DJcX1ippxtNiWat0fuvjr6wqk0tzo/XlCAOJjoCegr4pKaSc6gyuEWQeeqHs839FBY4Qsx2FTBFVujk2varX3vH3lV+j1+cUMvEs/g0hUKQ6V6YZXed2wsKBUmfcofsXfEh+5gDYM9oUDoNdH/OA0bwmrtY+493kNh2IPtahIw8+wF/UzBueJYuMf5j78pJKzKmMn5sB0/hWqL3wal3HHQjlBjDVpLX9VLcDKmMu7kkkQZk5uvTwo6mDAclVVVVvt9m2p6//gPkbHgBqd2lc6mIgB402LCEBODTfbbqVR/l+Mq/8CNW6b7pimJOLufcuwLEh2U4lklKIZXh5BDLg6skNCTzjcOFHNHS+C6KISkZjqn0HzUTqwWQn+T6N3lMqLSRtrvQ5EypV1oW9c+qu+BGCETLIc/oRGXRbgZ34ZZltCzCsqz+wPyfXhbsBGewWrgSnWtfni2WL+sxpxJYjZKG4EN3GUuz9qlxEDmqjRAyjUix9lYuGVYuSHB337FXteNIArFmyB2Vo5HmTb1goG++thFupO4gbZhOd2e5x/n4fg7Mg6WO0Hcw3O+Fyx3pV/3dqNuilZjX05I4PTomXQvhrLtNrtDoQ0gNI657sAoygzIny9uBMmme7BJ7Xo8rmZZLUmMXe6OEfrDuaGpnCMIFQwsV/mectCxhmqeAqPDrMoT3l1vSgvLlvT3ZeI/VjXcD7qsH6V3LFvXeVQuNmjDCpx4hCW/Sc0pl1PwGfMl7aU9ma6QAaB2eYiJ+7JKu86Vld0jpiopSv0MIZO0QVPHHv1RLnak+AHlguirjVh/6kjQisBnknEf0FEqt4Ys4miJc3RPyAeuhR21T12LDS9U9RE4fk3RshZapPOXbPCcV8tvcVOhJQYwvEofYT+3KCAyJ4AigohLrnucd4pRMfqiCHSbMB2/S/oqDxWWtfTA13Thnk2/e0BNgdRQOrPlKWtUxxlVcHGrl6Ik7LtjyzW5ZuzhT0Vvm7859kYayNFMmnTyIJAJgycLKZQtwyQHO43CzQN/wszvao1Tw5WwbhGqdXKSdEFGBwlQFTUoVyIRD+Ueb9g7rJCld16oXIO9S1h/ZzgxIKnFZQSLYDhlPiqSmnDR1Uu2e1TmbaKrL9hGP0kscuvjRqGw93vLQWDPsGE2BNJPkm2qITVvV8BiayI+3WmTl/rpy2LCDPMVerDQYQwaefd4vAGoe4hbW+hvCp5RjOd5f+KFGnAlxDtsCA5D+8LTpGTDID4hbTzTlG7xjQBUOhSg6GVqYqdRvAdkWgXs07Vgt+rSS8qwFfTKg4pvDhylTjI3hf+efiEBkMh5t76dRROwGux2NtGCmDDYYm2DiUPNml2PgJCSCmiwkcYA2s9pWt/sRYipsQe4gJAeyzFhH6TXmjnR0JhkTkMDWS2cnf5oqbI4UFstU812T5/xVlYiwgMYJ+HDZR+s47yQSK+HinvuKI3D5oAt392BMGkBB9z32nmS4ROf2J1LTzx2EqzCMXl0/eiRtdpi5A/Fp8UEO9C31RKVRXxSvDrHNU/yEZOUFc1hBHhbYmOyo94QF1sxh42MVuks1bH37i4can81umg51heHJ53MRyr8G6b1JSS17Ncv+/JLqLuCPGWAKdhTM8v3HcWobP2pUbFOqYlk1D98gtUuTDJwuQBX+Y07/+WGRr6T7BOUvHt0eXWa7XU+23T933Vzys+jfwWf3dcsQhCiwOk1D6XWijRoht9kmzJ0+1P0PlbliubTapT6SdZyOCC6OuRBduKv6AVlg2NgStiXNeyUiXKbYNtDAfdPRMWtqK3z3cqgBtfVh2Z5u2K3U1Ij3im4cb9wTXjZ8evnjGtffsJ191H9/76syfYQEfhReo60xrWZ7t3xL7f/C2ckhdhCwYljICExJQ1NK+e/rP3lgW01J7v6gquBlXV88Yqi7jAVZMCxLAhkvZrSDQ1IJGTKwQWIx4pX+qUB34pu/x4c1mdbyUTPXpRjB0yTNHT5OizmZga3J5roqwlxRBjjXh4RlOJGmuSD8pOV2WDzyi1s2OvcekONSqSi0wWjN2vORO+r0ioH3+8yr3zN7LvA5+EKvMxDKfserf/D83kcm5w8xRcMu9OVdR3KXO68+KoQYyvozmziqMEc76mPxg+3cHwq/c1h/Nq68OknokyYyR87lnEiZRAma8Ds9kiU1W9lHWFQm4yD6PwWBBbWqc3ZVnd4Tca70S2K9kGYRdZFyZVoyhAF0biMN1TMdqRHo1rRbIlnl43XOE+L55Bo3/q1QDw0j6lquwzoOrnkCr8EN6HoYXDhEm+X/hzuwevUMcybmJ4dzj9g9uca2HMneIZiPPeuPW4LAN/DPD4X2qZwG2WNVrtchbzLQUuRGcsHXP/MpB6SeTs09K/fPPKLVlg8MB20rQpdKpYPC8YFwSVG/F/6637edBOjxC0CE6Ts+ZAdinyE1l3CgzLvKcAld4l3l668EhkxAfNn3YYoHXE2izU8tocHUcPRFdeEwfum/6h4awbqoZnmZkbqJLp0O4oWNyqacqGlopYAG+fyaE3o9VSTrfRzCoT06mVDNhnHgCL9r+JMdl1Y2ewLB5/cXZHat65vk5ihP87tQGgi2vlfYhvnGsMeazwX81blqQrl8D6VkuofDG+iHn2WBRf4fs9NFZrwEVOGHPGEddfaMtxU59Pnz1DEdvOCRgV09d+gzOr+Zfp7EnYheBb2iR0YrLIjlIbz+iYaE4h8cFfhGcbkAkEueEEp/cqdRiZMUoiTdbErx0L3breDAtBo/Diw5m29z9X5bSGqGOZ1DSQBLNJG4odoIv1r5riS7Ptp54/MUOx7MmMq291PrB8o2FIYgp/LsOohtnovJcPbp58PwCj5YfZjao+wEKRJfIhUOPw704WBoyIqUFZHbOcOPRMvinrP6EaruIP3On9/relRWiR6wtuzFIot+Hit//VJ7ssAVpDo+bUbN8bMOg4wqBwDnhOiXVvgmLw85OVMx2nMklGeCIVddx5tT2bSDzQWTqEw/F/awlc5g6xwJFBBq9LDBFChzbZyECjILSFg14V2vtGcQnthJmlRpOK7vxW8UIUNSqpQui+4LWpM4jOUuRpE3nv5hcbRew9Y5yHZzyH6i5Xaci5/xUtlKpH3Fnb28tE25YZOs5FeiVpMfUeJ1VFWnXbrFUqGcrsUkUWktF3syy+Jsy3oa/s8Q4y5fNE1HAN2za3wSh3BEQ91RCb34H6yy6xxohbM3OLEL5a/s86gUraqYdZ0It9B+JrzaJXWpKfbf2C13KzMEGPvCm6WyaWWZ5R/FWET12S6kT5bWqMGmb6D3bA8BgXnz5BmYBQQ6mYrZwurqRPavqpoG36VlrpT3e1rnHlT1udvZlFcY/ovqyG1RJZSq7bvm+ULpCjAlT98JQ4c+w8LNf2I9ueIMULTHYaqbewrE+fl761f1JeF36Z+YRAnPiD+/dYWJ+7vo1+BznDU9slyToVbJTu+r5GtOOG6JwZNglPygBP2YKkSmwd2UcQD3llq546y3hBEYx065PZEBVUa42zZqsjooE11v5emNTvUaqExFHOVejXJk5MJRZJAqE/4SNtj4LmCEmwj9CnTpQ+CjoEAHe1SEShOX8eLSPE/I4Vm2vzCyGO6IrjGBv+vgeEXwQ60AiPchC/HYWEjxrxqkzYJfeB5Py6ZE9Ztm0Ag+pfls5gfHx36+qd2ZrWM7oRzkF98gCNi6QmaPI2hYx+sQyk6R7yXIzdFFRrke07NdMpejTUZQ46rPnUF42RFHqdATdRMZ6oGb1sgBdS5++O+RioTPDtfIxjdUnj9ET5fD5Pj65qkxAc6LMa7+tipMLa+PaMdxFnfnknV3EJmsvtf0fE8tl3i76kqkT9k6ezswU/Htw+zXhgUWPPWQO/XV/ZuN2SbH3mPWoylLGe64w7qPBkmtlv6a5nb53zEjOClx2GFtpVbttwiOQbGyJ9yZJc/zDVn0657rLV7f1J0YCxjUDWe40Idse5eR3EXYZ/JKmDKj8pKPZ6smDWu5s5VTdM2rFckNEHxH1D+ppRMhr66hViJmI3T+NQHtPyDu7EGtDld+zb8V5roHSrjpss7aVTcSF0cRNHe5Xlbfzzm8baExCeNnsw1VA96hEUQL5p4942zvUVWzybmIWSaoRxJJMEOuAp0gJH70fDLAweHOm721+8nkKrJhIBf+i9KcON5FLk+yzR3NyNyt/l8JmM9xRS602+DLo/9nWduZA1UneTiQLSGopPdKhHnzDOTd+vA+I5yNP6Jm5cN8yGT/yeyQ9vCUP/2ZKK6KF9pQDlL9SoGPNM1Uz0P75lqYJJU3Sq3LO7X2lnVv3fyQOflGLnQizCukA4amjNKpkZiAS5tumEeQ3cj6UBQgf15SP0Uc46YW1UTPSmyt8Qksveno4/iaO5u9nvhl07yLMWhVQrpdqc+PWDxiqFgIjSoAbNRTp8sJhPj/Hl3+gDkaHqk7TyHeARRK5bkQnTXgZOTk/lAbj+zJuxizPC9LkYfcdK7kiyczrshcgB8sUuJvmzQ0E47uSOMw14m8ML52hEYf+UbQmXEwscuFlZ4epE+zEe2plbnq247HFwfY5B70yvOrfXE8wgmscTGiLisN/wdJ9u4ZzU74HYHjdhVAepXZ24ACgjwKjVKwqm78bQ5Ut+ytAYFBU2sepdq2OpRIVAX+30mIr7v+cDo1qK3wDMgcmCN5ZPnwyM+YiS+ggEaEmhl+R5uUe5H2fi6PhQTk+40cxPN4ESoDjtRE801YNZEraq2h5ml6NhY4DMUrZzo/VFoiwimOeO9u/SUOvZPMvg5bndRU1IGB8WrfFTYXg8jcdWfYTq1NDa666XxcBoC08g5m8iR916HhiDJtzdGHANzGHqAvLXeMgwozGAXaO+MIG33smoZwRX7PcMcMPptUT54a9JMHUFCQaxG7GkNvvYmh40/qTFiGBxa8eo1tmp+W22RsYdcMeWMV/u5CBhN913fBBs0Pg1r35UX8EgC4Ym1520yu/0fNs+I+0wkA8oqY6CQVDs5jFlAVAdyxNyZMS9xRr41vg+dX+0NtU4i6+70GDhdJuSHScBj3T++rNNmT+2TkDMo6+B/ToHIsR11+wf7qXIs4sl13g7hFZ6HoJ6HgAeOyMC55iPCjr0ZqArfMlCq6oC4sHiuuY4/61F496hzAGBX4mN3DOMZn20gsPFqipDDacGBJSz5w4LWWwBLuR1muOZY9Likmz3tPeXPfUno/TYfv2IbkThLdi0Fp5ibQEaXv5pT8pzQcrQhsm6CNarpGfmLmnsgtS/dtwVODK95iFmN0wdVRCwR/+H7cCRdT0bQRdOc6D7AAOV4IGcnKCL/hunkZOjCpapRYpxovIpzIhoelptUCmsLnqzIQ+3a9BsREHUUpRxZXvw9kGPZeYi7omKyzyVyuOjJQLUCeC7EEFQsN8szc396HI8eLSBBxCH4QQ2L4VpF9o783K8yIWkK88R+EqIl3HdjZVBIIhybMQ1A7DuQpWkJB3bB1R/ksjZOJBoW8vg2cFTOhmKXCItjGQ2qdAEPI6gcK5k+ZfQAmznKTAFIpb745mWlQwyKHT//SUU/lvdGJbVyMzNUnRycUol19l3lotKaf4zwzGe8Mr/0YJNt8K0PqqUc4TWDqNvGWygNr9jQ5CFtWyAcj5IkoGWhHRKYEPt4RDNTFi9V4lKUwXnKDsLl7B/khmU/BZ3hQ1E1svZaKTDM9TEHS+KnGGgBOdnat3KRMXMVRgeA86jJ/6DdYFIz5MWRvMwvL68zkVWwSOr15prijxRe3yJUD5guykyVS5ArXrFUBYBYA1mux+XJAqwxBcajJNJ46T2cYnK2b5NBP+UblBwCeAYcEELaXyQ1guhgMtkEjx0aYRXZmLO+uJmh1wA5tI05u7PL9onT/WqGRsEMsaCX14cR6v/KhHQIHXHL+NRxGXcix1ENnB9Ur48Sdhr/jQYqEJcs0fL30Dz5Fi9fy9TrTwKA6x7jEeKhUXZCQputlb8gOcuD4BY0BQAHgMtqQTNQBlwW2WRNKcfJ9rYEVZuMegnBlv1TzVK2hlaxg/xvAmYLLTjUPIVtEwjqGwt1zmWvOeQ+rACq8nPAE+sDHbKF7DG13tb+/yYh9kWps8eGB0mwBj1VRVgccnue+DLKu1OOjlFpWdhYYCiLujbQOwbAbpwUalfyk2V6nbJVwyGaZlPz4vYD+waoOWBGvjgYzwHrEgkl/T9YfWEoPrE2of9PAIhxxIJiu3HI3bdk42lRQm8F5MktuuYYB8qOaxY7HbHABLUVwg4NzWFlIfZx68KsCG3oLurpVi9Zii/SJ+RdqrrE5SSKNUHKo2d5FCjoxch02U+nfcmRYVuGNHGichFHzUt5mTd12HoGQtGkPZOah5Nv2tCFRecUsD35hMchvChMlMdHt6yAH6qq0Rw6m+XBtbMI3nhDXy+nIf5qPzuFjApRWOvj3rStnk0uTt1lGf9MWwSYdvrgyZoC3TUjeviJ204lr1zcDMa7kAWQXl8vIwjSoT3FKcoa8p6CqXN1+XRV2x4hLWvHmmasSe7LTT5QAryN8CO47APDVEJoywbyDUSiBVwYUmV/kVMFC9lGKbx0EQW6pkGMM+EEZNclSHFN7QJbhJBU1aZiS6lKtD/E5Oyk9EHJJhHDAFr7PoB8vWmU2OZnRNaMLF1JK/gltLcF2/C1zq4iddIhL47nTYzsgAvMof2ti0Mi94YWIUSY/0gwHKXXVFoxNCIhXGVECx2kZc+HA+YTdYcIqnqD5W6r6lS624ukfOVuk5exMiXxl1U+VXpTfq5/hUprP/ALab/d31TUv9ASFPE+LzzmSoa/jLn2DvTqjOZNnS4jblcSc1DOQnoBPF8o40AgxOIR+j0j3h0Wfd/XqFm0QTbVi0wdIxosGttJliEHDVjWskFahsW8FuEWY/Lwx22BMlGg44PWfirMf48AgaeoEFJeXwKES7HbdhlJfoZ6+J+XWRVq5gBLmhmHFLeO0pk/+2pqDJeebALiWVPnixGIAkSBqXjdOAHAT+g9L7k1c6FGxS58+hfcK69nBGXJVBs1TMsKqeAal+cbMO44fpjzgzkEiFhnolBHT542UDtrZ+HNbgLvMwf1BAtCvKPwp++bPM2a4HtNN8Jl0KCrj2oBiZUf9nxKXUbed1SDDXAyztJO7TKFNcmlBSQiufexL3kSMUpsW68fgCYEyfA/kPBlbqNYdVbD2HOoDXtSnxcv72ceeAc0JbM4vP0dj7njF1bUkXsecQBH3CHDMrjQ1yWJZZBkTxGEraDpS6SIq0Gzwl4tUf5jKymQmHlBivHJyOLw9P7hPY0Z1NEC/TqNGr2d0kTSD1ZzmSM/HA7H+8zFJvp8OCG5Lq+nPP5Cm0gzihcd1XrCJh57FjZTWAg4I17N7Kd9aZUoq7kV+yq+tPut71wuZj8+wUil+djY+QukMl71WmKmTmTn3knPpYPAt94Ea6ctfQdMDvDDiItLBAQi+UgaKvkU3FzGo4BibyLA0WQ2UAbfoXwKchbuwUR8O6onTim3FzhhhlRleae9nxp9dSWFjQVzMJzORrPIm/gdlecsGjkf5PhRWwst85B+bnpkOTYIzjpU07ThYB9PNLQMspDCY6TQ1FIFYOGa5t0gYb0RTYumdTU7DeLWXXwp/ZIp0bDkMwfgvftu374dJBJLjMN+UbVWPkUzj9Mt4tpPzsS5I566UeOCeNERR8DB3Ff7nvFKsJFGR5vVprkue8UYmgR6qZtT7P+B2rCqwrwFJCXKttLEWlatmdB5O4PotL0YGiHkq0k1wsupZfrv3Q7F/QUUOjD2Vumum3mg1Q0QY8J4dnLKCP+Jv6xPWI64TxqsYEQG9Hz1Yzu41yWGeF8+Jkn32Sp68onlF61j0XkIkKxieG0XChhFnCrEsq4p3g4YnUidDSrsH9KPzD/jsCQJCPfS0oOV3jmqmjZk/0KsgPjpv5I3d+1jM/eIYOh6R6Ewl5DL4ZrWeTbhDU1+WtOX+xaB39mFHIJfpshAkYVifrXXhjj1dxuFRKQ2adQYEkmiNqiDrKtTf+h5yA1jIWIw7Hi4wlxVR9jF+3EcKY5xEA71YzwzA4Mok2HZC2VRpoIP9I4v0+zNdPg/Vd9o+IuHWUqMVggI4C2tx0JS/OKFZdAoNxMuSGgujI/v95r/pn9kRKm1Auo3VrlQaH6duF2FzAYBlBVsGCUnMOi5u+g5obYEHAklWmpE6hURQ71W6hwitXHM+R6vR6WNmMDB1u928vMTltYwrmHbbSXu/zmXGdzvDUG9XQGECCESmh7hv7jzCQakOj8bbwliBh14JfRWMRcemAByyF5rmqLNCM8MsCRIRODdToZSgt4Oo3Hdr4GVSZjhH/EtZGFI5sDry21PRVDeagKMNb3PAgSere/Mel3hhMFusE/egz8LuyXRZOO+NQyK4NkzhR4yd4suikFbt2LgTPtn1u8fOuwuL7DjhCNZei2enFspirBGTijmUWXDWFa83UJYx5W85xL6lPiaNW7sNDpSK5nIMixnzW+Xlg7ooVV7i1LtIE/YwdZHBZoeTCxNgxrjMaxiyz261kBDgrMMGuBUPXH+eV9ZecFsj214KPnzheYLeyRdskiu3LovgdcMe+yqBb0cSB05nOQAftwHt+q9V7NRvRtxQTyZ74ZKABKD33d5XKknid4sJxuQNl6hbAcGSRffLDffva0ZfcKTqPb3bcxda7alPnQ7HialYpIXR/IBs8oy/KOLK2XmyGgAtSP715ca4cY4G1IulvhFBSg0wZum25SEKWBK6Ojj6o13HJp1rIRKVcDSIAJ+doywKeNn+bU5G6RAZ0ZlGQVEUgMbIICbc6t1XViXEEi+rlaPv0FqPLvJXZWcGIPD9j2h5sZJ0lpYwE35fALBx53G63jQsV82JNyFOyzkkR4jcTRel3LlcjxvqH857Bok+cpUWc0CkhZ9yljCq6XUXH4tVtKQGmwW7u+cS6iTN6t957oFGyXipstb3D9hc8hDS3aDNKK9ffL+fQDp2EpbPR5xBHFXh3zNabb7tNPrVSfM8wumQWXrt857sa97WUESY93SVaTdFc8tsldtrL9Z8fKTWbx5q3aNeWiteIFoQcvvH6sZXSmXt/OVs+OdEjXohnAHnsTr6m1xTJgIVjNv1LUhh1PF5R3cU5nuaA196jy+4iiIUgRZ8sWl4AzTnCEas2Der1qOJkqPFKKDPRNgR3Usf5s/BZD13tTCip8PU0Bmtwg9Zo6kV/2TRgCZvUoJ97x94USnjlRDRVIo7+YvYiOVMjeLmDugQHqsvf+nHiePpOAjNc8zKj+0jegvGzYZvYP9NX0qOYbs7o5dwQBtg2UHRHltt3kjTHQMNl5ilPfRkL+pmA5x4AND+85yKYVaropLt9qQm0biXq7j0jXbpvSsA9nMrdVIY5Kgtp2pQGvoEXMj61un8fEAyk6ffQ5Py/DWEJdnrsuEq9YhPzgO1bnELV49NmG2HyubF9dYm9XJbl0caRbDeZjkVsnquQKe9tbZUp+kStCg6yo6ZpKdZuqDnfW4qy2dpYiRZxAB6x3U4b2f75gVMhBnTTfvklmrI9UhGmpArB/teBmjLcZCbxSRSv2BpK3pcpxDpX3B/8SgxrSYnT3Xja2MO3QCGzIwkonq46he79PZJ0b7ODcM+65nVUNA65Lg+cJSLtFg5G3DO+JwoqPrh5fsyn46XoB8QQu2g2gEdYZi+GHfq6RJfxzT95LMkUpJ/dbVMb3oVNwerFAKlq39llSDc/jCIyxP4KcrcNAQAxgIefkkLpG54O56VSlxqY9uOXa6gwaTIvVwB/ZHpO0MmigxFHVD2wb3rziYUHcUtwzOw/vPTWrClUbuTnv2ZStNF5iWtrdRBOXl0Dlw0Vqk+kyTSwsH4BlcU/s8nTby78kUSTcP9un5ftt1pLVrlKeJI1sjlHv4IaS+Ryc1+uR+18w6g7lA9jdb5VEwnIof51QGCJEROZBOeWtT7J9xNcRL77AaduqqeHW9C+t1dPKX2tYG0AuT8un2BFnWHEy5Zt0uHuF2b+NjKC9ZF7ZNkiDJ7r3qtM0enx9efb52rZKQDiftcfOQg9k1gVg74A+4lVDa7kCsXCH6/1uS2m0qXxyOwJ93b4teX5koFl45HZQ+s4D1FQQX03Q2NK1cvl1wTtN/9mLBphxe0awCO95Czvf9ANj9pSe5OyTpJULuZlLiMX0j+Z0iVDaeeMjILZhvJydxrqf+27WTiDJMPZzpyGwJE6XARcKuvWO2MC39o4vdGUjjEhJWNnz6wC/2Z7RcwRrxyNh8gbTS+lj6EEa9tgsZGWTEmDiZ7vwrKkGSv0NMjsaW3kTor1IR5FY9isspJdJ+SEDN1RiIukBHbEMi40F/0o9VTkYmtsW8nRSPQxAa3d8wtFlHdy479Jb78gNPrDMi9FKN3NRytDCW0MfX8i790QgNniBrnOXVTAa6RGGjmxQPXU/gFcc1PYKwbuT23HXL8WQHw1B/2qQIEZoLvdqvvOMaI3Hd4zWtyKpb/St16Tt7b37s0JnlaignYR7EAnLhtNWG98mFVvCEhCfczqx51IOY3TwKV+7yJK7TQ+0EBhh7CJf7P0AOuEsyqBqlQaZpFi48lzTNRT30wtURm2KrVUdtBxSG8jRdeG9IJjJdsPadNAVnvA0I5lC3yuMx1z73XfPg3W0mr5WTLuthoJkRFSkeXcToo37xUylfo7gOT7cxaZ+ZQ083Ee0RO8IWUMlXVQLlNOXagO+/RuUexsoqXjI/TTt0MD4epLBaR9VmtVmNPO/RszMM8qxS5dE1YcuD3zF1OtO1yAs1bJQW6y+pcNCiqSxaYhHYYXplBFkSMbdnYdcs7SU+aISc/neW1JCfYwgvKl8MB3RpsHT0DqGRWAIYC9AVwNgHxY0tiPRScko16Ys0Rluaxryxf5mAPjWG+NzLarJX31lVA2t7FcYHhFC8ytt86MuQnWoaYGKlrKMaQvVwfgmsLgDFMDBXbdDQWePC6Y2OXmiow6qNyjMwrkJHJKuj7a71jKonAbyP8VPAl52sPs59zGnZVOjM2jpQCMd0mk30ft0aYvQNDBwyzyhENzKY/PUojgQi7gBO8ZFgaW9uwDO9ZSiUua6TkRCAlotDA8RZjXbh1Wolhgs7zOXULH+/L1JgA4y746n5Gauvfa3BI1kfGcs//rgzAEK9ESfzNjNQWP4HFxFLMIRHsnPaQhSMeoWVjCs0MkFR5x/Q8AtMQWAEQYDWdBhOslPicfaYwBiifyBYheh8Fuyzr5fA2KPoUXWJeY5wM8bMbJPfMY5c0MNPKeeQTME5u8UXnGwd1NvQod6YwFHkxqNLzWpKbUiIRcfbzq1dOMBQTwqZaViHU9WnFOPRkrV5jaOJNEzW7jmz56HF4TXzcRYM8Makup3KvWg00wzxhQ8i2WyfTU6260NDamg03t5nwcns86bUKeo/jsf1LEEEIddUATB9C/92rOsIv5lF5xVjD3HFXiMSORdXzDqBgnHGB4MqfS9YfhMzbv5+6HDV+LNiy5lP++gsnL16wJLaTIM7qCwPvHC6NPHrG4In5zYJGIHxXAnBSRAVLIfjXFGqjlwHb6M7voRzFt+twvt+j4yQGV3Wb3HAUo5/gddsCFBVEP7Rkz4djf+eemPV0l3aKxDQwpgrC/xNh+TPkFzv8xSSaUSAl/7H1Wfiwuk0062/xRBpKQ1SigZe/JGswLL16QFTw5iPdCArCQSPY7JXyRFF/5BhmsbOrnaa8w9xzt/3uLD9OMhAhB+eNlOgkLIH+Kjhp/xlMAIVFSs0XkH5rlPdnMRkQFlEeShYieFtRG6rKn410h/gw0uSNBZJ/e/uU+dHwFw9VAgrQYswR81dbKAxXtrb3ZbyWW5u4duZNWGb29/+OGGbmk5jfwHyiFGVGWKHGLUkPREtU/HJ1YbjYh6DZ76+9gglRl16rx/rjyABOXiEUnm" title="Mekko Graphics Chart">
            <a:extLst>
              <a:ext uri="{FF2B5EF4-FFF2-40B4-BE49-F238E27FC236}">
                <a16:creationId xmlns:a16="http://schemas.microsoft.com/office/drawing/2014/main" id="{BC60D36A-6590-4B58-9263-531F9E82974C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 bwMode="gray">
          <a:xfrm>
            <a:off x="2342665" y="1565103"/>
            <a:ext cx="7636311" cy="5510994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9" name="btfpNotesBox168294">
            <a:extLst>
              <a:ext uri="{FF2B5EF4-FFF2-40B4-BE49-F238E27FC236}">
                <a16:creationId xmlns:a16="http://schemas.microsoft.com/office/drawing/2014/main" id="{07EFE72D-2FAB-47C9-B59E-45ACACD1C4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gray">
          <a:xfrm>
            <a:off x="330200" y="6319047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 Note: Direct materials costs and ability to control will differ significantly based on type of Auto Parts being manufactured. Reference procurement benchmarks.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Estimated cost bar breakdown based on Bain experience, including Hitachi, Alps Alpine, Deutz, etc.  </a:t>
            </a:r>
          </a:p>
        </p:txBody>
      </p:sp>
      <p:grpSp>
        <p:nvGrpSpPr>
          <p:cNvPr id="53" name="btfpColumnHeaderBox122226">
            <a:extLst>
              <a:ext uri="{FF2B5EF4-FFF2-40B4-BE49-F238E27FC236}">
                <a16:creationId xmlns:a16="http://schemas.microsoft.com/office/drawing/2014/main" id="{ADDBF4CD-DFA6-49F8-8939-A374509672FD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30200" y="1270000"/>
            <a:ext cx="11531600" cy="318997"/>
            <a:chOff x="330200" y="1270000"/>
            <a:chExt cx="11531600" cy="318997"/>
          </a:xfrm>
        </p:grpSpPr>
        <p:sp>
          <p:nvSpPr>
            <p:cNvPr id="51" name="btfpColumnHeaderBoxText122226">
              <a:extLst>
                <a:ext uri="{FF2B5EF4-FFF2-40B4-BE49-F238E27FC236}">
                  <a16:creationId xmlns:a16="http://schemas.microsoft.com/office/drawing/2014/main" id="{FB40A34C-BE5A-4D6A-A968-D59D4ACD1A7D}"/>
                </a:ext>
              </a:extLst>
            </p:cNvPr>
            <p:cNvSpPr txBox="1"/>
            <p:nvPr/>
          </p:nvSpPr>
          <p:spPr bwMode="gray">
            <a:xfrm>
              <a:off x="330200" y="1270000"/>
              <a:ext cx="11531600" cy="318997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>
                  <a:solidFill>
                    <a:srgbClr val="000000"/>
                  </a:solidFill>
                </a:rPr>
                <a:t>Auto Parts estimated cost bar</a:t>
              </a:r>
            </a:p>
          </p:txBody>
        </p:sp>
        <p:cxnSp>
          <p:nvCxnSpPr>
            <p:cNvPr id="52" name="btfpColumnHeaderBoxLine122226">
              <a:extLst>
                <a:ext uri="{FF2B5EF4-FFF2-40B4-BE49-F238E27FC236}">
                  <a16:creationId xmlns:a16="http://schemas.microsoft.com/office/drawing/2014/main" id="{83EF81CB-6131-4F20-AC8F-218EDD185F40}"/>
                </a:ext>
              </a:extLst>
            </p:cNvPr>
            <p:cNvCxnSpPr/>
            <p:nvPr/>
          </p:nvCxnSpPr>
          <p:spPr bwMode="gray">
            <a:xfrm>
              <a:off x="330200" y="1588997"/>
              <a:ext cx="11531600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Left Brace 54">
            <a:extLst>
              <a:ext uri="{FF2B5EF4-FFF2-40B4-BE49-F238E27FC236}">
                <a16:creationId xmlns:a16="http://schemas.microsoft.com/office/drawing/2014/main" id="{AAE9F46B-C477-420A-99EA-CAE6159098D2}"/>
              </a:ext>
            </a:extLst>
          </p:cNvPr>
          <p:cNvSpPr/>
          <p:nvPr/>
        </p:nvSpPr>
        <p:spPr bwMode="gray">
          <a:xfrm>
            <a:off x="3280335" y="3303707"/>
            <a:ext cx="129709" cy="2627126"/>
          </a:xfrm>
          <a:prstGeom prst="leftBrace">
            <a:avLst/>
          </a:prstGeom>
          <a:ln w="9525" cap="flat">
            <a:solidFill>
              <a:schemeClr val="tx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200E977-755B-4B25-A7A8-AF0B4E308ED8}"/>
              </a:ext>
            </a:extLst>
          </p:cNvPr>
          <p:cNvSpPr txBox="1"/>
          <p:nvPr/>
        </p:nvSpPr>
        <p:spPr bwMode="gray">
          <a:xfrm rot="16200000">
            <a:off x="2699004" y="4265394"/>
            <a:ext cx="936070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0"/>
              <a:t>COGS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6310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btfpColumnIndicatorGroup2">
            <a:extLst>
              <a:ext uri="{FF2B5EF4-FFF2-40B4-BE49-F238E27FC236}">
                <a16:creationId xmlns:a16="http://schemas.microsoft.com/office/drawing/2014/main" id="{1CC12D46-AA92-42ED-A1FA-650A3ED26A60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63" name="btfpColumnGapBlocker859065">
              <a:extLst>
                <a:ext uri="{FF2B5EF4-FFF2-40B4-BE49-F238E27FC236}">
                  <a16:creationId xmlns:a16="http://schemas.microsoft.com/office/drawing/2014/main" id="{3F4154EF-E374-483A-A0BD-CE6CC0FF85F9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1" name="btfpColumnGapBlocker642574">
              <a:extLst>
                <a:ext uri="{FF2B5EF4-FFF2-40B4-BE49-F238E27FC236}">
                  <a16:creationId xmlns:a16="http://schemas.microsoft.com/office/drawing/2014/main" id="{9B2C24C2-B532-4EC0-8CEF-CD132D73C4E0}"/>
                </a:ext>
              </a:extLst>
            </p:cNvPr>
            <p:cNvSpPr/>
            <p:nvPr/>
          </p:nvSpPr>
          <p:spPr bwMode="gray">
            <a:xfrm>
              <a:off x="7837752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9" name="btfpColumnIndicator886408">
              <a:extLst>
                <a:ext uri="{FF2B5EF4-FFF2-40B4-BE49-F238E27FC236}">
                  <a16:creationId xmlns:a16="http://schemas.microsoft.com/office/drawing/2014/main" id="{7EBD2B7F-C986-4019-ADB8-CB23A35C1E65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btfpColumnIndicator154901">
              <a:extLst>
                <a:ext uri="{FF2B5EF4-FFF2-40B4-BE49-F238E27FC236}">
                  <a16:creationId xmlns:a16="http://schemas.microsoft.com/office/drawing/2014/main" id="{EA65B4C7-E77B-46E3-9B6D-A948F5C69D92}"/>
                </a:ext>
              </a:extLst>
            </p:cNvPr>
            <p:cNvCxnSpPr/>
            <p:nvPr/>
          </p:nvCxnSpPr>
          <p:spPr bwMode="gray">
            <a:xfrm flipV="1">
              <a:off x="837829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btfpColumnGapBlocker322906">
              <a:extLst>
                <a:ext uri="{FF2B5EF4-FFF2-40B4-BE49-F238E27FC236}">
                  <a16:creationId xmlns:a16="http://schemas.microsoft.com/office/drawing/2014/main" id="{ED3F6FD5-C687-4F6F-A055-E3AA3255BBB9}"/>
                </a:ext>
              </a:extLst>
            </p:cNvPr>
            <p:cNvSpPr/>
            <p:nvPr/>
          </p:nvSpPr>
          <p:spPr bwMode="gray">
            <a:xfrm>
              <a:off x="381370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3" name="btfpColumnIndicator945084">
              <a:extLst>
                <a:ext uri="{FF2B5EF4-FFF2-40B4-BE49-F238E27FC236}">
                  <a16:creationId xmlns:a16="http://schemas.microsoft.com/office/drawing/2014/main" id="{C8B1B111-4A8A-45BE-A962-3F3A97282443}"/>
                </a:ext>
              </a:extLst>
            </p:cNvPr>
            <p:cNvCxnSpPr/>
            <p:nvPr/>
          </p:nvCxnSpPr>
          <p:spPr bwMode="gray">
            <a:xfrm flipV="1">
              <a:off x="783775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btfpColumnIndicator284448">
              <a:extLst>
                <a:ext uri="{FF2B5EF4-FFF2-40B4-BE49-F238E27FC236}">
                  <a16:creationId xmlns:a16="http://schemas.microsoft.com/office/drawing/2014/main" id="{DBC88BCB-656E-465E-BAD4-07F04133EC01}"/>
                </a:ext>
              </a:extLst>
            </p:cNvPr>
            <p:cNvCxnSpPr/>
            <p:nvPr/>
          </p:nvCxnSpPr>
          <p:spPr bwMode="gray">
            <a:xfrm flipV="1">
              <a:off x="435424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btfpColumnGapBlocker814293">
              <a:extLst>
                <a:ext uri="{FF2B5EF4-FFF2-40B4-BE49-F238E27FC236}">
                  <a16:creationId xmlns:a16="http://schemas.microsoft.com/office/drawing/2014/main" id="{65404056-D1D3-46AE-98C5-E6A0EF5BF2EC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21" name="btfpColumnIndicator355092">
              <a:extLst>
                <a:ext uri="{FF2B5EF4-FFF2-40B4-BE49-F238E27FC236}">
                  <a16:creationId xmlns:a16="http://schemas.microsoft.com/office/drawing/2014/main" id="{2F566FE5-1DA1-4532-9E50-CD8AE4BC3289}"/>
                </a:ext>
              </a:extLst>
            </p:cNvPr>
            <p:cNvCxnSpPr/>
            <p:nvPr/>
          </p:nvCxnSpPr>
          <p:spPr bwMode="gray">
            <a:xfrm flipV="1">
              <a:off x="381370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btfpColumnIndicator208533">
              <a:extLst>
                <a:ext uri="{FF2B5EF4-FFF2-40B4-BE49-F238E27FC236}">
                  <a16:creationId xmlns:a16="http://schemas.microsoft.com/office/drawing/2014/main" id="{6F3F0DC6-7DA9-4213-AA92-C93BD8A11C79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btfpColumnIndicatorGroup1">
            <a:extLst>
              <a:ext uri="{FF2B5EF4-FFF2-40B4-BE49-F238E27FC236}">
                <a16:creationId xmlns:a16="http://schemas.microsoft.com/office/drawing/2014/main" id="{182C3E93-F636-49B8-83D8-BE7E1C114E48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62" name="btfpColumnGapBlocker196759">
              <a:extLst>
                <a:ext uri="{FF2B5EF4-FFF2-40B4-BE49-F238E27FC236}">
                  <a16:creationId xmlns:a16="http://schemas.microsoft.com/office/drawing/2014/main" id="{868F42F8-6C80-4215-9706-D98E549DB2A2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0" name="btfpColumnGapBlocker551474">
              <a:extLst>
                <a:ext uri="{FF2B5EF4-FFF2-40B4-BE49-F238E27FC236}">
                  <a16:creationId xmlns:a16="http://schemas.microsoft.com/office/drawing/2014/main" id="{012D63B2-D71D-4F1B-833B-8A09ACAB6772}"/>
                </a:ext>
              </a:extLst>
            </p:cNvPr>
            <p:cNvSpPr/>
            <p:nvPr/>
          </p:nvSpPr>
          <p:spPr bwMode="gray">
            <a:xfrm>
              <a:off x="7837752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8" name="btfpColumnIndicator963087">
              <a:extLst>
                <a:ext uri="{FF2B5EF4-FFF2-40B4-BE49-F238E27FC236}">
                  <a16:creationId xmlns:a16="http://schemas.microsoft.com/office/drawing/2014/main" id="{7037BE27-551C-413F-90AD-2CEB1F98F564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btfpColumnIndicator286219">
              <a:extLst>
                <a:ext uri="{FF2B5EF4-FFF2-40B4-BE49-F238E27FC236}">
                  <a16:creationId xmlns:a16="http://schemas.microsoft.com/office/drawing/2014/main" id="{5878FE9A-B642-4005-9F35-FC68B5EB8711}"/>
                </a:ext>
              </a:extLst>
            </p:cNvPr>
            <p:cNvCxnSpPr/>
            <p:nvPr/>
          </p:nvCxnSpPr>
          <p:spPr bwMode="gray">
            <a:xfrm flipV="1">
              <a:off x="837829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btfpColumnGapBlocker786810">
              <a:extLst>
                <a:ext uri="{FF2B5EF4-FFF2-40B4-BE49-F238E27FC236}">
                  <a16:creationId xmlns:a16="http://schemas.microsoft.com/office/drawing/2014/main" id="{8286C76B-34AD-4C52-ACD7-54DDB791571C}"/>
                </a:ext>
              </a:extLst>
            </p:cNvPr>
            <p:cNvSpPr/>
            <p:nvPr/>
          </p:nvSpPr>
          <p:spPr bwMode="gray">
            <a:xfrm>
              <a:off x="381370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2" name="btfpColumnIndicator624556">
              <a:extLst>
                <a:ext uri="{FF2B5EF4-FFF2-40B4-BE49-F238E27FC236}">
                  <a16:creationId xmlns:a16="http://schemas.microsoft.com/office/drawing/2014/main" id="{72F7AD56-DCE6-49C0-A0A0-B2842C1806E5}"/>
                </a:ext>
              </a:extLst>
            </p:cNvPr>
            <p:cNvCxnSpPr/>
            <p:nvPr/>
          </p:nvCxnSpPr>
          <p:spPr bwMode="gray">
            <a:xfrm flipV="1">
              <a:off x="783775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btfpColumnIndicator481501">
              <a:extLst>
                <a:ext uri="{FF2B5EF4-FFF2-40B4-BE49-F238E27FC236}">
                  <a16:creationId xmlns:a16="http://schemas.microsoft.com/office/drawing/2014/main" id="{C986455B-0E1A-4380-9E44-4D73844F9B0A}"/>
                </a:ext>
              </a:extLst>
            </p:cNvPr>
            <p:cNvCxnSpPr/>
            <p:nvPr/>
          </p:nvCxnSpPr>
          <p:spPr bwMode="gray">
            <a:xfrm flipV="1">
              <a:off x="435424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btfpColumnGapBlocker251466">
              <a:extLst>
                <a:ext uri="{FF2B5EF4-FFF2-40B4-BE49-F238E27FC236}">
                  <a16:creationId xmlns:a16="http://schemas.microsoft.com/office/drawing/2014/main" id="{8BEA9071-886C-4762-A079-7231E3C07615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20" name="btfpColumnIndicator745366">
              <a:extLst>
                <a:ext uri="{FF2B5EF4-FFF2-40B4-BE49-F238E27FC236}">
                  <a16:creationId xmlns:a16="http://schemas.microsoft.com/office/drawing/2014/main" id="{85AB9905-4DE2-40AF-8EFB-DB31A76087D1}"/>
                </a:ext>
              </a:extLst>
            </p:cNvPr>
            <p:cNvCxnSpPr/>
            <p:nvPr/>
          </p:nvCxnSpPr>
          <p:spPr bwMode="gray">
            <a:xfrm flipV="1">
              <a:off x="381370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btfpColumnIndicator872990">
              <a:extLst>
                <a:ext uri="{FF2B5EF4-FFF2-40B4-BE49-F238E27FC236}">
                  <a16:creationId xmlns:a16="http://schemas.microsoft.com/office/drawing/2014/main" id="{9FA5AFE4-04F2-40EC-8279-638C7545D806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Title 4">
            <a:extLst>
              <a:ext uri="{FF2B5EF4-FFF2-40B4-BE49-F238E27FC236}">
                <a16:creationId xmlns:a16="http://schemas.microsoft.com/office/drawing/2014/main" id="{9945BEAE-5FFE-486E-AEFD-18B65F64C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288161"/>
            <a:ext cx="11521440" cy="1097280"/>
          </a:xfrm>
        </p:spPr>
        <p:txBody>
          <a:bodyPr anchor="t"/>
          <a:lstStyle/>
          <a:p>
            <a:r>
              <a:rPr lang="en-US" sz="2400">
                <a:solidFill>
                  <a:srgbClr val="000000"/>
                </a:solidFill>
              </a:rPr>
              <a:t>Bain experience suggests run rate potential of ~$435-1160M</a:t>
            </a:r>
            <a:r>
              <a:rPr lang="en-US" sz="2400" i="1">
                <a:solidFill>
                  <a:srgbClr val="000000"/>
                </a:solidFill>
              </a:rPr>
              <a:t>– to be validated and refined in the diligence phase</a:t>
            </a: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49" name="btfpNotesBox614137">
            <a:extLst>
              <a:ext uri="{FF2B5EF4-FFF2-40B4-BE49-F238E27FC236}">
                <a16:creationId xmlns:a16="http://schemas.microsoft.com/office/drawing/2014/main" id="{864EF352-38D3-468C-8E47-3786B40B7BD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gray">
          <a:xfrm>
            <a:off x="157958" y="6623630"/>
            <a:ext cx="11531600" cy="215444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700">
                <a:solidFill>
                  <a:srgbClr val="000000"/>
                </a:solidFill>
              </a:rPr>
              <a:t>Notes: (1) Cash conversion cycle, rather than cost base (2) Capex spend, rather than cost base (3) EBIT and EBIT margin uplift, rather than cost base; COGS and SG&amp;A cost splits are assumed. Run rate = value from commercial excellence, G&amp;A, and COGS levers.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700">
                <a:solidFill>
                  <a:srgbClr val="000000"/>
                </a:solidFill>
              </a:rPr>
              <a:t>Source: Bain experience; CONSO PL - FY21-22-23_Values; CAPEX Historical (FY18-FY22)</a:t>
            </a:r>
          </a:p>
        </p:txBody>
      </p:sp>
      <p:graphicFrame>
        <p:nvGraphicFramePr>
          <p:cNvPr id="71" name="btfpTable430501">
            <a:extLst>
              <a:ext uri="{FF2B5EF4-FFF2-40B4-BE49-F238E27FC236}">
                <a16:creationId xmlns:a16="http://schemas.microsoft.com/office/drawing/2014/main" id="{C355BDE9-2997-42A3-B354-76616E3743A8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562100" y="1272339"/>
          <a:ext cx="10332032" cy="5196840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339115">
                  <a:extLst>
                    <a:ext uri="{9D8B030D-6E8A-4147-A177-3AD203B41FA5}">
                      <a16:colId xmlns:a16="http://schemas.microsoft.com/office/drawing/2014/main" val="3881006203"/>
                    </a:ext>
                  </a:extLst>
                </a:gridCol>
                <a:gridCol w="797374">
                  <a:extLst>
                    <a:ext uri="{9D8B030D-6E8A-4147-A177-3AD203B41FA5}">
                      <a16:colId xmlns:a16="http://schemas.microsoft.com/office/drawing/2014/main" val="3393239725"/>
                    </a:ext>
                  </a:extLst>
                </a:gridCol>
                <a:gridCol w="1165368">
                  <a:extLst>
                    <a:ext uri="{9D8B030D-6E8A-4147-A177-3AD203B41FA5}">
                      <a16:colId xmlns:a16="http://schemas.microsoft.com/office/drawing/2014/main" val="2397766120"/>
                    </a:ext>
                  </a:extLst>
                </a:gridCol>
                <a:gridCol w="1165368">
                  <a:extLst>
                    <a:ext uri="{9D8B030D-6E8A-4147-A177-3AD203B41FA5}">
                      <a16:colId xmlns:a16="http://schemas.microsoft.com/office/drawing/2014/main" val="3915271311"/>
                    </a:ext>
                  </a:extLst>
                </a:gridCol>
                <a:gridCol w="5864807">
                  <a:extLst>
                    <a:ext uri="{9D8B030D-6E8A-4147-A177-3AD203B41FA5}">
                      <a16:colId xmlns:a16="http://schemas.microsoft.com/office/drawing/2014/main" val="40335173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Cost improvement opportunities</a:t>
                      </a:r>
                    </a:p>
                  </a:txBody>
                  <a:tcPr marL="45720" marR="45720"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Est. baseline</a:t>
                      </a:r>
                      <a:endParaRPr lang="en-US" sz="1100" b="0" i="1" baseline="3000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6D6D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Typical value potential</a:t>
                      </a:r>
                    </a:p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based on Bain experience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Hypothesis for opportunities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19649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50" b="1">
                          <a:solidFill>
                            <a:srgbClr val="333333"/>
                          </a:solidFill>
                        </a:rPr>
                        <a:t>Net working capital</a:t>
                      </a:r>
                    </a:p>
                  </a:txBody>
                  <a:tcPr marL="45720" marR="45720" anchor="ctr"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300"/>
                        </a:spcBef>
                        <a:buFontTx/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38 days</a:t>
                      </a:r>
                      <a:r>
                        <a:rPr lang="en-US" sz="1000" baseline="300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marL="0" indent="0" algn="ctr">
                        <a:spcBef>
                          <a:spcPts val="300"/>
                        </a:spcBef>
                        <a:buFontTx/>
                        <a:buNone/>
                      </a:pPr>
                      <a:r>
                        <a:rPr lang="en-US" sz="1000" i="1" baseline="0">
                          <a:solidFill>
                            <a:schemeClr val="tx1"/>
                          </a:solidFill>
                        </a:rPr>
                        <a:t>CCC</a:t>
                      </a:r>
                    </a:p>
                  </a:txBody>
                  <a:tcPr marL="45720" marR="45720" anchor="ctr"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77800" lvl="0" indent="-177800" algn="l" defTabSz="7112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har char="•"/>
                      </a:pP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>
                        <a:alpha val="2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Develop clear governance, mandates, and KPIs to drive to more efficient inventory management (e.g., pooling, reduction of safety stock, assessment of dead stock, use of consignment stock)</a:t>
                      </a:r>
                    </a:p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Standardize procedures for managing receivables &amp; be agile to get invoices to OEMs quickly and accurately</a:t>
                      </a:r>
                    </a:p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Extend and standardize supplier payment terms; eliminate early payments to suppliers</a:t>
                      </a:r>
                    </a:p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Develop robust approval and evaluation process to ensure capex investments align to overall business strategy (decreasing, but not deferring, planned capex while delivering expected outcomes)</a:t>
                      </a:r>
                    </a:p>
                  </a:txBody>
                  <a:tcPr marL="45720" marR="45720" anchor="ctr"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682239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50" b="1">
                          <a:solidFill>
                            <a:srgbClr val="333333"/>
                          </a:solidFill>
                        </a:rPr>
                        <a:t>Capex</a:t>
                      </a:r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$0.4B</a:t>
                      </a:r>
                      <a:r>
                        <a:rPr lang="en-US" sz="1000" baseline="300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i="1" baseline="0">
                          <a:solidFill>
                            <a:schemeClr val="tx1"/>
                          </a:solidFill>
                        </a:rPr>
                        <a:t>Capex</a:t>
                      </a:r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77800" lvl="0" indent="-177800" algn="l" defTabSz="7112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har char="•"/>
                      </a:pP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>
                        <a:alpha val="2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952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715735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50" b="1">
                          <a:solidFill>
                            <a:srgbClr val="333333"/>
                          </a:solidFill>
                        </a:rPr>
                        <a:t>Pricing &amp; portfolio</a:t>
                      </a:r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300"/>
                        </a:spcBef>
                        <a:buFontTx/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$0.3B</a:t>
                      </a:r>
                      <a:r>
                        <a:rPr lang="en-US" sz="1000" baseline="300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  <a:p>
                      <a:pPr marL="0" indent="0" algn="ctr">
                        <a:spcBef>
                          <a:spcPts val="300"/>
                        </a:spcBef>
                        <a:buFontTx/>
                        <a:buNone/>
                      </a:pPr>
                      <a:r>
                        <a:rPr lang="en-US" sz="1050" i="1" baseline="0">
                          <a:solidFill>
                            <a:schemeClr val="tx1"/>
                          </a:solidFill>
                        </a:rPr>
                        <a:t>EBIT</a:t>
                      </a:r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lang="en-US" sz="10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>
                        <a:alpha val="2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Refine bid management, costing, &amp; pricing strategy; identify opportunities for cost pass-through to OEMs</a:t>
                      </a:r>
                    </a:p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Evaluate contractual terms and claims process to identify improvement areas</a:t>
                      </a:r>
                    </a:p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Strengthen program portfolio management with profitability analysis (e.g., design to cost, product substitution)</a:t>
                      </a:r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5412942"/>
                  </a:ext>
                </a:extLst>
              </a:tr>
              <a:tr h="186891"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50" b="1">
                          <a:solidFill>
                            <a:srgbClr val="333333"/>
                          </a:solidFill>
                        </a:rPr>
                        <a:t>Sales &amp; marketing</a:t>
                      </a:r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300"/>
                        </a:spcBef>
                        <a:buFontTx/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$0.1B</a:t>
                      </a:r>
                    </a:p>
                    <a:p>
                      <a:pPr marL="0" indent="0" algn="ctr">
                        <a:spcBef>
                          <a:spcPts val="300"/>
                        </a:spcBef>
                        <a:buFontTx/>
                        <a:buNone/>
                      </a:pPr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S&amp;M cost</a:t>
                      </a:r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7800" indent="-177800" algn="l">
                        <a:spcBef>
                          <a:spcPts val="600"/>
                        </a:spcBef>
                      </a:pPr>
                      <a:endParaRPr lang="en-US" sz="1000" i="0" u="none" strike="noStrike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>
                        <a:alpha val="2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Refine key account management roles &amp; responsibilities and zero-base sales function</a:t>
                      </a:r>
                    </a:p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Prioritize accounts by profit opportunity and ability to win to ensure reps are focused on the best opportunities</a:t>
                      </a:r>
                    </a:p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Improve marketing ROI and streamline outsourcing (e.g., shift to digital, keep complex work in-house)</a:t>
                      </a:r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141989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50" b="1">
                          <a:solidFill>
                            <a:srgbClr val="333333"/>
                          </a:solidFill>
                        </a:rPr>
                        <a:t>G&amp;A</a:t>
                      </a:r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300"/>
                        </a:spcBef>
                        <a:buFontTx/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$0.4B</a:t>
                      </a:r>
                    </a:p>
                    <a:p>
                      <a:pPr marL="0" indent="0" algn="ctr">
                        <a:spcBef>
                          <a:spcPts val="300"/>
                        </a:spcBef>
                        <a:buFontTx/>
                        <a:buNone/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</a:rPr>
                        <a:t>G&amp;A cost</a:t>
                      </a:r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endParaRPr lang="en-US" sz="1000" u="none" strike="noStrike" baseline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>
                        <a:alpha val="2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Eliminate duplicative and low-value / unnecessary work across BUs / HQ through changes to operating model, automation, and/or process redesign; simplify functional processes to better serve key customers</a:t>
                      </a:r>
                    </a:p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Standardize policies, templates, and formats and modernize systems to enhance productivity</a:t>
                      </a:r>
                    </a:p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Simplify org structure by optimizing spans and layers</a:t>
                      </a:r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9114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50" b="1">
                          <a:solidFill>
                            <a:srgbClr val="333333"/>
                          </a:solidFill>
                        </a:rPr>
                        <a:t>Procurement</a:t>
                      </a:r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300"/>
                        </a:spcBef>
                        <a:buFontTx/>
                        <a:buNone/>
                      </a:pPr>
                      <a:r>
                        <a:rPr lang="en-US" sz="1000"/>
                        <a:t>$5.7B</a:t>
                      </a:r>
                    </a:p>
                    <a:p>
                      <a:pPr marL="0" indent="0" algn="ctr">
                        <a:spcBef>
                          <a:spcPts val="300"/>
                        </a:spcBef>
                        <a:buFontTx/>
                        <a:buNone/>
                      </a:pPr>
                      <a:r>
                        <a:rPr lang="en-US" sz="1000" i="1"/>
                        <a:t>Materials cost</a:t>
                      </a:r>
                      <a:endParaRPr lang="en-US" sz="800" i="1"/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endParaRPr lang="en-US" sz="1000" u="none" strike="noStrike" baseline="0">
                        <a:effectLst/>
                      </a:endParaRPr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>
                        <a:alpha val="2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 lower / best cost suppliers for non-critical components</a:t>
                      </a:r>
                    </a:p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Consolidate volumes &amp; contracts to eliminate long supplier tail and unlock volume discounts</a:t>
                      </a:r>
                    </a:p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Qualify multiple sources of supply to increase negotiating power (prices and terms)</a:t>
                      </a:r>
                    </a:p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Reduce SKU complexity / simplify specifications</a:t>
                      </a:r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0598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50" b="1">
                          <a:solidFill>
                            <a:srgbClr val="333333"/>
                          </a:solidFill>
                        </a:rPr>
                        <a:t>Integrated ops (manufacturing &amp; supply chain)</a:t>
                      </a:r>
                      <a:endParaRPr lang="en-US" sz="1050" b="1" kern="1200">
                        <a:solidFill>
                          <a:srgbClr val="33333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300"/>
                        </a:spcBef>
                        <a:buFontTx/>
                        <a:buNone/>
                      </a:pPr>
                      <a:r>
                        <a:rPr lang="en-US" sz="1000"/>
                        <a:t>$3.5B</a:t>
                      </a:r>
                    </a:p>
                    <a:p>
                      <a:pPr marL="0" indent="0" algn="ctr">
                        <a:spcBef>
                          <a:spcPts val="300"/>
                        </a:spcBef>
                        <a:buFontTx/>
                        <a:buNone/>
                      </a:pPr>
                      <a:r>
                        <a:rPr lang="en-US" sz="1000" i="1"/>
                        <a:t>Operations cost</a:t>
                      </a:r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177800" indent="-177800" algn="l">
                        <a:spcBef>
                          <a:spcPts val="600"/>
                        </a:spcBef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>
                        <a:alpha val="2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Optimize manufacturing network footprint design (e.g., make vs. buy, plant footprint) and production setup</a:t>
                      </a:r>
                    </a:p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Improve factory performance (e.g., lean shopfloor processes, asset health, and total productive maintenance); install digital manufacturing capabilities</a:t>
                      </a:r>
                    </a:p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Design flexible supply chain, with appropriate resiliency measures</a:t>
                      </a:r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3046486"/>
                  </a:ext>
                </a:extLst>
              </a:tr>
              <a:tr h="435748"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50" b="1" kern="120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Engineering</a:t>
                      </a:r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300"/>
                        </a:spcBef>
                        <a:buFontTx/>
                        <a:buNone/>
                      </a:pPr>
                      <a:r>
                        <a:rPr lang="en-US" sz="1000"/>
                        <a:t>$0.2B</a:t>
                      </a:r>
                    </a:p>
                    <a:p>
                      <a:pPr marL="0" indent="0" algn="ctr">
                        <a:spcBef>
                          <a:spcPts val="300"/>
                        </a:spcBef>
                        <a:buFontTx/>
                        <a:buNone/>
                      </a:pPr>
                      <a:r>
                        <a:rPr lang="en-US" sz="1000" i="1"/>
                        <a:t>Engin. cost</a:t>
                      </a:r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177800" indent="-177800" algn="l">
                        <a:spcBef>
                          <a:spcPts val="600"/>
                        </a:spcBef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>
                        <a:alpha val="2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Target the right customer opportunities and pursue only profitable and / or strategic opportunities</a:t>
                      </a:r>
                    </a:p>
                    <a:p>
                      <a:pPr marL="177800" marR="0" lvl="0" indent="-17780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Improve overall operating &amp; spend efficiency (e.g., shift resourcing to the best-cost-countries, share engineers across segments, eliminate low-value work, harmonize engineering rates across OEMs / regions)</a:t>
                      </a:r>
                    </a:p>
                  </a:txBody>
                  <a:tcPr marL="45720" marR="45720" anchor="ctr"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605525"/>
                  </a:ext>
                </a:extLst>
              </a:tr>
              <a:tr h="371790">
                <a:tc gridSpan="2"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endParaRPr lang="en-US" sz="1100" i="1">
                        <a:solidFill>
                          <a:srgbClr val="5C5C5C"/>
                        </a:solidFill>
                      </a:endParaRPr>
                    </a:p>
                  </a:txBody>
                  <a:tcPr marL="45720" marR="4572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1100" b="0" i="1"/>
                    </a:p>
                  </a:txBody>
                  <a:tcPr marL="45720" marR="4572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1" kern="1200">
                          <a:solidFill>
                            <a:srgbClr val="858585"/>
                          </a:solidFill>
                          <a:latin typeface="+mn-lt"/>
                          <a:ea typeface="+mn-ea"/>
                          <a:cs typeface="+mn-cs"/>
                        </a:rPr>
                        <a:t>One time (cash): ~$390-745M</a:t>
                      </a:r>
                    </a:p>
                  </a:txBody>
                  <a:tcPr marL="27432" marR="2743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6D6D6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Run rate: ~$435-1160M </a:t>
                      </a:r>
                      <a:endParaRPr lang="en-US" sz="800" b="1" i="1" kern="120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6D6D6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i="1">
                        <a:latin typeface="+mj-lt"/>
                      </a:endParaRPr>
                    </a:p>
                  </a:txBody>
                  <a:tcPr marL="45720" marR="4572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98753021"/>
                  </a:ext>
                </a:extLst>
              </a:tr>
            </a:tbl>
          </a:graphicData>
        </a:graphic>
      </p:graphicFrame>
      <p:grpSp>
        <p:nvGrpSpPr>
          <p:cNvPr id="75" name="btfpRowHeaderBox983031">
            <a:extLst>
              <a:ext uri="{FF2B5EF4-FFF2-40B4-BE49-F238E27FC236}">
                <a16:creationId xmlns:a16="http://schemas.microsoft.com/office/drawing/2014/main" id="{D455C661-1292-4622-A223-9ADD0D7F09F6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297866" y="1720618"/>
            <a:ext cx="1148988" cy="814688"/>
            <a:chOff x="942052" y="1261855"/>
            <a:chExt cx="2540000" cy="972979"/>
          </a:xfrm>
        </p:grpSpPr>
        <p:sp>
          <p:nvSpPr>
            <p:cNvPr id="76" name="btfpRowHeaderBoxText983031">
              <a:extLst>
                <a:ext uri="{FF2B5EF4-FFF2-40B4-BE49-F238E27FC236}">
                  <a16:creationId xmlns:a16="http://schemas.microsoft.com/office/drawing/2014/main" id="{54CF0117-0D8B-4EDC-BBC3-BA97529F05D2}"/>
                </a:ext>
              </a:extLst>
            </p:cNvPr>
            <p:cNvSpPr txBox="1"/>
            <p:nvPr/>
          </p:nvSpPr>
          <p:spPr bwMode="gray">
            <a:xfrm>
              <a:off x="942052" y="1261855"/>
              <a:ext cx="2540000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200" b="1">
                  <a:solidFill>
                    <a:srgbClr val="858585"/>
                  </a:solidFill>
                </a:rPr>
                <a:t>Cash</a:t>
              </a:r>
              <a:endParaRPr lang="en-US" sz="1100" b="1">
                <a:solidFill>
                  <a:srgbClr val="858585"/>
                </a:solidFill>
              </a:endParaRPr>
            </a:p>
          </p:txBody>
        </p:sp>
        <p:cxnSp>
          <p:nvCxnSpPr>
            <p:cNvPr id="77" name="btfpRowHeaderBoxLine983031">
              <a:extLst>
                <a:ext uri="{FF2B5EF4-FFF2-40B4-BE49-F238E27FC236}">
                  <a16:creationId xmlns:a16="http://schemas.microsoft.com/office/drawing/2014/main" id="{EBF46FFC-1D46-4224-9A35-2F3379324732}"/>
                </a:ext>
              </a:extLst>
            </p:cNvPr>
            <p:cNvCxnSpPr/>
            <p:nvPr/>
          </p:nvCxnSpPr>
          <p:spPr bwMode="gray">
            <a:xfrm>
              <a:off x="3482052" y="1261855"/>
              <a:ext cx="0" cy="972979"/>
            </a:xfrm>
            <a:prstGeom prst="line">
              <a:avLst/>
            </a:prstGeom>
            <a:ln w="152400" cap="flat">
              <a:solidFill>
                <a:srgbClr val="858585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btfpRowHeaderBox983031">
            <a:extLst>
              <a:ext uri="{FF2B5EF4-FFF2-40B4-BE49-F238E27FC236}">
                <a16:creationId xmlns:a16="http://schemas.microsoft.com/office/drawing/2014/main" id="{4D497D03-6826-4770-A664-D6CEFEB0185F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297866" y="3578262"/>
            <a:ext cx="1148988" cy="613716"/>
            <a:chOff x="330200" y="1155455"/>
            <a:chExt cx="2540000" cy="782565"/>
          </a:xfrm>
        </p:grpSpPr>
        <p:sp>
          <p:nvSpPr>
            <p:cNvPr id="79" name="btfpRowHeaderBoxText983031">
              <a:extLst>
                <a:ext uri="{FF2B5EF4-FFF2-40B4-BE49-F238E27FC236}">
                  <a16:creationId xmlns:a16="http://schemas.microsoft.com/office/drawing/2014/main" id="{3B936B52-D14A-4CD8-94E4-98A89E7AA14F}"/>
                </a:ext>
              </a:extLst>
            </p:cNvPr>
            <p:cNvSpPr txBox="1"/>
            <p:nvPr/>
          </p:nvSpPr>
          <p:spPr bwMode="gray">
            <a:xfrm>
              <a:off x="330200" y="1155455"/>
              <a:ext cx="2540000" cy="782565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200" b="1">
                  <a:solidFill>
                    <a:srgbClr val="333333"/>
                  </a:solidFill>
                </a:rPr>
                <a:t>G&amp;A</a:t>
              </a:r>
            </a:p>
          </p:txBody>
        </p:sp>
        <p:cxnSp>
          <p:nvCxnSpPr>
            <p:cNvPr id="80" name="btfpRowHeaderBoxLine983031">
              <a:extLst>
                <a:ext uri="{FF2B5EF4-FFF2-40B4-BE49-F238E27FC236}">
                  <a16:creationId xmlns:a16="http://schemas.microsoft.com/office/drawing/2014/main" id="{3B8CAA41-7784-4F5B-B90C-DBFA615A930C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870200" y="1155455"/>
              <a:ext cx="0" cy="782565"/>
            </a:xfrm>
            <a:prstGeom prst="line">
              <a:avLst/>
            </a:prstGeom>
            <a:ln w="152400" cap="flat">
              <a:solidFill>
                <a:srgbClr val="333333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btfpRowHeaderBox983031">
            <a:extLst>
              <a:ext uri="{FF2B5EF4-FFF2-40B4-BE49-F238E27FC236}">
                <a16:creationId xmlns:a16="http://schemas.microsoft.com/office/drawing/2014/main" id="{F5377623-9841-4B25-9810-E0FF383679C8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297866" y="2610932"/>
            <a:ext cx="1148988" cy="891704"/>
            <a:chOff x="163811" y="1117119"/>
            <a:chExt cx="3369028" cy="928894"/>
          </a:xfrm>
        </p:grpSpPr>
        <p:sp>
          <p:nvSpPr>
            <p:cNvPr id="82" name="btfpRowHeaderBoxText983031">
              <a:extLst>
                <a:ext uri="{FF2B5EF4-FFF2-40B4-BE49-F238E27FC236}">
                  <a16:creationId xmlns:a16="http://schemas.microsoft.com/office/drawing/2014/main" id="{4DF0D929-59EB-4A50-B1A1-4219C49C2323}"/>
                </a:ext>
              </a:extLst>
            </p:cNvPr>
            <p:cNvSpPr txBox="1"/>
            <p:nvPr/>
          </p:nvSpPr>
          <p:spPr bwMode="gray">
            <a:xfrm>
              <a:off x="163811" y="1117119"/>
              <a:ext cx="3369028" cy="928894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200" b="1">
                  <a:solidFill>
                    <a:srgbClr val="333333"/>
                  </a:solidFill>
                </a:rPr>
                <a:t>Commercial Excellence</a:t>
              </a:r>
            </a:p>
          </p:txBody>
        </p:sp>
        <p:cxnSp>
          <p:nvCxnSpPr>
            <p:cNvPr id="83" name="btfpRowHeaderBoxLine983031">
              <a:extLst>
                <a:ext uri="{FF2B5EF4-FFF2-40B4-BE49-F238E27FC236}">
                  <a16:creationId xmlns:a16="http://schemas.microsoft.com/office/drawing/2014/main" id="{24F17926-35CB-4797-8A93-9B860D589B31}"/>
                </a:ext>
              </a:extLst>
            </p:cNvPr>
            <p:cNvCxnSpPr/>
            <p:nvPr/>
          </p:nvCxnSpPr>
          <p:spPr bwMode="gray">
            <a:xfrm>
              <a:off x="3532839" y="1117119"/>
              <a:ext cx="0" cy="928894"/>
            </a:xfrm>
            <a:prstGeom prst="line">
              <a:avLst/>
            </a:prstGeom>
            <a:ln w="152400" cap="flat">
              <a:solidFill>
                <a:srgbClr val="333333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btfpRowHeaderBox983031">
            <a:extLst>
              <a:ext uri="{FF2B5EF4-FFF2-40B4-BE49-F238E27FC236}">
                <a16:creationId xmlns:a16="http://schemas.microsoft.com/office/drawing/2014/main" id="{439F590D-5862-403C-842A-C47A14B8BC23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297866" y="4267605"/>
            <a:ext cx="1148988" cy="1848111"/>
            <a:chOff x="330200" y="1270000"/>
            <a:chExt cx="2540000" cy="983249"/>
          </a:xfrm>
        </p:grpSpPr>
        <p:sp>
          <p:nvSpPr>
            <p:cNvPr id="85" name="btfpRowHeaderBoxText983031">
              <a:extLst>
                <a:ext uri="{FF2B5EF4-FFF2-40B4-BE49-F238E27FC236}">
                  <a16:creationId xmlns:a16="http://schemas.microsoft.com/office/drawing/2014/main" id="{4C1AC165-E21C-4B74-B9B8-28E12C561E8A}"/>
                </a:ext>
              </a:extLst>
            </p:cNvPr>
            <p:cNvSpPr txBox="1"/>
            <p:nvPr/>
          </p:nvSpPr>
          <p:spPr bwMode="gray">
            <a:xfrm>
              <a:off x="330200" y="1270000"/>
              <a:ext cx="2540000" cy="972979"/>
            </a:xfrm>
            <a:prstGeom prst="rect">
              <a:avLst/>
            </a:prstGeom>
            <a:noFill/>
          </p:spPr>
          <p:txBody>
            <a:bodyPr vert="horz" wrap="square" lIns="36036" tIns="36036" rIns="180181" bIns="36036" rtlCol="0" anchor="t">
              <a:no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200" b="1">
                  <a:solidFill>
                    <a:srgbClr val="333333"/>
                  </a:solidFill>
                </a:rPr>
                <a:t>COGS</a:t>
              </a:r>
            </a:p>
          </p:txBody>
        </p:sp>
        <p:cxnSp>
          <p:nvCxnSpPr>
            <p:cNvPr id="86" name="btfpRowHeaderBoxLine983031">
              <a:extLst>
                <a:ext uri="{FF2B5EF4-FFF2-40B4-BE49-F238E27FC236}">
                  <a16:creationId xmlns:a16="http://schemas.microsoft.com/office/drawing/2014/main" id="{8CC34E96-D018-4BEC-9924-20A4E3BB4E6E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870200" y="1280270"/>
              <a:ext cx="0" cy="972979"/>
            </a:xfrm>
            <a:prstGeom prst="line">
              <a:avLst/>
            </a:prstGeom>
            <a:ln w="152400" cap="flat">
              <a:solidFill>
                <a:srgbClr val="333333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3C2BD41-D79C-43FF-8CE1-3B1B99D1F616}"/>
              </a:ext>
            </a:extLst>
          </p:cNvPr>
          <p:cNvGrpSpPr/>
          <p:nvPr/>
        </p:nvGrpSpPr>
        <p:grpSpPr>
          <a:xfrm>
            <a:off x="3607207" y="1565619"/>
            <a:ext cx="2509409" cy="583915"/>
            <a:chOff x="3592915" y="1499980"/>
            <a:chExt cx="2509409" cy="583915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13E9EA6-7151-49A1-8D56-29764A096240}"/>
                </a:ext>
              </a:extLst>
            </p:cNvPr>
            <p:cNvSpPr txBox="1"/>
            <p:nvPr/>
          </p:nvSpPr>
          <p:spPr bwMode="gray">
            <a:xfrm>
              <a:off x="3592915" y="1670947"/>
              <a:ext cx="443090" cy="24198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/>
                <a:t>7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5F086F86-EAA4-4ABD-9345-54999F411E62}"/>
                </a:ext>
              </a:extLst>
            </p:cNvPr>
            <p:cNvSpPr txBox="1"/>
            <p:nvPr/>
          </p:nvSpPr>
          <p:spPr bwMode="gray">
            <a:xfrm>
              <a:off x="5633499" y="1670947"/>
              <a:ext cx="468825" cy="24198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marL="0" indent="0">
                <a:buNone/>
              </a:pPr>
              <a:r>
                <a:rPr lang="en-US" sz="1100"/>
                <a:t>26</a:t>
              </a:r>
            </a:p>
          </p:txBody>
        </p:sp>
        <p:sp>
          <p:nvSpPr>
            <p:cNvPr id="89" name="Minus 52">
              <a:extLst>
                <a:ext uri="{FF2B5EF4-FFF2-40B4-BE49-F238E27FC236}">
                  <a16:creationId xmlns:a16="http://schemas.microsoft.com/office/drawing/2014/main" id="{A4281D2D-F29F-46EB-A1A6-B8640AF545C3}"/>
                </a:ext>
              </a:extLst>
            </p:cNvPr>
            <p:cNvSpPr/>
            <p:nvPr/>
          </p:nvSpPr>
          <p:spPr bwMode="gray">
            <a:xfrm>
              <a:off x="3840741" y="1499980"/>
              <a:ext cx="2024871" cy="583915"/>
            </a:xfrm>
            <a:prstGeom prst="mathMinus">
              <a:avLst/>
            </a:prstGeom>
            <a:gradFill>
              <a:gsLst>
                <a:gs pos="0">
                  <a:srgbClr val="00B050"/>
                </a:gs>
                <a:gs pos="62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DC21A02-42C3-43EC-B06D-312D86E1A327}"/>
                </a:ext>
              </a:extLst>
            </p:cNvPr>
            <p:cNvSpPr txBox="1"/>
            <p:nvPr/>
          </p:nvSpPr>
          <p:spPr bwMode="gray">
            <a:xfrm>
              <a:off x="4333256" y="1867298"/>
              <a:ext cx="1039840" cy="21120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marL="0" indent="0" algn="ctr">
                <a:buNone/>
              </a:pPr>
              <a:r>
                <a:rPr lang="en-US" sz="900" i="1">
                  <a:solidFill>
                    <a:schemeClr val="accent3"/>
                  </a:solidFill>
                </a:rPr>
                <a:t>~$370-700M</a:t>
              </a:r>
              <a:r>
                <a:rPr lang="en-US" sz="900" baseline="30000">
                  <a:solidFill>
                    <a:srgbClr val="CC0000"/>
                  </a:solidFill>
                </a:rPr>
                <a:t>1</a:t>
              </a:r>
              <a:endParaRPr lang="en-US" sz="900" i="1">
                <a:solidFill>
                  <a:srgbClr val="CC0000"/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CBA7423-5C5F-4818-90CB-13186B34727B}"/>
              </a:ext>
            </a:extLst>
          </p:cNvPr>
          <p:cNvGrpSpPr/>
          <p:nvPr/>
        </p:nvGrpSpPr>
        <p:grpSpPr>
          <a:xfrm>
            <a:off x="3607207" y="2023593"/>
            <a:ext cx="2509409" cy="583915"/>
            <a:chOff x="3592915" y="1977856"/>
            <a:chExt cx="2509409" cy="583915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C30956F-AA16-4EE6-A742-C989039D04A7}"/>
                </a:ext>
              </a:extLst>
            </p:cNvPr>
            <p:cNvSpPr txBox="1"/>
            <p:nvPr/>
          </p:nvSpPr>
          <p:spPr bwMode="gray">
            <a:xfrm>
              <a:off x="3592915" y="2148823"/>
              <a:ext cx="443090" cy="24198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/>
                <a:t>5%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CA7F6E3-8C29-4DB0-B291-BD0210676E7A}"/>
                </a:ext>
              </a:extLst>
            </p:cNvPr>
            <p:cNvSpPr txBox="1"/>
            <p:nvPr/>
          </p:nvSpPr>
          <p:spPr bwMode="gray">
            <a:xfrm>
              <a:off x="5633499" y="2148823"/>
              <a:ext cx="468825" cy="24198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marL="0" indent="0">
                <a:buNone/>
              </a:pPr>
              <a:r>
                <a:rPr lang="en-US" sz="1100"/>
                <a:t>10%</a:t>
              </a:r>
            </a:p>
          </p:txBody>
        </p:sp>
        <p:sp>
          <p:nvSpPr>
            <p:cNvPr id="102" name="Minus 52">
              <a:extLst>
                <a:ext uri="{FF2B5EF4-FFF2-40B4-BE49-F238E27FC236}">
                  <a16:creationId xmlns:a16="http://schemas.microsoft.com/office/drawing/2014/main" id="{A1696059-953F-4C88-BE84-0F7832599A57}"/>
                </a:ext>
              </a:extLst>
            </p:cNvPr>
            <p:cNvSpPr/>
            <p:nvPr/>
          </p:nvSpPr>
          <p:spPr bwMode="gray">
            <a:xfrm>
              <a:off x="3840741" y="1977856"/>
              <a:ext cx="2024871" cy="583915"/>
            </a:xfrm>
            <a:prstGeom prst="mathMinus">
              <a:avLst/>
            </a:prstGeom>
            <a:gradFill>
              <a:gsLst>
                <a:gs pos="0">
                  <a:srgbClr val="00B050"/>
                </a:gs>
                <a:gs pos="62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518C6AC-E437-4278-91AF-2C58FFD1130E}"/>
                </a:ext>
              </a:extLst>
            </p:cNvPr>
            <p:cNvSpPr txBox="1"/>
            <p:nvPr/>
          </p:nvSpPr>
          <p:spPr bwMode="gray">
            <a:xfrm>
              <a:off x="4333256" y="2345174"/>
              <a:ext cx="1039840" cy="21120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marL="0" indent="0" algn="ctr">
                <a:buNone/>
              </a:pPr>
              <a:r>
                <a:rPr lang="en-US" sz="900" i="1">
                  <a:solidFill>
                    <a:schemeClr val="accent3"/>
                  </a:solidFill>
                </a:rPr>
                <a:t>~$20-45M</a:t>
              </a:r>
              <a:r>
                <a:rPr lang="en-US" sz="900" baseline="30000">
                  <a:solidFill>
                    <a:srgbClr val="CC0000"/>
                  </a:solidFill>
                </a:rPr>
                <a:t>1</a:t>
              </a:r>
              <a:endParaRPr lang="en-US" sz="900" i="1">
                <a:solidFill>
                  <a:srgbClr val="CC0000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D5D55AB-CE6B-49A1-80B3-3A124894928D}"/>
              </a:ext>
            </a:extLst>
          </p:cNvPr>
          <p:cNvGrpSpPr/>
          <p:nvPr/>
        </p:nvGrpSpPr>
        <p:grpSpPr>
          <a:xfrm>
            <a:off x="3594339" y="2998042"/>
            <a:ext cx="2535144" cy="606494"/>
            <a:chOff x="3567180" y="3229002"/>
            <a:chExt cx="2535144" cy="606494"/>
          </a:xfrm>
        </p:grpSpPr>
        <p:sp>
          <p:nvSpPr>
            <p:cNvPr id="73" name="Minus 52">
              <a:extLst>
                <a:ext uri="{FF2B5EF4-FFF2-40B4-BE49-F238E27FC236}">
                  <a16:creationId xmlns:a16="http://schemas.microsoft.com/office/drawing/2014/main" id="{4014D7BD-2A6E-4E64-9CC4-AF95B4585DAA}"/>
                </a:ext>
              </a:extLst>
            </p:cNvPr>
            <p:cNvSpPr/>
            <p:nvPr/>
          </p:nvSpPr>
          <p:spPr bwMode="gray">
            <a:xfrm>
              <a:off x="3840741" y="3229002"/>
              <a:ext cx="2024871" cy="583915"/>
            </a:xfrm>
            <a:prstGeom prst="mathMinus">
              <a:avLst/>
            </a:prstGeom>
            <a:gradFill>
              <a:gsLst>
                <a:gs pos="0">
                  <a:srgbClr val="00B050"/>
                </a:gs>
                <a:gs pos="62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B708D9A-92BC-46B4-A50F-2BEC794792F1}"/>
                </a:ext>
              </a:extLst>
            </p:cNvPr>
            <p:cNvSpPr txBox="1"/>
            <p:nvPr/>
          </p:nvSpPr>
          <p:spPr bwMode="gray">
            <a:xfrm>
              <a:off x="3567180" y="3399969"/>
              <a:ext cx="468825" cy="24198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/>
                <a:t>5%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C81C68A-05C1-4D79-8B42-A013AB2DD216}"/>
                </a:ext>
              </a:extLst>
            </p:cNvPr>
            <p:cNvSpPr txBox="1"/>
            <p:nvPr/>
          </p:nvSpPr>
          <p:spPr bwMode="gray">
            <a:xfrm>
              <a:off x="5633499" y="3399969"/>
              <a:ext cx="468825" cy="24198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marL="0" indent="0">
                <a:buNone/>
              </a:pPr>
              <a:r>
                <a:rPr lang="en-US" sz="1100"/>
                <a:t>10%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4FE8CD5-6228-4E52-AB75-DE7280DF7D96}"/>
                </a:ext>
              </a:extLst>
            </p:cNvPr>
            <p:cNvSpPr txBox="1"/>
            <p:nvPr/>
          </p:nvSpPr>
          <p:spPr bwMode="gray">
            <a:xfrm>
              <a:off x="4380522" y="3624293"/>
              <a:ext cx="945309" cy="21120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marL="0" indent="0" algn="ctr">
                <a:buNone/>
              </a:pPr>
              <a:r>
                <a:rPr lang="en-US" sz="900" i="1">
                  <a:solidFill>
                    <a:schemeClr val="accent3"/>
                  </a:solidFill>
                </a:rPr>
                <a:t>~$10-15M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12D3A7C-F68A-4D13-B337-81323D019CA4}"/>
              </a:ext>
            </a:extLst>
          </p:cNvPr>
          <p:cNvGrpSpPr/>
          <p:nvPr/>
        </p:nvGrpSpPr>
        <p:grpSpPr>
          <a:xfrm>
            <a:off x="3594339" y="3578851"/>
            <a:ext cx="2535144" cy="617293"/>
            <a:chOff x="3567180" y="3924444"/>
            <a:chExt cx="2535144" cy="617293"/>
          </a:xfrm>
        </p:grpSpPr>
        <p:sp>
          <p:nvSpPr>
            <p:cNvPr id="72" name="Minus 52">
              <a:extLst>
                <a:ext uri="{FF2B5EF4-FFF2-40B4-BE49-F238E27FC236}">
                  <a16:creationId xmlns:a16="http://schemas.microsoft.com/office/drawing/2014/main" id="{FB1391C1-EB0B-458D-BC2B-A62885CCAA2E}"/>
                </a:ext>
              </a:extLst>
            </p:cNvPr>
            <p:cNvSpPr/>
            <p:nvPr/>
          </p:nvSpPr>
          <p:spPr bwMode="gray">
            <a:xfrm>
              <a:off x="3840741" y="3924444"/>
              <a:ext cx="2024871" cy="583915"/>
            </a:xfrm>
            <a:prstGeom prst="mathMinus">
              <a:avLst/>
            </a:prstGeom>
            <a:gradFill>
              <a:gsLst>
                <a:gs pos="0">
                  <a:srgbClr val="00B050"/>
                </a:gs>
                <a:gs pos="62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D9442FBA-4BC8-4331-951A-972F77A7146C}"/>
                </a:ext>
              </a:extLst>
            </p:cNvPr>
            <p:cNvSpPr txBox="1"/>
            <p:nvPr/>
          </p:nvSpPr>
          <p:spPr bwMode="gray">
            <a:xfrm>
              <a:off x="3567180" y="4095411"/>
              <a:ext cx="468825" cy="24198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/>
                <a:t>10%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ABA59200-8087-405E-B848-935DCD88103F}"/>
                </a:ext>
              </a:extLst>
            </p:cNvPr>
            <p:cNvSpPr txBox="1"/>
            <p:nvPr/>
          </p:nvSpPr>
          <p:spPr bwMode="gray">
            <a:xfrm>
              <a:off x="5633499" y="4095411"/>
              <a:ext cx="468825" cy="24198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marL="0" indent="0">
                <a:buNone/>
              </a:pPr>
              <a:r>
                <a:rPr lang="en-US" sz="1100"/>
                <a:t>20%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3B7B1424-2020-477A-A6F4-E681DFD26C5B}"/>
                </a:ext>
              </a:extLst>
            </p:cNvPr>
            <p:cNvSpPr txBox="1"/>
            <p:nvPr/>
          </p:nvSpPr>
          <p:spPr bwMode="gray">
            <a:xfrm>
              <a:off x="4380522" y="4330534"/>
              <a:ext cx="945309" cy="21120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marL="0" indent="0" algn="ctr">
                <a:buNone/>
              </a:pPr>
              <a:r>
                <a:rPr lang="en-US" sz="900" i="1">
                  <a:solidFill>
                    <a:schemeClr val="accent3"/>
                  </a:solidFill>
                </a:rPr>
                <a:t>~$35-75M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C97261F-685C-40D3-8A75-B62A46DDC5E8}"/>
              </a:ext>
            </a:extLst>
          </p:cNvPr>
          <p:cNvGrpSpPr/>
          <p:nvPr/>
        </p:nvGrpSpPr>
        <p:grpSpPr>
          <a:xfrm>
            <a:off x="3594339" y="4235652"/>
            <a:ext cx="2535144" cy="593441"/>
            <a:chOff x="3567180" y="4721509"/>
            <a:chExt cx="2535144" cy="593441"/>
          </a:xfrm>
        </p:grpSpPr>
        <p:sp>
          <p:nvSpPr>
            <p:cNvPr id="104" name="Minus 52">
              <a:extLst>
                <a:ext uri="{FF2B5EF4-FFF2-40B4-BE49-F238E27FC236}">
                  <a16:creationId xmlns:a16="http://schemas.microsoft.com/office/drawing/2014/main" id="{D8214D13-DEFD-4E0C-8CB2-1A317300D879}"/>
                </a:ext>
              </a:extLst>
            </p:cNvPr>
            <p:cNvSpPr/>
            <p:nvPr/>
          </p:nvSpPr>
          <p:spPr bwMode="gray">
            <a:xfrm>
              <a:off x="3840741" y="4721509"/>
              <a:ext cx="2024871" cy="583915"/>
            </a:xfrm>
            <a:prstGeom prst="mathMinus">
              <a:avLst/>
            </a:prstGeom>
            <a:gradFill>
              <a:gsLst>
                <a:gs pos="0">
                  <a:srgbClr val="00B050"/>
                </a:gs>
                <a:gs pos="62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AC529D0A-86A0-42DE-8E0A-DF13CBB9D807}"/>
                </a:ext>
              </a:extLst>
            </p:cNvPr>
            <p:cNvSpPr txBox="1"/>
            <p:nvPr/>
          </p:nvSpPr>
          <p:spPr bwMode="gray">
            <a:xfrm>
              <a:off x="3567180" y="4892476"/>
              <a:ext cx="468825" cy="24198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/>
                <a:t>1%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24B05524-72DE-44CB-92C8-457DC5384521}"/>
                </a:ext>
              </a:extLst>
            </p:cNvPr>
            <p:cNvSpPr txBox="1"/>
            <p:nvPr/>
          </p:nvSpPr>
          <p:spPr bwMode="gray">
            <a:xfrm>
              <a:off x="5633499" y="4892476"/>
              <a:ext cx="468825" cy="24198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marL="0" indent="0">
                <a:buNone/>
              </a:pPr>
              <a:r>
                <a:rPr lang="en-US" sz="1100"/>
                <a:t>3%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9F76DC4-B1D1-47BD-AAE5-98F97170C2D7}"/>
                </a:ext>
              </a:extLst>
            </p:cNvPr>
            <p:cNvSpPr txBox="1"/>
            <p:nvPr/>
          </p:nvSpPr>
          <p:spPr bwMode="gray">
            <a:xfrm>
              <a:off x="4411684" y="5103747"/>
              <a:ext cx="945309" cy="21120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marL="0" indent="0" algn="ctr">
                <a:buNone/>
              </a:pPr>
              <a:r>
                <a:rPr lang="en-US" sz="900" i="1">
                  <a:solidFill>
                    <a:schemeClr val="accent3"/>
                  </a:solidFill>
                </a:rPr>
                <a:t>~$55-170M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00AFB3F-947D-4983-9D3B-D275A3144BDA}"/>
              </a:ext>
            </a:extLst>
          </p:cNvPr>
          <p:cNvGrpSpPr/>
          <p:nvPr/>
        </p:nvGrpSpPr>
        <p:grpSpPr>
          <a:xfrm>
            <a:off x="3594339" y="4845377"/>
            <a:ext cx="2535144" cy="600384"/>
            <a:chOff x="3567180" y="5535126"/>
            <a:chExt cx="2535144" cy="600384"/>
          </a:xfrm>
        </p:grpSpPr>
        <p:sp>
          <p:nvSpPr>
            <p:cNvPr id="108" name="Minus 52">
              <a:extLst>
                <a:ext uri="{FF2B5EF4-FFF2-40B4-BE49-F238E27FC236}">
                  <a16:creationId xmlns:a16="http://schemas.microsoft.com/office/drawing/2014/main" id="{C391718C-9593-4E57-B708-2B9B593F36BA}"/>
                </a:ext>
              </a:extLst>
            </p:cNvPr>
            <p:cNvSpPr/>
            <p:nvPr/>
          </p:nvSpPr>
          <p:spPr bwMode="gray">
            <a:xfrm>
              <a:off x="3840741" y="5535126"/>
              <a:ext cx="2024871" cy="583915"/>
            </a:xfrm>
            <a:prstGeom prst="mathMinus">
              <a:avLst/>
            </a:prstGeom>
            <a:gradFill>
              <a:gsLst>
                <a:gs pos="0">
                  <a:srgbClr val="00B050"/>
                </a:gs>
                <a:gs pos="62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E56717F-5E6A-4DA3-89F6-89C50AE072B9}"/>
                </a:ext>
              </a:extLst>
            </p:cNvPr>
            <p:cNvSpPr txBox="1"/>
            <p:nvPr/>
          </p:nvSpPr>
          <p:spPr bwMode="gray">
            <a:xfrm>
              <a:off x="3567180" y="5706093"/>
              <a:ext cx="468825" cy="24198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/>
                <a:t>5%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5D9CCF7C-6018-435C-87A0-827C3DDEDF9C}"/>
                </a:ext>
              </a:extLst>
            </p:cNvPr>
            <p:cNvSpPr txBox="1"/>
            <p:nvPr/>
          </p:nvSpPr>
          <p:spPr bwMode="gray">
            <a:xfrm>
              <a:off x="5633499" y="5706093"/>
              <a:ext cx="468825" cy="24198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marL="0" indent="0">
                <a:buNone/>
              </a:pPr>
              <a:r>
                <a:rPr lang="en-US" sz="1100"/>
                <a:t>10%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88876D7E-592E-48AD-962B-013C56321A33}"/>
                </a:ext>
              </a:extLst>
            </p:cNvPr>
            <p:cNvSpPr txBox="1"/>
            <p:nvPr/>
          </p:nvSpPr>
          <p:spPr bwMode="gray">
            <a:xfrm>
              <a:off x="4380522" y="5924307"/>
              <a:ext cx="945309" cy="21120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marL="0" indent="0" algn="ctr">
                <a:buNone/>
              </a:pPr>
              <a:r>
                <a:rPr lang="en-US" sz="900" i="1">
                  <a:solidFill>
                    <a:schemeClr val="accent3"/>
                  </a:solidFill>
                </a:rPr>
                <a:t>~$175-350M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CA347FA-B6AE-4CE4-BCEA-4712BB8A8D8C}"/>
              </a:ext>
            </a:extLst>
          </p:cNvPr>
          <p:cNvGrpSpPr/>
          <p:nvPr/>
        </p:nvGrpSpPr>
        <p:grpSpPr>
          <a:xfrm>
            <a:off x="3594339" y="2500236"/>
            <a:ext cx="2535144" cy="619781"/>
            <a:chOff x="3567180" y="2521646"/>
            <a:chExt cx="2535144" cy="619781"/>
          </a:xfrm>
        </p:grpSpPr>
        <p:sp>
          <p:nvSpPr>
            <p:cNvPr id="123" name="Minus 52">
              <a:extLst>
                <a:ext uri="{FF2B5EF4-FFF2-40B4-BE49-F238E27FC236}">
                  <a16:creationId xmlns:a16="http://schemas.microsoft.com/office/drawing/2014/main" id="{5039218B-BCE5-4B3E-939A-3E7ED41DFA73}"/>
                </a:ext>
              </a:extLst>
            </p:cNvPr>
            <p:cNvSpPr/>
            <p:nvPr/>
          </p:nvSpPr>
          <p:spPr bwMode="gray">
            <a:xfrm>
              <a:off x="3840741" y="2521646"/>
              <a:ext cx="2024871" cy="583915"/>
            </a:xfrm>
            <a:prstGeom prst="mathMinus">
              <a:avLst/>
            </a:prstGeom>
            <a:gradFill>
              <a:gsLst>
                <a:gs pos="0">
                  <a:srgbClr val="00B050"/>
                </a:gs>
                <a:gs pos="62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5C66EA08-DE8C-44FC-A2A5-BE3B526372CA}"/>
                </a:ext>
              </a:extLst>
            </p:cNvPr>
            <p:cNvSpPr txBox="1"/>
            <p:nvPr/>
          </p:nvSpPr>
          <p:spPr bwMode="gray">
            <a:xfrm>
              <a:off x="3567180" y="2699987"/>
              <a:ext cx="468825" cy="24198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/>
                <a:t>2%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7E3A21D5-F0B4-4834-95E8-36AC35E76ECE}"/>
                </a:ext>
              </a:extLst>
            </p:cNvPr>
            <p:cNvSpPr txBox="1"/>
            <p:nvPr/>
          </p:nvSpPr>
          <p:spPr bwMode="gray">
            <a:xfrm>
              <a:off x="5633499" y="2699987"/>
              <a:ext cx="468825" cy="24198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marL="0" indent="0">
                <a:buNone/>
              </a:pPr>
              <a:r>
                <a:rPr lang="en-US" sz="1100"/>
                <a:t>5%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12556C1C-21F4-49CE-9109-5B13C23BB9DE}"/>
                </a:ext>
              </a:extLst>
            </p:cNvPr>
            <p:cNvSpPr txBox="1"/>
            <p:nvPr/>
          </p:nvSpPr>
          <p:spPr bwMode="gray">
            <a:xfrm>
              <a:off x="4333256" y="2930224"/>
              <a:ext cx="1039840" cy="21120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marL="0" indent="0" algn="ctr">
                <a:buNone/>
              </a:pPr>
              <a:r>
                <a:rPr lang="en-US" sz="900" i="1">
                  <a:solidFill>
                    <a:schemeClr val="accent3"/>
                  </a:solidFill>
                </a:rPr>
                <a:t>~$150-500M</a:t>
              </a:r>
              <a:r>
                <a:rPr lang="en-US" sz="900" i="1" baseline="30000">
                  <a:solidFill>
                    <a:schemeClr val="accent3"/>
                  </a:solidFill>
                </a:rPr>
                <a:t>3</a:t>
              </a:r>
            </a:p>
          </p:txBody>
        </p:sp>
      </p:grpSp>
      <p:grpSp>
        <p:nvGrpSpPr>
          <p:cNvPr id="181" name="btfpIcon950370">
            <a:extLst>
              <a:ext uri="{FF2B5EF4-FFF2-40B4-BE49-F238E27FC236}">
                <a16:creationId xmlns:a16="http://schemas.microsoft.com/office/drawing/2014/main" id="{8816DE03-2D8D-46B0-B09B-011C06810D16}"/>
              </a:ext>
            </a:extLst>
          </p:cNvPr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>
            <a:off x="571329" y="1828610"/>
            <a:ext cx="540544" cy="540544"/>
            <a:chOff x="523204" y="1828610"/>
            <a:chExt cx="540544" cy="540544"/>
          </a:xfrm>
        </p:grpSpPr>
        <p:sp>
          <p:nvSpPr>
            <p:cNvPr id="180" name="btfpIconCircle950370">
              <a:extLst>
                <a:ext uri="{FF2B5EF4-FFF2-40B4-BE49-F238E27FC236}">
                  <a16:creationId xmlns:a16="http://schemas.microsoft.com/office/drawing/2014/main" id="{0C49C333-6CE4-4624-9863-5358909FB675}"/>
                </a:ext>
              </a:extLst>
            </p:cNvPr>
            <p:cNvSpPr>
              <a:spLocks/>
            </p:cNvSpPr>
            <p:nvPr/>
          </p:nvSpPr>
          <p:spPr bwMode="gray">
            <a:xfrm>
              <a:off x="523204" y="1828610"/>
              <a:ext cx="540544" cy="540544"/>
            </a:xfrm>
            <a:prstGeom prst="ellipse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pic>
          <p:nvPicPr>
            <p:cNvPr id="179" name="btfpIconLines950370">
              <a:extLst>
                <a:ext uri="{FF2B5EF4-FFF2-40B4-BE49-F238E27FC236}">
                  <a16:creationId xmlns:a16="http://schemas.microsoft.com/office/drawing/2014/main" id="{3E46BB79-D8F9-4B8F-8CCD-3936CD2BFA34}"/>
                </a:ext>
              </a:extLst>
            </p:cNvPr>
            <p:cNvPicPr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204" y="1828610"/>
              <a:ext cx="540544" cy="540544"/>
            </a:xfrm>
            <a:prstGeom prst="rect">
              <a:avLst/>
            </a:prstGeom>
          </p:spPr>
        </p:pic>
      </p:grpSp>
      <p:grpSp>
        <p:nvGrpSpPr>
          <p:cNvPr id="186" name="btfpIcon850216">
            <a:extLst>
              <a:ext uri="{FF2B5EF4-FFF2-40B4-BE49-F238E27FC236}">
                <a16:creationId xmlns:a16="http://schemas.microsoft.com/office/drawing/2014/main" id="{00C00CC0-314F-42D4-957C-C95847DAE810}"/>
              </a:ext>
            </a:extLst>
          </p:cNvPr>
          <p:cNvGrpSpPr>
            <a:grpSpLocks noChangeAspect="1"/>
          </p:cNvGrpSpPr>
          <p:nvPr>
            <p:custDataLst>
              <p:tags r:id="rId9"/>
            </p:custDataLst>
          </p:nvPr>
        </p:nvGrpSpPr>
        <p:grpSpPr>
          <a:xfrm>
            <a:off x="571329" y="3755080"/>
            <a:ext cx="540544" cy="540544"/>
            <a:chOff x="523204" y="3755080"/>
            <a:chExt cx="540544" cy="540544"/>
          </a:xfrm>
        </p:grpSpPr>
        <p:sp>
          <p:nvSpPr>
            <p:cNvPr id="185" name="btfpIconCircle850216">
              <a:extLst>
                <a:ext uri="{FF2B5EF4-FFF2-40B4-BE49-F238E27FC236}">
                  <a16:creationId xmlns:a16="http://schemas.microsoft.com/office/drawing/2014/main" id="{1BE77D7F-12EF-46E5-B067-0918583A4E48}"/>
                </a:ext>
              </a:extLst>
            </p:cNvPr>
            <p:cNvSpPr>
              <a:spLocks/>
            </p:cNvSpPr>
            <p:nvPr/>
          </p:nvSpPr>
          <p:spPr bwMode="gray">
            <a:xfrm>
              <a:off x="523204" y="3755080"/>
              <a:ext cx="540544" cy="540544"/>
            </a:xfrm>
            <a:prstGeom prst="ellipse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pic>
          <p:nvPicPr>
            <p:cNvPr id="184" name="btfpIconLines850216">
              <a:extLst>
                <a:ext uri="{FF2B5EF4-FFF2-40B4-BE49-F238E27FC236}">
                  <a16:creationId xmlns:a16="http://schemas.microsoft.com/office/drawing/2014/main" id="{A6958D21-47E0-4B5B-9FE5-FA25618A5B60}"/>
                </a:ext>
              </a:extLst>
            </p:cNvPr>
            <p:cNvPicPr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204" y="3755080"/>
              <a:ext cx="540544" cy="540544"/>
            </a:xfrm>
            <a:prstGeom prst="rect">
              <a:avLst/>
            </a:prstGeom>
          </p:spPr>
        </p:pic>
      </p:grpSp>
      <p:grpSp>
        <p:nvGrpSpPr>
          <p:cNvPr id="191" name="btfpIcon643171">
            <a:extLst>
              <a:ext uri="{FF2B5EF4-FFF2-40B4-BE49-F238E27FC236}">
                <a16:creationId xmlns:a16="http://schemas.microsoft.com/office/drawing/2014/main" id="{6B0EF418-977E-49C0-9D79-0166309D1FDE}"/>
              </a:ext>
            </a:extLst>
          </p:cNvPr>
          <p:cNvGrpSpPr>
            <a:grpSpLocks noChangeAspect="1"/>
          </p:cNvGrpSpPr>
          <p:nvPr>
            <p:custDataLst>
              <p:tags r:id="rId10"/>
            </p:custDataLst>
          </p:nvPr>
        </p:nvGrpSpPr>
        <p:grpSpPr>
          <a:xfrm>
            <a:off x="571329" y="4460320"/>
            <a:ext cx="540544" cy="540544"/>
            <a:chOff x="523204" y="4460320"/>
            <a:chExt cx="540544" cy="540544"/>
          </a:xfrm>
        </p:grpSpPr>
        <p:sp>
          <p:nvSpPr>
            <p:cNvPr id="190" name="btfpIconCircle643171">
              <a:extLst>
                <a:ext uri="{FF2B5EF4-FFF2-40B4-BE49-F238E27FC236}">
                  <a16:creationId xmlns:a16="http://schemas.microsoft.com/office/drawing/2014/main" id="{042B0861-8940-44D7-99DD-83415ED37E8C}"/>
                </a:ext>
              </a:extLst>
            </p:cNvPr>
            <p:cNvSpPr>
              <a:spLocks/>
            </p:cNvSpPr>
            <p:nvPr/>
          </p:nvSpPr>
          <p:spPr bwMode="gray">
            <a:xfrm>
              <a:off x="523204" y="4460320"/>
              <a:ext cx="540544" cy="540544"/>
            </a:xfrm>
            <a:prstGeom prst="ellipse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pic>
          <p:nvPicPr>
            <p:cNvPr id="189" name="btfpIconLines643171">
              <a:extLst>
                <a:ext uri="{FF2B5EF4-FFF2-40B4-BE49-F238E27FC236}">
                  <a16:creationId xmlns:a16="http://schemas.microsoft.com/office/drawing/2014/main" id="{1762B244-7204-4D3F-93EF-2C76B2750C2D}"/>
                </a:ext>
              </a:extLst>
            </p:cNvPr>
            <p:cNvPicPr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204" y="4460320"/>
              <a:ext cx="540544" cy="540544"/>
            </a:xfrm>
            <a:prstGeom prst="rect">
              <a:avLst/>
            </a:prstGeom>
          </p:spPr>
        </p:pic>
      </p:grpSp>
      <p:grpSp>
        <p:nvGrpSpPr>
          <p:cNvPr id="196" name="btfpIcon865942">
            <a:extLst>
              <a:ext uri="{FF2B5EF4-FFF2-40B4-BE49-F238E27FC236}">
                <a16:creationId xmlns:a16="http://schemas.microsoft.com/office/drawing/2014/main" id="{9B7B10C3-D97E-40A1-B6C4-BED428CA0E91}"/>
              </a:ext>
            </a:extLst>
          </p:cNvPr>
          <p:cNvGrpSpPr>
            <a:grpSpLocks noChangeAspect="1"/>
          </p:cNvGrpSpPr>
          <p:nvPr>
            <p:custDataLst>
              <p:tags r:id="rId11"/>
            </p:custDataLst>
          </p:nvPr>
        </p:nvGrpSpPr>
        <p:grpSpPr>
          <a:xfrm>
            <a:off x="571329" y="2946758"/>
            <a:ext cx="540544" cy="540544"/>
            <a:chOff x="523204" y="2946758"/>
            <a:chExt cx="540544" cy="540544"/>
          </a:xfrm>
        </p:grpSpPr>
        <p:sp>
          <p:nvSpPr>
            <p:cNvPr id="195" name="btfpIconCircle865942">
              <a:extLst>
                <a:ext uri="{FF2B5EF4-FFF2-40B4-BE49-F238E27FC236}">
                  <a16:creationId xmlns:a16="http://schemas.microsoft.com/office/drawing/2014/main" id="{9F7FEE6F-EA7E-4859-8CF7-17FFF48944A3}"/>
                </a:ext>
              </a:extLst>
            </p:cNvPr>
            <p:cNvSpPr>
              <a:spLocks/>
            </p:cNvSpPr>
            <p:nvPr/>
          </p:nvSpPr>
          <p:spPr bwMode="gray">
            <a:xfrm>
              <a:off x="523204" y="2946758"/>
              <a:ext cx="540544" cy="540544"/>
            </a:xfrm>
            <a:prstGeom prst="ellipse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pic>
          <p:nvPicPr>
            <p:cNvPr id="194" name="btfpIconLines865942">
              <a:extLst>
                <a:ext uri="{FF2B5EF4-FFF2-40B4-BE49-F238E27FC236}">
                  <a16:creationId xmlns:a16="http://schemas.microsoft.com/office/drawing/2014/main" id="{901F6D75-712D-423D-9BCC-CFAA95F930C7}"/>
                </a:ext>
              </a:extLst>
            </p:cNvPr>
            <p:cNvPicPr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204" y="2946758"/>
              <a:ext cx="540544" cy="540544"/>
            </a:xfrm>
            <a:prstGeom prst="rect">
              <a:avLst/>
            </a:prstGeom>
          </p:spPr>
        </p:pic>
      </p:grpSp>
      <p:grpSp>
        <p:nvGrpSpPr>
          <p:cNvPr id="199" name="btfpStatusSticker522410">
            <a:extLst>
              <a:ext uri="{FF2B5EF4-FFF2-40B4-BE49-F238E27FC236}">
                <a16:creationId xmlns:a16="http://schemas.microsoft.com/office/drawing/2014/main" id="{DFCF6477-C251-49FE-810D-5C5C8005C590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9629778" y="955344"/>
            <a:ext cx="2232022" cy="235611"/>
            <a:chOff x="-4066819" y="876300"/>
            <a:chExt cx="2232022" cy="235611"/>
          </a:xfrm>
        </p:grpSpPr>
        <p:sp>
          <p:nvSpPr>
            <p:cNvPr id="197" name="btfpStatusStickerText522410">
              <a:extLst>
                <a:ext uri="{FF2B5EF4-FFF2-40B4-BE49-F238E27FC236}">
                  <a16:creationId xmlns:a16="http://schemas.microsoft.com/office/drawing/2014/main" id="{6E4E678B-C601-4936-9628-17A648F6F912}"/>
                </a:ext>
              </a:extLst>
            </p:cNvPr>
            <p:cNvSpPr txBox="1"/>
            <p:nvPr/>
          </p:nvSpPr>
          <p:spPr bwMode="gray">
            <a:xfrm>
              <a:off x="-4066819" y="876300"/>
              <a:ext cx="2232022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Not exhaustive</a:t>
              </a:r>
            </a:p>
          </p:txBody>
        </p:sp>
        <p:cxnSp>
          <p:nvCxnSpPr>
            <p:cNvPr id="198" name="btfpStatusStickerLine522410">
              <a:extLst>
                <a:ext uri="{FF2B5EF4-FFF2-40B4-BE49-F238E27FC236}">
                  <a16:creationId xmlns:a16="http://schemas.microsoft.com/office/drawing/2014/main" id="{FBF762AD-8DDB-4EEC-A0A7-DC3641A8712F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4066819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CD13F188-541B-4E40-AEA9-9224370C7088}"/>
              </a:ext>
            </a:extLst>
          </p:cNvPr>
          <p:cNvGrpSpPr/>
          <p:nvPr/>
        </p:nvGrpSpPr>
        <p:grpSpPr>
          <a:xfrm>
            <a:off x="3588013" y="5424802"/>
            <a:ext cx="2535144" cy="600384"/>
            <a:chOff x="3567180" y="5535126"/>
            <a:chExt cx="2535144" cy="600384"/>
          </a:xfrm>
        </p:grpSpPr>
        <p:sp>
          <p:nvSpPr>
            <p:cNvPr id="201" name="Minus 52">
              <a:extLst>
                <a:ext uri="{FF2B5EF4-FFF2-40B4-BE49-F238E27FC236}">
                  <a16:creationId xmlns:a16="http://schemas.microsoft.com/office/drawing/2014/main" id="{D5EBC6B3-63FD-4615-B55F-8ACD9E418B44}"/>
                </a:ext>
              </a:extLst>
            </p:cNvPr>
            <p:cNvSpPr/>
            <p:nvPr/>
          </p:nvSpPr>
          <p:spPr bwMode="gray">
            <a:xfrm>
              <a:off x="3840741" y="5535126"/>
              <a:ext cx="2024871" cy="583915"/>
            </a:xfrm>
            <a:prstGeom prst="mathMinus">
              <a:avLst/>
            </a:prstGeom>
            <a:gradFill>
              <a:gsLst>
                <a:gs pos="0">
                  <a:srgbClr val="00B050"/>
                </a:gs>
                <a:gs pos="62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05088189-AE45-42C8-97AB-7193A43BDFE1}"/>
                </a:ext>
              </a:extLst>
            </p:cNvPr>
            <p:cNvSpPr txBox="1"/>
            <p:nvPr/>
          </p:nvSpPr>
          <p:spPr bwMode="gray">
            <a:xfrm>
              <a:off x="3567180" y="5706093"/>
              <a:ext cx="468825" cy="24198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1100"/>
                <a:t>5%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CEFB5FFD-D228-47A8-A2A3-67162EE6F963}"/>
                </a:ext>
              </a:extLst>
            </p:cNvPr>
            <p:cNvSpPr txBox="1"/>
            <p:nvPr/>
          </p:nvSpPr>
          <p:spPr bwMode="gray">
            <a:xfrm>
              <a:off x="5633499" y="5706093"/>
              <a:ext cx="468825" cy="24198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marL="0" indent="0">
                <a:buNone/>
              </a:pPr>
              <a:r>
                <a:rPr lang="en-US" sz="1100"/>
                <a:t>25%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8FF2D4EA-D682-42F1-A9B0-39E037C22284}"/>
                </a:ext>
              </a:extLst>
            </p:cNvPr>
            <p:cNvSpPr txBox="1"/>
            <p:nvPr/>
          </p:nvSpPr>
          <p:spPr bwMode="gray">
            <a:xfrm>
              <a:off x="4380522" y="5924307"/>
              <a:ext cx="945309" cy="21120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marL="0" indent="0" algn="ctr">
                <a:buNone/>
              </a:pPr>
              <a:r>
                <a:rPr lang="en-US" sz="900" i="1">
                  <a:solidFill>
                    <a:schemeClr val="accent3"/>
                  </a:solidFill>
                </a:rPr>
                <a:t>~$10-50M</a:t>
              </a:r>
            </a:p>
          </p:txBody>
        </p:sp>
      </p:grpSp>
      <p:sp>
        <p:nvSpPr>
          <p:cNvPr id="214" name="CommentBox">
            <a:extLst>
              <a:ext uri="{FF2B5EF4-FFF2-40B4-BE49-F238E27FC236}">
                <a16:creationId xmlns:a16="http://schemas.microsoft.com/office/drawing/2014/main" id="{8A6CBDDA-9D7A-4136-9674-62A8EBE65A39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496482" y="1494167"/>
            <a:ext cx="2673332" cy="5052237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808" tIns="32808" rIns="32808" bIns="32808" rtlCol="0" anchor="t">
            <a:spAutoFit/>
          </a:bodyPr>
          <a:lstStyle/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GB" sz="1200" b="1" u="sng">
                <a:solidFill>
                  <a:srgbClr val="000000"/>
                </a:solidFill>
                <a:latin typeface="Verdana" panose="020B0604030504040204" pitchFamily="34" charset="0"/>
              </a:rPr>
              <a:t>Note to proposal team</a:t>
            </a:r>
            <a:r>
              <a:rPr lang="en-GB" sz="1200" b="1">
                <a:solidFill>
                  <a:srgbClr val="000000"/>
                </a:solidFill>
                <a:latin typeface="Verdana" panose="020B0604030504040204" pitchFamily="34" charset="0"/>
              </a:rPr>
              <a:t>:</a:t>
            </a:r>
          </a:p>
          <a:p>
            <a:pPr marL="182563" indent="-182563">
              <a:spcBef>
                <a:spcPts val="0"/>
              </a:spcBef>
              <a:buSzPct val="100000"/>
              <a:buFont typeface="Verdana" panose="020B060403050404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Verdana" panose="020B0604030504040204" pitchFamily="34" charset="0"/>
              </a:rPr>
              <a:t>This is a </a:t>
            </a:r>
            <a:r>
              <a:rPr lang="en-US" sz="1200" b="1">
                <a:solidFill>
                  <a:schemeClr val="tx1"/>
                </a:solidFill>
                <a:latin typeface="Verdana" panose="020B0604030504040204" pitchFamily="34" charset="0"/>
              </a:rPr>
              <a:t>sample slide, needs to be customized</a:t>
            </a:r>
            <a:r>
              <a:rPr lang="en-US" sz="1200">
                <a:solidFill>
                  <a:schemeClr val="tx1"/>
                </a:solidFill>
                <a:latin typeface="Verdana" panose="020B0604030504040204" pitchFamily="34" charset="0"/>
              </a:rPr>
              <a:t> based on proposal requirements</a:t>
            </a:r>
          </a:p>
          <a:p>
            <a:pPr marL="182563" indent="-182563">
              <a:spcBef>
                <a:spcPts val="0"/>
              </a:spcBef>
              <a:buSzPct val="100000"/>
              <a:buFont typeface="Verdana" panose="020B060403050404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Verdana" panose="020B0604030504040204" pitchFamily="34" charset="0"/>
              </a:rPr>
              <a:t>Proposal team to pull baseline cost figures from year-end client financials (10-K)</a:t>
            </a:r>
          </a:p>
          <a:p>
            <a:pPr marL="360363" lvl="1" indent="-182563">
              <a:spcBef>
                <a:spcPts val="0"/>
              </a:spcBef>
              <a:buSzPct val="100000"/>
              <a:buFont typeface="Verdana" panose="020B0604030504040204" pitchFamily="34" charset="0"/>
              <a:buChar char="•"/>
            </a:pPr>
            <a:r>
              <a:rPr lang="en-US" sz="1000">
                <a:solidFill>
                  <a:schemeClr val="tx1"/>
                </a:solidFill>
                <a:latin typeface="Verdana" panose="020B0604030504040204" pitchFamily="34" charset="0"/>
              </a:rPr>
              <a:t>Sales &amp; marketing = ~20% SG&amp;A</a:t>
            </a:r>
          </a:p>
          <a:p>
            <a:pPr marL="360363" lvl="1" indent="-182563">
              <a:spcBef>
                <a:spcPts val="0"/>
              </a:spcBef>
              <a:buSzPct val="100000"/>
              <a:buFont typeface="Verdana" panose="020B0604030504040204" pitchFamily="34" charset="0"/>
              <a:buChar char="•"/>
            </a:pPr>
            <a:r>
              <a:rPr lang="en-US" sz="1000">
                <a:solidFill>
                  <a:schemeClr val="tx1"/>
                </a:solidFill>
                <a:latin typeface="Verdana" panose="020B0604030504040204" pitchFamily="34" charset="0"/>
              </a:rPr>
              <a:t>G&amp;A = ~80% SG&amp;A</a:t>
            </a:r>
          </a:p>
          <a:p>
            <a:pPr marL="360363" lvl="1" indent="-182563">
              <a:spcBef>
                <a:spcPts val="0"/>
              </a:spcBef>
              <a:buSzPct val="100000"/>
              <a:buFont typeface="Verdana" panose="020B0604030504040204" pitchFamily="34" charset="0"/>
              <a:buChar char="•"/>
            </a:pPr>
            <a:r>
              <a:rPr lang="en-US" sz="1000">
                <a:solidFill>
                  <a:schemeClr val="tx1"/>
                </a:solidFill>
                <a:latin typeface="Verdana" panose="020B0604030504040204" pitchFamily="34" charset="0"/>
              </a:rPr>
              <a:t>Procurement = ~60% COGS</a:t>
            </a:r>
          </a:p>
          <a:p>
            <a:pPr marL="360363" lvl="1" indent="-182563">
              <a:spcBef>
                <a:spcPts val="0"/>
              </a:spcBef>
              <a:buSzPct val="100000"/>
              <a:buFont typeface="Verdana" panose="020B0604030504040204" pitchFamily="34" charset="0"/>
              <a:buChar char="•"/>
            </a:pPr>
            <a:r>
              <a:rPr lang="en-US" sz="1000">
                <a:solidFill>
                  <a:schemeClr val="tx1"/>
                </a:solidFill>
                <a:latin typeface="Verdana" panose="020B0604030504040204" pitchFamily="34" charset="0"/>
              </a:rPr>
              <a:t>Integrated ops = ~38% COGS</a:t>
            </a:r>
          </a:p>
          <a:p>
            <a:pPr marL="360363" lvl="1" indent="-182563">
              <a:spcBef>
                <a:spcPts val="0"/>
              </a:spcBef>
              <a:buSzPct val="100000"/>
              <a:buFont typeface="Verdana" panose="020B0604030504040204" pitchFamily="34" charset="0"/>
              <a:buChar char="•"/>
            </a:pPr>
            <a:r>
              <a:rPr lang="en-US" sz="1000">
                <a:solidFill>
                  <a:schemeClr val="tx1"/>
                </a:solidFill>
                <a:latin typeface="Verdana" panose="020B0604030504040204" pitchFamily="34" charset="0"/>
              </a:rPr>
              <a:t>Engineering = ~2% COGS</a:t>
            </a:r>
          </a:p>
          <a:p>
            <a:pPr marL="182563" indent="-182563">
              <a:spcBef>
                <a:spcPts val="0"/>
              </a:spcBef>
              <a:buSzPct val="100000"/>
              <a:buFont typeface="Verdana" panose="020B060403050404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Verdana" panose="020B0604030504040204" pitchFamily="34" charset="0"/>
              </a:rPr>
              <a:t>Value potential sliders should be updated by:</a:t>
            </a:r>
          </a:p>
          <a:p>
            <a:pPr marL="360363" lvl="1" indent="-182563">
              <a:spcBef>
                <a:spcPts val="0"/>
              </a:spcBef>
              <a:buSzPct val="100000"/>
              <a:buFont typeface="Verdana" panose="020B0604030504040204" pitchFamily="34" charset="0"/>
              <a:buChar char="•"/>
            </a:pPr>
            <a:r>
              <a:rPr lang="en-US" sz="1000">
                <a:solidFill>
                  <a:schemeClr val="tx1"/>
                </a:solidFill>
                <a:latin typeface="Verdana" panose="020B0604030504040204" pitchFamily="34" charset="0"/>
              </a:rPr>
              <a:t>Moving client logo left/right based on client conversations regarding key transformation levers</a:t>
            </a:r>
          </a:p>
          <a:p>
            <a:pPr marL="360363" lvl="1" indent="-182563">
              <a:spcBef>
                <a:spcPts val="0"/>
              </a:spcBef>
              <a:buSzPct val="100000"/>
              <a:buFont typeface="Verdana" panose="020B0604030504040204" pitchFamily="34" charset="0"/>
              <a:buChar char="•"/>
            </a:pPr>
            <a:r>
              <a:rPr lang="en-US" sz="1000">
                <a:solidFill>
                  <a:schemeClr val="tx1"/>
                </a:solidFill>
                <a:latin typeface="Verdana" panose="020B0604030504040204" pitchFamily="34" charset="0"/>
              </a:rPr>
              <a:t>Updating values in red text by multiplying baseline cost by upper and lower bound %</a:t>
            </a:r>
          </a:p>
          <a:p>
            <a:pPr marL="182563" indent="-182563">
              <a:spcBef>
                <a:spcPts val="0"/>
              </a:spcBef>
              <a:buSzPct val="100000"/>
              <a:buFont typeface="Verdana" panose="020B060403050404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Verdana" panose="020B0604030504040204" pitchFamily="34" charset="0"/>
              </a:rPr>
              <a:t>One time cash = sum of NWC and capex value potential (in red text)</a:t>
            </a:r>
          </a:p>
          <a:p>
            <a:pPr marL="182563" indent="-182563">
              <a:spcBef>
                <a:spcPts val="0"/>
              </a:spcBef>
              <a:buSzPct val="100000"/>
              <a:buFont typeface="Verdana" panose="020B060403050404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Verdana" panose="020B0604030504040204" pitchFamily="34" charset="0"/>
              </a:rPr>
              <a:t>Run rate = sum of commercial excellence, G&amp;A, and COGS levers (in red text)</a:t>
            </a:r>
          </a:p>
          <a:p>
            <a:pPr marL="182563" indent="-182563">
              <a:spcBef>
                <a:spcPts val="0"/>
              </a:spcBef>
              <a:buSzPct val="100000"/>
              <a:buFont typeface="Verdana" panose="020B060403050404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Verdana" panose="020B0604030504040204" pitchFamily="34" charset="0"/>
              </a:rPr>
              <a:t>Tailor opportunities for each lever to client</a:t>
            </a:r>
          </a:p>
        </p:txBody>
      </p:sp>
      <p:grpSp>
        <p:nvGrpSpPr>
          <p:cNvPr id="4" name="btfpStatusSticker127762">
            <a:extLst>
              <a:ext uri="{FF2B5EF4-FFF2-40B4-BE49-F238E27FC236}">
                <a16:creationId xmlns:a16="http://schemas.microsoft.com/office/drawing/2014/main" id="{E2E81E12-A702-43F2-808D-B90670C679CB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7741334" y="955344"/>
            <a:ext cx="1761444" cy="235611"/>
            <a:chOff x="-1630959" y="876300"/>
            <a:chExt cx="1761444" cy="235611"/>
          </a:xfrm>
        </p:grpSpPr>
        <p:sp>
          <p:nvSpPr>
            <p:cNvPr id="2" name="btfpStatusStickerText127762">
              <a:extLst>
                <a:ext uri="{FF2B5EF4-FFF2-40B4-BE49-F238E27FC236}">
                  <a16:creationId xmlns:a16="http://schemas.microsoft.com/office/drawing/2014/main" id="{23C3A1C7-3CAE-4A2E-AF03-A96BF7C7AB72}"/>
                </a:ext>
              </a:extLst>
            </p:cNvPr>
            <p:cNvSpPr txBox="1"/>
            <p:nvPr/>
          </p:nvSpPr>
          <p:spPr bwMode="gray">
            <a:xfrm>
              <a:off x="-1630959" y="876300"/>
              <a:ext cx="1761444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Preliminary</a:t>
              </a:r>
            </a:p>
          </p:txBody>
        </p:sp>
        <p:cxnSp>
          <p:nvCxnSpPr>
            <p:cNvPr id="3" name="btfpStatusStickerLine127762">
              <a:extLst>
                <a:ext uri="{FF2B5EF4-FFF2-40B4-BE49-F238E27FC236}">
                  <a16:creationId xmlns:a16="http://schemas.microsoft.com/office/drawing/2014/main" id="{1EC827E9-974B-47EF-8119-51E7E3841ABD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1630959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btfpNumberBubble301569">
            <a:extLst>
              <a:ext uri="{FF2B5EF4-FFF2-40B4-BE49-F238E27FC236}">
                <a16:creationId xmlns:a16="http://schemas.microsoft.com/office/drawing/2014/main" id="{C88600B7-0837-464D-90B1-99B532209C0B}"/>
              </a:ext>
            </a:extLst>
          </p:cNvPr>
          <p:cNvSpPr>
            <a:spLocks noChangeAspect="1"/>
          </p:cNvSpPr>
          <p:nvPr/>
        </p:nvSpPr>
        <p:spPr bwMode="gray">
          <a:xfrm>
            <a:off x="248087" y="1970800"/>
            <a:ext cx="279400" cy="279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9" name="btfpNumberBubble301569">
            <a:extLst>
              <a:ext uri="{FF2B5EF4-FFF2-40B4-BE49-F238E27FC236}">
                <a16:creationId xmlns:a16="http://schemas.microsoft.com/office/drawing/2014/main" id="{EFFF4CB1-0EA5-4DDC-8C30-186FC0F9FF92}"/>
              </a:ext>
            </a:extLst>
          </p:cNvPr>
          <p:cNvSpPr>
            <a:spLocks noChangeAspect="1"/>
          </p:cNvSpPr>
          <p:nvPr/>
        </p:nvSpPr>
        <p:spPr bwMode="gray">
          <a:xfrm>
            <a:off x="248087" y="3095353"/>
            <a:ext cx="279400" cy="279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B</a:t>
            </a:r>
          </a:p>
        </p:txBody>
      </p:sp>
      <p:sp>
        <p:nvSpPr>
          <p:cNvPr id="120" name="btfpNumberBubble301569">
            <a:extLst>
              <a:ext uri="{FF2B5EF4-FFF2-40B4-BE49-F238E27FC236}">
                <a16:creationId xmlns:a16="http://schemas.microsoft.com/office/drawing/2014/main" id="{D65B439B-B595-46DC-A4A0-6BA76A20D7EA}"/>
              </a:ext>
            </a:extLst>
          </p:cNvPr>
          <p:cNvSpPr>
            <a:spLocks noChangeAspect="1"/>
          </p:cNvSpPr>
          <p:nvPr/>
        </p:nvSpPr>
        <p:spPr bwMode="gray">
          <a:xfrm>
            <a:off x="248087" y="3921521"/>
            <a:ext cx="279400" cy="279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C</a:t>
            </a:r>
          </a:p>
        </p:txBody>
      </p:sp>
      <p:sp>
        <p:nvSpPr>
          <p:cNvPr id="12" name="CommentBox">
            <a:extLst>
              <a:ext uri="{FF2B5EF4-FFF2-40B4-BE49-F238E27FC236}">
                <a16:creationId xmlns:a16="http://schemas.microsoft.com/office/drawing/2014/main" id="{01B820A6-7FD5-3DA2-3CF8-963424B05C39}"/>
              </a:ext>
            </a:extLst>
          </p:cNvPr>
          <p:cNvSpPr/>
          <p:nvPr/>
        </p:nvSpPr>
        <p:spPr bwMode="gray">
          <a:xfrm>
            <a:off x="10748867" y="93290"/>
            <a:ext cx="1387151" cy="771676"/>
          </a:xfrm>
          <a:prstGeom prst="wedgeRoundRectCallout">
            <a:avLst>
              <a:gd name="adj1" fmla="val -108666"/>
              <a:gd name="adj2" fmla="val 337473"/>
              <a:gd name="adj3" fmla="val 16667"/>
            </a:avLst>
          </a:prstGeom>
          <a:solidFill>
            <a:srgbClr val="FB03C6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900" b="1">
                <a:solidFill>
                  <a:srgbClr val="FFFFFF"/>
                </a:solidFill>
                <a:latin typeface="Arial" panose="020B0604020202020204" pitchFamily="34" charset="0"/>
              </a:rPr>
              <a:t>SBN: Auto parts supplier &gt; see this breakdown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294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btfpColumnIndicatorGroup2">
            <a:extLst>
              <a:ext uri="{FF2B5EF4-FFF2-40B4-BE49-F238E27FC236}">
                <a16:creationId xmlns:a16="http://schemas.microsoft.com/office/drawing/2014/main" id="{A8862D6C-A373-4F46-977A-02062670D394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3" name="btfpColumnGapBlocker140270">
              <a:extLst>
                <a:ext uri="{FF2B5EF4-FFF2-40B4-BE49-F238E27FC236}">
                  <a16:creationId xmlns:a16="http://schemas.microsoft.com/office/drawing/2014/main" id="{ADAD1560-B838-4E63-B396-FBDEC7FA272D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31" name="btfpColumnGapBlocker212089">
              <a:extLst>
                <a:ext uri="{FF2B5EF4-FFF2-40B4-BE49-F238E27FC236}">
                  <a16:creationId xmlns:a16="http://schemas.microsoft.com/office/drawing/2014/main" id="{862B75B2-3B26-4873-8D79-70A868B2966E}"/>
                </a:ext>
              </a:extLst>
            </p:cNvPr>
            <p:cNvSpPr/>
            <p:nvPr/>
          </p:nvSpPr>
          <p:spPr bwMode="gray">
            <a:xfrm>
              <a:off x="5825728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29" name="btfpColumnIndicator326268">
              <a:extLst>
                <a:ext uri="{FF2B5EF4-FFF2-40B4-BE49-F238E27FC236}">
                  <a16:creationId xmlns:a16="http://schemas.microsoft.com/office/drawing/2014/main" id="{02426823-06D9-4696-8D1E-C271996DAD44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btfpColumnIndicator469592">
              <a:extLst>
                <a:ext uri="{FF2B5EF4-FFF2-40B4-BE49-F238E27FC236}">
                  <a16:creationId xmlns:a16="http://schemas.microsoft.com/office/drawing/2014/main" id="{8A05CF0A-A813-442B-8C37-50E2CBA59CBB}"/>
                </a:ext>
              </a:extLst>
            </p:cNvPr>
            <p:cNvCxnSpPr/>
            <p:nvPr/>
          </p:nvCxnSpPr>
          <p:spPr bwMode="gray">
            <a:xfrm flipV="1">
              <a:off x="636627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btfpColumnGapBlocker586329">
              <a:extLst>
                <a:ext uri="{FF2B5EF4-FFF2-40B4-BE49-F238E27FC236}">
                  <a16:creationId xmlns:a16="http://schemas.microsoft.com/office/drawing/2014/main" id="{D981EFD1-8790-4677-A6DE-2ED4EF1AE280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" name="btfpColumnIndicator895348">
              <a:extLst>
                <a:ext uri="{FF2B5EF4-FFF2-40B4-BE49-F238E27FC236}">
                  <a16:creationId xmlns:a16="http://schemas.microsoft.com/office/drawing/2014/main" id="{F654465A-ECC2-4422-9240-6EAAA2B99AC6}"/>
                </a:ext>
              </a:extLst>
            </p:cNvPr>
            <p:cNvCxnSpPr/>
            <p:nvPr/>
          </p:nvCxnSpPr>
          <p:spPr bwMode="gray">
            <a:xfrm flipV="1">
              <a:off x="582572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btfpColumnIndicator129882">
              <a:extLst>
                <a:ext uri="{FF2B5EF4-FFF2-40B4-BE49-F238E27FC236}">
                  <a16:creationId xmlns:a16="http://schemas.microsoft.com/office/drawing/2014/main" id="{9F73344D-4186-4D89-A82C-35A7BDE46A83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btfpColumnIndicatorGroup1">
            <a:extLst>
              <a:ext uri="{FF2B5EF4-FFF2-40B4-BE49-F238E27FC236}">
                <a16:creationId xmlns:a16="http://schemas.microsoft.com/office/drawing/2014/main" id="{A69CE4A3-F1BB-4DB9-8D7C-861B739B6CCE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2" name="btfpColumnGapBlocker764033">
              <a:extLst>
                <a:ext uri="{FF2B5EF4-FFF2-40B4-BE49-F238E27FC236}">
                  <a16:creationId xmlns:a16="http://schemas.microsoft.com/office/drawing/2014/main" id="{73CE5DB2-258E-4A32-92C5-C1AC5096DF93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30" name="btfpColumnGapBlocker894953">
              <a:extLst>
                <a:ext uri="{FF2B5EF4-FFF2-40B4-BE49-F238E27FC236}">
                  <a16:creationId xmlns:a16="http://schemas.microsoft.com/office/drawing/2014/main" id="{4C079B85-20F8-4024-B90A-0DA5F4D0CA05}"/>
                </a:ext>
              </a:extLst>
            </p:cNvPr>
            <p:cNvSpPr/>
            <p:nvPr/>
          </p:nvSpPr>
          <p:spPr bwMode="gray">
            <a:xfrm>
              <a:off x="5825728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3" name="btfpColumnIndicator641253">
              <a:extLst>
                <a:ext uri="{FF2B5EF4-FFF2-40B4-BE49-F238E27FC236}">
                  <a16:creationId xmlns:a16="http://schemas.microsoft.com/office/drawing/2014/main" id="{3D2EBE30-A480-426D-A8DC-A3E1DDC490AF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555408">
              <a:extLst>
                <a:ext uri="{FF2B5EF4-FFF2-40B4-BE49-F238E27FC236}">
                  <a16:creationId xmlns:a16="http://schemas.microsoft.com/office/drawing/2014/main" id="{B2DF0A19-5729-4136-A1E0-87086EA10B6E}"/>
                </a:ext>
              </a:extLst>
            </p:cNvPr>
            <p:cNvCxnSpPr/>
            <p:nvPr/>
          </p:nvCxnSpPr>
          <p:spPr bwMode="gray">
            <a:xfrm flipV="1">
              <a:off x="636627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btfpColumnGapBlocker905066">
              <a:extLst>
                <a:ext uri="{FF2B5EF4-FFF2-40B4-BE49-F238E27FC236}">
                  <a16:creationId xmlns:a16="http://schemas.microsoft.com/office/drawing/2014/main" id="{CA19EBE2-EB85-44D0-930A-A24A91266FA8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905750">
              <a:extLst>
                <a:ext uri="{FF2B5EF4-FFF2-40B4-BE49-F238E27FC236}">
                  <a16:creationId xmlns:a16="http://schemas.microsoft.com/office/drawing/2014/main" id="{50E6AC51-AE73-4899-8A41-11F0D7C70246}"/>
                </a:ext>
              </a:extLst>
            </p:cNvPr>
            <p:cNvCxnSpPr/>
            <p:nvPr/>
          </p:nvCxnSpPr>
          <p:spPr bwMode="gray">
            <a:xfrm flipV="1">
              <a:off x="582572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894925">
              <a:extLst>
                <a:ext uri="{FF2B5EF4-FFF2-40B4-BE49-F238E27FC236}">
                  <a16:creationId xmlns:a16="http://schemas.microsoft.com/office/drawing/2014/main" id="{9566B397-B9D9-40E0-BD06-41AA5DF55F6D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Illustrative banking cost bar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1034505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21_0_132356865514194679 20_0_132393933340898265 </a:t>
            </a:r>
          </a:p>
        </p:txBody>
      </p:sp>
      <p:sp>
        <p:nvSpPr>
          <p:cNvPr id="11" name="Rectangle 10" descr="Enter Chart Description Here:&#10;&#10;End of Chart Description&#10;DO NOT ALTER TEXT BELOW THIS POINT! IF YOU DO YOUR CHART WILL NOT BE EDITABLE!&#10;mkkoexcel__~~~~~~~~~~False~~False~~Falsemkko__4HooU0THZk28POP9trq+pbTvvzd/gcV8t56cq85kb3NDTsUhojRA0EsgEHHMH7oYP1SYpn09ysXVivguJdhTvfyVMsBLTGvcX7WPTor/CmWV7V/wylEnRSjNa0bZedd8Yjfz6TiCJG8OqoXAl5SrIeF08dlXg26VCLQSuMwFMmWGmihLwizelWVh0+YrBGrvbI9abCAsXIvQHRa+DCJaU3PJON0K1yeblBWRz/cL7a0uwAyWMqmGTLsBbUcrm/D/6eTHTkijpiVodNB8ZFnPU0d0nJ2fXTu7+1OPwHTjemllQ9kavxNazLbt8yFiyNcOJa4Y1PJQvNYq9NGWHotWgHaIiGCUQvA5i7CSjuzGM4XnPw2+ryRtSB2Q4+qs4lxYcVRxmzddUch4RoCeA8jZp3cI500kVDLtSZLC0DiuK7WPKYffJyQ30WTWT2s/6MxC9qKuXTRUbrqlZaVLv+CTHIzyFxw5wNm331M+qIBbhrMiOx2c3czOCEBOJQ5Yv7AYvf9UNHHYqnKJAD6kbVsJwV29lPW0wNORTafTmKmfa8NJg/uwUwTWpG7p8I1MzBe+n0+pxOyZ6+OXNgl49muYfa8sRHUjx54JUtdngFrMlpW77h65ofBhAMJ4U9Ja5Jfjd29Ih2Es9yGktLlo7H5nph3PfRuD7M86nnxl2pEp4rlQ6fEy8W63OG3Wsd6oGV5pvOcQjCEM8F32AhZuM5u5WS0sUs7rBtxDSXMlnyCXsdTiqDE+2pLxBxtkykQ5QpElI/37Or0AcgFDmeLNL3Y2r6c0f6MDUItGXpSFIwk0MvsT511gKaq2n1CpdR2GHFemEmHmmo94GCkPIeKfrnjNxSmmudDA0Sj9fNWOGW9CyAngB00TlQYfjvM7b5GVVc6jKL0nlqSRfZt2MhYZNA5Tkensv60ybgjCIuaVf/dmULqeewSOxuQmmdbE1um9nxY80On1EC3qI8AJEwCZXmwlqM+od/iD33LgMxFz51rEm/wELSSPgeqLBS+ZgSsHZqaiE6a/ZOIJtNVK2IgdAcmoeD4C0M85B3OmTccUjRIN9xyLEaRtCTyEPf2ZW8uWXbcxcZj+Gy7/ZjU7F9dMMx5UBsHuq6dmq1GhKXRq47CqF9FeV6+yH3lL1xhv1pUgtxqTkk8uko8VSt6DjvexFQw+zx1fZdIT5gHapu7VZWnYxGCAj98Z5ntXjlMqX6Rv6MrqAw3UJSygQAFTK6rNbx1XGqQfrIH5BNnbSK+wwkR9jWExQnwmOpdmcOCNz50wzYK98S4bjoUB6vGtimXqYHWisIwZm0RSLOmQAwqA/D6Fk2AOshNoVfr93dK0MucDHV/AwI4jPp/MadMiA1ZbKx4/RIPNB7zFSZsIZXKiJrSfKR4XryBZqOe82Ud8iTm+Un0Hm9EIQOjqhWwjCdpwcMD3TAYx0a2yHgM9RpgBa2jUqlxhBwJWoi154mcALa4dP0X19gFPMMl48KKLc0fsFiuHIAsnw6V1/WUd+nUP76izDh/nQcB8QB0/WsQL//2TnAC3SVql1bPwzUHU1tEpd5M6Eu+Tqr5eiORzZExS2nfyltpaagajWVCy0WM9s6vhF2nWY9SOD4Ti5oTfSOJyNxXzqViKpslSUnOFhbXjGtgvl3QcRa92eFKCLCUZoIy/ylNILllf3lHeCuzLdVFxCI3b9TT/UBxjXqqRyjin3L3F/ozEuUUSmTEJYIW8wqx+eKSPVCyUu4lER6OAajVynEWIVnNHSW9lUOre96trgn2BIoEpDoH/QuxEorZGL8WhAIGJlmjgqKcJnd3JL5pndzRDOgqMcVldvScLoKAZVJZO58SJCRwpqYYbaPmRfGuyQnXeAplQLsJGE8g9P15IRZnKbWx/F7UoVAx0yMnhZEuMGKH3OKtWV/fjPUKSJGBNVbtmxl+H8yv9qdoG674K9NFM7esriBxVpNXimdbatMGf9nVq+F+QM6t64NWWGBkuOsMbHJ34asIuiynZJlXvGZ8pP9/wXIfhiEyFLxkkCGm4Q7AMQHksZQbwdnskVJwUjg7xSp0fpg9e8YRfgwemEzsL+MnyBWLIwqHIhjOPU8HyWQlVDU77JUDkO2yjGQqEdV2YYFssbl9g0eu0Cl7C6CluOmnJNnW8kFAVXVGYDJKN1O5Fx8cNI+c64RzBl0zE/5/W7zgPU9i2YUaequYREqMsLccnbdHFG4IAL5LPJ30e4ZYRZNb4KgkXAC/yzhPkuPWW3XIeY3+Db0QUk06paHMga+rMV/F4jiYtRGXL7Eub2nZlgyZdGeZ7UtUM/g1JQLM5YxSMBEBJoVy13wW9EdIsIauUAB9TxvaarfxfvRSTQya5xNNFtaLrE4zCVuqINQX5FFa8/HXNFKdz/Z+Fze0GQCMPZA9cebV7oHHa+wRmMIZNS+yPbZlFJmIi8Owl8F9Wi5tAq2HDh1QPbYX7vYxaNFXT8ivsXQxzQ6L50jeNzl12jRKxCgFySZmPYtiTKveBuwmHBl2Ux/cHsy5zS42+zBrn2kziXNo7NPk/DIsXtN0k3y+S5YzrvcuEaQA3fWQGVBnCiuWPZ4Idv4IT9y0i8wHiKa+Pw4kOijbfKbCT6Z92qjzF1BFirl8VfEH/7dBg61xNb01h8oXCT7mmjEsJWV0EVNmgJv06mgd3nxhavtxvxSjSi6M8mdhErMlyHTAIIpgJZzD7Tb7HmqiFWW9ls7yCH+lux4jwTOA8rIWjD+Vz/gjkerhnHdl3L+eB7uzK8Moxbn0v5nwQtvUqZOH919DcNxTinpd/OIW44fxZbKmbZPC8ABQzX0FYU+0L/2J4kIvVgDr5E3i+NraLlH1j7q6bqk0S5dC2EWz4p7xBhOlKrYVNO4vlx0KnWrSVAkzJtYx/J4YwiDNh0bo05s05OtCmSN1E90mSiSTcATeeJeme/tZkgU7oJTavm9ppel1++yG76RJHrwUT1F1fcFqdZBBehHGOBSvSS0RDYBlrOOp/TwNxqAm2zMv9OQTctryDang+TUIkPyttZhbqFlovzIzSA/qBdiq/XR/Rsm4za24CoaOZTHg8vQssQcbXZkjTFbQxQLEZfzRR4lo3T3wtvBRv3HLenOV5F9H5HWlUtwmiOZCtkevocZtGLKuI2mc9dtlRI6yj9440F4WRCJACWs0j8ic8XIW+YFQ1pQp/uOSm0p+42zj35XK+jQdWA7EkdmXxgUP83ENDIYE+PvsCHhaF617e9vs2txwzDRPkI6g8dPkepP/eQrptZBppVuTenq6spZIqePxIcmHtdCU/EATMTHQbthyq4HgTWJqIq0NygKjZccue7MQiBWr+nMdmAYr8yw1OxhorDDxSUEzfgHUelKsIVmkA5DYblHtYVN5LtDCLqegwT01FSz+V/KTKk3skD2Ix9plrioLzRRkmOusxE67DGsalhZLonVQa0TwisLko9Wmg4IwYXEpR3R5t46YqiCG0znKjJK9FvEbTx2vetba25ctQINnOD4qxXbQmElm7KCZ+jJQUi6ndDofKXKrBY4EVYzKM1SS+IMt5lTIzCtX37dHMMqZM1yJaE9HY85LrZ7EPcIOYWV2aZo3sAq0db2uNlCJlCmfC2AB7wCzabT8Rt0EidMh4knuHLaCYSgv3y9+BrCYRhRitYhydww0c4QgG89rqyVNk6KUVmK13FdoRcmasJpavDEwqMhbLhwhdAuoOvKx5wWzfoCFG8l969AvBjV6N1JoA2SXiglGWGZ+RjNOLXkDjVPk5BxkGnJFau5KxX96XYC97djWYteFGfzKfaJHEwi8SmrJNMGQTG2mi5p4X+AbIQfQUaA95BVcFPnyjWNOjExFK1H+qgMS9gDM7ZVmp9p/SwdaGloIddU3Aox0VBt6kJJVyVhCTJQFqESMwGv9Y931vVkSPnRYaL9NuOWkPoByOZkYImIZYj2Pgk+W8hzVO+HVR1pVG6D5rAVcy1/wARt4xgH1HFWj4D9E1eIOc2N1DQMYBsKkyjxhMGgFFcXf3PtF70gjcJ/FdfUEU1NfU4yg0FhjFw3S4wIvO0LbyOxniTVRvT7fatNHIQq7ymlxif2GxbUes1A71ZsZo5GI+pNGFMaD52neSpq7dyHc2sXfFnmFFHdMDV2VDWcRie0lwSxjlEL4zvfoC1cSrW1ttlLtSeSz7aUGFQ+EuLQwDf2XMCsLej26jjyy7WNDfS++J2tWZpj3ThcvnFa1QyqkiCjDsyKePvHE3jGxCI0x9nbM+B2oqKNU1RwCr7sQZiJBkUOtUhhMnLpEJzB46rVHgFkTTOGsYSU1JzXEFhBF65wO3d5jzz+k0hbwY5H8JNI9A8mlic2szpJjK5hmu1lvfrCZAkISiYZnenBGS2tZ1C+nmkRRajcRFd4QNJ7YS74NDnqHk6/08KiU3wgEitvW4H89Zi582nKKS+Cp6qmAp6Rl5LWsA796sz4PkvQU/zdIlGz4ZlgLWWZ0AonlAAl71olCm8e8Aej0fJpw9e0kw1NfyPtRuH/aJjK88TaRpPw2Qz5wuEC/Ul8sw7mQYA0kMlBjlZsUDRGJaj1y5G5BahAXJaqcHCYQ5PS7HsKHmVr4vN6Kt93LiZqcu/1AgxB8jKg9xlMXLF3tWPtAJugBmQli/G2qB/se5nV5jtOrxRQpIKkGEnmLyr7lDwM6i0i6E3sIHMqvhDViGC5BYdA32Z3H12RjC+X9jinofyGoymxFh6YJUHFOcxqTVazQGKk7gOV8tTSpIeO+Ve5ztWJusJz2RhYG8EvIp8VrHYePqUUbr8EQmLDFZVP6cmll1bgKfNN2rF9+C2qFb4x3aSdaJetJAxfwxJfjrpUwxrrA0gD6GQdmmpAgcbP9/y3/Cg2PIeZTVN9XxMyaWhI947xmxWSZ6rLA5unrdi2oj1OFWTNsKrU6Gib0Vj0C3DCQJsONQdMEh2fDpVoI2GfPaA6aabi49mj44/xbu73OAVN5Nyi02kUSPP6sinlkkvWYGFpMq+M8W+xXz34nMHz17Odho7dWzR5knRSbzgrQ/+53h0ahHcssSweEOMTJPqdpIJ64FUZv1qi4VjD7pfhALZEE/gZIpzJexLGAxio6+YH+EbYMO0yhXLo0gAwDsRGtOmfmOhWGRv7fqauDZAwA0Wt2w12t5Dq7yk/+EF7aPymxrWxs7ZY/Vd0b3YB6hRcMgbr1X1uN9YpHo2J7Ph8JxCWx/2DgnZvoCbtoMGvYz7T8ofGIjPlYKTfFoXPa+PyGlTlLO8A90H7fwlzQbAAwjMpcr4d4uHYN+sKDrm+sRDdVxwV/EQ6r7sdgIEKtp2jqQ1pVFK+QZEoNacsBnXVgAiaz/KPIvChwVKh0JHtj9rYpSmPu1zbpy2JZrZtPwJY3wFB77G2xGS+0EDzYnB0VY+jqvCQC2/DXssfO6tzNVyERpfAeodghcTsQuw8c1G2QsxBsh8cnGsB1Ygn4vPURpN8eyZ0aU+fB911myIuTVaVF/8rIrrO9Gx6M902ucQI9ulglPXXD1W9Hajyf3W4BaS7ySxJdmCalMjWdWog9HfgIKCHNZKoZwd7bs7bkji7nc75RvatJunYxAoVSNysrhul6c+ytAwN04cgoB34Y5wLvnsfaPfUbaGJSv6sJiFNjS0H0dNJCvrTwjoPB00L2yhuIzdrCKiWPyfHricipZ5FkyEDgq9kku+BTcCSRamndMhR2ZSd7wkIDjdm7oK7cCbUvkBIxEDJkH/7hSJXL6Nafw9AEtzaJX6MQybNraNVBSygNuxLVqk1DJfmLWA1jl+U3FjkFPlN2lMIlD5OjpgL80aG++nFbFdzyTujr1AhTJAfh8A2NHZYplh29+7jhPgrLlRZo+Xg0355QuzNW9unhsw+FwLtkETOiOzDGLNgw7Msui6R4grLIB3PVrPHJ03svAh9W97R+z3JdbaV77aw+HriAI3AXZSX5kpgtAeNmxRcneC0+jc8Ym/FecYK79DpgJrkWiqBEZURgOfotzAI/JDAfuhqkn/5ESJrCpcEE5SxPh9jP/GB3SWgiMEBGKMHFYDVIZEMDr8PuhETmEJyHLnPBKNg+mxN2pZPFIK0CAxGS2pjRW05tFFOVdasun60vSF9Hm7XC9UZhyQvmxqWqzklb3w0y52Pzsel0RMGx5exWQburHL+DaFQuo9lzljW9vyrJVqPtM2RbZMFBFPVKVmsJrHfgW1JHzriK3Pj8efYiRlxclS+GLPK5Gi1z1i99D6KczU09VEYPazNiETHof2JTsV/ioHbg+rJDvc7In/A7KqV3sOioIRibo/+KsQQA941u1a6MIsOsaz6EuMOKoNSlDJ/u9dxDrXePU5e5S2oPFtXQ+B7VRg1JJ9P7+BsOS843jkOhAFETWBmhQweEsu9OQC+bsyosvaBmpdBcaWCsLOcZJU1fvt3j2sbB93Cx7Q6QYZ8h0Qwy8jZDbeCXtMOUtiq3SxEQxYAQpOcOksSdRRjsUYsr/92ykRKs1XfxtubFZXNcTXsljloqe8ZPcH3f2rrIwzY96nsCSRkTtGrhCS/pxc0EyR5UUhppepFJnLD8N3ir9Ecn3FNlE+NVm9Daggg+7KaqCOS/7JvGJjdtJp0FT+7EQw8TAyOxjFlHH57NIb2aMuVET1mhcy6uaDTQhYEKbelNm/21pGutCyBe+Ppzva9ciGgGndXKkxNLBfhgNVgRJ7N70Fzlu5bMLghgzzAf5NJBOCJwfa0fhoqmUvBJ5aMxDfB5RFklq7k4eQVM7P1lrX5dzF1/xrIOBnobS82Cd0+tFjJr0/b809j/+P7SrMkbHzwEMUp4Y7bYitn3kQCzzPnot10JXw/W/GZ6pBPV+AXw6JfygHQdKhkUhDnxVPhwnko4dHbT7M1sx0kVPU6yGnqvdqCpwtHKPog9haPndqnK5Yil4JmWhlLr5tgvY6qdbQnGxYb9gtWxiBDUGbgv31IY1KWMqB1DFPaAimx6n4lv5Zo28qRHnAr4jxr6MEpDzQq226Hv0DaJDvaBIU2a0MgFCee35cu5eSklWPVE+B9h0OK0+ITvJ9na0ALan3NyAEty31ElQvtiitsjJ3SWaYQY8iIqRo8iTuan7rp80Ljs55wm5F4D8dxJkSvBjWPi7XRdy34WJbYkHm508ww7wTTqpbKtpd/zlXK4pPvL0ymzTClwMbQ8gVzaiXssmfdt9ymAQ9SevrfJPNuflemC1Dp8FO0zY5vngcurWYoMJyYxOO/TPiRxMT+g0xf4sD3faCJMX94DG+sca1RhkeEaJSBEDtM3SvBud23wO0ip65FH9/nQWWl4HrD0pGqpEgO2MCX7MgzZN5As0972HImQfv0lkE4kbfMf2RGtrxRE2ZmwcLan0BiA6wxbDAeKpclLwnKpUiTlhsRWlhLWfoi0QCY1vlyPDySyY9HYB7nEGXnShD8//k1LOVJJTv1KBpiHC1F4CGhXKZNsjj4G113HUdBYx9poHgdxVG1QJd0eA+2RFXMENKQlnJblRO9VlnzdXjAi3aEcAYCfCxwi1QT4S2Tg/dx4Sod70BKRla2bEdZiEOYXLItskEZ7CtYgPFHqg8v6bDPKw3UzbP/AwFUQVm8lQWqXYSUwARy6cIfjz/nuSaQGVm1I1/wTgSma8YGsm7DJDlxdST5JapHQNW2BWeKs120S+BKT66yZMZiP3gtAi7G7MkNQzG1PtVT9fRO2OXY1qe+tvfEmicW1Yye5b4zdLb2zwDi6g+GE5JVsM4n4cyKrdbZE7qbh7DhV2g9kr/5iB+r+m4M3nyXVIM3FKEeBrTmvJpTWjCkHrXWH5QlsH6C5h8NS7zzYIIV6tDYnNeOEZDuHERpNNLq673OuyuOMncTAlUqY4lqQjOhRVJfw1QZW/R0FL0YAeThSb1DGJNf0V8G6wTkYL5jMg8g4F576v4zoiF9iHelEJN+yMmEujNeiefOxKFULMnjNJBUVOd7VE4ilYe3dKAofFgB/b3IpJpP6bZy7M7HGkW/hgOrStrixmbv54ubr04M5UYC3GN+fc+7G4uEbphR3QroMcX57bwDjV3GdqbFMkrCPfgnZHuR89kRVmETmoprNo6CnLzKpKOBEpjtZYIuCxZMnxDfqqcndqwvx8ZALNWln98y1mJzLLoC0HqRSPZ51HKf9shjdIb5JYH+yGaB1grLk8kOIcv4AwsPnuaHOiME6+tAwIolvp4INRwqG7eK5wuGbQJSdJgIc8axF/AfioM4MzdGKMTZLrAy+P40B0cMwJqox6y411NHiEBX5Y9jVrEbekXpmHBJmeSt/yJE0KXY31ClxaDR3FaiMSFWfe1TqJA1F3PCGdiOgIpg/G6Cd5A6ZKl9/1pQcN8FwbVWQbNiHR4SgCSZM3wqiFlu2RkjIbJ6tbV7JDIEKCpofS0kW0jY1AdGW+mKImhhKNGZD1YabBjnW5nS1JxvGb2nfWbErsHwTspcHUAGC5R+MswgGgGVWbP7X8RI+xEImWBokcnJS9v/BxpzssvVAkNxqczGfIf8P7EzCeHlYZYhL/tHQc9CyVAYOP0UZnBwqpFZ8CTnjUiTihlykd8haTNOZuwaCkc90s/tDWOAafqevbnvs8+L54Mdmz76jy8+JZgPS5cxRhd558MKTgaH0p4ctQURcamTIbN8HS8pJ/haDbpUb0wd3shAQMZcDKg0Y8sMGLBug1biIy3yZx8Ci+7f2Q4Z9c2B2DwzMFZFdgqiWFRt4qtFaegAcpUDuGjLoWmVaQtME1GIgz+0IHxMgzGbWcegvH46NZV1NqTxLEeSfueSqHURxHZnTCpdp90WCiTdDWFlYm0d7uLvajx4ISzzeckcuxyntHs3OmW5jd9OCsi7g6G4wv8lRR97GB/7ncbjomo+OZ3eIFdT8Qe71NSN1qAIXnutXOv8rMUzlTX/WtkaHeI+zL53WZoSjXqK8Oq9BDgMMJSqllQt6J1L9M6TNwgcB4SJTkgKMlq2ZuJrqpoExmUbLiaL803t81sfCyW1BYGPSu+xGSTj5nbc5kPbKRm5sKqH6m0EBxc98zKmjcLsQAlVruKv59ENZIVlcXUWOmj5WIOThmQ5XcnbRRsXR/6MQ3scZnEK2JJz0a9iEa4H3w/r+oJHBhor9D5n04JL8lhikEUJ4ERj+ij1hzlxCiD7Ny6vd4HacpEJ3smpXgIarBjmzICSPpJmm2h4MKMmvW3HsIdYFTpxxgeqgio9EwCrWr6nofnF3RO95E+Yuz2cRPU9bsiR1AAO9mbJatd2WtEoAaMVI1Q8nnnTRVvPLN16WNjOjwTMZ11Z80y3jG0guWpK5lO5DX0JUwKQkFZB67wMrry+wD+i9U+z3l8l6q2IRgzm0T4bJbEvh1jDR+itGhUtJAu3WLSvP7UsXmLxYm86qrfaKAofBaO3McNpZkW3+4A0atQGczUoAiplJUCLHrU8f532wmI1d0ehFBWC6jlESKFkShOfXXUx3Z5Rj60PZrAPIJUgvD3eTh/5BKnrJ3Vwa4mtOv4Mv98/8tt+w06Re+3J6GA3iIIe/UDonjX+DBGLtrG8VasFEyaG7zSfv5BvA4UWH7+GHxN2Kc2uMR4E7ojhXQ/1dKOs7wNlu6TP7HNX2J7Oi98zrvfoeY5hS2P8ExEFEFjNWmolOEgl4KvT1dP4bzQ5YT4Vm9lSxuVYC7zQRxmp4/EW7fujnn3uOwWETrwQByAo7LUse4Fzf0xq1paTgX9sMxstj5vsfjGEe/km3Y3Q28vLE4bV/LNzzEIEMaVO+neFwf2D7tAyypXvKBvTTWdNplOfNSN75T1SuCzFudWHWflS6TqG2i2spFEL2SLAtgIG86G3kJxl5dTpiDaG0uNl6sLBRpZpUW8cP62NMR+7LkyRpaUoUcpOQMQxAFUkTulpSAVInqaNIvDI+PgsIyHN7F37bJmmXVh+b1sppqDXms6cSsEQ7PECZxMdxagEmOROXQaRSL+gdXY2bA2dH0UonqMTY0IryJhPT9HYZVGTU8uuYaPn4AGtwmF8ZMUFofM522LUxYHJAMyx1aiDWVDibd/403SG6EGhXB7AHTMPDnKlITW9gEuVm3INud503oDTGio9BnCjvKUV9iPYk7LlzyaXNWL8GD3Tk1Qmdf/ASpL541pFNVpJ809tSCwIevvZ8s+VlL3SP0RNCAU8XDZot4w0+gF7Yu2DdHToLe4a4j4HtiDCgZCLxvBEvfgDHaoKzLL0eKxIM2sqegpsI39awINu34JEk1SC6dSr9oaB88MWYfJHOWti/w3X26QBc6b5gH2FtIxmciSF+swLHTiyuTRcp0LsuJUM2Q6XxMMIGHWi7XpKFDHbKJ3XwiONwNWLE3iqGvsVbwKnBDd5FY0GH14nFxM5OJwORk8NljYasBhfUCnnE0csWvq8rSU4vn7lY7mul+tqG2aq9ok/+KmU8I6Mq07dgK6t41UOyDF9OePviJ1wwny6apZMetzUhjVuPOlemKZrsOTqyLJ5Bz765unxJKQjLpt7OT8v9FTNLO6k7YuJUlNHVPNLOEtzgiFwMjAiCQtSF3oDxntZLG1J9+JLI6D6BQT0IGCmmuwmIG8zfun1MFsYiQYamPS7SOzMsHEtqhVavv77qG9bi2xwZXp7hQSPYIQl2Tn9TwX9M7sCEjh1AxFtFt9ntABEifLYdt2NRn+BHmpcPZeMGV54VNSX3SRlIwCPOHnnzdQJN7Ya+w6Ppx8HAb4o43G5IiNaOe8f+f17fsIGITmviLppNoVcVXx/rXK3iSviY8mV4mLOfA5dlJU7aYaUiTLidJnvpfWEWD7gaHq90Fi82uSweeb4ghxNdh4ZRyrxG3Rw2IcbyJJSF4zhanXjkHXnCe7FoUhVbDBbBAZVdwulVegE4CRnNm1okTLBc0hUifA0Unj3+6yMp3FCzjlq00+MfCAIXl12Z35LUyfz2jyV18wVwHmdRen+aEHw0EjFEBkR5kzNmALiAehl2xbOvsxwKrUePBJQP0jKMBLIZhcwtqWAiq7XOcbeDaOwJuvFZf1BLZyln/yEt+ysA7XY1Rc/Dv6yJpJCSKW2j9Io93okHuFDsAn2PikKvdYatFo39R9bWdZKsqzZ02/xLfXF3Wrt28tPbcRO1piy5cD8hJ1XrAm+nASTkGbg2tKjSNEGTbOHPTT9f9ucUXEj/Za2pJBhL0GC/RAOucxTVBz46xZT79/51e+4+j3tIeZ1PRdhnrX/1zKGUSVQAUVV9FTohJaBOVDCHw1g2zKJicv6wcSwBQE/xdF+SZxcgaS4qa9NReRD4QgUtcNm+rqNFzfDU9lhYpe6yPMqbngwHVfzOGgIFxiuRynek4Ouc10VNeJIcOsNuHul6f8izt+6rK7I2C3iLM32LWSdYuDZ/rpNIL2HJaIA5HV3gb4ACk2CSV4Z5qg62Y4LNaSo5GzWsJsQMAkMqVQdBVWIY9dERxP4O6QH9t+HYFNQhv2xVDWwhYPYXuuxD3dzxIMW3wJSGm61rr1YkJnSiVodmOBjCbplQ9HtUBGDyb1luUes66/TorikK2xLryl7GwjLgM4JTD825yXN36ktkScTgfhyAKxInSVC62epwayOgaLvodciMzwkGQPkBFI/osLlaivMWE59QI6vP0S1FRUFMZN7hO+fNlDPZyJIeX4JxHciRyr6wo2Ar1C2buuJVt7tbgfM/zNMy/BjnpQQZzJzYegI8uH7HY7hij+KolYONgeD8JHTwNaiTbrhdF/VppDbiLPdpc5Bv07UB4Eqn2P1WOP2RWTKlMzMTuy5zsSSew8NSD8eaUCS0jqan0igb5CJC7isIMpcjfsYTs3vygDXNXYh6K40HlfBwvmPQ0i2gJ5XG3Dczc7SWRE7X3bOiZsZ2A6Q2u88ur1+XZwZ7OWINpBeybhwqfzeO68cC7iX9YNuknYYhLjUUWMkpV+wVhlhkNHosF8PP0VceWHXwOllv6iQmvY5etgg18EQp9NFg8YvSdm2QrZvCMWDMIKEQoy7uk7HdFdrbF/rN4IhdoOk1vao9rx1Wcy0mFUqzQkx2HdZ8qgfpUOpUOUnkFGbWvzLKOo1HRt1jjfcXymJkZZtjfkjp3ATjogMu9QhWekeUhx1TysToEGwROfJymrkMmTLgn+Gh72VrciHA6NtF4B8NH9r8O/vRTs/cRrAGy7h49wGnZzOrmcr3fAqscRz8bHFci1UHZz31gC7rin3bl2DQrFbAgTx3dFHUgFl+gGf7E0Razqnol4jGVV+JALVCVgS6aCPuNia1Gy+KqPBJ/kAlOKrOja08MWQmsWLOw4wzgL6gYccAXtQCb3ESnHqWl+pPjBOvw9UNM7dIrzbBTiUDbqd49exwlPZAH/cD8SqxQTZr6lQWrBYFL5zBgQx4By8N7EyrqBmQLYz6gWdruENW8UQJKzox7fcWzbLSgGmUfjqjP1eG8txFuLPGzyIOZSwYuKyOPXfw60z7HNonkaaZ+58rl1nmVU3iKnpTa+0MpofgYvRbe1ABcbQ5MW/XCNnT97VbDtxjaSc5Tl3ve2v2u0+falujB014IsejiDZw5NkD2HyuYCdTkr2IMZUyvV5I+1PdRbOulhM4js8XloPiqYGtN2BuVKe5t3zFqnKpeYJpn0o1UxpW2mS/VmhFQ8jF2K8fDzaxqRr0LgLOGffXj++NqXrSr8nrFUhc3aqqTNHlhB519EH58zjX4b9QxtT8m/DB4nhGoxt5YsQ+TJ6D1W/O/LpRVBA2U0QxZNKUlq1V4YvnhPExsUa4iC3Nc3x32tweDt8aHIXwV9qOQ7qtvcgHCuMeyRCeYZd4y8jhrYLUZLKA+9x3NsuQvdLwv/H0t56mpHqNH6YfTQ8ata2QNul9+Ekwd7PIMuBr9POPqg72GosqrOXiiFbnhNOoqksv3phQXp1lxpvGXpObNhcYWg+SI0mXmBivi+VxnNPwJWbkVeDHQ9+3Rcb/h2ixhKlq3IO/0Uwuc35PbWyGQVSgRfTlXfXgYU1iXYR9xbrq1FauHO4fmfCcyzJia26m3uLrmesWDM0sQtOvrnBrt1CAgB71fnmxY4aCR6gxzhF4a1bolXad+sjxvtqvhBIhlYvbNC+OpqmI9yK+EhcuOA7Z6mPyd0ly7X527FSHRe8jr1/aakTPlAhexga3FbpDqfi4tP6/McloNfWTVtuJwoP2z3Vg0fTrdkehfuxx2IMIJ2wEKB9d0cHYqudIuXp70D0DI8Aftv2AmGMUWgs4pqeOjdsgtKQm3AXQYTf52bOh4ezKI59n5b0NHnM0DvOdlUUYlgqYLHhx6IXWFNLjaeE44MXGkKEeJWlk9w5HvQIabCgWc0xM39O/RnMXVMvUabZiu30iMSXH00c1I+0SmrmwOdgvwOou7Iswie8ImEogbvbQqddvdHVbJlQKVXHnvxNJqfzxd6aFFbaQ/T96hEVQoeTUN+St0PUtbz+afP5RBYZv5VeKq6LlPNwDsBiGvr717Km8l9TK8mempcrVQfGE/gghZftX5GmNjkbzFcdtOFbV3kp2VZQn92R5c9Go2EUoQhlqhbHQeKBCZS5lPBwxd1WKUlDKQYE/uUzWEfOwOnGrJrFiXnV+BpMJnVPJH2Y/xICbp8FGFIK+zBgUfA/H7g7sXugcKeut+J1xTXifI7IlpEoFKrsmAxE96XNzyrdGF6OUHj2nYo4mXgFSmRyAHaelKSFG84omL9E2CKW5lQq+WLxYsQ1q/FtS9TvwBzrTXtWFBHZ8509eCEicdPZ3o0JuCYf+Ey2Otc16jNJPO948/eIH5HX113XEKfPB/+uCZtfVxGrdKENMvRRcbgop+RFZHqmD08rjmg5xdJubwIIBUN+8l20brJ5lVvq8SePNHanTU1ije79nI7dOb7vT67C9EPrm3i8sPiGkhwufdTclD2ApPOa+WWC1i7d4s64dozayBr8PeG2YZj2b4Af50s0WSNUs+hFicv6jVn0TE7jISyqN+xTRPAjYmPo0L7AvOzJvexfD1rRyB1wWbo0eppJMVYOlQpvtgyX0u0pifoTAvddADX/yocvlXpJ6TAGth/w+8cvbcaTAnjfNEdr464FH5CqCd2CKmFT0TQPhAV9RzGJn5ALIJcBh6P6/6J5Gg/hyhHKCySEg+wMf4wtRpANAbQx+gx1Zq7NUNfj+HncF+y/paLMttdHQ2jFoChTyw2u7OspMHsaBMTXtK1yJp4JtVuezG6sdECqCcJ93S5uaEjPFtAkURjA51BfBkluVf6hdhwpT+wNUdmxMZPHNmPzD7+KufK+VqvULvS/44QcMz2mq0kZq1UG31FZTE7wT7ObJ/WJmTPHA8f6GF33Iw/9Fr9DODvcJ9RZiEliWLhXhuui/aGC5/XljqeqNuY+sj1tlD3JLSckJUmCQPb2s9wfPh4iazFDju5lEgUKbmwyLkI8BtqrueNN+paKPX+EzNIv6siQsIFyRyCVijwdlqcNUbvhLenA6hfsOUqKt8Gy/rhw4Hh/YFTRRpApUYPGGZqQAEl/qbqMWwHoYOwMeRffGQrpN56wMQlDRJ4/tyg5Gp7gvQysgUSC4mNQQQLn7cqqpEBcWA0Qo51LeUfNWaDx/MXsX6/VA+VOHmh1ohJ6NPDwpGkxmWB8QXuiP4Efw3EhkbCgsDhoEx1uybp3LJoS/iW88RT3r/H3YTllp1Y1NH3UiW9DXPWzn8IyKcUUzdBD+QHXXloBqVKPaV1KQ5VHrMHf0F434MC266pNPtaaLCaPMWNsXHRgXItH5eY+YPmZfOzaLbBjYLZxUIc+B7IK0Y0WZCNHs3fqxEPe6Zeez7NfO0WpcsUO9+a/AaLUz4ThZzFLbz0FI3olI6+iMLPIaGlXbAqX1NZzNXu7hcvRBJG69zyqAlEu4lhFiCd73DJuOv48IbmqRuaRr2zEOOYjp5KUG5QKkYUTN50k02g0M5s+9UuMozPwZtQ75tgphPOLMbFWiGHYhcvQI3s4OZ9eiuQrlMM3t6PIr58sUjKjcmijY7+CcZ5w3gWceyolTt9a/jn4EdvO+/cs+M/2eIL+qItJXat1O+YJLOJIQDVaOvtNheDuaQs+tEdPdbK/A799h03zyAQ8RmzHlIvAInCJ1VGVM9ZxSi/jPeIfiaxZ/7lcSIBBHaTY3TUe4e8I4byO21uaeprb1w4t79E066g1iiD5jbT+h1+uG1iTzpAPSD8xf27AGAl3ily82A4PHcRAWeb/tLzedElKFjZ/HkUh744vUfazAUFnayZjk8cUjcBcXOxOkIZutkYxfA7daYGSWDgoULDOB/RztRaHkvQwMqg7h2o5Wo6WBHAPAyyD72LglVHoQqYBFV0ZKsxQSnSkUxd5GPXuiJxwuE9bf2XqnyYK1DspVVsNOLGkW4FCevUW8IkB/GoaG8ODS+My36j4xAGcigUo3zTvmoAmTLRWxs9kLEiXVuck1I8VwIzm+LfCZhN1u//5Q99TIBNXebnBgutU6w7kMgqD4yt6BnOsG9WceSmAQ7Za4qhE/J6Jeb6JcdyHp23cqZpbF2bcwzLhGNiLq82LUucEDVF0XfReohNUQJ4eHdbObgFKZvImsaSz9uzExonOWCJKNS+di5QuJlsLLJrqTd70jZs37YRAw7iIfKG1g5A23w/bm3+rKbfrqgpVxT4cxCL3phvFrgKJwQ25UEBrw/03TPANavI0bo7eaysFo2wQ+9XOOtDvEbhgZT+bDKCd2qeetWHaKtKqeYt2pdBoZPdfrdgalhPxlVpn0kIA0iFBuhL/wSoQ7sjbqgX11w3QZwXZtb/z4PIU53l6pHlPnWBd3d82JWfgFDdl1Z0rq+CGWKdmNHDecDCjZ34UCXWxjFSB0mDYgtR8/mgmFy7jqHSQvMjHXDpaeZFo5vkSoHlyn/Cty9SiC9OUNaa3HSi0Bq8HQpmvnvSW7G21LbjsvOtSfS++jAZf5wvx0JHisfZv3vwBjS0+BpYEsrO8I0NYmA48Hpuaetb55F3HYvXjviySpCWLEfQB7b8oB1hd3idBsjHXe8Zab/3lCECfPlAP8jC80bAaKbQtRqLdWhOrZ0k4wFJpcCMsF2kCOnIIRAnlAWJM4G2eHImNdshUNkb3WybktvfRkSBu9q0LRclOAlDlowMg9tIvUyomifhynNkKlvpCosPCNuiBGI8q81Q3n+sjxG701+toqa0muKyFQE6zX6ptwb3CqvVHdzRfqxxTxHmsF8JoVJfzoBbA+8cY+2xbhzylKLLpeqRe4p8xq4xwDnPLMiT6ebO5VVXPaeaeRKPckqIi/dlUEBjjN1Xhu0KZDB+jRg9ynz5gmmDMdE6PhE/SmNq20qZNQOQhRmHl+adfcryeLkmpUQdBlc048BJUue81yhXBTwdqpma9Adzg3SO0XzSYUs8JVNxYUJClmVh5Ouhjv55zS//RBe2u1fSdzGvZ0DXJHSotHsTTxP0X7VQqWTfGSsDqiyLgtJmGe/gw7OviLEVe5Uz0OrUXX+1ZVDinOCMa5LrOMZAYtO2uSZP01fk1rlbfrSnbQdMqci8wP/SwBbdxIo12ChN0KY3g8T2u1L8fbQZlGuwTGQCuXcGvI0tRakq3Of6klnR+43W2NTIUU1G/uDwZqUKgi4Btig6i+TSMjZkRA0cBn/WaI7wkyzXNMTg4gyzdASnyYmxkc62Ak7JwKfgaAhfcRZcn4BrvUA27bZczvhxoV6TLka0I46MmQK7AyCSd0Wqj6qZQgqYhXyERjo5OzyvegG6QNgGiRsxBrXcq0vNtJBw88qJ14OkDUWHR5mGKfuDzDKmOtyzK1Vb36KBNKmR6Yeqe1dM9KKuBeClD6MtAE3JbIK4jACjNg5Z/h6tj483JYhRfhZa4GT6NcAn70K6fh/J83pNF6Aj0oNODtmd933HTyZlNr9cRHUp1ATK7vqs5xnLIQQYEsRv/vWFd/kCA7lmjQqpe8YUObRPIsZurzbiFVp5HdMqlHSDD62KV/RNTkN9OsmDDNnB1WbGU2J1Sjd6BZwB7Q0EnNDnn+zMz5Rw6xiUOENrueyYlsdx6SUVKo3IpCzU7phARvpF++TlsrbIwmGMhaD75Q1T7NYC62ttOPgaxVLSMPcx3tJ+vRVYDFv9eW45EOuJm8gqwV2E4BAKUUHrFRqoRxxhWbhgIsvTxT4IoJkgjYCrQ+/nDO/IcQpRRlb/eE4kZa/lpnqdfnJC4z7ylhV/2VyflUSHvWnM+KusuQJWXXLRkq3fUDi9Px5YNZmG+naMzlsJeRRK1hrCxGCAN4Z8xeJo/s52emGlTRrn6gKH+6aKKMOQXYBLI+viAm5JXArndqwWpFYAUNy2IRomO8YY2f0a0SyQn+PekNvl8Zl4j4GLXHqoR0VsoxZ9Yg7F8gRa8tbaudoi9rDqj+HBTtqHmTSUaMqMVtN8dYEfZpxKhi5lvZbDgmkCYXHRfCbPK1hBOrprk5FPaP/Lcv7/Zr8Pqe5BYlOiztfkS/VT4CcWcb9loywoXDoP28Io/CH7EtYD7L0p1vkYyn1ZQ42aqVFGRkHMU/AJSwcNAhT1igWEl3ACEJMNEURclkYrOeZ9exXRtN/BR9EjDIidKfIymc5roMLc/ImhXtpjvv940+4HyhslHrO3OjLL5q6W624NU+L+lAMwqA15Tn7yGW/jUtSSTBgfbL7fCU8go7yzwqy4GvCg6ZzmjPQCVnAtegEzSbrZLNxrM77pVuCvkrhV3+jzszVqKQ90Y9Rg/lW3lY6qQRmI0z5CVDWNTXSdc9KBzp+WERwP1Prucf184p1GVshylHid3VoIuW1f+vVUGGmTFpWyau6P0NzObEFVwvD6Ey4Br4UTNSydrodrVpjq1QsalSkHDPvLEjiOAul1emwu3lW3vyYxnjtDoiaPElSSIjPYNpuciBGfnfl40yFIdQrhQYxMNVInfNTHypP/7t2X8B21XJ+IxoFGVW8na6pZlkTltM6vY0IFqULhAvA9dtp5gZp6akoUc5qp0kITQHevjfAtWWEub207Kmsj3tyt63ZVeUMHaiRCKxpj2Bbd2DJv5gha+uGoXKBwVR7/dRKHWNUDFHudyn8ve0VG65XaXS8ndBk40jPwCHYB5JU9VgD3UBQufVs/w7D6vza47HoXBt5skV+JfknScFavt+oaTd7MlIh5bVU2xy8uRs4zaNK4plb0HqZYTEm+pQkjDPeM9C2yuVX5Mboz2ZvLDnif5lYl1qKmC+lb6Ik/HoL8T/d5mrorFMgBQ/8ExUU0WXOhTspRjNVCqkXi6n+ZXBDB3UXEe6vjOn5SDiE+DreIuZ7cjOFl67Oz/KOrvgsSZxg3ShJk5wFEzDtbTUOxTuk8DuaaOMEu2wFO1PiGFlRMu/1CQijfGBvnnc4x+C4dVaI9sIhvf3JRUSJGKnwhbSYUMXW5MnWg7pbrHEQgiu/kTyq9a5RaoaMaA7dJCwEHEexU7NVUf0hM2wvakELqo2KeW5Hhyl1hNTXgW5I6DAySXOBdx6X86IE1oYslzfsvska2qNLtU3t7su3VdvGBQmMziLhmvy62tOtMRKHg07moE6ASjDDLTnqsqfgWRG2HiBmfM3YDwGtJjxM6Mn1EXTcN8CIJXSeRi3zbTFeYTd23tevaTRzfogpwLh8sHjbfkQDpNiHQVN7SpNGruLLGHcNURTKGm8yHDKRQa//EM2is1uRYhONImcbkz1U0C0pJpCgFG7urYbSfwPnrAX3IOJslZ7FBgVpUmytgoTybZURrnLTPkyMLiIe9Qt5pCZ6A5jdHJ8ZpuJ9OCOwl5/qjBhQbHzQM1X1yM1nta+Y5Rr+Gfcu8wrI1rzrDPzVjrx5D5vym4JUG0wcj/2hFblK+qDZgBQ6zDLvyf98NYPIBBuwTA36Vi8AjHZWnQ8HpqnH3+VWz4Yc9IwKNXG8fN7vrqRjcDTfqH41WKOePpA70vbec2ToH8h0k+ka3zcho6LpipCoTz8iOxzoFr4bZ8vbBrxHba//IgKdgHUD22EILgyRTZBf3G8G1XOxWqGdBPhEfPuwTrARvLxhC2bKY40Q4e67yrrEvb/Jop713gES2B6RvPHJ3WpxYqiItS8F0dDNKnqhH46t27uZqvbw5eLxz/IKAR3cdA4n8Gajdk9dSetOkXPkNH4saHdz7QcVAevjSWPoJpdF2+iHjD2L/ekLhp7X8j6ZhlfoWEZ8HwwOySN96CvLNNmr2aV/26BWNDVRMuIz/iCJLXWx7QhYzN5yrxJKww3bsZPaFam71lR/3mrz4LyJJn/umeG1jAer8Xp71aOuD6l9WZiQlFEgb5NtVUJcX2krCUeHUBo+Fk5M43RxFDvaRW3Bxwy9rxofo7Fn34B8LpXF2CveO8w6RWPZ6LKa8H7ip4iYEGTVKh/34ojh6hO9sSp36GE/pb03izYd4Nt+91c9ZIzquaJXEjFVs57BR6b71L73yPMlLMtu21OGMU3e7pEiSKKqN46o8T363FrkstfXy6guV0RqhoBSy7afQLc8/9QSr1EsqDr2G+CBIRek39rmZo6LNSo4+72YpYzFI9+rWMviKg+FaPMVZ4zEY3Nm9QdhQbUoQPugJMsNoaJ6WaMuZktG5yeo0fXZ1m3jMAUvgGLEfqW4+cB1e8FNeDHhVjK7M93+aOjyK0F1dMvYpH4+0IYAx8orvCL4LUW1Q1tDyBM2ERan79yB34s/BjNJFyoZIiFrMhTVZ1VyflBWNk/48sRh6RY82GxoHWaoM6AhB/DPjOHuiBXJ6D96HuvKPo2Qh72Jz5b28zCZnyHNkadpePZOp3UBCCjJRKPe+ioxETZe8+OBVKG+eedJBLfNZFzQr1i0AqRrSIQn/zA99VFFyM174aZ6qImGj4z5lJbIrHnVhPRoi3N1KhYtcpxqIzC49ukgqcxXHTy05Wn0MBS4IeIzFwYLQ3HWAfoYupNXOGG5i5v9C+Ze+feuDmEsGmMIsKXf+NnmM2xb/dcZhx/pSbYyCTkI3Um53sDOlvEdLUknK1i3OPCIl1iwRqqjnvFEqmW+ki7a9ow5wg0UuNnkD4BqRbf1hzM/VlakaBGn11KMySpOND1lTyq7MEaL3m4IlgsKL8ixMkN4BGqJcLlfNFNWL4QLyAKbs2bNDgF7pSu1s8g2XwNpDJCNGk6+PPl0GMmPzUEiFC+0Zw8plgLzzKCPtFwfGEQbSWJJD/ORmreMUqU6ufO/mg7irvJj/epWb50iuyZPZanqtxKE1KmVs8J8AkFZgB8Ymjv+zUoh+rDWSRWUfQfArc+kmVTU1BZEGv9jdymZghZp5KXrsQDprEXbWV1ViJWzY86VkOwO+I2gP4fQKPNtNf2OU0jIPqOyRLx0sBPj/vpAxvwWiXxmnozoIFJ8q0lNPRyI9RNTmUJueUDg4GVkdpXtqiqoZ2GekQTRB16GheJiS3btyGZn2SRUW7ksp6OIsZecKh2oAywCohfIgJ9+gzbdhNiMAtRUlOr4XImVruZvimFpf94l14cR6B96mWOsT+uIclAo5YOVuXT8v3Ns2USNUKK5I7NbGP+rzUa5kSku/nP3ROEHyBz/sBdK5cYj37nRnvUrIGqN3OiA7JTnWSa4NxgDcYCkybd85GB0RuOJznOlbEIftrDFwOue/ter/LYEVgCW0Tvff2fh8AHSn8XRnvX5GT1LUMxwD3nJsxNsfOa+akWwlJ3dkCij6gH+VXfGFZVM9W7Sr4cigg3k1lxnGvrDWWv3ws7M0oCqUOavHeCd3P/yRFBCpYJDFvhzFYkJoDWaThkBOhc5+6FmaVcxDtlXKIzFI4Ao+2cCpCZpzgFoKp5iKAq9vrZc3RREInhK974h7aRB5+Vx+5quy68vxmVSe/mInnueTOcqG2ErleNVU5RzWpC6e/ry1qWcw7ADqL1tGGTPfjH32Zkxs/4N/mJoT4a8UxcRG58gE5tvpq3LCJmYV7d/SyieSdcr9dVn2IBa3xhM8xlpTF+CbKWc9ul9u9OsudMO1IgjaboriGNnPLjRQKZXDo0DNZ47bYgxGvBJbAR/BHl5ykyi8aPIamOiyEaiq0d1Q5hXSEELiy1xGqbPTFEEpFsT5vGSN0g3yfjEdop+yGSbgKKib86lie163QEEr1CNjUqQNb/L1pQJnXpw2U86T8ZxqS2yIFDsXW0UdTdiLlT6ZAY8M0+BTupdvekqUWPf7h/glKc0K/1L1rk7X1Y93/Eyr2JNISYqu8uVf3yNLrAcvjRCQpo0mZPSYhlv1l6sncZzCSabIuJK2TjIktgGUNuJk01ERpZ6WK9ZqzdE4YuIOO/RUwsfIA2XSXQBhdIilHP/M4k3bpIUkZ5mk1Pc7EpIOvWBcDoXuBEyMhRcGVH0KYyQgDuPTr3W636OrfBDcwdMhBmlDgLRwmOygaV3MeNbF0VWQnvgRb/dCIusWYigOXfTovsu5fGASY3lUKdKjzpyeNIQR8pJ89vSwBbPaHpQCpPNhtwO0yzwQGsvVHWToVC043GjiJ0l1GdmLmfl0x/KJQp3t7eIUH86uqydA4HTu1wCpeU3Qd8qZyTKGJW6wdJXdUwpPiPx7470Z/Z66GKm5qLoHiyrBIbkkiMEQFgczXoUSnnOe4Ht8xneB9d4CuR1L0HQg/ffgRz5h5D6/IxXmVvcs1Sf0kiYH0AXSu2/UASguLRUSHBbe7m0Nvvf8whEByq2S6P+Jyrcw8Al5SXeIO77NWThwm+zq2qFJyMEi2cYpi9y9ans4RDSNgGs0EF9Cw5Y949o8Y7NraA3XaVmkPFxOAyoCcL/DnsYa6xGs/+befUILCByRFf+TmhwMcA9yjI6B9Oi3K6/Fo0ZUAnOBZLyyaR68yPJlOQ+SDuoaf5l4ZeTDCmvO7G9I6vJ0YwFWfk2x8mByi/xNDm+FAGbChExTZY4itUoC359C32NX+9ZTzfeGf4sMyqlS2M8l0MXJX+Yy0CuKCjWlgFS+QnKdWZmiIniyqDtpWZ8Za8NcoxouqQCw2CS3USfBpjGfdQ2ejLgf74DdjWXUD4jP0VDTHdD581AXxy6EEoJuvFw7+Ic5UgHrB78ZbIax28IwgK/eOifcnmOBfPIULL1x8ySbNhYjCZ7RqqfMhLjlq+sRDGhuNg5yCa6g1s+VnJiSwxbGgbGJLlbX44hzs8cBNAg/8jk0aeFU47habJ1UFOONYQaSgNxpkWzfysuRPUvqbK1HnbjcCLwDa2BMWQIQjaVrb0UT3vlONZBMbm8uHpLQL9jSbHjSLQmZXFEVSDDAhTSwGXosWy3ymNN8MghbyQBrSPVLTcqDxCX7RYZ8IJ+0LCxzDlYjmdRfqjMWEFWw006UHzgM/s/sq0OQUO2osjBglIEebCsr4sVFZE4ocH3Lx7P/7g4+pXx9NFEH/7haZBifyeQThgYebfVfYfp2kt3kyvIExMyjzWMf1SXPZrwDFR9QuhyZob+SbzLv9mxdnCwiqV61lgJRIo1s/D0wODpueCkZeZ5Sh/8OCXzPGOhlB4RIDED+WHa6sExEGuwn0u6X7WMMsbZrMje9V1b0ViY6dMuOIDrQSHD1ocUCdvleybNbqsNAifNC6mGFhFLPQkRoTi0f4P8qoaWUb2KT9BDXtZREfJtL/n6O+EdKBm8il8AAF640+Brz+bHhneSa+6xmeq0gnvTHTbdddZpbJwHy+F8BZD4KA/5D9Ux5kzhpvOQv8rcVXZM1bWtvFkEszTsWyYQrtbFXV2T8/mR0/GW840OKD7eE1edmiwhNYtlLJrVjxa1/xhZeEEsSvLveP7ureI0ezeyOW0fyJqCuRXaoybp1lkw4U6Y2CyNQy7yRsyuxvHUwXRNIwT9/rZ4AO2ld8Z3qEZQLnvp8+PkWFc4KCTzqcx62ykXQcRUgNA6tq64du/ysTd+tMhqZemqYt6vBBQUf/WBl8u2Ftvfc6rf/nbdFv+Td+3YSEHm84eSHS+XqSBEvE96lDd/oxD33M2bpn6nebVWgsIBPCrZ6rLgxBBcg7TOdiIf+0YKrFbdGfcjYdA7KGo476VnPyYbWrM4NyUyGOZVQ2ITU++eRCMEURVa2j8AtLcN1ShxX5MXQy/ZglDl3TV/+wvarJHVYZrmTLGhw+7uft0cizNbaGG8V6OtFCAWxea68WpkNkYSJutEDN1Giezem80qzlC6e4bdiOSwM3RcJXkacb/aY+IWEWVDhjEzScGwxkrKtRHHLuP+W5AzWWj4f/24Zd1mRhPVASck7vZWbTNEV+aHHWkIPouYKl0QSjTHaeB3aEHYGYg1fdcZrEi+UKAcga7jUE1pOq7d9gpM9h6HqK21Z27FGquP/Z/lKQSY4jmoJKCSL93TaGNG8SiGHHU1rLAhd+rKs6LpAA+7niSrRU1IAziMMkUhM9woPfiS+wJOsUGy+Y3gJZT72vBGgot2AgSrtfNyvi7e/SrNbZX3ZufnCDvaHMfJHCuJkK1ILCPiWr56Bd4OlOaQV7Jxpbhq3PWyVg6wMRDyDKVt8W3l7M4iPoRQZHuw6Rgewo6uVmwouCypbQGiqAZfV2l6dh5PGbkaiiMOvsBTaT3azibibwAlB6okmAEriZq/y7J1zMjTycMUDXJdsII9k/BZ2JUvWTT9mirhxlRj3HXVf6/5OELUkNow4a7xkxVK+DH14q9FMopzN+UT2uBiKMofBDp7XY4zwnnv/iS6zoAiKvLJQqHBFDam9UM+FE1eVxpiJO1TUI/SMRVmdYkyWO09XCUYRNcbq4ExBA/PHGxDAhCtiUb02RLOdbK9Efxup66xzxE+aP9mm3eS/rlEIDWYwXvaa3ZDyeMxhdXa9KVTY5qZoj+LEIP9eRLn/gyK21hqYkC1BT89aRLC8mV5Inb47I0uK8d5Mk/J4Vwj4J23sFlidUJBpt0ESZL2ManE+izdDp5ggtj1fnw36fmU7DYjaizpj/vc0oEFZSia1/XmQWmf0SumyeFWjAU8U/5yah+43RJEObLs/zBxgB1fLmf7R3QmYoJ7QhUyLHcuJajLgAzgmx/71mBchPyx+bcUPZW2XTrRsCDuKNn3Z1SkMaU59/XYE0WB6pp7nC30BgQGkktiqq1XsasMIxeweIc9ufjXAetbZs9YmdhKcQHPyECoJUys2KAqdkPx/LBSEjYkP6CUPYERWv3o11mU6goi2zsoLOptzl0Km2WK/bWR9z3cA0nyYYDU3osF+Cl3wmTMbN6my/Pk30DDIqBdExrM5I8V9WT0JdCH3BNGfXBd4PUGNnBdYaP6XWWmZrl8ImkfPbTE4j/CQW02aVh6kRYDVuQNrgsegNYHgIfwIhhigcOSzegZeTbkakyl/wd1QYJm8izQOOKxXj7N1zGXpyVYtzkj8+27HEQUyo5fx8Q1yJE3xxiGkVLjXH3ZqWxOaO6Ex3Hm3MQ9s6GnzueKeGArXb12SsFDD/XislBuqw6nOZDdbV2x0/O73OP4ntvV5HhFwk+u8c/T14eQlGtlfHWAvwT1b9f+bLx8KmTsuNL/r2cT6xbf0+vv30G3O7VkGxKw+kIWnGSeOnfxXVZWc56Y+mCLZh4FvocoGye9kPlBNbTLQA3j02VcukljOM190d9V1wfyZCM8ulM2K3NdJazSymtZmNKozM7ikfxWxpiuPk8Gk7P8BaVhZrIrsts5U2DbvXzQVLK2PJHhXX90MEXgLcCBc0XEGTmFU3/NxfZVfUSr3nrSbhYMxyW/1cIiRx09t6Zrs/MPGaVAYH0RDp4evxPq1Uk+sd+gefxbE0abNpvkEfBNSxyJdXWUBsaeelOwM6r9QZOwu3M1rJv9NV+7Xw/jELIbTF2LV/egSkvwxlia1z7/ujBioG9lkrYttMIYpFIRdZ4q+790zTwrnbTGi3yBcrmkdXqwRpj7JKUjZeIHHI5oGKQN8BeRxSlFf/Ry3qEAjJQg04WiBg9CoLLsb7G4SttAoFnd+xJZO41EYWC55euM3jxM2Z3oN/9fKK758Bt/90xPvR9H2Aa6Bba8C4t81Pf1QrAlH8Vo6LgI9a1pwgweUQzCmYho2VxAyxsHXXKhyAz6aLEefXPdtx8bVtx8DIZcqskumOTJbIG8gxIKNiu0zueIuJ/W5JCEbp/fOT8sCKCe/SxZyyv5sqD6rapl7JH7dwOjYGam8FeWE54WQDRuAM6ieKS4GsobDt2pUwE1goQXw9KJdpjFvjaXh8v52dHevW23NyEFS+3ySnkfV23pu0NubAO1A8tJjkR+N9HZrzV5kH4B7f/Ia7TAB89mAAtjgq8bemloJ/qV+CjCTrTdj2XC+lJUEcVU1/6KyLrxA0nj/O5Bwz/UJDzk2ECKOAn6KxqvuSEPWhlYXTICeTSRurUfknYK3cdChho90eQGrvGcFJWClewdN9AXOfaXvcluOka5DToeTcWROcPQukEao4782n0Adv0kZDZUMwuwRSyRrlnM3HHW9xWp5S7O/DCwmtdEvRQAlc3w6pz27FmetIygGQmS7mlSQk4K4cuWb7dCVgaH+BnMd0aGsi37MGk+ZbIQVMOTsIOUJ7THLzHrivHK7eQRmIxfTEFK+SsgUEDdazq9MUOf3bPUGDS3qVlNYu/g04oWksCyTjECkFTQO2ZUfxKvtOV7IltfQarox/J0qtFU5NZ70Jn7XoKM4u/1yoKx5wAbaUUOGVTjOZoe2u3ezGeX6jaBWCr1iUTMjsKn6Gzf8V3NiOdisEDHN+Sx4XL/e9yZX9pxEyYKfAgekpiLKcmZ9cJUaXVZOXv1tZyuwUXl8DFpmrUvOWJpMVzw4GRk9Jkc+Zwxn2I0zfsNcqJOA/7dUREi6NO1PuRuzvnjZVJ1fXejAEeU8pdjSOZOBHGpHCsgPrnGd0wyrbXfc2qt+pif0GXhYHoHim4tkAsjB25qogeprnVtf/9/KudQyw55exrfXCfSoyDcAsCq99IVBSWFouDMKF/Y3L1gi5o3LYOvL4ArKAQ1M5X5iDoxbCcvonZe4dkkv7IB3YxohWgfj+1J6VBW+LOMEeAQE0Zn0mk03THZu6cZZfjfsYlw4wic3uhSmvAMArtxX1+WWdLT0wDaN1LBOyRAlCfM/UXU8DCJQP0yqthDpEiMHSpr/JPmJ9h4ScC30+64fwduGFw1QtwKGMGqYT9e2WgNP3NOqanWcf0EGQne8hFfAGWYvRQVrlNO+6UIDM8eMdJugi2ayRHZgHWB+1cAmaH71aXZsHzFEq20k1kH4bRMjDi6EZ4baztlkLTsOQICHio6APlhPujTpFJO0l7CffiXoK/1F132aEqeFYlcrflJ5Ph7KGcUk3F65u4pSSMQ9+CBT1MAEFEM+x0I5Eqjw8S0RZopheFLEdwQBSgaMaMkl2ktNIuyV6W6xbYUTBcA91lSyfzaK8tYPOxENOfWWcdNyKJCeMQ0w4RZ7gVNDo+sEgDJbvSJu7jU4Zwh5GIAxX/Yr7dRaLFEMUXrb1njZ3j/ZY/59FXPh8dfq2eKT8xPUX07AsvyrVQCK2x7e4wNQaRlax+ocHh2eWCr08nL0JmMKCv7DURQoVa3IdeiDTeIHuCAVfAjdJQpdnSxkH/DHZAdrQKk5XsFrIcU2YhcEDQ8hlof4zhEzJ35gakhS8dKNlBq1uaeR+mgSiCD7CFBb1aN27imW8naIfrDJksOxxhpZX9MmmkVP4M4FcLbDJ/twiwOUCF61QDVaeEE4tAHsXs7pxuYlojT0MmRcX/OlPpruPvqCU7OKajm2lFby96R+UIdkbs6wGewctAEUBWgthJZLuZFYXJ6lFkkuiBHUea+mu6vQ5Agabf4OklWzOgV6rIodoZqE3NVYsTJ/YJutnDu3jlX1oPhHSfrNgj4+rI50PhVgWfR8KcE7QtXrGiAHu0qLk8B45khLi7nHrMnJOyzbVaZCKk4X0i4fDWF+uvsXEF5wwz+JIcm9wKVM2NNyvtVlR2+F70TBLGIXPFsCrwFvyBcmplaplTWGwzTSirmLaGUEsvh3QaSz9e8/+0CHEANS/dF34/jKltR3poybRiONNM5z64kPyP+8kL/co44cx3N6H7c5M9aubVSM58mSo8lxiK4LITE03UmzlehGHR5Bpb3Y8WvQ/BnQvPV79NHz9WXwzQNKfYovaMXeN3wYdaxKreXObwsisQdQvw9JV5d6bFShCwND0+GZ35BYIBkEMADQzMJU+uRkoYybZCp1PmZ3x9yZEEJ82jnP/68jrWYSEjtjGqB5wUmhD+hkXnD/uA61TDLTliBk4HqZo2tEq73599lvLvilEbRXnKWq6gSZswke8ISj1F+tE/XxOGNIQgJviVupwz1DE38R32AHKjeIkM4jwWZ9dwjtpRWE9x9MJw0luAXo1zQ5JhD+G6/AttC4KxF1iCbWzUF7K1U5AOE0qCmj2VdWyeDvDyJNYw5h5ATNrUn99/2qjH/K60JX8ChLN+jBhfuLRDSIZl2aF7bPA55g3xfBV+EvUyMk+7Eo0M6VbR6DO7dbuQXsi5CpyHaEVCpW69NxUqeJBiha21Ba/DcPScGbNYcxX0XD8wk/kudgocT3/X/K0xJFQ3dd3f6XTKHPKyClm10b8TZPCyxiMDD5ORKBt7iqoXeBFs110uJ9Txv6xVwxo9P48lNeB66erG/IGrZsNm0rAbri/dbuM8qMU1RfxOJOFcMb1TzEb9d/dL2DlYPzOO1pFEFvLirSdlfcS1Fmy5BM/tnB1N7o48IyEalANQlKFE0wW2boIBIsx4q37V4PpPJYoctoMEDYF2UFaTC1Ax1DqfHnzmmG6Y8/WIqGJJ8kpL5la/KBo2M9RoRcC4zuutfpRngJn9Sv2dxU50KghKQmhRm3yzhajJa7Isq0nLYocvlMaBY9Ck4giDNnhXZ+9UzoIZTCEh/Y/Csc7eTv/bk3mn5iIOHrUAPRQyTXz2jsCIHDF27HNauwq6ACY7Xx3r81R5HFb04kY5h4LrRUt4X0+5E9bnwCVKIX+mvYNCW/DJLx0TcvVn6CVG1MHWA+v2wDQC9016wDpOydO1CQKpP70ubkbVA/8iVUxxD1ildtw2igIB1a3HRGegsYkjl5yNxgzoqxU8baw8xUKwkCUSyjQ+R18th9XuENsZX0DCryDDf/q+5BSt+MTPT03BHCajVK1sa7jheixSmXBMHL2DHEVuzAkwi9kdW0ns8S++eNCaSzWs0tSe1mo8EEAsvVGp6sZcv8WZER4gWzUrCkOEOx1TAaYmPaWkSjH468AYJ1DcdJDPisa+xQjETaJcxhuYu1BOrsNYlVmDZRC4xZWFWvAq55+uAYpL+mlw+kiH1g195elNflwegI6zbH5cm/UGRkzpc9fM07k9FJfRsFR+JvIwcIEoW2U/rxv+51qrIzvkB2a1b+mPvnMzbX+Ayt/VphY2e2KkyJEq+qUh/OgcHcFqg5SvOSxWWP9uL08ctPRm6KKRZDD1R5sqdKg4nRGrtH8Lx5WjSbzq9zuduz4HOIvMJiBH9sPRoJArNq+hLpw5E5aC4MWQiYYCsFE33xwY5HGJCqtSqh2CdbLYJtMu/es3EVkLqGwNnuRUU7Aa4lJLPGPZ+t77PRK9MkzaNxk17Yozn1EBEjSOqaPgoNeNycYiaa6N01Zw/ptNnC0CPMmTwth+ZZ+4dIr7ZUzZ007jwn3j6a19k09dS6AJ6sSCLmtJzXQaW1pP6cxyuzIdQascsCwNT/1mZBZ5zyyIvPaSsV+oFt9+d1O8x1cj6xtTBR4MvUPW31TKumWOizrlp2Ag5KPJ32Mgi3OYuR6UQipnE6LxGBWQv1BjLZtja8iZjpQpczhlaDfe8e7o0kt5svJzpLI69bVzFSt8LrbNZzWRJg8WguXaqbNgEmfJWHNMSFQy2URotXOu/47KgwUenIowpolEDfdIbi+jH1Sxkz39svXAxbhpu95gPUzhQjy9MS0E5KhUU+wUHwYKwqArTlqSdAeAOfSijgXcba00S3lijDiLSAtsJwlI7qszDK1TXBDhwoCRGg10hDXu/Xw85C5367CfQXN8nPqVEbI8rYE8EGfLyI+bE1OWWijObamv3z/MBHFmQsIfg76QYNOsH5UvOtK0RrJyxQ194kqvfsIWfGqHmijXUR1317vQ118DTlLLxkEfbOeo1X+jIiYhqCX9Ze3jFRFXjggHeaFQofsG7KhbuQ9I3D763YnSfMpyUTos5D1KVDeqvHNBZ0fyrPNybbZXuaYA0RFbuT179hW8U18w7Bl3jq2YxB6m4lWEAo5whIJUaC/TBzr0yjaksp65fmmCYdg5lxUYkoriUFyaNXWjIt702Lpb4if6ZPOzGdy82OHVDLeMSLHdoyblFOcW1Dmo4MFngeRtR7Ph8+DF+o8cYeSWvkBKPfPJo3ridINFFNOGWeH+Fs692xtWVMVcpm0lUHWUYz7C7GMVP02SWrnShWkKQgLniF1FVmSzVxlbqlOTZqK54FwJgpCtnV0mSZsgV0bRrOtNf8CD4eCbDmb564nWQZE+ptaPogKi3ur0975KgWtX7i5jsJpo6DN7Lll2QMMkLatNCloZuTsg+IKwcBStN4PHj9SsG1eTF/4aS+7qPevZFhZ/LU6Z2AtTVI1c82BnofDs3HB4ldEj1lGXICIFrjxvOAv/5/x1Z4hN48GlVv/AtWQdQRfVQp7E4cgEnOYKnHBYYyjVNrv8S5iC1N48rFkDA2eZVEVvGmSwVg1ex4O55jpvJcCCGyjybcajh9S+8V/MloWqWf0JjoUFhN1quHxaIjIUygDyWZ4y2Pq4uGY4oLXkkQnJ4TQX6L2sA5MwkV5EMXEdqyu6Og+IMxF9ImImDv25BZylTuQtUJS6IupRUb6qzK6eeLi6KQlQhoYkFP9/aeAe7w8Gzn5UQW7W5hdzAV2RYABfTGrUUS/gfBUjoCZglba5qKQHiVaQn5pMauPwclXZAF0xNiVdq5dj/q7c+VeDZX2FH+8Dz+FeHWgajlQv3nuhrbQbqSLSsEdzNShPUClaa+FO893YlpYE6MBmXjom2unKes+wxsrWhcaqX+NXXtALZtb858vE6BXXoMciuRPX+qMPy26rUYhy8hsr8NB/Ukz4ld/XLWyjHxwZd+zEy3cPRl7x+2MyFq7Fk3u5jl0EFRUJ3dmZrzo6jxDaX6s+9PHJji5gXtxNv7+NqcqDeAQdfjPDRLaRKG+kqK/WmSQUw1YeLL0LKNw/tX3TTnNYc/xTxLQRN956i1nqbJ95uA3EJzENqaQOEqakEzZv0SGOVp3F1VMZgC3geZN2C9f6NgVUEblXf5O5dB8R+gIAB0DLIRiypWFfoZqfNDyEB4Jg+R+XZhmv8p9ezJ3zse8D3Aux+76+xsoGmYEPUhn5z+rl2ldcdPpfdQfJb6fHtZlsMuYJeWTtwSCZ6tGA9dwBGHcUmn5e3WAEJLSqz1Ss0VtbvMOzCB8N/1n0XQlwIniwsQ85q64g8QiBYVMaKHP7KPE1elp/dMetk8kroSUYN60FJxP95ty0bjkNaRakXWpOrLEl3r3xndkZDoongtwc8X26LRTEAWFqjS/fCObRineY/pUMHcBs7FbvcW6AoQBZBSHJch0TfD5KUQMw9k9ftPn7j7KdluT0F7HTduwmksNGguELlAy2PTPqzeX59Jz/r8UWnx19i0EwcHSS8OrcTQxAMVTNoiXqCu8tLuQ/anbQCICcz4qH4/TRU3ERWLkDlX48sZi9Dx2/Kp1UjjEdneYNPdH8wyCr8oB9VYEO6bGoYAPguflsc6TAHx+m1M5Usp69pYCNq5mxqZ7Tm8XYOYjZ8KrFTUq/lDeEws88/0W+y4OfL2Cl9f7CzAEfha6jrYSbGz1Qe+O5NFbX3EmiGI6afoS4nCZ2DB16DPlCRfHzwRxTiqntz3NHUejr4SV1nHJeu/X9FHx2n9ySvqcDSv0kNrJ2Gc5Ki+co8r7TesM8fx6kBHJRuYeThRC00YcOFywO+Lykl0U8dERShBEORhXS3ln4LCOz6+IaVNa0GDS36TmFd37Lg52yd6yCWWVMoTJ+h9Zx33ayGagvjHcDwcSrpZAl+m9DffKA5Pwn58R593lProG3pAhE+geHg+hcAQYJRUKfekHmQQPvOFjpBmu0tT811TinxGDG+JBVO5Dbrvs7DdyD7/v8Fq3PsXj0Dx/MHaYKj2pB6IJZkMKN04ho7t3GXgx9irZXHHHSi+h91ufQKw5/reBqovELmPYZTmcCpZ2KThqMrMsTCZoAP/jTD1zhvMyf48rPUchzC1dkAqx1TsNwOS74I9DnDjzIbmrRKawyPPQ1tBZshrqyJFXvo4yqFT4AN15gcGryi32FdZ5UCfcvo6EEDECjd8xDJF9wK+j/lKHvMwF84z+hBCYWK2g0hCayCj6ZRwB7jUcM52igeoe3JHXDBr31NlBG1NDNyhaPcwfT4B/UGZdwS8QnDYTRvfdf7r17p99smlfgusVuQLWSKyAmNRR4PMkFfc8aX5GwAt85h3g0qA5+kkAi/GCAvUH2EkYpCK38Ai3loQlM1ecbeOHxCwm2/+GrBc2tM2hAlAfqQDaxYT/VvvbSy3cRiUbIz4I1AKXUJ7OfGFPgRjV1yo0SGWO+G3Ej/gEkqY7/JDLD/DazoqpHrcfbsqslUZ90jGcuvennIMOvvMWsxAwbPhKGtfEuH9jB5oM1VGX0uHLu5pMud+fpth4nJVNr38asPgivzSLQCaUXiPX75nFf7PNKBGMLqsZBAccaPSrQlR2K030kI1XRckcBMag0a18vfztxFoE3M5T4C8es/p3qO6d9kZVNyf2CNFnGvrq75ARxcoNMqqcyDSaC+hyeXva8cHbGoHwn/rCfGHMo9BABl7lwH7i2ecRnjgzFg+wwcMTosN7G1IWRwdl2gWCxwQ4+hMSbz1JGVSXixaVcb1lWArb+fFDFQ0dWV99rUV8l3k8muo1H26EkFvakolllZ30dfKRJ4mJC7KQKPtaQOn3VQxLofT42Igvc4trc6eb1u9XH0FK1tMbuy/mKcLE0oDSdBN2l1UbouN3pWEkOfsy54sGsqzx9tAOm5uF3M3zT8844BqhTw3+93Sdmb5JzdWJLw49aandGjOKJA3d2Tv2ZtVYZlAZffbQjMI2sObXQOyKoUGSJ7RnJPYHAOtXWOhfXrkHUCcciBg9bT3z0O9vvJAkMmquevFDS/4itc+BItaJ2+5K7Cy7vHxkI+NJPmhsFGsmEgzxQL17ac9M5hWcwGL6yv/qIyUcne4pdkGiJNW9zwGuzlMmw4jcUzoAPexnVKxQKuIFJm1IjTo0z6f/5IPLqy+R3Au0qo+ilnDzTih1myhYQQvCWSk6acWw9n7uEFvNJ3Fk0ookKPW9p7D0CZ5lWVGMvk3+us1C5BQsVzgYDW/YworCtDA6o+5BT9k9Tmd5QNjM55tdTdwqLl2IPSr70qdGzWADvfvVa/bZZPjkyi8DlUxM8h8SxpMYaMqqTb+osuXwqNqG9A235XCYkKMB83eBulu665RMuzh8qDxFG5kYdVwrJSPnvXQp7S+hfG9/GOSpwBIbQ9/IdDYYy/wOc19jTPYAYiiAz6FiUoluwP26VfKBBlze0oyBiEAtGGc1O5GwKiuh3UwkF0lW3p6hSOf9nJ6HqEobEPEjNXB+YqeFgaM23t0ZCQXPlfyo1jmxafE7+n5qPC4bhR+Mn1NGCsxZszSwB5m/NmyXmPRkAqF4f7fkSgt9NqlaxNSNcdWzHatT/bGrruG2/JZrH8kjRL0/3Jab6Gqbw8rKUfqlMG1o9311YOXrSKgn+60nq93HPLgWUprgmLvjjBAFoIcCUBZ67uKGCahQ4PebX0u8llR+lXSCu8ObFndQgK2PJJyrNEhAL93PcHoPgbIWVLtZH1qQepUviTVLaBWwdgaoJDyDusNaxnmW5YWG9HnVQ8y8DHEmVwL0n4Nk4w3WtC8omE4u+ZvPEbR9ti/uCip2A/dpJrb+FpM7ji5cLzepdAq0Nkyv+xqgBc9KTN+mkjDZhzfa55U1Qr2kbiNUjmpcLLs4sonz8h380zBFxnJ8Jt6SKxgx8LqFsizI9wmrn6BZN9i/WDcsxJPbdO5N0wAw0vntcXUTlMGBIsmn7jXbrLzOqnI32U+Cc5PxqodxbH/Fgk+/fbygc5S14/BatQK38o/N9ybzCMVbttJQWm7KcBipKqTpG5PrKhZ+38zgn3MZ6ufhBcePx1z/ClJAWzEDKRrg735qfJE1W0V08JfsdahpDzlvyI6L9LOyFBvDSHKk8l3NZw6XzrHox8GY4v5ynlLLV4n0D5H3gx40uUh0gdAkvoeudJ8/VKa4dfnIL46PA6T91wCsYpAWvrGm/NhJfkSTJP5pLF92DrND5g1C3L59NEVlU+xTF3jp44a8Q5KwzaUhLmO46hEcdoG1xegzN4zHiRofChP09/BkNMpbt07TGwXUrizz1k+6eAV9KiUw3IF7YYQzpKBTALr3CnfmbHl/uvSpKa/wb5aBQT8rUB9vJ53Hcj0G/2SMkv+nY84HWCX+0Sj/kT9xiNftSRPKjIGiSR3MniTyfNMU0PYx7m+qaLT3gyS2Yl3Kq59oElpdfCIwAun/5zAjc4M/EIp+K7HWJV02EHc1nKWct9sFnXqRII1o8ayi7x5C4d+PnmjWHgc+htAijPbGT0/7oJqLdw0ix2dVXA+JgOmQ4tYvl6irJ5DvBGTkkybcCMEqwX+EGqqK+fn7/zpo+WGZNhtDYALwiLIkn/4/NjjhVgo2cd7MdjyGUJw1qfXnG1ENEUwDacxt8ZkUelyvhdz/HGfG5Tg7Pvh9osBQ0vyVKtz+u/uVsYnTMqmHtSOgNFNqW5A17o/xBMbCfNyO+lLRTSAubawAYyq5aj9zed5RW/52KscMa3Sm1dvQ72q/9s7lQNsZ8+KP5sLY3merbOOBuoq6AbQC+boSxJhCVIli+vkNYTFOSpKMetuCOvqYlTB7zk4zKhRSXD+jRW8kkWJqN3WefueCyRMXE4iBvDN8JfOfFZIyK66u+spG1E4ANbiakSISJc3CsoxminvBHcTvKNvixsKMgbAkg2tRND3Fk8MGKvwv71+GaQ1uJWBDEMpmMG4JDuq12dpdpG5Eca7mFdE4HiudfrqvTQ3WYQ1ofoc/rl566KK8HxRkUHZPvkF1T9aOya8ZHNErWynNS6g2B5jBYXygzHQcVPQC/tRIVPtqPH+5wg2fxKNJsN12n9oD8Q3DP+xOroKdi3iqJDfd9zsbjbysr6+/eke6pyCUFAR1b7KkVq642zDCcHWioGPQ8kMOtbXgk/WmPFwQWLxwe3q9wqLeSdTpeH0YoSATIk5hOOeyyzPkLmYD/LbH4NTlrldf8VAkQxvalHlH5MA1CuSmv2JNjQAlkclpoOqF02MPmOwQV9e7oSu3NNd/c6HAqr/OOe4aE93kHuQthlkfy4Vcp0rMFXhsTF3EFIhhmu3MgIcyDf+15sSdQR6rAWLBiQbuK5l87dufBOfBP58dwOw2k2Pk7ovqEE0r86Se9fD3gAjNcpqdhEw8yZgSLTkQrNKncplY7//gLptPn6I2wquVtRXlgco+QDji7VK/rkCuv1RGN+4GsfYB/tuNpAwk4LdpYPWD053XLMiKzcKVXdpkhE5DdlyTXvd1lLiik7jahCVHBNhTb7870F6A9wl47W94bhEeSffHa3PhlgTseWBHDw10+Zxky8duDvrJ6zWm0H1YFRWoATAe5p7sWFPKK+aFiP88OI11Ej+bgZq7Qm5WYRqCiynvkeLuwVPybNgaHQnlUhz5lIGNNik44b+KFFglUPALBd77rf0aUbHWklNcY9vRYa4f3R3BbUgjHtoLaCoa7HBJZXFJTuR7gPotc7Ks5Tl2iHaIcOqhIJasicuvYujnjjkkd1lKL86XJro8tOcuP4uw7TpOyKZSuNr2/UbkqcAeVLj3xF8G9Oscxtz0Bsjzrt/3joVwXfU+03/liMvtuyFg8vNF2OzLaTH37ZWx1mvn1EEKsV7yONx8gnYAxcswBuEoYYc3+JX6KJ73ld3btehgNw7tJyza39E1qtDnmeBl9R2ZWbUAhWjpQWl5pwIa7yBz3UdRj8vgLpEo+tlHBzncTh+nOb46TFvCzKl6mn6oRCrp8xWD1x//qcTx6YGBYQOrUjvrtTRZE3m87DR4OP9mOFrFe+vnBxL7cKHnpYv0c1FZjb2oNYJurW6ys/yK5rme12+bzxyGg7K87CwagE48uea+jQ2EEmuOyUu9UvPCoJgVmSM+th7EhmNY+jNvg4XMijEHQN1YD6LU0as7+r2XbXuZ6EzfVUQLN0dejEaH9/fJoak95v+F/gjuOtP5h4IOlGqwmD1ga8G7Nd+nSDc5gWTTVwP0isTfFTlysnmaBi9Syt/mxwQkErw4z1l5bJuXllw2c7HdL2ZTjGSWmHnmN2NEbl8nfiY0Wlr/TBgzs8e0Jjgw3pEdChmDEVgSVppVPQx+35LAVJytrTxQ8ZaZCzytumULy3VWnnsD4kURhkNVwiojCG5/y2g+coVKlb5XFKKWmS6iIg5bJR3yhPOzNSLeQr0w9BMcvkS/sBcne3HoY+qb+98N6oaQD+IvdFQ1QDqwrNm8pz+ZT+wAXXoL+vAxs09u6AG2t0TD6cHYpCDjJ/QG1FrXDcpjO9ur+hF7Mu5OP9UjDnj+FnkD4BxDU8GrotAxGGBZmPi0A3K5aTBglruK06TDdUPJXBmfwL5RTMRqhfB4RAe+MewnT9wJ18XN5nkacfD/Szhh5dXC+FNit+nPlmxiYX8A0uUOk7rtgP2KNmjg+E5S5gwhwQriAr6qUbLgC6uBD1mL1AcFrnFQVL4Q0vhrkcA0cE1ZcDXGR25mAIFzNeBOrHLYW4XC9R39o4l1N0le9OCbBuHn+pScnKE13WR7S/aO4Ar1ezcPsd5HP5FG8Kxe4GFehBsUN8JcIPTrkdqgbg2J0lTkgdsjOg7atydmBY1X1c3sREqf/NP7R6bysBpXNCF3g0uKzRrHUZwZnMA1BP+CPzdplPMV8zUGpJ9+tROIxz28IGSn3f/gDveOIXmOaLjqDjTz/ZICJeweHKJBezL843vju2DxZt5hsnzhllvs0nDuMeEF3fE7/Qzg18jF8baEzX/NIiZWvPu7Oi0qPjiTHIKeW9Sf4I4HPHtbm9oQiTZ5zazn6whHO01fcRGT7hi3Bf5TPVqzmbHvc7/P78tmHvloKYwfPsLnBHE5z6Jc6gH/7SmqfEsMYFUmf8PGDwG0MaHZbdpQDGXZM79rKJb3+ZcI7y4F0DS3tW+kTXeBXr+XzWay6iM8yvq2N7juODhqG1Q8M2mCjLBjGMQEhmKJb19tlpmDASyhcCqyxNUFkh9ofFiGPsE1Dg4eZIblqGkpdOWn7Jr18ofv0QTSmuutvX0yfTrdpvrP0HRc4Ifu5HDtGh+pNLyycRB/IC47bNdcHf6MCWoaboSrZcmVV8gWeM8aqkEfFTnP0/kmnqActlLnUf9iOYheC/1hRIE8h66nUlYhcRiHe1j8Zu28vpb3XaUgae3LGm+2jN6g1NsCG6zabjbvzFaWK4e/y37rUtswqp149hVEANo9w+sC0H29z4htM5639Yck48pCryiFcRLgAkRV1kpMNrTHKDSOSkNlJp8zbuHABQfiDQOJjcOyQVfkPqdJ6iatWE8VgWQAHLqEpx26OwjtP8lzPN3A6yoEA5usuKnk7m1NKKRPc7CuuM5005a0SuBTkOY3mbN0yt+7SXNdkxMA6eaF4N6QcGOd9XPprHHCAuBTw4WjvlTTycu4UE3AumpcC6bFNzB4CGJew32PcofqfXDtLXLKi7tTrcJ3jo5DnQNv/At9IzTX0doZNVcrkaqFRM8oNK8tf7wGx4v0lQFSES8O+WEg5F12oXcee6m2EYo6Ooyv5qgSVJtvavMYUXE1KmFw0OwFBSIp9un6E19nWIKObaBuwy/x9pGg0ll3QwkT7n/PAYKbyqkAtrWhCbzCp+d5EOxnQoF3VmerdIRUOh3H4M9EWSgCGAAcPRiHLocICC0UU+zVznIfGxTcbJUr1TdLEYpEBgrb8HM6G94T/IkRBwCdohegv0/45ABF1EQdoInIw6rAswufr7sTN+AJKmMRMTHIRIrf+QRaYDgvFnwvaiAy6xgC6TUrYTSo08dbqu3ZWF6ZKYsTungDsZhrC/XpPpgx+X4JwOT9BD6MYSyGbg0FuAcbAQNlG3Em+rJCkicv4uFPCfanMkfVE9uig5FnHui29YbBn7nsv0Ic3JWr/jfBS9C99EpIP6Br1pHJoyY0GlcfQnBwW6382y1sfoWR69kmKu9+0u0ztxshvI9gXKvYwLvl/TiLkv5Fr1MQLdJpzS3pt2hHazr9UiwH2gtEelnjQ/pYuTmUipQ25KUip7SjRqMLcMnOLKHjQH4TWi/hDbVusxMTd3Ppj3JFVpz+U9nPF3kMzVke3uT/ZCDpFN4TH+UusuyOnWHjn572BptgxN3XUYwal+lc2VId36M46lWOp5mVKRSsLHTOqp0ctbxwzjzF2KRe42NFbZP0XRol5S+AclLJqhekwOPgK7QEv+kLFZ+kSiyicJcmkCYNGc+M4IjbVpVRDge1v3S6u3jVF9XH8u9t3/cOyKpbyULcnrGXYf2fHrFq41aRpPtNY9XY5Qfn0B67x/zYQqTQowtgFvtR/p+8LlDRjHdBFtW5YFb1ZXUxUWGePkV2kAfl7yWTfS2UB59QG5RqONTtCth7xQVaX1M37xVTvcxMdmnZT6/dzG5Tkfp+Hx6sPZOtO61KRSheDub/USE9u29pqICwSoQMMBzMipTWMURgLuAg0NzKCf6Kpi05sqs/D4xOC+iqm35zh1GDTf2iSjJ2IJghRyRskrPbQqSJwF3h31tWOYrxjmiX0uzUXKJOCJGfydBHXF+FbcK3gtQ77BPs1uoikkHcQLmabRxWOB7YO67hzI0omhXEvxzOnkEumJl4rWjXIC0VYJoEY431QndtUbBfI6jtQSi4bidToBJIrch6s9M4v2fUTqNb++Bz+f4KO0VJn/6D+jOj0y1X3nBG2F4Kl6ClNB4+wlrBZOaGTxBFlk6gaArs7gsuGgXl+0GdvIHmzsUgLBfIXxBuHZY+ImR/d5uRw539+1le5L3KQNL2buPgtpm/b3V6kh+R9U+OIu4J7EAg2+4Q48AtBVPm4dKmkyarXsJnMFA9NMcemZB/gyd/ThjTsYM75DC4pRGWRbiq4QwasQ5vHy0YKaTEZUTvW8tW9/xaVslGtlEE1G5TFi63TGSf9f/YbbAZ+tXO63UCClCinqYqtf42uXJ21vCuIZd+kBQ6Mu1+eje+M/2O1xrKhY4Q41W5McDL1xfWfbfP92dSLTaFNM47xGFKGxmdP5A/rC15eXAVqVim3ZGI/qRYCaRnz8KMK3C/0J6SpwSfRpekEBp6H+tqkC+civHRAWMUV0SOuY2kTzMKvjM2QeqOvYryWFjZFuI1sYmq/MkpuSfcEmVVID6aimgpgr8rBbZrtlmevOFAUhk1LI1kvUSH+zvONN+tiQ7NuJCvl/GsoRqMnYpmGUng2hrwyRAzrhk0cm/MTUaTZUitfZswqBT4WKlEOxFlW7ztC2F35WUQNj9CqERbsig8YLUsmZ1abdYGNIN5BpW6u4+Y+FT7CV0aqJ1cpvDmSK+wO3WoVIeC04aRxNuv12TKLvyTtbQOL8+8QMykACwHbhLtYgkOkFE6BMJrf8YDonUFJjENZvJ2m1eF4AqwqzOePHfACFZJzvUdUyYpaXbsN0wkafIL6Sin9mRN3jaDTWO2AnpMGkwyJFcl7t8izClFGlDm6TA5rxn0VHav4ze2D1JUEetsNe+Vy5qGm0DvHV/MkospCIx5YhixRn2FFW7z9/LOJzvjwqtxeCUdP6m0yyyjWC9kX9Gv8Vi7Qu4gctVZC8EPqdcY/Edn6c8ZfPtzYJQeKbgo8VFMX/hdtkA1y1hE3oGMNgsQ5ojgU4fgjZceh24SXL+281bghxKY/mhfSmr57+k/jyIhpIX6QNz3PoFB8d0YLH45EnhvMRJwKc+2J8a061EvgcxrM/qgLWXPUHULjqsSA9Jodi8k8hsvW6IQFBaw3oQtVS91kKwIOoRDkQmYpSaRJOqaZCqSTGtQKVxR9+ct5Lhs2eeXBVzPnNxeJ4i3fO5vvEMiDkX/Dfchfk+dG0tL6RXa19lBmjk0svWA2ZgZ25vBoKkZgKxoNzcQTV3PsCPvGEdHVz3i3yaBgj9dTVKC9Oju5jWB9wqFEkJB9Zv6M5pLqUVWUo4X9Sl7BrUbRjecseaVi4n0lxuCDK/5CJop/ThhAZIeroAmmpHS1lRVlElCurpCBdI9uDStJ27Ml4d2O3XEh1J5dn+VYmbZ1Sazl4Gs/mcckdgy0Vq/CjrzOTJitIirmzFsVwzsppPsL5c5+Jy67rRypgbN6aJnaf9ZxLSh8IkIXOgX4oDSbMGOXXJvpPxcHzW0IgYQv8GEKxgq6wy5MO2Mn2a5U0UwnSu+29GsRPXEdTmn60qgN0Ng9R5vn4zSZYacxc+UycYJ+4WYDT3JMYWrbawcgUkKD/NNqMA7JtSfvMX6O37P/uuFdOhHHpmafnfT9zj6cPa0BenY/UbmFLfsfEJnkIeSXdeAsDF1gRoDStntuEhkeH9raBNKIyHMBLuCHVrmx+k9jVVUHRyL4EhmMsJlcXRnJ45v3SXYL1s1DpM5QoaI+yiUEoRVgSENhWU6ZPkFRLIpTk4mavvAZ5yxVFgpqUgk/EKliKz5EwTpzX7s9X3FNRJg02ADqI2mHL8oXxtWoupQbBs+5tATP4ArVvnKC2kqtG55ZG/BY/LFQoinScpdRmVJf8YHp/vvFjz28mbIGy5Sko6Y3PHNWbyGXOdYRbwbUMpqz7HTrMW26bXCbo+2tEux1+N+fD9HTgwfh20u3oLCk4RFqiz1twJWTf8dPOtwN8Z91G3fCP/SW3fXoVA9/u7G5qZreDbnGJ19+QzRBSUMr5HNOO6swUSasKqS3kf2xptCO/7SJ20AJqIO+qA8u5gpI0FterD8ksN1q3PGtHp0Ckp0Zs/NAQG6I7s9KqU2CSkMEedNVdo9+QBojF+MRgbC+cLDXUroW8u93acxoxQSjfK1PpeeprvnhwHVLiNLlS18yVmNWv1530z9ZfBf18r48wUXOheLqtA2LE0rQYbSLBfeis9knfhUCjqxli/Sr1KtrEYz6h4m+1n8jPSZeEDI1eTWt9eIr9H90Zieuhahaj3xTO3yoMaapMehNu9oBuB6Bc35p006nanF+63Zk8erwYjq+vV938w5/neA6EaHrGg64buscHxceafFTKNF3cvei/dyDp0uQ1bWfQtP1/u0qMis/RcIT9iXlZJDse1fvo2AbDcfDxWeTR102gY+muj0nmb27k54CxnMPaoswdTT1DdXpifepHMJBghE2l1wVRsgh/i/Sr9GSA7CTfnkAviIjMRzW2ngSsrjcyg1gnXAtJAO1Gb5H3JD2w7bmnk63iaei8gndLcNWP7t91d5X0QiiEbzlhco9D6CELlwDhoMHQCfUUXds4iHPOZ5NJ2Zv+k+8TNIQnqgqTrez/5AMVjmDeeEaeKrjN9k1dzox6/jZnrz9rbgfsH6DFkFrHambyiihL8wOxYwmU2tZb66MQOTewlBIbKCLA0CAaX5hXnS6Jsa24+SX4IY+ypMIevvTQnXXg3RhFw7SPhKczy8Bc15S9OA6jeftXc+/mcowhiW9L6xOgIveHY1lmbnuIcYQafjEk4EDprxtuOlMESCdLtuPDpSx8AJl6pKNtK+7JIQm+vMsm1mOZb/QwFHjJCek7gIPZ0638M1EAUj2XXcbYanj9RehK2pBt9+vxgNCGWKhl0tUim+tYGuXI6xgD2kj5v1ocic08Egy3GcfLBgp1VFIoE8lpK8piT8ED3evod41E53uIfSpGWF8wipLWPjvwLSXB6SI9tGSQf3L6RUfw9dIHKSNUU8Qoea/vkTb+LU4koHv9jQFoL8Kpx1JgomnCxh8hmgKXF/eCgQ172+QzXLaQehbcfdmC0rxg7owu/w1z4mRRMwkc9IFSIl+cxrg+RtDXzPDpS/Oorli9kyw7nZVSu2RRfzr77DZCChVFsprXdOiNEjF1AP/mbkJCJUmnF7A5P2/bJSg1Y1KDk16MeEAuAIi7Fdujsd5F1UTrf2b1GJWgxv3ADeNswQQUA3vhiO21fYisE70aCQqVIOcOIXVzOLwUAUKexf8jL6heUnMBCHdGrFe/BphZ95mRf3IKGN+s+JDi/p3A8PfrZ0RweOBUpJmbsH83IVyi9Xae1LigmYekAqQ5UuKwyT/ktyd4ko3qUJ50KbjYOQRFImrCF25C4HJ8SZygUFkKhiffZBYm57AvVHZW9AC6d2C+LEBM6XXI9PJY5M4b1shAV0UI4z3iIQxK7sx/8Yp8KUzh0NScWf8eNZoj8CcT1LosT2BdBh0e1GZ36Cz16FWQKlIaKhQY9p7/Yc2kEnJ8LJ//eoJoqsnc5axZEwssyiXsY9pnSP5juhrPio5PcjTXkUIgT8vpeIRZjzBcCuBRpzZysk0mx3VWQULP+WOVW6cfx9+1rzaSH57NLXOqhV8loHDbb6FAQoSK2ZVG0CvFpUFoWohgIO6hpEKO9uol8qdCw2PGajVTx3MH/8wvKN3PFmXxh6jgQMzdMzRmZSiaDr9qtCSOEc7suQ6RG9Zwh2SMa1cZdhKBQ879j2ICCKJepx1gz0PmE1sACSm8z9aDOq5TmC42sTYl/dFnSftBPACqCNW5Wb/H4aDicstdktwQbUmmCdcibfP4HWCqWgpNeFGm9C4VWJ7vvRwAaYopXRD1Ia6De+FV9jVIZpubDHQsxweBsiiHNw9pdn6xiEHI3SPG0bL1MRHx/U9qON6P2nfK9lWfw4NnFZeChis11mHliGmM5r2uE6qdIistUpSuHvCu3/WnaRwIYhqY/x4mfPCO/yPVxJMAlHxs8b0736mAevrJera1EcJVDJWFQofC1at3WwQM+rBNWQTkV5kjVRdmlPqqLSaaczUGdUvUDZMiEI4SyxRFMcXCQpyaUt/d36aGUFJIAJcep97T06IiLXU7SXFllVP+Z6FtTaauDys5lxzqYPWBYExA+Pxqrss2qcKWlhVH9WBZcJ96gPMj9y1hdWw03prmY1x31DzMI/8YeFrdFNokE15lxHMdDPAJFWWgM7LtBX944J6S+YwAad2+6uPT+pX8X/TAOnNMG7jKrjH/UojA/UmzwSgCRpb0hfbFT6d7dFbYySmXtAemKeQ96qAv3O7E/SvMd3UHMIZ9EnxjWj3bW3m39NVsp/ngx+pZuPZRm59S6MpfWlNrkGQMMqVryVNgNNUHF0p0HXQY5LELhHv2jYh7IqaUOBnjgqNeWSEMA+krxDl4N4g+Q5ogPQ8BE6bCUDjcvXPU8DhCmcbgXB0CXVbX0/fZEjdFTmCJm6sIkQEHbiq4rlxPqYyLoj5rs+CdENwyU1k6THrvv2rSbCe4CGeN1iG4C5i3y4xvd9L1FwkhBW7v1EqeAHmGjlAac8j09OZEQsRxqEQ38un1wAnt+zX4bBshpymSsLYtcOTkHO+zSPcY4/q427IojVwrECzyz0/bt/JATV7sA6M2B511pNG0h4h3jqhRIOMMZfTUyrewut91oM786qWLFnzQnJASv++YbjGfleI8TtwTiGwgKLuGsJC8XTVFwKAl0AFyE8aerA2wKeLE+lOhCq7OLlDIym1Lw8q/hfVoixMGSZ9ceVMagrXi/TUSAFP6PqRS3umd/FH8USUWYpg2YWTPIUKdTYe4KWec4kxpxzzHGQa3QgnUtZeTItfDSPSL+I8pN15DkfW63L5Dn+iyvtMVhTdTBCkwUqvuzZko1cKzHFOPOnkEnmFm04/DWxGWFapaznCRBdGm00TPkZ/N00TX7powSb0uavZdvKS/61aQhkasRx3qqo34ae/2yanrAiQcRHnB4zBoS9YillJ+2FH5zD9m/W1oci4m3HaF0kRF1XgiBO+dWvuPK/ggbMIpFNzsqGLdLKm8UQpV8JB0wLBNsg+fumRfxdhe2Rqk82gvoEsNVQaG4iBpsLsIJ87X4VCrRPztQIbNZDKgIWWhqDhJSwCWnKv4WQgBLRqC220RMZ+dUbluDQ1uf86GYHgQJ4nsvGIZRPmgYCCJ3IfSHQsHe3D8R78QokAV1ZNtLnVOxmm2PP4CoSnAVh19sIreKD3jdR9XSVsnK3T2KE/hk+wBTc96z9Pd1oWbCuXQwbEMA6LvCzHwgGRs39V8JVDQ4vysevc0fXCwVVEI/w4qubmdXRQnch41rveu2m255mt371hsKN8o/lxta+wMMmo4LnqOjRNvjRDOkoXg9oyQWH/1Bmn2QVmYg3bWoNvEIVbYPqn0+gC+JYi4k+KXscuFPIvayVrDvynJ32vVkWiVCjnW58kGkSYoGxFmG88D27AyedSeA/I+vrkHIu20rc8yos3Uuff3DUo5h1wy8nI2XdVsLMEPKFndbl+EwwOvnCCsAMQtg6HQCJHfT49tawhm4UW3jf7wH4GtY79qtN/AmSkemrawcyriJZmqK16ww2MFMwkmEu1AQYb3Eu9yChLOvjf47nJk1Kj/ZKspGYEFYhI8bN1M9NNGFujJlSfnzhuI7jSire1k7zwEeJdzJSLUYoJhz0nmxgvooWsAet2I/yXlLPicaM+LmkDniIQkvlFgRyjQXtU5ykEpdnYOJ274R7OKFyO7Os+glPt/QO0LbaNDzFN+duqWxi4jGqz6Mr0K0dWhaSkNTTv9B8wUf95vUAgFxz9zpCgYDODsWipaV6n0fQcpDeUfyUk2VGdKGbjcUnDSAwQ6QUcqnrT0VwjWyIelIqaEbK5XoiuKFpCbjkUPqx39LitsTw2wxxheCnLC9wyWZ3soQ21VDpXi3cpTNi8ELo8S0y3e4Qfbjs613gt6p1FsS9uO0HtmkYrshMobHUy2ZN9r99rDmHr5c13htG+hUxUvBYS1DrifjJ33sKfDiGzBLFbQmvqgGe63zls4r4qcZaaBDYhhTBy6a7Zb7cx3Rb21rcoPtMAMetI+63eqxRaxMPDnlspido9pSr8rztBtrEgT3uDe1CK7xzC4SMJAwNeYBBFdMyRgp94sH6BQ6JaQQS9iAsr7hJClqYJSJARO5Lrne3niSMbXyoM98m79fVIh62IECoxSg8dSR6KhmFcrXj/70FKAfBnVeoTKy/bQUE/h4ClDqTvQM6NT8BbuKRuUniaV98b/EwHnuz8FJVlUR5VnLMX5Dk9Z+sbplA2i4B8iJvXPv4TnW0qGSMu6ossL6bZfNz5s5HOpDmZmKJJ2IHr8auyZM4noiFS1tPWXKtuQwKBItZFflhMOZgYTF99RpRc93pGhDNsqAICA2j4djWDWKDR9fygSf/Qme8qJK/alb4g+V9A2iU1+yjfsgOj8Za45qevwJWcfaw/bpL1WNDCDIDQbZ/+oBLlQr7EKcfqoISYsn8avIzK0wg9iBTPbjpBP3pHULR7ZeOeuRyDIdZ0X6tU3ddrB77hjZrvW+OPkxcVuabS/IKS1KVMaUYyXmi+8CkftWMN3C/VmVEiry8MXR30U1KXwsREQj5vx2LfE3CkYT6FBpgDa/IemUTM8vbiw8itnofljNyn3RFMtb08yftu9z9MUuqoQfYDiOyVmIAFZbTqRQJCCceknJ8fupelugMhaxyfcKPoV7uwkLBoZtmbCmMAp7HVIu7XpUrm1hhJOWzlFrhtMorjd2lk9KEBeC348AwBr1iYs2E5Np+WrlvvbH7Koz5RfQQ9txad4EdKFLeijCwSz3vmVb5EoFyIQSMV5a2BgPh+muhV6o7KqeMBWIMWmQlxLHR5GVDD1gE+JzsmlUV5wo6gIYPPwZkVKHJzih7UccFAjFQ0HVeFqfDc7mfWA33YVKM6Kvsq/UQVj9r3wg/xa0mevpkL4kj4j3wkds+DUl3F528TS130UPFfMRXhgSPLiR7b3Fppx3dV5UERQuPcExuUYDhtJRLm6RU9h4iuKhHN8u5Cp/gy4TXtnhH4xIU6RrjmJa1XTK0dqG/LoXhparmv1YvsK3ylb6AXRN8JU/7wmpdUdUr+VYa2jfV7HeLa49zb9BigVhJKRAds4m5bB6fj8scqidTuYnewfEEku3ZM3IsCy9V6g+v+62lPr6Kx4DhR3m4tPdmoZ5SwZtxqo7SprTo5IzSaCU0ixr2fRNiVyRSKEI36ooal9BvGPM400yYtMb4vd51w8do+bw1d+cm6ZkoBAp4ZejAzWqiMvqlCauiCr1ADMS52QlowQjgY9kzFko10fmzhqbpbB6aQi5l3T6b+t3oszidpjhiz/6On9tjp+DrJx2q6Gfdv5T4/iTi+f68BLzTQ2yApWmIkWEsmkWPLqb3fJ3SJ6mRW2cGb+Fwcx8Qcfm4G/CobdDbGsIyr62B1DdfPhQfkhY+eaZVDWZSHwCG0nslaVk/LiugMuv8xbS11tjoCifGNiuTPQuq3QdC2+2zguEx3Z46BaHSYSPp7gROYBU0ZMiqSeO3T4q3ezRmlsMPnHb0DOWqf38RewCr1K3yypGw1fm1RRsnnEkVJ2xUvifJbLUvKFNXMDpIfNBJqbafuWo5n6E5JJ3X9BLX6+SavGYnCLdmB1l19cgs+4A8P+ThhUM2qECHiouC4qudJ3r0MhOhcKbyQ+epOwuQROyj3wULXx9iyytraGd3T8g/uYf1SnBf+GtlFD13ed2qCuu92znuBIBu7e9vTJTqZOnO5onwcDnj6cuymHMKF0XbYINWK6WluAi/ifXUmXtOk1Rz7+/FeApKTlwCIF6tjK03OcvsH5M/O7LeqMaE0uaypEVTRA5hXC/I1xOLOq/RKk7GR0hUkkn2iQLg+GTxZUtJRES3gn4qtWeKZJnk+1IurMvjupDtARQo10iPweHgfpuUwZHAS2f8am6X9DFG71SR28n6FXTo98WuJugZ/uTLLT7kn2bsE1Ogt755Lq1ABmXdUQROzChX1oyWJt7935Vs/EvGizgw4dv1zZhej1vxZFpGo6AnB4I+ivFeiaD1CPcXUEZkp+9oGwp7umEA3wUuw6sLwcjRD+v0yQXozcpo5WO0wkr6gPLABlROzqcMKixgf34VZgdbto+gFqVBJI95bEm2fy6Q8qbye6VSHTj5cYwujwnfdCkcmo5VGzUAPQucxHDh837eaBJphR5WmXfkZcfFY4GEpucHyUPfqH2QkpRuIInY41j95sI1ngFOoKgoL2pBaBZDyvCsat5AhoEgDFk8F8H73DQlFNBTQlDMYmqE087lsXI+aVXOti2o8UkijgvveZ6IldPT/kD1Xh/hUfH9mh46VE29+ePRpCu/tqLu1Too4qaIOf8BW8LnBi0HtroCoTyHfapIAWnlgzc+8lcPkJdkFhciw55DVR5z4sR0gmwQtk2E9t+z8INcnArD1S7BRKjzcE8SDPevlyw3LcLvijTPvl4uSPVOdKnQ3RwArrCPtt2y0JyRuRnL5ImpoEomB4kyvFLFyCX2IBa2u1qV+XmqbmsS43XzDJ+vLzcyn3+BXgpOJQzSF+Oe2IaGXuAFMj26QVoeEe29BM7Bpsv+sfW+hm7BNdkHTHQ1nyptm4mRipplifrMWdLFpTf5aLEa8oL37facjNzRUxKARcUzP+d7P7gWheIdet3bu8v5bcdDtjf2aUMeFogHfci6Ip4XUw297gIRKcVSvy6F64t4jE6T0D2uVZz2ABcdRV22E64/ejS5eGpcHM9QkxjMKp0/P1RiJrKYpM2QM4x9jIZmvywDyR/fI2o/an0W2LMez0ZhNUm2x9e5Uhv/q/QL5kh9kQEck5tyhNPKJObLPGuRI5lKc9JNTH8pABBKcH5Ji4jVdcBxWuVIp/dXG91gWVVIsfF5rpOolpsO/cApsCmzc8DoRrt23X61KaQ0F0YwS/LxhoaMWgloGHXRAxZd3TfTDIK4DnYS5D5BGMKNeXxv4oki8baVFI9BsDlA8hqQ1LrFKh8tS6YnYdaO+km1P4Igbwim3+KfONt7f+laefcTJc7kcKJeU4N/YyBFQeVo5GGA3ntGqD1Eqc5CecOmcagjlB75bfK63uHgR7jnbvkjri+/JgybWXuiok3ll9JJq4INJRH6AwlXQbg21lRyC+Xx0eM0ATMNtYrnYyMjDKKScxfZaSSZdsYj0KMbbdeZ/mhpYC+31cJ0AshyiJUK/h+RmeCSs91aEXHdh4Ob95OdNEFO1xendyLqhhdAP2TY8/BPNdmZTZSHwkB5CxeshjSQ9UDHPYLd/5JWygtxCUCFVUaWAAvUSHHCCNTt1KASSyCwqzSWULQYDAPoMnetG+wlmti5vQM7JcqU+7SRuO75zA+VD3nW64sS+ZpHEJnwC6XfZQ766WjrZkPN/wT8y1Rk9ocNDkVApVyaklH0ADlb6WbVBiXljaOzWpNfjs2LojoUzC9Cavz99XhmiIbQKGZdazOP2a8p04VQOzJnPBVJmuXSis71yo2j+rW16LEB2EieuqHjB2pq2jKoq6MFSL6wsbbmDHdEtiPcS4t+jImjqDf1GPIAbD0i0m5tsj4HhpT5oSxk/SoXuFy9togpsqorVy/i+Oi0R5SakRijchXuN3QnKAZE9TBMfHHus89urtW207qWR9oiwLwpqbxD2/huVHhyuymYFwAchzMCwFow6InLprlJ2hdj9gCbH6vaVEqkCg+zRMsZ4BJiJBvaEamaWp11lSnbWsbO4AwtmkcCXE/0wcOIYz2CMJuWkPNTcbi1hI7/00zooDkPEQf3i+c//Y2R5LY0a0M0FA0wH9mITRYgKGYjOA0kkf/YdNSFwO72kwAfbvdiXLOC7/GDPICJ8fre5aidcmbIA6eJ50O+SXfm0KQQ0fz3fJ6jajXX8Bzp4Ab+XQPavnM2tca22Hz+2OZpU4HN6bSfJ1XZqorpEGYgV7yk5ndNMDV5UsXJKcGrGGaG+6oA1/B8Du4fewMvWbG/I4BZDTPyb/itNVMkchkKcWwtT/tZUzXgFNJUhOB6kwnG9bPssION1crekBtaoLl7qxYldDOOJc8RewVpoWoP0UVrl+Q0TBFWfpgf2IXnS3fpUqetSBRTUpyocLsxeYeNCbx2vFn8gyqQ/vIc/B5jsVYXcGI8+eanS32hAqQpiq9VPJTd6++RLGLI1mqs1+KZJ/nFUMyaGW/6XhVcytV6vuarSZnTSFnZDjBDC2cQROPnAH6lDfrhrUU6BlOkPxvvN5ki5EThiun5VSG9S7DNWFHMvfDNH3+QcRPuAUHmIdeZE0IDKnkoeuRsT1ySTnwbrelvv6hHZT7WejpPQHKSY/XIVndrGXYLBRU5ygDCq/Evap0pMyd2PGi9sP2cn6sfLypPyh1Y9rC5cINGqTwNHUESF+jJ94tMCKMVWn8q8NpW9w/E7DtpCqd89ZBCMmvPMTmlYvTHCF+tsQYEixzfRoZnRlxq9sd8S6h2oJIUKuVA2R0Md2UV3RAeRgWdcfhk0vW2YT/JygcMgaKRY7hnOPxVAPjWCC21CJ/BQ5CKhTP9GJiG+CX+FtOjCFQZQghTTU/pEYPkkCncTtJADLWZfcotp4WZkI+XjdC/4OyiI/nyIDfRH5NCHgl6QhVweu3bfJd7ii1b+t0D43rT0WaG7AuCSnsarrJe+sxTk0pqNhGGlNKVRIkNGPw/BX7RPqfbE0saKSAK+b4iJQl6kLTPR1yXkDJ/KyS0+tICBb8ToKmvE5iGjmUnLswgro8ksCsc/pfr3L5RXnCKA90GH0ATrcbx+OyzLkj3JK7+soWSRIH7xMr7w5Gis0ckB4szjFrXqSJXq1geX1NmGIFIaoLhL7fph456UsA723JwyiK3VRiFxZrow0SrNUTfMALULdE8JxWT3AvnhSlJz1hTQexDDoOXOAC9AitgbUHfqHBeMy08h06WauCXXpku+EfDOJuA54+XQ9uimRKGXBnqKREQBlkTa/LI5T7X+bxxjAgXaehKxS+pGDx/ORVRS6dLmuKI+SgbXez7jvHFbPFZ6fV2MsozW0BgE+smwwCuzE71Ve8DIHvMAngl4gsa1d8LZmGxlLyaktcnUkF5pEM5sTC2w6C2ZO9Q1yDszWx6BeGe2VFnJ6Vl4pJKLJWNrvKsNsk+f8ekDj+C6mCiX+anUtLG1bZbYzJQWWDiDESRZYiv57GTRJSLanANXNfuJPQrNolFtKa010TONsL1X9nj68ks4TqX75xzUO7Lnf5kOUr2If2Bc2u+3myT++t3JrumoDt9ExMeq7/6uSKICrWVP9Yeh4pzzXc30lLpEqEXU9gjH4VpFIMeIte3lPx6IsLNFuwDlRVi29KNu4Je/K8m5XGGKf6w32aDP4VW2wJHy3INuvCx+gfRA8RX6HSS8S3mX7oLeQ1yIihLuNOS8yMQv5MzzhDCUVuCeI7qMWz1OcAaJnDsXsMOelvFMEWVAbgQQHaliPYtHe4EzzxdXSR54Di4tMCMAKsvflYcZN42QG/DGfQoulh911ixkW6DyjWLVhlx14UE98E03M6hx/eLU75+OBVB1AmiQhQhm7WRQ05XvBXuRGtlbyw8LtZwXSI755xiDr5oQx3+ohNO52I88AXgoZ6i8OMSi4gzI4VQbW7BGWZfLG2XuOh7GkrBTFd8zca7QB0X2O9rR9TOW5iqwaHlFGJnuHHbOxLXMrHLxpwussmvDfAXs0ZmtYKRPlV/+LRELw8Pc6tbvhSxgByuUxg6VxMPgTYtyQ37ZnW6Fic2rS2fTF1Li8lhh0QqzJuEE4BpbjEXWsu7Av81ybGQjTyDsnGiJf8ioEx1qPzfpzMh5n6TDYbKsP/WVRsxPe8Q2DgPsg5PKiBKeOCtxx3WgXQfIwz4CXb6hk6TfIkYB1fTLMT2CvxsZFFnwGcoNsFEF/UmZtHhp7CIa8T1K2LJP4X9DFMGeDXgjAtCNYwPKGNvDnpx4fsytbN8rq9YOXloAq4sKF8gkmY/onIb81+LD0efgReMuMooKU1v0mfy1fqpaXng2+X1jF12MMXBlDtwTdAKTzMkbGmqfF3RcDsHQx0Db6SEI8dPFdZYUGDP7noiKSJVPAx3Ie8kQ4V0AzQ9IcpMfVJdxGBBLxJRW6ddswfC+NClC9DxqN/6RBa6H3AEN8UVhMicMVO5CAeOrHRlGJriFokYvLSD+x5HKVP7Ft9OEhUJDNv1Po/UcobE9kaDPd7UZ7j/KqOHTvp6hrOzpkLY3+vQoe0ogY04DYYyb1877S5s97fHRhzG91G3490a+e3VkKV/kwJvEGDKVJp4Vb/CVqny9Htcz0IuW6akU1uUPqtlzzCF9gYZv5oZZaLcg7Ia/33NDWSTmq8+iLytimiGBOJs3VDCyoie1QatkXK752Vaa9qnRMpyRXkmGLhNBf1dv8iTaqVbcpyJRmOskq7gqsI+2/d/EE9FnscPTaNfmcyFUJLYo7ItpVTuuueoAZRoZbSY+4wR3Sxnvedpa+12t1wW+1y9SZohwpY06V5oDZMImG2TnQQ9i3Ul0V/oU+q3vl3FNp8HxayD3yqTjhljzvmvd8+PBMiuK9TOzBpNOOIX6QIhmehKJaL+VpgdXkYG0eOYANS2Mq1x2Z7kzKWE0Ypco8USGOuczMaERW8aLbf8mfRArolmoq1+KFYSlRNrcunYY6ahcgO6WVNHMONKpbJhHmR+/47lDR1a2wLroB/esPyAF5EgNCqm1tlLwObZAcloxc53Zxp5D+D7KzfFu3oYaJeO13+CrjqAYuGavxVUrvPtz0lp/Q9ZWPDTnDH9hVkK1r7HgR0oXML5N18vV1W8luUbfwv+UIchVpXPti1nRvg5MwrY6XzXjSohLShF9fDhUjaxEKmkEapuj4zjGXAUj/o1x/toDuy/wnqR/LqDNuW5EG94u5L5OovoOpqXHfp7csIuoNuFEzhSQoYWOt8pG5WzmgJieyIlkLWyZ2gO1RlxPcllJPkuAYjqLzSQIcO+FRJQGCce6DFBGGRCoPaisUcB6s9waVhVWr9BRW8H/NL8ZJQJCkQHiF4pk62srZ8CgLZAUADmYaoSsnGjmcEVHOa/2R/1vtQZUYuDqdZjLtB8qIiwW9D+/GGFsjol+nODkiQ0N4tuj7Ygy7jXcIrUl4mpPY6laSLMy0rZU+vkCwfpCGx6MW/x5cXUNZLvp2okXilbUn3/Ps837pPJM59FrzL74w0WOwyFpblTam7wDBhqCY5m1zodfnp34C10G1AgL8kvqeGorICCQkJT6eE8wYTgDl73qw0PzeogFDdC/9jwARuFBRl8QuRnLY9kds+sIoOl0HT0GoTePvSSDbOgqb7tRlJTuCtImY+0O8/hOs2lIeCNDykfbY3unj0UDpYGFyaHHKihbt4k8CJo/VhsbTaU/gbtqcQf7oglhMFzbRuAIopMRev8PnbnDYX+lQA+FaVr6UeAGp0CB94m0vukkXeHr8U1BMMFmmAFvO03wGuMWk4m+xcf3HYsAc7ETDrgo81qkpzNv6kvEjGTig3tLEQqHzN0YnLUW4uqu88VH6YmTNcjZk432zMgVZGE3JZ5otAE9DFWjzeEu5Pmj9OXvN9ke7IjYWurKzbhN6rQgaCWQasQq66PweqdP+G0cXfHhCHK8tY67JPUjoyRd7z6nRCV11umk3phU9/hpbtR1pJneUSEpISQoiQPQYCiFv7Ixv62K89/Lvvs/mRM1T0epekBMfob6H2HWvMF6HoR1SnDR27IZRYB8EbJzSaqIG8jUBzdYDVAi8W1uYe0VCbiNld9nBaHWUTBcFUwDJZcILCeVXyMhR/lYjh8QXA53Q2gNj+xzz2KxiwUXvqget5EDXNJDnm9tFay4w/0ruFOYunzrSU3eghlHsSxOtGh4DlyxX+V24Pp1nubxsP1xPX5igmwKVg5wu/zdqG7O4/QvyGE47gmZRj/16yfVP97kr/1CMiO84if9+UqYtzO38e1lc" title="Mekko Graphics Chart"/>
          <p:cNvSpPr>
            <a:spLocks noChangeAspect="1"/>
          </p:cNvSpPr>
          <p:nvPr>
            <p:custDataLst>
              <p:tags r:id="rId2"/>
            </p:custDataLst>
          </p:nvPr>
        </p:nvSpPr>
        <p:spPr bwMode="gray">
          <a:xfrm>
            <a:off x="564115" y="1562789"/>
            <a:ext cx="4016949" cy="5496990"/>
          </a:xfrm>
          <a:prstGeom prst="rect">
            <a:avLst/>
          </a:prstGeom>
          <a:blipFill>
            <a:blip r:embed="rId12"/>
            <a:stretch>
              <a:fillRect/>
            </a:stretch>
          </a:blip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4" name="btfpNotesBox953997"/>
          <p:cNvSpPr txBox="1"/>
          <p:nvPr>
            <p:custDataLst>
              <p:tags r:id="rId3"/>
            </p:custDataLst>
          </p:nvPr>
        </p:nvSpPr>
        <p:spPr bwMode="gray">
          <a:xfrm>
            <a:off x="330199" y="6196568"/>
            <a:ext cx="11531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*Based on SNL screener of US banks with $10b+ in assets; **Balancing figure between total Non-Interest Expenses and four commonly reported cost buckets (Comp &amp; Benefits, Occupancy &amp; Eq., Tech &amp; </a:t>
            </a:r>
            <a:r>
              <a:rPr lang="en-US" sz="800" err="1">
                <a:solidFill>
                  <a:srgbClr val="000000"/>
                </a:solidFill>
              </a:rPr>
              <a:t>Comms</a:t>
            </a:r>
            <a:r>
              <a:rPr lang="en-US" sz="800">
                <a:solidFill>
                  <a:srgbClr val="000000"/>
                </a:solidFill>
              </a:rPr>
              <a:t>., Marketing &amp; Promotion); ***Allocated Comp &amp; Benefits to employee groups using APQC FTE benchmarks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Annual report; Capital IQ</a:t>
            </a:r>
          </a:p>
        </p:txBody>
      </p:sp>
      <p:grpSp>
        <p:nvGrpSpPr>
          <p:cNvPr id="17" name="btfpStatusSticker584984"/>
          <p:cNvGrpSpPr/>
          <p:nvPr>
            <p:custDataLst>
              <p:tags r:id="rId4"/>
            </p:custDataLst>
          </p:nvPr>
        </p:nvGrpSpPr>
        <p:grpSpPr>
          <a:xfrm>
            <a:off x="10003470" y="955344"/>
            <a:ext cx="1858330" cy="235611"/>
            <a:chOff x="10003470" y="955344"/>
            <a:chExt cx="1858330" cy="235611"/>
          </a:xfrm>
        </p:grpSpPr>
        <p:sp>
          <p:nvSpPr>
            <p:cNvPr id="15" name="btfpStatusStickerText584984"/>
            <p:cNvSpPr txBox="1"/>
            <p:nvPr/>
          </p:nvSpPr>
          <p:spPr bwMode="gray">
            <a:xfrm>
              <a:off x="10003470" y="955344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16" name="btfpStatusStickerLine584984"/>
            <p:cNvCxnSpPr/>
            <p:nvPr/>
          </p:nvCxnSpPr>
          <p:spPr bwMode="gray">
            <a:xfrm rot="720000">
              <a:off x="10003470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ight Brace 18"/>
          <p:cNvSpPr/>
          <p:nvPr/>
        </p:nvSpPr>
        <p:spPr bwMode="gray">
          <a:xfrm>
            <a:off x="3505482" y="3595906"/>
            <a:ext cx="226591" cy="2106778"/>
          </a:xfrm>
          <a:prstGeom prst="rightBrace">
            <a:avLst/>
          </a:prstGeom>
          <a:ln w="9525" cap="flat">
            <a:solidFill>
              <a:schemeClr val="tx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>
            <p:custDataLst>
              <p:tags r:id="rId5"/>
            </p:custDataLst>
          </p:nvPr>
        </p:nvSpPr>
        <p:spPr bwMode="gray">
          <a:xfrm rot="5400000">
            <a:off x="2739509" y="4644207"/>
            <a:ext cx="2293931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1000"/>
              <a:t>Non-Interest Expenses</a:t>
            </a:r>
          </a:p>
        </p:txBody>
      </p:sp>
      <p:sp>
        <p:nvSpPr>
          <p:cNvPr id="18" name="Right Brace 17"/>
          <p:cNvSpPr/>
          <p:nvPr/>
        </p:nvSpPr>
        <p:spPr bwMode="gray">
          <a:xfrm rot="10800000">
            <a:off x="1619861" y="4571998"/>
            <a:ext cx="213218" cy="1130685"/>
          </a:xfrm>
          <a:prstGeom prst="rightBrace">
            <a:avLst/>
          </a:prstGeom>
          <a:ln w="9525" cap="flat">
            <a:solidFill>
              <a:schemeClr val="tx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>
            <p:custDataLst>
              <p:tags r:id="rId6"/>
            </p:custDataLst>
          </p:nvPr>
        </p:nvSpPr>
        <p:spPr bwMode="gray">
          <a:xfrm rot="16200000">
            <a:off x="338903" y="4936306"/>
            <a:ext cx="2293931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1000"/>
              <a:t>Comp &amp; Benefits***</a:t>
            </a:r>
          </a:p>
        </p:txBody>
      </p:sp>
      <p:sp>
        <p:nvSpPr>
          <p:cNvPr id="22" name="Rectangle 21" descr="Enter Chart Description Here:&#10;&#10;End of Chart Description&#10;DO NOT ALTER TEXT BELOW THIS POINT! IF YOU DO YOUR CHART WILL NOT BE EDITABLE!&#10;mkkoexcel__~~~~~~~~~~False~~False~~Falsemkko__4HooU0THZk28POP9trq+pbTvvzd/gcV8t56cq85kb3NDTsUhojRA0EsgEHHMH7oYP1SYpn09ysXVivguJdhTvfyVMsBLTGvcX7WPTor/CmWV7V/wylEnRSjNa0bZedd8Yjfz6TiCJG8OqoXAl5SrIeF08dlXg26VCLQSuMwFMmWGmihLwizelWVh0+YrBGrvbI9abCAsXIvQHRa+DCJaU+EeLF98fH+GxRBrNrDEUhDV+8Y8ax1dWy8EUPcfFTkxQQ2BsfIHh989ru1P95Fck7Rc0DtNqPIUYtisKFfcMEnyHzI3cN2BAeaXCDO2/7ZQ534+lxvrsYpPcMKbqyij3pbRrUcHX7l0FvxVuok42A7gL7X3dZsOnUt51CqigQI0gPnC69yMJ/Q+BTUhCLpqtZLTo1ddC7Yr1Oppi/HlFqXmvmB/w0U0tjtUFjvWcfU2gVO/GX9aatTuZcV80kVXv6Q7JMwE83EskW+ePhctFoRh1mawQ4bz1TFa7es3Q6CqthuWsD8mmS9BNxSJGt1ZQ5V7Pm3h8z8X4F6eywXiS2wVnpNhVSLMJUkwdD3HECrzZ2HCl0KQpHwLuJf2t41o/MRjtATyLGaQ5OiqfeC3wxT1jxS5ggfJwJVlWcNtPtAk1HRW8qh4IyF0Dn0kU8ETR7S6Ng/DtZZEgqf0rnPT2AYjHSmOtwAfMYji879It3Pnd4MmPC7BskA0nDMhmwOkupHNSt4YjFSvt8Q2qQX4n1e51tHOuqGj+11ZP19aeXNRhwGE9zea5jyC/RBXB5smQDoUKuILV5M0viox5AUDsTZ2hxjU36i1fQVeahxbWP8AcTWVq2mLdqypqRSmDUQkwMEZnAocCLvhbkEyBPIiSB+LeUGr/SaSXr+kxdZp8YIVQqxcqOgeYTL6v4vtYZ98eJ2GXrSQ8qWNLQMjhe+u24YHFCn28qEFEhcRW8TznRlHRmv9uHt9Qw638XMdCJQJ1jyaoGJP8dLCe0aytKICUO33caiBk13V6Y5zzmLHV+pmGsbJRsVt/6M+A/UBaA0XcUm4ZqWfZIoFyedeuMaSjOkCTEZCo/JK6WqQZjLz/bUwl2LHjfJlMNPI9gpNaJ08uyCPow6pvFTyeiqD6XQK2/rewr4ktE3R9kB4VkVVEI8SWh9lzPfzdXkxcTx62EKxNJcd0tD+toKAZ0OtA/KEkoMMaI4irR8bxKW2wAMT1CkLfB6VtYVXDxO+vx1tOpHWkpNwA5MN1v/StN8iZHIDzl8ANNx9q9dFOKzHY3APy2YIv8WPZnxSRpzvSvNZkX7wUYnHq8TUbdB2iu4P4Zkiz9Rl19N0QK1YAO5OiiQlYUYLeTxykixOlU9tryj4q9EW5KJZkqs0+lxxExOS9Ce3iSoep44RbhsTuQq/+hh1IwtZScjABNXpxOYDhgA2WxyUHBGi2m+A6T3w/3P7/jJCcJyQYqY/bgkvfT42n+R8bP2sbtOaHi01xCeWNR4SIdA49fUgqF8cC1ChzUsehlf3ny9Zd1YpCFJrh9OkrSUKafLd/dnoB7VIAGKiVOAahpOBihsmiU4euYeTdxUHzaS0MNY2Mw54tqFjl4u0NxoYFm3ZWYOR6eDF/h6RkSRP0b7/t61ntCuFTtURcOmgBnwhnM/asa/wRCLtFAZi47S8H7/uEXDlSNQeizGxcFXF9Dd2THoGHnkkjz4U0EzC5xNTHJ9hAaYFSpuj8YtHLe4Mpw/G+P2Or4UbqjXRpCtGHgnJ0TUxC8AtM42m7xY1oAiiUs3QMwo2cKI5X4zYrlzSUhYjz8bUWL8SwjbZdbDbRqK3LYjw5hh4k3WgzMgRx644ZvQZuA4lcjUf7cgi1qD1kVwV2oeDHXL5ndfKQups9TqYTk/T/umMewae83t47juTNU4KSDCd/n1atb2DIhwl4uApy22nh7Ey43cdCJrru942t4Lx/liR5Nmio3ktp0RaLq78YpSGYjijsBZcZpi0v9IsrNEd/Q+mWpTkSmWw9APPLC4a6wG/HcwObN0ST4mO/EiGCFkdBsI8fGy6fHQDALT5imcRKHF5Gukt2BP0Vsan9Qi75ffUTB/BKSLLhIPKf+zFlJOkvl0reVNFGkx2JgwlLjjPg/fSl2XvC0j2vmA7+SupwB/wXRvdlqtXuUq5OFC+tFOsvfZG0JwU0kothRTFjSirVc5DdmHGWU+WTBXZUXplJB39qJWnDkUI8VzttLleDXiu+nFzXbCF7kIt5RxrQCvTD3Ax+VYirfUGCSrFSzRHHoidxAfcxbMtSdImiOZqDEq8R3hxk5MK3zqH0wxk6BR37hBrWetzolp0w7fOSgArKcpI2/WEpCsoM5cTcgpnd7G0ikfQ9IWLjgX2sqSuwkYhxanNpeHhf6k0oCbzYhoI8Cnp2o77jFNxLTLGUQ8OV5dUhgvCYrYuMIAo/asms0BPyT3AFyrfoDzA9Sl7wWgPJ4NvxcqnUqjCXf36A7tbpEw8ENoz7036wOWxI5JjGGtL7NfqWYdv7V+EveC/prK5UsZjcFDIzDZVKQQfANVaUgPZ12rAUuf0iF87it0cPTbmcaxHdjS/ahKUJ7EYnbbzoNfyj3fCk9bPv4WzZb/JDj+RIoNj2K6Ve5HecijHF5eQGN9wtkcwMyHh1CNWbFpw752BFpKyoHWuQ9gNUywSr63zUNJcgLnKgoHtsjRDtmg8aXIJ9p9wZLHlklYsQFk3XNaeGYZnoe7Yg2lR/McWiM+Twhc1lv68BzHFLfAzuD7/YVBtuwVQyw4CfZy9S7GtKQkU5oAfG5c6ucZYXo9AZU8ItZLZ2w/Es5mulf6NoJX/ch9/eEHBZpusq6gdm+WZxWJskRTWyqSk6fE3MKQNX9fL+Df88SWxjyc84fMftGFBQUzkojkZLA8az7/sbIjGYvKs9FvAQYFCWYGSv2MB1pYmBdYgHfkRb9RrMh5waByif24Zr8iRlFDSrszqyIwpeLqlrz+SRQklTGAtlfeEzbGnuj8HuoyHqWL+YXH53JMck+5QO4k1Wrpb+99r9ZKdjpG9JaFC664z+xR5xXSx/ZIGlK1jGpr/pdWvH/Ic/jAae97FuQm2x4D828+3LbTXOolUPXWXGHGAuZ0oCfG86ch1NVxIKEQdvL1I1yWlU/weKRAS08+4oEInGUpZNkeQeC2nIS4D8J40KQ1lTkfC6av7EEgPaWPL6wHR+Qk1GYx7bHj2YUKNaHFZr1PZUqBfmbcE1N4R5qLIq1JJ40dFWog29WIpM2LIhKWbTC2hxnCa9sWYbbmH2soopqbur7eqxavK0W2aC/t0yae2ZRjzqgHOgNJNeVw2HFPD+ouCZIz6TjTiwui0EXuy1kauxZPu4+hLd3wlrqzN42PslY3zCkaywO+/lRd7sk+poGS/hB9c9UZcVwTRdmDma2Sq3v2Z6Zordc9a7NbKTAlE87ruQr8TWpSY1AFBIJ3og7zC/rQq+U2ecK0jIgN5Jsj+jImor4QUTKB6LWayIT41tT/0L/6QHBj7jUibYGoUOWfJac2xPS5k+WnPo+MJxIn19BbasGJ5B0CPIYRggwAspN/lap68+K7tVqcjZPQpQOP24t/njy7QGQ1Fd2nV6F3qCeGys1wyUQMZIh8e+Vj5f+ayLyocF6xnD3ca6CVErOGOHKvM2J5EyOmqALwF/W37i4HfU2+THPuhwn61wfCOzo2Qg35OrrqbclegcUxs9EAH9NhrA2+7TZkc2Vn4BMT9sGYZtKecg2LRAN9MpnYHPxUN7MpHDTCjzTRf7M1NQ1h1PWWhyZsQM0lhQeZJGWrKh3QHcHpg+2nPv0hNO/4EaYxlJ4AvTDyza19+G56iehHGoI7LNffCaRTt2+GofxJNc6P6lZYnpr3CCB+oeeGBzF/CjXIhiOPOx7bgReggT5RI0wGT1JQl+ssUg1T7zKXSZs8OYbbQorGdKALoB0ZrpksLyE8+jppDVb8PHehoHonWDBniq29/ZQOhIBEnKjNoamyV924ReFqmOmpgy78SeZga/rxBw9p60AuKJeSx2c0+f+64YPTEgaBAcRGD5Jn8vfDO/vlfd2OWSRziTjbtlqW9DgbwfpkUyE9hwRFJNOGBPQIORWLT+QPUExYqMMxBXLjYvxWhxZRIrxcc3MgwnuyVa3PEBO7td6/oVZ1b4UHXOtDynCwM8gGG4mEIWIpo09ope0GW4MBR0ROVptMdx6WmyQWaN7w1X5OrmOAwFB7Xsb3Oi/DFeXD5xRzwdVVhEKvX+AolM8qOversXcnYmuuaiYC0x4iZc8BhclWb7y3FyF6akgbTbBdEOlttOx0+C/D6pXcaGqBlrTkodLFofeMy01t7AqkIXRXBmyD1V27AnwAIEoizqcPKp/kwymiopSYT5cXBfOflX5UO9Pm8xjG7iZzh5l/uoBPVJTCEZlo7pw8UlJBBvVlQG9TErzVjhqG0b/xILMx/aazGzzWphHfZ14LKDMx+84t/uIWd9e3TxDx8bJ2Hm36cHoaFOXXf6EicW7jN5RQ+0Z6orQIgscUG6eWpDj7BvCjxm3dXFwhP45fmIBp9qQeeEmrB/2pLl5l3FMEp7baGDye1ivFN5+wkR5p+Je1OPbgnJPJkoG3truW8dDUwbwRwjw1sp50jkEuNdupYPjPUC5GFUwACANutG+G7Uy4czhgkQ/31GX8Dm+fad953jksI2YJg3Kk3s0FqjSEfChDCz9wQ9WMPP2CKt7SmxTNEWi0anEVDqOBIiYJqkCg01ee30xWjwvkWLyXexNeP5/jU/oWvjSqgj7WsPPtbjmKA2an4R0zZBiFz7TUvzvlWG6vsszilqgiJNWVYfnFl5hZoxgu0J5GVJCKqVi0TTz/B7k+e/EyFzjzV57eZ5SLgofGpYnZ0rqUdfo7mb0IWSqFY44fDz63B7geETY3gRiOhJSiIvW1yYaoiiYZ11c8AqkFwDSZpuQw80bAlQZJKnKz+h2IN2k8yCXdyYFCyYI2xLsTOMK/nNBmhAo/tC00I2TU464PDXQAUjuekepu9yF0d+QNgtmNSEB/praTpkNRvENhMbXgZrSgPo6KQaKPDHCd5UTANwPsJA1Bo79+W40MFo4wkJ9BtWD9NkXr26samlwSLCiINalxCAqseFaYK4j8PfHI9pYA7QJBc5AS/e5vjho6e+cqm+4i2UjH6V0txHllxRLAv7J38uhagdnT3W1PPpFbtoRkDVX/eOzTtzRUfuIuUdTB7iPeDtTefMcW6omPzSj26ZKNvUaXe6k62CocxzcMvyUjHepZOiNIRy5iMll5XgaQ1lfeQUilPJkZsdbX7KF1oRknaAwfPN+fVhCwYXh/IL6/kxx7iKS/n9WjVdz8STwvTm6PKidwk8aQaLg3v5S24hcq0u2ARqTqTow6/tFF0hBeYg4CSj5t6779PXoPZ2s54tICSBJfGQTLEM9O2v7aJHYDt2JEiYcPv6KlM6Q3qwZhDVX8zL2xYVjDeb8Rqs90erYiQGkCb/h0QYyAMJup0EcKTvFsF+5goEAOoauZQudZqmEOHedcZLfzZfrPdmw6tVqRFG2Ckc9pGp3UYS/F1/O2BpblK4kpuaGOhfkObeZtZuQapuLW4bV/eCJONh6DLZf7DHcjGtT8ztM8oDyiNTzUjdTYhM31wdVn4iTTZryRTsR4FXtetw4lYFu5xfqLfP10DMhuzXAT7VOEAFFxZwVaZLR33pnK3Ul041l3hziAqKZZ0vNP3wL6reENGpy0Fl9ZmthWGGlTU+TFFNEUuhGwTv9HEZ5rhApoH1oQjYUa2GfeGgs/68HdUxLwU5aOOxs/wtDhFfBVhFzGyt95bk0Bn28tfH4CiMDsk2VPI53gtBOSj3YxZ/dxQgY19q5ektlA3SCX8MbZ5UlCgwQS/TYAAYvaiU/zVKDZRpArSr8wzDVkXZgDES+voDSO5ECTI8RNkv3nxcH6bQK3mMD+m4KCyQj2oAlGnCIY8on+rxGp6o14s/9eacarbwafaJji5oPdDYddj9DeLpY1SVxlsumTvarnQ3sUnGCvQ3ifK0UnrHIetTgiQDF3uVlFP9OQfWSBhO7V4bengZI4YnbRQZ9iaRabLJnpPudlefUDbIBRpoxdzfuGl+weKODE9O5qEmccIEXwvG5Tq3HOT+tpTuR3NkdPIewYyje1r9UiWS3QQWqxfemaFWrffZ4eHeWtIalFPPX+IY0Ghc6hekUU6M7JE8D6CC315AXqZTbSsBxAIuU9H5ETcaRpTPwYEGzZquPvevqOVgfBLVMpKAVJdKXdhwG4Da6XBcYwx1WYjfXJ6qyB/j4SmkIBwjmoc4JOQ9lUzU3lvfZsiWq5s/eDkLF5BL/w8Aq+sHAClzpGoqn7L7Esaj+uMCPRyGA+pJ3cL8YZuUbM5DY5KiP9gW/6QZZvLdKSLoryhnpzfXns50BSkGB09A9wW0WF9ypHq1wfb+gsyMArCcQe6FDJft9ODZUO7XFftau8AYa/dlGwX0056sGeHwbDhYY14+ve4l9Mjdmvu5ttpaKYEmgzR6xb+ImtzQBFXaqXNAfwfxzvucwB5ljHuCwxtAVWcKK1omA47SEXJ7vzmmFsuWPgE0Kk+uZq37W5DGwpIG4syuqYByCF5BZO44ayncIRlqJHRus+RovjVf6VgxSgGnb6kGKlkIRqQ6GMERuOPKkj71T7QuydqZriXi0WgzSbqnZSbQjjBlX2V7ntpiB6bG62IiRiq/8ScZQLgCRAwd4C0YMDg9aL34tpeZfOTHf3Um02TtBUaE4GTxQ1VPhJKiiRE8Y6tfsqeVlK1Kdx6D24pTDk+wLPik2NR1K5OjvzHuGQYQt3G0PxkbQxunsBiTtW82NuaDEs/yEEq6KxqFg0AlGcFw4ZNMNgx0pAkv/EYtjbSN9gB8yJWGk4wMXrq/O/CFBkIlBVxRu8RJCEabbWpar63k36c7LQClI5skuN2Y0xOY3UPQc08ncspB7rXW0XVo2SfSULM6mJNv8V9k1OVtsP2kb2hKAekeUdAEPGWeeceCNixk7Zc4scVZjDf/uyrnulyYqOp+ov/Bcj55S3vkL0tS8BDrTyepzr/wRVIOecP0GdNb/PVpC12ATXfrY/rLond4essUCVeB9Ob/2S8W12ZmZ4mdmi5+NSfMuV3DnPGPYXgiyUauMoU5N9hPEdo6bxRULZNyjZ1tggusxqKnLkQ5xLRFnBhT5uUAUB3iRzfaQ5SXq2wx/VMUaGg7R2LxKyH2PjhW2OBF0VYO1F8lGjMI+EZu+u0iy6JKXuoujJgF3GGsYXW7SuGLyDIfB3Azdk5pPICb5BMuFerUzplLEFC1BfqQkBLgCc+i5ft+APbaeErrgalBCn4VjHqDvkHW7fq7wZKzzMCsMbLBMB2m/ERxNlbZhdbQFON6MuZn9uBo7G/cfSRyPXvfGfwTdNOv6jJXO8p8YbfoiZBBcrXr+xco8oo6li7jXPeIAkUK0kwT8+ryJ8KDEM/iLzH9saelB5ia32C7Qul6s2K19xggO4gMDKx81Wpb2Df5hpYglX5QFblFSoW5cKn1yuUao9IvYcWTUlJeLWBrOfH6jNjbJIqJ/j30TGP5n+FLJjQJHOhHMTIEs5bs00KPFzJsgefrEjMST69jpcqekogI1fvwMif1m/30KS/W7Vi8UQERtDKqV4zXYEvDjR/fXY/HR4wcsgW7hYSWdHD/GaeyhOvwjhgPeH6E3fzh6gWgX9n1gt7gWspgu7xYLA7/tCQrma6PuuhD3B9/vfdc0ztrLM2Q+uvGsz1TiFWm2O75+0/WZUHq8UvirUNxqpWyv08eCsdiVJwipRQcsPf/ToqbucSqwNMkxIWD8NYkgiGdR7ew+XQ7VERSrUZ59aheK/Icb3thshNphfS7QpPu/Mrc5GVrBXdJBNCem6IShsTs0JnQiUBE3gdwKwskIBoWL6Zi9+V7vcMJvr62aVa+EdRpPzqYdmC+l7Fc0cx5iS/1/QnDgB+EVI3e9iaAgRJ0AbvgmcNbq9ksNwTA0TlXgHpVftkBfWLKLDKI/WDqmU7+FXAauCcEiqx8GYzpzCKfDXiPffcm9hqkYTTSDCozj/3kltMuQ2xhEwyK3Sypbil++0Vz46N+GGBsFTdkGBIbJxuzdATvnzrQB1Bf6SJCIUy++297casfb3wlOA1VSfumt76+NWZkYTAdtYgM14cmx85ScURb8A6y3HAQ7F4xTBWzOff6m0t/f76M4r1NB3YviWoSdkR0QVIgC/4DBLrt7flX5fWwPwqPfO5naWDkH3XPJvOL7bn5PvomX1YRu7+vy8lspKnsg0Ie17/L0w1hb13tmeXXDNyp2LkEwIubwd8vIT+X1RUbwz3fI6tMo3LMxBBJ/izNDc42i9MjAgVi0ngngHOWemL4peaUZ6AWvQOhYQR+pXfoVO/Y6XxPR+ZX2+t9ZKKX+8E/7h7wP/PaKlh+jN83+4pJ9IlNS+ExbbZ8ezMlsj885qQjFlTNlf7AOG8fMRCPCUI7//IuOjLDLBNGvirrpiGzYi3C7UJA3yyreZULc6t3ondZmtL2rcOuHzbGQdwNN+FsbL74SHGX2fq8RByzduK2L3fTEzpzdMYk+EfPiC3gb4Pb1KM72BZgbfH8wg0jWQu8UXI+CyyG+3PLkEaLfExOzsRGSLjPMfrXl5b+NJnkGdbHafNDg8qlJjVAPVz1slAeSMdv4zWBpmTiZ40D1Qi153/wyvbGmrRRTscwy6udpQ2Erkz9FvCnQfkrlmmQnjR8f/jZNyu2QoxJTRedFMMaIITcp6Efy9moKE09BahJR8EFbWsPBouxYoGpV3hQTiwlzLZIWU61YuuXGrZkF0Jln1xUFCZQSuzlTuroNsDfkrvZvhF04Say8L063CZzmyMD+7aM8/3/X5Q3pvRudVSYQjQXkaz/wfXOerj5FII3UgF8fmPlXN576UxIvi7umi+JWWE2NYRiwfnTu1qj2BhAGo2rQaIrDQJ14NyqiCql/6slw54nH35Dvg+YBlxN2j+kn3B8QGeP1kNuw85r3o7al9rLWLNqkxs/jOQerfyFWUK9odrBLsv7KQQbH1CzBE+R4ZaInHO3U4sriFCXLN6rFcQufI2oMv670K47ZIOYenA3uQwJvvpt5s0b3R3yyd9Sd4/dJrKgUs2oY3d/jT1cjvwRDOseMT1ttRdzXUGZyxly7gISmrV2uH4/SzAhfUh74HKPBNgzxwF6NG31dfYfAFES98njGgZ4bGV7b3uFsCTzWjcoZg3E3sUR8+9PUO7bknxRHXAZOTOKNCSijRVeItLbEgwyeUVkg3zy+mU9jQPX1e8KtFVbw+0BOxQ+54A9Xujie4XA62tuP+9nRnEzMH54fDJzNKYxtvV+v7wn5nUQ9rOrO/U7WREcVuCIp10C3YdDq5N3wl9ysgjLa4i8LqIVVhfryMrnxVWF+QwxvrzQJPW54KwDTEnfSd3zUwKIu+ge4+YB++QEXT4cPmOoRsDIDtH7PDpNJ7FISMXQ4k0UZ/iqtx2/uSbULeUoWotIoD6sIuXWbxIzGzlT2QhvpSmsFd8/nOQrqimnXOCUuUmBVoaNAWUYyxcGJXf1DmkpDQDiJqkawn5JpDeNVwxzz2rL8zLC1NBU1UVWvCKJExtQT//WkcCzsBlbm0odP9uE3rpYNJsWpiVgjtzbFJUAdOuwOzAHccnyrb+4Qc5B0xtJeFS10eIUwuU4ujAuWk9LjbMYhUZ1h2GU/Li91RbQsgTsPyxk1DejnWY+fzRxp45+1c+mXO20/fQ8w4TSZ/vSMXsTXjZ7WOvHJOeeQ+eAy0SsL8LpjuZTxo0G3twuopCvLEiNjtOvNUKTXISa81ynJhRYBvWN20Xc+QBVuhCSkPmTzeda0mmtSF+/VDodRDcoJ0g795N5Qpdu40MBchn/yHgD+hdR2rH2tklxSsrNM9bS7MJspIiAe+DfNnXb4XLoahGv3q8vcmjMbPu38RL78AtxpFb1cP+i3L1TZq1z/KUelW+YKCLtqdiagoYmkWUJwAfJiQzyIVGjnbJ4zR/XlM9vCppGRzi4qbFEuVy5PzmImEpEjXl0jcMLZKwY6b+Zsst9GGcp/InU/ddEdlgApqFsqcpW4Ur7xEDkUEGPJhOCV6vYvoauBOZezU0yT1nIl8yGpo01m1UC+DwoJPp7Cc1L6C3xIsV4xeavJYPVTxGmFG0ZD2SC66IIHYQcEO7iv4zSaCDE8wvONiOZPXsnCIbjOjP26R6OMcnuKjRDSLOjltpi2FphOzRzPvfpiYJfAifs6lo0W/DKH+1/JwEeT/qgTD+Hpf5IG1URAXpeQionrMkous4R4TXMXru1k7S8XmXBicu+Lbkd9NPnOBIafXQhUF6Scfr6i02ahDrT1JUk6o5ue/wItO+5qk4Ha5+MJ0jnPvNuqHo+XwZCXK7TI90NsHQhLA/RgWIHaghPmFCCKW5tbJ5ldIKGg3Y2Cs+K5g8N+/ANTa80jYlfF/hf0Wg/VMaLCDERYc2UeuzvgEsOFxrb/LK01SV2TTyYCfZakauAaz/nyQ2hxWEEJA+gcqJR8EecDRj02lirjcWf93u+TJKtGX7RRm8YGrkYXCVHPfvj6AfuiWytgsEyLVeK3pHzH2lJqvS4/CDHisdiHKUbcVd7lXH51Geun740aGIzUMbhNunD3d1sA2WNx5lbfiDo+k6qsLwKUMTaWsxHM4FGnKfOOiwoYNilUdfDSCPpuX4ZjRCbr1yUMt9gg8n5EhIQLF/POLLz4oTW3aWVuTK+3HBn2peS9SWZIBIWueQWjnSn7JTwE6eZVLg6NREkUaQ9Pew/F2+XF5OeKsyIMCBpJ9gCDZIYVExWAor7h/9uuk9RqyUNneUFtuvxDFp79vkB7GGlEzRJ9uOpvJR8ukVl20DaWeXEJL+J4sdINQfNT+k/ddrbcF3B6cPzZP1htaQ1ozynMgZEoRYjXl+cHddtWBzaaAgvTxAyr+5mJTozLo8MUQ386IlkvHc+CxULe9lNDiStlNp1K5BnIgEXcxJsP3rmFmZIhr67ExSR1Nl3mt2HzARRdQSRUug0yJH1rd1oIXkZuv0uBmI/4Jw9FPbhtEfqnl4y9EiFGdf5p/lMdbTJOsBSUUjzDFl4U/XaIkEvHa3of1Ls5Z2k91D/I6xikyF2gw8FB5V2DKd+XbnUJdfVbqSRWubrLBXUmm55lwg9tEIyZ+Uo0JQl/5f/NvT059i7z0S4fk31Kh8mQEn+7jUQioFk5gf0kSkUXQSKHO5Rq2TB9Ke5rzY6vZX5HOAAUh/lSDN4yk04BHuOdrdE9COpNjoe1FGe6XxQpQ0zPKcFyHaDoDay9TkFPVN5H96Db857WVJzYa+rdaKUjJnsuCb+jpHi8v7mrnWdhj+c/GqHbM9WxJsM9VxUbtVSDwcPoIiJsmUFWyzSg0DqmftjSiROF1it61CAYJWpk4+8qLmpaLW6x13Psua/ZsEfOupWwLuNyGq8JmAP8PMq4nXr7Capvj7SJEe5MVOGAaLClbqkrQxQIr+58HIAE2eDWmyIDvN5xArlQC2Fh5jpxqXLRXtyRehfwBv6aocAA2fe8hMgaxkwj6OU+E5hrt7Ga5CqZOb5EDqOhFjCXsicokK9oz6GraJZqtevBRiwOnNB/Y8j1OvPM7p/INZxKYG/pYPdqs6V5dLXhJWABqyi43fKEy60g7gu8Tx1tjfIn4i9i9e7ljHUI+wXnNFalZuSVFVU3LefBNwTzbazFDXisnOcUDwJJtDS4S/PvnGuEGWcuX8Exy2WO7ThgGhOZyCndbXJFe1ZeBKQxVVMmW5vMm5Y8AGiFa1MiryB0JRH3V44bUQeNi8h2nDcA+A4U5QQGidsCSUwna1kKia/G+US/46Tvsjrm7oe/wzo+Y14j2SPdfERA82evwZ/41wcMP3snEHdizb82DXF3RFeyPed0aIC3wx6o7wU/QSdwANqw6cuBwKakv6WO2h5E99qp+7vYGrys9WEdd14F7NfHU2RYqz1i1wW+wi62wgudyox4ONOOn++iMK1hUT3AtDG8MEf5cGTLrbt1F0v9XCA7oIjt56M1hMX923Y54DQAtyhETg+HXzOzCVdG8Nm5dQ0Vs5soKHJLoV2KZ51+WrbQ7dqWuYQk5zw4EtzNkr8jB6GiLKmlokO4aXPmYQS3uCSRNGf3cP0phEfcqavbVrJI8vAvmwqOiC9aD5p7jXH2U6DJ0Nk7+Y9XOsB4qYFm61E3TvwCKyQjOoqugIb2+yoF3GuIZ7y1unsvPHQrpiq0dFBLfLvW1PXB2ympwDIRi8bSL3MLUivIOLD/GTjqYNLYVt0PYuXhnIioQx/UQy+6rXPFlQ00fkMllyLGvKHXMr6a+XoIFMGAtVxksvaUG1sW4wk9pAzvNgC4+ZUdjrU9rqX/d7WnPdPm0aojF75aTgzLf15SrZO4UFCoMWoZexINBQ2QXCeee8g/JElgmK93nABacstGNJUujodAK9PJ8rN1BIIp84aNyw9slfaLJkFDuOXP/JkSzWpZCg6uofKhNo+KmwfdxNuiBYKa7FvHgG8APxMI/6Is2C6Zv0AbS9MbmccHnBjKsBrWwNgt8l5y771djpADH3XCE33MmJLWTfWGTcA9/3kTRCEYEgFy79PZGPFvIbPxF318qPz9fLucoyMrrT04TKWGzuJo1mahbW4aQDw0l0qa0pqVCKbhRWdFvZcJlrCij2RvJWYB3MuSsODYZEtf50JPqrgwGHp73nYgd0X9iqnnTxVVS2tlE4hfLoKTtNewazdFZPeqZVsM1ouz/Xgn3CqMq+DSWxR1yxJAP7X9bRxHqFnTQN+PSxwPG23sjkQXf7LqhaU2RhVR3p/WoxJniq/wdqbXiI9Ql6Sp7U5sECeWCaTI82v7lJiJY/N8gnOsg2VGfsdnuRlNBVjbHbMB0myGtBskJ8o93QxGgpN9MWrc2LIASOoHcWw+TjgxdWwpKzbBHD6Dcd1kriNrO9Rm9e07Y/RatA3epN4Oap4lRrILH4+kI840gP3dZYRvgKi+yFBXdcsJm73xUqzQ917Q6rOLwBwyHFc/JmUBcpDMiU9GU982KHD8EIxUcHN5vFo5xl6bgGsddUjJ0wvAMvgJbQeDq34R7dD7NOe0VTL5dTXYnzlg4C8J8avAPf2bwRna4RUYcYSX5AXsRhdAS3NbFtqn71fV7xlb0s9gAs7j2ZX5iF4GLGbp9GW/wixOGwuzFWyZ5MyLFuRW7N54YG79ksPOMO8E7zgDs/J8hLPoHFVvUjapNf5NuQwf7TMC97pM2PrIKBozMsp5Pb97Nn6sMIT+wlig+F1eE389zC1tKD+tGUxMEtjCPSqqu7LJs9jkhw0twXRq1zPJIxWzlPiT/A/Sd/Zt2LgLHM9ZXemsr6B51P3dUeL50r1xxGAUDiUZwJsvdbwqr/RhtX/Z+ZmU89atSmEPp/1ZBV48xeGrKAOBpwCqUTC2hVAGcuH6mbNHqFV/9EBnnhmwLwjjWqOONu19MRC7v1K452CmNKMSJUbuZhXU4ewn8H8LfImBpeyQq/dlAUroFEZUPi39C/S8C0WalI0NPigVzMUS9wK5zkKcigz+RYHgNZxfy9M97GkePU70ElkmqpfqOxBxe41LUY6Wl3sUpO4RF508P/FrW22+UM4a0plLpcrN/hzWrcggZDhOCU9YVJcnyYt6h0U9WkAGrqOUssW1Nyf6GI80tBLcLup7dhCaFaaGTX8Xtq5mj+Taj9BgdgBnHvhniCLoLfF8CqnZbFlAGh7b+fTeTuR/IwGKtWKSboFbKclfHsI8e2qmldcwp/mrvwKbZ/Ley1elMWBKe8GnnsCfX5YIXUYNY0HtQxfBZ1e3MsTOTyxeEy5R4dofeSh2Fakbw9RzzC0a84fdN0wHZgihDpD54tHHMwBcam7A6v80n+mQde4Of3on69vrUWee5iJwlkvASy8NeRt9CozcxfMBECUJ0ATEX359A2TybBUX6Gvb2hWZAX3DGQWd0rsH5Co2NoTXCUASIx2UKXB6g1mYtMxQRapUdGvfC/jKxCUca3T/P3U7YhrssGJeha+Nb/KOEtDx/QFsAOTTMOVWAXfkipV3v3yERJpwCY1MqtQ9Bu7TKh9I/90yCxlTbXenJQbp7BCgYlk4TlZU4KcvNR+nxsurLd00b31iF6pHJl8ehPN4o9whdiURU+0OnG3DjQCf0IEAfvTdOAVDTjr8IMNypSYlcw4aphMA46nLpGAwQAsEkBQ0NP0cAna7Q4p2O7cUPqVfl9ZKD/fMoSCHWnhhM3si1BYbjwATwLg42MkCPMXPR6nor6C2BhtocAn2lsOJ0UbOPFrNzkpmTSOaOw/rVcmQW+3t9nXbVv6Gy0N2QUSain+U52mCIgzEe00tRzdCM4ckz4OerowN9qDbj+2NglIz86mnfV860czzx/vEXg1CI+vgTkqOA0sf2jFGANDnZWXxbdSarnum0FfJJwBkF9AHGVxeJ/KfMIfe/LbKMElLIknBwPUNcW1V8DoVxtav6GuEHPb68r1LsI1Xzqa5mW3GgzuasuGkoawDpkfI+SWy8Y5Sz6pdq5IyDQfQ3lt3Fg+TCuLaPvAINKHstQPiPwFV7E7LwJY3AdNeTezeWQpKI/iCuVumWp3eeH/FXebXGKMmNyt1Q3xeT3KVrwfCESTN9PEScHY50sFXYSBmra9hSQ2orKzGveQDnN/jB8r9JjlEtN4QpmXkexGjd5r1PUqa87Yq5ZslNE7SATz6Zj26RtLL9PPEiGRug2phan4rI29I35bvk5sxbSMiHslBcHUBsNPJjnwqOA5Ogql4RDTQKlfY9T+PDPpvqAM3+TEpblkxLtmH1326DgZEFpKZX04VBvXvNAVUKxlydTFdGz8IqPQvoio6tDzm+dxODYuFjFzV4Mg0DvfpnlySHioEd8WPGqftDGOsb4kXZ94d6Yw2gN2OCyQcCNqEfKZcrYGkBwH2dGlPYv3S4iY0qm5duYNjWKes0LvUKaQmFZ1ucbtIXGyd4A/V6sBLiBEU32vOwM8NNHOCEzpmL8p3/RH9ju1zcHNxf5JvqOQtmAr3I9JQmUAkkb9aVni3BI4JRNFD3Gm7aXoZnaIzXdscCV5Eq55xqs3jYENH3tDNrnZgYCx5l81QSxYYiYQrMVJMdj4zl58FfUSL2bZSpAdi0Ax1rMmVtth4+Imtlg7dG1lj0PJfq2X0kiVd3GDs0QXqRTlqR2iteHfYBwv3UoAYeZY2lONzQ9rzcX3PfzhwQzlFr9v6NgCo4D0IfoVCy7ITXwgPHcYFeMVgZX/gnPdVcKcJQsyiKz6cWVzm1BqvSOwkeO3n6PUrp6xBVgBrZIKo5qL6LqnRUVfB/a9YLTTb26QQrMJDkWGOJTZ1iTlN+f3XC7YFK2kcRVMaxKv723mQFea3cQRrXl4nabeUpz3BIFnAyE4q88AHfEQceWVbKmPRSFyhjJCrUJ7Ip+sG3FiyeVggmcpu4VnnEpZXFJZSdK0zqo81KO9n0s1EQIefMFFGyLl7GBbJ75mMzgKSudkhKcHqB4MyBMi/Gk9xXbfjPaUMJZSjub9s6nTQSL2KF3mhAxk4SZFTH3W284IM4oQ2M/9ewXdogQHH8rXRfim3q41vMsXkF+r2X2HIOejqKCvJHZVA39pt50AfTlRQ5H483qLTAditjgpLKVHdyT9hmjE73JWo+bYyNbI8Pk2xG816d6ZaF1JZ3UYbI5H8rmX3uA9Xph292/oGUIeACvUpj5QbDWlGo6RCe384YENqxq314O+sKgqZ1KSogDhx4EgpqDZDna81vK2ZssDTQoJyvGxd9Wvys95sARc7CzzQMH7YX+69bJErKmyhGV4IsgSgzttNjrKruwT9XheGRJe6o/k6tW83IuoIUZgqxMF6GtzrN9g2uES0JkJuZWtB5AK1kIDUwYkjN7Rr0wlAAoOFIIpmoq/RI1GJCFB4Df/hHPledM60CZjz83oYJIafz9EZP8s+Laiq58I8LE+wdG1mvguJ9a3S8IEPZdE2uuMABpJ/qTYwD/04E034Jqi58VqZWE6oheTfrc9mZVhE0YD4DJqfBdOThKeCuNvNccnL9T3KtxI7Nz545NOeYna3jYKiZ2+fgMIboOMMMjlGHXTMv2pYK11oChnKObaUy4TNq2s7fKEYMP04opLHXd0SDU2EUEjqOvdd7Dk2NnA2oJewoJLZg5wz+0jZ8ETE/C6AsccSfZQz1gThradiS82rfaZatxsln1IZEx0EMfQDBBq93c+VKrCtOQLfIkia8I5pN5YBl/jZAV0+dwHhCqaeh0VCh27BmKUrAO2HjEDq5KvEqikRVyl429zv8Ew2h3vqGR20s+ahUbBmw6+P5OpFd7fCQOLZIDGvbPPoahYwXUeRLEB8RFkM3yZT0HI3luPTdrknLt5/tedvtd6hhFZkmqJUcRpGWz6baSdt4Y3DshVeAeMiDsPzJCgA9WNay2loxDVPiRbH/HA0rqUe5F4CovcTsbZj5PlK0+v/A48QT+x+u5OioUrgbKLZasaqFzSade1JYPscUt3g7veR4LPg1fTVfkmHMrz5tYPaatlUxsXSI3mRyc5QqAgGsZN37OBy4CgOr87I53eSWKNA8rHcIW0H5PHc99pgeVnCTdRk5OZuoPKMvyhk8iYxTYfoQqx8SwDPLth8YUNYx5t7kB/0SJerV5grwJ1Ucjjc0BUYyt4OeOAWzdumOqrypU9j7BVp8tBwkCEo2gsPrgRUvyOeIoHEsTSfAyNCsWcc8UU0+EvSAaA2ugBO/GEAtFBgYTIJKSYpPQdfohCG+2Rclk+qW8l9/bJVCX0D88FrOLcajrcvh93INSHYywHlXzXmJvgxnIrPRd9c7hBEpFFcQiXJ3NyNHuwFt3HsCc8MSW4gbVcZDj9NDgsW0u/st6hmoMCtdeONiLUJ4WZUV7YQUUjR4h440MsTVFXlBgC/n9SODxXR68CMkO1ujnPhZz+SVDQ9ZeJVbDV2AkRPjzVg+emnvrKUD4pzjTodweR++hjV0OJNQN7/4dWaoAM1CcyqjqlcZsK3Ex2ULfhQ7Gk1+NTPjwm9++iL9g/0w85XJ6U91R5BoR62VWUiXiQnT3KsL4OX6hFH8cYBZR2SyHt1PZBryt1zUvMGP8QUNjI/G/g0jwE276uPtOjuVZ8S2jQN/SkjCOf9pHIZOE9h2V5ew/l6Xuw0F6hINDeC6YIQSL5eqOZsyzzLHExvu0KBk8q2ppkL+c6nzTNG7KTUXyJblJUxJ28yZB+h2j4J8Gonvj3P1zj2OEcfmyTEgfjtZzWCVwQSQ+QjB/eD1dMoSszeGvsHVwtzX2ucXmtTRcns9UML6xqSNX1KZn4RBXQBkhLZb5rnu/qjzRDLRnKQdcR5Ood2Awz0Be3YrM80Bof8YXBYa+DPFqCBav9ILOS2/od/dH4YY3nBwTXQgmO20VzcBi/1e/XzkaoqNBTQtlHPS3LBDqVu6cGMTW1+K8hkDlNUXAL1yubCysq6BD2tzdzID8+oEXMD95doZ04CRkiNUveeiwaIVl+d2mfSBVznijpJAC99P2DlKt2v0/JvFT95kgb28TaKhDXuLAJ6QThVPoPB0BpGv8wMuJNvrqSvL8xXHWyXvLTcQjI2WOcWRKxay0exdgqVrJaX1ZsMuYnEqe2IK68VinBdQCm7uz4ea68INoxT9nJsNeYU1uBWykPYMw7gCq4kBcHIxTcT5m5SFgWKzo5GI4RkoQePvT32wkZuiolZ9+Zvt/EirCtR1tdfR7tnkGsMSa2E9wtXtxnW4hoV9E0izF7WzegwHkqx95iix+blsKNi1GRbt2xGQ3R7KFCnJs/CVxQQ2/fxtdC6gfQKzb1+wEgDhPXJ7wOnAgH7HLlzzhYSi4FK7gqeN9sgT+njV7ANJLLxGxDW1+GYzkNleEejQBcSa3bqRyL1kfI3I/r73BZyjW0WFMZTg8aafIb2cnlCPeoygKssQJArXRRR7xweR7UIP11PLqHHAz4S0YAC4yrzw0SbYi0nnFoL9pKsIoO24vdSgCtXczq2JEmKKDXCC+hUPyEe2o87h6ncoNIRHcYZ6bMecOR14kYqsjmwU+vPG8/o1KzfqX65EPfxXalOoCIWft4CZT5tiOBcZQnaRPh1jawTAvLhpZR2ihGEYyDv+Ocio9vBMaDMR6egN2w107zwPwFwUpRc+LNJBccmyA8kQ8TrJhug7hYdZmg4uiItSAGa0hpuMDV7EZ0B5JlBaYJkXxjFS20Gt21u0UYg+PyZHCB550/bS+r+b7UUpNEWe64k1ERq+c6KZ7SMbbsYmXSc5y2nWZoW2WlcEoAVjkBMmAw0jZI72zb+MylA3+8TWHfawZ4aT3RWJo4fuPs0JypMakESZomZTIl2j+NprxzliIsoqrZfpXVUtxyW1QAFqpC1ZrMZTagHPC0go/TniKX29ZKmuSUdEcnRm/7jLSdUG04Ie23ZC/aqGgXBQkN9McguJMaB4TU3P5vrbjRwtxA4vxZT3c5WjnRv85RIgBek1CBJU0zhfOwqCE6fzevKPfJ0Plf/v52DzobdecOMBnhwSG5eYajI4LijVqmSg81PrsTiQ4Qar5NIb872ZSu/PrDKd4jiz7XEnlXSaJw3mmpF8dQMY2HSqrwyqR6ygZrUD5/NQe9Nac+wXpIb9bM3Hm1tZZzhc1ls4sXeoCJeOCbcpu16q7NOMwSV/zXtlnzCiq7VmtnLaGu3XYRZ4fEcZH3LTtqA6Rs17B7z5dwmVoMPGz9025ZVjqeMnRiUAzDBoyTsgNKu8sC0r+5XKHh4Snfk0l90N5WoJe4wQO8MpYowG2HtECH5nCUUNVdkYfAehyOi+PgSl+0Pp5GUa8015dYgivTpw55N6SgUTQqZiK7B562IKjJ2lOTIpOilb05INzCqvv4vRCkotLwgBYEYz9KySZzWfEZvyP6P3TxAeA7p3sfJMS7UZVYKEOkYmveQlEup69r/41WBS2E+wbmI6Y+uO8FP5kqyHPpRRIorUIRy9BnQb0tWdf4Y6ZOeDr3O1x8N7iGkAhxXR1oeB/7zl5r5ftzuAz8f+Bfs7BIo1M9RF8/P3yJNStfdSO01F6ZzyjUwLLUDblDXy3vPDLs7BxH80UtToJNX0JODJC7E/qhtiMFORyEjjk9uMqeJVyahGB07n0JWd4ALv1YtezQZinGksfmV+jjVsKjCofVHuX7ypf1MwqjpXDjs3TOKbk0R0QsLOe8bhvZdZut68SI8Mq/x/N4HH0dYqqBRmodvbiWDP4IISnD6FTlrc2g9WVhQsfrEJ/Nef0A41sURRODMTpjT2rrV1f8EeLLNSE/mZ2NCuOYMFj3TMFvZ/xRHDNM5CR38whMVjYUD6o51BFcsoNgfarp/qioTGwmOLrtWVSo/7uNlTi9EzCL+Wqsf75Kt8lopkzjuahzjtvZDnqhxU6S1wIoEYZTV+pi2mnqSplyhRrrWQTWdlNupHJIHQU3215FIAfH48zelDAgRP6aSf3B2Q8esp+bzAa0e/UsiP5j5jhlDz02qmER7FSos6rWEeCw7q1LLOtqyiJvDXmxWUmfL5R+NGpAbMUtsipPdeDMXOjWgc9qSoeU28wWi+0NolsvPiZoAbI8niImCLtHGC+Dia2ccMUPmWQ07Xu0k1Dj/7scovKP92BdXP+JzH/+P5RdWfNCx0gUXZeI5sdt5qlSEwmV08UDlye92Kj7vee2krevZS6QWAb+gD3nmqkGjnJZL+EosW51wtVyDZ+pb2oAONjBnfUDjVIr2bkWl0xIS18Z/YAnf8ij2w/AOPi+erpw8qQSnkmZ+I5RH/3skrm+gJ/3lsYJA+++9sJ0gjy82j2bnv5wPO/SVvPgNBJdOfNd3pzxPV/ju90e5gUz7bEhGqCgufW90Z+W4YOAqIVAcoYxV8IBCarkP9DhUSDL3I0GwA8iE3o8Sctm1l2uG9kxgKByGbCCSObccFzRNQeVWKrgpLKaRAiQ4E+ycAUqGildA4glQcRzNuNVgYphsj8ywRp4LjQn2w4fFRB1RaqQaNKm9iyqSGwFFL+MRKuprzIfE9f7Zx375Crpg8GNewwWxXDJovdhQH5fmROaqttS4V24Si57S8GnHWUPtMfkoA2pN6eQ2wrueMd+d24xpm0lwIOhDV1VHRwDYtWRSl5U0vjAf/1i0DVbr3tK2wE48uBCL6oBan89fy6SkTQ8FLOpF0SCfD0DB98tpdg1nXdzUxf33EZpnZzxlXkl3YeEvYeCsUGYC6XsIw8WOD8Rs8Awd2hwNse/kGgWPDJR7cQeNHxUE88MhUWr3s6FEZO5m5Kdo6toVPLaDRV1FKt88R8QhdkPqQMhxRhza+hb1Y0UL+oGmQg6abT8xMzB0tAnV7SD/UyCNl94q3nWwSjd0Y7hq9o0P91bWjMMg3jIkdJ7KgWV6j+2QM4QhzyHNoNwn9IKNYEogA4BLBW3O7oIlsTOcrTzcpMj8vTLRlx3fVC7fRtM0Z6iQSGxoC5QEeyUtKp5TUH6dyCKSZvVbeQj46qTaxlDGUrtLY369/DJ87NrnZSyVZwdJTfE/NpTrodwWsTdYwp+mdns1YqCiVzo9E/tOl0zmc1/0Bg83KR25e4iXTJGt7yb9Klww/4iFGswsqa/UrbG2P+j1oKgneseWH8c0EpEyirMNRUBfiyivxX1Z7mGt5hIGZaRotIWWUwqQK16p3H3yfQoEBhknAxTsBxqN1QRD2CeSOO1ycgl9DdPQkNfHS7Ub0EKKfYWeXjHdKC0UXuRiH1IyQEm8JaUahoB3Hp/kUQgEIFsOHX1gftlYLi6bulwc6ZsjfM9JJvF3DapVT7OIzKIAqk3qHHPnsw0rBTMiaITKPRsOOcnunnpn6HACQvTDqSGjnEXUJBfuwXoIrr0cOJH2wA8AufnNVjvgD12BrTx7GI3V3TH5hJmU2IFUCWlCKrFfVryJqQ74B7LMN+IZ78RiMul59RqLBqVGQzmeQRY6Kc40l8JSEbzlursn9FbKxTj0vKtyeeo1I94qYWwcODs9SIyHWSF7mMbljHhASLrSM+WS2cSg8nWALvzFg02/ZiJHWQg2+Th3rTkjF7hWho7oWtDkmn6M07LqF5bIv1lD+k3K8mWNy18oZjZReDuRba0TqLpgGIIBE9seiXprNpJn4R+aJ4SdMC4EYetfoNyu48QT4K2nPG8zIRc9nBHKfhocE0bkZhfnoZM2A4mHovGHOutDrCmeU6tnNwzqBOk4EN1yG4Hc5zxAMm4h7jIXn4ZQe2Swql0XBBpE3StRQHDAGVF5eSKySvlFuNX7oH9q0I61AkR883CHJVIWsaqk0jPhoW2nNMv4GDMKngCBWfRklIGcYKuJ4cDgSaLVirukARauU6xdDgrEtgiWGFAtDex/s71vPlqZeMI2ZhXFqOhFPbgN08Ny6XW9ycXPWwjgNdL40P0ZfQbxAsNwzvbfmmYk4VTp1ota7jfS5WRpTxdkjkc09kfmK5JxBGmUQVhSaiIZULq8LSyoocXNro8V7HBX2hHkxKx5EOPTzh9rfWE7tkfIWp76DnVhtlkTNnTFoauSaDgaZ64L/mka4seKuFWEt9mePirUwQEKkO7xm87niBJirM9uF3n6JaXZuzL/S5ghu+9glSTv2dg8LC0EViiWwRss0FrrlGbUiCjdl3geqA2A3D2VDOSK/6EOgi2/8rRk8nrsmLp0bPWrvBe/JBEVrTwdgo4Z2PgIyC13LUKHCs2ZEvV9F0SRPw1RKOnK1Bz9A3Q4vkmGJra7MbxHqZl+HVsZ4NApwC8fwmWowFDzpbYis6dI1NmMxqKMPaRPvJK47tpECYZHHMvJY+BzsV5wvPCWuHJK4xbS0kw6rjLCkJ9u2OaZqCBcZrNBi4vVDhZDp6nfRTvMxqpoQu3dA8ADUK4c3YkJ/pjCfTCZq5hIRcBpd8UycIlQftUygOdYOJV1fh5Rl+CDjoyFbn4VpI/Z6bOzZGaP4kZbZlrrO/JIIDdgRZLyFJcMD0hI2dm+RDZk9R7CiWy/MMXDfpKxw/3UYfdJF2l2Cc1cNUFZbYoBqeUhZNIK5mbP67KNgAKII37ZtOgDE4YH8PgUJKs5t+yBDPDcmhbQ3Msxx4apPlv+bcw8ofin/qCbYJe+BVTbQXJAec3o2z8b3qV3Oy+btpjfhQHMxBR2unPGyAMiXQNqbcqiZRGofWvkxpal5KdZv8P538/6w0few+yIzm9SCiOA1s7rInchDTPCKvPd7aGLCmt5a2a7q6o2BRpvKNBUD2/omNmYcpWQrJ+yEsXAq2xVo5FkPQXoNFWMoyjnsAZvAmHQMoICrKJrCU/Db27Y7uwHhxbK7XiQ87z9T2JIHlALR6P6+IwxYbh+OfULfcH71Tpsf1X8RDcrl4nFl/fYRdQyf/6//KL02VK1YRT2hFmkWV/VJTqENhyHx/EFOvwLotCTRrUzqypKStBNFOO7+4yZZC6FtALKjhWRUUa1Wq0LRwQI+Y9hKHy+g+a6PKNto4MAAt2zNMYdiw0Dg7hwx36AU69Qu4lT0E9ODZobtCs0kTjKNmFrFo9Kk3jSjS2TVCuAzy1Hidvgr701ZNxG5/piuZvoei88xZl8gn/QTtEG1EReKO4UHhpF8RC+YRFpt5OBoQy+dzBqYn7ts6PlxXjWoad7NnyoecsVZgH/DB5/M7QZiw3ZRRArWlFxct5fperf0ML2ZEPsn1ak7KzGora5IuiCCI8xTLfOnD9Tq4u/aopKtH20ylzFRpCAqXgFIaqCLRkCMrQKS+Cnh0ONHown7HT9UHwaL8Ucl0GUA4T90PKuq/3EBWfKyWQSdqfoRUxJEqO6oHipoHnD5uAWGoY6+tFByL1X9sOUaapwn1SD1PjERybTM6ian+oomZzfsemYUqD2tJKJSTDdRd0Jgsi2AabWbtuq4RxNTNTjOjAzhtR9ljdtO6IaRrfE+QHMSzBPcEfmVqQ2X7VnBAdtikks1EI8JuUQun9o+GQ4Y9JSOPWJnyTPLDNEbdYzXFLhg5PxZ2hnGqmcIpOS7peiFH3MHKWbTect4voCGVVV83FfiKBznkIlWjeqY0hGm/HfP2y4HnE221twwg0PCz6ZC/Y8C0nbJrAeS7hd+YVnck4XSdk8eZjT6OPl4Zbo15/xtwSxO7ChIT9fpR1FWp51TZgNxxyjsZzEuKKUqYze+H6Ra2EAPA7YQ1+SuMkV5M0jqGx/Zoxzc2KI9dEIlJc7aTt2sg6fHQnRCROb95/Ik7pVwoFH1X+htfvnwnz9xS8qvJe6uSw4y8dLmEh5FbMjad6e0OIKNKGpP+PNjJaS/9D5fqLB4e4qybREw1Ruy1I49nZLIaZ3pr0VG0xJUcuUSgw4/l4K3qOWSGd6DGGAfeML6Qm2Zox1KZu0OGXGxLZFe1SMqX/qFM+CHe0wnKcYnddQ/OdxccsFqzCTgQU+SGdLbSMexyN2L8HYNjTmAIB3/t3gveFivBjYik/ZaXoHNk0xK6L0gMAJudtr3rCp7X1EXxkh7qBdsjXlzMnXTpdNEI4qq88bwc0+x4fW52u9dN0fFC4TYiKwpGC8O/fp0mpbcYj6zwUFLYnFB2ckY4NWqYvnQDjMaxBdztWfdm5mVFiP9aqLUD74Sqxfy8HuCYOkh6OGEGn36I2PIFNa/hlCTo7LVfJgskIcdb3seMN7SZjNCO6/IeDAjLVWJtLHdTL7uvEKunhMlfhbkaLMVYofyXPt3eSdpal5hxRQshRlZuuEkepgMkLBU4vG+t2Wm/YUBN0xkDoayKQxdUntuZwt9vykjadQV8aCuNsWCFZuETHsYKy9ixZUxvMXHwqT0noJrN6XezSvFKeF3gKjpf9Za3toMYIxtnhSd+msWsA3UGwGJW9+pxdlxlRuuVbp1p39rb+/bz+QPo29UwvkrvQsjsSLlbBTCm/VcOXWsGtrG1yOi8kXaTJYcnAM3aN6712rBl9Mz+49dNmqUS8F1LarLMbN6aiwKIPsLwp9H/JTLy9a6CmcoS5JB6zdd+2gP4BmmFOigdBVHgBh058GG0axJNYk7kMg+4mBMzmF53Ev/kLC3ByqvTQ6rLlTrq85pOMjb1pYawsn+KdUhpb4klTk1VBfCPc9yb3TFMUf0FxIfNXY0Pj7G98VOAsZW1FeOum4IEuuCqgLarniA9MT17wBmZS27lIVYSKspifUFLvGqNNYmMKr8oTy7YpUAnwi94Ek2LSrVg/IyqNT6+7YoxGuCvOHOkE1v6oREcnL8XhNoEKAa5HT6WaadAHWCfk475I+6LTzls32aSd65ddQlTDD9r6BIAduPV9u4yLQ/KHukdo880PIeeeNJYsnF5pgnDuSL+XbPKoD1UOG7GaMu82934ECv6a0+Wt/I3u24dZp+SqTrxdfDuQ1tgEw+xAk5eP27DQlwgjOfvdUNzmVVq/JU/aDn+Zh8qzMibjOJpDCItroOMdNqvTJywGfC+gih8Buyg2vr0a+XbzohzU1h6uUL2QTcxuqgxPWyhrjk4jtKzNWEY0LUglxULnO/Z70TKFoljXlGLfp9YOT8kVTXARI2xp1hzkPFtrz8wm07nS1Xt4ZehW72YRhZnW0Mbbm9U/eP0TM+ocMyQzdfhwCg0RU+mXQ5AvVciPfXnu4gfHVY1DrdwWnFu9fi5QZsYIqjKRGhMOHMZ6BRpXusaGs65JK6TBj0dhfahGOJtthtKOBnIhitjWRK/LUuMdHxBKK6vr7jvEfgYi78vCjH6AmozYfDQ3pB2to0KPq7yzPBVOUriGB15YXybHK7vANtQ7JtUenyO+3B3LaHjx1PI30gx0uqU8Gf6leV9/EssAGOSOowPVfZcJxKMCMWPLuKc0ZGJ6gc4KyhmHAs57607jyfMXFYc7q9EXZi0rw4kU+/9e7cn5uIfjPgLr3x8ivu5fovcd4KnWml0A18SZ8utWRMr0qmpi3YLivyM2+6gP62ypV73GazkNxb5oJd9+18o2ohT8fzz6OL7lJXq6vUkhIPuTAhOy2wZx/Cszq10v7GhXlUS64IywVj8zlY2GOzrkTlUzUUZaiLKmfOG03UAVOrxiwmLTzIa6LjWA0Fo0LcOwZu9A/7jG03QdzeB5WRTZYQmkWXhiy9x5kXGGSFXmXXKDmBcAewGa9hhx1tu1tDBNUsoVQ1L2susGcw94atSlUdgCxbKAG/lOp90YEqUhpbqvA7pOjDvCX6FBO0hQweuTLbCFbPEBCr/Wmw9tdACxKZgubGsn5s1EQLpomtEuMbpLgYVHvilPRamHZbFGQiHpM8V+lxTjFr8YIWdqgDSAGoDeAbDC6xWVqUmc2lydWDvKqfS5jP5Vk3mQLshg6K/+LXED9iPnIs28m4/JYWtECaZuMTR/pnQ1fxmf/kKrnTrbr7TbnEcFbhsRSdMq3lHSivVzD8mjHf64hk575N4f+pSrh3tVbba507sOi+qK8BBkfdLMqh05oyFhOSV04og8OfsjEZaIVxElTSSZL25cef2Q6Sizy2ufcRb4B9NP2c6iD9MoqOzEftfq1fJ238S9YONGDWGVH5YCSadqxAGZYJT70fl+JJPJPYKIOVTslUir/cyZXjpslXZNF9XwXHYAVarLo1WGXHFZvBrdYTAV3qDXoT42FH8rE527HjHBKUgHE3HOi7AMCF8VeHrWt9wC8Vdf05eQBUVrgL3A3zeQnH9p3JQZdsmOw/JdWw8ClRH1zecrox6qunwSEAfU2Ucpamwz2cXcN1qMUYdCp9FQfM4nI3qQbotMsm5YVWxR9u2gJi38LYFrHcXLup3StN0H5lSaEpLdeIaqpFkAy33p3QKruDYe127gIfdleKGgN0dW6NOdB1j9tIsmh7bCPmMBXtu842XBawz7YM5/JGLWrqGampUlKMoeCthPBg2ju+AB9FVqQ3w0yTNET27fEvX1TF6kIaHiQUMYzt+C1GZqGI+hikizH6QRD6UaFXZF4PYMOEtFUtcfo33psALzRo+fZ5VddgdVv7VxcCohIx/KRVrwfH1I2C5+ZECEMzoaSxbsL+j/eRfC9NgbkE4chUvqMuyFzgmJcfHbBVcIWtjwJfcJm4YrScqT95+A4b2y4MODAZMGig3J7qt0O7LN8vCFW6/Dywr2C4afC9DCc3WASRiAyBIuEpycU3ip08wB4JYl28JR/8G/pppFt3UP+dCbrmn/F8oArJw9v0ZKbkbv+uJhkRQMLOZ2hdW3S+No0IgPLYQ37u73S0XfOfmGp7n3BQ2HA51h8vQ5FfNraG7ctLRNjffrfyWDf28Fv1UdKxH3ovxPGXJEBjgPOB84G/X1gVvO5LbRLw4jGmSezqdtUs4T8W07ig3fjr2NB2nNzBTO5c0M8udBkl7fQoA8VFxgXqQm3aAs4/OQ2pmnavUbnPGMVb/ZjbYLAIlYmH961sgFum+87cb+CTGlCvXpa+Ngi9hfLvhdT41D8U5XD9A0HsGVVINd68rsc7vcIJgmNolDsQs68sMnNWHr7T9RzMLv7kvraJPUvE+C2WJ5Z86CuWb+E1bjgpYoYgCDrhnY0n9kteMujQcHDRe5/lJULo+2f/bq6Bzm2NgD5Es0YGDxaDiawHQU6+PTSV2uPUOoR5idtNhQ4oW+x0gG2rp9pqzrENjOplxfvFjPbgvdD3MXxMxxo0CwiSNx410fi5pCKfyFaaOxzJrJ5UdSQZ7MEPrpdlGikuKTwY51biqkr9g85R8Q0VB1RsTQTE9juu6IWABZAAnFXJ0dyv8B78V106hF28XwPgtbuES0T4jbpvMNwN1TPG8OzyIMjO9z0OuyQnq4MpUigAeY7lLKHAETHZttEvR1Gbquw8Q10j52Eh5Qmfa0GTLjIsTeA12HPAq2P8do57YaGF9DS3wBZy1KGOpjhQMX15YI+AJVgPK4N1ST1XRvOnh9sohnKWyZdQXVrSOljLC2d2V5cAXS3l2npBf3mIrN3Wt5au959lR3haKPz2+nrpAjguTjFjn647eLKVoG5F1pR7XnkNOCh8+YTKVInO7q4bCCAT+osPVWnFLcI0tctxMW50nfH23rAGGyTHABIcZkzsGfhb99+k1Yemt2GdPYpwiGZRgHqu7bRoODexiYOObacCjVEvmP5RY+Wbj23i7X2aZL4IN6+cIHCCcub1ekVE/fqhjQz++KB8GJpGwCiqZ2skdok8l1Is3lKzncu7vbywv/VTOkqvZ5h69nJ/ra+FLSV6DBMGr0egO60MR/59QvSAEOpmw5ioOnhHRu76HFkor0qTFxxkUc86ofdpZxTUkOQhYxg+luMKuboi4rJRihoJpxg7uVJK4lnxs50GaX2WCGuDJDfgjJqzwysZMWhAlHJuPAeHZiwB2pmoP/gfoCzgoH0z0ClzcWYWGEAtB/AS6yu9veGt6LvDIWagBwBbynh46pkGnKM4v34XSc2Lc/SgZ9LZIA5qQ4YPa763Son2ZrmSuF0u9DkGpMm+v/Ev9v6jt6BjOc/yLbpgrQXDGzneUGamgeRZIEffri0l7Y+49t1usnqnyX30kVDMIXeoNuPGGp6e82pSFeTJY+7/QYMPD3YYdC/dfyRPhT8BscU85L3LzGIAMUaXYvF0gz9y3LNCWCvBQ4+Tc6qHJZW3CRXfyjVV4WvNsYdMN3Cvk0J9ypCdsgQQqVGb4nrh6vJgraWeXba4ctj7BWMPGAskWe7kg6SDKBFt6mEe+2+kQV9aug6kvoT32np2nn/6NVy+jilYM7Rnlg4LOzZS+MGG+w5plTTrcWYJ1VNisdxXIYJ/RKuEXJNwP3a5nZqlE//nKnDm3uDDViBo8SRp6v4iPyjCQZkJ0VR226cKS8OuPcTu1qXpA8TB9rU6lUiw+Xv52NHvPo78rg/T33yOoXDhSFExI3ruU6oCZIFNkQSGzgAqWq355sxwSPBMVQpjQVtKxgBvu7P1cpj1AAK5KnMBx0kRm+qh3DOGq31eDTBVv4C4K/2SfGH2ci2mJ9wtUbfI97UCn+fWuG32+B2CY2AkKV8IM9QMxW34FvaqlFLTelfXo6cQk88EnrxGNURmD2eMNB3YFkYPY45LRu0ZSPaNeDbceQYm0jMzP7E2Ey0WdfUo6BKVwADdOpyd7nHNNBCrYOxlALXOGVdkaxM1qQFkZJGIDhgJC5AioncySBRqGZNMXrxHK+K282OI+IFDrj1GcZvWGWbuGydljY+LribEXUfQu1YDvlsBezklgqKhP3m2j4lQ+7T4Yy5/poYjhUNs3X8GUAzoMTKITrUT8Tx3UoTfGiPYNrM1SYV5CxzF0gdiHpL6Smb47joDkAKKn610PWNSzNBfBmdcPk/cNiwMni4LRVIkNmoNdYteEpwVl0FA2SimxqSLR+VtMwWSAFJ1DpHL7xtvNmmsNJ+Yc/0BdLF77guGnm0qXcFZ05l9Jf4uaAVJa9lE41FyQ5IUnhTmSYKMWpDUpcjRjsdOoCZBisjMVAKHGFNm4zBm4mdti+4OWNqpmcp96h28T1Pxs0o+N+dTiSXllzctc2M/BeEaF5esSeXZxKROK6e6DZBEHajozbMyXqkZ4chooqUPA+cDyWO2W0D48+qy7nZz4jN7vc1sKaXSKvAiFZq4FBI2uWACXxYdVijHchDTe1llsxUcpVaDm3tSEisGK7bQJg7QgOnMnHDj25TDMba/ISNbUQvS5Lh4NELUXJzrE9upfNCwhKYKP3KDbj7356JNvD2Wm5Rbk0b/K4jESMf2T1+GC0EwVUBvk7JfBBwlNN+AA0jrahcYSYbbaaX3UqzPy3Oynt3s2iNZ20WaEgKxdfLlBH5wEHcry/cnLNciC4Oe1ZfFCl3HpUoSRfy/mPMswuhIZ6q0T7AxDorp0tG6Rgpoyljl3KgudJ8fIV3lGLFyMIfRSbooy/1jNFI8kOBDoVoEf4BIQVg3tPjUsHX8n9KOxsbHGSY/1bOgb2RHxcrYh0J4REBjjl2Sm8BtZKF8+yklbFJeX1AED2PPBdiAD9dFaODH9pdNSl0hDDFwR+wImzdjUGufdNiL8bM2M7QGjh7rTDDC7LBO1S9gu4tqvhMBDMlmCSpdFaIvYM0HjU8Dg1igJFBBG3NZcY++ZqHNCltqPUKNLYeWy+kacQOlq7dQ9x6XgzPXNB10gZFXd8i+icyi5NEoq9JVo9c4yGjWNolS9Av1pjdCsNcDo+BJOz1uXubU5nkT38faDFWqL1/MMPZJNgKNqbNLfwSmBPLdAOLHzhZ2TfRZWTC9hkggDcyw+1cs/DFv58uEBY2rLI9NBLpyLsOoAfxNG8wRVP7uI+QpHg9C2JoaHVPyMIJBGaFP1sKgONKJ99cMpGbpRkeitChgEkdh4r6jAixm7hZ5O5yzEmjYSt5ZYqSHsW17eSvS9NJyAcWBf72EKdNparNsRmJAFi26y3gduGaimF/YngOYmcDVZR4sNaM19/8FufD0/qazt6BdBXvgYxv1dTFohDisYCDdwJlYzAzw0WFzmlO67SGEvt4cwmzTJBvuyFYP5htvo6hniXAAQ6Z63ijpFdtHl9WrYvFwUnQqk8Wik/u694fUfY4a2VMtY7ev7CDxC7zfYJRMvKCInmAPzmRvfaYfbEka4ZrfY7A3NhIGfS/QIc5ZbikJ9Vy8dLQmpK8mSQvj6Z7grs1AGT5Iawlb1MnmWvVDN4zThSB65lwmOhsfcNDDkcJcObLv2IAteixdipKCJBdyCB8uXu1KamA2RcZ3CyY9R3m/IpZPRc/p4z+ZP+ZnkQcgvLkNCnWex1WqioT+KdaBVFv6vbRl/GEzu7MHX6MDCrV4gvrolqOGCFviaSMLRUPgQ2cgYPSJK+q8xRhmzWXiSg/QQsrSPHGHdz+lj+7c+fPDDo6/nLtQcMBIstbSF222dyZAsegMsAWz0ZfxCLNPTkoKlth2pMOsmohmJ8tlKeJ0KLemyNMBFHgCT+ixdZKyGOQERcbagb71op83sXIXKAm0rjLVJbjZu2KqOo8tC30Zf3WrebIznRnQIaCs8sxHR/bYEVH7cYIXhYqQl/n1sI0Hk2hfIn1lw7Dy5KT9S1Brqy2ayFnQPwIbkmbE3G901JvrgH4jOpipJas/jghuifkc2fcz1FoaGeU1LGy4kvM0KzNZrkQQj77rwwfPD1cHkAha/Gbi6zGq0r/8shkpysdg5BwILpDQO9QOwWWknG9Q7a1/XKbeiiMwqDPQnHbdZS0/jH3xOH8sYRXfhnTNwr2YeQd7hEAC6mAFvuir4DIiYWzzau7HOXPloFXdAiz3Wf4tjr1F2NjfeHHPd2VbIcF7LLi9YtSevZyyzXzwJW9BmrAd5pKVlPo28XR/8Ra+59L+CxlugsRBVhDd4vprVrqOxuKtVOrj6/dmJ44f8iFQ+QOAZK4HpqJyd+dblO7nKW18j7qqdmajbyRUu86kUJ6w33KUoiQIIVdrPBD0bGjjVdpwwyDXHTjAAa6XeJaf8pAWbWL9JVX/KlaMZo5VsisSU0x3XaNu0SAp4bTDoa5TpjAc0slM1lceISB2POKTOxlfBx9z+CV4IdlsObPcJH/rYoNvI+OeEA/A/xJzK1+BweNB4lfuz/19VIphSTZC6JqLCBxuJTKxrslw+tu4ZHMC3ur3KG3jzz9uHHJ4v/6NZzlF94ZGN9GfGPIt2rcW59Nkr7exUOvqEshLypKOvRaFBvmK2Snqm8q8IgnkbU9jQa2ex01njpqPtN19H2kn8ytyPTW1sLHmCZRzh5I87ewgmYRXG8ZI2uk34+ZPM8mZab8O1IJYgsObJrkc2uriG1MwmcuaJfYxnMouAqvDCcE4lk+gb3XDNGYn5COjC0M2r/WWYCKZmnuVDDCt0ZqXPOzv+4l9p1hJpeQhKzqHbOohmAidQh+Ra/beKWh79sYoJPDXwVXD/6dQGbNPHi/f4D8T9MNBdgtWDJnmqfnvANBa16Iofd1D2DeUC0eTYeIkQSwV4UeRnydP0ra5/4Np2OGStbDeBvoxcyb6UQtUyumeae2vQN2P269TaOyGFYZZp9y6VFJpzvH+jnLpnKMjwr+pW4QmC7PhS5ms81EqH73kXz2X1jz6tIaZlKg7WNeJ/PMRQzbvClkuT7bkpFej7bbl6l5ZhsfgmAB0Pb85MFMNu8M9jjf+7Oxmia29OlUhCFCYZbgmtlL4JP5R+tQgQR0ePRzO/OZJHaMxNZ1B/NvVZMz78YR/bZHrtAVKT6sXch3HGBfss6HAnRhoB19ysLRK7uza23j+oeXYrP1fIkq9SUh++Be8eymCTrOGGGYSpg2eaL5U5u+w7axr2zEBiCIRpHPJHLzvBkAVsZ97PFhifdY4z5B6TqkhDuvghsGlsYLLY2todX3auF0ik0f/DoNrqc9mLHrKI2DMRzmelMIL7zckA+43ShUaCFQnLACx/afmBpHr59ycQDwycPhS0u0tjlDhvl5jDlBsB3BJNa8O9QzRiYkWCQgv5rKPyJxi7LpYUGETSpcp/QhixZFmoHAuSsFKAugr/ATHrM8LELg58yBNbDFBwdeNI6ZZAv1N769qdptl+Y6eFBL5LSMXSHdamdKXQqsPtq3jTEXkUqyluZpG2QtPOg6VmvpDdBiOzUPEwfZGAT1wmPkKVzBxMpWuGC6bC3wSPNEAAtiz1qnF2wMCougT4PHmeR3p/WGopZNopk3esngzk94YDkL1r06Dly1VxvAEwHy4p/37IItZlg6vdILHWiSYBG/Wo2vEIs4Mjfmq6Gz9wKnovyVtUsqEGI0d1GJRuiVF9cTj5w6rJTXls9X5gsSTlcN2OWakIaxIE9rt2nLLD+wFw51X9sr+0N3SI+0JlEtikqAjYdMvK+1Zft5dpqygTBhSN6MoCfN3EKZ79HgA30BVsXt/zUNL5GwsjnI9XufyeYLZuWKiA8xdSSMdCgbhKfrMsijFvO+VF4l//wT/nfrY3W9Ts9Rp0awv+Zkb0aTey6ylz3Jj8dhTgCAf4elvulN6ySpBvD6j1M9gICP1/1aZMipv/rjHGvCF56ji9pmPUjjHmR9U9k0vRMi4EfcMPnIBxT/a8TkxvvQ14+L6pc7noEimnJO04qvMuN3BsOPX/80ca4Z1Gqd/16XqNffK/wbv8SR6wqVskVTIoie3BHlwHNkORlZwCBQ+dBbFSzk2afhTgU0GFupW3X2b9yDJvBOQg1+UYmQGRKxlz3KByVrJeXzTzL8IY0HLr4dPaX8OwYy1QkqD0WMX8hoH9v+1Aj1jxNcT9cWxYoj9+ptcegU9/jt/jOEjHbtvfJu5Y6IEv1Jqoqp25+f8gyzMMGVbn+suQtclqYJ4yITmcKGWoi8Celwhn/58lHLYds8MGiDtCcZ55tjYklpPOibqHcGdRqjzVNKcarYAL+HH0xpdRwxCFrbu6BBZOhdVIgTFIw62GPyj+gac5+c8tmjdPsx+TL/eMdcmsNPMOoHhPyrFHZYp0RKhutvEgWrUHFVPQj+iaE/v+PJTP7qu0NhsvbF1YUPWPYN0kWKSFP1GT3W6j76loKBalAjCrhj4pr5ejSLFtly/4EspPFSdvDPrpWWspLiZpJYvcRN2IiAqhPJn3PfoPx/z7UgbMB3pVgK5LOCdgcI6D6NHg+6OIAYCXS4KVrhoBCkl4na00ie7iJxZYvpRKXJFVbTHnXxN7QtW9wKew2Ja0RzuMm2bGCQRi+fswXRgh6q8D1Q+6BaKt33/qa2hZEg6yXMwVVUYPFetsGrQW6JWJujMkLZX/BpxUYS59qJw9zvuS1Tu78PkahHzybYVAISsgwBpN+pblM45cnM8DW3mINBuUGFb7/3qQ4vzRfc/Ys5RJ4g8lZ8Hjsb8a2RlbyHreDSNK1eMk6NTfWFuXwVb4S+7CAjK6DzeTcv3e/8z51Jk+pFxjAoluOUfuxHn0EVPjc1Kwns8oDBRceuONYAI4EBxv3ARWMlc9ocTeNYFdHvFn57akJ+s5syyiWsNqwSKIqhW9VRxR//zjaQEi7hBC+xr3XuiB2HvhfTaBCVcfAQx42XhX9lbXB/tPdi8Ef2r9w6YLes2BysFgBp09nt4kFooOnwSjP+MG/j5T6wzQtplEjndI0mLiFVw+bKfbEPOGkcKwwL8b51qN7B3SoUrQeOMofYktBBdMVHGY+C7VLEQAXPMyOo5tpvgip81IUdJr9+pFJDl7nJJTA6rebAUUibuDsAwGlMyNnefFPCJVWOTqDnerh8ltiFDPeNJIVvE2r9Ip3I3d6gKCwlzmSCbfozPVNj+z25dhN4rPzvPBNdOQlyuJwboGHG50iKTnvNJEbNltSrWBLbct2sxoflu0cKdsCcWpHlm+Yt6gppxxwwnYNsxfBG9KP1HGnyuEhV71jXCEasidkweAkeSVIw/Wvzj9IF6TXbd5/S7C2xJW/52Be+3Hh/gSyALTM5+pJ9fNH0joIJndSVHfAvTorgVUTHyb7AQY2l+jWv8fStXfcEaMyXvi9nwaFFOBYpenSuzfUIG9ohju7XPc2m5GnLWokSYZOuuY/If14Mb/SH/Wu0ZwDc5plPDx5xtUJcGRBLewWcK0c4g0M5PXqiqtf0HUTdgfSs5wyFuV432/sq3K8GbVyN49lnY34FOm88Efs9QHX26nRe08RLhEwf+yjkPDdWmRS8OFZK3NQudWC7f+FxDZYqh89h/yV8w2IQ3DzEw64q4ybFf1gevxEnuTUQxCoWuXlv//ulaUFF0EPVtrTTtQM1K7Bk4o7svrXlaF+q9D4WQKdaKLi0Rr9eAZb6c2dOiTkqfh37Yv0kOne8hAKwd9go9hoO7GxYygzTV0T92NKmOWmhSAclo0LOyz9vZO8OanVwXojb92okDMx7HINS0oYs4amuTzr5rzYZt4Ap9wF3HMXT/OAOBnOZgLgppX+NC137lurh0GatuSBR3s8148chDI3SHwVfetaNDkUttDA26US4V/zvI03gXQ6rOn9HEszxpsLM05EdW8ici4ubDjgwv0K5zyUn4FtN4LqQ1FYxC050VgktPA+WR7YjK6cq6C+PAOeqKDDY7ExwWB7FcpMPX29QB0cpkMdXTYUbio8HGXOfskHWU9EHGz2lemRmmswanFL5knfKRV+6lQPSesIpIA3KdGgrPDPk+Qsjq1yXgtBby0/iJRlF8Hh/pl0ms+yOeqfysyo0KVpGENsK4gUOKc6gQ3GuR+EcF/YkkbLK/Ehg0sNJEFbcEomsvuyoS5MTv4QVJh45TxHgSBJeZWK9/UlY9AEnwm4tKGsN5XMa/le9/IFma+UK+NwuFcPawjLYxddo0BfGey3DlOIQH/irBHekaC/HufFCBOUMvDLu89wlK61sd8O13udYKOUO5jrm7+Wvjy5BUeDjRRc/1ZUIaVNV/6Ie+UdCI9IpR5sx3QPjAfqaRXt8l427uodwS7q7KydMIyHfHgxA1EBLZnZ1v+X7Q+rx+iibdIUGW8EAacTkh7Fm5Kn1o6HRmhLnIQz6HQhwNiN5PMdR7zavjLwM4Zqr6s5YqO931fx3grOHt7uxw2FNSs75H3VYLTWtg5ft9RFAZig+2YB1A+sxn2I2LdG/qzP4BaqQ1GBlz1PPxUmJ3witbTjEUCUQyOHpjM1B4sKzaYEZFyFNANIrVqCgiTT8xp9shnPYWRorZxarDAKgkM+k+iX6V2Lw/BCDrdfNsJWIBQk0M2eAcfeJbSqswqQoIpcFy4l0dagQa/Lr3NOIPMtI9Ur7xP0xnbOb8Q0MCusZx3sftbqRnHG2HXXhl8QGbEzDjDPN7ox5dXVuIpCncTDByXYUVYuNqu13Zu37bO04rRlI8tOEOPQMlrZEsPSW1P248yCWGkWaHk7sKEVKVgHV/6LFkfzcH0TPQ3gF6hfjmQWwHitkmqHHy2z2iuLYnD8V0GjoyIkbIijYf1M//lIEs8lLN5JOWdp9ddgn6kzBhqXbOnvb/zA1NBSM6aWeZPX+jK6nqELOJV9G733a8EFi0cUj8lpJM5DP4QOaPbwOwQW0wMouwLLmPeNBgrBBNLG5XJnvmT7D4+39UeJPu7p0WtBqXn81CqhgTTD1fi0W3UQvcRj/A8zn/RlWFzLsd1q+2F5hJ4/cqgXP3UUmsOzR/WOpzzjgmAEVEx/bXMsJHBSUF/qO+1oYHdznWh4L+3b+VbUPMijL9+VQ9qQhD+zX+KvpSGOYp3n56DFjfUEq0j/Uw8DPxbXLme27LVUntFUfrZbfEjPDgtH5LmPkmPDMdN7NU6u7brA0WI3PXlvXHe5ZfDrLqrBpVhOqns/jC+wKormWO0zltqgIggmHIlPXY/lRLXMFdtEZ2ukf2wdJX+6RkfPwCNdl9IGCXMsJI28v6HGqaOui5HkoaC3IaEh919s4586P5Xfwduh1t+IOgqFD3ImYzI3Db2ZLFvNxhO3G/ouOpMKwsLsbz/O6DFF04eW8tH5Uq69OLnsoHR/wW9iT2PC/qrzHQp3hF4jDqsozhL16y68/ktDQDk6hxNAnFpczAsU43LG6AIScVvh8r6JRuCwVyzvvPCn0Fusvc0Na11fCd8U+2smPA9errS3uGlB9MXwFfcKE7AmFYiZoe9oOfKbCPu2v9HOtEg3T0yOejkH9eTOLwPV9cFLGAKPMqq58+MZ8NwpXH21DPVVYB6QA4uXFLlNgcC+iAos01t27jRBGbrLSqo+zxj4qtwAjkQXw7161fdFuc2yxGFMFkyhftPYTyad9E00vnv0zQQRNOHkI4+IX4/JeApoR40wha4eFVkP39TEL5T4ULSWCBfplMn6b8gvsHu44oLcJSZaf5wJ52sMZS7IAiw/MaWVWJzl4HS+TfHXeXqNVtjyJKwPRsxSEb2TzAFYXMNkCwy2QHt7WOzT1TF6J8Iu7Eu5iWY2HtQefn3kmtFaRisusQG0U+qf+EHvJagYRh7LgMwCH+8rLmalxEZ056BKWICC687q/toMEtF5Lc3F+0FHilJByqnUvEvN7WGJ551jPpQdXnNpwPmlBR0ikkjbHBIVI4Z0UG2ikML5LeO94NefOgG0bAo0OPfrjWeKjTM1pUgteTWOov8GC0AXM315mBolMstv8a36EuKXnlafJFOaaOBlSO/fK/xakwIT3OOANZ4akBX+CqcY/TWY4gWMYV0+urzPkELTSGvQsd7CXI0lbminb8HrbuL3PFcSbuEcd7MLJUpuPlI5Y5suNss2K0oK5SdJItSzrK35y5wx5wYzOhJshdR5d4O4c6LwqkD6W6vsJ+sv3QPst2/////iN5QpbuxuCZ+d2WFEsloYviKHtcvR2dhd4T70HL0x1AhpPHyzs8u8kLnWGMBsOgtIzBJFSbEv/6TLzx5/smSyMRMYTI0LYbhuO03W+TKcbgm+O9wq/TBkZ0M16N8bLwQLOLb3DqDyEqArS6BZDRTfLC38p75SWqtFEIw71IskhMlliNvmWQLRf1wU1sdrGcRNXaaWP6AuqhTFUsBFhlSKNEbBcs24bH17r2uId7lSjuH66aUmwNKd42O/7LZsDZ6cU1IjmWXbuL2DwQZ0YJPsjBj0R/UrJqsgWs3GQCufSJx4fCZ2l+h5X4pY3xOTo+peEJmOFy2rdCrbl6Lc92J86ZJhC5eyDVzVyJmVBtL9DAIkIBuzG429gBgXRSY1wh2ggESsqOYdJaJE4QI7uIiDnjwtHcqi+BHvfehF47teO3jqYfgcm1EnvhiPrl1zvlEH63TDO/Y1IzDq9ZNN1M9MJgvXUz7w1GVGaEV1Duam1u1kLSl01qbOTpnAw/aJ1TYmeS2v/2wedJShAJgY4Ew6hl8+P9Son3JP92H5/8fNHm6naXJlmu1PVrMdACnOcADPSeItfeDffY5kDs+J/TqWxj/4a2EqgJamGx9JC2r+5zO3kMTReQ3Q2Lbzgm82arxm0uCf/hT6rxYFER4+hv4+No4BWBqudTNwvvp8O0hSM/J1Phmwf/RXh6mz1SpVvMa/zbzIVlcHjIXyvYkGChod46wsxeL9l5YJ1xws5/ih1RrYB0iq7C5JxVy+z7hdtzT7R5gqW+DWDdqPb7i05cmzym05SAWM19MgrbQaUbcZoLy2O/QmcGNLAWs0D6LfWNqBupcUhZL7kvrkIL4bsVMYdldn1VXnvrkTdJGrUR7XSKTWXn1ruA29YgdI5wvV79W6aYhhAXxHul66wXYW1sUzMAHRRaR1oe7BPdGcpaVzxSF+G72ihkJKz4e/NT95KL/a1BDckF12vTrp4Em5l0DIvP5JAnThjKtxky+XMgdBkVB7wQH94GG09tsUUXcR1yDX0MzSsuobfjnGP9/gmH+/rcLkdC0hwC+9WLsObgoRbqm1+q8FzqUISZb9532f75im6ufQzOzPPBNPANe8Bl7XdCSjOk3TX+aQuGBCMzntKfDdGEs2puRppp7PqqoF33K0VRaHfadG/CyoZMulmqo/prNzBmaDx4szTOuUyWLzH6dhDr1USia9S+03mbLeW4Xpc/Q99G+v0xd2W/sV1XML0PDW0PRi126Jxe+Mm9/uFgF/JxhdOlrjUZ+zwbi6RQoxMcGpgrWNCRdr9sCANWuZsAHKpKIkCJx+SYzeDX4cRlV4/JqtIahzpGji0bciNkO/1PtyMkUsCFI+42jBfmNEGz3lDWo3R8UABcb3CESnj5I7xRC2uWpAgYvz56+1EN7ebME4DNVyRCMwv76cNJA5S/IJyEzbfdNc96kY7L6ArEednfHyBw3cy4Y5usl4DcC7AkKVqGp2IURzUuWADNZLXuSmbkbO1EiwLkDROsyjFt5K4SyRkTW0rfWyYNFlca6VAqX/EK3MRoP8DJp13PAT4D3on8TNbxfm0WzGwswLb2hSiGKX7jXOaIuDjmOV7VfAriKUj/FFP02Sxmpye+gLgij2JTDu2EmhDHAtRll9dLwF2w2BxSIfkSCpg5651pUMTvik9Qk4v7BPWK3GN0KE6bS9+xBTnkc/11gs7vsmzv7zWCEAnxyiFfZGFisb1bbyaKPCXv8oUYx+XE0WCWWqZYmxwRlpOa26wI7eSJc82j8N3G0weUPw6jVZJzBNM5ZAUQ13gkRND+4ploAojlW78Yj4GJVxE6nKcE8cjHtUvLTiUJpq90oQ9GZmP/wN1FYl5mQtMt1pQbws5icDNQMRlQl290R7mtcKkYdJNn7jakfztN0lN8IPlSPNM4Kp3DZi5fYTt2r2zkLqrFdjemVsH72MenyFF0QWconnGhDWek+somMyREcOK7lBnlE6674qRzyd4OjklRDEfq1uH6p430spP/q/RsuOK+wm4TEQaP/a/2rtbW/vNezbzGlfWw2mbp+N1ClJZKcyJfjbGd8ww5RKOqHoGpAvOEQXR2wH4ffEPl4AZxNP9hyIBYwt9Tf8bToMoBqDFoGm62/sY/F3j1S/iStn3pI+IzRr4yh5hER5CA4yoGiNWxhlExPOQgoEZf7zPocFCzcNBQSimcqFZigA3aLHYjUxlwOk/pq0BImoD5pxrpl/ntErDHd4kO3H6ghPCDwtuYgqEp8Jqhm7b8w02WRYxgYj5Qk7SSEi00g" title="Mekko Graphics Chart">
            <a:extLst>
              <a:ext uri="{FF2B5EF4-FFF2-40B4-BE49-F238E27FC236}">
                <a16:creationId xmlns:a16="http://schemas.microsoft.com/office/drawing/2014/main" id="{B06BF4E2-EDD2-4EDA-8FC3-B069B1D3E619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gray">
          <a:xfrm>
            <a:off x="6096000" y="1562788"/>
            <a:ext cx="5667365" cy="5295211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err="1">
              <a:solidFill>
                <a:schemeClr val="tx1"/>
              </a:solidFill>
            </a:endParaRPr>
          </a:p>
        </p:txBody>
      </p:sp>
      <p:grpSp>
        <p:nvGrpSpPr>
          <p:cNvPr id="25" name="btfpColumnHeaderBox236295">
            <a:extLst>
              <a:ext uri="{FF2B5EF4-FFF2-40B4-BE49-F238E27FC236}">
                <a16:creationId xmlns:a16="http://schemas.microsoft.com/office/drawing/2014/main" id="{A3D4C919-C3E8-4540-9CB4-252E4621D202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6366272" y="1270000"/>
            <a:ext cx="5495528" cy="318997"/>
            <a:chOff x="6366272" y="1270000"/>
            <a:chExt cx="5495528" cy="318997"/>
          </a:xfrm>
        </p:grpSpPr>
        <p:sp>
          <p:nvSpPr>
            <p:cNvPr id="23" name="btfpColumnHeaderBoxText236295">
              <a:extLst>
                <a:ext uri="{FF2B5EF4-FFF2-40B4-BE49-F238E27FC236}">
                  <a16:creationId xmlns:a16="http://schemas.microsoft.com/office/drawing/2014/main" id="{A59ED4CA-60AD-411C-89CB-9F9C4107D796}"/>
                </a:ext>
              </a:extLst>
            </p:cNvPr>
            <p:cNvSpPr txBox="1"/>
            <p:nvPr/>
          </p:nvSpPr>
          <p:spPr bwMode="gray">
            <a:xfrm>
              <a:off x="6366272" y="1270000"/>
              <a:ext cx="5495528" cy="318997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>
                  <a:solidFill>
                    <a:srgbClr val="000000"/>
                  </a:solidFill>
                </a:rPr>
                <a:t>Cost structure as per Value Calculator</a:t>
              </a:r>
            </a:p>
          </p:txBody>
        </p:sp>
        <p:cxnSp>
          <p:nvCxnSpPr>
            <p:cNvPr id="24" name="btfpColumnHeaderBoxLine236295">
              <a:extLst>
                <a:ext uri="{FF2B5EF4-FFF2-40B4-BE49-F238E27FC236}">
                  <a16:creationId xmlns:a16="http://schemas.microsoft.com/office/drawing/2014/main" id="{6DF98982-00C5-4859-93BB-8FE132EAE69C}"/>
                </a:ext>
              </a:extLst>
            </p:cNvPr>
            <p:cNvCxnSpPr/>
            <p:nvPr/>
          </p:nvCxnSpPr>
          <p:spPr bwMode="gray">
            <a:xfrm>
              <a:off x="6366272" y="1588997"/>
              <a:ext cx="5495528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btfpColumnHeaderBox422818">
            <a:extLst>
              <a:ext uri="{FF2B5EF4-FFF2-40B4-BE49-F238E27FC236}">
                <a16:creationId xmlns:a16="http://schemas.microsoft.com/office/drawing/2014/main" id="{FE946A77-4C39-4CC6-8CA9-9650961EA46A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330200" y="1270000"/>
            <a:ext cx="5495528" cy="318997"/>
            <a:chOff x="330200" y="1270000"/>
            <a:chExt cx="5495528" cy="318997"/>
          </a:xfrm>
        </p:grpSpPr>
        <p:sp>
          <p:nvSpPr>
            <p:cNvPr id="26" name="btfpColumnHeaderBoxText422818">
              <a:extLst>
                <a:ext uri="{FF2B5EF4-FFF2-40B4-BE49-F238E27FC236}">
                  <a16:creationId xmlns:a16="http://schemas.microsoft.com/office/drawing/2014/main" id="{374B0FCD-A7BB-4455-BE1B-BEC1580A1065}"/>
                </a:ext>
              </a:extLst>
            </p:cNvPr>
            <p:cNvSpPr txBox="1"/>
            <p:nvPr/>
          </p:nvSpPr>
          <p:spPr bwMode="gray">
            <a:xfrm>
              <a:off x="330200" y="1270000"/>
              <a:ext cx="5495528" cy="318997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b="1">
                  <a:solidFill>
                    <a:srgbClr val="000000"/>
                  </a:solidFill>
                </a:rPr>
                <a:t>Outside-in view based on publicly available P&amp;L</a:t>
              </a:r>
              <a:endParaRPr lang="en-US" sz="1600" b="1">
                <a:solidFill>
                  <a:srgbClr val="000000"/>
                </a:solidFill>
              </a:endParaRPr>
            </a:p>
          </p:txBody>
        </p:sp>
        <p:cxnSp>
          <p:nvCxnSpPr>
            <p:cNvPr id="27" name="btfpColumnHeaderBoxLine422818">
              <a:extLst>
                <a:ext uri="{FF2B5EF4-FFF2-40B4-BE49-F238E27FC236}">
                  <a16:creationId xmlns:a16="http://schemas.microsoft.com/office/drawing/2014/main" id="{7F2B6CBB-EC87-43CC-AB1B-2F892BB36B78}"/>
                </a:ext>
              </a:extLst>
            </p:cNvPr>
            <p:cNvCxnSpPr/>
            <p:nvPr/>
          </p:nvCxnSpPr>
          <p:spPr bwMode="gray">
            <a:xfrm>
              <a:off x="330200" y="1588997"/>
              <a:ext cx="5495528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578528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DD98932D-5F5A-0FA0-B5C2-D6B14F7D3DAF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283319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606" imgH="608" progId="TCLayout.ActiveDocument.1">
                  <p:embed/>
                </p:oleObj>
              </mc:Choice>
              <mc:Fallback>
                <p:oleObj name="think-cell Slide" r:id="rId8" imgW="606" imgH="608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D98932D-5F5A-0FA0-B5C2-D6B14F7D3D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btfpColumnIndicatorGroup2">
            <a:extLst>
              <a:ext uri="{FF2B5EF4-FFF2-40B4-BE49-F238E27FC236}">
                <a16:creationId xmlns:a16="http://schemas.microsoft.com/office/drawing/2014/main" id="{FE2B753C-3361-4939-A6F7-429B8E093B18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2" name="btfpColumnGapBlocker251478">
              <a:extLst>
                <a:ext uri="{FF2B5EF4-FFF2-40B4-BE49-F238E27FC236}">
                  <a16:creationId xmlns:a16="http://schemas.microsoft.com/office/drawing/2014/main" id="{E149E13F-5D3A-4566-91E7-808247020925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9" name="btfpColumnGapBlocker945412">
              <a:extLst>
                <a:ext uri="{FF2B5EF4-FFF2-40B4-BE49-F238E27FC236}">
                  <a16:creationId xmlns:a16="http://schemas.microsoft.com/office/drawing/2014/main" id="{38B50150-13DB-48FD-B26F-2EDDEF5C7F7D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" name="btfpColumnIndicator425682">
              <a:extLst>
                <a:ext uri="{FF2B5EF4-FFF2-40B4-BE49-F238E27FC236}">
                  <a16:creationId xmlns:a16="http://schemas.microsoft.com/office/drawing/2014/main" id="{8513EBF7-EC37-4F44-9CC7-242A2A547631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btfpColumnIndicator665845">
              <a:extLst>
                <a:ext uri="{FF2B5EF4-FFF2-40B4-BE49-F238E27FC236}">
                  <a16:creationId xmlns:a16="http://schemas.microsoft.com/office/drawing/2014/main" id="{707D240D-C955-4CB5-A4D2-2D14E7EF7C36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btfpColumnIndicatorGroup1">
            <a:extLst>
              <a:ext uri="{FF2B5EF4-FFF2-40B4-BE49-F238E27FC236}">
                <a16:creationId xmlns:a16="http://schemas.microsoft.com/office/drawing/2014/main" id="{1E0C95A1-5EAD-4596-9A25-ED30DB2E757F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1" name="btfpColumnGapBlocker612698">
              <a:extLst>
                <a:ext uri="{FF2B5EF4-FFF2-40B4-BE49-F238E27FC236}">
                  <a16:creationId xmlns:a16="http://schemas.microsoft.com/office/drawing/2014/main" id="{3F38D3E0-9840-408B-B633-ED2272E31336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839463">
              <a:extLst>
                <a:ext uri="{FF2B5EF4-FFF2-40B4-BE49-F238E27FC236}">
                  <a16:creationId xmlns:a16="http://schemas.microsoft.com/office/drawing/2014/main" id="{F0EDF29A-25BC-4728-95E2-6A36446FA403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420319">
              <a:extLst>
                <a:ext uri="{FF2B5EF4-FFF2-40B4-BE49-F238E27FC236}">
                  <a16:creationId xmlns:a16="http://schemas.microsoft.com/office/drawing/2014/main" id="{8A0B0782-9470-4F04-86B3-F298D2269B79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506455">
              <a:extLst>
                <a:ext uri="{FF2B5EF4-FFF2-40B4-BE49-F238E27FC236}">
                  <a16:creationId xmlns:a16="http://schemas.microsoft.com/office/drawing/2014/main" id="{30340EB1-C364-4F90-B958-DA12BC634E2D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rIns="36000"/>
          <a:lstStyle/>
          <a:p>
            <a:r>
              <a:rPr lang="en-US"/>
              <a:t>Illustrative life insurance cost bar as % of premiums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sp>
        <p:nvSpPr>
          <p:cNvPr id="14" name="btfpNotesBox953997"/>
          <p:cNvSpPr txBox="1"/>
          <p:nvPr>
            <p:custDataLst>
              <p:tags r:id="rId3"/>
            </p:custDataLst>
          </p:nvPr>
        </p:nvSpPr>
        <p:spPr bwMode="gray">
          <a:xfrm>
            <a:off x="330200" y="6319679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Investment income from invested premiums is incremental to underwriting profit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Annual report; Capital IQ</a:t>
            </a:r>
          </a:p>
        </p:txBody>
      </p:sp>
      <p:grpSp>
        <p:nvGrpSpPr>
          <p:cNvPr id="17" name="btfpStatusSticker584984"/>
          <p:cNvGrpSpPr/>
          <p:nvPr>
            <p:custDataLst>
              <p:tags r:id="rId4"/>
            </p:custDataLst>
          </p:nvPr>
        </p:nvGrpSpPr>
        <p:grpSpPr>
          <a:xfrm>
            <a:off x="10003470" y="955344"/>
            <a:ext cx="1858330" cy="235611"/>
            <a:chOff x="10003470" y="955344"/>
            <a:chExt cx="1858330" cy="235611"/>
          </a:xfrm>
        </p:grpSpPr>
        <p:sp>
          <p:nvSpPr>
            <p:cNvPr id="15" name="btfpStatusStickerText584984"/>
            <p:cNvSpPr txBox="1"/>
            <p:nvPr/>
          </p:nvSpPr>
          <p:spPr bwMode="gray">
            <a:xfrm>
              <a:off x="10003470" y="955344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16" name="btfpStatusStickerLine584984"/>
            <p:cNvCxnSpPr/>
            <p:nvPr/>
          </p:nvCxnSpPr>
          <p:spPr bwMode="gray">
            <a:xfrm rot="720000">
              <a:off x="10003470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 descr="Enter Chart Description Here:&#10;&#10;End of Chart Description&#10;DO NOT ALTER TEXT BELOW THIS POINT! IF YOU DO YOUR CHART WILL NOT BE EDITABLE!&#10;mkkoexcel__~~~~~~~~~~False~~False~~Falsemkko__4HooU0THZk28POP9trq+pbTvvzd/gcV8t56cq85kb3NDTsUhojRA0EsgEHHMH7oYP1SYpn09ysXVivguJdhTvfyVMsBLTGvcX7WPTor/CmWiWcfk2RmY+GE6Q6T90sFUr0lg9IPP9y8umrse/9AoLT5R0GKq+XM9pr/aTyOTf0wptcuHbHxeyqBm9svU01qeeEM1v0hpSHUgirOnAK/wunjZPmzVPPwFyUBDlDfxgncyrn26mfUxYRA79xbk5zo/zvtIH1wUlJEoc3ym/tE0R7TFuylI/Ka2jPa3hxGxqIcsuoAMr2BhzJBCBPZe4yurIN19wt/gMUjAGy97TwjZifIBF+Hck3maX8bxqwmWN5Lz4DqIq7RLGwL8cJPdxHxrFyTKy81ndsieYrArIDksaybtutEDKS7lWtJ6JAcGZVRCI4SlTtmuy++sF4Qk1arz3+8FEg3sMj9Rge/ETmV4S87SOjLD+N8VBYalxY0z1S8o5Esh2vtszQhq6PM/KUiCWY9e4h9TMWlWZLnfe6u4Uiw4rF4OAGSRph0xpoZvYRiY5Jefhi+76rc/XfmkSYWdVMf7KOxkK7yG5+/m3kfEPF5MbuuikdE9cXXCtbL6M+1cI2D2fRiANtfKzzk9+aO9FZImkvjutsWlZ6l3Wui6u9zXrryfsNvPA6phf9XtiI5FwngFo4pZUcosDRymFlOFuVF1A+vgE7KMzFIuWbe4JF1XH5je7RXodn/cdfnLYY1/ItIA82XRa/6M0GF5aq9Gl+Jw5qhcKqghhXjweTYH5UuwQksgR7vVGjP4zDnitM6fkrDlGte4naVR9SE3EijrwoX+/NvFujq0PSd/B8nTapJO9K6esDV5I31swnVoye86dSdbojQbjq9+QIOTagwF3q4EYy0h42j9veH4kcJEIsau0qtljRh8WmPQSzVFctwteUiMFqA8UxQ2cPLnCEfu1WNx3cNZ4gXCJNzszI4QDnq6uPReBMemnpHu0tn5xTxNvTAcjpu80M0ypTvM2ub/qzlEbOWZUBucZ4xXU08YAdC5Rtxa/L1OU16ASYbAzM/BYvK/EjSwVZZlfGjE8iWA/bRffecfFEoJZNoek8SXW0FZ9leeXZF0bPf9ojjI62ur1RKMj97KBJrhIio6QXXgwXjku+nRj4z+ttN7FEeS2liTLiVFlNuJtKR4tLRKXPd3LQvh/RaJn7ku7o17AY4aO1qLdKBJcdZFbu0dw7hO3XP0uAf18ZRvBY+6mVaN/Scq/kDGtlC4lKTQt5gGyQf83f24BdgLgn0XfIGTJiSjiUKqw7QKi1o+Vk87Wv3cXDGHotVu24izyZRzxECfxMUUrfC/y+IeObE8hGIzu/BAMxt7+QH7g0cd4XfwEfARA+7j1y7qN71ae1KMfPchoC8x1PZSvBxDSE9ZlHNMN+3keWEqC8mjJdzWySB2CLEnZJkRWQw9ReNn3JwwrHh2q3X3OzF6VwfI+28n/thxdry5TEi6dsH5UO6okgRwTjJHLfk3hArlqq7S8V8zRDIVAXP5lv7Fz6eSNn4eVWu6V6113bvxK3XzFXY07Bnp62asy6AdOnu1ale0ta4rSRYebwzigq0HNM1AzG1pyZNKCbwoZYjChrKquqzVWT5IAXCh8JD6qmT6oNQ509fiswVxQYWoskSjblbiMdTanv6bcd8HILylmLuvL1yoyIOEyPSN6zO730fmsrNk6ruudjlE0x0hMep2FRinpB0qfdDNp05o6A19DG/JZ2t8IT3m7MTlzU2zIV98WWyAho4j4T9166GlDIRZI5/in3sRSMesoiTqpiwdc79/Lw2WB2986+7KJSqUpESnjMIRfTXB2xq+kyzwRvrbWraz0K7xoU3ENfw4V3RWfYVlg5twaU2QBhsrtnVvbrxEAWeWimTlF4I3SduIUWQSccEl21q3OPOt7k/YVyg/Kv5sbZfhjWgWPPE9cr4ojc3nvGOpG++9Polz9aI9u3W6Xa6AWWAnet2d3woaQryWDo1248tauVM1fuYkBe5GZ/SdLAUClip4Hex5Vtp3ekKqcnGEIIK9wSH4/yPtezX+O5FYMeThL1WKDeZSHdH8ycrAyOaWIywquBn3WhQxkbFlmD2HaTZKyrfPIv8nZwDyEvt+03on8fgHeT4FYLcJnFP5+xLa0VsUqEwJ/Ol9RulomS409QtFkgeFzBKAP2RJQX+EAr6dKwbb4DLCNoyrJj+slPM5pFVSj1m1MNiRlAuZZb6UDfzA7JRyPNB0MH5Vpv8B1b+t+TK7aU/AxBxab2AWhfRof4803wz9y6Dh8TIaF9fm0dsPuX0+QlXuZAwc/P7gJqrZT6sKFIXxKmoHEJlelmkEr5F2c5lj+x43cxoMU6+BLNsEQRXjCLuyZRI4pzldTXDLOBFGzk65FrsHqhTEN+5dVtNYjrDN3bgY+JqI7ZZAahxFY1skayR4v47zSxLLiI/ZGVkA2iUHSCA9r546MXWATuqLgU2ah6xke8F7Wl0ABYZ+dIhBbqL3k+Zroodf9xhX/UpPcaPYMXWbplTC3I34ghn1/dg30C2A/5sfKkpsfA0C3rQmTl4hHM5j1VXBJtrVSFRcr/ljhASPEACvhMBkTs9i6plE14t2xnv+3EEMyPslvnb/IaQ2keSsyIXLI2QHp6NOycafl+1qBAN5mnz4BlIIjMuS8RI0X7jW52q2u0vO2FHNJlzf9mLonJc/MVatHDbVANaEykwFgEXmFBhwXvA3TPVizTSlrlt7M6AKs/SpktbZY6/HVZG6eoWmzEml4sik2Tab7Tyw8erixHLIVkwfOGQ2B2NAa36+PRraDKgcVlC8k0a6XTqg8ZYkDBjtOehrVD28sPhEQO5JsV4BowzzfkgMprShbm6J0amvLW6PkGAXWoADWlB7qo3eS49V7Pb8NWdUDVZtgGhbnttbvsHhyp84XgXhpSHYWOatNIulNMz60c5qMPSRtjXy8N2vhpcZNcAj0fugR6gnaL6+iESK4ppNqKWV3VOEKHc4gtXkpNh7FCSxwNryeG3vteJICfx+OdNLwoboj9XBBxjsOmS1yLTBN5koypoYR9H+6+hoedDVwgd8vqz73lDTlN7V9gsIUmXHEuiyvl1tvTBttdKawQPfrrIjgUWeHZM199LAMDa9WsDLJc7k8QNDlewP7rc8f9HbBKKhTlTnp0fZouhDsD07+jbZ6OEIOsY85ll44RwmAprrI7Y7H9CSDcD52Mc11XAUdeSiJFJAEAbAL4j9DdKHKC9Sq8hPyvIRBUlb7UCJBZs1NeiWrm+nJkaHyi9xxx2YlvKsq4fKtnjSOkSPMdk4Q9b2QrOLXrAaMfqkCVfzYBTEveG/wCjA9oYWb0zqQPhisVOdHXpZLJ2d8Ppjf0gw4im5vLD+jYqYt9Shl7Cd5K62XxQkwq8ue8Iu21Y/0HawohUCXMjB8w4YE7bjpF7uFLCmiTf77TZmCe95OblfJoFSlDcTfw6+e5ZBiAMh+gTvPIlW4xh9Guw0F84AV6kTV5Xvwhgj6u5nPplm/J7s+hn/Lo6JA+QnGcoa1kqok3KnCcV0+2+L/x6zvmWEy8gZX6xo9cGLUB8SgxgodeQPHWmomKJ4El9VCp7W78JC2IjkrlN/3AFiJfWbb8lZAZOyPN7RHmDqkoEPYMJX08n64YwQGi1hP0Buojg0Y+Ua1SuLg78uXWVdzkiysYhfvZ8OV+eKORBiK/rfgjHWYmraznPusbLFr8wTUr8NJ5cKJZfw5Cmb0v4ZqFeDYxLXiae67lq9a5UKb93qww1BaYwjOItMp/UFRgs1oJ0oQvwmG0fftvjFnjv6A+ao+/cDptBKFwrWqP0TDF98e4I37pMoiBA9O6ZjsiqjBdjsMQuChI5rAAJgWu7EuwH6T0BHsCZLNkjJYaoZKQJhPNPaOLl4KeB3aR5TUJVn5nfTW2H2gtni55uRtNukn0zMzLdDN7rpUwDpHHI3U1csV5lfUBRT4tdLje2p6sDFXjHDtIpU33yUR1xLvRNhBkmalVWsOAyUTF8VY/shvgLcpbWEUjNDSXuxgNA1FZn9SRO/fE3HyzifXY91orIYR4mtkMRvSUF1oeWwJhMZTwJi7vkjdfgYSdJGeVRbUmLzdlG5w0CR58glgtvG/oRsFJgYHGeq50NxRcb8DhKaJqjMJNwi+9j7Vv7u/Lv5cH+S/9V4kHx3TaD3zG6lsOEABjjr19GwXQqW5L+pwdgKHfI5mqFUyUGKEkpOtGZZoFcb7wH3jmVn3XISSrJOTyH+t7AqhfLqKGKoIBetXpizwS3ChWj2+gL2lLVM/Mhw4a60OpCfavsBylItOvvEUgTgbbefN0BVlSwNJWDEjCWM+FfbXVaxXq2vXCUJBZY1mY6oME/kDVz8YftVZ7bQc9UQADBtTdAEHwuWwPSRTXdR5ZfR5Ei7zf8Fi3G/MyNIsl5xY30uM/EhMBfNduDcYossx+DLHuti25YFs5KmibOHxSpJYK30cPEexw0skMlIG8CtWmIfUcjuDhYLf4SLCy9Qeuc7e2CvtV2SwQ19LtQEpAYuO/S56QX0gURkixQKSvgLEHeNOIvYn0UzQ3itMf/tgJk/aWD02cdoGYJiKQbNqjx/o3UgUz0qlPF7Xv6l6EknyNbOjnNc/pfGdARHAc1Bou2DUQ3R5cuSXWRGJiz1DspzskEXCDiPfa+O5LbbVvjIldkfo0DPtNd/S+C+dnLccYzvwGlHqE5ekFKJKQtNFZa6OSfEt/toLDw/brGXK+c2EWC5RN/Lblhe5s9ZVV3C40l63EjqAerKW0t50DycA0ASU07Q7WlOFXXgWTa5PAuZl+HK9+6jPtJ//Fo5BNwb5HR6ZosDh8OYsaYf9CL5q9kyP3lH2VV53TrdpRC6j/LEHKKOf+SUyQ6wcp2dcB7eVgpQdcNq2zVEcEjppgTCsyPYZgNHGjs+JLhkKlToJP50ZKCNYIH6iI8rsioevQGn+lnNIQ1fNCosL/wHRSw9ls9eSD/7xbwTEE8V6aEBifnFmHPQEaQXp4HtN+6L7c/h77cvXWkwaLwSIKYSbRJkB94xjdnkurLqJJwbYBSKMp7DwBOydYDyG7vkSd0PSFh/k7rCy8yo6098qiNw5f0s2Ij4aKiCs0NwFg/yET7MQUeu2AhlXTmfzf39FVmwvXrmv0XdVO+HILhpreKI7VppJGXttA4TDHa/Qr64Kl6LY4kHOekIxCI7ovWI5x6qQKBLg78muGojMLN8EJN6kTOAr4SMVNrbWmK2zbpkiQdYTA04PHP/QXzhv0XnLesNFo2G+EmNnkny5bB+aKIY0Bbq3QhFS/BOXAWMBEw/7dTKK7DPlFwmlz5buNQ8J1KL9ZkyfLmOeju8qaMEAcFuzZ2TcVJZqfSS06BQmpNKOh4dbBTAoaPdXwdgJv8KXhHThXUsnyy2rryCB++iz846V38PB4DeDJICN+MUZ2icuuv9T4io+8Ja+XA7iIlGlz35//6GeKwiox+9iejcbwIgo70Z0wxrSc6MlEvMxYwToAxYg8BYxYplO6dOcLmxlS7ydhsYVnWDimzD2qDQ5kpFv1+hYflfmaiJD0zpq1Wb1vkYQyeFz1lDJaqjaFqrbGfcDHX5IilNb6C7Jc7rkKS1c6WltmO9KMlobLLWrCXEghYONKM4daJysPuBUyHi25RmBlkIqZLcXpGjKqEllnbYNmWsCxUvq1ukxLDzuGoVKCwlYj8MRW5ZQexFY3NOL97EgztrBEQgO33uX7hvCDCg50BEpluawuNFmmzN/kxnaLGRbKP5BW+5PMIZon0ovmlorWWprBDn7pjB7s3oaxINm5qlQm9qPVuw/O2Iz1yYKJ4FIcdsNVl6oXxqcwusYqRyAkth9dfuKDkjnkCWIVY2GetdCefEpwsod6YvbHv3XgOQOYat12E9gJg1xM1WKFuOU3xYAnvMxv1NMXfk/UkwP7prwHBJaEPcXu1ruQ4xKStCNMJOGFLwYFbhrtjErOoVmBeouWBWZqbUMz/qkc9+wNNPzZ/d4RTnIxreligy+mWZdxR1Of1HwiUR9n/gF8sOUsnVVYs9xHoXuSS2pGvjf58Pdb4tH1dMaO7UH96tSd/jsSUgwSpoViiSi6uLFQzAbM1/YxQfP73ehWY1BVVRjC1Lj/iqWFxfW5+87Y4B1MXIKMSbqzaWjR3Euvr+xgPmRVx/czG3VHJ4AJMBWnkgM75rCVHs8CaV9R9/ubb9yzuCIijeb60nC4yrP1JT2tmei8V9Qo2sBJGHTd/qiIxfX0Vbi/iGDDIJ+NsjCA5kX4fpdxJeQlugf6kYTHrziIcqmOr6Vemetp7BcjoBdF4UKNCYXtF8BBPVMacu/eMxInFuugH7S82L+txaH1csYQMKzI6gMkTWnmo1W7PP552/mGjlfcTFnVaQClz1mdC3GIu0T7zHLl7WenZOuF8JDAh3qy//BEALL6Cu9TgBAXtyuCAixSXzos7wUcqeZ86FPIvuV6ezd9mWyOn/pBNHUIlwZjCgTq8wJSHNKPXJYp+o6kHb8ORMmJK4FQKcB20BGLKfKEnQBswAv/xwfRIhIklsCAdAV9yWE7nGoejADIPFfWeelsB5dHlsVgbvX7/ZCIrENz+Y8qYnHsZxMNZ8mUs2ByHvxnZjO+olm2EpJ/IIBqN8HT0ToACocYZ0Muvu9G2cWEpVTzwT9FpM9OTIZpx0Hk5ux4GcNFjRahPT7uXdqDsCRXZBkhsfLYIxL5VVX/VTZ9uFV23oD38+G1qPeRjz76ByrikYwfm5yx3Hxn/T0CSgBMfryORdkjjU1XZp30C1r+Pm88mWhEHPh6W1wWS768erFu1H5mhmA/ANut/zSY9l9z/MHAGktyJetr870Q4cLMlObRfUdkW2o6erCbFlWk5Yq4Ojkz/co2zhG2qPBhgS+4HGwIZ6hp28+E+e808+OQswJxphsCkt4fC6L6DUTTf11NeG8TIPaZEHwRXwCN9A4zrlkKYpcwOnsCXGjAttDhl8LktkbJ5xEmbF05JQtMC0HuFVpWy15c8X7nWOCcqloX0ovYQeqxdp1zhXzZSLMf6/F0fWhBWseQupdmfr7eXrbDh7TraHtYvyOI31Lvy3TseWvG9DKhterA22aOl+3Tpix87eOFQ7y8mluAvh8sxxXpTh/G54FzQTx8YqDIHrSqga57xzCLmTHMDPsGQ7c3A5/9o1Am8ueSxpirjGW6dbB18PpgeCgiDX8K+SofMUji99C1WVlOwUqqUz/ZWFQAAxFKDIwVvhCIs9fH9HBGgxvbIvd8lkRVKxo/rkvTAS2dl6qOT+e952J2vaW+WH5GGXae8D+zeSwZpf0TxckxaF66U58QvNLoDkZ39XR7jVH+dIzOu5lkxmx8xgT5kGZfMdqe+fvfP88/tCkCuyzUD8ejMwEMcQxGhH81V7szNFEZE2CDLw+GqGKYWW/zmsufHsGTR7yWlLPCs3TvdFm1yIEDkw+jVe+7nI+6+hDVgVmGOmpgpcejbuXe5dUAgCLdHUfNHA7J1a7ygNIDWP+ZnZ+qq0mfOBGVhyfJrTQjTCbU5AFFDQHmS8+je/KWch4RdzQDErZ7QLNHa+mUkhpOG6J03RWf+Y52cZ0Bhyk3tVbMv6JtpYukWwpTfswfS+e1nnbCHcSb6X5dCfEEFuiaqZgQrZZdDhpF5pCU2JpPnQh/bbVGlzQNqk5xrGCYGVvspUe7BB9qx12Sx+KQintPXZ/sKNTy1Z+iNuGStVsiufSYkPQU0rVNY5RxjEL4/SDDtj60mFyhGHYeE/nAcJIxWuyEgKVSytvDicBo/SfrERrZNdkKmsRABPzg9QkCnRUSOXQ2JLUnoaGmBe+NIj2nvp18ExLWqCCfqN87z0dWgzWSZf2MItcbxv4ZWepspLpsLC0y2lraiOTOEGx+Cbjd+2kzosZ0DdPSwWm2fz83lzrCkCX9fMI894ERs829WzV+zhCRoLNPTFIE79ERqIsxy+iD9Dg08ttI39KH82Yw/S4Ow4VT/aDSe0D8ly08UiV2z2RC5/oWRI0t/lBwTeKuN5LE0AHYGwMgHDNmd+LaoYkOD5c/ea7a6fxKf44hTUwevp4tPDZhmVRtHHicGkW6RsnZJPXOsUnKH2wwf4hby4bZkCb/x8Lnz9ljCY3gnf4X0mSClkArpxePyqFhKAhzePXrg9vi5nB3CzuxCUwRDFFpMrIMAPvl/OXo737FeN9U3n/822hfMYSdOaCz6rOn3ZMQ9q2DRnN6VlXD8iAkzjjiPS9rSaDPbxSr/QhljjmAtOAKxFdget6srT1mSg1WHZRmFWNFXeYismuTezOMAqbGrxSSNKDXnFbNI3c2uafMw3osRz1PMB9b/0HVscwyHsGQ62IPLiz6/Dn+9mTKhsjBsAqslEAxUKvNjXI/71L7efaQ9nfFVhLx3hlvIXtQ5Q+EMvWNZ8JY19VG4l+VimecnxqLfpdgVlIkSlNKmjy17YDD7NK94weT0e5qr1V7Z1IrUnqjcGK6cnQMHBu66K3Y6FrSbjW5P4/6i4StUQ/iWWNDqyOg72GQCgFKuz4PXYYeOgRUwP+xx9wp6Fi3ldpbF//4UvXgy0TExZRSM+fp5wT0XjQVvqa1j5TCnzsO+G+UZCsz+M5H+7kjAKGwY3HhITmZCC+LKczqke4PNU906bJ5wd1l4qcfyeQg6BSAwJNpP/NVPKbwo4XJnXo999nZpQo2ODWBxha1mf4GHHS2DoFSafVobjEGkXcXhGJ9r0LLOEGhvkVBqgmtP9CzR8H3jodNtQqihb7ck1Yu+cSdq8LeYL/7EkrtMN3xQFUqXo0+pSHmacb0Xu1Pwu4YbJO2kT1DpuJlmjpjknPOQadqrVtW0gp4Bkq7ZEgUUkrIDXSMIBPXkrMpMDeZXdZj8E27SItv33PaJyR5YFQpwU67WEvo+O1Sp3VIiYymtEezEEyhwYCojjyPEQ+Tlv4ggVhSu4o9yvLQeeDORofM50Me1KcsATqb5Ra4KN6P9PbRQzIwziWnDBUmqVuEO0UogQsaeuPTP0M+dAnnsKs2H6F6qkouwaM3yXMVInRjcZOHyWhVJczm54nVMkh27UN97z/BYzex7DS7+CVcqELHVIJ89/9Dk2VyEYoPrEwRxIZunNm25LlYQI3isbtFJPDFsVD5F0k71Zwtgrn8xAXU/Xrot9Z4wIT23DKwTFJhkh+nbybhd/SGiSKK0RGJ2qOOiNQbvU/c7hkT23brnSOhpTaUMOFUOiiHtHdnP9d0xepvFOx/iEWmAdp6eTKt+vgauN86Sg7fSFr2RFpi+s9PkXxWnSIXC5cMm+cL6jjW2PJnaXEyjDgpjCzvUggA4l9yPYILZpQMp2mSGowU9VwQ3N+biNnhx7aJyhu6nuiKAw9XL7262BT2fGvH3eF6Z83OFItX0XacSFbES1dAJLbjpMymD+twLlVHu7AUOxLnXlRVUsJVMK0KFqmPnsDSYO9MyEWxIQgqXnjwbmkkxSQlCZz1AlzaLzwrzPrOgvQXM9qFUI57yR7fROYEEQm67QL7dl9M+TTztwHz0VLUN2u0WGHIbMRRRJCgRhapdu3Nq6mYa+z6u64+NP/cG2glAyDKMu3GlMK3/BfG5HZ4b7KGTH6hfnvn7AVu+ETDa5gICPoJzX+7wJeqUN1y6vyov45+gboHTuQcxeB/5C65NPuZvAdqY5VKNs+YhbB/XSK6l+d/bJHYhWTVTnSgEz+oYfJ4JEAg2sj66VX6VyXAWKtMOo0fRD1/1LFBnLtVl5VpNWmgKDlX8v7IPRR+co69nb1FHAJGACWpS2DaHI6UVhPVNDUT5+JqkaS4oGY+tQWKDSTmjW2OFBRUQuLxN/1ycf2THx38yoG+AJU3nCae6LF+KsfehVx/xflLLm40pI3gJmSMAgpfV9z2aTRAm5YIdiyBKkKErsZLBPAVlzs9rdorEm0EFkbMncjbAXsUxrvMfLqwxF5YOtVednXk3GShzctfwNfp/D33HpBvSkYfRPSNqUfhlaVrem0CreVmWqSGnTfmLdpw2eZoqxaTGx9hyFHqCFCHlzQptBPcAT817wDaLxySb89zL52bcfhVtr7l/99C1vlpqJr1+cp5v3EBzZZWp2Ps/mu7njH+0ltmm4j+aLDjZVURV8WPQ4mBrThn8oeJRqUfyyGTD7CFkW8sRHD7q0nlDIphHLUrprb6lorq3lfx2Nl8o7G+9Nzuljceg6RUK2vGgncsYKdcs8/6Z5d3mgRqpCoD/eT0Y6+p0pDiZKXaaYJbdTxRyDYddJsIRQd2g6NGPF+HsqAdMq0Pqzq6tHLbSlyDWG9iDcA5EqOotSp6uo6v/oQZwV457dY5EoKxOviJnnNA2L1Xc97srIURkL4/tnttq3DDhpkTSm8f5sJp5TKIlqu+pQfz1GuyfeC++lSOdVz2b7jXCZVZlFRODtLfRWZtIx51IrKDrwTElyOTZKO7DX7ddn+0+5kptIByw1CABrzvUQXh88qzouWE1kn79Ia2WOGZky1QHPnJzbFePhlUqgLxv69C6mFN5r/jsqLkTjdeNkJDRzXPcEx74Duh9ZKTzEVoJcNr0+kfvC+tcA9DwGPeo203rEhaQ2VaecE6olCYNBrlfbCZF6cJj2juDrkm6AwjUhLDuhMJw6nHIErCVaGO8t4V9bYX7oeBS1VlyG9+LRAK3DuF+v16dxHY+GOtR8ZTVUHKoeGAU2d44+LbvTP91YcOONNYc+PBY83vntk7JHxWFbDFsCBfLNGzhRnx5b6g1b/CAgyA4jXFnzcK7USYAzAnNIc7M8n+y4eLXrASV5jtvyoneO40u0ke2CH0kZjmi0V8NzEfD6y+PTOLtmFFwSK3bIx3JWtBmWxWeURUbuYk6eu4VpoVi8sRoMSoYnVP1ftbQsNBjwCLAPlWqoiuIfEe9g7m+Dzs5W3gcokj15YpzrXexuDgToSVtkAXhaGI0URp2n3dyy9WChEIwtBPLl0EEvTe29ctyRyMG3Gv+zwxlr+CL36BZqFBso5VWEQZfp45DEqnGm4rtFhzCIlXHOXWAjF7NXhUButT0PUI3l7VCYLbgQJ8XcTAUoQgLy9ytoXa9BQs5tI/Q2z1tmjMwCGW7Qo9fOTL2MgT3SLqx1sAYT/3OQJG4DBjGEGt+YS8qNUXJ1O5SDwd5GB8k2GyWmVlaWLtbb9uzjaTk1pTn0mQQEn5p7MBg/1VC2tAnSZcr2iz2MG8qiGaukrZ/BqPVi/5dfQTpOS5x4aDIVVwOch4Z4ON1psgF6NjQI6gXasSUH9Lwyc7TziLfta1jvrtyldKd5eOC2boPREGfoK1GLdZ2Pg4t1yBEJU8MZoLZjLHaDTZ2XvtgmsyQ52UXb/CTH8d4y2N24l3+VOoweyTXn6cz9ReZcv9r67Q6SLr7Ti8fcJSJIGpGgZsZdx9orafw/YnAlUHt7BqGKwZheU1OaELwcnUBGhsIjxudMJuOD087BJRuYvW2ZWIccgTA8F4vC1R8xMwzBchuRJts1tgj+lAtk9FxCORHPIGNYoeEQZhzR2gkalhV+fWTLS9Hu8rVA2VWW3thCT8Z1x0WgIaMn3he1Yfpo2L3j9tcTtyfY74Gktg314NXNiOsqYUOdILIXcnbjgJrbVQmP2r6IUxum7P0wZz3EgcCvST4fRXNPBcNBJ0c4VgC584XrGLYWgQD5Csdjg2MB2qtHZdhzhIniKa0KsviWKdR+ZCZCkAblnGRKbaMz9uo5ZdXMXWiPRauCmcQzx0/OvwADA29uqGqyVqfy0RWYuC1clEFjzNex0TxCJJgMJA5RG8KSIcror69BPzfskRZmCDEiP9OwKuT5EsqouPrzvYVUFJx+a9BXtCWZ2drhv4+2CtbTk9Ow7um4VLHkTGFuKUcw0kFHu4PYqBDSI7fTB9ZFAvoa2ttGtNN65veKaXRrN/mbpgDskscJle5VtBAKi+wV0Iu7QyUnIX6g69BOO9JjEu6NRXqvKBB31OBAYIDtvQXxJk82+K3THKIhXusTUrxfG2miWF80/ak3lI+jnYsmiGtZBsO5bId+2O3gbkGWuquwM8kVLFMvXNJz2YqWdd8II9CtmWEseYvXEBVsGgm+1FYwNgakFmLPVIwvtEPpoaFd/mRMkXGbTGy57MOuj+bx80OalxbW2JaiUEU7C9btSwKKwNYR0SJniPs1NUXFIDRBa8wHFor0iEZ5zmWUOIz9SLDYEz2nJ5Mhc6L7ddrUVccDwLTaS8KzEqAVfJ73kRyPB5unh169VavG1Lk/pz1dWBm2STHqCnnduWnxYMk4+pjG6/MI3YKE5AecAwpoqm/bgpMNv2/ytkS2fOjBZjUAHmx0rUNPV6dAFnm0wbR+qg8Do3Odsg6YGQzBqw0zTNWDP9I55kMwGl6QlgAMAuexFfUFD2nYRyUzzVVui5XNjeF+f4RXiarBHbpEgMs0k2wlprkhMcIAI1op3Kb9TtjdhUyxucwsBRUhgAXs93J52btW1rsfJliIzjGcRx5q6d7sdbB1crBe0WBjfadj5lixr3zVbc8UboL6PQL1zRn/x1aKvqQf8UsbVyfY6XomCO86UFtAToGjqpjF0J7kmQRdN6VH4vxuSf/KktPs51ci3G2brhovGQwfIPvpC3+v+fffkdF1CPIsodlA76vnitS2od+bJ/PGybGqrV6ut4whhq6RepmSXhBN0kHhz2NeC8Qi9HTQ8vGpk2ozwiNnNLchcS6YYiDT0Q+gWryGXw+Z2lVZyGVJzvv4zMyDpuUw12W7w/nVisWbsXNsXJv5cIIM94lgLlF6LTbe0Pr04xU3QxlSkLyJtlQBSwMDufnIUrep/zx1c5jER6ttVmH6YRTyKZu5YiA8rKVVRZ3eOGlhzKvtKPY/Lg0r9YqOjd5c3wMsPJ3ShruOM49iQZUWW01PqYHiEaqAIv1vavO4gJG+uVH/uIaWzM7DoeM3f3Tf9fZLIzqIZsAqmxD9YC8wGGc31ZKx2CrHpZLFgbq2Avz1Nw/Rc6PWM5pyQzyh2K4BaCTsnm6BMvEUBzP+aEXauQOA780LGMYF+nPuGeS6I8o/UfsjeDIf0nsj79wsIYiJ0PCymIq9j89gX2e/Fw9HwT4mff1qVzQVGY3YGSxYauH1LsExJC2EdQyxQQ5P2I4urFfU3eBu4KNae0bC8S8LJ/CWbUtR82HleS/wx+XyaSd5xjlF0rW8fTRjR9g3baR8/k+q8JCe/YzwM30JlQefISY3yMgkqjl5gMopGiXbNyCMA4y4M0vDvDkl0xl7NLTe2u5qmlMbzMW+tEi1baTPLAdXEUL9A71nopwyBWtYwWUGaC/yZS+Urm5ppZt0/yH8n/WGMtPohKSEcW/pPqh9K2S70oDR//kTauwf/93FPx0D/qME5+0WhaNy/76xhhbGw9d7YcGr5GcprvrD3A1Aw2zp1428s++P3nQv/N48dVtwEnF+FOrUHlX8bpQlvxjLHvbb9OtPKxUGU9sjBSoXs6/JLiJgTY8kmZ39I2g3d0Twnhl3bfXckso5eoUh9ebeSJDpi3BJbCj8hMJcJHD4pbuzJEOkJdAKXIjC8uwEneL6XzX2c4r2WsIi+d6pVtuMoic9aCHdWoPPSFj0HPIMRkH/9zPTnMdPv7naSFdozp6kBsovRhurZiAv1yvgACCMe6U9FRy2g9PiiFw+hSVOOi/CKoMRKdjngCOgxRhLxa6HldAFJdPPjdW+zVsTSv7IQkksrridaeaUpkwQk+ugY+o+p46cWDfB5evtSfEh6O2sA+UUx92bqjPSb6p1Lud/4yPUU/bwQ0YhU9eC217+BKCDt5gth4rpGv8RkrvGK7TlNiO784HnmOV2iRDcY8MBfyGrdubS70yTc3CuHEm6opYv9ey5ZvmXc3a8O6rLLtvBYLc4lwyVb3a8uOBWGoK5HaX8h79y1RGlyu+0HmSMWe186THpcgwLeT4At3kXHxYaqLu0B9+nR/N/qsCZuK02x+KIkhkH/briry9ajRBsMuU0KyqsNTMq1mI/yaHqquvYpcPdCdE+aNMFXocQ5j49V4wS/nYlr3NTpMJXhLU7rHTcFGCwSzOBgyWVV+hKJ3lhXjrEjHeWjk8nS3nCqyhSpx5WXF8o4jJRUhbWJabfSEKDLy24xSixE1f4Qw2exadxcEbr4DP1zFkLG1xkz9ObOsmbsUZJCCJdaXzYHIW2GRvavgqS9O0XBvZfcXlj2wJPolzpFYZr8I7xb2yHsLPV3PuoDN5sXuIFQHqsMWfx1Uy48f2f2vK1JD27NA6q6WHhA/UdhsrkBcd648J7PWRbrM41zZFu1NYRYq8g05bgj58b0Rf8Dun2GItgolr0gEM8qHmCAtNWjQpTI6xcwupP/yIKbULvlWoAUcDfZ/6NvWpEfiBxTHD1yggv2OaZNpMlewuCfNTJiYbgyDtAx1xqRDeCDFVoCVRRQ30NRLegnbmUftL4to+hzqKBEDPmtoHqfLTdjFmGFQgxh4zUHBqKdrMoFGVfhFrBuNF4Z/sck5Ku9VA/c7JTM5AvAQhSe4W11vpBMnyUwOtj3hEG4hXBYe22X9b8OvGWmZVYLIS42xqsUWXXEEEJOErQlyd4mX6i/f1xal+0qbb4CJwnSdkNstetySKjSIYLJr07p8B2jDqPpksQDXSlYgWUO2UeMeJORtByA5I6JeD6iF1R6RI831qiIbY097kXsIRCMIvR/ZW/X+BeuXqmzP+ax//4RL2RF7KkT1gbYt2oMo0uYo7zGrOWOs+9djrd2cPN597V+X9YH3QONQiutqBrtZ2jUKBIPUMiJOBnXQJi0i3HQEOa49rPCUnvQlz0+Q0ZcCWldhLq76xm1NXYkClGWOcgBXQAEnOyJBYv+/QZezSrumqoUi68LWQCLlGCVUKR0NIpBEbquu9zHdk36/zr25lMMcidD8RxoUtE87VrSOS4OVDP6LONahlkVVhBOp9wn4x97e+aFwZhrd7jdmwNnsvSkpbxcUJdxtApIKh8IQ/jjhiO5KBjetPgXY0mg2cPlbDivaQsQlUjo4KpHeFRmTmvyFSC3YfILNA/Lb6HNCgxKvwFliXPGCVXIjOcJNX5Wv4Es+2apT3BwDqM8aTZmsP9ksEVNaetUT9XSPeg3BlcixO31xCdZ4886CDK7moBjc/yuVb6vDD57S7tP7Sjqvh+gXdp+DeaIHv6aWKEC86Z2vfdk7P7H4wr/PEn6FVwVl3mrwjK9BtSqvJNaNbCooXGCp6uw598+NLHVM7/fsYoMV0Jb0MPDZoAbMdt+zG6LCSjTiOKEBJOzpNshscX5np9C5j60sefLtpUNWoy1VQGoWz16fD9oXvBq94qDUkbZEiybAYyQmdW4iUfmRJK8B+nvdd2gyulsn85/6DyxP3O5t2V0VkP+VT/kKu6eD099Nh2xATvcRgMwfmJsOReq/7dvWV0D/9ZsqigCxKdEROMjXTGmKpi/JD8BDqy9K7mhC9XUYTRf8sZx7KXGO71ysxltlEa4ncFNTlj4G2RN5LTU2XbJnILcqS9f2Rpccq+s8ZoLYSwnzXs4MmUlWua4DrodUN1gNDm3fLqSlaR3oxMiNHG0W53Gp+tvo8rymJ/7c5jHo/wiQjq58o8wjDzznXrHcsj0uY9DFS2bKN4/YfhXW/3O7eUy+fupLX7+kkJWCMeN201ZJJsknoG8UQ2t1J7eX7hM0l0aJQpCmvMwJCRa24Nsz24OQhow57nqdrjPCUfC2a6xZo6XZ5d3wqr4ZDkPRqx0uP3iHLN8ECkboXUAeQW5VuBlZTX364osYy0DyXpyLkE7vZmKSwyGvgobaRAGLqHZ9BGyzsj+74IWzFpdH7JkEyJRNLNZhPJDael+xdz79rBsbOJNn23O/eqmpfQk1fVm1CpsIsSkH5oJUzvSuIITMvR016vAB2ankF1j05s4Vmxh0iwIftgJ1Jlb6kzMymvla/6b0+eINdYzVWWPMZksQiZaxbGo3N8/uhWxCK9JOQoueXQhf+88rrU24m4PtPc30IdMCBcAxKHpzHfucgcSYnaaS8blPhIYQ8solMIVSUvFmJbBTHu84GODPRlFFJ7aR6ljg9OWFCKhEjiPJ/lJt4RlRODCZSp6mEyccVUAIDxPGhaIAIFAy9vyTZFWWq0RDBB+FA+zFFc2yQtTJvR3T0NYiR53Am7nSV06WHrPS+MkftAZJCvy/stuj3a3bUdaxRf41oiIPb4GPC07EDxItc0S1Yj4b9y07MCOvY68Vt2Vezq1vngMN2rYtgQpXYUuSr8xgR70+MgYrrm+nUlSF39GqAvTBuWQqJY5HDdnUYSR2+hKC8FxFuWtPqUrKBB1+OraWsKWRpHh0dqkyPlZrRe1Rj5kwUjU/dxBhWtxG3d5E3NYkwtWyHF7QEALI9A+y2KuapuMRMcC7SA89JnxcKx3mJPj6oOMyG7pJ782GzEFGnqM22LjWbm0tKeSLtLsTj4eSYBv1wdu8FTv3GHgnXx+slMMklv74tXk7V8T3Xhh5aXXuT/wfm8EupAN0iHb7bTtgpRjQOPOKb3yUvynCQ46CoYqOOplGfVZNve7zJXeoUFQSmXz8hVgKffx1B9AVLy+mo+ztA5Vg0aAIEaF4KzvEJZVJXOcN5IldVSVE5oVAIDZ0WvB3b6H98xEBzMiCHdA9qjYVGQ42LcKvTEGbuMiKfd8+dXH7HFU+TiFt4upT12KDbv1itu3a3M4QHHx19DqzBzuCkQhR1Hl5NeMpzuTSgglvT9oRsmauk3IRXGOiB8IHFaL+Z3CFxoFJIwT01SvvwILuRkCUtIRL9sfGGBl3Yq6TEEZ5F9C9TdWNADcdp1N5jfIgGJB3MdREs/DAhCTfL7e40XpMvIHbuhfskghd8U8ChPO7/3MgD9R9pYtPJa4q5k0BPRUuTV8OFHr+W/W1ivIkPse6gn9WEjYcLFFVNY5Bd/GJR2Hfef2p9WqkfQYWnkAadWLTuuJsevOK73IRa1qfjf0mxZy0cFliaj1HziEu+L2eBlvdfLr5cMseJzkXRYRJX03cZLI2r34GA8WNdCrSaEVv852+uX/nbgVdqjadScW7T4mkXYDXK3WxK1/ihwe/mg/l1Ihtx8fJ0OP+aq3uxnOLaqa7eUKo7WiaIWBCWmyJd5tAd+wFciVFfc+NJ8lM/uUzCJzv6bsi8g0EwuEo8I2jEydfR+QyvBctv2iB/RKMOR11H13dYHLZpryUstr/T+UhvcrS4mTX141+idFgH0Y26lmS9GRq7KAF3mgY/Wt+4vsetjheY7K9xXCnze5mhk3xhE7Y/DFQ29wOrifbdpH2fa8h9wBwNdu89EGd8maJUndps6hYI+vn0YZNfvIypbK972duhrfgl8fqyTOfVVm4Qh9B65kOLm9Yr9HXUuphitNNabf/D0ErXII33Tv3/9jUzuivsw5Sfpq9p/73qveiZHnoy3hsiIGZrcUp5/JPaZuqHFAvUfiSTCHheBkm8fCyixQ0nvenGgmFtPk9qaHc9Qb65cN5YrFgYVuHEEyksb+moQj4EG7UgW1GwYSjqc+ybYZKvXTtPEdvDVFKpglrf9gO9PjMO7oUYIvLBPQzqB2ZE66NXFP3Fb45AOLvWQbkc2R5ocXfOwsbzKmm3OZWhFolE74+Xm2/tm0rxl+5sRPx/RgYdxJBE6ACMQ3WXdzgo5vD0dfwF9dC6b2ws0QYe6b+xrYKdrdRPSodQt++b6fXIl0TVAiqlivTO3YhIfSaKtaEKZPCYatkJcFuJ9eyib6IE1XTh0s3/6kTw2hoFdWwGNyGhK9V6IhaBT8Ts0RFEN56+wu2BJKvRWe7YARTYu61wu1lM1hPkrzxfg5CN/oHMHaCv1uZRHt4ckzxjhz7fe4lbjUJCWyBsX3OE9vLE9CAF9bZzgq4ozJFpllDwlYQUfG2nBvdFX6R3azB7yeRmBEE8dlHRhpw+mID6x1S46bg/0pY/q5oTush9x++bYbsNaMA6nWuIDtVaFf+tYvo/2v68GOeanw1YTtxHxgxLBBXeTy2RVVujWMh1i+nHHZ7f+Fcu/gECw86pdjML66YOIp7137hASOCSxGse7fVuVXhYeiO7MydQLPKxghr9fiE+z5s/6AaXbHjb+kaIQlLDVPMbTALcaqaZRoX0iVoS2KIbgbKodekLhMkVaXNFkHf53+HON4UzwOQVo1LPFFHREjNhi8mJfl6KP1JcxpOUEV4inpBiyr1zK+ZcLoWJZ1xyIBjAN22YsBaXA6PfLURdOw9mXXYSHCyFh6e97OPM8FMGaRj5vPjTBj8kAWMdvovAliSn6idadq6NAf/uPpAFDLJCfOQwZj8HqatT1N+JidlcMpAYZt6hCFbnN15w0mJ77Z68pw8omtk3eHSfcur+FMiaqxDEs8y1XVvtULXU/u4ZkVAI83zdFqvCX4/e5Mv5aV6GNw7b41D+NLylDbaKGrMOZLL2NAtiAMpqkel+IBSskgBQzeqSwxA5lNI6GHZ3wvaUl2NnRWYXaa15xXgM2GDZqP53FJhltv1Qa/jf8EdSF4KMDCAb9Vz49+X9cHlRtrwbNqMGHCu7nQbRjddgX2x/zT6JaFnffQIb62/++ffd23aVYcszjwqjawYgkm9md4b8Ynj+d+NJ3krOR3E6XchkJY/mb4T3Wp5muYATaELPZ283M/zvCcz+Nzqmi4d6WG1IBuwe15zSyBeUwuLArEh/gaDWGQIwazX2Oubc/wl1INIzPZE5hqlHfAUhr7VmSTHtjPD9m43TgTToxWcxjmqMXU/VBCQ1Qbu1fbwLbydktokzW4XlPyqtMwIbNNSpcFbKD9i/qjpMkLY1SJWL0ewotwwrBJjD+KJ748t7+YzmUOhsmoCl9HCDXmfyHmbSiBqGtLj49anGhJWkIowt67sy66jAmPno+se8+7xXosS8zWccm2+q2gsSSF/bkgZKaNfcWq0pzZ2UizyZSFhN/L3AKZCwysApVEJKPh+vBM23QquLCiLk+RyrA9QSoMYnfyds9tsNMzn5tYN/NQ8qFRRABk2nGScGvNbIbhbAKVDagQSnlkLVeJTKJLfy3PeP2pStsysEaTFg9PkU9v/UpfzHtRGTTRTcsOuNpKJCKMd4Ic+WRcD9JcKS+GHcv9xr6asc6KiPxJx4MZRHg7vZmEzLbAmUEMhWvWfzQy///jxsl7w12vMzBYBLyDXHUWXQVdob3QtDJq9q2qPftFGCXbLfAsmcELytr+geSXBPzHWIG/XjV03jxvR78j7KdwvdYbx4LfSd5fwTApULf3q3poyJhp2MoS4i35/SQh01uX88DVyoeQJRUboEIvPDGOxWgHe4WDPqijO9HtpSfKRZr0344Am/Eqt8upUX+cK+DrbRhO2S37Vq6/nZvlX6VgjxMy1YiidyIUnzEgWPs/qOAV32Zw+wGXCcNwsqCkEYLUFNNm7fBMHF8jEYnezluPTOgo0RAWGRgJIV4r35GJBjmlA/jL+zysWIDfVHFYxdN880A/b6yiqQoopxcsykRh3wNfeuNVlW0/Jivf8axuTS3XB0mQ6Qlp6cEgGITr0on+YSeHXOre5WQLx2rmXqN9AxXhyAAAgKeUJ82EoGdqquDSkuaJ3R/jluAe8EvDz6w7uiZ+grm/7revD1MPHvjnueolXQV6Yr/wjOpZWKv53C5cmXyUWVBV+vEO+klit4HBDvgSixOfuHD2FGVIS0DgBhtNYvrBShYkl5n7xlsYkT1nTPscXrkABmCmF2XZemD6yr3LAzL/Nrax86ZE8SZZhhGg0lLLUtoVpv4vrR67D0N8eshEiI98lJ7refgPDIjAnB1oY2TvVvTtt7N/H9ZHZXEMo+bfyiQEp/eMyVTNF04h67oOkfiU8zKCKZlFOKdsE1QyYh/t2BKi8tSwLEC6Von5nxV1a7ubY1FQBF+eLZqoRauJfy3K1hvpR1rsixjmJhqt8U5A8e1YMd4snMDGQ56D5Iy6x7ay40u4PhduK0SwIqMT2bvWJE5Bt+5fvgCeYuARz9czOClX7yFczfKf0j0Bu70fl/jLvQHW89VIInz7m0m8Wz/x5ueACcSV3cbcAjKbo8ZQHfFe2fBpCQsrpZcaFUid/b+XvhOaW+4/7F/8UZK+8cBuvmIyB9uxC/hLbVEXnfeF0+W5HSPax0UaA/rqThl291X0PyC6+6kWLUXQnj/jMM5V+7mF58upDU60zKZfjk+qIWxXHWJ891DfFzRErXsFQZ4CRZpq0fwo1XCv6QG6C68FnNnW1hNzLqwf670h92ymHYzmWn+5tqQT61Qb+iQnvqX3v0tZG3FQpr7lZFQZtUxX5siUzt39/Ov9DePci2s3ZO64QY55MpvmVlOPPwnJVrrPBBclw4JybIJmBN1+YouFpNlsxjNAsilHJA4suDH7DMEgi9P2Zcfwsd+8WUJ2rzZekOmTkyTVbsCb+3B1QHm3AAm77dLcEetUea27/BMksbpDDb/FgLpH5EJTbx7AJt9dXlnTxJ1rNd7p98vUXPC44Z/2MpFIBLlE9gaFtPun3LjAZKXDidd6UI07WgLTeOEJCi9oVVWe+p2Jpjb4drDvAETgkdFmAzxQ9SYi0S0UNHrTRWzM25mt/AgiBq285sZMfvEUBn39isEQMgVTjn8BUiuJGyZW9FPY3lgDg7vTEL59qRlP6IsMo5nvM3ZR30suX+th6djhytLVAA95woe9vu/tIoM5YyRGhNQ6DAR9p/MlFzWSnISByR//zeGHfrgAUdTKTwQTzjGnTEYXH5ReYbGxu+0YLPzzR6ZgOyy5IN7HbIhaDPbR/ENDlVWgMI97Uz3SpofjVdzi20tgb4xlNBqh35cs49XqkaYAOm2ROBbEg1WmEwE3IcjFD4Q3WALbQfw5wa7kc3AChTdkYjaV1h2r/2KfELLsnqkKgEISB4soCfUXW80xpsq6lr55E6M56MCM+G9mVK2iycGHuvlLa40QLU0W2WCoFd6A816k2OrUYGGHT3tiLt4AmOn+7qqzNWbEOvXqqtfStyY4dzg2rEoBW4iBKa0uwf06Se6Q7j/SqyNN2p9jlceLt0XDCbKkLpqXH33F+zx8j3okjwLYnXINpJmGCX5IqBxlPPzPNSbqMwzNLG/w/gBjeVDIITPsWYzEd+y4za0ywiaHRZkGm13rlsXUGMzoMq1sOv0kzQVO5Uzhub4lu9huEn4QFh28edKbhPzA4h1SSXj22WTWDQj2C7StGfIDA8kpa/8yNzzi4SxB3pYAK4Z3f9x+5qoY1J3ugHcoiJFR0kVaQK2dJv49gG9x8pUQ42Ks0uWXiY2Cz2Dg8HSQ5891ko2YI36mgGtLUZ8Ls1aafmADA3kBzVytKAmqapVCmrSCh5AZKlTxII/PEHrtfz+X9oAnaaF9xpnBj9A/S4MdnbhXtnN3q738wZEvJ2gkAkAXE57TIaXPdKhH2j6YZK2f3qB0ubvZMujt8O5P9J5H615/W4BIW+fdt7ip06cPp8l1iFoNMAiSNLYBfvySS0P6Z/YVT8LYf9Wpw8Yf++vz+xetBm9Z9MftRgWodHjXewZrsi/CCMJtZ/sNvmTMMCsWxlrWUHqguJ8p8XDYsTUuU+KidTBNYtNRWfhtBQYKM3uRV6HeOn5Yi4ot/b/v7z42mvWnACsEjr1nu3IZWn5XnaZiKkXIGxPmjD657qm8NYeaGdyUvAhuCCrf0VaZRFSA5XtfN9XHSb8Vi+Ne+VL9X83yBJKVS8Sz/M+Y7m2oQdAAuIHpH9AmpCfu4odCidWmAa+SJpWs93DvOLun7mUFMVKSuEnYd6HAOjC9K9vVx0DlknZkNen5PXOGbOzp4QmrXo+HpXqLxZSk30/aF2NmfLn9Z+tt/jEBS6f74jjEqXYad51EQ6HL76pzt4MtQzUkI85lFRCENgCzSZKvLPJQvgw6LTpfyubEGacM5Q/oLMP/EIXAP1CnAakH1tqvJXPy/tJ0WLuM26RFx5Ivy1qxKzFHRdtnLCTdpnt41whRpQs+s1NLCh3ouTkmcKaKfagT690VMZKn64zicZkoMokV53xPMsn4Pc5v14+au5nLLNOpwlHyuyy2pZDoxQr4EYdICuaedtZFLeSsrJQpJcr2J9qdX5Nu/DRsDmQVM3TCZkdQBQ0BQ1YVOp50iXUXeXg06fgBDUtP22RzgnMk7jIDngEXQ447wVEYXy4rh0+adbqpBlcPa1F4Cj3BO7NxIVyCgDOt98pxKU/6Uix+WBMZYdILCONb7kF33COVQo8gTafS56Z4cAC3Qj7sIBk9YLfHtiiUuSFWNfKnqB87Z+T1MvHPIgLho3R1sslsxEI8jpth63c0OwQWteM8xypeER5bgs1V9xJrCz/biVHVB+syELECy9FR6ruBwyYVm8MGh8CXWDLyjOvjDeXt0qXpqqYVNCmxW2DsF+0FXSuYqXAFJKvV3bHJJtPCspzzAyembzjumjiNvJHgwmE8B5xmq78Yn2tzUye5ECrSskfW9e+FyMWikdz1JjKPXcmkczmKNtnAgWY8gGP4zQwvs0T6eLpCITZRPvRT85lbHY6Bcimqr7ADOeH1JSbtSpCHx6aYfwrEDhpEj9/GN8RM4rgEnF2CZFuOyclAy5RmENOdgrxkgvIjO5OeA+u4WOeGTs/fYOPXG/LvgNKmyjzAEzdMVGVbkknXkkeMm4bBECXplQPDYCFewPUWxzv1dk/xkL5rmO6q0+onB4K88NrnihMA2PqiUqLoOus7gLjlgyJ4/Hol6W4PPB+GXrZaTeqKlx/EyQ6MvEeA/7rD0JNgOqVmqq3geJzBnKW1KnIxWrPIB7oW/Ko0aRN+b4GH/mVRtVmGzmFpfx7sFTpQplgAvgPPKK0gWXFsP0AjHq79fBEkwf/gsabJGRafmIxvoLuF9004y74c1iSfPT413ef9P08OCXXBoBAgaoYxkKEHhwUDRc2AVx3CR26ABVr8DIl8nWFUv320Q8nILSGfeGL11QNdnlQXHEGUpMtecJ+iJm1JKZguoLyYXw02YBl9a+dBqJeA+OxDi0ADQYnZ766wkAub189ESTBHKHULCaru6yRAu1QfUNoTyrjb2pqrU1GRR7pkwuc4G7VY8V7YY3ftdVirN9F4cuL2axVCjqVyQmOofdDjA+yJtsBFTZ6Q6QiyfNjcukJK/iBka2DJb8I+1YWxUOnb8vCXCaBDJ09YASpCIN0NvicX//HbUdJhfxY0lXYdZgh4dNF97UCOXRiwP20guLJ6iTF4V7zquxmfwKuqwnmBAThryECGQNYsheJZf+lZdWb8VJqBv4GYkq3oMUT1tg37jiuPqzmHHMcinEVGDxmmVn4xnv+fPszd3eT/KjhKP/RPJLpShr8FYeA3ZpHPUvOv29WCcUyPJOYJuIG0AWefbXkdW4JK9GsLz/1H0bvYXBa0lKf7H9jCVdQxceo9NCwj9yCQ/u4Bh+xoQt16ZZdiDBqn4jFcb5u85Cu6r1LLsKFlkZ8OrL+MozqLaicxbxRtx/ngzni7/tcr8J0wV/3L5PcIVUCNh4dmi60JyOY7G+s7VGFyNR62ttVyJbfT/ZrHvdDvtHGx5mzgXhtHTaXAU6pnMnYMpCBQeLyTUCwfwfaygvQFj20HsQvQ5hhblKRHT0+A7dmEkZD95O8oQs9COco5F6UH6NHnB01UOdhZS2n3FqHeoyKMOUHPDtoLJxjMvlhMy7WQ7HphYvyQuyFRAHrUMuuF8b1nz0FX9C7nirH5JtUQ0xCb9K6Q67xsmQnc4HszHVbw03m0ybX3I9yE7gE9cuLdpf0m/BJAbi6x0NWQ2+YKrvRcNTmhVtQYCgxC6VYWeQk5i6hkeA+ykykXJBPJg5NHxgxoCeLzvkBGcylE965OhN3aPr7IWhB3gmf+04CX4y/2NjTdNEjHmzoQDa5NqAo+9y1BcHwZAc+llvxRm/iM0G1sL4Su0rAYbpNPTH0emUWPfts3CUkzRm1mQO6QRESL7uoiAp+/yujJuEsq90KSiFIPuhqQZ9TtZBpJOFLLYJXfdZ6DuAQgveHQvL0dBz75K8B52og3/LlpBi/HlWRgZO2ZZ4wyzsFtldM8f9HNOolzrLJY8DEHzveXc72Jd1WiuRIs4HQKLUG+jc+wlvA7OQOqub9BHt+UpjwyMVvkb/oVnj61Tn7ZlW0USJvSaJfmL7k09X6ABbv+2Dfh1PCQ8yMhjDc+/sMSOZePO5OeIgQFX/MV3cDz4H5IrLoPvowPlAXon8gTw0iiESokx0A0zkjxzSuD7SPvbxAIspgCzPywiVYE0uREDl+iroHxevc3kYKOwique4sUv+y+c1mv+nKOWfNBGNfGNM2wauXRVnPr15qvWbjd4F/cyJtJmtcOFaMtA+Rg8fh9+DpmmhEuTURn+FvFC/BdBH1KCLHiTo3pPhjHp9gR1dcykr7b7XMUjoz8/P5azfWlooKbSAQG+RiYVlg2ZbR4oJyIv0fI6zrUpRRxhAhwqU2+E1BAJJxfbF+PdNR5GSiYkB/w78DToXoJLBu4We4F0FDNUpWOPJ2CnguWGMDRC/CLJjADgWrxo60tpiafOirc8m/VVELgKjB6k6uYy09w8gAYYEGYwKhA7yOwlO5d/b/Bh7lh6+5kooQvd4dfRtuox/zm2vkw3Ie9NcQ7vH6QKtj7hcSIIc8v86ao22Y9uQ630jJFEklOl61V9cQavTxQz8ma/yVzziNErpEMtAr+xpt9tsef0GSugzwJPZA0lhfITF8uTYYh+iKnyi5nDjL1SsciLBmhhBPgu2p6T23njtS+BsiTYqUT6PSFTAFd+Boy/xgj0W9Axrfts2Sal1/j36wZqzUpuzEhPLoXXDuzI7NtAigvwfcr+Dpf1WUPBPZdPJCls4mx6XK50fQcdfW659QVlIhOv+LfsIdnV1h4jTWq6RIpr3ypcGglwuoOLmPhDoar4IW3kZuLdPVfCGC1Y6SAILH6ivYIHOmbY1AMPshspyAYP46BpFYpr6N2W2gGF6Q+RILVzgUbejgZHYLM9BzsbwvtMQL5FTD4eIq8qgoeOSs9CEA8DPHjvLOI1hM6tPvBxEFP95sOH0dZXTqZ2+hu9G/KyOBNb+a4LizJxBGnn9kPJX1zD5lxpi7ipbmBsj80VOhNlUQ5ffV495TXRgZLZYT5FaZS8ObHagZcsS9nD7woTieEg5cUIIvXQwxZYYWBRWxxhTbmZ63yY1d+E83PB0t9Z4+W+4cVHC3P1Y6lMZKdOz1fjzaeQrmeT7o2wZL9Hz8pD2iW5+Vp/5eyrSFYFPzCuHvuVF288nkkVE3Gj5Vz7MqpGKvEeM6xdgTZ5sn8X5cV3vF6GicXk6QxboZ2/qkOy8UB1adFN5lJ6a/Hh6VOG9RCVAoDXsdyFL4UJORr2lQG0uMjcf5sQ04NN6/JAiNgwWvjoF3TtTUDr8lvaZkVG23VgHzEgT+noW2dP6AYIS0nQ7m7y8pv7lhE3oJDiJjB3+S5xfmmcR9GNvEue97sLEELgE5sO5M5n5qZSliEoogMdErShwAKU2Ud4PtwVKJF4IUNZjl3kdmHCp+FQAQyf9RRs2OaioRHwkAdxUzZjbEjOLZHqElK9gagdrra9+fqZ2PA20nZoPMU/z+c8YKP/+FpnlAU3xJfBOcwrEy8CZjE4DinCf9T5c0SL5pR6zI3QDk+G+K1S8yKc3FzfQ9Btm4euVdsqZiXHJcpXamdvFMOV1mfoWT3PQYyCXsyP4jVWwc3RhN+adqGqS9wqmsSUCDsh5CjqJ1C3TavAH37jJ6X8WsXShOItWerQeWWJUsg2DZ8fNMFRLD7cz8sX2rEAVJqGWu7ZEpJgSKs4UoCXbvTmxQXAm+BfIt0sA0YMx0ADh1fY+Wu9h3snixWFp61hcQQLYKyNr3A1gYdqjEc7PRYIml0EH0D/qYdRb8oL43sotULIsAZY9XsAAZtJFenAotFN8ukIQxx8vx6RemYLqodxQJYHpzyrcM99bIetPHfMd+gM30kEsgi2pBWfZM9Y1X7D47wokEyWY6YuMDJvK6wZlx3XRoBa7qf11TGC3cMLYbBjPV722RVnTGgSs8l3jtgQKQ3WEFv0eV0tOCh7B6COqo0Bj3pMdaDwTpDCckSwGsw1xZqb/r+IsiNDxC6YgrZzeTAwogwOfKa4VqADZe+jP7gjheIHlS3x9wtWYxahUhmKN4iaJ8MaOmA5uesjD5BG9C5m5FuUNTUd6iDbUFH1J6dIcjoA71HzeopxBjZLa2opbMBvsi7rFcb3wpy7iIVtcGyZsMwwCPfWl3J0ID7Jy54hIMk65KHJGqIxXwyZ4P4V4/TDeqgVaTxyNRGlR4+n1X4teZ9/vAuLAljgyRcG6U0tuJDH9cFa/t0nZssk7dxEYRxIaqMJUbwj3znMX3wKyCucS6y1JfO0w6rj8Hto0KOWd6unH7D5enaHdjkpH8Q7PxLrNQj109AADavw/nnQOyHuXVKoUDR6JQZ6o8wyfhbuA8GbyrEb9l0be27B4R8ayV8nXEyoDA04sMqm6XtV+kvwLT2pJx8/O9DLAvjDf1vSKzeecBkxwfEk9yTxJuYXFmOZDyMHfQRoyzmiD01IUrmmSop4lEIVSzedPT9gC3V2YQF+rFEpXr36LIa5HUfJuyIdi3MQGjpTyk6KyjCegtzNAOSuoxGEiHkGVGsApgnByUrF8y5VhPD07BHK/6RwdfaTUNymomSChGjU0xa5xeYnUx89tc9KQQniyuBTKCspO19eJ3SOFZCUE0U1+lnB6Y68zA7VBbLtzZNY3p81ZvAk7aGc77oC4CZNyDJ5fwBmS7kV8Pw8QVjAdf03fm0J3uZclN6yOcTJNluhrmsMchs3yclevAtTXBzMqkwEJ4xTdRw9/285lc8yroLjCd18TcCSV5hg5lQkH2/ovwlBt+I4NxqDePJiax3f4VNRaJ6TaKJD5sFbUdF3NjofzZJfnzyAxm5tqKHAUkyUJGV8CoPUaYkAu5IK+v6aegMte9j7cYo8Tq2R/ijrDM9kdUoxrtuyU9YihtJDzAyrvNzfinnLrwpb6vX9cKLxTshiaehsoCcWkxx+3vj5RxP4vR7FiXTvIKLgdkN1k8onqCf0m9Og3yaKa21ny1LOb/7351zcXK5aqSa1eNxTT5VLtQ6iQLAqTVfzEiwrxN3ZDiQXwOZXBt5zPql5IVcnKFFEJxfUzTfQd6bNvtWtMi0ENEQK1Y9WoX80+aQHyUt89qUW8tR9Guku1pH7fptGsT32ugv+uKKD/r9/TU0UE2QovvNUkAfcS7khUft90lbrykCLLhxAewcZaWIMdXaQyoBbjokvFV5CwB+/fYjZnaFoU3ftTicWvrLmhJloLJ3XGjeIAHJ/uqG7AV/Jh9AmXxplcNcdiJqdJkRDgZBccUX1J/WrRY+4NMvhgG03XQz3m41MrxlrbEMupndLvKekJkHv9PUC8FBpv8WoxUZPR0RBMctGFVq6QsslXS/csGupbjUQVqmUcGkgIsazBzm8TWgQqOh/ji5syMh4jvcqwJ9P43T9/0RjUz6AZ5mCajmziwTyIKMbozH5jwfaH+l/Hau2XrUdasjgTDrkTqdWKcQ+9P3jxL91gd4q4kz3oszvUHVGIm3611dY7qtgMtemh7ATDiTZZ/+YfdCmR4XiPnRSkTCapHp+M4RHkX4OveF94LL0x+Hrh93X7KyvYn1TnpWOP2k3UGOyjXCL2NOmXK44qPh7X6O1v6YIpty5g0LPsT4JsgqeePPw2Zkdzxn4NRM/nQIOfOwONP39O/NM6aN8HsvvI0NB1lKzuUbtzLwIj1EcezjIwALfB7Fe6TSQ9z6SlidGWPaBhYaKmUamMnOcsvPoITqSKXfDw2klaXdgbFYF0tLptul4qos4vJMHzOpUlOLpk5AfE7C1mPWYAGJWYIwy8TB2fpnoWexp54NI+8OM7XlNubRUFK/NURpP5KIR8QyJJPjcljxden7W3nyEDZAXasGoodsOMYIygE2o7HQ8k5Fd/9BMG2nzb1xC1/WIkR9ECqHBD1RRSK8sokEFzT7jME0u5Fi9cW+9h1JIrYHHp5aBtQ/iLgXwLB0MtuSFpssW45M6qDeB9RyXbQKQ1qqhzQgUJj8+QcENp3gPqAarPEVNYNwRoe7kkuIWGKMPRE0oXhx0iiumjzCkaaFi52LgjQHv/Z3DFRBKpFl9A/TzrGqpysTO1fV3QJmqSb8oy5KJ/K+uqaS4gzAjQQ1FzBCxtTKaJyQgOE7YBWv3TPx/8a/R5clz591N4wUSIsCboYgRtixuZNUn3V0BLmS65kzv9NIUkSyGkXGG4evlpqHyAfGDpzc5AmD5BauhYEOEyh2ScVQy4LZtWf3/3FWFdNHoFjTmAL31PBpqTdVms1jWhGjLFi3SBhzh6PTV7lPpArekkDVGE43APHiLi4sgI8EC/Seq4q+jnslK0F9IML80OnQoXDyBhnVKlRIZhlqHnfGWI1rHAK5f6FlCdkJGp0OrA7LMvEbUKudyyEay5B/Zn8h5YyXnyCHM9CCc4QMQUFt3TqK28K2wPqoqhXQkVNY6RORp+sQGQrQaxVzPZPjyS39ODr6INkREGKiLvICJumEnKS5GEZ2qu9AeB4l62k8qZVb8+YsfgkALOifKjD8VN+cZzVNiCb+NgaVrbDjpDEbNCqNfpNjKSIs1VRCtP9sIBM47Xb0cWy4CfyybLctlLplVbNQ+hENwLFBGs5oaGSXvg5dCZkB7KyaRv/2JNDMUhKBiIZJ2XDvzmegU3jmSDM9J0vKfu0OzciP/Q/lZxlyzl5aCNaToPko9K9i6V9n9pOQvhwS1iWhqiG7554arCiJsrFP9y1KmurncbV1AukFYFhzVFhJX5FUb1mKhs7nsz9zfTUu4lJNuytZJNH9zgCG2rFTv+RQa/B/buqednEZw9/YnEYArSjtF2qmy9A/TgQ4UNm/jBh8NIljWfz3OX8zYZc0xNRY6MXaG7BF1QN/FJZH5rUUx46p9xGgmg8j1xOPsPI7XNWTDl5BbN40Wd0L1Pc/AA+MZhfl5URmcpL/bFg0M/NIC5id2RjwJfMRWtza/E2EifnpeBLHH8OWO5pQ3ZyGFrFgJBDcCWnOArJ9S91qPnaHi9/OGPEl0mGnrTQXGYbGK+di4UNEL6dZnK1GW0nwcrR9DUqd/6n0aKnL31ah3nma14HujwVu8TwrkKQxvfNBQns53WEQidz7f4RKrOLjh9L4KeILwUNhKTrWousrLtzUDLmQyuXeqMYT4CEprlhBzt9kh8bDXTC/LN2YykLLnr1pGlDmjO/8UUBVbP4OZ0y/9lJkn6TfwBSqUsG6dXrBqvVt7acpGHJpRRnyPxr0cZmEKbb7xck7Ef7lq1XUufI/wT3zWZpozfzXHYeBE2/X9pEpMTgdl/oHhADubhatQ4OxgVK+HUXDcQ6/wIoEooQAiT/Ss6kk3sfJki+05F5Xlh1eJHjFPegaPONdupxsC2mRH/CpZoQ28r788YhL5Ld1anIraZaZKPMuk9y0fm1V/Q6DO/boz5cigPOVIbdlkpuyR5/JI6u74p+gnRQWNqFdmLTEV7o+4WSfWsR73XxjwL+V4iEHAcKx+jvjK19AwTaWmjrWIiARUmP092nwOKGaOqxbo8RXKLgZpsFg4rO8z/FIH/Fr1HrZ/s0MxBrAahglJRdOd/uLQZh/hZhKBeONrXwvq1dCEyfOQyt3racC9FCEl4OEhVTzxd2PRdyGYg8w9n40383l11jxLpMTmjlaky+nxB7uYAHc+G/Tll0ymAH4CAQnWVTh6JrzBwvcQpGHkvyS0fS20TveQGTIuRpFuSkuMwOVB75QQ7Vfjd3jgi4+QV/RSLTvEWtOOwb+vvtb1nKSdroAkhGR5+dpPxhYd4hs/IWS4jzFvjsGg/2vouwEQFu0XTzV24BowhBSDik4l50pOEN8m9kHgg9UGVGgdC/1KKiW8LaOgXZrDyX54M4ZLoO+CDBbC4Mqa31vU4LZBuny1oQUdZHHttC2vt7czjaaZHxuwDc4rYgUjh+h0sTZLNNp9ysLcohJYbvths0Gf5r7pPXUSHqKSMjzOiKq2spJpDVaFMmgHeHPsjqlhCggUjsIy/McuTDZq2Z8gR04o+UwotPzp9WRB4EAPEBTBdu50Xr9+N2J+GZfu1oEA/kYjDm4a8yWsC7mnnpbw7AmST8LVJjHMBL22sLm/+Z2LQFpJka5wvZ+xpWjHyu6AOieydUoEpV7FF/kMDGKW7F1+LMeHNE5iiYCfaKznZBtscL1YV7Bns/0xppE3wvTdeHBmnJ/TU4sqh0o9prqNr1MT7GR1AhwB0jTFCgX1+OqneQeTMEX6fkB9H4HEDgQ3W+4fbRXPIQKdKKxE6SN1J+uegXrAVvLqDncz9mLBVP8HUoeDqR0Hoe8ViIC5kOQU7itTb/l9FfTjp0BtWUVdTNZh7R0bRXgi+ALMwakGI0WlJaAptMVGlNDIVozgryCprDZ0BvSKSsjix1LtyLDmkjjbzbgaJdeVLcuznJVpJo0Bi3FSAVAOX/bQrnnOSYlLXw7cIpi6JQ4jaxqpcRVvmCKYGucFStU3jWtyZmcd/2EtC/Mt+7SZxwXMfa6NFz3PFt67t/tXXNuIlYM/68WUAAAcrBrIRfAFuCmj8l8m2ShDzthvx7Kl/BnA91n5OZdWUhsjze9Wuj6EISclS9xogyVfvJI1VvkvGxj9h3twGgWIIG8nYgKx29u6A8SyL456grsoHxvZ3/FqBtLUmo/2yY1vcT02is4pGfnBEZwAP7VMh+2xca3pwGUWKQKEG8hsvew3qsfpBHWUmul8wR7aA5VhI+OvurzHcwKwIncVHYQircYCdlHKFFCO1+xFCBPlzgu1siCADcgqzMiQ621RbLCMUgSNyXtW9k07dHreZRjc0oKevi6//jduisaM5wXKB9z6uhy9z+ujxd+TF3vtAS7ErIdvkfB0PUNZVMDDgnMj30s1A4krkwm/rSoGWlk1FH25a5S5ywC/YYcRohDy7AEnN4w4TcV1+j4ID0FxhYjirI1WciuIjmjAMCeX50MfsOhdsrK3ZzGbulfjrOdO7924B+4Rqe8uvCIsItWtnb3w5Cvd3BGrfCHrTBcyQnULy4kcOBWDhvL8CX8LzmbhjLj86Sghpm6XNikOVkpXnji6ECCTyoivLLwZsNpncZ1uKVwfS3Cbo9PTVF3phm2GMUpX4H8exVPiYhvXR4GXTRm5292BSETrS7/oVz8SrqDK9/TIpKqUtM2fwH+P3D7sNKMndlcIlqsFxgbttLuh6ZJCGfyN5ODV8Baux2pdaXTazYxZ2QuY2XLxD3pLOqmkH3YLh0mCBCXnhQm0aG8F7a0ianYeyiLfYNqQQEkbDxu5yiPkgR+hUDo9veK7TPRPHy/uDaz1azVx3ElrPJU1j+cE8Yrs4Vh9MF+noI9E/r2/mT+Wf2Byu5jm5FPxERegk09Y9Sn5Sqj3VNT77WO6CuscFVe82wkVnhrSYjMkUaU/ZGQ2vBUM/vhS21UftceW1JLBPZt4Ki8aAp9bXKUJBmaqiM+BBKXKl7XXkdhh3u7elmFGYgq17RFApS7wy4jh+SgAEKEg90324keeIjDZB4lPCHE4kE0wTTILHfRMSeeQvzKDhA6TzUP5NGrgs7JtKNNOyGzShnGYEXHwiGc/gfSG1iEuzUt15WKTMBtkdzvAjFMLQBLgKmimeGqWibMec0SpUjuDl9hFHTYDnX1mVIXr89kvVvFgZlFK6YXmkrlybMvLAz/gaNLm06ehHaOPgPernpMt9s9gRsM8QUl+91EfbN0mtm2TFcVYv9zuTVamiT9OSjN8tIk2W9nEnIqMh413PTPSRFHx8AQWTF1a3OUucGXK+ZSo0jyFrRih5jVxmEPQmekwwyrE7C4x/IzLBVd0/kYnodIkEA+eS54xgIj/EnTiI29EchkIC2qbCR29MB4cAYtWqjG00FRqdvaV227GqN7t7Jd4j0UfL0FdVqI4woQPKYpEF3y4X1nTN+wWvd5wb9dv8bH2g3MQtld8sLkXZde5fDR0gxlTPF9mCgc5MkC9+yjP2ezBceBnTMToC4gpehBtw1qeyar+IT3amH0BY0WmhWec1Au9rHTXiMyyxkhG+88DxxoDWHGVfUq7JewF+NzkiA4hQjwyaMvEsBC+QYE6bmcTkypa774fduHO21H64q2m+BoyIh21OYz6N2bjW4/HpNTj5++qb+nQu6bBkGALGUxDzxa8Qin/HmdQtJH9HDivuUUsgbK1caBDnyJAMavN69y90nzdichdPKArsi9mLF7hXytoDoAjkb+qnBn4fWG/8tS31UBn1NafodMv5Pl/hNviu+ygkNPA5VVwryVpTR+ECKrRq8cbxe5o9gj2aEpnZ9c7UiphBvosrO0+Uawc2WvnKpOdbWXV1QU5iidtw/RLMRZcLJq81+3Zis8GNz/OyYoYAQwJXRQSZvu9GRljKG6tzHGHiqJLPHpRYGuL2UWEfyVtlafLXM9kKDKdQZ19ZxyU9vtI2NIk1uUU5dW/gJEgp1AKTuKxCkG/uDdsZoCqp39KII0dQK8fzV99Z/NqXXbb/G4pRdyPSR1eGLfJ4VXStTauXzlGaxPKtVzlo7J8YV0CoArUPIH38TNHdw8WW5YmNXSVXaVRzt9B75HnH90+wmpYeFGSafAoZ4upgC5Ak5CE/t8QGwWF5Mt/HSnUckKKB/uGAWbNFFGnxJUywjFbUEpq8qAYyFaM/dsyyH0kRKv1IeyLcgSVcQbJq//DAWk3KiFbfPsiAjDOl/5+kIssqNutDSiGa1HACZ+L6NTKaLK+pnngBWX5JkAYYcS0Rw8kwJX6lXkKCplGcLhh+8bSgkJJl5yRbBGK242Wp9rK/WvYVi0zVoVYyHu5eefHq5u2l72DYCmaKP5ocBj+Ti6GQyM1sBcnn8lyK5/eV3Ts5fwCAdEid/TRwLosYA9n4NKcikaZXsNyxkpedOkdU53annsTfXY4txtYEI2ZTK7My4qpQcoAqzdF0I/s+tvJLi4yyGwsNWzV6/p/3edhUhR3EjtCWX7aig1mzgvGx9HHZDooSw9321nMPd1yFuIfUc/pVKLnNWuR//NyU7iPdT+Ts5RYF/O3gApgwrZMkqEX91B98fh7NJOeeiArdJ+CwIgRcArIy7Pi4+sClJwhMRGLxCKBHwMdwoImZikNnCWOkIN7gDY4fbcmUgcUusqI0KMsS2nvQEC5hHpsEFu4RnoRfGXEkbFyT5QpFzpMnxxN5LLXnc3POZ+g8j2w1pVN5l8zAMqPinYod9tQu5inHTDV/GWHaVnxTcUeRPTpH7zd01f6W5Tz7n2p3Nk33v3zbBDfQzBK5NtokUi+dhcAZbpBilVbSvHG2XsIbAjoq54+tpfS3gW83hs0wUkRvNT9F0fB7WhWBjkcGdxItESAcch0E/NXcEkfI0SHolPDHGO9DOw7e5Nc7VSrtwiAuZHE/3owPwVBEvGuuP7qmqMeGupU7hO68GErNCg2zwHaOh699/tyVh8eVr4JW1j8hVCtU3+BapZu4VwYabj4WD87xXg2Pb3th28fUf5/ZK+1SD7WA1zRolzAlYpw3Jb7F11Nsq7JmC6olRnyOXVV4pVEEFXKmi57mTNwko0+jBZ7GQay1Vd1/oY1HYkB3KE6QeOK1oWIbMsMQIXEjTXMN+GbC6UC87i16dh+eadj0sK0J+Df89elVkioxbnZplFIGYCQhAwwfJERxWV56ToWeux+Oq7pJEaj922rDU1D8TyfXfwTpQou1swMUkv3S6IST12nGW2EqrttXbYMWmCddiRKwadiVUszj7FgsPRJg5RZqD+fR21IAxLum5YbHSWrYgQ7c8qog4xTScCTuqek0ZddjD0P5VGmR7xZUW/9qE8LfZYm+QuRV1aMRGadwPdgwWzHLIOxOg0aawMNo2rwnDypI0m311gtcC0Q/2ko1tQQFBTNkRNp+oV3am1Q+uR0K5bbCi6guT5rfXzMtjQJJ3ZDe1yQyThbBWwYUKX7mhpPrBAcD6h5afcPLGah7ueL8LAjUVLDm64x2w1nSFsrqXsfyowvx3qI0tefFKI8yov7VdKI11s1LGwBDSYAr8Y+23KexcgaXMEvcagt1niq7CX23OtcefkPAyAh9Aysq2hQ3/Opv1JYOG96UIGj4MEN7/xdtGw5CO1E9cTs3QeknHpV4UbBGKUJ+7BjaFo15bwyx0Jr7QX4AuCNLkDXRLBmZUcTFMADRzvGAy3ihRzPLkgvp42hpSTYH4rsn9kBcCXhbPcD1wgFb1eEysWSO2X/R5xT22wCGSn+2qVGdFfXMmvaHBOMCnBktkYfOL7MNII/L6Et4VDTrgj//hDIx/GPIEsjkRzfE5cHcWwV9MKu0U0W/qfPraBSCje1Yhw/C0PMsvR6112As4kdhHGOsicbluZpBapzOIwtzQ7D8PXnFVcpvnJ1ytuZv2d+4Kjja3LsAuLwgO1qqulvyS9XEzdU8rhtGR8X31Fh67fB2JTn6rhnphp+7SGV/YIOb5qEBLPpjNYr7U7/AljNdc9LqwBOi6bW6U/23n6bxZokEkIi0r429qV85yrvw/M78pw5T8Az8SRfsoaT5NAgtVlaoW9nCeXlkmrUacNTJJOYGpC/ca1p2hiQf+Hbs+/6ffRHboY+lnmaRKiPqB8XoJLIZrypeUo+5sCerZzJ4knnGV415C8gbEyclTGmLLx3PxxRMpNTJbNhUKNRHdTneuJ5mN/QheCzX03tgy3vyp0k/cD0/dV4dNhvoqfPj+YwZJ+YgyINMmvIUcCI6YFWIqkqqEJ+x1OCa57Lu8ey1/no5do1bm/aVCch0kIhdytXEFA8FHG7hO4y3FSk/bBBbd5Q14h7ajGpFqF5dU0pAH1cTR/9BFMMdCPpoXhh/4xQxOTNOZfD4UdaKvtjmycUSgULgzHbF2yi/aBXkVWHkzMnAD+UW/3hHdJ1jI+Vno/WTJOZ+5ltkgSH8YoDGfVfWmA35g1TzX2a6/SrVm2n+X5oSPA1nWCZ+iwnv4Q8tonKBQZHURGbaXopBzMQ/AReXoVS+5Mrz6+v8ucLyGlWZndGUCDlexYtVjzSBWYVjcdi7Oo7dF4x4PVmvIFIFfPYIYbCVux8sceOADdgih60YPLn+hG5t6e46BIqi30Uj6wyrDz5bkIZ1UA9LJKBwcAjG7jTg++6l9lzIataCcBYKsf+HAr3LtB8G7uW3x2nHBg3TFBuJfFPzR7WC4TYWOCfiHqTrbu0aBf4mZfZPfw3JUrYAEMVbUDOaAPcpPsT148LyjQ1IchURXVSl5Av8XUb4VOIDfD0vfWP6FKGeeYDDUPTVtbQWvLnZakDySpxAp3irlSum4fQLxYQ7zVZAVnrJaMqIKy8srOwz6sxHM+QZ+8018QdlURhJrSMmM8VoA32RBNRxoLEpF50T8ciKRe9F4wYM5WpWAWazTX44k9n4qqFhEg0QB4KwqjmrX8vOjGDOOrM5SD1i81tnJpoifqioii184m6OUi98gcOrt5x14/ufIbQAubar8rezLLhdSCotCMbCcKF3v02PIs33jqEj6vpAeh+RNw0WSsAovqItQvlIQs1gf2fXuFT6iGShUEjdPPjiFGf0VpzLGdfswuYYxZIauPq8WQi8+n60nBBTD8fRwyYLuvS538CpyT8g3ra2YzWWSgryqmvfnInXkto5xY8qSDSjJLcfMtZLacn/bLt8fAU8RD1ztjuBEWg8bvNyn06JoTtCBPUvFvDShBh/pLGQVM9emUDRQMVKSf3R+tOzoo52J5Ld7eZtGBnC1HZIXC/pNMG8yfzKKAUgwdGNbKYqey/rgTpg5SzCtykoa+huwadLfJWI+5CToqUJg1YqsYyZfXWCizKXgHWpuTQP5BZ0GL9dvOUbIyJAzZqxvvDLEk/7mhnQ/znhED0xzVWcmRjtaJjynvF9GZ/6kmbNVHw1VhHXsttlYgf3WoxK4YWe0ohRP75BgYA3/3+zvBDlfnUKGn5kutN9vWsU3XqjDLl1KqMUbBCeNx0mnqDHF/3p4mle88mga8+jgpbi5Jliua396/4a6GggzxeWB9UCR8e2I8sUBeMU9EF8hYLgoqQohdFkKFK4DJLbrsUNvo7PdIl6R4+pFBd31ud194SjIvl+G4oxNATETEdpeAa9AJm9TPTWPxIFb3RpfxyYE/7vRvjoBp5GH8rvDXapsP1jsO7tZBIa1ZLxxv0RgAMhPxjsXTrbOJAEDNq1Y4tmnaNY/Ns25axE6hfsgWGnBvLJQIxksiTjneTSzGKHpp759kok18MzEGlJ3ssdnOib39A/H3u7UOoV3aOGkuEwxDwfkPPcp90mntnpllVzUOBl7y+V93bbTSDP6eRFtsuCpGVIvF5wAD+wJV/BRHuAzekj5E9caH+pmpR+4Xy0b3kYs/qxX63/1fWaLZeHbzezWAU32aZt35SkldAtnwfj4LRyNzNnflM6M+eG0fBG+K0e1TGMByOjKj5cYPMoY3n31L/xu4cnQREJSq104/thUqZi+WThu2erJaDB9Z/zA17X4MwYlvaLsVFEA84ZltAfSxQL6yXdyz9kjPqY0r8wckO9BurniSJlcOr0UZWeyotJtG5blhJU54tu7XtMrxxULT84K/njyI3LRF89F79hk8qlqTGqaGFqjuEQT0NAV0HlYmx13sxbz1JLO8TgeBg28GziyszxrYrwMMN99vIoE+4B21OESmj/LcmsoiNcggOaIh7bV2WcwxDOEE52+sVSCjoT+coBrVw8Ll/yCkM97L9NycO+RMt3DGFM7sCVDdGZ9rni+a2hFJpFVsFaSPshoo8qXqb2m0D68uDIJp5HUMppiKSDhnWmLwxFMypsmfSVtehus1T3c2eC2l5pR1GbPKdNt1EdsOYuYHiPmQOdI+9iHngeyPW7BnLcy12tYlu8hdEyHk9awjqcipks4OHxuTIOLMD5v5tHhpoQSlfUIHWR6hS0knjhMUwnaLQCrPuq4Pi4RtANXolDdMkrVqdGnP3RjOJq6mPmx/nNbYj7j+rkv6t5VqpUt5zGG2x2QcQAF3NtPc/HnIxyOkuKi/D50ZxqpyoG0lhIK/soXMAIryhlLEUjokAELOAXbrn3nbOBVeaB23LC2dYmo+fdIZxpHPT11V0zxQO8rm+m5wlbhuRg2/ogcvmMWsKy/Nxejs5aKCh7u4b3fn5CmgFtg6u1UE8zW2Kbr06U32TZ+HujLAovBczO3UmsDSAR4uWefaWSWwzxSIXsNSsxhdZJKBKIqFjVP+rOq3V4bdf5XiQHnobRN01P3Rs1IHkU5Mii6epLgo0oW3faqHXTbJPx+kJUugUbOWezpVswRd/6Prbvb6bg49RedqlgSDAZNhjO+QvECmr0rjOQ68kCcWQUXAY7XVt6DXa0WyKOw9E6j+JSs+HN+CijUa5/vvqf+H1kGEDKfYoUk4gjaWmwuJ0Ep28OnWwqxCgnd2Y5MQQ5r0a37H4iVNQSpHPec9FhoZ3TDewhnbq0Cl1ySxD6Qq+tNxjso725wEHUulOc1oznb/D3YnXtwLb+52qk7WEmke6vQLPMYfioh4uaXcSMEhHDeB7TRvrJxTQTSJUp1f078wlK5Ki1sG05+DFSit0aj14trsqrvvB14RCCWAJXqTO1ci3JcHWaeeAV1XVvJmN07QQA0fGNQIaTLX/5n7pJLKdQjs9qffgelhiBimjFy39FBQgGQzs8PVoiV9psnk+KhyMoYO9hQk319nilYdrFXUUcpQtx276jvVWnI/vcbtmJDWgrp29bOwqlpYIad0ykjsiv8uH/X9sg6os5v3i9j/e9RRnV4PwPRjAoAP0vT7o2fXHjm2Kd222aTBIaEi5EutWGFzi3IXCxDxRCL7zohEaRuugHpylhbTmFCJ2m6N4lpg+roNWnUhbiyz63gc8MeADehZsGIit3g+d1CKKDe5ze7kAyBlTIN4ke6mtmjD6Htev6RGOwKxEIPRsnIuQQj8w1Eg/7f+rf93AeotLUxnAJF3GGKzUzaCR40FfeRIn7gj5acOh3fQ/cB6fo9BQH7JCa2gDUoAuX8I0VAwj0se0gno03CZzaiXunVAcQcyHwnDsqoBTP+0oyx/5Hwj09CvLoB1NdpOA4JjrXPjOPh+eYAk0OO1nsA1FLi4Qan0xOmVo1BhS/4E1CJqrdA5eB1zhpf4yLyzsJaYJtIl/9ouCesPr8N1apP/9Se34Ag4CflH8/bhJIXIMxeocFtnO37lVS5RdwTJ9YBvnMBbIsac2ks3vubH891hcN1TKLbsbUbDmSRe+zR98mPaD2PG7JK9PGQL/nGQBwUiT16+SDHXLnpw1KCtKXUR1wvJ61u8VM+c2y0efTvG4IatnRa+JA1WCmbeh1yzawmBWWABhwnB9AcCz5S2H325X8bxGAxkMLOjc6Z8BARifWZn74oaG7IZ72MpuI14kSLhBqpdu/bUcgza0z0lgeUDdu+YAlpdD/GVyorZ1d48ClKYLuCUhsrVEQi1ryTbTby6j+GdgVDtYyJl82mGbaB625woHaWJZTevOftUNyFwRebnqPFrNVzPUBSoQlj25JLB+Qcjb/mp0oq/+jZhLyyjMfoGpGmO0qGQWEvCgBZJvhbd3JDMO4TJOGkgBIvou/LaZ2LlQEMqN1m2ivafcsxE8NOrWqV4P5PP9Bip3orxTjg1X7atrZEEu4BBNHP7lZ1zeGw/yijBcFDj64fra+w9PbdBvW4+SAPR8EPdXhlS+UFuDFp6Oy1cBNCD49Ih1WgSiHEkRmfSLMPlX3PcdDWPX9uA60U/tsKzTyycJ2k0LuS56XJqnajrEZJ0EcFYwBUwwE3ivNUKRS2Q90dQVRLpsqqy3H58ZdAeHZdIXkHlzfWWvoA407pi8UQ9BtgG82Oauj7w8NEMDKJGP0cpnD8mww3q5jpG9tB47z7yQy1tEv7CLmJ8ROIcoBzT2ezyd5nOSToUWrxfKiVkJSwGzPPUCKubEym5rt0AaYybQK5XdHP+0jEu3zbbgu3s+TEIF5EhkGTV4IoEeCRyTKZRt0jAKRMhc/FmqKAE+6/MxoWnD2xBGJ7ShlE9NYid0Akb0aAjzSSQo/peQc6AjHTNftMBdulKHSgZQK+nNEKwogA0Oo8ZErRnJxwIvAOOJKXEgdQzVUJgtwZsrr6xx1k9Ob6Zl5gSsiGKIHtKYlRROopLWhU1CBFeGmtYq2AVGMRba2t1L0/2Ack8RLNMwrbjteDPK96oRcDuiqvCLQ03M4olF5OCm5PNOxRPQmwGbtQ6hTLpYdNGPr/OCzzonQXll58u7sQN+ZW4ZEquo6XQEwJRjSPJA49ZU/NfWLinHRvlhDh9UTgVkM7S0nLGgL4QaD+W0Q62nrdrYQ6naOjg4bRYERUjjOnySKp6heR2PGZYBA/4RYIKgWGrdCHWoq09lIp8rZxlSTjPLyyXxxRNpaOs5sR3NHuSej3o9FuPJ1kZO/Vz8VZiGk3GuNLlk6nt5UQkSKtXH6DaRT1UNJ/6d2W9MHqDSyyBJw6xwYAcijt39kvM3AvWPMDBTwjDRDLtg8TKJhKXUpugE//jG+FAaI9UmUE/Lanoop5m29Rs8JndI5mQJ2Sq667zWd+1d9So7amjWoINcmHAr1TLjuAunIsNm6/zSYO/C5VNwFDdapBvdz5h2ypvctttNvkNnMyyBRNLTHmOC4w1M+ERmRu7e/wYSmQ4R0frgmT+TRqtw6gC+RFB3Mum0JbPhLX0QL5Ip/LwYxr/pmtgssCmJtcRCe5jJKLMAD6lMdS6kava9ML510fsUONrS/l0yb4z44nrLnn9JxHUrOfCkCfDwQJeGbYmvBbfjX6HMvGsPal/eMN/Rox9rE5OqsjM6+dtQfFPRMQ15jf4inNYWWSh1v+J2YmB5D68QOrgRqosfdPrttacbOnuH5hrRNbYHtgzu5ZsTP+eNq7sokk283ehthfK0mA/q3U0EYSmHivA043yVhuD1Oze8vvsgM5U8NaH5P9iBOXlWahvPgZ6KqfnL5RPQ0gj27WqyPTYgaAnxBp3klgSJLxlJi5b8hhoQnjTdt78iMrjDstyG7tccSZ48aGnBLNhPxeb8bt2uI+OO4fKTfkPE0McVoHpDrjCv7OdkHwn1p+0PWWLlFOBCaqYdzZv+V5SN+QdxxfN0f3S5j9ab31cQnBzCPkPJ7qJEr8w2gN73r2Y5YctV7YfOPg+VHKwV/xCgaZA3HTZG3pCebY7xLFfSSw3T/aIuvUqQE/VfGxOj0pJ2hZFGF6eR/TNT2Nf8LvHLFq3e1n2H4Dz5a6CdZr7f1vLP/SbxOEakBUm5pXdZ5nDwL1BH5tDBLdvwR1XC9geg0R/oCeL9hM6F5nAZYEnb6tDFirzrtZK7srLajtoTeS1PHPjbBmHjiTjj2EErcAqcRAFkweQolhrKgt66xfVur3Qwz6da9e9QHySGGhb13URtusArpVzBhXKgxc//AKDsed85r2cg34Z/kBDbQbCo18BHRdlRMaXJpnoZ0edRjDObrHDQWtuMDtRMvzm/rK1bywnKbCQVYgyU87AlWHwUz6zMvyDy2GIz0CqhHgQR+IneTmxHcVwlm9ryYCUOng58TmjMdhBBM/GvTo4SBpjholk9obchXthdxgl6WAUSb3DHYH7jb7W4OC4zIcF9nJdO8/UCoI3qxzoROcB0R4J2BQJakk4xlxOd4zMieazLs3V1jbpjQEPYNW4PXNPkIaY6decBMpxIcr211EfjO/QJ7mMDRPkxa8eqg9jgy47Zo6E4CQNnyAj0dy5xOZok/T3zbvZxHBL52MgzLqLtg2syYoJ3jgrevwA6Ijo3SGzSzyX1FdtTgcmf0TcwTY11hUXGs0vzo2DOPVr4ePVDlyRxzFT/gqAEfc2InH4nYwYOeJBA8blvge6/e/e7CrvWdcBqQH+7ORRzipRDYJfYIVscruaQ6zEmRsGvfYVtZJSXZy+13q7yB9lO6I3ayKLV2eAcQF3CQlFrir7MEDyddVUJuSONzNAmvvwj6PgqotSlWLdzZuMxDIJxhY88Nb5IpTFP+VRozAIlZcqsj0b1wCyPj+6ItrEZBRK1UtNqKsr8aisy/9vJkFnBDfBlx6SStZpWOJv4hE8f5ls6Dfpp+p+jJdPwRiWwizU2xuZ5AJwcBaf/Ineh4VW1MM9QAu5vNgY7LDpd7uXGm1BTiSKksi4IWxQ+oYnQ0CRXhZ0W5R3qNjsOTOcTU7dowhXXAJldmc+UW6hlElhaecaC0R4ChcHlrDiHs0oxO7kCVOnRsxUtAZjOL6bEGitVrnieB4c/mnFOPzCXWhqaZ3LD0RyQlQ6Yn0n6my0o7DEoGnO5v8Cvf9M6GJJ5zCWDdhtLeacOFUhHddWKrgHWrIl3snTmd3KbsTSwb1AW1A6Qki03D1tu9DEEj0GeAhXksw7/g1eC4y8NVBpMQcL3KkQ7OYLL7YHuJzhtAsM6zGrjN5RVeMnfIaLAhcUe0+Jraf/VYKI8f1kcCqA1xP/EvIQ6WZZiBfHuC45FiEiAI+8Kj+o9QJ+5WU4pGU7rpnIePyBAPuKM/e7mQQ6SYD47FOuHD3ekduKbz5Fc4NkK5ufUHin5jiLo8Px79bW7XcgvO7EA0NWdXU9BPv930WvViaGJzt0nN3z57Qb/SBPsA+L+Pus1w7nuufktcXsCtG3Bjtw6LA+mwnzZT+NRFRpFoWWNM2YL8s2lw/Hh8ycyGXizoohKWOXqXF2/VwxjAVPFu9dYf5r+mfABCxWcaNjSQIipm5m3QPMJXj+oPIVIOyedbqHBcUUz0RIMs2qyLv70HcTtX5eMKUTxAXcs6KJBrbNUl0bwOM8lSbMIcab1cA6f0TxTOIy1Z/Hge/j8tRAGz0BJHS7Ws0bjjwc/EEpjD69iFDaxBhWKUxYU+UqIm+3kHvzu5uZhtaXTQ4vqwYoWbLfc+6xj95ZH1Ky3Wgo1r31o9Gc4MaP8uDS/nRMfXfDeR8cwyFBEJI+7l2kLQEfBsvkGliIMVBv9CS9o1XxJQMi0rLIS1P9LyoRmlzcpIdH05L5EBbpy5Gd7ylIXqiTNc9Q7JWYACCzciE8KwooLL3k6dgAEq1qaw6XmLv6iftTgVRKOcOzC/GYZowXbbuX7NJ3/Q2/hT4cEaPF5vMZfYtoSlj4dYfXw0hePg1Phn0resqwmeak4u6rJYjGMNt7Q+g4IspXL9FqfrQmW+vaEDiy/KW+XIGUcWx6LV2oibOo9v9N01TY+AbYEFEj/ZvgnqJwGt7izHAJFq8Gnsz6Lh8KnIAADuKAV44+oVE3xUA0Tr8RARNCt8z3ySQni/K/v42R1w9D2CPzssR6apzBFyt7DjNvxR8nCeV0JJoOfKAeYN5EK5/LzjPSko4coW8ewVGkJ1j21aBKMKVvIz53tqyC5CV1/G8zvXyodDuDuYV4S6fUSAR5VXLiHGk52EDlpZaZjqZhLjJ+PDxtBxNSXlqqRb+tILAZsjahWucvHLyaZwwWDuJ0SxKHAMeFtq4Caf/KcpDzIUXP2J61ZbAC1NU/48dRGCuXUWUfcril6qPbBZ5xtAyil0gOmzUTtSuPcXbqQmTnkxKf/bg2oPDEGKlYUsseJYH2DjzTyaFHwl5Cu0XNxOC2TjJiW6KzIPWLIm4YwVs+4UUu0zQpUhqwHYiJid5CTKOLwxLvOtRuP6dkfhJ+GVo4pMorZl22wLO7fPmHA/mkqAcWv8DbTQkZneLPHe5Kzu0dJQsAz9cm+RId2ceWTl6aW/uJcJEQeLcUcxgNuRscmdMEYgMSDxlrLEoWpcj31DEEG2j/LmmfiOhMlp25qPhuy9ZAEMrQFogSXt2j/7Yszg5W2xxfU6r1ZxaiCvvLdOWd5sPHn98paAR22wY9d7zQh9PXDYKtO8wgIpBUD95h0Y3+wXsJAhodfkFmX34XfdH/Lg40WbSMIKQLBm2h1bc06+7jN+C5AKBVrSO5IId+XpevxQ5dIdrxajWMQXOFoRGFX+rXmv9vcncMEJovfUjC0Kk7JYzO10WO3addLzQFVz/EczR3Xegs+eKFVwM7j+DIBt4a0esrtsskyNcLTmX0EGXT0AnjY2E2V/K9yFwNO5MlXJW6RJLLSakhY8yOsaIyjct3yKcAu6eWhFAbcu2RWiIBmmiPEHrhmr1X0pJdPnS8p5iih9AsRbaRd2DDex7fdn6SJFD6HgHGee/O2RIfDnmfw7CZKLBYs5q5hUD3sUajfaNZd17PV1eirxZeEu1C91AyG+K4Abqbpv4wCkFjHwuBmqw7ZgjB6adheoTDLZeUu3Ct/QqYVCNZKsA9/cUX6l+Ik5GdxlQ1bNvl6lueon/D2Ls+L/CQyk3Kox4cWFWv9mnZ8yQzaCclaYi1RudwKWq3QjlaOS6XJD6zMM54uQz8KLOqm9drC6fdbPuh1dKGmKAoMG+aiE0r2D0DzeUtmOoAfys4sBkV8Fazz+zfmZBbLppXUeUzg7CbmMSeCDEMZe4NIXsBoxujok2jQx2y064JFJ+gx5dLf+fBsibXnzmAriEhJ8fEyKFD0PdQydTBx1DMwW52Lbt5HmF5xzLy9OVzdjPdEPPLH/qb9X1guYXsE/pUnRULdBJ+V+g5/bL3ueZMiTPcI9rsBZK1yKBiWwvlMzYDNuStXSVp/Qco7YStiiSr1PeScPBTqs+hy++UX5SMVrZnHF+8GXnTRAIEiqqjXF5zShry0KF+7CJlMCuGyExHthEOWZc5J4QHFv654z57K7MP7M/K+Xq851RcPq6vER88NQYn74t0NxdQ45tUhg3wUS1qlHbElCFo9G3bqfMg+tZuJ+2Ey6cyNYpBri3CzEMK/YJ0gxgHCGgbuf3vWsjRLmokY0Z9VvPM/lKseJBvOFUPJGev5mRrzpSSBnBgwf4oJsJOC/rih2OS4fYBY1giIhvlTX/lFuiJfHLnxs3K/97R7Kif3azq3qlQpTMcIYCxF94k0Q6w+dUUFWr142aF+Mn/3cHMWK0KJBvTaYpyg3XwWZfleGQNKwcn98loAzeJv+1t0d/GtewT1oBqs57dq+i34F54D+xRKrHQ6xndHNIdEWwu+OOVDqd99i52yHSnxxqs+NSQvPbX0j/9GLfxTuTEwgjN1hbuSjHFKZKmMVHtPpvVmc4Y/XS391BLzdeXHI8b91gCyEFQrleow7q2kboh6wEnWEklYneD2SXxwqXJFVn6kkCF2OgDSmJ7wguZOEicm/2hcEE6ZYDhBbQlEc6xkMklQ+l1liZLJqxY/9+aMt+6DWhb0dD0tKlLgej0skonQEMGQyuxXLsKxbyPUkqUwXw6FtVlJfjzcKLVwwm/auv3B589fnJiljhetODT01NuKfi/88BVzZeKNMAZhWU3v+0WB9IBLvvz1W+2ukEIzV25cE380ypvdZNlyehK9faRClWhVslvxub6+CB598ZYuNqkS+dQAzzJLNsMEoNpTQA1iNJGGIBv/Bmg8UBVo72xTiMxTRpF5+DXdMGO1dhIVlJ/s28LMEDHQ/wYa1bx7ZVcxDFP5ZJcYV5MrH6xqYEMN91cB2rAh71Sq8U506lWxEOTd4rneBgzrCo+G4vvs/0lEHsAGrdQQY05kQIz7QzkzRRIGOSQY8ADOG2hcyzfu78ya8mEaGEQ7ZNo7a6vKpgeg5NTxaS3gPHiuIy7k25RiZXa99yvBDS7TZ6QruDQzjSoHmDL9Ve1SBaCBy0ffViUHiGv7Rb7vubLOVO6ZXMzKER8O4gV4f/uakP6RNUTqSJQ+qe4V7+OQxrFKshZ5h7jFd6NQLkFE8Zq8kG5A1yCNVkzmLB8ZRzQVX2Ag/KGaKS8JvkbR/IRsbMpwg8xh6Wohx1VCMmawo60NucObM/aSDvuYXdPBTMs9J8vhxTAUwhfmIRcjU9p0XCH55UeHsDqqqIzCLmcs9hiIjyYL1Sgg3SBezjJANdG1rjdNZwlxT8z5v61sbBggozeb7qBQlJZAiam2Ci9BJxfK5SltSL52SNAaJ0GvgsRE5/YzI1JpT6ww9OaAPGQHqAmmbKPjzC4eVBNWLR+4ShXXbhdLIXv1ZSZNjKz3aBtdIUSfWgWVk7zOjBR1/STIzrxRxcuqZwWByZX9NKiCNNWWkH/W0/NxuT9JdewhFOwJ/4GCTQwoU5IbU99GLu9qym4sKowpbZpi+zTu6PG54GoF0pJK25OSvioX0VE3k+WY2gEDF7jiOyoK2x5ySZSVFdhs+NoxI4K6Yi1cwUiBfqsYLnNv6ne1kPDASm9+lc0aDef61K8hIJSCwfSyLnoEmovTOWwCraxX6NX3W0arjFiVOAholGemBNnt/HKqkHGkzOOPC56tGBq/IeLShTqbhI/5J/cF1Zw4/rahwL8+GA6HIjyaaRIiYJ34LNTuflQp7EPmGAOZHgaZJwxuh9g7totQZVPKiIUQ5ADnZuGwG0m4gc4H0fE0a3hndiocuvOAJG/dE2aPsEUyJdZHtA/FZeekEISbIIOJDwgubRXcR/JaPWw1yAZjSQOE2ft0vexUGJ38mevJenlQ7stlUqqlhRQR3BYWR+9ip+gDxslNOUhfAhRiGO11qCUVwjZ6ypL2PXaHPH9W/5z/Wc5jF9VMfkn5YPWmRipGv7hFovW4MpDmM0Oa4YYdy8VFTGiN+VB1IMNoQqbbdS2YKxgkESbnxALyyAvWpeHhD7gWTVsGrTRoyGHrHaflyRYRkrjZe8KmW76s42VCOC1qYXXqjTcMS4qJfg7qz/lId53k86EwnfH/mEEoq/DbRC7patvamCUOQFDmRl/VosdmJSd8h1Flaw7BCcNB+x9rYbxmDutcXrr+ix1i00IueiIt44Mu/tYRdxKz4vG55+uKbo+KwQIvvIWUqzuAznZc+kJTyhjx0KHXp0JoAs1TnQasUAc6K+5rqrWOW+O5OGITZhJTYfeJ5QordhFSfkn+Vlp0vkKMXahXhNvL8OGBcKqtxdVACFXL/IfABqma/dgELb69FDLxNopt7Ylws1XRKAV2Jfi38x48ckwQKKVP9yEcC/4XfsfOpszl0pqJakgddd/jOcvzeXoxTLMldaPUez9vXvbV3btOB9gL2rb4dyqYQ8jLkpPlK//O65MEaH3p04o7lwLmDn/BwQ+yTXEn7VlCXy66gtiWY7zD5P8wPbpBHgG7lpmb5HaZFtGbayKGTNgQb9Ix6t8WMuQcT8tR0vhgzmSLisxp8hGnn8aveI2uUKfcOejhWbn2fNq6Gp6+4sy9HS2WnP2P0++uu2rnpPGXsRLtoGHoPsSqskUW3EN2YstkrWmjNh3Q/JFvaNj/ZtazL0j9mjFFjNUUlWjJvnSsRU7Dh3Z5Dpb8Ce4/eJ1A1d5CZFJ6JgNhproCvvFdDw9cL4AuvegxyV81MeOsPjXpsAOso1M2k0SiL85n3lkhQiRB4i+uiRfybl4XCMuw6MZ8thm5Ah1PpPG1qH68kJWgveD7XdSlqINLZsvm9GuvoxQHi8YDuFyhhctCapGAH5zKPKsxYbuC8FCZ0C2AvShvZmqpHPplmu8z0x1O2BB49GDwue1khHQJJc5LRejhLaUS4fzpMctVV+W4E3nrzwdp2jjE98rt2b+3LVlZ64cStL5c50A9Y4rXDbQGAOwiXJBUxyEvltsr5qBRlGoIzzBZU9GCZEGwea3TCItYRuLQZpr7KX/VRaoYO9yUQOOr1Qgn2jNfIeFd2OWzw8WeCkSRxad2qKlVsyANg+reBiuydR21WM5NFx2tkGXr6pQOeFzEt8rIl+d/kuYZ0nrsa8CeeAGHZJFZYtfSp75BT6MmOibQufN1aZyJ/cz6cmSuxjt2xkDT2Fj3eeRMF8Xgx8Mi/yP/1OoRFFVv/R+MnsgkIcsdFU+OgrAnZBU9LJYMMlP/LoOh3ofqOjmDRgjbi5EbMASoaNKOr8/HCT08AlWJjPeI3PtoowXWxa35qhPaox5YPDlQAx5uBALY08ZlosTmegsnrsMCJBtNq2+xKOfS3NljN8GZPnK9IYHE7QC+vuOFmyY+Nwk6b6rCdGr4oREx6JOPJIQKTRFKAOfQoH4v571qF8767+4AsYb+51JnIQpPK2O6t5fhhXkkSf6/pQNyc+1rvnc8Xyn7qZfegbfPyyqm9Jw9IhMkXGcdMO2077gZQkG+linvpPq6hptDSMtjDfOoOGWnWF8U+Jr6yn9WhQZsA/EB9Sz2yRnkKBbDu77fzaTkKd3i9HfXRN3B8wHcXva7rZXC9md1dyTOnYhk7/KaeqofkJbEoMYvZLzSqJ/sM9qtjPKwxofA4A6bvVA9wyfhnG+hGdA9k/7eO1uvuEpN11SV/C+puqNbsmM3Lzli9tEsZST0hNozhgpm5AdF9XYrIv2NeTTzF0OBIl56ol6vVMs8hOcZyfLnVURE7GLWNSYElQcZfnaBlaKrd2X5zqqeCspwtQyOsz+JhlhFpnAUNw+hPNjkE3W99M0h1oGfa/6ZzWFiEQBJT3xjjSmqwcT4OPJeRmv0HCuWQNP7ckI/gw7Fair0RdVDgIC1/deY7b6/U2lfStP2McLuocV6+wZdWLzFBRxglHC/QYy/UF64DsXLadIEDCmS5T+90a13Pbk6CGSm3i3SnO9u4Ff5MFhoh8xzD7qUl5WvF47aY1/wPlY7RsQ6SY0Gqn9/0wOZwfaEc4Tp1LuEMhlb8SQ190ACLObWnIWVsDycgn5yre+K1yu4r7V09YvA7+Zeu7iO1WicRcXcpg7AdLmWkxTHPgrG1ybfHyeVQjpFqFJfRRldngmIPMwufX3uZ4NRTJxybmqWyVgBxXZMp4YVLoV1IQN86g7F87vh391gSuTqZMvv9d2CYMIapC1cOyGVtaT02AO8OU4YR6o6oASPAo9kqLRrnA8FZiAOPH1L4Lw51cgwGPcImOqD5c4Dh/rFkwKEulfcPi9affVRvyaVXoQDKqXy0arf2wMRwE3s8l9j/5kNqUOoD4PCg4KMv2xVabZ3HGaxghHQlNGIizosYdfH9nWI3sWTPTa3KlwDdTJDby/4n1/3g3sk+aCBgocIuUjg5pl/TBN+okAmrrY8YlEhZNc/MqSffrUpkR5vTMrLJtkfaxejHwnn0XQdNRYGE6D4GSmHXPx37WUpM3Y440INclVxuzH8e6HGFKRwV+3k7fipT0S0Jm2bKlaJvN29KkM67qk+8WWS5iEZ0bvDuMhhhqk2JRWOSaOtjVEWVMt9IVIINk8UOMa7N3HVDkhGLb5jQCzWKhQuDj+KhDTMnkE/bkrzEI3G0q6xPOnIqKPu6MrncLk64MrfsJsEIh4JzO6S6UCI4cP75X+k9ZmfW7ENRy4GQi2gcf2fVpRgmv4eI1P0TrSW7IMd91XAxu8ZBuFlnZGxchHBJbG/vrkntnLJ0BFxkjTld7LWz62zLIzbLYQzcRD3BO0YvF8IjGaCKnig5OnHAKfzoz/U+RMNwWmAc7wFKahL9CeAB26vl5J6uSOmCsoujTwf+urd4ZaNzF3/nOxddTh4RZoo1vusrghQaVP31jhiV0lHh21SDc5oWsIIGHgozvKivGNaam1LTZrJ6nYEtSFoFeuPjVOiIPRB/On3FDXjRe9Up2vpppO/nTDaS7bB8w1fa583VaY+jxtcbouNsbiUV+RAKInEO1mnFm+RSV/kgVzeamPq6wHQx3amJhklP04mrJ4IBIyGHnIO0tWxvf0ZAmTyGORwHdlmAtlOWhhsNKe/11NotS2+tO0lIxWqBNBcjSrWIA/04EZNdezyMTpwKsZoW+XY2sVWDCrk3UfTTMOKR5itwstJw/lO/YA5+vVKmQd5sIV4Dh0bvCG6MkvZmxRunbMmlrrS3nkvd3H/7BwSNhjZ4RP7IQztgcg/RCQuLoqXvA/lsyL0pxS8ovV6wx06n5gKNkmWh80RELRMxBP4S3OIkGC1r2rok15HQlhdzbuqdKauZGrjzQVziPGnBs8ofXlbncnwiW3YTSB4i8sb1PSYSmQCvTQexTszynqgEYS43q8YKuk5HP60iGQO1T38l7648tT9JrSc4rUDIBzrWgh662ustdE8myp4E5XCEFynU3dD3j7xsuLbptEWxu2si78eS1bUnOENp1+oFvrtH1Dpj5GtCPSZt6tNRDrgL3iE2YQlCr+jNTcyziOsgNOiB6U2vBy02t8SFsIh0Nja4uLKNrfp6n+bfYt3p5t42jRtoS5fw8JMLYRzlamnx0rd4mj5W5/589QfGV4xB/lR+JNN2FdIwKbVmLpimSi2d8dch2JZoNNUr4eyZqfV6HRwmMUK3Z7kLZeMtrjnXVXqteJFbb/Ds46ayVnK+UP3BdU8vD7ud15xvkc6pPjBP3pZrEfDHPSTVB9n59woWVrFBKHQgk/kbCNOhjGGYDLVOuM1UwRwDJOPYmxMdLcf+Th49h8dBZOXo2bbjAjTAfmwE6UQ8h6fpXMcKHXwws9eefhBn5uui83QmiEPku6ASkQMYa4N4D83LgHEQVQy8qWVJo2mVo9bQjTFddJP9qLVM633XRQllJUPJ7j8o/3FFzMzXj23AM8PV/myMLFBcUNGCsLDTB4IqIVI3OWGzXScc/I67fP4MiJXYHJD6Fr+ed3s7UOyrrAiyG6r7KszUaqgwfIT/lZvhdhKjBRP71phwMFsvKiIgNow4v9LkulAn5b8+weMZSQ9othh+BbItWjNAx/3Q/rfS4E1AkBy66eaCTTBk+3KX14FvnwoFeiJEJBUYE3/FKKh/RASuXFeGIjdT2ece6EKyQmeXbPam+QI9YT7nhvQ9Eydo2luflmRRY6Ooji7Mqzu6b+vD2zV07y5Z5ksHOh5XfZSzJMbY2Xu28AECC9LmdEH/qRNSJz4e+rhD7lR0Bn6e5ZjLsA1hXL6AE+6XgaomFsu3kOHTjt1I/QJoioGqsW71i9R3DPBc3eQ8W9ghnkOaV/qUZjpHEsF+5OU+BoWiFXlqf8skXRBOnvqQ15v4SVlFe++VCgZofIwtKyGYRTCouADuesYiWwTVAB0JjrqnrLiyya3yLqgsXgHce8h9qGxlqcnZLfABPyBPco+Br48kywHfrcOf3Blx3DPMZewExnVhKhGU+DpSm9nF5tSMjGuo8UIhCETAQ0nbu2Wf5ImIvbFX807x5IkGS77z4W5U9D/BY5ZDKzgFbIYBo1E1XfW8ObdZTF/AgPhy1nhy6weyRIavh2783fXt69RK8UTke1Fvc3oH2usl7y0wL18Xuts7H+b3QQ4ZaJiwOAk7YPt4Bd8R/yu5UfkeybQDYTdKkj8bvpTO+OxWAo0bnrn60r4V6CIJaPRy/Tn1q2ROLjGywoq/wNmVeqKgZ1S9TeZr0YIbm3KaH5Iq5i1TL7POZ48Jyj73peyCJLjqfLrKI6YYJcrLyhZWpn17ZWZ46fnWBTKOTvEyGwvaHj0lDflwxOGG+PPLUFeb3dqVIXl+xuwJy2HfO+myq28kO6Oas7IgiuD58S8PwCpwrRG/ZwOWrSkMZ3N/+5GUWmShfGQbk5nOu9FkLM1zGZRoG1HhmLKrJWw8pQEBH36SdCwpUCZFieQzWMFvDG7knHsEKsInksrTeGDdPrFN1foneeIHkYKHFs63rMExMq3K+VB3PtXqjB0BM8brLAMS6SvvBynGpczYoY/DiPqSMiMQI2AGJt5lKDQVQJYA0ryOYZvm/m71SgRAXxQj6k7zRbhsF1nbT01+3Bbg0pfwW6SBseQs88k3xOTo0WYchrzW0/n4G+oMaVL6MmVBF4e3V3XQ4krG0lfvtfcuxucZp4oRQkRWuXaqz3lSJaen0W2tFhfYPJh5/uLU8cEkT9KFY4fYBBqPqKY3kdHKcjShFzNbe7igMmXb/0nCRvq7sk2zg83h+nGdpNmLS/1DibAEWkmfMwZvaC2MGXquF9nN2x5WKSQrkCFjZH5Y4HwAKFLqSrD7eqmwCzYQNVgjQf49zwg3tUNM99a/Zf79dfoX/AkKX6G15I+EAFx8ydnLqxyQnVmKI0mxBracHavqdaStKzffxOEKyV2m23+WK77pb9jbrhMh9f5EideMy9uzA9CfVw1SMAghhe9u7/DL6K1hf+joLEBVdrEnf8apyukq5ZoxIUelPbUSh9AvToonhCpahCxf3Wyb/fIO/zHwGdl4u60gIyu8e1DOiGfN/Lpe1+llF5E/dfGPQP4/377BnTOWUasrMjSmrk+J5j5tJZmNCCyS8ZFvBI7FJmazWj3xsjU2kK75GQdLgnY6BQHt4fTgcM8gakavPYizJdD7zx3el8Iav2Kyv0kS1UYYinqHeHzadrMIDZTXQiW8YFLo+C3EUi9ZNc2Q5PQ2wAXyr2/pbbR24qaBOnic4EIAis7nFTElN9TRe+usrahSYc+gQ9ntN80S+chNguWrUaoe6tbP9ViS0NDRli9kFBcq8rBijVmBf5LzNE7BJ/lxqVLU3kbqc0AKKPsumzaqhkO6LCVVAzwbOhLi0xEy8NNbJ+IZjsIgFSOt5GDRn59QbKqB+AdRbKXMosikCUSGweVaX23XUy0Q1n/G4zInpUx5hh6exJ3fP0WmfiIfCPxn3I3HEL+cdwNTyaNojVnoXWT1eWWV8aq0n9OFBYXC1tWZj2+gXRBz/bxYm3iW74rd9q8mVdUkL0HRggNLV0EKfrjBaeUwkJRI/LxNiCVzQHa/C8V3XMvSSQ05eKDiz1Q6UEM5sWzI/44f4b1ZpHFXawnDuhX1GmMEc+FTTlcDKJBuieyZXKD8WdqC0/AmY6ZCkkPKvXr+01Xn2Vfe32aki+9axUH5y0sKDHTF7ZKmzg3g5bapu4JRU15qoZea/I9rb8aFm1bTDFcKEuneGu05LSYeIarvLYKnPrud8gAedN+pZRwdWOC1dVAb4tV3IZgDD0Hv7xf2/RwKCSk/EYRGMgxN8SS6boXm718gK3GhLL3RCKkXXttZMbIeaqBKFQyZlxH3eOFlYuFk7L2xZW9qh+40pPUCqkoT1Ubqk5GPCcf+FY+sle2TOKcXS+3dmMPjFcy7j4+pNilsmWH14jPcQGLeb7MJCD5LfAPsacLEVfG/UxJzWINFm4Ip9kSnS8Pk0WlqGgUX60KIaunvJ2AAEUD6mx2fuiqfFjSYStpVjTMeRIlTix3FcVFR/oP9BOZNM3pnV5in7jwqA/ssrX62t64lFn38oVtSbEoiKrFKxHtAOjz5ZrWQZqCASpJLRXfimhNpQbZDnNfiaOaqITweK7UHEEApgouXIp3+Xp1kjautEsXStizw9p0T5dMO3VPPBR2GKEA+PLVk0+tqapICgXAucwgxF1GwWNpaQQ8234gF7SkoV6KaCM34U6fLI64NPyUKLVopER+ORJyX9FQfYOCAU3dW3NtPBtISM5Dhn5uCnuPPM0OklfelUYJSCM18M5sq7CzMhF5fr9UsrkruvIT/lV2sjrasOCaoSQFiBIybyYjKc2b655uY5uXFJaW9Hb8JX9FvwGektrdMpnvZm70EHuVUKNdgSoFrubgqekaW1qfhiUVd8yUTWTswzCi6AjJNPBe3JTxmbS6WNB4edgLZNcP6t/y6m3jq9He2MpQaZ420TUXEeU81XowD0+kNY8Q6AXgcBQsUIIg8wLRuEYfYulfgTfL53n4CzTV2znv9WHgOSpnknb4lcVt8QNJExLfDFWgnSOfRxfcRTUTyHMDeesCBWXuVQ+DyasUqF9dqsyU+N5A1xYV14OzxqjO0Vmo16vP9imhlsYdzVRazBdVlxL/jwhAjlO+vnHWG4BrxiZBcfjjBNjwIHzOtyIsr5XwWuJOPNI3a44GHiWGb3V/SueYql/siHZ0b5udhBFZdUDNEwDYR34G4YV77akj3GxZ0hDzFj5uaYmzS6mpeKAez03k7ZJCRW1WTt40rBAQ==" title="Mekko Graphics Chart">
            <a:extLst>
              <a:ext uri="{FF2B5EF4-FFF2-40B4-BE49-F238E27FC236}">
                <a16:creationId xmlns:a16="http://schemas.microsoft.com/office/drawing/2014/main" id="{593F69D0-F53B-4F7E-99C8-A9250C063372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gray">
          <a:xfrm>
            <a:off x="894506" y="1441149"/>
            <a:ext cx="9491704" cy="4790578"/>
          </a:xfrm>
          <a:prstGeom prst="rect">
            <a:avLst/>
          </a:prstGeom>
          <a:blipFill>
            <a:blip r:embed="rId10"/>
            <a:stretch>
              <a:fillRect/>
            </a:stretch>
          </a:blip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280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6412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hink-cell data - do not delete" hidden="1">
            <a:extLst>
              <a:ext uri="{FF2B5EF4-FFF2-40B4-BE49-F238E27FC236}">
                <a16:creationId xmlns:a16="http://schemas.microsoft.com/office/drawing/2014/main" id="{55A0C8C9-72C5-74EB-ACD0-BA782D73E3A2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758562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606" imgH="608" progId="TCLayout.ActiveDocument.1">
                  <p:embed/>
                </p:oleObj>
              </mc:Choice>
              <mc:Fallback>
                <p:oleObj name="think-cell Slide" r:id="rId8" imgW="606" imgH="608" progId="TCLayout.ActiveDocument.1">
                  <p:embed/>
                  <p:pic>
                    <p:nvPicPr>
                      <p:cNvPr id="2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A0C8C9-72C5-74EB-ACD0-BA782D73E3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btfpColumnIndicatorGroup2">
            <a:extLst>
              <a:ext uri="{FF2B5EF4-FFF2-40B4-BE49-F238E27FC236}">
                <a16:creationId xmlns:a16="http://schemas.microsoft.com/office/drawing/2014/main" id="{E89544ED-DA02-4D70-9580-22752B0F5745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3" name="btfpColumnGapBlocker710555">
              <a:extLst>
                <a:ext uri="{FF2B5EF4-FFF2-40B4-BE49-F238E27FC236}">
                  <a16:creationId xmlns:a16="http://schemas.microsoft.com/office/drawing/2014/main" id="{AEF71364-52BE-49C0-8BAA-CAA50221AEAF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0" name="btfpColumnGapBlocker286975">
              <a:extLst>
                <a:ext uri="{FF2B5EF4-FFF2-40B4-BE49-F238E27FC236}">
                  <a16:creationId xmlns:a16="http://schemas.microsoft.com/office/drawing/2014/main" id="{395534F2-492D-49EC-B006-9361EC5BE7CB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" name="btfpColumnIndicator187629">
              <a:extLst>
                <a:ext uri="{FF2B5EF4-FFF2-40B4-BE49-F238E27FC236}">
                  <a16:creationId xmlns:a16="http://schemas.microsoft.com/office/drawing/2014/main" id="{FC34ED2A-5FD4-40F4-A1E3-65E9C82BDC4B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btfpColumnIndicator410126">
              <a:extLst>
                <a:ext uri="{FF2B5EF4-FFF2-40B4-BE49-F238E27FC236}">
                  <a16:creationId xmlns:a16="http://schemas.microsoft.com/office/drawing/2014/main" id="{41070739-A239-43BF-BD9F-1C99EB157474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btfpColumnIndicatorGroup1">
            <a:extLst>
              <a:ext uri="{FF2B5EF4-FFF2-40B4-BE49-F238E27FC236}">
                <a16:creationId xmlns:a16="http://schemas.microsoft.com/office/drawing/2014/main" id="{19349320-1214-4A1E-9A19-AE1FE74BCB3A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2" name="btfpColumnGapBlocker606656">
              <a:extLst>
                <a:ext uri="{FF2B5EF4-FFF2-40B4-BE49-F238E27FC236}">
                  <a16:creationId xmlns:a16="http://schemas.microsoft.com/office/drawing/2014/main" id="{0868E824-10A5-4C5F-A60B-441F314591F3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282039">
              <a:extLst>
                <a:ext uri="{FF2B5EF4-FFF2-40B4-BE49-F238E27FC236}">
                  <a16:creationId xmlns:a16="http://schemas.microsoft.com/office/drawing/2014/main" id="{FCBEAD52-5F22-41EF-AAD5-E66A9CF4A094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702181">
              <a:extLst>
                <a:ext uri="{FF2B5EF4-FFF2-40B4-BE49-F238E27FC236}">
                  <a16:creationId xmlns:a16="http://schemas.microsoft.com/office/drawing/2014/main" id="{CE5D3E52-CC6E-4840-9FB8-1711C7E265E2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346080">
              <a:extLst>
                <a:ext uri="{FF2B5EF4-FFF2-40B4-BE49-F238E27FC236}">
                  <a16:creationId xmlns:a16="http://schemas.microsoft.com/office/drawing/2014/main" id="{0BB7A5E6-2A57-4DE0-A287-19CDAFB5A56A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rIns="36000"/>
          <a:lstStyle/>
          <a:p>
            <a:r>
              <a:rPr lang="en-US"/>
              <a:t>Illustrative P&amp;C insurance cost bar as % of premium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sp>
        <p:nvSpPr>
          <p:cNvPr id="11" name="Rectangle 10" descr="Enter Chart Description Here:&#10;&#10;End of Chart Description&#10;DO NOT ALTER TEXT BELOW THIS POINT! IF YOU DO YOUR CHART WILL NOT BE EDITABLE!&#10;mkkoexcel__~~~~~~~~~~False~~False~~Falsemkko__4HooU0THZk28POP9trq+pbTvvzd/gcV8t56cq85kb3NDTsUhojRA0EsgEHHMH7oYP1SYpn09ysXVivguJdhTvfyVMsBLTGvcX7WPTor/CmWV7V/wylEnRSjNa0bZedd8Yjfz6TiCJG8OqoXAl5SrIeF08dlXg26VCLQSuMwFMmWGmihLwizelWVh0+YrBGrvbI9abCAsXIvQHRa+DCJaU3PJON0K1yeblBWRz/cL7a0uwAyWMqmGTLsBbUcrm/D/6eTHTkijpiVodNB8ZFnPU0d0nJ2fXTu7+1OPwHTjemllQ9kavxNazLbt8yFiyNcOJa4Y1PJQvNYq9NGWHotWgHaIiGCUQvA5i7CSjuzGM4XnPw2+ryRtSB2Q4+qs4lxYcVRxmzddUch4RoCeA8jZp3cI500kVDLtSZLC0DiuK7WPKYffJyQ30WTWT2s/6MxC9qKuXTRUbrqlZaVLv+CTHIzyFxw5wNm331M+qIBbhrMiOx2c3czOCEBOJQ5Yv7AY/rWJNv/VjXZwFJuCf3uMdpRIkGYJN0ZgVXjm8zPKn+AukkEfYmBolNkmMjiaOo26Rqds3int1Rof1cqU1SB/yDKVvJYDe50bv0UjHYJtUG/TTCqxDvbX2GGBx6qNMgEGfU5J60/XHlSYfEXmUPSrvCI2tXGcrYs/QknBiK+v3huFjKerThIjxCX2KQ4Ao05/cdefd03Zvrrs3UrNCJVXUzjwH/8uKeSz7B8yywpzy+JS6xliCL1cQDhgyapTqBR8MTxLw05pqYR3igPXL4wOVZK/AdYPjvG7pA/RADY5zlGvE/yL6MbsbGsdCylc46PHfLPIzqmlTQ8mB2qY/ndRmnytG7Hjlz5UFfVsHiIDFjqU7CWQgFbTtkfCBKdL0Kdd2ZYZ31GOHhtvtLhKRXxRvOHJW6KqHxIPeyynnsvZSquwKxcnTAoVGT0D2Q2rSBS73sMSiIa4HNwHf6IrW0z1AZkraNp7KCnVoUyFuBa6ILf8bFQ3MK+vHcF3S15cfSyaX8NKnH2ftCkfwWDOKemO+T4XvvKz/gSYHZN8G0fSB3tFFY9LkYOeKg68hYxHCsKlI4jBdHd3nNrEUDrNTBPJA+mkcEoboXIVGlzxC8nyWEekZ2jahpaz6TDlDhEdoGsyCEpBkhUBZGfK7DBXZi74sr5Ft/uR9V2mu7RyEl8z6w47JpxDEY+ZDXnyuvwe9mKoX/NBOvl1PAN8sdvXdSeIGCUnrJ1llKqOF0kymiQ/jJvefvs6vUhrOballZJmlFGiYjYiLayt1l9CswpyyoGd+GzSkH8VyT+/K7gAWhrUD3Cw5fNFvNp57BI8sFxFTMwhNBczMn/bGzhWOK1TyTQRiQPHLIeOb8d37IPpCC+TmM8S+3G/vk7keSbjolMIfIqVYDxyt9ZsvK52yTpi8MTQjvn2C4P1cmIe5oeZTruZDofBKGtCLcxninQuYlLtG5whLn04Prb4Kxg3T1Zab4oUNWx3psI/8EBPBMetP2rTHHSaxgMbTXA0NTb4LUwa6XkHEjy7CogS6f+whHcypG8LVzBVtbJjKVayidtaNVVTzoDNTMFOjxrA4nl/JtAfQLdtI4Iup4EJ6BMf40ihHze0U3SP6kzugVgEmfkj1SBDTfoW6zv4QdDOqjqIcL9Iy4pGhg9mnUtG6OLx1U5WcfgxMt6/7fTqA3JVawIXmD0PvaZjfsR4MCXT2hWGeO4i1xQjm8DaP0J8ydSH1k5ZI4t2BjwY7mczTQtl5vb0bHCVll2RclveXGCJb+A+CHdGn3ZKYLeGb+aLmvDgC5ivaOz1KgDOS5AB0oYa+wLAIekWSqq7IH2uNNyxjNfRAq1azWxjR/o/Tj1wrUSiArcRBk6Te6ev6K6PGIsrulw72dEa8fjjbC0uQ83x2uguoi27fcmvypKlI5JN5BebTJSSlg92zdSywCbXFEgCIomBDPmH1a+gQMYzB19PGbgkyoEbwlOaXG4cBtn1fODqn4HLyaLTk+yqbP2WFSRvf4CXU+JYCFfkU1j9wb9I5qpjt+3Q06722PfU8o9fWhOE1mETBWQy1CVVgru+rdNgoxmro2eZNGGwrpbSXHwRxV+ByTFJLrgrPgLyUjGPZPufnfpsTApgo7ron/jZroErdNkOO98s0Y1rsm65LlySsayTzyQVMbgfdftW1LfL73dyYBdXbSZ09rY6yY+z9ZGHcHoBjM4QRF83M4JQd0/srSx6cQmFtrMDEojG11gvTxjrIF+ickx1wgPnrcB8i7r/3OiOcuk7ztoFuIEKncShut2l83W23AOTmpjo3DJ2Yyze/4N7N0udmOUXor1QWOznvEQew5eeUzXgGQgA+jOGQWYAjD+3oxuoRrgRDVkzOdTw49Aaf2PryKz62aopcCENkaNpgGF3HqOS0Cu//up+zIOKMreZgWInG/zX+syBijyIMCMKdMggEoIw5Ag+vTWkAs0bvDXKpgkEGgS8s+q34i7xm+u9iTkHIFHAaLGqcDCi8FoJydGMZP/CxFn7+ePfdDYImuGbzIPgU1LJDVWFNTprRyGRiBnocUx3ns/ahsTtPN4yRpYkOGwGu4Qr5i3Qab21cBXvPDnjlZm9kxiDBvVspEs6CNTs2jz8w+3uNNThdqyQ2ZHzDUvRrrytvVTFiFp+2+nSX2Hx3lgPgcShiWyJHytHesGZ5DYUtaB42mRIdVPRHWON5DkrXGQcDlAdYGfY+mfz02BkLP0ZtQVeRu6d/fJfxWHvD8k7MLILOSjK9N/duvLyeHA7dfwCxn3/ziGgAdZneRMgm82kEEphSuj/EaELKHSOqKLt2f8YD7870Fzb9Oh3HIbIcNXYxcLhGt4jhLHq07AOEcsT5m2onTvM+l0b6DHhqiCOCfEverQoP4lghZJMyzFMdR3aA4SckCLtoGY/t7p4NyEG/qJh5J3YliO1IUYM4ACm20kC4NDnYBtitjxmrpgDucRBBN1zYp5CzxmWqT+VUGt/AIyXuIqSsoTYCIAet7HupwLftlNKGhcyBB8Xsqve4gVj9QF8FmYXPP5O7WO73bJPx7AhE8g1m0o6/t8zMxpFDbvLCr/U63rMn5ClpQkH8j//91b9xPhJ0CW6YaU2b9Vw/vex3mjjlRJGXQetgd6/Q1iGPckGZ0z5sZPXXVbdEcaCVuKZdahb+tn3VQvShZnoreMo/xU/oc5yttDHMoVDNcKSpWPchQQX50wkqu+9Qk+9Z4aoiOKB9qH1VUR9/oiEH1ZC/lam5eB+q174vuwsHVEf0ePddCPvc+6kuHqSDUfSdq6nfy7uzAtq+HyRSpoQlaoTIxeuugrQ2e82qpisPc3sEoLsJd8+TQ0t7uWQoIQV6flUspGuMa2BNqZiFxHr4EbiZrEM12mfUVnws2+lhLVyJ8+OGhPILO508woqDOZOfOaukRJTc7RpEAl2CvYsaZmEdc6o0vzSLQXB/y1GOhnmoOPvrmKRgmpDDnRvQ4J89yMykQS2NDCZR85zqkqEul9RXqRA1gcdivshGbdX8LwEXXGNpvQ6R6ZeTg3IuV9L5qv1Vtw+Pw/thBBp/a1VAGe+JRJ0DrBrmHPFlVG9sdCN6fPQC6YeV5kREogXsRTzV/+AIrm5jJy5tQeiDy8Sucq8m/tknK/azB+YcaQJ7gPJBwlrbRXOvXkGkpae4xBbSw1IDTi5haTel/Zfivtyb806zXD9s5QRLmfNPrrqdpEDBT979PkXHukqaGkGMwoCUaTmqjTEWBTqaXCWc3jCUPjxNnZpcU8Pj0VUo5DPbdaXxWSlCDcJqNitBEcTXqXqdqHpMPNQnjkCwklp1ZuF64ASRGG1+5BIm41X0BVkYQncmHjWr2nhd0KuSwyloPnbKgOzCmqfLQWBKoAfr/lmPjeN06PiwvLDXf7dSVW+rh94hByuGvNWgeVtSjjfnwmofghtsXmANZjru3HJva/8CCc5/ha48gHTVmhpzd46DOgvCxZlX+jS5Tb83xCo3KYl5RyJZ8tEZJEKzdB+AfsZ9XGiRW+inv9weukpCADpsPRmPfFYJTs5fI5JWjSE12Vt9E9U/qpWb42erw1zPRhiaAKVjPyaVYVq1SQU95WNqjCGX3D+j+IReElkGGEoTJLpBoqtke7IPN8OV7WoERJvYGZwZfBPs/eXXVn4yjOpCpNT5k2r73RzPJztQivucOavKOqaYKZbckHsirGC9w06bHKtNM1b7xCoDZYUjqZ1S7017IJrz8482Sya0rXab49JNUSjBxrOry4t/QSN8tuYLXpArXOxwW3ct6K6rWT+UF0iGqZdhNNH3v51qgxwiV/vOdI5CykiikyeYNt5fU5IYXIkJmVvKmmh74xZSE1xFxvV1JDnRG7IxjCIzdo+d4SsTHM7TY1fJe1qXWlpTIm33s3li+kOeiUfiiHKJ4vOU0rZgioi4+F+07rHKwIjvd4+qsY5++g0oE3HnctOe7ncN0J5fDmIL0RAyo2zg8P2Us8oHlfgLQ5bBRUGgVWdBZ6n6LU7yiSkd7itaU48l4Rl5z8luCw5FecMkpY9ey75Cm9aDgRqs7SOam4ilTnbqAIghmdJDpBQUty9vZ/IEIMT8WfsvILCeD5vogLN8raqN76LsyhuGXj90V7VHRat5TQ6TIbgXLXerbm5cG0fVWUYzj+9/YURMgNYRU66z/7T+e6g73AnYt9dJAERyrBnD/DA8xVMvpaTc1uv66BMN4+CLDrftYgQiAKY/kZ3WtEseqPISIXnW12oKGOAZX2OXmw7Nid6LTiy2gojZbljF9ZrwvNVnibBisL+OdeVnJ87/kgetFFJyxINGtWfas7cjxWwX8jFHW0gah/pfdJfYwLueVncdDgzh7eA8MiXFkTwtC+aRiSVCu2PhtZIJqFZbdjHkAb2JwW+1AsqArh8Ni8WpvdJQWFJ1X3CyAAInlBwo+I25I6qcoWgn8Le2Y7QX6wai9g/+v8+i8QAWgmVlW1o5KnX0UCo3n3tAjIsU0inLt2fOt9aAnmpf2r36sn/GX08TX7DByObyLi5YfMzUoO/tjm1Aq8zAvnpN+VrlyZd+8eBTavKpQN1FhXeBSY8A4vOKKsrL3mPAbnk5qzATciaN6r5p4P/D4UwbMZtNsDmUtO1YDT8lg1B/8/7yqts67cLxv13xiOztJIm1vhtbZ8+2UVd5fR5gxmkbOa2vM1bF5Nb1BCX4tvLVcwFXUxykSoffvXIegUGJ4aSKiBbzjrC+MP7x//ZECisYuJIXAXfckMI52EJHWqo3pZsX/7wzAXoZ3ELJEHzFiBQ3O4msJGN5XL379suo9FltpaOy00tBCcpCDq6x7Khs+bDwf6893ub1ZlFJLP4agULgwX6wYCPCjBhUTKGFeVXoKQe5lUNTnjuOa7xFp4cuiPkB2HtTJ3DJ3/OFOcK2O8HMfIgEhMi3eMxBJjZW+ut2NTU+60+t1/KIBF6uxa5XHhpbNRQsJxkpf8zZxcVBRX6sWNwD1nYstvOIw8dckGuiwLhrGNUfGszSr5Y46LRW6VmOx/NwQxHGnfZQtFnK0fMmQ7PxEefbtJXVBCDS8xAXKIzukwWmQ/6NT173eqeQkwtonHy6ko6UTiUeEKRFP951cTTQK20aC5MSVVEY1a8EHxFC4YVEnX0+tP2Z0YP3rWn+86AZoV1kIjPnRWVsi1lvOBgksDGbu+vIUdhshDUfiGNFVmKLCwafJ3PFPcq3Af6mg7O8cMHOVBTiO8J+7lx2lCNt3Cm/6GEYOx4wllwR+0vRKfDi/O8Nv0zRKMqYpM0sClsksMaBEO/y79mFbG2rRwpkmJRryP6S5uygAcvE8ShfQQJ8YZvMcC1kh9Ug2pUi6tY1LGes86npUWJMe3ZZYyQ6EbdzCSYPGrKdprwDlHXW0wm8YGz8vWRP0Lh6zwRZ//dMiqj+QsNKz1ULLY1E1LgX8S9SAklzM1A9kdvj4rrOS+zhVioW+FvHI1BzccTjH8HCxIP9PdloELAQT0dCrav+Lc1SBISsxlcwLXcJgZzz/P9bC9KJXI1tJpgTA72trC7RdhRuekvCdQuooCuxls+gJ1Isuw9j9pLkb6Bdf5wuV4fJYnoe+JIDhOa8cZNKpwQKQVJLUAE2h3EVWB6WhDNhmGLU6UkX0TG9i9INfAnG/HMqwL/9U8Fn6CoPx6XA4LZkvWqpZLPtV0e/hn1akIoSsG9qsObBIWB1cTttsh52gPxGY3T80E3nCyqVWbYM20AeSNvh9ySyWzT3YfnVi41CTWctiigu7rf9r9go0NlRiPAvCGr88ZulfoSHgxHXypcBYDdL/Fac2cojj2DPEefbdH1+fyuYC6dkDLlWWEZp/I/2NwBMLYJkbJLm347rW+6J8351DSoVc70qZVKESxSkX++XlMoBsxC+ygqEYtAtIt7lVk5OWhbUkLGYIEsJ4vQRQ0PTGsk9eQtac1p5bOAqnYpl865NC5Q+2fAz1vENRf62hCcdRHcsoo0fOGG6HhcT7hQM3hz0guJyzlog0haV6NTGuVf9E9EB0slZc+p3ATFQC+lpsJkMcjSyAeauXoyisaPN3MsHQz2IZ+hGfQ4hL6MZfE5vNosg2iTXMGnHmcTQZ6vJMdYiOyh1B1D45b4xMaRDYzfVhwdOjlr0Jc2shtIL+GkpK6kGI6SjSifdSlQ969vI2j+q6DNXleO8IP57Qxxk5G5QssrMH2eJe2ztMzBo6PCB1GpRlGG5gc3GUS+yj+QoOhv5WQOxrvRwbk9zYE1bZ8SyjJVEx28oq2NBlH/YXylpG46VbUrbiR4BAijdZ/msuD0GFv8F367v6kbHgSih5YGAINaAyONHEn8Zt1rI9hHVN3qskCYTkLFxprQzi8emgYcEcPJH+UGXl8y90pSJDq+jN35tG0nlDEsK/Tukg17vjkaLFyWSAR6YMFDlk29cFmmLUn00nUTpJXjzmEVxMChltNzK36qMsungzrt5pnzbb457j7IpRU2YEARNUw2AqA3couUi6GMEmDJVkmWeVdduizOaZzFNjEnpz0sesetjho1mI6oBuJ5rVWKlsAVHSO2le+HXyW8BNXYji7IjOnVWPpaB+wNBmhi1pn+nSByR3kTYOD9fbLrwn2ozu/mh1EVq5jlF1fLa56iEo/1CaxrJROKORNLFP8mNxS5T+aufUEP4XxZg252hrgLzwovEK4lUZiCdqicfdF8kGlWdalwbnD5ztR4rPE/j9TJxw1Tg7+cPcn1hYea2E3zsJHLNVNwg1mCS5RcEInYrQHwBcqSs80dzfkt7NgtNZQIo7yE+chgEvDhKSLP4R/wrldUUCvYI3JpXLr7IH9KvDxJQwmnQEx4Q4/gTNIJESJXR/WvgNjefkZLlZAQE7IQuxqQkPSH1bdZjKd3UKzHu4T5oVMSy7BQTscrWhZbMm+JjfXwD432aSh0RXdzmsOIAVHmNmhUL12gHvhTWph5+vxmogDs6uxZIZZsolyT3JJIX+YFDBElK3ii0pPyQtdIOfsjvrzB0XHhF/DTmldfcFOLr8qBGoo3CXHCuYo5uhvZfmFpXWTEVwVjxrLcxjOFUmBL96N3ZO/VDzQrN81DasJrNejLfGmWNOfI57SoJpjxuQFqW+hwIPmPS2mq+RvIhOJmbRYdYgqGTgYiRXqK0GFW0XysRYCKmevIqiKaTWBb3RlKED8kHvHFW0kAE4nykVNwJcxKlM7X9FTcK8oF44UZBK8yQSF1fc8rGcnzMyFXMVB6B6D0Pr39BwIZ3gzGvCoK4mi/imUR1EYwySqQt4q6EusVaoO+WaGwGRDVOgT/EI5f+jZob7EyftYyhCD4LtlHe0chPH4zQG47YfH6mP7NpMhthr0B5vG3ApLUMK/qh1ZAdvJliJVaGUmXgVpoPCN7CwIwafNKqZDjrOw60pR96kP3asOQw3dQ07tSL2Sgq1s4updWDd+nBPnynD5j41NNs0471xhLBR2ZHU8OMC0z4UFRqWQEL0NV63xLU8+f2W1QkHkEMHOxepjAFd8r2D1mPhELx2P72pbEarLciAVLyjFwZp0sSITFnDk4Voau/IjTi6KS0op8k/IJkB//Bkv/DO3v+Y/B8cVImqtkYrBOYCi5FOrTpnrsP0x5Hv+CsNB4n5yC2itCJFwehbFgVdoXdWKzbm3qk8iX7PVGZ+xUGp/4mwHt6BNlTK1F75XoQVF05UhAFnWX0nqKxxa18XZzcpX467FYcO/A+JcJ0x/eqJYxRR5AzNcX34bfUZd1dlWAg8kQKrfdtyJeYSX3stTaJ21vxnww7CsZ0tP9q/xjstAnONWwQ7txdAOYR0kX/sOvo9k4fPNkMpfGCwf4wVS+Xs21jsusjTfaM5mWSLNPdL6pdWdpO6xdfNqz5K5ib2YsyJQVnIgaoKOcWXOExCQ6CTIlfC3OilKYSzdAoMl6Ze3TKKSvw9c/x3PDwpag9qI28CR3QDsMZppftTjQp13pm0O8QRRHca1wGQ6zJgy30+KOJTjMJtV2hFRyju0Gbnk+wqszaOmjeJIEzwcpvi1li/UEg0hthA7q6Ix0Ho1vINQbGdTm2AmKo8MBJJxJUQZyWgchAFUkcZc6u5csPL5pXC9uuIb5rf4Oq4dPRG5iObQFhwXk08APJhVJPQMhw7OefQc61I9+mn1z7CEHFXuv6008Uiq331mrhhjkH9gmEh/8LpZNjaKJQ9O00xUj5AG0rO7s9fO7hHpycCem+iKYivPxc6aQ93pwMCRdUR7lxBkG064WImWjPYqwcg4SvxyoQo2um0sD9oPV8mwvU/rpKhN/p/5rHneakjNVco2gbgUu5PkrFlbXRJmzaTDLXWzWHkfJm0jWYlyyKQASOJIwTKTpvkz1nXuJvgZkhAj6i3UCSshe9gNXVa4a8v1ZrTSLXZivpMOwlzpGaNy0uoAM1owlogTlKWzr3huM2bva0QIODdPZw218VqT/4wSpgxUD7CcHBaH1vkEZUmJq5AkltcFwfHkAoTV4GHK8eu99l0oLbnxVeSscjOowrd+QHTpMVziCg1iHf2jDDyMTOollfZULMSx74TpLk//SEzQG/0hh//w8p/K6zZ7uvxC1Gk1/qFp4ho0iHmbCCIjCi0YhaVxtJOxYExD6cprGewbXZC4F6k4y3PO8VEwG9vijyDBDu0am3l5EtISD5DQHNNgkhPiBlKsFKvBRLzjdZts9BsobnvQaX2B2n8XEADAnMMqNQLhIsRDDvM/yKVJvZ/sIz51+M5FMXPlJulEaNzm+g3xznby2VybtFg5xChNAgBL340u1xiXXrFUy5IK3QKUsht71XovdMazPA94qhkHwZKmTy2aa6wcRGNYwFrw3dF7Z6thWl3UJ0eOnpuZz5cPal+1XaKfC4ABhSd6FZaREBTGpxfv9tB8fjruEeyfT22FF1dVJFxIpgFCUR7mtT5L9zJxv8JsqcyaXjQ+jx6goLlsAAfgRBr+Bw9+WYYWmwW8N2t8Rb/ktM0chINLgZTXDEMBd35PjDIv7taeazpKsDZ15vnHr3iV9ii6h0wfcEai4QR/ZW5ZNdHwJkriwHbQdpAEtg4pageXg6YlkEDpEec/LPXKuhrbhSwmXjUqT7s6mFEz4byKOkh9itxhTo2W4cjY80BnzRXjrDqWezxyj3HCz1eBlrsepFORkWgDEc43Bd7JAE/b1fAGCHq+ObzfUYt5sMZtwD2PJxdpj3U6we1q/nNb8tCkNFYR0w1lkv17pDAp9rWX7bE+n2+3c1cuGRPlGWLs87hyTcsyqnFw3GFw29Ksy9iBAaaKjRg8qsozItaYmO6pBrjDeES64TqvHq81nGJvvnhJ1GxPbSUpgaxpwHw+6zBEHx0ugt9W6Rmn//XELq6/rtYIE5EQpWCzTBOQh6oOttkJhs9fP28BXZop9L9QeP6xDw26IIGRvvQY8+pMFQVljFb1ku+W+0w5Z8nLQ67g/4Kl1OGrq8wzPini+YL71xIjB3QWHHeuuPqeB0M5tCV2uHM8VRNEoqjyg0qVON8C1GuY678/7g9rrlXvhC577Jc6UlYE8RHqchFT37RZRZM/04Axk2/kpGCx3XvXUefXULU5+p7ntJuThuosR+0BQ43vWSn5IDNm956s4T2nShKXKTP/N6jUgK20EM+Y7chJ54xXCtvjkenn1idnBCcCRZqt3Jrwofy+bGnZAObXHr7TcOgKgkIUhZ6/QSruD/gRE4Lfx6pkyqJs2YPuiWu8Iln50kIpmk8G/0u3hvtU6n4kaihlxwt3Zmfh1bBgqXwQqkcQlWNES1J6OgdFdalWQMFfx5jUveWCgu/YlCC9XMWbywWtUwn/6Kmvct5yB9KmGKvkh3HqgqyrG6N59UrD0iqc0DLzkgpaoWt0y6jFoJms5kXc/ZsT6TKP8ywhnZ4FI2PdxuXSCR5RYqvSCNkzoAJT1vcBmN1HDedJDAkF6BOMDoOnO4DRKJJlt7xu+ZcKCYA4SHhHZ93/MNQ5vQJEPby+P4hywGol5a+hSb0egGgL5hODNK7EIQjzE43EMpX/S4I41LS+v361tp8cGOWe3eDJrJXmeF0h7aaGgHgCNv/ialoAfYMaz4k7haOf9lYjiEWNPv/uAJmqjOMYb/kGs39T3e5PgwGih5bA0mtQTIV+IEGF+1TfR0uDvyrSNJ5SN2WRCek3qTMQH3ZL9tjzXOfCv8mD3Raf4N12Ga/fCSwl1L3wvFpVMGpzflfsRXPdp47bu6XbmhGc4xcZlrCSjbwc6JTS0lgXQ2ri5LmnI0QxAUyeyRV07rs44dKo/GA9ZE0ENHS8vgR0VVle7NupdIbhJjB+Zur9iJuNQkf8Uh/Co90WhltyTlyHhbvnSZcil2Noy/Km/ByahBe7dFdN4l6EAzGWU99w44r3hPH2mYHG1gvtPs2XjUrHpCmQV9jHWG/oSB8fmV2OoYz0qrI1H0veHK6X0VFM8pgl3lTY3hrkjg0Z4ggz9HL69ZT8MSYatYivFyidXnkfOgsV/lNmdIgW+3at5LvdQeGuoq2OGClwcbgyWGSyI3CUpeYI8977vGqSYu8kEYUMw9WW11QD+iKrJWrDQWbwtajntQMzoEsunrshfAyWLC+n/DMcFxeEJMMvxxt4lrZTYZ9syLi3SHzMNUOYhPW06mJgsPcDN2yR1guBneZYzhMzRNB2+0mnHIbj3nYLwDEpLE+tRz8IrwKeQQubd7QzbLJNVrc+onkr4qEDzUWdfRH26FGWhJW8lmqtK6iAxJ0iflUOv3J8o36A5Zj3YIpuujqyz3JjnCRcBP7S0mtWVCHX4jIOIaQ5jT5ZfwKOspBWVMjNB6KOmFc3uNq542NV0ApzLN6zrNchVYFcCvEHt64B5598Z8aIg5EyHlP6ojF+uio37e6d/3kzfIJWWkKl3CO1PeLcDGn7tmH0tYbWZbSTWHZUNbSWIuwZ+oswFG5Vq8t/CLVnRDZO+GOFAkEoMpMZt2vOQR6kSxb40eYVWVAWLyYXxjwuYOVAcqw5kQmt4BAPvQqlsilA02Pz9k1h5jU1EbSZ+UoNhFtk9EZDn0giFM9yPoFd3OgtNEZ2iCAVUsz3oqS9EIr6BMaNIzOGnNQi9mpCB+jsZunySnmid5QQ/eoQnOUcOQWtVmah+hCb1NDUvLKIC4+Gw34U/Vt+vv2wQ5yJd/CPxsOvzqS64DSoCQXSFBgVv208aJ2UH3bMj7b3jFUCbY2Ke9qpQyc65qCJW7BmJer3UBa+iHAr6rgHbIFYt02jH1auvSHxGpkLE/CMeVZVSkbSIZlGaDzAvfIgCmbpaKIEwIBCabo7Cz4Z27u83njkhK8ERixRCQwUSQFWdJMAJXVa3oZyq5Fxy0kt07Oj1bHfYR4wjYgWbbmT7I9SNp4NlQ25MceDKYKKXzGlmaCrZgDgl71GRt7OO+iU5T4pv1L4e58qZdCDanCq0Aa7Fpxs1fCIRTdtCpowONvcOPkaEJrwy0IAybIy0q0K29bqId2So99YTYgwP5QDT64lYAAIIIKU6qGPJPwNWw6Vv37Sn6ktaJVDt866zcKrTlMmqLeMRNSOlBIeruPRZ7byKO9BZ32+lxRJ1ujv7JS4d51a8LW7dXthaJq3nf6q7Lpdi2XTx/WmsaKrepFJzllNK3k1CuR2ssGPdbTVJnDWt5u/JswWz93RUCGLsWgf210R7Wmd20qON64NQ2F01uW0YO5+Oe4EsH2CwFLfCBu3c5nE8aPd2muiIefCMltZt6ZQv4ED3UnT3yuTrt85H7ER0r1vNb9uf+3wGoclfZPQm2BogZ3Ov/+jHvKwGAcMmtnObO5qvaAOD8vnM6I9e/OG/JTfyRLB21EV/c9hbqk1Zcwir8vqlr2ju+/oE7jR3W1j0goseeMyBuwtSNB5qTyTpRzM7K6c9TXURTjdgewSTYHQkpDr9iwnZdmaGpUEX45r7pMkRqplDUXfjZYSLgTyqMg5BkDm24tmC7UyOmDCIKRrf4U4bpzwdYt0gL3gn/wPLNKpU+emq+S5lQtgD17Pe58YZDku6JDGLEuOM9fem9/3ZDRnaAn9/pqr/jwg9kaYQ1fDGE/pfZ2wNjiUQ66v6l4EntJItFaDqDnPoLRu4/vMmP7eGVhMsW/RlDhoBlvBSmyG0UolDFR8WdiJnNtWrt4Kg01YOfdjo/GOTmKTokF3FklVD+Az8SEYvpHdCxIx1qdVr0uCCXJ+2Zw20M4G4L597xaXvAtPt0rIjy9EZURiy8/cQPNYSCJaFSw+R07ifb14ZLhNwq4Ks12CB3iNWF6/Rmc65cPTL/xWASq1aUkfdYm5eInbngjYdJO+0YfWqy52jdnYsFMNS56/2yvK51p1QypFaYeNxpnMMebh+oHxyJyydgNqLlKnARDpxOcCaU7mvLDJeUEnlWCo8dq1mp8SNd7Yfob7tDCoHI4lvW7zWISo9qcfbSt7WT6L37Jd4ArZobpvQhvrS+QV1DmzJPrFjPkQNkaNAzrziFvbSgKCIIeWR3/2IGlvYPs+NxtL8600JfcgwDAMxrW0Do56M49X927wyjac5RAwRpyrtZdfWeT18aVciaupNjAW9U0f9Mvz1uGHo3pmcUOTcuCDfncoj+M82e8VxOuy5jn62VlDe0eo1TIIybylS+VEYsnRZCBcKO9y8bfYpK0nLTumD1EAqZgu0UN2r6bPUYGWuFlLXDnfv1V82O6mA1pDDpXFB3GgbSbfuHAuQr83Ub/PBhKlihu/CvRoovUwGQzqPlnmzPhJu0w6anXuWRi76QtgrKmXuSk7dQaD5Rzj04VadxQBqYcSwlNg6je4hgTDWD1MQzUejxy2sjzg73yq448HrmB2JpGEQ7zk/8B8PBLXQS73XvFf/bzA5aZqEWjiKXOwQJEJRU4MyPO8RB3r+3y5tqU/4a93gOgHsjL4JJvk3Wf59sE/sBI2LBh11TC21vq8eTTVtILsr6avtUnrAiZiK6bCiKeCNtDKN5bgVwU2danQOOReErs06sbVcvG8jIWT8gqry50SZu5xOM8zDL1Q6LCLP7cbAqus/b575F2/1i++/OU6pTJpNz1GF9Vr8ymovZQ9BBK+3QQqIa059v37tWDfmrt2PwvNE2n4ZSxGpJjqpOofs824WnzKxJ/S1OEw/nqbvhMf/yOiGJOad/R3YXZ+uBf7xqq0IRLPUNalHE0PMxH6TTLYsnlnN9j8UPjlNyaBelraQILo+9uqHfxrUFCPbnZGPPU9DXIGFwLm4ehetEKPC42qnpbS84tytaCalVQlwKbCTBB2nLpglWjx6wtoDUP8IwDqPIwd2SI3MdWqa/6tNJrQ+aLMqC1GIH2Ws5s9NDH+PfhE1N81dukkvFuZGNxZKv++gfFa/+z3ZoH9ekwJGNGQqJwymsIhM/qxye2Oje2GgK20U51qrVU0wT8k1H8amcqf9J/6UBVGOgxOX0vf2pZrCRnRQhIqRKf0mpAGMDRD/zrhWrE7whguRWNnEZ+RTMVI/gZ0GepqZXNZk3wpmDWhIBl/0xKdBinDaFhXprZfnKaul0ijYE6gXRYmmITO5XmbdHPKeXGC5wBZDCDobV3LJoiX8YNPHBhSTZwRfcMoAGHQaBSpznjAdsJYr3WNs/sUJSfP67qXo9jm9oiHzYi9/roPA7coQ7s4jBf7QHXTnMgHZYZ2lMgPBTjUOnz9rtAzp20S/PZdQT1GF8ZgY2//CWNmWnV34TniEAwQ3/ruPVlvLldF6du2hqwz1Y/n9Fq+C78BuPRrhhjq3gByqrWo6bqdDuZqKPHah7QvxSgkoB0/dIS6LBfJQXOBcWbHpElPo584i5I2UXrk4dEHuIDq/mdwi9Ph1DK6xgEoEIX44nDldJz2zRW78YvJ660O0R/BQ16/cseuGVHwgPMCm6rMBvHzKy5zsc8p2Yu/iC5KIBjfqkAh7lOOlv4oZ4ZYIm3M1DMSWBmduX3DQ0kNA0kpOHc1c8AVtULe62FUR04lv8C4EW3ZLiUNSq1ZvLYpvyN50T8oOojHoeKHkMVkAbY89HoWjRwm2i79QABfb5sTWnaEk1zIsQr7Bdl+Laa7vp28NAgwKjskvy3NZANdaXCIkD6YG9qM3lGtxJRgaHXx7YGTI0oHbxkyvNUBFq4ulStVelaAhUjZE9VQ6FCHeXqwhBibGs2M8NvWTBLV2ENgFO8HguXXDudlVJKPhTVk/4Q1IfWx6mOBIFEi3WFpwJ8r/smZXpJOwuoXR20WsiR0ErNtV/4ilF8bqCvc0Xpyor8jyCb+Rjej8y+ELy9cEANKPbZ87eYZIYbJSdVKCN2csYoYSXsp+5njJLCNklAtnZXPTzdn4SiUHsl4HV1Vq44rWRhf4lWiBh+Xah/BGsNfca0+eBKVBV/RvmnDwYLekBWYVdi0mllK3q0g+eeobL3wQ7YrX0a/bmAmQaFf7FJDs64eTagm/I0siIvasyVf3gFvFssQH4E1VtClIVCEozPTdC0+FfmAxevdPUytAetk9igD6FM+UB2AQpx/iPI9kV6q2a76C/QXJjODxpI0BRas6fw+lnsyhGEWWFHf42TJN4L0KS8vL+FwM6Uh+89155LZyZAR8OkWJEpKTZ3K+ytUQV5tugMTQsprVc7+c2Oc8MdQU779ZNURR/7u1HdvrQ/HaBya7/7/7suSgT4EAYA8rimrwL00DW32B0V/3kRWX21HmiENipMhxBTtBl/i4gIX2S+8xoFgR1DKVubO5eBSGeeRAXyqY9u01XDt3v4sxG3icB2B5Yqjjar8kxHx7ZKsA130stdnyHBoajufYYSZIDl6HJB1lM4lzSb+V7eHRfUbgAJxihKYJcymRAaGpcGZyD7KGgIUEUcwauN2GRPq4jAKhCApYMEM5TQCBsKJQ4dihmaOu1213HdncD+zKq/vROG+6T9Wkkc7nIM8GetCq+/EtBRJwnStvbympmJ9fAAgGfpq7Dpnejrp6yoznyKAdiSmrgqPl/kdAhLOK2UZDQ1FGaQn0ks1cklbpIFOe4gdF4X+L2D2AEnj3toWe7J/fiosf7m2HXlLCYhM0boy0mR7ZOkuVdxF4cyL8RSUPTHF1O7BE90oNCS3Hcyueu4b77qyUzXZIfxUMT39k8SgT2kEPwVSQUYSMA6HZpIU4hvQGRaYHgTwnXEiqtyHRvjBqWhWqrUo0ySJMOURarZK9gyHxcd5fj8msK9Znw6kUvuh21l4mfrCsbkH61v0naylIb1uPw2sFM713SC5EahttPnCP28a+jNxvKqZdCPEpRacSko5Ck+TK+cUg89MxTROU76ATT/V8dox7YMvL02YxhvxCO5qcBKjzD6KuOUu9SoiGGav33V7K9LtrcwGyA9E94orimpCtXm+zYl2AeAqbnrJ8V02Fq5TelFGBwsrZrLoJxOWHvwyq7d6tJxGV1TzNb7/JdmuhyygtBohc3ADMdPjJSo4d9w3FJKQaoRWvrOMxl2b4+NKm4Igq4vBZ4U6SSePvTRpkhzhTcAHEtIHz1gwLeZcajKEe1DMb5csvHIGrb3IZqtJgwv0FkyFdLLLWsdr1Eb1zIu2NWEfYglHbKh3EKNtvhCNzbXNQRE15xcszn5ZH5V2n40wRXGtGTZkyQvn4qVmJDCicx+IhoaxlYWzm5pgoedK4ePS/SRY0h20JeOMM0M2u1QneeBy7/2kMtAx9Xc+NbJL1efScUt0cur7+39oYKs60WJmRV/vrD54ZplCZcVWUInJmzgYoME7hMbNk0wL/J+wIpLoKFTVBWPo4LTWyvtYJA0BNIyc9EzD9Xhqa2xi7bJetNW9i/eaUkn4i3lgWai9tQevxeFSUrTynp+7m05nkj5noDt3lg0EaM0HgPVQ7vPDujBPmX2ZiMpuWDGOFv74qkJB5dwTx7FRQ7fvsFx3PnNmLjBJhWwqzGJHjNcyYhsxdn0XCemV0IiBUnqn94mlwjBWuLNj5euPK2fzC7M91Fzv+6R0BDwP9vAXibseOdh9EmSe6aJ46ZC7RTl/PGGnRRez0ME+UKA+WhndJSJVodMYtPCaz+PbaUAoNaTgpa+kXRegam4Yvu6ex1u+JoG0MVlFSrjOVzhAQUo6tStGYGqXM19YSOjTvjPi3G9NyBsUZog894NWXx4gbAzbsWgwZBCVQQWVk8ONA/MedL5ggyMSfewiPFoo2wnZGj0Xo/HQvjJVeQ8miLbYY5+yUg0GkexHJXS1+1zs/OMw7eNl5GpXsxGEp1HO6AV22YKfduHSuHyiwNvf+EVFLTkn9AJ8P9079mccVKxGewHhdPVIW0GS5yOxSWTPkeBkzkuJrwKqI22L6Mll0+b1JTxJAuwSAh2dI2F0f7SMFVsV9jzcRLeK65ZJdBYfxGQVf4UzL+8Mjx0iSAFmHa9ftC8eT4vNTKoomlFV4CFTQgFV8labGRumEXs85ww569qzxVZdUWCfdclNJVWRT6cMCzCCdfMo1T5fWwrWdzkGpLn2ojnJN3deorW5VaSWW6uMgV28xURa2MH+7UYUitzALyOTWmmdj4k37jEzQac2ikoam0Qk8umIv4dJUX9COoZXe5LB9UhKtjbvv6XyAd10jCS7dwDdQPyJBQw2rRONbMKQmVOUpfaNci0ISMm0sPOQBL3UkXBRwqaNPad8s7GGZo5ymK16I+5H7tMbWoEKEKjGfx/cSWel86Vgx7QvYs8fX1m4UrH4YreaGWnsumYcnNN9iXw5YT4JVdVehpNJ3XnedqojN1UCPEjjHjFsyCNAUvM+2AQzXwzq4VDwdQ8ATFfNtl7XO3XaOGKN6XwzBTL6vt6DNp0J2bM+yB8AdBdphJ8jiKu9+AykPdFDgo1W20v8dXiz0I6XE5HEVG0OnjsGQt12zVttQcULo6L4qYs1oncKe+xowHYopkGx5Bf7sOuwc0fN140cHLwIuOn50ne0Gvz4tKGC9hYxC9LbKrhbu3bZDiKg6uCItVdpqESvUPG9F3EPjH/U45aKQJNIpEIC8Ej8O5omwhXkPSqaHDDSF87UjfYomqp0BKi9Wbj4yIVs5k1LPoq8Aak65eq3og0FwfEGrl986Xnf424/KnOnhFuANQ4V7FM2BRyk2zdab46zV2VYWHOXuaDsrn1pKraiMdyZalU6DoLe6SfCpn8ycHs87uTO45Tj6JHZ+Ai8stZGI6RgzItLIc5pfeNCQsuoCcUrmBQeekRQKg5pRWbRQo9BmCJogynod8xt4klvgJw+i0y4T29MPi7Xq6q6GCD/Zx6/0RYwGwRQU33wLCdLPc9L9COLAAOFt4YPmiArLX37YY8X6dwjp4gHa9vEW6UOMqemAql1eLSyx/bJATcXdaKUWmaY+vPv0k+jE/T3gc2V1/GzwbLRaiuJsNSx6flDKog6KwK1ot/975yYvGAyKjH6A4+42vZGCa/G/0nWa1LPrrKKAnRsUwvrpymdoVY+ZWis7RxDPY3l4cloCILyMD7u8n8X6GYSCXHs/WyYDeXnqbmncCBwu1kCN2eqQGZhXylS/+z38C5mfPEPlRWOsdsaH68sGC3lKk7H6+yfHmPNkEQPCZ6UYzFBR/FXXXTgwE7h4LnbCDmU7wANeCiscG4D0HnONiekZWYve0RcOh7QNsI+K7rJWssmV6YILb1wa0I+S7mHikURRSUXqS5gwZAjvqo5npmuYL+IGjdKb7U9T0hubIENYlx2FZoe9fe1RV8yehUrTVrfg9iXgRL9Xc6yeWV2mFtupSn5ZMi6Nj/110ftrM1LGIgxBAILMOm0kYPKdbt+8YkBQAgPCHDs3P10ZzarapznsSsHdOuehT73QYLMJjDGd4nULJJ4k6b38T5NDID9T9TdM3wS3GSHxfeiUvxTgk9gegheC4AHal7TtwidVc1nJPKu7TBroyUJq6bbRR6yGgHNEiaSCeZF9EOGIuSif2fOicg997zv4vu7u2F1ggQr+lwb8gHghpLbpFLlX2c+6SVfFf0kWlpE52Lmz5ncfpUCI7NFqAYEOqGP7uQc6NmOyKnd56qnEW2M3PYHmc5WyrtqQ3/bX5iFY5UnRpehNfq1J6UIDla01wFnRGLHyQDg/Sw7Cf8TvC1BAQPv4WrTbFg2VfV/KYwwiISAkl73q/p3OxjvNkhaO2Uq+e+p9bnDcxUpq9QvfFOqk55E263p55PwgRizpM+lFToCqU3sHlNx9igye9CMpuJxzY9dDFDvc1eQbzjAdG6bBwBATM5Nox7ev8Nu7mPOUFIes4+5b47Gw/ZVbrrOi1VhURamCfQcfR269Ljz8QAW2y4oW/lcSnvJRV/5Lxf1A/VtaZlb+3FaRT59Dtn51yMBtwvZ0eo2FwRJFnNLpFksELBkRoNY4y7CwIVCgq7ibbw3w/+fJO0NCirBHvwFWzNJLORBt/yblHlQiDgSwrIqvcUGMben7AhAUOUn/rr8OEqzBZih0mWTM4FTUi0qntfyeQbEzZOoMEtOsgz34NCWZLCKRkOZ5dnh44vK26OpT8LKU3gBrKRm0ZPoLDwiczmeYrMrtIxH3Nho+HmSB8P1+GcDpJ5J05YyOOoe3mqwvcu5lp345Ay5NrMMzJdrFrAVJB42FRycsdyxcBfNpZU7ZGWQe+X+mdHPetgCAkJr4qiEpFOB1zNpjl7v5X+jtfyGyLK7qEFYpv46Bjgl4De/KVbPJYtJzA9y5ps809mAAPP1grFs1YvwemPiYPJJmV2uZVIEjmVfg2BJ4vzoXKxZlw3SodJLJ7yZbGdWYeICvLngnbjzt7Rc1OyjSpUfz5BeazL9SCxdE68EITlWlkf5yn3Dwu2GaqAIMEP7Rzv9azlJdSecM3vdqg70dJX3P8GZ2YdKwPKrXvAE0ZODYqQp2YtTSE9y55p+Z93ubhj2al0KPNzfEOdPAGNMY+LHGMiz/fTY7pQPxB1LQXBXNEKld+zRfVBWdZILeBCyhXt1Ljh2YfPn2LpWGISI7rBm5OA/lbGRwDLxYaZbQSk4ST/3KQmp99JNosmEOqaIV865bktQj4zn/kUDXGC3kN0l3epTFdCnBYp2qRDMPXpb7T1bKQGo2SB2CtUnGmmOSMk9Nz+cYoY6Kpj7Hy8i/DICuf4Jh1YSnU8DwIdSaLYOroMoD8D+eGqQr+Lvuv7iyiQH6eQ5REFBmgt5H8gSXPRpXwPbLStpy6p5v6bTZpdIQMdKwZDNVG8F1BT7gruCI8dw5I2pxkYKFzoHc6yTLNFCuuRzyeXc6Ww7k4pTKic9AztD4howMvRNQUhvZC70DaEfvAVqngkTXALjMpnJvy44TTZ2L8ZgfCgxROTC34zuwNvovVn1kWS6Ymc2GTctZb7tNteOcKbtY9o5VgPEH05dASkA/cyKO6KzVh2krfJdSbtx2tU1TmHDENScU9eMfkBfaue4wnbrWyIlyy33XMlpoMq/6lNoR3TDXQjLj4ERu5Q5xZvmnGtqshqH1fpVrOFFJ5zvK90llK5Yj5c8yOzsPq20jKGug4XfdIL3BONZzSNx/yi06AP3UEZ+n8czva1UpKtd+m7OGA6lDfSSgD1lHD6eMImJhylDosro2byZy+xOFnaeyp1WdKZPiS8pLOo3NEarBUmdVw1mlo6cluqoMTY3aBfl75OGv4oN78aiLN5lAmnSdw+BP0vBNGeFBp/DNniRfY6yr+atge9qvhTWC1CKV6tqwiUzodvIDUuF7wY9DlY/sQk898ZnuLqp8j5VHRWioVCKzTCYUoO8ToxCAw7SPoIsD+XxHyoCwpzElx5CYDVPFDA0MbSWFBsqhwzIyUMKOaKdF9FYMniSvR1GuWFKsLUXxPNcVwI9zBTo9+NdhNpTlDwiR/rWvdn/j7/W1KOntVjJ0FdKu3xMh3JuXtjHi6jIJdWDeOIXV1NYgx4WBpwf4Mc8tiML6VDeVOd8P2YUwAooMPakf4qN6IEHHGx96SQSAnPMCNY/G9IQz9eo/rN+a1CGklnN7zHj1wvxkl8hehy5v2mhV7rp17kY+6y3g9sYIWDNr3iJ1KFUyjeditFV/7Z8sNFsyavHzEG/1f95SpuYV4JYL9bREVVFZqb3xE7CnxHoz9cJbklFVRu0NlcmivwpOjmI9z0hD8qIuY+QAVeMrNO0mODttjTRyKlmueb34I2qgqfwU/BkIVY01YoKZrtjAmBOFLwZesKc9qOsW5Wj96gxF6sGoGUQ5m5f/prFLEuZpQkr5zfYKIF+7dbgajVIKIzvSk/OmMCkza1EfW6spJC2KFppqSdPDqj5zYIjeOdn0qq65jWPlVCqqlFWuafsrDfzisv9E/G5FAmHKwQOdSoYcUZpSQuh9FvgZFVqfRVbEp/VOXUx8uQsEAVsuD2MilAUwD5GzD7JWNdkK59mM0wI1nV3py53l5V/R5UbJGnX2JjeadKbDNdlLuxwyJ4Qz89AqSQr4HpdNWaLVkZiy/n9YkuAs0NTreVPWf9mX9NUUMJzvtdM17vE9GaIKdNnQ41Vb55DkblDimHanGQ/s7bN9Mw4bdwqkzu23lircVVyjbg3A2IJ563L0zVU3GL4bAv66VTx0/V7vNQCfmOXuJvscs+R4NCZbzU5lqrW7x5NjItrVLb6fo+dqCMIq4RhPtHEQtOP1zy4qfi8ixROzcUALMirEuXkKvJ5Hq5SsgsMIzE4gt+iiZpB9xwf6WYW1lGO5/jUcjhrk3yY11194gXXvGGluB5AXEqLQcg60IIu2E9Vpm5nge+TSeHJMwqDEf/rZAno/m9ilB24NU8pN1E+xqBfdiRs8VJbJXr1ZxR+oxoMMsqTFvSXyI6QHZDiNCt4WqtpUM7nXpRVvY6xbLINwKIiI7NwjO/f6cW1BIYwP9CaIDpbiB84Z0PUO/USshGN1FNa6jRwG6nNT0J1rH/SeElzViN+pqxkNmlQL1yVBV7dTVnK/nwiPTW4Getc0WzEM/6DV97grrtSAGY9vpIwBUMH4i0NevtC7IaGL6SWJK+S/ug31fsDi6SdsCsGQ87eu5fBTYHY+a8vAYaxF6ryvryN9o52/0P4Q78lxEZkSys5YrK7YOW9cIjg1Vhkbh7ESSIJtvezQv16uN+760PzmoQuYCnCk6zgzNriKTQH0YDsws3FcUC0rNPNsGLnhm0qNsMGZ8q8gAZfGSB7549i2mxNuBc9IttUpehX5o4S7NBDTORoKbfck0RB6PYBG5y5RWI4lGp3EfaTsz1hkcw0fzls6OFBjqWC/XTCTXZxg4igNoQxMUMjPEqQzWyN8t1dxfbZKx0NXTJTI3+628o2kz6qbkqE9QYDCtKYGn+KaqDDUucebLd6ITNQLTYaNbCcPXytmGEzvMbI8NH7ST+t/wjEobkzA7XHLgl7w88z6Aql1G9mLur6EfFOZJstOmREDyjxEjAgHMkQNRfHVcKWWer7gd4i3cV93DNJaxVH0ZJ7p7GY9iin1ulrNpaJtsz1r4ptG6Nrcj7ik1PGumxXOzJ9wxlWLXTbdERjSCc05dEUoC1Z3+8+VzvWb9lM7H51Aiz9jBE8CErMHC2LBIsSgYwh3IbLA8H1lWamnJcyy8LHOtppWoHIOrrXp+K+8xUSgDf/nM+Q/Cq0Nwz62m+mlsjGmNPIvM1ryPVD+Rb8oSxsmDCU8EkNclycClLsz09Iqsw8I4q/i1jBYXuLT1zvm7u/3v8txAAtn9apP4nwvEmG6eIvY7qikvC5p7GmtGTY5xTrEIRiNmvikulnopkigmxajUqM1ql8LZ9TW+BCvVJzbHkZHRlU8aMZPls4ujUTGYIdDsCZfzGA23EramtI5O0GqHGrzmzLV08ofc5oZQL3dKvf+XNT8pnSmf8pTcChstt86SAYYUPdBN3vV8SidGgBItm0F38bHZA41a6mhKVNbJaqb31nKI3snB5ZIQsThpuYLb7WdE56nqK+aIJvVdVgs1l2Mqlew3GZFQsPRwp29nsqQYQT5npJQUs6bmd9Lvfu323HTtqnZMyfI1gAs2Bw8RxCGZTTWNhYv5uAd3DJct/0eaFg/nvuUuwoKZx4LayFbfOl4TnmJ6tr3WteYsxuYggebPTJM8PINJIiUJxp7OimU47P2ToCba9HLWQEOa15GqGoDdblOEWx7wUDQiTnDDlNCTKeCGc8yDlBKxvuSjimO0pas7sK4sHysIO3YFwR48VuPeKd2ZdWPq88MqcY3FE/iotD76hXl0OpbTxbK8vE8f2k78KCBnMG4H2gKTg2XR3zezH+phAoaF7hhxLliZcv+ZSuUsTZtLSdIZx8c1TgTQPd+KVhBgdqqNmqGcB+KtE1zhAp1UeuI9CMrskmO5ogqNkp5DNdjd7ySxPMNPM903kJAazMBA1xhmCqnRcN8ff3TOk5pnf1/yVK29ZhcM21exHRbIykeYoyH0ZNABK+hKeoFeadU+zv0t0T30H37V3k88h/LLNWXYsAa02Ck21M8fZ+CAthm/Qhkv4JxEL3ZYyWNiBNknFnun158IUsEMK8QkwC9QL7xAKeb/bDE3K/Yy8NLyJDza96Apjo0aVmP20gbRmPEEk54Muz0Wjd07iC1psVbG9CVzt8ZPHq6R2Shku3LXMXy7P72sWxKgIkjaF6j5JCBj1XWBkkEQVmqFBj7uN63xCzKUE1FGI+whvolAynKrk/dnuDDZJCDJEtpRIXzJqvJZ9UIqYPaddeCAnB1dnvMC3od/OQLMLZT+sIr5Tvf9C+SQ80wO5ZwxH6I26BVZGzLfdUzZ0G7/n38O/xAfKuHaVJBWYWf0dZQY41llUAoVil80M8nxS4QVFPqeE0cZRxiJpUAsqogn+6eIF+GlbcFSgy80eToIfkkwHk6F8KMni6/BF/DTFrupnqY9HKlPZFnuMKSCsZSDxp4NdkgZXYQQRmIOEpAtrq+QknG3LGwFKSlM1Y4KuilNSTut6h2IQAI0BOyHaiPLLObn8KPFi2VMY77AmHiEAgDee32zXb8/Cse7wQA/soLv6N8C4Q13mEzF0l9Qw9FGGvpfDQ4AlzZbHUD5h5FmvJgYPIIxYigcAUtrcMfG6EGVUNCmsBOYsH1rgAW6Qm/z6K9ZAhb6jrvzocC6t8gMZDwUEhcxo37YVnlVOfVBxgCoyn8xN1IEEPWLSj+Izx7BM+weq584idjahXuPSzQkSdcFnCYVIVHuzxqwQPgHJ4UcT8JDwLU7EscwNJv3jyiSUQEzmT4IUvyyku32fGp0MOyV0OKaHlVHEgDcBOcH1s5D7FZ1dZ+6cqzpeupuY8i5zH+GKcfA+clNnwfEjdPz5FFgMwg1NFl4RKW7jVP9UiFDa6Xuwr/wNGQcbSLSTh+tHLqhNXuLs/4Wxk+NhUsRqZI0BBQtezxiQVSaFekfLJ1lfIJn1RgL+Hnt34Cz0hPiXfTGKYTQSjZid0mmSHgX555NXCtoTwFYOMxgCuv05KzbWO5j43GIUfao1FDsExOE3iyPTReIDIe1rb1mJPQK67YHEL31B8a3DiYJjC5HI2YhX3pcx2R7nWzvinTNYqoevhgNbhLzYGzz/NUMTp/0ZkIeCDMpSvlpR08HfF/dZ72GPAxKE0ckJDbIEBVrmIWLB9qxnCz5tQUDmE1lIKH+IR5+XO8w+Jw2kKxmMJDtXJS2mSzfn8u4BkpeCrIpGCPQfXrbI9u5/TlwDSdbl+BgPs2o1C4ZtMWnmp07n9Kqhw9LdLAwIVe41/rKoft7CxFlczEeAqz5upmn9QHn8kjFLjpVYmZhiete54mHkfzKr4JvzXs/1PALRgQx7yIqhVxQhOHxquQXAMxn+lf5edKft13rKcoChhukWRXyBGTTrbUjUagA+js5oM6CYJ3UhEpuJ97Qz0VzKEhEF7gj67bVpYdFI5g6depx3ew7JsiKeULzLIauw8TxcfsJjurnhmS+5M6BqlyuGYw5fzpct0AbQUtciKcTTGQemHz9ezqthjTuimAdsvFlljN2IKG02QCm49RjaSd4i2XMnp7U8sRpfROWbqG2G3tZC4UsJyPp4luYdpLWxoDMYazzc0kGYPXaDlZ/B0zU1O3vGYCQR5G1u5wAYUjcYa5PYXRBrGKlqVChUmprNi/yomC4fPGmPV7FJUHahV5PF0HV0pHOHF+jVQRu52uyaXbSZVb3p2FS5jcQ0pA77LZCVta0JPtOjVODiyKGQS2Bg55wLLEnPBxzy1KOYoGGXrUbi95AFMRVHFizIlNDwpG8Eg8sSWokl9wgN8MEvc41lCuIJLbXWwSEkJaMuiZxtCN+n38hWabyBdcjSve7UIj9GYRJlo9/tx3n8505tBNDvEtOR6oLw/mVr0YYI4g2iskN2SBxfTOcRDp5+1+9cwTTfAzGB5efEKWB6aZwOt6edyUHP34HLotjv/6djWke/pjwoNkKCF/kVt2cUVd4N2vBp21md7hT4+O9I7YkOtHvh/YRDz05KWyay0RQ5SY1W+ifjBQVdXun5eg86CBxy3oAxcqHaFiNh7qXIUEsHOAp31a3dKoeWaD5LGaphcUQeceik9GkkS/nX89/HFOBRa79kAcCH4GGFPWCZSNsfNDG3r7fT04KMUSR2EUD0RDcQL93bOAdITxf+6hj8LO52MV+IkFMcTnRNvOJmcmal0GkmoElhzTs0E3tfjNsGkI6LO8/duImMBsRsZVzBUW1s1LAI5fy9yTIK1O9Ko3DGPB8gxkg07XyXGrTGJV5YoCSOVE7bPxX2qf9Zb340a1MBirhSmasCbEe5OQMVaBsu99hPAdMOIh+2qXk0H17llz/hQJg1rhW9v7CDJ+2TR850tjjq1LdwCc3hz/rGw+PS3In+JDgDjMHb1ytISNYFT65xWMLh0vD3HixOfePdr7DIyk6btQpmSBr761IHesmhq5kkJMJXOnnIwwIL8cC+SX/nYlrsXhAkJ5zSD7iXhtBhhrYMrdLdjcHRQ8rucFXRdw660m6yHUkYIWUzTfefppgBVeVXrXTBPd3xT8dWDQCZPAAkRWc9QdxbpSN65wic7YOsq5Qpvzk1r2+qQa9rUJmFk91sZTI8MMvibkeMuStJq1lDEfSEKOyqyJf0/AXHd/MepkAslL12srk9Nwth9LLn9Ls2kScLe9HFKYhZ+V3RwgDDUxBXKi/D3lZbShsMyHWKyAdKbrtJzzFGi0iZ+PNbZUQ8d80pMrvJUBS/VNuZ/Os+WDmD/W02lYFl7CG2kkQwUPRnoomhbnzmv9JiP1UqzZU1DBa/mB8TYITCXRUQlM9yUd0IpiON4mHabUb9zOkc0zrACtGt+NLyUqIAdcJIZQQWVSgKF6MzhzkHpXJ38aMrKg84R4HHd20hB93qd+8BIV0SMFW8gIpOS14j6WXo25q/6TKWECQYRN3bvVkMZlN5ZG8h/hxATJ3ozUSjNeU6v6VVpvtE59OQ3hpJuUlHX77C3wA3JHDYFT292tXPBopleMOUIvSwWZrzta6M5vFylRn6XkHnRe/+qGcAClTed+/CGW9LSPERHhDlgV0NP6UALyFM/KwI66ZTSAZJcfpqcpO2W+chpe1qztQfDkudx0h0QcNVYwosZeS5t/dzDmwpx4ZdWXtEmlWpU67swPtKGWjhlwNIINN/ePeKC5c1ckherJD4AbFkRt/5db1m4e7WzoH3moHJIbDMxJvjtDsuChPYtZTl95y0duYq3u9bibBvlH7h8185TV48MslYBkwAAJF7bIJVyG5J0j6Y3JCr8OruWS1oMCg+pBEoqZya8ag+ZLlk+qqn9sOpnNhL5Rd6fx2D3zaF2hLpFoiH9rt+ecJTiyTsV+aBg8a/1i7qFe3PV2ctGXA7psnkNDKqWw+pSutg14bGsCE4DMrGXnAqMfSP/Bzxb5zInuC9k2pi7VGVKCrKn4xrLJoIfkX1/K5bnMZIan+YQ7PCPuKXX1kFEmf7iQP0lbYe8QEN1RGz41fkDSdTnJl0EuxbXh3/6ANi0ebrJV4ooBE7i7qpOifEJKRycxRfhXBXEeZ9xwgsq1EF6wbIAvsqKlZwNVuEY38utfUiY6xsmtkn9s5wlcu6I7WAn/Hw4SSbuICbl5Vjg4XSMYlxt8DVSrvwCWCL/g6mtCZTVBfNbhzjQDrFZv9FX7AXFyDG5srnrASYk/5JCLINSuc9TYVVRM/MiNlxdsFaZHYguuzXEHKv7YqcGbKb0Cetzk2RWyGIJyvGC//Xwpsy9hFAOHNb/CcM9nUDxQXXmSwPaPiylMbGOZAhMgRlOab3MYmfE1zbw0hesYr1NC2Mj4oMWBNIbp9aKKXvznzuw+zSZIOUb7iIxrep2zWuNTk8qKbeMK399bMVr7j0vMvZRpX6HsO8XSvgAGzSYxWaRyqM3pT5qwYFwWzmeeLmTAvg40qt2bbFsBLGbqNwEnoYstjmI2rVbezpKktTK4G8MZQU25/WN2HuSYtsQSHg4CGVtc/iu8tzXkc3ev0kdmFrz3KvQ1sh3InU+IGGfKNbvWeuXW8Sw9jTneVRFrgJSFj+bUsBbMXRel9+E4PuuJIbayGE21YuUI9Y2tbVOkDdosJAV5OXKfATLmJBQnWSizoMUfUhzV78K12OTtJu416cn0WFooEWYI4HKysiQrVBdxRhQCmLjfHb5qiJe6Zo+7wJz9wynNJhGnfXCCxsIrx7mqFPkylUfTwYAGhacocoEflzkukre4j+WnyvQO0/untFbPj/bg8eiRqGjNg0tqyYqkkFVPd160YD+KDXBTRc4Cl/VkkfxYfY8nNMN9bK3MQq1D2DNkwPvzq8BdfubOEswlSE41W69TLU6Xj01kXFGjZnz++5SM7B5FGNx7G6X8hYxUrj8V8VUK0ra7cw12wQ55yoGRtcKlinlHmmtvq0ZBagfxu4RQyJi2Pw2yjoId5ekkn/nWZNqe2xqMkzR7Zd2tSmCNgaxnlZn5OkGNnZo9P1fZc69zfQbdB2u1Z/tomHNNO+JTT4fY0JY9+NtDfKHdhVnaVKgP37X6kg86ychp1hHKmQ1xeI/EQ9DDf7QPeR2HkvsdpXVZ2lPVXC8Nh1PTKnac5VGiNMTjO9j0CDZbovLbaan6DfZpSdhyKbaKpmdYSUmTjZPxHDUete1XH9Y7fmXDeYqhiQVpb59y6GTLcKyrE3Eywf7pKMEfHAUoTBRt8GjEdS66H0p8SsS3omOmTFdcnV+qm3k1Zruz+6cGmcgPoQXJDOPDzUmsq2zHCs/TXDsSLE8lKjV3QVCogoOMdtYSIHZbQsv6wP33SfjGgiHuA4mM/RUNXEJ6vR2mAXBzFyomNOgrEQ6IsS8uDpxsySDuhfgRnxR4ZUzeNqth1fQzH88Zf0l0VLCKkZpnN5LFdDe3cSqX++FBMlT6PLIc+2Jw0apVcy2yZ8ftFDqan3vEoIXI9jg9cXdBllQkBiap3v7/ArZkzyl/RHpjYVQIEAxMLrG5cXz/xg6agC06JA74Dkug8e9/YeELKq6cMiVH8nFCEfSDbab59/g+oTQ05wQds+rSwA/IlRm6qWrwr/NwXX0q7TBMKZKtTnk+nyzVCAP9w9XBTz4s4LX43yR8mEMvQA0YzrR7O9C0+Ws1OLRHTEKyimo2My2d3pDGe0iQcj0P71xusKPgM4WJ/xHvjCmeWub0vcrFz8P/fgTWKoKNfxmzy05EeKBwsp3Uc0ZI+wtzJtJtxFLZG5w2e+UpC3vAhNDhJIRFHW4KCOKdzzuQokU84FMPv6gXgosZKoa9YGeSGU4ajBmJdbSKXSrHoetovxxcI+r75vIBkYroJm7/ytTusjyLsd5yAV9fWdIwfI5oUuQrUGS4cZuw24xOpMoa/UcVO2eK1QkL+tyMjq+eydqWv48M7LqKKmuBxJ3PY0fCLwsmusi36V7weUMCLuGDIePn4ao+RsNP5LKgKxQk/lmDDxJnj7to3DRqPn2HNG89EzruuV0fCw/trvl3SptpUG2WfagMaZr9BfovOtuL8H8ylc3XNb31NF9p54j/EDBwkcMDbHl98NbzHgG8awhUAXU0wzDUB6T93jfm8scSe/8mftnHvMuznGc4e3KjqXYsBjJip3LMi+EK8/tK0MJUt71DPCjConABoZmtDzPLYmHJF7BtZITiYjHxEfEAmsI8nhKIfNPRobVhNus43XY3rPUBtuNPSvSi6f+ca7OhebxLSf6mkGl2kFU0CB6W82ijVrSE5aXvEMLZocZbgJHtGyjZpKz1R2lLZLx/oPqQTlBAcvO1rVuknToPKvVBe3PzZGnzZy2RVB+tuW4/mDTYYhIVQ2fVR0blxF/k9dzWoljLAl8KM7Zr9/uRuVrYsUmO9ULy7ewbbSQWKDP6Rzpo6U9QxbcxgfW8hvnSbOC3RRimiT5VOnXWHFhLvbr79i9hC7S1H6+hi6car4Z7pOTV4bnxUCdH+eFdcUu076z4M9VPdruGnfF0LUKbliHlLxvRIJb40fvCwuczPRAhtXAWeBMizMH843cvJE2dmjkTPnWLmPoF8Q6WGp6nOQxHNfk7Zxu9vcX0vxdbx0AOBr8vCKSkoWx/UFnWakT3cEdNruCTnG4ZyFrfWhjN8L5D8skmrpfEfPWRKaMMCE4mk/2ci66t73p1l0TuG1n83RrJSHazI84mJWNIgz29W2eaNMRgOtQQmkzBCF5MfVOAH5UMAu+EDpIM1wRU+3FR6WRdDRTbDUC9x0aesQi1/KpRedf16F3Wlkg4Brdx9YTUr5TAh6eEvALOekIvH5M9VQyap9tF+nTQSd6keFnuwLoXN4E8eM3i0DacV5U5Gk09KM+xV8kC3QD2K5mwaq4w86GOMwuG/v7PQklJaMP/YvaIcVV/EwSVsu3t/c6wvyR/+LDN4hOo8vXOZUrOVjDBrEXijjnYstNTA6SglIViIRhhCPNHaJiTNNB6P4vFoqhldRTGYlxk5PMij2aAIGqBSRUjv7JGDEVFUKweA08igbFwmrjfLpH5/0Hxl2XzKkIy6Iy9IBKylYBPFoqisdovNf0xCUBseKC7fv3IQelb8VV5yqdD2sxOI2O8e8/omX1rLTisI6s7gJSaz2SsBmF5JwnCZQL9+2w+2meA8eg+XymUZdzrBlJZ3yHFWSSW+Nh8voYYPGVomHjBuBvqlbm/B9xZ/L791FpdsBoUYSHBc7j2VsVSsJm7CSl7lH4J/eCYxJHLXtbmQFwEaEEzjzvHY4NN1S7Q//H6HuDPZLdcEPXnxm21zSqeFetOxYh9zwrziNPurisPjOoouh9FV0nE/XSUvOlmthh977kxaXi5cs1AS+uzpYCsnL14HG6Noouc33NQburrABRJx3cuGaL6SLdCGrrXCyDmYpREf2WsbaGJm+cpMNzKbSSIo5YTZ4xCg/9/RO3UZyXyNJyiGAdVeKLLHcn9v8ORlF8h1ycXoG3iRyB7ooi0E6muDcJ/ln17l2RAQGuYXeNhYxHXgMn9qjH6ASGV5dl3hX06WMRxZd+KzBBQF9GtIk1DPMJ+dQhRYFWN//z+fo5RSAsI0aEy9YinAFXki/14XIjjsDExTKeusCw8taOMIHHDZ80MiN5g/Fl7Z84xCg1aK4BxjkaUUzKtacIs04L0HC56b5l9LDXl3fRtjJ24kcveZYDF5PMrVtvng8cChUadp44gI7/m9MNOSYC5HCkwFYjgmGuQ/O8udn2LbSfHJ0AWTXYZP+Wa3RFGgA55prCjWUso5iAhO7UnHEHQKT/KRK5405udQdXDrv3Qp5Rq+L5h4Q2q5KbutuAnWOVkKLxdiNCQGATB5+tZhs/V+TZvMOD7C5UgJfw+iuv07T4btYnldv3sGMfx5IlRP/XBhvoo1FyZZg9EvRif6J7vI7NJ3/cEJ0FKCXKYUGS1qyiHsiK4JjUG4bpIk3ZRxm3s4iDWv63zX7m+Abn2XMOeaZFVby9z7vCkXlEv/6DFEx9/AKSp2b9M27ruXHIoL+gDPqck0RL7SwDH9ZCatNoSaRooj9P3FaI8aD2//ZTjpKAY/CQTjezeCEuABCa7f4EJgLjX5ek/JDeOy8HIe0LbRnrUBYQksWxGrUUa2MqLLF9OGuEqXFs7N3P97Agvwz/lSvjG9Y7MVW6losz6gkMoOx31jAWV+iaMrAnr2p9dFN7NUoM2FhWNha2p6aHsrBhG4mXZ5GeEp53k/pbqFjs+WoTBbzca9kwN1py5FxnMCji/V/7FzLXunv4sQcGsn1D8skkjfG0Vwh923c1qKFtlNkHCSyGMV5w/44hv6HblVI7YRMhR90vd2K7j7TTHalxvTi2XPW3CNd8ya5vMbTOaBETdKu4UMfx6DrQVWB4X6KNUj1Sb8B3laKshh2/NveOITtNqeqSIO7UBDK/3w9fsj0fo+KKLXwhwnu0E2zyZnLk0Ty5J2vTs3YhjQhYaUW37TmLIZXiqGbNP9ELYv3aIHtPvGKvdrW1/2vD/3peJdm47xvnwX/w+BVTrsBgfKNoHLM7LR5Ek6r1fM4KkBELr/ZkdqjIAUQK7pkmoG+9Nahgzsrg4j7ZFoDUNajwdxKkNePAtrseWyF9JWfakUWVdjPxk3OIII2f2O4ydMXjJLa01NyO8SnuuY5gYgtG1YC8ZtLQHfFFfyfXesoBGntDnMTBZWaIyvF+8k1PLCxcwdWubDRKN/LG+M8h8V5oDqboCg2gyv027Km6Le6LvUvkrCRcXXOUzPdE3ITK2s1V5Inz4JgUtz+wrBYamVLpRI9LQQNhjTNV/d03Ee7Oy8egokR1y93hMI+vaGbUhHFKyuFNt/qmNxCqUSb8/0f8NykS1ea1T3zCjsXBM72PkxL3TXvIccZvuiD47vn7jGM37hs83f/V0SdbYaxLdvEvk1jwWWOzKXhyuHGfb3vOz5kd6PFbO2CzaDYwG9PHCt6EKeJMi2VO+J0CuLxrooa61WpTczX3EdcFPBKxuUCgg7xtvsNw861OySFKueSrS4wl60hicnMuXmbSm2+rJ0qShxSViln2Ol0+4MQ4f4cLbMeG01FNNKxAfRjFIQ+4bzAToLqjzLllMbIiUhdCHStqLiia+M+N70ZUQjz18s4RPk1v+mpfJ+fgwlM1MzAhElBAM6yPfdV5rQXQnelyB9j76VahnhqRWKBkCYto91yEhgdeBZ/pMAFv6zQz7j6OVxHSrIzw5RHJ3ZaRSRfWn7IMe7On+QnqbY74Bnqk3fQYZ5/2Mx41vssXfRJcQ0D8uRQN4RXVLOOT2CZnSnvJ1xCploAl+Wp0xsXa2F/7ZcQkshS5fhmDuIzadjQE2q+rXo9GFcCjyYPI9L6xYIG0JqXZDcCcr64HZlaD0pBXCaHcYOipHi0NQBI39c9KhctJnqSmFfD49FBZ3gHENkyfyYwzY4IHcO8ty2mAaSAKKlKzmCOd2ZV/wF589ufQP55vfnHSiOC0zTKjXpGqiAXsubBP5xYkbvFXimkzHITymZXymw0TqqblfZr0ZZccytPU0oLIzOiyD/++hXQEYIQ4sgwodBHo0mhH/ZMXOnZ5klpBs09mtBRfV2a/w2ZJ7iJ34JKX/U8c9G8xbByiV6y0ZwD+etU+ahqg+QFBepS3/AmpZKHoZJ5jdegZlr2xsRchS4/Kw9c4+XZxsshbckljIbqcuZxTTe/yHCQOUcHf9Rq403FjEGcGpKbfuA6dPer4oKL16zGUP8v06dyTyLHDg/6zFQyLyYKMCTOgnu+ravn2D8OZnnlLvF3ci4BVCEfNXAyjg8fVtGEYV/ABotfkmy3UuKkB9dfqLqhxAULI3n4ORluuvoLTP/hkHvIQAyL9OpkE/owQhjaedVwR9QPX6SVBpSPpeqMJrThK/TvwsQT3LsGBPLvYu+wieVXSgx2f0JeUu0MBiYRTWYlhvq56jynk4YKYt0U9ZGNVGRpq6S+HXHb4P7kRjHRuR8+ySfMG1f6OR8hKImKmOfZtsens+cMN082v/kNKCzceoHaMRrmJ4vPOaVkO6NOrQZizPn4tA1RyV1NsL59B2Hb3DTIbr9NF7iO3bcVaeKV5uvYxctFGGsCzXeYnxSCfHkjaOHUOCvtyspo5xS3ohO8Il4x6b4Z1YOYLPxnfFErtcw2vVUvK/s9gcRYRe9VzZXlZrMrzLpWxxX1/57MgnH4SKLBtYVAZpyu0EXKXYZKWWN1WNcHdt9EaWkvkSwYpLTYAk8B8JoefGHFSPsKgzI5qkon2aWPeD+KMJmuTPt1trL6NvphaXtwSubVbYTZeXcdPXNV6FMQ/ULgu6e93TrkOkRIpz88zjpcd7qkqhuGHO1h2G50+SngZKLIe19YRvBIJs4sapIGMp4l1bRh+WfbppU6eOTWf84b5NpTwFxuM7mu962KIsJ3QAtb5FOMsgHNQSgykV2sQp1Boe8fk4GVhijx08WzUNbvsuf6tBmB2AEQ3N61nUfx5h6Sl9gon2t55CnjsxMkpIW0DQHjKMO+57LtOks5uWFuQqxq2B0oEoPSVRhYzGJ3uV+aRzRR13HRT32GjTWgdl6OBPMa8ilo9kdcnRlbrCwF5euc/eJWOIgWzU9yXlDn0V0tmhbK0IhlqDc0P/hwdWcFBAOljPRyGpVAMinmNg4rxE8tvY0LNIIs/uF6EPqZD0k6+JDvFdQ2yM80l2ulTLf0rRZlS0T4xt+/H09NzddeXzcNIdLpi32fuSJV1Z2dLpt4+9Yx7ANvg7OAY7EXTKQD5iqCdh6YuJWW6BMYy3U7rBQ1EF8cBLy4+AKE+CWpNQmzLNzbVvPwhrmSrVJQK9WsxlYqJ+4Dzhn+Lt5Xm62JxH/s2DyLLjS1S8QpgdDX8GUDBITnA1vbjhsZTd78NO+AuEgRXDfp522ERywgBsY4G+9TlzSAmD9R5dR4FPlb/9Muyt9a0nyq0QhzqKETms2DUsJQ2I1x2ITLQT6ksv+WdsgEQvme3rTnjCZlFg4b3FI9QmJ7jSFJSvvob9Ce9RPCfzGa9sG1zEA+mb2pegZ4JviDs9F6hjJ+ahwINaD2/ObIBeOWggYglLLib2sc64pt0wZy6xdAVL/og8mHRd4b+KLUXjlUQHTGEWSkQek+VTbKWkfuD4faUzu3t4utjefcjISlM7F7DJl0dhl3eybVN3SzRSfDsAcdkCFeX+UYMtMlB3Q1BLr/4LxcMVnSPIdKhCdXrYh7/6MJeC2CvWDJbF0H5ql8sWCuuu25evDVzrZ4xBWJ2JOOMpw4JcFyBD1wbIrtOSJ554rgkE1jp55LHyBc8ak0eTZCui+ULLJKeZwOOiWxfzSZACsTiUyU9zEvn4uGWBjg7FFTQ+xbk7vh6hxCTIQOyErnS1Q2CmCKdDJaQ7Cg69ETQSKE5byDrOsCo+VEgsp3mmHMowLvZH+Zge8ILDrKJRpvTmbOTFZYcBYIdFWfHrWo2lXS4pyr7sIgFRmvSiD+D3/0XzsXrwqU/zTMfAGvekU6U6afdQZCyKILes36hXUDcC3OXgBFx5k9OAehXYFI8jt9EycIJSvRQIrsEOlnZCY1Ywq4+2CKO9SO2DAqTCT/scRMYPfdQn9ThNANgF9JyyO1V+zw5vcI2znRfkhrYn6iGyZxW7ADevyg2HFk2DFb7+/oz8hfD9SvNZ958JXvBG/lhKJnl+6mPjYW9dQXYYDKqeIoXHAYnScoT7jFFu8lxXYde9wa74d3LXvKTb19zKxrl3yX4yK8/h9ovY2X7PLCphbN8XggSnVFJQYYVpfdsxGx1Otc5GXkz1KWcNA3A5xZ4C74tH2UA/lwp+OclzH4V5sLcCWugM28bbX1wNvIlHB0xTQrPNcvINkfpTQIZAavR1BovFfmuBAzBHpA38JCxk3YVM7Sv+gPoagfS7FlvJizuKtNPzJQGgRKDT1423TvO9rFSNMAgLHN0wbb4TEiJz1EFsP0aarJYIQN3X9qOCbYOahDhwp801FRNaogxas5MZp+Mz6yL31riboS+ezn1NZq0Zp65fqeGql6PB7mgm0PI9yglcpA6NhzTJSDBdmxjSTKLSghgvIw3HeSsE+mbDYDq/pWvFgQ/SxVXRFfwcJEtgzlx1RsMEhoC813brn0Ab6JEZs12Dbs8jBpljEWxfBc33sy2nCuFSN9orqteYozfzRbNU6uyjX0zAUYRN7a+1leQSHbtdqTuinuPXol220Io70eE9ijRhZW9AAIHBIgrHsOaugKv324K5+Kt8HMd146nHlw7cpZFYg60q5RVH8qcGSH4gcu6Zr3AdOgSQ923jWIMR7YDmlXBtQqDEep3ecs1OOJY0/rZfKT5PHgoIRXkR3/B1xexe5NOLmLzKqaW/YmzRHNkfAUENGJWkRDPlwjuZ8QARY/YnsIWL5zPHan18oq8vEm3LrclXSEJQ1Os1i+xMRxPavbqa7+o67XreYegzO7XON2b3/mjLBOW+K5WeTOU0xKK+GPXHTS4xKh67phc9Jg6Wr2KB8H7SJahZhsvhSIc4P+aCFT9aUcPvQeTRwwvnWs+5+clHcg5B8tsssnpo0aWJp3Rmc9DyySxfzjxXDV5ICWEddHGid/E43BsXKEFpyXIfaUFifpHc5vCEB7JZ09xHxzlWg3SEYdwBMwqiIg/2QMAr1tpn2cXLxVM+bHsicdKTtiU4Ivd7kcrdYcvWgMVv2HiX9WqpuT7krV0zJDBnFekYXvJvZj2pQGteu8Spw50BaPLa8Lm2S+W2u4sMIZpGROcZcRAEur0CSdyk4aKuswJR5EsF5s3Z7PKE3nQDORoUeKETU86m1RASzyOw9X8K34tfWr/KFTsrQUVXDP9B8YHU2Ajf9ewBY8/X4In/4syn1SAlUbgN+ra91UjHdUaub38INYrUmfHlgE2m2RfFc/PnOk3iGnDTrMwLbgEpNEXh+wvNyrOqqC/fWWTd1YJegvOYrv3PCeVkyHMMZ63qPoxuddin8/QAaLTlqvY8wf0f7jfZVR9ImmfQMKZnUnW4XQiOCGwaiIz5tdg6ObiEXmL/Yp4pYPSDTWrm8cgEZErF6A5JtOSJF5c4Oht1JNjzyGDXnNnWB7xWcESCUztyMUrVkjuDDSHp2APkES1caKzF1GZfM9LPT0zVLE1O7S3F3SYpWSat68iLhG+UZ6kBt3AMgmC6aq/X9D6S8FXQOSNH6CakfUzt3QmxDj2nERnfcgCUedtB5gWNkEthchJ/pjI0EiuAPhkTMArswMbSmf0/3Da+ya6ooeJfR1AZYNpSWgOBGokIkb7fvFCHGJnQKxzu4Frz8mg0QPdIpKJZBlDFkIwpQV+NYDcA/n7bZR0jOu1WTJoQF6Ut9GBcQbqA3/seJblwIrVkvFJSgO+6rrC/8P9i23zvpSBrs0Sa9cGHUlf4cj0mUyDI/dBJtpWMFsDnx8b3jGRdqrlDKBizIeNNjGfJ/797Gza0GwQr6yaBHh2LMCxXsx8U43DLh/2PGHhNBoS1K82bS96mF4c1f8JqUctLzRuSrRDanNtkg3iJD5CQOCr++D6EDJgHasSQKulkRBTktYUP2wlm6238D/DtWlvKwUYpDcl4HOynBp989b5VGyCXPSeBhbZG7+jQD4PimfICkaBcAdmZJqBIOYzNdvJ2Hsufvj63hlI/R31sbffkPbPCcR3fIu0fS1DxJyeKqXGnLyFbi74jKzhTDASW400UbQjTi1/y5jnv7U0DGS1L4cGBrvC2m5bnUZiZJYYcBMVZ54lp4adxgKWWsvKp1RB5Ug3NiDT/u3nCMZLUmogcdZsEbNvEr3GxYQjRgFQUTQypucTrvdsDEea1p9x7MyoQt8HCNz6UxbV9tWgX0w82F2biJIcZD8O7TQ6LXoeZUkB9clWYrJQhM05+lRWZoYILhv/T4BpOiFe90MrGYIqYaeGeI4cCx07jNmCdo5RXPVnAC115gTiVtzdk/mZ2czVYEA1o41z2Vq1NGDYzljExgMANNOAqbzAbeMA8NRPDxOeTdqNRT2yBF+01PTJYg3b2iR6Tl7dG1QShgk0j6xAUrunIBjwv68Y16E2xk7EyF5fV7NGoxmb2WWP8kSYwhMY4w28ujvwS9IZ82wyPk4DPynmyNVLx/eHagQ7Hxd/71kTOHA4yzGIR5GM5F/nj0ns/+eCFb+fUbu1nXa5ztCwgCOOc9pVKCybPiSTT+REs5eppAbEaM/oHq394sizBqL5oi3mKR82+LSuaue8xQI9Io6kMyfEk/rUUD0JTcyJ50YKFssgK/EiUZ9Znqh7h9MBvJqyeqj6BMSEJ4Be1ycmWysmMwRJrn40WQuyZv9rMAkLkr3fsbMhWaF4paH8cmSTiQXWUsppzkH9WrGtCzALFrmEfgNvht0pV8voJrOKvduR+8k9pagTvytZQpkxgl8ahWitjyDoSCRxoK3KyPYemetRP4b1Tbf5zZ2+W31P/LBDrD+iV0OjckQnAxuwNVNt3hhtvek3E6p33XgrqVl5fGqNZ1up/euyD+NhPTG4TH5T+md3oAYq1X4ugNeL9FsjG+85BdycMLxZJ2k0GOzZRh0thaInSrI+fq0crznFvXBZZ4AfIgRFg5WO08w8VRMqWQWiMG4x6R4VuZGPQkf20O0RzqmDEYzOheHUJbK0PK0DUpAuuh/GLKHd8dcbpRmrqF8WrliLEPAkB5bw9RN3wEBIE9LVJMACgb3CNEr4Rqcfi9IpmgL2Y5HruN3yXWbBsyvkVpnwEg+YwzDCjZF8JU+bKGBlDGnyyrNX3vohiF6H7tDlcjGk2zuV3hXod1MYPPj3RFOYzaDpC5eCh22l+B17mfQyg40jvnscLsCp2uPbgJxplUkSath/jCYtLxSYPY+9HqPkrXWR9ceEAmQZzZhh0PC66oujJdlb3HUaWVYNlcU0TezcVm7xicIiw2mU38a7MazlZ+3g8fpIYI2gUHUw+cjDZdsChJj/L9xu6kvBncGQhUaVtI3O/+Wh2Q6VfA2EMHOvEqhN+75/TbQtHRuPplccqJb8QJT+jO7DNXF7G3uVuVKKZxx9dTpFk0iJzATzWfu9Qv02GAjJdZc31UxtWTfksoE19xHeQOqYWHkqW1G6aUmHgETt+9jSCeSqvQ9O4lo9ADcIauAdOVPzCtfsdLr2TeZcnSMPJQIxqCQ+m4DjNrgKtLq4+iacpcRHouTcfKvKl3PssKXtt5FduzsYWtp82WS/raERdmnNIQAiZ8J5HWLgPpCi2TJt9pwFcV0szWtfY/uiVkZKmKC1WS57KIgU79W0gwgion3GO9F45EQqGk5tPStO1ec+0y0VkomOZlgT3ZVXroQmhY/QDFdDXwOd7IxndRHxMRBHvcW8ECadnNReQDRxuLw73amDqbpvrLEEEEuymJ+47vgmv4kdCqc6En5/8S5kmaW1boKL1BQO2IFXDv5B1gpokGF2DliIJXZF6dUQpO9wK+eZkiGvHUAAK+nzGWI8UK4k7yo0RS51eZ9p394+4Ov6Ia+A3a89CudSt/R0gTBeBW3cNg6FUt9aKLd95wIbK94WuuyGXQzTJqLNGl0KotKRQUD3kb2BKSUctw1i7qN7JNNpcR7iIOHaC8rG6yyBS+MKdMZJ/L1cQQOCePXmkLjxWHZl05skswNLt9TEVD2g2JcPcf1AbtgyYn+dz1fIWC51PG1t3DyOdAFOT82lqq95kmh9yn1LtQFYKvJbMhuGpIDNFoHaBWqKLixPqzfuR4v18+Ddmc7LFdciqsIueRMuZzGEs9xitG3c6/ufJE0Ibtk+JQZ6bJXGPmbC+4tpkB9hI5jgYWzYCo6NfWbQ1JY9GYp7Q9YEyKX5fXEDRyQTAUzcz9VQNPoRZnpaMi6pKqRIn4inPmIaBCrd9HiUdM+vZ3nMnWCaOnwZSqhDsKMFXW+leeFiow6K0bpE1X/COQ+++BpHwkGtXCHeK/OXXfRL00M/qYbMHgreHlN1Q4qQ+trQjQw9SK1CA2lod5THmMRFk73lZtGvFX7E2LX6+MUXuyCaj8riJWijmmiTYdeB4MQIy4ubYkRN9SGFe7OmV98tEXfmheQZENJulF48E+icKBJsGDXn2fUnaXkMDvRsvG11nxQ900oI1uAMvmpuXY4yxgjEgSbSa9KDnAyv89Wfdvx21ye4hC18gQ/VAG89E4crFCBlKmj9bglaJObcKyKrsPm2nHkMr8j/8PK2Jb/5Ia9pocHmdGVBl+O38aPj6aFo9G56t1jVvEQpI5SLNk8ABbMY7Y1og01KntFktz2uqD/FiqPo+sw2UNPSjoEVm1yA/mj6caHVieYmzxWcrbbXy+TIuAP2663LNKjYzNFQyynOldl3lJgoXDhaZKgFSKsPpyOi2vdtguC4sEtntq84B2JFwBv+x4oF9VTUEUr0U4wnYgjAIwVeNyhgqXQyPFP305ao2ZLxsOcbW5w==" title="Mekko Graphics Chart"/>
          <p:cNvSpPr>
            <a:spLocks noChangeAspect="1"/>
          </p:cNvSpPr>
          <p:nvPr>
            <p:custDataLst>
              <p:tags r:id="rId3"/>
            </p:custDataLst>
          </p:nvPr>
        </p:nvSpPr>
        <p:spPr bwMode="gray">
          <a:xfrm>
            <a:off x="329622" y="1307853"/>
            <a:ext cx="11483590" cy="5220780"/>
          </a:xfrm>
          <a:prstGeom prst="rect">
            <a:avLst/>
          </a:prstGeom>
          <a:blipFill>
            <a:blip r:embed="rId10"/>
            <a:stretch>
              <a:fillRect/>
            </a:stretch>
          </a:blip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4" name="btfpNotesBox953997"/>
          <p:cNvSpPr txBox="1"/>
          <p:nvPr>
            <p:custDataLst>
              <p:tags r:id="rId4"/>
            </p:custDataLst>
          </p:nvPr>
        </p:nvSpPr>
        <p:spPr bwMode="gray">
          <a:xfrm>
            <a:off x="330200" y="6319679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Investment income from invested premiums is incremental to underwriting profit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Annual report; Capital IQ</a:t>
            </a:r>
          </a:p>
        </p:txBody>
      </p:sp>
      <p:grpSp>
        <p:nvGrpSpPr>
          <p:cNvPr id="17" name="btfpStatusSticker584984"/>
          <p:cNvGrpSpPr/>
          <p:nvPr>
            <p:custDataLst>
              <p:tags r:id="rId5"/>
            </p:custDataLst>
          </p:nvPr>
        </p:nvGrpSpPr>
        <p:grpSpPr>
          <a:xfrm>
            <a:off x="10003470" y="955344"/>
            <a:ext cx="1858330" cy="235611"/>
            <a:chOff x="10003470" y="955344"/>
            <a:chExt cx="1858330" cy="235611"/>
          </a:xfrm>
        </p:grpSpPr>
        <p:sp>
          <p:nvSpPr>
            <p:cNvPr id="15" name="btfpStatusStickerText584984"/>
            <p:cNvSpPr txBox="1"/>
            <p:nvPr/>
          </p:nvSpPr>
          <p:spPr bwMode="gray">
            <a:xfrm>
              <a:off x="10003470" y="955344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16" name="btfpStatusStickerLine584984"/>
            <p:cNvCxnSpPr/>
            <p:nvPr/>
          </p:nvCxnSpPr>
          <p:spPr bwMode="gray">
            <a:xfrm rot="720000">
              <a:off x="10003470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BCF548D-52CB-434E-8F29-1735D683C230}"/>
              </a:ext>
            </a:extLst>
          </p:cNvPr>
          <p:cNvSpPr/>
          <p:nvPr/>
        </p:nvSpPr>
        <p:spPr bwMode="gray">
          <a:xfrm>
            <a:off x="10601682" y="1983018"/>
            <a:ext cx="1211530" cy="680669"/>
          </a:xfrm>
          <a:prstGeom prst="rect">
            <a:avLst/>
          </a:prstGeom>
          <a:solidFill>
            <a:srgbClr val="FAEEC3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1000">
                <a:solidFill>
                  <a:schemeClr val="tx1"/>
                </a:solidFill>
              </a:rPr>
              <a:t>Note: G&amp;A inclusive of Support Functions, IT, Back-Office Operations 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8079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btfpColumnIndicatorGroup2">
            <a:extLst>
              <a:ext uri="{FF2B5EF4-FFF2-40B4-BE49-F238E27FC236}">
                <a16:creationId xmlns:a16="http://schemas.microsoft.com/office/drawing/2014/main" id="{5F435DD8-06C3-B158-FFA9-6DD7E03290A9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37" name="btfpColumnGapBlocker620030">
              <a:extLst>
                <a:ext uri="{FF2B5EF4-FFF2-40B4-BE49-F238E27FC236}">
                  <a16:creationId xmlns:a16="http://schemas.microsoft.com/office/drawing/2014/main" id="{6D78C2AC-02D9-79CE-E306-860CCE6E882A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35" name="btfpColumnGapBlocker376906">
              <a:extLst>
                <a:ext uri="{FF2B5EF4-FFF2-40B4-BE49-F238E27FC236}">
                  <a16:creationId xmlns:a16="http://schemas.microsoft.com/office/drawing/2014/main" id="{9223B6CB-3E15-35E3-B724-50E4DEA0FD6B}"/>
                </a:ext>
              </a:extLst>
            </p:cNvPr>
            <p:cNvSpPr/>
            <p:nvPr/>
          </p:nvSpPr>
          <p:spPr bwMode="gray">
            <a:xfrm>
              <a:off x="7837752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33" name="btfpColumnIndicator988538">
              <a:extLst>
                <a:ext uri="{FF2B5EF4-FFF2-40B4-BE49-F238E27FC236}">
                  <a16:creationId xmlns:a16="http://schemas.microsoft.com/office/drawing/2014/main" id="{549883D2-FC73-C601-286A-0C08DAB20758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btfpColumnIndicator728567">
              <a:extLst>
                <a:ext uri="{FF2B5EF4-FFF2-40B4-BE49-F238E27FC236}">
                  <a16:creationId xmlns:a16="http://schemas.microsoft.com/office/drawing/2014/main" id="{35444CCA-8C8B-069B-C762-26C8EB54123E}"/>
                </a:ext>
              </a:extLst>
            </p:cNvPr>
            <p:cNvCxnSpPr/>
            <p:nvPr/>
          </p:nvCxnSpPr>
          <p:spPr bwMode="gray">
            <a:xfrm flipV="1">
              <a:off x="837829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btfpColumnGapBlocker827738">
              <a:extLst>
                <a:ext uri="{FF2B5EF4-FFF2-40B4-BE49-F238E27FC236}">
                  <a16:creationId xmlns:a16="http://schemas.microsoft.com/office/drawing/2014/main" id="{530F00C3-AF0A-7780-7F38-1718E05613B8}"/>
                </a:ext>
              </a:extLst>
            </p:cNvPr>
            <p:cNvSpPr/>
            <p:nvPr/>
          </p:nvSpPr>
          <p:spPr bwMode="gray">
            <a:xfrm>
              <a:off x="381370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27" name="btfpColumnIndicator774807">
              <a:extLst>
                <a:ext uri="{FF2B5EF4-FFF2-40B4-BE49-F238E27FC236}">
                  <a16:creationId xmlns:a16="http://schemas.microsoft.com/office/drawing/2014/main" id="{24C1C062-6FC0-6ACE-52C3-8C9B76949B3E}"/>
                </a:ext>
              </a:extLst>
            </p:cNvPr>
            <p:cNvCxnSpPr/>
            <p:nvPr/>
          </p:nvCxnSpPr>
          <p:spPr bwMode="gray">
            <a:xfrm flipV="1">
              <a:off x="783775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btfpColumnIndicator173556">
              <a:extLst>
                <a:ext uri="{FF2B5EF4-FFF2-40B4-BE49-F238E27FC236}">
                  <a16:creationId xmlns:a16="http://schemas.microsoft.com/office/drawing/2014/main" id="{3C6AA572-E9EA-FE1E-FB1B-4E74A94DA600}"/>
                </a:ext>
              </a:extLst>
            </p:cNvPr>
            <p:cNvCxnSpPr/>
            <p:nvPr/>
          </p:nvCxnSpPr>
          <p:spPr bwMode="gray">
            <a:xfrm flipV="1">
              <a:off x="435424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btfpColumnGapBlocker448005">
              <a:extLst>
                <a:ext uri="{FF2B5EF4-FFF2-40B4-BE49-F238E27FC236}">
                  <a16:creationId xmlns:a16="http://schemas.microsoft.com/office/drawing/2014/main" id="{A7A2107A-F80A-852C-E9E0-2C1B2C1366DA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21" name="btfpColumnIndicator876739">
              <a:extLst>
                <a:ext uri="{FF2B5EF4-FFF2-40B4-BE49-F238E27FC236}">
                  <a16:creationId xmlns:a16="http://schemas.microsoft.com/office/drawing/2014/main" id="{7B540832-C7FD-5D6D-D63C-4FBFD8C47F84}"/>
                </a:ext>
              </a:extLst>
            </p:cNvPr>
            <p:cNvCxnSpPr/>
            <p:nvPr/>
          </p:nvCxnSpPr>
          <p:spPr bwMode="gray">
            <a:xfrm flipV="1">
              <a:off x="381370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btfpColumnIndicator114091">
              <a:extLst>
                <a:ext uri="{FF2B5EF4-FFF2-40B4-BE49-F238E27FC236}">
                  <a16:creationId xmlns:a16="http://schemas.microsoft.com/office/drawing/2014/main" id="{AB37EFAC-3797-8B00-FFA4-A65D8692270B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8" name="btfpColumnIndicatorGroup1">
            <a:extLst>
              <a:ext uri="{FF2B5EF4-FFF2-40B4-BE49-F238E27FC236}">
                <a16:creationId xmlns:a16="http://schemas.microsoft.com/office/drawing/2014/main" id="{27D01F9E-456B-00B6-469D-EC24864EDD07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36" name="btfpColumnGapBlocker693148">
              <a:extLst>
                <a:ext uri="{FF2B5EF4-FFF2-40B4-BE49-F238E27FC236}">
                  <a16:creationId xmlns:a16="http://schemas.microsoft.com/office/drawing/2014/main" id="{4AA68692-5BB6-1740-B9BA-F25B9091E30C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34" name="btfpColumnGapBlocker952462">
              <a:extLst>
                <a:ext uri="{FF2B5EF4-FFF2-40B4-BE49-F238E27FC236}">
                  <a16:creationId xmlns:a16="http://schemas.microsoft.com/office/drawing/2014/main" id="{E027B5D2-9A83-C81F-DA21-F4D24F52F06C}"/>
                </a:ext>
              </a:extLst>
            </p:cNvPr>
            <p:cNvSpPr/>
            <p:nvPr/>
          </p:nvSpPr>
          <p:spPr bwMode="gray">
            <a:xfrm>
              <a:off x="7837752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32" name="btfpColumnIndicator360914">
              <a:extLst>
                <a:ext uri="{FF2B5EF4-FFF2-40B4-BE49-F238E27FC236}">
                  <a16:creationId xmlns:a16="http://schemas.microsoft.com/office/drawing/2014/main" id="{9CE3344E-ABA5-73CD-0CAC-0C56D8F1E26F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btfpColumnIndicator914634">
              <a:extLst>
                <a:ext uri="{FF2B5EF4-FFF2-40B4-BE49-F238E27FC236}">
                  <a16:creationId xmlns:a16="http://schemas.microsoft.com/office/drawing/2014/main" id="{777ED720-86FA-DD76-6501-65C14A171B55}"/>
                </a:ext>
              </a:extLst>
            </p:cNvPr>
            <p:cNvCxnSpPr/>
            <p:nvPr/>
          </p:nvCxnSpPr>
          <p:spPr bwMode="gray">
            <a:xfrm flipV="1">
              <a:off x="837829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btfpColumnGapBlocker183353">
              <a:extLst>
                <a:ext uri="{FF2B5EF4-FFF2-40B4-BE49-F238E27FC236}">
                  <a16:creationId xmlns:a16="http://schemas.microsoft.com/office/drawing/2014/main" id="{A628B8A1-2DA9-9B3E-C805-3BD43F95C7D2}"/>
                </a:ext>
              </a:extLst>
            </p:cNvPr>
            <p:cNvSpPr/>
            <p:nvPr/>
          </p:nvSpPr>
          <p:spPr bwMode="gray">
            <a:xfrm>
              <a:off x="381370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26" name="btfpColumnIndicator988323">
              <a:extLst>
                <a:ext uri="{FF2B5EF4-FFF2-40B4-BE49-F238E27FC236}">
                  <a16:creationId xmlns:a16="http://schemas.microsoft.com/office/drawing/2014/main" id="{C9F1F2AE-0FD2-8B53-0F44-0AB7113EF283}"/>
                </a:ext>
              </a:extLst>
            </p:cNvPr>
            <p:cNvCxnSpPr/>
            <p:nvPr/>
          </p:nvCxnSpPr>
          <p:spPr bwMode="gray">
            <a:xfrm flipV="1">
              <a:off x="783775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btfpColumnIndicator961727">
              <a:extLst>
                <a:ext uri="{FF2B5EF4-FFF2-40B4-BE49-F238E27FC236}">
                  <a16:creationId xmlns:a16="http://schemas.microsoft.com/office/drawing/2014/main" id="{52AFE1C7-AEDF-665B-5761-58C1130A35AA}"/>
                </a:ext>
              </a:extLst>
            </p:cNvPr>
            <p:cNvCxnSpPr/>
            <p:nvPr/>
          </p:nvCxnSpPr>
          <p:spPr bwMode="gray">
            <a:xfrm flipV="1">
              <a:off x="435424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btfpColumnGapBlocker786299">
              <a:extLst>
                <a:ext uri="{FF2B5EF4-FFF2-40B4-BE49-F238E27FC236}">
                  <a16:creationId xmlns:a16="http://schemas.microsoft.com/office/drawing/2014/main" id="{4E36ED79-438C-D396-07E2-1412B493CBD6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20" name="btfpColumnIndicator381528">
              <a:extLst>
                <a:ext uri="{FF2B5EF4-FFF2-40B4-BE49-F238E27FC236}">
                  <a16:creationId xmlns:a16="http://schemas.microsoft.com/office/drawing/2014/main" id="{E6AB317E-CC08-873E-C91A-5C89A3A3EDC4}"/>
                </a:ext>
              </a:extLst>
            </p:cNvPr>
            <p:cNvCxnSpPr/>
            <p:nvPr/>
          </p:nvCxnSpPr>
          <p:spPr bwMode="gray">
            <a:xfrm flipV="1">
              <a:off x="381370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btfpColumnIndicator124423">
              <a:extLst>
                <a:ext uri="{FF2B5EF4-FFF2-40B4-BE49-F238E27FC236}">
                  <a16:creationId xmlns:a16="http://schemas.microsoft.com/office/drawing/2014/main" id="{ABB5A389-2C21-B3FC-D482-EC4D6045A65A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FE1A81A-7912-4C00-73E3-B38AEEAD8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Outside-in estimate suggests ~4-5pp EBIT improvement </a:t>
            </a:r>
            <a:r>
              <a:rPr lang="en-US"/>
              <a:t>potential through cost optimization, an equivalent of ~USD 15-20M in annual savings</a:t>
            </a:r>
          </a:p>
        </p:txBody>
      </p:sp>
      <p:grpSp>
        <p:nvGrpSpPr>
          <p:cNvPr id="14" name="btfpColumnHeaderBox493798">
            <a:extLst>
              <a:ext uri="{FF2B5EF4-FFF2-40B4-BE49-F238E27FC236}">
                <a16:creationId xmlns:a16="http://schemas.microsoft.com/office/drawing/2014/main" id="{DF6E88F3-F640-F356-C112-623A914C12D8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30199" y="1360860"/>
            <a:ext cx="7502789" cy="315913"/>
            <a:chOff x="330200" y="1258368"/>
            <a:chExt cx="11531600" cy="1315384"/>
          </a:xfrm>
        </p:grpSpPr>
        <p:sp>
          <p:nvSpPr>
            <p:cNvPr id="15" name="btfpColumnHeaderBoxText493798">
              <a:extLst>
                <a:ext uri="{FF2B5EF4-FFF2-40B4-BE49-F238E27FC236}">
                  <a16:creationId xmlns:a16="http://schemas.microsoft.com/office/drawing/2014/main" id="{8CF3F3F9-BD48-933B-578A-36C8FAAF0643}"/>
                </a:ext>
              </a:extLst>
            </p:cNvPr>
            <p:cNvSpPr txBox="1"/>
            <p:nvPr/>
          </p:nvSpPr>
          <p:spPr bwMode="gray">
            <a:xfrm>
              <a:off x="330200" y="1258368"/>
              <a:ext cx="11531600" cy="1315384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t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b="1">
                  <a:solidFill>
                    <a:srgbClr val="000000"/>
                  </a:solidFill>
                </a:rPr>
                <a:t>High-level KHI </a:t>
              </a:r>
              <a:r>
                <a:rPr lang="en-US" sz="1600" b="1">
                  <a:solidFill>
                    <a:srgbClr val="000000"/>
                  </a:solidFill>
                </a:rPr>
                <a:t>cost breakdown – FY2022</a:t>
              </a:r>
              <a:r>
                <a:rPr lang="en-US" b="1">
                  <a:solidFill>
                    <a:srgbClr val="000000"/>
                  </a:solidFill>
                </a:rPr>
                <a:t>, M USD</a:t>
              </a:r>
              <a:endParaRPr lang="en-US" sz="1600" b="1">
                <a:solidFill>
                  <a:srgbClr val="000000"/>
                </a:solidFill>
              </a:endParaRPr>
            </a:p>
          </p:txBody>
        </p:sp>
        <p:cxnSp>
          <p:nvCxnSpPr>
            <p:cNvPr id="16" name="btfpColumnHeaderBoxLine493798">
              <a:extLst>
                <a:ext uri="{FF2B5EF4-FFF2-40B4-BE49-F238E27FC236}">
                  <a16:creationId xmlns:a16="http://schemas.microsoft.com/office/drawing/2014/main" id="{F207F585-1F9E-D6DD-C655-10E0114224A7}"/>
                </a:ext>
              </a:extLst>
            </p:cNvPr>
            <p:cNvCxnSpPr/>
            <p:nvPr/>
          </p:nvCxnSpPr>
          <p:spPr bwMode="gray">
            <a:xfrm>
              <a:off x="330200" y="2573752"/>
              <a:ext cx="11531600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btfpStatusSticker615167">
            <a:extLst>
              <a:ext uri="{FF2B5EF4-FFF2-40B4-BE49-F238E27FC236}">
                <a16:creationId xmlns:a16="http://schemas.microsoft.com/office/drawing/2014/main" id="{F9EC2498-5D73-B437-4B88-7C908DA14426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0049556" y="1031544"/>
            <a:ext cx="1761444" cy="235611"/>
            <a:chOff x="-2440412" y="876300"/>
            <a:chExt cx="1761444" cy="235611"/>
          </a:xfrm>
        </p:grpSpPr>
        <p:sp>
          <p:nvSpPr>
            <p:cNvPr id="21" name="btfpStatusStickerText615167">
              <a:extLst>
                <a:ext uri="{FF2B5EF4-FFF2-40B4-BE49-F238E27FC236}">
                  <a16:creationId xmlns:a16="http://schemas.microsoft.com/office/drawing/2014/main" id="{1B41CB67-72E5-2196-FAA0-1A8DCFEF30C8}"/>
                </a:ext>
              </a:extLst>
            </p:cNvPr>
            <p:cNvSpPr txBox="1"/>
            <p:nvPr/>
          </p:nvSpPr>
          <p:spPr bwMode="gray">
            <a:xfrm>
              <a:off x="-2440412" y="876300"/>
              <a:ext cx="1761444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preliminary</a:t>
              </a:r>
            </a:p>
          </p:txBody>
        </p:sp>
        <p:cxnSp>
          <p:nvCxnSpPr>
            <p:cNvPr id="22" name="btfpStatusStickerLine615167">
              <a:extLst>
                <a:ext uri="{FF2B5EF4-FFF2-40B4-BE49-F238E27FC236}">
                  <a16:creationId xmlns:a16="http://schemas.microsoft.com/office/drawing/2014/main" id="{439C29B9-CC26-58AE-9F20-6DA7116C58D1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2440412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btfpStatusSticker829502">
            <a:extLst>
              <a:ext uri="{FF2B5EF4-FFF2-40B4-BE49-F238E27FC236}">
                <a16:creationId xmlns:a16="http://schemas.microsoft.com/office/drawing/2014/main" id="{6F05D72E-1808-9E51-8E65-E3ED02C86BC9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8383030" y="1031544"/>
            <a:ext cx="1539525" cy="235611"/>
            <a:chOff x="-3558668" y="876300"/>
            <a:chExt cx="1539525" cy="235611"/>
          </a:xfrm>
        </p:grpSpPr>
        <p:sp>
          <p:nvSpPr>
            <p:cNvPr id="24" name="btfpStatusStickerText829502">
              <a:extLst>
                <a:ext uri="{FF2B5EF4-FFF2-40B4-BE49-F238E27FC236}">
                  <a16:creationId xmlns:a16="http://schemas.microsoft.com/office/drawing/2014/main" id="{8992B9DB-2AB8-B735-554F-44BFA550FE7C}"/>
                </a:ext>
              </a:extLst>
            </p:cNvPr>
            <p:cNvSpPr txBox="1"/>
            <p:nvPr/>
          </p:nvSpPr>
          <p:spPr bwMode="gray">
            <a:xfrm>
              <a:off x="-3558668" y="876300"/>
              <a:ext cx="1539525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Outside-in</a:t>
              </a:r>
            </a:p>
          </p:txBody>
        </p:sp>
        <p:cxnSp>
          <p:nvCxnSpPr>
            <p:cNvPr id="25" name="btfpStatusStickerLine829502">
              <a:extLst>
                <a:ext uri="{FF2B5EF4-FFF2-40B4-BE49-F238E27FC236}">
                  <a16:creationId xmlns:a16="http://schemas.microsoft.com/office/drawing/2014/main" id="{F06067CD-0C9E-95AF-C28E-3285FC967F95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3558667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btfpColumnHeaderBox557931">
            <a:extLst>
              <a:ext uri="{FF2B5EF4-FFF2-40B4-BE49-F238E27FC236}">
                <a16:creationId xmlns:a16="http://schemas.microsoft.com/office/drawing/2014/main" id="{86F9F4F9-4CEC-F81E-D576-882823C445BC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8378297" y="1355726"/>
            <a:ext cx="3483504" cy="315913"/>
            <a:chOff x="9987915" y="1270001"/>
            <a:chExt cx="1873885" cy="251087"/>
          </a:xfrm>
        </p:grpSpPr>
        <p:sp>
          <p:nvSpPr>
            <p:cNvPr id="100" name="btfpColumnHeaderBoxText557931">
              <a:extLst>
                <a:ext uri="{FF2B5EF4-FFF2-40B4-BE49-F238E27FC236}">
                  <a16:creationId xmlns:a16="http://schemas.microsoft.com/office/drawing/2014/main" id="{3C74D8D4-ED31-0853-4610-F29A722D8BFD}"/>
                </a:ext>
              </a:extLst>
            </p:cNvPr>
            <p:cNvSpPr txBox="1"/>
            <p:nvPr/>
          </p:nvSpPr>
          <p:spPr bwMode="gray">
            <a:xfrm>
              <a:off x="9987915" y="1270001"/>
              <a:ext cx="1873885" cy="251087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>
                  <a:solidFill>
                    <a:srgbClr val="000000"/>
                  </a:solidFill>
                </a:rPr>
                <a:t>Key areas for improvement</a:t>
              </a:r>
            </a:p>
          </p:txBody>
        </p:sp>
        <p:cxnSp>
          <p:nvCxnSpPr>
            <p:cNvPr id="101" name="btfpColumnHeaderBoxLine557931">
              <a:extLst>
                <a:ext uri="{FF2B5EF4-FFF2-40B4-BE49-F238E27FC236}">
                  <a16:creationId xmlns:a16="http://schemas.microsoft.com/office/drawing/2014/main" id="{CCCED32D-2B63-E9CA-A001-7A944D4B17EB}"/>
                </a:ext>
              </a:extLst>
            </p:cNvPr>
            <p:cNvCxnSpPr/>
            <p:nvPr/>
          </p:nvCxnSpPr>
          <p:spPr bwMode="gray">
            <a:xfrm>
              <a:off x="9987915" y="1521088"/>
              <a:ext cx="1873885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 descr="Enter Chart Description Here:&#10;&#10;End of Chart Description&#10;DO NOT ALTER TEXT BELOW THIS POINT! IF YOU DO YOUR CHART WILL NOT BE EDITABLE!&#10;mkkoexcel__~~~~~~~~~~False~~False~~Falsemkko__4HooU0THZk28POP9trq+pbTvvzd/gcV8t56cq85kb3NDTsUhojRA0EsgEHHMH7oYP1SYpn09ysXVivguJdhTvfyVMsBLTGvcX7WPTor/CmWiWcfk2RmY+GE6Q6T90sFUUcjL8kfAV6PVoSdURXX960ZMmHu3QTpEU2hrD+ylEWkT5tHWtuyifORIUDrDg5v0fVeX/xkuLP3ETFgBF9Ds1IK2oXOy1FkMxVghjv4cPZJuzPtzuIVaOU85t7jWFjZEwo+Hj6/W5uo4buyPL2+Yo25KqUk2/RBghKybZ13HQ8w7yeZ5MBijLSzZfhQXfAX07AdoFiI+v8No48n5YZw/yK4aLq3rG7ydIoioZTTCoGoSZYaTAEbvjwNG8BpL2eaGJahsPfFzr3r5fedmUyikrV0m8dCw7V6DG0wt+yuA0yvQ+LJxJ2/ZJB7UdQQ1ERA9C4c5S8M64sbkSXrvCuMyyY+oAu/FxRPIXMgvGvvx+zmPhpmkcpIG1eSXCxdg4SpXog4hIKy6CFQZZC4SgYCd6y6sWCQnk0n+I28WcpqTUKZvXrXbT8Q59bBCbBs8nVPruI8A6Oesa1EiUbb9Z0Uaj3N+jMars9UA4QJEmG18CLQx25Sf2yAyIiKOV3qEp1dSpXCt1+jUpv9Y0vWCTl4qut+pWeQAncjMD2YPSu5rpZSmhPoMyFBWHWeueVJyjF64r4T8gkTRrUi1STqLq/ysYqNLfHw8RbOCaMltb5fQkWv7+2rWRXSOYLHFz3Eg2EJqkf2NBbbrB1vt5YcMLxG2sYQdK22R9XTpT4kMJVrugNctSzCHl6VE2tvU6LRKXj04SzUM8IAt7uvqAeHDq4++iyAituSf+H/fhCrsnY9mJoutFsxdyoEGTD8U7N4xdCeuR7aaFnwn9rr3koW0IOMTICXDu3sKSLhPcnOmO5Z2yJoOQL5El4Z1jr/5oUG8nA1DqAOyi+kMAlw/idN2z9jT/KVF0VmN21xhTlVsRaXanEFUr4/Wm/bwvd9k/bsZyFCEBbIE1Wssr8bsxfecHDdyGc7nuPqL0MVe4OmnzoyBCtAmpISgTzvNW+B0e0nFlu7NVdAJDzYwRAxPxY4faZneIfVTRomsQJyA49wN10fLEddHCj7TtNB8ZTXyxVjKJG+vVJwX5paxqlWzpjMRpVgXc1AqqHy33DZ4+R8rzhiX0lsIaysEqD8guZ5JejglbhbZ5wcPdheisnuhMlsuAIhD0ABKL0N53XNCLRXdJaifbaVKaU3u5q66OrKr0xr7NsLodTr6f7LZikP4ADsb2rdM0pGuVWFtX0qAix4Cac6IhvxdRqOoEdLt+uHy6jauPvIPAeVAr3+49IQ63Cf0Ji2ZgV2c1Amp6ybdhrgRn8B+y7weCyg4pWU0nUf7VDHUBADZLTxTp3w4rT474JIW5yLcSqs5+mvsoD2FhusIx7e0GN0BKGdRxksRnBVuabCyF0VMySkhKZFtE74loeId384zv4EHysztFIKM5B+tqMHsmYvX1OonaZBUIsjupAfMeeAfHLVR9hPPnJmd5x9Aw7Tif0KKavYxJZhSZWiS0yhsypByGEZOCc2FK7IM3/AEM2liMsNN+zrEJiPoNHOmF8QYUZIuTgCtRlzWvclQYsDojEwZerzKAXC1ecizbV4/rV10yzldvRRY0eo32Zp3chzyLOzmlQ/jXq9LrviqPUrOrQnKdFWjGBD/C9ekfjFNrA2dxWwP1MXVcSFSbpMBlDvxWva4emJIrztHwJGH80oPPZvWTVVLsl+E82/GOaaxJ4vOUGrXnsOXPPDmfBy3zlarGosUPLsU/VTjBLflVsaTiPpzXGWmef13+FGAVkquolQ/iZSVYj8WjEhO5hzOyhLTpX48BIW1mAVbGyIkHBVG4Lq/96G9p/tQcn543JJIs/xqC5rYyxYtgDlvtq6MfaiYsqVeDa7+bW5GGmepn7IHSj3cnICnI++xYostq6pSF1/EOMro2hBW0fYu4cOV7CJhZ79YZ64H0YdkAZqy2WwFadQWLVhMhQW/C67j1+KvUsAkJR2g9DP/1QG0wGFDV9V9vgs364F8CDhOaheV5RVl3E4iy4YeTvORzAuix3z/O+wxCPHWRBAf/28utUw0HwPMmkXmIY+COygKiKloMVRUcEfipFzq525xE+DACoxOggHBWsyUWHZCA1qGTX/HXzrLQ7fp++gLspNEcYvq9NMA/O6JJq6axSyC2pyAqP0I+I5nPJoWJKdcyfLSvHb1IoXIS9HZMX/yo9g/krtPDpRJp7Uw4H1LTLDcZj+o3batoYIWV8E2rd9uEe0ZMJNFcbevwJjWNZXnk7K5600HVbWi+icEkH3k+DzEKdX8C7VnvK6FClaLRGNBDkuGrb40WBD7BxMEuSV09BLZyyYIZIfdTQ4EjEliv3cC5B8ZIhwmhZVzCpW0bwB33wo7kS7lS5HeYwVGm67zN9jFnO/VLrX6cy39niKVOdSbKU+AxdUmMeFLdF2/7riLZ8zPuARWWiyT05nwZ2zP8tQg+HTviHerurozQnI6GoS3REYItVjQvekM78EifbpjitbFZaihRx4VEpAjMU4PvtP+2HZd7lffJAT8NbNAY4H6fmJy3c7NrWa6W/NwR4/QSv4h7WWLpSaq1iMbM3KBYaGKB/zjgyvEa5TfH8TLPgFF4Z+/rhQXYIxu6bnyMznXmSZky+ljORzGruRmYnr0NIlQ/EH9PQEyhiPMptVhDbEmoUqNiOjyV/aHLiMD4nwU4TMcmHxb0Adi7Z+gvysN9i13qk34XewlcNEK01xRYd9yvBPmsL9RLQSN3/lnSQYpIlhvYuzfBGF/CM0aGTlPAgBqNNkmXBBWoII1FR/X9GlUUPTlxq9eqoUaClrIrdM6irGjeZ66KfFqv/I2Cleg+VYTwSmU70xRV0RXfROTz27DCeyi/RZb0dUgL7Bw5jMgSsCxzR2l1LEB81jamKfgEdhYsZh05u/b5/Z8g464yms478PaBV/1oXDdg4cGB6TFWdAMtEtClgH1T5ke1YcyMG/9ik7Qzzqqt88COgY58xWo3Sdkx2+oSyueK7WfgAqZ1ioWNKWPrDUXa4MMBQ2Qlu/dLmf7+XYLbxAZKexTWqSw1BtZBZ4ii22mVYVIWOs4PcWC0+hO+v3ZAxtmIyjWmldKHCEKT4O3Bvp8q7dI7oAq38S9i34TQvhKJFXCPhj5vIHpxdM4nQx5hV7OUh+v8I09HrP3ze2d7VZfDXzVWAllmrjhWg4mGyRNvgX5GHywbxWXoKY6c8vO85K9ufMM2ph2VxhdbuQ2WU/5J96UxpAK/356nWtRx9v5meCUVYln0O/zTNf5d5x+xV1m6FmSkcO4Pe10Jy12r746YNz9hWxphyPJAKIyLVan8o2h4zrx/6uXlFagn8xZ0DBlAPU7EtXhgjrSGIonN9lqrd1Ta8kUt7Bcyys2JNu2ytZGQs8/MrEGmkKVfFRJ8XafAiJ/7TofB1RckLTIZiG/ZY6H2V2yohYirz1xuBwh6P2O06uKLHckyTbQekSsFxGK0V7YEldZeJ7OtdliY2ZU06LeZbjvjJRKzh2byXN6ZegtREmj03TlwhM1iYNeWTH7Jbv8wwMLDdN/w84gUKvLMU6mfNEbtofx4XWWMP52Qfcso9J+VmBn9gCEYsHJf++aKcfMrzzuzcng7Z4ZcBwsudBTwMNNN3JOSuYU6FaenRP5nez9dxsjlGSPAtIc2QF7vbaakx8BF4TzKKmNA7ctK7ZVRE/LgpiQKMJkO3pNriprezbUGwQkEiThi8e04iPK8zeu5Wmfybgf/ANhfMuEN+8PXEVaY5clT45MDnAt9R5zPpQErSMAefyIHY0atusyrzeZryUC/KwD7bXP7rtpXHJDeb9uy6IZN4OHbbhMkmH5CVu38801ItfXqGhWsb5q8tX0wIh1XmH7fYv1yqb54BKery29S0y/ZSXKvlDH61Jgm1Df8jMyL18hw1d8Yp2DjoQ68kzFRs2mO69yKaCs3Azi+WeJH9kelfAz5mX4b+XX+x9c/VQnPkPPXi7f26ByTlLYb66tRoMQHrw3/P4OuyTUyfIun/+DJamge6RJ739VXhBWNF9NSNvKn8xAY64jxEjCbfsuw7QT2LDFs/obBVXVS81tRMuSZolCH3l9AvjA4Wqy9vg0dHSAT7XIMYLGVoBYGiqld4/z9pGJG7muBCuZYCGP18ZbW0BAymy2hHZFA4hkRiyZC2+4rtdGdhHalXip7TejopF4oAOUie4WVnG4eZr1dVXmkDw6lMvGlCSr8dnGlEeFvxiszJ43g9AGhWebWBNBQXwTw5YFsznpQ0MVqdDyNAOzUKV08gNYT4MLxiuaD81AxaR5nNqqN5e2iuQHITqR6+QmR5+66jFN3kFg6GEWynSsVfo57wLMLCy3UMgPCkRxChjLFFs0HXEbGejGk3U9iyJ6H8rm9lIvZerIT7vPKGy9bVjDnMpcCFjdhdk+Lq7gksnt5V0Umv+WXhLTKACdyK/OsJFiXNQ/+zRk3IJWqEl6Jh72jtnDjM3zoDLP2gy5My2Kkhdo73WicVVbwf3lwn7JMEJB9O6JsCODt1H1a1m2KbnV36nwiycFEedNoLa5tsZGLoI1e+FLGgiWSmETwxrZkvKmxTrWvySWNHoEzko3vrZlynSJl8MjpFad5m9owx2lq7cesKcTJm7iQSP7Xyk5R6GQjX4/l5khhUZYWO7IlRR3DbAtO7/O4FISb7ZK6IEbdTDUdykYLJ2Fwv1lYfbR67wkllck3aQUlPLNRMH15Cf+GZNnTfw6ZxHaDqA1OTO+2L5UFDyBDyDUaC0743XMqy6kzBNP66ZWv/L0an3pCzUFkM9QopJAgnHzLK4hZR+rYkzdw/J0zuVq9xx/7BYzRcAr6pPHqhG2nDDPKNcwdeHRSpDB7B2qRS/bjOcC9jk0eFiPWLjkDuqblGmNq7L9bcrw6zcJdVjY8KPm7udJFHkJ8t97XGVOXJ5aj4ZVJZGOaG1+zshLfR63RhFo2hesFgFzph3LRM0d1B/FLC7UguZsSifGrjEgjPE/YQhvuEZMS7VJyusxGy21ud0OYcJ5H+mgGd554vw5DCpg9yybvok2EgvKSEvvJ5nXFkcZn3QUAMbwUa1ddokyqDvihWM0jUJXAYT/zaz57kHGgpcov8FrC81MhkcIBjoUqBX+jNXtOwJvRDUOoMJhpG+XwbXFAmhIckZ4QOmCqPf//N31xOMGETPD3Gs+A5n3Xy/uMYSKbjJ57uxzGd6Ggmj9p4eHTI1s6EQHkZoCjJe/2JeReDcCEwrxFgdkc7KGRWUZA3eRVgwxjGxAi2pSxAp30HSYImwGvwubqTMV9EoGqbL1SX/iSj3qcHZznFDIBXsnytJmzXTvymlsw5AUm5dWUhX4bpfbKKtcas3KuNfCBFtWNVwTCr93Y4EjompgH+ZAXXIYsiTGBk3wGcGsTwDkeVLE9vYdwfqaQXZDjtz3/UsRu/nSuYMH77UEw8pMB1Q3E6cpoGWwNeVZ4i3fPE4hCH8/WXfbIgJb7T0qGxOvVvy/ImYkUAa8skZRGAqdTOc1BVz9mBHlLi7z9YGMKWFToxBBXaWfLOdmE63s0pcv393RAzhXUNEGofWFLCzlX5LGO0XuDOW8FVxhSadUXb4wp3hA8VKuyjfyphhK32oolGb+yQebUsgFW4tiuoqiDKPHyOnYsToJXsMXUxraf5VO+UajPeKxXn1JVhdmCBWT2UU4BVL6nH8JPjpLJakLr2GCH815GSgejbJ8CGKVXHz4ZQMfqH2VyfW5fwzo7zyoxrWDygxxKDY9+IjW1MjspeVjwdgmrLk++YJoZxoWBwQjUUUy7kiNPCPhlD3/GPjjdZ4DxHvDElDhU3SR9sWCcui940IOXSseyp8QFzzxQXxXSzTewcBglIR2ooNOQFH6qCNjo+DY4fiwBAVa9kA1zFXl1ErEbZeVxKkqXxABSARkuiCSlXEHZkHwObtyiVMRSWJ+TGFkkDNSRa/OqU5ld+55Xf/KYKHLcEW5Ln+CA5TX7XX9TxrZ+f6h0Si0XKH2BMP4ZIy9yyNpQ/dZQXTOSg7eAV7lqmI2E3d59/RORFsOUe9KUwJ5nzd+pOni8xM9qGboL7UwtJ0EJ7V1hJxiSLzvMbtanGLP9WjgqhSN7txOS/fYLg4NTbNSQS3vmT3fOUeHIGhyucy2bThevgu0tRjRcmM1+dWIkXeM+bsIkzFHTjFP7Gc25kBl9yNgJxp1sEEGPX10nqZhc/mqx5Sw3eszGxJThSAPDD/drmjQGTE31shgZNv1Covub8mDMYm4TfV9/jwyju6XiAAMOlRPMv471heAf5v4z60TkFr6o/S+GGJyJJRNHIUsGU5IZTJiHQVreJMmm3x/ccuFQdiyet2m8OSIdg38l8U/3YdJoRVhw5zKqTJFcVdfU1bHbHa4ZdYMTJVgAdigY6OQZ6Tr6ZsLSD677FJP4DhjIfXMc2n8Uv2BJsqFHJW3H+/68veppwwtsCkU34fKvkl4QtIsUErPcVcfvNYXvi4I3uzR+G9boaTLz7NyYPSqCT+igwwHAfmy7H77Qx/QXHSMkeBM/ya+QLsO/8eB8tRE64h6ReLZzzW7KqFSdb0XXi0Ir2F+gq/gMrlb7vmbQRlBs0k61ph9QdJKajZ6viOmUtAuaRgN5sDN8yhsCQs7VtqsOh3Slwfat/7eF0Cd7hlae0DtBKTorwbd1LQOIP52Vx/Vq9A+CpwGPD4S4Gj3YIJCpXdyHKL1ROjxIZalchjf2zSBEppzuMf0UaF4k95FNODmE66tR5aRB2vTAlS9DgNl7gZ6Nli72Rq5cJCvZnVQtKZoHjSaZin56a64ofzlIJH4eb5hixSyrOS67fwsyZzz18Fq0a7J9yEvw/KzMH8zrTT+f7rEuCvjp4GKyuoxKAUEpdzd3QhxCxtUrvG2GSWL6jknbVdqMz9TZ74E+f4CchfBB+Y1mTQgQOijvgXRk5MAeJ/cZc4hfrQqjElPx9FSmo8QZl+ZVL2zpbwUMBOKMkixgOHj1BuyZqD2KNApvVrASBbxFxQWXy+lHeyZvxhAl9qk5EQLECv6uJo+p4ijeIE+qiW9qugUlxfUeRQHD1UTbI0yPS7DjS5E7QNhjO3VdPDHCIH/YEuIwNTo26psR7/PzS0jmwdd3vqr7L6G9uhVbgHqIpCegwXwGMq0Ulbcibob0vwz2sMafe7YjFQQAXgFK5OsZOItWJO08Y3WCGQekKTUIB+ozKL7xVebSJBwhrqi1ccpXooXsHhwB0p6SEQY8Trrkj+FwASnYDR6An5BjRs18kNTP02Vtzne6DQ1NnYQQgO2A7AI4Dz73NS+LylO0hoeQBSqxAyBIhg6IM9lBsn56QRdCHCegOM7UiYc5OKgHI6Nf4Nr8u3y2WzJvmqIg0ZceHPBbD/Z5JpIAlYad8eETWWTqBOZBgGVABUvnsGg7P4BstgBE6RQeVQsTNPEZe6zBYLBTvqjvyN+KbMC57aRYgkE18RDkXeANmwcpUMcbYUzfyQKAndJVTazLM8okr/KuKPYjU54siWxvBbroJe5d0R9I2hTR4CKvrqjMQI41hYcfPXKbZTtU0DrnuXCn7DukURBVZuC+tYGJuN3nFAD67eFnc/SOGxN8JJfm6ef+R1FFqMafHj2JvxJwdVRskzaHjOjLrfXZpQqLddV9rxcak7KanHB/ifqdB3rBVWLWlZJGlca7OqvpweN7pCizbQhjoPgrFgQb0tV+Yo4G8alzCW926wlY+4hjf14fwKV5djL6Wd0xywCT+nvImsBUP+TtEhq9oVR38LZUd3Ie3R76rdfgq1C59YyRgisuZhaVy6LJyRWvIJa0obQEpFlrA2oVoBf/pqqxwE6twvX3pkqSJREWOxvj2lJfJD1+PLDObJQARLvT4TJphcdQ4sMkVKZHpNBPOnQ4RHsDI7YXOAsYNViCljfzanPCtwpkshyF1jafy9DD0v6p2n/ZFurnkzEyCNEFmSqxmPPalfQP76Lpjj7G4YffG9qHB4VFT5RauGksq5gnQWDDI9ai9+/Bh/ZR64+FEHj9zT0cMvIf+xvzKLqSgQR3SXM9cMcP55IaZuHrDvUKRzMMTRNt3ohK4UD1tt3FquX/DgcX1XNWzkSwliM451JIcdX8O2QR9+NIXH48173b3ttQBOd84WTVBAo/IDbAxexlhMoEcpHuaib+miQ4yLrrXMgVwAJXwbWrNMk4q/NhOg0AHeOPbIscqNZPTTQCSvISXyaEadyX6CakGd0uGr44jbBaF4bmJ+wKU3ynvalUWA/GfWw6uCXKcFcek91GG6xywXiMjTc8o64XvDsDGCSD34LDXojBf67powo3li/V+GWUKHs1xMgZUVov9HvU/+byivkYdbhIM2sX+hZE24DQwkFPcDT4qRuUc92VP9EzHRkCAwC1hPZ59pterwxW13tHm9Vp3GqL3EtvV8+Wj9AfXpVUtdWJxoUgip/BPE1pB6nHqyMyuVkN/30u7VAYXkBNzswp2pddYPFlMTk/TjBX4dEKdSFBvGdlJ0seExxUZgCgK+0UP3JZ8z/LV7GlH9W/lnLrB3ymuYvrFaLP88vB3wwuVGc8NroGkEM2Kw/4KZHGemk6EnduBFphcyEYbr4cpXhqfyqgqDA1wmVK8K7w2rOFooSSofAd8DBk2P3fDKBuRb91d04YoZV7lPShOtIiD+XIndl9ACrCnCdq1kLPKyI5VZWvBIrylefvksJG/pGhr1odJbz43u6clIzVJi0eQJb21Xz03BBw1e2LyECqbSwBxxSQBwpMTOBmS0+SlbDkFr2EVANpUoYc1KvQy43qtSTNjdZG0l+ng1nP5EWw0Mue987/IxT4LnhnfbkUxeC2QzHWZ1WtXI/U1FyhoAYTzO9dgpFqAurNu2tIfMwVUneWoyYG+Tmb55R6ZILofhCeyFFy9KJXdG3A/GEwl8nSSmrDx54+IhGz/e+WPqmwWS/Kcy8VjJtNGaWEctF460/Ekn406QoSvPb5Ey63N3ZEh5tKrBHqLGWt9Nk4spsD0kj/EAzDdzpSDatXTMPhQpnbfXX7FmzhhxMspi82c0rsOP4JkEKq7DEVX/m+DeXMMUHRENdp1N0ZmG+QUjjnprk02+zjP/M86uF8KWiVfHVWkFcYJ7qMvVfs088ZJhHstIcqDNEHHnOzkzDO/TXWYnrY5Z3Q2u+aK71kRZ2z+ZHQpJCHVM3ZXw48H9FxxZZuULBmxk9cSkq2uW4P/FTMq2hUPeH9LT/TY4sjDhQNateazj/J+wkDilfLJxt/tjkuJdYYvNsAlOcERtzNcGz72dOix2Y09PH0OsrFOUBo2AlnsvvqB/JxWC1+rFnV3Ai3d67N6U+khwSioDIX5fKMf+n8Aw8IFOLDSMo5mouBWqXV9a3SIM03wQu7g4/KMhW1zfPDNJV4VWZTwZoeAINQLCCak2HIZRW4Q1Cz+RKzU/H9WgO9WwhG0qcNMCsA3+9lVbmQH2y1hoEYXHiLr52Y4El4kIaypu3U5kFSlu8HOeoNAcsBbhVFLkV7bz30SyF5shlQc3BV8AcwKUmK0e7Xv1kYL5HFbH0UdmbH/c+PywK9Pf9/O1kWrZJFq5LQI8LbSp8JQ1NOGFlCFjdKflofpQ4cUp4i+G/A6ue6EPnocCA7dv7ZQXnEyU0ilgkLCO33mQuVT5Ll0rRJ2FagqEyBarVeiTS7Epfw4WdKerI6jsk0XFU46No62gxc6isivuqZjkj50A9PISK2mgp6ir1wpffvrdyTkkTPDZuvyuezshNOEe+C2YW0Plkm2QfRZOCVvzRYrNwd6cuVBgR7p26MeO1+jg27Hxactm+h1pkGW6OdG5/w9cggaVF4qFuVYK7IeRtVisEZ537hYQ/kB6MaGloUdx5ucvg0hIy7sOyvNUwR9bd5vz6iwfuuEXsf6H+6ynot/ChOoo9uIXOphCn8TI6YlcvL2V7VB2q2YPaS+negm03OCLjmk3YmwLgP9jJpBaS2tdLvUcMBM898y06Mt1KjO2FwoSb+EcZ9gQXEGcawhxI7TnZLHd+Xn91opuMPfJtBRMOJI7vgpbKHWChsNjouG6aoH9qlFHCGVBRY/qmbcCI3K5BR7qDuUIJRR2+Gvun3QW2RLP+7U6IQXXktqBFck3Ts1fYiskc0vTX79GL20SHwcbr5AYfESLb/yxXM83hMCNG6+dreaGf2eSNxYWqsZVFRcHYhac0aJLbcaol2NXrmMLP5MUJt537EkuGyYzWmO7Jozk8bzZgZmoQy8+VOrKznKvVjoOQIPoS9niMgD12Lchy2OX+/EyeOYjAfFQS6Hlg+uPMznVaXjBjeBm5brXavSwgoUCIpIt36en4EhMArEaOJMQjDO/REvlrRJNLYhrrUoI1bfo32IR9t18TV+OP42Gx5n3LUbdhAkie8gnAC2JfDc/NpClUmM5oAhCHCDmdQEQ2RR/1pJh+OQTTNGBGSFP6iO2Y7AthgNwGRpZingipLOYCqzRCgA3vGDlWXmqJ93at5sllWw4F4FWE6VFB8w0uLQF4HMbHiv+mvffNdGNGxQYZZapOtQ4i4b+Y97RfClQCFfE5ArY8vqEZR7r2GxyfcZ4PrvVd5JELUX3OR2MKh5R3QtKxoI6kmyUhQmHaaL1XM9DFTpSgxpijJii1ykraV5JiHRxuqsh4aUIQv61x74VjsxkVClqyKg8FECo6gsMX/Ft488tjJNVTMaU5bMvszo26YCtbuyO0Y+7CowgoOxh8zJPiv3jsF6l7DFSIsCL6L7oXw0aLiKqCpYEp1+Pdim9CinjsYCXGWEzoVsD14z6Z6kFH9wtMMHKUbeReDuj3F56SLt5k3zIh4pC9sawCG5Qhe7aeqGi8FPD8iNf/cnxQM7eLu9auj5S4jh5dJlAyxaQzWeFQXvn09RTAG/6nWwdUUPXFBAjZcKTfCFHRFSqISI7ceFsWCfL3LQoLNOsthsDPvp0zVwDNQziI5iHksW5QrHYvDeheUQ8G2mEB0f02+GgZxHtstiWk0c12iVhy+My+ElY4CDRcqZ7GOhR7KT9C7roUbuG+YCfQnINrkM3KCuK5wxL26cE2lAMMzYng3aYUw2TqtkKwE6L275bU7JFaxTSei0LRjVtXe21XATWk8dBaW600oxhEe7NKFbynSXs7JBDrJ0Qs+76bvBDHdLLThTY9gI7Gt9FWxJE+alLuqxoZ8xWeXA6KF14JMmWQYgmON+4JrfSK2JNF9ExoYYb7CbWH7IC56qFctVsy9Iup/l2fz18lWGRaECwZeTrD4vPcA0SN3BCNW1akC5W+aJ4dZxn1pQ9Zk1zGCIuUiFWNVEEbYhbLCBLO/OjLS8t7QYb1Wb3beT69bfp9eu8ySekXnXOrogyiYFot5UwIVUPM69xt3FGdLPDlnBC9PbfCmSjuKPPUoZotqhe7YxNzuoVao6WIypTQoZ4EW1dDWDXMJyy90jDQmYgsSZEYeumWJuyhXMsQeCklweVuXVocTF0JHDoWp+gzQzbVhHoQBorNim01xZ9yrmYlT8zbtw1AT9PCmTwZvQRSVPaOTWfEtRSoM2nvMW19yjWlXiloOYFfiZ4PptXJWxHYVMPfVeaUkkgxWB8E1W8/WosA1Mbja6YtVul5/EojPzbxuJ27jxhqESY1ZReUet1oKENpThdd5mkrZBrEyllPWR/HsQ3U6LAppD+1RzFCSG6kHzm627wY1G7Zc9TZQRWQZmgT2cN8i9JxCF98T8kboOrYbjsjgEwqK9ElxcSrXZzrHC4eg9Qzmt49Bsb6iRlXs3ASy7MjhYlLwzMMVzpbvk0GM3wOp2nGyWh3ebL4uyxpua4e0Eu3L+AwqQ4CEdNjjNXxqRIpa7Zi/J1ZMsVT20gF13YS/VTv57UOD178akmZmJIaauawZj3Cm1r7nE79p9OrmhipYrYIOoazJYap+kFTrddP9qwJvRm8P5UOi8zB8hu+JUtsG4lX6MjfX/3j/aIsju0ETk2rkWiEGv5O5sixXGxsa7WsPlgbR+E2yYRjmm27YGFGAgeW/H930Ch+/T86RurVY/opAxgdVR2ZZQPdAvTyYAYPOpyvskZGKCzs97/7kckED6fqqfXz4ZkiTJzDrLfQLlQ2nRbKGclIJCOJd3heTo/0T+hdmzuUfbVd1CYdCDPwF6eLIGHQOQ9OD82GToVmGvJ7NWmQ9Oas+b9gkHlT+LtnOmd9MXZpMl+4KUmlyxyH0nvjJPDBgEYoJNhRuawIo/lXKUFCqjydBvBgtT6YZpp4QxZwdeCMmDXG0z5pAWTKV3IaAOyQOy3/1jQVYtL8A17pTp1x0qSRdqwfL/uS6yewW7cMqFA6MjnWWe56Oh+9ZKHsZuKm1bUbLeu70VixC7xJGidlubF3MwMIOgPQz2hZDa7Ygc3FyLCDqnXoR3Mp8/9z7sToSnZzcfyqF/S+lXA9DloHZd3RaKoScPCui8HkNbsPgcZgZ7Eg60AQiNefA1SVsdXrB4wBbnvSPjed8fwafFRMRxQyIM/MzkmjeRsssdWJp/22QLDXItE/gTMge9KwrSaKHQ80ZyC6CwT9iN++FrzOTy2nnATR22b7Ter1CjaAggrQuwSjJEoP2/SKEZEROtULQUuJKLfEcu338VIAYnF3B7HL59FqmBJOLoz/UozpbsuYSasqoQoYHpiKf+IqJCgDxfPhGYBKOm0KVMamCPo3Td6TFXzMXONNFssN74Tvyaa1bW87eniayPGBQYM74SPNW0TH8s40Ff0Jks3RjI7LFBay+QUghZjG2aSt3AX7LiOK+ZVjUoDx1vjLlo/RX/fV+iJqgMH4CekZS+sMO3DcII4Pub4PaW7Cldh60Qh6hg509uHYH6cAEj5EUrKRJxprR/eknFYK/ioV6UQHvIUq0Py9nz3oJNcchnnTKDCuUpXjUmyP0mTf8bm4IKXMe4eput1WqZENhU4Ou3bxw7QkQRNMYd/aOFDiSIUarXTa2+N78C61p4Guuwsig1nLNZgYj60dYmAj1zLa954+gAvt+jbtmNrq2BnVkis/Ve7Kzmu7c/RMpN5RaE7ppDmdb6KiWM8asHGjcnrnSD36lGwfUNf4zJIbZ9VEFMQPdgBHid9r6Mjgcz7l9RdSJPrSi770g6fhTotO3Ma9JgJAaXtvqt5O2Pd+XBCSxB+WE+5RNBPQN0nOy3Y2m/ZhGXu82Q4gFMVsaWztOMdQ1DANboWzD7iwzY4OTls4TKX4dMR1ctDKp6JlY4ACtasVp86TKLcNuWvI20r89sKYKXj82uILRdthll+Zl24aMMP8jH5h18G6XULLR00S06Cjz+QQDQkp1EOrZr79UgQtXslM5IVqYtuq+Vo3OR4MZwyeyJpEV2bf4xhgVhavhaExmOT0Vansbr8kqfURib8B/XL5FDNAeu1sWV8zgYyeMao9WH+FksWHqqdIiEhimNtiMznFXzFMVoDGXUGoqCVv68j0WnHymAXqtlpXXnLuZgiPTkZnvPwvWi4nW1x/XYbtRv6xmu54w6a6N1bWjhK+IWApb8uR6o5AT5Fv3msznTk8I5t8K3k+CIQlEEqzDcy7OrrW8ky2GFZxtJtI0kiRPru17NVIQZMbXCQAHIEcT6bkqU/TFv/4w/BRUJH6eaaHCsuRivlcuchalBvZB4f2CrMW4pXgfHU5T1UJuVsEZA5YcK/fDt8rOXiAeDe1aynjjd1dHmlCTrmu8PBPEp2qtEUP0uCXpEKzw764VmDUH88HpwAJNMG8rCMlWgE+C0ovNM1fhd2OWhNYjk2aVIec0rzWswsPGYurLLaHy1cpgqXhgvdWAgOrIa1EGqGucTrrFpDnNNr4NU8hbe/jZ9indNQ6NjGKmAEPnZvkxhPg4lftWaY/5tKZGeR8v4g7YgLZI3LYxwDwPCkqDGNZce8+l4EU/YdbPId9JTdY4Ium4oR4RWfN5cqyf/TYW8VLGXJyqnpVK3HmFUf2+SpRg8r6bKieF2Edq7g1JCNwoc3OxPWCfJrQsZM+CHNCbS/46+VpJF8rDdEPZmCtgsRxw4FNRpMywwdcon5to4RF58rEzwFPCjzbVjAAat6544wqm/nzRI7/CqubAyLnhEJuP7T369n1O6U7/7QNie0rowwcffFHZG0695w2m7aMTv62R5Oh0vGMPjxi1fmUBxgqfIJvV3QrqZBWoao6buJ8WaI5gBMx9930psZ08FLGI0/ytxfKXuVNLDyNMaLhigbcf949/12HWXkAFlbzltx0jpkwqBoM+ipayvoqs7GhuS1AXtSvB8SjwypBsb62mYOfOMPDyYslvpxV1ncLZrkId8MSQpiz7Y6YEUCzrOziCIbEsq5Wnr17MOH/Ji7TRhkxXzyj/972XGVtX58qsSrLDnT0Z9gYkBlMfcWXW4//sTsouq2UQv7n1xrQNOymNEmxRId4QtvsHxqbTHS24EflqxcubpGQhJIeXRssDw9psdMaUjf1Fwiy19elgTmRlFQcGxByeTeMlEin0eMCzTGQeIoLbk2sJt8X1P/iU1WtXt3/o0BSoBaiqZCj753+i9NMPM829+jDVvkqvH6QrD4Ij+rSiIwssrq/R8I0wwf1ciAIZqHKHd1prVeX+ZaGouQFlvGN4DEB70ENSk+f6efX00Zp19VcAruLe3X6ZqkpjK95qkzGR23llglf45hdK83M9HQpbr58yAsmJtBpTitRTaaDs9lLZEJ/q2kAZGOz/HjJuxzGRjQz33O6FUyTiZ4T6xpcLhXfEKcCIHxSl/OyoAUSOfHnlfFupqRnP1i9yIJqvO00tPkHqno7NXt3df7osrXQZ8VzbAwmBWzeBcmxYMi1UGKpnPagI0HLcVtwQSxjIM9oow3Y9CYi23wLjIYfaA0xDtXEQb7GeVBRlAxyf+XuRXph8qLSwHTx2c/f9XitQDX98yUdhkqLkoj+r2g07d0jJVIgVD0p06jte6WIThrp9l4X8oB9reJn4XE/d4XxmSGCntsdq6QpzgJ4Zgi4F6GrYSpIF3uLgDLVQGX6PXjiC4WiiDVITu3bwzrVUip68b3ICXj61H4zAY36BhyjQazhxkr5ZmU7eadZwvQykc9DzDuf+E1NNLGMW/EzdsP3knGMwXJ1JyRy958CQeKfXQYZBFVEPGfEsHGu4/OGW2AN9b53nJjRMAcUoqwRBQe5SBq5MJtrr+xKRusT2tYy8anyIyN6+kMoVHqaOQBCNr21/nFJkSmrXEHgfabV05WdjkYnHaCZjTC4YdGAe0TdH2PLZG7YlcNNEC3zHVQas2PV+DufZLlVNYgRjWvplvlt3VnFX+R2Q2QbEb6Fpk1iJPsGwtBo+RMFUNU+TUZZitiZ3a+zonhyZ6zJGzsIFtlrtZMoXHEJ4OMUz5g9tAvMdNMgqTgkjuirOgVH7VesE2aW9AcFyi0F67i/QmjkoS0mDW3sEtUyGC2gx+jxeYHvKHVMLQ4TqzAoeBhJ5IWgMinvhEDx4uSy3UVS4INqdPyPFfjFVyVe2d7INE4zJSIacVfbeS4wyb1hTJCSvWwLkDPsglUqr3GVe4QCtqQTIXSzqbpxQWYrPBLCIbYyBLGDlXm0//eiuwmw6C15H2crGMYny3uymN4F3Tr/ITxnQpVSOhcBEznhJQ1Of89xuuCuQQdWhMeCUcLvNqrI0VLXsXx925QPRgS3aN2Qn+x6A/u2/VPsACsh/FavHNpoynM63GYmHg6Hyw2GzyTMA5ydN3TnbedwGjxychIxQ3gF8uR3Nl1cgy27yHrlsLjAUsebnVIDSgZMUj++8DB8Yw4AWtoKceo+orAw6SBQA/GNiRoA4xX1B/tsRuRTW8GOuPbCYE3PMar06AshdBTOsMfZA1pF6kfP0HKFn3go5XOPN/xBSAhzCBAuQqj1cK4cCPfeGDuIu12/F8kkVJhO6GFc9jDLSy+ggCXh/pFedSwT9pKUxXLHPEySCmR1CYAc+XkY/XSqpq5O9F6skySejxlPDBxCxDZUv7zE09P+1LuIwOkynI4/HHSo5MTNVoF/hMgusntr2w4v6NuHRdJlLGfh+S8J91XQ5udYoWACemJbb7jWmFBRX+gFuM97qjqYAl07BJbijo5LCZKYz2NHrfYFQgLe6VHsUfWXDjyXv3rPxMN/35zY2QTCXG143M14rFRcnJBxjM/BbkuvTUW7P9wRBvudvpULWEpkRD/mZiztrNGkBWQjPX5SEPlX6HRqR++NMP23U7zfx6firE9XOawHvf3C97gBRTT7JXlB+tgUEafw7t1DZYPlOpNzG+5GLIW7nq9GLsNmp6bjFCCUZcAcItYaMMoAtooLq4tkCyj4kQU9pHtngdGeCF/pHZLBwSkzuE4mQiW2gvuDYXtFXthtKiMmc+Tu+mtDl8SNGyNPFju/M88fBwo97X47OePkSXHZYVMf0gML48liXhM2M85ZowYXzFdRV1bqEGHlbrTqhpuljcNBmp2sPdHn/ZQ1Jct7nFso/wWtuvakrpNdIpSOisv+XvW4EGikKi8/LzKRO04dFL2AUrpggT7aX3NV1+6taR6FUm5+8BeifNQhjYtOXRYj3ZaNwaXdL7Ov6G4NwXLzQTPmDl+jHhjmtVURuaChqy396HJpMCZiefscKiBfCDr1UETyK/KdFDbsJ2F2/H1x8PcJ1U1Yn2W/bJyALOxP58TwDO+DdAZ3XKNznH6g9J3gqpNEuAShQ7nX/tP1QK/UhjUeprvlpOVvQkWD7PEpr/bb/UEaRX8sLkC2nQvf4eBIrCRbEuNIEfjBNSq81yGMyQd35nE5k4SzGY8ez1bvXxk3GuWTdB08NC3/tD6AlIKPLaNSNkTp+wKLx6vd05Li0VgQTKbTLvbjIzHHPcgxmiS2l67qYDQRZlV+oKw3jMT2IHYR82OVtyytdLmIXNvXOQppWa8QxESu7dEn6xoMIlSOmlmOFkCoqaqZd0Kuhxeq/Amv2Y92RbpiODrT/UAQXLP8L0pwpu1ayLXRrd6gUUw0sgS3zHUFR1Pj4aq+Ibj3ktoFts5uKn74VEUVeJnGZ+WVNEgHIAWGcf0g8pZFwzviw/aqiWovEDfpSqFriNL//jTA20sCc929it56p63HuTQjXlzT71phSuYPgBVaAhqJ2t5f5w0qzmecU7K57xrwoh+ACYG0yV00ArOVj1eSgvt+7+F2yMqZdVGGRdyudDm5l57INwn/Fxn6FOJ4Z3pWfVrvaIt2KWQJol/LYBJfSOQcmq3DMcCjJ0OpSpx7aESCH4Kg+MJAqIFAaSvpmoQZbqxQUx1qPm/GK6Z66l6kBbaioT8e0TiK31frVcknJPAzeGA+h0J+x7JzjPIjOSD5zFsthMMCYd5fXzxMztW8f3uUeO8sklz4DrE79lYKwJeyaXHwxQA0vqiyAmi8JA3EoVy7QMrjpq7FcuSfP5/Vn8KWJyRnsCwP6riRHvb/svLJ+toUzpowSWUWZ9PGwJV6UDfZSnqxs8MwXujJBMTFTZr/YZvh5GZsRwk14TLwY7LZhoQuukQuC7Ei3lt2tmyZs3xtbmaHolAQHPg7PzJoQll/4Ujh1PYPVsHx94qzeQOTNKlL3T7xc7XoKCeMLEG0WaIrQSy8sJCU22GXibFDg+ExT/aipt6stcsaYpK2QLJ+IfOd5p3estfYd0YdsqTboPZzaZkHqkmj7uBr5FX2yJCZZ12AQ44+QBi+mv249S8tHNUcePIkmYCD5iz0IADbCNCN/gQVUVGxHmyzLWeRqhmAP4mxyvVhduz9gRofWw8xZ+jn9/flcboHo4rULCHA7hQBNtBstrRP6Xg0QK2jboCGcICmL1VGiOluJBLemIZEYLLj5Lciv595+kXRmjLLwZBM/KM872KfFlk1g4cbXm+K4RcAzIeDZDX5BpQBXVXlzZ4cCWrs7F6uno32cj0FlhlI4n6S0kDUvs5/ur+q4gDDjNWuUvd5iIWBhVgqgojfXK533ZoXUfpGaqbTcGg48OFCqMo4A14zLO/qR9tMWGWrkdm0kbBH3vOF/Yq4aJzof3xx7xgiE30X0gg/by9KqhsObKQSn/joFamkekkKmyTDWZq2Ohs9YA/yTy7vWZut7DRqDFVNoC/3Es9RI4qAJ3oqEcbxuQNPXQAWsUT6tkdxc0HnpRSWoVK9t1sOSKGKPQi5tfQQpcMverG0xnFRbi97pDbYJgvj4x+67DcfXFSWFYE5GodL9o9pm4Yw/IbQ/zgZsGTqYzfUAn2puZ/7aEhV/ZFYUHatsFO19/y3QSjwPoMcR0tBU6xnY2H5Yng4r1oF1kHCPOlNGbP5lbZn+iJtFBzl8X+3IBL5pCFdL1EOlxoDnMbmScvUPXAysWzX57M/v9vWBOemb0O23DhbVIfibvL6BKk+/OYOnQpT6mfdiFa2htf7beQY4tKTI4kV/dd9QKKM7kO7RhnM5LMIutDNtaGfsrXQBOcKJnJyiI600p7yf3Hubq9bOj5UhQJEFZjDg7LhkVMtYzqNRey9CSmhPAHSvlLdtv/iXtl5Q9GDh6H+iK/6+NcbkO6ZtdTEYYzj4px1btqdZEmZF9v/+qR21Y1SdS+8s8MlyVtToXuIsE/1apQJEhVFsU2G9lU1bzYsZxSMqq0NfzcnlY0LJOtVZQyCoDxCZJFxEd8sVq4fZrViPYaL4Lwbl7KUaEU/rLB4QYIhweh6xp/jWN+safo3jdUyQipq0hDxpfjzze14/7lRIXhk9GAQNpr36ruurNpRCG0pDElcmVUbJ6e6Izw401yleVnNpBBsxO7+OMH0d398vgZIEXiRRQ1LKfF+Bo2PFj7n1HM6Sio2BP02nzrE22FWwDhDtbJResjKLnQtlAOWGMlXgIhcmdW+kx6eO8VubBP/IpmU9IAlCJrwMFVMLXM/KlJT5h/EH5/uQ5ppI3Ah2j4FG/eiZGQh68eOBhfJN+8VJ4WOgfvASErF4H97tGz4Zy1FQ2iLZwagXjcKexJwqwz5zOkY4U1s4i4bX3NLRI/b+1on+idLyLFXVZJzMWCrxe92u1uslWTQ3opIjj3JPup4tZ2QVeCpa6eqgV2uqcQ385NBKwnQ/ZZIOs6t+OIRjl4TudHJPxFASgShWEZ56hywdj6j83jFXJ36pIiu9sPfDibRRNWcY9PQc2VEhWPJccDamrv1PUZBicAsbanFq9cRnWWyUy/B7EomCVuuyMyqqmstH3qoojSlHUUIAKRup9Ou8HiybVHOwcQLYyDTArcbl+KGn1pU0Inyn32rucO9LnBGSPUpZe3HVPz/4seY2LZs/FpSqik7Os588RUAW1sg/7fp81I8jVGdY0MjqIsUHBf96x0doe3j9uDY2dX2U/7SqNTFupfVMmn70oL5G90X9dQlOn8MuPOjMz4hyMMETvhzp1BpqV/XVokpaTgB7wUnAnFmpSMu/tkeG9DszMcCinnRlFxiN4ZG4i1sEmaJ8onzY1dyQQ6tFILqVZvbZfgxtVgBm/liLThGiD823HTAd+2l6PMCrpZEwUE/lw3z4Tl3VYbisNN+lzZi6b7HJRHOvCjQ8PN9+aEZVetzvE3YZuYt+bryd+jfuyUanG3rgZG3TWZZG8jUBRJ63lGPghH+34gW8P+FusbBLZvL4fN5qSaP6hVEP5fu065TMBnesCFul6WZ969GbdqpbxF/5YIDYVqlC5D6mg+i4LP8C+tUbDD57GI5M/OtooKLc+pPSI9SMHLUd6taTOhMlr5ejAMoPXYHDfyfsn3dBxBqwzvak9MHG5xc8z5go0VbmhpYsLhJzpGdLtQ+jqn4adF6It5iJQX/CV9dTHmwJLZRcXsLx44utcw0asBWWjXH7kGv6H6OWxQYCyvY5ABEu3AMWv3mKPcPG2Y2TjUfQTGLfWehOOr5AWCj12FbUhUUDCNjVO4dLdm8EtHQBQoTZ6HMzdkllmu16r+V+gFJzYEnJwZlx8Vy5ickzb3wXZuNdn2YyRH9/ge8vOMh3/Dsa0b/1zVw25UHRz3sqitoShb6oU8192aSy3e0dQJfPYMLbnWBUIyzI6xB1YVQYvngTuJM3gwWCgNDoVvpXeZGGJQrtyQjIpfVDX4okl2BLKCE0sWS1TvsnXdLW/ChBnQKtyY7v2Jsqw7MZWNI4AtIu50gimE8AfwuyV4YJlJAB7RGV2+LrhpDoFlgSZCWLh4ztuwIIc/p3e0ZQAuwQTWz3zk0ZiXMaG4INK3kUFqwoLwkCC6jpl1dSzwDJBcGRRDPS89MYuwdHk6kEuyFLjkGZbO99iaOQwVQKzriy4vC3F5d/jN5242jKjTrBxyoMip6ybV4No/I3yxckJL7cWmlIYCJesJXev6eMo3xg54shywYplgJ73c3vjmMHQxY6+ltCHiTpiftxZ0rkSCWcyK2eSJjnE+tbEpUXlor6WxR+50UGE2YoA3Ktri2NR5lyWBCE9Oak3s/d5QjBGpGQ0F/qfRxG6KC4EKBWbx2UGSnTwJIh+9Ezl5gJ2oHu9kO2lSEQpSfI4hhNslJcpG9vxZgZplnny/P4Jhgl6EF1j3CVa7xyX4P73muSBzcsMACJ4WaLB8Q2YO4xlZkidqcgPUQYikBXhgRnRGVCS7WgRiS49PPBAz3E/SPktCRGPtv+FwFqFZBFet3HpH3K+zkP92dvaXcOwH5078sro/yxC/VY8BUCYNyf4qzBNC1InLLcrSOnpkaaCjMKBQMo1VXhl7j9hF4c2vsaFQT5vKrxty3HE+6KufaW4+jFhrISXNv5Fjk8xv+/6pGKyQE+lP7xazr5pelQYq2RL3OZ7tyJwVZ3t+KOcn1N4WTKXC4Yv4CDsIn9DFSqGpbpGnMr4JAxSyt/sOF5oDAGUFRuhZMljMJf6NMTB0a4RQwzdbCzn4Yi6y392D2esWaVz6WRziNNycR2QeRILp8yb0rMW9WgRUlxttvR5CZVnarSB/7lMS8daax51ayMnBn0uD2CTc1IyGBkiV2nHRAhPMBvwA7Kxvrhxhp+fE8afH67ypaLrwvZfTPzPQ/G3nbdIRDoGsKdAe4aLgT+37e9Q8GnLiny5r2gSOoFCSCEUiSrgcNZwBIKvHktFUggcwizkywml6WY67V5w4r6J7KGHPdUIwkvFUFy7ClNkxeJhMRcwU+YaLY/stV7IVCHXIcg2siayj0LzfvMHjFZvCkOX0ucwUJTPWuQQ4gR6LOZOKo0YbxbcmpbqHBVRSOt5qSUAQcewWU/oUe9MgyCYDZmXE4aBtGf0v98mHoec8n0KaHtosGPTyoZDhKMSi/p50XUYINHpOmKAhioxcCwq7npjedtmDVpqJrcDJXLsHFWLi9utW20wfwsG3m8rKfuT8ANZAHEiabWJ1sS+td7jVwt3z131ANNhW+Q60C8wg1su2vXCEPtHS/HHAM6hnXNI3WvjPsYRiC7SobnJhylxfqJqYixNYHRPM7Wyzdti+GbGV3hDjDjzo6qDTgyRPrgguZ5nuwAo+QP36Et7syCWAnTetmRJWNwhgDiQHMQscLKesdB/D7Fj9c0unjtVFmhv24Ej0dSSN8EWQZSmhOzhIETPfkvMrNVwhcrfjYNPGvVGFd7iPdbLegNP1jE/uoBOo+grY5G18FWvcZQ41ABspIq4Zh0ymK5Ju7SHefyrTNbkZMHlEtGAMFmdQ/4JngiPaLybwXMekcYxry7/u2ly+x+bT1AJda/D2CJmF5LhCNZqDYNyat6qEhqd1zfPy3xjnniv0evDXdhpF/FfkNx+/56W4u67uPwCZUdV9BB+viPUCEHasKM69fX3XbHcBd2Tz+pC+SXMEnIS2gGuUqDGhTgONg1IUQnknkVLv5+YUjoK39kpOp7FzxV3fhPnA9ecgHUXhllga/vl7JvYWvcwwhcX5skcQ4q7xJKGuhuBwBwWuiGJMTdYqR8kMGK+RzRGmgENiRUotc/YnC9yM6NhhWplVJgwO8X17LsjRGvfF5X7oXAHldctw+494ZM2C1w3lfmuRO49EhuI+vzvciW9x1olyFCQXpDYG9niAGmrmmIdzIz5wPMq/v0p5lAXX0nHhf4U1LBJrMNvpA3Me6215qZ6mV2yQy7K78huRDVgMQlFBWj+cD6Ams8CgXS7ut8iUJxDInexHqOVzN74MMOEMl27ebEV4gNVC4pXLiWZHNtj16dvn91h9VlD4u6Gt+3sIoD34KYINwawdWHVEmW0fF7ycwkPE3muuYsVNf/NU2ZoxYyIfbcVp3boXS9r1cOl8N8FYtyqdlJTwlj1ZsKFecZn//lch7MydyE6ZPfJ2KjiwlNX3Nhn1qihEyTHdgLevoYNfrpO734I6Wrowg1wQoHv4Vk0/2xerucHg9GI5ly0rqWMCw+fumYF4eIZt2gRijByjjGbGiZfS/kP23UEdAGvqGj0H8NJqVbzyhUzPPrkURTkEZmPPFElB2kKEOucT8RXehmFeytkJIoEiyM93J6zxcWcssEOuPsfA76QiOOiZTtjLpQKRWDsxOSPc0cQjuPRpNeCl1nsvOueAySrKuP4OHxKd4fTID5zuPufXmyk+/T5YjiyI6eM0ZbF+YJw3z8HWTGwMufiPpRCIZOg+I0vNw6vB7rTDEd+kxyRa8oeXl7++0Fll6ZXQu5rAPrx7FWtRbCcMnWiI/CQuGqa6PxryaA5Wg38m+2HeXj1wMjjrGhAU+Rgwv9zipWA1VTCt7Ocq7jK72qRXQzpicTkPPbE+CiObD9FfMEbuW2KjraZBw9HQdL0OwKwBze/o7mKcxp8V6EQE+LKSFfx6jZ5pEZ3HLihUp5gJhcimPNYFDMahEMbAMcLWcM9n730JkPk3/XX/neglu0TXX14Ef+IkWw+jU7m4zv7AJCcm6NfXvtleFVlr7+XibrqGtMreyz69G6ONtLIJubRuehJyf8LLxnM2I6mNgGrfAZN+zST6KxtCn5KUmVb6wPQCs5V+hAfyqemNE4cNU8TtkE5jOziOYUUuls1yOBHCAM+S86i6rMJQ/Lguzb5LG+om+lwUibkkbGTmmSj85mmKe+Osi6fZhHX2oJSX6pV3Aqh3amS3hFuUS0Dpd/3PcZJr3/7LuGv+Bo4RrrwoEoh0L6/zZO0ejY1xyo2VvUiEvJX+ToCkj4VcZBT7f5L1IolYp43jxLO4+5d7uz7ngHu1aqauORiTtBy2T65OYpIhVdJorH7JwvAak3mbQlkLTMnR6PMgj9EyVF7I5vWPdSXU+Hlzn0jMXNcbrgvcK7oDUKBrHgdGR4dOJZ3S7WX24+IWX2AHs3imnRkgMZuUzgrgsFTOPNrZ4WHaC1erXZDUwcI5iwXj3jGjSSNbQ0rFt8MpwuK3LI9tXniBQuggxoHzhBM4htWv/uO185oIHyw8lPB32rauqIqOZlUEtN4Tr9t4x15NVtdiSaxn8tfCsSklMy6NxcZp1fsMWdkQg3dwyL+XoCyOgPo8uQ9yb9OY3ENNiozkqKOlbvAAuOd0YwBnHuDnrls8NGFSBQSzR4ZkdbUP4A+rzqJdvg+ZOiNZx7uMjbUUW0IXdr5YiRNn2dcILxtx3L3VLTMjrBmPszhPOZ/EsrSN3NAmruWrewbMr8egGNtkir4d3XOarY1FvjSy1B19yvPNUYEWx0xPZ3lMS3M9b1EePwQ4+NyIal24hFYWa/ZMsUuC2d0+YMKq9goEwdVWeqOINBZpTAC3AnTIt7aSPPl9hZUx56iNKr+YJcB+25XhNcgF+2sVd8V2Yh5vApn8dCQGu7LpEPq7XmTqujMMbgQgTn5HrRxZmJdzyGaDE3kLEcw6vfeyhaavvNXaj3QJ77lzML7Qql38g/Lgdv7WOAMRAY2pZz9hljPPRWtTbcc/1tfyKqapHeZZUjLuZwC7tF5amGjLARwItN5Ytn8lXDkXT4PuZsgZY/f+FQM1UWzL/yu7n+1TEE8ttgbIt0rhEeS+33n/TuOqLrbYMb4TSbc+9otQn2alQzuCIThZsujMFWhYnATjQG4CiMpbhhzaj1TWv17OSR121w0KGNlodMYVEspenL0JF8zRctUSs9H/TZxnj+XRFFE+fc2UvNz61ECsX8KntXjaXfDwZESZ1UuiS2eSudN1QJNc4H/NAikawUaNVBWd8gv6dHfjEDsBhNBed4jnZNm9RYkAHoiTTofcIJLFErKE9/KKM5cWuuxDjIsUiF4GdEqx5c/zaFaj3xZDGhfmdrroXIvXbLsyDfwDy5e/URoU5gKI4i/ZeVR+hGxocZG1+bkENwSYL8W1TbHYLUd67On++Sp1ar3983mSSopyJ8cbV/nW4X3146DkY1Rnad6Rt/Vx9gY6yEHoEXUzK7CfN7zE9uOEPU8lCCE9IN6giwrw5lEsVo8BFF2p66L28OXwDPGN1a9he+9R0uJRp50B3vH1pJyDAJRmoj+mIbUloqhd5QFVLaZdGtlEJWgzpcLPlZ/KzrtY3WtXJQR73xLT5FYqL0askqqFWvYQsAjzvikP0aJHdRiBp+BDt6YfT0AIJPMWELXUFx+T/T/TmmEYbP+/jsdKP/bcyzbcXFkEmtzyh1gpWg0Qk/afMKvcnNq7ThUdjFoSzhlhPd+ztC3OmKENRVYp7rGFiei/EWChYStBvZv0kp4bOFbNSykOy6l6vMNoTq3h89riJ+LfsaAhLG5T+NKn4PYNN5Esr7LheUVQAA8oI3oCyk7C1avTcOdiWrWRuAYsFmg1196cDyN6vwbUAiWkIJbdMUVa5snP/nyJwvxocu0mopo9BE96L3sfUdHFjl/+6mhaYmP822XJYML0ONKibhIddQhvd4HqMh0P6q8cHdKne0WVr7Rb4NTwLloddO3+HcIu/lyt6UKABdNyeQ3Vo5yys4nZXThcS9li5vOKurimznmWB6579BlGswSnYhPlqGAF1L3fK6TdQCT9aAUr755b63VFoi638nBXujAu8/vMyz33CaaNmu3R2Gdm4L/5YN/2KKCZsU1sdn8QAlzwQw3Wue6h3GIblGMZgAXIrVGYUwkF2M3IPKI26Vapy+r2pzRmau8FLgPxwLD8z65PbHc46MDMHjIiYvtSQyjKOxdPXbTmonUmh8QbwfiEQ2fLcjCqKnk7KmDHii8tKaaeHUmcwMqqjzP0lqE4pKo8o53S0NKjOYObqmkQR9+PWNmlzeqqFeebHWTDKkhQVrgI4v6k3grFPqZvaCPZLXVZwZR/t5yaHRyWOYpelTCoCpcLj7tcMJupEJPAJLtEdoyN+I/Xsx/xB9VzyVolvFYwy5+86nb08hTPHfr+fywzl1hE/gZlHNFDBDZvaddPBImhvoLQ78L6+hhupD0IRrtLU7O3HDp1i6uZW4OsroH7Z4h5zOgyVc0LVkjz6i7duhVu9dwAawVfJ6bdhEOW5YPcenN7NGWLpHpWakyP03tmnkQ8MX4hTYXyCgvlDSQhmMVWpqRD1yyO7R6CiCyfGHdYkSnYQ9gZWvOozFoVHDovJbhEM/b63Ew9MpNj4rgpxSbIl4fx5B1j7/2oywtkYQ4bU5TLnFG+N6CrkeXZhweMBTcCfSOkCAnZQ1xMDnpGTIxfWrabKftM7OgZVjjDhOxTb/4hvRreky/qpKechr0W854ueXhUu+10mqrs+mB+m+CYNX6V6RlGSVCy/YZ3idOIGucSx/6qrPMbkrCRaTbu50uanLATj24iKVEyFVPolZTV85L4H+h1EfmgJJb08EVQ8WaVnXKdi/g+pH5wOPYE2NlHkl1YHFusWUqEcjZddk1LLvqLghL7iKBRQVKiTJure9jnSndQ3zi1RSPrmLAnASkTGbhtrr8ArR44Kn1NveAOuWyEH02zDy2rOIde3RKu5TKHAK+Qz/X/ipRd0dNHGT0cChgia/Jbn+joNGOrw8CVvzev+GpyHri0aPc6Y0D2kyLrNDZu5lt5nXJwo5pFJBY5w/5la1fq/qFwzD3m8q4lbOyqbreLsw3ZfexwkxDPxK2rv4LzJwhl6TQXcR1YYxUoc3VPmbFfWqiP2rowYYdVYDnbM89o+znde+S8vi/wYMMcmgZJknM1aYICpcoi1uA7sxgaEsLi3UKW7xzCcvUI5jlkFYGlZOrN1Eof/bmnk206XHrcw68S5wmeQ5oEPhUA9zDXdLSQu/XU611NzqjHGuOfyt1DBC/jJUvC1icw55IPSOkxXGGNk83QyJ/sZ6BhpU/CiF2KoHwNB5TsRNLiIcJrOQ/javJtjc1EDiLzSS2CWyC6LgFKj51uR4n4Xsrboe3sS1WZ/RcGahNbrgnpOFThsnQX+pie4wI2jEZgbo3f8ahQqv9jTSft6c3ysTm65Z7bTlw6s/DpFUheFo0gDWTUbo1NmlXyEcGtrTHtgNjOfod+2XZQZDP7TsN020wtL/iTcffUqNn7PVSWb2bm/KT81hrQg+IevihkHm8IOWbT1uAadaHBjiD42tnnWdD9HnyAJSvvmmevfBcQv3fUTCEe4PrQXpXwoTnmDVoGxHtBNO8yWsnljtr5SUoYpFbbhM/9QNVHfROaOR6fnSPczX7kisJzN0DnxGMKF6MnctiS1TJzEIh0h0Jpm3Lf83uc00qiXZ8YBeZDTeuvTu5MnU0T7Dou3EodhxqL6jTFfyxKDgGAchcduRrdsWx/SZlj1HjEXbkuIjFg9xijz8SrC1PGeeTgOBI0usc+sfgz0QszvSmQTgDmWaZj3aj4vmZnK5XzBjCUGJvSk4gwqHYVEJ9/Yaf4J+hZJGlKIiX5zurRnOFCnOl82PP+2kDx8wKB7EZur3cfngo428+8KGIQzXzUjzEIqedG5AlFu1cdLTs7adTZEDtzvjzuBW0mkObagOtBYc0lhRB7ogTNfiNWvZufTFUyuHDLza+GKB/+H1vs/xezWSywTn1oSB9G2wiNHbgVFPqjnYOi8+B5ut5F7Mz7MH+lR4frFiF+ld3Y1pw5Qnz2qbrtBEkFzV6S9BP3JIHOR1TF+fZgzSKhQjjzcIs4ZVcCCq6EIHtC/p+FLnSSflZdt5qLZpPVJh/yj6yEmn6cNTgTZCIYkM9gWL0hsC+YR9FXiIVG+KUjuX/owUZA14xh+7rkO66eUpL49mDehLiS8+W+tF7cGVfJOazMMuPCGC0/YGsJYvHgzr81LS9Ce+Fich92NQSA+vG7yCyZYuOlCqx1f2kx1oB9/ZWdDdumglZ+TBu63CX72A+sPm09LItbFApjOf5SJNuwuicR+pjL+ep2SDj50GgWia7Wc3GybhjojQFMTGHil1Eh8WxsB1Nx93YkqacGT9rNEpA8SiO0TrS5dMK1mm0GHUn2mP+uCjem1wqGsu+w7jyBS9d+lfD3eqoMgHoAvB5XNxc0rNCHhUmNohpSKXtJHseuQSfpiouGktZO7rdxrQeNZvjV+H4HZqlPLoWoooCa6y4rKa1mUgYLDzi65/Qdrx1fL0EqfPQZU20RhneZZ92tibTJx7QlRjzymLvsv8M5swR6mXOsVaoY5lkOMoJhRKFkLWTdxZkorGRrXlf9BYw6iumpCA5H35AjX7+93S8Hk2wC9aWbZbAQCAqKRoilAZz/WhKcVSLhMeOzDkyqLxQqBTiPgcVasbbNY7xffz1T1GpH9VTWTFpDo5nX8utvl7fDVjaY/6yMYDQ6B45F8xGsTMjduMOA1jTsGJcyh3uURCDtc0Di6t6NQKaGa15UCD+QTDrU/keO2QeniKkgqlB9B7HUcSRsAm9D/nM1jL5Y/kVUWUsqfolQCdHVeHu5PkA4zujhuIGXlJLRYQLYjL4PGi6rb1tdgajQgawnq5U45Vckd1tcexauVyLxmlNxuMVRMmLeCV/Jf16v353S/2JwJzy7+Znc/JE9sHWTxpmU5vA14THIVEKSA84q4pu88pbYdepKkphO+s7SrrUglxeLP9I5W1MPl3Ky4VDDLh721NcMbd9WPXiQ88m8bQfMcgRP9/4qef4LdNSlb3jcBrRkKpbSqsDI3sEg+9TcOHLhw8vhnjzTUo4QW9clYAQ0yO1kBLYEpBt1DnjdJG9NWW9UX8mBm6FBmb2iavqRneg1BIBFJZfl/rOopoQj8qwe94LzToDUobNGSbcpRtFdpbQPkfIYCVrX1LkZJ2v7G/VaSDvu9TJXHFJ7QVP9Ml2zuQGiRGi5kgOvq63Q1r8PVbxz9uic4jmcrY4Qec+56DnA92xiO4PoEcUo4Cba8K5RKKyhdJKyr1qRwS6Pl4/VhZnvqzpq0p+UBi6cQj0N5XIwcFOe0ALU2xLfPp9k/B8OX9d5eGf3u3qBauYuOqlyI+y9+QfDSdqHNespCbaFLzJTK6RDZreiy8V2JEM9mWNpFh29pGk1ez1AYzZTY/yezDVCN/Cb76DUrScUcQeBLFohiqCoTKxv+ovpQOpEqKSbbnd8zwVlIUGF6pon3ssThy7h1oFOI/XWBXaTDjSRbclEM6tuVJJvXigzq18HaM950UuZ5O9o9huNuaUdqAMSF24EtvoZ8cwixQjUrzLJk3K5jf14TOoKiNOy81/iyau4jSQ8FArl4dV+J6sA9YptKa72E39zCb9VdQRYC+61n3YZP7SjDi0HStGfUzyPj/D834ampn6xvOreVoN1tcHTLD7KYtZOm0+hAHTlBdMiHxyN7qENfY80ui816pCqVqnAtufsV09dm4yHMRGKfFV1ZMjFaN0BId/zwbjXmrGc2qpl2ijcPWvZfKmNR4iAmezSVXVJZaqAbsOlpUBtK5nw1ZEr5siaFxW1UPzRkRGcaTbmSajacbWxNH2CKgNUQrGtvWx1AQFNuy7l20bw4eyGvBU/GUekytH1VKYIaix05muzbD6fSEU+OwCk2G4NtMs9umFLjsSg35d31rWGKk6POWwwqre9/aAIFGM2VvgVUk8FNNeFjLv2WxmyUz9b8wnCeDsLrk5vVlxfTgrVVvwpIpwKG6wV84jGOCqoFmKIiDoFVM3KsK9lu+X02JcKhX1Ywi7djV+6p8KygkI2q0n6j7s3UL/5Pc/hymTZG5tVcBmg9Dqw1vCivg2vA9GqZ12cdmYnbse/AnePm+rQqwCyD2kbleoyocwSeavVI94N604t6cwBLgxE60fwyfwpSH+LJxkogaaZ6RwMWqcTt8BJfgVN31PJuAEDNvr7853XqmIr+TDHO64noJ9tB9J+SqyhY1pIyAwnZYrxVYL3VGFx4YAaTPlnqh9YoShHJNsG6N5OiDD89HwDe2v4vQ5+5PIDFdATUnQLvCMFpcnNzv44MCgSk543Qkf7JYZOdAPSl4Tx3nU+rrIM1FEnnIDCNRbKqr31aONVupw+XRSdVkQXXUe5q00Wudot9bDM706D6X3119SLmfu1fFkpQkcq+gNb1k8YRqA9SPjT5MS33k1KLWPXxt4jgUHbvlv00q2lrMf5BGF+dhrj0cngshIE/fiS4TO6TFGrqUnVDbRQYM9Ieu9cl7xWVElionSsBppy71NzxJ4L9ML/Tjcyr6a5jAg6+5XtE1knS05VPJ/gfqIg+wmBKWS7Bjcw+mkN0ZxLALnZA1z/4Y4nRARdAw8MaMKplZUJco2pgblSliMBmse9dKuxLyFhojVOQwLithJvFVhbWg1QHOiAbLdt2CoVSlNqU1oDIGk3SSAmoce4jVarY1t4H3DojNhSu4yLhOihwVsHQAdK+SHxi2gtS1qPX83fS2Z6AJlc+srDA9GoKciUY1Q0KVYkzQzeHf1MftC3jtaPBqDTYWkkZtEK0+RptYtsYnBU0AlYUu1hpYI+Xff1D7rRm2dORyUujq6psxyF9hCjfXbUxfV9AVNau9GpdXe47l7ZvbzyvR8dFDipWx4QeR5xQK0EbervufRnOEFRoytEydyep2SWsvUR/ryFT7mnAoJUTWN/GCBSmnCX77Ewfa7gAjdGhLg2W042daHbNIa37f2o7sjgodJw/xvYKxoGYvP4DBAMZQQyti/FPEdeG1lg97Ted7RisPjRk1zSiiSRjG2WKJAh3/nvXTk/FZm/F5Mg9OXJhAZ5zxMgwiog9wAGvhX6pY54/f9s2Io8Kuccpuy9fMktEyAp60/0i9sCsdNU2g3KwcmL/JEVcd+5z9CtlnDLaWnAuQxuwECtEHiFh9KY6cli+6Gg9BPF+nnFbaeVLF0ktbamyckCPMd6mG2/+BEjIBee5uc+vdtbPn0zcLYvEkDPESrzJeIWUKvZVKZ0Hj/qJHje8cUBKZffJyQQhrAt8Lzx/0YKLwbDg//DApgk34ak/TSLhQJMbK05mBk6BBrJr1/0pjQkIs4p9bhw/cFrEJoSw2YBBPZVFqHmSY1wqS7EUBsUz1rJkdPLYlIXfW0XMXYJUsrEMXKLzBPyvGLPiaCi8kiVamkPlRMIhQo0Jj5PuNJYWPh4fc+MxMYIPv+5ssmMeSUr5BAvCgkYCMDf75I+UgepZHtxqkze6wF01FgK9+51OlIKBQQSQZZygCVZQflApVnqnSC1rvu2ukwvcHVAa53158hRNAbzpZfGMc9bqi67N879IgoRV/1J03O82EkubtV3pW7zkKyhArCbjTotM4S7YLwT75Whbmw0+fQdqXYsdcEQgPaX+v0DqFcEPBuBCqqjlh1Vj84PUzRIUeDN+lBiuqW7KcJSh4WmZGDfXBzpyxZdT5WSqNeJVNMf75PhVG37OGCNfcfj0eyGciRZDItfQZcd3UVVlLWCXNB7XCYhzBAfLRfg9MZjGq+Tx8K094S1h6j15OM5GS904GwJR9yD5i6k1hCktL0roanmKIW2HGeN90hRH7bAf+C6aY98edotsX7gJndDAVTuf6Bn9ReOs1OGTmLvtxId4XMsOi/g4s4GvKmnGltmSbfZ824y5z1/JAg4914MAqeQCx19/ly9zpb0eo77Ub1Qphn3Eattxkl2mKDZqEDMr2tbGqX26EgKI+T81/Ru3BFdCfFtrm3YWNrh/QM8zY8ncNDSvd8QolFJv9iSA5uMO21IEUeBYpvzqM27kSJ/FLDB8xWMD2Ni2bjaKgYbdNxlesNH1W5Rwe5IAIz85kTtuqfumjNQMH5VwLwvcT7kr5U97MVZ5P+55kbX/RI7VgVn3T7okZRHpFq0Ou3XAnNzRGIM3S0keUcGaO9g2VDQPQYAiMIyeURvq7jNtSd8Lj5G0kWZ1sd0gcceHH8ZW+LbJlL+AEOr43FVBkH2VG2YdsjnAyh9LmihBxLZuiVifzY3lQM2n/stGyR5UpOIYUPY5Vg88mtwNg4oVnkPnYO74k8dWQZ2VeKJdXCaoilDT/FEG9RlTTLVeiV+w4i/bbpz7khEhrG/CNMkwkr+mDPrA5Jxf3NslWNgZDLuttjlcUN80p+ZQBJBfdKgq3bidFaHJIB/leXzbl7r72UD3eZXDk4jmZOgCGdRYh1yVx1LcwDnKhgZfgsJ5fXbL3Q5Hq9aTEqxrUdN8NWXsO9oa07qQRLHVUMFOAYlMVy4uq5WyBtBSJftbsDEKgWkHdgCrBb8uuKnVYcLDGJVmk7Nwu1UxMLUIzbthxCHEx/DdRPti3MdjJf6QzlsQoD5XisT+WsPvwvDAoV5IEfE0cS7h8+lwI/puQgaPM5GX0INBtI4g86AMzGmMidSWm9wsfncmYIymMJ5/qY7bWxQctHQjVf5fJ/lLDysLwLBOQ9g8mezdUdVJ99l4gZnRYvBX86VRVG2wjfO30e2bHMi3asWJayQ6MDEqejyxyKVy75rXeiuQR9Zo6H4J1SS03oNbvayYH8mr+GzoodBJBFyuEmBR4KRuAdut7teRrnUxY8QGWA/pYZy8khFlY/fyPqvI0TekA+G2LUezJJNOSi5YLNyzO+5C1is7AaMa8dCCY1idjL9qp93zUCTBX6/fXD43tkM35Wu+Ij+RmlS3eqm5zRjCalomBDSoYJQhWfNss6vZ+NUJYzSZont6Ab2zgGUjyZdz4TojIvfVTdVI3bvMmtn5ILfZuKErIz9VbMZuyvc9ORDk01OWRhwPzmBnOd2BUROlAB1LdPNUCOf7qcD/4juBEUjwMNDYqTlvLRCnpTuOOad7Dv7GPUf3rn4UNTZbfLeOyhi9olfaBivxHUbSVdCmoxFde7BK+gCDgbosfGq3e8vk9webYG1pRkV2z9T3k1B+i5/chaY3lEcw5Ap1xsitzxGV1z8R0Ak7pJMZXiMdbIkC1W+/obwCIvPkCYtQs4O0EqiOOg7wfKBjoSVoR7Acl/JoIDB+p746D/Tm/D34ODy/PfgXuTZabYwsvLZIeAVLH/6b9ADrNyIvfDWTmtQv275oqrMS9QFGjFDhq6m8uaEcRI7TnpcnYcIyalIh1NVEcqxS2cSPj4NU0SdO+TT89Wypb14qp3YoFzlsrmjGMqEi1HRqKd2UZ4UFuy/RMLPZ9NXMhG5oqRBpqyw1vpPcCf8BDWjUa4c8v19m9Cp3j2rmi8Vrv5uclGHQrbTAZ2B2JYH2lnbw3Gd6GwvD2TDNnsYOEBQeeMdkp9gITXSYau62We7nCVghPI49CRLEUzTeTdigR/vAhZmbzA1VXIYsR7MYBZwJhnMdeXUNxjYsHb1EDd/nNxTiPiu+EZHdObI5LE6mmpi+aDRZiW7hom/DResJWV80HTOjCdu/HKJYMUT0BXjsdqcqIfP4t995LibHAsocBkYOSSeHWLIXHeM/QN4Ypo+o3Qkx4aAkVaiz1r1RK3z8DMHTnlxd+jQyxNPT6IsAeZAoHEO+QLUFoMXQrZr2jJXLRhdaa/Imu69VJ0ZW/VsGfN7HH95r516k5SH3Uq4yhttLAYVonlUgIz+opCftU/Z1iZB81wS1mzBjgr/DW1KV+4O3p0uhH1dtrtVM2jSipCgl1ty/NKGfiXhCvz/KCELsr1Ll55D8Icsg66Jmaa6t3bx51C0OHfBXHrxJ/Lw/KPOn9d8n6/QbN1FhlnMw1HdD+FLe8WVe75mrJo/vObihFYSLEMSYAulor3GHNzibHUItmrb0Cu9kqfB23g+e+udgYfZC8lC4edIVFpKw8YEbt90M8RBSK2H8YTwInNhXnBphtoeTaTCpJYF9LfMVplzHqn3+ZPcpzmGOP/0MDbUGax+yLqxbAZUecE/dOh2uovGlyRqHuLSt3Sqfo6oOwuHklSOMRaZmz7qADJegSsO/6++eYtsEUNDq1Dcf9NGPhHjF8sEOp9leqasEqZ9sKzjMdU3Rxk1A1vrhoQgTbLlFNtzOBHp7zhSZjPshpAyugprvQh7Tcn4dPvtYLflRQWXPlyqYluhiuK+AvYp9ldJSMNxxlIPpRqlAkJH3FPEBqOMWQrhl1EcRG7EfFkB7W1oYJKLPBX4lGaesL4mD1NwcBuXXPaHe1UP56get6Rq2ygmi8caqHsL5B6QKDFlrQktQ8lYkXqVseAVg8qQhvWQyvgoJLj3ogwqwdAzU2hbBnk37eNtR6utAI2w3ahCQVK2X2ImypsUdOVvz3d67b6DK3FHO/G6ERv6iC9cgg2ydJiXU6LIpiawQmCKyZev/Hl+JKzc1OeuKCoLNaKnvuZFPy83DfjWewBlG34JBXflY3q0P+4D+rBHF0rNN1uibFP3Yyn6x8ahpZwHDAxLUwxSo+DZQhVCuYBWYyea2ijku9gkZu8zzQtM3D2BWtAptJV+lg0ajFw31cAPKVkkPOmsDKd8Y0MyQUZU8ziC/AVCW/euVsMT+4XXA0XrbuN/9y2mFMJQ4Vy4vP3T4IPVJ/GLE6lGFRG1Ijf3qSI/8sf7LRwez1w1uJUS6BEq3hxVWrSP0uyT4OKH6MSRd6z29txWGWXKGe5JlWm1NOoHFTOh5n/XZlQHZFWINts0K3zAdw7YAKqDfcy+fbMFbYsbb/gAIR8JZE8EOeKjjeAscWfbYoSJ2xxzdaVcH1gw1uRF1OTyJnzGjQ1m/kDjEcbwYk09dzNcIpj4UQTVBdXpq0//KNlkp/yYxLo3NBQ0VytuMQCgxNllysr2b/M7LjAS2NydhauV6+VQN5+ulsqJlGE7K31eIW2lGXHBDRVYDBiz2WEa2UwRteehCHi6Ok/G7uKp/h3n2+sKIjkLde2+NtQlp86fbgkLtjEatTKwiKZSclPiWtdN6iK4BYhHy4iZF1VZKYWWiUYC0dEm8y/78LmEuae/yiDHZgGF3VCNLvIrfzPRF8x5k1/5t0a6jECSAu0kYXWtDa2rkVM+Ubm9P8Mg9wH+OPY5KdQS/FSy9srjXJOnyiIeiVXbCdjsIwjJ2t6Gzg90mtp63d11u4WJLSqDMWMiDJ5HvcJQYrYoS1QE8QJ/bQRwZ0K/MlyiyseWdkz2/Kq0HeSm96gZv7YAbxbhomuZPrhB+hHPHPxYGRa13DSGweHqczWtiy6XxJfSDI7hh4vGl5UDKk8KoEm5T4xQGbnJEzRyrisjo6DDO7MXoq9G5UBSjxWn1Q06oc5ceRdI3H4SyoiEw3RpDqPkFAI86PpNprdhdrxu+0+SfBlAhKJ4bJ88n5nvJb/m7WN6KsAdvo2hxmEYErKxYwxdgnOUL8ObbbcIhdSFOlWEiH7L4H4fl2XK99lLObr2RPERdQuBYhYu7qBLvayxt54L0eElw86NMKsgIuz6WlO/Shov/DR97Jw1lvjdXFTwzLPCHMTWsA2Vn7AaZffWGA/ujWfBUUq5bHydCbwgbZqv1itAg5unItyhq5zga8STpeRAEUI5EKnoB7w3+hlUtVcwfC+8/7emRcjhpFhfkT2JZQhN0JSE3Q1n9mSpNDSTYxFBK6CwF3VobI8d44xMR/uQ54R8iNp8e+ARqUcK0538ChsmPTOgaKmZG8bWnD1TWTPCnr8mGZp9guzaP8kSVQ/u8Vc0nEAT58DvFzv3P7HLz7NErfRz948gz9YFv1PewNho+Cqst0jZYLQuUTEvkx6ZBv1kIPAHjjTBlAsXKWPNRCl6LGGbX0MeN72TMQlOFHMTwiM7XjiaaqOl/3FS9DfaakXoPN/2/CNIna2Y6mr173HObfSaMM82pZxRgkE5WdJ3ZTLQlrGFZqSTINhiITfgL+ujp/W4hd8AtupZP/hhf9p/rPd2woO/QzFwB3Tsoy3fxUGenZ1qQPEaQAbxsM/Pn0Nem5Tq+OHrjgNU8QSedMD1lFAycgEu0TJ0BBplGHT6eZ6kjIwrYDA3EiV6fyvsGEzZ3gSaHf/mdqWG3tndegg3KaoyspdPmGasiBC83jyYubeMiBX8kHWk7eSIf11tjG6D3yhJJglPbnVNfnDhocwjFUpC3rFYKFrSu/MdTwhScx+smPP/qmuNCA+WxcvQf36D6Vzyg00Er3uAMyfaNNuoFifbKESEuZs5mEHGEXiVNvYLVmFPkFgz+sv2ONwafoqpZHu84IcWvgfEa+UJ1ZxOFUsqmecCU5qN1mtSj3MqGiBOWgAVlTfphGQmRjMWXQ5XpZom9zU2ADjv5K3Sek8acFEy3rXYLqeoilwgFQmDXR9ttN1hyld7AJ/0/yIU4tB2Z+rJPdWRjPwNoGBrYYAIomwF7zgtJ4lJvvMhlyA9Rb1mxvqhBxMp8PNm2EsVL5abvGRcA6rmJJdUScLWI0EWFQARTDziZtapgRxFUAPWnSs0d8O7JD/7EREE7A3PlMneg0rFWCYzL/j9d53ywHNqRG3ZO5Dka++mug/gE3gGdQ4xryBTS8rX05MPr+0HwxjnvhH7oo/fs+WKrXP6ZvCV9V/dGQ9GQoV+hMaqgZ/g79hfJuv9k5VjlvCvkLv7F5R9N6DFupY2U8u52Qja5pdrDqHGPHVAqNO+uMxTbLicc0KcTpFneJQeCRRu36m4Eyz176uilBo+UiYeibRgSvbgpul58mSmt2HqXaHqtfOLRbnmvv8garxDTmarI3KgOlgsP8sPLG5oO2OAfJ4RUQR+SV+4df/UtQsUcUMUmDFS884a2dXYe8NyoxRYOqN4Kqe6BD9WKaZp5ysCE2h7qUbptbhNue6rCXN7Akdbws4XqzRB1HWOI4ftiMgjeACWkdDQP3JRPVDlKCjBKBvsHra1O8qRiOquNNK1HqDFYfyt96DzR2cGSZjRUo5ZTcXUPloccpMqbGqlMKCKDRp4iHwF7ZJdnJT9YiZKWuIAn/d85kict+yDR4lZNScqTLpStTET4BQfEFnx90pQVxj+9Ox/t1Vur/jlrSKxM7ysBKotjs3rFEHDNbfGaCt+90GGRBXwT3zwY86OaQI909sXR06OWg46s7v7x2hRuTwhEz1ftGPgZZBVZbb+4OjzVoIuYHqgWqCXnydjyGEPAnrQVQxiEOFoqjSYFDX+6un+9KfnX89QuMaaHpWhqTqTSDnX1TYz06kg2vaDefchxA0JQucOSm2TXl7APPc2w51YXqDQVTmhZEM4DjxAMUWFkxil/CJlfw6Fr8DlpnRlAY9zZRB18QCONCh14P1bGHEuqw09ucZ8HfAfPm83qSuIenL/N/gZeyufCgFmdO0L5UOsDUDs0uJK+c6Vd8EqtinknHVzIgzEwq27tcmQ9y4rz2ePMIzbRg6OOyqIWqyNie0+pXZBTkwBtoay2dnPJEhABVsKjBqB9T6l1IhdQiOZwRSvSUPjHmqAZkqdWMM2BpBld3/q/ykKzj5n9Bwnxhb3A3Wagb/YS/ci4xgkzwcP34jg6aEucVX9C7EsQiVmKV1OaugQvDbWdDuzdO+ttQq5D56iXGRCgZuvJT8f1pgP7dDaWQoLRW+6hTC211O10GNOLQI4UYwfUKO47q3mbrbuXUm5MWVBEAJM5InkdK/ADR5w28Yr7gGI1g+z6DIAOqzlXdV7JyuZDGmDscr68qV2Nvvl3cu+uejznHe/N2JnhaEGxbX4YHKJxaSdUowaxU9ufXkMoh9m54NqLo/aILthKsN22TZZtP1X4WMc6rcbZBnN+O26rWWBEhII13Ve2O3tyaUN1dDnaH9UVUbDqz+Hqc7da37HFDPoT84pjqy9dhqTx3XME+FzYe37VaIIFH4vlTkceMt7GW2JDmOqyD6yLVbC/oxhst1Z//e1PIfRMir5HJmzt2ww4wUqYk4vzF56gPQ8BL38EziFQCYCC/kbdZ+/gHg9qk3uD9jXq3N/De/UfCv9dfa0l809xvx/cnTIDEDxStMYJMEPjKAiT2M5gDV8hadAM51zyP9TOCuTn2wTPtoFhghyqz4+NNrjHNCY4AfUHWvaUKOCqRPP9nTC6Gsqr6tSoRM7A3u+d7j3r6qs58z8L4VTSMke0wmO/YAknxV6Y+XH/Ax+VWonrE6pPlVotiGuBvRfslghhx+KlfH8NlvR8/P05UsVCutslwwR9Lko5LZYzCUJ/5SOygnKvbHLK8FspOp3U1MDuuGgFqAU70RHzY4DkeSWRnKvjDOhZwvVkEon+0uh/6vzXDFAAPGZjEEIAJXZPtNerGW/AWMOCNAWx2SweTfIPmwjGaxe9l9sJByKPbL+Q4DOQFIWDlP2IuNYwI6DFAQMdUQM8ICY92pssendinkf1rvmxiozmRsxS61bqj8827Jnv3uHYE8QwUGVq94UzQ7VuIk3YDSpH6Qa4cXz+QoMTC811fsgVtwgCIOm2h940B9YKOY+dqILR/HyOGDj8B5RPhFAA/5XfU1er6m1odXFXyyqsWhUDcVqvjWafee9bAAsf+wAVy0+D2EQUg0mwGgcIwXoJSX1xK9bSc2VAsPbp+vrFjFXz4XW3kKtoEvggpVVSwqwc5CD9luxEF7jD+hVQM25OeYSUEXIcanlzB08ApcxBtPhAcwcKUA4eyoMQf26EbPs4qPthitzaaF7xdeCT+l+4M2jUUH1kPDgt1eXkZTxhZmKFIMP6Y4mMP0KRr0ZwF0bqGtDKT8YXoLaiXLTTimfmj3dM1/y8V9JVStufk4UqgSzr8lDPY7jhPD08AE52yJN1ValBZjd0K/HDle3Mbfdp0t6mMaoKqUerwPWGz5puL+EjsftV6RsyrXQxYO5wbkeNqb1zQC3GZ4gkaxo+CH9EW5lXfW4h5NZzCDIIGe6p9tLY19Zd8c0T+WP0d3L/Ybq7ULeP+jGOHPSBujFB3604CNs9MATJoJDGtg52ffD7r34hOoYN7MsyZi7iikLNXYJWDGCHGFw45Vok/IIqVYom9J9qnN23dSC37b3JRjzhPgB5ljgJxqP4AaTYdxPPCyTpARQy8FFU2CPvJncp+7CVRoKXs/UBb1YtKidvPZ8ZaFKVwxW5ShuouVP355EBOmcA/edTn/wgzmp0cPDhQvbgCO6BCtsgHlwMRzrRMgj0ENMFMMyC0D8Fhz1Uk2rP4D/RFVxXDC/5zQTay1vqHYMuEyL4HMfQciplKc7rIN7Jd7mR+AwPK8SsgkGM9n0K92sA+bKaYFybBE2h9uZKYaL6t2/RrAUA/3EFJOXFuuMDDRermVjoApqTVF2WseINDmoWvK+ZSB2rxMNHjvtyPIzmjgl41dVkVbvSyjxryJHQ4JSIaq0GV/XM0LL50gI9I84Vo+pOt5DK5tQTdfrTfETvrTj9WvZ08bIaqOczUV3UyH5+CI+6lezo3ZNsl/sw/BegQcP6Oi82VN1aY6BR3V0DxFrGgsBklboVkbj4zJsFeUSl7pUtILJBjGkaPf0e58MqO6d471WacOkngN6YaouT+c073wG6/LSN0frckVuIwAr51b9AHkGtOpsX1zPhe2qCcKto4RYUsAI/pEBBBt3hf+cPWhXnUguqvGr2WhTzhGvSnt3ZvCErSP2M00e+q9lXmrqK5SUM1g5gc4FPsNqRYjmrtebXC/Baly7Rie4yDLLzVurXE0bASPpHu3MNaePDieVU2wxjvvljsmzZuAm2M5VuZef6wdZ7ArlwAIWf59GBzaRmnNA1WHlhqxPsn6hW3cB7j4ZXybhWheef8IsN0nSMbSZfs0Xhaik1dpE9klaFJ8RXPtDP9Vn3T7ZUItmiMntoT98KKysujOOQm7F8ZAmqHlJZoVn67as8v7Ib84dMXbXjYikQnOUZshhYyK4gkiFbcU2crwpFE3AOcl6QKozw7YQOvGnXOtQcQJnNJ/ExVfbZ0lLrG0bhkApAsPRsJcd1ReHShWDXCadDhUDSnnxYGIODwstBi6jRS3fLRAjEa/KU1+Qgz2n61KAKkZTIT2L5e1it5xisjOH6PjJJDJYu0a/i2Q8tz5Ajrw1053k9T4WHsRDvETKKMA15NPZPfiP0Y3vrKOmctUpAaCvF/sb4/Cpu067DCJhpIzKDTkmwU83fMW/jbbQBTQoU3v6B5B4sIVo0ZYpS3creu+M5gFAXBBihBS/qZ9NCPdaroHq5rTJRS+crLxjPPejycYRIKNpLVQ9HchSPXK6HWIbzRraqFI78t2lOIOi6DRtm/JX0VsuyreyKmsaJRWw+jkxu4GD4gPrm4PSdZWI1vbHFtLnQz6ldZF3Gxxcwcwx6wRmCZe25kO/4UsDcAsFbcwgB5hPg4EeW2W9W6AvG+bJAjHMg0jMXmFvmPbxZC4JoAD8thDWYnD2JevRm/vVGekUYZgu4+esGaOGgy/PUWCZuFuNHfpW8mxytM9ly2Ful+PoZO0hLZ0QydijzN61UgsNqtEUsSJPfBtBykyFvJji8eF8NrrivWrG4s41XOCaF6AqZgVfjATMD/yRMZcg0Ao0Zx3FR9WWE2WuQ9gecM/otOx2w1HUs0eUbON0wL3G26Mb/95CKZFAn9mNwuqCVwa8MYNLCaWRgm74cS+IgDUVIuYiLt8Ek4+QcIUK9u1KlOW84VUp+tJ5eRVd8OA6yHrbjiZiGkbOZxElkpNNpbgq/1j5zW+JNcVBdQ0sIRGijibFiuHLbAmITJ1wuL/a/+pBuI+q2L2BKm5FEKz7EbEwwtbAhdRHTFxlHNJle65d6sZgv/zKIxCWS5vK0Vs/VjW17Xq3DcR/n5ge5oOlEk/A1CeIw5bXMRrIeByxYlJtsBizEzsNn11juBrP/Ho0zUGjO9FDXHirfdUnZY7Ek2vM5nvr+Jql0KrLnYQDZKPLeZV6gsjjg2566vrmKl3e8D8xluvl5ZhpaB13oaOxlbHm4BNT19hT4e19xxk+sOpIuv/MCudAsWyQa5apxHjvJhYTfL3OzFqStLfkWbwDSVFZIj8Hu1H5GWfW3yRZQ/KtMer8fnenzaROgxTX8+2eeOy/A7W+IPUCSB7izjPG0q5wTi1mZdI7kRscWo9BxelzACcM6l+dwg7CLsgJ0BQJfJACn7I3xVtaHdKMkeHOrZxrjNxw8hRy/e+8+devZqELQ6oVlqkB2VirZCX4ciBDa9X/a1PDVdYqDv4jIPgdD8y3hc62xeDC1k/KbB8vyWbeS9+G6bEu7xWGWlinrAgrZPW7JNiUYBm2Iy2rOuM2cIqaPlc/WYdR7tjdHZDTkYkwndF7ACkMpeb0opzmetL8DXOg2TI3k8pErabyUu4w68KN2+RUHxl2FnIEHjXARZhkex8qV0CN7I9RBy9IJgr7bJWrfXROqckRkISDE2m7v63++PgUCFIMKsFGGL7a2CW9o/BTtliL3Q7mCfq/L2DsyI29Idug0YstjKqPTrqT0qk77vOcqEAOtN9cK/VHz4kKwO6bzD8jJhWf3sE05V6mbqKt8gsQK4FaLaoECKCHYfoubVVPgmTA6HcFcyNRUjtKpcTm7PChiajPqpfn+bph8CdeB61xsCMjFgBJLAAapAnUEMXY4VEvBMkLIpDvBjGfkIn1aqAmzV2NYrRNs4lL7WOnjGFR+NqAKh337dKq50huXbs8279id1/AoU/xCq8ot62tohOBu+CXBOmMA5XaXWjxnPGmo4QYYVVEEjUD0HrmA+YSLiURSESxhAwYcZNZooTRrXRjq0dzEju4ecR99v4QBk1R/B0p8bkz/klkVnXT0Qe9iLxnzbgS5Rynp3jD5e0ffevFeIcJJi906JjzzPLMbHoecglPBzamBiRusCAvca90ENQkJBWlABZQu/5jRJ0sCqmKSC56rQ5fNZcdFYunq60X9iuKhPZxefcQs/zCDkRWtEBXCX1z7nGd6PEpsXDMNeBSyyVtpDoculSLAzDxKMLBLGz/ISPOsBlsAhIaPMCG+Ogq+eUfNNKdOoG+kNtPqV/QQU6kuTzDzL7x9/Os3aFoOnCpSovnJP7WuRFFHrE2xU7gbRoLjZbH5eNGxp8hOGFCTJucbsne1xMyvR8oeYpVRpK5ZBtPxTCYSnBUcP1wV85FZRsEnqti5PYVt/+SBGxXYJFoHHVSD0aBCgbG0S0xYgkvz3ydVt41cM9NQo6mZ6jxSR2ZqKS3gkOJvWwEv4kM+qqeWWOwO/gA4PoxPeH4Q/8q3R+6ZpvB4f5hOoO4bf8vedUzbGxYBHBX34O8wCiM+Q6DLkjGrPNrq2N182N1KYRQwcEdujTeBoZkKWf31t2yLkOJxRDohWA2maetud6+yj3EmbQFLy8pRKq+gkt1872C5O4TrVmGoPi46ZGJ2idin+Q+b9m90p8Sw7UQ3u5d3Ae6ok5nJOQzSKU1l0lzVa4SvsEoBHcVmGfcTimaCwc5RhQZlfFuHgUYArwTSXhveFk3NFJE3CD//unPIopmDu+iifPrWIEoqYqXagiNh8MXS+itREbeh44DtQFJpRuhj43xgwv5yqFAEJUNnsWywbXjcXi+s3QfISa7cdW8SpUK59p/jalKYpRXmA3aIP0eZKFDfbIWIMeI8EVC5dOBr0sRM7N35VluvWpp3DD6KErTe3itH757AM3toMbjzdAYUm0Ap30/FaJlGk4BFRepDckcISmZ7tWTZnSBW1LveLTXvEvP2rDYVslVf7Qte6e+Z7obwVsB5nEBqbBKUDJil8R/Ri6IFUSKiMj62O52/nz1xLqVb2B4UE3mFLOX5eLqgOI+Jt5dDz5Fh29mylaS6vARmPjurcom6VTofoyXsw5nWAJxqIG5z536jJPg5ux+IpcmBf52ISmB8j+l+nOq2u2NxE3AaODz7ZVuvd8ZU1mujdunDn87ObQBlzF1hggm9BlzK8CqjzdlPeLHKAjf/2o/n0Xh0w6MgOaGh3qhcGqAUjAj+b52fdR0CrOhoa3WDtIjiLKG+7ugJIjEyU7yPN/IxqvkQXtXXtsVvpwRzUE2ApE3jpu6yH6h7fWGySd6UYg41dEH6fmffuaYXS/FLEfO3lccdvXzA87JgArlKu3nCCoHHOOu+OLvl8TwczKwIEUuIiWB89AYBgFRJjQXcg/mJAgZ0cTqVwLVYwkOsy2dWv+7F8HFwp3zVdtizAvkCdQI3OoJgb88KazhQqH1QOwuIn6fG8+jzeRIXpHINAtAQK3tZUZ6xTvNez6bkJ7UVM2qCp8I4Ja3FYPcKFZGKuDCrJxkmc8ll8pJVV2jDIjBT9xYf0B1uqu0aWUii7PAp5Siq7AE3wq9J6bZGXrakdB9flYywZ72pLUkplRRbdZoJCT9vF/EMj3d4FhAC90k/I2D2eCLtmQKL7UgFHXQmwEaTkAQo9zs40/f3284F8sBSt6njG/MsZugmtP/k0uDNpnTCJxzjFl1JmtAQXQbYKWdIJsgCheAdQ6gzDtDrsnKGqoIiLDZbZD+taAqaScnIx1pDOVbB6yW/MqyAnGtZt6xZ+rVhVg5n/I5vzb4/+w+iwqeE4MqJCbfbSmr1xhLdfMeGpPYoumQK+7aV/E3vz9/LQ4ERt19NTNisu44jz4pkJ8Z7LEcDa2by4rpW5uMqQ8aScGuyopWEPa8E+qdfPMHqIz32dxA++SsQoqjsFnNebM2DMeDJFCdrHazi4Z6zfDSd4x0BE4zrFZpB/nyRwjaEx/xtxnY7VlSjiFM/YkfWeWyO5r/2aCxnxclBn5KWgd3txwA/fM7sOYeYLWVr1NLKRJqOsGPdSsFw03/y0k5+6D53fB7GnIxmWo/AyetEXrRbh80z08Qfwy5a/Fb1LpY+bxbyO5d+udjn20EaCOvNKvf5QwZzVvlv4EU0xuBii+fyRJwk2KX+Wj6u1L4Os2z/jKflL/by6V2j+xBGtJmXDcsR6tiyJ3dN5ItSdYbyC5qpqg1MHSRIXku1P9TZ6DC4tJpMFAETGDAKu3GRjKVQD6s+VQNFNyJwFytn1Eu6O3qvRVLgAAqIXy4lLBFlHEhERc7dC6k6H9ETy0NhnR21KLzqwHHtloWdjJ1IAUVWMoo9I63dm7cH27gp9azWigMmXc1cYI8p0qte/QAi6ayEjh4+xzKWd7sdSbDzXPn/yMgbNDvYyV0yFkrxTqjbyB6PpDHwPbXz2dRdFjmoqz05iIu03d5eaCsajEF6PX92ZLYOXzolEDnCyvfvDUMptCtfJd5dD9dtO9OXo3SINFatqE6sbghx7dlmFX9Y91QPIsn79p0NpT+Wk0GPcnozMGlUl9YpQlSyOip37zsLfRybrCa9HGuVeya5UO8TPCjitm0bfctFKSYhDhIeWrxXoUgUxFzRd2ZuD/dXHufl/9lo+O/c+TlwXKoBRV9qHtwwX0ESi/JR5sXE/Z9urqXbuP8V2j3Rrr9pjpQpc2CUqacQVfOF7uYggWJDAZMzBt011WfpSHtefKQmM7hhFvyWimv+7sLxdkML+hIFelcwSzlDraZwwuD6DJZ3e9/twY0BV3qEEt+biYORaOeoIlKrRMYu6KR+Nc6BoMNLbjf64INFWxN0YI4xfEUcK+AeDCmGBNP/YDcWybi7XEKSZ42EsDsqtWVFork5NSuQNV1KjGxx9z6sbzhqMD+iDbMjYUZdYkHfP2DwXx2gEPkRFP4+jgIeV+jLxS8ZUzU8+g692yla/s2FjGKzKG4R0BOXryMw+rquclA3/o3r3QI85kQwkHHQl4OaRdnNre4YoR3K8ytHCV+44poDSGKUFpSqhdQRpuJKK0RDyQLPnKpiKe9shINsPsDv96lSmU8ivVVmfTYAvCaer7f8l5oC/LYfieuGnkx+kDzqj8NYHmIxATdSuIm0MNVqs5sx1/hkQq2KSIFbSeXNfgW0V87j9vxAN5ExsAa+8/Y8w+i0kZhn6DEMIF+HsjERpBaBLlG2ZueAko2usvxFyXuWUQpjXnUViSJMqAf0YOg+mDG7eyy6hq8r9tQ2TnMWPmkG5Qfi72oWm+QwyVFAjBKu2LxtiLuGwVR74Co9rRD3cBOiOQfM2HltrhIft8LwAaG0IadxUOFCPQ/XRlyyO8brMSWJLwIsBGsMaF5cBoF2YOp8s3gNwxhZUh753ESsyEF9BAW+Q0q8hcUE6ts0K3HNMFuNheV+vF+tFqKuIWnxSpmUR2CPqiufIN5Lk7bKhUjFw+UXARTSUOYLx8wgg9jbDS7oDMLcIVUstvykOsMLNEFX/Fu3e+uIj7XKls2myPrrot3a7vjflieCNVR5lKyyv22p0eCTPza5+4HpMRfTUoR5I4S6U/+LMAdedb5+EQx3Do1+zWhw0g1/Jua5gjAoW919nFHzB0akyB9XJ3wgNxvLTYc6RTGje25VgxPOnHoZ81xX+GwJ8E8WmmBF9Gvw4HmcTaxyKKDZfAdCVTGrnurRbYVTG1amm5+ErqFpX1b6Wks0jvUdotipPzR5uhPxDIjUg6R6+6k6NRiou4Yo9sVsKEgFfa1ui1JQbkUA7gzICFXfd3cOv10SMa7N2TdecdIE97vxMB4KkSxV5OquBveAteIkpmm8KXWoLBRsKubxMOmlq5jsbDt6urHXnFy0zYZXggLWV7TFh5axu0M32Bg/ZSk7w6Ht0ssSnJ9jkX9iJldYnVv8iXS8YLhbVxaioyMJQQFikzjuxBZqHJc0uUWoqXIClFB/WvK29FTCGEpGJeV4NPuG5RGUKjEIiBhozQrtCfgL+voKSs3wFrEmmexHUnIMyaKRmQOtl0+jp8UoN1362wz6ESqpLHcIw9VTOheHlPfx2a2VEJnnI9dYvLenRyKKodEoGGeo77r5YukWnmXq3/Kkl4N5qVpcTTChpo0u6VbqBKryiad2tRPbWrfCq+CWDQA6ZS2QNxRfsqMZTT14WmCygK27efxmtHc2fejQJBmlgrj4SHZ0vWS/c1Vh6Z27I9YeZmUGE0f7J7JMNbW7l91XgOT0eOwjR/UUMSqbj2MIEZZ1qbZRZMurFMiWq6P9jwhHjKc9R+xK19xgn5SI0WCGU4fwgERluB6FAQ7nY/3KYHnDNfKL4yb88MjJ75c18pA6hSkxQIWWUUXNSdnx6wWbu1crmPt6MsAuDzjShTJ3fSZznh/1XQjRniEvM9dIwVJBqVXBLjaCKF0fqlcYJomW81IovTG6vnrR44l7Xb6uBt7HXFwWPxHqlQ9Ns1PJqkizC8ZeWDGQFgSVchOSf9s8iBGAUn1iULx2gsaGGweaq5oJSuShOl8Pi4zO5J10fpsIJc3rMzPDExzQv3P8vFvzgOEx8atJrJ1GIF/N503uSXBidfXgqsnowQx/KRS6SYLyDhLAiTdININs9GvVnd7BV5ChKXRbgVLRcBwfmOUXFh+EgT3HkPrESE4OiiVYFYkgDVkK7+5DVcTi1blTuSueZUSQonV2dR6blyFkM0c4rG0Pr61WeJj07R4AwV5R2CJOyODUyoF9CzB6XzKzVv++4a8R5WyDMOv/hF0wvvgFUcaAqtfUKmnoRkXVNgVtVt0t2KecSQEA4s2Olg+no30fQ0MRtHmH/QEYod4XXi1140mDkhekLe7hU4KjDY6L2KdRIyyee8QNZZIq5Y/dY+FfmU5hq8IPVrpVEdahg3yNuWuQr23yi0wca1d2XxWj1visU2cVlD0YNqsNEH479tQh6DGyvsAEunAaMAXHuh6HRyhIZc0n2G0Gqv0kv2fVyCDYiGFEDqVREjGqNlds0UKCrpXULTbLgI3NnExcZvgcUmvp9E4ughSBddV8OOlYk1Uay9qyAPjFtH8+UpvyLA5zyfd0Ueyq46PhfKuCavNjbYoe8w28LkNCmIppmzk3ZYVJ7fOIYU7Tk7SNXzoIjLAclnz6zeQlRp5Vwl2LsCTzsiqhS5RAaSZy/odhJJytFZDIq6k4qfH6lBsy9vxx+pQ+fQsBeGswiJ0HiV+x3IRsgrWzu24d5pNsWhZTfFOGJQdolFmrxoOSJF3Q+2Je9Kzon59P5fOVhm33CSed6vSZL2YOPy5MM5dqY8IxXOyChfNPfMcuFT919d5rxyADywESKm+RhGP+BvxgDa2rxqUDGuri5AwH7LSdJymhWRfsuviciEKkXeUxq7H45Fy7BNgGhv7Ko6hV3Ch3PBmzlsD6ZhJIlXavlNl4NoLYJKZ8W9mHzEYIUDZw5a3NeQrf/xLzVO3Nle/dAHNMroGfyTcg9poHkz+3OZEZ9Qg4JF9KlOW9x74iEDnIfc6CGGtfwc84hwcMsisokFpkPg6MOltVqh1Thy/jF+1YMpLbOukmxtjkZiawZ+8xQ53coX2vs66yg2DJdGnMTBIp3juvTxzGSAP6Pph/d5OYo43gNU0dIdy2SRAv5b5u5Yxy9rA1sLVr7CvkXCtVs+ggfmv19cfPLAarr7GfBjtTqDtJ+NIS3aXdSXK2B19PoIwI7MJSFMJuNMX7/E1t6LWMEgVSHviz0h855oTVLfBk3hmO+ZT8ZirzYTF28JwCG5wxtH5sc+lZV2pqBgKanwzefF7sI59ljjjwCZoN1SQ1v0Hd7RMzsIvjGDxsjHsbFMmyrIAd57rREGk6IZi3kLhythfCf9WN9L2klj/zIBvfEQv6I5nrnr5oMPJpjWZBI9YsXflKsWcz6+yS7BRIj8sI5c1L8hflb8AqSVp5wQz8wxF+Deyh/9+vw2su2SHFvgX/rqrRhvdkkky3TePAHEiI9ClSrkRdlI/SK4EG5S85Cnl1zKdeJ164bxFPjdcJzZF9i6+i7isquui66ocgasguXt8HFn6v/H/DOdUP/miubkrbirms3l9cj3GFSyQqKdZ0QNwvpn0xqXwHEanjiq4dbSHExVIKWeeI+nyBpk1CcKzrI1OXiDfF5EbE+S71fiwCeigo9JjSVAfVi168O27tLJeos/tXPY1X6A6WenbnJwiajY0fCoMojeTus7z70j1A5fMlryRScZz9QBD/QLMjsfsE7D+97JaQRgTXRIpSC6T+X4Ae1EjH+/tD/IvDSScvSibAyBmVf6UT9JJotbDVMGNCtuJtcKBhtq3ftEpHDaGwHD7kwbrRbUa2Vk46DEhe/1lEx4QXE+o0Ekm8G9hxU5k7P7VmH4XvCMWJlayjGBSABQdwskwJ+slmZTCLmMxS1QEK74Znea4nyuhdMzNKG8pV0DENc+npqEOShZdTSPVzxqMloofRCnTOcFOBoOXvguMP70sdh/p6ei67g3yq56QMf/Wknh9BSgB6OWWS/b10YK9nL7n/WG02WEyzou31fxX+DTNjuXMPPIFDtorCHj+GYjoiyliIe1DnPORLr5UQ2wU70oUxQ0/3Q9fPsjxPPdxqWf/1e42v+RfOdOmUZSREVdZggqnU59pKqgObLMF3Y1VD6LjIwIOhPqPfMbJY5sgYlt4jxczRLq1Kp6sXmOTH058vL69NMUDhgZusMOqptiqKiaWsufFVBfN17Gt0F2sh5j7BGstUtPH7wrIo2lIilOh3eXkb8vKpWvpqDTFNxOnGNgnNW3QyEn8pX/TDkqdfYJkloO11wwsxY315m7aidVC9ioUztrKDxMJUzYek5Juyiq13D2UFDQtlYRCGkF7w5pJMgb2vlUVp614Wu7a+3rxmB7PUVEAGuVQ0MFxAENXvtuefvbwM3V0J2AarjrnbHp0DyPBybVYlqMubf8OPRMdZGkslfWYsvnvYTB6CsjjeJ081g3yZkoJu15MFxos1qmNQrwTUtedmlm6cpm4zdnD+JndJ8tWhmGGFrQiDkGgSwrt6NZREQFZXQOJ+IwEPmTM+wFUpDmad6i+jjAdW7P1uBafDMujLch8Dr2mS6/jjCT2o00OXZkjcRbGCjq61IGI0Upm9iR5WlPDj7pmDnvONC5HUSDCG1sS4GMEjeiR6fhnOhVTzo45NPYup0Zb0DnN6OvMTZ6shJpqRyiVDqcUN0phfVm62sloJyPXLbccPP9Fnwhz/g34ryJHiJfDxtxeyx7XzAP8r78MqOWBt0Zqa+hWrtKeuqC/FD2uPqFpsOPxikJn9LjRoaMeqEzdeysEEaVRHsBXIuobTVvtjUvQ1xpf+DwR8f5QVG/+zzGV8lyqjny0eP805nM/p/HuQw+sDyAFmQ0MBjBwW6nJrMg93Oe3xODU/GxFyVgsVt01ME48Ufw/fUDKNWdZ/0TWEfhyJLSXsHSjF3+oWWV5Oh5nyRyrxfW6s/U5EnFTFog5QghqInTiYmkIN0CBmYXOKH02gqkTg1jnIvQGj4zlnY2D6tG8N910/O4uw4ECeNvDX7RJphxHgMqAU0ogBVWVx4426FVLllLJ17eFx1218w5i2zs/uIklFAUrJ5jFwi145ZxO/Afx+Kvp+/FIbmxv7E8ovYu4Sz1YsvcLqCR6vzS6rmKC81sBMc1+YrwT8Hk8tZdIEQOv4YcEOP0oNAv593peu5xGW4jEIIEDwkDHgmf3Kj3E4iHbfZHyfNVYJhPSwyF33/34Oeg1WiBPy9jwYI89Uc92LArp6Ir0obWSEsIya0GjM6qQIupRuCSCATZ47gXFolAhQ0tCuvQwqxrLQEOlf6vuWL1jik37SVEyKJ+ofNPT3V9KLEQQHh3/IAo1xAw1S32jhI3lF21ldaIi++nvNJ68/f2zsey1Mchb91ofwqtVKOLGDvKgHymqsaY2TXkXyoGw7Mlp/S3nxSwHs/U8KKjywHA2skiJ+F2tJdIpLGvvJ067SE1wfdKXAYQSF4zbMIOCCB1ZeL4gXokzp9p9WZ4i5eUANBD9Ca5Li4lMux9X+RZyFAtzq+hzWvESdqov5JZDTFl6e3HjGplRSNvKaLhw8/viV8RlTb4GP9dZmmWizORzCIU/q21Toys0YCYqNivVICyy091H3xFMHJOMQw1KfezpuwGBcUwvo7DSRzo4+pTEUVXYyb3NDeSUuqqN5X2wE05BgQ4Ij2dmDHxYizhn9E6Wi4ow6sE0qm5e7/gqX0Yk3EVFQgd50376tImPLgFy6XY/qV0Zp/YOuPTRyjyXIeS4D3bFqK/6XvAdNzqIBoLOQWmDbA0e2h3iupkJKSX1vSAEQTShHs3ubDNcNOTByKelW0RwgjozjqaxeGsbkku1mvXyfAOV30cZY8IXoujJeU+6YYugmuIofOO5TpL4xtSTEIu5CDto2kNZg7Gq2+VXAODhuYQI/F1aPwrJMZjDHeI8fRdIBxJee3PDEOePEJWIwC5eMgKH3CmxnaLZ1dJEbVDRN471DsPBWiKaRUN+a90t3buHRf5CMYcXvt7i2oGm92oOQrkDjVLmJGRgpuDZ6RLVAoHDzYnjiOGvg6mFpnxsXWiCHCpgkHmW3VoEejzEnf4ZzzStVyVYY3Zq2vTl4fgT798GDxbR2dNqkxQD1+hsuNRBskMFGkJfNB50uNKeu+U/BNPFUqCaUrAp8M22drSFY+crLi7TWi0vXfrCEUNqWAbHwbsa7Zfcl9lkUq4Lyr2S5yedOdl23TZg1Khosi3/9POgri11KQLo6DAizvRkFYv+J+6rwqO2T5rqs85qaYBbVvhKqWmhlwt63/HsauY7GGcvW5TTKkNqZ04kCu4vPmXNYDFZ3TvVx2Q7e6sUJXTprSEjMrlI5LFV2axegDP0DM2pibg2r0ShGKjnfZCoxHIKkRlxDPAC28ouMdhKTNAWVRTH9+1U+wRdcT9+j5YsZPN2Hw4syW3B0MLcR/d68Z2HIyDEYwuEBGQm00RXmhA2PjvHiPCIk3RM4aFVnrB2Rsf/HnGUOBXXIDgDJEH/wNVkiG2HzUOA8jM2HdMUsXQK2CdF5Py0DcnjOxIK9rcdP/xQsqWhbweUQpJw9c4KQbKdgW8qXE5zX/Fxz1GHK8+j9yPo+uL9hVLgEV6f13Prcb42aUHm3ju8Q6FkJ1OmUAiyW2J5DdFuserwDyqUrPCJwiKujuYpD2QLHAv8o6A+gfr2Yc6ZPWCNrpKNYM3CHrXVWVSff04TuNOY8QfncG4BkR6VfLu8rzPwHnESrbe6QlTe7wDBv6N0oa81GxqtOX96QCXOPpS2SJxElz+o/R7WfH5Pr9q/XtVYdKCX63YKhnXvIyRbiHCAc6Qs5s1xLU0ji5QIteMatZoA/PG5rSwD2vZ44JQxurp7bqQOn2oJEWO236goqMjshSaI87+sDMf8ekcnuh0kxRx53Yj0iiBn98sjw415S0nyeD8CRxZt0OXoK0AjUic38sy8bAtKSQZqsHoQc6S8EWw2BZIkk+f54ejq+dHtg8CJtXlH/DjCkprKIrEsQboWsreW3U3FQaDPmqiiIbnYTZMIa6lTuYb5T6qbS8EBMDbWwUc6ltbjUK78ZjesRE3fpe/J1cNw3dxvX4qNO1g1ncNBbOP3hYwXp51AE4hojtZMPiKYcenjw4U2XcP1q4Nx9xkI3iMbUcsuQhJJ6Y/x+kZuTeYQD+cS9eWkj8gnv5UAMhWtDNg97HpH4PXSQxTh7phvSDR/1oyPL2h3u7IEbEgwiWr3eeTZoSREDucq6926oukNQaCr1sXqnQ3euwL5wpfLU4vUnLwNDpb/TYuOnYlMLFS//v0oflpIugCgpYWx/gMUxcdAup0X3tYNHJPngVanZG92QgfMe5ThADQWDCYkv+8b2QuJjJ1VsJY1vGJUsSoEcAXqTQpDCpOdCUDSgNVnCQx3uHlzBxiYtoeiG5rdWccOfphZBgsFheiTpdBGxVbowUHR2K1hzUCtGXGiAWC7nwj7rxPlA+o+8FMnYtpMzxafW005NMTYZs/aaqutqo+yFCsNy4YP6mwJrxScUew4YPEj10VdYeTpKTTszl2p76AP9IiWiOBXEwEdC02ox+53SaeZYHL53LCiBsMkQklHs82xfSqrI9j7DjYfoT60MSV+BW/E5qwqzJV8F9ZsCrk/olW0VCFoQu9vuC8XWVNxVtKkqWIp32/qezamwEiHwv/ZIaimKzGPkiUFI78CtApeksSoHyhWimwmqXjN66HWi62czQuDtuk1n7IoE9AJRnIXO+zcQZ8rq">
            <a:extLst>
              <a:ext uri="{FF2B5EF4-FFF2-40B4-BE49-F238E27FC236}">
                <a16:creationId xmlns:a16="http://schemas.microsoft.com/office/drawing/2014/main" id="{3DDBAB3B-B6E4-E1A2-5AC1-E81BF6B928D2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gray">
          <a:xfrm>
            <a:off x="344489" y="1500388"/>
            <a:ext cx="7498024" cy="4221661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87976E-F0D7-755D-42FB-7C7B9F2B8C4B}"/>
              </a:ext>
            </a:extLst>
          </p:cNvPr>
          <p:cNvSpPr txBox="1"/>
          <p:nvPr/>
        </p:nvSpPr>
        <p:spPr bwMode="gray">
          <a:xfrm>
            <a:off x="4253397" y="5466817"/>
            <a:ext cx="1513832" cy="195814"/>
          </a:xfrm>
          <a:prstGeom prst="rect">
            <a:avLst/>
          </a:prstGeom>
          <a:solidFill>
            <a:srgbClr val="FFFFFF"/>
          </a:solidFill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800" i="1">
                <a:solidFill>
                  <a:srgbClr val="858585"/>
                </a:solidFill>
              </a:rPr>
              <a:t>In scope of the other programs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B36320-ACE5-02DA-3CA3-AE000C683758}"/>
              </a:ext>
            </a:extLst>
          </p:cNvPr>
          <p:cNvSpPr/>
          <p:nvPr/>
        </p:nvSpPr>
        <p:spPr bwMode="gray">
          <a:xfrm>
            <a:off x="4333582" y="4039549"/>
            <a:ext cx="1362648" cy="1412017"/>
          </a:xfrm>
          <a:prstGeom prst="rect">
            <a:avLst/>
          </a:prstGeom>
          <a:noFill/>
          <a:ln w="9525" cap="flat" cmpd="sng" algn="ctr">
            <a:solidFill>
              <a:srgbClr val="D6D6D6"/>
            </a:solidFill>
            <a:prstDash val="dash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err="1">
              <a:solidFill>
                <a:srgbClr val="000000"/>
              </a:solidFill>
            </a:endParaRPr>
          </a:p>
        </p:txBody>
      </p:sp>
      <p:sp>
        <p:nvSpPr>
          <p:cNvPr id="5" name="btfpNumberBubble538603">
            <a:extLst>
              <a:ext uri="{FF2B5EF4-FFF2-40B4-BE49-F238E27FC236}">
                <a16:creationId xmlns:a16="http://schemas.microsoft.com/office/drawing/2014/main" id="{2F6C4252-5EBB-01CC-3AE5-1B05714ABD19}"/>
              </a:ext>
            </a:extLst>
          </p:cNvPr>
          <p:cNvSpPr/>
          <p:nvPr/>
        </p:nvSpPr>
        <p:spPr bwMode="gray">
          <a:xfrm>
            <a:off x="1647447" y="2934148"/>
            <a:ext cx="262396" cy="2623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b="1">
                <a:solidFill>
                  <a:srgbClr val="CC0000"/>
                </a:solidFill>
              </a:rPr>
              <a:t>1</a:t>
            </a:r>
          </a:p>
        </p:txBody>
      </p:sp>
      <p:sp>
        <p:nvSpPr>
          <p:cNvPr id="6" name="btfpNumberBubble538603">
            <a:extLst>
              <a:ext uri="{FF2B5EF4-FFF2-40B4-BE49-F238E27FC236}">
                <a16:creationId xmlns:a16="http://schemas.microsoft.com/office/drawing/2014/main" id="{48F9D99E-748E-4417-9339-922C9DBC4EF6}"/>
              </a:ext>
            </a:extLst>
          </p:cNvPr>
          <p:cNvSpPr/>
          <p:nvPr/>
        </p:nvSpPr>
        <p:spPr bwMode="gray">
          <a:xfrm>
            <a:off x="2343796" y="3503104"/>
            <a:ext cx="262396" cy="2623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b="1">
                <a:solidFill>
                  <a:srgbClr val="CC0000"/>
                </a:solidFill>
              </a:rPr>
              <a:t>2</a:t>
            </a:r>
          </a:p>
        </p:txBody>
      </p:sp>
      <p:sp>
        <p:nvSpPr>
          <p:cNvPr id="7" name="btfpNumberBubble538603">
            <a:extLst>
              <a:ext uri="{FF2B5EF4-FFF2-40B4-BE49-F238E27FC236}">
                <a16:creationId xmlns:a16="http://schemas.microsoft.com/office/drawing/2014/main" id="{7AB871A1-FD0D-63C3-3E01-FDCF84A84498}"/>
              </a:ext>
            </a:extLst>
          </p:cNvPr>
          <p:cNvSpPr/>
          <p:nvPr/>
        </p:nvSpPr>
        <p:spPr bwMode="gray">
          <a:xfrm>
            <a:off x="3066164" y="3638770"/>
            <a:ext cx="262396" cy="2623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b="1">
                <a:solidFill>
                  <a:srgbClr val="CC0000"/>
                </a:solidFill>
              </a:rPr>
              <a:t>3</a:t>
            </a:r>
          </a:p>
        </p:txBody>
      </p:sp>
      <p:sp>
        <p:nvSpPr>
          <p:cNvPr id="8" name="btfpNumberBubble538603">
            <a:extLst>
              <a:ext uri="{FF2B5EF4-FFF2-40B4-BE49-F238E27FC236}">
                <a16:creationId xmlns:a16="http://schemas.microsoft.com/office/drawing/2014/main" id="{658D0CCF-16E5-DE8E-1246-D3B065191597}"/>
              </a:ext>
            </a:extLst>
          </p:cNvPr>
          <p:cNvSpPr/>
          <p:nvPr/>
        </p:nvSpPr>
        <p:spPr bwMode="gray">
          <a:xfrm>
            <a:off x="3782475" y="3797227"/>
            <a:ext cx="262396" cy="2623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b="1">
                <a:solidFill>
                  <a:srgbClr val="CC0000"/>
                </a:solidFill>
              </a:rPr>
              <a:t>4</a:t>
            </a:r>
          </a:p>
        </p:txBody>
      </p:sp>
      <p:sp>
        <p:nvSpPr>
          <p:cNvPr id="56" name="btfpNotesBox112363">
            <a:extLst>
              <a:ext uri="{FF2B5EF4-FFF2-40B4-BE49-F238E27FC236}">
                <a16:creationId xmlns:a16="http://schemas.microsoft.com/office/drawing/2014/main" id="{4E3B5DD6-EAC5-0B4D-85B3-7A6C289A72F2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gray">
          <a:xfrm>
            <a:off x="330199" y="6319679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1. Selling costs include services, compensation, leases, rentals, fees, institutional costs, commercials costs etc.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KHI financials, Bain Analysis</a:t>
            </a:r>
          </a:p>
        </p:txBody>
      </p:sp>
      <p:sp>
        <p:nvSpPr>
          <p:cNvPr id="10" name="btfpBulletedList976876">
            <a:extLst>
              <a:ext uri="{FF2B5EF4-FFF2-40B4-BE49-F238E27FC236}">
                <a16:creationId xmlns:a16="http://schemas.microsoft.com/office/drawing/2014/main" id="{18BDEF48-E8A8-1720-06B6-9559BD1DCAD3}"/>
              </a:ext>
            </a:extLst>
          </p:cNvPr>
          <p:cNvSpPr txBox="1"/>
          <p:nvPr/>
        </p:nvSpPr>
        <p:spPr bwMode="gray">
          <a:xfrm>
            <a:off x="8488207" y="2083094"/>
            <a:ext cx="2397129" cy="391991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1400" b="1"/>
              <a:t>Procurement</a:t>
            </a:r>
          </a:p>
          <a:p>
            <a:pPr lvl="1"/>
            <a:r>
              <a:rPr lang="en-US" sz="1200"/>
              <a:t>Spend optimization for raw materials, packaging, consumables, and logistics</a:t>
            </a:r>
          </a:p>
          <a:p>
            <a:r>
              <a:rPr lang="en-US" sz="1400" b="1"/>
              <a:t>Manufacturing</a:t>
            </a:r>
          </a:p>
          <a:p>
            <a:pPr lvl="1"/>
            <a:r>
              <a:rPr lang="en-US" sz="1200"/>
              <a:t>Factory efficiency uplift, process optimization, etc.</a:t>
            </a:r>
          </a:p>
          <a:p>
            <a:r>
              <a:rPr lang="en-US" sz="1400" b="1"/>
              <a:t>Distribution</a:t>
            </a:r>
          </a:p>
          <a:p>
            <a:pPr lvl="1"/>
            <a:r>
              <a:rPr lang="en-US" sz="1200"/>
              <a:t>Footprint optimization, route efficiency improvement, etc.</a:t>
            </a:r>
          </a:p>
          <a:p>
            <a:r>
              <a:rPr lang="en-US" sz="1400" b="1"/>
              <a:t>G&amp;A</a:t>
            </a:r>
          </a:p>
          <a:p>
            <a:pPr lvl="1"/>
            <a:r>
              <a:rPr lang="en-US" sz="1200"/>
              <a:t>Workforce and process optimization, centralization, outsourcing, automation, etc.</a:t>
            </a:r>
          </a:p>
          <a:p>
            <a:endParaRPr lang="en-US" sz="1400"/>
          </a:p>
        </p:txBody>
      </p:sp>
      <p:sp>
        <p:nvSpPr>
          <p:cNvPr id="26" name="btfpNumberBubble538603">
            <a:extLst>
              <a:ext uri="{FF2B5EF4-FFF2-40B4-BE49-F238E27FC236}">
                <a16:creationId xmlns:a16="http://schemas.microsoft.com/office/drawing/2014/main" id="{1BC1CE22-CAB0-D900-EA29-EB4054A83FE7}"/>
              </a:ext>
            </a:extLst>
          </p:cNvPr>
          <p:cNvSpPr/>
          <p:nvPr/>
        </p:nvSpPr>
        <p:spPr bwMode="gray">
          <a:xfrm>
            <a:off x="8396600" y="2108005"/>
            <a:ext cx="262396" cy="2623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b="1">
                <a:solidFill>
                  <a:srgbClr val="CC0000"/>
                </a:solidFill>
              </a:rPr>
              <a:t>1</a:t>
            </a:r>
          </a:p>
        </p:txBody>
      </p:sp>
      <p:sp>
        <p:nvSpPr>
          <p:cNvPr id="27" name="btfpNumberBubble538603">
            <a:extLst>
              <a:ext uri="{FF2B5EF4-FFF2-40B4-BE49-F238E27FC236}">
                <a16:creationId xmlns:a16="http://schemas.microsoft.com/office/drawing/2014/main" id="{A05CBF3F-CCA8-B7AA-A87D-6AA1B4EE0EEA}"/>
              </a:ext>
            </a:extLst>
          </p:cNvPr>
          <p:cNvSpPr/>
          <p:nvPr/>
        </p:nvSpPr>
        <p:spPr bwMode="gray">
          <a:xfrm>
            <a:off x="8396600" y="3099569"/>
            <a:ext cx="262396" cy="2623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b="1">
                <a:solidFill>
                  <a:srgbClr val="CC0000"/>
                </a:solidFill>
              </a:rPr>
              <a:t>2</a:t>
            </a:r>
          </a:p>
        </p:txBody>
      </p:sp>
      <p:sp>
        <p:nvSpPr>
          <p:cNvPr id="28" name="btfpNumberBubble538603">
            <a:extLst>
              <a:ext uri="{FF2B5EF4-FFF2-40B4-BE49-F238E27FC236}">
                <a16:creationId xmlns:a16="http://schemas.microsoft.com/office/drawing/2014/main" id="{6A9332EF-54DC-62C9-AA33-5CD56BC8A317}"/>
              </a:ext>
            </a:extLst>
          </p:cNvPr>
          <p:cNvSpPr/>
          <p:nvPr/>
        </p:nvSpPr>
        <p:spPr bwMode="gray">
          <a:xfrm>
            <a:off x="8396600" y="3892903"/>
            <a:ext cx="262396" cy="2623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b="1">
                <a:solidFill>
                  <a:srgbClr val="CC0000"/>
                </a:solidFill>
              </a:rPr>
              <a:t>3</a:t>
            </a:r>
          </a:p>
        </p:txBody>
      </p:sp>
      <p:sp>
        <p:nvSpPr>
          <p:cNvPr id="29" name="btfpNumberBubble538603">
            <a:extLst>
              <a:ext uri="{FF2B5EF4-FFF2-40B4-BE49-F238E27FC236}">
                <a16:creationId xmlns:a16="http://schemas.microsoft.com/office/drawing/2014/main" id="{E02D10FC-46D6-53D0-B226-B8C4FB7E5A66}"/>
              </a:ext>
            </a:extLst>
          </p:cNvPr>
          <p:cNvSpPr/>
          <p:nvPr/>
        </p:nvSpPr>
        <p:spPr bwMode="gray">
          <a:xfrm>
            <a:off x="8396600" y="4710017"/>
            <a:ext cx="262396" cy="2623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b="1">
                <a:solidFill>
                  <a:srgbClr val="CC0000"/>
                </a:solidFill>
              </a:rPr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E49F43-A962-B881-B534-16EAB4F05BD6}"/>
              </a:ext>
            </a:extLst>
          </p:cNvPr>
          <p:cNvSpPr txBox="1"/>
          <p:nvPr/>
        </p:nvSpPr>
        <p:spPr bwMode="gray">
          <a:xfrm>
            <a:off x="11020508" y="2105181"/>
            <a:ext cx="836530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CC0000"/>
                </a:solidFill>
              </a:rPr>
              <a:t>~5-7%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8CFDF6-3DCA-C973-4409-8CCEE3FD4592}"/>
              </a:ext>
            </a:extLst>
          </p:cNvPr>
          <p:cNvSpPr txBox="1"/>
          <p:nvPr/>
        </p:nvSpPr>
        <p:spPr bwMode="gray">
          <a:xfrm>
            <a:off x="11020508" y="3086693"/>
            <a:ext cx="836530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CC0000"/>
                </a:solidFill>
              </a:rPr>
              <a:t>~3-5%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71557A-4100-9D1A-4F32-80D14EC96C60}"/>
              </a:ext>
            </a:extLst>
          </p:cNvPr>
          <p:cNvSpPr txBox="1"/>
          <p:nvPr/>
        </p:nvSpPr>
        <p:spPr bwMode="gray">
          <a:xfrm>
            <a:off x="11020508" y="3888480"/>
            <a:ext cx="836530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CC0000"/>
                </a:solidFill>
              </a:rPr>
              <a:t>~10-12%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0DE859-4DEC-3918-404E-5F787F2152E9}"/>
              </a:ext>
            </a:extLst>
          </p:cNvPr>
          <p:cNvSpPr txBox="1"/>
          <p:nvPr/>
        </p:nvSpPr>
        <p:spPr bwMode="gray">
          <a:xfrm>
            <a:off x="11020508" y="4690562"/>
            <a:ext cx="836530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CC0000"/>
                </a:solidFill>
              </a:rPr>
              <a:t>~8-10%</a:t>
            </a:r>
          </a:p>
        </p:txBody>
      </p:sp>
      <p:sp>
        <p:nvSpPr>
          <p:cNvPr id="41" name="btfpSequenceArrow475215">
            <a:extLst>
              <a:ext uri="{FF2B5EF4-FFF2-40B4-BE49-F238E27FC236}">
                <a16:creationId xmlns:a16="http://schemas.microsoft.com/office/drawing/2014/main" id="{89DA500C-4FEC-2649-1066-A869E42FEEF3}"/>
              </a:ext>
            </a:extLst>
          </p:cNvPr>
          <p:cNvSpPr/>
          <p:nvPr/>
        </p:nvSpPr>
        <p:spPr bwMode="gray">
          <a:xfrm rot="5400000">
            <a:off x="9993921" y="5318408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CC0000"/>
          </a:solidFill>
          <a:ln w="9525" cap="flat">
            <a:solidFill>
              <a:srgbClr val="CC0000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0"/>
              </a:lnSpc>
            </a:pPr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CF3AB7-C31B-E00C-F5B0-E5140115E51B}"/>
              </a:ext>
            </a:extLst>
          </p:cNvPr>
          <p:cNvSpPr txBox="1"/>
          <p:nvPr/>
        </p:nvSpPr>
        <p:spPr bwMode="gray">
          <a:xfrm>
            <a:off x="8204359" y="5965211"/>
            <a:ext cx="3826616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rgbClr val="CC0000"/>
                </a:solidFill>
              </a:rPr>
              <a:t>~4-5pp EBIT improvement potential</a:t>
            </a:r>
            <a:br>
              <a:rPr lang="en-US" b="1">
                <a:solidFill>
                  <a:srgbClr val="CC0000"/>
                </a:solidFill>
              </a:rPr>
            </a:br>
            <a:r>
              <a:rPr lang="en-US" b="1">
                <a:solidFill>
                  <a:srgbClr val="CC0000"/>
                </a:solidFill>
              </a:rPr>
              <a:t>(~USD 15-20M in annual savings)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A5E96DC-2834-5F12-CF0C-68C1BB72655E}"/>
              </a:ext>
            </a:extLst>
          </p:cNvPr>
          <p:cNvSpPr txBox="1"/>
          <p:nvPr/>
        </p:nvSpPr>
        <p:spPr bwMode="gray">
          <a:xfrm>
            <a:off x="10742141" y="1712829"/>
            <a:ext cx="1177035" cy="3804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1000" i="1"/>
              <a:t>Potential upside </a:t>
            </a:r>
            <a:br>
              <a:rPr lang="en-US" sz="1000" i="1"/>
            </a:br>
            <a:r>
              <a:rPr lang="en-US" sz="1000" i="1"/>
              <a:t>(% of cost base)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AB95C5-5026-37D9-A3AE-DA30912EE432}"/>
              </a:ext>
            </a:extLst>
          </p:cNvPr>
          <p:cNvSpPr/>
          <p:nvPr/>
        </p:nvSpPr>
        <p:spPr bwMode="gray">
          <a:xfrm>
            <a:off x="12357100" y="101600"/>
            <a:ext cx="1454150" cy="5651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1600">
                <a:solidFill>
                  <a:schemeClr val="tx1"/>
                </a:solidFill>
              </a:rPr>
              <a:t>Sameer</a:t>
            </a:r>
          </a:p>
        </p:txBody>
      </p:sp>
      <p:sp>
        <p:nvSpPr>
          <p:cNvPr id="4" name="CommentBox">
            <a:extLst>
              <a:ext uri="{FF2B5EF4-FFF2-40B4-BE49-F238E27FC236}">
                <a16:creationId xmlns:a16="http://schemas.microsoft.com/office/drawing/2014/main" id="{6CAFE995-C957-CD88-99CF-87EA13C50775}"/>
              </a:ext>
            </a:extLst>
          </p:cNvPr>
          <p:cNvSpPr/>
          <p:nvPr/>
        </p:nvSpPr>
        <p:spPr bwMode="gray">
          <a:xfrm>
            <a:off x="10748867" y="93290"/>
            <a:ext cx="1387151" cy="771676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B03C6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900" b="1">
                <a:solidFill>
                  <a:srgbClr val="FFFFFF"/>
                </a:solidFill>
                <a:latin typeface="Arial" panose="020B0604020202020204" pitchFamily="34" charset="0"/>
              </a:rPr>
              <a:t>SBN: CPG / Food (Kraft Heinz)</a:t>
            </a:r>
          </a:p>
        </p:txBody>
      </p:sp>
      <p:sp>
        <p:nvSpPr>
          <p:cNvPr id="9" name="CommentBox">
            <a:extLst>
              <a:ext uri="{FF2B5EF4-FFF2-40B4-BE49-F238E27FC236}">
                <a16:creationId xmlns:a16="http://schemas.microsoft.com/office/drawing/2014/main" id="{69DAFCE5-4B95-08F3-DF2B-31F69ED4662B}"/>
              </a:ext>
            </a:extLst>
          </p:cNvPr>
          <p:cNvSpPr/>
          <p:nvPr/>
        </p:nvSpPr>
        <p:spPr bwMode="gray">
          <a:xfrm>
            <a:off x="1429093" y="4472951"/>
            <a:ext cx="4267137" cy="523631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B03C6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900" b="1">
                <a:solidFill>
                  <a:srgbClr val="FFFFFF"/>
                </a:solidFill>
                <a:latin typeface="Arial" panose="020B0604020202020204" pitchFamily="34" charset="0"/>
              </a:rPr>
              <a:t>These buckets procurement to marketing  would make up the cost bar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0126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btfpColumnIndicatorGroup2">
            <a:extLst>
              <a:ext uri="{FF2B5EF4-FFF2-40B4-BE49-F238E27FC236}">
                <a16:creationId xmlns:a16="http://schemas.microsoft.com/office/drawing/2014/main" id="{24E044FE-F5F4-2052-3AF6-27F575C65E00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57" name="btfpColumnGapBlocker868399">
              <a:extLst>
                <a:ext uri="{FF2B5EF4-FFF2-40B4-BE49-F238E27FC236}">
                  <a16:creationId xmlns:a16="http://schemas.microsoft.com/office/drawing/2014/main" id="{FF8CDBE7-C9A0-9D71-3405-11851D311615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GB" sz="1600" err="1">
                <a:solidFill>
                  <a:schemeClr val="tx1"/>
                </a:solidFill>
              </a:endParaRPr>
            </a:p>
          </p:txBody>
        </p:sp>
        <p:sp>
          <p:nvSpPr>
            <p:cNvPr id="155" name="btfpColumnGapBlocker456652">
              <a:extLst>
                <a:ext uri="{FF2B5EF4-FFF2-40B4-BE49-F238E27FC236}">
                  <a16:creationId xmlns:a16="http://schemas.microsoft.com/office/drawing/2014/main" id="{E7E4E569-0612-21D3-97FC-E4DAA376DFB8}"/>
                </a:ext>
              </a:extLst>
            </p:cNvPr>
            <p:cNvSpPr/>
            <p:nvPr/>
          </p:nvSpPr>
          <p:spPr bwMode="gray">
            <a:xfrm>
              <a:off x="7837752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GB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53" name="btfpColumnIndicator325240">
              <a:extLst>
                <a:ext uri="{FF2B5EF4-FFF2-40B4-BE49-F238E27FC236}">
                  <a16:creationId xmlns:a16="http://schemas.microsoft.com/office/drawing/2014/main" id="{16BD799E-3605-E8C5-4D09-002D91B7CBB8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btfpColumnIndicator980134">
              <a:extLst>
                <a:ext uri="{FF2B5EF4-FFF2-40B4-BE49-F238E27FC236}">
                  <a16:creationId xmlns:a16="http://schemas.microsoft.com/office/drawing/2014/main" id="{2FDC0D5A-EAC2-A19C-10F5-FC445B293705}"/>
                </a:ext>
              </a:extLst>
            </p:cNvPr>
            <p:cNvCxnSpPr/>
            <p:nvPr/>
          </p:nvCxnSpPr>
          <p:spPr bwMode="gray">
            <a:xfrm flipV="1">
              <a:off x="837829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btfpColumnGapBlocker391798">
              <a:extLst>
                <a:ext uri="{FF2B5EF4-FFF2-40B4-BE49-F238E27FC236}">
                  <a16:creationId xmlns:a16="http://schemas.microsoft.com/office/drawing/2014/main" id="{D31E7325-EA8D-4A6A-7A11-7E062F7BC476}"/>
                </a:ext>
              </a:extLst>
            </p:cNvPr>
            <p:cNvSpPr/>
            <p:nvPr/>
          </p:nvSpPr>
          <p:spPr bwMode="gray">
            <a:xfrm>
              <a:off x="381370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GB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47" name="btfpColumnIndicator381951">
              <a:extLst>
                <a:ext uri="{FF2B5EF4-FFF2-40B4-BE49-F238E27FC236}">
                  <a16:creationId xmlns:a16="http://schemas.microsoft.com/office/drawing/2014/main" id="{36BBA54C-F8FF-415E-47CD-850C378C3E43}"/>
                </a:ext>
              </a:extLst>
            </p:cNvPr>
            <p:cNvCxnSpPr/>
            <p:nvPr/>
          </p:nvCxnSpPr>
          <p:spPr bwMode="gray">
            <a:xfrm flipV="1">
              <a:off x="783775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btfpColumnIndicator600375">
              <a:extLst>
                <a:ext uri="{FF2B5EF4-FFF2-40B4-BE49-F238E27FC236}">
                  <a16:creationId xmlns:a16="http://schemas.microsoft.com/office/drawing/2014/main" id="{A15F80E3-5575-5D53-3247-8B1DAB99F665}"/>
                </a:ext>
              </a:extLst>
            </p:cNvPr>
            <p:cNvCxnSpPr/>
            <p:nvPr/>
          </p:nvCxnSpPr>
          <p:spPr bwMode="gray">
            <a:xfrm flipV="1">
              <a:off x="435424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btfpColumnGapBlocker843802">
              <a:extLst>
                <a:ext uri="{FF2B5EF4-FFF2-40B4-BE49-F238E27FC236}">
                  <a16:creationId xmlns:a16="http://schemas.microsoft.com/office/drawing/2014/main" id="{8BB7CCFC-9D40-D867-F56F-B6432ECA91D2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GB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41" name="btfpColumnIndicator588439">
              <a:extLst>
                <a:ext uri="{FF2B5EF4-FFF2-40B4-BE49-F238E27FC236}">
                  <a16:creationId xmlns:a16="http://schemas.microsoft.com/office/drawing/2014/main" id="{AF75CC2F-A2AE-76C6-BD24-477A1BEC8D09}"/>
                </a:ext>
              </a:extLst>
            </p:cNvPr>
            <p:cNvCxnSpPr/>
            <p:nvPr/>
          </p:nvCxnSpPr>
          <p:spPr bwMode="gray">
            <a:xfrm flipV="1">
              <a:off x="381370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btfpColumnIndicator384821">
              <a:extLst>
                <a:ext uri="{FF2B5EF4-FFF2-40B4-BE49-F238E27FC236}">
                  <a16:creationId xmlns:a16="http://schemas.microsoft.com/office/drawing/2014/main" id="{7383BA18-5335-33D9-77BD-1583A94A99B4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btfpColumnIndicatorGroup1">
            <a:extLst>
              <a:ext uri="{FF2B5EF4-FFF2-40B4-BE49-F238E27FC236}">
                <a16:creationId xmlns:a16="http://schemas.microsoft.com/office/drawing/2014/main" id="{47E46DD3-05F9-2A4A-62BB-26A4D2C8A5EC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56" name="btfpColumnGapBlocker456125">
              <a:extLst>
                <a:ext uri="{FF2B5EF4-FFF2-40B4-BE49-F238E27FC236}">
                  <a16:creationId xmlns:a16="http://schemas.microsoft.com/office/drawing/2014/main" id="{389B869F-6BF8-53C5-136D-B7C6033E8838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GB" sz="1600" err="1">
                <a:solidFill>
                  <a:schemeClr val="tx1"/>
                </a:solidFill>
              </a:endParaRPr>
            </a:p>
          </p:txBody>
        </p:sp>
        <p:sp>
          <p:nvSpPr>
            <p:cNvPr id="154" name="btfpColumnGapBlocker729591">
              <a:extLst>
                <a:ext uri="{FF2B5EF4-FFF2-40B4-BE49-F238E27FC236}">
                  <a16:creationId xmlns:a16="http://schemas.microsoft.com/office/drawing/2014/main" id="{3E213887-619D-0102-3540-B9CFD8BA1615}"/>
                </a:ext>
              </a:extLst>
            </p:cNvPr>
            <p:cNvSpPr/>
            <p:nvPr/>
          </p:nvSpPr>
          <p:spPr bwMode="gray">
            <a:xfrm>
              <a:off x="7837752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GB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52" name="btfpColumnIndicator795855">
              <a:extLst>
                <a:ext uri="{FF2B5EF4-FFF2-40B4-BE49-F238E27FC236}">
                  <a16:creationId xmlns:a16="http://schemas.microsoft.com/office/drawing/2014/main" id="{30996C98-DA9A-3BE4-D64E-08F9650C5B68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btfpColumnIndicator644892">
              <a:extLst>
                <a:ext uri="{FF2B5EF4-FFF2-40B4-BE49-F238E27FC236}">
                  <a16:creationId xmlns:a16="http://schemas.microsoft.com/office/drawing/2014/main" id="{01E24705-A756-E2F3-EDEC-B924DDFC7BBA}"/>
                </a:ext>
              </a:extLst>
            </p:cNvPr>
            <p:cNvCxnSpPr/>
            <p:nvPr/>
          </p:nvCxnSpPr>
          <p:spPr bwMode="gray">
            <a:xfrm flipV="1">
              <a:off x="837829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btfpColumnGapBlocker434390">
              <a:extLst>
                <a:ext uri="{FF2B5EF4-FFF2-40B4-BE49-F238E27FC236}">
                  <a16:creationId xmlns:a16="http://schemas.microsoft.com/office/drawing/2014/main" id="{A877E033-F05A-FF9D-E7CB-60B6825A1A16}"/>
                </a:ext>
              </a:extLst>
            </p:cNvPr>
            <p:cNvSpPr/>
            <p:nvPr/>
          </p:nvSpPr>
          <p:spPr bwMode="gray">
            <a:xfrm>
              <a:off x="381370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GB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46" name="btfpColumnIndicator247005">
              <a:extLst>
                <a:ext uri="{FF2B5EF4-FFF2-40B4-BE49-F238E27FC236}">
                  <a16:creationId xmlns:a16="http://schemas.microsoft.com/office/drawing/2014/main" id="{9AF1761A-78A0-FD7D-71BD-13FF08A30944}"/>
                </a:ext>
              </a:extLst>
            </p:cNvPr>
            <p:cNvCxnSpPr/>
            <p:nvPr/>
          </p:nvCxnSpPr>
          <p:spPr bwMode="gray">
            <a:xfrm flipV="1">
              <a:off x="783775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btfpColumnIndicator635213">
              <a:extLst>
                <a:ext uri="{FF2B5EF4-FFF2-40B4-BE49-F238E27FC236}">
                  <a16:creationId xmlns:a16="http://schemas.microsoft.com/office/drawing/2014/main" id="{5B024413-74BE-664B-78D7-F007884B3B39}"/>
                </a:ext>
              </a:extLst>
            </p:cNvPr>
            <p:cNvCxnSpPr/>
            <p:nvPr/>
          </p:nvCxnSpPr>
          <p:spPr bwMode="gray">
            <a:xfrm flipV="1">
              <a:off x="435424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btfpColumnGapBlocker182980">
              <a:extLst>
                <a:ext uri="{FF2B5EF4-FFF2-40B4-BE49-F238E27FC236}">
                  <a16:creationId xmlns:a16="http://schemas.microsoft.com/office/drawing/2014/main" id="{0CE8C14F-837D-D516-3C4D-B436A9DDF9F2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GB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40" name="btfpColumnIndicator646585">
              <a:extLst>
                <a:ext uri="{FF2B5EF4-FFF2-40B4-BE49-F238E27FC236}">
                  <a16:creationId xmlns:a16="http://schemas.microsoft.com/office/drawing/2014/main" id="{A1CE7F24-49DE-62C4-AED8-0B008C136B9A}"/>
                </a:ext>
              </a:extLst>
            </p:cNvPr>
            <p:cNvCxnSpPr/>
            <p:nvPr/>
          </p:nvCxnSpPr>
          <p:spPr bwMode="gray">
            <a:xfrm flipV="1">
              <a:off x="381370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btfpColumnIndicator495923">
              <a:extLst>
                <a:ext uri="{FF2B5EF4-FFF2-40B4-BE49-F238E27FC236}">
                  <a16:creationId xmlns:a16="http://schemas.microsoft.com/office/drawing/2014/main" id="{0A0769D3-2222-1AF8-3C6C-41B954D5ACB5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1" name="think-cell data - do not delete" hidden="1">
            <a:extLst>
              <a:ext uri="{FF2B5EF4-FFF2-40B4-BE49-F238E27FC236}">
                <a16:creationId xmlns:a16="http://schemas.microsoft.com/office/drawing/2014/main" id="{7B599B2B-1626-1EB5-A2A3-5730F3BEDD17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350" imgH="350" progId="TCLayout.ActiveDocument.1">
                  <p:embed/>
                </p:oleObj>
              </mc:Choice>
              <mc:Fallback>
                <p:oleObj name="think-cell Slide" r:id="rId16" imgW="350" imgH="350" progId="TCLayout.ActiveDocument.1">
                  <p:embed/>
                  <p:pic>
                    <p:nvPicPr>
                      <p:cNvPr id="8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B599B2B-1626-1EB5-A2A3-5730F3BEDD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BA2054B-AE5E-FF26-EA72-0983A707D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b="1"/>
              <a:t>Baseline: </a:t>
            </a:r>
            <a:r>
              <a:rPr lang="en-GB"/>
              <a:t>Based on PCG’s published information and industry benchmarks, we have estimated PCG’s cost structure</a:t>
            </a:r>
          </a:p>
        </p:txBody>
      </p:sp>
      <p:sp>
        <p:nvSpPr>
          <p:cNvPr id="24" name="Rectangle 23" descr="Enter Chart Description Here:&#10;&#10;End of Chart Description&#10;DO NOT ALTER TEXT BELOW THIS POINT! IF YOU DO YOUR CHART WILL NOT BE EDITABLE!&#10;mkkoexcel__~~~~~~~~~~False~~False~~Falsemkko__4HooU0THZk28POP9trq+pbTvvzd/gcV8t56cq85kb3NDTsUhojRA0EsgEHHMH7oYP1SYpn09ysXVivguJdhTvfyVMsBLTGvcX7WPTor/CmWiWcfk2RmY+GE6Q6T90sFUz2dD7pS103gZfJ6l4USC3jqtWOPR/ue0umjYEY9KlLthURXCUyUuZbmGDPUXB2idlVQc+R1c0j6vNnMaKvr/Akz+g5iWYuaBFJfv6YhbwyOL8jQ56r9lgzklq9vcKM0s1dVW/JmLcWHcwBGH+c0048rfYP9bAGXPD65uS/pWL7cckEKTyDOhBw41dlEVBpjIM3CIA29oG6CrE7FmVB4OXLLqqNnMZYsyOCubmzzLrUgtR+/td8cp4HUTlzz986CVsEV1ZKGth0wwoHv03Be1SOpS7BjGbfg9tZWTDbu8hNjyEDZ6aUARYQ0zlR2Ix98roN7KyNI/oaujigllbWVnXdZyyDqdjTogMyCAxjmVcKpnVHsZkTxeotwiTYHasMoJv26XekWUG0x/qIqBbCQOj9tgbTZFw6mi1vGyMkyzkg9WQHzjrnHsBVgQ6oy3JK1gOIkedhGgQKclTP1UMQpjsAeSdyKrDS2VyEz+f0um+JUFgT6WWKBjx0sJ0C02ZyXZITOcTKxLCRVX4Qg/N40Vci1FwaFWTrzdoQpd+cAJ/Gxzqfa7IZ2Wk67bllTCOrZk9m+NIXXwb3soeZlwY/eaeRSI9kaUuAq9XzlGA60KcWOCPajNZ6zoPFJd+DM+gj4K/UXDDoGUiwJktaMgZmE1RZ/dw0x6yNIcAGNYmaHi9R5IReYhXhKqi5zOHXAE8MptSs2ecvOSddzr1tPgYfxSjRaXHyg3Y1asBjtISfEXRjznepxwcLGdR6biR+77e8Nc1vscuY0PJtSigU48VLKcSfwht+TkhZODwQyJAUcHn4ITqh4KMheaLE/0r7KlTFwDE+eP6BN7tv4TXAbJDxOpyImyPGwHSap5NOo4q0mnxI7U71zAqI/wpLbKOiVG4vgGTSLlFSpQ+gSQbZ7kPRLbSfB5XuPDvbzLS5lnJ0KK6p/F3ED8pMeZPNlidd90QORG5YTCJhNxsI1Zv1ArGs8lByocWm4ak3L7XYszZkMdTfYE00jz2epVv96akw75HShpLqKsm3KmujIr/RF8tzv2Qm2WP9yDCY0IYH26qhbDkp4bG9BPjn2jjf3FEKq3brIWGBDkz1X8punH/WPgxrWsjmZ5CAcffzT2tLAiqlJ1oX7yzEX0AMCwzSLpkFIEm0k7Nr4YjB2dgIQx/OgaGjP5vl0JhMZA1zEcTrVhyW8VuMNjiXaNCTmncQkeiZYhn3ev9AVMezyAHrW66FhOG8Vxk4l3qYER0cAaibUyBqYsDpiHT6Fdarh6v3VFm51/asyig0tOu8GQRpFGbw3uenWbWFfxT+qRdhHdwIvO0TPOOCiGZ0yegVDYJfF/irnuGqCfqMPtL/bCxeifoShH9aBhUCajcxBb28kb925+UgI+u7aGOFJ8Jkz7Ij5DszHrTl/m8iPw/sWLdmNSTqwOSN24rZ06r9pQvVtPPOKl8jfaKPmrUZ79avRMZLdfVLNe2PvedNSLq5bry8RJCdOjXXVHLvsAb/L+2bMQbhtX3s6G60lcERP15tv9+EjAEUywwHInS1nvM5Ie6UZoZqnx2tuT+90r1J5ZUJsW6sdUAw2lRbRPcvO8LJLKHn6uL21YL7w7cvnZJgdMppr7uzE+LRdIvy1op6c2RZIvNWqqO5oB0HLQrjJRK/GUy2LpPYpx47Wake2sIO81F5c0SG90cZXSOoj/yokscRD+jHgKvN7IPHMilZAlqS4bTQl6u83HWajvlwcmiXYUIee7HjT/W22sc0KuXGdB/hoSTMx+O0oAe4AwNm+IyUdkg3oVzHE9Cvu+5McVhPZX8jfaY3AxSascgbtQcPwcEGQpjcitHEeR6o4mzLp3t1v0wEWcu/2RMO7zSJyt0zfjTENOqsQXcNRe11nziVq7C2ifRfJJ6Tx3AVwsUPp8HtolidmAHnM+it40excy2Rc03GUO5kf5RTpSHm8VbtR4zZXG7QAEcmmpwgjoaEAO+NrqSHhynDHCr1muwKfWHJ964jzl5Uy9nvRhjTJl87jWIdAVYSE6jKgQJnK7n06R80TCRHajpOtT/fIkRWDzoFDgNgDo3QkLlJ0eoCN138YzIsZKRMGLOh1xC+c/1f/owYbits8QB+Tu5gpb9oc+sWTdcyTXUqEq2OosdKHjHFcmi1/6j6bp7TT4xqAXkbKYVdZ4ILMLZDQ5bPBcP7JPRqGQIPkZWJwCD+tWGgZQpnj80KnGEyxJhtd7yX5PfNjwVHzzdoZ7EGsO9aXumA6cKWI4JQMG4mctz6tPf4CMx9TTdVV3sRDhFxffkefdPFXsJnfddzb8vnR1KOrWMbxquUlD4xjZ8qa5J7yezyjOmn12bMg7kEophEVRdcCoVUOa8F5NO0TyFZfVH+ImBcfWcjn2FwuG3u3QXOmkDDpcb/5QGe5UWXabYu5Q4YjIL14nyiv8fqILeoLesxYaML9X7DAZREvxolojLVsSgyIr2gDHJPybt660a/kQ/RiheBjOTwzExL4VxAR1FOUSz2iqZa32nWPLnEJeL2LRXjGTizRheJze/4VMiTCkbzx/OJpucwzgUjca91QUDxqJki4Rxle4kZcHllpCorfFkR1SBeUFfBXXqoKABbiGDaAgoQ+pzeVWZzvyYJnK3AsVWYXW3XIVBqCQdIIPt46vP/EQ/KOSpb4CBo+IYqDlOm6Y+wzpHiExANLQKguPnRxC6tvrtrRJYZDCrYaOsWpV0dhgInhYs+nZI6c3t9p0rlxyh7TVjhHb9Mu1NeGY3TSTj6+H7q/N434yTRtW9/Ta9zuRCTylGH9YK9veGLdGKqtF/vqzWwR7gAPNK6a9vgMcu1rApbt0Mlgrsh2YNdE1GZ1ZbTZ7gscQz+KpBnUTxo6M47G3y7eQJ16khiFjnTF2MLLgLRJmJAzGHWabnU7YmCoEo+AnozETnD8VT57RDyxKkS4lAQVeHKud7kreUP6uCGysc26mvfA833PY7Nvvaje9YFy1fUhSpzBpTJkf+JuW+eQ0njQxN+jxgK+NkdKzx4h5hmMAmhmCd4djw+x5H0zb6t2iAcI4hQsqoPLBjZgJCGgdh36IN/wR3oxHoxv3al6Q4GMqkXss8yQS/A35jeH4cq9MxBKRGqawtEmAcF0tyeiMLzT/0YgZzPvYqJn9pFcVvAvvpmqECL4egjpu5RCh6tAasN5/NqZx63Ma6wijvDk56NROvn50L1+6E59dZ83hMBgDSz/FyvMy6LiSXL+BBafWWO1oWMLhmg+Pa2a5uw8FthLRSTpdmUvTPH1NZQEn6jzfLvb/HBhTbk/uVitwTo9qixKkb+Uw6ZyyPj8vABztB4tMdM3BgE3qGy9xFUyzjICxgKcWEfpfMmEnI7d3JNDmkyAWm+sZbOe3OUZKdRitw0thc9YkfgFd4dtOn2Voz6+Dmz2CK4ruolU7rGd8ULZfVWkwf4tJBvwwIUvOI2182cV8W9/AuRYuQfA8g4xswCc0t0UOj65fJpwK6JBS3WX5I8B3lnJd7FgwczxD01HvjkQmFhylTLZm8wwpXobC2+HrWL6NzmCeQ5YVaWFoehNgXYltxrRr1NzS7bH6lU1oOTGTa517hUHtLe0xHK14pU53mlNUvGun1KjnHET+v5fCfMXBmRWHjr9iRA6M6c3YKkEq2mgUTYmY0Ey1u8VqB/Ndf6t/bsmSOhQa5YB0BpwzeRmdTq2vxj4ABypGK6eZrzzFtxyUnKDtnfMcKOXemmB278jdtSKYmqyyz1I/E7nQo1LLbDv7R6JYHcEi7PO/B8INnB+WqVX8tdgX98ktYYkJ8oTCTKW8YUx0C+KYzoRrqTc7Iii02T09APN+Nf0WPG2v5QAmUy63gajhTGS51sMYvOK7PcohAcW2hoH+IhHSecxdXwj/ruRzDhwFGaFeENjxJYpb8u4w277X73N2oUZC2DRDz3ogcOdGAv5URPd655n4kLuQFhPBFxjmWjrAnpv4P/TMhF+9JalEx2EyY5i6EWfq8taeddt7/tQFrxphUK/5cLkqSiX+4uBX8a8s0AQDDn6QRoMea9VP3aDmJu7GUdnFfrMFsh3HoGApkyKvNeXxH286ti4caQgjb0ULg5RC07bciEddUSSHVggnnu/u61b/q/FNYzN9i3cvf8DbKOQ7uw7IWlzcsxyLG5myAYvuDMw19pTRmW+5b6QSaoTEdykdOzzwhix8EBllJmA3jprYoUnqqdgKSNBhHVI08xvBJayNYADyKFDfsQ4VWXkSB0jqyxwR2jI4BoS8UlFOid5c0DgvHijJi4HsPqxPXs5sHDxYay5/96xg7mNGvhD69xVBPcKA59G1MOAOdfI6K6Tfwq1na1Jby1a4olv7vcJaMTdt3PBvdJExSVZsRRZ8FbULCQ3+20TMdOs4buPRVBcVlqcATUuXTMN4Gv7o8pwHQPLKN4KlikZ8XBP12bfPzPC2TblV0RjjaEXv2JhguobS7gTYk8jgJk+4CasQLyYg6RJXR3uKAm1aee9LNuK/A31V6bz8y9uoXEdqOTiaBYjbli+LuEFhdQ9tsWWhtiSn9RR+CODzLGmv+X9wkzYeOqZp8TRl2ssGt9ipl5oGB4TyEezh4CivE/84/JZ0lK0nSuFh7Y947kVp1WuFTrIv6jaIDOTJj2PW8sFh2L8rKH5TDEdoSNfR2LHIsWpFZ1xPoSgms1o4cGeSMw36xHcFLXMD7v2V0qeaytLxZWKa3LG8ZAUgb/PCyKSiKG6n3f9J0fIZ17AMCJz5HtIYgiq2f91jKIKwQUv0rxrvrZU7DHZbNnE6AzTMuRncuiDgJqbOGrs5ff3vQ7N86tW2v3PwlpidYclaj+FoQS2F+KBXDA1mw/V8t0O9EzntJOK5UF5e31LY0bRlzJvSLotljHIOAF/s0AMrXXGt/57Ja6HY6cmllMAVrO6yjjZDwee1+HN0WjhKL2yiznE/SdhlwKRlk+wsHff0Tcn9SnmyRmHyRIgM4sHBsxuL99A3tZmY0XFL7/tn1gtcNH+TxKJA2i7VrRZjn8CamWkjacAxIhvLSg2yMOa770DXxTCGpqSTUIrV7/2LyEErqvVr0nWg/K9WHpds5MMvnDLIPvmC++3x2sfP3vaJVyCqd6Wou1ZHv7p+/FKz/5I8c43YMnvbakPRT6YlAggY0/E8TvgMk80zLPPC08u6xbMC8oFE0shGIbVR1WLmwSwJreNJog6cADN9HQQs0qkBcKp+MVvxOTu2i8nTQwFrHz8orZ6uK8z27oNV5FELzJOKsLOyfesDBeQ8JXJF9ChWQmI6kAuIJL2fV/BZ0ElPf+ZERh5ig8MNBsJy1Wt/FpaALIrTHP8kVBFwzC2CjGx/8f97v/a3xw2nEej5EGzK2o2FQP40NgOpwA9mKcf+QcNTDQyqXlNP/gA+JpV+0dqU49zYUS/RBHE1tMhSMwX3kQ7TS5JtJdlDCBJFIJMraEFO/l135FW2WlIpswS8s/NylCpvMkwe+iCoNVqInxw04/Ep7JuCqrLW8u1t/X6B+NQWj5zmQjEhilLzFdGn5MQsUSyDl1u9IX19jFMonDKcC5rDoBbuy6TiznFjbaF+v5m9d7Gp2S1HeoPV7wBCww9XxodjOgU9wvn71kWzN8lmn3cAgQJ63XUpj9FmYWu8u0a8igR4jUp/BcY4eVkm/vsO+z+esTSYxIsoZEi4tS93uH1QSorag58f5CGoJCyPCHJBBHBLK6+LPEL2OeJgsRD+LW9FJCL6U6e0LJEPsHrV6vM6hMDi7RQbhnfAzsP0/d7XtuWBdmDcEaACCK0enjXd4I9e4d6BuOGUsaa5XlmxagR8hY9zsyFGlTjKAfOHAoYi740uARr/fQw63W76e9wPMagqRnz94H/tSFTh6CYsuNZuQ/vpA6zuqLoEIMiwRVexwIXbzJrwrUQD3tr77du6xkdEUi/G5PVpOK7PuPbJSLFPXCSfKIZVysf6S5BDtymwcjCAMv7WiGkyHSY5RSyFOAYUr2BPoS9a1FQoASJ1w+JAR90nTacGg/jupINgGF+HWuybemTIrQpEyCk3yNv2+WP8zII3lEvLxPs57ET51xv0aXZ9YSAtGXQ6cS6uvzZMepUsn/Lfs4kYlNEQc+vSCmrvwQX5pEuUi41QnSC9ohWLVPu8qOJ3bHt2pwiDOrA8BluV39hbbJiIc6RODT21CQ623mQcnqTTHs7Nc0IzacWR6EZxN827AiHPTeLVuzSTBAuBsHLJQSczzwAXsURiIafTSx6mx8UTuRlARAItMPsvC9+kryQYeoGMuzzx7+jmCATeyxql2RfPs0qO6lm+GAu9m+9408QViuhc4IWAl+gHhFNXp7+ZBfZ+QR06D+RgeTjHxBwBqxU2s+NNBG4I8CYMMdjv4vf8Sf1CZ/+QUMkWPTUXaMg8DPg4MePQdRIekkWxqtr2Td6Y+jvtFQMooEyn8l7Vlwl78HfiI5NFgqbZfWMiXEpHw/mgtNVE82gR3cztML/cvnrqrcsVnhLyYkyqWj6YlXFCRfRZNT70t9Lu83VPOmrR9Lql3ctOKr8TZ0ZAgF9KDx8JezIeF91RsYuPUKP/i12SPUiYbvTvpze917uXDYEs7e+q6ODP9T7UKfZjLzwcPEQt2bFB+t0YPX8bxJIY0wjfilWjjTNGB2BuPwUkfPtBDDVDJjyimXLONSeLDnUbpx8TFNbg1L0TNqfGzNWOSak1tFawtCPS0MkYv4uAcm1nHpqphcvyNURP+27cIfy9xy6Le9MbcSnfDDlR8WPO9Ae9lypN/B6qPYJFLNDrm8CIBaUfVfkBughwx51KVBn9Tl0Httyhpl4oVCTIdEbJDX+oC7TEgimOuT9CLFXuFpSi8G/F9iRuZtc36LWVy5z+HJqaQ0GsfthHVnk7hj3IJ8mu91OgAS+XHZah5KU6bdSEZVtIJJTKFL0ZRyKjkCaUbA1iKaF7kMhKkkL1rG+nRWXLPiOyLHH7dEN6ZULFz0tpq41aQeXOoqZg7xQ5qZCz2Qhy4wXrKRHeb57M1o42Rzh6FajjGOv0b/JLREWu/aX0Doz+r7xMguVCUj+uUVOO8oyg1D4veA1dm18NXXzLLRRbxN8E4f+zmaSCW5ycZejmr1iNLRBj6HG7fh7U+4r5zY67pmxoNNMMxBeMkLkIRIYnMX1qyoBAVda6jW1bxvDC/xqxMxHxbzDWmPVqqMWQnYwfMatUbz08YaBlhow6tFzQYdC+0MLuMLIGYzJXQLV1fPFDqOXmFlLOrJc8iYsrpKLm7BXzLA9u1iHaknKSl0YLngpt4z/DUe8AKUCpe/TbqC1iI8mZPYVCpi4Pcy863RJKlKAyf5Ao/f59ldOJjcUTmuBGRZeaXSWPapwxGXOJGLhRMKEAN6bxrMYr76ZEft+KhVh3r3K5xVY/lcdhQCQKHtagVLqxzx7Aw02DyWQavVAET5USCZ11FZtFBOlIItz9z/LbMTBI4+yJHSfLZrqHhvT5WFU9Q9RmwrdwaQuB4LMqRyqJyAOdFBz2jDrOI/fDNK5UyyerZDlrOHf3uvhFDmdhURDzgX8NoxhZvBVAdTtnaKkIKqjy0SLAURcwNOj3SBBir9xfl0XzwSvpd00KNsHIKTxM9s3w1xcNi4DHyt3nUN+nmJsw7JA05/4LqAT/vITEyY4nxcFL/3jEUhnLJZYUnan1xNeb7QR5y4TOBdzaQJ1W4E20XZZ2KGllbQLGDRrlF7I6NAYURgYLjtBb12n70TBmzH7Hw5vrx+xDpNHv4JSPFa41gduOpx5oyQWJSAXE/zfuuV55l2ZXrVH2xzAPFcIZOICOfRfZSuRX4kl+B+0bdLhVdeioufqjXFKBWJePtPZM2/TITEHDxv8Jr4VHGztlwNqq5NojLS7iyvhiYOLSHTwdBqvqXnLuIvRIY/43XeSQrqFDfKd9nVEeFQPR07rF1RuD/ghbnsoemfZQrUqGHI8PVqFGvRCqh8nMRMAYZFWFVGswllkVPNeH2w6oF4pPRGoUOx5lyK1y28ta8Vb5yPZoP9/yse4iGaLvhRr5lixpLjejdPGybnbLJbi6ZksSlyRWQqdwWtFOmlqbTZwZBetg3TY/69TdLrQfHbps6MbQIGs9dwKk/G9GF48c88wW889LGUE6Gjjh/QOOfywMl/6/2qFkd7V8K4HMjZ8lpm5N875QgogZa0fSvgHxiUV5y2RPNnHhrJCQqgnAdowmjQ7FtyBhDFsfyKuiw+RlNn7qHPceDYb7AIMy3wNlpSjOtlanYktKoOXvVMsBa9XeGvELZi6yOQ53kGF6oaoTL4lLMBILWDUeoVet589wLz6zzx9fVe0jHO243blv0sDswFVRK9ClDRJGOIBp8XF+Oh+ScqxU2kIZlQNIFApdplGTCwl78pifcMOrgDU6UBpZHD/1NckJ8if2/trMZdW0sIAEC9im96JdnJtndJmcbHx+zqyIXHXOLTDlpptxHl/J0kLrDAUW2cq74NPeEJRZQp0CUJbbN+DcfY0PeK27Sfoiv+jsZKTCXQC82NtSa18F/fv4PPcOrncnVY0ONmNOaMKXIVfvk5tD/qREkIUzmDyeQWfGd4qUEEqtV+pst1x+04E0uRUnQuqh62adFEJ+/LsOXZfk/1mpKml/bBwf0X3vPc23ut1byr6U0VshcdeuQC1kZlWe5BuAmC7L4QOYnKgLt/Bs95kplYHmBxlcGAdtMv2A8nZn8haIM3czkYi7BKpwWFi84UEP3RYY682YxQTS/pGleUrgrOk1jF23QFOTDnYOdN8TOh/BUgEmg9W02EpmDE6uJ0m335vyuQxP+JVXXk4iapBASnFSHuOn30JyPWaOkBoMxEep1qAEN5e6+otxw7G5bvI5oLhl+5icWfDC1fBeyq5fK152ek5zkUFJxwe8wrNfQxu8b1dZ8VSEJNaeg74P5iMif7KhSm/YfhaxzqLtVESu7jgYj/n1Gb9IabJBwRThSieGE6IsKAjX9Px1tXjzGiI+DGiiTcjPa6LkRQAsehtr3WQcOIhgoeogNGHNxqzIRkFWuNEKdTWimUDqi0EeTIW+ellt87c4Fg6QsHvYEU4hn/d/ghUytwk9Y7NlW6BGMHTnr8wV155lPh3xvV1QP+HldUiOSlnFh980ZrOkUm4uU61ric+QCtMLevM1EQGGQRrbkgb1MUeti4jnfN419wlKW9fBHFAIRLcpHIUwYWtgQ7A08C0+uHj96XWU/QW0MTIgsmkvaeDvEjr4OGwMNQQR9WBKWbIUlEQJZc7duaEv9aQNvlEVL1JuBGDC+jbt8qAwOYtNV4KliwfxziyEZz0olxjSNd2bXGxUNGPa0WBOZNiVvXrAg5vBmDBiaqsfyOGuA5AHksp2BdDBTlAB+vyu2y7hi6RuscRalel9IXa4q3gjDpnmqNo2YCK34iavE6EXwqLGH9otEJWl04lPoTfW7qN39hRZwPQToq+u3BQROceNZonFFqLIkPrZDc0075p2DAQKSdSwJFlKHLY4NwTLy0ANfEVPGNMXORpNbsy28tH+4uVINm+I6PDS2HqCk1yJupuH9sNZebzoa6laL8mJ2g+rOsl7rKQy3EXCYfKms4g0pMstnGHw5Z+c4bhSeiWMYLoKUnbmjL9+xEDQ0qY8jX4HryjTpl7gAoMLxZaujS1JVHSuVxoxEZqkfRIh8FLxMMLUxUntSyMBy8aLYANKYKZyxsGW4KXX51b9SUAbsezg8pCd+Jd9SQa0pDExXGWJm7O0A7HIQlI+zckDhF/3obnG/a8k/kAgkBRB12svCYlLRZvCFjHPxYyL5WMDEYmOJuz/8RmvTSBrAZjgvobueUnYPH6Hdcy7PDuuiOHsSyJM90ocyIVfBMJ36vsGmsiEGeBR4jauqr1d2FxbX9I/IB1zRt9+czP+W6RgEit7mbZRC4VtCLnIoVNwCPfcDZswxL/mCA4r+j6c2tLeArEZt/KVzCsAYItdYuglWd84DDpaeWlDVMJOyXR3yFX1NrtWrLpVw6wMsYTR/JNEuEaUkYQ9rj+7Nhpc/E+n82RFU9ozCDxmf6ieX/8hWUYEVZ5PMKIkS/KNQyOWnd9YI3WLDVmmk7LJ8/hbk8x00Gjerbp2+20c077zG0RGeaLH4eNoNJXgEz4ou3xGnvTv4myozcCXiOrnDZNxrb0np8FKrEfIL1PxUX+vv+qpOWfpSvnjl1fpbUb8Me08J+KSMR8HWMUpqPHim3ADPq19UXUHgAsCksArSVY3lBY18s6Y6K1y8bSlnNKbWJ/5maSepg6u4vpy0qbkFkil9SHSsVs79cH549oRviFCFlablF7nl8J+R83RTzkwog/aYswDwyKM6DC+KDXTG0qZh7xr42WB5VILPQNhOT4qqfyZ6G1wuta79TbwZoTbNmQaL4NXKjptOiUrtHdrXHyu0i7q9p3A7c4EJ+PEAdhKiT3ADtTY37NQvdMsoHF7PmzkokHENjcAPxCrVnANpx1TquCWgccWSdOr7KbZ4Su5Y0xKA4hkpQ6IgTy3xlds6e9opgyVAT8ElsVGSyXKna6MCW8wxTwI/oqXjdg9hNabWhpAfYqSG5lCbtYAQxDL2iONrOeGgkh5PqsmPkQUW4dugDrr2KqVptxuuBo/dj9/4L4hLYCe/zmkltS5CzX/7H6xjYL9kidA0D09zSdxPqUnBNK9Lt+JWfwSLF3TKI7FxfloK0Fu0njhytBRND2D0APgpTBskxXN8z/WJmLwbSZBIISpJdX8QQRBgtMv/4V1mwZL9ylpzY8Ca4jjBb3wqWLJ7sb2C6odNJ7t9ubfNw/JcQSM9bKJ9TpJqMth0eOVaBHZS4aSGBpJ7OLFeRKL1TqvRwqr0yYI6T6JAWRGPCPZWa36pomld4S/YLgb3IMM1Ms8MYFfuS1yTeIps46Mko/DcJ066s0KnzjFrl/F6mo69yvgFMEgk8xFUALD9JIWqqDP8C1/jmiRdMxJrOWHYR0uWT67TR4oiiEpdzq3EzG3XJTzopecjuUcUS30WpbzoH/tPu8nNmDN+mxnfHdarvRXGaJ7uAoEPmPIA5j90ZMeCRpM3wyDBMGiWC6snNfiVKWQM4ONbaq4ZonxJJO4LCL+QHnuS6Wl+XEOYYs8hKrDQ1+YGFoCHmfjJkycUTUe+m4D1LuOX1R7WKqKoapwgMUMPQtYCj1RCXZFSqYIsu84C8fUMeCnGexXb+wOhVfFQyN0+J9p2M7rxcod5yP/GOAI1lXdv/0vNtiHDSuSdKesnBWr47vkwKgxX0tguxRFZgCxWrFI/hxGkekL+QMhgWZ1ODqJupbK05PBh/GK5EOLUgW/4d362+nH5qJz4YFbb98TKuPm8UZcluR3aZljsXnA4uujr81Xi8TTh9VDBQZAQlPNfHDSPMgUIFro8S882/ofXfRYMzRm8XtN4BNHthmVOcQ1gcN0K9zkIlvczsb03zg5k/aUZPpPJTwFjuSryzRCxt9qYe/FUOrtOruDLYVwKPa0nkETpJziH/z7yCCzTF4pITAWVDBDy2tRoYPwRAz2Y0OIupSNe8iJWTZ7lsebvu+y69oCcov4/qEEs+qfqvsk2GDFMIxgBwcMYIAmY5FNK5LlHdaC8ZC/0wLgu5O7YgZu/77Sb9HcOh9JFprLqrszvq+Rb/+tjulqMB3HwLJcISegjUeKVzP98BV7FpGElAFTou2GJREcyeOmifcgiZHRSJ+7+rRZekV95Lgay5AN5SFfYSLA8x8FmilwHVBf/XeYic8t8Dujb+7lNCcieHWoW3ldmA2M47Zzr0/0zoeb1S9MwxHqn02NA0u0cZGrEypxEcZrPzhQvcV/GqJS+v1RzNL95C2WZUDxupLl/wZu6WWIyzMxhak5k8B5Jesmy7b/byhRBYwqBNdUQ436Gp9iI4KHKsST3pyKZSV9ECycWro/2RWK3eLR95K/muh0nC41tA4zztnm2r8YPs2qGjUkrbOcXwxgJ4AjSKjOKucb4PVvR/pFdW/j6MceY7aBQj3WyawN8ilXhjkZ7n0Gpm/qpJFwtPzvr4UHhrWO4/8Fe81sE6hfd0e4FX88M56ageoDu/2FN55z/KxwCcOfBO4HkAwvLUU5UZBdwoOousyS/isqyAtDbHS7pRYnqWHIThHaW7NhT14E4MwUcRqqPO2kF8d0FlCuatlOHkZso8g8uVOZTFLqHmFRUCwbgqShqUsY9Mc8B5ua23wATzLq3JXMHauRPnG/oz28zlcHRtWzgDaXd0QLutHGIhGo1jLurZ0cbkCtYxPmjCIk1RvcWzLPxZsFxxYRtsoCNeGq4MoCw//sy+9hyKL1IfcjbZz5qecOpHfYXqj5tCtfYPNi1NvrLS69lVXU2kFiVcK/fE4VS7rJuDjKLRmKg1FFzgSygaL58shO9peHan8cuk5p6MV3mceTrDZWi0NqEq8iDwnvlZ4y4ufwREuivs2YHcOXKluC94hsM0Bg44/HrSMmgdSfB+zHa1yEMVIeHPCGhpN2nVA4UdYWxUtqrGIjYs/dxf0VPnPpQcSVNrKMnl0ZnSAweg/fdBajm+623WQo0rtVxThRGuxNMe2G9CJJC6NNFj8SsbojN442waev586Alf8H3XSnKsu3D0JvhTGJo/TItCjpZFkJahslpNB6LpBJ5agpbJyduT2rXInuSuyU7LcYoZktgUv94iH91wwtb4GqFQ/es/KKEuPKR/p4gyF6CJ1qQ5dW8SKVwq7DBH4tchocQFPn+A080nnS3wLaDMShy+/x+kfBou4wZOiSPCrTawurmTG76OKwveD2frqChyESpE2DUcKaO4rxkB4XSK1R882i8AblyCH0w31gYT7o5JpLzzb4yYt0VHrqER/XdkOdXCBgAmmlr58T1wRYPJjVhhCB4EX1eGTO80v8B6JHhLctgp1/90o+JYWjb59O8Xk5OSHNbHQvL1a3pqlhhPLGzEHs1PyqTpLhVxPOK9svDjaIHWktl8EBnnp9loZOidruHCmB/Cnzo1jBQYUXvwGmhgjDT8BoDFgQFQrmhMEBx4vYEEdPw5pOlghip9ZtKOutYp7csukWk65SIzQ+zjlB/2F/ogPEPqFbcC/B6W8aAC/f8/rxID8IrLAr3kZlLmeWuOg9skBZDSKueVb4tpzswDxuRP0qd2PRcm4vrC82H/hRGl7rsj6uegi2COcb2BCSaVGmyJ6axuT5hKMs9+FTeJrVUePGAOBZKnubf7BapnywaB51REebXgfbBoCvwQRqjaYlIZt4XQuGBG2rdMM36SCbQmBhEOK1Mm9U25EiUVazG14bSDlelHMd9Rt6gjl2sfpUC+OLDTLPTzFqII8kvL3y69Gm+10/8+Qna2C9ZQ3IWpPFX2ZwO/20X995aFQLY0Kffk+d84jJ1JwfF4VZI+8yZNJz4jRfkVgRe1z3c1RrjJpntNH0anePru09N5HE87QAVJNPRDe4BfN5TE+AoPy4+DfJiWMO/fHxMS0WPz6tULy416nV2dXwFKy6MmXn7aUJL94Mm4dXczBSLc7nF1flb1ls9DmQ8Bpspcx5UHtcrEwDPH5z1baeuvB4c8J/iIjd8wDA2jGCqob1L+kYK+7UjYXvJ1ldMaqcj3omCD71ZRAt+HD1ijjf6hPdkBflyaGLWmyMewvOdOC0kkXafBOXdkp0hxAgbpMPnl8JbWkS/REEQ54vx8VwEIgB97dwFV6Ob9jM8CYRqKHck2UQN/MPq7ljMMVe4m38ldHX+NorhEs1lAjqgx9P0AEoN6njVVgdR6s5Q2rDBHLHlINbJ9ngBddFUgyOyUdJAx09LErxykhWg7RLNgERkrQLJnec/MrNShKaGDBUIXC39vlAlP8HPdSbN01bUlqIHOO2IPoPEaZDu1CvGxtWpb6zCb3Rh3yqaxoEhs12nHkoWVXbOWl0kjn4dU2R5tbOXkffn2TkSnkaqDiKaKzHxZMUOA+qwaCA/H4vCvcUwIR6G+Nr0chVupL+taaqnrHzZhrM7l0dUo6E6O/Ic3Swt4bxLbSAnxRF+GakF9dZAJ8IVbqO6BlO2mEsizK2qH/NF3qcUjDunulQuHOhQRE6bwLHrmDjYsVRgh46TShV1wIIVUG0f4LZVtpifSrVSbmV8yK7to/xwW5hrFRc5RCvPRJsnigjC57RHLEzeH85euKJIwqs0JVQfu1feYMiwJK3sGPGAgwbtSejkK0JFtn/t93LYFIeanz/MwSANjEn0qso9it+CMxZlA+LXL0zkQxRL6fjkWGhaXWYAfTlTc1X5GI2nRykNnrp6NGwo2rf5hz8eZZMIwPWgRxh9vNc+YDRsP6tp2SjMNzIJsSQ/TaJXHjiX2bbHSAepWCtQP7DNLIoHqi8qwd85dMeaVh7JIHXqCrp2vl5K0WUcy31xntIa38JlBUgjppksZWhX2iayajvYuuZTPG5rD9wY8NC9xPosHwOeEyloo7jD9C3ZBZAV3E9GhKlFfWsnYf6zrfg25d7hPN9iNqi1pJeb7nWrlfJMiL3aX8jQfUqpISagWK8ehbEb/Jveb2au0G/273mMCRw2ndcoKVplxehgwwKWXSKpOVDroycrLnFvImPGgxry0iVJ2Vl0QslknzBuwkFdctAQG/eYoyerMcg8eDSuQ3+faTTm3ZwtZAEfIf/jU7IePSyKfUXptAgRkHgAuLPEAdCSCsrM4DMSVYv/2/CfXtVQboqcad0oEFhfDf86lK2erz7qFs1o+ZargGDcuIanSj+KancDrHOSRxO0ei8xr7xHSe4CY4WYbdGT/zssMrjGYWP2GJD2nkTZT/GxmaaaxNniMrVZJjklUXjkZ/TGLQ97PK39MQSCqw/S3+XaUR8kenY8SAAAluxml98LMyXaVZF/XeYorpmk+3noistJlADiLBkI+Gbkd8HLUERnsUcFQgq+Al+Mys1TnoxWWpwIl0JVWus0sm7ObGA7NQ9JRrnBfZN6oJht0AHZq9DJ+N8sXpGpL/I9qGFtjdjHJ0lqkcureGbOHbTRR83pXSfibJ+MViM5Hh53M3xrvlAlc/xZFTz9XZd2erT8LyJiTB/BGqCbhq5J+jrieStNMIYYSqAlPDKlefANNvMDYrrq+7F47WWSAO/OEctU/7a6Ap7JM/gXpmdJFPkc5NWbdxLil0VX/JpAwsUAu7Imtq2oUCFh3KAYcuQ2jVCVOixfiUPLHBQ5YEHD6m43G0/oYrDPob574YLPgcyBFXcUCdUW8cb0Maug2Ui26u86mJDbr8jyBVZwhp0vpoc2WgEmzqs7RvpqHvbSTs/HGslLtTfBMJHRPh0owZvXTosXE2nt3bobyylOcay7tUSdLyghQqxwVSO2ieEwcuAsnYxUAUpF/wcYEF2rVv+IatYl652QZxlAKQKDN7S1IMnmjcf9PSjPntkmCAU9hgyO7sU2gNZTFK6QDTnz/5cypV7nGINxSc1e021eanCLUxq10zrDS3q4I5G0f3PDO1NXFsSEan46KQ+qWyo6UMgeqGw/Qxjl4QhEDRuvxPaMDLCvLehdPuPwpGxkM29RP2pmYhdRGh7QTJ7bpe6+2Gll2c4CgzZT1efg6tUjzrNZnqwpzllbG0UHjHoDu/ACL1D7oVk25Ia4fVuurgRROIunfF/7iTNeKBiJBGJKzrX4vRUqYRfBHww8tcbYV0HN05wFDBRGIHFzovfoP1zq4JZdhihw+Vq4ODMMRBxJgICo/It2Tco+2SEHuuEJ+SzNiASVjiOUHMoAW4UD5OdGTkdTkODtrURSelmENrdxBtDecVEuKOMq4o3UIZge/HG24m/HCcCXU8vFtzo6JeokUWKtQJJ+IoxLyF2RqXQb+6H0YG5g2IquyoSV8U1SqYcmACVR+g/9d/fBRrXuEB+qLyvYh3KUmEm4taSxivRW93vKldVFnb/89wX9pIF/sqmNmb+uIOVCW0a4zWXB6++q64+om3/oAOPIy45Id+KX/x+gDXOsv+oyO3+Q2WGZ5ub2M1CcuK6J/dwKPLHj+4RVOVQRvBoaLsVN+XtBo9oL+wVBkoEg4zlOq5t/qYxZqLsldUv7xCOMVrbg9gxqu6lgfgiN4yi+fvp8f0af++0JgXdhT7nC2y9fogNS0/P01wg+tZnuSsfaQTis9EdUY/NOsG6R4B9gyz2kRutoFDIqhMuBRyE8lHgRvWpQo/GLR+gUfVUsfxV3gfvP9BPT2ChNiN7IYrmdCw7XSjIXImnUQvIfuiIX16s6RsL+mYCEkcBQ7oTEs+0XYCfMReNqJn574Al97wu3cAZK8JJQZaqojancODEyv8zqp1ko7x/4wVtG8U15osDeZC5vvVYXmy5ZDyKndFKnorkL/zYuth5OdunjPfNpnGe3qKl62Uq/EOdhL8qto/S5jX9hS4ShuLG1gCNFiIkm0jGQ/a4BTlPRVLQs9Jz47HO7Nvuhc4II1Ka1+6IY1rPDa+wLM6Y1OZek/NzegUHbUXpYcwGcHNMgRuIyiig8wDoiomHk6v8UT02YSeJn7zJF7leZ5SIFedwUOdAr7ee1DSUv6CwsM6bP6dUcEqqsQCxp3pBqJqC1Xn25kMBCXMxRwCvG+UnyZNdDAAr0h79f9zrqwHCtOkqezy/odqEDP8gSdmK5x4XpITHjHQkK/gfv8JJeQtzlHtsGK2Fxo23A2Sq77xlQWEzyKbg8nIDqLUUwJqZY+Pp0G/h8Qxd8GDbZESx2cqPpkjkI86efjzGdc4ePvui/FmuxMQrB5v0V/Ev5vTPwoRZaEmD4SasG0VlHHGqg0VsL883shUI0rbBquCVjpDr/exiuz24a68WaxzkKO1TLso/N2ljJJ1sQTSNii5qCSP+ftsa3L6rr2LgLPO0xsPAmEtJJ+GFC985nvniEr7ot2U6UCTRcY+e61sEHVl5tq8cQwg/WygTRllFlSezf5+oRKtzdUNQYNT37O0dCl25G8+tqmSr8h/WqTId/MQTb6rqJnvRxr9TxBf3UDlYUvtQzWTES9lvyh2XMZ/XCRlF6iPvB8QhqgKIt6v5n/U3NPBqoF7TzOx+wN9ds/QiR0R2zkeDQInGBezM4hqIw5SmM7QyVEE9WrCmU+XOrbwOOVMnpqpq+OSpr1gF397NavzhCwcfZiACQfs7H2tRvGrctF6EY9y0Iy6SarmVswT3hROzGxobT0ojMQ//1jxCfjEODUyXYnjgRmFu1W+TXgyWWDuofbeCxJ+QO/4+cQicDaf7fUylySI/s4Fv1RR/KKmpTq5uevt6jVNQhdq2JGDF5BSja0zINvBiw6Zq3iLQLjGzeTxIL8lciTmMAl72D9jjeeTcartpuzloOGXZrbDQrfhM3S4JfuOnVR+9mXlGpPbHhaytSRaj3RCEkUMRZM7oT9GBZ/fMeD/gvWgNhm0vglskmngveoQ+XPjlSYcV7e1GMXkIxunrPekueJxCfTzjSd4mUtdfEZG0yb+32y5WCxr0kb0anKZ1D1a4zjgodSuPhEwTAWphYGilFLcXSmHVFieP+E9VwTAPuegBbrKNuQAI4DSMCM89+q5b2nvFCqYQfNMZWinweio728stXkiYuhZy6TS/E6DJxnJ628AdRmLTHD0KH0thTFwtv8n21+jiSTBOsOkJredtfztM7y1NjO6FdT9gc6C0w/2BPbQvGw4dnbpLstN2iHPO611TrPYDMtDNRy09kvoYxyBdmJSodSSdAuEhQNtAUCL6HezkRpb6oc1jPE909QPFsLDszK29ohAbnS5gvCRRDJiiTr8uJ7BU66pixWtLp9kHebYIewQZ0f6s8E7CMbqxb7JlGUffOK03tdFT3bms5Nctcub5+gcrbvlCt9ht/sdihX099TFHjpqIUJxFQwtOGZvxcABlvmVQ2AuSTUSFxz+BFyIsuUYOh5AHcdSssW0EDAECqcOx5iIIM/CkoB/N0jQWV0MG4gmKioq9JNTl78od+NjE7b1ctiZ8aIjkt9IEQf8YF3XmCr8jnm5JytlWY2+wxcL3rpRGedALwDeoy29LjyWA9QMen7O82lDwGv8sWa6A+O8xVjgZM4mhw4eGNRHJZ+SunR/cepg0TBldsnA7PN4lR30rVB/E+HfipjVsBXkMhgpie9x5+8ET1by5UhgI4Ut53avLPUH5VEKFZBH/zMhlj/Ycowc0C/z/wlsbfpYc7OhytvdIbf9tJAd+/dDPDVHk9eybyBNrxP2PBN+ulZ9qo/rbyRCyuSj1s6F6wkhI+8HH/jI3bV4GEhZbRzMGugxrYT1pTVXs6eIjNjBk0tZuUDjP8bJNXnOxqxCWHVnVRIhQWLnqi96Kff/GZKi56iVmIUIFq31O7nfwakyBJHUj5BG3BFSOAbI8Nvxdrf/+qyzK953rc/kfvDfcbvFWuKZe+uehxIyBY0Bw79N2gLM2OQ13N2UHA3sjsG/GWYIegMkgaOaTqGmzCNBxdXmNKXbhhT2Q/dnD3ytTNeYWya03AFKTvV+Q7AovwodYzTE0VNxV5QI5xsqYKcfaanoxCtVyrTZkvQDnl01Bw9hwdfaC6yuq5AFSnUgKtJFV2MjNi4nvvZyjYKFFAhmAqJqyZGw4L2nF93SyEAVNUiU6dRGymDZLbgLYZh2dHJ7CXMSVuWvf9OD1qs7GBmWzrXbO9RWf6CT4cHBngFXQvnxmtj6ZO+G/dsvU3lvrsA4Ry1kZR/dYOgKiV8hhdDrog3IkRDrL8PapYIfBc3m74rDy1P9QRL16Bng0vGFuN5u0VHGECPUg0E5q5gzv/lM95VpAWyz/Y3DzEeunbpsWAQena4/zH+cF1Srt0KQG+Fcfpdx4cAuFg7eINyUoRsuJhwh0ge89b2xHxBzuM4GYRJ6gyarV0YLx+GtAol7+k2uMbfJUBGrW7Jj8us25hXejZ2jMAEXoKjEPWGOe1rdNFU8E635dUNps1SXZfsiQCMLpY3PPkMvIfjzjfVTgIrqa99SFEV0S1snB0OnfxP/yf2LdeBQ0wBHKZqHFamKxvBwUGp/W5ghMqc0pEEbLZBPdsU4CjuGjVRRVJt54GVppVrFruowDrzu/nvuC/L1V6Cc+iNq909xrDBLfzH/E8U9oATpRDyZFa/BYF/IeuLsYLEx+STk8nesfZO+mH/9RdrdIhpx98S9MCgQPZozogzqRu3gQSM8K2vM4io6VU5u08l2hGqAXaJGlhyunQ8IHhpnkfxtT+t64zX6yR/LQUbteP4y+OMcY0R6MhMfyCTZQMo9OfnmHIGUeIbNqY12JKQXq6RuzcXwpORXHxkDAvwc0gyUM1wNUfx+FhBEs1ysq1hOtQ1Zih+aB0AQGMIog7lJOPBj8AlhwpSDEOZzl0VIEMpO8131DHDbtjaU3ig4td8mLBqJbmAREHgWkzZTwbBjqjEGrNFlnLRHmaJAwRvsBywuArXpkMFllqGGSwC/XAr7waMAYzrDbYxAFlkwP/+GxNGdjW/Z4sO9gCxBZICT83VhvQ+kezO1PF2KhMYpgNtg1uhwNWEktIZXHgnRFdErHnM5jBa11gqv3Nid3GCxoe4lLajDdpKJOAwdEB90Nnnguqm2ZfAJQ79egmQ+mk5s2UMDQuFj0kJp5A8OsqdG5JGMbGswCnAfKxbO+VFH96mt2rKc2cMSS4B1kA3mFuGp5iNNo9Q+nOx361nRzl3pbHlNLvfRO9JjOjFzE37I6L77grQWFm1XMQqEMg/cYsgtUp3aJmHG36aw4YfD/7nHSVP9IZ1XonkDfUHvJEgAyMTMhran9c4A1CSssAoFpDis9GruZzcYxCpbM7AHscIp2djxph0ci3JuuNMJf/gCioaT290TWOuyT/VfAAMKNlrB+2VeyT2r6RqSz21ZoCg+BokGsd/v9aSPILDzG+1YsGaTCHXSMMaiKYzmzhfmcm4MFkevmI9pQZR6JRHLKD5oDwvZGY6FuC4klWsOxs7fd2IKGJgCznrT4TOjv7Q+83zHaYWODeWphwfWdug0aA5ErnljaUUlXv/hxOg1pwD4BFuCbMQUpV7GzSyPJ6S2Cb0uajtAQ5DPNgf/YCvUGXANUuz7p8QYtCSRhIG30bk4HOA/zQCsIqIcsQtu29TruoYY1gsCU962zDMidJ/SVsFzJiHu3CFOUycSRFoSUN0k2Sgn5KIMVy7KBDlc4AZ9L1etLo3jKth0ILNhYUqG4/phJ4QpEu9mTRXJ/HFGd0YyNjiMYu1D5e9HwvbHcLmb3GPT+1cMjBJ81T6B0XycZlqkBfT6ByPuvONdDR6rrQJaMvUJbZnidjYxPtRtN51FnnqdIa8tBJzFYtf4Y5tgfs3yUtAtm9A7UrRW00xkPGhOEoQBoI+vh8kkcuJrtce4z6wqUFv4gRmJ7hrtjO803rvKEqoO8SvAnCLzChRSBYvLOoHU/q7jS0A2RmhT2JZyuelfsrKp9wlpqq9ayFOEGZKpNOsd5yyLmLWtgNpiN2egdwQZAWgBTStkLh52W+GnlwLc2GiydEV6Kvw0i8/vWAkhCSr2aJlaKIz7+1i1mJIBC/2GEBHSseQ1Jvs7/YTmHeiOadORNXZF+JekrWxyVUqwn+YpQLAh9f0l5jPaGl6uJuUWx3wPEolwD7ERCI3bu/6FJkpHsGH6UDPw1G27nFyFOFvS//jmXyll7tn9TPDGwpLHl2gnd490NtveY4jO0f/78ILbwFy8OUdPi5rYvisUGP5aghCfMDl183oL6FZswhnnYr7vYSox1cFaWUBmOdchG11o/B3MbpSDz4OayyV2gZ/nMKAfTfKVjiBLGjKVHaqRXjXC4Bb9iPtS5ciEK4IyUgYPzPCHX7mGxFhsQ+anKLNgqTQ1w2FXzG4/OI3jcLM7gVW7jpfKzlOziHIKWslUyjEx1PIsiIuR6aDVp6SkmoGPPd7r5kx59QlAivQs4xDtSTVP+fpYVXK9DZwbLYdudzWf2iW0s4oo7oe9hLTKSo5deYnxG/Dk2YImz4BUBLL4qWY5BgXIf6YNDlwImUTBUfwN0kz6ua5LxBZxldokO30oOWwKSw6C6Od+2U0lwPx0G6eK1jOUMN8C7fv8il7UmJWyJhG9bnQ3umAVUZogFeJJhin7onDWFdt+ysc13JkCzV8Et283LmMOnKRmbde3akCs9op9qPifwKGfX5lxQmlHIFiwUUW2BApUqT/FyJN7b8ATry5l0dGz8iZQLj2iTpzRAyh5VEE08uuekFjD+YTJ9LzYVtv0Y6ovHk5OFD1FoyGwcHsxhMQFLk6dIan6grnWOGh9TzfmytTRfhJ3vbPmVfLoiNcF1Q7m/FrlnqgeVnjZWYa1dk0lRB2GnZhZ3Ihh/5i+ixLypYYbyLOLuwn2gWY8HFs7ysl/0hQCeLJ/66q6bn07ffeGjb9tEtxIvm/mlxJ7J9cwg9PHe9IBnwY8lacfWT7w9dPFs540aGC5Sjsg9TKTqpRLLqa+c+OEDHRo0GuT08kA/Qkw5F2q0TOUu4v/KXP+pF+zI2mdXxr1LSLu66CkFS270+aLtRRdI1nHtWKyA4asxryPDT+w4vrSpEw58USRl4xsH+7Pv4BDIBJWB1iTov+OqwrfaTB8kU/Uc3+h+DdAktXoqMiUnY877MxQXE+PCq9WzRLuY1o2DMbmb8O17frGUCWCrpvBHjDh9xZOeiO+/f95zr7OUcGQyp6e2nAnYrBJ36mgxqP1qxk1Tovw4bgv/0R8em8U4MYlxXYP4UjrIxLM6NyJlTv2N4yGGYzsifFPlSJ5D9KtkUr3ahzuxquGfo4+k6+RzsRJX86hh1GXB0tzxFg2lCD7UWbQmoAe0Hq0FCprYkkwK2dRUWJd+h/0H062lsVRDLc6VXtPWLCshAFnADUEhHt3Fas/37gqqUnLWBWRitt6HZXguT8j2LKK8mbDAyLJyMr6CeeQqPQNXZKT3AAGIWB7mYaTADeO7cEMOG6344LO0/dAeezVC+AofF8rXWPnvci2P61+j8OnGn3DCJppOsve4utXDcky1/O1auQDhX6uGq/Z822gCXFeDmthhM4WTbqzXWkjjmkurK9D2k1E7o7GLxS00xtCf2eG2w3ycbwNzq1zFdTSjNJyhL7KfXCZNngLVu0gve+kWsYS8lbZXKaq8zaPYZGQqKgoUUUV935aSD/mvQP4Sc7qL+uqhl8YF/T+UL2IUnUY/T4OmnKbpbm+0QJDtUrHXUbjNUBezfxsWKxNbstBhssCs8XeN+763FYGgSC5KiKs2IcMDZ9aLy9jVXONiINgum1/fQfrQb2eY4SEzvz1XUwCffW+hOEfAy+OOCOWTWZplYn1V16mXmtK2KyfjYHahdjtlAhK0+QZOA5PwF7jPVgvi5JB3bmqGZE7thJYfyHbSKitWFfOv0J//dEne6cu6NCrCJXNCiDhTj556Z5dOrmJXy/SR9cvhaWwZzIoXgSgx9d4S1+BWMhTNEsIcLaI+dSdK6DzoBtRdzvI2C+x8FBSgflsYyyBpnfonn2E0gzgestSLUTuOexb2qSa8INWhjAQHdIkvrdv2hhRv+22+UtkAriTpziZP+4SPlnIKrlQ8ct64MB5PcZ/B+m0rFHAbyS+wutChLCJzuRYut4CjZAn5M9SrlF6Zs0IhdiNum99aDVLr95ht7uDmqpqLPB7dWRHFhENNIPhHKxDDekagF+565tZR8zqUTJ5VU4nHal0/BwelN2E7G+CWFtXzFbCLFvB9kRQbL3bLGCCy8a50C4fadmfoaT3VyeTLTqzxxmiM6isBm20sx1BCpdEtPuU9LXR3SxKNJijnJfc5K0akKQap5bbpbO4/TO8S1tz0VEAin3m83PjlKba5nqUuZrct3MrY4fVehScgGgi/AArDT6z98GcQAPWRdl1lCBmmjVzEjDu74v0saveXl9412xiiIx7okeEuvqWIC8vJi6UjF+mLu8unROKRqlW4OTYNDiZprx09Qo/+mh9sJVMZp6x4+l9dYFWkJkpp0cjdap4QVlcTiJEXZ1fnfVvHTYiuinjeMw06fBQGQlwEX8i1sCyyIFN3PN6AD0ia+yCZN9Jh1QTH/q+VU8zzgcL4hjJGdjhHu3uFvuDgUdlu2Jx8426Gk6MkwwUNlSXQiOhwKpa8wvT776JIkGyk3OQqCp3jsOUekM1XYYMF7BMOx4KuRQ56pGkW3fNtdqQtoVW5bERJB8OPd57uEztDm8GPlkPVANbsS55gL/FU6vq8p6F/r00kng2tytW/4jNK9OdTbBl0qtOBEHaU5KJdIIPq83Zz0ChoDIl8EkxiG5d/Z+auNfXiGCeEdUz38fnA2BhkFDxClm1kbpGyqmPzdRpigruz3+Bys26D6FudTsTIDqor5Q06lHoNAxgh/Sfql/wkv53YS8hviR2J+dJLkg3RNcPIy4BIDH2vnwV1bkvjO7Hddt5FwwvxVMKCrAHS62/lqTzs5Sl6ccBpjMI37/Z0SrLQxHTRIRZIB6UrzH/6WHtSbG/4bVNsQQIyQ+/NRqTprKmcPfBAwJ4jAlPArgPlyApWlp5Rp9icFfmTFIc01ksSeB/2OEbUgjbzr4ipqIFZRjpB+vkbfUwKx7sSXJ8AYQ3aSgRbEwVFOpwUCNFsN7Dfc3a12MuPobRkL0XPzt28SaCG1wPl6I8jnuJjoIqCcTMxMydJfdZKc67eEIyTsoWfU+jzTOGFubTHhkji08eTtCrnJbQkKjZE5+5IkuVJ+0RkIPkW2hl+lWHKOo0KjNZcdvTJDGcL8w7Iwwhvxeh0MVaL4ne8pxpthKHNqYt7kmgcto2yVkNfu+9ZTQWLLYSZO9AacaxSd2dXL+tWjaYaedAYu31RpM8npHCf0rVC+qiUXHsGP5ClVVZ8/61Cu6oolltaqC7I5VsXS/VEZ6+Qs3rG52W1Gea7heTIILrOCMOJ44R6g8Jo9cO4iyFFAMNTzISxAV0ckqk4ptvI5jfqxdfQpUExW8s6/yV//7OgcwvJHerGSPmuuiXT6KIqB3BJUzTG7ycNuXAAM4l1PyvB7Hhig9cfb2B/CDSST5Z2dquGXvPMthvtwEV8NrJqmngrF8ByUZeqq1JrPx02mkVmPnlYfU6Puhqcy9Ll5BOFFYne0exPbfJaqHkS7PXkJmdjaraQv0yTD3z2+Eo4PwYSmlMdMGtdkvRW5bxdzoxQs5jqR9AMurAbBF8hlFN8gziiYan92R/riF5HfZ99Sbsru8Q4cUNUvEKiUSeDR5YlbqCYWf0pwUJhEag1ZhS66FH4p6fk81+mGRMONbmLNk96cQJTZ9D43dfMCIFPQreuA4NKI4d1t6uCJtcjPYona7nenMSUvrrd1xcFlFFmyWjmxp49AR6SLPA9+hioPSibDTXZHJGH+RrCm/4aA88Jk3933wpIcsm4DZzXDBkdKOQPSgUBDMdgwLfwmSBTqHtCVZTvCgzxuL60V2BpOKm7YDgUqKjOEAQJViLsWrdHiUgLawEx2Egl+oVUEiJrBF7GXX4BggdL8j4VqPOs5Z54H+FbgCpsafAMZ+b2GOiW3OxQm59aTL0JKSGraMxDX8Wc18Jkke2iRiB40+OgIGt5gZXKGEUFgH4GTEcUJY/ogGc38SwfpIrj3I0CiZwEGYC/wQugop1xJNCf75MCmRqiS+QRBkfTcd+Vo9nRSGFqa7FGMkfVr4U7K5K+UjTH/e0J9/iDxQhCJvd4D7G/63UQ5WCshRy94D0gv9hoJwP8db72VvmL3xJ1qNraHcDEY+Nq6XyhFiUXBG4K9sifpNO5iQI9gAmlBBotxMY06Q9DFWR3YScTJBOX0MmljqhbcI9cg4oo8aP885pY1QCs1gOitj21WLdG8mbkONovLCoPMHdfgJk+A4YblFexJo+NckZeK+AUsSMbminpzZ+w6vdC/so7v11HNUJ/+aDVC+ERCEsPAONXb1n1rB6jOhu1Z6C0OWAYOI+wp1CXyhonxu3E37J10xB6iQ3RGTfITDcDelPYxPqjGOPyr/teXkiCrpK/5fkjDhEwoF5Tg4RwaDreSr4VnzV+s1oCTrdFE7NbCpWQHFkqznaLy36xY7C9MwFer9VJzmCk9PNyKNYdzT6SoiDmahLRUrVXGjxpI2je7KZpZ6UEllf5RhDEnmpUaiWsTH1aS4r/BlKokmLqHAa1MMTAVFQYkECFuiRF6xtOzmnTYF8ZgBs6Of2rBvAcwTw9nJxiJYM7NCVN3Dx12O/M4ybb2o4HVQyBV62+9zb8EhAvgUROSXAEWyKqADuJ8hJLjaWKOY8OdNWJl3uZPTmnFIYhsCxgIIbn29g3FjuMuSHGdCFcWNIlUq83ljNzeIAQrdTxH9n6BdoJoNlLtXa1C8Hf+6SvOGQQOIvxG0sxoJs9pliuIZ2sYtCX4LMPErugv3jdBpfbgl5LWi/3tP0UQUE6reDsJFd+ZQ/P+wBLjAxFbn/7HPomtKr1f41eF+S26ujnWmtRaRHBD7UzzBE8imGJjqYo3VRDqGsNQ+aG8hGSs+r1zCaDgquck+HaB15gr2DU8F/klontSy0ts99ERPtEomftMfr+Y+NiPOz1ZpYmRNSgicgzu7auoxq3pC5kHrzSH9dDAEsSGIswGDAeamDlcKRaOO0+W7EHxTjGKXjY0oxtsEEP8bE/z8RHz9zQfiNbMRolJV9odYR3VZ+QxM7ao1IaqcQ1BT/dSFgrMfFFp1Atoc7jVE2piI2QzIoxixPOFh5us976aAunqpSdFf+RbrX77Y4AbwRUTUjTKhNHn96HZ+qlrsOwcamNGWQ/hBtsQP2uBubZ/2p2shnwlDVud6H6gz3UNXTnd0+o+6pmuprRtdIVis6eU2mGXBWhGow6BMAfvL1/Jv/fBcoesWfDvaNMgO8Szr+uPAuk072ath9Br0EMfcOOerBWM2zrWvJ0t4rcrfyQUuJcydO9lY1bT/ppAAVLpKandVUPGzqk3XF0O8VneVPNctNhG+a+bQGpJuyFtPE072RbJhyB9AcbN8K+s6Lf788PIG+KBvxMzkpwyY1u/Y2gPTucBHSsx2n8em6Y8BZdQaoApTkanOgzCW28MuewCGqLX6txlR5Ib58kq991igEMywfz8AyHV1WcUEmZt5mFc1AgddUMyxDCQAPuOolV5HkSBQlFH1nFWWKNOxPLCOaGbAeuwDc4BnO2kYUzPQmYMac2qa+ff2xlMRxiVqoRZ4YoAGLczXhqjzQd5gZPN43XNtLvM0siW3ifhID0XHA5JLYWr8MBZ3tSdwLihgrqU6lQdg5jb3cWlANhYb7ZGJK9iETAPL52eHdOvTOmwYkkUqVrcnfQyMqoLez0o+d3UZGwsODcOgkxdf1PF5IJMiFNVAkQvtdzFgxef/Dr1yMXcaH+R4GR8H1SwyTr+KdE7xgdPBAka7bA06Dv/hAQ33n2c4GjMYns3qSw5Ba+/0y1812PeKvodXn78KJz/GnFQ37rQqYdtPa4dCJ0qkmMH9RYHES81OUa08fSt+M3l0EaLOWERxPkA3BxFJzI1YvryibAnZ+ccesO6WNRFWhATXVKyIa68+0mnqlPNP9xcxuMmL8MZGlQHs4VoFYFFVzJ+Kf8o5wPqa8n2oCWaz6piKXaNHbE778As5VKXSaRprus9ym5oTYppofPZwPeBBMsfF/pxoQB0/c+Yyk7TwoRFQclh+ltnqDA3RR5Tmdrte/WW+SRNdsKSR2sUU+eBv685bn8xFogNbi3pIYRaEHC40yBQIqtuCwK3FkwV36nJc2OsGccNM9kS4mHL6qIa/uSyyYBcq+qjiZtOQ2Wn7BBSwnZwPD0D8nvYs+kQvRYVn/hgrDEgwMbGctoXoVmyNxYjeOSixE9bkEJlHbycaU7dq7CrKfL/lGmO02yxsDaW23QlCc6jEgk8aHR8XQeOm9oalD2s+I0fGRdlq4iudogUlElCS6n2MOkatYCPThLkVfTPpVerPIR02z9ioP8Magzfb3OOi2Mt+VyIwllhmoJlowimS92cNNdlgdrEA5zrCYJn4dM8kM53yi518zLsxRUzHO+AgdATb40SZ8YhRlqBU6YrnC4MWTIp9SykUtXMtESx8i+eDXlFn1ROg8jiuPbFHTZi7zQBBISL5i0TLQf/HjWLX3z99JwBq4zdL7/7bbtSv9JGy/MVfspWfIFJTBxczRnZNUnzf22V3VbNYI9U7j1vNntddDjN565x7W+oRBQ4Cz8BwARaDL4nlgxYGafh9MthJ7+wNLCkQ8/j/RwxDNzDPy7lcOxT7VLnqCandM2PLT7KRvMe2pnjGQPRBGOuasATDpCgIsOhOfQ8qP+TwdcrGvj/+wPj9EAECuS2tTK5JdxcXh4O64Bn7Op20vIodLatLDAvXopKenAuvgVze0Gbw9l/BznRlK3VXAvOCABH5C/fxZUvgiygdwZPAwih7vxxnI6o2YSAjEAXvtqutWim5e4nsVYl/Twzd1Y7YJGn+7g7lCF+WJvqjfJJE/pS/8jeTeMcmlN3x02WCeaxON+sNsQbuqSbq7BP9sL38CEGroLDIvLDdTyvQmDjXqZkHPhZRN3p1f3ETBOzQCZFrbWFZZp1EQ8K33gZeBqqFVNjyMEvTfw0MWDQRYqU/655SZTX99b2WsTNibTVyPPK2OqmzO4YAWTniWviz8HBiw66jqx7Mz8VziuCvMu6FbqQXCV3j/4lHrHe6DdOr+duoPNBRnJ3ploEuZfd42WIe43QhEbUgy6F6IzrL8uVbc7gd4s/kyZD99+NsjTe/AigdvLcNnXn0fbxhEqsNCfD1Q/lKJHMydi8KLKldALn3WHnph3WEErcsEavwWcyQlWHFk+GqBi74JjGt+qut9ZHxLW9WH60jMSzl5dH7J/Mv9mB32eRw1DkZ7SPtCqT3TqYWv/57NZCUg+miJWELVhUy2ldFTt/MCsPTN7Qyb/s+ulSi9LL+17VNjijmonZ7bjtgUOA5rhAkaDIj/qQ7IepQZVKgI4YJ0KRZScNoWc1pcDEf7l6SE1RjldU+19xXqd22ddqsGOjsmEHsIHeXmc2M2nr+8i3Tk64ZIT5hfXUZ/q1Ov0Zq8ZrI59as7ra7SoS+tRvMeATsByDU5wVOhA6e0bzIeCRKG5vBYQ801H5o+dadGYrwFjUyLQ0+AowvXVmTnoKpnV+HCMInWB5rTulI0GOt22k4Zs+GtQv/ao+eKWpMHXaQDxdR9HGij0sRHNYNAZ+FczSbjBH08eDK33sXRGMMjg00knftME73/1GQWMtETBPlBqaZNpboQbuHX00XhhxQamhSVApRVruHpvIPevRg1hpik4ka5vBr8buL03s7+4Evk0/PyLH2An6Lj0g0kkab1vI1oOSTMjoAxXSWKw8MZlkQZ6piT27Eld2AD7/s7X6slz/Ykxt0TFIWEOCMiO9LF9bm8hgHcSWfThEwn5qQoEM6NcyMSdIvbk3xGvTMx5aPHWUzd3NWpRETbY588Yo24uNjO+EY5HDCyd5RsY+t8rYU+jaEA4Gn2OdeRb3At4NbdN+fh7r7ThAPcYw2Qxa8TFTlYQUOBQx6nKXXrmCrnD4n2mpHCcJbfofEvin+Jax2V4mGv+Nb5btumkoD6NkK6feqB4vGmqFOXufTvpLtkosnJK6SJ/oyoHtVEhkUb2VTvGrDEyUszHshWkhfnCecmA3aBvEiNJ9x+I6x6U0YotiNrOqCzOQSq7tBLU1isl5a+HDCLSjEhJVAF3/FrFf71RbQXQa21gn2MvJ1aJ5+5fMk3WPv30smRidoL74fGbXEKezXk7HqvSFr3WRQc9R9SJr0Q8podJ2pJPA2+EgXRMtjkUgTs0jqJSHAo8mRDdvLMPFHkKvpa7o+OU8MUrmiceCYocLZunRajwLNQU5MgriQcVAxeLiSCW0iNwqmKc8HzvaQyuLJ7DBfd1wjOle07sziO15IYSC9J4eiTIj4ZxPxgcEOZIUVJ3F8yO+vKDPxVOVkVxuBF9mhNIIGoxI5yrymczAP2uTQPaaKKqlMAxKomFmso11jbMKRy5hXR/cpSh0sHbyB13TAi2BaiNcfUsmMPwsRoSY2WRG/xbe5PTGQuxyhLcYyWvFE8EWn6h+J6Y+LEhBvSAXLrAofyTNqiRNaDRwtPsEM7BxLCpqTYr2AL9yfrkEZuMrXkA67FMTw6o6SPpCL/XJu2h+44niDfVx7Iy7S+0gPCUD4XTtEdkqIP3HbKhdV7AYqBS/uFkc6ySRoqxQkeDKeT0TEmdL2r1wdAu0zIs82L7aRtvqFsL5s8Glo+hlULIFpHhEKSgZlArnobz5VJ1lL8xiJ9rrE/AkldU8UqjafCQcYVtCpKNzkpWMu9Uh92+Ufwtd/1JOxSQ4vAPPMK73oVNxcPCT7w824fn69D58RwIZXAJ/2yug/dm5QkuwYyXzsExPwiR4x2bWfRiDTJ+ywSmCb35ARQYglulrM0AM7KH1Zz5kAdaOP44Jy2ihlyPaYLww3U1WrQ9ONRDcK1VlHXnCcw5N9Vsri+f+Q7qzf2gU8bGM4XUuT9pil68JYy4XLKz7GK0Z4/xeBL+NvcJ29jHEA5TG8NMSCmHbXhlwMjNpa9dTk5UWsNg3yyM3RGd1HMGSUY9dWcmwz7B4uT7ctKbdVKW9GuWjQVxmc1k9rJ91kzn5oL1jZfUDNtKSR8bz0pkxCCR85F7R5SqC7p8ZvTXy/O52wkd4dACdyKORQwU8OrhxwqMTFVUPiHW8W75GmIUpXNIO47hiyb2woWL2Tv7Qd8hkqix26wKq00DPp36AOhe58ua8YtO6xGAHF94fcxixYJ3UoLGmqvezOjhnUZTHaOPAFNLccKcNU1ruxwyBNLuemo7YFb+Uk72TUBv/5RVWuKPUnV9el0QKcDrL6CKRk86gMOjilOxd/kM2tCq+ZxD+n7WkPTizCpNGu+BzBFcbJk1NAHL9B+yHQwo4Ob8FJ0d60MWTJE6jVbdluq/0VphBFHujTa/tnbzty+sBL69Klogw6mjD9k6jsvtiMLbjhvRDddzCnBHCWWz0BCPpJbvVtac48GNzFmd27mC2fm2KMLNuujIsmm0KQTBTBNdeZfk9HXl6GLe90DrrEdBdZY+OyEzGBBfKpgGWHFcIIZDUK1q6d9VQzTKJWpQHGFlCkDoyTMOWq6CMuQC5YE7hShyMv0kgXxw2WhkTovg7gLeSKb7FoODGdCDwOyFd3g8mKiae33AqJ2U9yN8cFae8+qb+dG3yXbNCMTE4u72GQ7CzzzXFizoECvDymG2ePlJ3UMoa9bX6kcO7vyFHQTKfj7UzHHDRQQLh7FinRiKb4tVyJpMCrncKMm399P0juzraaKY3cdqtC5YuKoJATRx+wZf0hCac7v41TDzKbBrfJJWUznFmJdQTcqPL2gJ5GdJqWP5avJzBh5vx2N9a9yLJ0dT04PqBXupMuqBTrlNCPK4FoKgKEpnoAZlpHY/Pbotip1sCWjdIrFJOHpQsG+51gsAxHgHxAFb59fSO4D2M/53zzlV+As2VaqnruC8jUsevbWW8zeTvqG4RPGuqnZE/4cfP1M4kDpOPvGDw73mtcCzIbyywtGnUrSzcZsMgCR9QYlVnjr6InPwrj3USVz3DXu3uelknfYVRDVVJHt8WMBMdStV5PzIEGXa5CSdCNJ29s1evBewcP4lddPMUjEa9iSh5DkLSoWeUCsa+XgHJa04dC5RP2LuEM8bnMi3brkSyZE3Huf8ybg4TGmKMBCCzSfZShuwAbbYpvkBJd2fzuAPd4FeZlTUosDSAW5RfEdGb6WLwuhjtPxkJns8dpYFAKMBxhf8B84tVoSnKANzQOSL6Aj/9jt+x7IAAXXQN9XtlCZGHfvKXmqSJfwRnmCf5+EXqZMEDRHEjru9w3CErVcjx89AaoZt6gs/zw5MjI8MIh9OXAbzOtgk7C1l2H02IHyVca4QQJ6V98Oh/RVAUPGMKTfEA3Nj99iEPxe3L1WS6bpc1n//6vin+iiqj14jjCg8oh+8rvARs0Rqcyy7lUpFMs4BOE+tvPiDEZ12lHjYBMplrPqRTF0LQsFPD/jKzx+/yegiTLmo0SqjcBu2uJiV+9fmAWihp1dquPVOuIJOMXATSiJbFONPbMnJdk6XW4z5ObB+HLx9E2s81mha1+5yLoecnbgyTmvmgVGOFjnHVsgb4QGoOrBhgFNFDWxXS3wHr1/QRlCGk2qiEe/rB4r7seMEa73TQh2tULSOBB4FO+lrngrQpnNY2bRwhBE0a/CA3mXVW21f9JNdKdNACMeW2RxQajifQ1OBK3Sf0Yu2untXGrZIkfv/t3rwSQlCkS0h+HQHG97S6EzpOOUdKdSFiZb6VmaT8vHf4mi2VSgiaZsGsPYKXWZPU4oIrxxtiNOr2WUt3lXje4G85NcwMYO6Hwr3W8alydRhYY8mxDkO6BCYYsD6iNJvGTuAU0X21Y/WeuqVTMSNWWckhjLnNj2pqHvBwdqlK2Z1On2h9X+sdwXq2J3UFrxDRs8WADYbNuEuPzhC2a3LxZ5FSG2pWJJxRM1udZp0pGj2Cm3+ktmH14H5LiRBreZnsDCjA0ADwgt9WXyyCU2Cfx7ehTKpsUBKitSahuwnPhO+W8e8kZXWEVnqk+YPro23R84JGAIrEeOdeZdG1wSwEj3srPLltwS3uwq+SzNATYrI6BRwrEqcq9lOoyabSUgr23aW3bi4t4J3aiYLMSHJQrYeUKDpwPdxsSCziLSHU9UtbiK4ltCrOz/aG1OgKOB/ZxiTXYD5W+0snMc0k/0otcBBA5pgltRTBFNz99jBM/9RvRUlTx+4rjraPVyc0Ta1eF4oPFUtDeX6+3W7z/MceE2nJVk0NTaMI7BOTb4Zhg5MYtC800KquRVhOGDuLN/yQR8lEnTdhYXMs/HjRM3TfA8qBoIqszrZhJUx+yK6v2EWqi9KHQUepSU9nxTae/DfJpfmV60j6yC78WJak44r63Z2lCHqrtwgDsSFlskOu8OaO3o6zNJSwSFvjuclKWeqOeu4A4q9R0/BPZMW8vrNb25b4kWvBio+THPdwGBhmz1MZYZndc/mmeVvUtI/JmlUO0kTHr0ogxU37hd5NfccBqRgPOmti5VOo3rxau5LkyZ+/kEJa9R//T6liFj0XjE1FC7jyin8qFbdGIdnoonsPnnwtiHrJRNMGLRrkJctBvZWeRr2pIeDdxBt5nqbbcSmkR+bYCQ2pyoGD9Bap25rN03jSLBfZ/GX7JGQ7F5uHgQJKUL7Vf8aCSAJ4KuFElCefFCSp94hdJkOis+KWA1ysgNFPA+glZhNN+lYo+quQ3YcPkaMgR17QkKSb2KMD8l6BKUWLwlv6rDBNfvOjbD6dDpHlHgAnfVfZA8it7BnvRHLjMjecP+SkgPCQt5uVMpFAfKcGHIcU+ckopdZ/y7NedtFDVv1qbfNs4yUL1UCCmO2ql7Smgx08XGhMI98UA+0U5VfrTgVJ//S7oNJVu4+XFaOgmjygkkKIJgmgc9/mQ0HwS6kHkqCxp9rMa3cDY2kWJ003xNk6ktFbvhartwf4NTvxYi3sNn7Vra3tpjRb2IzU07uNWdfqSye01Ck2tpiuuvw9bM+K+fAez5T2jmutCjqqUDQFJi2fZJvJIwjsCOixf7AxTG7ZkXbF+0bd3bUWlHP4DXKUamkE5cCN5IG4xQ38rNRseKAtn6RHqh7Oje9MfSK5UIOJF/lI6Z7gPIISbAaBNHXwBX8pgJlN82I0pT1F6DPqtcxUR67iHqP1ApNiCCPwD0p1m0SaZ27i5a05lM6BLvBy1CWzoLOrh/6Gy+jpSmh6iRoCERXIGAkyu2jtsgKyReYiAIGWc3RCh71/Pa30Grea1WUxcbEcAn8Gv6YzMX8V4hEy0rrzLqbYStLJYsAyS3Hm7hF/S0WXb4Eue45LgcIDqD9Yoo74XpWoSVL55tBgOV9krJhEpcb7Z3SGTqGuRX595hRHJ1j/QJqes+zlUhVeXRLOv8PBU+Rz/ieI5jYBQmlX3uMN+cH6koOlPtzOLkK/U2g49z4RI85mDdXOTUqBbWvimdj/fUyp8Ve87DO1G20vPhvvhioUa7/eGR9ZCanufMvMBqB4YfofYe7Qv5kHAYub7wnK2qIWt4nOLtWDLteyhDJWvqcQPECEI/OFw1D/XBNseOICG76C72aS39/D8JqGDhRVyi8438Pfv8CULr3lKvKEmO6lzvEkWI6Z2QsOv5Bz3BaDkE4VcizwxjpsPOsqg3Z0t5Np10JcTh35aOL2ZCkOh8wuXoVI9t8ef6x0WaoPAEuxi3sdK76OYn+uZCTl8se5L7sJDNBfafaqtNJrRCyuKZT5+cQ73vHzuAKvoCAYn87tl5U5PVTis6LFnelJP7CjA1B+sIIoZKYjCE3UZjwgny1g2vqrM82fPqOs3lsEAV4qysEx656b/Fhujw5cG3pSl+BgXZIRG77AgEcJGPysojcW08YHmmIdo53B2qiWdguucQfbDrzj7CBXoJr3kpsu1T18ieOdZXEfm1IIdElvUXPBkaoapthR31kV/KeF9deN8l2YuXMtas+YS8GN1e/+m7NAzB0N+lFRIHUcMhVqCfpzlFqTX+aljp56wd7Gg/yRF3XCA05huu5+fx/2dA2wu+8oywM3Md3/gvrkgKgw0OaoZE6xsawKKFmcjPtE01HoCTEbX1efHbrPUSnLXMvlqwVsvFEkdB6NmtDLWw1BcIzIHJ92S8w98BWHIGs436F1rYYvPDexYoV30/FlOMIP5AyCUN5HWDwL0cLLJmqlTFOtXwthDeCVPuFde6Cw5upSaw9iE5ja+9O8f8tyG43E3SetLnxbtrsvNWuCnCQeLtQNDq7MK6Tl8/w1A6guktGsqD8AHdCLteWmt2UjaYKMk4beFjNW0Ho4mlhU5Xu+f7ohT2T+KJyZmHtFePPNyjDfKgU3Y2vaJTCvYs3yZ80Fc8tM5Ni3Yi727LYlIbjXXPcGwC2hfDX6O1qEoDkqnU4w06s0HpSXzS304YfQQ7Y/nCOZGQ2ayxfhhG2/ivnpzyeAqnHaaCt3tDrWnz+JNBF04gG1DFNO+knEj6r1zG5z/sUjwypDcQsFYDJ7006bvh4NtX9/EOyjYWS3XQKU9IaCY1GXBfUNqb+ydtCBdjRJZDgJqDdR/pongdIHCoMNm9L7RQkdmFkdbl7eAsCQpJXN2wzW3cRRcEFJFLgAIATiYveuK4Rpu9TOKj5l91yDfbKHfbspSMEhWp422k4Kcjx+8qdf1XuxK6FhdoK5XeTJyJ7RjrKxne7uwwqPi3pWoVJR0bRnYYZh4hu8aJ4Ir1c+JibxYzc4ugBTpJqWRii4GwnAu3wxz9Izw9tRjxvd1szf+TKceFOSi4nVC3LtMlnk8jvfrnoDmOfcJRHQ4KUFDAP+Gngy3Y7rQVytZPeb7tRe+Wymb2O9wxLhFc5JTEa9U6eRJUXLN5gXcsahrR+SMDvaM3AofsK1MVWf0CtcblWqqkRi9tI/Claj+mFS6rY4/5kAl8tZBATvsoaPK43JjwqJAXxtv7h1tty78OwJLiu3mCPZiHLGpAtitlGqSvH5Imylyuq2YT33qUTgo1YBkEPDOaAOeycw1DEVJ0eYdrSz3qug2uzT9KscJtje9CFVuGNVTjU6A9w6o7tkSnqJWKnwWbPz4ujGUYV/gFwprpCRAh4CoOKPW0KhbDNg1gMLcms33X2yvkFhCPopbPc6qb99s95PBvw2u8ujpW4aZen/BLqI+t1s1k3XrhzY6zI7xVo8y6tnhqg6j5eIJAAPdA6TIdVPpMZ4uPX7V9SlFvwUcnv8wK3arMPLkcffzCb6YpZYK40BVU8jVd3H6ecpqHLFHpzVogmjsxB4v812MyyuXH9rGxrujla7wv+RL0FNipRL9gO/BasmoMYxMvHRjx2DgwcSkT80BuTZLGY3uVw+0/7ZaZQrT4VZGfpUJjLo5d+rnNCj+56XuEj/ORH3b0DHFe+zbVGUJBHy1LLb6aY++SPcQxBFYeq9umzoaKBq9jSktVcffbs+nPEoZBKQGyOrmst7g+B3BsNPlrBwvUlB2OdDDPwfecKCvwcLvMS5hRZnTln208S8HjmrVX3knQoOKpxV/Wh11wxguMBAD0sNot+MKzKsZm60l/pGznJiNPYZk0OrT/cXSdyri1GkoI1yAiY7Rroz0FPDdEu41ceJ23CMZRLZFW7h8b66UeRWsSYxBgS2EDeXHU1xDjp3lHpi3aR7n1btAsmInYmcWjv9hnLKFDNhUr6ZC0DHC5MSmizDLskzgDn28dPGEUP0c/Yo6y2aqku5XE70jwJ2y6sEJJeVt3ymbWkgfjhaNgz6sNChKydqkniprSsegZntDuzgmTvh5bb2GH9Kj1Agfm4/N9sBuQh1DMNxkrKJck38tC7C3Ii1GEGPkEOunnvvAjF1plZ3C3hy9sGDgc/J81PcoorLyIPOaBU8/TwrJTUO2yw4JL52ReMmKZyjIVJhrGe2c6+Qjod3YUdWkGTliY6O9dxK/ApE/xex+KPLi8lUYGxBKJ9Qr3u7Gyf0vIyFUCy0KhDO1JDVbhZeBh4aQXdbwZZXGygjR2bgYg468rmrZd6GzF1DBvb4v23e3ShifYeCmbysbwIeZv/hYbVobVup+LHRplgqkYvl/wEBqkPwCB9BuJF9rriup9fwzF3AcJGQCSsCWgquN29lwkaWpqab5zJnhbFk+e+BY7MGKyDCnf4J80pxH65D9lfcbSTLJJRvHHY0HO4YpYidQUUkDpKUeODyIVWwfVeZNl/2nmVbri9coWeaZqf05rZ6mAijd05vD1atET5LD2BrWb50cmd2F7KOPUhMI/6tC/EIghuOZ+LBBWnc57yF47M0s7LvxIfbkKaOKrSX7dQuQfsYgm99wBkWu4F9/kdIrRqdZ/NxB3X1dO9hHfp5+Zzz1sazFCuhTEfJHB5nL+8szcZIwJS2BWGeAdYtjbLpDDVHaz+cBp9Cpr2f760do1nugPD6M/Vtcb5NiuxWRBA5J98CkJYkZ/EHMIgHPA3MNS1dVvYc8rgnnXUOruh57P6uTP74s2YdYVX43NLZ1q6Bsw5vJegMd+W1NfcEp/GmCYPxvMXHq5nS2yKWrrwS7LqG5NvHzOmlYdmaYCsjZ8J1WRl6P+4C6rmnAkwsLafmBJTA3D3ILft/AaUIQDMRDi9Q7YDf1TTZ1RDcJs6pOcCvNGxn73lvlcK2hVL6NVKvAeOJnglo5NL2s2rIZfjrw14Y3CMvieJu0j6uN0/BrY4DqbOtDIiPIxrmE5fi1w5ENY1HLaFw7JYnJ0h7h0TLuaP7KlyZVScW2fB79mQHVAYzMNhwdJsnhAXYdp1HA/V1JEx+WgbEjbvcYK30ny95ViTX455lVS6VIuQzNXgnuN7KZddJEVTWZn913HD3oqZ2qFbqn5A0AynHR1x8j6PPm+B54aYFtR/4dXJLK3uajrUVHn/Q1PPIfYOH1UxcJESrSJZg33ugqh7k9S5+jjTRgDX4sL+wr/ryBzr6gROnHDtI4hmotRXyTUf/4z2DBwkZgdykqhCfJLxxKhSfwGPsZLnA6gfTgRimbrb/Dayjrj3HKe5FLF+IMM4Gek3AUKnAjehgIq8APMGqr1MqCnj9mBFqTb6I0MRSbLIAqIwCQi9VY/8zaaelcB7JBw9Pk07wLY7+6dU0iioK8VVGxNQhN/Z/bSich2ymubRTKqJMLmNIyUu5b0B38tYHGAX4NSy8h0g3bmSlSGlBWYnQpZePJvhxB4AdQg1Ipu9ymDNAZg2SavfhYMLha+zOQtm3Yg8tqxsCl7k2KQcvUos2CBEMrEnEKRfuHMvhfgSgacvSkohzdnsKJPlgE6TLGuJmQ+nim9iQ/gAzlGeZX8JY22d35fY6dBZGT9nkYeeZwQXiCfr0+Hob05hydr8ZYWfaetkEMi752PN2EOPUlDSdxTKS6bXDgPODLifIN4u/iMV91OEktbLgRrhi9Fivq2qhIz+sS3XURgesbPR7A/dh6ODO5Xd6/Hi/codZjVy35eIXo8KM/gA2ydcSLzToFk661qmY3RG0IDSd+InTkB7r4LMtleudvc/E/Oc4PwFPfMrmYriFXLQRKZbxlaEsaiWlZuCdax4km7fff2cBwHDuXol6hVOOdGWv8ybxiZFqx4XmvdIPXXpbsxRDHbM8q+V7q/acUigIRc3Lm/qG+udl3g6aIVKMCUnZIqudrgWZdTahN5QISoX3h4rdGgTCSBoSCtPm4r59azD5BA2eUmcB0JTTVYWawoPgiAOx9IJpX3QVa/nCxcU08qXdL916uhPT4gGWwIuCdsm6kKzcrw9E9oxs2JGT9YIUTXpoKhyxpDxrSZyLo0wqvqXV/5A5xS5TDOzaqyiFIlBxPxwfiiWM9qUfX9sPsqu0zay39gBs5ONdE3Dt5jgiM5c4j9yH8EsPKAdTN7bTYj/vTWnygETEaeGEwg7d8tBhBYxBL4GTklwiv2wnYA1vxFnPtCX0KW/LUTI6ltsSl5itHlSKducZbvs7Viz3dPzvoOjwD+Ss+JTAoMA4KaIBSGZ8ZVPWEdb3JoP1RCfj8atajIY4PvBeTanMsDgo0ZqcQ90oKKWhmIqh5agjArzNOEmpRNzY1yn+nLP68MggUK6x0YBmHQIk3g+O0xaOHZzIFAy93XgAbQHcwImOQ6txVsuMKL874S6FXNg0ahhGL4/XxE7Gy47wRLGlcjfbxqATIR9DdcT/BmqxDRR6lw/B9vkdWdnqhcWBJaiaoQVVBIpGufp1TOZiuZ75knf0aUTmFs6YmT1b6nSEr2/Uj5d0Gzkvmd+HYCqPPRpqUDJJdWsxXX+IIrV3q9dEypjqFyObt3osR/R8sIZoTmyNJKgIgeqeIkc5fBDmhPz+2xno8aoEqseaUG9psVdsvIIlASU+QCwjoWAkxis4lDvGmGw6VxLhoOHFHDJksV/JkxOBOwZIQb2FZSOGA4B3WFFLkSiw3AfUecGxdd3I3CvZtyLjRVOe5r36uYelgsPxph4Gq9Cc8HR74r69+tpk2+euwLBrmGieTsJmq84HSCeeU9T3PCUFfJjp4zO1FFHBacRuTvb48Gk8xu1B70i1OgvpvHULXE3f0IVkPHQ9mqvhX7aAdTnuQ95+/dnT00fdBu6ago6thlT9LFhJZlabnwa79S4vSIQ6TSbBZdDSGWeM3q2fZ/C7cT/DzFyhEwSO9zD42Gl2ienzs/iyWNLHzbpyWFAFx/uBeov2TAdFvn7DX0RaELkXO0uOEqrCvnkx2q3AGpKfoFe0dAgXqNFdkFWKI/QLbl5TBqfAID/0oTcKqLuyHSz1nmtDGTnpKNChyJ8VPo2PZGwG3Ucay3xgFhq+KBtOUDgVcBx+k+2h9qBYfwFiyrO3v0w7zn5wf20oqdXI4PlHvuXCG8NqWJLM7zRYI7FV5PlsBYlQeNztJ/nrdNbadASRdvoXOENZt1GZ6fubQWBczjvJm1gLiWCiPVH4KzcwMsM/v1nZpjC/MMfTGEjKIyVPPWOAi0NzGfew3vjx6sMQy62d5YQYfaSeNIifUtH8Z/wBPeK+WZxk3vp64BAk6lXsLzRM34ImHYt+WGg4HvjEPfjJmTzvKcpFXP5z20nzZvzfWlobRE1Jx4hpw9OopoC642VboVHEPIew+/6rdeFL8c9vNbS5M+rlMDt53YfV4QhCaypPGDPZObwb5OKehv3kWtebKvRyWGQBsIh5oRcNp45VYPz/lYiVmEHgjaOBRqXwUecLbnRCv7OcQ1uoNqTe1F0rcwKAwnrOffRlQyFH1bGbnCkdySZLY46G1gAIiT4o69wRTfe+pGgdE4In7ykQwaQVWKXFJGIN1J/QLHwR8510G4FQtlhhcELdI/0bryVhd3FVo5TCpt29Rdp7eurodDYNGRiJwQYLLwDoM1n4wggCBn9rI6zRq5V3ClOnkCmi3GFlNQTaHjU2PUZ+6R+TK5os7fVh3wFO17xMzOnSxyN1vd3DAuP4erqUa6lot94zVOwONRwf+ps+4Y8dhiV2tr3Nk0Vz+2Cb49b85F98P3ABelFyTI+1xDzGAMx741NcwGXuJiQfEmNY3HyFeFt0W9mzUwBA0n5XJ/qFiRBQ7hXFymfdtrNtiffIxpxfpU8Mxnu5MYgEL2AMKMyAfReCHjZeus9rP3/TctFcU3FNhG3zNWjFlXC5/bpFNZ5yp+RSMkXx2544+rUSTQ7hnQN+go8OdQI/BnlNuELDSDygS7iYF6bxp8B/HE6a7Kuhklxcn825zjqjfgFj/MFbtr1KQhUA7GFodk4HEu99bz5zKla+iMpSgvI6Rxj6rCqC3Qwszo4SawY+uPEbJxSEj7zeRV4WK/PokWDAwBPaCm7bEV8NqWDXnYbLscf4C+0dVENgVmUstpgvj7cgqT3X1R+Y0uSbvXKCh+iqujMa0vpgsmGMU+HhKVdbe4aCJR4YgSAZy3y1p02Hia3Dc8p0qq4ydXs5WhSnkPP9PRfhiqnl5i5Rc5CK1p5bDRx2aWqL6ENwZ9wVc0IrmkwEBvd0Cm0a/Bhl3FittUz/twccHH5gOIDbgjlAAj8XARJfsJFIV567COhzIJwX1gXEwDxH5W0TDaL6ca0kyvpMIEAs5ytfajuFKF9AYBzLgtLeU11XHrUA86Nhx3IMZppK+QnMWEx2Ib0DVyErOort0oF0g7Bh3li1O4Ai4bWw0P5C6iDbe3xTITpoeLHFSJgbk6mZ4SJPLPRUxBNePsSeXFQbL20mCndBOuGw3eix6GpbYbKbNsGzjIkDR2qwgNZyghNMp88fUwNJBAhAM5PDb8Sj86X/ipPN8efReef1d6J7sMb7L11+hTPuh8Pq3cjnSvle5on35QMMMthTcoXFd+qFoMTPDA6KfmQjnl9MlSMe9Li87234SguTAyGN+x1fCqH20dJy9OI41SS+4Wowe38yzV0s+/LNFy4CNarArOhvLi+tZjhcjJLU5YDFuqf3Doe8p3OpwWFwKeDu1jo/vWoOgFbbzxKsmzQGW0Yqh54m5RfTFNn+jalSBeB795gMyrDbZ2TeyRlbQ3QjtD5Mk/xW4NHIiImsQUKWnGD3KhZax0NGPaVjmTwmy/w5LIDtPe0kTlAYpOZ3uBSD57xwvVnv+zXMNSP+J/vbAitnrMy9q9VkQmV53K9HMrCeny5UftnJmpzdiSwQ/WxpIOxsATkCdboY0tO1jwg4s3U8ZA/tWUTgjCma7KApYkdVBnmjZHafm9DtwhRcPlpivwYi44Bua/PEWoXgDLl47B8Cl6oijtQBhHqZLBMWYYoEUC1DQpRLwkBamRT1wXB8vm8APpFYyFjwIrCg9INFIE2qXzsxbeKHNLn5OHNIm8QMKo/U7BxH4L1V+cUT627n4fhmn/a1Ves/R5XgPy2ZdUtbf3+ZKSm7hUbuR/OzPx/M9W1sCsjiOkI2qS65y2JTs4r9KcsfhKNV6HiiSmqeN4AnNZjgFwc0PmllVwEi2qmVlUvVk9v4aFhmjN6o26y46W9a5kJ9QX79tzpj1TtORTbNcprSuYh4FmIlfLF5Za/hu09GVYPdSwdUo6FZWQFAt314R8FZug7/oG/oLjmagSilPyfaDoQtk/49Pazfo2J+SBn+hEMmq4rLLHhp3LisThV0DgzpprypsWITuK9Mmn1fZQyokLPa9MBb/VqsE3eapkWi2JFeB7VIWonAGU9TJaj0Zc0JIOGkX+bbDEeTHN/8Isat2VrrNkiAXkdBfwfRtkBFKnROi5F4MoqDlebo6jDgOxHciyDZpIrCZUvG0WOd191mQvOYOo9+rcWq1JEPol48xONWzzKywGDTQTLQ9YGph65yLWZ6brqg+nwtzrsJi4f4ZEfalcPVLNyy4Rzy57eK4DISzKSf8wZXVi+lO+ynahimUTcJnTySNi/fXuFFtgcinNhId3g2MPdG8Iw527RvevqKH4jPoXZ847Qd66bPnfZkvONlL0vF38cp+wKtId34SA5tXvMrZp4oyo0qpAiUy+Ex33cBnbNO+8fGNeIVp2cSg28HTX6FTDHxwJY1QX4o5M5ipcmkMDWWYJ8pf7Qn2LpHtYPnAl6wY3kf7bHXSIqnvElAPvuUl7zyaqhl+Z1EDYLU/4aUD9DB/8Jj9YFM/YGgh+DOMl26bbyJ389/8GoyrUSdsuZys9Ibzq7iJvPResC1lIlAVpsgjS96DAQtAupmZSkgVNfSlb+wxsTEIRJDQxjh4nfpoW9A7///QGp4y26h93k0M4/lpDwIZuILXiWIdqJ7dKlsXoM4+jgEmTo1ZZj2zLmw6FiJRNS2aAsJkAsIJoS6oZhX7X2UEanRmjTBEDr8yF4FIgPhH0KEvPEA0MbP6FM859phezW//D1se4UP1CvKaLoLG+LUmro+1fkmlUr8CzD0yMoVaF6QgPXS8BjzEsQ4p1pKQPaIz2M+gvWRHXxVBX8dl/f1xliItdN09bW3GE2NbZwmVvSUHflilV77ImkybzoPx3Hzi+sdX/f2yyn5pGElqnxBmIIT6PEJhcgjVdhFg/r3S+8nJ9WArTQWTun2MUyKzvOpEt+bhp5rKCfTGUxBppmsn/WOQ==">
            <a:extLst>
              <a:ext uri="{FF2B5EF4-FFF2-40B4-BE49-F238E27FC236}">
                <a16:creationId xmlns:a16="http://schemas.microsoft.com/office/drawing/2014/main" id="{4F978E85-AC61-138D-A63B-B05EB6D90AE1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 bwMode="gray">
          <a:xfrm>
            <a:off x="330560" y="1266437"/>
            <a:ext cx="3483143" cy="5293277"/>
          </a:xfrm>
          <a:prstGeom prst="rect">
            <a:avLst/>
          </a:prstGeom>
          <a:blipFill>
            <a:blip r:embed="rId18"/>
            <a:stretch>
              <a:fillRect/>
            </a:stretch>
          </a:blip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79" name="btfpBulletedList650415">
            <a:extLst>
              <a:ext uri="{FF2B5EF4-FFF2-40B4-BE49-F238E27FC236}">
                <a16:creationId xmlns:a16="http://schemas.microsoft.com/office/drawing/2014/main" id="{97668CE0-79B6-A7E3-1DC1-01A4A2C7E3DB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gray">
          <a:xfrm>
            <a:off x="3984582" y="4171584"/>
            <a:ext cx="7872456" cy="241980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100"/>
              <a:t>Power generation and utilities cost</a:t>
            </a:r>
          </a:p>
        </p:txBody>
      </p:sp>
      <p:sp>
        <p:nvSpPr>
          <p:cNvPr id="105" name="btfpBulletedList6504159">
            <a:extLst>
              <a:ext uri="{FF2B5EF4-FFF2-40B4-BE49-F238E27FC236}">
                <a16:creationId xmlns:a16="http://schemas.microsoft.com/office/drawing/2014/main" id="{17A285C7-CA39-190F-E060-E0361096C648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gray">
          <a:xfrm>
            <a:off x="3984582" y="5011794"/>
            <a:ext cx="7872456" cy="580534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>
              <a:spcBef>
                <a:spcPts val="0"/>
              </a:spcBef>
            </a:pPr>
            <a:r>
              <a:rPr lang="en-GB" sz="1100"/>
              <a:t>Assumed ~80% of feedstock is vertically integrated</a:t>
            </a:r>
          </a:p>
          <a:p>
            <a:pPr>
              <a:spcBef>
                <a:spcPts val="0"/>
              </a:spcBef>
            </a:pPr>
            <a:r>
              <a:rPr lang="en-US" sz="1100"/>
              <a:t>Allocated ~40% of the feedstock for production for key accounts</a:t>
            </a:r>
          </a:p>
          <a:p>
            <a:pPr>
              <a:spcBef>
                <a:spcPts val="0"/>
              </a:spcBef>
            </a:pPr>
            <a:r>
              <a:rPr lang="en-GB" sz="1100"/>
              <a:t>Includes any inbound freight costs and logistic costs</a:t>
            </a:r>
          </a:p>
        </p:txBody>
      </p:sp>
      <p:sp>
        <p:nvSpPr>
          <p:cNvPr id="106" name="btfpBulletedList65041510">
            <a:extLst>
              <a:ext uri="{FF2B5EF4-FFF2-40B4-BE49-F238E27FC236}">
                <a16:creationId xmlns:a16="http://schemas.microsoft.com/office/drawing/2014/main" id="{DD093CE9-8087-DC4A-091C-2CB094F34A1E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gray">
          <a:xfrm>
            <a:off x="3984582" y="3678751"/>
            <a:ext cx="7872456" cy="411257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GB" sz="1100"/>
              <a:t>Includes cost of day-to-day operations cost, including ~65% of total direct labour costs </a:t>
            </a:r>
            <a:r>
              <a:rPr lang="en-US" sz="1100"/>
              <a:t>to support day-to-day operations and procurement</a:t>
            </a:r>
            <a:endParaRPr lang="en-GB" sz="1100"/>
          </a:p>
        </p:txBody>
      </p:sp>
      <p:sp>
        <p:nvSpPr>
          <p:cNvPr id="107" name="btfpBulletedList65041511">
            <a:extLst>
              <a:ext uri="{FF2B5EF4-FFF2-40B4-BE49-F238E27FC236}">
                <a16:creationId xmlns:a16="http://schemas.microsoft.com/office/drawing/2014/main" id="{CBD206DD-168D-2D57-DDFE-5C9EC17C1463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gray">
          <a:xfrm>
            <a:off x="3984582" y="2116213"/>
            <a:ext cx="7872456" cy="657479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GB" sz="1100" b="1"/>
              <a:t>Revenues, product volume, and cost values </a:t>
            </a:r>
            <a:r>
              <a:rPr lang="en-GB" sz="1100"/>
              <a:t>are the 3-year average (2021-2023)</a:t>
            </a:r>
          </a:p>
          <a:p>
            <a:pPr>
              <a:spcBef>
                <a:spcPts val="600"/>
              </a:spcBef>
            </a:pPr>
            <a:r>
              <a:rPr lang="en-GB" sz="1100" b="1"/>
              <a:t>Labour costs: </a:t>
            </a:r>
            <a:r>
              <a:rPr lang="en-GB" sz="1100"/>
              <a:t>include wages, benefits, contribution to retirement funds; direct labour is categorized under Operations and Conversion and Repair and Maintenance, and indirect labour is categorized under SG&amp;A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95A5DAA4-3294-EDDC-F921-5EED6771D51C}"/>
              </a:ext>
            </a:extLst>
          </p:cNvPr>
          <p:cNvCxnSpPr>
            <a:cxnSpLocks/>
          </p:cNvCxnSpPr>
          <p:nvPr/>
        </p:nvCxnSpPr>
        <p:spPr bwMode="gray">
          <a:xfrm>
            <a:off x="1218687" y="2436905"/>
            <a:ext cx="0" cy="2944371"/>
          </a:xfrm>
          <a:prstGeom prst="line">
            <a:avLst/>
          </a:prstGeom>
          <a:ln w="38100" cap="flat" cmpd="sng" algn="ctr">
            <a:solidFill>
              <a:srgbClr val="507867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437DCCA-6425-7DB2-BA9C-4147C5F4C86F}"/>
              </a:ext>
            </a:extLst>
          </p:cNvPr>
          <p:cNvSpPr/>
          <p:nvPr/>
        </p:nvSpPr>
        <p:spPr bwMode="gray">
          <a:xfrm>
            <a:off x="388425" y="3811151"/>
            <a:ext cx="684741" cy="19587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GB" sz="1200" b="1">
                <a:solidFill>
                  <a:srgbClr val="104C3E"/>
                </a:solidFill>
              </a:rPr>
              <a:t>Cost of revenue</a:t>
            </a:r>
            <a:br>
              <a:rPr lang="en-GB" sz="1200" b="1">
                <a:solidFill>
                  <a:srgbClr val="104C3E"/>
                </a:solidFill>
              </a:rPr>
            </a:br>
            <a:r>
              <a:rPr lang="en-GB" sz="1200" b="1">
                <a:solidFill>
                  <a:srgbClr val="104C3E"/>
                </a:solidFill>
              </a:rPr>
              <a:t>(88%)</a:t>
            </a:r>
          </a:p>
        </p:txBody>
      </p:sp>
      <p:sp>
        <p:nvSpPr>
          <p:cNvPr id="112" name="btfpBulletedList65041514">
            <a:extLst>
              <a:ext uri="{FF2B5EF4-FFF2-40B4-BE49-F238E27FC236}">
                <a16:creationId xmlns:a16="http://schemas.microsoft.com/office/drawing/2014/main" id="{063155D2-73B8-D466-A6B4-5ABEACCC2578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gray">
          <a:xfrm>
            <a:off x="3984582" y="2862362"/>
            <a:ext cx="7872456" cy="241980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GB" sz="1100"/>
              <a:t>Includes indirect labour, marketing activities, office supplies and other administrative expenses</a:t>
            </a:r>
          </a:p>
        </p:txBody>
      </p:sp>
      <p:sp>
        <p:nvSpPr>
          <p:cNvPr id="113" name="btfpBulletedList65041515">
            <a:extLst>
              <a:ext uri="{FF2B5EF4-FFF2-40B4-BE49-F238E27FC236}">
                <a16:creationId xmlns:a16="http://schemas.microsoft.com/office/drawing/2014/main" id="{A943F926-4F5E-FC6F-B4A6-C453F98AF6AC}"/>
              </a:ext>
            </a:extLst>
          </p:cNvPr>
          <p:cNvSpPr txBox="1"/>
          <p:nvPr>
            <p:custDataLst>
              <p:tags r:id="rId9"/>
            </p:custDataLst>
          </p:nvPr>
        </p:nvSpPr>
        <p:spPr bwMode="gray">
          <a:xfrm>
            <a:off x="3984582" y="3185918"/>
            <a:ext cx="7872456" cy="411257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GB" sz="1100"/>
              <a:t>Includes cost of spare parts &amp; direct labour cost; ~35% of total direct labour costs to support maintenance &amp; technical assistance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99A3B584-E282-8BEA-36DC-5B5E581B663A}"/>
              </a:ext>
            </a:extLst>
          </p:cNvPr>
          <p:cNvCxnSpPr>
            <a:cxnSpLocks/>
          </p:cNvCxnSpPr>
          <p:nvPr/>
        </p:nvCxnSpPr>
        <p:spPr bwMode="gray">
          <a:xfrm flipV="1">
            <a:off x="3849412" y="2821574"/>
            <a:ext cx="8043339" cy="0"/>
          </a:xfrm>
          <a:prstGeom prst="line">
            <a:avLst/>
          </a:prstGeom>
          <a:ln w="9525" cap="flat" cmpd="sng" algn="ctr">
            <a:solidFill>
              <a:srgbClr val="B4B4B4"/>
            </a:solidFill>
            <a:prstDash val="dash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F6F37E31-621F-A26F-A032-8B8CA8B6C2DD}"/>
              </a:ext>
            </a:extLst>
          </p:cNvPr>
          <p:cNvCxnSpPr>
            <a:cxnSpLocks/>
          </p:cNvCxnSpPr>
          <p:nvPr/>
        </p:nvCxnSpPr>
        <p:spPr bwMode="gray">
          <a:xfrm flipV="1">
            <a:off x="3849412" y="3145130"/>
            <a:ext cx="8043339" cy="0"/>
          </a:xfrm>
          <a:prstGeom prst="line">
            <a:avLst/>
          </a:prstGeom>
          <a:ln w="9525" cap="flat" cmpd="sng" algn="ctr">
            <a:solidFill>
              <a:srgbClr val="B4B4B4"/>
            </a:solidFill>
            <a:prstDash val="dash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C993C34B-D54D-D7E3-8CEE-8ADE92B99A58}"/>
              </a:ext>
            </a:extLst>
          </p:cNvPr>
          <p:cNvCxnSpPr>
            <a:cxnSpLocks/>
          </p:cNvCxnSpPr>
          <p:nvPr/>
        </p:nvCxnSpPr>
        <p:spPr bwMode="gray">
          <a:xfrm flipV="1">
            <a:off x="3849412" y="3637963"/>
            <a:ext cx="8043339" cy="0"/>
          </a:xfrm>
          <a:prstGeom prst="line">
            <a:avLst/>
          </a:prstGeom>
          <a:ln w="9525" cap="flat" cmpd="sng" algn="ctr">
            <a:solidFill>
              <a:srgbClr val="B4B4B4"/>
            </a:solidFill>
            <a:prstDash val="dash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3F774642-6AFD-1AF3-7CD6-951DC9555D81}"/>
              </a:ext>
            </a:extLst>
          </p:cNvPr>
          <p:cNvCxnSpPr>
            <a:cxnSpLocks/>
          </p:cNvCxnSpPr>
          <p:nvPr/>
        </p:nvCxnSpPr>
        <p:spPr bwMode="gray">
          <a:xfrm flipV="1">
            <a:off x="3849412" y="4130796"/>
            <a:ext cx="8043339" cy="0"/>
          </a:xfrm>
          <a:prstGeom prst="line">
            <a:avLst/>
          </a:prstGeom>
          <a:ln w="9525" cap="flat" cmpd="sng" algn="ctr">
            <a:solidFill>
              <a:srgbClr val="B4B4B4"/>
            </a:solidFill>
            <a:prstDash val="dash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BDFDCD84-7969-5997-1A12-804259D5F7F1}"/>
              </a:ext>
            </a:extLst>
          </p:cNvPr>
          <p:cNvCxnSpPr>
            <a:cxnSpLocks/>
          </p:cNvCxnSpPr>
          <p:nvPr/>
        </p:nvCxnSpPr>
        <p:spPr bwMode="gray">
          <a:xfrm flipV="1">
            <a:off x="3849412" y="4959096"/>
            <a:ext cx="8043339" cy="11911"/>
          </a:xfrm>
          <a:prstGeom prst="line">
            <a:avLst/>
          </a:prstGeom>
          <a:ln w="9525" cap="flat" cmpd="sng" algn="ctr">
            <a:solidFill>
              <a:srgbClr val="B4B4B4"/>
            </a:solidFill>
            <a:prstDash val="dash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AAD0DD11-7A9F-56DF-493A-0448EE3D1D6B}"/>
              </a:ext>
            </a:extLst>
          </p:cNvPr>
          <p:cNvSpPr/>
          <p:nvPr/>
        </p:nvSpPr>
        <p:spPr bwMode="gray">
          <a:xfrm>
            <a:off x="0" y="0"/>
            <a:ext cx="330197" cy="876687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03BFA0-6BE2-A79C-F20F-7B5D70F78670}"/>
              </a:ext>
            </a:extLst>
          </p:cNvPr>
          <p:cNvSpPr txBox="1"/>
          <p:nvPr/>
        </p:nvSpPr>
        <p:spPr bwMode="gray">
          <a:xfrm>
            <a:off x="354505" y="1365676"/>
            <a:ext cx="2951072" cy="2573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200"/>
              <a:t>2021-23 average, B MYR</a:t>
            </a:r>
            <a:endParaRPr lang="en-GB" sz="1200" err="1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D6CBBE1-B0C8-A432-EED2-6E674DA7C210}"/>
              </a:ext>
            </a:extLst>
          </p:cNvPr>
          <p:cNvCxnSpPr>
            <a:cxnSpLocks/>
          </p:cNvCxnSpPr>
          <p:nvPr/>
        </p:nvCxnSpPr>
        <p:spPr bwMode="gray">
          <a:xfrm>
            <a:off x="1218687" y="2052179"/>
            <a:ext cx="0" cy="342216"/>
          </a:xfrm>
          <a:prstGeom prst="line">
            <a:avLst/>
          </a:prstGeom>
          <a:ln w="38100" cap="flat" cmpd="sng" algn="ctr">
            <a:solidFill>
              <a:srgbClr val="C6AA3D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9492B9D-B4B0-22FE-D022-891B18E126A8}"/>
              </a:ext>
            </a:extLst>
          </p:cNvPr>
          <p:cNvSpPr/>
          <p:nvPr/>
        </p:nvSpPr>
        <p:spPr bwMode="gray">
          <a:xfrm>
            <a:off x="476082" y="2099887"/>
            <a:ext cx="597084" cy="24680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GB" sz="1200" b="1">
                <a:solidFill>
                  <a:srgbClr val="C6AA3D"/>
                </a:solidFill>
              </a:rPr>
              <a:t>SG&amp;A</a:t>
            </a:r>
            <a:br>
              <a:rPr lang="en-GB" sz="1200" b="1">
                <a:solidFill>
                  <a:srgbClr val="C6AA3D"/>
                </a:solidFill>
              </a:rPr>
            </a:br>
            <a:r>
              <a:rPr lang="en-GB" sz="1200" b="1">
                <a:solidFill>
                  <a:srgbClr val="C6AA3D"/>
                </a:solidFill>
              </a:rPr>
              <a:t>(12%)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7C1CE2C-89F8-6872-DDED-E313A2AE4011}"/>
              </a:ext>
            </a:extLst>
          </p:cNvPr>
          <p:cNvCxnSpPr>
            <a:cxnSpLocks/>
          </p:cNvCxnSpPr>
          <p:nvPr/>
        </p:nvCxnSpPr>
        <p:spPr bwMode="gray">
          <a:xfrm>
            <a:off x="2979312" y="3957966"/>
            <a:ext cx="888125" cy="1015015"/>
          </a:xfrm>
          <a:prstGeom prst="line">
            <a:avLst/>
          </a:prstGeom>
          <a:ln w="9525" cap="flat" cmpd="sng" algn="ctr">
            <a:solidFill>
              <a:srgbClr val="B4B4B4"/>
            </a:solidFill>
            <a:prstDash val="dash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btfpColumnHeaderBox773489">
            <a:extLst>
              <a:ext uri="{FF2B5EF4-FFF2-40B4-BE49-F238E27FC236}">
                <a16:creationId xmlns:a16="http://schemas.microsoft.com/office/drawing/2014/main" id="{26D553F2-60E5-15F1-E391-0B37352575A0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3984582" y="1189879"/>
            <a:ext cx="7852913" cy="291303"/>
            <a:chOff x="330200" y="1289146"/>
            <a:chExt cx="1471480" cy="291303"/>
          </a:xfrm>
        </p:grpSpPr>
        <p:sp>
          <p:nvSpPr>
            <p:cNvPr id="13" name="btfpColumnHeaderBoxText773489">
              <a:extLst>
                <a:ext uri="{FF2B5EF4-FFF2-40B4-BE49-F238E27FC236}">
                  <a16:creationId xmlns:a16="http://schemas.microsoft.com/office/drawing/2014/main" id="{E6B2717A-8FE7-C380-7C7C-8D484EB5F441}"/>
                </a:ext>
              </a:extLst>
            </p:cNvPr>
            <p:cNvSpPr txBox="1"/>
            <p:nvPr/>
          </p:nvSpPr>
          <p:spPr bwMode="gray">
            <a:xfrm>
              <a:off x="330200" y="1289146"/>
              <a:ext cx="1471480" cy="285432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400" b="1">
                  <a:solidFill>
                    <a:srgbClr val="000000"/>
                  </a:solidFill>
                </a:rPr>
                <a:t>Key assumptions</a:t>
              </a:r>
            </a:p>
          </p:txBody>
        </p:sp>
        <p:cxnSp>
          <p:nvCxnSpPr>
            <p:cNvPr id="14" name="btfpColumnHeaderBoxLine773489">
              <a:extLst>
                <a:ext uri="{FF2B5EF4-FFF2-40B4-BE49-F238E27FC236}">
                  <a16:creationId xmlns:a16="http://schemas.microsoft.com/office/drawing/2014/main" id="{B8F7FEC8-E1F2-4516-8288-7376AB3676DB}"/>
                </a:ext>
              </a:extLst>
            </p:cNvPr>
            <p:cNvCxnSpPr/>
            <p:nvPr/>
          </p:nvCxnSpPr>
          <p:spPr bwMode="gray">
            <a:xfrm>
              <a:off x="330200" y="1580449"/>
              <a:ext cx="1471480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0157851-5761-0FF2-A270-F3FA8E845156}"/>
              </a:ext>
            </a:extLst>
          </p:cNvPr>
          <p:cNvCxnSpPr>
            <a:cxnSpLocks/>
          </p:cNvCxnSpPr>
          <p:nvPr/>
        </p:nvCxnSpPr>
        <p:spPr bwMode="gray">
          <a:xfrm>
            <a:off x="3984582" y="1494361"/>
            <a:ext cx="650876" cy="0"/>
          </a:xfrm>
          <a:prstGeom prst="line">
            <a:avLst/>
          </a:prstGeom>
          <a:ln w="38100" cap="flat" cmpd="sng" algn="ctr">
            <a:solidFill>
              <a:srgbClr val="CC0000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F742822-AFF1-6D6F-6188-9BC9493A8DF3}"/>
              </a:ext>
            </a:extLst>
          </p:cNvPr>
          <p:cNvCxnSpPr>
            <a:cxnSpLocks/>
          </p:cNvCxnSpPr>
          <p:nvPr/>
        </p:nvCxnSpPr>
        <p:spPr bwMode="gray">
          <a:xfrm>
            <a:off x="2989460" y="3746229"/>
            <a:ext cx="840032" cy="877400"/>
          </a:xfrm>
          <a:prstGeom prst="line">
            <a:avLst/>
          </a:prstGeom>
          <a:ln w="9525" cap="flat" cmpd="sng" algn="ctr">
            <a:solidFill>
              <a:srgbClr val="B4B4B4"/>
            </a:solidFill>
            <a:prstDash val="dash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53A6DAD-9877-4AAF-A257-0077A7797F52}"/>
              </a:ext>
            </a:extLst>
          </p:cNvPr>
          <p:cNvCxnSpPr>
            <a:cxnSpLocks/>
          </p:cNvCxnSpPr>
          <p:nvPr/>
        </p:nvCxnSpPr>
        <p:spPr bwMode="gray">
          <a:xfrm>
            <a:off x="2969537" y="3305175"/>
            <a:ext cx="890022" cy="825621"/>
          </a:xfrm>
          <a:prstGeom prst="line">
            <a:avLst/>
          </a:prstGeom>
          <a:ln w="9525" cap="flat" cmpd="sng" algn="ctr">
            <a:solidFill>
              <a:srgbClr val="B4B4B4"/>
            </a:solidFill>
            <a:prstDash val="dash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4BB5D40-DDFB-54AF-D910-58F0A88D4917}"/>
              </a:ext>
            </a:extLst>
          </p:cNvPr>
          <p:cNvCxnSpPr>
            <a:cxnSpLocks/>
          </p:cNvCxnSpPr>
          <p:nvPr/>
        </p:nvCxnSpPr>
        <p:spPr bwMode="gray">
          <a:xfrm>
            <a:off x="2989460" y="2657546"/>
            <a:ext cx="840032" cy="977792"/>
          </a:xfrm>
          <a:prstGeom prst="line">
            <a:avLst/>
          </a:prstGeom>
          <a:ln w="9525" cap="flat" cmpd="sng" algn="ctr">
            <a:solidFill>
              <a:srgbClr val="B4B4B4"/>
            </a:solidFill>
            <a:prstDash val="dash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72BE9D-6937-E91F-C4FC-709F0AC4E3FF}"/>
              </a:ext>
            </a:extLst>
          </p:cNvPr>
          <p:cNvCxnSpPr>
            <a:cxnSpLocks/>
          </p:cNvCxnSpPr>
          <p:nvPr/>
        </p:nvCxnSpPr>
        <p:spPr bwMode="gray">
          <a:xfrm>
            <a:off x="2989460" y="2431765"/>
            <a:ext cx="840032" cy="697901"/>
          </a:xfrm>
          <a:prstGeom prst="line">
            <a:avLst/>
          </a:prstGeom>
          <a:ln w="9525" cap="flat" cmpd="sng" algn="ctr">
            <a:solidFill>
              <a:srgbClr val="B4B4B4"/>
            </a:solidFill>
            <a:prstDash val="dash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btfpNotesBox937505">
            <a:extLst>
              <a:ext uri="{FF2B5EF4-FFF2-40B4-BE49-F238E27FC236}">
                <a16:creationId xmlns:a16="http://schemas.microsoft.com/office/drawing/2014/main" id="{D501C695-412F-0B7C-149C-B28DC34AE135}"/>
              </a:ext>
            </a:extLst>
          </p:cNvPr>
          <p:cNvSpPr txBox="1"/>
          <p:nvPr>
            <p:custDataLst>
              <p:tags r:id="rId11"/>
            </p:custDataLst>
          </p:nvPr>
        </p:nvSpPr>
        <p:spPr bwMode="gray">
          <a:xfrm>
            <a:off x="330199" y="6442789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800">
                <a:solidFill>
                  <a:srgbClr val="000000"/>
                </a:solidFill>
              </a:rPr>
              <a:t>Source: Industry benchmarks, PCG annual reports</a:t>
            </a:r>
          </a:p>
        </p:txBody>
      </p:sp>
      <p:sp>
        <p:nvSpPr>
          <p:cNvPr id="20" name="btfpBulletedList65041514">
            <a:extLst>
              <a:ext uri="{FF2B5EF4-FFF2-40B4-BE49-F238E27FC236}">
                <a16:creationId xmlns:a16="http://schemas.microsoft.com/office/drawing/2014/main" id="{A64BE156-7E81-2B31-92B3-8515FFD54BAC}"/>
              </a:ext>
            </a:extLst>
          </p:cNvPr>
          <p:cNvSpPr txBox="1"/>
          <p:nvPr>
            <p:custDataLst>
              <p:tags r:id="rId12"/>
            </p:custDataLst>
          </p:nvPr>
        </p:nvSpPr>
        <p:spPr bwMode="gray">
          <a:xfrm>
            <a:off x="3984582" y="4676328"/>
            <a:ext cx="7872456" cy="241980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GB" sz="1100"/>
              <a:t>Refers to outbound freights costs to deliver products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D0ACA0F-75F7-5AE4-0C52-389A74FD9663}"/>
              </a:ext>
            </a:extLst>
          </p:cNvPr>
          <p:cNvCxnSpPr>
            <a:cxnSpLocks/>
          </p:cNvCxnSpPr>
          <p:nvPr/>
        </p:nvCxnSpPr>
        <p:spPr bwMode="gray">
          <a:xfrm flipV="1">
            <a:off x="3849412" y="4623629"/>
            <a:ext cx="8043339" cy="11911"/>
          </a:xfrm>
          <a:prstGeom prst="line">
            <a:avLst/>
          </a:prstGeom>
          <a:ln w="9525" cap="flat" cmpd="sng" algn="ctr">
            <a:solidFill>
              <a:srgbClr val="B4B4B4"/>
            </a:solidFill>
            <a:prstDash val="dash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5989A12-2C28-B993-F873-3758DAB4DF18}"/>
              </a:ext>
            </a:extLst>
          </p:cNvPr>
          <p:cNvCxnSpPr>
            <a:cxnSpLocks/>
          </p:cNvCxnSpPr>
          <p:nvPr/>
        </p:nvCxnSpPr>
        <p:spPr bwMode="gray">
          <a:xfrm>
            <a:off x="3003120" y="2043440"/>
            <a:ext cx="844166" cy="743572"/>
          </a:xfrm>
          <a:prstGeom prst="line">
            <a:avLst/>
          </a:prstGeom>
          <a:ln w="9525" cap="flat" cmpd="sng" algn="ctr">
            <a:solidFill>
              <a:srgbClr val="B4B4B4"/>
            </a:solidFill>
            <a:prstDash val="dash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btfpStatusSticker952306">
            <a:extLst>
              <a:ext uri="{FF2B5EF4-FFF2-40B4-BE49-F238E27FC236}">
                <a16:creationId xmlns:a16="http://schemas.microsoft.com/office/drawing/2014/main" id="{B69BC54A-5AF5-A61E-7951-4F9BAEC5F196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8510112" y="955344"/>
            <a:ext cx="3351688" cy="235611"/>
            <a:chOff x="-7119901" y="876300"/>
            <a:chExt cx="3351688" cy="235611"/>
          </a:xfrm>
        </p:grpSpPr>
        <p:sp>
          <p:nvSpPr>
            <p:cNvPr id="3" name="btfpStatusStickerText952306">
              <a:extLst>
                <a:ext uri="{FF2B5EF4-FFF2-40B4-BE49-F238E27FC236}">
                  <a16:creationId xmlns:a16="http://schemas.microsoft.com/office/drawing/2014/main" id="{A88F6D2C-23F7-3D37-E1D9-841045CE113E}"/>
                </a:ext>
              </a:extLst>
            </p:cNvPr>
            <p:cNvSpPr txBox="1"/>
            <p:nvPr/>
          </p:nvSpPr>
          <p:spPr bwMode="gray">
            <a:xfrm>
              <a:off x="-7119901" y="876300"/>
              <a:ext cx="3351688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Bain internal use only</a:t>
              </a:r>
            </a:p>
          </p:txBody>
        </p:sp>
        <p:cxnSp>
          <p:nvCxnSpPr>
            <p:cNvPr id="4" name="btfpStatusStickerLine952306">
              <a:extLst>
                <a:ext uri="{FF2B5EF4-FFF2-40B4-BE49-F238E27FC236}">
                  <a16:creationId xmlns:a16="http://schemas.microsoft.com/office/drawing/2014/main" id="{89D0BA54-AAE9-CBF7-375B-A9CEA487D26A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7119901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97351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tfpColumnIndicatorGroup2">
            <a:extLst>
              <a:ext uri="{FF2B5EF4-FFF2-40B4-BE49-F238E27FC236}">
                <a16:creationId xmlns:a16="http://schemas.microsoft.com/office/drawing/2014/main" id="{798BDAC0-2955-C7D6-1EC5-7CDF3D8479CC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3" name="btfpColumnGapBlocker849050">
              <a:extLst>
                <a:ext uri="{FF2B5EF4-FFF2-40B4-BE49-F238E27FC236}">
                  <a16:creationId xmlns:a16="http://schemas.microsoft.com/office/drawing/2014/main" id="{D672154B-080F-3EBC-C3DE-F5B6D3BA3749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1" name="btfpColumnGapBlocker934197">
              <a:extLst>
                <a:ext uri="{FF2B5EF4-FFF2-40B4-BE49-F238E27FC236}">
                  <a16:creationId xmlns:a16="http://schemas.microsoft.com/office/drawing/2014/main" id="{FF8D75F5-3FFE-0EB2-4FD5-1A5AD5669CFB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9" name="btfpColumnIndicator819282">
              <a:extLst>
                <a:ext uri="{FF2B5EF4-FFF2-40B4-BE49-F238E27FC236}">
                  <a16:creationId xmlns:a16="http://schemas.microsoft.com/office/drawing/2014/main" id="{A40D6CDE-B400-C51A-6FC4-E10F430D3929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btfpColumnIndicator182395">
              <a:extLst>
                <a:ext uri="{FF2B5EF4-FFF2-40B4-BE49-F238E27FC236}">
                  <a16:creationId xmlns:a16="http://schemas.microsoft.com/office/drawing/2014/main" id="{FB852316-1B94-F9FB-E78B-314E9688717E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btfpColumnIndicatorGroup1">
            <a:extLst>
              <a:ext uri="{FF2B5EF4-FFF2-40B4-BE49-F238E27FC236}">
                <a16:creationId xmlns:a16="http://schemas.microsoft.com/office/drawing/2014/main" id="{D29ACA72-F72C-CFC7-2C49-F162DA0ED13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2" name="btfpColumnGapBlocker602110">
              <a:extLst>
                <a:ext uri="{FF2B5EF4-FFF2-40B4-BE49-F238E27FC236}">
                  <a16:creationId xmlns:a16="http://schemas.microsoft.com/office/drawing/2014/main" id="{117FE96D-2956-314B-04F2-14292A59A98A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0" name="btfpColumnGapBlocker994376">
              <a:extLst>
                <a:ext uri="{FF2B5EF4-FFF2-40B4-BE49-F238E27FC236}">
                  <a16:creationId xmlns:a16="http://schemas.microsoft.com/office/drawing/2014/main" id="{9FCAC0BA-585B-B6F3-44F8-B4A8FF2E9245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8" name="btfpColumnIndicator719284">
              <a:extLst>
                <a:ext uri="{FF2B5EF4-FFF2-40B4-BE49-F238E27FC236}">
                  <a16:creationId xmlns:a16="http://schemas.microsoft.com/office/drawing/2014/main" id="{E22262D0-A452-86AD-B51A-90FC6FBD3FE0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btfpColumnIndicator313279">
              <a:extLst>
                <a:ext uri="{FF2B5EF4-FFF2-40B4-BE49-F238E27FC236}">
                  <a16:creationId xmlns:a16="http://schemas.microsoft.com/office/drawing/2014/main" id="{B7B39BAC-1FC2-4A6B-4C33-BF69361C97CB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Opportunity levers for Fonterra - Detail (1 of 2)</a:t>
            </a:r>
            <a:endParaRPr lang="en-AU"/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20316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AU" sz="100">
                <a:solidFill>
                  <a:srgbClr val="FFFFFF">
                    <a:alpha val="0"/>
                  </a:srgbClr>
                </a:solidFill>
              </a:rPr>
              <a:t>overall_1_132288911084368388 columns_1_132138598560517975 4_1_132288911092621700 5_1_132283664504302593 </a:t>
            </a:r>
          </a:p>
        </p:txBody>
      </p:sp>
      <p:graphicFrame>
        <p:nvGraphicFramePr>
          <p:cNvPr id="4" name="btfpTable895637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30198" y="1242096"/>
          <a:ext cx="11315700" cy="5378453"/>
        </p:xfrm>
        <a:graphic>
          <a:graphicData uri="http://schemas.openxmlformats.org/drawingml/2006/table">
            <a:tbl>
              <a:tblPr firstRow="1" lastRow="1">
                <a:tableStyleId>{9D7B26C5-4107-4FEC-AEDC-1716B250A1EF}</a:tableStyleId>
              </a:tblPr>
              <a:tblGrid>
                <a:gridCol w="1209844">
                  <a:extLst>
                    <a:ext uri="{9D8B030D-6E8A-4147-A177-3AD203B41FA5}">
                      <a16:colId xmlns:a16="http://schemas.microsoft.com/office/drawing/2014/main" val="150100461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185878707"/>
                    </a:ext>
                  </a:extLst>
                </a:gridCol>
                <a:gridCol w="644893">
                  <a:extLst>
                    <a:ext uri="{9D8B030D-6E8A-4147-A177-3AD203B41FA5}">
                      <a16:colId xmlns:a16="http://schemas.microsoft.com/office/drawing/2014/main" val="1037966535"/>
                    </a:ext>
                  </a:extLst>
                </a:gridCol>
                <a:gridCol w="635267">
                  <a:extLst>
                    <a:ext uri="{9D8B030D-6E8A-4147-A177-3AD203B41FA5}">
                      <a16:colId xmlns:a16="http://schemas.microsoft.com/office/drawing/2014/main" val="3107196892"/>
                    </a:ext>
                  </a:extLst>
                </a:gridCol>
                <a:gridCol w="654518">
                  <a:extLst>
                    <a:ext uri="{9D8B030D-6E8A-4147-A177-3AD203B41FA5}">
                      <a16:colId xmlns:a16="http://schemas.microsoft.com/office/drawing/2014/main" val="2998534137"/>
                    </a:ext>
                  </a:extLst>
                </a:gridCol>
                <a:gridCol w="3060834">
                  <a:extLst>
                    <a:ext uri="{9D8B030D-6E8A-4147-A177-3AD203B41FA5}">
                      <a16:colId xmlns:a16="http://schemas.microsoft.com/office/drawing/2014/main" val="3129527382"/>
                    </a:ext>
                  </a:extLst>
                </a:gridCol>
                <a:gridCol w="3464424">
                  <a:extLst>
                    <a:ext uri="{9D8B030D-6E8A-4147-A177-3AD203B41FA5}">
                      <a16:colId xmlns:a16="http://schemas.microsoft.com/office/drawing/2014/main" val="2023948672"/>
                    </a:ext>
                  </a:extLst>
                </a:gridCol>
              </a:tblGrid>
              <a:tr h="400873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latin typeface="+mn-lt"/>
                        </a:rPr>
                        <a:t>Lever</a:t>
                      </a:r>
                    </a:p>
                  </a:txBody>
                  <a:tcPr marL="18000" marR="18000" marT="18000" marB="18000" anchor="b">
                    <a:lnB w="12700" cmpd="sng">
                      <a:solidFill>
                        <a:srgbClr val="EFDBB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50">
                          <a:latin typeface="+mn-lt"/>
                        </a:rPr>
                        <a:t>Components</a:t>
                      </a:r>
                      <a:endParaRPr lang="en-AU" sz="950">
                        <a:latin typeface="+mn-lt"/>
                      </a:endParaRPr>
                    </a:p>
                  </a:txBody>
                  <a:tcPr marL="18000" marR="18000" marT="18000" marB="18000" anchor="b">
                    <a:lnB w="12700" cmpd="sng">
                      <a:solidFill>
                        <a:srgbClr val="EFDBB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50">
                          <a:latin typeface="+mn-lt"/>
                        </a:rPr>
                        <a:t>Baseline</a:t>
                      </a:r>
                    </a:p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50">
                          <a:latin typeface="+mn-lt"/>
                        </a:rPr>
                        <a:t>(NZD, M)</a:t>
                      </a:r>
                      <a:endParaRPr lang="en-AU" sz="950">
                        <a:latin typeface="+mn-lt"/>
                      </a:endParaRPr>
                    </a:p>
                  </a:txBody>
                  <a:tcPr marL="18000" marR="18000" marT="18000" marB="18000" anchor="b">
                    <a:lnB w="12700" cmpd="sng">
                      <a:solidFill>
                        <a:srgbClr val="EFDBB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latin typeface="+mn-lt"/>
                        </a:rPr>
                        <a:t>Savings Range</a:t>
                      </a:r>
                    </a:p>
                  </a:txBody>
                  <a:tcPr marL="18000" marR="18000" marT="18000" marB="18000" anchor="b">
                    <a:lnB w="12700" cmpd="sng">
                      <a:solidFill>
                        <a:srgbClr val="EFDBB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5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SOP</a:t>
                      </a:r>
                      <a:br>
                        <a:rPr lang="en-AU" sz="950" b="1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AU" sz="950" b="1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(NZD, M</a:t>
                      </a:r>
                      <a:r>
                        <a:rPr lang="en-AU" sz="950" b="1" i="0" kern="1200" baseline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AU" sz="950" b="1" i="0" kern="120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b">
                    <a:lnB w="12700" cmpd="sng">
                      <a:solidFill>
                        <a:srgbClr val="EFDBB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5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How we arrived at the baseline</a:t>
                      </a:r>
                    </a:p>
                  </a:txBody>
                  <a:tcPr marL="18000" marR="18000" marT="18000" marB="18000" anchor="b">
                    <a:lnB w="12700" cmpd="sng">
                      <a:solidFill>
                        <a:srgbClr val="EFDBB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latin typeface="+mn-lt"/>
                        </a:rPr>
                        <a:t>Key Levers</a:t>
                      </a:r>
                    </a:p>
                  </a:txBody>
                  <a:tcPr marL="18000" marR="18000" marT="18000" marB="18000" anchor="b">
                    <a:lnB w="12700" cmpd="sng">
                      <a:solidFill>
                        <a:srgbClr val="EFDBB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5680128"/>
                  </a:ext>
                </a:extLst>
              </a:tr>
              <a:tr h="220108">
                <a:tc rowSpan="12"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50" b="1">
                          <a:solidFill>
                            <a:schemeClr val="tx1"/>
                          </a:solidFill>
                          <a:latin typeface="+mn-lt"/>
                        </a:rPr>
                        <a:t>Procurement</a:t>
                      </a:r>
                      <a:endParaRPr lang="en-AU" sz="95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" marR="18000" marT="18000" marB="18000">
                    <a:lnT w="12700" cmpd="sng">
                      <a:solidFill>
                        <a:srgbClr val="EFDBB2"/>
                      </a:solidFill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50">
                          <a:solidFill>
                            <a:schemeClr val="tx1"/>
                          </a:solidFill>
                          <a:latin typeface="+mn-lt"/>
                        </a:rPr>
                        <a:t>Dairy products, Ingredients </a:t>
                      </a:r>
                    </a:p>
                  </a:txBody>
                  <a:tcPr marL="18000" marR="18000" marT="18000" marB="18000">
                    <a:lnT w="12700" cmpd="sng">
                      <a:solidFill>
                        <a:srgbClr val="EFDBB2"/>
                      </a:solidFill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1042</a:t>
                      </a:r>
                    </a:p>
                  </a:txBody>
                  <a:tcPr marL="18000" marR="18000" marT="18000" marB="18000">
                    <a:lnT w="12700" cmpd="sng">
                      <a:solidFill>
                        <a:srgbClr val="EFDBB2"/>
                      </a:solidFill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3-4%</a:t>
                      </a:r>
                    </a:p>
                  </a:txBody>
                  <a:tcPr marL="18000" marR="18000" marT="18000" marB="18000">
                    <a:lnT w="12700" cmpd="sng">
                      <a:solidFill>
                        <a:srgbClr val="EFDBB2"/>
                      </a:solidFill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31-42</a:t>
                      </a:r>
                    </a:p>
                  </a:txBody>
                  <a:tcPr marL="18000" marR="18000" marT="18000" marB="18000">
                    <a:lnT w="12700" cmpd="sng">
                      <a:solidFill>
                        <a:srgbClr val="EFDBB2"/>
                      </a:solidFill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Taken from GM, COO and FS proc spend</a:t>
                      </a:r>
                    </a:p>
                  </a:txBody>
                  <a:tcPr marL="18000" marR="18000" marT="18000" marB="18000">
                    <a:lnT w="12700" cmpd="sng">
                      <a:solidFill>
                        <a:srgbClr val="EFDBB2"/>
                      </a:solidFill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2">
                  <a:txBody>
                    <a:bodyPr/>
                    <a:lstStyle/>
                    <a:p>
                      <a:pPr marL="177800" marR="0" lvl="0" indent="-177800" algn="l" defTabSz="711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AU" sz="9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Contract renegotiations, multi-year agreements, Volume allocations – currently h</a:t>
                      </a:r>
                      <a:r>
                        <a:rPr lang="en-AU" sz="950" b="0" i="0" u="none" strike="noStrike" kern="120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igh</a:t>
                      </a:r>
                      <a:r>
                        <a:rPr lang="en-AU" sz="95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dependence on select vendor</a:t>
                      </a:r>
                      <a:endParaRPr lang="en-AU" sz="95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711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AU" sz="9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Should-cost models and D2V for packaging </a:t>
                      </a:r>
                    </a:p>
                    <a:p>
                      <a:pPr marL="177800" marR="0" lvl="0" indent="-177800" algn="l" defTabSz="711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AU" sz="9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Reformulations for optimizing ingredients consumption </a:t>
                      </a:r>
                    </a:p>
                    <a:p>
                      <a:pPr marL="177800" marR="0" lvl="0" indent="-177800" algn="l" defTabSz="711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AU" sz="9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Strategies for purchasing commodities,</a:t>
                      </a:r>
                      <a:r>
                        <a:rPr lang="en-US" altLang="zh-CN" sz="9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price change mechanisms to manage volatility</a:t>
                      </a:r>
                      <a:endParaRPr lang="en-AU" sz="95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711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AU" sz="9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Centralized procurement, currently there is </a:t>
                      </a:r>
                      <a:r>
                        <a:rPr lang="en-US" sz="95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significant spend overlap between COO, FS and GM; critical to extend collaboration to realize joint full potential</a:t>
                      </a:r>
                    </a:p>
                    <a:p>
                      <a:pPr marL="177800" marR="0" lvl="0" indent="-177800" algn="l" defTabSz="711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Competitive bids through RFQs, price negotiation with top suppliers, external benchmarking for price negotiations, master service agreement with commercial T&amp;Cs</a:t>
                      </a:r>
                    </a:p>
                    <a:p>
                      <a:pPr marL="177800" marR="0" lvl="0" indent="-177800" algn="l" defTabSz="711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Bundling of spend, global contracts for services</a:t>
                      </a:r>
                    </a:p>
                    <a:p>
                      <a:pPr marL="177800" marR="0" lvl="0" indent="-177800" algn="l" defTabSz="711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Demand control and compliance, establish a business case and governance process to manage demand</a:t>
                      </a:r>
                    </a:p>
                    <a:p>
                      <a:pPr marL="177800" marR="0" lvl="0" indent="-177800" algn="l" defTabSz="711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AU" sz="95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Variability in contract terms of Dairy ingredients </a:t>
                      </a:r>
                    </a:p>
                    <a:p>
                      <a:pPr marL="177800" marR="0" lvl="0" indent="-177800" algn="l" defTabSz="711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AU" sz="9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projects, service mgmt. and software costs</a:t>
                      </a:r>
                      <a:endParaRPr lang="en-US" sz="95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711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lang="en-AU" sz="95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711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lang="en-AU" sz="95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>
                    <a:lnT w="12700" cmpd="sng">
                      <a:solidFill>
                        <a:srgbClr val="EFDBB2"/>
                      </a:solidFill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58743"/>
                  </a:ext>
                </a:extLst>
              </a:tr>
              <a:tr h="220108">
                <a:tc vMerge="1"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A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50">
                          <a:solidFill>
                            <a:schemeClr val="tx1"/>
                          </a:solidFill>
                          <a:latin typeface="+mn-lt"/>
                        </a:rPr>
                        <a:t>Packaging</a:t>
                      </a:r>
                      <a:endParaRPr lang="en-AU" sz="95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486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7-11%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34-53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Taken from COO and GM proc spend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991468"/>
                  </a:ext>
                </a:extLst>
              </a:tr>
              <a:tr h="2201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Utilities procurement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390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5-9%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20-35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Data of COO proc spend available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543377"/>
                  </a:ext>
                </a:extLst>
              </a:tr>
              <a:tr h="3731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50">
                          <a:solidFill>
                            <a:schemeClr val="tx1"/>
                          </a:solidFill>
                          <a:latin typeface="+mn-lt"/>
                        </a:rPr>
                        <a:t>Fleet, transportation and storage services</a:t>
                      </a:r>
                      <a:endParaRPr lang="en-AU" sz="95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566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6-8%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34-40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Data of COO, GM and FS proc spend</a:t>
                      </a:r>
                    </a:p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endParaRPr lang="en-AU" sz="95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153777"/>
                  </a:ext>
                </a:extLst>
              </a:tr>
              <a:tr h="3731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Farm Supplies and chemicals 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1021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5-8%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51-82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Data of GM and FS proc spend</a:t>
                      </a:r>
                    </a:p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endParaRPr lang="en-AU" sz="95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829185"/>
                  </a:ext>
                </a:extLst>
              </a:tr>
              <a:tr h="3731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50">
                          <a:solidFill>
                            <a:schemeClr val="tx1"/>
                          </a:solidFill>
                          <a:latin typeface="+mn-lt"/>
                        </a:rPr>
                        <a:t>Engineering equipment and services </a:t>
                      </a:r>
                      <a:endParaRPr lang="en-AU" sz="95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579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11-13%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64-75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Data of COO and FS proc spend</a:t>
                      </a:r>
                    </a:p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endParaRPr lang="en-AU" sz="95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250739"/>
                  </a:ext>
                </a:extLst>
              </a:tr>
              <a:tr h="2201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IS manufacturing, 3PA manufacturing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475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4-7%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19-33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Taken from GM and COO proc spend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8160632"/>
                  </a:ext>
                </a:extLst>
              </a:tr>
              <a:tr h="2201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Operating services 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156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10-15%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16-23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Taken from COO and FS proc spend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689887"/>
                  </a:ext>
                </a:extLst>
              </a:tr>
              <a:tr h="2201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Managed Services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164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10-15%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16-25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Taken from GM proc spend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952766"/>
                  </a:ext>
                </a:extLst>
              </a:tr>
              <a:tr h="2201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Unclassified expense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83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5-8%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4-7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50">
                          <a:solidFill>
                            <a:schemeClr val="tx1"/>
                          </a:solidFill>
                          <a:latin typeface="+mn-lt"/>
                        </a:rPr>
                        <a:t>Taken from GM, COO and FS proc spend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896988"/>
                  </a:ext>
                </a:extLst>
              </a:tr>
              <a:tr h="2201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COO_others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493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5-6%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25-30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Taken from COO proc spend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527051"/>
                  </a:ext>
                </a:extLst>
              </a:tr>
              <a:tr h="314014">
                <a:tc vMerge="1"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AU" sz="1200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GM _ M&amp;R 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58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8-11%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5-6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Taken from GM manufacturing baseline 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79531323"/>
                  </a:ext>
                </a:extLst>
              </a:tr>
              <a:tr h="1470505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50" b="1">
                          <a:solidFill>
                            <a:schemeClr val="tx1"/>
                          </a:solidFill>
                          <a:latin typeface="+mn-lt"/>
                        </a:rPr>
                        <a:t>Manufacturing</a:t>
                      </a:r>
                      <a:endParaRPr lang="en-AU" sz="95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Manufacturing (Mfg. costs, energy, D&amp;A, etc.)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1,169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8-11%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90-130</a:t>
                      </a: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50" b="0">
                          <a:solidFill>
                            <a:schemeClr val="tx1"/>
                          </a:solidFill>
                          <a:latin typeface="+mn-lt"/>
                        </a:rPr>
                        <a:t>Calculated from COGS excluding </a:t>
                      </a:r>
                    </a:p>
                    <a:p>
                      <a:pPr marL="685800" lvl="1" indent="-228600" algn="l">
                        <a:spcBef>
                          <a:spcPts val="0"/>
                        </a:spcBef>
                        <a:buFontTx/>
                        <a:buAutoNum type="arabicPeriod"/>
                      </a:pPr>
                      <a:r>
                        <a:rPr lang="en-US" sz="950" b="0">
                          <a:solidFill>
                            <a:schemeClr val="tx1"/>
                          </a:solidFill>
                          <a:latin typeface="+mn-lt"/>
                        </a:rPr>
                        <a:t>cost of milk from FY23 annual report and </a:t>
                      </a:r>
                    </a:p>
                    <a:p>
                      <a:pPr marL="685800" lvl="1" indent="-228600" algn="l">
                        <a:spcBef>
                          <a:spcPts val="0"/>
                        </a:spcBef>
                        <a:buFontTx/>
                        <a:buAutoNum type="arabicPeriod"/>
                      </a:pPr>
                      <a:r>
                        <a:rPr lang="en-US" sz="950" b="0">
                          <a:solidFill>
                            <a:schemeClr val="tx1"/>
                          </a:solidFill>
                          <a:latin typeface="+mn-lt"/>
                        </a:rPr>
                        <a:t>adjusted the other costs for procurement based on previous year financials</a:t>
                      </a:r>
                      <a:endParaRPr lang="en-AU" sz="950" b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endParaRPr lang="en-AU" sz="95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5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Four wall optimization (Yield, OEE, Energy and M&amp;R)</a:t>
                      </a:r>
                    </a:p>
                    <a:p>
                      <a:pPr marL="177800" marR="0" lvl="0" indent="-177800" algn="l" defTabSz="711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5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Improve OEE across the plants</a:t>
                      </a:r>
                    </a:p>
                    <a:p>
                      <a:pPr marL="177800" marR="0" lvl="0" indent="-177800" algn="l" defTabSz="711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5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Rightsizing of plant overheads </a:t>
                      </a:r>
                    </a:p>
                    <a:p>
                      <a:pPr marL="177800" marR="0" lvl="0" indent="-177800" algn="l" defTabSz="711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5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Footprint consolidation and facility rationalization</a:t>
                      </a:r>
                    </a:p>
                    <a:p>
                      <a:pPr marL="177800" marR="0" lvl="0" indent="-177800" algn="l" defTabSz="711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5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Secondary cheese consolidation to be accelerated (with add-on hole-in-the-wall procurement opportunities) and extended</a:t>
                      </a:r>
                    </a:p>
                    <a:p>
                      <a:pPr marL="177800" marR="0" lvl="0" indent="-177800" algn="l" defTabSz="711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AU" sz="95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Reduce spending on “planned downtimes”</a:t>
                      </a:r>
                      <a:r>
                        <a:rPr lang="en-US" sz="95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  <a:p>
                      <a:pPr marL="177800" marR="0" lvl="0" indent="-177800" algn="l" defTabSz="711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AU" sz="9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336269"/>
                  </a:ext>
                </a:extLst>
              </a:tr>
              <a:tr h="2072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endParaRPr lang="en-AU" sz="95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endParaRPr lang="en-AU" sz="95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endParaRPr lang="en-AU" sz="95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endParaRPr lang="en-AU" sz="95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endParaRPr lang="en-AU" sz="95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endParaRPr lang="en-AU" sz="95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AU" sz="9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>
                    <a:lnT w="9525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0328113"/>
                  </a:ext>
                </a:extLst>
              </a:tr>
            </a:tbl>
          </a:graphicData>
        </a:graphic>
      </p:graphicFrame>
      <p:sp>
        <p:nvSpPr>
          <p:cNvPr id="5" name="btfpNotesBox919678"/>
          <p:cNvSpPr txBox="1"/>
          <p:nvPr>
            <p:custDataLst>
              <p:tags r:id="rId3"/>
            </p:custDataLst>
          </p:nvPr>
        </p:nvSpPr>
        <p:spPr bwMode="gray">
          <a:xfrm>
            <a:off x="283927" y="6493242"/>
            <a:ext cx="115316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Sources: Fonterra financial statements and investor </a:t>
            </a:r>
            <a:r>
              <a:rPr lang="en-US" sz="950"/>
              <a:t>presentations</a:t>
            </a:r>
            <a:r>
              <a:rPr lang="en-US" sz="800">
                <a:solidFill>
                  <a:srgbClr val="000000"/>
                </a:solidFill>
              </a:rPr>
              <a:t>; Bain experience</a:t>
            </a:r>
          </a:p>
        </p:txBody>
      </p:sp>
      <p:sp>
        <p:nvSpPr>
          <p:cNvPr id="20" name="btfpNumberBubble300872">
            <a:extLst>
              <a:ext uri="{FF2B5EF4-FFF2-40B4-BE49-F238E27FC236}">
                <a16:creationId xmlns:a16="http://schemas.microsoft.com/office/drawing/2014/main" id="{669E0941-EFF9-C7DE-59F8-8A3ABB8E8975}"/>
              </a:ext>
            </a:extLst>
          </p:cNvPr>
          <p:cNvSpPr/>
          <p:nvPr/>
        </p:nvSpPr>
        <p:spPr bwMode="gray">
          <a:xfrm>
            <a:off x="101598" y="1546797"/>
            <a:ext cx="228600" cy="228600"/>
          </a:xfrm>
          <a:prstGeom prst="ellipse">
            <a:avLst/>
          </a:prstGeom>
          <a:solidFill>
            <a:srgbClr val="46647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btfpNumberBubble300872">
            <a:extLst>
              <a:ext uri="{FF2B5EF4-FFF2-40B4-BE49-F238E27FC236}">
                <a16:creationId xmlns:a16="http://schemas.microsoft.com/office/drawing/2014/main" id="{34D09044-A833-E8F5-53C5-763DEB8D092E}"/>
              </a:ext>
            </a:extLst>
          </p:cNvPr>
          <p:cNvSpPr/>
          <p:nvPr/>
        </p:nvSpPr>
        <p:spPr bwMode="gray">
          <a:xfrm>
            <a:off x="78463" y="4907429"/>
            <a:ext cx="228600" cy="228600"/>
          </a:xfrm>
          <a:prstGeom prst="ellipse">
            <a:avLst/>
          </a:prstGeom>
          <a:solidFill>
            <a:srgbClr val="46647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CommentBox">
            <a:extLst>
              <a:ext uri="{FF2B5EF4-FFF2-40B4-BE49-F238E27FC236}">
                <a16:creationId xmlns:a16="http://schemas.microsoft.com/office/drawing/2014/main" id="{6F24F40D-9481-0E08-F128-2369526C843F}"/>
              </a:ext>
            </a:extLst>
          </p:cNvPr>
          <p:cNvSpPr/>
          <p:nvPr/>
        </p:nvSpPr>
        <p:spPr bwMode="gray">
          <a:xfrm>
            <a:off x="9725025" y="93289"/>
            <a:ext cx="2410993" cy="876687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B03C6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900" b="1">
                <a:solidFill>
                  <a:srgbClr val="FFFFFF"/>
                </a:solidFill>
                <a:latin typeface="Arial" panose="020B0604020202020204" pitchFamily="34" charset="0"/>
              </a:rPr>
              <a:t>SBN: CP / Dairy Farm </a:t>
            </a:r>
          </a:p>
        </p:txBody>
      </p:sp>
      <p:sp>
        <p:nvSpPr>
          <p:cNvPr id="22" name="CommentBox">
            <a:extLst>
              <a:ext uri="{FF2B5EF4-FFF2-40B4-BE49-F238E27FC236}">
                <a16:creationId xmlns:a16="http://schemas.microsoft.com/office/drawing/2014/main" id="{0E1CA59F-FE34-7352-47C4-30E3B1A5EA53}"/>
              </a:ext>
            </a:extLst>
          </p:cNvPr>
          <p:cNvSpPr/>
          <p:nvPr/>
        </p:nvSpPr>
        <p:spPr bwMode="gray">
          <a:xfrm>
            <a:off x="9725025" y="1047571"/>
            <a:ext cx="2410993" cy="876687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B03C6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900" b="1">
                <a:solidFill>
                  <a:srgbClr val="FFFFFF"/>
                </a:solidFill>
                <a:latin typeface="Arial" panose="020B0604020202020204" pitchFamily="34" charset="0"/>
              </a:rPr>
              <a:t>SBN: this is internal client data but shows you the main buckets and some further breakdown of the cost bar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7369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btfpColumnIndicatorGroup2">
            <a:extLst>
              <a:ext uri="{FF2B5EF4-FFF2-40B4-BE49-F238E27FC236}">
                <a16:creationId xmlns:a16="http://schemas.microsoft.com/office/drawing/2014/main" id="{61F5288D-6B13-A4E2-808A-760218ACD583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9" name="btfpColumnGapBlocker172435">
              <a:extLst>
                <a:ext uri="{FF2B5EF4-FFF2-40B4-BE49-F238E27FC236}">
                  <a16:creationId xmlns:a16="http://schemas.microsoft.com/office/drawing/2014/main" id="{E6585884-96F1-06A8-2B9E-16795360385C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4" name="btfpColumnGapBlocker493011">
              <a:extLst>
                <a:ext uri="{FF2B5EF4-FFF2-40B4-BE49-F238E27FC236}">
                  <a16:creationId xmlns:a16="http://schemas.microsoft.com/office/drawing/2014/main" id="{D7CE32FC-E4A1-D36A-CEE1-E61158FF2C07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361067">
              <a:extLst>
                <a:ext uri="{FF2B5EF4-FFF2-40B4-BE49-F238E27FC236}">
                  <a16:creationId xmlns:a16="http://schemas.microsoft.com/office/drawing/2014/main" id="{BD279F00-8DEF-A54C-9CDE-AC452C661D14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294296">
              <a:extLst>
                <a:ext uri="{FF2B5EF4-FFF2-40B4-BE49-F238E27FC236}">
                  <a16:creationId xmlns:a16="http://schemas.microsoft.com/office/drawing/2014/main" id="{AA7C530A-6B10-2328-A119-78B449151EC0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btfpColumnIndicatorGroup1">
            <a:extLst>
              <a:ext uri="{FF2B5EF4-FFF2-40B4-BE49-F238E27FC236}">
                <a16:creationId xmlns:a16="http://schemas.microsoft.com/office/drawing/2014/main" id="{71924AB4-FF7B-3B3C-1530-4FC165D0DA3B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5" name="btfpColumnGapBlocker288915">
              <a:extLst>
                <a:ext uri="{FF2B5EF4-FFF2-40B4-BE49-F238E27FC236}">
                  <a16:creationId xmlns:a16="http://schemas.microsoft.com/office/drawing/2014/main" id="{1CBAF0A4-A29A-B95C-2E99-B8CC6E468A31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3" name="btfpColumnGapBlocker310234">
              <a:extLst>
                <a:ext uri="{FF2B5EF4-FFF2-40B4-BE49-F238E27FC236}">
                  <a16:creationId xmlns:a16="http://schemas.microsoft.com/office/drawing/2014/main" id="{4D433C19-DC45-7B41-E6D7-D8FC32B4C77F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1" name="btfpColumnIndicator758790">
              <a:extLst>
                <a:ext uri="{FF2B5EF4-FFF2-40B4-BE49-F238E27FC236}">
                  <a16:creationId xmlns:a16="http://schemas.microsoft.com/office/drawing/2014/main" id="{391FA96F-5C8F-C6E9-6305-C4E982197608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btfpColumnIndicator225958">
              <a:extLst>
                <a:ext uri="{FF2B5EF4-FFF2-40B4-BE49-F238E27FC236}">
                  <a16:creationId xmlns:a16="http://schemas.microsoft.com/office/drawing/2014/main" id="{4479BEBF-D519-A604-C152-AC8E91A6342E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Opportunity levers for Fonterra - Detail (2 of 2)</a:t>
            </a:r>
            <a:endParaRPr lang="en-AU"/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20316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AU" sz="100">
                <a:solidFill>
                  <a:srgbClr val="FFFFFF">
                    <a:alpha val="0"/>
                  </a:srgbClr>
                </a:solidFill>
              </a:rPr>
              <a:t>overall_1_132288911084368388 columns_1_132138598560517975 4_1_132288911092621700 5_1_132283664504302593 </a:t>
            </a:r>
          </a:p>
        </p:txBody>
      </p:sp>
      <p:graphicFrame>
        <p:nvGraphicFramePr>
          <p:cNvPr id="4" name="btfpTable895637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58600336"/>
              </p:ext>
            </p:extLst>
          </p:nvPr>
        </p:nvGraphicFramePr>
        <p:xfrm>
          <a:off x="330198" y="1299028"/>
          <a:ext cx="11315700" cy="5212189"/>
        </p:xfrm>
        <a:graphic>
          <a:graphicData uri="http://schemas.openxmlformats.org/drawingml/2006/table">
            <a:tbl>
              <a:tblPr firstRow="1" lastRow="1">
                <a:tableStyleId>{9D7B26C5-4107-4FEC-AEDC-1716B250A1EF}</a:tableStyleId>
              </a:tblPr>
              <a:tblGrid>
                <a:gridCol w="1209844">
                  <a:extLst>
                    <a:ext uri="{9D8B030D-6E8A-4147-A177-3AD203B41FA5}">
                      <a16:colId xmlns:a16="http://schemas.microsoft.com/office/drawing/2014/main" val="150100461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185878707"/>
                    </a:ext>
                  </a:extLst>
                </a:gridCol>
                <a:gridCol w="644893">
                  <a:extLst>
                    <a:ext uri="{9D8B030D-6E8A-4147-A177-3AD203B41FA5}">
                      <a16:colId xmlns:a16="http://schemas.microsoft.com/office/drawing/2014/main" val="1037966535"/>
                    </a:ext>
                  </a:extLst>
                </a:gridCol>
                <a:gridCol w="635267">
                  <a:extLst>
                    <a:ext uri="{9D8B030D-6E8A-4147-A177-3AD203B41FA5}">
                      <a16:colId xmlns:a16="http://schemas.microsoft.com/office/drawing/2014/main" val="3107196892"/>
                    </a:ext>
                  </a:extLst>
                </a:gridCol>
                <a:gridCol w="654518">
                  <a:extLst>
                    <a:ext uri="{9D8B030D-6E8A-4147-A177-3AD203B41FA5}">
                      <a16:colId xmlns:a16="http://schemas.microsoft.com/office/drawing/2014/main" val="2998534137"/>
                    </a:ext>
                  </a:extLst>
                </a:gridCol>
                <a:gridCol w="3060834">
                  <a:extLst>
                    <a:ext uri="{9D8B030D-6E8A-4147-A177-3AD203B41FA5}">
                      <a16:colId xmlns:a16="http://schemas.microsoft.com/office/drawing/2014/main" val="3129527382"/>
                    </a:ext>
                  </a:extLst>
                </a:gridCol>
                <a:gridCol w="3464424">
                  <a:extLst>
                    <a:ext uri="{9D8B030D-6E8A-4147-A177-3AD203B41FA5}">
                      <a16:colId xmlns:a16="http://schemas.microsoft.com/office/drawing/2014/main" val="2023948672"/>
                    </a:ext>
                  </a:extLst>
                </a:gridCol>
              </a:tblGrid>
              <a:tr h="344093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latin typeface="+mn-lt"/>
                        </a:rPr>
                        <a:t>Lever</a:t>
                      </a:r>
                    </a:p>
                  </a:txBody>
                  <a:tcPr marL="18000" marR="18000" marT="18000" marB="18000" anchor="b"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50">
                          <a:latin typeface="+mn-lt"/>
                        </a:rPr>
                        <a:t>Components</a:t>
                      </a:r>
                      <a:endParaRPr lang="en-AU" sz="950">
                        <a:latin typeface="+mn-lt"/>
                      </a:endParaRPr>
                    </a:p>
                  </a:txBody>
                  <a:tcPr marL="18000" marR="18000" marT="18000" marB="18000" anchor="b"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50">
                          <a:latin typeface="+mn-lt"/>
                        </a:rPr>
                        <a:t>Baseline</a:t>
                      </a:r>
                    </a:p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50">
                          <a:latin typeface="+mn-lt"/>
                        </a:rPr>
                        <a:t>(NZD, M)</a:t>
                      </a:r>
                      <a:endParaRPr lang="en-AU" sz="950">
                        <a:latin typeface="+mn-lt"/>
                      </a:endParaRPr>
                    </a:p>
                  </a:txBody>
                  <a:tcPr marL="18000" marR="18000" marT="18000" marB="18000" anchor="b"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latin typeface="+mn-lt"/>
                        </a:rPr>
                        <a:t>Savings Range</a:t>
                      </a:r>
                    </a:p>
                  </a:txBody>
                  <a:tcPr marL="18000" marR="18000" marT="18000" marB="18000" anchor="b"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5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SOP</a:t>
                      </a:r>
                      <a:br>
                        <a:rPr lang="en-AU" sz="950" b="1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AU" sz="950" b="1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(NZD, M)</a:t>
                      </a:r>
                      <a:endParaRPr lang="en-AU" sz="950" b="1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b"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5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How we arrived at the baseline</a:t>
                      </a:r>
                    </a:p>
                  </a:txBody>
                  <a:tcPr marL="18000" marR="18000" marT="18000" marB="18000" anchor="b"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>
                          <a:latin typeface="+mn-lt"/>
                        </a:rPr>
                        <a:t>Key Levers</a:t>
                      </a:r>
                    </a:p>
                  </a:txBody>
                  <a:tcPr marL="18000" marR="18000" marT="18000" marB="18000" anchor="b"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5680128"/>
                  </a:ext>
                </a:extLst>
              </a:tr>
              <a:tr h="890115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1">
                          <a:solidFill>
                            <a:schemeClr val="tx1"/>
                          </a:solidFill>
                          <a:latin typeface="+mn-lt"/>
                        </a:rPr>
                        <a:t>Supply Chain </a:t>
                      </a:r>
                    </a:p>
                  </a:txBody>
                  <a:tcPr marL="18000" marR="18000" marT="18000" marB="180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50">
                          <a:solidFill>
                            <a:schemeClr val="tx1"/>
                          </a:solidFill>
                          <a:latin typeface="+mn-lt"/>
                        </a:rPr>
                        <a:t>Transport spend (Sea, Land), Storage and warehousing spend, and distribution spend</a:t>
                      </a:r>
                    </a:p>
                  </a:txBody>
                  <a:tcPr marL="18000" marR="18000" marT="18000" marB="180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710</a:t>
                      </a:r>
                    </a:p>
                  </a:txBody>
                  <a:tcPr marL="18000" marR="18000" marT="18000" marB="180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3-5%</a:t>
                      </a:r>
                    </a:p>
                  </a:txBody>
                  <a:tcPr marL="18000" marR="18000" marT="18000" marB="180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20-40</a:t>
                      </a:r>
                    </a:p>
                  </a:txBody>
                  <a:tcPr marL="18000" marR="18000" marT="18000" marB="180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50" b="0">
                          <a:solidFill>
                            <a:schemeClr val="tx1"/>
                          </a:solidFill>
                          <a:latin typeface="+mn-lt"/>
                        </a:rPr>
                        <a:t>Derived from storage and distribution spend in FY23 annual report; de-duped for 3P procurement spend </a:t>
                      </a:r>
                      <a:endParaRPr lang="en-AU" sz="95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" marR="18000" marT="18000" marB="180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indent="-177800" algn="l" fontAlgn="b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AU" sz="95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Network and route optimization 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5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Offset rising transportation pricing with order clustering / truck utilization / rate optimization 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5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Kotahi rate optimization through optimizing the mix of lowest contract price vs market and spot price</a:t>
                      </a:r>
                      <a:endParaRPr lang="en-AU" sz="95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lang="en-US" sz="95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704476"/>
                  </a:ext>
                </a:extLst>
              </a:tr>
              <a:tr h="401579">
                <a:tc rowSpan="7"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1">
                          <a:solidFill>
                            <a:schemeClr val="tx1"/>
                          </a:solidFill>
                          <a:latin typeface="+mn-lt"/>
                        </a:rPr>
                        <a:t>SG&amp;A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S&amp;M FTE 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280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5-10%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14-28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50" b="0">
                          <a:solidFill>
                            <a:schemeClr val="tx1"/>
                          </a:solidFill>
                          <a:latin typeface="+mn-lt"/>
                        </a:rPr>
                        <a:t>Sales &amp; Marketing headcount in China inferred from Global Markets headcount mix</a:t>
                      </a:r>
                      <a:endParaRPr lang="en-AU" sz="95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7">
                  <a:txBody>
                    <a:bodyPr/>
                    <a:lstStyle/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altLang="zh-CN" sz="9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 functional productivity IT / HR / Finance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altLang="zh-CN" sz="9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Optimize functional org. structure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AU" sz="95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R&amp;D resource allocation basis high potential ROI projects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5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Right mix of inhouse vs outsourcing for R&amp;D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Streamline Innovation and R&amp;D – single function, supporting multiple service lines and BU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Manage G&amp;A Cost more closely, with dual accountability function X BU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Set up shared service/ GBS to bring down costs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Streamline functional organizations across BUs, e.g.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Harmonizing spans and layers</a:t>
                      </a:r>
                    </a:p>
                    <a:p>
                      <a:pPr marL="177800" marR="0" lvl="0" indent="-177800" algn="l" defTabSz="711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Explore Shared services</a:t>
                      </a:r>
                      <a:endParaRPr lang="en-US" sz="95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130445"/>
                  </a:ext>
                </a:extLst>
              </a:tr>
              <a:tr h="318819">
                <a:tc vMerge="1"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1">
                          <a:solidFill>
                            <a:schemeClr val="tx1"/>
                          </a:solidFill>
                          <a:latin typeface="+mn-lt"/>
                        </a:rPr>
                        <a:t>G&amp;A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HR FTE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20-25%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30-35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b="0">
                          <a:solidFill>
                            <a:schemeClr val="tx1"/>
                          </a:solidFill>
                          <a:latin typeface="+mn-lt"/>
                        </a:rPr>
                        <a:t>Sales &amp; Marketing headcount in China inferred from Global Markets headcount mix</a:t>
                      </a: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 + eyeballed from Org chart</a:t>
                      </a:r>
                      <a:r>
                        <a:rPr lang="en-US" sz="950" b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endParaRPr lang="en-AU" sz="95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altLang="zh-CN" sz="9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 functional productivity IT / HR / Finance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altLang="zh-CN" sz="9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Optimize functional org. structure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AU" sz="95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R&amp;D resource allocation basis high potential ROI projects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5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Right mix of inhouse vs outsourcing for R&amp;D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Streamline Innovation and R&amp;D – single function, supporting multiple service lines and BU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Manage G&amp;A Cost more closely, with dual accountability function X BU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Set up shared service/ GBS to bring down costs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Streamline functional organizations across BUs, e.g.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Harmonizing spans and layers</a:t>
                      </a:r>
                    </a:p>
                    <a:p>
                      <a:pPr marL="177800" marR="0" lvl="0" indent="-177800" algn="l" defTabSz="711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Explore Shared services</a:t>
                      </a:r>
                      <a:endParaRPr lang="en-US" sz="95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149882"/>
                  </a:ext>
                </a:extLst>
              </a:tr>
              <a:tr h="3188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IT FTE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15-25%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10-15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1426A"/>
                          </a:solidFill>
                          <a:effectLst/>
                          <a:uLnTx/>
                          <a:uFillTx/>
                          <a:latin typeface="Arial"/>
                          <a:ea typeface="Microsoft YaHei"/>
                          <a:cs typeface="Arial"/>
                        </a:rPr>
                        <a:t>IT FTE file from clients</a:t>
                      </a:r>
                      <a:endParaRPr kumimoji="0" lang="en-AU" sz="9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1426A"/>
                        </a:solidFill>
                        <a:effectLst/>
                        <a:uLnTx/>
                        <a:uFillTx/>
                        <a:latin typeface="Arial"/>
                        <a:ea typeface="Microsoft YaHei"/>
                        <a:cs typeface="Arial"/>
                      </a:endParaRP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979263"/>
                  </a:ext>
                </a:extLst>
              </a:tr>
              <a:tr h="3188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Finance FTE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30-40%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45-60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1426A"/>
                          </a:solidFill>
                          <a:effectLst/>
                          <a:uLnTx/>
                          <a:uFillTx/>
                          <a:latin typeface="Arial"/>
                          <a:ea typeface="Microsoft YaHei"/>
                          <a:cs typeface="Arial"/>
                        </a:rPr>
                        <a:t>Extrapolated for full group from GM Finance Transformation work</a:t>
                      </a:r>
                      <a:endParaRPr kumimoji="0" lang="en-AU" sz="9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1426A"/>
                        </a:solidFill>
                        <a:effectLst/>
                        <a:uLnTx/>
                        <a:uFillTx/>
                        <a:latin typeface="Arial"/>
                        <a:ea typeface="Microsoft YaHei"/>
                        <a:cs typeface="Arial"/>
                      </a:endParaRP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621260"/>
                  </a:ext>
                </a:extLst>
              </a:tr>
              <a:tr h="3188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Other FTE (Leadership, Admin, Facility, etc.)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15-25%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30-50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1426A"/>
                          </a:solidFill>
                          <a:effectLst/>
                          <a:uLnTx/>
                          <a:uFillTx/>
                          <a:latin typeface="Arial"/>
                          <a:ea typeface="Microsoft YaHei"/>
                          <a:cs typeface="Arial"/>
                        </a:rPr>
                        <a:t>Catch-all for non allocated FTEs</a:t>
                      </a:r>
                      <a:endParaRPr kumimoji="0" lang="en-AU" sz="9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1426A"/>
                        </a:solidFill>
                        <a:effectLst/>
                        <a:uLnTx/>
                        <a:uFillTx/>
                        <a:latin typeface="Arial"/>
                        <a:ea typeface="Microsoft YaHei"/>
                        <a:cs typeface="Arial"/>
                      </a:endParaRP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745393"/>
                  </a:ext>
                </a:extLst>
              </a:tr>
              <a:tr h="1809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R&amp;D total spend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10-15%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12-17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b="0">
                          <a:solidFill>
                            <a:schemeClr val="tx1"/>
                          </a:solidFill>
                          <a:latin typeface="+mn-lt"/>
                        </a:rPr>
                        <a:t>Assumed same as FY22 annual report figure</a:t>
                      </a:r>
                      <a:endParaRPr lang="en-AU" sz="95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054107"/>
                  </a:ext>
                </a:extLst>
              </a:tr>
              <a:tr h="1809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Other Overheads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b" latinLnBrk="0" hangingPunct="1">
                        <a:spcBef>
                          <a:spcPts val="1200"/>
                        </a:spcBef>
                        <a:buNone/>
                      </a:pPr>
                      <a:r>
                        <a:rPr lang="en-US" sz="9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154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15-25%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23-40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b="0">
                          <a:solidFill>
                            <a:schemeClr val="tx1"/>
                          </a:solidFill>
                          <a:latin typeface="+mn-lt"/>
                        </a:rPr>
                        <a:t>Other unclassified operating expenses</a:t>
                      </a:r>
                      <a:endParaRPr lang="en-AU" sz="95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767763"/>
                  </a:ext>
                </a:extLst>
              </a:tr>
              <a:tr h="885949">
                <a:tc rowSpan="2"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1">
                          <a:solidFill>
                            <a:schemeClr val="tx1"/>
                          </a:solidFill>
                          <a:latin typeface="+mn-lt"/>
                        </a:rPr>
                        <a:t>Others (Quality and yield of milk)</a:t>
                      </a:r>
                    </a:p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endParaRPr lang="en-AU" sz="950" b="1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endParaRPr lang="en-AU" sz="950" b="1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endParaRPr lang="en-AU" sz="950" b="1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endParaRPr lang="en-AU" sz="950" b="1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1">
                          <a:solidFill>
                            <a:schemeClr val="tx1"/>
                          </a:solidFill>
                          <a:latin typeface="+mn-lt"/>
                        </a:rPr>
                        <a:t>Others (A&amp;P)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Total milk cost (NZ milk, Non-NZ milk and inventory adjustments)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14,217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~1%-2%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~120-250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50" b="0">
                          <a:solidFill>
                            <a:schemeClr val="tx1"/>
                          </a:solidFill>
                          <a:latin typeface="+mn-lt"/>
                        </a:rPr>
                        <a:t>FY23 annual report</a:t>
                      </a:r>
                      <a:endParaRPr lang="en-AU" sz="95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" marR="18000" marT="18000" marB="18000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Optimize storage capacity 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Reduce pipeline wastages and yield losses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Enhance S&amp;OP to reduce quality issues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Loss measurement systems in reception (inbound) and processing areas</a:t>
                      </a:r>
                    </a:p>
                  </a:txBody>
                  <a:tcPr marL="18000" marR="18000" marT="18000" marB="180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234179"/>
                  </a:ext>
                </a:extLst>
              </a:tr>
              <a:tr h="602384">
                <a:tc vMerge="1"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1">
                          <a:solidFill>
                            <a:schemeClr val="tx1"/>
                          </a:solidFill>
                          <a:latin typeface="+mn-lt"/>
                        </a:rPr>
                        <a:t>Others (A&amp;P)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Non Labour sales and marketing spend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219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10-15%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0">
                          <a:solidFill>
                            <a:schemeClr val="tx1"/>
                          </a:solidFill>
                          <a:latin typeface="+mn-lt"/>
                        </a:rPr>
                        <a:t>20-40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50" b="0">
                          <a:solidFill>
                            <a:schemeClr val="tx1"/>
                          </a:solidFill>
                          <a:latin typeface="+mn-lt"/>
                        </a:rPr>
                        <a:t>FY23 annual report</a:t>
                      </a:r>
                      <a:endParaRPr lang="en-AU" sz="95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Control frontline discounting and deals, reduce unprofitable promotional spending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Optimal distribution networks 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Measure ad campaign success through clear ROI metrics</a:t>
                      </a:r>
                    </a:p>
                  </a:txBody>
                  <a:tcPr marL="18000" marR="18000" marT="18000" marB="18000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5406935"/>
                  </a:ext>
                </a:extLst>
              </a:tr>
              <a:tr h="258537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1">
                          <a:solidFill>
                            <a:schemeClr val="tx1"/>
                          </a:solidFill>
                          <a:latin typeface="+mn-lt"/>
                        </a:rPr>
                        <a:t>Total</a:t>
                      </a:r>
                    </a:p>
                  </a:txBody>
                  <a:tcPr marL="18000" marR="18000" marT="18000" marB="18000" anchor="b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B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endParaRPr lang="en-AU" sz="95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" marR="18000" marT="18000" marB="18000" anchor="b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B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b" latinLnBrk="0" hangingPunct="1">
                        <a:spcBef>
                          <a:spcPts val="1200"/>
                        </a:spcBef>
                        <a:buNone/>
                      </a:pPr>
                      <a:r>
                        <a:rPr lang="en-US" sz="95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22,902</a:t>
                      </a:r>
                    </a:p>
                  </a:txBody>
                  <a:tcPr marL="0" marR="0" marT="0" marB="0" anchor="b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B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endParaRPr lang="en-AU" sz="95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" marR="18000" marT="18000" marB="18000" anchor="b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B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AU" sz="950" b="1">
                          <a:solidFill>
                            <a:schemeClr val="tx1"/>
                          </a:solidFill>
                          <a:latin typeface="+mn-lt"/>
                        </a:rPr>
                        <a:t>730-1160</a:t>
                      </a:r>
                    </a:p>
                  </a:txBody>
                  <a:tcPr marL="18000" marR="18000" marT="18000" marB="18000" anchor="b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B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endParaRPr lang="en-AU" sz="95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" marR="18000" marT="18000" marB="18000" anchor="b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BB2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lang="en-US" sz="95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" marR="18000" marT="18000" marB="18000" anchor="b">
                    <a:lnT w="12700" cap="flat" cmpd="sng" algn="ctr">
                      <a:solidFill>
                        <a:srgbClr val="EFDB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B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614119"/>
                  </a:ext>
                </a:extLst>
              </a:tr>
            </a:tbl>
          </a:graphicData>
        </a:graphic>
      </p:graphicFrame>
      <p:sp>
        <p:nvSpPr>
          <p:cNvPr id="5" name="btfpNotesBox919678"/>
          <p:cNvSpPr txBox="1"/>
          <p:nvPr>
            <p:custDataLst>
              <p:tags r:id="rId3"/>
            </p:custDataLst>
          </p:nvPr>
        </p:nvSpPr>
        <p:spPr bwMode="gray">
          <a:xfrm>
            <a:off x="283927" y="6493242"/>
            <a:ext cx="115316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Sources: Fonterra financial statements and investor </a:t>
            </a:r>
            <a:r>
              <a:rPr lang="en-US" sz="950"/>
              <a:t>presentations</a:t>
            </a:r>
            <a:r>
              <a:rPr lang="en-US" sz="800">
                <a:solidFill>
                  <a:srgbClr val="000000"/>
                </a:solidFill>
              </a:rPr>
              <a:t>; Bain experience</a:t>
            </a:r>
          </a:p>
        </p:txBody>
      </p:sp>
      <p:sp>
        <p:nvSpPr>
          <p:cNvPr id="6" name="btfpNumberBubble300872">
            <a:extLst>
              <a:ext uri="{FF2B5EF4-FFF2-40B4-BE49-F238E27FC236}">
                <a16:creationId xmlns:a16="http://schemas.microsoft.com/office/drawing/2014/main" id="{D6A76E04-72EC-386F-DCA6-4D1F835A31CA}"/>
              </a:ext>
            </a:extLst>
          </p:cNvPr>
          <p:cNvSpPr/>
          <p:nvPr/>
        </p:nvSpPr>
        <p:spPr bwMode="gray">
          <a:xfrm>
            <a:off x="101598" y="1674224"/>
            <a:ext cx="228600" cy="228600"/>
          </a:xfrm>
          <a:prstGeom prst="ellipse">
            <a:avLst/>
          </a:prstGeom>
          <a:solidFill>
            <a:srgbClr val="46647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btfpNumberBubble300872">
            <a:extLst>
              <a:ext uri="{FF2B5EF4-FFF2-40B4-BE49-F238E27FC236}">
                <a16:creationId xmlns:a16="http://schemas.microsoft.com/office/drawing/2014/main" id="{AAF17480-9E8E-ED66-A756-486F7555125C}"/>
              </a:ext>
            </a:extLst>
          </p:cNvPr>
          <p:cNvSpPr/>
          <p:nvPr/>
        </p:nvSpPr>
        <p:spPr bwMode="gray">
          <a:xfrm>
            <a:off x="101598" y="2605056"/>
            <a:ext cx="228600" cy="228600"/>
          </a:xfrm>
          <a:prstGeom prst="ellipse">
            <a:avLst/>
          </a:prstGeom>
          <a:solidFill>
            <a:srgbClr val="46647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" name="btfpNumberBubble300872">
            <a:extLst>
              <a:ext uri="{FF2B5EF4-FFF2-40B4-BE49-F238E27FC236}">
                <a16:creationId xmlns:a16="http://schemas.microsoft.com/office/drawing/2014/main" id="{C068A3EA-B893-C179-08FC-A87A9BA0DB93}"/>
              </a:ext>
            </a:extLst>
          </p:cNvPr>
          <p:cNvSpPr/>
          <p:nvPr/>
        </p:nvSpPr>
        <p:spPr bwMode="gray">
          <a:xfrm>
            <a:off x="101598" y="4623959"/>
            <a:ext cx="228600" cy="228600"/>
          </a:xfrm>
          <a:prstGeom prst="ellipse">
            <a:avLst/>
          </a:prstGeom>
          <a:solidFill>
            <a:srgbClr val="46647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CommentBox">
            <a:extLst>
              <a:ext uri="{FF2B5EF4-FFF2-40B4-BE49-F238E27FC236}">
                <a16:creationId xmlns:a16="http://schemas.microsoft.com/office/drawing/2014/main" id="{7BC96BAA-0D92-94BB-1AEB-557B04F6C9DC}"/>
              </a:ext>
            </a:extLst>
          </p:cNvPr>
          <p:cNvSpPr/>
          <p:nvPr/>
        </p:nvSpPr>
        <p:spPr bwMode="gray">
          <a:xfrm>
            <a:off x="9725025" y="93289"/>
            <a:ext cx="2410993" cy="876687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B03C6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900" b="1">
                <a:solidFill>
                  <a:srgbClr val="FFFFFF"/>
                </a:solidFill>
                <a:latin typeface="Arial" panose="020B0604020202020204" pitchFamily="34" charset="0"/>
              </a:rPr>
              <a:t>SBN: CP / Dairy Farm </a:t>
            </a:r>
          </a:p>
        </p:txBody>
      </p:sp>
      <p:sp>
        <p:nvSpPr>
          <p:cNvPr id="24" name="CommentBox">
            <a:extLst>
              <a:ext uri="{FF2B5EF4-FFF2-40B4-BE49-F238E27FC236}">
                <a16:creationId xmlns:a16="http://schemas.microsoft.com/office/drawing/2014/main" id="{85AF6A8E-ECFE-9CD7-943A-8D6A78B4D9D0}"/>
              </a:ext>
            </a:extLst>
          </p:cNvPr>
          <p:cNvSpPr/>
          <p:nvPr/>
        </p:nvSpPr>
        <p:spPr bwMode="gray">
          <a:xfrm>
            <a:off x="9725025" y="1047571"/>
            <a:ext cx="2410993" cy="876687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B03C6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900" b="1">
                <a:solidFill>
                  <a:srgbClr val="FFFFFF"/>
                </a:solidFill>
                <a:latin typeface="Arial" panose="020B0604020202020204" pitchFamily="34" charset="0"/>
              </a:rPr>
              <a:t>SBN: this is internal client data but shows you the main buckets and some further breakdown of the cost bar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0079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btfpTable237788">
            <a:extLst>
              <a:ext uri="{FF2B5EF4-FFF2-40B4-BE49-F238E27FC236}">
                <a16:creationId xmlns:a16="http://schemas.microsoft.com/office/drawing/2014/main" id="{37E4FE4F-9C95-7BDC-5A08-60917218D0EC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39923" y="1453027"/>
          <a:ext cx="11398199" cy="4759684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608594">
                  <a:extLst>
                    <a:ext uri="{9D8B030D-6E8A-4147-A177-3AD203B41FA5}">
                      <a16:colId xmlns:a16="http://schemas.microsoft.com/office/drawing/2014/main" val="3904920583"/>
                    </a:ext>
                  </a:extLst>
                </a:gridCol>
                <a:gridCol w="1144731">
                  <a:extLst>
                    <a:ext uri="{9D8B030D-6E8A-4147-A177-3AD203B41FA5}">
                      <a16:colId xmlns:a16="http://schemas.microsoft.com/office/drawing/2014/main" val="1721419204"/>
                    </a:ext>
                  </a:extLst>
                </a:gridCol>
                <a:gridCol w="1234982">
                  <a:extLst>
                    <a:ext uri="{9D8B030D-6E8A-4147-A177-3AD203B41FA5}">
                      <a16:colId xmlns:a16="http://schemas.microsoft.com/office/drawing/2014/main" val="2632300580"/>
                    </a:ext>
                  </a:extLst>
                </a:gridCol>
                <a:gridCol w="1234982">
                  <a:extLst>
                    <a:ext uri="{9D8B030D-6E8A-4147-A177-3AD203B41FA5}">
                      <a16:colId xmlns:a16="http://schemas.microsoft.com/office/drawing/2014/main" val="1863792715"/>
                    </a:ext>
                  </a:extLst>
                </a:gridCol>
                <a:gridCol w="1234982">
                  <a:extLst>
                    <a:ext uri="{9D8B030D-6E8A-4147-A177-3AD203B41FA5}">
                      <a16:colId xmlns:a16="http://schemas.microsoft.com/office/drawing/2014/main" val="798963275"/>
                    </a:ext>
                  </a:extLst>
                </a:gridCol>
                <a:gridCol w="1234982">
                  <a:extLst>
                    <a:ext uri="{9D8B030D-6E8A-4147-A177-3AD203B41FA5}">
                      <a16:colId xmlns:a16="http://schemas.microsoft.com/office/drawing/2014/main" val="1951231600"/>
                    </a:ext>
                  </a:extLst>
                </a:gridCol>
                <a:gridCol w="1234982">
                  <a:extLst>
                    <a:ext uri="{9D8B030D-6E8A-4147-A177-3AD203B41FA5}">
                      <a16:colId xmlns:a16="http://schemas.microsoft.com/office/drawing/2014/main" val="3576989815"/>
                    </a:ext>
                  </a:extLst>
                </a:gridCol>
                <a:gridCol w="1234982">
                  <a:extLst>
                    <a:ext uri="{9D8B030D-6E8A-4147-A177-3AD203B41FA5}">
                      <a16:colId xmlns:a16="http://schemas.microsoft.com/office/drawing/2014/main" val="397648280"/>
                    </a:ext>
                  </a:extLst>
                </a:gridCol>
                <a:gridCol w="1234982">
                  <a:extLst>
                    <a:ext uri="{9D8B030D-6E8A-4147-A177-3AD203B41FA5}">
                      <a16:colId xmlns:a16="http://schemas.microsoft.com/office/drawing/2014/main" val="898158727"/>
                    </a:ext>
                  </a:extLst>
                </a:gridCol>
              </a:tblGrid>
              <a:tr h="279647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</a:endParaRPr>
                    </a:p>
                  </a:txBody>
                  <a:tcPr marT="41564" marB="41564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CABA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CC0000"/>
                          </a:solidFill>
                          <a:effectLst/>
                          <a:latin typeface="+mn-lt"/>
                        </a:rPr>
                        <a:t>Global Players </a:t>
                      </a:r>
                    </a:p>
                  </a:txBody>
                  <a:tcPr marL="7620" marR="7620" marT="6927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CAB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6927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6927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6927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CC0000"/>
                          </a:solidFill>
                          <a:effectLst/>
                          <a:latin typeface="+mn-lt"/>
                        </a:rPr>
                        <a:t>Japanese Players</a:t>
                      </a:r>
                    </a:p>
                  </a:txBody>
                  <a:tcPr marL="7620" marR="7620" marT="6927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CAB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</a:endParaRPr>
                    </a:p>
                  </a:txBody>
                  <a:tcPr marT="41564" marB="4156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50" b="1">
                          <a:solidFill>
                            <a:srgbClr val="CC0000"/>
                          </a:solidFill>
                        </a:rPr>
                        <a:t>Industry Median</a:t>
                      </a:r>
                    </a:p>
                  </a:txBody>
                  <a:tcPr marT="41564" marB="4156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CAB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b" latinLnBrk="0" hangingPunct="1">
                        <a:spcBef>
                          <a:spcPts val="1200"/>
                        </a:spcBef>
                        <a:buNone/>
                      </a:pP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6927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CA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329192"/>
                  </a:ext>
                </a:extLst>
              </a:tr>
              <a:tr h="279647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</a:rPr>
                        <a:t>Net Sales (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</a:rPr>
                        <a:t>USD Mn)</a:t>
                      </a:r>
                    </a:p>
                  </a:txBody>
                  <a:tcPr marT="41564" marB="41564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15,155 </a:t>
                      </a:r>
                    </a:p>
                  </a:txBody>
                  <a:tcPr marL="7620" marR="7620" marT="6927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14,531 </a:t>
                      </a:r>
                    </a:p>
                  </a:txBody>
                  <a:tcPr marL="7620" marR="7620" marT="6927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14,829</a:t>
                      </a:r>
                    </a:p>
                  </a:txBody>
                  <a:tcPr marL="7620" marR="7620" marT="6927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18,262</a:t>
                      </a:r>
                    </a:p>
                  </a:txBody>
                  <a:tcPr marL="7620" marR="7620" marT="6927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7,858</a:t>
                      </a:r>
                    </a:p>
                  </a:txBody>
                  <a:tcPr marL="7620" marR="7620" marT="6927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</a:rPr>
                        <a:t>3,888</a:t>
                      </a:r>
                    </a:p>
                  </a:txBody>
                  <a:tcPr marT="41564" marB="4156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endParaRPr lang="en-US" sz="900" b="0">
                        <a:solidFill>
                          <a:srgbClr val="000000"/>
                        </a:solidFill>
                      </a:endParaRPr>
                    </a:p>
                  </a:txBody>
                  <a:tcPr marT="41564" marB="4156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b" latinLnBrk="0" hangingPunct="1">
                        <a:spcBef>
                          <a:spcPts val="1200"/>
                        </a:spcBef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15,591</a:t>
                      </a:r>
                    </a:p>
                  </a:txBody>
                  <a:tcPr marL="7620" marR="7620" marT="6927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507318"/>
                  </a:ext>
                </a:extLst>
              </a:tr>
              <a:tr h="233355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Cost of Materials (% Rev)</a:t>
                      </a:r>
                      <a:endParaRPr 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T="41564" marB="41564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56.7%</a:t>
                      </a:r>
                    </a:p>
                  </a:txBody>
                  <a:tcPr marL="7620" marR="7620" marT="6927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65.7%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65.5%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67.7%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66.1%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73.7%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65.9%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b" latinLnBrk="0" hangingPunct="1">
                        <a:spcBef>
                          <a:spcPts val="1200"/>
                        </a:spcBef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469512"/>
                  </a:ext>
                </a:extLst>
              </a:tr>
              <a:tr h="233355"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</a:rPr>
                        <a:t>   Raw Materials</a:t>
                      </a:r>
                    </a:p>
                  </a:txBody>
                  <a:tcPr marT="41564" marB="41564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54.6%</a:t>
                      </a:r>
                    </a:p>
                  </a:txBody>
                  <a:tcPr marL="7620" marR="7620" marT="6927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52.1%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53.3%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b" latinLnBrk="0" hangingPunct="1">
                        <a:spcBef>
                          <a:spcPts val="1200"/>
                        </a:spcBef>
                        <a:buNone/>
                      </a:pP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6927" marB="0" anchor="ctr">
                    <a:lnL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891627"/>
                  </a:ext>
                </a:extLst>
              </a:tr>
              <a:tr h="233355"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</a:rPr>
                        <a:t>   Packaging Materials</a:t>
                      </a:r>
                    </a:p>
                  </a:txBody>
                  <a:tcPr marT="41564" marB="41564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2.1%</a:t>
                      </a:r>
                    </a:p>
                  </a:txBody>
                  <a:tcPr marL="7620" marR="7620" marT="6927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13.6%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7.9%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b" latinLnBrk="0" hangingPunct="1">
                        <a:spcBef>
                          <a:spcPts val="1200"/>
                        </a:spcBef>
                        <a:buNone/>
                      </a:pP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6927" marB="0" anchor="ctr">
                    <a:lnL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962745"/>
                  </a:ext>
                </a:extLst>
              </a:tr>
              <a:tr h="233355"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</a:rPr>
                        <a:t>Overheads Cost </a:t>
                      </a: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(% Rev)</a:t>
                      </a:r>
                      <a:r>
                        <a:rPr lang="en-US" sz="900" b="1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900" b="0">
                        <a:solidFill>
                          <a:srgbClr val="000000"/>
                        </a:solidFill>
                      </a:endParaRPr>
                    </a:p>
                  </a:txBody>
                  <a:tcPr marT="41564" marB="41564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17.5%</a:t>
                      </a:r>
                    </a:p>
                  </a:txBody>
                  <a:tcPr marL="7620" marR="7620" marT="6927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14.7%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7.9%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14.7%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b" latinLnBrk="0" hangingPunct="1">
                        <a:spcBef>
                          <a:spcPts val="1200"/>
                        </a:spcBef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36669"/>
                  </a:ext>
                </a:extLst>
              </a:tr>
              <a:tr h="233355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</a:rPr>
                        <a:t>   Power and Fuel</a:t>
                      </a:r>
                    </a:p>
                  </a:txBody>
                  <a:tcPr marT="41564" marB="41564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2.6%</a:t>
                      </a:r>
                    </a:p>
                  </a:txBody>
                  <a:tcPr marL="7620" marR="7620" marT="6927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2.2%</a:t>
                      </a:r>
                      <a:r>
                        <a:rPr lang="en-US" sz="9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1.8%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2.2%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b" latinLnBrk="0" hangingPunct="1">
                        <a:spcBef>
                          <a:spcPts val="1200"/>
                        </a:spcBef>
                        <a:buNone/>
                      </a:pP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6927" marB="0" anchor="ctr">
                    <a:lnL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952009"/>
                  </a:ext>
                </a:extLst>
              </a:tr>
              <a:tr h="23335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00" b="1" i="0" u="none" strike="noStrik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  Other overheads </a:t>
                      </a:r>
                      <a:endParaRPr lang="en-US" sz="900" b="1">
                        <a:solidFill>
                          <a:srgbClr val="000000"/>
                        </a:solidFill>
                      </a:endParaRPr>
                    </a:p>
                  </a:txBody>
                  <a:tcPr marT="41564" marB="41564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14.9%</a:t>
                      </a:r>
                    </a:p>
                  </a:txBody>
                  <a:tcPr marL="7620" marR="7620" marT="6927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12.5%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6.1%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endParaRPr lang="en-US" sz="900" b="1" i="0" u="none" strike="noStrike"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b" latinLnBrk="0" hangingPunct="1">
                        <a:spcBef>
                          <a:spcPts val="1200"/>
                        </a:spcBef>
                        <a:buNone/>
                      </a:pP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6927" marB="0" anchor="ctr">
                    <a:lnL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51498"/>
                  </a:ext>
                </a:extLst>
              </a:tr>
              <a:tr h="2333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</a:rPr>
                        <a:t>S&amp;D Cost  </a:t>
                      </a: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(% Rev)</a:t>
                      </a:r>
                      <a:endParaRPr lang="en-US" sz="900" b="0">
                        <a:solidFill>
                          <a:srgbClr val="000000"/>
                        </a:solidFill>
                      </a:endParaRPr>
                    </a:p>
                  </a:txBody>
                  <a:tcPr marT="41564" marB="41564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5.6%</a:t>
                      </a:r>
                    </a:p>
                  </a:txBody>
                  <a:tcPr marL="7620" marR="7620" marT="6927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10.7%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11.5%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18.4%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21.8%</a:t>
                      </a:r>
                      <a:r>
                        <a:rPr lang="en-US" sz="9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6927" marB="0" anchor="ctr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11.1%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11.1%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b" latinLnBrk="0" hangingPunct="1">
                        <a:spcBef>
                          <a:spcPts val="1200"/>
                        </a:spcBef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136668"/>
                  </a:ext>
                </a:extLst>
              </a:tr>
              <a:tr h="233355"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</a:rPr>
                        <a:t>   A&amp;P Cost </a:t>
                      </a:r>
                      <a:endParaRPr lang="en-US" sz="900" b="0">
                        <a:solidFill>
                          <a:srgbClr val="000000"/>
                        </a:solidFill>
                      </a:endParaRPr>
                    </a:p>
                  </a:txBody>
                  <a:tcPr marT="41564" marB="41564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0.9%</a:t>
                      </a:r>
                    </a:p>
                  </a:txBody>
                  <a:tcPr marL="7620" marR="7620" marT="6927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1.7%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4.3%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12.0%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5.6%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2.7%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2.7%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b" latinLnBrk="0" hangingPunct="1">
                        <a:spcBef>
                          <a:spcPts val="1200"/>
                        </a:spcBef>
                        <a:buNone/>
                      </a:pP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6927" marB="0" anchor="ctr">
                    <a:lnL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748736"/>
                  </a:ext>
                </a:extLst>
              </a:tr>
              <a:tr h="233355"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</a:rPr>
                        <a:t>   Freight &amp; Distribution</a:t>
                      </a:r>
                    </a:p>
                  </a:txBody>
                  <a:tcPr marT="41564" marB="41564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3.0%</a:t>
                      </a:r>
                    </a:p>
                  </a:txBody>
                  <a:tcPr marL="7620" marR="7620" marT="6927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5.9%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4.7%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5.0%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4.7%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b" latinLnBrk="0" hangingPunct="1">
                        <a:spcBef>
                          <a:spcPts val="1200"/>
                        </a:spcBef>
                        <a:buNone/>
                      </a:pP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6927" marB="0" anchor="ctr">
                    <a:lnL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03818"/>
                  </a:ext>
                </a:extLst>
              </a:tr>
              <a:tr h="233355"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</a:rPr>
                        <a:t>   S&amp;D FTE Spend</a:t>
                      </a:r>
                    </a:p>
                  </a:txBody>
                  <a:tcPr marT="41564" marB="41564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1.7%</a:t>
                      </a:r>
                      <a:r>
                        <a:rPr lang="en-US" sz="900" b="0" baseline="300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6927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3.0%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2.5%</a:t>
                      </a:r>
                      <a:r>
                        <a:rPr lang="en-US" sz="9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5.4%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3.3%</a:t>
                      </a:r>
                      <a:r>
                        <a:rPr lang="en-US" sz="9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3.0%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b" latinLnBrk="0" hangingPunct="1">
                        <a:spcBef>
                          <a:spcPts val="1200"/>
                        </a:spcBef>
                        <a:buNone/>
                      </a:pP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6927" marB="0" anchor="ctr">
                    <a:lnL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490821"/>
                  </a:ext>
                </a:extLst>
              </a:tr>
              <a:tr h="233355"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</a:rPr>
                        <a:t>   Other S&amp;D </a:t>
                      </a:r>
                    </a:p>
                  </a:txBody>
                  <a:tcPr marT="41564" marB="41564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endParaRPr lang="en-US" sz="900" b="1" i="0" u="none" strike="noStrike"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b" latinLnBrk="0" hangingPunct="1">
                        <a:spcBef>
                          <a:spcPts val="1200"/>
                        </a:spcBef>
                        <a:buNone/>
                      </a:pP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6927" marB="0" anchor="ctr">
                    <a:lnL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816432"/>
                  </a:ext>
                </a:extLst>
              </a:tr>
              <a:tr h="233355"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</a:rPr>
                        <a:t>G&amp;A Cost  </a:t>
                      </a: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(% Rev)</a:t>
                      </a:r>
                      <a:endParaRPr lang="en-US" sz="900" b="0">
                        <a:solidFill>
                          <a:srgbClr val="000000"/>
                        </a:solidFill>
                      </a:endParaRPr>
                    </a:p>
                  </a:txBody>
                  <a:tcPr marT="41564" marB="41564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6.5%</a:t>
                      </a:r>
                    </a:p>
                  </a:txBody>
                  <a:tcPr marL="7620" marR="7620" marT="6927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2.4%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6.5%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4.5%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6.9%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6.5%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b" latinLnBrk="0" hangingPunct="1">
                        <a:spcBef>
                          <a:spcPts val="1200"/>
                        </a:spcBef>
                        <a:buNone/>
                      </a:pP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6927" marB="0" anchor="ctr">
                    <a:lnL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884783"/>
                  </a:ext>
                </a:extLst>
              </a:tr>
              <a:tr h="233355"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</a:rPr>
                        <a:t>   Admin FTE Spend</a:t>
                      </a:r>
                    </a:p>
                  </a:txBody>
                  <a:tcPr marT="41564" marB="41564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3.9%</a:t>
                      </a:r>
                    </a:p>
                  </a:txBody>
                  <a:tcPr marL="7620" marR="7620" marT="6927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1.6%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0.8%</a:t>
                      </a:r>
                      <a:r>
                        <a:rPr lang="en-US" sz="9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3.1%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indent="0" algn="ctr" defTabSz="711200" rtl="0" eaLnBrk="1" fontAlgn="b" latinLnBrk="0" hangingPunct="1">
                        <a:spcBef>
                          <a:spcPts val="1200"/>
                        </a:spcBef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1.7%</a:t>
                      </a:r>
                      <a:r>
                        <a:rPr lang="en-US" sz="9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1.7%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b" latinLnBrk="0" hangingPunct="1">
                        <a:spcBef>
                          <a:spcPts val="1200"/>
                        </a:spcBef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421510"/>
                  </a:ext>
                </a:extLst>
              </a:tr>
              <a:tr h="233355"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</a:rPr>
                        <a:t>   Professional Services</a:t>
                      </a:r>
                    </a:p>
                  </a:txBody>
                  <a:tcPr marT="41564" marB="41564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0.7%</a:t>
                      </a:r>
                    </a:p>
                  </a:txBody>
                  <a:tcPr marL="7620" marR="7620" marT="6927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1.9%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indent="0" algn="ctr" defTabSz="711200" rtl="0" eaLnBrk="1" fontAlgn="b" latinLnBrk="0" hangingPunct="1">
                        <a:spcBef>
                          <a:spcPts val="1200"/>
                        </a:spcBef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0.7%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b" latinLnBrk="0" hangingPunct="1">
                        <a:spcBef>
                          <a:spcPts val="1200"/>
                        </a:spcBef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908537"/>
                  </a:ext>
                </a:extLst>
              </a:tr>
              <a:tr h="233355"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</a:rPr>
                        <a:t>   Other G&amp;A</a:t>
                      </a:r>
                    </a:p>
                  </a:txBody>
                  <a:tcPr marT="41564" marB="41564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1.9%</a:t>
                      </a:r>
                    </a:p>
                  </a:txBody>
                  <a:tcPr marL="7620" marR="7620" marT="6927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0.8%</a:t>
                      </a:r>
                      <a:r>
                        <a:rPr lang="en-US" sz="9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3.8%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1.3%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5.2%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endParaRPr lang="en-US" sz="900" b="1" i="0" u="none" strike="noStrike"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b" latinLnBrk="0" hangingPunct="1">
                        <a:spcBef>
                          <a:spcPts val="1200"/>
                        </a:spcBef>
                        <a:buNone/>
                      </a:pP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6927" marB="0" anchor="ctr">
                    <a:lnL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235305"/>
                  </a:ext>
                </a:extLst>
              </a:tr>
              <a:tr h="233355"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</a:rPr>
                        <a:t>Adj. EBITDA margin</a:t>
                      </a:r>
                    </a:p>
                  </a:txBody>
                  <a:tcPr marT="41564" marB="41564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10.8%</a:t>
                      </a:r>
                    </a:p>
                  </a:txBody>
                  <a:tcPr marL="7620" marR="7620" marT="6927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6.8%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6.7%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9.4%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12.1%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8.3%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8.9%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b" latinLnBrk="0" hangingPunct="1">
                        <a:spcBef>
                          <a:spcPts val="1200"/>
                        </a:spcBef>
                        <a:buNone/>
                      </a:pPr>
                      <a:endParaRPr lang="en-US" sz="9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6927" marB="0" anchor="ctr">
                    <a:lnL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855928"/>
                  </a:ext>
                </a:extLst>
              </a:tr>
              <a:tr h="233355"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</a:rPr>
                        <a:t>D&amp;A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</a:rPr>
                        <a:t>(% Rev)</a:t>
                      </a:r>
                    </a:p>
                  </a:txBody>
                  <a:tcPr marT="41564" marB="41564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3.7%</a:t>
                      </a:r>
                    </a:p>
                  </a:txBody>
                  <a:tcPr marL="7620" marR="7620" marT="6927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3.4%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3.3%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0.8%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5.0%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3.8%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3.5%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b" latinLnBrk="0" hangingPunct="1">
                        <a:spcBef>
                          <a:spcPts val="1200"/>
                        </a:spcBef>
                        <a:buNone/>
                      </a:pP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6927" marB="0" anchor="ctr">
                    <a:lnL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762326"/>
                  </a:ext>
                </a:extLst>
              </a:tr>
              <a:tr h="233355"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Adj. EBIT margin</a:t>
                      </a:r>
                      <a:endParaRPr 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T="41564" marB="41564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7.1%</a:t>
                      </a:r>
                    </a:p>
                  </a:txBody>
                  <a:tcPr marL="7620" marR="7620" marT="6927" marB="0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3.4%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3.4%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8.6%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7.1%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4.6%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5.8%</a:t>
                      </a:r>
                    </a:p>
                  </a:txBody>
                  <a:tcPr marL="7620" marR="7620" marT="692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b" latinLnBrk="0" hangingPunct="1">
                        <a:spcBef>
                          <a:spcPts val="1200"/>
                        </a:spcBef>
                        <a:buNone/>
                      </a:pPr>
                      <a:r>
                        <a:rPr lang="en-US" sz="900" b="1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8.2%</a:t>
                      </a:r>
                    </a:p>
                  </a:txBody>
                  <a:tcPr marL="7620" marR="7620" marT="6927" marB="0" anchor="ctr">
                    <a:lnL>
                      <a:noFill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325871"/>
                  </a:ext>
                </a:extLst>
              </a:tr>
            </a:tbl>
          </a:graphicData>
        </a:graphic>
      </p:graphicFrame>
      <p:grpSp>
        <p:nvGrpSpPr>
          <p:cNvPr id="24" name="btfpColumnIndicatorGroup2">
            <a:extLst>
              <a:ext uri="{FF2B5EF4-FFF2-40B4-BE49-F238E27FC236}">
                <a16:creationId xmlns:a16="http://schemas.microsoft.com/office/drawing/2014/main" id="{9744AFD6-61C0-DE5F-84F7-41476CFAF080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2" name="btfpColumnGapBlocker543701">
              <a:extLst>
                <a:ext uri="{FF2B5EF4-FFF2-40B4-BE49-F238E27FC236}">
                  <a16:creationId xmlns:a16="http://schemas.microsoft.com/office/drawing/2014/main" id="{5AF3E984-BD57-8FA5-6F59-9BA05D568AC7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0" name="btfpColumnGapBlocker689258">
              <a:extLst>
                <a:ext uri="{FF2B5EF4-FFF2-40B4-BE49-F238E27FC236}">
                  <a16:creationId xmlns:a16="http://schemas.microsoft.com/office/drawing/2014/main" id="{E3682618-11A2-7B5A-9DAF-58F4B3CAB707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8" name="btfpColumnIndicator920786">
              <a:extLst>
                <a:ext uri="{FF2B5EF4-FFF2-40B4-BE49-F238E27FC236}">
                  <a16:creationId xmlns:a16="http://schemas.microsoft.com/office/drawing/2014/main" id="{B1FC4021-3BF0-0B16-D65A-E192B618567D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btfpColumnIndicator335613">
              <a:extLst>
                <a:ext uri="{FF2B5EF4-FFF2-40B4-BE49-F238E27FC236}">
                  <a16:creationId xmlns:a16="http://schemas.microsoft.com/office/drawing/2014/main" id="{5B793704-B7D4-7D7A-EE38-F1D5FF7789DF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btfpColumnIndicatorGroup1">
            <a:extLst>
              <a:ext uri="{FF2B5EF4-FFF2-40B4-BE49-F238E27FC236}">
                <a16:creationId xmlns:a16="http://schemas.microsoft.com/office/drawing/2014/main" id="{5A82E585-3D4A-9FA6-D80E-5F77A9077AE4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1" name="btfpColumnGapBlocker570824">
              <a:extLst>
                <a:ext uri="{FF2B5EF4-FFF2-40B4-BE49-F238E27FC236}">
                  <a16:creationId xmlns:a16="http://schemas.microsoft.com/office/drawing/2014/main" id="{8F03368F-BBCC-43C8-A16E-6D4B920A6014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9" name="btfpColumnGapBlocker738595">
              <a:extLst>
                <a:ext uri="{FF2B5EF4-FFF2-40B4-BE49-F238E27FC236}">
                  <a16:creationId xmlns:a16="http://schemas.microsoft.com/office/drawing/2014/main" id="{F8290840-BC85-35AE-BB4D-6890CF96703F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7" name="btfpColumnIndicator613348">
              <a:extLst>
                <a:ext uri="{FF2B5EF4-FFF2-40B4-BE49-F238E27FC236}">
                  <a16:creationId xmlns:a16="http://schemas.microsoft.com/office/drawing/2014/main" id="{60AFE4EC-BB7E-C21D-E9EB-EB05AFF2B1FF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btfpColumnIndicator288453">
              <a:extLst>
                <a:ext uri="{FF2B5EF4-FFF2-40B4-BE49-F238E27FC236}">
                  <a16:creationId xmlns:a16="http://schemas.microsoft.com/office/drawing/2014/main" id="{AF0461D6-0CCB-CEFB-AE43-83B53E8119D5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5530AA-5EEC-396C-D097-A8D32CB89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022"/>
            <a:ext cx="11522075" cy="876687"/>
          </a:xfrm>
        </p:spPr>
        <p:txBody>
          <a:bodyPr/>
          <a:lstStyle/>
          <a:p>
            <a:pPr marL="0" indent="0">
              <a:tabLst>
                <a:tab pos="2570163" algn="l"/>
              </a:tabLst>
            </a:pPr>
            <a:r>
              <a:rPr lang="en-US" b="1"/>
              <a:t>Danone – Peer Benchmarking</a:t>
            </a:r>
            <a:r>
              <a:rPr lang="en-US"/>
              <a:t> </a:t>
            </a:r>
          </a:p>
        </p:txBody>
      </p:sp>
      <p:sp>
        <p:nvSpPr>
          <p:cNvPr id="13" name="btfpNotesBox613139">
            <a:extLst>
              <a:ext uri="{FF2B5EF4-FFF2-40B4-BE49-F238E27FC236}">
                <a16:creationId xmlns:a16="http://schemas.microsoft.com/office/drawing/2014/main" id="{6F1E9AF5-9E72-397D-56CF-9ADD1D348BF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gray">
          <a:xfrm>
            <a:off x="330200" y="6210201"/>
            <a:ext cx="115316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/>
              <a:t>Note: FY23 numbers considered for Fonterra, Friesland, Morinaga, Meiji, FY22 for Arla, Danone, </a:t>
            </a:r>
            <a:r>
              <a:rPr lang="en-US" sz="800" err="1">
                <a:highlight>
                  <a:srgbClr val="FFFFFF"/>
                </a:highlight>
              </a:rPr>
              <a:t>Yili</a:t>
            </a:r>
            <a:r>
              <a:rPr lang="en-US" sz="800"/>
              <a:t>; [1] For Fonterra, Production FTE and S&amp;D FTE spend is assumed to be 2:1 (same as Arla); [2] For Arla, Utilities spend and packaging spend reported together, assumed utilities spend to be 2.2% (avg of Fonterra and Friesland) [3] For Arla, Maintenance + IT spend is reported, IT spend is assumed to be 0.8% (Fonterra spend) [4] For Friesland, FTE spend split between (Production + S&amp;D) and G&amp;A in the ratio of FTE count, split of Production FTEs and S&amp;D FTE spend assumed to be 2: 1 (same as Arla); [5] Meiji numbers not included in median calc. of S&amp;D and G&amp;A spend; [6] For Morinaga, Production and S&amp;D FTE spend assumed to be 2:1 (Arla)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/>
              <a:t>Source: Company annual reports, Bain Analysis, </a:t>
            </a:r>
            <a:r>
              <a:rPr lang="en-US" sz="800" err="1"/>
              <a:t>CapIQ</a:t>
            </a:r>
            <a:endParaRPr lang="en-US" sz="8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CF194FD-A8AD-DB67-7380-B986E705A3B5}"/>
              </a:ext>
            </a:extLst>
          </p:cNvPr>
          <p:cNvGrpSpPr/>
          <p:nvPr/>
        </p:nvGrpSpPr>
        <p:grpSpPr>
          <a:xfrm>
            <a:off x="2206604" y="1045910"/>
            <a:ext cx="9325652" cy="379715"/>
            <a:chOff x="2247835" y="1022057"/>
            <a:chExt cx="9325652" cy="379715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1A3A3BD-93F8-B811-9B34-E327922A4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461535" y="1055255"/>
              <a:ext cx="463710" cy="313318"/>
            </a:xfrm>
            <a:prstGeom prst="rect">
              <a:avLst/>
            </a:prstGeom>
          </p:spPr>
        </p:pic>
        <p:pic>
          <p:nvPicPr>
            <p:cNvPr id="32" name="btfpPhotoGeneric650290">
              <a:extLst>
                <a:ext uri="{FF2B5EF4-FFF2-40B4-BE49-F238E27FC236}">
                  <a16:creationId xmlns:a16="http://schemas.microsoft.com/office/drawing/2014/main" id="{BE88D869-051D-A341-F632-3CF2FC73F655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4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4526008" y="1090533"/>
              <a:ext cx="851957" cy="2427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6">
              <a:extLst>
                <a:ext uri="{FF2B5EF4-FFF2-40B4-BE49-F238E27FC236}">
                  <a16:creationId xmlns:a16="http://schemas.microsoft.com/office/drawing/2014/main" id="{68579099-C5BF-15DF-7563-EFC0176AA5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0729300" y="1028594"/>
              <a:ext cx="844187" cy="3666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149387B7-116E-2D07-840F-011167EA83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47835" y="1022057"/>
              <a:ext cx="480704" cy="3797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F2AEF29A-058E-6EDD-02E2-028937BC6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8565" y="1114966"/>
              <a:ext cx="480704" cy="1938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Morinaga Milk Industry - Wikipedia">
              <a:extLst>
                <a:ext uri="{FF2B5EF4-FFF2-40B4-BE49-F238E27FC236}">
                  <a16:creationId xmlns:a16="http://schemas.microsoft.com/office/drawing/2014/main" id="{64B77A6B-37A7-1FC3-F46F-AA272AC43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2642" y="1049508"/>
              <a:ext cx="451654" cy="3248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>
              <a:extLst>
                <a:ext uri="{FF2B5EF4-FFF2-40B4-BE49-F238E27FC236}">
                  <a16:creationId xmlns:a16="http://schemas.microsoft.com/office/drawing/2014/main" id="{A6FA32E0-E214-6A13-427B-972B582B42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26866" y="1087757"/>
              <a:ext cx="328327" cy="2483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" name="CommentBox">
            <a:extLst>
              <a:ext uri="{FF2B5EF4-FFF2-40B4-BE49-F238E27FC236}">
                <a16:creationId xmlns:a16="http://schemas.microsoft.com/office/drawing/2014/main" id="{5C13D377-0973-4BD3-B9E5-0F8D7290AE9B}"/>
              </a:ext>
            </a:extLst>
          </p:cNvPr>
          <p:cNvSpPr/>
          <p:nvPr/>
        </p:nvSpPr>
        <p:spPr bwMode="gray">
          <a:xfrm>
            <a:off x="10539626" y="544461"/>
            <a:ext cx="1622566" cy="521368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FC000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Danone EDP – Limited availability of numbers</a:t>
            </a:r>
          </a:p>
        </p:txBody>
      </p:sp>
      <p:sp>
        <p:nvSpPr>
          <p:cNvPr id="3" name="CommentBox">
            <a:extLst>
              <a:ext uri="{FF2B5EF4-FFF2-40B4-BE49-F238E27FC236}">
                <a16:creationId xmlns:a16="http://schemas.microsoft.com/office/drawing/2014/main" id="{7E26567A-3557-423F-0256-814B09EB3E9A}"/>
              </a:ext>
            </a:extLst>
          </p:cNvPr>
          <p:cNvSpPr/>
          <p:nvPr/>
        </p:nvSpPr>
        <p:spPr bwMode="gray">
          <a:xfrm>
            <a:off x="10748867" y="93290"/>
            <a:ext cx="1387151" cy="771676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B03C6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900" b="1">
                <a:solidFill>
                  <a:srgbClr val="FFFFFF"/>
                </a:solidFill>
                <a:latin typeface="Arial" panose="020B0604020202020204" pitchFamily="34" charset="0"/>
              </a:rPr>
              <a:t>SBN: Dairy Co (see </a:t>
            </a:r>
            <a:r>
              <a:rPr lang="en-US" sz="900" b="1" err="1">
                <a:solidFill>
                  <a:srgbClr val="FFFFFF"/>
                </a:solidFill>
                <a:latin typeface="Arial" panose="020B0604020202020204" pitchFamily="34" charset="0"/>
              </a:rPr>
              <a:t>nextr</a:t>
            </a:r>
            <a:r>
              <a:rPr lang="en-US" sz="900" b="1">
                <a:solidFill>
                  <a:srgbClr val="FFFFFF"/>
                </a:solidFill>
                <a:latin typeface="Arial" panose="020B0604020202020204" pitchFamily="34" charset="0"/>
              </a:rPr>
              <a:t> page too for breakdown of Cost of Materials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4713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btfpColumnIndicatorGroup2">
            <a:extLst>
              <a:ext uri="{FF2B5EF4-FFF2-40B4-BE49-F238E27FC236}">
                <a16:creationId xmlns:a16="http://schemas.microsoft.com/office/drawing/2014/main" id="{02E2B786-0C28-EE6E-6F22-DA0C1E160151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43" name="btfpColumnGapBlocker157403">
              <a:extLst>
                <a:ext uri="{FF2B5EF4-FFF2-40B4-BE49-F238E27FC236}">
                  <a16:creationId xmlns:a16="http://schemas.microsoft.com/office/drawing/2014/main" id="{5CF70E4E-A77E-DE38-2FA8-DBA538DCBA15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1" name="btfpColumnGapBlocker771043">
              <a:extLst>
                <a:ext uri="{FF2B5EF4-FFF2-40B4-BE49-F238E27FC236}">
                  <a16:creationId xmlns:a16="http://schemas.microsoft.com/office/drawing/2014/main" id="{63F81BCD-0478-07BD-2F5E-9CD4EA6C2E5E}"/>
                </a:ext>
              </a:extLst>
            </p:cNvPr>
            <p:cNvSpPr/>
            <p:nvPr/>
          </p:nvSpPr>
          <p:spPr bwMode="gray">
            <a:xfrm>
              <a:off x="7837752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39" name="btfpColumnIndicator703521">
              <a:extLst>
                <a:ext uri="{FF2B5EF4-FFF2-40B4-BE49-F238E27FC236}">
                  <a16:creationId xmlns:a16="http://schemas.microsoft.com/office/drawing/2014/main" id="{E1D218AD-48EE-75E3-7E5A-2DF8D16667F7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btfpColumnIndicator906525">
              <a:extLst>
                <a:ext uri="{FF2B5EF4-FFF2-40B4-BE49-F238E27FC236}">
                  <a16:creationId xmlns:a16="http://schemas.microsoft.com/office/drawing/2014/main" id="{5BBDB281-60A9-652C-968B-74A8D4AFC213}"/>
                </a:ext>
              </a:extLst>
            </p:cNvPr>
            <p:cNvCxnSpPr/>
            <p:nvPr/>
          </p:nvCxnSpPr>
          <p:spPr bwMode="gray">
            <a:xfrm flipV="1">
              <a:off x="837829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btfpColumnGapBlocker777853">
              <a:extLst>
                <a:ext uri="{FF2B5EF4-FFF2-40B4-BE49-F238E27FC236}">
                  <a16:creationId xmlns:a16="http://schemas.microsoft.com/office/drawing/2014/main" id="{7B8AE1BD-0CF0-6708-EF00-0CC422041852}"/>
                </a:ext>
              </a:extLst>
            </p:cNvPr>
            <p:cNvSpPr/>
            <p:nvPr/>
          </p:nvSpPr>
          <p:spPr bwMode="gray">
            <a:xfrm>
              <a:off x="381370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33" name="btfpColumnIndicator476467">
              <a:extLst>
                <a:ext uri="{FF2B5EF4-FFF2-40B4-BE49-F238E27FC236}">
                  <a16:creationId xmlns:a16="http://schemas.microsoft.com/office/drawing/2014/main" id="{45F78967-C3A6-EFCD-EFB5-3178C385211E}"/>
                </a:ext>
              </a:extLst>
            </p:cNvPr>
            <p:cNvCxnSpPr/>
            <p:nvPr/>
          </p:nvCxnSpPr>
          <p:spPr bwMode="gray">
            <a:xfrm flipV="1">
              <a:off x="783775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btfpColumnIndicator616042">
              <a:extLst>
                <a:ext uri="{FF2B5EF4-FFF2-40B4-BE49-F238E27FC236}">
                  <a16:creationId xmlns:a16="http://schemas.microsoft.com/office/drawing/2014/main" id="{AE8D40A4-3113-EFA1-65A2-224A92A145AE}"/>
                </a:ext>
              </a:extLst>
            </p:cNvPr>
            <p:cNvCxnSpPr/>
            <p:nvPr/>
          </p:nvCxnSpPr>
          <p:spPr bwMode="gray">
            <a:xfrm flipV="1">
              <a:off x="435424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btfpColumnGapBlocker295930">
              <a:extLst>
                <a:ext uri="{FF2B5EF4-FFF2-40B4-BE49-F238E27FC236}">
                  <a16:creationId xmlns:a16="http://schemas.microsoft.com/office/drawing/2014/main" id="{C1B1F1C5-CBFB-D748-41A5-DF787FEDFB1A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27" name="btfpColumnIndicator802965">
              <a:extLst>
                <a:ext uri="{FF2B5EF4-FFF2-40B4-BE49-F238E27FC236}">
                  <a16:creationId xmlns:a16="http://schemas.microsoft.com/office/drawing/2014/main" id="{CB035126-CB76-D167-0F77-2F89CB36543C}"/>
                </a:ext>
              </a:extLst>
            </p:cNvPr>
            <p:cNvCxnSpPr/>
            <p:nvPr/>
          </p:nvCxnSpPr>
          <p:spPr bwMode="gray">
            <a:xfrm flipV="1">
              <a:off x="381370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btfpColumnIndicator275264">
              <a:extLst>
                <a:ext uri="{FF2B5EF4-FFF2-40B4-BE49-F238E27FC236}">
                  <a16:creationId xmlns:a16="http://schemas.microsoft.com/office/drawing/2014/main" id="{57A61FE1-84D0-23F9-5069-724A4903F11C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btfpColumnIndicatorGroup1">
            <a:extLst>
              <a:ext uri="{FF2B5EF4-FFF2-40B4-BE49-F238E27FC236}">
                <a16:creationId xmlns:a16="http://schemas.microsoft.com/office/drawing/2014/main" id="{8A4196AB-FE77-7155-F940-B909975E12B2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42" name="btfpColumnGapBlocker136815">
              <a:extLst>
                <a:ext uri="{FF2B5EF4-FFF2-40B4-BE49-F238E27FC236}">
                  <a16:creationId xmlns:a16="http://schemas.microsoft.com/office/drawing/2014/main" id="{C1032314-2043-A8ED-A7F6-FC754A89D818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0" name="btfpColumnGapBlocker618051">
              <a:extLst>
                <a:ext uri="{FF2B5EF4-FFF2-40B4-BE49-F238E27FC236}">
                  <a16:creationId xmlns:a16="http://schemas.microsoft.com/office/drawing/2014/main" id="{831FD506-DD7E-E1AD-547A-526DDE32E54F}"/>
                </a:ext>
              </a:extLst>
            </p:cNvPr>
            <p:cNvSpPr/>
            <p:nvPr/>
          </p:nvSpPr>
          <p:spPr bwMode="gray">
            <a:xfrm>
              <a:off x="7837752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38" name="btfpColumnIndicator689177">
              <a:extLst>
                <a:ext uri="{FF2B5EF4-FFF2-40B4-BE49-F238E27FC236}">
                  <a16:creationId xmlns:a16="http://schemas.microsoft.com/office/drawing/2014/main" id="{08E7EF99-7727-4685-688D-178270C051EE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btfpColumnIndicator485222">
              <a:extLst>
                <a:ext uri="{FF2B5EF4-FFF2-40B4-BE49-F238E27FC236}">
                  <a16:creationId xmlns:a16="http://schemas.microsoft.com/office/drawing/2014/main" id="{2CF89CFE-3738-F05A-2A2E-36EFD8648502}"/>
                </a:ext>
              </a:extLst>
            </p:cNvPr>
            <p:cNvCxnSpPr/>
            <p:nvPr/>
          </p:nvCxnSpPr>
          <p:spPr bwMode="gray">
            <a:xfrm flipV="1">
              <a:off x="837829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btfpColumnGapBlocker159179">
              <a:extLst>
                <a:ext uri="{FF2B5EF4-FFF2-40B4-BE49-F238E27FC236}">
                  <a16:creationId xmlns:a16="http://schemas.microsoft.com/office/drawing/2014/main" id="{27B11E09-A469-B24F-041C-F56F06CCCA72}"/>
                </a:ext>
              </a:extLst>
            </p:cNvPr>
            <p:cNvSpPr/>
            <p:nvPr/>
          </p:nvSpPr>
          <p:spPr bwMode="gray">
            <a:xfrm>
              <a:off x="381370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32" name="btfpColumnIndicator634126">
              <a:extLst>
                <a:ext uri="{FF2B5EF4-FFF2-40B4-BE49-F238E27FC236}">
                  <a16:creationId xmlns:a16="http://schemas.microsoft.com/office/drawing/2014/main" id="{67ABB3EB-0A90-F670-5E77-4F66B93349EF}"/>
                </a:ext>
              </a:extLst>
            </p:cNvPr>
            <p:cNvCxnSpPr/>
            <p:nvPr/>
          </p:nvCxnSpPr>
          <p:spPr bwMode="gray">
            <a:xfrm flipV="1">
              <a:off x="783775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btfpColumnIndicator744020">
              <a:extLst>
                <a:ext uri="{FF2B5EF4-FFF2-40B4-BE49-F238E27FC236}">
                  <a16:creationId xmlns:a16="http://schemas.microsoft.com/office/drawing/2014/main" id="{5A165BBD-7F00-32C7-2F5B-E1E8EF75CFDA}"/>
                </a:ext>
              </a:extLst>
            </p:cNvPr>
            <p:cNvCxnSpPr/>
            <p:nvPr/>
          </p:nvCxnSpPr>
          <p:spPr bwMode="gray">
            <a:xfrm flipV="1">
              <a:off x="435424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btfpColumnGapBlocker355190">
              <a:extLst>
                <a:ext uri="{FF2B5EF4-FFF2-40B4-BE49-F238E27FC236}">
                  <a16:creationId xmlns:a16="http://schemas.microsoft.com/office/drawing/2014/main" id="{DB4AB898-8ACB-9032-D39C-E770E80C0F2F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26" name="btfpColumnIndicator867781">
              <a:extLst>
                <a:ext uri="{FF2B5EF4-FFF2-40B4-BE49-F238E27FC236}">
                  <a16:creationId xmlns:a16="http://schemas.microsoft.com/office/drawing/2014/main" id="{F817EECA-C3CC-ED25-30C5-09CD00F241E3}"/>
                </a:ext>
              </a:extLst>
            </p:cNvPr>
            <p:cNvCxnSpPr/>
            <p:nvPr/>
          </p:nvCxnSpPr>
          <p:spPr bwMode="gray">
            <a:xfrm flipV="1">
              <a:off x="381370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btfpColumnIndicator969053">
              <a:extLst>
                <a:ext uri="{FF2B5EF4-FFF2-40B4-BE49-F238E27FC236}">
                  <a16:creationId xmlns:a16="http://schemas.microsoft.com/office/drawing/2014/main" id="{48C07678-0B76-1050-F578-DAEAE963B0BC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E7D6CB8-A881-E8F2-10A3-2A33C5343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Typical composition of procurement spend of a Dairy Co. </a:t>
            </a:r>
            <a:endParaRPr lang="en-US"/>
          </a:p>
        </p:txBody>
      </p:sp>
      <p:graphicFrame>
        <p:nvGraphicFramePr>
          <p:cNvPr id="13" name="btfpTable742823">
            <a:extLst>
              <a:ext uri="{FF2B5EF4-FFF2-40B4-BE49-F238E27FC236}">
                <a16:creationId xmlns:a16="http://schemas.microsoft.com/office/drawing/2014/main" id="{E4AAC10D-46D8-6393-607E-97302EFFAF1D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497115" y="1262520"/>
          <a:ext cx="8488650" cy="5242560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565404">
                  <a:extLst>
                    <a:ext uri="{9D8B030D-6E8A-4147-A177-3AD203B41FA5}">
                      <a16:colId xmlns:a16="http://schemas.microsoft.com/office/drawing/2014/main" val="3760970250"/>
                    </a:ext>
                  </a:extLst>
                </a:gridCol>
                <a:gridCol w="6923246">
                  <a:extLst>
                    <a:ext uri="{9D8B030D-6E8A-4147-A177-3AD203B41FA5}">
                      <a16:colId xmlns:a16="http://schemas.microsoft.com/office/drawing/2014/main" val="3920218410"/>
                    </a:ext>
                  </a:extLst>
                </a:gridCol>
              </a:tblGrid>
              <a:tr h="294249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Spend category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Key Levers for procurement spend optimization 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630171739"/>
                  </a:ext>
                </a:extLst>
              </a:tr>
              <a:tr h="485511">
                <a:tc rowSpan="2">
                  <a:txBody>
                    <a:bodyPr/>
                    <a:lstStyle/>
                    <a:p>
                      <a:pPr marL="0" indent="0" algn="l">
                        <a:spcBef>
                          <a:spcPts val="600"/>
                        </a:spcBef>
                        <a:buFontTx/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Raw Materials</a:t>
                      </a:r>
                    </a:p>
                    <a:p>
                      <a:pPr marL="0" indent="0" algn="l">
                        <a:spcBef>
                          <a:spcPts val="600"/>
                        </a:spcBef>
                        <a:buFontTx/>
                        <a:buNone/>
                      </a:pPr>
                      <a:r>
                        <a:rPr lang="en-US" sz="900">
                          <a:solidFill>
                            <a:srgbClr val="FFFFFF"/>
                          </a:solidFill>
                        </a:rPr>
                        <a:t>(Milk, dairy products, ingredients, yeast, additives)</a:t>
                      </a:r>
                    </a:p>
                  </a:txBody>
                  <a:tcPr anchor="ctr">
                    <a:solidFill>
                      <a:srgbClr val="46647B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>
                          <a:solidFill>
                            <a:srgbClr val="FFFFFF"/>
                          </a:solidFill>
                        </a:rPr>
                        <a:t>Expand supplier base closer to consumption centers (manufacturing sites), Optimize supplier freight rates </a:t>
                      </a:r>
                    </a:p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>
                          <a:solidFill>
                            <a:srgbClr val="FFFFFF"/>
                          </a:solidFill>
                        </a:rPr>
                        <a:t>Data driven contract negotiations; clean sheet costing can be a helpful tool </a:t>
                      </a:r>
                    </a:p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>
                          <a:solidFill>
                            <a:srgbClr val="FFFFFF"/>
                          </a:solidFill>
                        </a:rPr>
                        <a:t>Rationalize / optimize recipe using interchangeable ingredients </a:t>
                      </a:r>
                    </a:p>
                  </a:txBody>
                  <a:tcPr>
                    <a:solidFill>
                      <a:srgbClr val="8585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368864"/>
                  </a:ext>
                </a:extLst>
              </a:tr>
              <a:tr h="48551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/>
                        <a:t>Reduce manufacturing wastage – implement milk loss measurement systems, optimize startup / change over / shutdowns</a:t>
                      </a:r>
                    </a:p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/>
                        <a:t>Process optimization – Standardization and consistency of product specs </a:t>
                      </a:r>
                    </a:p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/>
                        <a:t>Improved S&amp;OP process to minimize inventory wastages</a:t>
                      </a:r>
                    </a:p>
                  </a:txBody>
                  <a:tcPr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387245"/>
                  </a:ext>
                </a:extLst>
              </a:tr>
              <a:tr h="485511">
                <a:tc rowSpan="2">
                  <a:txBody>
                    <a:bodyPr/>
                    <a:lstStyle/>
                    <a:p>
                      <a:pPr marL="0" indent="0" algn="l">
                        <a:spcBef>
                          <a:spcPts val="600"/>
                        </a:spcBef>
                        <a:buFontTx/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Packaging </a:t>
                      </a:r>
                    </a:p>
                    <a:p>
                      <a:pPr marL="0" indent="0" algn="l">
                        <a:spcBef>
                          <a:spcPts val="600"/>
                        </a:spcBef>
                        <a:buFontTx/>
                        <a:buNone/>
                      </a:pPr>
                      <a:r>
                        <a:rPr lang="en-US" sz="900">
                          <a:solidFill>
                            <a:srgbClr val="FFFFFF"/>
                          </a:solidFill>
                        </a:rPr>
                        <a:t>(Plastic containers, cartons, yogurt cups, films, labels, foils)</a:t>
                      </a:r>
                    </a:p>
                  </a:txBody>
                  <a:tcPr anchor="ctr">
                    <a:solidFill>
                      <a:srgbClr val="507867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>
                          <a:solidFill>
                            <a:srgbClr val="FFFFFF"/>
                          </a:solidFill>
                        </a:rPr>
                        <a:t>Parametrized bidding and data driven negotiations, multiple rounds of RFP with suppliers </a:t>
                      </a:r>
                    </a:p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>
                          <a:solidFill>
                            <a:srgbClr val="FFFFFF"/>
                          </a:solidFill>
                        </a:rPr>
                        <a:t>Optimal contract design - longer qualification period of suppliers with price review mechanisms</a:t>
                      </a:r>
                    </a:p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>
                          <a:solidFill>
                            <a:srgbClr val="FFFFFF"/>
                          </a:solidFill>
                        </a:rPr>
                        <a:t>Expand supplier base and reduce concentration of spends to increase bargaining power </a:t>
                      </a:r>
                    </a:p>
                  </a:txBody>
                  <a:tcPr>
                    <a:solidFill>
                      <a:srgbClr val="8585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78446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/>
                        <a:t>Specification optimization - thickness reduction of flexibles, GSM and #  ply optimization for paperboards and corrugates</a:t>
                      </a:r>
                    </a:p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/>
                        <a:t>Optimize label print, benchmark blank surface area with competitors, Leverage tear down analysis </a:t>
                      </a:r>
                    </a:p>
                  </a:txBody>
                  <a:tcPr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305074"/>
                  </a:ext>
                </a:extLst>
              </a:tr>
              <a:tr h="353099">
                <a:tc rowSpan="2">
                  <a:txBody>
                    <a:bodyPr/>
                    <a:lstStyle/>
                    <a:p>
                      <a:pPr marL="0" indent="0" algn="l">
                        <a:spcBef>
                          <a:spcPts val="600"/>
                        </a:spcBef>
                        <a:buFontTx/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Procured Services </a:t>
                      </a:r>
                    </a:p>
                    <a:p>
                      <a:pPr marL="0" indent="0" algn="l">
                        <a:spcBef>
                          <a:spcPts val="600"/>
                        </a:spcBef>
                        <a:buFontTx/>
                        <a:buNone/>
                      </a:pPr>
                      <a:r>
                        <a:rPr lang="en-US" sz="900">
                          <a:solidFill>
                            <a:srgbClr val="FFFFFF"/>
                          </a:solidFill>
                        </a:rPr>
                        <a:t>(IT, HR, professional services, operational)</a:t>
                      </a:r>
                    </a:p>
                  </a:txBody>
                  <a:tcPr anchor="ctr">
                    <a:solidFill>
                      <a:srgbClr val="BA749F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>
                          <a:solidFill>
                            <a:srgbClr val="FFFFFF"/>
                          </a:solidFill>
                        </a:rPr>
                        <a:t>Competitive bids through RFQ/RFP process, Global contracts and shared services</a:t>
                      </a:r>
                    </a:p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>
                          <a:solidFill>
                            <a:srgbClr val="FFFFFF"/>
                          </a:solidFill>
                        </a:rPr>
                        <a:t>Negotiate discounts on recurring long duration engagement, external benchmarking to negotiate rates</a:t>
                      </a:r>
                    </a:p>
                  </a:txBody>
                  <a:tcPr>
                    <a:solidFill>
                      <a:srgbClr val="8585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36541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/>
                        <a:t>Controlling demand for IS projects and avoiding duplicate staff functions, drive automation/ self service, revisit service levels</a:t>
                      </a:r>
                    </a:p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/>
                        <a:t>Functional productivity and demand improvement across functions</a:t>
                      </a:r>
                    </a:p>
                  </a:txBody>
                  <a:tcPr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067471"/>
                  </a:ext>
                </a:extLst>
              </a:tr>
              <a:tr h="365760">
                <a:tc rowSpan="2"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200"/>
                        <a:t>3P Manufacturing</a:t>
                      </a:r>
                    </a:p>
                  </a:txBody>
                  <a:tcPr anchor="ctr">
                    <a:solidFill>
                      <a:srgbClr val="F2DE8A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>
                          <a:solidFill>
                            <a:srgbClr val="FFFFFF"/>
                          </a:solidFill>
                        </a:rPr>
                        <a:t>Create tiered ‘champions / challenger’ structure with 2-3 co-manufacturers, Structured RFP and due diligence process</a:t>
                      </a:r>
                    </a:p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>
                          <a:solidFill>
                            <a:srgbClr val="FFFFFF"/>
                          </a:solidFill>
                        </a:rPr>
                        <a:t>“Should cost” analysis to understand co-packer economics and negotiate price knowledgeably</a:t>
                      </a:r>
                    </a:p>
                  </a:txBody>
                  <a:tcPr>
                    <a:solidFill>
                      <a:srgbClr val="8585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471964"/>
                  </a:ext>
                </a:extLst>
              </a:tr>
              <a:tr h="48551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/>
                        <a:t>Align on price adjustment process &amp; how cost is shared for input raw material price changes</a:t>
                      </a:r>
                    </a:p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/>
                        <a:t>Establish performance metrics/ contract stipulations, track performance and regularly refine metrics </a:t>
                      </a:r>
                    </a:p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/>
                        <a:t>Improve inbound quality control process to minimize wastages </a:t>
                      </a:r>
                    </a:p>
                  </a:txBody>
                  <a:tcPr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160540"/>
                  </a:ext>
                </a:extLst>
              </a:tr>
              <a:tr h="485511">
                <a:tc rowSpan="2"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Utilities, M&amp;R</a:t>
                      </a:r>
                    </a:p>
                  </a:txBody>
                  <a:tcPr anchor="ctr">
                    <a:solidFill>
                      <a:srgbClr val="5C5C5C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>
                          <a:solidFill>
                            <a:srgbClr val="FFFFFF"/>
                          </a:solidFill>
                        </a:rPr>
                        <a:t>Implement long-term master contracts for utilities, Group procurement contracts for spares to bid as a bundle  </a:t>
                      </a:r>
                    </a:p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>
                          <a:solidFill>
                            <a:srgbClr val="FFFFFF"/>
                          </a:solidFill>
                        </a:rPr>
                        <a:t>Negotiate contract terms for better service level / preferential supply of utilities </a:t>
                      </a:r>
                    </a:p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>
                          <a:solidFill>
                            <a:srgbClr val="FFFFFF"/>
                          </a:solidFill>
                        </a:rPr>
                        <a:t>Send out RFP for bidding process and follow-up with negotiations, Benchmark internal and external prices </a:t>
                      </a:r>
                    </a:p>
                  </a:txBody>
                  <a:tcPr>
                    <a:solidFill>
                      <a:srgbClr val="8585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77167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/>
                        <a:t>Modulate the processes to minimize energy losses, Optimize store inventory with better demand predictability </a:t>
                      </a:r>
                    </a:p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/>
                        <a:t>Ensure better utilization of maintenance staff by enabling cross plant staffing, Increase oversight for temp labor usage; </a:t>
                      </a:r>
                    </a:p>
                  </a:txBody>
                  <a:tcPr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364708"/>
                  </a:ext>
                </a:extLst>
              </a:tr>
              <a:tr h="220687">
                <a:tc rowSpan="2"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3P Logistics</a:t>
                      </a:r>
                    </a:p>
                  </a:txBody>
                  <a:tcPr anchor="ctr">
                    <a:solidFill>
                      <a:srgbClr val="858585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>
                          <a:solidFill>
                            <a:srgbClr val="FFFFFF"/>
                          </a:solidFill>
                        </a:rPr>
                        <a:t>Commercial model tailored for key routes, optimization of spot vs contract purchases for sea freight</a:t>
                      </a:r>
                    </a:p>
                  </a:txBody>
                  <a:tcPr>
                    <a:solidFill>
                      <a:srgbClr val="8585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574918"/>
                  </a:ext>
                </a:extLst>
              </a:tr>
              <a:tr h="3530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/>
                        <a:t>Network optimization across key routes, Improving container utilization, order clustering, Minimize low volume movements </a:t>
                      </a:r>
                    </a:p>
                    <a:p>
                      <a:pPr marL="177800" indent="-177800">
                        <a:spcBef>
                          <a:spcPts val="0"/>
                        </a:spcBef>
                      </a:pPr>
                      <a:r>
                        <a:rPr lang="en-US" sz="900"/>
                        <a:t>Strong implementation for value leakage reduction</a:t>
                      </a:r>
                    </a:p>
                  </a:txBody>
                  <a:tcPr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148318"/>
                  </a:ext>
                </a:extLst>
              </a:tr>
            </a:tbl>
          </a:graphicData>
        </a:graphic>
      </p:graphicFrame>
      <p:sp>
        <p:nvSpPr>
          <p:cNvPr id="46" name="Rectangle 45" descr="Enter Chart Description Here:&#10;&#10;End of Chart Description&#10;DO NOT ALTER TEXT BELOW THIS POINT! IF YOU DO YOUR CHART WILL NOT BE EDITABLE!&#10;mkkoexcel__~~~~~~~~~~False~~False~~Falsemkko__4HooU0THZk28POP9trq+pbTvvzd/gcV8t56cq85kb3NDTsUhojRA0EsgEHHMH7oYP1SYpn09ysXVivguJdhTvfyVMsBLTGvcX7WPTor/CmWiWcfk2RmY+GE6Q6T90sFUr0lg9IPP9y8umrse/9AoLT5R0GKq+XM9pr/aTyOTf0wptcuHbHxeyqBm9svU01qeeEM1v0hpSHUgirOnAK/wuqE4+dkl4wQfaKhVGXQ4wkSQT6WvSZ/Jug0J0PMrOVjnk1nOopl19Kw8CvYsx4GkHQ35FBMSpyxpOfNmOWbyGhOrQL9ocgV3te0gPg2k/OdfSHXrkHkU3RwzDlDWYEY5bW4I1m2o8+PYsu6/qPjLOLOKmDSG4LyEITQ/pvkbtFugjTLuBBVlXXWBICTPm+yv9ZYBatt88bolDSyobAY9evSb7lgUu0Aa8f8GpnMOA/+hQk0SB10/2BC1FSjAtVfwAxZBCPeLVZ79AhxNZ35WPQl00NYExk6u4lsxZOWYKpL6WkvSzuP8a4PzjRR/G/04Xvd6Ag+4Q20stt3yq0ltyLZxf1r6r2Ct9n80xT8O/j9qnFVJWsBjukTv5DEPJ61F6pE7XIWpoDxryqfqMZL7EHT/4Rw4n3jwOHej6brWDIZJE22mVH0bWbkI+o2U9+EamPAYva1+Ly8fu3DNGNuZeTfDvcgi7m76yYxzFtUWlBOFE5x8ogQWSjCmERwQApirbe3SckHURSQ2/ODgebIMAFji3inTU0rrAgG+KCpi71aZucRbKEW9zFIoTA4KpFf29iylW07fEZ75vHXhCVLvKhFkh4z6RuUXKt19bJ7aQNvW1oiDvf0ktvsVFXIXGh+fVdk52oxG6Y90ABGP0RI+M1/JHLjkVIsVuCPm0rVIAqgZtYbnylN0yzMJMX03rIp5ip45/6GnrUolZ9wvW1K6y0cu7OzyraNKCXQI1tdip5HibmR99k2KA1erHAARSdnT3u/WoMaR3kCXRWP6ryArPoWFg05FOhq7ZtX5Xoa/EDb1mnENH7ivIf7WZDz1Gd9kbwVpLphEjE5WYNpzG7YUg+wSNLDEx22+cNQg5MKEALntBB0PTwIDahOdMC5yTksCLxcEACQiYyJEvF0eOKTO4QoyLzJvE/ECVLjTHtSZlA1W+Uu6tTFjDueq9C0wtFz0PXU1qddzHZKIiCvdPZw4Xh/URhOQy2+ZrrbWiQaVCJ6cd2LLwbtQoGbV7OdFYnPUVe+g7T8r4yNXj3DsWAFTFyOD4Kh4pLA8g8a+pcnBkmCUODBOkHHT0R1GQRstZyxAyzNQqLIXYLShAKyOBNgh2PaS9JGNJfAvmnLErE4wIEEy+TDbSx2MWpiqftVCwnMhzgjXXhNPJ3Ye5JtIQvZoeSZ5g8gEYe5fkNwhxpCDYArPv6moR8/Ta33bTg2moVElr8rHjPVopBvMbRrwrDmEeEUyoNwB7FVdZbBI71qgEDOfkUqUguvnhuoBkZ3cRX22+Swn4vKWSW1E7jA+KIg+JVQzFiQ7Pq2flJ5yNWBJkbUauO/OQPZlQawFjPlti60PHJ1/9F9G8j19nEeC3PdGVftTFxY5FQ/O5XTyGD/BjA+HVdcuV/SBN5lcYfkXitPZQOWdNTStu/RdB0uTv3VRp+zONxPkwnhvjBRrzoxtOW6L417bDC27sF2RSQKuqmfAyooXqdo4+r5uVIe0fS6tymKV9cr9RpM1/SwE4HYdM1GB/YeSw09MVPmXhwGaXWgw83vRJTvCHSNfUCEUGEit748pDHDQWveDtEqFuMfFSsZayPZV4QScIWlANce/6EeyRWujwjCEKPj87ls6G2vr09rPlIqSxvrzwfNATT6YiHm5LLK/HP4Sounkc85GKpRaEhocTuSbQ+c2Axh7LQdyR9q6urNM89A814YO0j06qOWBVG0FR0OVokxVArE3UzI43kJ4DrcwwPfTTSA0SkzyimcsLAIBYcijWKN7EOFjMwMqqutE9BqjlxY8c4h6pLkFR3p9SeStx444kXmppZtw2F5ZZRSP0Cq8/B6siO+Nv+NZeCJ3Vog7zIEPrDXsokKnkXjWG+s4bY659Qh6EMH8o+q5KrPIl8zcB3alNvXwYWGNqgDoCAMBHUyU6Ftc+y/WQuwig5U521cWuPXndrHu+7rusSbe7N4L1TwZhtz5Z2cVkaGItX3KK3RMx3r2jPIzuoYuqv5oudJJtgUtY3i+RQ+0jv6C2Tv2mQCk09RG64SUbeRPzvn9dMMu7Xe5sJkDBDJfCY5p4XfcRuJjRvOYbrvp6JbH4j42kVA+rVajANSMrplrHxO+Arp6j6L+Y85uR+o+VC7qjw/qy7tr/97cqJFRMhIgi1rCrtYLf7gWlH777H81lE4poDrbUt8YyKuTzoiIrWlpio/EX50BREulRwxavDjN7Ih1GKFvjzg9wlf4+AphJh/v4mfE34xDBrX8NRz7ZcvpEld+1J5t5UNVdqpUoM+TFmKgylm1ynxEGiRWW+LXFkKI1YgFFITm+7SlLq+zt3cpQsbJaNx+Rm7J6jnqY7VrAHk9vy4tBzGh0tFMQjlp4mDyd2GxVLX5geuN9BrWTyARtiRMb4eWIZlszcrO2lfqfWcNw1FKHeQV9LdjygNnO2A4vs27jeNz9V6MiO3p6bx6a1PJH4vgHiEAjw8DkU9bzHzsZ2sWUTqTbDLsMdvpVRIH0sOFlvYI9+1AiZIGKTucAIEBwciNt3wDLYSpOF5rX+udheo2l6MEa2SVzspyZi/Q8JcROvWZCwdsLE6KL4BbuXm2/i3ZysuY2awoqqsl6+lRuPJ2uF2/ytPRhXKkqN5sN4o+HGTHRL2b39fzjq7wmhkDw7ToLXOcBHTAM0Cd99QLBWP5PXIz2TE82PuQmsDqiPIKL9wK01XNm6WmmZs8F4eM1tEwkvivrqifhUOFwIYXCIR16pMr8B8kgT3sIaDg6dSWbDtcaBFX6mRN3k2jDW4YILwgxF0vmEGGXQ1Tl31d2Kjw+AfFF1JZNR++LblqOGllGPYMVvXJQIWbkXxa+1rC7u4CC+4SPT7psaQCcHNaZ1X6gAEEa+z4kfucEeKEe9plzEOT8KQs/HLRkdfAfvMHCXNkiwKDnL1Wo/0eRaGOH2LDWOjYldV5ZfTDk/NQQYWvx+An6yMcm270BU8dO2zaLxJQBaxbhud5e+WnC4/AMQwpODH8s+GrSN4XsT1/ijqLP8lLmEtdBLuAQxlKbY6yrta/mfUFXHiBjyINXcoPQJP7l50xCF4bv47os3IhHyxNltRLWMX33/GuWoU4LNP1IJIBq6hgeox2nx2txaiY+5oIKhAbYpXLXZHghTwaU62xUnWDJEQ0eTK5/Qgn2Oiis1JGLDUnlmWe/SpTUFclDtcWN2x5CaT75kCOCTt1hirkZ4C+uCM0+lJsH3aJRagIEcsxZk7MGVyhQAdBvahkpteJsHgWbgk7pGXayFccl7whM8O8uOIbOpZ4VgiFN7la6jxEAdVZppGXGRDeMirarllymNdR9KXrP4t17ePNNgRCtPTfDGbgi/KV7y4+0q212BwzrG8paUl9fcWuXPAdkkS1vOBfIzyexmvu0bpb0f3jNM6cLhjwBbJxCrdmjUlweeiPPqyg3B3BHA/eRI5N6llE8UgxH7jRsZrVBf07nPajC72KUOklgR2+Y9g/C/o94hB/b3KadG5QIBcMGKODp9VmsvGnf3a0LEtbG9ehspdwNiSztRRcnIL+zGlJsYgZPYhqrQmYbBJidTC7vjVFxaAnYbYpljI5QxD6Y1vAsSPsSgcbqqeBHDb3Y8yvi59dLFfF9Wb2xwB8CXUqLYu5JxCosKexQob538WSm1FPXxhgkInfP5VOu6B7RstA1Z3ReA1g3r1yIYES0xzGkyLurPpg4vkiGmMrZZsaEZh9PanLXmOJvA0T7CKN880Ju3LNXlqRAak5XQnKsB2yTUNW1MCSA7fKEa8qISeLNpaUVkgQI2TeG84/1Vl9ZAD3nqRivBfI7XCwM8KNviMKsRGa6JPUj8HX7UXI591dNoQX0yxovuEvSSTM1wmooQRy2KnIDxXU423UPoYEZmXB0aVrRTdxGShbxhIfmC85fZBaWi4dC9Y1xQuKPSsQ/3M0O0RF1fMehnydojDEjA0QvcEk8bZ6IkDHflmADUjbQoqtJUonNDOEpjcjGwiVt83KQhit1uYhrB5O8W5cGFx3RyhNg1R+cCvYcI2H/+2Bz/XdoGlvswLjctadMomDnOFzmmQDexqLSOwclNrVlqG4KV/9qD76I8TZoyGOsS8QpNxRtB2lC3JIO9LsHsAhjgzq5T+7rEPX1cZlAc1h2yKCZSVqRqhH0/VwcKjNr/O0jOu2pXokoKxz3KxnkeYt74W5/5WxP6OOYlptMrx+yC2DgrXDWso2lSuOzifRezuF0OIImzbymTkx3ryCunHWwTHMa8vo/FagLkz2Y6K9ejvXRb8VIBUmN6RAB31QsZ4A4kIdl1K2C9ihXKbNbbb9TuWB50VZ5n1ezb0P0dM9hrhZyjJMFfGs/MoSNGajxoXZuLpiLtJcY4gAjL7Oqq7NyNzRjevcZ02I8icBsBDT5XMFeC7/wgwA/zIEqnZXBjQz3tWMoTuHHPReaFNuuxBFFJ9ULRlsuPdWSXU4hwA4fRM1jWNSUken6aTxvzKfbKyEK7ljeTNGmx3IQGkipMK31CyvIno8FZXk7dTYbkRv1kH8iIc1f0amiR80gUipJitKRNpHikIHHUY/4LIjMkH4WM0SJPRjBbA/XHlslMSkxCWJ3bfRfc+zKcFufQbT1T2oImYp94YXuvVpnMmopW6C5xlJIhkEPccVnO1NA10jn99sqDUSJyvgE+SWhgQy1JlEO0ctJZfM1jvAkmjXoDWV/O8k56AglxMPV9+tmGkRBg6TPTI05c5ZQ37SJx8fUrRs0KcHnd9CcgeuTNmmmQoVrbVjw4VwRXqzpUm65HpFwAs2dcMe/wpJWE/f8dO9vczWzub6R2pGTpWXAhYC8BQaJ2jjrFiUGtgl5dyapAZ6fNNQX1dZeIvFhxDtGWezlbEhtEGGq2d5dlgwePqZZSTYRfXCIu1BflvenD3C0z7njpDXUPxo09ay+GYe+1A6FQjh9tibMf14Rm8bv9q2zj9sCBgaTU7t4q89wPMZCbG0JujaogiV843FQ47PwKo1tAUkskwRxrXPn3HFjkyJlH0UXEZc0Yj/Khb1/ItRiuJ2sdpxJH1cnlHQJn8I1RdvFx+BcUqqGU/4EjZcvseaFrjeKlk81B7szE/13qTXuIIEwA5jT7E3Axms5PUSssJ1iKcZxurWZxp9d0Vj8dr2kzIDf/7Fk7H96OPjIvWka9dNmusVyq/a5NeDxdoUqdfSDTbFkm79A6HWFgiIavD9Xn96xaPKKdMj2OavgErDmFDj/P0IFyYmgQPHkn2IreCd3ITQezsLGBjlcWg90crmH4ESItxlz8cQKtSKbsmAMA2hLapJCFdYMulHNz5BgMUKM+l60Vy5/zo6itRh0AM3ik1MnS6LsK7tira0uWen82+cXPh36/waOItz0ekRkL3U/1R7BXTniWdkdQjOMLUoRIeh7Kv0/CdCW3E1Vyshe9+bUV7owJ+7wW5KYO0UbzUh/TD69QDsOJmS3rR0LhjQj+9Njc4NpKfzE+VLKnt1FR88U8AwLWxbVsGGrPXCyeooCq1DU3v2IX+RlJ9nN5z3qALuOv4P7WOJDoteWLHWdBolROWu4zna7Hn7wD/XnU/nMd1UOQkilQicHAdPHTQQama53pAGgAx0tX5LsFSg600u21HQJwg04WBMje0g3w52BR/l76D395xxNr8b92DisUAs8ylM+8ZUuO+kD5UAwaWYI7qNfSRD3hyfrefgRE5iEm1CgTFw2LB3wjjkUkkjeKyvgrwjWCaDD+Z1ZnNlEXhbxBKjgLjr+cjw17ViqqJEs2hGKycM5O0UvJRNPqxIeF4phQqERVjh4vp5RXHk5w2BOKwsNhBNsYrs5+tuqFfxIT/1NEgAH/fx7QjsiIIgeTQJDHy+VUeZj6+blYFKJpX/S8jbwYRaByasEmPDUmQfpPobllyyNs2i8l1uspF9Ns0cVo+U6BdSQP7rueEnM90d0vxnXQW5YudDDqpCbRR/PXjyN5aheQtqr9rFBvI2VfH6QWspJxyWIltJP1c98kBQ9c8KIE6+nWJbjcm12P5TFZYQBzpdxAxAXqm6TK6nQQJxWux3rD7eT/OvEve+ypOoHZUrPZlzDhxwGKI6GxzIOiE1VHS4H40LrVqxA+4Gbkc9QMCsyHrzGq+7HXxXCubduq4ZcfPY8TefLfVG3rN16RQ1Dy+XboR2n3VXEnfDjYEIVKFZlmYP+QFDrDFmJLyIf3fELV1e/+t2DvvfR9oZYskUUX+byDysEafloQd0MszN0BqD8nCOiV5ivKOzs/hbf7F/t4CopXftK6G8Cak1zF5RHu5w7ieJOaj8UH6aydgJ8jqy+Nvyb+HtTvRYeW5/F1sqcFy6HW0sIcsG09vNXomFH0E3s0ixS3++od4PnB6mK+6m6wvdl/iOM3gosN9QwbKN7/gu1YbAwnrxc44c/1Y92ICkYDq+x7ClMUaG356+tLRKLz9OdIupj/D1bRhRo5puspf1tG4SBJwZM+pe/Cw3dYeeOzLFGRo/6+c/sN+EPPa0QApNYRfXHoRdVU+1hbsb8soo67M/lJFCi/B1s8jrNmIoMfcfJmucj4/1Q4pNj4N6UjNenXS+Z0OmVkWhYQcGvNhRh79y5+NMA7X5bE7a2pYFa18W/tCRSttkcy0t0bBjWs9jWlf8AtzadSaUf9Ut2jm3HIEu9jzyWaKlcl96ZnT0xY9wnpsjs20o1433ncPvkFFVUYViZwJEWwBb8/lTYMQjsLOzDiaQSKk50PG0Zt//sp3B7UhRDZ9SJSetN/EaAv2vuVQp0raT/l5Ji/i3W+1GS87noAUnpYrR12f0UNo97LTPU16nciKgE6GnLK21TkzaOcYZFuE1eetn95YSN2JOrByPDcqKUtNqPELL8uNeNSZWK03SlSPnwJlLsFCi7avmNuu+eHebWYfcYtisX9LmfbQZ3YIKCodcauYGSQ0xDojeAIYM0k4gCci9sFUM1iPl9rhSF1iGgpB1FACHy/NCMbTGHNLhkEnmcMe5W2QH4W4kVKINhNK2981xyXl5gsXM/VHLrcYk4+Txd179RMNWDfxQ2Ta4A3n+XDVNfq4SI0sKw1C9ovyd5GYepK+kXKwiwsCVV4xtjNytT+XF5meCFFjTzG521UKXEWS8reGcgcUKHbyBe6hQaZqMMr25klu1fwTnZUwaL+pxme/CUSDzs5nCtPuCSeSnyzMC9mgWUhkzXZgUwW9/PtwZCQdw7qRdC+BZDO+DVK004OEVvBuZDTP9yWaMg+kiRziW2BxR5UO85aMGDebHzB2JjYDSwFTVkSuERB/sm9lxjo2WGFzFhKx0FeBUh128jspOmaj4W19hIqchT0EhrgekQf5cAG8gv92kkSZsf9N90Qy6iE4vFYBMM5hzc2tiBtnXW/tGelbldCnqcSTWUg/z8/AgOQ2evY4A13Sp5z20HjipohEMFARvsAILGsVzlK5+DiNlC4rnrb7RjW5mdTA1PqkPmin43BZuJ5tx7RC5eCaZnZnnzOB1PQwpJiM8BgDygJMh21n99FA4rmErDlDeFMrZa1nrBLou9hIXGZGo6aqdvRz3Ub8pOfog5Tmb2Njxhe8c77SgIopbYpbJRSL6LkBoaqlC2ULYUmiUmT2Zxhst+jsfwHkDVSRRMeLkrUyMpgRVK49r5vd4X5aHOD9YA168W/mExTHXEDcQNGRuYMjBCsWSuc7yEVwqAOsOCgQm6vCntQVnGPqy4AkkzAayiIDSO6YONJeAnt1dxoF+aLIMuwvtolCbv5ZKea3e7La20NC1o70EwNXVkOG1rvTDbeLgpEuP7rG7WPlBxt6b5iZkzfdsKeMRU9w66d+x+p+lXX4bxFRKoHc66LjHBf7ECp4YKq+E++ugPu8sp73kg6koxJ/M2MJWRehZnKED12V19P5ElDX4Nr/mGfbDMRIMzyij5QEoM7nIBwr5OG8k4CZWuXcQmWm56rDNz0lsA87On+nQyBk+RUqvyY9qupXOw2pVrig96mljxV8ObTlHLfpRSBwCD3eUke0Fc7xEm8Y1Gu2pKZ+5Hx+YObFUGd5BAMwYhiG9HbrNev33tqHsO578Iy8hftstil5ZBoLeiqvOKmLMubsPepu2FW5QfkNvZiMEGA/q/bVWx241VMDCpfrL7Lju2Jlgx0fECHDe6hijLP/4uuTIt+UpoTJxPjfUua38SXmWzaNPKUK3DJv1eX/RYXSAXe1M2GlIzLwxKH6MWzONzrY3R6i7hbK48THMTmPjbUsr8PDAzZjKg8WaEehYItmjREWKmbZmwhsL7vVOCQtDhdGguelo/OoXnKonhEzlFg0IYyGNAeQRUuhLlmF1KQmYwH62JD86cSWdwXUItuFlxVuNGsDJ7o8cIrFZke4AovTliLqeKOK4OLigdUQ2U88HA1A6/lQUMmnb7+Qa4lTNV7v55wJ1P54da8TpWluzVQYo6WfXhUW2HZHiWOFHobMu9+ojDpOXatT2v6Io9hn3kQkL9et2zJudrMnu9MPID8tCDqENhr6f8eiDP/6GRxzjppXt3CLppTrZyZreBYJzXoICmcjhG+5T2NcdbCwGf/dEYjri+Zfxhzy4LJXLeVNi6XTwQfN5vkGkkLXx467OrVW29izoKqO4LPBmb72LLIpsaMYQjtaIb25jNBTcdo24uA2tleIHMT/0HmwViTDMQcQS+OD3zKzzWss4viCUDx/4WKggd33XtONZk6dGrWoWK4TyuXUWki3W+XVi0yFHxddiEAiDGcN3ipz+TmcOGg0sWWQhBR0tDhLOhiQtWobgdeVu23Q1qFd7zqrOg6EX5NHcI6Inr1rAdKwG9xc+Uj9Mtiw5Kveco3xeP3R7sOMglGy6xntA38+a7pZmPKLK6bFV9JIzP7MWpQlEEVomGvcCW6H94w8FB6E0ixzebGdiCidE3JJ1BtgHiJ0Imxd12Bb0L4VX+d6ZZ2xu7vtJDDRxEVi4N7x4aOujZOz9PFh9L1ePnkOehOZnjCYKa0O/5vJtPO537rwSrA+DDWOo/7XNbgTodvGBVnRG7l0aCWwfC4TdlI0KOtUMSa9Td0QmBtT/OFpFKCOhCPPubQYmMyx4cpGSyPPVH5fUhF5n4Oi/DVUHQE31kpvXfBI6BRBHHIR3qpUIJmHPNe0PDmDrmpnCW/Zp618+RWpmXfzgL1gttrysNCN6yb8CmkbgOKZldbnGLKkjVCsDFW3VGSTgcWrmUNIsqRzQEAXqbrFVflrt4vxSqSRKs7UjvtHIvDbFSToWG+ebMbw+GJOihfbkHaJrlmax3goZIs33EAiCBcmfs2wq9B/eMOFUY+4r55A+gKe/h2YnNkmGiZyP8DPYtxgFpO4+lPSUGDAgmOeWG+oTHQvD1lST6jiIsZdQzrN1viuLXh9MwPI/k5zvrx7z+t16yaMQtc7S+AC7Ll9lbFMhyw8KPlgVBnqOZTt8/ygqg37GeV0qpr0pSbT6NeJGVxLw3W8WPk6B+JnOwk5pxtL4gIYzL3PPLMaDqeM36BsoBBzZ88P8ArMBKfGk/BxagKrFqjFgvRmpYRcndASKG0PBepykq1tKxsTLV0SeFC/6Y/WnQcJ1k6t60I34W0+reEoj5bckpXiQY/ryytSr18Au1hJ7xIS6tHhUN/W9okaX2rRyfYcdBcikSlotT2bLMizQLCSCTVumugvE8Y9z3hOm3m5NpIhDOi3mZBurshN76kiHxyt5rjB4d9F45gEKH+wIX15n9ePyVEQRgedw0+Kc7RxWL9Ow/YqE0uQbMu0/4Y6CJ6yIE5gxBhwH+HBQpBsCeeqb7G5kjg5ZYEqrWKmS4Vef3PqKZGxAfmMJ63Wuf6opxwR9gCaQVgrLZ1LC8pqJW0O/mV7rwuXIoGKZGJsKoEwkTma1UE9CuFkdxr0adXd+psXkpzBl3CeLf0vJlNbRrFVQyc5QecxyPn+hIR3h7qG16P2+wO7kOlgNcX+xWz2fMwLhqiRB0vRzZ2uYudmpagDdn1ocW7hbhx+a/LQvEbGq9meDZiii3kY71a2b4j+gP040lFQsf5p7oXaPQEsEgnPM+DM+/hW5M6XbZiUVRhFLoYSJmhjuJGTmZORQJtOE7kJ0dt0Ium6M4rQcWaxNp70AtstV4nnWyaJTme29HIus52BqH7U0bbePJOAuZ9bzTLPHYsAXuVe311Eumg+cpNBe9laxq2sUtup7fgjZC6hKp1v5WA1YmTQEh+3ttdNLJavheNqU9cgsmZoZzPdkTB37d6W09v2d3PKLU9TNZTOrbyJdeeuCPS8K+wS8V6Ai1gddCqN6gMDsfVlczvdikI0JSwWvDvrnIDFP8a3wcB3by//Pbbc4DPrQ1ngiKqkuaoSSIbpAl8r+v17hXZuC/WCX1oIV/1A49Nlh9uw0hy+6ouTnt4ZTXUOBmxFtzRnRb9zshoJDE+4lR6baBaIq9mQQeKKLoYGITHGHnRI/W1bsePZoW8bTS93wjFo3HMsgl5UYv5/7ZDZVieJPTOfgHc7rbHmeUpqKhb9pqABX/QgrP6UjovJ3NJwtKVMmBK8lKbSBcD4FCL3T3Hfufctbqx0TvipQJEsYz5b+A5m9JmazcxxYBW/Fl2yxsN3VumBN2dJc20KEFNaE8UyPQoHLWNjfqjQCpABf5LKP6PjExOmI8kHmz6GOFxEy1vHs2getFKksQvk7e1VNjFsGQG2wmxMNMmtcdqBgTze0yJJryAwBR0CYYkTgwjTDBL/qM6U50EVjO9CbhmlnbIwhtpgu3hvrTq0jPo3LqAmqcP+4fwq5wbmS7oUnViH+IPRWiHx0dxIX+lYj0KDTRmchCegE5gaPOTFq6BdGZGUVy9Zh/oA+CpbLRXxtNscTz+8wkTeO9o4nxT7PE9iaP6i9mAZYe9fQKoE63dFdMK+qS3/435B/FfVGQ5dq1R1L6KiF7VDoHperP0mUAk56PFUU+aSiS5vPbVZboJzw8iwHgNRtrnXLaGyxeM/vWjgeweEUwt+hlWcnq/Lnk3EVOF1UlM+PRaZDsqIHh6yKVPG8HaT14vU3ijs1h0Qm7f9jqXFyGuCTII6QjYZ6DXJAR7Kapy2PMrluKYZFhdxTh1gJ6vdzxyS7s3X7eWySX7Ry5/FxlsQvuj8TYTnfe0M82Cc42WJANF2zBiv9D57PM1McwLDS/MdGeFxqIAgpzcvHEV8r5P8AbfGu+eIs2MMv76ICapNOpfXx9s1MdeWuYJqdURjCW4CpWJfTb91jIOJBg4nVTNsdL5d6AOUJcq77/aewRk5u/FFRTD1Ts7E4kaWpVDn88WmGRra4+FtOwq1DSQNXstID26LdLmiQHlyk6KqZMAKAJhhVO+9YCdXHjl1+C4WWPqGW0QakLjYSHYa8zgq9yL8PQ7U96pSDeXItcvYVRzfL6ZhBgAxyk4LnjLOkZHTM1YkHI6R/MIssAbKExGegS0qEP6bT61y6YAl7TbA+T5As02yZ+P0GEN17bjZ+QqrRQTd51S7IlhUxIeCYbZoAlBD3n/D9vgOw9khsljU5Yx80IgmyFL2+aQsP4Qbi9WEaC2ZCB5qpIrpjKeTlycSqN9XZTv4K5I3cvY78gTZPOZ0Q9UjAv4fg8E8i8p2Bl1rahnhbpyKIV9Kzr+bzz2TE3RGvL9Di/li4pkZ4W9dvOs7lteY+gDmRgZeaZ1v/AnQSZc5lcUq5nzPvvIb2CAhEKPs1xmBekBOzq42zF+JzbTXGPzKCOV5OiHkzQ1yG4ZZsjoNxdH6snJtaEC21uzxDlvUAVsqR82nnI+HD4U8UALSndZtYflU3Crfpu5GWljwgekc35xdx6x7O2vj3zX5ljd0Y1DBJHaehEIWEXjvjHY5w7Y7twRlN1K0TGokP88euB2ojI+IynELPnYwl4PESbjxhIWijPHmLBJRPX+ebrPQbIiC+BKin0hEXsJc1k4Oe+aBGJ6PtIzhPKv6EJKoKZb7+lB+uwcqNN29jeDwJ8ayDZonhT8bKrPKuHsM02hf0fnn8E8AV0KWebYSx594q09I7eycCbxbwwnV8BT2WxgCsUNDwuneMPbHnRV+krAUVXFxUzXK4ysOViDzYvQnOONZcku7nJu2njJ9t1VKiP8NqUWR4x48xuuQZeQL4TK45fTyBrwLYju6U+mBiGzVPwLS4AJPnDNhAGe64uzu3VmAB2pfdLnlCBuVunILibvTd89egvgGr+klPTTpzNKivisKszkK8gAcv9PtV+sp+dzxIHSJ4x9wjr+jpMxty0+RwSG0R79O8AoBt4BhBV93C1zETCXtsw4AHZMuB8/+JvyAITjLbnW8SQnxpOPsQ3WPdEGakQB9v9eKJfgRK2wAXC6FXpybfiw5ft0T6MTi633bfraa4QOnESzm4mxS88iGuaddAzkrxvaDJMqF7hMGaL20J9GjCdTXlxS2O7KpI7xq85nTyJqeKKouExCYfzQUTWOgmqifvUUSMtCBeXBosYAKx+idZ0bLHTyMsk0Qo7GbEDZbmoDRxFWXSocFqKqRMSF3pfBAuH/eSqgeO8ONg8+mwDivRPd30iUfMwrUM0SXNwulc4DSiffSM8Ia6uyYUY7BDUgvDIWt7Ku5Y9CMpNXBocUnG59IHN6EPle1WbiTZPlCor9eQGWPP1BF3lgJGfiY/9nPmujAn5Wk3Dpgn+AYV+hfGgR/u8UDumtxsWfwg4ANtUIukJ/dFB0mzd57wqyT00pDAeLJPFSYC0mrJQaWYU6M/pH/hd5ov4z9x5x3sCNpP83VeVH7ScpPugQ7foCdHG6diHDxsg4owmLbeqf7Rko4eC6YAbolzkRkrfbukytazW6IHEDa1vuplLEkvMuMGVNOsOSjOEu4iwwwpkspIWKCfM9KmyAAudw0Idh7fzn4CAj/IsMyruYgdxmyujXGiuJSJGNiKNarbr7VGfo7a2bQSd1PFiWyXEGIMd2E0tBHPmjqaJKQl5CHUzkily1rv2iDM9Y9iP3GdlQw7cr9/7upYdqgNwRFaE1LAS6CMkz8GqaNJMDljuVpPC8ZGSq2FoQMRJt8sK9x2PBPgW65b0mmNzxggbqfdbvxqnbWp2jLgC10ZxGlx4ZDPM8eWDU6IgVM5Luc0oxpj2Ub4WpaxPMQRXs4VcpzDfrU5yRrBrLZ3Gs1x7IUyJdw5SGM/ZCrbT90iVOOtcTEhqgyHGdOoHN61MHSvXdtQZPTEaAulojOiEyJ++dSPl9fYxv8nfj/0g0RSHx78NjPtNch5rgjpPW8dpZU66Y1B8t74WewEHSixah2j5/G1s5vGcCUjh52SuOzviVn5/OsORJAeOyTmGz5JpNpYEd1KoRMcYTDPUooaeVpmOVqt3amkT7sl6pLSF0BWY9Jwpuh0f4a5X7Ott/kR271caoRqgLevXKFpRohUMWpDcLgsxr7bRrZnlH/W4ra+WomPreRtlip4tXTbduiRV7FuK10gzN2mdT8UhhztVDsUrT+D5k/C5YxYuxxrc43g/hLwk23c1TifuOKEh8tylKEucq51PioSzebUqImlUUh7evkd/VDDOY7JpGyAEhFsMcRFbzpET3PZ+UnrH+2ZOcc/B7DT4sMC2dS7c1KyFqklrbKfUUGUtdEAGGXK06pxTjxlIv8AnFHIioJf2+CUSjVlz3kQvdRHTZ2JchXY+plsszwlQniUkJ6hPEK8i4v7GxWHkDfZU9tnBqpn7SXUXhBMbWHTpGkhFNAcCpbyOMpMlOtGHeFGXILACu7s8SVOxuNHwXVwj0bBw4ndF0s8vhXWjq01FJIF1XQ/05xH3yYWeb5FXQYfm/nTAD5uexxREhb6/AX77sW/5JW9eY3WGvPT29517g931wDVY9PtRdyn51NeDMHG76bU7wh6ofviw1N3h6/IwIsfj9TfewMjeu0rm5sI48qK4VNDdkVUdGSZDF/T6ITsi2Gsuv+VK1MDPL8yzHC/UVPRcUFqT1SYkmQvUPTFXwyP8Y+dDtn2J/mTTESbEE5x/2V4FHs1MPF0h+5BYKqory1SuiPLlG6zyWgKOnMZIyVd/HTZR1RkK5w9/e7IwNrmoha9xOOpvX1YfmpDTvUzsAF2awhBTIPclkbliWkc02AeOmClnMWBAFuUr02W43hwkMiNadSafvvO2WPCiWiNwqCDq75u5GI6c+cLJEPQ36TmuqEJPwfHgkG37moveIEps8nDiAExIQCTlA3VVG6cUcXBUFcmuy8NgyJ/EetFcwqkcNa1wk764sb4476IuP2cg+6fa9Y6isVmh6u2H45c8hqD8/EqwxTfTGsXXVkKl8nKR1Fyg71Pc6XadeOb7/etTmu9vUFV0aya+HF1tBDIOM5c8wwaoel8Qsd0sCgEX0khNKR13QOuoTvub0PY8VhlI3w1LsjSM93/cZWyM/oTyQADmDaNBgVK5ewI9PLErtHHUm80F+MhCCGE6rjlAkpsWxAFax+ITD0+waKHVoDMgAzYvpySegm0tzVoL48kopWAd6jQtNRu8ilawfa3jyFILPYxC7zCMVhoGyXvccCruqUsM0yZV1N+1zuE9BP6MMuRiK4X3h03jBZfeop57Mxvb6engU2vo5HBhKXydOfqgfMuyogPTzF32QmAx3gRfuuv3e78AJoj7I8pXKwgtYaLO8DzM0DbT1jiYtMabyMqWGO5Oeb8IA7SHkOopXjSOPOcTEyuNF9wCy3wFjzH0gdHW6F6CzRJnW+ZHAl7oqF/FhAFPAVkWaJxenSnIlBbArPXBqTnwZjF0OP4gj1Q8y0g75hi1uJSGFBwAIWUEkLxkECnp38fSxjGA4KFMse09IxSqXQsU1cnTNhsAaHmonjMyIc/3qz3qbifiJYcvcLhy4FVQGI6dTYm7Aih0QHg5XukTSQtpCc5IyWcVtj8EZ7xTWOGzprKbQ2xfUIpvJisDgEV2OchNWQ8Xxqcf+4ByTAitarW13A1vWJAwM1LeXoWh26XJ+Rnqi4Lw0q7ZI5sHfizsVM563N+9cfsJCYewhmFmoW2mrFa7Emuh173igiPSCaHoKqLBRmo9uewBFmoXRKNQACskIMWPmgNfjzE1mxHndPjlmua+BddUd1oEOg+agWnCFo+oZEYexsxDzYx6I9LAhp74h1KYMIqBQn4SkBX0PK/bOwpWyJ7h4cxCf3tK8nqC1AjaRG43hQ/4sHvHznh1s6SvRDe0chPumeRfM+k8OtxaXGqt/VLe5eJXoMQcfGCBs9JFSlLL6+LvZ9qH9q8XsB2zwiXPVfY8mA1AumHMrNJDqpQJA8GBATyP2PLbUM9g5VVJWk5rRbFCEu9qWgh19/bNd2b17YxF/mkgX1FsNXe9LEosr6CoULScs6hulxXPLMgJ8x3FUI7rIiOOk7O1FabWd9UkoY6XLVStttVWFB8JgZ47jnUHLVu4RyftDmWRQ2E3EL/eRL0uU6yHM6nhV4nLRjYKhOqvJ8VZ2YkMbuV/icu+g+o4mA83AXK6B2qHYZ9rEScLRDR5NYvXfCeWL3150reSBulFkmOI+/ywmoXBkloLIgOfMxPtfhvxlu86hCjPJA1xQMz2067xFs91ykzE0vLyQ1tCu1aWUYiHAcEEyl+nNXXL1Mk1f5c2F6ItHf9INseK75MwNyS8DX2OQ2Vq63hmPaHshSVedYaqbxXKnWZgy2zkbyeVWdYPk/mJKQJ/eWOy5ywOebVFMys+XxCPH/yzpBsff9t9AN+T3PQ2mfJ59NQlNh6VHfKmezlvFzxK8/lv3dkMsufreSPXBYasXeXbVonwSuHwKnjIGDyUDg7KvU7ndaQIEVHwze5tFOLPgGFCkjFqBtClZjgKb86roXVYQmQbJPlHi4ziJe9KQrCZuHAs7EpSMvLOujJRNvDS+KkLLgXT5WkGaaf9bdu8I/rwHtrrf5uVdQgtCG/4LGHHeQfMBKPhFVv8WDbo250q3sMF1i3zxL4fO1lVFao9E/8BS/K0oTU68t1+dTeM/dLlR6DGigFeEPvz7jnTjRVSD0E0EnsMCjHRENX+59gSgAyDrTHY49vPOjSCHromZc4bUXZG+e8U0foJToKPzi4pIWlcaYnqx6eNhIhkz5lE/XTLGLJz4EosNN3yT07xMsNv4YZYvahhMAfG+DhLdNLy/RpP0ushfOmXx3SHMhT1yVMYqo59xAsYgr2QPkKhN4pv1iAfqMLxnq4Nb4aKGnSZzIiKBKssrAuFW76qub2bXQ4cgZhOa4kc6ME5eB+SIPCoCtDK8CxxpsmwAfmpR0Yoir96+AcepTBfpsLsSiTtBH9Jmtg3SHapiuegKHmihVkPE+d3SljGlvmNoubEDs9ukUH6CUTzyxBq1Elf7xIpmsYcoiFT/3Kt6KlPb1Nt8RZGGTv+CQLdjNOOut68eGd5UUH8VZGoZrC694gFMnQpowzQSJeoRaygDYLoFJU5g8ZqLOZwiHlUTGWoDs8DltdJ6sAHqT2qWaopqbsbMEO1tD7ITCKjx0ZDVfTp2I/2VSCTec3gQuAMOPPIcTUBMYkL0IXI5/Bl+upr+ag0c3rssaLPq6EGg7WSsaPgdBDZVJj09DEIT6o/GRJ+gHPXbCMeZ4yw/t9TgHzDhCVrMXHFfvGunBNrHym7Ei/IfD+DR1TG8fbAF3BJqbv5M4jwwDfdfOR4fLNJwgu4InDoeg0OGXl/54kYU+ZtUnD5ScGL/z1V6uCBq4jg2wfL29K8pfL7I3X4p/kbN6bDXUxS8Fk4+NoyghF2MELA/JRKqaMV2bzhFWjDZaMdb/UCqKMlKorOLy/LsTOQunYuLL/Lxy10Lvqn6/C+Vy9rY8yDiazSD6twE3pE8YGcurwouBREELeZwN1tMmTKvhQbjjOvWJWDeCaXyDEaTeh2jF83Qd5dq+HcFQxlAvZwPj2i0vD4NkBfwY+xnuqGNZPIgnq5r17Fby8dhZGrQluhW0mp7kG2aeq8/g5WquCV0uYfVybChvPgsBlAmqRxm7IOqaW3U++LukFZo+AMLOBeEjeXmcYNl2YvmYVvQp9k3llOh2QOBGBh5H+/xgMrV6UERXY9FlBATxQ5uT85nTNotppp0WU7szlHJGvVIqU7sv+yUvYj6LM5XBEfSTx9XlPfzrY7cfUTe4FtRVYzibXg1hN/xNKf2sFg7pnKkWOStYS4slqkW/U46EcTXZn+tS1RmPh7pjNo9kG2rjrFIpxI4ULrTaVCPYm41Nda7R3QB3Xu9Wbpw8Lv3maEZRRw9oBG72Z8fMoYqtMLSHvMwBwZvW0+LEgDGZ9LIBFAavQjRUiZQepaFj9I5fBgS+6jDmV4IQjsyxBxddBYLSK8qzHiOoP9JaLKfa5YfA9lJI0/Cvn6Eg42LZwFPyADFMps18ZkO3bfPDSVJpyfIQq3A9dvS+jsaSqNjGRFoPYTPNwqWGBQsQwUwOekklmwfhN5ANCeHWsudJ0/7nTZxj89vmiNaONxcNjt+p6lODFMmtBL72emKD/eHYRFSig20GP3xp1wPFJIsoWyOF+rMlUy51Kb98y7i/sMnPztwhabLVQtO/GPCzSl9JkE0gu2/+cxJAE2byJL4LGh7fPOIxQc1dnLCvUrmGD8hPlkJ5wNvXTS1I/SoiEIcqgdKV+jMNwuNqHcMvxE6rvMLy0ad4EWyPas6xflN8hr4bXSr5tnMYqS3nZ2uDG5sXyZrLVd7W/xtCuEO2ed+RoKnn00ZCUGWDAtiFU01n9qVlH80ieFBLXKLM5SqM0fSk/y2YRPv6YZCIkGWEuDQM3IA3gCTJ+mo3zX9qo1vVFQeM37FEryUVb9/WSyZ2C5VTpWWGkhi1FQkJ7Qv/RAn13rsI3lJXaqtX71TioB+6fciB72xkVJCfcx/Y5BZcMEfNyKI4tp99KdakrYLwk9zRdLVvxZfvaqcT4XdY2qX/v+BROxsk6Aj4T1234B2rcNKSHV4YDhHv4zVbBs9yS1Xfu2vv4F1HySa5024XBpOCK4Lonujkvmq/sN/gXbwlfqKJ8HdU/mM+6aUuRDCpMiGJLHGrQhdLQ5VBc+0fA/J65KfYuqPq5nMrM4JZBtr3kWBvvQtoxDgPi+Ge/5UM+Oqud83XTeHlsSFMNR1pztF50IBhGHSRvifCGi8nuZAe1SiBIgF6XX8obcDJ+rc0P0fjtMRcERkxbN9iN/UCzei6tvTN6dh0kvt2qeUqF59T+p7gb2vwcVcGPrB8vRnLfQhDnR6dVdPV2uONqbpXscs8ahHZdje0iy4v6Sukc6b5gQvMpMO80+PVtUSuh6S70K32z+/StFMcRzirkksnVgJtKUYKol3NYc+t0NNXxv52Kt8WK0x86RUksifdAVVKjKCyr+Mk0a5JrbiYiBL2n0UEkuXkChHLnhDH9rgutYffXFx2SZnfzUgRED0Bhq8OhF2SJeSzKSTxvxMnIT7HirEh9GbhC9WmVhrSgCjbexbP6jhvaTjdSaMJWpbefivoIWP3akTfFadjRW9RfChZPb9Dt4JJtXRoM8946+e0lWSAt7CWsuFcohM0BJI985oQU4i84Zfo93FxPypIVsnq7uz8rCYT4yQ+YknOWz59oWLBJRt7bDgxJr/mB9hTTEx55nxdUK/TF6er2GH55vF0Ryfsy2QBEos8hYaiVvY/sT8OVZ3gxdZwk0/zB6tb33U8XsIqnmAK8/e31Vdnea8CVe3epposkGAHuBXu2/gyhd3Li9NcJ9IGN8gWThynkxGKbdLDvJ2U86m4HdBY1udkphQ/380+0lbnrod/S+ngM7uvJ9BiCnDmV1H+8YSnI5f9eYkjcIavJcEEZ/fc9erDJRdV1lfZyoomHIYZvPsHsgxmX6pt+JUFDWAuhaqk6Ws6tcXQpfT7ntgrmBW2QRx7LTnAuL3tvYE1ckD4h+51xxQ0B+cmdeW0FmOvEfwHs5WFQPnWvih0TyXDOqjJGU+WFpRYbVbL7ad0PnzFSO3zybN4fSebfhxF0UE/BAsHDpnJF18k6YSa8HVSrEMMvXK4VO6ivBdWUV0iHJzExZ9FCJuQvDUG1zWdUwM9HIIJ4qqEJQgcJM53/BE83VBAumCCguGyTdXUI1up+aDeCDV05QdN45TK/1OyyKVdKGsmQPwvypcf5D5GZCscNEmbnF2+J4nSKNBEVDcUuupVXF+ZZ4s3Blwj07wIVcPLbfwFsD143DTq1Z6Nit0bvjuCz0isBKt6Gc1kbZRaT/I/QAxZngV3NeYAUiFInWd3qnqgTaCHHkbvnfQ+zOzq7YlLzS2zu2mpoO6tQqdrtLnuNo4TQUJySzd/Lm/surWN5sV70x/wtVcfBmMPjf+/pITpc8k7bV0Iml4sgFR2Wc+Fq+AiZlQ4zuFddjkwgwZqFHERu+L9NruEgR2KzL7DNZi0tg+57e6V8UpB3sxN0it8+dJWnvYsG3JBRvfp8K8uBzII8KlgEtZ89Szd51IBrExHtU6JYiD4KqHovOgK1/L0ehgHg484jAZ1zgT3nd7a0K/ZVvlpEu3xTvuWPGCSP6QAJ0NE6f7SdvIsdwbYOd1Sv+yc6cKdjF1aTXz0qAcWzvywD9VzS5/uARI7DHp35/ocFtNW4NuRQW6YGS1AaxnJk0gWVAt5dzcFQ5G/jeB5BBRn+qGSjI9reCBxdsiGtwxfAZ6xmwu6VDm4UoUiUZbMdgGHiJhHytxby3mvtUrnVWx7JD52WTthU4XkUZKPmrcd+mLc9aVxneaj6IUK8MdXfxInr8N5OPudAkqAtYDsKJapmKIVyvvCxtIqa4Dw4gdpZmP5TGw9pYL+TJFJ8iHCrnhAr+92ePGWAB24mrJfY0f48lIQSwuIgmvZs53dvqfdsueNlIDRfgVxevJE+0TW1pbPSmalbWuzG+lDNw923B0yFH1J+jytyy/f4GjoPqLr/Ge0rJBtPxjnOAAY+f/6a7FN3s61TYLhDjLBRHit7ttOBk3lL6U8TOz4kY3wYjRXuvg3YUhk2Xss+ywtBjWFG6mg1rTqtxv6ISgk7xcQPog9UtZ8SH2j/4zFQPRhWgn9LCbN8O52OdvauZ17eILjHtrDASKjcNyVu1ocqluCXRjyFrHlGJDpP2oEIs82PM1fGcuIx4zPgpTvDkzrJkTrQG0FrKMvtsukiYKey8iro0YzlIf99nHVMlNupfiG3qJtFpxaZr6NLhqB++8VEVjfGEV+1Q83P46o21gD7qiSx/XEZ3OWvMxEdW6bNjkOe5rFDfzBuPgPEm8xofbskO4qNZv5IYym1UkJDJ3zQMbEnargDOgSLjI3OxMqVzGJEdMuKCWcajM3AKzXzh/lyGC6Uj5hQcRGHeqC0Po1fQSE4dpZatIoZsoEbT80fzqwg1dvXDfb07tjgAwCbZRWD6XLbdTmycE9dz/JW+sDDVzbQpUOtJ7S7OCrRamEhoPMBp0+y36pEz9OAhNteMMvWJmF9lavU9dPXxlvwEYR7z4aCdTg4Y/R7XRqPx3akyxQapv358Zm/Y9Itfj15ixoHpjzHzr2RKKJRap79UIqvThhi8kszo6qBuXO1EvcZ7grDpPOrZiK1F4tybnDzKn8cVDXnKhOygbvMVpeq8HrJm3I2pqIBc8OIpxqcAyLBfb+R8U5G6+LPCw5O4Fh0QMzJG8Z2FzQs6HsTp8VDDKmbCXg6iasRgMVWXjh7DrAN9soGUkfFwQ6COEjdHi3FdK1oiWjd01GmuLsZZroIrzUixVtrBHGkvsWUyfM4OBsQAYT5lBOTynLmV0T+a9YE00OAnVDuGB5unznpIkSExoz/fUsoPubXLo5Qyeuzbv7bhLJObw/1kkniwQOufYHHEzf5BW7gPZLyAOp4sc7pteRXgtXPhqcsm719Zndch3WJ08Xf5PiAAN2vqW9x8cdYlUSjOMH91Kem2Gm9XLIEJ7FHRGQ2VY8O9dyu5ku4I6Y3pw4N0sAwYTTLiw5F0ywa33KK2W5RuUhwTQdpAtcovSrRWX0grl2ZKNr7CXRBQ1VaQIwnuU1RUiK/vGTZ2u/MuRJlj4mbndNFjKli6eaepPH40Z4BYqpSJSXtRgiTFewwwCYLeUmq2r3b/klSJ17NclyMphPvfUicavRRDD3ejOFmlMX4EeNGY/prtqqcgOkEOYRGpUodqSZ46zjV5+YPTxeK6EvFkiMuilg3Z0nGKmUYDqCNS73ExqCt5RpNkOuiO9Or67DELznw1JWdNqvlXFwbB/Wmm4PkEZOV/ny7FrJCfTCtdL0hi1TDv3JtO8LUIGs0fzJKijMXWmjgAbRR0mMSskuYYTOX+YSbFFksY6P76ThH6qoa1SSoUB7vahs6ClgnrT3UDPIa9uI4Wzv3P4edOscUJMu4DG4/FNxPJA8sCldbyJ+zzFOenGSyZBjtKCdMxnY27WWOSDDibfJCq7My/55uY8fHGXvgxJTGKswxBVuuDtwOuoRoomq7JDhI+vk1OXYuAuD8vFmXWm9+LQtozqGvYIg+EDj+MUuc+blp+UDte/BGNF79/ifBHyQuVPUymXwuHZ29rfmz/gmDEgYEuFTS0Mbf6p8dDEgmvPk1CkvQWjrQmCuHKZ4jmvebwa2MaKxPWopMcs2tl3d2ZUVHK6kS+a29iYZ38hOa7JKAtFhtA+KvLTszducFymVZmVoKb6Gn2Yo9bgMeMrapEUxFa90bq3ciDZk2aYll34EZa0kqQtMwF3TbNLqDA0X7R1sGmrqFMxRXamePw5ZL1VkxCrx2CdBHdTQ3HknYInvyGK82/YaG03xBKYpbA9W5FR6UCOD0ne73wtcbiU+1R4j7CZwwCLGoA3ezpQKWy6k2jQ/YW2r+2aO+vw15rCpU1oKHik7IhCOszT3BhmvyilYA2TZ+TmOcJAVjFyhYNvCd4vMEDfV7tnGXQ3K6shlP/jJqIO0Jf8T7UDZhCqDxQ/ONx30sWJWEqt8CvNhlEczKzB8i52gZYuWZGKVt32qJGHL6i5a0e32QMEXt9xxbSZOBNRSTE0yA22ze1eHBf+PxAP++pLeDaCurKcrZn85X7XSeLZEXxB7EyFouOXIs/9HWJwFJPKTEdYuH6AgkqR5bh9ko3OYhh7fig/KodK9MO0WOHOq7y7yo6dpmYXLqdGFs+9NGYswiOb1EnvNvayPGTyfumfW6lW+Myw8wiHofs0Nr6xGsPMw4/5bB7hbnnQ2XRMMyiwG4oF0vIAcYNC6Hgt1TWtOcKWKfu6qdTKa3+CigVDmA8U0DQalzwluHb+c1pyQnDngBR7/l/+YFjVief3/RX2lu+TzE66WxHkhz2/A5FwC3nha1jnciQGyjQhBnunHIZtc/vOYxnjnGd792AUeaF9IYEkBnOQk19Jw1Jv468KFyBltHgnY3Cw+DXEuOyOsR9JxJHaX8Wjw4XxvktF9h412EucangQTZqiCYQD11wnJDWUbYGh8w7//V3IdIN5tEJd9ByS/nBk9VgJV/V4HPC0lG1vrGnAST95ax+HrqZKeV1mSqEwIrJ9khflgTCR9MmUDzzaYxPIfYFcXg1RPGdnCcshh71Em4YRckG1DzEQ1PW5DOfwkQkjT2ThBXGEwSuAiR6bWaSSB3yzhzMiZBNBskrN4X9hJm+/JRh8KaGvNu2IqJXy9sg0BH2Pu9B4RvZ500K+c5XxNmOQpQZ41+lTAs4iG/XjyYgp8DUmzZev7gGCdSQHGnmeo6kmqh4cIBFrf/VnwbkSJq+VgOy84ZpWUY60urUNTfwFuS8se1IbGmI3Nl94D7rF+IN0FvzC/VbzfEylABTeZ0CpyDryrQDaxBAQ/ZBR/etWmIB6G/gVN6/3qRQYSbnkswahmkLhvSBortAFBtDjamj4yl7qwlXgwpJiSpzH75Gpw096Dwa1XMq90W+hB9bYIHBPdQshDJ5Opp3LCF3dNV+ppx3jH4LTg+4+W0bdAzv2cCwgIhOyYALLAXoD2/OINPX53N+vCuZQW8axIkYdsk3Qk7iI0wLUyrKuXHJaYaU9ELRAxDo5+gecBbu/dMpLwisb5DqmaUpiQ6wFcpsMYnpY4kV1fR8r1m8ajZJP2BEca0U7paZMiRX3kivCCymMTPOEnfYa75cxkxcoTElZREKUrVBlF0feZV1jAgfyDTIxarjAb5f8gRIQsj66T78ow+Ja1AfAfAZ4XP9bXLAwbNscbykCl4ghbZiGBSli2gFlDbWR5lA3GRwARTv+lZdOKXy+fhggf94T2CWPsXYgf4VUzHrp+R+TGMSAu14tTduHMFuPb+ZO1DBKGbBXyj/hkNeV5B3hYksiVSUHtRJVfi1U0GMC1QFsD4Q60lXeoSK0MCulMWanr9k1ZCm5ZEZZiFNzAr1KyBThCdOMDanYtmmDaVRjl3bsUmwR9rjGFU9c2PsxmfIeDaoE5B1E+rK1FhjvfV7R6rcrYjJEPp/Jh7fMU8vDCDqaF5uG1kEwJLZ2vFWtszscpPR80EMDvTU6yGQWqut/ZYfZsahscFRsIw2QQvfWgEoDuqqRRXmdWKYpk1h/328wFsYYqkCPYuayuek9Su8PuxEq14Qr4cEFq+W7j4R/Ae5YEMXa8GUa9L89ZS6FwH2X15pxQxkW+t4xIEtrzUf596bRlz40g+h14Rnab6qxsTQ7aCYR9CcJ89TXw9cH8a+xKIEI6A/8MbSDQKgo67L1RdQAPvx8XIDg4LVwnzwwfXPUjWjLFYt3UihOGu6rIJQ7ciuuGf57hs8PQKXmV2OhzKvcan4PeTS3YjQICQjgtNsA3fD6N+w+6Vj39JlGgpiPtpebNSPSoBAUdzUcDEIX7GdyUrkdRzQ0Yv2v1gncy0nBbGrnKe5Z4SioJGUO717xfYI2abG7Jb0RWWRNSy02MizKOv+YUMueWF9l4kwW11+ydLOLl7UHxB5BwnWSfrcXVK/twYGWlnuxtnfLPt5VX/8CdtIxT6iAuQVm7U5W5ZPUYB7tsI9Whh/15K3cvA3tNaxWMRD+HuK9+zWWMfZHC50mrGn38MBSRB/G82xT4SGKJP5rgvjH8jveGUrYoE5xKX0Iy8ESnEgOhT65QnYKxamyKsC0i2K0My8hsUznRhzNINnWnVMi1zXVwUkmdPVMUn4HQJdzugnXeA8gDjTIRV1ZFUQ0eRkv0rMdL/11wqNgH3DMIuaCrBao9rRV9yieJgI7pXJO+ILj6CAWC0SfitcWmMnrTGll0Y5nfrX0MvYNPq7MeEY8ckfnQrbnAxClLzkunR65UQuKkKaG1aJIhw1Wpt9q6PyQkOZA9hwxu/zx5eZVLnObW8xv/t9B4w0aZGrNTPA0cPQCrBSUQP7rQdGY89zqnDm9jjs+BWivwria7zuLIA+vUGu0YmuefnyHK0XsROHHN2Aha3ay3kPrJueTssp/ku2UtlygI+kXKwmBP+K+ojVdWFSMoZkJ3GqYh2hohuDEL4UCPn/VvTG6JIi9tYx9HmhNw4yhF6lB3QK6w+DvlqTUWvyiHRRYCBae3UZlJVacuWjQkArGUW+acl7jbOBt/ods6qpBGSTf2nzhQ4Vhy9KY6FxwYU5vzQRdfGqSH0jcZHEZWnFTfIthX+6bFcmsBjwPx/StPzmotdu0lHBxoU97KeDT9/Ueoj+rPTGh+5P7mCHUdM4nVp+OZRrOtkUvqJ53oi0v96KJICIcGXBncjk3nbJXvZTTPizzb7Jd4aKHBw/yK3mwX+0jVmefi7UtGelrdOgz1ie9p7TkEA+Jd3fllwJdktTR0Nwcj+/+9cI/2AGdIb5rRiLfi8T7gOS49mSwKQrAg6cfgx1/b9KEG+nYOUlMo1NszpicFJUd0yRhwAafY/N26WWnhJCOwWeGzHS1PyLDzvliAGT4oemRFSu3GtQdF/ywigisAC0jHkM1syekeTfIHGJeFd6zq6E6e0I2eoZLYgT1v6dAgjKJDVayVWalfaYR0uVI/D1fv4/y8zMNGR0NVaElWmPyrmbPNiPcf/QEeDi+1l7DjrKS5sQ9u2aDUrKchSYgGlionemWl+/rnwXuspPd8FeuQerKuLlQn61RwNcofDuYERfDKsZTOojJPdYjFnlgI3CGfLuq0WZpFm0T+PGEXhuRSVZ4OveIKcO5v7cCNYH0u+7cGSctOaJ1kRED5NRs1zJfSdfAoIAvR4Q7Fr5q1/2Lr1YLTx1NDP92GNe2A24KgKR2IypsJPRbwVpVL2PtsmtzVwwG9SbfIAMFLxcwohw4QdwAlzoEbzwIw7wEL5HawoyUeeVs7RNtmzaJqOKyK2YucDkU6i6vf2q3b5mDd9FfeXnvOBgB/nlmQmN4lZawtWxK8bbKIqAjEehr6arOUyh0QOogKTdx/55VVMWMLypKvpK8uw2YubBVJkLDYFJWWWEf1AGpWz3Ji1+HcC7kCXVqHXR0zERzy6ErR8jfAuR0d1I1gH2XSFYWNT5Bz68EgCdttyHvCg1qwhZgt7mTpY9JmoqMxoCtXZ4w8qaBQveUAROjY3mYRaaOxHq8N71jmR4eXzUWSQEC70L0xGcihMAT1aeak7bElwsENdweuCwj6Ujcs58Ue16wPZsK5bTCf7rsdK3ljvz1V+WNb3X373D4WDy0P5btK3cfGIeRaFLpLJbyqVY5UiI5IUteMdkEkS1jw9wn4rtJMuSHzHjKsdVIdoO1QseUE3bYd01dbyoP2ZMdm+pLXTPQ5WEPgtkq5MoNw5IAMXuwFP+9UzdjEy8cWQoeI3kl/JgPW5sXyVluZ5XumEPLTdDdsgoZzJiplPlj9QIbhwNPc/v3ax8t8GeGq/wENGbbjZ5AV6PctYIv2xx3hUmxdYBrykSBiTFh8tlbny/R59/VgdkNLwHePp8NL2+1Uva/6UEA+1A+kA21tXORNRWhGpCfWzNQ+myGDuZZUiljjbnIraBFDxVD2VCCuhrVp4ptW2r4lRtTfNrvLHJBiIIdfILQ1k7JJ/Si99wMx2EQ0w1SyovHlO9DqxX5vCcwm5DeHrPOiwrYgUSWNyTHwPWoapDyi+HhnXcN/uswrbn5hE5gh2rpxMdDluf7tB4ZFDL7lReKE7CGBlC7u0idMJcGw0uNp23aKO2fPLLoz17KlcyPN2be1w3C8UX9ulqmcIIbxbONFF/ggAmgWdHPU/R+DQFB/411/Y4x9lybPDFYTgvhQzlMEhVHE1IX1EIhEGLedcgKl3tlcrxumYsvUTFeym3X5NmdP/iMHWLs7nsFQzQFYUiCvUHZODcsu64HlpiEfNeMQxt3RV2ObqngZvpi6lGnl6nJ1ZBVEaSQEyBZP8xZJ6rNmw5gyIR2hCTgLLihCGUoC20ObJNX4J6t85jfqjqqjr9oOIdF8ejQXumHT0sqQiJLmN75/NawcOBb+4B9Ae8yos1Kw3rXIDd7/AI5niSQqAzmBiU7sywD57xQnCHvSd3N4wzEyiAWUkdzAddIZeMjQuUV6AQtsTzTQwFTjLILzcHYRkmCWMPm8TECelPnaXPCpUDhp+2IiIGL7HnQWOSQT6KyVIyGurw8crSSAVWcK7f2GHJRF1mmKEa7dPyNUJuzU4NiO5lRsrDGqeNgd4mdPDKTaacYtVIDTKiZcshwifnJvcsC3epKkOAprNwzcBlShLST+eK0+CnpaL4w6aNMB3PXcCimMEjBs5j9DvD0XQHLNrDk4ZjB7Ptvt0lRv3i4ISM26kP96Lyj1kSTBi88V6t5CYQs6LqAwvGfxX2BzU6QRYg5WG97aPlcgPdLAKYcR77eU8kyScxbSlCI1+H8Yq4zvDnupTho1n6eWS/EIHK3RJAQVLJnwnb+0a0/YGSoVUKj2Zvkw+d1Q+m7WLCBolAyuF7mC9U+IFiWcoV+Mbj/tmzL7npiz6QKL3nsvJvv/h2JSI4yv7SSxP8QJeH95x0iyAnSoQh3gQQ3gB6/a3EQZYFDH1GTnXhVBGTyCulfn1ABVAmv5VIqsA9NJFhSVU4dLlYjODts3pl/BTJRxPiW0W58Lby8V2cryk1C38QUJqDn1SI0/WYx86rSyhBdQ4MjnjNURkI46VBKnWn/3CXH/Xdk1N/bu3/Owd8RxDSF1mUXY+aoOiVDirxQZ3Xj4BOAriuhCDWXS7FvjeHIj0mTnBvOYki6ayuSNaxQ+/OzQjCXYdtUbxyqeVrTyMHqrzHmXa6QFIRJxfL2NSxq0/UWKeC3LFtppMmD28BfAhcafLFCCDZPpRXqabLWCSj8ypn4ybuGD4lJwmJgm2Jnqoin8K3TW8y9ZM7gtx8tlixnB2sYfmNjAEGTC/8LJykZ2CXwT/WFpNDqLCmbmF8Kqa0nNIMDsyh8Rm/t9WnXmDriNakGJ8DNP8syJYuJjfUYO7OoIGK3w76uSeSXscg8/pkDw3DnQkeOCz6nzWNoFPWtynEPGAb+Uhr2JqrvPbic3MnhijLkntCywVoXXgoYnp97/y0lelE6R1t8HXOgqjd9Z2dGw+0WAWAax8ccoBa5oqax66ZJ3GzUSF+ClhqA4WWosEXZe4lnSg0jcHVbZup2TmxU20j2Xs1hpEdrZWBieVUwgYNgb7nF2N3SpLaHz7RoLHWsLxu0iOuQB9DlmEawx4ppjBCO7yZ7ZVWr0ZS8Evhw46A/cOYk5LJHbAjyECl7SPQ6BT9bA9PaacGJywH8Hq1fJqyf2HJzeQK7wvfHF4tp+R4RYAxaC55A30GApaSRP7VNN6LZmFjz8eIk6P97KOv2Bbc+zyNYMjaYfqx5GINtnT0nQyxwFHitdM0naw30t7HMKpHPVr+UEt2aUl/7iWYW+7qr3ddqGe1zgpMb9RfbSrumg18z3SPZSRKpsXJ+NNTsiedcD521D7I4zz7TZuq7c8F+y/31w3qlPkbaRqkkxI5wlHXl7VGpNBo1Wf1jlI0mk4nix1Phb8O+16StLZmEKfnBO24w63OH2vICkekZmMUHCkqX8ar4U/P4E+RyhsrE4H97Lp4WO9qB9Vak5G7QWJoz+oZXIZiuToDxweaYPlXZWnxp6oqa83Q//xqLD/SmR9oR8GxgtowtkRnRfisq11GtoNXH6ID4aoV7sQR+xIdOz19BJFAaJISg7YCoz1rThepMjMcACFx/9IBoJq9pb3thfSADiYsE9lbBEjhhKOiM4DCH8kUA/u87GXW0kOtXqm2+7MEGSc/qu4HxZxqqxdB8qGVI/hp4AN2+AO7fLoaMnhe3sjKxaKKtp1mOG1UDfQ/EtgoPqrb4SmwCeS3+AvAzHER0WhHHJMu9MFL8s8aNrv/M0tXlzjnNxlCNVpDoBwUlzT3B9PMxjE+19dfGFmOAcQme5xJJDcO6/PntjL/u17Sb1DgxIqFGfCZEo88iznMK2QHtTexrwMNK3g6s4wn+MozJQSsZNEzCZepZ2qw29fZrW0QimhZlKDqlOqfS8ixdcFzmDWqM/BUKjdtfgRZzW+KUaYErwCvvpIc0emyWLelol6xTTQPfBIg1J8J7Fpvz1PtMSdNH60eQz2D9a+iMdHv/ZV0AnEAGEGTL0bTOXnImQiHGjNDNOlUtinzBeKumRRoHU+0RHnDn9m2JVDX6mbYLhFvBOjp5pRUeDYTJ7O04Pia/WhvvefHS9I2jcZzFffb9bkHSsnPTaSyXo9RRf+R99+rUYqQbeJaotkgTu+1DNnL4TH0CmTMwS1hJEjcSfksThx0CHK9bhVz9u8IHRYdlO1xNTRplkOJ30OqNLNisYRyHJq80eLY1CYvuYIb8h1vQWEfxujnPbaR9RJ+gFcECBtDAQyZpLvpPTL4Xk2BGie9Eh5LIc4lW3dkOw+9yKDmX1Kf8YyjDhrbWZ7+SBm1YGJxxSrQWm6RMNTvjDB7U7U7XJoo8OyFJ+Ggy8k3Q3dJ5zbbehPemXBi6OYDZBDtCwDi8qB2Bb9b3D4sQH1SJp2NnhxYke3+KES56lXNJqkl5koYNYAFWvBjzb5dgENr7XUbwC5NzR1ARtclemY8lVhLe8Mccb70O4EGdEbyG4aa2bINExgp52nxNEYFxIw+bZCdZm3LwNEQ3qom6GTfWd/nj48oys2C9X+PkYMFDjrMLFOvwlaLwhMeFDb9icL0M0uXfgQPZROFRIUGVPDAsbnV7ephJPPWdxfhxjNltJvIGeYCTYQ+Rp+muP/KmmQhya9pWtK/Grze9DEaQCbmtR+u0GVdL4EzOv9TBhF/onfaWpaUxR729tl4rw61d8DuP/sCo6TPma5L/XCrSF0EuW5buZ7oSgMqpmycJ6sLjGT47We9cOoqqCZ9bp1zyhO2Q0D7kNuriFKRRrB3uiRphNTZ8YtQH94FFsa+YWQxuEgpTANtbwJrrTyXgkZW+ZYM7ha4u9ux4jseVLzTyXdOooQsuDD6ca3ghQbMPRuuwpn/VPowX0D/mP1tWxv7eJCF4LDYlUIoG29wmRnEVdPMgFaads/4p71702JoCFzw/ZXsrlfjc6RtYnqtYse24sbSXSJPr/28lhlbHBijhaAHTf0meiVYMBms5JZ5UZJHl9BYT+5rcZhSim2TG7ZqkKNuABdy8q6L6UoEwE4NgTqXC81nsK1uv8KsLtYdsL2tZXeBffzSOdyh0lQo54mhNCB+eTnxPY0sEVMRroF8JTQkFWNynZtE2RpzoyYHK0P//d/Xm/EXVcuJYuGM4x9zBVnReSYX0F6mxkWzMYqStPhdasZ8xU5BgXBYo1uiurI8s1RCS3i9m6lRSpK1Sef2MZe9qCoaDAdWcJoJSaQeRVEsOpGryz7kG7Td6zGeN3wxK5MYAQE26FEU12TP6/B+fUhdq1OmdaY4wVjcMAMuhbaD1+DNG1sUoI9fPIwAndFvwwLCkPwLi+jjWxCik/ycwDfpj9JcqQQOwYVUtrQJlF/ILeg45HjUo7YLsLw0dO6sZ+tzYCNEq4ZQd4RjuVFL78Gs4MywaCkFXXstpbOyxrW1+ekZ+Prv7bw/WrnKv6RaeFHScusOn1OPKiJckAD+xO9g2M6UGFSUJK15QbJ3rgNf5Fc4fwH8BNwszHR1i479bFYW0K624ucAUGzMJskEAl4MCCGBtXGodA9aMUqegoIP2727aboYmiMBJZhhSK5AseH1KGRojX4oTNdUx26z9xtVSulc1YirPpG3nGunPI4y1RkXx3n3QXxeI7gaQ9OU4oNbulQ4HWALYZ6kgBMDq/gmIdQciyboW1sbUs6dkO4t06HUv8f7ddFoLQXxGoeuepqJYBZGgotwaEF465vxiNAARRZvDBaCL2CHXw98m4bHou2tqCdmxZ04EuOZt4c+JZVchOskLaAwOKmQ5ny0vjgLNNw9MeYSwPVo0dqpM7Xy05kx3rm1NYdvIbTDWU8ivzdjISrv5kZo/EGIfF0UmPxde/jq9l2nMbsJEle0Qc7E9cAuqvs+w6HVVy0UpX/pW8vkhbC8NGfx9TOTNPzOdFif+L0540GE7CyV2KEg1C9Su9hVpjGOa3NNjFfupRajTLAxKHSUPPGnRATjGmwceZ+nGurARcpXUcVxcfHl0rjMH6ql0hxKTC2imJqa7aQl/f6+WhdyzUcQqlRwMvOF7nebQo+65dcXjZapdX0gPDr8zjWLo9Hezb+GRu3TTx5s8LE+MvHL4j91WhCjKgIGCh33osUSQo1URL1W4UaJqE0stdoPuD+kK6WcbNBY9Mvm7PBbwSD7uZsmfNUDaFypOZx7zK9zJ5STCqjadw4NAI5pnCRZrKl+dRZKZ3uSaXb7YLnTpLx95tAFJxmqAMutI3hsLbJ5RDfTPyj3RdVfgLlxPnbWibvwRAMgwmswWlDfqxqenfLlpEOfx/3R3cwhzMY53dRFVxRwdn3lEK++jI7PPhkuuVQQOmY2rnE3f8o6tAkXO75XZhD0urcRiOy0lEfJoMY4H8HRqXeL+XO3IG1sUMX7V14JUaGXDsKREt/QZTXe9P1HpRu1rcbc4479Jwes0Ff5VUWnYHRWFUpWzoTeQG7Muii9jq9pSb8krynmmwdxY9eQsZdEExa7Z1tQQ/FoO45Uxgjy3BEVfItL8fuN1MbiXM+lMNExJ1xkvEFIQ+VCxvbXUj91ZI5ROtyVWHI8O+bZwHV3huDS1bJT0ZAjnkBoMOvc4Np9ASaWVH8c0qD21RR6Xo5JWYThIfKEXpz6/AgXaeIV6c3ZpViRxchYIwVQwkQDKw735nDeWdl0+/Z7qzK+J4iHicn7XgOL4mn0rgYOCMqG7GG9Io1kURk0hpKLVLcjpdicf1JSDQeac02r4riT8XPSCfJk29VATUGt6MjGkFPsaQDkM+nFEh9w7FjWpkYSzoOPXxej8RZXFUAOZHosqq8E1VFLvMs7ANJGwCQv/IWWFpPVdMGhUdLU/KLaYaQpvjEO6ousvl0VGojGw8r2RpDwQ8+ynhSdS87qsMiG2zXdW8Ci1hsWylHCciE35T8yrcax0q/fCjcbPl6Win9iBHb4zzNSSs8U3NRe8OOBndf7C3Ubv8StRhJg20tscKsDzMSMn0HTTUuC8gXS6vkgB9BRwbIl+1LVRM2rmFg/TvKlg47+icDrgYP0bs+4jTV5XGLlQs1sdShV7i2pPS3KcCtkBLXTWGfaJrpntPD4mQoGF7S/nDSJceuwq71PcFeSjCTjH8kOZ/urVpoCRcB2b+/Y5mATxG1kncy5dp/xvWkpCaYaH2FXSkU6CPUiGmleDlvgGM71svN+edfraFl1/cDSPGoOtzb8mPrmOlmP8ng3v6ikbsMKsKj+/VjyaWa0kokvYe38QVt36c1Z+6kJM9qSw+DGMIKpf67AmE9ApSE4KIm9OnrSFWOWIrJB2QelDubnp9Nfu0dgqlJNcYMI1gahLSpE9wXiI3xG7zibh6fnw5bsUvnSkv8e+XpkH7hMx3owpqpt3ZfQQIeC0PLTn0ynEhUia3D8t2UUEFAjnqAXXXQ6KXyl8v720hxoc/LFOslmuva1Dos2wd3WsZBRYOkPhyldP05zyT4Wr16SdXvNRqrZd3Mx+k+cNrnak4Cey9pmSeOGXwB7jNdkge65HbPC65+hzm0wFb/hiTtvV37iCANRfftDyJSupe8v8rwK3BPjpVkzckqvw5RjmFHWw71r6Kg2eZc7QouNdE5mn//X1VYS5TQ0uGQBVh53kFqjL1cjhjWeOrZSbVW9r+BblVhDaxgBPIh/AhxTZzJ/xWi887iz0OdO89y5sGrCA0CZ6JMh1/FNzmfMyBS4rr5wUbycW+1tVtsspoe8QGpx5dxYl8vdLi1DbGNa8YloxaQ9RjZe9+CS5C46aBQnXTIWaN8e460r5NCvQJ5zC3SiUSFYhlfmYKjn9VZ8Bgf9u3qln5oObxkusmD0NGWOkiXZL/SAiFu20AfA2x0fMc1UsPdSWBgs8qCZNLbYth0Xn7JPkTXcqZpeUGL5YN67sxGM7PrDggtmUwdHY9XEXhwAVZQdj6D7eAwfQNt33ugl807FPLDBqVfz9qk+a6X/IZq9NKrwdSZg1PC+dohD4TJlZL2theG2odGcCEDS79BJmjSJXiVBRydnl0Dnwd+sLPF/m2Ul9Wt/jPhvnpl9lZHlSf4khCahKFcDM0FuCkGv+MLaARMvlorgXs29vKy0YB/6UsP3piG8wxnfZcTuSdic8T8+E2TQpXv3sPLIGUQWY8r7B920m/ZN3C/7W+a9qd0LpRXBq9oK/4mrIjdQ7uwJADBlQ0mjOQOERxKToQY70EwqJEmh16DazG2/fcMDWzdhU5N4WbTIiGW9PA8ihQbjDEtgSYUMdGC9nFH/OZOPBXIJ67ZQQ7ekPUxs4ZDJc9H/1Ju15QwxMYWhQqHGMSFSs1nLabvniGgYIrm3bYnNzkDJHXw68gl3v5ELEtYcGjAK3HGlBtE11AmogNuZOiWTl3EajxfM1S7ek2sADKhDNaYIWRLhode0iUDC22McvtltTjnPcVbHambOzEBaNCw1EDpUxjDSFkX8bpIhtbuj6ES7/sFZxCirDusHyyezhVI+kH8v19jVFZTSQyMo2CEPis54r00oNey+2/G1qnkRs7RAsqmAHmeAg1LwpKQDTeymQ7NYE21B3k70/SAMu/X+pyk1uzr2LjbHb9Mvhr0JQKQTbHqyTXVWYTHcqtFfwDq2+Pl4VC1+2CkdUjzwZ2gsp0w5WsRk+8P5xOrRkbS/gjjcRMP+oOV6/CAAD8BrIQHhjpdEXSQzy1CCN/zo6ptsvoIOi749x3+Mc86elgj5dXsWynEqUB5J8MgaC1MtKnm2z0MbGvG4WvHVHTLCp8kYWSozXiTsRudLGcFsHH0tBI8Ep/GsF8doQQ73VY1y24kIpRELxuTDAwroZUa8TE2dk9wqbaIwnXgjPfSBeV8zvH+fMCxsIcLBR6neZZvRNNAOfQLIVsQAqUYGWXZx+8WFGchun/d7BWG9TS3BpUYfBpNdqBgnGD31JgDwxagifJH15OwHA6HGnhijMLkOH50NC5REjsPE8GNkan9Pj/5Ti1pOJLMYqmmZrH/bYQPUlnC0Sp9akYJPGs/4I5Ra5Wf6dYCEZOIUFPdwkaVrr77ZSaOuWLgHXySKfOumhw+nVqG2nl4zi3/007qMTpxoHnse2H8/8grbhwT6yDjmiuR2aBxp2Q5t+83ALjrNZOBvID/cGANsMoNKNGKWNjgv86eaUWg1gR9/EuEwhwBskx+p09/xsI42quXM7CtYzMije+lW7TsyV81YDcDWuNgIbu0ty2GPvshgJWSRBbLMjW2evy9H+XoguwYDcDBfMD+dN0POoQv/Q23PdHetHYp4w4s9Lg4MZ1Sib290eu/AQNPOZA+zOO+JF1azRFaIXzG1RrUac5BQhqC4cDouk0Ss3fmEmmPXRXHmmDaM/RYucfeggh0Rb83Pq1oZGpCYZSrS9i1V1xeR2nxI71wT95edxKnFcnVKKmTkzm+2bp2s4d7LP2C8mfc1bn7k/c/OHqsEL/TDs8TMQlOWlYlnGqdaxrrZ9G/iPKcQ4ucR4uDiweQOzKm35ZlSkfgd6bCPVodG57O0pfk2tQuOxEErIYIQOoi9CDFsaglKSKUc0146IefOlbapaGUyVdSe4Q4Zuckkt6bt/vIfrzXLHsMtTZ0eB8I18g7m6adq4bw9PpaECzbLbS/2k4z7HbWfV0gv5QifNSb7x9ObG5x8C9xxAUIpW7F6W898cEO9nCcILv+7W7E7bmtOvZf3pMtNQpSW6lcSkanJ4+9mIacaX1fHcDC8TxxPjmlEumgoqqnJW70UVn+PRZP+CNaM7QlAa8f0uJ3gcwpBmnCExcphUmKMy3MQ3ECFQ9KAz8EEfUp0DcjcJOuISoFJKsCpR40XC7Zl2fV+MKgujl/PLQmKz1rDOKgjJ933gCVVoZw3TJ6a1mehIw+I093HrappSCr5lWaW4RMMUsRN3L2mEKcsHgd0wR5BqNE5wfuGtwVgQeGd4lM5WDHQZzQeGk/7/WKsMx8bFQQZxgQs6tDTcaMlhzCY+KQJ98351KqUrzp/Vg/Mq1gNlWMvmaJizAOpQe/P0q8PWGEa3FdFE0sg9XbwD++CHQUqNev03D2TbpK0Mg6HlkAfLmRAFU4d59NxCcb69olMtR8qUAZ1EIZbml+/u5QGIRTlQNn1aQgvvmcJCUky9JVcBSp1yD7+4a9o9d+iBVHeJTtOQKkDCDsfWFl1AMLiONaWSf2Dgj6L5AcSZziah3IRCdDesyOcnPusnZW/K4dmNPAdGUi88P8bEQmpyiX1fXPzqjHi7J7rUohywu2mVvY9HvlYLI3AT2USrsk8kEbFma9noqXTWuV/CKQV3ukBAXKCoOfmL43q8W8k3e87Oxtv8a32b/6WSkYEhYqxoIKiajlVUIiISmeDdXk8veQgsPURXnocZXtKCoGXh4cDgm94jEHAO0ZUyyN1sLWVhipS+ZaHGbjnhrYqWfAqUdKem2Sn9j2qysk25OKRZVYX3lIHoN+Or1tskZnmh0H2hrzLGooZPyCIEWrom08EZkYtIU/SWynIBZ62wkcNXF/Ikev53BvS3vz9U7K6O60TQNkJV48xUvu2o5NUPRWZpuvEv68HLLa5FDFoDwoomQK6W0u8dZuoiSvjWbzdtuUf9CfAR2b8S0ObZHoLVfJ9vLE4aeRKB3+YoqXNzVgfP9KYmrfo1pIsnc+lLK9uffWF6PcbClAavRWT371p+Np2D6iTItfHg4drdO/MMovMo/ND2qkEVnk7FsmLxB+r3/0dXgtKAn5Ivl1IEUApcyB27x2PBy4X6rc37tfrX+HrK2t+HFiHv1yeeZ5xcvUlNH5J0/wxDE5SflAJ7z3Wz9S2vMRQwielrPLMPovsnsBfpqTXLwbINswQKOcuvcumMKcFduzx2DnCiIrfUGiCAYsGnAbMnHk7dqmatmpmdiLrxCVHAvKlPqlxGXtqUC3EIYuHz/WZIuZkqLLxk8iDBL5O9MsS/4Dg3sz9QHyhpRNTwJ57u38srU2tBvIuAzQjmxoJtj2mjFcHB4Vp/19lQt1TCuaAOjzUYRPRY/HAtUecYdSrXZfK3au0OH51eVMpcfHy3xz7ETL8jy9m9sIMrO7kF73dYepylo0Dhbc2H6AkhNPznFGpDOoja1iuxkXkz+b0sFbdEOgAt+XNSoPd5mDLHCV+NqkWyvMdTXJb34XSBeny3WtTniNBXooqjy3QgyiXfJPi+WceB7XzCfHYpdAU9AduvcEwWz0S545TijpHvWZYkOOQcDqcyoe5AdkYbaqdZ1nObhXzvpHBR0dOMPpxBMDzZXdXCsT2GjdhflQc0AHANtDCRILQnoZwTloKfHeprtWwPoIsZlcZHm20+dBhBv1QJx7vizCALHbVgH/WCFXH/37pAxf9nVol5b8xx4dNgbpLYm1kPw/lfYQPp+GsVHoREt0jquYen5sdRvVTfocPf406/DFyzAwkpvot5r/0NNjrU21NopnVLst4QGijh9fZYaVP378ZOUZC6JQCzRGovqoTw10BG+wq1pJ4xblltg4tVkgzmkSU7AKVyFk6YbzvppwzAa1ZMMN6Cparl9SENRW5xH1GxM1CpQx6BhZAjnnKorics2CzfhafFJXkmZKMXFpWOzNkXeeHPwBAciJCGFYSqS1czZ03nW6NylWkesYcww/YeMlWlkmhm1WfrrG05cv9mvJ3hWMS3Oeqx2v47vijxEwS+VbNnmF1n+TemK9SpUP8ZfM874ccRW4KNuWKsZIn2DmH57Ojd2AHVC5Z4YTwGOA7Z1qJHLZ6aECTuQzs/duP+viQb3DY7Kpv5IR7G7uh7TF3jOol82ycBIp9MaAsqZpcwEQseqcQr7NA/6ArszqegyS1rwm4PSKugcNmxNuWczdnJ4lXeTG3RW4SGjfjoipErIza5jpdpmu3NKn0D2O/9EBnWJbHL/Q/ohZV/j2cx3/nBQeQV1cWVukmeOhqkbsrf0uDd86UCq1ucq+R1qRhpbZ74dQo1jJUcLed9ds7hdR7F2QSj3p3f2oM74asMtnM7hpBXOKZlpfQZmDidUe+w4SIZUVKZQFL9//uHaED/vkbB3GnNVv3MAZqroWBntrHX1raXPV+8wTLyHQ03C103529ILcMzNZegI4V+Z/6nOAcUjZQAXa5OqWtn1qsu94CAWVi3XwJdB28vTA2YG3tshL7ilMYl88b0Y++wof0x7JHJnaMVSYwWB4f5wpyRinelwMSl44eq3WK2oRK/ZaDsnO7dIlM+ePPuc4Du1IN1nFs+5PuJurdUQ7EocSFPDldI78JTKoooMg1glvGmuOv6AzKxy0JgKDKlQxXUJlzx+IfkBzVfRS/JmwOUbO1R7t+KiJs5y3u7uPaLmrF43EHF7fsDKyjQCgz1+a1IReh+j/7IR2SSlqJBILMUx7E3bn07OfGEBH4hS8SM5ulklC6fOJywAySozD7OoS2QcHZFkNoK5U0MDFaUewT7lNpkFugB9XJIcIG2GwpbFfv/DlysVDWfgaYWzs0kfnAzWDQIrlTjL28XKedDLKue9TSSzf0jKzsBiHs4NPROVJSGCW2lneaKrTltg0RDrZ1yqgpim6fHlTR4A2D3PWNeBNd6DjGUdwc11JX1x+R8IL5WgWqGKz17IN9LnSicER8pGCuqmI+hfdmGc3KoiwkCjDdHKGtXWFInFg4Ia0YvQfJ5972PIU8JtORdJOBsUd8RJVkjOIdhvNDlF4E1U9lyG7INzQoskW/KF8m8yHboFFoyQ60xGHNBvFX0UzzPxMbGCiqkeK4DJhCZeBc/AmkGIKpQTgR35yYQxGDzlR6d30gZvw2KKt8MYq1JaqkY9nZtHmERlVbPe9LQuD7UCEEAJcSzE20/s7sDzYyAwGXiDkJINCjbLaHQ9Hz6rMioJafEN9yTdXIj81KmtWihw8Xb+g/2uNnfwB6UFMmvUb0GbU5bzw945cE12nb59B7M3rviuYpGpjf9Qy/nfV1GqnCo5D2hfJ6vvWBNCnHlJknLL5Pk9Ryrv0dRr8gqVBpHsgCeuueHaWmx+31PZEx7WCHwqafD88U8EFLAi1NgF/UqiNaZtZ/wHGRdYT9RFLzCmJTAar9TferRehSndzGHgr/jsY/+m0YMYAoAEhrCvAsiwF7J+PKtb9oiFz928PsUzkdIpKnPdA1LGFAvJizQe0R1qkucDmWyVP4BzrELB4LbivdnYlD6seZQedBm9j2wsn6seU+OB6ONjCyh2iEVkvFUHsrkAQspbXK0JsazfXQK8i2o/LrctFVoGmRcsXrGAu0b9CSfN5SP3wtogUMczEGRca/SuItEGGCOqgEtTLCaaPL96Uo7zsJdoGFX91IXXss8yHx6b5YKFVvRYnxCjMFZpFVse+cJd04b1Fu6fOBJOlHyXBuwdoPDfgNdCzmdbByh+Dy+tWEy44mCVBNTg3uN/h236FF49ZkhfNB/j3VUPyJgRLa3lpiYHa4ONnU5Wa6XTvZEgxkG7eHfc5GMS1wACW8+OEqvTis5QsizetXAcrrhppxRn289UxQQhuPuMStHydt+P/F/7dcpfn5boIbQbOHSE0keSL/8jGLc6o8rvCrwQbKR+KVVZVmnJW4f4NGXytNpsVVW7KHFVJc/mqoL0Xd5kN9DbMTiNKY0tuXCvc48VrCGC7dnmI8nQ02Zzcw6XOHQ5+Z0Z5QxJd5HGX+2J6rPCg/KHpg0J7ytj8FTXElSeUpw5e8PUJ/Zh1As7Uz0HxTPA2LzBsjsCEUh8ToE/sot7+6PlYp8SUQ7d7OYcGQc9UAX3UnE0VIJX4tw2LwDbv0xhDR7l6TbgZg8KHEEDsyJBvedTqkCUidcWlR1Bo3ZLWDNMlG95es7Rpjgu2YSRkz6cnVm9o2Jbdc7X1OCgbInzXBqlYlwrSLzx0BPhdd1jkbgc90o5Qn1Rq0LEEPfFHXmAIwaoAPxis7IS85ziiUAnE82yl+6tumWdSnOAD33GHX5kGYzO0S/RQwNAdItyxVJv50m4FKMsFqGOG2Oc/kdoV9zKzj9fTLYwsNdBJbCyw2htvpnHOppLlCQbEd8RafqZZNx2Gs42+ZramJvv/yKo14h5dNW9+9Nzv92Cd5gGahi/83oUS+PUAlqmQ9AOlDhcrOh+A3Vf+TkHWEtcqsvJ//5OKUtnkY4ybdgXzZC7FyJtkNEfGr+IyUFHGO7hXYn8WchjS2awlpMQIxIXxwcNJbmMSmmQboPCCPmLCBQ/YOcncDiSULzTXmQjPOimTHQwgxYMm4MIyb2zxB2ClPb6y5dM02Os/8GNVHsao7myGA9msC7CjQgsg/e1QYwBER6Pvc2IWX5AwKWzj6ZUlMHUic6x7eQqzulFp8u0OQjMh6K7R6MK2ZrSKN5veVGfz3EIsIeRDlFp81PkYmnf4aAiVkTsR20TsHR/ARPJfCnE5mBWW8ew6xi3gnedJ3l+EtWgYmEdu5sz8AIcr1iP2A9k6gvgzcdsMt8gof+c0bYtNpNP6c6zSWze/j0UwBcHUJewHYJ4tgBWcf5iiEuQnPPydbE8f0V85tZA6nOWAhY5MlYc0NlA2SnW6B6OEia26MxNtpf6GKqF/BFu9YhuoPbSIR4SxEFHldgLJKTeCOhzxBQXViu+r3uxNn6VtT1x/oKWFyR7lRXcFDSLxMx1dgWOJwjUvzdxPQwFq4fh5auPJv9oostBZfrCRkRC+n4D0M09kfZjdGTFDG3FmIC0CHnrTCfqi7rcm0PZfOmVqHi//3dAfnTOZJH5Hu8/gI65ucHZnswQmwIfmfTaLYcM4SSv7LQOUkzd71Pip++VUPUQRozt6LtkMlRXGjY+56LT9M7HvMdYr+vko8KBOIfygHY8pD3jE84XhjCVWRLj2QKq3RHQS60sSuCKCoS4dF2iKuGEAimn1JEvndeaOiPc735pUQ6NHh/YzyvNRui4JaRAlBUoEaufT3m8lFzhybAHA0G1ZvxGPJpyUjoBgF6BwlVET2pRVkespUsSNbWR3a/tdPTyn+HcmleH7vTiqwo+HmujK+RNdrNoz++KZFuSzsBc+2wmGibOhwj8eDNndPNi148F1fmn7sxCOt3VE1GHkUH9qmybwdK9zg/Me9Ci4bLN3y/wPU0K94EVD/v+Kh4K58ErsI47FQ0P0hT9v5bgKJN95M+Jx1YqGrqNNf896hckFyoLeOwZ4XkO9V5V3k6usbwui10EdsDwrsqaOH4tkIcLVDviNQNRP59PgSaGgKJ5IO61jfKa5DZtKJMVTkY5SenNO0Sc9nXxLdg892rA+NbN/50rTQXImZAuEw6fgFirbelchKNaakW15LG9R57SNo9yL+uVlAy/oUpbMHrC+KhcizfHIl0tTLN1Ah/zxG/+hImLEQHLvnRi1ed8NNQ174LDScHVWA/pMzxSfn8LpOst4iSc1Ss4nvxwCeisvjp5PZCva043fss25QSS0O1h8I/ElgcZfIDXSm2hK7mv8hij373RgMf8/VYEyo+mw0uVwFCyQawmVj3ykvufckxfHB5b4TyTfs6iEf4Z27wdV5jc2WzjIA8km8sAIp+q6g8Id0VrIuHEtOkRX0G2sTIuvPKIjvnhskMXszuEh5IScPFxl31HHgX5vTmOjGPIgPuz7hEos2AUk7StIlnRdp18jiZFJL6F+Qmh7I6qDAMiSZ249/EqmeeCH6LkPk6ENXLdohXZSIGmFbZMT2lYRx4n+ZjtrjV4i6N2h41w454dv1rXRU3fmuVSRDqKKvdNjehjo+SFZc1LAq29ua/2KOIIAleKnbRYytlMliURY5yxDmk4YsCfAcQ2LeAHguw9Ehl4gc2+m96Sb5NAnzuJRLM/Cs6zeAvLwY3R6oTz3ZvDa4D22tkDjmQpjCu5THIz45yNYxLWcKXcJOTKag+SDiwL9VAY3QgnHA/686jWo/zDBl2kyduLin+XZZdPmdBDlZrSK1UmyjYPU/vDepEbviDAOpq/JKKXn3Pn2iGVP8dRMoor5EOSSCOttfL23b14k83J9lDgstHeH4gdwbWtfuvDFRAwVFtCx2qqG6aTn4ThwnyAUWqqYsE/uJIyVID4bAf2qEg+rGlQKpgy/QDZopqVfUsbMpqwxm5AzOLZX9wulvcH5FJeZSxsxKbvFIp27mSoEdcsgtD3LoE6x">
            <a:extLst>
              <a:ext uri="{FF2B5EF4-FFF2-40B4-BE49-F238E27FC236}">
                <a16:creationId xmlns:a16="http://schemas.microsoft.com/office/drawing/2014/main" id="{7943D2EE-6521-14A9-9ACF-691451F56758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 bwMode="gray">
          <a:xfrm>
            <a:off x="330200" y="1369199"/>
            <a:ext cx="2942961" cy="5488801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>
              <a:solidFill>
                <a:srgbClr val="FAEEC3"/>
              </a:solidFill>
            </a:endParaRPr>
          </a:p>
        </p:txBody>
      </p:sp>
      <p:grpSp>
        <p:nvGrpSpPr>
          <p:cNvPr id="47" name="btfpColumnHeaderBox670889">
            <a:extLst>
              <a:ext uri="{FF2B5EF4-FFF2-40B4-BE49-F238E27FC236}">
                <a16:creationId xmlns:a16="http://schemas.microsoft.com/office/drawing/2014/main" id="{FB156B20-06C8-E117-E5DC-B94FF3E36CB1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454167" y="1262520"/>
            <a:ext cx="2918981" cy="288218"/>
            <a:chOff x="604729" y="1394420"/>
            <a:chExt cx="7242125" cy="114566"/>
          </a:xfrm>
        </p:grpSpPr>
        <p:sp>
          <p:nvSpPr>
            <p:cNvPr id="48" name="btfpColumnHeaderBoxText670889">
              <a:extLst>
                <a:ext uri="{FF2B5EF4-FFF2-40B4-BE49-F238E27FC236}">
                  <a16:creationId xmlns:a16="http://schemas.microsoft.com/office/drawing/2014/main" id="{6B53BDB1-0585-C5E1-57D0-8E57BDC28429}"/>
                </a:ext>
              </a:extLst>
            </p:cNvPr>
            <p:cNvSpPr txBox="1"/>
            <p:nvPr/>
          </p:nvSpPr>
          <p:spPr bwMode="gray">
            <a:xfrm>
              <a:off x="604729" y="1394420"/>
              <a:ext cx="7242125" cy="113459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400" b="1">
                  <a:solidFill>
                    <a:srgbClr val="000000"/>
                  </a:solidFill>
                </a:rPr>
                <a:t>Procurement spend of Dairy Co. </a:t>
              </a:r>
            </a:p>
          </p:txBody>
        </p:sp>
        <p:cxnSp>
          <p:nvCxnSpPr>
            <p:cNvPr id="49" name="btfpColumnHeaderBoxLine670889">
              <a:extLst>
                <a:ext uri="{FF2B5EF4-FFF2-40B4-BE49-F238E27FC236}">
                  <a16:creationId xmlns:a16="http://schemas.microsoft.com/office/drawing/2014/main" id="{F998DA91-DBA0-FDFB-B8DA-8FB7CF33E709}"/>
                </a:ext>
              </a:extLst>
            </p:cNvPr>
            <p:cNvCxnSpPr/>
            <p:nvPr/>
          </p:nvCxnSpPr>
          <p:spPr bwMode="gray">
            <a:xfrm>
              <a:off x="604729" y="1508986"/>
              <a:ext cx="7242125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btfpNotesBox613139">
            <a:extLst>
              <a:ext uri="{FF2B5EF4-FFF2-40B4-BE49-F238E27FC236}">
                <a16:creationId xmlns:a16="http://schemas.microsoft.com/office/drawing/2014/main" id="{7685DDD1-00DB-DBFA-97F0-8A0CA95C9B9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gray">
          <a:xfrm>
            <a:off x="454167" y="6210764"/>
            <a:ext cx="3166915" cy="369332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Others includes office stationery and other miscellaneous expenditures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/>
              <a:t>Source: Bain Analysis</a:t>
            </a:r>
          </a:p>
        </p:txBody>
      </p:sp>
      <p:grpSp>
        <p:nvGrpSpPr>
          <p:cNvPr id="51" name="btfpStatusSticker698292">
            <a:extLst>
              <a:ext uri="{FF2B5EF4-FFF2-40B4-BE49-F238E27FC236}">
                <a16:creationId xmlns:a16="http://schemas.microsoft.com/office/drawing/2014/main" id="{A7C38F7D-D124-0EB6-CB06-7D1E46FA375D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0351321" y="955344"/>
            <a:ext cx="1510479" cy="235611"/>
            <a:chOff x="-2088522" y="876300"/>
            <a:chExt cx="1510479" cy="235611"/>
          </a:xfrm>
        </p:grpSpPr>
        <p:sp>
          <p:nvSpPr>
            <p:cNvPr id="52" name="btfpStatusStickerText698292">
              <a:extLst>
                <a:ext uri="{FF2B5EF4-FFF2-40B4-BE49-F238E27FC236}">
                  <a16:creationId xmlns:a16="http://schemas.microsoft.com/office/drawing/2014/main" id="{984E9C56-71C6-1CE5-0866-0619B38A0B15}"/>
                </a:ext>
              </a:extLst>
            </p:cNvPr>
            <p:cNvSpPr txBox="1"/>
            <p:nvPr/>
          </p:nvSpPr>
          <p:spPr bwMode="gray">
            <a:xfrm>
              <a:off x="-2088522" y="876300"/>
              <a:ext cx="1510479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Indicative</a:t>
              </a:r>
            </a:p>
          </p:txBody>
        </p:sp>
        <p:cxnSp>
          <p:nvCxnSpPr>
            <p:cNvPr id="53" name="btfpStatusStickerLine698292">
              <a:extLst>
                <a:ext uri="{FF2B5EF4-FFF2-40B4-BE49-F238E27FC236}">
                  <a16:creationId xmlns:a16="http://schemas.microsoft.com/office/drawing/2014/main" id="{1BF1D1F2-0C80-492D-595A-48466AFAE370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2088522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467D614-4FC6-5324-F5BC-7DCCA3750602}"/>
              </a:ext>
            </a:extLst>
          </p:cNvPr>
          <p:cNvGrpSpPr/>
          <p:nvPr/>
        </p:nvGrpSpPr>
        <p:grpSpPr>
          <a:xfrm>
            <a:off x="9367020" y="1283710"/>
            <a:ext cx="2842699" cy="257369"/>
            <a:chOff x="7353701" y="915525"/>
            <a:chExt cx="2842699" cy="257369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DA52D5DC-DF27-896B-C65E-3CFAC3E09D06}"/>
                </a:ext>
              </a:extLst>
            </p:cNvPr>
            <p:cNvGrpSpPr/>
            <p:nvPr/>
          </p:nvGrpSpPr>
          <p:grpSpPr>
            <a:xfrm>
              <a:off x="7353701" y="915525"/>
              <a:ext cx="1487141" cy="257369"/>
              <a:chOff x="7353701" y="915525"/>
              <a:chExt cx="1487141" cy="257369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F267CD59-7D0A-4551-0B00-082A59AACC9F}"/>
                  </a:ext>
                </a:extLst>
              </p:cNvPr>
              <p:cNvSpPr/>
              <p:nvPr/>
            </p:nvSpPr>
            <p:spPr bwMode="gray">
              <a:xfrm>
                <a:off x="7353701" y="952769"/>
                <a:ext cx="182880" cy="182880"/>
              </a:xfrm>
              <a:prstGeom prst="rect">
                <a:avLst/>
              </a:prstGeom>
              <a:solidFill>
                <a:srgbClr val="858585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indent="0" algn="ctr">
                  <a:buNone/>
                </a:pPr>
                <a:endParaRPr lang="en-US" sz="16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BE59C2B-3246-1632-B9E0-198451EA6263}"/>
                  </a:ext>
                </a:extLst>
              </p:cNvPr>
              <p:cNvSpPr txBox="1"/>
              <p:nvPr/>
            </p:nvSpPr>
            <p:spPr bwMode="gray">
              <a:xfrm>
                <a:off x="7632834" y="915525"/>
                <a:ext cx="1208008" cy="257369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200" b="1" i="1"/>
                  <a:t>Buy better</a:t>
                </a: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9EE29BC3-5BDE-9A8F-C6BA-DE6F8FBAE3FB}"/>
                </a:ext>
              </a:extLst>
            </p:cNvPr>
            <p:cNvGrpSpPr/>
            <p:nvPr/>
          </p:nvGrpSpPr>
          <p:grpSpPr>
            <a:xfrm>
              <a:off x="8709259" y="915525"/>
              <a:ext cx="1487141" cy="257369"/>
              <a:chOff x="7353701" y="915525"/>
              <a:chExt cx="1487141" cy="257369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C3E63C45-7ED0-45C5-51DD-79173D15F306}"/>
                  </a:ext>
                </a:extLst>
              </p:cNvPr>
              <p:cNvSpPr/>
              <p:nvPr/>
            </p:nvSpPr>
            <p:spPr bwMode="gray">
              <a:xfrm>
                <a:off x="7353701" y="952769"/>
                <a:ext cx="182880" cy="182880"/>
              </a:xfrm>
              <a:prstGeom prst="rect">
                <a:avLst/>
              </a:prstGeom>
              <a:solidFill>
                <a:srgbClr val="D6D6D6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indent="0" algn="ctr">
                  <a:buNone/>
                </a:pPr>
                <a:endParaRPr lang="en-US" sz="16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8DDEE04-B5CF-69B1-BC3C-9707A9BA8A79}"/>
                  </a:ext>
                </a:extLst>
              </p:cNvPr>
              <p:cNvSpPr txBox="1"/>
              <p:nvPr/>
            </p:nvSpPr>
            <p:spPr bwMode="gray">
              <a:xfrm>
                <a:off x="7632834" y="915525"/>
                <a:ext cx="1208008" cy="257369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200" b="1" i="1"/>
                  <a:t>Spend better</a:t>
                </a:r>
              </a:p>
            </p:txBody>
          </p:sp>
        </p:grpSp>
      </p:grpSp>
      <p:sp>
        <p:nvSpPr>
          <p:cNvPr id="3" name="CommentBox">
            <a:extLst>
              <a:ext uri="{FF2B5EF4-FFF2-40B4-BE49-F238E27FC236}">
                <a16:creationId xmlns:a16="http://schemas.microsoft.com/office/drawing/2014/main" id="{C397E7AF-5617-4EE8-1ED8-B08FA0B73596}"/>
              </a:ext>
            </a:extLst>
          </p:cNvPr>
          <p:cNvSpPr/>
          <p:nvPr/>
        </p:nvSpPr>
        <p:spPr bwMode="gray">
          <a:xfrm>
            <a:off x="10748867" y="93290"/>
            <a:ext cx="1387151" cy="771676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B03C6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900" b="1">
                <a:solidFill>
                  <a:srgbClr val="FFFFFF"/>
                </a:solidFill>
                <a:latin typeface="Arial" panose="020B0604020202020204" pitchFamily="34" charset="0"/>
              </a:rPr>
              <a:t>SBN: Dairy Co (this is the breakdown for the raw materials on prior page)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4678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btfpColumnIndicatorGroup2">
            <a:extLst>
              <a:ext uri="{FF2B5EF4-FFF2-40B4-BE49-F238E27FC236}">
                <a16:creationId xmlns:a16="http://schemas.microsoft.com/office/drawing/2014/main" id="{6DC3A7F7-87BA-40EE-9750-F3EE4F0EB3D1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3" name="btfpColumnGapBlocker890167">
              <a:extLst>
                <a:ext uri="{FF2B5EF4-FFF2-40B4-BE49-F238E27FC236}">
                  <a16:creationId xmlns:a16="http://schemas.microsoft.com/office/drawing/2014/main" id="{02007E0B-4427-4E6B-9FB9-2F19E4A86DCE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1" name="btfpColumnGapBlocker851471">
              <a:extLst>
                <a:ext uri="{FF2B5EF4-FFF2-40B4-BE49-F238E27FC236}">
                  <a16:creationId xmlns:a16="http://schemas.microsoft.com/office/drawing/2014/main" id="{8541099D-A032-4C83-AAFC-C57373E18FFA}"/>
                </a:ext>
              </a:extLst>
            </p:cNvPr>
            <p:cNvSpPr/>
            <p:nvPr/>
          </p:nvSpPr>
          <p:spPr bwMode="gray">
            <a:xfrm>
              <a:off x="5825728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9" name="btfpColumnIndicator482429">
              <a:extLst>
                <a:ext uri="{FF2B5EF4-FFF2-40B4-BE49-F238E27FC236}">
                  <a16:creationId xmlns:a16="http://schemas.microsoft.com/office/drawing/2014/main" id="{EADFF9A5-C8A5-4D9A-B57D-B3906EB3973B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btfpColumnIndicator618568">
              <a:extLst>
                <a:ext uri="{FF2B5EF4-FFF2-40B4-BE49-F238E27FC236}">
                  <a16:creationId xmlns:a16="http://schemas.microsoft.com/office/drawing/2014/main" id="{081B8AC5-2A3A-42B7-849A-3C407ED24410}"/>
                </a:ext>
              </a:extLst>
            </p:cNvPr>
            <p:cNvCxnSpPr/>
            <p:nvPr/>
          </p:nvCxnSpPr>
          <p:spPr bwMode="gray">
            <a:xfrm flipV="1">
              <a:off x="636627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btfpColumnGapBlocker420646">
              <a:extLst>
                <a:ext uri="{FF2B5EF4-FFF2-40B4-BE49-F238E27FC236}">
                  <a16:creationId xmlns:a16="http://schemas.microsoft.com/office/drawing/2014/main" id="{1AA8497B-AA01-4BA5-AAA2-55D5BE473E6A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" name="btfpColumnIndicator926785">
              <a:extLst>
                <a:ext uri="{FF2B5EF4-FFF2-40B4-BE49-F238E27FC236}">
                  <a16:creationId xmlns:a16="http://schemas.microsoft.com/office/drawing/2014/main" id="{C44B0AF1-6C01-427E-AD0E-00E3E1AFF93D}"/>
                </a:ext>
              </a:extLst>
            </p:cNvPr>
            <p:cNvCxnSpPr/>
            <p:nvPr/>
          </p:nvCxnSpPr>
          <p:spPr bwMode="gray">
            <a:xfrm flipV="1">
              <a:off x="582572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btfpColumnIndicator182881">
              <a:extLst>
                <a:ext uri="{FF2B5EF4-FFF2-40B4-BE49-F238E27FC236}">
                  <a16:creationId xmlns:a16="http://schemas.microsoft.com/office/drawing/2014/main" id="{4CA11E5B-B798-4B0D-BC6E-5497DFFF2D6C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btfpColumnIndicatorGroup1">
            <a:extLst>
              <a:ext uri="{FF2B5EF4-FFF2-40B4-BE49-F238E27FC236}">
                <a16:creationId xmlns:a16="http://schemas.microsoft.com/office/drawing/2014/main" id="{440D3432-4E64-43D4-A267-A0A3B8BB4A89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2" name="btfpColumnGapBlocker957622">
              <a:extLst>
                <a:ext uri="{FF2B5EF4-FFF2-40B4-BE49-F238E27FC236}">
                  <a16:creationId xmlns:a16="http://schemas.microsoft.com/office/drawing/2014/main" id="{5D093C32-764A-4C21-93A2-538D9090B198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0" name="btfpColumnGapBlocker765124">
              <a:extLst>
                <a:ext uri="{FF2B5EF4-FFF2-40B4-BE49-F238E27FC236}">
                  <a16:creationId xmlns:a16="http://schemas.microsoft.com/office/drawing/2014/main" id="{1BE16C70-3FDD-4BC8-B441-B9A58714651D}"/>
                </a:ext>
              </a:extLst>
            </p:cNvPr>
            <p:cNvSpPr/>
            <p:nvPr/>
          </p:nvSpPr>
          <p:spPr bwMode="gray">
            <a:xfrm>
              <a:off x="5825728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8" name="btfpColumnIndicator799733">
              <a:extLst>
                <a:ext uri="{FF2B5EF4-FFF2-40B4-BE49-F238E27FC236}">
                  <a16:creationId xmlns:a16="http://schemas.microsoft.com/office/drawing/2014/main" id="{24830215-DCEF-4B88-9DCD-82484E7ADA43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btfpColumnIndicator495036">
              <a:extLst>
                <a:ext uri="{FF2B5EF4-FFF2-40B4-BE49-F238E27FC236}">
                  <a16:creationId xmlns:a16="http://schemas.microsoft.com/office/drawing/2014/main" id="{43D99203-DA15-44FB-BF99-EDB342DB1A4C}"/>
                </a:ext>
              </a:extLst>
            </p:cNvPr>
            <p:cNvCxnSpPr/>
            <p:nvPr/>
          </p:nvCxnSpPr>
          <p:spPr bwMode="gray">
            <a:xfrm flipV="1">
              <a:off x="636627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btfpColumnGapBlocker228910">
              <a:extLst>
                <a:ext uri="{FF2B5EF4-FFF2-40B4-BE49-F238E27FC236}">
                  <a16:creationId xmlns:a16="http://schemas.microsoft.com/office/drawing/2014/main" id="{53CDC131-63EB-4F9E-9E89-8B707A95C1D2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350251">
              <a:extLst>
                <a:ext uri="{FF2B5EF4-FFF2-40B4-BE49-F238E27FC236}">
                  <a16:creationId xmlns:a16="http://schemas.microsoft.com/office/drawing/2014/main" id="{DEE9B69C-5B6F-4924-884D-8808C488C5B3}"/>
                </a:ext>
              </a:extLst>
            </p:cNvPr>
            <p:cNvCxnSpPr/>
            <p:nvPr/>
          </p:nvCxnSpPr>
          <p:spPr bwMode="gray">
            <a:xfrm flipV="1">
              <a:off x="582572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456471">
              <a:extLst>
                <a:ext uri="{FF2B5EF4-FFF2-40B4-BE49-F238E27FC236}">
                  <a16:creationId xmlns:a16="http://schemas.microsoft.com/office/drawing/2014/main" id="{B0CD9E8D-C31D-48E0-979D-D180BE3A157D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Illustrative Telco OPEX profile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1021681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overall_0_131866574998694135 columns_2_131861356841707375 14_0_131862501515488705 12_1_131862490165958253 8_1_131866625595384953 9_1_131866660665503061 </a:t>
            </a:r>
          </a:p>
        </p:txBody>
      </p:sp>
      <p:grpSp>
        <p:nvGrpSpPr>
          <p:cNvPr id="11" name="btfpStatusSticker265249">
            <a:extLst>
              <a:ext uri="{FF2B5EF4-FFF2-40B4-BE49-F238E27FC236}">
                <a16:creationId xmlns:a16="http://schemas.microsoft.com/office/drawing/2014/main" id="{E39595EA-0379-4D34-9DB4-DE64F6EBC3C0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0003470" y="955344"/>
            <a:ext cx="1858330" cy="235611"/>
            <a:chOff x="-1727845" y="876300"/>
            <a:chExt cx="1858330" cy="235611"/>
          </a:xfrm>
        </p:grpSpPr>
        <p:sp>
          <p:nvSpPr>
            <p:cNvPr id="8" name="btfpStatusStickerText265249">
              <a:extLst>
                <a:ext uri="{FF2B5EF4-FFF2-40B4-BE49-F238E27FC236}">
                  <a16:creationId xmlns:a16="http://schemas.microsoft.com/office/drawing/2014/main" id="{1E766676-1B02-447F-BBD2-DC9934A65352}"/>
                </a:ext>
              </a:extLst>
            </p:cNvPr>
            <p:cNvSpPr txBox="1"/>
            <p:nvPr/>
          </p:nvSpPr>
          <p:spPr bwMode="gray">
            <a:xfrm>
              <a:off x="-1727845" y="876300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10" name="btfpStatusStickerLine265249">
              <a:extLst>
                <a:ext uri="{FF2B5EF4-FFF2-40B4-BE49-F238E27FC236}">
                  <a16:creationId xmlns:a16="http://schemas.microsoft.com/office/drawing/2014/main" id="{34D73F94-F8D3-4AE9-A635-903A7DAFBAF8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1727845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93FF46D5-A2A7-4F3E-B08C-41A50D63A1EA}"/>
              </a:ext>
            </a:extLst>
          </p:cNvPr>
          <p:cNvSpPr/>
          <p:nvPr/>
        </p:nvSpPr>
        <p:spPr bwMode="gray">
          <a:xfrm>
            <a:off x="334963" y="1278038"/>
            <a:ext cx="11531600" cy="464134"/>
          </a:xfrm>
          <a:prstGeom prst="rect">
            <a:avLst/>
          </a:prstGeom>
          <a:noFill/>
          <a:ln w="19050" cap="flat" cmpd="sng" algn="ctr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AEEC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2400"/>
              </a:spcBef>
              <a:buNone/>
            </a:pPr>
            <a:r>
              <a:rPr lang="en-US" sz="1100" b="1">
                <a:solidFill>
                  <a:srgbClr val="000000"/>
                </a:solidFill>
                <a:cs typeface="Arial"/>
              </a:rPr>
              <a:t>Note – </a:t>
            </a:r>
            <a:r>
              <a:rPr lang="en-US" sz="1100">
                <a:solidFill>
                  <a:srgbClr val="000000"/>
                </a:solidFill>
                <a:cs typeface="Arial"/>
              </a:rPr>
              <a:t>for high-level illustrative purposes only. Different companies / regions may treat certain expenses differently (e.g. Handsets may be treated as COGS, OPEX, etc.). Additionally, note that this profile is for an integrated operator – mobile-only operators will clearly not incur the fixed-line costs. </a:t>
            </a:r>
          </a:p>
        </p:txBody>
      </p:sp>
      <p:sp>
        <p:nvSpPr>
          <p:cNvPr id="14" name="Rectangle 13" descr="Enter Chart Description Here:&#10;&#10;End of Chart Description&#10;DO NOT ALTER TEXT BELOW THIS POINT! IF YOU DO YOUR CHART WILL NOT BE EDITABLE!&#10;mkkoexcel__~~~~~~~~~~False~~False~~Falsemkko__4HooU0THZk28POP9trq+pbTvvzd/gcV8t56cq85kb3NDTsUhojRA0EsgEHHMH7oYP1SYpn09ysXVivguJdhTvfyVMsBLTGvcX7WPTor/CmWiWcfk2RmY+GE6Q6T90sFUl6ddlBhs8PJ6AroKZoqWzrzXagBrsEmKgm8aoRWjoguWTksPsouwEExyC6uXBfWuMQIgFvu9Bqg5Uc1MGe5LLgyyRLtdOkBepWj3afYVgz/62p5nMGq2NkfH7nlHdx/qNKMPG/K21RNAJVs+jumcwu453yAEYxtIgUL8PjUCyyuwk/NW1YROmG6dmxlXYpY2GemceQvFIPhxGIKgby/og7I77QUNEx5TIo4EqCpaQP9JspRz8FP3sK67DHnzp/TrYmi0DtJdw//rH3DY947ps9rc2anO6j8JojaiSx6DYDXzHptJP+GT24H9mTAURIYC5EZSZ3qYpGB6XiCR9TuXR9WJxrKIn0h6osmga3bK7ws4zsN8Hpj5BIMDdasjVr0uA6HJXCLbMmPQypTilmLcHJd+crjsaoRZ9knz16N8dip+fpn/0HEstIcVkrPtIAV4ZyL2Boc5fLNdRyINKNRtmaHuCeFcezaJ6tRPFxir5W/wCO26N2PtE09jYzx9oAjKjJVFppA0HsuKvE7+nZPg/tMnXzE68lJdXWuAxqNjGZOsJ6gLsjo944nEhMMK/4bSB0/Zd1xVYZHP6NxtmuAhL2RrNMSGDHWUMTPramM8lXHcjnIzZ2B7b4dWEbvFnrNaCpzrp24UebA2QoaSO7dsEdgripn1gG2xuBpbaOsAAQCyiDXK3wfTxBsHEIGOY2GR3qlISaUAcynFg3+kcWRp8bnvmNQfZc1N7r22syYa8j+iF2g33W4lHETWju6CfxDuonZi/nUGenyYZbpXi5uZI7l0K7cwHDm3XpDeh/1N2rCxjK84WHIj4x7GdOUX3spwT36dvu1wE99lg/dd6zjEKTINNIFZ4ZO0L2h2sEW00QloEbGVTbDq3EgEEv7fwZvz/sXpS0FB3I3NrbCL42Lzi6ukyOUIlpaZWGJupxh7aLwfm8Ta2m5G9lQv+XRtdinIkYcc7mIRwPEDQdcG5omjIbmdEm2lZbb/h9VoPa9Ov/TkF+r94kQS2d8A1VJUdHm/ezKapsej9IL7bI14aKBWeGYhMpCXr0xbyr4bXcOEhZ/uBNgTqneFqOM1fQSx9SUFuaL0hP4AcZ4Gg/D6b0TjKFE+jPdfGI0mjz1v1oyxLOHd3HmF3Mfhrf/A1GVyh6ChU2+Uu1cYXkthkW3BcOncDiy/4OnLoMaeKGZHZzOgcDC9rLWmO1PLEdnWkksLpT5/+/4zvQQfJHVVElSfU4WpawdYNh5oYyXSDwCf7lshdg9c4n5dJ0tgilPYKPj1FB30jYo1+OI8OjU9349DPCUZ78dXx2qHZ5lJgzpKz31yGfmvAbWko2Dk9lNKafoU0ZeRIPaJZ8tYp37CuyoYgERXs/fX+fW7IXAJdvD7YbfyLXcN9AhPLnXX8Za0y1Rbv91F0yOs5SePrhh4RbWWjVuZLgTzAfF2P3IRXvyLILW1vxK0K6ee+m1KzoXOUzRNE9ZkMyK+7rTqOWibYojRozkzjteaP6NoP12HOY/tl6kx3wlTv3z7hZwUs4861vegz4AoHB3xudDNcHGKHg3JSjEU3YkDOLVC5oouggR7rJeRqnvzik5WloVxX4n4twZg+GYL7yG4I6Z5woMDi5XXgu2FEt1cQA6T59QjxLNcW42aEZnXwD+ZjxXqxXbqee3aviqLTXx7b/B8Akn+vbllZttjEaFVTSlmdnQc08co2VOo9ef+g573c5Kvh+y1lXn02T0gkFswzeMNnSipPcljFmJLT/rEUt6Ci2MrQPZxhpHkTfcoK1lzBEgXKlb3s3AOfQx8vxgk8C/xpvYkp4KRSQdOtoBKdu9HA2BzL1OaSBFh0GWZAq9P4tWye9oc2/Si8CoSurrs6KkOxyQ+F+H+x7NtGpafCTAdfT7m0maKHPxsWuVaySo1DAZNl9pTLpMaeLuh05T4mE8+HbsdlM+ln/L5aHC4gCTfPM7U2oNjGzW1vdNfQIsGClwps1h3h0+n4UTmu/ANSP7fVRO78JnnkCrX8apE00w2efrW7NdtjEbFosE0nJM1AiDQoZYvr6fTTHZykfTdFGeOzRUSBiiDOoYGYvdPZ3kbhXTGqpdSgz0xhSHQ3LbwzucqNxjqIncCvxouLzn2uLqrsAV1crR0kPjAaAHiT0c/6q9aucmQRjrYLZiIbCQb5oDvd0vMgfb6yIkrafr3m1g+5hCrCREeu/Im2btPYie78rHG8Tf4RhHOI+IKQBWn8P02on5mA53bsgdsssUNMZEzDtCZZ7U5bPMCcqSIFxQiuDcnUktV0o4YSrbm018rSq8GEmdx7RBhokj63ppjTZPHgx9VlJFAsK8O+IAhfQjV5A39Ys6AEI9G70eP5BkOi6aQUWirvhkr6izGhf0hKIbfG5oSr9/Z7yCvfCsVb7pEeXbcfM3MlyvNHUJgoks7GYiSxJVNT57T7DfPWZz2xLm/aFBHYT8ZQv0NRa34eFzLwCPUP1mpWyBLF/UTQRU3BUr1F8b4Y/MeCVMbZhTGgFpKKD0Vtygd2A02mVyY/fn/ur/tlj3GUhgYln98fHyz/102nmbNHUNFXgqcLW0yXQu4gq5aoIvQOW+Gv33/96VSSjgG8nUunNi8zX3luEWxsRSYTY7rwHjAUHhceVGKUWOcvn3WehVCDEFWhCMeBgbVyHnJu5xt5nhvfHuFrpXHaNf0z5DPKYCAJ+YBM1cZDsmD3CVLx2OG46AjJyFmxNFtLsh8LDbhfNDe9xDTTa6rVIixDWAs2KabO85BRaLE/YvlKhfX8JB6m//F8hG0maHQlxMwLhkfgVWG5GWVw1pZbCrTOZJQBbKivNb2rzn+gjwPrP8CdZ3ajWMMUBe5iWrPK4xbSK7HkOhAzpglbHMtLTROaKp3EfXtGMwnhE8WrFwPOPteRUAN7eWqZ6/bi4YFd+2DJigD3aHALXwXhemoAZo03sUWKaiYTuAIHNTZ9gH9VJnvJ2jARBVJkrDj6Y2u8FdVgMAEuHc01/EmoLoiUE4zW6fGTgxnT8172IKPnLdgtVEbSvl2q7EbFbvSRhAJ+w71+HuMvTr2KyzVELcRimA8UKEcww1bHe47/3hha4md3CfosNwWoaXQ4Ea61eSZZnGwMTpgkTlKq0j0j9hLvYrPJp8QZFhDOnw89Js1tv8SrF+pJmY1+5qF6mWhL+aQqYbQq3OR6qkf3VJnDOeR43qWka9WlkH9GJoQU/iKxwVJnLkivpWtuXK28ainXqpODnPstyZve/9xU1ZuC3TN5uo8X57MgmYnJaDH8a4Det5vMOtiGzbxxAEAofD3ZCwGEMvCup7jwFy/sMmb2BeGI9PzVs+CQBUXjwDxb+GpyblH1KRUsOypzdQVoHkLhD3MSkm7WMT0DNwhuO9KmF52RILNH3Q6iNuiWFzIp+gOnxgnjqclSAJAqiHiGOspyvWTqcggBVtolG3vqm9CB9TiN0BuW7wno3jYDYFQKgQGlhyQyGy/sGw9e924PPSocHq2NEQkJEF29NRlCdi5LGI1Pda8sN045vqJ6W6IarTuNIPXtJ4PJzXGsA85zD7vExbhVyWEJfPuUT5d4+PoM16omlaqOeLq7TAXxTufkewgwQE0LjdmVAH+5Uj20mxSLag4PVTS5A4ATpJw/c8kddsLp1TgERcHcFDbzLSt5w8TSo0jzjk8q8Sebg+yb+fvwYBrWOCYmaxsvJAAP3XSe22nWyt0Q8ZyeDTgr8tEYJ7RTS6dGGV6bWdw9FnUSjuGsO/OM9BQySnHdsSMhuPqpClek0/I6bG+FXxfeqRfAPICn9F8uZW94a25JtsX8Ibx4DhJZACMyi63k8LIyKrceVOPH9+qHPqaGzvCh+7bTZwAb+c9ztneICHnLAV/kZrsqtJkJyTGx/x0q0c3//Fk5AqAz3H7sWkvBK+F73RNNC4eBr+jfeA9oWYDuFHBVB5qHlJPtZONKIsAclmm04LT92TcAo9AQKHdm+imphQOX8zOeiCGXucHZPw1uck+NedzbcOJiBXhzuvWHmPZbwBImYCBJn6knbLxhZ6pzk8EY0Lt79p7Yevg5Rke8/hXWdA9HE183pjEAH39s+igcoQVkuyh9jSZhAApNFdt+7Yle09+GwMfnFIhStjpH0rusRgPE7VJRSnD/n6mmq5w+eelU0OsjvosOZbSuSTIlgsHxIUJ4Fe67v3/RS7tEh9rty7LGiHpL1Z3uHjen4urkgyBPUK2vWKVw0Z3E5fANUdXV9WD2wdqd5G5yTqa1y+Q92TKR/itpGKLnbExNeRZAKFPheM0jMfPQAccutZIhhPhvObO9LNQOrXt51fIv7q1XeDLjZ9Z4+F+UcyCSfkSbNvFepvcXYTbDqWBezobRrP0+2BwRtVBEmhN08t4wSvBINAmfIQr1vNzCgjRZ80KPIlNuDcXW2zOONcxBs8/LPVtRGwbZXLn3wkcDaRIQGqMvyhuTWJZVu6O84h0beSVVlYmx24K5vgKFlBwIYY4I/YRdaid8NbuBkxGuX3bs7TOGD2jHB3SNrN+aTC+1aqZ1lZfKfS3WIJVa54ChQ+PHK0E74vCcfNxTmefsKujXxMK6NRHWIzriDUQWkfz+M+8AUzA/0czfTwuWpk/oD9Ao3QiwfaqcjpwVXGE1DeL5HwrvKAoy7o0gLNvarD4R04gTrDNnv8jGeI7/47RHoktdzM7EO5/el30NuaqV9FLdG8RfVIkQ1E+94veAXP4qSjKoVY2XKIMV280Icuu6xoBbbY1SDJO5bEgitGo3i+f/hf6tBUpUrVZVpHnq3JdMDx7d4/ZmxADoq/qVyQCTz/6GnFvRinGW+9gRrt16zi2fv2lKvkDwA3AH37mgPMno2IyQa/j3AxmgRwrrHs5hz2AFO7BnDGfr1PLVhcggNnqZSlzWetI/0L+Kv3tn2XD6QSnsKZCNmpzr0pu/PwqVuxwA1aU6PokvbpS2pCLnOart1wnLZAPcWwmru902Bh6ddUvRp2PqASz32WXL6FdxdofvJPvr7nBL1p9c+Ulb5pAknLT0lM3Gq1jmp1bmKUCGhZbeW9pnOnnqiLe20iJH4ADhfRtoyNEhyzxkSVofBMiT3147pNA0lwDOlJm0i2cMis7smy3Nua8cRoZmPNGq0WJ0e2RWcNzHKdN1q/jWRl4d+LSUTIGHmw6/ASqX66i7ZLfqP6YYKgOXinfD7M91wSOKwJCCBpwt7GI0t+swQ3EmSLQlP4KiCwlyTY8F8Kj9qvP3K10+Nr5dL5lRq7Ojkej7uM9pk1lA3vgcPGVCTQoMXBrCkOkhAU5G+oRcVIhNej/lAUUf62gFIT0+I8ysVBxpNZhuvM2oLlwuat34eLyG9C2ZABRAnxHaf5mEeB9ek8Jjy1hTmvm+u41YeLVAAGj9CS5ZxvOqgc3gSI+bl9LRK41fVhfwy5Ep4HjqmsfWv0J454bz12wXXVIqpjta9YYVLfZfhBVtcEq95vgSY8dlsN8wcO9/YFofF5N+ime4ELjR4cgSTJ5J9oHEbXoIzDNETCk0PjRacXj7gIXyVM/KR2zG6i+eLpteOz2BuMvmakgxUUvHqxpWU1GfnhohSw2wHydHPA5nJSRhz3n+FyGkXJLyf/pbw6b7hXKeV1pYcC/e5G7mri/29rK7byx+laXHluKsqnpGbMV+SgBuvQtt26opUV9RHmWhKJ1VTA7y1Q7w/wiGovKnH2EdMw9FunEzB4mJa1DUuwafd7D4MP9t9pfPlOK0a/l3atMb1shqTpocBbYVo9WkzlRr4IfY5bGbSELCUdbkatIh9xCxP6n7NHfp873nLSpOizTjWElInD4+qad5jUM9yfN/MUl7mlQdXRpTI6qvBYo6iOCcQYmgELnhbI21Mlb75vxZ8nbATvNOjeO+w7E1i32Z4R6/bGjHtMMbxSzjL9QVK6/IPcZA0KN0Eb/33U8SejAW0DLjEf/nfB9HGOsY1onF/pM+9cmUTdBbpRiJLK2I7jwqztH988+BA7VyDwLeo6rbRRk0BjapwiA/jlHpcPBiVdVEAeKVvtbqTfVmoBf15P47kqjUgsp3yJt3cOvcib77VBRgWr+bMTjc7X56NibrYut/qgX0vKLNWzKJtRrPOWs1btYaB2knpHsbFWpKepgAcAdz+rWYjo0Uy2jgHea13bexGNwJvNbfT8ZOQYcyDXbUTFkp0RSB/3SuFsHATylneEQcJzhsXyzntG/CBEeT+M5jQr18dRBIBxRxsHuiMYir2icV4wtFvVl92eKE62QCEU1c9sVv8sI9hQ3v8K4xw6N9YcKPjUSNZIyxXt2UViqqcSSRaOrZFv7daXHLUeybr1zbtb9m1h7IJEDNdVYqx2VoYmJDULWjRffxYXe0dO5M/FI+5Lkl2xvMEEQkV97Pa9P9fEkO/U7TmWK6KE/t36j/QmIzb7xR+IBS68/9gJR+v6NePAy+k6uwZujUPa6Q5yT5ms0rH4PAytduym/z7Cc+CD5AyVjG4DB+syx3ZesW4SyNCyemd2+NJMMTqEhxu5dXNUW5vC/OL60ZHq2Xxr3h79fqsBua1I8vO/MckFc3Ht5S0y/9Xe63NaP7/48ZPCM2fLPL8B9c1z0DW4RR2SRFyk9XNuF0AqLtui5fVpr4cMf8JsLxVBsOepGnofAxYO0TMaYdDGDnKuGGNa2jt32gGcCc0Iac7KuaE3pv3cLRcO7+utcaMlmOfd0y6Jd1P9kC1OOFWMP36rXvSjvR/N2p4QNyL/KvUNMsLpsfNUlImHBJjy2L+Coq/QLwyBXHkcHddTdxlLPJVW0VvwtJCCOQZhhZDEyO7cU4QRZczIxw3y9nY10LBkHhbmaRcfikAg2zyxuwJHaT8L1DtcHmv7E/zomPsEwzprK11Hx1HFuKyJ2lJoQTKpaMGBiGMH7NkDtv8GqldnbWlWKdGuhZPRKZLZrfvKLr4cFhewVMV66/2OZ42WWCaeeR7Q3uDhF6XBCA2rag2m57qWSJYTYcNO6VsUKUUHQBnR35OeJfTlC5lYCIK7f8VDSB0fyT4fLyUVxmTn8WfK/P8yyZR4Mm9gHOKQrFSCXg/p2LCIrQkmGY07ayKWosE7vEoa1TgGYvTSdoQ/Q9vnJ8YHTnHZCy2FnVIbakWjcgVSLoJAxa6u/Symi4MOxwXhq2TftMRervQ/CIG066knl4AFujsNERTcSGBtx/79MDTjHFy563nagUL8pLdMH/O831HnOISeH3pK6KwO4X8ku0018Lz4cGFxdVeCeKC0ZsBk0qk/HhPgVw0gU0cqCmFVTVlrv0De6ZP4uEzW/Jg/Z6ZN+9786zLFB1BtOFEFhgvDrNrVdQCGLavP62dvKgalIXjcNCPWS2WniQzDNum31jJ1RWy7rMiZKfoHK6myopmzBQ3QRd7nWXjzOKnF4VxYz+uUGRHmXxv/eEo4tUKxx2DvIEpn/W0kdDPHax7O5b+OdYy4yxGcfUtcoPEZpFGk2HBAIW5Rt+gCp7jk7t2erRCOsyImT7QBkmvkdXpzRGhYblQg5g/1OQwAl+VW8vxNdZI6aP1YnMOgosiE0CLm04R65vY7AjWdavKu+zUAVJeuwz50Joz+7CzjdfAs15ucetLvcbRsmkH0E3HRNB584zdoOKD/G1MxOOwDuxk++7Dro1c6H4PYy+8j8VLoVSND1lZNHNGpRVUPHJWeJ6NY6/uNLmkECs6rZI32JAoPrBToQNL68vClWjOqxzZRTK+TbZviR91dZayPB0l6wOyHN6GxcoAmjgo2Qo1dDC6vlDEJEm78YNc3zvh5ujuZe+wgsBilz0vhZW6Uq55uhR/hjX/cJ2MBgsDRW7YXmtwcANI3MifoCyN9Hw4AzQHv4sISy0WYRNXJuHfOjILb5VqNKbFC3ULNdTQnf2GfiNsB+GCQDz/LqcrGFYaKZaNzFdgCQXU08ZD5o67am3KNhke+xFbQ96+kENPPglF7IWwXIOIGzBNSO2VS2UFRO38IMAcWhrqetO5XY/zuoeN+mKLLrZ4YqZfgYUhJaCnRPK2jhnFVO3e+/7DD6/ljAlY0eCCudXuAE/CnXIxypslsA6I3z7HnVZ9SsGlqYdtq6YyKJRLMguj489e0ilGnDHOsPE2fwBZHbBh0nPM/KyLRW9VIhiuvzOY8fy4uSaEJySv0DBJQ2N6A+h9cJHgG86GAYD3ObgwJRQtD2PScEl4M4SJAQOyBPsbw6quKc05332kpU6WYRTj9UAfkqjBp/POy3ikK2sOjTpdDOMX1kkKiRzbJak3Pi7YaL9xHLyUh1v2I+GYiy3GyWh2/ImHAjArsGQybqxwSVigmPTInBJF2BM0Y7O+rvTBg5OpkGtpN7HNh1BAiEQtK8HF+tywekM9tWrEor2Qt1UTX2OVkfI30w0wsacitin4+FebjA8TT0mfC0ixD01thtPu0d5ZGJYjTx9jzMq5FrhZppVIy1eNSIZYRRvYarTQRXgfX351Kghy3A6ukMwf/gOfnjSSqkcDoAh1PaCmJJedEJ4ZPClOLyoWkl55QGKw+sPwXqEZNPrDOFEyX75YEL5h3Dkf/PoNZzmIz0EqpboqCkD4Bzgq5FkOf+d/lJAeU4B1fZRiD2QPPVLvFSx0bjcV6PbHcPP+6IdBKhVmW8tSL6Fflequ/dnUjCxWhsOq4949kD6qryLwiBqWzxQMONCBa0nKTgtm5hujQysBFvuzSKbb01SW1ja5G0i51LfbX3Pap6oMB4SQr5z2tszJMmY53AwWfrbQESsWhMbqzzyf8VlttyZUQv5QXZq5qZeWaVwkYUI0IjJrAeDUkxRzzYkK02xyQV2jn0kThTuLFerjuECEkN+bl2RTrv4WkqZj8QgFXkBkiC1Nzd8aKbfdB5mfCK8X77btC/BJk8UoGBXwwagbwHNOjnu5xkqP44RI1/pNPDki2NzaiWhSggMlEpI60WbOkxRBfeDOBH3yDa94U2+ytt35YWqJR6IsBbSgd0xam4uJU84NuGSB+FnZSmDkBh/dCYPol0sJ2lSNWvSpZqun73J1SlzxTugszjoO33YCBXcP4wXqqz0oHKJJyPJAYftl11QRq0O6yKQttjxbByrwfkh7GTWE8vFuLYWli4biyQ191mb72D4BtWDeX9ZLXP+ynsRhogHjoTS6UEpS3dbj+FppP9GI2LRN+BmEFhJ8BHMMTuEkuCJGOYMdELEdDeN9aCF4c4dqKw4jwyeB+t11MTPugvSVWdgTn4Qy5CKpUg/9qcWFDA72L+SxJNLi6iwtQUgzYxJL8gDNZf2Wunx7YfljJBKi6u4WQNMjufqOGj1K8z7M9YFtECdeyR5s/tNEBa3ZOitaYL0giSZMmcUZWKv+pC69+S65SlFeJnDAZK4sHGjbGJBN+sGsI1pRJHlKghB2Ar3tlPWoeMH83vEctJGhlz6Z/PgJy94fJrLQCf/6k5TK1GLFX0lawf2lKu4APMJtXXfG0BTXqVO8ZGhfPHCrbr405jji8Daov3JgjWE6jKIb5YNrAbBkA4uBXwmaa9ptbZnVUWZlWUXbY+iJf4w1GsLe2Xzn1R7KNltY3nVW7Eq+LC48GpySDRaSt+F//vCOvILAi+aVaSXxwOLDoMKsg49D23oMF0/DUW7xdGxNLZ2B5xODFZ0iblONq3EIhBKfJP1mjSiyKxQvPpGvWkNLk3B5OZxVgAbmQKhUvJ3MnR9s633n5wUaLRXyS8mT4zlr805fEN0CrppJfjas2HsLbnAAT/yEYZNFZTl3M3epAkdfyBl5U6tAF4K5/ig9lYjYuKuKRYLZfCwdlG4FwBd0YZWemH4auqOWgHN7Su8lsbLAcuhqT3kvsGdxZRrgU3PnQX7u3c4nt9+zSTOqdn/BsqTOKVYHX7XG51waYJnWLMR7oZjqot2rPdUYMw6fKlz+PeE5sYLFbcn0yAmFjvF8sHd5edz+2LdIJk6brPRZ0Vxn06MONWcNbjSg0H32Kve9sUOQ0PKugV54XZh65NUFfCisowzzzJvQe4dIKsCEDpK1quk406nkZzOL14KvRMS/BKWcZkDCmL2fguNwek3MFfMtNaduDxraBeE1p+vQQbPlqb7qeHwkXQ/A3WljDFcR5RnyuH8elclpfFy7eCPcJ+NMk69IORAtNd7o6mdN+HOJlJ66IPkQk8F98mP2EtwNA3r4VrIx101337YebOOcVYl4zqVGt6aYYBZx512OxY1BR0gRXIc6cBRa0jfGy70MII7FAb0j7tp8ut1D02OYkFbYawH+O+NqrL1GcArLgFwqD97arsfX2yf5Hup/A4dKhi95n9dt864Pf5hrbkXBpY/XpNJl324oenekCrEj14V5kqHdWe2lr3e8MGWpuzAdZ9pNx4fJrCrOcoFn48nKsZzT/VatVEQZxNxI3eWIJ6PSKMaWl//hcLLQH7pu7FHMv6iETuu0xQExxnhZ9DcP2hNr/LYt0jKZ8LxKKWQIZXnSWww7ajLp01hhS1Q25T2OlxxLPa0tQzfiUNpSviH25mjTDTYNGUTf0NttkAwA8mmt+33Cqvk2rhu8l3rvzRruSjlf7hoD074+k9Vr5+rBW6iGb2JKvuUZu+tKKTSVylSnQAqaX8l9LdLUcUVmqmJagC6jJVORilXm1yxvoM0PdjhDpDFScPxZPJktv+hwg3FHcnLkL4zoEEWnlTVY//qXZn35xgZ2FjGlsIiTJn0fKpJ900m1YeBjFD5vgxXBvpFKwtNQVN7JjkhDB0+IE/fZzCjb/6sGHssxN6pS5Ce4Ik9H/C/IUV5RkA/T1v3KtO4Ax9P4BzzJhsOZVfCgU5fNWFkDo9mHggu1rpWD3HUSeQngl9kbVPnMyB21qKetLdZIzGg+nQ8LZmHwsiSXYT1hyzD0s+CoSY5CsHipydtGZM2lYnp5hAF5JLrDelJ9OlgzoA8XMBAotOZgLrg07T2ayoZKkcjC36AnX1RCIL/U3QHABbJvrKYRkcFhCGMSUSLW/1TnCNezaiz51oBsgn1Wj62XNuMoijUqeef82p0wWfFBrxc1kT5ZHXr8nehQNnM5BBnDASHBLqLzlO5FMSns72WEOlrXoXnfIK5KzlHFNAGp+5bM+EgU4eV4GUHdCd6/2z/5I1xLpnGVq/z5EI9Tg7t6G/Qk25nDVDL9xZ0M6pTJ3/FSBVTjqVKOdZY1+WZ9A2+5OzzacarQPRc6/q/6Td46X146AGIo4LFwDOGx7/YULPtC76/4PDsaUZcQq3C/ZnJNpObkd+cr6MsNV9Wpdsu3GpOrm8ELSNXv7k73kuUhD/l9f5KJnOf+svFgu6TpgG/4xOZDGyMNt6gwONu4Df5UtUeDZrLXy680dGE6Pe6csulnz3U9/C9mggGTrmsQgG65+cGURUZZeLf6kPxvP6QSS4jhxjrvc6jbzkfgfJVsowUliFgdexvOQu1OXMXuruLQR9dXs8GmG6uH8AA+pHhxzEV8V45DF7tpL9KAYFd8ZL3j9zo4aIqqBCq8HA9W7X1TisEeASLbqt//1npzAb/YaaPcCF06Z6nCNMI22FO5ik/7XTsvgDT0iE0olqFreAcseXJKP7WWYa9QXr2bSW52Y0o2u8oqKwrIDHqK7UbvAny9RGcfohLBwyf1mSfJL0OIX5zxG1wN44vEllZwQfwERmqAdjRvtWGmVU1M/RsFQx54thXDJJwzsCgW2fbERJs1TqXAsGQd2gjdqWmg0yZ1EjnZHOf9j1FIdxxe09gZ06mAVRafeyXQEmuYoanFvNUkqur4HmHdc/sWTBfWiFT1gataVMdMv2u1kKwsxhu3Wvlk7mIFwEKYAf1URAxmRCng0Q/22Rz2IicZGklfSS8hdVCU7XBKH2xdVsrCNC3UxCe77l6GDaRYTuUSUVzEWWB1i3T6hSTHbdR4a9tfhjm0R78xB5l2+CkUe0aI9sSsvMWRf1xorCH3pMyebKVvI37pdtdDzhWODPgZVEw84a+Y2taeIfVq2Yh5l2Wh2KYkpWtXwE+SW2OEb0H5yegGxMO3TUg79ixqC8q4Kooe+vYqjWT+Wa1aYmRYqxYxEUZ+r+kfhsYTTSLXgEEmNWAUBz8K9U6u8aYkBfw6plf0dQ6fMJ5Av1za4fK+icVXHY7rrHC25Hzx2NG7KUFnKuVEobm3LZ8vYHEnn0gKvGLmEtWfaj109uhyWy5b0H4Xj8yCe1b5vsLPDRppMqAEOAoI5ibRgaCdmLmZRFx8732L38yNgUy1FGVxZPAsoQdeMB6JK6B1vsA1nuEljzyQjhK2BJdKVKB+0sXbwfYUk5XjPvvvHKU3GjVMLdxKsHN7DWYbNeKEb43BsY7glH4bA8OWEWHyg9bOfI5xceT37KYHzfT3NIXvU3YtiwSK1qTkW1QwUl0dAtykcXSuMktJpnqMLhy5Vd8BT3rfa+oJ22Aoap15PmxZNDUIwtV8r++gx6U5vvhfgtY/0oiFXDcKoJ3i63Driv1sbdZQxM6ByAUOoAv3YuvKQd4bjJ1Y5vGO1wy5ExN4lhoSSUizEPYLHBgPZYcAWaPJnLN4gNZ2RZpkBe+Fo0sYjTLYmB3MI4Lm24lrPB8HIHjS9pyWXlTHt01ajf54sIcfsxjt/cBnDJHNsYC5gKq623T70ot2ZJ0sMAC0d3jcCbM/pbUnDT4dQnY30b4u6VFScPPB/h/BkmUNjDQy6oRZDI2ZQySzTrKEmhAW2K6pxMeY7kBfXjUShio8VYvMsy6UuLNibuViIP4KcJhkwZqOXnP/dobOPW2jsjLFv7mziyKRlucZELIuGcqONAOsXhtoGlNIBRs1FjGXlgtVO8PhxUwIIBNTEnEnWpGWBdDm342mtt+CjupmuCj11EFfmmWneu4mn77dtKbtvvZwTnxdl0oHB8F/qux7z3E8gfnTANKzsxg8pIVFz+wx773P3K3KLJQhRYVPK0gSmyjDD3JZUOg2fmhV/psDMFnETDdVlAOVP8+ZO0m02pNutUe5IU9z0u/K9KS0XdEzImLywqysNy9p+AAbwHqMosenfEmokIyJXoNYkjTFpT1ESTInHTaWK9Dy4PBMYFgvTfQz8umUStxZ4d4P6noLBGawMdNd3fFjfFiTsrxnClK6m8vkpJ1iLq7CwRfSaHMVP1awtNzy4V/U+pGYCcPgG21jLKWHlMRzXE/lH605+p0tlq4y/RsU496SR8gUnJHytnOGTJ4F7hNpOvJNNkzqsmDMajCISSyadArK0py11U+gq6C4uNsRptVUuMQS9sWlPbSYT++4WtF27BCzb7WauAcDt98s5unIeufNw6/dARu7kiMwFEslhScKQznNUWQtYmvI0BBI/3jRDipNRljn7gaKd5MRke/4szwEIlBysHNZPu9e/E4k0DfpqtWOyLWhxFj6kofBZ4l8VBKUrIe7NYKEwOf0DkntF9AkAP/hoFfN1Pltc2wUCdrErP6ktbkYDWRoRrntUvIflo/cvsRPOyIE3/iFYKPXHmhFhvw5OwW229AzEgp0vUk1o9T9eKcPccIkGiK5pzGkJCuPy8WnQIj/vF4uy7S4CH8nJJ9GsX7FmRaQpuNhOxf2UhLDABCAwOG0r+MNFwLL+8odMaJ4r9gbqZJEwfDQkJ0Vw7vMeOzpnbA0ZDgrD56ynDCcvbt4C3sPU7hWlzgU6d9tFdJLawibSn1b0I9mqtldC3kHB7NhuHchrBz3iSOk7LCXIgfoZMKW828QLcBnzSidYab6GRHKMxIWTjiyCA9M5WqcweJBm9Av9LbJHOY4UjASI1eLEK0jOLOyrzxrXQyoNiB5Qx0IGbDBIicxGAf0MXMM9NWYPEdg+tKic5eUrp0JoxoKd2Q7E/BWnLG0ClgOb/MXRBqmxH11aZDKr6b86Wki2F560Y+z3P7gh9FVdS41S2PL4KJdRnkwDWDnWP5DDYpbwI7gxYjJZkqeNr0ewpqcqjON20hlNOE2ag8SKb2UnQ8SbW2BwrKoOVOY6pXsEZKFKyqHKgPNk62hMXfqNsb8HU1olD+NL/u8ic3/lLtt3vrZqtRUXwCyGgJEFct4Mr4z+JpZoCyhPlJtRxuWnFQwcXK4HnQxkOI5zHN3LpcBS1YPMJxIblAGXSq7sAi7YPqIxsIllsJdzxTKElhSCAChfPF/wq3fNAjpEntaWnHQkthIXjrYHe3ZQBGAkpZ+vQhjm0VM4XV3ZBjTzZx51zmvHhQ5SMFPUO076kLsfpgXaRu/kjbOVrqNm1OyXMf+jy1xM4edcMEQVXqvQZKAbMvrWydtldt+A2AKXZGWD607sMTk6Lri54exsduFQwZ/N4a6adjWrCG7GvUASwRWuWB4ZKHYGn7nACcrtaV9QkhNZtkLMvzmsquSd0GF1J/MCZ+cbnCWXippuqq0Z2K4KRV/Y8q721YGwFUaPGu87qk6IIqyUqNZHR4Tm/mU29xQl7O/KudGmedrewTeuJGAqSzaylLgmF091+bap7H0SEzFl565LP8DxipXtIWh25pANnF7z9i+CdJ9N2y157USoljfyyHCMepYvzM4nwH3oPGv09mJ7Jr1hcVXRiAFWFCnRhKlTT+DQfNhRm9UuWjtDBbc++kGaSzTkQAD24xC9TT3askKW+4k2blOyD4cHieDCt7jqzoSE5bA5+NgzZVv4GZmoGV3Dew+yNy5cKJnnOO82X0z8s69tbmOfgHO+P8eWgimL0QGBERPm4p7k6lK7WN5SwOipGBhqUyEY46XGUw54zDDh57b2/ZvC2NOVXKFKb8VuwRsplliZZIaUadnSx4+3bbgCuiyafkeYhCUO4ZHbuHWwK831t+86dB1i6tNtgE9IG7LvWJjHn7etzNHnFjXlt05ZzhCpNx0lbcpHJtNWDpzO2Q8YS5MzHfCQqigNMYIe5qjMUixlTRXzLuRKKZlfFgqHmsaTjMEcFHsQcV3OkZOlVjBGzcJX4kPmtDzq1xLTfFhZWOSLwBq6N/G8DKTa3Vn8Unw4a5hT4VDj4TiiLM5U9hyCAXt/pOIuAF9z+mrRNVArBz7duMGKGkwEBF8if6CoWN8HHVcNH5mRrswEDGdRtTKLhIKa4xZIRIc/i3jt+WZM8JSWnR2ERaQB04JU7v9uu5fdi2WJBdBTFU3u5NZI0zOETvCqYy1UyuxTaGwfUpxx3cjjZsWjquYmcmRhMC05WPOCHcyvschUsi6eZ1xkRTz2lhVgD2F4lYio3CAW0AeCjS9M12K2e9XKt5/S+b8VTHTTaq0pUkpxuEwhtEkJcSfsxGm8o+zb9hBnfh5XlvV5QUkHwfoEUFMZYBz7mxau/ZMyjYSGHzQ3ZhRJpSaJYuPI69PxTUkSjvLw9iZBwC8Uyvnq1ALwPidIEFOC17B+LzbnGNOPc+QPgNHuHIibBDai/DSgxMi+9PIivSs1bi3CUwIBCd27woLL0fTzw1Z0WetdGCgIUXiSqL0arJtFgCgZDo168fw+rtkmFtknvZsgG9moIYW8YUxNQ3akP4HFum9Y7whhwZiPrELwCHNbcCWwdAnb3+wUX0vtuhqUmupqkyderWKaXNaeK1W85Y/BptqsfkmW13Hv3upinCoZpz5MSWkDIwFBfv2D7FXL1kyTb+oik7dxuFqXiHNqRd0Vh6cjUTBS6Pgz7Bu9Pb+qOX9WSuW3qka0XoWYgqrz6kb+hjsUlKAY/UcSlOwG2Q+6L3c/KmwTp/aZIYooA4vRBRsoBwvnQoI3MPDBJCqG1hjhVl0LOFWIhCMwAMvQ9RgOk6xwpN7w1AcfKENH6DJVILVadC6F/eJaDVHDLvf/M1IWr34K45raFscqmDk8pjP13KlDTafCGx7B0NL3rKv2KfJqeYKB7EDOIMr9tiNw5rYuQcKJiogFn2QQor7HZb6rqKXyX3dHE/6Kq5D7Mju6p82ByYVltPIoG31TCjZfqkq4qEclOn2BRoqM0kFencFzsox70g1e5BDzQVRZhLR/2xrQQMubdVSnALuPN1cRZO595twGwMhVZxgWF/c0tgvvMenHnY+lTNb6dPoZmkZjBnmAZ70sPK1+LdGbbpIDaA8PVD3/Gy7Yz4+a1mCEDBxxegmQ3eg/KwM32Dd+faSklOOo1grQBA6hlte5T++iSsN1mLoeyACGyEeZGYGt/k/MYH+2hsREVY5uzQif3b5qWat/EF5z6JNQurwD+4z7Vqb6ygQSUIFKRk6KQPgMPLUe2QLqOTWeAdwBray6Cy7Ufw8VNZUM7wSDkBOpc+eymR1QNk0nod2GIqXmhrSjs+uIFMpcXv6geqB+Bpa3TFp8JE2+fuyR9UtA9Fi5tqoYEBAOhY6Ih3qRAwMnsbmHXibYCTEYOqJtfsR72xb+h7EWVebAqFXFtMjapBLI1eZJ3tFYmtywm6zu0msIMMcPo7nXrDFpnO62TdchCvJ/6LAqil0C1orXfb9XcEaCrzA4cq4lqyv9zQvMsUcfeEX++QEwd7OTF08KXqvBtq2mAU5tijE7NW/RyJ/qBf8pzR9VpRHAlQOSvj4jojmqOl0kiBdNZKDs0gpK5DYvSnW9CulMfghPpuGTg9Ab0u0ZAjav2Ydzq8ME4LlUnZduZ40TMMtbNWoFystMRuxk2kh4ezE2jcI3IAjFV8KQquJ2OCDzhv5VlqOLTt+gcxnpt9eO2LPowQVwso3YUugLh7sJhUOiDNvhVR+BqiDJQWOwbiC08SsQsGCQO0v5KXijmiPXzdyAJcrc/ndWsrSK0Nr+VIhuoFB8VGRhzrKMjsbJe5krsgp/DTndb1BYMXEteYZ5BsQgSJ9F/bw0iFSfDuEu1Mc3jQkKV1imG0VBBmLeOmlXeOSLmECvvXsPgig3UAA5gBlHQ9jbEM81d7td5VbDw8Ct7EFHZEb4rGSVoJc7IAB78W6HANJystKDwprqBrGsdHLp6l1sasChriJ3QmamgYpV32ySKVZF+FOjHn4/ibbcjgKODTUW4LmnZca+gPVCUvedcv2f/YAG1DuDMVYJJUkpdtoz3+MTn86Yt8fBv+GHEMRM1TmwSbzMA8hSOmvekzW9Ky+oqK6/QQzR+jgAb4W5b51LOCJEwKHBqOTk5WEC2NbmMzsoFls7vD1d9psPiSmOFmw4a/Crv8wonTi07TICn5eOSNIK17Qz8XM6TRY5584Zqoq3xmRlLKUzv1gA3ygznJXUi6yOKbNfgcA0lJzpxUU7fZZq9mTNayTnaKO1Eh85bNezG5ftD4Z1noVMOH6/p1LAMWxRNRLXyRES1YtCIg3TAka2xTttHQGI3fxu00jOTA9EIL3Uc9j8XzxaHW0JeWr3T/7sxvyPi4utHIX1dxeeUR51cjzp8fQfkvB4V0gdKYPZSBrkx5bnu/CmaH01w/ZQbTMfNrvvk25dis+xt709hfwnutV5dhcH80gt19vZ8oKFE24dNmz/19NijA03oLn6CojfG1M6ZvegqN2dCIWNJCQXyRy14QOipuLlGlnKHCSWzYUUV3/SKdyGDC4lI6rzziDdTVoGN+8HDLZf8ynz+lcIlnrQ9S/B2kQeeOU2KR80LZwSqNHRLnvhIR1fFXxh9x+wBUsgcgdwMpLugoxyzv9wID1sSYhULg7q+ujKdc5tu3k6D/Fi0uX/3GDttW4GqU8CffgX/5sFweXnuFARe3tYjM+vWqFMNDOz0POtqSilZMyXRc8jB/tGdURaY0/odUpR3jJiS/GHnvL1h4Hu5gqRBuigbXjHHdnTa38gs/ZiLDFQsNf5XPv1oUwvDTDfF7OQxiTvzVgeoy2e6nXcEB0mNc1CW8clY51YUsMYkmbFqw8FQKCMmXTYQLNlA9AFRorTHaRh7+W+d0ch9PswR1BWTZeLKNgVvgR4VAVVT9xN6hjIPu9sPPf1w4AW4a6PLloi93JqEDCzoyRV84CqRJmZLJrUWZV30dtJapLNoLHBA5FD9BZfSb6QvEEJmLWH9hkDsmbg4SMVznnvoVk29vDgkuOpqbRh03en5vsVNRNCsBS19mTZDzVqsGh+luCOrVxJOI8VX6AfKNwI1NNgNXRC/S4LESEZd/qZzB8L63F473UYOxmF1cYjlnnRLyxG70ge8vqCcULlmCwmDMRo6fzsQBQ0qgXBz5bYObNLWCRgGEXJbz0t9jqtWpVXrjgixJk9aku99ZIUrmVSvA1B8OjBIPs4GeqsfrdxjLxfa4ovOWrKcjrBz1LUuWl3X+2UpV6lQ1Ag8Sa64RGQl+6fL8xr4JGqFXm+gpMoIVNthlpel9nEhlcnRhFL068fH4yGlNPC63Mns5+IBCFA2mAmOvFKBd4a85aeKjNumwk2q+ah9H0yseyJg0BoiwQyOoca2ev+KSQU1R/Qt35/7+4Jt50xoa77ZjQRobxuiCR+oPXOIvq/5L4Ni2C8tbbG+P2M2KF8OUIodo3YHqQBZSOJgoeP3cQzrhpandZIrtQXngEsr4y0USyCWksAgvRLvOxHl6UrNAF1W434mbhKGhjYb1gA+6TF6Yma/de1ve40iw7YaFto2KKRUexZnApR9bRDai7PY48GRjnSbsHRDEbNYf0chHqwaU2UeF50ufQPEq54oqmSyXLg1AY6WQ0GjpmjksZy0mRtOfv7EH6/thVoU2x78IS64NFXomuDHPOztcQadxRvQxFzdkv4eeX3DJogWg4LLfY6TgTOJw860K686sumOkpstt4KDLBNQ1IOYz2yEUT2d1VMY+dWPpNSc2dIZAKQEfco1vuLs2kQFJyeLjd3hAMwhp9lOAmzP2lbyM25JimNYOqKpr2tkt7aqWIJOaHfFG+XSwPX28cpcbzez5u6qS/YegHVx/98gBGJ6VtJ3CyY7Zh2z8H78MDwfn0yMftcvJr6xBq5yqlU2gz3k7h0foCjXiqvb/1XI7qYh/AKyzDoD/8KrFuaZSvlpzDPASUxA5g0gQ8D91N6RoVhiyECgrcr1/vWrcCG1iHuj8rTt9SuiAHEc9qL9gnZZxf6s0EC5BjfLG8UIkDMplcaf8DQdW/J4NsXTTsvlu2T7wWMH/4GsKboUrwyjH5obHaoDee+gBpDHGEsFHQrEzty85N27HRRmW5NJbG/tzQd0Nq/iO4e6xPjCTl9scwgij5RwlHft84Ta08ymIlKHXD5Go7m2tzDZTCqCHPTY2OCGfhn9GurAFHc9YAsLiA0wg3WlnPdZCVyP0ND6YfAZLdxVoHfCoYDY925G17O0ZYleKQQPLmAg7KDafTYUSl183T6EzB8/pBwgv6kIA3vrRXUdDLVj4E3IbQkEJursxKtiUygL3tQFTwM7v/+GkZtyLu6MMhxOF5wMJR0BNSuyrYduHqATcrFXrWHTrKanh5Xd0Kt8NbpDnEjuMVGM0EonIvBW2y3NybLHCGM5cvlaF+JoetOHY+gUxwDD2pM85dtUYtrnxIpfgv2jEqxm1LXBREG+PxxmFsnqfcoTgFrzzZ4DKWBmtIc/JQsI7/K1TfXaMG8gRO0kztWcrwd3ES+uOKImUAKdEtb7s7z9I+pEt7Zh1pAayyb8XMYeQqe5NkdwHPuHCMFgWUAPAsgO6Qx+Z3nXz2F1VwFAfExzoUAt/93RXP3OqPq7EWfp8DCQDJ/l8+8+Mvvbw+jiQLiXnduvs5kcYyG33UEc24Vlczm4qO1KHR86OfVivv7LKoF7CpbMUbdEa64FIEJp1jkbK2TSBtEQGIOc75k6QoTy7lRfHJPi79+RoqDpSJcPlPORk6VxSwbC25qG7nJFmlrNzYBHP7Tp1X9hrTu72HOkbdbgUHiaFw1JnJurfEmd6Eq8uzeYkt/xuEUKzPf6bkApX4blumCM7fdWtU1SeV90JI9wOE5KwV+lf3In/9WWH5havkdKPpALLC8CAODborGKw8zUKH48HM+m7SyoSf3rz+yFNUsSCvuqKHKkxjBXPt60DA0V559EIp9uxHeXYjIFjKWIxVOXrR1BWAydtIKrPxltbiESOYzGVtQju4z2JUGk93FGj89wTFxgG835ll5VL//Gna0uYEUXPqAaTGCM3474kjFSaESij+XNTTG1XLI71BXqn7oVpNZOy6bihHCLJxr3dUdCNNa82iPZyKsPYBe0T19QYG1AfaDksEOZ6+RnQGrRI8bgBOULbyihcJpVQGuF8KSsTP+76iP53AVUWSV4ycjvvhQXMqACFnzqahVacy3pO21hfoIa5xgkCV/ooVMyoaKED0bY4ubGdRlQhIaD7sCQUbOqDxK9SG/tNBtuou8TlfLc8n0JxakOmhWy0nbzVWfxJnEx9RQGFoT65gL5pv/sIVO8uoG1i2aBUwAGKzr50UTEZgjDfzDku0vpCIvcmeXdwbHlCQVQPf5cKKPeMjvy1ir5HjvsdrGbgXGR2uaH37BMtkIhr7iOYAnMI3se5yapja5WbQ1fCRB190GJJns/Anlq6hdFUcMmIcY5Xs3+xcrfZIof/W9tMuCX2ZXMB3dbmpItoYcVpkKie4kJgGzquOQcZLr+dnK56tEL5mJgdBY0BgcJwNILdO/1KvroW7j5xgQ899LHh8tAxwCwlvM1MY2zChczUG+1rcZm/F16UzD5cw3vgn6IlgA88CLq/JGZpHv3EjOrvcM5q72Zj1YEn+541wC7v1ETiVStIcwenwGtOY4u+9DtKvD4dEnM4vJ2dmfYYNRRJrAOBQB/d6Fr7b7h9ldvqyB94M8Im9T9Oh65oYfgIrpOoWKVZig1f0NYJcc/hquHH/domS6YOjIKF8EnublLXsM2t+mI7QgL9HHeeYs8o7ONFzVGx19YWWWPAdtx7hEf+6s3dhlyglmBEfaZxt2FF1d6ecOPGCl5w+sAYB98A+usv3M1NepEQLZF404p1k49j89mjXwCJ70goPrYnS1RyrkYM19W/Z+dhvZoc0UxK4ZhTf1N9ByueogeI6PWpRESiLhzgI4z1wjaygH+h532dE0rQCoMvUhMa3PvbW2wPnSrjGbmFBFjn20XHjjBFwEbw7OA3wiLua1zUxTeutSwkGl4j7ofYLhz1vb7hekdVDFT7QSdbbXjdRVjSfD4gmoP6cm4UFnCv7xA1AFfH5dLOvDOf4ZtuRfybugyZfJnok9ppVhVI65b2H7pasWu0aWC97+N9hi6At9JYExZEnTjqVstG+zJUs0VR2sCd+6Wl/ocsLIUTO1lCjdIaGpg1PKI20S1YgNwvYFxX7CpwG2OvlWZ4SegJyl0LkoQLm8rkZZOG38kthEBXhP57qixy7KbY5J1+rp3sJfo5fdHtgaDHrG2yiLH3/lC8ALdfRLrbBXfwrG10Th0iprxR4m6QA3ASsVlyIQVUdsPAg/w9RhzSI46PhjudmfrqRCazPU9PaQaplaB4nJTalATwt0Ca0cpNciEWVAWIDh0041NhQed6zozRNhu6q2dmRQBx/6IOu3V7mtNNImNEpdi9IF3z1SGxmnmeWFl9n+GGaxTf+VLMMQrSjS4y2vDpWuR0xZ2IDl9ThnIOgcaa7Exm6fqX4ciJakzUu4QfLxKwHc/QZXNRMg481DIwQdWdgtLgUdAIg6wjTYnGsrWMhiLbIdbQKlSNMP/XH3FTbzq+1Myzle938R1GcgeTpUua/GM6KnaqQApY75yEWWjOQiegRCLg+KK7KIfToihFaR0CjN6ln2+nNzni3YvDN33j6yTn3AXX5Bga4LPgmKx3fk/xo+HSzl86zbMRWCFWNtfja+u1P+d3FRdM4O9m2fgNWdXEvyGpR2Dk30ViNivtufBwSLT9lHDtszlz/U+s8jUY7+hLaMY9HF4Z2u0dy3m+Mv0dSPVQvWRLGgZyW44GGhNrY4ncndzXYEwFch0GmdszkoN9xl1nGTDs0r8Z9qvbRlZ+zSEaDDqt5Zqyp+htG0Uqr4T/C0VG1dgYcxwSXUSthRZJpTTkQJA+RI1P2qtTzdKx2tx5CFnaTI1F26KLIjW8X0Iz1Ar0SkamFg6GH2wcp04U3exVAROZobqm/EWN/xfOLq2B5XmOc08tTgQgP+HyF3hO0K9WK8xlE846KDUNxl/I7R11GK4R4TkY9GDCsxsCKw+vQGxwW8S20iHyBspgeGM5uRG4f5iboExU98FskgEYVmOomrCV4ohTXSG3i7kKOex6UwORYASYEoYWXWxGXGGUs6q6parANwTgJVn/NFOcqlrWSPjVoQXRY2htU6giYR1p2kq1OoIh9sNTw2cSMW2hEE2xPbrioNx6f2ILEZTqI0x8VkeSkn1UNEwfwmhklZwIy03VH/PsRhM6DT7KK02plnIXlPbCGkUQ518RpXMMtP6b36fc6wicSF/lD1T7zmDwcZuWxYLSQueyTrkRRa/Zia3uORJm7ir4sQhoAnblwNYeRDvb6we+mk0xldQjI2UP8jBmU8qFJ2a9JA3ETywyhpUwHP4gKYxlXE1Rj2G8NzjudyhAcTC/ZfCNDwbdnaNw/6rKbIdxSFbDCuT4qhfMpi05MQpF/eSfanZRuAZyNrKat1JvimTq8DWAyb2hYY7Io9k/vntSDBPoADcf4UeSBSxNnIFlvsai8TeW/Tx0n/XrIVkzm/06YhjHi0DFZH7QZL/p4PS+eXnbt9GOvIQnN37SO/AM43b+auhV4xCo0bazAoWiEE7PN030sTT4ayKixAuH67L+g/QWo3NGpj3o/ZVgxEo4MY1uTfpa2AeluHnAG0vD1ZaS3dgXJhft+kJQVkmnq7cYaVcStAi0BG2AomLHqHtyMkjOPcvjsVZKzg1GOgYCX5++TBhGmgt1bhGVfX765wKHP6cc2ZmRc8Vrao4vgESqlASBKfJ+OpUh2WRdX6IiZCUJ564sObDj7UKBnYYLIMBCrYA9zmUF4EYmyjvTvcASOjLcALV4yUgX01ux0gQ56kv63ikTx5DPwteX5Wuxki7N26IPTTuCdFBfejOh5el56vXOUC+TSWEuz988wl1mDn+wmdeAyKz3hxEc972nOKPmlrihIr4TwT5u9b25G4Cwk2KMf3DEBwGjugf5zKVgnzhyWhPJnD9hr7DQm8zC/ZXRn+EpkfQDgIrFQl0jalyC8SIPS3sh2Ub87DqT6oaSk0JqnU5PeDZqEBPcET2DRb2jC42WASGoBu8by5wNfUqZ8KRSKy1RpK2mMO1yKrE4RFPQ0XZ+plHRJntxqB2+McKaTMKlfKe1NSIwUKjg87Y4joaiIQbsfXxD+PCKAxOrl/33AdaNxGWIzhNqLLpQKmIGXn3FF4kvZBgIrEWfN98cNr+VKBKVkNUkk6ucEzJFp26k+pkyipxsdWk+FJADIOv7O4CFnBVe64ioF2kZYen8h0qaYt8yuHquLCp1Bydtk2rW6vENmp3NTAp7NYz+3L9QuiIxOShAub2Y5Cfp/f43BgeTyb6hD4xkUVLcuwQ2k9/0IGJSX8CmxQonft/m3CYHIjt8ubPAs1mMxTIbl2uPJW2VUd8yhzvNil1h29dlzS8VhG7xld4PqrBhxKBTj8iyFsRhPGnskwnFaNUPtT/CyZw0lHVvF1TAE0k8KBM8mFW0aLJwDMRlrjbK80Bbbpy9dBO/YScj54dT0E+qCqQGTaSqlJqbPzzR08KxlkN9rZpCCCztkrtYMlL7PtNlGlIXykbxu8Mdwbr4c7O9i+ZNBziKbHsub2Yk0Ctgt1zCrEzXr0NTIhc6jLRH+XGwPM6o0kXL67UEv1Uv/xnSseTYXAbjYdg/lj9YRx2vBbhdH50HpcBpIUauf/EsnaO2RbqyOcYZt0ztjbmBVMYV9SzxZw1KdV+uDb86/je09nH1O/AzFnVux6QqGXJsrWaCYAXwBxgOVXF7acYfjeA8xctsjCBaVLB7vpHOtQuIHwpUWUpRw/8jI74kNVDQZ+Sq05cjfvKN3XSMkOZl7xJq7SlhDG6zPb7l5EYRbld2Nz9vq0Iij4ZNbfInqawvrndyXcOa/gVZunhr9lIXb6ijsiq+uWdsiDZ2ID9b7Wpex3ZpXvJq7oc7c5I88TvDLr2Fd+DtQ8ZaJKcicC4aYmpS5BD9EjX0gQbP78Hoy74G4aVNRppwI8buHg0B3b6hyokdJ1iU5d1e6jtFME5mpigJnW8rOHFBIP/D7tu1FX0bSHTd4WZTsdpdSDWi+kSl/2Gq/pqwv3eQyw8QaWQA1vawg27PcZge1dK+09K2mDqvvBTM918HLek5obgqSq/YrLQW0pNoYfCJ8A1XUE6EObshVfV1yEFchKzj6BJEpERMw32jDnyw0gaxCzNL2pO5fpN06HRTdYHMa2xQiHSItdwPx/U23p8NPReLfNqnb759/9OZa7CbJBgfJo2KeBwMomt/273qiPcaGUkHFyqFsG8hCsOlt68eWJC4j4HYYn8NF1r2krOOuj+E7eFOy9hQbos65b8jtsrEGqach2Yn+VzomYLnVTNzepKRag1iY7eCHgPm8ZwsSpKePAcOW3jOtHDJ85bkVjEBfoi/G60sY5gzq97DiXHvf+gH3hI8z/2RFwEbvOpNU0RzwftssSwyQ8QCdDtpV5Q0Xyt9VeNaS3EuR/KSLuaehqUhWdk8OeCaGRag4DahUG+bQq+LMe0ej8S+Qelh2ioBl/5c6v29hr+3aqxXpdusUObd8lSDw2ias9HTOYlRRtsCAq3IJHKRMSqt2ohhTtgWFrYk/yEIR3Th2QbIOynBrII0TS8LOVisMqgNDdIn+z4kI19qRwzYtZ8PYdXKjz7aY8gG9Ht5515dWpkPAxqiAojJItwNM3jHMiAbVQeGkClavBwYZ1IfBbBM4kbmTN/wnCTRy5WbQZzpj2zvkpV+dBhGFpo44qLAyaMJla50GGNC7sX5psxRay0I9noJ9KVHDY46uDkiOIr8lZg/AQNRIQCIKVLx2/8kqBOSXASHJe62bHu8PFaD0pNR8Lihx0TY3clG3HcixTt2Qx2WqzDxZ4F7/t1bkuv19KfRJZXb0XhVCqxRwFMQpIlga4WFa4SUEmCAf/Ht1xA6V1PzG7sT/nbRKrlSLbB5eIreT/yoeZmamM4ExNDZRIBQNjkGTXR/DEE8LnqtNGKlpF6HuxOA6dglJ4ysl1GJDZCuZ5OWZCB8Qec11YlPM448RS9Slkh7q70RY1xzBQYnxL3UdHXMLcxtGxBcExZ4sHtk/wQnoKX/STkZqyXHVJv+yMgVyDjHzrNOhjGV2rfxNi/yG4opfth74sWxGydxvZHcvWVT/kacnby8r7umo84vzrVojWNh5T1PLQK6v/Dv5siZkmWNgZSexLrMSr6GdWUxXAVY92w1hHfKTGfnHI55OlLHlRa0mNfO4X2C2FjKkV3NmPv0y3ynIzDxUyFJCPdfEH+Ppqi+6H47ahPxrfcrvc5Ks7/ct5cKvhmO052R4FuIKr3lktMnvWtVYMs73gWyEVaVFLPEMNlDSuevn5D8nQdjAUzKWW+NZqNtvnZv2vEkKWF1IcRcHZk+sGzfItLGC1l0GqayUYZwMWxHkISRhgpcwTB/Xe/gV2eNG9CRXnSiwLgs5xi3sHry6SiAK8h2uuIgWtY7CVh68v8Ju/fKkSfQO8ofE8+yaMF7eMqelknLN0kZDp2fJdMAJlOK1k4AW+8CqlXRaJZulcvhu3fuaQLWQD0SdZCxoJN5BbVva2VQtH0fnczxKejcxUGkZNIlGngc5K2TWizTaXF6bg6qxXbYLKqOgD8jUegp3V7bMHZPO5VouyqDfO+IgXOf7Ern/jezlPKsGIacZ2q6gjnQ9vAHF6sqc2Tw++IUQs0YeA5jf81OuOh73WyxgWMMLxqQvMAbO85LDXXDRuhKEeIa1IM2JILK7mp2VnK5tKFBeyAKVqWQcGcrWZnt/8QJEUN4kNFhKGSR4zgRFHaoKrx3SzCr/9/vXybXnu/0KW4VgcdHK4R0kX3TCcch5490NVlXGAF0i4mMvxKw+FY302TYYDRwdjhnlTFTL4HI53cQ9gnz+i2/POEDTo9uBnc4ctbDzBbVjoFq5MfjgGITj9W1KINkOb/KG0EkBKbg4UNPLQjujleOG0ql0S372KZ3GBqLIxTHxu7b3KlGCZ298Aa2nCYSDLI1e8XMD3cLDYOEyJNgUudVc3sdemrVG44rL70l0uNc1JUUuEyRHBfLDjXmNS8CiZD6T+Fghmrgq9AEk52qN/4pzKCw7Sk86HEtWWDZAoCN8MmHSVz1HDoWRJtb2xER9nBEEYlzlF+JIdLjqaWFOrHnTu+Cttpse3U7w5JD+23Qd34BvEd5WYWoaSxGC+1aDjRcc941+Lt+nn/UK1zO9oiodRvRfjofc0ERKWKWhpzC1Dli2YxeuUFpdUbo/5ATE0wq4JZubOnrG3bs0qdjxv77EX+KYBHBiHGyX29hrlYfo70Elf6K0uFBmLiFDncXOrLgXqYa3FlhtUrOEDzinp/phnlMitdBZT38yoElOMZBWW83EyWhFBms7S4Agy1DZHGh/KBhOmzcDG/8TdZ3En26KoalI4l4rmHvAHc3tkBP4oecBmjewUIbOTHGEDxm8F+KLIaTCF1opXs49bZAqb4IdKaQyPgCGWw1RAnL2wSrYaBxeO0J0/PcXeHj38f5xRh/OokP7jbf1bRoqxvZoJTDwn1anmcyv5c7lOvk/yJ47YMgiVzhPZHUPXYGjUFKIxBjd62wOGW3a7vdEXihke561Pgy+2v7yEJ198T1aDEZItnRcnn6PrE+reMCHr8x2va91QIt30+rY8wcc/Ic1xIK7keINLsi6hVz5x2gCE8D0AgueKf1LfhxkE8W1EZp1pRYSdBA8TffnHQAq6c4SXUSnrw0rIqX3svdoZvzANPkzc5ULZh/a/su49R3Vg0D0Cc6KFvL+5lyUdM8NZUjUb+Kxwbecq2SsrcpUjFUDfspzS6s++KiI2Dxyd0tt+yPHZxpFfxkfYanfwSJH3GYRxTbo95rwQtZ2XD9SVlyGk3yp+zub5JHBlHw8kWJo69Es+tskYF6IE1L6fMUkkIkZcDMeIC2HgtcIwLIyBL98GlkjEft4maqx587hEAEf0ajfE0kMTseobLoPbPgEjev/dX4XoF4MpNxF12smk8IdenCWVuBPaUnuip8J/VY4PHDhUk8tChWaL4UKjsqPUD31+b4q9XVAXW2ybCYaOReRYXY1xBLgdEAHvAFiJUPSr0FALiolQgwSUffb0X/97+jA5YVq1K99POMXLtw97ahbe3hIdxf506kxpLLNt0Oy8Koh0Xq0M+ynZ0L0n9TCWDaquHbMku5TomhrV2EmHApwgL/+Zwb2WnDg/kWx+B7a/OFWRVtVtOLnaHCS/6PtFNsmaH3cK60yich7pychRcOnciAdvwHEli/ou53v4ROS3Sw4tn87emR+PhhBoR3L+lKVcsstNfOlkxNRWKGT5TxApPx1CLekDXVpl+ck1iq7QLuhdLQISHPAnEM3GKuNmvpjJG3Q0xfAe09F9S/KbvUiQCpi8NnxmkJn739riDk7nWHzP+iFJwfOoYqsQfMMnAwssN8MvXLP1HAtP4Tb0WViv2VnagOwrBR9aLWAIVkokZWxHgcuegCGRYJS/LMYtuwm3StwkfipFeI8TKNQdjv45zLgKe7IKs/PKVzo473wWk+XEkSEkRyb4Ux1mF+IiL1NcN+uMrAZt9dUx3osw28MZbLwotswUN1KqlXirgT4PPbOkZcbM30sEGzH39CRi4aY1Uvpmgm2DFYbhztFimJpg2hbaScYfeEVc09Z/NMFofYCDlmiabMCSuYV7uA9NXV5oIXmxqKZkA3HJyGo9FdRYD2W9IWAxa42wB/EU7kLWK9MSeJKJHNUyNyPq4GrvOo1Fu2c2wB8oM8/NbrJXcus9X9MibqeqeAqfqN56HSsHeBxfJ84pUYcIig80q0USsL1ACdCAeKW7KnEjeJXGDqO+miec5T5udHllAdSiQ8+MDH+4nasdeiwmoU/pKIIqNMJDbeq+oMpJcEBr0NaVzHlTdwLP4IP5KYMySU7SidHdFw8HvYg15ahN9WrlK1JOfIrQ/KI1yZu8y9z059xy+vudjN7Rkn9ETGvaXbrJT9aNUi+bJf8hY4PLbWrvRRaDKFVs1ke2OQx9TmSKFaNAuuQf6Y8Iqtlmc5q36LZA3GtTshkiVUMXX79/0HU8t7XYppilZkoaiEFp0130Uz0uewuf9UbP6LBiFqd+j/ZMtxCWlly2/xDjJZh4RoMKATBubDMXeSVtC2eyCh5B/1DTR69kd6Fe+qUmwkJfPiO8PrtWRUCkdgqEMhSlPnm03V8xulirBMIXlkh51scuq6vC6XgmTUwnPwVWk8SQ9L3w5k0Tc4T0e0zfE9twKZnibDtdbovgCb0WQvRh4qeZmjN1Wagsn4gj4rK19I8j+RVqwoGD7xNG3X8kLO69si2RmgB2I+wOvjDBIY7U5KLtJ2PzDOgWtmrJuFboGGkEhiT6YkerCBrV39qusfuiAsN+da4FNATJsjYByIeIeQO0qn+BLIK23EL+Ugg5T7n9frsBBUQAU5AISRsE31iTiM1a1azXMYxEPXUXJjVL2+ZRHOdOi1eohzJ+l4OuqDM7wCjCvHwVg6xWmUbe6vSQUijXmaAYnNIVqLX9tH1STFsTTnZ8gYSzRm4/XTdeVLs4g9nZPY8ZwnZ/ejC76YiDnvMLKQYvCNqnrP3N6dIvGHdtMM7PwHcSMWaeL5c6w0EgoPe9vdyDgILHNJda2XidY+V8jJsttI0g9iOxJubodHwjxSDdxabIbOIB5NK6/cF9LnZFpUS3ov7qbaPKZA7F1o3NQ2Y/xGBEQ9WEvLhfH21nOph9tiYwrL76G2jNIEVZK1fPlYwVOnRTCauivgiDYSZ2DU6Tjhy2oBNgSs7tPTLpdb04EetEiiFncr2gS/ZrLczIzyOhkWGxAvStCcjCXNd9ZWLtS2mRz80N9tP/JiKQWzZuTT1F8iEaLn3AWKzH0fdymO0x/hleMAPQq030FI3yAL5/MdYlVqmBtaR0Xzl0wLZRuwe5V6pcEWPPIV0ghQTBY0+T3mxVRO/DNccSNl0d3p1UJ5NeuONPoUOnaWwOFXpJG/BTlULisGw4H/aDr8juyC9ppjQkVn0s7S+qI25dsIFLWh7pUCtzq3lkKsgrOXz29D7wOkrDVDRKU9p0vZ5fzgr/b5tYiA01FqC6qvYDiZkE5QoTJ/2D+t/WL9xm7iVfSS/LcI34c1Tn9G8iiwc4EzZUPsx7/6ZfTArYAki+OjSQWLYJZrrqjlGCQlMb0rEvjTftJE0qgiLt7b7xciaS9eSoHkhv8j1FTUc9M28v4c0IcUJebaUY3N0vFMWt955LF+kFqqslBgtRcvsW04tsSA1pxvNoiyxHkaahYd/Or7tubgybG6/V51XW29eF/x5jx+ybXRmB53/X2+utQP1K7SNpzCPtYfSeePiX8putx/to0vzhS0l7EP1PBTiSyfeCghNiTcJu7L9juxfqLPNUdjuZHEzA8tn/88M3uxceNfiq1w91nWp18ughEJuUFD8q4CO8LFy7dR9vuaZzv4jS/Ll1EYHw39M6PhEe2hZ5qD80/1b+vDjouVXEFb2sJgl8/3UMv9Tqk6UV475CkS1LOtozW7iNzbSWOrcNAr46dFedmdMs9z55ishofkQk7h6uK65yO2Z22PiYLQSJv8kSNhh6N5iJmaaIEO7eYphMsFnpr0tq9Tdpcjud9fZLfcYC9NkGTtJebNBPYclIGa1ys0BycK2ksRM6yg6xEoHE0992a8onqvf8MbiN2dXk04iSvaXaQr/qkH3OwREj694TWKoFdvsExlgezkNw/azWMYvFwjCnCv3l4MG7Mpv4301mu5MPx/AnPyk6uTCyQ/BhTVKtnJ8eBtYEdywPMY6NbDX/sN9ePu5ucBEHJxCCEYJfrfnh4Gp2G14nmgJ9C4ca6aFBXjXznrPZrf/sJ06HhAdNtBdwttFNJQlCJi1Da+G6DB3MEVgIJxO1KHDvaNfWTH1Wa54WNWmQIsD/0SVLgslux4nKc0VluyVt/JiTg4lhgotl89s/wJqN9W6Ikg/JjDZuqT349JbErOC70chaZXGxW12A9yf5J42GWvC9FjxzG7vDlgS1lJ7U+6Xq2LwAlZTTY4zRXQJlwSPY4gkPgLi8/jye6INVZg0+rZ7UXZS7AyX4hdLALgX9qMxm6ZBXYROSWYEOp5LyPQqmJ2nkME0/dzP0YmLu6lU1UdSO6oZR7kSqN47rQP7sQcizrg0HQI60aV8zoXqaXlXr6l6lWpVQMwMANtf7xGTTI6IUnNYx2cae5U+XILqQ7VeYh0wZfRQYXeYNLlwq1hB56SJYc3TZynOjfre+Nb7ubjU3ovNASDYkzy3ouKlc3nq94aUHEZLuHw+m4sgx+or2cHMrLJ5V4eDqnw7QD+ZpPCXvdqtl2k516U2ciq797MWoYqMMB3Hyiv+iek2bETb3Q1J9JiBSW5RaPzN5KwR8JXRaMev7m27u8r+tHy0KsmVN/WfM8AEmyTppWKR7HQuayV/Rr6kQo8NSqMMODwG4cruHX9fU9AKwhT+Zp46AnOMDcquR0XdWPI8PRMS7ZY+XSv02OVk29WxecYHmEEnPPmsSc8lBY5BcMZcRWE2mEJIvF61jJsRIo22VKfsnt0v5cqjf3vvX9FXsfyHq7NiuKDUT0Oh6V0nbUFsZj4p2GeWG0h1G7dlVih5/D1uYw0z/mUD8eqj2i6XCT3hhDcGWqy9FYUigP78CkP58OltsnBtHq6VCol6PCJH/ZyxVo3+LnagBVKbIZlyvG5nMtEIS+jDcS+P0o9srkAwxe3bwkignf6ndgPzK+A8NRdGnPlCt1TA/+s0ZeUQ6ZEHrkT8PEZ7ccQbkJ6DD+erS8I+a2Y/9IACr5tza1oy3llARwERJz30cG8Ip5N737ZqdrI6SWpHh7OWxuooXi1BXkPkjgRhZ024jAwLmxzKsosLiMOQlC63j3dbxCuJNPZgF1y+yKK4IX8hxSV7OM/xAU/rvrnIfjGk/lFNpQJ3bwe9junCXG2MbkTOmK2yugz6vrqG6I8qlA3veo32cpd+uf2RgtPGb5+CIUxjbz76dRetYiaN1yXucL9g943YeHzJ+xPNxAipySSV0hFABRDBOaO0uIkkTn1l30doQBF8daoqEPwsEbjX0tvtD1c9azzwHT5QULKHXAO0stQm7uQPlKbXzoRyMgk0QlC8oCDnzU38ihnJGrGJmFeQkBWLeQR9iB1AJNIX7W0txRFK/FXAT8rGC8kyiiB+ndRGGKDRSB2Fh1pKCtdjN3vBbIvCyBFnEhw/QaLUERXlS+2chUWudU7fnGEmc+YEeGu8SbICzls5TwWxWfxz8YIQFpXZjzrZzslBXJpoC0Z3yFf2Kqf0wUDwWX0vb7rDbuxZCn3gyuZ7JWg4T9v3v4kSRUHNMEjWuKwaTC/bcrwNGMc0LzE3KD/82dDDesO9Wv3lFa5OP/tzongYpnZ8bWQ2E+rxzhgoODzn0RG+mLLlOyNfrOH7jukBTXazHtBIt7ljFJEVQQNTE/Lue+cxMsOU/hJ/o9q7iXPcPmptwQwTiQTu62G/ZBLAcrUQfUN6Ytr6KN95mzTDQp9rrRQ10UcBRRsvvRFs8KYzQFQdjngWpCWpT6Hg18539RNTzYpGY1nd474usUkronMgY9iQ4zIyIipWwKE26EkB8KlII5yDw0roV3DQRAwkaJUWpVYviRgejHQ9b7LllhotAE4wB+zW6ofrO9XDhX1h3Vv2nJaqQkGnXM3lhUSZ3PyryRvM+WYXQq4iN4fcLFORrGj6kd6SUO+j3o3sOR/CYymLPx32B1e0MPtPy4Z0dLNIV6QU9RdfSDNa92kRjmiCEVSeHYgrsYL6JC+XorLvFK3CxmLXmffz5QHgDq/3WoiHTvx7CbW3ztq0JkfniDmpqf4p49drNdgsLA76IeWCZoKzXdhXwt9q9+x5bDFFmAty0E1DqQ0aY7tJTYsGX7I+AmBNhcH32HY2d6yHtxc7klqS7SaqX6+2qzHuyCHReBzhbhmVEmCCrA+dUE4RSa6jXZm7V2QWyzJaD6LUmMyB+Nl1wjBxjiDaCIvqanqqO/wO6CEqsDrxAP27mqwQTiuLak1aLePeQyW6P35eGUf929bYDJ3xHtWhcaSTHztpJLN0FXzK6QkldKUYMpzMKT6GHDOHfcZgcpT52TEPw09z7jZIqtiUuCmren85/Y5nCNwYTD7xKJt2teSkI3tZ3Vcu59hYGcM9uW6c6JshzyH2Ss6sQvvDw8g0oUKncuJyXr/mmqqyiTi47DE1CNX6MFB/2EQGQhaYVli83k9aimJAWBEb1byfffqq3LEHbKDtznoslA5G7aK5aKXMww1XU5nc633fYoGKB/IaPr/PJo2MxE4HaKcfNMIN8bIQQ6WU///qpG+tZH7bxkbJOTC8+o27uWvrfKuqyv611hZN6DOAvzj29iF+kuNgtu1tKWHbKeJ8unAV4QGuOOmoG7pgkblo/m0ImBhaqrxp51gUy1IYTbSLy4qOCM+co0zCddYjOv1cQOICs2mlvI1yYSNfuQjAUiXvgiZqz1kNiP0GlELrdXqW0zAptcJ3m8hJLziAERIeGOLMZvsIZjyolC1cJNqLUsPFtzo2kPVJUprIjcrHLCJ0HAI/U60UQkg+04AJBhDpuZsa/KQfShU0G/fbpLX7temmMaka//34y6bsbS39aVketC7jWDZk8b1wMJr/veohJv8aO9381Q0q/QLTPm94c8uiWmukjirBL5cLSCwAEpRafB1UzkRqPNsCRG8QI1QG8L6QMtCl5RMj/z+Tkz3iG99Kd4SwthRupWcWLH0ZJLbcV6gyfSadHRcRkCV1Z7ljX9DaD7AlatzWVwKG3Lfnwm1CHqy7CkZDZG3F8od7mb9Z7AzR8eql+OfuuWtrg3td878V8b4QTSOs8rlwVrJN0CYrvnYt+0VwhyBKhUuS8r+jnleViAcXiFeOL+UNPYdTGtwko7a1kSGw/rHnm2/z/WDzYZAiLWSjC1rWWC40JFWl1ZkV00WLdZkcYfC55xbZ3pxtuz2OUhz1beztmb2L+H7CRvEPzzcGuFwBznqe2zVYWOIaZOS71+SxCXFZhWtNsn8szfRvNj/eVxMLW14zElqEhRZO0pgasPKIj+79XGW5Wwiu4sYHcIIvzskBCnPsYxMlSsT4o8sDdfj4n4CRqfJrozuee490m2Vuk1w37Ca4sPV/9MLjb2g1nDSrBbxP89IRsuLBNHCG7XrXDnNJB2Y96moFfPQICHeyj6Z2nKWygnA/BWUONr4faf+NTW7dcqNMxFk9VgmylL8z39Jfc1JVs9/hyq05ONwCvItJNfUO4LeJ0+3Fc4m9oHKwvbsC62Ek12MVk8a4Vehy4mqxlzVaMxlufoRCRePyl93iKSEzKtanrYJI6aPnvYNVSEb6KnTs+LtOolG+CyJTcwwmCNypsCzU9wh2UkiYo7I6oPsDtvtz1lMqx8ZOCuFwIPkQbGTqj+KYex7btELEWGHO3AuOTDry+wt3kxN4C0r6avAtn6t965dKKyZGHzYvoUSExShv9dKa+IhV86YyEEF7XY41C0AY+bACHUfHglTLvo0LOH34uPvJf2xBOpTPmkSrO4VO2JtwHXgSKJM/KtjFLynkK9Jvr3iyqvJGCbq+a/DUqrxJ+ug8f8xGrb8526WP7MLl+24/gQr4UqE9LDv2ERF0CrWTRW3Ski3UOlZNu9uJrZxYRq71ox2t6o1iSJcce5j+HVU8ZZxMKhlmkGkSpNF6Y5/gdMQHyNGb/ZsM4iEL/FLltIJZue7ZpJPYDoxO8o0e9w3tJn8o9nZj8iR/0TIYpFb0X0nQywvPgEibauZiKbBQVD4aKmEGeq7eOovH5BIyTXxCG8DpS0yzE7qyc7Ck3hE0zViEAS39jpyhmQdVSMRkEFp563AlMeKX3XNpFtnS/QaQoWAky3UHzlMA5QjwbVHx+HhzUjsiebT9xmwQCN2hwlSdtBYyc7IP4X/ckZDx2+/5fm1472HHF89vWjnF20M48zAvGXV7n9A2I60Vp9eKWVElw/t1nIiHm4Dsyg+U3+oCHbp0cR1AInOSFFBWKoO04ZOg73X6Enbt00Ya1hSbm/Mvn+FJRVuFSIApXeNyjKA3RV5WdKks1MBalAm1t14GIZwNmKLEaW5K2HBm/8r5BJCgbsp2kk/jvl1D2cbvr4N12qPhnfDuuJRls+hRleffeOTzi70JKECX7EUw+JURH1D67ZEOTzybd0qdOEmZ2hpWZIKdj4d/9TtTtInzONibykdM8GBFV90NSN9/yh8NkafCED15K3hD3AFXJur4Sl5wQ/kpDfmIFcVet2arbUAUz52EHBlXnztOGPwO9gNY+5tiGQoOz7enEgBPsLPEnuC4L8JD1cd1SXibHJSAPfhGZL7BrHyc5sOH+kz6HE+13yeE1xYLrRuWhg0Vr1IMtT7Ifszo/hP3xsIyIqyfxkITptr9Ca3DrqTbIUbD1Fpbs5hYg/EZb5T5CoRrLDzN/tu5HDytBaf/CzGHBapy6+z2kEnNyadMriPXm8tF+d6mpVAPFCLN5BKbB8EmLSMJ+EYbOFESAhznNx08Psj5iIhlTQ+5vUJtVUaqUNOrlLEsO4RRUSlcQZnsqfYqWR92WjoIVknv7ujiXUieXpJqpA8zWab24tSv4oSoJyibGpRv8HYmFyNSZeJ1Dkx4j0Bm9kcxtcWuuxwOodDBXKcNnfIwCb7ovbXu90K6qUaPNVRT1r4h1IwKTtuqVTQXJFxHOM5atwg4vKS1WXHGuACwbMqDQwKG0KuzLWBpi3LlU7GUjsN6l4soCVr0F0rJ0RhQsUj6GHyXnn5G16qvVAWhfbed8FT08D9jeYGtf2oSDH/XlLNGz4bVHRKdmOWrfrZIavSpQcpYoiOOSERgFOnf3J/wZXh9+r4umwT+2R5SO7VH2XEGBsAnzWEKutnDqIptP1juIgtjx4Osy8WPbBZAygKKRQFjjUdRe3gcabztsLI6K07pUQXSRgLhjGSs7bpxV0Jrb/s+r/BNDAw1CLb87HBWmI7Lo45S18oill/zLgfFY80dVtbvXlg+GsxPnnxWz6v/DxHeSU9Uj+LGrl1935i9/tNnrUUXaflw5nWSIdXd8NUqB8dwY2oz5N57cm80kMgQ/Fp1g9IkHnccSt/NsCUmdfXBl62W8MbDgkoWaoGpQGA2l+I1sapFUqXDvWbKIN/YRb7qG36ufWjW9Dbb8IuKQxFARXvEZpKlkV+C1W3Yj44shhOS3ztUtdxpfIaS1m516zy0q/sSxDBcHLT1XmhydfuKqY4qu5zVkAY0Q8VJnoadZTd/SCNHPkLhkvWO19979H4oPbqcrqkCIm9eRT+P/9VKIQVzvGWOQcVg+cXSw5YkaTx8LgVCSxN6X/tRMkVZ3RdGb+uke1orP5r7zRN8nQwP7IqW/4i9Vudq7HFybC6n61OqQfh548pW+iU9rezPl56X+jA6tCJgeUBBJMTUoQmN+SPOWbC8+z68LdULjE/9onF4V14a/O59c1U2+IIoIa/zUKIbwq5Q1XveWOKwnrbectUemSLViH2ZlrKenUFTV0mJcmkQJ5gQ4R6IEIhCnyIo2H7ke4Jqa473T2z7tFKBZwWK0O6eKTWU/wxVqM/iTc3WQF36fewTjbqBZeTJkw9rgoR+a/FkSWquircFfFlF/kEuhZTCoSK88LYpHiQzUGaIObBzwY0P4PHAb9Cc4LNoq54hvkJxnDi4cArJpIRWrGfhbSUaRSSgA2YsZWDnRsEAHDOMT4tnZm65B/45sQopLAs9Arw+S47Yo74KAMRL1Ohcfq8O8z5EBLjJbFbNliCGyxBIivSkZZIt3FqYgYfH8aV0gWHJ/zn8vPiJI705X7gw4TvP7Hj8k4kXJNO5NINTMoYokgRt0tVlVYjHWXARVOIDKPiN8jiJxsBHqO+RUI5bONKrZXlskR55c3yX47e6xDfWGf3Yoh81JfJ2NB/8SyD36rcghpIcBfuzTt7yjqWRv9M/YsPWyLtFgDEHb1/uHYcRLhU9lfPaB66bjp7GxFrG27FCnpfEb7o99vHDf+Pi286q+7MpY8H/wC2dL+Z9LQnlUMRn0pSRT4Tu0OWx/+7pj3XDeha7ej5Fk6CJTlrVv/mYaUOdckkGRlWq/OP+dXzlFdKlWXkOlsatJTF21unA+kdn6o5pwdGMyoRYp+ygCx9SA1PCPmXiXOwawevo+6neUd7wbKkrkm4PCl2TKGWCZN5XulWoAtZdC3iekBQEW4fFenOkAulNX1RXI7sSW52snTi1lXVncnRf2hqSPeJSL2ul4Nmet9wU4nVyQKRifPb/CANSnn4UCZVmurNsL1REVY1tu7AOlHaqSAVB9/zz70M4/aiOVnrz1Gd9zd/G8zef0kmQjQ9BqwY9Eaiijclwm634XuR2iBpLoKf0Va2tvZFY7ZYou2r3GWsOax4LvqrR0Rw3tDhihLWUX7QD9RLQP7KkabQFGLpJMyjFNbpC8GJFRqwBWmt4U2WiX8H1VjDLcr4IpRfay4q3iA0U9cNlcvyt12qtK1DZVRXPkR0ZmGDK8SFFtg9uEaXKcbmLHt3mKwUg8DqcPa0n6u9GmRB38yRnC0FwZfUGlZiz+vruD6XndjiAlGXWZrEBTCC+3eG+AQsUSrQzxseiP5co4PJNx+RP61gQJ8AB10WKte2uybfOwuOX6WfA97ewqqe21Pz1GFDNGa3v8zSE1vR5GxvENLMp+RMIgLLWm5MDqPKvzN0WwJxZLNZi2kQKJhGVRau6M+HdQFZBXv27NvybRJowoXea7GApFZ0URilgm5J74G/eximrXeRQr7DihHhriyBestOHa7NhwTnmfN3YCOYO2yy045TIYIkZVWLbLTaUqcfkOAcUoLBOEtKtDrCqrFzccbc8EJzi+Xh1SHTd89C5HVgT4l3IMhUjjhBNd4O9vRHbT5CWn5MArgdnmPAGaTL7J9dQon8lamf8E3bQ3earLKCQ4NcPGFNXbRAn+WneG2EZq7TzXPRWY+OMnNw7kyUWpccNTCVKJG2IBuMhaHNjqAHYErtRZTbbn17z0WFGdQqUYRTivOZV0tKKBFEWLoDve9ODRda+sCRwySeIx90xKAMKquAZ90JNVOyuvAffDbuTIGvw3aEHnZSr84FnQCho7tVQP9LTAVgKCVAyjG4hihB3KrHJ+w2MEUfzBNJkAU4Iu/+729oXPaQWFL3RxF75gM4+DYQu8XSfTIKLkDd4YKJUPZrayOo6GT0Av0JjDrY/+GyxvXpTazxsU77FbIl4fUXf0ih7Wkf92AuEHxdQiWEq9dpX6UuTfuSUHSepIwHvxIL0B1J9N7VTKNroS4b4yB7mbfu2UyJtGjBgS0ABP+z8RyWTX/9h1o7Zyg3KqPAtkZq0uQn1/PFXF+RxT7wXmal0lBhiNAjv1mzcd7IG+whu981QmimVw6OQzJVSlKl0kgEbZQUmlnMC/UccF31NHPtevOiOXRoPshwDmk2Mz/u3ihNbimh975d69s58h31pcUspQ4H85rbSkIk/gooITCdOljAj2DhbEQoTl3ixmrFZA+WQP4ze865h3Turru2SkGrPT9W4Zq1fwyykIxYEZiHkpZox0bvlvWqfbkd9Y0Im9Mxoo+SKubLCHswpQI7zDsRxvrAKMIWuKwW2L6vuETgYiJLMtIyQR4EGLoSVE1+jNfPqh9LdtSGddkXzeCC5ZTbDRQ6LHYCMemHSte1pS2VorCxFarZKB83I5qc902gYlLkNT4x7YwV8/i7zJwUrEluLZ4bfGkwxXkzJMTls1GZ3EgsPSo5faf9gmzTvFJnq2RdjDZ5b44+o6f9GBJGfobZ4KKMpLdTHQRKKs1h+S+o76ydDrubIvnaL2GvmLucOo0XQ81d92BN0oYXTUwYFkZpu7E3lglT+kWXWZ7xWwPeA4D2qQgg8ePTBQZae771FosrEmXbr8+1AEe1R8vFPbh5ykRtgXZ4eMmJH6qgLavHkePDD2GJFzMEV+huhOPBpnYJYblymG5XfGJp3qyqmPaIgb+vMHvZYcvbfC4j3BUfT4OuS9iGI7huRajWrGs411oKnn04CpTz1n4U+PBHu1B9ccFqZT/37tdJqRcpy9QwLQXD6LrnVADIGXSE2ycQKiSmwPQ9pBZA47rAcQQ6iQARygWKBvZwo6gvUfa1uENDPWxKnQnI9+jhrGdb9NzHCvkrhNHiDp9iMfWE+Q9S83kCh0iB+SG/oojyZzM2cSG9rjO4mQnTVcALgPCn1jS99MwKYaNPHMuTCs6cVJbiBNi2IPo3A5GTz/6AeejHUfiRml5g83kd0QPfQYevdJwPn9bRp1wFl9IRQtKrzzxPer7BfTTHCsSxNHxMUQhKue9aK95mkoPehfnri3JWy2gsuiQj7Y0dfpZ65lKuBKsmG7tgOtEEXXUx3uQYQgSccpkA+B+DTECveCynYg7dizEqscbIs4cklKZJ5qHcDnziuG/ir7Xn0BWk9FbGXPIWnImwgwsgSM/wZv5Cim2sW0ItRBVSkXrBjxAwfR2MSwaPDlg/FzWjrVd0KbSI6UxpvpGkTpmqKulFrjqqMsNmOtyBQYwzBNXMdReZroWKZVv40RyjAcHgXuN4i9bdT7daeud+NlsIKkO8gt9y+1fCv8ShGFHg0Zz7Nm3axooOdo0jwXm8zf/3jqREQOrhDvmyOuzpEGo38U4er5Y3nrVUlIn5m2w5lW/+fHM/RHADjs+ItdlaNlsPvJQdmxf7SR9+X72p8zQM23/IpZrCZ+gQXYWvhUIk4vO3UYeh4zZktrbVewbOVKbG4rzszlfR+VzRmQ2rv4taBdp/OamTtW2xSty1NyuBqs+VrxHU+hbx4BU1NRnpN6rsrjYjETW/pvrUt+uMJGiSG/Ukve+BFOKtPp1PcfXA1a3cCabzP8h0preRdBFr8AQ3veL3X7B4qQpj7/EHbvLyH7kTvhRxJ4oNMtuA0XdtzKeePETyorZH87JRM2RJ1uHFgsMS8nnfnP2IlNwTNHd/B99FaJ3XI+MnkeeyC5nH/MpYA0kAa2Lv8kMIDYAQJ7Xn0n1oV38OKpNPHFxpbZOlFSv2yXuzGEEhJUeYN8+wYt8Ugo5NZqKWoheUxZwNTY8aL84S/Yttgy801zSEFTFzp7g27dVMFhhuJ+2Tnmoo+xFzwjyYyzCBBM8PNsNCz/M590+aerxBfDJEx08tmGDKKrdIT3izsTH2WAVeYqjlinYGPQFPVg59JBxVONpllg+uX1JsDa5ypcZY68MNNYYe+0uZItlVU2K4n0Oi3HaIt0Vl64fEkvRO8t0T9y488Pccjf0fhhgA4yUm6vuYzJTyuLpJpTgTgr8wEphvbB8ASnS93Ou2xmEf0blOqa3ho96++fhjbHbMBShtfAOMEGX7Hr9oIZg2KDiwzRTc9Kl45syc0LK3igRq86EA4eMffH/t7yYWv0nFWHnGV1tR1n9PrejQOB2HufQ4M0PYXPErdMymvuVTv2oC/FECnnepbyCopggf4CpPvGsGokX6RP/p6CK6KSVIlcQTceyRRHbH+WYpru8Jn5ZJ1Vc45GkHxjc3MsgdC/ZDZPc1n0/raoUldN0s+4gXDy16H0/6nkrSL7M7h0yxY8AnRJqwvQ384/E6St48+D9B5jN8lHikXsrHBC0CB3iGkZqRxbVcrDvf3vgbOEkXQzqmHyimT3cNwn8nnMk/9AR4aR9E9ITHlMWj1xxG0HvakVspC032HxtJOGeBEzKSAQD2wx5mqGCPAHNEeemT7rxoP/Nh736GwTOcKbuSS2KlfFatzEQU+xaHK4W6PEkwVmJvUemWEqPugmR4/xrDaE76CkilABXeMil5azfYAtiQYDaOm1iM6HExLt2nnoJ1z9ZJtpYQ3Pz88mRC6raOUykS/XJefgdrnfvnGrArEeIpsX5G9USvuomiL5jHqc2TdxbRQu2gpBmwn7oujmfTGGrt+h4GbxvTuAaUsFeezkgBUCKvjPAMOcL8vxH9vBUg03IFkCetJ9yFkPMOlDIxdKjPTkgM7tRlznMkIPN5K43AUkZtoFGPBeqrDbVyyOQwVi18AGlezzR8bDc/KWwXZZeoKyBo2kg0dXeReyT444AWuv4OzKYROj6qQHfxc21TTtxPBb7n45cYrpPqFK3kW9Ei3Or8FkpFWBQ9tZmUjajLTJDSuoAnYq4S58OLlBVJSwBLokPz8djVJyU8tFy9SSYUOCJMIo79Kg8iCJo+p2/RoB3voCerD4tgKqRK4piZUzwu/iyshnxcHKtkg/SA8uxE29dYwlgUmARWz8Nv4ZQFSuR6owiCaFHnuY6ayDzgKq5w+X1kdl44tTvHLVxSr998dnTfJ8omGLXLyT85GtAARYNQglvbNKKgHEgsd1FZJ/+J+H7RFRV4Xe/izOhEpsC4BkGG9OfmycTha7ManmL7PR8Ldy1K0YFKNLPEJJ5N4YJdDdteiCvqaXzwuOKdGDXVCKCnUl25e5AwIP/TiEqLvbhKB0gHbFnj91uvg+2OydhhPg7Km1b/h9QC/1fLjLQfF1Q9Q7pgJCDzw8n9ZTO8VwwwcyjTrxrAYvU/WTFbD3gh4xPeZLQ1ihDnu4blQdFDxTnOiA6R1p2mYetItcq+mfvTwlTyKmi+qCbuEACETPPFKGrlkNvxFxQ0AAjT9xLattuwElui2FEPdoj5snPKsUqT8WfsVd+AxdLJg/3Ig0TAeKH5lAEsrrM2t5t1y0bLirlApW3LL61miX5DTT0FwhBqDJfAJyacJ5GBuQDII39kN7SE+4viCjnCq7a6DsHnUe4v9tCWEqmUeT8rZ3tKzCpU+4dFnTuL281bpSimmXToTkXi1m6hqQL6zlCJ3VQZNZuO9ik0ZxX7tiZ8MF+3nSe3OANyyeBoT1KUQ9neTalT5QPPJkpU81o+TA3R42f9h6Slh8APLmQgjKEllXV+6QTjKd5tBwfII7R/3ioE4yAPbPrUTv/f9UdB0Tveo+i5CkyHlBFsv8LWo3tIZzukTjc5l4W6C8cXyJsYAiQ3J79WWaNL4NTPWbdGwNHsIsvM5FWIVM/xhJFBSx53gDi60R/y8os8PLkMBzuv7Zvuaa4q3jqrY4zXnDBTczwgTUp8YT2EPMVxbU0OLjhWuwfaImKHkqb93pLhut7XR1JbwPoi9HeqqczbQozkbbUzxlUnaeBO/z/LKeCod5Qc26PN/iAnCdPBg1604mqtX6xLuNSC4e+3SAs4yxKhizmouEnHcdqsQd54TJGi51ta3BU1XcWUBXexjf5fcWjL59h7dt6172ySFf/mtViNqlLM1thg/MGLZm9U0LbziQIau2OqETvEw7Oo/PyHtDPXWpnVjNN8T6GG3Sf8n1obObGA9+XoXksgcohEA2ljmgnqgcjWAXh53MRjsXsocpHIicaQQCAQMiljcRG/Y1MQNdUkH+vwhZIKtZBblZLO7qoYI+hQt+hMRgBZamvQiGmGCntQgGCVSOn/ZZb6KMvGoosThqjl/5CA/d7pUXWgspcOgq1VxVPhEpNmZLQhYrmpuCLPud6nuCJ+v7z0RrZ2T61MtV9Imjfq46jhkvZq15/o+RMRGgBxGVmhDWMavjDqUb7R5x2zUA6GVf2GbrVmt8WeV7ztW5HQwPmJoOOG5zcguzxsP2g6tkpmY2ioLy96Qyuqw5aSKhLEv8jknNRHcZmlTrNbwY+nsn7CUEfcUfrmaI9ypiHO2lmeNOOZ/JkC26wrfp3LjRcVmornCtaxc8mqJL/SqgjU2eFLurBhm28o8I0omtkpFQMx45WMlLROoGO5AcPDpSaYhTPZTEm8u9UMserKGts3p8w2oWC3WNn0yw5vjR+HhlO4i6dcGL72oCstA/jL+vsH4xmwyWPnF6txzwSGi6urVr6dvh6ifwslLLCPRsLKP1VPT4IzZ2RRZKvNwF92YRM3d9BqRrFoyo8peZTh5OpdDOpIVMQBRgneJL3PpX2A+nJ0lPMar3wjDCFikaoJ3MtsRc6qq3WLvjeAEzyJcQn3FCA+GpRZ9YlL1e9ZyGKdBYPsFoQ1M24WT8TdI46RGdJJMLpTVzLHDr6ofBa6Waat2S/oNzN4OqdL/IEQjkTFL1+nCEy7lRF1B4MfjcYeARclVt+fIQyP2vaTIl70rEcPt9/M83mjkye7gbCfziDtzqSD0aEM+z2pehs3Z9qT9C7WrE82sKcz/A7S4UqJht9aRNYI1Gkq2FdImYTY+7CdPAZ7/CQIuvAJibAVt50C9sf4WPO7/A1RaBIQGPpxjEg14t5b+8OxH9Vhe7zRXCzVi3xQuSGNRwHzAZmz9/9DNqLfUqiDdk3prrYLL7LE2FqGQGLjx7oxAXZE2jd5Hfs5LJV7vrZyccpamfuw35zOLW3u3w77TS5TAqVg263qWd+8xhINc4H5Za0D36iElbyF1Q5ITn0IZskAxCtNyUot6GqKlA4UfppWhEGIqUHYhsiIwugCvnlm8BVVTnSSbxvOVka1n1rdBTuzN617jAqlqhztKl/WogRpw4++/dtqHRP0An95IGwX0o7FPJkDMiy4g1LQ1q3KzJwECdMyACPtBWKfM6hmoOgrxtLie8ofEvTeAi3JAEXdO2870a2ko+Dxy9aMcuUEFVOsJ9ANrWeFh2Vw4E7F7AzIC3AlIJS2OtEaYxEJnodMoD0Z3fR1pPc2Xx6Iodo7oT/pgGkvGTVt8EaNXfxeB9vne7LUbLiV61JvOcVrI0H56J83BgFBuTZNB7Q5dX4O9LJXnZEpzp96iG7wdn4C6lfjfsVug0XQcLTVSM3EjAuRs1oXaMGl/uQTNcHBBNBYIG0reygpd8cgfp3fNZPKeQWYIahvsGFj0J7aHbfavDBBGluO00mz/bYlW2W/DjZrhIv1779DMdYNV58OaYi32/Nj/aDZXVpKfulVexqWPF9MuSB212wMEIGlNcreUqYopEldvdmc4TnRamrSJlFJ5qPfnH3KYHR1SLidp5GYQ0HW3I92B0DhFUBk8WOgaT2veVRg8GwyILIcq608LROD+SQBeAvYMX/joEz4UTE1kOvysG2rcj7wZN6VmafNnWyhWfqRmbuhdBX8/z1SsJUhVjN2qp8b4WOpl5ry+7supRKpZhqol/ddAdWDdi+VuO3XObvYn/JoL0gfEAoeAqkh/oxkLZuaESqHMIG2m4AsyXT+1CYQ9kvzBD4qsyQCiWatn6Py9nPp8sF2bmev0wTa8iatVOhDWlDaDZ+CAvl7kpIB8Lq4c96l+Qt9rVQgxWZLaEFf/T6HIWSndhEfHj57kxc3pIhEJw7kF53+NOjvzc42gqcAGRsiGSdyLigcDZGfpn6KzMHbsl9hDBA1XbUa+wUq/ZtOl94lizU/c6U2LJaqAAFs3MBSYFY9PeupPtyUlAhjCo1vtiSqcunycEi4zhGWedLmL1eGcwdFDg9RPqU5ZISV2vTcnGIExsrYPVrMWVCrBgpQQf7cwzFS34pp3m9xviXqjPSed7QwGL793skbsTJbqoqcG4siJ7jH2WVChi/Zx5sMg3gVOSNsRnOW8pKEGjqNGBsBbglSFx5jfSJ5+ZKMJIqofAgvz9XVst9rT4kpqOSRFk3B6QbXCVpR4VJretiAxll1MdyxWd6D1swdCQ0RlsFwdEuXijUMoR4zXqZQUzBmMvM3jLc0m4oqNcWLbu8Qhwz2dA/iQsPoXvTubjP8ooqMH+fw621nQknvRx3JSq9pxEuwj0xlwxnaS+/EbbNJmW5CjoTE1AGpFVpYAUD+C6KyL+sgVJ+uBmGu4U5HPZFwxVZHqNAJTIZdHqFPaWMz8FnEQEL4m5mBMOW2Z3grWYVwGdsBxo+edCE4gJLIvsLJAO/lG2KbtZWuCWweqhENFVffUUsMUrBuM/iWPv/z0MZe+LMspSmVD9klS9tynjgUik4sE4aqoB8siTgRP+Km3qgpQMvkDhwKXe8ixxSEWAC9xKqlMflo+CnRB2zeB5df79pOxi4DKkAZfeg1ldvYTSYt+CMOxN8QyRhDdKIdp2a7PhADedGRBEy8f/wEYoF02dFbu9NKH8a4GIyVoIuTu+jCfgBnrqr1O8M554d7RoGul1Epp8My7SBy0reop8dwMljdXD9Lp12Tbyi+LpLsZcdH/KAihrOPDhjPx45HgPYnC2OPf9sJw5a3aDZhw+4ohmqrzkkAHZhcQZHfF04ll0zW8UQlWyqo5t9aCf4FPf8mINUDBCJ3F5QKX/6Qrj0IwAZCS3F2LOk9YVz1/mYDVP9VGRFU76bwPxq0rxoX8BlyqBrWp6iy2JR+JoCxzb4rXgGVjfyG3DKTaMAIgO0O7n8+4Ziu4AkyiryMv0ab9Xnrr+djZaLZZArhSl2ovemDgZzgIPZgZjpg7msjlGFaDyQ8Yv7JpV+EFCVzolhGDdTGhFh2I4GTCR9hy4/3/4luHv3JF67ssM1IN7XysG2B6N+YOUfX9KDjG0LD4+eIQm/8fLjcE8a4TSSmyf53Ceh+HInMqCfuEgfmpx4O02OyiWbeE/4ls5ylmyYHmtN6Ytzge3gIsSXxUmdaR4oeyn98IH6DXJsx94kGQizYyBMX5PNbkSKXdbl0VwJRU7YNSMqs05OWJ+q9evI7UsJ/tlpzoPAW77g3HU2MpWJOFjr18RRyA+5g+l9IJy+hya/zkjSt41ifSFwfhBl2pGhhjtzzY+ApoWxE8Xs90lk3iK1YWyoaW1VF1P6x01y4z2WuiwOdJzfxozcNs4ST38O4nbHC9ggPtmLtyTZ2x1f4V9fGCPe3wOtXohxNyMvqMIT/Sp3yg1XnUIFARO6Zo8TwgTdApy/aiHvcegy1jSXKYhTUQZyUv9dP6G452VqSNfMx1KbUpCOx6TyyH2bXD3bLbK/3g4Sbo9BJ8MZu9XYvTA2fCNoIRmyQqnPstsqO9KV/5rzzNco8oLnnJpmNJoirlQMtWjemkwvLzQetmys+LVGkiVPAHvkxA+K1FCzkdjbqtHgExQvj+6Qo+CyO2KWSzCoObLwqFcNFmTV+7fE1Rqkvk79AC6HYz2DBmpIt2uxhfeu2h43E+Aal5zSnGgUpmgJzew/9BE+4P4jLhFepf8x4z5j0UvtMgp4ZAU4wfcfwdFNHtrCUadf26AZvgUfPtmdrJkD3/ZwawKP4sQe/V8XcI88bRNBTpKApAKSVqABoxjd0Q0WQmW0hlyTKtAyetZeLpcYWAR0R9Uo4N9QXpkQlQiW1a7ExD7uqSUzv1q5B8Ql+EtvIKnfRurn+CXHiAcQ7jyYhf18LZB/X7R48FkvS8NA+NC3tGbvTC4uEgWYb1pL/kHh0EFxCKhKTALzlXl0yGJUadWCGFuwaO0T+sfoqe2B7+6S85Cr+8zj3i4+DcyMDk77ZRD0K1h0pgoXFoK46TIW5CDLOPzRm0yxCznSYgwa0x08s4Okj2pJ0BEu/OqKfzsWi5YmEwXI7Y2TlBqs6mlh3Y8d6TWLfLr7zY+qPpryDzH22y2tU9Eg03nGdQOLyZrGCIReH2w4njyb5orPJHqldPEp8CC4EkRUqn/qaXMkZsL2DDqGshg1MpY9x2/RqlxIpGyW46vjvPbxC3/Oev9r9qVGB+8iEptQY5Wc3oGd5D7rhq4+F+Ly0UVTnDvMbLM4JaIvWxLQhL+4WNIW+2k4XCxGtMNf7O+A1cKbmmka4eyh2AFMuhwZ98Vc33ZRj5rt9tDV8U5NPAfCvkC3Lb459miCoVbq1r5KXrw033/8xwh2zyLZFSA1SiT/mgpnvx6/QaQwULNKT9LofcTDEucoeCPPa1xHHDK6UtOR4MP7SUCwg/n+AaGxVG/EG9qLvM4GJs3VN4Vla8Iy9JGmOEYZbJiltOg46hCer3Nhez7hnVDjBjX8+udXLWmRJhp9PKC3UDeOjvElNsXDpcwJDB7U/eFORhOsiWBPj4RKox/SXMl3umDZTP9sXBoNEfAu+Lbppa17MOwAlzNDudwq6FUYuq96kfMjgcBakM9GjjG1vXUBKjsOCcBPY8rCbAKzaEISgxFj7KTbvsQloMQHaVPopE6O6ThOujxSjzsFAjod1DVWHqKVrfIKmmVRgUL0fj+LIHsbfMzgMXzeRaIJo2EqRFfMlmJJG4TO5LwJwrT4tAoLBO1x7kYCMvFwzUMLWliDojRdWc/47RroyNCph7hP211PaJCnC7m6pCy60QuRYIoO1me1GcANb5B5KqgdYRNMOBAviZFY5GvJUCrR2wI2bmFqV15eWRUeJlW9pUgGoM0C+MnTOT6abUO8bUKf/BAbgdUZG6QhQEw9C01TlK8K8wLItY5W0ncO1kZRDcYIVyPk+TFDtZzDYmOWe65+ccjs8S8gIZOLtKIyj7Cg/cFCz30eFjKIxHVW22+PlVR5jF4sWRmwzZQARu+8wYIRoZBbUSyeSNxMVI3a3mkunirfayCRrv5UDeQnHT1R+YyozlNvVXaRukPB6MZhlnND5Q1MXUO0FRaZYBQQ9plV64taNsw8fCCgmikVtuiB3sc+Bmeuzdg8oAVkd+rVz3t6nbGuRhTRSOSTM/gSZPCtCGwyjreDrT1KYHqLin8w7jSd2s/LqSbye6OMkfVz3aWgLFSOO3z9HmMOl5hoY7yixkZOwoLUg6NshMslqnIpGDISon7gVkQHHSsCZEEgPuWaShk5mgUI9g3C6YnD6F1P0h0mXemdAz2oTLd/snS2y0kTL5fPSOZ51l6UR31EQKZlH2rONSV/Hw9lOkStf+shyIS5z2tdIySq196dwN1QUJvJIrxD4ET9PVKeSXtVfDtU0cQgrHLHF2A1euvM1MRVoXhGzWGCEoIL2X5mSVdb36kY2L852yAZhJNleq/Jbv5ABb86tZ6pDH9WPaO9BoMNEleGw11N+Af5cBV+LhwS+h9DUFbPPT2kSqgFGrMmxewbtdzgqlHI6NxZAb5hEW1k8UxNd3+fHVsl8TCrIpN4PrfMFXzsiaFKwjJ96aspUDgRe4n9lx9Jrp9078/l5UBno8NyRmLmI3LIofdqIRAo+GXHcLNXIfGwnSg1Q1goFDRn4DRXYcqDl3gtmu2PBwp9RlzNkKWPFDQjKpRDrON+i9UT2o1VL0lGCAzIIL9e6Mw5tVPBU4Gfd5iVqDHwZl5gvMIInlTpOPodp4n+PUbcah3Xr8mIr9L1l0fYUbN1fqQwUsUsOMedmuPIMkeQ2awqHUwlvLdhmRYmf8mgZ6jeuP5sCIccTGz101d1+lYOHqqIZoURCarrwXM3o7m20eBbgrRQGaJFc1euqaNr4TLi92NQeUY9o9m5zuovOYCyB+UcI21HJepWwkAV7K12HEotimtmYFiVkHFLK8N4MxHihDOHBopjUl/X51sdtg6YtmTW0tyKcSjMBUAWOYMPgbQiViLBn8tnqnDkXPiwfmV2xsdbZmpvHxN7UU/McFc9gsMcF4EsmmzYlWcqUhWxs0KAVGZJdxd2iE07isECClDTYaNn2PjEjTAEytyFW+XTwtj4ip+XwbJR9vyXiSJpn9H7XKVjfRP1HmUcwZWeQLVhrkuDYHPkW6JVwYtzyq/0n//Kj0Depi1JdUw1C/vUaZS9Xvuwh1AMacmBbCucA1oqiSLg+HHbM8GrShqXCLsRu0s69gs1wcaRIdjDbIChO/89w0+nb3eLhBt0UE1O12SBLRrAdRfoGWV8A0PB3sjtdTWrq+xbd+7DZUiMZ/afmhsA/o8Qr1YnEhxASsObVegwGcFoKwdL2S/y4M3wcSJSMerbfypQIvo7JZYhuuEc+VjQvl/DHqlSwGJzy4uHW3k0OJbYIlDTnE7loKI0tF/X+yMHBK/pIryiZCu6E2zxmVQjGR2horE9t+zVEiOG8sD6QHJ1k0bt0oK5azy7WBwIHXTkjdtpK3AW2MSiVaou7kj3K+ZqZ2gZwg7Bz7nO3XxIqQ7hmfPVKbec6IIvIBVHoRcWG/+WzdBkhK/Diql/oWxgZu1WExUMgTAZEKtwJH0bsprGOPSyrFbCpQ2MVQ5kKUYDjJPl3Pr95NWlEmKupPUV0lM9gp6fopzg3oS+ODjvLHkp6yqtNazVegDZ9mLmhdsxUQKTRKw1MVE8MiwhQwLhjxzBDCGe8eaA2SOim4arrnV7zipNLblk5wsTQljDTVWIHvcqMeDdNEUjhFJlzba7lF45Q+2RHtheK0anZ1aq/Iu1omE196I0PapNb9WRD/UE+Igo2Mp474ZJg2KEw0fY4MTqbVuLIzS24Qwml92NFJKh/5g1ltAQHUY3ecO2GwuTUEi1+6tndT/It3SQVcdK9BuOtraDrPQRSelTNSUkj7mK6sFaOte4S5jMnNHKWUNt8L28SyG0fRc83mySUSdeAWOZmGkenoaWLKIlpU0wCcqBqJpeFJXYh1sAjkLKUJBupK2e+1E5iPcMQX67wJ08St0Uy9f1v/EbvmooPkAPB16iNk+JhF8jFMqrs5ivh41J4XkSTxeYFvgMmJbSXne+j+X/kfPGpZJTPMrm8KWSbJGqU9AFsfVyBiUsAdzQl7CnPIFAY581zqY7aqiQJnBDKUXuT6JuBAOcUeon53JlqP1hWRWdWjFfRMyLaj9Ol90PjHwOg+qmXjUKp31myW8h02XOQZJdeDynywINxx5Eb+mbZz8iTVYf/HhlFUiLJiCHvgLNx6BMQ/Ne6k10aRZjVs9TCYn0JFFIrdGqSgGiRJ649TXAWID6tRjit113ltBqeC1qm3AfKvbUMnuFCKgOBn9qVMnwsJBo0g2L0TZn63U8Cbnz0NxcnAfglFpbJdwtXm1kLYMYwdRV/GeKVs1MJNNBkmi9EBFxv8R3Y0I+tONx3Hbk9bacb8sA6ps4wQIGdlB+q/Zi4yYvoGUumzSHCiUFBYoWl0/I8+d09vOruThGzzyBPzFpQVX6s+42P4nhouJ+rk+qs677ZMqumMuUb+sYEMOumXK2fYV0VJoJGMufQatg2ioO7pjSAMO4WLlkzcAy44ekdRvsM1rjMrEj2Cp+RrQn68RIyj3Cg6gTGsoWvxNcdzvYVhxeyFHtxgjSPJMMRNNsR4xAiI5h99lmaelp9kaRiFd1DyH1SA/ZckuU+bLu4+RhxHUWYniPEygw18yUQtB0cJRlqJEj9lVFZa3vYAAUauG5zSVc/K1Ngnt/3q10N43+a9AbNRLtv6/jl5Fhiob7AgM7e4/fRo1w6E2QgxQgXA8BJVNVkr2GquT3ZEEvtdhmhA8yi+yF9/hyhChERQRjVCu5ov4iWVPk/Q1+w8U6atFI+aZ3Uy+QeKXms7+lgijsDRU7K6WmISEGIFZS4JFyyNrshefO/6SJTBrwCAT5LTiDUbvee6FeM9p2SYzbGHryr8ICFyQZBjII8nexhM0qbtoBb88Cejs/E47tI9PCjVi2wpEPbeg8nldhSL0/hHSCdstaLNrB+1M5iJU79nDOzUtc9SCch4zdgKd6ufot0OVuUTyP81svsr6OlfgS0qZWzywZgv+kTmDQS5jAKfFPDOVhPUpKNQwAeS3a2eLUKo10UY4ZvWJc+RQLuCd9V6ZkSZyoOSXZ58wnWhTbXVBeVzilojCEkuERNzIybmwVvBvA/a9628RF+l5cA9BQyGJ6l5GZbO9MLLfhjVjznQt0x2g+vE3wHi7bgbEwBB0Xj9zzO48iE8Ed1TZjt2/lg3iCBRNRn5rLomsGZPsf1vi5Yq0jgvM9Yn953o2ds5bZZ4SXQUb1O2W/Aj4sqLKQ39Fo6ms53FzYTOsAqOT5WoLCw//dtzzWKMii4SK0YD1sBEqJMEkoHLnodXnYxG9gr+8UC1O50/N8ItLJ9padhK/NDQEdgNWvl6jAilpQsgiDWIugvNEL2fSSUTp3hSX/E3FJ1o9Up6Yvhz+6ZT1bLZyNJaS3drQ4LpEGL7xUVE69LQKmb9UbsEl2ykrGiBsMNx9UaogjfZb9ijeF/QDn7+FJjV0kaup3Ls4Fc4Y6W2+wjoVcoxlo9TXJsgZz7LgPI+kG7ahsmwcs/CFuasRFTfq2LfbGkBaX60yw5cjJfO9n0xUnCr0iuoaOBCoCVgP7GXnysWo2fDP49lvX4R7xvlfxX+KwWLcZuWxKGuZwJHm5nHpWZaBGTNP5ROjuD9ib5ja++j/gfJMTuW4nxR8IBvyukISJPCNLnt4GxeRyL82OZpJwguML8DKy5gYkb5xH4yIoQDEZbfojWH3v9Yr9ZJn8z24b0wBAZx2+txpsB6isiFWIRYvwD7ItqDGly8xfPyNugEfKNqUZmdMd+MTnz6XyYZ/Y4+e1GJi3d/M2oqjEGL09eQ8Bcoa56t1df5geqr4iK1YACDddSHRtjYra34lRpwmkJXRYb7MC1ZOoYnHuYPAT40IyOOq22Jj9cYLSgFebTng0Th/ddGU7vNQSW7jdVEg4eG6g7h6GcsGY1u8nKVfFGC9rb8x90BEx91DokAJuzI1w0JrLxx8+/wuZQ1egh+np2NM8qyotemDG+JbdtY4iofTJw/3dBxohoBBq/wf6Ib6SOAv9hR8qHgc7m42dzznbY6l4sbzGj3t1905ueLq2ABnErUIgSceCySYky8U29c2scfmFZR3RAXvGgrEKbCgV7EOp82dGNdyzh6Rub9+XqROVq0mS5m96i4tASeK0kpITNozQFuGkHOpJ6WgfYhGTo9n8FG9GhwM/r2B8szKSv32e14UxJUxti4ia5xtG39GCgBrQTl4q/ft1/tJ88uoF1LUH9mfPOnVL3QIz+yLOc71YfKWaC0SrnMHPCc1SHZF1CqIZqMrBCkCX6Tpvsd+MUk2S9CiSzrh6iht/LJqKwdwzVLtsJQGDgKm2QrslLwqbotd+Twv0im08W9NRbdvhsvpQwdMR8DWpeJG6ITIaLZdpmwWP7A/RJRNLFtWAXCQ/BbMztY4iHeMF41JYCvH9eKrTqbJ5phP5ToOmmaEPKHftUG2A/NXYMzK7oYNCZxLakBrx7OSxhRxFqzKXvydRVVa07ewppDjmBgjUa89P50MFN4QacsHp1+zlhlQa+NE2pn1UAJ3bXVVcmdYCk3Ov6ir2JPB7M3OPycfdDCmlLZ2DJTCRyqYF/U0zsL1YyhWfzmfEoRNOtKe6ggOJijfRHpDZGCUGa0pR2SSYd62vcfngJ9J1C2h/eWvW2JyBRBezPGZ5rM4dbNU3nuUjX8ifLxK+XEuEQXx95PnKF3Idvv/snKWkMRLua0sbRY54+bOBGjRrXKhxhAKxpDmA9OQrBmWwyDBOwWGvpemuGFzu93/ebRHY86CdrsEn2O54NoodZRpV1M0RKe+eC7p8L6eXQai+jm4GGZyJbAZi0oNFJ8ApQA+gcqDoyy/imT3pI2CXENxztG+a7AT72Hw3oMviUmTHgw2ET8bvsD2biwW5pikBZQIBGN5i/FmQfKkykXMbAOEOeo8snfjUbk3yXFvbdgkmgXOiDX1whnWmWvgh2/7udC+F0hZrYhHrwOyH250oYfHdeEE1eRkKcOLGDqo8igyJle0zGeWjPqKMPkkVR9RwsRNtoHAGVU+3bQY6Jki57IRq7Bt0mwJFdAlIB7icXFOdJaW0Vw/L8/5vRjuBw7zHqAMGcwF1ITCekF04NG3zEU76xu6ZT0FM6NB+fLt8iMIRGlTsmZK/fCrFye0kV/AhwBvH1yBnR/zeLQ9eyc1X5vwgNoFfyLXsy0Ch4romPQaM2riKTwhRi4+WnWqUjfjY6skaXAr7dDOHNUBf/iRqNhaOk9JV7pWS/YAFD3fmuxpz1J20lPCa8K3EDJ6w2ThJh7JS8Yuke6CEYx+/Zhmzz/lRhOwKxYkmYGD/m3WKTbfX0hTw3fZSO2GAvYGnk5iwbZjxSopl5H7R43Kn7xHVV2p20xTkkUVluAjt8YdT1tw7t06EhIKC5gZw9uIL9qTZtLu1T+jAPz0pj4aRX90ayAGnebVW/DxsGG+xD3cuwxzBERHrYEYO/nGCJl+PlFN2IcQJxWiLmhamnfYG2JrktbsZ57ZAupXe+vPeGchAY1159z2CAtghUfNuGR5oSK47MCOYrJJJUOpT3VxNTVWdXfdVVDxuu48DZ4vzrMl/XtlyvL44IxdEjFTnS5hq4JksNoVa/Ld/h2MuHc/ssY2hGSSlS8TsIoWwD8Q/FlxoeSH80LxjDpvOYCUVxGfH6DItj19y1O0kbhXAWi0FShKL1HHrCHpXSwNoK4JcXBhUXOSOlUdSlmTzH77G/8EdEchd1NM9s+cty7zroSoY73inV6sAwyqes2HDJP/ZEkg1kkeJcsFd0B9DlZtZiJpN0p1UK5MvEXEXedbv7ez1o+Lhy10NdIEM+IQu82Sq1c/3GsHZtjHqGyJ7QVPmTdzCLIg4rrYgmreqkmBdQzcZ4d0kmCtQN2y9b6exqvT7hUMxrcGlf0SwZYRo0cqKd8VK4XyvrWUZ+tTfINs0AGnqaZFXfteQiIU6ZtlmDRmD9a59NTopJGQq1M1a71/P6YlNhnbqdQEQ3cIEflO0pKdAeV1gBP4yHEJQZx/CbLKFyCe7wrgggZ39v+DGTF5F7VY3aksopU1wSSWLcvR5y1t+QjdopRfG6mQf/walX724myTDI0o3XsXMZrUcJHJLu/ghyHWLy7WlgmWVlx38nxN7lCvQSDGiArf/Fufp6ElCdTtzSnRCBVpHrYbIwRb2JGxZb+tm/P5HmUTG6loAUi0aSs8UPPAI5FTeSMbpBd9K+EunybZurom1wZPVcHrIjLPbPw4TutyvbwhO8ZArXKhPcuxgdKXs9NTlEoBxsb6DjkrMEHqOZhdKHScQXy84+71YvgPFIG9K7x5Hl6Jkkb7+RT6g+8QJyMDXKpEuZyqOONajo+6/dyZcuZfN7IoTCwsPQpa6nymvJObUX2Mr7w1OE9FhP5DBms1KUgORHJ5MLiW5KfWs9Fq04myzl3dqNMeNbCj/L2a0VCPO8SinmZJwqxlgVOh0rM34SASPPXb3+r8EArIV8TlB/bKXrfEbFjXkDU3KAcT3fxn49/B4TGxMEf87EK5jS/B4+VnwkSlKWCqc/qfslM09nj1K3BLmxaQHchrnU1byGeu1YIcUs3+vqfKMfMchzUfKbRiNRAIb4pRO+FJkXmIlQNX2UjpY2LSDDmRg6tB1sgpPFGgSFVvUh5wDBLGZe0dvMo5pMxJFsM1yKDbMn7jTjRVVZIYsQYmfC1U1m1CpVWbl+p4AJKzO5D6GyrQ5guABFGGGKSipkGxi4StfZWS1xXelP7bzig9AtvdPZFQ9THaDY+4aUKdwJqjiggpXm0JWlRtdSvo/DuCVQGcLrW8fRphiwNIpJ8eDDX2FdAKh8NnqDhUGupCbltTgkBfinG0L0J2YMEbbZsuhuOhYF3o7QPfyxvrKypOWKo5l4tu22nwbLPLfAfdwacZYIT2gklneY5ES7qReUSA12smyT4lMdBsN3FtLWrSLrhl3IFER1GS/92NC6QfeXqlNBqLrZcLVpS3W7/GjMeC6qKGgqBB2f8c7SKh5FFQ8j2K19DTqQJFX6L+Q7LAwUKWuWyLmOqMGJVLnWQf1l1CjQMVk2HWKhXMB9kKHut/n94f38HYbXsbElEzr+LtMwzLSOLw9FfZRJ7EDLvqQey8+4rXfm6fRopx1G4h6OaU3HtlCk7dh4rXXishQLfj7agrJvUFU388C4rohGqw9hWhSxbXB7Pzitwt2s1FW2Z4VtnXfmTwyLE7AdkEGrr6m07SkjEeowod3Vr4LDIUy6//ZzdvTIEX1a7OXRx8SW6VqSeMnt32jS0hAgkVLzdDd0DB2VeUBdAuGJ0bSa6uX6iE1Xmlb0lREjKcRZNFFUDEeq1+u0w4RGMWbfnQHI3Aj4TaVWB7isLgr4zDWV/WCwTcUyd5vzO9qWJo6wluwEiwDlHut/Uq17Vz1RFQVE2A4v83zlpBtRre5LbC2FhFE7HlH8rWAuVW9g/DhDE5MFcwjGN7MGjLKQgjUWz8OUsqoW81wdI7Yyae3tF1Mub42PWywl3vve8Jag4J34qlSjqnN+GNw0U/1z5rniFLwHY78tCHs6ugJK7peLWb1d5WPf2wlA/bUtmSZ7KzhwdjZ7eP96ic+G35x493LrYjyuHfFarpe4ksHZHVVuiskbG0NRODODN7afFEwIQKZhaZluNGfXrs8iGXrm10WN7+YTqS1adv3QzvHsTcto9/moUvYOZ5QbARBA8pe+KI5C3NckqUUZ71MXjSt8cTZpde1TCI8EnJo4nXkYSkbq7vEv9eD3ihv3Q83NK3++Nanz+7VWic+Ry6KivOItdI8JrN1CJ/Hz0EvXpmSyMxiEjGoV6BarCjxc1q+W2LqvcUCD0bE7mac7JfEBZb62vSQEoIbMlLoE4bao/YRWLoZJ4DMmE7QSyNyJ8lfN4SeuZl178LOC+OFn2JkXrJXK4SglGLzxD8ggcyi2t6Nk6TpFB7Ut1By5YrQJjVbWHbZN8pYg5Vmbp3JlolKz7R9OL7ynyaIgvlkKaJSNJRwyJW48krmDh0kkFl4r83FcxA3lFpxGTpkwKg3+jUMKbxbqtjXzjXCKtx+uoBirf3ZfAGaTQCxZ41aXk3j/PiQ8890j9xNx9upAYtJZqMuZ9ZMMtaC9WTECWWViSTqvVx9SVhVO+lA5VxgPbp07O3OK2mPfSIqSHDNGxqNd6jbgfzrUD+nbHKVGLOba5yBU//LUVOOAyAjtvtu+btCW2yKNfU2PkWbGJMA1WERelm5Z7aupr2MkhDXyYMXJGREMHmXqjSxU/lCaybL7uszKt+ityWPite2AmmmB2pl5pCvCXULx7eOGnt/iBJAE5tAYL3eqdT/1WgrbZjE4HqoGcBQVdpeaIFDZyvUruNgEw8E76I9ZjzcOFVhIeAqstBZ0PGompW6pgIOwsJPxkhEpQKfscRfF9dOIAgWsH0dzgm6KeYJWbZjVDScRzmJRWGxrgQDVxntHf++17rMGWlTu9VQapAzXFfH7jnFtaJCm0sjPqeDEGgLHwN03yw07ERG4fJmTVGuSvwmOPfzG+l4L6LhOjsMqEGtAbtldJP7hOs/4ZI4Ch5UuNidHgBBmKBznDf7yIpB0AUUo+23da9hjJu6LaGfCFAJjz2R9mpEKvLwkHZRhrZGK9cJbo++Yal1nd4xI75K90MhBPoS3DJHG2aIHM6RbwNy9Iqz7WqtloDcZHaV6o3q7ZANVwWjLUBh3d1+UpYkzMkwyxNiQvk5qnKOWRas3tMmVpt0lTPxp1E0oa2EROwHJXkoigsKg8+lID1VPF1a7PnCdgwoMiGeFk0Ren7AZqxAVj9MYHDF3KyxpP0NTHFsBQhj0EsghUg+pLVYfAEFMnYW51fzJR2cJ03UrtN4beUA7t6b2hAJgpUjrEOh9FwcY0gpPBdFwiSoCGPtJm+qvq0HPu3/zGaCbITUDh0ow6iJO9niViSNfitmQUc+JXULjzweiGiBKmTeb9G4Ev/FJIX4ebt6US3c9YGAQ/Lc+frL1DxL6gaD0G3xPhonIXiTvC6PtcSdzwYvJOhqCNc+UAo87at/Jr45DscbMoRUCw0ylPwIttKhifYV2gXNrYCXTVA08wdloJJBfJ81E0nR7XRRlQRQ2NbrAz1bfswHwSFaLccqAB3biZpPlximaX+C8g3vyCXjTt9ak2OgspbrsHSR2u7KNq/glG+JjSAnGHZVpVXDrHOfJRA+Z8uczF0sBamdYICHVKMGHbrLciim6fllgJW5QazQgsbFlF4w4//WYHhucAHN7zzYKbG510gMhBxqjgjnQ+4e1l+ZswcsHflnSwx4douMk9gGodS2Ty2cu6p21crv4aASq658OGi1qQ7v2Kpw3lrzLx5jNKhl0KwUd5C7DECdS71W3oOOeBeucDnH52Xi+9oKP3BBNKkhK13Y4XlAljN1f/Na/6ebS0VWDY7joqc4YyzyADVYNklIyWwnxzcGvmXly11HPbjzXcAOJ6pCG7jHFkIAtnBYAeFiN6Dy1jq4/rfMmr8/+Ne169zQd3k8kBYG6yiOrqNI4qYnR9HsJLzTzIzLwRwPV3MFbPsVj9SOAJkR6rjxm2cFyoz1oDD6YCpZckWzJ0zhKTLGaa+f8GOTZQMXGEvaSzrCm5jRbxbFn+5VI45s3fz2NNyvssMXXWR7x8ycqYFaWqpuFCwwBFUKnSYc1euwSlARt75KZV4ApNEsfgVIj/DOkpv4rS9dPbS6vz912UVCRVqcKeHfJFYdHdohFzly0WfKcCCCNFjYrLciiWRcxO/QWStBPboyy2NcqQsNUrFQY635t87Ku+w/FdU251WRtl6iEBsebWcXM9JfqH/TMMshIGIOyVJiD4oqtl+nju+VLPXwvde5uyYIyN2cSwnHddAJlwlI0EcKrbW1zRcIgFGNz1kvnKdSPdR9EGxbwxwv8SYabL6ZFr+ibEL03z4xR7lVSrWqsuVv1gr9E+a0eARHxn7liN7qK2FqhOhq1R7JwT+MXV3DWqmguFGJfLuxuUeskd2fBLslkxVGTYjxhwCKg4qtYlvMKOUHhX9FyMAZDVvQ4C6hRCMz0OQY/vk5ciUra/eO1onDeYVhMHr4gjgRAQ4GKPc918mQcYy9ShMJp1QwMmxdUl8CIWhOOF4/s5ZoXJ8Yxn6Fobi+pM0WQB0jn4X2xrZKB0BTT4+wlIiBmv6xLh9uAKGlSTYyrpE28pZBV/aPyK5F4h028DmvfbABEZBPzckiJxPW0dadoUoD56f7tzOn6SKnVeTYJ32O4NMq3p60px54+ocguhEOe9v0YawFklX7UqY1F7dKnJiGvkjHGHEGTep3o/KyyrucxOrv6073fJ643g8MW+FLYBR4FLXG0aUSlQp5rea9letTqJdlUOU9GNTKPChFzFfOgG8qDv/8LBj2+dnAizZ7H5FyF4WOfEENm7Bvpq/xJTPrq7gRaIABkbXeccz4Zsl0WYNyOln3gSZNfUdkoY3QapwetjZNzKA80BxeMVJIsmblAHEyKyKCEPRsnuLXzCa4siDOinW8hqG2vQao0SHkApSfDrSmMc7VxAE8jBxVMlzaAQaoifLGK/OHsElRMe5ZkOudKoTEtJwhZoSsxDa/Lpz1Y2d7MUEvLLlk/kTFFc4uvOZqFLyEDqflvcuGOzuPXTQQnlD7X4w0faSCVAi0coz8Ats6jKgdz8+hk6urbybNdXPkA2WrnDRH1M4kSOhwHr9UKt2GODi0NMSboMbzvQ6BgS4XuRFn0UihWXJaslQSTc6xCW+8uAbvb3pr83rq89Em/dlQsNzoQji7i7VKQuiwXx4OnMg6PtGOr+T05ifol+I2shzWMDqypTvfdikgJtaGQRX2ZKs/fUQRw07p4UJgGTgNcpC93ns0QZfTKnd4ysoJfHFr6HhnqhntamD2RtvxV/1snBJ3SiR7yR26s61N50PmNVxlpwuUNjbNHwJhyPIVmIyTmJ2yf5/XsBKPUBfzpxEyqXiYSfcAuTEsMoeu3ZH5/wIm36+Dlr9TFMJQ+FIwaee5mMqyleoPH1uIavN0z7m79jq+vfCzBAbWQWwQUAEB0NbSQ4UIDCWuzaF+r69T07fgtUBJWaoXkRILPAKpJg2Zfg8jtiyQRUuhVhAZrYPkbD242/LVFzOiRcVajwZ49NcQfzEeA3CTayzQARh6vl0fxLUEsb3tXd8uqUzQti3WZpJtcz2rxfT1PrH1t7VwXTkuTemJQqQKD+iwnfJMPImeQvZWAPrdiflyWsFSzpg77cR8EAShVjA53U2xU1c3wvNJORttcW3eRLkwZ46aCku/OFUFMxuLXCKPjzDCr7DsfzpDaSgcOdZmT7mx6+YS3yhsBjNw/zbKtbHN5d/ZCLvggQKIsO4Dqk2KGoo8TRBRrshuEJoeMyb/iNw4ycAF/NMWGA6IGquKIvSechJrkKynSAl3TP1vjzBFNQYvHktAgCvl47bDUM+9PPLWZny0wZF4+Us7CA7+jnAuzKJ56gkjJEx4ZtrFR+XrkJuttIxZdzdkRncSbNj/QuO3KmM0rNvPbo7aJrVhhu0jqjpwbctXuPI1xNeVxGrMFp4vCHUxI4tVt5nhIPJineJStau2Kbb2r5QFig2kjNVaLm65S0jebOi13U9x+M/A7UVLOJ9/YEvhCLeDGrcF5Cd6kQU+SgdsRL7hEI0MsJIcNGc5J2zohI3LIbbZ+YIRe6wTTYz7H1t0/7cpSCD6IuqGIqmH3DG9ReeYm/EWuqS3x5MxuWTAMbRq02Qs4THkaq3D2DAx+6k1cBP3z93HonKnsaUWHV43YxPxyQja1rYXcMFrmt+8MmNiK3et009XST80tktCGz1o6gpQcaDbptK7lfqu8VpK7KYMFR1oVmf/aE2aVUA3ozYk1XXMTeMnOhSNdclDKwASEvnWqQb6QCCudOYrRs5xRrcOG8sFjfMRidf2UPKyRUnKo5Uv6vNDVCdLpkBo1G5dNNQjJ9nfV8hAbTtB705l9nMTlSIaqBvX4PQ1JY56rlGJHaN1IvwN7CTj1/WsdJOWg15ONVU3JkxGPRYKAjdpEyZX9aIkOYMBiFsb5oEeSsnAIcCfoVgE3tYNlFH2AOq3SqHX9xAghphC4WcVvwltR0T5gTclHFmt9W2zG7CCanzkgu8yAdwy6hoJOrRQ0Bv4h1KZilGpMbpRnkrMBzq/kUFkaS6Tf6+DnyN3aRNsCFVzjpeODBkpf5VgaOO9pbvyRfoAxj7bms8hWvc2wk406oWqRdMLr5VVyo5jUACRfAWYmbjYiB62xp/Faegi2FnJTMGhZb6gmhOaCMZUlM9UA1a71EtOfAx+j02m5FwRLMJ1qYfM5RsQASXL76vX7il4+2T6Wa3djv/F+bSMXW07oaQgNWo2ChpFGfcXodCAuxzcuLVOfO8JNG4eHDHEYD2I8HscxL5beieNtZhP1Pqso8GL/puLQuiSvgpFB4Cegmy+PeQq5FmNk0kc7/af1smTsoa/TeI84DIq2yGZaAdFc6AY4YpojAD2qUi7f8n8RkTIV5P3B6k8raDgBZl+LMhD3y7NXdhpEDTPeZrv4XkQ7SIvHWjvD6P4pJVrUWC++ehl40q/y08yK5G3j1S1JMwTAO22ZBZLZBvf24m3V3u+Bap/q9ATQbAk9h2QH5FMOmP3u+1tIbTN+y2sdob7WXMlOmk9aiwN5KfEaQoHtPtLt2r+fRTssLyFQ2bdjlESzu8IlskHRUTkWeqyJpPsnT665QCxLOj6WLCTTbdZRwmHUWBk7OqyIIv/vQbS1LtIQSwA7fRzYuyvZWQeEtqDs6aM2u03F+V9Ff3xHaEW2UKaXB/uz6UP/msnGDa+OR7ht9t0z1FRtBQLJH9mI5fESOGUpIwCFq3IEbXmQou9Svcyh8UISczC4V+iEX/SeDw1ZoprzO2iAu3Dft6E2oMnBuj3AWPQTUvRRoV8+dj+P2adB5yQJSlhXpU7CW/8HQfLoiVQN9/SpSc4ROvgtQgmQ06Fqo4mWuFlivWa+rX5wSOMKpskHtZ0lvnqywXFO+lL7XllI9i0XUl5eB2v5gzci9jSafWUABFEfJTAd0cKx1M2MEmNYwk/RjTWJxqtFJJ76enb2MjsSe1dLc+2VzD4do0jh7KVLX53H+vb2KTiDTtVH3gPKvwICVstZUGPhAYSBa5bbIulV9gLNlZ04PzN9O02EyEXTsmQ6R1n15EecFd01KEyOYeRPhxRhI7pdls4QGE9zL3ZDViVrslvFtyRQndrN8atTCTMYECvqKQvVnhS1LCdvu7UTJgKz7kWMGUp2uzRfbFENiPJV6rVFzU01dMR8RPjsDXigxU+RiUOPc/35Akve9FnDUMnYkc/zKu2PAqCaOM7TpGDwQmVUcnmgKfFdLK13bs8m6NmCpN4vaT03Z0/K6EORgqx5AwZHSGBKlxRKp79ubAz7ChU7Nz0num8vcBnvoH4Cg+us6vd69bfK+Ix4N0pkZTeGA/Bh3VXHzpsSFiTaZkIJQiYDFKFstwFnO06F1EYSgZZyMsK0EvMSPXceN4iJPcj0ZT6fVhTyLLxyVAWB55+7XI6MN+312tFV/WRVz4Yc7kABi/WsFlqg9f7QhTxVHkK8w1cYcnpNsjSotNw3HH3FDTJXKwkpYfiPCtrXyxXSlTbVNMsjv4mP9nemeSwU6UBbUOU0iLRwaRpOzV1tGwjvpPa36MKZ6yO6r4VvtIQbaukC4KPR0G0Nq1VOkDDK/lK5BGUNTq41tJmLNt0q9/oBYbNs0Sr3ZsaKTeDPqwEGDLN6BgfBwHP8kjYYsuVtQNwWRkVQBhyfjMAOZsVlW1sW/eCFBpdO2QMsW+MlBiB94qv/RxTcTnq4MjKw3A9J2w/KOcGlUbsh5QaBUMguDiRf+2vMb8JFkT8vftIlU/JELqaM3STZPGNlgwMZi6wwwClcu6FWnncRpADztyvdaOCWBFwApnBNa8OYWSzfgFzT0nPtS4Uxts2DE0cQtt65xaAjc+QzeY2382MjXBxDA7rLLkuqrCPPDwNXz2+pYWV+32nlLrHyaK4/ER3p+HNAmQbNzLmlL7Ovdhg+8xiHasVkuaL6uyoM3LW/8DjQwQHYpOC3hAuqM7GaORqkZ2mYJGnDj3/4+MLrSxOOQIH+SMtPzwEUGPOXCi8raJ8qXVVw9ixDmxLidDrmPRIrjiPj03pTrY/4seKw0Ldj5dQfdDky5GShW4xjXZ1qAODa7Buid7GmwD7Dxob8W+X6GTMluGRW8qmIc91QbsdHKF7+F9aTOL4Pf/XC1CDfju41LIQtlaMoPpNw633RzSdcjliQPnjSb8W6uJ+qocnll3FTh4xLAp5Iu5mMmABKbxTDXVYs/R+rVVD8F7LFUOIyvcIAKru9QD0keekaL3HDX+8GLP2m8oXUiXwv0mnXFTkPmAomkNFFb82+c6/Ban361hfG71oNlPc7FSKqIHH5ODHk9IFURRPVF3/I13rR1inxNsalo8peu/UmhFYMmWDCyRHrbP65QqKX99+SQLvoB51qbV/Q66b3VbJhFykK+uNrwzPKxtPP4lb1kfujofL4ZqSxU3K4D6FTVYBQzha/ArV5l4z0thrPRhJj53m1vW4gFFLL8W7glwS6FvZL0AJhMLjUOx4D/Zac8oEd6puyN9P50HXrR14W/1SjGeqmWrC25HGnmIz4v6ab2QPB/ZZKx+7XlK7h/0qoHXOBej56gpurnhL19lAnXm6r5sY6L9d0usUGdUn7Pp9Iam4DgKAYD725gNh5fjYeYcSwz8U/+xKcNud8/dcRyG5G8VUVDDWmUVEiAlDJI0Gl3IikL3REq/r+fEcHQ73ioG7V5YTO9oVmmkuOlEVGvM5mDjAXinE3vgH8aiL1Xl4yusjPs92zBeherxFqGDUNzXcNNABZVgOI7CtEW3kj2upOE4DiXBtx48nzg9/Hs+WRwnoBuDlLHeuUfbkfeFUvbml88jrCOfk6you3Lb4VibWjlxqvu5rS1T8Krneh5rsWad6glG2vsLzIVV72Ancx9OS8V1EcKcOfNn2wjrjYJi3g8dwBO6mJmBjtEM7P8Orr489jaIz1m7wHSCi25FNTY0y6Ob9AspgHpubw+ITkXZhdfX2pQiUKOf501Ov1XGyezh/jeGhqI0i9kex6C/CGNIgfM8EdOYqAio1cYYcOXZ9riXGGbDwQ5odLM/YDCHzp8KtAT7voRdiFfOjyC0XwwT3XpfF9OZFBu3s2NioBjw7xHYo7vdqB1qFDDguf+vXK6RlZlU9du3sgubLCeZlxMl5c0SB4ag0xgRch+v9PqDQMdPE6XMVl+T6IDMJdaxAkgASd/2qeNl1bkEpKZf9wzod2wf/+uPVlK9jt9nnJN0mFsmkOyybFJ86rhez5gtHllL0nTC0H5xhTUU1Zxp6G2ad2R2ADRes64GN0oPxospGEucViwWYKnHGt53/r+lk3XS75WohCDPaUYIo0EhIE1TY7L6pe2dDv+9SqyNvyDoD+z4PKEM4loXzn69JP9VcTNeLbnn+gCn2kvEj1dcBVdaqRJfi27AdDZrIuLrI8ydWxJxrS3NVSurAQ7j918MIFDkKjGYP5CmUprdg04OTvGHxsiG2ZQneDVLNzWk2lAQbk3V5pCXB48Mw1k8Z/nQeWJkoly+6ChJoWTtC8TvlWFs5az5jYluJ83taiUehYLtaAcqZAXCU2l/tuSVn+bLxnnIPySZRfRGWfipecMatrpWF3SUpA8PaP6TQYoYv9ICnFejlQ6ylIftiTkWYKPQoNAJenWF7faLd6eEaqyM9HpLY1P7Ze4oI8PFiEq2x2ATtejgaouFE+iT6NDA3a3Po3lL/h/NBiOz+P1rABmFO8cPrXrH6AkiBL5DrpeMM3FPeqASvOojbNTlm/6ZGO/3RKQoln3lT5I+4D9MUam4K7Te+UjS3US7oKWNZeSN8C8NCpaLcCeuy5x64Uw1lcBArp4sJEIcwb3uLas5gYqONWzjI5dyzHplTBals3fD7l8uPbWs6urwhqgPU532e/QyGu3mHzMI1jE+zWopq6/0JJ/boFMknMVeIzPMydU1J21YXntD441trshyibQHSqieUVhwl0/ShKsEBUI/xXTBJmWIe3FLiiLkwQcWFqkdsFRo0gi2QV2/YCUvgBDU6sfdo4OCQvKMypGIVG+lZ+ZbOTdhSuQ0huhtDBwvuY377NOTDJpvi1pXNPCJ3Wv6KE8PtRwgYShQe4Uo1JCFhki79Dj3lggZ3gUW2m0muJlswvZ6ggkyhatMNJefA8evE1PQl1ktQORN8qwvRAy0U9WzSrARY1uL6eQWauC6irCdoqIkCtnDbL7TUKS+J2C02kX/HYjHqQROcSfu3ARPRcuX74LDHqGF+INhm6vxtYQOJwf5eHNX03LqMsf59YLCxN/mcxVrUnnXqy9cibcIhikSoxhODhHE8nky63qa7U+LHrbSoUhEVUgJjoQIpyS2s8XIGr+3VVp7nr6eV1V4XN0mS47xAT1bPKbJsOqLAJdUe/5mBQqf7MTRmcRVqpXYl2v5dvk/fS5uXMHNEs1RgTkQnrt9hqoO4UrD9DbRsSfgQ8X9RG3liDpwNEpunpzU6jpEJIr8IpvHHzkN9xfhrSIwCbkoMPB4kpoGi6IwHioYEYp4Cs0G3QMA2Dg4jV5g5g/KeTaM0KVGMNSdgymFCgg0p0I/xddT5LdTdZTXY3yFpjWPF3O3NN3z5Qi+aA1XSwD8uhYTj8xsbqrO8xZZd4D6hTsQh+7F3lSc/ZbhEv/DO59oTPAtViV7iLCsdcefIik4yhqJuDV/di40ZZOyPo+jPFTHC9UOSBBMGYp61GV2s1LNaGp5T4SsvSASm+Z8FlBrK9uxunDgSz+/DLEjs6GerJN44/vzChhxC0w9D3HGrTiTGr6lfxnZccKtLJDO99Nt+SMH4fqmsTz3yCmZGN8v/xKehDXMG6Yv4TrAYZyMo87XREfdJxrqJuOTuleuaEf9Mmn/nznjq5YiXZA1lqVYDRWQyqSoPQjXcVlUZNX2MVT92vebdXF0H/tTdg4W4dUYcP7pMEU/WYTvcCgymVtFlPFd0pMVDyQMR/iqi0r1h/wBNuwRd7WhnpYmCmUGQJ6T9fxkWdjmhfnmp7PzXqllCgTvYpc4IG5Ss3pp+TrdiO8ccrMsa73LpQMjE+oCDOGKFZjQJ45SN2jK7Z2taCOmOOMI5PE0fO5RtGrkpZ1I4gj6rPLqKemiHqA4glhX+TpbG/y6pun0uHj+Yff/ZREJzNDfVeGaWkoXKHspMx8QkFSOswxMrmMcCz/yIfT/cOAmzG3YVOMbQHN0oYvEEY2U5yaV31ibp7AiMqZBRb+xm+vORPyVrRhBr8RfmPSeGwvMgH0HpL+HvI+FfoX4SfaasZnW+iUkEce5ZoSVwMuf8xWw2GQVjyRJXFTBgVEWASbdQhJxjZraI3Q7gkHLaJIqtI77JJ46OMQWAO2jL9dtJiLJWcjQpUAnNsuVnvVTWMiqHAsI2qhtie/U40iEBtB17L1WkGol13ZbJlbRk1wSyl2CHFoX6rC1F92j8eojHsz/YM5qKiB3Ql8H49yu6E4NAjdeDgIlKNe4z9QRl9vCXPMc4BgG4DYpRVPfuQy7ORjb+i9TsosVPUCYzXv+KR2aC10STVfg+OGxpHJFZ5lWIE9zkFA0prDjLeTBRQori2Ewvotshx8k5ZZXtja9Ap+pDx1YXI9RBPBbNnd/E7eeJhuerlBPtvk/lq912iMIGAzGFYo3HWDxozR+B0pM8JDQK0tLgj2pWvXEPVohDZJENujn7rB+XZtn/oaBtcr/ZOe+fiBtHQqDEyloUHo+pkmrjyuCjRKmO3y6Kf0vCQrxPj9UQn3JMB6C+qjAyiNwGRiTo9wiEJOMO/E7pM63H1mWUKQt1/UgChY978+8m4mt1xbm6QHL4TLpPb8nhdlMHdLVaJCnF1m17zrfO5cPud1oFYdP0Cp8tu45eRTD8Ayd0hajfT9yqPeY5n5ElTXpkPPH+KQdfHwtNmwe6lsBEkl+FSlP2vqCeJSnP98q4DPhwl3LYW13D3evhDQ0FKiBKIaELn0KHitRQYb4u1V0EjBMTWVb14BLmR/ddYSS2LPjUoZivPUY7JVFF+HP4rnqge40OlPDzsIC7E/JBPKKYzVHSuJ2L4rE6JeqhjMPiAfyFByOwdJlsZnUnQIcVbo9djfozVb38IBLLzCCO0P4lnjIoLeKt5dn7mpi+hF4nMSMpk03jV/CFk7buBNLTGE3zUpyq1HBcdqxeaJP7E4lO7IJGdAIf+5RlwBFp7+53OmS4Jm4R+l68p1mMgSTzUy0fQhohNvPMz5Px4z8Tzr59CK/WLuBiCwjmCLSCiPFOdF9k6p/vB2WQ99BBUHoQwAB48r+4w8jVCvEm2Chga44j5g8elUEvkG907V7uPfQvbjieeIxg1mpHDARtAwMonmUDU7JgrAxKYlOe1YNh+UScYP4q+xiJGAQnKToLmhz14cdbNhCo1jUmHDuJ+8NYAunxiJ5dkvpk0a2C5tsSzM00NZtSt421CyrPkGTl1CD4ELPVv3itesOkhxY1q1S6OzZIZDk/01CnzvxVfJa7zX0QxzNvV56TnY837oPyDUmpU/RM+IeHp4VQCjqYVcXyUeMws2N0skuk1v+9czBbdFuD4+REwzy73QNBc9gLtya5i0N3ZsEO0oOBcNOPjRgl1Pg+iMTfeXHNMFe7VACrIu/2r3Zg1qw1XB35sCq6iFS+js2Zzlh899vIn7VcmCVlHY6k0EXb218KLQK3snCpHmtbjgRs17GrIbL3TQrKVZgjSoBkbJDCNUSgcYA9Kg3R7D9WzRlybdmTaeP1rcmrEFkXPB/wumAO02B3F+5OxhN1/msY2e0rFn6w1XKWcwUvywB2znzA0uOPu/DhVPZ9l11NNj2aPEojmUpk5JgbHSHPzJYbBVxkXF0PapA/bzf977V+Eg271DJ68bcUn2dDa4K7ewEEhrslgAQ+6e+TqTwGaaANJ8OJX3UPhKmy6GRmBadvIOwG/nLv6OPq45+QYkoiCVNju/pOMnVKdcOErOQgNsY7kKqV6TXPumQEusSGRCtWpy/TF+Ml2WLNo1XsuccZR5bcQ8IomsTp67hamKmA4zwTR6f1RZUmgHMyxN4ys6ZvJmfFdGmnhAJW93ObtLYojCEOqVF+qxrncN4aNwIKHQsEsDUduYPP3hFnVJ0AWoGf3T9HXs9t5QyME/Tc74nHrxN4aifT4203M6dpfEd9vIv2MD/DrfZTrhHO+73lDLUYRhTOakEyAXvqcXiGGpph56dYpuuXGWYG2KTIS4r7xVlEXis0zDitm3uIUDzgfyIY+4WNm2mYMacfF8j9t1FYpYJ0HrJ7NnfWP9E+0B/EXN58CFwhpD6QcjD7xQT4JQe3jiPyGxV0XFITvgWcDKVs21FICWRAs2Vs6JovTriDflx2t1/ZzmPWvucDIcDb/wznDXzEHMcszADRWl8pfqvQweO8Yge+zvPgsG1/eSYfsMV/hc7ZnP6/krsn7W0fj/jV3R+AE9b9nhB2jZ4pjuYmDv6srdiMePfLappxCpmXVjqTRg4CM2Kg9EwSTRBx/+MIm3FdfipP0Om42dnG3CY2q/r6DyHdkNXVZwv/m2LBQS565ei7HfTteamrvVbNdE+2Hy8J5kh1T+lNilOdXcHyCJEpTFq1c6YCcjVFHhVUiEn2OEHF2Bi4UptqLsMLTtCGnl01ZUz4lNos9exbeNI9gyOyFB8wNRMuijZlXbWdeHL3RD3mSpYW8jVS7A5i2ef/ACaBt93SOV5nE1Py1vS1EaL4MMCICwdlAVFJLhRh9+TyLOHNW3SuS7utu3328r+mNvWHud/Rd12kg+VhsLzlvOQjgiOQlrZyp6WPoZ8Kfgu3sqIgPeVmijW50cijcm9/633Q3F6x46i4mJxoEQamH93qWUpPTyWhwRrD+KmgoBFnbaWKjfLqVlsvxfS7L/4HZC11V6ud9QyVuCqQVv1+uNF4sN5msXBVGspgI1v/BMiu/Ys7PFQXOuhdcnVSxCtVjGV9Zv+3kDlYNZsvxcgEegGD9DKGQj8emXJ/9NNRyFKBKvUVIrwWIY1SWfTcYbU0PFRER8J8Jh8/7osEbTqnB6C+3Fo70+0+XcrT1PcZuBOg8SOTkXJFGehr+W4/D2JmTkSuqsBsrgN5FukeEvw2tToKFaCXRZPsvjM/3HOtmICBhCIWNtA/fzJ/Shr862aXXvhMYYzmWNY10blOtdq5YIMK8bI3Tzc9B0Q18WFZEyzQ1Emr1Gm41w+2GXEtmy8lOzJQtHbIdNs9pmnHJAZ9Ia0EuC6/n7/x1dSyQ21DITAPgtTK6mDyukYN3zPo9A+aPjaooCNbF4vIGh7wd5Tcl06W5aWm+FiPD1iFpGidrTYCJxSIGSntuFkcZbYIYbZo41xHPwAQ97XUY9dB0HPt1asAZcgV6hE9bOG2YvXSbSP2rTkBhuKqjND4kgXeZQ13TpK/Qu6Kk0EEBi/er0kxVI8D6zedArJkc3CVx1OrbkTnDHxBZjUjS0CkpAfrEsjX4IMYpiBlwR7vUpo3BzsffTWKyAlKc4WQ00z5aQctQmWa7jBR8r2sDoPDItneek7pOUHF0X6j3gr7ZmZ4SCuKAgNImVHyuHxLqOJaobqvoZ5so7hUdWAPjCOP0b2488tUyPQb25HUvtghR2BRJ3lvSOYmKeeqzFuUNMXWOsXe3rA4ySi6+gCgJdly0bsyizAhTsUWU2pYqVWk0aGKs27BafXwj8aKCDEfkKEndHvffSZGlSg5Y1OoQ8qtLiA2wdpy2vHI+A+gr6J8xgpAzyulMMey1xcuyldZtEJYel14GZASqOBMy9LD11LpagyaN1U5OI8fK0dg7nrmbS8jgVHiy/beRK3x97/Ir9Fc+/HpjbNraVnskTB1mM1ZYhMBrFt0j3Vlgf23EeOqpkX/q0TbXeUZUeU6/LBFU3zCoO8s3xyswI/k16wnjv9PIfs1vqV82YBrwcyhCSOdqZ737b8eJdx6tmH0Yf5eXrK/1hd+Pxz4jRQD5GBRx3ZHN2LMgiCB4E+5EOY8JoIG5Y9uM961Sfjr9dG0OtiJ1RW4QANmkQLApXI2OQ0kFXXCPPh6i7nin9u7KghlPAii8Rz6ct/+JjmBQYrQwp8PDM6ikweoRVuav1A5c63ubpD0+jaz0B7iXaWIBGdem+30OWqcIhCvHxhb7v5nup3uTAtKIyBy917flcyFRhKK4sLSHWsc/FYFFKLyXzDNwtAbHoIqJ/wQfqbpAbEp5pFoKGvw6stJuBN/5xDqTR9fuIBf1G7Tutm4u7qjd93rXJn5TYvF/XXSkg1YmUImHbwZmFgS3fkqV+aowqGj3+0J3DQ+avI2dzp+Jk316mf64sV3EzMGvJkt4KOhoVtElj54mtjEf6G/KYT3pAmOETcfj7UXnkicO+tXXQZr/EkTwIW3cikkB0lJY9/rMzzjg582M73bKXjQfFbQ" title="Mekko Graphics Chart">
            <a:extLst>
              <a:ext uri="{FF2B5EF4-FFF2-40B4-BE49-F238E27FC236}">
                <a16:creationId xmlns:a16="http://schemas.microsoft.com/office/drawing/2014/main" id="{185D4B02-302C-456E-9978-888327D41DA3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630996" y="1073149"/>
            <a:ext cx="10301639" cy="6309982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1905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tx1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2122" tIns="42122" rIns="42122" bIns="42122" rtlCol="0" anchor="ctr"/>
          <a:lstStyle/>
          <a:p>
            <a:pPr algn="ctr"/>
            <a:endParaRPr lang="en-US" sz="1843">
              <a:solidFill>
                <a:schemeClr val="tx1"/>
              </a:solidFill>
            </a:endParaRPr>
          </a:p>
        </p:txBody>
      </p:sp>
      <p:sp>
        <p:nvSpPr>
          <p:cNvPr id="26" name="btfpNotesBox449138">
            <a:extLst>
              <a:ext uri="{FF2B5EF4-FFF2-40B4-BE49-F238E27FC236}">
                <a16:creationId xmlns:a16="http://schemas.microsoft.com/office/drawing/2014/main" id="{12BABE1A-6418-4A65-BAB9-0F251657688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gray">
          <a:xfrm>
            <a:off x="352391" y="6308342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 (‘Cost Transformation in Telco – Sources of Value’)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0104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btfpColumnIndicatorGroup2">
            <a:extLst>
              <a:ext uri="{FF2B5EF4-FFF2-40B4-BE49-F238E27FC236}">
                <a16:creationId xmlns:a16="http://schemas.microsoft.com/office/drawing/2014/main" id="{CC81DF09-86FC-D2C7-0673-F326617283A7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53" name="btfpColumnGapBlocker977414">
              <a:extLst>
                <a:ext uri="{FF2B5EF4-FFF2-40B4-BE49-F238E27FC236}">
                  <a16:creationId xmlns:a16="http://schemas.microsoft.com/office/drawing/2014/main" id="{D5190E22-CA28-7C1A-4AF7-AF14C2D82DC8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51" name="btfpColumnGapBlocker880990">
              <a:extLst>
                <a:ext uri="{FF2B5EF4-FFF2-40B4-BE49-F238E27FC236}">
                  <a16:creationId xmlns:a16="http://schemas.microsoft.com/office/drawing/2014/main" id="{754039A1-EA65-34B5-7BA0-4B4C4F42E37E}"/>
                </a:ext>
              </a:extLst>
            </p:cNvPr>
            <p:cNvSpPr/>
            <p:nvPr/>
          </p:nvSpPr>
          <p:spPr bwMode="gray">
            <a:xfrm>
              <a:off x="7837752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9" name="btfpColumnIndicator957711">
              <a:extLst>
                <a:ext uri="{FF2B5EF4-FFF2-40B4-BE49-F238E27FC236}">
                  <a16:creationId xmlns:a16="http://schemas.microsoft.com/office/drawing/2014/main" id="{A686D9D9-25F4-6E9C-ED72-C0FB0BBB6359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btfpColumnIndicator143771">
              <a:extLst>
                <a:ext uri="{FF2B5EF4-FFF2-40B4-BE49-F238E27FC236}">
                  <a16:creationId xmlns:a16="http://schemas.microsoft.com/office/drawing/2014/main" id="{826A94D2-4533-F755-EE43-963B1DE78B54}"/>
                </a:ext>
              </a:extLst>
            </p:cNvPr>
            <p:cNvCxnSpPr/>
            <p:nvPr/>
          </p:nvCxnSpPr>
          <p:spPr bwMode="gray">
            <a:xfrm flipV="1">
              <a:off x="837829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btfpColumnGapBlocker909123">
              <a:extLst>
                <a:ext uri="{FF2B5EF4-FFF2-40B4-BE49-F238E27FC236}">
                  <a16:creationId xmlns:a16="http://schemas.microsoft.com/office/drawing/2014/main" id="{5C6A1B1B-AD01-85DA-B715-3BAF69BDACF6}"/>
                </a:ext>
              </a:extLst>
            </p:cNvPr>
            <p:cNvSpPr/>
            <p:nvPr/>
          </p:nvSpPr>
          <p:spPr bwMode="gray">
            <a:xfrm>
              <a:off x="381370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3" name="btfpColumnIndicator437508">
              <a:extLst>
                <a:ext uri="{FF2B5EF4-FFF2-40B4-BE49-F238E27FC236}">
                  <a16:creationId xmlns:a16="http://schemas.microsoft.com/office/drawing/2014/main" id="{5384CCE6-1B3A-6293-5D54-2048B7DD2AD6}"/>
                </a:ext>
              </a:extLst>
            </p:cNvPr>
            <p:cNvCxnSpPr/>
            <p:nvPr/>
          </p:nvCxnSpPr>
          <p:spPr bwMode="gray">
            <a:xfrm flipV="1">
              <a:off x="783775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btfpColumnIndicator593522">
              <a:extLst>
                <a:ext uri="{FF2B5EF4-FFF2-40B4-BE49-F238E27FC236}">
                  <a16:creationId xmlns:a16="http://schemas.microsoft.com/office/drawing/2014/main" id="{B7160A07-E1A4-FDA1-B9FE-DC705D88C290}"/>
                </a:ext>
              </a:extLst>
            </p:cNvPr>
            <p:cNvCxnSpPr/>
            <p:nvPr/>
          </p:nvCxnSpPr>
          <p:spPr bwMode="gray">
            <a:xfrm flipV="1">
              <a:off x="435424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btfpColumnGapBlocker298929">
              <a:extLst>
                <a:ext uri="{FF2B5EF4-FFF2-40B4-BE49-F238E27FC236}">
                  <a16:creationId xmlns:a16="http://schemas.microsoft.com/office/drawing/2014/main" id="{CF70E40E-844B-2488-93C8-E881BB3681C8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37" name="btfpColumnIndicator559840">
              <a:extLst>
                <a:ext uri="{FF2B5EF4-FFF2-40B4-BE49-F238E27FC236}">
                  <a16:creationId xmlns:a16="http://schemas.microsoft.com/office/drawing/2014/main" id="{BA0228E7-F45F-0D77-1BF8-3BB5E09C807A}"/>
                </a:ext>
              </a:extLst>
            </p:cNvPr>
            <p:cNvCxnSpPr/>
            <p:nvPr/>
          </p:nvCxnSpPr>
          <p:spPr bwMode="gray">
            <a:xfrm flipV="1">
              <a:off x="381370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btfpColumnIndicator208799">
              <a:extLst>
                <a:ext uri="{FF2B5EF4-FFF2-40B4-BE49-F238E27FC236}">
                  <a16:creationId xmlns:a16="http://schemas.microsoft.com/office/drawing/2014/main" id="{BE9838C0-D073-AB09-E220-8097F30002EC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btfpColumnIndicatorGroup1">
            <a:extLst>
              <a:ext uri="{FF2B5EF4-FFF2-40B4-BE49-F238E27FC236}">
                <a16:creationId xmlns:a16="http://schemas.microsoft.com/office/drawing/2014/main" id="{25C726F6-CCAC-1B03-0BB1-65CC0F19D4A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52" name="btfpColumnGapBlocker783043">
              <a:extLst>
                <a:ext uri="{FF2B5EF4-FFF2-40B4-BE49-F238E27FC236}">
                  <a16:creationId xmlns:a16="http://schemas.microsoft.com/office/drawing/2014/main" id="{3892F9DE-0EB4-4785-FE14-49E76E420E94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50" name="btfpColumnGapBlocker370146">
              <a:extLst>
                <a:ext uri="{FF2B5EF4-FFF2-40B4-BE49-F238E27FC236}">
                  <a16:creationId xmlns:a16="http://schemas.microsoft.com/office/drawing/2014/main" id="{C8F18990-EB42-CC3E-6361-552F0BF84DC5}"/>
                </a:ext>
              </a:extLst>
            </p:cNvPr>
            <p:cNvSpPr/>
            <p:nvPr/>
          </p:nvSpPr>
          <p:spPr bwMode="gray">
            <a:xfrm>
              <a:off x="7837752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8" name="btfpColumnIndicator346490">
              <a:extLst>
                <a:ext uri="{FF2B5EF4-FFF2-40B4-BE49-F238E27FC236}">
                  <a16:creationId xmlns:a16="http://schemas.microsoft.com/office/drawing/2014/main" id="{B957E23C-DC6F-CE9A-52E9-8075EED64CD7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btfpColumnIndicator318455">
              <a:extLst>
                <a:ext uri="{FF2B5EF4-FFF2-40B4-BE49-F238E27FC236}">
                  <a16:creationId xmlns:a16="http://schemas.microsoft.com/office/drawing/2014/main" id="{BD12EE71-246D-EF4F-D6BF-C6268A655320}"/>
                </a:ext>
              </a:extLst>
            </p:cNvPr>
            <p:cNvCxnSpPr/>
            <p:nvPr/>
          </p:nvCxnSpPr>
          <p:spPr bwMode="gray">
            <a:xfrm flipV="1">
              <a:off x="837829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btfpColumnGapBlocker937059">
              <a:extLst>
                <a:ext uri="{FF2B5EF4-FFF2-40B4-BE49-F238E27FC236}">
                  <a16:creationId xmlns:a16="http://schemas.microsoft.com/office/drawing/2014/main" id="{82928134-FB83-844D-A212-69C1411D5A62}"/>
                </a:ext>
              </a:extLst>
            </p:cNvPr>
            <p:cNvSpPr/>
            <p:nvPr/>
          </p:nvSpPr>
          <p:spPr bwMode="gray">
            <a:xfrm>
              <a:off x="381370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2" name="btfpColumnIndicator965501">
              <a:extLst>
                <a:ext uri="{FF2B5EF4-FFF2-40B4-BE49-F238E27FC236}">
                  <a16:creationId xmlns:a16="http://schemas.microsoft.com/office/drawing/2014/main" id="{8995CDDE-786C-3274-E7CA-A1447DCA7D3B}"/>
                </a:ext>
              </a:extLst>
            </p:cNvPr>
            <p:cNvCxnSpPr/>
            <p:nvPr/>
          </p:nvCxnSpPr>
          <p:spPr bwMode="gray">
            <a:xfrm flipV="1">
              <a:off x="783775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btfpColumnIndicator516315">
              <a:extLst>
                <a:ext uri="{FF2B5EF4-FFF2-40B4-BE49-F238E27FC236}">
                  <a16:creationId xmlns:a16="http://schemas.microsoft.com/office/drawing/2014/main" id="{93D7D0CA-B42A-E0E9-FD9E-CC14D65816ED}"/>
                </a:ext>
              </a:extLst>
            </p:cNvPr>
            <p:cNvCxnSpPr/>
            <p:nvPr/>
          </p:nvCxnSpPr>
          <p:spPr bwMode="gray">
            <a:xfrm flipV="1">
              <a:off x="435424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btfpColumnGapBlocker120675">
              <a:extLst>
                <a:ext uri="{FF2B5EF4-FFF2-40B4-BE49-F238E27FC236}">
                  <a16:creationId xmlns:a16="http://schemas.microsoft.com/office/drawing/2014/main" id="{B0E8FAB8-BF94-D743-CBFE-1D69DBBC5431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36" name="btfpColumnIndicator234636">
              <a:extLst>
                <a:ext uri="{FF2B5EF4-FFF2-40B4-BE49-F238E27FC236}">
                  <a16:creationId xmlns:a16="http://schemas.microsoft.com/office/drawing/2014/main" id="{AF48BD4F-AE0B-CC54-C2C8-F31D760D3264}"/>
                </a:ext>
              </a:extLst>
            </p:cNvPr>
            <p:cNvCxnSpPr/>
            <p:nvPr/>
          </p:nvCxnSpPr>
          <p:spPr bwMode="gray">
            <a:xfrm flipV="1">
              <a:off x="381370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btfpColumnIndicator920463">
              <a:extLst>
                <a:ext uri="{FF2B5EF4-FFF2-40B4-BE49-F238E27FC236}">
                  <a16:creationId xmlns:a16="http://schemas.microsoft.com/office/drawing/2014/main" id="{D0C80238-50C7-858A-D0C7-6A790F94C34B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76ED54-9A2E-BAAC-1552-973830E82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Leverage high-level industry benchmarks to quickly assess whether the client has high current state technology spend</a:t>
            </a:r>
          </a:p>
        </p:txBody>
      </p:sp>
      <p:grpSp>
        <p:nvGrpSpPr>
          <p:cNvPr id="13" name="btfpStatusSticker811370">
            <a:extLst>
              <a:ext uri="{FF2B5EF4-FFF2-40B4-BE49-F238E27FC236}">
                <a16:creationId xmlns:a16="http://schemas.microsoft.com/office/drawing/2014/main" id="{90A2175C-DA9E-6CFC-FA30-B41D623FAEA9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9605733" y="955344"/>
            <a:ext cx="2256067" cy="235611"/>
            <a:chOff x="-3895105" y="876300"/>
            <a:chExt cx="2256067" cy="235611"/>
          </a:xfrm>
        </p:grpSpPr>
        <p:sp>
          <p:nvSpPr>
            <p:cNvPr id="14" name="btfpStatusStickerText811370">
              <a:extLst>
                <a:ext uri="{FF2B5EF4-FFF2-40B4-BE49-F238E27FC236}">
                  <a16:creationId xmlns:a16="http://schemas.microsoft.com/office/drawing/2014/main" id="{C68F2A6E-7FE1-E9E9-C283-4219989A862F}"/>
                </a:ext>
              </a:extLst>
            </p:cNvPr>
            <p:cNvSpPr txBox="1"/>
            <p:nvPr/>
          </p:nvSpPr>
          <p:spPr bwMode="gray">
            <a:xfrm>
              <a:off x="-3895105" y="876300"/>
              <a:ext cx="2256067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non-exhaustive</a:t>
              </a:r>
            </a:p>
          </p:txBody>
        </p:sp>
        <p:cxnSp>
          <p:nvCxnSpPr>
            <p:cNvPr id="15" name="btfpStatusStickerLine811370">
              <a:extLst>
                <a:ext uri="{FF2B5EF4-FFF2-40B4-BE49-F238E27FC236}">
                  <a16:creationId xmlns:a16="http://schemas.microsoft.com/office/drawing/2014/main" id="{A48BEABD-8311-333B-BE51-C8E187FBBA89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3895105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2" name="btfpTable191355">
            <a:extLst>
              <a:ext uri="{FF2B5EF4-FFF2-40B4-BE49-F238E27FC236}">
                <a16:creationId xmlns:a16="http://schemas.microsoft.com/office/drawing/2014/main" id="{3DE62387-CAE2-7019-2415-83B1C7D16FBB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330199" y="1712913"/>
          <a:ext cx="7399216" cy="4686300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2413160">
                  <a:extLst>
                    <a:ext uri="{9D8B030D-6E8A-4147-A177-3AD203B41FA5}">
                      <a16:colId xmlns:a16="http://schemas.microsoft.com/office/drawing/2014/main" val="285604730"/>
                    </a:ext>
                  </a:extLst>
                </a:gridCol>
                <a:gridCol w="2493028">
                  <a:extLst>
                    <a:ext uri="{9D8B030D-6E8A-4147-A177-3AD203B41FA5}">
                      <a16:colId xmlns:a16="http://schemas.microsoft.com/office/drawing/2014/main" val="1515222807"/>
                    </a:ext>
                  </a:extLst>
                </a:gridCol>
                <a:gridCol w="2493028">
                  <a:extLst>
                    <a:ext uri="{9D8B030D-6E8A-4147-A177-3AD203B41FA5}">
                      <a16:colId xmlns:a16="http://schemas.microsoft.com/office/drawing/2014/main" val="3079284237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50"/>
                        <a:t>Industry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50"/>
                        <a:t>Median IT Spend as % of Revenue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50"/>
                        <a:t>Median IT FTEs as % of Employees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33197034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/>
                        <a:t>Banking &amp; Financial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~7-8%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~11-12%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009979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/>
                        <a:t>Software and Internet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~6-8%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~5-6%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976128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/>
                        <a:t>Media &amp; Entertainment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~5-6%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~6-7%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38819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/>
                        <a:t>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~5-6%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~3-4%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113709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/>
                        <a:t>Healthcare Providers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~4-5%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~2-3%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94278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/>
                        <a:t>Telecommunications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~4-5%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~9-10%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89777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/>
                        <a:t>Pharmaceuticals and Life Sciences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~3-4%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~3-4%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086718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/>
                        <a:t>Insurance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~3-4%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~15-16%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01127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/>
                        <a:t>Utilities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~2-3%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~7-8%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313989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/>
                        <a:t>Transportation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~2-3%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~2-3%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04582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/>
                        <a:t>Consumer 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~2-3%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~2-3%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311345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/>
                        <a:t>Industrial 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~1-2%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~1-2%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002159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/>
                        <a:t>Food and Beverage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~1-2%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~1-2%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48199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/>
                        <a:t>Retail and Wholesale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~1-2%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~2-3%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43183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/>
                        <a:t>Chemicals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~1-2%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~2-3%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101449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/>
                        <a:t>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~0-1%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~5-6%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81402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/>
                        <a:t>Construction, Materials and Natural 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~0-1%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1050"/>
                        <a:t>~1-2%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804491"/>
                  </a:ext>
                </a:extLst>
              </a:tr>
            </a:tbl>
          </a:graphicData>
        </a:graphic>
      </p:graphicFrame>
      <p:grpSp>
        <p:nvGrpSpPr>
          <p:cNvPr id="58" name="btfpColumnHeaderBox170413">
            <a:extLst>
              <a:ext uri="{FF2B5EF4-FFF2-40B4-BE49-F238E27FC236}">
                <a16:creationId xmlns:a16="http://schemas.microsoft.com/office/drawing/2014/main" id="{496F926A-A00F-82AA-7D5E-064BEC68C388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8378296" y="1270000"/>
            <a:ext cx="3483504" cy="318997"/>
            <a:chOff x="8378296" y="1270000"/>
            <a:chExt cx="3483504" cy="318997"/>
          </a:xfrm>
        </p:grpSpPr>
        <p:sp>
          <p:nvSpPr>
            <p:cNvPr id="56" name="btfpColumnHeaderBoxText170413">
              <a:extLst>
                <a:ext uri="{FF2B5EF4-FFF2-40B4-BE49-F238E27FC236}">
                  <a16:creationId xmlns:a16="http://schemas.microsoft.com/office/drawing/2014/main" id="{ED77A68B-C1FB-F37D-E859-53E1B4C68894}"/>
                </a:ext>
              </a:extLst>
            </p:cNvPr>
            <p:cNvSpPr txBox="1"/>
            <p:nvPr/>
          </p:nvSpPr>
          <p:spPr bwMode="gray">
            <a:xfrm>
              <a:off x="8378296" y="1270000"/>
              <a:ext cx="3483504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>
                  <a:solidFill>
                    <a:srgbClr val="000000"/>
                  </a:solidFill>
                </a:rPr>
                <a:t>Approach for using benchmarks </a:t>
              </a:r>
            </a:p>
          </p:txBody>
        </p:sp>
        <p:cxnSp>
          <p:nvCxnSpPr>
            <p:cNvPr id="57" name="btfpColumnHeaderBoxLine170413">
              <a:extLst>
                <a:ext uri="{FF2B5EF4-FFF2-40B4-BE49-F238E27FC236}">
                  <a16:creationId xmlns:a16="http://schemas.microsoft.com/office/drawing/2014/main" id="{700BE8CC-7432-357E-20D8-D121A1E6AA36}"/>
                </a:ext>
              </a:extLst>
            </p:cNvPr>
            <p:cNvCxnSpPr/>
            <p:nvPr/>
          </p:nvCxnSpPr>
          <p:spPr bwMode="gray">
            <a:xfrm>
              <a:off x="8378296" y="1588997"/>
              <a:ext cx="348350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btfpColumnHeaderBox372324">
            <a:extLst>
              <a:ext uri="{FF2B5EF4-FFF2-40B4-BE49-F238E27FC236}">
                <a16:creationId xmlns:a16="http://schemas.microsoft.com/office/drawing/2014/main" id="{EC25F416-9067-5B86-7E8A-0C183B998327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30200" y="1270000"/>
            <a:ext cx="7507552" cy="315913"/>
            <a:chOff x="330200" y="1270001"/>
            <a:chExt cx="3483504" cy="195714"/>
          </a:xfrm>
        </p:grpSpPr>
        <p:sp>
          <p:nvSpPr>
            <p:cNvPr id="62" name="btfpColumnHeaderBoxText372324">
              <a:extLst>
                <a:ext uri="{FF2B5EF4-FFF2-40B4-BE49-F238E27FC236}">
                  <a16:creationId xmlns:a16="http://schemas.microsoft.com/office/drawing/2014/main" id="{10EB5D0A-F3AD-997B-9EDB-5BF5BE7EA5C2}"/>
                </a:ext>
              </a:extLst>
            </p:cNvPr>
            <p:cNvSpPr txBox="1"/>
            <p:nvPr/>
          </p:nvSpPr>
          <p:spPr bwMode="gray">
            <a:xfrm>
              <a:off x="330200" y="1270001"/>
              <a:ext cx="3483504" cy="195714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>
                  <a:solidFill>
                    <a:srgbClr val="000000"/>
                  </a:solidFill>
                </a:rPr>
                <a:t>Median benchmarks for IT spend and FTEs across industries</a:t>
              </a:r>
            </a:p>
          </p:txBody>
        </p:sp>
        <p:cxnSp>
          <p:nvCxnSpPr>
            <p:cNvPr id="63" name="btfpColumnHeaderBoxLine372324">
              <a:extLst>
                <a:ext uri="{FF2B5EF4-FFF2-40B4-BE49-F238E27FC236}">
                  <a16:creationId xmlns:a16="http://schemas.microsoft.com/office/drawing/2014/main" id="{828DC351-BE38-D886-C4F0-C2DE91C14CA3}"/>
                </a:ext>
              </a:extLst>
            </p:cNvPr>
            <p:cNvCxnSpPr/>
            <p:nvPr/>
          </p:nvCxnSpPr>
          <p:spPr bwMode="gray">
            <a:xfrm>
              <a:off x="330200" y="1465715"/>
              <a:ext cx="348350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btfpBulletedList525467">
            <a:extLst>
              <a:ext uri="{FF2B5EF4-FFF2-40B4-BE49-F238E27FC236}">
                <a16:creationId xmlns:a16="http://schemas.microsoft.com/office/drawing/2014/main" id="{047A10BA-B897-D31B-26B8-01A260B68F7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gray">
          <a:xfrm>
            <a:off x="8378295" y="1712913"/>
            <a:ext cx="3483504" cy="3889133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US" sz="1200"/>
              <a:t>Refer to median benchmark figures for </a:t>
            </a:r>
            <a:r>
              <a:rPr lang="en-US" sz="1200" b="1"/>
              <a:t>high-level assessment </a:t>
            </a:r>
            <a:r>
              <a:rPr lang="en-US" sz="1200"/>
              <a:t>of client's current tech spend</a:t>
            </a:r>
          </a:p>
          <a:p>
            <a:pPr lvl="1"/>
            <a:r>
              <a:rPr lang="en-US" sz="1000"/>
              <a:t>Median IT spend as a % of revenue serves as a proxy for </a:t>
            </a:r>
            <a:r>
              <a:rPr lang="en-US" sz="1000" b="1"/>
              <a:t>relative IT spend</a:t>
            </a:r>
            <a:r>
              <a:rPr lang="en-US" sz="1000"/>
              <a:t> compared to other functions</a:t>
            </a:r>
          </a:p>
          <a:p>
            <a:pPr lvl="1"/>
            <a:r>
              <a:rPr lang="en-US" sz="1000"/>
              <a:t>Median IT FTEs as a % of employees serves as a </a:t>
            </a:r>
            <a:r>
              <a:rPr lang="en-US" sz="1000" b="1"/>
              <a:t>proxy for absolute IT spend </a:t>
            </a:r>
          </a:p>
          <a:p>
            <a:pPr lvl="1"/>
            <a:r>
              <a:rPr lang="en-US" sz="1000"/>
              <a:t>Note that in some industries, </a:t>
            </a:r>
            <a:r>
              <a:rPr lang="en-US" sz="1000" b="1"/>
              <a:t>relative IT spend may decrease </a:t>
            </a:r>
            <a:r>
              <a:rPr lang="en-US" sz="1000"/>
              <a:t>as revenues increase, but </a:t>
            </a:r>
            <a:r>
              <a:rPr lang="en-US" sz="1000" b="1"/>
              <a:t>absolute spend may rise </a:t>
            </a:r>
            <a:r>
              <a:rPr lang="en-US" sz="1000"/>
              <a:t>due to increasing overall costs</a:t>
            </a:r>
          </a:p>
          <a:p>
            <a:pPr lvl="2"/>
            <a:r>
              <a:rPr lang="en-US" sz="1000"/>
              <a:t>If this occurs, test with the client to determine whether the increase in absolute spend is due to supporting business growth or poor cost controls</a:t>
            </a:r>
          </a:p>
          <a:p>
            <a:r>
              <a:rPr lang="en-US" sz="1200"/>
              <a:t>For a more detailed view, </a:t>
            </a:r>
            <a:r>
              <a:rPr lang="en-US" sz="1200" b="1"/>
              <a:t>contact RDS for latest benchmark data</a:t>
            </a:r>
          </a:p>
          <a:p>
            <a:pPr lvl="1"/>
            <a:r>
              <a:rPr lang="en-US" sz="1000"/>
              <a:t>Figures shown represent </a:t>
            </a:r>
            <a:r>
              <a:rPr lang="en-US" sz="1000" b="1"/>
              <a:t>median figures </a:t>
            </a:r>
            <a:r>
              <a:rPr lang="en-US" sz="1000"/>
              <a:t>for each industry</a:t>
            </a:r>
          </a:p>
          <a:p>
            <a:pPr lvl="1"/>
            <a:r>
              <a:rPr lang="en-US" sz="1000"/>
              <a:t>Within an industry, there may be </a:t>
            </a:r>
            <a:r>
              <a:rPr lang="en-US" sz="1000" b="1"/>
              <a:t>large variation by company size</a:t>
            </a:r>
            <a:r>
              <a:rPr lang="en-US" sz="1000"/>
              <a:t> (larger organizations typically have lower IT spend as a % of revenue compared to smaller ones)</a:t>
            </a:r>
          </a:p>
        </p:txBody>
      </p:sp>
      <p:sp>
        <p:nvSpPr>
          <p:cNvPr id="6" name="btfpCallout767245">
            <a:extLst>
              <a:ext uri="{FF2B5EF4-FFF2-40B4-BE49-F238E27FC236}">
                <a16:creationId xmlns:a16="http://schemas.microsoft.com/office/drawing/2014/main" id="{C967B0D7-EB53-1680-DE78-FCBD443C615E}"/>
              </a:ext>
            </a:extLst>
          </p:cNvPr>
          <p:cNvSpPr/>
          <p:nvPr/>
        </p:nvSpPr>
        <p:spPr bwMode="gray">
          <a:xfrm>
            <a:off x="5411094" y="646253"/>
            <a:ext cx="4092623" cy="556769"/>
          </a:xfrm>
          <a:prstGeom prst="wedgeRectCallout">
            <a:avLst>
              <a:gd name="adj1" fmla="val -22743"/>
              <a:gd name="adj2" fmla="val 76537"/>
            </a:avLst>
          </a:prstGeom>
          <a:solidFill>
            <a:srgbClr val="FFFFFF"/>
          </a:solidFill>
          <a:ln w="19050">
            <a:solidFill>
              <a:srgbClr val="5C5C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73" tIns="72073" rIns="72073" bIns="7207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indent="0">
              <a:spcBef>
                <a:spcPts val="0"/>
              </a:spcBef>
              <a:buNone/>
            </a:pPr>
            <a:r>
              <a:rPr lang="en-US" sz="1000">
                <a:solidFill>
                  <a:srgbClr val="5C5C5C"/>
                </a:solidFill>
              </a:rPr>
              <a:t>Use client spend metrics above median benchmark figures as initial flag for potentially higher-than-optimal tech spend, to be further assessed in client interviews and with Vector experts.</a:t>
            </a:r>
          </a:p>
        </p:txBody>
      </p:sp>
      <p:grpSp>
        <p:nvGrpSpPr>
          <p:cNvPr id="9" name="btfpRunningAgenda2Level822447">
            <a:extLst>
              <a:ext uri="{FF2B5EF4-FFF2-40B4-BE49-F238E27FC236}">
                <a16:creationId xmlns:a16="http://schemas.microsoft.com/office/drawing/2014/main" id="{E6D896D6-3452-E459-6796-2E96BADAB92E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-1" y="944429"/>
            <a:ext cx="4673902" cy="257442"/>
            <a:chOff x="-1" y="876300"/>
            <a:chExt cx="4673902" cy="257442"/>
          </a:xfrm>
        </p:grpSpPr>
        <p:sp>
          <p:nvSpPr>
            <p:cNvPr id="10" name="btfpRunningAgenda2LevelBarLeft822447">
              <a:extLst>
                <a:ext uri="{FF2B5EF4-FFF2-40B4-BE49-F238E27FC236}">
                  <a16:creationId xmlns:a16="http://schemas.microsoft.com/office/drawing/2014/main" id="{A3E37283-EDEC-E47B-8D19-98F106F2EBA6}"/>
                </a:ext>
              </a:extLst>
            </p:cNvPr>
            <p:cNvSpPr/>
            <p:nvPr/>
          </p:nvSpPr>
          <p:spPr bwMode="gray">
            <a:xfrm>
              <a:off x="-1" y="876300"/>
              <a:ext cx="1767179" cy="257442"/>
            </a:xfrm>
            <a:custGeom>
              <a:avLst/>
              <a:gdLst>
                <a:gd name="connsiteX0" fmla="*/ 883475 w 1870925"/>
                <a:gd name="connsiteY0" fmla="*/ 0 h 257442"/>
                <a:gd name="connsiteX1" fmla="*/ 1870925 w 1870925"/>
                <a:gd name="connsiteY1" fmla="*/ 0 h 257442"/>
                <a:gd name="connsiteX2" fmla="*/ 1816204 w 1870925"/>
                <a:gd name="connsiteY2" fmla="*/ 257442 h 257442"/>
                <a:gd name="connsiteX3" fmla="*/ 0 w 1870925"/>
                <a:gd name="connsiteY3" fmla="*/ 257442 h 257442"/>
                <a:gd name="connsiteX0" fmla="*/ 883475 w 1816204"/>
                <a:gd name="connsiteY0" fmla="*/ 0 h 257442"/>
                <a:gd name="connsiteX1" fmla="*/ 828755 w 1816204"/>
                <a:gd name="connsiteY1" fmla="*/ 257442 h 257442"/>
                <a:gd name="connsiteX2" fmla="*/ 1816204 w 1816204"/>
                <a:gd name="connsiteY2" fmla="*/ 257442 h 257442"/>
                <a:gd name="connsiteX3" fmla="*/ 0 w 1816204"/>
                <a:gd name="connsiteY3" fmla="*/ 257442 h 257442"/>
                <a:gd name="connsiteX0" fmla="*/ 883475 w 883475"/>
                <a:gd name="connsiteY0" fmla="*/ 0 h 257442"/>
                <a:gd name="connsiteX1" fmla="*/ 828755 w 883475"/>
                <a:gd name="connsiteY1" fmla="*/ 257442 h 257442"/>
                <a:gd name="connsiteX2" fmla="*/ 1 w 883475"/>
                <a:gd name="connsiteY2" fmla="*/ 257442 h 257442"/>
                <a:gd name="connsiteX3" fmla="*/ 0 w 883475"/>
                <a:gd name="connsiteY3" fmla="*/ 257442 h 257442"/>
                <a:gd name="connsiteX0" fmla="*/ 883474 w 883474"/>
                <a:gd name="connsiteY0" fmla="*/ 0 h 257442"/>
                <a:gd name="connsiteX1" fmla="*/ 828754 w 883474"/>
                <a:gd name="connsiteY1" fmla="*/ 257442 h 257442"/>
                <a:gd name="connsiteX2" fmla="*/ 0 w 883474"/>
                <a:gd name="connsiteY2" fmla="*/ 257442 h 257442"/>
                <a:gd name="connsiteX3" fmla="*/ 1 w 883474"/>
                <a:gd name="connsiteY3" fmla="*/ 0 h 257442"/>
                <a:gd name="connsiteX0" fmla="*/ 1051790 w 1051790"/>
                <a:gd name="connsiteY0" fmla="*/ 0 h 257442"/>
                <a:gd name="connsiteX1" fmla="*/ 828754 w 1051790"/>
                <a:gd name="connsiteY1" fmla="*/ 257442 h 257442"/>
                <a:gd name="connsiteX2" fmla="*/ 0 w 1051790"/>
                <a:gd name="connsiteY2" fmla="*/ 257442 h 257442"/>
                <a:gd name="connsiteX3" fmla="*/ 1 w 1051790"/>
                <a:gd name="connsiteY3" fmla="*/ 0 h 257442"/>
                <a:gd name="connsiteX0" fmla="*/ 1051790 w 1051790"/>
                <a:gd name="connsiteY0" fmla="*/ 0 h 257442"/>
                <a:gd name="connsiteX1" fmla="*/ 997069 w 1051790"/>
                <a:gd name="connsiteY1" fmla="*/ 257442 h 257442"/>
                <a:gd name="connsiteX2" fmla="*/ 0 w 1051790"/>
                <a:gd name="connsiteY2" fmla="*/ 257442 h 257442"/>
                <a:gd name="connsiteX3" fmla="*/ 1 w 1051790"/>
                <a:gd name="connsiteY3" fmla="*/ 0 h 257442"/>
                <a:gd name="connsiteX0" fmla="*/ 1051790 w 1051790"/>
                <a:gd name="connsiteY0" fmla="*/ 0 h 257442"/>
                <a:gd name="connsiteX1" fmla="*/ 997069 w 1051790"/>
                <a:gd name="connsiteY1" fmla="*/ 257442 h 257442"/>
                <a:gd name="connsiteX2" fmla="*/ 0 w 1051790"/>
                <a:gd name="connsiteY2" fmla="*/ 257442 h 257442"/>
                <a:gd name="connsiteX3" fmla="*/ 1 w 1051790"/>
                <a:gd name="connsiteY3" fmla="*/ 0 h 257442"/>
                <a:gd name="connsiteX0" fmla="*/ 1051790 w 1051790"/>
                <a:gd name="connsiteY0" fmla="*/ 0 h 257442"/>
                <a:gd name="connsiteX1" fmla="*/ 997069 w 1051790"/>
                <a:gd name="connsiteY1" fmla="*/ 257442 h 257442"/>
                <a:gd name="connsiteX2" fmla="*/ 0 w 1051790"/>
                <a:gd name="connsiteY2" fmla="*/ 257442 h 257442"/>
                <a:gd name="connsiteX3" fmla="*/ 0 w 1051790"/>
                <a:gd name="connsiteY3" fmla="*/ 0 h 257442"/>
                <a:gd name="connsiteX0" fmla="*/ 1152780 w 1152780"/>
                <a:gd name="connsiteY0" fmla="*/ 0 h 257442"/>
                <a:gd name="connsiteX1" fmla="*/ 997069 w 1152780"/>
                <a:gd name="connsiteY1" fmla="*/ 257442 h 257442"/>
                <a:gd name="connsiteX2" fmla="*/ 0 w 1152780"/>
                <a:gd name="connsiteY2" fmla="*/ 257442 h 257442"/>
                <a:gd name="connsiteX3" fmla="*/ 0 w 1152780"/>
                <a:gd name="connsiteY3" fmla="*/ 0 h 257442"/>
                <a:gd name="connsiteX0" fmla="*/ 1152780 w 1152780"/>
                <a:gd name="connsiteY0" fmla="*/ 0 h 257442"/>
                <a:gd name="connsiteX1" fmla="*/ 1098059 w 1152780"/>
                <a:gd name="connsiteY1" fmla="*/ 257442 h 257442"/>
                <a:gd name="connsiteX2" fmla="*/ 0 w 1152780"/>
                <a:gd name="connsiteY2" fmla="*/ 257442 h 257442"/>
                <a:gd name="connsiteX3" fmla="*/ 0 w 1152780"/>
                <a:gd name="connsiteY3" fmla="*/ 0 h 257442"/>
                <a:gd name="connsiteX0" fmla="*/ 1152780 w 1152780"/>
                <a:gd name="connsiteY0" fmla="*/ 0 h 257442"/>
                <a:gd name="connsiteX1" fmla="*/ 1098059 w 1152780"/>
                <a:gd name="connsiteY1" fmla="*/ 257442 h 257442"/>
                <a:gd name="connsiteX2" fmla="*/ 0 w 1152780"/>
                <a:gd name="connsiteY2" fmla="*/ 257442 h 257442"/>
                <a:gd name="connsiteX3" fmla="*/ 0 w 1152780"/>
                <a:gd name="connsiteY3" fmla="*/ 0 h 257442"/>
                <a:gd name="connsiteX0" fmla="*/ 1152780 w 1152780"/>
                <a:gd name="connsiteY0" fmla="*/ 0 h 257442"/>
                <a:gd name="connsiteX1" fmla="*/ 1098059 w 1152780"/>
                <a:gd name="connsiteY1" fmla="*/ 257442 h 257442"/>
                <a:gd name="connsiteX2" fmla="*/ 0 w 1152780"/>
                <a:gd name="connsiteY2" fmla="*/ 257442 h 257442"/>
                <a:gd name="connsiteX3" fmla="*/ 0 w 1152780"/>
                <a:gd name="connsiteY3" fmla="*/ 0 h 257442"/>
                <a:gd name="connsiteX0" fmla="*/ 1305064 w 1305064"/>
                <a:gd name="connsiteY0" fmla="*/ 0 h 257442"/>
                <a:gd name="connsiteX1" fmla="*/ 1098059 w 1305064"/>
                <a:gd name="connsiteY1" fmla="*/ 257442 h 257442"/>
                <a:gd name="connsiteX2" fmla="*/ 0 w 1305064"/>
                <a:gd name="connsiteY2" fmla="*/ 257442 h 257442"/>
                <a:gd name="connsiteX3" fmla="*/ 0 w 1305064"/>
                <a:gd name="connsiteY3" fmla="*/ 0 h 257442"/>
                <a:gd name="connsiteX0" fmla="*/ 1305064 w 1305064"/>
                <a:gd name="connsiteY0" fmla="*/ 0 h 257442"/>
                <a:gd name="connsiteX1" fmla="*/ 1250343 w 1305064"/>
                <a:gd name="connsiteY1" fmla="*/ 257442 h 257442"/>
                <a:gd name="connsiteX2" fmla="*/ 0 w 1305064"/>
                <a:gd name="connsiteY2" fmla="*/ 257442 h 257442"/>
                <a:gd name="connsiteX3" fmla="*/ 0 w 1305064"/>
                <a:gd name="connsiteY3" fmla="*/ 0 h 257442"/>
                <a:gd name="connsiteX0" fmla="*/ 1305064 w 1305064"/>
                <a:gd name="connsiteY0" fmla="*/ 0 h 257442"/>
                <a:gd name="connsiteX1" fmla="*/ 1250343 w 1305064"/>
                <a:gd name="connsiteY1" fmla="*/ 257442 h 257442"/>
                <a:gd name="connsiteX2" fmla="*/ 0 w 1305064"/>
                <a:gd name="connsiteY2" fmla="*/ 257442 h 257442"/>
                <a:gd name="connsiteX3" fmla="*/ 0 w 1305064"/>
                <a:gd name="connsiteY3" fmla="*/ 0 h 257442"/>
                <a:gd name="connsiteX0" fmla="*/ 1305064 w 1305064"/>
                <a:gd name="connsiteY0" fmla="*/ 0 h 257442"/>
                <a:gd name="connsiteX1" fmla="*/ 1250343 w 1305064"/>
                <a:gd name="connsiteY1" fmla="*/ 257442 h 257442"/>
                <a:gd name="connsiteX2" fmla="*/ 0 w 1305064"/>
                <a:gd name="connsiteY2" fmla="*/ 257442 h 257442"/>
                <a:gd name="connsiteX3" fmla="*/ 0 w 1305064"/>
                <a:gd name="connsiteY3" fmla="*/ 0 h 257442"/>
                <a:gd name="connsiteX0" fmla="*/ 1406054 w 1406054"/>
                <a:gd name="connsiteY0" fmla="*/ 0 h 257442"/>
                <a:gd name="connsiteX1" fmla="*/ 1250343 w 1406054"/>
                <a:gd name="connsiteY1" fmla="*/ 257442 h 257442"/>
                <a:gd name="connsiteX2" fmla="*/ 0 w 1406054"/>
                <a:gd name="connsiteY2" fmla="*/ 257442 h 257442"/>
                <a:gd name="connsiteX3" fmla="*/ 0 w 1406054"/>
                <a:gd name="connsiteY3" fmla="*/ 0 h 257442"/>
                <a:gd name="connsiteX0" fmla="*/ 1406054 w 1406054"/>
                <a:gd name="connsiteY0" fmla="*/ 0 h 257442"/>
                <a:gd name="connsiteX1" fmla="*/ 1351333 w 1406054"/>
                <a:gd name="connsiteY1" fmla="*/ 257442 h 257442"/>
                <a:gd name="connsiteX2" fmla="*/ 0 w 1406054"/>
                <a:gd name="connsiteY2" fmla="*/ 257442 h 257442"/>
                <a:gd name="connsiteX3" fmla="*/ 0 w 1406054"/>
                <a:gd name="connsiteY3" fmla="*/ 0 h 257442"/>
                <a:gd name="connsiteX0" fmla="*/ 1406054 w 1406054"/>
                <a:gd name="connsiteY0" fmla="*/ 0 h 257442"/>
                <a:gd name="connsiteX1" fmla="*/ 1351333 w 1406054"/>
                <a:gd name="connsiteY1" fmla="*/ 257442 h 257442"/>
                <a:gd name="connsiteX2" fmla="*/ 0 w 1406054"/>
                <a:gd name="connsiteY2" fmla="*/ 257442 h 257442"/>
                <a:gd name="connsiteX3" fmla="*/ 0 w 1406054"/>
                <a:gd name="connsiteY3" fmla="*/ 0 h 257442"/>
                <a:gd name="connsiteX0" fmla="*/ 1406054 w 1406054"/>
                <a:gd name="connsiteY0" fmla="*/ 0 h 257442"/>
                <a:gd name="connsiteX1" fmla="*/ 1351333 w 1406054"/>
                <a:gd name="connsiteY1" fmla="*/ 257442 h 257442"/>
                <a:gd name="connsiteX2" fmla="*/ 0 w 1406054"/>
                <a:gd name="connsiteY2" fmla="*/ 257442 h 257442"/>
                <a:gd name="connsiteX3" fmla="*/ 0 w 1406054"/>
                <a:gd name="connsiteY3" fmla="*/ 0 h 257442"/>
                <a:gd name="connsiteX0" fmla="*/ 1574369 w 1574369"/>
                <a:gd name="connsiteY0" fmla="*/ 0 h 257442"/>
                <a:gd name="connsiteX1" fmla="*/ 1351333 w 1574369"/>
                <a:gd name="connsiteY1" fmla="*/ 257442 h 257442"/>
                <a:gd name="connsiteX2" fmla="*/ 0 w 1574369"/>
                <a:gd name="connsiteY2" fmla="*/ 257442 h 257442"/>
                <a:gd name="connsiteX3" fmla="*/ 0 w 1574369"/>
                <a:gd name="connsiteY3" fmla="*/ 0 h 257442"/>
                <a:gd name="connsiteX0" fmla="*/ 1574369 w 1574369"/>
                <a:gd name="connsiteY0" fmla="*/ 0 h 257442"/>
                <a:gd name="connsiteX1" fmla="*/ 1519648 w 1574369"/>
                <a:gd name="connsiteY1" fmla="*/ 257442 h 257442"/>
                <a:gd name="connsiteX2" fmla="*/ 0 w 1574369"/>
                <a:gd name="connsiteY2" fmla="*/ 257442 h 257442"/>
                <a:gd name="connsiteX3" fmla="*/ 0 w 1574369"/>
                <a:gd name="connsiteY3" fmla="*/ 0 h 257442"/>
                <a:gd name="connsiteX0" fmla="*/ 1574369 w 1574369"/>
                <a:gd name="connsiteY0" fmla="*/ 0 h 257442"/>
                <a:gd name="connsiteX1" fmla="*/ 1519648 w 1574369"/>
                <a:gd name="connsiteY1" fmla="*/ 257442 h 257442"/>
                <a:gd name="connsiteX2" fmla="*/ 0 w 1574369"/>
                <a:gd name="connsiteY2" fmla="*/ 257442 h 257442"/>
                <a:gd name="connsiteX3" fmla="*/ 0 w 1574369"/>
                <a:gd name="connsiteY3" fmla="*/ 0 h 257442"/>
                <a:gd name="connsiteX0" fmla="*/ 1574369 w 1574369"/>
                <a:gd name="connsiteY0" fmla="*/ 0 h 257442"/>
                <a:gd name="connsiteX1" fmla="*/ 1519648 w 1574369"/>
                <a:gd name="connsiteY1" fmla="*/ 257442 h 257442"/>
                <a:gd name="connsiteX2" fmla="*/ 0 w 1574369"/>
                <a:gd name="connsiteY2" fmla="*/ 257442 h 257442"/>
                <a:gd name="connsiteX3" fmla="*/ 0 w 1574369"/>
                <a:gd name="connsiteY3" fmla="*/ 0 h 257442"/>
                <a:gd name="connsiteX0" fmla="*/ 1726655 w 1726655"/>
                <a:gd name="connsiteY0" fmla="*/ 0 h 257442"/>
                <a:gd name="connsiteX1" fmla="*/ 1519648 w 1726655"/>
                <a:gd name="connsiteY1" fmla="*/ 257442 h 257442"/>
                <a:gd name="connsiteX2" fmla="*/ 0 w 1726655"/>
                <a:gd name="connsiteY2" fmla="*/ 257442 h 257442"/>
                <a:gd name="connsiteX3" fmla="*/ 0 w 1726655"/>
                <a:gd name="connsiteY3" fmla="*/ 0 h 257442"/>
                <a:gd name="connsiteX0" fmla="*/ 1726655 w 1726655"/>
                <a:gd name="connsiteY0" fmla="*/ 0 h 257442"/>
                <a:gd name="connsiteX1" fmla="*/ 1671934 w 1726655"/>
                <a:gd name="connsiteY1" fmla="*/ 257442 h 257442"/>
                <a:gd name="connsiteX2" fmla="*/ 0 w 1726655"/>
                <a:gd name="connsiteY2" fmla="*/ 257442 h 257442"/>
                <a:gd name="connsiteX3" fmla="*/ 0 w 1726655"/>
                <a:gd name="connsiteY3" fmla="*/ 0 h 257442"/>
                <a:gd name="connsiteX0" fmla="*/ 1726655 w 1726655"/>
                <a:gd name="connsiteY0" fmla="*/ 0 h 257442"/>
                <a:gd name="connsiteX1" fmla="*/ 1671934 w 1726655"/>
                <a:gd name="connsiteY1" fmla="*/ 257442 h 257442"/>
                <a:gd name="connsiteX2" fmla="*/ 0 w 1726655"/>
                <a:gd name="connsiteY2" fmla="*/ 257442 h 257442"/>
                <a:gd name="connsiteX3" fmla="*/ 0 w 1726655"/>
                <a:gd name="connsiteY3" fmla="*/ 0 h 257442"/>
                <a:gd name="connsiteX0" fmla="*/ 1726655 w 1726655"/>
                <a:gd name="connsiteY0" fmla="*/ 0 h 257442"/>
                <a:gd name="connsiteX1" fmla="*/ 1671934 w 1726655"/>
                <a:gd name="connsiteY1" fmla="*/ 257442 h 257442"/>
                <a:gd name="connsiteX2" fmla="*/ 0 w 1726655"/>
                <a:gd name="connsiteY2" fmla="*/ 257442 h 257442"/>
                <a:gd name="connsiteX3" fmla="*/ 0 w 1726655"/>
                <a:gd name="connsiteY3" fmla="*/ 0 h 257442"/>
                <a:gd name="connsiteX0" fmla="*/ 1824887 w 1824887"/>
                <a:gd name="connsiteY0" fmla="*/ 0 h 257442"/>
                <a:gd name="connsiteX1" fmla="*/ 1671934 w 1824887"/>
                <a:gd name="connsiteY1" fmla="*/ 257442 h 257442"/>
                <a:gd name="connsiteX2" fmla="*/ 0 w 1824887"/>
                <a:gd name="connsiteY2" fmla="*/ 257442 h 257442"/>
                <a:gd name="connsiteX3" fmla="*/ 0 w 1824887"/>
                <a:gd name="connsiteY3" fmla="*/ 0 h 257442"/>
                <a:gd name="connsiteX0" fmla="*/ 1824887 w 1824887"/>
                <a:gd name="connsiteY0" fmla="*/ 0 h 257442"/>
                <a:gd name="connsiteX1" fmla="*/ 1770166 w 1824887"/>
                <a:gd name="connsiteY1" fmla="*/ 257442 h 257442"/>
                <a:gd name="connsiteX2" fmla="*/ 0 w 1824887"/>
                <a:gd name="connsiteY2" fmla="*/ 257442 h 257442"/>
                <a:gd name="connsiteX3" fmla="*/ 0 w 1824887"/>
                <a:gd name="connsiteY3" fmla="*/ 0 h 257442"/>
                <a:gd name="connsiteX0" fmla="*/ 1824887 w 1824887"/>
                <a:gd name="connsiteY0" fmla="*/ 0 h 257442"/>
                <a:gd name="connsiteX1" fmla="*/ 1770166 w 1824887"/>
                <a:gd name="connsiteY1" fmla="*/ 257442 h 257442"/>
                <a:gd name="connsiteX2" fmla="*/ 0 w 1824887"/>
                <a:gd name="connsiteY2" fmla="*/ 257442 h 257442"/>
                <a:gd name="connsiteX3" fmla="*/ 0 w 1824887"/>
                <a:gd name="connsiteY3" fmla="*/ 0 h 257442"/>
                <a:gd name="connsiteX0" fmla="*/ 1824887 w 1824887"/>
                <a:gd name="connsiteY0" fmla="*/ 0 h 257442"/>
                <a:gd name="connsiteX1" fmla="*/ 1770166 w 1824887"/>
                <a:gd name="connsiteY1" fmla="*/ 257442 h 257442"/>
                <a:gd name="connsiteX2" fmla="*/ 0 w 1824887"/>
                <a:gd name="connsiteY2" fmla="*/ 257442 h 257442"/>
                <a:gd name="connsiteX3" fmla="*/ 0 w 1824887"/>
                <a:gd name="connsiteY3" fmla="*/ 0 h 257442"/>
                <a:gd name="connsiteX0" fmla="*/ 1993201 w 1993201"/>
                <a:gd name="connsiteY0" fmla="*/ 0 h 257442"/>
                <a:gd name="connsiteX1" fmla="*/ 1770166 w 1993201"/>
                <a:gd name="connsiteY1" fmla="*/ 257442 h 257442"/>
                <a:gd name="connsiteX2" fmla="*/ 0 w 1993201"/>
                <a:gd name="connsiteY2" fmla="*/ 257442 h 257442"/>
                <a:gd name="connsiteX3" fmla="*/ 0 w 1993201"/>
                <a:gd name="connsiteY3" fmla="*/ 0 h 257442"/>
                <a:gd name="connsiteX0" fmla="*/ 1993201 w 1993201"/>
                <a:gd name="connsiteY0" fmla="*/ 0 h 257442"/>
                <a:gd name="connsiteX1" fmla="*/ 1938480 w 1993201"/>
                <a:gd name="connsiteY1" fmla="*/ 257442 h 257442"/>
                <a:gd name="connsiteX2" fmla="*/ 0 w 1993201"/>
                <a:gd name="connsiteY2" fmla="*/ 257442 h 257442"/>
                <a:gd name="connsiteX3" fmla="*/ 0 w 1993201"/>
                <a:gd name="connsiteY3" fmla="*/ 0 h 257442"/>
                <a:gd name="connsiteX0" fmla="*/ 1993201 w 1993201"/>
                <a:gd name="connsiteY0" fmla="*/ 0 h 257442"/>
                <a:gd name="connsiteX1" fmla="*/ 1938480 w 1993201"/>
                <a:gd name="connsiteY1" fmla="*/ 257442 h 257442"/>
                <a:gd name="connsiteX2" fmla="*/ 0 w 1993201"/>
                <a:gd name="connsiteY2" fmla="*/ 257442 h 257442"/>
                <a:gd name="connsiteX3" fmla="*/ 0 w 1993201"/>
                <a:gd name="connsiteY3" fmla="*/ 0 h 257442"/>
                <a:gd name="connsiteX0" fmla="*/ 1993201 w 1993201"/>
                <a:gd name="connsiteY0" fmla="*/ 0 h 257442"/>
                <a:gd name="connsiteX1" fmla="*/ 1938480 w 1993201"/>
                <a:gd name="connsiteY1" fmla="*/ 257442 h 257442"/>
                <a:gd name="connsiteX2" fmla="*/ 0 w 1993201"/>
                <a:gd name="connsiteY2" fmla="*/ 257442 h 257442"/>
                <a:gd name="connsiteX3" fmla="*/ 0 w 1993201"/>
                <a:gd name="connsiteY3" fmla="*/ 0 h 257442"/>
                <a:gd name="connsiteX0" fmla="*/ 2094191 w 2094191"/>
                <a:gd name="connsiteY0" fmla="*/ 0 h 257442"/>
                <a:gd name="connsiteX1" fmla="*/ 1938480 w 2094191"/>
                <a:gd name="connsiteY1" fmla="*/ 257442 h 257442"/>
                <a:gd name="connsiteX2" fmla="*/ 0 w 2094191"/>
                <a:gd name="connsiteY2" fmla="*/ 257442 h 257442"/>
                <a:gd name="connsiteX3" fmla="*/ 0 w 2094191"/>
                <a:gd name="connsiteY3" fmla="*/ 0 h 257442"/>
                <a:gd name="connsiteX0" fmla="*/ 2094191 w 2094191"/>
                <a:gd name="connsiteY0" fmla="*/ 0 h 257442"/>
                <a:gd name="connsiteX1" fmla="*/ 2039470 w 2094191"/>
                <a:gd name="connsiteY1" fmla="*/ 257442 h 257442"/>
                <a:gd name="connsiteX2" fmla="*/ 0 w 2094191"/>
                <a:gd name="connsiteY2" fmla="*/ 257442 h 257442"/>
                <a:gd name="connsiteX3" fmla="*/ 0 w 2094191"/>
                <a:gd name="connsiteY3" fmla="*/ 0 h 257442"/>
                <a:gd name="connsiteX0" fmla="*/ 2094191 w 2094191"/>
                <a:gd name="connsiteY0" fmla="*/ 0 h 257442"/>
                <a:gd name="connsiteX1" fmla="*/ 2039470 w 2094191"/>
                <a:gd name="connsiteY1" fmla="*/ 257442 h 257442"/>
                <a:gd name="connsiteX2" fmla="*/ 0 w 2094191"/>
                <a:gd name="connsiteY2" fmla="*/ 257442 h 257442"/>
                <a:gd name="connsiteX3" fmla="*/ 0 w 2094191"/>
                <a:gd name="connsiteY3" fmla="*/ 0 h 257442"/>
                <a:gd name="connsiteX0" fmla="*/ 2094191 w 2094191"/>
                <a:gd name="connsiteY0" fmla="*/ 0 h 257442"/>
                <a:gd name="connsiteX1" fmla="*/ 2039470 w 2094191"/>
                <a:gd name="connsiteY1" fmla="*/ 257442 h 257442"/>
                <a:gd name="connsiteX2" fmla="*/ 0 w 2094191"/>
                <a:gd name="connsiteY2" fmla="*/ 257442 h 257442"/>
                <a:gd name="connsiteX3" fmla="*/ 0 w 2094191"/>
                <a:gd name="connsiteY3" fmla="*/ 0 h 257442"/>
                <a:gd name="connsiteX0" fmla="*/ 2262506 w 2262506"/>
                <a:gd name="connsiteY0" fmla="*/ 0 h 257442"/>
                <a:gd name="connsiteX1" fmla="*/ 2039470 w 2262506"/>
                <a:gd name="connsiteY1" fmla="*/ 257442 h 257442"/>
                <a:gd name="connsiteX2" fmla="*/ 0 w 2262506"/>
                <a:gd name="connsiteY2" fmla="*/ 257442 h 257442"/>
                <a:gd name="connsiteX3" fmla="*/ 0 w 2262506"/>
                <a:gd name="connsiteY3" fmla="*/ 0 h 257442"/>
                <a:gd name="connsiteX0" fmla="*/ 2262506 w 2262506"/>
                <a:gd name="connsiteY0" fmla="*/ 0 h 257442"/>
                <a:gd name="connsiteX1" fmla="*/ 2207784 w 2262506"/>
                <a:gd name="connsiteY1" fmla="*/ 257442 h 257442"/>
                <a:gd name="connsiteX2" fmla="*/ 0 w 2262506"/>
                <a:gd name="connsiteY2" fmla="*/ 257442 h 257442"/>
                <a:gd name="connsiteX3" fmla="*/ 0 w 2262506"/>
                <a:gd name="connsiteY3" fmla="*/ 0 h 257442"/>
                <a:gd name="connsiteX0" fmla="*/ 2262507 w 2262507"/>
                <a:gd name="connsiteY0" fmla="*/ 0 h 257442"/>
                <a:gd name="connsiteX1" fmla="*/ 2207785 w 2262507"/>
                <a:gd name="connsiteY1" fmla="*/ 257442 h 257442"/>
                <a:gd name="connsiteX2" fmla="*/ 0 w 2262507"/>
                <a:gd name="connsiteY2" fmla="*/ 257442 h 257442"/>
                <a:gd name="connsiteX3" fmla="*/ 1 w 2262507"/>
                <a:gd name="connsiteY3" fmla="*/ 0 h 257442"/>
                <a:gd name="connsiteX0" fmla="*/ 2262507 w 2262507"/>
                <a:gd name="connsiteY0" fmla="*/ 0 h 257442"/>
                <a:gd name="connsiteX1" fmla="*/ 2207785 w 2262507"/>
                <a:gd name="connsiteY1" fmla="*/ 257442 h 257442"/>
                <a:gd name="connsiteX2" fmla="*/ 0 w 2262507"/>
                <a:gd name="connsiteY2" fmla="*/ 257442 h 257442"/>
                <a:gd name="connsiteX3" fmla="*/ 1 w 2262507"/>
                <a:gd name="connsiteY3" fmla="*/ 0 h 257442"/>
                <a:gd name="connsiteX0" fmla="*/ 2440441 w 2440441"/>
                <a:gd name="connsiteY0" fmla="*/ 0 h 257442"/>
                <a:gd name="connsiteX1" fmla="*/ 2207785 w 2440441"/>
                <a:gd name="connsiteY1" fmla="*/ 257442 h 257442"/>
                <a:gd name="connsiteX2" fmla="*/ 0 w 2440441"/>
                <a:gd name="connsiteY2" fmla="*/ 257442 h 257442"/>
                <a:gd name="connsiteX3" fmla="*/ 1 w 2440441"/>
                <a:gd name="connsiteY3" fmla="*/ 0 h 257442"/>
                <a:gd name="connsiteX0" fmla="*/ 2440441 w 2440441"/>
                <a:gd name="connsiteY0" fmla="*/ 0 h 257442"/>
                <a:gd name="connsiteX1" fmla="*/ 2385720 w 2440441"/>
                <a:gd name="connsiteY1" fmla="*/ 257442 h 257442"/>
                <a:gd name="connsiteX2" fmla="*/ 0 w 2440441"/>
                <a:gd name="connsiteY2" fmla="*/ 257442 h 257442"/>
                <a:gd name="connsiteX3" fmla="*/ 1 w 2440441"/>
                <a:gd name="connsiteY3" fmla="*/ 0 h 257442"/>
                <a:gd name="connsiteX0" fmla="*/ 2440440 w 2440440"/>
                <a:gd name="connsiteY0" fmla="*/ 0 h 257442"/>
                <a:gd name="connsiteX1" fmla="*/ 2385719 w 2440440"/>
                <a:gd name="connsiteY1" fmla="*/ 257442 h 257442"/>
                <a:gd name="connsiteX2" fmla="*/ 0 w 2440440"/>
                <a:gd name="connsiteY2" fmla="*/ 257442 h 257442"/>
                <a:gd name="connsiteX3" fmla="*/ 0 w 2440440"/>
                <a:gd name="connsiteY3" fmla="*/ 0 h 257442"/>
                <a:gd name="connsiteX0" fmla="*/ 2440441 w 2440441"/>
                <a:gd name="connsiteY0" fmla="*/ 0 h 257442"/>
                <a:gd name="connsiteX1" fmla="*/ 2385720 w 2440441"/>
                <a:gd name="connsiteY1" fmla="*/ 257442 h 257442"/>
                <a:gd name="connsiteX2" fmla="*/ 1 w 2440441"/>
                <a:gd name="connsiteY2" fmla="*/ 257442 h 257442"/>
                <a:gd name="connsiteX3" fmla="*/ 0 w 2440441"/>
                <a:gd name="connsiteY3" fmla="*/ 0 h 257442"/>
                <a:gd name="connsiteX0" fmla="*/ 2608756 w 2608756"/>
                <a:gd name="connsiteY0" fmla="*/ 0 h 257442"/>
                <a:gd name="connsiteX1" fmla="*/ 2385720 w 2608756"/>
                <a:gd name="connsiteY1" fmla="*/ 257442 h 257442"/>
                <a:gd name="connsiteX2" fmla="*/ 1 w 2608756"/>
                <a:gd name="connsiteY2" fmla="*/ 257442 h 257442"/>
                <a:gd name="connsiteX3" fmla="*/ 0 w 2608756"/>
                <a:gd name="connsiteY3" fmla="*/ 0 h 257442"/>
                <a:gd name="connsiteX0" fmla="*/ 2608756 w 2608756"/>
                <a:gd name="connsiteY0" fmla="*/ 0 h 257442"/>
                <a:gd name="connsiteX1" fmla="*/ 2554034 w 2608756"/>
                <a:gd name="connsiteY1" fmla="*/ 257442 h 257442"/>
                <a:gd name="connsiteX2" fmla="*/ 1 w 2608756"/>
                <a:gd name="connsiteY2" fmla="*/ 257442 h 257442"/>
                <a:gd name="connsiteX3" fmla="*/ 0 w 2608756"/>
                <a:gd name="connsiteY3" fmla="*/ 0 h 257442"/>
                <a:gd name="connsiteX0" fmla="*/ 2608756 w 2608756"/>
                <a:gd name="connsiteY0" fmla="*/ 0 h 257442"/>
                <a:gd name="connsiteX1" fmla="*/ 2554034 w 2608756"/>
                <a:gd name="connsiteY1" fmla="*/ 257442 h 257442"/>
                <a:gd name="connsiteX2" fmla="*/ 0 w 2608756"/>
                <a:gd name="connsiteY2" fmla="*/ 257442 h 257442"/>
                <a:gd name="connsiteX3" fmla="*/ 0 w 2608756"/>
                <a:gd name="connsiteY3" fmla="*/ 0 h 257442"/>
                <a:gd name="connsiteX0" fmla="*/ 2608756 w 2608756"/>
                <a:gd name="connsiteY0" fmla="*/ 0 h 257442"/>
                <a:gd name="connsiteX1" fmla="*/ 2554034 w 2608756"/>
                <a:gd name="connsiteY1" fmla="*/ 257442 h 257442"/>
                <a:gd name="connsiteX2" fmla="*/ 0 w 2608756"/>
                <a:gd name="connsiteY2" fmla="*/ 257442 h 257442"/>
                <a:gd name="connsiteX3" fmla="*/ 0 w 2608756"/>
                <a:gd name="connsiteY3" fmla="*/ 0 h 257442"/>
                <a:gd name="connsiteX0" fmla="*/ 2786688 w 2786688"/>
                <a:gd name="connsiteY0" fmla="*/ 0 h 257442"/>
                <a:gd name="connsiteX1" fmla="*/ 2554034 w 2786688"/>
                <a:gd name="connsiteY1" fmla="*/ 257442 h 257442"/>
                <a:gd name="connsiteX2" fmla="*/ 0 w 2786688"/>
                <a:gd name="connsiteY2" fmla="*/ 257442 h 257442"/>
                <a:gd name="connsiteX3" fmla="*/ 0 w 2786688"/>
                <a:gd name="connsiteY3" fmla="*/ 0 h 257442"/>
                <a:gd name="connsiteX0" fmla="*/ 2786688 w 2786688"/>
                <a:gd name="connsiteY0" fmla="*/ 0 h 257442"/>
                <a:gd name="connsiteX1" fmla="*/ 2731967 w 2786688"/>
                <a:gd name="connsiteY1" fmla="*/ 257442 h 257442"/>
                <a:gd name="connsiteX2" fmla="*/ 0 w 2786688"/>
                <a:gd name="connsiteY2" fmla="*/ 257442 h 257442"/>
                <a:gd name="connsiteX3" fmla="*/ 0 w 2786688"/>
                <a:gd name="connsiteY3" fmla="*/ 0 h 257442"/>
                <a:gd name="connsiteX0" fmla="*/ 2786688 w 2786688"/>
                <a:gd name="connsiteY0" fmla="*/ 0 h 257442"/>
                <a:gd name="connsiteX1" fmla="*/ 2731967 w 2786688"/>
                <a:gd name="connsiteY1" fmla="*/ 257442 h 257442"/>
                <a:gd name="connsiteX2" fmla="*/ 0 w 2786688"/>
                <a:gd name="connsiteY2" fmla="*/ 257442 h 257442"/>
                <a:gd name="connsiteX3" fmla="*/ 0 w 2786688"/>
                <a:gd name="connsiteY3" fmla="*/ 0 h 257442"/>
                <a:gd name="connsiteX0" fmla="*/ 2786688 w 2786688"/>
                <a:gd name="connsiteY0" fmla="*/ 0 h 257442"/>
                <a:gd name="connsiteX1" fmla="*/ 2731967 w 2786688"/>
                <a:gd name="connsiteY1" fmla="*/ 257442 h 257442"/>
                <a:gd name="connsiteX2" fmla="*/ 0 w 2786688"/>
                <a:gd name="connsiteY2" fmla="*/ 257442 h 257442"/>
                <a:gd name="connsiteX3" fmla="*/ 0 w 2786688"/>
                <a:gd name="connsiteY3" fmla="*/ 0 h 257442"/>
                <a:gd name="connsiteX0" fmla="*/ 2946989 w 2946989"/>
                <a:gd name="connsiteY0" fmla="*/ 0 h 257442"/>
                <a:gd name="connsiteX1" fmla="*/ 2731967 w 2946989"/>
                <a:gd name="connsiteY1" fmla="*/ 257442 h 257442"/>
                <a:gd name="connsiteX2" fmla="*/ 0 w 2946989"/>
                <a:gd name="connsiteY2" fmla="*/ 257442 h 257442"/>
                <a:gd name="connsiteX3" fmla="*/ 0 w 2946989"/>
                <a:gd name="connsiteY3" fmla="*/ 0 h 257442"/>
                <a:gd name="connsiteX0" fmla="*/ 2946989 w 2946989"/>
                <a:gd name="connsiteY0" fmla="*/ 0 h 257442"/>
                <a:gd name="connsiteX1" fmla="*/ 2892268 w 2946989"/>
                <a:gd name="connsiteY1" fmla="*/ 257442 h 257442"/>
                <a:gd name="connsiteX2" fmla="*/ 0 w 2946989"/>
                <a:gd name="connsiteY2" fmla="*/ 257442 h 257442"/>
                <a:gd name="connsiteX3" fmla="*/ 0 w 2946989"/>
                <a:gd name="connsiteY3" fmla="*/ 0 h 257442"/>
                <a:gd name="connsiteX0" fmla="*/ 2946989 w 2946989"/>
                <a:gd name="connsiteY0" fmla="*/ 0 h 257442"/>
                <a:gd name="connsiteX1" fmla="*/ 2892268 w 2946989"/>
                <a:gd name="connsiteY1" fmla="*/ 257442 h 257442"/>
                <a:gd name="connsiteX2" fmla="*/ 0 w 2946989"/>
                <a:gd name="connsiteY2" fmla="*/ 257442 h 257442"/>
                <a:gd name="connsiteX3" fmla="*/ 0 w 2946989"/>
                <a:gd name="connsiteY3" fmla="*/ 0 h 257442"/>
                <a:gd name="connsiteX0" fmla="*/ 2946989 w 2946989"/>
                <a:gd name="connsiteY0" fmla="*/ 0 h 257442"/>
                <a:gd name="connsiteX1" fmla="*/ 2892268 w 2946989"/>
                <a:gd name="connsiteY1" fmla="*/ 257442 h 257442"/>
                <a:gd name="connsiteX2" fmla="*/ 0 w 2946989"/>
                <a:gd name="connsiteY2" fmla="*/ 257442 h 257442"/>
                <a:gd name="connsiteX3" fmla="*/ 0 w 2946989"/>
                <a:gd name="connsiteY3" fmla="*/ 0 h 257442"/>
                <a:gd name="connsiteX0" fmla="*/ 3099273 w 3099273"/>
                <a:gd name="connsiteY0" fmla="*/ 0 h 257442"/>
                <a:gd name="connsiteX1" fmla="*/ 2892268 w 3099273"/>
                <a:gd name="connsiteY1" fmla="*/ 257442 h 257442"/>
                <a:gd name="connsiteX2" fmla="*/ 0 w 3099273"/>
                <a:gd name="connsiteY2" fmla="*/ 257442 h 257442"/>
                <a:gd name="connsiteX3" fmla="*/ 0 w 3099273"/>
                <a:gd name="connsiteY3" fmla="*/ 0 h 257442"/>
                <a:gd name="connsiteX0" fmla="*/ 3099273 w 3099273"/>
                <a:gd name="connsiteY0" fmla="*/ 0 h 257442"/>
                <a:gd name="connsiteX1" fmla="*/ 3044552 w 3099273"/>
                <a:gd name="connsiteY1" fmla="*/ 257442 h 257442"/>
                <a:gd name="connsiteX2" fmla="*/ 0 w 3099273"/>
                <a:gd name="connsiteY2" fmla="*/ 257442 h 257442"/>
                <a:gd name="connsiteX3" fmla="*/ 0 w 3099273"/>
                <a:gd name="connsiteY3" fmla="*/ 0 h 257442"/>
                <a:gd name="connsiteX0" fmla="*/ 3099273 w 3099273"/>
                <a:gd name="connsiteY0" fmla="*/ 0 h 257442"/>
                <a:gd name="connsiteX1" fmla="*/ 3044552 w 3099273"/>
                <a:gd name="connsiteY1" fmla="*/ 257442 h 257442"/>
                <a:gd name="connsiteX2" fmla="*/ 0 w 3099273"/>
                <a:gd name="connsiteY2" fmla="*/ 257442 h 257442"/>
                <a:gd name="connsiteX3" fmla="*/ 0 w 3099273"/>
                <a:gd name="connsiteY3" fmla="*/ 0 h 257442"/>
                <a:gd name="connsiteX0" fmla="*/ 3099273 w 3099273"/>
                <a:gd name="connsiteY0" fmla="*/ 0 h 257442"/>
                <a:gd name="connsiteX1" fmla="*/ 3044552 w 3099273"/>
                <a:gd name="connsiteY1" fmla="*/ 257442 h 257442"/>
                <a:gd name="connsiteX2" fmla="*/ 0 w 3099273"/>
                <a:gd name="connsiteY2" fmla="*/ 257442 h 257442"/>
                <a:gd name="connsiteX3" fmla="*/ 0 w 3099273"/>
                <a:gd name="connsiteY3" fmla="*/ 0 h 257442"/>
                <a:gd name="connsiteX0" fmla="*/ 3200263 w 3200263"/>
                <a:gd name="connsiteY0" fmla="*/ 0 h 257442"/>
                <a:gd name="connsiteX1" fmla="*/ 3044552 w 3200263"/>
                <a:gd name="connsiteY1" fmla="*/ 257442 h 257442"/>
                <a:gd name="connsiteX2" fmla="*/ 0 w 3200263"/>
                <a:gd name="connsiteY2" fmla="*/ 257442 h 257442"/>
                <a:gd name="connsiteX3" fmla="*/ 0 w 3200263"/>
                <a:gd name="connsiteY3" fmla="*/ 0 h 257442"/>
                <a:gd name="connsiteX0" fmla="*/ 3200263 w 3200263"/>
                <a:gd name="connsiteY0" fmla="*/ 0 h 257442"/>
                <a:gd name="connsiteX1" fmla="*/ 3145542 w 3200263"/>
                <a:gd name="connsiteY1" fmla="*/ 257442 h 257442"/>
                <a:gd name="connsiteX2" fmla="*/ 0 w 3200263"/>
                <a:gd name="connsiteY2" fmla="*/ 257442 h 257442"/>
                <a:gd name="connsiteX3" fmla="*/ 0 w 3200263"/>
                <a:gd name="connsiteY3" fmla="*/ 0 h 257442"/>
                <a:gd name="connsiteX0" fmla="*/ 3200263 w 3200263"/>
                <a:gd name="connsiteY0" fmla="*/ 0 h 257442"/>
                <a:gd name="connsiteX1" fmla="*/ 3145542 w 3200263"/>
                <a:gd name="connsiteY1" fmla="*/ 257442 h 257442"/>
                <a:gd name="connsiteX2" fmla="*/ 0 w 3200263"/>
                <a:gd name="connsiteY2" fmla="*/ 257442 h 257442"/>
                <a:gd name="connsiteX3" fmla="*/ 0 w 3200263"/>
                <a:gd name="connsiteY3" fmla="*/ 0 h 257442"/>
                <a:gd name="connsiteX0" fmla="*/ 3200263 w 3200263"/>
                <a:gd name="connsiteY0" fmla="*/ 0 h 257442"/>
                <a:gd name="connsiteX1" fmla="*/ 3145542 w 3200263"/>
                <a:gd name="connsiteY1" fmla="*/ 257442 h 257442"/>
                <a:gd name="connsiteX2" fmla="*/ 0 w 3200263"/>
                <a:gd name="connsiteY2" fmla="*/ 257442 h 257442"/>
                <a:gd name="connsiteX3" fmla="*/ 0 w 3200263"/>
                <a:gd name="connsiteY3" fmla="*/ 0 h 257442"/>
                <a:gd name="connsiteX0" fmla="*/ 3368578 w 3368578"/>
                <a:gd name="connsiteY0" fmla="*/ 0 h 257442"/>
                <a:gd name="connsiteX1" fmla="*/ 3145542 w 3368578"/>
                <a:gd name="connsiteY1" fmla="*/ 257442 h 257442"/>
                <a:gd name="connsiteX2" fmla="*/ 0 w 3368578"/>
                <a:gd name="connsiteY2" fmla="*/ 257442 h 257442"/>
                <a:gd name="connsiteX3" fmla="*/ 0 w 3368578"/>
                <a:gd name="connsiteY3" fmla="*/ 0 h 257442"/>
                <a:gd name="connsiteX0" fmla="*/ 3368578 w 3368578"/>
                <a:gd name="connsiteY0" fmla="*/ 0 h 257442"/>
                <a:gd name="connsiteX1" fmla="*/ 3313856 w 3368578"/>
                <a:gd name="connsiteY1" fmla="*/ 257442 h 257442"/>
                <a:gd name="connsiteX2" fmla="*/ 0 w 3368578"/>
                <a:gd name="connsiteY2" fmla="*/ 257442 h 257442"/>
                <a:gd name="connsiteX3" fmla="*/ 0 w 3368578"/>
                <a:gd name="connsiteY3" fmla="*/ 0 h 257442"/>
                <a:gd name="connsiteX0" fmla="*/ 3368579 w 3368579"/>
                <a:gd name="connsiteY0" fmla="*/ 0 h 257442"/>
                <a:gd name="connsiteX1" fmla="*/ 3313857 w 3368579"/>
                <a:gd name="connsiteY1" fmla="*/ 257442 h 257442"/>
                <a:gd name="connsiteX2" fmla="*/ 0 w 3368579"/>
                <a:gd name="connsiteY2" fmla="*/ 257442 h 257442"/>
                <a:gd name="connsiteX3" fmla="*/ 1 w 3368579"/>
                <a:gd name="connsiteY3" fmla="*/ 0 h 257442"/>
                <a:gd name="connsiteX0" fmla="*/ 3368579 w 3368579"/>
                <a:gd name="connsiteY0" fmla="*/ 0 h 257442"/>
                <a:gd name="connsiteX1" fmla="*/ 3313857 w 3368579"/>
                <a:gd name="connsiteY1" fmla="*/ 257442 h 257442"/>
                <a:gd name="connsiteX2" fmla="*/ 0 w 3368579"/>
                <a:gd name="connsiteY2" fmla="*/ 257442 h 257442"/>
                <a:gd name="connsiteX3" fmla="*/ 1 w 3368579"/>
                <a:gd name="connsiteY3" fmla="*/ 0 h 257442"/>
                <a:gd name="connsiteX0" fmla="*/ 1892214 w 3313857"/>
                <a:gd name="connsiteY0" fmla="*/ 0 h 257442"/>
                <a:gd name="connsiteX1" fmla="*/ 3313857 w 3313857"/>
                <a:gd name="connsiteY1" fmla="*/ 257442 h 257442"/>
                <a:gd name="connsiteX2" fmla="*/ 0 w 3313857"/>
                <a:gd name="connsiteY2" fmla="*/ 257442 h 257442"/>
                <a:gd name="connsiteX3" fmla="*/ 1 w 3313857"/>
                <a:gd name="connsiteY3" fmla="*/ 0 h 257442"/>
                <a:gd name="connsiteX0" fmla="*/ 1892214 w 1892214"/>
                <a:gd name="connsiteY0" fmla="*/ 0 h 257442"/>
                <a:gd name="connsiteX1" fmla="*/ 1837493 w 1892214"/>
                <a:gd name="connsiteY1" fmla="*/ 257442 h 257442"/>
                <a:gd name="connsiteX2" fmla="*/ 0 w 1892214"/>
                <a:gd name="connsiteY2" fmla="*/ 257442 h 257442"/>
                <a:gd name="connsiteX3" fmla="*/ 1 w 1892214"/>
                <a:gd name="connsiteY3" fmla="*/ 0 h 257442"/>
                <a:gd name="connsiteX0" fmla="*/ 1892213 w 1892213"/>
                <a:gd name="connsiteY0" fmla="*/ 0 h 257442"/>
                <a:gd name="connsiteX1" fmla="*/ 1837492 w 1892213"/>
                <a:gd name="connsiteY1" fmla="*/ 257442 h 257442"/>
                <a:gd name="connsiteX2" fmla="*/ 0 w 1892213"/>
                <a:gd name="connsiteY2" fmla="*/ 257442 h 257442"/>
                <a:gd name="connsiteX3" fmla="*/ 0 w 1892213"/>
                <a:gd name="connsiteY3" fmla="*/ 0 h 257442"/>
                <a:gd name="connsiteX0" fmla="*/ 1892213 w 1892213"/>
                <a:gd name="connsiteY0" fmla="*/ 0 h 257442"/>
                <a:gd name="connsiteX1" fmla="*/ 1837492 w 1892213"/>
                <a:gd name="connsiteY1" fmla="*/ 257442 h 257442"/>
                <a:gd name="connsiteX2" fmla="*/ 0 w 1892213"/>
                <a:gd name="connsiteY2" fmla="*/ 257442 h 257442"/>
                <a:gd name="connsiteX3" fmla="*/ 0 w 1892213"/>
                <a:gd name="connsiteY3" fmla="*/ 0 h 257442"/>
                <a:gd name="connsiteX0" fmla="*/ 942786 w 1837492"/>
                <a:gd name="connsiteY0" fmla="*/ 0 h 257442"/>
                <a:gd name="connsiteX1" fmla="*/ 1837492 w 1837492"/>
                <a:gd name="connsiteY1" fmla="*/ 257442 h 257442"/>
                <a:gd name="connsiteX2" fmla="*/ 0 w 1837492"/>
                <a:gd name="connsiteY2" fmla="*/ 257442 h 257442"/>
                <a:gd name="connsiteX3" fmla="*/ 0 w 1837492"/>
                <a:gd name="connsiteY3" fmla="*/ 0 h 257442"/>
                <a:gd name="connsiteX0" fmla="*/ 942786 w 942786"/>
                <a:gd name="connsiteY0" fmla="*/ 0 h 257442"/>
                <a:gd name="connsiteX1" fmla="*/ 888065 w 942786"/>
                <a:gd name="connsiteY1" fmla="*/ 257442 h 257442"/>
                <a:gd name="connsiteX2" fmla="*/ 0 w 942786"/>
                <a:gd name="connsiteY2" fmla="*/ 257442 h 257442"/>
                <a:gd name="connsiteX3" fmla="*/ 0 w 942786"/>
                <a:gd name="connsiteY3" fmla="*/ 0 h 257442"/>
                <a:gd name="connsiteX0" fmla="*/ 942786 w 942786"/>
                <a:gd name="connsiteY0" fmla="*/ 0 h 257442"/>
                <a:gd name="connsiteX1" fmla="*/ 888065 w 942786"/>
                <a:gd name="connsiteY1" fmla="*/ 257442 h 257442"/>
                <a:gd name="connsiteX2" fmla="*/ 0 w 942786"/>
                <a:gd name="connsiteY2" fmla="*/ 257442 h 257442"/>
                <a:gd name="connsiteX3" fmla="*/ 0 w 942786"/>
                <a:gd name="connsiteY3" fmla="*/ 0 h 257442"/>
                <a:gd name="connsiteX0" fmla="*/ 942786 w 942786"/>
                <a:gd name="connsiteY0" fmla="*/ 0 h 257442"/>
                <a:gd name="connsiteX1" fmla="*/ 888065 w 942786"/>
                <a:gd name="connsiteY1" fmla="*/ 257442 h 257442"/>
                <a:gd name="connsiteX2" fmla="*/ 0 w 942786"/>
                <a:gd name="connsiteY2" fmla="*/ 257442 h 257442"/>
                <a:gd name="connsiteX3" fmla="*/ 0 w 942786"/>
                <a:gd name="connsiteY3" fmla="*/ 0 h 257442"/>
                <a:gd name="connsiteX0" fmla="*/ 1103086 w 1103086"/>
                <a:gd name="connsiteY0" fmla="*/ 0 h 257442"/>
                <a:gd name="connsiteX1" fmla="*/ 888065 w 1103086"/>
                <a:gd name="connsiteY1" fmla="*/ 257442 h 257442"/>
                <a:gd name="connsiteX2" fmla="*/ 0 w 1103086"/>
                <a:gd name="connsiteY2" fmla="*/ 257442 h 257442"/>
                <a:gd name="connsiteX3" fmla="*/ 0 w 1103086"/>
                <a:gd name="connsiteY3" fmla="*/ 0 h 257442"/>
                <a:gd name="connsiteX0" fmla="*/ 1103086 w 1103086"/>
                <a:gd name="connsiteY0" fmla="*/ 0 h 257442"/>
                <a:gd name="connsiteX1" fmla="*/ 1048365 w 1103086"/>
                <a:gd name="connsiteY1" fmla="*/ 257442 h 257442"/>
                <a:gd name="connsiteX2" fmla="*/ 0 w 1103086"/>
                <a:gd name="connsiteY2" fmla="*/ 257442 h 257442"/>
                <a:gd name="connsiteX3" fmla="*/ 0 w 1103086"/>
                <a:gd name="connsiteY3" fmla="*/ 0 h 257442"/>
                <a:gd name="connsiteX0" fmla="*/ 1103086 w 1103086"/>
                <a:gd name="connsiteY0" fmla="*/ 0 h 257442"/>
                <a:gd name="connsiteX1" fmla="*/ 1048365 w 1103086"/>
                <a:gd name="connsiteY1" fmla="*/ 257442 h 257442"/>
                <a:gd name="connsiteX2" fmla="*/ 0 w 1103086"/>
                <a:gd name="connsiteY2" fmla="*/ 257442 h 257442"/>
                <a:gd name="connsiteX3" fmla="*/ 0 w 1103086"/>
                <a:gd name="connsiteY3" fmla="*/ 0 h 257442"/>
                <a:gd name="connsiteX0" fmla="*/ 1103086 w 1103086"/>
                <a:gd name="connsiteY0" fmla="*/ 0 h 257442"/>
                <a:gd name="connsiteX1" fmla="*/ 1048365 w 1103086"/>
                <a:gd name="connsiteY1" fmla="*/ 257442 h 257442"/>
                <a:gd name="connsiteX2" fmla="*/ 0 w 1103086"/>
                <a:gd name="connsiteY2" fmla="*/ 257442 h 257442"/>
                <a:gd name="connsiteX3" fmla="*/ 0 w 1103086"/>
                <a:gd name="connsiteY3" fmla="*/ 0 h 257442"/>
                <a:gd name="connsiteX0" fmla="*/ 1271402 w 1271402"/>
                <a:gd name="connsiteY0" fmla="*/ 0 h 257442"/>
                <a:gd name="connsiteX1" fmla="*/ 1048365 w 1271402"/>
                <a:gd name="connsiteY1" fmla="*/ 257442 h 257442"/>
                <a:gd name="connsiteX2" fmla="*/ 0 w 1271402"/>
                <a:gd name="connsiteY2" fmla="*/ 257442 h 257442"/>
                <a:gd name="connsiteX3" fmla="*/ 0 w 1271402"/>
                <a:gd name="connsiteY3" fmla="*/ 0 h 257442"/>
                <a:gd name="connsiteX0" fmla="*/ 1271402 w 1271402"/>
                <a:gd name="connsiteY0" fmla="*/ 0 h 257442"/>
                <a:gd name="connsiteX1" fmla="*/ 1216681 w 1271402"/>
                <a:gd name="connsiteY1" fmla="*/ 257442 h 257442"/>
                <a:gd name="connsiteX2" fmla="*/ 0 w 1271402"/>
                <a:gd name="connsiteY2" fmla="*/ 257442 h 257442"/>
                <a:gd name="connsiteX3" fmla="*/ 0 w 1271402"/>
                <a:gd name="connsiteY3" fmla="*/ 0 h 257442"/>
                <a:gd name="connsiteX0" fmla="*/ 1271402 w 1271402"/>
                <a:gd name="connsiteY0" fmla="*/ 0 h 257442"/>
                <a:gd name="connsiteX1" fmla="*/ 1216681 w 1271402"/>
                <a:gd name="connsiteY1" fmla="*/ 257442 h 257442"/>
                <a:gd name="connsiteX2" fmla="*/ 0 w 1271402"/>
                <a:gd name="connsiteY2" fmla="*/ 257442 h 257442"/>
                <a:gd name="connsiteX3" fmla="*/ 0 w 1271402"/>
                <a:gd name="connsiteY3" fmla="*/ 0 h 257442"/>
                <a:gd name="connsiteX0" fmla="*/ 1271402 w 1271402"/>
                <a:gd name="connsiteY0" fmla="*/ 0 h 257442"/>
                <a:gd name="connsiteX1" fmla="*/ 1216681 w 1271402"/>
                <a:gd name="connsiteY1" fmla="*/ 257442 h 257442"/>
                <a:gd name="connsiteX2" fmla="*/ 0 w 1271402"/>
                <a:gd name="connsiteY2" fmla="*/ 257442 h 257442"/>
                <a:gd name="connsiteX3" fmla="*/ 0 w 1271402"/>
                <a:gd name="connsiteY3" fmla="*/ 0 h 257442"/>
                <a:gd name="connsiteX0" fmla="*/ 1423687 w 1423687"/>
                <a:gd name="connsiteY0" fmla="*/ 0 h 257442"/>
                <a:gd name="connsiteX1" fmla="*/ 1216681 w 1423687"/>
                <a:gd name="connsiteY1" fmla="*/ 257442 h 257442"/>
                <a:gd name="connsiteX2" fmla="*/ 0 w 1423687"/>
                <a:gd name="connsiteY2" fmla="*/ 257442 h 257442"/>
                <a:gd name="connsiteX3" fmla="*/ 0 w 1423687"/>
                <a:gd name="connsiteY3" fmla="*/ 0 h 257442"/>
                <a:gd name="connsiteX0" fmla="*/ 1423687 w 1423687"/>
                <a:gd name="connsiteY0" fmla="*/ 0 h 257442"/>
                <a:gd name="connsiteX1" fmla="*/ 1368966 w 1423687"/>
                <a:gd name="connsiteY1" fmla="*/ 257442 h 257442"/>
                <a:gd name="connsiteX2" fmla="*/ 0 w 1423687"/>
                <a:gd name="connsiteY2" fmla="*/ 257442 h 257442"/>
                <a:gd name="connsiteX3" fmla="*/ 0 w 1423687"/>
                <a:gd name="connsiteY3" fmla="*/ 0 h 257442"/>
                <a:gd name="connsiteX0" fmla="*/ 1423687 w 1423687"/>
                <a:gd name="connsiteY0" fmla="*/ 0 h 257442"/>
                <a:gd name="connsiteX1" fmla="*/ 1368966 w 1423687"/>
                <a:gd name="connsiteY1" fmla="*/ 257442 h 257442"/>
                <a:gd name="connsiteX2" fmla="*/ 0 w 1423687"/>
                <a:gd name="connsiteY2" fmla="*/ 257442 h 257442"/>
                <a:gd name="connsiteX3" fmla="*/ 0 w 1423687"/>
                <a:gd name="connsiteY3" fmla="*/ 0 h 257442"/>
                <a:gd name="connsiteX0" fmla="*/ 1423687 w 1423687"/>
                <a:gd name="connsiteY0" fmla="*/ 0 h 257442"/>
                <a:gd name="connsiteX1" fmla="*/ 1368966 w 1423687"/>
                <a:gd name="connsiteY1" fmla="*/ 257442 h 257442"/>
                <a:gd name="connsiteX2" fmla="*/ 0 w 1423687"/>
                <a:gd name="connsiteY2" fmla="*/ 257442 h 257442"/>
                <a:gd name="connsiteX3" fmla="*/ 0 w 1423687"/>
                <a:gd name="connsiteY3" fmla="*/ 0 h 257442"/>
                <a:gd name="connsiteX0" fmla="*/ 1598863 w 1598863"/>
                <a:gd name="connsiteY0" fmla="*/ 0 h 257442"/>
                <a:gd name="connsiteX1" fmla="*/ 1368966 w 1598863"/>
                <a:gd name="connsiteY1" fmla="*/ 257442 h 257442"/>
                <a:gd name="connsiteX2" fmla="*/ 0 w 1598863"/>
                <a:gd name="connsiteY2" fmla="*/ 257442 h 257442"/>
                <a:gd name="connsiteX3" fmla="*/ 0 w 1598863"/>
                <a:gd name="connsiteY3" fmla="*/ 0 h 257442"/>
                <a:gd name="connsiteX0" fmla="*/ 1598863 w 1598863"/>
                <a:gd name="connsiteY0" fmla="*/ 0 h 257442"/>
                <a:gd name="connsiteX1" fmla="*/ 1544142 w 1598863"/>
                <a:gd name="connsiteY1" fmla="*/ 257442 h 257442"/>
                <a:gd name="connsiteX2" fmla="*/ 0 w 1598863"/>
                <a:gd name="connsiteY2" fmla="*/ 257442 h 257442"/>
                <a:gd name="connsiteX3" fmla="*/ 0 w 1598863"/>
                <a:gd name="connsiteY3" fmla="*/ 0 h 257442"/>
                <a:gd name="connsiteX0" fmla="*/ 1598863 w 1598863"/>
                <a:gd name="connsiteY0" fmla="*/ 0 h 257442"/>
                <a:gd name="connsiteX1" fmla="*/ 1544142 w 1598863"/>
                <a:gd name="connsiteY1" fmla="*/ 257442 h 257442"/>
                <a:gd name="connsiteX2" fmla="*/ 0 w 1598863"/>
                <a:gd name="connsiteY2" fmla="*/ 257442 h 257442"/>
                <a:gd name="connsiteX3" fmla="*/ 0 w 1598863"/>
                <a:gd name="connsiteY3" fmla="*/ 0 h 257442"/>
                <a:gd name="connsiteX0" fmla="*/ 1598863 w 1598863"/>
                <a:gd name="connsiteY0" fmla="*/ 0 h 257442"/>
                <a:gd name="connsiteX1" fmla="*/ 1544142 w 1598863"/>
                <a:gd name="connsiteY1" fmla="*/ 257442 h 257442"/>
                <a:gd name="connsiteX2" fmla="*/ 0 w 1598863"/>
                <a:gd name="connsiteY2" fmla="*/ 257442 h 257442"/>
                <a:gd name="connsiteX3" fmla="*/ 0 w 1598863"/>
                <a:gd name="connsiteY3" fmla="*/ 0 h 257442"/>
                <a:gd name="connsiteX0" fmla="*/ 1767178 w 1767178"/>
                <a:gd name="connsiteY0" fmla="*/ 0 h 257442"/>
                <a:gd name="connsiteX1" fmla="*/ 1544142 w 1767178"/>
                <a:gd name="connsiteY1" fmla="*/ 257442 h 257442"/>
                <a:gd name="connsiteX2" fmla="*/ 0 w 1767178"/>
                <a:gd name="connsiteY2" fmla="*/ 257442 h 257442"/>
                <a:gd name="connsiteX3" fmla="*/ 0 w 1767178"/>
                <a:gd name="connsiteY3" fmla="*/ 0 h 257442"/>
                <a:gd name="connsiteX0" fmla="*/ 1767178 w 1767178"/>
                <a:gd name="connsiteY0" fmla="*/ 0 h 257442"/>
                <a:gd name="connsiteX1" fmla="*/ 1712456 w 1767178"/>
                <a:gd name="connsiteY1" fmla="*/ 257442 h 257442"/>
                <a:gd name="connsiteX2" fmla="*/ 0 w 1767178"/>
                <a:gd name="connsiteY2" fmla="*/ 257442 h 257442"/>
                <a:gd name="connsiteX3" fmla="*/ 0 w 1767178"/>
                <a:gd name="connsiteY3" fmla="*/ 0 h 257442"/>
                <a:gd name="connsiteX0" fmla="*/ 1767179 w 1767179"/>
                <a:gd name="connsiteY0" fmla="*/ 0 h 257442"/>
                <a:gd name="connsiteX1" fmla="*/ 1712457 w 1767179"/>
                <a:gd name="connsiteY1" fmla="*/ 257442 h 257442"/>
                <a:gd name="connsiteX2" fmla="*/ 0 w 1767179"/>
                <a:gd name="connsiteY2" fmla="*/ 257442 h 257442"/>
                <a:gd name="connsiteX3" fmla="*/ 1 w 1767179"/>
                <a:gd name="connsiteY3" fmla="*/ 0 h 257442"/>
                <a:gd name="connsiteX0" fmla="*/ 1767179 w 1767179"/>
                <a:gd name="connsiteY0" fmla="*/ 0 h 257442"/>
                <a:gd name="connsiteX1" fmla="*/ 1712457 w 1767179"/>
                <a:gd name="connsiteY1" fmla="*/ 257442 h 257442"/>
                <a:gd name="connsiteX2" fmla="*/ 0 w 1767179"/>
                <a:gd name="connsiteY2" fmla="*/ 257442 h 257442"/>
                <a:gd name="connsiteX3" fmla="*/ 1 w 1767179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7179" h="257442">
                  <a:moveTo>
                    <a:pt x="1767179" y="0"/>
                  </a:moveTo>
                  <a:lnTo>
                    <a:pt x="1712457" y="257442"/>
                  </a:lnTo>
                  <a:lnTo>
                    <a:pt x="0" y="25744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1" name="btfpRunningAgenda2LevelTextLeft822447">
              <a:extLst>
                <a:ext uri="{FF2B5EF4-FFF2-40B4-BE49-F238E27FC236}">
                  <a16:creationId xmlns:a16="http://schemas.microsoft.com/office/drawing/2014/main" id="{980D2506-A39E-6C24-80D0-EDC603C91A9F}"/>
                </a:ext>
              </a:extLst>
            </p:cNvPr>
            <p:cNvSpPr txBox="1"/>
            <p:nvPr/>
          </p:nvSpPr>
          <p:spPr bwMode="gray">
            <a:xfrm>
              <a:off x="0" y="876300"/>
              <a:ext cx="1712457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FFFFFF"/>
                  </a:solidFill>
                </a:rPr>
                <a:t>vector</a:t>
              </a:r>
            </a:p>
          </p:txBody>
        </p:sp>
        <p:sp>
          <p:nvSpPr>
            <p:cNvPr id="12" name="btfpRunningAgenda2LevelBarRight822447">
              <a:extLst>
                <a:ext uri="{FF2B5EF4-FFF2-40B4-BE49-F238E27FC236}">
                  <a16:creationId xmlns:a16="http://schemas.microsoft.com/office/drawing/2014/main" id="{3A4E1026-59CE-4DAB-F7DC-3BFB81EE8826}"/>
                </a:ext>
              </a:extLst>
            </p:cNvPr>
            <p:cNvSpPr/>
            <p:nvPr/>
          </p:nvSpPr>
          <p:spPr bwMode="gray">
            <a:xfrm>
              <a:off x="1632336" y="876300"/>
              <a:ext cx="3041565" cy="257442"/>
            </a:xfrm>
            <a:custGeom>
              <a:avLst/>
              <a:gdLst>
                <a:gd name="connsiteX0" fmla="*/ 950801 w 2367856"/>
                <a:gd name="connsiteY0" fmla="*/ 0 h 257442"/>
                <a:gd name="connsiteX1" fmla="*/ 2367856 w 2367856"/>
                <a:gd name="connsiteY1" fmla="*/ 0 h 257442"/>
                <a:gd name="connsiteX2" fmla="*/ 2313135 w 2367856"/>
                <a:gd name="connsiteY2" fmla="*/ 257442 h 257442"/>
                <a:gd name="connsiteX3" fmla="*/ 0 w 2367856"/>
                <a:gd name="connsiteY3" fmla="*/ 257442 h 257442"/>
                <a:gd name="connsiteX0" fmla="*/ 950801 w 2313135"/>
                <a:gd name="connsiteY0" fmla="*/ 0 h 257442"/>
                <a:gd name="connsiteX1" fmla="*/ 896080 w 2313135"/>
                <a:gd name="connsiteY1" fmla="*/ 257442 h 257442"/>
                <a:gd name="connsiteX2" fmla="*/ 2313135 w 2313135"/>
                <a:gd name="connsiteY2" fmla="*/ 257442 h 257442"/>
                <a:gd name="connsiteX3" fmla="*/ 0 w 2313135"/>
                <a:gd name="connsiteY3" fmla="*/ 257442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257442 h 257442"/>
                <a:gd name="connsiteX0" fmla="*/ 950800 w 950800"/>
                <a:gd name="connsiteY0" fmla="*/ 0 h 257442"/>
                <a:gd name="connsiteX1" fmla="*/ 896079 w 950800"/>
                <a:gd name="connsiteY1" fmla="*/ 257442 h 257442"/>
                <a:gd name="connsiteX2" fmla="*/ 0 w 950800"/>
                <a:gd name="connsiteY2" fmla="*/ 257442 h 257442"/>
                <a:gd name="connsiteX3" fmla="*/ 54721 w 950800"/>
                <a:gd name="connsiteY3" fmla="*/ 0 h 257442"/>
                <a:gd name="connsiteX0" fmla="*/ 1119115 w 1119115"/>
                <a:gd name="connsiteY0" fmla="*/ 0 h 257442"/>
                <a:gd name="connsiteX1" fmla="*/ 896079 w 1119115"/>
                <a:gd name="connsiteY1" fmla="*/ 257442 h 257442"/>
                <a:gd name="connsiteX2" fmla="*/ 0 w 1119115"/>
                <a:gd name="connsiteY2" fmla="*/ 257442 h 257442"/>
                <a:gd name="connsiteX3" fmla="*/ 54721 w 1119115"/>
                <a:gd name="connsiteY3" fmla="*/ 0 h 257442"/>
                <a:gd name="connsiteX0" fmla="*/ 1119115 w 1119115"/>
                <a:gd name="connsiteY0" fmla="*/ 0 h 257442"/>
                <a:gd name="connsiteX1" fmla="*/ 1064394 w 1119115"/>
                <a:gd name="connsiteY1" fmla="*/ 257442 h 257442"/>
                <a:gd name="connsiteX2" fmla="*/ 0 w 1119115"/>
                <a:gd name="connsiteY2" fmla="*/ 257442 h 257442"/>
                <a:gd name="connsiteX3" fmla="*/ 54721 w 1119115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54722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54721 w 1119116"/>
                <a:gd name="connsiteY3" fmla="*/ 0 h 257442"/>
                <a:gd name="connsiteX0" fmla="*/ 1416890 w 1416890"/>
                <a:gd name="connsiteY0" fmla="*/ 0 h 257442"/>
                <a:gd name="connsiteX1" fmla="*/ 1064395 w 1416890"/>
                <a:gd name="connsiteY1" fmla="*/ 257442 h 257442"/>
                <a:gd name="connsiteX2" fmla="*/ 0 w 1416890"/>
                <a:gd name="connsiteY2" fmla="*/ 257442 h 257442"/>
                <a:gd name="connsiteX3" fmla="*/ 54721 w 1416890"/>
                <a:gd name="connsiteY3" fmla="*/ 0 h 257442"/>
                <a:gd name="connsiteX0" fmla="*/ 1416890 w 1416890"/>
                <a:gd name="connsiteY0" fmla="*/ 0 h 257442"/>
                <a:gd name="connsiteX1" fmla="*/ 1362169 w 1416890"/>
                <a:gd name="connsiteY1" fmla="*/ 257442 h 257442"/>
                <a:gd name="connsiteX2" fmla="*/ 0 w 1416890"/>
                <a:gd name="connsiteY2" fmla="*/ 257442 h 257442"/>
                <a:gd name="connsiteX3" fmla="*/ 54721 w 1416890"/>
                <a:gd name="connsiteY3" fmla="*/ 0 h 257442"/>
                <a:gd name="connsiteX0" fmla="*/ 1416890 w 1416890"/>
                <a:gd name="connsiteY0" fmla="*/ 0 h 257442"/>
                <a:gd name="connsiteX1" fmla="*/ 1362169 w 1416890"/>
                <a:gd name="connsiteY1" fmla="*/ 257442 h 257442"/>
                <a:gd name="connsiteX2" fmla="*/ 0 w 1416890"/>
                <a:gd name="connsiteY2" fmla="*/ 257442 h 257442"/>
                <a:gd name="connsiteX3" fmla="*/ 54721 w 1416890"/>
                <a:gd name="connsiteY3" fmla="*/ 0 h 257442"/>
                <a:gd name="connsiteX0" fmla="*/ 1416890 w 1416890"/>
                <a:gd name="connsiteY0" fmla="*/ 0 h 257442"/>
                <a:gd name="connsiteX1" fmla="*/ 1362169 w 1416890"/>
                <a:gd name="connsiteY1" fmla="*/ 257442 h 257442"/>
                <a:gd name="connsiteX2" fmla="*/ 0 w 1416890"/>
                <a:gd name="connsiteY2" fmla="*/ 257442 h 257442"/>
                <a:gd name="connsiteX3" fmla="*/ 54721 w 1416890"/>
                <a:gd name="connsiteY3" fmla="*/ 0 h 257442"/>
                <a:gd name="connsiteX0" fmla="*/ 1680488 w 1680488"/>
                <a:gd name="connsiteY0" fmla="*/ 0 h 257442"/>
                <a:gd name="connsiteX1" fmla="*/ 1362169 w 1680488"/>
                <a:gd name="connsiteY1" fmla="*/ 257442 h 257442"/>
                <a:gd name="connsiteX2" fmla="*/ 0 w 1680488"/>
                <a:gd name="connsiteY2" fmla="*/ 257442 h 257442"/>
                <a:gd name="connsiteX3" fmla="*/ 54721 w 1680488"/>
                <a:gd name="connsiteY3" fmla="*/ 0 h 257442"/>
                <a:gd name="connsiteX0" fmla="*/ 1680488 w 1680488"/>
                <a:gd name="connsiteY0" fmla="*/ 0 h 257442"/>
                <a:gd name="connsiteX1" fmla="*/ 1625767 w 1680488"/>
                <a:gd name="connsiteY1" fmla="*/ 257442 h 257442"/>
                <a:gd name="connsiteX2" fmla="*/ 0 w 1680488"/>
                <a:gd name="connsiteY2" fmla="*/ 257442 h 257442"/>
                <a:gd name="connsiteX3" fmla="*/ 54721 w 1680488"/>
                <a:gd name="connsiteY3" fmla="*/ 0 h 257442"/>
                <a:gd name="connsiteX0" fmla="*/ 1680488 w 1680488"/>
                <a:gd name="connsiteY0" fmla="*/ 0 h 257442"/>
                <a:gd name="connsiteX1" fmla="*/ 1625767 w 1680488"/>
                <a:gd name="connsiteY1" fmla="*/ 257442 h 257442"/>
                <a:gd name="connsiteX2" fmla="*/ 0 w 1680488"/>
                <a:gd name="connsiteY2" fmla="*/ 257442 h 257442"/>
                <a:gd name="connsiteX3" fmla="*/ 54721 w 1680488"/>
                <a:gd name="connsiteY3" fmla="*/ 0 h 257442"/>
                <a:gd name="connsiteX0" fmla="*/ 1680488 w 1680488"/>
                <a:gd name="connsiteY0" fmla="*/ 0 h 257442"/>
                <a:gd name="connsiteX1" fmla="*/ 1625767 w 1680488"/>
                <a:gd name="connsiteY1" fmla="*/ 257442 h 257442"/>
                <a:gd name="connsiteX2" fmla="*/ 0 w 1680488"/>
                <a:gd name="connsiteY2" fmla="*/ 257442 h 257442"/>
                <a:gd name="connsiteX3" fmla="*/ 54721 w 1680488"/>
                <a:gd name="connsiteY3" fmla="*/ 0 h 257442"/>
                <a:gd name="connsiteX0" fmla="*/ 1840788 w 1840788"/>
                <a:gd name="connsiteY0" fmla="*/ 0 h 257442"/>
                <a:gd name="connsiteX1" fmla="*/ 1625767 w 1840788"/>
                <a:gd name="connsiteY1" fmla="*/ 257442 h 257442"/>
                <a:gd name="connsiteX2" fmla="*/ 0 w 1840788"/>
                <a:gd name="connsiteY2" fmla="*/ 257442 h 257442"/>
                <a:gd name="connsiteX3" fmla="*/ 54721 w 1840788"/>
                <a:gd name="connsiteY3" fmla="*/ 0 h 257442"/>
                <a:gd name="connsiteX0" fmla="*/ 1840788 w 1840788"/>
                <a:gd name="connsiteY0" fmla="*/ 0 h 257442"/>
                <a:gd name="connsiteX1" fmla="*/ 1786067 w 1840788"/>
                <a:gd name="connsiteY1" fmla="*/ 257442 h 257442"/>
                <a:gd name="connsiteX2" fmla="*/ 0 w 1840788"/>
                <a:gd name="connsiteY2" fmla="*/ 257442 h 257442"/>
                <a:gd name="connsiteX3" fmla="*/ 54721 w 1840788"/>
                <a:gd name="connsiteY3" fmla="*/ 0 h 257442"/>
                <a:gd name="connsiteX0" fmla="*/ 1840788 w 1840788"/>
                <a:gd name="connsiteY0" fmla="*/ 0 h 257442"/>
                <a:gd name="connsiteX1" fmla="*/ 1786067 w 1840788"/>
                <a:gd name="connsiteY1" fmla="*/ 257442 h 257442"/>
                <a:gd name="connsiteX2" fmla="*/ 0 w 1840788"/>
                <a:gd name="connsiteY2" fmla="*/ 257442 h 257442"/>
                <a:gd name="connsiteX3" fmla="*/ 54721 w 1840788"/>
                <a:gd name="connsiteY3" fmla="*/ 0 h 257442"/>
                <a:gd name="connsiteX0" fmla="*/ 1840788 w 1840788"/>
                <a:gd name="connsiteY0" fmla="*/ 0 h 257442"/>
                <a:gd name="connsiteX1" fmla="*/ 1786067 w 1840788"/>
                <a:gd name="connsiteY1" fmla="*/ 257442 h 257442"/>
                <a:gd name="connsiteX2" fmla="*/ 0 w 1840788"/>
                <a:gd name="connsiteY2" fmla="*/ 257442 h 257442"/>
                <a:gd name="connsiteX3" fmla="*/ 54721 w 1840788"/>
                <a:gd name="connsiteY3" fmla="*/ 0 h 257442"/>
                <a:gd name="connsiteX0" fmla="*/ 2018721 w 2018721"/>
                <a:gd name="connsiteY0" fmla="*/ 0 h 257442"/>
                <a:gd name="connsiteX1" fmla="*/ 1786067 w 2018721"/>
                <a:gd name="connsiteY1" fmla="*/ 257442 h 257442"/>
                <a:gd name="connsiteX2" fmla="*/ 0 w 2018721"/>
                <a:gd name="connsiteY2" fmla="*/ 257442 h 257442"/>
                <a:gd name="connsiteX3" fmla="*/ 54721 w 2018721"/>
                <a:gd name="connsiteY3" fmla="*/ 0 h 257442"/>
                <a:gd name="connsiteX0" fmla="*/ 2018721 w 2018721"/>
                <a:gd name="connsiteY0" fmla="*/ 0 h 257442"/>
                <a:gd name="connsiteX1" fmla="*/ 1964000 w 2018721"/>
                <a:gd name="connsiteY1" fmla="*/ 257442 h 257442"/>
                <a:gd name="connsiteX2" fmla="*/ 0 w 2018721"/>
                <a:gd name="connsiteY2" fmla="*/ 257442 h 257442"/>
                <a:gd name="connsiteX3" fmla="*/ 54721 w 2018721"/>
                <a:gd name="connsiteY3" fmla="*/ 0 h 257442"/>
                <a:gd name="connsiteX0" fmla="*/ 2018721 w 2018721"/>
                <a:gd name="connsiteY0" fmla="*/ 0 h 257442"/>
                <a:gd name="connsiteX1" fmla="*/ 1964000 w 2018721"/>
                <a:gd name="connsiteY1" fmla="*/ 257442 h 257442"/>
                <a:gd name="connsiteX2" fmla="*/ 0 w 2018721"/>
                <a:gd name="connsiteY2" fmla="*/ 257442 h 257442"/>
                <a:gd name="connsiteX3" fmla="*/ 54721 w 2018721"/>
                <a:gd name="connsiteY3" fmla="*/ 0 h 257442"/>
                <a:gd name="connsiteX0" fmla="*/ 2018721 w 2018721"/>
                <a:gd name="connsiteY0" fmla="*/ 0 h 257442"/>
                <a:gd name="connsiteX1" fmla="*/ 1964000 w 2018721"/>
                <a:gd name="connsiteY1" fmla="*/ 257442 h 257442"/>
                <a:gd name="connsiteX2" fmla="*/ 0 w 2018721"/>
                <a:gd name="connsiteY2" fmla="*/ 257442 h 257442"/>
                <a:gd name="connsiteX3" fmla="*/ 54721 w 2018721"/>
                <a:gd name="connsiteY3" fmla="*/ 0 h 257442"/>
                <a:gd name="connsiteX0" fmla="*/ 2187037 w 2187037"/>
                <a:gd name="connsiteY0" fmla="*/ 0 h 257442"/>
                <a:gd name="connsiteX1" fmla="*/ 1964000 w 2187037"/>
                <a:gd name="connsiteY1" fmla="*/ 257442 h 257442"/>
                <a:gd name="connsiteX2" fmla="*/ 0 w 2187037"/>
                <a:gd name="connsiteY2" fmla="*/ 257442 h 257442"/>
                <a:gd name="connsiteX3" fmla="*/ 54721 w 2187037"/>
                <a:gd name="connsiteY3" fmla="*/ 0 h 257442"/>
                <a:gd name="connsiteX0" fmla="*/ 2187037 w 2187037"/>
                <a:gd name="connsiteY0" fmla="*/ 0 h 257442"/>
                <a:gd name="connsiteX1" fmla="*/ 2132316 w 2187037"/>
                <a:gd name="connsiteY1" fmla="*/ 257442 h 257442"/>
                <a:gd name="connsiteX2" fmla="*/ 0 w 2187037"/>
                <a:gd name="connsiteY2" fmla="*/ 257442 h 257442"/>
                <a:gd name="connsiteX3" fmla="*/ 54721 w 2187037"/>
                <a:gd name="connsiteY3" fmla="*/ 0 h 257442"/>
                <a:gd name="connsiteX0" fmla="*/ 2187037 w 2187037"/>
                <a:gd name="connsiteY0" fmla="*/ 0 h 257442"/>
                <a:gd name="connsiteX1" fmla="*/ 2132316 w 2187037"/>
                <a:gd name="connsiteY1" fmla="*/ 257442 h 257442"/>
                <a:gd name="connsiteX2" fmla="*/ 0 w 2187037"/>
                <a:gd name="connsiteY2" fmla="*/ 257442 h 257442"/>
                <a:gd name="connsiteX3" fmla="*/ 54721 w 2187037"/>
                <a:gd name="connsiteY3" fmla="*/ 0 h 257442"/>
                <a:gd name="connsiteX0" fmla="*/ 2187037 w 2187037"/>
                <a:gd name="connsiteY0" fmla="*/ 0 h 257442"/>
                <a:gd name="connsiteX1" fmla="*/ 2132316 w 2187037"/>
                <a:gd name="connsiteY1" fmla="*/ 257442 h 257442"/>
                <a:gd name="connsiteX2" fmla="*/ 0 w 2187037"/>
                <a:gd name="connsiteY2" fmla="*/ 257442 h 257442"/>
                <a:gd name="connsiteX3" fmla="*/ 54721 w 2187037"/>
                <a:gd name="connsiteY3" fmla="*/ 0 h 257442"/>
                <a:gd name="connsiteX0" fmla="*/ 2347337 w 2347337"/>
                <a:gd name="connsiteY0" fmla="*/ 0 h 257442"/>
                <a:gd name="connsiteX1" fmla="*/ 2132316 w 2347337"/>
                <a:gd name="connsiteY1" fmla="*/ 257442 h 257442"/>
                <a:gd name="connsiteX2" fmla="*/ 0 w 2347337"/>
                <a:gd name="connsiteY2" fmla="*/ 257442 h 257442"/>
                <a:gd name="connsiteX3" fmla="*/ 54721 w 2347337"/>
                <a:gd name="connsiteY3" fmla="*/ 0 h 257442"/>
                <a:gd name="connsiteX0" fmla="*/ 2347337 w 2347337"/>
                <a:gd name="connsiteY0" fmla="*/ 0 h 257442"/>
                <a:gd name="connsiteX1" fmla="*/ 2292616 w 2347337"/>
                <a:gd name="connsiteY1" fmla="*/ 257442 h 257442"/>
                <a:gd name="connsiteX2" fmla="*/ 0 w 2347337"/>
                <a:gd name="connsiteY2" fmla="*/ 257442 h 257442"/>
                <a:gd name="connsiteX3" fmla="*/ 54721 w 2347337"/>
                <a:gd name="connsiteY3" fmla="*/ 0 h 257442"/>
                <a:gd name="connsiteX0" fmla="*/ 2347337 w 2347337"/>
                <a:gd name="connsiteY0" fmla="*/ 0 h 257442"/>
                <a:gd name="connsiteX1" fmla="*/ 2292616 w 2347337"/>
                <a:gd name="connsiteY1" fmla="*/ 257442 h 257442"/>
                <a:gd name="connsiteX2" fmla="*/ 0 w 2347337"/>
                <a:gd name="connsiteY2" fmla="*/ 257442 h 257442"/>
                <a:gd name="connsiteX3" fmla="*/ 54721 w 2347337"/>
                <a:gd name="connsiteY3" fmla="*/ 0 h 257442"/>
                <a:gd name="connsiteX0" fmla="*/ 2347337 w 2347337"/>
                <a:gd name="connsiteY0" fmla="*/ 0 h 257442"/>
                <a:gd name="connsiteX1" fmla="*/ 2292616 w 2347337"/>
                <a:gd name="connsiteY1" fmla="*/ 257442 h 257442"/>
                <a:gd name="connsiteX2" fmla="*/ 0 w 2347337"/>
                <a:gd name="connsiteY2" fmla="*/ 257442 h 257442"/>
                <a:gd name="connsiteX3" fmla="*/ 54721 w 2347337"/>
                <a:gd name="connsiteY3" fmla="*/ 0 h 257442"/>
                <a:gd name="connsiteX0" fmla="*/ 2507638 w 2507638"/>
                <a:gd name="connsiteY0" fmla="*/ 0 h 257442"/>
                <a:gd name="connsiteX1" fmla="*/ 2292616 w 2507638"/>
                <a:gd name="connsiteY1" fmla="*/ 257442 h 257442"/>
                <a:gd name="connsiteX2" fmla="*/ 0 w 2507638"/>
                <a:gd name="connsiteY2" fmla="*/ 257442 h 257442"/>
                <a:gd name="connsiteX3" fmla="*/ 54721 w 2507638"/>
                <a:gd name="connsiteY3" fmla="*/ 0 h 257442"/>
                <a:gd name="connsiteX0" fmla="*/ 2507638 w 2507638"/>
                <a:gd name="connsiteY0" fmla="*/ 0 h 257442"/>
                <a:gd name="connsiteX1" fmla="*/ 2452916 w 2507638"/>
                <a:gd name="connsiteY1" fmla="*/ 257442 h 257442"/>
                <a:gd name="connsiteX2" fmla="*/ 0 w 2507638"/>
                <a:gd name="connsiteY2" fmla="*/ 257442 h 257442"/>
                <a:gd name="connsiteX3" fmla="*/ 54721 w 2507638"/>
                <a:gd name="connsiteY3" fmla="*/ 0 h 257442"/>
                <a:gd name="connsiteX0" fmla="*/ 2507639 w 2507639"/>
                <a:gd name="connsiteY0" fmla="*/ 0 h 257442"/>
                <a:gd name="connsiteX1" fmla="*/ 2452917 w 2507639"/>
                <a:gd name="connsiteY1" fmla="*/ 257442 h 257442"/>
                <a:gd name="connsiteX2" fmla="*/ 0 w 2507639"/>
                <a:gd name="connsiteY2" fmla="*/ 257442 h 257442"/>
                <a:gd name="connsiteX3" fmla="*/ 54722 w 2507639"/>
                <a:gd name="connsiteY3" fmla="*/ 0 h 257442"/>
                <a:gd name="connsiteX0" fmla="*/ 2507639 w 2507639"/>
                <a:gd name="connsiteY0" fmla="*/ 0 h 257442"/>
                <a:gd name="connsiteX1" fmla="*/ 2452917 w 2507639"/>
                <a:gd name="connsiteY1" fmla="*/ 257442 h 257442"/>
                <a:gd name="connsiteX2" fmla="*/ 0 w 2507639"/>
                <a:gd name="connsiteY2" fmla="*/ 257442 h 257442"/>
                <a:gd name="connsiteX3" fmla="*/ 54722 w 2507639"/>
                <a:gd name="connsiteY3" fmla="*/ 0 h 257442"/>
                <a:gd name="connsiteX0" fmla="*/ 883476 w 2452917"/>
                <a:gd name="connsiteY0" fmla="*/ 0 h 257442"/>
                <a:gd name="connsiteX1" fmla="*/ 2452917 w 2452917"/>
                <a:gd name="connsiteY1" fmla="*/ 257442 h 257442"/>
                <a:gd name="connsiteX2" fmla="*/ 0 w 2452917"/>
                <a:gd name="connsiteY2" fmla="*/ 257442 h 257442"/>
                <a:gd name="connsiteX3" fmla="*/ 54722 w 2452917"/>
                <a:gd name="connsiteY3" fmla="*/ 0 h 257442"/>
                <a:gd name="connsiteX0" fmla="*/ 883476 w 883476"/>
                <a:gd name="connsiteY0" fmla="*/ 0 h 257442"/>
                <a:gd name="connsiteX1" fmla="*/ 828755 w 883476"/>
                <a:gd name="connsiteY1" fmla="*/ 257442 h 257442"/>
                <a:gd name="connsiteX2" fmla="*/ 0 w 883476"/>
                <a:gd name="connsiteY2" fmla="*/ 257442 h 257442"/>
                <a:gd name="connsiteX3" fmla="*/ 54722 w 883476"/>
                <a:gd name="connsiteY3" fmla="*/ 0 h 257442"/>
                <a:gd name="connsiteX0" fmla="*/ 883475 w 883475"/>
                <a:gd name="connsiteY0" fmla="*/ 0 h 257442"/>
                <a:gd name="connsiteX1" fmla="*/ 828754 w 883475"/>
                <a:gd name="connsiteY1" fmla="*/ 257442 h 257442"/>
                <a:gd name="connsiteX2" fmla="*/ 0 w 883475"/>
                <a:gd name="connsiteY2" fmla="*/ 257442 h 257442"/>
                <a:gd name="connsiteX3" fmla="*/ 54721 w 883475"/>
                <a:gd name="connsiteY3" fmla="*/ 0 h 257442"/>
                <a:gd name="connsiteX0" fmla="*/ 883475 w 883475"/>
                <a:gd name="connsiteY0" fmla="*/ 0 h 257442"/>
                <a:gd name="connsiteX1" fmla="*/ 828754 w 883475"/>
                <a:gd name="connsiteY1" fmla="*/ 257442 h 257442"/>
                <a:gd name="connsiteX2" fmla="*/ 0 w 883475"/>
                <a:gd name="connsiteY2" fmla="*/ 257442 h 257442"/>
                <a:gd name="connsiteX3" fmla="*/ 54721 w 883475"/>
                <a:gd name="connsiteY3" fmla="*/ 0 h 257442"/>
                <a:gd name="connsiteX0" fmla="*/ 1051790 w 1051790"/>
                <a:gd name="connsiteY0" fmla="*/ 0 h 257442"/>
                <a:gd name="connsiteX1" fmla="*/ 828754 w 1051790"/>
                <a:gd name="connsiteY1" fmla="*/ 257442 h 257442"/>
                <a:gd name="connsiteX2" fmla="*/ 0 w 1051790"/>
                <a:gd name="connsiteY2" fmla="*/ 257442 h 257442"/>
                <a:gd name="connsiteX3" fmla="*/ 54721 w 1051790"/>
                <a:gd name="connsiteY3" fmla="*/ 0 h 257442"/>
                <a:gd name="connsiteX0" fmla="*/ 1051790 w 1051790"/>
                <a:gd name="connsiteY0" fmla="*/ 0 h 257442"/>
                <a:gd name="connsiteX1" fmla="*/ 997068 w 1051790"/>
                <a:gd name="connsiteY1" fmla="*/ 257442 h 257442"/>
                <a:gd name="connsiteX2" fmla="*/ 0 w 1051790"/>
                <a:gd name="connsiteY2" fmla="*/ 257442 h 257442"/>
                <a:gd name="connsiteX3" fmla="*/ 54721 w 1051790"/>
                <a:gd name="connsiteY3" fmla="*/ 0 h 257442"/>
                <a:gd name="connsiteX0" fmla="*/ 1051791 w 1051791"/>
                <a:gd name="connsiteY0" fmla="*/ 0 h 257442"/>
                <a:gd name="connsiteX1" fmla="*/ 997069 w 1051791"/>
                <a:gd name="connsiteY1" fmla="*/ 257442 h 257442"/>
                <a:gd name="connsiteX2" fmla="*/ 0 w 1051791"/>
                <a:gd name="connsiteY2" fmla="*/ 257442 h 257442"/>
                <a:gd name="connsiteX3" fmla="*/ 54722 w 1051791"/>
                <a:gd name="connsiteY3" fmla="*/ 0 h 257442"/>
                <a:gd name="connsiteX0" fmla="*/ 1051791 w 1051791"/>
                <a:gd name="connsiteY0" fmla="*/ 0 h 257442"/>
                <a:gd name="connsiteX1" fmla="*/ 997069 w 1051791"/>
                <a:gd name="connsiteY1" fmla="*/ 257442 h 257442"/>
                <a:gd name="connsiteX2" fmla="*/ 0 w 1051791"/>
                <a:gd name="connsiteY2" fmla="*/ 257442 h 257442"/>
                <a:gd name="connsiteX3" fmla="*/ 54722 w 1051791"/>
                <a:gd name="connsiteY3" fmla="*/ 0 h 257442"/>
                <a:gd name="connsiteX0" fmla="*/ 1364377 w 1364377"/>
                <a:gd name="connsiteY0" fmla="*/ 0 h 257442"/>
                <a:gd name="connsiteX1" fmla="*/ 997069 w 1364377"/>
                <a:gd name="connsiteY1" fmla="*/ 257442 h 257442"/>
                <a:gd name="connsiteX2" fmla="*/ 0 w 1364377"/>
                <a:gd name="connsiteY2" fmla="*/ 257442 h 257442"/>
                <a:gd name="connsiteX3" fmla="*/ 54722 w 1364377"/>
                <a:gd name="connsiteY3" fmla="*/ 0 h 257442"/>
                <a:gd name="connsiteX0" fmla="*/ 1364377 w 1364377"/>
                <a:gd name="connsiteY0" fmla="*/ 0 h 257442"/>
                <a:gd name="connsiteX1" fmla="*/ 1309656 w 1364377"/>
                <a:gd name="connsiteY1" fmla="*/ 257442 h 257442"/>
                <a:gd name="connsiteX2" fmla="*/ 0 w 1364377"/>
                <a:gd name="connsiteY2" fmla="*/ 257442 h 257442"/>
                <a:gd name="connsiteX3" fmla="*/ 54722 w 1364377"/>
                <a:gd name="connsiteY3" fmla="*/ 0 h 257442"/>
                <a:gd name="connsiteX0" fmla="*/ 1364376 w 1364376"/>
                <a:gd name="connsiteY0" fmla="*/ 0 h 257442"/>
                <a:gd name="connsiteX1" fmla="*/ 1309655 w 1364376"/>
                <a:gd name="connsiteY1" fmla="*/ 257442 h 257442"/>
                <a:gd name="connsiteX2" fmla="*/ 0 w 1364376"/>
                <a:gd name="connsiteY2" fmla="*/ 257442 h 257442"/>
                <a:gd name="connsiteX3" fmla="*/ 54721 w 1364376"/>
                <a:gd name="connsiteY3" fmla="*/ 0 h 257442"/>
                <a:gd name="connsiteX0" fmla="*/ 1364376 w 1364376"/>
                <a:gd name="connsiteY0" fmla="*/ 0 h 257442"/>
                <a:gd name="connsiteX1" fmla="*/ 1309655 w 1364376"/>
                <a:gd name="connsiteY1" fmla="*/ 257442 h 257442"/>
                <a:gd name="connsiteX2" fmla="*/ 0 w 1364376"/>
                <a:gd name="connsiteY2" fmla="*/ 257442 h 257442"/>
                <a:gd name="connsiteX3" fmla="*/ 54720 w 1364376"/>
                <a:gd name="connsiteY3" fmla="*/ 0 h 257442"/>
                <a:gd name="connsiteX0" fmla="*/ 1532690 w 1532690"/>
                <a:gd name="connsiteY0" fmla="*/ 0 h 257442"/>
                <a:gd name="connsiteX1" fmla="*/ 1309655 w 1532690"/>
                <a:gd name="connsiteY1" fmla="*/ 257442 h 257442"/>
                <a:gd name="connsiteX2" fmla="*/ 0 w 1532690"/>
                <a:gd name="connsiteY2" fmla="*/ 257442 h 257442"/>
                <a:gd name="connsiteX3" fmla="*/ 54720 w 1532690"/>
                <a:gd name="connsiteY3" fmla="*/ 0 h 257442"/>
                <a:gd name="connsiteX0" fmla="*/ 1532690 w 1532690"/>
                <a:gd name="connsiteY0" fmla="*/ 0 h 257442"/>
                <a:gd name="connsiteX1" fmla="*/ 1477969 w 1532690"/>
                <a:gd name="connsiteY1" fmla="*/ 257442 h 257442"/>
                <a:gd name="connsiteX2" fmla="*/ 0 w 1532690"/>
                <a:gd name="connsiteY2" fmla="*/ 257442 h 257442"/>
                <a:gd name="connsiteX3" fmla="*/ 54720 w 1532690"/>
                <a:gd name="connsiteY3" fmla="*/ 0 h 257442"/>
                <a:gd name="connsiteX0" fmla="*/ 1532691 w 1532691"/>
                <a:gd name="connsiteY0" fmla="*/ 0 h 257442"/>
                <a:gd name="connsiteX1" fmla="*/ 1477970 w 1532691"/>
                <a:gd name="connsiteY1" fmla="*/ 257442 h 257442"/>
                <a:gd name="connsiteX2" fmla="*/ 0 w 1532691"/>
                <a:gd name="connsiteY2" fmla="*/ 257442 h 257442"/>
                <a:gd name="connsiteX3" fmla="*/ 54721 w 1532691"/>
                <a:gd name="connsiteY3" fmla="*/ 0 h 257442"/>
                <a:gd name="connsiteX0" fmla="*/ 1532691 w 1532691"/>
                <a:gd name="connsiteY0" fmla="*/ 0 h 257442"/>
                <a:gd name="connsiteX1" fmla="*/ 1477970 w 1532691"/>
                <a:gd name="connsiteY1" fmla="*/ 257442 h 257442"/>
                <a:gd name="connsiteX2" fmla="*/ 0 w 1532691"/>
                <a:gd name="connsiteY2" fmla="*/ 257442 h 257442"/>
                <a:gd name="connsiteX3" fmla="*/ 54722 w 1532691"/>
                <a:gd name="connsiteY3" fmla="*/ 0 h 257442"/>
                <a:gd name="connsiteX0" fmla="*/ 1791224 w 1791224"/>
                <a:gd name="connsiteY0" fmla="*/ 0 h 257442"/>
                <a:gd name="connsiteX1" fmla="*/ 1477970 w 1791224"/>
                <a:gd name="connsiteY1" fmla="*/ 257442 h 257442"/>
                <a:gd name="connsiteX2" fmla="*/ 0 w 1791224"/>
                <a:gd name="connsiteY2" fmla="*/ 257442 h 257442"/>
                <a:gd name="connsiteX3" fmla="*/ 54722 w 1791224"/>
                <a:gd name="connsiteY3" fmla="*/ 0 h 257442"/>
                <a:gd name="connsiteX0" fmla="*/ 1791224 w 1791224"/>
                <a:gd name="connsiteY0" fmla="*/ 0 h 257442"/>
                <a:gd name="connsiteX1" fmla="*/ 1736502 w 1791224"/>
                <a:gd name="connsiteY1" fmla="*/ 257442 h 257442"/>
                <a:gd name="connsiteX2" fmla="*/ 0 w 1791224"/>
                <a:gd name="connsiteY2" fmla="*/ 257442 h 257442"/>
                <a:gd name="connsiteX3" fmla="*/ 54722 w 1791224"/>
                <a:gd name="connsiteY3" fmla="*/ 0 h 257442"/>
                <a:gd name="connsiteX0" fmla="*/ 1791224 w 1791224"/>
                <a:gd name="connsiteY0" fmla="*/ 0 h 257442"/>
                <a:gd name="connsiteX1" fmla="*/ 1736502 w 1791224"/>
                <a:gd name="connsiteY1" fmla="*/ 257442 h 257442"/>
                <a:gd name="connsiteX2" fmla="*/ 0 w 1791224"/>
                <a:gd name="connsiteY2" fmla="*/ 257442 h 257442"/>
                <a:gd name="connsiteX3" fmla="*/ 54722 w 1791224"/>
                <a:gd name="connsiteY3" fmla="*/ 0 h 257442"/>
                <a:gd name="connsiteX0" fmla="*/ 1791224 w 1791224"/>
                <a:gd name="connsiteY0" fmla="*/ 0 h 257442"/>
                <a:gd name="connsiteX1" fmla="*/ 1736502 w 1791224"/>
                <a:gd name="connsiteY1" fmla="*/ 257442 h 257442"/>
                <a:gd name="connsiteX2" fmla="*/ 0 w 1791224"/>
                <a:gd name="connsiteY2" fmla="*/ 257442 h 257442"/>
                <a:gd name="connsiteX3" fmla="*/ 54721 w 1791224"/>
                <a:gd name="connsiteY3" fmla="*/ 0 h 257442"/>
                <a:gd name="connsiteX0" fmla="*/ 1951523 w 1951523"/>
                <a:gd name="connsiteY0" fmla="*/ 0 h 257442"/>
                <a:gd name="connsiteX1" fmla="*/ 1736502 w 1951523"/>
                <a:gd name="connsiteY1" fmla="*/ 257442 h 257442"/>
                <a:gd name="connsiteX2" fmla="*/ 0 w 1951523"/>
                <a:gd name="connsiteY2" fmla="*/ 257442 h 257442"/>
                <a:gd name="connsiteX3" fmla="*/ 54721 w 1951523"/>
                <a:gd name="connsiteY3" fmla="*/ 0 h 257442"/>
                <a:gd name="connsiteX0" fmla="*/ 1951523 w 1951523"/>
                <a:gd name="connsiteY0" fmla="*/ 0 h 257442"/>
                <a:gd name="connsiteX1" fmla="*/ 1896802 w 1951523"/>
                <a:gd name="connsiteY1" fmla="*/ 257442 h 257442"/>
                <a:gd name="connsiteX2" fmla="*/ 0 w 1951523"/>
                <a:gd name="connsiteY2" fmla="*/ 257442 h 257442"/>
                <a:gd name="connsiteX3" fmla="*/ 54721 w 1951523"/>
                <a:gd name="connsiteY3" fmla="*/ 0 h 257442"/>
                <a:gd name="connsiteX0" fmla="*/ 1951523 w 1951523"/>
                <a:gd name="connsiteY0" fmla="*/ 0 h 257442"/>
                <a:gd name="connsiteX1" fmla="*/ 1896802 w 1951523"/>
                <a:gd name="connsiteY1" fmla="*/ 257442 h 257442"/>
                <a:gd name="connsiteX2" fmla="*/ 0 w 1951523"/>
                <a:gd name="connsiteY2" fmla="*/ 257442 h 257442"/>
                <a:gd name="connsiteX3" fmla="*/ 54721 w 1951523"/>
                <a:gd name="connsiteY3" fmla="*/ 0 h 257442"/>
                <a:gd name="connsiteX0" fmla="*/ 1951523 w 1951523"/>
                <a:gd name="connsiteY0" fmla="*/ 0 h 257442"/>
                <a:gd name="connsiteX1" fmla="*/ 1896802 w 1951523"/>
                <a:gd name="connsiteY1" fmla="*/ 257442 h 257442"/>
                <a:gd name="connsiteX2" fmla="*/ 0 w 1951523"/>
                <a:gd name="connsiteY2" fmla="*/ 257442 h 257442"/>
                <a:gd name="connsiteX3" fmla="*/ 54721 w 1951523"/>
                <a:gd name="connsiteY3" fmla="*/ 0 h 257442"/>
                <a:gd name="connsiteX0" fmla="*/ 2155105 w 2155105"/>
                <a:gd name="connsiteY0" fmla="*/ 0 h 257442"/>
                <a:gd name="connsiteX1" fmla="*/ 1896802 w 2155105"/>
                <a:gd name="connsiteY1" fmla="*/ 257442 h 257442"/>
                <a:gd name="connsiteX2" fmla="*/ 0 w 2155105"/>
                <a:gd name="connsiteY2" fmla="*/ 257442 h 257442"/>
                <a:gd name="connsiteX3" fmla="*/ 54721 w 2155105"/>
                <a:gd name="connsiteY3" fmla="*/ 0 h 257442"/>
                <a:gd name="connsiteX0" fmla="*/ 2155105 w 2155105"/>
                <a:gd name="connsiteY0" fmla="*/ 0 h 257442"/>
                <a:gd name="connsiteX1" fmla="*/ 2100384 w 2155105"/>
                <a:gd name="connsiteY1" fmla="*/ 257442 h 257442"/>
                <a:gd name="connsiteX2" fmla="*/ 0 w 2155105"/>
                <a:gd name="connsiteY2" fmla="*/ 257442 h 257442"/>
                <a:gd name="connsiteX3" fmla="*/ 54721 w 2155105"/>
                <a:gd name="connsiteY3" fmla="*/ 0 h 257442"/>
                <a:gd name="connsiteX0" fmla="*/ 2155105 w 2155105"/>
                <a:gd name="connsiteY0" fmla="*/ 0 h 257442"/>
                <a:gd name="connsiteX1" fmla="*/ 2100384 w 2155105"/>
                <a:gd name="connsiteY1" fmla="*/ 257442 h 257442"/>
                <a:gd name="connsiteX2" fmla="*/ 0 w 2155105"/>
                <a:gd name="connsiteY2" fmla="*/ 257442 h 257442"/>
                <a:gd name="connsiteX3" fmla="*/ 54721 w 2155105"/>
                <a:gd name="connsiteY3" fmla="*/ 0 h 257442"/>
                <a:gd name="connsiteX0" fmla="*/ 2155105 w 2155105"/>
                <a:gd name="connsiteY0" fmla="*/ 0 h 257442"/>
                <a:gd name="connsiteX1" fmla="*/ 2100384 w 2155105"/>
                <a:gd name="connsiteY1" fmla="*/ 257442 h 257442"/>
                <a:gd name="connsiteX2" fmla="*/ 0 w 2155105"/>
                <a:gd name="connsiteY2" fmla="*/ 257442 h 257442"/>
                <a:gd name="connsiteX3" fmla="*/ 54721 w 2155105"/>
                <a:gd name="connsiteY3" fmla="*/ 0 h 257442"/>
                <a:gd name="connsiteX0" fmla="*/ 2434028 w 2434028"/>
                <a:gd name="connsiteY0" fmla="*/ 0 h 257442"/>
                <a:gd name="connsiteX1" fmla="*/ 2100384 w 2434028"/>
                <a:gd name="connsiteY1" fmla="*/ 257442 h 257442"/>
                <a:gd name="connsiteX2" fmla="*/ 0 w 2434028"/>
                <a:gd name="connsiteY2" fmla="*/ 257442 h 257442"/>
                <a:gd name="connsiteX3" fmla="*/ 54721 w 2434028"/>
                <a:gd name="connsiteY3" fmla="*/ 0 h 257442"/>
                <a:gd name="connsiteX0" fmla="*/ 2434028 w 2434028"/>
                <a:gd name="connsiteY0" fmla="*/ 0 h 257442"/>
                <a:gd name="connsiteX1" fmla="*/ 2379306 w 2434028"/>
                <a:gd name="connsiteY1" fmla="*/ 257442 h 257442"/>
                <a:gd name="connsiteX2" fmla="*/ 0 w 2434028"/>
                <a:gd name="connsiteY2" fmla="*/ 257442 h 257442"/>
                <a:gd name="connsiteX3" fmla="*/ 54721 w 2434028"/>
                <a:gd name="connsiteY3" fmla="*/ 0 h 257442"/>
                <a:gd name="connsiteX0" fmla="*/ 2434029 w 2434029"/>
                <a:gd name="connsiteY0" fmla="*/ 0 h 257442"/>
                <a:gd name="connsiteX1" fmla="*/ 2379307 w 2434029"/>
                <a:gd name="connsiteY1" fmla="*/ 257442 h 257442"/>
                <a:gd name="connsiteX2" fmla="*/ 0 w 2434029"/>
                <a:gd name="connsiteY2" fmla="*/ 257442 h 257442"/>
                <a:gd name="connsiteX3" fmla="*/ 54722 w 2434029"/>
                <a:gd name="connsiteY3" fmla="*/ 0 h 257442"/>
                <a:gd name="connsiteX0" fmla="*/ 2434029 w 2434029"/>
                <a:gd name="connsiteY0" fmla="*/ 0 h 257442"/>
                <a:gd name="connsiteX1" fmla="*/ 2379307 w 2434029"/>
                <a:gd name="connsiteY1" fmla="*/ 257442 h 257442"/>
                <a:gd name="connsiteX2" fmla="*/ 0 w 2434029"/>
                <a:gd name="connsiteY2" fmla="*/ 257442 h 257442"/>
                <a:gd name="connsiteX3" fmla="*/ 54722 w 2434029"/>
                <a:gd name="connsiteY3" fmla="*/ 0 h 257442"/>
                <a:gd name="connsiteX0" fmla="*/ 2602344 w 2602344"/>
                <a:gd name="connsiteY0" fmla="*/ 0 h 257442"/>
                <a:gd name="connsiteX1" fmla="*/ 2379307 w 2602344"/>
                <a:gd name="connsiteY1" fmla="*/ 257442 h 257442"/>
                <a:gd name="connsiteX2" fmla="*/ 0 w 2602344"/>
                <a:gd name="connsiteY2" fmla="*/ 257442 h 257442"/>
                <a:gd name="connsiteX3" fmla="*/ 54722 w 2602344"/>
                <a:gd name="connsiteY3" fmla="*/ 0 h 257442"/>
                <a:gd name="connsiteX0" fmla="*/ 2602344 w 2602344"/>
                <a:gd name="connsiteY0" fmla="*/ 0 h 257442"/>
                <a:gd name="connsiteX1" fmla="*/ 2547622 w 2602344"/>
                <a:gd name="connsiteY1" fmla="*/ 257442 h 257442"/>
                <a:gd name="connsiteX2" fmla="*/ 0 w 2602344"/>
                <a:gd name="connsiteY2" fmla="*/ 257442 h 257442"/>
                <a:gd name="connsiteX3" fmla="*/ 54722 w 2602344"/>
                <a:gd name="connsiteY3" fmla="*/ 0 h 257442"/>
                <a:gd name="connsiteX0" fmla="*/ 2602344 w 2602344"/>
                <a:gd name="connsiteY0" fmla="*/ 0 h 257442"/>
                <a:gd name="connsiteX1" fmla="*/ 2547622 w 2602344"/>
                <a:gd name="connsiteY1" fmla="*/ 257442 h 257442"/>
                <a:gd name="connsiteX2" fmla="*/ 0 w 2602344"/>
                <a:gd name="connsiteY2" fmla="*/ 257442 h 257442"/>
                <a:gd name="connsiteX3" fmla="*/ 54722 w 2602344"/>
                <a:gd name="connsiteY3" fmla="*/ 0 h 257442"/>
                <a:gd name="connsiteX0" fmla="*/ 2602344 w 2602344"/>
                <a:gd name="connsiteY0" fmla="*/ 0 h 257442"/>
                <a:gd name="connsiteX1" fmla="*/ 2547622 w 2602344"/>
                <a:gd name="connsiteY1" fmla="*/ 257442 h 257442"/>
                <a:gd name="connsiteX2" fmla="*/ 0 w 2602344"/>
                <a:gd name="connsiteY2" fmla="*/ 257442 h 257442"/>
                <a:gd name="connsiteX3" fmla="*/ 54721 w 2602344"/>
                <a:gd name="connsiteY3" fmla="*/ 0 h 257442"/>
                <a:gd name="connsiteX0" fmla="*/ 2871647 w 2871647"/>
                <a:gd name="connsiteY0" fmla="*/ 0 h 257442"/>
                <a:gd name="connsiteX1" fmla="*/ 2547622 w 2871647"/>
                <a:gd name="connsiteY1" fmla="*/ 257442 h 257442"/>
                <a:gd name="connsiteX2" fmla="*/ 0 w 2871647"/>
                <a:gd name="connsiteY2" fmla="*/ 257442 h 257442"/>
                <a:gd name="connsiteX3" fmla="*/ 54721 w 2871647"/>
                <a:gd name="connsiteY3" fmla="*/ 0 h 257442"/>
                <a:gd name="connsiteX0" fmla="*/ 2871647 w 2871647"/>
                <a:gd name="connsiteY0" fmla="*/ 0 h 257442"/>
                <a:gd name="connsiteX1" fmla="*/ 2816926 w 2871647"/>
                <a:gd name="connsiteY1" fmla="*/ 257442 h 257442"/>
                <a:gd name="connsiteX2" fmla="*/ 0 w 2871647"/>
                <a:gd name="connsiteY2" fmla="*/ 257442 h 257442"/>
                <a:gd name="connsiteX3" fmla="*/ 54721 w 2871647"/>
                <a:gd name="connsiteY3" fmla="*/ 0 h 257442"/>
                <a:gd name="connsiteX0" fmla="*/ 2871647 w 2871647"/>
                <a:gd name="connsiteY0" fmla="*/ 0 h 257442"/>
                <a:gd name="connsiteX1" fmla="*/ 2816926 w 2871647"/>
                <a:gd name="connsiteY1" fmla="*/ 257442 h 257442"/>
                <a:gd name="connsiteX2" fmla="*/ 0 w 2871647"/>
                <a:gd name="connsiteY2" fmla="*/ 257442 h 257442"/>
                <a:gd name="connsiteX3" fmla="*/ 54721 w 2871647"/>
                <a:gd name="connsiteY3" fmla="*/ 0 h 257442"/>
                <a:gd name="connsiteX0" fmla="*/ 2871647 w 2871647"/>
                <a:gd name="connsiteY0" fmla="*/ 0 h 257442"/>
                <a:gd name="connsiteX1" fmla="*/ 2816926 w 2871647"/>
                <a:gd name="connsiteY1" fmla="*/ 257442 h 257442"/>
                <a:gd name="connsiteX2" fmla="*/ 0 w 2871647"/>
                <a:gd name="connsiteY2" fmla="*/ 257442 h 257442"/>
                <a:gd name="connsiteX3" fmla="*/ 54721 w 2871647"/>
                <a:gd name="connsiteY3" fmla="*/ 0 h 257442"/>
                <a:gd name="connsiteX0" fmla="*/ 3031947 w 3031947"/>
                <a:gd name="connsiteY0" fmla="*/ 0 h 257442"/>
                <a:gd name="connsiteX1" fmla="*/ 2816926 w 3031947"/>
                <a:gd name="connsiteY1" fmla="*/ 257442 h 257442"/>
                <a:gd name="connsiteX2" fmla="*/ 0 w 3031947"/>
                <a:gd name="connsiteY2" fmla="*/ 257442 h 257442"/>
                <a:gd name="connsiteX3" fmla="*/ 54721 w 3031947"/>
                <a:gd name="connsiteY3" fmla="*/ 0 h 257442"/>
                <a:gd name="connsiteX0" fmla="*/ 3031947 w 3031947"/>
                <a:gd name="connsiteY0" fmla="*/ 0 h 257442"/>
                <a:gd name="connsiteX1" fmla="*/ 2977226 w 3031947"/>
                <a:gd name="connsiteY1" fmla="*/ 257442 h 257442"/>
                <a:gd name="connsiteX2" fmla="*/ 0 w 3031947"/>
                <a:gd name="connsiteY2" fmla="*/ 257442 h 257442"/>
                <a:gd name="connsiteX3" fmla="*/ 54721 w 3031947"/>
                <a:gd name="connsiteY3" fmla="*/ 0 h 257442"/>
                <a:gd name="connsiteX0" fmla="*/ 3031947 w 3031947"/>
                <a:gd name="connsiteY0" fmla="*/ 0 h 257442"/>
                <a:gd name="connsiteX1" fmla="*/ 2977226 w 3031947"/>
                <a:gd name="connsiteY1" fmla="*/ 257442 h 257442"/>
                <a:gd name="connsiteX2" fmla="*/ 0 w 3031947"/>
                <a:gd name="connsiteY2" fmla="*/ 257442 h 257442"/>
                <a:gd name="connsiteX3" fmla="*/ 54721 w 3031947"/>
                <a:gd name="connsiteY3" fmla="*/ 0 h 257442"/>
                <a:gd name="connsiteX0" fmla="*/ 3031947 w 3031947"/>
                <a:gd name="connsiteY0" fmla="*/ 0 h 257442"/>
                <a:gd name="connsiteX1" fmla="*/ 2977226 w 3031947"/>
                <a:gd name="connsiteY1" fmla="*/ 257442 h 257442"/>
                <a:gd name="connsiteX2" fmla="*/ 0 w 3031947"/>
                <a:gd name="connsiteY2" fmla="*/ 257442 h 257442"/>
                <a:gd name="connsiteX3" fmla="*/ 54721 w 3031947"/>
                <a:gd name="connsiteY3" fmla="*/ 0 h 257442"/>
                <a:gd name="connsiteX0" fmla="*/ 942786 w 2977226"/>
                <a:gd name="connsiteY0" fmla="*/ 0 h 257442"/>
                <a:gd name="connsiteX1" fmla="*/ 2977226 w 2977226"/>
                <a:gd name="connsiteY1" fmla="*/ 257442 h 257442"/>
                <a:gd name="connsiteX2" fmla="*/ 0 w 2977226"/>
                <a:gd name="connsiteY2" fmla="*/ 257442 h 257442"/>
                <a:gd name="connsiteX3" fmla="*/ 54721 w 2977226"/>
                <a:gd name="connsiteY3" fmla="*/ 0 h 257442"/>
                <a:gd name="connsiteX0" fmla="*/ 942786 w 942786"/>
                <a:gd name="connsiteY0" fmla="*/ 0 h 257442"/>
                <a:gd name="connsiteX1" fmla="*/ 888065 w 942786"/>
                <a:gd name="connsiteY1" fmla="*/ 257442 h 257442"/>
                <a:gd name="connsiteX2" fmla="*/ 0 w 942786"/>
                <a:gd name="connsiteY2" fmla="*/ 257442 h 257442"/>
                <a:gd name="connsiteX3" fmla="*/ 54721 w 942786"/>
                <a:gd name="connsiteY3" fmla="*/ 0 h 257442"/>
                <a:gd name="connsiteX0" fmla="*/ 942786 w 942786"/>
                <a:gd name="connsiteY0" fmla="*/ 0 h 257442"/>
                <a:gd name="connsiteX1" fmla="*/ 888065 w 942786"/>
                <a:gd name="connsiteY1" fmla="*/ 257442 h 257442"/>
                <a:gd name="connsiteX2" fmla="*/ 0 w 942786"/>
                <a:gd name="connsiteY2" fmla="*/ 257442 h 257442"/>
                <a:gd name="connsiteX3" fmla="*/ 54721 w 942786"/>
                <a:gd name="connsiteY3" fmla="*/ 0 h 257442"/>
                <a:gd name="connsiteX0" fmla="*/ 942786 w 942786"/>
                <a:gd name="connsiteY0" fmla="*/ 0 h 257442"/>
                <a:gd name="connsiteX1" fmla="*/ 888065 w 942786"/>
                <a:gd name="connsiteY1" fmla="*/ 257442 h 257442"/>
                <a:gd name="connsiteX2" fmla="*/ 0 w 942786"/>
                <a:gd name="connsiteY2" fmla="*/ 257442 h 257442"/>
                <a:gd name="connsiteX3" fmla="*/ 54721 w 942786"/>
                <a:gd name="connsiteY3" fmla="*/ 0 h 257442"/>
                <a:gd name="connsiteX0" fmla="*/ 1128734 w 1128734"/>
                <a:gd name="connsiteY0" fmla="*/ 0 h 257442"/>
                <a:gd name="connsiteX1" fmla="*/ 888065 w 1128734"/>
                <a:gd name="connsiteY1" fmla="*/ 257442 h 257442"/>
                <a:gd name="connsiteX2" fmla="*/ 0 w 1128734"/>
                <a:gd name="connsiteY2" fmla="*/ 257442 h 257442"/>
                <a:gd name="connsiteX3" fmla="*/ 54721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54721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54721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54721 w 1128734"/>
                <a:gd name="connsiteY3" fmla="*/ 0 h 257442"/>
                <a:gd name="connsiteX0" fmla="*/ 1306668 w 1306668"/>
                <a:gd name="connsiteY0" fmla="*/ 0 h 257442"/>
                <a:gd name="connsiteX1" fmla="*/ 1074013 w 1306668"/>
                <a:gd name="connsiteY1" fmla="*/ 257442 h 257442"/>
                <a:gd name="connsiteX2" fmla="*/ 0 w 1306668"/>
                <a:gd name="connsiteY2" fmla="*/ 257442 h 257442"/>
                <a:gd name="connsiteX3" fmla="*/ 54721 w 1306668"/>
                <a:gd name="connsiteY3" fmla="*/ 0 h 257442"/>
                <a:gd name="connsiteX0" fmla="*/ 1306668 w 1306668"/>
                <a:gd name="connsiteY0" fmla="*/ 0 h 257442"/>
                <a:gd name="connsiteX1" fmla="*/ 1251947 w 1306668"/>
                <a:gd name="connsiteY1" fmla="*/ 257442 h 257442"/>
                <a:gd name="connsiteX2" fmla="*/ 0 w 1306668"/>
                <a:gd name="connsiteY2" fmla="*/ 257442 h 257442"/>
                <a:gd name="connsiteX3" fmla="*/ 54721 w 1306668"/>
                <a:gd name="connsiteY3" fmla="*/ 0 h 257442"/>
                <a:gd name="connsiteX0" fmla="*/ 1306668 w 1306668"/>
                <a:gd name="connsiteY0" fmla="*/ 0 h 257442"/>
                <a:gd name="connsiteX1" fmla="*/ 1251947 w 1306668"/>
                <a:gd name="connsiteY1" fmla="*/ 257442 h 257442"/>
                <a:gd name="connsiteX2" fmla="*/ 0 w 1306668"/>
                <a:gd name="connsiteY2" fmla="*/ 257442 h 257442"/>
                <a:gd name="connsiteX3" fmla="*/ 54721 w 1306668"/>
                <a:gd name="connsiteY3" fmla="*/ 0 h 257442"/>
                <a:gd name="connsiteX0" fmla="*/ 1306668 w 1306668"/>
                <a:gd name="connsiteY0" fmla="*/ 0 h 257442"/>
                <a:gd name="connsiteX1" fmla="*/ 1251947 w 1306668"/>
                <a:gd name="connsiteY1" fmla="*/ 257442 h 257442"/>
                <a:gd name="connsiteX2" fmla="*/ 0 w 1306668"/>
                <a:gd name="connsiteY2" fmla="*/ 257442 h 257442"/>
                <a:gd name="connsiteX3" fmla="*/ 54721 w 1306668"/>
                <a:gd name="connsiteY3" fmla="*/ 0 h 257442"/>
                <a:gd name="connsiteX0" fmla="*/ 1474983 w 1474983"/>
                <a:gd name="connsiteY0" fmla="*/ 0 h 257442"/>
                <a:gd name="connsiteX1" fmla="*/ 1251947 w 1474983"/>
                <a:gd name="connsiteY1" fmla="*/ 257442 h 257442"/>
                <a:gd name="connsiteX2" fmla="*/ 0 w 1474983"/>
                <a:gd name="connsiteY2" fmla="*/ 257442 h 257442"/>
                <a:gd name="connsiteX3" fmla="*/ 54721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54721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54721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54721 w 1474983"/>
                <a:gd name="connsiteY3" fmla="*/ 0 h 257442"/>
                <a:gd name="connsiteX0" fmla="*/ 1635283 w 1635283"/>
                <a:gd name="connsiteY0" fmla="*/ 0 h 257442"/>
                <a:gd name="connsiteX1" fmla="*/ 1420262 w 1635283"/>
                <a:gd name="connsiteY1" fmla="*/ 257442 h 257442"/>
                <a:gd name="connsiteX2" fmla="*/ 0 w 1635283"/>
                <a:gd name="connsiteY2" fmla="*/ 257442 h 257442"/>
                <a:gd name="connsiteX3" fmla="*/ 54721 w 1635283"/>
                <a:gd name="connsiteY3" fmla="*/ 0 h 257442"/>
                <a:gd name="connsiteX0" fmla="*/ 1635283 w 1635283"/>
                <a:gd name="connsiteY0" fmla="*/ 0 h 257442"/>
                <a:gd name="connsiteX1" fmla="*/ 1580562 w 1635283"/>
                <a:gd name="connsiteY1" fmla="*/ 257442 h 257442"/>
                <a:gd name="connsiteX2" fmla="*/ 0 w 1635283"/>
                <a:gd name="connsiteY2" fmla="*/ 257442 h 257442"/>
                <a:gd name="connsiteX3" fmla="*/ 54721 w 1635283"/>
                <a:gd name="connsiteY3" fmla="*/ 0 h 257442"/>
                <a:gd name="connsiteX0" fmla="*/ 1635283 w 1635283"/>
                <a:gd name="connsiteY0" fmla="*/ 0 h 257442"/>
                <a:gd name="connsiteX1" fmla="*/ 1580562 w 1635283"/>
                <a:gd name="connsiteY1" fmla="*/ 257442 h 257442"/>
                <a:gd name="connsiteX2" fmla="*/ 0 w 1635283"/>
                <a:gd name="connsiteY2" fmla="*/ 257442 h 257442"/>
                <a:gd name="connsiteX3" fmla="*/ 54721 w 1635283"/>
                <a:gd name="connsiteY3" fmla="*/ 0 h 257442"/>
                <a:gd name="connsiteX0" fmla="*/ 1635283 w 1635283"/>
                <a:gd name="connsiteY0" fmla="*/ 0 h 257442"/>
                <a:gd name="connsiteX1" fmla="*/ 1580562 w 1635283"/>
                <a:gd name="connsiteY1" fmla="*/ 257442 h 257442"/>
                <a:gd name="connsiteX2" fmla="*/ 0 w 1635283"/>
                <a:gd name="connsiteY2" fmla="*/ 257442 h 257442"/>
                <a:gd name="connsiteX3" fmla="*/ 54721 w 1635283"/>
                <a:gd name="connsiteY3" fmla="*/ 0 h 257442"/>
                <a:gd name="connsiteX0" fmla="*/ 1904587 w 1904587"/>
                <a:gd name="connsiteY0" fmla="*/ 0 h 257442"/>
                <a:gd name="connsiteX1" fmla="*/ 1580562 w 1904587"/>
                <a:gd name="connsiteY1" fmla="*/ 257442 h 257442"/>
                <a:gd name="connsiteX2" fmla="*/ 0 w 1904587"/>
                <a:gd name="connsiteY2" fmla="*/ 257442 h 257442"/>
                <a:gd name="connsiteX3" fmla="*/ 54721 w 1904587"/>
                <a:gd name="connsiteY3" fmla="*/ 0 h 257442"/>
                <a:gd name="connsiteX0" fmla="*/ 1904587 w 1904587"/>
                <a:gd name="connsiteY0" fmla="*/ 0 h 257442"/>
                <a:gd name="connsiteX1" fmla="*/ 1849866 w 1904587"/>
                <a:gd name="connsiteY1" fmla="*/ 257442 h 257442"/>
                <a:gd name="connsiteX2" fmla="*/ 0 w 1904587"/>
                <a:gd name="connsiteY2" fmla="*/ 257442 h 257442"/>
                <a:gd name="connsiteX3" fmla="*/ 54721 w 1904587"/>
                <a:gd name="connsiteY3" fmla="*/ 0 h 257442"/>
                <a:gd name="connsiteX0" fmla="*/ 1904587 w 1904587"/>
                <a:gd name="connsiteY0" fmla="*/ 0 h 257442"/>
                <a:gd name="connsiteX1" fmla="*/ 1849866 w 1904587"/>
                <a:gd name="connsiteY1" fmla="*/ 257442 h 257442"/>
                <a:gd name="connsiteX2" fmla="*/ 0 w 1904587"/>
                <a:gd name="connsiteY2" fmla="*/ 257442 h 257442"/>
                <a:gd name="connsiteX3" fmla="*/ 54721 w 1904587"/>
                <a:gd name="connsiteY3" fmla="*/ 0 h 257442"/>
                <a:gd name="connsiteX0" fmla="*/ 1904587 w 1904587"/>
                <a:gd name="connsiteY0" fmla="*/ 0 h 257442"/>
                <a:gd name="connsiteX1" fmla="*/ 1849866 w 1904587"/>
                <a:gd name="connsiteY1" fmla="*/ 257442 h 257442"/>
                <a:gd name="connsiteX2" fmla="*/ 0 w 1904587"/>
                <a:gd name="connsiteY2" fmla="*/ 257442 h 257442"/>
                <a:gd name="connsiteX3" fmla="*/ 54721 w 1904587"/>
                <a:gd name="connsiteY3" fmla="*/ 0 h 257442"/>
                <a:gd name="connsiteX0" fmla="*/ 2064888 w 2064888"/>
                <a:gd name="connsiteY0" fmla="*/ 0 h 257442"/>
                <a:gd name="connsiteX1" fmla="*/ 1849866 w 2064888"/>
                <a:gd name="connsiteY1" fmla="*/ 257442 h 257442"/>
                <a:gd name="connsiteX2" fmla="*/ 0 w 2064888"/>
                <a:gd name="connsiteY2" fmla="*/ 257442 h 257442"/>
                <a:gd name="connsiteX3" fmla="*/ 54721 w 2064888"/>
                <a:gd name="connsiteY3" fmla="*/ 0 h 257442"/>
                <a:gd name="connsiteX0" fmla="*/ 2064888 w 2064888"/>
                <a:gd name="connsiteY0" fmla="*/ 0 h 257442"/>
                <a:gd name="connsiteX1" fmla="*/ 2010166 w 2064888"/>
                <a:gd name="connsiteY1" fmla="*/ 257442 h 257442"/>
                <a:gd name="connsiteX2" fmla="*/ 0 w 2064888"/>
                <a:gd name="connsiteY2" fmla="*/ 257442 h 257442"/>
                <a:gd name="connsiteX3" fmla="*/ 54721 w 2064888"/>
                <a:gd name="connsiteY3" fmla="*/ 0 h 257442"/>
                <a:gd name="connsiteX0" fmla="*/ 2064889 w 2064889"/>
                <a:gd name="connsiteY0" fmla="*/ 0 h 257442"/>
                <a:gd name="connsiteX1" fmla="*/ 2010167 w 2064889"/>
                <a:gd name="connsiteY1" fmla="*/ 257442 h 257442"/>
                <a:gd name="connsiteX2" fmla="*/ 0 w 2064889"/>
                <a:gd name="connsiteY2" fmla="*/ 257442 h 257442"/>
                <a:gd name="connsiteX3" fmla="*/ 54722 w 2064889"/>
                <a:gd name="connsiteY3" fmla="*/ 0 h 257442"/>
                <a:gd name="connsiteX0" fmla="*/ 2064889 w 2064889"/>
                <a:gd name="connsiteY0" fmla="*/ 0 h 257442"/>
                <a:gd name="connsiteX1" fmla="*/ 2010167 w 2064889"/>
                <a:gd name="connsiteY1" fmla="*/ 257442 h 257442"/>
                <a:gd name="connsiteX2" fmla="*/ 0 w 2064889"/>
                <a:gd name="connsiteY2" fmla="*/ 257442 h 257442"/>
                <a:gd name="connsiteX3" fmla="*/ 54722 w 2064889"/>
                <a:gd name="connsiteY3" fmla="*/ 0 h 257442"/>
                <a:gd name="connsiteX0" fmla="*/ 2377475 w 2377475"/>
                <a:gd name="connsiteY0" fmla="*/ 0 h 257442"/>
                <a:gd name="connsiteX1" fmla="*/ 2010167 w 2377475"/>
                <a:gd name="connsiteY1" fmla="*/ 257442 h 257442"/>
                <a:gd name="connsiteX2" fmla="*/ 0 w 2377475"/>
                <a:gd name="connsiteY2" fmla="*/ 257442 h 257442"/>
                <a:gd name="connsiteX3" fmla="*/ 54722 w 2377475"/>
                <a:gd name="connsiteY3" fmla="*/ 0 h 257442"/>
                <a:gd name="connsiteX0" fmla="*/ 2377475 w 2377475"/>
                <a:gd name="connsiteY0" fmla="*/ 0 h 257442"/>
                <a:gd name="connsiteX1" fmla="*/ 2322754 w 2377475"/>
                <a:gd name="connsiteY1" fmla="*/ 257442 h 257442"/>
                <a:gd name="connsiteX2" fmla="*/ 0 w 2377475"/>
                <a:gd name="connsiteY2" fmla="*/ 257442 h 257442"/>
                <a:gd name="connsiteX3" fmla="*/ 54722 w 2377475"/>
                <a:gd name="connsiteY3" fmla="*/ 0 h 257442"/>
                <a:gd name="connsiteX0" fmla="*/ 2377474 w 2377474"/>
                <a:gd name="connsiteY0" fmla="*/ 0 h 257442"/>
                <a:gd name="connsiteX1" fmla="*/ 2322753 w 2377474"/>
                <a:gd name="connsiteY1" fmla="*/ 257442 h 257442"/>
                <a:gd name="connsiteX2" fmla="*/ 0 w 2377474"/>
                <a:gd name="connsiteY2" fmla="*/ 257442 h 257442"/>
                <a:gd name="connsiteX3" fmla="*/ 54721 w 2377474"/>
                <a:gd name="connsiteY3" fmla="*/ 0 h 257442"/>
                <a:gd name="connsiteX0" fmla="*/ 2377474 w 2377474"/>
                <a:gd name="connsiteY0" fmla="*/ 0 h 257442"/>
                <a:gd name="connsiteX1" fmla="*/ 2322753 w 2377474"/>
                <a:gd name="connsiteY1" fmla="*/ 257442 h 257442"/>
                <a:gd name="connsiteX2" fmla="*/ 0 w 2377474"/>
                <a:gd name="connsiteY2" fmla="*/ 257442 h 257442"/>
                <a:gd name="connsiteX3" fmla="*/ 54720 w 2377474"/>
                <a:gd name="connsiteY3" fmla="*/ 0 h 257442"/>
                <a:gd name="connsiteX0" fmla="*/ 2545788 w 2545788"/>
                <a:gd name="connsiteY0" fmla="*/ 0 h 257442"/>
                <a:gd name="connsiteX1" fmla="*/ 2322753 w 2545788"/>
                <a:gd name="connsiteY1" fmla="*/ 257442 h 257442"/>
                <a:gd name="connsiteX2" fmla="*/ 0 w 2545788"/>
                <a:gd name="connsiteY2" fmla="*/ 257442 h 257442"/>
                <a:gd name="connsiteX3" fmla="*/ 54720 w 2545788"/>
                <a:gd name="connsiteY3" fmla="*/ 0 h 257442"/>
                <a:gd name="connsiteX0" fmla="*/ 2545788 w 2545788"/>
                <a:gd name="connsiteY0" fmla="*/ 0 h 257442"/>
                <a:gd name="connsiteX1" fmla="*/ 2491067 w 2545788"/>
                <a:gd name="connsiteY1" fmla="*/ 257442 h 257442"/>
                <a:gd name="connsiteX2" fmla="*/ 0 w 2545788"/>
                <a:gd name="connsiteY2" fmla="*/ 257442 h 257442"/>
                <a:gd name="connsiteX3" fmla="*/ 54720 w 2545788"/>
                <a:gd name="connsiteY3" fmla="*/ 0 h 257442"/>
                <a:gd name="connsiteX0" fmla="*/ 2545789 w 2545789"/>
                <a:gd name="connsiteY0" fmla="*/ 0 h 257442"/>
                <a:gd name="connsiteX1" fmla="*/ 2491068 w 2545789"/>
                <a:gd name="connsiteY1" fmla="*/ 257442 h 257442"/>
                <a:gd name="connsiteX2" fmla="*/ 0 w 2545789"/>
                <a:gd name="connsiteY2" fmla="*/ 257442 h 257442"/>
                <a:gd name="connsiteX3" fmla="*/ 54721 w 2545789"/>
                <a:gd name="connsiteY3" fmla="*/ 0 h 257442"/>
                <a:gd name="connsiteX0" fmla="*/ 2545789 w 2545789"/>
                <a:gd name="connsiteY0" fmla="*/ 0 h 257442"/>
                <a:gd name="connsiteX1" fmla="*/ 2491068 w 2545789"/>
                <a:gd name="connsiteY1" fmla="*/ 257442 h 257442"/>
                <a:gd name="connsiteX2" fmla="*/ 0 w 2545789"/>
                <a:gd name="connsiteY2" fmla="*/ 257442 h 257442"/>
                <a:gd name="connsiteX3" fmla="*/ 54722 w 2545789"/>
                <a:gd name="connsiteY3" fmla="*/ 0 h 257442"/>
                <a:gd name="connsiteX0" fmla="*/ 2873252 w 2873252"/>
                <a:gd name="connsiteY0" fmla="*/ 0 h 257442"/>
                <a:gd name="connsiteX1" fmla="*/ 2491068 w 2873252"/>
                <a:gd name="connsiteY1" fmla="*/ 257442 h 257442"/>
                <a:gd name="connsiteX2" fmla="*/ 0 w 2873252"/>
                <a:gd name="connsiteY2" fmla="*/ 257442 h 257442"/>
                <a:gd name="connsiteX3" fmla="*/ 54722 w 2873252"/>
                <a:gd name="connsiteY3" fmla="*/ 0 h 257442"/>
                <a:gd name="connsiteX0" fmla="*/ 2873252 w 2873252"/>
                <a:gd name="connsiteY0" fmla="*/ 0 h 257442"/>
                <a:gd name="connsiteX1" fmla="*/ 2818530 w 2873252"/>
                <a:gd name="connsiteY1" fmla="*/ 257442 h 257442"/>
                <a:gd name="connsiteX2" fmla="*/ 0 w 2873252"/>
                <a:gd name="connsiteY2" fmla="*/ 257442 h 257442"/>
                <a:gd name="connsiteX3" fmla="*/ 54722 w 2873252"/>
                <a:gd name="connsiteY3" fmla="*/ 0 h 257442"/>
                <a:gd name="connsiteX0" fmla="*/ 2873252 w 2873252"/>
                <a:gd name="connsiteY0" fmla="*/ 0 h 257442"/>
                <a:gd name="connsiteX1" fmla="*/ 2818530 w 2873252"/>
                <a:gd name="connsiteY1" fmla="*/ 257442 h 257442"/>
                <a:gd name="connsiteX2" fmla="*/ 0 w 2873252"/>
                <a:gd name="connsiteY2" fmla="*/ 257442 h 257442"/>
                <a:gd name="connsiteX3" fmla="*/ 54722 w 2873252"/>
                <a:gd name="connsiteY3" fmla="*/ 0 h 257442"/>
                <a:gd name="connsiteX0" fmla="*/ 2873252 w 2873252"/>
                <a:gd name="connsiteY0" fmla="*/ 0 h 257442"/>
                <a:gd name="connsiteX1" fmla="*/ 2818530 w 2873252"/>
                <a:gd name="connsiteY1" fmla="*/ 257442 h 257442"/>
                <a:gd name="connsiteX2" fmla="*/ 0 w 2873252"/>
                <a:gd name="connsiteY2" fmla="*/ 257442 h 257442"/>
                <a:gd name="connsiteX3" fmla="*/ 54721 w 2873252"/>
                <a:gd name="connsiteY3" fmla="*/ 0 h 257442"/>
                <a:gd name="connsiteX0" fmla="*/ 3041565 w 3041565"/>
                <a:gd name="connsiteY0" fmla="*/ 0 h 257442"/>
                <a:gd name="connsiteX1" fmla="*/ 2818530 w 3041565"/>
                <a:gd name="connsiteY1" fmla="*/ 257442 h 257442"/>
                <a:gd name="connsiteX2" fmla="*/ 0 w 3041565"/>
                <a:gd name="connsiteY2" fmla="*/ 257442 h 257442"/>
                <a:gd name="connsiteX3" fmla="*/ 54721 w 3041565"/>
                <a:gd name="connsiteY3" fmla="*/ 0 h 257442"/>
                <a:gd name="connsiteX0" fmla="*/ 3041565 w 3041565"/>
                <a:gd name="connsiteY0" fmla="*/ 0 h 257442"/>
                <a:gd name="connsiteX1" fmla="*/ 2986844 w 3041565"/>
                <a:gd name="connsiteY1" fmla="*/ 257442 h 257442"/>
                <a:gd name="connsiteX2" fmla="*/ 0 w 3041565"/>
                <a:gd name="connsiteY2" fmla="*/ 257442 h 257442"/>
                <a:gd name="connsiteX3" fmla="*/ 54721 w 3041565"/>
                <a:gd name="connsiteY3" fmla="*/ 0 h 257442"/>
                <a:gd name="connsiteX0" fmla="*/ 3041565 w 3041565"/>
                <a:gd name="connsiteY0" fmla="*/ 0 h 257442"/>
                <a:gd name="connsiteX1" fmla="*/ 2986844 w 3041565"/>
                <a:gd name="connsiteY1" fmla="*/ 257442 h 257442"/>
                <a:gd name="connsiteX2" fmla="*/ 0 w 3041565"/>
                <a:gd name="connsiteY2" fmla="*/ 257442 h 257442"/>
                <a:gd name="connsiteX3" fmla="*/ 54721 w 3041565"/>
                <a:gd name="connsiteY3" fmla="*/ 0 h 257442"/>
                <a:gd name="connsiteX0" fmla="*/ 3041565 w 3041565"/>
                <a:gd name="connsiteY0" fmla="*/ 0 h 257442"/>
                <a:gd name="connsiteX1" fmla="*/ 2986844 w 3041565"/>
                <a:gd name="connsiteY1" fmla="*/ 257442 h 257442"/>
                <a:gd name="connsiteX2" fmla="*/ 0 w 3041565"/>
                <a:gd name="connsiteY2" fmla="*/ 257442 h 257442"/>
                <a:gd name="connsiteX3" fmla="*/ 54721 w 3041565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1565" h="257442">
                  <a:moveTo>
                    <a:pt x="3041565" y="0"/>
                  </a:moveTo>
                  <a:lnTo>
                    <a:pt x="2986844" y="257442"/>
                  </a:lnTo>
                  <a:lnTo>
                    <a:pt x="0" y="257442"/>
                  </a:lnTo>
                  <a:lnTo>
                    <a:pt x="54721" y="0"/>
                  </a:lnTo>
                  <a:close/>
                </a:path>
              </a:pathLst>
            </a:custGeom>
            <a:solidFill>
              <a:srgbClr val="B4B4B4"/>
            </a:soli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4" name="btfpRunningAgenda2LevelTextRight822447">
              <a:extLst>
                <a:ext uri="{FF2B5EF4-FFF2-40B4-BE49-F238E27FC236}">
                  <a16:creationId xmlns:a16="http://schemas.microsoft.com/office/drawing/2014/main" id="{4B889F65-25CE-7E45-F688-B0F063375854}"/>
                </a:ext>
              </a:extLst>
            </p:cNvPr>
            <p:cNvSpPr txBox="1"/>
            <p:nvPr/>
          </p:nvSpPr>
          <p:spPr bwMode="gray">
            <a:xfrm>
              <a:off x="1632336" y="876300"/>
              <a:ext cx="2986844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FFFFFF"/>
                  </a:solidFill>
                </a:rPr>
                <a:t>smoke detector</a:t>
              </a:r>
            </a:p>
          </p:txBody>
        </p:sp>
      </p:grpSp>
      <p:sp>
        <p:nvSpPr>
          <p:cNvPr id="3" name="btfpNumberBubble110937">
            <a:extLst>
              <a:ext uri="{FF2B5EF4-FFF2-40B4-BE49-F238E27FC236}">
                <a16:creationId xmlns:a16="http://schemas.microsoft.com/office/drawing/2014/main" id="{2FC4407B-8C59-DFC1-B287-F050240DEF08}"/>
              </a:ext>
            </a:extLst>
          </p:cNvPr>
          <p:cNvSpPr/>
          <p:nvPr/>
        </p:nvSpPr>
        <p:spPr bwMode="gray">
          <a:xfrm>
            <a:off x="6350" y="454413"/>
            <a:ext cx="317500" cy="317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b="1">
                <a:solidFill>
                  <a:srgbClr val="CC0000"/>
                </a:solidFill>
              </a:rPr>
              <a:t>4</a:t>
            </a:r>
          </a:p>
        </p:txBody>
      </p:sp>
      <p:sp>
        <p:nvSpPr>
          <p:cNvPr id="4" name="CommentBox">
            <a:extLst>
              <a:ext uri="{FF2B5EF4-FFF2-40B4-BE49-F238E27FC236}">
                <a16:creationId xmlns:a16="http://schemas.microsoft.com/office/drawing/2014/main" id="{36F45FD6-FEE2-F48F-E1EC-10363F184423}"/>
              </a:ext>
            </a:extLst>
          </p:cNvPr>
          <p:cNvSpPr/>
          <p:nvPr/>
        </p:nvSpPr>
        <p:spPr bwMode="gray">
          <a:xfrm>
            <a:off x="10748867" y="93290"/>
            <a:ext cx="1387151" cy="771676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B03C6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900" b="1">
                <a:solidFill>
                  <a:srgbClr val="FFFFFF"/>
                </a:solidFill>
                <a:latin typeface="Arial" panose="020B0604020202020204" pitchFamily="34" charset="0"/>
              </a:rPr>
              <a:t>SBN: FYI this could be an input to estimate IT spend as % of revenue (cost would come out of SG&amp;A bucket)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61442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OLUMNGUIDE" val="Visible"/>
  <p:tag name="MEKKOFORMATS" val="&lt;MekkoFormats&gt;&lt;NumberFormat DecimalSeparator=&quot;.&quot; ThousandSeparator=&quot;,&quot; NegativeNumberFormat=&quot;1&quot; /&gt;&lt;Font&gt;&lt;Output_Font_Name Default=&quot;Arial&quot; UsePPTTheme=&quot;True&quot; /&gt;&lt;/Font&gt;&lt;DateFormat CultureID=&quot;1033&quot; FormatString=&quot;M/d/yyyy&quot; /&gt;&lt;/MekkoFormats&gt;"/>
  <p:tag name="OFFICE" val="New York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CHARTIMAGE" val="FILL"/>
  <p:tag name="MEKKO" val="MekkoChart"/>
  <p:tag name="MEKKOSAVED" val="1"/>
  <p:tag name="MEKKOEXCEL6" val="False"/>
  <p:tag name="MEKKOEXCEL7" val="False"/>
  <p:tag name="MEKKOEXCEL8" val="False"/>
  <p:tag name="MEKKOXMLTAGS" val="1"/>
  <p:tag name="MEKKOXML1" val="4HooU0THZk28POP9trq+pbTvvzd/gcV8t56cq85kb3NDTsUhojRA0EsgEHHMH7oYP1SYpn09ysXVivguJdhTvfyVMsBLTGvcX7WPTor/CmWiWcfk2RmY+GE6Q6T90sFUr0lg9IPP9y8umrse/9AoLT5R0GKq+XM9pr/aTyOTf0wptcuHbHxeyqBm9svU01qeeEM1v0hpSHUgirOnAK/wuq/Tyw5TLbs2TsaVR3tAj88RUqg2qJENmT81p6ZIpssB938i4VNQequXAVybqrEp7AaQZgyrVSx0yh2/GJuTNJFAB5ge6MhxFXgjwATMQB2dFFGIFBt57G+hxzb87guEZQkZYWiYobnEl90Lsgjd620lcm0MDf8MeRFrt6BNCMpY0zjOkVRg6zQ/A6b6Kui7J8sadq+3IstTQgEVtVfDBw53kn4zAAmX0Uh1cadDLflnc73KFWv2TcIwf7Rf7cmpl6skMAZ7qf5bmUTgV1JtZy+dpvHwhOH9O00O900K3wdeeUi79+QZXBB80Y8b1bGa3Gs6ghKZzYjMOO9ZpKUKcH1bS2M9HtFvUSUXM7rk4wDWRnSwt/l1dYnulvgJ0X11XYDlZi7ylDHEmTa5nVX24eZCDjGHEoKboOnBnNC/3N1xoFh74nifG8m6OTI9cWw5fOY4kwc4/8tcgvKXUCs1e5aXUD8dUIJdRRTnZr1kpe8kgy86ROP3aiHCB4ol9F8pMkjg/D74cQxoSWWc4obSifD7oj9Pgy/Ik62m+25VII2/GFMIjlauV17ngKEajfzHwWT9JUy+SAkZWBpDlpVjAQWV/SsUUOM8k9uiOYZBpUyr/p4tNwqKYKHCss6TLctplZ8yBZHxleNilqIupkP5b9dTcvYnmlSEWfA8vJmehvc/nrxlqg3oC02oEsVCXvUUvcEi9jTGKj4cA+rK4etiQfHhrgNFtzbIV8Djq8lIaMbQQ6w2SbITR4Exz9SmTmvfMDZF1NfPrpYSrebQy4oF6OD0NcT/bBxj5DJXzc9Y/hk1P7s9Uap0oMJOjHQGYtzthSsQQroH82O7e3RY2JR+rAjzzbPp6BwnhBiibNoyJuLy4NwQME3w6D1cmg0QsSvIr3PGcTHDb5/jxNfS5WOwq0+YBxK/bX32BAVih2xNpJiy4QkvvceEB/Y9iuYPgI/GF4j8Xujpowts3Id/nHehtZQpkAsEzIjUtItgVoHow4u5cSqmatjrDFo9lgsHZ3EzNUKUB3CPjTcwJp+545/h+7sBoeoDyCXCuUKCfkABfGue2VvEXwwdCB3SFZRkezJxdMlv4QQD2M91nchniIYeUTfYCo//qFP0p67XoiOjvCkJq23Mn1p/vX6ZJ8PajqJJmhfFaX7AK06a3n8L5P+sKTqr2l01IcWEM4p69xbibDnEvx6xEcPREOSFupAazgWrQ4fAEtJdOPZBo8j6n23qeIb4c9P4O+Uo9bPyf3Hl2o8Y6YTM4MSJJCuXc2UZJL0qqpXNSko2XTeSavM4okCr16QMBaE9ueCrnSUFgMBozYaz0+r3cePIndcv4BWHg6+3xWuFE+pnlI4jNXulYWY2LGBWrmrPVv2YdYlS8fVCbuWnGnnx8xMkcudJz5c/26KkLCrBY7C3EZ+8mAc117i3ZfvGJzdNsteCLyOHpBe0D/EKtERKyrMQicP2iNz7lar8Gb26rkDIFlidYO/35/m7b8HNGgLg+LtHvRUo4Vqib0MkFlEeN3N0829ZyOj6jlAW5BiizpFrPxm7Sb5tSjZfL7rAbnZFSYQe/34tOlk5g85KMN/yBrV5+EzWshVtA1ZmA9B/gYdL0kkKS3Zr09ZK/QSIRvaVIkY7BbR3Fd7Mz6FDpxW9nUtXhmx7rCYbQ+8wEwZV+eMZ6jOJupDavkEDQfvOdiPpQjdp+SrJWmRCW9q6BukeoVHJoLakaVTMHGj17qFDR/hUakcu+PeKfRo0C4FUssZpDWubsDBc8NQX8+AKsvvXwJU0Aw9XujvJMpEFiJxUtFjOLbq8PpjiW53vO3mLC8gKpIZeU6N5pSvBYcTH7FP5bCluglawbr24m0dija0R6JBrWVSuxoXe2k9hkeNKmXnzHLqo9+q43Qhu0V/8igX9Jo7LPTbe8kGUXD+9coHOEy/FS2UcuXe4Dq9K3QyRQlscTuISbA6dgQk8Vti4dqtuAC7LeZ+LCb2X+1rUVY1k94kfGrZwuyMXeJaDSorVAK207P4m5o5Giq/r/pj7XMx9H/i7xVoKdPFfgMOtmNJlmacNK7PMHyzNPGU61ISp+9bxsk7LPpI5X9yKgr1pl//ovpsIEgdT1aQu+1eGb19Uw+W8HLxN/OuYckYC4ooVty40FWoozbJubUWnJKyzWAyZHlfTpgRZqNZ22gixhs/J5S2gjxNlxuiu9hAoeHitOuvv5ETZASIa48yx1+3Ynj20OtyvF8k91RFH0+n6x/k097B4qemyssx1WcY90VHZgxv7pF3PcAQjgompq9A0ZJBfOTSchmyZHdO/5E0eTZxs9MoTepbAWrcRVgZz5jCm7Qj5b5NvE+AZQ6P6mqlWzQsM86Vk3QbEk7aeooRm5Xv1BQCNII44jsNuhcIhhjU9YhUwEznU3/tuWQlgv8Nrc0cFq/dD0ryHAUMH9HC3vANMP9LF6o/rZ1MIqGnd4nEkjdwc6nOkWu+Q2GhJ1QGjgfm9lxUOVItHHvwGzoVDfY1aplZpjgpxOqwuQS63VF8V8cwXEgCSTQ0i1RnKrZaQdLGOoCMs8d+gTRvh51aqsb95Y0hc3DXX4sMEcoEVzNAdrgtgFI7qYxnk+rM+tIdw2G+aSHXu5vEzyyx/vIjjidBerTaEhKkesd3aYbN0gHQCDzCk0l+09WJ2dI9gpzzt4mpM3ymDpFOjRwhwR5nFtFhzBXMqInFh4mdpx9qD4n66wDNeyrpimLIeprkysJUIgOPvSQaHTw8uKpz1UO5xjySKEuIaoHP/j8Nb5GjXO4JfB+LxL4G8zMyagtlo+8fLMQUDrTIkkg8GCA1tOZJT3gQD3+RidZAJhmCU9QMN4YhYSMjxwhuW9+jgUDGX1EKg4D4F0z8Gp4JzGMhogpIWwnH8ys/o/1JHcwk93ss17nVybQbTXl2abXVJoUyGwjynktpLU8sjW6N7kgYtWh2uHKkAX0CwgXHXnIqYBaurUOgxSdu0XhytPeKq6T2f7DzNpRAnRCITxxzfq6Ijd4tlTzJWyfvhy+WeRFOXEU6EPmSp1TcYAcSMXcOhzNFge5q8MvFJQ2Gn27oypP/XZXIaWxa/UZq3WshBb3lRtJQcu/27Gk4vWbjv20c3tumKzl5RMVk3lAorI9A7k0geeQSXRQBImSPpQO1vfMsuegRTB8ri6k+5xPcwfR/svOsKrYVULdd1NxyFLci9C73BvPt5tuOGEagfDqdqmUq0GU0mM+7nbAju9haSD/BpnDIiW/z2skQXg3SiWa7PyShAecA+JkfcQbb8zuQ7EwJ+pzLLDbMQvGPUrqsSDItRqztD5goC37y1gjXHJLbdVPCGUz4Oj947ASETgN0VoZtZnFwZd8+/ztOBFna3LDltJjmyGu81HJs7AtSbtn/aM5OH5vwvzl/1rqLIFqbvClRplyI1oi2IrnyRYyqsH2BKodnUaaiCwf1mN7+mh2agRIqUszJVKoOaGsZmkmQRFjyeyqshxe87Z4+c5dPGiACN2p0VUHu5AJy3HQltyF3+Nv0Ml7G48qIv0vGzrS9QH1WikgLd33lpyEA7+I6A9k84kaqz3vP6n//ASU49tGLllG/+mDAahfOFIrRXw4eT1iHkJXkaBqlYUKeZgds0tsrVVv+UPA/WG+ekEWyGgT2f/W2cIxkow2OslrpBnKAYzfkAzwwANH6NeySvYLu1hrhafOmXZxy+YuJ4nNpL9cTuWuCWAct4LUBZsBGigJL15iIaux2BA0S5odHwT8P6HBlXlT/Nse/FztGZw57KEvmQb16Qrwon67xM1UpG0ImzM8NCzqmjgwqNVQup7lCjThAWKlVIzmrl6fvnDF87sMR3/nEotUahOIdTMJ8pZANlg3Mozcenaa+7/GDoDbxxnUMGym6kbDy7sLoOUrAzzW2iCkGfcqa8x85tqKqJntPrPA5noeprwkaDU/hh7VwgEcpcnV4G7UzwfdtxTQgjVN6mkRSvduZpChcAfXej867aDkL4TT3idh4JxUru6+DVgaj7uZrMUMuCa0nuU6YCdLl2QsdRZXiUxhZM8sU9CJVNlgrcwtJ6nBj6c0jPbnu1NMqk4ZNNOpWCmrjU2vlcNhRGrRgpXVrO88RvfLFbFTc1ENVk4+o+gAJjNVAqwbwtVytMEMw/8cFvJbC/iAW55vj4yqN/rx0vHCbnysAOMZ4bDjM/7tRpPYelGvh3eeJXaS+9UlCkfICjKBL9o+GHuVfxFcxOiCVU8hDokpH6hX1Aw6Ngg6P+pG6d5YyJz/L9Jhi8e2y7TTSYoFbtJR+Fn0aDS3OFkNC8mOAotAG9sLa4kcrZnFrNAEpeIi+tkJlBBTM0RppGm7/Ua1l3LfYCKubx8CXtYN7BI7sUerv89IIicy4kcSQ95TAX+IDOo8SbE1V6lsPpgb8/jYm11CvyXTe8uNRxPyhfcVrcl5OU0wreE4uAE8vjfszcHKB4ZEoUdM51eEkCFxSswvceWXGx79GRxG+Bp10vqxsdynIbVYCMxQMv7NqoqjVtzKVrvz3swAj9LdOo3W3sde1cLKnAYPbh/+VJ+S2wZRRCRE0uIljXUmuMslzeGy3q05KiNo9XkjuXynJZ/DKx6Ze8yblP62DtV9jp5ifjtCYslNQIF29PycMfbCpP2hysChgSNacXJYON1hx6uVIpD/EZ+JYW08KkQpHeXgesbmsqPE11bAWkpZ5m2whmklegZK1Yk0V1ElRvvIN+lBdYQbV03sQlC4sMqIHIzA9CcjSkmDD7nXEFKpX5w21ov7h4xRtmw0WRkgVepi98ZuK0IcZGX1eSiM4+ymwDK21/2dQAkDCEfzbCMc5efl68cw8oOJX458MLa9JeQTHUeGiC79nrhSS45rGtjwXO0xwnkyB7YMYp1J3Cj1s7H+BA3/fuajkV7qEjSY3JUe7sPAROxA6e9ychv/9/PL1Sqwj8BTqT/DnZuO8nNQE4d0ya8+wEqpD7fMs5OSsqv0dds2RsB3J7RQsMP9HpDIdA6kMArs8gT9MX6kOK8ijMZLUCttbdzSIu4zizFVhEUogli5tQb9U4QqZedcRhnHerM2aXKS4tJnZa2PMUXM3fFbmRph9sAIOfKZTjdghX0UMpsN/XE11jcSD4czT9q1TUIZBB5u8yfPG9CBqWzTPe9XMVgbxdL7Q0l2pIwaF/sqQchWool/Wtxou6dsK9EvHE2fk9D0HzSDvUZ+yJeEK1URGpcDwGaN/ddopJ2P1nTIfLFLPKiJhQCtsvHBVuD9YX8zoVREa+LJ7VzyyL9a/MTms/uHXDcxaDKC/c25DmbC5XYUiINFgE1P4+MK+y1Dhj/i+ZkwK97nLfT/kAu+He1gaTN6ds5Ii1RDM1ccpVJXENa9nV4HRBcr6bMydcBSYg3ppW5jeS9nyr+JLxFn04Mh4WHY6rhtcuvmyaRQSHNiUAAdO3ViqG/1JNcvt6kq2FjIBqImIydXFzoCcJdxRGGpTEwjF2710krt8CR4CowzNllrTbLVQKQfB9inRkmdmGDg2MMvSa8xPU1aScUAkkCnaEWTSRGUT8Tj5uF/kVkPWYuKWylmdklmguek7kNCUx66vIh+QbxT2jigrcpmgVbntZT7hL7hm6ghA6wplsShYUfAakIuncPtU+8rpbr3GU2YPXmwWNuhUv8XDEDyenJQD9DYWUJTMpHiNpnKXDJJJnnxG3rEZzQgwOM9bvm8kEUhGwKn8dQxR2vgMANrdDYclJk+p5Xaaft0mQTTbhrxZBzTakHGb3mgTESpkuEQB+K1mncM8H1CGxE8CXmkQGet7XvUC+tQ29178ZnzfXDqcDRJe9/umrtawEcVizGd9Yx47yUlVSOi4WcqzNVChNPo/GwmWOslC4VHV/jZNYn4ci0s/R7b+7BLVJpoVP9TAnPlXuF3htrFd5z46SFOzUc7WulevL1+sK8oRdJPftN3AfycOFPuZcmNHDLrdeb7vOVPtzsyY6bheS/uXvl8h8xMFKfhoSlGnBZ9SEnK4aZ3WTC4dFzBIRXEKQ8HCPfR2KEQ7c8oZN4tMuBEoIUijwC7Nf5b3ePlP6c019cjf+EFfJ8xc2EJhS9voMLxlhjOiWh5q0LT2zCI1CLpIS3Hf1sd4SqWpXdOyGAzWUkbVb3h0Uxe4/jpLsht2qzeuYp9VKvSkjeUIc/Dl2rnA1YSZBeDw8fHXqUnMIq7whlndrdLP7cHdouvNRrYui5jW+oGMSTnx0gj0TybW5Z+wsI6RRgwMhCGRcsscw8Xrgm3mGm6IcWSOEjp31fWshQtwjX83nZFEUlbhMO0no9rzNgN9VaxzS0rTaw8SgCBJ6Hzq9wbZDKVWyY3fFGUtXHDTa0ilc9lyJWvhWyNN4hW09pxYSs2LHZqa3X4zmnxmVeF57GiBsr2IFaa813+R/uXcSS3OCjR58rxG4nd2RrnHwTyEhmCR6x3y1BQ8kyUZTYzCKrQedNwo24bQXwyk5sB0Usadez3vPV5tojgxgRS/04Tgim37OQZJvdCS+Yr6cpSev8/zPSqNkmIg6sy8AG6oFKSHiQq4jeQXLWE7TdYb4LERarmf9gQctPd/rb8K+kD7vlv49tmyaYG9oFhaL6sxCoWZ29N6ufLdOq8IhC33aFrKG631vuTmgXmNkI3Mcw32+YRdu7HgNLkTzDsKOlAfPgnh92XvzSn23J8QJ5y/hIDTX6FaGUCTQcGU8GW5tsWRILbRtuv8dhW6I2yZMJut+ZGltBRxuxfqgjypQAeYy+odksBM+cYVgmoc1KyI6fs6Vz0y80zU2zpDoLB6zeUnf9GMSdTlpZrql/vpt6zm0rwtCkmPi5VoDGXOYaxGKvba1PKqYkO8E18ehlnT6weeMSS1YBv/x/J/T5J1T4pd7Vq8yolD9HCnGhfsUkPQqOUbT/znZsXB6MT27lf6HT9pMB6p9zneSy2PCiBKUiXcDXf27NpyOawATQ6bxRtcBS21ADYdmS3OblfkGED7ZH+H8aP1Wi/zIry14zfKQhPYzwTJy3/3wKi1qb+MFc/UexAMP6/db3X9VfocgfpoJXzfnSeAgVQJbh8r9Qbdn1UraCVbmKK+kjIfr37Qz1Vmy9id1kMc3kU9JQTwfiEZhYESx0BkRIwOcSCxOM39Bx24dwOTMfJKw20ZcchnAcNC+hLIzNZO5piAFQpGoKa1ezmQVMyUvgM9P0x1gxduKgAYH48aGAX7cdtbU0Vr/J2rZvcWGRtoIbpPG72jUHRmOCQiW3k0WF9OzSKQtI7ejPGI5fHWuHel68x3wpSHFjRjlTOET0tFXXlvtHLbgiclCOl/+az+WfdNp++5J2PRiF4KN3ec0sHk07wKFleE2/qXwM2YpIzlgTAkWGFwnVhhCHERQ6JqEQGJJWlVMXyqmEMf0nlvOXfhar/G+cZC15EjZnaQzxerTRxCu+6MtDeRulEp93ctDk+h4dPezbIqWxGB5X1xHZEuNM0MeVfFEwpt/IA9OshkWq6mt3ZR5posacD95R+zC0pKxmzwDt/YZigDP0k8FV3wicdrmybSdR7/wXPYc8f68oO/APQVUmeXIiIfxijtQ4jLn9ZGYVw8gxJKpdEIf5fwPfs4Lmy791D8DWesUgkBt3u5LIwv5TXvo1wqndI7AZtjJNhglzW3gNE+r7E+gggTNts+4mUTa0gDSoHE8fcPEhYzup9MiK6RHXlut8ssU9YwEbvgQmR39XxmHw376Mi7dmMF0swSBItTFsrMos6/QeccJ+/LGBWaEG5+14TuV40wLBF9EoR+/g/AjecE7ULLzQ8NI1r1edOnJIZQVHvAlGyx6Y/di8cehiVV956ruaZaEs5ygRVOPfOHKswQeY9wRfxMsC95oWtabMEY7Vi1OnbszqJHvxJdZcp+XWWevkYWIEcEv6cRFfmsu4gHNQjRWYxX7EfGaV1Sfsvo3ShS3rJO1hMbr5VXSRXgHqETTu8zf0y42QpizcYrAX1vrjtaPFnt9UyKgQCsd7ToZwUSxVnhh2cAHFtXRgAsJILalKXNPM85U/mnO6GJfSKWLkwlzI6t9WS9IRvD3o4bkj6MA8SI1clhrRQ7fu565NzZMfi+0Soe0On9Qsgdw3H4kwzPj8mtOL7V/5yfnIL353uUsys+NEWq5mi5ca7Gb0BuJ0O/m8GiOixOuwvhqNUYh46MVmFnAJvTTFin8Zjj835O8XSydU2gfD6Z6R1R7+n0eyu2M64Q2c0pdvLMudvt3Wgq32g7nz8GgzUXR/7z6iwsB5BGNiQuyeIedJOJ0yQUp3oW5FhKLAGstGJpTD9V8BHXds09Ea4pBPXJvZuUZSDtpzIeW6/rLztzu3c4ViZzWX2hWtyajll2Yp+YJyGqYrLi7mRWLcMC5t3V/5maMGzAcZoZrbXSlVy5UZWlzcCffXirhIp4RJ4g6VrXDdZY3S3sBnfNtvGWeWiTDX8E+eiP/auWL926sqX4MF7gy0woP2aUoD+TMZ0IejTMVPhjxl2YUVl+s2z/nYQTufLoMwKwsCwLEmYNtTm5+yjEJAjcEpolgDz+sdy4jynl063J0Kn559dDquwrYTbsZL1wfpULV7T102DbD8yqeHC7JyxR4OE7fbO0cB/aDHZOkvnl1NgYfrUFy6d6lsND3b3Wwd4ZOZq354GvyKIl0bl4og5mofp0imjrprjh6d2T/KwMoewkLmu58BTfS/jLiohcjyDB/5UNYD+6cmARv0fOiLSS/e6yDVYXsCtZBZFmLo7+MIfLKrnJ3+CoG1CQJruFErAEo6QgHUDSBfbAqQlSCwao+NGTMwEesQxkZLV6B6Yn4k1niWbZZEkk6c1D2BsblVE/0oU8i/4b13jVRDCuzDOxWwzVKqHKZdM4mfvClQUI+KjIJoS2G0sg8avH7/za9YexGYVfsCFt4J1t9icpZoxkr9Q0rGAsrzRGpkkNs18C35y+PPbF12bVYWpdp3fznsNJXRsZ9+0j8TVCKwRfVH5IA9FLooyDeb0sYQ6Uvxbq+ZsYDYq3G5kT3RNjcmBam5xHt2tx273E8rv7/cWCJqVHj6L3NnmSTfz8RFsBoyuXdBYuVGBD5na9xRZabM4zkYUabp2+bspeReiCOCk4B9txmWqd6kKkiROItM98gi9nCnEEOGQV9BB7lmKFxtpurr42DdJvH0hbhQqXCTGxDVxgUSGagghj57Dl06YqtJ3jvTs3443ikkaK0owF+RJ5qoa3R6URwZ0clvPzCiIeMHjIOVONaj0GDr2MP1Gc9bGSEtV4KCdBCUkIISWF4VIrziRHDu/H6fRRmqnXc/oBKOrnXYsmtn7IHYxQkAPGPvKQRA1pVit9q5VMpYuZya15Mi/v6bHaQNfWy9oKPnrbcikoo+76uwHCwPkf++BBuojbW5UrjhwdsPuY4m6dwyighikMVFnIuC9Uqct/IMIavfCPaZ/XRSzDsCtdGbtT9dlylrMSqz6PrTkwEscV8iWrwbUzsm2RhWZXP15R7bFORyj1zNQ3dTfwU9UIZBS85nwhKq222bV+dXYadq87nRuwQFCTJKUNWD1q0u/k6XJh8fYzI7uj/6JyhjUZ+mA2ZvkLHn7re8PiO5CDktBb4jQIbP+nZg1D/GcgJg6kNAcsLEmsOTnCIzxUBxK4BhwLowTDZfmbksJeOW+TnHRZXbHL85F6D4iv1NFrGmK6fGnVTmKilKeEJLkTVBpte9ssgbopgznbhbUEQSdx5rxhTFXpBTJ4CrCY52b1RFGYnpcVceuwllkBC7f85OohAruadvSsVtmmZ+s3C4RhoJGwE05BUb/+FwPiYT8js0CMxhC/okppWgwSIoz0I6o9kMEVPx+13jCydVnagObNLhW1c7zKFowWZjglEEHNvl13UTw4LyoU+oUE1BaFDOOcHJjqU+pnXLHAL5dZ2dG3zdZIR7qn8u8uhIF8a4R9F+mVitqceWPvWIl3SlpBJ8PSTBOEXim+LO2d6gf3qdsQKTB9/MAPayS/CuYRdg9C5NRiI4wiil55fUVyNxQGXxp5nR9/usVbXAzmsTdfULsrhduC9iba6rQ96xXHbHWvU0I3Jc41faMTFLJu1QCN1TnI/RPvfySTeopTewb5KeXBggrpqdmLZY0nUASg+eeZm3B0YMBzpfm5oY1Ws0R4hkPmeJr0w6oLh3GVLTLwUk66adcEnCVi2iacWkfVi8+mIQdqGZotej+CaW0w5tLgwGrV0/Sopm9dYNSLMhWMIcoffk/PXTEeRww+tgTuR+EKoYl0IY1jFC5Z1YnbbKUCaJy9JhpxAHrvYgGhqpo2t3jA6IpKfm+WzzfrKhqiMzQ6/g6Y3y5ENfnFJww4z7NsjazFswle3Zs/ZPdTefnkhVCDOcIXAaou0Q77hiEV4hohqWFCMOXl4AF4tlC87TA9hyb6+T7DFU3mYlIz+SNdP34tjGYctWkk+a7wGKc8JSzLj34xRLGbsb0DCuRVeVdiulI761nisShVtUnLuKgEh7MRreZOE0Ydv3S8yyE6BV49AZPmS8bs+Dpo5OZLm832o8+jEuq4yOuuXQrbhHwPtG6MKof+ggFYfRUOPkNL2hAk18PDbOIMtiu3AsoynHXk5zLE7Wq2kAPfsMt4+Fyu9YCpcJeJSSUVmrHyiZyBIrLv6x3RWkYY8Ll/2LJnaJAXtH/7U2HZjgpmjM+VuLt3hvaX6Sg8jquFJtg9suAW/0lOU2KQjVEMLtwoVa+IVuZRET6HR4F/lvBm70qWrRjT4mwN86gWiFOoq5jpcIbR6UyBRCefTZTrd9fMtXDUd6vnw+2lbVIrFNvawZmL0S/N9z2aIfPwvneVBKClf5eva2FkfapUEdU/AXU0Dkf1mFp5WOZMEc0SkiF5kX1iBpSTFNjKjBEGZh6tuW4aaxFhisgOSMXta75MZNosU37khgv7FA679RkD13AAmEGdQPVl46eI9vxKmhe6Bzjnz0VCiYlir9sY+qNcoY8o5rCOTg1a8/jQEN3Qyf+nP68UHXRGdIhZU5csuG72/RekjMB4chJ66wUFV6I6hjXqST7HVnbWQ4NXfzM2y7yTFmk4f0dPxjQFr9etEGS/QdwMb42ihlLVbXMRjpx/7hUQOJ46jpS6N+1nu/bgHw2X9o93sqBGdgRrEB0ZXPOSdATh+xTTDq+cx9Oqb7KjYph4/9hzhNVT8gxkoRnfmGeuQnMs1aXiCqkuqUdFFFz/V71gEZ4lerkcba229K/kQC7GLQTlVsZ2JEqsXiqM1VpfQywODy8rnlAhsExLVQuZAodmQ0LaLrG0AVd7fVcKdf7qQRdVfHwgOJ0VTPmUoj7LMqq2Y/ujLdwgxTz36wV+q8gwYkrLUZvXhxRvq6vkHPzBPDA2uvG+uw0FLIiCfG3FxD5FsSpHaS0+Mzv4o64JEgp8hUyJFSWBT+VcpHXDFz3J3B5qcMe6UZr+eefCpNjR0bcJb8YAZEQ+xVeD4gMVZz1Qx8xLkyvNVY0Kxmxqvdcr8hTI0v0MFTvf7ew6EVoP7YJkCpEMaas4knwh4c/LxzZeeTQ0biGqfdrCYxonbUak+Zpbi9S2+8tV3UsQIMv05Ni/PnlcIxvonNoL8Whb61pF0GPbQdQpW5rwOW7d7YbrDzSasyBtBG9O0LFDe6RTLljZYaO4cBS4N8oyI28cWm1ujl07iAhsRLIgCxLFcWQSldyH+LXBvaVM8XNHTKoOZgctZsKjR09nrNQb9asb0JWyd00awgUJnnPhQwK+Z6VhOpNfIRo5f38hH7CB5UCf8EnoELsD0DrMImLbw8SJp2I3QZMVwDgj95fhlhWq8IRnoNR+KugWHFGFABAg2twMBboP0yChbkly3K2xZ5RtXil0CKGB+Vaw+8rXdoXQtN9p1vdJfD1+f3tjEBoH0sis2VSM401DbrdtkaJ69GkcuezQV4FpBCd0p72irataoBHuUWlkdVSq8S4SU3OKTf4M4dK1VgcH4czpnwQqoVSmKOZYTJ49QHf3g2yJIHIn2HPLHtjYcOvqg4Wc/CGo/0xYHXj8eRkuXyN4Wz2r3UtM9q7o/rs8HhgDhWvYyEMpz8EV9mOL/2M2iHNTUsaduYCIuHE1RNBapVLml5zk4CEeWaeIFnyJCm5h9Qnjz+kRTQEx27f8C9UmWunKe5dHlE07Kop6W8ARNsMMOuA3+anViXy0yIq/3DDbgjr/hDm7HGY1g1ShhffrpSa9szlFzVAqUX+Y13IQFu0vO9iTkGORYBqlM5P2WBXhsp1TV3b5XutzgkQ41Vk5iQoapoygC1tO3xAdLd8mH/1hsh1NZgSBeOjUA0PUeG6XR1nMBM3oHicG5IY2vGoK770LavZy0sXzM3AoJAl9EJQi5dLCkE72pJJvR02UsERYfSrkuLuGdsq4XXd5jA3W7M3Z4EFvnta4/15TrO348h4fHKXKkvM2oOpeAGyU6SXxttGOYIGTypETAfdlivQKWE4xOWa+ZrSACWBLi6Q2o7PtMfbCh5JFYiuorgDJQePERX4bubBe+bAHwN9HZs291kek4eY+/nQc6djHy7ezB2l1fLtb5AYIynmxfmf9zf0W379PrXU1u4rPTdQp0LTAJ3N0+fZ200N5hECMDNQgiRPMu3KkqO4wo/DPdCU1madHTULUt8etFjEPOuRA7YdM/SSSFHbonMjUGAIb2HHQd2lPdIR5dr9Bs0fPK4Eace0Ugw4eMaOET9YU28kKs2mARYCqFUCYG6gNNCc5J1r7w1gSCX6HA4zkdpOO+Esq8KhaW0ae+Ml2xWJnLrgTfV0kHy0gcXCxv+ouhP4Grk/ChIDy8mvd00Yv8GMeCgLKhkw9fE3eed6jM06ZCpb75KApGLy8ZvlKXgEtgqQBRiqRxN8d9/WCYfQFo5cmPAnPkAEVwzpwbxwtoj9D3in3/ZQa0GPeA2/28IsaU8+yE+bbD4glFpySiximJwFQRITKqMnNhH6DzSPTBKwwyx4/xHnnsMBP/UDI9rzcY7bmqHbrRD7zGvGgHT37OPUmrT4NB8j8nr+H+WxAkNHvOwOiUaZYV0+iUZrHgikJH7bRZJEAsC+zyYbK7WNhqVjwoHK7B1sn4gSWFt/emP1xZaXhLgLnfeCDupOsVRYqb5YI3MVSluekzDlwfk7LXNYq2ajwGqdzpqvWWGKkgd6WYIAmvYcbHW9L+PO3CAg6650bAT4M/BcBJxgT4r/HxhmpWZV6vbFxg3N5Jq4XcVDtaPRLGBu6jzlpbMtmz/CTq0AZ1ELlavuNpqKeM+drvFLInPd+u1QoclrSOaIrX4LFfwPaO43XiJuRB6B2ZR1HqKCYBMDmFphQnsHIaPgUTS7e/FARJzmlYG+yBU73i1isO990mN/3xUowizSxmdL0cNeazmhmQo7FYM+Uma77JtV9D4MKchLMgfyLdWC8YOAGz810ZEKS2gQtnUKaXRVpqBsEUQgrEdxdk5+aS/Tfy1uOW4xVJgjbqzdPVEwSIV4ra93Wq6+2hxPJ0Jfn2dvrpaX0ZhfSihEy7HrRs62PS/K6y3uK3PhHLK1LXARJXX28DNUHGIM49ookdb3vBpsxgQeM07mTBfLi0NJ3PW47DgzJ5itnqdOCPhWGgtTneAY6Cx5XCfHaa0461kgynP5+Ce9OWR3ZpUSuRF4qdENwek68viB4Bn6+IX9vD4hNSKbD83qAcvsvhmaVtWNzxVcOUSKS3mCjbkST/TGQZURvxIqh8jmm8FZPvQLP/o+TuppyE/yFhe/lD+Tmy9C19bXYScdZYDLc82OOg89ukN/2TRfoWtPqVkresoVuhUU+9cHj6cwbMhOC9hmvZegGT+nfhhWNXqAGZQfSXMWqVWsNznjDbzRAjrogiNMx7OLyqNaSciWLJ/PDUUnw6bhX9mQNsd1ELVJTJcg5LS6ca8AKH1SCk92aOcr2IvkMbuvL0V2e1ZGlGp+2TVWw5jTEGfMCd9qXiANq+FfvR20G+nDwzk7earA7mqPO8kkBRzC+8f33x1eLt886WTz1z5sOjlx0VKI8hAReQSLRNQLyMi+/pDNyqXgUxq90NoGv9eBnGw9YuoL4Z8bTpLcZIACMQC23IdKzMqroic7X1+37X2h1WrsdG4cG3mmCUSd14uGA1v4un27P9i+NIS19I5tjyT06OgWMgU0H6lMb3nAh/8Rl4lrG3/675AOqWdo8g4vVziTXg/INimgrOZFqJRGqgfRmCxYwyHniRBL/kD89dRHV9c/o/na5+bB08PEoiOQg2+Lz7mPVs5BLes3CL2rITUkr6HEHJ/Bx6DPi/OQuGaIK9hxXw7BU9OTDo6NgSBfjd25gIklJYUy+WprJWOxtRpIeCY+xtwzqlP736eHpWLMxT9m/7b9oJwbW8nNNtGSG/H8kZKsB7z3kc2sdIbA4BofVh6LVfG26DNT2SBlUPA2eCFKhEp+QHGpY/i90db24c1cIyJzlzgVHOS5++No9W4/0RBwC6C+6n0dIcg47tccPyliPt62is6kLsspifrWbvX6+6tW+rn2zwdoKI15sl+Nd0c52EyjJ56JJQkJyHsKgZpzHDoPRe3wR+TrUJHTHbK3xRPLAQOfXMJxp6TktYPzJq/sQvVdkDq16i5HN2eVAvcz2EcOx1HTvI1auI9RoTKCkiAtCwounvzbAf/3RPtUnsiaZUNG681gevAA63U/bRsql8Q8gT2enPRccJbsBCGV9SOofldJ7VCNH8Lh01iNPLNavJD8SGj7ZhR5auKHk3jhXdphHc4Va/OSeuARb9BJQIaCk76bAn8535WvCzvnl0nuMMNm4G5Y9oXqt5jhVFaC91tHETEFBQi59OHQvPjpJR1EPw3ATEUUV2Jx9w7NnppEGtJkZmmitG0UsnBHoYmWBcoi5icXZLDmHmnxhyM959KGg3UvDlI+dsVIibn4zE5oR8LH2tcplU/Hu7cOaj59hfaZgBF0X+7o9N8mXjcadMOetsYZ/TmunMgfe9I4tPy+5SNGJtdTn7C7g+bT/m0XVNfN9bNDl6zgyUAwN3iw9kC4X1TXfUij1EBAbGhk7M16NIt3kcaZI0c0u7UaRmdVdDsTnpai9aW8toZMMrY9MrVPX01+z7I5Czcr8tpOTYIzbLlm5mq3+UX09lZAXLboEGjmFsk/Z57pUcFFo/j2CdVoxJnY8OqfrDCdM3yoFv7l+WNaehXpz3EhSS1WaAvDH3nFIaNCMu/fl7VbY0n04oFH5uuwngvvgevmOPMvmqebZcyhQYieOtUvRqSCF3G6z5G7g1vXuSu22QJEP+jyLUnHoVF/Ez/q/3PeKhP6eEalUmDyqZRJx6jsOH5FvDsDz1XL0NajiLEcJIf9iNSnClTbz/MqkgCQJLSLy8d/xrQpNAeWwxs5O5UZ7M5J7+15zDElpSSe28+vGKE7861ypE9Dpw80zc+3JH/9xlWFUoAm5PlQWvuMqHA+yAkqe6iarRi0GKuh9IFv9qptTJwuuth250uRjAiMVoa9KjxvhWb1ivk5CGLAio14jS46IrFEkf+y1LD+Q4zh6b/P0RGFrB3gtEV103LuhCXg33rw6RF4zsnb3NwhRIkFG+ecI11d8RfJqn3j4Fl9c6icx/9FIn51ggvTwxBkr+h6IztXFloHJuxVg2uRu7ioEGYMI0hjPb2JQwWst8n0jUpBJJ6RotDyyl1sR6DteLfeM+fdi8o8ZwJAihIWzFUU1NYo+mCXJ1s9LBDRuUErkqhZayLdo+rlR0HUVF+VADQ7X/91C1uTXFdeTGLLCA5pj6yhiTppk5+0aX1FEnGwBEIRkD3siUR+7rkNgJojTSpKQZwV5FvyabcugNpJPpMBEuCz6ghzsrdBURRhcuqqEVyfeKxdMADhUzuzNsYoUHf0V4cT+YfN0YHrgLNDH8289VBbNOKzGBPSmXvNIKb95bs4KOYHiJSwQCJfgHbYvIIhqGGlvo3gyuQhxSlGAhRsQDmrvv4Z3ZmANwahXRC7Lys/qcSO/Uf1tjuKdhMtL73uc5rGBvds19F4+DAwkklb6qfhBciVWNbnE1saSd5GauwOaNZViF3lyhPhIvhWkpoaSXqoojvVgPo6TGl2tHM66tPTA4U2qoFVxecvqcBxY/xbCYLbeyrIjwLwfNlp7vZrXatM5bXVqVsGCkSMi5hFYyadgPRlfAahMuheOPdg11oydUrEqQ7H8YGbqFa0ThXL5qq9Cqe5rThzxxM7chaNMKMFuddBfPWRE8fMZsDfC/odcQN7DBqsg8apvpXWS+GHS/QpVqlkNrYzDIHt73tv8lEwVsUp0Y/h6nxpw8gPRBrgqGatQx5kCMm0q39FiE1RCb1No3r6EAezSSjVMlUhIfLLlpiK62rEvgxEPzGUtOfqmOzlx/Z/ZKFUc60zh6FRpS6dh/OaGLTrAFiWRFhg7E/NnXYKEBB7xExk4y+D8REt6ux2z/2JBZmIUJnWsDJdPHW6UmxoleVJKapDodhNcOQMPdZ5DmtQbaW08/v/RbLsR9LkLmvYFY2Jxhb07ze6t/GaFA/gMJHPyd8zrNPAXNgMUnYtfjZ07oEAcL9kvM9FmDWVBOYQxcUO88aDDlMayi4xlLbEAVCAU18aj43FTobZfEyI36YdjM/j5CTZq3SmBtyVu3t0l5o00tRhYL1AqTqhkqXV+tsL6HnBR/gElEjwZtwmfkAmTk2cWmGMzmXigPSeSqiuggPrKGs9TcYbH7fLHKXjT6UClA2BD+DCPrK0AoXp2lQ6HsQzz6JNeRKurF0pyVaCcRzgxOS+qB8ImOtcXFVoW4Vi5odZxameN6DawxTi35gqGqpesQzSjNKvd3XREchCRm/ujOkxdYOQ4799JrciQY+Vp/+QEjdDGGbNsV/W/nNxWrHjaZ8cBtAlU7Y1nWd7zufEfymbwdAi1szVrd5Js4f1EcSgVA/GGExd52tR3NATfFGVTfKJWzjO/TrtfRM67Q/ksemp7c/C30vkYdwHmlU1AmiiNjALPJqsLIRN5nJxIfRA2JHmoupuzqcoCtp+GC9wJIc7xMHoPT0KlRuEYg1Sz6KDEEAQV6GVjaofDsUXRmZVlZMTCjFiYA0sqehYY9EHc12m+NkqRmYwhTfCEa5siCWeW/aJUzwL58QVzgdoiaIoY4VQjCXWTgzbuc58m61ReyRcTa5C6fxpOPJO1CPk3rdupZKezNmybbzTgoe31p7A/qmsgo5e97Y2TureskJWk2ivRaOqfnA/2NDAgAOi2xURVfrOsLVTwmecCrMgTYofwqPRgudjXaQyyfGVyJJdLiPizXwceZCA05NHzkhTzGVp4Js7efsveLrMRMrJN7LOiHm7UMHsrDIIrzZpogbLlKa5am2iDe32BiYtcACyqc+UgQ6Cl5KrAdst6F6CWw8grE87H8cOY2GiviGmfegDhqrGvNHlqbl4a6FOXLuiDwI/2NTcUb8g5rWjAAMS2LSUByHbWdO+gutEKa7ISSszf/PW2uQ0aYRjdbzBC1gffNLrbsy5NvzarHYZ/18twb+4Z8TWy8IxLEjwTKt+x9+aCNLPasR1EI3yGK4ajh3XGN3Oy9NCLbhc+jsPghmKmM2TrFDTEpUsP/B9bi1efivhWmUGUE/W47P5zjAeBp41rFHIUI/53QFm1Oozz4q57j1bF2dOf2b5ChRaUfXGXQkIXI2Mm0FXKTWBm8exIcTMlADGmyOsJ4o8TiPGb/W35NUel+WRuIxnvxkBRZsy3YJXfp7O8KpJ+dDsaEps0b6YQ2llIH9PioONjmhff0jctq7kwiw5YoX9LVDHTtfyp+SId1KLkWA/2zo+RZfryKY5qzJNkfbAZAcWjOyvAaQQmpi9hyFXe1urM7an8RuBasTxmWo10LsICIt4ojwiQijYPINWCZObvcy17xa43nhiav1QNs1py+uoLNyHwL5JRqQwWW20dZIZetyefmuTOfda8epg5OIi7iOSfhoD3uB3OyW/Lpu7B8KA/lpFTge0sVPf6RX3gJf1ge8sPPgwx1AzhuAFeVGKdqL0mT33tZ8GKF+jP2bFuWPZmaj7PYm3hJGzZ7FoDNR3cGDWsB1KF/Y7vlyjgRJoCY4BLmKXth99BtYrQEBJZiYplrt+hV3ZpCSkLVnkVng8fYeBP0tcD/rYaljbP/AAtGri+Bhk9I8ewUblyoYRXK5Tj2xGTDLFDk9YcovQiFAerfx3HrpHp3YFch/qf3+yIUh351yP+AxOnR055wK0QMFmBCEiq8k7jsOtMnI8bcy8ZFYbyYaEoBuobh99zLCUBuSgWL/v5ScWoJ1tzSvzFIAUmGQATUtkcob7kff2kqM7z9cuT6Bj3oOcd6hdC6Eul5YOnoEEi3DZLk1mV447Ns9Rodm44pkm0q0NRtchbDfTE9YC6g5dI3fhx7ihE936Y1u/8TMKCgIrI8T6hK5LRddRiKB3pbs09cZnI5vbNxaoOasq8tcMWA3v5sxofHeM0jxi/tzHj8oVzVgBoz4D10UQRYgEzTecpbKrGIA4pA/ZSnUig3uwV/4ySXk2bRVZyaJptUPGLwVi/iXMMWXD42/9iOo8Db2X9owhrxl54yReQ1scR54/dn0O1W8pWBGfkcZsheQEyDVkCHxpGI/+oMUH02dxb0vkOB/2biJHBRBtX2I+kcxyNG4cnbAK5V0QWTeZdADla4LOALzjusQqCOozxNeRAn91yjx/zCE7lYqsWVgiw/exM/QhChml1a4zEMVZtohubCt3QBkJCJjElXRZkP6/8F9gchQ8cowVmjaUaEQBbAFJJ8bOCaVnbQm2r6izxQ/zmiFP5SrtHmmjk8fwcnNEU4fDOjLVJ/fP3nLPnsWBR7R3T9lBeAYFEbI8i7DREcDWAXN/n6sQnZcraY5YJNOEZy+HawNww8V15uUGNki8uN0/5taFthjFZ7+O7VFORF608uvtJENbGvOcjkofoaDupv4cm9hjuvRoK+K/joGw0cRGqCCKkdcrLpZGppUBO1g7wIJPGGhtZOcxPCKMmfMd0tdMigcfA3nfrOzjNaUgDLjbOpN+VzwRJBbeAy4qC0PbH+WD2TSb54FpkmfsuwUqFc/BsAHomw95BlMLemcssd3zvP7/vhXiV6mfvMTnptdURBZ2t1WDdM5G+NsSfKUmTS14ddQXWmq/4RhT0kX0PQAaSFCIscm6iJPifsz7fZTwA52EtO9DXr0NDU0gDuLN0nvGQOr0f4oT3/SlPmmdeEUCGfinC1rBqeUIzr282Ylwmico82wErdDzJG30vigpOxeknfub1yCuUteY25N3fmJz5Z5ORI89DNTvsmXplReTHUIwoXNaGkGYY+1Mw1bbaIrDTUsPHRhyqSl2LRkawzTEiapjJ+xEKUezRNXCCdRLPsmb+oOrCXpmQvmOnxHVYNaJcyzYAdX4iGsQBI4IN/i91pzj1UX5AZLGQqDvH9hXAzwX2KuAMBoIMgrpqT4to3JZFTkW+mdKVnwg59wuzMbPf6OPr8mSUmjeg62AUOKQi1fxCPoYd2yrAPDz619gAwR96W5xJBXsH8cU8LqqS2s4qYyrUZUba32TGD7ifPlSb1v3Xv+O3OIpv2IEpoa60MByg1UkoPZOq6pEaw+TlVmIuvyQvjI1IbRaIbErqdYJywrVsH+2rbtdY6sLplid0O6Rx1pD2N0K0DUaYKKp8Z5yaaLt+jl0AFfikOItriC/EdLy3NMrM5+J9lrM8FMpMHKtG0a2cBS1afwh0VOoKw9kh48uVkyat2IBrQJvvaueFxD4zPmYjp756ziDJDzH7ZhF04YywOb7PraVNvMB5Zgh1jhK4hYgTF2tW8BJ3sCq9VRpV62phem+wkXNOpv2YGKGFGQZpespjMRRhbKKVVONlmT3g457BDy64BnUVBSpkwAuCnUA1yAzDhhOkIbX2XtYpN393kBVNbTnLNrL3qsg0uyVy8BG8F/V1dPvfXJltTfJ/4nOL2H5VGtjMcp3aOgh+VHuM7uMF/8PVDm7MMcR6qNAf2a2ngE6lucnvcel8Vmdfzsfxjuwp+qaY54dhW+9KJ9cQ7KW7GTwyodojE4dFh9znhUKEc0924tcDCX+mtDKDsVSgw/rM399q8cBoRWKGjzF4VZARPdsPuPIccEM6503Q2slQL/9XDj4JOGhVvqGhBSDzxFdigh6NIGZJwFxtmSm26OSJfLaKhkGHFDT1nV110vEs07xO1Nc/Pt1LJDjz1LE+lRV/j5ZCZAor4SYdJN9m761MpVGKG9Bs1ABk++bcQSSKwkZYWC/bfeE9a8b9LHnoM6DnJ+0Vw204aNMDvaMt0pdWNvxBqqxRg4JhP7GyZLJty5MfhOGqtVYjln+f149oej0nzz/IpMouiE1l/50UFHtwxausVsD4nSPeQDT5WiOBYPVq7mve86GK8gTgQZ8LrzrdnqT2RYXOTORy+uLjKUc2IjEUEbIthvyXITgliqBUQ26XWev2u6o/ZL2YWUeKvgbpMgWHT2uCm2tE/rUFAgbZ8LZ0X3cQ/YD94ZArupM7Zgwr3WeuQ1pFkgWWH2UymsR/TMjK8R8f1awmajdKRulD2oCzTWidZgus6dRqYzhU9oay3YohXbFkUmSdQwQNNAmJISSzN0/nNIDVV+nC8lnFuHg/hwvkV8OFqHJlBuigLFQw1S/ma4sMDVylmiryG4Rfhr515XsAuyhp9ANSk70cU08DdvBW+9A/vNivOSthXz6VxWcuZxzBv6dMr65gIM0FjQske4hJxO7iHRE50g02z5Sbw4mziXyD+vhGiHUW1DodOioGLkU/ENTwqbxXNAAYMDBgWFMZ2Wqm691ZpTb6bWVQ8ohcRmsgG7PppV9joJ0an4GgiRSgNavBfbSZajajN54OtJZ9tlb0dGd/t1kSBnbhKeQudB9DJ6hdJ1G2SJB0OCWOIFRk2WLRTEsNJOoCf2F6mojxqz6mKdynWeREVYEGXW91Qa9nErH/aSbwffMjdlotEDaupBORB31e59W18rAeB0AInDCpSGBdmCj8wkyXnIiAXC6uEJoARCTRC8EszLy3qFUPhU1Zk+MESJBs9NWc2nTodVvrxLi+diB8E/65f6b/SNjiTmUGstzOGTDp7cwscBJJ0vcTxJZFC0fZw6sCVwNIS+1OLa2W74L5P7FnF59I02Zj1a/MuQhZ7kCHLRfJVGoLLFJvg2DwX+H3wjJbzfUygyMTZpk0YXhtq6SGN+lZiMNFMI0fEHzpb69Kkhu2ndnzBWZ5wvXif8BGBr20LRmOgT/dm957vMRAypF2zMBExeaYYL0YTIuURj55MYvrUF1+uC/fTZ66oeXSYH5hwaEeutJdzzMwNPCWkWgi4aDg5XbF3jFFer21CEf1qbhIUlPSPxvf5Tflp/Tw4fOlsISyadhqvdsf+CFt2DXhDgPInt7wR9l8nn19lMab7YLVTXf6y/kQAQF9sAqK0BGYvLjkfcrUs/xKcJg7tVo0OLK/ppLd7sEFfE3SHkwgipOo+H1tKH9xVwChQ4jxUdTZ/olI+3KPMbkKExT0MV2pj4onD7jY8qxfLYi88chPWlNvzFrpup/wzle31M7rEoZpel+tFAW1qEeSXcMc0N6mb6XwC6laUjBMf2yWEUb3x/4yOPx3zB/uTmhEfwRB5g1RrIw3qOUgFeQWgh3DnmOI4YnjYlfa59ap/3LIM94f3+6ruRgoTzc9VlsRnCalLLAI6WuPrzeYsIcjrHKKiuWVZE+V6hul9JDLEzh2p4pkTX7pf3EJ7tKqJcFGaxx1Ona8Zx6FBzQJeEPh9yYnmAQBD/Ak7d872UNr0Zcv1n9lPytxHcMlK4YXpRm9FoKjHYt+Puo2hDDSpXyaiWkan89i15zsVlmN2DBGjago9C4aLg6iI1JxHg3D/pxQkw0bxZv2wq1W5JWtIjE0Hhi+Sw98OI80SSVzwuKN1o84TDx7eac3x2sUfqunBnuB9upSopqEbpjjsDCvqjw8OKrkHxGjy4E1n9Fs5bpl6yfWbMHpE9g8KtU2hgZByi9DbF7JMUS9JPVf4UFHC1Usm4KUlDc5G/TMVURvoA0sULHPqXQ5demafGug2a0ZSSNkmQ7yMDXFvj6loYqf4vn/OG2SRA17wbszS/o97E4ews55xbzurJppGf8ZHMi2aaNznaAeZpCZsHDbwhFgcxskVI69XevFOXiiGt3h01gPg8iTNOMw6XaDdk22IitT9BeUEvqrff/no+KqkCwJCaOSYpBQpSegdsZrTARztahPjwBsNKTfRQ8TqKjDLQpNwRjnQLEhhXx7LbxwUp8DA/5vk9X/uXpliBDXCjj+zcpiuBUITk1L8Na4g5UObDBhFq5pVKOz8Q7/mREbzoA/+pHDGmr/f7grG6RXNcu0oqZ9K8gBWoznksZx9UD1FriXoiORxdPrmzQUJ5NhGLT29ar6uJ76AD2J6drS+3YlHMCGQhAGjJeLq1u97rCbHm2Lj8OgvICuofrPsX4hkNQA45yT/AqZ2+TUVGcd5q81SHy2TgDFx8xcXStZcP8GdnQS4ja67RmD4RcLbeYkNX812XAnX5hxrdGzQoySZnNJ7HA4sUWCsit5IlTbSkFYdqTQhGBGAJus3DOs4thQE5gxe+kFAzyBtRY1Wvw6jqA/2oQU+kfBur+y/SppWTWDvlYBK9UvKtYGblJStXvNobo1zxLrEHcp987DuzUZywi/t8i+Y0H8++uZlUo5x2EtiZCGFN0RMunbZ0dbnbtWJdN2kL8oG2KcLzkMmG0InRgKbBtVxrNkTBH4LUIS9GWPdh++PrQXrlueOkA3JpRJoXS0Y2w1l07V1W5fiqKehIneM9vlpqBGRWGHhY6XqZg2oGa5u+ZiWCLOLAQIrq3tsI0gXMXAVAWfHaJV6DGYrN/zPE6Eqeoe516/2h5soVxe1SuAU0Y2nrNycNWD50wzmwDFVW19F1qomaNW+tPzjgmtoexd4wViFEqTKn9jz5LMRzVsRgJ8I+UmoNIR4n+BNnPdQ11VLg7gE3/3cn1fZzjFeRMDi17/VN5S7QLTO/shiNF9P+NvJckE3FtWpPIFb6TFHrKYP1DEyyFeVUI5K9QZO3Mt+qhhd3rcaJy7QGTZ9nF4uTf8cs+mhAlv7ZyW4uXQrLEn3ATJAlUl92J76TJMidjAzGZgtkOOXLOmFn0yuqhjfWdUH9fVFMsnQ33/g/V2+9fZ4ynraSR/L9ySHeLOlRn83QmsK+4IudjAAH3LdTofTzkmnuXYpvuXGRssK4hW7VO6k9MJKXFIynVCJ6QG/4QlBSLCfvyGqWQyYbFk96ME2ronv6R6Kjh4W1Ii9AqXPuFVpOI4um3cgf62NoKitNSgozzrxNRaB/8IKZ9cldEHHSi8W5kiOX3ARdhr+ITBd4svNUPpi39lPNa79HUjepQVen1Zng9Wxy8UTwsAWOGadRmYYn90L/BLPuaFwpxDggxQ6jfOXzC5HIFWxV9/dD6AfiiDOv3Wl26OKkx1hLOUoNzKBDTQzH1WqPZVy6uQDsG0wnPbr0iRFM+cApXrHUdUTgn7S8iBoq1FydkOlkWiOmE4rHOp7PzXqz9OWhMRi9PF/JcP8upazMlzYBRHPLG+M4vyb2skXiUlmVaJWTalMz2l9Ek2yIN77p5ByrrYn52/fGtYwdOoHALVosb4n8zxpx/IzNYxJAZk11mMGn1q/WXcqb5xK2HMbWFD/23hDqBtbZ61Dp1bmhnZ/I75Dlv4l86ORmLKYZqSGr0QPBaBNeIcmuU3TTrgdF/4RAaUdVRwAZgYEtbCsDzsVXki0k9y+mlxiwdaV4dEEBW/1EuvBs/lm7V1+wH5k7PT8bgevPzAgnVIc7c8zIXRkvND3UGomk8TQw8WTlKQ8YtntMDvzvPAouve5BdOvI6RlV1hSwm4IwZ++gmtO2wu00k7GIRGw/O5dX7BFGlxp48Li7BZy/ky7DstXSWuN0KWoqte62rw4semczTOS98TDbPX6Ug71sZkHq3QNc0YL7wld3EVawUrDoRh0l4WXMPz3mIuAJ8Yw2A06MUR3pDZcZmDnyk8jFpKk+NnB5PyZ3axJMx42LSO285XcsuVfL/RhQChreeLHeeDTgANlDqPUnxdlF7gcrGDNSpw7hOmtBqDfogk0TiQL77OJwd2RsDdroIZ2kCHHulL//U/IhfILXs8RVv100268uBnycnhUgiqXyOqK4ceAD2Rb5nGbf/DGbOA62s9CI15+5zan7Ujj7P1TQzE0lrifpJOZeKaMveSWI6k7nTIspsBZJ59d4iAFNBevQfleRr0K4iUGaP7hgynGrGfr1a3EkT4xEBbIfd52H+I/DGu6VKDOfqKBTH77PISRH5BeBrFJ+Z5XZ0y6BSnDS/H/nejWN2z5CMXt+P8/OwxX3EwmpRxaY7Jfzo3O7bC0pLjmMFP5JbfvgOUV8v315hCwD603EvuM3VLeeNUKF8FXTup0nMcoqKy51AWc2GjcvdhQZWus/4GXj7FY35jjMH+1qnlaj2aGlTLyWkSMi7KX6MCUIAJs4YtdpgNB5JCGJlaXiQXORMMBqwP3tbSsn9q0jvnHUuMU9Q+Llr/0ULHX7pSWnOMkhr+rEW+nIq9/tLEky+eBA0Ct2WGFLuUYg9kMOA5SawylHAsyG2nX1ci63AuYuSSKiVR+rtXK8xle0SgiawSZBFdcs8ZPRRTxK+i7s1xLWHYcpwuH4SjHSAMZZUWsLlMR/AoNylkcUMEaFBR9jP9IRy3uVYIx9p2WOMG8x0/+hLvERcdZykg/ODfIs/dhMaSXZZw17Igji0tnzIombQ/VOHmrb7G7XpuDWPGD+P3/rSe074yCORi5B3XGQnJ2cXaSI4MlfQICfttfVQU+eYFgELvXDYcmZl/jFHCIABo0Q73JR8lGRc8Et5f/ifeci+UFK/gScLPPnS6mFiQOWKl4h144/OCjXUE/hgNPuI+kkW+p4NPbYoZ6Vkf6a6OuqwAaOaB4hc5YNyvTzw5XjumHc8KhATk3cZ2UUDRofp1gg2dEV5kUFDxwkAxuM5Teg3unbzxcvNRuPqRepAja8G6qza4qPVkUSnT5U9J6pMHzeGG2sR+cpCmpyMa7uQ64hu5C3q6/i2NRjkKVBoooafN89AnhO5Nn9FtE8mLq9eLtXnjlEwD645PYbtlGNlFALQ/vYMMLe6Brm3DepxQ8BdjW4q94xYuBv2vYcWe2T78O5BwQ4FM5YKSwlV4E+18I1eee50GQSnscxPstSoiO8LRzChnA5PRYU55iPCUKZ3caSKp6Cq8UA6ZedisuoYMS9kucdgjGR8M6FWMeeyYLky+Oh4RKhELGuVwg4wlFXu0uGXA0+7XLt5NisRdTdH54ugud5NA9I9Ev/vXFOZLycyyIcYwrkvDiYwabdWftn1IayHUjiAAz/FF2zncizcAgRgr2H9jVWDYgre72SWwADCO8ZVbsc5O3hgGby6jHv30nfaMwuxnh3TK/bkaZ6kcq41qNU/gtgD2kE+iUGQM8ahWddSkbW3/hVsFB1GhoAWBqPpf6OyH64jUUt7U+EgE+JbeEbJUBTVQZN1s5wXfGSPVvqB1A2qJEkpycFHHlaHfgMnhgHo5DhfgLADWoz7tMFgb1+0vajSYR3ViMwd0n08x2oswG2/fqEC/IDmgcS1wrCLyERo6/Ne23zBkwS9kaeWjF9W6SuF+1g4pMd6M1wZiUw5umCQTHtdr/xLUOrxc/jpXcm5YGfRGo5hbN+hqqx1oZWZnFdVD84DY+RmkHOZ/Ce4T0vVVjVJWGCvYHTuNyu8VdLvuGOWgWZcmmbACVPp3Dpzvnqhpjlcn7WyKKecGXJUTQwVZ+umX8FpBjBgLSTeNKJ4qxMLGin0ZHRLfLAG9BTCtEWKLQFeufv1r9GoiBeQqLRA0ox5LRFh3R+OJJ304QEVt8+1Z+9lkYdbdjRlWXslNKfAcodvy/aJuSz1ffaJs1YzWE38YDcMcDX/ZDB/0A9Nvn2J/k0lqAoabgXR+lmrbwmvC8Sa8F2sBEm0ajwoTmKCO2aBAjajZOUCO4i/NlSb8e0o4l5gNsLDiPZo/6Xgi+KhSKahWYEOJxVYaX8GuhPnThummoH6hoBT+aBcMpn1ygNc1Dx0ieFz7ggIYPG8xL/Mruzl79fiQjowtkpkj9T91mU2MZgiQDjdgbi51NgwtP4spNs+/UEYl8lQzXN6/N2QcCmdonfMgw6n2khujiZkJ7XPww0NkitHAvuOZ3ajF4rv8GhzdsE1iYNjxFsYlz7C0dQGuYJ+WUw7kSLKpFayTY/HAw8VZ21YuuF7T7wArAcFDV4VrrGE7c2NV2CMZFNH3PdFXVC28uaWeh1mJ6/8mLKYvzxBqeyONGQ+lfB1OgpF2x1oB9oeXCmWo6KCRBB8kzBr49bw9l+/282OuxTxfEyS9deMzUEPfXBBB/B7oi6r6fDdbk0vIbUc8JqxrCJwmV6FRlZsALJrey6x1/KcqyAXGzftSryEaXR+pvmkNyb9kO7J3HWiX80Nm1KXZZPf7i9pRLlhv3kb4H0npk+J9BezkzDipcOY4qvi+kPL11EQ7d+SyiDcBvEro+Z9EIeguGpHtX7xDfXbLUy8tmBVO7O7Z3C1J8PaR6rujiJLWBXEJahaMV8YmUmfZ/Zoh2rWnj6hjPC9WbA8/4Cqsc90LvpTZq6gGSUi3g1Q/9l7NDVMWpaJMzmfJM50q478D79Fnk4fOdc1jEsUGjxrIiEwJBRRQu4H3s8T8lq7NFLLuj4o7x/leKJC7ZwGjZm75Jv8LBMclcl6QYp2Is6CKery45QqF4ddMJ7iRPu8VIj92ym2Gd/J6uG4AFOi3+uEvWpGS2nJ+K1j3xdbzPDeIuEC69bFp7QN/38pNCN79a0vUE8UU4rtKMciI9GvXPLlSfNs0qzFKsuuMXiiiHNmCNm4vlXSasEjEonm5OJB49dDVLqL/8OZi9DkZRxZ82OenLND/cOzp0mg2Aknl+3QPqIadco+cmyjlC7ev9u5rTtj/k13jeKUtu4LUKfTM15ZbS4isEfGwN+GLH/wVgxnCkMLkBbc9NLY382TbkwbxGXijcC0Jl/OnlhLuUB34ApCrRDL+oK0jjcalVPxLgOP1sileeMeG1mxGscf00uC69iKKEhvh5RjZZ9RMUVLw25li2q7p43p5o8OygT6Xph+bs3NWLaPznsH3q895FbwFDxpoVDW4lYLSvxvunL58p4rpywMMi2OBhTx2vuJr0delWLu7Xe7j7rQSfMPsnDHHuZseJxMZEyIEMbXoz1wP++o+gyRXZrTQ1eaHussmOYhKrPDLXlcbiYWlHUy+/0CbAPGaZ8n3O4n6j82EQKGxOyuQyUkRM/RLDnwA41dLafTdjwrWJsTrEhk+fcZbfo0pnsdrhxUtwwE2sSGiAnJgwOn/JRBmsDaXTedOt6HiM9dVsbnfpiq2kI7fp0L8ChclnYd08nwXByjJ1PYLV6vYxkVCQk4htUSB7texHPUjOWSMTMZZ3nSyn1lgntSxof5N5ZQVDclGiWLpbKN9Ni9r+uPLFKN2DaWemPz9yhkuNjapdYErQDk6l8uSIz2/vFlIesbmi4ap2JKOLH3IWB5Nvxv36KaQTL/UzVEPZIxvDySTnm0qFRd9BnE6DQTloKtNV/RCW/NvVe70e0pTfaIY3/cZmrb99IFRFHnBxpVugp9vCmJEPmnB+hVBhqkOF1QROOu2u9NS8bswQkt9yZhMIk5kVlveEs6zUMPgJl/1XMVHX3XNcWSSo45c5TnG/F5d9Arb6CPyZEwiX2J6Ijy35Eg5cgrSUwboJ5Qul1i80rIO7mtFPaYlS6PAvbS08ZyYY/l7zTFuIgdRROF6jiIDovpPfcDiwOAAIGjgCPcoVrrM3WC4Xhe1IWlSZUmOMREr5kQA++PAPkSWb0hBmpx+mElz5AUaRKpeI3vHSIzaVB+gEAXughkuJ5nwj3nDTj76INaOHvmzd+y/9kgBeeuDGqVmJndZl0V8hUo1abeQIwMLfhI1KFbBlJgG7hSTXks5oxI+qDUcDBUG2b0UJjGEboPZwcfdq4TtMn9OfcrlbkEeqgiTXFyoWMYc7sjktAU5JHq7nXSZ86RnUDYeEHXeVeytwxKMzkAC+bzB/JdARZYmGoB0FABAhFP/LVtUXGf1u8u8iltimagAS6HoQVxJoypOxnrhfa5/AZrISaGcBdVtoMQSXT24gzeQznn5AUgQTuh1yvQv9cK6uwyws37YUETvkfsRZWN77RsWYjLCmsfwXwxY4hQHbuxNgVmdtw7v1ckwlTLF04CV2zWBF7iPz8FiAucreYp4XZw7Ym+zit/9qNAQB8IA4KSUpLqDeaec1jqZX+4AAMkDc4B3FdKA8jdYJICnVG1zO5A2LvSvah+HMWNBcQMyxR1XkBaiN42SSdwxh6rbHfsXB2vSvGoUBEaK8aBKXZLJ1qJtSPdocY/bmO+7pFakPOSyuoi6CVW23kM4shW2m/HIu0aeMTUGWp8LUlmbQjJ1j5i+8kckyqYSxfNYxXJKZKKaWHTJPcBFw5o4e0tw5QdPkYn+ulw33k3es3W32KQOjVxMf6aAxHdASbHMIVWLdSxsSoR5AVOBwm3FEDvBd27xlHCAGNhuj2qdNkkbB/uo97kjBsbNpVd0uNbLXaiuxy81TeOzPzMQMpYdXOMT/n3nsY5tmWsuMqttEDNBSknHPf9HOqPubD1yNgEyon2UbtXZwfRNF7tWhAGxEWigKLGH5tLCX+9OiMQ+9JQe7X6f94Yei5Gnf0meVkSsMPAD7Gwmwt/UzSN2ywISnS8hYWTj1I9DWvHHzId2zqLKPpvClp2NSAQMzz1SDaI5FxzDad+NNyE+skxci5frJHan3loAuuaIK1iifhYG6BzKBF6WsKMIvzE57gU/6P1hFZxw1XtAKf4UfHI18ZuoYemS5yGKZI0LISVq0rOVcuaXcooheNN+ArJFWeCp39neL2Wx8JVXbyrKqB+cvWWcPS5kcJRw2FVdpZa1QgHV8MuxoPCw2NkdlXelZlKIMTgjC/+26KwhODuC1wD2rBsrYmfG7QqguNcN0p3UTPE7AIrF5eL/NNCG0FSPTq6nbd/sSgBztKruBg3IAEXUogqH3iaieKLNnQbexY3TdZxSxk23F3HR8rEMJXPMaskL37jw4zTWFtYolSDUdy7A91pc8434ENoOcWSsd3vMAvU5HHly1D79xVCESwkyY2o3A18lHa+MadSzKK0nYl8ldN1lhvHEoZT5k1x3eyyWlvyr9fmw8Jqu+SNEw0DwN3w7giGLK0T67IIPum5f9uPwpiWotf+/ldvIRPTYVbSTjIuQshWgEKH+PfHhTBGEz0Qz+QqbyscJARuGhHc6YypQXC8sMSEgUYLEKrpqxjwaCe7quURXRy1j1A7H38jgAJ5ag5aojF+u1872B7U56/WeXZjBXn/Dii0zuGTSgBgFuEKIjyrFR/fo0u82A2QyVFG8JotV2QNHo89l/QtCwb2Z6OMUckmkI5TX7++3eEDA3Qu6OLxilgE/Zh4uInLWnWpideZgfrpu9dLpxzudzzUWwl77FpPKEMPmIY9uCA7RZBvtVZQMhKBMTRRyWH+mJMi4NXHjFapHUoJghGMdpmRqNAdbE+3pgzKb8AGnsCXWdNo/0U+6W4bXwnRjpd2miPGg61dmpQqpJCCLltORuzqjwbWMw5J1pVMA6kKevXI/txf3nsuMg4sZgm58EGrpcVAaE3AgWgjzhuP4e/MqsT/4+/iSClLW5A07Eh59EEYJflLdKzswE/kj2lepsJq4LdP7WRJpbAODaHV/xztHgGmihwKs1cAXBXQrCeqz2Sgh4TyrM3e1SexrkkRXEwqP23Csx09d/nT+FqLtlXo5WyVOAMcPMs/p4DswvvMiof8iTe4tvgWKQmVVHA7i+PWuPvj6AkIvUa5ypByPV/CEV7B818QtgjWo3E32rIQS6pbXDvS4qppG01bKKoOlas6mDlNw4Zdfh/K/S7tlpsAn9zDq9dKIxDI/NxVWPPGm/evouqCttI/d0EE9PbxgsLPub4sUiwsQBUqYNc/NTVMFc5cux/dxwooAEaVER6T6CVUlgMDVMS2z+C4ajZFXgdXDjHlx/t9xKTNqPlWYxRLwyRPRerHukauIo+DcF05chmqEJnz1V7eYwa/V5/78PwK6h9hDg3uF7MSbEHtFSqviMPTxlOS6bntJW0gJkZNXsUml6qeAJrPJOI31UxdrMMMuXWOjXMlh4syuWvm9Rp0xOAvXS8Mv0aCYIGTywBLp1E3pft3L9cwKOxE0c4l4/ek0ch6VLnqktTAJxtcxFwWwiIq6P+4rXpUt3lU3FRUSgVK0w5ZZ1dFMTDJxVpZMWFsQVqJCASqoleh1XTjf2pnjKRdb4cBXSJPKDy+oO2JEBEk3XjNm7J3yxFYqQ6+dFY3J8rQ0iF4Gn+6TRMU8NB78z507g8aPAuTawvd2b/pIEBVRs2NojVMaIAVrpkyYfwWPO9SAvIIoBO7IhBBF88ENqOqGPTaY+M2gLDyL7gC7+Na11+s3iyrW8az/iqf5DbzPpnfddbOSApEqXF3oVmKBF6Bj/MspvoKu7PhpGlkw26QWYXc2pO9+kJ4iBwFvX8WtvtZukiep4uYCNvxbuYtGdlnI634W2qTQ78DhcZ/ForgAqyUcXQYqlzhx/3b06ypjXmQd81N+DjPueUIOdlPTx66g7Fc4pLzV0FQYmQKP/z1qkD7qovvA3bv5RIDIehEbCOT3jtF51fjRe6utE35lZNwj4YMrWHMg2UEySGyxOcFVQxfnT6sjx9DoLZU9hYNkBAKyk5r6M7dgMlc3HHI0H8c4ScptmTpACVkpWJVpEtmmPDlu0CJaAzBcF9GmlUinbz/jm4QZofQ78W8/sXXiVHRV5gPxDoSRa6G6MK5781qvcfnFk/an2YEGs8II1RQs46LwiV/3N6j5ujnXMREhrqpWqs6Hc+InAKU+s+z55ZT/XlomJuncafj3W7amvr/lBQx6U8HyQ9UH9QOWcyIyeptiSX8F4ZVdzojEimnRyh9N4BCX2dhRu0Gpl7HGTyLpCSsej4nO5Eoh0x7rKteHrtCEgL4+C/2kRJnTcj0lvcFCc7bOEThbC33TBEIQUkGYwObporxKEeFzc0D3I8/dkrfzCxd00coHFutoWzvS8OxSakm+g1xwMfS5hWNuqkBpnI3OGgjMoHivjzXAGGYYvd3REBKIERKTlTe4ruToyC0e10ZCGaXl7Ym4r7Ix6cnUOWaCa/i/fpUkqGXd6kAURlzml1+jEfrN/fTmqL8OMCewMho1Y3UdZmkMJgsi5y9V+wMrStadZHqc5xvbovMywm5cr55evyC0u//Pnyt0s1phJxpzw0QLtddjjRcrmgSw3xKzu7F8B/mkHs+DQFW4qGUNU6C2ClTRFQgV2IJg4Gk7Zdntf4EqeyAC/pQm4anHwZMI71eZsWlhRhZWSIjjjvXAHxTNy2TTDDLWJp8qf8XYBC21zMT1HWqx2gXWmiMlGBjixJGYpouJOmdwIZhQnVV0zqHdQpBsl3FqklVwKee/Q/V8yBBUl4GjXq2wnP9Ph7tc9PQWKzvHWCWkAC+qmInx/fKbsCEquRTZV7qugdiLAgIbbCIdmXeoC3sKioYbOolB2d4hziRMxex5JcNGELOSCAmtCcr0WG5FcXRNGxPxiAlIs331dWcRgCHRLTOpQx1XqMNlF4a6DyWS33K2iuiSa7VOBwPLw7siit6rvpk3JgAGdLoN+n88CXJZtl//x7hiHiJ/oNYFrWC9RZrIqaeMmEB/iVU/eSAHmOSzI9Ia7Bo9jk4bHR+x4+ux8MI6SEc5CLQD5Z1nSPcZSCdVgFmYV/9ySN9DmPUyknlClZ2kcb7p6JzpOTW02OA6EncgM84EB6XS/dGeUtElhfhlGYkJEF1mGgbfcftO/Hoq+yi+86HbJJKpvpZR9oSUbK7jE8J6kBnmy+lRq8WWIOnX1JzJQnZbdwKCVhi4gZc3wtQnRQaV6bnZ4dhMT9M384xH1GiV2o9B81mLltm1pmOjHImI+vTKt1oL3DX85vTXvhbPfRumkos86MmEeR5Br4Z4GbQzfepwJ0fQbbPBpNz0D8B1kmKYErMtkTKkurIOpgUwHD1Gw/A3B31psaW34v3NNoCGh4QaSo6PaydWH6mgtBxXHB0x0C+HgZUXOzFQUeXvllT0xXtkGsE6EEEcf+DSO6za/UIv43Rl4jG9TYBx2fcR0g1f6yk4aC0BGqo3f5E783COiLzfXfbGKkVvr2dRL+ihijUFViypP1NSvtFV9jLEHAS1lx+pqSgYM3QjsSVndZAmeUvYFIOi8OzriwxhHH143mafZaNQSYb2I0UrlX5QHfX4J7k+m6N3egI3knEmxvlJejEqiu/8Klr+uBnmjHFRiEK6KasuF4vq8VKTEgTNW53l+9HOA4LaZchT8HaOnx4Y1XzcZNvvMsQGj0MZnYaiOFtgCVnIdCngbzxe0tgCI4Xiiepq3wnuga/wICP0TNwcwjXWBeqxqeFf+vnZC/DB7T3LJI55veL/EPxv231q/j0iz7941uxU3QWrYaerm2jmJygqYSI8UokFQC+qO9Amc3uvMJWRBwtoDSUbJLL4iMAwvB+GzIPKTtpD2MG6QEcnELuEbJMjsNfkFRyFBkzc7yNVaDbPhRLfyC0AQxf2QrloWxKDL2Ht06C41UbBKJBBLQFG6b+L33sfRvwrQsxJVIXV7T3zYX/qYEB0TDSzyfIWAYnDzyOVCTnFhd3BqYEm5uOAxkBy3wmdy2xT59aGbygXI3p6Jwip5j9K6ybCy+U6tju2bnLOQNFuUkPbAEAZorcLGZL276FyRn7KFG9/aKTF0CHnCxerL1B/4+6V/HeIA1qt5Ak6Udp3y1fDCNaoIxG4J0cCQCVJtfYyPK+QgEBHupZS8CUDUpLkK5xqpzkP1k3schn0Lqa5mr8Kkr7UGvU5yDmmhCeLech2UdRjgItDZfoyaupgmUBbyWuy0A+j548SQ0HWt3cbJaWPzvH0Ng80ePHNjVsOS0GTif8508a8ByqDdpnZv8gfA3dGNOuXPCcaEdK8dd3x17h3KRbC5lL56lf8n7NW7oEkOmIu7yy3LdhuLmAavRHhTJ+4evEx+F691n5RV5DyFetmsHmAL/Axb76/RLm0AhynZFHT3w095gS7a5nK4r7BhSHHxbpNRgOQ8M48o8IHMfYZajUY91LoEzsGUea04jrClObT/3qOvEoXVflRfIdIvljLlXFAb6RizJbkvLPARkGvkKQxVSQC81PKqL0Hf+pg/u4KyO/pyb70Wt2xS7NhksxphDThVWX52QE1XvSaJpFnyOdwXP7Mj3qJyOueHuD+i03lb1hlFhy77+XZj1dtS1DgIFuny7QN6Wx/GEoDPkSMXxHq6VUzL9qC4x/sIxYrrz76oo43Tyx+Rc6mM5RDC4oA1MzBvruEi3OapwbuWA3otJv6wfWjnyDMk8HJdsNxlGyKtBiiONuSQHOfk2XIa3P18eogsyKZakDm5QnbxjwNNWILcSNYJqrowkKFZkEKiEj2TAyXuwvEET701syofpKR0PRtwtL0lNWGUg5CKkLL9XiiRg1AuejEjXixjUcw0XeXwa8598nYyRFGLs0auO6TdulzgEC8nK7XQQuTgbMMidjhls2oU3I8UZ6N1Ql4GQiP3sYdCtqo4Ycy0YKdWQL5KanJaNIY6/OqAqoxGUb8ZJtt3iqOeqhs/pFda2YYwyOyZw665SpISMYAsfdtvCsAFccQBYOKPT6zyA+uju50nIieFBAvdmNRsok9ynSGVxrHGXO9kZDIvNcFcPmtmr0VjpZpEa+/ep3D+H8ZZlh/tWIdk8jUNPEhvE7HWDpOWkvzUYdVh43oKCTTHJ82HvLdMFRA8PUWKH6SWl6hs8jolU9iPqg6TUbnAKvCghLDy9HFb8BEgEYpMIif0OO7kiqPj2xg3M95LVi5hLyvlU7t7ve9P7iY1M9LEdGs/2IpoP/Lv8+T1zWmvIDQnYoy8kk5WzzcOcoKsZu3f3At9NzLA02el26DCbqwlq9ziS1cStJrFhPtE3DtC/VALVjFJHNhUBUryteOyUvOyvCguhfZfVcQABs8R/q2VjDM8A3EfB6a6PZiSxEduxPnK8w/IZ1bh5nhQTMrGNScRXD942XCk7cOc/DiY5Z9z2V5r2nJSvubLdLST39jEOXBPIrZw5/AMII9qcVy+XkLB11xeqJnaQk+DNL6grevUC2l2bCUFJ/crWnYOgYuNcR9qusDXvZNo85ERom+2IAUqL2zUKnSoMoyHjmWVMG/XeiyCcp2mDGzt0jprzbqWWU9OcUJx43WQQQcBSbAAxa7T/b+JBeKgbrwi7AtzlJZv16csOAoZgsvd2UnSXY2zXcnyvEf81ycNzS5fa9Yo0nehEjg832YalOdZXVt8bOQ3njD5INuC5oDfZpEfuQ9DVN2xceN848TQN/Br/tW3jWU8UR8A+fkWg75BiFaiwU5YwkPGqL6yJUjl6es1jTrDoUidAJzCHT14I7+82aGZt412d4iFjX4lrFdQseXR9h2oJwTMtEalmNo41N0b6OJa9389q/zULamCtcQW9O/WTzQIOp7kxftLUhnYKXwyT6QCnKXUCeFIeUpRMfzcfUJ/EDnuJNjmTwkkKXtvY2zmqM2SMjBSUKB9cvrq0wrIaYueNLFIg7CwQlW8K2WtbvXj5Ktje5dRTJpZs7jSSZTbhRbZWhg+jnXICIpwwUaAsRFOrw8zTqCaUqY9pQWNOp8toyheSbuZJFPa4VefyDyqgyr/C6gM2MvMe2Nv6f5XjehrBB+1sLDIcwJxSvINLKcX9NYSlqPVXSUnV/ODn9FkAaJBpvkXInqNvGe1IhJKSj4IwyVdqrxOj56oRmi/Vb841FMNZA/+32lMhMEXdHp3hUt68yKrP9C1A5ICuZFwOH99xFj70ZxpjdfLmgl7ZC++P1Gbw6TdIPRFU+KEH7wRD+D104h/0fl8DIWdSKgkON6xW2jd3EdCXbihu3zjBmV+RDegqXbY6z+Fem1rM4NmrCzJ/DNLK6/jqI4EBEYCImteJF1iiesTrAwxo4mry2Lsl8QLwghfbJK2iVVTvuhj219Ur1R6aeKmC6vLgPMoYjYjATpCJKbWwkvGFvwSYHC59hEb3dpS4NnXzP5IeVgzMK5RiL9pTHzFjZkYj3jYvpqiYbfF/sTJeS+8gJjiCCptwGUE9rSFFPZqDRtjaaTpjK37vR4Z2Mwt6wVIt2hq1E+fykaK9la0JJZYRiLWPbWe6d7UdgAVwNKtyFwGXDBVTjAzKoGN7uxa+e/2wJ6GoQ7RcmKRet+mUmIE6bV6Mb3O3Xl1ExIVbyw85eGtgOwNKH5GqufvVAc2ICRekEOUEz7FVkUqpotzC8q/mTdVtOLsFRNYttTPjn2lcN3lZs3jzJgJgpIer+v+UAP4D2OuQPKI+bMDUNFfr+1ptDXoF2DyG5TyiCA87q6cmOVuAUHnVLbDmuNasVhx4+q54c/vJZe21i4S79P0ApawvgV2OK1lgEiVOtj1JatKAGZxi//KWLK8audwqz//R7OBXuagJXrVIr0feWzu7RL6ugDzeLc4DeZzB+zCyfMcJu/RcBi5/5GquHq85aKpNGIGRhUPfTcBH6yEHwOP97R19xx4pt9WrLSeIV6+R2FZ0FmGjhmCF3SxHCYOgH9gvc1InezUGQk/2x8RYIOvnZiIRNm4iS3X1vnsXtWg5lxzVphlrWHCPQVVNoN6Hoh2hWzmeCHF3xc/4DQ9Cq4KBo47IiyOkAXeU3l1sgzPPyMMyrHMe+kvIATgnMR9Lnh64Wof5YjmmVMt3FIZ35rJx/dL7+4JGNvp1giR39qauwFNOiEih4Fq20acc62U1ua2phbbsVC2z+LVfypjCsi82x65ll6LS3fM04XJgrAwm3/I2XnkJh1mWk+92euJJhpNNNrw/pKduPj1hFeQuipQfw4/BF3K757IBQe2JPnIbr83Z5XaqykWFx0LN2INT0RpxwA8khwm+vlKhG9n0c3u8oUziOiY1Q4BxXgvwpLfjttiu1U776mjHurh3d7zcSdDskQ/gPbEOOztWSaHsPNUf92Sx3j0GxOkrnvB/Im51BK2N8lzofCBnnogAgqq1X839hNLXhg6lUtHICVJXbBa+Gczq9K3fYYl+madIb6Z9AINjVoQ2NMnaLQ20xnTR/t0ct3KaQKpu54t72pPR+QdRW3UpX+9kpQ8TdoawZQnKeRY+G62mShkMj728ZCK8HxKnjUW/nUZgKE43U4Z4vHfcLGYsdrLoqmMcVSd3F8TxMvaLtb4vzq/CHRajQScfWIkdv/jJkBNwTc7ohpBvD0ACtvyaqf23ArqWom85PkVeHIDWoYi93SJVt8WnOE/093AsvCmq+hbz1gM/bnhS/vciZOuyxe2PgfJNQMmqm2BCtxMXSECnRRNG7GiYP5I+300+3Wiu81IOzbIPrtQfU3eEyoIyMsv4QqybVTyBmC5CK7WpjhCCxotF6lLOT2SNbeIfAFwZk5T+J/74zQdaJHQAtV3dqamSwkZS0I7iRNoJMduQNGfeDfOEHjC5uUPY0N1V3hY2BRru/PQ5PFUf0xrqHwTxOs+84jcmt5vyUCst0psUUVkoK8AA3hzGdVy0ghj9kXNKJBO+4kuLiSE7FRPUA1qPawVcQoI9fnAba3/xm5W5eFI4zdDhDoZIoCSGQbvuIGS2oe9B+CxyHuK47J7t0sNZCvf0P+2jxGSJWmq1k/ItT5Akl0/Y3MjLAyvby3I3uIwRhlesqTr+UDvnH7Wzo55BgeHFSLc37B9Ghrw6z3RqIPe7NPKYtwCPkY+jCJ6YwMCqvBpwlrZANAnJeuxN8IvxXvfd+sV/Vy8h/qGoR3Wmafw0VQpbgXAIGQt31Pl45R5eKycm+l4R7CS10L/Kbu41SAj2CX+Bq7fY0XpvNMFT8tTTOGe1S67Mus34Chk8+IKz0lhUvELPzVtA9ttaWJjWAIuVngQCHejZQDNkRjMze5LQTxGrvfDC+9EEdqoB11mx6vFIJosJOruGy2qDA4Ds4FpDXOXwQKnmgOcfY6rIzro1wsRwlis5z/wu2YCWGNw4QKBx7qxeUUWrcjZG7/Shlt9UcPrtBZntG+Xo0i7InGndeP+/2a6HV453za4U6GJ6q0AGEy69chTZGsb0806mg8q/WDMoFSjHPabNQoZGh+cD7uFjSxPFqHo2jdbMM4hNaad4LKmvh0UWH9KzZndtxQ4GABYSEq9bXc+xz+PflxsLFmfsT4PMPHETdh2CuyIAC5f//YMi+d2EAgYqC9m9YqxZa0E1cIhWEH+oQyIJYNIgkJRuErv+drSF3qygOwJ8H3icmZ7iVO+V+MCLS8jNTCIDEWKi+w8S+HIrPsEPMyNIz2LRjHHSEHtOttbyaEa9o5uvrA4acRktpuA4rNyqoThQbWPgUGGHG3AR7MusvLWWIjpqXyzCAguus2byAsSffp8rql2oh5fSL3y4PhA3XX43N3zgAY1tpJlBI/WFO5okdq2Xh7zhWcvBIdYB0jcWJZ9O8+MIw1IkE1qqWyXt+62jXoWeci7F+kH6orPwQIN5mV5btRbw7jRb1bLjAffcpsAtcpwshL16IgThofelZNLUANHScy4Nd8A/Xq32LtnxjVsyGk38h6pIZg49kSuNrwvmfHKF1fSRvRRodZ6iPjlnBKsOaLYKIV44uSbxphbFxlZHdgOMEn6PtgXjpe+cqg5ZBhIExGaDsF9nPiVFzPN8MRkJ0I3Yj5Dj05aB78BXvLVImxNI766htSfw/WPwwTHn8ohVzl+jBNN23ebDw0DkwtrCIbvv/bqxWbv8KtEp9yR/0+B4zMn0gAq2vgzAMKMlLn8Dn99LsWpWmkj0hDZQBFfIa0drIwXzG+4Ij0+xnqRzgUI57UrTP9qm87SCih5xPn7es/QcbuHHJErSZBANlpC/Ody0PpNcoziry/w0GJ2e265TAd7NmnssIES0qCTSGTIF0pGQ8cevfNrn72HtAqqz25AlxCBYDig+4NVZupiwRUqB/4zz2f+Qhar/reIPoqvcDyp/Z8jRNhCDo04zB+MZHFc3FAeG/MieSMcsFxh4BNDAVMS7Zy3RiPPI4iE0b241WDJanFsSsSPb+5GrrbEvf51QdP7RCCbIjCtLMWnhXqV5nzJmfMznxKB5LhfmDsl8XPmsCoFoJ3z5tsS9fP3LpzuGha/zhH47wm1qp8LHj5QD9U9D7lU8D0TNGUxamlJ59vq1pio3x9Yd87l/Xvw3vFIC6cpJu4umW72bHHnYIZVOGTEm7B8iLMfbvaRv4UH/q2cu7jlo2xf4qcUcVh84CF2aswWB8UYs8eVp75J7beyk42lfCCPDge0uBIWOR59OL8+rqvHA32cJuyGxmX58CXu2Y56o0VtYSUITMnbeol2GRn0bx0yrVS08VRjpl5VbZPsBEDwQNW77QL9BhwpgNHDHzVPCk0Q8HAudp9iHnNyxaLPZ3YZsAioyEqP5CToBJe6AcUspWye0v0KfxmmI8HOpcTIsSKOHHjvz1zL6GDkX/H8dToMKSmcYaQKjQwuz8wBc5Qm/JU1Lg/foue1Zc/LTNDZbRe16M5vljTZ15focm0bYvoFzsGCR//3IRtb77C6+WhCNZsGoxrWEOJmkcPoUgW5yedkkXhz/7JKi6QyoMuZZRSaYGgkuPCEK0bmpkvXB+OvihXwlGSWm+KLK2G4YeskxVfeCfMr/lGpmb8GbbRUAwb+ZXK1CpwoHqt48GmXx/Qj9Iv7k5ZaqEr1uqBmJp8YOZ82c7Jv3qIZuobjkxLaSoa+zxMfppGloeLqgSY1eQt8h6ljmTZePWjEsnVz1PJn2Dn89HZct/Itk6Jto6JRITv6Zceq2q1/SStrTH/hJw2KChzPDOKFsWb2pC7trF5CJ2nyh2eP4GgwfIF95L5AYuaDQP4+ouSyvkTpGZRAxHyDc+k4nsaECPrHdK5Jl/Q96lTYfluzo5fZwVyRh8/C2HcRtcJDBlTLU0lETWZNu+8apJTsaCqOIo3AZJOilrQH2IkvcMo2JODBgvxt8TkR3kdaEMmWTmhyyTcZ9q5OdHGIhqImMjbsTVoUuMcvvmGeay1Bw7dQHE8fovHClkJ6FTLdX+TPjIfIXvuXQ0wXoYAdAQu9CMg4jinWXFhLenRY8lnshRMaC7lzbhcfvTDajhj/VHrvMZNPqrMFTVCkLCLurHwoXLSyjtHExqhH/Co063KCoro2FzpfHGcxYXHPd8EfSZeNzjP93kJ3GntTX8aHm4EKRUdCo0vrXgOxVDBf0F8+Z7Lh4myEAiVCB0bG4BwcHCse6/z73O3JoY/5wWnRKwYujqOHLEqS8E8xsVQIlJZj+8AqqlK/yu9ysEKCA/+Rp9sdELGxoi7z+Nf/o4LOtVqZyR7eKHQytrdikdsOroIj6IXi9L3bng9tXhV4b7aKJvZW0RmF4damyizpIDNYF6HmtXgimNQO8P9knZnSIXCHdF8WbDstqk/ROOVp2aYKl7mYhNQItlR460Kl5Z/dhSKWu6aKrEQavrE7lBjwJMPgJm7C5O3FpFPsJvizNOAn7U9HaY/b4xyme5Wt7Xvz2iFDK/4kikee04plY08grUNwipq7UFKbP5TtVWQOAQco138wh1zKUwAnA9cqdCFfNv89V5oJGmziP/rx42Jdoarazvu/3oyU/TrFdtRS+nUISmUOlSsfIDdSPnToqQLesZ3lSbQRCmnHm+boGCxehf740EXV23lTAAQbB1UAODycbf+7aGaHLxBvHS3IiypqiAp7vb0CdYnRQYhxlsQolY0rmrCRsYSr3LTasJO6x4uUOoMlpVa3cEPDqLnW6K4oM35QqZf/f3FhmZ5R2h04Jh3Dg/Vkiay/ZPaz8Y0/TUJHA/1wgEmc//s4XbX34OK5DRi9edqtCPds3512oXNHTGRplYzcPsitm5FZVxQW53HHW24FthAe2nX5hLCwhqyndfSYwJi7r3wKAcLkraY8kDZyzjbmGay4e5QoqQ8S2yGyYsUKVO3m4K0vHAE+TmvIpfwLx+qG9ICBp2/F0FWimq3mZAOddHHmNGfemx5G7RTZYnFdSBkCS4VdIjoEhaXTbLXMqn/p6P8iSJy2m5MIbpfwz7++0JuvbAc4+Dv4Xa4fb1vc3Dvu8957i101F3/JeT0et93CV6hz/ms8Kn7ZzNnvWvIhwPb1feraWukzxfk8ByHqUsVSClUtMv3ysXlAtt0qUOMmYe/oBM6egurfJFwGzKXmkduSkKdNrfCx3AU4nwmYUV1w3va3q/ClORux+B2UfhDyfapZfZoC2gcX+pT5ZPUtaAabHcIXpyl8UQzvegf+0RA6+g1ecLCq/7nwXlFUhSwcPchtvBcyvgZqdiIMjIVgM5XkpzD/JCKcOxsS3aY8KK7F8fBjhwTEBXro6oaOhfvN8q34Xw9IQWNG1rVIf2KKpdVg0rIONq0CIuSC0I8A6075bw3NwWDh6w1VFHtuvMUZQ/0zNmpjxn5p2SMBlgfhEQWm6uhb6Fh7ny/wcBtn1P/bi5XxFETSaibjqPZimv00JAaYR/yevKChXWH3a3SJSngeJiZWc2ehJL8pccQd9yjlbcKf3MHp+3lZErQ0mwxD59duuEq6+O3nZykgcJEZBWCJJBYEvSna/YwsZTxXoxGiuaPePlBKQ+w2JPOsHKhpf6iHBbpcJjMXuQb8DS/xrWv333tpdLwcS/u8By646kaHo45VWTiB6bTAMKHONfja3DyabWg42eoALn8GjjGxIN6D4LgYm/Cn13jdTx2PUWWOFp5MHhsNNZBUTyLJ9KUN61zZ7UC7jJfYiNxIfmPpGg5zLrBKYi8Y/x42L6mHCiwNXkjDpTDZPNnto+ZZZ+DRUyKnWq+x3Y8TuE79zL7x/kNRDe7R3KMER3qVQwjQ433Ku7B4oELjgJQgRdsHxaoHTILlrTarqouUg0KHWDM3c2Rh8wmO84wmNxQFdhXgffDI5rrVWOOKIE4xQymR9OrJKQn36j+j4h8wIJi5x36nu/4GZPDK9KiXzw3S6kHuwRKe3POXMeaCXrQhqKEwviR97YFI14SshhUlPwNDThMYF/v93cBNlKmd0ZNC65wQZqnkRWggN1vjpA20EZwSLz19iXHzGXYM2UiTljGZ1A7jtCEMmJ1lK2sAYfCPa78y4qUuyBLp+RZ393t8uV/XmrDHQrk+t7jZfg2BaKS9nlg7UOl2DLapwDiD/0VJ3jzNtBIiScU+q+LcIS/Pn5UDbh1Jmx9TVfj6k1VD16fO6bUytHXj+WmQzZIbf5rTbZHh6ZUIwr4Bf/7bed8lzqHI4LFPs7LhauCQM1VgvtXm8XIiFwEGqmPzVpdiQ9NipqN708u8wqGt9R75N8f0USPPKvxSSJaMvRJpH4CkzqmwkDcv7h+z1xrs4uUa0dXFjvEEAQW2tsmc2ru7CKxSqwfnvOV6CoeHqwGi4LCPxJ0R21BAxpIoEzpShIPwjkVuL32a7+3ktWmCLbItyAHcXwCksPigSfgdPmdCjRVaE8rOr3z/m3jza1rDuNJ8xeVZFuu0RrOCjN3xgOA4/wssl7xM4JzX0i7BBBASIQZO3ZoCGJu0RmXtaxDkQvGw61/nMPp/+dEwXlmsYxNPF/7h7Q4kDCaUgGWA04NslQ6nuYWrWsOInER7Si7+EM7LP7uc4j45ENDzMygXdIKx8NLTPcqtb31J7E3feIezdQKF1woC7l35l8cVK2wHXPCi9tYBgl1kPiB/P8WJq7rT+JhTjNGWXrehA37aFNWxZDuQWNjPGao8svNGaXiHtvUARji/KKAoUw3LrEvOxV6BFcgpxd4NJj9vwa1ECKTGaEvoj3o7ZG0fGH3Mkysikf+fnq+QgmngHNNGxYS4xB1laXUR66rIOI+Q/IN0gx1wAvoaOJ5K8J5OKhtWIbXkoXOHMXUkLkU5Wrj6NzeTqy/B0se+xiw9LBaslh62O22fAtyBA7WRbgjm1AH4sPAaCxxlhOxWV6Y7ItTa4nqVN+IPXiXzN4jnzGg8A9bhHniRbxq1eYD0wY8zHHued2roF00rRKxkBKG4oE1HT4eFViHnOqnBWkOV65e9qZYGqyErzYk/4PICPnrdy4QtmxeUFPUWCwXOiyZUJyTzC6tzrBZqOM6u0YH1j6B9WCFd6x+BMiOiDISmKn7DMW+2Os4ENzmkbaG+MaeM9TTgfqPGd7okcamcG7XjxIHcY/2brPQCZ4AnsskqAo+GAMr+ChtXWrnqMc3GLW3pJHfCoogSHuC/Gw6Chx5ZB8L11TOml3aCNdzr9OwvKfRTaF+39C3Xn9Ndda+3OmISg193H4d50PtkN9C5Sm4rdtCUglcsFlCuEtmtHxJDe/QfLp1TBpB4SU9MC13T6dwaC1vK8KjF8wkKX9T8tSFyHay2e419nUm7qTSXjWdn6Azk6vinPKhGk+mMSE+D3vWIcn/quZiDGtiskJ2oNwJ/6s64ObJOOarfc5oWnTQwgXmpDtDjrbtQKbpR6/7bGTlikVpeW2xUYdS0J6KGTX/BoaJtqDtw1Sr7XPLLUqmh4xDnmlwj9fMPMvLRHoSu2Vc+JfiVMp33JRjcdHePHHW2fBKS2w6499sUU1RmMqAcwngKDcEMzoLBnVHW2OQ79sldgMR2Q/4Jgxv2+nsGH6WsoFwHVhc6nT+UyKdsKpZfnT6r/Bigd17rF7EF515m022QyVa9IQx6+7c72E+CeoNouNOpSidOqS80AJULOQK57uEh5BM03KedhrBBAlXxr/lbQIuZGN9Fk7+0AJJTM1nc46zOkVnOH/gpuys170CNWg2KBsaz5BxFhn6V9eMxe/S2UjvVquYXGCc1CG/Am/uTaWel+BB2vNi+khrRs1q8DbtgYH4YdajBiTmVb0A3F4nJdliIY7BSJxWin7G/OwH5UmV1/Lt7iHCW6SiS5Qy+c9buuuXa+1eIH6HMu9xOwVAShjF59QLTT5VY3tKVREV55+5P2J7sammqNwnoK+BmEQSQpOAl5AQIJf9pnvgfMb17bQgq4jsgv6rQgefhCkZHgwqPe/Zho7zK3XYCrtT5nUgGgCKZCaN2m3+SGmdiW2G2KY/uZ8Nx/lXfX8c9ov8EbFC2fdrAn3BbvARcUknIZAqiLumLQaP7aEB9+k4rCAtWvvKHY/zs6CEcI0SVNrkwOHEBFzzBogYMp5OgP79eUwC8T4UdNB05ZONuUCGZaQy50fF66/fvN4h2gTdv+FPJ1PjroLo9estb1RJvysxG23uGgR/14VqwcgtKWRkBz4QNf4U3zX/Vp/CPhNO2pttB0RJUkNOYetQjDkbCIRhp5rNO/Of2wL/C5t4dDNWjrVnUlN4dEjwnu/iMsi4vYxsYWklfHc8uJBoXIAj0uPUzcwLBu/I18EL9MaxNWWZlWa5Z/7UKAUo0IzZ2DU5G5kZcR0B3tFdeVTB1tA2JkOTmxAi2Q2DEFcAjD0u//c/swZ7HqtRPhqr+YulYfPBI3JyCj58lm2qynUtBTNn776DtquoDq406hyTexcl2p0dyNpCWMBVDy88rQaArDiJ3liQD3a3gkf8jiEUVEJW2m/+GPeZLPLDAlGFhUzvZEClY1MnVY9Bm9EM0TaFO5+eyt2rx2zgSXiv5n21mc6PyK/syiq7hq6VG1LM+yXxPIK38EbKgqPRtp/Nfj+YP/StcwnWsuEZKFf4p5DQUiNl+43W28JdCe9WcV9VgSiFqd5W5g/sDLjDk82A0uDrqab0Tl9hgdINnuGUAaSMXekgDhuL3zzV9aLF4vpjmYRUErGq4s0qvGa468jlEgQFgl89CyOIgvawzMKZCaTORnEA69zBCw7P01Np/W9rWHQj1y0L6J1qzaFaqfDxSMFc3fjKTWGvANjd42ZSAAaejJk+0yZTOj4tstsYwVtNWoQP+21+Fw/5x2FTSuqVi/VIajwVpNI5GXx2H0KkvhNrgG9NwiVB4N0eV0Cqcb/h4cCyEOQp0NWGBectX4mpir3qu+eby6SXYVFZRl6TSrldI1NIDUtYD0/khhRvwWSlTmnNuORhJ09YgIb2S54TpsTSWVGiT3b/BAC5mhuRUMnGfqPFq4tm9b4iZIs5Towaav/v5lQO2aVXPIpZyIlWx9ZKzeBeBGEcdszs0fDs3R6ThwZfFwYDxF74xWdFSOBYCsJc5JdTDNrcbfdd/KmYsJu33T9dxX+B3aYLvpgqLz0fBVkRQk7SjRNsLr5H1SFV8u8XD2MzMUO6rQA9dZMYtZKPc1dP2Ac3VsKufBuFvFTk3DQAtKUXv0sdgm8oaBFGibbkFyI+CUOov5ejdofedQqZSQNtf1086ujASWnlT3Z7yJajRMflv5H1RLhN7bBw6yEE7qaAATesTsWWypCZMiMLIUtLlyQvPBMQ32iORPwge1iBpxumrx7tPIehmwbA1KFE9r5Zcna2xUmswZJ/haEUPtdtnvt2eOScBg1qHCD9HwpEuWlNNrea5WIEYTPkzEM4aVMQ3edT8RDGUY6e4zYdJnZTc4+cqUYPEaeIUHxNFx7IeTFSCqukNtArTtrQ7TR9kQwKChaKwvcCcOa4x9nF0F9kMXbiWT9z7j1a9u9VV2Q3SL8Vp4qm6Q4IaOoAcYsKtWaP8THaHIFUf2c8wnpKH5xGLJql4/BevSAvT0CE9mLjxf+H/PbvF/ZzwwPjK7xHfp5LwUV/4ixe5BNBbcV+4znm4nEKXJEHE3eKDIsnCeWG1/0kFHJmX9YIQINBnNWXgHX9mBUn7Ca6uKGsbfkbnX+lyoR91Y9k4RePAGeUedmkpMCPZf3fkzEGu15ZlrmqHRv4zFC4568i2Ig1gSP2GtAEhlAvNO4WabUtCaLbbiecKdcKrd4swD1ky1xzxjwLIFEUjARcg98Smkww0/1gxLW6+j58S4GalO7XI9T98Uj3Dh2KtcgYfiC8fCeTZSboLZgwmO/aMW5K1bEsh6oPp80lwwwFBLzwhIG0FwSuY96IA5VvRlVmF5g3UgzIuhnND2+Zp0AmjtE4s92IXc1mtXM+FqKkDX4BmKu+Z9yftdmlHbvGYpsLHMWdqvR0rcE69UiLZjeVBnMWqpKiMoiCq1mJ+7i67oyqp8LyljyxHMy6WKGzHhdWUB9eE87HQ0zS4tNyEUPPri0xb6LNUMex0lcIaHPGkBXqetmO8qQkm+OkYaIuH4Lo1kkMvYzKhdgqeMcsgEr1jQyJ4ERBABtOyaPVtD0UlVKC0KqjRfFcw+gP9VgCnvQNUVbPgd1KPmo7as9icwdHuXiDT+bKQ14/5+yPVdLzc+FfHlwuCaja05tbiFO2ZhcqwgJKCmfEZh06MxAITpC6o3jMCMHT7123y8mbrGUC+8q+LKZX/NLmGeq5jn48ap5uuqFQvU6ttWaBPJJ/SPLS57J+3/52qij6SXNrLEJQOtl2CY+2aFI7hQ8232tsziBYGfeoz2ukPWkixpZGpZf3Bxd5bxpewhCdQFzoqzh9GWDJXiF8SEoCWtssC6q7BgDl1Oi2CdWgma2rugtnyY4biv74eumFCvd3O2HDmKVsoocTmZwjy8hcigWTDD7OK8gNdZTrtpkU2ERl1w/UAUzq96ZYJdDEZmbegpcO5NxeHZAqHX4qbk0fJaGW+zXEjAN9xygKHEmIMxlYPo6rjpkSETK6aLWF8F9W9YDUShGtTo4Pozn7G5w9NA6CQSd9bVfgKouQK8SJaEaWPLJM4XHGWWyk7UtgvYw1eCPXW/UKh7nRP0rfa1jXU3O95UqjLEMxka0cOfnwJ88Z1h7hp8RzkEqiqX9rV3vO8d221dNiB1tG4MK6XUL94IY/SQO1V3/W8VGaSfFSp9KdJkqaZLYayIBb/X1dhDjQ7+CEv57dFcoXofdzvXff6UJh/DcT66nLrzotOcfdalKYbmp/u3WyEf/7G60c4js7oDDcYdFCiGt+0cq3qT5WCJOsarziabNaDq5vTU4zjhnW0fw3PPm8g++CHd8K0/IjuKBjW9yRPQRh6C1cp6nadDzmD5+chUuxdAxkedzjDgVm3lR8jaZRMcTHoILutoooslKIxGlUVbfCcCErAAjfKl52qtYgoWu1MGFs4rf9ayg7xle2ablaCEIeKjkBS8z8lF4h+zo+pT5U1tmljxAu4Mhjkdrc0SuL/fBPlmuNuF/KA35x6q541BrsXKTkKpu3/ytNzeZvFTd19m9s9rXhZYWTOOUhWSlkRdWcIol/gZ3fcsZJcDIFIRwDQ0GRzus9W8pTVG9DeKjYJvi+dHW0JLC7wFfqQyJUJQ7B/iyR+UI9oaL+Xqfb1uoG+o8hmej94+Vxk6zIOp7hBEaSVm5r4PB4WIQ6HxL3CvI5Rns74hLG+HBRHT2TiiLVXHt33XurYuZpqs6gGqey6eiLeA1SV73AAz2VgfJ7xMr+2qF5flzMIgy1zjDIavLoFgV0NVklraLIoTPnkFFJFuTRQ7VCwwdL8hNr0kUeRyRP0OIakk5i8l0rUW6zKIQT/q1tN9UwX5aCdYDyNMUBNaqwdLuoCFKtLaqpiByEuMZxagQjlqhXkqMwApJwBpERpo12rgDvWb7Fi2Gn7b4PZ0/SvUsMGJuEVz0ZjBjbrx8AVt9xkO472Ufva2DlIZj48sedg7EKICO9g4/Y25v9ncB0IEEnKq4AJcNGYhoR+H9yhPKhzUuk6WGlm/9MHAfuVfyquROXQMwKJ6rOek6QwPLR6e/TdhAM6zsBi1hLhZGqMo4dOk6nlNx6Lr4O3b5nUtlcQE6Tg48ynzb0VOIeA/kSOG5jMh4Atm9wYcP2B9Dgq8bypv1KzQcyjff6YE+cAdkS+AsYRKXh9Xypa3hMb5clbOvfC7+jNmOSHdC6Ci3iT8QRexwRLeK4xb0C3IuByXrbnrtTnhl0O95kcDYr7uYNVCedq9ZaH2QWT+cfLflariZecLAiBxenUMALKKImaJ2K6HN+YMvIOF0sq0tipJtSdtxAiDML7ztXvmKDlhNTbZsANb0I1GQ2/E5p2EtXsfK/4JO5dXnKKkqn8iFR5qwxml3vKdJ33JV6n6Dr1hty5jwhxIeH6xDHCN+MzluNTv407V5oEzDaN1tHp09eBFjsetCC94zNxKoG/iyLFyGkmPwcb+bcfnpIWKmbAVED6sRbghQfqr5MsaXI4SJ/ulHrW3CTCpJxrMD97vV39CWFdqykohrRL4veK08Eefyhxf9I3kwZtXr3l7jvPp/kef4R+LhQxyXpkCe4tMSjpBAXLaNocxzRi8Y6Cme2f2NoRN/XkWS1AG/czeam/MPR5CsHkQAwuHNGwS/h7e3W09nO8tsjWdyPOgKimh4/prklqq59oy6iljuUF7vhzJ6X96ZO5OKAEjACgzt2qu1AsqopnhnSNkDb5/PNV0PE4BPlQWt9eSvncNC+svAIRi0ZTyCs7sC38MGl47LRCgRp9jUdTSL6T5ZUSIj81lZ5aU4ER2rwuCZFCWFU0nRpdb/VElr2Cp7ZiZbYUnl0elEeykGK9iLJ8GycCa/IiHSxy+Ya1H7yJ6j4RlapLiI/2verTqkWWErxW1dSv4JwZ/R6aztEVWng33pgbhXVLUNSAMDwxD6Rn4HJBoE4MOiLNc75Qk/5ae0PshvHq5lcqR3x7gy7n2C/kbq2hHC2gxTAOBMC0K4F44qqFKBLqMOW2FWZVtz5r2tbD8RZhGQPoF0WMAL9WyxL3SFrhjZUAE4sMBBi9xoQiAKu5+9v9DWINQ9ZIQSpy9tLq8uHJlCFRsX3AiOIsgYnixcfVaKG89ZPUgUOLuMTZp7lhwIZUL7aYkkG65JKuobNu5sizC/92LmpcH8k0sbINq5LmLnNUeUMAlvVmVc7Z8DH+acNKArsGHj8W3QUctL4eyhRe9jxsIk+YWxNVU2mgMCr9UX7aoLHCgn8ZkwAVPujza3fA3RQaXWunk0KIbuQFBv/84TS+G+LWvGhLTStPg+gAC7eU3bBnPkTjykL8y8VcENr2wDFDI9eYcyIMgd4oshN5padU0P+h1neM9YT0hc6bg6qzMPcBeyIFIVukE9dY/tHa9kruNCtoOvvvKHyzvRvtyFajF0cFxz5k8OTCxDfbToD2HdFaC0/IC6aIuImE+JggfIDnvdzUJx3ks4x/rMLsvEF4x00rF5N9D4fY3jwS5IR3LBvPfNhFb28R9S28rfXbn7a8al3STTC6daOW8uYJzIv46z0KF1R5z5ReE3ar9J4KcccdGW0G3cPnGNGWADBAbUMMnzbdDnmxObDzrYrQwvE0GNkWuo4lhU0aEuIKJh24+xSbXKc/BaOYW71yb0EU3uK0743SzC9639ZOClnWJfkbGrTG3PtUeJyAGau44fiOLLuQMtZama2AHcKHimcopAUAUYjyPo1RJkPq0LpebdDWYHdTwGLxHIRhgBfBwvnMzvg1PZo26PZnQr5py+oV3/YqkPZdidGIZK2CCI8++Vn4hfKP+F2GXkDfRSPYpB9BxIM1kl/BlH20lOaW3frW72beCspIV4rh8XMkknLVAUCe7q7rSOLmx4O+adfuysLDGJgXzjOcnI5eir4gwk7/Oq76+aJ63NXFwrmmP6vXcG2MbpM7mCTWxFTsrev3ISgT3kf3WLFdNb1R6O/sgV4DbSRxkjNQI67FUYBslphwYZj+73TkRzDZ7FDD6Z8XpYt+WpZ0qPWLplPYsABQMKMMbHlFMiyXZ7mrvNNPm6+EAzZJBf0S7MyVilkv0x73w4o+Y+Vx5fsVf4jwgBrYMu0Md1o3rc+9W4QgkcKwY11rMl4gJZ1c3N/m7kyY1Vlco6s8jN63xmBJbCHyyILEYtahI8hZdSumoNpE1MtcYBVo/ovnzeWHNHvAV4bm2w/22ytDK7hm1VrvB72SnDoPvMwqjMho41JFfhlTUCNxqjyyp3xzgW5+DASKszjgQmGdlGV01ZixgsgoHZka9he+8uLO7xK9H+Pc2pMdAHwV1WIkPf8L7JDUEZs26rbgxnTTgoMfE1e2mMyfugv5dM4E8peo1ocdOhf4UOXQPU0wZPirqHN+AvZfw+PL00i1DlAaUlX83XolP/PV5UGzC0Y61Q5/B9S/Q7ssT5A6zJsh4pJx/8NwnoQHpEpo+hIIvrMmDhtBDetr6PEric+z48CKi/fsM+WMaFC7tUsDfKucjDLhUH1B94O2zurU67m9cT+fN2CaXJmTES1uMty2oaDYM/zf0sm9fawsJXh3a0BnLyFUiIQi4NgQvGoz+7kGtzFoZEskf0+kww5sNbKNN8SlWx75Sf1W2gcyCPtwWxKLvNeaAedmykjNEMvyJt8iaDRWZOmQ683L6kGlv8IxlnhDJBhe/0MWdk7qohUevsZz5zh39c0EwefRDS3NMnwBcZCeo9pu2p7BOErFN7V+MoVYFCmnZkNwZym+Sd3GvoCBFppV7g4CrC5oSUEFccXIWXmD6hslFAogPzgr6QSI4FwUXKo5xAfo/h7l9HaX7Q0BJCkk6d8WQ9/cK+ZY7+E01KtqmNcP0MVvuOGdoFLtD8eZqPbPJ3jZD5Lv3ge3qiDBdL1/7GZ1JqbBQikMczbedRaWwPFpNND+Ob9/G+/zcqc/wyJQPYeSUls/pc6cpWWItr+KVbOF5L98gz2G6KtPEOJjyIzycP/JG8pDUeTbtxo2p3lJnx6cmjYMe1bQ7rACpn4r7wJo308M8+gQjUQ6lFpWZy531dygynd9TPfS+eH/LfAPPoPj+I4dG3363sr+Qxq0GOmxz1kTeZKoRea7u/sI581MS4fFHMfTNbZsx2xVVkQSwu1boZgVx3G+ygKNSRtO9eeSNb1f23z6lhpJx9YK/ZL2J3/sSQe1qKGQ1IwXiG8QtgFGAbb9XY7scvs7OzbriIlhUZb+3LdhSy8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CHARTIMAGE" val="FILL"/>
  <p:tag name="MEKKO" val="MekkoChart"/>
  <p:tag name="MEKKOSAVED" val="1"/>
  <p:tag name="MEKKOEXCEL6" val="False"/>
  <p:tag name="MEKKOEXCEL7" val="False"/>
  <p:tag name="MEKKOEXCEL8" val="False"/>
  <p:tag name="MEKKOXML1" val="4HooU0THZk28POP9trq+pbTvvzd/gcV8t56cq85kb3NDTsUhojRA0EsgEHHMH7oYP1SYpn09ysXVivguJdhTvfyVMsBLTGvcX7WPTor/CmWiWcfk2RmY+GE6Q6T90sFUr0lg9IPP9y8umrse/9AoLT5R0GKq+XM9pr/aTyOTf0wptcuHbHxeyqBm9svU01qeeEM1v0hpSHUgirOnAK/wuv4jpkCPk/1EymUCoOilhCOi0N//ymBKEcMqL3yldzUIb/8o1Q+RgBUwiRCBinLWScMKSfX+ml66sRIjzYEb+6yX8IeTNFtMyOh8Nu21H0HPzegDZjQl7B8tdvDHGDFMJFCYS2K/r8j31oc4MVlFSb3R8E5W4bk4J+Md9qTSPTWjJve8eGFjTcynpjPP3Ol6vVljgSCDVNmpRsCjYtjZuxt4gx7C0YBQXSqoVR8vTAqev4apQYTeRpb3+4ZHYJqYBIUmyfyaSvuro8I/xRvnjXJBJorfnYsNb5ae/zrV0GLf4WVDuYPnLWWFJYaVnrXaN5rqHrezhDgjlJ2XkIOSy84btQRX7M3fSD2wqMSknm67FE82f3lzU9flR6UYyflgWZWRrnN3KDSHOaAMK0Eyr5SEssWBaWrzpk8K6XuHFnTaWX11gcl6UyTy8f3fWC1XoBMooYD8JjVxkRkZDYSoh4qKE62zCQ3iO14jm6gxJCc8o9/ipLIqlcFBYJ2I2PNjK45aERao5FyhPqqm4mmdiJPMpGmQSIxUctrieQ8kmCoMKXn0fikenhyWW7sysjEHVk8ONuccluBGGp5VHT54UZa7eH4IZCm/kNoN1ktsU7mooBFZZ2s9xCn9kBPcoKyzkjlWhEL68Qhhm1PdS3deYOnHbSDEbhYL05awaLhlB+YkFkhFBMzPpD1tX+gkQh82A6KISd26tvDdBIX++V9USQii4qYP5cy/26UXfbe4Roy5Y8/N7MoqvluoYj4gs4xctnlZ+Xm+ZFT5laU7JgaE/ZuHsf+Oe1qq59bQn3wL5Fzm8AGolWvRlEXveMJa8QvoHBjO6RR/ABDpuVQgy37HCv+2Zd+vj9mctyA8R57S9H72hNEOIjInzb+hsTRl+GWalVK2p2VvHdE9BBLADV9Lg7sKzfpkbprPQVkMWrcoo5jBeomEyyTVZBoBoWfLrekEQ7AOfs8m4h1zXkbLCdpoIIdW/GRLlBBf30pt2XKELexscpiZ6zqhKEsgryIQIRZuDfCjYxal84q24w/8Ly9DzfertjNVMJYJU3WOy+ios+Zo5cy7RSRRyTwBDsBt3AdHp+Suaxm1XFY4iotCq63RFJvTaIO0IDA5ObCPsN3YgXExJChC5M/ct8rkYRQx8AvOdJloAp1MA8yIDweE/sJueKCWTblcYWBFHJC3toMdHGTe1BZDtyV5y8iby5Qfx0dgEjhJ6k+jpH0o8uSHlDBFjiXkAuyz3Y4UCB27dVIf94FkBvFtREZsopA568R3Luqu4FJnmUyT7qkJmimsqUOBOq667c4Bqmt1wY/1zL1Z+ZdcMRn13SK1L1XKHH+x7qlUCgC1Ic8azpPwIeq1IwYN7vJ8LzK9XGu8vMQbabbagYMpBuzPKoJ2cynBKC3onYyKmfuBUejWwPFwOEJbxob11sQt3vSBtnkpmkBA4UnCvfYFDXEU3MIzWkauP3ljKq/AIwb0UEX+ThCjW/wZfASvfkZ248lRSWfmDBRwvcot7sdsCVmgPPI1xBh+P7o1y7G0/V12McNtjxEq6vKfkcd3qPcZiK1b5dLV8Mj6PM/SM/MQYwo1OLQaSWFPnG7wZswFydbvfYSluLu3YIOemzp10ZwO8QA5bgHrY4sflDRI/b+OzCuF+YWpnIN4hicH1WBCrh7JNcbgKL2aTW8cpwXQv/O70EJBtD7PYkWo/wUC7bTY06E+4zP+4vApghaxibnqcICmyfbHe1Ar70Lf77FteGkW6mksbpFlhNDqNIpFszByxyJ9+Cy2u+T050h6MmWDobAyTbSAWdMEbyjXjuYk15JX4aGYUtAuRp7PKaTRa4uJVatcr8UhhlHTi9Sg7IObY09+7A/BgqjBaDbjBks1WiLBuNk7jrwOob7QeNDITnflExnQi3dcmXA1vPg5Nnzn8E/GSwWE6gJF3+OPmqupofC440NqnD+pg5SMj6kY/OoH/b36Vl/jehuLTLdJMWYWOR5fZmtzR+YjS3eOdb8qB63fUaryksc24xqVgGfi4ByvYtnkWEggABl0f6+2Fd4UIqBNvRuWypseItaDRAKqa2Shjbvqct5MeuOujOesxIHwzlnPY40EfpYWAwRFF3YaDgv/CWrW0lldeo2kMr0S07n9I9IWfhwZAC4u0iMvnlb0d9fuxpBRc7GvbFmKHXILzKjTaYQ3g4haMEYY8U7Rpf5ww5hMB21CyQ6NOWWqLqLO6K3pvzVNWVr5q8YNRKQ2ZszGI+N0wJZEIAvwh8P/JJGRZgnuN58vAlRXNUP/HFonDtYIwdyl5Unmm7dosHgpvWUVWQssPcY1odJ/1OE9n2gMq5Lnb7RlDwSF/fXbkAuK/b86R6Riejqb2sb3vrHs1aAwTOihMM8LyfcPb3emr7n7N5BCB6wbjwS5FEO1eDOlsyNpipZv7veXpk+9Lf4EObybnSIfpyFj4Fz0JtilziizjHIQhNes24dUOyvfud1ePoIbOuDrhpZWKuRuFV193zC7dnjy7GO4nW2g35zOQG3KXADvMfNz147IrC0VCQteF6DIc3DZAlA2ZOG2OmecfegxByFaLF4yKmonY5IPBMnzx2+qdcy6u6kQjRlu0c/mz+M2oVGst+V1j4f8UoTyO7iwwr2AsO/FYQnT+DmB/rnMYn/BG7SojuMsuK7ontqLF6fo567Az5vfTkV62zq5owBleDxxIQCc7RLMSALca4Ko+Vrqe1TfZy9bSk5mrzkLjh+Edw+JqX/ZkqUSnipOaliJhujS8/Gge2MoTp7WGVazweVOtWBcC1rYbv9neWh8JAlqXgKG8C1MDxKoxvTj/EI+98aMrdGx0Jb8PqM0rTikabulDKs4bY0LJ+M9b9ien0alMHVFge+/fFPv5V7kFFRT8TzYYlWbmIxUWP2ijj+q5UOeqz0RzQdmrxqI4Mi92psSCZVpx+L4z0ZT9kQFNlZIRbIw7g4qyzUvDGp+h3d/f+gZHCG6dkBu9Janu8czlR7j8DOxopEUfarcOG80EGotERCz6UyGpgzBmv0/KLNGkfWKIml0fuJJPMnilPpsPl+Ow9YPy75Gav1G3d+0GBxHHqFoQt1AopCNDjkqxlIM7j+1AZXWoBVmBfqTabznQoeUAlMXNZ1pnyxi0hJF7p3WDS6enOQwAB+LyBeOlXUu8Gr4oLbUb1tItYjgzdqX9IKBWZvk7/OrcCxvyHPLKApiAoXAOgjiepC9uCSO3WDLpuhGob22MKjYkb1sieUVvqzu3B2Moq++sQq7mWhx/DUMKHEgw2WCLXoba9wICTbTwzBGOIru6s0T3u41toRL0djD1H2DMp8GZuZ+ujSjgBSG3y+H45Wlrp/BSYtci69mlgNGPv5FnMrxnV/8hkzbPL8PNNJMJ/oVetEmYmagfqbb2Pe4m4G+tpz6TT+hKejxfD+esD/B4Qnwyrb+8j995+eCaqN8MxpL76pCCQNdLIGGfVpDvFxgfFSIhSyDKG84vho+QJpiToOaKKw5KwohzPMs88TK2+ypSjZbr2w8+vl32LTvye2/q27S+b9W7eAG87Rk3RjR5RJIgwrz1O8pPqtwrfw35IN833lJKUGm+oEx2gga0gscWbye47LPsYpaNN8FB3CjMOgYORAfAsJpllqnZBbref7RCO3qn7xdDQF133HnPEj84gzmC6lGmYTZqDQrp3Q6NDumyduADRXq1lpEfgl6BivzRim3Tm192ItOlKk6GX19NbR7nvXNI6gBNR8oIidtB6apvV0fdQK1k7+xqcavv+G7q/XrtZNQb3w8YIps53haFC/O5WAOvSbMJgZH+FIdP4OAy9MI8EHri2wUjbszkNMQZyArkpFY8022o1NUchvIc0l/eoK4bc70Dk4mp3sic6CX6EULdiYd1zuEBLb0inOcW8gWCxUhwiyDXt9YZd5vaiWq8zB2HSTMw4TXLHsYxexDB+S2BYUffTWWRsKYYMjojNIs8n+goBK5o9bR5dAtSMQXEqTYM4TRsfuvdpfwSyDxoQLZ/ASeQxA2KiSfTTZOU0QLktjs4x6ArRSGDI4Hw2eMpDQuKsg3od1ZjAirv3HK3pdS148SPKZPfc6FxqU+6kBrgwQQvLD7WmrkbF+OvRMHYTW4w9qYs9o4Mf0O2xsX7XuGJLv2UPV7/ny76LgHvl2PEeC3dwU58kH1l8TLcEKO+cvQW8FckvS1aWDhhsdvFK52jkKoZ3tEKBmOYZZ+HzL7bmSF+3GnmBLQHW2Llli+/VjwMjfpNcfsrNGVGgPFyrWYUYaUbF3xC9/G2uU74JKLz+Qjjcz0/ms6FJTSdGk9gIPo2Ra/bqdVBY2R8F1w9YkC2XQDtAJpoxdJmMUSJQh6V9NIXiT4FeY6zS2I3Ba+IQ0w9xN25kWvj7NhcP1DailGkB91KN+zz6qVSLmEvkaR0kidgTCZrxQCIaleGRvA7sJ/NBgl9J4WHNCUC3UUd2bMe8OsQjdAJfLaa48wk0awdA+IXVAflyt07mR5z87s8xQ5pyZsy7GcC6GL741ocmbz/y4g9VM8GxES2QTf3xXCpCzElyrQYY+qrKK4eeM42nt4Tdg1vuBQSxjK9Ok5ffDTt2lNjG+sS0MnR91gxNr8LZP9q2aGTKQTtGUpzmRKQC28Yr/3ZtGUBe5FKUg4UjHszL3Syaf9PMrFN7aSuNrhAcbZjVF8O41oE7p5c5tyGNlDri9xYKfBh2hKYh4yUTyBdyhb/FbOIQ5zsj1QSTEVZBoiGSLF1aqT8SMxWq4f4FIL0HQcqm+ZY6sFc7rHbFbm2DE49TWx16gs6YkimqOf97ixbHpYlJ0mPPot2+kjsYDHdJ0keO80UInTkLDWNQhecIX9ImIMI3sKAQCLbe+yRtL3vMpjkwMonpSjXUKh5P4f3OnL6jBnJ7q3Xmj100LN9E43vi3jes7RwSG29ksJbHgDWTBQN50arPj1OjEBIUBY1pQ57hv2VKcXFUvyBOqB/txcOJGn8/03MsK650EZbOGJk2i9md7vHWr/ra9SQhLXWxIrxw4913lYUj70oKY+t5dU8APQS2zjWllkU/bqKjN7TYph8SAHudEoWb559s9QkT0sV4utJk/zaCPOCkJrcXNw4gKYeJ+uLCWFyvSWbXbSlNX7zkWfhVpMYlCW2ZbhKOnR7Wvq/ramqrkPiuyESS3VND/fE/9U8Y54baaAhWKQ3BqdZ3IYqYZi62K7FdGRIPopscij5iQDfgg5XQP/HKXoVjvwNGr4JvnZDrm/JsKqB3rIp5prqDPryQcipqRZyG4uxH6aZiwvHQhKIndYA9QjH2H2iU7IE/XxFRsYbmvZAR6xmqgMwTijeR7dQh0WUVq9f3np2WOqrkNzQZV5Qpwa928HxO+HiIoqYOqoXNLqZNRTeWpVlJyAwsf5Dgxm/jsvFva54pjdG3ohgBrVyCByrCobgsSm7sfSu1rZFvoKils8ABX+eeeYkE8q+fW2j0pXk4L2yZHNEC8YGtOXU3Rq/gwmgDJ8cb+ISll5VjukY+CRaoYRRnFOhK+AaRGVgQnek4Y2yKf+YxzcAqjxEAtcCFHA6bT3bYudOROZPBrzD7dEyzVlVlkbGWyOgaS+PrYmCXj2lIUht38J4dpAvqYbjbWxBh6rKBDA9xdrebhxBt2jq05V3p8eu2+jYvSRutCu+Cln1LwMYY5HhkrPonceFw8uSk6hUIVBZ+0MJal/ta7KTH6jfOQEoOvUaEkz0T+wGez2PcCohv+YAdu90syx7OcQdGJKnvKlekozLY4FTm75ulw2whXyaNWMjn+9i5QVCSryYRJ1J9n6AeP42X6mktVbYUYaAETEbqJPVyBDJo9v3GoTn5Gd2MRbh8QZgw5WXIOYX9ir85DY8LX+Tnu6Q8ovq4Mr3AaG6BU52klPISBIKrZxJydA9Utz5NXCQlUN+HqSN2VYGCzk2Xfl8ZNBGH5IypE9oN/SH0F3FTN30euHwh4HuEbnuTKF25aqSSvy/ogxquBRTxCUDeOovjdfREVf1oFbX6wK5DHNgxI1jT0PA60j786HoikC7fSFWQGrijxdzHuVRZyZqrpdQ5EcMphOtaO075MhcQ8pWZlHOvRm8HtU4QTNgNTMvMo0vTioB/C7jidPiaeemnMXaCoemH0r4d19eRsOA65EHfoDyKp8oCgO36C5jCAjQIJbbGs5WTmbajYgoLrYezVEifucal7ApOo/SJe9egbI/XwDizLSh4qV8Ec9Gotna7nkUcI1WNR2rXzdvc6ajSCw6+o2y2eio3GiD/pGwvpsAsXoCaxWkp/Rz89PN0Q4T+XAJoEfA6o1piO+VWRd2/fng+zCrtiPHFd3WGNZ8Hp9C1zHw/OMuLmQ7xCXE/gtZvtLsOBTE1dngYB1e7uBoNhBxZ8PNtHG2efFMWyJ0U3dTvvoTzwDOx94uTPVEFDSKIOaIu3CbWMcpgxpWUsl3UQIv8mHGu2Cbl5unpUyUVheTPSsKlL0VQR3Y45y4r4i4TcNv6jUPa2tgXrclD0EEHIUXA2LD6m87yGGzjqAVZC4B3LJIZkRNxiQPaRep2KEDPgrS4EmkAdK6J1G5Mih0NxPBgxUGGBxnm7+OkO6I20u8JueBFlEFoSWGcHI9Khf7Q1F9cQbO+SI5M9I4jzx0tkVexNntFF7NWcOQoh65jmKFFZ4kgf8vBpye1ubIXmi3IbbmLA/ixQWHnUPTjqIe6//YL4vC0IjwvOEKYMigkcL9iB6xBrxZWM9qS1l40dV1398iDa7b/uhJqB3Tzxhnbk35M5TdicU9i+GBbaE+7bvrLfXSkKpSaF02wldHxO/G9YqI3ekqMgc0x1ah3VnPh8V0bsnLyfz3POBNFUqpAg7utKn/OUKqK9l/dGsivH1rXoslUpn66Fub9YJFygsWP0lvj1H32Lyu55D2xSOBrDk1FmBNE/3fdc31dODxQT8rDtMtKa5OkoMndv6Sbp4z494vn47i5mIvs9+RJKXRt1UHXg4EMrI7wkCspJav5PWK3RwPQj96t4iNvU1YzzsiaV4LWtxZUWh+eiTuyZym5tN8Njbrtmx47+1i03RuhwxQ5Rlh6hPhuPMXgj34X46yA3trtms6GMa8qLtKn4rC+ReypTT9ZYqsZKrJ8nK0oOg2RdadwG3s2083ztcDuNpbdul+uGPN2Ubu/PXZ/go1T3dH694qJWuvzAUuJ+R0JBK4TZ8l6nv/xASNNhPeB9dG3bs3OiI6lI6GQTAdNCGLJvTTCUpEJwzvyx4PyakJmWIuWJ6qv0gTb5oq47CMueUk8VhbyJRHQvfjPN0hg4eMrbVCIeDgoFbfjnD+UuBnF5gwNYXtOjQUlQERCanZM3slDf+j6xr8h3DwnETdEzLTu4BnC7JpvtP5F9gd4SIltLYaoXU3WcNkTxK2IK/RnarCr/75H/N0aXvySmj+TKPjs139M0h3EdkJBBbfneGmFXDQqOdbFmGev6c7mc01mjwDRsL837t1KXiMw6h4bpaqRO9x/ZeQ/r/XgPs51mf/3IaayUCQ8447HEwpuLO59fm3kTWk8VoV3YfBxD+EHOthrDAJ95PF849iDJaxYKe1b99r6v2iQtjm0NiW23Ws2rN0nwlN0gYy5bU6w/JVvf7xMnFcEcZrFVZY7FjRMKglqCo0LRpbgMGdTZXGLrG+0puX8lHlXv42w144nXZEWcM74Zu/iIST4lDBTi3xtvIVPIgdaF/dzck8nw4JtkuVyeTurnOkohHyAPhs3eYlOZgMGG+GTluVOcAXfTwlcYtzE8Tmm+hjGQndFm7VH8FQPZIHDOAHjqFe5Bdh+ascSbEssQDmTkqpLoUmTnt6tPxdgLem1bSK++ylCUHi/yiXk+a0FhkW0aPuzxWpnL7dPT4O1yDXE4U92cJWGhF+IYycBgjf11EKKwh06++ekjXHbm6RbLHV5vZcFm2Kvnxe3rvnRO6NVKVM8I7B1oMT3k2SWhhQwlZjlHdSg1yn0VEcpHnYWI/fkV4T981V4q60h9g0s4LhnxKYMYE9/MEoPgCBsDfO0xc4cEpoYN5Ge0yV8vZGrTsfa/281yYUJQ/4d3nu/Jr3HbZ6mOjr3gZeCRYy/P4NgYZPTga30EvIR6jFgAOzgUvpkEjMLhO50aSKET55Q0DlMwKm/J2VkNUKegWae06Qucisdqfr3Dl4/DauC0dsR4yrsPI+cOE/Sts0D+LylgMBfqkc4ZM7vI4FyXqwrFGq8NQ29dfDBGEt//i3QNk4POLmXLWPloBoGbAg0gPK/tOA47/6fsYHRr3m4k75ZmZib3w4hbnKetYYJS8ga5JHoqIvzKxn9GUKWC9IITPKq74Xve8SIJTlTqWzx2KDBEfr59xaepFtvq13b6s0dIO/Lo/wpRmcGD8hnr1aWHCUuGId2BjXIADZ2b8SfuuiBC2rxN5rYPi2XihCgWkZPdKjrQdFmWH5z9OlTKntwwORyQVoUq/9B3Uo1XMNlGN0taW9nS0Smgq9OkWZsNIw5ImjPXXAktTCVYGUyvdoyloIPyvh9WI6RQzf/ZqYdj4xaat3yoXXLdGlapucxzNCjPXHkbGoQcmD5DNnChcTpU18SnvfRU6Y6ZhpgHYTTEKMgPeYW3/wW0Mek33KzObDha0FzcG1LK8v7xc1W3OAQlm81hIyG0Baxem2fbS9y1yJ0Z16kwGkS4V9185qjBrUYHJt9iAOkwUAf4ikOPmZd/zmtTCsiNj1Jo0ulMZ5CFLUDSYm1vfgf7X/QcR0AmHvRQbQjHMeRPJo5iD+IF7MvJGx7RevgVv6rS9vPgz6Bu+PELLl8ZlqjFriL/fPp0u6hN+tA5jTpeAOjrCnjr/ibVgCiKwkO4xiKQCwAjkBpc7YKNFEsQXyL6qKINp6mgDYSRXTxZamcTgJkQD02o6YTvsGVwhJtAbB3mw4jj0aHdgGrpv3T8WqysZ2k7WYhUMryQmre1XKuV7cZ2orW9pCCxF5Qh2adox5kzrF1VOIf47/daV+W6yRxsdC1YmXFjOBwSdmdVsOd7qfw+fAMeEvicrpvaiYk3DjpRYeUfjeG0usX57N4KHVbE26AZ39Sa3x6jHcK8dWW5I42+dKD9iRMEz4JGN/hUIDoVGNdHB2zlL8g37VDxZv8TqPi/J8KIBS88J4k6dULpmjXbyYCIfaP89sZz0zhXulFL66kqVnQnvYHgMHJ+W6TrMYNuwvsYFvUMUSW3gIDqiC/07PuCLNV9RmjwGA05YitpgHwQSVEhV3yXOIKoDkq5tRhMqgvBtXaBHamliXkhGJR5GOYWrWam+I/S6KrR4Kq1cTf+/UUN2YLhf7qJiTFwyf8dj4GizExM/bEjThaT/icnQbPoQd9+pcB2uZZ14cFODt8Ziz3Wxya1xY8abFa+2AL2jAKBGTm1/TZvZEzJfN2TRPQ9wmD9I/4gGCRXYb6z5+yiqr9MmJln3qF6o8lBPo/E9h3FzXWFmw6L5LheW61Am1CJ+2LD4F5jww+DebiD3P0nb+lH5JWte1oi3E3fSv5WfN0TmIo1nsh7uiwPtsK3BfqRR1RFeqfejwXoyJWsIiC+GM5MNvLHnuDiu/K90KzN85TPm55sYz97GF+5ccB/8LyaARIjraeTOoBOXZ1St9CWANm/zA6Gc7ol2lHODNDKm9ZCy4ZDNUFFZJnx8S1yC0ZQHNaKXWpQmpgx27r4BAaYYp2d+p/sAxpZ2Ib242ONGBslPbFVTJH4/qHmvRxc9Xb8MZOTGkpgfHqjOO6bh1S1bGbbF9IoINg0ghM8HpkzQoKjKUyx9KIAGinEebCRwR4FpfbsH42seTWJeuQtHYvTL0Fglc2FoEAp1CveRPi5VzBv3xtiRHRCYTqPjtyxDH2fz4lEQmTosw38J8llWulgJujBQIYyIjmwyenPUvRfpUbl+hmkt02iwtPtDwnHVYJqOcLXZWbAGlYCd7FYdT1xfD/9ggv18l/VZUuonYn524GSRrevWO9I+5BlVU/7XnfnfRCaKiqFRMYKGRcmxsvssxtltB2GZcuVGuM+V7WrM/VHjZnXLOcaxgdm9pbCtCEaXs75Bku7YFpmFffDUTENh8suJnWtmJ3Mbyq3e99mpF7Jci1VsjZ4bgIVsonDsplLK+wzeKbULWz61puQ4GRWzVSDRouGNaJrQSZosJK20AFjlSJi46fPmbCJJYyXrIuZvD53+Jfiuo6ZW4U/+WFuutz1LJ+98Y9mOfPk6QwuQmkoZ7y/u4AJaWB1dF9NOVbkC0xhqfUlx1E9wBwKDNRkznRoE22quWE2EO/QvMRj09qnHZlO3I6cUBQjmWUDedgj7x9UgfC2F6OibDtUfkJ+bSYTn7w9DBR8h7S4zuFZtRQFKeBoj5+Gm39NObeXozPq9Rv4NbEcJkpTtju38SE/q4Rait9mYue72tLQdNAz1zurZTZbCBzZch2w5mhzb0VUUvcMGHuxsfDmC6cp5icSdXiJbKv83GUnqV//yEdGHyJ7qf3OX8C/g4ueN834t/6uhF9yPLppnOSXt/1s9Ob/TBq7V4fzd5JQj13JmGJnICAUArvxYZvs4Lu9i66xDS+gBKKiDxahc+2j3bJ39LA12n11J1Id2hA9dxLVNQozAlQwlYi+stRO3N+sTyV6nMfc1QdyXuNZPvc2GIvSRW19hcN0HUXlvaMdJLeJXwmgEdEs4w09CqnNraPob5K6CrrBRB50DyPOPUMdQKcJbPQFGFNjxJBHvD/2A+kPlk0bU8sNSjxawCn/2zXubB4yvYWB82vnT2q7J/q5DKYB4ooQheXL6P7+hiZ0CJkn6MECVa/XXdlztsWm7JL+8Qidw3xY9vKSZ8CEQx08mr59iTm2wMhw6A1youqynhXQPwNAlS9ZLHSdUoRU3A7bMtVnbbumq4L+YjPGVYO2cBwj2seqp1OSQzZWadF5M5AL1EuhO+KMtyW4oOEVZd6az2cvTVkQ+gHY8L62Pg7NTg3isYj7FU6gY5CaPv0Sr4l28r9SFDROaeYNaxyBrD2RiMZChdS2PFjMbUStDCadqmquZt+EOwmkmCAzOJf9nAzb2t9/sEHYOHNzTH3acXZYSYgKABSOek2k6spqh+cym4zeaD9BYEd/C2LcwfQnMQIgO7eByIXgaRRfm1B/Ssrz7pkVt2KxuaqGZvTNgpQtiWx99FtjWBg9Y9QMj/8/JVjyMlmU/+kuPJsgQLqSw4CvKnxmQncjZm1xgsl58p7B5MHh4tYEDfIAm3PQGL7SZoCjiAcfv/jDerQZxvmDofJnAGWNq0cZIhAWZxcVtVh737C/5vOPbdYvTxFCL+B3LVYnTHnNdUzrG0d2eU2wDJP33J6O/cCMBhMqPD1Lq7aacTxXzKVfhjbvxs2gCXxTY9I7N+U/UzzosLoP3krlCsy6MtAJyn1+7NltxLruDtDJjzQc0aSDlaAFHsUQdqxW2wtZVEXNfJvQGganJR76oVDZHW6Cku3VjSoLQXg59o4RjgP48xGASTetiud57TOaPC9dBCMXi4ehcSHy/ySeX16YvvGflOVEf/0spvYqhVFTm098rLTXublKwkG18sEeVe/a6q9IUCFglAqIlSAkiXNgUhFqYqp5o3ZUddJ42Kba4zyWDp+dHQ5jUZLxhUdme6BE5vWh7eoTpckftC3k1r3VkbeJEb5eZwWZnSbmIwUvlT8xKhriEwRZb+RsqdjpHYb8+TmxEkE9fwaAmqOgshhLC0y47SOx2lzbfNkLhAxkGgN2zxxSyC+nOQVWvNJKaPK/ha9tAZnbHIu2D/92FC2+2T6grmc7NiUj/1GkcmrIUHlIJCckiJqAQpWSatdjMCL/GaunGp8c2wwutuaZBwm9GN7nhdnOZDW5fb2WJW+9Ffb5kWZwlP9u3LUOZo70q7ifmlWkZvoqAL103FJ2VOqxHqli7eFDmQNddfkUFo2f0w8V1CZfbaDjRizUiE+7zLPmGAYQCWUbmhPP30L/dZgpzV3lP42eTac06IPAaMsyuTmTsaJK5aJNXMnt+NvgcIL2VqqfoWUMjK5F9EBdSIUPC6wvLwwxbtDN2Hm9OJ6i4Q4WxNACS9USIaHeYokSLtklcFrLYyhZYNd1HddawrkSOAYAYc71sNQjpcdX6L5dwAyho8BmZgDNkGyRr3N99hmHVtd1xzebJlxLZIoS+76P9udHwaJGt2AmDobfJg0VE/9hZrlgz9dql6JktThl8mUASYCzkkXIlbss/s3vM5xFtbGnVI+7+z6bt2hzoYuiqEgptJnvTjQMmgoKyiNFG6NiOacIRgvX4Pj0Q3mJgEvpb1RPoQ9I/mdoKd+heEWJNP/SS3R7Wf3PfwMEBp/srftH6P8jsl3fIkfo3RtyS+gIL8kVe88iLQOSiV/KxGqQHZOFZbko3TyOndVBxi1XABcjYoFDW3fnKnaqDDQI5w+5YJYDIBVrfKJ2zHjHC46cbXHrM9y9+iCCZXbG3QBXbz8F6i6CSm1Q+byCoPNcWYAx+szud5CXWy+/sPYGBcFJ7KvquhKaiVAiNY6RBuAwbo+15oLAPozCZY6BnyIAv1GIFpf43BOt2WHXm1xfEu2CxgTCG8viK/mZErBbAzm1Y47GY9/fWHCMByvOcJ12XZcHDy7eFoL26ThGnLWJM+IbFgbRTLW1cC4N2l2yWnmnR8rkPu1ZzqiVB53W2/BQvqbLG/EPe8CP4AVRjKRuuAPybnDhVjZQhCSCw+Efx9v6k4AnTD5o8pQIOpAgxpbaOqkRnqZ8/itxRDJE9NJLRt8CVDUdF+o8Ne/x055bj4FSjt2vBfmBdSx/2iAjrJgMtMvPvJtTByHkm0kJVaIwI4k/eroJcGHT/GSwnhR8OcrVbXU7ZT480OtTAYKQoksxd3LFkYgFPznvc0iEahTi+aOtfpZqLAeliKQvz3PF6tgwvvgk1ADotA+KOuhQHxDDS1Mvacn8STO/uZBmgRLRg0ey93Pj34ftBJCMZuo/3pj3awzMl9DGpKETnHYbUsVbTeMcjaXkohqDmihgPDZrXmpTAuFjSxKEOcqKmbqZjOqA9ME5ZUGhj/7ad0Ubor8gC4I40l1ukzsnK/q55/0ar9kX2GwHLS2tfwBTZZtbQxan9M1TA8Feoc1d4IX57iQOMfEacmsNdNIfHWdJ/BEwN7bES3tj4MoHo97rRkJ4rUux+lC0etW2+MYuSvngvJ76Z/QrvO1cfTaRyRQyg+NI4TnFz7pabs9bhr8xIx23TzJPAFe4DBMRbJLBtfZirDPbJxuswhnf6NLwNr2vhexjgTchJ0qAzrglNugbLQARwdshJ8uLsizm23P5+VAJYlcaS02ku8B37+5PIZk6U5i0M5lO84yL1qLiqx+3606HYkMpDg3g2DQ30E7NYDF/XemAELkzO9I+vgvIiFLBViwIsdwMPzv1Ix5AWi9JUSDRWB1cRLDQDMTrjyHfLFLdMU/Lge/daM1auGQE1lFUHfUNOpqd1C7Sahn9DwBPH+kHxZJn0qNJH1pvz68g9Eeuwhz5/O2/yXFMcJ5pbcUHmNfNRXGzEnWzwAr/yM044Z+lZHz1C5DbsBP4YuUppiP6FgtA3BwZqRuebU44XZDXsaLWlc5/i3gJyO60YvHQcKP9LxuCIPXM+dW8aZzmX7gr94nlGOQ9oijZVdE1yNTs4KDatBXtnXZOnTTrHkPi5YvNbuYptCtnp0SNztG5y2HSSAv740VIxHSO+6WzAvHlPXN0W4Cl45/e3RXxuse4uVZOZgpM3YNzc8yLJT77y4ERybqBMb8Uy+QSZ9lostvAOMEQNJ3uPoGvCgMIn2vCVBpZVyH/6A6biuT7XJeFFFyLIojJx9K18D42TQdwWrxStNv3bDmX5D9s8ifkgrwzKJ2KN1DJWl5JXCZhCCkP6FSZ2RTJZzclGjcJxZ0xFXv5D6HWCOvH5q1IT9TIp4EbF+EWlio7o2DQHU3425N4LFByIBRcTk5DqX2Wo6Wjj6Xly9CciQpiZDem4YLzeemgSs9oV4Pd+Xu/yHX5RQ6R+ncu2aJYmqWTMOmXqYawurWgh/qSUSHO1EmlM2+r8qk7CkEH1WM/+xf5s6sAAicLyy847jPYJU2nRGC7RHS5dWdvHXhHBqAyjcRseZ38QYsFnYjI6mM21QhHM5bQNh3QmUy32PXHh8z+KADfEPXVxLAMHzvkDhvAW4FeK8TUTEgly6hzMoJZZW3v5eJ7bhdrdPQ2iIqg5grypoS9yL2L/f1GXhudjH/9vN5bOLMRBG/zYXQtaImeAMeLImXvmEf3UeMuB4nGeQnP0cIRdvqRLLHskLBLX+ozLmmcC8PFTRu0ynJruZeGtJQD1BIgOdgo0MKSmsecpjHdVn/ZJnm3SfUGsYORejQXi1Hn/DAl7JMWXZLE2TmAJLX9c7EAwG7mHla5vanRDXnND4JE6UFPwqBlRL9myhHILQMRQImLCD/xF9Kgt1X8xA5W1Fth7JtyvPm77g2mcsiw6utG3l06FzP6B0h559bgzh15J7TV0Nw4FLmKA/VlL2Uw6vl0gvqhXRO9wZuRI7uCli1yk9aolDzyJ1cOhiT2aaUc3f2hoc1NwdkfsecG2YpDfx5zsQSrL9R2DHor63zH1yxRokOYpHR1Bhvik3u13ZEO4ceGv8G1TaLSUwlO4UvDRX63+F581hLowchJtdhONHH4/CVNhXqYQ6HDwDSES60NBkoeZVarc/FBCusL/bAR/k11Bh7nPjyOXgqOj6ygAq71iZ+PsdTtGSart1F+ZBzP9wksZKXRCMPw+U9rDcrS0N7hxPTYVuf3GcaYRMvCAuRdfZ3QS/5FvHR6lie5r1sOgMunAcNinVKuDBttl2RB3wr4zRSq3G1rfOZsTX2MsuEjc5i2+V9ZocJ8aevtV/PwtW739F/6V7/jA13FLDsaQ/g05Zjc8T+UkmT65QcbMsqprdvrWnqRjaOnddHo31wvrZFoGX8N3tb/Lm415/nxTgbbhMwTYHAw6eQ0nEk52fBo0R36ATgQGHA06jzzRuOxkQhJjG2ttDcBCkafi25t1I0a7qzPC1YslC4olUO1URDkxd8IovZWvDjDyQ1ZvRag/Wk7ylYVYI5FbItmzuLKGaiOr9qD2RT9kmRy08vz7OsMmwjBy4YPWSw5rvYl5CIpTQO1C9KKuGsj2Xe5nAAY1z1JJkPeejhGSpJBfMMIOUmAF4S2YYVHfe2V9i8/1B5+TEqB1wEr6l/gP/psFp8Vb7Hj+Aw05/wjpJKsNafPMYeyh/9ogMctlhQpXlS7NIRK7OTJRpMQF8SeF1G1/jFCkdOPc+XSfJXPL3WDHE+opM2KyQ5cFi8OkM2d+6iXJak3KswxKyoUoHyORfonF27Lgi+dU1RE4rkfC1C1yFRNv4SeYlLoKDaFWgURylCHdJSQlBSnjmXRPYGGpa0JOuI9DGxRxNHae/Dmjy+bR6+KBjxPv15LVHKAeB65ipzPk3RSGHsRZA4gcIH/CdEGu0vtnA5JKIM2ajpxG++hUssSwfdvEhVEtuvkosPnwSl0Ia/ma6gEW4ZVnJXe7pOIhqHCbKN1nQtEepsztyvKgFXxYXG6F5XbroYEU8UkN5IpmOHJGJlM9MsxK5MgZ4F6Mn1CUbJXUyGuAugBPwR3n0IoCDyTCajSkmJBzv/A0MQRkKxGA0QvDGo8mipQrtX1XxdeyWHoaBmVx6rMQUdMOUK7dGFwCxXStpCL4CsnWXsbawPngYvw6itr6frqzWD44h5eqGMUWDHkpY/4w0bVUJ/4ukuPpDysJ7+kwNOBTbTkAvgQtQqePUkw3t/ePK0jz2Vg7piDHbDvspYZ7O5IA38daAyoJBITGNuRGuoHM3ncqFjLuJsuDX6ZeFWweRlql2uqFNs8GwHWQOV26lCEfjqC1TDs0cjZRwILZ5RrbQfE5ZDDF04Da9wvqCiXzFw/HgiSkMHvqfph7+sR3vg0+V+PP0RdWOzDTfEjkThSMv44FKMUh847OcLIKhvjqZhOP82/PwpggEia3OY8A9z+vMtWtUTNWMJNnMA1KveeKDlWTleMoYQoOECD40Ki1DXzRP1vjAftJ1JRnEFc+m5ZTYiO22aLVhO3CnadirO2KLwutvsUilNixAi+CAEIRfGWX0wZ/kPpueG7A3OccKbhQ6H3dEUeiSV2r8dNTfOuDAaLtn5CmTzRqrbjYSrnl3wM0IiL6/jm2hfS4B3wJfqqKNsuHmPxfOzlgmhMguXtsBu1ltlmIhdulFpl8OT9QGcEZvVekETDwjLZDEmKKz5H4ozeKqbsfLdn1nWn9pTrcdVdLFgD+HslIb4zaXfIlWmsVPFUl0ecEKz3uDUxuDHCXehSxh3GqBP0BwvbJy22vWr3j/PKZeYvf6ggE0V+ulHkzI5Ho79HoryK9KC5kp51ZPow8st9hrlk5XXW5TdizyRxu8VKpceEAdeGOC3AfXrT+nYlKCYz2zUlcpNv0cj33Qk2mzBmYaPeBII1d9A+DYGhIFxOdXEX4oDt166OoRYUDCSv8M2aAwcCkj/cMSj9wnNFFQAuuJlyKBoyKrAKjyKIeLPHTTPdtaSHIWYSwRmfBdBN1IOnfr2On/3dMb0eoGCs0XvIDlNfXAr0hQc/tqksVzWyi8VSFoYK0n8aoGs7PrA8DwUS18LmNC6Fik8yAu/+KIVX8ZEg2eZQn4j/nSs8tZtVw1EMb384aQfJRmp72GdY74LY+6ENXytiHSwqZpEOzHsPZcwKYz6OfN3yF2egMZ/QoLFsU610zfQNbScbhfRvFBP3ukxtviR0gFWPzPT+zj6HeBckFp8RMlKbq8sQm1ZcGerkVakV+cDPP/OnVQtjLmIABfBJYXehdpyRrwQjWRTUn+qy4covlSgUVmBnmfKaH0akHpCCnxzDktVRFIrW1EBfdNB9LbBAmqPwE0AEAKE+OHLJa3GW20sTuCOsRNn64RO1ptZsS3agxeczGb/aH/j+W++76a4B7cjz8SW9fbltzGxAqHtS8RrD3/B6vigRLS9pVbQoB5/JXU/TA0h7X0B0tNMAiWR8JwwfWe/u0zjxCx1cRBFuQl+TQciGp6Pny7wDwrpHy1WBX0HGHMEguJ9wIfjPPTImbFPeXRnCTi0JgZBcxKbqZHrkaVR+ERQleQBwkTF1wEo3X/9K3XlTutBnTBquctyUwKEpoRctUBgVW2miad+1Hi1/DOny21xiOiikIyWDWRYjq0vzuzc4QDIuQ5nNBfDwddKSI34s5wUJEq2msczHuCYF+SBIj+/Nw3JCvbD6HMnwjOeRDwsrZuBCRRphbdf3YBRh3GNXxIhoYUDGno1cWz7EiPFEiguT18NaiwjIWQpW2kZbba6SkrSoyKfXW+E24PImP3CjMWnITzQ2vDkgvNm0UpGeR2meyt0CkuJgncGhkS/1/bqH2KJ6vXCXHb+H3MRFaBnYgDzubkiPuSA7+3pufCKA1N0MqV1I1aTBEJGYVggCrMKqRw4W+hvFu4z5t5NsJojz/GE9u4/yfVRUPIFg06Co4OGE5NheZq35GrmKd5A05POqjfTUodMj9spDx/QWynDCQrPha2WCFoCWhD6vsh6qa4EZfzr1Ib3L3dOPxNHbSkJ1CiKmDb0PcagePXge7MfJZ1ANHqYwvuAR8Ivxjdx5NiDY7MCmuLzrgpZIiKSyuO7KDRJkabI9GsVSqG+vbvaUkOG+6ODvjdAe9d8QIQYc6l4Mf6ZXqcyG+eVTBKraJfjXosLLoNfAQXhGRzUE31uTZsNaFpchfGg2dga5IdqZFxdeqbsavx2rFXxZL3wOM/I3Y0inFigjQbKZQKHjl+D0TcHKOXiwUCf/P7v5Id//+jy9sMu0BAWwiEgFKEsMicUVww4+KX218ivGwzj7PRlkAQcCxGa0qQIjwEyeTivozzExCgRmyJSOQaEsworq4BOAO2z9OdB6BQWdi2+yEhjxhgmhsnIaVXn5BUlX/f66nF7G6eAvD6A43t2zIWk9MHRFIwgEHBWyk36PUqxerYeQdU+zt4jsbYV4pEWnRCxVoYBOafr3l+0qEH5OCpwLCVd5lYvcwUMjj9GqacMjqxV3WkpMPhYy5CZWqM+BvW8PRRraoBDnjsUbvuGmIAIZeDmdRGctneEbTOrxOyheXDSIZRYFZ+yxVgi3jw1gDrE8UopiceNigqfrhQ77oT76RXtLXD6LlDLbEwJWtpCX2HZnMO+D/uA5ZKKZndsHNre/XTMG7xUr8XAEvli49VhNd8X0kngR9f+3SrPeveVj4p31KuXpqJ8kyWS8NYCYhw0364lep8KnrFiNmuuftSsyhg6Hn4f43pjYgWudrMNt1G/+L+PyHZd/dfjy6jSOxxyCcR9vxHpfV9m/6k4myRIAgSbJbCqZvKQzv7hJKSjdGoSWRD0pVB0esFweF2SLoXZvopaTiDy2G2oJEnrUnMPf9kNef6IB3F+WZvRNonxMk5Pvk58+i0YuTN5zVt6rdjrnMBm6Lu11sagqeaILlY/TLWvEwq0hsC/dcfxGZgSfc+duwkx3Vh7iD28IiKnEhPVoB6X1QMbzzPPSgKXlmziyq4ykuFr1YZ0JANDCO45YH6jnQf5Xo6MiD02zyHgn65Usyjm/e0KAz7GVXkGnMcljwyKhVH7GR59VniDOjyAWvr5LbpksSGTHKkNUhIHSOhXSrioCn7QP+l41YzFj3o2w03UdopQ9ALVCjhnIzD/EeLkupOyksoh6/70L3fh0090q7ONZtZbYHcP06YP5ELD9ueissEDbLbN9frMSJxeDSzLgVQ/rRuND+e3rjZzRmkCl7f+vzK5ApOvP6+4qMMOiLIC6ajufim1Z1/G0gh+R/P3RIaCL4Ey44/YsWNO6eMkdPX6w5c+iuG57TvhMppnxBxLn9qF+c1TXlPK+YbWMaYT1V/khdr0WRpHBerZARQ9KBe7JMuxjrQv7g8+VTX9dsWuCTrFEKVg+s9zZI7BtpR0uhScqAe5KLYiFE1axkbkki055c8jdmn8MKgThla7Oj/ourCtwAX+TYUOFgGP69/pgjgqie7Ghc4dw98kIs/xzIvbpiOXN+W4NE5DAdG62vhO9xZRMBzWHoNjCpV24IfjZL0fsZb8+MZB/3tpv/iyE/87lMdLePDyUdxRlsNV//RqMedLxuMhuD4wvH63MS+JLYvGfOoj6XafjMd5GS0/0C8/UQUf7nGwytVSj1+ZDUl0QSbnZraK35kq7xHtUo84324eOIMjwtRlN3a46peDNdSKsL4lA1i3GK3Z5Z7u+I3J7Lrtc8doT9/frj7Hsx/ZTBxxgk6Mg6BLqub9wVRmiUoBxo4k7yvp4LAytrsSguCRMK0uDRXjH5Pc93kbTdRkvaKXxnZNyK7douNKgcWJd/+kP+gJQVDuuIauOzU1r/AvBhRfaIUanvpXkBdjvQKSM3XxiMxLI2FmKMVi9xQmQwBa0N9cGZutTGoZ3Y6D3RZzw6rjZOe3rj5qNSDyag6Tl+tHv0YWy2UQV8Bxd1qCQf69N0muYcPkUdaU7BNankpIIOnH0Wk0qfx5R5gsTG5/Xb6JJTpbNQodj5zbBsq98W0l+DuYNHVJJ2uY99guimgn16g1kHhPI5gZVoMKmi0/8ojPMNW9rRsCzgHjACM8KJqCtsy40C84k9QMmXM17CloKvt8Wvi3wWOB7fgXqss5xN6pgSrx4Muqjugt6s1pRrd/Y0juDG46ysOniWXpdbIn2h3OtxuxhYAFAT5rpKB6HR94pL9YiO3/QgnXvSQFF8tCHayTWyc/ZX6s0HQt3CYn77NwIjLxJ7GfqSHaxhaY0M/HZI2WrBNjkXqGhz+nIJM8WQ9XgU1UK2KdxDP6PSBn2aCHVjf9EfvzTLJd6kvcaSwp/U1lIlcOda1JHjYiUJqOtRPoi0mgL/mid8d3tEzRqBUETqHhekgvMMFkiB0/FGHppYxoHDsaOID8DpSgJdfMiS3tXmAIDDngHzeIFrxgVOCNOUlBhgMu72PaGtOEx7Jng6rJOfGhqCRJ5majOciKaiMh8C+/J2k4Sc5kyPTBoO+ngVtRnz0Sx1GYT/Q2h8nS3Q9ndIkxxt8M1tMXfI2y/STHZGf1J5vBnoL8GODaQuNfcTnZvClfca6X8462rjL/WKBuoi915vLi7pQneNyW9YavCUOIWNNN1NuXvIiAEzkZFxdXyoKlYY45GuQUMIbr1Lx17QXeJB9ijOtqEeXuV1wLTyUf0dpVr1H/CesrsZWgIacKmJg06nxAnUMVkZNgn4c2h0UWr52gTkwB7mWk6pTGDutaCo5CSpxE7eesshwz8aRyx3tZKuY5QyVWe/qdHyS69VYt9mn4p5Ck+wvf1pcQodPPs8XXObe3DdWOiB5NRvtdyUUgjPBgp2Y1L+DLbtS8EnmL8pAR4g3naZcR1Tfz9lT+ijGnJIJxDfnf3XZbJIYZKQeI5fWZxnFRR6YLsfTzPz7b3uXLKowb7xGwAD8B0GtaqfFjOK0qzACPAP/4RtCf3ugzJoayPGtWFlnnL6wTEGWkWsDKrcHhhovpWar/7hOu8zFJL5+5sGwFmc6WlugyJgTunsuwTdHgn/hhKO/06CoTKEYkmQw963LHwjaUgQbMNOZv2YpTZXTxR9AQXj7tpspW6bTt26H51FQ7Pm4ID0qqLmRxNWh+VIoRB/fGWuntoBYfwmc4zGlce8x7cOjmhsPNYrhnc270x9udrf3R1+dykYqyYqboQ0VBMb0ikKr4z3gLkODV1K+VddCdSaADZ2uQvMpVe3nPl4g4XowCJUEVDXa7Uo/lgsN1pYMmFTRWqQzCX6bPCHvbl9EJz1hHJzJ91pVlZ4rXZlJ/zbEhP4fgAh51c9inEen2Ve4A0uh9xFF4cYreHH/+qv/QcPG/HFy6gVXZpM6psrhfPo8vl7TYlagudSlpuCNqaxgAISkSIVV7xt1IaN5JFGRjWLAMlYH4fZVsINKPCJAwlVwvgKyDe84OLMPOTUSXHgIY1wq49rIPziPnDfdqk1J8waXAMC0MN42TtkO1+vWJfKjnOFymSO66hqMjy+IEgFZUs1xn3o4s+V2ctIRNGjBz8OlZjHZeprE5aX4knbNS3Dwc1RxBWyTGLMRugUElFdF4wrVtHDlhSBvQLUCTfyB/X84VYlcOc36IfqB6AQI/Arz71YL/525DsqZYKxVbvi/bogf3Qe+jr3hYF/6bIFU4cKi/TQCRKYaStGz6J8tT1t+ZYQ99jHjSzgur2LbmvRTPt/NKUP94ZLp4DF7JMo+iaFYB1auKU0AwsdZoGhlLszulfFkvWrzdtshw+G/JoBEDUa/jPj1HXu//blh4MHZhi7Sm5gNTGCsXwNGBoX82eWHwD4MIPKoLRNOYy9kA6OOMPOMrUrwNAk2ppIz4m5zxVvQnYIY5Ql9JuegEKp/s3jvs1E8qNc7icqUPI4rOdUNulsYVmS6ygTNG3vnAcf/+VWnPeWG71pN+Xgc9EZVDVxh8RBemLyblu4YvBuv83cshpmXvxUDxbZFz2uIt3NznjBObX0BdnyuXqf42s6NhWkOC+EsejiA1DSMqWc74sl0E1kNQCIfMjspzku7s5ffvSYfCP2kLCcTTs5dxNwC8tTU/MD3+fsvlGW4dgugkTvrW6nBrhewAGyBfj6h0skLZP4vYEPYFUAlQ5By/D1dIVpRZzlMFJNzU6yPH1nd/qiOMtRywQ4d6hwWO4L3adJAyu+UbgC+NnSXP5y5XzrQPPHH9dFrCYXRPvFWYmUl9a/S9p2kQPrIJDlWI2QDBC9mFmn1HE6FKb1HOVXuUaRH5bNMfEbbJSgqLFSQ+NP9zFk22EzUladUjoohKCbNtu1J/fUjM3SZnSXs2IhkTJIdur5fTm1iBA/Qsqtc/wHStpGMwAiEOffmHZy2zbkv3AmWQsvlVQCps7MnLc8QxXrgjUVP+iwpNP/GglFCTIY9XzJUcmjtGPQ3x3Ddo1jJ/v5bB7WQVjw5zzV4oTD1gqEVZQ5n5pJPtqGUbAHVmIUMWNtTIJ2qKQkPTvwFqPO1XhIdGOW3Rc0fL5tYSR5t++kySRnN2xRTUqsuhgKjWGU7hESMfVqFoN5k/hegOPiBrpMK7La2Q3DdVYqxcvu3YFiAOYqEMl5cI7Q7/5a7zIiEmB3Dpmmb/Hn8dzdT5VpEwH00/1cS6+qzQkDAW/ieilwM4pwcId+z6QoIOy74zLeVxj/fY/C9XiWIwfVEoo0E/omK0gi2qDB/W0sxalSE+4gCZBI3DWNdDCheFschlOKJyMmnO1l5j7v4JoPnldB3n5Hp4X4YD9q8dximce/vPzPVE0VFTjvXVhFvr5wxEbCHcVdy7q282Hbn6CVDFbf+y1gbiBjuitAFQYe4N6p41hRO4iO+v31VLZ4lrELoUoUsNZ/3sJg2wICHTkVF4Q6bufeYFM3Rg+BNfg3b742xfhuUQh4m3BbJr+REWL0npuuDjEQvNjGSm8NY4NH0WK+3tSOo/1RTZed6cx47vTEZoPeZAK/CzstULLxGwn8G7050dCxm+UvhJ2JEDYXRalVcRTmOI8bkp+cQ0xSCKTXf9ffKRGIhW0PNraSNf3gmtqb5IidN5B/tfZIuLE+LJJ8c//EUbPaWWczG7d1mnWuYD/SpO93Olvu69kIgPNMSfSxO5lO/rT5bP6i2yB53abbc/9deLR3VjfgdQ9DDQDW9RPZ+rIf0/56hYmKLmXk8dIIyV67dWvAGrB0cQkINlM+q9l6bmh5ZTpq+Ok6V/Bh+LrnjGYsuK3lFMUWXTe1or6pClqOI6RriYY97BUw+ApsiW5vmRs5JAqkq6E9jyTEK1321bCduMMpXpxJ9OYg2M9y95feUJB704kGcQapkLt7KuxRob/aGFKPGx5EGkpDWaB03M1WUFkWtP7fJKzQFeaGIF08IBFOdaw6wCILDCP7O4fTOPgRvS5+Lf1foQbI8iM9nDagL+Kq2v7s8T6OPAklytBon0SDWA6mfEILxkRxGJYJO/tfsrYV2K4Y/bo9pNX+0Xp6Pnw6+SYZaGmK3uQnER2jyokl1P40o+TE0k0l7B171hAhCxhGGYUK/MuKmskSkkUqcDyw0nURR8EwYRjygl2GCrWpYVJzGovT9zQKY0Qo4Ua6YvX15LHtoGfdWVWj7lu7MxJAJl/5aQjO0MYx+9WWN1ye55AYveJWY6oH/3mwI6rmgr/vxdHn6LU26f2dIKp05GRZa3c/jaOqCUEj3q+4InrUDxI57iJXxP40JNjGPMSXqG942WB/3t1ChsEFcQiFKdJz6NfPit9TAHrMqoCQaqoDAog2beS4s5VYRMI+AM7vRX8U8/SMXMKlxkUp/+/tJbqmEKnL4htBLFpaBOdQVjnF/oUZUP8mRsQClu6bvuqmUcMvqVqUqRt89nTWm2pi+bM6HrABwNSn+SQQIHdZ6EQfnOCa3FFz0GC7TvLy/ZdUmgomG7FWSJ7j7nBqHzWU5sU/oDHytxaAjNXOjJhEzQk0kvToE7omUB+WSJXPdjyNTQfrmeGqa9l6OhRfUPutkHPLT/MEu02EjnEQrEm0Gn9JTQCJusSOak2cqz1sQpIvltgMHQvmytekCXhnDVrVou7CW0Qfy9AH+5ucAFN4wEN1M97OmhPtKFnjGBnak1rlLK25tCKUwO5aZ02591KT/e1uTm+BLqbKPfkuq7e6OcoD8SQXo4TrEYhzFyVE4sZnAkcwoTzfJ/3IaXsUmnye4D+iT7ojP6hr6xHUXEe5wUROV8x3eAcookM+3niuP1m0rSpsYnbgZNdnyvcjCAHNFwSoEip8oeNt2tKAjtc2DaVJ9+BWJB6c1KKKrbFt0dZJlEzOpIUPvsHRuOhrwTzmCDxsraKcgQMMiitVwbrmI9o0f8NTub5xuAJiRLtkcLeSwdnd7Lyf/P4UWaQsR9Lz/Hm7ntsBfDthnDB+IYGrXrfjsQPFocY4FWvcQEfcoCxLTA4+9OqYEU2IqZDpKbFe3WsTn9OcGLrXilfb0ow93npkU5sbaHsv6vN0RcR1TniRdHGSkoORfi42bPcaDwFdfsUUbDVhu2ogOS6yaaeWFtbTjPZAsDTwQEVvOBjhurygQ0g/b3VtTDlnEaNjrC1xJM0LufROoDP1AOicjA2CYI2Np+D6mXuBqEC+5XX/TWPbZNGi5u6HP0DAug+lN4NXad1Rnv24pZWicIqx0EEpMWMzdvhtqx+34TfoNX9G68f930MbzdW7T4YqgbsxFVa7XxIUVt6B1Yn3SoKMjMIuYk06WfArOeckObqe64Js0JbzJ1m6fLFR9TSdTo4Qb4ZHEL9nCD7IS0h2wjLsuVmLLE2o3CRbZyK3Rr0beeq9bQtNOaAMT2csNM0nzQtSa6RUVE2NX2T/mZ6BhSSzw0msO7ZHdbM6eiEckkRZfhmh/rSmSGD+INWE1ftNUbSrwcbfeoJ+9MHjhFJsy/XRcQAzLsPCmfiHYincyB+khX1fhkE5YCIfUWEycyd/mlROOoazQ2t1Io7DlkyjCnTqFVfEkQPUbMSBXUZ7PCG0YP0rfmGVjEk3Obo8EWeJVVEmoXXVj7stF0vSAGty/gl71gjCnyxkKRiVIfupcXv2D/sYTKhY6Zo8EVNRgplp43i2fFGxcqiZ3jRe0lUFPfpmpIO/43Z6RNw8gUp8PgqhMf95FjYfbALWqyLoTRbaBVoIg11ewbluJFPk/yVtGpa9YN+aHvmFzM/dwbugVyoMVer+M98Y7l6ec5GylR0/zf3G5NUfJxTp9FyBNJa++qJpIFq+IJyeF0a5WgHD1+D7RjsTorxbXjv+A25XwQuD9T5kZmhQl2YzT0MW4z48zQ0YXQ+T2CfhSnOUKEolJrJ1AUpgbKEjiztkyfdu/DOSj6W5Jq/vLgYlQa9wgzFICcLa4gV3Xu8hI/XyXP8KXlSZ4jgfBxuo3CMu1BZTlLQN7DG0018+amlk8ZIxEQ2Lk76e5eRdSQh1P5MkWcrRvR6X6/eGRntJPn7UrTHa71UWUEJIypyG5Sk6LY4xFMbz8NsbFcx0qEbWzqIgC9vUzTt7rWi7f+MjirxwGD7NqmMDlyULvw1LMh+ifyZDeZP8HMDh6mozz1+L8L3Vb6TQ/byCH3BYXW40+h8H+5B4F7vMPFPuoQbDswmSg+8JNPaE1NWosgqXbowMuEazJPDwN9GZ2cggiUxL9OEcdK5/+DUtkdfcTT0+zl1H9FFON13PTHC4PGSiR64SrKphsafOxD2wTuKJdZqNlWERSvv5r1qivzL0vnp7plygbfYjFfNBMRgRmuSWaiVUy0+Bf533QGExjUSbkIrkaWKHRNs20UO66OoLR8pzQfwQxXIDvMoBDC26QbgMjU5+gh6Vxk5H2qyrD5fffnJtoPJHVOoqU+n1n9daWIGGM5TGUU1oF9g4FlEwcj7txg1NJ83jcsV8rBEgWFigIlVdyCHNI+XYC/GIVRQRFdipf0jqtwg9LW6Y34NLktbqTCSmlluLI/HxkQLwE/5NnYxlStIr1dm9Zl/IaWULGC9j5MX7gjHs/gG4wDu7ryc4eXtJpVJvYbTyBYUkkEmrGdtDuaMgDAqWj1ZEgGSZNzXyenebUWw2+0uqHBCvvktCRNVbyqo+SObHuw1TdyjM+3NPhMQnOxkP2KDLvx6f5WAfF5M5D6AS+vh/dKjrjUsQDu2DPJ2uRhujvCbKOhT8aIcq+QRIqweO+xEfWKseh/+apAhId+XmA8OLz1yyBWuo6q5hjPzFfft0b6ZASI4G9r3nLlHAuBqwU/6Umd/d6LilMmoKYbI+P2kDc7JhexjK6cAaPKsZkEo90DIYIoAABrNau93uQs185oI2B3N3rtfyGTaxDqlryULWvXdx9hZJXKYWLncE206uRVkEgh8DxwUnV1XSZxhINedoVyqb9e0lqQE8+4NKGepBqFO2Rn8ULepub9dOZNBGRrVXFpZ460o0R6CXDvD6JH8/XSS3kjpCK9+F9kYZxxZmoXAuO1iR+j9Cj0eHjwCGOw6maIPMR5PAm7YbtjTIiFOCo2ucJe94nGVdHQcwKugk47p9pVFkqS/p4kJs6sbxleRYR8LAjVmKjD0HnsTst9IigsxTgRYUoEbYTr7aQVqUcL9RUQzVPdI9Xnw8P0k3dPpf/H3a4m2jFsU2ClAteklAwV+O3RAn0Mx//XoSLeuIcikyOv4TRMHitMqMhekSsLMVEg+xUOlRaYBk115G+mVvBtmLzYRcrM5KiFzZ5slXvK5Sl4IxWcnasNh2IuhqgXnZYr+BlNPXQBcJuKQQvNoDwBj0ksaDZlRAygmsryaOSAcnqJkinCHuvmSCFbgx+5v/XPaQyaUTmMOkGqfnutnu/2lFVN68ns4uRj3VDIdzc/VOR3CyMk4kq0ERN0etl0RRWWlyMJp6xNNEa8xvEJPbA8FV9AeRdJJKGnuvE6vnRGxfnxw0MrFRkppC/or+SqSb/hF6Skq1+cAtr3wU4CcWFByi0dfhdY2kYbva2DBYVGHbjs0Ee7IfMEtoejD0uU1tFR402+fGdn1rF6flx2EknCLN3Egj6lPCgpO3e3taETTN4k5IlXNSaMswVkqQdDXyoNKmyG93WoIlCf8BuVeZ2F2AMDne7Bn/bJkKDDVbCutffmaof0S7z4Fhu34ESIgmCsk/TktctaB0LH8XR+MgTZLVCpo5q1NVceAuGHe1BM9G4flbyxqCchB4rx8tNmNxA6tl3Dwdle54yv0yzHw1TSBleKLVSWCugACz0ydlUO14xE02dJOo6h6arXZwgYkngu/A7p70gHpAP5L9hZGCVqZjt2UoVdSskh9eoed1ayLsP3LKCzd8Gx8mWyJtkoRmYYbbWhVurLwt7K1iQZtLAPSG4NKuK0hkY7Wm1IHM6mTSPnAXMR8B9nxGduotyosqYmXZ5rMjnTZK0iCiFkAlyG+X3sxpRx08ftcRh16cI+hjZ2Pexcb4bH7DL9pq7gti1Gz5wT/pv0dK5C4d75Vkquo8LEpt/eoCiE38/VmSJcSB7OBte/6etEQ0TWisGSaKRldJhblpKFFfcnH3K0HYRQl4WckeC5L6af3p6fsxumffcdDobjYTO5siXL7MaKhaxLBVDj/tSZmMWYZJXHaOvemu9JoYEgR7ul5D9ZCc/6zlbn1PoZv6nrZ4TB7pwG9rOH+z6UJGrUe+GcW0Cq6jUDbIT7iU0lWPhvrerlPVw4CbR8Zva9DyCjytsXsnth9IiMd/xYak4ak4cFOtlxQPZTBaXkqslLZkLVG3BoL2U8ts6cJDXuFGIWH0FhGXdnqbNpIN4RHAODTfJfoTAIcFFHMkdJE8+JAk9L/fFGKLt/5rqZ3mISjlTNCvJ80dVYZB8D/EZBeV2OLFMNlFAVjVwdwx699R3JPQvXxsi0784bYrOB7oH9fSaJEuu/O+8JY8vJb8ASgFWv//+p0CnCluBRAyMe+7xf2R4y6ICcqCYhFsvmIEP0qVXGxSeWv0e1fJWY4CNltdfMUJu0HFBPEh6z6arqv8tdDfvUKQ0buePR2iOqw1JoEWmQBeMKcX2/6EQRp+mRJAIZ9g1GQcK7ptgO2q6+eqDBLk4UMmFUlNBBjbGsCW3UL/3REbKJIcpDe4CnzuURtgNl2QuE1ELP65ASC1KN2HZCQ8Trd1z8AQ4wzAF5eYH6vqY/JrKv8U7ZrQ+HoGLoTgRp0PIWZS7U3pmvcAb2pb5T9RuKIRs5qrzErUXoEfetNHEhCFv4Sfg8bkRrSJXIhpVRp2big31kFrHUbiog1WFge2HZfFzuxueTmMz+GdjKBQrjN7EMRlCzLFTB9yZFBXRG5KnCylzAkad5yelW/W/DS4UCFtZvKblLzHCrUpm6eXnI+aJN5kvG1/YylJJA3qzeo7YjxVqO1c9AcRj+hdx7fTIiWbIhHv3q+RqgYOxUWVodIYfh67gQLvaO7RwP/1Sy9nzsRoV/xEpslqYsUk0dBGJfJ9aE8nrVUf2BiEmm0643UFJ5Xu/hN61W3Dk+JZN50nSjiL3a6CCca1IqnnoFgoRbVoINO1qUZ+I9zXtqp76wfhwzvdMtzLMVbFAQs69jyOquLvlfYsD4wS+Qaybk2jexAQHdHg1EwOnj0sxf6vKU7dlV/Ho+s/sweFJ6CleEYAn88wkGclMtu+wht3GDGEWHxhM49aClIrF4mINU+BNJrtpMk6rSuQyUGdWBuYt8FgO1TnMjSWZ9UsBugXyU5+bVjoPOrpG5yX4Bive13nWW9uvmi5yhQbAQDMrAX1se5hH44irvmd3QWE3Aq+wOGraRkbjVCygpfDn81V+D15VgtXYKC0fPQbJLe92yfbMuaOnHf83NPHAqUuk2nDYGEOpM2NTSvtguR2MLp3ATlA3qFZcQhLbV9+H9L5BoLa6qfWCG69fxA97WT+pExV/V02h/x5s6JN91H7eBr9AV3LhpNwxAaUrxldfG7i3+Cx+pDgyZ5f8OeqK7HRo0XLS50kGw1NPglzAmrxbkfTqpBtXCtsX4E9yu7i4mfe5OWIFMuHba4O5xER4Iho8XQbenEYw0TugO8W1ux4l5Z7x59X7OcozD2cmdBd5IEQTVHxcrW7FjMCTN1mBkcvMogQLa+bqrM3SUgcYOHqROnKcjZ2tdgVL9SNRX4q9E2QVgxIrX2dCjscSBaO9SFTTZW3nck3GyfymZGJUUPMerjf+otRadmmnDPnj91moyJH2hpbdLcSxFEBEQLNXJS5RPszhyN63mgQJkZJEo0DYtN6p4fPKXYNwKaUU9v8P2Jf72x4Bo7AZoHd7ufOWNOXXCepYV0jlfk2UrGBtCp5Qs/rEx+vboa1ei/wezgrIZP0iLtV4uzCgZHyDKenACbqOWpmUfbk2BhDbeTXWmcEsk5Z/zlxlG068yx+NPKXU85BdSE1CVKZIA7aJamjYvMp+I/3xmTRH24maUb/jzBmscnW8WnM9dXXpm1i/k+srgZDrQe5u2b6PBD51DgWigDKXvoJ7uIHRvGZlbrBjwciv0Ocbns8LEPqTT+Wg0RtTZC9W0XagbHl69B6U8rDrwwyU5MKJtpucRJi5kwnP0rCkG6y00UFwMJjUNMjw0gr69/6tPg9RLdFq7GQKtzOlnnrJEyhcF9lN/L0N0KTiJxATUFBh2M6AeQfEhPITfOeIo5XvhMR5YtsdfHeSNMbTfmYuX9ET3JJDn6GCosbp2gyVeubKdAx3KawUd/eoZJEA65JT4fdgeqzqIttUJaGHn+kx99CEhDMk7f5Y2/M9dHg5oiFHkXM0nObWrmrTGQn4buRQ/RM4o7h88kMBxkFA92ew9xe3wLAGiUuJKgT2VzTDjTWFxFTMvsJwAETQEIgVUxfr8Ei/uK4FlUJkZgY4Hg4Z8LA89uHc+wsgyoaCohK3IQx93F48DrQy7Sq8U1y9Rl8TUxQZgHsmOwGytslPmBAhE+tet3frph3h4C/yvqVI6MXVnidKZEj2xyXy0r+SKvjLL1H3dUy44pW1aPoIK6zPHQsA1XGI/6R2K4pEiTLgjpzep0/2KvlFLmC6okXjTdOn+XXGtxmebpAr4xHQeBNLKKYvYsWFcq9lvnKBfw1d4O2bgPUhitYrUR6RdlFQ0E1466fUxO38V4Msl7v5ZTScSC2mDfIvF36sYKtJOC5vKKc1pe0Eb3dzwY2Exf3cRrXQ3K+UscqdzbiTcQngECpEvpU/8gg5rgneIpJg+yW7QyhZJTDAz9vpe+zljXR5/ask8L4P5hSo8P8VgnzFvYFwWhdCsckJXJ755BYOVFPe/ZvZno5J0C79dH4iVDlOj6MsAc4RNRzFOVCIvtt7FL9HA0or/n6LmaXOX+bjvs/r9irkGUuNWPPzU0Yxwa5qNs3nqVpcFam2/9fS2H7+sN6O+MFTepBZ+iihi+n1JhqsCB58tjxZOR2BCvfhVvFTxEGMwxmMDOzKlLrhtJvYDw+eXrVsX902hg1/RIO5peQxMrt+Tmh8JHCrp2dhQE9Z+iHG5MVmb9p4swKkXH8l9iccp81vbx0iYsyvOdUUjEjnx9O5J3pCysjoaE6XnetjsjM7+zYcfb/vVo+e8h0AZxw6a2DZukS81I9SE+u+dJyhw1gOS5GWlJJr1xEwfhQZBLq+LPScSbWDHlfFQXExTs4TTVz4y6bz9yY2YZzgKROGxYklHI/+GUFjj06Ivcc3eMIFscwWeRl+h3AuDfXTzy37ufPDW/+N3bs2V4FMntAyR/tZBwGdVdHxjqDO0EjHpw/J4BvzsjkNOyR5YwqVloSJWfegUtNGtFXqmT1QwNLtuHnoyjDJA7xC66AGCz2V259jIWhkvWCCO0I+9h4orga6NaBW4Wj/UuZWbmgq2v5C6/02P8BigruIyRdVTMUt2fmFRguK7phBqRl1nanTsJRbbROd1P0+mf8OErUegj8JgmXP1hL5xSCQFU6bu6Yh20FWYfaix3Jv3Qp9uvgLWMLOgkmVULcvB1Xzy4hDM4o4Qpg0dkEaWH9Ni8okKk+fYONfgrdF+q8UJ7a/JPLfGwFIhDppEEOgeTIi9tX1egIn6WS0Au7pTypaJuyevXmKUUG0gGcVz+Mj499Tt2OU4bv1w4Lgl2DS9uAIX3LcBJjtosetFIw5Q0w7MyF+e2x1JDjBPpaKMrfzU45BvYl50dxf35uSECpcP46JjgZZQ1CxtjSuS6ryVX2qaOMT0ZutVg8Vr3nlvxa/kam+YtbeD2+Q0pXBBi5KDuZcI3RZjQDE74Bc2v4m2BL6HcFaa4u2x0if7w9SbEeNEnIksILbNXzi0Wp1A4QAryw2WBzN76eWqD3S1yZP+UFbXUsTmuBKHM9bUnNY1oi0AatKIafdnjhBOmwu4oH+/o8sTj4yz9haLbIAbt1YYPFerAQxkEkgZQjQkgN48cME3pMwLPJSd5oXg2qad1Q1aUIvIXA1XsjgwFqBOIAvof6BgbVYH3h206taRoW0Sngq40UKuMFKxpShZgZdIUHk6NOJidpeSiWOPN0Q1x2ZVaSXOIHmCWzi2iYTnsHOn+F25eye4RVEgYXIHcJ4XBRbZxPp5F/Imqr+DfDnkYY1OjP9BqoC89U3aamo+V0xaIGErZRpj/UjL7CJ/jqKJyabKXBC77z7U4/JeKaYYRkZD5DcAcIqa8PUtbyeiWYYej0G7wdyZupkxgbXuDVfiR9jQWtC6qvE+anErWfab0qupbCZD/PWCGPpVnD4NAq2S7ZeNWSIuCQOx6TE/OR5OQVZlo0gyJSIUm0UYbJMUHaGAKU8EAid3GzGYGcJVCz5ZX2LDh8gnCL/1Hc3klNLOnWJhYUyhpRSXT+zoHRUCGHxvrc4uR5R6ZX6+Hh6MBm64xSLSI64o+FKv3/uXNDpD/qoSplwK3yOJFxzzirGYJT/js49pk4OqWIL79FmqC2USugF3ySbrQqMqv1wRayZ2KcyVXodCrGf0mUkzE0rGEuJdtovcTp40XU9A0YSnakZbDdJBpsTGX7AWeyGy3XYtmGkrIkxwzI72WGlHSODYovNsKKo4KzHCIjPil5u8sSVLR1xqrG79yX6Cz1F+cs1b9aMUBuvT0h5ZyG4yUoUsC72aDJbthnsBtfl+KvlY8OV48wr6WHErl1iXv+cPPZ6z7prSygAbRkY+pqJsHqGbozdUgj9dNmml+RM47oza+NV2PSFY6Jb5IMZakP2vWJ41ry6Wa8+MtRDHnm0lfMS19aFRp7rU7Ph2TUNKFxQgL9OVsdw9HHxRtLShIzk91C9if52kuLi6UVswphpLHhWfjVHLJOwBpwLdnIjAFPNseJKAVJAzOqbXpKyBsBmuawf8QnuVvI6DRY7VXVuEsyr0TUoEdOiC5yEGvuT0fH6ESkc/Jq9TGO1lKYO3Hw9buAticHxcvH+DX4IzEyWBqqIa7kCAD/fO2USxVXZGwuA56DE10xRNmDxqHuFECNabq3IKeLgj2D6esV3Q91IazX4CCSCxya4jv6D2jNYIqkxBdw+tsK0hPbVqmbwayp2bd1Cknbv2RYjAJR+bJ0BoBiBWmTFnWuYn0I7/xWq4KhJdhj6JVomS6y2bmOkp2GtLWz3l3/Zp8E+b9bSnDBpP/iSl8h/cP7VM0y1W87u/Nqz7AkoJ/2vkwXyF/xA657A99NorP4ZgBSl1zr2qsXHaNpdHGK6R0J29W65uR9DEKZe98FMVcqMQGAku7LlBER8RGZDsWkf1+FqEgeCqpz30u7VEijR+wl6OqWruzyUpvT1oAQt2K9t5o77lDHz6FUamciwu1UboeacDCQ2vcWBEVY6IwlaJvPB0f3+VPQtAHUioboOVEqg1gDNXYC3TLgETUCTW0UKsUX7CMqcmWCoSQDD8CZw0naPMaAqZEsnIql/p5XN40f8uAVgQd4bX39cI2ZE41L6PGGGBMRNQqEF3L6eoQIqM9HWz7BAewLIjDD34/TXltsFcmd9legc6itd4pP8/7uFgNsXCX40l44IdNHZoSWozm3REEoQ4ZNzyMNnl+7ia4Q+zgVaUXhtmsFEt/b+HL7fEqZ+W7H3xt7D7gCs0I2w9snBUV0mu/4PJXGWYT6YK4pcyofWQ9UwKrvG4AW+tXvTKHC2ohQVGMj+AvkCPO0hwPyc8OjYB2UCoCst0YFDiRGyfYahDv3DxAzmgod+Gg4kk9+efGhi1qM2bWQzrRxbbrwNbf6IOy/Mj5BBFt40UFf6NWnp2hkpUTGiTUm5TPem4YiPRmAaGQ8ERTaIWacPFDeamoUVVuevEvUE0eXJ32zKh651hQYtH6lPYokzS62EKG81u9PTtK25P2x5seKtk99pyz9UJI/buclPKv0DHO97Mgy56f+5Vik/hab1jLg3wUb0JlBH711vzF1cVviu+AD2eQFDdL27AAb9z5wkSSRxLIayvA+FDxvQ2VkSt4nMhI/Nqv0lSj3NaDKyIl1GJBgOqS+dcUKuVebk657vHWNZ4FHFZfATvsuhcoGHc6l+LED4/HUVVWz6oxAM0+Lj4/GycYy5hoJb5jz2BPG3gVkD8FM7lGxdoTkQY4FhTIPLzf8pPoJcZfALeewEUK2P5fo2Ev5dTwn3oZSNQm6veQ8dmP+GJ6xPu/rSNR9WWQSdIoXisVo3q+ru9zH6wPhuOMW/gX7TR6OWw8r0so0WZXZB/68OiJepUYl+SlFLdKa3gHZU9Q+KYqBx4P+jK0d65lsbtU2COLnLp7CXhoWJhgs1FRrAZMHfc4JH4klg6PaJm+iH8z6S907QtBizXF7XwafnDKdfC45RCJWsmY1pRo+QJmTpYTHigcVxLlGLBAMWJK6Dh8Uhvtq2JWLJjXlmscjVvPVFJohutyvjnvvPRo50klDag2igR5uomcpiU2QDLBfB5gssi9MgpvW0cms02kgH3NeocTmVq3SLW6ofWz1n073cmugfVUzutVVtgB2g7PpeCrANeB/brffb8arFG/YiBws/03s/fE8FkjEBxZhDXs4OfZ0OIb/s+98VRYLUchzAHMYfC4jYhX+ksu0Hangp/pBAGfL3t22BGtHVC56Rj8qavQFxDbAHj9Bl7zokRFU5tH0NIJsop1OVsBR5SBHRhU49DshZhTSzUHVzD+HOW2gtbb7wpbg3HMb7EIx8i6M22K8kQhIaO1cJikMDl7p1SjLUauq9Uv7tXZlLBnfwWy0jo5Pugh3B/Aw1/pAor/SJZ7ZuzVpwGrKvaXGuVHEO91/eVUsGfz5ld4+LEoEJl5lhF7L4+SG2NXRLPVsJxrKUuvSXEQwTMLTRVV2unHxg1HcXw8G2fYS+T603rMaG/ukb+thU8n1QLsGKHA4gWO6W9LCDYi1spTyBn/J2J5yAj4Fuy4Ej/BDKid7zp6bV0Hja3N8ViTyy2TRgcBvj7rmaBSHvudimeQxuBeE3qyvKAaG1TwzuOZz36OI46cp+rhA0iK6JxJE6kQORXl5loS1JkzWMmRYH6PkdqubZF8uSLSR+j+VSTQPwOfYzVhQh0eZ1zRL8Nd+1/RcCaklzKPvY2CTQOW0lwSG4Np7DwdDBXoWG+w9TMkIuRKqfPKYQwjQT8xLRj57mqtviNKeTMUER0IVsTK5kgaAV9DPSFeUqXqG1CWibOqLlA1g/e46Oqs+rAwGHj5KfCqOAY28+77FimVCP1lyIr8G9AnQ70ea6PzoAGvagQf2m9y547slVE92xGAZ40DG2/IEKI/3LGGcWpWvtLnlUV5bVhd3HKzC50pnTwctbx4DdOYvv0IZq6RQXBRJ8XuAzEpK0p1sPI5u/JKJnjBeab+kRNDoUqrhZfuQ7srCXsCnToWvWYO7khn2JZFr6OgonVRNupw2UxDK3hz+tDuRfpnuRsXF6zj9ac7A2dtcK2HNhQmHELJzya5amKG1ksVxkOL9MQNssuJhRsAq6fOEflNbqtUph33HMpwdKDlcVMI6JwCf6IkDt1irN9YPPQGvyA8/OkexBLSBwzBAYWtXysCLNQeBT0V661k1ONMF5w559EB9kZeRigGGKLCqZTVIaTcx0bay1yM6xo0qniKBdqcpJdg8eOE/Yq8+c48jwyrlIgBFSRVV4LtLervaG46S1hPpu7VWEQk6VB1LcBeJI9YmjtDbPORUzv2/H/Cytua75W9Jmk0KCNWAz066p6hzm3pzQdRvU/0vJbE0wei+bA7564Et7N19Iudtsd/ffbb9nZUrsTdBLHQLMJJYlCygFsOjOvB1/07llEoKvAJul1iMCd5bfAGrjOM0qTkFLwXvJ2Z/ODG2Kzkw18Q/rLzzOL1RUhJ4CbsWdMaGFovWLK7tdBvNpdi31TLkVIWy1RitBF/4cVzUwmagt2ZjzMnCJ7W3527RKyPhArMZ3cdKXq4bg7OoQc7V7cwbWCd1sAKpXVkVeuQ45dDzj0kHu4cRxpSYqEdyeGDMT9700beMZpr72tD8HzO1qunu4RAD8L9LEiWvocdVlsBDXS6AMeyqe/0U10HBVjfqf3dafU0JO/kz+owYeIXtr31qcptTt/a8XGzwFitPkilJwfcEYQAAiQgexIjW6/B9zvN+A4wL81YlUoDmxQJla4YUtXCFYoG/NQSI4tDRq8/ddC3mb/96xSnekaM3/t6mQDBawFD1/MnlwB/B8GcaV+U8jvoORePZUQSUGuOnGjJbz3dZM1vMd/QM0EcOhc4bYUxDp+ci/rYd31lYZ6ecnzmx9+TTAaz/ee5mcr/cYI7hO8AsHIujqAobR6/ZalLm/G53AKHBO0og9qedrVN4ECWCdU0wQiYLHg56pLmSAAZQTF6blYW6j9NDGrv76ERJRlMO4y2nXcK4CBC+J3GwhXvKcG+XoYk39DDLTZvNjfG9Q4UVyvMNfXuODTjPxf15tDq0BebWgsUIfkcvFlljAFL39oMmMFzH/4JmbqecCgBmznDc52kevBxsxCqVjYhQyw7FtIK//DzO6zKqfjQlV9kh4Z1NAQxQ1ianhH1NuixO4eEATpDeuUQfLpFLn9ZURtUkaReOOrJUVKsB3JAz9e5QHWd2GWyrUFT3oi+UyeTmuE3KHpqHGsCeQCFmAshxzrSiGO4ihmW9JUiEPsGUjZZeziU5Ntfyb0mlgC0ls5fHFZ0xM2OD9twwDJhrUbQd8/KJAkvGyPBH4L0kjzn9PZQdnPrRcivuVrdreuWLXUWvrJC5COh4eIbRYjwMYoifrsItkHyWgCrf3t0Wquqhypp85pjxEwK6W2EYLzmNa7BQZcy8e7Aytv7Hv8oifY7ncF/wXKIdEyzP1t4McTy5TsbmeTo3ieEXlZLVwWGkUZ+c9QMeeqQIYTonE0o5dzU0a6z0gyZw99uJXg1Rg41DVPKxlRqprNJkISpKOcW6A+46lptcO5MmndibvFNf4KwbJRPSquHjrXLGU0dTubS4YpdPZDUbBusHGwggY43HCd5cGOi3JAKm2kQIArClQ01ts1ERYha1+rc7R18/1kWgyCK3zBouN0pHDzIyUTJKq5fDVK50NkY7P5e27qpAjMJSQoJ9Uw2tAQETvi/AMFCvzchY60oC0EvOWqmIKTynI+mjj341LJvklS0CxpQAay7Zh6C9ZuW1grj44vK7FvaP96BHRLTQgCP5I1XM0IN8QUBfKbPfbwCpzKuo5aBOUeXgxS4bkCi+8f4mrt9mN8fMyM6GEI8+eEQQ1E6I31NiAhxKnsTYteQ0GAzyXm4439Au6/6Vs//jBKp8qoRBdRC/N6gEeSOvJQjqDCDpQiY1r+q+ZVIdZKPwyL+w+ct+Jk/xwI6hZxfvTSmkP7izlyb06qisjIuwd8cn5RGB7plUtT9s+2bO+dzU2cCYx9oJ/CIJ7lXDXFpAM5ncHARC6O4uD0cBnkd6kBi1z5vryoYOCtbujXNsE9bpiiIZVlsTOkp8JoPvbusExjCaqQNocKZxjZCjiMvyGBVUsJBGDiMgvkMwef0VUSlUywUrA4zRd260ePMMHpJ23sVd5ogi+WGIxzeXN3gTYBEfbMWgy7MVA/p0GBjs8VTuCnK6JGtVKOotjcBuxlLo5QuUnsz/vtUW8Gtf0oVPeUNFfoVrp3XJ1Ch8O4qFwbv8s0PMoHN24EX1Xr8ZfosrP3qFLGw52e7AyRWGnbDak4A8vqtdDxctwyqP8G4SkGaTxA+uglbeK9TuNGtCwA1hbTGJc11KgYOSghT0DmLy0YXhO2jSxnthIGYeYzKj0983GCw41g75nqyzbm3xHlCDvzsa5j5zvN0fNQYaSnwuK8qRGGdMqewljbfFF8ZsFfcT8NVNFVnTi/kzq5Kko7mJmWZYOLuuqQJb/lrPQQroFtyc+ipFOYczOCMt9zi8/udA9PBRj4OVxPxCRcK2My3DECqaxX+3/DaMsdn64VRB5HwtL8aVhLm1Pix+kQtYDYGtDsHitpPd66RkwSrGcUr+/d9nj6cZgDZ1rPTOM8DAR72zMBtI+yGOhk2HsieJpyhi82xmAu2vPnWPqtkwYWsThI1bm8bKnksTLKKL8h1iEkfAgHFjYjoCWCgdYtH4P0JTKarb06vMCWbH+N0SGjg0QXufsNIyib4KXrJLh1g/rfT89B6xGXUOlM0qiumyQnCutHZ7ImMAfJJzSYLxgc/7lXOP7+K/yMi4/G3ViVkuGPUN6wdC6uFZcABnpuh4E1oZDr4s6cY/Ran5M3zuN32i27ZzSh05+2LXe2XueSDLe4HxKZkCSNIbenCuIdjV3imwyHW+uPdXAMyIi8mwY9i1+UPndcTAJa97ZcUTudVf6+UdVH0QIPykCKaGhf0Uzsg6ru7lIgMnIePvcbAx7kyW3xQdC6pDqQd293rG8HPSCNxadSdaoabHXHDuIXW2Xlf8zNqIEIN4Jkpd5ekCz6CRFjqCz1+1AFh6530PfyIuhFqcFlFa2S11t5pKNhw5dgGEprNokFO9sUptT5MRY/aZKaWPcDYd8yHoCA+PZ7zqzEdPJ7SwOORM3JlOxwERRHqP1IuvJuGp4ORymoCshAQ1rpxArGUgRlVHQ46VtHh+1urP46jSfqpGxbnYc3v4w0so5oYxA54Hz9+7rZZP3CCF1ot9dqAFYUCkVtJJ5XuKZHeHI7DGVpEmNLliPBqNAgowgBxx5OD0oEMx0mSsuPaighlaxlF0zt7n6L+nrDmM5dkhg5ZtDy1Ea2peoLhkpKjyw3qSZpQC858ZgomIoaEObKj8+oQxpG8GAP1ThTid7C3UWr+YLm5jDIHvPfqdxSIPXR4y/RqVVLBfcKwziSwTj5QSycgmF9Y0uc3QDopUBMLj+0RzKxtYJJ9s5qHN294LbnXyby2M+g0K7aAJozbjau6O3fFh2LUmGkl29nuJKnRUHYi/heCA0betcluSvgPiY3Fv7y3pRcdMpdLJjXMpETGHVhlaj9hIC70+7WY0dRpyuncxOc9sbnK0ZkFkRIpi3rndWIhBaCmfm3O/UoTSrJEB1sHwGoEKI6ALeBZqIYUmxFvTsmsLvOZz4GkAftxazpy8TCXRSlVT9v/JN+RhJfqUXP3kp4MbZAAgyf62qn5EPuOu1M6V21eHVb7pVWUFh25eNEy1c78xAL08acjeE7kBNa6oxP7Kd+XcBlOCeEkQWaX+zQACN2iZwvMf5R3pni/EiJh2sTXJIf0/xApOJB0cOcLEIWFlY26yBuBT9VuzBiGrbqUl77IJccYnfs7m6dGI2+EkCOQHx316eozjp+IgQE8qWiJELHI4qjt58LL1QqenRWaTfNMTuLxl3Fz/GC8yl1t1OKT8nc435PxEHwwFrr9ybPhMvR5n0AHL7n/BSvm9WFQQSq0gbmAlAC8Gdhr5cILujAfj9TuLnVbLQqIzXyyn/k4oeFKNFq2BSA9G7x+zn2eabW7P99YDsEITgxkDo/iTBndogrRVsdMOmufzJAISY1gWOlNejr4xIPlgncvaljlI9xCvSmgt74Hh7DKN+7jaMy17r0ksZ/0f7QfgA9VLeH/iIWt+Tbm4AXgHpIxgIL9FLdEMYTSyqzrxBMNvAVJ9t7XMR6IFUylu7gkrAB2tpTcaHpYfghk6Ja2lLzvwJ09/UeHm/66r7kNKOtoENx8qCYyaeCfe8+/jaZBdp8x4zvXvlzvfjwkQNkH/h18znuRs56sjNpHV2DZes8y8vuFyWFOj3ytVb7o6VjD2l4yfhrdzjEJ8HXjMf2JFNy9AI0yGnqITb4k4wR5QTB2vB1dPI4zxsYV2F+7rNrKqBjXxJHWTrP3l54bTUB/KWQmJr8o0kj4wSib73EgT5b1sfrxXhj/ejr/m31DDjP3WcLLm6jiOOQlvWS3hHwo0SF4UpqQoqVIHm8FXzGGPtIlS6iFUE0ieaI8b6JVY9HbapZ3gHv2Y/dxYWpIgqbWsw2IXOKDLNU7JzQ0jifkM0ol9EaQwu8J0oXoDCuzTPwhaZKymYLPvrcan0Uk/7DK6QhMcarB7Qn2bq31rQ4MU+RUOk7Mnuq+q+rhWU+B6S+YQHBineBGj3Wwl+H+vLRiHwVZhq6r46fvuEDpEZQ5sJRC+pdIZlWZljNgFagPgVRN2tzAbvU2QbA/SbWajJDSq88QMHcSlg51BmpLFU2rUVfG5NTJ190vOcLo3N2fPrW8399dU/XP/g4LbsY6J/ywxTivUmuWrKwKBLn7x7GdbENoO1ntdObBBDhzr5fbs+2Ptzntq0ro5DhrwCoVyeZTbbOLSbHjrwHW9JM/TXI7qfgGlzkj71qYJT39IkJjI9VREo1R8Z7zonDNUiauWV9FAIvXeNDM+tqCulQ2FD66TerQQi9PkR28MKwN+/dy5hkUi5uJyRQYuO9vNV5h2osoMyvMqdu0ulSfNRWz18jhUskx7iQoQ3xUpqSs8LiCkhucl4SvBpLvHoq8UzAtFtVpP/KXQuqyvbNAp9J1qYAMEW/TBtIM+uHKzyJ8s1rdYqNLhqjPHJfV77MiE1/Hjtzy7lkOPnLaPPr+Oey+yIQM0Ia4B5VvmiCYUp+NTZYnvsKkkW/B65Ip7pZIiAehMsoFLr+aSmPVWV89qg8Oh4EvIApZdSI0U87veZzf2YzldpB/NESYwOQjw2/ZU1wqK/TZlb6p8/LRhF1LPolmgHnoAcRHv4E1rEXZ6+CUBn9tLOwSGEVL1suIl47mg5MdDjyr8HqhmDXwxPJF1SMkKKk9nL12YY+sj+wzTzUvjlpgFFe+t6u1HttJw0NZllj72JAN3AvGwBkAvWVCnQzQJOq7Fc8rrgWBtLGDCddGn6ZFYH+DwxPR7P/R3Jdlb4si5UywZwal9x3c2kKSWgfUn1cdQmR6lr0NClghnFG1OklQCAMmvnrngruKX7E6XaG2xgxpT0a3UgKueKuMJ+DFUKCKF2LNJYfpoeONCApIV0SM2Fg2ohU9gGb7t5Y5sCSoJHKuM99F5CWBDHnflfvJK9uTSQW4JJz6N+ZHtKM+w3Bs/pUDhqWrJIBuVgSpZH1hotATZUdxbI1CywjU8uV/5QKYKQFoFZUg2Nnvjg/JF3xDs1tkvuKJLOgnC/86MUz+GnwaDVP3J5ZJ566aF5ad4lrML+QJKmHc1sDhegBmGFTEPKDXSJfzowrD2h0rLBQGz9SSUsFdAbLqOMZrXgJNOR4ie9c9+XYgFcf5N348WbIAN6JufQEcf86xechwheV33c3XlaC11boy/N6f3EiVBYxPdBBC6DUQoU5McuNRXj59j+q1zeIXsgiIwGhZSmvwtUAB8LVqZLMyctiF/uViDYOEHW3rMlYh35Y+tdqBS909mVPzul60bx0QADOa6KQWfvjBUf76pfarnI9ghTO9JdvRlQezJMZ2vjdZ0serX2nBjn18W8wDOE9vsAEIl4kQaJOMhiqbpijQv/MXp8rEzHRFTJIH3PCYxRMgS/i2SYkwZ3cQ2zKPaoYacIVj++bfVaWywkDhj8UwxDdmfUAg0XY2qf4W9WhAVjaVwJGW2Tqhag77oqquHcXN6I/qLUGNRKGgS2GkBIiLz6phY7Cbj5BDGD6koI9C/2sTbhtYNL3qmDPa+DLbkV9qLeCtRvg07XvTOiCbck8julY/ydzc/DMBJzyxkQYatbijbBrhWOFnBOQto7dELyfLm379YCVi+fl2m9seoAXT0Ykre8Y+5Sm5c22UIftz4z82hXeDl5/pEGuiIdGbrITQOIkF0Sbil5H0+cbhtUwuPc01VvL6aWWZsjFJAVk6XYtfafQc2jngg8XcdnhIpmqJlqldZ5zXpsFpM2EhTZWdDPm+BXbRuzJihXTCLQL9a+o423L+9NQplHk6mvp6OrYaGOE5vX/c44ixLgceFxsSkhmdQxi2DQ7LZGkVM4d0QaMmovTggGzVL5ce2/G/rBDZECCK3dDAcdPYmb2XyljiX6cRjUj8rVKbMry7+zrhTTtgYHOmctAgGJZsBOXXwmcR2ARCATo91GGXGaN+tioRbECut35Jaln50VJxxJOpaotidBbsDxH0fezqukVmBS3CRPYF4XNkwpGORNRrfhYHOnUhWKYs5T+C9iGuZSeolUsysDM1KVO03JdeE6qfkOFa/M1IUft01zVVU899KnW1tiBj4lRQfj60tTVg4Patz6iiS7PontILnMFfuN1+jEW3x5UUznYh8RgRd7uzjsbx1fwIHpYEj9d2Bmps3GhGUZRoUUA8pfF8LEnBBNsJtVRXubUI2sORg85wwLsbI6OQnXw/TlCBC+2mHzP+n8bPKVA5KlTmGOetX9aCKEZx3649byfslkUOlzFBXVekLTpaHNff4LiT2YCPGewgFbS/6rPQDanzLy31r9f8ZrIvxb9FOk0UKFwcqiR07qQTqrdKfQykxqKWAVVrAQ3XDOOG9ChFUSFVyCEn/jLWIIjGd8kJCjjesSiLjMlAsLkXicyeNGsYv+bZDXICEoyprQ9NoUfTqH7hG4VqYb6v90Fgk512A/+ORc3t/IsI8ACnVpHtH+DrnYyLc6fxYkaCNtAQEPb+O3I+d8dbBaLLPQZpXkQEt340IjNCR2kBngVh5JWb2IShW/mx2v1JgftWFsQILDQq0YJHfpDEgx7cK0ZShPfk1yO/A6I2I0iNbOdgy5zUKxSQjQxAZ7E5sBtVjQmHus17DRCdJFAK8BUkRoJ3sSj6Qai2BdeT2paJIvai7n0/Z9mDUgJ1EXEEX9kGPWimlx9BfOJP69NLejCtoeBVbMMNZu0cADq81NJ27+S1rjEoaotu22zXN8h4WPxKOc9X/+qxN7oKgZlfP6zg5+rGEcTBy92SU58BQSCO8j4iAAjMm06sJVR/R29m/mNXz/B+L0GBRBgLVhbKyq0YGiZSRz+nYGQxQp0n27XsvupksCGGbiFkk4RD9BX6zh2gGXoZ+Ehcl8kp2EaU2a4H8sRDWr/5LWVVR7Sn4tFJXzWXjBk9M0SkHQSrcIzNPh3vdWI4vFdK1kxyjSzU3vMLQfeEzVIl7GQ6oNNgbqjtWckHG7chJZVY1ZTyWSwz0pQ4MUawYjjKWqaF4qoZZEXeBYMhSjg4LBPFSVmnL1wAFaH3UVWyin7jOETyeLZ/OusEjo9oiGoBz6tDiM+d7zOxxX7fVF/qmgLxjo68m1HkR6PdOmqBZNJ56J58cxy9Ar2ZIc2h7n6n8zXucr8vjveiGrT1bIqADsG9rgLkXvfC6xTE/67OZ4pP5TnKvl2UC450OJw7VBoAQoOG/1zMHVmOHPdGFOn5dEbIJE7MzWAoz9+mwdvxZRXP7hJlX6qhQZQ0rd7XvdVeLbCH8UIGxPzWKUZRhlBFmNPMFvdyAh1q+cTyuNAfWgKRTKJwUzquu3tJwB0suoyERKCcpMKkd0YHWmn65Hxv+LxKALnRlyATQcm2S60kKeZuLO8qlx7x2fI42CvkxZ1PbeqDbFsYdpoqbzL63+UCT7kBdhsMWRlNuHdFVzV9/f6G39IpXuk7U/2WlheozzHrRWxxTZCeSlOLfHIrAEKebbuGBiLyF5FFrdcsVwUMDIOI8w6UJG553B3SslIF9EUD37StGrYzg/EDKhmlFSBQwcZiIhTBTdj9ZT6KUJ0fOZvFyYgBNhJMH77GoyHy+SCbMFl72A6nuWeI/0ieuefI22a3rLKoiuS5orghDF0UrdlT+Y197Sk4tzYqlztkS/7+R96ZLTPNEVoBQ5Mre0biiizcDnZV/XCcVQf141TCVmavyBMarSzjYD57M8x/1aG9Ujg20pphZwAf/MXOvide+Grl4d4jzGayr3opgLmb7DzBWt+vjnqpvRi1+SBT4G9iTPydOfzP5Qdw16qhKGrDcxfr3XH6nCjPJvuOT1gJLMVo2Ht0x6YMyZDgVXcaV29FP5Ixi/JD+MPwdlSoOtUMEJKYLZRnX7ADy7VO3oNftCGM/lzaJP4UN8jbCBWhQazFVUmdVCArhJvHSBFZhuPEOgepeQK3JWCjVXP1TgwkV7JeNG5v7mF2lc90TU+SEO9ZeEhfqtVaQy4Cxym/Jm21LqUVc5+FsJIt+nJM50olmPcrnjqJHlmxaCZYw5aT8cHdB0NwAMqtrjZLZs5b9IOziCV7/IqHwFNSkR6jQWbS6e2go9czisbbICfHaWPpUe0DqsE5W3D1piZUM33cLaYDvWbwAnUJVfSOsZFpBrOt3SdBAiSvuTJDi4tQCUMm4FooDT0UUkUZRLuGIVlD1yc7QeHp2mesrKkEl1hocvtTsPGLCmmakGkCB7tKETjwzrmLG4MfZpq0ExOOuAoyuho5Os4a/m21PhfpELS6HomN5488No1Cxn0KXAkKz/i8IJ19wh6jhYKhHa+1DEA2aaIIYik9rkDGX03gAxgDX5HodGmv4/x3tLQa+ZMqXzKpW0Pf8IoNXxjxJKroD/CqV2YJ/0IMzunAxK8t4IUuTEHngVN+1+BOU+L8pPdaQcM8lZ0WTF0vDH1jvR9XwWgqAFHb8QGozKcPVW/oe/HLntq8JMlPvFv7mAA/R9bRhfc4Cid7kq+SsIWv9+CLWbUQDT+2FGQBDIb5OWyVpr1XUBTM24HmMpvu82VnCcLfd5cpfOe+Ac4tGDMkFX2HT0+huUBu+V3QL6s2tpXVuE1rcg6Ww9UMSX6PtjXKQSvjdwja1c63/g/DDVptEk8ZaJjjoxDgARlxRLnZ1esX245LDkh9OGWNAAXIc1pRBCXbXXbmeEwFqlaT8zV96V0foWFd0h7Skc6Gp5R1h5OF662TWjHrzF2F+Lousb+yZDafPH3aZu5ozQiqd1hI1Edd52GGi6vtfqrkRR8qrglNuiadV6x/7fNFOheWHI/8qmIxkc1i74ltNV+uuTpO7wfCJzdYEJFSYkVn8NwWpjuoKtcx4elr9QqmtYM90IvCgIgSjy8/tLXH6WD8GpXtA1rz1nz8uG1TKco2AF2zdGzV4ZaR4mQ9qL30Mvf4DjJfurDoSPbHOJP+6/2ENQL+DfEN2mqvNwnOvipHI2yNowMHn5hi46qCVLaQGKykTZbAds7aQ9rPwpAPuRRqhAr51QjUEKRelMF17SkmjQ8auHWHsIgnzTUx+/ls0SjfzMln9r5MRb7300Rg5q6OrfrvlwkSzhZlGhR83PO0pZABaiTbD6iTxWvktsh9a5MIvYbAh291A3lnoI60A524elweUlefAY92jSIYsACzSzh6C+Jzvx+ENUZYqY5Z8Hqf2MC6D1szPWJKMi0mTEsn//IPkdffrMV0XLGjRkQhWbW/ZmDHi2DT5Vpxh7fDNIWIEhJ12mUIpKIuERpoZ34AVAgqmEh6odluPHe+z/W/sqa8DBSJl/+LZZe/2iZVVX/WS1QC/ksk8YXB4Nl7npri6YmWqXE+wIK+xMyQ3w7enhaLzV1UCL1QJ6ZMXMhP4lAZV56n+LMFyhQ+0EEvjMA3QyyrNLrz7CuGjBcTJhSNFoLHqhAWxShW5X2uL1pSwqLndkNk+gaCJdxHNkUS0JDEuMzrQyXiPMyzInIAui8TV83+84fPCOx03M7WlcqZA47/DupgxONawVYcbqu158R6mEE+XaydTfmZKCDtKH5/pQnyDL7SVARWQlVn9h3a8BFwxII6wLFNV352+83jg6v3fc70mu7fg4N8M+vwSFQ+aL9HmP87xUAvKQlleWFsTHhhOXUurQltXKGxEF/X/2K4W2DZ2Z+3SjlY2lopAz5XfdXOIA1Tbg5rannasNTpAKm3aGMI/Mq69PmF74HPIl2DUBT270Okuhti0U+c6qd2plgXmY8YYniInmFbh2cmGU0FiTY0auzrCscp6vP56hMQqoCT68IfQEBM7UhC9CmKv4PeAKFe2yfLWl5oPR7k9gqsUyFjqkg1cScSnkUecxE7ATiyYsk0nChEGgd0hyggiB4s+lnw5S74kE5kZnrIELEXz1mbzHwZHOPZOrWoq5uc1AQ8AHQUOvOdL4PXODsbFD7ZNIQBg6g1Lc/kbksxIcwQkaSjP8BkSpE0LFbSkkbZNYXb4YGmrdnOMGYEQpzVXurbUz2AxfxN6wpLTUCYqVR8Zq5JdecTmbr/XyQS8whv96OpxWIqe4POhUoOWtxGlMe86Te3+tL6lfEQ5x/qKPtsN9R9/5SlSEWHiqRFCPAfqXgF9UZQL8AS1Ivx2b3fCisUnwKk6/cBOHOZNuo+mznUmN8GFADcWmRGJ0AZNgCeljm5EcsW+dTBHBq53cCZz5K53iuSADcnEr0HkY0eaRoDUiqarV8ORn5iTW0c1HVuEjfzsizs1RSS9bFWxZg+R1s49Q0E6cxrdwyMMH2EvDrJ1qOb5b9Yb57URbkTuE3pcNfIu+XjPHKk5HtSo89T0MTeI7884ViiWsE7y0/+yZ653BHJg2lAC224jMoohr/EtnpvCNF5groVYqUOciHWjkjBds0s57aY0GIHABMEPi45L+9IKi+Ww2jSCLIsWUz3NJfphGUQQqkRoD9vIxg3WzpkNm45Jvs6rBThcKvmZTV8g76j/gs/DZPIE4+ubmv1/Qt9knydndC+3c7uX1iZ9NMDRIqE1noibYb7iEOlUI64kdMHwT2t2fNMlpV0Uoi9hTZNBda+GsDgLRLXM9d9TTCBd4safFGA1SfHMZZUyHUxBQApykfrSHO7Ya5vSQuZtGsxHck1ududiljeSVz3xKeAf/3fLQlKAlyCM0qF1JVB6rAr8us/m3q6IP5mJcpl/2XmUcSjabLJdENmV1fS9yOgyD/2WbsQAmZZMwAvWhKKFXKVIRMKjr0QgsGVtmMoCyZWhGIJVzwH21oWsBoWf1SyKnL/FzyCQS1DPTP5SmfUQ621qR0eXUGmXzZ4wtwzYUBPXxeE/jiMT1NuTuWmRsU/R0uktAlzMK4F+iTYicPk40VVYTZxI05xOOAssiJ05OGpZGrvVIHvR53JsUAR+RkpM89XQud0HIu4B4Fj08OuE8DrrgckN/WVtjCJ5gejXtctl0H256vk9OD04wGSygy6YB7rKvrc/tfUVPz9R4BqRcKSE112xACU8BZvTsw8awhAQixNFYaNDyqm4BloWeeTZcIuaaQjcPbM/sJITpRWJB5Xrv+QdgKftLGa31MrjtXy+RzDW2KUYrrTR8TWcFz8MTpMxlWpx3rxltmEajShgBIjGqqdJXJyNdw/Yo6jSP655hPesKLku+64H1kgVoCzmZYZP4cvqZS+vWQ0X2jIYCSDjkNuXNORgRXhBnv0M2Xbs43rAlNmprY0x2fxVxpZ3vpY5rSt4OC2ze5zH+5lnWGSpepYCUQhT/dmPM7zENsAoGQOLAt5BTfiy2LBsJKfKGveq3ZIU5bvIZIe9nXtvtTrj0qctZmMcaWvmm/XluXw2gQM4LQTvOItI5SocctiitNzoRSyO83Isw3JQSv+aWQdJNABz18DJ5LpGCUF/xCACEL/ubOb3XZNtZtEfUAjRcwufblK1U4mPBlGOvVMgzECqf997akBnPAn4OdDsHqJU80EZ0J6L2fnHrnk7wf+6JZvYG2VUB+izBiCCctM7JfcX5cQIHWCJuVgk00C5uYaGhGbs2bE4vyU7+xgNBG/8uNlOXJQ5i/Kdirn7rZDQeWV/Gv/jF49HbhDKTLcrVgBu7ofnmPApy2x4i4VcUj6V8K9bDTZkqAJfZlq73I8h0I8r95CviU9QLlOzKOWFKUTpOKMj9glSrq9iuwBlJVQzsWAgGqQ+u/HdWkHtKEr1V3rD4DuSo3evdORuy8PzBopaCSKTsgyjVvzPQ3cAHqb86CMWTdiy9jv3VNP73rqeyQR+AzfopGEe52pC7rxbjUfb/6PzP9oMpFn1/a6ZApObiDp4y5kMtIX1i3HeruoS3MMDUs3QUhGuSFrX2o5X3Rh2Q+yg83UiTRPU8fSOVfW07Lpx/bznAXMl6q18rH3BDZAmEN0WbkWE8zUOI17/IiKfV0419u3M4Vrl6hu8I/cwxTtTiJgzO5Hk4xRsdRz7Thm/XFBm57jtmq+5zsvBj6yELk9ER2zEXjE0PxsYGrWHe2eQzhgDVNr+DK6WC+yMgwoZE4aYw1FxxmYMy55hD99hCRTIoDTtQTjQXXia9bR1erVMH1xuJ5rr5IUvg4cohKpq616YvYDBh0eF0KPiVf/3eShWyXp9MW/I4Xz3VXaubsXnCFcuQqBJn9qOmtbY9RFNFF1giJbU2HOM/sAH+GnBUqCWS7Yj7ymdFJx85Y1D/1eDOYYeBGC26tKyXcCxjeAAGfceGZe8elzweRoMJPRGOB008UC3RkDOOGyUmHEWvCKy07Jfp3XGarhIgcDRp515GQqwNpuBT4YZ/ZbxV87jmq4S930qpubK1o35wfalXkikA/C0AqlNGQvRKwmO/OxLshZODabjMvByovOQYnp+jNcde17miSPgo+MkgJhSDoJN8QPngQJFtUXQ2mEmzG5ayMbt/gLsc/z6YZ+RBulmnGsqxX6k3iF9LzqFCEjYGprTVp197mvSPINEPty87m5H9aaSfOOhU8UfFe0mwBn03cwfj7RW12kxVccMxxxxybWA5i4XvLxZ/XX0we852EemGKGl+SL7Qm4gvyIZMouMhvJlJpDb/Jq4BCYuGRj+B0IdfWKWUm+/Nb3MaCL9dAyNwyKa0mzr65cKJRN3522406kSPZnB2q0G6EP4n+wOFYNo2DXYSqV5GhiV2BOamto23Ic81Cfuo9XgPyAI5CuSDLrYTDiCBOuVcTHDYALASp4RPcIDlbkqVGk9zM6qJH/m6wsoLr/OwWLGeFDJdHePC80TNPYBkymRTxQfhzkKGTnnqCxJzzGPV5vZiDCWSFzefDgU4gTGrYnjkweSOJ/YlcS0v1uZOUMzNjOEGvWAfqOvsqvK2gteAb5Hw3Z45UMF4d6uHBKLSjZSAjJoSPYYopOOx57M5gpIPwq/WS8DnBfKdvLTsNUjC4HUKn0D+zEWcmiPIDGzc2eyKJDFBJ89uQ3hDVy92Zp1KHPYOVE2ZJqXD9WgLjncrPfsu3uKqw7UUzmWFQcviX9DZhsNpEp6+zkrJdRYAlLdJdlezarQ5a9RkcLFz05MYD3v0I0WU+cO5j/Mc3wUDhZkuO3SSXPPVSyY9ZtQhKtwumtXyHyApomvc8xZGLABHLKy89LsewWo+GRW1NetpPtXqZrW1O03J2M/bK1iIywk5A4Ui40ZRu1nzeVDIkYXCpiOhmsBrfkWN1wBiyQUOOCxTWSJKqyxGB7Hncc7TQxZpsK+v4/vN+fa+UaqoTmnw+1zeJ2eOx8cbQbkH+APV2wq4byWgKHrBi+KOY2jnTXgxaquSbAlaPj7j2t2dmzLJF1qdl8JVphniu92SteVG3oD/6wnxeTgcmL/XXVYGLfRgtVDyJ4jykkIdetCQNReHl1si+VCrnQQ64h50XCRepqXOb9zrSjs16M5vpqRYT0uWpFOWdnAV3ZmHX0O0nm0kfN8OzC04U+c1XZOrO8FUJEhTcTmstOV4dk62M/NE8llyVSxilt4Yp93nzUwsMSG/Z7D7KsYtMaDJH/izkZJTpd3D1r26IOcG/w4EakveQlqmZHXfcndS0DAps7ASRFvj5B6b1IWcE6n4gpbAuPIsRrvTZpuKQkA7gtdFGAvXAg0hLWt30YcFJHsqtch9xKbYo3v21M9W7+KXkf+jgu/r9PiZG68tI69RboKaADff2cux7Dt3DI0dacityiI2zl86+nv/vxEVCfPMH/Kb5CwhYebtKxBSpuLzUhzXoSpbmkvnXLNKMbwmD6XcUqwomfs6sQNuHm5ozowSKg/ZTGMg3e6jtfIyDclliDXKphBVhizYs1KdQ0v/dWV9/pR8YCj+hczcwopW2JOwuS1yTUSXKnvF6P3s9sr6kh5UXmunM/swW1U3HTl7ak4HTJfXWLxzKqCZj6xfZiFB0P9PnupjeVAWQTCMadS43w0dwcHzWVXFBBQknZhn2N8Z+nri47JMk25bIQQuasfMd3RKxAaLfIvTKVgUmVMwT3tfIjuyH9MhSOQpTHlwxkHHMeiQntxtXhdgtg+3smi+4eZf+IwXIeMbdewi/Gaq2ENMZqzTDzUdO9NsYZn44MO5Bxft0cBpSOf3kEUYIFVSj6GrDQfwG4+jsn3ycpVFcNQL3wMiBoN1FQb+7K3CI4uWfKD2WMQk3WeIUvQBx5mLSDf87wgFHnG3u/wyvu4zdWk9EFcFo+I891Rkb+m+aU9v3VkxEeWwrAh8ufpJdvE7VhrHayAIOrs82/fGkXZdvbAzL3XosrBMU9yn+MreweRoVfFC0uvyOUmVn+ulyxW/zU9PXMXL2mafRsxhycjWy3QzSvkYwqYgZ0PJDezF9/BkyNBymAGKhwNoikdPGA/LcTfM1kE3TAlwuyEB443WetQmX7fXjCdIGJMsVZRsBuUAvbjWbdKrtha1vPP2WUtugatWpIBHdrOvSBqwluVBqRcpw1xZU6Jdfc/Myop38rNmWI0hi5WzEWFnEkA/ORt8kc7IJI8pKEQMkfVax4NxGit7pZjMXE09H8q1l/jckw3F8w4mlZo8np6SItDrq2E3sjvpg63wOWCh3rOAMzyeAkz2p56NKB1+WBawnF8lWbVGLQMWg8+8EyTn3JjAcm2QMTFAkrn6Y5Kq5HenZ3OobRNR39cWBKmXyXrXaED5JLUg2Z985bM00+5Nv8I7Lvj8/4M6PHx+4UXoiauWr6MOv+A/5pPJkSg7Pd51P8JGouBSsfHElqBLTRp+uxt6s3SmP3WZryEgB8j8FOZjw3srCjVBCJgf9oJNFNH1rq2nLCsr/MVIOyKQrVQoC7af2ud"/>
  <p:tag name="MEKKOXMLTAGS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MEKKOCHARTIMAGE" val="FILL"/>
  <p:tag name="MEKKO" val="MekkoChart"/>
  <p:tag name="MEKKOSAVED" val="1"/>
  <p:tag name="MEKKOEXCEL6" val="False"/>
  <p:tag name="MEKKOEXCEL7" val="False"/>
  <p:tag name="MEKKOEXCEL8" val="False"/>
  <p:tag name="MEKKOXML1" val="4HooU0THZk28POP9trq+pbTvvzd/gcV8t56cq85kb3NDTsUhojRA0EsgEHHMH7oYP1SYpn09ysXVivguJdhTvfyVMsBLTGvcX7WPTor/CmWiWcfk2RmY+GE6Q6T90sFUr0lg9IPP9y8umrse/9AoLT5R0GKq+XM9pr/aTyOTf0wptcuHbHxeyqBm9svU01qeeEM1v0hpSHUgirOnAK/wuuoipkQ2N4QuOo3XRkxGbZd1SBaNvszMpknDbQN8cV204gqxrVOnEzHhuny4xnhhoe9CmzIgSh6jINhdcf/xPd9G2tJ9Fohp0+S9JhCSAe4YAWOJQqPIkQTqzsCoT8h18S95fevhi7kHtjsoAHMqQeK6boaweC8nsLIjWfFhSXrG/n+qj0c2m6W6cpGNlEbEsRW3vs0+8ThiRMPFBrmXlaIoVfmerrnC3OA0RoQ3Ls5+vzmB1H37ANgK2UlLI87AyevoylL/dXOHJ07sdNVmvCKCi6k2LvXy0hLjPNIgYS6utQbPtl5je9LTZDrWHR4TrsWy/qkMODAqValtGSOGwGnVyWytkaysW43BpMvY/ANOKwqjCs7BSN3qslnd/gi4YqavhMdMeuRz8X9T3EKlJLHa7rp4SMr0eUzePZIFOddLXkGc9RGverbe/hw79YvZwexpTEOoQqtN7mQWSDiSU5jHLdVoblXZtqtMCVMKeAcqFVi+1X2Ry07tLDbWqObwxmYW5QvI08VCuQ4cSVBLELPOefMHeY8dWI1nWY+0WUaVjPGIDTx1qm8cs8TurBkbd/2QzeMF/Jtew66gJdBuC1Bdajc8kcqEAws0VxXPrzP5RyusHsXWADvv21R/l+xBjz0A+225eT4ebSYmTky+/cVBdJE33ceCvaxPHfrMzF5tlo8jUOSbY6b4xX1jLKc/OCqtmiqGgTaFimB9KQMxacUACqDvn2fzTeiqBA6nzm8SueBFLC+m6zotAGGN+ICnPLu+mmPrKPmegr2SjBZu528MLuncwNN2Sx4cr0sZIIcIJrrDgz2Gil8xm9yrUUF/WRzPfGiM0IzRu/gtR178Gjyg5MafsG9InYQdOx6iK8FbsMPfavlTbtmO056AQQe6Sw2WiEE+LgGG7bkw1X8bPV+Pc9nL0CHkZnTx4jFJozPjiJGm0g9fO+wbc21HKAimKYx58AdEE4DVo5CgUK6PppFqaKYYpCMmiZ0QeAOimvyp96kLJGNBVh8276WYzd+DzXegDUeQSEEpexz1TNKsJU4B60eEwCo1nrnCi118KT+Sze8I1WQltntYLrymAgT2dMFo48c1TlL9y+mvsW2JyyzHbHamLbHkGtAlHEGF3gp7BXZkJdQ40WGOeqCXZsR0r92xIVNJJNsN4CMh/+vKh0QVlRTUHpNYfbsjasYAHnD0zqwf2yyE3nWNJH2XD1FK2NutqjTj6dl3G9yBtwG4oxHUnnS3Oqs6n7wNZlJUdv3Hwj5d4bFMS79YnPG0J2CWrY2/LO2ABxrbMN3Wz9L/m/CW6OA7NefOuXn8+N286cPUpZ16XdK6dWzSg+DByXR1u1FzYV6xEn0j49pD0JdL90jKX44pzkQYVL/nh2f1zAeZ1Ms2JJc6zytV0hc3GmGj2rAKZ8miSYfJQtPUJXvMAazOzUdoMgIBsygSnGA+JjBUBLkOnOkhe52uCM4t53rhdGE+ijIqek+BeuVwk3KX4VO0PotVh1br0Sa3n41yV0Rz0mxyU8uJGuFfwfwQ42Bx+bcziaLXkHFl5uOEJK2dsIQwfLSC2Euv6OVsMbNmk0bu//ll8jd+hAhe8S5QIL6mDRHi5w94+6wCYeIE2x0NO/0yOaKan1sIARrDboxBh5mjZjs0htMOdJLHjSlVbYKfuG425hnBpHa26xDLxY7jYT+k9BO1Ak8vxkNYbUPIPm1Y51WmMh0N3nhpDE/FH+AHRYqhcDUBemIGTC2kBQwrtRuKsgR0wIAWtHH+KaIGr5iGGo2yKMSz2MxtIQKp1qD5fOMA/hFusV8wrhiBK9x9wrx9mtKxa3njf8egIuz50bL7uIXluQ3M+bqQICu8tdrSLgki+Zg8sNmiVYQ+WdoHvW1O/8kERIOsjBWGGDqHGgcnD6/n4Lc8HoYWplkCSaqotcDPIxlnzpLLj6wMuyw0YyfXd7r4QzLZg9Gw1YwzJIz0UWEdTQGg9e+Xs20ZzNKTknEEuDuEyCURCwbrbHCTtn9GB90DNscO6uA7qlk/ns/orlkf/fGAsVBJnv4TAcqhxAvKHj5yOZsKjpM4hFXt8AMSVtYhpubcotuBflsldELPOIOj31d0bjqCLMavIw86XJDSMu7D4MxjP2alMdQWCDoJNbItZOevdxsCqe/6nHRyb1JA8N1oJHvdwR2MffsUI9OFDiK6s4LqfswM+sIb/GSgaBAr90F8UnckNs+TZJzUi55GNNg/+37PFZirjysUJpabIHxSz3Vfo+Jb8ifF44trfrnuOg1AB7u1R9aIpJrycYmpaRxI0FYANuqUGvbblnH231CRuEIjiVS+j4S7k6YFpTpW0rszL8K5RmvJGMnw3e8tBVP4z/1/4z+kUwsjaPLtAd5AWFwi/yObeO288tYrJqocRmo61Ip2cyaMBgjFMUXltD7gZB3bXY8NP+t4HGEmr/11l012KmdNgROzGFMgcY/ntiXGur5K5mBAZNDOiN9xPdDTl8IzuSLGte8ztLonDgv38Ub9oIjOf7bU0P5Dh+C+WwNBJ0OQ9cnjQBUXIdn9i7GJ2mkiGF/ZIW1jvGxUQcb3QlBctbtdZG155FGwWouJJ0AmzXCScNd4u/NX2qkrwfJJz6vhxHrojYhjqOtxao4clxtdqCc35mNplAoz6jrz66qBXs80W5Ei9PPKiZvIsjCajnfr51rDPB1ikIj8hjQTPywFD7oxh61hscfoutBUWzP21LPf6U6Q7HIoo0U1vfEWqqYqs5gSPU7cEfsQDQXc5WveLdwRBU3hF04AVNUQsBOXclCqNy+8xzwwETgk3oXSoQbdn2v6ATzS8Fk+STYbWjajNybv4phZimayh7u6GtoqwmaQIIpwU6JDZ3iNUMYA+bHTiT/Qanrb3BnMKG+Zt3JsqkQyVYBYAjkJhoVA2oNY6dddiCtFvx89MlHYIBlqhy0aD6Mi49d9AuqiqVejuz1tJrBGIGMQCYoKLDGn5hCJBaRJIfQ28rbOz3YmPAobST6GHVSznh0dbmJsiKA2M2KxVewIEtSWq6pdjQu5sg5hNOP6z9eS+7/Z+9GrGLDH3Y5P/niRSulxSiiZBvOpKTCeFuxQNfdIT/zNR0KfWkcRnNBMW9S4IAw6VyqouZLrXpWiq5TZxIxXBfKAQwSu83JCI4a3ZDzZ5ygHUXo0z9Ro9vj70sSDZfZ6PYWtb9igkpnb4rShLZt8OBj8i8zsK4WpQsTRX7F2JrJQWNkwRWOp9A0EvxPLg/PP2mDugOoAIfQYJaVq4IlJq2qH9O2PllvlAIGWf2+KaaomY/4OL7hI+Olj4gPhBj48qmxrcq+x4G2UgVIFFK1rnGByeYwg5SMpyZjdl+f31EPnG4vjxvwDk9heODBi9DivIQH9NDuWSme/9e14JpPgaHTZdm7JitSSERh5kOPemCFaxZzOJwAlyZVqJhM8Uo9hL0PV7uhbJWNud8oZYhUmw//8+eU0FqWtyZczHSSejN7y5j7EX0jXYuCJpx9kpO7vdj6RTEUXQ07axADrQ45k17/9d7EFQ0NcPctFjxOpxAe2isGXAGEG6vFhvmiksx/sET41cC9fZrWjH8n2UOF80OnnqrGqYqWL3EVAnih5wxCoh4nR8+QDZ/iLmAlSDP85Uy8VVm0KnLFq60htOLDrUgie152aqYe5D86K3Hiu5lTbJqgvY8VKuGzUyMahUV9a/+BcKudEqI/NxxpWL/VsrQk3Lm1Ye+Ejx4/PGfaJi+Ij7ztfkpZCvXSJ6MfQltPOzL+aVa00Wrsm+Cu0sqbE2h88acPUolY2KU6hjJZLhKtOKFMeSBk86tQmrqW+LQSaIhCkiFL5u8ieGb5z+uP1lEoeJ8Kf7UoJKW9pA/qg/LrObI378TrfsVRx/M+omMczdhX3lHJcxXuGDUsdelcqun14XY9W3QDU4XtHJrReO96FChRyWS74p+Okg1S9ym3l0P9djNtbGWnyi59ZbrRCg7LCoC4oMHuyxFVXNBgTX9bndn9Vz7ZT7liw2FQbeZzfr9Il/UZWF9grbAfvMtJ6/UCRVsh/aUDQbqbMZrFsmirOQvDWUa8cPJDXYzAs0NULis6eIy3VIiMwtytYFsbSB8Nx7iOXcNYUGrZ9UYBDpbKK9r71/t7q+XT9oSMRN0R/rSziFq8hOeiYdqsegRD3ShbmEUcX3BeOiiye+IZHleJ+qP2sRPYUUZ4AxdxzitmYnYLTpHpWaONDm5PGJPr0/UM0bwbviqNoI38wwJSxvxG0fFJTmbmk9fYuXvrpVP+KxiU9T53ZAh1qST4+PQWAgkmFbvENJWFgbxbDeiNDx56pwB5NLo1C2cne4fEvU2jRsxsxu++SoSMgHRWz0RQruN5a0YIU8fOa0qH1cklod4pYBsk9YP0kfTVAsbyamOUJiz9SuG5EDnSFUjJi1TJc74yfoKulgFEYhuyaS6fzoYnQmQQpappvwa8hyuwYTX9WH1wzdh1YSGwRAPmkLAPJhkErOmJvPG/x99mh+Mv6addxeKvdEro4KBBijh90nIOcm+jyr+r8cEm7Yux2c1cQZFM8+/Jz+jZ0FOV2snC3zuNU9lq4RZqpbTgvwopqiWvUUFzuWgHidY0lfUoz9WnGjoP7BvFxX3hMnyaTzyIvm/I/w6rTRwJ1DPKhQz917KYXo1/+ZHWsa2q8Cd3QLwHBjb3D7YlWyM9lY5e4m50qL3yUGr9KYl2B7CEMaA0NB16f3wOgb2sYy9x0tyHg3iJ+LVsho3/pSd5hvOnHHlSy6U0uy6uuTTBOmakPfBrlWp2eKHX28n8JZ/w0MHoq2aBa6Mr8kcNin8tPx6A3o2u39jSdkatMhDRD0u0eK71mRXc++L5RUiZFyd/d6/UNubCIXxagFTehxeegKbOVYb4BJnzREMLtKucTN7b/lfWdCuuRqkd/z1Q1lw2ShcTPMe6MbZWL9TW2tKHduYrNh9X9EiXc5VEPde1/qrri2IJQJlK4WeN57R6SjsRzEm+unLzRV7PFWKv+LIBcTQGXGjbb1/kwjPxqdslzNt5QZFGnbNcaCgc2sRIgELQWEL98B9GIIdRXXAnKHlmjf9v+mYE1P0rowzXLhgmj1vPXhQDOjICk2e8g+x6E3Zi56NeHKHFh8tWV944suv2Sq9Sgxhga9AwImGtUw8UioNrMF8ato7fE8B91ufDcGwlWXVdajri7yk6sLtuKpMovetqnSzJS7MbzQSOe0ATDx54s8FNhoQAmFEYpLcapqc0cjZEi3stLJy/dqqK2K1CpXPDh7bq9vId4AbgmG2g8Ztw5y/NtPIMIHZi/69VJbJOV2am+4zdVLAu/QdXgVyujN33e5bjLRqkV5Pm1Jkxs+qwS7jXoa0UNBgDawzVkaQqfYr/T9/FPpTcfFiWaKuh1/Sp+7otCE5XgsWUWkcsARDRAs9iv72sZtFnsH6dYQru6gxXN6fFQ79bl+RSy1uV1AqpCBBV4ygiY19P9RN6wcc2f1PaMnMrTLJDJLzx2fH6DwEJjpi59Wr1wckqUuFO9hk2QE1RPLRr7/7Kh+h66KLUwFLNU/CTrAGeL7TMCgpD276JtsgUAh3CutMjtGjFftJuaaZpdDngIOcEaHf3cw6FIQ/5H7GKz/+bKX3V9XWAjqXunY4L3ZOmvTO5eIbPIruY0SlDI+xYYbcMTn9mtFTP073xf4MZKyEJlzrqx6SzxbSQIlVTakMyLZzeddyCZx9+d1jp/cpNiYMkv615daEjXEoF4OTCZ2k1vfaj6iaRicw3pwTaNAUAuuHKdbvQNEEMEEb+Mr97Nw2eQwosuXaqTCFtApRelOLc+sZhzGgcbXpilMHRnB6bNrAAbrEEA1prccX0QY+dK/VJXelY11vrXzikucf5RvoMlEIvtU6j6lxlTZFPXGjDzZ//vjSErmZH26eK/Yp6g+crTuxfEM4yaNV2DNRaYN3nETM3t5bMku3sngN4j3WfonsWnHTTusDjYgLPC7sEKx72k4NWwqlIef05ea7COVwhJnExNVyIAS0Ecq4BdixBKy182oCCDbLRZFoEvIl8GnDE5VxPjpzcOntANtwxJ2Uwt1G0XAcDmKwPNa1FbwZFkaJvxsaKzaG9Nk8ZTVkw1rpxw0zB7szix9eJnn9G2AsecxxlRaQ4kM6Qb8YdnlRUm4Xb527vjsf1AskhJtDQ3DGhAAfS7Gw2T1DTmMi27x256csdqxR09i0OWF4UZin62DYhugxLW7fLD92EZbyMa4nBxxiENHxth1NCsBa+LGDv+FlYZMt+JS0kLc9VMSTRY+AvVJDGQ54KxBHBEKIbxJ7dDksJq/jFG84/GFVLJ3a0m7kACI9s71FDx6YplSMvV+t8ZxmqghUMAHcAr1rGyCakS7OPBtx0so010nVQHjaTvJexaAKgRpjcUvtrbbHgbgoV2bi6NyWFMM1HFmJlQWuyY75hdodJz5MhO7Ne967S0WbjDtFR9f/MqP3O/z8M1qshs45zE3Qgk8ECwCZLv3rAewvDOdQsTOQ9Xl6yOvtWRHkQORWcvF7yc48IEnpCxpqMclqTL7zRS1S8IaB4zCKcLdpbTME53kKueGiJO/9vgCqJFlT3/F6NsYuhJLc+pWVpJsRfp+k1soKrs/ymk3DddGL19MsgqZwm3peH+2eFPUezgxZ5HbuKOozVB6ias2RVufE1XUclvI4mOx2q0xxLRLT/M07xqpqX0rutOBppbmgjJ31TdoxObG0/Odnv9BmRmuYQCeiHzkFcWddLNQ4XP9w6qfDxHaP6/Xa1On4KX1azm63avU5SRDjQZIgWcY34E35Qc9SBT07inexlqTVWHkNzh/rkcpwXu9GK7JcAUzJKSoFksEO9kTaIO2G3ixx8D9oloYbH+QH0crKFK61MeHqkhvC1e9C9Lgf/tYDr10wvPhum5bY6T7cRxqhrcXVioSOtzm1zxMT+uVTyJBZ9oW+IGAYWwPKuLvsbwjHxYaNEOzch8Ygme8vscwlQFQdWoJhOxMqsZaVX1ZNSyMX1qmMtPYBKlO7xFPw70bV0A2/nYf1VBIsWT0WHw6ynyDh/AoKgZaNzpBzlC9EafQ/VgzEbK4z8vTHTVUA1qbyk4J1P5YoohJpSLLAVYJa3zQ773L+jjm1QM4cpY/MoBcbHQ2Qx42+IGjiFqAep/+eaF6gFMOo6lMwUruNOUNlJ+UJz0YDGZFD+vP709MWrc0Nm+quHUMPakqoFiOvIuhFlDF4bMqxzpnpXWisCug1zHzI19e7XqyeQlrisxQ/5CwbBhHVVSyibN3OnCqhLkb57dY9lR2x4Te6f9FccpdHgELfHsgt3I4XMiOwGNpunaDA0r5cT5udf7wgJcN2FOhPOq5qu6FArkcI4hrXyBe3N3WxoPuCJQWAsxBGxGIsA+rw0ReObPAdC+RDnG9XgqMhaKo9F+CcjizXl+ejEgZCdZ0f1x+FUx8bzTAqZdmgl3jxJEOavggFdyD44glskou/0mifyKrb1jsW1tpY8PWM5GXWmm8XJr2zQDwBiK1ioU2CpFamcExuIkaBwXLyNFELI/mY2CV70oBQZLK4QlCim41wezMO4Yys79Jy/0noAk+Jca/WxAeFqPQdeaC/1xWxBgsa67pZzLqpPNXEArJPPGnhuFY9d9JuIM8PwLZz07eb2CVxsN8rESYz5C9V+sQYlVHQns6ZE4hsKoD2V/CdKj5WXeo1V2VYHkf3G8YwCV4d6j272rBAsa2KOeg738ssvPsMwu+JCYBcTljKzC44buq7j4iRm1jztKyFEdrAZeW2yI1KAq9At1+8sQ5p5c/LzijtR2YKDzo5RxowGyyB0Hz8lswNiwIJb/DMBq9mY0mRjsnZIJqsTZ7sLVJYkRe49zCbc2VBHMRRMaWQH2J/IrPara4AexBvwwOR5DGPEE+SHFKHNwMXKi9TRTTaXJUOF/EDNu8MLzjCwZNBWoy4+Qnm/T1FJhDpL2PedLqAgRbafmIxEAfeZxY3RUQldHRSGgBZ+iAoWZI7MZgGzPBTYq0VZUvGbP8WX4o3vFHRo1XxRGHtOuIzlJATOG4e3kGJlo2kR7vkvU/XgUjMO61lraODkFxUXmCl8O1c52wy/KfMGUxUHqcWxynXY9ApsSssr/TPJsa/E0y65CFSuMCsk6LprHe5Ocj18koobt+LUIgH7wlTQdhQjMF9+Q/93z2J0hduhUGWFp+3npZkOxxLxfVI5pmeTc7l2tr/jdmOKw+9B6IrPizn1x7czHeu0PlF3hPqnxyNSURxXv1v52XXzDUbxZBbJeJ+lgTgN5NAKyivGwWQaw6jlit/gsYi31DbPgjT4ywt8ePiJpKl+9pR7GHevGIm+sXcS3ASKm29TfbPW28kVwwQ7zGi1EN1eK38EGh2E2FkXqvK3I44Jb7AJ1UGhCDr2tgP0ZKRnp13OBSsXXejk+kwvKjaOUH0VTjcxubGbdkbpUMmTmJCUa4ofVH9aKTC+fOLzFTw+UuTDaKsiajsmwDepQ6ytZ08JxgHmOA0e8aPftCTDHRBGXoWbffjf86kU2S79Pb9n7p/fMLeGVWg+3XWjYEionximEhoNJT09liX9nJjXEh9WkAD+5jY23FyaqW8UMGDcfJnlUlrgPiGPrUL6PGAlFCj2LSRZAehtcPhGhMhQYrw9BLRJ1XJEH7zPp89b+2etWfRFfGJrgv7KBEu0sgzmbBKDNywR2tgLsALiAkxhEizYR2kiU6BYvoE+xfksi32PcnURzi437L+/yHJnBFwfeccOlpuG8KhqThedN7dIJewlE9jmKQIGFLSrrIc1VvWWQGhW81gqtrWG0+1rcF2f2B2ZtWRuTv0eJ11r7Sdjc3heKqc3VlFNU0MPVSOm/jKIzg7Q6xvn+aHJZuLwjgza7dl/VMiFx8X76bVtXVL/YZnKYg3INbCuY7tW1k+0vGFTohjOwSpK8t9Ao9Ae2KSM413mahJkUvTWCaJ1hr2yTfPNKbq8+C40Q4HUfX5hfhzdj4BHL8d3J7Lfat/EfbU3IQgsAFBP3BzyUSDeBiekrFpIcLiJ56QrCRVRZWGmoHqn0OO9WSHh4b8gxHVmmO4P6V03TfEU3W3juRceS2KAOyoDO01O+XZLt1Epml8bdtO0KdFIRP1A7uKmHJgNOE4/KuF0DRr+UiyIn9sMC0bej/j4M3I/oPCoVA6cgiNDr4Mr4S/cyawTio+/LEXd19i8LmtTMPH39lBMWsaxFqxwPC3R9bAU4N7ATt2IFH/JAFOMt1Hllgp+940i7aIUMH2n7QdYRKGwhT2r4zBgSuQBvgmdt2g9CTowQuZVFQV3WAcmv2yZTWzd90dTKxWHjfxPzlyK9bso6T4BmDMPRGRDtAsHK5sWs0MSYM0AZPAK3K9/7GyIs3pCovC3Lp18dp5CKN+DzIuswgD/gkpU7BQ484wm6vfnedPQ5sC/6d62Z2SaMJFQB3eiSEAn0gscY+cxqHeuFnFoWstOzo/xsIu8d5XRgUIbYFEWJkKCytwjnDtVlQG7nKU38xK1xQPCUKIAtuk7rYgcnXl2zeyrfWMLy07aEX1oWP5UVzlP/6y1ZP5f/JxdCxmoXeZe66RKYj/jh+EeKBEo6lFbTNfxjDJpo0jw/prVBkkFTTdFIT1ZgfbOh0qMuZ3HD8mSRXlMj6GKkFYdqRhiTBeZl9cGXwsBThYfvihCuApNwprDWugOpE9iVXi/r6OGexJwPL/eN60raWftoTOXChe/Gqmv6lgmn7B6ia+Z80m1cv8lqEMUuY2ftuUN2HdCIzsgGZb3Q42G3dUpCbGL318docQdMLOD/MulkkfvP6FlIkUexuKiXnL107yWZxKM2IbEBg0zCSkACSKqSm6wuR7WnZZdUTZ3VzzYTZJMyVVhEoXE9/d6HHFOLwMZjzFja+GzgyXpPwegrhg0blAy38dqyegJrYbeoc5Y8jFcwajgKJx3uEzWB575qFrH8KVLqQtbDN2DdFLkuH0vqeaxdXCGtxxz5ga5yQWJfnpwAGljP7VcCCKcpONijK1kU3AW5cAjktqXty/i9mdn7R3v3HJjuMyfmjyPQb75wlSwYz2Tgi+/PxBJmK+WJBPgiMEwht06V7jDOFzI5tB8yOc0lqBNxWVBCA216RSbO7qzm7bm3ue/1yYNublKd9ZFxbF1PmeISbgo7v94ok+kUWVh3O6IB33FcNsgJX6M3Cg1zAr6yMt/S0gFN+xXNSSfhNlSEDD49dDMvhB1OLP4tuxIcmVDWH+7K1BxfQzQ1HF8xpLTtCJxv1vpYvDbqlhFZAhT8Uo+Tya7Z7jXAPdPxHa6Vermk2OqYWb37kWqTyajEhy7X0dpYNRl270fWKz1gkUtDvv5/Nu8Epf1geJd2L6wq4B29Y8Oa1vTwj2jTc7OQXz5PEhRRl2K8gshnZfpB8JwMfcwI9uODCy83iA78uypu2icNRHjj1zooKFpPBrn3DoIRj3dc3184vXmahDR6QY+YAK9pmRsZj8bZxjD5De4Ae60LzcxZ6xB+OjpxRfGCupSSDlEz2Re2IRUUsHx7cP9gFOcZd5toJMw47X6ed/ZPyLgyPWXwbsPpFDWjfcTbD32S+nysYZg7lEo86P/VnVYRobz9S2r6eqnJBtKG+4eelYhgtCqDLAKd0a4S1gsf4tN/6yph2zP3rn5MAqtji1rNROd/MrLpLvlpAgC6fpWCmTaXmoph2nHkb1q5dqhm92cQ42Tvv5eMbJBecye9H3HHr/8nYzK7Tip7ITvarPdoDNLEY4jcZC85uzNol6KpLGgmLBiJ1Zr+TlonuP4A3cd8ZB6HAHM8yStExox5M5wseg8fZ3mzY7awQ+bUJDvJ4eIWKbV3gEzp6OSsWIx7sBWsYToA4HOgc3Lh0G2mYPsXadI6F1V/naHG5kBssjX0fOPJlC2ICDwYQnvegryHz6cbqGTBJfPE9s5U6mu6NIlfX0k/npLaN7ogMF4F31dg08cQrwst2bq4MUje2OnOL+1ui2voer8bzSVsksLPyskSivZUDxPjOGLp0C6mJF8RIwZSPDJLrWhksyrSaymaicWlTzukmSXww2O1iO0bH57iaPiUagqzlHCwmcgWxja49l6sVsJyEQqrKQQNnPJONZdbaZ8H1l6Gj/KV78MZT+zX9LItFB/IUwNddAjY4REV6tfe7azzL8X3FUmfEiZaZqnX+XpGwA+F9npaT5f2wyOcLbhlMPoZBvNqet0QCDFtLYpSv4+1HGxGeSauQ+3fz42p7dfihwBswcQP/4YtYpF2AZmMzbMYRSszPhcaRCzt5PoPIfH1/zvBr8u1mwXEdmCTtMwLrX7t823b2Y0AslRKCYUHsNOPKuuYHohlf76z+J5P6sk56n91z/XcS3o9szb2jPrJA7pV33sIamr8fm14ozCw+/uoCQxcteL4Wuy1KNZeEvKncTpnKGO/J0qucfUGKEjaKRa8wAQywklwhW+Pgy/acV2T7j7cCGBCCyx8wlK34nCAy8mk+g/4lq3uzycllOPzUVvUOagR7sXDNB1Zi3X24805pXy8wjkVEUoORDqvPbQq80ZV48iBhBxUzma1h3Rx1Vs3Fhu1wbKqKhFxrQ4Ds2ZrcKmjpPejj9dp5gEkOluwzueu2UT/GyVw90DTXk87zrebs2zzVHSsRxT6oO1rLrzhCAlmyERogENzxNFAiFc2+hhh/rmEZHTNZSTp5zNfppS6+f3JnpXeyG6+m5uKTYkk3hVqf9NlwZHWSPZBjEuFC9pl/A4O+QeLpTNTlXy4LgpVdEGd8ynFX3fQfQezS4+KPc4x14ziftYdkQIxxI3UjZTm5qKrsTbfEvzDoVJ6e7qQm5VfhGXtjH53EofZpPe42wepPzUaTFu37heUI1L92EcLJxCnEo7nyNRk/Ob9goc2uO0I8CVQusqTKHXedgqj04MenbskIDBPk8vfrIdd7F6g7NIHjxZU20TwNCC3Kt/5tiVAgesfg/bC+/d9u7zjq3exBQoE6zU+wOwBmOB8gjY81+bO+3iBBUIu8JpSCsw+yafYI4JCOTfr1Zo8dnThaXF7HyJocpWwBZNncTTn+M8Xoc/Vos3EqYwGLOWIaE+014FH6GlIpC0fUDktiEk4zdw/B+5sd9YODAHOea6SD6s1+Vl2w2CgNuJug3kz1Fk/5DAkX58033S3YqKfVN/hDh2VkwTR38TjTkU/oc+g5hH7eWWrD62tfF8tUBE3E2dSngozDD1qxdXHUu5cjsgb+Y14S4kvcIOJCFHfIJYunCrEID3NPM20UU6oiEHjabWPmanmieGB22jGBDgTc3gQW028M8kr1DOF0xAPbTdJllRHvwrsO0PQZ4aG+k+tyvLYJWRYFctRVBVMuNREpqWrUrGkinF5Jdw4isLdR2z2o0XvtRB1bnuS1QCw9X9/5mLEWlmfzpLO9zJidJzH7RfIMryRQFNdRYIZVASS0r8mvGWLxL+r2OIX/4ZS+S9Moyci+RRIwfIVquKHuCHOVNBtRXBDhnuhTNMgBL0KUFDqPVyUNwp+pxBNnKe5G2ba6IOGUgDi7YtbdmBxr7TUlJ+1lzu2kBrVwLXJ3utFnQOYpvbs66cy3ATh2ANARpG6huVHvTyf6JlTAfKmUsvPOFICbQ0FNg0EYQgnv3bTcWM2tOZjPigZbgGrKA4n29Xb1BuhlG7KrvAn6gM3b66VYFUXfsks1U96vB/3BqfQzlDYcsFBIAarlZ9CVIm0f7/IAACWUEdw4z9DS9Fy89otJX7/oOGpgJD3fpGjXbqo9ptfFXw/sF6+G5nxy245tnFJfcbmnWPJYWh+MgqXi4asB3+kqZVB+WqwupD9P/Gmxv6VQEENMYKbhhIOsoa23XkJBKaEEMe7PEk5J/w0DoUxh9x0yAEtd5aSGaN/9Ir2KzXTsvWqIwyPFKAXarjFvw0h7B6G/GixP/iSreAT0bfrtA7R2QwTr8tD7J0boaRgPuYSS61FkJqLPrK3xI25MiKKPOlY6Aj0yI2o+R1w9DKMixhJ5FW7G1N0H2PAG7g3VDxu3jtqkqjMg0b2rTE4F4cK8uN5FJtL/N6J9F51xEwEZRxR4HErRd678sx7vQoM8Q4Dlewrw/2YT8yQzxSQo956DVBxfyeeBs1BSaM6aQoizQ4EOSDcWynb2oprMOI+v1ILvFjpeVxut1mK1NFU7g3Bn0jfYL3eNkzw4klrOfEXglYqywfVzxsK5e2aSov2zq7XzqMqVo4pJf7a3IjPQOwJt/yiyYDBUHNL+7eidNBZZHAOt+BsOg3twa8uwZXpdO4w+Gfh2e9Gv97S6SF6oRXdCSTADjhFpUycmq1yWFBEuXhe8Yu4PsutBJIUuIJKD3dtk2Mzsy4eP9a/iGKXC15fzC+qdCzjXQayeU1ctqamVKw9enFiHZrllwul8G/TrQ1bQu9h4IBjE1KCPcOGYL/JU0qrsPhEteVCAubeRIRoTYDCMIIyy85YBGkhOJhDN9xCPzPDJYzVbVKGGbUYiXuKuUXMuHM0T79uO0G1GQn8sKHwAqa07LneAYe7LEt9pItZ+wACVx0i3HHsFiW6Dw5lnyxPGGjBnbqbWxrayNSNaP72B8FUmC605f+sR4jb1ZgE6C4R/o+4G7p97DP93FuzRzfp8YIE//TOYvT65UTqIXv/qZcEJ/caym971e9MNHm89BMXI53NWPZgq27Dy4LICPPkI8mKtDiy6by2RTDMKyN14af8hf9pxPugR6ciut6qhjtUbEXyh9jl/mdEIm895PZggXTosqJxnx4UDaR7zhKGXx2YDCboj1Pqzebq0zUQ/oMGgVcNupvOLJ8QCQ3sTk//R+XkzU3TcnQN5jfDomzlTB8uzwSh7S1WaovP3rD8fkmnPk0UAahW5MJ5MT4ZD+mBBXBOsLf+4oEr6UunMhkBow+nmeMlQMmaI7AF64+lnLqdXe9SW21Qf03VP2OslJcGkG4jP5zm4TnN/UZv7pIoVH5gFGhAUb01RtbbGx4b7LarobYvDIO77V0l97OM9bvWSc79Ng9m+oOsfHjIRgqoog812vCgG8gGhQj1uV0Cf9pklIMIwzeNfWgfpICUw3ZnET7tEnW/nC4iNwJcTDHY/3Mj/CbxNe0AKxeDT2ofgK8BHF6Y+hhUgLu9v+/o3/93/woELErmgyTPsxKnIzea55rh72JD+GciRVRDRHFfzixwXLUvp2yNPnX32zvXfn4jyWH6brF2uD5/tldkBgD2ElTEGsXBexDYxlZooETIwUSFCrY4MiwJY5+YWaZ6gaCcTtuK3iCA/fkCWbJtGjuTrmiBlSefwa/v3X5BACvvZyhUMXoEjsIVZbvT0UMFY0eBuU/lGva/sDawzlqTRa6f+SUVFppCSaWLjd+VoYAH4am6dipmQm0+lKeykhuj4XjS3L3RfeGVk8sdFOpBXCUdAY+4K2MS4FZ5uVU/S1kVmWVkjR2qM7Hy/1uLPBaw1i3nwGz5Sl3mZuQIR4fWwqgK02REjUy2Gx/Df5BjgTgNqfnRWlQJrMLsWgzTuWEBaP6z0sI87hizU3HV5jUc111uMcmIIbxWaKxDWo7AGo0M8WsSxD79GPWBBfLlfmr5t/z2MOO9osbRKFBvAOqZVEHDnMwKK2KF6Q3LE2I3/3wPccOauAu8fNtA9OtwEuM22bqnanOMXp2iBqKk4EdliHgEG6svI7fyeKXe/yB/6watnttUajO50Sdm6UaK2hLc9XPeWi8zTCrGWkruQHvrBDAOrk0D0CJPnqoncWyxkRUs5sYRxsf5sLcVTtjscq2nt/W7rUwQQCZVc25iWiEcAB6ye/Lgzq1JFyDDd9r5SrwYJ0OEFg+UROWwSFuDFfjck9MkA3IyNnfpoxcPMGxOMIOwuUpZjk5/TpbF+woriCqPDs4SWSAIwiagtS9OWhMbmbE4VKyZjgDGvzXDhU+/RrdWKqR/e1FCu0og7yTF874Y0ETYbWnRk8+yYvgoe9yB58QoiZos1R1L+K5xcCiAJbBhDY2ZV52/Ctfc6MzbjUi3FVbJJXhOQ+Upb1ErS2Rr8jpQwq0Nb0F4rzqKXlgmRqgH4S+A3KlfauomVHQVS7hzW7lXRq8ugDK5AvCyluA9JziMXdWZwiZiJQh8Jr1jsBoyGlet7kk+ejS2giEtA60MsJGJJYDzILePZc4qRSVbVz3ll2aTa+ebraCPwiyHyv5xomIsU+TwFwTs7lOyVdeik2A6xXtVt+XAZSQ1/vwhBq1lezEZE7S7Bz+jqRrHzpZWtahmiPseuIVVky20G/Cr/5xzT3jESO8slvT7OzM6oZHdlvARU3UZ2s90EOK7QHcXeOiVQ/i3cNwqWbpR0C60q/zUapEYcWa5y3w8/lWd0vYJ3WZY6SeR3BiJ3XZBh6l3kXIM3fPq+e4rBmrCpNNWLmrFSdx5hf7ynDawVw7vU/LIkOwcJqfFTyEwe51V/b0PQrWx0vPVIu8UzuAFfs4rt3GEvd8Ab2zfyIhyRyyMaI39JWt8J0N2qX7CQPKpruJqVBy9VJZjF7/FVHAuvui7xMb0rahWWC+XVaspFF6cOIb72rYR6H/1hw539+22DaLnUiHa4I8lDlJ3h3CjajFeDw6Qh4o1IEZd55EgEQ/F4K2knHW2aZVQMU0Sz+GihwG4cEgt/ulIJ/McydUnW/DV4bdAc62xKWPM7/2Ph/bQ7jKwmjV9UwM2f9E0Fkbvi0TEAsgoP6JoIuQ20yPs4go6pSvLLGZY1blM5A77iYpxDWglGnrWlyQJJtH6Ui7iWGs71J3dOKQ/6YNy7pPJrEjShPq4nAxppSYGK0RSTEkboD+wzf+N3gsKUSR96Ww8nxwb/y5GLPlSutbAuf8Z5RjYQJE2yPI6+1Wn/IwDw2XjVlSjytVlwU0nWbAfGK3GOu5u1j4lVw8J5LWdkJG49MZzX1sD0kD825OYDP/nCq3QG/NJR7R1a8+qVXm3qxppKHSlej2MYL6wr62DJpqbYlea/cG4jX1I9BqdbnB2Up+lulYfy+H8AWcFJn+MhYfnkj/WWgV4M0S31J9bGf9pgqF3duCMN6qcm2R97Rx1k0+2S92tiQFSKRwhC4Yp0svs+Jj0eylkc1EUjHXowH4mvK7ro8kzptzyRgsuEnySPx+tcjsWJ8Dp4Ixj/CsrUeafXkFNZc5uQUyJerhs8uJhU+0y2Bf9HPC7QglZA7zzwVKbPJLbLd+NsdT7eyqJRr85ICIRXHGYQ1L2od9+ZQVSxw7rxsq3uVD3stXbwaZwPMUBsdlPmRqEYoNufkgYOfldShATCMq0tLzJfg0YaXQG+Zoc4wpzNazssz7Fr6G779Qq8ueMyiyDwARRwoJ76ZZ6P16h/uRLoDEgidiQiA3ZtVwn66TNRsThN+NMZpKinZ5C3bfIsONUg30U7kUupSlzCvlk8MB/TwAu7Gk5I5XFs1Tt6aCUXbCZkqiobSVRlWzNlacjshFfd/cvTwrB7KBBWUmm4kKkgrJTCC/EQvFk937Jjo3OGFDxSKabJiUieWk42vtAf+36MWzz8f4JHW7vIO6LK74QgoLHCkcBc4oTuectE7k5ECX6ZwWlI6lfHOVRgbbXbIHwg7SRHh+8O8QL6wSVKQGEC05VCVIaUT8fdcUv7zFUSkMmymvdS5eA+IP8zYOqBstNvOJjW1Co2NXAfn4GYgvin1biN2qJlSlvOUbyOvm36CKMS1LrzxwvA7GmC+DKxd60aJzFeejWIkKnWRCJHJH7OgDOUD1Cti1Z0JekYWMDzlQ1nW+syYlODDpFJLO/BDEIwt9/rt7W/UOswm96bxtBssUZ/9ntC0sEcCLmmNPtoGfuFBLBtsHaYCzaR1eMoRoBZ8SekjN9f5nySRFhSjdc6pb6Isvl1Gj6s4s7ErxebOMHQrF7ADMiy3xL0SrXWohuRhg+XJmm1QCFi1nMPx5k+p+lN42WTq1+Pb4F6RHXvEf25K6WLl4UTexLHFk+1JQT4xzC8M44rqWw0162FAdVvjEQxKpXsKTyF+MeIxQ6M1bXdmm8NNORajGn6O26zU+pHS/Yn52zcfOhk6+rgbogZrMXmXVpYKVLhax8F73dgS6tK1UglPM6lv/GKC9l0/1XCvR3cSUIXZ9mcIBEB9Tq7Fb2rD7XW0sIzmb7COJr/4HtUXkdCQI3sLW0m/LiwjlAfO5Td40eKiUvnq/8oJDZZW6UqIEm5MXkXJSHEIiIz0RnI9f4MajFCgrTefY3PQPgHogkioXzjgVLLEK8nRpp2gl/MJ8Ish8jxLpy9F1gZuphJxKVTVX+m9omsneStbIAzxupm2sSaOwlVv/N/1iQ8kw/2MGqQHiosCg/tM4W9CYDE26s3CtgUa9exFxrqdEjTcfVp9gG/sqedOeh7NdOqjM1Yeu0Ky8oVGDVgbYL/O8/yJ7iunNlZDzh6xdwOvqQRdJGD4BHwFvPLwwa26W47mRS7r0GUNsByxGk+iOxS8deIHj/PerLIEH14CPjK5i5O0cQv1f7SlS5/HjmPNIwVEdm6cEoAk8CYOj5ZK15Osy78RnE9QQpho05Hr+zjr9nunAZnEt3zIfEJeMs+woLY1RHdLZbOt06Myo7X4kUba9xO/P2jFqnVJ9r1U5EzP1GaBYr//3eCV5v0gsrXh5LA9fKdi19sLrbyEmZyUNSoAI6pvv6+llpxA8mYscbTpd1lj5tKt3R2bjhfUO0jUsyIviaZQ2i2olehVCYi+k8OHHdX3+biOL2AkJ4JdcVli5ob2PCsKtA0zA2gYhO13MWWwfphXRIcC2V/fL8B58uFQFB4nzvPKKji62OyInGB78GTiedLMgA03/DopT671au+bXfhJBQsUY5GoZwLaXBKcZKGY4CAGeQzmmrDGa+MCVgcVsgI/ZBOB/jCdrW0LcuKxkcZxVobjapKCV0Zo0QX84HTpGDXPbrj1SaBP4rrtZUNjFPVy8eEieQZt41KggFGI40Rv5BUA6FrLUM0s0uOfWPiTT53Y1MK0U2XCFlvWBM6yQl5CmEmXBRD6a2tHlQoSP80Wj8TJNlhvm7JtX5Je/dn+5KyuG2MwSL892cr/lM/PxSE0EEoX+ylWwMuCnUb8xQdyLvY5u6rxgnDuxlwWLEayjm5ww0+i5qLSbOeqyrBP2u9jTlVjTwchrtwaO3KOiRoBR+pdCCYdg6CHA2UokDxm88z6lrS+HpkRSgO7GJuJqojDl9bMM6+/yR24T9CitCY4LxxBt8wFvkUAKi6RFxH/o2gzPKgv7rc24iqNJfc82GmwAp7gAxeDkVGUPUegR1ot82Fyj3/iH2zHp0Pr5o129o7zwdGAinrkdCoUbdnJTyvhlpZXLnJBkKm6J0WnOEdQMAkSFRl8PbOTifZhZe12aWmnqkJc5wozIZYYrxFpyNTQo/rWI0rpACGmSFJgbbCvaP70O33P6qsc8JeRjeJNHyZUIqN8vxhZkwjAWSno8md0cjWt1EJV8gS1dyr5MyQ2fD4vQL0uep+N65zLjghKEivPD8bBlPOeEniakodVQYaFtOmxEJxzodh1CBRt3L2mVgqXu28jUfPPlzU3smPSOFFOoePh7xs3hNnxZDXoUoQ1oH5cNFFCmm4/1oCxInKE30ZakIEL0P5g3vjbbQCVR7VP/v2yYzJOKtdM+3s8HjQsm//PViJo9AsWaHOI+S6wxSnSgktrZ/oeOar2aKhbfhbTSdQMwsW4SXKJ+gG0Pk+z2tinAIIwFnzLdxA8z9WGJKL2uzIhPhzTmd+3roF64CAva6/ZLPJUdN3p5hB5tiS7TPl92F5ge0SMBqlb5jTJ75f4SDNBc1IzvfEdyPbww3Z5LZrL6BBYTSkeny0EnhFT2sbG39PfI3fZbq387HvCXMaE2HQVU4MQMIhnRE5FeYmbZBZf2tZxtUPXs+mxn/cj1X/uX1Rrkz3xwivbpGUjIydMmz66fyHgm3JLvqD4YRhizYeDj/vszAoi8+UNCXSNgDJX18fLUH8Yz9wVukvivU1labWSF6/sYF/Vc/uMHV/N7AC+EC/1J1TmB/BIrTd/Sb5woiOuh0S31qGcK/dltlRA4wikh5kB5nqZ8lgXf1NEPsGrkmCYIoWdX7QJzF57FFC3UrP4cHUXaPhTZn2NgxmBOx509XQfpKF/WKI0wPlfLJeSiM9LwYRHVB34rzBwJxSWJXBnLn4fxJKH9fyXdbApItX3DbiQ7aexFbUtOcVE5IWDA+/FatTYuXhNaKVNrtbe7wNyWhZ/Kl2hgtPtqbfJh0R0lAzH4WFcTCAyYvzcHa1kPaa/whJaW4fJTXV7cEKjkE9rJLcgM0+pXb+6nVOnOMEt11DznBsRYLG5fPrzT8KrqN9hY6kH7xxx8oaE4i2kbfyl+avGb7FamUHeSRzbE98Gw+/UPH6EOcGlEIjmMGxzGGqHN82cw+UVJG9MuIZVSoUTuQBmXTfoLaSkylNm43ufbtQwreTp+0Xdym6yhtXVmM6QHoMi+zZp2R+aGqc5WJ14kD1sHVYN9wMYTGeppPK0ITflYht4CYsMCxC6UUs7JHCKLugcCD7JaI74lKWSNgCp8Kxitv67mqDHVyKorn0ZwVJkDu+Evrq5P9cYMjZ3LYfuCUp0jkdiw9s8IuWjc4MZvms0DSEgnb3MLFa/Z2G61s/+0MbjqBnYTddzrkB5FoqyGVUNRaghrxL5DO/dck+JnzFYJz/+DDQepMJQ9e7M6Om4asILUVul1ISd9KB4FpU7h9PB8vCt/c6MlmO2lIJtVKsSJ+b2vO7gljXFOae95nY2MI5JgTwi5DaFZfmWMCSMi1QZkOK30v+of39du5sxcV8JcvXITEGz+omR1kMSn1uF6wJ3DgAhFFTuxxSwc+P1+DnkIBoEcdTBWCj9MZC/9JqrzXWkSweVNptDLy5hZewy7FB/j9kEM4HbnOyAq5a5wf72J/Ry2QK9gExxwOEnCmR/PIkvc0Wj8yLJNF2np52t9XMoaU5knQYrlxwixKfnkeuURaRrwi2+NZPydJbb9bJL1FVvTmGh+OHKqEyUC1+sfPpVzCkWWne0NObLY+vc+gs+0X9qQiFzzZ+ZoJEOYPMLTwYHs3i268NIUt8xgE0/2aph25O1bzNXMmk1cJlYeJgFgrHdesSHurBiNUR8gp+A2g4G+T8LBzgXWCgiQxGoWIfcxcmKEroT51OOypEspy7x8pcGM30+5UKJJjgg3AJm1oMXqn0zXhOGXhc1G3kRb09WpBKhl0qxq80SdEbRogMaXMnLn4zT0lmlOmW+dhCuCa6/Nf5tTf3LdMwpZHyQHEnMVdcO+QKAUHBv7qx7SFUpeG96AzQDziYuTBR3DhjDW/z8BPXVWB/HYWtfBVBjUGQt5FJqP+y9aA3gYaHYcbqC5UkAy++6lfSbcAVMhlKeMWdDe1pOyfUqvCQ1vtV904CiOB5GXKr4pJwSwUCFlf10KJHJ4VZGBKU38tfyLafQNNtPHL87Gcq/uUhMFbNtkO645+mX0zrCzMV+eXaNsu4BJlDa2h1AUv8NpEzaohlwMCI362Rxn0uMNDPBZNOSQRX6WghyWp3bXf0vjVitvzL2iTQOydizUPiQ+EiYmodIVOm8lpeQqXT8NwOFE5xxZvMSGQd1f/fuCvGPnuV5lRo5n4i9GrH6XXSaBpFdWGmFz7ccAKamHiAA3j8P+IrhRA7WnYXYkLKSYNJykRAkV/pXSUqWj8oMpvNSEW/UF8TkFALq1I8/Tv8uuYGrdstN1J1pDnIuqe73zc3Pg2tg/3RAMtuKrgVJxcoSnc8IA/fDR2FEeL824bigPMnUQo9jHwMf2lGe/JTh27vkTX6Ggxpof50Ul5+1jh4mjEOMwSGVJeq3cgI3Dj1w42QbQnYsw2gqO3atoYKiaEhUOriq/cgGiW4lAhbM+3Ydm0KsncLuocbYq6ukgJDOZId4ucwVBHC/kK0rpBEQmNRQktPi04NnKItNUP0dl7zFTGVnPVq0UglToBQfpi/hZzB3BqgrYXzStDLX29j559us7UzX2icfEnladAfOMQB75rYo8R9tGLRKuceImv1HVRf4ner0CUvSBoQE3OUNilx3FNhSTM2ELOatcvSoSKhvqmO1tki6mVsFS/Ebwjj7xA6Qhf58DbgxOYbY5/nPG8U0S1DXcIIpUufeSTrQoTgUqEoo8AdIh6cdLJjY+UOpW4OmDWV8oyMQVvXn1D7TzoTJD/aiCpjE8xtoNAVqR0jagyhA1BfM7wo3yQCorx5pzGzA5M9uPcLKKFFP4R4x4TU6tpWdrWoSK1jHN7IRdpXgjz7JbHbfjq5qXStOFK4zAobmYCDkd6DzahDbI+6u5Jxno0MaB35mgXJPyIuXFnL/aNYPrSdop8p9HGZTj3s8duk846JlyCY56vsmc5u65kEdrApwXLbAEybHb8/W7BjGdoRC7RlOt8XQy6LpBlTj+wWNYrjUNLpxBKuawXiYmnT4zmraxFdnyC0LXH1Nd2R8cogx6sg9QEjQ+YUUTZppyWWr1KODK1QuREwBTvV3NHax7FDQXyinuZAgcB4cyOigNQBEPmADEfA1yWEBYkw13foEPghAuPAIyA1wLa9m2PS9dREaa4I5C+ywX+X4i7VGnWsb8bxnqfENClQ2jRDNGfFj88j6FsZKIisOVyRaIbV4GvWRkfLu/5t2RmvPS79ZmYJsh8ln57TdSMya4zz8PKMWraCS0Hm4ZyRkQ3quBry8fdAHklHS59+EzBSSRSHZsez5pfM+kbxuNkSOZWDDzIQ833QMro298/ukKHOUxO9HbKqh+3IfCncJgR7Sl9nWUlHHDeFZ1KnoGZ7Sk9dhn/Mrxt7hgIOx2OnwnXCg626jx2yDYy5LUWJgXH/lbweGRGX7Pk9iHQ4Ln3YpbBkVvvD416xNabACMaI5+6y26L6kivmZ45JI8dtgQkjq63IBjmBeowaLcXqiiG/dozOxPoAgadZi39IYIfohNbpuX3w/xvzEO5lUzO1isfdH2r9tzDfiPVTkYnjj8BW/d13crbOa1f3P69u2jE1KoCknmANtS9fTRVgBKowQIT6KSLVO0HO3SWt4Ocj6PprSu0wK6YGdDk7BHRit3O3JoSNhOPt+9dzE9XCXTl3rTe7ueOUwMY2O/gsXaPaEOW7ll0D52zeBZnoxzXBWtso5ofwCdmAwbe+F4dcvj+2Gi9B1KRePkDTBYFlNRAAzIXsReArXm+dKvCOIDfWhSFPBDt8FC5KVLtjCwFBqTntr3kbWdoOuWMPBp7stbE0N+gvH9v/LLDB0uMzJyk45v/1oh9oM22l24t8eLZ9lSNLUwnZNHTovxpnIK11vHnR1cGaSfPl9CmOZLK1R8TktA5cWFXFTyM5jmzhI/zXGET9LsjR7CP2QDsbUlg4TIIVisQJSYMwI8ISJvddzC4FxpvgxOSQIuBPyDK5o1tozXNGAVLwuAFU/QU+tg3TjhJ5TKA9Lish1ZSLdwH5kVuoYsV0eekSqPFU1OCNJ0xH6pJ/Ga13ktcGTklUicAneo5o+8MNRDbH0SeriDA4aHNAsFkLUT66JLPUvfJCT4l5losWH5c9K1PGXGQbnyeH43X9T/2BOeJ9S+pZkp4wYCn38XCV6XNHswG8zcHIrFpFE5gqGW0c3W0xOGBTBceg4qL+Sj7FvdTAkSYYjWRKEa/oGQug/2XemBGhwTeV+nzY3CqNjvG9zfP8AryfbMHzzAVYdT4teAGbHd4qk8BjdatHBFrRn81x4rVFsTE6GiFhNiUq7uGS5+7JQRuYz7CSe53SeSjTCzttvzW0hjefpgIFOSm1PA9m9q5Aex/ZQ75KLJH82arHkHLk5nEOevCwyLgVWHhjAYEGM/2J9tYnJjExTj9fgnrLLfdcStHr1RZIOv8qz0s3A/eYRvf44ITZmG6w3YOQ9pqnxGwuJ+T2T39S4da+pV7iyqT7ZAQOMepLAWMDbnet9cVYrIwlgKZnTQalh4cGxioQa+JiHr50Nj4RM0IOkWU6a7st2Q2cHwNNrSQ/PI2w9MmsYPKwl+sS1W9G3S3j8QJ/X+IoSuSJ0DLUoEOhKGYEKxOBGSz05EfUVTBKwsgTPHUCdMps8HFe0H6iDZCHPNAT4Js8qRQwoVjF1jKI7sab4hwqsMHLbARR/XhduB8CchT1oTq531Ks1D7SCBGcM+JOur+MMjwHi5T77xXYokCxf0V0qupwXZLUWsAll/+QcD5+c7zT3Yg6YGeRiq4zR7R9Xppa9ZxkoA8aPxsdMmOwM5fp7nXmGg1AegO/vMyR5idBB4YMBY3oU/CiseDdi3RZlg556MWXZGLEt2V6yY4d1m6VvoAv7qlSKy9YtpQU+I5+LXl2xVuv1i2L9vvnRcI6nh7igQTgPaMl9pNKNezeFH+ccBqjq8cyR1hw5YeYU8CgHlvq2GsoC/VjPVVrLlEhc+POY+i+hWQtd9eIk9zSxLZn0hqHFQatuvxgn+ssZZf8InzArwA/fcmc/KKo35idHvYUM6YmUEblPka7hLsrYQarc5U8KMmVi7Z0xqT+bkmp4qRihLCs8WoyCwUoZHZF5j/2VdgYk58NCla7YNwMOhohrVhy3w0ybd+NHkIX+5PycKJf21awOjP3g8uFDvOVj/cLtUYK3h4wUIU8utuewCiQBejKsUqD+F+dEA02iPZkiRJjSUhWLQpc/bvppoziVQEkv5PEdo/wtFOAIhcyaf4iSP0vAbHH4G0qNJyLjXE5L/hC4E0wg3s0sCyCKnXkwqKnBlK03j3C7PlxIGNhQAtSNBwuf3WtuXHJ4tIv5uyP/0j7Ao3CWsjIJfHbxACU4JhQXtqesTNNcmsyk7SgpygnfS6nQUcKtrqNBaxslmM//4I6dQCusYyMp7abk0Nv5FnHsJn036YJDaYNywZ6Jdf0Xih4X7tvsd58IQs/Npv+Gm2fcW58J0Uy2zzdk1co/r03M6o1ElFiVfWgZ/0L4sGN0/d95yrn/2Li57UIrc4ylho5mr1gm6ildALEEtIQHY6Z3Qk76rFuexQNqcUM79xCTBxgsuN7gj/P2KNse80BUI+AQ+b42hEkFxRt6xyJ8rlUFC8qW+TU1CqPrx1+w8TGoMWA/Ds/FpjgwlOX1TWhC8mRHSsviGz167JkEryKI9PUrJ3Ssq5rz7ow6R+GjnAggkb93VC3VqAGslhOzcNPz35DCi3LCmBjKr+O4c3VsNB1nNUH9Di7G7+RopGE0WkBFh9cLuNA/1LiiNH15jQG8sRqLjGugat95j9au8k2f6+PMEWtGbjCeZQFg6H3yz0S710QDBp+X4PfGlNwmy+Aqb0YvqRzhL81UDR6oRpz6NrHXPa0ZwJOisDIzkOMyIes/YpooBQllw59/uotuozXosq/HhT59nJqR+G72rTzFPYGbf7c32ReKjQmlXacl3dORyqJMZutDIizOGFbrYSyzjRbyswBG6ytHX+9qMtw7nB4aGN1cc7vs6OuH9sRR361msF2I5P/6e8TRgDRc9onZ2BY16HfkZnDr/jetUwTg5n6IIBUJL0I9Uhwq2P9pg4vQiBSUp+j7ooLfVEayQ+K3Lq62E0vjfgktE35OA/PDimckNicxggrmWM3ABj4U8Cb7O6dP0pfF5X/CX2ow6JVIfYzSn6sGlY3gucfl7YBkv/Uf/3q3xYynWaiJR6miqZi2qceJapFsXyOdeqr2LYRtd9oGyQfnIWOndjSOsc43cuorBZJD+AcDKOjDItmo8GYRPIBxy/nRfKz6Mc5f1z4rKLotlTnC5ObUYwZDdnB3WshQ4ucKlPGxqHCV0B+Porle2ZtDTYzSoQnNKCxR+5B0UeDXBV/SbyTfLpEI3aajpjmBzrfVUSMS9xLM1XFZ7NEb4onWIcVTKsRSProPslzu/w8epIZnPd8e8bx8VMSZJU6KrtL8IJUePO0hpFlQFN6RpUPT/DwtK+KEmV0pPqNhHyN1+g0JH6OrP7CxhfwD2rI79pb+OGULnphSL3pEMbTjPQ574THFbQfNpokIPr2aDsh3o2cLEJZFA/3duoNqFBeroGFOQP8xJ7hKn+p1hbNsFVFwxl/V8JS+RRfr0/WyhqGKZcmqW3p+tPAU9uaDnu6fw9+VdkmgqrABFA/aMOyu/Mrv/SY45/isGObq3Ozp4nAkpg/gxIc1+3ybKV6aX8udQqZ6zEwvZikGRLIU/K8bQcHXhpr4480Yq0twrXFCv62jwNQ1qdsIMLRt4jQZPxw21PEzvlnNnIDRPwNQE9hIocOHnCi/krBKy17KDJxQE30ufJt6G5hJBj+wdnIMxcqeRLAhb0qdN8TGdJ8ANPYsPK6uYrtNBi5GaaazF7PuUnNJGO7rvqcp0LIr/L+EmvWV7PyKOaS7jZ+2lhwA/lZxh32/1JaJcABHNRdPYYggPxqeuQY90BFdq59gH11J+E2nGE2se3vrmtcC7UWnqAnyeAJQ7sRr88yCu7YOEvt/H1xlC8HdByOpmcD8v26bVSbxgNDMBldj7hvSDm6uphNRNrJiPZXFr4rYexEqymO5px2yqunfMSl8SDz76tBKZDOP5gsLVyiSCliaIYeIrMWF9zUIImqDpi/zQJ1CW7uXEGInBygEHBV/Q4s+QEjAqOW5IItdngwde5T1ZKLKek38V6QLh//9QB+dR9QGD0l7RfXu1Cx+kKilGHvzuusPnkLxCQauEUpPe9CLHdIk2G+JtRAlmhTTx+fG0pLsGo/4K/wX5o5XhFzOQNRqeY44kZcl3orTlSUVIPh0R7TMviAT6TralE+wpgCmPeFpCN96+jOivqbVKMDRBtaMtLUSpQJQMtFvU+OJ/93Et3gZZvqR3NQC70IFWzqPZzhaasLjvV0EwmrTO2LOsZXmn57ToLpNrKw12bopN+NQlSiP3LSA34oXSrV4mwc0lzQyUjsAjFJzGK3azx0LmRMfZgJnKz8zWEYeYGexsR5PEzZzNzmR3U7aCLb6bakrX56aaFP7OYLogvn5er5gqqxzSbmuaTma25QnoQcGe/jh3j8hUMXTQ3cqusSrL5HD6EsZkb3B0+BJS2rCGOAT4opAHPUKM+y3iyy7EXKaSWpkksxaqTBMhc7/CL0R2Bm2WyA0HRytkDSEZzevUn4AXA6mRQeB1b0WiNWcKZHp1fiE+edzuy4UdJ1Drk1nuWKrrvcUIk4k2u/MW4/OTardEjShN9X0sqq5tnYe1cWdSYj7PEazeB/I6WhLgjfclKudzUkyGMKoqeRFsH1PtFvBqhXz22XrRNFUdJcHhhAyJPzF5fH69+d7uxWrYZ2UADkfQ/UN7WAeEv+vD2rwNPGhDoy0I1wvZo/SxPDqKf7oUoHmhI0wXorB81g8B3r5iIe1KaFTo43fsCOeQwLeKCbXuGz44XILQMGQ1AWEeb27/r5QFm1qD/VtPMSYTSpNsa4ZA+u9b/snDxNU89Zgf6PXxkNF1+W+scTeb90Ed7IAnboafdf9sYgqeaYt0y/+KV+Bpn5Nj3aoy2PZPcKXqjohMP3cRqtUC9YLeLwEfyJCcnRLN7PoIq5w51SqOjcwn1gdms9M2+ZKPkeS5lRbF/jwuaRlWufpg+NR+tu1cVjmP6cpnMs5vZbddB39JRxlqgojFtvCqE6NukdiRsH0I3ul7v3G5p+LJXu/T+uPnOfl8TT2YhRljtx01N83QCc4ualS+1h+9h39Q43+eGyvg61S5YIXTPA9lW8LIE+xZWwZeTnPqXcq/yYt18l9+geOPN+IGZDTG0BqDzAv9GhmNJNtVCwT3UqOzAIjEVpBrtw18qEPS4MHX2Fi50M2F6c8lMQJjc+IxhpXAgl/Ha+QaZQ7wTh2MwPpMi2wdLuNTQfJX19gRu2qbtXqd2Yseq92279IkVsYs4+7rvjUJVcCdKCyhZGWwuODzRh1I95A80Ntxf57qXpia6QEPnmPYGgvBbi2jsE1eMHJPDPsGWUqABA6062KebqyDTZfcX6yWBlYOyTpoJ4SLpiPafP45sUkVFEMcxNI77zjgYJ9ie/uTBUU1MeOOMjCIaRTT7NcGpID0AhcG5Xt0vW6pC9lSS1QtUB4VE6reo+bQ+kFTaALFWe3ZjGOMTYLDTL4fwGGLc1agdOQO9RHexuYN4wNltEcuii8ZDXGRcZCn3x3K4OW8qWvLwoh4xhKzOZ/v5L+dWpIiU7U0cYSHI00o1mYxSXPxL9KuXvUPWTZz+ZUBL7Ygncq3kmUp0s6a+s+vCF5KSl/DUFqbcmtobBeKu7inA8N3+PD1Of0+gVmAJewm+XAELrIXr2V+5fDkhPJkh8C8kclNgciGjuSQwStpsRL6ELFRcG2fk1wsXyYvwfMni+4UHaCIVgN6MLpcQyUDO4oBD8O3ZweT1hDbQ2y0/Wg8inTYj/1SEJBmIJFZfw2GMx3ijo2npAsOVV6BOOAb61Jz3pT04pPazI1q7J3oKBtfPjeVlRqZ+9+YCuO71DyK0mtWg/S/SFv5ga+bdoil35hpCqJDLDVmZ5jJci7AM2E+sfF9lHXvs/w4q0DayPT70krosAzJ9ByUc71RAsT0L9AQc+Oj27RhovjJsc+bDUjqV3JQW7RFGLB9FD2UUbDg/ZeJFSibeF+jeB/VFjZQmLJ1sd0NBZ/mhM0ErMd1cMSXc3a7eVQb5GdJt9h5KHiCUzdAR+9i8+4cKO/Y1nv56HNiAPnC59Y+UL0Rqkox8NDhoC8iyvIrXSWhpXMpGt47EXQ+6SmOOgjzBcZanVwOKFnLotRzcc+rKJOpLFGRa9AO1s4fT6Z0KCotRr/haX3Uq/PDeEfI3+JVg5LKXZ/ZFiOiiZSU+UJabjkLk7w9GC+K7XPZ/Gg00nLwGJ4jDapAvtO/95CI4lVFBDzcAQELny5bcDCEZjdC1UsGsLvYelCHeWepMwSXjkN/0VGbgZGqG+xrehmIg3qEmhVdVk/ytA9a+M0hoUvwmC7MEK7cg3GuwfPShVCDSm6sWoQ295bh+OFRm0FuzJwr/Jr3mI1P8R+PxrCQSQoZgGPTMeDRacUmqAcRs6Oa4h483ZytlYtk/9mwu/IZFlPiD2cr47lf9zqib24SiCxRxy64NxOaWs7W/ZX/lk1Vh+h2XbpfNZPpmWH3Ar4c62oAs0A1qQHOLlLjnKUm1j6TYVrC61/0ThghuDJ8xBLobeVhkOUzN6vLHOMObfzx428Iai0RIpJKMBa9wmygwzjGMxzMsROkF85HGGfRBPagX35LIia+pAPzq8/Y4D/sXNJhxGv9PXLkX2BhMkUmzb+2MQNnB8KiEvQBaMvuVhe4UAcS9+dYJACuy6LpOAKlp514U3wZDWNF42R5SlzcxblFVhVsNJLuomxpKgNDthdiWQeKNuk8duM5/Zsd8pohjeHC0vG1iOJtb/4aH+obO0VnB1njGSRvzIvJ7dVfljm/S1mNSN8tjAhLy4kLGR9D/n9z0FmSuS0IxQTPnxWSBkieUH2g1yn4CR41/Rcc7eVBH5voO6Aa9oGoiP0/9gXxVOl53E4UYFZHJQHcZjyI4VGXAv7K5uNDjKb3yMecObzZfpBbZp+MOb7MqW+3J8Vb11IgMBqktwd6VK1k/ID7XA1UtPM4KqRE/FqakdT0zeDI3t5RjZ+4gb6cVa1szcjtDjMa3LSsIq/luptFTXecoDcNcovp2LeTGuaaXTkzwTuBvZSVKZWckGpWSw68U/JRoVhW7zy5GWERpdLu3SZkVngLMs7UiboygW8z/eoszTromEu6gSungbaQl5Qq0ngvsLiyWY9r1QWzl/uMqhCYF7VUuRCALFREWTlnOtpLrI7pPOZcxwjJEK/9u7g0gcifdQ8hl5GfJ95Vk6NHfDUbEY4iH5Xx+jbYj4UWo7AC4Ob4kemRI/F6jdpEoK59uh8Gtrw8b00fGc22OkxkvFrNKwT4a3N2Pg5zoubHKtpXNQFkBT61VA4Wpvo9LnwG1obmjLYSx+BnP1hXsawn5Ag4jCKqvu82oWusbkTRvDTSX07oGFIqFtuGv4/v7vozvrmpzjxSbwzJDzfb/m+UDjt7rgCbjhWsqPwJ9Ua9KNGKfsjIwyTSb42E5/xd2cUtrBVfnMIubXXC7mKxIsDKEMNkhQuof3RnMd0/JbqhEYCtQ28wz+9AUA46TpfZP+Z+tfUCIi4OsJ94PZ5AA2yZ2BuS/xMPpql8S0+Fucd0rZsGmOVIy/amWogNn/kYNzuIE2yAa8IqC29Klpr1koIOFCOyEOGZC0ODoc/XEGJAEmpNo+vGH/7VeIToSDQbge9NkaCVMBFWIcuZmdrfls9Sy3Iaus8llehwcQxKAyxgV6CUU3USn4oSpyvpR1hrgXpbchjGGbtw2IRF3dyVJ4ZNfEno+Qyf185BKDt7nQYc7/yy8CxRa057YPsO7mXXV3jZC/r4pHDn3htUlQS9is4YvaXgUlbCTVIMWGMKARO0Iy4jjC2oq5N6OIRh+GHp4NNsrHAkgMQCfyXiuUfUsS3S8Ub8G2H03R6QHMgkgdbUzYDCAYmv1Zh2OCbLw6RpyyNVv61ANriOz/lOELSpKN5r7sNkNtG/UO9BRg59KnJ0qdYxtu32JMtWEmZzqhFDnZcJtSKaWoqi1bSkMCJMdfXPleA7CFxNhlW8zsyReQdSd/11ai7jWsg6GjYwix+fySkybrad8CS81QsabK/FN419mdplyx/T9+Qa7cZNmnNBMQel7nEFXaMrnv2R3HqN+mys8783HWuhQU/O7188T3JcQRfXRurFJp1I/rVoNWimTpM13nwdpqB6IGLKhng9th6+j1zSho/Fbo0MOhdLH7PMbH20iwzODyTJOsCGo6tTKWYiaWWsNM6NsbgdJePdjWIffz0TqajSi91dtaxyen4wqVmN8IZxiM0qKvqWMSjcBSUuJ3kUxPUZ0jCVXYooyPM0jdzp3BDDlFr0uhtQEyWrxLmTf1BzVkSlrwsCqlMeEu48x0GYsoGT8AluUTM6ooCgSqi8vgC2PXGf3SWwd6XsX+ycjKEEc8i5otxDqIKk/YzJE37ozddDZwpqIRLK3pw1VD2rHWlgNGiIiGk3efMnEhmL6vAOilZnZbd9wB74NCRhlaQ589VQkRIMq/lr84aiZ97H+QzL7DfB8iCCsV3tNAjTVcDV2wOa0Q9YatAld/JLmq9eg54K1SWkJeu9ijTAmutZoP8HDKRY/25GTglSfFyp2XMIH+vDQUQpFTrqbYv1hRK41irP9G1gnw2YVufQVfmtuex11gV/3bf3BHwcJkN9jX/2IeFgG9RUvkvZMBC+k6XXfcPo+eSlKJqbJS5alXD862gj/rSduAmev6loh4QkzeVG+9MeFn1v80MvF8DrevRPLkNnWDb2dE5Mf1MBAi7Q0ABtHcjbdZ8vHYqXIo2IcdtnJDChBLLgpERvYgVkh9RMKePU3+PVQPbrpbba8Q8AMYEzZuPRqh/opv0QbM7tzOzphq8vANTiZKn82DS2QBNMiMf3leKAMV8PfyXEoMxah+L8u0WohsFxTOBwJiEA+6q8is3v6pDfVM1ZdPcfd81k488cYjBXBIp5ygq6wmHPcezLDNqk8RnUitUyZPyvfpnZyrC8wdb6+qsDLLnF2+3+5d1/0PWZNQiF1yCi92lUfx3OU0km8OKcAQElkNvIUfH7iQcEv4tDA/kY4xE4hQDdcc+91l6DvfxEZDMlqXPFcZtd9m7uFG8O0k8Hub7qpXKTXVGhJTSAp5q0wF1L/qHmReV6+XV3lzQohpHdEeT1bg4FtuTejZ2KQqHjrhD2GG6bJYgKFBYX9FFR2M9Cv3I7cD41ked1EAV3eGP9mo7H7VlJazQWDsRy4bP7zvMio/ucHIsh2p6AcvGNHUgUzQmTrDXZ74ABo7t0UNVYs31rykT9unBJptpBj30JkmcLovRYEmieO9FjGa8RU8Z4poAZyTA74ZaiJEen5KwOqMhgmistgA3rLKiN9MYJYqDtlIa7Itup9fOg82TwyFqIBhaNxIQaqGD8ogGxhah3nu+6hZdVkV1FD9H/HKlbcTGzmjdVES7Hf4eQU/1+RkY6H19ddeumAoo3+6ur0pR6xkvY2VwYXzDI9pn8qIoiikZSafeVBmuXjLDCNHgyylaD4TdP9emD27g6IF+8s/DT+WsxYAfrku5ScLDC9tCrl+ArNyH0kS8CIeyEvl8dFHE7cnWkCFNtt1Mt1qDTtaIGbfKRr4sgog5ud82qLvMDuupYX3h1OUXx9UTo5SEbTrx28KAcr5zG5XJ0ekR3hdA/cSm4lsIMZZX2Oe/5NrpVOaxN04og9m0vNrNAsdprO6OnPOmks2TVwGIzIxB7odcAa+cpc+/XitqfMcMfZoVeOaZtT+SQYpjx+ZcAFjpdMiQvplzmS/IeKH94+AwvUnHCZ2/gw6iDVmwirbROnTbzSP9VIMq1RjsVpsh3O03gRIXJaTne8ELU0gcbwXuY88/Vr4nwbZKuhbSXdN4K3q87u7X8fLYt19otCmkEtk4EJTZcZnqPTGpUptRTcSm7813uYT37Ktdvndf5bziZwLRBytHabZrcKS10r+0h2vvgJ5o2L5vm1beJAutfPBsHSJ986DYyTIXe2h1vE2DC6atrXl1lAEnRZlbUdYqLpLJWz6yl8sdZWkovbwVXiNhTpwagW/9471JSt1M6b8qbS2Vxnn8qwIlJOE5bvLAswWGkd9PlhcB5NE/b12iMTj+gJgK/zVHtUk4O4I6EwyvAmW3rFjJfQ8fuHu4B9ogr2h6fWU88beLq0HPtFBsmCpBjHXBik6ZcBJOvXvXvneoekEJsEQiA8k8Af6VdJb0pcuKLcuOI95MorJ+SCPzStNfWC7i6GIQC32NT+zbuwwwbWNRzT21Kmlo3NDhQkTpd+3dRbOkaWtF7UR4D7hbLFvHP5q6j/ia7iNz/LpI8LKrsb/QusQc04Jvk1b2wljoHuA7IeM/Lw0d3QiDQlVV9a7Z96iUIiVeRuUdxW2RA/9QXMESuZnOT0NOxD9FzSBDDNH1Z+bCUwx2d/KzORf6NYWMFvJ/DdIRHaizC0nsUOOP3zQCQvYsBcnBtInldZbkESTGA/lvRHjTKJlOjA5UztXsNCV3mdwXnQlFVumc1yKZucxFRhHEqqKsoXbOmldcUBWVCj846hC4Ubah+lhLGBamiuM4L7jpMeUu6Yld1/R6bKRc/lSJVTxbgJx39zoMouc80fs8SoeGeBkt8LFpehayIqFngrQGbj9cXo/gIR5GWauSmvN/2qZBht7P0qViAC7Q8360DP6tcA6/jqjny2hYXMPzKmkulMND1nE0YE2a/TKGOPCZIKf501rlgtKG9JU0myrXW9jQUg4/N1pZ1KmIoTex6OCryTXu891b31mzV2aSXnJt7JB1BfhFtIKtUxFzJz86NJyIgu0+vmtAzzpdg1QCA3Z8y8Sn7crJpp9OsjSk0ECfgIKw1qM3PpN9Uzfosqr6TxIvcILSKH2fsOmu9JPpreqUGyFJHtGoVGQse45u2gmnQHF5sT5Ex/RJhDCbvREnSoiOBq20laUh2KYLVTkynJFhmQOy5HImyNWwpyK6r7su+ghRsBGi2d1iQrsHZHYKQnTWTgzG5xkF37Uc5cTA18TFx4c/nNo02rVyNPhsqKIpMoFKcsBNUVU/E2U2HpODb969pZYpZfkA7i1Ni3xqPVQTIwioYfHND3aLm5zY2dRzOwciA6tqE+a+sMZ7eUeZI2voUJYrBopD6gfCBMuS8KtHSlFswWGMfVimRA0J+Wrx98DhX4+HMnQj3v3MoiX6NJ5B1tpkLElCvW5BGnyJLJnRMPu1DxBM6xxv396Z1XmpM8dK3NFGL7QPLHAQLbMXVcm0gmL+vriHvAYh4ctjeg3xFTn/8Iy0xknfCO+Oy5ne0BqFXJCU/ghGRSXkbuOSSn9GpmxU/7K7Ncy6FLAEcfoxwa2VEAPHnIFY7i0KdrcKcO1C6WPD8wQMwFkFU6cpIer6bHM+sbgEHT4LqsRxbOAzIHsLdSJq2Ro29pllMc5HJ/eyXgq9TDFU0DHJl4gNMf40zEbbaA5C1DDW2Y7wiqthqhBgM7ZHZZwN6aWHzCogkwnzPASLPdpzh7nZRCP/Fri6vSRf4ZTyJNSY/zWAjMHgTp7fG2LWqmaHF2JJkOKjVa/L7/r8lc3LkgW41WpjQxmm7hPEFivsBPQIku5pPB+Bsql9inbrE56qEqqoGBpqC+srZxpSCxhBPBTWFI/+3O1ckb0EXKFTN5dZ1X58y1bTYJ0iZCoLr0hA38p81f8kizZtw/l+jvzkeNcRc+0+2hxUYbNNfe5Gyda93pmXsT02CzwVAsXx1RGdTzoY5tnfFyjj58bYvuojSep/8kAfEy4xomZdGM7j2rguLfg5vEC9uEc3fis2E6+wmaHw5eNwstzugrlAn7orD4kkp2lVXr2mJpcpYhTfdngeCg7vy4T1dnmR1PoBMcZEH5wxuMYHEzpjK6761Lf9VTyfKkJdddt8alPxt0xWd7c9dUupL+SqxXndQrSauuk+1t5e50lTTUXGH/wnBmosDcP6ZS3V/N249Pwkma8ix4dg9RYbC3QgGa4VgvmXOOhC1YFiM+zvQWzK5TDErXgwtNpF1tnF4LqDBiN89s08QSi0hs1EZcnjdMIzT+nkFZNA1SkZYwo8EPh1iOHpm/CjRnhYnU5UYisT+DtxxrPDIw0svdhNy0ZXZByyhvP1HlucCnOZwEbUey2ksmJtdBA+H6UoUTdUjiDHe/RtKdbjGqPV5xEoDXx17X74GgsPOLgJHGw28lF3vKx/hSLMzH6MLdD3+4mhzBaVbqZWUbq1ZZl9wEoqP4Par6G1JRD3NjmkcwDm8B05JBAZ0VvHy+i4y94R4LFoR8CXMND1lZzNv2zRozzH6cmSVur4wb4l/fdfQZOeVwxg5Zs3pRv/4LG3HZmvHiCjVBtlFrt5gaJlt0avhJm6DBWvViBf2xvScI88LxZ7f39r4chn0WSTha768b3MJ5cjCs+BOUszI6W67qj2S26rSDE7DRaqGutgnaDr4ZmtoZUQMDUA6Uq60x5d01AdtyNzVIpLhP8JV5cL5LiMJULeoRlW1l+1ZukgVYPXqzQuxTLNHKVuJJCqxOvmvAnz2HJmYmDt4VShW44gmB9POJzOi/oznd5kVNeSWhm2mg5KVcGlgKYGwDSmd2BRpbU5lQS2attl43fvckYVMXwbzUjr/tJFXk1rhAZmehLyWVugI00ELdIkxTkGwNCz4b7WUcO88TbUS68zgnIZ4WCFDL4o1MmcLEV61IjHqvYqcwndCaClBnV5AIUTMViDBgVVPyeco+UopSZ895iHKHF8vBbIP+tT+9pZtjXf6iQkVuQj1pxDPBTa6L9u596or3oHPMf9dfY2//kKgN/pCOtcULcl8ySoIJ202D08DnzxZ9aJrAIZ8Au0WM0AGXkuY2g5+LwHDo6FH6Hoe6sEtO76DnirnHSCp88UAmr5wRdYshxM9I0j//htcI3EQ/aNVnXt2S+B2H1N5c08nHm2MhyJ+kvfnWSIwx3bPxiv5/KFRXjwVtT7z5eidn8oLiIKfGz8VXB+8jS55PjevRqKneAcn+UB6Czv/3qpQyTYfc6XPNwBwU8Hjy4DRDH40WHAlkscTmHfGgZAW4585fTO9UkoUMf7uRFr1sPak7iQ7KbJJhLW4MQA3U6hkLjpjY4kb66XH9XgVuTqjEqmYRSJvT5s8SOCNmAXHJ5e97wjjxZ+KFPj+dDd81FaabWO4se0zoeb7N7DG/2dCYjfUZl0g6Tu1S5cGTRsBHBnJtpk+Dq872KlvR6gim6MUY+9FgCWTH4c+iBhQZ6izA/ix/B4wlmvmiUvVImjMGScPClWdxOrafwbl/Q64+ISiGDEEOQVBR2lCICv18WGEsdpmgLe4EbDvpNZK4LCdDTs5oD7GQZCQ2YGwPOB5MFKOKC0uoXk8R4wFtuAQfB10rwRQAxPtT1BIWVbHrqNrvh5BZ+/7Eel+wmDrkLPk9GsdVgj5965qpLYww3hM2/D/v3R1R5l1nDSRhwhM10PUwfPM/Eb/vX7skzepAxt+AO/NgnYsTuuXVJhqqSN2avHEACKniBHFUighx0ym7J65exU45E3yugHcvzy1Gpk6Esb4umOC56ecjiPc3Byd+8yz0lYh6gDhtMTlYwIGhU1P2DnVwpDOkFRSefGEulC2b6unCRj4HGq77PLfzUQDnOfiw/LAonkjvA5fQv/RhXcGKp/nd7ezvdEjBjThy7Mr78D5kc+o4Zhj5Cy2NrBgbawverEYXn4k4kN6f3QI6i1W/ZWjmdAjxaX/Xb5lE5gidbJi4yuXKW4KRliuqUpF2HRVzBtlc9KATuYw1K1tG8iPpqeC41K57GjXHKbDhtiWdUkNW9Kt9fWkgXt2UFhvoxdChsTKx9GMqABrLnnJ0HR7sc97VyoLSqQe799XvxL/qrjY/edRP2s7qwBAInmPsN8SwNMeww/oCGhlU4xk7Yzg4d4XsIh0m5f/BJzgBVMAFB0Oz8025LjUGMNkXEMpa/MwnXuX6yC3rXxmeYdPtlS5GX6tYYWi+1z/x+0EeJO3kv1M3fbtnXN5GMtB/4idC2kx7lFsxzWYmZ+DyQwbyFlZla29NXhO+aBJixeewOZQQFJKwjwWPldgk/egBY8c6DzFSJRph+crzfCmV6ak0VtBumYLxezA4v3kNvuU4ddJSlUKe5kRHRYEI046HJtZahosq/17lM7sjMrdbOK5KwulXdO+dbI3xBzIg1Z+hUIDit/MNThTQmjMPxNpMbLxumUg+SyIU51dGxw/sw0LGhI80UomCuBmwCpfXJ2mopNm9iIzsG+P6niWiUW5uuCUtI01M/qPjGo58X5A5PrqeJuW+fGstzk3358IITB6zYMoQKSjGy2JCyXRNrmX9of+vtjjO1Y/fAS3s8vf+40K+mHOZ9327QfkQ+ofjF9+La1/t2z94GzKggkmX+g0WDJh/Y0itiDzXQLV0B706egC+QzkDiolU1EPtB/OWyso/jF/ni5RMJQUwhkcvaONps36lxYt0UaxS4REQhnDmhSqSZ+BiiJxqjX163U8vde35gltA/cY6oKdIfycRJ1Rhd4erApeOEAzSi8lj2O3GZ05AOBd6/TWHH91oFIZ4C46+bP8xVOz27HPWK3z+sjiZSiLD6q+3w6t4azb0txRYc26VXoJzX5UOq+ISYt7IU8uczdQWHdcJ5jgmY0wlRX1T7zMwZyiDOL78aMSl5USpZ/mPPGEURlh3iDhv+JVE6d1cHWgFBLdrjlONvogZNaHPSdx3wgnh9U2vcgsUz7sqxGKpfzf8e8UuBTg06HW5M/10Sd7zXNvQ9Vn5GZfhoRdgHIG7bVksFqLPkhl0UnZEIhHSP8pyEggutlolw0anqat2kY1pv2kbE4DETDqIZW1v2OhwGE4Ldz2QpGBsXUFHfb4OiQu5o/0aYSg79QPqQYhdOpOe57fYo5vZt1YICoeA+WG5vL2vI+wYD9B/+E7Bzm+bQO3W75usfot33olyhTJeSeePNWDBT9p4xO1B6MHUbC4uvhlK3oqn1MssxSFarBObqsUvNfYTv6+DG74Bhz300gQawmu5EJ+AEcsutYa2m9IPsadDS0YkYIbgcL6mQHTTY2fxk82oiw/1WVizvAM3/93Ml1tXFmWwEDqX4daioYNV7wIAUuhw7KQu4Nyf4vlqjWLIAsxLRj0/lkAtzlojtGY13wA2SyVjRo3p2lqpZpJIIo2+b1mAcRN4k+lZAwY1SYae9JIYIrLP2z1LBJkkuUPhASU+muQZ9EVHmpQYtGxid5vYRMzBFPPVZHzLjT80/PO5QX2DSHs8uqpScQklsWwYbZDuh+dVE/I6tHJy0odD1hYd4cGWiae9e5c6AaEHtxKs6F2THLb7wDtkid1/4ZGGiQYS5PlBiGRGJV9553DhoPb3PKF8g5Jb6PR6XlH2nmuSWc7BK4/ki+qQf/rppe7gq/reBtNXyIyBrIvhL+w0igeWctSGmQ/Fy89g47NOueiBi2c9uPUHKkhR9Z0wbl3ZNmmkhT/ukV0Cd2GW3ZzU2NfIYorNNYcJhRuw7TWtc9DK/uRJsEJ2/V1JMOzF7Kk1/FHQ/LRKqUdokoi9J5WUYFraU+s2WFWmH14yLYs1baZrRcUg2XpFNAn/je3iPB/hiEfor7mIUuHZ9lJmw3o+nTzamIpBCUHA+PDB4FHzE2vs2pQ+B8rb85aiRZ17FD7nooHjOvHq0XzsKcxrWjxnkfBS85EcoAHQM+4MNnOgFHWH+mXW/FUv+vkYXMNymjbDYnTjNE/mWBycUyuhW+forD9QVqln9UH+hVjNlqvsn0Vvs6/KPC/r9ngZQGtLI1Nv/fpoxRhPNXC/v7PQtt6TE0oMBA97mWZO4ATnZvMODxYPsNmVsMjaczUB7rDbb2JdDZ9y9mIVQxSe+naCVJFBwp1J/C19gs1CkkGGjJLDLEUMWXAMEUEJ3dqXE6ahw609HJxN7mlwQ/PQf5ge19rM2ONO2QyT+d+r/MblulOIfhymVviVV4u8Ve3upnKfldi5NP71TAp5shhFfU2JR12CX4HXRsCzXENLl3PqtLgypLwCrKYCutpMf0AG0v5toxH44Rc5K07yyd4QkMsDJnKyd2ECMH+OSEI40u+y82ntUj69gv78sSNR4G/cmeQVmJCFO7iiKXF8ykNWmAfxrMm4VIJ877GZveIOFZDS60RCgIXKAjRJ6npE+5fQhHosZRrjtIDpyZ1ktl/CqGE0K85p8ilxJFhcW7bfcEUhlb+VvXDRCcXPeJtg/d7UkLIjhNh/6K127RCJVFOPcjTE50367iF4IBXV8+18BNy/154nv60yyvoY5w3MCW04sF/SuLrRlmtiIz1VUEzxNZnfwj2+jStH8cUCH/B7dvaAWkakSTheXciUcdNlcKeBgYt71jbWAz/J17eActvWloosg55UzvuIPiXhaCu5pPkwGT+L7Xi+Rjztz7xXDf70SHq6BuIvoaeRpTc8z9Mzw9tge/WNmOor7RkFU0siCO/796VUAApm3dh0ERNjcFpnSweKaBna2P6zlKxpBRM7knoB1r/IRA/q3CXv58jc6nSTu6zW9zGGkN0oAFbbdYd5kRNmhossHKgIeuD1CJ3/jlWf3/7xraOVEmLZeptEwCwXQKj7Ii82fFKMAI4RgE+2SyphAuJyX3yCpjz70T9sUCM7V+nh1SYakxGIzgTPd5Cl9p/HYnxLObi5EhO72s9Tws0poXbnaTUO9EH3xcx/cDa75wWh7PInS3saCBOAKFgXU4x5nGzyqAaNGPSP3XYEwse6LcT1E6N6wSX0EftJIoZob9SeD06pRawRyyxwJY+VmvB24cwxhv1D46Rq80v4fRpZyhp3y90oIBwAm4F5QzFUKZIkbvaZ1whacsXlIwjbuwHr22pMGDSjCPJXFxY/g1BTodhWVdBdgAF4cPX7fPAVmj1+UGQz3b22XtxWpFNLRSKggp0e8bKOcbOf088DLBqu5hxgMlni3+WkatfEchd7dPHaWkViMqW6i+kolSgT+OeH2PA0GOBA7vLe5fYO1ebqYScZ7TVgcXWVruFHc0Ys91IK0aTPfApbobYyVhqahseD4UNZbMiNdsoEItYDYNd8tkLwdWCGYvFQ5E7e50wNejRm51bjQFp2GLGLkFezyTLRiCIdwv9e+9Zm8rc1It/eZuT/O6fqv8LDgo41dl5OuRz3zYpVpr3ebqiZXTnj6HMtepFWKcZW/FESsL5JdfBhDjAQOgpMoXt+DxkagPNPjrwtnoAx40kID6YWolYjCnOpgqljqDTcvnuqTME0XB4oYqVAjrux3HspwS23q+8jL2ojw6VAiVcjR3H202+soWIF7tl6AuI4seN7afhe4EsLOP03ofOxHs/UpraXwETzUDi7o8MSJNequ0odmbDTExQPW6h7QfZVD2oRrxQEj5LvRRCW7Eb4Rsc+3EunGQnFa0rsWZ2UD8d00PGMIbtaw8YOJiruHn5X5wLuKR1aVaawzsT2bRaXs8/TzmrxgiFmFe9gRYMEwDW0Q+9a0UkmZdopriaz1/K6FmB/S2b4uDup2xF+4iATXZUPaK1cYxPfA7vaEiHxmH+snIqvNt3yMP6NdbwSp3p2PrMysVFmPeSv9H1MofBf/yfaih6QAixG+T+s0WD7run/C6WURcWvO4r1NieWir3/Crvu97LynwhddFP5oZzfxbXDNrso159md9ePkijwgIvjQ/Wt7x3JIOpt2NmoFhd/OQK0yUIWCnmCLq35u757kDxXDvem6i41XG1S8hOecZWBns2HDFX34h5OOZw9WtotX9wpeTgNfXPh3eZzMWwurGhW4pziaXgxzhBWIgUKAAmYuHydMLyGQzqQCqlA1I6xfmX40lup3VALuQoYie5aARDBZA1ff7JUUiyLx0SE6kXvomtEp6wjIAhnpBuQgBv5SHTevz7urpWEFjvkIJdTpOcZDs3Xn7iMCMWd9piLhQTj5iZSTC4UEqZLrQSWjKXeyNGCEtEW34C/z+tr1+eK1tn++55AdWrZs441P2mJcj+wdB4z6VceA1MSQLn6CfLycUV0tC+VMVbDUl9BJTMJs45tAwjLKB9my6IcQuIhKH9wu0BlQs625Gg/c1FL3ZI/6tOgwPTuB17LZpPxTsyWYNtN3UgEx6Zv93hu23ZYbG8z0FFhXb5sI6+NludTeocPf9n/w0LM4KhiNKGjzAJ6Pl8NzjPcyTBL+xHvUs7IrlbYWTdCX0uNP/dMvZIOueYIES9yjEFB2BQwitkfQ8IAJZnObBtoshvr3zJp2HK99WGW8cNwKr21QF3LHrqPZha1q3e0zPNcH2KtT62VX+E7Jfup8ygr4b5X9pZERljA9flbdQfkU0wZ2Q8X7M3YBigoZ5DgoHgYEc6wvkkUaxuP7vkeOqjGmX1H9ShVkunPFQ2/WuBJntfBfbYkSu3vwG/xMRyLtaVnRg1iRBIgSu7yldHeqIZWTTuY7wEIUC/DcPc2abSJw4FBXW9AzuRULibJtWhCtLsSIYSai1R9A+vqcYhFG8DfRcCWI2lu6bV3fpeopa3s/ljjXjSU+eR0KiJvvyGpH4aP2vRfqTa9MOGD7rHH2MuvMlfTw+gYTET1cuEdujxcUD73ta3KKTLzqqqNo94KP+Uz92TyYMTq7+3aV28Y3EaZOs8yNzsSYH2CBfQKqCV4IRi5bhMNk0RsmO/pEQWqF89ImjuCleYNvyTRmggiNphkEJ8Jc1nYhZNwDYKSIywuJSgaqQplZ2UkCRIq9uz8EsFx5hsAk1IQhJ349lK2tF/CdoMB94/sSTAUEs2GmA3bV3UB3YnwLLcbN1u7iscFacezOlOkkqbnFKRCuLoAFd2G1/1XuE0qA0vs2UIS6FnhBE2BDidSEd1prfti95mopHEYs2I3WuFiN7I7H+UtEuM2p1aXWRGDnVCwhPX9trJJdcmlIsyrKVCiJoi9xx2VEYJzI2xEzoOC/WC0/6PiZ+rOUrUdZzWPPKL2Bmj5dcDeq3J68Nm3G6nt1Nahcic/IIFfkp7uvfJhJtv9IWMnj28YhwvVdysWNv+v/BY5Tg+0G7tcjHzU4v+qjFewIkMIIWc5teIbOkTmdlmkaoBRHVJbmTJxoz5SkrS4bb90+HJCcnKBBSuKnEPv4tDTEWlSCzTZMSrCy3f2kU+88iP957Mt6MHEEW3iWVmbn0fz09w2Y+lLvi5saeJKSzYOSAhzkkb/ECXwCutsTmIqZIzo8IUa2TcNuXYxu3T4uOFKHbRfBC8WoU92LeommtGN+dyPVP2pHb9uP4fBX7b+uq8UXTxVwdLP5UuJoKhnHmkiL/T8AlkwoqMcg6SywO8nfSbTnjGZUtBYekJ0HV2szk314W3J8AHRkYE9QHujdTRrYCA50J0R0YJaLaOTt+AKsxZZandRr31Zg9ioIJ5VOFuv+FF0FfqQ84pi2W527Jk0hqOI7VV2uJDxMj/hSgBJPQGcF1Pdp7lLsSRwcOsHG1fJV0xksajEpl1GLLkuUNZsuv41pXn1WY98WhH9O1H7Xl9k6XqLgme+UisgJEaokrI665zSNROy6zubrUK/DZQERgHZiMAB/Qea8onEOL2RO9IY214ygS1b1LSmgly4lKrn2uLLOvkWaLOoDV9b1v57pL7qQBhxnzCS/IK0CF2xKb20Hd7XPexc5vRGCYK3Q6LqLP8I+Ej4byf1YZwP3IVgNUypTCdVTX54bXuCaL+Jw+t6Ew0es1oWB8enW1KIFbTug10aqxeG3inAsV0CohMqukYqHaae+HCmLD/NKg0BtuU1uwZbKiSFixAIPQbsgaxJm5ArxiWpF5eGLCQVLmAgVB3WAySs6ZLOpRni5IsC8K/EF23VAH1LiTDAkXYQPlCT1XoMJyLfZs2FB4+g4Ctvq0ZF+b29iMvaYIb+gKz/OVnm4KcsrHLqf6hX13h1KX3P7lV+YFLEryT9/1ASizwa8s5jgw8ZJWY2nZXiOiOePw5vkRdl7lAcCVYlFO/v2bqNxUPwq3JDLmqB61S/jDT+pYTwMUEhXZ/KNtpKh5fSq+kYi/RYaIgz92Bh4phFxVgd9xhPxQA1FiZxV2hoM0cc6Rw7DxjtTH7EbSHdCV627ZrwlQlM9lGuzlbm6YkQw/ByaFGL2AepOEp2SHLFTQiagXZi3TQafWZBJsVyzS4S5uCEwQ2X7X07BgpidQKogB48tQxFw4se7yZWfANMs1g/WdNfkyDSIOIHWYOWPk2mzC6vmRLOhSroJDD0hWCBMBBx7EeBAhoj4xz9YeTEd5YXfQA/VbxAuemytyReaEaPQRmHUo4Jt3qnbwdwSBYoyZDSAVo4MLTJVUGK8njHgelrC25pwq980MYbio7z4Gn8+JlMqoI7YMKBIGv3c70J3NhKtJ28NyRPmdWGsOVLt0w2aUsdYpakKn5ax5D4hSyOizpAnzjtSwGgNlzFkYR06MbYnomR0LdCuNdghIIDLZVvNdtd3gmX2PmfIb82tTsL+KlMYhRHtGDpScNUBt3uGs3UdBNNisFKLPdDKZEpo1LW0cBY2uWgodkCLiMxC20caVyYrbQ6fBlQjt+W5TEhZPbEYxk/uaJyE53m+z7T0KiJAbXKJvESrA6376pXNrPvTXL+q0tSlELiAPB/CnzSy0qt5QHtSL+ene1ewnVRPLNiPjr7BoRaO0yZwlkXyB1XY+399c2wCzXyJpIazy0Po+I5Xu6UEzuESjysxU4GhxQxBvHpy5sQlb1FOhzgi7YhvH5Qs8bzt7EBTYHcXEqeCpSmUJCNWH0iv6JCsbeBtev4oD/FAWdeS6W7G6UgFbtvJ0/JT0PjQOqvQwZOKtL39mT0Ad2Xj762qn8WQoTooiKSqu024e/jSHEUqBgjKonj/siAeMPhCWT5OTvQG3iK6oJ5y9rSc/6ynCjtNhSL9A7YPzHKW0nYL2QhfVwcX88kVcOTp/8HVIlq8V2ucon+6ZfaJrQmTonsbyIQMChTbgU72zcDf7ITbxRCtrHyFHu37oU+JzNb2LpRQxKhZCv5QLafKZx/WQTYNs5EArHBtv6uIJ+M7N05TuJSx0F/rHzvVD2e4ZZm6c7AtKUaT76NbFp3X1n8tVvZv0YVTALTHi0gr9ilA4PJh0jzzBTA5QTo8UU6/7f8NnNfJVQ/QCcIg3FLgeO6vuuexc8T7ZaWO/Gf8+ZQHSpUdaTI5qEznz7Y4pMUA2rvrJ5+BVipacjmo0fP5ghD249GGl8jU5b7wgM5WQhppukC+O2f3o1IEqHVFEyCxLJkNIPjo/HGFXy4ghMGbVCaKlkYoOLB+3/48FzRJQ01L5IIl4w0oFTEDK+qXqk9jk9flRLAVQmzngP/chRFDHxVPciqxVwkqK7p/FIXLJ4rvuMxL4buZePwUUeRWh2qKKgHgjGZQ6nUG6whkGhQNbzQQpJSw0+ZLoB2XR+rXMA2B4Zbu1XM2O8GFp5u5DOmJs5F755jywETLK0ZDl9mHuWiH5Ww62gY5YiXJNO04eebPdiID1fiwx3k0zRW+4saW7tRhsX7oVNBSWUkZC6IUV1tqjFPVk4/rnyvD0X23Z8+Ocwp8yeU+GQ8m4JHGn9ZYf+KYp+4J7GEoh6Juhr4yLIW86dHfcstAbeSh7PBKS1jYuhMl1qLz5cLsCv0gcWuYws+FMEQ4yaVDbS44CWthQFtMm4TsoKZAkm+DRL9Xv1Ta5iUk47TND2qdnh8WP1ayXxgnbcY3H46sc4LqnwMjL17G2ep7fFEwbcgJc0ZyYnqOU9XVEhpvPxi8tCE8hWhwWtVxDH2q1N72XnG+lYHkwFau21GbB52HJ624+gNBZMl+VHiLTsLQqdI4nV/AqAhEghH1G6bY2vJt3tgnSydm+Ek2AZqD4z46cJh9eWTtRC5JHaeLYEjfQRBAvWSdooNZOH2tmc4YnqDeIo+M2NUia7QcxhmcHPed8uo1yWMEIPyju+63mLI6LaErC1wbzHMwJij52yw+RFBsh6deeb6egFOnOf1vBkx5jZC+ZrLg6RpfSpojLrbJmbxNaU5nid+GMPotAnVaZeFTmzEAkOvwpeMhseeLn4k0aJqCydBgS4z+xFnd+hU4kklRvMZvEax/WdVetovso8mcS54kaBJmqEG8UHAYyqbiRd8kK6FTmzz3+froQobSDUbkm0vrhaMfTFuDG08C3SLcT1GNsH57q36jfr4YZ/2INo+rQVztMU1ryzY/mJgQrRerbJKW7CYYNXt0luD+QIX/XuHsTAUvQEe96RETdzXx3IhGAYHqMETq1Ys80+Qlm9ABelmkLtbKyCK3qmV423y6gqgkv44h3SqeKOYWAFVQGNZoXjl9LyQvRVHrctdq1lnz9QPsf0d/IUgAr44qSY8guaQwV7f6Yjwc0hHeIpwXqeVhw3VRvilAF5XoXGAESIZc0QFrtLXN73bhIdB0tiMFqFUIjqCeGAbbNvNJQqnqiiHlc9w1o9+LEFKDgUcIt++6uURm3tr/64v/mETD6ow1pWu6PIZSLbnBfIozhyjcLGZxdMxo0DBrsl0tjgyFCnBktE3p3TB9af1YeQ0gKHdOMIt90OnPELL4+uH3uMfY8C+Fbttji+m4P2VopyxYkDTafCZW8ysI/dKmic0jo4JRbHr/k9B81OYBRWON1funiMsXL5uaEhuUzsTf06oWnk+sA0LniFF3lwVTvEcH/9O3MVgdUWXUoirNHVxZZL4UajJSVLMwMBLEAg8AYv7tVVhDvJUlhDgh+4CZ9dF2Gh4jy+qGnqbTP21wOiJH8ty1pEuayoaA4DGt6GJeAmAJ5odVUiK/9pKmVKcV0wNRwAJHNpG12ipjiTfXeWtDH2MLUgHOmN7Gr9xaVe6d/ad4DstfOLN0bCpdKH4yTVxzuVHdkGUOl2W3tPxJIPaR/oK5eJEr4J9toMb4rV/C249BUud1el+EgLwEViB+8GwQr+u5/ov/xH99mhPz7QywJELl4MmE4k5dwOz/eEpWqeqEoLevIV4LVA+/Y6bts7MSL/CZugSVyCFVqX9g/tJy+aLzUqcDUfZRDivzas+Buxcw1oxhJolWxciDMtq2yqdCaWQ0CcYPTvqrBVV1NHZoQb1xPMlIMSOUFkAyb+lcarqvo85Dp/TEY6ZsSbWCVcv1THJ283nIOe8HtU8qRbke0ntd50xHS8Q7Hp0gV6t1ec5r7iksWUwpM27/PzSUK34SiG1OKcKCd22yVjIsacFIwQAILHf+4QrHo2EtiRItpPnM9o9W6Eh57bYmoJzS+t5DwhYE+ag6yLKzruMRCGLiJwp2l6ZE9ImrQ3rA9RMOasokBcWZhe+nWaGsHQTh4r6nuE39z0FGr7utzVymPvDVTSIZRaea8ls+B1JopLbeBxBkSvch4O2n8+7JokMuC3M+v/yDTPzZ3X5JuZ/vWdW4Ep0ZmT8vURu8qChFilee8hlkildOa14uYMZlRtz0CgJG/b8+CF+AiZ7/IwHuV2+Unhx8JKAD0fyE+bpt989cv5xtku9g03+6pLbMhVDy/kStqWycZFMMlkXPbOEZFeDGktxoQi+FCO5RRAM2lnpUJrJAXJCUHjCMHdyrud5FI28cPqZx12Q8GJyUsfgsrimpHk0xKg8aLpVfk5V7UPuLXR8q+/BDN4c/gpLf+msRTsWnoy3eu4g4EpaGFdctFQiNXxvmIAJ68u1qkFcl1cGveU7Jm+HM9TjkS7RGY2nZbSiVEmB/gzLsxK43MNUN1r9KL0ZnetUWQWN8r4TIt3M4l9mFnY8z5e+nBhaHOK/3qK5YOFdftyvVJU04MSd3c8TuO0AqpPrBKNj8i3ap49uGFw+nsF8kcbxsTCEfigrImjpBfa92GL1o4QXCvxg6WTFuET/fpHVyWQ93yGK0vS6Pka+6zzThf/QDw9Lwkg8qnZDwIG6i0+kf0g5PEObSaHvL4xqohOg2vJQyKWdvhV4vKqE6gitL/4n2ewgM24jQ2DDeNh41S6VHRzJ6OVnKUfMlg9fXSoiLLBH5b6NtxB0bHCKwHpiHdK8y/Ks5ygrWkeQ3tHxCxZyKNYf1QKm2654USJ0xhPnaDYw22/ZIQy37l8SteJFtXWxvA4m4DpO2tZAkdt87L1KueH0mMpOuq+Clyw+Gsj8ip/VQiQ9dQ6k/LwLN6sa/RFLSMJGu/seNpC2xDgp3e0i9uZwtDILnaOXkqsR4aSwZ8nWd9+MJPtEl+mXmGN3eYSI+5zybKriXEKzuqsG+Ni411+XgeRtQnOTLq3C9Xkcn74fK2KqnDTju3nVnlcsKNZ2jPGoGXOQusAlJiDak8T7eRapWMVVZb0iErN0bkRFGZMBiinu9dT3nNn+G/2E5xoHv9vUQ+TZvi0hftM6Hwv218DvAxDpQvBejGUi562HgRYTlsI/4Y0D+To0YTru1+q/P4mj/tiMObapEx5nhp5kUmSXsbj7gZq8SJT/rvodfj+xT86A6Foj+yuncMH5cQ+kFSEP1Vddk0IjrRMln8XwL7fQkVTlCqSoDs1SJ7K1LZ8zdk2mWOZ8ChMc5W+0fA3GOKE29xzbw708BCeQqeuGjdEkgRNIfFQ0jspV+WlsO2LBeNxxfFor51Qik0ZvsD8Uf2rwwweSWIP/g+ZNiYobngq51BIyfUr1/Z4dOZLp1EL7B+2ZneuWj+hzoGYVeJsGnIvxIgCNFSGmxOmJF6AyGPBy3HbwaqfvhZSzZGWPkvkm8wOFEkRd23URlI+ayqopQPZd6Xtbm8XQafblcGm5uys0l4QEMQ3P1E7nK5WAMwP0geGLdNgXwZFGEBOTlxYQMLG82bzYqUX8Kgqoip+bxIHlaKHY0Z8045x9yTm/XBLTF+Bxv97c6fgmCTmmFYdJWo5UKVBzwruLX65ua04+NUQcypZpz+LVt6odXeAB8Rc/zphB/qruLx+PEXGNAaPoi0RmyuRo4ketVjvhzy0DGj0NTAA6VGz3anwceOSgeBG0ei4Bw0QtTH73uZv9q0/uZihoYmnau0K77BeGFPDq+5M1r/Vb/POzB6NUM2cI6CslJZ/kcGO/7g9VCJCL6XnwkpXCfAO4ditwUYLuzCpeSvfg1+NAJAY0nkQLHJK7mTBy7HJYf+1ZPVDoH5QWqSKFwYqu/N70xH9HTsdeRzYjx2gpyGktCwUWQQaJb2Xt7SVw5BF2t8Gxn52p227ZBTecCnDwSclfvHhpV82gHpCmSeHTo5JliJNHumVcezKa8s6TODZCCC+cSPIEa26lSLs/s+FfY6QsvN4Hm3DqcOPLRrUDCNdkZJMxIC7ye/vEREHwDP88Ky1hkitX8LVQCpb5jQe0sopcPS2OC+zwGJppwBhqCv2c5P5ynCrBW01eRacjXzHZV+HK2HpLRcQsFL33cIRh3QmDTXStaxhHfadeMAWbOah1aGpbduZzIKSqEsbthwdaN0/Tl/V5nozvarrGNeQTqwJj9beY1AIB1Vwkl6OPXRMHnQqa/svGg57iuMV3TfgsVMsvpkfIJ3SQCH0nTfF0p8kLniF18zN1Q6hnZCnLX9X5Nj7Yqmmg9pZstbePh0m9by8T8RA28ENDnFNRq/XUZuDVmkKz7kdI58Gv+3u4IXW7vnS+Y0uHwJ53PjUEWRNM/1gLNgNpujkMJvCnha506aBut/3r/Cx/X4ya4VDZyNXEg13ft0BWpf7c2IYBlOpgwRyhcR7WOMSsb8qgLD479MhxKM6QtWcqQn0KvDHRflUVO9YCcCa/2dZDQWdaqUoR3FwMm9sRLTXlbbSG46iTw6UrkxCgsCLcew1aXDdph/BScPYMFEVbuEhDX9Or0l5JULe0q5NmBVLLaf/tf1W+nfx7LtYV+lb00MhHxcNph1/OAg908A3YsYz2FiJwZgXiXnCecZz8fP3yCLaNgWjs6LDHlhvmnKu6LTRPDUpfHbRhYPAfYrCz3fCvPlw7aYetVoGOi3ZbcP9HYBZmRga4ImAYtyVHD/g0OFCR92umhq4oPZgQ/5B4eSdbdXOgmmVRgsut0PGfw06FEv1UnEBOS5Pp2V85UGD8P7nfCgMJbXPLO+bqdEMeJUjQem0x6gHpOv+ZeWWqMP/Tu8kziCXrJEKVMwOwWIb8l8OEP0/sb2ENtz9igJGnBVvlSTdFFHi0BiXXnwEOrhktfYSavrg7OI0tppP7GLVQ0qEHq6y75YaHWo/U09b/eGwNBBWqEARjLIFvPkoaTskCKbXJu0Mu3arQNXR7ewklc243jODpTosMmT1aVVhLITqJlgZbPokFMWUxZvidIWSOCeb9slzU8bHFdiU3qa64m+w0xdIzQf3k8SdGHTbnoOm/Gvs/HaGfYb5LjdJaT/X3vfk0eCeGhK8uaFAKJ8NR1Q5t6GbTdsONvmnNPo+wAALawrYRrz1wUisXtcPEmR+iXOUEjEUwuiVAzNhmN1yeml05Zu653gTU2tJeSCfCN7FCmzKPTq0+IbkCNR7kR4YmLmKxcbFAVD9ZZq96YGKFwqz0dZKYAS3BBWL2Uf/IRcBg+/SXDZvP3lCqmOW3vBTRI2ZUdC/4GVxUqsr42rJRzlxt8+m2V3id5XO7dKzEIe4No3Y82Kv2Zm2eTupOvEuIY/kXjvlskoNskmbf0enrK/+tha8P0T0ZHjBOZAab4ily/4KMXpeuZbHfMNig3lwjXTeAonkoVgLIc3ZEjWXjOfQq7wJ1UYgT37DoKldrxYW9P0x2UhRr+c0PG2HRKlY4ReGYThpVeyzFBjpZjvPY3mkSgT8kHQdzuY2BYzUUklhYKfEy9uVFnqsQ6piFv1OBPc14Bc2RGK93J2xq9KY9P4MOltYhNqnkX8uAwOY0XsHx9B+U+7RbKZWESO40OGrF1VspoqZ47+cQXBx2JjkQlZIWBrWTdZNdcI5RpGx6Ip3MGmBcCpO9THnmgPHDAwmGA97SxtqAPqvPYnHRSL6Swb/drZS082U03A3FdJ0TpqhYM8zT3tEh8LA7hHCfUqtE4/E7Gteq+76+DOOjMEfE3AwxuToAHvthrSXBJwXsPxsu+rQRqbPx4ZSeOOCaFC0SuLvqzwha5j9bIxBn4U+RFeMuK71wWcqSe9hSuVfIWkQSzT6djQWqPfYeAt0r3GLrV315I7zlzgwPTLHz/Zf5B0HQkQum0RILGv2GnK2DfUFoYIx73/UsXTjiprVftNYjuKnt0jUFchlx7QJadeadMUvE52iaUWDDvZIEqLLZR+ClIycPpTOwcJ95RNOZBYQ3sMaQdA/andQ1E7PG1sH66CVbnM/CKXCNUhMtbJmYxbSvo56U+kDK4f/l6MQFK0hmmlxAq7YS196+j0vnD3qEgKYjI1IVqJ4nk6Zq0Tgcl8PleqlekIP95EXhvGwqnss23AahRfO0iNQgStvg1OdcGBTx7CujfG36iVREt4Yk7Jbr73lMwD/OFhSVdWt5rheBQvVwuYKd2hsCo4YixQMmgeVNRS2jXBTHpSC/1D2mr03+ahb2ZAvAdGT6mTfD0d6+RyX9mPRBP+BdwOWS8VF7pISU5aIW7JgWKY3oGarJnQb/w7zWTRthzeRfvsHpUCdABb6iaAajzuZzyIDF/zklk/02jmfH6Rfq1ae0hvLNr2PWnFjI1WbwM8qlJTaHHUrrWeNXJDfstty1syyYWL3V96XQwfA5WerwL6RBsiNozdtEUroIK9P/+4TF8CFpUUWxSpSYQCkiFbdAg3NOwTLoCZk3RVwyZkKODCT7sri0ApClkio2YuWKAV7yxppaVu+TbL4R6K2fUAg8OMXLxGSMsI43y9gM6qILdPag/E62u+0KIVzwn0a6cJ90BK6yWb5i6KHPgigBa5r05oUamOMUHs5RsPDMkZ90EjhCQphE6khxDN8HY6pt1asmWzgt9xYxIfmNCnDB7/74IGj2y5/6zkAdhy7gREXP+UNeibbP7C8K9nl+RLE62U4Uom1c98d//uJuvLmo4Absl3NiW7bWSjqdXzCq+3pKrE/OSf2Wx138Iy/SlQP26JUSZzuAxKhofcsp2SJbOs7xTVRG8VB1ORWVLgQUGiyxx/97OC2uaVoZpMHGAagTvHqUqmRTmca8AjfutH0mWp3UeHvFKrbW1d7FC42Dy209z3mxT3RHG4UqqRM4ijkJWzSzrjMZUmDhZr3WWJZl+8eJrFAQQ1T9nU3gudwFZKLHsn2tLBL7NCNEUxESdyQbdlbNHDdFMCFYLrn/VwYFMeuNjLSMX2u02zu5xq4VHEKItseMtyXTvTv6sNyRxGyvoqVB/C+ZAxe7ck/zkLAd8vtiZcswWpO0WiJkjoJWJh/+jFmKIejq/7GYZo0eTNHh3iXBkVOpFpFGaNCcgdmP47muZiby3fsHFIkCcx5XTHX6LEsYKoxLT16dpdu1gOtMPcKx5O69QeIbvWbBRGY8qi/tquHc4Db4HYLLboS96RxMRMBS/6hr07BTnbhrDd5vbvIAo5JmezefrpNZgyIlqaeJK1n/Mbqh/U/8zES9GkGE4WLoAN/UkVQvX+omYtEniIVPHVKzR+rrc16tuJL/6swV0LWcCEAtAtwGbU8R/2XQsLeCErgGE2WSCgtM8qKcKCcWO67i24lh9VZrU6XU28pfm9nFb4VCan+FJ2P3ayeTSSGAQZcAa0YnaztTtvq4gnsm5JQmgTMOd9DACnnGu2nVvYwYtgM4PRU4Z7yT+m7a8LhXkvpoHuhmEnM+fjGPK2kQJSRw0acYWz5HXN4N/EV1DXnoqt3PPIy5yKrD3bdfjdx+V6zQBXL7c/vYPvNMXa0pGg3H/Oy2+St9HPFxZLfiWCV0q0bflNoiuI38yPzLzghc48EmTElGezbu3+l9d+6ffzY3UlEC8gyZ0luCAVeQb80NEYTHflF8/lRjBrjd01Sr9d1/YVuDZUWMTAUXQh+v15AoprCCZriWtborYMC2hkh0k8P5D18Pakm/dJfnPQB//qFkFqUOGDEUWLO8/i9NKeweGfdEhId4q4BxPBAdnkZep9cM0wwrQ5MD5jzxkrOCTr6UOgzBr5o8Db+jDrNuQcj8a0aV1CgYe6M/v/0FrakbWm3FSFvAniMxqwlN/UvyyqIqYHyOAeTjSyFgrB4E99nQ4s9jL1UFry9Lxvml4/l1Y8e4yjWqm5Rsg4QEAw4LUSjVcHgT0QeFI/PRbdPieveDLc0vplb3Xjuj9CYYJtFuuqDDcFzaKP9jP1cEKVf6P/z+C9JtLOZ6GbOLzZNOcPzwWYgRlcjkjVQJgP05fFaQCMcJ5Xv/P65mReoKyieZaKiJ+2aT87v6rhXXYSF2+rzkCDDjRrIM6vgsTwzzly6CcsZMFT0X/EE1xshVermmzYoD3giDzliQ/IXzEBvhWMi0kRyd5HwfGKdgpwE4v3Qe1NIQxlkVH6XVl9i+QVDCgZmQUiRu5rQXfH3uYIExJwkp3uXgSFtAyVppKuAex3QFddCFn7Y1PXlLq1tGuJ9ORCt/xhNbZFIVfPHYtOW2Afus9HlExkdkrqxp7zLCbsCYa29Ji/FGKLYwz7VxECJmL939pilT0aDxQBG/dWQUM3YRwI5pEAPF/Vg9qJOODiCFxf4FKmOragrF+CGKnmvERswwCrpdYfVV9o+T3OT+1+IgMUEA3fjU5SPVDGOoeNcwZGSNxWx2tfL/lrBBdtHVeGhgZ5+9n25T+awlr7GNZV6KIKq20cJqxD3KL7jeRkX1GzRK702zv7LRUIFBxNBV0sQmCEfkKglhUK+SoLLyHRq397veLFj5ISAYaloLg0y5Hbe/cSXWdGuE4iNRKtozOEIRkLCafEwKe6Uu/BEW7fP4zglEFgfuoBdxmRB9wDtAIunrpO/Xj5/6FpafI4i5TooErmxEofCo59Z4lSBSlJTQJu3zWK73x9mvtQ6m5kmV0GRYhYXEjY+DHnUZPbZqSKmmR6w6HLKu/EJksSNgAb4ouv+DyJZ7lrL/9f0dZ8NxZkK2pmSsGebWrbOPUNcPYayyiqoLeaEy8+TKnvp13YJkFUkiMWOQPUzpCkFKWiByGxuhxfdUHZ2yD0ZWrhA29zHl+/eBYFoTHoznzNZUco0kidOpjYvckA9ewX1fD1UTzsfvKLrG6qxbAM0zC9KokUvRWd8CpDZN3AwtEZqHKyfwj0+RguI4mK6MWPelS1AGKOAtkrNilql7FL2HDhIjSd0BVAgOq3Jfd0CAQ9IVGCeNajwcqe2VFclieUiVDJJ41zkQ4/xHgDpQbi8zwzRJ2ynQ/6+1MCX/EQstB4QBAh8O8oSf2WNlx1HbhVwa5Kd1a1FhjGYxd5VRvEcGZ91J31Y+ZLxjsnxdSQqP7EX7x9oCIJNWAltGj6wset69ICruXZjhflOvHhzr/j42zIcSuVMqKi3lOWZDGpnJ+TV4ygX6Mx9R5A3olAYyh4/udJULwWr56Tn/SFAKJAko8z+zcLDlxciSFfXG+oV2j22nlkT4yefgKUOwNVmDVfHzxtcPr/pQefWiI1W6l9cA9+eIBlOhhZgDzsWQzdB4Hn8bZhDXuxCrc82pJyYtIxXbFC1fAIBfg5b+jgmFzvlHsSIR75OiG1C94C97f9+iR4sg42m7eqUp8cW0uYT/WAqscmc59hY+GwHJ34I4G1wE+C5mkmG+Xn/FTsrGFodpWErWVG8B+Wslp9P7kU3NRapS6MoI4msvRyyMrnjL6wyYsdZ+Lh9kDL1v0kdTlcCWeu7wTDbklJAiwgDlli9ghTz7gwDNnr2W9bAFeOOI/iJz8AosxaBXqiQkU92LBZiH6er5HUrhjUUxQD38iUUqgAZHp2W0AFm33A1IpUhJOyjr1HRCQAYRGScPIG470gXFROENwgN9Tn4pUk7B61dZViV9RKI1kMp+BBNzvqQ4f5HbYB9lBsEKHle4YXM75/6QkLG6r+q+lZ2fb+L++Y4stEKufChL4IjVXyypoVhATLPkscTfF1FkLnd4YcNolRDAXNmyUZGgGhEmR+kWHGQftyvoAlILawWhfoIAeTCCexeKwsph/lrLpvKmep0OoHGdFccRlaJv1tWrjvFRm+Wcd3yTZuZifnNMosqJ9E1fVzLguC6Dq1PKpsW0C2CIEEyZsOG0pVTVlqxxn5wku35AEZQ7Bc+imk6oqQZRKbStA/OLO+OXjQKOzC4Jh/vJi/gSlOy2BFm/VcW3ZJoky3nxmtUVxZ+hwXafV0se9Hq/odw3XLJGCPLDs3TSBCKLk36+yWPMhe7koOnaMG00XYtzlbBahY75Fb1BSZQ303soM63tIuVFtkc74nRdQvXUIs0wQBkkN39umks8sE+7Ww0vsqe/RY01LFiTbTbO3obppriypVGkWCgKz00fZOoctiH+bvseYF/vMJjyhbHlsb4fNbCjvjunpSjvrau2Aqh3dXxpqEpmmLU6ya19bMI8BgAt3jnT/wPxp018M8hLTxB1kWBFNt2ty6XxF+ml+nIvHMTlzr0goU+vQ2255T7zpv4liOjlI2n44xyggn9MYGhMKLBDjUpqU2br/OloafByfexAxAnLsaIdXcNLDmQYvwD/JKepc3rd2vPg2iHXANfKNy6wTZVOHN3O5uWccAR7sPwOcj+Ld8dGFkPy3STAMUUEhS4UNE3ag8RVu2qnR2KhKXNEgrlM2+vRdquWDyU/HgagcTVu1rUQoI0FaryZ/v8wADmQCjj2N1dzHTUV+zJ6nHXzh/mCwqoTz07Dyhfbaaad9cMNrKlIcrQaTAt37sk4WbwJeHK1fRUTEZqjeTxeJRBAOdvC3x5SUSpR3l7O8Rlph+2ZQHejGPffAWG4w4cSQWiz++Mu4MDX8IoA3NX0Vw9oQ5FGALn9tdaG+I7l3K7bKu+bEinWSvBO1onuzXRDYRgtpoCP5YSBQ+WTuMXn30jIz3mHnBncOL6AaDq5y9mmvm1HpxXBEElY0aNZr+X1QBD1+e9Q/xOXZewnlbsP4vQzQDsb6caT9rXamd2LPt7MxoOIctPCjNUfY43k25zH2azBEvljTbtubfeasgvgVKayHwLxfV0wWzDfATEU6GqxCpYeAxj+93R7A8zWgfYceN4FKEs1jOeF290v2vMt+9+0DIv1xW+hCMgVPda8k+8slNq4rmY2Xrzeppr2A0e5FByP06Guhn6IWBDDOYLo5zCqwZSKNM1U9kShibNxBZBQPEtAXFWQkO3pGB1PYykXZFs290xVO319IztWC9co/AKRGIryrtQ9XYsjjND0TLqorPSlEz28m30eNFd3DK3lS0+jNPs6F57lzyEvgo5o9w30F5Q+QYx4PmkxHFxPy+5brUMYROscTkKvGGc4ld9T1G967Y+P6LIKOIuQ01e8Gy9LKOZc/YUVywmWtSN92ygMOlmxccjILe7nZk9jazuSVWyVPdNLcVGPIveEAdc7avMqcD9wuevMSC/YwI08oOJNY2WaljyDEUSmjsPELW2paglvx1iN61Fnc5xscZN1pfA6aI6bCTjn6Ss67FUbKmDhUdQ7apRL+0xZ1QEVTcV1h8uIOnrALevogUNIL3QL4Ucy8ugynoXW/hr5PYz9OQDYSagPvCP4/59jlzP96gm9/9/Ky2U+grQcZlhUi1TDm7J8xwBk5/RVsi2+e7Nts0SN2UiB0C3rZtpCFwykF1Npxv8D8mkNPk/VdI1XFlNGXv0so/MVnSlB7Qg8g+VZ74wE9Sm44cF3xvzDqmP4zMDZYOzXs3QUTyZK4lUjfonkmyzQNUclogyGvwvtLJXS4823IeAeKiH9p4zYmHV67/cg6Jt8dpQ40SNbYkHwnN1bmoL2/fc8g6udmzubsmUOsu+KfPiBxuYoONnttIYJlfscsPef0j96LFiOQSpOHBMtoflaodgZMhCf/Escvpf3z/dapVklDQBrrCPp5KdmEjo1KY3ls5Z8FZbfDNRBll1bWTwyHjobU/UqbZ34C5DfoSaCa7CgxSJhRZeytKPgaC2x4XMdOTWTO46SBQmw+FVs5/+D3itHZcXCV+KKxHXNrMTqSpDJnTPwr0cnIzPs83qNyr8VItI2pqpOW53sErMgDpY49PzM4jgs++iS6x46NxqoSuUte8uELzinBk8eSLxVJeCI5EOBVGepQLxhv1wV8W8qUfMavV18UVjppy7KD7B3Fwh37gK8khuaT6t+xLBNNUpXbSRkyeigawS/tMddsJyXjIGgaQGFmW70t3SqRI4PcDbeDSdPsxcZmaapkMehAG9F5S/5N52TSstLhAxjXwRDl7nPKX9kgquZ6mPkHV5zB1vi5tY4vvav5IjeoJEAulgO0Ha5ybSib5xGNJG0IcwRE6fNUGzpQxxo0q6j1tUu4nj4A/QTEJjjT+AFPPxauUu3j9/xTuA6wW5qxFn2BgNujN5hAaCpLbFxMK36VYXibSwUCyVz2jvxldqxwyM4Do8DGg9EWBWNBacvJmYdewQdltGGxW7X6+/2eshC+6v5Q/E2GPDDiILOWo9+86KY48wMbTsaNqL2f0T/AWo72c11xEoypZUSAwKGz2SIGmIFW2WX/ldlAfBH3GL2gl5LzGc7+epFbLhoRDOdrrAaMhMwfQ33dFt0PXzo3P9IxDgeWNBYxeEMtI0RR4xWJP0vroaonzPJHdxfdwjKgJVRonRJcYk+OSfoAw8CSfJzlwThu3sSgVEC8U0wdsiqdMmxRyoUsqkkZmgLPTyRnficV39bMoxTLv2niO9UE46qwhX/mzZPzx8Cfu/0Eyzz4tIQgXTrybHQjlowJKnJmvJ57biyD8INugKxhnhb93BP+apjALIOhmeospl++1s5XFtt+oBeLXOTEEz+tOLwJ+ASen8e9iGhe63Jlqw+/JucTQ62//oQfvAg7EhCJRvjxhk3HmGBSTCWMgtQnuEUvYgv82c18rTpXAs2VTba8TgAcIIMXmlZvfgpUE1bnR/SLFr+Mj0htw7L1qwWl4Sc67tVa0P9gdAtfVdqmskVjbKdaE/Y4dMe4TPR+nmM9c1QUMX2c5lhTCHmO16lxXAErprlyFANySzGDhUOFLIGVrw9lX0d+riV0qNig5ICJ9xm/zbknprm2vF42H3IqhQPMnSgv74qQICA3Wxy8lcS9vSGcMzh8KwB784vWsb3RT/+Vzq3DeH7h+POcRCrA9ccFwrKj6eIcHfrxQUxMHfoRD4OOkaQ6IiPsFrcj7mBuGp1uHxPSPvZGv226d9n77UXI+FFN1JOG+/YYiQOg0PlrPNNJt0/kHgmYtxiQa3BJEj/8S5hQOk0IhFpoTq+sHugpMj1LPURHG24xPOJX8WSZa4/sDui2NftPqRujokbmyK+qboOeYTYxNKTTpddpyf1pqS2/ZeqWf3eNs9bbEfZ6vVGvGdobgg5CyM3GkU7ynFn58FrF6u9i/MuZb7FKzo2T1CZ5RXWXKnRIPHvLtSSKSW0SiOxxlMtvIfzakZsUTvZ9xIUbcBsqKlVI0DhMGwNR51ltuMiy+viqmOkR8gZLh5gFUlRiiEh9cTPR+rznob10yYi+0gjwSVrRFNR7H9E2ONQkMO80OZ01qy4mIF6BO7DtY4h6IkGPy0nPteFxqijvymm2UO3JCxEn5eqXWm0G36/nBm3n+GRxktkZCESY0O6fGvzi2/KfLGCdxAjS3FQ7k+cbdhfk/k7XMF9pU1eFdAUXXmgnuWnsdFuu/uenXr9oViV8Amh7Ho/o/ko6LW/pd1axAexxq3L5j6qIeR8qauWTFtKiJfc2t26+Amur2F4CtnGdztjU3r7vfPVD6xyXKI9k1V9j9Cj5H4u3zWsqvp4iBbi+ms32vOIN9vsAcQRZ0Ygej7VOfHmwV1t1tomlab4FCAVZP2LCx6aQ1bPVz09NaNcTzrVNn4jZdXknNaabZpY4kU2xCWMDx7On7njOrzIBaJWAUY/YAekHqtgmA4vHT1oQ2ce/Eg8m8kz0IIiAkfd5w3nvMBxpNoGRk8zJwUTHMasjrpVVVGvvf73jOU7OxzAdp6B3/23QFvO7iS8N13lrOD5njiTCFi1AUIEujjzqjcgIUuy9kaW5Ic5TtmVx50uSyx5sIog46ncM5d8Mh3pHVdgQTx0t1nRPE1mPKbVg+jWhCPJG27ptPeE3Fr9LbqwyCqwop9A2Re/Uql5xKhxGGLJCKsnvLFOSgl/YZgP6NvMcvnFIAoZdxHXnpebExADvCo9UGIRBb8bIsh4NgxOtvTCQI3SH6jS/bWzFhMtg2KBWSKvj9XLN+Dr9aHZtZfkw/s6F1YVDBiJ13T+JqrvpzmijrK7pCKVmhyt8vABFfGd/lBb/VT+GYcLcwZ0CQ8EEDxpFbWiZ8Xyp1VkQswt/D97hz3EGujc+CEZdHsRiXb4/dJrwAdu53Y+7BuOHKs+LWWacuEDFugwIpWP5Wupzij+wIXSa47jil4n5PS/1p1o964+5ZCjJvZU/c0/kX0vgVqJG0uvZQV1KQaYGogNDlHQnlyUqKG+8XZA85Qrv/eeTHGUp1c7MCN687QPxw484pDTPk7BmyvQe4t/TJxLANfdn1o/I3NWaxCG98YDzIBNbV/pZDwFvE1tXSHtrv8arr7lkrhDIomRG2mLRAcU5yHWnlHrGs6oPy5R5e70PZyp0BQwJb8HEWgkOy05xrs7z+ILRnd222O+8qwTmW+uu9sleI+FfR7MpSXUnOii0hy082dJbPHaesSpv2MjNMdwEPKSHkrX7qpJ7BuUR07rWwAiz6tJXgGSOr0Vm5E2qYfbNDiQwD2fJ1mTKEURkVEakPfn3BXhqWF020kcmIA7eyeW3ry9wx5hmnudBcx6u2EE/SiAzG+wGmTTciFyyFw/ObbWzs/XXNQ+nbaKSM9kLDh0URLmYtdGR64StHnZeNlBsjdccC49sRp2pZc7oTsHVbdfKedeJhelB/np5TPmNTxnwQtjUBiw/7m4ZTMydUY4H6cG1ogtDIIJYJqFU8dNwmNOHbUWQOg1kK+X9i58IE3YwBEfbygPntb9Y6QPro26N9x83a7lHjwDsgMYvH5XjsP0epiIKasEswIMKF8HVsZP8bRqk+5egFSN3oS885gvu2oGHEgh+BebWYW+QMRquiuJLqp+319wq4CpYE+iWYHBBbru0/jk56YcMpXLjnA14n/Dbu8JZRrOKa8PxG27TilVpJW9Ie9u1Hxd7A7x9lGwuuFipr0scE0XTOzQKEXOLQQQ+70xPZ4NHNrd+QhQeNHeE4UYS1saA3ULir27h2r2aOL6D4isp6I6AgXYHSkmUaHf2IzprhOFAgerL42h7EuWcTHfDsJXibcP+rUKZ+rfyH15USEX5AGUqclLgJXHsGlWsBRP80k2Bz0pc7FJSHVJ9R20N18fyc7t2PnvCMFxDsfJZkoLyOwyY4cK8NuJGqBT5mw8Nn+RAhSp1rIAILX8LJKap1DWXRHI5AlEPdRAfkRUkZ5C8usPF0BlFaRj4kZV8LhfsqEQL0v5B/5FSiGI3bYYSr59jKIUUwzSwVofCjLqp0v8F+KosbxW8Uqzm3vh84+BZ0XUpYc+e8Z6DbbFinwU4O7J8zBz8lj5Ot9vlD99hWav5xpUu9xIm7EhoLIOXOuHfB7u+gUbTmNYnr+kOywlDEztFjHnAJt9BikttWu8daViU/ZoI/ops8U6lYYjGVD4ICfeUXhJNOmrw3KLRkth5BWaQeVnzkH6ampgcu4z/DcpInCVx+IJRW6Yg0//JPw/73hp47G0Uzswj/JZmg9ZsjkuGLj5pb3jQ+eELwKaZ5Ys9rxATlLlCYO6ciHCgssQ/lx6FUlp0vrABL9EbiCc9Q75Mrg2shJDk43yuxDEPPVyK7/5JJfrkNyd5eUwB0utvG4xdPPUfyOPUgFUg1r+z+IUfmX44Bm3OCWVMG3owmswNHWnbiDPNHlqWC65WS7ABli4FpiA6S9vUFa/PfIGxSCjfD3MVE615ncp6c2SylGqMKIklyiC71piJ+xqjbycVhdFpq4JdKO543x3S+MwW/7zBVe4HWH01umuOf65B5/T712Mk2B3kp+Xo9H/JEzWkcLwhSefofmZJYDx4CnOz0eQ7M/0nuEYVU7oMq41be/7X7lTzyBL0Z6ExNYiyDvWVGwdyZNlC8M8CDthlkYuQycwmRdT3BZskmrbbZo/qL9AbuDxNaSv3O1Ph6SexSMl/ygTaoYwJcOPgNTbPObOZSVHitvqYt+/ybuxZ9uCDqB4WSZKlZToW9PyGITr0dmltno0BydBEF46GSGjEHcmQp8mFuW1YD8108eJ4YWZZ7QPSccPPZqfFQdNCHJekoeM2eeQZeD7ed9Tm4FaHfPKyqherupVIuINCukWQic/H7ndWGOV34r3JN8UeAjDEJJvi8S8IPiriYd3RRpNfACzqpVp8tYNNfTF5pcs8CezhXiaaR4Ix4pzaZ+OX4iq3iipzKeOCRoqZYimKRgmeenkPQt26HoAO/JFTpMs2Y3tXP3jBPe8LdskaBQlgQoFawri7HlavBkyJolZ3XaIdH0FURiYwBkueECYhrlljW99URFEVWgwhK9k13HaBJsEeUpjUQTqUaQrzgZDHvcK1tMW+HcWYMrreQWH5A4E2ZhR230TrpUk9rpD0evFh3bSDYSt7qEkqMtRL9Pk+1oOmYt4M+oJPYM/qKmtnb4es/9kFFm+4u9EJi72uVWHRoZvK1WNPfFRs6qQVf3Lm3YNxKk030zxG0jDcA5ClATARnB/IEFqKvsUvf0OXPtqkbGy6Jb5lueNfUcmVsoFn+G8bsVJ13UrE+V6ueaYq6bSJLZmclc7e2r08Z+oShsTTL1w+4uniBEgnDEUwKrlA00oNmjOXUq0vaLrbMnDfhqUPpf/Y4ejtkteVM11s1WWz1alpw5HaOFlRCGsn4h1xmzL955BIeWRDJTcarn2m6er198mCGntvrdTciT0q2jPw8bK71C9baJdKGP4DUKicnoSJDcCFopdmSWn9vgAUn25cbSeC0r3fgzBOohkHT9Dz3liM4kXjDf2/WtK/PoQjeUtR01eRQCcg+i9nOlV249kvAb3epsEV910R6w5yOsJc0VHX1q7p/0YIzwHfa6UxuoOkShmgKRlL5JiWMtljrLtS2PxwPZo6dMYjX8sZ/X1oDtoC3QcRb89kK1jQODvyIt7dcuqGPouCL6O80R9x6jipL1eUeQEbL5UlGTWXY4gJ6ZPMmzz1i03p9QS6JU8HEbGISthIKq9JZT2DRM7ZphMSjZd5dlZkJYKHFsqVpA5ycCLbZhtprgh3QptvRv4d29tWY+PI82emgg3hWNzeaBpADBI+SHxGuOhZgDH15/Cp6DuzZ9A8UL6lr6YdhC0aZmmEfaSnvy3QaSYAMUMFdafkd0YrfWU1E203U8uDm7wi8LqGLH7Ur19ryMfTSmct4bSVoKZZqI5zYR6XVWjvb4+fmafrq35BP3jy48a7R8NkufKkUHQx/r7bvdymlebExR1x3kaQwhhaZ7TKkZ28GUeNWIxLqNOxFVG65wwVb+HRvdqMh/xJ8jzNPXMcHCLGk6fpqscn/hCAjdSrfUMeHTYQExfiBRhJBC4BOOCvesOi2esusbdzqp6vpVsXTacJXz5vg9VLNcT4lal+wSn9LOQ+qC9wo3QamQkwACKSx1I6/XiGgfVfrOKxEVZjBitT5qnaTGdCpi0BTPDEffiSJR1ggbJDf3z3MCFM0/OcrGJPYjSaj8cDmKxAv9swpA7sXDthvl/cyf3S4R8NrY3efL/tmWtq4L5xGQ35278Jb80lY3ZMEcTadz1gOxTkAkOjMRerRDg7s6LP/OuPU7HaYtrWaCGzJgeCz6x7MyqhsSLobuJ3EOhJqFCOeQHq3rFycFOUL29hVXlsJvjTpuZsMtyC5y4xEmJXOJBM/lnNzHIrqMCrrYe6zHkJC2ssDf0scW54iuFYgGOoJ8OhFVLMQtiwHPE9RELngD3g3RUNfRsgueOy7Yfz0Px3GMVLu1RTq3Lh2tUsURVuypD9IhzmAIQNS0djbiSizD8IHc6bSeZ7UBuJNMXWAV4BzBy16p4QofpIywpi8dSj8EKFiZkSvWOAKFXe5wkjffqIX4+Yh1wUkMBC+ex6oEhjzLwEf3hApZsBDI8zD+lneUCN0swbVITBUJS5Ddk3TxnUm7nc7ND5Ylj22bbdkkNKborpdod7vdOtWfnOIE4VIm/EC5iPCI9MFaY7qOChgS6YOCwkWnAhmAZHRrPG2ynGNX/ajaTn8ITJcq6wijDkJTncCGoUd57injV22GUedT40YV/cDP0La+ZKaE/O4nG6sxbD9nUqLJTrOJEuynffZqKlVz+ADuI0COW87UhdPrziY8Na1f7CbFzkZijRqucexzhsf5c/ZTd5T6jAz6yJ/HWxkVCr+3lCRkmcP9Y40eE6hHP7uoKTiFLa4hf4NvPN5Qwbuzshkn8509otLXqQQOQFsDrAbtwL0Pl4RHJLT2exyTh0YU7kAaOD+qRaCE3Etz5LrTomGAtFEyVaRw7snfQWS638RawyK34mmOgPJepSAwqS5H+czVeWE+DIkgyYyCkGlAKbe2Pra/03P0evj19ntiMk2ZiKoPMINvsQeLYPMrzUR96hr7hojXnCqABYthqBaSXBa1mg6ZhJM5xkq4YyCt0Bb5OV86rqFm2jDyPSR4NfYhgseGNdn68uF9F90R4pMDTiWljh16k7ONqiRZ1QLYf5K1GhDnSZTO0Wk/3RTYrxZ3Bdl/+n9VCLnKcJXeZZlVJog8hIatjSLl/Yjs3yk9pBLPU8gsvcUF0ilon25OkDyuIbx+BwW75jemzQ1lPDpWJoK+V9pIT4sfIFL5RDWGh+Q7r16dKjAwYQHIi2/HxMc5ppCMaW7qWjMCtscM6tFIco9z/xnP3kzEG/fRDdgc64u8ImgVY7g6vNBfqnfI+cJHRT8YGlghYgM5AHLo+9TZG8qJDlZe8C28urpAIzhEkQfal1Xv4oEcvjPk5T+R27GAYBFA9D8woR6GsqvHPPrux2NZzpnf62Pt+kNwyg3SC6OtiGiN6UCtLVINqlmdpJMthvePbwaolEb9iKEaQ9higyClobq/na9CXPw51kG79Dd81/VVXXKXgW0q+XO7kYZ+2LPUILHOCDrWqqyZVz6bvj9dJjFW5vAog/FZ9YlbgD4jNo/dCJkx/eNwSbiinZYpGZsTqxA/DedIvEewGQpuJ9MEDYVG8k5YU4z8Z7LyvvCZiuBO5OSeIcP42NBO7C7V3KR+JtISeroF+tueqXi+U2/fJb2CskDho0s2HnWasM6j6gojL0k9wrljrZBO7wn3o42UH+DXrsGdtekmGoEyuavUD+OxZZsqRUPZgdnkgQAsNotDpSWwGB0eFCWa9Km8GaYpO95NYn8Z22AQ+fiiz4f0AGW4zmkAMtzFFLGZBeU3pvDuONkMFn4SC4Qfww70B42XjLfSuR9su8VRtJqI4gklReGwMJ7ME2BnnXHeoXN2aBOBw7jKWP9eJL5ut3EfrTooyb6LqN8+LlQXgZrmkwEYiBtMBZiQ+79PNjJjjipAg30nDMZe8E4pIsw2NEwNHmRX86bHMMojcj+a3IvC/tg9NjDxhZI6mQROnwkrYHGpryEkzggOhIEfv89fKQspyNb8c3/HzroVivnI4piAhnHkQ6cz3X6vXDubKKnCi43B1aXpL91KeJOXzBsFRVR+uhjKcnFtb2olnjYf31xuT0JSKeUIsTYfEaKxikfByj7eRfyxSfWwpC5fVlJb1L6PB/A6OftLrrEPtwwv26p66vF/prh0p522t33e/ePxM00EH002/3nMyABKzot6YBjciUuJxbT+scJjqV8JMIvvU13OPu91/rY06MVlSHQR0HKTtcDbY0tUyKwBN4aiEyB6Xb4D1pBRwlkBq4qZ+b7Jf16wvM3BmsERPMTXfpDssy1O9EechPKLWNGNRfQ69i0TrXyJayMlyfwcwwwYiHBSwCrSPisYnd5gix2Xn22qq+Zge28SPV4VQtJJnh/y1lSfkw/3n9/P/mZn1aviGYOum2rn1/4xJElyu5lJYctNFxt9Jtgj0TBEMuVnlv8pLzsd32+3ZaSz/WsE/ei36SkOFeuC+zkQ08fqwvODgo9hxgIUcLCAYNZ1fQKRiafPT511jh9QUZm7RZJ5sJjn4eJmY0hqD+RfsjqDm7pu9oWbEJrRuOHJbFYBsEXVyQPj/UaqqA/3fxQ1r9TmI1Asye1vnlUyF/sifz3US8wrA0erRrZ47VbQGF3vaI51Nx3Nk5RYORO5+M/IgxozW0coaiTUeTSgIbSlwX/s3gNHAbN1AAUrYMBlOg91AKsxWFP+vvdwjkD97vqWjTR2ZWp3No69FOiEkKK6aCrvJt9TeWNcvFfZSoxISfylc+i70+BL9e9odkg+kSFSxTk7xzUjLRZgKxS6zxtZNmY1hswLq4Py4ItwLoOi9tIoWEwT2l7q5ZD+qfRT17mccl0h+preBHYkO2scNFQMf/jUBOqzdVWu4PmtHWnYtHPMhlmkGqGUbdEZbA7zdrv07B59Dy4mLKGiTr52yohUC7xmqT1hrrz8twXG7aPnX8vya8c5XzNSZXfj7PBwm9dLsfxGXYTmu6fo+PQixproOPaosCIgsuLIjY6Af8Q7wBU8e47Wr5O4KpYYk/AehvUS61dldUvUJ1mRpRb74VQki7MQ02AjhN7lOCNINi1s6K7WmhVlLoCL0nx8t2THumvOxkmIi/vMmgi5yCP0euXLovbfONcfXdTpDleF2ta2ylhIfhTM4XmYevBYeH3YBxrn1LQNbpZquIVilMaeBKtxTqYrvBgIBO0WnrDquliLGT0ajkKV5JA2d7CCs39Qin66sO65KNpQxc92D7v2efl9BMgdhZh1mHLq8hvk9N2ZyWfyAQpkT6haYMNPqoacCOUt0sxdJHA4u6+P+iBcLw/CYM4p42bRg6UthlIkR2sK6j6PZTMI+a8AXcOtP8v1dS+afPPEwei4PCRSjHAqy5kMTKHrnirPyLGU6eoJKI8Urt0QR/d3MD+YWtFL94uZumLbSwzAioo9Ljpqs98XbFEbRhT5wGzve6tX4KmKhKN+5AK0ETv9h5SIuM9/j9osYWXLGbsfy5Kl4a4sQKAuqAwOh0oeQxNc7YZnHqcPoGtIq4jVYfXz2TxEJQV33sPTJyrBEW2e9fMCeDdpcV57avWSEnTCdg8AzbnL0h3KBs4+1PQAn4Qo8UBwLLvS00vv6jb0RDYvlmBnh/EddRF6AV36OsvlEzG3PD9M+ENTdSCFmBxHYiUMAQh5CvRccLX66bQcS3W7EPvnAeCIhBY1U7roEpZmLza1EHYQ5e3cUfMXTFnC3Y+zMCPoT2JodPpjc+meJo4TWm9TuVrrnmpWgB2E8UuBLFjOjlVYg/baAD3QPBvxBVh+pydvETGBp14DpjKBkEQRI/BeQbj2wWfggbcIOWGT/kSBXJAyLCUTXlBdsgu9j9gw43bJEhF1yIbPwoi9dWkTJXNda0wrB0KnHcovenZhSRbwlfrA1sD2syjlF7l4Fe1x89Eraz6VASZGbyOlItvv+eaBMADRnwKkZBaOZAdOK25xoZvIKmSa7tog2M8i4e6RjyC0x14JylA7bgK0fwyRwhpwcnJOzDFCRYWwPEUCM9VMOvbKWXmHwHSKMhrdzwoDggqQiGFog578+jO1ywMmlBceJAuj0k0SuEVXB+Hz5rHVkf1YmzamcusJnzoniF3o2JB8H4eRnxmB2uJSaJcWa+vuPhFgt7L5fG7SIYSb2IitcFwfPt+qgibBXQGSnye9xbWzR8vhl4MuPJmX7w9FmZt2v9j2ZnZGBelSo17Z/6BC+juu3c+vOBNWSIPBirUCJns14lCMq/kvEeE/Y0btVsfyvZClcCsim6Ux04LndDVOPRuJYXwfyL49dMmd3hckfLRptNO0ouGUQB2jOfC7prPU/6dliWI+2lpfsD+ZEBOpQIMrYBf+WqfUBItK19NsJAHLQwZmzC3+ICuBldpyVnM0oCYO+3zbTjW2C4lnvZnEtcr0LAYu942s4fXR4WI6WjY0Q9UgBJkmqit7rvnATHLna8tkw0LB8O66tshh5mBndQJhDwWN7+nHAxhroP1WjKPGzWtnPm96j9r7fi0gXXkoeoTOioEr36nRk1NI4ndNYejQVgrM83ZL4z9jI0DBTTYA80GBPlou2snOOVJuntXemjaRgwitjEyR345n5jysQG7uHbHi73uPX6wc/vYruyOVLM3Ao5XCC3gFst+6aX8ynKcsh+WCbvVDidKO1uXpRaD2fko10Yfay/byQN7/qlj09kePipRtiT++8Xo01fcGjDqaDk4vacIfhythAtj4r2sVJxhpviJqkTJQKH+j4hevo3lYte2mCqdL3fAxSUkD0dKhwQz0Jjal2a+LNDEzJKvdNwL8tO1LJE+3lVpdjkQMViZuW4vMXbzmo1R29VELQt4ChKsXOPnE//PD8pwmdujUFZvtkpQHH4zlk0rU7Phghb98Zl6dQgmNXhxeUAR2WHKBBDue+oOm/zqfTWsAntUan/q/W2wy1XhJjPlarPkTKffL2JNoZdrj4DkCiD7u00EAEt/6Bc6iwIfEuL0SBpTjxRCdMKmcBiRl/LeQlW9LYmsNHXcZ7CY9RxRTzNHnlM8oKlNNV0jOmvo/J3nmq1EpUIEgL474Vvo/6luwS7jC6IGXi5gxUV2KmOSLxZy72nklhmw4sJfVgh3YFqpaYLyRKj9gQKG13wOvV0aFQvQj+W4VviTqw4CjAzgRDy9MjJ65pMhA09We8LqbkTqS2LXWeKjkvBSTCaRSYYHoEVnOJwBwTDMidOr0AKsCkEeE1m81bJV8bmxVKXJ5BC0yZRoYvi2UNnrKxfLnrpWuLlgdh3jJJsI9eb5fTDFx2zPViSY65+uZvuKKfsE1KOFVS8+AqW0uRaIyO3UeDc0eiyriqQ1zLXR0o9QBebKq/C9ZSpiaASx7IuNfdOfeK9bCdi3uYaFQTqO5tlrjMfBENvpX9xTKJD2fZ25Z8jx+nb6oeZYGgcyLBqzq45TPOFAyVcqn+VKNaBLAWNXbWOVWRHRRKTZX5PIuABGE/zsnA+bDLZ7NdDpZccDTw5UnTAlY+NJUJGbZvIzn6Vai/DFX/KmKEzwyn21gmNhR+sNprTOzS5GMqkIsbn01mtYrlrL674Ds1874uJve0rVO0BPn35O6cyjeQ8hjRnVzAhij+DWXfbYhPiAD1TUiJpD7k+dWdI3dadd4U3brbY/7A8qZcv5a/uxVTPbq7SBADqAY03PXFzJkAW1Dbu4cTwAMEcieLGeTw4h/eilALRI8vMTX5uQd8S4GIUwTRPHObJPdU8bh8Li+twlxJWPCSjl0DX8pE/ny1oZy+I8v68YLaHT+elG4d+kMQUPOeeBoZV8gM/7qHEBXa1M6H1zpZyFs="/>
  <p:tag name="MEKKOXMLTAGS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CHARTIMAGE" val="FILL"/>
  <p:tag name="MEKKO" val="MekkoChart"/>
  <p:tag name="MEKKOSAVED" val="1"/>
  <p:tag name="MEKKOEXCEL6" val="False"/>
  <p:tag name="MEKKOEXCEL7" val="False"/>
  <p:tag name="MEKKOEXCEL8" val="False"/>
  <p:tag name="MEKKOXML1" val="4HooU0THZk28POP9trq+pbTvvzd/gcV8t56cq85kb3NDTsUhojRA0EsgEHHMH7oYP1SYpn09ysXVivguJdhTvfyVMsBLTGvcX7WPTor/CmWV7V/wylEnRSjNa0bZedd8Yjfz6TiCJG8OqoXAl5SrIeF08dlXg26VCLQSuMwFMmWGmihLwizelWVh0+YrBGrvbI9abCAsXIvQHRa+DCJaU3PJON0K1yeblBWRz/cL7a0uwAyWMqmGTLsBbUcrm/D/6eTHTkijpiVodNB8ZFnPU0d0nJ2fXTu7+1OPwHTjemllQ9kavxNazLbt8yFiyNcOJa4Y1PJQvNYq9NGWHotWgHaIiGCUQvA5i7CSjuzGM4XnPw2+ryRtSB2Q4+qs4lxYcVRxmzddUch4RoCeA8jZp3cI500kVDLtSZLC0DiuK7WPKYffJyQ30WTWT2s/6MxC9qKuXTRUbrqlZaVLv+CTHIzyFxw5wNm331M+qIBbhrMiOx2c3czOCEBOJQ5Yv7AYW3Vgu/mxNhVmyYJqBgo4pPf8FUznT4iIymbruq0o3Zfv27ko6QhfaboqfJoyU8kyTyElkwZkb74VP5WEdcoLxR4ZYD2ehOAE2T4RWa8tuCFvWel5++zMQMJWZJBznEKYguTLAjMUziCHM9hSvOzAbTe7JIS0YJ3SRF3a/IR97SdRUSp6ypoUdhkhMVIp7gmgzmSPktyG7IdvjPyAon+8TSbZcs6g2M7NZfzdQLjTg56A8srk0IJCSasOr8catD5CFGbZTMiUX5HueSNDKOVzZoTT/dQdTHG0oMIeOswSaOG0aEdYE0SQGjpLbycUmDqOtqqi4Gt6hSPaHo/u6d3Thpi7GkgP/8rl1k1W7UqKwrRa/8HC4WPes9HpcK0cQJQYvZFbJ4c21wpccovFPTjnrVoNiewfH3rBgG7/yXqvYPhgnFsCpUihEoIO+/PwL3LE4z1hiMoWjokbRb+EPO6JEzHf+jzSFvugcmkjm19y6t8d3cOkiZQlMnC8k+JbZNWNOX6m93b2vY++bzRQWHvL64AJwbikiKKmHkNrS1UwL+iPoRSzI6ddxyocLXvpeCD/5eDBtKh4zON4SEei3V6c7HiDKhG7Q2DUcADeX8NNV+WXr6bf6E9MOmR2/yQNtEhFa4SQ4OjDOZ6e+kE55Fymw0FWuVVA/7jH++i/0ChnnaGkLcRTy6IvB5USBeaiYJ6OWhsyNWH9UF4vvmS0Hg3dwTYecjz2NQNO/EdpdECoWhNXlQhL0QkPrTh3u/UzWnBb+ghw9qlZPGvQJ1LoQgkvo9MIp/H4I/FbX2Wn/gVcy8WjJRWgtHOHSLfPVDzGOwHdkAObHBHRnEk3vYgwsFG7cL8G6P6IBosRWvj3soqtrBAHJd+O1bLt7l811MUJKtWXNC62EIPa6dmsCrqj+SjT+yqlSAQz6wciCvZ7UI1tfre09/BiGdkt4syL1R3l/Wq4hgeNipioRrnhEk2VvfdKhcVndF7ZhBwZ5K2TxwLvoC9cCF2Y50qWde6rTSY6w2raXMejkNN5+1mWYSiYEcpjXRow3nKCtEZupEGSNC2KZuDPxDjOhrg4zMCoL+vUvXrnHPoUGueKFVbsBeV/0bKcRwVwh/4C6I0EQCQRrdrLM/YuKrOMgVfIG7vw1ySOrdXUB5bccFNVSD6uJCktGGFd3xmQt6XScZYji5x5awT39mfySuaXS2f7rbH6C1d6CgN0zAQkPaXLbXV8jc0LIIrQjqWQe7/b5rlbL58XBjmqW1OaJ/f7H64N//pcAe/wg4KNrCRYKBLU4r36T3bQNBZi0Pam5Up7QflPcUbd4CDJ25EocOPv8Uytr+0lh181M/L55XBI+S9cZ+fjoHZTWIcugG4+jY+k/J97OqfMVxg95XxK2GbOxSMHH3gSoCdrwZpPVyWisr/vkbiCV5CG623XwnUiFgn6/igHUyn26pK88z2REtGfB0GcRovGyVYqfdhIjkNA8BLFNz4GfD7ZQlkSdJa6QCIDJThc5TKXbqqCEvDB2BnyKAFIu9PG/0sk2toCrUK7/vvRS3cuOW70gTekc7MEvPG0e/efIKSLxpYjp3A7B2//O0ulUZ7tCDeZ55LyQhm8nGZfCFV2Y1cG57B6Wd9Unnf8mjKl8/YfDsLrvnHhhhGtN4xd4NVvfWhS82JUuiFh1C5HwXxvL18jKIsEw2CotK4dBR/OU2u/JR6mv5BBfUYfkeuGJ1cwTNLcqZ15V49Yz+iAQLGJJINbB0XMGtaFhW/epAs3QEW4mK3Ca9k5DNCG3/omHag4Vc3nM1c7/kCcW74cqR4YrS2fH1cyc/XNLPqkuirVWMyfSOoMKMJpKTLHLAWe/iQsFvo1DSnbtmFZQjfTUYeF4ygaykjai7mNjDbEOaW18jXPw2isHYc7XJd45bjFgSvDy7tzu5+jEkIneiodUxRffAdtwv2pAG06FHG5ZDNEBAMLrd6OJUysoG7IrlBMtPrArsiTZ9Q5oJgeNFffkSBobvGeq6+o+H5RAD3TP67SdO476mttqtdwG4ahHGJm7/s8dotysMq9vjtyBtUrL9p64nEiXvlKB68n15aNO8nFSgMpHmoXIt44H5psVVITbR0tNEeR2s3SazpmHMYbOZQjqsRdCLPKZgdxkIOnWDgGZ7vnyqepVO/iZ6A1zFnll5ZpfAlmZZlSrvRKrVG0uCkN4QMK1gkBMjPpKfZDLr3E/upKxuVi5thuG84IboRAObnKYykotmH7ZvgQ4Ss6vcHvTwTxJfSVCQu2/s/TWXk40Ik39rISU0kBVtp8crlYacn3BxN+GndVufc/+BtyiWQL+kWxdUwEvaO9Ie5U8g45fPIA28B2fJZfRzlUHXha0YY/1lUluqhdAesQobW84Fje/O/LNhQoWThPR6JMFu+M3a0Rbk28sC17G4wNxXF+BYYneDAKg+HlidkMKOPMuxdpf/kfstZdV29rdaavLMm+QFT5zSnluJeiVINbjGPa4F8+CwXib7d4yMjfKK+Arhrh16VrvUpufxuMB/65ut6rqUo9B0iE2zx6HEqSUJELTMaaJWtV+RB5mc+X3E5TMDdLxpr4NrU+7/klaFIxYcPv3nucURa/HwgU0O/jal+rJ7quN9k6PXI9KO2Bkx7nBnxPcb+6acoZOEyCGucJZK/K6InPvi9PwJWZ/wY5efR7x0jrNlPe7XUyQUg2u3dhjKpqVO69RinbaEum58/Y71bx0Q1Ylzj6sCnkNc59zeAO5Zufqe44FTOunRfLlRQdWHbZkx4WwN00ZiS6KMoGCa7E4Th29qIVdzwK4hMKp1fzEiZ4RAIbWF6atCIM5gCzRhK721hSJ0SU0oz9rnC2tPsNOnXXWySf6JukxCXQu5v4Oi2FrdHAkzorHYft2Fc/DWZZfhX10jlDwlT4hUFTMBlecY6Jg7JmhT8ZeDNpTHb3WRIE8B5LsuTLsmemXglVWN38ETt0GG2/HUtuAl0UHTNVSG1NHKmQHuV1DaEfRpf2oZmf4NW9ZeA6fTGE4wdsrHSqrjMXRYlAayhqaF4/pnhRm4crYoyhCYL+4LEHXwKvv5Sler4YiHN0a9flyAySrRLTRQKSaqdPiGkbNoivJb3cpxPr+04bTLPfBw2A0oNMoUPm9dFEwEr9Y75nBFHJ+ejJCYKnFguUgh9JbjNub/r82cDYqUuzBQCNlRW2fuZAwhZH8gFp0jzLHaFx6gpizRiL5bpZrLyqlhaU2yC4NhpKaIJQDZJ4Gc2oJCpid59kWcXzY5IF4WIXTXZjKioI8nXQyDdn4KCCvXE+GKzEXQrsE7YIaINrZle3gznd2IfzUlRL/H91VUlNv0GfSBTvPPRfhOqejgVIQc0P7UajI91LJRUYcGyBjxmS/8waciTkMpeHaRRxiHEBJ3FQBlp91d9mMuXBEyckDrJdT9QHVpyqD/EBrah2BcVJNGE85GsoQnm7M/Vqkcf8/vTSaHOa7D8fTvYib6J3a36yn/s5tG2Pb0+tuXIYs4azZsbYDYf5yThnGdUIA7TSYbCZSMLDUhVpX9TreambGBvWvWQykl5V/NjfKY3+EWf7IJ6YD87TejUO6lyOEFhkfHyFv0fwWZhrN937xBDqooaFGIucqee+8M52EZ+SclyNBYOwczzCItai2Se92RKEGM+ODLiVTxRYhZ/+t0F6o9EhVNnWIGAgkfkn22b5TEhJ8EVPJ+rzu/6CvkBM2X620j9bKPVv+mWAa+bndQwBFvDh53Mx3ZvZA9E+LqMpIsNmGHbn8W73U0zzvh5+rGhsdMvXVxqZhc963XBZMfi47iRMKNKgGRDN3oFMd9jnqCasiFNVESGcyBy6eC6jsqNxZBxyYX6sRSqHWhC7n/4cjfc0K4h5L+BzT04yxSSK9BuoEPxArXX97ncOqL354cWw5TRZqyp90zIr9unqIx75RZlp7JIeRsGYqYJHGEyEyX7WZ5CkVCK7TZZMq1uXS2oHKfqVXgPA19ny+/p2rQWppECh/F3ix5Y/W7JYH91AbsAmYPBGDmggxO4uIhsVP9MY83PxLPn+spmDjHVbEmHQl0qzt8d9aKsehAaD+EXQGw7pbbKGL1ck4kzZQKEyOJ82LD4ya8kGjm+SvjQXGUScdjxxLju1KEFZhqxRWw/7FVVsawXpvfqGsrPCKSXmNe6Wt+qYGM0o88ICoS1GH/dOlHPtvr+qnXg3/GQTFIwoJagq29hKj6RjDix5Q8zowpmlW9URZWQFDCxTKhiakfcZMcSnMrqFWmRYpHxuPaU0U3Ox4U1Wg+EldtX/f/pEH8loFdpAhsm+IEv24jrynaYW7XyLbxoP8sv9U0EYYlZZSHFrKNkzPpFo0HIQ0txiV7mtglY9xvXKF4vrS1+xvmz6Ho5rOSp2+sFxWciUtQdgBVfxJneMVz+oFvYRKO5fw5fJmVnO8JfMfp8QA285TS8KH1t9hMdIXIHQ5XX8VHPjPRMqubkdgslN7gAMxoaBP/4GbOBQz/rt0Nfh1ZflXPFOX7Bva7X8RyPDAWcA2Ga6KAuZPbX6P6TS5HoufEuJD9DyWfI+cc2gWAtvSthtwK0b3PnMuFZxsNyDS732MT1tSAmgvcXmZnUnW2jL/vjgLyqqSkLm4DNp+dsVlR8d4f/gyXh2I/g5JAfiWIjtCc6Ux1AE/KTkiZ4fOVTdtDhsEQqe0Vym71I4MmGetW7D1FfwYgQflSUldgaLtybq7vdG5KfSnYG9KH/JlosbRdcZ/gWTR1oVh+YaqbX7Cu6hGIYIQpynqO1tg8yS9yme8DAcXIWB0B8NRA4vBHK2PZSCT8bmJv0Qg8EtdG5D9i6UaJP8+Yt6CZwCQLGlBXCWWqGhHcjaR86WvMyJn4k7J0WB6nCMRp0xxo2jxEMnMptDIM3zzk3KWAq6uvqsxVS+RYk6gjmqKpev6srt5vPIdsnuU9m2FVTUNbMi0U87pkRjbve2EuIqqjrGzqe/rAWGLCpAgK22EGXlFBO7/y8PSFvSHjIjsdvuNXJNPaDxK7oE1WjMG7zySQglyWhgNrLKo/evV/iIEU5MetZcCvZEu5Gw0fKiZKCZS6+BcVyqG2uYGz4RY2CZOlikN5q2vGHHvELHN33lwtsdQWUwnORdVdKug2f0NNgvZw7iLJ28VFXGBPUP8Tbgy7exN2ur4mpwRp7QZdavox/wg1hDIw9oUx+Bk9//3P2a2Zc/UAIbWQMWUbWtgA4F0RmLhgqNR+CUxdMVJYf/jCnrmjwAabjdTWi6ASJVdQqRiSFua6wcu0RVv9ArEQ/jMxdwVlIX063QBxr2ibhWT5r6duyi6/ImAFFNeETw6wib7lteAmtBVWlTT0lRUHKQRrpbJtRYRAd8m2W1nyrVTmfbCdmRaMqiX5w7oU0u2bq5f1rU3bVMvaFRJgAaDKCawN7WAvtrhbE1eeQDP7L8PN9xU+MouVQv+rFskl59AnG058SeJtXXUxU73Nu4aJ3rkT3XQYOVkzEJ0ai9Vq2tcQQXxZN+lG3I+nC1a4p6nH+VYDu124WxlaCYKfblK6xYgMTXbiofv5O22PPnKyWOfPKoxUcifpRbjJtcZie3vOdh3QL+aq/OybGNQgWC8iVAKUzc33UtTnzdOSI9s3dEVMQ2Nip055mb845rQHQItJuPIw7MHP/Jsc8EOfJ0yrlzkRrMJQNLO5GKiAxYyoffrG5CmQpcJ+pcEaSWaLSwaBKdhAHAT8Qe5XbV0DVQ9WNxs8N0Mb98UlklIUU29fgEO1P2CqUq3C0vzS3Nc0NNIZo36Q5/sWDL8e6MMkMJ3rqhyfSCgFLgkiVzdjKftoZuAxnIJDrVIkHVKoDL7t/dFlVDyb+w7yMy4QN1aXogq4dBopNgzovOVbZmuX75OAzZXKuQ+r/CFx1zDdZldgumI6jD16sZ/GX7f4/A5/KPOoTQh5sxdQky2VQJSLkCx1y8czZU5XnWx3tLQM0Vzf1Lpht8K0URxBU1nWNsVyJLqYMLOoGA0DWkUsGC0cVpkect6l8hYl0AqTz21fzHkmZOlnJMkhxCHb4E/wrZVx1lMt/CQ94gM40IFdv5zDfusvKIRUQzkq57zTn9lWux63FTigFjwLvSUIs+TAwN+6JuwTwtTwsFuFkhi9EyhNDz6DJReFonWFB8bp7Com/IhahkhYpY1IinUICKUOQMw0SprwPwP6MhLC8CsdEc/+bVWgZQvtT3C1rC0PlI7FV4mAYNRnxvmDYOpxVW9SZOrSE5/URzvC9iGdX8QqFuqlsrL4OlQvqkaURdQIKV0p122Co6REuPgaAeAF316xpUk4pcFVSknysZd67ho508k7R2rLCDinb7U3y41VibK3ZhJVBoGoqgTOpQ2FyiQIUfK4BK3gdErqYJ+GSNwUoz0WN/S3Z7zCrtWaRIyKeb7rtdjx6DPw9Dwfz9swbXyw5SiNEgWX7f1CkuiPzRgBqvc+5CKLwhNFcneupBhaEoTHYPiwdYJU9SFlpqNFhWHTQxwhBzJJnAIxGoI0Fi0rAFlVxuX8ZQRHTbi+fdsVW/t0ZQIQKlsbtiuGkf4JIEcEUU67qgPV6uJz8iwPM8m8j5Wu5RVVlfBlEa4GUJNx3HfLdWKJH6YddbhbKtE9GiLyr+PJ9c2Eaaa4DmtCPMkv6Bsyj4P2LhQXkOhqLlD3xYWV8ub5YLq1yTfRMPlSAk1Njsr289Ruf5kt7BGgmUPXc754C5MlguYC+ihRM/zhfS1rOBIh0xGJHHug1NN5ajxLaqeWOi6n3qgwf8kpp+5B5VEaCtYII5YB3JMrE7ghnew3KjPSgg+kboi5qJj1MI8JGa0LtcKF20w0KgoICcutth8+y03+FE6eFdyxdDbsIzF5xjNMOKNvtOi7XFJ40cBef765qIFLOfJV6/quv/pzxAelhBsDfXXToYfoNdCQ5HrA9gSFMlHzONK/4Jy8QqufZdX/usgCNL18eURT03IfLD2oXeoKJrUvDkAhqUKm9OEniY0QSrqGhilQ/WyPL3DHDbMhAp4qqfoYchcTMapbVsnut04eIXg6XU4ZGeN8TckCbZmZoh83NWQVNIIa7idiIyNLDSKTaWlscwqTQ4mAHHSYO2yL3yTsYQcIJT/VmsJ79GtdpvoOyx2dv98NfeExHVGUIEME7kmqPdBuMqSl6ndr4al091mgVxgB27kudUf352feuA/0Qqm7Ur4id6Ndc78uK+N2nDVREAvWOSZyZv+QQV+gB5HkkU76xH0P95aWrjndxV8f+5dbpI+n7Bd3MruIPY20DHn6ERc0BBaufY1q4Ykx6vMwCX9V3I3YEsvZMKkCaRB4BnVt6Txk/Sttb1Fe6DL9RMBnerYhTsqPipW94wccZM1zD3rqPM6iFd5sZuuGqWSSH/fhgPsCy8JS5BB6PiCClxaQo4WF06sfdP2DTeVG9lWTk/2VKTbjQuXUHTdabazgzghU7Au4yYqeh6BV4NfgqCeftntIL6KMJmYuabZ38uPRMQ+7kdXGcvPNikbqjksB8OGZzJt0qWjhBoXut56rEt9qyOQYwnh1UE9R9Qhs3XA/C2Di6OnNMAqdlv6YeJDVw6ZQt7yCU1VvutgYvsjdWTAMqDrBVn23sbytcjLdpQiL6PSFIMneZ8kHWqeBg/01gmuMXRryU7ng7aSzLvNobeuoPPkDyA60ZVQdTPQo9ODafbfH4lj/HHHSkKuolbwgzWkt9lvIKOjpqNqVcBtGMt6kG1V39MASWvDp5I73T+ycLLZeOtgZHCTEqsqXurn1EwNRXZf+8mynNoQBZdLFjxZm7m8+FPj8vwBWrJoNeYBaSiacFj7DvpdEbMXE0KJ+y3LHmRTI6MoqCl1Xa1g7Yj3nE2jkXTdY+wWdF2wyxbhGWSpqRiEhkJLoazxBlBiORO/uGa+i12UoFeiTuFG/CY6hvkp0fNbnscA62W3W1QXVogpqG2DVR374b/Swf2qW1Qk7CHOv7VzKvkfSbCV19h6O7pQU9SBDIbx3omG4lV9z9YTppB62EYZbbzHjGFRmSWDwggScSpYexa7ioaOud3s+xbfveyZtmgayOaiJ4ZTbauE7WgeHMJpGEFNMAaistmIa3hDrKYBU8txHHvOOEwJrpkoUAHVr1SNk+lo17CkkbB1GxoD7xCMUq70OwxeuhxWn1IZZqbbciwkU5M4lb8tfn2EaDvXYKkvVF4Xw2h51adLyRN1qAEUxsi8k7hoIfbYYRRAvsoxKkGzoFfQzpraLY1iqaGTZKJt+mnxIzxYjNPcv7sVfRjOkkXm+DjIlN2BPJxRyO8FFE5votfGwPWyDVCgPDZaQjApTakOVdt1zHDtm1JZwQKryp1a4ox6FbMUkBCIkk7l/Wq1uz4nus6Y6Xi+5CVCBEluQZHq80YxzY4a2IVrTIPCokFp0QzO9cgqp6Rz+WqCdumfq2yXGiUOFuTeo78wyCzN4SgawipPmgV+Na8GK5i5FBMbeP/Po1H6T2eb76Q5N5idDWqJUH9fJJJ2CrpqdD5qQZZnQZcl8W6G/TiwkpLr7SkxhIRI9ed451LWfNGXvn7ECIsKJkjCG2DaQy0CrfCnrxJWWJt2S6EuifX1XVUCW8EPWzWbqQ9GvqPs5l4czP+Vt4sbgwFn8gAy+qFG7mMG+SzfO+MNZHZJSNxjrJAXA+DnqUepQR3en/H4wGnhkBpH2yyigujHfNv9dX/hIobH6mtSoxBDlYsT/F7AN9KtWRpQqzhMGaivsoTNNHCGdqJAiD+bJDXOztlcV1FYhyAMaoxomPyifCPeZBekcst8x1F2QNXMWPW0jV3ZIybys5dsV47E+qySLrJBiaSysgdL+T+HBqotu7Y0NS0wQ/GOBc4MMW/vkBLUB3T/RqDQEBYrIhfrnjIMSlH4vAtgoQHr3ZaPVNy8Xr/odoa2dBPWQ0L2A6jLtLJnmV1xIotEoJ3IrxQwYl81UEGvoOqX1wWx7NJV4E3ObCDOqoIHxVlR6lr5ZdK+VRDA8HIyZUZIW7+C6AuQFVr3q0S0BegkV2Kb+EzTzz/vo96Hv/CTnoxGxnXI2C2aBdLz3+HpsRQX+OXhHf0V0yK5XQHEnfvzbLvRX4u9I7u6TyJPeZi5anqtQqVscnnCfuCanIWcWYAZySTEFDm30BstRbpTaclMVz+I2cbAPvBBYX5EcOuSOlW2q9vB92u/X5PeczBlH8sdrKQrydMIyjkG1TRibCqNJsipvZa6g9n//N2fwNZ+3iIGC8vMEtdTYPvRLhCpGWmuysbiCgkPfZXEPAclyUc7xem3p0VopIlufKCIHmnMz+ntR/EeCWBvs6JQBY3eKToFLhYRoB4+b3FX5LukJGwmrF7O6BSm9rNj0E0p3/UPXof44od9gQOx1iAl1bT1iqmMKVIIsBtbYiEWKsrxLMpFXCvQByzHSgD9zn0EqoBhmMS00h0oHD3v2pHs8pIM3dB2DhhekVUEQOa4oDgrELxbxvflxVm4E3VtUbH55FvmI1RV93EuCksmIozfGwu+5LhDIT64JLiqqbpMdSj5xan9qNQkHYLEvWhgmB+nIrC04gETbuTZn9l8V4tMsX8W43mefxITaJAiaOAmDB/oS/vrCI4vE2IfmkQB2BttN83TiwCqCmCtXdx+Ut8KAJr84sVmbE60ZnGvpnOQfEyBq8Ih9vonaNRFeVgrsAvnmA+CLKWJ6mTFyHDey+iFD4mjVRQ8f+DfUTd+cw3IglBrthWi6ZcOQPfJU53JELBWaAp0XZROgjzTvtRxoOre0PvTgpPkI0kvSVCghhoGKPqrkA5RDd0UR8auk08MQ/rh6R9smZ6A9q1+AWMqVjSUtFkFiEIdMI3mXpELUWWuTT11yI+sleIshxIjld22GR0NGiW390IvCzUPiUimayKnFJx3nG6Ja4Ch3XupLpizsYUfSYUWRrVCefFohv56KGGUCPcZkfIsaZTFkoo7BqqgO/w0939q0hkIbmb8xAFjIN6XAbC/WEPzvaBlKmiRzVyCZwTPN8hwqqwuNXNuAstqktN/ovT2J2qgMCJqdayB4pBeozO1yppquAFUQTACwcljcwoZUQum02KicVmN8UmG1ZowifOQmS7Z7RiY1HuxlHMCIUiuDSsoKp7GXCa/RdLhqpam0M0eyVy96UW56YdYEH/mLWWR/v4F39/x+gFI6CnYvdNAAX3K5rAqL1Rwb+8jFKsiFTUmN7ggrCSIAFERCLXeIfqJCUfxNHaV0qS8GKG4B6DcOSZObktpUFFu6j3xCi1YKKtv6NCchPPKXFpwJIrtrN+yRURnjhSs+cQ0SFL+2xPXuVj/VhLD4HPYUPOaLSHN4cjL0Qji/8NAR+BuBmdHfPsQsppew8f/gMyPVZfQ1NdeIIMgT7zePI/lH4c1MKJd29wp4dxbALvKq8oiGFa67H2Sg+Y9x+ouZFPrzYEzg/GF3ynf06ZleTsoGxzR0/Amgny7WEjTg2KqmePq+IlBG6+rW4GICNLIMCw5HGf2TPT8Q83DYs2BxnU5IUqsEL9ydgj9UIXemqAxaE4TVWwomYYbHR7d+tb5OjyP0TtHeoSxodWj2S7BoCQ4Y/HdrivSJfz6TgDadAlgfBON1TFJtexaVM8AJ0lb2MEFVKkgoR0x+FTomcAts6enEei1hW6nveffM7A9vrYHFE9iHkz+vkVkkJg8cu4KuW8v2DVVEpTlnA25bha2ueZ98CugisMsohI/V9naNTB/SFgVSK7cR4c1d2V+78Tc+tbRjHCTtEe0BtaFIyTBq8Ouiuio0WfGyNg51w2bDNms1K9RWZwK8nfALVItXhVGcBuB6jNtsbGbPIfy2eae9zNu+GHMhmVVdiQJtvzFn8jc0BlP+XGipAAsRqpKb9o5OKMWBSYfUDA3+8oavXK1yBfrC0+sZDdnPYBEkWfPVfaA3Kd2ehh6ehODszGwWhcjR04bBx/Rv/nFQhqj4JU0un46xsek5TyDqiZJ122Y0zELYKu1VS1IR+iHe0hg/uvxSehftg4hrVNR/ge+U1b7moQlD/EUgL7HUBYMWzUqeg7XeNzgzGlRsOzdOlyMOG427OSfugkyGXvmJyAR+bb4ZG7/5qn0vedzyAZHKH02xZgwewJd3/WTeEbhSfR35dzBtK6ZVWywKlOzexzU3kShAQzX0wlLYXVAEW/bjzfasa4FgPRxSoTbVou57MuLnnTFIgyhbHFzzlO4hSWPYnPE1b+ohLZOID4jIeyd+zlfSP7Z69nR+2uri2OEk3xzmxl1pGPQsilgiKe9u7//G3AkH2LeRbo/F4Zi2Hzhefl+ro/G6JEw6en5fUeA/hl1WDMzlsOOuzsDUmVOkgURcccL/BSAWyl+XeyQTINVidqqpMuriBdS9tJmxHbrFz030I61PkSkv87gNQWWE8ZYsS/JkQS3GuuL0vygbgU7OYWxVe/7GxJnorIZ/sO/0h3WvCSG9h4e7N8shdia0WNG92uk/AXOCZVWtVq51bnr+mT+joQ2GX+UV4V2hWX3LJRuL76W//ysv03GVamTUzCYqAPaSrY1NJFB1Bz17w0u+Cd9yFkNoiMA/GReParWjN00EUBvhMeiaadz7K77djoEErzROkJNryU1FGSkBFOxqwpOWzaBHWN5jIaG8E2e1VOJwxECGqD0wuXzS3PWCL8HiAj+B/JyafXfCk+pvinF5xGGYLhtd9vmpKBqtK0WhXR7jzjPmp7UOVOVhuvLGXTyTIYPGtuMeoBUYoT3SdNqQXaP2I/WUDnODzx+fcNAHD5eTgQGXp0DEYFBTyrfgsU2InVQpCfo6MNJDg+E80qtk4uNhDTkTlmHKMRlmMaDHJQgwRaQPwp9zsXnBCfB0iXcifBtQGvIgHVFFGUvpq3Y4hLsCMl6xK1VhK/F/ldUwHSY5roLT+rZaq+FRodlRlJUe23vfSViQ8O8RljVmmtfg5gxnNqGayotLe5mFQuTGIO/tGm8g0hZoIjSBcTLv72keMLjjWkWjJij+OOxEG00S3nGceqdk2ORbnNRLvx7TFj//eoUipVviFsHhdT3jexpv5/sfLuioM61l7+DmxEYn82I+EEwGxlHEnNoMS1BPBPdzZh6jTDIyl9X4O2hm2C8hFTD6o3mo4oMY8/SsUVOa2xCz9ZYFB8vJ2mp5tZUAb+i1qfVKPiS6oUCbF3lUdDkZxfn/0SrZGGDnugT1Jhlf0Fco7HQ8MHog54yNOj8TQsBC0NmUsKOYkJ/Tq27BwRZL1Wr+8jwBMYqNMCLWmn7jI0FPOjOSoJpqFjcZ+MeqVfsyV6ZgfJRIoue3krAPMTgQztdUi4JrKXxTUkpiE808BumHE9LxvGI7xcWKwHFs5b1NTnUcyNufxp++vvF3QvWk123tINYXvSoG6HtdO7ISu2I7X+7TCLyTjKk/pdgKyIIgmUrZQI75RWxvnp6en6gbYMRi49OQb6kqzgbxGQWWNpHOrdHZEsc9/aEXTW1p4pHW4PXmx6STZ9KBsHWeBClR/MMWLNc8xJEJAAm0pn/BHpAPuSWT6JXJ113aqV4VsF1ZicbAB1cMrQzBELV2tnA0o7/fyTCWcKGXqYJGT6JWdEg3B+8EEf1NESX49+79JxjkCuVGcSynXIIDrM3YujPHbIEdHvs+1vAhEFKuCIDrn0+61BB+f+h29w037tmTVpwv5Fh8TA1gJaiCNRwBCeBx1Vh1oI8vcpChTNbbVSyd+Qlj4UssHdWaAjIfDHQ0ETXjBOoPbu9QHTgcGKC8CAW/wBHdKTxLGHsPVZL5kL0uY2nx5/7Z7L24La+YKHXA/DcdcDgQ5n0Ct0EVDf86Tcg9ICwBHTJ+5zqExZcJSmdeDN0ZiGQ8QGCE0gXBLeHlKdl49ULRvqUF0FhbJGSON5GfV675FnmBEHvw/gu+XO7L+pn7P7f6gmEMV5pEfBOGkieM/xf2DmM8dWHJemtfJ040l7+Eogg+R1XEefLtGmcQse/WfHMsUcwpmqjmX8dL/aqBZPjVqDjNbjL3hTfKiN7nTT5K+WW8MjL3kvpCzBvEtF7NpP6ohgmwUxM/S+FIJpWSzq1wRDklFTjBsE113to6Q4SBOOm741O8lSlheIBfM3zILco28kaj8rLfK4B0M5vUB8MRr4fpIgcvQ1OUR7D81+4bOtl8r9lKwCIVbJHggNPR9jVnKhcluok0svku38osfWWdy5Qlzsghgha3PrcuRmo6+I9vm18Splio5hhNCyN7ZwbuQouEM1kfd6yx5gtiDrlAWDYNSd9IPvphF9Uk5IHGDOsyHWUeu/Dl3S2494JHnKOXw4TpNbv4g+oUowhlsTGY+Eg5QdQF6N0+kHNeqMoJF6Isu3kCHyvgPyYN4OKra65TCjo5dS0fColI2AnrbVfCp1g6kIMSTiWMYuik1hL9h3fMCekiAx1bgR0TbKfFRNiRwt8NAU19/aSTLhPLhmKty9I/YYL+3CAZJi0wNsjUukqD3NwCZGtbzel+dCQrFxSO8dA/Q7WPAhvml5OoVCFuXiwRnVgTpWvsOjgtNVD6EiENlDqCavvzWODBmNcp8/9ZwqhG0oUSA5Ta59qUNPrEq+LN2NybXPMZZ4JOS2Ihbokow0unP2izhIY2MqxhEYFCNovbsbE+LsB1r7sYpewWe1tsZli6hfL/7RWgemVOcjDAVi8Hk4InrOsT1oaUsMX6sGxjYhqplJg1y2NU7LMpzbQQSoSXg5POy1SmHjjSekPOQ8ud3s6+0rdOwAp3qwWTm3dwQQvGobhDkx3hNODKUnfXfF0hEkrBignjIbGkjm8UJrHIBaYCHQ6+cUX9xAqb4lUELChNEgr+2PD1SYJG+f+ghkY6IQQIYlNo/TvfVqPjv3qtLc4buAWGKSI5Ez4XqdnqMWYKb8jA3lr7RUnYZXX9OYm1WHhv7+M9B5IqSFf7xdH2yfjj5ZneHodPeww36aA8kupTx/BbE3gaC/ZZ8gUC/ylTB0vqGdwp3ZcTLQr583WnGO1/7IRh4FGkiAKwlWMY1AQ7WVSWmhtCl4bh3AelSxdiViASSOwYtLRi0blWl1bJPshw4nBMBs2LQf3+LPr7MPlHM9EHDzkpa2errYDlPTk6i1wS727KJxNGkdEQA4pAHVfqXAxaVguKPkjVhoLXjm5vBnEDY5rsAqt7veIu0/dAvNj7BXqTjXB6GdClkNGbUv7+9tVkPSScmQ0p2BY/ZQ7IljTHrk1yMAorCD+neaHNRDm4WdMKeeJcyRDIVMimhKpgUKLlCNDmy3uayDBJlr5NVFuMtuRl0xiqxOSaK0X9Mz5ufs4FXtt6g0ZvjUdUDsvKbCCaukmfqff9232sVCUoTdKQWTlusq8nvvE2Hj+nGzHEUPPp/f9pl5MUwI0ijWBjgAcZ7TyFsC0kugKON0tSoa+nF7OlRPKWbR25A8XeEfjeTclc4amcLweH/8qn5ghAeuM7LLj0aR+g7ekUTOjWWzgLOmJq7LofRLF5O54WxWg+C7qTgTicrjfmQ7r8zmFUf1+jY+xlgpTLxfnz3Vwa0YGjD6Q69rpjWdmJUaIuwYpX9OOa8V+fEQixGjIBlP/80zfxD9NOE18UkXAZMZsSr+zK5IhlSTApATb82SYF5U8dbDi20+ssbXO14dCxQU53rYXUr3k05mYybzwEsCw4usfGOjYKpN86YGKWW+L6ztjtuLG3kq94b9Qe0YCMxkqmmXNZXoQ9I5SO2AIL8ognAMrgzkBPRHqiWhbt2h7i3gOZIZTVPtU1Coz1TiIwqctATBfDGDLiaWkDNNYeI8tmGx0Zb+x3t/pUC1Qi8laBNulqLr7wY+DcFDEeub43UyxvcycOP/VjztT6DdTcAP1RaXGpR8JrTYkhr75/FtBb/PdJW/64z1NgZY+qKnR3XD4SyzW7ZTreyuofCwa6wNnEG5tzq1aiZVPl6QAHJ0JiGSqxtfuAZrdGwB3hYzXT87LK1TxQpmMGXuSLlSQwl/XqgvBUqaFDXqZjF2BCDxLbOUWtRBUOQX+JKZz5isjVtF4UPfioudyAIWi944S0cHeKv+tgU9qdUBwZD6f2gNC3jQA5u2nVOyOwqf4b010pKfNKFBFEL7UmvgQdlvOffm8H9kP8rlKZ6sqlty07vM7BpI6TUTFx+GTGzRn+/N1LiLeXHXAN14gaHiR1xBUQ8pjr7azV3rj0/W4fi5mzXeaRfliEQe8yFDYUgkAkmYow4zTifR6EonFYuvcG97TkEv7ZxUYUtZjrLIovg8NZQXJuuCljIX4Pt9ZDOIrJ0RRrxdMtXM54Fk6+UaAnmlLVeFGg/neJeaulvq+CEx79pf3Nm4FrqGp/xvJfLHP7XI5RT1OLEFVdF6D1qr5TfEOqVXq6Bkr1B+eveFIhizMSUdzKX0npS+Q1+cO13Ub3blGLbFyE9LEkYst1ygroIjkRbhNoujCkvQykR57g5+3W/zwFxlHRtZpPJcqpDLAHJ5MeZQ/N1Ae4FIzSGjGxHFNGtA8CF0O5ARKUb60b9S3OBvGMQUsECBOXEnDetv8DSIEw9ePywKE7WYy76jB6abMtLIl3YsswxsUYCAAFUi5SUEQ2HP+TU2ZmjLxhIX095eTlwwvLcL7rz8r7fSVOp+RfMcxeo9dDJ2uy/K9RN/0S+r9kQNdXycIGr3C+L3wv5h+5hx+j9CcsThMJ0S3z1weewhO1WHp2tF4uiivFSh7FKvUJlEsqkMNtB12s7t/bPZtBtmbcNU+F3WQ0qyJEA4G48K/DjfLsoZ3fFyevSMvjW6BX0eKWvdLUo8FHWLeHIkGPCIvxt8TvBE7HDlDSr9Ugai3+EfqDXQflTs6c+DpDpKukZH52U3IufqgERUJx0Max53olHY+GJm+03imMpu/XtI6O3SE/qlWEMztIpBYuVYTN1Yb+c6mKgt15IS+G/SRQzNSuzzqaqPQjJypAFdgW5asvQAlsEeRzzx4ELc1egUwql3suwS65gbFUax3ku6kkg3IOeFVs4MqqhZFnpGZ3obhuz1s+ziXT3SMrs9Jhy69bRl0I+gJf86cZPvbXUmQw0CnU2GBYXtDAOmri6c8pkxAAW95BP3pmgxNHBKdSCg4noVhCDKIGveVKOENHOlumYYDk/RlFoRy6bbFkDhpaQOY3+8iJ7dbxd9sebmn72Rwdpd78fB4mHd2Vr9klh6VnFJuJok15H9yFLkOhHCdkgQotVhDuiuljJALIUUmprcYEmW2VoPEKMWrUhbO2riGk75a273+1YVRJ2exWCIYaMsU9BveFW8z5pOKyO4AUlBkAFv/TxX0fBAGhtr1Cf++gKPD2QIor4fi7Daliuz5H8JENCOnmzfI4NLuNw5/YziZ5ehp9tcHLEx2D/gEqyPHuSc9vsssU9T3nrHsPwa1U3oepIYhZU/rpAFg3/DCaoTH4wZ6LwRZbEhT+4XfZKKE+cSCqPd/Fe7c51olOXb2RL/8sCZ4Rl8ROuEW3iYnAvfk2O5svJv1tjKYJufei45v32xNL9BEyXFgPFEMS4dW0oX62mxkaZYlMzcLCmkBumYaRG1edy+AwPe4nI2jrhRPMhQpQ48FF291IrnkY6Hc/lKHvjMW9M9O4AlfwNeWJ0bjX2s6jJY7mrWPwMSIqK63YAQPoc4bpzBZ4s9QhhIEKDjy8Ft7T/dT4SzeBtQrdSyvooX4XhCCQbmCFtXRuYgrKeDPm8OJhOmiyFtmyyAVmd5r+SfNAyTHqk2mFZJ5z4vlRKug8w5BPIREMsNv8kMoeNjCdLi1W4U6FfrZm8d6OWXggyuwAASl44F4f8piTqkIFQL8SdLxJ+LxUohQqPsSffkr+VlKUCi933pURSNqJ4PDqrhXIQZ7jhH2nZgDrDZiuGXcksBK9wDQVZ7PGuJvBPG1AIxEoZvg4dDGufP3ESowoxFCWUB9wFWKwohxyRcdzdHcO0gpPIkv8pfDSRM9ijaDobm08tKw6aBxQWT8DxEDPcgNw9F6H8cIm1RkHZ+ESfbVihj8G99P5W5/GhCOOJF922GoAdRGVlW2/y+83UZ4YLvvyUBc2LDAOmB8ZiMrmsrthPLSnOPQvu8kwyuGeNmA7dWM3Igg34nVQJuKpJuswxhtbv6tszu/cEpONoh6SI/MMSxOLryz86t3XOlFxFpc7kJNJIGg0zz8InCAdRcQEd7fZuQnPohlGcw3MGLaKsmntpc2r8MZtwrauKN1b+cSaSiSi2OO63ctIJe+ug9mh51B0Ky/TRu0aOa6qCkRIIrCfMxXS7hr2QiCeaQjjMcDwUQESUTDHw+mzLGCyXicuLnypRLTuRJn8eyNlLEoAR3aJFmpwJ5xEKk4ptfk/3HUQzihKCrAjJRsm1Z3l2m+hjS9vYGxLzyzQebCcFxZGuko4IJbwcThX5yRupt+5FE2VY9nZJd/3khMh0Y31/R52s2qRlwrBHcy7TYTr+Z5nS5HA7YxAgq+k064Mcnt8i3VujVsr2/1Wn40zJt46a5dSqDYY5CYslqDjL9um1IboF7S4s6jtk8yjOiOQQUzrD5fh8bsBRM4roCrrDMJ6tDzkEl416SgBV4dpu4Li0Ql6ozNFJWivbT2Fa7198aFoeY6OZEteXtTZo72xBnegatM1OBaehS3nmON0kdahBInR/qn4j3QTyR51inqH9MPjzGx2GLPyR58uXdBiinTce0H8YwTDC790y/AgGl+QAcf12usviZX04+8bjqFx7tGL1WL9ovqY4tN9Y/GLq6jLqkOajvoVws0/abLCbiq4lbfpWPhK7hY/4Wwm4imjRoMZ8hjjrV0LLNtdek85gmok2hsYyK/hwdk5xuuOVFF88COqQAptOPzaKspwcY3iYMLhKCYIDHMPDAZ1Mop7kk5WctKNPVivczU/5aKVRdVQFYl+rvYRVOjF2ThosS07PPLovdvlyyffulW6mseAbj/iyks/+4DfmIvRGTzOAHpjpSh0Q/YBuVXpKhuLZKgMxvmUdI/tf+sLHl/f793YvcPgKiwGIZQDKwW2jQaZUeEMkv7qG4mgD20DDCqaKlHEaC4fduIM48LSkG9ePjFESLPlh0UxXyqFXDSkN4g8C2EDi4Jhyfv0OxmuLknv2HkkovgGBJow4N1kSx9+eQeeMebAT/nF1Aed88btWXPyjB1vSN1vwNxuiAQF1hU0mictYXm1pYy2RVurG96OFpGUp1MU8tiLMBgfM+iKdaIu8VoMoszIvcYDANvWmoWuNiImU5xgZrqf3g4SKvr0DsgcxUBD6isScBpWEMFMsoij7vddtnMHJeD7df/6vLvUG2arUcy1pYpBZo7t7LY3xE5j/2RwgmKLnUQCdsrohaSWoqxcSq8jTbOFURgRE3hLS+lHJEPN4e1uvosRCgl9Fh/PTfqMpcyBRAPjBUEgluGcRA7csfPGkFHtwemItV2EiYUZG2GqyOeMMus+YKw51aPb5d4aL4oXkx7YU4hTlbmID1HB1k9BYp9UwcAdckoC+YEeBLBNhlku/mL8O4kSGj3iEeAXYRrypIEgyhE/p/o/bZTYuc/OVNSjDwyHVVWOJwbLr58eHRDI4m5HwHx8qmMc6pi7WzFRBc/ojh4y5nk17d+4f9263/R6ff8P/G0VQYsugntjslqImHKgPevPB1T7XzlSpHLpZP371e4WYBazV2TNoiwUTh2TgkYxFtk1LSMyWXWHLgk3POnYDkPjA/TJv1Pyk5MtnPmYo6EljRlBvvVopOqnz4c/6HgS1JtxNAvu9dFES2WKSvYFLQOtAAdBmfEtlz767/vUKKE7UoUnVf9dxo9+rFLd8p5i+OLOS2X05rFRN8LQSOU4oTCp58IkiMG8yuW3klv6G0c9Yvw4jMIxjjfPQNaBKhw+SnJH6YvrY6u1cvs8PhNfGG1jp6+pN+HbW8xA0ABSkmvMiPQ/mEcjdRYa/xOFRBSqSJjgrNVoWkZLHE5lQM6unyF0Hh5GXbMpNZVxMdg5p1y8lm0SehEKktOutH6VipWI1UF+6gr4Y/WUdTUbkn1HKLfoZVVtyW94JZMT52quTJE5OiDaoDdI+vaS8urHA7W8ZivwZwaK5Xcpop3DAkPpaKoER/2ddks2/3aDglJHT/BZt7Zt68pto/xpPNu7fUWkZUmYS1nAM51k2pziqnihuvAH87ElQ4xhmiv54tLGOVISLjh9QgEY1H897L2rKzAwJniK2x8oQHZJFdsHlw6EYjFJatzB1uoRNiFz+J//o0g3z5LB0Wo1vRSYiH0y7XvVgqvekl8x6jWob+qFhucW2mWSTsWh0REDv/8jXUREgXoySs7JC3ru1ZZYnIFQlucIZASAtywHtjUDRRWW8ddjrVQQnsktLQoIiKVCcUz3t4PVbzv+lRsewczV1IekeD5AFPYhA+YjFUMiKOgByn4dv9c7Y8tMm75EU6qdvqG8lOpvGrkDnWFcWnmMElwEwVcnQlzNTC8dgp4yln0982pXbRvr3FoQuk5cy1/BipkQ7lzkN6ptiphHX20c70csZDaWF2YUJufKA3RF1Oa1U8a2vMtazQYmC6a03/2/37ymHRhBjyPyNCauCaBN7xJnUMz5ACFkufmat/05Q3KeIyuPApCeaSFhFIY4MOmmlZECel9JSpMWPShxmJiiUdXOUWbdIvzkpld3/Y1PucZq1yjcnzvyP6nBUpDlhJWZPvwB5ZCDJxfMN8A+ipmDBq//pnLDiVPdZLE5eeesFeFmmaMgHai+kjwHYJLDXGKTLxZzgoC74NgGLrMcL6+OKAeO1gmfJUkqg1f5wkr1Roq7VeQx47U2gLyI8FFq26bYQK0W5HkFXktsJZLn4e0oFd7LGKoY/xqT1wHsSUpMWNVGvVVA7lTgRVWsgdPACP6Ta/bWeIqVO78w9WEo1ertXM1kPvx38cIfjlX7YkP8NzSocqA4gNHn5Z8dJ8D7L5ymXhaJXdlkfTfPdgNcFz4XUBVVeqXGPwd6/qD2VJ9s8eX/dyYBAx8mmWpv1L7ca8OT5+xh+qV6XlWSB8yv2oFDv/LvW4wHJBkr7edTbXlOQvin8/VWQ2q6IKbMKuFBMd8pctYtnJ/qG8c7kWLE4IW3B7n9p7vzPdaBM7gydqqeX3UKwiRyq9KKHWwe/BasB9wOrnThBFNSVx7HAv8JpRMtWAj/RMPytNQZAoDs+yRFh2K9h3KOi+aks68jjCsL8FsIvoXEMggwHM4QCsSfRNRKqE42bQdbfYoQdbJTvhBigA3mb4M9dKwb9Ap3t9w6xMEnVfZSM064ejgkq6lDaycKJzmrm9Zx8tfh264jreQ58EhbyLSyz2vGMUXdr5suqnmJ5jiN4ZNvc/qLzZO183GQyKAfnRRLcTBzhkhp0kacwR+Hvqa42N3tjphzkLSxjMaEn032PJv2rUBpfm6xh4Fwug0yoYeffCSXFrDXQIhoTkPKXasvL91KxuLy8hmVgd6wSz2Y/i9SZOw7ml3jQs6VBdU97q5SECcGZEeN+A0txghXIF0384eDeQvENR1yJT3a7Q20UPFyK7Q7A1nJ8ZyzoVDHQXPUni8NhEJ6sNu7TOS2qQIB0AREpIc9/7Gs+u5JUPZrIFJWgFQgZwruYJmjYvON0SN6jyexWkyNODH55XDzHf0eeTFvHjEq23ix7/Kwaj2GHN0yr2ZKC+4mP5IvG27UP7BmuDvc35j+wC3BVZqZYMTL/sFfJBVqcRaCLSvAJnDD3LZ/A0PBsr9miT//tiNtgPmtgXjNu+ej51DCQiBQQka4YUbAdUjN4t8sXehUBp1jxX2GGYZL2gZuyxUCy8USkVcSUYLW12FbNo7ldIhixEPrKbDvlTDXbsyGjXGHkCkurv8fSxLfvZPovRMSMtEpP1Nezf6K8lCX30mYzY6OR3y73SxSXPYS5Nl9COl/FbD8c1L95nI0rAfGn0QKm2zPAERwDZRk8V81SAosliQtjsIjEEF1Tcrb0Uau8pCVfUj1pIxLiW4jZHW51LRUUuI25jh7T3PeW8xARckbZmi9yBmb3hyr5HC9hmZnmO3S/1Km43MK31XfQpABOSM4Dvtb4+NWEvqu8t64ekjPilUw3LuR7s81eTTAMtTPa1Sxi9Pu08zLOaxjYKTty982gYObIccac8qiYYOFXrfCiRj15Y7KLkHChKgG9pTcT683Q0FaBcg9bkFByYaCsZtU35E65gCWJr2Emx2FLmsaghskzP4eX90jVwSvHwKujPv75uxTECzBqM4S3+qAITAd4IjOau2+BqSOHImO/ggTgyUElh4CwA7g+c8N6q4F4pMobSHFo82d46yCewRzUhk27CG1O30m0QDJwP5h6OxGZjOiCEx9Kj+j45EoknF1E0WvJYoaaB31Ye8Ix47CcSs1iA0D6/Tbs7U7Omu/5FjPKljULjn3bPdQcaC5HnCgc4JUhrCaMZ0XWnkY/Iuzut/pKch8PE1vTCH5aGFQndIUncMKDj0EJarvaPrwtJAf3iFNIm8qZ6aG7mawI8hQgnvmCNDg4YxshWkUQnw25SYfcQ2WPSq1uTQrei97aFEf6KCpwl8V3LFrVInHUsVi7dgso74JgGy2p2UMQ89tJqGBdxQ7QjOFvsAs7k7wMjPQYgcdk+jsqdqlLXc4zU/vmecWBqpA6ZuQDTnj3Wp+3jpumpEksXGqBcRIPGfBYVTJnZmobiScJEzBzCsFEGBuVU3nVIariJxbgPxBFyssYyeOBV32RB3+S1Acp36MonuesYQcLYwxGi/Ie06gWaYMmFYKBynEDcNx92lSccqJ1KhRFt5g5LKeW0NQ8dFLdWZsOxIs6pwgfP3Z1oPj/RCzHrBjhxUcUZa5Eqi4MgxAx41armG7pNljByjRXt/Y2mQPxWs/r6pBTIMJsCOXXe36MfQA784n6+He0Px7oNic7VzeVDRIWPuH9g5stAZB6W8JQnql2qyOLAcq1qMXMopmt3b3LErvS/rpbM4tsTpjGliu+xLAqKpG/stGTSUpsfUHLeMNQVNyBjZ4yYQt6z0H7i9u3tcpUw8IfbZETcYjWPnCn7ER67UUB9yA72g7AolFQQAqFH676upQTRDOYFrFNRYDhXOF8CRSpD2eQlklOZEpQqKwG6PerDSXQfZKN8p4s7qv0O4Y0NIrBgtL+mkrPw0narrrF/h/nux5A07KfT+bpAs0RkgK5ii1JT3dPXNYo3qwmL9SMshcsBAdjt7QVhVMAx2DSwwgf88taAg9SXpWgpUUJEVAttSkXyTeoGOj6/KpxKJl3nx7Pul8f6pmQdSjBK5V3E51AEUlDMVMvTljJxaOTE5Pj+vwSPpgwEAL7YXPsS7QSzcA2CpK2Ea78muubxjED3D1v0hbeUWgYXchkTBp8y8d00X6xNPrI8qwh0K/0MXVeFVVIu5/+AZ5/G7BxY53DNjJsR4gaFXYnnkHBbC/eDqE2YPWNbvkr2FhS4bRXUKGjNx5OcQD0Re4XWDyeALufNzC5plNRURk2sOCFZvf7dYtUdCWZ0nryuPW9npuF9N+tlOyK5gP1WKommJ+HcG45aBYnt6pRNLdcD8RBXqlcVfE7lUufV8FxYqTTqtCXfIRiYPhIB9T897IdCyX0kHZmtajm4EXW03Dl749QtjJE5JTc+Z80Pvvx9FZXBLVhqsMkM0oF1f0ztcCwkLeSLeZ5UfzyuLebIjyc+BkegFZVbrtjzr4Lwx48igreGCA4pt6JVnul2ZUKDH5mW5YPnXABx8WZS6b5g/yRY6nyYFpOYhyJuBJBkGThejZPB7mSAGJewzzG1pa2FSLUtypOmFEayQhSmcsBAUrN0pBa5ywfNkpFN8KI/5ojsKhH0IdAuvvevlvmhTicK0iActwlYUS53onnbNIRGP9KaiLVK3YShfDSxkBtoo25oGCZ4VxzWWPQsNs2UfGy+zR4PmfFN3QldLEnC3CzfX1Z738EvEvKIPiLtK7Av6EkmrukDl9R65IyrT7Mux5w1yG1YN1AJ4Q553btN6qMA8zgrSTfsW4ShEz7LkH5FFcABTplTbsgx2ppDdgAriXBiORBBcaSJM1t6QJVFULmQmB64mwWTxUOXX6NOKywJFErn7VoecRIIKijzbuF86IEhMIiQRvK5cc3OY+auiuONpHc1QTiSaFR/7stTy5hU2h0bK7TAMt9Gd/jvZJRvywTgs7CI/M7SoGMmSiSTYA41nZha7cUvzg6h2peM3ciYLB0tlWbZDQa7fQFF5M3ZFan6kCesbSLd2Jbvm2pSZiMuxkTxLkPl5CG7P2kAJVWdlxbEjt0iLMaS4sbSgqQLocvjAqXvXtrRyqLY70li/ttD56LqSUkd0oAPX+ZHINswbyqf1ijBNlrTVv5mfNAZ/6quQidkJIR3eq3QIZJHKnL+2YAy3rNmimmzAFiTzqdOR6dKGNDMPxKyZxjTRoDUp00qlA7lxs9mja8lMLeWArbfJAl4NMXgnklc3p5ozEWrE1J/fga4OqcP8KUOLlIM79f9pZwZWTCoJvwYb+47lCEngwSNZGth23/NEXFi/AIAavYku1l53rPUKF6kqr7pUrKmyPEz9MG8P2/b0GyNrH4VUu4OGxnsCmD8tU+0gt9ARUFH1PCqgnUTO4xsNvXwgNMJhy+JpZ+MAEMk3zNy41sxp/dzr6oSuxnvMlD+XqIUzYOaZSXoGfwb3B4sRHdo0PoZDqV4C/q/lR4r5RDuloBPCjN/NY//fdhNU1vh5nzx5iuNBrbm1n8gKEKvtPx2pe0ThNWdPQ9lQrEMjL9cqIpC0ko+rt2L9n5I229OdAyt0UC7R4BvPbJpplVWL3qxRj+C8ARXWYHbkMM2wmFjB+xC8Yj/cxcnsFFfVbz1pIFttJpCU9dvYiaWPr3K0OgnsWO+30M+Jzsvn6LpGtZqIDLXH2f6BNaWhzAIdmw6B2OwhL49aXl8VkAyqOk4g07nqGgcPO4r8nfEpwnCPLroX9XouSmWdoKYAN3m3VaiHGmo9bI+m3CrrUzWxa36cymrnWrdq152VJVmyPvof7WZHBJ6DD6OjkHQj5l0CDd7wx9oCHGxn0t5MBend7Y18axm/KFajy/QX6gDckJVDgU+YT4NyjUrp2bhx1zojhkoZD1G6ny9wDYg0K34fspMPNNNmkoUWB8Kp2jSL9HijpYJGobs4/0O0SQixjKFq6vZHKqLG9xOgyfpPQ2KctiMW/ZFTMRPlpgQUSZp9q2F0exqeD1t81vT08hrQ5uNOExyMvZHRdPr55nJYyqt6KrNti5BTNotavmHHGVYbDOGHm8TECRdUIqjcbqvECivWRybxfMgjJ3w0fTAb8TVC0Sg66aRI50vU2tWE8S2hNd6YDLg0fWAIHliYKTi/gple7O5CLJKhk7rZaY9KpIX/AHL4T+ZPbfcAx8fMpxu4f12e7KEDbm7JZr5IShlUr/26EL3hQmT4ZkVbY9iZvZeAFjX3PQP9J3ZdXzn27qYONS70CGWaGht+lnACwfdvV06Py2qDXhlvTPBpdUg7WQEYQtO6H5HRDryLScRe35ycmbvZJRSbron0oKQlB/m5UIElFfqCcNs6vHqME3StbVJlYTWIZ0jFFTM9Wx3Mw3TIKLp7YfHIEguNIeBc8sIHaVj9P6ha5hOKtZdiclygFkF6UirkL7eeqqPmB1c7WZWdY1PcNvRlUsquviY+1SvUyc7qSVK6/EH0yd4+n5OID97Eq/Co51wlgxZkgGc4N49vHsgk7cokQmcqcbiGUhjchfna1cnhU8vvv+rTfyMhmas0syLwUQCpWVClF2S9LYlnU4oRhy5SQiQvVrmglXpN8eyAy4xdPyUL3HLF7XocUigcM4l6WV/HqHEb+1k98pBqQsYeGb3V6GRgPHVoJJtByoUr7FKjC2ddtVmxuJAc61RQMV+r365b+BBHFJcx9sZ5LuejZtBfNT7Icb0XD0jZkKKY2abteF2zDJ4p2Vc3XRpSGywd1IR4dalOGsSdv6Z8K+mRYHUlmAOH5PsW6eiW5HjLDaDxeny+iZQ56/LqdpYfFB2LkEv3yyE4lHvdVw0fAraV3gn6DbIY8wkQMonoM06B5pc74oiKWP+Cokk3UrUQw0cCW2d2pxjU79Kvbm/h292Nf8kFapvu+TLNlWVp2A7KWKj53JuUOXrd8gH7XyNQTyqaOKwniXivkpAWj1/e+W2OBaqeD8JzzHeDm4HPa+EVO+njt6nYdLPD6xioByomBrK+f7JvyAaRKTggZjirmwx++EOz9S7fbjThKV3MOCbr/EzXYqQqBy0mmIbZrIvZ5w40qGQRG3ph6UbYkWe2/WcQQwhTt3Ms5Ue3NbWW4l4fXnnase8jXPCuCKXwdaRFi4P0MTeEWcApVVAA4We5FuMoCr4R/h+9kKvi3xPyaKnstZC9BZgc79kIZ9Tm/HyLKknqQuD7dyDK70ySR441aNbmchNhxy2XyXInCFQwDKHjPfrDs/cVhD9doePd+q6/Dibv6+T1EtcIdFoVdyYjU3hFcG4BxXLGuAZUEReXt6w2/2zpkO1adlz5tKL5Y++Jv0SMh4pRobNUkCIcVZaWrt3NOXrydQBaGIVKZYH4I0F3WFjNr2yrUBMhKL849UpQ4E5zYq9t/1k+zTcRKg4RMNYs20/PvgaNGdJrD9BAwIA5lg8LbXKq9MVAXg7WWD8D13QIJHAcPaZwCQFFWevqv00kSbg1OxXPW1KW5PN1QI6nkKGO/frVMTwaKELLARjno/mobePL5Th/YBM9oQZ21FBtVinZfQUaeXVqPLkfiOSqN8EYurJz1RZsuFEpDPOzEhY7sl11sHaQcN4F45s3MrzxFc3nnCx5opA705engGl/sZlSHD3nxdh73olnZ+EBiHIsNGYc/5SvEzpic+J99F0jPG7/K+9OeSXf90lA7kxtLi8pDNcXpWpBMpQvyRG0Up3utXt9kg2yopd4tHe6IfM2TsxB0UYf1cYIaU7BQgG0nsvHWHT59njW8woe3K1wuebM8QGKCERfOGwML5XxNL9mLxF8sNLpWx8y58tAquwqrxvtu7AbFMRuq+NX0s925ZDDOpOsFuCcgypAD19HxlWMELxpNNAfW25ZyKP0CuEyinPa2pL7Lf8BBDBFivGUV1aXM18L3r9RqI9iMKr9+3G5sfKw5/CY5yCOfg4+pCONcLhqG/Qhw43Z7greTzYnR9V619GUy1DBWmgmMk/Vo+dA4Ao492pZVwKNcokiqbFrsytpdeEzVsMnQc6dzPivgMqyh4RDL3jze2eY6za5W9RnDAuj+4aC4wn/C7qEqbl6jk1HVAinkjY8yb2IXhmIRLq7HSDMr+mai+0yTdHu50HjGlU15HTLIONzuVVYLDpK9wuDGR95dTEELbsg20DvGvciMvQMyheTiDXpHENSxhyhoVQ6t14NH9U9IFZB3JNcSma3fZQ4mF7DEdW2kCGd2vzC8mhPbLikg+PZsK61nuaQjWn2fkE0UBOFVeZAqmc6HNsi1lnKDkKXu6C8wYCYQpBaypn94iBGIWETvDBsdj6CM4M8nJOv9cwHn0KL0SC/FkQI4AWYDMUhaQS5z53QCUjT07UQM4VFnE1JvWhgfl9gwUfek+BAE6WJMgEeq0yxMAeWZpjvrUH0FuZZgK5hpHjpgVqzvBev2NBYi5MhfA2/9goZImCFoJ2hrrhvf+WTZmjTf9l/uFdJhphLOR/sSRHckSjZZ1UaEF6fFJ/zl0/DlbVVidYHZ1KzXmfIsHXG86gKYFUnyHhLGQkH4vGVcm1Dm+ny4H3gSqWlEGAh2ytRBRp+5KC75ss4n00E7z0uyqkj2na7Mug/HqVpI8iOBVkgbezk6f13ZncsvFpKE7CK6qRv+DlF7aKySSL528PPIh7GETlhiZaU5l+SrUf3k8rbvvk27buzt06qGmB+idTsF8hWCIOYRnGEjSpCSUkZhJNYubNq7xJMDumWP/kryJ9quGOgTVIN0C9pt0aWGRMtJ+eevtx+Yv1K0Sxfl9F8IRYFwFg/MgiDBXtXvUEMP4v04wUhgbd8rgkekHZMPBbIBy3D1xrzpIN+wPmYzq6VvsTutojQ3e9FoFKhW6dNV4Oy+m5Wf1p2rSp62X6WpPiDod8+IymzGk4nBA2hTOd4Dnv1IAOwK81JxyjmI6Tujg7SAcM3jAZi/LtzPXXq/44BFTx79HljQvh/U0W4RYY7jO1hOKtZA2C2aimFQp4EpQzApmn6Dyp96WUXGEWLJQELdDPWJ9wX4DklNIfDN8CH87f9VcyvtclmbUt9TpqQ3mCafqzUMCr25PN0XYYGaqIaXuukZYByVMvXqzKXUvmtxSPmdTihA2fWNwYPfYUkI/YxjFZJ2ebkYuDwD7twVzIDw0eETHH1EN7XJChal7oy0QLtu5hJbtoUnnlKNMtxrHpJ9lesiAPZ/1dUz//QZL4IpFyiA+TleJMHQToS0W2+Mkhy3r5C7phP2D3J0KhMVfaSqeCcTwyTbu6nG5j+fzSMClI3vPy2NkkU5l2+ZDaoHREOV+iUm79a0Ndl9Wl/ijtXvVKXCeENnl5uLNBd0hVAZvDENJ3/jo9aLm7+ak8z3tWx5884wfOd7MVu2kpLmulBIAVYCbxnKq1bXr2Jx4ApDnsM1TeSPc+bCx4gzBsMhjOYaCaPtAns/CUXHlrVKwZcoYh5FFFrz2atSRggXSGvFK6kov3JO70hdlZwmiRwvj7Co/OsGVeWRcSOy+VU+r+GakLGjMifLRPlB4v+IkuPdXDFVs5Ewc7+3iC+XPqRmoDw5rzVoPHJdco43PUWBgwaKxJ1p9mLuEdqTJknWrfTIS5lCCV0n7kSCjj+HGeSq6fqhlpvjRKk+SDX5XADrQCaEFLP45rBKIOSmiJ7vVh/7dYsVGU/stXAIVLF/oDZL6CK3yHUzCnJAwyhAySoS5nGY3g8fCYYPaue8mfE2Y48Er5d/v7/K+chlpEKN1CWIx8PCcKFjqMzc3THf8sRqJ2wIG8vI/kJYfxevMoIIKqVRGdF5J4dg7AZ9DsjN9Av4USjaajPR4nFsfCZRE38pL1U1w3YpplswI4pSyxcoxp5yD6tia1EOEGlOMpoOnPO8iHVD6eehuTZBX2QO/j99JPufsnbO3olbPLaVBVzVlN0MTtDJg1YqWSHtn8rZWXZsEjEHMbe78Pe8ByaOjR0tQCfQNdJeyILtVzOwqS3qtNSNK0l4Vo1l5VNNVO5ZyiYqfDzebt84U2R2plhnPfP+mmB9Jgv5oba8nRtfdTiniufwzHmQYncHSWAfCFCx/tMWwOi+AEki6u4hGd/rkuITuYubG6+2gyRa2DyfEtB5nI4DvKFdAh/QwYqcAomia0JYOeM9gFUABQ/6ZLU0vqIjSQkR+OWQ655oJM2d1xFZQszykFInIfxWMYrlv7E0+x2KwzV1zqKgfW/ZoyR/C1DFlb/JDQ4EjDp2AYEremz0c5hhoKlS5uXt9OG7EYS5WXXSTYSQKeWZEmhZ5QaRJmaLU1GX/MTpR5h1Rerh2sePH74YnvD2LTh9qNzHjfVLDrHhGLDTfjDzWy3wv38Jyi6+n9keO+19yHXA98lf8RmkI8jZU0EmwUyNV2aKWWTiMDuwm8y+MyADDX+Bs3u6qNZ4D3eheZ3VLoUkJxghaRbrPXLnM0zx9SCMYXeFdVodtT5lKM4QWRJFOcc9LWoz/xLA4qp+t4mipdOGbvEJriTRS6mtROMFD9ExlwtXFdDWTTfovj4I8hdwNdb0f6p2oFw4dTZs4ko3OA6czKDlj1MzAzzSKEJlMMFj8oTkQkKz9Hb4TPdj4xZva6tmb7cTYaWi60eZxAx7kC6sD1UZCwC3KhXChvgRk+4cyb+D/ZZYBiCKwCs1+1c4fcVJoQM4Fxt/S1sSAun0OPCH1k5GY9RvlTUjPBf5jS7fMe/m90ZQYBjxWj8iaOHhWkpC2p+hRMclY6Zrvxl60IaNsk/3LXcpES/Vne7olSbVEQ/WT2ZErpOKYaUPjN5KtmB4gxMQbX0Fr2O+RgRNpgIGSHi4NK7EaDMn45RKS900+0rr1GD6+nQwT9KXNsh98piuGI5LwUAS+qTWkcfHIFQWSK2FJlzZ8Lk8baRxJgDMsPRMu0pxQC5butzaD9j0V58OZvpagjdCRsap3ChKcYotv2/AzQeVIK6IPJal/a6H5eFOmAteSPMBmtoV5s1N8aDm8VtnkXLmEePu5XAa1NcRI3/80g6TDxKb7mleQEOJrUGminoYWmHsPCLP09LjcyYXW8ypo8PM0zNl3ibwD/JtLRowmUMDcB/eCzbh1sN7J/MzAS11KTotSXTHJBz/F51LihUg3Qqgy45b9kjLRb93Y44/fsBogCKqGLOyI9Xj2FhmrwS5cWd510ZtRgKVwF5GBYzMX+KLxnOPLvaK9gYq/hGGZ0Ww9D7Iij7Bv8adwxzOpNm1g5L4RtUa22ChiqA2YJPFsXisYUSu/sF2C8rGkzM9XebSakSVG2AygdQ8BpUp+c3UDbEMY9qRjED/q3DeCdCQi+5H78lvnd9GevypNDfD7B7SfVpu0v+4kL/vDdXWp8D8tvA3pkNAodnG5Z+Pl/AkRjaf0p4Q8EskXw3kYJt5wIiQ2h/46nxIFdhT5tAVGlkeiseZ+SBTqAyNz1NEvqtHDLqUStd+MKsTvictgorQKD7JdwFXmMv3hSee9aOigEugCujSjB2PcOx3j3E3GSPD1EOa8Ax4Ork7FEDLAMvIMJVXsKlZspVyxFroq8qCq5Q4oARydAv/I+LF6C1sSE9hFnw9LCje537wCW/9PciQZzgGpj6EkO5qSSYiXOknEO4N3XxFe0MaoiIClT6hl8325xmZlNqsW6dt1eYt2UjxMovW22oQgNRifdYWSISUUgX+ghI83WmCvdNM9mZmeUIYEBeQIYipe6zwQ6O4jpgQ2wSpNJ2ga5zr4c66UgDleiHhddqNp0ovUomPauOi+jntgDowdzsKkkrk93XTPcqsEYK8r0fUdCkEIN/lHaoyVuZNdvlJB/Z8AzwcGZfuRG+lnUTxbFGB7sdkry1YepOWfQisnchwkg3+mnk8uAuT5L03zjiPs0LW8VwacFuL1lgwI+Um1UWNpcHi3IanhSkDp9Rp4Sz3F6g+VQA9GXwv66AIvFXOl0THJVHOFuKNQahIHpgfkg90wdEdxFC68DjNCCWvaowwRkFRmd4o2PfVMpjDAr6b5LZ4VWVgyHfmWy8AS1uUAnoPMds+qzZjFE1cVLSEqcPZvxxwR913zeYc2+wtFeHUiW4DeOkPkFlE2m5OXBXhzmofil7PycmO20ItlOLmM8fCA8F/vFkGcHbHoaDQlZyW+tC4BMoDzJ/B2LAdGYHsczeqR1av6E9acHk8cx0g2K2Q8NdGftgdDgI08h42hjCWcXpsEyZU52wkQXcdKCJ/RBHcKwJ+b1WWCTJF8x9GtucQ3w3hUc8FAh22PF5sUfpFANaQ4mkIOhGqZ4Fk0HgE8qVN+iiKt+akIw2tiIPgXwQhOTe574HX631Cm91EDUSoVqeEJ3JelJjVcbuOa59eLpr1Nsu7B0ViwZXw1qiElq/BHXifqGLlqhJwvdw10MvqjmyD93WQXVEYbIutMBLjh6cSnAu3URQZDVQNh6E4m6r8Qk/I3Mj2BdzFk/z0TC/05ltFPQWexLEnn5qsZcsSM+I/beIcTot+LiUzItDuOYS18wsRFaunjGqFfgtYswy0jqpu0TqVefkwXmyWCiDEvhPQTMAYcomNBdg0FovApJ9j1+8KHrZYwmvi2OQIplFcdSmH8r7Cp66yl9bG+aQtb76999x6vo06SJ8n1r/jrSim5+3fpoHnqp0P/fvdy9hPFSpWLMsRmjNEiWOJsl2b5b0LdwOM7qgHyqrM1BF/2pjhwtZTvba2+V5TNeSOTEY1qZOyTNlAsHPwaxst2R0Wmd2rJVSMCuGiphl7oZJYQjqy5mcRZ+DrgrAcixnkkYsGxnATaIpeLrCifiH0o2fJ7h+xhyhaY04+mjTDYvl+NGcpVX3tjnaPVYAFcK9nFaSGH95wBUntM+uHm05fbOP6MjwsyL8PbL/dn0yBEEz0NY/tcIoO/mV0b/N/HCY+xhCZrNoQzcdimEXvgF6OKYL6tZRBN6ack7HU2aLyZqqjYGSEUP4yZ+YoFwaTkE8LScx5ODqXXob4xEPy/gxJilLNuNfD09i8NVqL5SIypMLq3wjgg1u/GNznaA7Z9Ap80vpoVA5r1oR3xhDHLqoReBRgnuZVOhPDyHkVmnyLsNxGWoeqs7jG5VBI8ExgP3WXON60/goelf8rek/c8MYpzzoFN7WGRx5RCsBvkSVv5q11bq4GqsifNRVZGPMOUXnPwSoH60yo/jjg9A8oqQTGXIs9wv7Cq3hEG2iGUGJhedrNxLnp7Z73f9myEEUD8G91CwwJ/trpGPOzmWzLiNgW13i+l6GBA7fmJlZ/hFcdZA7k/JTpwIPiuWm/EzKwM7dAEQFiGKKwVisPXOf2fW7MVtzrmp+hvPlRzESplw/AKa13qCU286Nt7h7V4TBMG6j+DDBQMHMUFnZ2bP7eYchAeV4FCHnfFf3Mo1bgKflXN32IUusfJUP6vD45v9cQL3eQj4I5+J6KvZDKi8elUUyjrZOVHCD1cSqbYPo0rjT4J+2C2Qm9PM4M7f0sSDxybTrVSejLKgf7xrgpcO0tYoiO7X0GYa+kd9EWGqwndymoN1VxUwWwNHPrziELCBxFxNJXGMfknT6wasEndcVay7oFvqbVHYJoRvnavxCgyfs7HpN4k2uw0QEZ1SJoA27HFMUeF9KRvBMS+HYXxKOoAe/NzCbNAYhgknJzIlivA8rlRTxLNqi65R6mFf5vRbF6ce/O/7waR1SnDclmKPu2E8poLc1/yriL5BLHDGmA0Z4Og8irPgnvrCLrual9gYiVxbfvGKooYY6QE6n2JhcBortWkZB1YTJVnIsXeQiuebUYRCAnlq9q3GkTpGOrqLmTJ4b775G0JuPXZqM3Q+F65xqvCE3/DTfd3j2clbn4xoJsHz5+QZgRaV3c6B+PBI5Ag32abbNpQ8TxUzVjijkdP1/y4MpuWwJrWgcf7bWVk8Q1z8qM1UNFxAi5xABa+T+fedXuKM2eftKQjU4Vt0cQ1iraCFpkhTwUUc3SknC0R01f+EPnsR9ZGASJRiwEsEiCp19hsjRvATRmBYIz9g6d2bwrxn/rly+kS8rMxFNbORnhDUcWTTWp2vwuGOrmyg94P/nNpQGbktub89MgsvG2HzLwGAQyMwh35ooR8nTX3mQdF/cdJl3mcJJ4SF3kqMxz+GYdIuZ8Df2iwCIaPag7Lk5OVhoXszeQw9Uf5+c7KyDKpHHF8DCV22caNdcxliYhmCou1FXrNjiYf2kr9KAexmY+ZEBNGO310dJA2bxuIeaMHA1WCAOxcpTTDlUtkIcTqMNv9e6NmVYABgWCcQjcpMVNH9B/2ZCvx5v3nK/uVoJr7bBJixACk8iqhthKt7Lak2JgITku2Rc+O2YUWYPv6dvfNvP5pjGm9/AJOc3jGHjT2+g/9bSoHRfy+0jkeyQ6MsVByAQhdH2n4jXW1kyyEEkQHY20SI2xLnO2jbl1fhwixfqmVXVNr7H2booHHKU+9XSlPzzgAmgOvfmPbM5mqf+B47FXzc0iu3HxOH+5yB0i88fzZqj2cUz0LSvieqOzJaomkQBXxULtr6jIe890NzfIc8U9csYQpG8S7DYvgurTXXwyU8FzMZGO2ID8ykY/oIjAWrHT3NUaFYa1crU1RK/LPK18Qk5l8yxBM9TW+/HvKJBQHTBKFs2awA0MLGF9RRACQ7YJ8rUKpEqx10vDRlhGPhC2ylm/CrV9jWgTYS26Sc6pFurY72qzD935gE2TyP8IWOEjBFNrZt4oyrfXDsI5yeDdjORcGhdls/zP702QzP6I1RBYnzQLjuMEknxFvu3DbE96Q9W9jyHs4EPOKLp2T5fiek+h+xsCDWAMQDKhodglAmmKjQbYvBK/WckNrCqH+O2B/cH+wr0dxrGb+PsWcX9HNCE/4yrJ8LIMDkruOEsm2rlAc2fIWj1E+zZBi46xnfnRMs1inYuYNBGQgmJdv/AxMIng2JufvAKc4H6ixC6maYXPW1dfHmo27pa7nhocJ/Z5JcB0sTchyaTPLK++4iO9qaayNXx5CwHAHpDPklQtX5/CbKVuj5g8OZ5D0u2nxNXmhDpGzG/XdMUn3rIhk1FQvjg4WmvTIcg681Y4ln5cJ+V1E1UU0ABtqVU4Ykima3zjSI+ytUHb7JiOwzdoUwSjq2jsUlkcmd5V9XTpeHjJKSCHG8JbsmcGlEHN1NTcZnxvMG3Q6kYLPh/GWqHLWlwINuCB8BcJm2+NCw0vQBOFjja+MWbC4cCRHeBcao6M1DHj2dpI7mC4EkCClts25gL8ucp7mp6d+5sEmnf9VqsUgY3K2OeTJ8zaaZZW+Q37ZLdOMUs5Jv2+Zi9xm7KcaTyqMxSABDpClRfuZ1Kv4zu1T6Rdkv4T+pF57OJImCH30N3C1MTfvBDpeyvqeqXlwiz+64EwApGpL7tR7Gy0p8on0rYi9/Bi5NRBViry0oKR7u5hpvkP6KpIIVSNVUe1Q8me+wShe07MLhfbjZ6cjmTO1pxbWo5iQ4WdKFxeCMXWBJ5HayExbMv/21HXmFpNi7Ar2i1K1IrC2em/IPWmQrgiUJN74zcIQ9MTTRAoSs8yMuX9fjUgSpOA1oOx5uDCLe4QkwlnwD268dMx/UlSfSI7pE+5eqbjkEtBjlzjYKlD14iEJKQwonuqIzjfyXd+ukTqDeN86r3qcV3DMYFOFoneJf0aKrx/0DUH7/JHmghHZtjuG44Tm/cnVmTBt6GqTyiPihj8wlX7u0qfxmWnQD55ajzWdmHrtMNlz2d38pwDgPcl6pAgUx5BKsqckNUXzFijw9ASGYr9LFvz3l9ybf7N0sLSx6+dNDayk9zzIPRtgOe62cnsV3F67Yvi8cKvnhnANWmN0QPDtznQBU24MfM7Be9VpuqFuoYBPvwS619j3ICKsl1acC3GYKw4Lis1hQrxj5QeYwprnflJ+AlqSb0JFvNeUZXmCs17/RnS1AJYjWrkcBBrFNzTXSqhZe/1ftX+SB/Tiwprt1Nr4fnzlxskSMFgX50LdT2IXNq+mUkK7bn3+kOdB3lC6oAj8wK3qLjFeP7fdr7yvKjPdMK8upo7xZIlU+n5+7n92WiRuEFPOCN0h5km3j8zcu50qiw+idPeoGNaSzLBtZqqdkiNgerac73o1DWY50LvOfRqm7JAkeMAoaAW8HSfm6Ny+VDKGv/FFC+Yt+tOKPHkQzb3GWS7yjyqYQMrsRMkVk02FHSJScXfCw3osw45b0ublzy8M7oe2pOg6pVYGI4lYRfZwQcEfUa1mP4rUyCAM1HivI08Ne4VMz51cI+IdYlBDwrQH7ZjFdk3Ex8RW4H+TfytrrELAe3zsZkIfmHdYa8gGS5lxxkYUCxOKcVLL7K07gK5PGRxnSg6mppNkQKlrBABXngwrSWcIC+rwewzJ2aZ6DbAM/W9ZH8CeoQ6U4v5BZqsaSwKOG36MCWwwetA+m4q/paDVM/RHr/n/BSXy+ywKe9e2p+Ec65hnqX1iFPRL63NVGP/bTWu7Zvwv/u4ILyJyN+bE3tIWtHodXr4LGlYkcItPSQvAt419m7taSwjcHnB3edf46CW0c76SOOQxkma2UfE8VGxhbjm3i6CyMVHnPIyhVkSaE5wMrZdG8mmFHsjsPEv97EYVCYRWCmVwRNLkuTpAenNC4AmAr36+vaPt0oBPD/sUrbdf7ThVKh9jrK68w46wNZbCAlImPsziYIoAKByDbYRdnNhXdMUFuRLsGmbN+6vHui9cRYC7H3m1sPq16xIdOBscuILiMJQQ9fXBb0NwAH7eV8p9YarGVx+P6HFTAncZlz2cPhXeoUBtssi7x1LRwUgpgTUdfC9tX636Bgh9DH5bJhPv8R9rRillUAkwjfnLKs5ea3vQbtfa3IbpqXeJ6Fz1uQ2mby3b9JBFnBkLEi+7E1mtY9Whk/QijECheC5bA7F8gvi6wa2F5Q8B51I4GGtntQFW9lByczonUBNJSOpVOY/UWF8hLVI38oyLKeIGdq4LmYZXtBNI55UvCuWJq1QBmu/KGw4fv9vup5pRiuzAQmhhtvoXz5nEUSaUFr3ZOHh0IJDcryXnKleBqAbg4Gu7CI640xpxaB4Th/HNAz3QX2Dj0rPSYnE4jV7T2mmFKYHfMf9UD2fZTr5QRe3pG07bjdM5UxLgXT+SK4KXOak7j0N/w+NHddU1kpEnNY7JABFW/A4yTJWPCeo7wuYcvOYFCG+tlvRpIWSDRgkSkK0oatX+4JcuZ+oQEI+9sf2s7+ZBZbfZ6Nt7Dv6mUuc2iILTEXsV6LcQbVLSU5IgzTj/nq+LVyuEVd0t1jEfhMMstam8T3fpkbEazi3/66ls2q1Cok4ztFKCXOqMWF/cOsl/Hu/mlUCQ2EmUz7J2bTfiQNeLNcaw5SJVg+TM0tKaNFOu/iZrSQtuUfkgU3XqSyaflPN4aM4+mg+Sxy12Bdtro0LtHfAMsi+RmkiW45EpTxRty/mk2PJ5cWmQsCEd7m/XyQgl9eyVVaQ+kW8RrwndazEokM/P6XTXhdIjTmUA6NKkHgRNlRRiEYasUTaj/ZvDNbDObk8U3lWswf68TJ0GABZcvxpDl5AMK5ZUOW/yc1gfYDIwVQ7kVBBNRyR4hCxdcHxmvrk4rRrRO4W+xrmDpv1rXNczmJnLS8doe2TRW0vHuFp2uLPl/pl7KdJ/bz/UoVcO7faHsY0pm/D1jOmFw74m+wG6u7GBSNsdb9QY5M+f97VLJ0F1Z8Cuj1Rzr4wFY0l7NHt9apMH2nvKHyzQ5oXCd8uP08b93LHya12bOCweNE/Hn64DwDHWBq8fGHRzg3xnsdZioisKK1601iPX+7MUm8KRaJLSINEcNKiZ2s87MvSoNXWSmqdyDDxdZLlkDKdR6qDvgYYTbnCD5QX6qH6BIbiqRryPvXWkDlJqZFwlhMt44BEG7y45rrVuKMzfkAI8c7daJSuAsodJhN0smSj9tfWF+vtRplsqBhm7RgLgRsq5u6DCh3FkwyfJt34gBXeIvvSby9swc6o4oGzHDXTH3i5u0MT1jK6JBNKd4r+HMnZERUD0602ANVhqwdl5d1xT1nToMfPouo3mbD9tS5XDRsTrD5jKPFQ6sDzWCW9e00NcJRLen7GXvvCpJpsmQ2yM3Rtyw224CHCMXSzWXnp3AHthVg+UoIGbMUFG18TvBkkSxhJK8z870LU4VrcJjw+PjJzkwYPLBwk94ajX9acvlMA0s1TLwo3C6xIqKVac8z0p5uQyLhCIWT/qPxUvi677Kn0SIEZaBRsYkdixLnpPJE0pdAg/KYbEkxpp14puBJOLTh5jT25+KooiAQouzb/VMShhKAMr7yODlouEWl/Jm0Qzxanl9adRRDRfbh8SUit6zsqz4uvmZ20iOn4juOS3T0w6fHQvA1nOj1uXh1gvD+ue+C7ZeuE8fjPOPqgwFIfeBDbhBCzXQLaINmlDKZelMapcg+klSOOwEw598iPV01c0EAZC7HN3PpROMHLePJ8Ujp6rt3YL89Cle/yR1ejGmS8ESWu4+Qhs5WDHNPFz22ccx1ZDeY/PFwpbXvs/4rN6xub1Qg48wCiuMPW7h+X/bTuloqvaXNVfghg4ZvBCpgvKDx/ZCLnVnrybAzYIxHGb+NjkeDjCmbhjMPpnvVUXkcshaM4fvgYjEzHotTnKjc4ibuLBvNJStlJdkwxGLVyHln6ltTPUzB8CFTadtA5l86zHj6x/q3yHMbENMpGqpyqsS5pDJrsfglEZSVTsawTJShzn4IPf+CEqRQ/YDa5VxoSmJFomvy6JZv/3ZLkhZhIzOJwN4HVMCpiigRVWJzdg89wKalIggUwoaW+mR96GSanbDQhgST4+9FLJPN71xbGu3i1X6+oIMyIveaaaJoVK4P1fHBKx/IlYuigduHeYMriHyXFk8c5vVqcXHDkUVIXfVvviUfHHnlXoV1kMW6HLIIxCkDI56Jhg01CbY7MrKdjB2ZKDTbq7rRXx9WpU3u/5J4gQQNNJnOaqe4ymDpYgLbdDBotEHibwQlAkY027gAQAqdqX+IsZ7cWWb+pZc1l8C3X8tMlRZ3b7fRoIPk/OGG6xm8AJeAU4Wd3EVXlQalD/xvf+NbBJr7WILf4qZ3LiLTXteU84KPxS3u9ChhItaDhryy15ogbkGY5EtUiq8GJvnUOj1buqFVbYrT/W5PrtoLsLNhWz2RQnO1VS2D5Znp3tP7ake9AzPKrqqf4uay5fdVJiJ6osDumC6lhp783zBDIK0rWChieWIXI/jdwysz642GoqgPakusf55Mpp2c/us6BQwHgTNKqhM3vxvv25Eig0LT5cAx2O86qeGIx+AckwsO7TpZ1LMw9jfk2zqqshymwGxak6ZAhdG8Ooy6gQHj9kumowA/Ouzgfm0vagqkO6rz4hbCqcN2lTmFXIa/TKA/UwsckXC8zwLKQqyUAHmu+RjSPZ9jfP6QYZDfsAD7+dS3oiYn8M3aX0eSwJaGATtdu1oUZc0bRk+Gwce6Oqsqpa6m6QMlZIW/O2IKWiAkPTW9/0XaYjOG7TNfb2pzEmJFyVCFQgNL7fEUKDfS01Ml4X0wgFguMHM3XcjfScj5pJHBcytFuqru9q1fV9PUeAwZASoZ8T7e3nLiVyzH0xRiOTU2r1cziTzTXdSRAnx0xH7Rbv31lSneiMXPnyfQPcFWo5W39BQP4HJ6ZB+UUHT0+OI42SVggaF3fhryUtwa9iIiXuATn+Sxi7Wc8+qbeKzzy6nyMgkt948xB43SI3NOTi4hCXR88mSZRRxdA3UDKueGa+PDJQ+FlhonqJV5vFZAXPr7FoONXiq+tC7IKkSwEWs92GJWvpALHrJQNWUznPUMgL8wkNFsxUN45AL+N9NBA5bXVXSvmfs4n2xEdKaN7uh3dYFXzWRIlghwU3ulcmT844Lb81777S26g7nkc/QpHAQDQ1iyP7dH9Hj3j3iXaQJmcfIk6q+gtd4add6XQM/fjD07OzFY09XAneKidXLTKWLjBi/pSLlDPDsLyfLW4LRZz3B481m4IX4IF07sY0oIGxXvFvtRHY5+7mdK1JpioezCYow42QDQLgWvPEzIBEid4r3ZrmhNSq37LkePwHj4E9R/4zHF0h/dzYu2zLWkZrTAUJlJPUM9FMDPDZdOD/8FN/ImVgECuX1YD/SHVuUdQQ7BGjpBEBF2XLmq0FGxcbuvECAQ7E3ci0QfH6gEU6fEf34CUNBE221Q5KJv9cte1zdS/Bd4cT47SOtbjUbxng+bHzVxFfh12Zk+lfmShk10GpqC/HH0TS7asq/DSB/n6S6x/NtTE28OaWi8vpkd/eN0MNEkphGFs7ex6e69gD5m3ztDAVJrVJ5cM865QeVJEKF3VxRF6ZiOv1gzV8vASxXjQ9A5VuQVDThSWpSxxVV/wa18TTk9r9vPUv6Ru7YcJpGWxClSxiPbr0zhzt7sap+6vhlXtWExHE1QohboyOuNUWRFGi4trWr/BjWFkIzpUjdoYASmo+FI/dVPtirS3kpkW81qXPpTEJZxgtk+Pt6x1MTfpKlkK60rLQddxR0v4y6QQ04TQdgqVRYu/a2Jh20FqsXI2NT4BSgG0u2I74zU6tl25KU3iellvya2zAW8NteWE0jzM3q0MifsNn5gDO+mxiT7uB3mvHhnsg8HuIzJr+lPjFIsTB5DmU75/QOmHqK4vRMBqox6nCDOLx/wPiBWMY/B+Ews5vkMhGZZdUnihdnklZO8W2IMLmhaIQ8RfXPO9dhTrGiOp//F6wfKC0HOS4UCvCw2hg5HvNHU41/MQPWd1sexr/YXoh3k4VFhoq7sLlmuE0MirAwXguBPGOGgl1NIJX6H3LQY3P37eERiCY3Cd+BiFUSvw5raTNnoJNqYPAUiiblH9bwy2nuGqTsBvve8kJsDvfwcgS+Kop0C4537w72sHFQyJ4635zxdshMLMzkLQ0nANteyzd1i5+tundRMmllWZkpGljF8Mmsb9lLeWJgMlJz/HsmMceKI3HqAipqdrzZjKknKeyl+kyEqncXSwGXCLYFpUnzjNljj29NnCuNEuNOP4msbFIrNuaPdeEueD170rimeVW9gPCjtz2lnXqcbJru76I+dB0YOtQgZFPJB4MV1Lm4vyfbQ3PMGIo41lToOCK1w2b8NfPffzMwLtnZlZ7d6Zd3miudMTbBo/m2UUMg2CfFkaHOQNWU4dXnXko0i57ArXPxdfUeeV9poFfS9tstMi6YLCdywAur0/M6Sn5dVua5bLrusb8SiEPhKhrDUOy8Ktimp5tQpKSyatjX2Ljw3JwMtmUXKt18s++F4coGYjMR4BXBZ2bkIbJcw+C3na8S079NR0f3INIFRI3s68IbZMg2TCqRMndbhFCl1O88PSAmBQuzWkydQFybfKRowCyddQeo4ODoh0F+9Y7y7fqFRuKJkMaPRpD7xBzWtVuP37gY7+BrBBUsOx5FKcfcxLxOaOQ6XOPkqh2sSbnnlFRUtMJajqo6bcVIN0x37pLK+d3BS3DhSCRbDxEGsdoRsLfTTXxy6QYuk9fBWJVdnIBofKTp2ftijX+rmbW14qnDI31hpeRaOvF5EDxxXdzuOl3Nx+Wlf1CDP3p4ChPYdr8gA3ejf/0mJm9q+Hcfp+1hBs+naS05N0kwEmxgUYh7lL0utru+3q2RMGI50t+/qIGi84PHQkXvobAwnRbeILm2+/iVQkznfwu4ZdI+2USi9sZ+g8Zngf3OKnvZmiVFinyTSuzqoPaJGNA2+p884rm6rupaUX863hTvasHDwlZF549XFAofMVLMxkjeaOf0NFEK5pOhu+cbNr9n+TV+3loSgoaEsudUuLc07YiatjFCFlAZxie/2ViR7mZXKlkVXjP71Yn+VICmcZKLkL/kkUz+dXNwolIvB9lwNSM7/R49ZovnNzU/3UB4XgSDiGj7in4PTEsOLDJYfMqeZqoMMqaBjoA2Om7Yk53Zqmhrb5RN5C/sKl1fjmOuGypoeVvljXl55iRIJzRn60P/ZPP87tEgmt86FIpv4zB7OCJLnUDKDpQRT1ZM6Wv08izUdqt5N5G7vQsngk5DTn8fEpFUTrLx1FV7m+sPfGkr77tPlkDrE8gV9iWvE5ipzIQ1PRH90+CW2RDCgj481UD3pt5PmC6zBAR7Ti3feDyNWJ9LZX/WcznbAGRx2wk2or8BWMQMYvwpapnItGeiMxD6Nwr8SFbw1+VviN8UMzqaGjrdxvgAhhWEB5ogrkckNMuKP+5tSg3uZcWogfPkCthNFDBGAKgQ6Im5Hg3lESVDIgpDk+mvy/pWpwuQnF0Kjb3ohZ+1xWQL1MQ6PgeaHfnWssTk6u1fuPEQNunYlzGWIoE4G/aDvwJEavcazCbKVHDrZnENrmMgoFCocz/s4rPZLGGSs3Y7FISq0BV1E3uGncN4jEV2tLJp1fBeZDgI4Zb/yFJmnTHZgaMmvMVMTJYfrn1URXVKmSyt8GORFYOhdHuNen0NODGX9X49NeRgE+HR6lyNM+r85HlX9euc4M35GmSNvBuW5p5y8wBkZWJzgIkkpha2SdgK17ntQaZuz7n659ec0dMGb31VyUlP9yEyKekT7kOAJnVbPfnAWJDPjs60xMWRDhdMG9CtaaAG3ZFalvPWQkNH5pYkhPXazO/+Em8XU/+Hhp5Un3tHZOYsole86r03+kCG6RjiZEaCapOqFuy8WCwUefTx8bkcuaQSn6YZJpdY5Pi87jFXOwi49o7ZvCYl0aISpWROwHKtPjuX7Og/6648jKC05A1lONgxzbyI6PS6iNzeoWrGKDf/mCKQ1UtKBgt0NDyC030RQYecrp9Zl6gaIFoLiLR9j+zG95ZujBNBl4+nx2Sv+H9NVMetvw6+r+kDjPIceAPcsW0x8IuJoKZK7uIwZaxQ5k8adKweR+6TyPjeSef/8WyYixk4HvhEqCEd6LDTXrP9RxqFmGKNgPdhwUrzzo9eOHJg/tL5qWKyo50OuEteuHnYfPh1cOPDZIqcXZPTvVF/TxkNpd6zeUvxWhf12bpiB0/YfxY45L04QwAmKCNluLzJd6okZ1TUgr2LZW25FOBV7Y7Y35HjBcEAjijcY818Ikl7r2clIwlmHP0bstuEk3lR9VrK30IVln42zr7msiR+rw3u9d+Nvkv7zZ3+qG9u/WK+rLORMbcwGAUArbgm1uUL/Y4b1XgbPf7ueoCEM0JpptYqhCfP6JFIqG2eNbje1SUixtpRAl2mh0/jOyeG1FMR1IvVK2wc+RQ5/g3FR4Wxh+olUoXkYRyKbtlJRyLDWB9vk4S767+BTNHKtyeriXGsBBDm5Z+dTzFB5GSyQZ1bPHaXykXO8nAryRMjmtf4LR28dSWYxlbltMSbCBbW0e4m2RF9SiIbJVAzq6qmgLxSCU9EU976CROh78/PBmrM5xcjEexXgIwvY0xY56Ln+zi/8H2ZK0fUFS+clFpugP4ELFU1d7b+RzsoP+q1QMVwkOmjYB9h7uooCvV2sQZSM3NKwa3zq8D3R/3+k4ub9CH4JfU39c0CkgoYGOefkV+jLHgwQMNrOIFKinE4QydjQJuAP49I0/IpeC1XT8uj57+aPxeE+9sK0U3zOhgIfEYRviuWfOclBqwJOBhP320Y1cqUQ38i767Wk2WaareQbSMLZ39u0FQTPm7D0KFMxaCvqiK22hnsPyqGIEpkXAhTbGxAoVVm8Ts+poGI78AmrY3zC5hkLH3YTHHh1F+Yz4tqv8jGhx0WuvJ/O3TLOlDQkeFFclojivDhCv7rlqkWCfdwe3sFvmQzQIQm7Y6eYkZxtRa5O7Nwe+LFvESwYJpjLuH+g8hoGbibz628FlQSVjbLspxtqVvPDIKoOvAW5T5Frl2QelNwpKIFimBLTOrwbJYhqgoU9p7pTWDzRrXUhp73ODDCg13hRszu10kodQPQJmA6E9rMlVKrtWNQGvqLSpaucCx7a0j3TbLT23uypi8+9Gm1Qo0ViX4yRg/OEqoBTIcyjpVfyIuqsazmx0FwSraHM+FUMukhOugRdZGZ/oxlN+cV2ZwQKY6kXqh0u0BfDBmRasCzFiCI2h4RKqBFTALY0NpkxcA0O3yf6ZYGggJdTNl7eDSd8VoaRxng0+n0+EMvttb9FsW3ngkiga/ZsBg4956KKhuiEEXJklhtcrD+SAEaoiVfbFqVuMVewwkrf9rrLH/+XXwMMVfcUShYUL8k356qXPBoRLx65gvpuMVdhkyDpxE4ZuucYWyhluvkzFTkaw/zOf0Zr8lSa0N/bcGyQnMWESAk5Bcts/5wDszlM9X5jS2U/YQKGx756HXK+a9pn0XooJ0fm6fKxDX+smjFbSgNuqNaEs9XTdVexmI+BYNerJ9J5DgwejxRmTUJItANSX73kRklXF4MTz5G7memH1iGATJLoj9SZboCAnKk/Bw7iX03lC5/fz9Ovm7pUK1ulkpuf/CnB/OuA/sF7WOfCfuk1WK7tigr5Pc3a7TnN7FnBUMAHqPaUG9+WKhbTFJccbH+4NIuV81+ONDTewYmoM/lL/M4g0quZyVPYmsnuL+h0VXIZeyOMkXs3xvMWjZd+BJzGPCsrCDGVQkJp74E++tas3Z3Z59goxkGY5Op34ns1QjQUYl8xRp04zCospBiRTFOqTeySXBVbfRC8GWahZEM2KKNwv26P3roRtv40sfhwi5ffGphCbc6m1qPzRWjszn50Xkc2EUCSlKgZmpPC8MqA0cqHaRUrBxlwBI2hxpyZ9M8ZjMujlOHOKWpsESb7c1Laim9aQaFvKOw7N0zNTbFcoGfIEsNz8sWZ25iN25bdOGT0hLzIqPKMkSPo43EF6Q07VUnl7PTAMNb3OWyeBX4lUzMXcMcVjsHKsTV3ITbRLpO/ZOeW9fbU4txTsfyRNmTXdrXW+fhoY5bk6XzGaL13fYOFhFnDk8yk/0V0LwStnX8tUuom7QXs82j2/zPt0WUYLJfcdKTZyaWGFhePMj6dYQD4yocMmR0aBvFjW9S8EQGdtzMOeoTX+h2TmcWTWyiex4bHRjkbrz987qIHIPJHPSqqsUcIvqsjfS2jHsHLFcMx99JeACnRcrKR/XcoUpRhidjU2OMxbVmz80TUw9/Dtz8HrMU9prah5oJxIH8Rk7Kee/VQ9xiy86eqt3Jxj3UUn5WT+LyhZuVkVX/Z91DFWMXt7WCF3COVT7ormvSfwYRIrhqtd6Ei5Y118EcvgiS4SlKsI5GLMBVW0zC0aEUk9dshynZTRIpp3KD65GRHHEyE63yTcvTBWTkxDgpj089/RGFGOm4bU3xw6KYkJKodX3VINLbr2mfsCuSN+kXpkuP0mcphuzUL+fP47NsACb2ipwhjuJX8qvCi5ld9QiNgS0/ILUexxLM8Io3JuAdtk4x3HXOyqO2Ng6G82DztRL9pxgjkvOh1bK4M7S+3T5Gxyo8B4XFTvaIJ/GrKAlYYZ/PZOZeXEw9pV8UOlpyzYWPjWoLzlPKLO3xu/aPcj0aubIzh2sPisPYvOjbWnj1NBMb20ErltX3yTV/QDObwbhUqsjAR1s+0N1BrOHBMfsoB0ZNDgLQjfR4QQ+reRgpiEqP1VOlXgnFpiJB6fS80IAvA/j8Gk3fP+PQQJ7mBoolRNOlgt115+aXsktnIajkNAdWfYkV3VxozVaNOVvTjv+IOqju2Cyh7UfaFJ94hpSLgBmQSsabRcfaUGZgDVs6Oz19LQhcvaMf3wkmfRt/gSrYcxUcNVGi5IzV9bAr1oPMjwQ5hVDea74JMC+8UWhMP17bnQ9lxkCEpJPt2H275+97FO4h4O2EMd80hA3NbOvgLJk0Kl1t1WGxFVnlt/L9L46f9gIabA7e3tTFr/kkAZCld4IdXZyoehM5g0zmpo47gfBe+OBZwHVSMKEiGfumBQhdBil4f3sS1sDUDiSK44CdvidRhaEzCpR+Wgle0vtaINEXo1TCj3LKeexb7A7WLTKvryxkPev/A4KDllegFnQIWgddJoggrI56kTL/yHtyL6VIoPIbPofsKn0YBtU+agbcRq49thhWIl6MEsZDut1P5hLj71IfSAMwgQi1ZmU3M7/rMa4sfhpKSoMdsj1CHSUEFZnmThPWetq8cvzlRVZdXOA7Cogul3TxiQ3dgjLnRfMxD2oYvJzxZEV0CfXRoXxu1kqzQ+CapLeULNE8G5vAY3VZn9ZMoMV57k3m5cGgXh57loyaZpFdenxUINlbuS6XuuZDvH/XYrgMZyzSoU6BU4M0glhZRFxBmmbRRx8lpysIwBJ5PKy2YoCOZkSqOt2jakihMkIdnufrEw+RbO+pBBtcRCOwvO+rFDHJdNdn+PXjRdUBvA+WVYYqRD93KxOu9WH1gl/HSHwc4GRjGZ7oTnxtYa0kn6wnUQP3Xqyh9vogMtuVum533LngSQhxoJlg5a1/Y4oNmGnh6qWJksilN0KOLbu66b6RWUQbBG1H7TPVzHmxz1PQ54B30wL5kj0LNZN7kUWLWHXU7qhpLs2hMoUKo3av9fW8VDYa/+hEJe4ua0joqbKAzdDfw7gPrWhFJtDrwDjsGpXIVbmk7RBS7GB+Fh21K3FYgilzwnC3qTIZeCoJNcGFXBK7hND5eiqNQ1G0FCgIsUMfLLP6T9zL6XnNxzYuL3Ps0wwKdH41N8cyCwL/nDXmda5gse4snmnhjPPGxrQzgKb0ZQBvJP58ozz8B7+PZg3aizSWCkn5/s8laJLyGKh3RfdsGDPzaBkXc1s2mONAPOFcYwBqwjLrFDZS0HhSHM+I6ZlmZvDZL6aPGePvttfqaXI33cJED08cvUHG//Dm42mMIj/HVYRQrJWrfsNEEcMZFey1LOP6NiWpmBXvt4LoEFXU3jIhv5QKLqaaZuDDnWDLh2VI+GIV2Y6KksC2A+KLbRpON/fTV7tdrjOx6P3hDkA9U9/7XMVnxbIZ8rFrkA+W3WO9ajqRaZlhNQ3PzOZPNIgHqN54Wu3kjZnV+j1Z8gD75+CFjhCp+F7ft2O4CAV2GkAhs/Xcq9UZmnaJHnNEWXIIaonPtaSD6FKqbXW34YhszpgX1cwQfRJ2YN2LrRbOAk1Gyl6xriv/xM10kRbjMG4YHIp6HW4T9CKXwvsWliDGLioamqMpBU/1+zrSV1W+OMIc/dN/YAaXJfYz0OnBaDXj+wOcJ//oCQa3/7tPqE2hn/5/dwpJfB7nWLXOfZXvzy1WPMlENFxHAkCMMu6Ju50an/qgRLwwAMvy31Dg3IiPLxpAHpAg2uJOcoyGSsPa5LzW25fVbXFdkp3LCNQmF5b6y0vrWtAnbBR0tPvAhtogWWC1D/b1cFp9aFml8pw5MBPe6n0dZPt/kQXZslSRXa09YpOWyzFMtupOceVZONrCQpcmWIXpIJeEQvg33SI4Y9MIEq6LBD4b7tjMmAP6fWP57+iJpkRmiDvyBa+bU0DmfsmVbJCdkKFIRnTi35SfKAyOxLiboox+/3gqQU0U8uau630ObVWKoSBXEe5OBxakeYw740lkB1iKs1YYdcmA9VOv1R5F84WhXMhup898DDuGG+GGmjTrPERII2/fNhXulxY4HMxY8LCeIFEFGbNctnVpPiI0Afitnf7K9zrjTldVQj9N7WGMjRRq5/UT13RciP1FnwZ1MwW6gv7YnF/0L7+cxP4ZIRRz89k5gF2Ggg+/dscT1ejukt8ll/ti0XXF0/lm3nzF3nFnDY25zyZMxAri2kWhBEU3CB3KE+y7I+C212k5amhhsKfoznLOO4vJArGjLI9EoegXciwdvN7+ky0aZSbqzQYtF8RgOZpPCHvxcvfyyYb5KUPGAwjDYWZYWKV4hmoHEHRW8KXPXOklzHgozK8COYFMD6+KPYp+TImyX5VgItC2KEkFlYnLPOGFUpSRcxY0Q3/SszgV3uZX19HI8+ca9OQEN0Ru/C8yHHK7Mvx3WE4bzByyBJjBvrW7c9a8IFHRq1xEkRk/A0xPqvswUTQrlYsJ4IJa79DArs/0i+BekV5qxNgiiQmPswUdmmBc11BITfC1z5pMKZ4IN3KBocIw3rC2h2975TJvVvD+ozaPpbATuLOSXjAMvqgeGHNFIf5m6x4hd0g9IEjV3rgVblMC9bm0k4saYX510gnGfku5hKypalsuiUUdh47a9dUDaJlNuaihdJko0aet67Z3RBAy1xMoufToUa8apFxFXYRuI+QRWRmNbTbXjHSNAtURI4nCsmKDRSp3hso+nCXvMeXJDfDQESiy2pXN2U115HSs2qtV2+rxAf/1smnkoFee1whFBae4wCz3bQgEL4VovI/JtRzIwYE4eALxLSCbm4+LlSZnJhOMgQn0SGoc+a5tgtBaygdOkXSuf1gUVne5Hj9IE+VBZr140g0qZgsfbQpiMNnNLJvPNcxkRMaQg5B2GBW2Cgx+RJNYCkjHI3OKcspp5hWgeRAOXWusBk7PHSD1Y5KosWsLStxCDWmU8N+gSHvdVg5ZcB6medDaFvm4m0h+XRvTgvjHd5qb2E6F8Q1YCxQFigvGL6LCDAS6mH551NOOXxCpl0Wsrx57kdO8/gtRCip4Y5GDejIVX10aXSX5gl/Vbx/RuaVm19SPYxhgQ9u3VjoyrROquSKGduVfE0TRMJQLWKH0m7+Q1r4hqKyF3Ck66TC9aPTVh4Mhfbzuz6OcSd7uzVqeF+pEu1PnU0gn3B8+FUMYOIQ+dzpAZuvFSJyQ18O2NKDS3HIBEAAmfFAy/7rNTYEc7ZU/MOTWTsbxYPiVQVk0DGfpcfM97rhPkHgNyk3rhZDCnMz+kirNtwsjHrQC+7BzWJsXm8z62scMX57dknlhGipY/EPUj/2OyiMZJ1hXZADRENa+JQo7EmiS0EnqW66/O8H6PwgOEKS/83BbmWp8bCHt+CYO++VYB81aix/ZJdavqpSZLYLDRFM7qnD43X4mJgWuvEPz/GO48z8PsYwlhsv0CYpKlZQvhknjY1/m9mch9Ptgk1eGFZ/dstqC3INBDKfuHGGnUXEz22lLRG1tEjoefWkfbQEgQ4ujTKByVi5+R3N2/gqQ2/Tm44JtojPb5KfRa+brN2ZUXbx03b1ITLNhral2i5DNm9c1yzSMFhPgiu17PRyDK3mNpDkeJo8FPA4Y43HqEtzXARULXWc6cSGT45I3TgXGihRcSXegNKJY0uQeAiO5QSha3bRNNprwJrB9X7zxf3x8Qgh1bcnNhQogAtkIgQhJRujJwXecPuxmIkhVX90z4IJMPe61WOF/RwET+3AcPIlgtP/+nV0ZX2IKdcqZyqmsF/o4DcaX5W+cJ6efiN1PdoLRKO3e41qu24nX4s1MV+dUT5DCbdVE8oCU1MNFmMjqHN8sTy4w/AKvL0rReiz3qV04lUPuOp0vh6rzQnR4eG2G/p1USXSwV3ToS3nbi4rZEAQpY7Df8276mP/Gf7XgRBJDmndyT+QiyhZKyMTY2TtSatx0vu1SB1xTh+HRSKE5S4eDtnZJOY51hHGsiYQtT/eCq5dO//cLjSLyMmgP/B3KkLur4dYs0V0NJ9r2XPayV0E2CusSluVf5M/eRE8e0ZvRzvrOWfZbDbWSfs2FWZ61IuQPkAvX0OkLGfNz3DgBJdvzDtAzgyf5VCYv98nEINzUHhRYCiKB4wEGO6BSfCskidDQxzsvdn1vyXpFsrpU13PeADa+XxWMW7CTPyCu/obp+fb47mXVkLDL+shMl1OhgKVmgEOV5EZQGvcTCIMLJWEyDzm2IH6vYZWlBePSEuWln9k874c2V09SZ3KnZj9tDNf5Yk2661Oyi4HMRGyMmtM0AxcE0HU4Zx3YGfinLONSiWJ6QmTR9L0G3O3qCVHN5470+4l3xBkaGvZuG4UzDRgXY94+pDAh0Tr9BIbRTMZGn3CMLdgtEsyHutzOoNDPpwjK/ssNK219KcszS+cfQkhlUayV+SS3a36hGhonIIbpV6A4uO7q1YP3lYq0yWPVq6ip2YDKsuvz1HDqpniXO+AHirXdfkTkFxRxd6I6JLQ/Ln/wNs3xh8tVjjhyDODezEtiEHMwAAscXQlsUpp3TasjgwTlssRYZ9FTWzcDKv/qCoV7NA4l4mVc+dtRS9w5w1hiuPzebjql6rVz3b5p/tV3M1lZqf8WeId0DL/U7Ozh3qNg4TQH87JqnIKH3I6aH211np8R0GrZTQE9WXEtCOREfO9H+qyRnEK0yIoJzm5afHk05DLrLfRgptxXPd702RdBZccaXaBKHJaHo67e0rNaIgMS0RdM4JxW6NQMU111aPtuM470lUeor1EWddKNd5ebxn8QyqtNkcAqgijmijEmxCCbaAZVLzTlhrnWOR7uogFE9AZ1oIaKE/T3ikF+vvNx2+d3Tve0N4nqa/hXw39inkVx0Dtd07vD4Z4cEkKIjPmjGqQq5ZAMDNs8B6R1UHdiPyzLWFuNQtJV3M/CiZk61/2FHRJIGyjGq5K0jCoMFd4e4b9gmwkz6/eY2QgwPfSAhlQp4nFw2aZ9BFUjNPJAEfxKuEJboXm8KLszi2edcj1uK0HMqCjt6YIuUettWGZ9cEQzHLiC92hxgYjT4inYVGvf2It6RvjBDaJKAJ7ScF+pKfkZy22hf0nEh87DE03eaBzQsQO3tlL+hbg7hgUn/4qzQyw7olrIWgoWT0idR9PTzSjZQxOkO4RgyJNGVlrImonjrjk4Sm6/7K92CKqpj39Kkd+OzYUUiroTgY5tqnP4OmOiegt0/c9fk68V8sZd2+/iewrX3Opo1b2ccxbiHAE3DB8ljQt9f250Vy0xIBYwxlw+4waUAaTW87WFnlRWnSqnO0BXH9kyAB/+C5Lf+uAaefV91Bmu3UAEeh+AFgwvor7Kt0OSNG/vAUaFE0FAa1PxhdmPlkL0IfZ/fdOvhZ2kOLiKOT+Jp4kyuIfmc8J6wzzhGFs9H0kieBqwmSW0s3OeFARxDZaZswDy8A7zQ9U2M7EwlHvL7WLmT6CZuhQK8kSR1ByRbKLCE41NMS99DhoDkCnqb2G4rsefDGyUuEr2jh3VUpKBUUvVY2oFDENm4abnchcpe7p8oe+OYtsoq1sX4LlFTcE0qpSQcJLczgUCMNcbIgw5bW3Eu/s5PV9nV89d0BZo/1qDnGi0i6cV0GTyeHWR0NF6isTXJiGpEyNn0xtouBD+y4E5ULM7AKNn0efpHjfSMbV7Z/pNe424wabLpm526CLs9FydFG2BXVqc7+1RatkEqLBL71Cfm1G8uZTaseTOCAGZZ/Mu46axS2AiegeB1ufPp4y2EBcJBXkMHQoHovjckDntq6tw77ll//RLPnmq9J5j7cuZQBQ+ID5s2AXsNXM+xA/XtunMvDz5AFAuSUEwu9jYpk2fUMn4QgE3pjZ9zOnd5qP1VOvLvJE1wvomKM3iVnhQlZOcbTULWEZfYKVAni6ljfO/uZr27sCAp8LhfItKOICnh6uUK0QmKVMHglieo/o4KtDrrGwiR3osUJabxpNJHDOAEB0r3iF4LjIb84ojjBdncPgd+PsS7JZ06HSpBB6LBZzG0fNqa2vuefnQKe8LrYsYHJl4zBIrMJVcCcWzdQQ9pzFpAw+zBYBk09+t+3orChMnYIttq3zcY2YexCnJwgKKoz9Q0Rq04pYFgOTwRgUBMpzt1YPJgE9jwcQYUlC1vEx6rAB8C5iORubMpNzHClWI4EhByngvkymGH7jW0j20OGrVbyP/+kt9hHqJ51Boocn4+ltHeyt2PDNoRZ2K3YddMezPD2VhHkRAUVIMRqtMZXFmFpOKMySE0EyMVqO8Iip7nk9apO495QLR0a3TuiD/Gi6amMakeEADimharCJc2+jaUeN/w9dOSoRaz3qu+bYkAkiHfKTjy/kLEtYbA8Oqge6OAguXY6qW7w4CiCAE+JMnfzpk3oAr/SFbIw3CE2YGOkGn5ClOrBLjjtdlq/bNasQ8zbNIZMVh3kqncuF+uraooKmxUYlO9RDtx/gxC/vtUoIKSFeZJjcgGUGGE1JSSeEug7akOCRT3fHjRpdGtI75b5zbPVSS34qLyp6kQZZM8veNmHDG37HTUlVa3I15WikOSfMz0AyBhb36uwQL70AvxjW4VPpFZIt/XQKwcJXawUHf7Q00EfnSqNOGgnU+oiWkMxxdSlNlp8GLMzb3epNtxsOopbxwejMZ3VQzUfTTrfQ/Moxts2KmgvzimugKMZdIDloWe/OPYe4TETccYZoqxRPfH8i/6uUpLvDn13l/Gt927rya+6+gQMTlQEqBMofH+tt1MESkYo3xOQiTgBh0RCkbUlCr3te0efVLMMOs0Bii8hqcVd8fBjn1DZIKOCJeaYjTCWuoLkojyfIXV6MRxtEnMQHscz5vAvQYqY8iqkJV10UjaeyRYVVSTz8HZu2th3758oWtXh9Q/b6jPuSN84Gxdha850QLdxR3FtyftUzLV7Gx0S/NepV3lTo2nrW+5PTXVyb4q9U7K9zFZLW88+xo0y7on0R08ZdEqYVdwQFmISEmigrqfjHSa0sFpMB0MHt59Bqn7FdMAaEgPCRV9knZLXkZ3PuHokLzqA1/ARE46Ya3fpVP5XLcrDQIEkOtuDaYxa78DdhNci244Sq6x/Okm7aUTPvr3srjsU+I+ws6DOLoqb9KGNT5bsb3UQ572nrJhOpgJchOeM9KWCN2/JUJr2M909uw12LF4+vRFxr3yBH7Gxsv6wsWS+YMWsPqHvteRhcgEL8EF0JwLvjUe1lFLoGaWTFvMu10uwvIdKEm2qr+ZKs1aobvd19NL2a6flDjBMjyfk5orvix3jUsUWodmPI9bJ30wm4WvW/kzAeLSKhIcUc6b9zCVIAwZxJQ0CzJs3HBGniIfrWKZhm4AmI8Y1dbizJh3D0IN++7D9fXuKSK5oewtbQVUWeeGqaw60Mnpr54gsg16cucNgaaZSw1nvVNABOaqCEnqYUgs4Eow6tTYGlWsXX9T2hsyIlsjXPuF9KlclRHZ+3IOHGFqgh8PSSeWIKLsJWur0fjbo2FKlQfgo36ykEFx9NjOgLxOCMCzIKAD2SZ2Vqt76otWnAxZMQwlcP1gE5az+ily6BNLX7fZNYwW1QOnMMLvpoqJs9wdK17q+qvNKZV+Z43XO4kW5m889L9W8rttwpJYZ4UWi7RcRx+Luza2KMXaq2VSakfLjBus7NWIlynujtRsSpURcMjEv/DHnU2gzpEuPPj9DD+hB1+1Ba96ah+bx836vUB+C1sMCM2vHKLFeV9hpu/BDoHwQw6hm2+bwVRrRPAPx/nT/BT1tek8v4MdOPE07EaTHpVdk6wB75YCfp/U4cUVljFpoxpn0fBbfrQiAqw4ai/zAI/g7Ztv8iA2rA76GbM4ofnsHnsbjvDzUoy7Crzxgnr29V88zdmMzkXATA="/>
  <p:tag name="MEKKOXMLTAGS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CHARTIMAGE" val="FILL"/>
  <p:tag name="MEKKO" val="MekkoChart"/>
  <p:tag name="MEKKOSAVED" val="1"/>
  <p:tag name="MEKKOEXCEL6" val="False"/>
  <p:tag name="MEKKOEXCEL7" val="False"/>
  <p:tag name="MEKKOEXCEL8" val="False"/>
  <p:tag name="MEKKOXML1" val="4HooU0THZk28POP9trq+pbTvvzd/gcV8t56cq85kb3NDTsUhojRA0EsgEHHMH7oYP1SYpn09ysXVivguJdhTvfyVMsBLTGvcX7WPTor/CmWV7V/wylEnRSjNa0bZedd8Yjfz6TiCJG8OqoXAl5SrIeF08dlXg26VCLQSuMwFMmWGmihLwizelWVh0+YrBGrvbI9abCAsXIvQHRa+DCJaU3PJON0K1yeblBWRz/cL7a0uwAyWMqmGTLsBbUcrm/D/6eTHTkijpiVodNB8ZFnPU0d0nJ2fXTu7+1OPwHTjemllQ9kavxNazLbt8yFiyNcOJa4Y1PJQvNYq9NGWHotWgHaIiGCUQvA5i7CSjuzGM4XnPw2+ryRtSB2Q4+qs4lxYcVRxmzddUch4RoCeA8jZp3cI500kVDLtSZLC0DiuK7WPKYffJyQ30WTWT2s/6MxC9qKuXTRUbrqlZaVLv+CTHIzyFxw5wNm331M+qIBbhrMiOx2c3czOCEBOJQ5Yv7AYSy9OmlYPWCnO68VERNec0U488e2L/gqmyEJGOaJh/VDQ+7NqgZw6My2LaDe9D7G/gAAPjPuZ9s18RfTUsil2aG32x7hAnfV7B1ZiMwoyca72gTDbA5nwPhtjjxA3SrvJXGtaJAgctKlOGktooAoXnWr0CL/LvrOlReJEiabCNtxb7vBX3wYkYRIOT8tq76uhTHuexguOxNBvgfczAZD7etuam9HPJkRGclClMireWiyCw48qXhdkf7cTVctHFRPhQzFaezTTaJcBEhIv0i2eO8qJq8hi4bFGYBOLNj5RK90cU6S+iWtZfUnC3cF4SViTv7GdxaZyg+Vi/Wp/ZPDLyKpFLReKIaXOMo30WAds19URmLLsMsIKkl9B4G2681GCgwQDGBWW/IisDbAwb2+cYvOpOv7yGCxEGgZq6++fH0gYrsCIeJ/Yui0oRY710gN7M0xVgYyJtJfs5rfN1eNfCCP03KfQeOtKcBCjkD/DTXUVnrX72A/11ilmx3PajJ9lTj2mrbRP2vKo/a89ZnZGtd+zrZP3moNyzRyJOWw2VJAeOLdcaFWoap6k44E+TfhqdcsY2oFo5D23wi1CKaXC8/d+Q3elWkSRVd9CwBlkZioWYbgb8WYDbnGwgf7SS7EjvBWnJ9EkLQ8iv6Yh/XliGyhnShilNiAEngq2dWLKkufWd6/kbTq9oZRYI9XKQcXDCEXTO0LJ7HYe919LEvfi6KBICuq7JcVqqIHliEMzGtcrWv7KsWonBxCUmQ0AK53fyvoSXjhbJiU+q5I3DEZml45dpue8+IKzQ8hn/KFlEyesEesf+UGZJDUqqZW123W+5ea/0JKyhtGlHMRSTKs+Ci/Mprj/J2WFwl8oegSjuaL+kb0OIcvEg7V7VXEjglZLncEHybGCm8ZjFIXuygzHgMSH+nXhAXSOyFOO5BEBlY3xMg6NOPIP+OTOWc56sAo+h9B1Y4bIFxVFnPBCFbyIibzXKvZaIrLR84e/zs+EuGlzhdqbD2nK33eIQ+fqHbTLlg4Q8WZBJkXoGQbHuAHBl26AUP4FRRzuPdYfSpoiEqaFiB+fDF9W4Pbo1txj12qYZXe+3brHnLMIE7NXRJzyrSQx2oYsJShQwYmVViyzXxCV8g65sDE3VeX8p1ukZ3b369JznOQ1t8118bSY8RAqKNq/8Lzk3gTJNbbWvHfoG2uZZl+zhXdW0+X2UPwE6GGQp/7lVGyXZqwruJ4lZ+p8S9m9h66KFDXDU0rK6ZS1tM+eesQoTRT5u1qag+zgKuwS6Q5ek2JxgN6GSZDuuuLl27AbyRQ+0eocsylfJu/LeCR6qhXITLKTbUqmR7h9/e/kMcGky8S4GQKsiuWpv0D3dykGX0xQtS/FwBKoV8ZEm8mgHcBFzDLSRfphWqEKeoLTnJiWfK93YVeDdoX0I6oC90tHFlfNME4m+Ffp0Wkih4B3cHshK040j8boJFjEVVkFq+c3qRYOrAyo0iRCwoidLYmATXro7jm78FMmBU9qXaUo2VbHRILvWrZJqR0VljbF5htjeJ6D5NewAlnFPn9UB2PGe9KQRkMWPySsinczju6wj4Rhg04KT3r03sFikdF0hXVP9Zz4k/c+QeoYv076xP2bccGsP5UvANaqb7pCG96RzxAVr8drABfH4fPnHUzImDQ/6OWszynQHbYmTmVwblAYIQrQZLiD7QO7Ak758kdJNwx+WSCkqLI8mwDUgnlkZZ5HyZk8+RQ9rezLcSenHCH5RlHV8EpCqxTnvt9A9dxTb6zoSRYgS2ONe5dKdl6VqE7xDxd01Vj2K6BlFlY/Pcpa/+IB+BE2Fa1IoHvy/fjCR1uVlqo+FKnzx1cyInXk3DeWMTPucjIUzVCdL3ZrlGFs2H3fmegDm0hDK+LTI9yTNmRY9Gsl2s2WYyqDUQPenPpmvZLlUU8Eobhy4Q3fh/j7QieZaP5gZkavegxsMGX4NjdZ+sKAUTEy0AihPel19HtC+DrTgNoI1bbysQGD19C6kZ+GkDpPEw2GEbyPcIlGmhJibQjDe6hvdtym7w0mGV9qEFCjqcFaDcbzvf+rNdXHL05wSoPLS4yBLtNX9CWZL08L8rip0D5g1MNXk1wpaoRn1wU/J+qZpDxfYusSfKBR7cG4Uvn5ZEzyowGVNcTXuXMrah3VTvO6Nk8YpefXqWfVHLG9Z2O/hyCt7YN19XZwlptDZbI54CNCH9/gbhws6BdjWKrZTBqQNAbPyYVoJkmI8NMMd29Wwh6HUZNK4AAhPkKMesQsPOc2tYnx/gF3+J4vyGk7vUIZVkulY5/O00DYzIhBeqBfsNzAKAEqBhWJ02Mp/4itc6S8fblWABkqcm6LKWYrcumeXADXdkm1ofFkb4HY343oX1UDQVjySUGstJx7/EkmpI0t5lKI9BGFGoMipLy1y6b9FtZ5n4693VLfvWh4WqICowodhvNB+gtSO+7wAX1mIv7K0K1gtR5o5iahMvzm2w3HD5IIoS9Q5RFPV3FE8+xs18A6EB+HW1XT1z40pEGUkghqOeWuAZkG4/eifsUPqKRep+1TyW6WscvzulG9TQ0HJbo+42p/XJ/EHifAraCUZ/hbslqXp9PrfmnXvWQIo1ZmuAH3bdEkKOHhyfWRfJo6wLKa9OyioEzIcH7QpOLOAiupENCX3CjSoryTm95EXYDN186CPi1oc/ZLh3JZJ3Rk+lmuzSiFrgugzP+MX0oMFscD3KDauKAeNktKKNU05bIuouEc53aXxKAxKp1ypjl/JjEmyrHVGtH4Jy12ZB3+8Cdmd05IOfiv+xKHzGGDdcXVmMbV/rZzY1x4uwFlkmLOTbfTCXRQs4yWiDQHwxs0kABI2PDNKlLzZjkg/a3emY7piJEZ7J8takqM8fpmloxG2OHzxZyeh2ifw427j0u6mDlgU+Lvx+VNpPEZXzzgF2KKq4wDtthIMAKzbkz3xjeBaP4op1feR2sA/fF3m1pjmF6bGCau95LuG3iak670X5hOp5ou1k3fJfTWJ7FaRCB9ALetL1yY5ne7hLfEDWOJ5U+vsdhMrvpl6x/UMOd/7f8S+hqmrnpR3hScqusEGZBkeW2hSJXaEMZebxNwT0+WqKvm006KmzioQdMA2uutbLNoBFXsYt0e845UrjkH/sWtBejYLJ5d8YcZCSz0rSP1yCuFbw+P5MrgrzNgC6AhqiXrkw/llwTpBK9IpFNZk0A1FIyCErUVOuNszh5N8uHvIRQbwnWysceM+DrF2O1OqLN12hmrFgduK6jQOHwfelj/NhJ8Gauz60OJ2iwSNGSzorMzWzYB3B9rzXmHNNb0DoCL1VNDi1RT2H0Envzu6xGdW6f7gEGwwn2nVDwzib9NYWeVMnoSJyL4a2s77aXbQhe7sp142Dj98Y2kos/b0IQFv8tTC/QazP9Xm9hsXDLUWjWAerURcMjiabvEyfc89/Ge0cyiiFgmWexl0+fxo9jQATWAsjwWPrnq2NJ7JJP/yYY0ED1cs+X9Ee0ljVBXn17gJ6xC4UEkPtwnZvKTWa+2S2BDREOM7D6w7CYBdFEwDwirL6mpOP2849PFxX6cv5XhKErTbnSadW0YY2ZMVajXWQet0aePmqGm800cJKXUgU/k8u1nENIpcukqdvnAQahOZgpiRjL1f5LvxPAneMq66LhSiZsBQg6MF0p1qWWOSj3bQquKcoy+jh161+uZkui+JdD/fjJw2iKI8RL4tDOHYYMqtIqn5DsaU/GP9pEsA1GyHrPqYqzR3DKCP0wj/HdZxm9paNLnZM9r8CewqdxffTe1YAxfWb0bc3AZPsun8voDEbTPLT8n47gYEu5U6BHCD6sYVCwkBzN2KjhCaHrwFT3Lt/G17T6lBxXcrFRXzvbZXFJr5/+JD2oBd8OENcnA9m8ZhIF9PbB9deAn3f+FDCTWJpIagKKqXCGmRUh/0rqRVaBofoAPZtPJzKxdcBPfb1VQOuopXqdRzQODTXHQWOSEcquSVMTOLoc7LIHfOscRFM+UlQh1uuuMxQW2UPQl1i5CEV1x+lcd0CVcBCtyQ8jS0U+oqGLmgMGEzSRC/WErOlIBjrV1Wfm+uFnG/HstS8SVH2lCaXuJUVseKMMFhmWNjc9bnEfPscLlH/Xd9AGLBmBCY+FYQEi+GgnGgi+F2nuY9QgDIc0T9kxlZzq1qAPkZhx0IPMFi8AQhn/kCDKeFsvSNV8sBGpd94uipFyjzfAv6r+dBsaXTkmzCRvVrRenPsK2VEBuc479Hb5V7w61WBmotH0ZmzPGvKDtuYWq4ntGpZMb3a5mAScI8uKcMy66ovyBe5LnDmjpnFYd7WkUv4QUxjK6N90UHIIyUcvpBXXgTnsCs/WeF/Amj2TfNe0VMN8s6CooaxLiaqcrYv1eJ/Le5gLRHEZ/2QSygb+V4nKYJHtyn3eI13DNHjcjGI8043OAitORp3n60oxgufUTh2s8Q9osCOS1Ap1iULKkvhjHDjB9YhW8ryQq0VpwIcOrJKyPYxSEGhx6ZnhyaXVfZjxzypYvBxgPYhTg5wHtHP+Hrt/ouWg8UkGFEI3tXDHqZ5lIJ+6qUuXlepoIDgbzlpvTyJscaqPikDTAquNq3ZVX9xsuHETAc8PCA+FgxjUNaTyMlavEKqRj5rH1JvoDAmmijNCi4aW8lnw2MZ8MQheH/mxntrIuXmm4AsncWpUViJ4iTBlwj3su33WzRa2DLS4pfR7XMQ/DnxA1MuHEw0UbUBnAtiefihF7X/LIKhPrRNOGvqyo5R4CvrnpwHWoa7XiuS+In3IwLXhULOYVTtoBgXRqQGNssP/wI3XWdqX5sw4V58b/KKOCnZd3dY5Ai8se/4xHpWnndSx2npv2xlW76XpwnS8xXVeyWAl5LMlDnlXuYFjSoQzYTT1stftMz1OL1WFQ/pZV67OFcyVQT8cabwIkNviJmkolCdC2/bR/qxm/qOyyxvmCoo7gfqx/6LmjwN1IFeruuIHl3SkTfyN2jMUBytyicZgn1qezf4Ly2qEvHh64T0n2NxZQcI0ZBRxScPiqasgftVEcUV7btBhFlzL3fjeZ1h0A7yAWWXms1xjA0qiSOgHgIStYkM/4eTTJRV9XrmLsVuBfcBLKPeUPZQEBTvj8BeO79f19/+ZPfAaE12xOoUyGCPXyY5WiNa762zKxSVeutMLrqmpHE+VeQGWwrPAytXl3jpKG5ad5gz8LbbtB+teWftQheUd80D86zVBJvsukqBG+gZjqsmtMjjh/IHHtnuGoG+9fVV3Ju47V1cSJjfJIQS8LsEIMMaaymH4xDiPwYfdikSRcW0qn1T31mh0zsngEyE08wUUksNThniFHIFnQOAbobRMmtvsqedf4lCASP1OtCsSiOGfSUl/sIF18s5VV5fbdO9S1QPi9x55MCKp1ZIINX7ALX9/8YuY6pKT1euBRpDOo2kHRXMX9FffppWZvM9yMaOFdO/omzIe5ql1BiwLPLeXXQkkIaQyRLZPsbbXyBY3BPdt1hxB1c+iD9DY910Ikj7sA1pR8pBtnpF7HmP6joP1ourWgO80fOAl8zSy887VSCbrIA3t6VOAxwbarWGpZ+z2/CGMgL6uvZuJnUM3NUcuWJNy70CcMDILEWYUXxtc6QPUd+nvRtC7PYYjAPqXQ8g2J37y84NAyRy9NR3M00xP6e91ZJy8qxuMqHtWM5XOaUlw88yhXaF/vRvJnPIlDbNSrUlXUJuTEoODwxWwtvEj9rwwyvl5zf9Ex1Zzl+u71tSKQcJEp9c6k3NRKJh+cPIUrUhGkYGYe1Suy2rmR04cyFNm1GwafYo7P+o72pVt8Vc2DuNPJQY5VyJ9DaOWVZZgL1IokiyggZ7UwcgmvF1T5CEkh8uael9BK62IKzEGoC9+XTsLiAGhgHiI/qMetH4/I28Q5j24nAYGqAdk2BDqX7oWFNv0aU806eqqpspijHuspeaGhhTCZp5rpF4cWpWvx6GAdgXimDJQI/Q/jKRMMlxJLaWM45h6Q9MvuteHe3/Ru8DLAhmT6lMQROpR5A5zgpjdfjbD6TKI8NmFP65YSJONPMNwDeor/56p0hVHol1gowJz1Zl+G5S2QNvGnB2KsimWBYW6IMxkwmplElSDuUj9tDwlTxGIqen4X0+3WERNV+OzBXlb8aB7i8KnRcwZeoFA4syCnx0MrQwJ5SK0XvT8RqonFe55nEbM54ADPSuZR3O86LtIaGShBw4ywBL34+pbXaeOhaje4+y9C3h81IuPKmbKjoFTjPB/Vg8vxYseErJnrlv6unY1d1+oVD51SrKpFuFzkX1ChbkXuXRZTUgx7dW/hszd7wp839n71ubuW7Zy+rwoOc8NhSkVIEMfZMHSk5BlwMK2/HIwHlhNRr4tnsMm+wqqYY2D6rs+v02NvIF3KHa3phAPM876XRCq4J1IJg6Aw3+00frDLUbIox+JvfSuqdH0WuuIzw+y7t2wkNPCSBb+t0xVcGxXDH33q0vM3EPHmCTPMoBJkrQR55mQcfz7AmpECj/xd4utXKfONNnuCJ5HBApbvwVzgpGoliV3PiZnJKcpO+J8szgGmwj2QyDMY6TPc0u/WVlb/s6UdhrKxuB3/Ej8TzWFMwiTpiuKnZEbGNxBN6WOUv922RviHQ5TmeNA+I0u9/lVb6t+grL8AWsAzw+S+g/aayf0RqmG9uhGNZGFw4uBHXKjgzUeV/HfSy480ijNHc/0GFLLV5QOXIRqBrcTTiCf9TG4A6W4zmh2DmHAkourulIkrVnaCUCryUMEnovFEVGTIzW+iGjBhX8a1o3j/Q42nXBVU8o8zoqpr5v29GC4aTNvkMFnsyw5bZrlhduEKdB+q/tzu4QbT4LWTrxo0QuKK8+ytQQlLhHIGmhXpjpGtEWIc8R/IQrLAi6cDeq1bGqNFrVkoKPVtaftzFyNrU9HH4WnXrY/aLI+nXr5zgTJjVYFKC1ub+Gw8MNLEsMC+g2t5IGq+jsKP5RA8+RDS3CofF1c7SPvqa1X3S0EvA+cKP9de34aUBAMZeLo+heANmv9dyTjCBRkmwxcui16+wxYGTBSsUpGp+TaWljA+u6R31GsZDk3go2ykDlLqhgQVOkhG6wE6d3e39DUJbJmzjJf3fKFPfuxpMFWauQ2mfbuB2SlA8ao0f7MRES5MFOHkJnhir9teFZa8ytY8iUBQTOvRa4nb/odWxsvck5oFufE7S05CcspyLUZ4wJfa9Nmcq9x8gJ1OMjLZm8HuLkY+9RB8T1gI2DQQ9WPSE61SOQSu8BdfoDu5chECzlo6OBGQ8ETeTOx8kwZboZrF3t21WvtwWeWBonm25CyRCwOyc1PFEKd1tbPzHLCxrdKn+zSssxGLVjAKikZ2b4lbca8lvav/AnnlvDQsJaSHnQE6Y+wKaSNhviB42UamWcoTQpm18NRZ/A4pSHu0efoESJAyfPqzWut20EWVHVGqkV+X1y0LPKjRyEDB3x7S2kHjXKvhZwj7v9pZ9GxrHXQGmnq7PTYbJDCX02a4LYW5kAsdFUiUWb433ec4ERwPoLgruZov0km5tTme6D5q5xGCmbZzwyan5tXlzNOYq0Ag4MoXc9TipKdtu6GD3DDKbWOJCED7GkqowMls5jNtLZr3ryfF/dUvOFy8HV78FZgasrwShsBZ8Q0haDZ5Z8JoHLwlO0JaTS2b/QceS3qJ3olQH41o3HMg8zRW5A2Z2ExFIEZxpbYWsTzRSLC3btjbjsAEyjSeHfRdR6YK8BJvNDcGYfLd8ID/lXbPfO4cLCYY9Nh4x1VMv9ylqtIvPQk+prf0Y8bOQg8DMO1WKAqez+pGhCFB56sdivdEn66eyQWhr6tHoPZhI8WZn1iirGTzeQlsaN79ggvBVMYSqRnsKo+KlHddTVqGguZ7LUGG1VImPQSQWinmgBY8H9rFjRxb8dAHKJF/N4ocJ6Z013fMEepFXEfhMwP9S69nejzRA892guWiRBNm72SO9XiDlvWVn54uG4WklI0PXJZscYVE//d2oWAX0sWC783EgA1i3DvkAk4n4HN/tW37Vv+IU5tVo+jKvVgdU3lxZNuG8Q78zucl8QlL/wRBKaaZ/hBa4y9yzHsm37zo9nZU4Gp/16tyFiBLA5jCAmtG9z1eL6mqJIEedIU4F6GtifK9gEowTVTIYGW6Zem9u6Zee5PxGioO5LTCFMfxZ59VJ0EH+7u7p+4+WthNjfaMsPmPVPmuc9gI6+32uSXl3O4U+BD1uOetElDHDSQFmtJlj4l5mNJsmRms6ezoql37Ey5WkILyvqd7l8aw5zHLhSAHvGeHmOpgGj2uQ0k/Rf6jz4YVaH/i3+CwynLuqcY0rJMvMcxsliYcM6CF/m0hsstDDUFWYF25pxfViRzLMqCobsWSijYTQ91HhILxbr9LznMvr03Dh/te2U4cRilmB5B3TyYLNfxJDY+NjRAqj2xW69gpIfSFQISPkKbBgpsCf9SdILikKU8mBEVdFfSfR4obZLUv/6vafxISox2btCE3i7ZM7QIYnSiscuoBHRQOIM9FVSfQIKr56l31SOP7CZsTaGi/DWH9ggKm/tDW6K5PNS7DygjYX/Uq6D7mYaziwYyZEIO+lXDDFgw/MgWxPnNMdMEMCldCckqYiZsA8/3/6CofkMPlH3qNmrWORxiVxDt9lIXCEr50mupZpXtCM+sO311+e4of/N/d9EG9Pdl9Og3c6YruZ3jj1rvYQUE/jiFainS6vwshvdsJpFpIEKfqLIymDBgEbL7Q/MCdeGE0KyEOYftdON/KLf7SNshaS9ppWkyJSCGYUfDr9B6tDAIhJzckQ+0fjyLcJD9BYQ2TQtIVk0xk59jWt+J2fmhu8Q6MGPyfA/bLKxVC0MGKtp4d45txfefWgZi0SZri3tbK7+1yyiWytvkJxgW9U2X/euiAmt1HfLehvPgly/2brboBrlh5APegFDNom/orp7F9yj9f0zRlAfhonWmvO/nxzND2VfFN/t4YNV6VzWb+Esvu4bqrEfzFxGBezqnhEuGJYUP9IjPOkRr32aYJ8RI6lkKZmefSIpNQtD4HVgTdAKm4sTwgs2oh6bDoMXZ+qza3PjyFTOzyNBz869Hu5Od9QSX6WvKr1zQk4Jj2pXlysXFLOXBo40Tmqqjaecao+KFlqI5g/gAGVYr73HctwJPieG46immWZo6e6nihovc1K9jIsHyJ4QwI5TaVtfK7jy5tF0QD2iclVOmYMJiVe5r8i66QMlEL4nDGZE/y9XHTTvRVIeNEmbTz2QgMLzRM2AHGUg66plXBXHwfLpyiV00vagoSotsL89Gwhtp1kycYJwgxTfLVVUIVWD1lzFWwS+mZ8jkof8ZGzvgCnQFjnSg5joeQleUyjd8devUyDxUC/+Id/KZ4Gilifkl7BIjlU4NrHyaXPooHIDQZqohygxr4XY9ZtIbpKkoJHuYpllNS7d7BM2jQdL/jQvKj76gwXg8DMbgQGW2cPfXWnlPEYJXrv7JWjXOp8ZHnUFgQQ5VCA1agxbAEAPR/pLolWaDGay9UPdEtCrJ6KnqTc2KiqD0BFlBFQzLQKA8q6OkQWbfxgM5LRGrsS5FSPcXBi/Hwf2UpY7PTIiUdHgyTWHDb69qAMv0FyJuOGpCD9umO5j22n+bgHjK22XdAK/KX2FXADTj+zChYGPa9BPIdAhV1ZQaBB7cuA6/2RpQcNpZ3wdtT6kSgybUunvC/uxnLlzF1CI8Sgd4eNVmKF8o24dseCjXy8sHjbR9ieNRqhWATLy2g26uq0yylI83qo12PoRZnrf5a1WCwwqNs1uqToyIe9d/HsWgEbzMNAB1ygnWoDBlsdRhAbXJgEusLEJkHQ4Opb23XRQfHy6qcgskStNAI7RvK5U1r4Yd8bXoSRZroZibUjnPtCkfhRPQ+yYlg4dM06GXSqqiR+fnxN+iLh6Dl/nlbh2CJWaE2rkCTVPIXL/DlUGqJcO7fPrE4bedtK3p067b0knXl1CnqZCJPiDZmBwbHvMol1t29pvlQIPtePdT8KlpTCnBDpQc+MxfquHzto1M2/1alNDL3P9EwyM7OCHaDmJtDS6DAJElAlDxaqaE0EXzMsiZ9msvomRexkda+UK8hXm81JoI9p6TdQ3J+7aCdfgwBoiW17KxwE2E9S4gF0AvzZatguCQzKrBNqw4wOA7Zik3glDC0IDiJ0r9I5ldzipgjhoJnoAPItCTa/30CjZKA4sL7VoAk9xvxJBvmxGgKEYYCQRMlR5VPxHtvP7zAhIiSG5HveRZhhTXVMaAxIYnSCbWW10YsouxMwr6M8GibZCj9VLchRd4OyqjJQGNR2E2Bmb2N1L8IOmjW1hDRF48aSBHOSKt2QZZfOK0KJODonzMtqDoDgKZE738hS9WicvaAbz4FDgfZ78cdTJPPlrXepz3h99vJizvhx3c2ecuVxEkDFWrEV/6Dw6CmRVqi26DLaHG6z+5rvgBGxh1pDVrV8qdMkTobEKG7UlkA73Me6C1B3eywfpAa2cgZDxvAelMiGwWptktTxhR26c4jcPEVmlaVFZBMvZn3Nb2KKsZf+iHZbW8svrautguvVvXVV7tpq3ZKzzpXJ884IrcOsC3XMEDnWnmRTAX74G9Mqqa9OkGAzZ+VW5pkyFBBZdU7ldq87gaC7Ij0TKCOEpGgdfrfNjknNqyhbDpRs7Jro4KUxJL/agLSqlQPmds3/PjDL0/jHZIuxkH5fYiCbdvyz6dElgTCl/urzGo2yt6mAtQNeeEpkBNFbfjk/TpOD1wRApQgrXYfgT/u5kfe+2Bb67+rKfM4pufhLyYPHULyuz9K1HgtenkEfEw/KispmXVne5nBWUoeuL9Q44X68gCvC7+NcjqydI16CfRFonsSGrHFV3ojHljS31B5X5xdrlZ4OMDtK/UNLmN1mL62IJkaigne9xXmjiWcQNL1n6Lb43q2iPDnPM0waQI+4YUSnK9u/llTjQVu2gLGpjPXhIQRuL8HIF29k0qlLcpM5mVGXlnwiIPv4McUxfdlLBOvGL38t/8mnG8EvHzFF7wYGO2Vb3q1tYTSKV0182bfZKKONChMYg6MtxpZ0GWJFR3uSmH0qyQXQ0yY/EA6rJsbQAOZOx47PCH7mjsMOP7tpZlRXAGKpF7AfyRgS9LZXW1tBu+VUCZZOGVPfyMAZO3HfsKKHV8ajFWa+xrk6OJIeK2xuU17/sQKoT3iLjX6tmGK1l63LRNynZCny1lObK8CsOQTTFIeqSO7PALcQn3h0RQzdoACmsr3Kv099+8bXQn/6q4BDx8bjivvkHgoHDsnAzzzhbOjGEeSZ8gaNX99hISAvDQgwuqBEACNAdLNdIPA+OQOVRVetmobst7AbDGAiWJG75Dq+Q9h67XkKJyEakvDVqA+x5uqwlJ5lQLYe0hH/vmGoRyLpqCM3RVKiGKr7C0F8u2kQ3snwjxUfl34KMnocD27J6Eac/IOnO+mk2x/bLJFfmM7fhhkM+AOmb8A1AzM/xyDX+OXQsRYn6oAPIetKBiziZy3HT1jYFX3YhLdZqK6Q2g99sMSEX/fVAxl9CQ+SF56etfL1FXGb79Tc4YNyYO/3AxnGh/QdR+ZnOv5KUtcPq80Z3dW0uMlg4iWVrTmPdMmYMAFEo3eGQmW+9wkiY5E0DZCjs/NV8WtgRhiVEeVFUx1cxyCTSGs3hhAmX3bzg4sH1n4pSsWf+zflDE3S+Q5a/Zgk78y+ILMkMSsHz363NDHktFlB2nNwkE0R+XNqDSTvdz1rp9IEC42yt26un5rUhTTjYKrnH0Qs1FBM7WuvPznF1j+X2HHgaH/9BckFrL44z3beKVv3T6ECtwIsC/g9DxbvXHBXMSL0zQ3BgvxHqCf3LCGSRGNgpKr+LucFGU98d6iZbSZGlxJQ8U/b8QuzWaeJLepbSmtVu9t5l80ruY21Q6IKIj3uF6quntWY1dINLxENeStIWbubeV9j4VZPI1RYpcbPgnY+z3Q2vtAT3K2VYvLK2cfERjk5btFxYU6rzMxUKNToyJplSpUKSjH+FZJ9NoX7d6fqqW08zy3zriLeGC9upULB+nmzZHTHtMObHhGeDFVHEqSSeO+gw54VSewb6c79L3M8rgFdaVhTFRIkmKilNAIVhAgu5vV3AgwMRjABJYrQaXQyV2fevVDQ5V4Z3+Q88CGzO2MMefFVph1nZYEhrSE9vBLA40hk8itluckjbTUCStUgG1TD54A+kVq+e2olPVxIjLDGhcClJAkBrb0A6EZdeZqsxsK2yQk+H4ycaQTUiZTniohPjZ9wmnozpCOdv2YvCIvQ6D9X4QKTVxLBsuAcZC4wgNGjTxVuu8qgHFvBmiW8Q2FjA2Gd5NhlCl578usUFVZDsHrXlahG1w7bmnl22w24/7SMo361sPfymGPH6X6xC7IY7KkAZW9wrxwHmWJAQ+bW62FmrBNG8AAd+j1gTPmGNPtH8LxN3nevcehptgbJUSjfzOLSqvFh94br7TDU+BoR10R9M3g071kIkCRMXdffOtHVHVvW1JOTjClwk0K3tYOH3BrsqzEirB7DhLWPhyov56RFU5tgIO9kfMISKv/P90sYpwDf6QuQGdf15OiZVA4p1SooDwMMIhJP4XCFy69ZCCPJYWcAKdM7XA2inuL1GkyrwqeE2EvlueG7BrLAPYWdpp0wH0MmqpUuATXNvEtbr8/By64ZYwJvl/PsDnWdJmPd2RqimZ0FaZnXwCreax2kDB3yQo+0Tp9sMI1K/0ClX8BpTr8DtiMkpsuET2erf7vpSzpnNq44RHJdpeh4XFNRxyLkZlOj37zOTIUiFJDXtrIDTzqkdyGI01oF2Isof1U/VUjYnAXYV3Qf+iG9WQ7j0SPs3fW2XEqzd+s+kQ82DIWtWOdh9grCl/yzOaKMni6XM27ursWT5m4n9Ku+BT36x10DwYZF653JgVO2dHwHKCYmwizHioy/Hwrnr6PGG6rp0FKBtM45O/fNvvENRwQMv/M/B1s9gMNgPhu0UTbdq+kALN2X9scFqPNmLcdFZaekbA5/0WFKvhEdISVl73YPkm6HhfXwlHWka8MibZTN0sfvfiqkOKtnmbTYnJwnpG7p57a+aFRbi2H6FgswaXX/KADXSM2IrO3q/Fs4PCBb8n+7dWfDmitLH62JmA2k+u+gL+YUlKfpKPBf6YCDvKUg9+mXGFA0mjvHDjDHZ9RaKgXDWT95wmtfe68ho/5Nnysz0MfQtqmkZIqZoVocppOAo63JaE/e1tO4h+KQHQ/wq+gbjhz0QU/f4bZzEOmRy97q2A8Hk7Qpvq92depS1+OpuDkK2mgEL9rrw/UH5XiT3ACwHdXpEi0ZdnaQSfdiSa3bis49YwNFhIxWJFdEn0TfIsvwadMck2i367UYndvq0Eobz1jAOwIgeWWoYVyv2Oh72EZy4SH1XmwRJFpjOFsKO10L+6eAcZdxGfDeg5CGlcFl0VYybYJjqB/+usoIXGxZCg6jW1LypIZa2sDag99KDMBDtwnnRZpaCh7mi/UxJrfNkB42IZgjRZtVjCJTztjgDniVQhrp6+aZk71s89bdowPDGSPCGtbD86HutEd4LuHZ/RCRx5Jw03bGpHxmaYwbCLBCb9uTmYp79PaDBRqpOdSh2QGLm7DUmNOulc1NoxVeCb5RtKqxRiKkRqycM0tA094ZNvFNjlw/4NxzaJ7i5hOtb6U15ICsxhUZ1z6s1HQhGsgnd74VogFUmEriYodgC4xEqWelMPtiNOiffupQEA/d//fWmeX+uTb8YGkH/UfuNwBc7T8EgYuFKnRN3LD2vcuJ9DIA6epoYQ7FUf8Rqjz7zdFndZBXSxRYN2H3PVYGUeavry3Ld7Vx6HDJPeCV5fHsf95SWocDwY6ecO6TaRrmYTLOHHmjWTaCDHDrogCHNKND32/BQ99lCb7Tgne0cA1R8leEyQYU9oZB8Wg8fZ8ur4bWiYeVXT/J7xz5aGlI3wODUgMJlfUMC7WP5yfV1cxd0ERI1YFwmAA0eC1qQKsF5in5DMykJOQflna17Ch/BbyMLsQDJ1jxws1DMd9wS4g26WMT3vvn1GtP5R3fjJVdS30jmLN2ZrgVZj0ZBEgqtBxxvmg789JUNlq+mie9xG3Hf57x30hyBd+MwNeYGbkz6Gp3nM7pHD0KKbc9T+pBnfAmb6HlWXjzn65LLHBIzh6jdmNAmhnU+TgDQDc15snny6Tvp12hPru/ErRmDCNanH1SSYU0l7FZduicWztUdMUaaBV6jTgbiQwQ7vmFxl/415MoDZ5DpWw+DInNm+NQm28Bt4d9EAGtZ/zVEMRmqpnz+FMEEFq+qhlWwe05RH7esUopVdGqbyorhpFNg8R7Me9albyR4Xq1vZrrTvUojZQmItYhHOyFvGHl6+/OHEwmk1juRvUJ0Fs7jGO/CIS114wwXIas8L/ceUfCWxZEmJyCEvsuIPhwnpaJH6+zeBlnQkMTI3xEx5UfIOQO6ktw4QwGpjihF/iGFFxol1xb7dR0u6x/+4s2h7ilTyrxEYSiZhQjritpZsDgYYCHtTtMWx7NoSaqO5UOFvAPv/urZcqhfl8lSTqcu4HaDvnIRmuuQgJg4bwVZQsZ0+w0uIUSja3VF8yD6FRySixffRq5vgEvc/TBbPIfovenB4yeO6R8/AzhmhN0O8RQubWYtucQAKhuA/KpdUvWAcYjRTsw3Vm2x8TOJc/iz8QnH8p1m1PcrGrALSULhLIphKvRkvFDs7LP2ZRfyBpH8JqLaLpv4rJmyHLFbS19zk61xSBvsWxAVe3F/s7EvweEs1jjVJq+o1RkcSUOc7bkNv2iz6VLlzLPftgXpm5zBXCNisce/rFW5EHNqnbrkydZx54v1hctGaAA9BmrdnmHEepfvAiGk8xt9PNhXBWxdYdftnd46ez5gnc24OA3jbDKjqBkwn/m59Q//gKw1/OvumC3/oYTkzh8juVz5VL1rmp307erZ8EU4QcAM/to+IGlrl+MhiWX6bH80/a0jX84kD6opAgB5Z5OqgSG9k6Xj/5yLGNpjGkSVe8kO0VJVYnGaZS4w3zf69sjb8F7TLfcU57KfwQLHt1xt+K0P9VZdB+KpZKGJK81MM0AWOb8iNwyqRCnSeGBWQjTJ1HEeYSzr4bpmvSh5ygqOvqu9Zk8pUqhn25s7/DSBJwGxWZo4ET0zZJDqiCcESyUEfWKHRHAj3dFpDyl+/v9fnOlPAfjTsPe9NMu5Q8GX1A4lGu4V/lRAOpdCqVlGkGGodLdVQkSZjUlxQlLTIKMlwo8WQQDBO7Yp/bbo/kJp6Mwv3lREeKITtWg3g9kA4+0HQ8i0k8TwV9nnTWUJfsCY3eC/2MDDlLSM72T+QCCzcrcMF26wJcoulnzjwyFx5TlRBeA4KcOKIDSgWkFnYsq7QjPRz9URuhloleSqN8y6ssMnee0yRaJLBGCLCiAFKmwk1wVFNP5iRFVNsVx9NMA1CZbEYwVO2T+9o99XbQ2HM6w5PP5MJfutgV1Mxx6YIbqsbCWI6neXdHgz+7SbTeWwOgv8UNTRkpVjtL/q14UKog5nSrT0Qxbje5F+py+wcIEvVntw7FkkK+rgCp5FHdi53xq8ZndUD9iT7acvTm7AMS9tTD+3J5E2KMV4PpHH8Yb41MDLj0mBgvYjtz+UgwtnA780n6YF4vEAkJHIByOkvcyLr+PWUu20BlJX9tbJlVdWrTpeBmIQAFCaQmabcn2oCPWG9Pvz+BiJe+5HxmnUQ39sUJKNTWMO5ZYpaLsFs1EXh5AfnZiUaGJIYV/QBWB6k/bXP5zlnqiYHHkL5q8oB/a4U7cFsoBxzKZJbHSHjQD0aK72JZEKHaP7PS5RsFEeLSafu8sqqyACtDXReZLVZLXRaG5sHYmjhT2TAvyO+gQvzFfEXw0FVqFaBJsIU5oHqyVECIUHXu84mD3n8hWVNoMGaygTAsDJ2sbkWy9/d5VpZdgGpb/b/aEiedzsQh1GkeuTMITaXD/E3yF8Woz2zDuHLegP/H+sRRdBxV2wmQURpuFqiBquOgbEArPp+wygGySYGpx+Fj4irl1Zo+5Kyzizss3OwclugVlXWE+vzH+8wtkrisNGpd8a1PXm3HZM7RWkJWQK7tLEz5g7XHJhj/YPyiqSIzs2PvWVaIYSkbcBDgsMpJ5SWoJtuN7dExRyTXErt+x9cW9qIllTVYQXedw40luV1SabHIMwbEq+UXMBMx9dB33YdhG4a+HHwErCMaQrnPsbOSbwq1tckONYP+aKEniLotjJt7ViTj8Izt6sJlmIwUVtxtCK9DM5FMkrTAJxxetp3uDkKJl5WwwnS4tON3gdrxbjUl3e2BHd8mnuiJ7rxkLe8iXzrFY/gVnqgiSUlfV3+KixIqS6LJd6r6jhcG5/YylHhTMgZru3Oz3s+q0lke72/9XzTp3iTXduAEQ0sfcDdCVMDrz7ZX2tTzHuX7m6MDdM+bWObhye31m66ebG/3UncO8Li/Aemf0Cvlvfk2ZmTn1X5X4W0GuXgHatWIKz0P8uzkr0041Y/j5CctQRA9LBWog0Xca+Pb5s0+NeL9hXM26S/y+XlDIbX1mZHN8hKto0DV3idoXT4wV75WSV8tKb03Wgulvcr5YI654JofmZ4F63am/kM8v3BYV/FmxXc28yAgl9C5Kpx0P49WBtn6dTMcdVCh+kR1VF/z9b2OzfAfXwa8zaCABqFwAoYURbOqYjg10TPTFusn715Xui3aYwexZf+BBRxUEGGfxfEhSwI72YCPuROMuXAwOxY/oSkw3v/JbKWbzDaolMTxg59F/yjVptxzU3qQyqigUl3HeDi3DMWIzPJ7IUEMFsmcqsgTs8y7HVNBFOaNbwzNoXh69Ux1bBnKezE80M+fe6G8F65tnBgsHSwASiI2oOUic/8lWOjO/89NvJgWXtAixnXlkfQoPFJo8i8+DX1Bu4Zf8sbjmrnNLopypS4wilX918lnsagIMgR9P3yeO3ZtQfaZQuo//MkjxxaC0pQxZzw9VhpQsWNufgMSgeFbtjeoltJVbhnHB1pSt7twt8VLqg7lHiw8/ajFBfFtBk0g1XL5RkchTGk5/MqWrKlS1ptwDzJRYcIrfP0mbkxHy7LVd3+tpddluIEh6aO8CF5Xrfwhhq23vf5j5PbuIeLPugSNH8iKDSHGEXvkc+kkNopAEhBpbYtML3HgM3kciSt/bzf/2HtgpgkdhuIPOFZ/xdcOjQaxtvASuZWuu8SWLDRfJr3leei2Ky4wbe5bNofSFBnaBRW626YuT39Ek+Vmf2/gq6Y5mtq+qo0EVDaT2cdc+QqkPLsk6LcQeQDkubgzgvc+UrrYIL74iPMLEBf8dZv+RRDYl8trz65HaxUu4m4RITxWZ/JoZrmqQ5sPxwkHkco7zfuB1z1ouS+YsnCAGArHvicyqXFFq17SKJKTmfqdLlr4Bj4r+ZdDStAwe/zEP5EyWGWaK9G7OQOKlzNX1rZ+Wvsw39cyL8VBWDw/qEPtg8wyVxF5ta+JEBA+nzyFlq64qC1qW3hy8Xy+9sCulVBbR6uxkj8bv79+MK03DDnmMQx0ICPeLKofNQxk99PWe9jhE81X5IINhXd//uA7WhCc14lHXSQo9yeFdWf1KMWcmZ/HXW2xf2WhLwxmAkRPGCWGhAqLT9+6HkSzUt3wmDKXI1ioVqWRUthRAlAYgZXsIYGuRUkcCt7wyu2PdJOoa39ZKlAikVpM9Pip/o6q8lwz/DChbI/17+0o4q+/lfdJtt1QT/XrhDepDWnhNPJfiVeFGdQEsgFTOOEFQEcQ89elcBdIyZCo4ruDYIwURvZt+qBS6avYw6EEe4CuDPxAZVtNPMwjaMPawi/4l1GY6a4B28YVBMOSFU4SI1vqOwnr6z7IMyc5lUPdHX4lQD+ehJhxtTnIznQwwjsxBM6WqWvhXyXLs0aZGFdQYCxfjZ62xvWgBON83wckvWMapbsEiNXOyh6oU2UEh8zy9U1FdBNp8dUI9LTf0+HdhJ9kCuodmXMwLLpOVllELUYRWsYyECFcND8vHpo1kVtLjrSzefjL6BH6LzYjtDhOyCjrSpSzr/aTjEWO/DNpmh6NAApOVj72LZOMpRh4GpxWKpjs/NWVcNuU09aHLaYbajwzcY0fw5pNHfzWeHXQMECyEXThMF89xFkjcNWPnrC0r0WwWN6Jh6xdpjaf8CbFrgKDJoR56i3OCMewK+50i79e4m25pkEAHArOvozmNMQCaKkeS6xb5SG/t8keggOY3blWGLhOOrlDN6IH0+kRXkByny8qtE3xME53lg4N6BUmsios/e6E5/rtjglNx7oUvGWRjQ1r7Ax2Z5r50E2dubnYm1AmI/InxobNwf9BBYh+B9bXQQDKc6KRjSI5TJcguN68CWo3rqT8C4Tu2c9xIPnOS9wdYFlsIyAOfuWEFR4UMi+dgBRecIwIOyyy6AXPKKL3aIlL+C880+GWGW0Gtf+4yfKOJVTlQl+OcEPLntcadYFJnT1gVmlhn6TL1v7+mW2+D7OchC7JXS8KaHWAUkCI/OIQZliBzqKa/73d0VLjjgBkS8wLN86Viyi02OjTkr5GHmqffniyrbkyIfMEGcAxsLr/EZm5HaEaSxTbJG4VPCFx2JI/OtcBIqmu/0mZwW6l28f5S8BGDiGO6Ps1Zfymtg1Wcs5nyZ/ErCqiC93viOHsFGpjk/nVq6aWyULSCE43y+dMW27GLM7914pmmNt4uQ/uQFoxZ7Nt8ob9uaYJdQ/HmuOPbWeqXn33LmwI3jzz8wmFLd/qTl4P0Bswy4h1yH86R4jw7s9j48lE07zcIDOIsAQk4Dpj4U7dCaxJ6IT1ARHZ4oZmGiYA4+mXYL4R81ck5069v2UrtkalSOfRFSDjbZ8Ly111wOq1unVkDWnnVZcO6plhL8ADnT6gT22B0nX0yA1rydEPk/utvk9UX9IDI5YnhbI6uh9pGrGTulVkVWT/gYaAvE9YBpAEHdcmqyTEvV0kQk4jjFRmNgg64YHC7ySxoW+aqMxBOMAiW3TIdmTXLn5kHcQsCqmQbVfgmHDdWSekR3YuOuVWA6yNDR/+RRxFTyw2fdOwMCbHrrgcFrsMXx5HcVmrZT/pTs09Pm5rPcj8KyrJF/W/jwxGo9Ozz0RS6r+SVai1ppl23L385PjkP+Dm4YJlJV8OLU7IeJuyanmHW0QDC4VpWStQN49tWUlwh4O2B+pUpbUUFZaowBu1KASts8quXr4Kf7QXqQnuUV5NnpoxYXIexXePkYaaoGa5vhJzeYuUQw7N4arAe95/CA6BEjfwSm4cvEr7DN3Mu8dRy+uwi7gebFB9acEqnPbjdTKBKReCPeOjI4kW9rcIFcCpqAmZvs2rfi/08HJGcede8dkGh5cMQfxCF9VecczsHEvN5ul5PCRwEnT1wOjM/DJhFGFODZzyVw3JtGyw5oXaq8GRNcr4LI1EX0kPMW59tqQ4Mouq6RZ8up2SxweysF/NdisE9Jow2vGa29rJH0Aohw2f8jASdQzO1zqZR/uTRKpXNZrKJxKTFBGjExYJ56lyLezXUxkQlVObcLirfosc6I9GZ8BrqX8VLKjYrVWXsSO58zQMIyAHkqkfD0/GmidyLqcGfdXzhq6zB2akIQ6PoXRuSporm46VyZjm8kG8VLcjfhSzvSly3kg7a4V9+HQwNT5lrg8UAvXVr7SW3I45k3QpQN88GZ+PPWX65ZtdaT3aPNasDkD7FDCgImHPPalqPvJynvESGLV1iz3U9DIZYI6AWITcvOSbjJPjFD2+z3wrXmHExVqPGoLmXiA5kMela0dnm03OjavEi2Gpvx6tAjs1Kb6fGZChfGNpQg2yx75kx7Oihnnvpj34zY0HuwyRsVvoDIKZVYfAzwI1dwzVqvO7HRQe8BjQy7n/iInr7p4phZvrQytpNNsVBpzQVz3q/q92EpMT9tX64t96+uhUGplX8ZFreuheauWJ8Yq7dGtsAa4jsonyr5x51Vzf6XnHykdMRrdYOtXCrW+OAt3ZtbDt7dwpmkRH9HSiuFWRfsq26ltmodBmg3FVeNfXTRbk7v4M6OsfS2EcYRuylEUfkzKEwSc0lAV5Xvltq75WX+uf4Re4ZRhVcqXmhI2YpgyxVIRknMUbQ+tZxnTpyQOWzZoftctUEQ5KhplFUIRPgtEhFvfRdiNMHHiUbI4S6AEE7gCNLnN0pY3Sz8bizKrm9vDirO+Zlhh+qBqgvzQsS5zifY1a8HkeP6Q5EBGBP/keI2j1rsereM67mjMZVb+T64gJQfiJoyLIFg1GcGvCDpSMPalvQUJFdmpoYVnTYsKI8hYbgA2JecXciZ6bkmO2o7EPtBjjU6RvOAwRvt34kvUDmbewqb7yf6NZDQpvIau6+RawI/LYrOiXasPWk6z7FyRuo/I980gL8sd5ahT8PomjzPpf+xZ/sjNjPlxV4sWcNsVOJbqHL5c7xbPa9x+NnSYAqHiatjOyxhvSVuPHdBcbIM0lF8noypsEKpaO1wYqNGzagvGLJ2m0UfmHpjWwRy/HpjO0RHwm23oRgCQjhBkY8v6FHUSw9x7QuJrBwmVpY81budgBPXpHIBZllMEuCM/xlwnUYeUuyawoWiycW0b5T5kdIjxE32ErmepG98ihKGjf4svN7hBvzMF1iTSWBCpjDwciNdeSrD6wkwGar2YlYBu/dJJt1BaCxvKxuehkZTWeESUq4mDAp520a+WKjNscOV6Mdxfix6ddYdiB8pXFnXZmslnvgd9CCL8VdafEwanfFKsoC/lb7LRIqpaMfek389DF5bR98Y3EyMzlSctbfYEkjPxm68EWo9OIVv1XiCflfBXlpf7c9rM9sHbqhX9ZjHYULfcdCmnJy9cuq+dhce/XVyMvRMStMDYMQ8NaflM+I6Kl8yge/GXJpfXHdxqiyysQCK4V1e14rx93y66nAIaljSIPIDgQWfjcizJO55KdsrZVKdMV/qNzScBGNA57KNebFkjUnm7YmBorblUIGbDbPBX5oEXEAjSQPY4ZD6Yw6ywXaupnMdoXlnUgp7ddUOYBcEfjw5QqD5b4I/Da2FmZaXMMeI5iR51ShoUK3kZwNzj2jjsdYP90zlbQm5EpEkrtWzbQx2M6MuQS+59WYnH6mjiwJ9MQcoi0mLVFudaPJgdzIpuHvEHRzF1CTNzT1UNLgmSd9kyaxYEcVbp4J/zS3inF5wi6QITfzG+TJLGsn5Qd74xZ1X4qlT4BQKciiUsMjrsEpIVLVxjt0bqbVitsNC1jRBQ5E9bsytBmF3U3tFA2aLtPdRm7FbiYlqFtauypsH4c/N3xFurTqQYf7B9iOzN2NcR1jiEkLCfP6neya/F8vibULtAw7jubvp8Cjj4/0vJbT54UTtOkkeqgysAobI236UlEdfC39yDoCfHs73rocrBLbQLFje3c8boElNGYOCervVwr9QLrDH80oPnI7rkuNSCHJxgZTpqS/X5+5d7C7yCYR2uBkwmqGWhaqgHopLDSwJQUOcKSSqp5gXv8VSkXVUqtPGD8PbbHi4qXTWWCYmT7wquiRh95nAbDGeYNQq1LpsBHYl2uXM2pDPTOtbr12s8sugKXxcOwcydstuYuI7EE7ut5rEXzk8TtPSpUFHjh/qnV6QOPDk2QSsNo1y0PixE3Izr0ZMUnDnB9KIAaZ6MGuDzFuD+lM7chUHdwaeFblqwYzmqFIJi5Va5dMO9qQOAuUj/fjzNb/MBY6OkV7J9m4N7P/ud0+poZQsdNo2lmAE2xPAZBsgROfeULgeSrKEEUTVAgH+4qUdo/H2VVIhO3+UAgH4tJCIQyYGZ2JWbPBVA+jowPt+TP3jUFMzNQJyPCMVHvv3brJv2jVyrRpkeui7QgB7BFN7imFV1I0w7L1+LLVb555rm/j+lCtF2vYWwGjjk/Ree0HidqRMTUHjQFlZTLmwplLx4MC6MVDkw+5WvyZ76Fs7eAnkrA4sI2Rz5vhifkJlOhZQFuymXh84I3DjZV3h24k6300iPFFjH453/14WDdt2tuZm6qo/F3q4W2AQgadSoHA8uuz4N4IbCd5IwKajqqSlg5HZePHPWJ31yv7aImylWGy3mrkC8As/yv19Q0Lt2FuKH+Zzp5e16h4zcDuLmh3blUsDXJRDAdfoYQj7p3vdDC/epfowaY9DT18FyOQb2FyEBNaIz8JSwL0GJueH0n/Ki4Iu5pqy+tgngHnDkNbd2gY0mPRHCEiSTtIcd6NjQasAHXKDqajfOCeNa/z8gMIytY3TsRd4qQEhoJx5Ezz+8VoHMMeWIznFWn4rf1cRrcjILu2xN8hnY1l3HHgExZiGH0OibwGQlYxDTBvMMqEykTlS+H0vWdYs5RI74/U0u+Ywb7z/JQLdZfvajQ1l8Gfih1VQ5nKobx7TlHjWA5yYcpRwJ/25t0adk3VL2Eqp9S1jXaXMZBzKBr6jSaaEOWDVy6HRLduEXqdEmEX/KO3fjwAlMM2Eas6WWSTUyNR6qBfsj7AIhP4aQXg/zp2QQ9cxEBaN2XUhkP6Iu1l13DXXncOlRyrxmYBKk65ej0oztKdWjXORbZdP7h7mX0M7IOpYrHtOvRltd8BOVnM3RIWqRpRPsTnkghJEvo/HZjLjS/xps01WV6Hdm+hmgozewfReqPLzu51zHRXlv/U50eJtr9Ro8rrupxRxJKpiT24DpkwRdNodcWimCJvuznJUh4i52T93euS5+q3dcriB97coitJoQGxioK+/e+LKy2RHiisDQGehkz+bG/blRDibfdKRhimjrz+9l12+rzkt1oibPBbCVXgIUmrFUyeB0pt0FSktkzp9UeOCco1Z17Bu8xathk31DFSMvZb9D+TaYIGmckC7J6OVJXmtsq5qH1iy880WnOgrUw1oYDY+kWHLsi2NJ6S0xYwoFNZDx8saN5Qy1Vq7kExTSGjwdVtHgPye+GrimAjOr8Cf2ezpvYFQbbJmsX3IQrEvy+0fVNp2UJFKgU9X71OelOO/GcKawWmjL0M1iW9h7cAJ6pXfVBBhGaXj3VYk4lkWJoUIn9N0jQF00p3WGcaWP82hZVKDGf9Y9HmbVW+YMkO3jyYciH58s9HvIGzVfJ50c/+9Soy6bHjljSdQ+/Ww1JEPgfNgv/8EtRvLoA5AEzmx918XhsaSPBiShmHafykmiaZ6naxLYbv9chsO1UXAQQ4LP6ccRZ95f9cBU+ycJdVkfiFZWmrfAsPTQUCL0/WNzQ0UNy81rIy757iQ4EnQQP5UVOKB9hgsx+N+/7qhAwnbSlO47r2D3UWWkL1u8fj6Go2VVTI6rCwLP/1qeb+caGkJopyJleB1C34cgtFsBqfZj4TK0lYo4WnG2xCbhRtjncZ4XCTf+vBkpOlGUDwxMiY/ONe7VYQMTD1k8kB1EEtbGxvLcSjDeKp5cjbYdTo8F4NtdaFYo61cVHblCe+bYyLZ6cTAAB2xq4AoeL+yrTf2WROKeJW7qRpHEzcwd1CwT0GdZaQAtuasNT/UYWjE1nuwamR27bz+scC3TKqdZfIv4gmwC9rq6UloweWFWj4t+YAaKEHmU3kBKRp6pzYcFoI+vIytaJgOpzxcKrX4pa7/d5KrQU6qw2s/RhHZ2G1KdZ3kFC8ExIDwkGBMA964iQwlecndQUnrgkxu/jdH1NX0uCNswctXwcdnrZnJpIonLHwQBVMVro9n9n+x3HahdmQp3D71lbEAzsAwj+mwVZjREByYUjOQpj043Rn2EobxgAUJUkI0CxzPfsGkHH5wQGcREu2HHulx0d8ueBOiDXmD/KPx4IV2KIzTbR/zS+9NB+7UsEgetSasoV8tjcvuQaak1713bgFWCE2TS+ex1ya6LoIztUcrLZSJU+HNAnjAyMKMgfQAAZuExePQUpU8C65bjwatpeXYQs+qLU8qn5uADlqNxzPl49tdl91iiqmMGFdA/0dBdbzIYjjsYRdTnCQjnjVAPStlrcEsKu5V9RIVJ6aRvw4ySe2FaJauTFcmbPxbve0DaX1mc3COjCi4/G3ao4kp31POObzp2GJwhjx1GbLkfgOGGygnwwPHNzSa3JUYTiVoQ7VOcJxJHzwA70zHfyYXPLoiq11sWPizjJJPNHK5absBgqOsV1/GreHAGwwscMTCrWGcaKRomq1DTU14oY8G0bsJTqYgKL+rLbTz+S6EKDoWmW3CdR/6jV7loFhehfwkFh0JEbparTWBBQ7MEWK6QZJ9MdyKaOD9LEupIqiIjl+1pZ+SbVWgDViAXuUHrtB7LUTChZzF916N/0lW0vwBTRNtE9o/PjGLJeV2y1/viRfyNqkw/4eAW53T+YD8rCCkEw6S6A6c9E6UgsP58uLedh6ysU+3I1Jr3ekStkttCO6j74OKLHglIsOR4pwewep1AI4jCu7dMn9fX6TBevlueAGdAqfx18AgEbHkmu8pI+ct315OaXBxbP99Zi8ylln9TNWJmMdihuaAQBJ51X5S7VFyW4unXZcEy5RAH5tif8PTKWhUVuW3xrYOHhY6le+eaQ6KYdT4IbOPU4VFcnOLsxt9qjOdnzb/CWt9jmaTxtWCLK6Qf75HQL6jqGBNk2HMgSnW6eN/COflFynQoVnAbhrRADfHkE9+b4BwnITP6RiL426zdE8SZw6M5h44QJIEwh7zk5OfxGDOv1ZrmSgNd13hMdyDrxwj0U/AHjHIHMRD2OOwF9U9MO1/OC0pxKamjKefVGp61LJumv8hUvNSOjLp3EDGhg/6RTOuyJtVofw0m7HZTokY4xAvcLea1+5lt/9JHxt1hhZ3A3/fIk5vz8ffa6XEesOIF6fi6WKN7sHwwdcP4q1qUcl6Nfe1X1SvHP4sngTFQkjlmaoVZ0yf1OX8/zJhb1PcYG2OaQFD35UzzOkxj6/yhIu7jh7/M/heKmHHwffUlRjVSn9rRWdE0yU4OuPFXGA0pt3bYke2COUi7VkL1CvXeXyZ8mIlRPNjBxUbxW+FDnyzBaWeUVTyCZ9CCo9tnt2pWdvCIWf/VSWi6eyL61S7z9Fmy1lMpr96aKSrL/Rbp2KmXjleGVm7759YpFcvG62y88iNTUIwK0Q9G9mwgUrB2HxcEsXu7OTKm1/mr3/H3iE2Lw6HPxPgkKGEP7blTtZx6+ifMf1AE2mKh3qLDZrA6y2bxEvRW1WfPerB766iRdhaMYE1USC4yOR2Xjyzr3JilVxkOgmc4FJFyRLykMrIGS9Q2TFN3oYFxl6IQ46I3hY/H+RVt3QVN+c+xKD91CN5eEjHkZXmSoNYiINNVGo6Qekb6DiWgtva1sQ5gcMHxNk0fvGpSvqCX91TGyOOdNR6Jn8RumihPvzs0aJVSAod87LA18Fuf2MBGR4HOTQcWY85uGp7TlTai7x7Ol+npRk+eRFoev7hPcU3LE3W09f6qi7pIv/F5ibjVvU1S8BcLjpNscJWdOVBySzsLYXY58UvqWr+D+9gckuM+d3MynCGFgtG8zCmbTtiStStR7O5kvjQohFx9kj6wLL7x25KXiZXw01XPH5g1C7avd4oIpHSz48yBi1DqlEOJWw0FjfP3LPKVDrTA7dhQXP2Z5FKpV37nLNZJ3k5niX3dRMxZ95WG3WYS5CeNeWalR8XLUDPJ+hWM5am4UlRSBWJDOtlqHcVkRPFJrHyWHKrrFnNm40T1wNklwXY2083L3AJJb6/6J9w8uxi2fBooe8Hr+yC5aaD63S25LX6EajjmPvD2hKNn49hQIbuxvo8A3RNdVGSEpSMKBeyLJskHc+9oRkWxeeDDNe27mrbXnDfBQBrtsoIZHiREy+7xJaW23Aoes6iREobVJDf5z84aTQXWT1QLx26AQRkqZEeCVhuOTsSggbZvHf819Zac+kCzjLtsZqFcOZH53Yub85C7CXdJrjD/fkPC/DXnx3wgadkaR3eJFCg8U+fs5SWGprEbu5rJs1YTKYuzV+S7chuUyFFGfwxBwwPx3Fsk9dElwD1mKkTqQ/poqFN4xCKiXcoyxTAmztqgMVI3juphY8r83nnd++YgBfRLnly0qqMN5hP1DrFYFuhZKS92bGO6c6XnGf66zXLEQ/89eyNm8IitEOFA8qDJmg711QBtkvOrAidfUHpbcz/sx194vnpBc6UMLd9NbMFmHaV3WSwtV/IazNDL9c0pIFHbos3F4mL5FbXdFa8jRRVJUJq9mwbwpS/d/vjYDHSY+I1kOl8IrHMRLwhf2ToeqQlvlnfczuEW4nGqWD/14A4nM1o5x471LcJVUUUn+1FCXCFhr0Pw/sBoe6J8VAAVyJepvWT2jgnR/Usiwc99YBSRl1po9ZLdgBkDeOC/R77JUjmzRzDEepQVo5OXfjJC+IHo8x56BceGBqD8PobDmdpxMC/Q6ZBRv+3F4YanzET6douQz8NmUrxqIF8PmafubUi1eJA1jV4rldGqA2SE/QaVRr1EUzBrTyFPHN/Ql/3dBYwXAh+lc41WFiwMDV0OdPuthLhPNn9UyFbefKNQ1alYxATKVuhSrMoYFhiGdJK5FMLL12ftN3gCfMBrpx/Yk74QbPXjA4tXx7O4T9UU/7SANRoIXOsqhyjgI80mGKPhrf45Av54NuAWZ4ZJMT7G1fJvB9A5ijvdQxmqaoeNXfovsMWqi/CyjgbezykLnsPT1dRt/a+v5UNd3jn0eYQ78Aw5upXiFFlfk3iVzvvnxMxzoMAI2homSdCuS4V+f5mDZiyKMwIzBx34bgNQLdJPJZ46KDAirVy82w8pNhdKGfls8P0a6RpIpDSGginSRqu3BAt56sIHrR5VBYqx0pkBIoNrz9PxWH0PNPIlaRQTbECg1xC5cIYK9giD5b8GtseYVQAukxiRp7jHZTZBlFsV3tTBA8vcVytEkw4/fHqh+O99oih0G1sHx0U5gMRG6umypfz/LhYnpQZPj/77A+Qf1ezeOQ/VFBfXGIZFQzPJIre+Xv/vmQC9F5VsNwvWzUvJ4mMhj3XcTybD4GbjwTRU1FweWuZijy1Giiic9GcszqjjTR1qFlO5B16lIZRHwr7F3/2r6AUq0/5My9fAWacPz9n61IjNp+K9a1l1Ajo3fWnHt2tGL3Xy5+yyePsM9C1dE4FY6h3BDtMqWZSftmRGFVtjPEHm3+SjEANth+TwMJuZBBjYHW24IW2IXjGey1AlwEJnAX8jUj1YVqgH8x+j6aeNZ8jN/2Y36vXjeFK4G+zpIhTebHljOvt+txzDPAZ1dLqoZjk6xwMIXp/jP1BVlB8aL9t0U/lXHnIwAE+7ghOhlyRssgRCmCBYugD3RnONw1KfUOc0CuuhEUZapkCJiqIc1UAuPa/Vlb1LUNo5J0qt8B4LwS0Zs5BdQCfpMCWjXxX6ckCRlEwJssSZsJuvTH4h4vNfLcOh7/4yrGQmiDu5GIDGtvvaQiUIhA1FFXKOKeK36jFDj/Ou+8U43oMqM6rcdw7Zl6r9JxByOtXQ5/n4dc+WAwg47fvxcKrELG87s7l/iaMIfSh8Wl0kHxwC4JqN8FRnn/6I95uFKRIdUdBHhCBw4JreyHsNuxLG34/aBaBrkOa2HgsGNFZNM+0cQ4HiKWK2xirhQ3JouCleWNJZW4MtI2HEzbPKsOP9kEBE2ZQLs6aSDvodxHQcyOBPZiRjhCljBX0cEsqYDhsCzqMpl9F8QjyKLeEC2V2KHXMPHgKFju98eDSNX6eEIjMeW6o8lGuRAX5vnBdnpFDEfP6XqBAB56mi5opWC6SRuMwoa6ULA3TBEITWZCqwNFvOZM4GJNVoWpkXJMwMhzB/udWaYJWtdlVeGxQOKFqQXKKGL46c4yVBJwLBh7ZRRQKGOdiKId3+cgefFUR2LqWio+zPV0OQj2wzr2rI46/SVhcHSnSrvdFW0sStTwWs9kUFZZGEkDxhgGpF6nIzedAmoQ1aPWrlL5RK9InoDnl7gpt+QR/t701MSgW/XoO6T1VtR2kjV0GKF9xd56s0jQJt2DWoBlI7eD2msFMMkvjwmJ6Cd2JTWWYVReruI8oI2wU9YyTmq6OQuag++I1PXFCNem93vHygoBH/P2Yclgt2JCWkc496mOBfHnKzXhS4Ean6+Kt9K3PjItpfr8NhCtunegkta+DxRpiQPiigMb7jrDmmrHZEx6Ib1FtVVdGfSwrj+9c7NS6Mbqrmn9RRJ3sy21Ebv9Lx94loXIh2OHPNmKD3hdtDK1kjJBHm5eD7WULmDyGly/KxD/rjsBymQHUCQAX+sgg8KDBgPImQy1TBz+8jvp3XSsFDkw2gyToiXMLDpKVetaMGiPC3MGbsFRRNqMXt9BkrIhUdo2w7ltnOXgN3yWKYkOckQj7FHytNoAt8quAAMl/WVwInsjnWR7UGr66vUn32xb+F9FfsEmwSRprH/mRfOqsHO3DbtPwgX9nSNV3wnhItah0HJK3+PfYyXaStPqwHw4EE7Yy8OrCvWJbj0TsmDcySE+65EVFRaFhzoNa7ow80c0CFqq2ty3h0kluk2jC3y5aHhvvHBK30qBGc8e7CDwuXha9aTAETk5OQ4JyBwUhq5wAwpVE4T/QPCIbk2t0AJ8H50cqV66aqap8ZH+Lc0LO0kzfU66H5+a4BgHAl6iv5OcC9wtjB/8wO75JV4vFab7aO4ZrTQEqzY/yVYVYdNmj2oN/9YmncWeBV8EmovFuf9lS0UX5hczc09qHsMvPQd4Ff932yVPJHctYNES7yNlfx+utI27xPdxukAiC9k444Ghhk9H4l893uS3du05Ya+Nqif9Nd5Gp8qlEVPbWGKp6SYFkb5kX/CumEcmjuHVaq+srx0asoRlUCg3xzV45r6LdYRHSy2xMtzJpoa7EYxO6IKZ40DExjUToyVACvKWq9B93/b7WpQCdyupjyYVTjgqKC/JYjlIEcrLB/DDZQQ2N6qVa4FYbmzOqahOOK8jFcHfVdwPon1DTESJem6ZLo9DICxqqgriUULMbj6E4NAOsKG419at3qIuIxK2OK6k8M4WSc3WLVbw3uo8Ypk6lxs/1/jLWaUg4PuTX//mOCFg7XasRvNvZxmGwQbTB0YeYCfD5hqEIjTKaiAQ3gvyEnMMrkzUpTttf7ecmd4U6DarPu1TTuuwKPuhw/6AeTcaAU07sqS2b04hIcA2Nd42R6Kn1HCw5f8F4lveXDMGjdgBucSIjpfOnIIJoa3UzV8gkriX27zQL2r8ARdGe64p+YLKg8P7JXoqI4cEHee36NmgzY62XDS2DRteXw8rroZJ18XH0MbzQEHINCYLtvxf8GRsCAmu1CwgSfH4YF5SBMCJzSXbNKpkcBGmtotkVA6RfkPNB/PE8G0pBryahItco4NHYALsfPKJuHH75T27/ZeH1/FNXbT3YeJmYVcGpASRjuza1adfjUczMQbzyZndI3T1E0tSvNX/5ud6VSi/EH4qVUMPZDpMFoJuw8+fvzoDmbbxaXxM+6AMP5kF2HN2UIMX823HTTGRlFvQ1cbUw35Ck6lObUefqHkyoEo1UcdNPHJKgVIQv+gV96tiLOwO7D44PRozuWpXJHYGFNuCJNosVqCymFSkaYy7MLdMDwuyM4Kgx7gjvu7J+msMwFMf8LoeTfIwmInzVzOHKIINL4q+vK79jUUtfOhgybNVvLqTN/X1wYZveB+EXDbvxOnWiTXrybShi+pli65geBkPniTXB2yqEyM1MCKzrAUMps9ec5I4pyeLHuNC41Qzc9F5guqUC1HOb89pygDkdWevJzAJC4yaLpMxz8h49uqMJBfkt8vrdhWOX64e628YQIrxMALqE0pL9gHUAPvuDY36panSGCtcTTxYlLZFdIsx11ismXno8cCCyBWxqFWxevcAxMlSZfbtyl+0jdYZPYLywaKezkvq2p1CeMoxINhHU2POMCGzb1OHT9cLBujxZsLKuuveCqeZ8CZTOhobxfBiXUx+NvgqoKvYjS+7DxOLeoxEbGuQAmmXtjJ/E2sSExDBQU4l/OQ/rEYWNeyfqmg4oPBOGkZM0oKebvF3h9p9bm58VayH/F7Qotl9auLHRn4Egn/7gXl1CS3xC4rfgB7OvIQWNAP1rMLIRBPyxLTIttNePuFLUhAiUemItOucoCpAx2hF4gWTn4RuhYW5ccgNxJt8vreTea/IpSC2Rsint4gQfXWFMOtnyQkM7NS4zC/sNo/VZf5h7FlFx5riAZakPuY+olSgj+yhnxQhJh0Yu/39ok1n9Cj8ZnDFC5Da5mGLdhomVAuVtUTnU2l//vpXTqzR92XYQiI3zk07xY80FCklEkebpoK9dJ7c2vRMyRtnATHjWafAAlMr8BZtUxZn5M7D0JhM11K1f2TMM01u24Ozeh3PPc7qQkjJEc0BxbviFDvlgv19kKauxCmiHljHDvMzwz8YPsTJ1yl/1XRYVZ/kJ9dqtvE+01oJAjL0NucQ4Q2AHsirhgTgTFEOreTg90ivfsdQTMIc9Lck7tH8iAajtTOZVyQ5mDwWhoJNw6faIzd/9ZMsgSePu5NJhI4v9jrlS+Fvmx/BTUcvwFeer2PiIfukgo1oBXtJ7aC5km8yNO64LLva6lj+VlXt08XOwZsVXb2cGYqhueJBkO60MufLTOn96YM+ma4gbwFREpzB+fUIeSuNghkXiVNO5HO0Tr6XpIPLgjaq4YFiCxiAn+adV2exppknSpM2TIHY1umWljyx3Xui8vwCkCDTbIecZ8r0NDK+YnsRDWK+J/vjXzsJQfn4QCBynIpf/k2W5o/gB5x6a9oF0btleNeOEHGmfVqIPTSFSXFFA+YSwcQYOdwAebW+/VNvZ35Q9CjF8NEq8pQa3DqG4YJJZIdyTCl90Ont3480AM9v0m19LAxfVFE9JQRgCAnHcrRu7mXbITwtAkXas+xnjPW8UhbSIyTZi1/sf9p613wW9M9awWopXHkzfWbn02kPZtujU0FQBbX1HS9itobHAZGmMXuEQh+Gm60VnRQxuT3raCP/qPz0IcJaAagSv4ojyBeBz8y4dvoh56l015DV1M6NkHlQKpTNHccZ7dP/qq6HkS1XoLsQzJn7w693IW36XmC4ZyKJdR05RrL2sZqlYv7egR8KN3e570HRADVKoqrYe7+OMl33vEKCFeMKYiyxqIrwBwsrJadR81u/LYbca143mnADHqkHWHM0+JluRmlzUqXbw8I86kTKp4GwwWJlu0MGxuvtVwF2A0CfTDT4zfaX0xM3xsXkBQP+f2RMVd8k6z9C8mfC5EzhrWmasbVXwiyt+hY5UlB20T4dE2x1Im0WuivzDyG9nDYpmXcT1iGKdsVCX9e595HGCfUKyggKRU1OrKO60bdlCbdwHN/s+jw5Y/h7FrmG9Spr0zprezEf/vt/cm7509Qx02DpniniMyatTqJTHzepdqryLnfuEQzcl0ilPZzAI/crcnrhZxm5q2J2zUrT27XsXIVXiOEdGMpi8X7RY+MMv0v8rvtL23ukqPhGggew4b+ErqOqD2m3prZwnPZD6mO6sajD9laU5JnmsywyegXsQEyPUEPw2kxpD2Ucogt5rA/bO9K9SRo1c+68FscSAaXtm1onbOVICNb89eOxqxKZ48JwNI7QR5oT9Tt8SJuhYB7Jrbt3VRRSSpJhelHdesDpIylgRjGtVWcoTkdHP7tow0hGlEioLR5Nq9AGa7nZ9VTdDCujLtdcu338lxCWw9LPIR05q+4yNf1mJ2UjC5JegTk76248M2ThYiAb7r/C5ObmhDKGO97ZDD93ZZ35ppPZAntaZg3InNoH8zN9gIE7vdzxNykHfjwx6GpdCXgvCWjHbr1U3GqbUyDoNIUM00YmFZ+/9eNZBmfrWSqQRkALDwkzpUQZ6PQvHuWvK2w5iZRoBI74FQaRGgYnTkPSnbFZsW+ZwxEtcz9UA0EGJKKTFhqkonIDyEA4vbiGQs+0HVTn3bES2XMp8uWvGkPT8hxLyeiQicsH4k+XiUnm33rYsMvScrlOYZHf71dI/KrxH5uArkk5TNOiovkRP3gT2Xn8E0oXc8Is+4yww9c8eWWzgW8ZUev4tSQX/6GaEFPq3RZnEQeT6Qr8mGufNdtw2e8cxLTxLl5fV8j9uSAp23i7KFpx/DRUwJTvtnEtAW+Q3HMxsUO6pUq5zV8j1JpKVNBo0cXO7nbdPdiwOmso0h1gFF72pY1htMyKPlzHe1eTGbhwXBonTb1w/go8Wm7yFiTDrZyeOsVFsPm2KOuzw/ALovZ+/3c1zwj875Du00S7W8McpBZKUj5sQ64u/zXq/mRt0xL81qyFFvG7jz9UxCzCINDIwa5CJrADVKJbERbN3AOBGcpERMgCK0MP3erdp5Eb1J8/6vS3VgQyIzE5Ajj3YB0ym7sft87FrpHvj5k6BEQQmNxkD4rbuBz+YtgV1BS/JmLtDImFp+lv+8Y4wau8U2H+mTdCJdH/b+Sy69TLsZ/flW5aPQyU4inr+ZyiuyqCQpVy1gXxVv9HqoTUnQBOpedgqZdh6MKje2sLwNTGeqIW04AyV5NFymSZyYlwNyxvkG5xjs8eMygutWpEFnPVNJlsjuZfmlIP7xXgpzBR+YjREXAnZj+GLGLpY38ry74hntzbfrSvJ0bYKkOF51ipBXNicLVMOdbwmmUkCAeyWMNJD6K4r9qAvrwHNSXubtc/TNwvgcOql09PbCidoRmHkXwGhcjPdwc77FIZI6Eb7lZ9iTxa+2fwKhVpkNfaP8bT8nPELoYBzTmkIYtFez4lyjMHc84UMqCxh9tIL34ulHqwLVpkHqXLrW8yheMiAMroelwtovP2ZajgGk44fTLaBrENjmnEMvkJsuAvqx/cScCXFtLJJI/ehZDZl86bvgYvOmtnfDE4F7XsdVOBuQRZWIlFEwnP5BMhLKtG/FEtTakHOcj1e/McxtUku54S4SsHVDnfNXiWTFoC0tWc9C7rrrLggB0vPbs1S2MDuLlKYdHP1oIovX1R/ZxoxK/mE3r4ZxKoaMIkVliaU9MFtkwm7MNA8Dq9khdAdcvv3CuDzF/maCVgjrKngxpL3SsGLs1m/ANqS609Z9NcJIrgm2mayVxytDpfjS/pZ2JuaUpvBiHPgAl9D9aXPM/sonEf4uCizueoY4fIWUCCjmIfaB+qJrU1GbyewleEfVMw+QJMRn1HvAA7nkOWYAEgpxYLMZK8tQF644GfjV8S4w1GJZIqhvtOLH78Te+TOETmeXusXueyqZugRuBhOlgKhznDmZxC0sySsBV53DxfSKojhOdThMLGW5AvBlqMhcNacttMxPEu/gf7nglqt/Aj0uoEaeEcuzhZCG03env8qVwWc40tx4BCpjOJWmSFj9sqf677y5fhoW5uCiOZeCp9qg/xYxdawjXcDcTssF3JZ28T9vIIEkcIcR/XYvG5ZF6P061B9dK/hB5m6uY/8WDYn3adHuJ+r3R5g2T00Mti245wsGLgOmvNr43ziHm4A0czKPxIQW0HwtXU7P1JhwbG79aJqaEiYXkiK30bsPXe7TMUSmWmUMBZ0RpgFTmfyHm5OlayIX67Zgpkc3Bq81JviouAt/i9OVWWwNECRHuEiIxyEEJT7CLG06Scq7exJlHz2Eumw9D98AkLpnLoe4a5OCfOSRwJWdBTcw3Bf+wuWma5P2fDMHCA+Hp8myryYrowWzXH0zQj+t01mEWlLW4S8kBYZMVZnX8LClzXiqHQcKBW1oJ2RymKx355N7nT4s2W7G3ZNjqCY7EziatPWidQcsfCjujbWQtePkyjI1+30QQrebRRVj/v6jKcGfkDREezHTXFzdhpw4OXSwiYD0KK1lIcDRHSp8iK/xaEec6NhIq1LnwQQYu0zvXUrYff9IWG2pBNtCESwskv/Y+KqTCX5T5g/YXu6JgivsjiSwH43L30kpZMS5s3/7skkAm0dExWnGSEbDPvUWF8NIJCgkLAIlNY4KQCvODdWQIm4oHngpAIP8eij+mRLiQsO3j8JSvHliUB0+IGyzEWWOyRmuZvm76cJQ1klsEOS/EqgWGiP/56bmKaXVKh9RdZJI3+mZ8hjufRPU99B38eud2DR//KXpbDjQ9fS8C4Hn7RzJG3CqDj4H5zmfrcDU9b6QL1RD2BXwCLbxJ/Mt9g9wr9VQtGnJgblzjwzU8Yee2XqvVoXL0vEtCuDIResh2SbK3Ff9OrEjtCkeJflnqwxdYfZ1CjzPixdGO6XVzUZJ3rx3lBibfCcZ9MAwSVx21ZuZesrJ4VnxHfwVfnfuOOiwTFDwKSjX3QrfRrsn38WK+B+8ZMcenOGKIkAOovOYGFSrEj+GWARn9Dyt308T6ydRXtrAXWASQsh3htLke0rZwZNK03GqdKLEWGW8kIJ7Q5cu/nVc1b1tZjN5JSji/buunOq7/D7VxqsZYIeZ0PIDR9O1ck9+rB25cZ8ZYwd0pRx0EURUxj/5HUqebSLFysKUcF0GUjjzwRsgHI4jv10Ic/EOJ5qxTdy9oof1B1q0hU0lUUn1rdIWt6dT9VNiB206nhSMP2NhTdPSN9AhSY0ysZS81mUUEvOBlKT+BWkKrrmECpYL29EAcxV2RyeaMOe6QbOMJ44bnlofozxHdGRF6RcfuAT58f8mSFg940FpWM9UrDLdpRYNxz0voRp48ZvS00/yrL4gA9AX9DdaXn1Y6jj6//96eVFd0IV00HtEKzX8i8SlQyFbHiriTy0bRJsxcLJmRVmbL6kooPscr431YL3n2hmIbI7fFlMYFreKHhbYe2XLKfUAdq2YOhHNH3pJqn3DwqkuLzuHtOjOP9hNuDHxBlVeyOcfswiXGpIxLlRvFnlXqby9D94vFwdvRxHelBZjB83+WeTUbZsovHd+2V1xZh+PGkXup4SIomgDURZdvZJiy52Ft67NMqUEvKJT3wgBxvhIVVS06c2tSIXcRVKlb84crtIJt8uEA7rS0azBeXJT0M9QZRqHm/MMAJy8lw4Y7t6mrnDxF0BisdjNvdMA2GmYNssKeh7Ae2wbOivJ+XaUF2xq1F0jPdjoVhS62oSsNmdJVYnp3T4toeTKk956oZHZGUfeai7x/pLwGALHG8hMiDw6PZVWokQYuWvMEA6bgG9f1BdnCFyJvfRIMNJKPpbFtsWxLqIkT7GL+i8CDdez7pjUYvlcAh83qcEwvOF51LqB6MgG2x4WcsO5OHRCRUfO3ukZdVz4YTtVlBDtjBwVedhHrUdJfMVnJl/eULrhIXNp+Utp8s9bdfMWDA+5JOX6CTb9yq7W+CUNa33E2GfgVOi3U/nzi++unSu7dMHw7Mr3yKtH79Qzo15JOAZa+gn9mVrttKOIV6JDUG6i94o7H8NjDujajL8/WuWhMxAjWrtlKoVDXKwUb2l7ZkdTrssptuhTnA4a+/OW5z9KIvxUZ38VImnuVfEfT5+rn6DpQMqZtBqjNnkQaQelalJoXKkjjZusozaIW8lj7nwpl9gdvNXljacoB9VDoGdvSKAsa+Eged9dFpzSMzUvjkjk1HGokQG6gqTnYNu57CcsJQ3XZhCGOz8etNff7bFL31L0el0hL92+E724o3ziwrktGCJ1MD51x/29Mt3bYg5qwE6AX0R56k/UlbiHXvWF94JvlxhJLfBsprux3Ail1PgwUt6WJUbKM46SpjkSj2z7sAtiol3tv9Ori2fsciOeevZieU+jM1KfCbv8fvwonFSds6Vpes3/1AAh8wQjk/PMjKNWtk/JJYshgghh0OgxaR3vLaaTd2NtDXAiTioi2/R9QoZoVI/McX6vlHPSaaZTuP73fiePUZhLdBBBQC6S4w5gc8uhicq++rxAcVD0nnS6KNsmMfrxZLhLO9TtEUXnqNd6VrhdWcYeBTJCnUxQ1A6dLl85V3r9TOGYBeXxoQDkwPKn2aQdVqSqlU9kQCUP4wRHvq6ffZzqL6JFE7rHHIlx7uNWoFsTbEwWc+SLTQvHmXeDhx0TDyMpywa/iAOsJVpzNYwKFBsSDC7jJItEyZHAXCs3lpdBBMH6nYvUh3yOk/DL1CeU7ChEEy4h7XZOJygrAlHCKfrbUiNyYIs8opW3as46mLl3q1cGxjS+yXulIlEw4+nkt5eF9txXoc6rC33MhZEngYEaMn9aklkO/kDj64kj4cdMlpFRdlYytB0LxkiupwuCJJ0C7FQoaNuJso5oE71Q9Uzh9dNWA3SwDM+S0SymN1vaZiEBwQjQK5w83wfB4fd4hVLSLw6B4jCNy+cUbL9k72LTDrMS34ynowu5saWp7Gqr9YDrr0r41YD27Y5lPSJSn/XE41x2HbENz4wDRO4BD6xjrbTPg4IArDPJ3z9NoZv7m6kfZUCU7OY9JPD3R//tprjbuLKXpwQnt5EjxjjJmr2ARHRcxhyxJIyx5Hf3NDDwis/m/T21qtlME/+00F6GC/e9Sq5INhR0pRPWSFLkIsJmYRBJsNdKol+q4d3xnA3q19eajYmF62FzH2cYveDSMwzLk/rGGY/4Q5rJznrE+3lRUyxeMsVS9tWIq6T92ByWlIOct0E8JmTbgQq5teoi4H4quxgW6aiZtnCgbGwdkH63pvgkrG/Yg20FAAX3iyNqqWFQm0quFJqnv+Gs0DkMuIbM8aFMI5nvxdK8rO1VIgV61C4RdRMYOwLZILop64b05LT3ESmheH0TjeRpzY0t1POpKY84CoW2l1ZcAHCalocq/mZx6C/ZkFqPrfACZiSXr6gSMR3BfeiRvPebo6KtOOPdFfjPwaCKBjkwCnb0Z7h3jA8KNF60jPjq1TAq8hRhhXsMyrTd2/32CA/34VyonSxODkgc3FlpkEOpCPWFIR73uKgDUamcxGUAdAK2OLtYg4FkJM29HajWUcYEryk0FNA0ZeRjDWnD43Iclq6patFfYyLObTbrqdKNg1iSwgItZK8d7sxgCbAQnZJHcpY6BkKjDIDQXf3SGmkaebNE60Sw9do0VcddqUEOYUoU24/u3VI10Evb23IJ4zPMHYk/xVEAqMy7rvOBbUIC/HDb6N2t3RfJFSub8RpS58q3qMCxtDZlkVOjaW1Pa/eCFDM+wJctHfSFgAbPku/WLe7WhdfqbKC9V/MzHr+TZQr60PhxbqDD6UObhPfS69DR/OQNofxkwjsK6M+NP5r+ygV29/caHvOusH/pwpZSHFeYztxWnZPizXp/Okq5itJUljROpRzRWe3aqhFyYAWKR45jN5iVJG3RxT2vcuBQ67ZKCj80Sy5ko6ZtGsuVdPA1CanqsnAo17BGe39hLjw4pKdjsuzyPMIn79AcngQhE0wCqgAW1O8gYN9EbEdpjBKTil/60gHnSCcy8gWO/gZtCUQnP+Fytnpoe/m/uZAsmkzStkvJ8x8/fuFyJQOmi1VCBk7bQ5DY76Fr0xGFll2L4i4NpGGQ+cSQEemy23SmJGsI9Dgdjn4H/MDlTqmVJB+3IBHeppXiVOZfg4HnRODWhMQ1K3p404hduY848Yc+zSwuy+LXGseiHm9Ld7CUbEwWday1hFm68ODCkEMSZ14FaqOHlxSzA7t5/xr+Xpcrmg/VOtOg1wcmSh1nfzA/OoiCLgkWSmvmEjhgtwqCxfnbuFdQX3E0ZyFGrc6D8+fq06zF9O7J8DaHQTEgyj2IbCXJTbRpbI1qrkrGL+Ih/yYjrorXErrPHaiIlLlDTLbE9ap6oSFHGWdNUQIrxu6dg/jdaa/aKLewNq7a2yeQWANkTrd6+gbxK/HdH8pTr5jQ/0nzn2q0nCR4eePGRxi1fPKRugew0Cj4zASBH53/kVdmqKUZRMd+8BHANWCb6ic0MwNURKDwhz+VhcftpuqnqEnWt7/EvM4uMsdMpq8vPNG8gNT5pHZsq+aXDnIb+05qja+5FeFXuHjKwLjbLnWTxfBHZWnqb4Tn0rHYJ7u1wLWq0V4MrxvwFT4/nQtexZ6kMskNg85ViXffbZju0LWq3Qzzlwu59MnAVLWOdB8ASPuW9ddhYyVbp1CdXixZwzVj4p6O0KTETngO+iS5mCmzwNA00BUO/wMY4w2U6cv982zjS7Zi1l9UOL3DuUAOrEakA2dqP1FRCulzM8HKORNAZWxejf09yK8HXHUBciW3y0pToT8e6JBrLoQQ26JcF7tsL7e46vl64TZs9by0tV6VP1s4886jdGEGBj6lFTpUrC3XqGVG9JOMoYdkje/GAmmpeJX0z5U/ywq+RWPON8p3c5tWYEsz/8Z72qimzxi2nkvK8c9qPQWoIW9S3ozvPP3MHDGfo8GUl2Jbsq3267s89+HyZhuaaxO0VT5PIh60Y7QKmPNHxSGWvEafxavi6NBers39/6re5cxGKyMYe3RJtg84tWXkNC/xtjkSH6Zpc8NiZGwnL8mG/SEuv65YgCjH02SGY36iapEjXWiff6ju97TKtM/qBQ6oTaVl0C1kOycMUCjiQ2YoRJHakn2M7fa6MNoOKzSSOaTNeyhWR6cF7QiQ1YZIA3efdCg3D6iI3rUR+egBP9zc67DPyZLuR/9uQQqUxQh7c1bxhMH20e4LVsItmJCftMH+bEZXt1uX7ZAiZ5lF9hoUD6JDSjkKH5dFbR3EL0C8hUk7j11xzQDT9K91RR9KYV/BiTstWPMYQ2Op09nG+4IgY9EtHMim566ZXdgsM5uGGdwBxGO15Ky+OOZoRtB8ujzghXll86UjVmyMzq7yfZ/Wjsj/70x7s5h/yfsusdzOXKcQ/ri1ojzXPI71fiyTCbOGkm3CT4i6TZYqOPPHnGqWswRjNX5FbnR2RREMqrDSeKX+rER4bvRNgFRprEPrJ53f4gjUXRxvL22tmANn+PM+Menk6DJ92bkSxqWB7qFZ4YD/aoXbpg2/PLGg1KviLtiBhTPsRUXW+jt98hjPNwrs+1H9ZCO/nF93cE5ewnlnoS39kGh28V9iSDBUTPy7yGQ+X/SYxI+u5jpeiz9RLYnjy2ifAVhYafgTtu0RqjwaalcKa3UWuiwmC+opoGQIF3bypr/M4bB6/9N76rS+iqWlrAAmPLhaH/i/8WVUo6+bhsbmhMdCNZXIhm4qWAJf3qrYDtQuGkmqX9D0hpdX4S845nyQ38ASL3BSp72SzAbMtC386XWFjOjy+6NqlTXKPRx673MoKOVoP6qjMsScDVQMBokrZRmYrfi28kHRlGGD7dSiWS78fa9HPlNRE3tXAe3l8JvM3UCOiwO8zH4SnrMigt7fzMbk1Pvp1QHVzDWNKB7dFoPLhve1EOM0oGR061hLW5gu77XtjI0uk3mbiQTbyRyvFBLnb6m9ehSPOGZQ6F00w6eEJpFNm2M7g96m+fkZIV94UgLAO70vajk6kgftRh6DPbas81J7VwwbKA0D3bMlvCpTXmqT7t/dkCtGnTitPgWdgIMvxAMQ8dGe3MOBk4cwn7/symaDW6Nkh9ONTzmllm8xV/Euv68z2Yd6x6O4LQOj9a+FqlLhLxR8dzXeC1zipJmMSA47uhh/nWuBqWWpp73z6PUnaABykmUiPG0RK599ysxF4ENsTDoaeUmWBwbQH775zo4BbYg6f8WFfVHgEZGo30M3R6Y2zBS7iLjhmgALAGQoWMBG+cxZyPj5YIsfXtbly3HnGcAKiS7lyT9DSQjEUQVLG6SOyTt4wJArGCeZ2+ojeBg35uMMcwSfdpxez6EQn+hejHYEdq6MRVeshQk6ek53t5a+6CDQBXdCZ1L9SCvw6bvGTbDZlGjJZPFzDpH4cHZADvMln/XZ+3KahKQucIbUQSR1wZDZMwKmhHQ83CI8geDi3ioyCzm8WJgwb7stkFGQG+U3yVoZdK8mQhw+HqrXef3fiWvGJZiO6W1yo9BDrR3tRgRcSCNjlsVztnDx+tyRHRuhd1AtYAtQUzX5pt5+OW8Di4PDmX4+MBUkkNiCF5+S2DAYsPlCO8wfaA3dVExdnkHKmUyc0lSTnAQNhQZ4gtZuS30fw1ysb72RxwlHUlLdD4ndIF25GNZLmYPSHqwVjsAB/oQs/f4eSPPRvx4dQgxEwNcJ2dXM8qkuPwGH2Sf+WIAmdqA5C6Kz4IPf1u9IqvRNzXnQxr+Fru/Q7tXWP+jsm/uMujF8IH742cWHCraAmZ6Fnc6IoW9S5ra6RH27lhZXcN1YiZzFR9J3eBZ95GGbrZh6UKnLLNGg2k/w8WBbuZurgy6vbqk+Lk1gmdxd6CETLjlvDr5yVincvDeVw+bF3q7vSjRcbgnrG6mUBiyTeXKfgccVAR52FlOEL7ZW4FinyJzUWT2tRctQslVUY8LMZjUYzD5M6P0L4TW5X3jnumt5wqXzmf2AlLvOzMQxhUEZuGMseolAShpdS3fshpqH/f08RSnI0zRQgw3dQqV2b4fZOqwk3BJHIMs6LZRvvBOxQJaw6cFp3G04nE9N8LDLJgAMUHbloLv17fzsqZut9QWVOyr4FmsT05R45mcNWz56Cv2pOPZCj6pQ+KpFVt4kpIf+xK/kH0y5liv6shMgg0cFP961I45kdksrEEU4s3cnTsCQblJocExlN08L77ZrzDs5ZhuLTxiCTkfZbIO1ad6oPrTmWAWpQYsvQu45KaF0eGIcLT4n1xQ7PAieKzNfTY8FO6+8tZVJVIwU0NWJfS6BoXLO0g3uqBvqJiF1SmALkF5ihcnXZzneE4CxAw2TCSOLp/UeOKkzAiLyPhKvfO3TaN+eUA9eiPkvWJOiYIQ86w7/MtBGYqRsHd2fQAT84/GHkgB1/sx15UGzU8T1wpYT2iikCqwe5mx4SV/7A6Awu+rfo1abby8ItjwGwVS3TIw1go6HENwrfS3WQuOGr7mqdyJXQBr0si4vbg6capfjYBVR0vZv36CjB8b86IRkQlshyO/RJVNelUi3A3JLG96zFvEY7Ov6Z78m/S/hUi1tPYI/GDoUM0WPnCksqS8NPZFcXZxP0R3niRsnOmxsUuCxCMqBsemzO1BpGLXOB4dNydpOmnKEAz4CNQ6PwCFyNwi+Y8KId7drpO5sfQLATdpPz+x3rG9kN+avJzU8ddVDFykoINvNbv1xZCyAjN50hVuZzSclEPlz/OA14vxOmTi04X26/KAwFI8AZyMXlm9jsJ4cHd/UKbhiMD7aR9JHwFNkCwD1KuIhtkZcoYL1YuNSYxfjMpj15SQAOJ4QXHHgclJDCxVqvbLIjJXagB/jGHv42N9HoT9FLbTEk6VTMahsGpTbCj0TPt5Pizm7NTmqSPG6OaY80PMkQczj40EK4+5t8eG5RMW0thhHanEQu1UiAunyQBVroNxxYCloysXuidDIQtUdXBV9Shh3UNAWk95fFK+ItsoyN4zhGh0nssE+8emQ+nNl+KEUUPaejQqRsfGLPXD2pW2QozYQWRGUlvM8kdHPb7EgZQ1zTQoyD/PmqmO3ZsKCjbfyCx1lDKPDy3NyBTQ7Q7Zv2Ad0A/FSC5EnlagAMcamrXMkMyi89w9Qk9f95725oDB1ALRGd7xyle80uAnGPBBY1vxdqx0N2uky1RlPWRVeOI+psPsGrtEs6It4Z5qxWAQqdi2RGCa+d6JhltCRqyA96hOMD3mKPhSPmyAbl31Cfa7G3tte0aR8Ldg645FRmRygo0Akh93bf6G9mgZy2d8vCmVCN7s9XZ+5D7lWxAwjwGZp2qdLuyFbBN/b0h2h2pw7UoqNRPwMAiU/L/wih2fuJTc80h4DQ3uaXaFN64Owltq33Nokku8oFB6UmbIPrtBM0NhurQdKvyoHbg1/yaCN7Q9m4R32Qxmy9icETUu9PPCAui2LuHNOiyd2hVhHCcHHKgqRPdjq6u7wdUYtyoMVLB2mcLiDQWgIkWQaipJuiS2v+SM0dflG+utmvOeJ6alK8CM0c3GtNXq1Vt2UrXAfiYKovcNXkvZQOZWHg2tpock2VvgGxUF4JekYLg8VJUhRaTYjqJc9ViMi/nXKiuWQ/+eBxvjM/UiltaASDDmYRqsmEGJPBsNeYcjzp04X6WyrdBLcTSW1RhhLiqmDFLIYZYwztuV0rQdpeMjNIMg6r8rply8aBe7XsAakl/1OzYbH1q1OrFI7G5eH47MtdSg7V7kFFuOUIIfSsr4nGaEKn2TEf2jRJfRdE81aDy7WkEtA6r8Oj7F0Or0P9l5B/qKZh5ORmuC0c6DddZRawljTvwWn4q4JTJu3Z9zSJt6LKhYZAi0JVS6r0/AKTRx8CiE7jAyw="/>
  <p:tag name="MEKKOXMLTAGS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CHARTIMAGE" val="FILL"/>
  <p:tag name="MEKKO" val="MekkoChart"/>
  <p:tag name="MEKKOSAVED" val="1"/>
  <p:tag name="MEKKOEXCEL6" val="False"/>
  <p:tag name="MEKKOEXCEL7" val="False"/>
  <p:tag name="MEKKOEXCEL8" val="False"/>
  <p:tag name="MEKKOXML1" val="4HooU0THZk28POP9trq+pbTvvzd/gcV8t56cq85kb3NDTsUhojRA0EsgEHHMH7oYP1SYpn09ysXVivguJdhTvfyVMsBLTGvcX7WPTor/CmWiWcfk2RmY+GE6Q6T90sFUr0lg9IPP9y8umrse/9AoLT5R0GKq+XM9pr/aTyOTf0wptcuHbHxeyqBm9svU01qeeEM1v0hpSHUgirOnAK/wunjZPmzVPPwFyUBDlDfxgncyrn26mfUxYRA79xbk5zo/zvtIH1wUlJEoc3ym/tE0R7TFuylI/Ka2jPa3hxGxqIcsuoAMr2BhzJBCBPZe4yurIN19wt/gMUjAGy97TwjZifIBF+Hck3maX8bxqwmWN5Lz4DqIq7RLGwL8cJPdxHxrFyTKy81ndsieYrArIDksaybtutEDKS7lWtJ6JAcGZVRCI4SlTtmuy++sF4Qk1arz3+8FEg3sMj9Rge/ETmV4S87SOjLD+N8VBYalxY0z1S8o5Esh2vtszQhq6PM/KUiCj3hXiIfhoLl5kPba/BSzRWnBIcRf2PiMrnZnyV6jP2uKe5X0RHv/gkYVlLDWL508Ia/EyDTJX0e3GU+Y3B6jqNPmLIsbSA0lmV0ppvraD9V7NDk+cLLOZW5V06dr5ant0NmjZ7xsFYwGo11OyftNiag3UTngCDyrKVIU4FKjCWMc89JWzfnekpQ0bM53HOzwS1gTEE6bGG6j3qdok5uFEbf5BoqBGghF5/SyBU+onpL7+nfJSs78WvSGWxP4tkepuuhnpg/wiOFs0AGXQV981j3IsASYzywXnvYxGP1vb2N4odHZb9c6lq7/BTtjG6bjFNGwoOvdn4vmIY5VEgTDPOjBrNfJjwiDZd8mHBlh6VIH6UUNMfH2sPUSoh04QktiREjlVA+N4LpdiKVfAEGWn4nKYohVzBI6aWeVXYfUbq+zO6vYg7i4tRZA0I/RjTDmuS+bS1erEFBrZSCxp1wWJBjaEpod4WVUfBvhPdwrFyOqoiaQpSkRBYxQW0Ac/GtsLUHWt5kLezboRDSNuexNTUUUix/r4XkGTeQXMZ/MMLpOZCEb4pEOWcGWyOAg9tFwDviHckdgZhL1zoHolpxpHSmKHJ/fkdLnPzC7edjsFD7oRbTLkpnmcqhkw7CyRO9EMsEp7S2Udc+Pb5P7Tvqz8AGq7RbwlS4f2BXzwUG3ZNxP189G68X8YpwG2DQ8G1l3csyZSlxdXa8heoNgGdsdpr5YiahBeaTE1PEAHE1U2rdNnK4XmIQAFw6LFR2SLkXgqSMgCwBR3UhInI6GkJq8dbcqxBkl4UoRDGmCoaIq+J8WQUD9yJTZcFaV5us5SmtLullHFM/UcJtEiVl2Kbp+z/lecUbMrgeHzQp/VW8cE2ktXdUWzTLVncRrcIZH+PAndXhFYIKaVkel2WtxQHsHolhP0Vx55xs4lQZBs4ln0bXYsHfACtVByvt7f8CZ9/jMS8HmjrQM0KM99C05vyzqAIx7RReOt26hECumgpNfaCvyD1KPQPvcWF5eroQ1LYZ5P+qoOVGK4GPbFTWctV4vBdXoW3JbWdmb5UdQb51QVYx7s3HROr5TiUrtyHYYwZsbQuJrZ0sybmOmeLufKp2MPTF/Nqpda8aURgdgwhgKa9+T8lz4OtaIBuG+fW2uRJ6+MDYWTiZKd5J057hwbp2IDQ277/5jJ9J5r8s2CRKY79TgY3bQQwt4Ybx/k5WWnjnQd+dPRKStjb9JI2oX0UuoRG0tgyzT4rAmGFOP1R5Xy3Tf0+9VQ0nkOkhKdl8UWf4lNzeX1jJB0azhFozbNb9l3H0x2gXBdof9meknObuOTeHFfR7NHKdJn6vQo18wcAUiiNDGJ0EPCcNJxW3ZI/iWQ5dYIh9bRiIm8/qvOmxnVFh/GIsLpgejSHU5pkILZAN87/dIysxbkYWufGyNa1wOg9ZaCXAiFJ4BqGL+yw+wI3pSh/PmgJgHCCtCnVNvzIn6ilIVMhVpCGe8i3oZMn5GZIP5UpL5j4dyF024EnCfJgEKKFjxQBjUJKyOdrYpwtvmAmb0UleNZt0522T8Y369ozZmJx4I+Gakw1+3cQa75OLGMsbnOc9i50+oejurwqQOvPNE9z+Q/zoz4dH5R6VPD/uQ5LpfqfPZJF8TIZh7ENdPBgewKMJbsgbEPrBJX2HUaitl4zqu/Ckiiha9UsYVuGwGPkrsJtcK+FqAzGhnCLItuasCMPNQEgdK6UnQkji7i9benlz17UD6JFCyMsPmW+hkM1sTQhNQIq7oLEZRE4H/sZRNjme99cNSJJMQnMN5nK1pjCSjD63KM5QTuD7Cbn2dDq+HpFZPhpduYn5U+ICbJJlf3hDrej8MI0DX8FnXPEznPBC/zKwvtC5H+TP9XOahhiM8JPTvTVCEnTvKx3u3WSP0zL4Zb+rO/cGVEEh7ZaA1v7+mbeZy617dAgbqubEjggysBftd2sDr78+dejmcPx1QvNDpgjNG27E40vZ4LZSXV2FZ3P0wyvEnygL7cQeqdjvGpTgpb/LkQTE3r5+rSdo3RyG8ZmNMT+fzuHoVdsslBQQXQrL79mEGVKqQM2Or1u3SMp8gYc36+ZhtL5kRNLUW2NqZD35xUwsiSF4JvFMTYJUBC0k3UPpYGyVh4Icm/7B+0Rv23ZsGXcZvrjQWNHYb8z3WdnbDRHo1VXm0BBHa5BG2qJW/BxY0yLyj3W6GddvUSsbDL0GVquUsPxY3vOq6mSKKWsE6Cq1OSuZYzhFmaCbIxFl9yRG77AKFPSBwIrE4U42vKK0dpy6Bbss7XgRHDIXZvWJwtPmnWkUx3Q1LStsYVUyDNZ9Wt7DZDWehc2JvLpuuvQed5K8rIVm/tYjw+6x2Slp30exrR5gUz2HhPMQVP88upT6a2YF5Blt+rpC5pelLHFSBewfFbvFXmhQyi0oU23Tz+MIUOkfGvUX1WYR+aUpCDHP6zqY8k0XniYBMxUZdbQCqXfGDAi/AbH6ByQFQWYKuEOtkyN5L1j1+x+CvOBKulL8vBuO/TnAmSg/ETrc143A/yOz9+EMK45gsL3i+40evymJDPdV7Rf3KA1kT5l0ywOoHOh9fjBsSe/HZUChIseaksQTJkoPPg/hq+Wiad8XXisFBdcjh6WOxs4UpY0og3+UPUaaxhdEAkgqVWQ6tqSKJlwPGeYvTKqqmj4PontpG2rW8sHmMY9EhS1X2YPjcXOa8qvolIgW5s5nlLW4IFxwHPxkLIBweehJBcd8roidxRAlOYk7ZpV9EDmOeiqBjWRmrjVxmoCDWnT4P0r+H1TpmxYHLFZ53kN6yiWVD77Dye8Jjkfwj0hagw/Bl7j1i4HwLYOmlT9SRDYAdeglCNd1k8kxakVOx54NncMyEmAwA2Q10gblpCpa8yk2Cda+pS6ovfR87iFg97+vSCwrkpXy6CTF9HnwIfCugDhZNqir3Yh6z0w/+0I5oXZC3AEaJ3suO189G72N0/ezyys+UyfZi8roX2e+XDmahWsUcHaL1rtoAzBX7azrT2bE6HVi50qFiXKFekbvzx/XbDsbCKowShdtC3/IJVWEtxl5sWGldliQdnmKhurtechc6ViW0K9Ca07lMoC0qmhIxnggfyYKOP1HTvX4bMoMU9bW9e5vHjIODWXSn/oaJ+CkhsNjbH+K9QHkVvlak1YKDJwhqxgYRp1Chek32lbe4VHOXsun8C6MiUM5cbaaHPIdgXxm0BecG78Cr0WbrCUDo3FzsCDRRVc0FQltoPSiM9DU23d0Pwk2S0T0Zs7cLeQGPhqccKK83hyaqbmWBLS0H6FqtfBZTQMlxrDg4jQFIjuv1sNE2ObepwwllVayQNNJF8II+2XFNSBYvs/jDhmlFfrYFP7RofXlMDPlPLY8jER0nOJ9BFIypg/JOBXGgQa7f6gLdIEcR95x9x1j8zOopH2dAs+2Nh5sqaOCLDy3897GU1XJ8oDVEl14bYe/fDGCNhwMZXJQq/J9AS7W6jQlM53VdA8lZPxwgYiEMMNi9p1e5m/kOAO4djfplUSa7xX6yvaxrYg+OMPwcba9H4J6ggY4rtK6bIN8L/bk2dVgKF0o1GzmONjpNZDWk+Pmw1qtdNonaX668wFszFl7M9M1M+ceggl4DZScyyNxRpTLccQ47YJSgI1xpXC5AqmX9jC7GVseRWGi27LqpD2h5O/hpwaI3xCi2Vr5TW6nB1s3OjNNJ7ENBSLkwOal4HhXn1op6jyzJYAFHb0Z0ccgRGKD98U3CSAH0smgF2XRVeNhHXjOZESrFKcpBJxxgDmtb6d8gEV8g5GPokDeY4OWZZB9DdI1iSbwd+tj3zvfK+00Wq/hgN0C/IPRcNclMBpwgFsrrfyIN1C13R8BDVfED60YGynoJ5eg3L37mi7SJqzPqy3d9BnVbCgPSAHnVAvArFaYSKZQaxfaoHkDKuHrL9E4EEmDVu9WT3e9qctYl9f30OmXqalWcRTlYBNJCIa0DL3U9JB6/ou2n/kS2diA0EjCSGIaPwPIPFldGmMbf35MlmnslMn42XflOcZh22sy6quAe+RSX/gNPD9aDYo6pLR7zI5xRVl5s6y3J6721rNM8jwhoQvQUw0lT+AOZIJ6hf9Ve/7b40v5BzJO8SsFSw5JIRQ7Kd3eYkNRN41kLNLKpNitb73jC5A5WuABgEgqj+YOeXnJ3or29sggd0vFEXB3yHw4246g5LoBbCoXU6AT4bBDGa/eLf23U/uJP2R9HxJAYj8F4Avbw1UaGk26/EuFIydBpGYl8108p7rvOuVazhC/hScIQ6cjMQ/oorB2wgjc1MzUPmKyN6s+qpfasHj2Mx1N0uIQ8ls9l3iWktUhJsmA4yAa3ZjAoBx09UR2QHjEIBN4B0941me4q3pbUVSmhOY+/vs+7CJ2jkCzggkoJxzPrx0P2NKmV7NokXnYK1/KnILuVHdB5aXSswjrdXueRK7bdnOGcLcxabJPCTg9iOxQARPImFc7M9hH6x5+W8F3QjgcyUk6W5038cRzDVAQehmfF383b93yd4zu4PwsN40Sm/aW7fFp7q4AzDC4M5fUz/2OBsDPA3Vt/AjrWzhmg3drrS2XY0d6C1hCVCUqTNnBYQYjFISVZ36nOSLiLwoyxOHjli9r+SAd2mso0wxhMikBrCYm2JQVq0vSNxWUaAiOVrk7cM5+pqz1kMW9VItlIwWh4oz/lY6+zyxeluvUGL27Ns/qncLzCQKTvP1Hluwq7t/zXbUpm0fRTS4UADmHJSuURALOkp3XO6LfCQnw66WChDus3wyDUoy32qBX5VF+PRP52LOtxSZs5zIVXq8nqxyrBklXCrNodHKpVWOr2sQH+IqW1DeAQDKnO0AVP1unlZ99pTXp1nprot5T4QHXTsKVZjHqVNT7aPe3I4HJdJ8wxFxNnsg4t1w9sieSRZ8XuT0OmA2lbLujb9KK1imzkKg8r7vK+LiMgDBpbxXVofc34AVBB/5KrYqEQuifpc63yBjnczWn0ROhhsGBdlkBt22eXYRq0SnXPIxgjs7ZU+bIa/6mT2b6G2HJZ36+TUCBsvhpYsCXKTPFbne9J09OYlvcP5+c0FY778jKHR7YUH4dX1WWPPEVm/yELrYasOeX1xyenXPgd9CRdrnvEoXcjI9uwnCGjukh2AgZddkOrUmwzJrgERQalzU2UPprtWdf9et4ZTz6hexNMf1+XLNV0hafbBR5EJCLb1qCgOHhYCMrk72YS8YJSUPIPEUhiATRnPR8brvoPZc3EFZKKCvdAzHvLDSmuvNTLeQesBIcuJdGL0mboi5OK7FICL0tUSbFy6e60y3LSpbkNBjxgpOuq6g2UVuZ5X66A2WgAN3B80fmPCETmm51Yb4oevxOv//1yuHW6GCwxhL3kOJXDOz9KOPNndoDw09WHq4TSGRr9aUi7tx2ErIhlxhCaAWvUPc2XUVa/1pj9j4nx/ZT+xwl4bofFhn4eaal9Yfe8MIfYsJGQHSBJq0mtJPaPj3DFC3SuTqydeHN6ApbjxD5a5fJ5+eFeuJ9xlej6qVnQBCMltVr2IplE7g36e5QKnecHTAi3eR/OC7r3Q951E4iuP+lF3A4eJPVdvfnXAnEGY3/ik3hjwv+dFcvmsjlynOs2h1pryj+CJwBTuUqKvDvTmXzhtscJvecOFVT/xfWKFHkyIfv2WfA6614F18lVANcX3xxeMC+0QTQRyF3mkfHNX/RFeNr/fnZ8Zr+oL5WV9nYB8NYh9sBb9vgKlIkurB+QyZUv73vVqYm0B2eGPbZ7AyNtmW1jcfBqkyGHpvvNn2cI8K8U+FguQk2Ah+pZyfdJOLOPOzLIc5tdMdn+nECnRLvcIUuSU6sEFP4GRmKnibfkh0dLYVPQFuqUaLJB8WM/bqef1TzbhzS2ya6jv5J6KZg7CBDHm1BH2j3k6eyASzgbKA6k1wCPA4UWaaT5aITtKAeDPNIy6EfvPMd9NUEkqU+ADQcH2omE87BLFRpkkCnYk6QMIpGuyANWvchNT/cWAVT51OdFOUYlCbFpQSMvIiceeFxtI8j1HC27gbEOJAsSkSFXCksXxk3IXyO/azRcNdX0MqIeTz1c5XyuI54GEKhc12sNhxdPP/nDV3G4Iy8vAzZl+hjtVGvpmvbOfQjE1XmWijZXwemiVP6SVE90gQ0IoNiXwPUl0nYbyGPVMdtkpGz7FNYgyJ+iw8Cp/m7/zvTjcGilZPH3QZ6+9V52HY1WFLVQEoQb12sG0oT0sU3s9r0wezXgPZiMbooCLepLP4QqN9pFYc4h3E2OD5Pbd1xUiW7c71gEivEyjjrXKqrVB0DC2r/tCIG67qxbpKIa5LMsfytbH6yyN35hdJmX+/3avPIEdJyr1kFk7INUVsZzxEd4AzcSQBpl1yNOEH9qPDX+C6e1MtGLhmh9rW7yisrm2jfEy/bnkFtzGJivQTfOiNKp9CsYFsLqflQivSJT6e6SDV97MCWQnMmEtyT2dyf8yqB8P00c/0Wdm30KvlTOo8tfGzTlI4th9L3OA0XOufYS7mFqOSVN8Ss7OAgdS8/AEphci6NOavjpWTYRv3RBW8cG4r/WnW1oUtQ6HZnQfejuNryqtm6Xf5xFvhgH5wuqjIxHLTWkCRksrXxkJ0A2QqzfPCuuW1HyC81BxatyxdKAnnJYLU1x7d+riFq1YsWa44HT6BP/2nYofz0U3FwMpkkIXpA8TCXGkF5XXiLMYZQ2LAll48FiY2eSd2GUv/An9CWM1z5AM8zq82Ap1++7XuGiu0kuYG9dmKveSvTSGSvgVLg1V0BlNFwDuekpy3vl38vi25uoUc16WdWURlzBjrsndHIaa90zDjOLIV1EkEqrsSeX2xW1yw0r8sOyz/LT6BHssOpGTlSMmP4+HpkZKxjZFle2BZi8lGm4+jKxOt7YXd/TIXeLeTByAnXcWCWP5xYc4Fbgnh2LUvttzwypPGpd4wMfWcREAeIzRhFdRjF84Rg8i60Kzfym9xg3U7pTB/t/y4F9wnHvM7EzYZwiiRX2JFQCm7tT1W2IByqVpDGMUcmg+RSQUtrRoymgrU9d6+dfAOIes18agRCKZTNyWBzRGhC/jSLQvpJoCDHIQtpaAo7/TnW1Gio+GdoCLKLCs3zAAsVOxWkF+4P5GBiKfuh2SmUrz/F9dyaG+JKGq2fJ0JqS7J+4Sbz5jQp64ZW1cw4FRElESHPpxRhBeE2Zog2P9K/sItYAv1kUUDeoG0mbFtSCPGMHAEO7WZdeWHEe8Oi+34NKZlIkB9/iaJhhxdGGifl6a3ERRwbIC2AKOXHVg7JM/aJNC7Z5TGEgZHny9bxW+RVLlbnnTk77OMPxLRDQ5LUV20Xrcf17wNMnW1/1gDqEwMoTDnfRZlZAKhY8GD6D1plZmB2grh6MX+iI3dtQPIujwmAWoYMSoMcvw/AIBXLISiSWzTGgCPpaQS699Zx6Emipbg80B/NNVFhp/rzKYFA00bK+JaMh9Larkz/uOLRKCstowDsNf1HIPsMJ/G5W3K1n0MYtroeV3NHd0cGVCw9mIR3hhk+STkirDFf0p/N4qulqa3Tddv1kKbBNqLe1jDKPDT/qT1AdGufItyx4FgDT3zsy1NEHaeGpFa2OrWO+j/5ke3fUSirgIBUjumjbDOZIiGX6S9fC1UsHwWSpjMEnWJEdn90YHSIpQphRlhQ4/WYMu9+OWo5Nu7tAJyNsia70+OviABac9ZfN5TAi8XCbGnme7AiShCj7ylru6DS4Owm6kSESKPV0CUBKtvK1BYsha2Q9T2Gn/YZ5S+Q3rSmmupchzWNb/96GGL/+C9Vk+W1N8TOwSZwPdQdIpreP+bEkNX0TT3qQ8r6YBNh5S/s7Z4sBq7LbDKoWgP3zLzGIMzBRa82UsUFGJrC3BukqrHQco3wX+j/6lH95xY9dbBG5qWlpxoywO7DLtJmvC18GFC5BsZEcxTK5PtnuabYhD4BP9cbjCCzANVUd1nP43n/UKIKncEwQyMlWXIKke0T0k8x54g8hc0N8WhSfQ1nRPqTrKQgopO0uwhLksEaD4TjXsAN0kALoOtIINoD0NfANIg7zjHtArE/abo+/DoxlaLyn4oMFygZ+oZ0wORNyE9b1q/VSXlojVZwL1MFAFHQoqdwPsk22dBoyKBnECVl06pfxCoodZ6s9vMJtJc7STDiFj4amHZOGI09zn4mnvGTB+HB8jm2+H99CggSsSUytqrpk0iw1atFQQR9M+G5mQm5H9gS1os3i5xFh+0k6tATkpub/sX1MpuJLWDlmoAOFMRITEXbe61aB5d7zhjkKSFke2/YHvpWGwTkFKxnE5a5ZocPnBsEYQ8ACAVOkWY3mCHm9cmYM3EhLCsIZj+p3bz4M/quNpwDDqkyQiQt/lznhLNGz3cObSJWrHSKHb2Fx2KCRhZouR1Rs5sFF8aLnJlzUnZUwkTLmFpkZHaKaOb4ntFkCGRCCAhlZj+8FyvqBx8kNQf0NDLDJJ3v/PXMY30EagcVRHrvBzARLZQcQdwkOBcrTXVZuLhXXzbSxH7g8VrxEz+X50loM0Z+ggh+aove2mRdHI1ony6jnBuA0812N85TTLdnvdVyILv6MmukuLd6t33V+zIRFc77SO2a572ajwGfmjMYSj1CbHEItMimxZ4XgRIeYiPS8eIVpDDBTWQAAW5Zffd1ODNcffQ7J1O+GTTp7y2/5gG4lE9IwMIhjuXArprxaJdKLfe9vUtLvKs7eHZtjLbcVQVQhWjYsiRm0jW2EORR6zpKjvG0vRwowKY40peUGtlDDQobDCRbhId8+okOYfqE/GUWanG6T0gs/k+JGnxfb+wHR0tMQQnY+D0GIm1A2mVe3p7yCwgBeOPEuD4R0maV5BXwJHtmFbL7ojlqTTnzsHUK5LXqywqtvYtyu1gk/HhVOgxmySFwiM7dQp5RNXJl4zcO+cqlecjPE50jMw4RM/xl1pgz5UH8mJJohs8f/4tlpvjuyNKZoXP+GIDcKDEb2OdkaXDW1TrnBYImKMScAzZNOQRuxyqp6p2ZmTVzudZjkP0Xzv5zVnBDdZAgTY+70EGykfS8k57oESOqxwIsPm+UNQ+NY+HDzvCAfG9R5Pp2jVgS3HhykfeAChQd8ii5var67BS7yZjUjBwr4fwV8M8PZDFshJwVma5Z3TeM8+OptHJ58t7FTfl7FwL2qv1IMHh0eTD7zobqebJ8LJyS0HtN93go44CNt3FHnIRComM4ghlouDMLivpBpEv9gboKYLPgjDZOQWayNdKkUgGtMOFwqiAAnZqEZ+Q2vB7YHeFLDgSLLDhBGK/xLB++bUC84RrW4OfOi37r7Lm4np+v92bKdHwZT4D90UntGNZ6yynZOhHvQlTVfIU0V9HZO5HTtk5L+a8gq/IaLxQKvVNkYhXMYMLwGZ/KQ4n1JhTC/+OY99AjoVaLX1HxL4h+juXYkkp7QDr2+lXitRPrmAgcnEruvQCZAY1flv7+aAADbLd5hWeykFxi88IKLP+6LKFlcGXz0ZsvJvjTK6VDBcU8PTbUzi04+TP5HiCXS583V8iKDm0Z140w2EsqiS35YBsbkr6pHkmae3Jn9G7qsLtUjO+6dY1Hmih6Fyt24uLEI7t5Koarpa/B6u8SNpFHgk3YxhlgUMuUmqK5cQmUNHsLsDZpDruiQAIIt5oyTVb2EAu8XeFHXfLpVOS7lb8uYKk7XtTapfYGvuPgFVlK2ppHVWQPVPd4c4B619rDGGkdJrYDkf6B6Eg+222GXwT8N8xrJF0e2V8+HtpLD2gIVU93Mwub+7BSFt7ZTRs71J4RvZPp4pYM9rAWmcLrAvp86RBcww1VWMMfTIE5iEeKjK/Z/uTISqe7KVVC5U8N0nkZoiATCLElKPXQB0HGLf1FcAExxVffWhN+Djkr6WEduWX4lxM/Sm67hdZI6oFZhGpSk9y2F9wVA/YtYvqwJCLPMnNYXHC0ckFPA1TelUj9QuFJj0Q6qHJv8gNMmgSaHimyIOYHRVHEDjBrppVQI40lg5SAwRIpFxks4S1LHgOvU6yLH3GwjTGWmlS6gFuNIc+6zt9r0BqvKeVErzeON3Akqw/feZFq+IbUe+B20ZWeLZHXlZtQ+pUi9gZ9RIKzmsYce6zVQ/JvceQr413Up46FaUJ1ZI2otc9uDcInpUkzIB0HdeH4uZ38ZkqAcXJ8Rjt5E+N3GhGrAhYQ23jnPXsrxF4oSFVx6X7yv2pBUkpm6DKR3Xtx4qxPLiuSPSF7tSNom+Nc+UwH1YRL7pcGYs9GIWAagcuKAKEVp77mhaVuW7GtcV/XJ/xQvW45BICIWRZjZsxjXIQZz9YPucUuP8bdUlDFKO+fO4soT+baqhEpDNsLw/Cn5W4X1sJnnvvk+kDWEsGszc6Sg1KB4WWgMahmQv0mdfwBDRUZ8qYD0us+yR4lSkX6PonCXFTYPqwgfHQnPUheEEoFN/ns86hViJ+HhIDxCR132nBwsu2J7mvrBZJnzYuSKEKbIt+pp28BgWQ2jMU7WR12mWxJouq6cW1RuWezoIwd3zFtwPJnPqpGRJX3VOT9AuwBGYBzW6YFQVOAz5k6p212SarVyhyPeZv7u9JgaNRqIiYoScgJIHp13u6J/pDRlrZd565jZ4hvhjvHR9xEKlGrU7tSYN12yTZRosIUOYFYmMihmALyFaPv9iiZ1l5Wy0xXoRq66gxuc6TqMTyCKnlaKdEB1Dg+GGKgEPUdxFsbsN3bBmz9an2462c2WOxD8DVssUlbEKy2aaRS7pJ3Iqqfzvg3bsyARdeLXAcAhCgXN41uYrTcXHzPV55KhwkjWUQXl42jOWg3ErHGGXJOCeaSjFoIa8YqikU2G/rYDc34mtnlNxVowg0pMoO4mCfx4Ia01wmJTp9KRQJKe5IQFIRzr9fbBXyeXtpersb/SPyHhVgSLZMXbxeEs15uEC6Dz+xedcgbGecbHHt53AN1tG7QZwp8yruEDGXDiBkUKvbbxnKPnTljVdHnWWcqNuvUW0KPxpdlr9Ou/kMsIG9MsyIYK0apNgHaAy2WOSovGOTWcNCYYnU01g74bNg2vxvlnO8mQ1o2ahkRASz6X6zsiV+XWAnJ5rDGfKQ6Qn6mroBzhM+iEcnbpNaNetM21/ysKtDxFpozgi1Ys6NmzsEd1pxbSYaWvLIZJqazv2xLb+xurNhsTeJ28ykkTn1OQ6SKCMuaQKHZIT1fSmDZ85XwEZ3FhUeH/G8ObVM4mM83o/QsSMfODXFkn7aBRcYoSXju4eN5/WJVgNKULQ9yKkSTREC30TsVNfXE9oSwtTj9Wydkft0xtCP/YOAQeyfzSqYZ64pBPpw5ltIiJoEVcl42Ix8Q1Nh9ZiNVbdmpW14i25r9khZrga7ZhYfYSYMdU0UT76MA+162yAFnOe5Nl1sFvsvzu6jg9B0nJWj/uX8IWb8R/j/po31x0hAradxeZ2Zix97h01x4T8MDQvQ22P+ctI9Q3U8pXeM12axWrcFvkX36G1wTJ4gk0JxCtsNKI6HrZ0TqTZ95EKGpcDktd5QSVcqEpQtregteAx32xr99YYqVvQS1JLHXoULBK1j8kOYnhyIIiKFij9xO3RY8b6+OmPdLJrcA5axAtmv6oGyuQWZvRZtxY5K2m2iesp+agy4kNpvfLAGT01PIF3XTFRRkdJOyt66gzz7d1EoQv82uwnhQzW2QDam+vU97X2B3oycGTq6jZbMJ2kP1Hq3lCcHYt2dxrdoq90cBRF08iRv8yddAjMNqrqGdbz9fy9SPgaXtbNX7UTRDMS0c1Lvmt+uc1eg7QyDwus4CHESCbrOGlWG8MBnTgoixYuDLGbPCbRmY/1luoGoE8kho8dkue+UxQ7q4o8Y2bzYE9iSbLaObhX20G2hnRtS0T2ADFyt4zRwzv93kooeqd3A7VpRROBWdgSo5pQNbYVrWn9ocPNgMY6hfW5NlQ0X0tA4PlT+xiUntiV3omzUGD3iLW+xRNfkToYLVvD4K9Gtu8t02Rmq42Nm+shRyGouysBWRjC3uXCHxiwmMkr6vWo7eLFFoTgTZ3iohvCs4kZOIDYE9TWIxcy5k27GU+xo+GV8RBantRU9kE0X1PbPeVDujp06/izr0lykxyAcrNWBy2ygfSBmVOKcM8lsKJAG7q+Dd01nEcnrmnWWd8FZ+GJUKOB/Xgkj+4cOzjAxG5fymrPxwM2k0WZqUc7XMB0UVRzg++pX/63qp2O70I6FVm7BrHnw9jrmk28xDBwbiuaI6i5o0u2kL/5fM3XPSOKKdyONyBL3ZnXBJv2IpliQ+X2os/ThN8uxNU2HMmCCo3xuUQII2nHJzIAXlfw01rlw4WdNTB5wVAaQjb8FOvtVgTHKNTsQNzEcuuUORcFRjUcru8+El6TItAM2odGHDVZUxjhbzHvd2gJsJdXq6yYhNofmUR4U6c9bbQDApiexHtq8N4qFYlIBdFCVmVuHkelzVT41cHJ9lyTrDKR6ifMxXgBD9JXMDw1Vvgs0cUH6Kt2UpTsv9sqS50LlNG4h2bLXvX3V33O/H0zsavciqXYkM99kwTLWCo2Q1mU8CIVrQ7RdsSs0xSN0CbsRQWXYsWWPOFHE1ZgSQAUZ7xkUh57sAbWR0m99bdCBy5g2VjzoSD6tV9tT6nvsalhZH9/iVV+0tBD8geXAsC/haHRLSDB5g/AC3cFDJCnLAt5UEYAFP2z91etlQ5bzkNlfhh++6IYRM6eBzugDw8rqqaWrlZ8Uy9JPnPhTWuWbf8cqSDe/XOw19Fiz4QIqUBhuh5hcMiCOK5O9xe1L+EKFoyjfOdFfy5uQReKavBw3u6zdG+Ldn8BhqoA3Nxbjj01dDHeFHSVIqgUK94gTY0XvA94mKZDgh0Ly9khI22D+re7R+0BOKJa70MI0Hm/gtDlZ4LW6lNLYe/mZUqAqiZZPiPXvAMqHzFfKbgJuRdyV6ALQHMExloGkA41jl0prx7Ad+dOgzI0fjRggA62jH6SItFMrKKnntvsK8iXMi+c9NG2Jr9tDep4RCI/nCvozyOJw0JfMFW4Zv6sExJp0Cd6mwrgICNAl4p1bYPBBRfwHPWe0dMulzprjFEthzb6VA7Gm5KBx86dm2CWSxLiuWQH4AqIhueZvRIig35XY4v18ieY8cO2cgIRDo8vL6R9k8bSWnORkYFz35W33OOQrCgHBK28oOzjX/G7zyn5Kas656ZXgOCo8nS6AXzdXTjvnYXy1H2LabUZLZ39lcfz/XfwB7N33xpF+xgKNKYlKpc87ryAqNBVfPAolQ13K7RpNfSS19JmySEULAg9Piof5Se7N/DcQbvOmTDA/pKA6Ade1AOGFwvAxFLOxTMX8I6LFt/z52RVj+PnapndJsRYuFJtRdwF2Wzu70N1i2DVS6WKeXTRoUy0/hYO2nPgkX5tTKfhb4+YZm/Ry3kflIbGj3dtYfpVJIbNaLxnthcHFCTxmiEYzk5cPy7NQiPy7UIjhEXst20yKMIvj8e7zwuuCJv7HDhp8a8ixbZhXgVB/pMXVkjparIcmpiBPau42mKmopZVqHuaCyxxfZ9GDILSufCuQfuU+NX/daJcLn4AaV6SAeAEokgJ+P0/L3mEdxodF1uknXgjAZzL5ONzJb6FVj+1jt2m26tqCDe3uYh/uItWSTGzrnQYrqshOaTayRMpPYwS6W74xEklDYAs/qTXYMvd0VQSiokzGmO5N2xOtjZlvkzAWzlxGe2i6IpdzRRWP7FXFtYpnkvoO75JTw8uD+iDSiA873uX/ZRSNkp8Ivuy8GBpe+opQWlz6AXwqLakkUAEdA2ziIE5T2WllJNev7JOKL+sAatYQ7S+WZ/s1aox627j6gw8U8YD+o5KILnFPno+2bRckWdjeWv0XhpNvjRQI99E9iLPWx0g6ocw7XGpmAa93WXJXziNqLGUWjHMkPwi0g78A2RHk1P+5rHetw864+e3uRYmBYNXihpISmQw3+Mx3pR8pe3lhRMgk1FoIP870g9yrzzAF3xmYXhmqLZawefwNFqq2vePM1Q0AxqpBwLd7Gjo+Ti+Awsq0a+JxApl+ghzA+jjdwnm3E6J4wIrwJJOJ13ih+c/6976VbjUJJj3k/LIKgxGd59WEbl7/9NGyqyIZcXGinDn55yZLOjxaOBn4/7oJbRlx7qGiSHUGXxCsZMnvCNMo3RCABGK6FrOfU3EPE6+AkgBDL2bojZkFd288/bXfFiWHGa6+Fw7ZVAV1FFuxmvlTa7/u4f2rBC39HLB8Cq0tlX9LSiI7KfW/sWFrdeN6MqHy1bk/t2ZkA4MBJS3bBjZuXF176Stg3n7ilDgKhz5R5D+BvxBzd9+86LA7AQVt1BUAa0UWfGtGMIC7/fOw9lI7hFI0KCJ8y3Jz0J+2KC8ZJTlxQAY75LQTCXkZxfDpzrWT6PIr2xldjYkJhfdQQy8w/92C3uQh4F9QbRBeVSiie8MakkWri0IjVelPVKa2PvN5hlrG0VsSh+X/nDfnM0+JyKgdCvaxQ4r5BLkY0C9EbhD9MP3KVatrVP7o2Lc0XKpoFXa/cJay4r1eXCK7OoWAYjCgnS6Oyummy13M+w+UXYDr/GzCcZ+k0nUIGodlQdmd74Eu7xRm0FWUlG+MWeE1qpnom2vaPAKtuBv4fZIMbmqBl7QLbPCDlgkqOTA3d/CZWNivIBWEjwuarzmv06E03tznUyjFqAn39OoEF7GFU0cRiEFS/tF5y239XevYhfC37oe19wSXuCZeX5SFwFXhPR+pHwMpSx6L8HxWH244TUqDpLVP5vlpyCJ3FmklD+pVPQZnuYgVYcx4qg3ZPrA67UKInW9QOLCcRduQVLcimSHhzhFmFAMs371WNY/vGpES2Bk7ILXsL2m9qGeOv3LjLIlkgiJVUs8Tzzh0Ga806cmMg4/FZeD7P71JpSxGIV8+HYeMLB4LFhs7I9HD0ivlF7l16GbMzYhMXMR6b1100E4G+ucwGKo1XlTwHkJoWOMMTvau9I5suqv9ysbIwp+WV1we3mG/uIPcWdeaNI9pWUrvk/ZtTckJoh963hHCk0dd7tYlox2b697jMbf45wBqt5jNuoLkSYrInIurVSytH/p5xV6RiyhNTO0YP0mYzrJkdySVlx52EAkZSqkJwsPLUYyxvt9uWKgpdrNWJxiqwxsKW+zRvPzyIcqB+YnpxNf1w8GjEBkxob/dfKeFVRXz+ni9ELhtc183GK5d0nLoS4SZb3dAPXwu0f5RgVrqfV3H8bM9uXTT88Exi5FtpxKjf1mb7fQhyV/ZHqp0PPG17ulb7dvln8u8mO72hWkDOsv0KF99Bv17C1/j9wjwo2MHBWJvIn7AbVRQOGMJUbTyMNmpvlBJ7KVW9CnN3P+qSIwSdyOERdT0ihQ8NkBBS8/2MYfoajlLjk2kti6lemqIVV0H3JE6riu/GoNLbd9x/9JYG8DLFchnlR94AlsLs6HN+bgdtZjc9iLNRYZ6iVwKC5jUTGkY2FJXbGCVKditOxgCeby7HkurVT74/odgyp498GW0CHWqtzfea2HOVlBkvXUTjzXguXu6I0MZurfL5iY85cchagY5dkUlAK9ld9JWTSXTa+aB/dpOS6HV3uUoCwgwFOLAIEH3gfVyHXApK4iwgwO3geYJ+1dCCHYVLxovS8T1MphbGnnMjm2OCCGrK9k2OkY8o64GqKBds0Jabs0J9UYVNroBR3Gq9X6HvK0MPBqk6TWJ1+BIj32z2Ja/r/FiH3R58ZHcOWJgeDbjlAXsPgDXIkL9kA9YjTKyFUgCr7dT72OFYsDCnnaTpJjYE8LLZvRyh4QuXSD3exhkByo4cF2rSevQ82CQ6Jzpbj6j2DY2BMVeL00iOkLo8SN/f5sTaIu0eUsFzIDl3/53FmPa81kMFTgeamxImQw2fuT4FX7z9d8QFIAPzIQHagidfhKxOQL1+qTHmFUGfUiF7rEEsz4H7iGNRc/X6B9zbQy0apFaavKQOmzcjv66nDvq/NBLhkoZUQx4t1Gfp6yFU7k4dzXUGL5SXKluOENlVGG3k0CKy6FbZW88haHwNdeX4jYJhPGwfWaGU3B21OsNdMfBBfvfLgoliYxgvnqdrrcFFrTEIps4zng+u8k4Spi/KgDcI4TwuC5JUxFM7aOrjnMWbife+kJyEnOUXhzNaLwRM8PxhQEFMyP8P0KfP3KO1ciNZrcqLLlNjbme6kFoFRzECOlfgLPrLJXtKa7LpAys8YN1QDJwUibKTZgFstiG5yb9qw4qQMHiIqfsifK6hohcl+Sl488hGfDGVv8QkJs3VjqawJEWNBk9DKjZbb7XzxcCRS8aOYCkFvd0ePZ5tIEz27KvY/FvdZF28V8a+9RQ7ApOJYHB2OKkhqlUDAL29tJlxHBBZlCyC0a+QF4ldM6edrBdBo60ysTU5JGzDcE7MfY+1e/i/wlPFKVYCVHTedP6F2AhizWF/POBJs7TQagni/k2mbNlltBR+PoZUtnpd1c64xf5fndLh0AwtJcLd9dLz9vn1xTV3zkT3IZKogui3eQJ8+sV+e+mm4zNnFvund6JLZROU/SzKBPmhjtuX5MgUHHz68DkUHQxaqnEOCNoykJcWwlzu64UlCB8uEv63LjawG9ZmP8j9iwj8XsgpQ8dgAkJsLcIS1jk09y6CPNEIFRZMrawb+l1/SFMYWJ5lk/KlNc7zmVKqR1WGJYPVpI+VtA1l2p1/8atlp+1Q1ZHHB+AQv3O/4F9Lxa+ftBG1qTgBH1GD1h0i/UDgIvo/JuJFb4IdkAGi45sN61HEsyHYSzKh2xxu9j8vVELkmNAhyoRNWi927UP3wIHPvgZPFpxX165C8h16t16vmlGLUFS176YC5l+qAdrvbCxUKSO6l5LKtMtaWXba9+hlhU0WgggAePPzl2kUMA1J63taJ3l2/8Ed1KRFNZWnaDln0RsjleJPRblajE9W64wS9rGJXgCUJCqd/lQLT2ao2ZuZNo+hszsPT9VTaEcx88DdlEoQ/122e0+olao+QvcGHDn/aTfQLCZccTeEpqFDs7stPf+5krV80RhopHzZtel7YKy0W9dao7j0cLozFl4uE67ZjD1NP047q+8jhnECMrgcvUecnqDI/J6MbsyGfn0p3LAOTWMgGPuyG7VQaPIEO/7wRecGeLrbOwV4R9zgncDHkFQHCrvDXnx/HyFLdIpe+6uK9anDNMUr903Xkc4KcL1vNnSPMp4QnGj+c6NzDgcXu+l14Entv4ZiLy6LUDMaTDbj039gb1crQu4IV3HvZvlobIvV3TrPT9DecaNqEcyCwDaixHCT+4jNXMR3aIuhauEpjGec4ZNewMW4ORRb6X9vy72v6Nxu/HrCmKaky41FIIlTKTvntWpTXN/b7Gc2c9BAOCoqJ5w1+U8v2CHzr07PPo7F37w+3+1DyZjrZYqHLjwlw9neb8r00mHKCBKaVPpsHTd/DNvstmspg3nqJ3HNeijZ0hoabplYxiBsCXeTZ/ihS88Qp9jWeCebNUdr8ts588fFx44E6DcbY6NlU5uzvO3Awr/Tk7d4/TVpdNvO1wEc9uFI4wkNYPmTb6P4klH2fQNCB89bvpJiqP4bz1Z1gYR8yKVIxdQKprSAEQiw8i8FX2xi3B2JH6+TOIOvQJM/tstiO+mxFRJbhcKulPvOo3FFw0K1wvoZ89ofE8GHOhkMUkWEvYS7RVm0pvkH9wxdrAN8dG2fyTNXA4u5w2k6wW20W71topvR7DpPuiX/rTUXywDE0f3yM7GTL1dP2zGcgJ4dZ5+Lohmv+UrLAEq4MQSDDJQ5PMEUyYq0e0ME/pFvgSoJS81IWYLbnXAjW9B79FmdJjMUpBkY3SUsBuztzOmikeM/QTgWKi133OXN9JxwNfTVDh7rkKIS1KxOO5eSzs+OXxVfwr8o/qPndEDGLhI5CTkBZjTvyI0UywcH4uRH2QqKsl56HxqrAs/TloFdaZ/YKvHPMH0PCMlL5cCtrDeMybnlR08a2KKfZGIu9Hi2RtRf2OIRTh7VNTrnfaD64X7ETL9bBIhv3yr98iCXMzex6DROSrUfj+l9AudROHjFNzbJA5+sTxudvaj4tLCJkuNrMA0qOivy8ztQrdEQfpPIEID5towggiwaV2czkKZ1IHgw64n2XSfpGRHkHD26iAlnilKSougdIdpwGrneZtCSTyM8vuXlCHUdBzESTmvyDQpYMTN1cZUPHGPLU2Qfz4uLoUvozB7ZMDQeVVEhJ+szGqZXMPv+AqFuV7Bcnur6J2LM8FEFE77/aOKG5/nlh0qMTuhxK3zl6x/7y6epmEWkYFVlvNrxUxpAhq9AvCOv6rZ65TMTN9y1QDIgDtoyutMLZz9+ajR3d9BlFD2AOOLHYpG8puKfwgPJSKmmZie7tQH3x+5BRYRI2Z2T+8GVcBSU2F2W8C/553bGTve/XoofTForPyDhssMbVpHMs9/SYEM42MrDvKnxCDtjDnzMJmkpJHOOU4aCtK9LjmzWCdbeOPKEqO3F5ojwqcSEb+Lvptz5YEZqbjrT/vyAtJihD9KjMeZLbXFZOlp46Aykx4PPtS/9G2C6i6IUocyhncPnRJYS9NBY+4lI0QPKNgN+MU4zUKu526ja4jN7VVei9tJUUUqhDdL0Jm1CuVSmk9SHtPKY2cSgKLEJnis7CQEMmJXTL/ouUmMBvTHHj2Pbblwpb/cUsfVDVm3ne9TdqMfuMtcPk9HPeO74kQnyphjtiHtD3JoiV2TlippfUbE1njTPVpypLPUSwrNQ6jB8Lt3cwXJORGRACgjUeISTs8x0UPc93IxooiT1PYUleHYU6l725GeHp2rc5dk7OR+/iUuEPvLEne1VblBsr8fH9BE+g2rWGNcP2PS4ts67APlsu29DzsvvOE9LAUv6y584B67RKmEbiCai/4Ak55ROOEzHGd4ieHzA8phbISHffmjPwGfDo0DxuUPVMWwbRa7kvxV54OxJ+f9qAPmCMd9st/cwXLuunx0zcJfBoqpJW85QWQ2bHGdnueghAJjzClzMHVBRv6HmxQoGBgaWKQD3zxi1wdcSTMSrc7SAXfUC4xs6vFOUqGTSVuo/2qcCCxROdf9tpIKChLXT/tUgErrr5c73EE+SAzPKneb1LRHsAh5P4k7G7WD7jwzxUEdf7huulJP5lLsKkQLSbt2kOsJg3b9j0dF+AUrbffr0BntbXU+ozBMMITiUnyFwk0E3LVDcPjup0b2eVTQncIFx/eyk68FQ4W+flfaSw6uaGVpDpALpUrXDvSMK+cBpBMjXjtlLRFi3mWFmAzOtUtAx9MyDsaf8x2OfHRhYh9TMqWmyKHBUhRFchEYH/gf+y/aCMHjJu+6SyvNB1aQmr446PITu9TK709HGQdASdpR2C1GRBgQ42eqtrMHGnosXUbJGvHgk1c0zugPqt33kX3klHqzUfW5Rmo6HnMqqdSPxXDwTI7dIVeoxRUlJi5WMli/bRGWuLq6no52wEFW232a7yxtZSVWMza2JUJLxP2v0T1WybDIr6FcC3EA1oeDAP9w7Gicfa2BPnIgRZo2e4CjFRlCVfGAjo0bcVDRwBJy+30IqqiuGxJU3wrs1bYeuscmkUXl5AVyjuXBJuSAdw0oUzRvqAyb0G9iQFUVo4e23sEJTWbMsw5yQDJsl8vcVdikIcVHcuKqV+oqYiGrdzigYUPcwRZRpE4jBKUxh761iMiWkSzkohMT4X8CbVvsIokbcoKpMKUiQcbZ96scym1ARMTYF7xLgkSbAh53eHBure+ZoW9uotoI/ZXxGRL3Kkl/0KYg+SAaqCj9f+4D0x8Z2+lCVH6q6tnpNxCFauB5AiYMyAfsTW5rGWSi83ye9fONrVqCOm4HT+IFloaY3lK4Zb6+4kXp9na9XvXUUQu9Ex+VZNe2f8XW2A62EpnFEnljytLd0/GrjIsOuNJIpyTxSSMMR1MH/95eLspKJkyozrfcpPrZCs1rVivrtZuVGmZ4KWuNtsm/ycNr3AMJb1gzv+yhSUbGAgeIryVP/HtZUpYSOTcR8zV9pf/MktzZQs/rocUONgV86WVdGCtoBKYOIdHd+hL8k0n8ilQHjbloH26uWEniKE0QNpQilAmnHYxZi4ij2DiBOV4P/TpqXMcwBrMBtl86X9ook9v1Z4RYDVg/krDIEqNK6WbGQYcDS4V+6zgDMPc0fSCqeI0BudUmzt7REiuIoDcvQjl86dT0eYk+IFg9UAJrSyP71Qp4vZOC0CiTznEevMxjYw/mT2Uey8JR0aL2E8ZKft2/1FtGwHylOcZG8AxlFQA4Jrd8RGRenfW8KH/vUNlH3a0y5rrkyBH2M9Mxdu2MB3TQ7KNyaWMQU2EOKhldjO9W7sOqu6+iADdTDrGWJHb7s7OG3GrsK7UeUicgICzT4cKAJK6ZpjsCEe1xLqviIzN9B8/MbyVJMiW1loqBRtHIvAf+mRj/u9Igo+Ys/yhCfDLw9J2vmcHjoruiIqEuEfb0RjjK56wQo9MImAB5z2vMS9vFCi0lnxFF70BFkN17iA1DqwAJNpUn97LYa1e5UbdKKAzoVFe4t7cYn0vbGzItVLcNqN/v09x35oPPM0Z5VUsaBDJZz/pLjLxvi+2quyEtipUQZYo7V7bDIEgkP10yi5ImTAIAOV/UHhucC/OkPpRDO35SKTNp5I8eGqILytmz/ijiqb00jz+a1aEMVE7QPUefsDU7dkc9ld9zKiptRn6taOPHoIFzHMycN0z7Vd/TnG4GjycJMFQZyQL/RGoh8lc+DF3/qbbLMd2DDPL52rt4/Fnbpd0EATnbkZcRsqICyR5HRteKXkojU+9CcrvldigA0lYz22VBWGyY1cTTU20CK0SOfAF1ijPUV8W9EsCmsb7buu9hBCcuMVb6/+oOOwSzDwC6Y76QAWXMx+Hjj5gn+bHaa03h2QiGw4CZYynT42tdxwRA12stHgcrRNHSSKXaV52DmPbuusF2C1J7hFUYhyBFsHGQaq78DxZ2KicCxhX1jRApa5SHT5ICdSxGn1HZL2BYWgvGzRZpxfGRztXEyjd6n5AZM2TSkxONBGVqXZ7+5zkkTBDuBarAxz5OoSb4KRdp3mfMrDCFSp7JxEDnHWGjaJi0vbuwlByIk3w4svrWb/pI2MZh6wdcKNeWpyAzbT7/BpSDgYROnPcnLGBmyv3HMzzcn3a/Pi/3VA/8H/+wr1/WLodhjTKfD8a3ZZD4p36iedDdFqi7rmnFBfLEigZlplBHLtS4d3XZGuQ2/B5bpnxV/STqM+2Q4KzzOk23iPZWbqMsLwEYuh02mtKQrJ44V7510oZ/eRbMZ9UpggcFUdj4/SHOZzb4spXX0f9fx5Sw4H0U7LlIjtTL4OGYtp/+KY6gCn9zlwX9mBlIu+nQNTLMiHozm/WOfoL6W4C71mRWYGTUrYWkLXg/VhB+lOXu5Blk+gr6Y7BtTg4Uo9B9jXVM4KvgTX67ZiQ+OHLHmsSKKmTYH+zN+AD2rjwnhsY526lhpz/fphprY1ZLMF1guUTiz0CJzFRgRf9bzY5GP5LFoSAp9nejrog1CLvIHxi6CGQ5IYpi95+SRs7nn5C30Kp8/ah13xeeUMEcAw+HzsPU0rqrVq32De3rX51jgcX++qqhTtZI9hjTLgyb38vb/kdtcD+HC5lcjHAXdFJlxFO2eYaCfN6/KuQqmT/Ce1T3/pDLNWB/Qk+m49uCMGbXQfMLK+1HhgMV+Ki9dGyHkW+/VEVpjKTVKvlKjLTsHBnXn5/4UeB5n1pHIfLQgoQs8Wcd0j6WEyPuq5MpYInct1Ye9QACvxjlBQ1cgDOU5rdBgiRzf1wbd+NzLRkBbANla6S1dvTt2KkXqofVpQ2qVaw0UbqaW26F9y+pDqE2B5zeHyZNrm6Wr63KZ4s68YfHDXeGtJxTo9BryfChNAnJmQq36GT41vQa3e+en7keUyxrP7Kj+AuAi5y7wwBL0ECM4TKJ7bUEm5JZbMytOLjiZW4DdHvaYbiM/UYf/TVoQn+Q4Yllax5/3uHCXFICnsqQhX7Os38dF9ZfsMtuzTWq0sRNlxoKPfhVIUj/aOCcX9OXW03ceiNtdKjiYWBGQomXz6qTnDhxm4dlwBKpvmEudCrKKeNjVgIR4HqTskhpcXr0Tm/mQ20tkpyGsYVdvKSTlJDKz9S7Pf5UXRr1GyQVbjG9cpfk/ZVpz/yd05MCv/mLiOzDDXMPF2SR+VGDBtdqVPYSCduppgqhWNGuRuUcKOANOXaTW5h3WZyYF5aYtR2y7I9D6bep6HkGFzW2IHNmxwbbgHdzlmlZ4ugw0iLkQCpgacjJwQJm7PfuocEPw6cc3W6aVEGD4FofDdMJjRGyMOxA+lq09L4pGhYr8IUkin5o1oamsiqoJROXunZs8545U3rIVBoTh0bvZ+nbOjlQg+A5kTC4rovUG8hV8Q5/B6FNgMC819TUNIy6F5/bkLWvSdbWl0/zzgAcJbw6xbs5z+LNV8MhWkQAr8y2/+GOOv9peTeA85vC8lgX04BjWoY+2R10bZmVWyxTqQmgECfjoNZ5UPu2HGIp8DgJL0bOsrYkETIWc5CIU/dqEViA9I5Dsj/tLBdxmv9npKKyLA5o5TMotTVmdSaOfgdijZKDqlEvAao1+iPrRD5t1PhHbgtDIjj7eVnbkuKoBsG1WZQzxRytJxnp7quSWERlYoJSBV0wN98/KrJFNuV3Y4D6CL15YlhOnHbpswuN2wxoM7HDbptu2wzCMVOfrcAj/siQrbMTSjLLkcWqO5qATIze2hW60esnw5x7UUkdvBHke6NQEeKqKSUqVupTe7dl9EmS67uSoDvtW1+aIx+M4Ji3suPcjVLJbx/sVUK5D6cUk9RxOzdGCbhk0hnyaLhUI3/INby4KDydrSxSaSUkNJTEcLo57W10Iz+bnzyh1gQI7pePN8FMlQgb1ijJr4Rahsq/Ol6PphDgkOcgmy2SDbIa/RO1HqpE+ZP8NPA9u9hVulfDAuXQlUMM2Ut+awar67AyK3nwngQhgj/tgpXvmQIaTBcBK2I1MfaTHg87gUFlIZpmv8G6OgNF5+25aBt2Kjy9SxOL4bzhR++AjiPXOB6aFhNK1GxUZEXnSvvDVj7TU/a9F8W7INVbXEbuD0od3CsOoBtkx0ixH6EplE1pEw8BzBxm9dcxwYVvku6Z+tOQ5PKalrkDNIqa/AH4gohAC0PsFE0O286BPzNuZHdahiLiXQa2UuueSpiEo1fsGQILqNUdRMeXD1+93bzWzeTg+U0NxiM9LRwym1cXGwf/rjfGxUCPCMmt7qqx7gEJ5s1BlDoXypRP0h7tei9Yd1Fza3weG6mZ95IpVc5qILcDWPvA3Drr8s91TkEFgTdkC9uqLEoptKpyv7JsrjoS05Qsb//Z5MzN1UDO2rZkBnlfYGoVFIuA3HlKLHKssUuVYDZIGXT339rXEbyFpsAcvFTfF36hRng+yT9jBpqomDs27gaOzKTUAoMqPtC4sHZJisvbV2abczde2HMhDfgy78MGbIkv8hmIrqZWFzhI/pWad19LNRPV3IwTZoWXcKX7KV60dt4h2fk8gcOPy0Z0r+3Z37f53UGxi1ZocvoQEk1qLJpkQKGkUrgsxfLdS39OggYNDKYomJd0jBBVJQ1rQj7F8+UCZ4hpEYsazSNPgvb32D2aT1+HAolVWeObQxj4DzRfKGeNnyb7App3ot0RNFbQeGXDm6HnVSOa0nTBJSGahdWrLbzwsX9q9eUGX2e21LvrNazlksFSRFQMn9mVTYD1Pkk9Wt46Q0ekuWNDcxrR/xh3JjNrBBNwdRB9c9sxu1M2KSovMhwTlEBnt6fI9LcVq9vRv5EN87FZaiSnlFDvnLM2yJruhaxDZ4icb6hkTQpvah6D7sPd2aui+SHpxDosI5dY2laXOHy3xUj7KgM8z4O+gRQIvGMVQCukCcTmFqA9b1CoDXkQMem37YQ2efNoYltsNBagyRRM43RBG+Y4psM6zs5KDYyeBsMxKRzmJYRkY04OV1u/q639Usg4/wL5G9BzENF+qevd58tVUB8K8T9dhZHvNPW69Cds2zzblQgQsFHik9sk+9O7S2QYmBYQZXsNvDGWgbIKUyNvZnCf5g/0HY+5msGPRVWCqyeK9Q0N5d/mcKenQZxYzgCgZ4d/HRJnySyXxGyeVIN0gPvydA41mE7yCZ1gA2bvGjZTjKxGo0McVdMYwT9pmgOsuJUP3HXMZc5lUwCIxG7YMMHK2Jd+UJlQ7UOJ5phj6GBztyfb9uhnoHP5Z8EMqQwAUOq5VpvT9VXi5zp/0ExfToT+qesMea4z2niFqKj9+XV7lbVYkZOU7EkBkHKHNqXmVr4J3AM6pp1wBBGdGRcQ1GI9YcOyrvRF8Es6ymLqmn7x7qgaXNJGpf0PccibRcq7TicPuVlLq1oa5hq436NIOXOqcleNsvzWLofe50h5QYr6GcMk02TM2oBKWA/tIfz+UrzeqW2zDflq1ncUnBYSSc/FjgzSLlmWjrMPDWgidO5EJMaN3xIsxz5bvw/eghxAAR7XKDr41Lk2vutSPVgkMoxEeBl54i/FoMODUcZvZFMKNNOntovgIkSsi3K4+ZtFJjKgDCXtQalo3++X5LDq4F/OSPR0ph8Gp1RnZdz4835HhaZcHw5uxs463C+ciXWN3EMMuBSR0eKN5GnWbWEUrH3SG2Xp4/oobhNlfYuEEjf5iI6uoB6zZ/cXKiFAuJpofnHCo0K0xJiTNv+OUAT6Oh/94sv/yaAGzkEME8dJ1WSRvOi3yTF8K+LkNVnneQoyh8a9+ElStmJGjXqa9V9uKgbPQWhebKn3w3FNEh09sdfzhD4NkerCFEiNV8hwnKE7OO+lM/0vXk8T8GWX1oMifcA2dW1sPcsfdSrpS4w1Ho1+5P//Bo5Eubot+3R1uYmRL9affBnpryPjEahqpEXma+53WRXyA6P+hqzO5XuD/WMwfQpD0yE+JDzWBWjZ5/X/L1dZwcKaQ4fbm6o32rut9s4OuCrlsPU0wPWUcCpwlHin7rHO35XiqZ2t9Twb6qWsku9ja0Nag7zEa3L3UM4SZDr039JWnty269c5TcZQN+pI7AxsTMSswBVeTrctgY1p8v9VPeS9rcT9O6sXPpVjUTgdiXDwIA0RZZoEWnVLQwBxNanezZF+tQO1WZBp8jTJjaAT2D8V0W5sjznmWfMHvVH6h29SsIRlQvZeVFPg92dtk26paRQFa9Px8BBBGK2edbCDETk7rMk7UZPoPrqcQ7w/0tgpOhzhcjSFKoKjIYX9I1bafmqia1UGe6g4OZARdrXroKPNknsY4RNKX4Q5ePIjqwIfB21X9W7gS1y3lBIgJLj3lHkbZNS39yJigM8BTEUD8WHedfB2m5OQgQ8O7K+AG57OpwRkGo2Sce9Qk9vdNO4PWdIXyjq6RGcW6G9VNUX3MOM/3JjSmg4DvNilWJKydDlGS3498wDVIAyQ7baufPW+1TQk/GOdisALKLjCuIFa6QqsyK1DU8+8zzNMQ5/1Vpn4m/DJBN6vGjFKWxc9UaSIfkGlGqlpxr35/DUbcjM52q1Q7tnRYFlkOGiqJYvkFNhAogpEFu934SfqLkQAvVakbFsYLJykl3jHpPGnDK6GIo+DaN1reVJwcN+T5GQNQZInl7cfPkZkNSX8D/rIWKi7PHSnB9vTROzB7blK3WMh27F5ov7IYoc6Q6Nrmxc9HKea3CaYcQjG9XltY5K+3YM99QHS42ctSh3ik1pjeNSh05wK7DufG6yb2LVkjaqNpVadRjApNVs250s2ubUwt2IwBEum0Q72P+K7cWyZJmF4IKHqh3BP2CGIGrX4tGH5+WTUi4DYUbYHSzjtoRtGuBB2Z/37a/RVQiy/uihLQmiK0ndXcmOCD7my8hHBWnoBVR4rmvfD7YH9+DzBJ7VtTOwhqroSUWYSFBcTabEjsFhBbssWlQZMoWl72/oJUyHZ1/mTCfwq1eXG5wzX5wGP/Cd30bELa0V9SruK5XjooiL3+itmtxWtjS5Dk3Gi3cX91ldlN26rm+2BpuEuCQl6pYXw8cJfDVUH7HV+qqdNrs5NugHRySJnHeEbNFnFsSRtizc+J1Xf+dawqF9Dc6WgIsF2mclKlRX1qEyUPJrihFLBBIi5HXy11kdQMX9tH1GB7vSij68PascCib+vVA7q+sB/wzwhLpyOnyaIURPnIPv4NdU5PYchcn6bJUqKZ04/TtwR5SPe9ewrhLRtx7eGsK0oAEWPMY1LpmYB59/xUgb02FwGpBuUgrrf2WBx+iXSaf1s6My4y/j7RsBoWZNEKtsz1rC0DMifjSqEYSd+MZnspIJqyGXEYIGjCT7RXTxVY+cZkU9ahXKdopiFbgpl/YhSD4TntrMBlLCPTBVQ96d8KY6IjUr9kNzPHw+f8L+pccQrfzo2YhxEfQtNRfo+P/UDwrjGXR6jeSq+H2eL7+lx42ikjoqcGSBRVzvSSsqlW6I8L0fEVwlVm0vhxqqhnMQynbrocxxzz6Shi3cw2TXR0NKOjozEBHEBLjI9RR+VkHvP3cnioU8E9qHOaG7vmdL6HX9LCMvPkTlcotLtVp1mWUfeclKZ6kS1hnBLKH6UiTuOvlAN0O43i8VDofVTRiihlgkOQ7ZS/j9hX8PkknWpiTx66RBGgaQhomY4HWTBS6mJzNGfivEwxotwFo+D0yHziHPGMtrC+Urg/JWHcbkD4VkFhpJEiGxw90yHODBrksDFl0a0iKPUlDW3+bO+U3Od7uceJkCTsNB4Rw/EVeECZintfsgio+ETZGZQ+mwYRiEb6RR+Wx9XVcTllezOWHgts7iGwGc75BHsfAT8dICxMk95XMkEVc5R9oAL4f3+8Mt8XcjQhZG0afgtOa6dZdSOo1pt5eOYt/AAeaaeubXmKlocYX9OfwHKnzVMyYYUavXLb+U/7FIW55A1+Sa75hweDIowKnz1JSln3F2u/8sqkWEuIZ4x0OLu/+0wYvsMWx+TmbVlKCQ1Id504pebKmvPkVcEaQ3SZwAUP7kFUVZz0+qHGeu41vLsOOltz+lZrRt/r5zvij3EWYL8qzrmTSwMOs15perJn2L1ip2BohzNPu+arATcr0b56nboaG4OtQTojKK8znk0bWm3mZkWZjUQBsZWvJzlN4bqn2Eh9gAeUtM+3zi9J5E082OhdEdZxxYxQVTTsKEkX5wK3l0Zkc4wp2LCeaTBmi3M0a+N1yFFAiPc9zbQsRRCkezUPkUnwuiXE0BkInFPyzOSltA91y/n28ZUyLEU96lG5feJHbqnQoxsDS869Mwfbt75AlrrB4BgvqQlfF/zeBZ+fT0rNg0bXstdh76vGUIreiro74OPmsmEjJCvkqy4g35koRjMGtDoufNrRXTjcghof7O8x9qERJphUGu1LtMHiB6Ky9r+uLZlQeApNhgWeC0yIUThJuWl8PT20A51C6r3E9ljRvGf0A4k3ZrTRYWaapzzBUVisHB2/8xaHILGmW0pZWa8q0pYWwdoEruQ2FTc+kWJNIcJ8vPCKjy6zyoW/CiwXlCHFnVCStz03WuHbklJR0UmwZbqiVt5+UaE1xY9mkhPDoWrUo8+3jjMefCKxSTI4ONGMHeTpSWoPxH/8gXSqKw2YrzndvPsri9zJeqPiBnr235SkkF89rjBqrhimANgoblrlh7g/VDMT3vdA0ploWNdYv1x5gMSOU9aoxutUzYilO+3mVBFIW5oJXp5XlzxLMxGe8SKUBZcdDhgSV7uYqqaraT/PY0OMD2vTZY/kepbQZKCraoyIRhKjzddu1YSZTqpVwR2CGmD4G2VRz3Kck1EqAGg9EuBIplXOG5RpmO170Of0HFINnaMLwTDSdYI3J9YitBvkvo92y1TH9ukn5h1WmiMym+gJJueuA19xA17b79h/Uf77r1loE9J44VgrvG79JT12VWXoYla04ta9Z/pEntgTFauqGP5sz8gUizOojjeV1djn+XXS6ANZKgn/PCNcs5hheLay2DaNcWhjGbFhWA8mgMBqcIHKQ31saoRvl+zeILIyECydSE5b6rBwU9S+dkuubRT6kXLzBr/mYjSkmxxy1mXMODSBzEpN1gZP+dI2e7B6fC5kK4lHzJWGFfLmS10zv9NkJr+j+IdXKJTRNvav/0mdpmrlLM1GTsIJr5dOZyDFaMqhpHIRMZsykx0nGCChJACquNaVT2DlSuVtGocLdSe1CUhvxN9RcUFDB5e3zRVvk8B1+8Pgfaj4zmtDq2C55UIaCk+MVZLjXW46DeXIiOL/JeFga0UEswn2U3cwFgy6OwGuYb6j7k058lxJbNapLrcNp902vpHdgXwDiz8BH6KPOhmnZyoNDZ64kbwkaWPfNdNDtU0UtxOmRmO5qBqP1GVfw6XF1Nb+1vJIgDJSI8DYcOsfEgHEKEJH5FtKr6zjzrurW2zV3BI98ayxEvtfeMg3GUe1eO+WOeEA7EiTcmYsgM4GF/VPMLPHggQckxYQZh3ZQIniypUzvViGvrkc+GIY4KdGQvi0EgmE2Mtjy9lGuBBLinuI/nr0XweCcCb3HXN4dsJMYInQk5B/PU/KKZvmrhV0MS2Co3UYztE5+t1NREep758yyG4N7qBuIZs0FuVLGeyaGgqD6x2RA24nDEFFGQH1Pq9VyCpOS1LUmkEcAyCYtWRfHmpmkcNFPRAVRO8BFTRxlVRiJOCdZp9QyVYubmZOIoDuKbWK4XFE4NLpNNTnuVNSVwdHQwPBYi/X3Z7nZNHszpyM4KsMKsltFR3jyScwHIoqah9u6wryHYcMjPvZkMoJomXX8D2CXcYiBtVC76diXcywa1R2s8iekny3NQfWnAsuyz7sBeVdpKtAAj+Gh5IGL1T+z/FrkLJJwR+MRwoAC3fToav8QBnMPWmQOkCrxZC5Pwc/mpwT23P35TQ5KYrNDzl85gkHq1jLiarUqdiiBxphKioJ5xlJeCQUUhO02m03ukoZT+0fvwsfJj8edBYpPmVPscN2o1BGfYWaNIJibDGAI5iHIKAeSYZIqZls7wSEJYi/QEsaEjzZx9aZ/YzofY9tQveQl3reLjUBmCDNbhqdAc22SCJHr7mT1N1NkgiJNw3ZPOY319u/wLxSGqjkPO3YLtkELWjD/X3OQXEjjfzhHrThoPDGMpBL/EWeVKuu2BDyVh/+aDCIRzU4UVvfnLAmMcqbF8xc28IQh/5bTQe2sdCHJ3ed5Iv0yh64qtrgsXRwIydNAdUqRDN7Wr03+7CY2tMe0FPXc3VTaH8f34J9hsmW+jgL0qYywzHZ/4W922u/ypoRAaLwEp0pB+pbxn83DeEOIdJRnTJZl+6L0+iS+MPNi7w+gb/ZduovLpNYejt/4Ky1RYdafMmMfHazx0Xz0TPp+GPW0kbieNHkbaw99nw9wPwEtf3T+e/6ffCgA4DZALrdr0XEur8PiXdh+lqzszEQpPWbzSknAVltSGP7/lblllbyH8E6afgiBWlcZOpsu7m1xTmC1aCnjVfKDV9aanPBl2CQr/wuyVJsLi2vtqNTa8BGG81r6kSZkvaHh6lTMCFG8mo6HO7uJk1YASjIZwuHEMyuJSbOzfXVAeUcX/uDNB1be5Gl2y78/OQN3aSagyKdA7EkkMy/bWe1Fdl5Gs5pHFE5TeAhL67LVmtpMju+En6hHiyhtHguNg5Xo8Uff97CLkUUp5fPF83vNkBizZbpgFXsKkHaCzhJilRYEc7PejVcrlgd0SmL3tu60v7yNnlqUzCkuIj6YJOGu+RCE0DDb1hjzU1us3F4bBW1YnZ+eIpxlp/FrsqnoK6Av5M8SK/9lC7DZVbp5ltKqKuV42yL+71Db+vYk7cZKHgbqM1We/J5TvGXjYfk7OU4+Yy5HJBFfEFH2pK+uO9jfAMj1JDDv/qwq9rTDJumDvbwuMMQLM/0AHYYjKznUE4ZC7NGzIa0+kyjzTfQXnyPpGvqRzV43nhl+xxODxWxXPp3jacnNQacoIAkL1LSqrzAsK2MDI59UVg6RWt4Qk0UQXSlZ0why/f5M7fCUCXyI41njxWrWaOjSlkcxtRDcmeVIcYLsLyJIY5GV6VC/+6sWbxZvaU9pQBeYNyUjnQfE5rgv/XnvEATOLzPjWd/Q2b4HnLIpnu6AzT9iJmqCU8Kp3j0Syt7WOBgafvdLUOD6obI4ajvGFV73/z4S4cJhCeXHyK+8vggwjhWqp//MxKp4DgpwmoqnM3pozY6ig6hnGlyN9bqmiI4YpZ+B3M7NdR0uUesgh5rHAxaNpPzGpkyEwNYDXSL94a8YjqIJZmrQBu7uMRR4XAhnFGGAQRf2esgEkN5OkrsIZUQBbS4fstpz7pV8RuEmtprFX/2UtWvs9JAiMm0qzTBY6SbXUh8JkG81CtlsqnXggZC5X1ablta/sv8CP4b8yhlRY9HRvVD2B4udpem8Hf3G10LTynpBdJMDOKrgQhY9g+5JPC7LlC7lUJjWXOQDIQV/c73S/yhAU5iNvp3NZ60AvMCsFLPblcVssBoqTMzbwza5ESUbuh4wrvcOl7JHlj2bjzHfVPKGYaTEeD860ZJnuXrp7zVir/WjoHSvtELQjh1/czDKaKOY3S67q3RQOZEZpTPydHutatNL+t1YeLg3h/SujDE4UwO38mPvbyCcW98aE9S3LBuDAvMgkNa2uhjovA2uUE9WK99rg0t4kct9ZnXlu88YVstzCvwft+Mf8fCOywYK5+A/aev4jhEAFrR/+tJlR8AOjGZOkvjK7KYbjhSpoQAK0jLtqX604DGniaSSXTG/3nqXE5MfVpJ3s7CZhFg/6hankZflvgRyWJ05MAmDGDyDRKGc3W3j1gVpJNRDwACeSAukDW/M7Wt3/ZOldIJPdWX7fopTkvlY21w8R3+Q3Gp4SsXFH83AujyNHCNxT5nm8ddHGnZ6EdA1dQ+/lYxP3w2j+G9BNLUyhC8ilmdMbzTeDaLhYCBoFD7KC2bGPLEv+rsGtU0Dah8xulalYpa7iN/wOqDf3Zql6ug+xxqPTZuZz4IVAndcTNPPweJ/okIw/XhBbUtAP1HL8SCvyoQ19zGzDFcFZfhYeS5GUm0kyTZZ5U1buLZ23zq4UVeX2fo+lEj7yHB2Xud3RJ6nbvSACiR3MLPvlkYt5bxG4q0tFUmXDiQz+w4DAAy+CJwdXZ+idx9aSdB7YRd7CJTlKldQQW50QRMpsllt1KBjlrA1MY58etvk5TwOs+PuQEYXuyMRbYbzVmYmHNOb/X93ZkSSv7w4eoPjUsGgtRl9fO4dk2h8J5h0Cg3VIZ/A5cuY/TBOaM4JmGcyj6iKHGbLfuOcdbiWXARyZJIJP03RrSCeZOjqqHR6gRRila5o1lerbq5z9rG3cPP2HgMrZtnDxnOM6Bg/Ruf8qQqqjktOD/INDAE7rrkq0ILbGUTmeM7PeJkdg6EJJd7ALIw+sli36x2jMyk+QI0oz+4zqQyQ5lQwiG/vZrMcfId0UZJbQAVwa4ErqELS6B15QSA+4mRGuZySgByRig6Ua+TnWbDxZEdsBVZ81H0TJMZp7czqGirBZq+FqAMSei2Q2Eu56PVJxE+F/M+R+Za4Usfo5mJLgA0r+p1Oa8t+z706nElY7TFxZ+nyRu8yTcdZP7S5UvyDqBL2zShWybCTJZkreZ8yjp2beRBdDaa7kbqjly4IeBcXFey1fdkNGzeu+kgBxqBqY2x60u6fQP0Nwz2oDDWnIli7curOSOuIfHqt+12FJtC+JscorG7h94OkxrwbE8/PqxqNBFyZV131AQn2aDOpddHlCUIl0tcp7GUx8fzPBzGdnqHQt9mPpDaa373ryhN+wCq+kP/I/d+5ZMt+wiHE1WHQX9KIkcCNa267me1OZ28AScasoIYVAgMVwaAyKsSXkR2JVsgAm8ohvw1Qnwu+uN6YFTX8KJ8WU2QQPEP6LCZcdM/SxqhMiMF3mveAs3eibRZ+Mx0BU/dQ3U7Ga3FSFLyXlaoxAn7O5zVIwNNR1Wq07R1w1cfhZVlxJFxoip+y3zq/pHZTzpi0hz8LgRTkMR661zyVa/a62pw8LiguKHFYlweaZbyVDP+BhddAArJHV/sJkhDUDgCyqr6CzHbq3QRm2i/3xkiyRSIs91l8Ftyvv+eFJQ9cE6QUnAibH/CnW5NCC9KNZ4YxwKmpWw1v5Yg1ydD/Jz7HOlcusThWzqXKIPphZs0s27DLriudAYL6G72uO3hicEZ0FztXO5AnVRvDwG9FV3Uq38c9LKclaOiM3ZkwpVYuYqLA4LtyWj3aw5vBSSftXS5igCKMAD5n06kVebVOOrppuK7wVHUZG/dJaiPlbsEbJBBXaEkzcN/b+hmfS+9Wg+BAF5XA86VrNiyB8dtVyIdh6Nne46cTQFrBKEz1jXEusa8jMdWxu+JiHxj2L04zfZo3Mc0zEkpESsr/Jl8j3i40lhbPA5VdxEu8VnWbJ/P9xb6Nf5CAL3Ym0nm7JNX+dx4800TeyPAJ1eOshETeI7kQ9cK6NslTTvNdFRswRq3sVud4ZYVbrBKSlTYezqODghpS90s6rLvTPqP2WDIaUiWgFMw0CxHI/ErP2E8he0xg4luZ+pWdvxKQ6MwtoIYsKY6We68sn3m+3Y20BPs+palB4qEnZ7HLPk0Xpfl0m28K8tYwqfEvCN4xGgYJd+cLiTY01BZTBhOhmHdFmwGgC+7Codmibjd1MyRkNaPi3ePOycQxOotNFkZ1MSnmLKhsE2Cy4flOAVTTCUZnkYUh535oJ/M6mAfNsCYO5GYMIjxUPSzucWVwyFPFmMsDoR0K9kCpv1UNvsl/rjsw4E7QVUu4tTGIuAFf66TSJPCiayDojVo6hdJe9vlZeTc+vySPrqHhvoqfx0Q+ftALo0bd+OcSGWpxy5RBycTriF1ImNQtBbIKCD33CarNCzhgj/Fh0cMXSiGj1RQHOnmC4EfH2TLSsdGNInLRu3TmkST9JOWWhbsMFr53LoCud1xr9Q/nDWZf+Ge39Gb6PJPt2F4AneXdshIBKgTV/jbAzL/e9qCN/PJF7STeNPPdwevM7WbUxPOCf4uqtPJ3YjJxyge6XrwD6U7AGQL4AOHZb09SzmZuKU966dE48qN/NbBIrF/K7ODjn55Z/5VqZHuH7b2G4IwfcLvOnX0EcB3/g1UhqKXN/8PNWe8Hsx+zb92W5U409mqWCu2U1+lo1skRe1suY/g8RVS/QWdlITzpbtJ+rooQ1Bj72D2hlzb7eifcs4IGr22/oKiAj6OPcxbGn7I1yvfy6DNB570e+e7koOTX25iu09wbO1qT5oY7vpCUmupbKj2FomW7Sc55U6eIBI/lrWNJ0zgaOhu+5XMYva2rGg2bvPXs0gTGO64sitv9S23NiSAnpQB1ssBJDvAMfVeJ0sSmFhKAXCrUx7eyxXAxYtJSN8iE8U91n48BRjQI5JSlo/4YdXM+fZUk9rx/+zjcotvKByZtx8dhzQmp4YqArjNV+roezBJdpWtVZQIZOpx+PfHV8wgXWSs2xgpElZilk94/kix76Wx53h7vYAopOHid9qgpMcPwSzkKKQZRdF5xLaujxQSomVSyUjXEVYRiKJZj18zHXmItwDBJKzcVWTnpGlmT7jxWhQm7/c/tbarAkpF3WbE7u7H7IYmofTRo2KvKtuxbSKU5t8DvTFv5SGgYEsSZ5O+KgnNjk8NMEkqgGUOvCwgHxxQ2sd12BgSksfy+E5VKSnXr+CS0Ie6faJut8pJz5kEHA7oFl6uVsatTd8NKijBpfXNsLA69uEvqVg0PFCDy34exCJii+M1OuqXbMaOXQUawgAdQaxOgMi3QXpK+cr7JJEUTHthLVbRhWbg56Pw08RnO1bX7tuW3Wtmo3BsC10NClJNbXNbe52NjoweTm3pN0YaRhBsQtY7VbLJXqrXbINE9F8l0p5bc1gITVXS4BdOH5sslP8XGrNamcOtA7oJDsAKHygKF0ma4x5yZYbQ/OONIGQd+TL10RIO9gv+aXfQrE44XnF8+Jj5RECm7NpkgYZyAy6toLOwHDFQEFqtMl3NPuFfRoU4GXAgGNLIxI1n6TklLSGH11DXm++XkCXNII48xyKEv12kyjT4/OAtxFS2zx627iHzIxiOrVzAJaA0Th4c2mDEhdMfqaPwMXh+5ukCsKPQeUkVa2N43eBCaJ0vq6rW3uuUYeEiocRc8VW//8Ggh86EQY6teMDoujUmZzMFl3c9FnRuyc7jZP55L1d1kvBlFceYJGKpHgIaS7XX3o/UvWfMAd/f2ZQC8Z5T60DVi+bSMjfnHETDlPY9u8DfTTxW5SSC2OsON1if+A9ug9oVuz8J4iwkCpKWBKto+wzYw5L0qKRN7XKjX4Egi2VnLagwagem29VZwVtnjdTL0ZXy7XXxKQGJf9i6Y07P/MxhN05eMzxu7uFGn6kjLv4UlgE9P9hXs/T/yUlm0dSy8/Uew01PGk73Kbq9yTpYi3tMguMpCHmpSDBsCSAt12HgRCh15mP7IVjJdAVWW5KT85bTKMx/vtSL9S+gZ1UpbaAlDGBtBOkOERwvA1kXkf9RmLEgzyG38Wen4mjCYnM0SO6tIuc2QQLozw6CDudx3n+Wfrgs+vihFUC/6QCjGGxqASXMMM+mGCY4Z1oR1NgRKwiwnrXqDxDOcXTcvHbyMdwygKtLcPuz85F1kki1ppa+HHOgoZr/Pm9UY8q7uEUP7qjeWbdncVF+5i8EjnCnWNKlpY0CgxkizOrQq3srLe6I0nqpOPXxbs2wQg1iCr2WC88R058+bA7yg5t0UY3PPK1pwXkgf0tgJqEwpDX4A3OjHXmIZOmeoBqcpW4OVW2Lf7HOgA80cnOvSLtpx4bV+SwH/4WUv9yiII7FXUO3cQSG6ekYRgI/4HoD09lfu0sh0Oz82pBEyO9U9JSVoIFZtE8Nq++5Mvso9wrCV55K7+t7qrDMaoYBC0O8WdKLA2MyTvm8E9/MoO0A2uTkTmUs2SPCfn/Q96Endd+OlLyYi0e22oetbRzBMxkAzxLaf761CJcqqL9AKoFMY5uaxKpJQ5+ydz9RCgHX/U3lt/Ey92M7iLCGCGPmki2otQ/ETm4pqpg/6E6X599m6aOW8CyCvK03LSVG4BWDwb/KF0uLC/Y00Ehf+YZjcORcGxcqVSptqxhvKHIoh3X0dunmon5jEhluOjDYX6hRM40TTHP+MIZ+G8Ec9rZ1RzK0AxQYO03e9mC58rlU5ZXAMO9MBHGXn+GpNPSN3ZxSg1B8Mvnfzcq8XdHIBlEH3xRuT4fZ4w0pZxCccQZljjXUnOm06tkinpTp0owHM9niaKgnYIWaRsta7UEK46tuiiHGWGCGkCQA1HxsEISDR4lyGa/pc9Qe64AB9ivWhE+JAWAonnGX7QZFB/ZgcyJLVRYKPLkWEmXkppGInY09GB2Nin9VJS2TRr9ZvZgqzIunw9qCztqCa/rZwa/06Y3UVI19qLgO968IDnx0WnuBkjPreMtYQRvki8oO9Ax4aoDHmOs1DZhlboLc8r36Ywu/w2YSGykvc0Gbi39GhoDiTGViWsf0OdO4naS8PRZEetgciK8hDuDEHPg+zcZfxZPTOsm0/U0mBoae0xTgoXzy+80DHxYMDswDIcG9zxpQ7nqmgXHq5ileBfuNPnThPm4zkcij5sX0LEo4BluQlgveGZeL6lSVi+yOFXJRSrbLlZ2LslTRHjswxOI4r6kfQ2DCHasIqCP8B/KX+7oZnewaRV5aS0p6oFw+HBodBrHYiEwW5rHUSA8yOVDHg8U5yglDWCRYxpbXaemk/eCMDPEAUHNAxiCbvpkQT/6+uOuTWv1sRfdnhkBPd1N23NGQyorJKimOMB1YmZdSUlgTukPevsYAuGLHvxCNaLX54/ydwX0D3S5dTPM4PaPSIr2XWPWZ+JKN94/HMah7hBLCIFQtn32boEqkh5KCeiaXUOeVWYG2EbYFs143Q1DVq+FpimzYgtjbMIOBtFxgNwR0iqF5dOmG4L/1nkjpwdxA9eadFp3jmQdJ47M54AUrI7deMjjn3MXHdh7N1LP7moabcklimCzCSu7KjtM+h5hG636JeOLczpbS10cwCTZdDZ/NXLp2VJJu2/5uERgtLRA8Tf8scM1uQaKcBRaQKsL3hdR/jz25MTOqAWt2ZIfdx82AmzAkR+Xql3v7l5u+IpEFjUiqV8trHLRwp/2UYj22P14OSjubyr2EYfUqMXDCwzakNNsDTvxLRr/CmfyRzXPNshqttkswhSTe7QBBAOEB8wxaaWWi7fGCK3rmNGIKH7I5J29Sdxm0Du2vmFOFf8ytXtMATWNCV0goyzIYfyUKxMgWkNGmlX+tvvy3AkPHFCux/7Lw360PRpCddl0sDMi+xxFYICQjD9HFF/ktaeGKOOD5VP1QIe9T/zY/FEihp90uHxyMnHqak4T+9ujzQuqMUbmWIeNUtm0kRaP2g1fT2alvXoxOxmj5ywOj/+FPP9XydRbT8ndWs5BN4K57yDDimuAPMKIiDdZDnpuE/vWQRjkRgGYHBUnnGEzCRovnY9niJBnbRRKme0/uY8gsPUwJGQft5acz5rGtQFwkIAjDHUUDsV51vjfZq75SfFJKyG6pmScEigZgi71wPJBXdwgulguA0p9Zs4KPDW8Lz2w9+LcMpoe07hbTKp8IzxT9Ra3LQcH5sQmMn6iufwrJpIrc/aQr1FUqk3eIQoTzSXi3Pjpa+xX+45RsxgohiiUOwfv/wfW3Vlz4MqM/lg9PCzgJfefPt/dgWhrIh7O+jOKXSLQrX8E/nPb2ao2W/s9lHayz3u2KjS3RrcYqyvpyddNTUT3pYtGJfpKfTrOdUZqWB+HECWLEj/nALQk4dSSff6aNevTQqwqzynEofh3wnbPXEZwvZ2DhH6bBPTRS97rG9AfGLO7zUtC4AAfYafUlAhucLP+lipzqlPG8/v+7JVq7QepaPx9bRy7qGs1j0n52PwDjttROvBaaNk1G1iiYmH0Mp7NDQVbEHQ2GEgMnyJmJWn21RmvWf2Zc2Sz8nyBtf1FycssyE+5FA7fZV/Ot+vM+BcdGJQiEs/IlT5KZI2DVn6LrHmRLGo591zy58mRR6Er5yiy0aix6e5hfUW+Fph9Siu4sbfD8TcgN9FNE0vSX/KgAQROe3IJWlnGDHjqwmxZly0H6u+Co8nhecgaS8HfZEH0Qq2iwEgaXfkhTr1FbDb3ZqduNooxj9wHSPrnhkZtqO33KMcL8Sx0hEZ18wuo9es2rqIiVgEWCL8XWiDrSs+HJk/IEotr7GC7xuYUpB6DyL1XS5ZDtQIQEelqlakItHWIKMY+URy231Glgc5KYtvVK5I4ORbJWG+2m5V+ghokITB4/SW/55JYjuRdq2PApDwacVQ2z9pXK7CxBjkq84qicx/2Ej6RI8uaY/M0iYYISHAHco96PAoRfY9Hp/+YKBzn80jtpVBbobVDLIOqOXFLN1c8gRudOSR78NZR9TXz7XuqwkfiowU2EuZdbdqtroT3IR+FUYo4ariwBeduEQoy0f6RsFhm1vhi64cxYtwYZGgq9nxV81AP+lqxC/hPRyzAfmpT/HnOo1179raUAM9Q0itbf7eml8jda8Wtr0yJ3qcOWRKUzl4L3jzqlPDztqjwz91pZXERqIyDplNAgNUHXoPQWroW2PpDV7O8XGwF+ov3djLeaxIh0YSeWf0csesPdeE7sg00pxj6MpMEKAV8jM0L46LAwgRIgBnVamD6IllKFFtjDBeiSmuKWhw1FXaclmjQDBAkPxaGVAlBjVJS1aZ8bjvUjr0YrxSLU8U8uFJEPdWSFPU0tosmU/OEy7yIxdEINSWPKNk0xe/kJJp70CNXV9J/jgydD+E1LGOAKJ5q9FeyveWtxnGpN1pRpaNzVRlqVZY3tlrFzaj2W1hDnYWwu75GP1pFVqLo+d6I6H4rMmgkURQHqWzwwZ3kZzDUeomhzFWfNnTYtWKMdgc72zYf9QF4DUPlGygytvRmSeD0Bc+c/2k/oOM31fWw7Knavojxmo8DiAURtO80esn+laSi1N2Rtct2WHdXYNM3I91lTUFAJuONZIUU8kjVpnQc0G0JM0ijivG+VN2dcEvJItvJCAGSyq9mCWneS5zikG5RqBIZC+TGLfKlkckHc6DRDIPFbLSydVLF/PVllxjCUex7V6WQEljl++omr4G3wP/w0pQGjbKovYd1aARCP0u3tuN9bDH5AP7bJIyoH0DiqEb1vtEkfneZ3C+PIDy5lWlmZG8lf7EUidpKKay8xTrg8eWVV8hAnu6v8N3gad9qf3omAowFQHDKNApcvuD4S2IDGb59HuetMaXg=="/>
  <p:tag name="MEKKOXMLTAGS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BAINBULLETS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CHARTIMAGE" val="FILL"/>
  <p:tag name="MEKKO" val="MekkoChart"/>
  <p:tag name="MEKKOSAVED" val="1"/>
  <p:tag name="MEKKOEXCEL6" val="False"/>
  <p:tag name="MEKKOEXCEL7" val="False"/>
  <p:tag name="MEKKOEXCEL8" val="False"/>
  <p:tag name="MEKKOXMLTAGS" val="1"/>
  <p:tag name="MEKKOXML1" val="4HooU0THZk28POP9trq+pbTvvzd/gcV8t56cq85kb3NDTsUhojRA0EsgEHHMH7oYP1SYpn09ysXVivguJdhTvfyVMsBLTGvcX7WPTor/CmWiWcfk2RmY+GE6Q6T90sFUr0lg9IPP9y8umrse/9AoLT5R0GKq+XM9pr/aTyOTf0wptcuHbHxeyqBm9svU01qeeEM1v0hpSHUgirOnAK/wuq/Tyw5TLbs2TsaVR3tAj88RUqg2qJENmT81p6ZIpssB938i4VNQequXAVybqrEp7AaQZgyrVSx0yh2/GJuTNJFAB5ge6MhxFXgjwATMQB2dFFGIFBt57G+hxzb87guEZQkZYWiYobnEl90Lsgjd620lcm0MDf8MeRFrt6BNCMpY0zjOkVRg6zQ/A6b6Kui7J8sadq+3IstTQgEVtVfDBw53kn4zAAmX0Uh1cadDLflnc73KFWv2TcIwf7Rf7cmpl6skMAZ7qf5bmUTgV1JtZy+dpvHwhOH9O00O900K3wde0GPUGWxIYFxAyfTvEMhaDfv8GsU6wou1zg2/ON7h8FqRcmigcyoVnmfm0ImxyATvUe7wC0tMrFNEnAnq6188QOf3n8vPb2hRtvBQPhYVRsjXdtL8INCE9gYtQ+GOfdTq8Eks/ANM6gqjL6tKO5LYc/TNrT7rW4MUvGJb1BouEhmstkV9eyef7YIjoaBqY/4p05EM67kTkgADIYWaf+w2Gs1GdtgVYdMl5hiSl1U/7rFLyJ3paY5ABlMNYuP4POAUMdScKiNgrmSWsKb42Y5uELMyO5N2j9Nzl9BJZovgRYwKXBnymbsPl3fF20smavpRQEZVL+PWtI4wPX1aUye8cXG+l7jELedMTjrRyV8Dk3FDzVbuEW7Zov6DlCBM0nKCF/0wyzXAPrpktWQx2Uv6QJZqJnu5236zH+Dvwc/mo6HYtsDJ+wEl80RJARzn/NAThsy9ZsMWrOsWFhjaiqAgxwu7FzKmrgAPSmepGoemxdySw3o68a/VltkIjDkD3gjyeHuhAJCN+n9qmUT2t2r2hjU5a/XWOA7WiPmlxj3KX0x6FrdK86SKOxeWeEGI1l582txqXA92PXFBnMlShCOtjrB/VQRtvpw7nyxXcUHW1TCl1u1CvtSU+XUnAGS+U++HjZxQ9u2rPgU50cbi53zm8ZitXa9xdxRNuv5vfAL/DX8asdI+goi9NpnP23dJ575TDPc5arFz6XioBm7l3rwwKJ7pP8q5J5HdYVXH/nHUIPpNn3920WOt5clP2AhPkV5eRnTERVC4GeUCH577BDUZlwKdJdKTpuE3JChNuUmIoo31EYkBU+pX5DiQy2pmNaSEr0PAcnozDZFjtBqNnl61eH/kJ0V9yur8WgRW9sUL31YEtAZsK6rEilXM84NYJ0n01hlzU1xivRIEfOCIJFFVl2yZRLyTrirEpX5hRT5oUYTcqBXW9OYzbP9RPn4/gOxksnqzlMPlcpd7pC3tIzsJIohgU5cObDT5ZsQZQgWCZTJAyHqmYFCNzwqX2rjaIcSDFHoqUc1EY+TsqnR/o04yNMwdh7p+hGSuvTG38t4jif+sWx1SuoiEZQvXQG9lJJIakQQM+y16H+lcBS9Q7tuO0o1NR7XaxgusQ2rOlOqBJrzZuG4y7QE2PK6nvnPW4uv9PUaEfWamwYZuo4f6Axg+BVw3ni8FbvVxYRpZsrWXjORl/JYzogIuXSzvfj+cQu+4phL7yJ1A3XvcfA5NZdrSn5Lw5w7BL53OufsrgyRTiuOxD+jN32PnlOuZHXANV5meeDyGFUGOxcqaDhc0PDMvYEAa4YMhpBB9GMDOa9dga2c2of/wuVCTHKa5C8ePm0T0nKy780aWeaNO0IxEtQNSRp0gCw1M+BHddxTZnt6UHRI6K+xEVgvgD3lnlox3e4WmWYgakVHYkFkCZ3fOTB4L62b/j2w85CfxY3kFyaHncBcI5CTwSv7/UA5s2VfKREtHow230CET9IrfX7HVcJz2FenpWaPYpZuAfZsT1GG9bXw3sSbfqiipv+aeyei5SAcuN5KUvkKL+slUYVVmao9AErkWKU0zjgl/wKSJifTK3GPzyMVj/Czty+0Zc+vN2q0dGLB4jlmu07xoY3gCayapF68B95OPtItSbPTsgCsR51IGmRlHAFh8gmkgQnDHZ7tSpxfEmuYasoD1MXW7vnKvypaSJiVSYOP5U9BKJi2JzY2coBor+Si4SKfJ0hCehR4Pmu9C1ljRMByNg346Q0ybYyb++twMKiWfDlSB+gcApI9ohFYG83U514TMcTFNoMM3JCuroX8+qlAiqOUPrvEbKfjEDI5Woqnf3VzzvwAUZl82aGqMo9p8fea/ev35S1aRgI2wsjyrTLJkzxJwxeP5TG69HnuEAdnR2fDZB8zmy70NK80h1ZV5NKdbdD/MZwyXDhxfP/SW9N7jCSi6zNQkZYPpU1qJqZ6T74vuIsqnUZSLcY/BqWVDGnhZ/qvwzKGTnQjmuaWkjNvI4mXOwuer6cyCvnr+YE0pqFqWVqmESWC4GcXEmslxMYV0h0MN9982JuS1WF5L071cNJdD+tZ5seLExE9/HqFrCwAyqtENN+1TNZmStkqwp0mawG5bzPWd90efQ9Xc72/fd3tHriOv5o6TKs0OniEYwcV4Wn4yQ8I6xbM529J+iZNuNKLCVPJaYPYFHVWXgvyn49sqSaWTNPzTB7wajo5ADG/2Ln3HT/EkP3GSMhe7bkC6SmeYBmtHVKGwIOTOSSp/KRIH2vdVf4GfDcAeIke1iNjVtavHRat8D2CEKQIZkYY5SOzuxkR4W9Ril2a4QzpiMqnsVghAOGuBH64on8QodgCVaHrOdPXK1PODyo4FZVUjXCyJT5C1l8xzbHiKvgyiUOgEHP3GqgdqZWS+F5usJ18mjC/J/d9iHM4o+vwEjQmYTmoEtm203rraQfzcshR12fCjtyRyJRg9fReVkgZiHzOSLtoYFHyE7IMyHdPQx2wp7T05cm600/F/AsFtj0QBQ/lKIZb3lyJAg+SP2+I3GQ5dltiZF0/LAFPz3plCB7Vu6WsWvC8kuaTERB/5b8krD96CYZcJe9VI2LLEFJ5Kp3TlYPcGPJBBCotz2h/3t0ZAZEmOLVbP4geYdEjqcibQBJEV71zHfDQFo3L6vmysrp3m2KrUE0EIYlpgZ4k3QWQHS0E4k8KZpcXaIugEpB1dWBwzKHVkTZTczT/qd38tR3OkBWpBkswmGWgLeuzbl1ahaLdshZaipEPBHZVVcwqfN7DZCwX7MSl9QuHIhVu0OdALYa2RSG561thYAUUEycoQy6MkRPsTaunjkJRytUh5m6sEIXLcpQTOeh+ahLNCln6THpbJIctjue/Xp+UPEm2qMu5NkNXgS6C/RKYgmyfJM9vdaWy9HzzadShz9imYguOAdzQ1syuAJYL8HvfqxFR9J+seJDCsMxyQtQ8nHWU6roFRu/9yhi/VfdwB9vj3oWOnMK6srljB4RqKTtNnUfbjpSr4Sj1d80FtRR3l8Z0dNQ2Og3UNF9kIDzuCTI9IwIz77y7ZwmwjsdhZio54rk/V5kFdoVPkybpjvnWXNGvx+Acx2mckBxFi7VnchR7gadUJzQpydq6G2AUE7XBd6cj0rHA88ocHJp95+1cGFKjAQ2N7xvMAaL+NahlrDqDh93TKJDhI0YWwHGR4lQz+Cn66iKlaoSqD0+9tHwFDKWWyLb3Z4gQgDxWs14A+4WUjAUx2Ew3nnojlfLK9ADguq5HW4adPIINKRbEWS7GOgoEpFB6GFK+atilrFKkJt89imT7XrVDh3ZVB1GcDYaZww6QnN5Vmd7qB4KUtQPEpxN5DeNxURY2bqZZdMi3/LNiwUaUuqDPljNx3Rbhnr6ZUIxkqU4NEO31S+lmx8H8p1nhVNQFLty1CqG/D7X6bEZz+Snv0QWWJ6HZWnBoKSh3zVb57nJM6822yMezp5AwhTbSN1PAVm0nEQK4UJ+bVDyXl6nAC/orJHyeQOsuFpFqbkEOXTyHhNnmDdJO7XsZtQ75Vz0NyKjrrybL/ytFZPovRHVKKtfcgo7mIT26ghgkf6zoeBB+D6qO7MrUwjIg0gHCmlal4PjIH7ejugiiPVYI9yxFtEYgWZ9GuqUi3OgwqMNveb0G1e7z7bmTotfHzQNd8judxJDZHnqTU3gPjF6jI4t8FRHD5OsRSpoXpN+etzpMskldFyNJl0/n9i8JmcnoNpU7GiQOLjkffmF6b0rHBfkteBnoN4rIhFZ8J2EIlVQ0yvLC0SVW6Nsjw91PQsy+G/CCTzs0BC8vJMFXxNwJfPMdDxDkahZOogri0ETmKzGbV3wZUqkXnJolzv8c+PRX5A8lNdDiLqIHNhcvFnGBkfsUMZuU6bm5TyxWqMHjaMbUDRpR8+nEUpjL6YR4QRG7aks/MNsKpTzwdRJSybm+wu3wEVt11rw7XO7tpQEJcQfcNY58l4y4MuIe5jtNi8oI9z33vFccsDENhgMNBwAkVmjKBbq2yG26ER36aPoePPipABVhxdm/8ywAFV6uNHuEKpJrpjT2XsVQFG5xSBV5ZAolXkyMEkq8ztu4NoyrKnLs4HzKyDMnEreA4MoQ+U5EHjSKdNjx7TdNEx6EE948oaTrtHGDJ/Abl7vimn69KvNfByVWSKISNcZs5LKJcipZY5AJoHLdkXf0ZoK8pyHjgLdGgMNEBZMsVVWbk9LDiAqwXMsdSl6GdMo9Lb+gZ520X857q1wfbUKlbX/lj2D3jflo5PXVordRAEiabJS3UdUJl56hlmkUy4BBmSKyp75P7M8P/UnZraSdnxeKfE7YHJCl3fDGGdoDXV32N8v6hh8gkUaKRGnOlWj1wogiDHxN12cczYX5QMSlBsRGOEfvr9r/ga7NtZ3XPrlMUFKHBPRrLhWwil9oA7/YvjwSYkVTYRy773pyyOAWMQ0oTxl8GT4N4/rlmtrAqNTyjaqEfUiqJCESPB5xdLI/cSPMhC3iuXiWM7Lgvmit2zLDLZafJUkvdimw/lrLfNc4h5tGtJ2tFafZYyqk7lK+NSYbbOsWzECXIm5CPIYanr3btwBHqJIWfYrxeOtYZDLXDYMTPpMpO5Vpn/TXAnOqxuKcIhc96gl5dsaUwqRx7VfwVSax/woySs+CH4OFkUNC7uR/7EoxXaCbtszp5JrJ1hqoVlJPdOdijrPCVZRgDDd5ruRKF1K8xopUb4Bbg7ibCHg3Dy3s3YY+F2qoiluCux0fUkwJZnJiRHaGlpFKgsvBYcsEGf5zwHIEnGQhMZTBx98d2QcTPFph5kEhwAew5xj+xVkU+jU5PObDI3FJgK7qBV00G5w6EetuZrenzm3CKWc+mQAFncrPu1DHbZnyUfo1bbjfRmok8n/SZdzBnpAnd3fR6GMtp4DNg6CN0lSa2H6dJi/Cmc1++R91ObvRbp7xelcBovOBIpnFw/xQ4dxFIYq+f3sJh1N3INUKFEMq9dFjCWhVlmmKPrpZEOjbJ0p3wg7Q1ylH2NH3zSq1L20gn1/UT8H1zdyl7gNmKsTPJVL45zb5ZU3lAdHkyC+1MZYEAsqDMj1aNqfxKvW+MlyYYUU3G31Rw+8UQgh85ipSzFu8nrdzhZXpKsloj+togMc88fvcNmb+QQ2UNXA/y2ESduTRJ+KBTNoMOQ/mQTZYFI2dGDbKnYY2ggGxkgYkHXNyrGd07MFb2zzaoIxhtsNh3mM3abC1CjtxQLAUQHctzAORYe45N3KpErPHD18tC59n42kjYHc2Lem0Sm3sjpKNyGNMBR732Ufsgw9bDXWlUCXJX28MrBfxrFGRZmpBSa3Es3z7SYVK6JqG5GmJ1CDCyTT8MVwC980mO43R+LXd8nGJLf4IOBoWQYjV8m3q7Saw7HUKgPOUhdMXZMok/4+CGKGTBOxwGz65cVm278h9czlRyJFQ+VPR+wfgdZdQ8EGr1hNqIXg0DnJ9cTdzp8eoCIDAiw0zeC5Ey4JEdZH+5LY6R96M+7X1yeVMm820uo4jfSWtiL0NBo8kRo8BSpTC6PSdt3l4agQYRYsvjUg3mnTY5veNLJwea6aHN9gFUfPW0mxQjaIEoUnRkp3Vxi2M4NJqzPM2xek2ygGkjP3zKoXU42VzyQAjecxI5MAHNdsX1EbJQfJhzHqkciELncJQJ5HbK8cIO8Hnui7YOZr+QqBgH2OKzXs2LaDQCV5itlmAaUTzsn7+en5ih8FhcO22PFu6eq7WAyCRzxQBt/diHtDenwRqQ4yFykKuOi6UzAJmdKs1on3JIfzWF5v0U9mWMK/INZR6NTOEBCq1lPmFKkmw3c56Rpp7U3+7pDGo73YXJNLMHTNRQSME8F/rom6YTj/w5NdwmVQ6Rx/47nbSv8enpF1P+2eXYU9n/9ZPcBu4j9IWwbX/0zw4cQSA+HcnB/svz9Z79q7AQNhlMfcWYxgssaB6WF4gEmfqUqXnm3sk+f7Oq7X630aVsuspoqrDxmf/mxMRAHy36pD6F+B+cDDC238kWYdGzvR4Ox6hunbVvhEGhKhcodkjKDcOdxO21mLulmVEyf6zcw3BgcJpF3fZkMzlI3+LX7byN4AAL5eJMJuSPN5+unH1wW659qWwW2tR8MTClr8VosewVdJcYudJ4S+toLS6tEldYTr44tE1imRJlMl7FPAkeKCU2YgbzvI9ILF5FOX1mNY5COuHeyIDyZzAmuQzBf4hUmlHAU5kzHHQMIAB3YCkT7dQ7hquLGlhwRn3fP5dXp7jYKHMYHUvfW0WodQYQihjGGwZgjCTUZHAgb1wDBle5gPJoSCvuIN+gxJwpbIiTX0vd7s3uiQqwU+YfuPyhcpYG9C2ZkN9ghHo9faXpfrJvDulMWoc6XsCYSkH25yYUMn5fIFG9HSTDfnyfdJtrVEaLC+FgYvonaZUDbVf90rnJ/aJzuxNsLgRT2EwOoFvDApDVZxzkb6MjHnCW46JXK3c4UrHTiDmoTSNtKznyLZux6R8RBHavrWPgIrTwRHZW81FwcCsGKR4g7xzqIvFvnpEmTIxgIhJv2osYz9iwVpOxqv/t6joGa/J8UEDPxdEFS/B44A1cMxdoJne6DDm0yoKpUpqojHfqneNUwd8OPjFU5xe7+PSbyPHblhqyNLmUPjAUmz2RycGO9TtphiBsJrtYFIKVPzAQYEjhOKMtGToajoezd9ccY0U8jljIHLdZ68/k6WUrFA5y+kyDjOg5WZGxx0wEPDeJbkwYGXTWqMA9t+ItrbDtHp6Isi7kVNA45B8SLy0jev38HDG/Jg9XARyIruaTo2lim98N9Ezyp5Gi/zEA6rm5gPgf+A7Ly8CfkkTxWLiM/EkQcCMJNyfTGWrymXF1nivJqm60vKOuFLd5iNGs2q/pYXTYCUV47xvPeiGoxweFUTjM1e6Ib2YsueuU8XMI3egC9P05ZeoJ1TJYrJzqzMqOKatKl4bQXdUj2O9GSFHdkQU1rCfxzPMPApJiNHWEliDzM67xf9pvMaUoPGfffkVk2p4+/IcliSoT2k14pKcsUyWHszlSyTBe1Ha51C9a6AJT0XfgGxqpcbb4B2fPF9c61Raeywy1N4FBLKD1Zh8n0CY+oPRNfyK9i7VA5PVcxKk+dX4frxzy/DkY8nqpYGLqQZ/r0uVRWcPz/4C0H5LcKqqvx/Lk8vNZQMKsB8oM5pY7LnVe4VSwCs7E/IROdDPowYmRI9Ubstv8hoznos4l0neXBFoGEBYMajHOm2hKPpY692GQIUpCxIlbkHnIuH0fx2RD0b7ezpbA3DV6skSXotn4sPePg3v9Qwo67JcGag4R2VSRpOYwg/dawYSc3FyFxGD64N0iUE2u9ZO/TNUyXXAbaswS0xc+PLYDUb/UYxLoqV8UM/dd3wsnhL/vXm3YjqXKAgvmzU1t0iVx5kEt7SKp/j7C9QYfMijFZSrE9Kt6r29Jg/JihPQhQg9Xx1nBaZiS2T0fY3psCRP6mMhPG6KPsqi/E3F6hc0WUC066QhxSeNEyCdzWSDgsjFZjXNxV/y8OcLRFWwQ+Ts+m8dlBCA3FI79kIEreDNOcEvrvoz6oz+wNJLY+FiVsKTU5xC9ci+XAiJjYdWbuHnK7kZY+Z+mdjq5Gb5ABbL275chFPuVa7OIhozd5W4V6L2g3weQ1xmj4wNegyrra0cnnVMjxd1s0fPhteCUTJdMwmBYurm4/ZLzF5MvfI+NAXqBgkG9Ke1zAAXzU3H7BdBGD4AjzZ5eCU0CijNRQ9H8ZACtpkTWdKSls+J30oVGXMLD0hCEVoVZgyqqIzVfy+gf7lX9fFlQSVODO2bdbIJ+mcWC4zLBxEn0vEgnHkDBeMrCY/JI5ioSiTCtKoNlLKFmM7vNXkahMBJUUDvll38AQZB7Kr9paTFLEg96UQBRxKojMSZk5jqgm07x6G886oM1NTKUeCtpxIg4YeshyClbfaz+lL/cET1daZ83zL1No56rGTXRFfWST2baRoBSHo/gP+R8NZEZYFwWOLteDtLqmHwdpDEnQ10urrLeua9MajZSLE6PlFja0Y5oDh7Br0CKN1ewHGPDGYhWgXAaw1spOIF1+zsqm8fV3V9b2iP9cSQ8BEqirXelIkwChJ3wdqMrAfsNcWqs3Il8Dd8TK5aeo6M15FTm5N2pOr5iQ1waOcM9Um4EZVuLyV4WW4DLTD5OsQOPkIhx6+dXanr+E52I2UxLjlYe8WvglxOE6vijpWkajmnfaMIWIhoO+dTJxW/v8YaBa35veN62H7Sm17PKiy/ul3ZmaTq/ubNwXaisjehjjUNI7NOis/PlAI9VRqYqugBUw2JJ2netNBVUAN9ny9Pk7MhEYVxRvJgTa+rEKY1S8J/QZm/ls61KstkbJPZ13YwnPxg8klKouLCsTmTy1zuLQkb6GR/sBNh7RS/ff2ERYg7NRCLxn+eRticSEPlOBNv7gAhCyPk62b4mzO/6lo3nLBJfrZjQSZhx/hGfkdN73JW8/tLobP1V8wTFZylRwktmlctIRVbNcW0iTjj5MMxJ9W7Z47tpFJxryqX1RFPeXNi2wsZkaHIohercGRyEjokayecCo+tATIzq2vw7zEfSHhJhny8Ba486f7YxlTBlB0cEpzgwll3sFy3k3hnODIUtul7UKkzFbbXMYpYRKf2G+ASvTDEGSR/UMnxyrOkMlm1kaE3Mnj224ow5luEX7ugeOj/vnHBkCXFxc5CLfDZKH+4el+yax15K+VduygYIfMMyz2lh0DQ6QoxfJiycuwfTHC0hedvyagrygZ2HWdZRHYFlk41oYMcEpMAVfqDQi7sfunyeccEmNEe3KQ5QRF0Wl3RZm/0bNUi46PRmBLVo2BVpikakKOIRhIr0/Tj3FZwnjjUXm1dimr07XDSuuL2uXhSz70QNvnZlBUF0eXtYaJ/SvlYJcU2qP9WazxOc2RH6OVBN30rsiHXrLs/dtsXzDaQyjxp6alrgsp9zot/1UBpp6PNhVfqFtrMWiVeE3x8HSIPftKLy0JP3n6ujTcORaKTR9mT38PpTbamJkfp/twtUrWxzPjnz2oiTq8JLh5/uZY8agwIRcDk6Gyapqtc6v43hykmWvjNoXNsw1BnCCn3d+h22RWilV5NJeyir0uuc+FxrygOR4JjqhewwMcsppxS3W3dWJ29unLhcKXpcAV8fu/IqgYhfy06OET51AxwBzeB8tsdNN4Kg/r5kvwMZ9jzQSlmChf1UOEhmqbZIWlIiV9FhjwGXK3i3ESC1VQ7qCQnbrJtVC6I583lIIzxfF15XETqV37n5NxbUXyrurm7LcWLQoQ3de5BAyWYvi6wG1tzOWx+JmiDYxVDZiJJrY0Dmdx3J+VKbLdoNvZ0IBNxilb4lQKU9U3Jk6VjquSpgaWAV09fxjXkg+f69uKLxTcOoKbbEloJo2QRK9aQgaR66GsiCu3g6ySBw+a72q4faoGyMH+bHvYiOqn43vOV1AYz0ODltWJHT5dqJlePT3S66jU2GWJoSiNbKhObXACt/bSgHt8LEIVcyZmcm2nAA/7pr4kAUVEIWAsEV/z+sMH0plBiSjyRbicypViKIeyfzdTHbnJbJbEr25szyQ+eo69yncnzfzGx+4JW2iVqEqFlCcPxDO/GozhoEPqmBffqmmJ47e4TSlt9WlgAsbEbqtRpTgPW07WKbjRw6VU/Phi8Bp415LpNx28Pwee5lREW4s0gQiqeW+IvBVu9doZLbny04eoV91OQ1tTcCy46qlMzf1JULbKcikW/sg6XVChh/UapIZvHWK1zBBWo/BguWlngHAArl80dPU9U4hwufE7glLX9vv4aK+p6h8AfZYaMlW2skgXyD02f2n1yDskhfI1CxHLvIaR4QvwKxiBS+JWIelqN22P7ZknwQJLFxvBNq6D6SI3kYlnwnzqGDNJv7YCUsxpNXLJA+MoY28/xXDsBAXtyTACpCYZXprfekEmduQPvycxbOFZhsPgnmTEK5CG1r8ksxRWHkWNnprEqSBrQHfW0Lf8bcYyRk0SJDgOM8EBDaWh5KauGV4HEX/wWkPBhBg4McSAhfYdFeCiz21g64DBXhFKfItdUDhz/IAhaB48xVBIyjAJwkv/eI+cUGnfPACXi6ZZoni8XbFoC+HgGBvWlNOGSnEO2NprH+d5ev1NFZ1wSwPW0Wrprzt60wCsnQ5yMjSD196Bv9nW0FmfWTZnLAGiJo1/o66wSvN3aWvtJDxwfjx/o4aoMFZ4pdzoF5kTvVS76jO6oZB4GgeCyLssQBkQhddngANTJU2DmcmuuV6lyFDoiAX+ebZogpQ70PupIYSIKPuoi4N8uABxCg2C9RQ82uRTcgfBJ2sfVJYTJ0YQZOxx20u5U5GxqYgKYTZ/lwOYLQzCzEwLXiJlx5dKA3J+3aGGYPWQbzHLSF/U7RiURDV4DHKMepry0X8ZrISzAKgIaph9Z45mYFKhjHBdKZ70LptHnrjrPP87HjFUtvEWhGrOLjLijHEozlTaCEC/SqGJ//Cl/8TeuK8fE4J0Hkn+cRAFrdLkF8PyKnKqs6O+KP6phdi9Z863eDqOwFN/HidBvTPZGiCvQOJcl6oIHmsZZoBsFS+EK1u67UQgOxKuOl7mALFjgWL2kaqSTNIyl4135S7pjBo030fhqnUqclQXZlyEAu27/wzfvK/KCebJ94dMM3X60y5/bkReDFQ9jx9Tox15n6nuCwc0PA5rJUYY6mY/+WAw0O/0lX+nT8bi+PHjthLgrK6tlFxvVkSB+6c3v8GmzrYvGx5s0vomg0qQMWZ0gV8I//b4hlWLTr2vr43MpsvsAWVfSGIzOLo3jABO/eKHneLxjY9ykdhRfRwxj9QksrgfHK7NUKcY0cuFgLuTiHJHHTj94hbe+ul+BjXgNWz8bskfPAiejHDQ2+9l5cJgvrkoUXgv5VbocRs5DE7rkI3IfKIUneSVZHe7yG92wTWn97iBUp3jSBFH3xW6rRBbjELM9f6Gp8s4zzhc5jr6ne2MZeE65j6Z4l33Z2gadswgNpG6G9ZXM3FawZzsFx0//ah+SFsPfTndqQmaC5IPqUusWX9blDbqP3KNMdUgxQEpb5cFQBEKhEjpo3gR+ZUTNFe5WYpGzIuUvSEr27LdLQ8h+qCVD1s47YIAIzztoUqdRf4gJf5l1rcfV3mlz7poA3Vf8Cs5D9Cyi/9T5XT8BQmAMM6rRwWwibZ4vkHwsc7EF2lvMSbRi4cwr4F2txA653QmHS/+Ix1Jf6YIdlrcZOyNRB5MgAhv9eg/GwZNoNzHKw9pknWKogAKKtYcoKDqQPCCPa6guxVs/T/DeiaVsIXnLSUMIplaDLXClqrJs0Uj2qugnE04b87WXzA5eFdx7e5+s19jS9OPRo+2PB9gpYH08Wop76+pzbbarsS6Q7KRmmMHsxWKx+RMLLNgjyt6RfOnPMB/dQCgM7Hjd49qgH9a4rZ7JkaPojGlLxysIm3IX8c8dufUCPcFP+h+BYjuO+2ddJSl4IkKIMwD0zH9TU3dEkAvYKX2BNMMcBXMd3Wq3dHSPP9cHy+dFp/gC1ZAEFR2A+43G1Wzys0Ls48tXzJ6ifVKt9yr4y+UZZ1OfxbNgJlk9i156yp7FcJq8h+Erg5BMNMA+rjE3/4yOPCaSs1IinlH0UGNCtbYIZ672pVN9HXZJ/ths4gcVuAAXyXWIpJcamZhPcVwi3hzus/Ep+ffTtsgl2OVvFWDTuybKTdIsUl+VJPd/NbH/8oBs6A6X9tBhbm3o1gzwr/fsTow2/mG6ZQUpdgd26H5p4tICsSUKfCbO1M++kdMNf4w0OS3iWYcP2rXCBp3wFIuQsQN1aQY8C6yl+HThswVX1QFUcDvXHU8WKPLsFRUz9xDeucfY8FqFOxoX8wSIPlP/JeKFBzfW2TlKKT8p8tco3ju3AtjqpvTUFHoRpG9iWOMvdkmzrjFoB0Qby5Qf4pX+sD1sisRQbJFawShgYiEyENsZUtGmC8TH+5KYl/J+bg7v6OyMNdhz/fOClzcAkXac7YVgVOpw+7zgAUNTBNyoyXGCNxzplIv+90WWQDp76KcE1Tmdb8ifcCamDUvxoNN7rRhCKqGDYtIofss3cC5PLfXIKVCFRKOpn5wbDy6vUqDC44tqTq4DWM0wfFyp6QAeUGOMxrXVrkFTOyjzL0zXgfNE2SDk7AZD4bHzZbxv/qEMZSK4XrTGi/fKUdW+WIxQylFNXI2LPcbSX2/fB6lHBl7T0WB7AhTlLNQ0gUdlRS7ZE50hWv/GJmLFwMJcxxMvHDTAmlv+uCFRoZ0Wa35yVvVysIL1qBvfE+3gXUdUNTFCVkga5hRUDjAeWN3bUCqBdgXksJTV4FpKwcsvfCRp9QzPKxq4tgDfBAetU6y3qaco/79E3ic2o6PqpoHVBCyvd1A0676i8OS1gv0dNVKi5xA/qRdhEDBQ+Fb84vrWMYN57J9N54hfo8DvAP0Q6P+NsDI/yKpbS0Tt7KTTM6zr4qvUCfFSJDkBX8refy+FPc1yVkL5NVtT3S0podLEPXpAV4S4Ll2JOd+z3rk9P7p++vF8zTvruK0mZjLLd0CFU98V+QLnG66FhoVihzT2BHcj6/sUbyLkNRNjLMzPMel8TY0Wgmo47CCfIec/VEQf2A2TF6ve8ORXTBdfbVJXOeru4UJ1n0qs2oQyRntPdCDH3IssFcMFp+MsiYIXWLbYfeOy5PLN70IAruLEWZSFzpMXul30Z0xy0jKs0raQwzbZiw38YA28gVmZf1cWcaFFVWSm7tmsms9b5a0uTmAxtUOpNwyD6m/kFR5I5KIpkOlkwMh3NHaTHmVE1yUnKey3YaI/UB9mEPiyehGGZoFVP+n7V5rGEzGgVpJ6suIkSGeTmRUv85oVzl6BMVTdgkMdhgoPxJ6jrQvvoDJ2ayv7m+oHndGcfmE4lz/on7BjVoK/nllSNrntsiALPRFC2DNdBYiEPZQqipQu37VVoZ+PKBaCoIGW+2ICwkQ6Oz5TFGE8NomaYFbeQQEzpypF074NCKKP9kyZMA2xHVYD/zLMJ4zonDlg7uCXAdgTt11pQ3btSsGXXYv8zXFwoB7ivfCPJpHNrVM/iY7PplgP2eys9uF3CrbNsdVM47jj5cidlW5qGZLl7WDI1wtV2+PLmNmMGculXI5/v3nmiuUhN+LKW6z+YxiYoVfhCM6f9L1H5EtKhnpeRmB6bbz49SIQ13AEoProYvi5tVODJ6lYjm8bLOBVO/BPx2PjbaYS9En0eNYt/24m3ESINk0sAx+XcuHeGFBZLjVYIPvA468ZeS0xA08ysIUm2UjQrmEvT4WMPzoojf/TOFBU1d+Yjy0zGp6UerveBvqszsXpezuxcCD87FHtRZz+jP6vY4ZnG3NOLNJ9NL2YyOeJGiYd2QVodwydOtdgVH7o3Z5UT3rRWcS9z59FXRsUv4AjruP/gDvs9tnftMlPGtOW2dm59a3+YDmMQWiZ4Gh4HXc46DR3VkxgjJToYOnwRGmvqKWHjQGXVagSVxp5xGQ3doS0p8bOQa3KQ9b+M+TGM9fDb3gQC5KUjIrgCFC3TxVqp3+O0kOhss/oDSo+KBFcuiySzr6zsP07VMOa9k/fhkJl/Y71z7CwSTeu9iCEO6F1y/BgwvJE7A8Lx5ChYVZaBC/DN9mv9nuv9AfX7x0K32/2DMRSOnQAITX/v+XoQiPZ3hkWfatsAlFiU7S70rBvTOSAwWJ+sQuf6ys1p+7L7Fvp8ahNXt0v96LUyQZQQjAztpm2/YPja9Axuyw0tucLFVNrjXwMOyE5QU4+7uMVZ60G1MH4ggXAPRa38+tO8UIh9USMnl8OnWYbYnY+WNpMQe5/BdyxHgDvlKO3gXdobSI7ViZO0KjwtqQeFSZQ+aYvV4UGD+GBTrGRZig8znLoZAoFeLTiq9dDUIK2D7PFK3b3tYE5YKWL6O3U4Z37gP+aoTvqppwD1aJE1EwL9XhgUCBR50/bMLQd4IMYqNxSDQAixpULZfyNGbgV+9xus5DQ+skQ34x+i+zUvt83LB/EOeuzRsW+etk5PH7AkWd9YmKDAnY3lbQ9KrLZ+WMMMhpM6G/E7qioUeDgNudMxTSvrJBU3pC30i3VDD/aug7Ea0Qnzpj6AsXdDNpdq8/UdIIlDKNsMj4A5KYThtCeFz0o4KYyMIYrN6mf2ruOP08kZwWFettv53hkzpY+t5v6EXsTqIO1Jge9GR9XgNIeqcDqm4cSueGKtG0nHXaeigl0KvFKoaKOPUwVceGFU5oWVaofV3a7G5vfx9kCfuoRRLi/L3GBcFWGTI8Cn4+TPlqOZ4AAHCRuDcbw5AG232sNXQXkYe0TeM8QphW1z2Fuw/uuOxqt5xV8w1uz48f11mw0qOzWbnXDWoju2byc+TelApwYEhCxjsF62PSLCJkHGrm1LC2dUoGa7VsK2kYydy9vtNBN3x8RGUQIh3F9LaPJhC8ZFg0Zf0L3mtMdaj+SMfrbZn/qnW8KkC6hcfOjulLUpUOoQvon1kcBHsLXvxS8JmDi8ja7nQR69SaM6HEexOhqCeQwXYVPyoIkiqHG585mv8isRb0iWiVeqt2MqyJyqnIF8N/5vQg5dM1V9c2VgpSreGPe2DW1gTJBxoVMMGxWInHhhArPLjB/2VK+gCFYFY33YCSU7Uewctx793sDpb3dnZtR97Wv6UaJZFU6+71GODmXQXXtWcjCnX8msRqaoNvFRv4/srUyqXf5pAZM937E+Ud6282htDj6+iIraYLb4j52cqRHrJHgSvERbnfEbqzid97jU4IfjgYs3pFRuSNMfqFeM+xt+b0mvnMFA3i8zC3Gl54fJBfW3YvhyQf3kYpCidcAMr8YgugHmIZLj3uk04331QBRfb7FYcYtqUnBcqy/m3loTXBkzdyEVnCd8nZzzgNKMDuyb4RYyJpqNMUKrcwR0k2cFcGRBfkqsBulZurhOYz1vfwn7Zh/tSvs9JWBTeB/466rFftpmV75X22PIWEScZ83b0pVF3jxgOrTNf7FYYzGRGnvDBsIcgQPtzdvqR+VTe7xXs70pF+/zakLJWy3dslj7vGHRBz4rL+rGNrZwMU5Nks9H6OTPBFMQJj5sYOfRCPyVzt3TjReTGxILITnqORYaeALTjRiYNvoXae6atpIHn5RI5iOtnrBmLLB7x6ytrRwkU99SUgOYso61S2j3djbK+y5IYCFnPqDnQHqmOF9qOCre6AZF1ApWLFRx9VXHWJylkdd3xM3NhcGs79upHIh+D880I7stErMY8//XsXYnhUbZJLup7PZkTmDXUhrCcL3n26SBzpMIe5ts4SmP7dJeiorKviP2kw185Qhbdotih+K+wmTDZgWeSsZHdydgimLpm6XkZVyeMrovgVjofxqD2fjGqRygbzxaPQ51dILWvuyVxrS85+8r+pY4JknB2rGhrCL9AnXPwH8NNAp9Z8QUB4edhdAJJ9l3VmQSMrIO6xxrj8p9Y8tPVElGCn2D7MHj1LKE9V2O34KqpIXN0iVh6OW5YCDcmIPiIEkYiPA0RlkS5+PX/GjHmWnqbkQ1M6T+Ikmhp0xqTCa4Q88p9QF1fg9RmCGN5SVHJpwVJdhu7Jo9GFwVVbOxT2Gz4o/FRNPB6FOLVtv9Xnlr/MvF8CqAM099Uu9tklE1+ay1ol1rlyICl2dKfdKoQ2R1IIC6z7MqR51oKETIAv0KAzfq6p+bXSNM0K4xV7GnF1UfNYw2rkR7t3j5+V44WvM03eG/htEPJ73Z8rgMhJMxt67cyFeQXhEBJvgp5fU671fwecDCAWz0u3v/az5Vcz3MXF6L43TJCyTrjujnxTP3iIWpZN5NYecr1lcxyYHDa7xCk78NMtMpcolkUr49+ki11Tb55sCb4BjyXYFh2jx4xJwWcGj6a1v0PKWGHtkQieUsPj7rxJu51c+Voq8WAFJNogijS6wyvlti1XU+PSlyp33MPjJZv70qbrxiVUvi5BWBR7Zs7lgtunN4Hhn9z4az/e6phhG34HRzctB6ecTMbPqTyidlR8ri8tbU9lLZdBVKDLXgZMJC1jcmKcgASHFNCglX+4H9z4bxnhK3UgxQAd5SZJk9Xxuw6kHlRHwRaEXkKG0u9NBA6jvK88VuqyePxlBYUveRRe0nkAIvgVe91qXa7Pv6LTJRgxTM+uwYpgG01vfwp96yXKLK60yOH3VBGOsxiRnQD7bj0aoddNFVxPz1KhvfQRBvh7Rc/ambpYZm7n676HeNoFUy5oG4msljIccmA80mmLYNRDWQjBlgwfZwoxy9rGdifCPLIpAcOWSHIuOPWCkflQzPH77EQiiHsOaceOEalDqywI0wTZM8jpfaAKA2HYE10IvFazymzU8N18gutbypUUL19wzlUOCX/fdW5pyCOeTx59hFp429q+RytJuWw1Zlp3bY0MVmieLVfR3hovFM7B2Pr1nRmofdof0CIC4Mi/KR46Ix82eIkQ0E4AVbLRMcZmdE1/w5tW4FcWoyWAwOdraI4ONpjIUAFE+Ym3qE+1qpmGQd0YxHY8JxY2RbsKJ/HvaS0QV4vSADlcoxzkhOhSbxt+OjcEa6X8yBbtS8rujqaUWZhjuzKOoBmAosmNosvqDDaIL59rnW9BD4zcp/Qrx+MVoOSsAl3lmI42POPi5LmPz+bEBLGNqxRfdNE8edPYROcKbbgGhCKHx1Dq+Sx5NVhceCL9qPIMkCVxlZ5rY1jeyMzJqz8+9kzRkdhpKwOeVxzEaB2HNxQZCkT7SliMkPSYDWbkuWBYM3p+M+YDX+9hp7nkC0n9edkQDU+IoUSZHQt40x3KEFTA4Rm4HMDeQsFSXPMl+s0mId72iNE0q+brauSHCtTjIY4xKgS3oF8Y/cGbiMED4qEkVo6nY4fLH7W1EJ+j/WYcE5TWLgzfKY8NROpPkUCxQBNDk1I3u9M0ApauLMwWjgwovxgs1p4zS+IYmz8PqT0xnDQSv3sA9eEEQe0OKxbd7T7fvPcpItl//BgbHlrR8C7eEQ6tQJ2kOw4+McE/iKRgYkH5Xf9xYej8fz3FBIOeIoG6U7h0EhHNBwa6pkDFwR8B/UcJQDpANZJ61wuaaGfDXKtzKQrjdk6d6+vjnlBlu3jzU8cyroNehJD2LvhlEFNksD4sb9nb29YklaY9lRZ4RaaZxObDK68NiNBIKGdYx/i/2q2mXBu4yUyJvNQAXI7aiysauQvkAudcCMw7iuaWWJiModtaZv6KHSAkZyHyPNFm2ATraPPsp+zcXX5f6TjoN2ZDRC6fhCSRcaRhqiX9b3iN/GUXrh91/bZfXxX4DKNGC/kt9j1ScNFz0+r6FNwizVIWba0FlztxiioJva87s+VLMlRSsgATYm4Bs0blh7n5Rhjtv3l977Dnk5cOab4RgijU7a0ZIsradQv0cYeCtP2s74A6snOZW5pzKlupXu2dp3cQtcxRiplliH2NdjLW5LKGn+OwU/PNGG9wklAZHPGzcVygNQlr3NOEx4muJWJ3T7Tsby+Q99W1NyEXcQhFiVQlHxvGL10EjnOG1EJvZOylcMlcBnNLOTHcNXdPsXvP0WWnUYkZILC868fbxf/7m40TAfn6/V7Rr8rg/M77p2PYSJyd0J3e3esWWaETpWarL/aSPQxifB/aRA3hxXNrOPrxwTipHk2PzMXIn/3W8Q60rwYdwAOeNEY7FWlzGophqaQmduxClHovwd/0Om/3Fz8MqNkCKLh8q25ZV/YhRy8/I64B/6jJ4U2zTGES46qx9V9muqRib5h0psP9yXZzSFltGxQlkjbWyI5etbIfYkK0GkWNlyjldMCgnEfGL00ugjyyS+6L88qSuiFDsD3xBuIMM8/idPK8kvLkKlCVTanL/aw2rtcbh6Tk+5Sa+iXqooq9grvXTm3Gz5buPdRDy8/RjEHaTa2Cb0T0bHbUTyJDs+RyC9I2eT3gd8dhzQmCH6oSyXOpUKQFxYFFZ/YwXa78XcQv5n+Bwa4L4IdxeYEW5g6tATDhJuq8RwUhIGQaK8tTrKdzgSa4XV0KdGNP+zpRmv1FwwVOO8E5Ms276Id2vhtVGzFi4xi5qjOdrkLOQcMmylZNFmxy2IC6bsrwiP1ZhuPqMBEgjdT09GGgW/HmsXMlqbigDDCuTLwapxymJh50rN54kqpfGZwfV1TaQJl7GPvWUTwme50NOKf7ZPO5gZmgiJm51RLL6+NqZeRvHgzUkgaQNeHhi4QcC7uEhDQ22X00sTeVu3yOdOTUsUDIp1pP0zshbU0pXwv3nnoSrT6GgJ/d7BljZMiFm5xuL2u0oVf72IY+v4t2/v7X8jEm83s5A6g7WBKO7OCFsPoh1/2fJhiVIt1W85pD0pLS+bcWdm4ZRQyKaYBxQ5NYm0wxENiSqSjL08puFLZj/udMTov0NihXVtBQOw/EICYtETRG6tcB8nO3Ruy0M9KonocS6vrd+F8FMpNmh+IuiSqk2Z3zoXczHnskKFiWRxpGeZdGsfDlWYl7X+7vf6X7CNdE58jOMcJ++5XLlobGPM0+56IlwngyZh0TAEB8bffPiuHzX4/3vgngZrGg31bLbggeoj4ZNS5vu7FG7CRkUA4YWbDEoVjoUvOtiwHRTfclKxC8uTjSF0+VM0b3Ilzhw2WXKGLZmcgJb0yGeEB+okp5dtnqu8t7YI5xjFBKzKHF5QhQN9f9VC053ayXJuGqB4K8PF4MJonJkOSF443C5+O7hCBLADMCn9ftgdWAf0B3M28fr++LU7JuJMSJCJt+2s0C2T+4rnFdemPG4rRM9G7Y9v2Syzeftr56pAGmp5v8nPcJjRdodqgBuMJ4BlCevY4E1ppTGDVslYPkgr51OX36FHLqTAlxJ8VP3PswPKuTv3KiKxcae3NBW3jfSjm+oGGp4ppAr3ZMnz/npgr7eo2i+hah1FgDQ+AR7TavbMur5S8UWdgYK0EMdfhHayvHGqeD6c2qn6XEDvGjIyoaQboK97tkl0+867yPHifVrCc2pPvTEMAdhORR+N//8gEl9yypM8I3bIEM637sERAmsgYtKJ/BfcXKrGwAZQTkz2pAsZW1r2u7Vg9AOCMTh5Uj+3iauuTGYHFePyEsHMRoU/7Tgun2041gQ/WPU9xpCN5mZL8Hg0UhTqN2vg0qBXzwHvUEIAUrNlY5pRVHexvdaftJuA+5i84FVoTL8K4bx2zDTdU+i0LbuMPRMDeB1NcbBuLijMTRNHX7v4e+WvWv3ln5jjNfunke86vdXIPPIh6Q8kFDpDCbgpkaaR8sTTl4M6/owOWFRyzYnu81es9vK4YS/xdVRP8Qz5YLU0e2HDN+d2HwsKTGISR8TEXTKeOuoX3jNc5LzeHvCKdK7xMkGFsYrwRXXn0n6o4eKThuQeHek2Mzdojnk6e9QeYzYOXUaEnIgcPxLQeTuvd5LxlRTWch8t7rTC372eXNXOKCfBQOYdGqxPejRWWVpwjQtEerRmhWsldS0PQPY7rkBxlAuMAlENElkUdkT2DpzsgflVxO7XBc2UU/bc+PE7Jt4kPV+u9ujU4eC9ySccXynBK6l09QN47GWlerjGnwhMeMIpHXK5FBoD82yywJRtOmfdE0o/vIouAYqqulckQqXjJlvjLgVb5BGPH7ZfN40O5s2VMwizMwNM/DxQGkGZzYHGLSQRg0kLvu6Srl5tiHu8bvE/rhIpQJJGCAiBBF4lkSPNOkO7khajEelLgHuWylAstiuxDa4u2J3KHDsNMZk8ef8Z9t3NireQfDQx1b83iXI9Fs5fowzMBTlcznHrNdW1J5aFd+8LrKpOHUVFD+YaJJRjn9NT/OxPbPSTpiVdJZp2Z/mzMySd9BsFvBvSFreUyI9Pk41BFeQ+gTbSFSLRk+yIbvzVBy8mGpZYsp6eWOZbQEoYD+amtZWF+qJHyJkbQjnGYDBgLRxdIqtWurO7XA2nSeCbID5r9IUR9GuOOxPGY5REjekfyi/BWHnRepMUu79/Pj8sYln94dKez3OS79k1qTNWyDd+V8Tiy4hG6BUWpErVCaVmOEHAoP6wXEgzn/pgdrRqIXctw2hZr+l2MN3NE7Xw6hBqC73s47w/l+i77ulA57yewvGuToN0iJd/052Ei9CD/u6nXmtIbfhusqk6txnH2begJVy4M7ARlnDtzu7IpkkswXvfLmdOQCYnFK1G5gSjEebM3J9E6zmTqgZfKU7XDT2V+j6oPADJfEfSg51FSQhiALr6wuex/ZcNYE6OeCI2r+NBJ4tMZF8fmkBAa+gt5juJwSAdR7V62WQP1CImXvDnJT1ENoAph62rKWGYF65rj1Kk4tt/pejLk2eUEqRiqaTxsSDn1SqyZdaFMnkDND841JsOOZ2/ddRPatqdrJ0M1H/ssDh6+N8HBfHeq+YsGPwuvVf7o6dcKOqPuLjrBZsK4SGxV93HxcaZb7OuFQLNik+K2x2btJul4NSAi/HLGhHwuu4QEZn3uy3voX/YpK75bQCTywVPBs6UxhNqi4uiau7QgjI3pbwBU0pd5wlsW7tpyqhI3lDKByas4SWY5qB1u+mATy+OjH7/XQbKUUQH71XRPxTNQsjzi65+2JfPEPPCio26YpXdMF4NpgISxHTtV7Ar/u4r9308/r5rZ7mAGdpFvAVUSzYfxLW7LXifQ41xfxQhc9Q8XCiMyvLy1AMm7nADPdaa6/UNqii/A2W1ToGuvNeGyl5r2X5ZrfIAUcEe80BR2fhgy0jm2qDgbiMmCHbjhsdOAVXTjDid36Vv9R4JodlNvalbRR5GZnj6Uu/Ci6WtFlmUsnfNu/vn5qJp9zt27Rdot1sMYUpw515YbzEZBjUZ5Xhjpy2ssZTGd/Ze2VgMyS9/avU6zCVvhYNBajtCova+Duey/zWCylLHFPvuagDt4mE8a7he5qyjGwW8dQjE4kcJovEE+oIBPzCpiRjjvuHHBxlKcT/Sr58nq4yiOjJjcUZIG46ix7j/WZ7OpU7C4Ji83U8RlKUB3xzCTYqT+iczNpsyeyED9KYFZoiUlXtLXnxbuOcHLU0LD/1YLqu9PDrDMotTu+81FRXiFJUrEhKECXzCOBBBOyFiHLF3w1I6bfjFq/VLWggh3M462N4QJvi6AIFYcSNeRhGmW7HUMVuxFs2cz8V0i6hliZ6UW+K/aVLPM+A6EkmbVQvNityEPI6rJ15ZXDwduWUPsDWl3XC+FEX+i+3+nBjeJjH4i1WGmO1jtIf4L3CdXDwzTDB6sdrxfoQ5BM/ShWDnkFpEYLdrBhxLFjH5eLX13l2vjWHYdpesUyhJ1WaewBW7hd/I/Q3fo8+KeKTyJyCDhI3D3ewNHf8qgawBlei/xIV/ePih0jQNkPjaNLb3oNac3HkKdLtzmxTRcyl/g3/x4RGlBZDIzHUgMdXdoN+EYQtPtqjqHygSnsNe27TXmuvzLOcYA6y39Y4s993w+mmi2mRjhot07uL8mbstm83SeHi9Dg3PTkxR+BS+2L3tzQZJF2vj1898U1TZxLpm4SBNklXf9FZuuEl3/Wi8uKJvR0zgiVEuWKu5Q0AP8EJxQ1W6jP7JXsSw3DSyXHhaOhp8dHqF9sFGQtzhs1swiJ6IYytgkyneq1sNBNtBEnlDpz8Xx2MUrbJ0r9N5Gj1oBtdmg13EOfEyTckuHPnt+gq8TPfrjhCw4Gj450wgnJFz36X/khvRLrTcvaC1E5i9K916XYhQX7tkvG30CsBwZFTdi+q2LcLrTQVhFTSB7+WHIDF5ym9X6jZxEH9B3dnPMQGSVrFyCiGdMZGnfCiRAESseQZPGAYEJuJ5fw56fg4/Q7s7T2jR1ZLNQugonp5bG1FgTS7QeJcE4IiFYWGEIR3RkjR6qm/HaqREoJ0G1Yt88Xa5eKUGhCHxb5gWU1CAe9sw6W6gD+zyBhhKYBs860WqCwoar9vqbIFNwImcaeEPluhDcbu0ETOtfl/pmx8RQnnnYUzxxmPMrCfth+wuTeza6GjA24BfG3vpZ4vuxJxUhxET6jVkiCyAF0Ec5qQoe7tqinzcrqIsVXWMp8HSDKk7u+RcNS7bKTX4xVP6TWw3DGxX8X/J22iHrvuC1V+3CfS4Nt+9P7aRXUCSLXng0aOsU/JL99XOLV8YefViVT3ZfhtFe86i54kFIe0G/lZzyY+YVX+Ua+ANqywFpmeFEjYv3tGsRdHs3M+aBNO3XRO32+8Tv91/uJmzvX+zttA4gmiuza8hbF4hrA7jKVcBEpCWQ2JdngklBadf/EBuO7dD+vf1sZKydbRqV1eI1fZ2R+gIxiXj3x4KyuNXGDXIShCHT49lpuK6LkGjmRrGKjvoL2YfkaGtlDs3g2LCiZynRijveTqRLTf4WIB/KvRql0q81Cb7C3U8UJx7O0At9WKMhrDIpdHKRV28TE7g08h50lWBTwSdUyO+5lz/QGFUrUfryTHGPBv516G8dwLSOnadRf4ac85+7Gzwt5OaDAbGLoO/t9SSXSZK8tdtXET9DGGECxzA8tg4pgxeDdSoGIotYV11wOwk/nAtmYWbxUXJt8v6Eh/jpXpZbAM/yn7Pa8oWIUP8P3W4ShTH3nr3fr3b6GUrslAJDdgDYBIOW6BhydL+VoMbQpIUxnsLlZoZAklueeHX0JvQMt3a+oVGyGlIK4P7tLA+H5IJC+U9CRraP/5y+a+ZSiQsA2wqElPJCShvXgLBCDba5v+0rlsWsP/TeLkGq/w0JeXrZzgjC5QBIHSZFEXbasYa6gceRLpBgILjE/EWJ2vqcbzUN8QZC83LBRoSBZ8PRPa/bD7QDVsME8OJ84wdoP6DL4rkLJxmYdbSra6WbSJ3dmF9rZXc4ohMUMl4lb4Hi2ZYpCly8inI0bKcQvwZIXyCQE28xbWkrQVvsF/mGYfQtfsF48siuN/lTYyRXbGltiN++SelHvwMMk5+ANDu/Vbkd84FdkNIBIJgvkb1CcGs+uq5cTJyRodw08zYiHEJBsS2cGXj9lZOY/J/2q4sD/6zG6EGn/qcTxMbHvt2ZwnQbHpRYs90j4y1DIrlZ4hi39NTn1Ee5G33yHIlAViuY74T6iLPOMnIP4riLBPCrH+4m08wvLIWj2okLmKRrzsNJNxk47lrLCGspR72xrOlo4eg6vbSGegJc0GoRTs6w8jn33enb3pr04eQQscVDvOIQ99vR3PltlyYU+SUgBzqVA2cYFUVHPkN61DcvY+ct3eoyBWy4hGtXjbE7JwfP+E5SUueajSPdOySOc7kxnHPO7D4CCl6ntdEPzEU1LgoPEBIs/JH60JQGL+s0uL9c4hWDs8lFt3wHi5u4YnwSVU9+NJDV/Zg/08XwGzTet+VRSwDyF3lGVms76caFETCrvl1LtdnFp+i0Q1+CS1u8evUNp0Eqjq5Nux3PwLDVHJTklQ1e0lx58F9T6I7nLDfWWQi79eyJs+NnjXDuaLAbek52eoOhV0G/dlmL79gTbJ7MkanRjn74j89lUoJ7LCrLiXyY12N1oTUvBksQzP+QvbcicbaM639e5ub8qTi2LfxLN1BzeI2D6F3crZi3QaCUtBHeUaWJZrvV2EYwi9RaHie0OXeBGwyjSExCc8iHJWr3aFpMcnouJeWZ472yWmLeWANq+7Ng7jbkgAVk6XRBmug1uiplFP+9J1aXMffWk94X6Kg/wBJo26u518jEfnmQtMvbY7RBWh7P/4cXg351qCt1Ggy1zKNkAyuUerrXXgYn5ZN/UbsaI4iflI8+/Uz55usQa/h3dPVOJkOnb6waJDrBoQWnGq59mmTrigLuIUmD4WWKxsDoLK24hMXR2EeE0KpJ08Uae0lCEHYVCtMnQtivYu2x5lIMOKpbPHujZzwUSM5jx3EP9Tqqixg1QbYQ4z7900/9vI0lM8zUcs41eY/I/Jr+WIaPSdBVw2Tk+WaBlXOAU9/SimAJasc8ZIW0SK8LhkkcU1UM6WEUP3p/4ZH9YI+D5tlPArlN3L4MLIOyvk2lTjHdBRoG3mpKzem6IUttL5ThDcD9L1rEXIrGPwbOdliWOfmJYtUWp7xf3g9xv+TFIipABci8EfnQwjkPoHPwt51TlJO8qXHkINMYDEph/lwOhENA/wI0MjjFWmW11dIjgWM463w+N0pHEvGbZ/mxTe1HfosznQcsLVmc/Qfklu+Y3ghUiPBkIHMwj9TM/T7pamhe9xr+6FjqIr8lkeYP7lzMruejztPp2TX1Lzf2DO35Nwez1URWNluMXlnrlojijd3cmXYY1UnvGrGrcvF69/+DFtIEQ9FFZc6HBBxb6aO+lX4orOBvKcrgpT3DS0c9DfWW171Lv5LvhbwxNPg/YLGdarIyM50k1Ojwyv9SUSFAWnL7gK0rvQJzhclOeF+CTijAGSAMX/3pwb0/9BU+Ts+AKDZFx3K/og0pN6dPUbFKEj4csyqAc4QBhln95kWt7+r1E7SI1HXbf2AvzVK5jf+7ZtN7Gxx7bVqj8K8ADFm+42igFGG7vauFLz6rSy4fxcJXrrkOGmfoJUrjjwfaJ+jWJze2FFQb0Mk02tOxQ6EtgpYFCJ7HikikYOX3nIMcwb1lYkpV8q6Ts1lIEQq1iHSyyhy8JKXS75pfibbi0hsiS+uDZqTErOETxzbz97QjiOjUcden6vx9+0EI0R/yDSLWQxgSjO7PEukiNJbaoFwsMilCQjmccfaqFhxgfDmRzuSzUDivYjaapEfl1TDuuRw8eRmADgZVNdG+1EF+zVkc5ykwEazXmWLmQEQS5GlrqZk4Vud1BcWbQbBI9FdtMdnw4NSJdQK+I1kg8J5NeBOLFP9rmaHCDJEFbFtF9cFUll0EKF/JgITfnwR1L8GmYwM37RClt238WfYjnyx/Iy/AYrthThzY5AsvPYzkEwy+8H6yTEiWT7qnJzyfD9z5BuxjZnqH/5R53aNTqT2WpaNv1RVl47xr4Z+/bl2magUWKSYLGOHoWhHbV7nh8lqUayL/C4oi9bwkzdzAEcWFJKe6zHUSyMb0zqHKsC4QLjDITTesrpdyaCfpO61pB3DK3KzCyt+Q2VHTU0ArUTYoCJTaZJexda22LnlB55FEN0gCzK8uJ0c4l+ovD6b6zjzaGRmOsbNCkSlPfZ7O3L9N5JYCLUFFHZUJfYtVTGuv+0KXOxwSBiEv4tiSF/MhHrGo8L5IH+ViW1+/mxZka+ZSDA9Xq2+5ekKKT9DS24FumxQhh6LU/ZxVNf+gYf5GNXZ9DRajD46MXQUeemnb+wwNIIoNOyEdqu6Gfx4uDS1CyWzC7HIpvlzRGUxax6F8P9d9Pz0q5sJJJqEWtLnXqb3pSZLFoHD+Pd95Aad0YjMsRhXpi9Dvrt3kQnEcJbq41duFglQfS6nH5fyAmBiV588LW+hqG4LkEBVR6AIaSQNQ6B57hmfnCSWvV5ALpeiq4BvgR4auxpt6wH7Rhi/boaPPE3NUm3gCMiw1UhpX63QkLAX6RA0NCO+xs5UWdXGLDDo8UCirAqg2jYz7a54/QSUyMO8NdX6oc9BMs4l6lud7Mi/Y25LQtOVWoNGwrT09K+FgwifbrDiUGj+cQkEZ1r/SVKTxoFBHuGPR2BkPAt7GM6+PuOXnQK9XDqCbJ4e4JPMdvjUZOrDfNjIktRO8Ggwz2sMKMkrNVuAMGdVG4Ss0P8yeUWgK166fShnUAVp1DmkeBmeOX4qfEGIxU5ZFoT1p8O7DAs9aAXgTLZo9QVxh7xXcs6VWTVBThwvOP3iWw0TwHLUwVjuVo7hbARWqtxzh7MI/P15D3YmRs7rF4Bp+BWsUhnsu8VLkFhKrUcqM6Rwlm4WNxO/eA+PSoXzTIO8kVmXxeTnitEhKCBj3Cl54jG/XjyWrG6YEdzht2rDUaHzJ/tvdnkfiVubg/VWVFo2pEqu0vS1O1pv22HZ8hr60+a6n8ptuN9zubLNiGKNGz04r9g1BDySqnSSkdW7WgveXR3ukIbUiyCwVP9hDzDaUIAcTlPV1zBEJujwsPefhs1XHNjcpwnBG6cETKPliLlC06Jm0/XRrMFrOBLsvy6UVEIIuXpHiWOw2DtNRLMcWS1Qdyko/KYOCE35iibwGwepTx03mFIewpABFdLOMzHUitdpKQIJPVJOGwxQIauTG6CAYaZoFeCX6jh9quVhseu1IfOu/WOfmw7Z9hdjQI3ftfgMJt4aWZwwmhZgQMYYPCU78I8aA/7E5Jb2Z6ch83gjyzhft6pIgoHI/XO8T//uRN8vQ+/ptZLL3qmRwI2x1QTLIx1Xd8mONbOXXmV8TfPGbM0YnX42CxFZCG699otZ/mHDay6U+HpPdlWzNLowzu5BBWD8Zv8FLJepoO00XA8nEzK00K+olvC3H44D0krVQJOnv59PpwevjFnsq3ZChzHfb5yilxQMTAMmf+G4JecA7/bGg980on5RwtQsf4V5vKKpGqbJIOyAlTv6SluLMFsyVclpXgRWB906N9mD575nQ1taOGWIFDgbsWP4zouySPicQIu3gl1hRIry2xo7qOSq998BSx5ssClHeS6iNQU0fUkVJlsRqihkCCiDQvgFlIA5qOhxJ3kHjqg610mDVpfAmCzcoTmdoiQrDwmd2WKTFO5ugBEZrzNSvZTiBqXEZ/4ot5XSfgybg1kAyUTpRCpEfuWs1n9dhHY9U1qbeOeFt+DMi/zfikrIvA1Ov+IxLR/qRbJ2vTJMC60WB9aDXE/JrFn7MjLvFu/XXcU+8Q1iRmXFgdgR2CoTeRozyz/4qPjBbTMMAxPn9LPviMoQR9b1b/gGdXe0y7PCJxqnddlvRB120XYmiLocaldjtXhYlnBFOR1djYZwXxtVw5Cnx0huQ2WHmm0b5IKHDVem+b8D2/hBHD+EVBF9nR3mJkQ4rQsGLJlR2LsSTXLDjRgykJDp5FFHiaPEcglR1TVnv0+0QJY3SQmicZ1R7W6J36hD8tMHkmKQ7dTL7hMzW9182WGlZ5xbX0XwnHhDGqW7WqoJSmuLcHxDNGtbfHpOpqPEoqd/+cOiprkiEStH4YBrN8KgSH22A1CF5JEA66TfECI6SBe2mHtjiP078gCjZalS4EeIAQFxT4aJ4NmTa/4i9ORSZZYhBMALJM7Z8ClXuCDTpXTUIzLgFIpMryvAQ/YGQlcwbC46aDTEoE91LwgkzM8Vw9E/yHDG7UTPBNSVInrFCvbb3IJue/DxCT3J/4i0/7ghCCRmrD84qnKcdofroO3RbIiP82ay49j22p4F+N3cqxOeqpomvkWJwcWoG/CPs/fibfGWPXE6tSUVb7rzYwsFE800Wt7TAt7UHoM6VkEeex8EcviiC/PY1LjBBE63mRWFs5z9pzRv4gCRjD5+9Ih97Qv8biPHyMusuQanw1+z82iPk3EMpVEyHKJddyYNqze1vRVPj0IBeoJEbPZhAg9kBHtDNrF45U/bmoqECusYxicrcD2LFP9pS6WsxqIbWuk01JoaGiE2AF7rpYDBoVnPtbGfs8fzEl3bdlQbq0wggU1OmCVhve8dPe5S38GQJMkfY+kCxoZoiAJUrbE2rx1HstxIXW49CyHgUOB0goEtprRd+euPMT0uUBuF4jMr8NpcqpP9dyLuMPPhpB1KFuMC4wlArlxBcH6n8cT/dQ5rTQX5di/nj1R55Nk9drzZTQxajUEakFNJpX+CtbO0Z7Taasj4N4WGFsQreJR+xboywEeMgufl4QCspDCOkDxD34WYHJKuhlktzywhuVzigSpvtzVUPR+XPzmM9fw0DGZdVybbW00qHLRZfG8tpt35pvERumnbygCZNehmKL8gY9rkqtY++WvIeSPH8CVK6zJIY7Z39ZCYgqfyjws07/UawdpVZswl5XmHL2BRq8Z4KJXeZTZdr/6hQ+zd++WBjC6Es+0ubqUcnlG7mM8yuydM55Oq4iRZPe7ecEaSsmQKj2/W/bz+VM9kkH5piCqteHWiBeA3L6ADHMuPZvcBTONekHm91neKhVkjNcFYdXKZuIWQakoKEikiX9a8XW2+MWQEkj0kYZfFYPBDPKrfsGtUDbSSy2yA+jze7BUUCrvdWRQeUkJoGM0FqmlByb9X/t+bsWjb8VTZbr6CBSFTGrk9gdumqoVBy7MlKN+2WH7GuXkZ5vpFNvrIEqPq61cW3P3pjddVg4wY3g7FiD9U2t3urwmafGLQplKn+iHFbYM9+/ufwwXmzvqC2KTk+QdvTKmh1fC8dWFNE28kgFoGJcGQprc+HlMIFamG0trJChzqjQz38+LGNI3XA3lxZ0MnWoSaow+j452bkHsshs5MnaBA1YJIbDXywewsqYAly7wDbD1sjrC3z0jcp0rrvhxdMTx9c2Dw7vHzYxOGbkZlBV73SzFLB7eEHVTVzAQzLcyCCiSKuW3oQjaPG9fmrwEX8+itI6AeewIFL4CYYdyW3eT4xyl796WfDD/M0LxXxTm27b8vdcskQ0Get2e+dQyaZFlXrF5FH5nXgPVdk+6Y/9YmSJaizU4SgnEMNBOjRah+vtrKA/rO5wTtiU/Yfo6TO2rCKcwOqmHscosub/i6AGSofh7ahMk/QbMQWohNBawiU71E69QCCYy0b+CjnC6x7zSWHmD8ts+wpB7tMqK9UwLyduH4trrHI78C+E7MV32uwjm8ZHnazwKPPRNauMSFTF98sIDq9zsN4uHKVa5ifBCiaR9mAYgFHoNvP0IpsRogNIe5As4n4ZibEg9StVY1VMInypaA1o+RqKUG0xp+DKu20c6Vmol4TP9wnex8k+zh4jyqOj8O9AsvbvTIMEFKTioJBXKVELMTwPoWuTXiz550nUh9o+LzNN4ttLp93yAqy8/KDdr3MBCxQX00uiPe1sdaiBKU63g97kIMGSCh1XQ/uroXBsYYstJ+CaFEAewPX5EKdD6t/WRe/rZJIPlxUF/xXncTSdL5j8z/4QOAHQCqPXwqB22w/DP529VPZM/xSkMn1t4ACSUgCBgzOmkzivuUm2K6KB3EikuUE3PUM5+V3537/vxcVIdyp4LgOOIvC6W2uZ8OB/XlwfjmwdlfMIp1wsJezQWYIiGWY1WqQLn5CEoB+TD4MKPXxbhWmnHRb5zzXZI/UYs2kFIUihKLTRfmuQVoQ60rmAri4Zc8qbq2VRtLgZyK5PHeiWK4TdbQqhBnZvXCRHNOTb1YyXnfFHEG9Vzd9ypjjESM/ye9J8/1cAvPDUvsOczHkhW4JfBOMBimENQ6yXpF05kqK61W8HOLvSxj7/hLyuY8/0XLQRxRndHCJHfBQji4Y01fucHwmhD66aI37tjO8bIUz2vW6TGEookmZQZ2aJDlo76kVFter6tcL9EFuiYjUr53Bzn4Fwsm9SHbtq5/Z//3VC5lmrsTrFmZ0zzsQcxLL2tuNR+qHfx+GgT5d5jc07OZg5tj89M+p78mq37yZCrnA1CslRwVEQrPNfydwKVDlkwBKCAtGj3Q9URcjTnvr9sYeYzM+FFvOcy+VPh8CgfP68FUnNtLjomp2uejVmM03J7AFIaiNulfHG0DeN+GyQGu9nTdOmIF8TxtVjkkRR2r0v+pGb0bjHTmlRkhlG8ZROp6ijBN5GhiSLc8TMea4qA9JKQ7Zuw/9Awe/bjUqBBIqt8rGCDmRN3/B4yjnIRlgermy4xJgwPjNVlPIH3BRLCvZH8wg/nDQZVws4ibLqZDPWTi0C/w88uXKqMxaizHJboubPmk3vD3j8A4MwSxwv4/GvLlmlFf9bdxckB2OicKt9F7HvOyUvcbdcGSqM3frslKog6yxcEWsUh1d5f+lf5yTdUBrz2K441u/wZtPuuZtpWciZH4MKNUMhTFRP+H8TndyxFOzBHnboe5B9zptOvnzNjamBV/1bSNR9HEomF1k+C1C/cnUGvPjQzgkpZ/OZkuy53yIe+PemEniqrJnBRZOwD8FsdJcEhv+uFLeDM733p/zCm3CKR6bYeBSAe1x/to2oiC1mdz9Wj5SVUr304sVgTGSNBv5TuNEx/py32pSvoxJ/PyI7yNEaJhduQkpzAKuX7zO1Cwgqs1BV0ofH/lOYpzmDI4mgxDgZuhxQNrdJ/vd7K5Gdn97cm+0zDiO6rj4/nFNWAC9kBs1rLRUNeqIIMSiGahwYc3ILGeRCxmxx1IgWsFlAfctev5UR+gXyhUBkthmj7KbHJG0KUcFbhvonYrr4wmEQzxOIjniMYRo71P16RZ+uhJ80unL49YBcA7uSU4ng5YrvfSf8KllHNdsYTkbxe9WAL5i52JE4o2+IOdMjqHL8UdoWyHOqWCt3W34q8on/adzZBmRRblQMrq6aq+zCmtgHFc3yzij2SL5sJwEP2rZzJ6ExGMo8HpbgTQzTQMNwSXFkJTzeiogEe4g1VJ5Dw3ydfgPCf7SaXcMeFqNFCGP02Wyhbyi4eZlYez/VNIIDDAjG08GxiqsZIJG/IjOz05rmE1ejaVdeRPTPmLlDMlFQ16lbBTe+VOUeaH9cp/b7UqCjvxXCUVMpKZmTjVqtWJNqQWPhWrdWJfwOpxpKL53taVa0lA3VxzA7QX/1hhX0od0OzHFGo/RKrKMN1ezmEGHegaiKVSKi4xVPhZ0L1vRCdgggZIEUu2s0QYp3DCct4N7OPUbEff6jIuC+G0aqW0CIIgzalMW3ryBVIXIbN+QQQRE5T07CAW5O9R57j1fWytwRFZn4/isY/+WmigMxVQcPw626hEXE3HFVEUdozoQ+PEc1YnmDig02GZLNzhL52kn8WqOgpM82xweVVubvVtiPnQdMWLiKUcuNPMInNFL764tya3Qpr5/AFzd3SsVGiHj7P7mwLn9eCufOCRdJAHiu+wbon1LwSTyouoocGXy327x2gewk+Bl3dhhkC8eZq/m1vIO8E+7B1+IpW19ERoH9msGeDZzmuugPF3UTb+JH9qwU/lilNP+yBOp7ImJI4Fd0TLNN2oCRHvq1TBi1QBCDFP97jJNhYnQED6xl0Q3zTtiwfvWMGcj/bGAo+iZC0R/39OmRrV8mEYofv6HhGntFkTVW0+Tkw0KZ54C+FxL3fk1+BHRbCvedDhxA+7L2dIm7zRH0aev7LbUfrJM3oS3h5+s/neLsKxPrzRPgfeomxySMUeIn+Ykz1/YMKDLN0l4UrsfJdJEe5c0DqkwOG9GJtSrGgekM4FRxOjf6wMuyYPDCIgAv6fRdu3NkhJmlPA5b5Onnf45YfkYe3erfBATLOF65ETrvjmyXaJDubzVLVKC0FcItLSrBlEuwBbsvLS2Sl9aBOdJDjdaOtzK9gieDc2dx93S+tSGMtOwahENb9TohsxcGEbDiJwZq+wsDThw5QwluXO8fbK6pf/SY7LwzD5cr4F1UDvDYwGQtqFJvDmF+egzcQ5NbEu/AO4aqkPK5v1A57symnwTSnJ15tVnYD1yAPaOdm5aDI7eZ6KlsPTGRKXNbLB48u9IsFcxRIpfnhp1KtUQ1TXj3GSXpIjbn1qk8+zCrvQQvLAP2MnijTl6WGkDgKUFjDMDIE5iSfVK10ajKOCMWZbp6NoD6OIBV8vx/sLLtFN50/XhFZbxu9emI+ZU+1It3/ixDGjzDaM/EnAdeAFvCps9itwwfYVLJrUIJswhbvSBnPsqbKNnjxhjqNQ2aUwCSAYadUOHmZimiiEdlUDsoJ86oJTzHtEZP1/xQ6jfS6+5zqZOE1ZSa/ZEFFHy/uwj0elpVNzgELYFudN/Atqerc2oQj+ZRf9fyoTxUdSbdK4nBjlVa7SVXUcOJn1CU8uneeYH0/RGAncNJ+9ALJZEd7F7VMGz8ej88u+ElmZkf/q5DolVapIwl2IzuRVSKTkp5cmSHJo+fRszNBLO1QAoFuuG2DiCp1OagRtJDunr4dTHxNB2YLYWPUJuMcw+ba9rvl+H9fcJefuv1ysursfJ2kU9vMSQArtWyLC3DCyrByXD9fNiDU/6+j/z4rFq90c289HRTMdydjfdGwnuxwLXBQLY1PU+ZIPL+dw/7oFzzGuLj8iVRgAc63TT7p6dyNrEhQGmCYmTpTTGa3zwhyG11OHcXpKn5th7fdgKB8o40LgyvgJ+051xpOvWXDCG7YrEIL/W98V1U8ow3/c/t5AJpLoC90dWfn8m9luJnpotOgdpvoomRjy/qWTIsnJloH0feDL6xSPxiNxY2lR53Bdm8epqoo//0gbF8b1tH8i8Ffu0bsCr89mghIadSOGh6GPDajcEz4jl7DfrSl6K5e5i+n8d48tV9yeb8FipgQVGudJaIYftKZIB4pkdlpqaGP/6sWCpwOMgPOrpE51JkFSzfNmkdmkfZiEvWlb47a1qkUqW1D0ESA4ruqm9KYgnyP6bUOkN3U2PWZRLNaeYvAvbuzAb0UEaixfO0l7DAGIwsHf1AusOei54gGOw8edL0gj815zqgwOZne5zAYrWjldY+rFrPx7c6kfM0uu7XVmI1FPK7XiTqtwwSOGBfyfAkuXRQQ3vw1rm4YiYm6E2X0rd0Vv2QjO1QYJnqshcAMpTYz87GjBym43Foi3VMSwWHe7iWZrHYIz98yf/0IYbOU7jLf6Uzj6EGqkcOVj0hhRB7Jts0N1yuRr3TKNshxO2N0rlo663Roz0wHOC8w5aohsEc+yEyGOEUBjkVTzZ+YnUFp48gqZuBlx04JiS3g5kePrAdQPInF/OWmbFn/5/s51pmaSh7OMozhMoC7XXSf9ezenfh6jcbVtGg8NXyP+6g1E6e+hiL+XcTTl71+2EnJrk5TW054apLZWQ+QHSrCeji0q68xx6V0IICkHCNaeba9l2/Rv7xPJZe+wJSdcRO9jEIf+H4FPx5X4tE/e8v9KFiaWJtDp+hCEn/6TUvL9gpfB6mMHKz9VAg7rZ2vAeRAzxI91DAE7DqIY1R2FyK7sk3RnqkMF37Ibo+iazmBRB30yhWYnxh5YJ+VnCGZW/RDIciKzEbyVHZSlFwakpq/X7yRphnxnMbfEAtRo1vXIqV1T3KF1ky/ErCYSxKAc1cQBIcvpS/YqgWIg8wPHVWpGY8IvsI+0RCKfAlKwHJAYAuDInhvsW9xdzUHxrD0hF2r+/ROETOWRgmp5FTQ1880q29DjiN9/ZWG7yaLWY+uCUDneWXkvnq3dYggpXE4Om5JY/9dUYkoEsAeM5YNyeW2arnw7vue6cNpNWHFcymLGlrhbrcyk9XKKpHSujTdMJo5q62A91wzqgLg6C0o8z4rOiARzyNu7HtsMs+jk+wT9Zay6qIODRyR2XUQdkKAOpPR3S7gZTUhBqdRoWFLcXLBh6Fk/7cOwXU3kHMTVfDYsCxmsYtrNM5htI5P7lZCfmD+TeKv2saTZ4u2NiRUxOZey2dqHdE5xiVw5xuJL7uUBiJun8P1FYjE6WF8L0fHm8hamU4SKruvVRolUXCosfQ7TtY/IDWkjZctKAlqhi+9CXbAEzlee4feXwhp5GdCRMnEdh70OSutH1AFUjJ1Tc0rGTFgusouRoAnitkY8g+3NiPSj/sqB1Vjk+KL6zAJIxv1GMYRUgwJI5ZiHwlWLJTCF2yBYoBEe445hcaj00iCqRgyYovqVjtN3QYbfubR18HXY7gyRbcxAuS56+VDy05IX64/rBqgQ7e6EdBB9dNR1QJsqSZg2VXpS5M47LpqvJONaKthqcOy9oy+leXNaiz84586X97LWbOl3MCtVLSRJgDpEQLQSBv4AeDeC9UkVaZDsp2q/vn7JOXsIczDPYLowlGyACBT66E5GOIZJI0m2znngvGflgM0Osf5dJWr8WgYPuZEdVR0bDFlNYhyIrd9YYWK/znimzTKfQ/FETwymltM/eXivcvmkwAlSfurhSjrdbC6u90M2dirLnNsA+4vrHex/V6b4talpiSBqAKSvifZohR/OoL414fGYaxvUggX21DJvgvZtLJ9lQq8qOBVl2pqftYYBPiBIr35C+GH9Ba5d8EiFqwzCcfvgoqDLrHOqhrkQ1mvPbvBHc0kAYnN1hroDLaZXYdo+IJ6i3i1rMuvEqDYWoLbpkzPt3gHfP1aRvIf5J2mD1hEX5kpIh+ZlbksnmDcLTvRIZg8wKmKfyuoFlqq4+tjurXkgt/+Glmv5NKqe86yS18R8L3kAUzZFYedf7+U0Euc0wi5jVrfphy0sYfatCYjz9orhx6PS+UJUD3wrfawcyL6JikQK+u3IqdLrZA2tvh4xRZ4akVYhBEutO0NDVjKZhzJI5yahCHbO1GurA7V1bE1JOYMcrTfvAogEVMX6jE8wNyHqbAQsWeFuAUp6qQw9n656Fchkei/USc6nVYlcqsVR5LEyRZ1bDXjAnIqX03PXNEKK6AnqokxxWSfL8BSPajs+Bdy0xwgOswXS+NTuQkPCYrfJB1M+x7pjGVMoopAS2a+btomLFXuCHFx4LvLjELIlT81stGvZcqwuVyFjuJ73lAuFCl+dnZQ0Ru+qeIFPxKw/bWJr6ICyYSWTa49/w1rRyeTWGWaCi0eF+f5sSJov6bxIuBU73sp+TZm56MVVMVrojKXmMMg2fd2ixxK7x48qjXUOurQiWxFqMmQzWXO6WKdZPh2NRgF4u+qz9AIuIGW4wX2r/LCCJ3HqcNGcs+BxtunNFqxa0ucDN89DFOEZRXDmcE7iLMDjJ6WHLxSsc3uBSZIOlKBJzaY06qZpfTpk/Ndlr+jdveAchpZL8GirB+qwVbVQv8VgLZw5kMqcHTOsEISN6Vwdveuf2mU43h4MdtZYxLcDC6IISNhRO+zUbqckU2ykqevpqZusCwxPWjJgYSkE5LiCtaLV8UCnLA6VyWqDVys13evHavIhrNnWPUq3Cn7ws3FnvnFg2aRjSFt9YHtdiZtJP72JZcIuBxWjEL0M9R0gtrTKpKl9pCcvC6B9usLBh3x2y5kFfRnqTyNmM7bS0ESfK1IPv1Jo38Cb3zYWWckIKws2KzRGJnLOOqVADnZmJC8KoUYGLqHr/7Sn/THikK5kdak8y6PTsjd6rkX81G7ogXdSSkKN5CxmhFtGVLCssaku1LFRYVgMAYAEDjA4q3Q56cQMTI7n78XR/yCSl66rKZzseXcipejLMcSBLb4IhwoVm+LQx206EGHM26Oft4cwUas1YD+V8kLBim6zSVXA4bUp7kPvR5mEAfR5SIE8xckCzkUE6VL6KkEBiITFoPNhVCBYGJ2B3Ulzeo1D5Qj9EBjhZ75Y9zWnwDMPvzdTH0DeadfOJPY3dwhGqr1SX9jwq3lXL1YaNeqWCMq0io6MkZYYC/kSZOyqdXsYGdIOrgIwnVtLcHLkWs+DmXIcJn+padRGnxNqi2XKVRyWmQxYsIPS3ACP3rBhOoiLoR5b2j4jwjvqy7Tnf4iWZtLApHVEudkrBcNqiOmpI8nLdihdKPVe5b2vLSBnuezlVZqkesYHJzO7uqzwDwjm8kG4cFLKNZmzreKy4QgO2S9XHk/NyGpScqwXXZT8OjMr7eRJKPzdUjtXcVA4dOpOrmsEX5vPbBG845evtz0+G2hTqP8go5NphCZdwUjBMRN9L+NUzf1d2QJERq8PTv0c+aZB9OUQ8n9XAjq2U+FKsHu8yUa1vBjQIWTBsfcvX0r5cQju/gapJSiUQ1MDNQkwaHzmLH7vJo+gd/RORPGVuNetAWXxKBKBSfAxYC61J15pirw5jhq6ViI0MUsbyZZHxaRgXBYeM94OzBZ9ft/8G2xI6ytxahXSKp2iXi9ZFL3A09Slzqh9KH3PLBjUXXEDT4KkiiI8/j172734VMiskMeGSPRjB5rVn4X396qn9Go9jadOGsnBqpaoGc9HWTaMvKzjk0oAVAee2hOiIn+CzPTx+QeR6Wo5n6mo7cP8d7bsntpS36AtAwXqe+nnZyQ3De31VeiOGqZKFGuCEBQB29l/d0CpyrPLcrUU57jewbwQxU8+LovJAQohNzPDsE/VU3mrzXkvWyH5PvP+zooc+n8aBjYVLRwsg8xtvMTQOCIXNH1XTqaUF+dFkOkjiPh/9VvNi9onkM8rJcoXvcprp41VBEJfeE/Ti90wVP2sQYkW8irhAzuIH0hU47m6L0WsNSSR0hRDwacYFf8ClxX50GjQej7p4WWwjMxFO+fUTN5V1WwxvXZ+u+Oc3rMplFN9gzue3ylJNjrvVce44G2dYpXOV7fKszZ228ReVFwuMBndLl8aisHr2xYCjXIhQDb7lOtPOHtoXzgBLC4IRA6XsLj5EkD62KS/admZ5vgVcN6PvKz1wS3KcFOFT8dQT5eycRgPtEC3D2wsda66a0i/XP6oTJzNf/FQL4rTIeLXQmpb1W5E8T6OLMv34tR8lvAwXy31hv4fH+zKn0WpwycMMzjOOH8xT0lL60AkbZgFwakcntk5ugj6b2AWJjrLiH56MtvirsfsSbu4DdoHlAe4Z9WfmiDAGuFKptkJ+6Ahmvef6HT5VGepf4iEnLCX0ipqGmTb8V7aE/j2erKQrGU1LIS5gQ3luyIizNY0abSQ30WOqqBjOtQc8D6JFTZOG4EnGkOoXO63EKCkrDijdVMkOJBgI0XcQeJu5cLKsb1hHhVcLKxeTx2rzg4wt/izX2/Z0CuVpNtB2i6Du7Ey12DsHxKMpZPvOQEMzTQqPMon26ePtAznnYgZNFsVkjceEAHCSqfJnGlHoD5D/iQixXa2jRSVnBzKHos+ztxFXORgyW79l3OEe3UArfj7XyocUqUQCZaubolABXf5iChuEyPvMW+zCheFiHLTEUQ2awWYKI5zZJPdo1TtRnk8KMHhISWQdRBST2DceZZl6SFSFYYnL0kwCjGSWwNl60ZAuAlFnBB4mn3yq6ggi1tszssPzRZrNxDhHLBmWhHl7Ls4f5Fopv1d7wnZIxulkApuUiAeZUFJ8DiPSXs79wtqTLYOFDuYdUzyVSRTh3Pb2uwHNqOrJAmW3deZmW3Hq9uAYtWZAiI/8FO1lTcDF3/nEgB7I5oTCoAM6DJdPnQdzznNFcOVqZjL+nQrDSxMoRhDBNGLH3bv3kDm3+3uJSmFYabCSsidIf3AvvW7/sfQgA8/DUgAwvh1z118ainRewIGMnFkxm8TF9FxhEHZSG46132n9T+bHskbP8VsiSY9qQpneHp/D9kQxxs2K94zFLcZEm0c7pRvqokKkLWWAIGt4RmmW6aZXMvNnY5IFnbzYEiPpcC53VJpE9WLrQx6Cx1RAq+GcW8xY+s0ZwsFCNiJ2A2Hxr9Dm43rX9x1CCqGUlq4bH4PE8mix4JX918MO6j7fb/g5SdrMhNpDMaNM8mhEOJNoKR+UxvHwWdqFaz50N31zgZAAcl800VagOOzG2o6JXGkMSECkEVAy33J9ZyJSJBfo90q2sH3yVu3RLCrbTXf+2POp5dIMrGU1grHNJNUyLqP3fxW7qsRSnO4LMWl2EDIFPs99zInqFVB8bKGl9k7SV7QRHLrUAxDAvR0hV9qUX5ueublUhvP8mnA92OuCypCupYtB1jQXvbJbF8sUhzKQvb/Z12xwp++BcdkP6DfxCHp88y4LOZMOwwumX/ww134bPsvpNrWnEEs1NvvUhg7eKnixDTERslmISmUjFwTfh1MTDQdW4WsMWfcAoz3i2u//Eng22D6JSY3OCKP4Mt0mpB6T3qnnei6OUVBicQnmBCeH7/F8xCIcxenU/jnt/h+mTR1DfddghRPU0uV97tht0KXirvA41NtEXMIT3ztC1mNVH7y3N09US3qhXcAl22O25N1p2C3SU0vYVxgFA/UUsinXfvg7wpeVL8GTU97Vmg0nqO6ynDN9gm0Ly5LV6LkVhbUzzXfEin3P27jKAHNftUWKUXNBULwA1AkLnI3riJEwSCA/w4arRj8n0a7lPEeS6AQe6BmyljtD93qJDch+ErO6OEi2KsqaBuf70dBCYXfqJrURMiHZyJ6Syk3UjdQ1Zt48JFGkRK+kR+Uiv6/pVnBrbWSX0tyJTsZcctuNrvGPJ2huCsbgA29INdmU9i9SfEwB8f5MCRILqrS2MGuxK9/tC2ckJpDGyT7WPrSGzLiMD/Zyfio9RGgSx5STJCIFV9nUVA=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3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CHARTIMAGE" val="FILL"/>
  <p:tag name="MEKKO" val="MekkoChart"/>
  <p:tag name="MEKKOSAVED" val="1"/>
  <p:tag name="MEKKOEXCEL6" val="False"/>
  <p:tag name="MEKKOEXCEL7" val="False"/>
  <p:tag name="MEKKOEXCEL8" val="False"/>
  <p:tag name="MEKKOXML1" val="4HooU0THZk28POP9trq+pbTvvzd/gcV8t56cq85kb3NDTsUhojRA0EsgEHHMH7oYP1SYpn09ysXVivguJdhTvfyVMsBLTGvcX7WPTor/CmWiWcfk2RmY+GE6Q6T90sFUz2dD7pS103gZfJ6l4USC3jqtWOPR/ue0umjYEY9KlLthURXCUyUuZbmGDPUXB2idlVQc+R1c0j6vNnMaKvr/At3m6qQ6Cz6XYv/Z8sgBg+I5dE8Oq8aXpveyJ/UH/WhONIjHtmYq071OQilg6XTn9+EZImQjPgA5ThzJkclBvtmrOdiXeDKeawIOSKSfmaZkFSnWLb7L3fLhyIu9WFkBdroiS0XfeK+U1j4Im9HrlVBoRHrsngVxpuY3/yKXcm0pNSC9SZdBB3U3MHbAQeK96WClFzBvwxZsdPQXkP4/m/DuO0p38nBiKVzdKmKVV0NMqRMZqm13t51AYCvqbrRh43OwhqwOsDL1GflJKucTyc1/pjBQn4UWkAQzmKJvsC7u6dAZ9TBTmIv+32Up4xLTlufQlmJOQmLU0kD5ggdxCThXcavprO9lytW+WUMfb1pmrC5L6R4mndhbVBFoi23oY7pwGaoLrcEtAKuQYN1KWGNN8JluGnV3o7YgQqQOoCdHzoGEv0Lx0HR73t4B4QBW+ZSEkKHHP9gHV9cQAJ6RPY/dlxhS+Lcn0ayn/3hHi421Ih1rPgKDna2dQnQ51JYiI0Bx/cYi/pQnsUcDehj7Ktyszj/p193CO6kmfB5zaS2tOOajD8w/BjmonfOfHPUAwZOFQYOXvKtvTzq01OWkMa/c4ctywK7lNbsvNBcbT2C0HJCuZyKqF3x79yjEwEQEgE6eJOV1NqQ9PzAdSPTGtGxG9ApJyVObZeBBN6U01enfg63uBeyCR+NzfqwvQiB5SMqFgfzVJJ2y+AOftCGnfqrM7X9JPDVqxhlu98gDdT0+N4lZU2wvmlqh8uiXii7JfHP4LcPHqSBiNtm8oE7I5b3GiC8+rx5UxsESCUp+0t+ShIzEv3maBk90EBzbZg0Tgsgt0MvxeNHXdNNvvF5rUogPf9xroU8XVTkyph3RpV+P/2DI/RrBs1siwjhI0wh1jJhUogNG0j2o7zk42QYM9KA2/EovyNwc/aejimJ70BrIDqrJ/onFO7+x5Tmw9qq4laExNqVF2r6cLN6hOnUqAhvs7aguDZi67Gjbz/qk5XfuLdHHXKfOYkr9YciwIfta8NpEVijGH+rhz6MesSzAdLVAc7KpPTnU3WOQ9F98cawuawN+z8XTUGaiPUQivNzB+c6UVuRmgWurSOgV20HMs4ZzknEF4n4C/MqLzhyxSpYZv+ATUr34e8J2DefJMILsby4rWUPa2vZNLyzdIhmXIZLC2crV8mKUrmJNQbn0Dzp166s5uPs+3BZ6ut25xJs8tOOJHdg7YCWGki5WlVkuY3otjV4ZsIMGH5/cHIVDV1xKpC0Y4gUHtUCf8rlC1Wl/B0uvsMC9HJpwwAZocwJwMZX5X3/btt3nBHPeNBs9mnjqIeX7VmMnyEtKq9PitUJJe+K2s/cttTtBqH9InKN6ilO/6BO+4HArlyvH+Fvb6gskbARm+QMgs+/4S/Qbmn3OhUUUSQRVTuCgN/fp1PvNuc5mFcmyokf27PvGDjqrKcYonRUc46VqC8+02ttPTnQn7O4e0VCEM9w9FXtyzfknPIATVEeM207fczVh21nVYs+B6O4GmG0w/ArZ+/IVjJSzBkmT+rklEyy7FJ8DLMj9q0b3eF27ldvhGU5yxHY8tiJiFO8IOazAIy8X6GfY3fo7nh5mrd59VgNSbUPwyJU1eRJO+WWL/EcMF5CJa02iQ702xEiD/YgexdltW/JZMucD47OiqPJuRIv76iioM/QbJyg9GcrEMGcq3QCHCO3xKIX9vYBBBn50s2fDz+h2SgtNg/cVW04WibtfZKPO6TtnIVmeu8oX0Tev7MhQqHdVmdoNYgQNbcveDbiBYuDqq4FTRCueLFFUtWxZ389vGQlAyQxrtdRRvoV2W6SYttOoFXKSWLu6uBv6cIf0YQdyi6ih6eY7nlJcqzy0Nfmd72ZWBTK7SSgfgOW4b4qp24Zjb1fnXcvSTHrqHu2mZP78im/Ae5ARC1B3/hffBh/Ic3Qqr8B86j746288C3amQAAffR7RP8OS/B4OGNiBRfvcx2Hg9GwJtkiAOhoB9Tyrd3rTZl3ti2eZipvDeS+eKpFLEpw6HBhsB6OPdDeWWtR9Oii0Dzvm+TtPqKCtCduOwysNrDROlt9NBFPvACt9jSAroXt0CWlbFk+VCzDo8L3uFcNDPj7cDfJ6xaYfVtDDzXvUotwukDuzRzPBXrJll32+CNqjiLDgKyR9w2ntzs2+jprLHpYVysz1HtcCFRt6watkxKCxPrs/EqtTFvRyDSuxm8AfH4nTva2bxzKTeOJrbhjyN2p1Sd9B+tRzZzLy5CQIMO7g4WsNjm1oDob7/lQLRiHE1+Z6WTtZAFCEeurdl1P+UwZbAGPfEKlBnSUrRH27l17qlcjNeDZKIbr1uJ7m7mMFy/Y2QAOwNW7kR3EZGEeHIPpXhAF+0Xlpj5pba4C2Iw+4IlBYzPzjoxCkD6GrKblsrhGJcYBcmG+/qNclcjaCsJwo0R8iwGmtp6fozQI4XYEcqnW1cLA1cg60Izlq4cYmyRz3rEDWB8IjaGUrXav76+5EwPAG2eOr4TkEHwc0fuErbGugEAlAeTaMC1tWYWvwKy7EE+etV6wak5PWkX2mGUkNMg8Tfd+w+1nKb0dE9Y1g+GAsquVPOFHXmjhNpfA6uJRHIGG0otePH1rrOuhbt7QjWvh8cNRV/3NnZJCeCAKF7oPGWIODGGQm+LV9o5ZGK5PM99PmFvyweai2Xp0p9Agygo0lzFZCMgetStN2bq19CBdDBANgaQlycMuwBJfPf0Lc1+60NvW7x2eVh4CYpS7ip/C3HzCG31RTpLsy2KtV+qW2VMBsl4SHS4/VCdzWII7jUyBPorj8AvNHPYSF4/F5QTeHJetedOhYMTpfmbJa+fdPPMNwj0XF1TuMN/4yX4UAIW1aHLFP27lk7sKg2b4y6yk9ZKlVRXShpIVafVTYD15M2f1d8Rd/nJmMWs3vMFq8wiWdLcERVBKGh8FpiomftM4M9jL2RrA42UlNrNLgN/WXmoT84DktgokRmdEllKaUNBZ7k61D1mb6IMCCopwdg5IoMNu3X6zkQx5+fnwVsI1pvd52Tw/3w7g21yV6YGag4xGrqejI5QX1FjkO7MQAYbiA1f6a4Pv4z/K4k6WnwMhc7tyYPsbtrakjWVCcq9+rC+z1RRDhyhhmolX7BjS3croPHyBkRP6zkWm/ztqJmL7FaOA8bnQRnIm0kL+Jeh4mn8g1IbjPm6uU8WMGjn5XiwrkqDhNm/N+6TIBYB9urbXLOtGfjtH/L/z0GS/eHNF5BkjmNSxFapVmCx8+TPtjchQj7RRlt9rvFzVTEoYY7pOoEh8tVT7oRPSHJtnES8pxha+oQ3xhllS/vxcw46/DQ/9ozsIs9r4c3C9pLcpuCZAAL4unbd7LC9mcbdYnCPO6ci+MiO6R890XVHQLHdAJqT+pjbB/+qkSyO6OZoVceVwRw9IGAKrnKABunIlcPNJ8sEym1BarsQ4p0TqNRGUXsWN9M4434D8xYBplFbIusStJa1nuWeG3TL/J8yw6IQ7u8tJiRwuDGuLWGRBGtVyKua+gQMTBlideiFAY3HZMUDJuMoRbJvP0JZNEGTddL8JlN+c1L9hq4h+uzfepWpCqbLQ9IQxF2va13K5lg0Fg8ZEksJBnsSMye5KTfImxUOo0FSw3m9KPhq+LMW3SQs9N4riqiNk65CwmuM0fN2H/O5G+C9ZkBRcNMAPkbELZ1h6NriyFGamLMhynfPyO0v/szcu29crDdg1LtJf7ur2j6MetrLhKAcG+uO1snkefaXWoBm0oB8V/F8CwFmkkqu3veO+jGKiH//P0dsuqM3AJarSt3OAW2XiWYN/6LpJYcoXMcd6xWH7CKBbVYAuILN+vix+YodmrspwNj1fwKYSGv9kI8QqBtR3pN6r5WGHP6DFkkeeS2N5p769Ypf21/yVGre+/b0+PqKPrg3IW0Mjra5F7R9d3PqWK2zLM5s+xpVk7Je8hFX68yG62lya5Xgo9/QX1jMfuzTPd+WfdwtnXMxNMkwMLLa3c7OBWTeT9Lrr7g358RBWc7Cmnvv1aJDBQrx2v6hXPmemm6bjIfBavzHUz0g19bDqPijQ28Jq1CLe3eGH8ObeSlijZEFYNLEM2IqH9+p9OAUYF6c3/m2rYw0U4HMHpx53TcWKWDJm3rtIIkof3fH6DA9G4Us4ifNrVxYLGLzPG2rGh0P6c+3WSxk1RqCBfsBQJTFTpWoHyFvKn1Tj9pWhETtebWBCTpsMfz3nWlvQvf0MKphkjSTkP/PwwxKBc4VozmWV58FXIJVOYhlfKkfJHUzSEUKebJaLV/UF5RXSkZrpL+1Oa/d+UqSuKZl+sFSxutLGtcfg42N4v6X3B86PSODFlAMxo3WXwzC8NZ0Na0w4QQNGqYppxGTR81vPu4armKB3KVTuOdn0H1h/UNGIi84o2EaQN+up2vJu/H1e0Xnakp3xWerpEvcj4CXyBBDthhjnjr5znVdq6AbToHoh7MbbmXfzB84WDoL60PWfylznNk0ckA4+tPrLdQlhu4T8ALffyy78mG0dRKXKB0P40SR6dJZMSsix4MhfxDSHV7bx/DhF6F80WilXvl8ekX7jJ+yb2IOsZn3zr0FOcuLYLlaqGmjXgj/vQ8rPL4kd6VkO8KnY+Gu1h7Zi27d4RrvPRCZ7Iq3Oo/mY8KtceyUjOEhVnpzeSCxIw0VVyOTkLy2j5zeh7AuMqQjtgccfODrOLjA7+kA1TVmcZK4CDfboDLX/0DHXXLJ2KVFkHZihDfPEc+Ivin2rkEvL8+jRT/vBNODX21nqCCoYiRN5tpH4hcFoAV+8oBLGV8pMb0vwKK3D+UdgrKOgZu3jD+6/N60Em+qGDbX4EXujGuROCChWaBgzbMBJTiVvJggkBAxfyK+4wH96VbXn3QNOUR1KsVU1FKQE2V9oJz57BpSBzWp64AYfkn73Ge/0z1RNy7kqSkL9wIh63/p/xTV6uRGdur59NLwNRdYZLdZqL7HkI3YyzCqwniSnFakOQt9SH0bOknnyyM0iuKdcp3G4PBGe4YINu6EZKwQ2JX49J+9NncnqrObpj24e0DX1U2ktjzwd85Z7OK1Rt0GBGPyDRZU7nl0p27+HQB+fyXbO/kVFsvnmOJWt1ark6Pm3Fi5r0CuN1Vkcn54KlsZ4xFf5AO43GJDcmvb5pyDX40Ydb7uh5B5rkP8Ps+bWBxQC1jktgZlKsQe3ii/iLZ4IMYcJBvrAb7TAVW/QhifjVB2+u4qmZ2u80pxGM7SBxkd6RHUeLhuibO9xDc1zqWdf4XBpHL+jspFe1yEeMKoJ2nRoVNmfS/xfWh5jhCrY2uqZv/mCDLgZGIQtwpkJZMybd1X7j9A5oru35kU+oO5wT0YGgpYXEEZg6mScUaL9TUqVV7whLjMzMBC5x4oxQTEvDwT90qSFh9Kva/zeVEX3xB0jD/33CwwSOKm6pgSCwQWQnCjEe/cQF68d2BpGeKvScBViMWnc7ZLD8b8fQL49EenlUZYBN5pKt3c1nIkPGBJgTy2CXt+CIQz9sWBCuyG3GSCGHxTl4G3rM1RIL0vxGs4h/xSJsdJJz16njWCUeRwg4dBLnBcQK8UxFa4DV9QpwSTSP8re69tc6Ajx4QTAc2qngFx3EhefcAW9fZCo4Vx0EvLwS+tcfnG+5tRWR9SoGcOHWXfwgxtGR344uaV2ZAWygAPpNF0Ie5DYZjCqEiG8v0VudKA3LeEhuq5I9j8HtyeeRz3NVCPCU9fgEPNhVBjpCbGprYuvgAPYSnbdK9jyVqM18B6l3Kgm8wCN5id1qNh2bnakJk9JXiQ4ELd7+fKOiWnzGbSyIej1bRpPSqvtLBORTuk2th2saK7DTyYEJfV8879wtY52q2zBBb/dDZ2o9i3s5iOvkQlS1CDhSeJrrscDz1Jtv+V5ijxiosJ2zgdLnxmilk8f2MOR8rgqBkDKm6x/8BlzyOu72fd0fE+uF+FlLtpeNoZZCOtvQnbI2O3ByXscgb692p+qMcTRUW8WGoqjzSBUEf5vTxzLDv0rICx1SAWJiogRNAOpK6YWBmmgZqUfYOCpkS7BojQq1xWHC+V2gHbDPWRvaLHiSyl14zQDKwl72x3rlaY3adY9pYyE2S0dfnx9LzEx04MeIVFUXRbgKVP2KVVhJ/GNv4l+WiBrvrTRChgE26pfimV3FlFJ4j/Ajr0Op89npXymu/3tujYuUEZ7uIpZo58G+L0o0wKdng8+7omMiCcJ7AfXqtOLvL0cgPDQzZ7he2epf56Y6Hyi0ogxooWTeBbVxGAEKBEN/NUw1y3N67dHXVLC4kkgoDgHfsaRCrymdpBE1W1w/vuvqOJIb1g0SbksPbhGZC31/5Z7oZPzDGX/40UyL9+Ef1rS+TsSn9IStXUqpeDeLwSXoX6rKqZQCBFawVwv8PBScZywybqG76xbikAh4jNkOQkGogCyqozSoNNLAhmx7fKvJQtZin/JFMfjkvACFFKA5KrXuaNOvhtjy36jlw2sZN5g7FuzebNuIDlSPdFHTZsQuclG/LrZjI9HwlQMX2Kx8NQKce+VA5BfzPIMoUSx17EZ6CoKLF+19nQL0CocSDU/P686ZHRd0qWHeD8+UpVAy0sLmPEcjFelxO6nWrLV2AMayD+lbItGBZHYE5emIMw42BX6SlTr+hUxuN+mINqVW6Y6F1fgfHlEBCyxZdJBgd3Q1BWwvQChB4iPMm+MMpeYyZpIGYMODc/PKd/HvhBDs+TCisLZG8RtyRxF+hCGnKRXbaarkZIKEU4I2gMm/ft192nOIU4+5H0xeKtBSHV8UrroboQW+e3/6fczoZ71xFvP9u+26zVz/X4tseGZFTkB5Ml7PjNOKGIpaFIzc4Z4a/AmHFithuPq3ttKfd4EDrPjqwCPo8szsAeRBiB+N578YGcTI6pr0Z7hAjuVMZbr4wShz0E1Pp8l28x4OqLkrNOROX2Gxqw1YmmW6+mQK/BiggXNpeZmrO2+k3Qr5Y+hglD3qfJ3CLsNx08oMndSrfrhVu8CIPh5jszahc7SZXxpTj6/EeGw2VadOuZM9+Rnue030Go/1SGXDGddwMM79SBfXCe3/GqZGEnaqKEW6mPlvtr0AN8D5yBIX/wlCi8SsN/PRkGAd0+kr9VAsAAQfQmFmlBPRRvpuWcG3+wmDQYZZtjEIkz3MvXMTCohxQTfOpUcSm61kwGTB0UML7AS/tiI+sFUMOouFwmpOMhP6V9S3IF7ma371kr/mzCgoxDqlW+yy+h07XQass5QIPf4QJEb011uCOS3h69uHV+GZpRxEvS3BF5Y7Wi3zqtjRmjLrzj648NHtdAzWIF8/zfainjZQ3gE0RQcAqCyPrDFjb5UCgtx/BpO+W6N672hefKQC9Pa6xuWtkuH4NSQCLIqxA10AmqYqKpKdUENpQxBo/5XmI46JdB1wXgi8mzjbdjpTy6DZ3+jB3q/+eSd4i9QZQnQ/hLS20dG+2kUDpgQcGJzERc2PRg1WcxyDpVtp9XGZHmA3lyk7PzOYO9Z4T9yyJo/e8eglEgBMGUZrZskfVVd3RIqTFc25KZeHoVb19rcrgwfkfHUs/kjx9kjLzwMvssV2SzK23AU9D6FC0hse2KDLIkocxcTGNbyOCA8r/+8xPqsZuE1VeeXj1ANmFi2U33Ie3PeFI0veEXnvdrwJLVpeaM8UVD+qV6B2lb6qt1/aMqQ2lex6nAgEEWJ8uhpFLCsu5yuuSkuFt/SwmZhNi1pxCRN4nZ0ecEWMUNeV7Z5CS4Web+H5UgDf2PWsGBylFxSWOvgjAD3ahRK4UxeggK5PFpBohAbaNDYBBkSmUKfkXRsxAgIotXmdsF/svZSFtaXnivGVeOd9h4scoxvl+i9QjkWyG2ejEwey1cIJNYWY3aX7XQXfe/MSE3TFFLeNd8maA/WtdUwbEqN10Y98HV16vjoT33It3M1+XyskXtEfQcnUGtKUk1Zu68UMi8uNd8X0rVttOuTWhgxq4HMZ/pjWTcYt/jsss8dg7Q40y8kJyV8gHiYCimwyITYtQJ9Bmc/PoO3kwraSyztb927EYHmknVNo6VHQhfDhhduE37A0PS7UKEv9O1SwFKFVK5SBzpR00CPhc9lOg8bvdRSTu8Ry9b2Tr0iMTto651YKzlzL/EOVG44TOFJXuwrUPjmJcnuwga4AW4ZsPxugqcYUFl41iy3qFLiKDzZm8jjml3fOBksePPzFPh50loDGBUuNtUBA2tNAhVvLDcyTq0EbMrWoE7CtOYXsk614kRQ1GFxJfPfIWfl8W7GtYGQAsfOrwr6v7TlKwbme9id8El0pNaxaV4/y6Kdg41KJPZYRNedNqo/VwGMl17jHX87/Bi0IrHcNmDLjffO0cFzEc6PFHWAAIY6uciwge2zTOjP4IO+yLuj0vhUFtsMoWsJRK2uo3XWtCV2zex20lHWkBgq3Rd1lmhUo/V0MJdeYWhpP+H6f3GRSn6eWM3qJ7aGNyTNB1xxcjLrp9zJnfHiWXl1wVJiC85KvHhAqq5iYTyzIRlhPILyXlZPUzyh+oLYhj3fMell7qbe5ggDgk/96SDk8xegLo4nxajOG+UqMcd2C8Gzvjnhj4cGlj9j0lQAAPUqx0pwn+Eru+t166oWS0eTHFfWYTww+YO1QUY+Mx4eni5s5IJb2AIhFUJByKMYA4S7VlGdHPvLsu9IIONV3IBiwSjaIgtuLp1/7iI+aYt9nGT+d0mh+wfd9N3fYCIyX5cz9eI9VepB15QHA3ecFy++O4juodm+OLIAfnrAB1KD5uIvURxf4Kq6YZQjtqq/DxaXnrEuKED8M3KRfeOJ6at3QI8XL11Fexo0o6Rpfbj+VhQpqF1JEKvAm/lmJ7usOpMJwN7Ott1O6Iiysz9yvFzVY9gL2p2bdih3bJCN2mjMLdum9qFLat970n8Zt5PBuO1+HMGiO8hCY4Qu/omgYpRLmqs9hOhLiQvBXdFmfROXg2tMtL3YgjLiXQhkjmWOn1xpJsbF9LKCjpbEEf5q4cJycp4OztmNEB19O44Jancb6mG077oHgLyVf1Grm9ienDP4D3doXzP5eQGjxPs8mFHtLabNNrbSG7NCTvfcfNq/OmpuGUH2D35kS7bf7aEYUgiCmFAuH+KYMBdu635bRGIbV6Tbe2kcTrl3Y33OYG9jL6GZp6KB5pe7WWQ+iaqpWTFFFiD2r05XQinPOEA1xNsKdje8WsJ7y274xiMBRpJ1M+k5OoqVM2ZoomBY1waq59Px2OM/eGUohagSlrG4IYJLyy/G9DZw5zPSC2gY/64u75B2hHYMwwPMTjC/y0AI+R3XgHlt1NjNDneXsAs+XVkTjKIu3C/bLgdmD+gVzBU48suWr0XOL1HIYWrNU9Lxxhfk67JdhFYmB7VEzHvT24SrP+7kfNZ+Bvoq/qmQ/1oRgEvMz0eZKER56E6VByZa+iwzI9dpsAYZW/nIxUnmBuQ+MMWxm9QYiNtTFjx8+dvwpaSyoN2F7/ZkJfG6K55PmmmL+9qgD72dP2jrybjcB61ujnmq0TnSDPbSjxc+2PS4w44DV3rsTlfVObSB7DwaYU0tQmzTZLIjUICoRCPT8pbgIzlJao0wn4j0Pwmdewu+dZ0Qofn5kUgnwkZs4LBDBP2Z8PVIpy9FZJkQJRe3MT8VHlRgUr9oHMOabYzey6VRbHZWle92SakFUHNfi5JBSG7/HP2BivOlYNf81fGjKKJUI+l0OVKtx8yotzwneTao9cLY2z+pt2K8o/drTh1wtMLjGGyIgsF8gmw0/9WRMc16kZRcjh2+BC2oeYbLIV7JU/+cMqmpAGJg7/S/Fy7u78Gff5QSAeK5bjM1CwzKUZh4eYNggD/25KIIWN2b/FlpSPA9flxgwUwOV+rwJfhCKsRI0i5biixEA3NuNKdmmKInf9EZmSIJZIKSgGWjVFvy1wrdMNd1IjYw4g1nNG2Ug8j1RH65UPak0vl10j7WiLi3Dsxzg4W8YSoY9NPjB2WxF+r0FUjeNeiTPOXvmlhn5WxoKahrWkLjpNX6rk86xj9HelhdkCzmdBDH0oFgSyEhAn/dxaPTtG8uvz111KnmbctTAPGwy7AnsuHpX5E8UmmnnC7pv6h6Y/W7aXIcTwxwEgYqfT405NiK6OUd6nv7urD/tJ0hL7gn5BVq6KWgUz9L2nk5PRFHjt3Bq0a9oGmWb4ktUi2Q+htfl48ce2h/bhB7EbdVtGmARSr/gzWGqNLNbWyQpbmKuyyFIbojUMuVjWPvDEQRcVAbsYhqbSQRRqYFdGh/cLn1D3JAwnAqFcd17IFUrymcwrkYYJ5imKq+w/5twEtLgDQTPcUWGxwFZimpbyY4XafZA+dXeUnbGlIP3qnSxq1wJNaMM0vKfXrAW29yo1vSWq56KwhGodOKW8HzQ7sM/3j83l+xJSlrFdl2cNNOoOH4j5ft/MvulSKUyKSD92oElcfzlN/Oz20px8vk89HJV5zltDzsrBqB9EgyuGP3e9brvQ3Yfgv8J3izmk+irXZfVfOAxKR8TzBvcwFhGvKl9CjzFPwemTTK3NgKExTlg3UQA0brQ3E/ZWHQHBE4A8qraerOD71PS4iMKuZv639+dsnhbhpkKFHka0MwhBGYtoEVeZyvhxMiZMtzPQYvhcKs0NKGYsxFR3PFjD7ITXIgXqNqDOXohz9xdgVn62mn36U2tzgEYfqBr2Z81jBZ5ETnJjR5ERd2SHqL7YDFqCFubK17ZCi3tpTuq8/kEyfmw6tmIW8XQaQrQghhUy5I7BPc3ErbOeHkGxHsO9mdQCwBJ6MkOMwuk+oyBJGn/re6Zotuwg1mdUD6HxErT+4EqRBVn8IUwmW4/UqfKm6DmzDBzvZrduhcgK5+EEOwfBWWkOc+1weig/Ax+YibLRiBwwe41v0b54xNAB2RqvATHXrE4NoZ5UuO1fUEc0WSmdLXfLqcqmkh9aKPGtPeTnsNojGQWs0MpGI79CPjbDE2wqBqTh91mtWXAQL6CpHvjhTYJZ/eAXLJNA/y4/ls7C9fwf++LHrr1quRUFOsnvEVndIjud8SktSOhgvGFoXQjGQv/FDzgUpIWt1TBW7sVrgVByAPchMC5NAEbh+p9AVvTrZzODf26RucNg/JahUgYAS5+HAWrnV3vspxaLx7byJeC2oVZGFTHc4H1+7kot0myRaTd58EKf2/1yIWVe859sCP3dMo1HU5E91ftG9/Na3leqaOEZVOgFEQsw0ZNWH3j5ECSOLs+yhbX39T/YUoVnC7EsXWh6mmrPn++GEiBM5RwhA8PvWtoxYKvQaKA0qn9Uncl/5FgrBEWWbc/a3vdMc4YMKQ6LXb3vc0ymZzMS4ykElnRxncYrlT2BpfdpoO4jyCIcLsIdMks9550ohE+q9kL+uCUEzdeepSW5z6s00w6KkjEa7E6rL1L1n7BZOFX33pOE7IwWOwHYulAu+u7mndZQbhB6JK3d+hjej/ddKsKWm3zLZ/sdQqCtx0Po/5+KkRbXtVpJGvUOtXRmI+emsqvYkv8jH3+kmTlHPDpjKeU64aI1/raWBck1UyDiKgfpQTMZEsvm5hodxJEDNibwVdhWvACJ37fFVZ124CAoy6h9hyeZnP/UQpuONA815/Hct7b4FTDb4VRy3FG2zRT3pOWNuTe7j6MvyKuIzcp6Xs90Hj78lbJFR0gQC9QUi3a6Vq4cCBfhGpcmW69Of9Czj+GEdpKUsT1TcAp5foJT5sJXLYvCJkvyf3rFav+vazW+cGY720Buxr3N+u00uZFncQuta+L8IJDnpZqj5z+bBqnyRmGeuVDmE0eq4PjM98tNl+4w15WYgSdU5umaa8sFEFkMA6O40X4WTEW2js3P1QLRZsQwp9AQxoXXT7tN9ffCmVtVgNZjEufVn8ELGjOve9YM833P1X4t4H1K/GPFFF+hBzmvrgNInju0ZBDDJgfFmCKAKBfvOQsoOUWSumqKamsmIMEO8a1Ohb2UCwsT52vT0kBNRSLmq2Ze11El+bmf5NYcsFdpu4D3indaMuOR9Zn0r3EjSX60VAfng3u/xo44Ud2sYe7XByx+rtSIPA6loWD7nE8wQkM4frqTstMfPgGpid8ENi1k/0j//xQU70ZmrRlZQyasK7E1QNJJIqnrXLIGpsAgIZnRg9NdmXb1ftl8pAylGpT4pIR1zuQHpncqjwMmwpCkIfgSwFSKB3Q6gCv7wOzPq+lkKIk+ixWNI315TQ6CKCV18phGAuSpEQdHODDUIF1eC3uar1b8PoICGJVlbekie1AnxTxgH5CpjqeqxbPyx4JGPqo7fHmR2sT917vnpamsQK9ahOks21Q8dKjrnz+XYaBY+NaxRgkedS4M7XwXdGIdNJIRk+YaA+wlaIkXPnFshGfEF54hgSNDzLwuPT5eXiGO9tvqMDhwcV0VYVp92xvVY91Mob0mwEGIQf2laAFWduSn79YpgwPQD6Kb7sFrV+7aeEaIP+VTy1dqnLP3AwAaVDfkGsKnqyOZLg2phppfA4UdvRdADyOrWUdqKEQtWrckmflj0EyA5xDsPGoV36SwwvN2mtjwbP9Pyu1PNkrmhWSuXG1MNdsEoekzS2mUEswiPeHXehQFC7jJpoJ2WQZD6CRQPv+7hOgMumbWK/+LInQs4VzHjuUL6k0k+tpBkSmYwPvCAqOzanDuQG2wow0aOmiqBsXiNmc/POMYI4Tii/1ly8M/zBhFWW685npL/M+Ih+HEe+dBUZ4f/Sy4lhoT96ArjVBefXJgAKUXzysIJcyJwxohiTdt7i5FJ0f+lITJaxs4y1jpirI9updNZCaM4cT/XWZTaBbOPDET/oKvPraI/KpllXfN2VjpFQHDchHyehO9N0LjF6+HaimCpTo/TT9sSwP2Artd8xZPzgthNIz+ttwR6ZpolE4B3Uw7LZg7In/I9ty6v3kE+AnGDYxOPgIenStXr/RE3D1VBG2RKfhOlrR1XNm1Q0X6pAw+MkDvSppRjMqdTwCJ3B6on6Nvw0hD5RSQSBnKflFUQ3OSPupoQL12LsSeGcqm01c5Tclb6jyZg3bGfUYKCCqpvluJFu9tg2FPYGvjDRbfoMpEsDI290FToe17asPIQQF1+Dxgkmwz3noqAE48cxBhCqdErO29u+QTzKfB4zJr25J2zdXMyl5+SwKYiE8DvNpHUogQ+aLEhGle2wO0/nu/VWAOMZ2wy78SJ353Ne+kDSRbkrV28FO5HGZXmJvcoA3fQ8XpLdzdVoIPfomDFyWfqItdfHHZV5Aq2KdWbBAWi37KtgpgZCZSgVWU4fohEppM25ZRJEhSQf9b4w8WRP0++Y108hfjOmkKle6v+z2Yqy+TdbrgvV+/uOpw/y3aRA0mOxzA4a4lccZQpiYlWkv6aEhGyK+qDwak5rj4nSghyf3Fmpjb/LJGX4sYoaZBn02gE4besAStxgZ4bjrsrFquAfXi5Wut+4e4wM02w3RpO13wzsox5qXlMVzY/3NOXsT4/aVSMX5KS5b2+HP7+Pp6dqcxfiwUd2YckdT8gUW50Jt98CSu+oRDaQ/FCprjmsCoS3tdvyFm5GCutue7ZffD0WJznEZa17VLcwOb1prRd/wEs2Z0I8IYfgmK3k8JPY24/hp538XlwP7A3pJj7FJFFidxayB/RrHcMJ4HhM4vp2y/1MbQbCb3+CWlgBGzIEFbMnqjF9ihpucljDhb0+e6ItzAeO+U1w2PEMlaU+JjT2mRCihEX94i/NFOz/nrIUdx9QqFSxnA33qh76pwQw0kO/O6paHrZJ8ZYntda/M9pUHMzqHtCnGXFgZpE3tzVF4vTeaqVErKLOnsyPwh8kt2OLDkpI6YaL3o+RbCFjMJGj1orTkyE+S3KpBBzyYBvEH75Y0g5NebM1NXLIVHdx+N8WvAVLf7OXoyb6oqY5zS6S4lx4B3Zsvvu/ORRvqmPostSy/lNEYWB0Bg+mrzZm/LL78tBo6i9k+a1sulsHPAjDyrJWaUu2mibadMjRqEeGJLiJCSk7BqZNJrb+PSo9kfC/gBsP7oC99ezBu/+ELTfD/tqbeJlCZJK7idJ67FRcnrzFADBvIjlfdcVfRPtzBIc0Ncv/+CRPMFqzkhp8etYqoX5ytL7AyZUh0u+tkzBH+wgJ6xCfYH4FsLPPxikNXCAPI04txJ0VI6co2diN9xY+x5HFBgkbdkmknMsQvjodQMFpNev52++xUqpKzUNuW5wg03bZTvLpe/Xxy2n+MY1J14F7jvu/no30NiWoQSjLdfa+1mu2ZxlrV0yVEqr0NXLNId+GubJ+HAvbwewefbqXSMyY4KPm0tr3U+CVHfEW69f6bfMeQptxvSG9epkt1OfoJ+UzM3uMyJ6yH5dfOdMa21s8XFDyNaszcF9gAyoJ6m3Twm9aG4I8OMo73tz+JIW0pUqwNEepLM3FxAGR7mUVWoXyNUyUfQR+b1LbyH7CVdae1s9SqCBIfOPv50/vrQMa6vRYPey0JkmHSwlLmh/XXdUX0fxxEnWXnfOf3wHKK6il9Xl4xO0Ztv5VFrP72AW1YbDPN/W2k6UCAQIVI2wJBhV95ETmyAIOBBpBHjx30Uq1HeCH7Zet6nd2nDp48a7HTEIN+Ic7pkpVJHoRwn9ezjO/0YxYe7pFr2YZaDLdjhZ5c9XMHTED6BGI7pBDp0FUZn9f6E7DWTSWJplWOPAxO2hdlxk5QRyifvtCaHs6Sd39fTwVqD2FKHhFogwV+A+9BjHf0/h7USSCwmT48yaTAtA0JkVTcQ8LRBhMdNAkVr7HMnlEeN4UKOxGt7SCnbgGaBnBFp71ivHI8/ncHWOXki468EIOMzzZ0TROz7bmFG0KcF6xFGl2o7EDQkgJIAbU+neOXcHNOpyf2hciN+OzkUhZXXWWu/mtpgiCk4E6V2hrRiHygR1eMHyCLDWQANvHajCPPCupnWPhDLFDMb8i1jxR3pDchr0ep2BufxVNTh+gA0kLOE/4wcLsjOWu7zAVO7mrvG0O1ffzqlQEATvjkB5lnr8lxeImrqpM900Jgaty0zb7T9AMYSVVbjnxFlTSwHhTme2T0mdGxYsbYszIflq7HY7us6HGerkRhkVu2r0G+cIDAsuqpuwH+SoJwejZHpEsNH+BrSeOBusWHndPp6CjzaQAsMwxC2LXT3kzMJWp+GQZxD1ppYPkufth5K7rrfctiuQtPMHLwgiW2tH0yo7JCybQZJoc0+Up4SDAqOFGUWOqgK8AQUwhw2bmgpKJeUid6biFq/kehGv7rAUgRxF5CMgMFS8bvXCZtO8kMGGvFpTChGGq0fmUZO89pEt1sRBIJR2ZyK3fM3ZrJ7ODW4AcFjmGTftf5YRE7Vv6JiV/n2EZ9GVvhAWmLY5otMtqYzDpsHRrvCMVZKY9NNR6KFEUBcP3hLFULz3GfuiPGkJ3LX+s/DYdSeEoURnCf7BHpbqSMkREi7WccwWeY4+8MbT/DZRuwRU0kactEaSeIPGHO7xRVZBkWFb1n1z0vpWq91sgTIvyuFkH/PWOT2DqGDfnb7oj4clOm8dfptzNAhgA8G5bdO/ukfboj6XlSHVWocuTIzn3dLPFtQLHShhgTwjpelkzy0IEvWxD4KGmRPJMNcMoOwZ5494+yr2T+1iB6w8XgWhEMtsDKqJaso0WsKfDlfIsdnm84OLtYA6h9DIB5a1sI2F/bQgan7SLp1mqA5abQaJD4n3azcJR3rPt3+NTpBQGwTjTJSNXp44uaDAOZmILaHU9GQlUXhKM2P5etFi3wDavV+TNROtLikmKE9YFQ9FBDFJq2arD5mFYfbjic3ekDIIyPMTJ3IwuNX9ftc46FthuPEDsy+Nd+cP697TJNbPVGQigm92IlpYu8ZuvQAy+69/DMH6Sn7jvYbkNnXyr/g6/DHAtRQFSzZxc7X2vZrI7nK2pIquqH9itaKHaXpd7Eu4U3E6f2lmOSmkKAeuW7cf6ZyvLcY9oydwAdLcV0L71yC/7gjTdalaLIS54LOe9lBo/qDy6vSzpzfmqA82pV1mAQpnmMFH49T9xEjzL43WM+0X1iG5gfN98i5cbe2va9xcTZObqvbVtIlVJYJMdAwwIAIRJmEiYzTOd65oaCp02tO8GUY/AuDEgcNta6scbbXIygbWTtKliuQYzRpccjUqizCx5UGSvZ73vR+jwrt5kuHOhr+3BwjgLf91OS6tYcQPFcj/fEAFe/myJnhjsP9yhGyEI065PCKS6CWWIvvNfFLkebmqAC9Z+yP9ABv3eVLzvH4NS79qyAB+g/+ngTWz4M/Fj7vMqmhfwoeM7cjvkQcAwc2Sb7Lq/1Hj0Skjkr91vfSZ1/QuyT/BRf3W7qMXAkk0c+u0Nxq7HG/1aqXGcMZRT0+tnsoxu8Ry744HXv03nbE1bddcaIqUsfi2Bf4KrUUvVybXwFB2P8uoU+QyNZFFDXl55K865izb8p3gNlBUQmnMP/WZGHJUu90+B5hg/qHC9ATcNj0KiGwTSUDPjnGJpFKGw/SZIQ9OtOpLPhgkJD7609Rd2wkHo8QqP6e0NQyXFqkg5Y6qwIyDXKmu59YwexVoFFD3s7G8je8/48qgaJcOrpenbYFUn2kE8I3U4xxc3SUB6L9EpMWGqVNhXGVvmK9q0LcflUygORwy5nueXNaWI6u5Zq28DJvpAERerX3YSwsZrzXW1meJ92XdKRLSqL+VCNP/nSCEYOUE0uQWYMeMT9ds3PAa+45idVgY9n0q25I+w3QUTTM158Bonmiy41Kja1PSdlzvI2J/vDlunjp4Ifs69fcRRbU0SK97BW68AxM6iu0B3/I68A3sV6dAU+LY5efnfRXieGIGVLJQkN5zdPNjPMMW00mNhodNQUW0hLZCw4ufaVU7dhrPehxjPoVlgXWC8hkcELj1lll3MrY0SOFsmEVjJovLrLJxOhlR139kC2SGW4tOH2IKP/W+JDsbOK+Et9dAoxVWc1aDo85O/HXob80Jp4CZw1a65RGVXILry4LB8d1iJGzL5OtYmvfx7K9lNc5oinzpMLU4J0Fl4Af2bhtCzholFQ+6vfXY82mDrhU8ajQBpLPlINrrOmEg9pU6nnxCJ+xskyiZ+eX/LFXGD/LBAcoi2gbqPyAjEmSeYtODFr35UIgckwRRQv18q6+f4XIL9S46AMYwo2MsUZ/WMbalwmtFg023cF4QNU69Gk4IUAKW8YmMkFOzGW1/iIZNMIvf0L7u71CqGirCIkqz7W7eTufxo+tIIrxombvVR8zewhEp9zzrkE5Jy8G9lgwtktL0UqQTT9XjqJTfYD8Zoq1YQ/1gcLxZPZ8zBdAs2c607JuXWhj/wYcYfmGwo0fbVuEV987nipcaTTJn1JbSKFMh0YSokB173YR0XIga4fKqrL8BBwhg6AVQks94yDBCs+tjDRcxQBsV/7sHDhybTlSoCL2fTFxWZrB7gk5c7eNl3j63IaMmzu4aV+21mCPEDklh6yhv6rBA9XmB825tXseOQxdGHFz03xKf6dA6RbiI15Lm7u7vOHDKGfMZzESPcHi0Rchhlb+RkLQi4Nag9rssLImM8vntSoUMIOX1SxhpvFyxSrUoKoGOOe8H9+OaipMPdPUEv6RVd/un6CCRUUOHt7ySNeXOXKTuk7EHFHFykK6CKxjh0JPWQIZC96YT7AWlgsVMgPrZK8dePOlMMIXR3C+4lQi7NUfvo8sE0DTD2bvBEUmJthn/oq4Gsci88lSEdH+7nHyjFwv/6WLM8h3QYlxmZtFN4Mr64CFj5sarcKMUz0OC5PUuzpgo6aFvQz6aWXb6a8aQ7LEWFcUBP17+8YBiyP/q1v5gUZvVZKKnGLd8KUA5haoRfVeGOzWvKFHSge58mvYt+WPhr6xneFyGFpml3xHw/SfVxMIFu8BpXbh7e6uvchiRtJA9zEyRkR8e4KcnBLSP6/1EAnW3Pxg1YYrLtAORmsckSobPRZ8qkkEzrOXaKMJhpmCLHCt2XMRYabH6kMPASX8ifh4X4s0Vdu7eR75ihkwBXHqWUJ3gYEOwFi0RCLQzBB7+dDnJRDsGlw5x0g0V73s4OVXbppYxht0phHpGM79BNBKgYldXLcJROSOtSu88FvFlVhiaeX0W9TZ1DS8VAESzg7+xk5urItMik0DPYNiIhueKvJBbmd1BapCbjor7raXqtgTcO9CyvFjLS81NRP156fCkjJ8pwfCv7ScNLC1BuHOKAdMojc4Idvm4Yr2i8novGgdrSv7rjPOO9ueH7CexS0uT0H4ZVf0K0zE+doXnd96BfWncENAVl7ZlHYjdeXUO6R+FiSgoZVrH1GcMXZh8my3AIim0kUDFWd69R2iyZUgDYR3jE/bjX1S/pYgIQG/DYY6qENjgRxZl8mxAhhbUoOSdl706BKlYE0cge2ns4MW6ymBn33S3BcaqK/xySnSu055OGwDxtcEif2jhsv6lqYJQUYfOv/GUUu85Q9SPDYONx8RInF1wdhD/U+bSNXiLaeO5uI1aZy/Lz93gsGp1FGAtQHcdMUKi7SDq+f0Dr2uNQvSmSEGHt8lysbLnQ6TOGsl1IL0phVeKYU4eXe1YVBNs7IqGYaKc7OfbKBJi0kDKY3QYzqylmJec13BVBPGVZZgpajZN1erze6ZY52gOObz5clQ/kwNTzdmsWFeQShwJmfVyeT84xR4Z1q021fZKt3bGWTa1dns8KiKmMWKYrjdkhPWIuh8LqvTypRTziUj7ueJ7jX1ce/55P/LpJyET0VGGildClBi9An4K317krG9VNk18AZOrM14EAgKmI+s4jOiYE7moAC3YreoWXsj0yQDp0FrCVz4EPx/0m3AKlW46yVn1F3EswnmCXnLC/BfdeW+FXPc5Rlp8iWfizDVGC5sAkc8X2+PTGsOai171gld2ytiYUrBLD3PojmrPt/213GSFYDcXSCWzyS3FxaFpobElAD5FTkXcBThuQaA94cmzhubdJvAw201e4+g2h+S15s5OlUhnNaC+qOctgvtqs44e4ZVBOZPE+pOsGDbncAeY0+tve35JXGY65odk9TY5c2G5uoY1Ay4gb2BmcT8IA9+rPJLS2pranX2oRWdAfzqPHu3tVYIYTYvdqtkqw8dWG+DjaF5TdzGloqGvpPhWTzBAid3D75UGdzXAEMEy2B5AzLkYTWgiauB2XeQcdUV9Bm2ftuRcfM+9Qk/+zKV8+Sa+ndCdW/xmrqZFDoEdc/FroZgVc6B+nAdmg4IplGawy0PD1240/3jnQLDDltG9u9EjED0O5Ots6Dy63k7N4xoHShPGZwNHjCj80tj43SL6nM31gtVe+ZDyTF0a9gn7m8/FdEutrpacJBd5JCPV3wvfnJHzD5xEoVcHQONMHMsG1bkok8XlhSbXqtjJfJWWCasBqye0gPXaB1AoRQXGOgf7hYXxAlueTGyIdFYLFNU9+FsqcleJCPk1AbBQxYfNxo+MV+4fBWTTvnrJCby0IrFuyo/67ysNI/vtfqYfDQFKZQ6td2+z+9iTznV9qqM6e5pitCNNXvO+eIFRfVCElOQxyta7gWDW3tWGCEf/tFTtKkrYFcnv03kd8olf/yUmBXkNV60MY6ZzK53NGNKWmOT5QYnwCGHliqHYWDqEx0Oes4BziE5aRm6sg2usAE8D+GXKBfnFASBHlI8gBPHlIz7NS5x1Y3zx23xKJ8BqvGgy97LMjkvAqf0sMBWeptxVlBDvMfCD/zRUOIQ7aOFHpp+61X3LmRlkvUF07bN85uCCewuqA5uK1QHfVnPBJZ0QOzd/pYgna7pl8i67hl4qAelH0BuqZvWoeTOXi45T6FBQww30iEBDJrsvIbSFoMkW+Alh4yoLf7lW0aCsySDMUTdGgec7cE47CwNkUJ3nx+9YgZWys0t624xKKsuet0qrFEX7vgeUkkAlKbndgVx2p+VuTIurF88Vw85Tnrsu9hILlZJOft1Rhn40AQZ2sxegBVB0qmS14EeRC0DHDyzFF3LsttGMLhi/syEk39C1VcsGWGcrTPuSy5f8oCfqkAb6oZgRWOQem4APqRyop0LOkmXksFWUkFLcuCuGRhlcZUX6QAjjpwJ8759SXvYuyBatq8HX9hA0yruTNiPEYPWXhq9nGRQqJIOOLq52zB0JGfDsgmEB4jYcWayftpUp5SqfB2ChPs9gzD3nWUAEZhgVOeOG1LLjCjdnBbotcjHNd3MPGLLauJAzHBgGI4pImkTjULDP4CcVx6YNm/yy/svksziJMZ/Mn9e0IgbDrLkkU7y9UnCEN7CgWozImswpbwcah2PnO8pwjocKg0qOjLWxRZz6DgNYEUQkNsSjDW20LCSu7XMYvvmkcqwt3m7NdluvQvAaiE/GQoI6axFHzp0EJoD7l/2fHoU2V6mL25Q8v/+kStNEgOtnCwQhiBHVZ1+EdJqUDIGIKzvv5o081w9aPrVnlOk33GDS2509Cup0TrmbYXDPQGeDo2Do0gzl4HTuefWnUWSKKpMyX6MDBmnW01kKJB45b6wrggwLckIudBFUtywY8R4ygVMmE363dbPb9jHUCurHep+rHHtMQO6FBp05X+Q08foxFp9uQuAm2wkB9Fd4b/gv79SjNEHAxmqZIk6G9ssEVPGPbfm4m7rzRhMfvZ0V/au8+lr9a6m441DS+xwKykGZPfVlKmc4rsj3mWInOpb3BOzKrnlEw5vgoJaqw0V7ueBnX48o83ddkijG5v6fzue/Wr4QjPiL+DPnyRL8m80NtHv3qvzUG66a3qOoXNWDG4PVX7Xx0q/i3PHicE1dRLfzv+i8GEsdK6gDkWx4VUaGIWxIX248HEB4KBWwBE80KI0c/X54P7sV3xqaa3XBir3m+hv9CluAxaa93folDvPhrbHmum5GxMfpU9+UCoyNfD8IQhaTQ3HzYjdHT5/xHS36TnOmwdpfq/G722aM5HslrZJcSXZIIiGylhzBClU7GpN7tGKJeu5m+TDs2k+DFHRy9zSSopqSLRo9mI/NpGllHOghxx94sPP9jR9HfgK9S/NbBc8hdeaonvH3RDKO9O35wAgLC44CL/V2DOELbITvOJ05Luov3ftBpL5NW5BQ5tfzw1xp/OYgkVGI6Z++mtvF1WUHTC8RcmQdRfYRgn6myo1QCN3omCsLGvDyoSpZyXnOA5njzP1eqFbItObjDx8Uz/Ez68vrA1xvIrAucnohREqpdkCHsmx6F26yaugfVTj0t7p1ejbfSfR5bT/YOF6qhiLME5qjmFwAkfUoWDwOrcv5EsmyI1hTzcmrpwdGzlu3WhNWQJcj9HMkWRHoOuPy8OIGeLJHc3/a6Lcko0xBTUrpPcInhu2zx33yCocwu3KTy9Ylrm/sS0EuJ2k/M9GYuJ3LKXb8nEXZ//C1+v/zbKx5tlpXNjGyOX6sYXtRqPiKeCusVMueVc8A8S1ZpFCGYXXmF2L2QvZUTHpzDjrKRrmFJTbgowWoJwCFjxOjEjEY5v9V6emJAch2N3di75HyIh/xZEMFy0gabJu5VMr8JYD4rxb0B1MyOQAzJCL4hLsbmtP8VbYcSeMjlcDRg0XfyFaS7/X4Q0fgnzA5VyMvr5CpUtMIp6D89V/bhzFV0ehNG7l5RNS8wl0leIwHtt+qqXI2HLgC7O4ogjMdwGp9e0tvIq+UWn1Iq3iWTwXCKiuM977A0XHECYdAcIFi3pzfv4uPhFA6gxBECQqRbpAAZUIK3b61/ZViUr5UFhgQn9EtDm7P5sX3iNjGOghB31sGJUVT1csG341zoy41K+MnnxM0qpgXguqVDxXOrajcDCWKeL6vbryot1/TGTYs4rjp3/y32v8QwledDGy/ootFmKLyRzaxH4hKOROV7hj3lHoPhEbT7qUBwPEN4tFrmqt8b9XxrSeWIbiOO8UtGKSe8/DxE2vNUC4sc9+qNpGm4dA4WrfG0eZpy9wf0eGYEXPbtJl6+5TDQRkuujmWd1aNMODiAAHwnzsLWZybmdVGMO8B22f2qJchnmUU0U2CqqFVAVe19oHnSEzkEAnCL+a0l5XbZn2nzGuEFDas8HGEDTNkp1afuVJcXZQmuOJl//H2u7MpS7/4KJghePmqlhdHlOsd0MrXBp9ybUCNfD04JXVc17QwP17MdiBtrdWjMpOsNq94XKX+JINTZkMzJoYji9PlYgga+JsBNLuBvcCuYMC82zE476IUO7/HJhhvZDppqv6PZIyuTTCaO+KTsSEOHevPs3SRTj28Yto62iWOBHmW4jliMHllLF3ZKVG8gMf95iZEmlaQBtOlpzBjt5wM1VbbozMwP+xHs1zQM1QCTx8rUo3qYXbRiRK4s3pinjwoZcW+d+INO3uSTfsuIDiSBcpirV2oKqxXZlACU6nw29n6X9A7c6oyhhljUBHJNUDS/h6m/1zloaGNvJIw4Ygjwu/9RfOBtLqoYHku3+2Snab9u+5yFmPfrdFySehYkcp7+/qNG7E7mgKNf7LS+kM4loes/Fh2NDpVo29jvfqykt+hC+Clhq2eLWUIlRdumekWFiJHGclL0Yx5jQO1ic9GX61uVPUCf2JMYylfEjbGzs0H4R6ug8uFZLtP4vvw9qbEsvVtg6jpN8CW8U4fLgPw8rXBYQlMW+NfHlezBBplr/FQQNRzMjo0SDFFslvDn/YsKNdw8V/ib93iyJhM1oz8J4sTEbV+MA+0L1jDpJjpsEcG0tKo5Xo+nNDybDm1leTRuVdKXu1iRB+ovXvw/lVSRP6/+nIed02nF4Jjbz1VQaSvjAfKAcscjAnaj4mRBlEe1URO8I3ADxU7f/F3ZTlpJGOKVEGQi0Agwy1J3untoUPU9AZZ3gvp0SEx9vRILVkhHj3qCFU/xkGD3YkQZI8ZzLaVLteSNv8yLpxjwEALyQcrN0yNJ5iYzAUObtMxKNt7Q+YhPayl7tR+g94L8w5sbxEacALhsFK9c9QNbKiJ/iruwxNZrJ75Wi2mUoqWTDCD4QbUeksOwaK3HLc7YWEaF9HoUu58nauqMN/p0C1XgVGFqKq8U+EGrBU89djJ1ctEaxr2VUl+FAFS1iiaRGaX19HtoavenzJqh50GY279IUauKpbKqQbqjgfuq4fB9HV1mihMNlk91B56SMZqAnOpHoYorC/xxJPTTFZeiHw9wONn9c5RtBlqbQ4z3ysxQL8y0iFtEqVtEHKd9nSZF17BYN98MrR0HrPVUCxKpoUPo28BUMy3HI70rmtuLvyrq5Kc/IcAeQi79aVL/OSNIBzsmwdUg1Rx+8qJozzSrUX58QqHLHZHr9H8m0BVjQZVjxV23c7mqaMNSfzRu1W0IOpQDvsW96aumaK6TqF+iYuq/s5mrsvJbV1MdefPg/ICx0BeOwQCZUUhYi2mQB5p82gt+JM1Pypu6hwQhUwBIPP6r1Yt/dheqsJq7VPI7XG7vGLip6KldoUsLnGZ/VCE/19Hb+LYj/oZUJaO8mh+NUeg3m3zMwTL0bSDgocCbI5zTL2Vewwi0u7hq43RTYL5GVetev6TyNFfs9P8xYreAkiIUEY4ORg3rOLc5ufKkaqXnkfryhp7l+XEFWQJjWreAE5klvWvJSCd0takzjPXSwb9M+Xu9CcVcFOUJQxCZjccDbvT1YWBlJHiDXSIAhTL+ATbREdaXrFCBLHpbvJZyRDw65IwVSf7/3IsMcIUumruPaKeJp78zvYdqiwSA9Vg2I4+OGgYdfdHe7ycoLIsqO+7y7fOzEa32zYtqov+Y8R4Nc7KpHC1lxiE7S8ZVFY72FaEd3FHyNCNtNQnGmH8CzXT23Nsotakl9lWRLiFXJIyaBwim8rs1iF4qzDWdYTSd0TaF/a19PVj+JsOaxTKHIIg0N6ZPI3YK1MvXKn7LZ0OMeaQrskkzvIRNPz3V+IcoYMh/cql4KY6P8R6baHTd9VX0g49wQvEkDjBjkxBEvxsBrB9I4H9+ondmtZqgYDibhui5Ej5lt+YY9eCxK4lySiMfQN03/2NHemQLdRYv0zIQCy8ieweMl3g7p9t3QB8ZYl+lLVCtTB/hEyxdxZ7Bp351yhMeZvXXvjYdDiUkm1rl5YCVcS9qt2O6vtvAwXfKtjUyJEyU/p8mmKAQd2QAkM7yXfr0+dHfbdolx+dXCcdTwwm3DP1kabP51ynhJ2H25O7B8A2LBT4CUAhOuaEeCobd5vXpyp5jWwUkF9wwc6ufR+06RhiCwhVmchLs9PoiWjdN//otDmwNANAoRtYagpCk41BK9RbyWjLh2Ja2Ztv3hGPL9c6n0janTj00CzRNH89saAF1ZXWVc4rp+enXchAQXNsdHJNMD9t9EmpvC9qQ2KHw4+Uaoktk4/NbakFnyTdzMpuEga/PaQDAgCdL6PXbKWQUQKtn8Vv4MQctCd5xmDInPu07OzFIiox167/4kQ32GaIGlwQoUbYEzX+WQjK1jdy/pdBSIM1m1pzq1Bz7S4K24NyUx6Qjlt7wznhuLWyB/Zy4zF5jPnygnytX1qSnJAs5W8mxx1pZhx0xk9pWTAxRu4QyBeqENW2AVDyhgliI7pQ4bMuAAjZFilBcGAIBQfK31AJzR/QPsziC5q1BkF7xAodcENlQj1sNBz27OsPHZBikFzCbbwSVpaoPlF4yTPKmUEYgNF7oXOpyYokkXu8RQG0WC7qfTaumVBCPDfan6yYqjSymO91j4d4K3batzrPfPsZel/Lcqevw900YMsvR18YTeD6+k67n4vumk3qleKFRlxLuITj6Bwm0dHW5SUieYtAiPDCxLnb+v8/jSTINi6QZw2xiREUpXmaulu6i1JuKVrpRjA/FoIhfNTSgT9GG8ZC2/GKW/H7YYFfuINvqOpvG9/UmmRmlWHEyNNa014FhMOKwFgB1U/OkWXOp0zVvOrW5nzxTVBVLP6iMoFSAWxt/RQ+hKzs/kr0DLnThwJjM9qYZIKz2dAtVAblmyWW8mHVryxC/rc5diafIiiV/JFE2RPMIRXo0nNTsbwnDgku9csaZzl3P9oxmqVZdvRKQU76rpqKODmqOzJPS4WKwRlGq7DWe82VvIN3HUo9+LtZ0E1/rsKmDMb2rRZS/QHj01FJi7VF/JOutSjNPn4vLnLwmfTgGiCERULGS1KBgGU20gWE0ZGNlBBBCEu4bZMt1YFVfnlYI9t1flSvuOUaD7AKDrQnamVIjAT0/uB57ekk6HdAPB7gtN1hgIL8WjxQ2golTfQikdw7U4gH49Q4N134YT83OXU2qVbyjs36q6qdyvWR2/mhdJ7K2d1Qm05E98mLLy53DPSulNKPFfHRqIwUP7xwSFthnHL/WCXHIjEq9NluPlCW/7RBw5gGLsq0iqqvM570pchusYsbA9UZA6Lzyp4WPD3ANYnLMp5pP0IOaOizelw9mLG01Z27hjXylIvOHr5AuOBtI/b/aLAyos9h3OzgijsIe1mJ26+vivE9zo/2lKdu20LsREZIzQwj1jWwUsUjf6lV7VlLSig6kc7mVujqSPLFrNfEtwGamdEFRrOpwJiSXDgRRZ/t+bPH58QdUs3HMKBwvnbxdX5uxcxPSVBDJf50HprpDgEdETsKfTtuhB+YIwLTayVNcZRvq+T0eXsuKOZ2R8poEFoCUcqn+OLgL0+uFBK9p2NjWQk2TW+L5epTbq3+hV8TBjh+emlRu7rLvqYtBsj624oK+lD/oqgH6pLhc8VkTgMkNvGGitOLJUSLZHx/EN/OMoihYl6o2yCqjv0apS19EWYRU2eGiht/fJPDnmCtELeMLnf3KPKqwnN++fOfTRBcQACOIEjhCNYv2EfCTH8IJxJ8hlj8+B+q00KyC36KnMC1g7PXYJYj0ZymJnxogaf4JbZCw+Gxl3WEbYR28lz2INv1GKM3XEjIUR2OSrh8MdaCvpZzxPQPRwgNS9MWNWSnKIohNhm6QxsMQ/8kDnTy+UaXgsf/bvGntNMA5KV/DKi9gpDPwsUnnbL4xCzkUCNu4sLOmWS3C9pM3wSGzYOx6QyK6+kfOjEdwW2VoCEk9bH6padVNQM95Lo9HU5IKSsWcyg1dpc0qEh1v3qkTRGGpQZNe53GreUyiqvT8CFLDHuWgY+P3xoo2qrJN5emu/rZFZt421C3TRs6LqHCLZ+gNUXLQe9QqiPtIJr6xuSQRPwAqpVSMGag0W4RFbGUhOxhnSaTxxLSr4Y0bEL4s5EswsJr3e+6HXJmrL68XGrjf+rRdYEDeEdNGFBzjK8x+pKBA+TAltxFhaUtkeTIltKzWRYusaNAY3RByKjHAkGkXcz2hpvbZlI+LUyVHFaW8b1YJVPkMVlg9V8virpy24rupMWGKqoBgINRasUu7eGDjUadw1z8NG+X+4uMs/AAwl3J/8Cq4lQiZ7+qho88NGraJQvw1Zc2iLBpZV8azBJRnUhkkQRM0EjKn+aGWOdmnVTCK/owt5D4+BNB+dtduPgOH5cQtlxFIuID8jBPw5uv/lsbACi/uoAjxlPN4pWChynuuDq/GhYYxw32FaZLsU3Pqa10vf3HOFiYZjhr0HG7PnwrtIqt8xXZfxOGi5xMJpNTOkMQFQvXO/HhpzxfbsmfJTXQPXPeguf4hYvT4IMZBohenpFeoHgsAAElzZMivOEqEnZl7H4OavzZaTP9jtfCfVifjrFcxCtrufJi1bYAnspJjthO6kpFklt6GVR2vznOLeYgh08+5QIIqobY9ebLZhQBeCNhl2ZywiaVSJkPKoPUyVVmhWIpQu/Ly1QQpr4HKDPVlOs/3JoRVCJMdXrO9p2kbD0w6/ftbfq2wTw55IEn+lw8y9kLHPNpFwgoHgSYF9Sl+4/DnVtuYR38vLUbFV8HntWyLSZQZZVjgpaeYla+4jOuCqlzyzwiXAX3eSDilTWATORHqSUmEhCJQZ+5UHuadFl/aNQYGLOJwavZdDBt4f2/wRyytGOKxSaLNI0322tbLxDAwcxrEjzYMjTwVldkbwbWYYHv3vfxUQVOBvAcoGEBNUulEBBNRhKWXWpxmlD20jmlpxB4ldui9i7sH0ygFsJ2rn0SPu1QMo3E0cXlFx4ab3zZmywetSoDjzyI/sYiPtJbwatyafKXT1PwC2XseaF7AAayYuToo/VWxg92wZG4LZqTUXRduDuJpzr7FtXVrzb+qVmaawE4qysXnOlMvB/wcgk5tEdRJkm63IM73t/rmHt/ClijPR/yVfekXkS64AzeSBwr+F/1Bmbl0CBcHCIKOV581t55G41fBWvG+pwtfoweDaMXZoWM7+YcaQw29mUJVp6Zgw96fYNPyXCJHixD/c97isLVrzfX4zlZn72HiKGphEPqjOQ8C4Q2lKLE6ot+UyvSWfnP1LYtzjEVBKH8z4LxY9Os3a+zEyxqAAwIwS5mAHd/vl5NXmEMwtwKB2euoMF1Fv7K4e8d6E2CW7lRlI6XEouhY8lP7py8FdZZYCYHeHkBiMbjytw7/YEvgPvZ/yl/iASonro0oouG4flc3RXUOQyhqUrHXS9E21VlNfBF/lWqxCnBU/QK0yAI1/mmXLA5wbRM4/9Cs5SYJZF4ZaMZr/P26WSQxlofsQNuNBFqmY2i0Sewna4I5alGWyTfq9OSFiL7Nl38RDRvgAjifkOA6gyJ5R1HJ7EKNi7v97XZ6C4otG9SwUoHUADvZ95+wOFm3uV7Xgu8eyAKVecEEM6pL5ryAl9E2fgpIup0P/ieRxdSNy3SD1snsrlONSdKZATagx2KgQlB/1tbck33AEihZVL3uhOzDnc8tRZ14J/kbWODBG51BDFZtfw+y5BcaSYfdjFulnxxxWQj1/jpduby8xMDVP9d9G8Pxb41t3Rxy6P9nN4CVEevWMf9XGqaZvbwL1UlggrSW+WPmukj5zUWUzXfhHSA4aeT8NwNcAWGP3Kb6k67A30Q3CYs5yQ5q/347mH3zPsNM0fBm6wHn/HLX1cCN84J+X1i+helxU82BooityvwY0SgAYC5Bj7ZQpkw7ZUPs4lHtGzxYjxazXf5nhFIsNJN6dft/1aPZLOt2JsZQd0FcuSyGmybvj9RjFOViIglit+aMYQC5Nqwxy8NJc1ZgnrWTosEr7NEY8dNoxOUhli2Sd+Nt2P5JRHeyjAYRbFVtZIwFR1D+324+Lv7rZilxeAZaQXpHufbJBYy78Ewa05EaSJtVXn4oOokwFYupF71KWpEPNt8TZ2wNHmY7ZLSieHSFFpCLuphnIQRzqozIbW5LzFm4S5FGZnA0cy3VQOh9xbrB8aJR8kcGiCTY93IjDaJXpyRac8qw38Vli1A4HycUMj0lhMAzmd2QPZJYzwXK42SNHrFyHt0Y8jTkqCKRqy/NudrLI+ZjSXzYgp0BdA3/IpfaqCl9tQLzpn062eCAGY6OsCom9t2tdH44yD9ZH/aMsGK6nopVFF5omBx5Eo/Qn2IdmBlziODThl4tD0+dUc4+kgk+7jq8XPLUReyY9vBCyUDRRcY7/umrk1dAvkb+rQwEqN/Zkeuj9Dadp4hg6YMPbmXSdMwkg6pECqRgdtNB07y+Hbf2RonXtKvBtb0XMl6j6xpsUJOIiU3/M3/4kl/+e7krpEkPzxr6U3kFEsJt0G/DlTvIP9e4nhw49ixFFsFIbZstL82zLBARrK62n7Fb6YhXuYSY2zyi00ye32q2sgLaz73LMRpZ3ZW7jbYFHT1Ss5DaKudhLMHLQQV64fhQOnRMPC+Q/kzW9JTYpQ2f/M2UnTrBeZSYlGZf1+Cn6UZ9ARmbva7eNsl+SIj2v5j0Q7qtGaSBwjf5WsNB9KqwcHGku+I9lqQWDLMSxLwnKfSHeU78EyEj1vxsIDXtRqkj0YwYrLIdtGpKluNm08VDfr9vuxhA8Ogj/YEjlaMMo4WJ9dhbfTA6FHsEcrEDz1VOppPW/JUj8BYQv6AKvXboDLuPxjHMhLVNCwz0li6YdvbG52JyvPbwYUhtGhsIkSEaQcsP0rynyzjQQaPFmxpu2cDkh7gBscLR8/nvOKPFyC3aUe5jgNLJp5AhBrvRfFVhH1km28zXRnBV6epp9S1qQBPmFsK+tqGjzYUp72YIGwS5umNDUAcNCfYtC2pJLybZ0BcUTDMycEpP1eVqfG7fEjGH6Py5pqNEl3/2e+IOFMAtYjh5h0CTMZiMOtUGT4IEKLMBfR9A5zzy2Levx1bFuCUMI+Tx401KBdBbmrFA9gTHKDCQjz0ZJePMRR5KXJjARrU/AL4w+P37YTA/8E+dzb6q8Ej2H5fuI2LiIEYgQDqNh9nXlNWhtQsPOCloZhErIgNMFceIQ8oBdw5Plihm8V8dPCvPct7um6PW3oGOg9iGJ7IO8m49iSgyrgYngEyRueoVbNbOnW0IokalCCBaMkci07dqVU8jqERHx9Y0gaxQiTjNo4GvNBuOo5bM1Z5tk0VNl3JKeva34SM05yaTmPNjxqgZV5+n0v9s/5E4lI/z4LxfdRfN6yABzapOhUfVIvoIVfSPUFlOvwtqWcLsq+if6nX2ITegRajfdqOUXd2aH/uaW1Dc2mKJFwe64u+B05XkgBNQEeKKYy5VqI/0DTMzQlsIRSeJKBXTcr1q4uzzbZif3MpemPhPrU04vjsGADWEQ1K0fuEN1XRbcTDZkiWAL4Di/cmmuduBDBzVLyILtD3D3RVRp/GwMSY61hFMzmevY8HfUGX1PFDO4wTFeerEbJlE+yO+emn3Lv7PmKsT/Gx7JVm6NrX4cgbu0q8NTJqsnBUERZ5IvdyULgt16eF/6Io+nU+Io3pgroWn5RhM/Gpsvja3Zm5DgMxk8S+yNR4VllwZxhFUn14ECWD65cJAjyVu04N9dKiAW9R3QQK0kcoC8pnkIkEcSfGsnUHVr4QahM7BxuADJwHfYJDvrQHDBeHGCACvapAoy1R7bPQbYcthyCV5SOASLl+T8o9EbgKTSchc8LBXSOi9vXpwFqChv3TRpRmSeLSkUJOPBrb9B1pVKuuZB4xYIHVk/AA6ykKqgNAf1Mnq/rSDLifLDk5p9q5N1TSqPd6GZX/uJ/iGp80hUauQ/3d9eeAu0hgTYSZMXQEmD4IXEzB+/+NR3OCfyYY6d8g7VpNqt3CcOfgoXNOj5fcEqhQx4+0VM+dvMHFKRUZMukvnWERuAczfpOU+zHKWH45PmEtNvMi32UFXwTT1IyAgGaM0UL7y4h2Zq33xb3rbch6B0hYwi9l4ZxX6Gc4G4WXJGX8aBf0MEb926so9HOyuofMIf7wwztKT2byxZryyDEeOMMzzurPp3ddcxAYhfYW3udXPDBDmelGBgiAsbzR8JZIuilY9H8M11GgL2b8Js5MOE/Z8NXHX3usWwEjOD/BSaO2wY1pl2VJcrplRby35Z9mBDII4Gq+qiijaOcPbxZbU+L4Up1W39jNHCmdKRrfogWiXjEKzuI/rNbAnBDx4A94u5lVLgoefWFyH7jXpNVsyGDLaePGEMHmEJ+NgrEf2xyREch8+ZNGRA1aR1V5kEWQ9iJokKy7Zp8MNxp12qz0PU39VO9edZgF2tkGmRC8LYF+JamaAis74R+TNpk7mloajKTT/xlDqAXdn83JI3+t/GEJWkzllCIm4gW9O0bvpJkv+/vng9wGTTSrh9JL+iw4RXLfpXJkA1BhDtKsE+6XdK16bZMpykkhEGStD4vKyi9PMqJWMxiljYBhmjBs1eXoyohzpr4YFkmFmDjHNOmzIrJF7/vVCFazzuYfnnO1byaN8My5+GMs1hUNgeF75voFQ/UYAbpb0lVIS+HoYrL+Ydt99KW5aQDPGVHtnrUz5qWLjUcXyQrcMR0o9B0zkNbqSTqNYSLJMoeSyy6lPGSgAa7de8Cv1LqfmnODJ7lpKLUShXAfLlSyWmKdGvq+m0U76vo3ORd9MVMUqKeQkXfgQybtlerg+b+moSgUj5ePHAAbxwVf22j/3v2rldkgSGXqs4KfB6zHHkFYBKiaoFpBVkmWRQ02KYCc8V1oCnlIBDqN8lI2XVh/fwMS0lO744u4uXgQZ3YqTObV8VppOP8FJGIqFaXUU8Vi8ZDLh7xUJDdRiz+idYp9Pcf52fQjsqX2Ke/GuATEY8NZRxXxwoz88usmibEd0a2EHXD19XoYPLVFJNdOSUQoMzMv+8kbRQUOPhg+Ecf/W6DdzIZ0ZmNhEVLWp7G09vkjOKWyajKA6RuGJY+yZ8iwM5p7Fwn4C/rYERlhTHs2COnSLMH46UWe04UPBQt2uUstzWf+yApltajgoyRIu3KzwOr/VBemBJXAUG+POZrbSmeNbH4lEuQn61eAdH6Frtcg/BJ1fwWbJnP1tjCoJJf+jLQ9u9p24BKuwyvltnm7ZwjhIBqJwXSbL0hANtRRMwJ2T94i+2ubN1Yw4CfrGHKuHEom35yKI2ZsvZDo7fIklN/YJeBTetnMcov16a9ci7CqI8d3JBSzYjQIvLVjCZV6vCYFylR4SyJPTSnzxEunmB4wRSZ5SOCeBlAtl10tydA3stqMSyfjD6t6vOs/MJfRrFptIYGUKbQBCFY9fQRK4CU9OcmEpDhLTBLRfMagiS3WHhpKefDwJIm1byFrO6njKBN10jjfuxJvTS2v7pGQWhfotxeVw5Ao/ZMrnkTyVtoNcT9S6nvinPm2/Rex9tJR1/KkYIxy9/BdI4rkllENZMx8R/Q0TQJjWKx7LEjSqXCZXF8RKs/ihcnVuMsISFxEkSbvs6tQgMEkPcDRUWddN3lBJ2ez/Ob7CdG7gAS1U6DSoHoi4s+qXq++u2eqc9leWHfHw/fffmWMM2jpYlpBObgzCQM9DwdFN9lzLQ/DTk8l1aNq5n208jtLQyZQxI/oZqAuhZQvRE+eFwwxeIClU+k0xXwmFw6sStjF123ni1lisGb4YWFNiyW7+hlCQB6U4buCAkqnbjaWgG9KrMmz9oBDkACzRrGxz9OnYaj1mRZgUDWwWQQs5YmrHfr/ZPvPdf3j/ARbHdOalCxbgHDC18ZSrRfRV+dUWngcYrWnRhnyM41zn10v10wqgXGR60m36nSAYhKy2H1SH0EtJuvrpVl+tlzpyvqYy5Lrjvsqa633EYVzrjuOFzJ3bH7W/frxcwzHziemMR7z4CTv7Q48TuKXWYVEovXiz8THXGfZGx6hcWBmCvDV20+cVqKZRzQySkVgRGHVg7VtCUDMhLQMMuXjEvI7uE0yBf/BKyQNQ38RKJHvIRDzO0Jp+Xy9W4Le3iiwLu3pqBEB7eSwwlRic+T7yOl/FVxNco2e5+gPkLAJwPkiqUNT+Iz+SgHzxwcQLy/hhmDR/wkUL1FrT0LDQLghBHIc6sLaxXIrVaOU6TJEHzrG4EBAlfWzvq6HGxAoxgUXZr/h2vgjyFit0HrJtVf9hHxtqZkJ+VkqpUlxLOffREC/woc/OyDGRBU4WpmFMZIknC0FIZQIlmSSjTj8241MD7xRnLsTfXNNt/f550tyuZ7zaBaW8UznM/imXmXcEXB0Txd0lHQ6YOir9oD/7mvfTvdFOeL10QZQRQ7PnucUDuRE9TVrWP6ZyuCpvTpo1gsMHUOU6AZgFd2mHY6K4gWt7qSEGuQSfHKOXaGnXGg8wkYWl5VB1nvhIQV9wQzDi9zzGL+goCVNahuEenWqddjY6Z+kvTQGzNgmNOGgy0qrdsJyJROFw2NXWBmAYHwWfchphUkDNlDQSzXveXduAFfTSF+7bQ8PMn27MxcxMhowe2HvIt4coSRuWenmACmy7XVQF9M/CbqerrWCDXdd2e4XtDny9cxjuHKTRwE5ljvOlc6T3qKs3zAcDGs77hX7oqAYzruv6+6J2fbtZkaO54OcxS+XTPU8cO7QT0n8uq1QRKe2XQj3tWwW70G9dlDGNbGergkulxHAIgmejlvrpy7JesQpuASpqZdAHoKjzgy0PXpJtYjpRDGzsoltSUDL/4B9rJjB9rxRzezgxkI6VIfAJMqAxwk/M31LMStIbb0f0GttEITGa1JG5iqD0VXRHb96efTJp4L6N4QogbkWq8JNMOQ5O9jOpDKU6RGambuJRm7FjWakc9MmjS/TQakHwqmkFk7MmTbx11hMpCIfLHilE5RT5z6Vy51qYeD4ian4KYeEvTTZ+C/9Y7kK5e/s8R85u8eaO1x8Eeybwe6x8OW/2f4YL1Zeo+qp9ZqEgCyearXaN1kcQC6FOX1a5fGsb99UwNLSPrYXLDtzxPei1dOMobnuzT4GMScKo17nDv/ZeX2Dbwj7QDi0NmJ1i1mrEBpZ23Eca3Fd21WBZtk9jIMokeKxSpnbsL5TMg1wmk9HDc21C1gWSnLZEb+8gWPHKLoZB1OGjrSV0XF98KwTmzGTySIb9fqI3x2zQkUpMnfAAWITsgw2UANtWnnxwTFCqcnadyYeWju8UZ3NRCP+FdMRRK3G5qrw6lSkRPBFPP1qr8FmWm333KOj3uSPmL/iFuCJ1kEY6eAmUqCo94dGilSRchQCS0bTbIyIJsq9AKqVSUMqwReFC2GutwKOzHAWzLc/+ETAGpo53r2SIUcr6Yti1QZlyXB6z5jLTs+NVQ0rBgWAkfWx5MHDm5QcpfOQpLZ78ud/0iaP1TV3gsnOy/WmErE9VbM6GsYhuxhFH8TivQoMEnOdJkTkwfFBd0I/lFdXDjqkG30paKj2rb2uZDf8rdvXF0157bAURI2J2xXNr8gH1QqcSqp/Ogkk1/NR2tUZgE9YKf6KtZ8qP6S9lr4i5vBN2DMjzxBUr4b0XiihVsrAAQVrmUScbnGRHDsJ+1TB41kCacqC0tKEYghjKtvIoc6npFzU8x+Emz0M9eTE2sJKVrtnNVqrshT51NLXsx+OhlhoO3xW4S7o4wWFW2dQHfxoXIfu8Bvv+Pi+LjwCZiFvmeQfEHPBgsD9IB6FjlbBTzxE8crTws7ijMqI6cdm0BWLASIKF86RI5nNrD+WnYcTyn9mawi9hrCykEF27RXdHz9tKu3Qz7WI0MoTle6zLNReqE+Ux0Zjfm89j2J7gkoAi2OUkEzDhrajgaGOX6jPSje5UC4D3pBHQAF+GxsI4PFRlY6UavUAy8IY1vLLRUIuzN+uxM35DKUFdG9Kf2MSbI7Y6rS/sXbwEqWjBWaYPIdq5E5QDkySsmnSxZrJG6Bb8Cr1eM1PPGZjb95uUY+Jx1ko/2+Fv3pqUIvlykh146ksN5aSwPrViSWYJX9B2bNaRH7XCIX9IkiJiRY6cexyabnTEYcRkXoASa3T49THwk//S2z1mdROzCZFiMlCRPubRYEBfNSUNC2UfqDpBuCB/5RTbmLzAnIX1I6O9JzJNFFYKt6pVT2JYLnkXC403mD8yfnrI97XAEvEtbsvjrkegyzEF36IkeEWNzYWKice9/XIJRRLlKoFZg5IK7dlulGqJU9HMNnNlEzBFgOv1cfHxud4sV24lvW86iE3hbdSS6GOs0Z10HE94Beqex0heNdxCgm0kVRGt4xCPZCSD+Y/9Sq0pW8DaM0Usuv/JlAn6wJEajU51J9YY7f+33PH7SR3Frs6ztoJ1j20gPVqntgYksQwphJt7UY5BUGIqJED407cddFU4Jkkqapb4lTeFWQB2X7eSW6AMqF62ZCa5Rpgn4qPhZBZoaaozumBk0LUDsBUer609hTz+E4CPpsTRF2f5Lgdl4QBy6+y2PCKHuaegn2DH/IGLenvXcpWDyEmTcyQFRfmGCKW5XF+HSPTW3wZ9ZLjoZrSXHZzVf+n6frmxmZXo8iWjAn9a/yzQpJrcQEPwWrMfSGCQIxtL2A7z9HgkAkKhysygr2JQKCx4yqbV44tH8HS4xN+HSWfhv4HgxDUlK6PjRAWO4g/PZpW5UPq97VQAYKFORNsCVwp8z+tDA2/S0Qh5FvtnKGnhyVR1XrgU00haIlkNYcUSU0VXZXyQverJTy7jJr6C98Q6j7C/Qc3V56Zo8Y2QxgJ4PhelEk1seoER3Pqivk+lokdKbfUpJqgCJjzVw1u9BDFaqs2KtIuQUg+uycXzn+qDd2sKxaDB/JtT/AsSAo0cgJkLdHr8HKjGYSPuORy7ObMd+isIs4jJ8ym2Bk+WWUAk2q0ae6M7v3bNTmOKBEryXMYCRLkilNvMrPE+u/hrS7p8eprRNKJHNShKFjeZ34kEeCwlxL+fpdEervo/3g+Za8nQQwaKdZjBXLCprefLwcsX0N9iG67imQXkVwaR+3Pu7WMYz0M/rTdQJz53fL92F/h9edecdvQCbz9QRu2ybD+r/mI8Z/EhOEHLBrXEXkG8A+MHeSeG3ANCOGYo9p2F6cPxxgtU35LHcxxPAI8po/TlyPK1Dm2dIXGFjdwH3vrrunGuyF9bPx7pUjdEMQudVuUszyjnega7DG6UACoJl4k/CBWGLXHAAMniosIyoHD6PnA521NQchtdlIwad4/7OlTtLvMd/QqDI29yhbaYYOTa+ZTzH784VVWQn52amMCdfm1RX2wsUGB6loQ5RzIDjp3HfbPfSlTx3ZBZJksKl52a9d65iM0NS7cKuCLepUT4PnRHjkTmZu0DI93NSkNxAWt2+d07/D2g8o1VLhgRV0Rn5zeODAKJstxtiOqFUaOLNNgOMg38KoD28VPD0mKfrbN0JMaHV8l7l5L2LthmmYwiyNa7SOrDv/cy5cwzFM33FyNxlkVOtN4yi0XQc8zIgLd8fC3DhR5Mm4XMDNuepQPkM6TVIPI7qoQclcI0OAiebTgdWh74IJgheU38SkAL/JSwiJO+Cc/auLFSs/wRFLp7f6fHnH3TtMb2HLtrp4CV8Oun2reIZXHn7+CUSIFLoNqcqvcd9K2EyVn9ILsAfUBc+KWprjS+ieO6fM9JxefLpuVc5OL6r8XEts1MUbuNNJmPTRgReeTF1j6/oDAJjVc8K6Sy6u7eHradKNmrrmr2k8sVNCDKbUj4nBS1BAinPAFr8sdnpi1YOJp67411lw7VUdrRVm8kAbMgqH+COe8K29zSSUGYjAN2a/4DqEbs7G3l4D4BsElpxZ3/0N6X04Oef7sPR/tqCeCpm/4q2bzVFp2cOd9+IY2GtM/Hmy/JSd5+W99PhevIR11nlVolKT89UJfOWdBXVdG4FC6XElcXEgyLc5S0enQYJMIJ90zwtnUwvoC3f4ex4NzcTWrx/fRMdHrV1fNvY0XHiuZ+4IsbNvSlZzwntcW4RcAojDhKWczshuxuTmTe8hqTKO9M7qCJNW0LBtrUbXCTrYjRZHSTPVcvxqHSPGtp8mgfxfa5sjMCBIWiMdDaDY78CQ52hGF1THmn0AQN85kP/xk/2ABlpjF3D6TF4G8c3cOE64Y8exXysSu0PyCBHf5o17pObozmIcaRrVUBvtbGjc9w6yt/7sZ/omHFQfHzxZW6+eFzuVPxleyzjZotbfwtW3wVYIXwKuPHEAS+097uJOYBY3Wu6+1CpGL3hfLWBELn2/yQCJNfAiivraq7N47gderGDYwX4bSEtrBm+CTSIkwuxm902fpmmt4cwn6U0N+EdCe2BWSo7UtcPKu634bhS4Mfdaklz2V30yW19HEAWV5/9WDaLRcQKTHSMeO0QPQrtuMfuEuE2JE85QSu1rhyEgtraOTy9fmJiyWdBRG0cPxlY0YzApwu8K6cg7v6l5MJjFiPXNFe3Ne5clsDkqRsU5ounnkQhhn8Bqr51sHlzpOILEmpgCahW/DKOrlPxVJP7+Bq7/Fc6itXDrfD+oxzuRhQiiNB6LEwPE3tXnrNJ6uHEu/lFX6juhVWfj15+wIQiFPv5DWbsE+BhEiM8vqtXKwEnCGCnXma7xynUmx0AXxO08umngy+ZiayM+Q0NiVZRDa5UPllOJkjpl6VUXHClMtuziXMMNaWuEhu7ru5gENrulTp60yej6M6o+uFdICCBJug/c4adLZwFIKvlIAui88tBLvNtrsJqh4qNNavoF0/8ZSks/hi+6+FKFpM/i0PCx7WI8AvsiOox1G4CWMg5EU0o5sCG8WNbcsLuvLh0zbxDbip+PB/AhEJ951BWR4mz/6nguxqpu9FSI1SFICA1dkDGQy4lES7Ifr58gSdswiMv8HdENxtDN76mJjFwkw1Z3Yt7LifCD0OG18SZS/qI1F0L81XgziM8hvROzNnnbtRsJMVuwnC/uohp1Q+qKi+PHvPCtYY55IHPahC6IRhxWrgM2T0PCr04zfPCLyh7THQnt20Mepo5YMX/esQdqcExhtTiSwIDespWY+sX6uvrmTKVSAC9qUb2IRPu3RV25BuD37ieFf44NVsuDMj8HkhcfC5NdfeddMhUc0uOfp9tQVsoFl5hBvR4jgmKnPqn3SNWm4PbebwMcqC+8NV9oNJkpkn3RXZ/zgv+cZ8FZq0z+hDRDS9Fmunhk3qkv4F975akobxd2WTfPH3vhQ8VGn9bJC5gEZ8zfFzbuDgiZ4ZKiTTfeQb0A0QB6t3GcQ08M0srKKc8D+E43pC9G1VsVMillZWsr/NoVP9ARwZqUR23OdBStlttXyiL0HBNtoJ08TFmQIVq6PjpSciz3ZSF/KDvuzaahgBCea0oVauDWLTpwGg+/oP0C27ThXl6QBtbAokGAuAysQqzaGfvfmpHP+CEANe2U4TW3L5MXIub/ppv0s1MU1IXqBrVXRayCHqTNtr2qXFTh7eMpcrxYSroQHDeyaxpJH1zlCmLT08s3fFDSweoyykq1JHQHDA9LSQ2OibmfpqFvLJ4pLdusc8MzK5N8FGHST0I2feciXDdoIMUOkGdQAsYm/U9HSbBDbNFKqkiXLk4Mi39vnDvOMGevhBcJQK4Zf9x5xePxXVzjjYHH8+PHEVkMEgcJc0kaRNHol49th3j0PGIIo85OT9sUIreC75j/owtAizywIg15IwlOrhcgkHZ4+7vnziejdbJaEdtJfTNFD+75vPLEw5FP9kWSgdIn9Oc6TgTULEfXuMUjtS/03/Bx+3g6o0YACC1GvMnyzWjW/vO50mgioipkF1FtpP98+SGIrsdBJTCreZ+t0uhG0IIsQcnjKWgmJmznf+7tTIdKwiBN4KkL3p2KNeWBMIxWcvIiuxNiBZpH9lTqvi/SK4LrhaZed/i/hkaVTIyjVv+ND4sCbd7P8zqlsJu2vSRjuN72yJ+GlTI/xNGZ/6EgMyUNmXF/X5NcUCT+2cUT8OoCsuxQiTsWs60vnkpoX7kGRcqa/vZZMC6ZJuluNt5vUA2EGEoV1wYRPULDySt4X7Gi/+C4GaZyIl4xjuP82rbZa7oODDNXjSsrRWFFLav1zSyGiVSe4vC4W3ZfonUjahCB70j9TaeG7cpAfnmR/5MjXPM1otYoOErCxDSbBb2wnkIjS6aOsH5Vyq7zIPKV3FuAkeuHDm2RcY5ppeK5uMbGwqwiejlOavSf7HmmKNS0XWbkCsjRDtJnxOg4f+PFCcfPM0oDiczTUz6sz5KObVTnmXXcQaE"/>
  <p:tag name="MEKKOXMLTAGS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CHARTIMAGE" val="FILL"/>
  <p:tag name="MEKKO" val="MekkoChart"/>
  <p:tag name="MEKKOSAVED" val="1"/>
  <p:tag name="MEKKOEXCEL6" val="False"/>
  <p:tag name="MEKKOEXCEL7" val="False"/>
  <p:tag name="MEKKOEXCEL8" val="False"/>
  <p:tag name="MEKKOXML1" val="4HooU0THZk28POP9trq+pbTvvzd/gcV8t56cq85kb3NDTsUhojRA0EsgEHHMH7oYP1SYpn09ysXVivguJdhTvfyVMsBLTGvcX7WPTor/CmWiWcfk2RmY+GE6Q6T90sFUr0lg9IPP9y8umrse/9AoLT5R0GKq+XM9pr/aTyOTf0wptcuHbHxeyqBm9svU01qeeEM1v0hpSHUgirOnAK/wunjZPmzVPPwFyUBDlDfxgncyrn26mfUxYRA79xbk5zo/zvtIH1wUlJEoc3ym/tE0R7TFuylI/Ka2jPa3hxGxqIcsuoAMr2BhzJBCBPZe4yurIN19wt/gMUjAGy97TwjZifIBF+Hck3maX8bxqwmWN5Lz4DqIq7RLGwL8cJPdxHxrFyTKy81ndsieYrArIDksaybtutEDKS7lWtJ6JAcGZVRCI4SlTtmuy++sF4Qk1arz3+8FEg3sMj9Rge/ETmV4S87SOjLD+N8VBYalxY0z1S8o5Esh2vtszQhq6PM/KUiCtqe6pbIL8mEX4+K8Xxcu9iFzMyfa+fhug8KsLCEOlnH1mATILrV6t8KRE/dH2bYnIDm2sZ25IbaaXNWc7UEDKxMGjzq0Ep+3nV8sZsEWVPVGy9LdtG8z9KF6kdiSB1gS9fkY00LjunfnpO7KKKER7PfU7g3kaGJCGLxtjr3BFqhFPloQ+a7dX1+1+WgZ9DhI3T47+9ljPtCeGbS/ef7qCL/ON1O4AGVPhhGzaPn+sONITmVMoBLpPwuGQrjbW8AHMG15UYM+A6j25+sCVoLBlPpM76QPF4pmw/8s2eNAztbnEOSCByRML8EVbrtv/PIIM7l/atiWDA6PBXAgiSQXHxFj/DWaNhFE2M383KdaE2Vqff/SHjhcmdK38H3BhtczRCOPSB0zuremmy6sQmG5TQGnl9t+rij4WFAoX/7Y+dqc2XF56GrqGWu7iz8vbVnLAuXdxkje5ezt7sK+cdwtvMWC0pBzDZsoLOwafPfxACeLAiEbhBjBDdbhoh/BXllNnzRnLNmoc5WLdVFxclJn0y/1ZYeyyiVCxYiAgzSSGosDYbhel84UbTWISdCUyGdNAIJm7rg+bFbXKHGyMsBbqNURZFtZuA7Dey4/B0aD1svth4HN+dwroEOa65r+kxYHX7YyD2Li6JQh7dJNJoBzBkC3EUkxnVoEjz8Ol5iAvtT/S4tYVKFjVAh4xv21Elc0NNmr/dmoUYGb6HngQh/weZhSXKa82BzToD2Eac9TlAflsW+U7gLpvNYtGgU6DaGZwiuvfhIOGd6gam+dDSsZszU6hZsPQ0VzPrclNpDfpcZxS9aC8YoMAhwlM+jTk3GUmoxEwCeZQ39ceE/q3KExAwHDiML1PR5RI81Gf+zu+4ISAzdW2/eDHECqw3DTIsqI0XtUsduUlWKVY02jl9pkQBW9c7Z3mI2AQ0IRBvSSLtJnNR58ihofllJACUZzDHlWGdjCE6KjsYNlA3vo1ZDDJ24DMiXaWmz5/1R1TlehfCR+ePadYxXMA9NuB3e+eGJ5Yo0AsRllXG8mpXA2DdWaM9QXnILNGHa7qlFbVc/Blce4FCwbZIfNWlrhmeB6KTDiQnY+mcA3tbgj9vzZFuAfqj734cqnQ5ZTPgqBnokFfaLoAJLeOTMiKLefcpXB0GDaHmUt6zQI8bq7b7epbw8bmPj23ksqhdKQ+PZI/HOJdWiLE9SpO1UHSVZkF1HAphf2XMShQVCzkKyJRbOr2MuWvNz5UFsnmtQDKd5OhGU1czRD9sJAR/a+JOtJrPdtnGFDUjGIpiF0nC0wPetBedAWTkrO6qVWOsckpCdrZkZ4S7KFZeopTWt9ZE/4Xo5IARIjXBp97nZxU/ZpaWYZs2PlOyhYGgFSWsiN+qP1MiuAl5pNJH1SQbaOqyvn1hVUUJQJhPJwNQ6kcQfrn8kRbYw3hzKpGOunq4QS2EI/fDvrec742fO4eQazTJ9XrKjmj92pdoPGMLq6PZRlb6Jcuug81aCNBINDuWiO7t7zvVIk9FnkQcVzSCSGXCxbXw9KxuOuu9Ox4TC52m9Bn+srdEUZyFV4pJMsb6suzgb6nGzeZ0KciMkOkLc817XI+s5s8NubHWl8QJ9mHS9w6FF66svdUVJApns3NEufq4DVZH1mLwMwymtTRZAcFywfHw81hePP05bGtO+qI8pUOmUiqp1WNHOMqaGAKmTZU7ZUAGf44/k3eZXm/Lh+pCb3RlWK1nTvAwkHzCdrWGivTKJOn098weO4q6rmPRnqeaJ8Nmc3f+hGh8E7WXqGyj5QlAhKctoanQ0r30pVrnIBby5pwjxqS5X1qiqrrGYxmox+SLCimHwYJMOkmN0OBD4ByThk6MyDDc17kbxKq1dtIc+SvnKMm17wfqRlfUOcOEk8j53R4arLdAkx5BtYuUC2FI+jipAM5UGrNfm/NtZJ2zSRFTFK7LrE7IW3GWexY3Z1aBmsZBONzWpPPuCQrVq5srFGQ220d2+vyqEdoUubs/tHIkVmZARXbn7pA2QHRG3w++W1y/Kvzd6QWMrZh86oVeo4r1syFjWwVAWYxl/G95NilmplLpKbVVjSZfx1Yb18EYqzhFrTpMf9mvtwGQWh8D+7rdNejRp+6uP4L/kErLCVLpi6bx8lQPKv8WexZ0PDOrXZqEKZwG777GD+gElWQH1SW/dAj52KY9X0sXNKrSrmB0408rWeuac0662iMd8rqWaMmXRKCPgihcwyrwRJdnQhpZcMtIZfG9iJ0AOXJ2MMc/LVEUm15LFDRkjkQ+RjfuDgUziC/5PMufix3ITFAhjs386AxkGnKZbnfuj4pu35JE1mm/vCiuvCXRyQJhD/cldhq1ERRihbXVdA4LoCV/AL8Y8gMttJOuSqniutjmNMCLHxSlskpTZoUqaOrRopOeUMLrHxhN/k50YtY3nZt+FgBbi20d622ySgvao0xfJOyiF07U16Van4z3/p7wP4W0L0+mKQtzZY52R9vQzjSgOXE1t9Fri2opGciPp3/D7e73F0cKkSfKuDRQMyMLY+XiIGC8aF49MdsKH+ygdrhZXp/mcrB0f7poYtoxrE5MSXCzXrAQsRlVYfvDws8zLxeDUR0ZxOpN72GXPzCkIrZV4rglWQm4ChnIBKuQ0lEKFHR4+EFgjs1dxQJVWVVBIVwfyLfJ+u4PyhQL5A+LM1KWA68LVmaAY75hW5KqS3+fwOkE4ukADrageZGoLNUoMlGtQZDzCLCS4hUNZn8tP3cVVmPi6VDinjCsXf7CHuy4rN5qUQxPsztfcaDkqZtKkLvQcc6KaWOZmx6u7mR2gcHGXyyXSskGh8UL6rWZGZMSYNQ+0AxeraQotonDi1s8MOQnMLuL0UfAu4RtMdjCwLRIJ1NILOrc8XCNvslgJXbbb/dWtaou8wk2rSMYin2fySwpfAD5xipfN6gS2lRYOXWnwAgg9ZSQ9H2o3unNI89lJY02WO8ukRO+AQ2FzR8u1KRhFw1Gv1tiCZ73OS2d3N42pF+XcWucrglMxCVELkQbLWF63rPBpdGmkbd6guW6NmZMBBg7pYnzQ5GrA4JA6frJYgX+ysVGGeUSZc4uDPY9MyMTmf32JHTzOhWCIS2TgyqRFjzKwwwYRaRbkONzTteIcy5GEEinmDAK+GTtxhyUTNPFnYgcaKG+7QNlndFVTm2Ha1vindW4LO7tT3CuoY4unE+GkOmGsISF2qjWmQYUs/U+XwdxxLALMA3ooKqSDIFNRRU7isu87pPV23ssLekPenvwPR8wlhI/9IsqH2T1awz+5Zf0aRUxJRCxgl4aFazsPrWgSm0HhFVecO8cCeS3XQaOtltx8WOqGFv/ca0oDaL7EfpthA1R/25FqaiTlyGX8QXoKf4EhwYT0Iq/QB55M5e6lGA3pXdYFlW1LssTAie63zg0rLJ++87PPCLrkzrrB4Wm5qJOLS8wGAYrkmpxw5zGeEI/IcxFP+UPKRFWVdyriugQcejzVoL6oGaU6bWOO9/m6W952vklaokf4LMfp8XkNDicTr/0s4U9c9LYrQShpN0A0OlkcbTdYKb+kL+ScikgVBl/L3SCwSB0XrKIWNOW1oyAMh0ztm90lZDjFJuZQiGPq0m5LjKoPoag1BqDsfErxPxv3OTcOnBxto/e3CmgKYzqlwmb1RprMecN/Fl28zR0K/yPybYW0w5YezAyLXpny2U0Ceiw5wLdTTKy/o+lhCVvqK9egMhLWmx9MWjfU5J8YczOSYHjulqmJ4M7iVokhpgCxKUQwYP0108/FUjDM0Bl0hascj+Fg6wJr7c/6hy5mR1suLcg1jR2P3OjEdFNaKKz/kwNHvehKI3UA4jHVFSflCII2R/9HXZY24KQdMqoSUUead6pAlxVdGQsgLFqwHXAsBmYIDsddNRX0zyz5TuEaRV59L2zHz86Z2VuUOKXB8VX/BsSLrlnHyndXigGofva+A47TF9pdow91Smcs6rW7mUtIX8OkywP5VVGU/677/gMEzGSFColyM4gkaM1rwSbBCtFhtRM2BPvlML1AbLz6a6e3p1MLfvk764wSpeADRVIGiziR8wXPNSR44RH3HJP0weUhWe9uonmKRth01YXUhNiYnshmmkCzteKFLWz/HPiGp0OCLTCpJHk5K+DxMjagcNyfe3KrWmPi5sxnAxPJqKGbzHcm4J5Q2mY9gtGrbxbdse0h6sSpsnlRGm7VOlyh92PPgvrmXDmvklT6V+UUbhsuLCSeKVqI9CwyDcVMA4uisUYV6Lg3eYtOBlESaUaWp+mgPWPmHstMHizZvARADsEiKUb3NZAfUYpQ/u/1aMU4xDnmvqZ48NQcd8gEwSbUuPK4RvrvCPTisDkRm82eyZ/XKtXU3S1EYNwFtpjfOq+LzCX9luFYFqNRD3If3Crr6aZ8GoTgAO4Ek7a8D/5mDS8FSDzEd/LjejikOgCNCpkXVBk8u5kH0y/ScRVSp7KrGtwTaS5x2oVGAiqrkNrbf6pnndiWnWKVRwCg9AxSyJX6iaeePSbUZ64WL9NdcwQB5kLI8z3PqY0/S6+rl2c/Cx0HrTxyXDnLjVWFvl2LnGT4OKzHbEL7FqqdufB4A8HRtksJtIXZUxKV2IvhZ3+jjtNWW4v779aEv5xGk0DbJ7nLkJLMG2jkXC0+PxrPVyg+pExUJmq19JVj7FeMzUYZ/mCD1YmS8uN4u7uu2A5592tmymObD5Q71oO41riSgyqKGl9wnlinfROjsBEPgV933MFCDN6F6Psb9UuWVD7Ow2xSOc+fvVZ7/vVQ7itIwQVh2RhmsJ/eIQWFIUNKVoriMTKBSHoR/ho1AkW3WwkZWQ1zBZmUeFUcux0dqHlVrBgfA/CvPHMowStVpbDsRuF2lurModQlsS1in9MhbhCQpbusaxHfUMWA0lXIsg6YBAZ/FYCdrclFcNMuoCP9m2gtrjZrAVonKXDbziFFDS9YE+ixEqLmXinv2ZvNtrY7c8BTnJZGKGPc0qs1/TPTA6NDfqJMMxFQqEcbHUJGwhgV2XqKe6vKCGjp2Aw+x1+CZNjLnBzUVX6P5u4e+oh297gFtZbMcd8esU4t29UwGiyKSyps+qdlvs1Slkis2idAWKJb6244wUXc+G5lwUps5xDvNlN+U2aDWp6oAoHMJOY3AClScaz4GH+gCrxWAIz/BluFZfeEvYXHQWjHFQR1j2t4DLsjaxPfM7cOoUyjlciH9wzfn6Pj5ZeS/8MBZ4t51y0a5oX5hoehGCuY9I2SZfCMtTCY86AeSsvpyAmkfwCBLceosMQooPx6DdH7Idm6qMYsCbNk3d7zbCBRn1GcS02TRHCPey1meHuFT+Ua2VlgFPlPyRYXE3SHvAi7KxScRfMeq2LzleAYQ7MC8KZrgKRNrethHBG0aIMa8sejuenqoO/Zv/UsHASLGKJxC9fxGBPRzHCRfSP7OQRLqHrVuT+DhoXL3RDMZ5vwIeJ4LKXe985re2Qv1iAAoukI6vqveCaHawkH1DZ4gKAp2uBDYSEPUwMcZOYIgC5MzzDtGcPIgS+SlIvs9bKRE5Xq3Knb7ETdkr+nnPl+KrqQYwsp/AM0FJ/53xPhoIvS63kbVQ6EQ6FKBUKwLgEGWKkjRgCvrumBZzta4qFCybZSy47U60lRmzWki9zQwB2yl9xR3YvoddDt9X2TO1C649KXGNBmD/v9lgX9p2dWsPBGpt3pwwuByIkKuS0BGOJBzDDnER8+T3G9QqTyanVYB5NTV9IlXvXqiIk1VNiQCBZyFjCOXWICO8Ohu2QsCbl2MIM1j/Lay8zUhNoaen5B1KUlgO/6VbbGZmqb51MjgJaLXT+fbW2Lzq10+FO1Dg7Tf3+jIGp77MvpvFbvsqxY2hKE/aKPStsdtDH1oG9+NF5m40uTcN0sspzqZcrCgEGF9RoqviZGB+vKkfKbXLXI2d7T4rqP0WHtGCHIfujYZe+cRgkoEwgqQBo1HIT6UPUa5tWKCoIfainK6xBQCa8vqWaYD5dayoKZ3iLsrm+qKZ59Yvrzyp+NSK8GPnZoBMUqOgD52IEqWQED+lT0IOCApAupWUwok4ARhzUuZAepw6VorzCs2f+Qr6RhxZa92FrvxyuoHmtQm32qX7ENmwJ5PL00TzbmOBjKN+Iu0/UiBZGAtIExUMiL9udlxOIC4tzyZEX/RSHowzZCFkH+aoGElBbquB6MiO6ChzpJ0ZBcjxCS4iABmhwkoPUqv2YbdIR7AReA7n2IdxIq4hO1/YrEf10d6Urs93fUiGIqHQsCS7ei8p0xVtnT+dCMrIJKzaM2ZWml08ESU9Alb+fKKEX675bgXXJojYu02CKdLdOcViJJY3jqYpls+SgSAv4jg1hxbmXWPs7EmZXE6jgZetssXlnm7oXaJQk00ds48nEllL/ydeKLOxEdXsK1kk1RMW9Gyy110GrAVqVVuFtpRr3/lX32/ESB4MAGWG9YcQ01Y+cSH8knDD9vmqVa2oPcsU2tV8KTvfpRyDnQacMetsC2E6hGn7HuvjPnFi7HwkzpmtxLheUj1ahpo97qszyhSG/niKRf1fp7Lv57ghBjzrW1VUxDiIQeVawOFQ5xqHaXOdjtxBi8uCEHu16V2q60/BTMs4osHo/cyir6KiijALVfPyX02XtI9uSZiH+I6GgrWsCh41pLhq2ywVJRoVB8M0yxc70mDzBT/EUaFqI/kfIq3/2y+kKLxOmUhBA5ymjFA/U13Jo4PtRku6MpkiSC7pXk8OoBTBqtwv0xJnRh+s1anNSTXxVi5sST3KBRLj//Um90dEga5qL9TPy2qtGVYJ+HA6UWjXNnGB98SEPo5CvmpVcf6gjzkyi+3/UNIwuvt+7Cg+k+RwfWjgMmmTKfkXamF2Blov+MzlrTnisic3Zsm2I2M+WGT23h6jCw4kGCnYM4vjOyOFKTTIjByO0ECcWZWpbVVBtcrMj3Hxd5PbQsVSQbTeEEMr4yaPVLQ4QWFQr2ZbHkG7XE0kfP+uorVzFTFJnKMeQ+xDff76j/3fWg8h91n8xUbx7ju66HwU0oIos6bUQhW8wf55+iSeayfXEOIoIWfMA/9UiWtarzJL4kjUe3C5yL3ho/MYiN+xGwX9f6a+a8W34GLIMqfQe5jMDTw78HQmJG5N5qwMTa0ek0deAtQt2zjUnmaFVmDCdk46O5BWSyauIZxhN4dGfnOku8lOGScmYr9WsIny9PDqPGtuqiB5/jDnZ6bZtqBCd5pOIAaN9hy5RRy8rtUp3ETKUEzJ7bcAxkCICaqpFjixQz2aeabe3yEwqsVwIos2VelvcDh4p3UDUDkUREU20HFqQzk97ZP2voDJgL6VLkA+qUSkzZiXuxQCds9RClBMFcGTiKLh6wDkCn7sEi0dJ5pUn+WZXMeq/cCpMRa1gArORKPDbFKn46PpkVTNAU0Fv+7lC3A4BwGyS2fBQwDuLmKSkbCGC2hIFX+e89ICrm8AXufxbqFtZXk3VtV0qGi9edpLJAuOaT0fdnwQ7iLKxNyfdrPktmf9a+TGLbaJP8spkqNWYaTrktAiUBFIPl6JFiuxAp+8WqQ7rFBPyMKJOhg9q30Pnz0677ok5jksIOttWMOcKXWcF1NypeePL9NPXKlSKaymFWO/7fLhq5GzbzE/d8AUD3oqDP6XM1wRCqMh5C6MrjTPvGC36KOxOKx7MpNhei0ww38yywrBlouIjJtFpVEvn4JUbMTucumlIwObJe8XxE/mLSS1uXWMcVCNE5iS0+IChcPtvHu26e8i1d6iZQTvxrGYejGn0lW4faJyCvO7CxN/dv2m2u2BNS/k7XOthaqEdn8HFpmCkng5mWd+18PpkHZEvaWimC5revZHvOgvC65/Xj9oXQ7dT5xKdWFLIEx6tRu50Kn4r25ax6ZNV9zPy9wkOE/qbUS7V+AqDnXi7LhvcjV+v/ROuJd6qIMAz658rCKAgahiVejuLwpSlCy4CxfmAHNuADl8k9IInLdXPPXG5xAU1yshSaavCjnDzeehbqnFw6f3nOz/8aOnQgCX2dgDSAl4hk7wYBFslzSdUmy4fFflzToE9RI/C/5+SmkADfGIXkaDAxpmxz91OvP81oDrg4iFNzNbSPXWstKxN8ieXxI8+JJElwRll8o92f87g4dwvJ/3nUy/CaHs0mdEAMYyChHsph9igVWRCzWrIxLR0MrjBnWmHU6m5WZpNv2HBCNSxdC6djvnrZ5DtD+DTXiqj7RaoVYULUrOBQnHYInWiQSgKtPprZjSC2t/TXVzY0G/7HSYGz0inykJyfKA4qqtl033tbzsur7ToigMZ7RAaeum8BCeqTzijMpZIBEYIe1ZZAXMSG7xqzCGX0ofSBBCM4BUm3pRIZzmjIvridjt8zTteaR2MHGMNFN4xjmcwyCQeV7ktHZkw/fsO3wTFcOCGCYzU2roL9RnwRgFWDqjJxVilMzP/Beb/vXbftGVKQw6Vc31cjgA4tUSPIUVZ9OWzbPth4QTLq12uA4QvuJ7/5CqqPyxCDV5DV2qR4Nv7r1KR6XsiwP5TCZCEAb8cLPhW73f9kQbZof3x0j5tc/pIG8Z+cYz8w6d1Q0bwqjBwXmGp5pHMv63Gb8gFUUE6ch+/rEtM2Gtuehr2oGwtKj0nCw8EEmmqTpGNSbe4ZZUIhnLsIZuf6v/ixwk+2eGr/CRceojO9WovwHY5IIe8iRyNe0+2ZJ4v13n5d6Hfp/RmOTA8XGcAoR9tpeioQ1jcAEjNGoo3RCYkQtvOBRdwNIbVxDHouLDOWQ5ql1GfVDFCbBUOYgVK0lzmrCa4oH8eCT8AMt7VG5PYhe0+8L/bgubpptOlG4GnuvxHjrjwNuUf3wl6t2OWJVxwLWhQYSttplKoe+xDHphi6ahEtTcgnONSzBITQsKGfqlk0WHgiEZZKIHwf7eNa0xjL4wsJ03ftoSw4vbNHkxbqXInDG0HgSrsvWzAZ7JGs2b1zoEL8Ck2Odwau891pCS71wue+4oBAmZCi+NNMaqa3p1pfPwJk93ZOlKI/BwY7GnXsjEH/SMLGH4EWc8dXQ13L80uuDZ/l1u42IXi10NKtCzkpncvu/g6hC5hSWp6/PhSe1LQNnmSE/geoGxvAD6/BdELs1VNR/Rt+5XXrloq53bpZs5ZRH6hbORw1khyBJfOw/VbcRMX3rcqildcH28doN21TFwAHGJAUTZhG6gnG4w1WcFzrtcGyDCJrRDhL8LOLSNHSPcfA9Vu1Jp7F6hK4gRFivRfAfRv2rtcPgldpTVSyJnMc4kBuOwhmaTcleh0n9rxjR1XKg0YAtwv6lo6BVYHvM3mMt8++zkesydADl091Uo7J3ytKfX9kwO6yMYqEMdKhizyE4SSgz8JV5oXrGbGEIfjXFM2wV8/1YwGkAki+XDnXtx3c4liscy15qGkPYZI+ymO5+9RhgLLKbjW3WMKQhd6BtU0Bjl34YYVlClPwxw+cWL7cmZPFr8Xmybs4WgkC7TFKkEGNkz9aRyOyTakHlaw7HS8to0xWXl/yhjq0BaPr6R6KVFmlFRLdPO793XOKKCvRS1IFJg2ezCQXuCD16MphvNAjXAeXpue81fPs+/KL5Qo35doROnVilyDBN8s2z22ZsKM2P1+BmHb8f+X5OyxKWASKNaYH2y9spnxjZkluWySCwolxbkN0g3ua1/hltSekLn8qlbnocZ5sk81EQHZ9Yxm62hW1LqQX6dfDi2gME1PIcZ8GKRWcgbR8UBkuIcf1IKdXEcFQ4/L8r/wISE4RFEJ4CYDTlo1H3WbNsBCW8qQh5WTK8KvG5hzdk8lepsEliS3aMxxtAoK4W7J0itB+84/TKKq87VyfAalQoR1fUviCQIOjB4r8CAQPJooDAlZxjtV6ZeJ9kBLgXLLl1VXD70704gIHiBKuBGHoT5PRbTCl24gnRgJ/Ruv8aP0j/gQgaiy7F6Lsw8pVLr6q2MeJBMCFqPqWKBjPWTKEV2Oz8Gx++U7mgeFG3MpoFau8rL1nX5LZZ98f8YJ2S/YU1sNxDC5MQUDK6UjOYUkmS81EYn2sPmzf2+dH/pNUApZcQmrXfRkaZZZDUcy0wJGHHV0nosWG70Z6EUwg4wb/+uhS2Rj+7BmS1cruqbxBvKZlfu1fDsDl5krgVRJ/v/TgGPIQqoadKk5cehNpSiBI946SgIjhccrzApgv0OoL77ULq6Qb2a5X/L1clNAbSvuEyDiYZYzQOccm8NnjxMkO9X65clv1/9h0Qk+/9D8Sr7npqhZK2r3g/by6e/710oHcLfYznrUVXk5WmWn+P/mqV6a1Sq4Fg+HTlsAbAMm2gx46nVIDhZG5ggf0cvyre5Puu5pjm24e9ixB0a0PPA5vB2486oNy+6oTOfq0JV8pmWWQjVTGHfwkyj1V63fqZnbD2De8AttH/R3UHiqjALEXoB0SPtI8yQycQ5B+VXJ+LWT6lDjiVhhGNBoWdpBnDnrpLDz5SwPwGVT20AgRIe+5YD7hlJSyS0rk5mphGtKaxAr/Nc52NoA7PM1f1FI4hH28MXhEWz5QMp72kC+oWFtB+KV4YMXmepQE9MVM9+d5Cl2EnNwBQzEsBmWLyliDcYILpYcqdycv/wj68/txbdRKTVY4sD2p4ECH9XVYZwuHPOxx6Dk+7vLzhJ/Fj/SQ7GgMiFGj5ldDvnIjW8//2tupYShdyZD5qWYsOPJiCKc0+Fdqnwh7SWomeQBr5hEd1hhysAfivfNS//IalVezqrG1+abEyRx89sibtsnA6oxTdPeBNO/r2RRIFQzu82amQs16RY/gAeyWB8jgBRn4vdwEwRsXTT4J4KAfP1JWU4YhSWe3FCnyaUC56n2KeLQAhu3Fv+PXKiEnKePtjxOPkjKeYdA1J++LWjgvbuBj5xKbnjKmQutmLr3J5OpfMlCW5D37FRM5EHdSTnYlvpuEbQJ0O9EXfRkwGgvm5lJpt9WnHMsaN93gyKF4BO4+R9xJzneLa0Zahkx6g/Onf6lfDdOqgTjA7rzx6dzNiLt6dt4LlwZKs8+3oge9s3hp8SpdR/zKpKusjNYWTTlIQDIZFqSbVVKZ2l3qGCzu5d7NWzEfmhr7UGeQ4vDph7eGINwf2L9AKK/yVqbz5ynDglW4Zp5mHNaCLJAHbgAmPAYhbvrgXjNKvbnWsu4FYs0776gDzyLFm2w6aTrUiBw44j5WW/kkZZchOo/K6EetTwKQLbdmI+BhCtirff7IXBP18Xqmg7+dIJajZPQQUk9oDpxbTgMKG9TF1NJG46NRdds21kAcVED27R/t1en0X3bHYrVfqm5NcqLt6cihfC0/uzM1psX0Annb5yznuatCbUa7/Ui0jMvc1RiCInWn7v8UF8p4sFf1cDjfPlAaGL18ef7WaB9bUsVldDSTyOYwTylG2MqTkz8nspTzhQpvtUpZfioAeloA2KN4K6XwsZupK6R+Vq7OBrinZTPdGBdIILiovQm30DGoTu/x28GHVqZSLAA4HwjbeCN4SJX98IC6waim7SupCNuvdRkjLdOS6qzelDdpRrmhZoPJhIGi9jiu0WvVwt0Vg2HFFz1FWQj8m0samSLegD3nl3Nr1yTRaZMG7XWqAYXzLBrs8PJ2Xou3VEMMDI2fUtLcAIHuxAJ26uX84JfANHRq3nWkdk+Cv63M/4fcIAxS2Lvnu6zg/DSss4+A/nJWIzBCU1IS42xqm3VeWYM6AOAr1VAJzGZ4KITCcafley8wiHov6seZN1zWAvpjEcAK0RRYJ5EmDZe+C1hdh0uHZ2WDbob0KOYkkNIuihWeLp6ytfNc+H2KWPf7ktKMOYqa6TMz1O+SQhsH4dRnqtQ6n7472DQ31rbdTAjmdppXq5fUJbsGOU7LEB2Btk7XYhknz6yE7eEtQc0k+VncHdEQLcuJx+rqBjanZWLL6VDf3eyJkHkX8g2pfSEcVYBAsHpuc7WAhU8pC2ugS597MhF+Hvp8uqmlFiZKwJO1qF2nf9tGb5bjg6gHT2MnnOKgUMrKd1rNArl9UIAvipb5+UgtxZ0uKORb7YhTz4QbceuE2WicQd+K9PB6KMxqUjrT7Ks8bDqRAz5W00Iy/K3jRDQdQ6cvQxtuAXl7ihhovHOCADnMJpUYIZqMbNQv464X8+q3UrtbW29rwxsXZZ7AUI7s8HpU97cs7+J8VCKzKBbMBX6uI5BXg21djdp/Nlh6f4WAuRpABFQFNEJeesEG3RUOL4e2bIGEBO82rm93XT4+I+Duj2fBYGUCyToWivwUF/2Pd2ZwfokE9Fdvys+iitNU1xW4xDHtyuVZC7xqoyFIhfAOTAOnmjQx5kwtVYM9sG+c4rUPJZakod7GufbYOUu3A/HFT/IRHXY9PcFm3NEyhDYUzS7DzT+AuAeNLVrFw4P4ZMQd0/atrx7b5qkY9bDiX6MQh/Zf+Fi7kzQigmIJispGnHcPkWjFmBQNCJyftAaWsqBYUmdvat6811Uzk0uKQbU++kmGwm5I30ZBVzKGRg7XpB06I/o8pZDGExA2Lec6LAXEDSjDn1nBAEds1PmvPL8smduHrIIWwTWeedvF5MCxXzpevwHMIoLqzdBWvVfSq9mv3h9WOeXVzRkuyex9Bi75VE4n/pDqGUHT/Kc2k1BoTVXQpdop4ujxQFfLILaKeoFKSAsY02UfsUkDAM1rd8RYP2Qa+NKO12hVgegbJrwNCVuTj8zvvLI7oRV8fhlk8VRCPN3kCHXWS/mTj554k6P3fbjZroBO5W8n/aCKneuTbt3kv6/9MV8nRhijHAw5HgVK2e3umRvxGCF6f3wHOkEIs1yO2Uj/USUh6oVpZfMn5kEQ5FMGULKLem7cy8PamUxG4krm7sMrtMLkAxbisM6BMXzOQYXvS4SIHYgBmhxAbcIzgcedqexyXx6PdXzluR7XkzyZ8EH6eGmt4WJxlZmtokKsPqEn0COWHgbZqQTLhsNqcaGoGuzLf7cU5o3s77t0wvRBqY3hsbNlrWv7QVeP4zCdVX2gTa9Ar/sn2fVuiMbEyFFOknHyRDO8N4ZZHOCoVGJJRygOMImkxexR/ulrgHCQ16Uh5PbtJ0FCb53ncEjmLK8ID6OSt/QbDc1aPhX2gvJf0QpDFBbQsXzTANc0SvYExAGzn+8qrONcOF1KChOV9OafyWsTF5JxNorid2zH9l04HzajBHDlOmhL7XKN4E6Q/7+9VnHlbaA0TANC/tvTUU31NqajW8l7b1aZrf8EFNs9d0tuBXFDBkzDBQPrWScn3n+gKHFvDr8LIkAmE27sw5GsuSv7Oh0qytPDOXe1xm3h9dp0u/PwqANycwX4pEIM44KPHhoCB3XMJfopPXeMf/AM3WhpGZDAKJmctSEavZWofYyvjAA6X/Tj6OaWsX4pH59n41cLrFNVOBdbHUpgTd7FH8ZYWZ8y3JzMYSpX6KpqnT/JSOTYbYVrg9UaLl/BYvwIVZ0xca9rfINf2hyF+vEAh3VjpAPZshfVus5YNs7qekK9fklGTtaoB/XQGjcmvR3PrA67uSnkcCQsJJju9IBMLQPih555q8BUXevHUXqh7z7dYCm0pnWgrUc14FTvUk9Y/K3Z9QBP41SSMhH49mUXfbIAmYVurfJnRbP9QIny+D72zC4P/m3QzQ8N2ouxtmcus0TJ7RQ7Ju+ZtslVQfwg/XcAyXSsh6hpZK99jsySsyW2LF8kzD0mnK6HRsYx2fodMCe0t7inbaoVwtr0EUo6ncnYSetCRGpvPQcbKZKhfnKZQ/xBd7I1UbSkFtOUh7cBPwYzGqrUctc9mQQ4KSKEr9KHpbgnq3XjgMvd1xnza0Ns8ST+0jfljh1o3vJkIL8emXe1wbDbWVda1Gzpc+eip1kFMo7Mxs8yDStpOGhX2Zq98zlWUwi/FwPL7or+DDKc6je9ANuE1O4+5t79LA8aqee8O2AL3cXVbDrQDz65qtNhJKjuADacoGJ9FtDvy8tB5Bc5U1CUqWILMmugQZclVrcX1BerdxVCSswr0m3VRTuyv7IQV3INrxhK6p1mmreUymoYV9EPhgMXJvdToOQ0wiY0ssHuAi5pATfc7WGKBwSNFVoQLcQwHyuAhtVDHfMfuNjxJmePwtnpVPsxcbQHdRUzklqS3/Xs6TpcnnLJ29LK0RuTUJ169UEMFttXoPRcqPlu1twshlKG4qHZGfDcSWlQbB1zccpNkV/21jhGyQM3duNlwSJeeV9dMsE+FaMdgVV3SrH7btU3W1HSp5FrAJabgux2GUx7pMmsu1UuLjtRPyQWmSJGg2zvwXE+fYriSdSxgAgr/Q4CE/Ic31pSZWGXR0Z2kDqf2K2ehRAyen0u2VSlOLIKZKYe+w8IRXkImtuaR23MzJnsqun104eFu6HgPsUTLbgCBYLOzpkMx/hDSdbNfxFtpbxeHepzTMV4G9uOF1xdyJPa6aZtgBiXNQ8/S0DWVZzW0SaplZeqcHAKKt2B7tyvk8MgvwnGC69xctVYgE9lkk/V5OjcXFwVwXjynIU06r+FEAe56FXoRmUiU0lVnIFNKorAaWqDFbF3AiVNFdxMRRkfhhM9q7SnYod6XM2LdIV7/HeMhP7A/7842Q8kPZiX1c34+pxsafmr8ADU//K0UFf6TYpDIxVFA+yspesTICHs0/QvMFZUC5TUkPbGuWp6hw+REN35eqhJOrG3yX5kiZPXlrLYcjEoNhoBSTw1rMcdMadnxHwEJKrb+UrkviVsyvWFnJvEVPv8o7iX/Yow50u6VyjK9dJPkGcx/GFdCJpvPA7Hm0aJheJZvJCrTV5CPOTwU3ZCzR60lgtJ1uVaLq5PiXC7VsXjqLu2XKhyPTQpJ1sqe4nZKFBroOwPty8wZ7BgyTMu4GfNTtW7SHPDbejecvR4g4FTIOtFmjWIse0N/7sTIgrcZCB6NckFOBr4mMDlUL1QBTNzXd5yWxeuMePU3FCQCuj4UkHT4kobwGjcQCHoe/ySf8UA1V7roKPQez0qrJiG/5rS/QfrHcoF9gY4nzTn7apvb3ibmPUgIdgiI9Jdi3GYgzcaMmftGLSA/HTAuH0QbjH/S5TMAfvhUMM2DizAsTt9oj5WKk+vQWkc8hV8A2rlfcizm0s1aPHX1z4obubQSEWKaIKFBRUT2l5jAjUA8kmLibNMp/J4qaScsWuK7aaI8Czt8KJ7umTJ1XbhrN3t8urMGv574H30yFzYj3ReneJtjHPbR91N1+SZCS8tikjISDitbbEBEvTElfoCYxgfDC8yVt1y19J/tkG/L9558VdsrShGedsWuLqeH/ypCxL+piLaXJ0evzBWPbKkr3Tk3zTRFOGhBwmDPhzq56PaIi7+lLMMAop01DW1bz3uwoE8+rydFI3j/WUc0VLN/jrB0KJ/zDRHet4pSJs2inq2h7JkHSRJYswCZaYiQA8azF3aWClV7qKZdGUAykkzEyZyUvBVYZP8vyHQk3ubhWuo7//xzMPEDDx1gEzogz9tYiCpRJJ8TGbtl6p6ZGumAnlHpaWpnQTs1mWEoWGKFzQQtDri3DSPGjur/p6Y7viWto2Mnw7HBKkXVJZJtv9AHStxaZ0sFKXvBNOmRyFgSLNGx+5XhDcnfMOysCi7quRiWJq4EeWRNmfyChTUBSsjlWUOoKTtqD0b1hjoglS4jiHJsYczPNGFCPSUk+8zrbQtoa+qVLswCrYqOpi17iWDaH3rXqkNMRpAES5amWS8/aF0SsifJG+vqtLnGVT+0FIdQpnjMTyNdSR6NxLnxNrZFR+kzYyPRaPV2EQ7O0IR4z6F6pxUijJAY3ZltW50UXo813bkqO6fLUIvMicxBF5/F/v+7/ZTFzP55o2CnBzkvL5x+Lkd46wAHipig3xivMfksZtzcMDFLY/jYA5lf2CuWbo/QrgI53E2tZeFUctvmLxKWtBJqMXFxIozV6R0dLLw6hbhwsgKo3L9+Bp36Z8viGptPrGnN/qpTduEQu1IE2KiEqJrJittrXc+FGaQEPIH7Myu0uQEM4TA3RgwHKW8bkk+3xJ04gwSODqAz5yxcqlgwgksw5oh39TTKbiVoNHO8Bf5HvH3oPHxQBWixDU0YGFZz1FGUfzd9nkY6+x9vgySJJ8z0Ajs9e7Xts3sElcCfVriHRpGzQRhWCLenyEr+t9dgQ+uj5WQfCWUnkcwLqy03dv0wheC+J0QuOiBW+maS5ivd86GVwuS7OWlNDohAIzobqesm48rjUEeFaRxmCrb0vio6uQnAC5Uyi89f0RpNF1SARsLKXcmH9KuX1MHbA/09tGnQOSMpRv0aWn5hscPk2YMEy5sm7HCEVLK3r1ysg35TMuI0V3uXWQeohdz2YsMCWemXCMpET9ZR608mjVZQJdHrNa6kQuYIfsPeCerltugUbG5XKPYTOCLJb2VTzzvvAcEP1L0kzpy7MrnJ0bVkkgG2X5bNtPaEmoGCpjjhQLTZKj+hfcHno68NARk0Skbh2pN+RdVMhnbvcQ+PS66s07w+5xLp884l24aAZepqMjV8zubFpNRBVwob36DtqWPP0pjTGtD2EPwhVOcCsJCsGx3LO+PIeds61sjzLIjjTQVQFZ0GMD77ijc9//QFS9zAtMXDBfDB8o/EnABG5MS0f8LFMsJZ3rojJl3c7v/iwTZ/4n7sm2cwKBcRL5QIuP4rme5ZIrm6EqunzCMcb2R1wmOVPKnFSeX1Ha/iAGyYgBMRoWVuTVrDnhl2gxj4I/5IcE7QoZulgVU8AS4ILYfZjiehPkW2HU9G+Er7y8bb0SbtyeZ10czYUNGoANmL5XqrlPhfPymPuLQNwq390u4CYNIMGwnRzYqEsx3S/KrNHpp0JgxLeHGq3nYtz56nvxsMMA6MSPBnS5+bdG0wPRJm2SCs3Sbuq5Rd7YnW6fXsXr48emtdiB9rAvwKYuzYgb+t4licZjRO/7a5bnqpuF57qnn2yM6RmfXtj63j//wPm9vaSydFRC/fpnfXwS5D072lBBfb9UdRlaRS2yRit4Pm6KUdoJjWEWBWc7S6jICXD+4tK/+9Zc1pdA01AChDRngZAvJCGLBfQe5pkMKI7/qYfHCGDwU9QNBHBR7NeU0v+QuN0ULRo9Zoqny4j6Yulifq5Ip5mE2B3JdWXWUhhGd8b2s9CyyZ4fKqQ3A0r4ND07A67fqOH5dJ1EIE9UVlTjlbUQFg9fxKdBCKS6ArDyutvNfHLz0GWt5EH4+WKny4MBNlzNdqyJ+93FrVWQnR/3VgNprF+LRt2oEG1qAgNmZfn5kQAkZP9Lw7LGavPqVI7w3HAiaLa3FmjnF9eGSliNPYlJc0S+onoAPL1peJxG7eIgeq+SDHeWAmuhB1lzHZnw8AfMRnNqaiLC3LzYDyBWZdR/QkOtnXYKMFNe51B3/YNlokj5K6VNLlHFlONymW0uJNx74S4Acbu4vzkzzMW5FbKDGP75BhV9+BD4UfmHA8J5IVWF2I4WSdR3WVaGLyCpEjFhUzSqecUaq8cddAE9HTRWwRAh602tt8yjgKb6bfKWX/u5xXFurrYlVn3jVJIXupU5McTqkVYKnKXzryRPmrR4AmAoBMLEW7+hX3YKgwOs0sdaXHlk11rXv+aERomUDiBrghobLvVpyE44ElD7CmGSu0vyffje8H/oY47cGBDaZ0Q+fQ8FZs3D9gy1cagvA56OMxT5/OLoVmnxAiEhC5LXj6Dh5nNQi8MbAVWJH0XBrBfAlNudyr+DUQGnxMhDi1Hrg5XKox/4D8GRewGNhN0gD2kLXCo8PEDleU/kut0DsFQWLhWZ6zpE3C0JTSPffAuOV/mf7JPNXZ0EGnOT3BqA1Oc8rrz+Ak4Nw3ii1koTJw7v70LJdLFDaFM8jSFrQC44xIFbZk6AW9TypGjJ27LxQpK7JoJSufoCu6hXKzuFU1zyG48f6xXgLaBz5pPChPDCFbgiatVL83+DN9/2rZdEkwrLNmB/DqtWYt3w8L6lEOTJySvB1SxRWCRvP86grQQP+1aT4EqcliUYM0xnfUIpiXTOPNH0RY/uFARJJ2x+QznV8dAGqXHczUPuYDaespFwuhlz0tGvRXoWQA84RY6Z3et6/TWtZ/xkdHkwcfG/6RU2JkWB/uBpAv34TYQtbmFZKRi5j/eEbXCYtA/I/hsz4gjseCqo88blwEtk75xSasQ+a7OJLkjugdtFONZLqp7LOF3PRZ0+/3IDydKEA21oncQLio/m48HYd/KTSV9G577MDkarAnRwws0XVhH1RBPsh1npsupuiNlQErAn70tFdm1RQ4bFXrd6UD7FQvBJpXfm8WduupSK7l2T1Am5WCA8IQSlpPlxALp2NxQ47u56eKswys7dbScTyJeGMTMYuntJFW8tMBgmNP3g9ym7Pk9YwJbQk3JvroL6YdEtOS/OZ5bvCjs7rHeZKVizPs8xlUuASt53vgbAwsEdjpXSgo6TcYHjdMAV4QPrI5iQ2UISlMFPtKBFPWyJsYw1usjdrHbWbQPtQJUcuGvj1Yw/P/nFIKmNHOesDCvA2FfjHmUQfVGxUT4r5dmNb+KqtwcdsTiEA5C54kJ+r5Wn0oYFJDAlHvN3btn4GObL/Y/N+tINAAqXsQB/VHNw03K4ThBKjgA6TeJr0d6PsJSEJpCDGYV9gPGJIcNAilBt06AXeZyYgr8ymy59Uj+12Kg1zBfQkqfKxKDKVF/IeedFtNhG1aZtOwAi3Eobxbs7d1Yo0VuCtzo3pK5hKcLypmVSaywiUQgLkUSNhWPGC+UYrTMbBuoRkuhX7GMnoNk1Qvi3CkSrgZNi1N0xMpdsnkAMZQMjIR0eR77Q6tSxR+PV1FEh9ahFdCUFcYSw9tklmp5Z+k5+iyiZx2W9LfiVX61EjD16+hKanEaCd3/f6hwFQIXbgWaFcCKwlkLclGm4dIkinOW6XJ4kk+Z99jYXMQ3R1oMfuSBjYwP+5yBnRfsHor5VkqNjS8pb3d2unNgpOidECwIOAY4BHmCshggHOeKvEARyfAQ2h/K4Zf6LcbKz1ExUY23e7f8JEe2twn8iB2Xca/hkHXh8vMhAeHFfzKoC88ylCKSGIvnctjWPo5iq8KTGXlJcZT+j1Qia584i4mRA1gT4II+Po/nPc2NP9zm2RJ+2ZQtg4s/qqJBt0GUYcmKzh0Jw0C+bG8pwqzHcg7KLTjqPyQOmELGJKhouLkdUhIirAv/9IwVffFpuTfbqdbLghiuwxWouZ+RsKKgPLjN+2srKq2ieapJ7KKwdfqojInsgFvmziXWEQ0I31usr6txyhJ8vQx2M50J+8m6bhgzKb8Si/tBFlCC05sLIFfNijFrDozzluSkc1tn4JRHsYKeNvAJnWpuDeHu1Re0nPTRa/Oqm00OvpJ5xDjOz8DVM6SJepdk/FUzm5jV7ddzjdnrjQ2KCAr7JEJQg1JBUKk/diuMuisoQdwokRtyNlLm1oXyKJtOKREfy1fzEhQeyUJesLfbmrrDc4A2VSchK5rO+UEFW3sB5XPe8EDdARjNZWPVa28nzpHq/P532mq8XAlm9p8o3SEreJ3FPKSyhN5AA/XnoH6kCM/aREVZ7LIgednkjmB8mFnb8kxw4YhvSEO3x2mz+y5DoUtzIhTO1XoCHvvBCl90YqZTYUl63oRt1IzwennLFQ//zfJ15rtUoVFTMxavzCVkP+Lu6RR8e49R9kNeDMMCKAv/2403kz1nSThLE7Sy7dPamPcKFJfLiLLOnw7GK3bwN4oYOyvF22wM2vI+A3XFnVjlMRsld4/MFXZDf1wVLpPbpg06W9nbcrLYSeMDh51cTh4cTh8vJtGZEtShGIixOVQXLoYcfUS38Gz6SgmUAO6bOCxqffa2frteYdfI26WpOrDJf/vV22hYdj7GaHLD+rqQ/AGRcIHMV6MbqODoSuM1f3nCYfL2QS/S8IrcTBu8mfapPd+V2Q2ZV+oX40qAncj/Oc6tdSLH60/6HPC3B6VJJYNpiSnsgW7tLB3CDf5CEQ0hhh8kVCTP4pCo9fPCU5zRGi05+jGPtUqx/kGjnXXBwqK+E+X/hoijn+FP96p8nKgBixcQDqaeWJISsHgHKdpGWBT3Zzgof2sZGbQr88C5Z/llGRTcc1T26Zn9NEL0zSyCaAQsoQ9M2vyX06nUtU7FEHwMpTVROUxC3PURPOrzyxTR5jI+vEF60VkeH7FyJPTsi3mizBfpHYAZjjlaiMXtqGLC6RFLYdp9uJmlX+TG33pryNbXrJuXS4oHjItEFryvsiwuebDzBOmYfi7R7EJBFCKnqUStvqUSRTX08QlbX/w2/IzO+leUndZ2/qC2vf6wRaTU2wC/Q8Hzg7jq3TsqFzSTqEw4pFICco8ndeUkaTlvOZbGRRccQ8DUf6p/D9gL0T1yoW8XIPw4y/FilB1OGHNjbF7Tx721Or+L/EcjGKqgGAHZXWIpa0Xo1JEp2TCsvHUxIYFo0qEB49oBVHOBlceoOQ8qvp9g0Dd4KLtOnciDC3OoPu04OTZVMO+m8RQDJHCFkhdXiDYmbNMNEHvF7GEkHF4/9X2EEwOmGFlAB7I48FAgM1Pa1Kanam5gPcgcfUd7K81FIM3RqiCpcG/k3Z2SceWWADu2eHkU1PYnt1oenrOenefoD9t/njgP8UNoZ0TsvOFHfY2EgpjjJQyY1tIJsZzjLox+4Hafevr9vPpYWw9tGu/XcqU5AQ+BC6qcWQbAlC+rxrI44FaZ60AvjUrofzJEHMTaxIW6YMrg6oCrsZ3qGzSU2XqP3qHAqnGv7/zTjmtQDrk6Tu76LRTBp1UKj4cD7LxA5OjXX1P2bsjqQNO1c5SG3edsSxXlHdLG6xAtkzPCq5nW9ElzR2eh/ElzjWW1KHvFt27a0q5cnOlIamDlqhpCsUshI9olAbonPFKjo0T/w+tV0tz2GK1RxTNKies5slHrCfjo0uW5mQMztl1EZgMSRzVqaBAXhZhAIWw7kMlr/wvrVHtUBxE0VKzZImwwDmj2YhKocNj6YRWsbsQFu5a378L7kyQy9UgYHULu+3J8bKiAf149v3QxVFAT8tve9tSBtQCsWaMpPOChABW8D/HcLCc42LdPvW/ow6juMugAE1J96eteHzvH2nn3D9gV7hltmvHZImJJGQ6XOkXNW6KUEJnT2Ov9iEBsEb8P8yxe2vZP3q4ZgvE5qi7eCCAX7z9Gwt379GZCQi2hayhiv0oUjqi24QqQtTAqaQy0M46v+9mZXsCFJpxsKl0LDbSP9Sji+gZo/ulZ9TlZc09IO+KLNyswUqbTt6wbpi16eC3myPOszrIZJSUtgMAxuDdz1M7WXaT4u3hUEG1dhIsV7wZU+9be45PSPCn+poh9ZGfT944BvFG8fNCQUaRN1V44A1Ny9aKkQTtfAsDsmxT1Fl7tnLz1Uy/2yLaoxwtNupn/Ds5OQ0hFlMqlQV8tFbAkizMKFDEkSiHmWL4XhokGadA1QdENh+OY7QFimlxmujn1hFNvYObKHQWm54iKPBFMCKY4i16WLVuUjGr2ae/wpy/BeyPxOZQwnaruum0awFr9I2F4/9QMyhJTvgSANJhLgnxPgFV8pYCKeTxuQB7oWO3qXPjPgigylru0BZQJqSJ/E+I/E9R237DH1WlbTfOkUVa+2ndfIC55OKruThS4vgiYQe+B0O7Kb3UCPbULHjyYXbCFCCIwxteX8gMBDzfEXW8aWyQNlCyEV67vQABw5d2UUTBKI4xsnRTS6aDL7dxPoFYm4UFeraVO7hcUVkWLHB9r8tOpylClq9ZfY0ATBNdUAUS6GYPRciAQCwlQRwHd2fJU0AVDXHta5pw9osfwVco57o9MH2IBrkQqLXOE/6mlAIqCzJqBWzxN1rg1B9k570xbtJn3djq4ldRaMDRuRMyf3nMBEdMp+6YOWXOv3j1sfQuc7GkZzAUTS8I3c27bLz+xm4JvDqkUtJYA7riGAeAJPozgKJBVJPG/qMaOVp7VrWtzs6v9dv37/IheP8uOqNmifz83dflaWSgmnCCdYaZkDLyWHOxTIMRXxcP4seX//99QeA9p1fISY6OtkOGvs4cWKrAKSnMf6Sk5LsMih2X6YAOHKChCL0MOXEMDcyEdkKwzBXchho1NhL/zKgwuG1s4P2+Z301dgL8/1vpWGx03iP1tHLKfKax0QmWRdPIk43bCdYUh/TX/r6b1j/WSdinMAXw3EXhOtFY6rxVYzNsV3clzTcEVC3fH+mhEjyojTUja6j/Z5SXwDGzeoSI+pOYMki5h0Z1co0waSQUnjyUm4CUU0LX9cfLNTHbsuW5Z6zxJQxSqtAZ/kAeylTZ7V7gfH2EzJAivBtbhXj2rJOEAwHScv2CLn8vVe3FQFiG3pqq+tVfDT6GE5OaynNqsRRfSntLQyDd0cMHcDb1qIYIVew8NN/n/Lp9rpeXlrVoXhA4yrcGqQCBsazksW+5Cv9mZHJwCRvoL4dUkhw0+VMWBytdMu+UH4f+1JC6lSZ8nr7pEXZHKsBmFMgfiWFmnUK0tmU9U5Mb+XdJ5VD5BCTfyMVgbz5TrrCMLJZLMB7PPPW8G9RhLwA47f/3vgXp3efcVrzcFl+RTOVvxFhD8UuCfM1uAuOXCEo/VhjuoGJJFnY9bxK53/iodR4yKsDqdcje8ZM7lYrGUz/5+ZFjU+mN94ti5Mrn07bkLPeP3RopfWeNiywO2XCQJ3Kgg2ZdUWGiKO1gIgxLk5/lYkHvhYYwDXjShzMNYbcLX3H+U5wPQb6dkJYTE05PzaTP6Jb7DbDKhG1btmcHXvMwdM+0gTAaMMbJmhgP78EjrfHGr6Ljkw/KAJZk0APtZ23fuyK8hsrdAZXIsWiNtsptqqCERcS21rYfgWt+MQ8XjtNf0mUw/9xpgSUrGXlGWxrPAcJr6LM7oMHVkenH63ASzqm0B25s2jPVXGcKN2vJfuLuWoCpHQn1WomE6kaudYaPXQXxheXXVWiMJFlIRKC9WQ7lt43pbZAhFSXcRFBu4KGw+owE9EesTPjsoQ+5jgxc8iQOfFSs8PsSlxJZGHmiNsDo4ojz0d1Pz60jp1NA7sVzU1W1sJ3nofffCNUorDiSvqFbSWDd5xwizzdUJqOLhBSqkkjThQb9ida79WcJFsev2Bt5Nzx+srzLyvEKRC5RBwsRn2OWbvh7KdwNi31401XbjgYCrHeSf9uu+up0ByvqPASxHL3I3eunGyrUE0fTGn4ylMzMbIW6jyRyuq7yiLUI6u8DFF2yyqYU1xIS9VczVfYG2b7OOBHeBwIelOoFUdQiJ8aLGxtuDFyID9eDiM/RwRspdSrc70fiDDNuJ53D7H4sYQVS8/s+v/upZlU9ZEe0q8Sq0cC3hjav4DgFDIjI4yw2hxAV58+D+I7qm9hff3/1/gbeZryiKNkCOAKrP2lL0Bbky0vFffD6fUasWBtPO8RwDvB6MMDpFywhZNOGJWBqw94wROCjPsKEyvEnT5yFKAxOtWAzDqmGCKIPr3AFoqJLuV3vRUJpKITPx9gBo2Ptom82E0azxi8rqR2z5lN/4VloAdCr4RoLM889zReqO7Vsf9a4sQ018YGLpJakdCAhbFoYS8oMBGt57HtBrwbjqrirQSZTDeuK0WJ2NMUfQyqkYPA8rlyX+TLcGBCzIgBTMAXEFiesXza+nB3Rp8OG1X9UejZNOnow1pMJx6NSQIZPmKdl++18l9+TRwfG2XwchabyQi3EMbfrDUfH7y2cyeLp5Ddim7qlGsuW6+D3g5TMeCDKkFNGGur1YN+fd3eyyI5yZBTTqFbKzr+bfmA/Zh525ZiiQVVL+iDEEvXz4XbVFa3McpwcM1dWXJ//lPH0KS/kPh8GMb+AGvK7LnE4KwkWXVa4UlK5HOot68vojSDrrANqpD3mGVLq2/Is1YxzPCVNX1z/3OWh3f136XiELvaphsdwzYcHMAkekAQVJCwX++miiLcHvNnTe5ttKevDbdSHHY8jEPz2UxjSt9j9gUcxN2FOR7+qYZb1AT3xNQhfjmEWL9SNjEkyaccN5EmpiayP1l216HFbHbVApfs+bdlIavcz981ZQTZspN5sAYZYM+S6UgqqznCMkEHn0quFYm5veIXeVzuwaZK+9qmS/Ed0VZWVYRUHlTb89pC0Fyf4EsT9gF+NVXOE9Kbuh/MrmvK6yvupjAfnlpTCc16+AZOREuB/a7M2sd0ozhJXcCkHmrUN39d5IpPmMDZ4UsSsn4Lrp5+8uXVKjDznztBdGLZcxtSxp0ZtNzkR5aoIANe1mhEhZVco6s0KOqMkCEz+9P/bwF3Q5u0s8IFNOgzfwwapmXhxOd8pHZ1Rp6zgKI+8ydInjuiRi3M+ryAOJmS7GgQL1bwIFRuU2Z+Fy0mrlCzAHX9hQd4i8Plo63ZYkO/Zgj0WEWIZwfG6HqDQDe9MPJSci8nTZTmFVYM4WEX7wky7gf/2p/Qm7EpEah8ERlFGU6/myeoLeaLufxP+PCXT9WNLYIeRcn8lQljtiOaIpGGTzEQaa1fvmaSq2Y5PRaag6kcDbLsAAt6DV6E1mnDDMmjxaR7H9hNpbZZI3ENjDFJgswzXQs87RbOMj5vZtfUYwJVGz75IvK/+sG55Xd/OY+TlYWpnvzqeV3YEVdvrGWgDwMf/i47RuOAa6umDjND76sSQ27InPMf2SdELuzMphy+/nXgMENuWm3ANWfjtDY6cxRt0zyEpPywEvftVEiOgiTjjYkEBKnaf8eJ7vawHyxZFUkAzwwFHb/pSFTSeg6WczDjIe34PpPdnku5r7ycWVtrKCQ9nbOmSLoa8L7/T4K6kcF10zEgebpt0ASKMVPJ2N1NKGdLnwcvPz8O+RTsm3uWdjcrZeF3xt0h+qXtZtC9P88G9Bt4XqPZb+hUSGwvohusfVxkBJs0xjtykm/Fj4OPRo+xOU/1p+NGqzqztGJx14pEBF0qShthpW5LmI0ADQIIzwJyIxRHT5vpnvhbMXtEkIUm+VI+1vV/7mCe/nlyYOqZEIju7uERBQqxQN9hZ1uz+9+S2COeDqxmg6XJEPm58oQALJ+5wJkK7jDx5N2hJwBy02TXIZFavfMH/aAAnjh8a3bj4hRlDl+YGrxbcRkwYwoMG/hrdoUJc6wBs/JSjtc/0pctPEUA4byhzuosH+rxyD4fMW6is1Q4+5CKa2gED2mz4KGI4aXvs8PiwaP8KVh52Ivne6QiYS8HzhIXFSKsYtOPapsh0lNrslAFiUwPvymUyhYo0gVqelL+TTA6sfbS8fcxc+TXVPPKKphJWdTJhH6ZU23Tb1wTqpC+bEMtZqd7kB1Oa3rca2ZcTallT+/2Aa4ySO6PCwDJPmSuGC6jM9vWQAA4vFE1eY+68abYuSMQgZon/vjcgw4sF5Yoz2ouupa4f3eQ2zKZVlEAFRj+iUIrWsTGWZPcvbwWMLSKj0RYeww4auSsXdyFqNqQkBXSIL/X3wgEnDVzBaShQ2WDqKJ+QQIfS2UYbFIhItdDnlqZuhIUvulTsW7u56I30ev2M1pNwhqr80LdcsVdenCMzoClr983KnQcYhhh+PoU4stwcryR7vCV9fVeWzs/p7uWCinbcdwZXCuxdmlahrssZ4QzY0yM2esknsjE0fzhgaM0V+JE87B/zFIpcIa1H8eqwtScYeacV0XdcyogJDw6DfbWlSt+GubYw4D9TGPMLp5HywKzBsDfHpqjKQk9dXGqugDkLXraABslvQHm/bA2HRGjLlhXiQKSbDK0qg/PWH8buPiE2oAseFu+OPNP4h699R6WZdcKpLhsePCJo7lYWYi2ONNuYnmj1BRJ1fKDe04E90rh4mQYN/6zlV3NV0i4zZLcHN1YrOyqNDwAuHNe+VgpR5fAKoB0A4soU1ZgGXA/e/0EUxiIHGZmDBduLYoSac/naftJFkHvJETfSAMkSfHrddCZbV0E43wU/LO0ESTyKuvpaj5rktom4ieaKsvhniDRoFpFXEz5miGm3CZCNS4D9hWygknHPl88cpoIhXZdK8Ur7qLJIHhXnvHgZJc2H43drsDZA/A5F+3X1SG/ttaZbncMssvO0us2Krlhjt9cgRiBU2rtasm/PbvCTmISmVzWmH/dxyl6kB4JiJdUNS8Vns9Poh0GvTxony3r/rVERLI6o9+6KqY/7No4qg56Eg7ClH5AvudbHiWzafb7c2fVIlgUF6Pl2mHVRMxwinjOnvPNljhHFENgoMPWOHrUlC3fENB50YWcW5+7KsLYQPaG6gpohL02pHVEzLHtmExYTm5JdPU2sANqZ1zK56PujKdGfNqCBy3Pgk/9CDtr4xq+IOjZnw/OejbOGdT9F96yo7Lm00cshyNA0jHJNdbbwC0Ew7ZxJA1M6toLb5cPcRwccFozRnCQ7SKtyYjmZpNZKagbJ4YPpk7TPFahwBZNWl0CEsRP953Wo53tSD9UikMILFk2LBC31KFQt/PMiYN6l2KwIcJGhJ4SEreWEVF2Kntj6i0E3PKGUeBuD7Wtr3LOPzhHU8SA8Mh8uz2hrjFiHUmi0aDkLOqsBVIPlrCcUmpVfUmGbPw8HtjNPFjQO13dUkKjuSa7UOCHMfod+0q0f4Jg4IWXzoSXD4izLNBHFstvXze6JgmsaTEQ7+TLia7cP4rFTK2DhISjEQNvPNMEL7PgpIIEispyezOTjmGMJDrB+MzW+JfnOc202no56nfcXJ2LX33zWRvJMV2RmM4hjtXc2rfWkvPuzeWNo7RUeGkKAqHdFTBHhYtVDOVQnrZ0sOgeMfCX6a6OvzrjKYEPqO2A5fyrNlfVsUYAK/9jQhF/QlDV8/Qn8lgN4OSlVRK97L184f0k8gM/R7FOxy0tAcjevFn7RacLGzwzp5AwcwwQVST47pE2RF1ZRyRhVubn921XK/KnEnj4OuCIf4FEk3bkTVUsYzTOgTCX5lK9ThZRdubOwI3PSWZBdhxq06pHoc9eaorqASKjbPA6GqkzjsBYHS0JA47MufCh0IY4WCELmhx/qsYvFOChS4tVOPa1dTDHsD4z+Ho1tdy6nTM6dL0NazCZHTXCQMWc1AhblbDiJptdE46S1LVUHIk7YAxcv4bBCzOPu/1gOXjtuwgzDgw/Jjr/fWszNgpqZOKD8q/9LqeWXI4Ae8ymZtH3YwlbUB5asVgxxpej5jQag5iWSMj/fC58cVJae2v+SmFCkCaxP3bz+YgPa6tbQpubk/j+NCd1nKqecEr/UQ/S5ddaTK6dNhCSasyFUmLydxXTGqLvDKYVSNa47NIuITES7l92ZJo9jcVdBMFKowLMTORznMUixhvJ/X+bTfUBMInXgZZnHwY6V8TYwz3S5kxl012B+1IgiSyaC6pfHpYzvR1O/u0WtwPPXpoiqS7DQhR9VhK84ue8Q7/lHutGXaqAk5GvbHoxpikcJEajVabFNnc/gRaamsoIKr5z7ZmwHyye5DbOzN2AQrwlXILvDLrnImD5v9smpckLl32S+ROAKTSQvtN73Q9gQBDukYq1h7MsTCdNRuNiTqtG4v0FytThg0t85jxeDfPK4gjlCxcGQkvLk5KFR6BgvLjH66by2A9n3iuXqhagXL+pRPyZUPu9z2xVozIGaqfQWACSovXTWIvpaPA+jTbgVDw7ABZrrqpAgvQhGUvBnOiazvufVzjPtnc22JQMg2f3559JlYpwI1i47laMWj7kpUgoheyghSwCibVJoEvL4hKLfDyAsCBj7yzozm4TBe0kuvXaHXY23obPvbqiH1Ohg9jP8f0CQ+ve0LPm5e18KapaRQ8dFNDBl2YqtJTBuwQWxhYhYhlfPkcJ+5bkcrILZpw7OIAgnd1LTG7Mw9Zu/cHB+K8Nwy4Xlq85vpiRtblAkxpZMDVtotZ4mp8m5AXq4Mv0ynHf6G1xnQJWEqNllYL+gKX6k3kX/UC9MYCOdUC8AfKJG+ZoOoVdi/bjvEpfcEpdV7wDuY0fcKfkoOzFDmza8tsTX1/2q4oWAPHTIRzpjtUXlxcL/q42D8UopWU+rkBSzVss9M1rDe/Nbu9TdwqnzNfaKpiDXES1V7EoMwi4RBTcGXalAEAPTpij1aMJmtUfQAlRagu/MtJzKXdgPbAGdG+7Vg1agphpdMPrdQRunk3HuQ5B8IZPmuovXAsEkHS62VgtXySzdMJy+kf0vULzYDjGpFsnnUSEFb0IeBVSmVn+Xdg5lTOKqIu8lIMGifwZ8KdHUQt2NYunf6sLEcHbxrHRfHeaBrc2VBeE8GD/9OQ3q8R52HWRyJMryU9UlbHePZ7gAqfoQQ83DJRdHgsSAE3bGrVWk/8MFGVBuyWwOzzvfohmzA9rRT0c+S+XiX9ca2RTefJrN93Og6z69XXX6WPlUcEMrJI/gu04UQ2i55Wiic+ZpmCrx3C1/Q2S19Tn6mLz4stMTd0NPMkM+mQ4aFvR/NtssBNyVcIFlwDjlSh1Sh6rnDbg/rwVv9ehzs/ILeXcwm15JII5CYjcSBKZGIXnG4zJJ3BEdOQPu1BE/B/mrXzPBhT3ixFYcO2RRBtW6y0Fx6Ny+8VbVr4C39zvMVdXUPF5vokAh4JDSM+UL3QC2S87O7+1UZMvSQNbUY0HWI1sIZfZO9t+RubAVRtfVxwqHpIkdEX6k1GzyiYuMfvIT7oqPgjmZ4ckLL8pCZ3g5ngoqVal3zCYNcVVCeV8kGXRKUDyRuS3o8THoXiCxviEssWMGk6/9nu1U5oJtqAwIRFtCh9CJTMfTCF9BHkwOExalg5wJYJcq4PeLe3dN7if4ujVa5hKj01kvpr3+CZCx79OnwTTnj7Eybt5pATeJ1TSXCT+H7RMKAP5rwcdBNt+94GOHQMBuJLNwANLB1FMn0Id7mHe5mVcZasfIi6tXFeo7j1y7D3PW2Z0UvOC15L1tTaqB+veZ89HzPzda/anyYya8C2Ys4sp21ck7nXD5G6dP60BWkrQO0a43Yf3GC/8kBFdSU51enTVVnr29yr/gd+JMHeNyrQ0LJploXHQnvjYKKHsbcXnWwQAK6i+EPZ61Bn7Ltf2SI6EM82lNuXG8UkwWuK58I/rioh7yH1B5K0ySpRY02yFMk78UCJHGDwyKXLBFGoE2yDIp1O9JmSVow6+DCrRUvG9NZY67J+a7rMFjmYSaMhHPdQEWgZztatPkVjb3XzeK/1/obTw8ODgzLF4X+J6JOplE9ILSF0TfgDgVaFQzw4j8mMLhADPlZd8pbgwOIUVBriHavTrULrE38GmevgZ4xp+Lxk2u0TaZMoXeeYG6UYp+BWulVI9Br0/BmE1ZDFYuCjmGguO9UQqTwcrR7+M/BVjr/OBl0tY0/2Uo55puk3mhgqHwwC+xAyBb5NBn4HtonspzclQCfdqxq4WFNW+vB2i47gjk4xy0ZUwkakniBNuugTZ8a5AuexmOAQ1uPbcdfENiL4DzdjOSNy9vutvzwDwsq+PUBVM1p9ah0dUN+1B/afDb/CzOGXulginImiD6/FUPvBg69VGNBLsLjUpMiR+rTh5tTlFoUxvjMuWFrlrFdv66Kqempq/g5Gb8+XWzHez8GEd14TK1FvPXAz3jnI75SwAx4w80WkAjs2KWiRhufVxuPHkXEC7rSH3TjBYeWooRzkR30+OVolMpsOOYTHq+A1zqjGluDIC2FELgQAgu4u3KoUkE889dsG68cZdoNut8/9XG/9RdePSncAMsCsdMMqHG0EcrGN7TruT9HEdrT0LdvUELHN63taTzMZdzSkc7G7m78xGZ2gpeJCMUmtzf6oEGUjW97tdJYEI/9EnRf7M+Jy+iIjnU2sg8Ok2O6C2r1Ad1/LgoehWuCwxU//bAGXrxMKgWgUjqomq2dfiOyR94f9/+BJxoh9nMBPWqlWJjPzi7rXLl8LMcyPMm5P4O5jK+lCbc5SyVkN88AMc3XOoHa5fHyvfekCnrPwCYw3XMsXJcJfHMSPITnhyjriacabAF6f2axDKjK2IqSS3j7TFxGjyAKhVzj+n9aMXastClQEtrKhI/NSxjlzxr9BeBGIqgDGdoZU2QRehXDuZ1Nu3EzK3mCYrY913qonBfKpKVNVIOj1kbTXcoda3YHbkVVB5iou8p9OBsUPltTSzD59MEwkc0s5Elu+7BMqfd1xt7Z46C6BbaJH/40QqLV7yt8vURPhzGfORqlF4s8tXTuqFXzcr64wnkS2XxUGF5AXLI1W+Lj52m/ytFGNOQYbdVtwCKfs+lJkBv/DpC/EBFZDk6F20DKO5dFyFzfxjQi04SawtzeTC/WjxPYCVOE+licVydE5ZnjCVfRo9mM2KWwg/3VTtK3mMSQ8Z58na4V8qk4/iC1rIPoEuJ9EVW0LyicJLO/xU+3vzo8lVoxTiz8HtOC3pbJ+zeWemzaeJJyIQp7tJCaH0xGDXOxfatpfSdIOEmyqT55MzVQB18w15a86Kc3dJajcbN7khDkkh88pe3itkRKlWpto7/oFN8+JSx6Yen/5nw9Eq57pp36eD8OJfhyj6vIdhligpc830u7l0wacsKjX9DtG8ABwHQD7z2NHKT/VC1RC6FZroar/JSDSg9bbXr78SU09gXXo/oCWVJgkj5wjx0d/KHebjC+aDHe3UVFmaaDdOoNPycPi0aTAQav/xxBcjZjcHT4nE+990C6IYxcKA+3e1xY5cPfEBhAb9NJkQK+ZskY0Ot/leF+2MRUucf1/0HH6QbeheNri1spJK9Hv8FloELRKDdS83z1gC6P4t4CI5l+rvdRAxlCcjK+u10RMgEwgk7GXOSX3o01/qhsrJ96jfcbJXwUQBwlYbiGT6ObRDh5uU2XA2pCpkUkyOaVmp5hpLhKFWebWgHqOFp5UccYWPrjGkPKyi/eUAAqBaEn7+bwdTlM4SS8okxpLoYuJYZRIgJQzpVEhI2qUpSIcD3rLcp/kFOjjChbJNaWNRODP8YIqF9F90p4Pe+qrSt+ADnZLU/s3B6cr7o4kxa2CmjtV0gOYN7MB4EZx7kmij/L17hVZtjP7/pAmWWlxj107Pshm7srqJYaAQKLgfPoAmvC83mLWH/SX37WLYIfcJ1h+/OQdV0vWEJKTF0hSvLUSxjaFL2274fHPb3w06V0QnBXrObyChEvwYFL9FT6Me+O4spX4YkTS+MPcZM+NyPODoeo+juX5TeAJmq/FtskiV7mr8bU2aI2OGlIK7G8Qi+o5KZyuq+4uki7prGakda2U2yJD28mi1m6OsLN8X6EZD+rwIFRmR52S2i4VQ8yjh8ODd+EWCZkpTFs7T+sPPWO2nmkFl0Khxe/02Uoe0ZY7NVH0DqdvMur9hB97kX3GoRFyGJKXdHbve5ONNGyvje6Ro5823TJR5BXzSEFxTpArLGNiOKxg/UKK6Z3x6YAoZrlUOvaFe3iqBgaMG+4lOZfPM3csqH2s0I5wf/RPZu2i8WOSg1sZuFd4qBk4kLrRZiqSYjxyFTAt/eIviNrdBiP+DjzeujEaptl2TFv+r/ddZ9n5klfJ58kZHcCxlpEvEdNAYqqKJfJu5lL15BtYZHnaiCTxwpPQC6nu6kTaYQXPZk9rGRIQyKnU+ZwUDxBPr35MWoGfH2/wCDFsPrDSEorzZRHwwGA1YX5whepCgIX9q5TJBkZGYXictVJWq9ZkgOOVrSQRbwyjQPDJ8yY9tYdUbAWqBeTgjJaYNe7hwvV70u0nPEtrIHMBcORWYT0eWmYiJCNWwQautAtqwAGPYFNaa4yiD7npQiq4QVVD/zS5Jy8vqrMzbNSzHdfwepGMFb3P0fSQkvHRjMoSj8JtXt9nPFYsC0rknjFLJERz4HoIOvOX4lz6qY44gnUg+hub5wSbfrT/wBEteytzYagE7O70TWbMnwVcGMgSmg8gpN/yucUkZSErWluyolbiOSrxcgLxBtkV+KJOpJUQmF1V29Y7nBerkrky6CvyzFA5MxV+m0k+Ddb/Xm7KjOClmEm7aWfb4a4d3Xx65IOKCJO0hIajlRW/MoAEz50YKxnHM7PrLFwSbYp7kvwz+UNZSxD2qdq+dDNUP0hh4NZKh+7FloLHSW+DY7EpTeElDdW6dq3+UPiGWptcNDUM8mimx/wBNBTn21+Mrp4TZsh2/U7IpUV/4dTlBfAy3cXDUKVoXX0izvvNwK7feT/MB12RnYHHA59M2OfxlL4xaEJlBG7Eq2O8yOy6NItpaTkrKExVNyNVIZ5WTiFTyfmhrxKq+0aeKjOIul0EolRSRmi+S21DmATVTV4OksyHW9Hpp8yuOZJISasZpTohlAj3tRT1DaYq78LoWCxiN6Xt7Fh/t6Uwwi6qAjuOCQ/ntW+ROSAbRUjsE2wup2vd3+FHriEPmfpe72UUnwr2kZMzN1Y5BYBMtpgOV3lBjhJlM0UZ+Xn/EV+e+6PvE0aiWUfJjqujnDhyNZsR2c0tF8aO0s/0J8ihI9dzAXqSnVXkq4q7nLfYe2HucFU44BE+JHmx9uvXzs4aPiX/w1goCCUSpDjJlEN+LbjiyT1nMv7nssX7gGy/mkpM+iSOoBBUOGP1ozo8cMH1vIdIG301B0QFdfSIonJfOP5YRKkkIzhXKrfI693zfiPC/iQOQUCfNW46UKnihJaDo5SxqLAzmnTW0ZPA/isNIwvgFTaDz7IwLU7xWV/5r+YOTrw0GXtFQE5LQd7JEdjfL3jp7Upv3YMfPI36uZ0iLjEpOboo4GWCB84l3lC6NCVJqzXNi+chyVrc83nCbd3MO2o5X7djTB185EpYgzx5kuxdfFf3owFQySxp57qgzZsMas2baTKp45noifSGQlea8o5C9yh6NbegCDh7YRyK++7m067PWLCWGj9RrpedAdFIzF4TYR3f9n/8nWETFz+OZf1G9O7IotEKhv8t8thgbDZp02cq3ve+7Q82eTZlHHEsjCnTt9UANgLG7dIcjjGmleEQC6gOxBytVl8LIheo0mBa1DbV9wcEkGJAlEn8KYGS1hrNA749OV1dmxEUkatvkDzDIW8ZyoGxTyveJA0xxHZN53q1DF39N+pAII9XZvPGyzP7TnZCiL0M0J9X6FqHLroXzzYCRxS1FywDmVxE+hmvX95sTFCBEcgGiYrVJi6xM/vGPyEgetOUITtD9KISWXSBekSu81JFW65hCgBYxVlxaEy2By2A2X9kUHmKnBIflEVjI0ioaq4xWDBaZWAOUvvnKzKbUo82LSyTEo9/kCeSQgtzRdwL7rJU86y7gneY+PYJGjyCKKluxZFE65ZWP+Yc8VeuEquv1XtYsQxmvkbeQyb4k+PKSY0mo32VDHEUw8YEF454bEeGzgTfwH0mrueKrxNM3ph4rPB43km55IAO/IGtA8FzCz5JWfv6k9VaSME1aXrxU9U4vBpnqJqioq00ug6vilbxGZd/rVz/PWQbK/U5woLZyGyy/YdfdNVGHuJiLFH6QSvCN/oYuIgWoKFfIyweSp1TINXHG+2aRT2Bh4LD8ucA+lF3aoadCwi1TlC9aASJrieJKynaqsNe5cvMwhXIaBzYEgKoDk+oJ0LgTibONeXEOKyYMD/ep1MxZaRqe7Stnju8Qk2rz/p+yACv9ODLy6nq4g72nUQyJWKWeXtVFLsxjgQ//R66N/2EyGwF2lk8n1r1tLahZYWtXbEZUGUhD5G3jTiBVe4xohy7/9prpNsBInf8PDN7aD3cBXhAzGBZRZd7T0Z7+YoJ/9aKJVKGjHPozlzNf3pnzVlAAABFLzb2rihViytPOpuNlqrGutIMF9JM6rpZgmXeX/RW+q/1/lKkuAGqwezvdk9nVgRnyV+2XbYGUHZvjwTgqAHW+HPCdhboN0baDQcAOQ8na/tF8n+9nloKrrIsbUVIvvOD+xL876d4rZSmUNuqVq5Qril0s/T9n/hCBR8GgL6uEwfiqZkMW6vKjiWvyT34ZzCuc6jSVESV0Oichc91pGTp42pOXLOS/E3h8MvyD21RKES/+kKmQnqSseHuVdD5fh0ANrJvPDB0YiSxx3iV9ZN0gF2f/8hDHhTWHQxzbtCcGnco/dFeKmdlyJl98Qr2s4llMz+HYu/qUKAYIO6xyPxwY1FXY82hDiwrada8Zi3ineyZi5RF3/2qO712wMVi0ixCc9MYtKnjbR9arfrzbjka+wS5ZSYEIzfiaZfOZPJFCvr4fR3nAy5OzXGki9vCGOKPM/EgpF1BUA0Z+IzYC1uvwHo2ff5unCjp6IM48fL2bkY59GZ8h1hGoSydIpAvIL0eBZJYvTvZEUe+cP0uzH2RQuIECHe1d2dDmAr36Jm3XTiuwp7nVPyKfDkQ4DlV0fbznQkM3Sqt5kL/o57ZiCaW2hafpjud7KKWr3o3YPsoDYKWeA/EYbARFlmC7NZ0tbai31SCjDkysssXxQvLiZIABQUkX2ig07SQjycvdY1PrVJr8Nzhldqcy7kzKzNRmeluTA8TPyIIoMjokxuwgesqj8+wBDTjiQt4Wq+uSKKJe46QC1fcIe5E4//mBjSMeX3Jn/199INfvq0osHeUa8iz1ayvhBvfDnzhNnwEXlUg7icU5rOyK3GsZ0ANpSfWKBK/BP6ZNqauF1xtSFnuiQcrf4E6NbNNNPSMPDyTh6Tw7QBAmVyL51Cv0iFNQU8+VvcYyOtYmtdFl/TBuf1gSS+z+TKTCLooDOiYNEvAUXLDAlM+VctN7LyFNjRMucxKYzVOvmsKQ5T06Dhijmg2x6b9AavSCggsVAGdFI2WOFW8Qf5GMdQGtm4SsJ/sTgAVRutaHbYYwIpTOb39OQajK6/6fannJYkO56tcfxzDfv4o/UfX7PCQYqzS3N3Na1fu1nA7ZZV5uan64fonlQfQjCTbkyIpFUAx2NDlVp//77qOTBpc8O0hAs/bDpctToBnn/ax3/ToTcl3OgNnxbgZavKRFuF79gofcFCTxcymAGQHFo9EzLM8nuQdAYUC2jpHUomQzFCW3RFyUpthUQ0r4p+icgeQUq1EjnUZVojAr2i+o/zHKNHon2ZGWOtf0WSF3h+cHZ84ovzghoJDlTiFn6FwRQkCREUqDluTJOQg2RrrKvFEt/VUS+ag/0A8blEHc2ye0h9f48JaBCbdo5YEn1/WNy342lRGfHR3xzEQ7eEycyhgdghzqiKeSbRGjAvVkUqn7l2t5ltKhuN4MxD2e/BMV3Uo1zAaPikNHtGkbgaa15OyyG9CwPREY2NDG/RuYTT0HYHm4pip3ifHNOZh87J68LyC6q12c/fFJEDgP+/XfiNZLWnqeH3ORjOztNvpKQgGdN9zqeqkKv+29bBfjlcYF0EBJ6rg4NGhwTd4BxBN6p12YqnBG/eALf/7HdQFhxAnc+sBbpv5rpxXpw8/RSL1tjBWoL4RhSMol8imetrZcdtwY7j4m6SZ8fU6XFSwENq3IgCVTUiFsNoIrCjyJ1KW9G37KCuyTnEki+qbAtDsyng/Iod+FAid9fTf4fnAr+sv23eE+Y2kwfMbZ1SOARPMSpAIvAvYUHbS7qyuYdEB2HXA8xcvL8Bcfj7c4DYW9t/Vi3SdfPcDjS6cPZuYN04ZkDsjGOnqII/wIUwhZBZ7x6RdC+Ym2h2cGciKgIwWelKZqet2K2odZpoQ9zWsr8KUA4976bX7KGEt6ucCKtbsaBRVbPs7k+Gsh+lJGtfffqyadZuzotSnbxwJW5TWSpCTyoO/NvsHLTXfhCp5/+gOmWDMVPGPF9sFpErL++isZydvISm/wHdM4O27cfgUqM9LxG4bcJ04fkZB5M4p4Ut/gj1j/qLHOAGS54HEKqhTD2j58YzmKW2jYh/M1U7RAmqc/YP7kiSK+FRK3SUFX/6oW99aNyhj74ZZ6+fIsRDqIAXHj7f+5tyu2r6io+ZkZc/HKAGxoLJKMDzD0yVKHTtKAs+nYtgmvFnxDm3p9QfKCUxYLepIItF2TpYWWHHEvXB0sncn7fsJIRugWfNKnmC5SByTNzrJhq+uYbIytak87XTjE6wNwgb1CE0MRgJLu/OhGAviv5k8sxSZRCP+YarG8b95geGrPYo/y8lzA2AsTrbs5y8jj7Nc463uNrt7uH8DujMa3l8N02snmsFJV1R8liYucDqLPu/QvwDBu4tSE40UsSceY5qcjtKSFkDiz0cBPoUnLFXfxYoNAsf8FLQ7Ta+IQrkusFvtB40K1RQFLTxXXdlhFasyOmOcK1wwf38R4XIdzir1GNWOFAjKQANki+iSTxCM4CZ36phDwyXmhR168dqhLHJry4G1X/cAM9a8bxzG2mqm1eO13aVy3yzTbDQd8Fhz44d/Qy/MfegS1+LRUQNBE/G8WkB5CLkyKGgOUecD844QIp+Tdec4PgPLjhFNh8/MpVuazXmEk5OB8ReS/ywTSxR/wzCGj0oT5WYpqzSAJ8PG+keXn4LMvI6HmvLtS/HIYnbR9lH5fJUGau7akEjJbgtDJ2p453up3MSt+pBYURs8/bwARci4F9gnFnhthLZ6t9haqBb6hLfVDtPF7J94uYDNDhWzha2JctfJW9uvRjpbfZqiGfDJuAxEV18y5e1rckZtKLjqT7I6S+8LnAalghKgRknotkoFSqDKd6vDCqrjuoeIN01R0vHAoLpjW5kfFPK2jqbgItN2NkCEZGMweLqOlCZAWIkfN6L/zsrFhsqvC4DaXpy8wK8XBkAUmWluUiPrPkA+NJu5bPfdtT+xl9Kc1y02BMuPuU8Sm96h+lI5s5NH2crD8MVYJDAh78WntXirgV23QwYQ3V2mnyZGgwEggz1L89SlndX2MtSSK+KplrulbLdjvnjpIWAzzAlbhDj2lJl9C6AEyAdcItLlkCtvkaf3yjf1+R6a/OREA13eE/UhmIqxQ3Y+kEKpj3SbKQC0d7/j/9JWSbhIMnayfZiQ1rBNzel05U4Xk+BSkq/PwDl2ntKgdPqG0qKwRPYIY3LTggZXGAjmhl3j/T1RAsMTOHp8LzXPK/0iAMCT11Wadvln1XVcnq3LHmlOpMcJWBxEjG/AGPXUaua4jN72qI4CilaopMc1zk4KTGIq6+UN7R2dDSrgoeSKDegkI5mgS+RX+a5Efj+olHIbmgkh6CjqsyGmNId7M0TN5NfqKf5WFfQZsYhLb4P9XBcE8uXYfjddKAxsgMPn+vMeseZYRyM/rY799wu2Mbz6i+x/ghdsiFsQ2Ivo+Oa+nqyjX8deNVcM2hl34EzTyp34lRPZ1DIG9EeJ3bKLBBP/C3aywoCcUiyjhgiAiX7w6zFpa5rsfCc9phbFxQww1z9hksJaGHFhYd1kcxIcQuIfvwlx6iuM85++rpUNYXdgFdtFiOxss9MgODVE94ap9rZ1lzIR/rURNr1G8i+xhgzGiG0qB+sTkm2H+y6GpQWE3lLZeQ9iUKPwodm+Eho3ZNYolyU2a5IukG8BHLdJeXPngIyqQyG+uupP9LcC7dScE/MALuxeWc3R6i/5/AjeOQUCB2+t09rtxM514EuMlOhgsraYSOnf9AVcbChvFGfoo6yDLodQoRTPmFcAd9nGQ+agYoewdc0AD2dmFhR/wG0W/RPm07VxXNbBgBzSPN3SWhzUA5cZDlwYOmAycaehxpoZmhG0eNvy/i4VDHDfV7WBoTuM8FhgjKQSN71kMRXyp3V0k/2uNMckdaU88bZC8klBy0QTYZP0Y/jybGrQ+HV5CcRdu5V7PHdNy6398V+JPEqLI667J9pgHSRFxTOK1bakj331S2FtJdVEcl4jsHKyvx13VOr4pU+citmNjCcD03SQqFotH2TaeV9aXQzu56PrymQwd5ROJPeEdBLJw+vyTKXarKbgDNx8oguXDs5JDRaTNviexocViUTkAC1Xu/agP2jMB132QX6jkVnCLPf2el1+En4MBSBr57giNu0OSw8hU4yy1gIXNQ3Dfg17r757Sl6FgiSS+RF0zCnSoP3hNkArwhg97WosCejjNHkXsJP79lsm/Wm89N8fTIImyC6zki7Qk8vH02bc10D/R4Ql12/pA1VzK19mHv8ZltoF16sTp/RlEto6Aopf9vkS8WNSovcxA6nM8dCeO2StVE0kK4I3AlyDAWjAkznCKdets53pIq+ANR8cMwQushSIzYqA8gX0T1MgfLFWFvNas3yJfBMopNDJm1SBQsz1+qCNwrs141KWM+ug8RWazTk3ZlI/aJvjt2KsvdtixUchS4dnq74+7XH+YhstxD6gzcoeHwpQGQPcgQcPKBpk2JB0rxpDY6Wk+oHT16HMCm+WhOc3hB7LuJUeKWmcJ/bDkUBPPcRsSBIKdMuXS125v1x5R4vlc0Rlfal2NMKjiqtL9W0Ew85s3iw1d0vryKz/Jf/Rh2zwTxhW2aqUcMxObilPERJYAot7R6ZWa7b+qDxytoF+cpxmm2Uos16BlW0nxjHALmFniF9TsIeSfwkjG7rHEWu6gi7l1/zYSGFl9Wai4/AF5HRV1TQHunUwqu9pAJ4pdbr6Ke31nxRyzueT3l74i08rlixV089YEWkps43oZxfVprTmuln6/12mRE+izYxmp5HWesWbKV4mmSwyKn6oNLixTkSDTLXR8/YoXuBkSoea+SqxnhGFWC6FO6pYYqV329ZmLm+993enTU6/uQ/WudjWBm4DkCegAHnNR3ATCoSzGI46694M5B6hIeKXY0UwEpA6KfyXeMsrjGq/6PalbxttdeiMRv2jENQOWDvoNb2pPLD1RaOJbn9ci0zTpbse6s197TtOwW3ZN8fpv5q6gXOLqIkEWNfUj6uox88IbvOWI4Go6ORZFXUGn1fjC2x5GOExhSF5mTccpRhS2Pf2Mfgusyt8l5num9Mo0XzZXPfzs+n3/Vh9mGJHVoa/0rbBH3Fx1UVnXySTdFIwh0PCsXJ+DsOzIIjMa957fRpQifARmWRcjN0r7wb3FbXu7Bd7fbkovuq4sdVnQt2eFSlELZ3QrDQ7aM/uF7NqU9F3cUo/FGOMKr3xVV28d9j8OSoyB+Nezsa8oNNeOyvF/qQtmqKn7FAXrTTB9I94HfE4VYmcHqCwceW0SX0DnNLa8XwlVE8lFJley3ZzdG/8S8pVcWdnXB3uzIJjzwd6Y0ahAZZP59ilviFHa8k4jNP6fgMasN1bNEFzlIcBK8o3zGXe7N6SgCvNPL7Ru51660EOA7flFQ/Zda0bbDzqtGwox3FNyNDqsfTAZ9IxiGnNyB0K52YbZtlx9O1scko4oKvuvLgkyCeG11PSoGYFLZKLMNyU4ue/A/aVtwWujeB9Vz8CU1QS7qKiYJyomExlFf22wngix/NVaAxx2aq339Sg3Qiar7hQio30nOzdSAZ+e157Q2QBceohD/OKEgcWt2W6CulrfWp9f1LH5waPlEA1giQi52dvM6YCKea2oK+lefWkIdIynvR81LOkqK9eyoMQv+Syo+yiG2+qEZ50To022XHdv4yQ964373odNkn3STbDpGXp4ttOlsM4xl4o6hcG4PdIOFuY2eSOvsnpC/NULuEPbC4t9WVk2aVJC8QcVPU/FKJTkjduc+qGuefX4YWm/o9rCbYkVgDpUfAF6jNz2Z5K3+cY9ybiw2gUPIycEZtRQ1xNKh8I5zvINXnz1yHgQ7g6Uj7mZxses5biD6roMG0VNQCXeGzOHJ3GeC0+gOYPcYVNJPfvhgybJ/t9JqweB/5d/8Q5RMu4z92LYG0kGfGXqhO099aWy1eMiKRkBoDFnwtR3ACVCBmugtWoU9lmwS5p0v4MTYZui/VoOb4HfuAmR8XgPJIVLtX77NS97qu8XV/MUl8E0MG678BFzt2khXHVkRNX/D+CVPvsJKIE8HcA5jEgyq1qDPDHmUdxAGCXwpvkrByBN27ClAJSVhiSuxi1idGMeYFOP7ZYbUPVHmUt51/KGAfdDp3EYO964+yUikq82OEyU+ku9twWMCWQEcHQ=="/>
  <p:tag name="MEKKOXMLTAGS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CHARTIMAGE" val="FILL"/>
  <p:tag name="MEKKO" val="MekkoChart"/>
  <p:tag name="MEKKOSAVED" val="1"/>
  <p:tag name="MEKKOEXCEL6" val="False"/>
  <p:tag name="MEKKOEXCEL7" val="False"/>
  <p:tag name="MEKKOEXCEL8" val="False"/>
  <p:tag name="MEKKOXML1" val="4HooU0THZk28POP9trq+pbTvvzd/gcV8t56cq85kb3NDTsUhojRA0EsgEHHMH7oYP1SYpn09ysXVivguJdhTvfyVMsBLTGvcX7WPTor/CmWiWcfk2RmY+GE6Q6T90sFUr0lg9IPP9y8umrse/9AoLT5R0GKq+XM9pr/aTyOTf0wptcuHbHxeyqBm9svU01qeeEM1v0hpSHUgirOnAK/wunjZPmzVPPwFyUBDlDfxgncyrn26mfUxYRA79xbk5zo/zvtIH1wUlJEoc3ym/tE0R7TFuylI/Ka2jPa3hxGxqIcsuoAMr2BhzJBCBPZe4yurIN19wt/gMUjAGy97TwjZifIBF+Hck3maX8bxqwmWN5Lz4DqIq7RLGwL8cJPdxHxrFyTKy81ndsieYrArIDksaybtutEDKS7lWtJ6JAcGZVRCI4SlTtmuy++sF4Qk1arz3+8FEg3sMj9Rge/ETmV4S87SOjLD+N8VBYalxY0z1S8o5Esh2vtszQhq6PM/KUiCM/Jq1ceN2cl3JoS66U94ZapEyyhcRcCgtFKQv6v0Ent04gZZy8ki7din4Pqb7qIIkcZSq3j1f5jNE/7ULWJ2YHAZ45kR/cBqWwT2kszjHQHsyJyBBiMlOqqvfko1MYEVvRp9/++ptvxYRFYWKCvKBt1Uct723CY9KPI2ZoGe238NGX3rrhW0TK7APzfWSmfil5FIM/Zp/o8VhC0ED+K9XQIMetvUciGOAhG3pJsP6ViYisJ4lNzFBYs/HYSNtASukd9UQHCEk40LOIJAp0tVMWX9XFEPiWLuujpgTgizH5oiS2Kn0xrp8P2rCVexxZFZENbP5U7vwvmpcPV9MEfkjn3S3ZAujTnKXya4KWyVxsL9Tmh54CEFbjzG/jRktAGPOUO7OZr05vNAvrrsYK+iP3DwRL+N8ItFd7qZv+uUmVorhhlfpQWzvA1U6nLUImYrh0agUvN6ZQsMk+43OSUWipHA8e0F2m/0t6TVYDb8Lzdi9Tlxu2AUQlNQjq2tl8y/P13ejlKF8hjG8lyhKzIUx+DHY8mGCsEHf2c+Fn/giKGa6JQqkFad8UWcO5/4AkkUEJXioEBSvEqrcR4oqvewNVTCmOgsmueRXi3AoQbRMR89uQnPw3JSpTHd8BkI1A7eNCe3goC96i8KFtYEmxcGQw7dlGLzy/3DXTZkXiWg1S3FREMNzEeCoRMWDWias9RRZdnSpwqgFQSXpsR5vf2C55pAUa/6on1qYj3/ownb+MR3oj2azZ32FLH21K6DmIKWQD3kV6SU3Nf9dEYLQiZxngDzd0s0flYOTli/OJvXK3RwUz/CSpLkblw4ABHPEp1eEAaWYoUFlk1aCgIV2autZBJUfirga9GHg/mnD4Tps2/XUkUH5JpxQiPuL1ok2500u1QcD2eceHISVuElpP7JIWQAomI6Kz8mTtScVtF0CAj32rKCoNh6J0zGuvC0g1G5jEhdqsf05dbKoQmJvaZQQKTN15/pXz/N2mOsvUtH+2YvWiITkexOpmVhiEx2BYwcn/5MumWkgP8EWCqcliUPisV53il6Qjpq5yhW7Y4hMOfLFE+FwAJaXVMdbzwrJpjD+8NZ2gURkGvj2T9e+fcP6wesVdzvugx5yvhR8beJoWGJLXw/oPG48HTB8e7YpY0GXbmcCQaq173J5EeVqAuB6LlmsBBQ+HwW8Wz1R0z0Naup/hS/tADvvJ652rjUvUNoYbDAA9j5qYLoUSw4fDbrNavv6dGTRB3Q/4Y/32RDm+YNFFy0ofArWrNiT1rCsgecGYjVQIQVcQgV2bPSU6iNRbI7CWoeh3Kqn5K5gzTXhNiRANXGeI2mTe29oBrPCASrdSpJ1YoYDZfFr31957Vx74KoCnTCwA1iSe5q/Y50zdq6FDc0xKtXQCLI3KwCvO70zyQIM9ccygIWacXmhNP3W73iPB5uamdbq9Lk2d2OmwYaUtkF1xvn4Gv9rfCNHoX2QLfnlnHtU/6PlshwIBeZ8JnX8Slf+SiyK/HEkPmDQQ1dXcx9WmycQiGCBmxXU2qcaQRZEQsu8zE65IXVX6WvuYFR9Ab1vMWCFXAMx0DPLQ6W8SHuFN0R8SIrx1MWHmU3gdHqvwze0IRQ8dJdti4T4UMlM8XcgXt2HAGat3zjVk9OoZHtOV20FASVUHPhH5pFnvBr5HWUVx3k5n8Ej25u+Vg3TPSCLkpzznudHeKpRV/oMP+pNdHswd/oTd1tloyxfLQHSAOZjb5rUQPvcLAWjrLHdiAagQ1Q4udsKoEmuM3aAWifsRZnOm0Fmj3QRPyjz7n08igKunLbk50bpoeR9PtSzsGLUu5z7TIHQBkea9ytpsGd2RqU6FIy7+tm3aKYbiR43/reD2dDjLu5+0fKvrzmiDfU+KXkWj35tyRUqAcWMAaR8E9wzhP8Z2EYNOvQKIm5+tl+G6sxn2g1j28v3VbWY1tunknqURqop13aeE25RQRUpsLv35gK4GseyAW8Su/p2WhMqxihC0eJapGNKZuehOR8QgoK/J+6wg3RKXCsyPO5FtSHF+/EPahy8ZWxALTN0fBPICe24xX2q4GIEp25lDqd4N3GZthDka8JsNmJWYmki+UuZ+eogz/LOiDVkuMZAxORaQScIuA9JX9SwYpfp/0U8+zIKc2w8++GjGRvoXhh8a87KIx/hWdXvPHE+d4+X2DxqmOAXYgHEPIFqKV9miAHpf4sXXLskx+lfLVlZzsUzxSQcuVK2trdf+yAXbdaoC6IrkpQhUyIG2NjDFlRFRPS4zYka8FnpPhjQjtxgh2I60uHGUEXxFVVUm9i10UsV9v0hNiMvOlNVTk04EK+7ikcf6whBpwsZ+BusWmDs06p8sR7ccO1FFEkngTRAxsb16nX+jLlidKurSup6gQpIiOEDURs5Sp1iOzaG8bWi099yuKrMY/lm1MGENyRpszEyNINypxqYPJJOiPnWu3U89+D+6lV32IXn6ZbKc3D+eioEqL4RruJVAQA/mVqjMfNWGgASkn4zwx9Ec8NjPDo8UOCG/GogA+4BGSHQgFdKt15EOqpCYfNR/E2uhfjm89PBDn/ICUMggMsqpR+TgSNMwgPAHKzqnEzeiwjZYAfY+7mBV83wDGqBT0dUGZolTDyUbiXSUnKdz3EOGFqHVHTLXhI9WRG9X+pEVm+i7FEVm3LPn8/pHbnYBVnuI+2HpDiJVZRMuXGqZGdGKamlmDt1IEbK4Q5dld0JVPt2FylrIKg7aEfIrUbkNmlOPX2igL2/aeQquXe1nIEEJKuORFuVGql81j7iqAi3kh7T2/IbZfWkl0o6jFseyyICKq3jolo9ErzFjYpDDxNnr4/lUrUDtK+GhT90ip5bwuPG3so034jM7HKbYbCfD4N3DIVnvS3Od60vziApiSaDyTBepKmf4EdZ1Ls1ejuDmMz1NnLRs1xwFZfRzNhCLfJhrmjk2VMz1t4cRwLRAJwRj41neoV4lyahdjIghRIl+gbXXSNrZM4uAgbC/EW/xPaAVi9Obog5LDQWX627xybF/6hhjoYBduBUTJrIpqHlgzSi3NylXkmggrThuVdVWC26n/W0sYYVrY1HQrN56epxpxUEojFUdx7CFj35NctilnCR8avLlozFMCPi+eNui/0CN03w8A91URkKFOR42Srg6eDAM1eMp4aL0oVjnA+BPBtTEywzEzKEQz75lEvn4JILYbRRRucEa5tQLaa4lQ6vclohmJEU2wEzE730ViCa6XYGKGWceoKYlmP6jUtv5CJy+TjwkMaUX1OYKzlLQ3Fgd+lo1d0QHUkN/EcTVDCqyWrdfPiFTwwLn+XKBtQyIknLQstBkt9WNKKff7wQa9Ara3gdkXHeTQUAZ4sfzQtEfOeFZfOA9+VhtdwEILhEd31iSh2aF+T9+rtUWt1JdDxN9+F6yWZbsh/3L8dLSpIsD7Xc3IdSLDy1MSR+TG7ABTpVeFNNvo51Y6VlgLa9BifegGjUqlC06nh34sW/DCNDQqq5thyK9IU7ezdi6wSJUNhtP2xCRYWqvB27NuYIUnic2kQJPjVvE0N5uBCVqiBQfFeUO+IpcRY06XRK3zpSG7Cf18f3PniBYH8vw8NeQyz84SQuaXFpv/zhYWtEXv0R0Ar21pVJcjvvbiR4++uOieqVNfB7cqn8S+ZXJCIIEkvOdBRrk47kLH8XOdfiHjpWl2or7K2W4ZXNTcWoNRPzmA8oiXwMjWX4jm1onSqUIJ5GBs9duYmMJrhD1UFe/lnf+n7mhxstirw6VXcbetEeFm1hCzZgLo6i3EaolnrM3mSeK/sXqAM5sM73hcFpuGE97jMkFgitCZHLU5XEU0kmX9Vf2tfmepYE+V4/pxvtADjPCJ1fTJ6Cex67D6faUcFCHJBOcFieYr/33TRLb4n5dm3qWDE+pnhzZw/5Tz1DLMvSvcwhVUKNoCs1UdctBic0H2Jm7Sm87TI6OiirUK0qPwAxsPkZ3HkSDmyg76KiGMmOXO0hkZyF68CKnzFFUnZla9V0FYntnGjYcrwh+FmJaYozOTJ+W1ZisYEUVx9obxCNOmHZ1fW4HgkPQEjyc4lsXaUmFro8H1lRzmVKn01cE2vCWrCtiKymKYYZ7LOqunqJeQcXIFV6Pxa8wd6SSEHbfHtr/WAIhSlxoGJL3uQKI7LKH0mCPg2wSM+s3iPDjIKCz+A3gxyICArOSjeUeX8ksC6ss0Xcrvo4KbzvZ3Flz4DEa90vicyo9c8zvPwp1JvpqXvqun6huK2oeJNZc5032dPsKcTZBbg1lvCF/nQtfDtgKW3o4oJkdfMtUVwypWPaCB1oMrW2jIRrnlrsWE+KilkANeA3cDmSKq3PyJyUyJ/7kDVAmTCvubEr/jyg+fNjuW1bbxGdpmbuiD8g1icd74lFab631N0z+dGDsP2KsZVVIi4UXyLl4lB6sZHEPLs3OOfRSBDrqaFyDWVFz2ydZBEGiWs2MN+s30M7B4R6Xteiwn/IYKW43WLOwLkNMUK9sMZZLMjcimdTXpUKkop4mRvWMRmMrt/M1p8aAiFSZA8K2/LC5bC0AGHgwjcUVY2wblYZ+5QMPHiyF90ibV4gZreuoap+iWQWjoiftcHByF9qm8GotWLvpD0NaGM780bAmgWWl/do6+CbdePaFibUnRzx3IhLjERhHPuH39MY6qKod3OKl5eCuT8HJBwHYzy/3BfKVd5J/B3CNV8c2BCGTmpgRyTpYqFgdqayhYVVmWttcC+36/CPwHrNFhiXdmJFPmjZ6bf43+MbYLu1S//wv08BC4oqzF1AP5DaeJ/1B3OA7NzVi3psf1GW8PvN6zZKU8OkkxtmZ8BiDmFNZspLu31wwFEcz+gT6C26hpqD/td9xF0ro5UMHDigfg9LXsK5s+AKoJbozLQNOqJx+pMIrDe/X+QmYEV40t/I22v3kR3wrHLC2qRoRWeaFeY30BvM87MX97ptNvx1hVzrRHh5lerUuePMwXayIeEHdgSGtMtjLB945JpBguqV6yn68oIi4iGIY787BJEH00YUzGGufvJ+VzEDvdBMbzIKc+wbZLegNFT0BXlxn0/077a+TKiVtlmtyFgNRDzVfOVhd1HtGMXSc5en//J7LCm/QLIWYUlZuljK4JcZk3HwLo/9WGa1L3UkxHatm0Iu3teOCn3N8dteIBUlar23wTGWkpLcqFsznIEDaQQ6kVVaCDHSxOLahDgYR4tcASiAFHHBpHCmpI/6ancnKZOGV0iozH+pcuWGNWLsorbZwHxgBz1BpSBUGXMOPcFwUDPKHeVlk2D6N6RbOXwo8tjSeKWYt+e94J0i/N1Fk4mfKnAiOJezVew9boRfezvVhI9uG/EHDmZ2O7USsIOyx6zDQp5ng7J1518MPKrxdDSaR4ST1uVJcS3GTBXNeegNf7ILVMJcy33Q/sx/v8C6YTUQezsP9DBlhgWgImcDY3DMVpeXve5Zrs5NA2v+ZjaiRIStGndcZ0dSnUv/E1CjvgrinYSuGLw37Gxw4nDXwsnI6VWxy+VhmYzKBQdgRpGXKyu9GABUtUTsMiSoDDTZoE/Hn0IIKhyBWrgFbS4212R6ddHYJHvWOR9UT9Urgxf28luEEhktZ6+686qsfBtAPH2d7WguFkRpj85bhT5NZQdRIxbqSFYycg66CFvB9JR6tht9EXla4lL9dPFyUXAu714NAhTd0n21qKwFHK9oggEnjv3KS9vK67/OfpADoWO9CITDQM3Ub3SjNfjkf40zsJrrG/F0znUUJdbS/L31TCxzIGwqysfky+FRVG+StF8WQCvTauceWW9EEoRQcsOVmOhJt4Fo8T41FdegHJSoE/CFlk7uLY8ONMuiTm8QeMExzDTsd5metLByI4zmrlaLZx2VjjDW4IDUtvmbM6R1QSiBikAPuh4vEZOUutheRKAoxX58PHModw7OtLtGTk11hfOeeh1ih0POX+ivlcpcl/z2UNnGIi5QaSn7805P7oEURkIaWKCRQ0fQ4BHDj9cyVpxU/32ReRx2Vy97TKj3ZH9atgXQhcURFCuz78NzR79DF69ABKRxDSF2uLMJpJ7R6eWS/oblEqzupJgm8jKOs33VYgJNOa62F1q1A6CYV7Xq1rNHs+tIuiXHxk5ZoQR+7UVArDNMgv24w/FWzFGf7zEZyFi6S9qbtfgT1tZSVCR/ydEn/vl2+254G8VURwtdvJGxVwcqfGUA6Tr2fiexK5LCLe+guVI0NIhyhCXMfqltOvwNyW7CY4gE3mM1wVNj5EEsl4ERmaSlQPLHIPNjLGiiiZXSKdQUxvWnw3JmllGorxYC3S14+EZnY5Lh5t9V2aFTXUiMoGmG7BT9w9DqytEcKApgdywv9hf3ldfgv3cGe0WMLMnASFdMWa9ZScGwSGbrXQXhhdBNaNQafGyRCruCAAEfJ6XMbC+XtxCngY3zvAylxS1OsLJV2MROK+G3plIKuory5sS8ZkswuJa4Wioii/IuwTQ7SXd69Mqez4kjmkR6d/x4Ij+nj8CEeyjITZo+AYFfh7zGfPUCWQgTh3fy3zmedWognLZuDAjO9r2L6W5NweQwKKd/7OvZ6SIQmo/O4vA6ZU7h+MumIs7OWeux8tEptaBckOtzc2yzD13PWMsHP78eZ7shXt8iuBtXR4bdoGwk/462nx0w7gBdG99R58/5uludRenE8s7eHBUuDiTsEDcyzmx8JaVSFM9pSuAH04hDK4YYM0d2ptMMjr3RkykLUW+ILdk6DNyt9cVOrWMDoveqMWEv5AM38XyUkipHZMNRrKQz0ekExmlJPNZDRFRWWwcmFFjJBTGNYyRSGuAdPBPLaLyGZxUbVzlkfzan7r9+UgKQaQrC0wRE8v5mmtrU5uE3AzkhtskYeTWBzDhfUKeCdhPHZyfNdJK3kGHkEtrI/Obj1tORHsvtxqqi9nBr0+NKxsnsQft5hAEkBPWhnzQhqL8Ql6s42t33Rh3l+zTyLnisD5zItTtijoKxhM6fzxvceYZChij0aXuQJdkFhqlBy+V3s970xNZne4wMZrqJcP9+vrxuKGdJK5EAKrTd/6Ez21V8+FNaWsBvhruW4POeR2bWex2xomFWv5kkMwrHkKq/Kq3NFrfdiIMX9GctVUWY6QWyFhqKgQiNmbxBwREcsEcx3wJZN712irm0WLAEWyobCjtbXlcfLmGCJ/ePGiKLCWRb7g3BVK3ViMvq4xIkgyVsNGCRUFZvqJMFCI0hHTazkYZyhHETL4fgmaYKpXjOKrm8e4wHPkeRkARNmfAG7mR9FICDOLfJGMSKHoWMVxla5aVtGP3iA1pkS7MsBM71/Xq4y259VLF7qWtSQiMrVbPNwRHy0tMrRPzLjr8bODL5pY7pVSJrtWdMCLPLF/0eg19hno/jKp7af1gf/Xs1dp8ReavCRcuqtG5tV6Tmhz2yO5IhKh4x2lSm4ztXE0O8MnxImE/C5S1k4eCSK/CBBP9lyEVkksBYvXcsgwWqg7zQ8h3IkYzCGge9Z7AJGLX+0xnkFVgcunINOQQR5w8rn5iVtMVMb1i/3Pys0qFPbe6jd4ygAba9hiNN9k1c92a2IpGKJBl643zCQ57H6s4970V22I4Ecf9034RL+Q6q7Sm+ilp+17ttHfJLz6HeRJ7eNhkCJa0qS0io+JSM7RNkhOc4I8n00FXzovXsqc+ainlMNrkSVsQCZRtmDv9GqblGwSNoLC0R5nT5hRToQIdUzifXElCGxG+UtOJInuGFPt+VLddjXgwAojfyCEtGBbldgI4irrWheP/lUphEzUqaUT3/0xskwLpT72ytiJz0GKFx0AzpcNbg+F+Qh/aZQXJ+2SPQZe6+kOyrAmjesTqs/vGwwMlVzForo2litdynQGzS0T0Zhfr4ZFW5WJ/NHAi1Ww744+JDhxuvUhhAq9/stRgKPtOTCKkHHqTBtw2zMIFKLlwrnW8C55AyDSPyhLb/pLywalzKneSrnfniK+2t2ZjyF3YBr59bV3qOb9X4kpZhzzbQ5yk1jmgKS8fYgbmQqDAu0uGFXX2rAjLzxE/RVvI3+iwp+DuaQtFNNCq5WuZBDd33ItjqzhZKPk0aFRiylIkmr2jr/d2GJFVb/L43r4uIPXCxoU0rq98KQb4xytOkXstcqzqMZkiwQEFY+BnvyyyKRchGjTZiT8+si7O8PDjkyeo8fm12VALrylRX+WyIkHmodLEukwK0QJU5zPXMqomLp9TRi4XWSEcPyaNIQeplSLEseGe/H1qqu4JTIl2SL4ILeUZCdnlA0v8m3nMzTKcv1l5Tsn/bD1GXtLmTZWX3TlV5WNbUKADPeDLQMzLaExjW69WXnK0LqyAef1Cb0ugniYJQmM0zgKWPPtEQCEmulbZ11CCPVX21RVwaW7oI7WmkV64EI9F4nzDi1jASuJEAb1SCLRPnIFP+NA6S35gtbMIRE13LbqdJN0ADdtX5I92MJdSqFnDwksmURYerK3dCWxHPpKwc5AslE4+FQNz6QWOxtMvTcWx+mKOl6IN4wdNb9ucpL/b58mS2efkQMulbh4PkUgc5fzMMpODMD5Ox6YOq/11IHmDWRsXd6fn4hVSehtldmBcVb18hNwfsLQ6mwPNGNHLJeV0q8PrExjBqVUkkEuhBM/6h3K+5iqlQE0xEAXCiUoNi7xykNshCzw7flpKNkgjTkff/Na9GoIqiCecp7MUrcevAeRJeDgig+tWE+soBqIOAaBrf6shwEUM70LySi5VU9P6oRQuvACQeNk9kcNwruW/vhMdZHEakjAtz5JYyM1y0kk4nEDsYRuNIt73OlmnhqwJFGAGqJfQJ9UycL5kLu4JlCvkqeCBZ7ZxfrvuFGOtK5X0BornC+VQqULXRVleGKDC9SnwmkFeyRZr5M4InOYchq7AZCaYT0vKT3LVfbmYYWFnvpJgdkg5+x7y17t69EOfQqJNaZQKNlpwiMzq+NKQBDEuhnUArTrWdMJCYHf10p3DAA7UzIcKq6JODhl1gUg4b44OMkz7zS9tU4ibwcjvD3LVpWas+QvYr7Z72UneKr5e0iLJhtV9P/+u7igaCI9ljmZzW0gKZTQcZQJuhWy0lXjG3qlO/21A1fmmG3bikWnTzd3qW1H0GAtyv7W3CKIlaWd+FILa/u2eQVmbOEyaPf5mFDtTxf6l2HMhkWNCTtt9AM2hLuUDn5jeGo+Wk6WQvxh68/SDzqgN4ZJh5kfLxodMo9QaOVuvgydbopBJ1RdjhOFJypgl3Q4TVvW/Xq/Yhb93A2BGy9jHKppOay8VDfjCi+ztqIHf/BhS4rSJN0GIWLxxZWkMC54BrHMWnOOvAUb8NqCBUkt4AnDpUTpdRnFg5Qmg8NQpBFHDSu08Wuo49nSOxsL1t11SLg/4yvImgs0e8xKOG0UD2vsxqUd+LlQQgsyFmFirF++LmMcok3JdpbthgXtO+XbPSs11zGaHUsHS/flG/eeNLSH/QHxKGKovAmanKvo5DPs5wQyayjviMuB9V6hah/WDrhEmgNbdq5PGCUaty6bLAwEbIIJ5ZFb0zl3sYsOnwpn27WxBwyhZq1F2XtBT0B2L1hjvfA9MO6IiZc12FGRuPmFq+YdnW+5RZ37bjnGXipc3+ohA6dNevJaYM8tEYRATzlS5bVkimyiHestWX9v7ZmF8j0BL+z7XVR+ivXzLB9uUuO7KklNXBl3C0odX7CE1rG0zkrtgrjfPRXeWSGPPOXx/KUokubWryuzeZ9rXv+j7J0YzFV6gsD3pRmTMgLzYUXg9mbUCSn9b8yosmJmDValRsro3JuPpbQ7F4OeSqa29BoayPMtNGpkhDQsPnprU7e3w5Cnl4Jvf1FUwAIKF7rfUowwBmSDFHfqIfC8FvbXvg8IMiHKmHa0N50B8iyqNsTqeFAqNbzYpvCVOQRAjUqhlG6M0gyTm24Ts9xo/zuVxiLxgD5T2Qf13i1JWuLVLlR6Dlq9giw0UIYQpTafssASdVXfjVOm968pv3hK6JU3Zz5Ty1leo1CU61e6lyJSmQ27EzTgzahEg0zcL9rOvGKNqmI6c9eEGDBiy7daqm77kQZUlQH7GOWd3skhbbqrWQSCZ3Q+0T7YOZ62xG7E1XXOy382uxkW2GcwtiQCSsIIIEAu2dxpIA7ifec2VqLAQENtxvz9nXENaZ2QXuYDVKllgxS4D8t15owBbiSdUhN0vsP1tYPq24YDR+OqBEJL8WiGQkyIwg+hl9qsq5czMJ9Lt/YIeG4dYDEvBMhRlTc+mlnZdXOgkXTTNU36l62EK5tGIKunpxKimJf+gcoM26jhTPAsuOvIfJQY4vX7KszC9odbGUfvxv7O94cwU/czXB3WnpDYIeaxPFOSEl9A9SPJMI4bMegO+HYIsY3TToLPP7Oainnndy0f67YTqq4nW7A/KO343u0WkPbZC74rOBmPStFdN33eq8yEKAcnyP90qniKGSYYAqfmbjwF5xKk7Btyld/zBYLZzSmxpcM3SRUDmlXwzP8Pe5kJvn293IHrFx160o4DHBHI9BPRpIQSQ2JKh+FE88dKF3zqpSiGMy+Y3w2eOqOijIW79BjE9j5B6/mHkLU/dt6kZLPQiwdtnbsjWe60exWYCIWUC+DODYRDh+T6kUIBF1Fjat5QeY/Sh7cGvZ1Of0gFYsnKumJt9qwHcbp/lQ769fHgaaXf4pkqVuK2cnFR+q5eayLPFDA7ePiLHSgw7qsm9mfwaQVYr+v/VVyybvtgqcd9lbGAQCdcrTkaYRY4+qlYUZbsnVXXeJUrNmB/X+VqEcNjLkhOyYzojYn3cWK2hQddW2gfO6tGhnLY6AEWCIfBf3WhL1ZRF40X4PmStDC9oYTTThRDo0ps1hIjlMPqb7O++T+fHPd8piZbV24TUNaH2oQ8oFbtz+NN/vNYZnKeLgr8Pr1chmvRJmLnNAPz/KYf/UPaFhjOc+3cTACEaBkpPk7GvmdVPY3r+H5vbevYAnKYQsSO82H2/9YmFUe/x+zrMpuEKmNgrhO5yCrWgIo+9BSWIC9wGbdaHAqPbq/Pm/jgt0Xmcd+/+v4dLU1CrLjZIbva6SmTe4IXV1oWA6EiQaDczLsJRE6ci/IK97D2X1uHsBOc5xNkMRLrePhDaWCiQkrYpMCFb5kDRcmhMwKQVFaDSLp2wQKaS0P0O02rb+bLNlAuIfiJlVhMWi/u88i+PSCAVamS1oKHArNFOvbdVxG0UZZ88mfDNDL5nvpnc0SMjrofNCKrt/1fxkWXBYhg2PvOLCvrR7vVRRTgTYJbMVPuYgL7VvPdOkSUXUcHMXPVST1nYgJw+kAd/dW5gWqHwzE+ne74RbdQEMNfO44y8C15uQrwJVntFQOzNBidjNcqEJNljVTurN9kzzqN9FIINZGQhzDs37xAZ6uDGgQV24IChEAdXWNid+fzp5eg2uf/wyiMweKsXH4FNhU8PnNl1ThYnypHy+EneaI++9C0TStvhs4Qhe3xPfpZEakoc2F9lCns/tQU6DPEmAYL56xy8dxaX+HsxDpSST1jaRkz5E9qieSc5MNy8foeAP4D97PC882unj90PPE6PDNfs3yPA2TlZL6k+ccnyql9sz/Sh/2aPJgL4rZNqfRS/kfkSFfuYIR3NJBj6p83nTaax81P1aKabkSfPYSxcO4Ru1OlEkqZ3lhzaRiioQXCztu6+e1Ln8qDxy4d4aCHBcOahFtKRLoR1bQIP8AJ2VS9rxS4PG+/9xhQiq0wJ3WlAVHUYEKQ6ieMqiZq1Nwo2w9NK/LrzqA6LUiyI/+QGfsswlyt0PDZVn774JqdFFMZ5bc71ZcCE4wkKoL0lixT+WgE1cdkfaSp6zz3r8OaqUIhDcVYJ6wdc+Lz8LPpSr8aLz0IW4JxdXq9BNLcWMdziWzUHqkCQ4lD1fiQJy7f80NAYkYqFTEjo1OmUky86pKneF9rG3peAUUz+fINBYMjoV124A4Frua6CZ95KU4wflei6SRVb8ybGrLd++WVxNUpfdX5FhVa1VCv2+O6LXXK5bC/F0BaN+9qSGkz1cql+7AhWOTGJiXdQhNkSOCFSdUIeL8C8udb1dTmbgAAkSjEUxqLFv0d2RmBJjwhWZjzHtQl1cyXcy2rz8B8pcv76FIyAk1qRXRAwDnN+DHdcbOOGkJgtr/l2ovwVpwvi6333PdvC8fz3mtXkJTOrHhKrQf3QuINIu5v5na9BI0jTji8ZB9QJrCS+85mgteJ8wT26ERUJ/Hc4ix2vx3r0sUxZ2jEPzwJjTqJnhdn0rijc0PSpwg1yQQUfLajYjE0d8lr8Hylx/kiaVxc3qYG6uGF05fYcNm9IGM107wF+QttgMh0vqxLqsqVZZQKSp4JwmO0s3ygTl4rIXwV3xHHWfLfWA3p3MG4chHuFKbqF3ngiwSw1afFR8XCrqnPcNKe8rcpG8OD9M5P7mb13l99JjbWm+1fV/Pzqj8EavsvWOHpgEx3t1Lw3KqdLAkaKCw9230E/6sijHqYRKyhOBdtfgOPpcX+P7uWKni7O/Ctu9SFGErMgLE69Rqs1rguLcA9B9cPAFltKPzcS1ooS5y+oqhTsrCjEwmh3Renf2B8pJS6tfQblNAgtuigGj8P7v5kq2S2pnBsKPq6eY8L0Qg1JPNoMRaoRfk7/Cz/0H0d9AXluEF/NbragJmV1Kcj7IoOdsWiy/KQmuMkgA9ojD8QFvEL+S3QM2DvcftGWtPJYkTfds0aP49K1FM6oRdP2jy+S0UZFD8LRbavYocIjEh3+DtWdjlLgc0AEj6A2wcxbR+HdsXyDUKmGeAgb/JAF3k8F50ihkmRVDfu/0q8PP+kFUKMQsSbi2x251gG7ezyBACs/J2euoyRBXSWoQMygepBhlCNBtNdDS5O0IU4rNwIZeCf4MX+B7XmOM+Dw/x9ovcd0WLWHjWNRdHd1l431LUo5GWKYdFQnyFB8a/Dgor0z7WwGrUJtK6PNv8G3vJKi5zUcIiTjLg6ajVjEaarYzR2v3iUGVezQnDR7cjns3iPKkoGuB4U8FgFMuvY/U7VhYoZJLhdUzm8l2IZcnwBP4yco7rY7gYYOHG9AtMFgU/fMYHnGVyhqhUjduhlULRxc2o94J4mi5HsRg1PlS9E+bBT3AGF51FF0zhBZk1NnaQ9VIlD9kd0Jo4uxMsqaJUc7FL1B4V2mOiB/godSsFBcUR191UE5CnEfySLt7ACyZgGeRnlsfaB6dgOvlCmODDIdbw7TyNspYzUgGDLiQ2XZfTrpyL1NgHThrtVLD6hcrN/IlI76H9KA6L5sC7TwTpX6NzFMN2eeafA2wa9ah4RbxWnaNsK2i5ZBg8Spi5eQxAoMcEB+g9GcYas75/xFsG+3TSRKBXH9BVfa0zwDGpr0HuJttW43O0iS8xn88ERsaDiO/BrjuEYiaDfpUbI0GVq9LAz1z3QKdEqIO/otkjXZML6jt2D63mP+6Yk/GDUz36eMq5wATa0PVoQrnr/5dwL4yEkfWYofo37lq1zUgEEsstPb5HnXJjYNAjkEhm0pGL8UhUOS2xXplDlIpH7RmQdAcALHBqtEGhOXkctKfjWlqz4KMvst7Zka/a3TLMSmID5cDsfbyEFs4xFapOWlt2ZvwGoJ+3QYJkiGRggyr4+zDDqLv7igoCaYyoQ0+DvdB+Twr30rcHAt+YJ19aH5QMTkQXAztTp9oiienCYjON7J7IGNKvei6IeQBGBogjWTyDHuEjfqypkuGrvK4/FJJm1sfxtVq2eblZ98z8V+RkRB2l84ysXGXOhMVlAebWEEUD5JAC36T/nOscvlHZ6AnnazjyKhK+UUXSips3S5Dgm7YvCTYCg3X1MjKED2opcZ3m6oXkNGbItO+JvvqSBpU2IFpYp2GTMqTscxTJU94CPDHyWPw6ptY3YKzprJiYh3jN+befktOPoDYzVGCd3PjAm4vAxXk7Ao4Nx0c4vGE7gQI4MGiu1cPnVxwMge+eEl464jAnKE0A2vNN1lep979kOAt9AxlGz9jVTMYWEaXoD4s1IZCF7xSPFG2hC21aPk2DyLLe6jg2Zm9lNAscxwEraqz/0JKBShIR46y1ZHNnguDJTQZaB/s1hzazM4GgmV/V07aTSWcjQxA8WGta3fCA31vWhmSrgxQM6KPKq6zP/vOwJeypQsdr6IMr9ob+GkQq54J/B9XnPvbSZIyhwRw/ta4JMCvi64+UCfb6mHsnGFkA/xWlt24tRixde+3Dbwh7JzrLzpmWWA7UMjF+rhtIywZbZZoXTijnI88PD8AozQX1t9ctcMgs2Jq1pcdbBBvHxI+mKvlpuBeyDTEfAlDBBUWVGCeHGvCIXxos0+sArNFpa9bzjlU4qZoji6LcHg7LJGL1KvttO7XY3YPiw06MRUpiQEe7fCLSEaO+NrM6LKfoZWPuhFbCzaeMl2c5UmYQFPmBIZB6gn5bSM+37J4oNitRxUwsjpR7kTQIa+FQeTutdwmDeeQ3XYVcCoqSfIlcI0Pm59VhEF5xRR8edQhRlrmvEbswvhbrFrg2IM+/1hGyGah5y9WMFNliy/Ftnimu+vWe5ODaj1XDZQ9ffupoIWee683pKSI3mp8cgqmYJlNMnCPISa+MuRlpLhkdkuDtrh1GoYn9E12EsFKQ76JGerHea5sLOxUS2NFt0PCCPEdA+X3rpyYycGWDn72dDa0Bmgo4hRdeF+h4UAyDyqhFQ8bgWuuBpxOdMbAdYCKIRnv5YF4tfa3XoBEOQY2lgc1zcQGhGdXYAn2TkJ+h5K1wxfQoaEQRTVxOBWKk0NnUtu0nLbkTevJ37JTHNZPKlhHIRBezFOjPfVQdEcJvkJvBy53O4yGEbDdPV1KofP7IyCWJoOtsaOalewGcZyrNFYxm+EsOZo54xhwXR+OuSi5Php2M0tt1BNRivditcmBqQHxhauZfVu8ITb6B0FH55MxOdy0Xb72YWBQN9hU6uMc0c07RXcKi0QPp3u7rwgDW2Nk0OJyygQn6SArbtq/WJ+kS3JDPXgDvzQo70c7reNA4joWIYFS0R5BDf67ugwqLjRdfYbt8ECmLRFDev8I4dSy4q7q23+rFNONdOIDXIAnKsTJTAVve1fZy0Am6+N/rsu2dWi8L7yr2UFV4CooKq76LQcV9yIbjVYPdaUE1W9gLz4zhhGp7ikxFB97KzyEJtakqYO7+P+tiaUZo8sVlP0R+lOg++c1I7atvXt7nPM91R7C1z5Y+T8UXHAQm5Xz9bKNMuRn5lo634cU1UOMTZrLEg7XGMH5q/QyEoKUdS4cYLdYQrQ6NBIGND7s9TAHKaxZQTW34xOXx9zEy/9QzQpqkgZiSTZZh93yxD/FEQ8QcyJ2Aer2Fyz5MCBww8GLciERJOsyiYpeBT+KirPrtDjh1LhOJ7r62OGBVAdBgYUXmCZSYgXylKgVOFe5sOBIFL+QtUQsu0DbW7GDYqFtaCRMGkGTK0vVxI3/a4NwgivjD1fo9D+ISpRgvx90/kCO5XoXzYTDtDjEGdp+NCw1wCOLrtE0OpuhMgQs9aJ6mANy0eSI3rHCpLPcSJGtULOQXYurGvsvfQS7gvy59+/OjafwKRYHlRIksytYFDAIkq30m0or8psGUiO5koXLU71Hkije+MfxithEWvTdCtODg9bRsUhA6S0BGkAHG9W4OLICYp2a1KpjskEekaQlrZRKNPqUxHo42qnqt2vKwBvBDwPrncF1+BV5tnljDfj7q3WJnnCLht8n3Osp3hLbMuFbQzyQlCtmm2zcrKi2G6BHp7cwAQxYV++S3cYgTPk4kV4KmCxLCJ5aWASppl0QUFA5TKaKReU4VxbI9pz2y178uWqZUElaFwNEQR/rDQSRLq5EIJ9+hiYDFbVHQnSQVvwGADI7LI9xg5klGY8wFT3O3sb+zEJuLWZK1MTCDAHoax2/AhW6gon4nid5GyLjEbOMD5LO5l9ZFJdJ/NJn22HxUr+aRdJAoqNb6APXENIklHpxmFbE/wUKQpbtzfxfCmGBUgIpvcItFfdE+adObR7X/h9rBb+Iq0xopo5l4hPqzRtalM5iW8TogMzfD02X7aPXlP/x7YF7H3WvH/+jMSEL2NNQYcnm+nu71AYzUPggfPr0a1UKkm6MNBpMYmbY4aAsPzU67BPe6jca7VTwIyaSBFavIdqzyNDYOzN49j78PcATVyqYcvwnPWJtImMrj81rPNX3K/qgIfssQkaHdi6pSnAfO1hNfPjjNoUBDDQ57oQZPFLIQbmH8gworY1wSga5pd6/2T6iRS+kH/jrgIMcosvMCMesTRe96/bA8fTNypPC6qJluDsTIECo6gXTeRjKPvANeA3wm0O0QC3IAhwepXHzd4mFPafoBHEkVaeJP98oDbXULUK6C9AVv+q/4ixCZ3RvU7x92nyZSrNOqwrUHFkzvBOuvLPzvLVlHx87jqQPA7bOrAe5oTgf7Zt48/D8ysz2U1D7gwkzXLRXh7GlhndSfAR2E1npPzoCIegTCpgDNvt1C72Ygj9h8z3B+x/3JJmx4+/l0brNxKwD4WfEMRaooUPrRuDuRsS0NvQgDKYNjmPOA7YK2Vhp1haQgCqyrEcO+wd2Bct4ptnJv5WUV69ZWHeEfQutkzmbIF92uG20LBKxVVTHMgxgfvtjWNdRwyea2y4ozBKSuFniZFT9OZQLADBC8NdnR/kjsAb7ncusOCL3vypRGUCCBEgm5hvX8Vtd7w8x7fvM0pLPzaWu2cevytLsYlFDa95AdZ0XhLtSsuupPvwtQlvwDCQDqI2sUPIEdmDnNs912mSQE142BOsSfTtQnp4ANBTeYg0cRxNZBDQTSay9JMIBG2b1F0Z5s5qwyO8hwSfmpj0C4i4sCJaTInTTVe1+oFzy9uAz7+4inuLiuEuf9NtNgnJokr4i7JRpnhD6S37ThaweYT2fcITUo49V3O9GL46gQ2CTE4H5W4jQ97yQYGsCHbUy2+6K9bGC9HwecLbbnwumFrzlBUInDP/pEqb+r6xusETbKQveBNUvgldysuUeLc4G8TUjNtdzOSvmRyqOvNqIFjhfKiEvJKbER/CalLkfeW5uymo51wixNG0/QqlA8iyF16gOHQoUc+JYMgLrd8a84T+uDgGpHcgj3S+rE9poceG+Wgaw2M2a69gsZLqqRLGTYzMwlLAs8ggjjK0MnqsrMW3myz5jNMAd/V5cJuT45wITcUzWNF50nzfr2FH7DLSR0L9s5QWMDOC22qTZLPkbYbtLoRyu4FrwQmgpltQaCTpoOxbZm0MSuVA2fDgXui4ps5H+KE3JLWqv42YfrTDgn9ED1f44oH4BV1O9Cm4t5d1HicYLkJ0Jds93/pOS59oFCChDYwPgUiZp/eQAJBiIy4Sv6OcCpJRfZRa4mFJ5arrYBYiPUT9C38Rp+82tUUqueVLVyCXc+BoHk5rRN/PXIJ1aKqG7jidVe3QhDsJWZ7LfrOSSSPlGTj1jKcVLVgdeqBFuxDok9/3QFwKMXyoHntjGj3rC83mGuTycv057PJ3MX80tK+UUf7VYQDzitmcKxqeN5kZIyg0brHOObIShGiRJGjflh/+0O50BZQrrvv2k23O1tgif96jO+EZMhq+2uAzLUh++yHNRcVPQ4o+XK4zWdOFyz03KwZVGSHLEozhmYolsmNkBKRXFK3ePZSk9Cwccp6On4fqcDLdHrSSGZOq7SiIugzYDIP48ljaseV76qduZ1XcvWR2Jk1Jo6LESdNCcgUvjJrUHWp0vHmrzIgVnM9URLOibIT9xDzrwZFfBtXMf2ixrw4AcwRTzYof9Jo6QCojf8/Esv7xWHzZgtTPbfqJ4sSzzgO8JwKPTz8RMz7YNSosf1bZ+Jqo7q8sqB3RWAZRDkmA5pt5OsN6mEJdJh1JQ7H7f7IhJ+UmBDs4GeXDfU9MiarQMb0nvVixHTXFhft5waNw7yByXJU89xQcDMxoDC3nb3PjNLqaK82K9uswj0rLcVpGFBr7wDMxAEtaCG0P1SqcK1w3+ehp5UtnBU3z/IqeEaFncxFOIzH85w6ZicYtqa7iuM8y9cgVYJdGXF3aUrpe+Ixf80Gb6qU7AwwoU89Z50Vo7bRlLjQre/tDz6bdFqP9uDjc7L/wkEobZPQmg+ibyNk1/+MgkeMiHtkHqhDFWbUhw2kP6BMLKE7JiBH3S5IdPZtnhC9Jhb8G+BELYsmuMWzTLj/t/NLCQM8o3aFKUT1wehs+uhs4q6E/Ct0VpUsaeRkgfPw+r5cU/AoQiNnTUma3c9uJKAef4cgiKN9A0GPM9Emg6JrA6m/FNu5Ra1NTI1cXeoAftcMvYNDUjqf2nLRtW7jM52Xv0wUMB3FeVZLRf6BagA9awXFTe1kIrpfKj+l9jOZPSMjpddStjP4IqNGGI0GqU8VdmbdBOH5iU3aPx2EDYOFMMwBuEEoFuIxCNpA5uuCOtdU4lntVHxx5if1EdgKAUg+b6MCxmg9NjhQILk2PVffpIuKJUUbXQbYhHDhAx9QhwOZJmnjQ7waTC4m3EW6FZttkf+fFeenQuoxJjf9U2JJwHLRDlAegVaIo89dWvqPw/q6NW9vprKgEpcP4CXz5kpnT0fTLshbmqQx0MRrtlgVtx23pSzbA6v0UDojoKEUZiwZ4sQzg6X6SiiSm6lYy3nUriM8laWMdcfByIS8uLOvv0DJY8aaCmiXTHocnZy+KXkoL/Aduzuyo4n/UcFr+TM2Zc/7gwJ5NIc6UY//MwkcVUUmhPlwPv0V0CDsW70diO7N/Z/Klk9Q1HqeesbCja6m8BB5z0/+qyva+Y4MUtBq8vDE1qxICQvGyGsudrHFNF4Qme4XNlQYnJ7Jwps/zerd2srv6xQoS+7nz2q/klUQabThoaJJLRPVoTNebwvKdh6N+wIIkDjyNRdgIRvSVxebWINDpkgDSxH6DYpvn6E7NqUyVE+o5waoJM1IyJ2RCma8sCwcN9Sz1DFlMz+zAHG7QBNKbGtM9JeqsKVrjN6/4Fd5rkILuoj7zeEZFFSiB2LC4f4uG8f+qayxDLCpjjyW4Kg8VbRLGD5jvYS8pOaHChzR0dmIZytHSKdBQJP+f+RLFw7e8dTT1+jNdAq42tXPBH4++t7rewrF2+ZNZfNSEYNrGivRKXxTnJ+yURON43stpbJk0i2QcP3zNAeZQsgQNWQKmquk+hQ7OQjXzATxPDc1E1+/WrITmhk9Eo+oFtf2KK1vSUtokwbs0JB/U6DzuGSHvdkLtO811P2rXfBNh8hlUhwoRD+ipYTUAi+PFj3mS32zY61lCpVvSk1l6CLVXUwM8kR+5RJkzocWvdelZx0lWqiHX2VugsdRNsAAQYWX/8xiyMOUqR8NQ4N32i5Mp06FCO4DHAMgDw/Jnz1Xf3XBFyabqYX1pGlY4ooD1ixzKmy3p+EqsHL/wy2yZImamMPfVAyEq+F3n6FHp+gzKfNoO4ieJmGcYdN1fwUbOYvOhgvwvBRDhqn4CegGxO2xLqbvSQy7Vz9ZE13Hb9C+TdaW6nNCW8vKmBE6v24A/k4uV+64fuzqMBY4Inu9Cnel7YWVXp3LzAKI47+u2/1OTaJx63b2JPUYTqidc/pAFUBU3xQGeD1hIMiZ4zOe8F6o19J7xPoWVi8aysatnFTIs74MY/N83b7Mi2KWtFeFBFLf7A5rvvCiG06gMgZm22aLolSYYLYU/poy3Sha9vdzX8uknfm33b/5tuRk4UwH8dJLD0yMiNIZDluBAOkfpQ8WGaUPo8rETx/sNOihJOe+rD0keAtALrR3TwTEovUV+Uh0QzATmAQkbG61/aKUAmQb63KgjTa4rM2D4uFG7Mn6g623C801I+I/F5o1DScN+UkCXr553fAHdU7H4ezuNhVBFNMCj+3wn4HGmHLfVuW6fKTB/jaUDjnR9z+YLMq86GfRUbWqqUgSISffF1KJXoeJ1E7H9rGk9u/cAtWyYzbNF1ShR7It4df+npdf/OdrEmK5S4O+3/qQiVwBwq0GZ4UHSOzyS0ZXnm7knc9hOpaCn/Q1IS8rsK2fSjlXl6JCw1uWdtU2FisJs7TlupAlWRF8C7scl/YyTsA8hG1MyZLkbJ/lJxnKdfCKDxFr9CdsyCjL73686Mvdrg3DSI7On5UNIAmViJ7ybuiOl71iAyGURz18b9iMKTAQADcUKUhMfjn0p2b3/ivQcZckAsh2l2cGgFOEySvXKRD1wwtsBWxuXqYiVDIgF4GMX861FoLj7wdB+rnSp6rijhBdq2vbqAeAZvdzsdkXg4ia5a3B6l33hzZ01B3ckh3Y38Ibcmc6cfHW6TSlW2hq2KM758XPMEQ5ZUFgMLuuu1JhS1X9sF06oh6YohZo3BImq9dB6RtjL9/ugQeDDSX+PfbarQ60zszv8jrWd3E/L8NUZRFAMWoVOWyF5RsUNJ7P6Kqi7cOvsS95HGWZYzvxgg//Xyj4tXyYscKu+JtFV8iGN2jWcy4FfqYgNEzNiY81CLE6k2knWaImdKmYaTWdFNPZUall5KRVMvhRIW/DFDISqF4I4iXEFNKhxf8gFVBLMMVlw+7JlD5bBmZHHKrlT/VNJeI0ZKFwAkwe72E7dkGZPCuTxaMEuDukAxzdOIh+vLefjA9nA8jbBn043CVfw4sUmq5LM1BNWa9+mf/8qqYj6N2lAgsVm7qHZ9sR0YMIiNaYUDt4mJe1+R0QdEtFqrVWDggsonVeFll6Xd9AgLKlFcP8fpAglFkvDn5NJ36PuvP60/UI2HuIkrFBOAGzM2Au3V7cZBw3j6IvyVCvlDSWV+VizXSkvvDkIBRqLBtD5aRLlEnDKyBLkazz3dRe65mhBcARajYZn5EwfQqyVTPI9qcAXVyMUPw6HG8khQf56yPWm5i/6356l8BU3b3PpsdIAGPzb3+0QAILTjOagbOqCyVD18w+k5m811XDEqYCV0OHngGcvIhc/rM0HThY0aOnx2xfyq0KzWTf50WEL6JmRbVOimEfARgap5ea88gLCARWVN3GjM3yBADzEx64UUOPeuv/zqU/Ff8/C4OEFxBkZjhht2GWMEihgIHQ3nvTH93YKxoDt6WTfOTr7tGoz6Orc/CyqrS48Tm3yH7mDTXhZKXYKc3EHxcx0lgJAd4XKj5GUyPuxJm1L6WEbSd3nVOrQMRUWpTEp7V9kszqjRB3A4VaG3OjgyiEF+twiAgcqXU+zrqZjjrbE28LnLic2+kkhDsIBfhLLfwHL4ubnIShD+O6TCgecNGnZEYkf2RUOKUmjMbJ7EnZAPL9wSqT0AXLzEbc7ZVELqndpUg+B9LwH7cUDR3Ky7WJW8SuGks6zTti7m1L/MosSaagJ0YAXRhMtoRHDCTZmr0dKh9j9vD4nMXy/n8vvEAb4F5N4dtb2cEI3wRs8NaBx1lqYgNI3L7eATjLEf8BFNoHfJ034tGsqN7rpug3GmCaq3tXuabiNZ+2KNna7qlxPgNEMPBXas5fxW6GheXurYHOHAB9PXUp7kvFS6+0xb2Tqz+z+xB5vQEqfIYW1iPFzMKKY1IvhLde1WUPNFfiUy7wjkZQYj9NIHlRQZvXx+YJs6NPpusxHaebC941w3phhYP6JLSq0e/NLOK6pWOqUYhQ1BgGs1PUkC7s8ppT2EBdyDbWm+q+Tdtl+cpMfDNLnMBCpFk7MuH5ZoiTAkKY6sf3J1SI1DUXbfOtMkCG62tXJ38mFVJCXGfR3ZHauDvJ3L5B5jx/wCE5WnwO0q1cHOj4w464FFgfFiMsMBeXC7FXRG3czgNQaYgX29+83LOdj1TIvtmCXOybbiAlnEf3OxOVY7q2Jgli5ecVjG8ikTAGa/3SLtXKPzYcouJN07Y+R14ExbQ5lUjOWtdAvcjgluIcLT19R+6TF6wXxYacrJlUQgyp2ldtuO0W9rW8OU600aBHBJy+dT3UFP6HJ180KkNx5TSB21H7ZWmnh6pN+DToj5aEveMCNrTaf8Hwl3Y9LNKBpsDEKAUuNaDPvXCmTS1VCRgzg2NHHTfcloj7wy/I5ciyb9IYpIQjeHzZDNQfZiP/qspzDDV43nBog2Wa/IgqmzFlhJ19Zhaj/God6eqIE5SHBfKHvv+LLhbtX7Sg7LyHlz+MvOyidnxqmu2cu3Rbs9Fsv3jVhJEdgc29E43FLBthQOp7iiqRaG0Tg7z0yeU75aQUqLofFG04YaKpeESXW+/yq1wQPeMYdNcHX0T/BLs75c0LGu7MgJJu81sTKbk0XK44KbiWTwXfAdwS1oleznRGEPM1RYFA4zdeXVxbFoj6eH0R/Vr485FaeWvTKtyq2OdfWVDhEV/zFHtTeK97mK4fTTw8TUZHitnYqE35aheB3WQyfTW+VziraO3FiGd74Uvj6HCZ5GoFgheZ1854NWfgBudNhI8hv0NnzIvEZ9qUaSleGnvIhvUpn9IaDhF5fjV52PjH+5chTRO/1vntxjg+1dRFcoJc8BebVbUBcPG3NqKVj9AD5Ii6HJY7GpeOkjkQYLKB6aXXyf4IvgZWiFsa9hOyuuc+es7z8r0bFhsZIRb5roC05qxq6Oq+yS4q90pyfjxLQBuQdM4L3q/5cwo+09cJeugRqfc+RW96cErCY9hySXnxlTvvh8GJK0btp3E8nymrN6y5DkqmjZ3KLj+RoiZdHRQN7XZeP9uT3vjC5Eh2EBrLCrwVcfSJGQKRYZGs+4sqN38VmRpCnkzBWdnBi/fy+Fatr7qh+Tk9oyB2dYD6sms9dzf7uoe/qQahhOW0JrcStsLfBkWSIMmmUfWaryp/b8ykDOG4yy1pMKVR7j4odXaHG9aWwxVY06wzBOgHcm+FRbw0EuhnStR5CLSHxVaysiSsUDk1dAwI/Ea2Rsw/GIc9icwWyYE6lZnxgJAC2SPqN27FwjmKnWrUf7nOltgIWoQ/6uRS4IJ/L9MmCiwQ0WK+6lWN37uAwKFnT+tjyovMJqDeOPbrnLCij09D1E2MtGgj21OSCpN3/Y6q7jk8j/bmpnwf8PQiGvGJP10YubaQM9r77O2zoeKfpTF2qMZ2MA4lnXdSS/7jQthfZ+p15H0TYhq5CUXvXEZ6KJHQdp5MAl69JLxFcXC+fSMAHNIRyDLcsEdDgMeaotEcDmdg4N/SLUhjqWQEWMn6T2R0qNWkgSyEdUpDSKzCKIRftLFKX2n5SnO2k2zZ+jP3rNmRJsOAU0jzn2BsO02HJx31NzOxsUp3P2Pzo+Whw3FjXTiEQngNfhwE9SUgIz1tq0eOOIt1KgY6hcxTojUM+zJA2AoJAXHBqTl/xxuWIjoz7XcUbW7jjSjtsa6S03NtePk/rv55M5u0mkRxJ4ktxG+cLW3gIUKRrWzeTyqymMzAZtcAKjUfupLK9yGYrzIh98A1+ty/Jp17gap+TX7NQxdBg1pFQ/eXdOddbBrsGWNriZPtryXuzSUeDO/hpTVKzFX0jzjk6UpqR+zF8pOBuVGBP6W1JeZMqIrakQdfJCgWMlVC8XLG+m6+etPVwPVquIbRscnkbDn6HYllNwqWZEw3LPN38EQutogjLKGcLEz6JB2ez6SrYAwZ5Os/2Gwz+QpKgv8FHeBJ1shBHdUfiiXvDXDb8REPC0DzqKbIrCAEUInssfNeBHD29TwDLe30o6TFz+CTc2IWAY7AcEjfOkkDtn4Ox9+NsZYy51N4+/HkQIDnBiFi1KvTDRL3HjrL4e2sFmazNIJ6dF6tkA0EmF1MqW/LTXyan/btFoa3f05nhTW/6TbOoMugHwe04B5gabpfhS3IDQkk54qKpVQyGHvwJ1WRSpFPouTHF8DQEgIdyG4KPOaw2DNoUf+s4BEClVbngIPtuZpF8qxgT8yJ0ZptWrBHkfIjL5/8oI3NRj2zfmLv8HAPtukqz/UWziksWkEsvZwzphYHBhiBHlNo792EY+X/98J6vH5uyeDKio0QLEjPlNRzdYtA/78TtpZV6ENwv2BIiJ0EYs90C6Ke8WrIDNDIXxB2HjGMcRPWBC+kVIcChP+u+namJ1Ra/sJJrGLmmQSSE/YmrbsQJNFXk9Wflww2I48UXCjiQAu/zn7HA0hhcQ9ydSzOUdUp0R6Fh8gqkYr+RunzqlpCNzLJ7m5Y2M+p1FnWwLhlgNJNrWx5yMPP+sEJzPomk4lFasKmcLEAKaZJpw7TbD7iTzp0QwsKaXmB8ZFU5acqQszjJ6dUCFvmOWx0NdPgM/U5Ydltj4z8b/pho23gPP4GZlgLZvb+nKuKAMFwnm/S6uGXgpozze9gGWk4DziZumQoIihBaQ6zIb09CDCviKAuOsLYuWMQzCSfMNixGf5FtR3yIKpkstZuJ96M2S0suXPnw31SP24uwHurlMJZ/SDY/Hr9SFms6TB2ySNVprVjCgFqKjZbmFLM5QebCzX1799UPwOp0yjtj4XosCoV04hao/ttNuzFZeu5pA+yahWkf9CtnSQA9LF99JUtxhNe79rNDnsmGLR1daTtBZvJ73IHAfJiQvwqoG9E5cqgxjwrxtYkQl2Qf0URlUKtKL/2pIA9ade26PQdT6RvL0mOfZSv3BYao8zte4oJpUcdaVPZLc62hTEWyxnNnemGs/EoXVbGkd33BF/36ycOcfZx7lotk7iCZBRY6uQB88xQJXUsceA3B9cTz4EAGrnqYX8UuhgjdEm8POjeOh/A3FwD6cRzlOdj7CIUG0zGvC7cQP9MnBgH2puPlFPrCWZ1+CuvrFiUk9Lzscq7nJvlA6BC6TY0kY3BHLPOLSj6TxBfXzsPjQ/8IJ3A06r+C5PaUVK/I9N3sgrIihwGF03LQwY243lWv9CStMd/HO2yb3WSssv38raCMqJOdwf7HvRwmZQ2O2/e5XTA8yjeDsYgb1PCDvYoC4KFFF83Al/pZJu+mKkMqRu5RGWeTTUE6uSFtxxDZLKFJWQluz1nd4Xwkn88TogToTEL43cTPAeD7djEQ9CtwskkUn9WHlLAUMl8mPre+FvaaxmhgdXMW06iGFP6SuyXsQ4kKHnb3JgZu4QqbPN/grIF/StDD3AEB1tTBKXKL2kuM9uGEH/61Q6UXvBYy/3AKM5XB+b66PV+qJmXjH79Y5mhYVfMdLshO1eFP1ETmt/lJwEtAfVpvjWPaEN9qL1gf/WukI4OtoUXldmNWKoDstr3ocNgrRCrriluUoMNRNwtphIB5004QyBuTzwms55I7Rot6rFsp2Jp7FBKVNOJiNPYHf1dFWpjKLjQXfvribnR/AGo+aUxa5q/FkHAOu2bRe6YgXWYS8Er2TAAt+ADQ0WiCmFX0qsnOYCRSgh9ptHw7eT5BR9lGaJc114GqYh199tQ/39DRGasKXPUgXvUINOGN4jepTm07hWtJV5xGxJxcwqLK21M798ShTOGxe1XqEtM3FGpRn3YxIQLaRYZLdIB7I4Q+u9ADG/uhBrP0v6MKLssZwJfOci7yriHcEjQ2AhtGgSbW0NmpTzZiMxUxF22XhAMuUueHQJq3Q5VGB6SIvrHiatB3Br+5g+RVDBJjoTYatulLeAVLLJnmdZXQvy+8aOjJLcOr9CdUMPgageLGcVTjs4ciW+ZAfCANB/lMpENgGgt7mfX8MEGAo2cY9PDEgyLtmtabxMXsV2pL8ZUDdMJQVL3nbe5xu2SdtfXAMq48kc4sO1xBJrqRfeA5HBcbjZw5FUYiaCgblJWALKLsnMZDRYzykU8wrKi+I/tKK9KRgEtfND1+u2IjI7VQhgLjVBEEKvuChZB0QCQXKfGsUIdett0YDj7LvXAuvpOt8ClZFxVklGiHq/TW7kMIW9aEpvrQDSq98Yk/4J643Jan1APeKO3xNFtkq52fXn+xJ4g4M4XtRlRKB76xkQWaTqsKUOJpzSPZhNuKFrR2KYXzyqZbt96PjR2hRr//4V262jt5mXo0U2swJDMZKNqcMXE9ZBB7D5OMJf9lzFUEVOGw+FuCOONj6LwcbZ617kEm/OWKZanb0Ebh0DQnDjKico6EgHcms2j3RxOU6G5SkOLltdwin9NvTeExY76zI0SA23umcSXXf13+rDF4E+RIHkD2kMT1W6Hn6nqvlL360e3XUp8/EamXCN0yU2g2E9gSQJRJjOiuP32IyHfg2/ybt31JeHYjslhxRZHSrXsEogEN+qh1g1TGhcCWvJvXD8UftRO+qRMF50/onIi/KlVCI8/7sAcpV+q+7fnaRv6fDplEdi0rcLoPQHaPU1CJQG1lgKgv6fi1vP7PEdAmTlb6w/akvIqoy019AXm67TzaiXptXpD93/ktjiU5V8F9qjfWciTMfQ2zHVYNqRw6iVQfRcajXl5OZ1BMVjhD+MjVN19cZ+B3OgBGbdLiIGMaq2LLPhc0ZiVmtZSAIW0tIsUOpgRYeMQCilPG1RPnYK19uT1fWPDb7F42dBDNvgYeUt43fK+V0DEgGt+pkNepFzN2ce82la6cAgaSyC91vUefONLL9C8RsXt8NTTozyBh1uhMTnnXDJ7dPXIg4I+nZJrDGC9WJtkjUXsC7bdw6Yq18A4i7eMlFsWSP0JEHmp/2Ddj+2mCUtkd2Ij7AgYigHOIP8kEz/RNvwSVJJNW9Ze70dgEoWs+u27TpQCGOWq2fmNhXl115ukNekaaSKgaCE/YCTuE7+zkCpyXGivsP/kx7RSO8d0h4TeZ8F8p71KTQI0phY3U+3f6syM88SMM6c4ldefb9pmy+vGv6mFqXHtmT7MOPiEWjdLatV6l64sqUWuj9YWlHv8+YRrTBQ79wF0tT+U2kV34YDxnuec1cq8799/x3fsJARTKxJwZowiVc//R8GYBJq6wKCR41ymseuwjgQSIfXbEAymLBtZ5iGvCf7PrwCI6Ejn8YKDNranHCNOsNThzI1z8TB4EBsZXGX8flSi62T461H1VG+y4TacNSE34C6PFdChMhuU4SDqVZwxYDmAOHox2Ig9lFgKYgsDZ8VrjW0qWR3j6qC923EVbj9tli6sIz2YarqI57pJWiilrs9rjoUOoUEnO8cLug2DMdXD0nLNUAqMgOxmg8BjZ5KZa8PDCKp2vxKA92JJQ3G3lyXpulbIR5FBrJ5WFQ7ReopUIQz1OZbOh+Yq+zBCA6m8YebcPOiFkjCfQKo+VhsAT+dnOKTakEtipOfeilr5hgQwuW39bYWmNuzrZGGRbCDfx1NwcQKWdjnDxK7R6pvgUWdc8IcxbWaEIfNKDh8gvMdT3yw/MACPkD9X/lfefoLznBUQ+oc3XeGu33ww+79vUpIyDjwecaSINKaee3FNeJDbTirNKVLuk8aX25mP0b7TD9GwhvPC9n29a7AuKEfoc2Ex6cWbXWSizrnfgdEFd6ViRdhW1XUGinfmM/GJdekAQuzgYiIPzCGw2RcUk4gz8z127iaG6k5/Atkoorsskeo01abxEuP5YSc4imj/0lzHIytOp19aUTOrDdx3D2ztItiVv7gXhkK/Q2P/afI4UOsi9916vUsUjsL9w4Z3LUhT168tloVBd9zpDZB+ROKyg9PIn5CH4ZVha0pNsrhP4nLzuc4aIYbuPrUdouSgxyNNvPUNVq/xUJbOKfJEnDmQAZ40ZBTl8ki0ypAJMX7yUTr5+kUWdd7t8TqFHyyUXRwqTik1ISaGHuhlSV5+eqI/w8f6Wvi1gc0fEaNfjNMsH2ZCRWSA5/S+p3GHv9apgstJ4X17dAWZxNwCbsrvOc6pA/Od8PvbjH/1v0nvS/oCuAQdzv///M5nnRTW8ygFAWw6zC4ejYzcQEpMWF1ywXC0N00Uhn6v14g69aqsojT5+Q+GIrA32rWCo5Cc8XWjdHmUKyBgndOFPK0Y5JF7R1uGViNM5QW7UEwVfSg9+EBE+hQrI0dsiQDp0aWQcS3FE+6lUBegHUhMFuTTwgXFbf5O18RyqwDk3gqs2DP/L/zaW90YKwULQ6NfKrLfje0B2F1m4HcMpIfADuyBhuwr2/o2PEYGLefTUVXB2LZobeYlyYuV40ZZhJL9SIk2VCPc0eeIw+5e/HGfR3nEoM52y0hEqkaQA0QPTMRqar38TpDEXxnQPOv1nmbIEbVyvAkoUMZeJClyyedShlvY4NZVK1RVeigOUYW4+e8FLz5gfLBk01DdgdZShmt03BUQtG+LZ1aNsCuJm46TE7cLUJfVc0S2R034+8n4YhRhjqT7a0HVAWy4Ev8y/AI7R9a8Lu6yuWjGaFwiynT9L3+9g42v2RU63GT1aCgUw+jKBw6miqwV26KM92dw1oJUQz0pUod4YpJ0IK2auAafIVxgrF8aIyCSxWQpDttCY6WUz4gEXE4TnwvyXZR/8DIYA9dG8X5l7rJ9eYE7sgGQm6OjC5JBtYXhTjJwq7+4SAwjaO7AnnW6SYc6Z7LsQ2yoUIhrjITYgO4A+7StVhLq4FwJ3AY/yd+zEPyqXcgM44k19Z7LJA6wGgUB4sJeM0c/J1JHPGUx/b7dwqD8jy9vQ5v3LLrEQMTkvQPJVW5b1zuaY+oOZoP9s1XdvmJWsjpC/Xg60mAsxpjkZrDjPC1ptTmgIjzsoqfE9zdFrhbIkHOLs0LXiwoDo2VCPtuWqSLEXA0CgSam7PKk0I7YJqjzHnGcvb5/oi0jjZmrtWfiizaa6vocqLJxnHq8OXiSyL09NQ63c9WdjdrssDsisTlUa98bAOsYvWPyELKJCj694F+cwjaAlteMvyfqKbVOt5MqyVjh+hhfIf1r5tjbED2Egj4wpS7h/kOZcVahAybX0a4F/yfreFD1XJNDY72Gk19Rw/4f8pImFRu78pk4BaFsLZvrmQHkxAmL7l0WQFAQJnwx1++t7M8aqx7uTkI7XznlKRinMcEV8Nxy1P1XuoMk/+Vxl1313b/0VUR50g0qOPYzYfAKZLxqlUNdox+AH6Jhy5YHlUptMHWHGPe0Cj06gyAQfRacJ+WfpoDO91Um8mj1WyanDm0Begz8DdbZ7pDyVCgKlW2RdOZyIp4vvFWTjOuxqosks9k7CC37h+LzupBMMZALAwSfrxmDqqKBeT9Z6diK+m7UqCzMMDOUSeFWeuANN/jL+QWUm/2m/Dc0vI9HO4gejKPKKLX+abIYLn8Ghqn8sAbN2adZQUntEaGNn6LTmGOZBhlaWqCuNFKLwP2OXDsmJ9e6af9/LfZ+sb7uY9jpb0QSr7XRkBvrneG7mHLd3HOfOvvO4024S67rHQhZduak10Hc21eibk+DnFKciJ5e7ul3hJkp5be+J4nOhBbEo4dG/NVARc16AFr+OnrwydC2YEDUTQADzMgdl7Z2HI06qI4ZC9R+GEjO4A6UfDGL2TmzZRe2RVF5MqHJSn0GyajTstKV5k/ZS1Jf+4W9NBgBQ05jbrrYc3Dtf2/P344xYK1SH8GTFckPUGqLZOW7TnpKdmjWI/uPfqDXKY/o+mCiUP2p8uNX9ShZNbcHXiiHfxiSLlp+7uXASaPC8deLjEiAH87sJ33lt4RE98tWC8akGg8YYOtozowxZPsmBlWPLEt4F7POmGZSVDxhB9l/39YBZeMWXVZQ0uqQfuts4nuZJAfw+YDrFumWpHfyqx7jwaGL8Cm932qNDdpMkW2877v9Vaiadue+8h8++n7p2svJPkshiK+qL4rW6l78NhUP1QbJOI7dNY5SrXk76WbzLF0cvZA2zwGsPxyN8mGac67svP3Inhn4cJf4aSZ6K+3mTy0Skks+9psCYGUWDJGt3xHcwwGdYoOEHf2dYMz6QBUL5pGQn/olGpQ8011jl9eensERtux8R0Bed5vwSD/GKrXT8Wfts0hqYb6irA8g/CBjEwVeijs+rgejWbF7F7gtvM42MjwPubLSa0sjYf/REkfYg8S+VSAokCA/Cr2mIInotCbO0xaeTbBMd/x7zPJD9w5vN/c5i5x1fsSjEQDwU3wRvnnduwVNNdsgP4IiQaJvTKSOLoBX5PzsLlN9K4n0aIslyNZV6tKlyAFMbXExwB/p4Zg7TMrzlVRHmhJB5GL91EVeuFYRawZJbjWhCMpgw0+J+nsyd4Qf8vtRC6t0HD15AaCcOJhEkLGHQzsuP9C+ibwoJWzF0D6iAbaCEsIGy7DArIeOJScHOWcwVquES78AtCSITeY5U80RH6JYhbe5og/6MkeDCN01rtdyMMnwZka/zKPK+Twr8fUSwMKYuCC3hH7RewwvqOC8TMZD0USjXy2BahmsG1vXgGLmLhOdiP7cAaVnVJ2/2j/KH3jdxsLyKfi1Mb6FyXEBG4hyEVkZbogCn9hfR6/34gLbIXIaz2n6yBDUY+hp8P/crLs5n01duGsWO6UCnNHn4aGmV/hcOjbdxqA8LLTQDV8MnMQuV2sd09BV71lNAFeehXmnPbeDgqAhKnUgmg3SMlAFmaUzr8FUDeG8mHJ3k5AyixNomeaqfD8WJLPNOBxbFbqgBhh5BOZZVDhm1Tb/uPVSYRxznIE7htsfJHXP31A8grngl2uMi2mXp37ydb9t2VZ0pAZf1NHSfAGzOrqkLHt6QQIHKPm1BAe6kdc/WCqLyWEhtDm/NayB5hK5ORlacvhQRdJhhPGFfbd6x4FYbMvCivyZjAwzKX1wZvW+kqRkgvNidsO8eeIaNvWVxrMzNF21LAxwYIZsQ2h+lJtQZjRCP0eLFIV328BKlDTRTATMMdwF/OwLdhFnMdBTNRmgFzaMQLyx7sotDP9x2tqz7BX9tzfvYScrB8to5grkbrgaPD2gqNhQuP5aEqgTTFVpD0/jSq6fIKwBKtcE5MprK3wk1byeRTAya4ByQu6LePN2YojSUk+/FPgIAcKyLTvfOibSx5gskLRjhXuSG1YPq1D+Ts0jXMnyToli78ZvObzOczyVacMraUPRDXS8JMx/ALoElvgMqFgGCs4Exj93zyGHB0o6OCYTj8R1tG0rZHGyXdvgyqWLQb+R1x6YKgGKPDhBe8Cev1gjrBvAgfdfstJUtb2H4r5f64dOaH2TrD15NU+a/uZi2m15xlI6d8xfXsL94t5a5wVUfKQEOpsr38SZKgevnbSKJEvJVL2umoCluNFvcP/qUmGtKYLYpRzJYX/lD7+Xv2uts3/pvxzG8s9hzBRBdgOkyKAfSaoJW51H04rBHTHYUdiKb4mGGkVxQUNGrxrP6gfGlSf5Jj9OhiMDQaSUc4O1+S5m4lFPsM1SczMO9/4kM1KQss9rMo4p66A3btpkt2e2VK1t1aiY9iPI3ogkm+oCS9NgtLn2aBiO2nnwRKKAg3fWXNqX0T9g74p97I+FEXU/GDzKenqHOds+DNOpQHOMYNwtimOJrFq1NUYI/F1+jlODijNE7iXhzRAos85HZ8C5UG6CytYhJPATy++d8y6nvZNZKWTjYSOQrm8E8SG4xCdJg7tkMAetKh1Cyq/wIP6pkVmb0R4Y6mQ9BcO5v7gMLvdUO5LhK2t4i/YI/Jt9SHkWVlZIr/bkURoGseAu9j1IFn+NI/pSe4vIE070JD78K3DDFJWc7ipzOhHaURj1uRtDZZd7rV3OeqzNzJZeWHt6YaVE61l0amdNBTxc3D8gYChTny0wkX0hCxR/965hUAKolu+nfrN4j8dLSFK7b9i924EpO+SQAaMCY8Qo9ICQSEM649ieuuSOReaTtEAnaXgzJgVj5OFdldZl1s/60K+zJmBYiTsD9/Gg3phF7IHE7hmfPFgLIQnlCx2wiWm+/U2R9zOvm2NXXy0866PPdEaGdRlBCP3ukeJbgIrrfIG/Naae6D4Gso5OeNdzCqXnyCqj4PPfN4hWSEsKo8Gd1bvAqGbVrahxry14GYbZZsergNvypJMA140VAO93c5L6srPuL4cWxA3ZTM/hfLpcbptfJ0mm1XcdOeIX6Ns7PFDuUUY4O/g2xOY8VFSjcLwsisDRqDBo0C7OAzOFdQjD78CF0CYtEXotajoP+XasW+n8O4//RPgQUJIlZtPoDtmXawixfR4y8C3AhO2wChpLPH7UWBaBIs6Qv9iaj1oENI7kXUCpph0cD8FNJ1mBGJCxWv22+aGzjirzCEScY8D2ze7AjPSrD3CYBuqPgKncMKOVTJP8EUuDyf9KTuqqbSAq+cYrBZCedW3rnCTwtcfHNuPxoWpZuxVo/vfPNcSirsDeT7bdCP3S3VDWWYlqVPxusC/n/XxYFAgNwjMpPnsWRhjVr5R4YIygCjz8y4QSwzKubvpGovFsK0Wsv6phYyjCGWWvkxyQuHsB0xkWqkUynTiLLIzFKJEpsIKNvIpkF5/1h/bSE31B+5estftMGtGC0z95oNy/iYQLGm7yRvVIbXPCITsuAFA83+9k3ZziDuuU6yiNJjaK1m7nZWLAuTCftmAuIH0AWt9pKPSBAtFp/o7IdTVgyLl+ONsPQPh+h4HCnOOoq1FHBmOhUY7LQ85gL9um5s+eWAYukaJsQZSeTCiCltJNBM2pjSCgHqw+DTqxo34SexdOK/4yFtcs335eO3DYUe3lTybS74qEYVL5iqJ4ZTpQpYdx9n9gdkr8E/QvdD9JuBZtwAwgreHSYoy5lwTub9+KA+kv8IwtlQ3wtNKxCos2nEaUp6iTTmoSSxlVZS7XcByOYGLSPfKKPYNnEjBUu1d6+g1PPSJwrCH21EI5YD2aFxNQkCxE44aUOSDqAQlKPhmIq3zs5idoebcP+ez+sbdCdQuEnRnOyM3a1EHCp1IE9LjCeJjS6Li0/DdCMMUyUMxCWNHGKUs8JD7Xfhau8WeQ9/ctZw+Bkn1iXFSjDXcRkuGSTjvwF865SmJq3IYVi4DAL9MkBH9mRG4QQn/vz366h3sNqaSJ6L+p5Xm8sikNoxrlCQF6snH8WRIlvKbfOKvDV2PdvlC5E9Ax3rw/fxpBT2KqMj3wHf/AVVHNRKWBtbo5KCd6XUnqPEehB3u+zvEA7Qb6awuh7y1tFKlRPrz2maRpnZ1J94atrNENgROqiVSQqeQSfvKqELRI0bVgq9uZNNM+ybY2vOTRGMGM2Pi7daVkWAPk1r9I26HArfRr+9K+P56qu73dO7dD9D6AVXWrehghzOX7FHPBzY71llbneXLwcYDHEKcxAYU2vIdKPj09Um6EWwTdr7HIQXeD6rOrPjf3/kUlhXuYVnPN3RDj2v5vQ6HYWJpFQ24hssJghSOqGNFJQWeP/SeoEiZgVAviQAn6dAQsJuDSdJjyEHAS4i1jy6KacZTqqVnff7HXK2YUmLkl8htBYwyxvGrkN7YItfPs6w81z9PEPw8FZ/CMSab7xbYYZ8ibmraZUTs49u5OpNCqKDIsvJMWqVvn768uIY9HkmZbe76wCUTIeEjsA9rI8VoEjBL9rEm9pjPFamz3+BJXWNQ+zYoGvdgeR57X1RH8kTnYvJTpVjP5gA1RtyE0MpEs04/pFJLNzpU5T/CwH51/CsuDVJAI0hhxcR/baI1Hza7Hjwqfe+FGrVSMXW9s/HNTrdKP+RCtd8q3velnodFouKlO4KUMChSKhMhUnBqdB4XuTiGUy95kQzOsjlggFCeBRh/ShixLLFhFmh+OrPNwKMhmAaWYSE1XSP1lfFGA3/o2ad0WbBibG5Th5W3Yi68Vw5bq6NTTZas3+d0ioUaE3bgSfTAdn+m0AcMBSkkc58LWJERYLkIqwcnfNp3qs722DCJLxoJVSnXNFWrIovMhGhicrxNs+YcF1X7843pAxse5yNlUSP4ASiq4EhvtlNNShHgIvJB0Mh3oKq3DSdF4sNY2JQet5+nt0AcpsAk5yvnwfWHTXuiI/rAaClVW2aCVztnlsEdXttZ0HCtf72AM2EhXBeWMnPdAm++yIPNDTbYQLiLaz+3DKqneVKFob1dwRiKsz/8XzpUz4nUPkundv7sSqeN/0mNcel8o7Ksx9E2jx/XCrNVGdLHV5kufpACkL5shJYf4sjnFC3NbPfbR7rPaXROz0huPquDrJD7Fan8kIaFbuYSNRqKNQxgVCypn0OwqhFrcK572Db2IZ/FQRdv9H/QmrWCKdOSgYTZigSnBPAbeL/SFqo7SdICBtnlcGuImalMvuCGfjQEVAPODSdSiLlDqxujVwF7pY+uPyFhWqaO29N18oyKTej7vJF3aZ+gYY3LqhZM+VrtSeCz2gq18AYcpWSR5EIQk7jFzUSGgBZbh5WJDag0/hQ9S2PFjEVtIqcNXZvcVMRfCQLXRWiql4kWXJO5J9FBe4Tq4tGEHtS+cb2iQD/b3SbGmUjWhqgjVVCSf7WfbS35fhuzZw7u/sXTwzgUyzxGTNJGBRRVT/p5J/o5Q3pwfEi0AJexBMhakWFn10iJRkFvp7jVcCLIdK9h8y1yUO7JrPnJb5YPI/c+VAVHBKE7gdK7gDioyUNlD8ygEkugpfq/21g2blCdCivK37bbHgPeoNWPSU1e/AeAxBrG0AcyA9y3v0YPOQw1uup1PPnhJO1z/tBrclinkJCnlXOT/4a9Bs+FzUQG78tv8BtYZU3I9mpy6e1WOuikqgmsWHyw1Px1vP0OZBbFONFpMkGCF/rJCj1L9bhxmNY+Vx9BnlZLUVkIs9EQS8Ox47MRIBQ4pF9mxQHE54uujNnzvxiMsTzdyUYKxsKbTa1ZCLpC88gahtgV3Hd2PvZKuVtJcFeowM0u6FJquqfWSFne2YjHGxeI8ILv2XvvDKceR2V1JRpwCzhpKKIr2eVI7Uzbkpbm2LLxoTBRjuNWCs5VuVfx4bGLvT1q/6+7rAdlf0oAP2MG2MDYVkkp5ge8mvAkWLpJvH6mHWb/BsnKlk5jNayT9JJct7xQossAsyZjh9aW2cbUqdvf3Bf/fzPildHGikNcHL2jgArs4db0Out5ELXS6HpM1uPbr8478uyeadLGBPyc8ZLOgNtDSOv//M4RL23JuYIyUYQ5mmp6lAmpG+sylwZrgQvoh5ekR1adYD+vfDGh7e2aPuOVmkITNNS4G4kJxvS7ASEPA0y4a6ij1A6ZCzGvMu329cY59opMhYyiaGJ43tmgtCb7rED/QR2csFaEK3+xoWymI+bVoqWT7u4YtVst5vJGxv+404dmd7o7N6eqkpJ4Qe+CXAh5Be2EkwSN6ugOcwI/PuDx0plHKe+y2Ke6AU+dT5ZMsATazEnSe4rZrpbP/eK6Y3bcjJgQ8O8zJmsNlYSH84Xvj6RUtODhHBOEbO/6SmTv+f/M6usVkKbEWiW5M/vD7R0NtHPg52QRxaADN/fcQSc0uXzMxiRka9XGmIMOjIWXOVkduEsznf8S31G3tQZT+F5oUW7KPl3umKt4AdnMEvwnPIgCXIqZSzg0cdAduMJ/IKmlgp3Pj1K2FBtJje9V2v8v2OEAZAp3dwcXWplEC0P0hyCqUPxGdXS05k3dsUSCWr+OpIFWn8ZRyQdl69q8QNKbdoe27hid2ruJsZEyUdoVVRD3OzQfgaF2KlzWhbDnvFHuAaguSvn89JeAahlt2SUjjfe2GSUy6nxXWHzcBtNPN7ny+sbpJ06l8ftsm7VXJSt9eaYg4ZG/eFn7jETkuDWQPAHgFZEMnIC0C8aS7wajC3hiZklUuRRZkba9tISijzyPWPTPNMgNUXNqROIVHJExEkzf+RU9QGFaQMpAwrFAfZAIft2npvKO6q9O1fXP+QmyTaoMvsP9LMIDfqRmxpYjkYvb3Rw+xdRELrWDk37KzWLG96yi4IsD+Ett+MiLOLxp4rK3d6R1bTWanTnQlDa+l5ahjPooNOgbxwt2y6aT5AC8F/zsyt01CU3PEYAcFo17X7Pm9Qgy55Z7Zi+PJFW48Y56ptGGPGoJ5G6cKtZPjlVxbF51IvQRXu4HqtrfX7kXJANh6kggnSEMAWWbBVvEFyWZ0bgsWJcUJQso7I+XmxBAeIJ3SSkfcaCkG/MCGiAfFnA3B2FP6bcqIycIMUmsnIkN77hrXt1G5zbgbVxN40IQPzRqP9mMH9loNQCLKVcNI3zMZbVqBvftB12WMGTg1Uwz7XFuP3oQAirnxPCWsACGwORwRhR+Aov74fwnW77FI7qXH3BuWgC7SzJ0DjQktrPMSjxK2Tzj14zcas79GNTYY6Gz8eexlI34LJQffMlJX6Kj4WnTwd+bIG18O8fNE78bmuB7WbiEcMdD2n1MZwIbfFv9H6TelS66BBvkR3aIl8OzQ1YS0NXcxS+6bbCwm7UmLs0bJeIjdT1bNmIrgc5fYERiOrCpMXpKqjDUu7aezUDVRzCG6C7fr9FU6+MGvAc5KXjSFLoA0KuNFw0KhcWE3A+jrSp14O+3Y0DvU2u0u6Dp6PAoqx4oSkDmOLyhAdImf+NtOBX3bAN10fTS6Dlf3lGRqM/VFMnd1MelhNQkLKAecroNpz6RGJKrD/GFliYfJfk3/rNIt82u9g5CTVqLX4tV1Cw9PsMGIy6Gwsa0Vu3T0ZYMjMW3wky1bM+Fv3MD1fylzpYbE6t7ocItKYqTxfZcsd4gUnOlaLaB5v8Nrrt9yRWPVOL143kRPu96orOlLENV8nxA3BmdBRjvnO2bsyQljpG5mnuZjEtQ2/7fDIrA7Ntdj8q0dkV1O+KinIySxNqXRrpN4Hj0nTq1FQvDvFnu45vWWJVwYJUbw6S8LGkq7oxne5xTAWKC0x7BvskXfggjG1KpIZEYBP/ELiLKJe1Dg0VQxEai+1BsB5NCgudX8Gs3xnO2X0wWcLa5iKjMC4HLnumwOTM5HAkdKzOeUj1K1ce54F/ThqJOU0kehgNr81L5QQb9XXGKRp3+TO2NadKDBkaMDRRJSoBOFcoEdjiuseJn8FlqAfTVD/LbohWC0IW8tjj/aprnIjsjHAFFoUHkPyqVgsRDG2Eob7e0HH9s9yWuSNdb/PTYha93/rg2cwOK5G0R/sGQmL3E2cVlPfA2S65Y16O3Wy3qgZlPEm1OLIyWJlmTaNCVYlJSF+ZXyMaKxcVwFwPcLR28LtwshHw0gW2Po+WgtezcFVWB30jbVnQ+EN1uJLO1JXSBTORLOdxW6xiw5GnaAQfjYreXQaT2wrARZ0zpXIhN14KJ081uJqO1AiVeotcCgp6pkHKVUY14TuvtUfW0ltFyKdibhNQxQ1NDJMMpekAp/9eVLTDSHHTjATp4D7Fwodu3NBRBy9OhjyB8jQYFOv4DlrPIoikmOMk1STNLtABX96V/Jy3URgSwHlg1IPKAvx5OI1/BMXPVK6vsr8ChvUPlwr+O2ORsn5tA617yS1wewKW9lG402w0coF9EDLt19vNsYaKlFbs5DKjaAjv4AUIFHoq3U09+cAXjKE7qHRMNz+ZZn7fSJuTry1927NJwzMGXeHuuKMEVEnsURc/H+VaboknWJ8ysfE0kcdkJAcxd4uz9hIuIUhYt0QupFDOkSr6fCN8jIvEVRS8JnHv/xKfxmNbMUigPgsV9qQtcTaQ4VHL8T089EPArfk1o31coxEINtFVb4ujbo+KSaNmxgc/EzUUGowz+rIs+gEEmqtu1cZDBywDMit+Af215X/w+U04FUUPyMo3RwH73jg83KJjwvfxPcZ74NuvYd7MECwH5ayTMDwzVYBN5ZMNOTmeMe7N08GPCqJsO7d+rbSjyr/aUAdIin13QAfrGCdiEbYaNjn1dz+gZtgkb881c4Wasjcjxzev823jvszfqqMBSLgVsTMHbcgKfujMydRhsxgGr1zxIPB4q2ok9SH/Iem1O5niqWHzPgG5aLGIDEPEpxUkQq33v+5J2pp0+6ItI/vcIqeDyfBPx2MKpxDxFYfVqxdvKph6fcAkWOeUe5F119Zu3lT3JAN7GTGOa3ONxLm69pWzjP96GtB5Hk4+WCliiSaJmVfNDU1xWt3SMSIkqQgfh0UxbSIgsFt1sWRhVr9JzQR3KWQQAJtOmOQyl5XczFfF0V4mJ92Yw1VKHjegGHa4ObDLdZlJiiVDetmkBAj9+N+sBcnj1yDmP/JAh2kEZQbMOLqcHYyaSh8l8ERlT8lLnEPAhkvjrmdxCak6THMB459nlJY6AP0Rsjn1PZdBdmdr1azplB3O5h+1qlzo5xX6IaTrZBnSh8CbleLScO9p3VWHWirckPMpiMelSueicMpD8ZRMMiWwJ4ZV/h5cgS4OOj26eGFPRy45q6zFoS/Nd8i1MjqeuCCsIXj04z7J7DK9WJyIoDBnkb642/cFd7A4+JStrlr5kVKajO0JC8nxvr7/px24EQG55AMzRcRuGOLqvOM42AQN+Ny2D78fwcTm2T4ihv+QwX6fE0OEgXS/7Mo04sA2QiFlgTfTQQJjAH+sibUklhs3XJgY53X70W8aWx0qrZLgSVRfeO80PYB/ZaTgKjcC0REovqFTHvde59mdSUmzg9X2dc4D7+ziFJ4tE4JmarmE2tY1NQl3W/JUoxTvt6JtfygqJsk97D36DmHj3Eu4yZOPxEfxhFxJbzG6svLls1E5oV3u8KfzZIzd4yAXuHC8YACt8XK0mBLwGQWaejCpQrU/39dH9DwJYnRyi4VPJforjM5zYMd3hqrk6ZQ1JoMhBELmU+G0GYmmUGl7cstC02GE9mp//pEppJSS/BFajx9kG2mcl/xDODxVAUc2wTGEraQTipJaqjnYQlHwF6rjhFz9W3Z/6shnFok6OEwk/8uWTX3eVVh8BAIzIfUU352AyykY7m+k1/T0Mf2lHQgqGKDxDfG0vJIsmlVB9AMXbFyvaG1Rons9GB6bO8QL4XYz7WxR281CW8tep9Ck8t1X+YQ18gEjvmNuYemHcQDxH/t49n9oTmRKhjXz3Y+gPRu/UHo71JB9tMzMPA4Uw8Mdn99KM1Wx+FkmURxDEpCN3JAtfu75K4TpLNcxJpUrSSlY0T/I0OJ2/PGZeHyEdupyKUcESzTc98MJ8Et2EbQjpySLQ3JotiqtjM8VQ3l8C6+vg78nFWbU/Czu4EMnx3Z/AcWhU1DVaDxOOJkL5e3vOLPGk9+lbTHbqBIVGYA8ApvKaWnpZZtxzeLo98BBqfkAyo+R9xO8xXAK2O2n2b68l6329QCMOoAaJ9CMAPwzE3dh+7JFETVjznzac/281Nf2DKtB25BIp4JImzUbw4lhRrM8fr9S8vKk36Ux3npTG2Qbvp6axr5Io172c5SJcq2ez7CnSdvL0iAjLgtVSBhgfcG4Gq29RmtUmtT4KQUPgMbSADCApmmBrGq/MeZVG2gpb/4LOVGaXXT0lng+joGo10Oh2BZT2INMTRYjCOR/iCIt5GiUSv3qIa6Hk6ewGt/2ni38lcrZgfEmgChBOSG0ciDEpCOwylxoHR7ZB9ReuedNRQlHfoL7P72nYoYkXUrGscENYvXqaE7Ui0Kp0ddaBGtNcszSUJDVr/weZ64n6fbG2FuKSAcLIZUrd+DTMyYJ16dz93mLmX1m6oMI9qghHcKM4u+KVCXzVOxtWCUMXu/XLicDKNrXrESIyViE+UyaNbfQXzas1VV0YfbBFWM74Fd+g6NfnogE56143DjQtkQN4ra+Ztf+o5oh9k9iOeeZUncHP15uXo4r9l7UCDr8WVCkSGtdkNV3Q0vkurhyl7cTGqTkb5JBf5vtbiPMBdBY9BmIMKYm66glbA7d61SKWkXAnMH51gx8Hic5Iz4hL8eo6jkmXWQ9pZ6yoKntoAh5XotbAO9f0V4Uyw5jp136oD+MWE87/kmkfL5XJ5ZKuTyw+MCAToCdcgQ3UYeFLB061yhQYBdAMA0rPaQQ93rrBlvzgjDJr/MTDBLNXzhjdHCJeoqA1V/nLrzCgDNkEAsi+25dmimCKvff7/ovxKn7ftTg2xqMoNZ40G9FEb/RdNV5Buj1iS8BOHCHKiW2eJEwEG5ZxI1b9DxAv+5n0zo1VpzgdnUMqMgYcvrdACkMfvGNF6Na7Eu97baazdA+G5Q/Vgy50kuFSl2BSTnSXHZI4mEivkGqzK0HiQJ50xNWSSvpJ1Uwlqpe+mxBN/i4Ltcq38wYKH/ZNGEByHtw78B0EtLmid6UqAWzyiAVsx/oPtV4nNnp+5saeFOoYFnzHXFGRoCXLYJZAyUm9ws0hogg1741yahVnOsRsjNHn44lox44n4+nwUNtSwB2dDcDZ9l8Dj5qkRDTo5jOBXuOxUz/g3ZbdEAkMJ7"/>
  <p:tag name="MEKKOXMLTAGS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CHARTIMAGE" val="FILL"/>
  <p:tag name="MEKKO" val="MekkoChart"/>
  <p:tag name="MEKKOSAVED" val="1"/>
  <p:tag name="MEKKOEXCEL6" val="False"/>
  <p:tag name="MEKKOEXCEL7" val="False"/>
  <p:tag name="MEKKOEXCEL8" val="False"/>
  <p:tag name="MEKKOXML1" val="4HooU0THZk28POP9trq+pbTvvzd/gcV8t56cq85kb3NDTsUhojRA0EsgEHHMH7oYP1SYpn09ysXVivguJdhTvfyVMsBLTGvcX7WPTor/CmWiWcfk2RmY+GE6Q6T90sFUr0lg9IPP9y8umrse/9AoLT5R0GKq+XM9pr/aTyOTf0wptcuHbHxeyqBm9svU01qeeEM1v0hpSHUgirOnAK/wunjZPmzVPPwFyUBDlDfxgncyrn26mfUxYRA79xbk5zo/zvtIH1wUlJEoc3ym/tE0R7TFuylI/Ka2jPa3hxGxqIcsuoAMr2BhzJBCBPZe4yurIN19wt/gMUjAGy97TwjZifIBF+Hck3maX8bxqwmWN5Lz4DqIq7RLGwL8cJPdxHxrFyTKy81ndsieYrArIDksaybtutEDKS7lWtJ6JAcGZVRCI4SlTtmuy++sF4Qk1arz3+8FEg3sMj9Rge/ETmV4S87SOjLD+N8VBYalxY0z1S8o5Esh2vtszQhq6PM/KUiCgTiawqZOnsMwPF6K8NgMaGiiljxnxJxeS948ImFuUT3uzNGd1gayHTiTOuJzY9Z7upIF/Sp93Y5HcILuipsOZw6BMTc7qeomuS9cufKTQ9XGlX5EpH5Gio8bkwQop3J/ORBrha+4zQVmdBH9XgyWwD1b4eftRzBp+gnKtblf97cRuTQLHn/96KqFblgSLW5OOkLYbN9raSkg7PArrpoyjn61xTjh67QEqfXsbNGALFwI03tQt1Qcy0k6vN3ISB2Y3OUIOIPVlNwxmYDHf+3mNYx3ojzo3yQk7aXuGJEIUwGWjhxbBu3shGViqa7nliyWtEVwufs7QLbxL4lAEYMIaw+Y9UlyRfdz9vQmW3PaWnSwU63fEhGzCDJ78MPRpXCzMdxglLr1uBgs7YFrM1OG/7JacAPfz4kI8EceTIjwRSfLE1f0FczOJyLl7O/zJVnkhXbh3zTvonxKAdnnf8Gb2m/RpNrY4tKfJTUt2/d4c6lsGCp5uhDdO5WjamJjo3tKMh7jPP+CBH6v1nZqrNlTtOtYjkdSX6LZ5ejsbzHO8a0UB5XcRl/ponN9W+2meqn9AaOET/kk9sBgE3ZefCo7kn5G/3nFXoWaWlxvQKEBo+mhxcECPb+60xeFZvp9VMpC6Jyw0IB/qRjL2t0oy4Knk+SYIQLq5exo5gqg1erUWSs17hvSTWjcZhb4Hk7q8/GMoep8YT6MusFXJsMLCy5HGqnVDJG0xAzn1ZKMvR7zng5GM8GxUFSQU0Eb524x6mVcysPhex7xVZgbQ4GggeGVygJzE7IBr32ga5vmlbdAIldOoDUU1gyn+S0OYfuVu6hVsysvnv+iPTy/xRPnrHdbOOGwDuR1yOsHOH5RYCo5A1u+MWcyb8b5oixrVQ5f6qz56XfcgklOBFADuv+ObDmaKhxysPo5PfYgkNY8iqD5FGNhhNEvxezYZ8PiPW5GKIVcPd055XvaL7Kqdcz38DI6uk1bWyPp8d0nJE7HCwT65Wu1biKx/kD+Va/+uZMWsJQWljXF/9kiSuxLxIaOPMHgypgnBBv9SKo/pr23elH5B1kop8mo4hZr5fBYWrr0cKfv/Dy/jNK1PJSQ6m+YlQOxjCmdWPJGtcnHSkTjC2Pb84n96kP182VPZRutWxplM73OvbBhV1fRdkiKeTYElTspj1YKQLvxzhRki85pX/z8l9iUHHHOXL+57M9Ez70Y7aZeRkWopMRe5FQTrYLCSCErZZjtfhG/a5i8ll555XWuotXM7u6Uv58BC6wbAk9QfrJAVZHIGhpb8F8mUYF0Y6BX85R0pxNlx7O6U4fDjMMukzmZjlpN3f9xBaiCiDvvxTH0JoCFrVPhUTYrmdyoF+nNU8H6HqmIqDpp1DFRMR02KRkUqBLppAnswnd+YBfNPpkVf/8YS6zWCOYlLGZMzW5H44sNw/xWaOSXudte+QJNyMz8xQgEfRkEMD7vW/pM2W9ilc7qpXf232pEgnZLe6btUAhRsc+ADuFSeVNO/v2m5vcJCfVVcep97LIoNTLJZ7sZycfggtn856Hf22vGVEQ/PmTaX7fPXx/DVK/zK0wxXa8JH8jweWk5TaU0vJXTXDffU9SL9cqeKb+Qefcj0ubEse+YAzGuZrydzPyazo7scjq5R7Hv6tFmEooz67fIlJcOJCjlPyGhWQWc+gNk+8ZuSM/N5zxQX3HC/BPqXNvohcSA8DRpIy0+H7xq2mysSBNM5LAZ3hnI9+bQHTMwqgb8o7uCdSa3l3Q4i9enICoSQiyMut4q/PV0fkokcphokfPd2k87mN/AfBrL3Y5G/fnh5a5X/uzNfeaujD/BJ3KQ2uyuD24445JoVxOWnEWSJ0B3kIH/YlkmnnBWihL0WmejyOpq06bumROlZgHlGKC23HX851t9lalXlDvJpZyyBXdlgJ6ggJwcm6oEVR2FbfQEnH41nYKm9i5X1zSK36J35XFwpyURJnSi/DyphBsvJEvEPx99FfnqEeUW/xxM41LtZRuGbFerbEEBG2fkIJxF9UXyhFYgXq7Cz6KiyaazrJFtiPSdcEED4mnSHIVm3+qNVd4ttctn40+b6X8fIKNeSLROsGfSEzrOvzY+P20Y/Qthl7nB3q0JGoZBD5kNqxcSyMcD8shnKRJzlV3wgEX1j/pi0+6rc4HiYcAPEV+5SXx84W7Mn//J0TMlbLQH1LKvsxLGVgWZPxRyJSrPyklV3X/ms3CSKcPncMwoX+RhbR18Y9IIIOpoEpKQDX413E4lsJDu+nuE8z2m7OfNLJB5jU25IiWlKFLeQ1eBrNO/xyOewyADLqoS1ZI3WDHa6PGzWiyuqGfaemUYHNC5fgoe6TrWEkEni7HlL2izzuSG11EhGb8JVjdgWXtxQyR4r60GUrcNhdRH8vEP3qfqMsLDB/aFArR9OKpNDCqiCHlHe1csSl4jmvRWLKb2+VSUIRDEZyJlb2zYIKMFpw+IBmvkNquBI/6x2ZdzXrEP+UuvZ1cRkNc9nP2l3Yh0LHcvUIWkg1iUKqynxJ3WCunshIhtREj1vBUOKOKJzaRe+H8WUCFkurkzAMO9SDQvkDUV3/j6x5EPpESOlaB9fWhx6LLNJhYOe/DSRN4uPn1QAiKEFUwa10p7sqxUcZiyxZeptp+jWIg/g/ybKZZTa4lZeqrQi8E30g9zD3HzmvEvBC7O9w7oubHYxaQOWn9eAgV0ZjoVrB9OfSM0fg4D8cocgH6J6e8RRAi2pBCfaVlaWdU+X+n7A1yYS/Zlj1GmiMg2AFtYrurQFtJFyXvPdAdGBMlsHx+rYsh1RMAP4xnQigw8X8vhFJn/UNayohZpZpcYfj+iwx7z8gxc8CnJr2+vPI6GZAiduIkfnV5l1ur97txauNqq87q4U1ijPqPFPG/D2V733cusx1qjp6bEYPGyXGNTQaxqiHqQrxkuipfgdIFpr2/HKaCNW9jn0iioqyIN3qdhdV3REy8uDUotSNG5Mzm8oBSf51vEqlzqQLzYsq8reBzgy2149WFtPQvZw6Y39M2xx+rlQsRQM1SfTRYxwKUXHCK6/cVHJ5X3ISgbI2q2NkaQTcY9S2YyWO185VjMuJ7MY5avFj309ox85k28yyUrhiy/sjo4omzw87H3vrxPX17W7B8IO+4mdacUUYV7+TO/whIT7lQa6DtMlSgSFtv56yts1fAdAl3FzpeUbvzADlnPPTamtVuNEZR6GZeMz9cFXH0UyuVVb9Ba+fBEhoqsZ9+7LKeq5NWPrOjAcR8lpDP2rEREkBkBtiDMf+ZJbnn2JUtAkRjfEQJwhXNRzoaJ7D+3L2TQ4DF0ccxRXsfv/DR5iQWsu2dK6um6oNna4Ftr4bBKWbsTTz3y7BPB4C1QnfziMw7b5KCTbXjEaK93sEh22L5ZQLSuiNthRVEJ9hCLn2CJX/eAe1vryk4vHZIsPZECXsze9h/YjwjZdkn4ikymasXpWZaygH3Sqxez9DSKQYOfREOo0P3Kk1G3LZ6CR1D2yAJgoif0UkN0X5pr0Pd1SoQCtAjlC+sZjlfWdWSx/QGxUvNiKSFraJ4bciJuaG4Oe3QmqBDQaAmWMW+GkaxfB5hL6W0j5BP43qXjwe/kL6c5Y2liL2VNPIs+ud6CADWXndv31RNlfGXE5bTfRRU7b6WgXyuBcGV6Cqd2gwqsEjty5CPI1kGzsGDZ7Z1OMd7s+ECXevYTsikgAwrM+M9eYeQrVMxfGE3z6p95fYm14r6ekobBWbmAWxvSuVShIcMsWMo/KV6syMAZphE92FSuC+U7fWPjZy+lTA1aUMle+QuKMVnQ3ScLlUMIug6Ghy7A94Bw/QWXFbKvs1aDH+rgt37aXfEVgq6lwJ0mp5VZY0LdWdYj+c2mKavPspyrlebVQH8dshUyYTQr+5+a/wOiKOzhi7mIniE0m+8tP2551AxrfbTARefCU4lyyYeCQsavwYh2ZvL3rwjaJZleLEJVTQDY0K+hiLaoC7MFZ8zOsCfkvyXEfq5tLMEbH+xZqABO3P/xvToFEte+44jqRNarfzjNaiJ2PRXfb8KOFJJPdt+lvKIWnLPga04ZJqc9DBLAnLhMHTwEPXMH7u0yoEQDcFZKW8kOfc3Hwxl5T1TC5zTZSfzdtZh3Tdd6SrlgbW3ED5Xl283Nna2RmIN100uE6QfjnLa5hBVXSInHs8+ShyOpPhYQRWoEJtYXAhb78F7FcJOuUc/1FXYYQLYk2pSd6cMlfpfdbzt8FGwA+/XW0+UsPKxKAB4ozwt7cp5gnHYt2rDlwDbs74CZ/THLdSzQ2IaB5NJGlGkvmdta1DLu2QYA8oQlFgurezwJkhyGFogjtiTDSmNPX/RrMFY0q/CaThKYkHx6oup4i5WCKCjaesCottuTUssPjQj2pu3BAlD35BWsQVl4At+CVkqeOm1XD7/Vdx+RfMZlXxmmjRW+7Val6WeGTzy6xcIYo2njZPQkPxBSEv/ef7CGf42zi8OVuhdkbaopG0Ng0M96RkI8l1/f3Sht/jOBfa41AsoAON4Uli1dHYgcsS9NC2+KUW/VIt4fLBdY+7rUT7rvi4gPsZrpz/W1HZvccnBieQ8eiQ19Du7PRn8B68GTXrQGzN3nQlHQFuS953MXCXX7Ialac5aOKHYxYodNqcqRVSI/xaQT8OhxzPrjZJwyvh/s50EFl7vMT/FkP9A9SsiYNYWPbKsd4frxCDSVMLekRsEsybyUdilQKAeh86/Oo3jnGyrxJQp/nIEWDwYfFeWKDoFZebcIw/yuQ8JgsR9WRRUkVEhiinN3SBux+wEYtvfoX/fUDHio7/zQ9U2RKNMMxwsFnain1HW0S9ZbQgOKxi8iKTl24QhCwSzmXzgjPUYU51AeP7sLkr7L38RWg0qJ7qLeLS+qHrZs1DZlRvTdwDtMXiuo+7NwDZmTQyUVksi6viu6KdgQgiQICba+G10ZkGaZ0cDgk7lKAqvLJyUtBq56X9PgSdyhQxHiv0zB2UhxUVkb0lTzX/HR4WQCq95DIkEHpffipb+3BstlXA2CP2pglJ07c3qLX6klpk8CCFdUHbmfhY2Ey8PKRwnhrEvlH4U5hkIVHhRE7vSL1y6ZVNWP513koY8d0YdBhIAvtVUSclIwd4TFvbd4N/s5EEWX47KEwNUc+QOj7D9NOV1bt7D4xZTSZSzRPpSnZqjHt7SUlcyqnqCRBZVF4RP9NyQ2OfbKSujTH3pNONhLh1LvSH+ltSmCGmbHErKoBXYTiRGmXSe058cIzEHE/Y4XU/t8hQDDJnVHB9KQxjprSV7moszBWD+XCaBs2Z4fgFNzRnnqCFmuOztjnnK/nTkX0OOj3hvNUcGiKsnajXNKrRw1YEFCHROt4yFTbmcBnsLbXqYftx7wmNfo6yVq2ULYn7/eYgiWk+WTyuFcWj8u8OAKY9arKYMBTx47BAoSsjScDMqymSbycfJAxQVuZk/ShwHGTDqHBuNyewE9kA8454m7PCBlaSMFVFyHdJ3t2xhAK39CbaycPe7utLr6AC+msSIDDgkcBLQK2JvqRAxDT4vTb+qh5b76cHh/I3PbUd4+v0cbhzzia4gbMGvo6NYW61geRAcgsrIwsOMfArSCSFHa5VxyQeS3Y/TwnyTYU65T9o1LnhJPhDBqH9wTRi25stlJ0o3KZDDg8HAxBRsONJ21KqacDEDZEq8i7I/OfZDH306ml8RrjfCJChUQnVjw2C9KNesp1GPPsXNJymNvbbUHKj3ZMdxCJm7+LAbR1HL4OP4w0jNSP0mhsuTt1VycIMatVZet8e4sKOJU6TUrJ8WvVWJEMVnxc1Sh2FYSIVpe7EMbjMnu1Q0fi6TADemX3zGx01zro5xJ3qMQj/PTfUMAI+8Dm01NGuvgM8lKNriT7nmwj7tdoEc+u2YN1Sjcp4zzPAdSco/cE4/Qr6rxePHHTp6aH/CH/b5Apj/JrLXRrtB1cD6FcuS7pVRO3t32+8w+BOb/tL9/8S8SQofBL82R7bn4l6jDzLul1TApSpIfa+PuMCACln3v4hBiu9Zo+WMyyEhUdn2eTRnCQMwraSOcMBrgXD14eoW+XbssRvqVv22CQaJYQk0rI8ilt6HRPZ/bd54Ah19BzydbDZbtz8qAT/NpIAcivo1c8rvM07W7X3OTHh4jglTwbLRFePdUykubLhLq8uIc8BZt6JdCeD2WZxqB4nVEFuziz0ZN1D4INrxHSyQRSDV/n8airC6rGEKmWbB4j6xWuk1HX1e39Z20HHkHIxjndh4hLkDBL0KXq1H51n2exqATKddWAqHBGBzLzSSOemV47WxWsXU18Tl8Lo7llrSk0Pts9Sure6ohuOs98eS4UXthGD+/KDw4xHIAYMozqH933luFAza4llVhoFNUNwpXb0T1yemE24G62qiSXhi1Cpj+UmG2sw/ywKRUnCju8+IOZyB3Nx90VZVGBraKatMa2DKEnLHHe0CaF+HUKCLJP29csPVpD/okxU87KMeqnUca+a6dLpRq5duqZqFbQTrthRmLE/9CpYoAVBL53rjDf59eH6VwvKiIumu7sAjiCS9c24l6aSCnlcvKWI/M5F8O3QeP69kBYg+nwbhLnUBr0ww4aIZU1U8YlLCQhWyJe26jhsaBbc9Wmr4eOChzCwGXcMrZrUbAdZIOhDWoTNWJlkZj+appfDRYXpVSXOfTRuEgoSknVBTw9opvxvJ/1N+zpJVAFjrPXIBeE6kWkP6SmW6dQompw/i9eCgtIW5kxlli1h219JJQ9/j59KygbZDL9927Yjw1H9hNRNkikigJnxBf84WiXHzq3z/J1OcjEx+SsXeiXyYbCIuid0b1T6l6Kz42gjceqrZrvhcAmNayeYN9t2nj87SMInMrL8AflMaWF1LfZVkRsVFc7p53IBknbRLxQfvV2otIGLyL3wZ4RjgQWpQIY1G9fXqm+fFfDc593olFItIG50KhgEnhumuhkYvpG5dEFkhmu553dx3JzUfo5vZhn/Zd3986AH+y9YlkJR1n1gOy0r95OFkhOrl2afPsvCqqAdRdj8ILIGem1PEWx2cql5IEJn7lxhGg2oHrWYpZYkcX54ISWCllepqvcffwa+XnbXn1h6rwWDP6VvOE3n9tjpt28gMqIod1Nqh3F25OocUxgrS4dTIAmQ0/jS/vNxeqF5Lf4fRlF6utO4imOK+vhmhw93ka1UoDqc9vRRekDw159mLqD/Wl78kj9TMrSe851CSlmtrSvuc5RIyKhfpiwJO06aMLiBP9/WZQpudsUG3OuX6eT2ep5cqcL1balTcdpovw2iZSC13kxi0ir1HKhuzTWkEkGyaqiLTKg/w50j36Wq7Ib6M99wnJIf3CTSQlSvIZsEYHo5D8ieVVNOOysz07i/yZwTg4sg8tZy+OrFHD1KYd/4sE1mOk1m305FzJvFlSsfOdrolOSLKnk6Pd12Fk5MD2yMMnzh2O/zEe5yRUHwHq9ews6qx9+S16iXGpwmzKH9Xrci3++RaT/Cn+gLp40+XKnci9dd2cOhLdcW5fgeS9xS47HBRVTOJdO+mybfPsMAz8/wUBtT6ij8Rg3yBCZYnjDHoTVXHdplhbARuANeRZ1nc7cWhT9UFSve2j3z8EjjenbymxTbQ7OIV4VMNZdnms2v0/6y0/YjpfOKkn467wY/NZXwaRe1X8TymFJEm/DvtakWhs/eLt3GP2GsfJ6nQM2CtMceE1qIpavYVsR6OcSduAwbEBNEmQRIWJdd6eFeEmg/KosG3DM2t0RlZw2Ir2c9qDEPqyAx1DjgSEGzLVjBrWuOzEEQZ85K11jmkzbp9guZpe1YXP+W6H22R5gN1plcC21HIoOYfYbXK6DWEoaA6W7ovjnIfEma9qV3vAja8ZKYsueIw2ZYr8QlqFYUn1haQPywibYmdJV426Hgy0HBZBs9B7REs7tYQ64SHHYQuxzbxLWgs9Ah57E4lv66WLxbegvIXP6DP6/nva9fbpGsIyGNxjTEc1H4WWo9+o2t3/P3GBbhwNtLmv7O1xod2ESTIcq1pyGxd9tdYS9ccOaod0rh/iOAyNGkCi9EYIgOiF1kUVicT79ZJJXlf72d4C9l9ervZQV4pusLqaBY1D2b0hkXYHwDSYmnMpkTmlsSCIorCzPVeOax5C+VwtxCuyC4bH4v0dKMcQsHGIxfCqbFPnf8kszjRIVjtIBwu/Ei5vbHt+FjtZqhb9HLIzFCq8L2eXbRxQ81fvIMmYu2wo7WV1gJMqFLdXYqB6rpLxhJCJxGFT0baqKOlYBFox4Cxj+srviJpAd8yzDLYWDtVrcc51xpbN25PXh+wNcYjJZscps1VHaDeGUmII+2HegqqFMp2qxIosI+N0SLl4D6LGuyho6VdvF5YmhxOF2b9ufm2r/Hmqw10GMOiU7h5yG/cMcBM7fEHtrNt52rs/O1GsnkAF9MPQ9lJgC9WXi/KR3aBKN5pcLDrR94hKGG5oG6O8p6U3gvOuki/adJn4DmnIGzUW/K81F9H32k2btCusSpvT5e4ltI2nPICp0FTNUykpJoxGnlMcxGCtt7s4a2/fcfJ9gXRoGCBAwAJYXtDeq9UQ/9fB/KxfH1D/bmEIPFE+FCB1h43g8cq2/vqI4D5JbSTjKPXVvlzVNcGDV91KH/zSR1DnwK/OZGUFJzPMZj3knfknxQLbr4ctTEsvSaAXTuQqoIy0PtQsBOVPzBM5pk/MZtMh+tBZW2pIPVNAGiBytLoDYVETidWnqu88NMNgCsWJKFxkCbpZSYxWpJh2teX4/lB6S01CEfeQaBj//Cjzm6J/w6a94NsiPcG92gY1qW+xJXm2kofwm/juPKsIkBqeH15eoA9+Aficyj8E5wX7EvhJNyFNjyRqwN3hLwjcCDX+MxFP6TbCGmRV+QXydNG5+H78sAApo0iCsIvs5mUEMp37Rt9z0U2BN/0nNeseIaUOh3iJgul5VdcOybn839LY9UN5xO0HFyy2/aj15/5u9ZU5/a+O2+MOJFRzElVzlZlihfipQtd+Rjrh+cdvfrWi3vEK69yBMaLnQbdTcCHM9+NUnl3kG10TBi18l39KcjhcgKgaj+DaBZE6thrWu+SS6a6mQnqiaLE9/X/yyKAoAp9tRKUDjwa4kcoTBhWwDTMiGsZjG54eQafGbWTb2HK/irNmFWFccyUJ0hx0HQeaHgimdu9vhX3LbJxOhzt4SqBJQV0tET1pEaE2l5vJde5Zk9O2GiEiyJN6DzRW/F0GWzbpoZXd776yFVPTtaD4LM4bIop43vD7TjuINzI3iKIRFf8A9TZQH1Yd44XUkWQeRglQe/Sc50Vik2asfll3foWbXkk7eZwQh+KxVotIgKv6aVSDRuRaRxijXuobj/MHYWOeIu3xxjorGLetATf5JN+gbYDH6hFY9la2bK0U/zGNtl8IR7Wq+L0l5m2Y2G7KxwdU2ddwheBfERp2rFEfrXLA2faSOE68Zj/Ogt6+3t9N7+SOJLtKM4WxvUyZiDVpAOkGKRBmsQjdh/wWrZx2AjRdKLw0rkEoR6EDAXILU6s+2ZuFxCUkAIOutup3QGKpEORtnSbWRcP0MfNarpcQ2iRJC2iP4Tk6BUXlz6bkfyT4NkqBL35d8k2lU8eG/Rq++Qh2i4DZLkn3Dx5cH/oE8CECiObSlTeILrj71RGzAyY1oInc36+QqABcexi5a5GubCadd5/ZsgjIljRidTOt4R8ej+wnDjXTW/NJ5Xt2vTDNL2zm7HO0oheSWyPnDLi0aAy3TJ4bZD6l/LylGwJt5EcmLjZuOwV7cQj+NLNBzOKXxuJRTzd6QcmhL73+tv9dNYMvXKGhG1SexkWHAg/pEytMYFhZ6z2X0Znk62D1JnhxvHO/Fv2+GyNiFp4yL5wt8/abLUX10+/LejQ6K6WKFlPiHC9y3Qyow6+alvM49n54v61i8PLux6vrPD8jjsMfsbWo+5+KTPgDgK5Py8qjp4N+YloDWeN/H1kUENKwFp+RiBn7Or/Q5UxHiyJDVrZtdy+iEVFrIntaH+MqoAKTMQ80z8ZlIYcR+wq6JvFWuivV8Ao4np4W76aqEGYGMUukJSxUlRBkO5NLgLRxJzk+U7xkZcyYL3XbpYkGUSyfVn8sUNIeRH5d+4YURzpeG5LMLbU1bbk5pC77VyWrlgtzwCCMGhkWJOl1B2QSjm9t9nDQwWa9fJg4TmaA9Kxx92n4GVfdvLAg2Q5cSoExDz0e5BPVppP9zIHeQFD/KOzMqqYhoefzEFbQyOetgVvaZKv9IoX881e0xcMSQjz7ORnTJgAgMyBsWclXqp8Gh/WTnGzh/w861ec9Lavkn36pwki2oNoFjqJYs65mpn8u6acULyUomLloVNpF1+dSSmrQ+pPU/0Cv24Gih4RAkgzJYZhmp6ww74juF4k0Xl0G6wdjfhVoR9Pi1ZX/fT3Zir8xoyAoN10fHUyXvXigA3pFFnEo7WgujCzsXlOpxVAqsf10MEbSlpktKQ2OYV9pXVpKIHmpnLbp25HV9WFamhNlX7/3eIEpZQVgdV4JJm4R6l1MObEpoTjT9TVBM6otDYMNigHx9Q1i3SGQaaDDwjhYmwXZ8L61wLoXavuBDnylkZfVzmMTkoZmgwG61nDMDmB1iMqrvBO2yz5gwci0OCpwVXQp1YVbEPnr7HqgU22eUjN3wmppBT5Ua68AkvensnM/6P1aEUGlMeUKla73jRLa2IqmLyI89qGuDHeqYrYiTXCTECvos+2P6e00y2+GCotmkCIUb9nz+6bJHIfhvWBoDEDaZvtIT+54FbPt6sTf1HBbAqZGlAvOWwuo/hSVlrC/xi+glhy98riWp895QSWjs8O/wxXCFbyOFgfTj527VXLMeGzHhNe7wGp55/mwHI1ZGck2u5/OlZhdnmco0EanYL3mJZTDBAxu9yZ7FIKDxPBIRP6cgyzncyvoUZj8IbU+R9mTtnVDf2KK/woYeCjVWxHY6pM0JoMsPLX2CKkGC1hTGOoXm9oxPAu6O5xVNtThXDQgS15iBjAoHat6a6//1zteYj/AThkaH9DwZ1c+Ttvf6ziiaKq8h2YD25s2pNh+YIm2c4ufrjAA/8zRu87aobfC7jhqxTd12U5/p9AGmQuliuLnO68uZ//pCkdAnOKkK3IROWDKE3Z4C6DCVDF5MfHaUa+MfR9dQDsiUeVtQruHQzZlSMkx9D/IQXqicjvWwgwLP5w4fJaCxyaAEuSjgobnntqLbpdJGki08wQMl28cmCuQURBQpRMRQRzgK5rcznRm46nSACxNorlS+zMsz8vcGMKi0t9IuvaIAh2+YvXTMuZSY5ZjdbUgBFcWXl/w1fuT1rFvhhiTSQRug6lk4nhbQV91mOZ0jsoIQPOp+15LtU+MmnbdiiyBK+2Q1l3rPcseLR6kjYAqTVxI1IRCOJ/VTzMm6Q8d4Vem2i5Jcho/MN92N+n5PsvVBjJY707GzObKBNBMK3OZJ6yVFa15O5Tc52aGGTgbNw+UhO37gngmxflAOKcOd4tf8e3IAwiPMopFJePKLC3UMBs5ye8E7WBB5jcC+RX+7oKzcCg51rqoK0JMfz39YvGNsxeihV7ONB52ttDAHeQAMdLA9g0+bGFVwG8WSwHvAvzfHtk7y6CObu5+jgN2ZB7eBNBoMzdr+sF3XAcTM+s3suPXXZYSfaWzqsO/459hbInHorNSh5XCuVlKEJ0OfYxwnRVXPUdLhih29aVWZUyAmyLaIWBp4l3HsRLJ06P32JCXIp7EE3S6ACgiMj/0vEvfw9z5X++T8dU8DAs0RX19X3ic74GbO4L3PS1vVooSFGjs3vXb2vt+cHg9kkjY4+hhJNslk3tgbfI7YF/n0+oltGXROErS3C2Gsdk2nrDihzhXfX6Woj4momxW/AuCBZ1uKSoG8x88VjktIsI5sfb1xTRyPWQHj9jx4G0NJ8tvHAP36eHJfKl+qtd9MrOUlkSc3aMt3QMNBbhGzpiOzsaXgsrtrb0TEXVSdr93QrTZDsNYmSsMxw0vSPiiDkLmtu0riKhq/yGim/KFq1k8I6IUUnAQTQ1IvyKic4U001N3W9p5ImDTIOve9GI3pD3hWcgYFJ2kbYEUTFwD6UJDnGNmtoncW3JgZcJQmpqrmYfjMOurj5PO/J+8PZpmvzxXEcm6AVleogFs/mKES+khcT9y+/usBVJ7bhRtcezur0O9vdo1QhhJBE7TWWw8PlAos3DPBt21OQc4VNO1md0jqLp1V8/D1vYT0MaoccNTawf/lh3i3tpdsXKAN/mpdm0uB4A/Tpr6iEz1LE6f/UnMMwyDWgUmblmJnHUwzqhiaFDuBlDK9ki9gplfEvuX1sRxPUhjlYXZSmrfXghUpgDhmAlvEXZplQa64zNI/2msazvW7Z9+ZuDbMlJlKt0FEY1YeUbFJfu9P9AWU0Cspnklpxsy3hvUGyMB84etvWP3WnegkeDfAevyK5ci7OWF8OLk80iZDXfqSVrIaRWRMHX1doVnZgiO16g4ftlLMxaBGDKlqcap3PyANz7Q/uSu4daQSxACjyjRE9XqVsjvP+R+ZK0BO1PygKQwfx8FN3B8WToEVeuCoYlf5EJfUd4UUAsHP3bTOqal9lY7M98GOXjKq5K5NYSMRbckWtG+nkGdj+DG2L0IPIgjHP0N7jFX3/Tx9XHifyWwTdMNKuB00DOlfVml9exQO239g4VvXUD87emtT1NvxikSC8cm/R/uZljL/qnzrjJ0sAFY9M0abrcK4f1bQGZNM5kI3vsWdAMeviapwsjr7tUa3gSh1QO8PJzyxXkNz2lLKebGeiWdR0IJKu3F8CJMVEA9LbZVXVYwWL5Vfu7tcd7vBMfp9ufVPbOkwOxwev7O0vYbb2FphRgObJirPupZkVXssQH8H6TOsvpsmHD7XvvmeO9mtYqqJ/aA0yT8FijeN0gQ0Y0IbqnQQDJvexZujWZdl59Z90Qz5OyfTMwxho5u32wiRKpY2dCvsoqNg8jUvmrHVXpZnHbu0noxwN/+owUnE4QGomGZlAsMUORN+9huKvAVzGMbArKYLmpEYEWYTK7XOlVaUwBP4MMS1jhdXt/K1SkxHVsUwoqlOiTZHMQ5qieHZztkAMSKolZCK3XVKWz+Ho4Pwgf7ZX25LsosvtJQI0DO6NLnJ/wReW7797j1JTyUJBH5H+j91LdgQN85bORnfusWlxbvBEeWxBim8wlEwCGxe3RX5rkk+EvctGqbvTKFA/CLNmF8NlvktTL0RKtStGRBAPF5yrYnmb6k5baydZecTWSItRF3HRytSjt1HcorIA97D6TIUSUDCjcAcnCXs1ET+Sc+yFgccPZ2YjGcPOvWJltxS8rJ9wqD5afhClD/32PXN3Bv+am4ubxJxOsrTBXyANE5zm1QLGFulABwteIFArTtvVDRsPP5yE+f62qBfi3llzadeI7uH24qJJDjEwMqoqj6pO9HhjSksR4ZHVelQJsdDDwFFySiA2eV3/pO90zb2xrLtQyOs02DVPCUyGI70vH9iFs9eXv0SCoy/VSYmWXUtki9+ZB/ae7nL1lODTKFlvqYe2XFhlSCJkLgx1SLPeam2Bhv+UuRkCXvi7sK21AS6nrT9dldt8tJF/fgA7uyBY5F4NxrGwZiC4eXR46d28zBAkGs2QTgjucDGrMwFQ3YzjxThgJdld0rp4WupkqBkuHqzOOSbzO1ejxG+ta2YBwNJISKa4BLKqpIXtFz0xARuZ/h4Pgv7V95mR6xeIq1U/5hm+TrsbC5EXwQruaupI4nKHRZWdWS/SwmiYCLt270ePVC1LQKusnjgJLS4DEY9W4lZHtnlmv5WrrVPqA0GFwDPO1zt3j3VSTbG1c07VjqV9AVYpzZN2f36tBoJWOyRtE8rA0kz5kb80d0EBfXd2ejZ58Y8/LShLSn9O104VjOYJ6tSGRppMW3DM5kZ2NYEjb8/H75D5/Cznv0lSMvYP5yk2WZeewgSn4eym/uuN8sYzLuYY0R5wUxCj7ouHx07BCVPqgSETS2b7uDCQqfKZ8QnilBPnrRbcWHbYUT9irlVLliZHKLnCBGEqkyygRCGy/GXdzuCfq/vD2iRAiQD5tIUQ8fY68+ZftkmghxEVB+dSAD6SKhwH/tvCDnBO7Yc5aJj2jmSdo+ZjFOxS/yYfx2GHFCAxEZ1Wz0qdn5ktlG0Iuu7Gp1jd1jzuakwqyXKg1Xy/77h05+wxfjyKGe0I89uaDjhC4tIsuTkvV1fbK/WqE97oFce7Mwf0Xx96AfkbbuJ0dE8Csg+1NZpZz2kjQzEFriLjw+JbeMASx8Ah/+JNWtBmvifx1tAfhfXnbojTbn5K2T9o36dB486KWvQz1+Ox7bQM4aPg/6xlUX8QtPdYhQmJ5j+Vwyypyd79gmLPTF6e2pF6oP3m9+wPts+pzkr72BSesNyExHGx1+eKbNX2L5Kj6LWS4ZqqCjxxsE2VExRsbahngMu+SmWIy2AcnryYR8I1CzbhhCmYnpsWz5A9kF4IXtLzQRH8hqD8IAUj8cHpiR3PCPiPZ2pGxmdCmpLFP6tnTlHya6YUfvCvH3DS9fNZVc6bfhTdQScjWGdjzuFlf3LD4ktIcw3iilnSPXKyi3UOvPJ0s86erSM0jM40y6y2XExuVY6vkNXFMhjcbmka6iydycrTxytQ2ve9+mskIs2mC4pn1McyNBAlIh0ozJaBVIfI1wTTRgNRCbWBVYdIZPNmhffX9bhr92XjiKPLSZF6sGZeuJsUUBD5UtsUJAtKZu1mfskyic0nqPI8aNmlGeT/fIaRVHdica77ZAXbacBhHvlEzpZDkxmTuDnNlbh1fIf/lloz+TFq6JlFGOCOv2ly1FmuOOWV/eGkB9mAJKtUDnlrtB3nL1YuS3ptQKkS8tb3JAIwWAlG/YA3WHWBK+eajNOOyCLec+RTIy/l4ilS0hLOAk8GmBU6CMzmKaM3U1oFuAtBgzVqKK958mjLutpNDplhgKwqB29lPJZCORtvCi3x3dkKZjBvQtuJWcI4hk86PQuXNddUaWlggpk25WXubYWL8FYJ6IckIhtqZO61DCcKfbLlXtWSiQEyOLxI3pk7N2waS4Y16yStu3lTKdZU+897Nvrn1cpAgDOd/Cf2l/uBOx3a5Y6Nzi5kgTbGK/p9/9TnNUhbMDdqYx3RmnnwDvpn7hKuPrBQRSj+bZeNE22wwUOfbxxKg4fVEEpr/10X60v3T61AzhSJ79SrmgV6+07Ju+0K078PGKzgj9UsDQsT3W6AxjgKNzIhyfN6weV0o3EK0DXNKC+TdhcEOsrgPRiRHty1O6GW2H46+V+lEEbz93kILhXygPQfP2RJ2eLbksEbE0xPzzbHri/aVJf1zfzj8rLwBDr5l+3ZLKkmpA0mDscvdtERs+WyZsIS0a/mQ4yOFB+tWAH4gvibcHrATq2OO+Tb/ML2dq0POJ8+zLca48ps0sBm/q0FPUTqYEmrT53jGqZIMBmzQB/0dkWC7sVhJy1lguRAtiUih8yUZfY4ORQCODXOfQjKt57eIsFEKS3skJzlvAVQydsikL+TTrB4lSik8ABBLdtwabrOK5kMizdDhz6xHLF4TNpC25TDii/eKOXi3U+kC4fH/NwkjrifZhamz3trgrQ7w8m0bb7wkei7ZGdIT69bXQK0FS1kW88WN/8ggK6w5iVxdJ+12T+5FXomtya6KayfL/kwAmwuucc8osRQRjHPTY6dAH7FyO3DioUy5fOn9dWj9ghffc+JTfPpYi/2qoKxMlqKzPdC0qzajjGjPnhUL00srgdtVEVX3cauq105YoYE68O9nuWdieF3lO0nFCEiSF2oBe2btHP1pyZsCbjFfsIlyZdJPo3z5ZDse0VjT+e7X9sI1Iq/iGcNFEcA3SodI4S3oDT9OdGxtcNTaFz7s5HGnpBuB/pVMA/w5Ii1YKHl6i59cHt85KFm4s/XahBxoAwwc8QH0zN3OLb3CQ+DEG0HVloS0I3wIs0ASTsox5EnOYlGWvReS+bK6XzsHg+i2L2Fflyk8bFg5Vl5WSc8xXO6iXHINoo5Q1kzQO4PjvSroP+NkwGkTwyHqKHK3skfBFA282RwS2+jLmHbFfpBbxRB2NrFI82OE8CduS22MOiK6+fTSzVVisaPPzuQ9/VWJSfJEK0IPfW0mZCCKLXvxiuRcrZqLti2fmIvpNXzOSFfdVWDv7QVgtZwRguMS9Fehx2FxgHYSCBiuT29/nD13BnE+hQ/T7TuSqKfKwqH6yO4Bgzd0dP3gzUd48nw7mAAwVibt9/q7o836XNAxBifSbM39dx65wrlhDqhLeXawu6fuxMH+ftLao9C/1b84XCWZuyJheT+VbrhbVVXvpPUEySQzwJapPmcXw33nl9NR5ePW3XdhNdICWSvfqHfENh95/IXgLpemTJPm2jOzLoGH0PWTIIRQYo9REPJvW/9O7aSDvtq4e9FYLuzVcPXoG6hRCmRRLwsvg3Agcc6RNn+dIQFefVznHZgIkOwRZ0oshTPLIBEG56RdSoWsZ6GJB/j5mANztCXxXtsLAk1yTFSPiBESBQM0fOMuNS8l5mvoV3Rl3vIBPyijRlZKkIfB47XvK/yQLRMR3rl+w/zmVPXdz8C40x2tOWy0OhwbUcMDhPPNUYvpjbjeJW926ReKQ4d//2utLK778GKsm+6sdXXgEVgNYamSfTTJn+bFAlkdh2wpTEBC9FvCspSdF9AHy9TDes1meOs6CxR/MThL7JrW0dtu22hWhhHRwNhUFs5NIPdJA9l4NfX751NWZk07iNnQzQ4Ogx3+JnGkNGif3A5Fzd5zrCQPNmq/FIagoqJ6qFMPz56zFKcRDn7APedvtvcjgMdnPhPr4vSrD1aJS/PZ0Oa6sZRolPmQ1EENfbmPHVrrodLsKBq5NFYVQAmMtZ31G3wEw7yNUzY1oVnSYOV76HGuAC/vbePE7tlYdxRldQZ5n67gNjHMRxbKMkUFUSqdp/8mithG19ZbrdPEFD4dcN4L/1jyYAEWbE1OhJNhjygxvCT3eaSvgqtuHLViMW9KGztqlLKAGwV6JvMc3aSDKb4ZWBrRsElPQTllyYWPHxyL+OLgBHU6JEBLgFfcpMOuHZN+Ei2G69IdlKCxFi59jnIBANxMAXLw+R7L9TN5tM99USejzcJLjPcXwJSZQss86a5lzln8ozSRwSbGSnOSZ5aR2Xk4r+4T0/SO1w7HMuXcZ+N1iZACfh/pDrPLo5MTrd+Ntkdh/6AZ/+u4rXTUhxaEhXKmjlZUaOENcMma9e1JuGLTBsoyygY0shTX8szePTFLf0ZlM+S58BgnaRHEKhIk/HskXbn1qqc+UPuwR5iLYhnXfRdbaZLqecLErb0PGZa+jUKJQmm6JKH4vzRLysZ7mBq3a8C/V7nMrMN8zfSe0/kfCWpSJXeA+n0gZ9uSuq2PrVq7P6wOvLHVTWHng6KUXp2XBg0Z3TTk/LNdbzwCWJgMLyeodejgHxrC3NluKgU+Z9uXXJLDm1sn+5vy9yVbxxM8rgfUrB7wPr+w7+6BrrBG5IjTtz+RyR00X1ivXW5UP4ocxVQZ+LGYQg+PSA+CDlyHuZCd7IyVemmhBqHGodgFsT0UZDocUzlHy+esMnC1UwcpiRgW3IvVVNlFjueaz4FwNrqA+/mf2cATRzHeeujqqoROi+8xoASXL4hdeZBajjvy7thrQdkiqb6PUr8w7Ibiwk03eH/7dLcXic3wdnB0VzYGsaHJ2FQfqFx8jnnCyijgr1Jz19PUqcp9EXcXg8h4iAaoxgcZjs7kT+NXhQ0AiDi0TN9q8fMqfXvxzt32deq5Mz9ECY4e+1UUaCW17Uxff58T1T7RmIB8j2W4Jkm0j1tmm//8PtmTfb6fTW6YPC3+sL1x9nVx9N1V9Rim92F4jZSeJvZKIv9Vh4yWv0Fjx89kyTp2AlbXutgkiOqCwbkWYB3b45wXYGmm3rdycI2YBoKjvicnCtx1Rtm87/ddGnVcE7XjBdQblA4VXJYgJFVg8Z3Zg5xRsb6PooWSSDDnwFXbay5/Y0C1qaGbeBoFhKPzOgJM3xwUgks5xTTpyi5yBUlg7r/8MAOAtrnJPngaLJmTfnd5vyWPisxvBIlrOHY4Es/VOXo+MhHG8y39DGhaRtHbJoHsh+7D4fsB21j0TncJc6BEFA4R6ZO+4JTedOFNRNG6eZ0lJe3c7a8DqPKH0FWE24zN+HaCQtY4LL/e0x+J2/NRLYLutdeEb+yl1nBZe5040AMydBNhJIKyFrgrm8TSx1JZsnq82lF2C6zYsozozk3xioH7eNLPef2TO0fpZnLehrLCILofc2K2SrRKbhgrACsezTKaMEdpVM5Mr/Zw9Ajb64seH7C1OHgmcTNaGtuJ39zmB25B2QbKmRtLuKaNFBrf8BIXUkF+L7k7yWxvJQnDtbM7amTBEXGTCceQ4DfmdXLMAccVgtjCCjDxcRtpxC8mCFJgiLEzoJ3IfcJh+wqQT+/idFScdKvc8m1aQNx8L4JpDEeaOcEIgqBi9zSZ8028qM0fSnEVmof8JFNE6ebNr0eFF5SJbqA0NGDqA1GiNdU4GE0SM7OqS/XdS0ugZa53SV+UGXS1Z7vM3jDSvJ88kEScW3rd8+CBV2fq+lvWDPqefJlZUfssfq9PCqdtu+9nJM85JuwDTy6ISvAPiMEDNWY5zamrKg6kCxUAf0DKI9Ku5JSynd0g2z1GnroqX+NyWD0G6uDUozqxBham5I7AIuxw8+o8Z1Zak9uoJ2ulwF01lvXzq/xOKLCZZgZJ+nvDK+7gR62gMDmyQ6Sy1a60hv5ra7vQEfX21cAQPDNhDs5Gud86MILFF/0/4OLi2hgEg6Gdtu0dbJ7YcT/OPMVUJuuCuAeBO3I551TNEb/v4dfnpCqWSJ5p6322BILNz+dd2UkRRTKOInPG+Fni3ZupgKSi5DPzCSxExmrzZ6eeLfF76bYsDHLedZPiLo0bx8zbNqbw4XxGvgBVtQlC/i6j/9DXlcT6LV3H3wbCVsux1/kv27A/n9FjFzVRbv9Qxsx0Qiv5rXdvkyB6j6iTSbTry4Om2abMWuaItFlRHkFFvcGmFiF+WdvJ3Zq5xvbzLc4WfjFPLwWkuUqf53ivn1ek9VlY6Ack5lhO4dMSJ4dow1pzEe0guZjpIxjA5WdnLXjgLRrsA/tx+uisRBc0tv60CCoorcolA7hrxUJzg4T6ljevZL2scC/2iJr90Y2hu0ebOq47Spn26t/gRth3qDEoKwONjQVqatK1uB0q3CZkO8thyRmV4u7fZBQ0BL6yklHwZFathircy/WLu/dDpctP3lcWAADNdTLTf71P3ZGWaK91pNQmLpQEcm4jzJ4oGVWJZpYCZXAsD2YSANuJjElBb1z3c7kpSeIaCG+7/FO5poNoJIvIYk7xo2iykCQZVN0X41JefdHTVxY3IzYPFgt4fK29TNUiTLXTd/ua61otjNKrVDkNYSprSubtvkfr/HhYXzBWOZTiq5QqvUC1mdTJwO/A4ROVXvYzFmL/7i/jbJdT9WgqkjqRXRBKOJAQNkVsSiLHt/HnLXo0jhjNFRSgNnI8AmcXaOztrWsmxHtcpyN35Lp/nSdrp80xa2Y4zcO7IZGKVEQJgPwhv7j1KwkqPBbGAyWhDxyg8xRjyBPuKhXm1/5zbQ9cM5N4qn52ZPAuGmF+fYdN5uMIRHDhjf9k9nLlbSxOcm+Qh3R/n6p7Waett4pRlj7Eku1BWHpaw+Z2AfmzWZLYVGPV0LkyL/YNzAQbuUshldfOVD86Kg86HcaOFJn6aUJFckhKiWD+hfaudikcFkTbxDSnmssL1XLlfK/Fk17XFc1RhoMnOAMaSAYXe/YSD4Q96pVTIIZHg9Mekscc+FPt92sESdcV3vDHT06Ln9DE1RWXLqAlBj7GJ3mxyD/90RXQTMF+6YJ1DwuGTw0wyw1JBGE8sftDB8La5ugAD7DDnzSVMyR9JT4pKC1BUHrk49VbB8+KvKV16dzkUz7YPFeK58BbcfqzXybsEXMGeN0ffUHkuSLq37Nw6zEVuwFHfPGbdRqgyAIPfq8EULziNE9ObYCxSxG4ScN/et0dx4DAPgrx4rAWr3R8mlhnxSH2Al4+DhpTB87+amQba/aUh4Tl8eO4igyKBK/v3U2+D5lbQqTwtGcO9AjuLSA155vyryuLQfv8FRtRC5l6gXXBTeGYzwy1A7hPns2Nn8lSrmgjBcpYl6y5jh/8beU4IeRBj/HOMYYXcNKFE7FOH7iRaCq5txhRbb9zsWPFSZFXxlKZarZLnyXst8Cm8iUEdSwH0melcKAszvP1d5SIHs5RAcwaYCs5CZtWtJbH7VBCiCayfZV/S4kmZRG7RQEpKBbC3HuvQ3ECXTR1w2urKW0Yy1uodCVKfS/Bo+L5B9DpnEaUL5yEAyVXvMSeKIYGopnuzQFSQOKEcVCrUIsn+QQh+RibDpZ9aIlA+DIZSLGFSzaoNfpQD7k9Vc1v/Ann/pABerer5c61KwOeCkJI07jj8d3lt2U/jBbhK72nnyrpLqjyozgka2q4JJhtTRNuP7RK0EEtDixP7TYg6czNMfWAVZcrikKNLb822wIN8L8hAy+CPIxj1/Q4BN4MrTP2e/H/GT48XtqMo1gwJPrOD152e2qCcDC9YqUYmF//T4poG/4+6WmWOZcB3jYjG0JDXlO8IyyowOzs/P54OoS002CIxV+wiDYtI1qhhndI55LPSAM54op8WejPcYwnO80PzkbhEuiZNI9ERTeg0zRBG1Vpp6bchaQNH4BNJ3d8f2qQslh3m4NIfGlxqNV3YsGSrwtuKi8nIbQOdvPMCWObKA2jjThv/G6IZLoDYvtu/99HzwNASKTZD8WuAWADxkG/DyKQBs027reEdZuLcMicAF1uRrwW0GN86O7GU9bKqCoLp7O7JzxI6+IUs1iN1JQNsZ8lUJ7YpUcI2/ZPyUiSk9To+fuP+RA6ITqlNFc8efYQwt5Rvehk6JKKrlRdFaWlLDU7J13rVJQ6x+bXE2QwRZbQo6viM1327HsXL9Lw87+rF1ZZNPloSK28HO0JGynwzOT1vF3qf9V9uRMMOo/lFwEBKm5YxsGxm9c5A3npdZIQf2xrZy/yEGgzvs3ZhVyeA/bEE4fml/3QQ4yWep/HddjTasAVHlwyNIA3Icqutu1YgkHHKbNJag7jNz6K15JO1oi/WUId+o0WWovmFPFuaqlBlowWnX44rXuvMryF+9aiHaWYubav5MnmSHFYkuUoa6Fc9Kd5aXui+CDEnYrsGKi2ggJtgTe7YepJLOhglE6QBhU57pWX6ONzXhb34yDp42vEZ+2lJEbhPWdHCHwVgJyxqH9LiuRx986vQD4q8gq6fAix/4GsuFSQRBqz+C6v7m7Pv+EnQwaL/is9PERmq7Nve9yTH1lp9Ix0XfTKF1rMcCFkjgQ2stZwRtZQEipWk3u5j1YmpqQKBr4wljAH5sNXwcfNn8KqVBRXMu264AXUGLN7dZBVKuL/pPRmBVYyy+QdDT/hue646Dz0jvIjGxM5EciuiZnImivFQ6LofL+mj0RJjw8Er6l9rApS6cISRyw3rAt42wfWqtzEFqZJ87XncwsugIrtSzZi54nX6cma1BM+00lGS1A/Db1xm+5Vy0VqMmSNvpKgkWFTxUolyBBaY3XKw91rlxmlwi/oTJkU2ZnDYkSjSS58r/Djg+R7UIIvMx6nKkPjTpjNYC+VjRT30mtBiSOC/tyd2LCT83/BtVaMsXXbZwEBdfJPMbUYagjeIxCjEpKyQJSaCoBEmDUzBz9BjlLmqej7nfuL1QLIDQ1sed4rkgwf9mFi72tg83WWzvPPQqqoKZcfrX8P3jpwTa2Om4doilukeje5ItJ/bKCMsiYm+Rz83GG72i+1xYmNXbWWfcg04hABcvmqbilzlFphp13/AYAd7EB+9YF5FavcvOGhEkvk1QRM55ObKoiGpYk/MqrwiXB+qc8ROpSDPb60Se0mwHQ7gkd0owRSp/vZZcI3laHiFMEKNNjPYMmpHFcJ9weg/8lWamrl4zIiyB+VNgiOhf8T7nqsMFM20f743qNNEgC22wbjkvTuIZliNDvcYja2l/xOhzOabinZSFwj1xPJwg+LxrXF7apGcC4cfZlp6Zdk05zbyenQSgv03UilINUlW6ViSA/LyM8psMELGMGePq49ydmOQLtWi0GXpVIiGNfyTjvG9G2ADEfTzD6yjADJWLTq4c/Bd6C52l6ncSOF9CYvQZIrneW68UhqEejccUI2YQxw+i3KTQ6Hc/1XmD7LzvG07PUlWpi0C6E7FFHC2TEEEcZ50J41HjQI/PzaSKs64n6EUtwFf4Wc5sQMs7B0iGCtbo5osOsGxa8uVf0cj1+R3kbAdWI+vWC7f/z8L1yiKKxeFL7OJ0QRWu0barYGjQfifotViFlVZaZkAxSr53aNJWfgsIxzJ+LigDLfZO5vvNJTwEurvZLpa34IrNFEc0fKbWyDijZR3DPC9DpIF44PSxtvQUTfyYO/rplXAS6vgG1DMtep2SOfX5fQJHCcP/ZFwqLlsS61NfxZIADsOdGaXFTgUdjic4UesazE9S5w3U8Tokf/EoH7DbXtmLPa2SrXw6JEJfPN7DAhyrYpv7LE6Fve1xsAXtb8l8I82xj2R53PMFfevkw7hivpqH8+5cGpOEg8hormC9WDVuQNexKRNeKPByfHcfrCZsnevFGHmxBod9ySDi/itCOVByaUueJKXVcuQ+brZE8bGJs2/1OsQTtGYGeF+pnn7wtdnfS1YouiADeqOSPuppS5W80C382ytFQOzKjOvoOPN05cHB23RG8prKIpgPxOK2245CzPFgnOzSWxq5JYO7BBXnxTTTcqXTZ8OZcEsZRSNHm5t8fPo3t8sTaI69O2z5BLSm6Tt9oM+qDmeHHMb0TwfA4YwiGndqk8tBGxJcGAPsepl2Nv8FMKiWGn6oWQWDgT5npVCCJ70bfjGWlNZLfV3Pnvlo6EdyvgqS8YsLD2QqtdFPXsESL2qDnBvX889RpxcNwwl7Jvhs32y9fdhClIMBlcW+8BaN/x8RkuP9mhlgn2e/f1+sHCqyOBeTl0jozSEMBH8XUqGgTWqmWOf+uV5noYEJV/GeMe9zGUgZwVpRQ1NxWfkCZAnw7z2vKQ5KM2tSvXUUKRA0USs3hcy73xspmm2OjUwyGOKU/BlNyorIiLguxdUH2zkPYYQr90WqqmlEmDIM5dBjr847gkKjfk362CTjhBefpNMpounj6ftWHjzE5w6Yey5n1KsSQyxP0rnRE+OZOOBSb9Nois1vfZwayAg0bWkVQEvomQ1+uSntFt98buhpKqcrhZoRUuQYTbfB26ppDj3e6AUv/VFpjf+O4+KWjEshF9jptOhkdksfxOT+XAJoSIgFAowvTLgpkjZvFrVHMNCS+h+PjQ50FRGlPIhRCGrZ9uQy0hit6fsNzVaTMkUD4dMrMv1LrA+FGcLa0RXT3Q0sthQLJpxEYNQg1BlkQNea1SUfNcNChV0HYbtam0HZ+qtG0OAt4x5S1ROnUOh8yLTAdbpY14okdp6boMtIc3bHcTtHKrHXSmtviYLNGXqm0uYkroSDHuHX772E70hf7PohVNF5+WU9EgECGInzNNyLmBnwYRlDqM8WZ2wnYFt5ciiB8xT1BlL65iGONmwsUbDLHFzbwaqXowMU1DgW0QyFpvfQGTP2f2ECNKnNgKF1giy+d1aA8ESAHl5xwh1ih20jdRtl4UCV981mKXFDBSkt1N67XEUtakHE2UGginkXujZ1+k7zhf+Iu16XDDCY0Mg6jqA/MYmGAPhIIdrWVdQRMhKyY2Wn8KF4uOMfAaW539pNUMPzR7LPGEIYXjR8tcGvpNmY34FtKGglbUvGgEgX8RO/lSztZJkxleIuj+lzkdSlFqAID7OymSWH6uCzCN6ziNa8sBhnxzrSMOdVNrg9OgckoiL7zulc2XzWxfil4mkj5bdTfgnIdzlWF/XBIb3zBb1ylNNv1Ce6R0Axt8yq6K0xEO7KJanZyqRpoQHXAbPFMcOYs1jAf15wBxO1QAGh/EnBKRiApRT1SYL4HkrFkBg9qnkgh6k/wHniuyleir9XFapLG9NpNOiu7Z8+C4ibWHUQzcEtj7Yc/ShX+JbonJN0tZ7+C7GCKabFNWStX9SP3J1okS60L0WRarbmpXelsxRc8IxKzbykMluAByGlgRBbzR1P2W7qDCxvRm8mYobSiQzMb6Y2+THImH5jbhSJRzcCWx082dKxFZpj90ijr6UDbZwIEJxt7hElcShEhTYqlsWEoVGb27F1OPBIgeSE7d4b8g75ZId0SeMHMwAV5pSgIoTvuHiUkqoH4GHsQDa0Pfo+eWKbW291Rr34QTJO5M5R1veT4PX+4ZHShQwqp+BGdhsOhN4K2D7N2DygVY4oQ2jBY0DsMhmaM5ZMDecWiIg+2iLvWyBVdQ7dW4HTJ1Jc0AIvtWqZmz23Rt5LBDpy0w9hJtiO0Xlv76R94POGC2C4+K2SLBY+WMp/4uS6KjMQG8wDB2VYYfl4dSS3ESg5fgIE4WJAAwjLKEYNGfgVIGUY1qTrgFNeXlZCp0Zla1FbzcK0HLN25OH7vMbA7MfSSdgXIhd3/fvPv/2DMl9IKnQqQEe+IpEqOij67UHHAJ9AAdUoAwv4dDsbHxRjmUos9E9iY4uT8AnYmXhK92oYHlUwjuS0zA5dpb5Kzh7p3+3NiYnsFUTppWA54mEe082wPCH66QvNNqTnbRlaC9nzIYxuVenApmllH0m6/eBkszBwRrV6M/s6qSvaPkJ+dICaI57FBUl1GzA2KJvk3ue++rb1pmAbvwfA5xtJk5sIw+5xPNr9k/5Qq6NI/RWXLaExFlogTPiz4NxD9qW42Q3mF4suymGFm/PlhxdO0XcEGm/XsJgeR3lFiiPD4VbXOlEVku8dS3id6LoPSZaXdPS7LWe1ypivUcQUgaWwz9Pwt9ok28XkaDRmHbt+mW1bfqw23n9RG/u5DPxxBOlvCXWb9rV0PJP9f4wHlWLCxUZJg6Ga4bi00fKtj/toF5zuwUl1Wj5twB4MnlP9VagHePE2FrK2MiAr2HLc1uMxHMw3bBvOhoZF8T0CynrB23URIGx1mc6EpvE56+dlP64ZwVpVQgQjEhhyo6ujy2UMPBL8/vvWw4JmIGPkjzALR/qpyd+l93Wz4WhSGH4MQICxmLd0jLRVsLi2N0wM1Cv+QzB4N5VbFAdUeTwUZ9M2PpUiGklJKe1/ZpLuDZa2tcNFahcqeOJ/bdKeJooTfi0PGJEu+yklZhcBX6JVhruqpLrUcc0N6KR0PRFVt+QFmL6qm6/8Cg9rvCju+jhR8AkewXN4yR7aqVK6paTfL7N4wlVP12TkOac6+ASnbYkvr3cUQC65l4awp0MM0d4VqGczlq6pYUEYjwJ0FVvdQ6g/VzpGQ5OlE6EljofbfHbeAFMdw9J7m9ECUecSGYwELjXjGlIo+x3lvACg6RyooSs65N92lCQRLWkf8ucimt0lDK751br2hW/MBbXrnpOubmnpcKE1PP1DjALoFOkm0cszTyrZAS/MY5HPqW7CCEDoivT342zv+Bvu2dOrNQvhcA3fHye39sBw3x5HkVNxlDBlEQyfnfyv3ob+rQbtFxXrSZkouc24bmTNiwQNBjnRTmo6Gz5I9wDVysInhCkJ49dmuXNN9L2XubGIHCebxLDUbQazhRtT0t+Xpy4tKGGlvdj3UhztFmzcXgDQ+GsHjsw9a3ZVhmvueJfs2F6QwWFjdWj7UWf58H/9nFfJgrSob4dk/YySSBLBQbjXl3K+g1ombnfRaBik2g0bCi37fLYeJaP69p2R1S8mau+UVz3Spu9AKuACH8pYB5N7jqaLlUOrtqykLzgCreFUFiaF8U0yaGomHHgLXg/SZs/fSWXvGvxwgZCxUYDzo7RMM0ficyAlL0U4JXCFnDSNzm6DRpViK92i31uZUORln3ms0qiXR6eNUTyWNgCn/xy0838HfTXl+V7DtT6uCoRErKdcBjGGpQwU1tXZ/Cr4XRe/D/qai7vdsytVRlD8jrecfOBUE1E7wv2zvXmfwsft7sLd+40BaSjooN7sQY0nIR6/GjOloqKMHe8xoCf+94ubnkpCEzHBfmb5Moo8HFv5LqqB6OgI9Vd2u/oTUfDbwOH1Or/r87ebfIUZ73UlarIxFKuJ7VF7MjVr0PAtAwqj9UOUOhFsM6KL/1y316xvVHqkTvFIyYDtz9WBbYC4ZOgwkYIIujvlxcxBj0442sNCKkzMjGLkhoOVY1HCaqX9wUEU55qtLJ83tU11bs9jNIuzWDt1AQYX01fiEs7czUkfJpIvcJpKgRpzPVXwVvRxbaF8VnMv544QBetu+LmNNe69UzSB8QFVpyq2p9cT0RSjdLkub5/GfN9sTk8vxTG70vL/xXKjLJwRZm8P2WJn24O4FmIyUFcMecxYKCvvR1QJURKf7e1ZZiWvt1UZRQyrhw7y+0eHoU/9GzF6EUR9CSsSNJCrKaI1giymAynP5upIs/ChSuOYp5adm4yXfF0ljBDhYs0beK1Y34VAK91xh5Oq1Y4pxrxjCVEcqRSUCo0z8glXdfQcL+iCXvH+w+Ue/ZHV0J38ecqv6l5GIhPkyt6T2WCo3p+Q3DDkyyOXzh759ILYOuPUwqXBvO588BzfNZQUx1yEMlOt6pT0OZ6VDTejZRJG1AGFH+FHeoaTT/KinGDdSelWBm0PmFYuDmBtn5FALsAW4Une49mi60CpRVDAVeLLs3oNg/66MsrMNHFFgkMbankRXettKeK577kbAs7+Ob1XBW/ZxMCrXeTnUlJcOaAzQO95AVdkyfXScR2UdqJuTYHvJZFBpXheE9xTXSWWX75n8HbTA4pjLh0X7J8C4Mo+4i4GuW0hsRYm+gJ5bisVpXaA1XVSqc5eEBNidrY5rh9DYXlJkya98PVOtkF/3heDT1stfXsnjwn/SfFXHgb0KgpQLV7S9+NzX+o6RpAE5XJZLPaLlAMc0HevwQ15RwoeKQhrk4+9yIaF7cg5WUdWBzxhil5hfUJHzYHIdZtPnPRwhdEssAJn36ANWCiIQJrgDpjTP2EDrBoHgDlK4M/fahwQPsjD2Ba/aFZuSuhI+9u9vw4AZZuDbFA85SRFfl5IHjgbJ1BfLaS5cYd5fmy2hHQbFEz4+o3KoAbnMZaJcLJ75H2i54sTZgGXC1nkrY+JhnPNxb+3EIJWul0QARv0oyo6aP1lRf2Q3w1TCg1AfI4dwuxEe7537SWi65A98ZwRKQpEeKUVfeptqucBg/QxtqPzLhupcjPN5V2gB028qDzufSfGBaScqhAPVkIKMPChoRJ43FB2Pgt9sKtIMYL42qVLtQZsLUmPn0yHg5kz9WyHODXHA2+Z27cbrze5rL+a8nyuSXFdMj77WH0pkFk8o3QTIvhDH2ENsUiT7GQHAsoA5SjzQL5igwZlBrelcqtVc4i+hBQFv6Oh0dvfsY2e5KewU6cgut/HYn2hd7D90ZKiy1Qiy5w68vqbzxqXfgvLn3c3m9VzBwLDnMB+VeYiBK5+lR+eaO2sVD7KXQYiJ9+qtFdix1eE4OYShSv2x5G/T5qZNnXMZ2UpVrwnebQh++4S2RwyJ/NekgdSHjuAG7Niio3l3W5/nSAD5XVKMGYOLnXfIneIGTj4XwFLEaG1p9phfz6LM6rb0R7g8QsGTTSuhIcM2sH3o7dQtmx7gyBdzlS1Fu24TPH7DUQ3kdH/0TM8t97GhrYdb81Ux+TaDr3q3vOExN5K1Cjp2HEBUrz+N1ndqP5qn8hgSPPp2FS3eExn6hqWXIhbsOoKlfxMVSBo1Bd1BQADkLSIAUniEkvRfO++b4qFseZ17LqIRl89JmII12068gxCZYMI2zx7eds/6IIgoo8QRM+BjHPufA+d3Rsu6jd4Gr4q/QFAFk626F59eX+6YWicrOF8LqG6xL866etJLg1huuyBLugf/gF8mnCzGSqpCFBvZjImSqQdB8rV8aK6cuQGZDuXhwspWYNOHwG3Oiv22VJCkgTGvoiKYGJye1qBequytFvnuRlI6KNIMkNavNAn2XtYZAGVueCOFbOF7YAaosrhZCCo98UEFuY74wqRTfjNYZwooY32RcG1oHiENRDXr7Johb/TwlsgHp2PwV32HMlrAG2aNFv7xoM4UoX9zKjoSXeH+OqBzg3PJZAoSp4KjVhwI5gCb9VhfZ8Ein3nnzyCK4klOpCmNVyn4XaUZ6Y06jiilqo/JYfUymMNNNOM483cgYOCAdI9boJfHQiJnP3fP70bM65zdHhvhCWYSpCnYMN+bn4Tvk57XpNcrMExRYVZUF0b1LDRysRbJpl1CeWx9z/Df5llo16jO77lyZbXCr856dJHadyzi2ja4skCyXvQ8MmFGYdOrMiWkGfZvlia50K/p0O6mfXk0i47+Hxnaezv3sFDDKyPgNamtDYPBL1oQ0ALeZe7DUP+6ngW3dinpjzEJIr+kuQt3DStZc95ijRSQ1vtpW7k6fOt1f3+cgaXZIEgTsAmJoPNFwPGPLGaHW9zXYiEj0dMtla6M8Fn8R8U4NTqdtcQwpHNf2fMh//j/ATPsXcv/rJARjutCGZPP8NEK6jXs0D7y0baozE11BQOj52baOwnbIa8p8MFj731e0Yd1h17WqVxcm9QsEJ4uE1UcL4illXskincM+DJHmu9CYvgFMuTnUVtPjOfs+koMnE3Hzjo3hTRjxEbtmcaOaMhjPM2oogVf92mReuh68/rKGpINftZV8Hw/92pz/YDEHjrh6Xgd8HKs13PkWZKuHfSREakb9b/JFtgjSpXdtZiTxNAvTFzBhMirqwPSL+VHxHHV1BY5CZYTqmTO7+wK+ZNX5yiE06HaRGtJYb0rh2kyTPjPIS87+++jHCibc0TAP7e4qYfA5zSdaazV0EIoHJrLZnH83WhY/KceAAqwWoXgccs6IlpPLpWdxnDyJE2n7MrLCNl/j4R8RZYwNuVkS8pGQWXbW3mmlDAMyQA9Zzh2a2KLZ8tEwZhva2HxwR5fK6Ks9cphUu/gpJREaSqu9+/e/UOk9lp9OkEY/ddA1cP+rCLLhDiJLW64YIq8wRjfX+I0jx4dx4n5gPWcuyis5AvuIYFX4gFrk0FiygQt3g1ZfIXq+qns1HRaM+2d7AlI6cS3rbyIL3IHOb+tnbpQtKhqCFBGvIrpnzwRnXlm+x+RKp3MFWt6Qu6nQfHNBa6+Z8T318wf3xmiJtZg3QzXWOJAoVNRJrrW1mT1PpuR8YPY0wEg/i2r0HCg89zyigCMsipL7uCWbUl160MQdF0CdIGWgM16LzTA/fk7KdwXXLkDtSa5XmtgwZibcduGKKFDBYFuGq6eYTSRxIIsIRuqMBAmAycX0/U3eqtZRL9VSW/Dnci2S5/uyfFw1EGmHbEze1I4eyS+QNMGwA3o5YAviSmsr4jG59a8f4HWyvCnIVXW5Ls17WkSq4jXPIqHp8ewh1KJybMnNKCJE9g70WZhVU3xEzvGcGf2X7zwP4D0NHINAW6N94xVe98GTa9e5KyFdIWgd16Ygop3X4IJpZiPPAy44DAHKfhm3BdOUuGYui/qQdzbRUBi6stX4ivvM9nx+T+lYpNLOQLkFr5UWvt9BN1BfRvCBIYtglbdw3ZzOH+HlKlqrK9PJ7Ty6lsHjk0qAtFBF6gkmXm/oVsuerfPV5IYkq6xbitiW5Tfkg/1lkc8yIUXedqTtCA4eyzzWtiJDxSFfJX09YWx9s+78H3EiCDa5EiznXfnrCu0Mtogz5PCtBfyXNo/8iMMvgYH/veHkeH0u7BiV0yrfrlGTXRskaNxclEBe7ULa2y569NXcnBdcVeTdETboIJdj9q5cVBRhG6gJyd/NsxPGKTIyenAWL32Xv3CddWeVLVGlrzWJsCXf32pLuS6gmziOgG5sX/XqRLfOOYdmFVdXoR0h8TwAl+TJ7YIrick9uJsfIVUjNVEPl/N1hCmNdrDf0v5+UvmmROLVOTZjFoQ+huvrPNXRPKrcyv9sJZ6qoex3s65J+au7k0OaPTreSBHfdoMWKkv0majRrLw3JB9fuJvLOWJ1omcg612WCUUBJWqNNwQXrKieDC4/pviBiaeIAK3zpQ1SMv3RQjZPuB3t45yOAqyc/rGnGe/ENHz564pbZ3gzaliwSXec8346cuVR0VnW+a8PsQOYxTCnM1JeY8l+5a7mX2NoHpBOT+DRsWXvfAsGvKB7awy7Odc6OLyciIsMUlsA1gD2On7RMDuFZvQ1mEfEDnm4xrmynGgvcIZvhiB7F2X3ZS06PlCc7gtQDjGiktqJWC9aSO5FVUcfVCCpTilDC+2VmdveI4ZLS/lGu0NfX51oezjdTjuJWfA1jLpLbD9OoGFkqH5bZr1Z1XYDrv6HIImVxTXYOrgb2n8n+rL0gXOG/dJoQ9Gxq2/AbAnVYy1t83BJm4oTpcgurAsE03JUNnMJzjch8Z2irIO4PqaErYuVo+CV0fNe/sOXjBjxmxsIkDNJTL2t4g7zxrfmjyisgmmTN/WdXFboeZfGmLV4UL3zkYwGc8cDZYmj2fPs/3VlLU/9iBdhkt7OrAA2JgR+FKJXdG/K18m05Y2JcOK1NaY6xa9ZPc0NUcc+WD6tZnGMlzfkFrQJao1cvegSPnIBhAl/RBBquyk7Sj89OwGH9Rh6ZmN6XOSFFTljqtBWhR/e54cUsVECjt0QllY3BELU3dRnB4j97of3FvB2kqE0HqsMnORHWF8UtBJI0vMEmMMyRVAbYSMvTpxaG+8qyxg6HcHBa5qhEvy62RIkcxcFgqQKzqB4fLJKmHAFKht2SLyazqHA6nIiduv6NjnjyJjTuI3BYkM8hF25zd+I9XY+uQIBezTHNRlX5eTh3shxom9ilRrSs53/6nqODlBR78q0kd955/l4VwkpLNfyJhFoS+PZ9/UcOIh1qAf4JmyCed41PNap2yAiMd0I1u7O2H/FTUljyiHsrxuCbnAdNN0J9K734sSXH0GEXBV+T9000ag7qqydd7ewJyJjG1xn1FW0VewHgIYfCx+kZgGIsW82iavTx3gnGyXHMYBn+kP5IIR2x0deesDYGsm49SYgfWiUOHvnTMt6k3Q5ETINvMs8RoDlJlJygPPKQp0pMbezw7P74bKWdYsbLms4lmwxJDpeVzQsBUGRujoyhOcKIOza150OD2NYzuwBeNC8gxNuCJ352Cbttn11UO0wzM/0fbI3RNP/DoEPOun449f3Vvo16CMJ/nNXR03SL6qteP1vFFkRwkRkQtTf8HKfTxQlJu3H9goJf9GvTjmAuMhmiTEJWwQEj18O4Ro+S3UYPj/ie8zx8cPe6VWG3hUpK41aSn/g1hQSXTLg1HUcVotb78TZ7gLUcQIq2CqKihhUooUqcRetTn58aV07FNBtWOkYTjNRqFCa1F24+MHpE2cL3E15bFnfSbH3d1v93bdoErZ5uG8kxAHwaZIz2Lqh4d+SmYTi73Y5S9NOMoMz2hiAyiYKYMTpnG0O4Y3eE9JK6LVF1N5W8ZQvWDPt742i/N+/AJ7RsXU2yPm1Wt7Txa9aI4RJwSzO5pnbVmI5K8EKlKT0YHmPhwYcY7DZlexMJ60UWUA5DAauDAqC1tsJB3WlzQLUZM8mjdgRNs/eU4IjZeYixCXKd1kCdvqKXNSqNrDhUVDBbmRq3BlclFByV8HJ3L4FKX/+8l8Wr43w9RYLkQ5irhgYvRAvSJ6/ej7CFXBpEPD2GRc8wR5h0uEYfP52QVuUmhx+WZp2A5/lmbwZc8aTyxDacUB/E7VLIKCsV/gnyzw/BUwyqtIpCH75PaWG2jMvTFVUsXl26bRKk5aDaxcGFXMxpd55LlqfLx4PdBf/bWFMZ8gNKjFPAhDHu5rDp3ezUAt43OhYhDmbfecpMv9HumZaJqLFHdKutHFfhiqJJmBL48+hQtSh9qmjNJIKZhJYosol455fmK1kkJ6v4JqCIsjzygnYa/OP7wfmKW0X2110miHDN2jg516EAo7okoxjzWPeHZwnwhfwQTvuBfBOdgfpBWwks1AXpotKQDcBhdP3dbfEadrjmYid7dTuAaC3Pp/4a7aZ9Y2J6L2QWe4P5kcUwh2axYJ0VwaC4lGup7sj+UIIP2qVuTs+clAgi0PzscltMIp80PoFQGsRhZYiuEePM2KwO5ZLtLu5oF/9zFF51H6vRQXeTG1pVHSqYze0Ys50A56NWci3H2tGuTeu60xSDmDG6W14utqOBKbY5eiJhz4XiUVtD0b3Bf1/kcAFvjUgffJcii5oSoKis+IYTzTV/Myn216JxHbXJcOqwjrEShcym/4mVB2xAEsSMgn8giss7QflPNYi73If2CwId08GKt5uSQbjtlzh0gVCUlAjsgwhj+x8pA3yH7wHWdoJhbx4YQthZjqehnk0Q3lhFfU3ZNrIKOrOdVhMCR4GH+hTyVoRjgV38TJtVnXC+WSvhDwwS2ylk/+bIZZ7hhJlDn6FgMSz0OyTOYLZwdsFBZ6mEIiEjjSgzbhdr9gOMcLqDJSTyTpLPHz2Z6H7f24ykD9TeR1W3cUhz4D2behXfdW22ZxCrCnTWmRXdDj7zzCSxXWdMF1eqHMSpsOcppCwoinkoKyru+QSM4kYmOKGR08vrY7F3tUTNKj5ni6dkGd2at+xpuIi0TqeWJ5g680SPLhohgz2V7/Ij/gc7O6TZ3G2D9sng8lm3qn+ryrQHPaOSDHDK3qxwjle4kbLRYnYeuw3vHGL0MVjzwlERCst6TbOI8f33HkW+qzJuXJHyg9Yg9QClBbteM4YMfk4KIe5Tepg//4un1b4X1lw/fTPk7LDLd7ipGxxOwKd1fBdAJVFWz36GTd+W7hTJ24xcMx8vbPeL+bk3KnDYhJL61plk8dymVxaiRQKdOQ7jFW1xI0eGK8t3TLnGjsj2U/07SZYWH3OzHBR2kPwlXut3VR4phwuE+4NKxrSC0eVLLBzP4agfCaQgwi3uRilj01mbhavF/Ge8PtWC6/xpHn8/mQud8RSJNZtXglDvn2/AgfAzF4VJrvayhdF/2S3YVCW+XcowuFA9+FktjBJIFjUuGYAA+ISDBFppwSo6+GarSvOz72DiN0BSDVvaGePVFmoax0/pHWoWo9bfYlGunxMymGlMRty/rF8fmdlNn/AUbgKSLbvKt7/k1o4W2UxNj3fruWjV+UtnqaMTYy9t/UROGYX3rBIz50mrYsSpLRNlZi0mGGPGTSZra+mxygnGjwwCREAmLNHCT6SQyJlxP5Sn1TzY6zyjy2jNQjNyGUTWeCvKC5gt9lOSzqULtu5Tk6FqvvCuyBxjBuzLrW9DnLt7BeG48fJAjV0LCtT9T5z6/PeKJEVU74d+XdZt817xqQUw71mrBeYZ60zzVD5nAG93vg6wkxpGVlyJH2PSB+h9WZpHP1vk31efS2QceGwzrXdEcbYzi7+Jt+gXEmOzQxr5ddwtpgrmkSFwkeIntLKcDaoWoQoKMiM9CIf3xZmwVjP3wGToAb1r0w5nls1Oysy3+niqC4PkhWdDwAqu3RB4QlFlGf9d+cDNvwa4x69BFFrG/ZJDmC5C8Y3hdtl5goUK6pfxn9hG2sRHgvIcpyVwzzAZMnoTJjc1N6NP5S6WcG6P6wvLaFrJK/1ZuVW19aaxicoK0CqoURS8VZNcv+UX+0o3iBWmDj493xQ3fSGPF25PNvMFPkLbi5Lw8rBEFIFnNDnYzI/X/Hh/kpSvd+Hy84Z1tGrRUtq8GfI3DspF2pQhlNDUXeVxediRYHwzGJdFCiIF7QfqEUonZNa4R01rr8Z2QdKkLQ2Nk1sU/wI4JmthCqqX8dRKa8rNv4NhloBA7qEUHlVAUvt84nrr10plLwIC79tg0HVZZPCBaG4Wp0OswdvfonIN01ST61yfj4PToNo1o+0Beft8GqKEhpYhEmue8iGwt/uTvxhHumyv66yqH+V3RLM2176pXa8fmbT+JmmuXA6VY1lGDKFTd3IHENFH1IMf1DABOR/fa55FmgoOvisU2+cFkmoyYrhkNz8zz8NW11fLM9w5vj6F3LLjJtoJh0sCYg4SI+nQ8MfWzCzuHTGEcCKBX4U/f52S/+TR8cZgjYxSk5WghbbLAVPa1mUC2x1KWqtxi029CS8vuMQhsUBx+up6pkYbwB+NVKWYJAxJYMUqo8eDn6MtQolorwVq7UUMW7g0teNGFA9jBzlwdBhIdsYqe69ye9n6SpEiiHexgRlxmcLiXXsbTnyWOOvCyjwstBpsyj0r4U7vwyH7ASbJYeOf05zRQglG50RcOSgsjnnDMPngdE8Djn2WXckP+GxB8qVRpZiq3qhLM2bmpYBxSly/Pb6vOsyMxbHIRUw6hgrqTKEc5W0dw2dRkhSrsE4XQKARv3EHpUa7QM/i9s5duIX6Ld5OJ0m1w6sm5uakbi5infiez4g4JeZ0VVZM1VwCQSH7y2tpYMPsd1bg/v2bD2uRDpjUdvI8Wk9/ZZjJs/6Xf5WzUF0poyENrHrccTxisGDAqzo/MnAmc8+rOOOZRzel2wFvuMRiFTGtQPXtrrL8GmIOIgF4Ye3mExoh+nctmJAexE9Tc+7E+bjCsQLUSdilT+PW8ldX8Z0ATk+BLwXUgrHiaaLoxemVRi5vKKmj2UNDDxeurzVQYWdvKc/3hjj2JHRquxRhnsdc+px2W6J6hbtSq9VNdPbyv78xUyNLhaPJiiw/1JJCTByD2zevprDQ1ntdawBpsJsQJvmKSIQgNuI8HmGwePCl4nfbt/wkfR4tcaJ9qCiVIGhrYZ2f1Cg4Vpx+Jhlv5Dy6HAtza+n9Nx45IiCN+FdEyUdM6OyCBIVL48GmLYwwFG2cMQbhKHtxJpy0umucbSk8MiYuwWtxWRmc6hmhSJpP2IeDch8QStBVPipSXcACZ6AcHpOx4vZbqWZs691kGIIV/+TKy/O/Y9Ss3slkDWfvwgsKGkxH7er+DVhoFRV87uUiNiqESxXzi1PB57r7WYtmtn22foHOPR/N3mWX9oKtfKLWlBV4u8JLCfv/kLfpw3dz2bn3tTJ1qSitQB5gCTa0Ho1TNIHKDYl5clOa6gKLR8yNrzD3ICvGEfLM4Uk3pzjrxCbBdMQtvMvGUckqIkKgNAJ1xHGqBQDtzqwQB/YRj4nYiJJVOEAz4NkKKxf/crTYDdrYGZ1pUndJz2fxfB9YTzk1U1I3VQdcAVBJ6i/ctQ6pT6mas1BrKjnNr5815gKTIHag0RYcT6wW0z50ZAWK9mJjkRK/jxcM9r3H4CHU5rirKTjB+uC+zDct2+7D4zkyEktlAO3Sm22URvBoG5ZrQhM4FabyYSk3IArP3nVwo17u6SP2JiPgh/q+SJ3TqqqXevgUqOv76lvljfjx7LVp0O9iplEl3h9XbFTUnN0WL4xKum2h6jJ8Ea6z8ygGf2CBWDmoRNMj+Rr+VPINz8HRebLv42rz1qAkEhHLII/fMrwNjWVKkc+JQmtDac1KOw5KEP3wOwf7GJNQSXTRBqKNrLORzXpRSnput28E1QlF14XRiyXFq7tiV2hHM2ppTW6ocNLgHbOnUAI/vtATZY6kc2Kkd53Gp47POh7vVg6c1RHT5XwymN/V0Tc5kpk9Qk3Zp9vKOm23s2VDYQNXQwcVyynAjDy//Lhr71M+YX2eGGyKJ+cdjQj7FE0kdcnoGsQ9lnJBNcowTtmScqX5tmNEnf3Wdskyoy5pTJEJuX7G1IgFBCjbZylaP8kwiFt0P50I2IWB7zxKuOJObkB6QSBdti3QWuZ8KsiCQLlcIcWIedBDceMNb0yohiH7WMy7aA1mH/bsYPRSTHG6RJU8LODREKQoFA3UjR6EDLOKENm35D00Bkv/zLzFbFZaTqSt0KkJ5565tU4vv7WCDeokHn1HwSHildr6nRqUZD2pkdaoddC9qPO6LtVHwg1MH7nguckvtmwm488nnSQN/awWl42H8T0bE+uCMdQRLqN02lj+tNSUC+9ykMjYUr/faYiq80UEV75rxYu6ktxMDFzIVH8uvKNW6S/1rANsEIgNtNwdltrRoV+AHzE40i/zAr9bGnGSct2ftzyNka1M7UPmm5rR3uV7D3Z0n0saz3PBF6czyEWqaDEK4VDBLevMkJWWOMSVQaJIewijvgPsNfvSkOUURKbbZ5gi73zmaq2ojGw5fYcwo3JM8daYr4BwyDmiLFzSirEYP4NWaIwfjxU6vMkmlRXK8vw5bUpjTR29Z6VDp6J+cy2RHLMAX1aM41W0qcwKeCcsPXrGsb36J7MZjiHeTqw2Wo2tNB+UEuXebyx3z7jryYtnQiLB5qiziS3SFjvA/2AIT45MUbJ6aX9xj2qfanEZqrg5JSAS7cTZ4sPQysU94EwUC/W7u2LAFOB42+RWJ7CSq/z4ylnfvHZXuILcrYKi35hBj/4YmQoZWM4lwyuLJ2ZffPYNH5QnK23biiA+5uCSACd/0teVhrZeIW0WUloFgJGUIKa2XXX89vBgJb+4GPjYA2BbfIEI8NNoXoAU8tICEG9i0eVEEWlE3lwtq0ZGf0ifaLOhnK1OtaAjIdhf2xbKryzNcxjUTJ4XOyx3vWLJm/jh1qgV+YjL5Lyupk7aMuF/Cwwc9ze8ItO0SrK/B96hvsCDZspNGfXu0RIZ2/3UDq/RSdZbsl900TQNsfT4YBUjZZ+cBo1VNf3ds0n5fcc1+Wzfhjd/pfqvuGPS/eKfd8nH0X9eKRKzYwyU/y8yIIHTlwD5nYRUorzLignQPmqjd8vWvsxhAStZToRHK6K9Sx/i5SgL7XccGJZhvPPuuNy7NTNUwiqleQQpuZrglQDQuHGMp3F6xxE0KUjFvtIK5totOGP6JCBOyobmJcBgzyILMTxR6DzdZDw1s03SjQEGBRW1bDxM/6d4hmXwldqN0/olPmAtLMJABdWtMoYVMRQky3FQ+XE1FXOabRiGnW5JZr4br1g38F14Uy82sj+4wSiQfHF2DyRVwIuSRIi9fpb/6nb6gvltqtA3hH/esDo/tMwHPBjoLsQvooDomLYEHbLO5590lGxVI/4igdMg+raVLkAc2ovirEhqDeDV/V2+n+3kVDYGTbjaecssj0NW61Pqc5u5oVRifOnbqC97F52yeehZ+wpJXG4iZ2SaFFYbYLkhO+dvHwZ+W4YCWsy9wqFed6PTxCDXGOMr3dKrirJ9DhfSebhdIn7e3L79LPSgI1ZUemDwsjw902eSHR09nxAfAJ67KHm4KNNWb6v9MTb4aRRwvPWLdd04z0UxmcMr8zaFdBl2/EzPHLbDcEodf4quY0RGSvT/GvabmAj6j5PMioAyOS0D1uIzXqrc221LKQs5z37wQwDZ3MKsm6FsyY6EltB+ra17geZu9dmlTACdve+VQD1Jkmjx8jpIqDSsX3fLhhUFCriMQr/OdVg/pAGJ4H6ibwB1inWVJsTugXkhe5WmRfFKcOYDQ8fjjqWrnc4gBgNE8hHLXGtBDqiGByF7bh5qeSx8772ojOhzVDYP69S/z4sJo0nVRdvMcgSvwnUxnPhFVMCrxlYeSmpC2jp4NuYN4vBSHVmIFTopTkFDtk9RDPjHxtR1flWu3jvkFyxiLvPSgszZ/fZffQL8Pt/C68zLOhbaV7aVcU3VrxUNFDyEH31+5I4XdlIZC7b5Nes2rIpFnftkDOukkNGJdVedlaTfcE1L/Wnmg0n4HSinMijO/kO9tCQl01yRo992W6V0rquuwC+yLktH+l3NVx+49b0sJtsfQCc4uHOotdtLWBuQj7kI1xVmGkfhKQs84B8nbc9BpR3tUFFZOAAxhR4pDkjb6BC1KHMEWdc3Co6lMkWx6q4IWJjJshXf/NO4S0xmJNf4/k7oPnNb6lYkp7Qan6y6FUKoiiyvzvGAvkJTFVSt7iGD5wkYjSuFSFNBURPPF71lKFU4yrMPJD0ZTgZFfU5oO3G3BbAuRL90Sfz0UQeo3K8NAC9ezLAWUz6gBzwkL5RvcH0zlpWzRoZwTOMJo6v61MYG5vvgCxYEiia2OKslRqovDps8eczBYkzoRiNwDd9KEk+ZQZlrLVwD3bkrfQj9200weBqeCCLKQw5nVLzb/trc+BIsLN4AyXAPiAW98djm0ZZZKBREKX2PYo4Eoi5cFm/vb1ZeDCZo/VE2kJ/lrX4RhtQvKE/SbLcaNaXyGiX86O3c4gMI65uQJsorduUiNEYzA4Pb0AdiVdilyIHFB+pw97RDAWCBQPXqe2hA/9VsDhwjPyNmaQ2ZyzVymRH4nynkfVDIlwRbRMT6Z4qURtB1g0GzsXVI6RZeG15JpClhP5W9HFrOQvAy5C3wPXQOg34KXwvwOyNFKKUlWQxcnc6Vv2CFomodeLO0mY0HfZToyfc4UmJGDmq3ogwtHuF8iZa5iA4f4rWIDogVQsMOttAsFZMpxijrAcIDJtvfFAZSr+CpuGg16CLAZx7LTWubQeJpQycp+q6nDjlMfdHoSfzeJnMoXGpUkfif0XP4SBvpJPRfwUrNP7e+pwViZYrsGd7x9uJnaj00Ma7v3rbDuiYiL6Vf5R3lWObRAAoihLtX34y7m9BG+dvywLgnXzZoFn/ovIihlgqKVki+i1GwvLbT9UOCYWU/84akpNdQNnok7rz9RR2gyOzbAdqoVyhufzjFVz4PHLXsf9xOaKJ9aRp3gwsaH92RYpgBs+Qu91lDoEIHaaMkFs2lRddwsWqMnx6nmiPOAt5tCLGLznLB9vZcBK9qZM7p716JuScZzGqEsEpWulk1i4Y43hk7fEQIa2cA9N/0OlFWJi1H4kISPtfunZ05HN3/AE6GWwk2fDrv56TRm5byjGPmVMbmzSQE43hd7WPN1BfRk8QgDiC+qMvqOcln5VCzSBSrLyAIjrIX34eWU9nVb2UQprgDIbWbhJjQ3o0emrPB++EVuG38ZWiObnqFNh5VOK7xAzFcJGEM9JbqNW0OWk3RStaZ6BAXGZg0eaQ+tKtBFFu1CGKZorc3qQ9k7s7A6489yuER4cJqOcKh54ehAtKQTX9NtAljGO5F6UFf3Cz6xFol7tuK5deibgSgAL1TLI9tmpbEPNSWJh2GR6y45OMZTiP0oc1ZLBRPs5o7tp8YUPqnnlJx1K0zidD12P4YOjsIcNwxM6ElQ8v9s6U3d7VTHSmnvCH+RlEKZgpOVmuTqU4GSlhpEFtrWkxORT3cj4JI9qs5lcvsWLbt6x3SI6cnorJqzgQkN5rnfMQM4CCjOmSWJe/+MIsJMFaT41Nd11bMbRrMY1y1/ROYp8OuX0GVyXkP+PFkG7qWBEkxvCEeW7RyQG1+RIC4wRFP6Ojb21Pcr8VqjXkql0EkbPrQ+71LxTOljGt+sNrzJ7r4tWfIlYGxlaF9o4MWaO80rWncvYF2+HUvs/DTg7jVKWNyqXAzNqjrYi4GSbsmt22TIZAZz1zgRBH+NuDGM0QYZhgZ7MwzXWusVarrhQeEdt35NCfuN20uPOWEd7Yi5eedHJ/gacZ2fHaq9ng+TpTFkq80zC2UyeEgnu3ispxe3rzzjSPCCHs5KJdSVIsBWK0IBLp/b3v/AK2j1SKv2RFAEQMkW2j2FdEfrkb08SORyrcV0aVutmWCPfiRxWAaiEuWthxEOHTHvM9538fdnpaakEa6XU0Sdf0m+pgEyXydJOny7V+QqFjz7utdB+6GE4yymm7i+3C4v46DPJl8RUawxYjsNYlm96o6yZn+KiL0tUCxiTQtRoqZtKlkBvdWUz+p+3cBV+/uRWeetrG5miplHg9I3as8emuOz3jd/U/m9GaCIvEa2AzX7JP8Way85dVyhzzHkUVZsveS2huTL/nAMztvrgOrg6RTh7+VFVhd965KzwUmETydu/aOsfkvtHlPZFCqZ/8O59/Ckk+Kgf7g038bXDhvxb+2mvwhEE4xiRhCy7vbc4gCqvjmeH7s/sbdWoX4nwV7j2mVpPz85ToDAFN/Num8/n9qKEtE5vKvT0HUzp1Odui5HPUfduNz6wwYeSnNHfTo9Of0JvCf8z9m2Sn4BBbFYwd+BdI1+QpMT3aVHyQ5uwfjuSfDhzIl73m+WY2hqZeegNWjewRQu9ytQUBHbfJ+OWpHOfDCTXLXe+7eht4yCQ4YgVR0RIral6indk95efFElqfqLzH4z450MsuMrwaUniSfQ2ZlOXsQHImQHUSagfXY6TjNPDWXcUoUnD9JwNU92LShLZcbQWhg0zq1zDOXFcyjhimuwJig8IeJ2PZrZoV++xxHcgx+mGWGzoktxW4a9/Q6mcXDWuTw3fXG0WJT032Ac6PhUE0n4RRsVx1X0wisHGi1gyskFD0MCx4BebDjgu98kSLyOdw7WXOKvjFQ4yuum++wqPHulgqwqj5wDbxY4rDhIlwzXvDGbQ6u8xEM0wj7CRvU7LaAoiXk82Bq/TMZsbWmNSFR5LKSpG9SDlPpWYqONOrsbskAm4GuIjnAIAdfmsOhDXUfRkd+ftVJsZHyu3gk4izI/W2GNZ0ohGH8pnPVx44bERcg6yjeidu8OB8Gm5uGseBUog2JLbeB4yM0/eFGeYBq/40PHKp3/0z0yzC8FbuKNkK+iaVJ3gaCobqXww3FcTA3RXBqroc8spnvnIN7QknYh2vUP2izyBzSIxhdCGvqgXIJJ1dAkjwaOq7a1VTZxulSzerZqwgLTpp1WPgXzCWyOJeByMs5Ytr/AtGkrnHvQN6bJliVxBp7rbJrBcfmaXUvxafJP5o/8Yl1I9oyZEM4b9JS5S2aIxLmYRE5EwT5Puf49hH9pIZBmQvlUcsXpe0FWIWpq9/HYRo0PDi9hh0MjG+n4iUI2J9eAKRlPtORXWCEPkFIKg3EHt5chx3UeoHgKQEWEwKDHJKcuXwCxrI4Z3V+pB/jtem0LGhnbP8Am/zS0hG+2fOi8pRHbJiUTFD2xErQOdID31rPJnWaiEEkcrjYNPkJ48/K6R1WVUZnIaB+ym4SD9lLTyrCHB880DrRw3kjSZaXQiSY645tWMHIJaYXEBEm1mQ4z+0veZQwDby5SZiHvzj2WpzntuWqJChB0hqPwivgxIlbxjce8U7/Mvby0wHUfmHn0mrsxrq/8fZftUVdbKuLoIzbYPKW7vTEIbzATPfHNpT5cY8vXsIQUVyuYi6LFxZv2AYAvKP14wJtlMWkzD+dG4YfXmXu1rjhsLiKDJu6lds+v+pFKmrj5f34ap/iYpx/lernzCqqAFo0jKvJYzec9rVNPlV5LDJSsRZjc7Cb9AC8lWfHz8Anz3ycCqRbrvxQR22h/a8Tf64cEnt6J0pGGTz5ZNQDZivAPAf7Aq18t5OMmqc1g0PLfTeIWnODRBnQZDT3mIrWYc6DJcX1ippxtNiWat0fuvjr6wqk0tzo/XlCAOJjoCegr4pKaSc6gyuEWQeeqHs839FBY4Qsx2FTBFVujk2varX3vH3lV+j1+cUMvEs/g0hUKQ6V6YZXed2wsKBUmfcofsXfEh+5gDYM9oUDoNdH/OA0bwmrtY+493kNh2IPtahIw8+wF/UzBueJYuMf5j78pJKzKmMn5sB0/hWqL3wal3HHQjlBjDVpLX9VLcDKmMu7kkkQZk5uvTwo6mDAclVVVVvt9m2p6//gPkbHgBqd2lc6mIgB402LCEBODTfbbqVR/l+Mq/8CNW6b7pimJOLufcuwLEh2U4lklKIZXh5BDLg6skNCTzjcOFHNHS+C6KISkZjqn0HzUTqwWQn+T6N3lMqLSRtrvQ5EypV1oW9c+qu+BGCETLIc/oRGXRbgZ34ZZltCzCsqz+wPyfXhbsBGewWrgSnWtfni2WL+sxpxJYjZKG4EN3GUuz9qlxEDmqjRAyjUix9lYuGVYuSHB337FXteNIArFmyB2Vo5HmTb1goG++thFupO4gbZhOd2e5x/n4fg7Mg6WO0Hcw3O+Fyx3pV/3dqNuilZjX05I4PTomXQvhrLtNrtDoQ0gNI657sAoygzIny9uBMmme7BJ7Xo8rmZZLUmMXe6OEfrDuaGpnCMIFQwsV/mectCxhmqeAqPDrMoT3l1vSgvLlvT3ZeI/VjXcD7qsH6V3LFvXeVQuNmjDCpx4hCW/Sc0pl1PwGfMl7aU9ma6QAaB2eYiJ+7JKu86Vld0jpiopSv0MIZO0QVPHHv1RLnak+AHlguirjVh/6kjQisBnknEf0FEqt4Ys4miJc3RPyAeuhR21T12LDS9U9RE4fk3RshZapPOXbPCcV8tvcVOhJQYwvEofYT+3KCAyJ4AigohLrnucd4pRMfqiCHSbMB2/S/oqDxWWtfTA13Thnk2/e0BNgdRQOrPlKWtUxxlVcHGrl6Ik7LtjyzW5ZuzhT0Vvm7859kYayNFMmnTyIJAJgycLKZQtwyQHO43CzQN/wszvao1Tw5WwbhGqdXKSdEFGBwlQFTUoVyIRD+Ueb9g7rJCld16oXIO9S1h/ZzgxIKnFZQSLYDhlPiqSmnDR1Uu2e1TmbaKrL9hGP0kscuvjRqGw93vLQWDPsGE2BNJPkm2qITVvV8BiayI+3WmTl/rpy2LCDPMVerDQYQwaefd4vAGoe4hbW+hvCp5RjOd5f+KFGnAlxDtsCA5D+8LTpGTDID4hbTzTlG7xjQBUOhSg6GVqYqdRvAdkWgXs07Vgt+rSS8qwFfTKg4pvDhylTjI3hf+efiEBkMh5t76dRROwGux2NtGCmDDYYm2DiUPNml2PgJCSCmiwkcYA2s9pWt/sRYipsQe4gJAeyzFhH6TXmjnR0JhkTkMDWS2cnf5oqbI4UFstU812T5/xVlYiwgMYJ+HDZR+s47yQSK+HinvuKI3D5oAt392BMGkBB9z32nmS4ROf2J1LTzx2EqzCMXl0/eiRtdpi5A/Fp8UEO9C31RKVRXxSvDrHNU/yEZOUFc1hBHhbYmOyo94QF1sxh42MVuks1bH37i4can81umg51heHJ53MRyr8G6b1JSS17Ncv+/JLqLuCPGWAKdhTM8v3HcWobP2pUbFOqYlk1D98gtUuTDJwuQBX+Y07/+WGRr6T7BOUvHt0eXWa7XU+23T933Vzys+jfwWf3dcsQhCiwOk1D6XWijRoht9kmzJ0+1P0PlbliubTapT6SdZyOCC6OuRBduKv6AVlg2NgStiXNeyUiXKbYNtDAfdPRMWtqK3z3cqgBtfVh2Z5u2K3U1Ij3im4cb9wTXjZ8evnjGtffsJ191H9/76syfYQEfhReo60xrWZ7t3xL7f/C2ckhdhCwYljICExJQ1NK+e/rP3lgW01J7v6gquBlXV88Yqi7jAVZMCxLAhkvZrSDQ1IJGTKwQWIx4pX+qUB34pu/x4c1mdbyUTPXpRjB0yTNHT5OizmZga3J5roqwlxRBjjXh4RlOJGmuSD8pOV2WDzyi1s2OvcekONSqSi0wWjN2vORO+r0ioH3+8yr3zN7LvA5+EKvMxDKfserf/D83kcm5w8xRcMu9OVdR3KXO68+KoQYyvozmziqMEc76mPxg+3cHwq/c1h/Nq68OknokyYyR87lnEiZRAma8Ds9kiU1W9lHWFQm4yD6PwWBBbWqc3ZVnd4Tca70S2K9kGYRdZFyZVoyhAF0biMN1TMdqRHo1rRbIlnl43XOE+L55Bo3/q1QDw0j6lquwzoOrnkCr8EN6HoYXDhEm+X/hzuwevUMcybmJ4dzj9g9uca2HMneIZiPPeuPW4LAN/DPD4X2qZwG2WNVrtchbzLQUuRGcsHXP/MpB6SeTs09K/fPPKLVlg8MB20rQpdKpYPC8YFwSVG/F/6637edBOjxC0CE6Ts+ZAdinyE1l3CgzLvKcAld4l3l668EhkxAfNn3YYoHXE2izU8tocHUcPRFdeEwfum/6h4awbqoZnmZkbqJLp0O4oWNyqacqGlopYAG+fyaE3o9VSTrfRzCoT06mVDNhnHgCL9r+JMdl1Y2ewLB5/cXZHat65vk5ihP87tQGgi2vlfYhvnGsMeazwX81blqQrl8D6VkuofDG+iHn2WBRf4fs9NFZrwEVOGHPGEddfaMtxU59Pnz1DEdvOCRgV09d+gzOr+Zfp7EnYheBb2iR0YrLIjlIbz+iYaE4h8cFfhGcbkAkEueEEp/cqdRiZMUoiTdbErx0L3breDAtBo/Diw5m29z9X5bSGqGOZ1DSQBLNJG4odoIv1r5riS7Ptp54/MUOx7MmMq291PrB8o2FIYgp/LsOohtnovJcPbp58PwCj5YfZjao+wEKRJfIhUOPw704WBoyIqUFZHbOcOPRMvinrP6EaruIP3On9/relRWiR6wtuzFIot+Hit//VJ7ssAVpDo+bUbN8bMOg4wqBwDnhOiXVvgmLw85OVMx2nMklGeCIVddx5tT2bSDzQWTqEw/F/awlc5g6xwJFBBq9LDBFChzbZyECjILSFg14V2vtGcQnthJmlRpOK7vxW8UIUNSqpQui+4LWpM4jOUuRpE3nv5hcbRew9Y5yHZzyH6i5Xaci5/xUtlKpH3Fnb28tE25YZOs5FeiVpMfUeJ1VFWnXbrFUqGcrsUkUWktF3syy+Jsy3oa/s8Q4y5fNE1HAN2za3wSh3BEQ91RCb34H6yy6xxohbM3OLEL5a/s86gUraqYdZ0It9B+JrzaJXWpKfbf2C13KzMEGPvCm6WyaWWZ5R/FWET12S6kT5bWqMGmb6D3bA8BgXnz5BmYBQQ6mYrZwurqRPavqpoG36VlrpT3e1rnHlT1udvZlFcY/ovqyG1RJZSq7bvm+ULpCjAlT98JQ4c+w8LNf2I9ueIMULTHYaqbewrE+fl761f1JeF36Z+YRAnPiD+/dYWJ+7vo1+BznDU9slyToVbJTu+r5GtOOG6JwZNglPygBP2YKkSmwd2UcQD3llq546y3hBEYx065PZEBVUa42zZqsjooE11v5emNTvUaqExFHOVejXJk5MJRZJAqE/4SNtj4LmCEmwj9CnTpQ+CjoEAHe1SEShOX8eLSPE/I4Vm2vzCyGO6IrjGBv+vgeEXwQ60AiPchC/HYWEjxrxqkzYJfeB5Py6ZE9Ztm0Ag+pfls5gfHx36+qd2ZrWM7oRzkF98gCNi6QmaPI2hYx+sQyk6R7yXIzdFFRrke07NdMpejTUZQ46rPnUF42RFHqdATdRMZ6oGb1sgBdS5++O+RioTPDtfIxjdUnj9ET5fD5Pj65qkxAc6LMa7+tipMLa+PaMdxFnfnknV3EJmsvtf0fE8tl3i76kqkT9k6ezswU/Htw+zXhgUWPPWQO/XV/ZuN2SbH3mPWoylLGe64w7qPBkmtlv6a5nb53zEjOClx2GFtpVbttwiOQbGyJ9yZJc/zDVn0657rLV7f1J0YCxjUDWe40Idse5eR3EXYZ/JKmDKj8pKPZ6smDWu5s5VTdM2rFckNEHxH1D+ppRMhr66hViJmI3T+NQHtPyDu7EGtDld+zb8V5roHSrjpss7aVTcSF0cRNHe5Xlbfzzm8baExCeNnsw1VA96hEUQL5p4942zvUVWzybmIWSaoRxJJMEOuAp0gJH70fDLAweHOm721+8nkKrJhIBf+i9KcON5FLk+yzR3NyNyt/l8JmM9xRS602+DLo/9nWduZA1UneTiQLSGopPdKhHnzDOTd+vA+I5yNP6Jm5cN8yGT/yeyQ9vCUP/2ZKK6KF9pQDlL9SoGPNM1Uz0P75lqYJJU3Sq3LO7X2lnVv3fyQOflGLnQizCukA4amjNKpkZiAS5tumEeQ3cj6UBQgf15SP0Uc46YW1UTPSmyt8Qksveno4/iaO5u9nvhl07yLMWhVQrpdqc+PWDxiqFgIjSoAbNRTp8sJhPj/Hl3+gDkaHqk7TyHeARRK5bkQnTXgZOTk/lAbj+zJuxizPC9LkYfcdK7kiyczrshcgB8sUuJvmzQ0E47uSOMw14m8ML52hEYf+UbQmXEwscuFlZ4epE+zEe2plbnq247HFwfY5B70yvOrfXE8wgmscTGiLisN/wdJ9u4ZzU74HYHjdhVAepXZ24ACgjwKjVKwqm78bQ5Ut+ytAYFBU2sepdq2OpRIVAX+30mIr7v+cDo1qK3wDMgcmCN5ZPnwyM+YiS+ggEaEmhl+R5uUe5H2fi6PhQTk+40cxPN4ESoDjtRE801YNZEraq2h5ml6NhY4DMUrZzo/VFoiwimOeO9u/SUOvZPMvg5bndRU1IGB8WrfFTYXg8jcdWfYTq1NDa666XxcBoC08g5m8iR916HhiDJtzdGHANzGHqAvLXeMgwozGAXaO+MIG33smoZwRX7PcMcMPptUT54a9JMHUFCQaxG7GkNvvYmh40/qTFiGBxa8eo1tmp+W22RsYdcMeWMV/u5CBhN913fBBs0Pg1r35UX8EgC4Ym1520yu/0fNs+I+0wkA8oqY6CQVDs5jFlAVAdyxNyZMS9xRr41vg+dX+0NtU4i6+70GDhdJuSHScBj3T++rNNmT+2TkDMo6+B/ToHIsR11+wf7qXIs4sl13g7hFZ6HoJ6HgAeOyMC55iPCjr0ZqArfMlCq6oC4sHiuuY4/61F496hzAGBX4mN3DOMZn20gsPFqipDDacGBJSz5w4LWWwBLuR1muOZY9Likmz3tPeXPfUno/TYfv2IbkThLdi0Fp5ibQEaXv5pT8pzQcrQhsm6CNarpGfmLmnsgtS/dtwVODK95iFmN0wdVRCwR/+H7cCRdT0bQRdOc6D7AAOV4IGcnKCL/hunkZOjCpapRYpxovIpzIhoelptUCmsLnqzIQ+3a9BsREHUUpRxZXvw9kGPZeYi7omKyzyVyuOjJQLUCeC7EEFQsN8szc396HI8eLSBBxCH4QQ2L4VpF9o783K8yIWkK88R+EqIl3HdjZVBIIhybMQ1A7DuQpWkJB3bB1R/ksjZOJBoW8vg2cFTOhmKXCItjGQ2qdAEPI6gcK5k+ZfQAmznKTAFIpb745mWlQwyKHT//SUU/lvdGJbVyMzNUnRycUol19l3lotKaf4zwzGe8Mr/0YJNt8K0PqqUc4TWDqNvGWygNr9jQ5CFtWyAcj5IkoGWhHRKYEPt4RDNTFi9V4lKUwXnKDsLl7B/khmU/BZ3hQ1E1svZaKTDM9TEHS+KnGGgBOdnat3KRMXMVRgeA86jJ/6DdYFIz5MWRvMwvL68zkVWwSOr15prijxRe3yJUD5guykyVS5ArXrFUBYBYA1mux+XJAqwxBcajJNJ46T2cYnK2b5NBP+UblBwCeAYcEELaXyQ1guhgMtkEjx0aYRXZmLO+uJmh1wA5tI05u7PL9onT/WqGRsEMsaCX14cR6v/KhHQIHXHL+NRxGXcix1ENnB9Ur48Sdhr/jQYqEJcs0fL30Dz5Fi9fy9TrTwKA6x7jEeKhUXZCQputlb8gOcuD4BY0BQAHgMtqQTNQBlwW2WRNKcfJ9rYEVZuMegnBlv1TzVK2hlaxg/xvAmYLLTjUPIVtEwjqGwt1zmWvOeQ+rACq8nPAE+sDHbKF7DG13tb+/yYh9kWps8eGB0mwBj1VRVgccnue+DLKu1OOjlFpWdhYYCiLujbQOwbAbpwUalfyk2V6nbJVwyGaZlPz4vYD+waoOWBGvjgYzwHrEgkl/T9YfWEoPrE2of9PAIhxxIJiu3HI3bdk42lRQm8F5MktuuYYB8qOaxY7HbHABLUVwg4NzWFlIfZx68KsCG3oLurpVi9Zii/SJ+RdqrrE5SSKNUHKo2d5FCjoxch02U+nfcmRYVuGNHGichFHzUt5mTd12HoGQtGkPZOah5Nv2tCFRecUsD35hMchvChMlMdHt6yAH6qq0Rw6m+XBtbMI3nhDXy+nIf5qPzuFjApRWOvj3rStnk0uTt1lGf9MWwSYdvrgyZoC3TUjeviJ204lr1zcDMa7kAWQXl8vIwjSoT3FKcoa8p6CqXN1+XRV2x4hLWvHmmasSe7LTT5QAryN8CO47APDVEJoywbyDUSiBVwYUmV/kVMFC9lGKbx0EQW6pkGMM+EEZNclSHFN7QJbhJBU1aZiS6lKtD/E5Oyk9EHJJhHDAFr7PoB8vWmU2OZnRNaMLF1JK/gltLcF2/C1zq4iddIhL47nTYzsgAvMof2ti0Mi94YWIUSY/0gwHKXXVFoxNCIhXGVECx2kZc+HA+YTdYcIqnqD5W6r6lS624ukfOVuk5exMiXxl1U+VXpTfq5/hUprP/ALab/d31TUv9ASFPE+LzzmSoa/jLn2DvTqjOZNnS4jblcSc1DOQnoBPF8o40AgxOIR+j0j3h0Wfd/XqFm0QTbVi0wdIxosGttJliEHDVjWskFahsW8FuEWY/Lwx22BMlGg44PWfirMf48AgaeoEFJeXwKES7HbdhlJfoZ6+J+XWRVq5gBLmhmHFLeO0pk/+2pqDJeebALiWVPnixGIAkSBqXjdOAHAT+g9L7k1c6FGxS58+hfcK69nBGXJVBs1TMsKqeAal+cbMO44fpjzgzkEiFhnolBHT542UDtrZ+HNbgLvMwf1BAtCvKPwp++bPM2a4HtNN8Jl0KCrj2oBiZUf9nxKXUbed1SDDXAyztJO7TKFNcmlBSQiufexL3kSMUpsW68fgCYEyfA/kPBlbqNYdVbD2HOoDXtSnxcv72ceeAc0JbM4vP0dj7njF1bUkXsecQBH3CHDMrjQ1yWJZZBkTxGEraDpS6SIq0Gzwl4tUf5jKymQmHlBivHJyOLw9P7hPY0Z1NEC/TqNGr2d0kTSD1ZzmSM/HA7H+8zFJvp8OCG5Lq+nPP5Cm0gzihcd1XrCJh57FjZTWAg4I17N7Kd9aZUoq7kV+yq+tPut71wuZj8+wUil+djY+QukMl71WmKmTmTn3knPpYPAt94Ea6ctfQdMDvDDiItLBAQi+UgaKvkU3FzGo4BibyLA0WQ2UAbfoXwKchbuwUR8O6onTim3FzhhhlRleae9nxp9dSWFjQVzMJzORrPIm/gdlecsGjkf5PhRWwst85B+bnpkOTYIzjpU07ThYB9PNLQMspDCY6TQ1FIFYOGa5t0gYb0RTYumdTU7DeLWXXwp/ZIp0bDkMwfgvftu374dJBJLjMN+UbVWPkUzj9Mt4tpPzsS5I566UeOCeNERR8DB3Ff7nvFKsJFGR5vVprkue8UYmgR6qZtT7P+B2rCqwrwFJCXKttLEWlatmdB5O4PotL0YGiHkq0k1wsupZfrv3Q7F/QUUOjD2Vumum3mg1Q0QY8J4dnLKCP+Jv6xPWI64TxqsYEQG9Hz1Yzu41yWGeF8+Jkn32Sp68onlF61j0XkIkKxieG0XChhFnCrEsq4p3g4YnUidDSrsH9KPzD/jsCQJCPfS0oOV3jmqmjZk/0KsgPjpv5I3d+1jM/eIYOh6R6Ewl5DL4ZrWeTbhDU1+WtOX+xaB39mFHIJfpshAkYVifrXXhjj1dxuFRKQ2adQYEkmiNqiDrKtTf+h5yA1jIWIw7Hi4wlxVR9jF+3EcKY5xEA71YzwzA4Mok2HZC2VRpoIP9I4v0+zNdPg/Vd9o+IuHWUqMVggI4C2tx0JS/OKFZdAoNxMuSGgujI/v95r/pn9kRKm1Auo3VrlQaH6duF2FzAYBlBVsGCUnMOi5u+g5obYEHAklWmpE6hURQ71W6hwitXHM+R6vR6WNmMDB1u928vMTltYwrmHbbSXu/zmXGdzvDUG9XQGECCESmh7hv7jzCQakOj8bbwliBh14JfRWMRcemAByyF5rmqLNCM8MsCRIRODdToZSgt4Oo3Hdr4GVSZjhH/EtZGFI5sDry21PRVDeagKMNb3PAgSere/Mel3hhMFusE/egz8LuyXRZOO+NQyK4NkzhR4yd4suikFbt2LgTPtn1u8fOuwuL7DjhCNZei2enFspirBGTijmUWXDWFa83UJYx5W85xL6lPiaNW7sNDpSK5nIMixnzW+Xlg7ooVV7i1LtIE/YwdZHBZoeTCxNgxrjMaxiyz261kBDgrMMGuBUPXH+eV9ZecFsj214KPnzheYLeyRdskiu3LovgdcMe+yqBb0cSB05nOQAftwHt+q9V7NRvRtxQTyZ74ZKABKD33d5XKknid4sJxuQNl6hbAcGSRffLDffva0ZfcKTqPb3bcxda7alPnQ7HialYpIXR/IBs8oy/KOLK2XmyGgAtSP715ca4cY4G1IulvhFBSg0wZum25SEKWBK6Ojj6o13HJp1rIRKVcDSIAJ+doywKeNn+bU5G6RAZ0ZlGQVEUgMbIICbc6t1XViXEEi+rlaPv0FqPLvJXZWcGIPD9j2h5sZJ0lpYwE35fALBx53G63jQsV82JNyFOyzkkR4jcTRel3LlcjxvqH857Bok+cpUWc0CkhZ9yljCq6XUXH4tVtKQGmwW7u+cS6iTN6t957oFGyXipstb3D9hc8hDS3aDNKK9ffL+fQDp2EpbPR5xBHFXh3zNabb7tNPrVSfM8wumQWXrt857sa97WUESY93SVaTdFc8tsldtrL9Z8fKTWbx5q3aNeWiteIFoQcvvH6sZXSmXt/OVs+OdEjXohnAHnsTr6m1xTJgIVjNv1LUhh1PF5R3cU5nuaA196jy+4iiIUgRZ8sWl4AzTnCEas2Der1qOJkqPFKKDPRNgR3Usf5s/BZD13tTCip8PU0Bmtwg9Zo6kV/2TRgCZvUoJ97x94USnjlRDRVIo7+YvYiOVMjeLmDugQHqsvf+nHiePpOAjNc8zKj+0jegvGzYZvYP9NX0qOYbs7o5dwQBtg2UHRHltt3kjTHQMNl5ilPfRkL+pmA5x4AND+85yKYVaropLt9qQm0biXq7j0jXbpvSsA9nMrdVIY5Kgtp2pQGvoEXMj61un8fEAyk6ffQ5Py/DWEJdnrsuEq9YhPzgO1bnELV49NmG2HyubF9dYm9XJbl0caRbDeZjkVsnquQKe9tbZUp+kStCg6yo6ZpKdZuqDnfW4qy2dpYiRZxAB6x3U4b2f75gVMhBnTTfvklmrI9UhGmpArB/teBmjLcZCbxSRSv2BpK3pcpxDpX3B/8SgxrSYnT3Xja2MO3QCGzIwkonq46he79PZJ0b7ODcM+65nVUNA65Lg+cJSLtFg5G3DO+JwoqPrh5fsyn46XoB8QQu2g2gEdYZi+GHfq6RJfxzT95LMkUpJ/dbVMb3oVNwerFAKlq39llSDc/jCIyxP4KcrcNAQAxgIefkkLpG54O56VSlxqY9uOXa6gwaTIvVwB/ZHpO0MmigxFHVD2wb3rziYUHcUtwzOw/vPTWrClUbuTnv2ZStNF5iWtrdRBOXl0Dlw0Vqk+kyTSwsH4BlcU/s8nTby78kUSTcP9un5ftt1pLVrlKeJI1sjlHv4IaS+Ryc1+uR+18w6g7lA9jdb5VEwnIof51QGCJEROZBOeWtT7J9xNcRL77AaduqqeHW9C+t1dPKX2tYG0AuT8un2BFnWHEy5Zt0uHuF2b+NjKC9ZF7ZNkiDJ7r3qtM0enx9efb52rZKQDiftcfOQg9k1gVg74A+4lVDa7kCsXCH6/1uS2m0qXxyOwJ93b4teX5koFl45HZQ+s4D1FQQX03Q2NK1cvl1wTtN/9mLBphxe0awCO95Czvf9ANj9pSe5OyTpJULuZlLiMX0j+Z0iVDaeeMjILZhvJydxrqf+27WTiDJMPZzpyGwJE6XARcKuvWO2MC39o4vdGUjjEhJWNnz6wC/2Z7RcwRrxyNh8gbTS+lj6EEa9tgsZGWTEmDiZ7vwrKkGSv0NMjsaW3kTor1IR5FY9isspJdJ+SEDN1RiIukBHbEMi40F/0o9VTkYmtsW8nRSPQxAa3d8wtFlHdy479Jb78gNPrDMi9FKN3NRytDCW0MfX8i790QgNniBrnOXVTAa6RGGjmxQPXU/gFcc1PYKwbuT23HXL8WQHw1B/2qQIEZoLvdqvvOMaI3Hd4zWtyKpb/St16Tt7b37s0JnlaignYR7EAnLhtNWG98mFVvCEhCfczqx51IOY3TwKV+7yJK7TQ+0EBhh7CJf7P0AOuEsyqBqlQaZpFi48lzTNRT30wtURm2KrVUdtBxSG8jRdeG9IJjJdsPadNAVnvA0I5lC3yuMx1z73XfPg3W0mr5WTLuthoJkRFSkeXcToo37xUylfo7gOT7cxaZ+ZQ083Ee0RO8IWUMlXVQLlNOXagO+/RuUexsoqXjI/TTt0MD4epLBaR9VmtVmNPO/RszMM8qxS5dE1YcuD3zF1OtO1yAs1bJQW6y+pcNCiqSxaYhHYYXplBFkSMbdnYdcs7SU+aISc/neW1JCfYwgvKl8MB3RpsHT0DqGRWAIYC9AVwNgHxY0tiPRScko16Ys0Rluaxryxf5mAPjWG+NzLarJX31lVA2t7FcYHhFC8ytt86MuQnWoaYGKlrKMaQvVwfgmsLgDFMDBXbdDQWePC6Y2OXmiow6qNyjMwrkJHJKuj7a71jKonAbyP8VPAl52sPs59zGnZVOjM2jpQCMd0mk30ft0aYvQNDBwyzyhENzKY/PUojgQi7gBO8ZFgaW9uwDO9ZSiUua6TkRCAlotDA8RZjXbh1Wolhgs7zOXULH+/L1JgA4y746n5Gauvfa3BI1kfGcs//rgzAEK9ESfzNjNQWP4HFxFLMIRHsnPaQhSMeoWVjCs0MkFR5x/Q8AtMQWAEQYDWdBhOslPicfaYwBiifyBYheh8Fuyzr5fA2KPoUXWJeY5wM8bMbJPfMY5c0MNPKeeQTME5u8UXnGwd1NvQod6YwFHkxqNLzWpKbUiIRcfbzq1dOMBQTwqZaViHU9WnFOPRkrV5jaOJNEzW7jmz56HF4TXzcRYM8Makup3KvWg00wzxhQ8i2WyfTU6260NDamg03t5nwcns86bUKeo/jsf1LEEEIddUATB9C/92rOsIv5lF5xVjD3HFXiMSORdXzDqBgnHGB4MqfS9YfhMzbv5+6HDV+LNiy5lP++gsnL16wJLaTIM7qCwPvHC6NPHrG4In5zYJGIHxXAnBSRAVLIfjXFGqjlwHb6M7voRzFt+twvt+j4yQGV3Wb3HAUo5/gddsCFBVEP7Rkz4djf+eemPV0l3aKxDQwpgrC/xNh+TPkFzv8xSSaUSAl/7H1Wfiwuk0062/xRBpKQ1SigZe/JGswLL16QFTw5iPdCArCQSPY7JXyRFF/5BhmsbOrnaa8w9xzt/3uLD9OMhAhB+eNlOgkLIH+Kjhp/xlMAIVFSs0XkH5rlPdnMRkQFlEeShYieFtRG6rKn410h/gw0uSNBZJ/e/uU+dHwFw9VAgrQYswR81dbKAxXtrb3ZbyWW5u4duZNWGb29/+OGGbmk5jfwHyiFGVGWKHGLUkPREtU/HJ1YbjYh6DZ76+9gglRl16rx/rjyABOXiEUnm"/>
  <p:tag name="MEKKOXMLTAGS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3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BAINBULLETS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2"/>
  <p:tag name="BTFPLAYOUTENABLED" val="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CHARTIMAGE" val="FILL"/>
  <p:tag name="MEKKO" val="MekkoChart"/>
  <p:tag name="MEKKOSAVED" val="1"/>
  <p:tag name="MEKKOEXCEL6" val="False"/>
  <p:tag name="MEKKOEXCEL7" val="False"/>
  <p:tag name="MEKKOEXCEL8" val="False"/>
  <p:tag name="MEKKOXML1" val="4HooU0THZk28POP9trq+pbTvvzd/gcV8t56cq85kb3NDTsUhojRA0EsgEHHMH7oYP1SYpn09ysXVivguJdhTvfyVMsBLTGvcX7WPTor/CmWV7V/wylEnRSjNa0bZedd8Yjfz6TiCJG8OqoXAl5SrIeF08dlXg26VCLQSuMwFMmWGmihLwizelWVh0+YrBGrvbI9abCAsXIvQHRa+DCJaU3PJON0K1yeblBWRz/cL7a0uwAyWMqmGTLsBbUcrm/D/6eTHTkijpiVodNB8ZFnPU0d0nJ2fXTu7+1OPwHTjemllQ9kavxNazLbt8yFiyNcOJa4Y1PJQvNYq9NGWHotWgHaIiGCUQvA5i7CSjuzGM4XnPw2+ryRtSB2Q4+qs4lxYcVRxmzddUch4RoCeA8jZp3cI500kVDLtSZLC0DiuK7WPKYffJyQ30WTWT2s/6MxC9qKuXTRUbrqlZaVLv+CTHIzyFxw5wNm331M+qIBbhrMiOx2c3czOCEBOJQ5Yv7AYvf9UNHHYqnKJAD6kbVsJwV29lPW0wNORTafTmKmfa8NJg/uwUwTWpG7p8I1MzBe+n0+pxOyZ6+OXNgl49muYfa8sRHUjx54JUtdngFrMlpW77h65ofBhAMJ4U9Ja5Jfjd29Ih2Es9yGktLlo7H5nph3PfRuD7M86nnxl2pEp4rlQ6fEy8W63OG3Wsd6oGV5pvOcQjCEM8F32AhZuM5u5WS0sUs7rBtxDSXMlnyCXsdTiqDE+2pLxBxtkykQ5QpElI/37Or0AcgFDmeLNL3Y2r6c0f6MDUItGXpSFIwk0MvsT511gKaq2n1CpdR2GHFemEmHmmo94GCkPIeKfrnjNxSmmudDA0Sj9fNWOGW9CyAngB00TlQYfjvM7b5GVVc6jKL0nlqSRfZt2MhYZNA5Tkensv60ybgjCIuaVf/dmULqeewSOxuQmmdbE1um9nxY80On1EC3qI8AJEwCZXmwlqM+od/iD33LgMxFz51rEm/wELSSPgeqLBS+ZgSsHZqaiE6a/ZOIJtNVK2IgdAcmoeD4C0M85B3OmTccUjRIN9xyLEaRtCTyEPf2ZW8uWXbcxcZj+Gy7/ZjU7F9dMMx5UBsHuq6dmq1GhKXRq47CqF9FeV6+yH3lL1xhv1pUgtxqTkk8uko8VSt6DjvexFQw+zx1fZdIT5gHapu7VZWnYxGCAj98Z5ntXjlMqX6Rv6MrqAw3UJSygQAFTK6rNbx1XGqQfrIH5BNnbSK+wwkR9jWExQnwmOpdmcOCNz50wzYK98S4bjoUB6vGtimXqYHWisIwZm0RSLOmQAwqA/D6Fk2AOshNoVfr93dK0MucDHV/AwI4jPp/MadMiA1ZbKx4/RIPNB7zFSZsIZXKiJrSfKR4XryBZqOe82Ud8iTm+Un0Hm9EIQOjqhWwjCdpwcMD3TAYx0a2yHgM9RpgBa2jUqlxhBwJWoi154mcALa4dP0X19gFPMMl48KKLc0fsFiuHIAsnw6V1/WUd+nUP76izDh/nQcB8QB0/WsQL//2TnAC3SVql1bPwzUHU1tEpd5M6Eu+Tqr5eiORzZExS2nfyltpaagajWVCy0WM9s6vhF2nWY9SOD4Ti5oTfSOJyNxXzqViKpslSUnOFhbXjGtgvl3QcRa92eFKCLCUZoIy/ylNILllf3lHeCuzLdVFxCI3b9TT/UBxjXqqRyjin3L3F/ozEuUUSmTEJYIW8wqx+eKSPVCyUu4lER6OAajVynEWIVnNHSW9lUOre96trgn2BIoEpDoH/QuxEorZGL8WhAIGJlmjgqKcJnd3JL5pndzRDOgqMcVldvScLoKAZVJZO58SJCRwpqYYbaPmRfGuyQnXeAplQLsJGE8g9P15IRZnKbWx/F7UoVAx0yMnhZEuMGKH3OKtWV/fjPUKSJGBNVbtmxl+H8yv9qdoG674K9NFM7esriBxVpNXimdbatMGf9nVq+F+QM6t64NWWGBkuOsMbHJ34asIuiynZJlXvGZ8pP9/wXIfhiEyFLxkkCGm4Q7AMQHksZQbwdnskVJwUjg7xSp0fpg9e8YRfgwemEzsL+MnyBWLIwqHIhjOPU8HyWQlVDU77JUDkO2yjGQqEdV2YYFssbl9g0eu0Cl7C6CluOmnJNnW8kFAVXVGYDJKN1O5Fx8cNI+c64RzBl0zE/5/W7zgPU9i2YUaequYREqMsLccnbdHFG4IAL5LPJ30e4ZYRZNb4KgkXAC/yzhPkuPWW3XIeY3+Db0QUk06paHMga+rMV/F4jiYtRGXL7Eub2nZlgyZdGeZ7UtUM/g1JQLM5YxSMBEBJoVy13wW9EdIsIauUAB9TxvaarfxfvRSTQya5xNNFtaLrE4zCVuqINQX5FFa8/HXNFKdz/Z+Fze0GQCMPZA9cebV7oHHa+wRmMIZNS+yPbZlFJmIi8Owl8F9Wi5tAq2HDh1QPbYX7vYxaNFXT8ivsXQxzQ6L50jeNzl12jRKxCgFySZmPYtiTKveBuwmHBl2Ux/cHsy5zS42+zBrn2kziXNo7NPk/DIsXtN0k3y+S5YzrvcuEaQA3fWQGVBnCiuWPZ4Idv4IT9y0i8wHiKa+Pw4kOijbfKbCT6Z92qjzF1BFirl8VfEH/7dBg61xNb01h8oXCT7mmjEsJWV0EVNmgJv06mgd3nxhavtxvxSjSi6M8mdhErMlyHTAIIpgJZzD7Tb7HmqiFWW9ls7yCH+lux4jwTOA8rIWjD+Vz/gjkerhnHdl3L+eB7uzK8Moxbn0v5nwQtvUqZOH919DcNxTinpd/OIW44fxZbKmbZPC8ABQzX0FYU+0L/2J4kIvVgDr5E3i+NraLlH1j7q6bqk0S5dC2EWz4p7xBhOlKrYVNO4vlx0KnWrSVAkzJtYx/J4YwiDNh0bo05s05OtCmSN1E90mSiSTcATeeJeme/tZkgU7oJTavm9ppel1++yG76RJHrwUT1F1fcFqdZBBehHGOBSvSS0RDYBlrOOp/TwNxqAm2zMv9OQTctryDang+TUIkPyttZhbqFlovzIzSA/qBdiq/XR/Rsm4za24CoaOZTHg8vQssQcbXZkjTFbQxQLEZfzRR4lo3T3wtvBRv3HLenOV5F9H5HWlUtwmiOZCtkevocZtGLKuI2mc9dtlRI6yj9440F4WRCJACWs0j8ic8XIW+YFQ1pQp/uOSm0p+42zj35XK+jQdWA7EkdmXxgUP83ENDIYE+PvsCHhaF617e9vs2txwzDRPkI6g8dPkepP/eQrptZBppVuTenq6spZIqePxIcmHtdCU/EATMTHQbthyq4HgTWJqIq0NygKjZccue7MQiBWr+nMdmAYr8yw1OxhorDDxSUEzfgHUelKsIVmkA5DYblHtYVN5LtDCLqegwT01FSz+V/KTKk3skD2Ix9plrioLzRRkmOusxE67DGsalhZLonVQa0TwisLko9Wmg4IwYXEpR3R5t46YqiCG0znKjJK9FvEbTx2vetba25ctQINnOD4qxXbQmElm7KCZ+jJQUi6ndDofKXKrBY4EVYzKM1SS+IMt5lTIzCtX37dHMMqZM1yJaE9HY85LrZ7EPcIOYWV2aZo3sAq0db2uNlCJlCmfC2AB7wCzabT8Rt0EidMh4knuHLaCYSgv3y9+BrCYRhRitYhydww0c4QgG89rqyVNk6KUVmK13FdoRcmasJpavDEwqMhbLhwhdAuoOvKx5wWzfoCFG8l969AvBjV6N1JoA2SXiglGWGZ+RjNOLXkDjVPk5BxkGnJFau5KxX96XYC97djWYteFGfzKfaJHEwi8SmrJNMGQTG2mi5p4X+AbIQfQUaA95BVcFPnyjWNOjExFK1H+qgMS9gDM7ZVmp9p/SwdaGloIddU3Aox0VBt6kJJVyVhCTJQFqESMwGv9Y931vVkSPnRYaL9NuOWkPoByOZkYImIZYj2Pgk+W8hzVO+HVR1pVG6D5rAVcy1/wARt4xgH1HFWj4D9E1eIOc2N1DQMYBsKkyjxhMGgFFcXf3PtF70gjcJ/FdfUEU1NfU4yg0FhjFw3S4wIvO0LbyOxniTVRvT7fatNHIQq7ymlxif2GxbUes1A71ZsZo5GI+pNGFMaD52neSpq7dyHc2sXfFnmFFHdMDV2VDWcRie0lwSxjlEL4zvfoC1cSrW1ttlLtSeSz7aUGFQ+EuLQwDf2XMCsLej26jjyy7WNDfS++J2tWZpj3ThcvnFa1QyqkiCjDsyKePvHE3jGxCI0x9nbM+B2oqKNU1RwCr7sQZiJBkUOtUhhMnLpEJzB46rVHgFkTTOGsYSU1JzXEFhBF65wO3d5jzz+k0hbwY5H8JNI9A8mlic2szpJjK5hmu1lvfrCZAkISiYZnenBGS2tZ1C+nmkRRajcRFd4QNJ7YS74NDnqHk6/08KiU3wgEitvW4H89Zi582nKKS+Cp6qmAp6Rl5LWsA796sz4PkvQU/zdIlGz4ZlgLWWZ0AonlAAl71olCm8e8Aej0fJpw9e0kw1NfyPtRuH/aJjK88TaRpPw2Qz5wuEC/Ul8sw7mQYA0kMlBjlZsUDRGJaj1y5G5BahAXJaqcHCYQ5PS7HsKHmVr4vN6Kt93LiZqcu/1AgxB8jKg9xlMXLF3tWPtAJugBmQli/G2qB/se5nV5jtOrxRQpIKkGEnmLyr7lDwM6i0i6E3sIHMqvhDViGC5BYdA32Z3H12RjC+X9jinofyGoymxFh6YJUHFOcxqTVazQGKk7gOV8tTSpIeO+Ve5ztWJusJz2RhYG8EvIp8VrHYePqUUbr8EQmLDFZVP6cmll1bgKfNN2rF9+C2qFb4x3aSdaJetJAxfwxJfjrpUwxrrA0gD6GQdmmpAgcbP9/y3/Cg2PIeZTVN9XxMyaWhI947xmxWSZ6rLA5unrdi2oj1OFWTNsKrU6Gib0Vj0C3DCQJsONQdMEh2fDpVoI2GfPaA6aabi49mj44/xbu73OAVN5Nyi02kUSPP6sinlkkvWYGFpMq+M8W+xXz34nMHz17Odho7dWzR5knRSbzgrQ/+53h0ahHcssSweEOMTJPqdpIJ64FUZv1qi4VjD7pfhALZEE/gZIpzJexLGAxio6+YH+EbYMO0yhXLo0gAwDsRGtOmfmOhWGRv7fqauDZAwA0Wt2w12t5Dq7yk/+EF7aPymxrWxs7ZY/Vd0b3YB6hRcMgbr1X1uN9YpHo2J7Ph8JxCWx/2DgnZvoCbtoMGvYz7T8ofGIjPlYKTfFoXPa+PyGlTlLO8A90H7fwlzQbAAwjMpcr4d4uHYN+sKDrm+sRDdVxwV/EQ6r7sdgIEKtp2jqQ1pVFK+QZEoNacsBnXVgAiaz/KPIvChwVKh0JHtj9rYpSmPu1zbpy2JZrZtPwJY3wFB77G2xGS+0EDzYnB0VY+jqvCQC2/DXssfO6tzNVyERpfAeodghcTsQuw8c1G2QsxBsh8cnGsB1Ygn4vPURpN8eyZ0aU+fB911myIuTVaVF/8rIrrO9Gx6M902ucQI9ulglPXXD1W9Hajyf3W4BaS7ySxJdmCalMjWdWog9HfgIKCHNZKoZwd7bs7bkji7nc75RvatJunYxAoVSNysrhul6c+ytAwN04cgoB34Y5wLvnsfaPfUbaGJSv6sJiFNjS0H0dNJCvrTwjoPB00L2yhuIzdrCKiWPyfHricipZ5FkyEDgq9kku+BTcCSRamndMhR2ZSd7wkIDjdm7oK7cCbUvkBIxEDJkH/7hSJXL6Nafw9AEtzaJX6MQybNraNVBSygNuxLVqk1DJfmLWA1jl+U3FjkFPlN2lMIlD5OjpgL80aG++nFbFdzyTujr1AhTJAfh8A2NHZYplh29+7jhPgrLlRZo+Xg0355QuzNW9unhsw+FwLtkETOiOzDGLNgw7Msui6R4grLIB3PVrPHJ03svAh9W97R+z3JdbaV77aw+HriAI3AXZSX5kpgtAeNmxRcneC0+jc8Ym/FecYK79DpgJrkWiqBEZURgOfotzAI/JDAfuhqkn/5ESJrCpcEE5SxPh9jP/GB3SWgiMEBGKMHFYDVIZEMDr8PuhETmEJyHLnPBKNg+mxN2pZPFIK0CAxGS2pjRW05tFFOVdasun60vSF9Hm7XC9UZhyQvmxqWqzklb3w0y52Pzsel0RMGx5exWQburHL+DaFQuo9lzljW9vyrJVqPtM2RbZMFBFPVKVmsJrHfgW1JHzriK3Pj8efYiRlxclS+GLPK5Gi1z1i99D6KczU09VEYPazNiETHof2JTsV/ioHbg+rJDvc7In/A7KqV3sOioIRibo/+KsQQA941u1a6MIsOsaz6EuMOKoNSlDJ/u9dxDrXePU5e5S2oPFtXQ+B7VRg1JJ9P7+BsOS843jkOhAFETWBmhQweEsu9OQC+bsyosvaBmpdBcaWCsLOcZJU1fvt3j2sbB93Cx7Q6QYZ8h0Qwy8jZDbeCXtMOUtiq3SxEQxYAQpOcOksSdRRjsUYsr/92ykRKs1XfxtubFZXNcTXsljloqe8ZPcH3f2rrIwzY96nsCSRkTtGrhCS/pxc0EyR5UUhppepFJnLD8N3ir9Ecn3FNlE+NVm9Daggg+7KaqCOS/7JvGJjdtJp0FT+7EQw8TAyOxjFlHH57NIb2aMuVET1mhcy6uaDTQhYEKbelNm/21pGutCyBe+Ppzva9ciGgGndXKkxNLBfhgNVgRJ7N70Fzlu5bMLghgzzAf5NJBOCJwfa0fhoqmUvBJ5aMxDfB5RFklq7k4eQVM7P1lrX5dzF1/xrIOBnobS82Cd0+tFjJr0/b809j/+P7SrMkbHzwEMUp4Y7bYitn3kQCzzPnot10JXw/W/GZ6pBPV+AXw6JfygHQdKhkUhDnxVPhwnko4dHbT7M1sx0kVPU6yGnqvdqCpwtHKPog9haPndqnK5Yil4JmWhlLr5tgvY6qdbQnGxYb9gtWxiBDUGbgv31IY1KWMqB1DFPaAimx6n4lv5Zo28qRHnAr4jxr6MEpDzQq226Hv0DaJDvaBIU2a0MgFCee35cu5eSklWPVE+B9h0OK0+ITvJ9na0ALan3NyAEty31ElQvtiitsjJ3SWaYQY8iIqRo8iTuan7rp80Ljs55wm5F4D8dxJkSvBjWPi7XRdy34WJbYkHm508ww7wTTqpbKtpd/zlXK4pPvL0ymzTClwMbQ8gVzaiXssmfdt9ymAQ9SevrfJPNuflemC1Dp8FO0zY5vngcurWYoMJyYxOO/TPiRxMT+g0xf4sD3faCJMX94DG+sca1RhkeEaJSBEDtM3SvBud23wO0ip65FH9/nQWWl4HrD0pGqpEgO2MCX7MgzZN5As0972HImQfv0lkE4kbfMf2RGtrxRE2ZmwcLan0BiA6wxbDAeKpclLwnKpUiTlhsRWlhLWfoi0QCY1vlyPDySyY9HYB7nEGXnShD8//k1LOVJJTv1KBpiHC1F4CGhXKZNsjj4G113HUdBYx9poHgdxVG1QJd0eA+2RFXMENKQlnJblRO9VlnzdXjAi3aEcAYCfCxwi1QT4S2Tg/dx4Sod70BKRla2bEdZiEOYXLItskEZ7CtYgPFHqg8v6bDPKw3UzbP/AwFUQVm8lQWqXYSUwARy6cIfjz/nuSaQGVm1I1/wTgSma8YGsm7DJDlxdST5JapHQNW2BWeKs120S+BKT66yZMZiP3gtAi7G7MkNQzG1PtVT9fRO2OXY1qe+tvfEmicW1Yye5b4zdLb2zwDi6g+GE5JVsM4n4cyKrdbZE7qbh7DhV2g9kr/5iB+r+m4M3nyXVIM3FKEeBrTmvJpTWjCkHrXWH5QlsH6C5h8NS7zzYIIV6tDYnNeOEZDuHERpNNLq673OuyuOMncTAlUqY4lqQjOhRVJfw1QZW/R0FL0YAeThSb1DGJNf0V8G6wTkYL5jMg8g4F576v4zoiF9iHelEJN+yMmEujNeiefOxKFULMnjNJBUVOd7VE4ilYe3dKAofFgB/b3IpJpP6bZy7M7HGkW/hgOrStrixmbv54ubr04M5UYC3GN+fc+7G4uEbphR3QroMcX57bwDjV3GdqbFMkrCPfgnZHuR89kRVmETmoprNo6CnLzKpKOBEpjtZYIuCxZMnxDfqqcndqwvx8ZALNWln98y1mJzLLoC0HqRSPZ51HKf9shjdIb5JYH+yGaB1grLk8kOIcv4AwsPnuaHOiME6+tAwIolvp4INRwqG7eK5wuGbQJSdJgIc8axF/AfioM4MzdGKMTZLrAy+P40B0cMwJqox6y411NHiEBX5Y9jVrEbekXpmHBJmeSt/yJE0KXY31ClxaDR3FaiMSFWfe1TqJA1F3PCGdiOgIpg/G6Cd5A6ZKl9/1pQcN8FwbVWQbNiHR4SgCSZM3wqiFlu2RkjIbJ6tbV7JDIEKCpofS0kW0jY1AdGW+mKImhhKNGZD1YabBjnW5nS1JxvGb2nfWbErsHwTspcHUAGC5R+MswgGgGVWbP7X8RI+xEImWBokcnJS9v/BxpzssvVAkNxqczGfIf8P7EzCeHlYZYhL/tHQc9CyVAYOP0UZnBwqpFZ8CTnjUiTihlykd8haTNOZuwaCkc90s/tDWOAafqevbnvs8+L54Mdmz76jy8+JZgPS5cxRhd558MKTgaH0p4ctQURcamTIbN8HS8pJ/haDbpUb0wd3shAQMZcDKg0Y8sMGLBug1biIy3yZx8Ci+7f2Q4Z9c2B2DwzMFZFdgqiWFRt4qtFaegAcpUDuGjLoWmVaQtME1GIgz+0IHxMgzGbWcegvH46NZV1NqTxLEeSfueSqHURxHZnTCpdp90WCiTdDWFlYm0d7uLvajx4ISzzeckcuxyntHs3OmW5jd9OCsi7g6G4wv8lRR97GB/7ncbjomo+OZ3eIFdT8Qe71NSN1qAIXnutXOv8rMUzlTX/WtkaHeI+zL53WZoSjXqK8Oq9BDgMMJSqllQt6J1L9M6TNwgcB4SJTkgKMlq2ZuJrqpoExmUbLiaL803t81sfCyW1BYGPSu+xGSTj5nbc5kPbKRm5sKqH6m0EBxc98zKmjcLsQAlVruKv59ENZIVlcXUWOmj5WIOThmQ5XcnbRRsXR/6MQ3scZnEK2JJz0a9iEa4H3w/r+oJHBhor9D5n04JL8lhikEUJ4ERj+ij1hzlxCiD7Ny6vd4HacpEJ3smpXgIarBjmzICSPpJmm2h4MKMmvW3HsIdYFTpxxgeqgio9EwCrWr6nofnF3RO95E+Yuz2cRPU9bsiR1AAO9mbJatd2WtEoAaMVI1Q8nnnTRVvPLN16WNjOjwTMZ11Z80y3jG0guWpK5lO5DX0JUwKQkFZB67wMrry+wD+i9U+z3l8l6q2IRgzm0T4bJbEvh1jDR+itGhUtJAu3WLSvP7UsXmLxYm86qrfaKAofBaO3McNpZkW3+4A0atQGczUoAiplJUCLHrU8f532wmI1d0ehFBWC6jlESKFkShOfXXUx3Z5Rj60PZrAPIJUgvD3eTh/5BKnrJ3Vwa4mtOv4Mv98/8tt+w06Re+3J6GA3iIIe/UDonjX+DBGLtrG8VasFEyaG7zSfv5BvA4UWH7+GHxN2Kc2uMR4E7ojhXQ/1dKOs7wNlu6TP7HNX2J7Oi98zrvfoeY5hS2P8ExEFEFjNWmolOEgl4KvT1dP4bzQ5YT4Vm9lSxuVYC7zQRxmp4/EW7fujnn3uOwWETrwQByAo7LUse4Fzf0xq1paTgX9sMxstj5vsfjGEe/km3Y3Q28vLE4bV/LNzzEIEMaVO+neFwf2D7tAyypXvKBvTTWdNplOfNSN75T1SuCzFudWHWflS6TqG2i2spFEL2SLAtgIG86G3kJxl5dTpiDaG0uNl6sLBRpZpUW8cP62NMR+7LkyRpaUoUcpOQMQxAFUkTulpSAVInqaNIvDI+PgsIyHN7F37bJmmXVh+b1sppqDXms6cSsEQ7PECZxMdxagEmOROXQaRSL+gdXY2bA2dH0UonqMTY0IryJhPT9HYZVGTU8uuYaPn4AGtwmF8ZMUFofM522LUxYHJAMyx1aiDWVDibd/403SG6EGhXB7AHTMPDnKlITW9gEuVm3INud503oDTGio9BnCjvKUV9iPYk7LlzyaXNWL8GD3Tk1Qmdf/ASpL541pFNVpJ809tSCwIevvZ8s+VlL3SP0RNCAU8XDZot4w0+gF7Yu2DdHToLe4a4j4HtiDCgZCLxvBEvfgDHaoKzLL0eKxIM2sqegpsI39awINu34JEk1SC6dSr9oaB88MWYfJHOWti/w3X26QBc6b5gH2FtIxmciSF+swLHTiyuTRcp0LsuJUM2Q6XxMMIGHWi7XpKFDHbKJ3XwiONwNWLE3iqGvsVbwKnBDd5FY0GH14nFxM5OJwORk8NljYasBhfUCnnE0csWvq8rSU4vn7lY7mul+tqG2aq9ok/+KmU8I6Mq07dgK6t41UOyDF9OePviJ1wwny6apZMetzUhjVuPOlemKZrsOTqyLJ5Bz765unxJKQjLpt7OT8v9FTNLO6k7YuJUlNHVPNLOEtzgiFwMjAiCQtSF3oDxntZLG1J9+JLI6D6BQT0IGCmmuwmIG8zfun1MFsYiQYamPS7SOzMsHEtqhVavv77qG9bi2xwZXp7hQSPYIQl2Tn9TwX9M7sCEjh1AxFtFt9ntABEifLYdt2NRn+BHmpcPZeMGV54VNSX3SRlIwCPOHnnzdQJN7Ya+w6Ppx8HAb4o43G5IiNaOe8f+f17fsIGITmviLppNoVcVXx/rXK3iSviY8mV4mLOfA5dlJU7aYaUiTLidJnvpfWEWD7gaHq90Fi82uSweeb4ghxNdh4ZRyrxG3Rw2IcbyJJSF4zhanXjkHXnCe7FoUhVbDBbBAZVdwulVegE4CRnNm1okTLBc0hUifA0Unj3+6yMp3FCzjlq00+MfCAIXl12Z35LUyfz2jyV18wVwHmdRen+aEHw0EjFEBkR5kzNmALiAehl2xbOvsxwKrUePBJQP0jKMBLIZhcwtqWAiq7XOcbeDaOwJuvFZf1BLZyln/yEt+ysA7XY1Rc/Dv6yJpJCSKW2j9Io93okHuFDsAn2PikKvdYatFo39R9bWdZKsqzZ02/xLfXF3Wrt28tPbcRO1piy5cD8hJ1XrAm+nASTkGbg2tKjSNEGTbOHPTT9f9ucUXEj/Za2pJBhL0GC/RAOucxTVBz46xZT79/51e+4+j3tIeZ1PRdhnrX/1zKGUSVQAUVV9FTohJaBOVDCHw1g2zKJicv6wcSwBQE/xdF+SZxcgaS4qa9NReRD4QgUtcNm+rqNFzfDU9lhYpe6yPMqbngwHVfzOGgIFxiuRynek4Ouc10VNeJIcOsNuHul6f8izt+6rK7I2C3iLM32LWSdYuDZ/rpNIL2HJaIA5HV3gb4ACk2CSV4Z5qg62Y4LNaSo5GzWsJsQMAkMqVQdBVWIY9dERxP4O6QH9t+HYFNQhv2xVDWwhYPYXuuxD3dzxIMW3wJSGm61rr1YkJnSiVodmOBjCbplQ9HtUBGDyb1luUes66/TorikK2xLryl7GwjLgM4JTD825yXN36ktkScTgfhyAKxInSVC62epwayOgaLvodciMzwkGQPkBFI/osLlaivMWE59QI6vP0S1FRUFMZN7hO+fNlDPZyJIeX4JxHciRyr6wo2Ar1C2buuJVt7tbgfM/zNMy/BjnpQQZzJzYegI8uH7HY7hij+KolYONgeD8JHTwNaiTbrhdF/VppDbiLPdpc5Bv07UB4Eqn2P1WOP2RWTKlMzMTuy5zsSSew8NSD8eaUCS0jqan0igb5CJC7isIMpcjfsYTs3vygDXNXYh6K40HlfBwvmPQ0i2gJ5XG3Dczc7SWRE7X3bOiZsZ2A6Q2u88ur1+XZwZ7OWINpBeybhwqfzeO68cC7iX9YNuknYYhLjUUWMkpV+wVhlhkNHosF8PP0VceWHXwOllv6iQmvY5etgg18EQp9NFg8YvSdm2QrZvCMWDMIKEQoy7uk7HdFdrbF/rN4IhdoOk1vao9rx1Wcy0mFUqzQkx2HdZ8qgfpUOpUOUnkFGbWvzLKOo1HRt1jjfcXymJkZZtjfkjp3ATjogMu9QhWekeUhx1TysToEGwROfJymrkMmTLgn+Gh72VrciHA6NtF4B8NH9r8O/vRTs/cRrAGy7h49wGnZzOrmcr3fAqscRz8bHFci1UHZz31gC7rin3bl2DQrFbAgTx3dFHUgFl+gGf7E0Razqnol4jGVV+JALVCVgS6aCPuNia1Gy+KqPBJ/kAlOKrOja08MWQmsWLOw4wzgL6gYccAXtQCb3ESnHqWl+pPjBOvw9UNM7dIrzbBTiUDbqd49exwlPZAH/cD8SqxQTZr6lQWrBYFL5zBgQx4By8N7EyrqBmQLYz6gWdruENW8UQJKzox7fcWzbLSgGmUfjqjP1eG8txFuLPGzyIOZSwYuKyOPXfw60z7HNonkaaZ+58rl1nmVU3iKnpTa+0MpofgYvRbe1ABcbQ5MW/XCNnT97VbDtxjaSc5Tl3ve2v2u0+falujB014IsejiDZw5NkD2HyuYCdTkr2IMZUyvV5I+1PdRbOulhM4js8XloPiqYGtN2BuVKe5t3zFqnKpeYJpn0o1UxpW2mS/VmhFQ8jF2K8fDzaxqRr0LgLOGffXj++NqXrSr8nrFUhc3aqqTNHlhB519EH58zjX4b9QxtT8m/DB4nhGoxt5YsQ+TJ6D1W/O/LpRVBA2U0QxZNKUlq1V4YvnhPExsUa4iC3Nc3x32tweDt8aHIXwV9qOQ7qtvcgHCuMeyRCeYZd4y8jhrYLUZLKA+9x3NsuQvdLwv/H0t56mpHqNH6YfTQ8ata2QNul9+Ekwd7PIMuBr9POPqg72GosqrOXiiFbnhNOoqksv3phQXp1lxpvGXpObNhcYWg+SI0mXmBivi+VxnNPwJWbkVeDHQ9+3Rcb/h2ixhKlq3IO/0Uwuc35PbWyGQVSgRfTlXfXgYU1iXYR9xbrq1FauHO4fmfCcyzJia26m3uLrmesWDM0sQtOvrnBrt1CAgB71fnmxY4aCR6gxzhF4a1bolXad+sjxvtqvhBIhlYvbNC+OpqmI9yK+EhcuOA7Z6mPyd0ly7X527FSHRe8jr1/aakTPlAhexga3FbpDqfi4tP6/McloNfWTVtuJwoP2z3Vg0fTrdkehfuxx2IMIJ2wEKB9d0cHYqudIuXp70D0DI8Aftv2AmGMUWgs4pqeOjdsgtKQm3AXQYTf52bOh4ezKI59n5b0NHnM0DvOdlUUYlgqYLHhx6IXWFNLjaeE44MXGkKEeJWlk9w5HvQIabCgWc0xM39O/RnMXVMvUabZiu30iMSXH00c1I+0SmrmwOdgvwOou7Iswie8ImEogbvbQqddvdHVbJlQKVXHnvxNJqfzxd6aFFbaQ/T96hEVQoeTUN+St0PUtbz+afP5RBYZv5VeKq6LlPNwDsBiGvr717Km8l9TK8mempcrVQfGE/gghZftX5GmNjkbzFcdtOFbV3kp2VZQn92R5c9Go2EUoQhlqhbHQeKBCZS5lPBwxd1WKUlDKQYE/uUzWEfOwOnGrJrFiXnV+BpMJnVPJH2Y/xICbp8FGFIK+zBgUfA/H7g7sXugcKeut+J1xTXifI7IlpEoFKrsmAxE96XNzyrdGF6OUHj2nYo4mXgFSmRyAHaelKSFG84omL9E2CKW5lQq+WLxYsQ1q/FtS9TvwBzrTXtWFBHZ8509eCEicdPZ3o0JuCYf+Ey2Otc16jNJPO948/eIH5HX113XEKfPB/+uCZtfVxGrdKENMvRRcbgop+RFZHqmD08rjmg5xdJubwIIBUN+8l20brJ5lVvq8SePNHanTU1ije79nI7dOb7vT67C9EPrm3i8sPiGkhwufdTclD2ApPOa+WWC1i7d4s64dozayBr8PeG2YZj2b4Af50s0WSNUs+hFicv6jVn0TE7jISyqN+xTRPAjYmPo0L7AvOzJvexfD1rRyB1wWbo0eppJMVYOlQpvtgyX0u0pifoTAvddADX/yocvlXpJ6TAGth/w+8cvbcaTAnjfNEdr464FH5CqCd2CKmFT0TQPhAV9RzGJn5ALIJcBh6P6/6J5Gg/hyhHKCySEg+wMf4wtRpANAbQx+gx1Zq7NUNfj+HncF+y/paLMttdHQ2jFoChTyw2u7OspMHsaBMTXtK1yJp4JtVuezG6sdECqCcJ93S5uaEjPFtAkURjA51BfBkluVf6hdhwpT+wNUdmxMZPHNmPzD7+KufK+VqvULvS/44QcMz2mq0kZq1UG31FZTE7wT7ObJ/WJmTPHA8f6GF33Iw/9Fr9DODvcJ9RZiEliWLhXhuui/aGC5/XljqeqNuY+sj1tlD3JLSckJUmCQPb2s9wfPh4iazFDju5lEgUKbmwyLkI8BtqrueNN+paKPX+EzNIv6siQsIFyRyCVijwdlqcNUbvhLenA6hfsOUqKt8Gy/rhw4Hh/YFTRRpApUYPGGZqQAEl/qbqMWwHoYOwMeRffGQrpN56wMQlDRJ4/tyg5Gp7gvQysgUSC4mNQQQLn7cqqpEBcWA0Qo51LeUfNWaDx/MXsX6/VA+VOHmh1ohJ6NPDwpGkxmWB8QXuiP4Efw3EhkbCgsDhoEx1uybp3LJoS/iW88RT3r/H3YTllp1Y1NH3UiW9DXPWzn8IyKcUUzdBD+QHXXloBqVKPaV1KQ5VHrMHf0F434MC266pNPtaaLCaPMWNsXHRgXItH5eY+YPmZfOzaLbBjYLZxUIc+B7IK0Y0WZCNHs3fqxEPe6Zeez7NfO0WpcsUO9+a/AaLUz4ThZzFLbz0FI3olI6+iMLPIaGlXbAqX1NZzNXu7hcvRBJG69zyqAlEu4lhFiCd73DJuOv48IbmqRuaRr2zEOOYjp5KUG5QKkYUTN50k02g0M5s+9UuMozPwZtQ75tgphPOLMbFWiGHYhcvQI3s4OZ9eiuQrlMM3t6PIr58sUjKjcmijY7+CcZ5w3gWceyolTt9a/jn4EdvO+/cs+M/2eIL+qItJXat1O+YJLOJIQDVaOvtNheDuaQs+tEdPdbK/A799h03zyAQ8RmzHlIvAInCJ1VGVM9ZxSi/jPeIfiaxZ/7lcSIBBHaTY3TUe4e8I4byO21uaeprb1w4t79E066g1iiD5jbT+h1+uG1iTzpAPSD8xf27AGAl3ily82A4PHcRAWeb/tLzedElKFjZ/HkUh744vUfazAUFnayZjk8cUjcBcXOxOkIZutkYxfA7daYGSWDgoULDOB/RztRaHkvQwMqg7h2o5Wo6WBHAPAyyD72LglVHoQqYBFV0ZKsxQSnSkUxd5GPXuiJxwuE9bf2XqnyYK1DspVVsNOLGkW4FCevUW8IkB/GoaG8ODS+My36j4xAGcigUo3zTvmoAmTLRWxs9kLEiXVuck1I8VwIzm+LfCZhN1u//5Q99TIBNXebnBgutU6w7kMgqD4yt6BnOsG9WceSmAQ7Za4qhE/J6Jeb6JcdyHp23cqZpbF2bcwzLhGNiLq82LUucEDVF0XfReohNUQJ4eHdbObgFKZvImsaSz9uzExonOWCJKNS+di5QuJlsLLJrqTd70jZs37YRAw7iIfKG1g5A23w/bm3+rKbfrqgpVxT4cxCL3phvFrgKJwQ25UEBrw/03TPANavI0bo7eaysFo2wQ+9XOOtDvEbhgZT+bDKCd2qeetWHaKtKqeYt2pdBoZPdfrdgalhPxlVpn0kIA0iFBuhL/wSoQ7sjbqgX11w3QZwXZtb/z4PIU53l6pHlPnWBd3d82JWfgFDdl1Z0rq+CGWKdmNHDecDCjZ34UCXWxjFSB0mDYgtR8/mgmFy7jqHSQvMjHXDpaeZFo5vkSoHlyn/Cty9SiC9OUNaa3HSi0Bq8HQpmvnvSW7G21LbjsvOtSfS++jAZf5wvx0JHisfZv3vwBjS0+BpYEsrO8I0NYmA48Hpuaetb55F3HYvXjviySpCWLEfQB7b8oB1hd3idBsjHXe8Zab/3lCECfPlAP8jC80bAaKbQtRqLdWhOrZ0k4wFJpcCMsF2kCOnIIRAnlAWJM4G2eHImNdshUNkb3WybktvfRkSBu9q0LRclOAlDlowMg9tIvUyomifhynNkKlvpCosPCNuiBGI8q81Q3n+sjxG701+toqa0muKyFQE6zX6ptwb3CqvVHdzRfqxxTxHmsF8JoVJfzoBbA+8cY+2xbhzylKLLpeqRe4p8xq4xwDnPLMiT6ebO5VVXPaeaeRKPckqIi/dlUEBjjN1Xhu0KZDB+jRg9ynz5gmmDMdE6PhE/SmNq20qZNQOQhRmHl+adfcryeLkmpUQdBlc048BJUue81yhXBTwdqpma9Adzg3SO0XzSYUs8JVNxYUJClmVh5Ouhjv55zS//RBe2u1fSdzGvZ0DXJHSotHsTTxP0X7VQqWTfGSsDqiyLgtJmGe/gw7OviLEVe5Uz0OrUXX+1ZVDinOCMa5LrOMZAYtO2uSZP01fk1rlbfrSnbQdMqci8wP/SwBbdxIo12ChN0KY3g8T2u1L8fbQZlGuwTGQCuXcGvI0tRakq3Of6klnR+43W2NTIUU1G/uDwZqUKgi4Btig6i+TSMjZkRA0cBn/WaI7wkyzXNMTg4gyzdASnyYmxkc62Ak7JwKfgaAhfcRZcn4BrvUA27bZczvhxoV6TLka0I46MmQK7AyCSd0Wqj6qZQgqYhXyERjo5OzyvegG6QNgGiRsxBrXcq0vNtJBw88qJ14OkDUWHR5mGKfuDzDKmOtyzK1Vb36KBNKmR6Yeqe1dM9KKuBeClD6MtAE3JbIK4jACjNg5Z/h6tj483JYhRfhZa4GT6NcAn70K6fh/J83pNF6Aj0oNODtmd933HTyZlNr9cRHUp1ATK7vqs5xnLIQQYEsRv/vWFd/kCA7lmjQqpe8YUObRPIsZurzbiFVp5HdMqlHSDD62KV/RNTkN9OsmDDNnB1WbGU2J1Sjd6BZwB7Q0EnNDnn+zMz5Rw6xiUOENrueyYlsdx6SUVKo3IpCzU7phARvpF++TlsrbIwmGMhaD75Q1T7NYC62ttOPgaxVLSMPcx3tJ+vRVYDFv9eW45EOuJm8gqwV2E4BAKUUHrFRqoRxxhWbhgIsvTxT4IoJkgjYCrQ+/nDO/IcQpRRlb/eE4kZa/lpnqdfnJC4z7ylhV/2VyflUSHvWnM+KusuQJWXXLRkq3fUDi9Px5YNZmG+naMzlsJeRRK1hrCxGCAN4Z8xeJo/s52emGlTRrn6gKH+6aKKMOQXYBLI+viAm5JXArndqwWpFYAUNy2IRomO8YY2f0a0SyQn+PekNvl8Zl4j4GLXHqoR0VsoxZ9Yg7F8gRa8tbaudoi9rDqj+HBTtqHmTSUaMqMVtN8dYEfZpxKhi5lvZbDgmkCYXHRfCbPK1hBOrprk5FPaP/Lcv7/Zr8Pqe5BYlOiztfkS/VT4CcWcb9loywoXDoP28Io/CH7EtYD7L0p1vkYyn1ZQ42aqVFGRkHMU/AJSwcNAhT1igWEl3ACEJMNEURclkYrOeZ9exXRtN/BR9EjDIidKfIymc5roMLc/ImhXtpjvv940+4HyhslHrO3OjLL5q6W624NU+L+lAMwqA15Tn7yGW/jUtSSTBgfbL7fCU8go7yzwqy4GvCg6ZzmjPQCVnAtegEzSbrZLNxrM77pVuCvkrhV3+jzszVqKQ90Y9Rg/lW3lY6qQRmI0z5CVDWNTXSdc9KBzp+WERwP1Prucf184p1GVshylHid3VoIuW1f+vVUGGmTFpWyau6P0NzObEFVwvD6Ey4Br4UTNSydrodrVpjq1QsalSkHDPvLEjiOAul1emwu3lW3vyYxnjtDoiaPElSSIjPYNpuciBGfnfl40yFIdQrhQYxMNVInfNTHypP/7t2X8B21XJ+IxoFGVW8na6pZlkTltM6vY0IFqULhAvA9dtp5gZp6akoUc5qp0kITQHevjfAtWWEub207Kmsj3tyt63ZVeUMHaiRCKxpj2Bbd2DJv5gha+uGoXKBwVR7/dRKHWNUDFHudyn8ve0VG65XaXS8ndBk40jPwCHYB5JU9VgD3UBQufVs/w7D6vza47HoXBt5skV+JfknScFavt+oaTd7MlIh5bVU2xy8uRs4zaNK4plb0HqZYTEm+pQkjDPeM9C2yuVX5Mboz2ZvLDnif5lYl1qKmC+lb6Ik/HoL8T/d5mrorFMgBQ/8ExUU0WXOhTspRjNVCqkXi6n+ZXBDB3UXEe6vjOn5SDiE+DreIuZ7cjOFl67Oz/KOrvgsSZxg3ShJk5wFEzDtbTUOxTuk8DuaaOMEu2wFO1PiGFlRMu/1CQijfGBvnnc4x+C4dVaI9sIhvf3JRUSJGKnwhbSYUMXW5MnWg7pbrHEQgiu/kTyq9a5RaoaMaA7dJCwEHEexU7NVUf0hM2wvakELqo2KeW5Hhyl1hNTXgW5I6DAySXOBdx6X86IE1oYslzfsvska2qNLtU3t7su3VdvGBQmMziLhmvy62tOtMRKHg07moE6ASjDDLTnqsqfgWRG2HiBmfM3YDwGtJjxM6Mn1EXTcN8CIJXSeRi3zbTFeYTd23tevaTRzfogpwLh8sHjbfkQDpNiHQVN7SpNGruLLGHcNURTKGm8yHDKRQa//EM2is1uRYhONImcbkz1U0C0pJpCgFG7urYbSfwPnrAX3IOJslZ7FBgVpUmytgoTybZURrnLTPkyMLiIe9Qt5pCZ6A5jdHJ8ZpuJ9OCOwl5/qjBhQbHzQM1X1yM1nta+Y5Rr+Gfcu8wrI1rzrDPzVjrx5D5vym4JUG0wcj/2hFblK+qDZgBQ6zDLvyf98NYPIBBuwTA36Vi8AjHZWnQ8HpqnH3+VWz4Yc9IwKNXG8fN7vrqRjcDTfqH41WKOePpA70vbec2ToH8h0k+ka3zcho6LpipCoTz8iOxzoFr4bZ8vbBrxHba//IgKdgHUD22EILgyRTZBf3G8G1XOxWqGdBPhEfPuwTrARvLxhC2bKY40Q4e67yrrEvb/Jop713gES2B6RvPHJ3WpxYqiItS8F0dDNKnqhH46t27uZqvbw5eLxz/IKAR3cdA4n8Gajdk9dSetOkXPkNH4saHdz7QcVAevjSWPoJpdF2+iHjD2L/ekLhp7X8j6ZhlfoWEZ8HwwOySN96CvLNNmr2aV/26BWNDVRMuIz/iCJLXWx7QhYzN5yrxJKww3bsZPaFam71lR/3mrz4LyJJn/umeG1jAer8Xp71aOuD6l9WZiQlFEgb5NtVUJcX2krCUeHUBo+Fk5M43RxFDvaRW3Bxwy9rxofo7Fn34B8LpXF2CveO8w6RWPZ6LKa8H7ip4iYEGTVKh/34ojh6hO9sSp36GE/pb03izYd4Nt+91c9ZIzquaJXEjFVs57BR6b71L73yPMlLMtu21OGMU3e7pEiSKKqN46o8T363FrkstfXy6guV0RqhoBSy7afQLc8/9QSr1EsqDr2G+CBIRek39rmZo6LNSo4+72YpYzFI9+rWMviKg+FaPMVZ4zEY3Nm9QdhQbUoQPugJMsNoaJ6WaMuZktG5yeo0fXZ1m3jMAUvgGLEfqW4+cB1e8FNeDHhVjK7M93+aOjyK0F1dMvYpH4+0IYAx8orvCL4LUW1Q1tDyBM2ERan79yB34s/BjNJFyoZIiFrMhTVZ1VyflBWNk/48sRh6RY82GxoHWaoM6AhB/DPjOHuiBXJ6D96HuvKPo2Qh72Jz5b28zCZnyHNkadpePZOp3UBCCjJRKPe+ioxETZe8+OBVKG+eedJBLfNZFzQr1i0AqRrSIQn/zA99VFFyM174aZ6qImGj4z5lJbIrHnVhPRoi3N1KhYtcpxqIzC49ukgqcxXHTy05Wn0MBS4IeIzFwYLQ3HWAfoYupNXOGG5i5v9C+Ze+feuDmEsGmMIsKXf+NnmM2xb/dcZhx/pSbYyCTkI3Um53sDOlvEdLUknK1i3OPCIl1iwRqqjnvFEqmW+ki7a9ow5wg0UuNnkD4BqRbf1hzM/VlakaBGn11KMySpOND1lTyq7MEaL3m4IlgsKL8ixMkN4BGqJcLlfNFNWL4QLyAKbs2bNDgF7pSu1s8g2XwNpDJCNGk6+PPl0GMmPzUEiFC+0Zw8plgLzzKCPtFwfGEQbSWJJD/ORmreMUqU6ufO/mg7irvJj/epWb50iuyZPZanqtxKE1KmVs8J8AkFZgB8Ymjv+zUoh+rDWSRWUfQfArc+kmVTU1BZEGv9jdymZghZp5KXrsQDprEXbWV1ViJWzY86VkOwO+I2gP4fQKPNtNf2OU0jIPqOyRLx0sBPj/vpAxvwWiXxmnozoIFJ8q0lNPRyI9RNTmUJueUDg4GVkdpXtqiqoZ2GekQTRB16GheJiS3btyGZn2SRUW7ksp6OIsZecKh2oAywCohfIgJ9+gzbdhNiMAtRUlOr4XImVruZvimFpf94l14cR6B96mWOsT+uIclAo5YOVuXT8v3Ns2USNUKK5I7NbGP+rzUa5kSku/nP3ROEHyBz/sBdK5cYj37nRnvUrIGqN3OiA7JTnWSa4NxgDcYCkybd85GB0RuOJznOlbEIftrDFwOue/ter/LYEVgCW0Tvff2fh8AHSn8XRnvX5GT1LUMxwD3nJsxNsfOa+akWwlJ3dkCij6gH+VXfGFZVM9W7Sr4cigg3k1lxnGvrDWWv3ws7M0oCqUOavHeCd3P/yRFBCpYJDFvhzFYkJoDWaThkBOhc5+6FmaVcxDtlXKIzFI4Ao+2cCpCZpzgFoKp5iKAq9vrZc3RREInhK974h7aRB5+Vx+5quy68vxmVSe/mInnueTOcqG2ErleNVU5RzWpC6e/ry1qWcw7ADqL1tGGTPfjH32Zkxs/4N/mJoT4a8UxcRG58gE5tvpq3LCJmYV7d/SyieSdcr9dVn2IBa3xhM8xlpTF+CbKWc9ul9u9OsudMO1IgjaboriGNnPLjRQKZXDo0DNZ47bYgxGvBJbAR/BHl5ykyi8aPIamOiyEaiq0d1Q5hXSEELiy1xGqbPTFEEpFsT5vGSN0g3yfjEdop+yGSbgKKib86lie163QEEr1CNjUqQNb/L1pQJnXpw2U86T8ZxqS2yIFDsXW0UdTdiLlT6ZAY8M0+BTupdvekqUWPf7h/glKc0K/1L1rk7X1Y93/Eyr2JNISYqu8uVf3yNLrAcvjRCQpo0mZPSYhlv1l6sncZzCSabIuJK2TjIktgGUNuJk01ERpZ6WK9ZqzdE4YuIOO/RUwsfIA2XSXQBhdIilHP/M4k3bpIUkZ5mk1Pc7EpIOvWBcDoXuBEyMhRcGVH0KYyQgDuPTr3W636OrfBDcwdMhBmlDgLRwmOygaV3MeNbF0VWQnvgRb/dCIusWYigOXfTovsu5fGASY3lUKdKjzpyeNIQR8pJ89vSwBbPaHpQCpPNhtwO0yzwQGsvVHWToVC043GjiJ0l1GdmLmfl0x/KJQp3t7eIUH86uqydA4HTu1wCpeU3Qd8qZyTKGJW6wdJXdUwpPiPx7470Z/Z66GKm5qLoHiyrBIbkkiMEQFgczXoUSnnOe4Ht8xneB9d4CuR1L0HQg/ffgRz5h5D6/IxXmVvcs1Sf0kiYH0AXSu2/UASguLRUSHBbe7m0Nvvf8whEByq2S6P+Jyrcw8Al5SXeIO77NWThwm+zq2qFJyMEi2cYpi9y9ans4RDSNgGs0EF9Cw5Y949o8Y7NraA3XaVmkPFxOAyoCcL/DnsYa6xGs/+befUILCByRFf+TmhwMcA9yjI6B9Oi3K6/Fo0ZUAnOBZLyyaR68yPJlOQ+SDuoaf5l4ZeTDCmvO7G9I6vJ0YwFWfk2x8mByi/xNDm+FAGbChExTZY4itUoC359C32NX+9ZTzfeGf4sMyqlS2M8l0MXJX+Yy0CuKCjWlgFS+QnKdWZmiIniyqDtpWZ8Za8NcoxouqQCw2CS3USfBpjGfdQ2ejLgf74DdjWXUD4jP0VDTHdD581AXxy6EEoJuvFw7+Ic5UgHrB78ZbIax28IwgK/eOifcnmOBfPIULL1x8ySbNhYjCZ7RqqfMhLjlq+sRDGhuNg5yCa6g1s+VnJiSwxbGgbGJLlbX44hzs8cBNAg/8jk0aeFU47habJ1UFOONYQaSgNxpkWzfysuRPUvqbK1HnbjcCLwDa2BMWQIQjaVrb0UT3vlONZBMbm8uHpLQL9jSbHjSLQmZXFEVSDDAhTSwGXosWy3ymNN8MghbyQBrSPVLTcqDxCX7RYZ8IJ+0LCxzDlYjmdRfqjMWEFWw006UHzgM/s/sq0OQUO2osjBglIEebCsr4sVFZE4ocH3Lx7P/7g4+pXx9NFEH/7haZBifyeQThgYebfVfYfp2kt3kyvIExMyjzWMf1SXPZrwDFR9QuhyZob+SbzLv9mxdnCwiqV61lgJRIo1s/D0wODpueCkZeZ5Sh/8OCXzPGOhlB4RIDED+WHa6sExEGuwn0u6X7WMMsbZrMje9V1b0ViY6dMuOIDrQSHD1ocUCdvleybNbqsNAifNC6mGFhFLPQkRoTi0f4P8qoaWUb2KT9BDXtZREfJtL/n6O+EdKBm8il8AAF640+Brz+bHhneSa+6xmeq0gnvTHTbdddZpbJwHy+F8BZD4KA/5D9Ux5kzhpvOQv8rcVXZM1bWtvFkEszTsWyYQrtbFXV2T8/mR0/GW840OKD7eE1edmiwhNYtlLJrVjxa1/xhZeEEsSvLveP7ureI0ezeyOW0fyJqCuRXaoybp1lkw4U6Y2CyNQy7yRsyuxvHUwXRNIwT9/rZ4AO2ld8Z3qEZQLnvp8+PkWFc4KCTzqcx62ykXQcRUgNA6tq64du/ysTd+tMhqZemqYt6vBBQUf/WBl8u2Ftvfc6rf/nbdFv+Td+3YSEHm84eSHS+XqSBEvE96lDd/oxD33M2bpn6nebVWgsIBPCrZ6rLgxBBcg7TOdiIf+0YKrFbdGfcjYdA7KGo476VnPyYbWrM4NyUyGOZVQ2ITU++eRCMEURVa2j8AtLcN1ShxX5MXQy/ZglDl3TV/+wvarJHVYZrmTLGhw+7uft0cizNbaGG8V6OtFCAWxea68WpkNkYSJutEDN1Giezem80qzlC6e4bdiOSwM3RcJXkacb/aY+IWEWVDhjEzScGwxkrKtRHHLuP+W5AzWWj4f/24Zd1mRhPVASck7vZWbTNEV+aHHWkIPouYKl0QSjTHaeB3aEHYGYg1fdcZrEi+UKAcga7jUE1pOq7d9gpM9h6HqK21Z27FGquP/Z/lKQSY4jmoJKCSL93TaGNG8SiGHHU1rLAhd+rKs6LpAA+7niSrRU1IAziMMkUhM9woPfiS+wJOsUGy+Y3gJZT72vBGgot2AgSrtfNyvi7e/SrNbZX3ZufnCDvaHMfJHCuJkK1ILCPiWr56Bd4OlOaQV7Jxpbhq3PWyVg6wMRDyDKVt8W3l7M4iPoRQZHuw6Rgewo6uVmwouCypbQGiqAZfV2l6dh5PGbkaiiMOvsBTaT3azibibwAlB6okmAEriZq/y7J1zMjTycMUDXJdsII9k/BZ2JUvWTT9mirhxlRj3HXVf6/5OELUkNow4a7xkxVK+DH14q9FMopzN+UT2uBiKMofBDp7XY4zwnnv/iS6zoAiKvLJQqHBFDam9UM+FE1eVxpiJO1TUI/SMRVmdYkyWO09XCUYRNcbq4ExBA/PHGxDAhCtiUb02RLOdbK9Efxup66xzxE+aP9mm3eS/rlEIDWYwXvaa3ZDyeMxhdXa9KVTY5qZoj+LEIP9eRLn/gyK21hqYkC1BT89aRLC8mV5Inb47I0uK8d5Mk/J4Vwj4J23sFlidUJBpt0ESZL2ManE+izdDp5ggtj1fnw36fmU7DYjaizpj/vc0oEFZSia1/XmQWmf0SumyeFWjAU8U/5yah+43RJEObLs/zBxgB1fLmf7R3QmYoJ7QhUyLHcuJajLgAzgmx/71mBchPyx+bcUPZW2XTrRsCDuKNn3Z1SkMaU59/XYE0WB6pp7nC30BgQGkktiqq1XsasMIxeweIc9ufjXAetbZs9YmdhKcQHPyECoJUys2KAqdkPx/LBSEjYkP6CUPYERWv3o11mU6goi2zsoLOptzl0Km2WK/bWR9z3cA0nyYYDU3osF+Cl3wmTMbN6my/Pk30DDIqBdExrM5I8V9WT0JdCH3BNGfXBd4PUGNnBdYaP6XWWmZrl8ImkfPbTE4j/CQW02aVh6kRYDVuQNrgsegNYHgIfwIhhigcOSzegZeTbkakyl/wd1QYJm8izQOOKxXj7N1zGXpyVYtzkj8+27HEQUyo5fx8Q1yJE3xxiGkVLjXH3ZqWxOaO6Ex3Hm3MQ9s6GnzueKeGArXb12SsFDD/XislBuqw6nOZDdbV2x0/O73OP4ntvV5HhFwk+u8c/T14eQlGtlfHWAvwT1b9f+bLx8KmTsuNL/r2cT6xbf0+vv30G3O7VkGxKw+kIWnGSeOnfxXVZWc56Y+mCLZh4FvocoGye9kPlBNbTLQA3j02VcukljOM190d9V1wfyZCM8ulM2K3NdJazSymtZmNKozM7ikfxWxpiuPk8Gk7P8BaVhZrIrsts5U2DbvXzQVLK2PJHhXX90MEXgLcCBc0XEGTmFU3/NxfZVfUSr3nrSbhYMxyW/1cIiRx09t6Zrs/MPGaVAYH0RDp4evxPq1Uk+sd+gefxbE0abNpvkEfBNSxyJdXWUBsaeelOwM6r9QZOwu3M1rJv9NV+7Xw/jELIbTF2LV/egSkvwxlia1z7/ujBioG9lkrYttMIYpFIRdZ4q+790zTwrnbTGi3yBcrmkdXqwRpj7JKUjZeIHHI5oGKQN8BeRxSlFf/Ry3qEAjJQg04WiBg9CoLLsb7G4SttAoFnd+xJZO41EYWC55euM3jxM2Z3oN/9fKK758Bt/90xPvR9H2Aa6Bba8C4t81Pf1QrAlH8Vo6LgI9a1pwgweUQzCmYho2VxAyxsHXXKhyAz6aLEefXPdtx8bVtx8DIZcqskumOTJbIG8gxIKNiu0zueIuJ/W5JCEbp/fOT8sCKCe/SxZyyv5sqD6rapl7JH7dwOjYGam8FeWE54WQDRuAM6ieKS4GsobDt2pUwE1goQXw9KJdpjFvjaXh8v52dHevW23NyEFS+3ySnkfV23pu0NubAO1A8tJjkR+N9HZrzV5kH4B7f/Ia7TAB89mAAtjgq8bemloJ/qV+CjCTrTdj2XC+lJUEcVU1/6KyLrxA0nj/O5Bwz/UJDzk2ECKOAn6KxqvuSEPWhlYXTICeTSRurUfknYK3cdChho90eQGrvGcFJWClewdN9AXOfaXvcluOka5DToeTcWROcPQukEao4782n0Adv0kZDZUMwuwRSyRrlnM3HHW9xWp5S7O/DCwmtdEvRQAlc3w6pz27FmetIygGQmS7mlSQk4K4cuWb7dCVgaH+BnMd0aGsi37MGk+ZbIQVMOTsIOUJ7THLzHrivHK7eQRmIxfTEFK+SsgUEDdazq9MUOf3bPUGDS3qVlNYu/g04oWksCyTjECkFTQO2ZUfxKvtOV7IltfQarox/J0qtFU5NZ70Jn7XoKM4u/1yoKx5wAbaUUOGVTjOZoe2u3ezGeX6jaBWCr1iUTMjsKn6Gzf8V3NiOdisEDHN+Sx4XL/e9yZX9pxEyYKfAgekpiLKcmZ9cJUaXVZOXv1tZyuwUXl8DFpmrUvOWJpMVzw4GRk9Jkc+Zwxn2I0zfsNcqJOA/7dUREi6NO1PuRuzvnjZVJ1fXejAEeU8pdjSOZOBHGpHCsgPrnGd0wyrbXfc2qt+pif0GXhYHoHim4tkAsjB25qogeprnVtf/9/KudQyw55exrfXCfSoyDcAsCq99IVBSWFouDMKF/Y3L1gi5o3LYOvL4ArKAQ1M5X5iDoxbCcvonZe4dkkv7IB3YxohWgfj+1J6VBW+LOMEeAQE0Zn0mk03THZu6cZZfjfsYlw4wic3uhSmvAMArtxX1+WWdLT0wDaN1LBOyRAlCfM/UXU8DCJQP0yqthDpEiMHSpr/JPmJ9h4ScC30+64fwduGFw1QtwKGMGqYT9e2WgNP3NOqanWcf0EGQne8hFfAGWYvRQVrlNO+6UIDM8eMdJugi2ayRHZgHWB+1cAmaH71aXZsHzFEq20k1kH4bRMjDi6EZ4baztlkLTsOQICHio6APlhPujTpFJO0l7CffiXoK/1F132aEqeFYlcrflJ5Ph7KGcUk3F65u4pSSMQ9+CBT1MAEFEM+x0I5Eqjw8S0RZopheFLEdwQBSgaMaMkl2ktNIuyV6W6xbYUTBcA91lSyfzaK8tYPOxENOfWWcdNyKJCeMQ0w4RZ7gVNDo+sEgDJbvSJu7jU4Zwh5GIAxX/Yr7dRaLFEMUXrb1njZ3j/ZY/59FXPh8dfq2eKT8xPUX07AsvyrVQCK2x7e4wNQaRlax+ocHh2eWCr08nL0JmMKCv7DURQoVa3IdeiDTeIHuCAVfAjdJQpdnSxkH/DHZAdrQKk5XsFrIcU2YhcEDQ8hlof4zhEzJ35gakhS8dKNlBq1uaeR+mgSiCD7CFBb1aN27imW8naIfrDJksOxxhpZX9MmmkVP4M4FcLbDJ/twiwOUCF61QDVaeEE4tAHsXs7pxuYlojT0MmRcX/OlPpruPvqCU7OKajm2lFby96R+UIdkbs6wGewctAEUBWgthJZLuZFYXJ6lFkkuiBHUea+mu6vQ5Agabf4OklWzOgV6rIodoZqE3NVYsTJ/YJutnDu3jlX1oPhHSfrNgj4+rI50PhVgWfR8KcE7QtXrGiAHu0qLk8B45khLi7nHrMnJOyzbVaZCKk4X0i4fDWF+uvsXEF5wwz+JIcm9wKVM2NNyvtVlR2+F70TBLGIXPFsCrwFvyBcmplaplTWGwzTSirmLaGUEsvh3QaSz9e8/+0CHEANS/dF34/jKltR3poybRiONNM5z64kPyP+8kL/co44cx3N6H7c5M9aubVSM58mSo8lxiK4LITE03UmzlehGHR5Bpb3Y8WvQ/BnQvPV79NHz9WXwzQNKfYovaMXeN3wYdaxKreXObwsisQdQvw9JV5d6bFShCwND0+GZ35BYIBkEMADQzMJU+uRkoYybZCp1PmZ3x9yZEEJ82jnP/68jrWYSEjtjGqB5wUmhD+hkXnD/uA61TDLTliBk4HqZo2tEq73599lvLvilEbRXnKWq6gSZswke8ISj1F+tE/XxOGNIQgJviVupwz1DE38R32AHKjeIkM4jwWZ9dwjtpRWE9x9MJw0luAXo1zQ5JhD+G6/AttC4KxF1iCbWzUF7K1U5AOE0qCmj2VdWyeDvDyJNYw5h5ATNrUn99/2qjH/K60JX8ChLN+jBhfuLRDSIZl2aF7bPA55g3xfBV+EvUyMk+7Eo0M6VbR6DO7dbuQXsi5CpyHaEVCpW69NxUqeJBiha21Ba/DcPScGbNYcxX0XD8wk/kudgocT3/X/K0xJFQ3dd3f6XTKHPKyClm10b8TZPCyxiMDD5ORKBt7iqoXeBFs110uJ9Txv6xVwxo9P48lNeB66erG/IGrZsNm0rAbri/dbuM8qMU1RfxOJOFcMb1TzEb9d/dL2DlYPzOO1pFEFvLirSdlfcS1Fmy5BM/tnB1N7o48IyEalANQlKFE0wW2boIBIsx4q37V4PpPJYoctoMEDYF2UFaTC1Ax1DqfHnzmmG6Y8/WIqGJJ8kpL5la/KBo2M9RoRcC4zuutfpRngJn9Sv2dxU50KghKQmhRm3yzhajJa7Isq0nLYocvlMaBY9Ck4giDNnhXZ+9UzoIZTCEh/Y/Csc7eTv/bk3mn5iIOHrUAPRQyTXz2jsCIHDF27HNauwq6ACY7Xx3r81R5HFb04kY5h4LrRUt4X0+5E9bnwCVKIX+mvYNCW/DJLx0TcvVn6CVG1MHWA+v2wDQC9016wDpOydO1CQKpP70ubkbVA/8iVUxxD1ildtw2igIB1a3HRGegsYkjl5yNxgzoqxU8baw8xUKwkCUSyjQ+R18th9XuENsZX0DCryDDf/q+5BSt+MTPT03BHCajVK1sa7jheixSmXBMHL2DHEVuzAkwi9kdW0ns8S++eNCaSzWs0tSe1mo8EEAsvVGp6sZcv8WZER4gWzUrCkOEOx1TAaYmPaWkSjH468AYJ1DcdJDPisa+xQjETaJcxhuYu1BOrsNYlVmDZRC4xZWFWvAq55+uAYpL+mlw+kiH1g195elNflwegI6zbH5cm/UGRkzpc9fM07k9FJfRsFR+JvIwcIEoW2U/rxv+51qrIzvkB2a1b+mPvnMzbX+Ayt/VphY2e2KkyJEq+qUh/OgcHcFqg5SvOSxWWP9uL08ctPRm6KKRZDD1R5sqdKg4nRGrtH8Lx5WjSbzq9zuduz4HOIvMJiBH9sPRoJArNq+hLpw5E5aC4MWQiYYCsFE33xwY5HGJCqtSqh2CdbLYJtMu/es3EVkLqGwNnuRUU7Aa4lJLPGPZ+t77PRK9MkzaNxk17Yozn1EBEjSOqaPgoNeNycYiaa6N01Zw/ptNnC0CPMmTwth+ZZ+4dIr7ZUzZ007jwn3j6a19k09dS6AJ6sSCLmtJzXQaW1pP6cxyuzIdQascsCwNT/1mZBZ5zyyIvPaSsV+oFt9+d1O8x1cj6xtTBR4MvUPW31TKumWOizrlp2Ag5KPJ32Mgi3OYuR6UQipnE6LxGBWQv1BjLZtja8iZjpQpczhlaDfe8e7o0kt5svJzpLI69bVzFSt8LrbNZzWRJg8WguXaqbNgEmfJWHNMSFQy2URotXOu/47KgwUenIowpolEDfdIbi+jH1Sxkz39svXAxbhpu95gPUzhQjy9MS0E5KhUU+wUHwYKwqArTlqSdAeAOfSijgXcba00S3lijDiLSAtsJwlI7qszDK1TXBDhwoCRGg10hDXu/Xw85C5367CfQXN8nPqVEbI8rYE8EGfLyI+bE1OWWijObamv3z/MBHFmQsIfg76QYNOsH5UvOtK0RrJyxQ194kqvfsIWfGqHmijXUR1317vQ118DTlLLxkEfbOeo1X+jIiYhqCX9Ze3jFRFXjggHeaFQofsG7KhbuQ9I3D763YnSfMpyUTos5D1KVDeqvHNBZ0fyrPNybbZXuaYA0RFbuT179hW8U18w7Bl3jq2YxB6m4lWEAo5whIJUaC/TBzr0yjaksp65fmmCYdg5lxUYkoriUFyaNXWjIt702Lpb4if6ZPOzGdy82OHVDLeMSLHdoyblFOcW1Dmo4MFngeRtR7Ph8+DF+o8cYeSWvkBKPfPJo3ridINFFNOGWeH+Fs692xtWVMVcpm0lUHWUYz7C7GMVP02SWrnShWkKQgLniF1FVmSzVxlbqlOTZqK54FwJgpCtnV0mSZsgV0bRrOtNf8CD4eCbDmb564nWQZE+ptaPogKi3ur0975KgWtX7i5jsJpo6DN7Lll2QMMkLatNCloZuTsg+IKwcBStN4PHj9SsG1eTF/4aS+7qPevZFhZ/LU6Z2AtTVI1c82BnofDs3HB4ldEj1lGXICIFrjxvOAv/5/x1Z4hN48GlVv/AtWQdQRfVQp7E4cgEnOYKnHBYYyjVNrv8S5iC1N48rFkDA2eZVEVvGmSwVg1ex4O55jpvJcCCGyjybcajh9S+8V/MloWqWf0JjoUFhN1quHxaIjIUygDyWZ4y2Pq4uGY4oLXkkQnJ4TQX6L2sA5MwkV5EMXEdqyu6Og+IMxF9ImImDv25BZylTuQtUJS6IupRUb6qzK6eeLi6KQlQhoYkFP9/aeAe7w8Gzn5UQW7W5hdzAV2RYABfTGrUUS/gfBUjoCZglba5qKQHiVaQn5pMauPwclXZAF0xNiVdq5dj/q7c+VeDZX2FH+8Dz+FeHWgajlQv3nuhrbQbqSLSsEdzNShPUClaa+FO893YlpYE6MBmXjom2unKes+wxsrWhcaqX+NXXtALZtb858vE6BXXoMciuRPX+qMPy26rUYhy8hsr8NB/Ukz4ld/XLWyjHxwZd+zEy3cPRl7x+2MyFq7Fk3u5jl0EFRUJ3dmZrzo6jxDaX6s+9PHJji5gXtxNv7+NqcqDeAQdfjPDRLaRKG+kqK/WmSQUw1YeLL0LKNw/tX3TTnNYc/xTxLQRN956i1nqbJ95uA3EJzENqaQOEqakEzZv0SGOVp3F1VMZgC3geZN2C9f6NgVUEblXf5O5dB8R+gIAB0DLIRiypWFfoZqfNDyEB4Jg+R+XZhmv8p9ezJ3zse8D3Aux+76+xsoGmYEPUhn5z+rl2ldcdPpfdQfJb6fHtZlsMuYJeWTtwSCZ6tGA9dwBGHcUmn5e3WAEJLSqz1Ss0VtbvMOzCB8N/1n0XQlwIniwsQ85q64g8QiBYVMaKHP7KPE1elp/dMetk8kroSUYN60FJxP95ty0bjkNaRakXWpOrLEl3r3xndkZDoongtwc8X26LRTEAWFqjS/fCObRineY/pUMHcBs7FbvcW6AoQBZBSHJch0TfD5KUQMw9k9ftPn7j7KdluT0F7HTduwmksNGguELlAy2PTPqzeX59Jz/r8UWnx19i0EwcHSS8OrcTQxAMVTNoiXqCu8tLuQ/anbQCICcz4qH4/TRU3ERWLkDlX48sZi9Dx2/Kp1UjjEdneYNPdH8wyCr8oB9VYEO6bGoYAPguflsc6TAHx+m1M5Usp69pYCNq5mxqZ7Tm8XYOYjZ8KrFTUq/lDeEws88/0W+y4OfL2Cl9f7CzAEfha6jrYSbGz1Qe+O5NFbX3EmiGI6afoS4nCZ2DB16DPlCRfHzwRxTiqntz3NHUejr4SV1nHJeu/X9FHx2n9ySvqcDSv0kNrJ2Gc5Ki+co8r7TesM8fx6kBHJRuYeThRC00YcOFywO+Lykl0U8dERShBEORhXS3ln4LCOz6+IaVNa0GDS36TmFd37Lg52yd6yCWWVMoTJ+h9Zx33ayGagvjHcDwcSrpZAl+m9DffKA5Pwn58R593lProG3pAhE+geHg+hcAQYJRUKfekHmQQPvOFjpBmu0tT811TinxGDG+JBVO5Dbrvs7DdyD7/v8Fq3PsXj0Dx/MHaYKj2pB6IJZkMKN04ho7t3GXgx9irZXHHHSi+h91ufQKw5/reBqovELmPYZTmcCpZ2KThqMrMsTCZoAP/jTD1zhvMyf48rPUchzC1dkAqx1TsNwOS74I9DnDjzIbmrRKawyPPQ1tBZshrqyJFXvo4yqFT4AN15gcGryi32FdZ5UCfcvo6EEDECjd8xDJF9wK+j/lKHvMwF84z+hBCYWK2g0hCayCj6ZRwB7jUcM52igeoe3JHXDBr31NlBG1NDNyhaPcwfT4B/UGZdwS8QnDYTRvfdf7r17p99smlfgusVuQLWSKyAmNRR4PMkFfc8aX5GwAt85h3g0qA5+kkAi/GCAvUH2EkYpCK38Ai3loQlM1ecbeOHxCwm2/+GrBc2tM2hAlAfqQDaxYT/VvvbSy3cRiUbIz4I1AKXUJ7OfGFPgRjV1yo0SGWO+G3Ej/gEkqY7/JDLD/DazoqpHrcfbsqslUZ90jGcuvennIMOvvMWsxAwbPhKGtfEuH9jB5oM1VGX0uHLu5pMud+fpth4nJVNr38asPgivzSLQCaUXiPX75nFf7PNKBGMLqsZBAccaPSrQlR2K030kI1XRckcBMag0a18vfztxFoE3M5T4C8es/p3qO6d9kZVNyf2CNFnGvrq75ARxcoNMqqcyDSaC+hyeXva8cHbGoHwn/rCfGHMo9BABl7lwH7i2ecRnjgzFg+wwcMTosN7G1IWRwdl2gWCxwQ4+hMSbz1JGVSXixaVcb1lWArb+fFDFQ0dWV99rUV8l3k8muo1H26EkFvakolllZ30dfKRJ4mJC7KQKPtaQOn3VQxLofT42Igvc4trc6eb1u9XH0FK1tMbuy/mKcLE0oDSdBN2l1UbouN3pWEkOfsy54sGsqzx9tAOm5uF3M3zT8844BqhTw3+93Sdmb5JzdWJLw49aandGjOKJA3d2Tv2ZtVYZlAZffbQjMI2sObXQOyKoUGSJ7RnJPYHAOtXWOhfXrkHUCcciBg9bT3z0O9vvJAkMmquevFDS/4itc+BItaJ2+5K7Cy7vHxkI+NJPmhsFGsmEgzxQL17ac9M5hWcwGL6yv/qIyUcne4pdkGiJNW9zwGuzlMmw4jcUzoAPexnVKxQKuIFJm1IjTo0z6f/5IPLqy+R3Au0qo+ilnDzTih1myhYQQvCWSk6acWw9n7uEFvNJ3Fk0ookKPW9p7D0CZ5lWVGMvk3+us1C5BQsVzgYDW/YworCtDA6o+5BT9k9Tmd5QNjM55tdTdwqLl2IPSr70qdGzWADvfvVa/bZZPjkyi8DlUxM8h8SxpMYaMqqTb+osuXwqNqG9A235XCYkKMB83eBulu665RMuzh8qDxFG5kYdVwrJSPnvXQp7S+hfG9/GOSpwBIbQ9/IdDYYy/wOc19jTPYAYiiAz6FiUoluwP26VfKBBlze0oyBiEAtGGc1O5GwKiuh3UwkF0lW3p6hSOf9nJ6HqEobEPEjNXB+YqeFgaM23t0ZCQXPlfyo1jmxafE7+n5qPC4bhR+Mn1NGCsxZszSwB5m/NmyXmPRkAqF4f7fkSgt9NqlaxNSNcdWzHatT/bGrruG2/JZrH8kjRL0/3Jab6Gqbw8rKUfqlMG1o9311YOXrSKgn+60nq93HPLgWUprgmLvjjBAFoIcCUBZ67uKGCahQ4PebX0u8llR+lXSCu8ObFndQgK2PJJyrNEhAL93PcHoPgbIWVLtZH1qQepUviTVLaBWwdgaoJDyDusNaxnmW5YWG9HnVQ8y8DHEmVwL0n4Nk4w3WtC8omE4u+ZvPEbR9ti/uCip2A/dpJrb+FpM7ji5cLzepdAq0Nkyv+xqgBc9KTN+mkjDZhzfa55U1Qr2kbiNUjmpcLLs4sonz8h380zBFxnJ8Jt6SKxgx8LqFsizI9wmrn6BZN9i/WDcsxJPbdO5N0wAw0vntcXUTlMGBIsmn7jXbrLzOqnI32U+Cc5PxqodxbH/Fgk+/fbygc5S14/BatQK38o/N9ybzCMVbttJQWm7KcBipKqTpG5PrKhZ+38zgn3MZ6ufhBcePx1z/ClJAWzEDKRrg735qfJE1W0V08JfsdahpDzlvyI6L9LOyFBvDSHKk8l3NZw6XzrHox8GY4v5ynlLLV4n0D5H3gx40uUh0gdAkvoeudJ8/VKa4dfnIL46PA6T91wCsYpAWvrGm/NhJfkSTJP5pLF92DrND5g1C3L59NEVlU+xTF3jp44a8Q5KwzaUhLmO46hEcdoG1xegzN4zHiRofChP09/BkNMpbt07TGwXUrizz1k+6eAV9KiUw3IF7YYQzpKBTALr3CnfmbHl/uvSpKa/wb5aBQT8rUB9vJ53Hcj0G/2SMkv+nY84HWCX+0Sj/kT9xiNftSRPKjIGiSR3MniTyfNMU0PYx7m+qaLT3gyS2Yl3Kq59oElpdfCIwAun/5zAjc4M/EIp+K7HWJV02EHc1nKWct9sFnXqRII1o8ayi7x5C4d+PnmjWHgc+htAijPbGT0/7oJqLdw0ix2dVXA+JgOmQ4tYvl6irJ5DvBGTkkybcCMEqwX+EGqqK+fn7/zpo+WGZNhtDYALwiLIkn/4/NjjhVgo2cd7MdjyGUJw1qfXnG1ENEUwDacxt8ZkUelyvhdz/HGfG5Tg7Pvh9osBQ0vyVKtz+u/uVsYnTMqmHtSOgNFNqW5A17o/xBMbCfNyO+lLRTSAubawAYyq5aj9zed5RW/52KscMa3Sm1dvQ72q/9s7lQNsZ8+KP5sLY3merbOOBuoq6AbQC+boSxJhCVIli+vkNYTFOSpKMetuCOvqYlTB7zk4zKhRSXD+jRW8kkWJqN3WefueCyRMXE4iBvDN8JfOfFZIyK66u+spG1E4ANbiakSISJc3CsoxminvBHcTvKNvixsKMgbAkg2tRND3Fk8MGKvwv71+GaQ1uJWBDEMpmMG4JDuq12dpdpG5Eca7mFdE4HiudfrqvTQ3WYQ1ofoc/rl566KK8HxRkUHZPvkF1T9aOya8ZHNErWynNS6g2B5jBYXygzHQcVPQC/tRIVPtqPH+5wg2fxKNJsN12n9oD8Q3DP+xOroKdi3iqJDfd9zsbjbysr6+/eke6pyCUFAR1b7KkVq642zDCcHWioGPQ8kMOtbXgk/WmPFwQWLxwe3q9wqLeSdTpeH0YoSATIk5hOOeyyzPkLmYD/LbH4NTlrldf8VAkQxvalHlH5MA1CuSmv2JNjQAlkclpoOqF02MPmOwQV9e7oSu3NNd/c6HAqr/OOe4aE93kHuQthlkfy4Vcp0rMFXhsTF3EFIhhmu3MgIcyDf+15sSdQR6rAWLBiQbuK5l87dufBOfBP58dwOw2k2Pk7ovqEE0r86Se9fD3gAjNcpqdhEw8yZgSLTkQrNKncplY7//gLptPn6I2wquVtRXlgco+QDji7VK/rkCuv1RGN+4GsfYB/tuNpAwk4LdpYPWD053XLMiKzcKVXdpkhE5DdlyTXvd1lLiik7jahCVHBNhTb7870F6A9wl47W94bhEeSffHa3PhlgTseWBHDw10+Zxky8duDvrJ6zWm0H1YFRWoATAe5p7sWFPKK+aFiP88OI11Ej+bgZq7Qm5WYRqCiynvkeLuwVPybNgaHQnlUhz5lIGNNik44b+KFFglUPALBd77rf0aUbHWklNcY9vRYa4f3R3BbUgjHtoLaCoa7HBJZXFJTuR7gPotc7Ks5Tl2iHaIcOqhIJasicuvYujnjjkkd1lKL86XJro8tOcuP4uw7TpOyKZSuNr2/UbkqcAeVLj3xF8G9Oscxtz0Bsjzrt/3joVwXfU+03/liMvtuyFg8vNF2OzLaTH37ZWx1mvn1EEKsV7yONx8gnYAxcswBuEoYYc3+JX6KJ73ld3btehgNw7tJyza39E1qtDnmeBl9R2ZWbUAhWjpQWl5pwIa7yBz3UdRj8vgLpEo+tlHBzncTh+nOb46TFvCzKl6mn6oRCrp8xWD1x//qcTx6YGBYQOrUjvrtTRZE3m87DR4OP9mOFrFe+vnBxL7cKHnpYv0c1FZjb2oNYJurW6ys/yK5rme12+bzxyGg7K87CwagE48uea+jQ2EEmuOyUu9UvPCoJgVmSM+th7EhmNY+jNvg4XMijEHQN1YD6LU0as7+r2XbXuZ6EzfVUQLN0dejEaH9/fJoak95v+F/gjuOtP5h4IOlGqwmD1ga8G7Nd+nSDc5gWTTVwP0isTfFTlysnmaBi9Syt/mxwQkErw4z1l5bJuXllw2c7HdL2ZTjGSWmHnmN2NEbl8nfiY0Wlr/TBgzs8e0Jjgw3pEdChmDEVgSVppVPQx+35LAVJytrTxQ8ZaZCzytumULy3VWnnsD4kURhkNVwiojCG5/y2g+coVKlb5XFKKWmS6iIg5bJR3yhPOzNSLeQr0w9BMcvkS/sBcne3HoY+qb+98N6oaQD+IvdFQ1QDqwrNm8pz+ZT+wAXXoL+vAxs09u6AG2t0TD6cHYpCDjJ/QG1FrXDcpjO9ur+hF7Mu5OP9UjDnj+FnkD4BxDU8GrotAxGGBZmPi0A3K5aTBglruK06TDdUPJXBmfwL5RTMRqhfB4RAe+MewnT9wJ18XN5nkacfD/Szhh5dXC+FNit+nPlmxiYX8A0uUOk7rtgP2KNmjg+E5S5gwhwQriAr6qUbLgC6uBD1mL1AcFrnFQVL4Q0vhrkcA0cE1ZcDXGR25mAIFzNeBOrHLYW4XC9R39o4l1N0le9OCbBuHn+pScnKE13WR7S/aO4Ar1ezcPsd5HP5FG8Kxe4GFehBsUN8JcIPTrkdqgbg2J0lTkgdsjOg7atydmBY1X1c3sREqf/NP7R6bysBpXNCF3g0uKzRrHUZwZnMA1BP+CPzdplPMV8zUGpJ9+tROIxz28IGSn3f/gDveOIXmOaLjqDjTz/ZICJeweHKJBezL843vju2DxZt5hsnzhllvs0nDuMeEF3fE7/Qzg18jF8baEzX/NIiZWvPu7Oi0qPjiTHIKeW9Sf4I4HPHtbm9oQiTZ5zazn6whHO01fcRGT7hi3Bf5TPVqzmbHvc7/P78tmHvloKYwfPsLnBHE5z6Jc6gH/7SmqfEsMYFUmf8PGDwG0MaHZbdpQDGXZM79rKJb3+ZcI7y4F0DS3tW+kTXeBXr+XzWay6iM8yvq2N7juODhqG1Q8M2mCjLBjGMQEhmKJb19tlpmDASyhcCqyxNUFkh9ofFiGPsE1Dg4eZIblqGkpdOWn7Jr18ofv0QTSmuutvX0yfTrdpvrP0HRc4Ifu5HDtGh+pNLyycRB/IC47bNdcHf6MCWoaboSrZcmVV8gWeM8aqkEfFTnP0/kmnqActlLnUf9iOYheC/1hRIE8h66nUlYhcRiHe1j8Zu28vpb3XaUgae3LGm+2jN6g1NsCG6zabjbvzFaWK4e/y37rUtswqp149hVEANo9w+sC0H29z4htM5639Yck48pCryiFcRLgAkRV1kpMNrTHKDSOSkNlJp8zbuHABQfiDQOJjcOyQVfkPqdJ6iatWE8VgWQAHLqEpx26OwjtP8lzPN3A6yoEA5usuKnk7m1NKKRPc7CuuM5005a0SuBTkOY3mbN0yt+7SXNdkxMA6eaF4N6QcGOd9XPprHHCAuBTw4WjvlTTycu4UE3AumpcC6bFNzB4CGJew32PcofqfXDtLXLKi7tTrcJ3jo5DnQNv/At9IzTX0doZNVcrkaqFRM8oNK8tf7wGx4v0lQFSES8O+WEg5F12oXcee6m2EYo6Ooyv5qgSVJtvavMYUXE1KmFw0OwFBSIp9un6E19nWIKObaBuwy/x9pGg0ll3QwkT7n/PAYKbyqkAtrWhCbzCp+d5EOxnQoF3VmerdIRUOh3H4M9EWSgCGAAcPRiHLocICC0UU+zVznIfGxTcbJUr1TdLEYpEBgrb8HM6G94T/IkRBwCdohegv0/45ABF1EQdoInIw6rAswufr7sTN+AJKmMRMTHIRIrf+QRaYDgvFnwvaiAy6xgC6TUrYTSo08dbqu3ZWF6ZKYsTungDsZhrC/XpPpgx+X4JwOT9BD6MYSyGbg0FuAcbAQNlG3Em+rJCkicv4uFPCfanMkfVE9uig5FnHui29YbBn7nsv0Ic3JWr/jfBS9C99EpIP6Br1pHJoyY0GlcfQnBwW6382y1sfoWR69kmKu9+0u0ztxshvI9gXKvYwLvl/TiLkv5Fr1MQLdJpzS3pt2hHazr9UiwH2gtEelnjQ/pYuTmUipQ25KUip7SjRqMLcMnOLKHjQH4TWi/hDbVusxMTd3Ppj3JFVpz+U9nPF3kMzVke3uT/ZCDpFN4TH+UusuyOnWHjn572BptgxN3XUYwal+lc2VId36M46lWOp5mVKRSsLHTOqp0ctbxwzjzF2KRe42NFbZP0XRol5S+AclLJqhekwOPgK7QEv+kLFZ+kSiyicJcmkCYNGc+M4IjbVpVRDge1v3S6u3jVF9XH8u9t3/cOyKpbyULcnrGXYf2fHrFq41aRpPtNY9XY5Qfn0B67x/zYQqTQowtgFvtR/p+8LlDRjHdBFtW5YFb1ZXUxUWGePkV2kAfl7yWTfS2UB59QG5RqONTtCth7xQVaX1M37xVTvcxMdmnZT6/dzG5Tkfp+Hx6sPZOtO61KRSheDub/USE9u29pqICwSoQMMBzMipTWMURgLuAg0NzKCf6Kpi05sqs/D4xOC+iqm35zh1GDTf2iSjJ2IJghRyRskrPbQqSJwF3h31tWOYrxjmiX0uzUXKJOCJGfydBHXF+FbcK3gtQ77BPs1uoikkHcQLmabRxWOB7YO67hzI0omhXEvxzOnkEumJl4rWjXIC0VYJoEY431QndtUbBfI6jtQSi4bidToBJIrch6s9M4v2fUTqNb++Bz+f4KO0VJn/6D+jOj0y1X3nBG2F4Kl6ClNB4+wlrBZOaGTxBFlk6gaArs7gsuGgXl+0GdvIHmzsUgLBfIXxBuHZY+ImR/d5uRw539+1le5L3KQNL2buPgtpm/b3V6kh+R9U+OIu4J7EAg2+4Q48AtBVPm4dKmkyarXsJnMFA9NMcemZB/gyd/ThjTsYM75DC4pRGWRbiq4QwasQ5vHy0YKaTEZUTvW8tW9/xaVslGtlEE1G5TFi63TGSf9f/YbbAZ+tXO63UCClCinqYqtf42uXJ21vCuIZd+kBQ6Mu1+eje+M/2O1xrKhY4Q41W5McDL1xfWfbfP92dSLTaFNM47xGFKGxmdP5A/rC15eXAVqVim3ZGI/qRYCaRnz8KMK3C/0J6SpwSfRpekEBp6H+tqkC+civHRAWMUV0SOuY2kTzMKvjM2QeqOvYryWFjZFuI1sYmq/MkpuSfcEmVVID6aimgpgr8rBbZrtlmevOFAUhk1LI1kvUSH+zvONN+tiQ7NuJCvl/GsoRqMnYpmGUng2hrwyRAzrhk0cm/MTUaTZUitfZswqBT4WKlEOxFlW7ztC2F35WUQNj9CqERbsig8YLUsmZ1abdYGNIN5BpW6u4+Y+FT7CV0aqJ1cpvDmSK+wO3WoVIeC04aRxNuv12TKLvyTtbQOL8+8QMykACwHbhLtYgkOkFE6BMJrf8YDonUFJjENZvJ2m1eF4AqwqzOePHfACFZJzvUdUyYpaXbsN0wkafIL6Sin9mRN3jaDTWO2AnpMGkwyJFcl7t8izClFGlDm6TA5rxn0VHav4ze2D1JUEetsNe+Vy5qGm0DvHV/MkospCIx5YhixRn2FFW7z9/LOJzvjwqtxeCUdP6m0yyyjWC9kX9Gv8Vi7Qu4gctVZC8EPqdcY/Edn6c8ZfPtzYJQeKbgo8VFMX/hdtkA1y1hE3oGMNgsQ5ojgU4fgjZceh24SXL+281bghxKY/mhfSmr57+k/jyIhpIX6QNz3PoFB8d0YLH45EnhvMRJwKc+2J8a061EvgcxrM/qgLWXPUHULjqsSA9Jodi8k8hsvW6IQFBaw3oQtVS91kKwIOoRDkQmYpSaRJOqaZCqSTGtQKVxR9+ct5Lhs2eeXBVzPnNxeJ4i3fO5vvEMiDkX/Dfchfk+dG0tL6RXa19lBmjk0svWA2ZgZ25vBoKkZgKxoNzcQTV3PsCPvGEdHVz3i3yaBgj9dTVKC9Oju5jWB9wqFEkJB9Zv6M5pLqUVWUo4X9Sl7BrUbRjecseaVi4n0lxuCDK/5CJop/ThhAZIeroAmmpHS1lRVlElCurpCBdI9uDStJ27Ml4d2O3XEh1J5dn+VYmbZ1Sazl4Gs/mcckdgy0Vq/CjrzOTJitIirmzFsVwzsppPsL5c5+Jy67rRypgbN6aJnaf9ZxLSh8IkIXOgX4oDSbMGOXXJvpPxcHzW0IgYQv8GEKxgq6wy5MO2Mn2a5U0UwnSu+29GsRPXEdTmn60qgN0Ng9R5vn4zSZYacxc+UycYJ+4WYDT3JMYWrbawcgUkKD/NNqMA7JtSfvMX6O37P/uuFdOhHHpmafnfT9zj6cPa0BenY/UbmFLfsfEJnkIeSXdeAsDF1gRoDStntuEhkeH9raBNKIyHMBLuCHVrmx+k9jVVUHRyL4EhmMsJlcXRnJ45v3SXYL1s1DpM5QoaI+yiUEoRVgSENhWU6ZPkFRLIpTk4mavvAZ5yxVFgpqUgk/EKliKz5EwTpzX7s9X3FNRJg02ADqI2mHL8oXxtWoupQbBs+5tATP4ArVvnKC2kqtG55ZG/BY/LFQoinScpdRmVJf8YHp/vvFjz28mbIGy5Sko6Y3PHNWbyGXOdYRbwbUMpqz7HTrMW26bXCbo+2tEux1+N+fD9HTgwfh20u3oLCk4RFqiz1twJWTf8dPOtwN8Z91G3fCP/SW3fXoVA9/u7G5qZreDbnGJ19+QzRBSUMr5HNOO6swUSasKqS3kf2xptCO/7SJ20AJqIO+qA8u5gpI0FterD8ksN1q3PGtHp0Ckp0Zs/NAQG6I7s9KqU2CSkMEedNVdo9+QBojF+MRgbC+cLDXUroW8u93acxoxQSjfK1PpeeprvnhwHVLiNLlS18yVmNWv1530z9ZfBf18r48wUXOheLqtA2LE0rQYbSLBfeis9knfhUCjqxli/Sr1KtrEYz6h4m+1n8jPSZeEDI1eTWt9eIr9H90Zieuhahaj3xTO3yoMaapMehNu9oBuB6Bc35p006nanF+63Zk8erwYjq+vV938w5/neA6EaHrGg64buscHxceafFTKNF3cvei/dyDp0uQ1bWfQtP1/u0qMis/RcIT9iXlZJDse1fvo2AbDcfDxWeTR102gY+muj0nmb27k54CxnMPaoswdTT1DdXpifepHMJBghE2l1wVRsgh/i/Sr9GSA7CTfnkAviIjMRzW2ngSsrjcyg1gnXAtJAO1Gb5H3JD2w7bmnk63iaei8gndLcNWP7t91d5X0QiiEbzlhco9D6CELlwDhoMHQCfUUXds4iHPOZ5NJ2Zv+k+8TNIQnqgqTrez/5AMVjmDeeEaeKrjN9k1dzox6/jZnrz9rbgfsH6DFkFrHambyiihL8wOxYwmU2tZb66MQOTewlBIbKCLA0CAaX5hXnS6Jsa24+SX4IY+ypMIevvTQnXXg3RhFw7SPhKczy8Bc15S9OA6jeftXc+/mcowhiW9L6xOgIveHY1lmbnuIcYQafjEk4EDprxtuOlMESCdLtuPDpSx8AJl6pKNtK+7JIQm+vMsm1mOZb/QwFHjJCek7gIPZ0638M1EAUj2XXcbYanj9RehK2pBt9+vxgNCGWKhl0tUim+tYGuXI6xgD2kj5v1ocic08Egy3GcfLBgp1VFIoE8lpK8piT8ED3evod41E53uIfSpGWF8wipLWPjvwLSXB6SI9tGSQf3L6RUfw9dIHKSNUU8Qoea/vkTb+LU4koHv9jQFoL8Kpx1JgomnCxh8hmgKXF/eCgQ172+QzXLaQehbcfdmC0rxg7owu/w1z4mRRMwkc9IFSIl+cxrg+RtDXzPDpS/Oorli9kyw7nZVSu2RRfzr77DZCChVFsprXdOiNEjF1AP/mbkJCJUmnF7A5P2/bJSg1Y1KDk16MeEAuAIi7Fdujsd5F1UTrf2b1GJWgxv3ADeNswQQUA3vhiO21fYisE70aCQqVIOcOIXVzOLwUAUKexf8jL6heUnMBCHdGrFe/BphZ95mRf3IKGN+s+JDi/p3A8PfrZ0RweOBUpJmbsH83IVyi9Xae1LigmYekAqQ5UuKwyT/ktyd4ko3qUJ50KbjYOQRFImrCF25C4HJ8SZygUFkKhiffZBYm57AvVHZW9AC6d2C+LEBM6XXI9PJY5M4b1shAV0UI4z3iIQxK7sx/8Yp8KUzh0NScWf8eNZoj8CcT1LosT2BdBh0e1GZ36Cz16FWQKlIaKhQY9p7/Yc2kEnJ8LJ//eoJoqsnc5axZEwssyiXsY9pnSP5juhrPio5PcjTXkUIgT8vpeIRZjzBcCuBRpzZysk0mx3VWQULP+WOVW6cfx9+1rzaSH57NLXOqhV8loHDbb6FAQoSK2ZVG0CvFpUFoWohgIO6hpEKO9uol8qdCw2PGajVTx3MH/8wvKN3PFmXxh6jgQMzdMzRmZSiaDr9qtCSOEc7suQ6RG9Zwh2SMa1cZdhKBQ879j2ICCKJepx1gz0PmE1sACSm8z9aDOq5TmC42sTYl/dFnSftBPACqCNW5Wb/H4aDicstdktwQbUmmCdcibfP4HWCqWgpNeFGm9C4VWJ7vvRwAaYopXRD1Ia6De+FV9jVIZpubDHQsxweBsiiHNw9pdn6xiEHI3SPG0bL1MRHx/U9qON6P2nfK9lWfw4NnFZeChis11mHliGmM5r2uE6qdIistUpSuHvCu3/WnaRwIYhqY/x4mfPCO/yPVxJMAlHxs8b0736mAevrJera1EcJVDJWFQofC1at3WwQM+rBNWQTkV5kjVRdmlPqqLSaaczUGdUvUDZMiEI4SyxRFMcXCQpyaUt/d36aGUFJIAJcep97T06IiLXU7SXFllVP+Z6FtTaauDys5lxzqYPWBYExA+Pxqrss2qcKWlhVH9WBZcJ96gPMj9y1hdWw03prmY1x31DzMI/8YeFrdFNokE15lxHMdDPAJFWWgM7LtBX944J6S+YwAad2+6uPT+pX8X/TAOnNMG7jKrjH/UojA/UmzwSgCRpb0hfbFT6d7dFbYySmXtAemKeQ96qAv3O7E/SvMd3UHMIZ9EnxjWj3bW3m39NVsp/ngx+pZuPZRm59S6MpfWlNrkGQMMqVryVNgNNUHF0p0HXQY5LELhHv2jYh7IqaUOBnjgqNeWSEMA+krxDl4N4g+Q5ogPQ8BE6bCUDjcvXPU8DhCmcbgXB0CXVbX0/fZEjdFTmCJm6sIkQEHbiq4rlxPqYyLoj5rs+CdENwyU1k6THrvv2rSbCe4CGeN1iG4C5i3y4xvd9L1FwkhBW7v1EqeAHmGjlAac8j09OZEQsRxqEQ38un1wAnt+zX4bBshpymSsLYtcOTkHO+zSPcY4/q427IojVwrECzyz0/bt/JATV7sA6M2B511pNG0h4h3jqhRIOMMZfTUyrewut91oM786qWLFnzQnJASv++YbjGfleI8TtwTiGwgKLuGsJC8XTVFwKAl0AFyE8aerA2wKeLE+lOhCq7OLlDIym1Lw8q/hfVoixMGSZ9ceVMagrXi/TUSAFP6PqRS3umd/FH8USUWYpg2YWTPIUKdTYe4KWec4kxpxzzHGQa3QgnUtZeTItfDSPSL+I8pN15DkfW63L5Dn+iyvtMVhTdTBCkwUqvuzZko1cKzHFOPOnkEnmFm04/DWxGWFapaznCRBdGm00TPkZ/N00TX7powSb0uavZdvKS/61aQhkasRx3qqo34ae/2yanrAiQcRHnB4zBoS9YillJ+2FH5zD9m/W1oci4m3HaF0kRF1XgiBO+dWvuPK/ggbMIpFNzsqGLdLKm8UQpV8JB0wLBNsg+fumRfxdhe2Rqk82gvoEsNVQaG4iBpsLsIJ87X4VCrRPztQIbNZDKgIWWhqDhJSwCWnKv4WQgBLRqC220RMZ+dUbluDQ1uf86GYHgQJ4nsvGIZRPmgYCCJ3IfSHQsHe3D8R78QokAV1ZNtLnVOxmm2PP4CoSnAVh19sIreKD3jdR9XSVsnK3T2KE/hk+wBTc96z9Pd1oWbCuXQwbEMA6LvCzHwgGRs39V8JVDQ4vysevc0fXCwVVEI/w4qubmdXRQnch41rveu2m255mt371hsKN8o/lxta+wMMmo4LnqOjRNvjRDOkoXg9oyQWH/1Bmn2QVmYg3bWoNvEIVbYPqn0+gC+JYi4k+KXscuFPIvayVrDvynJ32vVkWiVCjnW58kGkSYoGxFmG88D27AyedSeA/I+vrkHIu20rc8yos3Uuff3DUo5h1wy8nI2XdVsLMEPKFndbl+EwwOvnCCsAMQtg6HQCJHfT49tawhm4UW3jf7wH4GtY79qtN/AmSkemrawcyriJZmqK16ww2MFMwkmEu1AQYb3Eu9yChLOvjf47nJk1Kj/ZKspGYEFYhI8bN1M9NNGFujJlSfnzhuI7jSire1k7zwEeJdzJSLUYoJhz0nmxgvooWsAet2I/yXlLPicaM+LmkDniIQkvlFgRyjQXtU5ykEpdnYOJ274R7OKFyO7Os+glPt/QO0LbaNDzFN+duqWxi4jGqz6Mr0K0dWhaSkNTTv9B8wUf95vUAgFxz9zpCgYDODsWipaV6n0fQcpDeUfyUk2VGdKGbjcUnDSAwQ6QUcqnrT0VwjWyIelIqaEbK5XoiuKFpCbjkUPqx39LitsTw2wxxheCnLC9wyWZ3soQ21VDpXi3cpTNi8ELo8S0y3e4Qfbjs613gt6p1FsS9uO0HtmkYrshMobHUy2ZN9r99rDmHr5c13htG+hUxUvBYS1DrifjJ33sKfDiGzBLFbQmvqgGe63zls4r4qcZaaBDYhhTBy6a7Zb7cx3Rb21rcoPtMAMetI+63eqxRaxMPDnlspido9pSr8rztBtrEgT3uDe1CK7xzC4SMJAwNeYBBFdMyRgp94sH6BQ6JaQQS9iAsr7hJClqYJSJARO5Lrne3niSMbXyoM98m79fVIh62IECoxSg8dSR6KhmFcrXj/70FKAfBnVeoTKy/bQUE/h4ClDqTvQM6NT8BbuKRuUniaV98b/EwHnuz8FJVlUR5VnLMX5Dk9Z+sbplA2i4B8iJvXPv4TnW0qGSMu6ossL6bZfNz5s5HOpDmZmKJJ2IHr8auyZM4noiFS1tPWXKtuQwKBItZFflhMOZgYTF99RpRc93pGhDNsqAICA2j4djWDWKDR9fygSf/Qme8qJK/alb4g+V9A2iU1+yjfsgOj8Za45qevwJWcfaw/bpL1WNDCDIDQbZ/+oBLlQr7EKcfqoISYsn8avIzK0wg9iBTPbjpBP3pHULR7ZeOeuRyDIdZ0X6tU3ddrB77hjZrvW+OPkxcVuabS/IKS1KVMaUYyXmi+8CkftWMN3C/VmVEiry8MXR30U1KXwsREQj5vx2LfE3CkYT6FBpgDa/IemUTM8vbiw8itnofljNyn3RFMtb08yftu9z9MUuqoQfYDiOyVmIAFZbTqRQJCCceknJ8fupelugMhaxyfcKPoV7uwkLBoZtmbCmMAp7HVIu7XpUrm1hhJOWzlFrhtMorjd2lk9KEBeC348AwBr1iYs2E5Np+WrlvvbH7Koz5RfQQ9txad4EdKFLeijCwSz3vmVb5EoFyIQSMV5a2BgPh+muhV6o7KqeMBWIMWmQlxLHR5GVDD1gE+JzsmlUV5wo6gIYPPwZkVKHJzih7UccFAjFQ0HVeFqfDc7mfWA33YVKM6Kvsq/UQVj9r3wg/xa0mevpkL4kj4j3wkds+DUl3F528TS130UPFfMRXhgSPLiR7b3Fppx3dV5UERQuPcExuUYDhtJRLm6RU9h4iuKhHN8u5Cp/gy4TXtnhH4xIU6RrjmJa1XTK0dqG/LoXhparmv1YvsK3ylb6AXRN8JU/7wmpdUdUr+VYa2jfV7HeLa49zb9BigVhJKRAds4m5bB6fj8scqidTuYnewfEEku3ZM3IsCy9V6g+v+62lPr6Kx4DhR3m4tPdmoZ5SwZtxqo7SprTo5IzSaCU0ixr2fRNiVyRSKEI36ooal9BvGPM400yYtMb4vd51w8do+bw1d+cm6ZkoBAp4ZejAzWqiMvqlCauiCr1ADMS52QlowQjgY9kzFko10fmzhqbpbB6aQi5l3T6b+t3oszidpjhiz/6On9tjp+DrJx2q6Gfdv5T4/iTi+f68BLzTQ2yApWmIkWEsmkWPLqb3fJ3SJ6mRW2cGb+Fwcx8Qcfm4G/CobdDbGsIyr62B1DdfPhQfkhY+eaZVDWZSHwCG0nslaVk/LiugMuv8xbS11tjoCifGNiuTPQuq3QdC2+2zguEx3Z46BaHSYSPp7gROYBU0ZMiqSeO3T4q3ezRmlsMPnHb0DOWqf38RewCr1K3yypGw1fm1RRsnnEkVJ2xUvifJbLUvKFNXMDpIfNBJqbafuWo5n6E5JJ3X9BLX6+SavGYnCLdmB1l19cgs+4A8P+ThhUM2qECHiouC4qudJ3r0MhOhcKbyQ+epOwuQROyj3wULXx9iyytraGd3T8g/uYf1SnBf+GtlFD13ed2qCuu92znuBIBu7e9vTJTqZOnO5onwcDnj6cuymHMKF0XbYINWK6WluAi/ifXUmXtOk1Rz7+/FeApKTlwCIF6tjK03OcvsH5M/O7LeqMaE0uaypEVTRA5hXC/I1xOLOq/RKk7GR0hUkkn2iQLg+GTxZUtJRES3gn4qtWeKZJnk+1IurMvjupDtARQo10iPweHgfpuUwZHAS2f8am6X9DFG71SR28n6FXTo98WuJugZ/uTLLT7kn2bsE1Ogt755Lq1ABmXdUQROzChX1oyWJt7935Vs/EvGizgw4dv1zZhej1vxZFpGo6AnB4I+ivFeiaD1CPcXUEZkp+9oGwp7umEA3wUuw6sLwcjRD+v0yQXozcpo5WO0wkr6gPLABlROzqcMKixgf34VZgdbto+gFqVBJI95bEm2fy6Q8qbye6VSHTj5cYwujwnfdCkcmo5VGzUAPQucxHDh837eaBJphR5WmXfkZcfFY4GEpucHyUPfqH2QkpRuIInY41j95sI1ngFOoKgoL2pBaBZDyvCsat5AhoEgDFk8F8H73DQlFNBTQlDMYmqE087lsXI+aVXOti2o8UkijgvveZ6IldPT/kD1Xh/hUfH9mh46VE29+ePRpCu/tqLu1Too4qaIOf8BW8LnBi0HtroCoTyHfapIAWnlgzc+8lcPkJdkFhciw55DVR5z4sR0gmwQtk2E9t+z8INcnArD1S7BRKjzcE8SDPevlyw3LcLvijTPvl4uSPVOdKnQ3RwArrCPtt2y0JyRuRnL5ImpoEomB4kyvFLFyCX2IBa2u1qV+XmqbmsS43XzDJ+vLzcyn3+BXgpOJQzSF+Oe2IaGXuAFMj26QVoeEe29BM7Bpsv+sfW+hm7BNdkHTHQ1nyptm4mRipplifrMWdLFpTf5aLEa8oL37facjNzRUxKARcUzP+d7P7gWheIdet3bu8v5bcdDtjf2aUMeFogHfci6Ip4XUw297gIRKcVSvy6F64t4jE6T0D2uVZz2ABcdRV22E64/ejS5eGpcHM9QkxjMKp0/P1RiJrKYpM2QM4x9jIZmvywDyR/fI2o/an0W2LMez0ZhNUm2x9e5Uhv/q/QL5kh9kQEck5tyhNPKJObLPGuRI5lKc9JNTH8pABBKcH5Ji4jVdcBxWuVIp/dXG91gWVVIsfF5rpOolpsO/cApsCmzc8DoRrt23X61KaQ0F0YwS/LxhoaMWgloGHXRAxZd3TfTDIK4DnYS5D5BGMKNeXxv4oki8baVFI9BsDlA8hqQ1LrFKh8tS6YnYdaO+km1P4Igbwim3+KfONt7f+laefcTJc7kcKJeU4N/YyBFQeVo5GGA3ntGqD1Eqc5CecOmcagjlB75bfK63uHgR7jnbvkjri+/JgybWXuiok3ll9JJq4INJRH6AwlXQbg21lRyC+Xx0eM0ATMNtYrnYyMjDKKScxfZaSSZdsYj0KMbbdeZ/mhpYC+31cJ0AshyiJUK/h+RmeCSs91aEXHdh4Ob95OdNEFO1xendyLqhhdAP2TY8/BPNdmZTZSHwkB5CxeshjSQ9UDHPYLd/5JWygtxCUCFVUaWAAvUSHHCCNTt1KASSyCwqzSWULQYDAPoMnetG+wlmti5vQM7JcqU+7SRuO75zA+VD3nW64sS+ZpHEJnwC6XfZQ766WjrZkPN/wT8y1Rk9ocNDkVApVyaklH0ADlb6WbVBiXljaOzWpNfjs2LojoUzC9Cavz99XhmiIbQKGZdazOP2a8p04VQOzJnPBVJmuXSis71yo2j+rW16LEB2EieuqHjB2pq2jKoq6MFSL6wsbbmDHdEtiPcS4t+jImjqDf1GPIAbD0i0m5tsj4HhpT5oSxk/SoXuFy9togpsqorVy/i+Oi0R5SakRijchXuN3QnKAZE9TBMfHHus89urtW207qWR9oiwLwpqbxD2/huVHhyuymYFwAchzMCwFow6InLprlJ2hdj9gCbH6vaVEqkCg+zRMsZ4BJiJBvaEamaWp11lSnbWsbO4AwtmkcCXE/0wcOIYz2CMJuWkPNTcbi1hI7/00zooDkPEQf3i+c//Y2R5LY0a0M0FA0wH9mITRYgKGYjOA0kkf/YdNSFwO72kwAfbvdiXLOC7/GDPICJ8fre5aidcmbIA6eJ50O+SXfm0KQQ0fz3fJ6jajXX8Bzp4Ab+XQPavnM2tca22Hz+2OZpU4HN6bSfJ1XZqorpEGYgV7yk5ndNMDV5UsXJKcGrGGaG+6oA1/B8Du4fewMvWbG/I4BZDTPyb/itNVMkchkKcWwtT/tZUzXgFNJUhOB6kwnG9bPssION1crekBtaoLl7qxYldDOOJc8RewVpoWoP0UVrl+Q0TBFWfpgf2IXnS3fpUqetSBRTUpyocLsxeYeNCbx2vFn8gyqQ/vIc/B5jsVYXcGI8+eanS32hAqQpiq9VPJTd6++RLGLI1mqs1+KZJ/nFUMyaGW/6XhVcytV6vuarSZnTSFnZDjBDC2cQROPnAH6lDfrhrUU6BlOkPxvvN5ki5EThiun5VSG9S7DNWFHMvfDNH3+QcRPuAUHmIdeZE0IDKnkoeuRsT1ySTnwbrelvv6hHZT7WejpPQHKSY/XIVndrGXYLBRU5ygDCq/Evap0pMyd2PGi9sP2cn6sfLypPyh1Y9rC5cINGqTwNHUESF+jJ94tMCKMVWn8q8NpW9w/E7DtpCqd89ZBCMmvPMTmlYvTHCF+tsQYEixzfRoZnRlxq9sd8S6h2oJIUKuVA2R0Md2UV3RAeRgWdcfhk0vW2YT/JygcMgaKRY7hnOPxVAPjWCC21CJ/BQ5CKhTP9GJiG+CX+FtOjCFQZQghTTU/pEYPkkCncTtJADLWZfcotp4WZkI+XjdC/4OyiI/nyIDfRH5NCHgl6QhVweu3bfJd7ii1b+t0D43rT0WaG7AuCSnsarrJe+sxTk0pqNhGGlNKVRIkNGPw/BX7RPqfbE0saKSAK+b4iJQl6kLTPR1yXkDJ/KyS0+tICBb8ToKmvE5iGjmUnLswgro8ksCsc/pfr3L5RXnCKA90GH0ATrcbx+OyzLkj3JK7+soWSRIH7xMr7w5Gis0ckB4szjFrXqSJXq1geX1NmGIFIaoLhL7fph456UsA723JwyiK3VRiFxZrow0SrNUTfMALULdE8JxWT3AvnhSlJz1hTQexDDoOXOAC9AitgbUHfqHBeMy08h06WauCXXpku+EfDOJuA54+XQ9uimRKGXBnqKREQBlkTa/LI5T7X+bxxjAgXaehKxS+pGDx/ORVRS6dLmuKI+SgbXez7jvHFbPFZ6fV2MsozW0BgE+smwwCuzE71Ve8DIHvMAngl4gsa1d8LZmGxlLyaktcnUkF5pEM5sTC2w6C2ZO9Q1yDszWx6BeGe2VFnJ6Vl4pJKLJWNrvKsNsk+f8ekDj+C6mCiX+anUtLG1bZbYzJQWWDiDESRZYiv57GTRJSLanANXNfuJPQrNolFtKa010TONsL1X9nj68ks4TqX75xzUO7Lnf5kOUr2If2Bc2u+3myT++t3JrumoDt9ExMeq7/6uSKICrWVP9Yeh4pzzXc30lLpEqEXU9gjH4VpFIMeIte3lPx6IsLNFuwDlRVi29KNu4Je/K8m5XGGKf6w32aDP4VW2wJHy3INuvCx+gfRA8RX6HSS8S3mX7oLeQ1yIihLuNOS8yMQv5MzzhDCUVuCeI7qMWz1OcAaJnDsXsMOelvFMEWVAbgQQHaliPYtHe4EzzxdXSR54Di4tMCMAKsvflYcZN42QG/DGfQoulh911ixkW6DyjWLVhlx14UE98E03M6hx/eLU75+OBVB1AmiQhQhm7WRQ05XvBXuRGtlbyw8LtZwXSI755xiDr5oQx3+ohNO52I88AXgoZ6i8OMSi4gzI4VQbW7BGWZfLG2XuOh7GkrBTFd8zca7QB0X2O9rR9TOW5iqwaHlFGJnuHHbOxLXMrHLxpwussmvDfAXs0ZmtYKRPlV/+LRELw8Pc6tbvhSxgByuUxg6VxMPgTYtyQ37ZnW6Fic2rS2fTF1Li8lhh0QqzJuEE4BpbjEXWsu7Av81ybGQjTyDsnGiJf8ioEx1qPzfpzMh5n6TDYbKsP/WVRsxPe8Q2DgPsg5PKiBKeOCtxx3WgXQfIwz4CXb6hk6TfIkYB1fTLMT2CvxsZFFnwGcoNsFEF/UmZtHhp7CIa8T1K2LJP4X9DFMGeDXgjAtCNYwPKGNvDnpx4fsytbN8rq9YOXloAq4sKF8gkmY/onIb81+LD0efgReMuMooKU1v0mfy1fqpaXng2+X1jF12MMXBlDtwTdAKTzMkbGmqfF3RcDsHQx0Db6SEI8dPFdZYUGDP7noiKSJVPAx3Ie8kQ4V0AzQ9IcpMfVJdxGBBLxJRW6ddswfC+NClC9DxqN/6RBa6H3AEN8UVhMicMVO5CAeOrHRlGJriFokYvLSD+x5HKVP7Ft9OEhUJDNv1Po/UcobE9kaDPd7UZ7j/KqOHTvp6hrOzpkLY3+vQoe0ogY04DYYyb1877S5s97fHRhzG91G3490a+e3VkKV/kwJvEGDKVJp4Vb/CVqny9Htcz0IuW6akU1uUPqtlzzCF9gYZv5oZZaLcg7Ia/33NDWSTmq8+iLytimiGBOJs3VDCyoie1QatkXK752Vaa9qnRMpyRXkmGLhNBf1dv8iTaqVbcpyJRmOskq7gqsI+2/d/EE9FnscPTaNfmcyFUJLYo7ItpVTuuueoAZRoZbSY+4wR3Sxnvedpa+12t1wW+1y9SZohwpY06V5oDZMImG2TnQQ9i3Ul0V/oU+q3vl3FNp8HxayD3yqTjhljzvmvd8+PBMiuK9TOzBpNOOIX6QIhmehKJaL+VpgdXkYG0eOYANS2Mq1x2Z7kzKWE0Ypco8USGOuczMaERW8aLbf8mfRArolmoq1+KFYSlRNrcunYY6ahcgO6WVNHMONKpbJhHmR+/47lDR1a2wLroB/esPyAF5EgNCqm1tlLwObZAcloxc53Zxp5D+D7KzfFu3oYaJeO13+CrjqAYuGavxVUrvPtz0lp/Q9ZWPDTnDH9hVkK1r7HgR0oXML5N18vV1W8luUbfwv+UIchVpXPti1nRvg5MwrY6XzXjSohLShF9fDhUjaxEKmkEapuj4zjGXAUj/o1x/toDuy/wnqR/LqDNuW5EG94u5L5OovoOpqXHfp7csIuoNuFEzhSQoYWOt8pG5WzmgJieyIlkLWyZ2gO1RlxPcllJPkuAYjqLzSQIcO+FRJQGCce6DFBGGRCoPaisUcB6s9waVhVWr9BRW8H/NL8ZJQJCkQHiF4pk62srZ8CgLZAUADmYaoSsnGjmcEVHOa/2R/1vtQZUYuDqdZjLtB8qIiwW9D+/GGFsjol+nODkiQ0N4tuj7Ygy7jXcIrUl4mpPY6laSLMy0rZU+vkCwfpCGx6MW/x5cXUNZLvp2okXilbUn3/Ps837pPJM59FrzL74w0WOwyFpblTam7wDBhqCY5m1zodfnp34C10G1AgL8kvqeGorICCQkJT6eE8wYTgDl73qw0PzeogFDdC/9jwARuFBRl8QuRnLY9kds+sIoOl0HT0GoTePvSSDbOgqb7tRlJTuCtImY+0O8/hOs2lIeCNDykfbY3unj0UDpYGFyaHHKihbt4k8CJo/VhsbTaU/gbtqcQf7oglhMFzbRuAIopMRev8PnbnDYX+lQA+FaVr6UeAGp0CB94m0vukkXeHr8U1BMMFmmAFvO03wGuMWk4m+xcf3HYsAc7ETDrgo81qkpzNv6kvEjGTig3tLEQqHzN0YnLUW4uqu88VH6YmTNcjZk432zMgVZGE3JZ5otAE9DFWjzeEu5Pmj9OXvN9ke7IjYWurKzbhN6rQgaCWQasQq66PweqdP+G0cXfHhCHK8tY67JPUjoyRd7z6nRCV11umk3phU9/hpbtR1pJneUSEpISQoiQPQYCiFv7Ixv62K89/Lvvs/mRM1T0epekBMfob6H2HWvMF6HoR1SnDR27IZRYB8EbJzSaqIG8jUBzdYDVAi8W1uYe0VCbiNld9nBaHWUTBcFUwDJZcILCeVXyMhR/lYjh8QXA53Q2gNj+xzz2KxiwUXvqget5EDXNJDnm9tFay4w/0ruFOYunzrSU3eghlHsSxOtGh4DlyxX+V24Pp1nubxsP1xPX5igmwKVg5wu/zdqG7O4/QvyGE47gmZRj/16yfVP97kr/1CMiO84if9+UqYtzO38e1lc"/>
  <p:tag name="MEKKOXMLTAGS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CHARTIMAGE" val="FILL"/>
  <p:tag name="MEKKO" val="MekkoChart"/>
  <p:tag name="MEKKOSAVED" val="1"/>
  <p:tag name="MEKKOEXCEL6" val="False"/>
  <p:tag name="MEKKOEXCEL7" val="False"/>
  <p:tag name="MEKKOEXCEL8" val="False"/>
  <p:tag name="MEKKOXML1" val="4HooU0THZk28POP9trq+pbTvvzd/gcV8t56cq85kb3NDTsUhojRA0EsgEHHMH7oYP1SYpn09ysXVivguJdhTvfyVMsBLTGvcX7WPTor/CmWV7V/wylEnRSjNa0bZedd8Yjfz6TiCJG8OqoXAl5SrIeF08dlXg26VCLQSuMwFMmWGmihLwizelWVh0+YrBGrvbI9abCAsXIvQHRa+DCJaU+EeLF98fH+GxRBrNrDEUhDV+8Y8ax1dWy8EUPcfFTkxQQ2BsfIHh989ru1P95Fck7Rc0DtNqPIUYtisKFfcMEnyHzI3cN2BAeaXCDO2/7ZQ534+lxvrsYpPcMKbqyij3pbRrUcHX7l0FvxVuok42A7gL7X3dZsOnUt51CqigQI0gPnC69yMJ/Q+BTUhCLpqtZLTo1ddC7Yr1Oppi/HlFqXmvmB/w0U0tjtUFjvWcfU2gVO/GX9aatTuZcV80kVXv6Q7JMwE83EskW+ePhctFoRh1mawQ4bz1TFa7es3Q6CqthuWsD8mmS9BNxSJGt1ZQ5V7Pm3h8z8X4F6eywXiS2wVnpNhVSLMJUkwdD3HECrzZ2HCl0KQpHwLuJf2t41o/MRjtATyLGaQ5OiqfeC3wxT1jxS5ggfJwJVlWcNtPtAk1HRW8qh4IyF0Dn0kU8ETR7S6Ng/DtZZEgqf0rnPT2AYjHSmOtwAfMYji879It3Pnd4MmPC7BskA0nDMhmwOkupHNSt4YjFSvt8Q2qQX4n1e51tHOuqGj+11ZP19aeXNRhwGE9zea5jyC/RBXB5smQDoUKuILV5M0viox5AUDsTZ2hxjU36i1fQVeahxbWP8AcTWVq2mLdqypqRSmDUQkwMEZnAocCLvhbkEyBPIiSB+LeUGr/SaSXr+kxdZp8YIVQqxcqOgeYTL6v4vtYZ98eJ2GXrSQ8qWNLQMjhe+u24YHFCn28qEFEhcRW8TznRlHRmv9uHt9Qw638XMdCJQJ1jyaoGJP8dLCe0aytKICUO33caiBk13V6Y5zzmLHV+pmGsbJRsVt/6M+A/UBaA0XcUm4ZqWfZIoFyedeuMaSjOkCTEZCo/JK6WqQZjLz/bUwl2LHjfJlMNPI9gpNaJ08uyCPow6pvFTyeiqD6XQK2/rewr4ktE3R9kB4VkVVEI8SWh9lzPfzdXkxcTx62EKxNJcd0tD+toKAZ0OtA/KEkoMMaI4irR8bxKW2wAMT1CkLfB6VtYVXDxO+vx1tOpHWkpNwA5MN1v/StN8iZHIDzl8ANNx9q9dFOKzHY3APy2YIv8WPZnxSRpzvSvNZkX7wUYnHq8TUbdB2iu4P4Zkiz9Rl19N0QK1YAO5OiiQlYUYLeTxykixOlU9tryj4q9EW5KJZkqs0+lxxExOS9Ce3iSoep44RbhsTuQq/+hh1IwtZScjABNXpxOYDhgA2WxyUHBGi2m+A6T3w/3P7/jJCcJyQYqY/bgkvfT42n+R8bP2sbtOaHi01xCeWNR4SIdA49fUgqF8cC1ChzUsehlf3ny9Zd1YpCFJrh9OkrSUKafLd/dnoB7VIAGKiVOAahpOBihsmiU4euYeTdxUHzaS0MNY2Mw54tqFjl4u0NxoYFm3ZWYOR6eDF/h6RkSRP0b7/t61ntCuFTtURcOmgBnwhnM/asa/wRCLtFAZi47S8H7/uEXDlSNQeizGxcFXF9Dd2THoGHnkkjz4U0EzC5xNTHJ9hAaYFSpuj8YtHLe4Mpw/G+P2Or4UbqjXRpCtGHgnJ0TUxC8AtM42m7xY1oAiiUs3QMwo2cKI5X4zYrlzSUhYjz8bUWL8SwjbZdbDbRqK3LYjw5hh4k3WgzMgRx644ZvQZuA4lcjUf7cgi1qD1kVwV2oeDHXL5ndfKQups9TqYTk/T/umMewae83t47juTNU4KSDCd/n1atb2DIhwl4uApy22nh7Ey43cdCJrru942t4Lx/liR5Nmio3ktp0RaLq78YpSGYjijsBZcZpi0v9IsrNEd/Q+mWpTkSmWw9APPLC4a6wG/HcwObN0ST4mO/EiGCFkdBsI8fGy6fHQDALT5imcRKHF5Gukt2BP0Vsan9Qi75ffUTB/BKSLLhIPKf+zFlJOkvl0reVNFGkx2JgwlLjjPg/fSl2XvC0j2vmA7+SupwB/wXRvdlqtXuUq5OFC+tFOsvfZG0JwU0kothRTFjSirVc5DdmHGWU+WTBXZUXplJB39qJWnDkUI8VzttLleDXiu+nFzXbCF7kIt5RxrQCvTD3Ax+VYirfUGCSrFSzRHHoidxAfcxbMtSdImiOZqDEq8R3hxk5MK3zqH0wxk6BR37hBrWetzolp0w7fOSgArKcpI2/WEpCsoM5cTcgpnd7G0ikfQ9IWLjgX2sqSuwkYhxanNpeHhf6k0oCbzYhoI8Cnp2o77jFNxLTLGUQ8OV5dUhgvCYrYuMIAo/asms0BPyT3AFyrfoDzA9Sl7wWgPJ4NvxcqnUqjCXf36A7tbpEw8ENoz7036wOWxI5JjGGtL7NfqWYdv7V+EveC/prK5UsZjcFDIzDZVKQQfANVaUgPZ12rAUuf0iF87it0cPTbmcaxHdjS/ahKUJ7EYnbbzoNfyj3fCk9bPv4WzZb/JDj+RIoNj2K6Ve5HecijHF5eQGN9wtkcwMyHh1CNWbFpw752BFpKyoHWuQ9gNUywSr63zUNJcgLnKgoHtsjRDtmg8aXIJ9p9wZLHlklYsQFk3XNaeGYZnoe7Yg2lR/McWiM+Twhc1lv68BzHFLfAzuD7/YVBtuwVQyw4CfZy9S7GtKQkU5oAfG5c6ucZYXo9AZU8ItZLZ2w/Es5mulf6NoJX/ch9/eEHBZpusq6gdm+WZxWJskRTWyqSk6fE3MKQNX9fL+Df88SWxjyc84fMftGFBQUzkojkZLA8az7/sbIjGYvKs9FvAQYFCWYGSv2MB1pYmBdYgHfkRb9RrMh5waByif24Zr8iRlFDSrszqyIwpeLqlrz+SRQklTGAtlfeEzbGnuj8HuoyHqWL+YXH53JMck+5QO4k1Wrpb+99r9ZKdjpG9JaFC664z+xR5xXSx/ZIGlK1jGpr/pdWvH/Ic/jAae97FuQm2x4D828+3LbTXOolUPXWXGHGAuZ0oCfG86ch1NVxIKEQdvL1I1yWlU/weKRAS08+4oEInGUpZNkeQeC2nIS4D8J40KQ1lTkfC6av7EEgPaWPL6wHR+Qk1GYx7bHj2YUKNaHFZr1PZUqBfmbcE1N4R5qLIq1JJ40dFWog29WIpM2LIhKWbTC2hxnCa9sWYbbmH2soopqbur7eqxavK0W2aC/t0yae2ZRjzqgHOgNJNeVw2HFPD+ouCZIz6TjTiwui0EXuy1kauxZPu4+hLd3wlrqzN42PslY3zCkaywO+/lRd7sk+poGS/hB9c9UZcVwTRdmDma2Sq3v2Z6Zordc9a7NbKTAlE87ruQr8TWpSY1AFBIJ3og7zC/rQq+U2ecK0jIgN5Jsj+jImor4QUTKB6LWayIT41tT/0L/6QHBj7jUibYGoUOWfJac2xPS5k+WnPo+MJxIn19BbasGJ5B0CPIYRggwAspN/lap68+K7tVqcjZPQpQOP24t/njy7QGQ1Fd2nV6F3qCeGys1wyUQMZIh8e+Vj5f+ayLyocF6xnD3ca6CVErOGOHKvM2J5EyOmqALwF/W37i4HfU2+THPuhwn61wfCOzo2Qg35OrrqbclegcUxs9EAH9NhrA2+7TZkc2Vn4BMT9sGYZtKecg2LRAN9MpnYHPxUN7MpHDTCjzTRf7M1NQ1h1PWWhyZsQM0lhQeZJGWrKh3QHcHpg+2nPv0hNO/4EaYxlJ4AvTDyza19+G56iehHGoI7LNffCaRTt2+GofxJNc6P6lZYnpr3CCB+oeeGBzF/CjXIhiOPOx7bgReggT5RI0wGT1JQl+ssUg1T7zKXSZs8OYbbQorGdKALoB0ZrpksLyE8+jppDVb8PHehoHonWDBniq29/ZQOhIBEnKjNoamyV924ReFqmOmpgy78SeZga/rxBw9p60AuKJeSx2c0+f+64YPTEgaBAcRGD5Jn8vfDO/vlfd2OWSRziTjbtlqW9DgbwfpkUyE9hwRFJNOGBPQIORWLT+QPUExYqMMxBXLjYvxWhxZRIrxcc3MgwnuyVa3PEBO7td6/oVZ1b4UHXOtDynCwM8gGG4mEIWIpo09ope0GW4MBR0ROVptMdx6WmyQWaN7w1X5OrmOAwFB7Xsb3Oi/DFeXD5xRzwdVVhEKvX+AolM8qOversXcnYmuuaiYC0x4iZc8BhclWb7y3FyF6akgbTbBdEOlttOx0+C/D6pXcaGqBlrTkodLFofeMy01t7AqkIXRXBmyD1V27AnwAIEoizqcPKp/kwymiopSYT5cXBfOflX5UO9Pm8xjG7iZzh5l/uoBPVJTCEZlo7pw8UlJBBvVlQG9TErzVjhqG0b/xILMx/aazGzzWphHfZ14LKDMx+84t/uIWd9e3TxDx8bJ2Hm36cHoaFOXXf6EicW7jN5RQ+0Z6orQIgscUG6eWpDj7BvCjxm3dXFwhP45fmIBp9qQeeEmrB/2pLl5l3FMEp7baGDye1ivFN5+wkR5p+Je1OPbgnJPJkoG3truW8dDUwbwRwjw1sp50jkEuNdupYPjPUC5GFUwACANutG+G7Uy4czhgkQ/31GX8Dm+fad953jksI2YJg3Kk3s0FqjSEfChDCz9wQ9WMPP2CKt7SmxTNEWi0anEVDqOBIiYJqkCg01ee30xWjwvkWLyXexNeP5/jU/oWvjSqgj7WsPPtbjmKA2an4R0zZBiFz7TUvzvlWG6vsszilqgiJNWVYfnFl5hZoxgu0J5GVJCKqVi0TTz/B7k+e/EyFzjzV57eZ5SLgofGpYnZ0rqUdfo7mb0IWSqFY44fDz63B7geETY3gRiOhJSiIvW1yYaoiiYZ11c8AqkFwDSZpuQw80bAlQZJKnKz+h2IN2k8yCXdyYFCyYI2xLsTOMK/nNBmhAo/tC00I2TU464PDXQAUjuekepu9yF0d+QNgtmNSEB/praTpkNRvENhMbXgZrSgPo6KQaKPDHCd5UTANwPsJA1Bo79+W40MFo4wkJ9BtWD9NkXr26samlwSLCiINalxCAqseFaYK4j8PfHI9pYA7QJBc5AS/e5vjho6e+cqm+4i2UjH6V0txHllxRLAv7J38uhagdnT3W1PPpFbtoRkDVX/eOzTtzRUfuIuUdTB7iPeDtTefMcW6omPzSj26ZKNvUaXe6k62CocxzcMvyUjHepZOiNIRy5iMll5XgaQ1lfeQUilPJkZsdbX7KF1oRknaAwfPN+fVhCwYXh/IL6/kxx7iKS/n9WjVdz8STwvTm6PKidwk8aQaLg3v5S24hcq0u2ARqTqTow6/tFF0hBeYg4CSj5t6779PXoPZ2s54tICSBJfGQTLEM9O2v7aJHYDt2JEiYcPv6KlM6Q3qwZhDVX8zL2xYVjDeb8Rqs90erYiQGkCb/h0QYyAMJup0EcKTvFsF+5goEAOoauZQudZqmEOHedcZLfzZfrPdmw6tVqRFG2Ckc9pGp3UYS/F1/O2BpblK4kpuaGOhfkObeZtZuQapuLW4bV/eCJONh6DLZf7DHcjGtT8ztM8oDyiNTzUjdTYhM31wdVn4iTTZryRTsR4FXtetw4lYFu5xfqLfP10DMhuzXAT7VOEAFFxZwVaZLR33pnK3Ul041l3hziAqKZZ0vNP3wL6reENGpy0Fl9ZmthWGGlTU+TFFNEUuhGwTv9HEZ5rhApoH1oQjYUa2GfeGgs/68HdUxLwU5aOOxs/wtDhFfBVhFzGyt95bk0Bn28tfH4CiMDsk2VPI53gtBOSj3YxZ/dxQgY19q5ektlA3SCX8MbZ5UlCgwQS/TYAAYvaiU/zVKDZRpArSr8wzDVkXZgDES+voDSO5ECTI8RNkv3nxcH6bQK3mMD+m4KCyQj2oAlGnCIY8on+rxGp6o14s/9eacarbwafaJji5oPdDYddj9DeLpY1SVxlsumTvarnQ3sUnGCvQ3ifK0UnrHIetTgiQDF3uVlFP9OQfWSBhO7V4bengZI4YnbRQZ9iaRabLJnpPudlefUDbIBRpoxdzfuGl+weKODE9O5qEmccIEXwvG5Tq3HOT+tpTuR3NkdPIewYyje1r9UiWS3QQWqxfemaFWrffZ4eHeWtIalFPPX+IY0Ghc6hekUU6M7JE8D6CC315AXqZTbSsBxAIuU9H5ETcaRpTPwYEGzZquPvevqOVgfBLVMpKAVJdKXdhwG4Da6XBcYwx1WYjfXJ6qyB/j4SmkIBwjmoc4JOQ9lUzU3lvfZsiWq5s/eDkLF5BL/w8Aq+sHAClzpGoqn7L7Esaj+uMCPRyGA+pJ3cL8YZuUbM5DY5KiP9gW/6QZZvLdKSLoryhnpzfXns50BSkGB09A9wW0WF9ypHq1wfb+gsyMArCcQe6FDJft9ODZUO7XFftau8AYa/dlGwX0056sGeHwbDhYY14+ve4l9Mjdmvu5ttpaKYEmgzR6xb+ImtzQBFXaqXNAfwfxzvucwB5ljHuCwxtAVWcKK1omA47SEXJ7vzmmFsuWPgE0Kk+uZq37W5DGwpIG4syuqYByCF5BZO44ayncIRlqJHRus+RovjVf6VgxSgGnb6kGKlkIRqQ6GMERuOPKkj71T7QuydqZriXi0WgzSbqnZSbQjjBlX2V7ntpiB6bG62IiRiq/8ScZQLgCRAwd4C0YMDg9aL34tpeZfOTHf3Um02TtBUaE4GTxQ1VPhJKiiRE8Y6tfsqeVlK1Kdx6D24pTDk+wLPik2NR1K5OjvzHuGQYQt3G0PxkbQxunsBiTtW82NuaDEs/yEEq6KxqFg0AlGcFw4ZNMNgx0pAkv/EYtjbSN9gB8yJWGk4wMXrq/O/CFBkIlBVxRu8RJCEabbWpar63k36c7LQClI5skuN2Y0xOY3UPQc08ncspB7rXW0XVo2SfSULM6mJNv8V9k1OVtsP2kb2hKAekeUdAEPGWeeceCNixk7Zc4scVZjDf/uyrnulyYqOp+ov/Bcj55S3vkL0tS8BDrTyepzr/wRVIOecP0GdNb/PVpC12ATXfrY/rLond4essUCVeB9Ob/2S8W12ZmZ4mdmi5+NSfMuV3DnPGPYXgiyUauMoU5N9hPEdo6bxRULZNyjZ1tggusxqKnLkQ5xLRFnBhT5uUAUB3iRzfaQ5SXq2wx/VMUaGg7R2LxKyH2PjhW2OBF0VYO1F8lGjMI+EZu+u0iy6JKXuoujJgF3GGsYXW7SuGLyDIfB3Azdk5pPICb5BMuFerUzplLEFC1BfqQkBLgCc+i5ft+APbaeErrgalBCn4VjHqDvkHW7fq7wZKzzMCsMbLBMB2m/ERxNlbZhdbQFON6MuZn9uBo7G/cfSRyPXvfGfwTdNOv6jJXO8p8YbfoiZBBcrXr+xco8oo6li7jXPeIAkUK0kwT8+ryJ8KDEM/iLzH9saelB5ia32C7Qul6s2K19xggO4gMDKx81Wpb2Df5hpYglX5QFblFSoW5cKn1yuUao9IvYcWTUlJeLWBrOfH6jNjbJIqJ/j30TGP5n+FLJjQJHOhHMTIEs5bs00KPFzJsgefrEjMST69jpcqekogI1fvwMif1m/30KS/W7Vi8UQERtDKqV4zXYEvDjR/fXY/HR4wcsgW7hYSWdHD/GaeyhOvwjhgPeH6E3fzh6gWgX9n1gt7gWspgu7xYLA7/tCQrma6PuuhD3B9/vfdc0ztrLM2Q+uvGsz1TiFWm2O75+0/WZUHq8UvirUNxqpWyv08eCsdiVJwipRQcsPf/ToqbucSqwNMkxIWD8NYkgiGdR7ew+XQ7VERSrUZ59aheK/Icb3thshNphfS7QpPu/Mrc5GVrBXdJBNCem6IShsTs0JnQiUBE3gdwKwskIBoWL6Zi9+V7vcMJvr62aVa+EdRpPzqYdmC+l7Fc0cx5iS/1/QnDgB+EVI3e9iaAgRJ0AbvgmcNbq9ksNwTA0TlXgHpVftkBfWLKLDKI/WDqmU7+FXAauCcEiqx8GYzpzCKfDXiPffcm9hqkYTTSDCozj/3kltMuQ2xhEwyK3Sypbil++0Vz46N+GGBsFTdkGBIbJxuzdATvnzrQB1Bf6SJCIUy++297casfb3wlOA1VSfumt76+NWZkYTAdtYgM14cmx85ScURb8A6y3HAQ7F4xTBWzOff6m0t/f76M4r1NB3YviWoSdkR0QVIgC/4DBLrt7flX5fWwPwqPfO5naWDkH3XPJvOL7bn5PvomX1YRu7+vy8lspKnsg0Ie17/L0w1hb13tmeXXDNyp2LkEwIubwd8vIT+X1RUbwz3fI6tMo3LMxBBJ/izNDc42i9MjAgVi0ngngHOWemL4peaUZ6AWvQOhYQR+pXfoVO/Y6XxPR+ZX2+t9ZKKX+8E/7h7wP/PaKlh+jN83+4pJ9IlNS+ExbbZ8ezMlsj885qQjFlTNlf7AOG8fMRCPCUI7//IuOjLDLBNGvirrpiGzYi3C7UJA3yyreZULc6t3ondZmtL2rcOuHzbGQdwNN+FsbL74SHGX2fq8RByzduK2L3fTEzpzdMYk+EfPiC3gb4Pb1KM72BZgbfH8wg0jWQu8UXI+CyyG+3PLkEaLfExOzsRGSLjPMfrXl5b+NJnkGdbHafNDg8qlJjVAPVz1slAeSMdv4zWBpmTiZ40D1Qi153/wyvbGmrRRTscwy6udpQ2Erkz9FvCnQfkrlmmQnjR8f/jZNyu2QoxJTRedFMMaIITcp6Efy9moKE09BahJR8EFbWsPBouxYoGpV3hQTiwlzLZIWU61YuuXGrZkF0Jln1xUFCZQSuzlTuroNsDfkrvZvhF04Say8L063CZzmyMD+7aM8/3/X5Q3pvRudVSYQjQXkaz/wfXOerj5FII3UgF8fmPlXN576UxIvi7umi+JWWE2NYRiwfnTu1qj2BhAGo2rQaIrDQJ14NyqiCql/6slw54nH35Dvg+YBlxN2j+kn3B8QGeP1kNuw85r3o7al9rLWLNqkxs/jOQerfyFWUK9odrBLsv7KQQbH1CzBE+R4ZaInHO3U4sriFCXLN6rFcQufI2oMv670K47ZIOYenA3uQwJvvpt5s0b3R3yyd9Sd4/dJrKgUs2oY3d/jT1cjvwRDOseMT1ttRdzXUGZyxly7gISmrV2uH4/SzAhfUh74HKPBNgzxwF6NG31dfYfAFES98njGgZ4bGV7b3uFsCTzWjcoZg3E3sUR8+9PUO7bknxRHXAZOTOKNCSijRVeItLbEgwyeUVkg3zy+mU9jQPX1e8KtFVbw+0BOxQ+54A9Xujie4XA62tuP+9nRnEzMH54fDJzNKYxtvV+v7wn5nUQ9rOrO/U7WREcVuCIp10C3YdDq5N3wl9ysgjLa4i8LqIVVhfryMrnxVWF+QwxvrzQJPW54KwDTEnfSd3zUwKIu+ge4+YB++QEXT4cPmOoRsDIDtH7PDpNJ7FISMXQ4k0UZ/iqtx2/uSbULeUoWotIoD6sIuXWbxIzGzlT2QhvpSmsFd8/nOQrqimnXOCUuUmBVoaNAWUYyxcGJXf1DmkpDQDiJqkawn5JpDeNVwxzz2rL8zLC1NBU1UVWvCKJExtQT//WkcCzsBlbm0odP9uE3rpYNJsWpiVgjtzbFJUAdOuwOzAHccnyrb+4Qc5B0xtJeFS10eIUwuU4ujAuWk9LjbMYhUZ1h2GU/Li91RbQsgTsPyxk1DejnWY+fzRxp45+1c+mXO20/fQ8w4TSZ/vSMXsTXjZ7WOvHJOeeQ+eAy0SsL8LpjuZTxo0G3twuopCvLEiNjtOvNUKTXISa81ynJhRYBvWN20Xc+QBVuhCSkPmTzeda0mmtSF+/VDodRDcoJ0g795N5Qpdu40MBchn/yHgD+hdR2rH2tklxSsrNM9bS7MJspIiAe+DfNnXb4XLoahGv3q8vcmjMbPu38RL78AtxpFb1cP+i3L1TZq1z/KUelW+YKCLtqdiagoYmkWUJwAfJiQzyIVGjnbJ4zR/XlM9vCppGRzi4qbFEuVy5PzmImEpEjXl0jcMLZKwY6b+Zsst9GGcp/InU/ddEdlgApqFsqcpW4Ur7xEDkUEGPJhOCV6vYvoauBOZezU0yT1nIl8yGpo01m1UC+DwoJPp7Cc1L6C3xIsV4xeavJYPVTxGmFG0ZD2SC66IIHYQcEO7iv4zSaCDE8wvONiOZPXsnCIbjOjP26R6OMcnuKjRDSLOjltpi2FphOzRzPvfpiYJfAifs6lo0W/DKH+1/JwEeT/qgTD+Hpf5IG1URAXpeQionrMkous4R4TXMXru1k7S8XmXBicu+Lbkd9NPnOBIafXQhUF6Scfr6i02ahDrT1JUk6o5ue/wItO+5qk4Ha5+MJ0jnPvNuqHo+XwZCXK7TI90NsHQhLA/RgWIHaghPmFCCKW5tbJ5ldIKGg3Y2Cs+K5g8N+/ANTa80jYlfF/hf0Wg/VMaLCDERYc2UeuzvgEsOFxrb/LK01SV2TTyYCfZakauAaz/nyQ2hxWEEJA+gcqJR8EecDRj02lirjcWf93u+TJKtGX7RRm8YGrkYXCVHPfvj6AfuiWytgsEyLVeK3pHzH2lJqvS4/CDHisdiHKUbcVd7lXH51Geun740aGIzUMbhNunD3d1sA2WNx5lbfiDo+k6qsLwKUMTaWsxHM4FGnKfOOiwoYNilUdfDSCPpuX4ZjRCbr1yUMt9gg8n5EhIQLF/POLLz4oTW3aWVuTK+3HBn2peS9SWZIBIWueQWjnSn7JTwE6eZVLg6NREkUaQ9Pew/F2+XF5OeKsyIMCBpJ9gCDZIYVExWAor7h/9uuk9RqyUNneUFtuvxDFp79vkB7GGlEzRJ9uOpvJR8ukVl20DaWeXEJL+J4sdINQfNT+k/ddrbcF3B6cPzZP1htaQ1ozynMgZEoRYjXl+cHddtWBzaaAgvTxAyr+5mJTozLo8MUQ386IlkvHc+CxULe9lNDiStlNp1K5BnIgEXcxJsP3rmFmZIhr67ExSR1Nl3mt2HzARRdQSRUug0yJH1rd1oIXkZuv0uBmI/4Jw9FPbhtEfqnl4y9EiFGdf5p/lMdbTJOsBSUUjzDFl4U/XaIkEvHa3of1Ls5Z2k91D/I6xikyF2gw8FB5V2DKd+XbnUJdfVbqSRWubrLBXUmm55lwg9tEIyZ+Uo0JQl/5f/NvT059i7z0S4fk31Kh8mQEn+7jUQioFk5gf0kSkUXQSKHO5Rq2TB9Ke5rzY6vZX5HOAAUh/lSDN4yk04BHuOdrdE9COpNjoe1FGe6XxQpQ0zPKcFyHaDoDay9TkFPVN5H96Db857WVJzYa+rdaKUjJnsuCb+jpHi8v7mrnWdhj+c/GqHbM9WxJsM9VxUbtVSDwcPoIiJsmUFWyzSg0DqmftjSiROF1it61CAYJWpk4+8qLmpaLW6x13Psua/ZsEfOupWwLuNyGq8JmAP8PMq4nXr7Capvj7SJEe5MVOGAaLClbqkrQxQIr+58HIAE2eDWmyIDvN5xArlQC2Fh5jpxqXLRXtyRehfwBv6aocAA2fe8hMgaxkwj6OU+E5hrt7Ga5CqZOb5EDqOhFjCXsicokK9oz6GraJZqtevBRiwOnNB/Y8j1OvPM7p/INZxKYG/pYPdqs6V5dLXhJWABqyi43fKEy60g7gu8Tx1tjfIn4i9i9e7ljHUI+wXnNFalZuSVFVU3LefBNwTzbazFDXisnOcUDwJJtDS4S/PvnGuEGWcuX8Exy2WO7ThgGhOZyCndbXJFe1ZeBKQxVVMmW5vMm5Y8AGiFa1MiryB0JRH3V44bUQeNi8h2nDcA+A4U5QQGidsCSUwna1kKia/G+US/46Tvsjrm7oe/wzo+Y14j2SPdfERA82evwZ/41wcMP3snEHdizb82DXF3RFeyPed0aIC3wx6o7wU/QSdwANqw6cuBwKakv6WO2h5E99qp+7vYGrys9WEdd14F7NfHU2RYqz1i1wW+wi62wgudyox4ONOOn++iMK1hUT3AtDG8MEf5cGTLrbt1F0v9XCA7oIjt56M1hMX923Y54DQAtyhETg+HXzOzCVdG8Nm5dQ0Vs5soKHJLoV2KZ51+WrbQ7dqWuYQk5zw4EtzNkr8jB6GiLKmlokO4aXPmYQS3uCSRNGf3cP0phEfcqavbVrJI8vAvmwqOiC9aD5p7jXH2U6DJ0Nk7+Y9XOsB4qYFm61E3TvwCKyQjOoqugIb2+yoF3GuIZ7y1unsvPHQrpiq0dFBLfLvW1PXB2ympwDIRi8bSL3MLUivIOLD/GTjqYNLYVt0PYuXhnIioQx/UQy+6rXPFlQ00fkMllyLGvKHXMr6a+XoIFMGAtVxksvaUG1sW4wk9pAzvNgC4+ZUdjrU9rqX/d7WnPdPm0aojF75aTgzLf15SrZO4UFCoMWoZexINBQ2QXCeee8g/JElgmK93nABacstGNJUujodAK9PJ8rN1BIIp84aNyw9slfaLJkFDuOXP/JkSzWpZCg6uofKhNo+KmwfdxNuiBYKa7FvHgG8APxMI/6Is2C6Zv0AbS9MbmccHnBjKsBrWwNgt8l5y771djpADH3XCE33MmJLWTfWGTcA9/3kTRCEYEgFy79PZGPFvIbPxF318qPz9fLucoyMrrT04TKWGzuJo1mahbW4aQDw0l0qa0pqVCKbhRWdFvZcJlrCij2RvJWYB3MuSsODYZEtf50JPqrgwGHp73nYgd0X9iqnnTxVVS2tlE4hfLoKTtNewazdFZPeqZVsM1ouz/Xgn3CqMq+DSWxR1yxJAP7X9bRxHqFnTQN+PSxwPG23sjkQXf7LqhaU2RhVR3p/WoxJniq/wdqbXiI9Ql6Sp7U5sECeWCaTI82v7lJiJY/N8gnOsg2VGfsdnuRlNBVjbHbMB0myGtBskJ8o93QxGgpN9MWrc2LIASOoHcWw+TjgxdWwpKzbBHD6Dcd1kriNrO9Rm9e07Y/RatA3epN4Oap4lRrILH4+kI840gP3dZYRvgKi+yFBXdcsJm73xUqzQ917Q6rOLwBwyHFc/JmUBcpDMiU9GU982KHD8EIxUcHN5vFo5xl6bgGsddUjJ0wvAMvgJbQeDq34R7dD7NOe0VTL5dTXYnzlg4C8J8avAPf2bwRna4RUYcYSX5AXsRhdAS3NbFtqn71fV7xlb0s9gAs7j2ZX5iF4GLGbp9GW/wixOGwuzFWyZ5MyLFuRW7N54YG79ksPOMO8E7zgDs/J8hLPoHFVvUjapNf5NuQwf7TMC97pM2PrIKBozMsp5Pb97Nn6sMIT+wlig+F1eE389zC1tKD+tGUxMEtjCPSqqu7LJs9jkhw0twXRq1zPJIxWzlPiT/A/Sd/Zt2LgLHM9ZXemsr6B51P3dUeL50r1xxGAUDiUZwJsvdbwqr/RhtX/Z+ZmU89atSmEPp/1ZBV48xeGrKAOBpwCqUTC2hVAGcuH6mbNHqFV/9EBnnhmwLwjjWqOONu19MRC7v1K452CmNKMSJUbuZhXU4ewn8H8LfImBpeyQq/dlAUroFEZUPi39C/S8C0WalI0NPigVzMUS9wK5zkKcigz+RYHgNZxfy9M97GkePU70ElkmqpfqOxBxe41LUY6Wl3sUpO4RF508P/FrW22+UM4a0plLpcrN/hzWrcggZDhOCU9YVJcnyYt6h0U9WkAGrqOUssW1Nyf6GI80tBLcLup7dhCaFaaGTX8Xtq5mj+Taj9BgdgBnHvhniCLoLfF8CqnZbFlAGh7b+fTeTuR/IwGKtWKSboFbKclfHsI8e2qmldcwp/mrvwKbZ/Ley1elMWBKe8GnnsCfX5YIXUYNY0HtQxfBZ1e3MsTOTyxeEy5R4dofeSh2Fakbw9RzzC0a84fdN0wHZgihDpD54tHHMwBcam7A6v80n+mQde4Of3on69vrUWee5iJwlkvASy8NeRt9CozcxfMBECUJ0ATEX359A2TybBUX6Gvb2hWZAX3DGQWd0rsH5Co2NoTXCUASIx2UKXB6g1mYtMxQRapUdGvfC/jKxCUca3T/P3U7YhrssGJeha+Nb/KOEtDx/QFsAOTTMOVWAXfkipV3v3yERJpwCY1MqtQ9Bu7TKh9I/90yCxlTbXenJQbp7BCgYlk4TlZU4KcvNR+nxsurLd00b31iF6pHJl8ehPN4o9whdiURU+0OnG3DjQCf0IEAfvTdOAVDTjr8IMNypSYlcw4aphMA46nLpGAwQAsEkBQ0NP0cAna7Q4p2O7cUPqVfl9ZKD/fMoSCHWnhhM3si1BYbjwATwLg42MkCPMXPR6nor6C2BhtocAn2lsOJ0UbOPFrNzkpmTSOaOw/rVcmQW+3t9nXbVv6Gy0N2QUSain+U52mCIgzEe00tRzdCM4ckz4OerowN9qDbj+2NglIz86mnfV860czzx/vEXg1CI+vgTkqOA0sf2jFGANDnZWXxbdSarnum0FfJJwBkF9AHGVxeJ/KfMIfe/LbKMElLIknBwPUNcW1V8DoVxtav6GuEHPb68r1LsI1Xzqa5mW3GgzuasuGkoawDpkfI+SWy8Y5Sz6pdq5IyDQfQ3lt3Fg+TCuLaPvAINKHstQPiPwFV7E7LwJY3AdNeTezeWQpKI/iCuVumWp3eeH/FXebXGKMmNyt1Q3xeT3KVrwfCESTN9PEScHY50sFXYSBmra9hSQ2orKzGveQDnN/jB8r9JjlEtN4QpmXkexGjd5r1PUqa87Yq5ZslNE7SATz6Zj26RtLL9PPEiGRug2phan4rI29I35bvk5sxbSMiHslBcHUBsNPJjnwqOA5Ogql4RDTQKlfY9T+PDPpvqAM3+TEpblkxLtmH1326DgZEFpKZX04VBvXvNAVUKxlydTFdGz8IqPQvoio6tDzm+dxODYuFjFzV4Mg0DvfpnlySHioEd8WPGqftDGOsb4kXZ94d6Yw2gN2OCyQcCNqEfKZcrYGkBwH2dGlPYv3S4iY0qm5duYNjWKes0LvUKaQmFZ1ucbtIXGyd4A/V6sBLiBEU32vOwM8NNHOCEzpmL8p3/RH9ju1zcHNxf5JvqOQtmAr3I9JQmUAkkb9aVni3BI4JRNFD3Gm7aXoZnaIzXdscCV5Eq55xqs3jYENH3tDNrnZgYCx5l81QSxYYiYQrMVJMdj4zl58FfUSL2bZSpAdi0Ax1rMmVtth4+Imtlg7dG1lj0PJfq2X0kiVd3GDs0QXqRTlqR2iteHfYBwv3UoAYeZY2lONzQ9rzcX3PfzhwQzlFr9v6NgCo4D0IfoVCy7ITXwgPHcYFeMVgZX/gnPdVcKcJQsyiKz6cWVzm1BqvSOwkeO3n6PUrp6xBVgBrZIKo5qL6LqnRUVfB/a9YLTTb26QQrMJDkWGOJTZ1iTlN+f3XC7YFK2kcRVMaxKv723mQFea3cQRrXl4nabeUpz3BIFnAyE4q88AHfEQceWVbKmPRSFyhjJCrUJ7Ip+sG3FiyeVggmcpu4VnnEpZXFJZSdK0zqo81KO9n0s1EQIefMFFGyLl7GBbJ75mMzgKSudkhKcHqB4MyBMi/Gk9xXbfjPaUMJZSjub9s6nTQSL2KF3mhAxk4SZFTH3W284IM4oQ2M/9ewXdogQHH8rXRfim3q41vMsXkF+r2X2HIOejqKCvJHZVA39pt50AfTlRQ5H483qLTAditjgpLKVHdyT9hmjE73JWo+bYyNbI8Pk2xG816d6ZaF1JZ3UYbI5H8rmX3uA9Xph292/oGUIeACvUpj5QbDWlGo6RCe384YENqxq314O+sKgqZ1KSogDhx4EgpqDZDna81vK2ZssDTQoJyvGxd9Wvys95sARc7CzzQMH7YX+69bJErKmyhGV4IsgSgzttNjrKruwT9XheGRJe6o/k6tW83IuoIUZgqxMF6GtzrN9g2uES0JkJuZWtB5AK1kIDUwYkjN7Rr0wlAAoOFIIpmoq/RI1GJCFB4Df/hHPledM60CZjz83oYJIafz9EZP8s+Laiq58I8LE+wdG1mvguJ9a3S8IEPZdE2uuMABpJ/qTYwD/04E034Jqi58VqZWE6oheTfrc9mZVhE0YD4DJqfBdOThKeCuNvNccnL9T3KtxI7Nz545NOeYna3jYKiZ2+fgMIboOMMMjlGHXTMv2pYK11oChnKObaUy4TNq2s7fKEYMP04opLHXd0SDU2EUEjqOvdd7Dk2NnA2oJewoJLZg5wz+0jZ8ETE/C6AsccSfZQz1gThradiS82rfaZatxsln1IZEx0EMfQDBBq93c+VKrCtOQLfIkia8I5pN5YBl/jZAV0+dwHhCqaeh0VCh27BmKUrAO2HjEDq5KvEqikRVyl429zv8Ew2h3vqGR20s+ahUbBmw6+P5OpFd7fCQOLZIDGvbPPoahYwXUeRLEB8RFkM3yZT0HI3luPTdrknLt5/tedvtd6hhFZkmqJUcRpGWz6baSdt4Y3DshVeAeMiDsPzJCgA9WNay2loxDVPiRbH/HA0rqUe5F4CovcTsbZj5PlK0+v/A48QT+x+u5OioUrgbKLZasaqFzSade1JYPscUt3g7veR4LPg1fTVfkmHMrz5tYPaatlUxsXSI3mRyc5QqAgGsZN37OBy4CgOr87I53eSWKNA8rHcIW0H5PHc99pgeVnCTdRk5OZuoPKMvyhk8iYxTYfoQqx8SwDPLth8YUNYx5t7kB/0SJerV5grwJ1Ucjjc0BUYyt4OeOAWzdumOqrypU9j7BVp8tBwkCEo2gsPrgRUvyOeIoHEsTSfAyNCsWcc8UU0+EvSAaA2ugBO/GEAtFBgYTIJKSYpPQdfohCG+2Rclk+qW8l9/bJVCX0D88FrOLcajrcvh93INSHYywHlXzXmJvgxnIrPRd9c7hBEpFFcQiXJ3NyNHuwFt3HsCc8MSW4gbVcZDj9NDgsW0u/st6hmoMCtdeONiLUJ4WZUV7YQUUjR4h440MsTVFXlBgC/n9SODxXR68CMkO1ujnPhZz+SVDQ9ZeJVbDV2AkRPjzVg+emnvrKUD4pzjTodweR++hjV0OJNQN7/4dWaoAM1CcyqjqlcZsK3Ex2ULfhQ7Gk1+NTPjwm9++iL9g/0w85XJ6U91R5BoR62VWUiXiQnT3KsL4OX6hFH8cYBZR2SyHt1PZBryt1zUvMGP8QUNjI/G/g0jwE276uPtOjuVZ8S2jQN/SkjCOf9pHIZOE9h2V5ew/l6Xuw0F6hINDeC6YIQSL5eqOZsyzzLHExvu0KBk8q2ppkL+c6nzTNG7KTUXyJblJUxJ28yZB+h2j4J8Gonvj3P1zj2OEcfmyTEgfjtZzWCVwQSQ+QjB/eD1dMoSszeGvsHVwtzX2ucXmtTRcns9UML6xqSNX1KZn4RBXQBkhLZb5rnu/qjzRDLRnKQdcR5Ood2Awz0Be3YrM80Bof8YXBYa+DPFqCBav9ILOS2/od/dH4YY3nBwTXQgmO20VzcBi/1e/XzkaoqNBTQtlHPS3LBDqVu6cGMTW1+K8hkDlNUXAL1yubCysq6BD2tzdzID8+oEXMD95doZ04CRkiNUveeiwaIVl+d2mfSBVznijpJAC99P2DlKt2v0/JvFT95kgb28TaKhDXuLAJ6QThVPoPB0BpGv8wMuJNvrqSvL8xXHWyXvLTcQjI2WOcWRKxay0exdgqVrJaX1ZsMuYnEqe2IK68VinBdQCm7uz4ea68INoxT9nJsNeYU1uBWykPYMw7gCq4kBcHIxTcT5m5SFgWKzo5GI4RkoQePvT32wkZuiolZ9+Zvt/EirCtR1tdfR7tnkGsMSa2E9wtXtxnW4hoV9E0izF7WzegwHkqx95iix+blsKNi1GRbt2xGQ3R7KFCnJs/CVxQQ2/fxtdC6gfQKzb1+wEgDhPXJ7wOnAgH7HLlzzhYSi4FK7gqeN9sgT+njV7ANJLLxGxDW1+GYzkNleEejQBcSa3bqRyL1kfI3I/r73BZyjW0WFMZTg8aafIb2cnlCPeoygKssQJArXRRR7xweR7UIP11PLqHHAz4S0YAC4yrzw0SbYi0nnFoL9pKsIoO24vdSgCtXczq2JEmKKDXCC+hUPyEe2o87h6ncoNIRHcYZ6bMecOR14kYqsjmwU+vPG8/o1KzfqX65EPfxXalOoCIWft4CZT5tiOBcZQnaRPh1jawTAvLhpZR2ihGEYyDv+Ocio9vBMaDMR6egN2w107zwPwFwUpRc+LNJBccmyA8kQ8TrJhug7hYdZmg4uiItSAGa0hpuMDV7EZ0B5JlBaYJkXxjFS20Gt21u0UYg+PyZHCB550/bS+r+b7UUpNEWe64k1ERq+c6KZ7SMbbsYmXSc5y2nWZoW2WlcEoAVjkBMmAw0jZI72zb+MylA3+8TWHfawZ4aT3RWJo4fuPs0JypMakESZomZTIl2j+NprxzliIsoqrZfpXVUtxyW1QAFqpC1ZrMZTagHPC0go/TniKX29ZKmuSUdEcnRm/7jLSdUG04Ie23ZC/aqGgXBQkN9McguJMaB4TU3P5vrbjRwtxA4vxZT3c5WjnRv85RIgBek1CBJU0zhfOwqCE6fzevKPfJ0Plf/v52DzobdecOMBnhwSG5eYajI4LijVqmSg81PrsTiQ4Qar5NIb872ZSu/PrDKd4jiz7XEnlXSaJw3mmpF8dQMY2HSqrwyqR6ygZrUD5/NQe9Nac+wXpIb9bM3Hm1tZZzhc1ls4sXeoCJeOCbcpu16q7NOMwSV/zXtlnzCiq7VmtnLaGu3XYRZ4fEcZH3LTtqA6Rs17B7z5dwmVoMPGz9025ZVjqeMnRiUAzDBoyTsgNKu8sC0r+5XKHh4Snfk0l90N5WoJe4wQO8MpYowG2HtECH5nCUUNVdkYfAehyOi+PgSl+0Pp5GUa8015dYgivTpw55N6SgUTQqZiK7B562IKjJ2lOTIpOilb05INzCqvv4vRCkotLwgBYEYz9KySZzWfEZvyP6P3TxAeA7p3sfJMS7UZVYKEOkYmveQlEup69r/41WBS2E+wbmI6Y+uO8FP5kqyHPpRRIorUIRy9BnQb0tWdf4Y6ZOeDr3O1x8N7iGkAhxXR1oeB/7zl5r5ftzuAz8f+Bfs7BIo1M9RF8/P3yJNStfdSO01F6ZzyjUwLLUDblDXy3vPDLs7BxH80UtToJNX0JODJC7E/qhtiMFORyEjjk9uMqeJVyahGB07n0JWd4ALv1YtezQZinGksfmV+jjVsKjCofVHuX7ypf1MwqjpXDjs3TOKbk0R0QsLOe8bhvZdZut68SI8Mq/x/N4HH0dYqqBRmodvbiWDP4IISnD6FTlrc2g9WVhQsfrEJ/Nef0A41sURRODMTpjT2rrV1f8EeLLNSE/mZ2NCuOYMFj3TMFvZ/xRHDNM5CR38whMVjYUD6o51BFcsoNgfarp/qioTGwmOLrtWVSo/7uNlTi9EzCL+Wqsf75Kt8lopkzjuahzjtvZDnqhxU6S1wIoEYZTV+pi2mnqSplyhRrrWQTWdlNupHJIHQU3215FIAfH48zelDAgRP6aSf3B2Q8esp+bzAa0e/UsiP5j5jhlDz02qmER7FSos6rWEeCw7q1LLOtqyiJvDXmxWUmfL5R+NGpAbMUtsipPdeDMXOjWgc9qSoeU28wWi+0NolsvPiZoAbI8niImCLtHGC+Dia2ccMUPmWQ07Xu0k1Dj/7scovKP92BdXP+JzH/+P5RdWfNCx0gUXZeI5sdt5qlSEwmV08UDlye92Kj7vee2krevZS6QWAb+gD3nmqkGjnJZL+EosW51wtVyDZ+pb2oAONjBnfUDjVIr2bkWl0xIS18Z/YAnf8ij2w/AOPi+erpw8qQSnkmZ+I5RH/3skrm+gJ/3lsYJA+++9sJ0gjy82j2bnv5wPO/SVvPgNBJdOfNd3pzxPV/ju90e5gUz7bEhGqCgufW90Z+W4YOAqIVAcoYxV8IBCarkP9DhUSDL3I0GwA8iE3o8Sctm1l2uG9kxgKByGbCCSObccFzRNQeVWKrgpLKaRAiQ4E+ycAUqGildA4glQcRzNuNVgYphsj8ywRp4LjQn2w4fFRB1RaqQaNKm9iyqSGwFFL+MRKuprzIfE9f7Zx375Crpg8GNewwWxXDJovdhQH5fmROaqttS4V24Si57S8GnHWUPtMfkoA2pN6eQ2wrueMd+d24xpm0lwIOhDV1VHRwDYtWRSl5U0vjAf/1i0DVbr3tK2wE48uBCL6oBan89fy6SkTQ8FLOpF0SCfD0DB98tpdg1nXdzUxf33EZpnZzxlXkl3YeEvYeCsUGYC6XsIw8WOD8Rs8Awd2hwNse/kGgWPDJR7cQeNHxUE88MhUWr3s6FEZO5m5Kdo6toVPLaDRV1FKt88R8QhdkPqQMhxRhza+hb1Y0UL+oGmQg6abT8xMzB0tAnV7SD/UyCNl94q3nWwSjd0Y7hq9o0P91bWjMMg3jIkdJ7KgWV6j+2QM4QhzyHNoNwn9IKNYEogA4BLBW3O7oIlsTOcrTzcpMj8vTLRlx3fVC7fRtM0Z6iQSGxoC5QEeyUtKp5TUH6dyCKSZvVbeQj46qTaxlDGUrtLY369/DJ87NrnZSyVZwdJTfE/NpTrodwWsTdYwp+mdns1YqCiVzo9E/tOl0zmc1/0Bg83KR25e4iXTJGt7yb9Klww/4iFGswsqa/UrbG2P+j1oKgneseWH8c0EpEyirMNRUBfiyivxX1Z7mGt5hIGZaRotIWWUwqQK16p3H3yfQoEBhknAxTsBxqN1QRD2CeSOO1ycgl9DdPQkNfHS7Ub0EKKfYWeXjHdKC0UXuRiH1IyQEm8JaUahoB3Hp/kUQgEIFsOHX1gftlYLi6bulwc6ZsjfM9JJvF3DapVT7OIzKIAqk3qHHPnsw0rBTMiaITKPRsOOcnunnpn6HACQvTDqSGjnEXUJBfuwXoIrr0cOJH2wA8AufnNVjvgD12BrTx7GI3V3TH5hJmU2IFUCWlCKrFfVryJqQ74B7LMN+IZ78RiMul59RqLBqVGQzmeQRY6Kc40l8JSEbzlursn9FbKxTj0vKtyeeo1I94qYWwcODs9SIyHWSF7mMbljHhASLrSM+WS2cSg8nWALvzFg02/ZiJHWQg2+Th3rTkjF7hWho7oWtDkmn6M07LqF5bIv1lD+k3K8mWNy18oZjZReDuRba0TqLpgGIIBE9seiXprNpJn4R+aJ4SdMC4EYetfoNyu48QT4K2nPG8zIRc9nBHKfhocE0bkZhfnoZM2A4mHovGHOutDrCmeU6tnNwzqBOk4EN1yG4Hc5zxAMm4h7jIXn4ZQe2Swql0XBBpE3StRQHDAGVF5eSKySvlFuNX7oH9q0I61AkR883CHJVIWsaqk0jPhoW2nNMv4GDMKngCBWfRklIGcYKuJ4cDgSaLVirukARauU6xdDgrEtgiWGFAtDex/s71vPlqZeMI2ZhXFqOhFPbgN08Ny6XW9ycXPWwjgNdL40P0ZfQbxAsNwzvbfmmYk4VTp1ota7jfS5WRpTxdkjkc09kfmK5JxBGmUQVhSaiIZULq8LSyoocXNro8V7HBX2hHkxKx5EOPTzh9rfWE7tkfIWp76DnVhtlkTNnTFoauSaDgaZ64L/mka4seKuFWEt9mePirUwQEKkO7xm87niBJirM9uF3n6JaXZuzL/S5ghu+9glSTv2dg8LC0EViiWwRss0FrrlGbUiCjdl3geqA2A3D2VDOSK/6EOgi2/8rRk8nrsmLp0bPWrvBe/JBEVrTwdgo4Z2PgIyC13LUKHCs2ZEvV9F0SRPw1RKOnK1Bz9A3Q4vkmGJra7MbxHqZl+HVsZ4NApwC8fwmWowFDzpbYis6dI1NmMxqKMPaRPvJK47tpECYZHHMvJY+BzsV5wvPCWuHJK4xbS0kw6rjLCkJ9u2OaZqCBcZrNBi4vVDhZDp6nfRTvMxqpoQu3dA8ADUK4c3YkJ/pjCfTCZq5hIRcBpd8UycIlQftUygOdYOJV1fh5Rl+CDjoyFbn4VpI/Z6bOzZGaP4kZbZlrrO/JIIDdgRZLyFJcMD0hI2dm+RDZk9R7CiWy/MMXDfpKxw/3UYfdJF2l2Cc1cNUFZbYoBqeUhZNIK5mbP67KNgAKII37ZtOgDE4YH8PgUJKs5t+yBDPDcmhbQ3Msxx4apPlv+bcw8ofin/qCbYJe+BVTbQXJAec3o2z8b3qV3Oy+btpjfhQHMxBR2unPGyAMiXQNqbcqiZRGofWvkxpal5KdZv8P538/6w0few+yIzm9SCiOA1s7rInchDTPCKvPd7aGLCmt5a2a7q6o2BRpvKNBUD2/omNmYcpWQrJ+yEsXAq2xVo5FkPQXoNFWMoyjnsAZvAmHQMoICrKJrCU/Db27Y7uwHhxbK7XiQ87z9T2JIHlALR6P6+IwxYbh+OfULfcH71Tpsf1X8RDcrl4nFl/fYRdQyf/6//KL02VK1YRT2hFmkWV/VJTqENhyHx/EFOvwLotCTRrUzqypKStBNFOO7+4yZZC6FtALKjhWRUUa1Wq0LRwQI+Y9hKHy+g+a6PKNto4MAAt2zNMYdiw0Dg7hwx36AU69Qu4lT0E9ODZobtCs0kTjKNmFrFo9Kk3jSjS2TVCuAzy1Hidvgr701ZNxG5/piuZvoei88xZl8gn/QTtEG1EReKO4UHhpF8RC+YRFpt5OBoQy+dzBqYn7ts6PlxXjWoad7NnyoecsVZgH/DB5/M7QZiw3ZRRArWlFxct5fperf0ML2ZEPsn1ak7KzGora5IuiCCI8xTLfOnD9Tq4u/aopKtH20ylzFRpCAqXgFIaqCLRkCMrQKS+Cnh0ONHown7HT9UHwaL8Ucl0GUA4T90PKuq/3EBWfKyWQSdqfoRUxJEqO6oHipoHnD5uAWGoY6+tFByL1X9sOUaapwn1SD1PjERybTM6ian+oomZzfsemYUqD2tJKJSTDdRd0Jgsi2AabWbtuq4RxNTNTjOjAzhtR9ljdtO6IaRrfE+QHMSzBPcEfmVqQ2X7VnBAdtikks1EI8JuUQun9o+GQ4Y9JSOPWJnyTPLDNEbdYzXFLhg5PxZ2hnGqmcIpOS7peiFH3MHKWbTect4voCGVVV83FfiKBznkIlWjeqY0hGm/HfP2y4HnE221twwg0PCz6ZC/Y8C0nbJrAeS7hd+YVnck4XSdk8eZjT6OPl4Zbo15/xtwSxO7ChIT9fpR1FWp51TZgNxxyjsZzEuKKUqYze+H6Ra2EAPA7YQ1+SuMkV5M0jqGx/Zoxzc2KI9dEIlJc7aTt2sg6fHQnRCROb95/Ik7pVwoFH1X+htfvnwnz9xS8qvJe6uSw4y8dLmEh5FbMjad6e0OIKNKGpP+PNjJaS/9D5fqLB4e4qybREw1Ruy1I49nZLIaZ3pr0VG0xJUcuUSgw4/l4K3qOWSGd6DGGAfeML6Qm2Zox1KZu0OGXGxLZFe1SMqX/qFM+CHe0wnKcYnddQ/OdxccsFqzCTgQU+SGdLbSMexyN2L8HYNjTmAIB3/t3gveFivBjYik/ZaXoHNk0xK6L0gMAJudtr3rCp7X1EXxkh7qBdsjXlzMnXTpdNEI4qq88bwc0+x4fW52u9dN0fFC4TYiKwpGC8O/fp0mpbcYj6zwUFLYnFB2ckY4NWqYvnQDjMaxBdztWfdm5mVFiP9aqLUD74Sqxfy8HuCYOkh6OGEGn36I2PIFNa/hlCTo7LVfJgskIcdb3seMN7SZjNCO6/IeDAjLVWJtLHdTL7uvEKunhMlfhbkaLMVYofyXPt3eSdpal5hxRQshRlZuuEkepgMkLBU4vG+t2Wm/YUBN0xkDoayKQxdUntuZwt9vykjadQV8aCuNsWCFZuETHsYKy9ixZUxvMXHwqT0noJrN6XezSvFKeF3gKjpf9Za3toMYIxtnhSd+msWsA3UGwGJW9+pxdlxlRuuVbp1p39rb+/bz+QPo29UwvkrvQsjsSLlbBTCm/VcOXWsGtrG1yOi8kXaTJYcnAM3aN6712rBl9Mz+49dNmqUS8F1LarLMbN6aiwKIPsLwp9H/JTLy9a6CmcoS5JB6zdd+2gP4BmmFOigdBVHgBh058GG0axJNYk7kMg+4mBMzmF53Ev/kLC3ByqvTQ6rLlTrq85pOMjb1pYawsn+KdUhpb4klTk1VBfCPc9yb3TFMUf0FxIfNXY0Pj7G98VOAsZW1FeOum4IEuuCqgLarniA9MT17wBmZS27lIVYSKspifUFLvGqNNYmMKr8oTy7YpUAnwi94Ek2LSrVg/IyqNT6+7YoxGuCvOHOkE1v6oREcnL8XhNoEKAa5HT6WaadAHWCfk475I+6LTzls32aSd65ddQlTDD9r6BIAduPV9u4yLQ/KHukdo880PIeeeNJYsnF5pgnDuSL+XbPKoD1UOG7GaMu82934ECv6a0+Wt/I3u24dZp+SqTrxdfDuQ1tgEw+xAk5eP27DQlwgjOfvdUNzmVVq/JU/aDn+Zh8qzMibjOJpDCItroOMdNqvTJywGfC+gih8Buyg2vr0a+XbzohzU1h6uUL2QTcxuqgxPWyhrjk4jtKzNWEY0LUglxULnO/Z70TKFoljXlGLfp9YOT8kVTXARI2xp1hzkPFtrz8wm07nS1Xt4ZehW72YRhZnW0Mbbm9U/eP0TM+ocMyQzdfhwCg0RU+mXQ5AvVciPfXnu4gfHVY1DrdwWnFu9fi5QZsYIqjKRGhMOHMZ6BRpXusaGs65JK6TBj0dhfahGOJtthtKOBnIhitjWRK/LUuMdHxBKK6vr7jvEfgYi78vCjH6AmozYfDQ3pB2to0KPq7yzPBVOUriGB15YXybHK7vANtQ7JtUenyO+3B3LaHjx1PI30gx0uqU8Gf6leV9/EssAGOSOowPVfZcJxKMCMWPLuKc0ZGJ6gc4KyhmHAs57607jyfMXFYc7q9EXZi0rw4kU+/9e7cn5uIfjPgLr3x8ivu5fovcd4KnWml0A18SZ8utWRMr0qmpi3YLivyM2+6gP62ypV73GazkNxb5oJd9+18o2ohT8fzz6OL7lJXq6vUkhIPuTAhOy2wZx/Cszq10v7GhXlUS64IywVj8zlY2GOzrkTlUzUUZaiLKmfOG03UAVOrxiwmLTzIa6LjWA0Fo0LcOwZu9A/7jG03QdzeB5WRTZYQmkWXhiy9x5kXGGSFXmXXKDmBcAewGa9hhx1tu1tDBNUsoVQ1L2susGcw94atSlUdgCxbKAG/lOp90YEqUhpbqvA7pOjDvCX6FBO0hQweuTLbCFbPEBCr/Wmw9tdACxKZgubGsn5s1EQLpomtEuMbpLgYVHvilPRamHZbFGQiHpM8V+lxTjFr8YIWdqgDSAGoDeAbDC6xWVqUmc2lydWDvKqfS5jP5Vk3mQLshg6K/+LXED9iPnIs28m4/JYWtECaZuMTR/pnQ1fxmf/kKrnTrbr7TbnEcFbhsRSdMq3lHSivVzD8mjHf64hk575N4f+pSrh3tVbba507sOi+qK8BBkfdLMqh05oyFhOSV04og8OfsjEZaIVxElTSSZL25cef2Q6Sizy2ufcRb4B9NP2c6iD9MoqOzEftfq1fJ238S9YONGDWGVH5YCSadqxAGZYJT70fl+JJPJPYKIOVTslUir/cyZXjpslXZNF9XwXHYAVarLo1WGXHFZvBrdYTAV3qDXoT42FH8rE527HjHBKUgHE3HOi7AMCF8VeHrWt9wC8Vdf05eQBUVrgL3A3zeQnH9p3JQZdsmOw/JdWw8ClRH1zecrox6qunwSEAfU2Ucpamwz2cXcN1qMUYdCp9FQfM4nI3qQbotMsm5YVWxR9u2gJi38LYFrHcXLup3StN0H5lSaEpLdeIaqpFkAy33p3QKruDYe127gIfdleKGgN0dW6NOdB1j9tIsmh7bCPmMBXtu842XBawz7YM5/JGLWrqGampUlKMoeCthPBg2ju+AB9FVqQ3w0yTNET27fEvX1TF6kIaHiQUMYzt+C1GZqGI+hikizH6QRD6UaFXZF4PYMOEtFUtcfo33psALzRo+fZ5VddgdVv7VxcCohIx/KRVrwfH1I2C5+ZECEMzoaSxbsL+j/eRfC9NgbkE4chUvqMuyFzgmJcfHbBVcIWtjwJfcJm4YrScqT95+A4b2y4MODAZMGig3J7qt0O7LN8vCFW6/Dywr2C4afC9DCc3WASRiAyBIuEpycU3ip08wB4JYl28JR/8G/pppFt3UP+dCbrmn/F8oArJw9v0ZKbkbv+uJhkRQMLOZ2hdW3S+No0IgPLYQ37u73S0XfOfmGp7n3BQ2HA51h8vQ5FfNraG7ctLRNjffrfyWDf28Fv1UdKxH3ovxPGXJEBjgPOB84G/X1gVvO5LbRLw4jGmSezqdtUs4T8W07ig3fjr2NB2nNzBTO5c0M8udBkl7fQoA8VFxgXqQm3aAs4/OQ2pmnavUbnPGMVb/ZjbYLAIlYmH961sgFum+87cb+CTGlCvXpa+Ngi9hfLvhdT41D8U5XD9A0HsGVVINd68rsc7vcIJgmNolDsQs68sMnNWHr7T9RzMLv7kvraJPUvE+C2WJ5Z86CuWb+E1bjgpYoYgCDrhnY0n9kteMujQcHDRe5/lJULo+2f/bq6Bzm2NgD5Es0YGDxaDiawHQU6+PTSV2uPUOoR5idtNhQ4oW+x0gG2rp9pqzrENjOplxfvFjPbgvdD3MXxMxxo0CwiSNx410fi5pCKfyFaaOxzJrJ5UdSQZ7MEPrpdlGikuKTwY51biqkr9g85R8Q0VB1RsTQTE9juu6IWABZAAnFXJ0dyv8B78V106hF28XwPgtbuES0T4jbpvMNwN1TPG8OzyIMjO9z0OuyQnq4MpUigAeY7lLKHAETHZttEvR1Gbquw8Q10j52Eh5Qmfa0GTLjIsTeA12HPAq2P8do57YaGF9DS3wBZy1KGOpjhQMX15YI+AJVgPK4N1ST1XRvOnh9sohnKWyZdQXVrSOljLC2d2V5cAXS3l2npBf3mIrN3Wt5au959lR3haKPz2+nrpAjguTjFjn647eLKVoG5F1pR7XnkNOCh8+YTKVInO7q4bCCAT+osPVWnFLcI0tctxMW50nfH23rAGGyTHABIcZkzsGfhb99+k1Yemt2GdPYpwiGZRgHqu7bRoODexiYOObacCjVEvmP5RY+Wbj23i7X2aZL4IN6+cIHCCcub1ekVE/fqhjQz++KB8GJpGwCiqZ2skdok8l1Is3lKzncu7vbywv/VTOkqvZ5h69nJ/ra+FLSV6DBMGr0egO60MR/59QvSAEOpmw5ioOnhHRu76HFkor0qTFxxkUc86ofdpZxTUkOQhYxg+luMKuboi4rJRihoJpxg7uVJK4lnxs50GaX2WCGuDJDfgjJqzwysZMWhAlHJuPAeHZiwB2pmoP/gfoCzgoH0z0ClzcWYWGEAtB/AS6yu9veGt6LvDIWagBwBbynh46pkGnKM4v34XSc2Lc/SgZ9LZIA5qQ4YPa763Son2ZrmSuF0u9DkGpMm+v/Ev9v6jt6BjOc/yLbpgrQXDGzneUGamgeRZIEffri0l7Y+49t1usnqnyX30kVDMIXeoNuPGGp6e82pSFeTJY+7/QYMPD3YYdC/dfyRPhT8BscU85L3LzGIAMUaXYvF0gz9y3LNCWCvBQ4+Tc6qHJZW3CRXfyjVV4WvNsYdMN3Cvk0J9ypCdsgQQqVGb4nrh6vJgraWeXba4ctj7BWMPGAskWe7kg6SDKBFt6mEe+2+kQV9aug6kvoT32np2nn/6NVy+jilYM7Rnlg4LOzZS+MGG+w5plTTrcWYJ1VNisdxXIYJ/RKuEXJNwP3a5nZqlE//nKnDm3uDDViBo8SRp6v4iPyjCQZkJ0VR226cKS8OuPcTu1qXpA8TB9rU6lUiw+Xv52NHvPo78rg/T33yOoXDhSFExI3ruU6oCZIFNkQSGzgAqWq355sxwSPBMVQpjQVtKxgBvu7P1cpj1AAK5KnMBx0kRm+qh3DOGq31eDTBVv4C4K/2SfGH2ci2mJ9wtUbfI97UCn+fWuG32+B2CY2AkKV8IM9QMxW34FvaqlFLTelfXo6cQk88EnrxGNURmD2eMNB3YFkYPY45LRu0ZSPaNeDbceQYm0jMzP7E2Ey0WdfUo6BKVwADdOpyd7nHNNBCrYOxlALXOGVdkaxM1qQFkZJGIDhgJC5AioncySBRqGZNMXrxHK+K282OI+IFDrj1GcZvWGWbuGydljY+LribEXUfQu1YDvlsBezklgqKhP3m2j4lQ+7T4Yy5/poYjhUNs3X8GUAzoMTKITrUT8Tx3UoTfGiPYNrM1SYV5CxzF0gdiHpL6Smb47joDkAKKn610PWNSzNBfBmdcPk/cNiwMni4LRVIkNmoNdYteEpwVl0FA2SimxqSLR+VtMwWSAFJ1DpHL7xtvNmmsNJ+Yc/0BdLF77guGnm0qXcFZ05l9Jf4uaAVJa9lE41FyQ5IUnhTmSYKMWpDUpcjRjsdOoCZBisjMVAKHGFNm4zBm4mdti+4OWNqpmcp96h28T1Pxs0o+N+dTiSXllzctc2M/BeEaF5esSeXZxKROK6e6DZBEHajozbMyXqkZ4chooqUPA+cDyWO2W0D48+qy7nZz4jN7vc1sKaXSKvAiFZq4FBI2uWACXxYdVijHchDTe1llsxUcpVaDm3tSEisGK7bQJg7QgOnMnHDj25TDMba/ISNbUQvS5Lh4NELUXJzrE9upfNCwhKYKP3KDbj7356JNvD2Wm5Rbk0b/K4jESMf2T1+GC0EwVUBvk7JfBBwlNN+AA0jrahcYSYbbaaX3UqzPy3Oynt3s2iNZ20WaEgKxdfLlBH5wEHcry/cnLNciC4Oe1ZfFCl3HpUoSRfy/mPMswuhIZ6q0T7AxDorp0tG6Rgpoyljl3KgudJ8fIV3lGLFyMIfRSbooy/1jNFI8kOBDoVoEf4BIQVg3tPjUsHX8n9KOxsbHGSY/1bOgb2RHxcrYh0J4REBjjl2Sm8BtZKF8+yklbFJeX1AED2PPBdiAD9dFaODH9pdNSl0hDDFwR+wImzdjUGufdNiL8bM2M7QGjh7rTDDC7LBO1S9gu4tqvhMBDMlmCSpdFaIvYM0HjU8Dg1igJFBBG3NZcY++ZqHNCltqPUKNLYeWy+kacQOlq7dQ9x6XgzPXNB10gZFXd8i+icyi5NEoq9JVo9c4yGjWNolS9Av1pjdCsNcDo+BJOz1uXubU5nkT38faDFWqL1/MMPZJNgKNqbNLfwSmBPLdAOLHzhZ2TfRZWTC9hkggDcyw+1cs/DFv58uEBY2rLI9NBLpyLsOoAfxNG8wRVP7uI+QpHg9C2JoaHVPyMIJBGaFP1sKgONKJ99cMpGbpRkeitChgEkdh4r6jAixm7hZ5O5yzEmjYSt5ZYqSHsW17eSvS9NJyAcWBf72EKdNparNsRmJAFi26y3gduGaimF/YngOYmcDVZR4sNaM19/8FufD0/qazt6BdBXvgYxv1dTFohDisYCDdwJlYzAzw0WFzmlO67SGEvt4cwmzTJBvuyFYP5htvo6hniXAAQ6Z63ijpFdtHl9WrYvFwUnQqk8Wik/u694fUfY4a2VMtY7ev7CDxC7zfYJRMvKCInmAPzmRvfaYfbEka4ZrfY7A3NhIGfS/QIc5ZbikJ9Vy8dLQmpK8mSQvj6Z7grs1AGT5Iawlb1MnmWvVDN4zThSB65lwmOhsfcNDDkcJcObLv2IAteixdipKCJBdyCB8uXu1KamA2RcZ3CyY9R3m/IpZPRc/p4z+ZP+ZnkQcgvLkNCnWex1WqioT+KdaBVFv6vbRl/GEzu7MHX6MDCrV4gvrolqOGCFviaSMLRUPgQ2cgYPSJK+q8xRhmzWXiSg/QQsrSPHGHdz+lj+7c+fPDDo6/nLtQcMBIstbSF222dyZAsegMsAWz0ZfxCLNPTkoKlth2pMOsmohmJ8tlKeJ0KLemyNMBFHgCT+ixdZKyGOQERcbagb71op83sXIXKAm0rjLVJbjZu2KqOo8tC30Zf3WrebIznRnQIaCs8sxHR/bYEVH7cYIXhYqQl/n1sI0Hk2hfIn1lw7Dy5KT9S1Brqy2ayFnQPwIbkmbE3G901JvrgH4jOpipJas/jghuifkc2fcz1FoaGeU1LGy4kvM0KzNZrkQQj77rwwfPD1cHkAha/Gbi6zGq0r/8shkpysdg5BwILpDQO9QOwWWknG9Q7a1/XKbeiiMwqDPQnHbdZS0/jH3xOH8sYRXfhnTNwr2YeQd7hEAC6mAFvuir4DIiYWzzau7HOXPloFXdAiz3Wf4tjr1F2NjfeHHPd2VbIcF7LLi9YtSevZyyzXzwJW9BmrAd5pKVlPo28XR/8Ra+59L+CxlugsRBVhDd4vprVrqOxuKtVOrj6/dmJ44f8iFQ+QOAZK4HpqJyd+dblO7nKW18j7qqdmajbyRUu86kUJ6w33KUoiQIIVdrPBD0bGjjVdpwwyDXHTjAAa6XeJaf8pAWbWL9JVX/KlaMZo5VsisSU0x3XaNu0SAp4bTDoa5TpjAc0slM1lceISB2POKTOxlfBx9z+CV4IdlsObPcJH/rYoNvI+OeEA/A/xJzK1+BweNB4lfuz/19VIphSTZC6JqLCBxuJTKxrslw+tu4ZHMC3ur3KG3jzz9uHHJ4v/6NZzlF94ZGN9GfGPIt2rcW59Nkr7exUOvqEshLypKOvRaFBvmK2Snqm8q8IgnkbU9jQa2ex01njpqPtN19H2kn8ytyPTW1sLHmCZRzh5I87ewgmYRXG8ZI2uk34+ZPM8mZab8O1IJYgsObJrkc2uriG1MwmcuaJfYxnMouAqvDCcE4lk+gb3XDNGYn5COjC0M2r/WWYCKZmnuVDDCt0ZqXPOzv+4l9p1hJpeQhKzqHbOohmAidQh+Ra/beKWh79sYoJPDXwVXD/6dQGbNPHi/f4D8T9MNBdgtWDJnmqfnvANBa16Iofd1D2DeUC0eTYeIkQSwV4UeRnydP0ra5/4Np2OGStbDeBvoxcyb6UQtUyumeae2vQN2P269TaOyGFYZZp9y6VFJpzvH+jnLpnKMjwr+pW4QmC7PhS5ms81EqH73kXz2X1jz6tIaZlKg7WNeJ/PMRQzbvClkuT7bkpFej7bbl6l5ZhsfgmAB0Pb85MFMNu8M9jjf+7Oxmia29OlUhCFCYZbgmtlL4JP5R+tQgQR0ePRzO/OZJHaMxNZ1B/NvVZMz78YR/bZHrtAVKT6sXch3HGBfss6HAnRhoB19ysLRK7uza23j+oeXYrP1fIkq9SUh++Be8eymCTrOGGGYSpg2eaL5U5u+w7axr2zEBiCIRpHPJHLzvBkAVsZ97PFhifdY4z5B6TqkhDuvghsGlsYLLY2todX3auF0ik0f/DoNrqc9mLHrKI2DMRzmelMIL7zckA+43ShUaCFQnLACx/afmBpHr59ycQDwycPhS0u0tjlDhvl5jDlBsB3BJNa8O9QzRiYkWCQgv5rKPyJxi7LpYUGETSpcp/QhixZFmoHAuSsFKAugr/ATHrM8LELg58yBNbDFBwdeNI6ZZAv1N769qdptl+Y6eFBL5LSMXSHdamdKXQqsPtq3jTEXkUqyluZpG2QtPOg6VmvpDdBiOzUPEwfZGAT1wmPkKVzBxMpWuGC6bC3wSPNEAAtiz1qnF2wMCougT4PHmeR3p/WGopZNopk3esngzk94YDkL1r06Dly1VxvAEwHy4p/37IItZlg6vdILHWiSYBG/Wo2vEIs4Mjfmq6Gz9wKnovyVtUsqEGI0d1GJRuiVF9cTj5w6rJTXls9X5gsSTlcN2OWakIaxIE9rt2nLLD+wFw51X9sr+0N3SI+0JlEtikqAjYdMvK+1Zft5dpqygTBhSN6MoCfN3EKZ79HgA30BVsXt/zUNL5GwsjnI9XufyeYLZuWKiA8xdSSMdCgbhKfrMsijFvO+VF4l//wT/nfrY3W9Ts9Rp0awv+Zkb0aTey6ylz3Jj8dhTgCAf4elvulN6ySpBvD6j1M9gICP1/1aZMipv/rjHGvCF56ji9pmPUjjHmR9U9k0vRMi4EfcMPnIBxT/a8TkxvvQ14+L6pc7noEimnJO04qvMuN3BsOPX/80ca4Z1Gqd/16XqNffK/wbv8SR6wqVskVTIoie3BHlwHNkORlZwCBQ+dBbFSzk2afhTgU0GFupW3X2b9yDJvBOQg1+UYmQGRKxlz3KByVrJeXzTzL8IY0HLr4dPaX8OwYy1QkqD0WMX8hoH9v+1Aj1jxNcT9cWxYoj9+ptcegU9/jt/jOEjHbtvfJu5Y6IEv1Jqoqp25+f8gyzMMGVbn+suQtclqYJ4yITmcKGWoi8Celwhn/58lHLYds8MGiDtCcZ55tjYklpPOibqHcGdRqjzVNKcarYAL+HH0xpdRwxCFrbu6BBZOhdVIgTFIw62GPyj+gac5+c8tmjdPsx+TL/eMdcmsNPMOoHhPyrFHZYp0RKhutvEgWrUHFVPQj+iaE/v+PJTP7qu0NhsvbF1YUPWPYN0kWKSFP1GT3W6j76loKBalAjCrhj4pr5ejSLFtly/4EspPFSdvDPrpWWspLiZpJYvcRN2IiAqhPJn3PfoPx/z7UgbMB3pVgK5LOCdgcI6D6NHg+6OIAYCXS4KVrhoBCkl4na00ie7iJxZYvpRKXJFVbTHnXxN7QtW9wKew2Ja0RzuMm2bGCQRi+fswXRgh6q8D1Q+6BaKt33/qa2hZEg6yXMwVVUYPFetsGrQW6JWJujMkLZX/BpxUYS59qJw9zvuS1Tu78PkahHzybYVAISsgwBpN+pblM45cnM8DW3mINBuUGFb7/3qQ4vzRfc/Ys5RJ4g8lZ8Hjsb8a2RlbyHreDSNK1eMk6NTfWFuXwVb4S+7CAjK6DzeTcv3e/8z51Jk+pFxjAoluOUfuxHn0EVPjc1Kwns8oDBRceuONYAI4EBxv3ARWMlc9ocTeNYFdHvFn57akJ+s5syyiWsNqwSKIqhW9VRxR//zjaQEi7hBC+xr3XuiB2HvhfTaBCVcfAQx42XhX9lbXB/tPdi8Ef2r9w6YLes2BysFgBp09nt4kFooOnwSjP+MG/j5T6wzQtplEjndI0mLiFVw+bKfbEPOGkcKwwL8b51qN7B3SoUrQeOMofYktBBdMVHGY+C7VLEQAXPMyOo5tpvgip81IUdJr9+pFJDl7nJJTA6rebAUUibuDsAwGlMyNnefFPCJVWOTqDnerh8ltiFDPeNJIVvE2r9Ip3I3d6gKCwlzmSCbfozPVNj+z25dhN4rPzvPBNdOQlyuJwboGHG50iKTnvNJEbNltSrWBLbct2sxoflu0cKdsCcWpHlm+Yt6gppxxwwnYNsxfBG9KP1HGnyuEhV71jXCEasidkweAkeSVIw/Wvzj9IF6TXbd5/S7C2xJW/52Be+3Hh/gSyALTM5+pJ9fNH0joIJndSVHfAvTorgVUTHyb7AQY2l+jWv8fStXfcEaMyXvi9nwaFFOBYpenSuzfUIG9ohju7XPc2m5GnLWokSYZOuuY/If14Mb/SH/Wu0ZwDc5plPDx5xtUJcGRBLewWcK0c4g0M5PXqiqtf0HUTdgfSs5wyFuV432/sq3K8GbVyN49lnY34FOm88Efs9QHX26nRe08RLhEwf+yjkPDdWmRS8OFZK3NQudWC7f+FxDZYqh89h/yV8w2IQ3DzEw64q4ybFf1gevxEnuTUQxCoWuXlv//ulaUFF0EPVtrTTtQM1K7Bk4o7svrXlaF+q9D4WQKdaKLi0Rr9eAZb6c2dOiTkqfh37Yv0kOne8hAKwd9go9hoO7GxYygzTV0T92NKmOWmhSAclo0LOyz9vZO8OanVwXojb92okDMx7HINS0oYs4amuTzr5rzYZt4Ap9wF3HMXT/OAOBnOZgLgppX+NC137lurh0GatuSBR3s8148chDI3SHwVfetaNDkUttDA26US4V/zvI03gXQ6rOn9HEszxpsLM05EdW8ici4ubDjgwv0K5zyUn4FtN4LqQ1FYxC050VgktPA+WR7YjK6cq6C+PAOeqKDDY7ExwWB7FcpMPX29QB0cpkMdXTYUbio8HGXOfskHWU9EHGz2lemRmmswanFL5knfKRV+6lQPSesIpIA3KdGgrPDPk+Qsjq1yXgtBby0/iJRlF8Hh/pl0ms+yOeqfysyo0KVpGENsK4gUOKc6gQ3GuR+EcF/YkkbLK/Ehg0sNJEFbcEomsvuyoS5MTv4QVJh45TxHgSBJeZWK9/UlY9AEnwm4tKGsN5XMa/le9/IFma+UK+NwuFcPawjLYxddo0BfGey3DlOIQH/irBHekaC/HufFCBOUMvDLu89wlK61sd8O13udYKOUO5jrm7+Wvjy5BUeDjRRc/1ZUIaVNV/6Ie+UdCI9IpR5sx3QPjAfqaRXt8l427uodwS7q7KydMIyHfHgxA1EBLZnZ1v+X7Q+rx+iibdIUGW8EAacTkh7Fm5Kn1o6HRmhLnIQz6HQhwNiN5PMdR7zavjLwM4Zqr6s5YqO931fx3grOHt7uxw2FNSs75H3VYLTWtg5ft9RFAZig+2YB1A+sxn2I2LdG/qzP4BaqQ1GBlz1PPxUmJ3witbTjEUCUQyOHpjM1B4sKzaYEZFyFNANIrVqCgiTT8xp9shnPYWRorZxarDAKgkM+k+iX6V2Lw/BCDrdfNsJWIBQk0M2eAcfeJbSqswqQoIpcFy4l0dagQa/Lr3NOIPMtI9Ur7xP0xnbOb8Q0MCusZx3sftbqRnHG2HXXhl8QGbEzDjDPN7ox5dXVuIpCncTDByXYUVYuNqu13Zu37bO04rRlI8tOEOPQMlrZEsPSW1P248yCWGkWaHk7sKEVKVgHV/6LFkfzcH0TPQ3gF6hfjmQWwHitkmqHHy2z2iuLYnD8V0GjoyIkbIijYf1M//lIEs8lLN5JOWdp9ddgn6kzBhqXbOnvb/zA1NBSM6aWeZPX+jK6nqELOJV9G733a8EFi0cUj8lpJM5DP4QOaPbwOwQW0wMouwLLmPeNBgrBBNLG5XJnvmT7D4+39UeJPu7p0WtBqXn81CqhgTTD1fi0W3UQvcRj/A8zn/RlWFzLsd1q+2F5hJ4/cqgXP3UUmsOzR/WOpzzjgmAEVEx/bXMsJHBSUF/qO+1oYHdznWh4L+3b+VbUPMijL9+VQ9qQhD+zX+KvpSGOYp3n56DFjfUEq0j/Uw8DPxbXLme27LVUntFUfrZbfEjPDgtH5LmPkmPDMdN7NU6u7brA0WI3PXlvXHe5ZfDrLqrBpVhOqns/jC+wKormWO0zltqgIggmHIlPXY/lRLXMFdtEZ2ukf2wdJX+6RkfPwCNdl9IGCXMsJI28v6HGqaOui5HkoaC3IaEh919s4586P5Xfwduh1t+IOgqFD3ImYzI3Db2ZLFvNxhO3G/ouOpMKwsLsbz/O6DFF04eW8tH5Uq69OLnsoHR/wW9iT2PC/qrzHQp3hF4jDqsozhL16y68/ktDQDk6hxNAnFpczAsU43LG6AIScVvh8r6JRuCwVyzvvPCn0Fusvc0Na11fCd8U+2smPA9errS3uGlB9MXwFfcKE7AmFYiZoe9oOfKbCPu2v9HOtEg3T0yOejkH9eTOLwPV9cFLGAKPMqq58+MZ8NwpXH21DPVVYB6QA4uXFLlNgcC+iAos01t27jRBGbrLSqo+zxj4qtwAjkQXw7161fdFuc2yxGFMFkyhftPYTyad9E00vnv0zQQRNOHkI4+IX4/JeApoR40wha4eFVkP39TEL5T4ULSWCBfplMn6b8gvsHu44oLcJSZaf5wJ52sMZS7IAiw/MaWVWJzl4HS+TfHXeXqNVtjyJKwPRsxSEb2TzAFYXMNkCwy2QHt7WOzT1TF6J8Iu7Eu5iWY2HtQefn3kmtFaRisusQG0U+qf+EHvJagYRh7LgMwCH+8rLmalxEZ056BKWICC687q/toMEtF5Lc3F+0FHilJByqnUvEvN7WGJ551jPpQdXnNpwPmlBR0ikkjbHBIVI4Z0UG2ikML5LeO94NefOgG0bAo0OPfrjWeKjTM1pUgteTWOov8GC0AXM315mBolMstv8a36EuKXnlafJFOaaOBlSO/fK/xakwIT3OOANZ4akBX+CqcY/TWY4gWMYV0+urzPkELTSGvQsd7CXI0lbminb8HrbuL3PFcSbuEcd7MLJUpuPlI5Y5suNss2K0oK5SdJItSzrK35y5wx5wYzOhJshdR5d4O4c6LwqkD6W6vsJ+sv3QPst2/////iN5QpbuxuCZ+d2WFEsloYviKHtcvR2dhd4T70HL0x1AhpPHyzs8u8kLnWGMBsOgtIzBJFSbEv/6TLzx5/smSyMRMYTI0LYbhuO03W+TKcbgm+O9wq/TBkZ0M16N8bLwQLOLb3DqDyEqArS6BZDRTfLC38p75SWqtFEIw71IskhMlliNvmWQLRf1wU1sdrGcRNXaaWP6AuqhTFUsBFhlSKNEbBcs24bH17r2uId7lSjuH66aUmwNKd42O/7LZsDZ6cU1IjmWXbuL2DwQZ0YJPsjBj0R/UrJqsgWs3GQCufSJx4fCZ2l+h5X4pY3xOTo+peEJmOFy2rdCrbl6Lc92J86ZJhC5eyDVzVyJmVBtL9DAIkIBuzG429gBgXRSY1wh2ggESsqOYdJaJE4QI7uIiDnjwtHcqi+BHvfehF47teO3jqYfgcm1EnvhiPrl1zvlEH63TDO/Y1IzDq9ZNN1M9MJgvXUz7w1GVGaEV1Duam1u1kLSl01qbOTpnAw/aJ1TYmeS2v/2wedJShAJgY4Ew6hl8+P9Son3JP92H5/8fNHm6naXJlmu1PVrMdACnOcADPSeItfeDffY5kDs+J/TqWxj/4a2EqgJamGx9JC2r+5zO3kMTReQ3Q2Lbzgm82arxm0uCf/hT6rxYFER4+hv4+No4BWBqudTNwvvp8O0hSM/J1Phmwf/RXh6mz1SpVvMa/zbzIVlcHjIXyvYkGChod46wsxeL9l5YJ1xws5/ih1RrYB0iq7C5JxVy+z7hdtzT7R5gqW+DWDdqPb7i05cmzym05SAWM19MgrbQaUbcZoLy2O/QmcGNLAWs0D6LfWNqBupcUhZL7kvrkIL4bsVMYdldn1VXnvrkTdJGrUR7XSKTWXn1ruA29YgdI5wvV79W6aYhhAXxHul66wXYW1sUzMAHRRaR1oe7BPdGcpaVzxSF+G72ihkJKz4e/NT95KL/a1BDckF12vTrp4Em5l0DIvP5JAnThjKtxky+XMgdBkVB7wQH94GG09tsUUXcR1yDX0MzSsuobfjnGP9/gmH+/rcLkdC0hwC+9WLsObgoRbqm1+q8FzqUISZb9532f75im6ufQzOzPPBNPANe8Bl7XdCSjOk3TX+aQuGBCMzntKfDdGEs2puRppp7PqqoF33K0VRaHfadG/CyoZMulmqo/prNzBmaDx4szTOuUyWLzH6dhDr1USia9S+03mbLeW4Xpc/Q99G+v0xd2W/sV1XML0PDW0PRi126Jxe+Mm9/uFgF/JxhdOlrjUZ+zwbi6RQoxMcGpgrWNCRdr9sCANWuZsAHKpKIkCJx+SYzeDX4cRlV4/JqtIahzpGji0bciNkO/1PtyMkUsCFI+42jBfmNEGz3lDWo3R8UABcb3CESnj5I7xRC2uWpAgYvz56+1EN7ebME4DNVyRCMwv76cNJA5S/IJyEzbfdNc96kY7L6ArEednfHyBw3cy4Y5usl4DcC7AkKVqGp2IURzUuWADNZLXuSmbkbO1EiwLkDROsyjFt5K4SyRkTW0rfWyYNFlca6VAqX/EK3MRoP8DJp13PAT4D3on8TNbxfm0WzGwswLb2hSiGKX7jXOaIuDjmOV7VfAriKUj/FFP02Sxmpye+gLgij2JTDu2EmhDHAtRll9dLwF2w2BxSIfkSCpg5651pUMTvik9Qk4v7BPWK3GN0KE6bS9+xBTnkc/11gs7vsmzv7zWCEAnxyiFfZGFisb1bbyaKPCXv8oUYx+XE0WCWWqZYmxwRlpOa26wI7eSJc82j8N3G0weUPw6jVZJzBNM5ZAUQ13gkRND+4ploAojlW78Yj4GJVxE6nKcE8cjHtUvLTiUJpq90oQ9GZmP/wN1FYl5mQtMt1pQbws5icDNQMRlQl290R7mtcKkYdJNn7jakfztN0lN8IPlSPNM4Kp3DZi5fYTt2r2zkLqrFdjemVsH72MenyFF0QWconnGhDWek+somMyREcOK7lBnlE6674qRzyd4OjklRDEfq1uH6p430spP/q/RsuOK+wm4TEQaP/a/2rtbW/vNezbzGlfWw2mbp+N1ClJZKcyJfjbGd8ww5RKOqHoGpAvOEQXR2wH4ffEPl4AZxNP9hyIBYwt9Tf8bToMoBqDFoGm62/sY/F3j1S/iStn3pI+IzRr4yh5hER5CA4yoGiNWxhlExPOQgoEZf7zPocFCzcNBQSimcqFZigA3aLHYjUxlwOk/pq0BImoD5pxrpl/ntErDHd4kO3H6ghPCDwtuYgqEp8Jqhm7b8w02WRYxgYj5Qk7SSEi00g"/>
  <p:tag name="MEKKOXMLTAGS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CHARTIMAGE" val="FILL"/>
  <p:tag name="MEKKO" val="MekkoChart"/>
  <p:tag name="MEKKOSAVED" val="1"/>
  <p:tag name="MEKKOEXCEL6" val="False"/>
  <p:tag name="MEKKOEXCEL7" val="False"/>
  <p:tag name="MEKKOEXCEL8" val="False"/>
  <p:tag name="MEKKOXML1" val="4HooU0THZk28POP9trq+pbTvvzd/gcV8t56cq85kb3NDTsUhojRA0EsgEHHMH7oYP1SYpn09ysXVivguJdhTvfyVMsBLTGvcX7WPTor/CmWiWcfk2RmY+GE6Q6T90sFUr0lg9IPP9y8umrse/9AoLT5R0GKq+XM9pr/aTyOTf0wptcuHbHxeyqBm9svU01qeeEM1v0hpSHUgirOnAK/wunjZPmzVPPwFyUBDlDfxgncyrn26mfUxYRA79xbk5zo/zvtIH1wUlJEoc3ym/tE0R7TFuylI/Ka2jPa3hxGxqIcsuoAMr2BhzJBCBPZe4yurIN19wt/gMUjAGy97TwjZifIBF+Hck3maX8bxqwmWN5Lz4DqIq7RLGwL8cJPdxHxrFyTKy81ndsieYrArIDksaybtutEDKS7lWtJ6JAcGZVRCI4SlTtmuy++sF4Qk1arz3+8FEg3sMj9Rge/ETmV4S87SOjLD+N8VBYalxY0z1S8o5Esh2vtszQhq6PM/KUiCWY9e4h9TMWlWZLnfe6u4Uiw4rF4OAGSRph0xpoZvYRiY5Jefhi+76rc/XfmkSYWdVMf7KOxkK7yG5+/m3kfEPF5MbuuikdE9cXXCtbL6M+1cI2D2fRiANtfKzzk9+aO9FZImkvjutsWlZ6l3Wui6u9zXrryfsNvPA6phf9XtiI5FwngFo4pZUcosDRymFlOFuVF1A+vgE7KMzFIuWbe4JF1XH5je7RXodn/cdfnLYY1/ItIA82XRa/6M0GF5aq9Gl+Jw5qhcKqghhXjweTYH5UuwQksgR7vVGjP4zDnitM6fkrDlGte4naVR9SE3EijrwoX+/NvFujq0PSd/B8nTapJO9K6esDV5I31swnVoye86dSdbojQbjq9+QIOTagwF3q4EYy0h42j9veH4kcJEIsau0qtljRh8WmPQSzVFctwteUiMFqA8UxQ2cPLnCEfu1WNx3cNZ4gXCJNzszI4QDnq6uPReBMemnpHu0tn5xTxNvTAcjpu80M0ypTvM2ub/qzlEbOWZUBucZ4xXU08YAdC5Rtxa/L1OU16ASYbAzM/BYvK/EjSwVZZlfGjE8iWA/bRffecfFEoJZNoek8SXW0FZ9leeXZF0bPf9ojjI62ur1RKMj97KBJrhIio6QXXgwXjku+nRj4z+ttN7FEeS2liTLiVFlNuJtKR4tLRKXPd3LQvh/RaJn7ku7o17AY4aO1qLdKBJcdZFbu0dw7hO3XP0uAf18ZRvBY+6mVaN/Scq/kDGtlC4lKTQt5gGyQf83f24BdgLgn0XfIGTJiSjiUKqw7QKi1o+Vk87Wv3cXDGHotVu24izyZRzxECfxMUUrfC/y+IeObE8hGIzu/BAMxt7+QH7g0cd4XfwEfARA+7j1y7qN71ae1KMfPchoC8x1PZSvBxDSE9ZlHNMN+3keWEqC8mjJdzWySB2CLEnZJkRWQw9ReNn3JwwrHh2q3X3OzF6VwfI+28n/thxdry5TEi6dsH5UO6okgRwTjJHLfk3hArlqq7S8V8zRDIVAXP5lv7Fz6eSNn4eVWu6V6113bvxK3XzFXY07Bnp62asy6AdOnu1ale0ta4rSRYebwzigq0HNM1AzG1pyZNKCbwoZYjChrKquqzVWT5IAXCh8JD6qmT6oNQ509fiswVxQYWoskSjblbiMdTanv6bcd8HILylmLuvL1yoyIOEyPSN6zO730fmsrNk6ruudjlE0x0hMep2FRinpB0qfdDNp05o6A19DG/JZ2t8IT3m7MTlzU2zIV98WWyAho4j4T9166GlDIRZI5/in3sRSMesoiTqpiwdc79/Lw2WB2986+7KJSqUpESnjMIRfTXB2xq+kyzwRvrbWraz0K7xoU3ENfw4V3RWfYVlg5twaU2QBhsrtnVvbrxEAWeWimTlF4I3SduIUWQSccEl21q3OPOt7k/YVyg/Kv5sbZfhjWgWPPE9cr4ojc3nvGOpG++9Polz9aI9u3W6Xa6AWWAnet2d3woaQryWDo1248tauVM1fuYkBe5GZ/SdLAUClip4Hex5Vtp3ekKqcnGEIIK9wSH4/yPtezX+O5FYMeThL1WKDeZSHdH8ycrAyOaWIywquBn3WhQxkbFlmD2HaTZKyrfPIv8nZwDyEvt+03on8fgHeT4FYLcJnFP5+xLa0VsUqEwJ/Ol9RulomS409QtFkgeFzBKAP2RJQX+EAr6dKwbb4DLCNoyrJj+slPM5pFVSj1m1MNiRlAuZZb6UDfzA7JRyPNB0MH5Vpv8B1b+t+TK7aU/AxBxab2AWhfRof4803wz9y6Dh8TIaF9fm0dsPuX0+QlXuZAwc/P7gJqrZT6sKFIXxKmoHEJlelmkEr5F2c5lj+x43cxoMU6+BLNsEQRXjCLuyZRI4pzldTXDLOBFGzk65FrsHqhTEN+5dVtNYjrDN3bgY+JqI7ZZAahxFY1skayR4v47zSxLLiI/ZGVkA2iUHSCA9r546MXWATuqLgU2ah6xke8F7Wl0ABYZ+dIhBbqL3k+Zroodf9xhX/UpPcaPYMXWbplTC3I34ghn1/dg30C2A/5sfKkpsfA0C3rQmTl4hHM5j1VXBJtrVSFRcr/ljhASPEACvhMBkTs9i6plE14t2xnv+3EEMyPslvnb/IaQ2keSsyIXLI2QHp6NOycafl+1qBAN5mnz4BlIIjMuS8RI0X7jW52q2u0vO2FHNJlzf9mLonJc/MVatHDbVANaEykwFgEXmFBhwXvA3TPVizTSlrlt7M6AKs/SpktbZY6/HVZG6eoWmzEml4sik2Tab7Tyw8erixHLIVkwfOGQ2B2NAa36+PRraDKgcVlC8k0a6XTqg8ZYkDBjtOehrVD28sPhEQO5JsV4BowzzfkgMprShbm6J0amvLW6PkGAXWoADWlB7qo3eS49V7Pb8NWdUDVZtgGhbnttbvsHhyp84XgXhpSHYWOatNIulNMz60c5qMPSRtjXy8N2vhpcZNcAj0fugR6gnaL6+iESK4ppNqKWV3VOEKHc4gtXkpNh7FCSxwNryeG3vteJICfx+OdNLwoboj9XBBxjsOmS1yLTBN5koypoYR9H+6+hoedDVwgd8vqz73lDTlN7V9gsIUmXHEuiyvl1tvTBttdKawQPfrrIjgUWeHZM199LAMDa9WsDLJc7k8QNDlewP7rc8f9HbBKKhTlTnp0fZouhDsD07+jbZ6OEIOsY85ll44RwmAprrI7Y7H9CSDcD52Mc11XAUdeSiJFJAEAbAL4j9DdKHKC9Sq8hPyvIRBUlb7UCJBZs1NeiWrm+nJkaHyi9xxx2YlvKsq4fKtnjSOkSPMdk4Q9b2QrOLXrAaMfqkCVfzYBTEveG/wCjA9oYWb0zqQPhisVOdHXpZLJ2d8Ppjf0gw4im5vLD+jYqYt9Shl7Cd5K62XxQkwq8ue8Iu21Y/0HawohUCXMjB8w4YE7bjpF7uFLCmiTf77TZmCe95OblfJoFSlDcTfw6+e5ZBiAMh+gTvPIlW4xh9Guw0F84AV6kTV5Xvwhgj6u5nPplm/J7s+hn/Lo6JA+QnGcoa1kqok3KnCcV0+2+L/x6zvmWEy8gZX6xo9cGLUB8SgxgodeQPHWmomKJ4El9VCp7W78JC2IjkrlN/3AFiJfWbb8lZAZOyPN7RHmDqkoEPYMJX08n64YwQGi1hP0Buojg0Y+Ua1SuLg78uXWVdzkiysYhfvZ8OV+eKORBiK/rfgjHWYmraznPusbLFr8wTUr8NJ5cKJZfw5Cmb0v4ZqFeDYxLXiae67lq9a5UKb93qww1BaYwjOItMp/UFRgs1oJ0oQvwmG0fftvjFnjv6A+ao+/cDptBKFwrWqP0TDF98e4I37pMoiBA9O6ZjsiqjBdjsMQuChI5rAAJgWu7EuwH6T0BHsCZLNkjJYaoZKQJhPNPaOLl4KeB3aR5TUJVn5nfTW2H2gtni55uRtNukn0zMzLdDN7rpUwDpHHI3U1csV5lfUBRT4tdLje2p6sDFXjHDtIpU33yUR1xLvRNhBkmalVWsOAyUTF8VY/shvgLcpbWEUjNDSXuxgNA1FZn9SRO/fE3HyzifXY91orIYR4mtkMRvSUF1oeWwJhMZTwJi7vkjdfgYSdJGeVRbUmLzdlG5w0CR58glgtvG/oRsFJgYHGeq50NxRcb8DhKaJqjMJNwi+9j7Vv7u/Lv5cH+S/9V4kHx3TaD3zG6lsOEABjjr19GwXQqW5L+pwdgKHfI5mqFUyUGKEkpOtGZZoFcb7wH3jmVn3XISSrJOTyH+t7AqhfLqKGKoIBetXpizwS3ChWj2+gL2lLVM/Mhw4a60OpCfavsBylItOvvEUgTgbbefN0BVlSwNJWDEjCWM+FfbXVaxXq2vXCUJBZY1mY6oME/kDVz8YftVZ7bQc9UQADBtTdAEHwuWwPSRTXdR5ZfR5Ei7zf8Fi3G/MyNIsl5xY30uM/EhMBfNduDcYossx+DLHuti25YFs5KmibOHxSpJYK30cPEexw0skMlIG8CtWmIfUcjuDhYLf4SLCy9Qeuc7e2CvtV2SwQ19LtQEpAYuO/S56QX0gURkixQKSvgLEHeNOIvYn0UzQ3itMf/tgJk/aWD02cdoGYJiKQbNqjx/o3UgUz0qlPF7Xv6l6EknyNbOjnNc/pfGdARHAc1Bou2DUQ3R5cuSXWRGJiz1DspzskEXCDiPfa+O5LbbVvjIldkfo0DPtNd/S+C+dnLccYzvwGlHqE5ekFKJKQtNFZa6OSfEt/toLDw/brGXK+c2EWC5RN/Lblhe5s9ZVV3C40l63EjqAerKW0t50DycA0ASU07Q7WlOFXXgWTa5PAuZl+HK9+6jPtJ//Fo5BNwb5HR6ZosDh8OYsaYf9CL5q9kyP3lH2VV53TrdpRC6j/LEHKKOf+SUyQ6wcp2dcB7eVgpQdcNq2zVEcEjppgTCsyPYZgNHGjs+JLhkKlToJP50ZKCNYIH6iI8rsioevQGn+lnNIQ1fNCosL/wHRSw9ls9eSD/7xbwTEE8V6aEBifnFmHPQEaQXp4HtN+6L7c/h77cvXWkwaLwSIKYSbRJkB94xjdnkurLqJJwbYBSKMp7DwBOydYDyG7vkSd0PSFh/k7rCy8yo6098qiNw5f0s2Ij4aKiCs0NwFg/yET7MQUeu2AhlXTmfzf39FVmwvXrmv0XdVO+HILhpreKI7VppJGXttA4TDHa/Qr64Kl6LY4kHOekIxCI7ovWI5x6qQKBLg78muGojMLN8EJN6kTOAr4SMVNrbWmK2zbpkiQdYTA04PHP/QXzhv0XnLesNFo2G+EmNnkny5bB+aKIY0Bbq3QhFS/BOXAWMBEw/7dTKK7DPlFwmlz5buNQ8J1KL9ZkyfLmOeju8qaMEAcFuzZ2TcVJZqfSS06BQmpNKOh4dbBTAoaPdXwdgJv8KXhHThXUsnyy2rryCB++iz846V38PB4DeDJICN+MUZ2icuuv9T4io+8Ja+XA7iIlGlz35//6GeKwiox+9iejcbwIgo70Z0wxrSc6MlEvMxYwToAxYg8BYxYplO6dOcLmxlS7ydhsYVnWDimzD2qDQ5kpFv1+hYflfmaiJD0zpq1Wb1vkYQyeFz1lDJaqjaFqrbGfcDHX5IilNb6C7Jc7rkKS1c6WltmO9KMlobLLWrCXEghYONKM4daJysPuBUyHi25RmBlkIqZLcXpGjKqEllnbYNmWsCxUvq1ukxLDzuGoVKCwlYj8MRW5ZQexFY3NOL97EgztrBEQgO33uX7hvCDCg50BEpluawuNFmmzN/kxnaLGRbKP5BW+5PMIZon0ovmlorWWprBDn7pjB7s3oaxINm5qlQm9qPVuw/O2Iz1yYKJ4FIcdsNVl6oXxqcwusYqRyAkth9dfuKDkjnkCWIVY2GetdCefEpwsod6YvbHv3XgOQOYat12E9gJg1xM1WKFuOU3xYAnvMxv1NMXfk/UkwP7prwHBJaEPcXu1ruQ4xKStCNMJOGFLwYFbhrtjErOoVmBeouWBWZqbUMz/qkc9+wNNPzZ/d4RTnIxreligy+mWZdxR1Of1HwiUR9n/gF8sOUsnVVYs9xHoXuSS2pGvjf58Pdb4tH1dMaO7UH96tSd/jsSUgwSpoViiSi6uLFQzAbM1/YxQfP73ehWY1BVVRjC1Lj/iqWFxfW5+87Y4B1MXIKMSbqzaWjR3Euvr+xgPmRVx/czG3VHJ4AJMBWnkgM75rCVHs8CaV9R9/ubb9yzuCIijeb60nC4yrP1JT2tmei8V9Qo2sBJGHTd/qiIxfX0Vbi/iGDDIJ+NsjCA5kX4fpdxJeQlugf6kYTHrziIcqmOr6Vemetp7BcjoBdF4UKNCYXtF8BBPVMacu/eMxInFuugH7S82L+txaH1csYQMKzI6gMkTWnmo1W7PP552/mGjlfcTFnVaQClz1mdC3GIu0T7zHLl7WenZOuF8JDAh3qy//BEALL6Cu9TgBAXtyuCAixSXzos7wUcqeZ86FPIvuV6ezd9mWyOn/pBNHUIlwZjCgTq8wJSHNKPXJYp+o6kHb8ORMmJK4FQKcB20BGLKfKEnQBswAv/xwfRIhIklsCAdAV9yWE7nGoejADIPFfWeelsB5dHlsVgbvX7/ZCIrENz+Y8qYnHsZxMNZ8mUs2ByHvxnZjO+olm2EpJ/IIBqN8HT0ToACocYZ0Muvu9G2cWEpVTzwT9FpM9OTIZpx0Hk5ux4GcNFjRahPT7uXdqDsCRXZBkhsfLYIxL5VVX/VTZ9uFV23oD38+G1qPeRjz76ByrikYwfm5yx3Hxn/T0CSgBMfryORdkjjU1XZp30C1r+Pm88mWhEHPh6W1wWS768erFu1H5mhmA/ANut/zSY9l9z/MHAGktyJetr870Q4cLMlObRfUdkW2o6erCbFlWk5Yq4Ojkz/co2zhG2qPBhgS+4HGwIZ6hp28+E+e808+OQswJxphsCkt4fC6L6DUTTf11NeG8TIPaZEHwRXwCN9A4zrlkKYpcwOnsCXGjAttDhl8LktkbJ5xEmbF05JQtMC0HuFVpWy15c8X7nWOCcqloX0ovYQeqxdp1zhXzZSLMf6/F0fWhBWseQupdmfr7eXrbDh7TraHtYvyOI31Lvy3TseWvG9DKhterA22aOl+3Tpix87eOFQ7y8mluAvh8sxxXpTh/G54FzQTx8YqDIHrSqga57xzCLmTHMDPsGQ7c3A5/9o1Am8ueSxpirjGW6dbB18PpgeCgiDX8K+SofMUji99C1WVlOwUqqUz/ZWFQAAxFKDIwVvhCIs9fH9HBGgxvbIvd8lkRVKxo/rkvTAS2dl6qOT+e952J2vaW+WH5GGXae8D+zeSwZpf0TxckxaF66U58QvNLoDkZ39XR7jVH+dIzOu5lkxmx8xgT5kGZfMdqe+fvfP88/tCkCuyzUD8ejMwEMcQxGhH81V7szNFEZE2CDLw+GqGKYWW/zmsufHsGTR7yWlLPCs3TvdFm1yIEDkw+jVe+7nI+6+hDVgVmGOmpgpcejbuXe5dUAgCLdHUfNHA7J1a7ygNIDWP+ZnZ+qq0mfOBGVhyfJrTQjTCbU5AFFDQHmS8+je/KWch4RdzQDErZ7QLNHa+mUkhpOG6J03RWf+Y52cZ0Bhyk3tVbMv6JtpYukWwpTfswfS+e1nnbCHcSb6X5dCfEEFuiaqZgQrZZdDhpF5pCU2JpPnQh/bbVGlzQNqk5xrGCYGVvspUe7BB9qx12Sx+KQintPXZ/sKNTy1Z+iNuGStVsiufSYkPQU0rVNY5RxjEL4/SDDtj60mFyhGHYeE/nAcJIxWuyEgKVSytvDicBo/SfrERrZNdkKmsRABPzg9QkCnRUSOXQ2JLUnoaGmBe+NIj2nvp18ExLWqCCfqN87z0dWgzWSZf2MItcbxv4ZWepspLpsLC0y2lraiOTOEGx+Cbjd+2kzosZ0DdPSwWm2fz83lzrCkCX9fMI894ERs829WzV+zhCRoLNPTFIE79ERqIsxy+iD9Dg08ttI39KH82Yw/S4Ow4VT/aDSe0D8ly08UiV2z2RC5/oWRI0t/lBwTeKuN5LE0AHYGwMgHDNmd+LaoYkOD5c/ea7a6fxKf44hTUwevp4tPDZhmVRtHHicGkW6RsnZJPXOsUnKH2wwf4hby4bZkCb/x8Lnz9ljCY3gnf4X0mSClkArpxePyqFhKAhzePXrg9vi5nB3CzuxCUwRDFFpMrIMAPvl/OXo737FeN9U3n/822hfMYSdOaCz6rOn3ZMQ9q2DRnN6VlXD8iAkzjjiPS9rSaDPbxSr/QhljjmAtOAKxFdget6srT1mSg1WHZRmFWNFXeYismuTezOMAqbGrxSSNKDXnFbNI3c2uafMw3osRz1PMB9b/0HVscwyHsGQ62IPLiz6/Dn+9mTKhsjBsAqslEAxUKvNjXI/71L7efaQ9nfFVhLx3hlvIXtQ5Q+EMvWNZ8JY19VG4l+VimecnxqLfpdgVlIkSlNKmjy17YDD7NK94weT0e5qr1V7Z1IrUnqjcGK6cnQMHBu66K3Y6FrSbjW5P4/6i4StUQ/iWWNDqyOg72GQCgFKuz4PXYYeOgRUwP+xx9wp6Fi3ldpbF//4UvXgy0TExZRSM+fp5wT0XjQVvqa1j5TCnzsO+G+UZCsz+M5H+7kjAKGwY3HhITmZCC+LKczqke4PNU906bJ5wd1l4qcfyeQg6BSAwJNpP/NVPKbwo4XJnXo999nZpQo2ODWBxha1mf4GHHS2DoFSafVobjEGkXcXhGJ9r0LLOEGhvkVBqgmtP9CzR8H3jodNtQqihb7ck1Yu+cSdq8LeYL/7EkrtMN3xQFUqXo0+pSHmacb0Xu1Pwu4YbJO2kT1DpuJlmjpjknPOQadqrVtW0gp4Bkq7ZEgUUkrIDXSMIBPXkrMpMDeZXdZj8E27SItv33PaJyR5YFQpwU67WEvo+O1Sp3VIiYymtEezEEyhwYCojjyPEQ+Tlv4ggVhSu4o9yvLQeeDORofM50Me1KcsATqb5Ra4KN6P9PbRQzIwziWnDBUmqVuEO0UogQsaeuPTP0M+dAnnsKs2H6F6qkouwaM3yXMVInRjcZOHyWhVJczm54nVMkh27UN97z/BYzex7DS7+CVcqELHVIJ89/9Dk2VyEYoPrEwRxIZunNm25LlYQI3isbtFJPDFsVD5F0k71Zwtgrn8xAXU/Xrot9Z4wIT23DKwTFJhkh+nbybhd/SGiSKK0RGJ2qOOiNQbvU/c7hkT23brnSOhpTaUMOFUOiiHtHdnP9d0xepvFOx/iEWmAdp6eTKt+vgauN86Sg7fSFr2RFpi+s9PkXxWnSIXC5cMm+cL6jjW2PJnaXEyjDgpjCzvUggA4l9yPYILZpQMp2mSGowU9VwQ3N+biNnhx7aJyhu6nuiKAw9XL7262BT2fGvH3eF6Z83OFItX0XacSFbES1dAJLbjpMymD+twLlVHu7AUOxLnXlRVUsJVMK0KFqmPnsDSYO9MyEWxIQgqXnjwbmkkxSQlCZz1AlzaLzwrzPrOgvQXM9qFUI57yR7fROYEEQm67QL7dl9M+TTztwHz0VLUN2u0WGHIbMRRRJCgRhapdu3Nq6mYa+z6u64+NP/cG2glAyDKMu3GlMK3/BfG5HZ4b7KGTH6hfnvn7AVu+ETDa5gICPoJzX+7wJeqUN1y6vyov45+gboHTuQcxeB/5C65NPuZvAdqY5VKNs+YhbB/XSK6l+d/bJHYhWTVTnSgEz+oYfJ4JEAg2sj66VX6VyXAWKtMOo0fRD1/1LFBnLtVl5VpNWmgKDlX8v7IPRR+co69nb1FHAJGACWpS2DaHI6UVhPVNDUT5+JqkaS4oGY+tQWKDSTmjW2OFBRUQuLxN/1ycf2THx38yoG+AJU3nCae6LF+KsfehVx/xflLLm40pI3gJmSMAgpfV9z2aTRAm5YIdiyBKkKErsZLBPAVlzs9rdorEm0EFkbMncjbAXsUxrvMfLqwxF5YOtVednXk3GShzctfwNfp/D33HpBvSkYfRPSNqUfhlaVrem0CreVmWqSGnTfmLdpw2eZoqxaTGx9hyFHqCFCHlzQptBPcAT817wDaLxySb89zL52bcfhVtr7l/99C1vlpqJr1+cp5v3EBzZZWp2Ps/mu7njH+0ltmm4j+aLDjZVURV8WPQ4mBrThn8oeJRqUfyyGTD7CFkW8sRHD7q0nlDIphHLUrprb6lorq3lfx2Nl8o7G+9Nzuljceg6RUK2vGgncsYKdcs8/6Z5d3mgRqpCoD/eT0Y6+p0pDiZKXaaYJbdTxRyDYddJsIRQd2g6NGPF+HsqAdMq0Pqzq6tHLbSlyDWG9iDcA5EqOotSp6uo6v/oQZwV457dY5EoKxOviJnnNA2L1Xc97srIURkL4/tnttq3DDhpkTSm8f5sJp5TKIlqu+pQfz1GuyfeC++lSOdVz2b7jXCZVZlFRODtLfRWZtIx51IrKDrwTElyOTZKO7DX7ddn+0+5kptIByw1CABrzvUQXh88qzouWE1kn79Ia2WOGZky1QHPnJzbFePhlUqgLxv69C6mFN5r/jsqLkTjdeNkJDRzXPcEx74Duh9ZKTzEVoJcNr0+kfvC+tcA9DwGPeo203rEhaQ2VaecE6olCYNBrlfbCZF6cJj2juDrkm6AwjUhLDuhMJw6nHIErCVaGO8t4V9bYX7oeBS1VlyG9+LRAK3DuF+v16dxHY+GOtR8ZTVUHKoeGAU2d44+LbvTP91YcOONNYc+PBY83vntk7JHxWFbDFsCBfLNGzhRnx5b6g1b/CAgyA4jXFnzcK7USYAzAnNIc7M8n+y4eLXrASV5jtvyoneO40u0ke2CH0kZjmi0V8NzEfD6y+PTOLtmFFwSK3bIx3JWtBmWxWeURUbuYk6eu4VpoVi8sRoMSoYnVP1ftbQsNBjwCLAPlWqoiuIfEe9g7m+Dzs5W3gcokj15YpzrXexuDgToSVtkAXhaGI0URp2n3dyy9WChEIwtBPLl0EEvTe29ctyRyMG3Gv+zwxlr+CL36BZqFBso5VWEQZfp45DEqnGm4rtFhzCIlXHOXWAjF7NXhUButT0PUI3l7VCYLbgQJ8XcTAUoQgLy9ytoXa9BQs5tI/Q2z1tmjMwCGW7Qo9fOTL2MgT3SLqx1sAYT/3OQJG4DBjGEGt+YS8qNUXJ1O5SDwd5GB8k2GyWmVlaWLtbb9uzjaTk1pTn0mQQEn5p7MBg/1VC2tAnSZcr2iz2MG8qiGaukrZ/BqPVi/5dfQTpOS5x4aDIVVwOch4Z4ON1psgF6NjQI6gXasSUH9Lwyc7TziLfta1jvrtyldKd5eOC2boPREGfoK1GLdZ2Pg4t1yBEJU8MZoLZjLHaDTZ2XvtgmsyQ52UXb/CTH8d4y2N24l3+VOoweyTXn6cz9ReZcv9r67Q6SLr7Ti8fcJSJIGpGgZsZdx9orafw/YnAlUHt7BqGKwZheU1OaELwcnUBGhsIjxudMJuOD087BJRuYvW2ZWIccgTA8F4vC1R8xMwzBchuRJts1tgj+lAtk9FxCORHPIGNYoeEQZhzR2gkalhV+fWTLS9Hu8rVA2VWW3thCT8Z1x0WgIaMn3he1Yfpo2L3j9tcTtyfY74Gktg314NXNiOsqYUOdILIXcnbjgJrbVQmP2r6IUxum7P0wZz3EgcCvST4fRXNPBcNBJ0c4VgC584XrGLYWgQD5Csdjg2MB2qtHZdhzhIniKa0KsviWKdR+ZCZCkAblnGRKbaMz9uo5ZdXMXWiPRauCmcQzx0/OvwADA29uqGqyVqfy0RWYuC1clEFjzNex0TxCJJgMJA5RG8KSIcror69BPzfskRZmCDEiP9OwKuT5EsqouPrzvYVUFJx+a9BXtCWZ2drhv4+2CtbTk9Ow7um4VLHkTGFuKUcw0kFHu4PYqBDSI7fTB9ZFAvoa2ttGtNN65veKaXRrN/mbpgDskscJle5VtBAKi+wV0Iu7QyUnIX6g69BOO9JjEu6NRXqvKBB31OBAYIDtvQXxJk82+K3THKIhXusTUrxfG2miWF80/ak3lI+jnYsmiGtZBsO5bId+2O3gbkGWuquwM8kVLFMvXNJz2YqWdd8II9CtmWEseYvXEBVsGgm+1FYwNgakFmLPVIwvtEPpoaFd/mRMkXGbTGy57MOuj+bx80OalxbW2JaiUEU7C9btSwKKwNYR0SJniPs1NUXFIDRBa8wHFor0iEZ5zmWUOIz9SLDYEz2nJ5Mhc6L7ddrUVccDwLTaS8KzEqAVfJ73kRyPB5unh169VavG1Lk/pz1dWBm2STHqCnnduWnxYMk4+pjG6/MI3YKE5AecAwpoqm/bgpMNv2/ytkS2fOjBZjUAHmx0rUNPV6dAFnm0wbR+qg8Do3Odsg6YGQzBqw0zTNWDP9I55kMwGl6QlgAMAuexFfUFD2nYRyUzzVVui5XNjeF+f4RXiarBHbpEgMs0k2wlprkhMcIAI1op3Kb9TtjdhUyxucwsBRUhgAXs93J52btW1rsfJliIzjGcRx5q6d7sdbB1crBe0WBjfadj5lixr3zVbc8UboL6PQL1zRn/x1aKvqQf8UsbVyfY6XomCO86UFtAToGjqpjF0J7kmQRdN6VH4vxuSf/KktPs51ci3G2brhovGQwfIPvpC3+v+fffkdF1CPIsodlA76vnitS2od+bJ/PGybGqrV6ut4whhq6RepmSXhBN0kHhz2NeC8Qi9HTQ8vGpk2ozwiNnNLchcS6YYiDT0Q+gWryGXw+Z2lVZyGVJzvv4zMyDpuUw12W7w/nVisWbsXNsXJv5cIIM94lgLlF6LTbe0Pr04xU3QxlSkLyJtlQBSwMDufnIUrep/zx1c5jER6ttVmH6YRTyKZu5YiA8rKVVRZ3eOGlhzKvtKPY/Lg0r9YqOjd5c3wMsPJ3ShruOM49iQZUWW01PqYHiEaqAIv1vavO4gJG+uVH/uIaWzM7DoeM3f3Tf9fZLIzqIZsAqmxD9YC8wGGc31ZKx2CrHpZLFgbq2Avz1Nw/Rc6PWM5pyQzyh2K4BaCTsnm6BMvEUBzP+aEXauQOA780LGMYF+nPuGeS6I8o/UfsjeDIf0nsj79wsIYiJ0PCymIq9j89gX2e/Fw9HwT4mff1qVzQVGY3YGSxYauH1LsExJC2EdQyxQQ5P2I4urFfU3eBu4KNae0bC8S8LJ/CWbUtR82HleS/wx+XyaSd5xjlF0rW8fTRjR9g3baR8/k+q8JCe/YzwM30JlQefISY3yMgkqjl5gMopGiXbNyCMA4y4M0vDvDkl0xl7NLTe2u5qmlMbzMW+tEi1baTPLAdXEUL9A71nopwyBWtYwWUGaC/yZS+Urm5ppZt0/yH8n/WGMtPohKSEcW/pPqh9K2S70oDR//kTauwf/93FPx0D/qME5+0WhaNy/76xhhbGw9d7YcGr5GcprvrD3A1Aw2zp1428s++P3nQv/N48dVtwEnF+FOrUHlX8bpQlvxjLHvbb9OtPKxUGU9sjBSoXs6/JLiJgTY8kmZ39I2g3d0Twnhl3bfXckso5eoUh9ebeSJDpi3BJbCj8hMJcJHD4pbuzJEOkJdAKXIjC8uwEneL6XzX2c4r2WsIi+d6pVtuMoic9aCHdWoPPSFj0HPIMRkH/9zPTnMdPv7naSFdozp6kBsovRhurZiAv1yvgACCMe6U9FRy2g9PiiFw+hSVOOi/CKoMRKdjngCOgxRhLxa6HldAFJdPPjdW+zVsTSv7IQkksrridaeaUpkwQk+ugY+o+p46cWDfB5evtSfEh6O2sA+UUx92bqjPSb6p1Lud/4yPUU/bwQ0YhU9eC217+BKCDt5gth4rpGv8RkrvGK7TlNiO784HnmOV2iRDcY8MBfyGrdubS70yTc3CuHEm6opYv9ey5ZvmXc3a8O6rLLtvBYLc4lwyVb3a8uOBWGoK5HaX8h79y1RGlyu+0HmSMWe186THpcgwLeT4At3kXHxYaqLu0B9+nR/N/qsCZuK02x+KIkhkH/briry9ajRBsMuU0KyqsNTMq1mI/yaHqquvYpcPdCdE+aNMFXocQ5j49V4wS/nYlr3NTpMJXhLU7rHTcFGCwSzOBgyWVV+hKJ3lhXjrEjHeWjk8nS3nCqyhSpx5WXF8o4jJRUhbWJabfSEKDLy24xSixE1f4Qw2exadxcEbr4DP1zFkLG1xkz9ObOsmbsUZJCCJdaXzYHIW2GRvavgqS9O0XBvZfcXlj2wJPolzpFYZr8I7xb2yHsLPV3PuoDN5sXuIFQHqsMWfx1Uy48f2f2vK1JD27NA6q6WHhA/UdhsrkBcd648J7PWRbrM41zZFu1NYRYq8g05bgj58b0Rf8Dun2GItgolr0gEM8qHmCAtNWjQpTI6xcwupP/yIKbULvlWoAUcDfZ/6NvWpEfiBxTHD1yggv2OaZNpMlewuCfNTJiYbgyDtAx1xqRDeCDFVoCVRRQ30NRLegnbmUftL4to+hzqKBEDPmtoHqfLTdjFmGFQgxh4zUHBqKdrMoFGVfhFrBuNF4Z/sck5Ku9VA/c7JTM5AvAQhSe4W11vpBMnyUwOtj3hEG4hXBYe22X9b8OvGWmZVYLIS42xqsUWXXEEEJOErQlyd4mX6i/f1xal+0qbb4CJwnSdkNstetySKjSIYLJr07p8B2jDqPpksQDXSlYgWUO2UeMeJORtByA5I6JeD6iF1R6RI831qiIbY097kXsIRCMIvR/ZW/X+BeuXqmzP+ax//4RL2RF7KkT1gbYt2oMo0uYo7zGrOWOs+9djrd2cPN597V+X9YH3QONQiutqBrtZ2jUKBIPUMiJOBnXQJi0i3HQEOa49rPCUnvQlz0+Q0ZcCWldhLq76xm1NXYkClGWOcgBXQAEnOyJBYv+/QZezSrumqoUi68LWQCLlGCVUKR0NIpBEbquu9zHdk36/zr25lMMcidD8RxoUtE87VrSOS4OVDP6LONahlkVVhBOp9wn4x97e+aFwZhrd7jdmwNnsvSkpbxcUJdxtApIKh8IQ/jjhiO5KBjetPgXY0mg2cPlbDivaQsQlUjo4KpHeFRmTmvyFSC3YfILNA/Lb6HNCgxKvwFliXPGCVXIjOcJNX5Wv4Es+2apT3BwDqM8aTZmsP9ksEVNaetUT9XSPeg3BlcixO31xCdZ4886CDK7moBjc/yuVb6vDD57S7tP7Sjqvh+gXdp+DeaIHv6aWKEC86Z2vfdk7P7H4wr/PEn6FVwVl3mrwjK9BtSqvJNaNbCooXGCp6uw598+NLHVM7/fsYoMV0Jb0MPDZoAbMdt+zG6LCSjTiOKEBJOzpNshscX5np9C5j60sefLtpUNWoy1VQGoWz16fD9oXvBq94qDUkbZEiybAYyQmdW4iUfmRJK8B+nvdd2gyulsn85/6DyxP3O5t2V0VkP+VT/kKu6eD099Nh2xATvcRgMwfmJsOReq/7dvWV0D/9ZsqigCxKdEROMjXTGmKpi/JD8BDqy9K7mhC9XUYTRf8sZx7KXGO71ysxltlEa4ncFNTlj4G2RN5LTU2XbJnILcqS9f2Rpccq+s8ZoLYSwnzXs4MmUlWua4DrodUN1gNDm3fLqSlaR3oxMiNHG0W53Gp+tvo8rymJ/7c5jHo/wiQjq58o8wjDzznXrHcsj0uY9DFS2bKN4/YfhXW/3O7eUy+fupLX7+kkJWCMeN201ZJJsknoG8UQ2t1J7eX7hM0l0aJQpCmvMwJCRa24Nsz24OQhow57nqdrjPCUfC2a6xZo6XZ5d3wqr4ZDkPRqx0uP3iHLN8ECkboXUAeQW5VuBlZTX364osYy0DyXpyLkE7vZmKSwyGvgobaRAGLqHZ9BGyzsj+74IWzFpdH7JkEyJRNLNZhPJDael+xdz79rBsbOJNn23O/eqmpfQk1fVm1CpsIsSkH5oJUzvSuIITMvR016vAB2ankF1j05s4Vmxh0iwIftgJ1Jlb6kzMymvla/6b0+eINdYzVWWPMZksQiZaxbGo3N8/uhWxCK9JOQoueXQhf+88rrU24m4PtPc30IdMCBcAxKHpzHfucgcSYnaaS8blPhIYQ8solMIVSUvFmJbBTHu84GODPRlFFJ7aR6ljg9OWFCKhEjiPJ/lJt4RlRODCZSp6mEyccVUAIDxPGhaIAIFAy9vyTZFWWq0RDBB+FA+zFFc2yQtTJvR3T0NYiR53Am7nSV06WHrPS+MkftAZJCvy/stuj3a3bUdaxRf41oiIPb4GPC07EDxItc0S1Yj4b9y07MCOvY68Vt2Vezq1vngMN2rYtgQpXYUuSr8xgR70+MgYrrm+nUlSF39GqAvTBuWQqJY5HDdnUYSR2+hKC8FxFuWtPqUrKBB1+OraWsKWRpHh0dqkyPlZrRe1Rj5kwUjU/dxBhWtxG3d5E3NYkwtWyHF7QEALI9A+y2KuapuMRMcC7SA89JnxcKx3mJPj6oOMyG7pJ782GzEFGnqM22LjWbm0tKeSLtLsTj4eSYBv1wdu8FTv3GHgnXx+slMMklv74tXk7V8T3Xhh5aXXuT/wfm8EupAN0iHb7bTtgpRjQOPOKb3yUvynCQ46CoYqOOplGfVZNve7zJXeoUFQSmXz8hVgKffx1B9AVLy+mo+ztA5Vg0aAIEaF4KzvEJZVJXOcN5IldVSVE5oVAIDZ0WvB3b6H98xEBzMiCHdA9qjYVGQ42LcKvTEGbuMiKfd8+dXH7HFU+TiFt4upT12KDbv1itu3a3M4QHHx19DqzBzuCkQhR1Hl5NeMpzuTSgglvT9oRsmauk3IRXGOiB8IHFaL+Z3CFxoFJIwT01SvvwILuRkCUtIRL9sfGGBl3Yq6TEEZ5F9C9TdWNADcdp1N5jfIgGJB3MdREs/DAhCTfL7e40XpMvIHbuhfskghd8U8ChPO7/3MgD9R9pYtPJa4q5k0BPRUuTV8OFHr+W/W1ivIkPse6gn9WEjYcLFFVNY5Bd/GJR2Hfef2p9WqkfQYWnkAadWLTuuJsevOK73IRa1qfjf0mxZy0cFliaj1HziEu+L2eBlvdfLr5cMseJzkXRYRJX03cZLI2r34GA8WNdCrSaEVv852+uX/nbgVdqjadScW7T4mkXYDXK3WxK1/ihwe/mg/l1Ihtx8fJ0OP+aq3uxnOLaqa7eUKo7WiaIWBCWmyJd5tAd+wFciVFfc+NJ8lM/uUzCJzv6bsi8g0EwuEo8I2jEydfR+QyvBctv2iB/RKMOR11H13dYHLZpryUstr/T+UhvcrS4mTX141+idFgH0Y26lmS9GRq7KAF3mgY/Wt+4vsetjheY7K9xXCnze5mhk3xhE7Y/DFQ29wOrifbdpH2fa8h9wBwNdu89EGd8maJUndps6hYI+vn0YZNfvIypbK972duhrfgl8fqyTOfVVm4Qh9B65kOLm9Yr9HXUuphitNNabf/D0ErXII33Tv3/9jUzuivsw5Sfpq9p/73qveiZHnoy3hsiIGZrcUp5/JPaZuqHFAvUfiSTCHheBkm8fCyixQ0nvenGgmFtPk9qaHc9Qb65cN5YrFgYVuHEEyksb+moQj4EG7UgW1GwYSjqc+ybYZKvXTtPEdvDVFKpglrf9gO9PjMO7oUYIvLBPQzqB2ZE66NXFP3Fb45AOLvWQbkc2R5ocXfOwsbzKmm3OZWhFolE74+Xm2/tm0rxl+5sRPx/RgYdxJBE6ACMQ3WXdzgo5vD0dfwF9dC6b2ws0QYe6b+xrYKdrdRPSodQt++b6fXIl0TVAiqlivTO3YhIfSaKtaEKZPCYatkJcFuJ9eyib6IE1XTh0s3/6kTw2hoFdWwGNyGhK9V6IhaBT8Ts0RFEN56+wu2BJKvRWe7YARTYu61wu1lM1hPkrzxfg5CN/oHMHaCv1uZRHt4ckzxjhz7fe4lbjUJCWyBsX3OE9vLE9CAF9bZzgq4ozJFpllDwlYQUfG2nBvdFX6R3azB7yeRmBEE8dlHRhpw+mID6x1S46bg/0pY/q5oTush9x++bYbsNaMA6nWuIDtVaFf+tYvo/2v68GOeanw1YTtxHxgxLBBXeTy2RVVujWMh1i+nHHZ7f+Fcu/gECw86pdjML66YOIp7137hASOCSxGse7fVuVXhYeiO7MydQLPKxghr9fiE+z5s/6AaXbHjb+kaIQlLDVPMbTALcaqaZRoX0iVoS2KIbgbKodekLhMkVaXNFkHf53+HON4UzwOQVo1LPFFHREjNhi8mJfl6KP1JcxpOUEV4inpBiyr1zK+ZcLoWJZ1xyIBjAN22YsBaXA6PfLURdOw9mXXYSHCyFh6e97OPM8FMGaRj5vPjTBj8kAWMdvovAliSn6idadq6NAf/uPpAFDLJCfOQwZj8HqatT1N+JidlcMpAYZt6hCFbnN15w0mJ77Z68pw8omtk3eHSfcur+FMiaqxDEs8y1XVvtULXU/u4ZkVAI83zdFqvCX4/e5Mv5aV6GNw7b41D+NLylDbaKGrMOZLL2NAtiAMpqkel+IBSskgBQzeqSwxA5lNI6GHZ3wvaUl2NnRWYXaa15xXgM2GDZqP53FJhltv1Qa/jf8EdSF4KMDCAb9Vz49+X9cHlRtrwbNqMGHCu7nQbRjddgX2x/zT6JaFnffQIb62/++ffd23aVYcszjwqjawYgkm9md4b8Ynj+d+NJ3krOR3E6XchkJY/mb4T3Wp5muYATaELPZ283M/zvCcz+Nzqmi4d6WG1IBuwe15zSyBeUwuLArEh/gaDWGQIwazX2Oubc/wl1INIzPZE5hqlHfAUhr7VmSTHtjPD9m43TgTToxWcxjmqMXU/VBCQ1Qbu1fbwLbydktokzW4XlPyqtMwIbNNSpcFbKD9i/qjpMkLY1SJWL0ewotwwrBJjD+KJ748t7+YzmUOhsmoCl9HCDXmfyHmbSiBqGtLj49anGhJWkIowt67sy66jAmPno+se8+7xXosS8zWccm2+q2gsSSF/bkgZKaNfcWq0pzZ2UizyZSFhN/L3AKZCwysApVEJKPh+vBM23QquLCiLk+RyrA9QSoMYnfyds9tsNMzn5tYN/NQ8qFRRABk2nGScGvNbIbhbAKVDagQSnlkLVeJTKJLfy3PeP2pStsysEaTFg9PkU9v/UpfzHtRGTTRTcsOuNpKJCKMd4Ic+WRcD9JcKS+GHcv9xr6asc6KiPxJx4MZRHg7vZmEzLbAmUEMhWvWfzQy///jxsl7w12vMzBYBLyDXHUWXQVdob3QtDJq9q2qPftFGCXbLfAsmcELytr+geSXBPzHWIG/XjV03jxvR78j7KdwvdYbx4LfSd5fwTApULf3q3poyJhp2MoS4i35/SQh01uX88DVyoeQJRUboEIvPDGOxWgHe4WDPqijO9HtpSfKRZr0344Am/Eqt8upUX+cK+DrbRhO2S37Vq6/nZvlX6VgjxMy1YiidyIUnzEgWPs/qOAV32Zw+wGXCcNwsqCkEYLUFNNm7fBMHF8jEYnezluPTOgo0RAWGRgJIV4r35GJBjmlA/jL+zysWIDfVHFYxdN880A/b6yiqQoopxcsykRh3wNfeuNVlW0/Jivf8axuTS3XB0mQ6Qlp6cEgGITr0on+YSeHXOre5WQLx2rmXqN9AxXhyAAAgKeUJ82EoGdqquDSkuaJ3R/jluAe8EvDz6w7uiZ+grm/7revD1MPHvjnueolXQV6Yr/wjOpZWKv53C5cmXyUWVBV+vEO+klit4HBDvgSixOfuHD2FGVIS0DgBhtNYvrBShYkl5n7xlsYkT1nTPscXrkABmCmF2XZemD6yr3LAzL/Nrax86ZE8SZZhhGg0lLLUtoVpv4vrR67D0N8eshEiI98lJ7refgPDIjAnB1oY2TvVvTtt7N/H9ZHZXEMo+bfyiQEp/eMyVTNF04h67oOkfiU8zKCKZlFOKdsE1QyYh/t2BKi8tSwLEC6Von5nxV1a7ubY1FQBF+eLZqoRauJfy3K1hvpR1rsixjmJhqt8U5A8e1YMd4snMDGQ56D5Iy6x7ay40u4PhduK0SwIqMT2bvWJE5Bt+5fvgCeYuARz9czOClX7yFczfKf0j0Bu70fl/jLvQHW89VIInz7m0m8Wz/x5ueACcSV3cbcAjKbo8ZQHfFe2fBpCQsrpZcaFUid/b+XvhOaW+4/7F/8UZK+8cBuvmIyB9uxC/hLbVEXnfeF0+W5HSPax0UaA/rqThl291X0PyC6+6kWLUXQnj/jMM5V+7mF58upDU60zKZfjk+qIWxXHWJ891DfFzRErXsFQZ4CRZpq0fwo1XCv6QG6C68FnNnW1hNzLqwf670h92ymHYzmWn+5tqQT61Qb+iQnvqX3v0tZG3FQpr7lZFQZtUxX5siUzt39/Ov9DePci2s3ZO64QY55MpvmVlOPPwnJVrrPBBclw4JybIJmBN1+YouFpNlsxjNAsilHJA4suDH7DMEgi9P2Zcfwsd+8WUJ2rzZekOmTkyTVbsCb+3B1QHm3AAm77dLcEetUea27/BMksbpDDb/FgLpH5EJTbx7AJt9dXlnTxJ1rNd7p98vUXPC44Z/2MpFIBLlE9gaFtPun3LjAZKXDidd6UI07WgLTeOEJCi9oVVWe+p2Jpjb4drDvAETgkdFmAzxQ9SYi0S0UNHrTRWzM25mt/AgiBq285sZMfvEUBn39isEQMgVTjn8BUiuJGyZW9FPY3lgDg7vTEL59qRlP6IsMo5nvM3ZR30suX+th6djhytLVAA95woe9vu/tIoM5YyRGhNQ6DAR9p/MlFzWSnISByR//zeGHfrgAUdTKTwQTzjGnTEYXH5ReYbGxu+0YLPzzR6ZgOyy5IN7HbIhaDPbR/ENDlVWgMI97Uz3SpofjVdzi20tgb4xlNBqh35cs49XqkaYAOm2ROBbEg1WmEwE3IcjFD4Q3WALbQfw5wa7kc3AChTdkYjaV1h2r/2KfELLsnqkKgEISB4soCfUXW80xpsq6lr55E6M56MCM+G9mVK2iycGHuvlLa40QLU0W2WCoFd6A816k2OrUYGGHT3tiLt4AmOn+7qqzNWbEOvXqqtfStyY4dzg2rEoBW4iBKa0uwf06Se6Q7j/SqyNN2p9jlceLt0XDCbKkLpqXH33F+zx8j3okjwLYnXINpJmGCX5IqBxlPPzPNSbqMwzNLG/w/gBjeVDIITPsWYzEd+y4za0ywiaHRZkGm13rlsXUGMzoMq1sOv0kzQVO5Uzhub4lu9huEn4QFh28edKbhPzA4h1SSXj22WTWDQj2C7StGfIDA8kpa/8yNzzi4SxB3pYAK4Z3f9x+5qoY1J3ugHcoiJFR0kVaQK2dJv49gG9x8pUQ42Ks0uWXiY2Cz2Dg8HSQ5891ko2YI36mgGtLUZ8Ls1aafmADA3kBzVytKAmqapVCmrSCh5AZKlTxII/PEHrtfz+X9oAnaaF9xpnBj9A/S4MdnbhXtnN3q738wZEvJ2gkAkAXE57TIaXPdKhH2j6YZK2f3qB0ubvZMujt8O5P9J5H615/W4BIW+fdt7ip06cPp8l1iFoNMAiSNLYBfvySS0P6Z/YVT8LYf9Wpw8Yf++vz+xetBm9Z9MftRgWodHjXewZrsi/CCMJtZ/sNvmTMMCsWxlrWUHqguJ8p8XDYsTUuU+KidTBNYtNRWfhtBQYKM3uRV6HeOn5Yi4ot/b/v7z42mvWnACsEjr1nu3IZWn5XnaZiKkXIGxPmjD657qm8NYeaGdyUvAhuCCrf0VaZRFSA5XtfN9XHSb8Vi+Ne+VL9X83yBJKVS8Sz/M+Y7m2oQdAAuIHpH9AmpCfu4odCidWmAa+SJpWs93DvOLun7mUFMVKSuEnYd6HAOjC9K9vVx0DlknZkNen5PXOGbOzp4QmrXo+HpXqLxZSk30/aF2NmfLn9Z+tt/jEBS6f74jjEqXYad51EQ6HL76pzt4MtQzUkI85lFRCENgCzSZKvLPJQvgw6LTpfyubEGacM5Q/oLMP/EIXAP1CnAakH1tqvJXPy/tJ0WLuM26RFx5Ivy1qxKzFHRdtnLCTdpnt41whRpQs+s1NLCh3ouTkmcKaKfagT690VMZKn64zicZkoMokV53xPMsn4Pc5v14+au5nLLNOpwlHyuyy2pZDoxQr4EYdICuaedtZFLeSsrJQpJcr2J9qdX5Nu/DRsDmQVM3TCZkdQBQ0BQ1YVOp50iXUXeXg06fgBDUtP22RzgnMk7jIDngEXQ447wVEYXy4rh0+adbqpBlcPa1F4Cj3BO7NxIVyCgDOt98pxKU/6Uix+WBMZYdILCONb7kF33COVQo8gTafS56Z4cAC3Qj7sIBk9YLfHtiiUuSFWNfKnqB87Z+T1MvHPIgLho3R1sslsxEI8jpth63c0OwQWteM8xypeER5bgs1V9xJrCz/biVHVB+syELECy9FR6ruBwyYVm8MGh8CXWDLyjOvjDeXt0qXpqqYVNCmxW2DsF+0FXSuYqXAFJKvV3bHJJtPCspzzAyembzjumjiNvJHgwmE8B5xmq78Yn2tzUye5ECrSskfW9e+FyMWikdz1JjKPXcmkczmKNtnAgWY8gGP4zQwvs0T6eLpCITZRPvRT85lbHY6Bcimqr7ADOeH1JSbtSpCHx6aYfwrEDhpEj9/GN8RM4rgEnF2CZFuOyclAy5RmENOdgrxkgvIjO5OeA+u4WOeGTs/fYOPXG/LvgNKmyjzAEzdMVGVbkknXkkeMm4bBECXplQPDYCFewPUWxzv1dk/xkL5rmO6q0+onB4K88NrnihMA2PqiUqLoOus7gLjlgyJ4/Hol6W4PPB+GXrZaTeqKlx/EyQ6MvEeA/7rD0JNgOqVmqq3geJzBnKW1KnIxWrPIB7oW/Ko0aRN+b4GH/mVRtVmGzmFpfx7sFTpQplgAvgPPKK0gWXFsP0AjHq79fBEkwf/gsabJGRafmIxvoLuF9004y74c1iSfPT413ef9P08OCXXBoBAgaoYxkKEHhwUDRc2AVx3CR26ABVr8DIl8nWFUv320Q8nILSGfeGL11QNdnlQXHEGUpMtecJ+iJm1JKZguoLyYXw02YBl9a+dBqJeA+OxDi0ADQYnZ766wkAub189ESTBHKHULCaru6yRAu1QfUNoTyrjb2pqrU1GRR7pkwuc4G7VY8V7YY3ftdVirN9F4cuL2axVCjqVyQmOofdDjA+yJtsBFTZ6Q6QiyfNjcukJK/iBka2DJb8I+1YWxUOnb8vCXCaBDJ09YASpCIN0NvicX//HbUdJhfxY0lXYdZgh4dNF97UCOXRiwP20guLJ6iTF4V7zquxmfwKuqwnmBAThryECGQNYsheJZf+lZdWb8VJqBv4GYkq3oMUT1tg37jiuPqzmHHMcinEVGDxmmVn4xnv+fPszd3eT/KjhKP/RPJLpShr8FYeA3ZpHPUvOv29WCcUyPJOYJuIG0AWefbXkdW4JK9GsLz/1H0bvYXBa0lKf7H9jCVdQxceo9NCwj9yCQ/u4Bh+xoQt16ZZdiDBqn4jFcb5u85Cu6r1LLsKFlkZ8OrL+MozqLaicxbxRtx/ngzni7/tcr8J0wV/3L5PcIVUCNh4dmi60JyOY7G+s7VGFyNR62ttVyJbfT/ZrHvdDvtHGx5mzgXhtHTaXAU6pnMnYMpCBQeLyTUCwfwfaygvQFj20HsQvQ5hhblKRHT0+A7dmEkZD95O8oQs9COco5F6UH6NHnB01UOdhZS2n3FqHeoyKMOUHPDtoLJxjMvlhMy7WQ7HphYvyQuyFRAHrUMuuF8b1nz0FX9C7nirH5JtUQ0xCb9K6Q67xsmQnc4HszHVbw03m0ybX3I9yE7gE9cuLdpf0m/BJAbi6x0NWQ2+YKrvRcNTmhVtQYCgxC6VYWeQk5i6hkeA+ykykXJBPJg5NHxgxoCeLzvkBGcylE965OhN3aPr7IWhB3gmf+04CX4y/2NjTdNEjHmzoQDa5NqAo+9y1BcHwZAc+llvxRm/iM0G1sL4Su0rAYbpNPTH0emUWPfts3CUkzRm1mQO6QRESL7uoiAp+/yujJuEsq90KSiFIPuhqQZ9TtZBpJOFLLYJXfdZ6DuAQgveHQvL0dBz75K8B52og3/LlpBi/HlWRgZO2ZZ4wyzsFtldM8f9HNOolzrLJY8DEHzveXc72Jd1WiuRIs4HQKLUG+jc+wlvA7OQOqub9BHt+UpjwyMVvkb/oVnj61Tn7ZlW0USJvSaJfmL7k09X6ABbv+2Dfh1PCQ8yMhjDc+/sMSOZePO5OeIgQFX/MV3cDz4H5IrLoPvowPlAXon8gTw0iiESokx0A0zkjxzSuD7SPvbxAIspgCzPywiVYE0uREDl+iroHxevc3kYKOwique4sUv+y+c1mv+nKOWfNBGNfGNM2wauXRVnPr15qvWbjd4F/cyJtJmtcOFaMtA+Rg8fh9+DpmmhEuTURn+FvFC/BdBH1KCLHiTo3pPhjHp9gR1dcykr7b7XMUjoz8/P5azfWlooKbSAQG+RiYVlg2ZbR4oJyIv0fI6zrUpRRxhAhwqU2+E1BAJJxfbF+PdNR5GSiYkB/w78DToXoJLBu4We4F0FDNUpWOPJ2CnguWGMDRC/CLJjADgWrxo60tpiafOirc8m/VVELgKjB6k6uYy09w8gAYYEGYwKhA7yOwlO5d/b/Bh7lh6+5kooQvd4dfRtuox/zm2vkw3Ie9NcQ7vH6QKtj7hcSIIc8v86ao22Y9uQ630jJFEklOl61V9cQavTxQz8ma/yVzziNErpEMtAr+xpt9tsef0GSugzwJPZA0lhfITF8uTYYh+iKnyi5nDjL1SsciLBmhhBPgu2p6T23njtS+BsiTYqUT6PSFTAFd+Boy/xgj0W9Axrfts2Sal1/j36wZqzUpuzEhPLoXXDuzI7NtAigvwfcr+Dpf1WUPBPZdPJCls4mx6XK50fQcdfW659QVlIhOv+LfsIdnV1h4jTWq6RIpr3ypcGglwuoOLmPhDoar4IW3kZuLdPVfCGC1Y6SAILH6ivYIHOmbY1AMPshspyAYP46BpFYpr6N2W2gGF6Q+RILVzgUbejgZHYLM9BzsbwvtMQL5FTD4eIq8qgoeOSs9CEA8DPHjvLOI1hM6tPvBxEFP95sOH0dZXTqZ2+hu9G/KyOBNb+a4LizJxBGnn9kPJX1zD5lxpi7ipbmBsj80VOhNlUQ5ffV495TXRgZLZYT5FaZS8ObHagZcsS9nD7woTieEg5cUIIvXQwxZYYWBRWxxhTbmZ63yY1d+E83PB0t9Z4+W+4cVHC3P1Y6lMZKdOz1fjzaeQrmeT7o2wZL9Hz8pD2iW5+Vp/5eyrSFYFPzCuHvuVF288nkkVE3Gj5Vz7MqpGKvEeM6xdgTZ5sn8X5cV3vF6GicXk6QxboZ2/qkOy8UB1adFN5lJ6a/Hh6VOG9RCVAoDXsdyFL4UJORr2lQG0uMjcf5sQ04NN6/JAiNgwWvjoF3TtTUDr8lvaZkVG23VgHzEgT+noW2dP6AYIS0nQ7m7y8pv7lhE3oJDiJjB3+S5xfmmcR9GNvEue97sLEELgE5sO5M5n5qZSliEoogMdErShwAKU2Ud4PtwVKJF4IUNZjl3kdmHCp+FQAQyf9RRs2OaioRHwkAdxUzZjbEjOLZHqElK9gagdrra9+fqZ2PA20nZoPMU/z+c8YKP/+FpnlAU3xJfBOcwrEy8CZjE4DinCf9T5c0SL5pR6zI3QDk+G+K1S8yKc3FzfQ9Btm4euVdsqZiXHJcpXamdvFMOV1mfoWT3PQYyCXsyP4jVWwc3RhN+adqGqS9wqmsSUCDsh5CjqJ1C3TavAH37jJ6X8WsXShOItWerQeWWJUsg2DZ8fNMFRLD7cz8sX2rEAVJqGWu7ZEpJgSKs4UoCXbvTmxQXAm+BfIt0sA0YMx0ADh1fY+Wu9h3snixWFp61hcQQLYKyNr3A1gYdqjEc7PRYIml0EH0D/qYdRb8oL43sotULIsAZY9XsAAZtJFenAotFN8ukIQxx8vx6RemYLqodxQJYHpzyrcM99bIetPHfMd+gM30kEsgi2pBWfZM9Y1X7D47wokEyWY6YuMDJvK6wZlx3XRoBa7qf11TGC3cMLYbBjPV722RVnTGgSs8l3jtgQKQ3WEFv0eV0tOCh7B6COqo0Bj3pMdaDwTpDCckSwGsw1xZqb/r+IsiNDxC6YgrZzeTAwogwOfKa4VqADZe+jP7gjheIHlS3x9wtWYxahUhmKN4iaJ8MaOmA5uesjD5BG9C5m5FuUNTUd6iDbUFH1J6dIcjoA71HzeopxBjZLa2opbMBvsi7rFcb3wpy7iIVtcGyZsMwwCPfWl3J0ID7Jy54hIMk65KHJGqIxXwyZ4P4V4/TDeqgVaTxyNRGlR4+n1X4teZ9/vAuLAljgyRcG6U0tuJDH9cFa/t0nZssk7dxEYRxIaqMJUbwj3znMX3wKyCucS6y1JfO0w6rj8Hto0KOWd6unH7D5enaHdjkpH8Q7PxLrNQj109AADavw/nnQOyHuXVKoUDR6JQZ6o8wyfhbuA8GbyrEb9l0be27B4R8ayV8nXEyoDA04sMqm6XtV+kvwLT2pJx8/O9DLAvjDf1vSKzeecBkxwfEk9yTxJuYXFmOZDyMHfQRoyzmiD01IUrmmSop4lEIVSzedPT9gC3V2YQF+rFEpXr36LIa5HUfJuyIdi3MQGjpTyk6KyjCegtzNAOSuoxGEiHkGVGsApgnByUrF8y5VhPD07BHK/6RwdfaTUNymomSChGjU0xa5xeYnUx89tc9KQQniyuBTKCspO19eJ3SOFZCUE0U1+lnB6Y68zA7VBbLtzZNY3p81ZvAk7aGc77oC4CZNyDJ5fwBmS7kV8Pw8QVjAdf03fm0J3uZclN6yOcTJNluhrmsMchs3yclevAtTXBzMqkwEJ4xTdRw9/285lc8yroLjCd18TcCSV5hg5lQkH2/ovwlBt+I4NxqDePJiax3f4VNRaJ6TaKJD5sFbUdF3NjofzZJfnzyAxm5tqKHAUkyUJGV8CoPUaYkAu5IK+v6aegMte9j7cYo8Tq2R/ijrDM9kdUoxrtuyU9YihtJDzAyrvNzfinnLrwpb6vX9cKLxTshiaehsoCcWkxx+3vj5RxP4vR7FiXTvIKLgdkN1k8onqCf0m9Og3yaKa21ny1LOb/7351zcXK5aqSa1eNxTT5VLtQ6iQLAqTVfzEiwrxN3ZDiQXwOZXBt5zPql5IVcnKFFEJxfUzTfQd6bNvtWtMi0ENEQK1Y9WoX80+aQHyUt89qUW8tR9Guku1pH7fptGsT32ugv+uKKD/r9/TU0UE2QovvNUkAfcS7khUft90lbrykCLLhxAewcZaWIMdXaQyoBbjokvFV5CwB+/fYjZnaFoU3ftTicWvrLmhJloLJ3XGjeIAHJ/uqG7AV/Jh9AmXxplcNcdiJqdJkRDgZBccUX1J/WrRY+4NMvhgG03XQz3m41MrxlrbEMupndLvKekJkHv9PUC8FBpv8WoxUZPR0RBMctGFVq6QsslXS/csGupbjUQVqmUcGkgIsazBzm8TWgQqOh/ji5syMh4jvcqwJ9P43T9/0RjUz6AZ5mCajmziwTyIKMbozH5jwfaH+l/Hau2XrUdasjgTDrkTqdWKcQ+9P3jxL91gd4q4kz3oszvUHVGIm3611dY7qtgMtemh7ATDiTZZ/+YfdCmR4XiPnRSkTCapHp+M4RHkX4OveF94LL0x+Hrh93X7KyvYn1TnpWOP2k3UGOyjXCL2NOmXK44qPh7X6O1v6YIpty5g0LPsT4JsgqeePPw2Zkdzxn4NRM/nQIOfOwONP39O/NM6aN8HsvvI0NB1lKzuUbtzLwIj1EcezjIwALfB7Fe6TSQ9z6SlidGWPaBhYaKmUamMnOcsvPoITqSKXfDw2klaXdgbFYF0tLptul4qos4vJMHzOpUlOLpk5AfE7C1mPWYAGJWYIwy8TB2fpnoWexp54NI+8OM7XlNubRUFK/NURpP5KIR8QyJJPjcljxden7W3nyEDZAXasGoodsOMYIygE2o7HQ8k5Fd/9BMG2nzb1xC1/WIkR9ECqHBD1RRSK8sokEFzT7jME0u5Fi9cW+9h1JIrYHHp5aBtQ/iLgXwLB0MtuSFpssW45M6qDeB9RyXbQKQ1qqhzQgUJj8+QcENp3gPqAarPEVNYNwRoe7kkuIWGKMPRE0oXhx0iiumjzCkaaFi52LgjQHv/Z3DFRBKpFl9A/TzrGqpysTO1fV3QJmqSb8oy5KJ/K+uqaS4gzAjQQ1FzBCxtTKaJyQgOE7YBWv3TPx/8a/R5clz591N4wUSIsCboYgRtixuZNUn3V0BLmS65kzv9NIUkSyGkXGG4evlpqHyAfGDpzc5AmD5BauhYEOEyh2ScVQy4LZtWf3/3FWFdNHoFjTmAL31PBpqTdVms1jWhGjLFi3SBhzh6PTV7lPpArekkDVGE43APHiLi4sgI8EC/Seq4q+jnslK0F9IML80OnQoXDyBhnVKlRIZhlqHnfGWI1rHAK5f6FlCdkJGp0OrA7LMvEbUKudyyEay5B/Zn8h5YyXnyCHM9CCc4QMQUFt3TqK28K2wPqoqhXQkVNY6RORp+sQGQrQaxVzPZPjyS39ODr6INkREGKiLvICJumEnKS5GEZ2qu9AeB4l62k8qZVb8+YsfgkALOifKjD8VN+cZzVNiCb+NgaVrbDjpDEbNCqNfpNjKSIs1VRCtP9sIBM47Xb0cWy4CfyybLctlLplVbNQ+hENwLFBGs5oaGSXvg5dCZkB7KyaRv/2JNDMUhKBiIZJ2XDvzmegU3jmSDM9J0vKfu0OzciP/Q/lZxlyzl5aCNaToPko9K9i6V9n9pOQvhwS1iWhqiG7554arCiJsrFP9y1KmurncbV1AukFYFhzVFhJX5FUb1mKhs7nsz9zfTUu4lJNuytZJNH9zgCG2rFTv+RQa/B/buqednEZw9/YnEYArSjtF2qmy9A/TgQ4UNm/jBh8NIljWfz3OX8zYZc0xNRY6MXaG7BF1QN/FJZH5rUUx46p9xGgmg8j1xOPsPI7XNWTDl5BbN40Wd0L1Pc/AA+MZhfl5URmcpL/bFg0M/NIC5id2RjwJfMRWtza/E2EifnpeBLHH8OWO5pQ3ZyGFrFgJBDcCWnOArJ9S91qPnaHi9/OGPEl0mGnrTQXGYbGK+di4UNEL6dZnK1GW0nwcrR9DUqd/6n0aKnL31ah3nma14HujwVu8TwrkKQxvfNBQns53WEQidz7f4RKrOLjh9L4KeILwUNhKTrWousrLtzUDLmQyuXeqMYT4CEprlhBzt9kh8bDXTC/LN2YykLLnr1pGlDmjO/8UUBVbP4OZ0y/9lJkn6TfwBSqUsG6dXrBqvVt7acpGHJpRRnyPxr0cZmEKbb7xck7Ef7lq1XUufI/wT3zWZpozfzXHYeBE2/X9pEpMTgdl/oHhADubhatQ4OxgVK+HUXDcQ6/wIoEooQAiT/Ss6kk3sfJki+05F5Xlh1eJHjFPegaPONdupxsC2mRH/CpZoQ28r788YhL5Ld1anIraZaZKPMuk9y0fm1V/Q6DO/boz5cigPOVIbdlkpuyR5/JI6u74p+gnRQWNqFdmLTEV7o+4WSfWsR73XxjwL+V4iEHAcKx+jvjK19AwTaWmjrWIiARUmP092nwOKGaOqxbo8RXKLgZpsFg4rO8z/FIH/Fr1HrZ/s0MxBrAahglJRdOd/uLQZh/hZhKBeONrXwvq1dCEyfOQyt3racC9FCEl4OEhVTzxd2PRdyGYg8w9n40383l11jxLpMTmjlaky+nxB7uYAHc+G/Tll0ymAH4CAQnWVTh6JrzBwvcQpGHkvyS0fS20TveQGTIuRpFuSkuMwOVB75QQ7Vfjd3jgi4+QV/RSLTvEWtOOwb+vvtb1nKSdroAkhGR5+dpPxhYd4hs/IWS4jzFvjsGg/2vouwEQFu0XTzV24BowhBSDik4l50pOEN8m9kHgg9UGVGgdC/1KKiW8LaOgXZrDyX54M4ZLoO+CDBbC4Mqa31vU4LZBuny1oQUdZHHttC2vt7czjaaZHxuwDc4rYgUjh+h0sTZLNNp9ysLcohJYbvths0Gf5r7pPXUSHqKSMjzOiKq2spJpDVaFMmgHeHPsjqlhCggUjsIy/McuTDZq2Z8gR04o+UwotPzp9WRB4EAPEBTBdu50Xr9+N2J+GZfu1oEA/kYjDm4a8yWsC7mnnpbw7AmST8LVJjHMBL22sLm/+Z2LQFpJka5wvZ+xpWjHyu6AOieydUoEpV7FF/kMDGKW7F1+LMeHNE5iiYCfaKznZBtscL1YV7Bns/0xppE3wvTdeHBmnJ/TU4sqh0o9prqNr1MT7GR1AhwB0jTFCgX1+OqneQeTMEX6fkB9H4HEDgQ3W+4fbRXPIQKdKKxE6SN1J+uegXrAVvLqDncz9mLBVP8HUoeDqR0Hoe8ViIC5kOQU7itTb/l9FfTjp0BtWUVdTNZh7R0bRXgi+ALMwakGI0WlJaAptMVGlNDIVozgryCprDZ0BvSKSsjix1LtyLDmkjjbzbgaJdeVLcuznJVpJo0Bi3FSAVAOX/bQrnnOSYlLXw7cIpi6JQ4jaxqpcRVvmCKYGucFStU3jWtyZmcd/2EtC/Mt+7SZxwXMfa6NFz3PFt67t/tXXNuIlYM/68WUAAAcrBrIRfAFuCmj8l8m2ShDzthvx7Kl/BnA91n5OZdWUhsjze9Wuj6EISclS9xogyVfvJI1VvkvGxj9h3twGgWIIG8nYgKx29u6A8SyL456grsoHxvZ3/FqBtLUmo/2yY1vcT02is4pGfnBEZwAP7VMh+2xca3pwGUWKQKEG8hsvew3qsfpBHWUmul8wR7aA5VhI+OvurzHcwKwIncVHYQircYCdlHKFFCO1+xFCBPlzgu1siCADcgqzMiQ621RbLCMUgSNyXtW9k07dHreZRjc0oKevi6//jduisaM5wXKB9z6uhy9z+ujxd+TF3vtAS7ErIdvkfB0PUNZVMDDgnMj30s1A4krkwm/rSoGWlk1FH25a5S5ywC/YYcRohDy7AEnN4w4TcV1+j4ID0FxhYjirI1WciuIjmjAMCeX50MfsOhdsrK3ZzGbulfjrOdO7924B+4Rqe8uvCIsItWtnb3w5Cvd3BGrfCHrTBcyQnULy4kcOBWDhvL8CX8LzmbhjLj86Sghpm6XNikOVkpXnji6ECCTyoivLLwZsNpncZ1uKVwfS3Cbo9PTVF3phm2GMUpX4H8exVPiYhvXR4GXTRm5292BSETrS7/oVz8SrqDK9/TIpKqUtM2fwH+P3D7sNKMndlcIlqsFxgbttLuh6ZJCGfyN5ODV8Baux2pdaXTazYxZ2QuY2XLxD3pLOqmkH3YLh0mCBCXnhQm0aG8F7a0ianYeyiLfYNqQQEkbDxu5yiPkgR+hUDo9veK7TPRPHy/uDaz1azVx3ElrPJU1j+cE8Yrs4Vh9MF+noI9E/r2/mT+Wf2Byu5jm5FPxERegk09Y9Sn5Sqj3VNT77WO6CuscFVe82wkVnhrSYjMkUaU/ZGQ2vBUM/vhS21UftceW1JLBPZt4Ki8aAp9bXKUJBmaqiM+BBKXKl7XXkdhh3u7elmFGYgq17RFApS7wy4jh+SgAEKEg90324keeIjDZB4lPCHE4kE0wTTILHfRMSeeQvzKDhA6TzUP5NGrgs7JtKNNOyGzShnGYEXHwiGc/gfSG1iEuzUt15WKTMBtkdzvAjFMLQBLgKmimeGqWibMec0SpUjuDl9hFHTYDnX1mVIXr89kvVvFgZlFK6YXmkrlybMvLAz/gaNLm06ehHaOPgPernpMt9s9gRsM8QUl+91EfbN0mtm2TFcVYv9zuTVamiT9OSjN8tIk2W9nEnIqMh413PTPSRFHx8AQWTF1a3OUucGXK+ZSo0jyFrRih5jVxmEPQmekwwyrE7C4x/IzLBVd0/kYnodIkEA+eS54xgIj/EnTiI29EchkIC2qbCR29MB4cAYtWqjG00FRqdvaV227GqN7t7Jd4j0UfL0FdVqI4woQPKYpEF3y4X1nTN+wWvd5wb9dv8bH2g3MQtld8sLkXZde5fDR0gxlTPF9mCgc5MkC9+yjP2ezBceBnTMToC4gpehBtw1qeyar+IT3amH0BY0WmhWec1Au9rHTXiMyyxkhG+88DxxoDWHGVfUq7JewF+NzkiA4hQjwyaMvEsBC+QYE6bmcTkypa774fduHO21H64q2m+BoyIh21OYz6N2bjW4/HpNTj5++qb+nQu6bBkGALGUxDzxa8Qin/HmdQtJH9HDivuUUsgbK1caBDnyJAMavN69y90nzdichdPKArsi9mLF7hXytoDoAjkb+qnBn4fWG/8tS31UBn1NafodMv5Pl/hNviu+ygkNPA5VVwryVpTR+ECKrRq8cbxe5o9gj2aEpnZ9c7UiphBvosrO0+Uawc2WvnKpOdbWXV1QU5iidtw/RLMRZcLJq81+3Zis8GNz/OyYoYAQwJXRQSZvu9GRljKG6tzHGHiqJLPHpRYGuL2UWEfyVtlafLXM9kKDKdQZ19ZxyU9vtI2NIk1uUU5dW/gJEgp1AKTuKxCkG/uDdsZoCqp39KII0dQK8fzV99Z/NqXXbb/G4pRdyPSR1eGLfJ4VXStTauXzlGaxPKtVzlo7J8YV0CoArUPIH38TNHdw8WW5YmNXSVXaVRzt9B75HnH90+wmpYeFGSafAoZ4upgC5Ak5CE/t8QGwWF5Mt/HSnUckKKB/uGAWbNFFGnxJUywjFbUEpq8qAYyFaM/dsyyH0kRKv1IeyLcgSVcQbJq//DAWk3KiFbfPsiAjDOl/5+kIssqNutDSiGa1HACZ+L6NTKaLK+pnngBWX5JkAYYcS0Rw8kwJX6lXkKCplGcLhh+8bSgkJJl5yRbBGK242Wp9rK/WvYVi0zVoVYyHu5eefHq5u2l72DYCmaKP5ocBj+Ti6GQyM1sBcnn8lyK5/eV3Ts5fwCAdEid/TRwLosYA9n4NKcikaZXsNyxkpedOkdU53annsTfXY4txtYEI2ZTK7My4qpQcoAqzdF0I/s+tvJLi4yyGwsNWzV6/p/3edhUhR3EjtCWX7aig1mzgvGx9HHZDooSw9321nMPd1yFuIfUc/pVKLnNWuR//NyU7iPdT+Ts5RYF/O3gApgwrZMkqEX91B98fh7NJOeeiArdJ+CwIgRcArIy7Pi4+sClJwhMRGLxCKBHwMdwoImZikNnCWOkIN7gDY4fbcmUgcUusqI0KMsS2nvQEC5hHpsEFu4RnoRfGXEkbFyT5QpFzpMnxxN5LLXnc3POZ+g8j2w1pVN5l8zAMqPinYod9tQu5inHTDV/GWHaVnxTcUeRPTpH7zd01f6W5Tz7n2p3Nk33v3zbBDfQzBK5NtokUi+dhcAZbpBilVbSvHG2XsIbAjoq54+tpfS3gW83hs0wUkRvNT9F0fB7WhWBjkcGdxItESAcch0E/NXcEkfI0SHolPDHGO9DOw7e5Nc7VSrtwiAuZHE/3owPwVBEvGuuP7qmqMeGupU7hO68GErNCg2zwHaOh699/tyVh8eVr4JW1j8hVCtU3+BapZu4VwYabj4WD87xXg2Pb3th28fUf5/ZK+1SD7WA1zRolzAlYpw3Jb7F11Nsq7JmC6olRnyOXVV4pVEEFXKmi57mTNwko0+jBZ7GQay1Vd1/oY1HYkB3KE6QeOK1oWIbMsMQIXEjTXMN+GbC6UC87i16dh+eadj0sK0J+Df89elVkioxbnZplFIGYCQhAwwfJERxWV56ToWeux+Oq7pJEaj922rDU1D8TyfXfwTpQou1swMUkv3S6IST12nGW2EqrttXbYMWmCddiRKwadiVUszj7FgsPRJg5RZqD+fR21IAxLum5YbHSWrYgQ7c8qog4xTScCTuqek0ZddjD0P5VGmR7xZUW/9qE8LfZYm+QuRV1aMRGadwPdgwWzHLIOxOg0aawMNo2rwnDypI0m311gtcC0Q/2ko1tQQFBTNkRNp+oV3am1Q+uR0K5bbCi6guT5rfXzMtjQJJ3ZDe1yQyThbBWwYUKX7mhpPrBAcD6h5afcPLGah7ueL8LAjUVLDm64x2w1nSFsrqXsfyowvx3qI0tefFKI8yov7VdKI11s1LGwBDSYAr8Y+23KexcgaXMEvcagt1niq7CX23OtcefkPAyAh9Aysq2hQ3/Opv1JYOG96UIGj4MEN7/xdtGw5CO1E9cTs3QeknHpV4UbBGKUJ+7BjaFo15bwyx0Jr7QX4AuCNLkDXRLBmZUcTFMADRzvGAy3ihRzPLkgvp42hpSTYH4rsn9kBcCXhbPcD1wgFb1eEysWSO2X/R5xT22wCGSn+2qVGdFfXMmvaHBOMCnBktkYfOL7MNII/L6Et4VDTrgj//hDIx/GPIEsjkRzfE5cHcWwV9MKu0U0W/qfPraBSCje1Yhw/C0PMsvR6112As4kdhHGOsicbluZpBapzOIwtzQ7D8PXnFVcpvnJ1ytuZv2d+4Kjja3LsAuLwgO1qqulvyS9XEzdU8rhtGR8X31Fh67fB2JTn6rhnphp+7SGV/YIOb5qEBLPpjNYr7U7/AljNdc9LqwBOi6bW6U/23n6bxZokEkIi0r429qV85yrvw/M78pw5T8Az8SRfsoaT5NAgtVlaoW9nCeXlkmrUacNTJJOYGpC/ca1p2hiQf+Hbs+/6ffRHboY+lnmaRKiPqB8XoJLIZrypeUo+5sCerZzJ4knnGV415C8gbEyclTGmLLx3PxxRMpNTJbNhUKNRHdTneuJ5mN/QheCzX03tgy3vyp0k/cD0/dV4dNhvoqfPj+YwZJ+YgyINMmvIUcCI6YFWIqkqqEJ+x1OCa57Lu8ey1/no5do1bm/aVCch0kIhdytXEFA8FHG7hO4y3FSk/bBBbd5Q14h7ajGpFqF5dU0pAH1cTR/9BFMMdCPpoXhh/4xQxOTNOZfD4UdaKvtjmycUSgULgzHbF2yi/aBXkVWHkzMnAD+UW/3hHdJ1jI+Vno/WTJOZ+5ltkgSH8YoDGfVfWmA35g1TzX2a6/SrVm2n+X5oSPA1nWCZ+iwnv4Q8tonKBQZHURGbaXopBzMQ/AReXoVS+5Mrz6+v8ucLyGlWZndGUCDlexYtVjzSBWYVjcdi7Oo7dF4x4PVmvIFIFfPYIYbCVux8sceOADdgih60YPLn+hG5t6e46BIqi30Uj6wyrDz5bkIZ1UA9LJKBwcAjG7jTg++6l9lzIataCcBYKsf+HAr3LtB8G7uW3x2nHBg3TFBuJfFPzR7WC4TYWOCfiHqTrbu0aBf4mZfZPfw3JUrYAEMVbUDOaAPcpPsT148LyjQ1IchURXVSl5Av8XUb4VOIDfD0vfWP6FKGeeYDDUPTVtbQWvLnZakDySpxAp3irlSum4fQLxYQ7zVZAVnrJaMqIKy8srOwz6sxHM+QZ+8018QdlURhJrSMmM8VoA32RBNRxoLEpF50T8ciKRe9F4wYM5WpWAWazTX44k9n4qqFhEg0QB4KwqjmrX8vOjGDOOrM5SD1i81tnJpoifqioii184m6OUi98gcOrt5x14/ufIbQAubar8rezLLhdSCotCMbCcKF3v02PIs33jqEj6vpAeh+RNw0WSsAovqItQvlIQs1gf2fXuFT6iGShUEjdPPjiFGf0VpzLGdfswuYYxZIauPq8WQi8+n60nBBTD8fRwyYLuvS538CpyT8g3ra2YzWWSgryqmvfnInXkto5xY8qSDSjJLcfMtZLacn/bLt8fAU8RD1ztjuBEWg8bvNyn06JoTtCBPUvFvDShBh/pLGQVM9emUDRQMVKSf3R+tOzoo52J5Ld7eZtGBnC1HZIXC/pNMG8yfzKKAUgwdGNbKYqey/rgTpg5SzCtykoa+huwadLfJWI+5CToqUJg1YqsYyZfXWCizKXgHWpuTQP5BZ0GL9dvOUbIyJAzZqxvvDLEk/7mhnQ/znhED0xzVWcmRjtaJjynvF9GZ/6kmbNVHw1VhHXsttlYgf3WoxK4YWe0ohRP75BgYA3/3+zvBDlfnUKGn5kutN9vWsU3XqjDLl1KqMUbBCeNx0mnqDHF/3p4mle88mga8+jgpbi5Jliua396/4a6GggzxeWB9UCR8e2I8sUBeMU9EF8hYLgoqQohdFkKFK4DJLbrsUNvo7PdIl6R4+pFBd31ud194SjIvl+G4oxNATETEdpeAa9AJm9TPTWPxIFb3RpfxyYE/7vRvjoBp5GH8rvDXapsP1jsO7tZBIa1ZLxxv0RgAMhPxjsXTrbOJAEDNq1Y4tmnaNY/Ns25axE6hfsgWGnBvLJQIxksiTjneTSzGKHpp759kok18MzEGlJ3ssdnOib39A/H3u7UOoV3aOGkuEwxDwfkPPcp90mntnpllVzUOBl7y+V93bbTSDP6eRFtsuCpGVIvF5wAD+wJV/BRHuAzekj5E9caH+pmpR+4Xy0b3kYs/qxX63/1fWaLZeHbzezWAU32aZt35SkldAtnwfj4LRyNzNnflM6M+eG0fBG+K0e1TGMByOjKj5cYPMoY3n31L/xu4cnQREJSq104/thUqZi+WThu2erJaDB9Z/zA17X4MwYlvaLsVFEA84ZltAfSxQL6yXdyz9kjPqY0r8wckO9BurniSJlcOr0UZWeyotJtG5blhJU54tu7XtMrxxULT84K/njyI3LRF89F79hk8qlqTGqaGFqjuEQT0NAV0HlYmx13sxbz1JLO8TgeBg28GziyszxrYrwMMN99vIoE+4B21OESmj/LcmsoiNcggOaIh7bV2WcwxDOEE52+sVSCjoT+coBrVw8Ll/yCkM97L9NycO+RMt3DGFM7sCVDdGZ9rni+a2hFJpFVsFaSPshoo8qXqb2m0D68uDIJp5HUMppiKSDhnWmLwxFMypsmfSVtehus1T3c2eC2l5pR1GbPKdNt1EdsOYuYHiPmQOdI+9iHngeyPW7BnLcy12tYlu8hdEyHk9awjqcipks4OHxuTIOLMD5v5tHhpoQSlfUIHWR6hS0knjhMUwnaLQCrPuq4Pi4RtANXolDdMkrVqdGnP3RjOJq6mPmx/nNbYj7j+rkv6t5VqpUt5zGG2x2QcQAF3NtPc/HnIxyOkuKi/D50ZxqpyoG0lhIK/soXMAIryhlLEUjokAELOAXbrn3nbOBVeaB23LC2dYmo+fdIZxpHPT11V0zxQO8rm+m5wlbhuRg2/ogcvmMWsKy/Nxejs5aKCh7u4b3fn5CmgFtg6u1UE8zW2Kbr06U32TZ+HujLAovBczO3UmsDSAR4uWefaWSWwzxSIXsNSsxhdZJKBKIqFjVP+rOq3V4bdf5XiQHnobRN01P3Rs1IHkU5Mii6epLgo0oW3faqHXTbJPx+kJUugUbOWezpVswRd/6Prbvb6bg49RedqlgSDAZNhjO+QvECmr0rjOQ68kCcWQUXAY7XVt6DXa0WyKOw9E6j+JSs+HN+CijUa5/vvqf+H1kGEDKfYoUk4gjaWmwuJ0Ep28OnWwqxCgnd2Y5MQQ5r0a37H4iVNQSpHPec9FhoZ3TDewhnbq0Cl1ySxD6Qq+tNxjso725wEHUulOc1oznb/D3YnXtwLb+52qk7WEmke6vQLPMYfioh4uaXcSMEhHDeB7TRvrJxTQTSJUp1f078wlK5Ki1sG05+DFSit0aj14trsqrvvB14RCCWAJXqTO1ci3JcHWaeeAV1XVvJmN07QQA0fGNQIaTLX/5n7pJLKdQjs9qffgelhiBimjFy39FBQgGQzs8PVoiV9psnk+KhyMoYO9hQk319nilYdrFXUUcpQtx276jvVWnI/vcbtmJDWgrp29bOwqlpYIad0ykjsiv8uH/X9sg6os5v3i9j/e9RRnV4PwPRjAoAP0vT7o2fXHjm2Kd222aTBIaEi5EutWGFzi3IXCxDxRCL7zohEaRuugHpylhbTmFCJ2m6N4lpg+roNWnUhbiyz63gc8MeADehZsGIit3g+d1CKKDe5ze7kAyBlTIN4ke6mtmjD6Htev6RGOwKxEIPRsnIuQQj8w1Eg/7f+rf93AeotLUxnAJF3GGKzUzaCR40FfeRIn7gj5acOh3fQ/cB6fo9BQH7JCa2gDUoAuX8I0VAwj0se0gno03CZzaiXunVAcQcyHwnDsqoBTP+0oyx/5Hwj09CvLoB1NdpOA4JjrXPjOPh+eYAk0OO1nsA1FLi4Qan0xOmVo1BhS/4E1CJqrdA5eB1zhpf4yLyzsJaYJtIl/9ouCesPr8N1apP/9Se34Ag4CflH8/bhJIXIMxeocFtnO37lVS5RdwTJ9YBvnMBbIsac2ks3vubH891hcN1TKLbsbUbDmSRe+zR98mPaD2PG7JK9PGQL/nGQBwUiT16+SDHXLnpw1KCtKXUR1wvJ61u8VM+c2y0efTvG4IatnRa+JA1WCmbeh1yzawmBWWABhwnB9AcCz5S2H325X8bxGAxkMLOjc6Z8BARifWZn74oaG7IZ72MpuI14kSLhBqpdu/bUcgza0z0lgeUDdu+YAlpdD/GVyorZ1d48ClKYLuCUhsrVEQi1ryTbTby6j+GdgVDtYyJl82mGbaB625woHaWJZTevOftUNyFwRebnqPFrNVzPUBSoQlj25JLB+Qcjb/mp0oq/+jZhLyyjMfoGpGmO0qGQWEvCgBZJvhbd3JDMO4TJOGkgBIvou/LaZ2LlQEMqN1m2ivafcsxE8NOrWqV4P5PP9Bip3orxTjg1X7atrZEEu4BBNHP7lZ1zeGw/yijBcFDj64fra+w9PbdBvW4+SAPR8EPdXhlS+UFuDFp6Oy1cBNCD49Ih1WgSiHEkRmfSLMPlX3PcdDWPX9uA60U/tsKzTyycJ2k0LuS56XJqnajrEZJ0EcFYwBUwwE3ivNUKRS2Q90dQVRLpsqqy3H58ZdAeHZdIXkHlzfWWvoA407pi8UQ9BtgG82Oauj7w8NEMDKJGP0cpnD8mww3q5jpG9tB47z7yQy1tEv7CLmJ8ROIcoBzT2ezyd5nOSToUWrxfKiVkJSwGzPPUCKubEym5rt0AaYybQK5XdHP+0jEu3zbbgu3s+TEIF5EhkGTV4IoEeCRyTKZRt0jAKRMhc/FmqKAE+6/MxoWnD2xBGJ7ShlE9NYid0Akb0aAjzSSQo/peQc6AjHTNftMBdulKHSgZQK+nNEKwogA0Oo8ZErRnJxwIvAOOJKXEgdQzVUJgtwZsrr6xx1k9Ob6Zl5gSsiGKIHtKYlRROopLWhU1CBFeGmtYq2AVGMRba2t1L0/2Ack8RLNMwrbjteDPK96oRcDuiqvCLQ03M4olF5OCm5PNOxRPQmwGbtQ6hTLpYdNGPr/OCzzonQXll58u7sQN+ZW4ZEquo6XQEwJRjSPJA49ZU/NfWLinHRvlhDh9UTgVkM7S0nLGgL4QaD+W0Q62nrdrYQ6naOjg4bRYERUjjOnySKp6heR2PGZYBA/4RYIKgWGrdCHWoq09lIp8rZxlSTjPLyyXxxRNpaOs5sR3NHuSej3o9FuPJ1kZO/Vz8VZiGk3GuNLlk6nt5UQkSKtXH6DaRT1UNJ/6d2W9MHqDSyyBJw6xwYAcijt39kvM3AvWPMDBTwjDRDLtg8TKJhKXUpugE//jG+FAaI9UmUE/Lanoop5m29Rs8JndI5mQJ2Sq667zWd+1d9So7amjWoINcmHAr1TLjuAunIsNm6/zSYO/C5VNwFDdapBvdz5h2ypvctttNvkNnMyyBRNLTHmOC4w1M+ERmRu7e/wYSmQ4R0frgmT+TRqtw6gC+RFB3Mum0JbPhLX0QL5Ip/LwYxr/pmtgssCmJtcRCe5jJKLMAD6lMdS6kava9ML510fsUONrS/l0yb4z44nrLnn9JxHUrOfCkCfDwQJeGbYmvBbfjX6HMvGsPal/eMN/Rox9rE5OqsjM6+dtQfFPRMQ15jf4inNYWWSh1v+J2YmB5D68QOrgRqosfdPrttacbOnuH5hrRNbYHtgzu5ZsTP+eNq7sokk283ehthfK0mA/q3U0EYSmHivA043yVhuD1Oze8vvsgM5U8NaH5P9iBOXlWahvPgZ6KqfnL5RPQ0gj27WqyPTYgaAnxBp3klgSJLxlJi5b8hhoQnjTdt78iMrjDstyG7tccSZ48aGnBLNhPxeb8bt2uI+OO4fKTfkPE0McVoHpDrjCv7OdkHwn1p+0PWWLlFOBCaqYdzZv+V5SN+QdxxfN0f3S5j9ab31cQnBzCPkPJ7qJEr8w2gN73r2Y5YctV7YfOPg+VHKwV/xCgaZA3HTZG3pCebY7xLFfSSw3T/aIuvUqQE/VfGxOj0pJ2hZFGF6eR/TNT2Nf8LvHLFq3e1n2H4Dz5a6CdZr7f1vLP/SbxOEakBUm5pXdZ5nDwL1BH5tDBLdvwR1XC9geg0R/oCeL9hM6F5nAZYEnb6tDFirzrtZK7srLajtoTeS1PHPjbBmHjiTjj2EErcAqcRAFkweQolhrKgt66xfVur3Qwz6da9e9QHySGGhb13URtusArpVzBhXKgxc//AKDsed85r2cg34Z/kBDbQbCo18BHRdlRMaXJpnoZ0edRjDObrHDQWtuMDtRMvzm/rK1bywnKbCQVYgyU87AlWHwUz6zMvyDy2GIz0CqhHgQR+IneTmxHcVwlm9ryYCUOng58TmjMdhBBM/GvTo4SBpjholk9obchXthdxgl6WAUSb3DHYH7jb7W4OC4zIcF9nJdO8/UCoI3qxzoROcB0R4J2BQJakk4xlxOd4zMieazLs3V1jbpjQEPYNW4PXNPkIaY6decBMpxIcr211EfjO/QJ7mMDRPkxa8eqg9jgy47Zo6E4CQNnyAj0dy5xOZok/T3zbvZxHBL52MgzLqLtg2syYoJ3jgrevwA6Ijo3SGzSzyX1FdtTgcmf0TcwTY11hUXGs0vzo2DOPVr4ePVDlyRxzFT/gqAEfc2InH4nYwYOeJBA8blvge6/e/e7CrvWdcBqQH+7ORRzipRDYJfYIVscruaQ6zEmRsGvfYVtZJSXZy+13q7yB9lO6I3ayKLV2eAcQF3CQlFrir7MEDyddVUJuSONzNAmvvwj6PgqotSlWLdzZuMxDIJxhY88Nb5IpTFP+VRozAIlZcqsj0b1wCyPj+6ItrEZBRK1UtNqKsr8aisy/9vJkFnBDfBlx6SStZpWOJv4hE8f5ls6Dfpp+p+jJdPwRiWwizU2xuZ5AJwcBaf/Ineh4VW1MM9QAu5vNgY7LDpd7uXGm1BTiSKksi4IWxQ+oYnQ0CRXhZ0W5R3qNjsOTOcTU7dowhXXAJldmc+UW6hlElhaecaC0R4ChcHlrDiHs0oxO7kCVOnRsxUtAZjOL6bEGitVrnieB4c/mnFOPzCXWhqaZ3LD0RyQlQ6Yn0n6my0o7DEoGnO5v8Cvf9M6GJJ5zCWDdhtLeacOFUhHddWKrgHWrIl3snTmd3KbsTSwb1AW1A6Qki03D1tu9DEEj0GeAhXksw7/g1eC4y8NVBpMQcL3KkQ7OYLL7YHuJzhtAsM6zGrjN5RVeMnfIaLAhcUe0+Jraf/VYKI8f1kcCqA1xP/EvIQ6WZZiBfHuC45FiEiAI+8Kj+o9QJ+5WU4pGU7rpnIePyBAPuKM/e7mQQ6SYD47FOuHD3ekduKbz5Fc4NkK5ufUHin5jiLo8Px79bW7XcgvO7EA0NWdXU9BPv930WvViaGJzt0nN3z57Qb/SBPsA+L+Pus1w7nuufktcXsCtG3Bjtw6LA+mwnzZT+NRFRpFoWWNM2YL8s2lw/Hh8ycyGXizoohKWOXqXF2/VwxjAVPFu9dYf5r+mfABCxWcaNjSQIipm5m3QPMJXj+oPIVIOyedbqHBcUUz0RIMs2qyLv70HcTtX5eMKUTxAXcs6KJBrbNUl0bwOM8lSbMIcab1cA6f0TxTOIy1Z/Hge/j8tRAGz0BJHS7Ws0bjjwc/EEpjD69iFDaxBhWKUxYU+UqIm+3kHvzu5uZhtaXTQ4vqwYoWbLfc+6xj95ZH1Ky3Wgo1r31o9Gc4MaP8uDS/nRMfXfDeR8cwyFBEJI+7l2kLQEfBsvkGliIMVBv9CS9o1XxJQMi0rLIS1P9LyoRmlzcpIdH05L5EBbpy5Gd7ylIXqiTNc9Q7JWYACCzciE8KwooLL3k6dgAEq1qaw6XmLv6iftTgVRKOcOzC/GYZowXbbuX7NJ3/Q2/hT4cEaPF5vMZfYtoSlj4dYfXw0hePg1Phn0resqwmeak4u6rJYjGMNt7Q+g4IspXL9FqfrQmW+vaEDiy/KW+XIGUcWx6LV2oibOo9v9N01TY+AbYEFEj/ZvgnqJwGt7izHAJFq8Gnsz6Lh8KnIAADuKAV44+oVE3xUA0Tr8RARNCt8z3ySQni/K/v42R1w9D2CPzssR6apzBFyt7DjNvxR8nCeV0JJoOfKAeYN5EK5/LzjPSko4coW8ewVGkJ1j21aBKMKVvIz53tqyC5CV1/G8zvXyodDuDuYV4S6fUSAR5VXLiHGk52EDlpZaZjqZhLjJ+PDxtBxNSXlqqRb+tILAZsjahWucvHLyaZwwWDuJ0SxKHAMeFtq4Caf/KcpDzIUXP2J61ZbAC1NU/48dRGCuXUWUfcril6qPbBZ5xtAyil0gOmzUTtSuPcXbqQmTnkxKf/bg2oPDEGKlYUsseJYH2DjzTyaFHwl5Cu0XNxOC2TjJiW6KzIPWLIm4YwVs+4UUu0zQpUhqwHYiJid5CTKOLwxLvOtRuP6dkfhJ+GVo4pMorZl22wLO7fPmHA/mkqAcWv8DbTQkZneLPHe5Kzu0dJQsAz9cm+RId2ceWTl6aW/uJcJEQeLcUcxgNuRscmdMEYgMSDxlrLEoWpcj31DEEG2j/LmmfiOhMlp25qPhuy9ZAEMrQFogSXt2j/7Yszg5W2xxfU6r1ZxaiCvvLdOWd5sPHn98paAR22wY9d7zQh9PXDYKtO8wgIpBUD95h0Y3+wXsJAhodfkFmX34XfdH/Lg40WbSMIKQLBm2h1bc06+7jN+C5AKBVrSO5IId+XpevxQ5dIdrxajWMQXOFoRGFX+rXmv9vcncMEJovfUjC0Kk7JYzO10WO3addLzQFVz/EczR3Xegs+eKFVwM7j+DIBt4a0esrtsskyNcLTmX0EGXT0AnjY2E2V/K9yFwNO5MlXJW6RJLLSakhY8yOsaIyjct3yKcAu6eWhFAbcu2RWiIBmmiPEHrhmr1X0pJdPnS8p5iih9AsRbaRd2DDex7fdn6SJFD6HgHGee/O2RIfDnmfw7CZKLBYs5q5hUD3sUajfaNZd17PV1eirxZeEu1C91AyG+K4Abqbpv4wCkFjHwuBmqw7ZgjB6adheoTDLZeUu3Ct/QqYVCNZKsA9/cUX6l+Ik5GdxlQ1bNvl6lueon/D2Ls+L/CQyk3Kox4cWFWv9mnZ8yQzaCclaYi1RudwKWq3QjlaOS6XJD6zMM54uQz8KLOqm9drC6fdbPuh1dKGmKAoMG+aiE0r2D0DzeUtmOoAfys4sBkV8Fazz+zfmZBbLppXUeUzg7CbmMSeCDEMZe4NIXsBoxujok2jQx2y064JFJ+gx5dLf+fBsibXnzmAriEhJ8fEyKFD0PdQydTBx1DMwW52Lbt5HmF5xzLy9OVzdjPdEPPLH/qb9X1guYXsE/pUnRULdBJ+V+g5/bL3ueZMiTPcI9rsBZK1yKBiWwvlMzYDNuStXSVp/Qco7YStiiSr1PeScPBTqs+hy++UX5SMVrZnHF+8GXnTRAIEiqqjXF5zShry0KF+7CJlMCuGyExHthEOWZc5J4QHFv654z57K7MP7M/K+Xq851RcPq6vER88NQYn74t0NxdQ45tUhg3wUS1qlHbElCFo9G3bqfMg+tZuJ+2Ey6cyNYpBri3CzEMK/YJ0gxgHCGgbuf3vWsjRLmokY0Z9VvPM/lKseJBvOFUPJGev5mRrzpSSBnBgwf4oJsJOC/rih2OS4fYBY1giIhvlTX/lFuiJfHLnxs3K/97R7Kif3azq3qlQpTMcIYCxF94k0Q6w+dUUFWr142aF+Mn/3cHMWK0KJBvTaYpyg3XwWZfleGQNKwcn98loAzeJv+1t0d/GtewT1oBqs57dq+i34F54D+xRKrHQ6xndHNIdEWwu+OOVDqd99i52yHSnxxqs+NSQvPbX0j/9GLfxTuTEwgjN1hbuSjHFKZKmMVHtPpvVmc4Y/XS391BLzdeXHI8b91gCyEFQrleow7q2kboh6wEnWEklYneD2SXxwqXJFVn6kkCF2OgDSmJ7wguZOEicm/2hcEE6ZYDhBbQlEc6xkMklQ+l1liZLJqxY/9+aMt+6DWhb0dD0tKlLgej0skonQEMGQyuxXLsKxbyPUkqUwXw6FtVlJfjzcKLVwwm/auv3B589fnJiljhetODT01NuKfi/88BVzZeKNMAZhWU3v+0WB9IBLvvz1W+2ukEIzV25cE380ypvdZNlyehK9faRClWhVslvxub6+CB598ZYuNqkS+dQAzzJLNsMEoNpTQA1iNJGGIBv/Bmg8UBVo72xTiMxTRpF5+DXdMGO1dhIVlJ/s28LMEDHQ/wYa1bx7ZVcxDFP5ZJcYV5MrH6xqYEMN91cB2rAh71Sq8U506lWxEOTd4rneBgzrCo+G4vvs/0lEHsAGrdQQY05kQIz7QzkzRRIGOSQY8ADOG2hcyzfu78ya8mEaGEQ7ZNo7a6vKpgeg5NTxaS3gPHiuIy7k25RiZXa99yvBDS7TZ6QruDQzjSoHmDL9Ve1SBaCBy0ffViUHiGv7Rb7vubLOVO6ZXMzKER8O4gV4f/uakP6RNUTqSJQ+qe4V7+OQxrFKshZ5h7jFd6NQLkFE8Zq8kG5A1yCNVkzmLB8ZRzQVX2Ag/KGaKS8JvkbR/IRsbMpwg8xh6Wohx1VCMmawo60NucObM/aSDvuYXdPBTMs9J8vhxTAUwhfmIRcjU9p0XCH55UeHsDqqqIzCLmcs9hiIjyYL1Sgg3SBezjJANdG1rjdNZwlxT8z5v61sbBggozeb7qBQlJZAiam2Ci9BJxfK5SltSL52SNAaJ0GvgsRE5/YzI1JpT6ww9OaAPGQHqAmmbKPjzC4eVBNWLR+4ShXXbhdLIXv1ZSZNjKz3aBtdIUSfWgWVk7zOjBR1/STIzrxRxcuqZwWByZX9NKiCNNWWkH/W0/NxuT9JdewhFOwJ/4GCTQwoU5IbU99GLu9qym4sKowpbZpi+zTu6PG54GoF0pJK25OSvioX0VE3k+WY2gEDF7jiOyoK2x5ySZSVFdhs+NoxI4K6Yi1cwUiBfqsYLnNv6ne1kPDASm9+lc0aDef61K8hIJSCwfSyLnoEmovTOWwCraxX6NX3W0arjFiVOAholGemBNnt/HKqkHGkzOOPC56tGBq/IeLShTqbhI/5J/cF1Zw4/rahwL8+GA6HIjyaaRIiYJ34LNTuflQp7EPmGAOZHgaZJwxuh9g7totQZVPKiIUQ5ADnZuGwG0m4gc4H0fE0a3hndiocuvOAJG/dE2aPsEUyJdZHtA/FZeekEISbIIOJDwgubRXcR/JaPWw1yAZjSQOE2ft0vexUGJ38mevJenlQ7stlUqqlhRQR3BYWR+9ip+gDxslNOUhfAhRiGO11qCUVwjZ6ypL2PXaHPH9W/5z/Wc5jF9VMfkn5YPWmRipGv7hFovW4MpDmM0Oa4YYdy8VFTGiN+VB1IMNoQqbbdS2YKxgkESbnxALyyAvWpeHhD7gWTVsGrTRoyGHrHaflyRYRkrjZe8KmW76s42VCOC1qYXXqjTcMS4qJfg7qz/lId53k86EwnfH/mEEoq/DbRC7patvamCUOQFDmRl/VosdmJSd8h1Flaw7BCcNB+x9rYbxmDutcXrr+ix1i00IueiIt44Mu/tYRdxKz4vG55+uKbo+KwQIvvIWUqzuAznZc+kJTyhjx0KHXp0JoAs1TnQasUAc6K+5rqrWOW+O5OGITZhJTYfeJ5QordhFSfkn+Vlp0vkKMXahXhNvL8OGBcKqtxdVACFXL/IfABqma/dgELb69FDLxNopt7Ylws1XRKAV2Jfi38x48ckwQKKVP9yEcC/4XfsfOpszl0pqJakgddd/jOcvzeXoxTLMldaPUez9vXvbV3btOB9gL2rb4dyqYQ8jLkpPlK//O65MEaH3p04o7lwLmDn/BwQ+yTXEn7VlCXy66gtiWY7zD5P8wPbpBHgG7lpmb5HaZFtGbayKGTNgQb9Ix6t8WMuQcT8tR0vhgzmSLisxp8hGnn8aveI2uUKfcOejhWbn2fNq6Gp6+4sy9HS2WnP2P0++uu2rnpPGXsRLtoGHoPsSqskUW3EN2YstkrWmjNh3Q/JFvaNj/ZtazL0j9mjFFjNUUlWjJvnSsRU7Dh3Z5Dpb8Ce4/eJ1A1d5CZFJ6JgNhproCvvFdDw9cL4AuvegxyV81MeOsPjXpsAOso1M2k0SiL85n3lkhQiRB4i+uiRfybl4XCMuw6MZ8thm5Ah1PpPG1qH68kJWgveD7XdSlqINLZsvm9GuvoxQHi8YDuFyhhctCapGAH5zKPKsxYbuC8FCZ0C2AvShvZmqpHPplmu8z0x1O2BB49GDwue1khHQJJc5LRejhLaUS4fzpMctVV+W4E3nrzwdp2jjE98rt2b+3LVlZ64cStL5c50A9Y4rXDbQGAOwiXJBUxyEvltsr5qBRlGoIzzBZU9GCZEGwea3TCItYRuLQZpr7KX/VRaoYO9yUQOOr1Qgn2jNfIeFd2OWzw8WeCkSRxad2qKlVsyANg+reBiuydR21WM5NFx2tkGXr6pQOeFzEt8rIl+d/kuYZ0nrsa8CeeAGHZJFZYtfSp75BT6MmOibQufN1aZyJ/cz6cmSuxjt2xkDT2Fj3eeRMF8Xgx8Mi/yP/1OoRFFVv/R+MnsgkIcsdFU+OgrAnZBU9LJYMMlP/LoOh3ofqOjmDRgjbi5EbMASoaNKOr8/HCT08AlWJjPeI3PtoowXWxa35qhPaox5YPDlQAx5uBALY08ZlosTmegsnrsMCJBtNq2+xKOfS3NljN8GZPnK9IYHE7QC+vuOFmyY+Nwk6b6rCdGr4oREx6JOPJIQKTRFKAOfQoH4v571qF8767+4AsYb+51JnIQpPK2O6t5fhhXkkSf6/pQNyc+1rvnc8Xyn7qZfegbfPyyqm9Jw9IhMkXGcdMO2077gZQkG+linvpPq6hptDSMtjDfOoOGWnWF8U+Jr6yn9WhQZsA/EB9Sz2yRnkKBbDu77fzaTkKd3i9HfXRN3B8wHcXva7rZXC9md1dyTOnYhk7/KaeqofkJbEoMYvZLzSqJ/sM9qtjPKwxofA4A6bvVA9wyfhnG+hGdA9k/7eO1uvuEpN11SV/C+puqNbsmM3Lzli9tEsZST0hNozhgpm5AdF9XYrIv2NeTTzF0OBIl56ol6vVMs8hOcZyfLnVURE7GLWNSYElQcZfnaBlaKrd2X5zqqeCspwtQyOsz+JhlhFpnAUNw+hPNjkE3W99M0h1oGfa/6ZzWFiEQBJT3xjjSmqwcT4OPJeRmv0HCuWQNP7ckI/gw7Fair0RdVDgIC1/deY7b6/U2lfStP2McLuocV6+wZdWLzFBRxglHC/QYy/UF64DsXLadIEDCmS5T+90a13Pbk6CGSm3i3SnO9u4Ff5MFhoh8xzD7qUl5WvF47aY1/wPlY7RsQ6SY0Gqn9/0wOZwfaEc4Tp1LuEMhlb8SQ190ACLObWnIWVsDycgn5yre+K1yu4r7V09YvA7+Zeu7iO1WicRcXcpg7AdLmWkxTHPgrG1ybfHyeVQjpFqFJfRRldngmIPMwufX3uZ4NRTJxybmqWyVgBxXZMp4YVLoV1IQN86g7F87vh391gSuTqZMvv9d2CYMIapC1cOyGVtaT02AO8OU4YR6o6oASPAo9kqLRrnA8FZiAOPH1L4Lw51cgwGPcImOqD5c4Dh/rFkwKEulfcPi9affVRvyaVXoQDKqXy0arf2wMRwE3s8l9j/5kNqUOoD4PCg4KMv2xVabZ3HGaxghHQlNGIizosYdfH9nWI3sWTPTa3KlwDdTJDby/4n1/3g3sk+aCBgocIuUjg5pl/TBN+okAmrrY8YlEhZNc/MqSffrUpkR5vTMrLJtkfaxejHwnn0XQdNRYGE6D4GSmHXPx37WUpM3Y440INclVxuzH8e6HGFKRwV+3k7fipT0S0Jm2bKlaJvN29KkM67qk+8WWS5iEZ0bvDuMhhhqk2JRWOSaOtjVEWVMt9IVIINk8UOMa7N3HVDkhGLb5jQCzWKhQuDj+KhDTMnkE/bkrzEI3G0q6xPOnIqKPu6MrncLk64MrfsJsEIh4JzO6S6UCI4cP75X+k9ZmfW7ENRy4GQi2gcf2fVpRgmv4eI1P0TrSW7IMd91XAxu8ZBuFlnZGxchHBJbG/vrkntnLJ0BFxkjTld7LWz62zLIzbLYQzcRD3BO0YvF8IjGaCKnig5OnHAKfzoz/U+RMNwWmAc7wFKahL9CeAB26vl5J6uSOmCsoujTwf+urd4ZaNzF3/nOxddTh4RZoo1vusrghQaVP31jhiV0lHh21SDc5oWsIIGHgozvKivGNaam1LTZrJ6nYEtSFoFeuPjVOiIPRB/On3FDXjRe9Up2vpppO/nTDaS7bB8w1fa583VaY+jxtcbouNsbiUV+RAKInEO1mnFm+RSV/kgVzeamPq6wHQx3amJhklP04mrJ4IBIyGHnIO0tWxvf0ZAmTyGORwHdlmAtlOWhhsNKe/11NotS2+tO0lIxWqBNBcjSrWIA/04EZNdezyMTpwKsZoW+XY2sVWDCrk3UfTTMOKR5itwstJw/lO/YA5+vVKmQd5sIV4Dh0bvCG6MkvZmxRunbMmlrrS3nkvd3H/7BwSNhjZ4RP7IQztgcg/RCQuLoqXvA/lsyL0pxS8ovV6wx06n5gKNkmWh80RELRMxBP4S3OIkGC1r2rok15HQlhdzbuqdKauZGrjzQVziPGnBs8ofXlbncnwiW3YTSB4i8sb1PSYSmQCvTQexTszynqgEYS43q8YKuk5HP60iGQO1T38l7648tT9JrSc4rUDIBzrWgh662ustdE8myp4E5XCEFynU3dD3j7xsuLbptEWxu2si78eS1bUnOENp1+oFvrtH1Dpj5GtCPSZt6tNRDrgL3iE2YQlCr+jNTcyziOsgNOiB6U2vBy02t8SFsIh0Nja4uLKNrfp6n+bfYt3p5t42jRtoS5fw8JMLYRzlamnx0rd4mj5W5/589QfGV4xB/lR+JNN2FdIwKbVmLpimSi2d8dch2JZoNNUr4eyZqfV6HRwmMUK3Z7kLZeMtrjnXVXqteJFbb/Ds46ayVnK+UP3BdU8vD7ud15xvkc6pPjBP3pZrEfDHPSTVB9n59woWVrFBKHQgk/kbCNOhjGGYDLVOuM1UwRwDJOPYmxMdLcf+Th49h8dBZOXo2bbjAjTAfmwE6UQ8h6fpXMcKHXwws9eefhBn5uui83QmiEPku6ASkQMYa4N4D83LgHEQVQy8qWVJo2mVo9bQjTFddJP9qLVM633XRQllJUPJ7j8o/3FFzMzXj23AM8PV/myMLFBcUNGCsLDTB4IqIVI3OWGzXScc/I67fP4MiJXYHJD6Fr+ed3s7UOyrrAiyG6r7KszUaqgwfIT/lZvhdhKjBRP71phwMFsvKiIgNow4v9LkulAn5b8+weMZSQ9othh+BbItWjNAx/3Q/rfS4E1AkBy66eaCTTBk+3KX14FvnwoFeiJEJBUYE3/FKKh/RASuXFeGIjdT2ece6EKyQmeXbPam+QI9YT7nhvQ9Eydo2luflmRRY6Ooji7Mqzu6b+vD2zV07y5Z5ksHOh5XfZSzJMbY2Xu28AECC9LmdEH/qRNSJz4e+rhD7lR0Bn6e5ZjLsA1hXL6AE+6XgaomFsu3kOHTjt1I/QJoioGqsW71i9R3DPBc3eQ8W9ghnkOaV/qUZjpHEsF+5OU+BoWiFXlqf8skXRBOnvqQ15v4SVlFe++VCgZofIwtKyGYRTCouADuesYiWwTVAB0JjrqnrLiyya3yLqgsXgHce8h9qGxlqcnZLfABPyBPco+Br48kywHfrcOf3Blx3DPMZewExnVhKhGU+DpSm9nF5tSMjGuo8UIhCETAQ0nbu2Wf5ImIvbFX807x5IkGS77z4W5U9D/BY5ZDKzgFbIYBo1E1XfW8ObdZTF/AgPhy1nhy6weyRIavh2783fXt69RK8UTke1Fvc3oH2usl7y0wL18Xuts7H+b3QQ4ZaJiwOAk7YPt4Bd8R/yu5UfkeybQDYTdKkj8bvpTO+OxWAo0bnrn60r4V6CIJaPRy/Tn1q2ROLjGywoq/wNmVeqKgZ1S9TeZr0YIbm3KaH5Iq5i1TL7POZ48Jyj73peyCJLjqfLrKI6YYJcrLyhZWpn17ZWZ46fnWBTKOTvEyGwvaHj0lDflwxOGG+PPLUFeb3dqVIXl+xuwJy2HfO+myq28kO6Oas7IgiuD58S8PwCpwrRG/ZwOWrSkMZ3N/+5GUWmShfGQbk5nOu9FkLM1zGZRoG1HhmLKrJWw8pQEBH36SdCwpUCZFieQzWMFvDG7knHsEKsInksrTeGDdPrFN1foneeIHkYKHFs63rMExMq3K+VB3PtXqjB0BM8brLAMS6SvvBynGpczYoY/DiPqSMiMQI2AGJt5lKDQVQJYA0ryOYZvm/m71SgRAXxQj6k7zRbhsF1nbT01+3Bbg0pfwW6SBseQs88k3xOTo0WYchrzW0/n4G+oMaVL6MmVBF4e3V3XQ4krG0lfvtfcuxucZp4oRQkRWuXaqz3lSJaen0W2tFhfYPJh5/uLU8cEkT9KFY4fYBBqPqKY3kdHKcjShFzNbe7igMmXb/0nCRvq7sk2zg83h+nGdpNmLS/1DibAEWkmfMwZvaC2MGXquF9nN2x5WKSQrkCFjZH5Y4HwAKFLqSrD7eqmwCzYQNVgjQf49zwg3tUNM99a/Zf79dfoX/AkKX6G15I+EAFx8ydnLqxyQnVmKI0mxBracHavqdaStKzffxOEKyV2m23+WK77pb9jbrhMh9f5EideMy9uzA9CfVw1SMAghhe9u7/DL6K1hf+joLEBVdrEnf8apyukq5ZoxIUelPbUSh9AvToonhCpahCxf3Wyb/fIO/zHwGdl4u60gIyu8e1DOiGfN/Lpe1+llF5E/dfGPQP4/377BnTOWUasrMjSmrk+J5j5tJZmNCCyS8ZFvBI7FJmazWj3xsjU2kK75GQdLgnY6BQHt4fTgcM8gakavPYizJdD7zx3el8Iav2Kyv0kS1UYYinqHeHzadrMIDZTXQiW8YFLo+C3EUi9ZNc2Q5PQ2wAXyr2/pbbR24qaBOnic4EIAis7nFTElN9TRe+usrahSYc+gQ9ntN80S+chNguWrUaoe6tbP9ViS0NDRli9kFBcq8rBijVmBf5LzNE7BJ/lxqVLU3kbqc0AKKPsumzaqhkO6LCVVAzwbOhLi0xEy8NNbJ+IZjsIgFSOt5GDRn59QbKqB+AdRbKXMosikCUSGweVaX23XUy0Q1n/G4zInpUx5hh6exJ3fP0WmfiIfCPxn3I3HEL+cdwNTyaNojVnoXWT1eWWV8aq0n9OFBYXC1tWZj2+gXRBz/bxYm3iW74rd9q8mVdUkL0HRggNLV0EKfrjBaeUwkJRI/LxNiCVzQHa/C8V3XMvSSQ05eKDiz1Q6UEM5sWzI/44f4b1ZpHFXawnDuhX1GmMEc+FTTlcDKJBuieyZXKD8WdqC0/AmY6ZCkkPKvXr+01Xn2Vfe32aki+9axUH5y0sKDHTF7ZKmzg3g5bapu4JRU15qoZea/I9rb8aFm1bTDFcKEuneGu05LSYeIarvLYKnPrud8gAedN+pZRwdWOC1dVAb4tV3IZgDD0Hv7xf2/RwKCSk/EYRGMgxN8SS6boXm718gK3GhLL3RCKkXXttZMbIeaqBKFQyZlxH3eOFlYuFk7L2xZW9qh+40pPUCqkoT1Ubqk5GPCcf+FY+sle2TOKcXS+3dmMPjFcy7j4+pNilsmWH14jPcQGLeb7MJCD5LfAPsacLEVfG/UxJzWINFm4Ip9kSnS8Pk0WlqGgUX60KIaunvJ2AAEUD6mx2fuiqfFjSYStpVjTMeRIlTix3FcVFR/oP9BOZNM3pnV5in7jwqA/ssrX62t64lFn38oVtSbEoiKrFKxHtAOjz5ZrWQZqCASpJLRXfimhNpQbZDnNfiaOaqITweK7UHEEApgouXIp3+Xp1kjautEsXStizw9p0T5dMO3VPPBR2GKEA+PLVk0+tqapICgXAucwgxF1GwWNpaQQ8234gF7SkoV6KaCM34U6fLI64NPyUKLVopER+ORJyX9FQfYOCAU3dW3NtPBtISM5Dhn5uCnuPPM0OklfelUYJSCM18M5sq7CzMhF5fr9UsrkruvIT/lV2sjrasOCaoSQFiBIybyYjKc2b655uY5uXFJaW9Hb8JX9FvwGektrdMpnvZm70EHuVUKNdgSoFrubgqekaW1qfhiUVd8yUTWTswzCi6AjJNPBe3JTxmbS6WNB4edgLZNcP6t/y6m3jq9He2MpQaZ420TUXEeU81XowD0+kNY8Q6AXgcBQsUIIg8wLRuEYfYulfgTfL53n4CzTV2znv9WHgOSpnknb4lcVt8QNJExLfDFWgnSOfRxfcRTUTyHMDeesCBWXuVQ+DyasUqF9dqsyU+N5A1xYV14OzxqjO0Vmo16vP9imhlsYdzVRazBdVlxL/jwhAjlO+vnHWG4BrxiZBcfjjBNjwIHzOtyIsr5XwWuJOPNI3a44GHiWGb3V/SueYql/siHZ0b5udhBFZdUDNEwDYR34G4YV77akj3GxZ0hDzFj5uaYmzS6mpeKAez03k7ZJCRW1WTt40rBAQ=="/>
  <p:tag name="MEKKOXMLTAGS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CHARTIMAGE" val="FILL"/>
  <p:tag name="MEKKO" val="MekkoChart"/>
  <p:tag name="MEKKOSAVED" val="1"/>
  <p:tag name="MEKKOEXCEL6" val="False"/>
  <p:tag name="MEKKOEXCEL7" val="False"/>
  <p:tag name="MEKKOEXCEL8" val="False"/>
  <p:tag name="MEKKOXML1" val="4HooU0THZk28POP9trq+pbTvvzd/gcV8t56cq85kb3NDTsUhojRA0EsgEHHMH7oYP1SYpn09ysXVivguJdhTvfyVMsBLTGvcX7WPTor/CmWV7V/wylEnRSjNa0bZedd8Yjfz6TiCJG8OqoXAl5SrIeF08dlXg26VCLQSuMwFMmWGmihLwizelWVh0+YrBGrvbI9abCAsXIvQHRa+DCJaU3PJON0K1yeblBWRz/cL7a0uwAyWMqmGTLsBbUcrm/D/6eTHTkijpiVodNB8ZFnPU0d0nJ2fXTu7+1OPwHTjemllQ9kavxNazLbt8yFiyNcOJa4Y1PJQvNYq9NGWHotWgHaIiGCUQvA5i7CSjuzGM4XnPw2+ryRtSB2Q4+qs4lxYcVRxmzddUch4RoCeA8jZp3cI500kVDLtSZLC0DiuK7WPKYffJyQ30WTWT2s/6MxC9qKuXTRUbrqlZaVLv+CTHIzyFxw5wNm331M+qIBbhrMiOx2c3czOCEBOJQ5Yv7AY/rWJNv/VjXZwFJuCf3uMdpRIkGYJN0ZgVXjm8zPKn+AukkEfYmBolNkmMjiaOo26Rqds3int1Rof1cqU1SB/yDKVvJYDe50bv0UjHYJtUG/TTCqxDvbX2GGBx6qNMgEGfU5J60/XHlSYfEXmUPSrvCI2tXGcrYs/QknBiK+v3huFjKerThIjxCX2KQ4Ao05/cdefd03Zvrrs3UrNCJVXUzjwH/8uKeSz7B8yywpzy+JS6xliCL1cQDhgyapTqBR8MTxLw05pqYR3igPXL4wOVZK/AdYPjvG7pA/RADY5zlGvE/yL6MbsbGsdCylc46PHfLPIzqmlTQ8mB2qY/ndRmnytG7Hjlz5UFfVsHiIDFjqU7CWQgFbTtkfCBKdL0Kdd2ZYZ31GOHhtvtLhKRXxRvOHJW6KqHxIPeyynnsvZSquwKxcnTAoVGT0D2Q2rSBS73sMSiIa4HNwHf6IrW0z1AZkraNp7KCnVoUyFuBa6ILf8bFQ3MK+vHcF3S15cfSyaX8NKnH2ftCkfwWDOKemO+T4XvvKz/gSYHZN8G0fSB3tFFY9LkYOeKg68hYxHCsKlI4jBdHd3nNrEUDrNTBPJA+mkcEoboXIVGlzxC8nyWEekZ2jahpaz6TDlDhEdoGsyCEpBkhUBZGfK7DBXZi74sr5Ft/uR9V2mu7RyEl8z6w47JpxDEY+ZDXnyuvwe9mKoX/NBOvl1PAN8sdvXdSeIGCUnrJ1llKqOF0kymiQ/jJvefvs6vUhrOballZJmlFGiYjYiLayt1l9CswpyyoGd+GzSkH8VyT+/K7gAWhrUD3Cw5fNFvNp57BI8sFxFTMwhNBczMn/bGzhWOK1TyTQRiQPHLIeOb8d37IPpCC+TmM8S+3G/vk7keSbjolMIfIqVYDxyt9ZsvK52yTpi8MTQjvn2C4P1cmIe5oeZTruZDofBKGtCLcxninQuYlLtG5whLn04Prb4Kxg3T1Zab4oUNWx3psI/8EBPBMetP2rTHHSaxgMbTXA0NTb4LUwa6XkHEjy7CogS6f+whHcypG8LVzBVtbJjKVayidtaNVVTzoDNTMFOjxrA4nl/JtAfQLdtI4Iup4EJ6BMf40ihHze0U3SP6kzugVgEmfkj1SBDTfoW6zv4QdDOqjqIcL9Iy4pGhg9mnUtG6OLx1U5WcfgxMt6/7fTqA3JVawIXmD0PvaZjfsR4MCXT2hWGeO4i1xQjm8DaP0J8ydSH1k5ZI4t2BjwY7mczTQtl5vb0bHCVll2RclveXGCJb+A+CHdGn3ZKYLeGb+aLmvDgC5ivaOz1KgDOS5AB0oYa+wLAIekWSqq7IH2uNNyxjNfRAq1azWxjR/o/Tj1wrUSiArcRBk6Te6ev6K6PGIsrulw72dEa8fjjbC0uQ83x2uguoi27fcmvypKlI5JN5BebTJSSlg92zdSywCbXFEgCIomBDPmH1a+gQMYzB19PGbgkyoEbwlOaXG4cBtn1fODqn4HLyaLTk+yqbP2WFSRvf4CXU+JYCFfkU1j9wb9I5qpjt+3Q06722PfU8o9fWhOE1mETBWQy1CVVgru+rdNgoxmro2eZNGGwrpbSXHwRxV+ByTFJLrgrPgLyUjGPZPufnfpsTApgo7ron/jZroErdNkOO98s0Y1rsm65LlySsayTzyQVMbgfdftW1LfL73dyYBdXbSZ09rY6yY+z9ZGHcHoBjM4QRF83M4JQd0/srSx6cQmFtrMDEojG11gvTxjrIF+ickx1wgPnrcB8i7r/3OiOcuk7ztoFuIEKncShut2l83W23AOTmpjo3DJ2Yyze/4N7N0udmOUXor1QWOznvEQew5eeUzXgGQgA+jOGQWYAjD+3oxuoRrgRDVkzOdTw49Aaf2PryKz62aopcCENkaNpgGF3HqOS0Cu//up+zIOKMreZgWInG/zX+syBijyIMCMKdMggEoIw5Ag+vTWkAs0bvDXKpgkEGgS8s+q34i7xm+u9iTkHIFHAaLGqcDCi8FoJydGMZP/CxFn7+ePfdDYImuGbzIPgU1LJDVWFNTprRyGRiBnocUx3ns/ahsTtPN4yRpYkOGwGu4Qr5i3Qab21cBXvPDnjlZm9kxiDBvVspEs6CNTs2jz8w+3uNNThdqyQ2ZHzDUvRrrytvVTFiFp+2+nSX2Hx3lgPgcShiWyJHytHesGZ5DYUtaB42mRIdVPRHWON5DkrXGQcDlAdYGfY+mfz02BkLP0ZtQVeRu6d/fJfxWHvD8k7MLILOSjK9N/duvLyeHA7dfwCxn3/ziGgAdZneRMgm82kEEphSuj/EaELKHSOqKLt2f8YD7870Fzb9Oh3HIbIcNXYxcLhGt4jhLHq07AOEcsT5m2onTvM+l0b6DHhqiCOCfEverQoP4lghZJMyzFMdR3aA4SckCLtoGY/t7p4NyEG/qJh5J3YliO1IUYM4ACm20kC4NDnYBtitjxmrpgDucRBBN1zYp5CzxmWqT+VUGt/AIyXuIqSsoTYCIAet7HupwLftlNKGhcyBB8Xsqve4gVj9QF8FmYXPP5O7WO73bJPx7AhE8g1m0o6/t8zMxpFDbvLCr/U63rMn5ClpQkH8j//91b9xPhJ0CW6YaU2b9Vw/vex3mjjlRJGXQetgd6/Q1iGPckGZ0z5sZPXXVbdEcaCVuKZdahb+tn3VQvShZnoreMo/xU/oc5yttDHMoVDNcKSpWPchQQX50wkqu+9Qk+9Z4aoiOKB9qH1VUR9/oiEH1ZC/lam5eB+q174vuwsHVEf0ePddCPvc+6kuHqSDUfSdq6nfy7uzAtq+HyRSpoQlaoTIxeuugrQ2e82qpisPc3sEoLsJd8+TQ0t7uWQoIQV6flUspGuMa2BNqZiFxHr4EbiZrEM12mfUVnws2+lhLVyJ8+OGhPILO508woqDOZOfOaukRJTc7RpEAl2CvYsaZmEdc6o0vzSLQXB/y1GOhnmoOPvrmKRgmpDDnRvQ4J89yMykQS2NDCZR85zqkqEul9RXqRA1gcdivshGbdX8LwEXXGNpvQ6R6ZeTg3IuV9L5qv1Vtw+Pw/thBBp/a1VAGe+JRJ0DrBrmHPFlVG9sdCN6fPQC6YeV5kREogXsRTzV/+AIrm5jJy5tQeiDy8Sucq8m/tknK/azB+YcaQJ7gPJBwlrbRXOvXkGkpae4xBbSw1IDTi5haTel/Zfivtyb806zXD9s5QRLmfNPrrqdpEDBT979PkXHukqaGkGMwoCUaTmqjTEWBTqaXCWc3jCUPjxNnZpcU8Pj0VUo5DPbdaXxWSlCDcJqNitBEcTXqXqdqHpMPNQnjkCwklp1ZuF64ASRGG1+5BIm41X0BVkYQncmHjWr2nhd0KuSwyloPnbKgOzCmqfLQWBKoAfr/lmPjeN06PiwvLDXf7dSVW+rh94hByuGvNWgeVtSjjfnwmofghtsXmANZjru3HJva/8CCc5/ha48gHTVmhpzd46DOgvCxZlX+jS5Tb83xCo3KYl5RyJZ8tEZJEKzdB+AfsZ9XGiRW+inv9weukpCADpsPRmPfFYJTs5fI5JWjSE12Vt9E9U/qpWb42erw1zPRhiaAKVjPyaVYVq1SQU95WNqjCGX3D+j+IReElkGGEoTJLpBoqtke7IPN8OV7WoERJvYGZwZfBPs/eXXVn4yjOpCpNT5k2r73RzPJztQivucOavKOqaYKZbckHsirGC9w06bHKtNM1b7xCoDZYUjqZ1S7017IJrz8482Sya0rXab49JNUSjBxrOry4t/QSN8tuYLXpArXOxwW3ct6K6rWT+UF0iGqZdhNNH3v51qgxwiV/vOdI5CykiikyeYNt5fU5IYXIkJmVvKmmh74xZSE1xFxvV1JDnRG7IxjCIzdo+d4SsTHM7TY1fJe1qXWlpTIm33s3li+kOeiUfiiHKJ4vOU0rZgioi4+F+07rHKwIjvd4+qsY5++g0oE3HnctOe7ncN0J5fDmIL0RAyo2zg8P2Us8oHlfgLQ5bBRUGgVWdBZ6n6LU7yiSkd7itaU48l4Rl5z8luCw5FecMkpY9ey75Cm9aDgRqs7SOam4ilTnbqAIghmdJDpBQUty9vZ/IEIMT8WfsvILCeD5vogLN8raqN76LsyhuGXj90V7VHRat5TQ6TIbgXLXerbm5cG0fVWUYzj+9/YURMgNYRU66z/7T+e6g73AnYt9dJAERyrBnD/DA8xVMvpaTc1uv66BMN4+CLDrftYgQiAKY/kZ3WtEseqPISIXnW12oKGOAZX2OXmw7Nid6LTiy2gojZbljF9ZrwvNVnibBisL+OdeVnJ87/kgetFFJyxINGtWfas7cjxWwX8jFHW0gah/pfdJfYwLueVncdDgzh7eA8MiXFkTwtC+aRiSVCu2PhtZIJqFZbdjHkAb2JwW+1AsqArh8Ni8WpvdJQWFJ1X3CyAAInlBwo+I25I6qcoWgn8Le2Y7QX6wai9g/+v8+i8QAWgmVlW1o5KnX0UCo3n3tAjIsU0inLt2fOt9aAnmpf2r36sn/GX08TX7DByObyLi5YfMzUoO/tjm1Aq8zAvnpN+VrlyZd+8eBTavKpQN1FhXeBSY8A4vOKKsrL3mPAbnk5qzATciaN6r5p4P/D4UwbMZtNsDmUtO1YDT8lg1B/8/7yqts67cLxv13xiOztJIm1vhtbZ8+2UVd5fR5gxmkbOa2vM1bF5Nb1BCX4tvLVcwFXUxykSoffvXIegUGJ4aSKiBbzjrC+MP7x//ZECisYuJIXAXfckMI52EJHWqo3pZsX/7wzAXoZ3ELJEHzFiBQ3O4msJGN5XL379suo9FltpaOy00tBCcpCDq6x7Khs+bDwf6893ub1ZlFJLP4agULgwX6wYCPCjBhUTKGFeVXoKQe5lUNTnjuOa7xFp4cuiPkB2HtTJ3DJ3/OFOcK2O8HMfIgEhMi3eMxBJjZW+ut2NTU+60+t1/KIBF6uxa5XHhpbNRQsJxkpf8zZxcVBRX6sWNwD1nYstvOIw8dckGuiwLhrGNUfGszSr5Y46LRW6VmOx/NwQxHGnfZQtFnK0fMmQ7PxEefbtJXVBCDS8xAXKIzukwWmQ/6NT173eqeQkwtonHy6ko6UTiUeEKRFP951cTTQK20aC5MSVVEY1a8EHxFC4YVEnX0+tP2Z0YP3rWn+86AZoV1kIjPnRWVsi1lvOBgksDGbu+vIUdhshDUfiGNFVmKLCwafJ3PFPcq3Af6mg7O8cMHOVBTiO8J+7lx2lCNt3Cm/6GEYOx4wllwR+0vRKfDi/O8Nv0zRKMqYpM0sClsksMaBEO/y79mFbG2rRwpkmJRryP6S5uygAcvE8ShfQQJ8YZvMcC1kh9Ug2pUi6tY1LGes86npUWJMe3ZZYyQ6EbdzCSYPGrKdprwDlHXW0wm8YGz8vWRP0Lh6zwRZ//dMiqj+QsNKz1ULLY1E1LgX8S9SAklzM1A9kdvj4rrOS+zhVioW+FvHI1BzccTjH8HCxIP9PdloELAQT0dCrav+Lc1SBISsxlcwLXcJgZzz/P9bC9KJXI1tJpgTA72trC7RdhRuekvCdQuooCuxls+gJ1Isuw9j9pLkb6Bdf5wuV4fJYnoe+JIDhOa8cZNKpwQKQVJLUAE2h3EVWB6WhDNhmGLU6UkX0TG9i9INfAnG/HMqwL/9U8Fn6CoPx6XA4LZkvWqpZLPtV0e/hn1akIoSsG9qsObBIWB1cTttsh52gPxGY3T80E3nCyqVWbYM20AeSNvh9ySyWzT3YfnVi41CTWctiigu7rf9r9go0NlRiPAvCGr88ZulfoSHgxHXypcBYDdL/Fac2cojj2DPEefbdH1+fyuYC6dkDLlWWEZp/I/2NwBMLYJkbJLm347rW+6J8351DSoVc70qZVKESxSkX++XlMoBsxC+ygqEYtAtIt7lVk5OWhbUkLGYIEsJ4vQRQ0PTGsk9eQtac1p5bOAqnYpl865NC5Q+2fAz1vENRf62hCcdRHcsoo0fOGG6HhcT7hQM3hz0guJyzlog0haV6NTGuVf9E9EB0slZc+p3ATFQC+lpsJkMcjSyAeauXoyisaPN3MsHQz2IZ+hGfQ4hL6MZfE5vNosg2iTXMGnHmcTQZ6vJMdYiOyh1B1D45b4xMaRDYzfVhwdOjlr0Jc2shtIL+GkpK6kGI6SjSifdSlQ969vI2j+q6DNXleO8IP57Qxxk5G5QssrMH2eJe2ztMzBo6PCB1GpRlGG5gc3GUS+yj+QoOhv5WQOxrvRwbk9zYE1bZ8SyjJVEx28oq2NBlH/YXylpG46VbUrbiR4BAijdZ/msuD0GFv8F367v6kbHgSih5YGAINaAyONHEn8Zt1rI9hHVN3qskCYTkLFxprQzi8emgYcEcPJH+UGXl8y90pSJDq+jN35tG0nlDEsK/Tukg17vjkaLFyWSAR6YMFDlk29cFmmLUn00nUTpJXjzmEVxMChltNzK36qMsungzrt5pnzbb457j7IpRU2YEARNUw2AqA3couUi6GMEmDJVkmWeVdduizOaZzFNjEnpz0sesetjho1mI6oBuJ5rVWKlsAVHSO2le+HXyW8BNXYji7IjOnVWPpaB+wNBmhi1pn+nSByR3kTYOD9fbLrwn2ozu/mh1EVq5jlF1fLa56iEo/1CaxrJROKORNLFP8mNxS5T+aufUEP4XxZg252hrgLzwovEK4lUZiCdqicfdF8kGlWdalwbnD5ztR4rPE/j9TJxw1Tg7+cPcn1hYea2E3zsJHLNVNwg1mCS5RcEInYrQHwBcqSs80dzfkt7NgtNZQIo7yE+chgEvDhKSLP4R/wrldUUCvYI3JpXLr7IH9KvDxJQwmnQEx4Q4/gTNIJESJXR/WvgNjefkZLlZAQE7IQuxqQkPSH1bdZjKd3UKzHu4T5oVMSy7BQTscrWhZbMm+JjfXwD432aSh0RXdzmsOIAVHmNmhUL12gHvhTWph5+vxmogDs6uxZIZZsolyT3JJIX+YFDBElK3ii0pPyQtdIOfsjvrzB0XHhF/DTmldfcFOLr8qBGoo3CXHCuYo5uhvZfmFpXWTEVwVjxrLcxjOFUmBL96N3ZO/VDzQrN81DasJrNejLfGmWNOfI57SoJpjxuQFqW+hwIPmPS2mq+RvIhOJmbRYdYgqGTgYiRXqK0GFW0XysRYCKmevIqiKaTWBb3RlKED8kHvHFW0kAE4nykVNwJcxKlM7X9FTcK8oF44UZBK8yQSF1fc8rGcnzMyFXMVB6B6D0Pr39BwIZ3gzGvCoK4mi/imUR1EYwySqQt4q6EusVaoO+WaGwGRDVOgT/EI5f+jZob7EyftYyhCD4LtlHe0chPH4zQG47YfH6mP7NpMhthr0B5vG3ApLUMK/qh1ZAdvJliJVaGUmXgVpoPCN7CwIwafNKqZDjrOw60pR96kP3asOQw3dQ07tSL2Sgq1s4updWDd+nBPnynD5j41NNs0471xhLBR2ZHU8OMC0z4UFRqWQEL0NV63xLU8+f2W1QkHkEMHOxepjAFd8r2D1mPhELx2P72pbEarLciAVLyjFwZp0sSITFnDk4Voau/IjTi6KS0op8k/IJkB//Bkv/DO3v+Y/B8cVImqtkYrBOYCi5FOrTpnrsP0x5Hv+CsNB4n5yC2itCJFwehbFgVdoXdWKzbm3qk8iX7PVGZ+xUGp/4mwHt6BNlTK1F75XoQVF05UhAFnWX0nqKxxa18XZzcpX467FYcO/A+JcJ0x/eqJYxRR5AzNcX34bfUZd1dlWAg8kQKrfdtyJeYSX3stTaJ21vxnww7CsZ0tP9q/xjstAnONWwQ7txdAOYR0kX/sOvo9k4fPNkMpfGCwf4wVS+Xs21jsusjTfaM5mWSLNPdL6pdWdpO6xdfNqz5K5ib2YsyJQVnIgaoKOcWXOExCQ6CTIlfC3OilKYSzdAoMl6Ze3TKKSvw9c/x3PDwpag9qI28CR3QDsMZppftTjQp13pm0O8QRRHca1wGQ6zJgy30+KOJTjMJtV2hFRyju0Gbnk+wqszaOmjeJIEzwcpvi1li/UEg0hthA7q6Ix0Ho1vINQbGdTm2AmKo8MBJJxJUQZyWgchAFUkcZc6u5csPL5pXC9uuIb5rf4Oq4dPRG5iObQFhwXk08APJhVJPQMhw7OefQc61I9+mn1z7CEHFXuv6008Uiq331mrhhjkH9gmEh/8LpZNjaKJQ9O00xUj5AG0rO7s9fO7hHpycCem+iKYivPxc6aQ93pwMCRdUR7lxBkG064WImWjPYqwcg4SvxyoQo2um0sD9oPV8mwvU/rpKhN/p/5rHneakjNVco2gbgUu5PkrFlbXRJmzaTDLXWzWHkfJm0jWYlyyKQASOJIwTKTpvkz1nXuJvgZkhAj6i3UCSshe9gNXVa4a8v1ZrTSLXZivpMOwlzpGaNy0uoAM1owlogTlKWzr3huM2bva0QIODdPZw218VqT/4wSpgxUD7CcHBaH1vkEZUmJq5AkltcFwfHkAoTV4GHK8eu99l0oLbnxVeSscjOowrd+QHTpMVziCg1iHf2jDDyMTOollfZULMSx74TpLk//SEzQG/0hh//w8p/K6zZ7uvxC1Gk1/qFp4ho0iHmbCCIjCi0YhaVxtJOxYExD6cprGewbXZC4F6k4y3PO8VEwG9vijyDBDu0am3l5EtISD5DQHNNgkhPiBlKsFKvBRLzjdZts9BsobnvQaX2B2n8XEADAnMMqNQLhIsRDDvM/yKVJvZ/sIz51+M5FMXPlJulEaNzm+g3xznby2VybtFg5xChNAgBL340u1xiXXrFUy5IK3QKUsht71XovdMazPA94qhkHwZKmTy2aa6wcRGNYwFrw3dF7Z6thWl3UJ0eOnpuZz5cPal+1XaKfC4ABhSd6FZaREBTGpxfv9tB8fjruEeyfT22FF1dVJFxIpgFCUR7mtT5L9zJxv8JsqcyaXjQ+jx6goLlsAAfgRBr+Bw9+WYYWmwW8N2t8Rb/ktM0chINLgZTXDEMBd35PjDIv7taeazpKsDZ15vnHr3iV9ii6h0wfcEai4QR/ZW5ZNdHwJkriwHbQdpAEtg4pageXg6YlkEDpEec/LPXKuhrbhSwmXjUqT7s6mFEz4byKOkh9itxhTo2W4cjY80BnzRXjrDqWezxyj3HCz1eBlrsepFORkWgDEc43Bd7JAE/b1fAGCHq+ObzfUYt5sMZtwD2PJxdpj3U6we1q/nNb8tCkNFYR0w1lkv17pDAp9rWX7bE+n2+3c1cuGRPlGWLs87hyTcsyqnFw3GFw29Ksy9iBAaaKjRg8qsozItaYmO6pBrjDeES64TqvHq81nGJvvnhJ1GxPbSUpgaxpwHw+6zBEHx0ugt9W6Rmn//XELq6/rtYIE5EQpWCzTBOQh6oOttkJhs9fP28BXZop9L9QeP6xDw26IIGRvvQY8+pMFQVljFb1ku+W+0w5Z8nLQ67g/4Kl1OGrq8wzPini+YL71xIjB3QWHHeuuPqeB0M5tCV2uHM8VRNEoqjyg0qVON8C1GuY678/7g9rrlXvhC577Jc6UlYE8RHqchFT37RZRZM/04Axk2/kpGCx3XvXUefXULU5+p7ntJuThuosR+0BQ43vWSn5IDNm956s4T2nShKXKTP/N6jUgK20EM+Y7chJ54xXCtvjkenn1idnBCcCRZqt3Jrwofy+bGnZAObXHr7TcOgKgkIUhZ6/QSruD/gRE4Lfx6pkyqJs2YPuiWu8Iln50kIpmk8G/0u3hvtU6n4kaihlxwt3Zmfh1bBgqXwQqkcQlWNES1J6OgdFdalWQMFfx5jUveWCgu/YlCC9XMWbywWtUwn/6Kmvct5yB9KmGKvkh3HqgqyrG6N59UrD0iqc0DLzkgpaoWt0y6jFoJms5kXc/ZsT6TKP8ywhnZ4FI2PdxuXSCR5RYqvSCNkzoAJT1vcBmN1HDedJDAkF6BOMDoOnO4DRKJJlt7xu+ZcKCYA4SHhHZ93/MNQ5vQJEPby+P4hywGol5a+hSb0egGgL5hODNK7EIQjzE43EMpX/S4I41LS+v361tp8cGOWe3eDJrJXmeF0h7aaGgHgCNv/ialoAfYMaz4k7haOf9lYjiEWNPv/uAJmqjOMYb/kGs39T3e5PgwGih5bA0mtQTIV+IEGF+1TfR0uDvyrSNJ5SN2WRCek3qTMQH3ZL9tjzXOfCv8mD3Raf4N12Ga/fCSwl1L3wvFpVMGpzflfsRXPdp47bu6XbmhGc4xcZlrCSjbwc6JTS0lgXQ2ri5LmnI0QxAUyeyRV07rs44dKo/GA9ZE0ENHS8vgR0VVle7NupdIbhJjB+Zur9iJuNQkf8Uh/Co90WhltyTlyHhbvnSZcil2Noy/Km/ByahBe7dFdN4l6EAzGWU99w44r3hPH2mYHG1gvtPs2XjUrHpCmQV9jHWG/oSB8fmV2OoYz0qrI1H0veHK6X0VFM8pgl3lTY3hrkjg0Z4ggz9HL69ZT8MSYatYivFyidXnkfOgsV/lNmdIgW+3at5LvdQeGuoq2OGClwcbgyWGSyI3CUpeYI8977vGqSYu8kEYUMw9WW11QD+iKrJWrDQWbwtajntQMzoEsunrshfAyWLC+n/DMcFxeEJMMvxxt4lrZTYZ9syLi3SHzMNUOYhPW06mJgsPcDN2yR1guBneZYzhMzRNB2+0mnHIbj3nYLwDEpLE+tRz8IrwKeQQubd7QzbLJNVrc+onkr4qEDzUWdfRH26FGWhJW8lmqtK6iAxJ0iflUOv3J8o36A5Zj3YIpuujqyz3JjnCRcBP7S0mtWVCHX4jIOIaQ5jT5ZfwKOspBWVMjNB6KOmFc3uNq542NV0ApzLN6zrNchVYFcCvEHt64B5598Z8aIg5EyHlP6ojF+uio37e6d/3kzfIJWWkKl3CO1PeLcDGn7tmH0tYbWZbSTWHZUNbSWIuwZ+oswFG5Vq8t/CLVnRDZO+GOFAkEoMpMZt2vOQR6kSxb40eYVWVAWLyYXxjwuYOVAcqw5kQmt4BAPvQqlsilA02Pz9k1h5jU1EbSZ+UoNhFtk9EZDn0giFM9yPoFd3OgtNEZ2iCAVUsz3oqS9EIr6BMaNIzOGnNQi9mpCB+jsZunySnmid5QQ/eoQnOUcOQWtVmah+hCb1NDUvLKIC4+Gw34U/Vt+vv2wQ5yJd/CPxsOvzqS64DSoCQXSFBgVv208aJ2UH3bMj7b3jFUCbY2Ke9qpQyc65qCJW7BmJer3UBa+iHAr6rgHbIFYt02jH1auvSHxGpkLE/CMeVZVSkbSIZlGaDzAvfIgCmbpaKIEwIBCabo7Cz4Z27u83njkhK8ERixRCQwUSQFWdJMAJXVa3oZyq5Fxy0kt07Oj1bHfYR4wjYgWbbmT7I9SNp4NlQ25MceDKYKKXzGlmaCrZgDgl71GRt7OO+iU5T4pv1L4e58qZdCDanCq0Aa7Fpxs1fCIRTdtCpowONvcOPkaEJrwy0IAybIy0q0K29bqId2So99YTYgwP5QDT64lYAAIIIKU6qGPJPwNWw6Vv37Sn6ktaJVDt866zcKrTlMmqLeMRNSOlBIeruPRZ7byKO9BZ32+lxRJ1ujv7JS4d51a8LW7dXthaJq3nf6q7Lpdi2XTx/WmsaKrepFJzllNK3k1CuR2ssGPdbTVJnDWt5u/JswWz93RUCGLsWgf210R7Wmd20qON64NQ2F01uW0YO5+Oe4EsH2CwFLfCBu3c5nE8aPd2muiIefCMltZt6ZQv4ED3UnT3yuTrt85H7ER0r1vNb9uf+3wGoclfZPQm2BogZ3Ov/+jHvKwGAcMmtnObO5qvaAOD8vnM6I9e/OG/JTfyRLB21EV/c9hbqk1Zcwir8vqlr2ju+/oE7jR3W1j0goseeMyBuwtSNB5qTyTpRzM7K6c9TXURTjdgewSTYHQkpDr9iwnZdmaGpUEX45r7pMkRqplDUXfjZYSLgTyqMg5BkDm24tmC7UyOmDCIKRrf4U4bpzwdYt0gL3gn/wPLNKpU+emq+S5lQtgD17Pe58YZDku6JDGLEuOM9fem9/3ZDRnaAn9/pqr/jwg9kaYQ1fDGE/pfZ2wNjiUQ66v6l4EntJItFaDqDnPoLRu4/vMmP7eGVhMsW/RlDhoBlvBSmyG0UolDFR8WdiJnNtWrt4Kg01YOfdjo/GOTmKTokF3FklVD+Az8SEYvpHdCxIx1qdVr0uCCXJ+2Zw20M4G4L597xaXvAtPt0rIjy9EZURiy8/cQPNYSCJaFSw+R07ifb14ZLhNwq4Ks12CB3iNWF6/Rmc65cPTL/xWASq1aUkfdYm5eInbngjYdJO+0YfWqy52jdnYsFMNS56/2yvK51p1QypFaYeNxpnMMebh+oHxyJyydgNqLlKnARDpxOcCaU7mvLDJeUEnlWCo8dq1mp8SNd7Yfob7tDCoHI4lvW7zWISo9qcfbSt7WT6L37Jd4ArZobpvQhvrS+QV1DmzJPrFjPkQNkaNAzrziFvbSgKCIIeWR3/2IGlvYPs+NxtL8600JfcgwDAMxrW0Do56M49X927wyjac5RAwRpyrtZdfWeT18aVciaupNjAW9U0f9Mvz1uGHo3pmcUOTcuCDfncoj+M82e8VxOuy5jn62VlDe0eo1TIIybylS+VEYsnRZCBcKO9y8bfYpK0nLTumD1EAqZgu0UN2r6bPUYGWuFlLXDnfv1V82O6mA1pDDpXFB3GgbSbfuHAuQr83Ub/PBhKlihu/CvRoovUwGQzqPlnmzPhJu0w6anXuWRi76QtgrKmXuSk7dQaD5Rzj04VadxQBqYcSwlNg6je4hgTDWD1MQzUejxy2sjzg73yq448HrmB2JpGEQ7zk/8B8PBLXQS73XvFf/bzA5aZqEWjiKXOwQJEJRU4MyPO8RB3r+3y5tqU/4a93gOgHsjL4JJvk3Wf59sE/sBI2LBh11TC21vq8eTTVtILsr6avtUnrAiZiK6bCiKeCNtDKN5bgVwU2danQOOReErs06sbVcvG8jIWT8gqry50SZu5xOM8zDL1Q6LCLP7cbAqus/b575F2/1i++/OU6pTJpNz1GF9Vr8ymovZQ9BBK+3QQqIa059v37tWDfmrt2PwvNE2n4ZSxGpJjqpOofs824WnzKxJ/S1OEw/nqbvhMf/yOiGJOad/R3YXZ+uBf7xqq0IRLPUNalHE0PMxH6TTLYsnlnN9j8UPjlNyaBelraQILo+9uqHfxrUFCPbnZGPPU9DXIGFwLm4ehetEKPC42qnpbS84tytaCalVQlwKbCTBB2nLpglWjx6wtoDUP8IwDqPIwd2SI3MdWqa/6tNJrQ+aLMqC1GIH2Ws5s9NDH+PfhE1N81dukkvFuZGNxZKv++gfFa/+z3ZoH9ekwJGNGQqJwymsIhM/qxye2Oje2GgK20U51qrVU0wT8k1H8amcqf9J/6UBVGOgxOX0vf2pZrCRnRQhIqRKf0mpAGMDRD/zrhWrE7whguRWNnEZ+RTMVI/gZ0GepqZXNZk3wpmDWhIBl/0xKdBinDaFhXprZfnKaul0ijYE6gXRYmmITO5XmbdHPKeXGC5wBZDCDobV3LJoiX8YNPHBhSTZwRfcMoAGHQaBSpznjAdsJYr3WNs/sUJSfP67qXo9jm9oiHzYi9/roPA7coQ7s4jBf7QHXTnMgHZYZ2lMgPBTjUOnz9rtAzp20S/PZdQT1GF8ZgY2//CWNmWnV34TniEAwQ3/ruPVlvLldF6du2hqwz1Y/n9Fq+C78BuPRrhhjq3gByqrWo6bqdDuZqKPHah7QvxSgkoB0/dIS6LBfJQXOBcWbHpElPo584i5I2UXrk4dEHuIDq/mdwi9Ph1DK6xgEoEIX44nDldJz2zRW78YvJ660O0R/BQ16/cseuGVHwgPMCm6rMBvHzKy5zsc8p2Yu/iC5KIBjfqkAh7lOOlv4oZ4ZYIm3M1DMSWBmduX3DQ0kNA0kpOHc1c8AVtULe62FUR04lv8C4EW3ZLiUNSq1ZvLYpvyN50T8oOojHoeKHkMVkAbY89HoWjRwm2i79QABfb5sTWnaEk1zIsQr7Bdl+Laa7vp28NAgwKjskvy3NZANdaXCIkD6YG9qM3lGtxJRgaHXx7YGTI0oHbxkyvNUBFq4ulStVelaAhUjZE9VQ6FCHeXqwhBibGs2M8NvWTBLV2ENgFO8HguXXDudlVJKPhTVk/4Q1IfWx6mOBIFEi3WFpwJ8r/smZXpJOwuoXR20WsiR0ErNtV/4ilF8bqCvc0Xpyor8jyCb+Rjej8y+ELy9cEANKPbZ87eYZIYbJSdVKCN2csYoYSXsp+5njJLCNklAtnZXPTzdn4SiUHsl4HV1Vq44rWRhf4lWiBh+Xah/BGsNfca0+eBKVBV/RvmnDwYLekBWYVdi0mllK3q0g+eeobL3wQ7YrX0a/bmAmQaFf7FJDs64eTagm/I0siIvasyVf3gFvFssQH4E1VtClIVCEozPTdC0+FfmAxevdPUytAetk9igD6FM+UB2AQpx/iPI9kV6q2a76C/QXJjODxpI0BRas6fw+lnsyhGEWWFHf42TJN4L0KS8vL+FwM6Uh+89155LZyZAR8OkWJEpKTZ3K+ytUQV5tugMTQsprVc7+c2Oc8MdQU779ZNURR/7u1HdvrQ/HaBya7/7/7suSgT4EAYA8rimrwL00DW32B0V/3kRWX21HmiENipMhxBTtBl/i4gIX2S+8xoFgR1DKVubO5eBSGeeRAXyqY9u01XDt3v4sxG3icB2B5Yqjjar8kxHx7ZKsA130stdnyHBoajufYYSZIDl6HJB1lM4lzSb+V7eHRfUbgAJxihKYJcymRAaGpcGZyD7KGgIUEUcwauN2GRPq4jAKhCApYMEM5TQCBsKJQ4dihmaOu1213HdncD+zKq/vROG+6T9Wkkc7nIM8GetCq+/EtBRJwnStvbympmJ9fAAgGfpq7Dpnejrp6yoznyKAdiSmrgqPl/kdAhLOK2UZDQ1FGaQn0ks1cklbpIFOe4gdF4X+L2D2AEnj3toWe7J/fiosf7m2HXlLCYhM0boy0mR7ZOkuVdxF4cyL8RSUPTHF1O7BE90oNCS3Hcyueu4b77qyUzXZIfxUMT39k8SgT2kEPwVSQUYSMA6HZpIU4hvQGRaYHgTwnXEiqtyHRvjBqWhWqrUo0ySJMOURarZK9gyHxcd5fj8msK9Znw6kUvuh21l4mfrCsbkH61v0naylIb1uPw2sFM713SC5EahttPnCP28a+jNxvKqZdCPEpRacSko5Ck+TK+cUg89MxTROU76ATT/V8dox7YMvL02YxhvxCO5qcBKjzD6KuOUu9SoiGGav33V7K9LtrcwGyA9E94orimpCtXm+zYl2AeAqbnrJ8V02Fq5TelFGBwsrZrLoJxOWHvwyq7d6tJxGV1TzNb7/JdmuhyygtBohc3ADMdPjJSo4d9w3FJKQaoRWvrOMxl2b4+NKm4Igq4vBZ4U6SSePvTRpkhzhTcAHEtIHz1gwLeZcajKEe1DMb5csvHIGrb3IZqtJgwv0FkyFdLLLWsdr1Eb1zIu2NWEfYglHbKh3EKNtvhCNzbXNQRE15xcszn5ZH5V2n40wRXGtGTZkyQvn4qVmJDCicx+IhoaxlYWzm5pgoedK4ePS/SRY0h20JeOMM0M2u1QneeBy7/2kMtAx9Xc+NbJL1efScUt0cur7+39oYKs60WJmRV/vrD54ZplCZcVWUInJmzgYoME7hMbNk0wL/J+wIpLoKFTVBWPo4LTWyvtYJA0BNIyc9EzD9Xhqa2xi7bJetNW9i/eaUkn4i3lgWai9tQevxeFSUrTynp+7m05nkj5noDt3lg0EaM0HgPVQ7vPDujBPmX2ZiMpuWDGOFv74qkJB5dwTx7FRQ7fvsFx3PnNmLjBJhWwqzGJHjNcyYhsxdn0XCemV0IiBUnqn94mlwjBWuLNj5euPK2fzC7M91Fzv+6R0BDwP9vAXibseOdh9EmSe6aJ46ZC7RTl/PGGnRRez0ME+UKA+WhndJSJVodMYtPCaz+PbaUAoNaTgpa+kXRegam4Yvu6ex1u+JoG0MVlFSrjOVzhAQUo6tStGYGqXM19YSOjTvjPi3G9NyBsUZog894NWXx4gbAzbsWgwZBCVQQWVk8ONA/MedL5ggyMSfewiPFoo2wnZGj0Xo/HQvjJVeQ8miLbYY5+yUg0GkexHJXS1+1zs/OMw7eNl5GpXsxGEp1HO6AV22YKfduHSuHyiwNvf+EVFLTkn9AJ8P9079mccVKxGewHhdPVIW0GS5yOxSWTPkeBkzkuJrwKqI22L6Mll0+b1JTxJAuwSAh2dI2F0f7SMFVsV9jzcRLeK65ZJdBYfxGQVf4UzL+8Mjx0iSAFmHa9ftC8eT4vNTKoomlFV4CFTQgFV8labGRumEXs85ww569qzxVZdUWCfdclNJVWRT6cMCzCCdfMo1T5fWwrWdzkGpLn2ojnJN3deorW5VaSWW6uMgV28xURa2MH+7UYUitzALyOTWmmdj4k37jEzQac2ikoam0Qk8umIv4dJUX9COoZXe5LB9UhKtjbvv6XyAd10jCS7dwDdQPyJBQw2rRONbMKQmVOUpfaNci0ISMm0sPOQBL3UkXBRwqaNPad8s7GGZo5ymK16I+5H7tMbWoEKEKjGfx/cSWel86Vgx7QvYs8fX1m4UrH4YreaGWnsumYcnNN9iXw5YT4JVdVehpNJ3XnedqojN1UCPEjjHjFsyCNAUvM+2AQzXwzq4VDwdQ8ATFfNtl7XO3XaOGKN6XwzBTL6vt6DNp0J2bM+yB8AdBdphJ8jiKu9+AykPdFDgo1W20v8dXiz0I6XE5HEVG0OnjsGQt12zVttQcULo6L4qYs1oncKe+xowHYopkGx5Bf7sOuwc0fN140cHLwIuOn50ne0Gvz4tKGC9hYxC9LbKrhbu3bZDiKg6uCItVdpqESvUPG9F3EPjH/U45aKQJNIpEIC8Ej8O5omwhXkPSqaHDDSF87UjfYomqp0BKi9Wbj4yIVs5k1LPoq8Aak65eq3og0FwfEGrl986Xnf424/KnOnhFuANQ4V7FM2BRyk2zdab46zV2VYWHOXuaDsrn1pKraiMdyZalU6DoLe6SfCpn8ycHs87uTO45Tj6JHZ+Ai8stZGI6RgzItLIc5pfeNCQsuoCcUrmBQeekRQKg5pRWbRQo9BmCJogynod8xt4klvgJw+i0y4T29MPi7Xq6q6GCD/Zx6/0RYwGwRQU33wLCdLPc9L9COLAAOFt4YPmiArLX37YY8X6dwjp4gHa9vEW6UOMqemAql1eLSyx/bJATcXdaKUWmaY+vPv0k+jE/T3gc2V1/GzwbLRaiuJsNSx6flDKog6KwK1ot/975yYvGAyKjH6A4+42vZGCa/G/0nWa1LPrrKKAnRsUwvrpymdoVY+ZWis7RxDPY3l4cloCILyMD7u8n8X6GYSCXHs/WyYDeXnqbmncCBwu1kCN2eqQGZhXylS/+z38C5mfPEPlRWOsdsaH68sGC3lKk7H6+yfHmPNkEQPCZ6UYzFBR/FXXXTgwE7h4LnbCDmU7wANeCiscG4D0HnONiekZWYve0RcOh7QNsI+K7rJWssmV6YILb1wa0I+S7mHikURRSUXqS5gwZAjvqo5npmuYL+IGjdKb7U9T0hubIENYlx2FZoe9fe1RV8yehUrTVrfg9iXgRL9Xc6yeWV2mFtupSn5ZMi6Nj/110ftrM1LGIgxBAILMOm0kYPKdbt+8YkBQAgPCHDs3P10ZzarapznsSsHdOuehT73QYLMJjDGd4nULJJ4k6b38T5NDID9T9TdM3wS3GSHxfeiUvxTgk9gegheC4AHal7TtwidVc1nJPKu7TBroyUJq6bbRR6yGgHNEiaSCeZF9EOGIuSif2fOicg997zv4vu7u2F1ggQr+lwb8gHghpLbpFLlX2c+6SVfFf0kWlpE52Lmz5ncfpUCI7NFqAYEOqGP7uQc6NmOyKnd56qnEW2M3PYHmc5WyrtqQ3/bX5iFY5UnRpehNfq1J6UIDla01wFnRGLHyQDg/Sw7Cf8TvC1BAQPv4WrTbFg2VfV/KYwwiISAkl73q/p3OxjvNkhaO2Uq+e+p9bnDcxUpq9QvfFOqk55E263p55PwgRizpM+lFToCqU3sHlNx9igye9CMpuJxzY9dDFDvc1eQbzjAdG6bBwBATM5Nox7ev8Nu7mPOUFIes4+5b47Gw/ZVbrrOi1VhURamCfQcfR269Ljz8QAW2y4oW/lcSnvJRV/5Lxf1A/VtaZlb+3FaRT59Dtn51yMBtwvZ0eo2FwRJFnNLpFksELBkRoNY4y7CwIVCgq7ibbw3w/+fJO0NCirBHvwFWzNJLORBt/yblHlQiDgSwrIqvcUGMben7AhAUOUn/rr8OEqzBZih0mWTM4FTUi0qntfyeQbEzZOoMEtOsgz34NCWZLCKRkOZ5dnh44vK26OpT8LKU3gBrKRm0ZPoLDwiczmeYrMrtIxH3Nho+HmSB8P1+GcDpJ5J05YyOOoe3mqwvcu5lp345Ay5NrMMzJdrFrAVJB42FRycsdyxcBfNpZU7ZGWQe+X+mdHPetgCAkJr4qiEpFOB1zNpjl7v5X+jtfyGyLK7qEFYpv46Bjgl4De/KVbPJYtJzA9y5ps809mAAPP1grFs1YvwemPiYPJJmV2uZVIEjmVfg2BJ4vzoXKxZlw3SodJLJ7yZbGdWYeICvLngnbjzt7Rc1OyjSpUfz5BeazL9SCxdE68EITlWlkf5yn3Dwu2GaqAIMEP7Rzv9azlJdSecM3vdqg70dJX3P8GZ2YdKwPKrXvAE0ZODYqQp2YtTSE9y55p+Z93ubhj2al0KPNzfEOdPAGNMY+LHGMiz/fTY7pQPxB1LQXBXNEKld+zRfVBWdZILeBCyhXt1Ljh2YfPn2LpWGISI7rBm5OA/lbGRwDLxYaZbQSk4ST/3KQmp99JNosmEOqaIV865bktQj4zn/kUDXGC3kN0l3epTFdCnBYp2qRDMPXpb7T1bKQGo2SB2CtUnGmmOSMk9Nz+cYoY6Kpj7Hy8i/DICuf4Jh1YSnU8DwIdSaLYOroMoD8D+eGqQr+Lvuv7iyiQH6eQ5REFBmgt5H8gSXPRpXwPbLStpy6p5v6bTZpdIQMdKwZDNVG8F1BT7gruCI8dw5I2pxkYKFzoHc6yTLNFCuuRzyeXc6Ww7k4pTKic9AztD4howMvRNQUhvZC70DaEfvAVqngkTXALjMpnJvy44TTZ2L8ZgfCgxROTC34zuwNvovVn1kWS6Ymc2GTctZb7tNteOcKbtY9o5VgPEH05dASkA/cyKO6KzVh2krfJdSbtx2tU1TmHDENScU9eMfkBfaue4wnbrWyIlyy33XMlpoMq/6lNoR3TDXQjLj4ERu5Q5xZvmnGtqshqH1fpVrOFFJ5zvK90llK5Yj5c8yOzsPq20jKGug4XfdIL3BONZzSNx/yi06AP3UEZ+n8czva1UpKtd+m7OGA6lDfSSgD1lHD6eMImJhylDosro2byZy+xOFnaeyp1WdKZPiS8pLOo3NEarBUmdVw1mlo6cluqoMTY3aBfl75OGv4oN78aiLN5lAmnSdw+BP0vBNGeFBp/DNniRfY6yr+atge9qvhTWC1CKV6tqwiUzodvIDUuF7wY9DlY/sQk898ZnuLqp8j5VHRWioVCKzTCYUoO8ToxCAw7SPoIsD+XxHyoCwpzElx5CYDVPFDA0MbSWFBsqhwzIyUMKOaKdF9FYMniSvR1GuWFKsLUXxPNcVwI9zBTo9+NdhNpTlDwiR/rWvdn/j7/W1KOntVjJ0FdKu3xMh3JuXtjHi6jIJdWDeOIXV1NYgx4WBpwf4Mc8tiML6VDeVOd8P2YUwAooMPakf4qN6IEHHGx96SQSAnPMCNY/G9IQz9eo/rN+a1CGklnN7zHj1wvxkl8hehy5v2mhV7rp17kY+6y3g9sYIWDNr3iJ1KFUyjeditFV/7Z8sNFsyavHzEG/1f95SpuYV4JYL9bREVVFZqb3xE7CnxHoz9cJbklFVRu0NlcmivwpOjmI9z0hD8qIuY+QAVeMrNO0mODttjTRyKlmueb34I2qgqfwU/BkIVY01YoKZrtjAmBOFLwZesKc9qOsW5Wj96gxF6sGoGUQ5m5f/prFLEuZpQkr5zfYKIF+7dbgajVIKIzvSk/OmMCkza1EfW6spJC2KFppqSdPDqj5zYIjeOdn0qq65jWPlVCqqlFWuafsrDfzisv9E/G5FAmHKwQOdSoYcUZpSQuh9FvgZFVqfRVbEp/VOXUx8uQsEAVsuD2MilAUwD5GzD7JWNdkK59mM0wI1nV3py53l5V/R5UbJGnX2JjeadKbDNdlLuxwyJ4Qz89AqSQr4HpdNWaLVkZiy/n9YkuAs0NTreVPWf9mX9NUUMJzvtdM17vE9GaIKdNnQ41Vb55DkblDimHanGQ/s7bN9Mw4bdwqkzu23lircVVyjbg3A2IJ563L0zVU3GL4bAv66VTx0/V7vNQCfmOXuJvscs+R4NCZbzU5lqrW7x5NjItrVLb6fo+dqCMIq4RhPtHEQtOP1zy4qfi8ixROzcUALMirEuXkKvJ5Hq5SsgsMIzE4gt+iiZpB9xwf6WYW1lGO5/jUcjhrk3yY11194gXXvGGluB5AXEqLQcg60IIu2E9Vpm5nge+TSeHJMwqDEf/rZAno/m9ilB24NU8pN1E+xqBfdiRs8VJbJXr1ZxR+oxoMMsqTFvSXyI6QHZDiNCt4WqtpUM7nXpRVvY6xbLINwKIiI7NwjO/f6cW1BIYwP9CaIDpbiB84Z0PUO/USshGN1FNa6jRwG6nNT0J1rH/SeElzViN+pqxkNmlQL1yVBV7dTVnK/nwiPTW4Getc0WzEM/6DV97grrtSAGY9vpIwBUMH4i0NevtC7IaGL6SWJK+S/ug31fsDi6SdsCsGQ87eu5fBTYHY+a8vAYaxF6ryvryN9o52/0P4Q78lxEZkSys5YrK7YOW9cIjg1Vhkbh7ESSIJtvezQv16uN+760PzmoQuYCnCk6zgzNriKTQH0YDsws3FcUC0rNPNsGLnhm0qNsMGZ8q8gAZfGSB7549i2mxNuBc9IttUpehX5o4S7NBDTORoKbfck0RB6PYBG5y5RWI4lGp3EfaTsz1hkcw0fzls6OFBjqWC/XTCTXZxg4igNoQxMUMjPEqQzWyN8t1dxfbZKx0NXTJTI3+628o2kz6qbkqE9QYDCtKYGn+KaqDDUucebLd6ITNQLTYaNbCcPXytmGEzvMbI8NH7ST+t/wjEobkzA7XHLgl7w88z6Aql1G9mLur6EfFOZJstOmREDyjxEjAgHMkQNRfHVcKWWer7gd4i3cV93DNJaxVH0ZJ7p7GY9iin1ulrNpaJtsz1r4ptG6Nrcj7ik1PGumxXOzJ9wxlWLXTbdERjSCc05dEUoC1Z3+8+VzvWb9lM7H51Aiz9jBE8CErMHC2LBIsSgYwh3IbLA8H1lWamnJcyy8LHOtppWoHIOrrXp+K+8xUSgDf/nM+Q/Cq0Nwz62m+mlsjGmNPIvM1ryPVD+Rb8oSxsmDCU8EkNclycClLsz09Iqsw8I4q/i1jBYXuLT1zvm7u/3v8txAAtn9apP4nwvEmG6eIvY7qikvC5p7GmtGTY5xTrEIRiNmvikulnopkigmxajUqM1ql8LZ9TW+BCvVJzbHkZHRlU8aMZPls4ujUTGYIdDsCZfzGA23EramtI5O0GqHGrzmzLV08ofc5oZQL3dKvf+XNT8pnSmf8pTcChstt86SAYYUPdBN3vV8SidGgBItm0F38bHZA41a6mhKVNbJaqb31nKI3snB5ZIQsThpuYLb7WdE56nqK+aIJvVdVgs1l2Mqlew3GZFQsPRwp29nsqQYQT5npJQUs6bmd9Lvfu323HTtqnZMyfI1gAs2Bw8RxCGZTTWNhYv5uAd3DJct/0eaFg/nvuUuwoKZx4LayFbfOl4TnmJ6tr3WteYsxuYggebPTJM8PINJIiUJxp7OimU47P2ToCba9HLWQEOa15GqGoDdblOEWx7wUDQiTnDDlNCTKeCGc8yDlBKxvuSjimO0pas7sK4sHysIO3YFwR48VuPeKd2ZdWPq88MqcY3FE/iotD76hXl0OpbTxbK8vE8f2k78KCBnMG4H2gKTg2XR3zezH+phAoaF7hhxLliZcv+ZSuUsTZtLSdIZx8c1TgTQPd+KVhBgdqqNmqGcB+KtE1zhAp1UeuI9CMrskmO5ogqNkp5DNdjd7ySxPMNPM903kJAazMBA1xhmCqnRcN8ff3TOk5pnf1/yVK29ZhcM21exHRbIykeYoyH0ZNABK+hKeoFeadU+zv0t0T30H37V3k88h/LLNWXYsAa02Ck21M8fZ+CAthm/Qhkv4JxEL3ZYyWNiBNknFnun158IUsEMK8QkwC9QL7xAKeb/bDE3K/Yy8NLyJDza96Apjo0aVmP20gbRmPEEk54Muz0Wjd07iC1psVbG9CVzt8ZPHq6R2Shku3LXMXy7P72sWxKgIkjaF6j5JCBj1XWBkkEQVmqFBj7uN63xCzKUE1FGI+whvolAynKrk/dnuDDZJCDJEtpRIXzJqvJZ9UIqYPaddeCAnB1dnvMC3od/OQLMLZT+sIr5Tvf9C+SQ80wO5ZwxH6I26BVZGzLfdUzZ0G7/n38O/xAfKuHaVJBWYWf0dZQY41llUAoVil80M8nxS4QVFPqeE0cZRxiJpUAsqogn+6eIF+GlbcFSgy80eToIfkkwHk6F8KMni6/BF/DTFrupnqY9HKlPZFnuMKSCsZSDxp4NdkgZXYQQRmIOEpAtrq+QknG3LGwFKSlM1Y4KuilNSTut6h2IQAI0BOyHaiPLLObn8KPFi2VMY77AmHiEAgDee32zXb8/Cse7wQA/soLv6N8C4Q13mEzF0l9Qw9FGGvpfDQ4AlzZbHUD5h5FmvJgYPIIxYigcAUtrcMfG6EGVUNCmsBOYsH1rgAW6Qm/z6K9ZAhb6jrvzocC6t8gMZDwUEhcxo37YVnlVOfVBxgCoyn8xN1IEEPWLSj+Izx7BM+weq584idjahXuPSzQkSdcFnCYVIVHuzxqwQPgHJ4UcT8JDwLU7EscwNJv3jyiSUQEzmT4IUvyyku32fGp0MOyV0OKaHlVHEgDcBOcH1s5D7FZ1dZ+6cqzpeupuY8i5zH+GKcfA+clNnwfEjdPz5FFgMwg1NFl4RKW7jVP9UiFDa6Xuwr/wNGQcbSLSTh+tHLqhNXuLs/4Wxk+NhUsRqZI0BBQtezxiQVSaFekfLJ1lfIJn1RgL+Hnt34Cz0hPiXfTGKYTQSjZid0mmSHgX555NXCtoTwFYOMxgCuv05KzbWO5j43GIUfao1FDsExOE3iyPTReIDIe1rb1mJPQK67YHEL31B8a3DiYJjC5HI2YhX3pcx2R7nWzvinTNYqoevhgNbhLzYGzz/NUMTp/0ZkIeCDMpSvlpR08HfF/dZ72GPAxKE0ckJDbIEBVrmIWLB9qxnCz5tQUDmE1lIKH+IR5+XO8w+Jw2kKxmMJDtXJS2mSzfn8u4BkpeCrIpGCPQfXrbI9u5/TlwDSdbl+BgPs2o1C4ZtMWnmp07n9Kqhw9LdLAwIVe41/rKoft7CxFlczEeAqz5upmn9QHn8kjFLjpVYmZhiete54mHkfzKr4JvzXs/1PALRgQx7yIqhVxQhOHxquQXAMxn+lf5edKft13rKcoChhukWRXyBGTTrbUjUagA+js5oM6CYJ3UhEpuJ97Qz0VzKEhEF7gj67bVpYdFI5g6depx3ew7JsiKeULzLIauw8TxcfsJjurnhmS+5M6BqlyuGYw5fzpct0AbQUtciKcTTGQemHz9ezqthjTuimAdsvFlljN2IKG02QCm49RjaSd4i2XMnp7U8sRpfROWbqG2G3tZC4UsJyPp4luYdpLWxoDMYazzc0kGYPXaDlZ/B0zU1O3vGYCQR5G1u5wAYUjcYa5PYXRBrGKlqVChUmprNi/yomC4fPGmPV7FJUHahV5PF0HV0pHOHF+jVQRu52uyaXbSZVb3p2FS5jcQ0pA77LZCVta0JPtOjVODiyKGQS2Bg55wLLEnPBxzy1KOYoGGXrUbi95AFMRVHFizIlNDwpG8Eg8sSWokl9wgN8MEvc41lCuIJLbXWwSEkJaMuiZxtCN+n38hWabyBdcjSve7UIj9GYRJlo9/tx3n8505tBNDvEtOR6oLw/mVr0YYI4g2iskN2SBxfTOcRDp5+1+9cwTTfAzGB5efEKWB6aZwOt6edyUHP34HLotjv/6djWke/pjwoNkKCF/kVt2cUVd4N2vBp21md7hT4+O9I7YkOtHvh/YRDz05KWyay0RQ5SY1W+ifjBQVdXun5eg86CBxy3oAxcqHaFiNh7qXIUEsHOAp31a3dKoeWaD5LGaphcUQeceik9GkkS/nX89/HFOBRa79kAcCH4GGFPWCZSNsfNDG3r7fT04KMUSR2EUD0RDcQL93bOAdITxf+6hj8LO52MV+IkFMcTnRNvOJmcmal0GkmoElhzTs0E3tfjNsGkI6LO8/duImMBsRsZVzBUW1s1LAI5fy9yTIK1O9Ko3DGPB8gxkg07XyXGrTGJV5YoCSOVE7bPxX2qf9Zb340a1MBirhSmasCbEe5OQMVaBsu99hPAdMOIh+2qXk0H17llz/hQJg1rhW9v7CDJ+2TR850tjjq1LdwCc3hz/rGw+PS3In+JDgDjMHb1ytISNYFT65xWMLh0vD3HixOfePdr7DIyk6btQpmSBr761IHesmhq5kkJMJXOnnIwwIL8cC+SX/nYlrsXhAkJ5zSD7iXhtBhhrYMrdLdjcHRQ8rucFXRdw660m6yHUkYIWUzTfefppgBVeVXrXTBPd3xT8dWDQCZPAAkRWc9QdxbpSN65wic7YOsq5Qpvzk1r2+qQa9rUJmFk91sZTI8MMvibkeMuStJq1lDEfSEKOyqyJf0/AXHd/MepkAslL12srk9Nwth9LLn9Ls2kScLe9HFKYhZ+V3RwgDDUxBXKi/D3lZbShsMyHWKyAdKbrtJzzFGi0iZ+PNbZUQ8d80pMrvJUBS/VNuZ/Os+WDmD/W02lYFl7CG2kkQwUPRnoomhbnzmv9JiP1UqzZU1DBa/mB8TYITCXRUQlM9yUd0IpiON4mHabUb9zOkc0zrACtGt+NLyUqIAdcJIZQQWVSgKF6MzhzkHpXJ38aMrKg84R4HHd20hB93qd+8BIV0SMFW8gIpOS14j6WXo25q/6TKWECQYRN3bvVkMZlN5ZG8h/hxATJ3ozUSjNeU6v6VVpvtE59OQ3hpJuUlHX77C3wA3JHDYFT292tXPBopleMOUIvSwWZrzta6M5vFylRn6XkHnRe/+qGcAClTed+/CGW9LSPERHhDlgV0NP6UALyFM/KwI66ZTSAZJcfpqcpO2W+chpe1qztQfDkudx0h0QcNVYwosZeS5t/dzDmwpx4ZdWXtEmlWpU67swPtKGWjhlwNIINN/ePeKC5c1ckherJD4AbFkRt/5db1m4e7WzoH3moHJIbDMxJvjtDsuChPYtZTl95y0duYq3u9bibBvlH7h8185TV48MslYBkwAAJF7bIJVyG5J0j6Y3JCr8OruWS1oMCg+pBEoqZya8ag+ZLlk+qqn9sOpnNhL5Rd6fx2D3zaF2hLpFoiH9rt+ecJTiyTsV+aBg8a/1i7qFe3PV2ctGXA7psnkNDKqWw+pSutg14bGsCE4DMrGXnAqMfSP/Bzxb5zInuC9k2pi7VGVKCrKn4xrLJoIfkX1/K5bnMZIan+YQ7PCPuKXX1kFEmf7iQP0lbYe8QEN1RGz41fkDSdTnJl0EuxbXh3/6ANi0ebrJV4ooBE7i7qpOifEJKRycxRfhXBXEeZ9xwgsq1EF6wbIAvsqKlZwNVuEY38utfUiY6xsmtkn9s5wlcu6I7WAn/Hw4SSbuICbl5Vjg4XSMYlxt8DVSrvwCWCL/g6mtCZTVBfNbhzjQDrFZv9FX7AXFyDG5srnrASYk/5JCLINSuc9TYVVRM/MiNlxdsFaZHYguuzXEHKv7YqcGbKb0Cetzk2RWyGIJyvGC//Xwpsy9hFAOHNb/CcM9nUDxQXXmSwPaPiylMbGOZAhMgRlOab3MYmfE1zbw0hesYr1NC2Mj4oMWBNIbp9aKKXvznzuw+zSZIOUb7iIxrep2zWuNTk8qKbeMK399bMVr7j0vMvZRpX6HsO8XSvgAGzSYxWaRyqM3pT5qwYFwWzmeeLmTAvg40qt2bbFsBLGbqNwEnoYstjmI2rVbezpKktTK4G8MZQU25/WN2HuSYtsQSHg4CGVtc/iu8tzXkc3ev0kdmFrz3KvQ1sh3InU+IGGfKNbvWeuXW8Sw9jTneVRFrgJSFj+bUsBbMXRel9+E4PuuJIbayGE21YuUI9Y2tbVOkDdosJAV5OXKfATLmJBQnWSizoMUfUhzV78K12OTtJu416cn0WFooEWYI4HKysiQrVBdxRhQCmLjfHb5qiJe6Zo+7wJz9wynNJhGnfXCCxsIrx7mqFPkylUfTwYAGhacocoEflzkukre4j+WnyvQO0/untFbPj/bg8eiRqGjNg0tqyYqkkFVPd160YD+KDXBTRc4Cl/VkkfxYfY8nNMN9bK3MQq1D2DNkwPvzq8BdfubOEswlSE41W69TLU6Xj01kXFGjZnz++5SM7B5FGNx7G6X8hYxUrj8V8VUK0ra7cw12wQ55yoGRtcKlinlHmmtvq0ZBagfxu4RQyJi2Pw2yjoId5ekkn/nWZNqe2xqMkzR7Zd2tSmCNgaxnlZn5OkGNnZo9P1fZc69zfQbdB2u1Z/tomHNNO+JTT4fY0JY9+NtDfKHdhVnaVKgP37X6kg86ychp1hHKmQ1xeI/EQ9DDf7QPeR2HkvsdpXVZ2lPVXC8Nh1PTKnac5VGiNMTjO9j0CDZbovLbaan6DfZpSdhyKbaKpmdYSUmTjZPxHDUete1XH9Y7fmXDeYqhiQVpb59y6GTLcKyrE3Eywf7pKMEfHAUoTBRt8GjEdS66H0p8SsS3omOmTFdcnV+qm3k1Zruz+6cGmcgPoQXJDOPDzUmsq2zHCs/TXDsSLE8lKjV3QVCogoOMdtYSIHZbQsv6wP33SfjGgiHuA4mM/RUNXEJ6vR2mAXBzFyomNOgrEQ6IsS8uDpxsySDuhfgRnxR4ZUzeNqth1fQzH88Zf0l0VLCKkZpnN5LFdDe3cSqX++FBMlT6PLIc+2Jw0apVcy2yZ8ftFDqan3vEoIXI9jg9cXdBllQkBiap3v7/ArZkzyl/RHpjYVQIEAxMLrG5cXz/xg6agC06JA74Dkug8e9/YeELKq6cMiVH8nFCEfSDbab59/g+oTQ05wQds+rSwA/IlRm6qWrwr/NwXX0q7TBMKZKtTnk+nyzVCAP9w9XBTz4s4LX43yR8mEMvQA0YzrR7O9C0+Ws1OLRHTEKyimo2My2d3pDGe0iQcj0P71xusKPgM4WJ/xHvjCmeWub0vcrFz8P/fgTWKoKNfxmzy05EeKBwsp3Uc0ZI+wtzJtJtxFLZG5w2e+UpC3vAhNDhJIRFHW4KCOKdzzuQokU84FMPv6gXgosZKoa9YGeSGU4ajBmJdbSKXSrHoetovxxcI+r75vIBkYroJm7/ytTusjyLsd5yAV9fWdIwfI5oUuQrUGS4cZuw24xOpMoa/UcVO2eK1QkL+tyMjq+eydqWv48M7LqKKmuBxJ3PY0fCLwsmusi36V7weUMCLuGDIePn4ao+RsNP5LKgKxQk/lmDDxJnj7to3DRqPn2HNG89EzruuV0fCw/trvl3SptpUG2WfagMaZr9BfovOtuL8H8ylc3XNb31NF9p54j/EDBwkcMDbHl98NbzHgG8awhUAXU0wzDUB6T93jfm8scSe/8mftnHvMuznGc4e3KjqXYsBjJip3LMi+EK8/tK0MJUt71DPCjConABoZmtDzPLYmHJF7BtZITiYjHxEfEAmsI8nhKIfNPRobVhNus43XY3rPUBtuNPSvSi6f+ca7OhebxLSf6mkGl2kFU0CB6W82ijVrSE5aXvEMLZocZbgJHtGyjZpKz1R2lLZLx/oPqQTlBAcvO1rVuknToPKvVBe3PzZGnzZy2RVB+tuW4/mDTYYhIVQ2fVR0blxF/k9dzWoljLAl8KM7Zr9/uRuVrYsUmO9ULy7ewbbSQWKDP6Rzpo6U9QxbcxgfW8hvnSbOC3RRimiT5VOnXWHFhLvbr79i9hC7S1H6+hi6car4Z7pOTV4bnxUCdH+eFdcUu076z4M9VPdruGnfF0LUKbliHlLxvRIJb40fvCwuczPRAhtXAWeBMizMH843cvJE2dmjkTPnWLmPoF8Q6WGp6nOQxHNfk7Zxu9vcX0vxdbx0AOBr8vCKSkoWx/UFnWakT3cEdNruCTnG4ZyFrfWhjN8L5D8skmrpfEfPWRKaMMCE4mk/2ci66t73p1l0TuG1n83RrJSHazI84mJWNIgz29W2eaNMRgOtQQmkzBCF5MfVOAH5UMAu+EDpIM1wRU+3FR6WRdDRTbDUC9x0aesQi1/KpRedf16F3Wlkg4Brdx9YTUr5TAh6eEvALOekIvH5M9VQyap9tF+nTQSd6keFnuwLoXN4E8eM3i0DacV5U5Gk09KM+xV8kC3QD2K5mwaq4w86GOMwuG/v7PQklJaMP/YvaIcVV/EwSVsu3t/c6wvyR/+LDN4hOo8vXOZUrOVjDBrEXijjnYstNTA6SglIViIRhhCPNHaJiTNNB6P4vFoqhldRTGYlxk5PMij2aAIGqBSRUjv7JGDEVFUKweA08igbFwmrjfLpH5/0Hxl2XzKkIy6Iy9IBKylYBPFoqisdovNf0xCUBseKC7fv3IQelb8VV5yqdD2sxOI2O8e8/omX1rLTisI6s7gJSaz2SsBmF5JwnCZQL9+2w+2meA8eg+XymUZdzrBlJZ3yHFWSSW+Nh8voYYPGVomHjBuBvqlbm/B9xZ/L791FpdsBoUYSHBc7j2VsVSsJm7CSl7lH4J/eCYxJHLXtbmQFwEaEEzjzvHY4NN1S7Q//H6HuDPZLdcEPXnxm21zSqeFetOxYh9zwrziNPurisPjOoouh9FV0nE/XSUvOlmthh977kxaXi5cs1AS+uzpYCsnL14HG6Noouc33NQburrABRJx3cuGaL6SLdCGrrXCyDmYpREf2WsbaGJm+cpMNzKbSSIo5YTZ4xCg/9/RO3UZyXyNJyiGAdVeKLLHcn9v8ORlF8h1ycXoG3iRyB7ooi0E6muDcJ/ln17l2RAQGuYXeNhYxHXgMn9qjH6ASGV5dl3hX06WMRxZd+KzBBQF9GtIk1DPMJ+dQhRYFWN//z+fo5RSAsI0aEy9YinAFXki/14XIjjsDExTKeusCw8taOMIHHDZ80MiN5g/Fl7Z84xCg1aK4BxjkaUUzKtacIs04L0HC56b5l9LDXl3fRtjJ24kcveZYDF5PMrVtvng8cChUadp44gI7/m9MNOSYC5HCkwFYjgmGuQ/O8udn2LbSfHJ0AWTXYZP+Wa3RFGgA55prCjWUso5iAhO7UnHEHQKT/KRK5405udQdXDrv3Qp5Rq+L5h4Q2q5KbutuAnWOVkKLxdiNCQGATB5+tZhs/V+TZvMOD7C5UgJfw+iuv07T4btYnldv3sGMfx5IlRP/XBhvoo1FyZZg9EvRif6J7vI7NJ3/cEJ0FKCXKYUGS1qyiHsiK4JjUG4bpIk3ZRxm3s4iDWv63zX7m+Abn2XMOeaZFVby9z7vCkXlEv/6DFEx9/AKSp2b9M27ruXHIoL+gDPqck0RL7SwDH9ZCatNoSaRooj9P3FaI8aD2//ZTjpKAY/CQTjezeCEuABCa7f4EJgLjX5ek/JDeOy8HIe0LbRnrUBYQksWxGrUUa2MqLLF9OGuEqXFs7N3P97Agvwz/lSvjG9Y7MVW6losz6gkMoOx31jAWV+iaMrAnr2p9dFN7NUoM2FhWNha2p6aHsrBhG4mXZ5GeEp53k/pbqFjs+WoTBbzca9kwN1py5FxnMCji/V/7FzLXunv4sQcGsn1D8skkjfG0Vwh923c1qKFtlNkHCSyGMV5w/44hv6HblVI7YRMhR90vd2K7j7TTHalxvTi2XPW3CNd8ya5vMbTOaBETdKu4UMfx6DrQVWB4X6KNUj1Sb8B3laKshh2/NveOITtNqeqSIO7UBDK/3w9fsj0fo+KKLXwhwnu0E2zyZnLk0Ty5J2vTs3YhjQhYaUW37TmLIZXiqGbNP9ELYv3aIHtPvGKvdrW1/2vD/3peJdm47xvnwX/w+BVTrsBgfKNoHLM7LR5Ek6r1fM4KkBELr/ZkdqjIAUQK7pkmoG+9Nahgzsrg4j7ZFoDUNajwdxKkNePAtrseWyF9JWfakUWVdjPxk3OIII2f2O4ydMXjJLa01NyO8SnuuY5gYgtG1YC8ZtLQHfFFfyfXesoBGntDnMTBZWaIyvF+8k1PLCxcwdWubDRKN/LG+M8h8V5oDqboCg2gyv027Km6Le6LvUvkrCRcXXOUzPdE3ITK2s1V5Inz4JgUtz+wrBYamVLpRI9LQQNhjTNV/d03Ee7Oy8egokR1y93hMI+vaGbUhHFKyuFNt/qmNxCqUSb8/0f8NykS1ea1T3zCjsXBM72PkxL3TXvIccZvuiD47vn7jGM37hs83f/V0SdbYaxLdvEvk1jwWWOzKXhyuHGfb3vOz5kd6PFbO2CzaDYwG9PHCt6EKeJMi2VO+J0CuLxrooa61WpTczX3EdcFPBKxuUCgg7xtvsNw861OySFKueSrS4wl60hicnMuXmbSm2+rJ0qShxSViln2Ol0+4MQ4f4cLbMeG01FNNKxAfRjFIQ+4bzAToLqjzLllMbIiUhdCHStqLiia+M+N70ZUQjz18s4RPk1v+mpfJ+fgwlM1MzAhElBAM6yPfdV5rQXQnelyB9j76VahnhqRWKBkCYto91yEhgdeBZ/pMAFv6zQz7j6OVxHSrIzw5RHJ3ZaRSRfWn7IMe7On+QnqbY74Bnqk3fQYZ5/2Mx41vssXfRJcQ0D8uRQN4RXVLOOT2CZnSnvJ1xCploAl+Wp0xsXa2F/7ZcQkshS5fhmDuIzadjQE2q+rXo9GFcCjyYPI9L6xYIG0JqXZDcCcr64HZlaD0pBXCaHcYOipHi0NQBI39c9KhctJnqSmFfD49FBZ3gHENkyfyYwzY4IHcO8ty2mAaSAKKlKzmCOd2ZV/wF589ufQP55vfnHSiOC0zTKjXpGqiAXsubBP5xYkbvFXimkzHITymZXymw0TqqblfZr0ZZccytPU0oLIzOiyD/++hXQEYIQ4sgwodBHo0mhH/ZMXOnZ5klpBs09mtBRfV2a/w2ZJ7iJ34JKX/U8c9G8xbByiV6y0ZwD+etU+ahqg+QFBepS3/AmpZKHoZJ5jdegZlr2xsRchS4/Kw9c4+XZxsshbckljIbqcuZxTTe/yHCQOUcHf9Rq403FjEGcGpKbfuA6dPer4oKL16zGUP8v06dyTyLHDg/6zFQyLyYKMCTOgnu+ravn2D8OZnnlLvF3ci4BVCEfNXAyjg8fVtGEYV/ABotfkmy3UuKkB9dfqLqhxAULI3n4ORluuvoLTP/hkHvIQAyL9OpkE/owQhjaedVwR9QPX6SVBpSPpeqMJrThK/TvwsQT3LsGBPLvYu+wieVXSgx2f0JeUu0MBiYRTWYlhvq56jynk4YKYt0U9ZGNVGRpq6S+HXHb4P7kRjHRuR8+ySfMG1f6OR8hKImKmOfZtsens+cMN082v/kNKCzceoHaMRrmJ4vPOaVkO6NOrQZizPn4tA1RyV1NsL59B2Hb3DTIbr9NF7iO3bcVaeKV5uvYxctFGGsCzXeYnxSCfHkjaOHUOCvtyspo5xS3ohO8Il4x6b4Z1YOYLPxnfFErtcw2vVUvK/s9gcRYRe9VzZXlZrMrzLpWxxX1/57MgnH4SKLBtYVAZpyu0EXKXYZKWWN1WNcHdt9EaWkvkSwYpLTYAk8B8JoefGHFSPsKgzI5qkon2aWPeD+KMJmuTPt1trL6NvphaXtwSubVbYTZeXcdPXNV6FMQ/ULgu6e93TrkOkRIpz88zjpcd7qkqhuGHO1h2G50+SngZKLIe19YRvBIJs4sapIGMp4l1bRh+WfbppU6eOTWf84b5NpTwFxuM7mu962KIsJ3QAtb5FOMsgHNQSgykV2sQp1Boe8fk4GVhijx08WzUNbvsuf6tBmB2AEQ3N61nUfx5h6Sl9gon2t55CnjsxMkpIW0DQHjKMO+57LtOks5uWFuQqxq2B0oEoPSVRhYzGJ3uV+aRzRR13HRT32GjTWgdl6OBPMa8ilo9kdcnRlbrCwF5euc/eJWOIgWzU9yXlDn0V0tmhbK0IhlqDc0P/hwdWcFBAOljPRyGpVAMinmNg4rxE8tvY0LNIIs/uF6EPqZD0k6+JDvFdQ2yM80l2ulTLf0rRZlS0T4xt+/H09NzddeXzcNIdLpi32fuSJV1Z2dLpt4+9Yx7ANvg7OAY7EXTKQD5iqCdh6YuJWW6BMYy3U7rBQ1EF8cBLy4+AKE+CWpNQmzLNzbVvPwhrmSrVJQK9WsxlYqJ+4Dzhn+Lt5Xm62JxH/s2DyLLjS1S8QpgdDX8GUDBITnA1vbjhsZTd78NO+AuEgRXDfp522ERywgBsY4G+9TlzSAmD9R5dR4FPlb/9Muyt9a0nyq0QhzqKETms2DUsJQ2I1x2ITLQT6ksv+WdsgEQvme3rTnjCZlFg4b3FI9QmJ7jSFJSvvob9Ce9RPCfzGa9sG1zEA+mb2pegZ4JviDs9F6hjJ+ahwINaD2/ObIBeOWggYglLLib2sc64pt0wZy6xdAVL/og8mHRd4b+KLUXjlUQHTGEWSkQek+VTbKWkfuD4faUzu3t4utjefcjISlM7F7DJl0dhl3eybVN3SzRSfDsAcdkCFeX+UYMtMlB3Q1BLr/4LxcMVnSPIdKhCdXrYh7/6MJeC2CvWDJbF0H5ql8sWCuuu25evDVzrZ4xBWJ2JOOMpw4JcFyBD1wbIrtOSJ554rgkE1jp55LHyBc8ak0eTZCui+ULLJKeZwOOiWxfzSZACsTiUyU9zEvn4uGWBjg7FFTQ+xbk7vh6hxCTIQOyErnS1Q2CmCKdDJaQ7Cg69ETQSKE5byDrOsCo+VEgsp3mmHMowLvZH+Zge8ILDrKJRpvTmbOTFZYcBYIdFWfHrWo2lXS4pyr7sIgFRmvSiD+D3/0XzsXrwqU/zTMfAGvekU6U6afdQZCyKILes36hXUDcC3OXgBFx5k9OAehXYFI8jt9EycIJSvRQIrsEOlnZCY1Ywq4+2CKO9SO2DAqTCT/scRMYPfdQn9ThNANgF9JyyO1V+zw5vcI2znRfkhrYn6iGyZxW7ADevyg2HFk2DFb7+/oz8hfD9SvNZ958JXvBG/lhKJnl+6mPjYW9dQXYYDKqeIoXHAYnScoT7jFFu8lxXYde9wa74d3LXvKTb19zKxrl3yX4yK8/h9ovY2X7PLCphbN8XggSnVFJQYYVpfdsxGx1Otc5GXkz1KWcNA3A5xZ4C74tH2UA/lwp+OclzH4V5sLcCWugM28bbX1wNvIlHB0xTQrPNcvINkfpTQIZAavR1BovFfmuBAzBHpA38JCxk3YVM7Sv+gPoagfS7FlvJizuKtNPzJQGgRKDT1423TvO9rFSNMAgLHN0wbb4TEiJz1EFsP0aarJYIQN3X9qOCbYOahDhwp801FRNaogxas5MZp+Mz6yL31riboS+ezn1NZq0Zp65fqeGql6PB7mgm0PI9yglcpA6NhzTJSDBdmxjSTKLSghgvIw3HeSsE+mbDYDq/pWvFgQ/SxVXRFfwcJEtgzlx1RsMEhoC813brn0Ab6JEZs12Dbs8jBpljEWxfBc33sy2nCuFSN9orqteYozfzRbNU6uyjX0zAUYRN7a+1leQSHbtdqTuinuPXol220Io70eE9ijRhZW9AAIHBIgrHsOaugKv324K5+Kt8HMd146nHlw7cpZFYg60q5RVH8qcGSH4gcu6Zr3AdOgSQ923jWIMR7YDmlXBtQqDEep3ecs1OOJY0/rZfKT5PHgoIRXkR3/B1xexe5NOLmLzKqaW/YmzRHNkfAUENGJWkRDPlwjuZ8QARY/YnsIWL5zPHan18oq8vEm3LrclXSEJQ1Os1i+xMRxPavbqa7+o67XreYegzO7XON2b3/mjLBOW+K5WeTOU0xKK+GPXHTS4xKh67phc9Jg6Wr2KB8H7SJahZhsvhSIc4P+aCFT9aUcPvQeTRwwvnWs+5+clHcg5B8tsssnpo0aWJp3Rmc9DyySxfzjxXDV5ICWEddHGid/E43BsXKEFpyXIfaUFifpHc5vCEB7JZ09xHxzlWg3SEYdwBMwqiIg/2QMAr1tpn2cXLxVM+bHsicdKTtiU4Ivd7kcrdYcvWgMVv2HiX9WqpuT7krV0zJDBnFekYXvJvZj2pQGteu8Spw50BaPLa8Lm2S+W2u4sMIZpGROcZcRAEur0CSdyk4aKuswJR5EsF5s3Z7PKE3nQDORoUeKETU86m1RASzyOw9X8K34tfWr/KFTsrQUVXDP9B8YHU2Ajf9ewBY8/X4In/4syn1SAlUbgN+ra91UjHdUaub38INYrUmfHlgE2m2RfFc/PnOk3iGnDTrMwLbgEpNEXh+wvNyrOqqC/fWWTd1YJegvOYrv3PCeVkyHMMZ63qPoxuddin8/QAaLTlqvY8wf0f7jfZVR9ImmfQMKZnUnW4XQiOCGwaiIz5tdg6ObiEXmL/Yp4pYPSDTWrm8cgEZErF6A5JtOSJF5c4Oht1JNjzyGDXnNnWB7xWcESCUztyMUrVkjuDDSHp2APkES1caKzF1GZfM9LPT0zVLE1O7S3F3SYpWSat68iLhG+UZ6kBt3AMgmC6aq/X9D6S8FXQOSNH6CakfUzt3QmxDj2nERnfcgCUedtB5gWNkEthchJ/pjI0EiuAPhkTMArswMbSmf0/3Da+ya6ooeJfR1AZYNpSWgOBGokIkb7fvFCHGJnQKxzu4Frz8mg0QPdIpKJZBlDFkIwpQV+NYDcA/n7bZR0jOu1WTJoQF6Ut9GBcQbqA3/seJblwIrVkvFJSgO+6rrC/8P9i23zvpSBrs0Sa9cGHUlf4cj0mUyDI/dBJtpWMFsDnx8b3jGRdqrlDKBizIeNNjGfJ/797Gza0GwQr6yaBHh2LMCxXsx8U43DLh/2PGHhNBoS1K82bS96mF4c1f8JqUctLzRuSrRDanNtkg3iJD5CQOCr++D6EDJgHasSQKulkRBTktYUP2wlm6238D/DtWlvKwUYpDcl4HOynBp989b5VGyCXPSeBhbZG7+jQD4PimfICkaBcAdmZJqBIOYzNdvJ2Hsufvj63hlI/R31sbffkPbPCcR3fIu0fS1DxJyeKqXGnLyFbi74jKzhTDASW400UbQjTi1/y5jnv7U0DGS1L4cGBrvC2m5bnUZiZJYYcBMVZ54lp4adxgKWWsvKp1RB5Ug3NiDT/u3nCMZLUmogcdZsEbNvEr3GxYQjRgFQUTQypucTrvdsDEea1p9x7MyoQt8HCNz6UxbV9tWgX0w82F2biJIcZD8O7TQ6LXoeZUkB9clWYrJQhM05+lRWZoYILhv/T4BpOiFe90MrGYIqYaeGeI4cCx07jNmCdo5RXPVnAC115gTiVtzdk/mZ2czVYEA1o41z2Vq1NGDYzljExgMANNOAqbzAbeMA8NRPDxOeTdqNRT2yBF+01PTJYg3b2iR6Tl7dG1QShgk0j6xAUrunIBjwv68Y16E2xk7EyF5fV7NGoxmb2WWP8kSYwhMY4w28ujvwS9IZ82wyPk4DPynmyNVLx/eHagQ7Hxd/71kTOHA4yzGIR5GM5F/nj0ns/+eCFb+fUbu1nXa5ztCwgCOOc9pVKCybPiSTT+REs5eppAbEaM/oHq394sizBqL5oi3mKR82+LSuaue8xQI9Io6kMyfEk/rUUD0JTcyJ50YKFssgK/EiUZ9Znqh7h9MBvJqyeqj6BMSEJ4Be1ycmWysmMwRJrn40WQuyZv9rMAkLkr3fsbMhWaF4paH8cmSTiQXWUsppzkH9WrGtCzALFrmEfgNvht0pV8voJrOKvduR+8k9pagTvytZQpkxgl8ahWitjyDoSCRxoK3KyPYemetRP4b1Tbf5zZ2+W31P/LBDrD+iV0OjckQnAxuwNVNt3hhtvek3E6p33XgrqVl5fGqNZ1up/euyD+NhPTG4TH5T+md3oAYq1X4ugNeL9FsjG+85BdycMLxZJ2k0GOzZRh0thaInSrI+fq0crznFvXBZZ4AfIgRFg5WO08w8VRMqWQWiMG4x6R4VuZGPQkf20O0RzqmDEYzOheHUJbK0PK0DUpAuuh/GLKHd8dcbpRmrqF8WrliLEPAkB5bw9RN3wEBIE9LVJMACgb3CNEr4Rqcfi9IpmgL2Y5HruN3yXWbBsyvkVpnwEg+YwzDCjZF8JU+bKGBlDGnyyrNX3vohiF6H7tDlcjGk2zuV3hXod1MYPPj3RFOYzaDpC5eCh22l+B17mfQyg40jvnscLsCp2uPbgJxplUkSath/jCYtLxSYPY+9HqPkrXWR9ceEAmQZzZhh0PC66oujJdlb3HUaWVYNlcU0TezcVm7xicIiw2mU38a7MazlZ+3g8fpIYI2gUHUw+cjDZdsChJj/L9xu6kvBncGQhUaVtI3O/+Wh2Q6VfA2EMHOvEqhN+75/TbQtHRuPplccqJb8QJT+jO7DNXF7G3uVuVKKZxx9dTpFk0iJzATzWfu9Qv02GAjJdZc31UxtWTfksoE19xHeQOqYWHkqW1G6aUmHgETt+9jSCeSqvQ9O4lo9ADcIauAdOVPzCtfsdLr2TeZcnSMPJQIxqCQ+m4DjNrgKtLq4+iacpcRHouTcfKvKl3PssKXtt5FduzsYWtp82WS/raERdmnNIQAiZ8J5HWLgPpCi2TJt9pwFcV0szWtfY/uiVkZKmKC1WS57KIgU79W0gwgion3GO9F45EQqGk5tPStO1ec+0y0VkomOZlgT3ZVXroQmhY/QDFdDXwOd7IxndRHxMRBHvcW8ECadnNReQDRxuLw73amDqbpvrLEEEEuymJ+47vgmv4kdCqc6En5/8S5kmaW1boKL1BQO2IFXDv5B1gpokGF2DliIJXZF6dUQpO9wK+eZkiGvHUAAK+nzGWI8UK4k7yo0RS51eZ9p394+4Ov6Ia+A3a89CudSt/R0gTBeBW3cNg6FUt9aKLd95wIbK94WuuyGXQzTJqLNGl0KotKRQUD3kb2BKSUctw1i7qN7JNNpcR7iIOHaC8rG6yyBS+MKdMZJ/L1cQQOCePXmkLjxWHZl05skswNLt9TEVD2g2JcPcf1AbtgyYn+dz1fIWC51PG1t3DyOdAFOT82lqq95kmh9yn1LtQFYKvJbMhuGpIDNFoHaBWqKLixPqzfuR4v18+Ddmc7LFdciqsIueRMuZzGEs9xitG3c6/ufJE0Ibtk+JQZ6bJXGPmbC+4tpkB9hI5jgYWzYCo6NfWbQ1JY9GYp7Q9YEyKX5fXEDRyQTAUzcz9VQNPoRZnpaMi6pKqRIn4inPmIaBCrd9HiUdM+vZ3nMnWCaOnwZSqhDsKMFXW+leeFiow6K0bpE1X/COQ+++BpHwkGtXCHeK/OXXfRL00M/qYbMHgreHlN1Q4qQ+trQjQw9SK1CA2lod5THmMRFk73lZtGvFX7E2LX6+MUXuyCaj8riJWijmmiTYdeB4MQIy4ubYkRN9SGFe7OmV98tEXfmheQZENJulF48E+icKBJsGDXn2fUnaXkMDvRsvG11nxQ900oI1uAMvmpuXY4yxgjEgSbSa9KDnAyv89Wfdvx21ye4hC18gQ/VAG89E4crFCBlKmj9bglaJObcKyKrsPm2nHkMr8j/8PK2Jb/5Ia9pocHmdGVBl+O38aPj6aFo9G56t1jVvEQpI5SLNk8ABbMY7Y1og01KntFktz2uqD/FiqPo+sw2UNPSjoEVm1yA/mj6caHVieYmzxWcrbbXy+TIuAP2663LNKjYzNFQyynOldl3lJgoXDhaZKgFSKsPpyOi2vdtguC4sEtntq84B2JFwBv+x4oF9VTUEUr0U4wnYgjAIwVeNyhgqXQyPFP305ao2ZLxsOcbW5w=="/>
  <p:tag name="MEKKOXMLTAGS" val="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3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CHARTIMAGE" val="FILL"/>
  <p:tag name="MEKKO" val="MekkoChart"/>
  <p:tag name="MEKKOSAVED" val="1"/>
  <p:tag name="MEKKOEXCEL6" val="False"/>
  <p:tag name="MEKKOEXCEL7" val="False"/>
  <p:tag name="MEKKOEXCEL8" val="False"/>
  <p:tag name="MEKKOXMLTAGS" val="1"/>
  <p:tag name="MEKKOXML1" val="4HooU0THZk28POP9trq+pbTvvzd/gcV8t56cq85kb3NDTsUhojRA0EsgEHHMH7oYP1SYpn09ysXVivguJdhTvfyVMsBLTGvcX7WPTor/CmWiWcfk2RmY+GE6Q6T90sFUUcjL8kfAV6PVoSdURXX960ZMmHu3QTpEU2hrD+ylEWkT5tHWtuyifORIUDrDg5v0fVeX/xkuLP3ETFgBF9Ds1IK2oXOy1FkMxVghjv4cPZJuzPtzuIVaOU85t7jWFjZEwo+Hj6/W5uo4buyPL2+Yo25KqUk2/RBghKybZ13HQ8w7yeZ5MBijLSzZfhQXfAX07AdoFiI+v8No48n5YZw/yK4aLq3rG7ydIoioZTTCoGoSZYaTAEbvjwNG8BpL2eaGJahsPfFzr3r5fedmUyikrV0m8dCw7V6DG0wt+yuA0yvQ+LJxJ2/ZJB7UdQQ1ERA9C4c5S8M64sbkSXrvCuMyyY+oAu/FxRPIXMgvGvvx+zmPhpmkcpIG1eSXCxdg4SpXog4hIKy6CFQZZC4SgYCd6y6sWCQnk0n+I28WcpqTUKZvXrXbT8Q59bBCbBs8nVPruI8A6Oesa1EiUbb9Z0Uaj3N+jMars9UA4QJEmG18CLQx25Sf2yAyIiKOV3qEp1dSpXCt1+jUpv9Y0vWCTl4qut+pWeQAncjMD2YPSu5rpZSmhPoMyFBWHWeueVJyjF64r4T8gkTRrUi1STqLq/ysYqNLfHw8RbOCaMltb5fQkWv7+2rWRXSOYLHFz3Eg2EJqkf2NBbbrB1vt5YcMLxG2sYQdK22R9XTpT4kMJVrugNctSzCHl6VE2tvU6LRKXj04SzUM8IAt7uvqAeHDq4++iyAituSf+H/fhCrsnY9mJoutFsxdyoEGTD8U7N4xdCeuR7aaFnwn9rr3koW0IOMTICXDu3sKSLhPcnOmO5Z2yJoOQL5El4Z1jr/5oUG8nA1DqAOyi+kMAlw/idN2z9jT/KVF0VmN21xhTlVsRaXanEFUr4/Wm/bwvd9k/bsZyFCEBbIE1Wssr8bsxfecHDdyGc7nuPqL0MVe4OmnzoyBCtAmpISgTzvNW+B0e0nFlu7NVdAJDzYwRAxPxY4faZneIfVTRomsQJyA49wN10fLEddHCj7TtNB8ZTXyxVjKJG+vVJwX5paxqlWzpjMRpVgXc1AqqHy33DZ4+R8rzhiX0lsIaysEqD8guZ5JejglbhbZ5wcPdheisnuhMlsuAIhD0ABKL0N53XNCLRXdJaifbaVKaU3u5q66OrKr0xr7NsLodTr6f7LZikP4ADsb2rdM0pGuVWFtX0qAix4Cac6IhvxdRqOoEdLt+uHy6jauPvIPAeVAr3+49IQ63Cf0Ji2ZgV2c1Amp6ybdhrgRn8B+y7weCyg4pWU0nUf7VDHUBADZLTxTp3w4rT474JIW5yLcSqs5+mvsoD2FhusIx7e0GN0BKGdRxksRnBVuabCyF0VMySkhKZFtE74loeId384zv4EHysztFIKM5B+tqMHsmYvX1OonaZBUIsjupAfMeeAfHLVR9hPPnJmd5x9Aw7Tif0KKavYxJZhSZWiS0yhsypByGEZOCc2FK7IM3/AEM2liMsNN+zrEJiPoNHOmF8QYUZIuTgCtRlzWvclQYsDojEwZerzKAXC1ecizbV4/rV10yzldvRRY0eo32Zp3chzyLOzmlQ/jXq9LrviqPUrOrQnKdFWjGBD/C9ekfjFNrA2dxWwP1MXVcSFSbpMBlDvxWva4emJIrztHwJGH80oPPZvWTVVLsl+E82/GOaaxJ4vOUGrXnsOXPPDmfBy3zlarGosUPLsU/VTjBLflVsaTiPpzXGWmef13+FGAVkquolQ/iZSVYj8WjEhO5hzOyhLTpX48BIW1mAVbGyIkHBVG4Lq/96G9p/tQcn543JJIs/xqC5rYyxYtgDlvtq6MfaiYsqVeDa7+bW5GGmepn7IHSj3cnICnI++xYostq6pSF1/EOMro2hBW0fYu4cOV7CJhZ79YZ64H0YdkAZqy2WwFadQWLVhMhQW/C67j1+KvUsAkJR2g9DP/1QG0wGFDV9V9vgs364F8CDhOaheV5RVl3E4iy4YeTvORzAuix3z/O+wxCPHWRBAf/28utUw0HwPMmkXmIY+COygKiKloMVRUcEfipFzq525xE+DACoxOggHBWsyUWHZCA1qGTX/HXzrLQ7fp++gLspNEcYvq9NMA/O6JJq6axSyC2pyAqP0I+I5nPJoWJKdcyfLSvHb1IoXIS9HZMX/yo9g/krtPDpRJp7Uw4H1LTLDcZj+o3batoYIWV8E2rd9uEe0ZMJNFcbevwJjWNZXnk7K5600HVbWi+icEkH3k+DzEKdX8C7VnvK6FClaLRGNBDkuGrb40WBD7BxMEuSV09BLZyyYIZIfdTQ4EjEliv3cC5B8ZIhwmhZVzCpW0bwB33wo7kS7lS5HeYwVGm67zN9jFnO/VLrX6cy39niKVOdSbKU+AxdUmMeFLdF2/7riLZ8zPuARWWiyT05nwZ2zP8tQg+HTviHerurozQnI6GoS3REYItVjQvekM78EifbpjitbFZaihRx4VEpAjMU4PvtP+2HZd7lffJAT8NbNAY4H6fmJy3c7NrWa6W/NwR4/QSv4h7WWLpSaq1iMbM3KBYaGKB/zjgyvEa5TfH8TLPgFF4Z+/rhQXYIxu6bnyMznXmSZky+ljORzGruRmYnr0NIlQ/EH9PQEyhiPMptVhDbEmoUqNiOjyV/aHLiMD4nwU4TMcmHxb0Adi7Z+gvysN9i13qk34XewlcNEK01xRYd9yvBPmsL9RLQSN3/lnSQYpIlhvYuzfBGF/CM0aGTlPAgBqNNkmXBBWoII1FR/X9GlUUPTlxq9eqoUaClrIrdM6irGjeZ66KfFqv/I2Cleg+VYTwSmU70xRV0RXfROTz27DCeyi/RZb0dUgL7Bw5jMgSsCxzR2l1LEB81jamKfgEdhYsZh05u/b5/Z8g464yms478PaBV/1oXDdg4cGB6TFWdAMtEtClgH1T5ke1YcyMG/9ik7Qzzqqt88COgY58xWo3Sdkx2+oSyueK7WfgAqZ1ioWNKWPrDUXa4MMBQ2Qlu/dLmf7+XYLbxAZKexTWqSw1BtZBZ4ii22mVYVIWOs4PcWC0+hO+v3ZAxtmIyjWmldKHCEKT4O3Bvp8q7dI7oAq38S9i34TQvhKJFXCPhj5vIHpxdM4nQx5hV7OUh+v8I09HrP3ze2d7VZfDXzVWAllmrjhWg4mGyRNvgX5GHywbxWXoKY6c8vO85K9ufMM2ph2VxhdbuQ2WU/5J96UxpAK/356nWtRx9v5meCUVYln0O/zTNf5d5x+xV1m6FmSkcO4Pe10Jy12r746YNz9hWxphyPJAKIyLVan8o2h4zrx/6uXlFagn8xZ0DBlAPU7EtXhgjrSGIonN9lqrd1Ta8kUt7Bcyys2JNu2ytZGQs8/MrEGmkKVfFRJ8XafAiJ/7TofB1RckLTIZiG/ZY6H2V2yohYirz1xuBwh6P2O06uKLHckyTbQekSsFxGK0V7YEldZeJ7OtdliY2ZU06LeZbjvjJRKzh2byXN6ZegtREmj03TlwhM1iYNeWTH7Jbv8wwMLDdN/w84gUKvLMU6mfNEbtofx4XWWMP52Qfcso9J+VmBn9gCEYsHJf++aKcfMrzzuzcng7Z4ZcBwsudBTwMNNN3JOSuYU6FaenRP5nez9dxsjlGSPAtIc2QF7vbaakx8BF4TzKKmNA7ctK7ZVRE/LgpiQKMJkO3pNriprezbUGwQkEiThi8e04iPK8zeu5Wmfybgf/ANhfMuEN+8PXEVaY5clT45MDnAt9R5zPpQErSMAefyIHY0atusyrzeZryUC/KwD7bXP7rtpXHJDeb9uy6IZN4OHbbhMkmH5CVu38801ItfXqGhWsb5q8tX0wIh1XmH7fYv1yqb54BKery29S0y/ZSXKvlDH61Jgm1Df8jMyL18hw1d8Yp2DjoQ68kzFRs2mO69yKaCs3Azi+WeJH9kelfAz5mX4b+XX+x9c/VQnPkPPXi7f26ByTlLYb66tRoMQHrw3/P4OuyTUyfIun/+DJamge6RJ739VXhBWNF9NSNvKn8xAY64jxEjCbfsuw7QT2LDFs/obBVXVS81tRMuSZolCH3l9AvjA4Wqy9vg0dHSAT7XIMYLGVoBYGiqld4/z9pGJG7muBCuZYCGP18ZbW0BAymy2hHZFA4hkRiyZC2+4rtdGdhHalXip7TejopF4oAOUie4WVnG4eZr1dVXmkDw6lMvGlCSr8dnGlEeFvxiszJ43g9AGhWebWBNBQXwTw5YFsznpQ0MVqdDyNAOzUKV08gNYT4MLxiuaD81AxaR5nNqqN5e2iuQHITqR6+QmR5+66jFN3kFg6GEWynSsVfo57wLMLCy3UMgPCkRxChjLFFs0HXEbGejGk3U9iyJ6H8rm9lIvZerIT7vPKGy9bVjDnMpcCFjdhdk+Lq7gksnt5V0Umv+WXhLTKACdyK/OsJFiXNQ/+zRk3IJWqEl6Jh72jtnDjM3zoDLP2gy5My2Kkhdo73WicVVbwf3lwn7JMEJB9O6JsCODt1H1a1m2KbnV36nwiycFEedNoLa5tsZGLoI1e+FLGgiWSmETwxrZkvKmxTrWvySWNHoEzko3vrZlynSJl8MjpFad5m9owx2lq7cesKcTJm7iQSP7Xyk5R6GQjX4/l5khhUZYWO7IlRR3DbAtO7/O4FISb7ZK6IEbdTDUdykYLJ2Fwv1lYfbR67wkllck3aQUlPLNRMH15Cf+GZNnTfw6ZxHaDqA1OTO+2L5UFDyBDyDUaC0743XMqy6kzBNP66ZWv/L0an3pCzUFkM9QopJAgnHzLK4hZR+rYkzdw/J0zuVq9xx/7BYzRcAr6pPHqhG2nDDPKNcwdeHRSpDB7B2qRS/bjOcC9jk0eFiPWLjkDuqblGmNq7L9bcrw6zcJdVjY8KPm7udJFHkJ8t97XGVOXJ5aj4ZVJZGOaG1+zshLfR63RhFo2hesFgFzph3LRM0d1B/FLC7UguZsSifGrjEgjPE/YQhvuEZMS7VJyusxGy21ud0OYcJ5H+mgGd554vw5DCpg9yybvok2EgvKSEvvJ5nXFkcZn3QUAMbwUa1ddokyqDvihWM0jUJXAYT/zaz57kHGgpcov8FrC81MhkcIBjoUqBX+jNXtOwJvRDUOoMJhpG+XwbXFAmhIckZ4QOmCqPf//N31xOMGETPD3Gs+A5n3Xy/uMYSKbjJ57uxzGd6Ggmj9p4eHTI1s6EQHkZoCjJe/2JeReDcCEwrxFgdkc7KGRWUZA3eRVgwxjGxAi2pSxAp30HSYImwGvwubqTMV9EoGqbL1SX/iSj3qcHZznFDIBXsnytJmzXTvymlsw5AUm5dWUhX4bpfbKKtcas3KuNfCBFtWNVwTCr93Y4EjompgH+ZAXXIYsiTGBk3wGcGsTwDkeVLE9vYdwfqaQXZDjtz3/UsRu/nSuYMH77UEw8pMB1Q3E6cpoGWwNeVZ4i3fPE4hCH8/WXfbIgJb7T0qGxOvVvy/ImYkUAa8skZRGAqdTOc1BVz9mBHlLi7z9YGMKWFToxBBXaWfLOdmE63s0pcv393RAzhXUNEGofWFLCzlX5LGO0XuDOW8FVxhSadUXb4wp3hA8VKuyjfyphhK32oolGb+yQebUsgFW4tiuoqiDKPHyOnYsToJXsMXUxraf5VO+UajPeKxXn1JVhdmCBWT2UU4BVL6nH8JPjpLJakLr2GCH815GSgejbJ8CGKVXHz4ZQMfqH2VyfW5fwzo7zyoxrWDygxxKDY9+IjW1MjspeVjwdgmrLk++YJoZxoWBwQjUUUy7kiNPCPhlD3/GPjjdZ4DxHvDElDhU3SR9sWCcui940IOXSseyp8QFzzxQXxXSzTewcBglIR2ooNOQFH6qCNjo+DY4fiwBAVa9kA1zFXl1ErEbZeVxKkqXxABSARkuiCSlXEHZkHwObtyiVMRSWJ+TGFkkDNSRa/OqU5ld+55Xf/KYKHLcEW5Ln+CA5TX7XX9TxrZ+f6h0Si0XKH2BMP4ZIy9yyNpQ/dZQXTOSg7eAV7lqmI2E3d59/RORFsOUe9KUwJ5nzd+pOni8xM9qGboL7UwtJ0EJ7V1hJxiSLzvMbtanGLP9WjgqhSN7txOS/fYLg4NTbNSQS3vmT3fOUeHIGhyucy2bThevgu0tRjRcmM1+dWIkXeM+bsIkzFHTjFP7Gc25kBl9yNgJxp1sEEGPX10nqZhc/mqx5Sw3eszGxJThSAPDD/drmjQGTE31shgZNv1Covub8mDMYm4TfV9/jwyju6XiAAMOlRPMv471heAf5v4z60TkFr6o/S+GGJyJJRNHIUsGU5IZTJiHQVreJMmm3x/ccuFQdiyet2m8OSIdg38l8U/3YdJoRVhw5zKqTJFcVdfU1bHbHa4ZdYMTJVgAdigY6OQZ6Tr6ZsLSD677FJP4DhjIfXMc2n8Uv2BJsqFHJW3H+/68veppwwtsCkU34fKvkl4QtIsUErPcVcfvNYXvi4I3uzR+G9boaTLz7NyYPSqCT+igwwHAfmy7H77Qx/QXHSMkeBM/ya+QLsO/8eB8tRE64h6ReLZzzW7KqFSdb0XXi0Ir2F+gq/gMrlb7vmbQRlBs0k61ph9QdJKajZ6viOmUtAuaRgN5sDN8yhsCQs7VtqsOh3Slwfat/7eF0Cd7hlae0DtBKTorwbd1LQOIP52Vx/Vq9A+CpwGPD4S4Gj3YIJCpXdyHKL1ROjxIZalchjf2zSBEppzuMf0UaF4k95FNODmE66tR5aRB2vTAlS9DgNl7gZ6Nli72Rq5cJCvZnVQtKZoHjSaZin56a64ofzlIJH4eb5hixSyrOS67fwsyZzz18Fq0a7J9yEvw/KzMH8zrTT+f7rEuCvjp4GKyuoxKAUEpdzd3QhxCxtUrvG2GSWL6jknbVdqMz9TZ74E+f4CchfBB+Y1mTQgQOijvgXRk5MAeJ/cZc4hfrQqjElPx9FSmo8QZl+ZVL2zpbwUMBOKMkixgOHj1BuyZqD2KNApvVrASBbxFxQWXy+lHeyZvxhAl9qk5EQLECv6uJo+p4ijeIE+qiW9qugUlxfUeRQHD1UTbI0yPS7DjS5E7QNhjO3VdPDHCIH/YEuIwNTo26psR7/PzS0jmwdd3vqr7L6G9uhVbgHqIpCegwXwGMq0Ulbcibob0vwz2sMafe7YjFQQAXgFK5OsZOItWJO08Y3WCGQekKTUIB+ozKL7xVebSJBwhrqi1ccpXooXsHhwB0p6SEQY8Trrkj+FwASnYDR6An5BjRs18kNTP02Vtzne6DQ1NnYQQgO2A7AI4Dz73NS+LylO0hoeQBSqxAyBIhg6IM9lBsn56QRdCHCegOM7UiYc5OKgHI6Nf4Nr8u3y2WzJvmqIg0ZceHPBbD/Z5JpIAlYad8eETWWTqBOZBgGVABUvnsGg7P4BstgBE6RQeVQsTNPEZe6zBYLBTvqjvyN+KbMC57aRYgkE18RDkXeANmwcpUMcbYUzfyQKAndJVTazLM8okr/KuKPYjU54siWxvBbroJe5d0R9I2hTR4CKvrqjMQI41hYcfPXKbZTtU0DrnuXCn7DukURBVZuC+tYGJuN3nFAD67eFnc/SOGxN8JJfm6ef+R1FFqMafHj2JvxJwdVRskzaHjOjLrfXZpQqLddV9rxcak7KanHB/ifqdB3rBVWLWlZJGlca7OqvpweN7pCizbQhjoPgrFgQb0tV+Yo4G8alzCW926wlY+4hjf14fwKV5djL6Wd0xywCT+nvImsBUP+TtEhq9oVR38LZUd3Ie3R76rdfgq1C59YyRgisuZhaVy6LJyRWvIJa0obQEpFlrA2oVoBf/pqqxwE6twvX3pkqSJREWOxvj2lJfJD1+PLDObJQARLvT4TJphcdQ4sMkVKZHpNBPOnQ4RHsDI7YXOAsYNViCljfzanPCtwpkshyF1jafy9DD0v6p2n/ZFurnkzEyCNEFmSqxmPPalfQP76Lpjj7G4YffG9qHB4VFT5RauGksq5gnQWDDI9ai9+/Bh/ZR64+FEHj9zT0cMvIf+xvzKLqSgQR3SXM9cMcP55IaZuHrDvUKRzMMTRNt3ohK4UD1tt3FquX/DgcX1XNWzkSwliM451JIcdX8O2QR9+NIXH48173b3ttQBOd84WTVBAo/IDbAxexlhMoEcpHuaib+miQ4yLrrXMgVwAJXwbWrNMk4q/NhOg0AHeOPbIscqNZPTTQCSvISXyaEadyX6CakGd0uGr44jbBaF4bmJ+wKU3ynvalUWA/GfWw6uCXKcFcek91GG6xywXiMjTc8o64XvDsDGCSD34LDXojBf67powo3li/V+GWUKHs1xMgZUVov9HvU/+byivkYdbhIM2sX+hZE24DQwkFPcDT4qRuUc92VP9EzHRkCAwC1hPZ59pterwxW13tHm9Vp3GqL3EtvV8+Wj9AfXpVUtdWJxoUgip/BPE1pB6nHqyMyuVkN/30u7VAYXkBNzswp2pddYPFlMTk/TjBX4dEKdSFBvGdlJ0seExxUZgCgK+0UP3JZ8z/LV7GlH9W/lnLrB3ymuYvrFaLP88vB3wwuVGc8NroGkEM2Kw/4KZHGemk6EnduBFphcyEYbr4cpXhqfyqgqDA1wmVK8K7w2rOFooSSofAd8DBk2P3fDKBuRb91d04YoZV7lPShOtIiD+XIndl9ACrCnCdq1kLPKyI5VZWvBIrylefvksJG/pGhr1odJbz43u6clIzVJi0eQJb21Xz03BBw1e2LyECqbSwBxxSQBwpMTOBmS0+SlbDkFr2EVANpUoYc1KvQy43qtSTNjdZG0l+ng1nP5EWw0Mue987/IxT4LnhnfbkUxeC2QzHWZ1WtXI/U1FyhoAYTzO9dgpFqAurNu2tIfMwVUneWoyYG+Tmb55R6ZILofhCeyFFy9KJXdG3A/GEwl8nSSmrDx54+IhGz/e+WPqmwWS/Kcy8VjJtNGaWEctF460/Ekn406QoSvPb5Ey63N3ZEh5tKrBHqLGWt9Nk4spsD0kj/EAzDdzpSDatXTMPhQpnbfXX7FmzhhxMspi82c0rsOP4JkEKq7DEVX/m+DeXMMUHRENdp1N0ZmG+QUjjnprk02+zjP/M86uF8KWiVfHVWkFcYJ7qMvVfs088ZJhHstIcqDNEHHnOzkzDO/TXWYnrY5Z3Q2u+aK71kRZ2z+ZHQpJCHVM3ZXw48H9FxxZZuULBmxk9cSkq2uW4P/FTMq2hUPeH9LT/TY4sjDhQNateazj/J+wkDilfLJxt/tjkuJdYYvNsAlOcERtzNcGz72dOix2Y09PH0OsrFOUBo2AlnsvvqB/JxWC1+rFnV3Ai3d67N6U+khwSioDIX5fKMf+n8Aw8IFOLDSMo5mouBWqXV9a3SIM03wQu7g4/KMhW1zfPDNJV4VWZTwZoeAINQLCCak2HIZRW4Q1Cz+RKzU/H9WgO9WwhG0qcNMCsA3+9lVbmQH2y1hoEYXHiLr52Y4El4kIaypu3U5kFSlu8HOeoNAcsBbhVFLkV7bz30SyF5shlQc3BV8AcwKUmK0e7Xv1kYL5HFbH0UdmbH/c+PywK9Pf9/O1kWrZJFq5LQI8LbSp8JQ1NOGFlCFjdKflofpQ4cUp4i+G/A6ue6EPnocCA7dv7ZQXnEyU0ilgkLCO33mQuVT5Ll0rRJ2FagqEyBarVeiTS7Epfw4WdKerI6jsk0XFU46No62gxc6isivuqZjkj50A9PISK2mgp6ir1wpffvrdyTkkTPDZuvyuezshNOEe+C2YW0Plkm2QfRZOCVvzRYrNwd6cuVBgR7p26MeO1+jg27Hxactm+h1pkGW6OdG5/w9cggaVF4qFuVYK7IeRtVisEZ537hYQ/kB6MaGloUdx5ucvg0hIy7sOyvNUwR9bd5vz6iwfuuEXsf6H+6ynot/ChOoo9uIXOphCn8TI6YlcvL2V7VB2q2YPaS+negm03OCLjmk3YmwLgP9jJpBaS2tdLvUcMBM898y06Mt1KjO2FwoSb+EcZ9gQXEGcawhxI7TnZLHd+Xn91opuMPfJtBRMOJI7vgpbKHWChsNjouG6aoH9qlFHCGVBRY/qmbcCI3K5BR7qDuUIJRR2+Gvun3QW2RLP+7U6IQXXktqBFck3Ts1fYiskc0vTX79GL20SHwcbr5AYfESLb/yxXM83hMCNG6+dreaGf2eSNxYWqsZVFRcHYhac0aJLbcaol2NXrmMLP5MUJt537EkuGyYzWmO7Jozk8bzZgZmoQy8+VOrKznKvVjoOQIPoS9niMgD12Lchy2OX+/EyeOYjAfFQS6Hlg+uPMznVaXjBjeBm5brXavSwgoUCIpIt36en4EhMArEaOJMQjDO/REvlrRJNLYhrrUoI1bfo32IR9t18TV+OP42Gx5n3LUbdhAkie8gnAC2JfDc/NpClUmM5oAhCHCDmdQEQ2RR/1pJh+OQTTNGBGSFP6iO2Y7AthgNwGRpZingipLOYCqzRCgA3vGDlWXmqJ93at5sllWw4F4FWE6VFB8w0uLQF4HMbHiv+mvffNdGNGxQYZZapOtQ4i4b+Y97RfClQCFfE5ArY8vqEZR7r2GxyfcZ4PrvVd5JELUX3OR2MKh5R3QtKxoI6kmyUhQmHaaL1XM9DFTpSgxpijJii1ykraV5JiHRxuqsh4aUIQv61x74VjsxkVClqyKg8FECo6gsMX/Ft488tjJNVTMaU5bMvszo26YCtbuyO0Y+7CowgoOxh8zJPiv3jsF6l7DFSIsCL6L7oXw0aLiKqCpYEp1+Pdim9CinjsYCXGWEzoVsD14z6Z6kFH9wtMMHKUbeReDuj3F56SLt5k3zIh4pC9sawCG5Qhe7aeqGi8FPD8iNf/cnxQM7eLu9auj5S4jh5dJlAyxaQzWeFQXvn09RTAG/6nWwdUUPXFBAjZcKTfCFHRFSqISI7ceFsWCfL3LQoLNOsthsDPvp0zVwDNQziI5iHksW5QrHYvDeheUQ8G2mEB0f02+GgZxHtstiWk0c12iVhy+My+ElY4CDRcqZ7GOhR7KT9C7roUbuG+YCfQnINrkM3KCuK5wxL26cE2lAMMzYng3aYUw2TqtkKwE6L275bU7JFaxTSei0LRjVtXe21XATWk8dBaW600oxhEe7NKFbynSXs7JBDrJ0Qs+76bvBDHdLLThTY9gI7Gt9FWxJE+alLuqxoZ8xWeXA6KF14JMmWQYgmON+4JrfSK2JNF9ExoYYb7CbWH7IC56qFctVsy9Iup/l2fz18lWGRaECwZeTrD4vPcA0SN3BCNW1akC5W+aJ4dZxn1pQ9Zk1zGCIuUiFWNVEEbYhbLCBLO/OjLS8t7QYb1Wb3beT69bfp9eu8ySekXnXOrogyiYFot5UwIVUPM69xt3FGdLPDlnBC9PbfCmSjuKPPUoZotqhe7YxNzuoVao6WIypTQoZ4EW1dDWDXMJyy90jDQmYgsSZEYeumWJuyhXMsQeCklweVuXVocTF0JHDoWp+gzQzbVhHoQBorNim01xZ9yrmYlT8zbtw1AT9PCmTwZvQRSVPaOTWfEtRSoM2nvMW19yjWlXiloOYFfiZ4PptXJWxHYVMPfVeaUkkgxWB8E1W8/WosA1Mbja6YtVul5/EojPzbxuJ27jxhqESY1ZReUet1oKENpThdd5mkrZBrEyllPWR/HsQ3U6LAppD+1RzFCSG6kHzm627wY1G7Zc9TZQRWQZmgT2cN8i9JxCF98T8kboOrYbjsjgEwqK9ElxcSrXZzrHC4eg9Qzmt49Bsb6iRlXs3ASy7MjhYlLwzMMVzpbvk0GM3wOp2nGyWh3ebL4uyxpua4e0Eu3L+AwqQ4CEdNjjNXxqRIpa7Zi/J1ZMsVT20gF13YS/VTv57UOD178akmZmJIaauawZj3Cm1r7nE79p9OrmhipYrYIOoazJYap+kFTrddP9qwJvRm8P5UOi8zB8hu+JUtsG4lX6MjfX/3j/aIsju0ETk2rkWiEGv5O5sixXGxsa7WsPlgbR+E2yYRjmm27YGFGAgeW/H930Ch+/T86RurVY/opAxgdVR2ZZQPdAvTyYAYPOpyvskZGKCzs97/7kckED6fqqfXz4ZkiTJzDrLfQLlQ2nRbKGclIJCOJd3heTo/0T+hdmzuUfbVd1CYdCDPwF6eLIGHQOQ9OD82GToVmGvJ7NWmQ9Oas+b9gkHlT+LtnOmd9MXZpMl+4KUmlyxyH0nvjJPDBgEYoJNhRuawIo/lXKUFCqjydBvBgtT6YZpp4QxZwdeCMmDXG0z5pAWTKV3IaAOyQOy3/1jQVYtL8A17pTp1x0qSRdqwfL/uS6yewW7cMqFA6MjnWWe56Oh+9ZKHsZuKm1bUbLeu70VixC7xJGidlubF3MwMIOgPQz2hZDa7Ygc3FyLCDqnXoR3Mp8/9z7sToSnZzcfyqF/S+lXA9DloHZd3RaKoScPCui8HkNbsPgcZgZ7Eg60AQiNefA1SVsdXrB4wBbnvSPjed8fwafFRMRxQyIM/MzkmjeRsssdWJp/22QLDXItE/gTMge9KwrSaKHQ80ZyC6CwT9iN++FrzOTy2nnATR22b7Ter1CjaAggrQuwSjJEoP2/SKEZEROtULQUuJKLfEcu338VIAYnF3B7HL59FqmBJOLoz/UozpbsuYSasqoQoYHpiKf+IqJCgDxfPhGYBKOm0KVMamCPo3Td6TFXzMXONNFssN74Tvyaa1bW87eniayPGBQYM74SPNW0TH8s40Ff0Jks3RjI7LFBay+QUghZjG2aSt3AX7LiOK+ZVjUoDx1vjLlo/RX/fV+iJqgMH4CekZS+sMO3DcII4Pub4PaW7Cldh60Qh6hg509uHYH6cAEj5EUrKRJxprR/eknFYK/ioV6UQHvIUq0Py9nz3oJNcchnnTKDCuUpXjUmyP0mTf8bm4IKXMe4eput1WqZENhU4Ou3bxw7QkQRNMYd/aOFDiSIUarXTa2+N78C61p4Guuwsig1nLNZgYj60dYmAj1zLa954+gAvt+jbtmNrq2BnVkis/Ve7Kzmu7c/RMpN5RaE7ppDmdb6KiWM8asHGjcnrnSD36lGwfUNf4zJIbZ9VEFMQPdgBHid9r6Mjgcz7l9RdSJPrSi770g6fhTotO3Ma9JgJAaXtvqt5O2Pd+XBCSxB+WE+5RNBPQN0nOy3Y2m/ZhGXu82Q4gFMVsaWztOMdQ1DANboWzD7iwzY4OTls4TKX4dMR1ctDKp6JlY4ACtasVp86TKLcNuWvI20r89sKYKXj82uILRdthll+Zl24aMMP8jH5h18G6XULLR00S06Cjz+QQDQkp1EOrZr79UgQtXslM5IVqYtuq+Vo3OR4MZwyeyJpEV2bf4xhgVhavhaExmOT0Vansbr8kqfURib8B/XL5FDNAeu1sWV8zgYyeMao9WH+FksWHqqdIiEhimNtiMznFXzFMVoDGXUGoqCVv68j0WnHymAXqtlpXXnLuZgiPTkZnvPwvWi4nW1x/XYbtRv6xmu54w6a6N1bWjhK+IWApb8uR6o5AT5Fv3msznTk8I5t8K3k+CIQlEEqzDcy7OrrW8ky2GFZxtJtI0kiRPru17NVIQZMbXCQAHIEcT6bkqU/TFv/4w/BRUJH6eaaHCsuRivlcuchalBvZB4f2CrMW4pXgfHU5T1UJuVsEZA5YcK/fDt8rOXiAeDe1aynjjd1dHmlCTrmu8PBPEp2qtEUP0uCXpEKzw764VmDUH88HpwAJNMG8rCMlWgE+C0ovNM1fhd2OWhNYjk2aVIec0rzWswsPGYurLLaHy1cpgqXhgvdWAgOrIa1EGqGucTrrFpDnNNr4NU8hbe/jZ9indNQ6NjGKmAEPnZvkxhPg4lftWaY/5tKZGeR8v4g7YgLZI3LYxwDwPCkqDGNZce8+l4EU/YdbPId9JTdY4Ium4oR4RWfN5cqyf/TYW8VLGXJyqnpVK3HmFUf2+SpRg8r6bKieF2Edq7g1JCNwoc3OxPWCfJrQsZM+CHNCbS/46+VpJF8rDdEPZmCtgsRxw4FNRpMywwdcon5to4RF58rEzwFPCjzbVjAAat6544wqm/nzRI7/CqubAyLnhEJuP7T369n1O6U7/7QNie0rowwcffFHZG0695w2m7aMTv62R5Oh0vGMPjxi1fmUBxgqfIJvV3QrqZBWoao6buJ8WaI5gBMx9930psZ08FLGI0/ytxfKXuVNLDyNMaLhigbcf949/12HWXkAFlbzltx0jpkwqBoM+ipayvoqs7GhuS1AXtSvB8SjwypBsb62mYOfOMPDyYslvpxV1ncLZrkId8MSQpiz7Y6YEUCzrOziCIbEsq5Wnr17MOH/Ji7TRhkxXzyj/972XGVtX58qsSrLDnT0Z9gYkBlMfcWXW4//sTsouq2UQv7n1xrQNOymNEmxRId4QtvsHxqbTHS24EflqxcubpGQhJIeXRssDw9psdMaUjf1Fwiy19elgTmRlFQcGxByeTeMlEin0eMCzTGQeIoLbk2sJt8X1P/iU1WtXt3/o0BSoBaiqZCj753+i9NMPM829+jDVvkqvH6QrD4Ij+rSiIwssrq/R8I0wwf1ciAIZqHKHd1prVeX+ZaGouQFlvGN4DEB70ENSk+f6efX00Zp19VcAruLe3X6ZqkpjK95qkzGR23llglf45hdK83M9HQpbr58yAsmJtBpTitRTaaDs9lLZEJ/q2kAZGOz/HjJuxzGRjQz33O6FUyTiZ4T6xpcLhXfEKcCIHxSl/OyoAUSOfHnlfFupqRnP1i9yIJqvO00tPkHqno7NXt3df7osrXQZ8VzbAwmBWzeBcmxYMi1UGKpnPagI0HLcVtwQSxjIM9oow3Y9CYi23wLjIYfaA0xDtXEQb7GeVBRlAxyf+XuRXph8qLSwHTx2c/f9XitQDX98yUdhkqLkoj+r2g07d0jJVIgVD0p06jte6WIThrp9l4X8oB9reJn4XE/d4XxmSGCntsdq6QpzgJ4Zgi4F6GrYSpIF3uLgDLVQGX6PXjiC4WiiDVITu3bwzrVUip68b3ICXj61H4zAY36BhyjQazhxkr5ZmU7eadZwvQykc9DzDuf+E1NNLGMW/EzdsP3knGMwXJ1JyRy958CQeKfXQYZBFVEPGfEsHGu4/OGW2AN9b53nJjRMAcUoqwRBQe5SBq5MJtrr+xKRusT2tYy8anyIyN6+kMoVHqaOQBCNr21/nFJkSmrXEHgfabV05WdjkYnHaCZjTC4YdGAe0TdH2PLZG7YlcNNEC3zHVQas2PV+DufZLlVNYgRjWvplvlt3VnFX+R2Q2QbEb6Fpk1iJPsGwtBo+RMFUNU+TUZZitiZ3a+zonhyZ6zJGzsIFtlrtZMoXHEJ4OMUz5g9tAvMdNMgqTgkjuirOgVH7VesE2aW9AcFyi0F67i/QmjkoS0mDW3sEtUyGC2gx+jxeYHvKHVMLQ4TqzAoeBhJ5IWgMinvhEDx4uSy3UVS4INqdPyPFfjFVyVe2d7INE4zJSIacVfbeS4wyb1hTJCSvWwLkDPsglUqr3GVe4QCtqQTIXSzqbpxQWYrPBLCIbYyBLGDlXm0//eiuwmw6C15H2crGMYny3uymN4F3Tr/ITxnQpVSOhcBEznhJQ1Of89xuuCuQQdWhMeCUcLvNqrI0VLXsXx925QPRgS3aN2Qn+x6A/u2/VPsACsh/FavHNpoynM63GYmHg6Hyw2GzyTMA5ydN3TnbedwGjxychIxQ3gF8uR3Nl1cgy27yHrlsLjAUsebnVIDSgZMUj++8DB8Yw4AWtoKceo+orAw6SBQA/GNiRoA4xX1B/tsRuRTW8GOuPbCYE3PMar06AshdBTOsMfZA1pF6kfP0HKFn3go5XOPN/xBSAhzCBAuQqj1cK4cCPfeGDuIu12/F8kkVJhO6GFc9jDLSy+ggCXh/pFedSwT9pKUxXLHPEySCmR1CYAc+XkY/XSqpq5O9F6skySejxlPDBxCxDZUv7zE09P+1LuIwOkynI4/HHSo5MTNVoF/hMgusntr2w4v6NuHRdJlLGfh+S8J91XQ5udYoWACemJbb7jWmFBRX+gFuM97qjqYAl07BJbijo5LCZKYz2NHrfYFQgLe6VHsUfWXDjyXv3rPxMN/35zY2QTCXG143M14rFRcnJBxjM/BbkuvTUW7P9wRBvudvpULWEpkRD/mZiztrNGkBWQjPX5SEPlX6HRqR++NMP23U7zfx6firE9XOawHvf3C97gBRTT7JXlB+tgUEafw7t1DZYPlOpNzG+5GLIW7nq9GLsNmp6bjFCCUZcAcItYaMMoAtooLq4tkCyj4kQU9pHtngdGeCF/pHZLBwSkzuE4mQiW2gvuDYXtFXthtKiMmc+Tu+mtDl8SNGyNPFju/M88fBwo97X47OePkSXHZYVMf0gML48liXhM2M85ZowYXzFdRV1bqEGHlbrTqhpuljcNBmp2sPdHn/ZQ1Jct7nFso/wWtuvakrpNdIpSOisv+XvW4EGikKi8/LzKRO04dFL2AUrpggT7aX3NV1+6taR6FUm5+8BeifNQhjYtOXRYj3ZaNwaXdL7Ov6G4NwXLzQTPmDl+jHhjmtVURuaChqy396HJpMCZiefscKiBfCDr1UETyK/KdFDbsJ2F2/H1x8PcJ1U1Yn2W/bJyALOxP58TwDO+DdAZ3XKNznH6g9J3gqpNEuAShQ7nX/tP1QK/UhjUeprvlpOVvQkWD7PEpr/bb/UEaRX8sLkC2nQvf4eBIrCRbEuNIEfjBNSq81yGMyQd35nE5k4SzGY8ez1bvXxk3GuWTdB08NC3/tD6AlIKPLaNSNkTp+wKLx6vd05Li0VgQTKbTLvbjIzHHPcgxmiS2l67qYDQRZlV+oKw3jMT2IHYR82OVtyytdLmIXNvXOQppWa8QxESu7dEn6xoMIlSOmlmOFkCoqaqZd0Kuhxeq/Amv2Y92RbpiODrT/UAQXLP8L0pwpu1ayLXRrd6gUUw0sgS3zHUFR1Pj4aq+Ibj3ktoFts5uKn74VEUVeJnGZ+WVNEgHIAWGcf0g8pZFwzviw/aqiWovEDfpSqFriNL//jTA20sCc929it56p63HuTQjXlzT71phSuYPgBVaAhqJ2t5f5w0qzmecU7K57xrwoh+ACYG0yV00ArOVj1eSgvt+7+F2yMqZdVGGRdyudDm5l57INwn/Fxn6FOJ4Z3pWfVrvaIt2KWQJol/LYBJfSOQcmq3DMcCjJ0OpSpx7aESCH4Kg+MJAqIFAaSvpmoQZbqxQUx1qPm/GK6Z66l6kBbaioT8e0TiK31frVcknJPAzeGA+h0J+x7JzjPIjOSD5zFsthMMCYd5fXzxMztW8f3uUeO8sklz4DrE79lYKwJeyaXHwxQA0vqiyAmi8JA3EoVy7QMrjpq7FcuSfP5/Vn8KWJyRnsCwP6riRHvb/svLJ+toUzpowSWUWZ9PGwJV6UDfZSnqxs8MwXujJBMTFTZr/YZvh5GZsRwk14TLwY7LZhoQuukQuC7Ei3lt2tmyZs3xtbmaHolAQHPg7PzJoQll/4Ujh1PYPVsHx94qzeQOTNKlL3T7xc7XoKCeMLEG0WaIrQSy8sJCU22GXibFDg+ExT/aipt6stcsaYpK2QLJ+IfOd5p3estfYd0YdsqTboPZzaZkHqkmj7uBr5FX2yJCZZ12AQ44+QBi+mv249S8tHNUcePIkmYCD5iz0IADbCNCN/gQVUVGxHmyzLWeRqhmAP4mxyvVhduz9gRofWw8xZ+jn9/flcboHo4rULCHA7hQBNtBstrRP6Xg0QK2jboCGcICmL1VGiOluJBLemIZEYLLj5Lciv595+kXRmjLLwZBM/KM872KfFlk1g4cbXm+K4RcAzIeDZDX5BpQBXVXlzZ4cCWrs7F6uno32cj0FlhlI4n6S0kDUvs5/ur+q4gDDjNWuUvd5iIWBhVgqgojfXK533ZoXUfpGaqbTcGg48OFCqMo4A14zLO/qR9tMWGWrkdm0kbBH3vOF/Yq4aJzof3xx7xgiE30X0gg/by9KqhsObKQSn/joFamkekkKmyTDWZq2Ohs9YA/yTy7vWZut7DRqDFVNoC/3Es9RI4qAJ3oqEcbxuQNPXQAWsUT6tkdxc0HnpRSWoVK9t1sOSKGKPQi5tfQQpcMverG0xnFRbi97pDbYJgvj4x+67DcfXFSWFYE5GodL9o9pm4Yw/IbQ/zgZsGTqYzfUAn2puZ/7aEhV/ZFYUHatsFO19/y3QSjwPoMcR0tBU6xnY2H5Yng4r1oF1kHCPOlNGbP5lbZn+iJtFBzl8X+3IBL5pCFdL1EOlxoDnMbmScvUPXAysWzX57M/v9vWBOemb0O23DhbVIfibvL6BKk+/OYOnQpT6mfdiFa2htf7beQY4tKTI4kV/dd9QKKM7kO7RhnM5LMIutDNtaGfsrXQBOcKJnJyiI600p7yf3Hubq9bOj5UhQJEFZjDg7LhkVMtYzqNRey9CSmhPAHSvlLdtv/iXtl5Q9GDh6H+iK/6+NcbkO6ZtdTEYYzj4px1btqdZEmZF9v/+qR21Y1SdS+8s8MlyVtToXuIsE/1apQJEhVFsU2G9lU1bzYsZxSMqq0NfzcnlY0LJOtVZQyCoDxCZJFxEd8sVq4fZrViPYaL4Lwbl7KUaEU/rLB4QYIhweh6xp/jWN+safo3jdUyQipq0hDxpfjzze14/7lRIXhk9GAQNpr36ruurNpRCG0pDElcmVUbJ6e6Izw401yleVnNpBBsxO7+OMH0d398vgZIEXiRRQ1LKfF+Bo2PFj7n1HM6Sio2BP02nzrE22FWwDhDtbJResjKLnQtlAOWGMlXgIhcmdW+kx6eO8VubBP/IpmU9IAlCJrwMFVMLXM/KlJT5h/EH5/uQ5ppI3Ah2j4FG/eiZGQh68eOBhfJN+8VJ4WOgfvASErF4H97tGz4Zy1FQ2iLZwagXjcKexJwqwz5zOkY4U1s4i4bX3NLRI/b+1on+idLyLFXVZJzMWCrxe92u1uslWTQ3opIjj3JPup4tZ2QVeCpa6eqgV2uqcQ385NBKwnQ/ZZIOs6t+OIRjl4TudHJPxFASgShWEZ56hywdj6j83jFXJ36pIiu9sPfDibRRNWcY9PQc2VEhWPJccDamrv1PUZBicAsbanFq9cRnWWyUy/B7EomCVuuyMyqqmstH3qoojSlHUUIAKRup9Ou8HiybVHOwcQLYyDTArcbl+KGn1pU0Inyn32rucO9LnBGSPUpZe3HVPz/4seY2LZs/FpSqik7Os588RUAW1sg/7fp81I8jVGdY0MjqIsUHBf96x0doe3j9uDY2dX2U/7SqNTFupfVMmn70oL5G90X9dQlOn8MuPOjMz4hyMMETvhzp1BpqV/XVokpaTgB7wUnAnFmpSMu/tkeG9DszMcCinnRlFxiN4ZG4i1sEmaJ8onzY1dyQQ6tFILqVZvbZfgxtVgBm/liLThGiD823HTAd+2l6PMCrpZEwUE/lw3z4Tl3VYbisNN+lzZi6b7HJRHOvCjQ8PN9+aEZVetzvE3YZuYt+bryd+jfuyUanG3rgZG3TWZZG8jUBRJ63lGPghH+34gW8P+FusbBLZvL4fN5qSaP6hVEP5fu065TMBnesCFul6WZ969GbdqpbxF/5YIDYVqlC5D6mg+i4LP8C+tUbDD57GI5M/OtooKLc+pPSI9SMHLUd6taTOhMlr5ejAMoPXYHDfyfsn3dBxBqwzvak9MHG5xc8z5go0VbmhpYsLhJzpGdLtQ+jqn4adF6It5iJQX/CV9dTHmwJLZRcXsLx44utcw0asBWWjXH7kGv6H6OWxQYCyvY5ABEu3AMWv3mKPcPG2Y2TjUfQTGLfWehOOr5AWCj12FbUhUUDCNjVO4dLdm8EtHQBQoTZ6HMzdkllmu16r+V+gFJzYEnJwZlx8Vy5ickzb3wXZuNdn2YyRH9/ge8vOMh3/Dsa0b/1zVw25UHRz3sqitoShb6oU8192aSy3e0dQJfPYMLbnWBUIyzI6xB1YVQYvngTuJM3gwWCgNDoVvpXeZGGJQrtyQjIpfVDX4okl2BLKCE0sWS1TvsnXdLW/ChBnQKtyY7v2Jsqw7MZWNI4AtIu50gimE8AfwuyV4YJlJAB7RGV2+LrhpDoFlgSZCWLh4ztuwIIc/p3e0ZQAuwQTWz3zk0ZiXMaG4INK3kUFqwoLwkCC6jpl1dSzwDJBcGRRDPS89MYuwdHk6kEuyFLjkGZbO99iaOQwVQKzriy4vC3F5d/jN5242jKjTrBxyoMip6ybV4No/I3yxckJL7cWmlIYCJesJXev6eMo3xg54shywYplgJ73c3vjmMHQxY6+ltCHiTpiftxZ0rkSCWcyK2eSJjnE+tbEpUXlor6WxR+50UGE2YoA3Ktri2NR5lyWBCE9Oak3s/d5QjBGpGQ0F/qfRxG6KC4EKBWbx2UGSnTwJIh+9Ezl5gJ2oHu9kO2lSEQpSfI4hhNslJcpG9vxZgZplnny/P4Jhgl6EF1j3CVa7xyX4P73muSBzcsMACJ4WaLB8Q2YO4xlZkidqcgPUQYikBXhgRnRGVCS7WgRiS49PPBAz3E/SPktCRGPtv+FwFqFZBFet3HpH3K+zkP92dvaXcOwH5078sro/yxC/VY8BUCYNyf4qzBNC1InLLcrSOnpkaaCjMKBQMo1VXhl7j9hF4c2vsaFQT5vKrxty3HE+6KufaW4+jFhrISXNv5Fjk8xv+/6pGKyQE+lP7xazr5pelQYq2RL3OZ7tyJwVZ3t+KOcn1N4WTKXC4Yv4CDsIn9DFSqGpbpGnMr4JAxSyt/sOF5oDAGUFRuhZMljMJf6NMTB0a4RQwzdbCzn4Yi6y392D2esWaVz6WRziNNycR2QeRILp8yb0rMW9WgRUlxttvR5CZVnarSB/7lMS8daax51ayMnBn0uD2CTc1IyGBkiV2nHRAhPMBvwA7Kxvrhxhp+fE8afH67ypaLrwvZfTPzPQ/G3nbdIRDoGsKdAe4aLgT+37e9Q8GnLiny5r2gSOoFCSCEUiSrgcNZwBIKvHktFUggcwizkywml6WY67V5w4r6J7KGHPdUIwkvFUFy7ClNkxeJhMRcwU+YaLY/stV7IVCHXIcg2siayj0LzfvMHjFZvCkOX0ucwUJTPWuQQ4gR6LOZOKo0YbxbcmpbqHBVRSOt5qSUAQcewWU/oUe9MgyCYDZmXE4aBtGf0v98mHoec8n0KaHtosGPTyoZDhKMSi/p50XUYINHpOmKAhioxcCwq7npjedtmDVpqJrcDJXLsHFWLi9utW20wfwsG3m8rKfuT8ANZAHEiabWJ1sS+td7jVwt3z131ANNhW+Q60C8wg1su2vXCEPtHS/HHAM6hnXNI3WvjPsYRiC7SobnJhylxfqJqYixNYHRPM7Wyzdti+GbGV3hDjDjzo6qDTgyRPrgguZ5nuwAo+QP36Et7syCWAnTetmRJWNwhgDiQHMQscLKesdB/D7Fj9c0unjtVFmhv24Ej0dSSN8EWQZSmhOzhIETPfkvMrNVwhcrfjYNPGvVGFd7iPdbLegNP1jE/uoBOo+grY5G18FWvcZQ41ABspIq4Zh0ymK5Ju7SHefyrTNbkZMHlEtGAMFmdQ/4JngiPaLybwXMekcYxry7/u2ly+x+bT1AJda/D2CJmF5LhCNZqDYNyat6qEhqd1zfPy3xjnniv0evDXdhpF/FfkNx+/56W4u67uPwCZUdV9BB+viPUCEHasKM69fX3XbHcBd2Tz+pC+SXMEnIS2gGuUqDGhTgONg1IUQnknkVLv5+YUjoK39kpOp7FzxV3fhPnA9ecgHUXhllga/vl7JvYWvcwwhcX5skcQ4q7xJKGuhuBwBwWuiGJMTdYqR8kMGK+RzRGmgENiRUotc/YnC9yM6NhhWplVJgwO8X17LsjRGvfF5X7oXAHldctw+494ZM2C1w3lfmuRO49EhuI+vzvciW9x1olyFCQXpDYG9niAGmrmmIdzIz5wPMq/v0p5lAXX0nHhf4U1LBJrMNvpA3Me6215qZ6mV2yQy7K78huRDVgMQlFBWj+cD6Ams8CgXS7ut8iUJxDInexHqOVzN74MMOEMl27ebEV4gNVC4pXLiWZHNtj16dvn91h9VlD4u6Gt+3sIoD34KYINwawdWHVEmW0fF7ycwkPE3muuYsVNf/NU2ZoxYyIfbcVp3boXS9r1cOl8N8FYtyqdlJTwlj1ZsKFecZn//lch7MydyE6ZPfJ2KjiwlNX3Nhn1qihEyTHdgLevoYNfrpO734I6Wrowg1wQoHv4Vk0/2xerucHg9GI5ly0rqWMCw+fumYF4eIZt2gRijByjjGbGiZfS/kP23UEdAGvqGj0H8NJqVbzyhUzPPrkURTkEZmPPFElB2kKEOucT8RXehmFeytkJIoEiyM93J6zxcWcssEOuPsfA76QiOOiZTtjLpQKRWDsxOSPc0cQjuPRpNeCl1nsvOueAySrKuP4OHxKd4fTID5zuPufXmyk+/T5YjiyI6eM0ZbF+YJw3z8HWTGwMufiPpRCIZOg+I0vNw6vB7rTDEd+kxyRa8oeXl7++0Fll6ZXQu5rAPrx7FWtRbCcMnWiI/CQuGqa6PxryaA5Wg38m+2HeXj1wMjjrGhAU+Rgwv9zipWA1VTCt7Ocq7jK72qRXQzpicTkPPbE+CiObD9FfMEbuW2KjraZBw9HQdL0OwKwBze/o7mKcxp8V6EQE+LKSFfx6jZ5pEZ3HLihUp5gJhcimPNYFDMahEMbAMcLWcM9n730JkPk3/XX/neglu0TXX14Ef+IkWw+jU7m4zv7AJCcm6NfXvtleFVlr7+XibrqGtMreyz69G6ONtLIJubRuehJyf8LLxnM2I6mNgGrfAZN+zST6KxtCn5KUmVb6wPQCs5V+hAfyqemNE4cNU8TtkE5jOziOYUUuls1yOBHCAM+S86i6rMJQ/Lguzb5LG+om+lwUibkkbGTmmSj85mmKe+Osi6fZhHX2oJSX6pV3Aqh3amS3hFuUS0Dpd/3PcZJr3/7LuGv+Bo4RrrwoEoh0L6/zZO0ejY1xyo2VvUiEvJX+ToCkj4VcZBT7f5L1IolYp43jxLO4+5d7uz7ngHu1aqauORiTtBy2T65OYpIhVdJorH7JwvAak3mbQlkLTMnR6PMgj9EyVF7I5vWPdSXU+Hlzn0jMXNcbrgvcK7oDUKBrHgdGR4dOJZ3S7WX24+IWX2AHs3imnRkgMZuUzgrgsFTOPNrZ4WHaC1erXZDUwcI5iwXj3jGjSSNbQ0rFt8MpwuK3LI9tXniBQuggxoHzhBM4htWv/uO185oIHyw8lPB32rauqIqOZlUEtN4Tr9t4x15NVtdiSaxn8tfCsSklMy6NxcZp1fsMWdkQg3dwyL+XoCyOgPo8uQ9yb9OY3ENNiozkqKOlbvAAuOd0YwBnHuDnrls8NGFSBQSzR4ZkdbUP4A+rzqJdvg+ZOiNZx7uMjbUUW0IXdr5YiRNn2dcILxtx3L3VLTMjrBmPszhPOZ/EsrSN3NAmruWrewbMr8egGNtkir4d3XOarY1FvjSy1B19yvPNUYEWx0xPZ3lMS3M9b1EePwQ4+NyIal24hFYWa/ZMsUuC2d0+YMKq9goEwdVWeqOINBZpTAC3AnTIt7aSPPl9hZUx56iNKr+YJcB+25XhNcgF+2sVd8V2Yh5vApn8dCQGu7LpEPq7XmTqujMMbgQgTn5HrRxZmJdzyGaDE3kLEcw6vfeyhaavvNXaj3QJ77lzML7Qql38g/Lgdv7WOAMRAY2pZz9hljPPRWtTbcc/1tfyKqapHeZZUjLuZwC7tF5amGjLARwItN5Ytn8lXDkXT4PuZsgZY/f+FQM1UWzL/yu7n+1TEE8ttgbIt0rhEeS+33n/TuOqLrbYMb4TSbc+9otQn2alQzuCIThZsujMFWhYnATjQG4CiMpbhhzaj1TWv17OSR121w0KGNlodMYVEspenL0JF8zRctUSs9H/TZxnj+XRFFE+fc2UvNz61ECsX8KntXjaXfDwZESZ1UuiS2eSudN1QJNc4H/NAikawUaNVBWd8gv6dHfjEDsBhNBed4jnZNm9RYkAHoiTTofcIJLFErKE9/KKM5cWuuxDjIsUiF4GdEqx5c/zaFaj3xZDGhfmdrroXIvXbLsyDfwDy5e/URoU5gKI4i/ZeVR+hGxocZG1+bkENwSYL8W1TbHYLUd67On++Sp1ar3983mSSopyJ8cbV/nW4X3146DkY1Rnad6Rt/Vx9gY6yEHoEXUzK7CfN7zE9uOEPU8lCCE9IN6giwrw5lEsVo8BFF2p66L28OXwDPGN1a9he+9R0uJRp50B3vH1pJyDAJRmoj+mIbUloqhd5QFVLaZdGtlEJWgzpcLPlZ/KzrtY3WtXJQR73xLT5FYqL0askqqFWvYQsAjzvikP0aJHdRiBp+BDt6YfT0AIJPMWELXUFx+T/T/TmmEYbP+/jsdKP/bcyzbcXFkEmtzyh1gpWg0Qk/afMKvcnNq7ThUdjFoSzhlhPd+ztC3OmKENRVYp7rGFiei/EWChYStBvZv0kp4bOFbNSykOy6l6vMNoTq3h89riJ+LfsaAhLG5T+NKn4PYNN5Esr7LheUVQAA8oI3oCyk7C1avTcOdiWrWRuAYsFmg1196cDyN6vwbUAiWkIJbdMUVa5snP/nyJwvxocu0mopo9BE96L3sfUdHFjl/+6mhaYmP822XJYML0ONKibhIddQhvd4HqMh0P6q8cHdKne0WVr7Rb4NTwLloddO3+HcIu/lyt6UKABdNyeQ3Vo5yys4nZXThcS9li5vOKurimznmWB6579BlGswSnYhPlqGAF1L3fK6TdQCT9aAUr755b63VFoi638nBXujAu8/vMyz33CaaNmu3R2Gdm4L/5YN/2KKCZsU1sdn8QAlzwQw3Wue6h3GIblGMZgAXIrVGYUwkF2M3IPKI26Vapy+r2pzRmau8FLgPxwLD8z65PbHc46MDMHjIiYvtSQyjKOxdPXbTmonUmh8QbwfiEQ2fLcjCqKnk7KmDHii8tKaaeHUmcwMqqjzP0lqE4pKo8o53S0NKjOYObqmkQR9+PWNmlzeqqFeebHWTDKkhQVrgI4v6k3grFPqZvaCPZLXVZwZR/t5yaHRyWOYpelTCoCpcLj7tcMJupEJPAJLtEdoyN+I/Xsx/xB9VzyVolvFYwy5+86nb08hTPHfr+fywzl1hE/gZlHNFDBDZvaddPBImhvoLQ78L6+hhupD0IRrtLU7O3HDp1i6uZW4OsroH7Z4h5zOgyVc0LVkjz6i7duhVu9dwAawVfJ6bdhEOW5YPcenN7NGWLpHpWakyP03tmnkQ8MX4hTYXyCgvlDSQhmMVWpqRD1yyO7R6CiCyfGHdYkSnYQ9gZWvOozFoVHDovJbhEM/b63Ew9MpNj4rgpxSbIl4fx5B1j7/2oywtkYQ4bU5TLnFG+N6CrkeXZhweMBTcCfSOkCAnZQ1xMDnpGTIxfWrabKftM7OgZVjjDhOxTb/4hvRreky/qpKechr0W854ueXhUu+10mqrs+mB+m+CYNX6V6RlGSVCy/YZ3idOIGucSx/6qrPMbkrCRaTbu50uanLATj24iKVEyFVPolZTV85L4H+h1EfmgJJb08EVQ8WaVnXKdi/g+pH5wOPYE2NlHkl1YHFusWUqEcjZddk1LLvqLghL7iKBRQVKiTJure9jnSndQ3zi1RSPrmLAnASkTGbhtrr8ArR44Kn1NveAOuWyEH02zDy2rOIde3RKu5TKHAK+Qz/X/ipRd0dNHGT0cChgia/Jbn+joNGOrw8CVvzev+GpyHri0aPc6Y0D2kyLrNDZu5lt5nXJwo5pFJBY5w/5la1fq/qFwzD3m8q4lbOyqbreLsw3ZfexwkxDPxK2rv4LzJwhl6TQXcR1YYxUoc3VPmbFfWqiP2rowYYdVYDnbM89o+znde+S8vi/wYMMcmgZJknM1aYICpcoi1uA7sxgaEsLi3UKW7xzCcvUI5jlkFYGlZOrN1Eof/bmnk206XHrcw68S5wmeQ5oEPhUA9zDXdLSQu/XU611NzqjHGuOfyt1DBC/jJUvC1icw55IPSOkxXGGNk83QyJ/sZ6BhpU/CiF2KoHwNB5TsRNLiIcJrOQ/javJtjc1EDiLzSS2CWyC6LgFKj51uR4n4Xsrboe3sS1WZ/RcGahNbrgnpOFThsnQX+pie4wI2jEZgbo3f8ahQqv9jTSft6c3ysTm65Z7bTlw6s/DpFUheFo0gDWTUbo1NmlXyEcGtrTHtgNjOfod+2XZQZDP7TsN020wtL/iTcffUqNn7PVSWb2bm/KT81hrQg+IevihkHm8IOWbT1uAadaHBjiD42tnnWdD9HnyAJSvvmmevfBcQv3fUTCEe4PrQXpXwoTnmDVoGxHtBNO8yWsnljtr5SUoYpFbbhM/9QNVHfROaOR6fnSPczX7kisJzN0DnxGMKF6MnctiS1TJzEIh0h0Jpm3Lf83uc00qiXZ8YBeZDTeuvTu5MnU0T7Dou3EodhxqL6jTFfyxKDgGAchcduRrdsWx/SZlj1HjEXbkuIjFg9xijz8SrC1PGeeTgOBI0usc+sfgz0QszvSmQTgDmWaZj3aj4vmZnK5XzBjCUGJvSk4gwqHYVEJ9/Yaf4J+hZJGlKIiX5zurRnOFCnOl82PP+2kDx8wKB7EZur3cfngo428+8KGIQzXzUjzEIqedG5AlFu1cdLTs7adTZEDtzvjzuBW0mkObagOtBYc0lhRB7ogTNfiNWvZufTFUyuHDLza+GKB/+H1vs/xezWSywTn1oSB9G2wiNHbgVFPqjnYOi8+B5ut5F7Mz7MH+lR4frFiF+ld3Y1pw5Qnz2qbrtBEkFzV6S9BP3JIHOR1TF+fZgzSKhQjjzcIs4ZVcCCq6EIHtC/p+FLnSSflZdt5qLZpPVJh/yj6yEmn6cNTgTZCIYkM9gWL0hsC+YR9FXiIVG+KUjuX/owUZA14xh+7rkO66eUpL49mDehLiS8+W+tF7cGVfJOazMMuPCGC0/YGsJYvHgzr81LS9Ce+Fich92NQSA+vG7yCyZYuOlCqx1f2kx1oB9/ZWdDdumglZ+TBu63CX72A+sPm09LItbFApjOf5SJNuwuicR+pjL+ep2SDj50GgWia7Wc3GybhjojQFMTGHil1Eh8WxsB1Nx93YkqacGT9rNEpA8SiO0TrS5dMK1mm0GHUn2mP+uCjem1wqGsu+w7jyBS9d+lfD3eqoMgHoAvB5XNxc0rNCHhUmNohpSKXtJHseuQSfpiouGktZO7rdxrQeNZvjV+H4HZqlPLoWoooCa6y4rKa1mUgYLDzi65/Qdrx1fL0EqfPQZU20RhneZZ92tibTJx7QlRjzymLvsv8M5swR6mXOsVaoY5lkOMoJhRKFkLWTdxZkorGRrXlf9BYw6iumpCA5H35AjX7+93S8Hk2wC9aWbZbAQCAqKRoilAZz/WhKcVSLhMeOzDkyqLxQqBTiPgcVasbbNY7xffz1T1GpH9VTWTFpDo5nX8utvl7fDVjaY/6yMYDQ6B45F8xGsTMjduMOA1jTsGJcyh3uURCDtc0Di6t6NQKaGa15UCD+QTDrU/keO2QeniKkgqlB9B7HUcSRsAm9D/nM1jL5Y/kVUWUsqfolQCdHVeHu5PkA4zujhuIGXlJLRYQLYjL4PGi6rb1tdgajQgawnq5U45Vckd1tcexauVyLxmlNxuMVRMmLeCV/Jf16v353S/2JwJzy7+Znc/JE9sHWTxpmU5vA14THIVEKSA84q4pu88pbYdepKkphO+s7SrrUglxeLP9I5W1MPl3Ky4VDDLh721NcMbd9WPXiQ88m8bQfMcgRP9/4qef4LdNSlb3jcBrRkKpbSqsDI3sEg+9TcOHLhw8vhnjzTUo4QW9clYAQ0yO1kBLYEpBt1DnjdJG9NWW9UX8mBm6FBmb2iavqRneg1BIBFJZfl/rOopoQj8qwe94LzToDUobNGSbcpRtFdpbQPkfIYCVrX1LkZJ2v7G/VaSDvu9TJXHFJ7QVP9Ml2zuQGiRGi5kgOvq63Q1r8PVbxz9uic4jmcrY4Qec+56DnA92xiO4PoEcUo4Cba8K5RKKyhdJKyr1qRwS6Pl4/VhZnvqzpq0p+UBi6cQj0N5XIwcFOe0ALU2xLfPp9k/B8OX9d5eGf3u3qBauYuOqlyI+y9+QfDSdqHNespCbaFLzJTK6RDZreiy8V2JEM9mWNpFh29pGk1ez1AYzZTY/yezDVCN/Cb76DUrScUcQeBLFohiqCoTKxv+ovpQOpEqKSbbnd8zwVlIUGF6pon3ssThy7h1oFOI/XWBXaTDjSRbclEM6tuVJJvXigzq18HaM950UuZ5O9o9huNuaUdqAMSF24EtvoZ8cwixQjUrzLJk3K5jf14TOoKiNOy81/iyau4jSQ8FArl4dV+J6sA9YptKa72E39zCb9VdQRYC+61n3YZP7SjDi0HStGfUzyPj/D834ampn6xvOreVoN1tcHTLD7KYtZOm0+hAHTlBdMiHxyN7qENfY80ui816pCqVqnAtufsV09dm4yHMRGKfFV1ZMjFaN0BId/zwbjXmrGc2qpl2ijcPWvZfKmNR4iAmezSVXVJZaqAbsOlpUBtK5nw1ZEr5siaFxW1UPzRkRGcaTbmSajacbWxNH2CKgNUQrGtvWx1AQFNuy7l20bw4eyGvBU/GUekytH1VKYIaix05muzbD6fSEU+OwCk2G4NtMs9umFLjsSg35d31rWGKk6POWwwqre9/aAIFGM2VvgVUk8FNNeFjLv2WxmyUz9b8wnCeDsLrk5vVlxfTgrVVvwpIpwKG6wV84jGOCqoFmKIiDoFVM3KsK9lu+X02JcKhX1Ywi7djV+6p8KygkI2q0n6j7s3UL/5Pc/hymTZG5tVcBmg9Dqw1vCivg2vA9GqZ12cdmYnbse/AnePm+rQqwCyD2kbleoyocwSeavVI94N604t6cwBLgxE60fwyfwpSH+LJxkogaaZ6RwMWqcTt8BJfgVN31PJuAEDNvr7853XqmIr+TDHO64noJ9tB9J+SqyhY1pIyAwnZYrxVYL3VGFx4YAaTPlnqh9YoShHJNsG6N5OiDD89HwDe2v4vQ5+5PIDFdATUnQLvCMFpcnNzv44MCgSk543Qkf7JYZOdAPSl4Tx3nU+rrIM1FEnnIDCNRbKqr31aONVupw+XRSdVkQXXUe5q00Wudot9bDM706D6X3119SLmfu1fFkpQkcq+gNb1k8YRqA9SPjT5MS33k1KLWPXxt4jgUHbvlv00q2lrMf5BGF+dhrj0cngshIE/fiS4TO6TFGrqUnVDbRQYM9Ieu9cl7xWVElionSsBppy71NzxJ4L9ML/Tjcyr6a5jAg6+5XtE1knS05VPJ/gfqIg+wmBKWS7Bjcw+mkN0ZxLALnZA1z/4Y4nRARdAw8MaMKplZUJco2pgblSliMBmse9dKuxLyFhojVOQwLithJvFVhbWg1QHOiAbLdt2CoVSlNqU1oDIGk3SSAmoce4jVarY1t4H3DojNhSu4yLhOihwVsHQAdK+SHxi2gtS1qPX83fS2Z6AJlc+srDA9GoKciUY1Q0KVYkzQzeHf1MftC3jtaPBqDTYWkkZtEK0+RptYtsYnBU0AlYUu1hpYI+Xff1D7rRm2dORyUujq6psxyF9hCjfXbUxfV9AVNau9GpdXe47l7ZvbzyvR8dFDipWx4QeR5xQK0EbervufRnOEFRoytEydyep2SWsvUR/ryFT7mnAoJUTWN/GCBSmnCX77Ewfa7gAjdGhLg2W042daHbNIa37f2o7sjgodJw/xvYKxoGYvP4DBAMZQQyti/FPEdeG1lg97Ted7RisPjRk1zSiiSRjG2WKJAh3/nvXTk/FZm/F5Mg9OXJhAZ5zxMgwiog9wAGvhX6pY54/f9s2Io8Kuccpuy9fMktEyAp60/0i9sCsdNU2g3KwcmL/JEVcd+5z9CtlnDLaWnAuQxuwECtEHiFh9KY6cli+6Gg9BPF+nnFbaeVLF0ktbamyckCPMd6mG2/+BEjIBee5uc+vdtbPn0zcLYvEkDPESrzJeIWUKvZVKZ0Hj/qJHje8cUBKZffJyQQhrAt8Lzx/0YKLwbDg//DApgk34ak/TSLhQJMbK05mBk6BBrJr1/0pjQkIs4p9bhw/cFrEJoSw2YBBPZVFqHmSY1wqS7EUBsUz1rJkdPLYlIXfW0XMXYJUsrEMXKLzBPyvGLPiaCi8kiVamkPlRMIhQo0Jj5PuNJYWPh4fc+MxMYIPv+5ssmMeSUr5BAvCgkYCMDf75I+UgepZHtxqkze6wF01FgK9+51OlIKBQQSQZZygCVZQflApVnqnSC1rvu2ukwvcHVAa53158hRNAbzpZfGMc9bqi67N879IgoRV/1J03O82EkubtV3pW7zkKyhArCbjTotM4S7YLwT75Whbmw0+fQdqXYsdcEQgPaX+v0DqFcEPBuBCqqjlh1Vj84PUzRIUeDN+lBiuqW7KcJSh4WmZGDfXBzpyxZdT5WSqNeJVNMf75PhVG37OGCNfcfj0eyGciRZDItfQZcd3UVVlLWCXNB7XCYhzBAfLRfg9MZjGq+Tx8K094S1h6j15OM5GS904GwJR9yD5i6k1hCktL0roanmKIW2HGeN90hRH7bAf+C6aY98edotsX7gJndDAVTuf6Bn9ReOs1OGTmLvtxId4XMsOi/g4s4GvKmnGltmSbfZ824y5z1/JAg4914MAqeQCx19/ly9zpb0eo77Ub1Qphn3Eattxkl2mKDZqEDMr2tbGqX26EgKI+T81/Ru3BFdCfFtrm3YWNrh/QM8zY8ncNDSvd8QolFJv9iSA5uMO21IEUeBYpvzqM27kSJ/FLDB8xWMD2Ni2bjaKgYbdNxlesNH1W5Rwe5IAIz85kTtuqfumjNQMH5VwLwvcT7kr5U97MVZ5P+55kbX/RI7VgVn3T7okZRHpFq0Ou3XAnNzRGIM3S0keUcGaO9g2VDQPQYAiMIyeURvq7jNtSd8Lj5G0kWZ1sd0gcceHH8ZW+LbJlL+AEOr43FVBkH2VG2YdsjnAyh9LmihBxLZuiVifzY3lQM2n/stGyR5UpOIYUPY5Vg88mtwNg4oVnkPnYO74k8dWQZ2VeKJdXCaoilDT/FEG9RlTTLVeiV+w4i/bbpz7khEhrG/CNMkwkr+mDPrA5Jxf3NslWNgZDLuttjlcUN80p+ZQBJBfdKgq3bidFaHJIB/leXzbl7r72UD3eZXDk4jmZOgCGdRYh1yVx1LcwDnKhgZfgsJ5fXbL3Q5Hq9aTEqxrUdN8NWXsO9oa07qQRLHVUMFOAYlMVy4uq5WyBtBSJftbsDEKgWkHdgCrBb8uuKnVYcLDGJVmk7Nwu1UxMLUIzbthxCHEx/DdRPti3MdjJf6QzlsQoD5XisT+WsPvwvDAoV5IEfE0cS7h8+lwI/puQgaPM5GX0INBtI4g86AMzGmMidSWm9wsfncmYIymMJ5/qY7bWxQctHQjVf5fJ/lLDysLwLBOQ9g8mezdUdVJ99l4gZnRYvBX86VRVG2wjfO30e2bHMi3asWJayQ6MDEqejyxyKVy75rXeiuQR9Zo6H4J1SS03oNbvayYH8mr+GzoodBJBFyuEmBR4KRuAdut7teRrnUxY8QGWA/pYZy8khFlY/fyPqvI0TekA+G2LUezJJNOSi5YLNyzO+5C1is7AaMa8dCCY1idjL9qp93zUCTBX6/fXD43tkM35Wu+Ij+RmlS3eqm5zRjCalomBDSoYJQhWfNss6vZ+NUJYzSZont6Ab2zgGUjyZdz4TojIvfVTdVI3bvMmtn5ILfZuKErIz9VbMZuyvc9ORDk01OWRhwPzmBnOd2BUROlAB1LdPNUCOf7qcD/4juBEUjwMNDYqTlvLRCnpTuOOad7Dv7GPUf3rn4UNTZbfLeOyhi9olfaBivxHUbSVdCmoxFde7BK+gCDgbosfGq3e8vk9webYG1pRkV2z9T3k1B+i5/chaY3lEcw5Ap1xsitzxGV1z8R0Ak7pJMZXiMdbIkC1W+/obwCIvPkCYtQs4O0EqiOOg7wfKBjoSVoR7Acl/JoIDB+p746D/Tm/D34ODy/PfgXuTZabYwsvLZIeAVLH/6b9ADrNyIvfDWTmtQv275oqrMS9QFGjFDhq6m8uaEcRI7TnpcnYcIyalIh1NVEcqxS2cSPj4NU0SdO+TT89Wypb14qp3YoFzlsrmjGMqEi1HRqKd2UZ4UFuy/RMLPZ9NXMhG5oqRBpqyw1vpPcCf8BDWjUa4c8v19m9Cp3j2rmi8Vrv5uclGHQrbTAZ2B2JYH2lnbw3Gd6GwvD2TDNnsYOEBQeeMdkp9gITXSYau62We7nCVghPI49CRLEUzTeTdigR/vAhZmbzA1VXIYsR7MYBZwJhnMdeXUNxjYsHb1EDd/nNxTiPiu+EZHdObI5LE6mmpi+aDRZiW7hom/DResJWV80HTOjCdu/HKJYMUT0BXjsdqcqIfP4t995LibHAsocBkYOSSeHWLIXHeM/QN4Ypo+o3Qkx4aAkVaiz1r1RK3z8DMHTnlxd+jQyxNPT6IsAeZAoHEO+QLUFoMXQrZr2jJXLRhdaa/Imu69VJ0ZW/VsGfN7HH95r516k5SH3Uq4yhttLAYVonlUgIz+opCftU/Z1iZB81wS1mzBjgr/DW1KV+4O3p0uhH1dtrtVM2jSipCgl1ty/NKGfiXhCvz/KCELsr1Ll55D8Icsg66Jmaa6t3bx51C0OHfBXHrxJ/Lw/KPOn9d8n6/QbN1FhlnMw1HdD+FLe8WVe75mrJo/vObihFYSLEMSYAulor3GHNzibHUItmrb0Cu9kqfB23g+e+udgYfZC8lC4edIVFpKw8YEbt90M8RBSK2H8YTwInNhXnBphtoeTaTCpJYF9LfMVplzHqn3+ZPcpzmGOP/0MDbUGax+yLqxbAZUecE/dOh2uovGlyRqHuLSt3Sqfo6oOwuHklSOMRaZmz7qADJegSsO/6++eYtsEUNDq1Dcf9NGPhHjF8sEOp9leqasEqZ9sKzjMdU3Rxk1A1vrhoQgTbLlFNtzOBHp7zhSZjPshpAyugprvQh7Tcn4dPvtYLflRQWXPlyqYluhiuK+AvYp9ldJSMNxxlIPpRqlAkJH3FPEBqOMWQrhl1EcRG7EfFkB7W1oYJKLPBX4lGaesL4mD1NwcBuXXPaHe1UP56get6Rq2ygmi8caqHsL5B6QKDFlrQktQ8lYkXqVseAVg8qQhvWQyvgoJLj3ogwqwdAzU2hbBnk37eNtR6utAI2w3ahCQVK2X2ImypsUdOVvz3d67b6DK3FHO/G6ERv6iC9cgg2ydJiXU6LIpiawQmCKyZev/Hl+JKzc1OeuKCoLNaKnvuZFPy83DfjWewBlG34JBXflY3q0P+4D+rBHF0rNN1uibFP3Yyn6x8ahpZwHDAxLUwxSo+DZQhVCuYBWYyea2ijku9gkZu8zzQtM3D2BWtAptJV+lg0ajFw31cAPKVkkPOmsDKd8Y0MyQUZU8ziC/AVCW/euVsMT+4XXA0XrbuN/9y2mFMJQ4Vy4vP3T4IPVJ/GLE6lGFRG1Ijf3qSI/8sf7LRwez1w1uJUS6BEq3hxVWrSP0uyT4OKH6MSRd6z29txWGWXKGe5JlWm1NOoHFTOh5n/XZlQHZFWINts0K3zAdw7YAKqDfcy+fbMFbYsbb/gAIR8JZE8EOeKjjeAscWfbYoSJ2xxzdaVcH1gw1uRF1OTyJnzGjQ1m/kDjEcbwYk09dzNcIpj4UQTVBdXpq0//KNlkp/yYxLo3NBQ0VytuMQCgxNllysr2b/M7LjAS2NydhauV6+VQN5+ulsqJlGE7K31eIW2lGXHBDRVYDBiz2WEa2UwRteehCHi6Ok/G7uKp/h3n2+sKIjkLde2+NtQlp86fbgkLtjEatTKwiKZSclPiWtdN6iK4BYhHy4iZF1VZKYWWiUYC0dEm8y/78LmEuae/yiDHZgGF3VCNLvIrfzPRF8x5k1/5t0a6jECSAu0kYXWtDa2rkVM+Ubm9P8Mg9wH+OPY5KdQS/FSy9srjXJOnyiIeiVXbCdjsIwjJ2t6Gzg90mtp63d11u4WJLSqDMWMiDJ5HvcJQYrYoS1QE8QJ/bQRwZ0K/MlyiyseWdkz2/Kq0HeSm96gZv7YAbxbhomuZPrhB+hHPHPxYGRa13DSGweHqczWtiy6XxJfSDI7hh4vGl5UDKk8KoEm5T4xQGbnJEzRyrisjo6DDO7MXoq9G5UBSjxWn1Q06oc5ceRdI3H4SyoiEw3RpDqPkFAI86PpNprdhdrxu+0+SfBlAhKJ4bJ88n5nvJb/m7WN6KsAdvo2hxmEYErKxYwxdgnOUL8ObbbcIhdSFOlWEiH7L4H4fl2XK99lLObr2RPERdQuBYhYu7qBLvayxt54L0eElw86NMKsgIuz6WlO/Shov/DR97Jw1lvjdXFTwzLPCHMTWsA2Vn7AaZffWGA/ujWfBUUq5bHydCbwgbZqv1itAg5unItyhq5zga8STpeRAEUI5EKnoB7w3+hlUtVcwfC+8/7emRcjhpFhfkT2JZQhN0JSE3Q1n9mSpNDSTYxFBK6CwF3VobI8d44xMR/uQ54R8iNp8e+ARqUcK0538ChsmPTOgaKmZG8bWnD1TWTPCnr8mGZp9guzaP8kSVQ/u8Vc0nEAT58DvFzv3P7HLz7NErfRz948gz9YFv1PewNho+Cqst0jZYLQuUTEvkx6ZBv1kIPAHjjTBlAsXKWPNRCl6LGGbX0MeN72TMQlOFHMTwiM7XjiaaqOl/3FS9DfaakXoPN/2/CNIna2Y6mr173HObfSaMM82pZxRgkE5WdJ3ZTLQlrGFZqSTINhiITfgL+ujp/W4hd8AtupZP/hhf9p/rPd2woO/QzFwB3Tsoy3fxUGenZ1qQPEaQAbxsM/Pn0Nem5Tq+OHrjgNU8QSedMD1lFAycgEu0TJ0BBplGHT6eZ6kjIwrYDA3EiV6fyvsGEzZ3gSaHf/mdqWG3tndegg3KaoyspdPmGasiBC83jyYubeMiBX8kHWk7eSIf11tjG6D3yhJJglPbnVNfnDhocwjFUpC3rFYKFrSu/MdTwhScx+smPP/qmuNCA+WxcvQf36D6Vzyg00Er3uAMyfaNNuoFifbKESEuZs5mEHGEXiVNvYLVmFPkFgz+sv2ONwafoqpZHu84IcWvgfEa+UJ1ZxOFUsqmecCU5qN1mtSj3MqGiBOWgAVlTfphGQmRjMWXQ5XpZom9zU2ADjv5K3Sek8acFEy3rXYLqeoilwgFQmDXR9ttN1hyld7AJ/0/yIU4tB2Z+rJPdWRjPwNoGBrYYAIomwF7zgtJ4lJvvMhlyA9Rb1mxvqhBxMp8PNm2EsVL5abvGRcA6rmJJdUScLWI0EWFQARTDziZtapgRxFUAPWnSs0d8O7JD/7EREE7A3PlMneg0rFWCYzL/j9d53ywHNqRG3ZO5Dka++mug/gE3gGdQ4xryBTS8rX05MPr+0HwxjnvhH7oo/fs+WKrXP6ZvCV9V/dGQ9GQoV+hMaqgZ/g79hfJuv9k5VjlvCvkLv7F5R9N6DFupY2U8u52Qja5pdrDqHGPHVAqNO+uMxTbLicc0KcTpFneJQeCRRu36m4Eyz176uilBo+UiYeibRgSvbgpul58mSmt2HqXaHqtfOLRbnmvv8garxDTmarI3KgOlgsP8sPLG5oO2OAfJ4RUQR+SV+4df/UtQsUcUMUmDFS884a2dXYe8NyoxRYOqN4Kqe6BD9WKaZp5ysCE2h7qUbptbhNue6rCXN7Akdbws4XqzRB1HWOI4ftiMgjeACWkdDQP3JRPVDlKCjBKBvsHra1O8qRiOquNNK1HqDFYfyt96DzR2cGSZjRUo5ZTcXUPloccpMqbGqlMKCKDRp4iHwF7ZJdnJT9YiZKWuIAn/d85kict+yDR4lZNScqTLpStTET4BQfEFnx90pQVxj+9Ox/t1Vur/jlrSKxM7ysBKotjs3rFEHDNbfGaCt+90GGRBXwT3zwY86OaQI909sXR06OWg46s7v7x2hRuTwhEz1ftGPgZZBVZbb+4OjzVoIuYHqgWqCXnydjyGEPAnrQVQxiEOFoqjSYFDX+6un+9KfnX89QuMaaHpWhqTqTSDnX1TYz06kg2vaDefchxA0JQucOSm2TXl7APPc2w51YXqDQVTmhZEM4DjxAMUWFkxil/CJlfw6Fr8DlpnRlAY9zZRB18QCONCh14P1bGHEuqw09ucZ8HfAfPm83qSuIenL/N/gZeyufCgFmdO0L5UOsDUDs0uJK+c6Vd8EqtinknHVzIgzEwq27tcmQ9y4rz2ePMIzbRg6OOyqIWqyNie0+pXZBTkwBtoay2dnPJEhABVsKjBqB9T6l1IhdQiOZwRSvSUPjHmqAZkqdWMM2BpBld3/q/ykKzj5n9Bwnxhb3A3Wagb/YS/ci4xgkzwcP34jg6aEucVX9C7EsQiVmKV1OaugQvDbWdDuzdO+ttQq5D56iXGRCgZuvJT8f1pgP7dDaWQoLRW+6hTC211O10GNOLQI4UYwfUKO47q3mbrbuXUm5MWVBEAJM5InkdK/ADR5w28Yr7gGI1g+z6DIAOqzlXdV7JyuZDGmDscr68qV2Nvvl3cu+uejznHe/N2JnhaEGxbX4YHKJxaSdUowaxU9ufXkMoh9m54NqLo/aILthKsN22TZZtP1X4WMc6rcbZBnN+O26rWWBEhII13Ve2O3tyaUN1dDnaH9UVUbDqz+Hqc7da37HFDPoT84pjqy9dhqTx3XME+FzYe37VaIIFH4vlTkceMt7GW2JDmOqyD6yLVbC/oxhst1Z//e1PIfRMir5HJmzt2ww4wUqYk4vzF56gPQ8BL38EziFQCYCC/kbdZ+/gHg9qk3uD9jXq3N/De/UfCv9dfa0l809xvx/cnTIDEDxStMYJMEPjKAiT2M5gDV8hadAM51zyP9TOCuTn2wTPtoFhghyqz4+NNrjHNCY4AfUHWvaUKOCqRPP9nTC6Gsqr6tSoRM7A3u+d7j3r6qs58z8L4VTSMke0wmO/YAknxV6Y+XH/Ax+VWonrE6pPlVotiGuBvRfslghhx+KlfH8NlvR8/P05UsVCutslwwR9Lko5LZYzCUJ/5SOygnKvbHLK8FspOp3U1MDuuGgFqAU70RHzY4DkeSWRnKvjDOhZwvVkEon+0uh/6vzXDFAAPGZjEEIAJXZPtNerGW/AWMOCNAWx2SweTfIPmwjGaxe9l9sJByKPbL+Q4DOQFIWDlP2IuNYwI6DFAQMdUQM8ICY92pssendinkf1rvmxiozmRsxS61bqj8827Jnv3uHYE8QwUGVq94UzQ7VuIk3YDSpH6Qa4cXz+QoMTC811fsgVtwgCIOm2h940B9YKOY+dqILR/HyOGDj8B5RPhFAA/5XfU1er6m1odXFXyyqsWhUDcVqvjWafee9bAAsf+wAVy0+D2EQUg0mwGgcIwXoJSX1xK9bSc2VAsPbp+vrFjFXz4XW3kKtoEvggpVVSwqwc5CD9luxEF7jD+hVQM25OeYSUEXIcanlzB08ApcxBtPhAcwcKUA4eyoMQf26EbPs4qPthitzaaF7xdeCT+l+4M2jUUH1kPDgt1eXkZTxhZmKFIMP6Y4mMP0KRr0ZwF0bqGtDKT8YXoLaiXLTTimfmj3dM1/y8V9JVStufk4UqgSzr8lDPY7jhPD08AE52yJN1ValBZjd0K/HDle3Mbfdp0t6mMaoKqUerwPWGz5puL+EjsftV6RsyrXQxYO5wbkeNqb1zQC3GZ4gkaxo+CH9EW5lXfW4h5NZzCDIIGe6p9tLY19Zd8c0T+WP0d3L/Ybq7ULeP+jGOHPSBujFB3604CNs9MATJoJDGtg52ffD7r34hOoYN7MsyZi7iikLNXYJWDGCHGFw45Vok/IIqVYom9J9qnN23dSC37b3JRjzhPgB5ljgJxqP4AaTYdxPPCyTpARQy8FFU2CPvJncp+7CVRoKXs/UBb1YtKidvPZ8ZaFKVwxW5ShuouVP355EBOmcA/edTn/wgzmp0cPDhQvbgCO6BCtsgHlwMRzrRMgj0ENMFMMyC0D8Fhz1Uk2rP4D/RFVxXDC/5zQTay1vqHYMuEyL4HMfQciplKc7rIN7Jd7mR+AwPK8SsgkGM9n0K92sA+bKaYFybBE2h9uZKYaL6t2/RrAUA/3EFJOXFuuMDDRermVjoApqTVF2WseINDmoWvK+ZSB2rxMNHjvtyPIzmjgl41dVkVbvSyjxryJHQ4JSIaq0GV/XM0LL50gI9I84Vo+pOt5DK5tQTdfrTfETvrTj9WvZ08bIaqOczUV3UyH5+CI+6lezo3ZNsl/sw/BegQcP6Oi82VN1aY6BR3V0DxFrGgsBklboVkbj4zJsFeUSl7pUtILJBjGkaPf0e58MqO6d471WacOkngN6YaouT+c073wG6/LSN0frckVuIwAr51b9AHkGtOpsX1zPhe2qCcKto4RYUsAI/pEBBBt3hf+cPWhXnUguqvGr2WhTzhGvSnt3ZvCErSP2M00e+q9lXmrqK5SUM1g5gc4FPsNqRYjmrtebXC/Baly7Rie4yDLLzVurXE0bASPpHu3MNaePDieVU2wxjvvljsmzZuAm2M5VuZef6wdZ7ArlwAIWf59GBzaRmnNA1WHlhqxPsn6hW3cB7j4ZXybhWheef8IsN0nSMbSZfs0Xhaik1dpE9klaFJ8RXPtDP9Vn3T7ZUItmiMntoT98KKysujOOQm7F8ZAmqHlJZoVn67as8v7Ib84dMXbXjYikQnOUZshhYyK4gkiFbcU2crwpFE3AOcl6QKozw7YQOvGnXOtQcQJnNJ/ExVfbZ0lLrG0bhkApAsPRsJcd1ReHShWDXCadDhUDSnnxYGIODwstBi6jRS3fLRAjEa/KU1+Qgz2n61KAKkZTIT2L5e1it5xisjOH6PjJJDJYu0a/i2Q8tz5Ajrw1053k9T4WHsRDvETKKMA15NPZPfiP0Y3vrKOmctUpAaCvF/sb4/Cpu067DCJhpIzKDTkmwU83fMW/jbbQBTQoU3v6B5B4sIVo0ZYpS3creu+M5gFAXBBihBS/qZ9NCPdaroHq5rTJRS+crLxjPPejycYRIKNpLVQ9HchSPXK6HWIbzRraqFI78t2lOIOi6DRtm/JX0VsuyreyKmsaJRWw+jkxu4GD4gPrm4PSdZWI1vbHFtLnQz6ldZF3Gxxcwcwx6wRmCZe25kO/4UsDcAsFbcwgB5hPg4EeW2W9W6AvG+bJAjHMg0jMXmFvmPbxZC4JoAD8thDWYnD2JevRm/vVGekUYZgu4+esGaOGgy/PUWCZuFuNHfpW8mxytM9ly2Ful+PoZO0hLZ0QydijzN61UgsNqtEUsSJPfBtBykyFvJji8eF8NrrivWrG4s41XOCaF6AqZgVfjATMD/yRMZcg0Ao0Zx3FR9WWE2WuQ9gecM/otOx2w1HUs0eUbON0wL3G26Mb/95CKZFAn9mNwuqCVwa8MYNLCaWRgm74cS+IgDUVIuYiLt8Ek4+QcIUK9u1KlOW84VUp+tJ5eRVd8OA6yHrbjiZiGkbOZxElkpNNpbgq/1j5zW+JNcVBdQ0sIRGijibFiuHLbAmITJ1wuL/a/+pBuI+q2L2BKm5FEKz7EbEwwtbAhdRHTFxlHNJle65d6sZgv/zKIxCWS5vK0Vs/VjW17Xq3DcR/n5ge5oOlEk/A1CeIw5bXMRrIeByxYlJtsBizEzsNn11juBrP/Ho0zUGjO9FDXHirfdUnZY7Ek2vM5nvr+Jql0KrLnYQDZKPLeZV6gsjjg2566vrmKl3e8D8xluvl5ZhpaB13oaOxlbHm4BNT19hT4e19xxk+sOpIuv/MCudAsWyQa5apxHjvJhYTfL3OzFqStLfkWbwDSVFZIj8Hu1H5GWfW3yRZQ/KtMer8fnenzaROgxTX8+2eeOy/A7W+IPUCSB7izjPG0q5wTi1mZdI7kRscWo9BxelzACcM6l+dwg7CLsgJ0BQJfJACn7I3xVtaHdKMkeHOrZxrjNxw8hRy/e+8+devZqELQ6oVlqkB2VirZCX4ciBDa9X/a1PDVdYqDv4jIPgdD8y3hc62xeDC1k/KbB8vyWbeS9+G6bEu7xWGWlinrAgrZPW7JNiUYBm2Iy2rOuM2cIqaPlc/WYdR7tjdHZDTkYkwndF7ACkMpeb0opzmetL8DXOg2TI3k8pErabyUu4w68KN2+RUHxl2FnIEHjXARZhkex8qV0CN7I9RBy9IJgr7bJWrfXROqckRkISDE2m7v63++PgUCFIMKsFGGL7a2CW9o/BTtliL3Q7mCfq/L2DsyI29Idug0YstjKqPTrqT0qk77vOcqEAOtN9cK/VHz4kKwO6bzD8jJhWf3sE05V6mbqKt8gsQK4FaLaoECKCHYfoubVVPgmTA6HcFcyNRUjtKpcTm7PChiajPqpfn+bph8CdeB61xsCMjFgBJLAAapAnUEMXY4VEvBMkLIpDvBjGfkIn1aqAmzV2NYrRNs4lL7WOnjGFR+NqAKh337dKq50huXbs8279id1/AoU/xCq8ot62tohOBu+CXBOmMA5XaXWjxnPGmo4QYYVVEEjUD0HrmA+YSLiURSESxhAwYcZNZooTRrXRjq0dzEju4ecR99v4QBk1R/B0p8bkz/klkVnXT0Qe9iLxnzbgS5Rynp3jD5e0ffevFeIcJJi906JjzzPLMbHoecglPBzamBiRusCAvca90ENQkJBWlABZQu/5jRJ0sCqmKSC56rQ5fNZcdFYunq60X9iuKhPZxefcQs/zCDkRWtEBXCX1z7nGd6PEpsXDMNeBSyyVtpDoculSLAzDxKMLBLGz/ISPOsBlsAhIaPMCG+Ogq+eUfNNKdOoG+kNtPqV/QQU6kuTzDzL7x9/Os3aFoOnCpSovnJP7WuRFFHrE2xU7gbRoLjZbH5eNGxp8hOGFCTJucbsne1xMyvR8oeYpVRpK5ZBtPxTCYSnBUcP1wV85FZRsEnqti5PYVt/+SBGxXYJFoHHVSD0aBCgbG0S0xYgkvz3ydVt41cM9NQo6mZ6jxSR2ZqKS3gkOJvWwEv4kM+qqeWWOwO/gA4PoxPeH4Q/8q3R+6ZpvB4f5hOoO4bf8vedUzbGxYBHBX34O8wCiM+Q6DLkjGrPNrq2N182N1KYRQwcEdujTeBoZkKWf31t2yLkOJxRDohWA2maetud6+yj3EmbQFLy8pRKq+gkt1872C5O4TrVmGoPi46ZGJ2idin+Q+b9m90p8Sw7UQ3u5d3Ae6ok5nJOQzSKU1l0lzVa4SvsEoBHcVmGfcTimaCwc5RhQZlfFuHgUYArwTSXhveFk3NFJE3CD//unPIopmDu+iifPrWIEoqYqXagiNh8MXS+itREbeh44DtQFJpRuhj43xgwv5yqFAEJUNnsWywbXjcXi+s3QfISa7cdW8SpUK59p/jalKYpRXmA3aIP0eZKFDfbIWIMeI8EVC5dOBr0sRM7N35VluvWpp3DD6KErTe3itH757AM3toMbjzdAYUm0Ap30/FaJlGk4BFRepDckcISmZ7tWTZnSBW1LveLTXvEvP2rDYVslVf7Qte6e+Z7obwVsB5nEBqbBKUDJil8R/Ri6IFUSKiMj62O52/nz1xLqVb2B4UE3mFLOX5eLqgOI+Jt5dDz5Fh29mylaS6vARmPjurcom6VTofoyXsw5nWAJxqIG5z536jJPg5ux+IpcmBf52ISmB8j+l+nOq2u2NxE3AaODz7ZVuvd8ZU1mujdunDn87ObQBlzF1hggm9BlzK8CqjzdlPeLHKAjf/2o/n0Xh0w6MgOaGh3qhcGqAUjAj+b52fdR0CrOhoa3WDtIjiLKG+7ugJIjEyU7yPN/IxqvkQXtXXtsVvpwRzUE2ApE3jpu6yH6h7fWGySd6UYg41dEH6fmffuaYXS/FLEfO3lccdvXzA87JgArlKu3nCCoHHOOu+OLvl8TwczKwIEUuIiWB89AYBgFRJjQXcg/mJAgZ0cTqVwLVYwkOsy2dWv+7F8HFwp3zVdtizAvkCdQI3OoJgb88KazhQqH1QOwuIn6fG8+jzeRIXpHINAtAQK3tZUZ6xTvNez6bkJ7UVM2qCp8I4Ja3FYPcKFZGKuDCrJxkmc8ll8pJVV2jDIjBT9xYf0B1uqu0aWUii7PAp5Siq7AE3wq9J6bZGXrakdB9flYywZ72pLUkplRRbdZoJCT9vF/EMj3d4FhAC90k/I2D2eCLtmQKL7UgFHXQmwEaTkAQo9zs40/f3284F8sBSt6njG/MsZugmtP/k0uDNpnTCJxzjFl1JmtAQXQbYKWdIJsgCheAdQ6gzDtDrsnKGqoIiLDZbZD+taAqaScnIx1pDOVbB6yW/MqyAnGtZt6xZ+rVhVg5n/I5vzb4/+w+iwqeE4MqJCbfbSmr1xhLdfMeGpPYoumQK+7aV/E3vz9/LQ4ERt19NTNisu44jz4pkJ8Z7LEcDa2by4rpW5uMqQ8aScGuyopWEPa8E+qdfPMHqIz32dxA++SsQoqjsFnNebM2DMeDJFCdrHazi4Z6zfDSd4x0BE4zrFZpB/nyRwjaEx/xtxnY7VlSjiFM/YkfWeWyO5r/2aCxnxclBn5KWgd3txwA/fM7sOYeYLWVr1NLKRJqOsGPdSsFw03/y0k5+6D53fB7GnIxmWo/AyetEXrRbh80z08Qfwy5a/Fb1LpY+bxbyO5d+udjn20EaCOvNKvf5QwZzVvlv4EU0xuBii+fyRJwk2KX+Wj6u1L4Os2z/jKflL/by6V2j+xBGtJmXDcsR6tiyJ3dN5ItSdYbyC5qpqg1MHSRIXku1P9TZ6DC4tJpMFAETGDAKu3GRjKVQD6s+VQNFNyJwFytn1Eu6O3qvRVLgAAqIXy4lLBFlHEhERc7dC6k6H9ETy0NhnR21KLzqwHHtloWdjJ1IAUVWMoo9I63dm7cH27gp9azWigMmXc1cYI8p0qte/QAi6ayEjh4+xzKWd7sdSbDzXPn/yMgbNDvYyV0yFkrxTqjbyB6PpDHwPbXz2dRdFjmoqz05iIu03d5eaCsajEF6PX92ZLYOXzolEDnCyvfvDUMptCtfJd5dD9dtO9OXo3SINFatqE6sbghx7dlmFX9Y91QPIsn79p0NpT+Wk0GPcnozMGlUl9YpQlSyOip37zsLfRybrCa9HGuVeya5UO8TPCjitm0bfctFKSYhDhIeWrxXoUgUxFzRd2ZuD/dXHufl/9lo+O/c+TlwXKoBRV9qHtwwX0ESi/JR5sXE/Z9urqXbuP8V2j3Rrr9pjpQpc2CUqacQVfOF7uYggWJDAZMzBt011WfpSHtefKQmM7hhFvyWimv+7sLxdkML+hIFelcwSzlDraZwwuD6DJZ3e9/twY0BV3qEEt+biYORaOeoIlKrRMYu6KR+Nc6BoMNLbjf64INFWxN0YI4xfEUcK+AeDCmGBNP/YDcWybi7XEKSZ42EsDsqtWVFork5NSuQNV1KjGxx9z6sbzhqMD+iDbMjYUZdYkHfP2DwXx2gEPkRFP4+jgIeV+jLxS8ZUzU8+g692yla/s2FjGKzKG4R0BOXryMw+rquclA3/o3r3QI85kQwkHHQl4OaRdnNre4YoR3K8ytHCV+44poDSGKUFpSqhdQRpuJKK0RDyQLPnKpiKe9shINsPsDv96lSmU8ivVVmfTYAvCaer7f8l5oC/LYfieuGnkx+kDzqj8NYHmIxATdSuIm0MNVqs5sx1/hkQq2KSIFbSeXNfgW0V87j9vxAN5ExsAa+8/Y8w+i0kZhn6DEMIF+HsjERpBaBLlG2ZueAko2usvxFyXuWUQpjXnUViSJMqAf0YOg+mDG7eyy6hq8r9tQ2TnMWPmkG5Qfi72oWm+QwyVFAjBKu2LxtiLuGwVR74Co9rRD3cBOiOQfM2HltrhIft8LwAaG0IadxUOFCPQ/XRlyyO8brMSWJLwIsBGsMaF5cBoF2YOp8s3gNwxhZUh753ESsyEF9BAW+Q0q8hcUE6ts0K3HNMFuNheV+vF+tFqKuIWnxSpmUR2CPqiufIN5Lk7bKhUjFw+UXARTSUOYLx8wgg9jbDS7oDMLcIVUstvykOsMLNEFX/Fu3e+uIj7XKls2myPrrot3a7vjflieCNVR5lKyyv22p0eCTPza5+4HpMRfTUoR5I4S6U/+LMAdedb5+EQx3Do1+zWhw0g1/Jua5gjAoW919nFHzB0akyB9XJ3wgNxvLTYc6RTGje25VgxPOnHoZ81xX+GwJ8E8WmmBF9Gvw4HmcTaxyKKDZfAdCVTGrnurRbYVTG1amm5+ErqFpX1b6Wks0jvUdotipPzR5uhPxDIjUg6R6+6k6NRiou4Yo9sVsKEgFfa1ui1JQbkUA7gzICFXfd3cOv10SMa7N2TdecdIE97vxMB4KkSxV5OquBveAteIkpmm8KXWoLBRsKubxMOmlq5jsbDt6urHXnFy0zYZXggLWV7TFh5axu0M32Bg/ZSk7w6Ht0ssSnJ9jkX9iJldYnVv8iXS8YLhbVxaioyMJQQFikzjuxBZqHJc0uUWoqXIClFB/WvK29FTCGEpGJeV4NPuG5RGUKjEIiBhozQrtCfgL+voKSs3wFrEmmexHUnIMyaKRmQOtl0+jp8UoN1362wz6ESqpLHcIw9VTOheHlPfx2a2VEJnnI9dYvLenRyKKodEoGGeo77r5YukWnmXq3/Kkl4N5qVpcTTChpo0u6VbqBKryiad2tRPbWrfCq+CWDQA6ZS2QNxRfsqMZTT14WmCygK27efxmtHc2fejQJBmlgrj4SHZ0vWS/c1Vh6Z27I9YeZmUGE0f7J7JMNbW7l91XgOT0eOwjR/UUMSqbj2MIEZZ1qbZRZMurFMiWq6P9jwhHjKc9R+xK19xgn5SI0WCGU4fwgERluB6FAQ7nY/3KYHnDNfKL4yb88MjJ75c18pA6hSkxQIWWUUXNSdnx6wWbu1crmPt6MsAuDzjShTJ3fSZznh/1XQjRniEvM9dIwVJBqVXBLjaCKF0fqlcYJomW81IovTG6vnrR44l7Xb6uBt7HXFwWPxHqlQ9Ns1PJqkizC8ZeWDGQFgSVchOSf9s8iBGAUn1iULx2gsaGGweaq5oJSuShOl8Pi4zO5J10fpsIJc3rMzPDExzQv3P8vFvzgOEx8atJrJ1GIF/N503uSXBidfXgqsnowQx/KRS6SYLyDhLAiTdININs9GvVnd7BV5ChKXRbgVLRcBwfmOUXFh+EgT3HkPrESE4OiiVYFYkgDVkK7+5DVcTi1blTuSueZUSQonV2dR6blyFkM0c4rG0Pr61WeJj07R4AwV5R2CJOyODUyoF9CzB6XzKzVv++4a8R5WyDMOv/hF0wvvgFUcaAqtfUKmnoRkXVNgVtVt0t2KecSQEA4s2Olg+no30fQ0MRtHmH/QEYod4XXi1140mDkhekLe7hU4KjDY6L2KdRIyyee8QNZZIq5Y/dY+FfmU5hq8IPVrpVEdahg3yNuWuQr23yi0wca1d2XxWj1visU2cVlD0YNqsNEH479tQh6DGyvsAEunAaMAXHuh6HRyhIZc0n2G0Gqv0kv2fVyCDYiGFEDqVREjGqNlds0UKCrpXULTbLgI3NnExcZvgcUmvp9E4ughSBddV8OOlYk1Uay9qyAPjFtH8+UpvyLA5zyfd0Ueyq46PhfKuCavNjbYoe8w28LkNCmIppmzk3ZYVJ7fOIYU7Tk7SNXzoIjLAclnz6zeQlRp5Vwl2LsCTzsiqhS5RAaSZy/odhJJytFZDIq6k4qfH6lBsy9vxx+pQ+fQsBeGswiJ0HiV+x3IRsgrWzu24d5pNsWhZTfFOGJQdolFmrxoOSJF3Q+2Je9Kzon59P5fOVhm33CSed6vSZL2YOPy5MM5dqY8IxXOyChfNPfMcuFT919d5rxyADywESKm+RhGP+BvxgDa2rxqUDGuri5AwH7LSdJymhWRfsuviciEKkXeUxq7H45Fy7BNgGhv7Ko6hV3Ch3PBmzlsD6ZhJIlXavlNl4NoLYJKZ8W9mHzEYIUDZw5a3NeQrf/xLzVO3Nle/dAHNMroGfyTcg9poHkz+3OZEZ9Qg4JF9KlOW9x74iEDnIfc6CGGtfwc84hwcMsisokFpkPg6MOltVqh1Thy/jF+1YMpLbOukmxtjkZiawZ+8xQ53coX2vs66yg2DJdGnMTBIp3juvTxzGSAP6Pph/d5OYo43gNU0dIdy2SRAv5b5u5Yxy9rA1sLVr7CvkXCtVs+ggfmv19cfPLAarr7GfBjtTqDtJ+NIS3aXdSXK2B19PoIwI7MJSFMJuNMX7/E1t6LWMEgVSHviz0h855oTVLfBk3hmO+ZT8ZirzYTF28JwCG5wxtH5sc+lZV2pqBgKanwzefF7sI59ljjjwCZoN1SQ1v0Hd7RMzsIvjGDxsjHsbFMmyrIAd57rREGk6IZi3kLhythfCf9WN9L2klj/zIBvfEQv6I5nrnr5oMPJpjWZBI9YsXflKsWcz6+yS7BRIj8sI5c1L8hflb8AqSVp5wQz8wxF+Deyh/9+vw2su2SHFvgX/rqrRhvdkkky3TePAHEiI9ClSrkRdlI/SK4EG5S85Cnl1zKdeJ164bxFPjdcJzZF9i6+i7isquui66ocgasguXt8HFn6v/H/DOdUP/miubkrbirms3l9cj3GFSyQqKdZ0QNwvpn0xqXwHEanjiq4dbSHExVIKWeeI+nyBpk1CcKzrI1OXiDfF5EbE+S71fiwCeigo9JjSVAfVi168O27tLJeos/tXPY1X6A6WenbnJwiajY0fCoMojeTus7z70j1A5fMlryRScZz9QBD/QLMjsfsE7D+97JaQRgTXRIpSC6T+X4Ae1EjH+/tD/IvDSScvSibAyBmVf6UT9JJotbDVMGNCtuJtcKBhtq3ftEpHDaGwHD7kwbrRbUa2Vk46DEhe/1lEx4QXE+o0Ekm8G9hxU5k7P7VmH4XvCMWJlayjGBSABQdwskwJ+slmZTCLmMxS1QEK74Znea4nyuhdMzNKG8pV0DENc+npqEOShZdTSPVzxqMloofRCnTOcFOBoOXvguMP70sdh/p6ei67g3yq56QMf/Wknh9BSgB6OWWS/b10YK9nL7n/WG02WEyzou31fxX+DTNjuXMPPIFDtorCHj+GYjoiyliIe1DnPORLr5UQ2wU70oUxQ0/3Q9fPsjxPPdxqWf/1e42v+RfOdOmUZSREVdZggqnU59pKqgObLMF3Y1VD6LjIwIOhPqPfMbJY5sgYlt4jxczRLq1Kp6sXmOTH058vL69NMUDhgZusMOqptiqKiaWsufFVBfN17Gt0F2sh5j7BGstUtPH7wrIo2lIilOh3eXkb8vKpWvpqDTFNxOnGNgnNW3QyEn8pX/TDkqdfYJkloO11wwsxY315m7aidVC9ioUztrKDxMJUzYek5Juyiq13D2UFDQtlYRCGkF7w5pJMgb2vlUVp614Wu7a+3rxmB7PUVEAGuVQ0MFxAENXvtuefvbwM3V0J2AarjrnbHp0DyPBybVYlqMubf8OPRMdZGkslfWYsvnvYTB6CsjjeJ081g3yZkoJu15MFxos1qmNQrwTUtedmlm6cpm4zdnD+JndJ8tWhmGGFrQiDkGgSwrt6NZREQFZXQOJ+IwEPmTM+wFUpDmad6i+jjAdW7P1uBafDMujLch8Dr2mS6/jjCT2o00OXZkjcRbGCjq61IGI0Upm9iR5WlPDj7pmDnvONC5HUSDCG1sS4GMEjeiR6fhnOhVTzo45NPYup0Zb0DnN6OvMTZ6shJpqRyiVDqcUN0phfVm62sloJyPXLbccPP9Fnwhz/g34ryJHiJfDxtxeyx7XzAP8r78MqOWBt0Zqa+hWrtKeuqC/FD2uPqFpsOPxikJn9LjRoaMeqEzdeysEEaVRHsBXIuobTVvtjUvQ1xpf+DwR8f5QVG/+zzGV8lyqjny0eP805nM/p/HuQw+sDyAFmQ0MBjBwW6nJrMg93Oe3xODU/GxFyVgsVt01ME48Ufw/fUDKNWdZ/0TWEfhyJLSXsHSjF3+oWWV5Oh5nyRyrxfW6s/U5EnFTFog5QghqInTiYmkIN0CBmYXOKH02gqkTg1jnIvQGj4zlnY2D6tG8N910/O4uw4ECeNvDX7RJphxHgMqAU0ogBVWVx4426FVLllLJ17eFx1218w5i2zs/uIklFAUrJ5jFwi145ZxO/Afx+Kvp+/FIbmxv7E8ovYu4Sz1YsvcLqCR6vzS6rmKC81sBMc1+YrwT8Hk8tZdIEQOv4YcEOP0oNAv593peu5xGW4jEIIEDwkDHgmf3Kj3E4iHbfZHyfNVYJhPSwyF33/34Oeg1WiBPy9jwYI89Uc92LArp6Ir0obWSEsIya0GjM6qQIupRuCSCATZ47gXFolAhQ0tCuvQwqxrLQEOlf6vuWL1jik37SVEyKJ+ofNPT3V9KLEQQHh3/IAo1xAw1S32jhI3lF21ldaIi++nvNJ68/f2zsey1Mchb91ofwqtVKOLGDvKgHymqsaY2TXkXyoGw7Mlp/S3nxSwHs/U8KKjywHA2skiJ+F2tJdIpLGvvJ067SE1wfdKXAYQSF4zbMIOCCB1ZeL4gXokzp9p9WZ4i5eUANBD9Ca5Li4lMux9X+RZyFAtzq+hzWvESdqov5JZDTFl6e3HjGplRSNvKaLhw8/viV8RlTb4GP9dZmmWizORzCIU/q21Toys0YCYqNivVICyy091H3xFMHJOMQw1KfezpuwGBcUwvo7DSRzo4+pTEUVXYyb3NDeSUuqqN5X2wE05BgQ4Ij2dmDHxYizhn9E6Wi4ow6sE0qm5e7/gqX0Yk3EVFQgd50376tImPLgFy6XY/qV0Zp/YOuPTRyjyXIeS4D3bFqK/6XvAdNzqIBoLOQWmDbA0e2h3iupkJKSX1vSAEQTShHs3ubDNcNOTByKelW0RwgjozjqaxeGsbkku1mvXyfAOV30cZY8IXoujJeU+6YYugmuIofOO5TpL4xtSTEIu5CDto2kNZg7Gq2+VXAODhuYQI/F1aPwrJMZjDHeI8fRdIBxJee3PDEOePEJWIwC5eMgKH3CmxnaLZ1dJEbVDRN471DsPBWiKaRUN+a90t3buHRf5CMYcXvt7i2oGm92oOQrkDjVLmJGRgpuDZ6RLVAoHDzYnjiOGvg6mFpnxsXWiCHCpgkHmW3VoEejzEnf4ZzzStVyVYY3Zq2vTl4fgT798GDxbR2dNqkxQD1+hsuNRBskMFGkJfNB50uNKeu+U/BNPFUqCaUrAp8M22drSFY+crLi7TWi0vXfrCEUNqWAbHwbsa7Zfcl9lkUq4Lyr2S5yedOdl23TZg1Khosi3/9POgri11KQLo6DAizvRkFYv+J+6rwqO2T5rqs85qaYBbVvhKqWmhlwt63/HsauY7GGcvW5TTKkNqZ04kCu4vPmXNYDFZ3TvVx2Q7e6sUJXTprSEjMrlI5LFV2axegDP0DM2pibg2r0ShGKjnfZCoxHIKkRlxDPAC28ouMdhKTNAWVRTH9+1U+wRdcT9+j5YsZPN2Hw4syW3B0MLcR/d68Z2HIyDEYwuEBGQm00RXmhA2PjvHiPCIk3RM4aFVnrB2Rsf/HnGUOBXXIDgDJEH/wNVkiG2HzUOA8jM2HdMUsXQK2CdF5Py0DcnjOxIK9rcdP/xQsqWhbweUQpJw9c4KQbKdgW8qXE5zX/Fxz1GHK8+j9yPo+uL9hVLgEV6f13Prcb42aUHm3ju8Q6FkJ1OmUAiyW2J5DdFuserwDyqUrPCJwiKujuYpD2QLHAv8o6A+gfr2Yc6ZPWCNrpKNYM3CHrXVWVSff04TuNOY8QfncG4BkR6VfLu8rzPwHnESrbe6QlTe7wDBv6N0oa81GxqtOX96QCXOPpS2SJxElz+o/R7WfH5Pr9q/XtVYdKCX63YKhnXvIyRbiHCAc6Qs5s1xLU0ji5QIteMatZoA/PG5rSwD2vZ44JQxurp7bqQOn2oJEWO236goqMjshSaI87+sDMf8ekcnuh0kxRx53Yj0iiBn98sjw415S0nyeD8CRxZt0OXoK0AjUic38sy8bAtKSQZqsHoQc6S8EWw2BZIkk+f54ejq+dHtg8CJtXlH/DjCkprKIrEsQboWsreW3U3FQaDPmqiiIbnYTZMIa6lTuYb5T6qbS8EBMDbWwUc6ltbjUK78ZjesRE3fpe/J1cNw3dxvX4qNO1g1ncNBbOP3hYwXp51AE4hojtZMPiKYcenjw4U2XcP1q4Nx9xkI3iMbUcsuQhJJ6Y/x+kZuTeYQD+cS9eWkj8gnv5UAMhWtDNg97HpH4PXSQxTh7phvSDR/1oyPL2h3u7IEbEgwiWr3eeTZoSREDucq6926oukNQaCr1sXqnQ3euwL5wpfLU4vUnLwNDpb/TYuOnYlMLFS//v0oflpIugCgpYWx/gMUxcdAup0X3tYNHJPngVanZG92QgfMe5ThADQWDCYkv+8b2QuJjJ1VsJY1vGJUsSoEcAXqTQpDCpOdCUDSgNVnCQx3uHlzBxiYtoeiG5rdWccOfphZBgsFheiTpdBGxVbowUHR2K1hzUCtGXGiAWC7nwj7rxPlA+o+8FMnYtpMzxafW005NMTYZs/aaqutqo+yFCsNy4YP6mwJrxScUew4YPEj10VdYeTpKTTszl2p76AP9IiWiOBXEwEdC02ox+53SaeZYHL53LCiBsMkQklHs82xfSqrI9j7DjYfoT60MSV+BW/E5qwqzJV8F9ZsCrk/olW0VCFoQu9vuC8XWVNxVtKkqWIp32/qezamwEiHwv/ZIaimKzGPkiUFI78CtApeksSoHyhWimwmqXjN66HWi62czQuDtuk1n7IoE9AJRnIXO+zcQZ8rq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3"/>
  <p:tag name="BTFPLAYOUTENABLED" val="0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CHARTIMAGE" val="FILL"/>
  <p:tag name="MEKKO" val="MekkoChart"/>
  <p:tag name="MEKKOSAVED" val="1"/>
  <p:tag name="MEKKOEXCEL6" val="False"/>
  <p:tag name="MEKKOEXCEL7" val="False"/>
  <p:tag name="MEKKOEXCEL8" val="False"/>
  <p:tag name="MEKKOXML1" val="4HooU0THZk28POP9trq+pbTvvzd/gcV8t56cq85kb3NDTsUhojRA0EsgEHHMH7oYP1SYpn09ysXVivguJdhTvfyVMsBLTGvcX7WPTor/CmWiWcfk2RmY+GE6Q6T90sFUz2dD7pS103gZfJ6l4USC3jqtWOPR/ue0umjYEY9KlLthURXCUyUuZbmGDPUXB2idlVQc+R1c0j6vNnMaKvr/Akz+g5iWYuaBFJfv6YhbwyOL8jQ56r9lgzklq9vcKM0s1dVW/JmLcWHcwBGH+c0048rfYP9bAGXPD65uS/pWL7cckEKTyDOhBw41dlEVBpjIM3CIA29oG6CrE7FmVB4OXLLqqNnMZYsyOCubmzzLrUgtR+/td8cp4HUTlzz986CVsEV1ZKGth0wwoHv03Be1SOpS7BjGbfg9tZWTDbu8hNjyEDZ6aUARYQ0zlR2Ix98roN7KyNI/oaujigllbWVnXdZyyDqdjTogMyCAxjmVcKpnVHsZkTxeotwiTYHasMoJv26XekWUG0x/qIqBbCQOj9tgbTZFw6mi1vGyMkyzkg9WQHzjrnHsBVgQ6oy3JK1gOIkedhGgQKclTP1UMQpjsAeSdyKrDS2VyEz+f0um+JUFgT6WWKBjx0sJ0C02ZyXZITOcTKxLCRVX4Qg/N40Vci1FwaFWTrzdoQpd+cAJ/Gxzqfa7IZ2Wk67bllTCOrZk9m+NIXXwb3soeZlwY/eaeRSI9kaUuAq9XzlGA60KcWOCPajNZ6zoPFJd+DM+gj4K/UXDDoGUiwJktaMgZmE1RZ/dw0x6yNIcAGNYmaHi9R5IReYhXhKqi5zOHXAE8MptSs2ecvOSddzr1tPgYfxSjRaXHyg3Y1asBjtISfEXRjznepxwcLGdR6biR+77e8Nc1vscuY0PJtSigU48VLKcSfwht+TkhZODwQyJAUcHn4ITqh4KMheaLE/0r7KlTFwDE+eP6BN7tv4TXAbJDxOpyImyPGwHSap5NOo4q0mnxI7U71zAqI/wpLbKOiVG4vgGTSLlFSpQ+gSQbZ7kPRLbSfB5XuPDvbzLS5lnJ0KK6p/F3ED8pMeZPNlidd90QORG5YTCJhNxsI1Zv1ArGs8lByocWm4ak3L7XYszZkMdTfYE00jz2epVv96akw75HShpLqKsm3KmujIr/RF8tzv2Qm2WP9yDCY0IYH26qhbDkp4bG9BPjn2jjf3FEKq3brIWGBDkz1X8punH/WPgxrWsjmZ5CAcffzT2tLAiqlJ1oX7yzEX0AMCwzSLpkFIEm0k7Nr4YjB2dgIQx/OgaGjP5vl0JhMZA1zEcTrVhyW8VuMNjiXaNCTmncQkeiZYhn3ev9AVMezyAHrW66FhOG8Vxk4l3qYER0cAaibUyBqYsDpiHT6Fdarh6v3VFm51/asyig0tOu8GQRpFGbw3uenWbWFfxT+qRdhHdwIvO0TPOOCiGZ0yegVDYJfF/irnuGqCfqMPtL/bCxeifoShH9aBhUCajcxBb28kb925+UgI+u7aGOFJ8Jkz7Ij5DszHrTl/m8iPw/sWLdmNSTqwOSN24rZ06r9pQvVtPPOKl8jfaKPmrUZ79avRMZLdfVLNe2PvedNSLq5bry8RJCdOjXXVHLvsAb/L+2bMQbhtX3s6G60lcERP15tv9+EjAEUywwHInS1nvM5Ie6UZoZqnx2tuT+90r1J5ZUJsW6sdUAw2lRbRPcvO8LJLKHn6uL21YL7w7cvnZJgdMppr7uzE+LRdIvy1op6c2RZIvNWqqO5oB0HLQrjJRK/GUy2LpPYpx47Wake2sIO81F5c0SG90cZXSOoj/yokscRD+jHgKvN7IPHMilZAlqS4bTQl6u83HWajvlwcmiXYUIee7HjT/W22sc0KuXGdB/hoSTMx+O0oAe4AwNm+IyUdkg3oVzHE9Cvu+5McVhPZX8jfaY3AxSascgbtQcPwcEGQpjcitHEeR6o4mzLp3t1v0wEWcu/2RMO7zSJyt0zfjTENOqsQXcNRe11nziVq7C2ifRfJJ6Tx3AVwsUPp8HtolidmAHnM+it40excy2Rc03GUO5kf5RTpSHm8VbtR4zZXG7QAEcmmpwgjoaEAO+NrqSHhynDHCr1muwKfWHJ964jzl5Uy9nvRhjTJl87jWIdAVYSE6jKgQJnK7n06R80TCRHajpOtT/fIkRWDzoFDgNgDo3QkLlJ0eoCN138YzIsZKRMGLOh1xC+c/1f/owYbits8QB+Tu5gpb9oc+sWTdcyTXUqEq2OosdKHjHFcmi1/6j6bp7TT4xqAXkbKYVdZ4ILMLZDQ5bPBcP7JPRqGQIPkZWJwCD+tWGgZQpnj80KnGEyxJhtd7yX5PfNjwVHzzdoZ7EGsO9aXumA6cKWI4JQMG4mctz6tPf4CMx9TTdVV3sRDhFxffkefdPFXsJnfddzb8vnR1KOrWMbxquUlD4xjZ8qa5J7yezyjOmn12bMg7kEophEVRdcCoVUOa8F5NO0TyFZfVH+ImBcfWcjn2FwuG3u3QXOmkDDpcb/5QGe5UWXabYu5Q4YjIL14nyiv8fqILeoLesxYaML9X7DAZREvxolojLVsSgyIr2gDHJPybt660a/kQ/RiheBjOTwzExL4VxAR1FOUSz2iqZa32nWPLnEJeL2LRXjGTizRheJze/4VMiTCkbzx/OJpucwzgUjca91QUDxqJki4Rxle4kZcHllpCorfFkR1SBeUFfBXXqoKABbiGDaAgoQ+pzeVWZzvyYJnK3AsVWYXW3XIVBqCQdIIPt46vP/EQ/KOSpb4CBo+IYqDlOm6Y+wzpHiExANLQKguPnRxC6tvrtrRJYZDCrYaOsWpV0dhgInhYs+nZI6c3t9p0rlxyh7TVjhHb9Mu1NeGY3TSTj6+H7q/N434yTRtW9/Ta9zuRCTylGH9YK9veGLdGKqtF/vqzWwR7gAPNK6a9vgMcu1rApbt0Mlgrsh2YNdE1GZ1ZbTZ7gscQz+KpBnUTxo6M47G3y7eQJ16khiFjnTF2MLLgLRJmJAzGHWabnU7YmCoEo+AnozETnD8VT57RDyxKkS4lAQVeHKud7kreUP6uCGysc26mvfA833PY7Nvvaje9YFy1fUhSpzBpTJkf+JuW+eQ0njQxN+jxgK+NkdKzx4h5hmMAmhmCd4djw+x5H0zb6t2iAcI4hQsqoPLBjZgJCGgdh36IN/wR3oxHoxv3al6Q4GMqkXss8yQS/A35jeH4cq9MxBKRGqawtEmAcF0tyeiMLzT/0YgZzPvYqJn9pFcVvAvvpmqECL4egjpu5RCh6tAasN5/NqZx63Ma6wijvDk56NROvn50L1+6E59dZ83hMBgDSz/FyvMy6LiSXL+BBafWWO1oWMLhmg+Pa2a5uw8FthLRSTpdmUvTPH1NZQEn6jzfLvb/HBhTbk/uVitwTo9qixKkb+Uw6ZyyPj8vABztB4tMdM3BgE3qGy9xFUyzjICxgKcWEfpfMmEnI7d3JNDmkyAWm+sZbOe3OUZKdRitw0thc9YkfgFd4dtOn2Voz6+Dmz2CK4ruolU7rGd8ULZfVWkwf4tJBvwwIUvOI2182cV8W9/AuRYuQfA8g4xswCc0t0UOj65fJpwK6JBS3WX5I8B3lnJd7FgwczxD01HvjkQmFhylTLZm8wwpXobC2+HrWL6NzmCeQ5YVaWFoehNgXYltxrRr1NzS7bH6lU1oOTGTa517hUHtLe0xHK14pU53mlNUvGun1KjnHET+v5fCfMXBmRWHjr9iRA6M6c3YKkEq2mgUTYmY0Ey1u8VqB/Ndf6t/bsmSOhQa5YB0BpwzeRmdTq2vxj4ABypGK6eZrzzFtxyUnKDtnfMcKOXemmB278jdtSKYmqyyz1I/E7nQo1LLbDv7R6JYHcEi7PO/B8INnB+WqVX8tdgX98ktYYkJ8oTCTKW8YUx0C+KYzoRrqTc7Iii02T09APN+Nf0WPG2v5QAmUy63gajhTGS51sMYvOK7PcohAcW2hoH+IhHSecxdXwj/ruRzDhwFGaFeENjxJYpb8u4w277X73N2oUZC2DRDz3ogcOdGAv5URPd655n4kLuQFhPBFxjmWjrAnpv4P/TMhF+9JalEx2EyY5i6EWfq8taeddt7/tQFrxphUK/5cLkqSiX+4uBX8a8s0AQDDn6QRoMea9VP3aDmJu7GUdnFfrMFsh3HoGApkyKvNeXxH286ti4caQgjb0ULg5RC07bciEddUSSHVggnnu/u61b/q/FNYzN9i3cvf8DbKOQ7uw7IWlzcsxyLG5myAYvuDMw19pTRmW+5b6QSaoTEdykdOzzwhix8EBllJmA3jprYoUnqqdgKSNBhHVI08xvBJayNYADyKFDfsQ4VWXkSB0jqyxwR2jI4BoS8UlFOid5c0DgvHijJi4HsPqxPXs5sHDxYay5/96xg7mNGvhD69xVBPcKA59G1MOAOdfI6K6Tfwq1na1Jby1a4olv7vcJaMTdt3PBvdJExSVZsRRZ8FbULCQ3+20TMdOs4buPRVBcVlqcATUuXTMN4Gv7o8pwHQPLKN4KlikZ8XBP12bfPzPC2TblV0RjjaEXv2JhguobS7gTYk8jgJk+4CasQLyYg6RJXR3uKAm1aee9LNuK/A31V6bz8y9uoXEdqOTiaBYjbli+LuEFhdQ9tsWWhtiSn9RR+CODzLGmv+X9wkzYeOqZp8TRl2ssGt9ipl5oGB4TyEezh4CivE/84/JZ0lK0nSuFh7Y947kVp1WuFTrIv6jaIDOTJj2PW8sFh2L8rKH5TDEdoSNfR2LHIsWpFZ1xPoSgms1o4cGeSMw36xHcFLXMD7v2V0qeaytLxZWKa3LG8ZAUgb/PCyKSiKG6n3f9J0fIZ17AMCJz5HtIYgiq2f91jKIKwQUv0rxrvrZU7DHZbNnE6AzTMuRncuiDgJqbOGrs5ff3vQ7N86tW2v3PwlpidYclaj+FoQS2F+KBXDA1mw/V8t0O9EzntJOK5UF5e31LY0bRlzJvSLotljHIOAF/s0AMrXXGt/57Ja6HY6cmllMAVrO6yjjZDwee1+HN0WjhKL2yiznE/SdhlwKRlk+wsHff0Tcn9SnmyRmHyRIgM4sHBsxuL99A3tZmY0XFL7/tn1gtcNH+TxKJA2i7VrRZjn8CamWkjacAxIhvLSg2yMOa770DXxTCGpqSTUIrV7/2LyEErqvVr0nWg/K9WHpds5MMvnDLIPvmC++3x2sfP3vaJVyCqd6Wou1ZHv7p+/FKz/5I8c43YMnvbakPRT6YlAggY0/E8TvgMk80zLPPC08u6xbMC8oFE0shGIbVR1WLmwSwJreNJog6cADN9HQQs0qkBcKp+MVvxOTu2i8nTQwFrHz8orZ6uK8z27oNV5FELzJOKsLOyfesDBeQ8JXJF9ChWQmI6kAuIJL2fV/BZ0ElPf+ZERh5ig8MNBsJy1Wt/FpaALIrTHP8kVBFwzC2CjGx/8f97v/a3xw2nEej5EGzK2o2FQP40NgOpwA9mKcf+QcNTDQyqXlNP/gA+JpV+0dqU49zYUS/RBHE1tMhSMwX3kQ7TS5JtJdlDCBJFIJMraEFO/l135FW2WlIpswS8s/NylCpvMkwe+iCoNVqInxw04/Ep7JuCqrLW8u1t/X6B+NQWj5zmQjEhilLzFdGn5MQsUSyDl1u9IX19jFMonDKcC5rDoBbuy6TiznFjbaF+v5m9d7Gp2S1HeoPV7wBCww9XxodjOgU9wvn71kWzN8lmn3cAgQJ63XUpj9FmYWu8u0a8igR4jUp/BcY4eVkm/vsO+z+esTSYxIsoZEi4tS93uH1QSorag58f5CGoJCyPCHJBBHBLK6+LPEL2OeJgsRD+LW9FJCL6U6e0LJEPsHrV6vM6hMDi7RQbhnfAzsP0/d7XtuWBdmDcEaACCK0enjXd4I9e4d6BuOGUsaa5XlmxagR8hY9zsyFGlTjKAfOHAoYi740uARr/fQw63W76e9wPMagqRnz94H/tSFTh6CYsuNZuQ/vpA6zuqLoEIMiwRVexwIXbzJrwrUQD3tr77du6xkdEUi/G5PVpOK7PuPbJSLFPXCSfKIZVysf6S5BDtymwcjCAMv7WiGkyHSY5RSyFOAYUr2BPoS9a1FQoASJ1w+JAR90nTacGg/jupINgGF+HWuybemTIrQpEyCk3yNv2+WP8zII3lEvLxPs57ET51xv0aXZ9YSAtGXQ6cS6uvzZMepUsn/Lfs4kYlNEQc+vSCmrvwQX5pEuUi41QnSC9ohWLVPu8qOJ3bHt2pwiDOrA8BluV39hbbJiIc6RODT21CQ623mQcnqTTHs7Nc0IzacWR6EZxN827AiHPTeLVuzSTBAuBsHLJQSczzwAXsURiIafTSx6mx8UTuRlARAItMPsvC9+kryQYeoGMuzzx7+jmCATeyxql2RfPs0qO6lm+GAu9m+9408QViuhc4IWAl+gHhFNXp7+ZBfZ+QR06D+RgeTjHxBwBqxU2s+NNBG4I8CYMMdjv4vf8Sf1CZ/+QUMkWPTUXaMg8DPg4MePQdRIekkWxqtr2Td6Y+jvtFQMooEyn8l7Vlwl78HfiI5NFgqbZfWMiXEpHw/mgtNVE82gR3cztML/cvnrqrcsVnhLyYkyqWj6YlXFCRfRZNT70t9Lu83VPOmrR9Lql3ctOKr8TZ0ZAgF9KDx8JezIeF91RsYuPUKP/i12SPUiYbvTvpze917uXDYEs7e+q6ODP9T7UKfZjLzwcPEQt2bFB+t0YPX8bxJIY0wjfilWjjTNGB2BuPwUkfPtBDDVDJjyimXLONSeLDnUbpx8TFNbg1L0TNqfGzNWOSak1tFawtCPS0MkYv4uAcm1nHpqphcvyNURP+27cIfy9xy6Le9MbcSnfDDlR8WPO9Ae9lypN/B6qPYJFLNDrm8CIBaUfVfkBughwx51KVBn9Tl0Httyhpl4oVCTIdEbJDX+oC7TEgimOuT9CLFXuFpSi8G/F9iRuZtc36LWVy5z+HJqaQ0GsfthHVnk7hj3IJ8mu91OgAS+XHZah5KU6bdSEZVtIJJTKFL0ZRyKjkCaUbA1iKaF7kMhKkkL1rG+nRWXLPiOyLHH7dEN6ZULFz0tpq41aQeXOoqZg7xQ5qZCz2Qhy4wXrKRHeb57M1o42Rzh6FajjGOv0b/JLREWu/aX0Doz+r7xMguVCUj+uUVOO8oyg1D4veA1dm18NXXzLLRRbxN8E4f+zmaSCW5ycZejmr1iNLRBj6HG7fh7U+4r5zY67pmxoNNMMxBeMkLkIRIYnMX1qyoBAVda6jW1bxvDC/xqxMxHxbzDWmPVqqMWQnYwfMatUbz08YaBlhow6tFzQYdC+0MLuMLIGYzJXQLV1fPFDqOXmFlLOrJc8iYsrpKLm7BXzLA9u1iHaknKSl0YLngpt4z/DUe8AKUCpe/TbqC1iI8mZPYVCpi4Pcy863RJKlKAyf5Ao/f59ldOJjcUTmuBGRZeaXSWPapwxGXOJGLhRMKEAN6bxrMYr76ZEft+KhVh3r3K5xVY/lcdhQCQKHtagVLqxzx7Aw02DyWQavVAET5USCZ11FZtFBOlIItz9z/LbMTBI4+yJHSfLZrqHhvT5WFU9Q9RmwrdwaQuB4LMqRyqJyAOdFBz2jDrOI/fDNK5UyyerZDlrOHf3uvhFDmdhURDzgX8NoxhZvBVAdTtnaKkIKqjy0SLAURcwNOj3SBBir9xfl0XzwSvpd00KNsHIKTxM9s3w1xcNi4DHyt3nUN+nmJsw7JA05/4LqAT/vITEyY4nxcFL/3jEUhnLJZYUnan1xNeb7QR5y4TOBdzaQJ1W4E20XZZ2KGllbQLGDRrlF7I6NAYURgYLjtBb12n70TBmzH7Hw5vrx+xDpNHv4JSPFa41gduOpx5oyQWJSAXE/zfuuV55l2ZXrVH2xzAPFcIZOICOfRfZSuRX4kl+B+0bdLhVdeioufqjXFKBWJePtPZM2/TITEHDxv8Jr4VHGztlwNqq5NojLS7iyvhiYOLSHTwdBqvqXnLuIvRIY/43XeSQrqFDfKd9nVEeFQPR07rF1RuD/ghbnsoemfZQrUqGHI8PVqFGvRCqh8nMRMAYZFWFVGswllkVPNeH2w6oF4pPRGoUOx5lyK1y28ta8Vb5yPZoP9/yse4iGaLvhRr5lixpLjejdPGybnbLJbi6ZksSlyRWQqdwWtFOmlqbTZwZBetg3TY/69TdLrQfHbps6MbQIGs9dwKk/G9GF48c88wW889LGUE6Gjjh/QOOfywMl/6/2qFkd7V8K4HMjZ8lpm5N875QgogZa0fSvgHxiUV5y2RPNnHhrJCQqgnAdowmjQ7FtyBhDFsfyKuiw+RlNn7qHPceDYb7AIMy3wNlpSjOtlanYktKoOXvVMsBa9XeGvELZi6yOQ53kGF6oaoTL4lLMBILWDUeoVet589wLz6zzx9fVe0jHO243blv0sDswFVRK9ClDRJGOIBp8XF+Oh+ScqxU2kIZlQNIFApdplGTCwl78pifcMOrgDU6UBpZHD/1NckJ8if2/trMZdW0sIAEC9im96JdnJtndJmcbHx+zqyIXHXOLTDlpptxHl/J0kLrDAUW2cq74NPeEJRZQp0CUJbbN+DcfY0PeK27Sfoiv+jsZKTCXQC82NtSa18F/fv4PPcOrncnVY0ONmNOaMKXIVfvk5tD/qREkIUzmDyeQWfGd4qUEEqtV+pst1x+04E0uRUnQuqh62adFEJ+/LsOXZfk/1mpKml/bBwf0X3vPc23ut1byr6U0VshcdeuQC1kZlWe5BuAmC7L4QOYnKgLt/Bs95kplYHmBxlcGAdtMv2A8nZn8haIM3czkYi7BKpwWFi84UEP3RYY682YxQTS/pGleUrgrOk1jF23QFOTDnYOdN8TOh/BUgEmg9W02EpmDE6uJ0m335vyuQxP+JVXXk4iapBASnFSHuOn30JyPWaOkBoMxEep1qAEN5e6+otxw7G5bvI5oLhl+5icWfDC1fBeyq5fK152ek5zkUFJxwe8wrNfQxu8b1dZ8VSEJNaeg74P5iMif7KhSm/YfhaxzqLtVESu7jgYj/n1Gb9IabJBwRThSieGE6IsKAjX9Px1tXjzGiI+DGiiTcjPa6LkRQAsehtr3WQcOIhgoeogNGHNxqzIRkFWuNEKdTWimUDqi0EeTIW+ellt87c4Fg6QsHvYEU4hn/d/ghUytwk9Y7NlW6BGMHTnr8wV155lPh3xvV1QP+HldUiOSlnFh980ZrOkUm4uU61ric+QCtMLevM1EQGGQRrbkgb1MUeti4jnfN419wlKW9fBHFAIRLcpHIUwYWtgQ7A08C0+uHj96XWU/QW0MTIgsmkvaeDvEjr4OGwMNQQR9WBKWbIUlEQJZc7duaEv9aQNvlEVL1JuBGDC+jbt8qAwOYtNV4KliwfxziyEZz0olxjSNd2bXGxUNGPa0WBOZNiVvXrAg5vBmDBiaqsfyOGuA5AHksp2BdDBTlAB+vyu2y7hi6RuscRalel9IXa4q3gjDpnmqNo2YCK34iavE6EXwqLGH9otEJWl04lPoTfW7qN39hRZwPQToq+u3BQROceNZonFFqLIkPrZDc0075p2DAQKSdSwJFlKHLY4NwTLy0ANfEVPGNMXORpNbsy28tH+4uVINm+I6PDS2HqCk1yJupuH9sNZebzoa6laL8mJ2g+rOsl7rKQy3EXCYfKms4g0pMstnGHw5Z+c4bhSeiWMYLoKUnbmjL9+xEDQ0qY8jX4HryjTpl7gAoMLxZaujS1JVHSuVxoxEZqkfRIh8FLxMMLUxUntSyMBy8aLYANKYKZyxsGW4KXX51b9SUAbsezg8pCd+Jd9SQa0pDExXGWJm7O0A7HIQlI+zckDhF/3obnG/a8k/kAgkBRB12svCYlLRZvCFjHPxYyL5WMDEYmOJuz/8RmvTSBrAZjgvobueUnYPH6Hdcy7PDuuiOHsSyJM90ocyIVfBMJ36vsGmsiEGeBR4jauqr1d2FxbX9I/IB1zRt9+czP+W6RgEit7mbZRC4VtCLnIoVNwCPfcDZswxL/mCA4r+j6c2tLeArEZt/KVzCsAYItdYuglWd84DDpaeWlDVMJOyXR3yFX1NrtWrLpVw6wMsYTR/JNEuEaUkYQ9rj+7Nhpc/E+n82RFU9ozCDxmf6ieX/8hWUYEVZ5PMKIkS/KNQyOWnd9YI3WLDVmmk7LJ8/hbk8x00Gjerbp2+20c077zG0RGeaLH4eNoNJXgEz4ou3xGnvTv4myozcCXiOrnDZNxrb0np8FKrEfIL1PxUX+vv+qpOWfpSvnjl1fpbUb8Me08J+KSMR8HWMUpqPHim3ADPq19UXUHgAsCksArSVY3lBY18s6Y6K1y8bSlnNKbWJ/5maSepg6u4vpy0qbkFkil9SHSsVs79cH549oRviFCFlablF7nl8J+R83RTzkwog/aYswDwyKM6DC+KDXTG0qZh7xr42WB5VILPQNhOT4qqfyZ6G1wuta79TbwZoTbNmQaL4NXKjptOiUrtHdrXHyu0i7q9p3A7c4EJ+PEAdhKiT3ADtTY37NQvdMsoHF7PmzkokHENjcAPxCrVnANpx1TquCWgccWSdOr7KbZ4Su5Y0xKA4hkpQ6IgTy3xlds6e9opgyVAT8ElsVGSyXKna6MCW8wxTwI/oqXjdg9hNabWhpAfYqSG5lCbtYAQxDL2iONrOeGgkh5PqsmPkQUW4dugDrr2KqVptxuuBo/dj9/4L4hLYCe/zmkltS5CzX/7H6xjYL9kidA0D09zSdxPqUnBNK9Lt+JWfwSLF3TKI7FxfloK0Fu0njhytBRND2D0APgpTBskxXN8z/WJmLwbSZBIISpJdX8QQRBgtMv/4V1mwZL9ylpzY8Ca4jjBb3wqWLJ7sb2C6odNJ7t9ubfNw/JcQSM9bKJ9TpJqMth0eOVaBHZS4aSGBpJ7OLFeRKL1TqvRwqr0yYI6T6JAWRGPCPZWa36pomld4S/YLgb3IMM1Ms8MYFfuS1yTeIps46Mko/DcJ066s0KnzjFrl/F6mo69yvgFMEgk8xFUALD9JIWqqDP8C1/jmiRdMxJrOWHYR0uWT67TR4oiiEpdzq3EzG3XJTzopecjuUcUS30WpbzoH/tPu8nNmDN+mxnfHdarvRXGaJ7uAoEPmPIA5j90ZMeCRpM3wyDBMGiWC6snNfiVKWQM4ONbaq4ZonxJJO4LCL+QHnuS6Wl+XEOYYs8hKrDQ1+YGFoCHmfjJkycUTUe+m4D1LuOX1R7WKqKoapwgMUMPQtYCj1RCXZFSqYIsu84C8fUMeCnGexXb+wOhVfFQyN0+J9p2M7rxcod5yP/GOAI1lXdv/0vNtiHDSuSdKesnBWr47vkwKgxX0tguxRFZgCxWrFI/hxGkekL+QMhgWZ1ODqJupbK05PBh/GK5EOLUgW/4d362+nH5qJz4YFbb98TKuPm8UZcluR3aZljsXnA4uujr81Xi8TTh9VDBQZAQlPNfHDSPMgUIFro8S882/ofXfRYMzRm8XtN4BNHthmVOcQ1gcN0K9zkIlvczsb03zg5k/aUZPpPJTwFjuSryzRCxt9qYe/FUOrtOruDLYVwKPa0nkETpJziH/z7yCCzTF4pITAWVDBDy2tRoYPwRAz2Y0OIupSNe8iJWTZ7lsebvu+y69oCcov4/qEEs+qfqvsk2GDFMIxgBwcMYIAmY5FNK5LlHdaC8ZC/0wLgu5O7YgZu/77Sb9HcOh9JFprLqrszvq+Rb/+tjulqMB3HwLJcISegjUeKVzP98BV7FpGElAFTou2GJREcyeOmifcgiZHRSJ+7+rRZekV95Lgay5AN5SFfYSLA8x8FmilwHVBf/XeYic8t8Dujb+7lNCcieHWoW3ldmA2M47Zzr0/0zoeb1S9MwxHqn02NA0u0cZGrEypxEcZrPzhQvcV/GqJS+v1RzNL95C2WZUDxupLl/wZu6WWIyzMxhak5k8B5Jesmy7b/byhRBYwqBNdUQ436Gp9iI4KHKsST3pyKZSV9ECycWro/2RWK3eLR95K/muh0nC41tA4zztnm2r8YPs2qGjUkrbOcXwxgJ4AjSKjOKucb4PVvR/pFdW/j6MceY7aBQj3WyawN8ilXhjkZ7n0Gpm/qpJFwtPzvr4UHhrWO4/8Fe81sE6hfd0e4FX88M56ageoDu/2FN55z/KxwCcOfBO4HkAwvLUU5UZBdwoOousyS/isqyAtDbHS7pRYnqWHIThHaW7NhT14E4MwUcRqqPO2kF8d0FlCuatlOHkZso8g8uVOZTFLqHmFRUCwbgqShqUsY9Mc8B5ua23wATzLq3JXMHauRPnG/oz28zlcHRtWzgDaXd0QLutHGIhGo1jLurZ0cbkCtYxPmjCIk1RvcWzLPxZsFxxYRtsoCNeGq4MoCw//sy+9hyKL1IfcjbZz5qecOpHfYXqj5tCtfYPNi1NvrLS69lVXU2kFiVcK/fE4VS7rJuDjKLRmKg1FFzgSygaL58shO9peHan8cuk5p6MV3mceTrDZWi0NqEq8iDwnvlZ4y4ufwREuivs2YHcOXKluC94hsM0Bg44/HrSMmgdSfB+zHa1yEMVIeHPCGhpN2nVA4UdYWxUtqrGIjYs/dxf0VPnPpQcSVNrKMnl0ZnSAweg/fdBajm+623WQo0rtVxThRGuxNMe2G9CJJC6NNFj8SsbojN442waev586Alf8H3XSnKsu3D0JvhTGJo/TItCjpZFkJahslpNB6LpBJ5agpbJyduT2rXInuSuyU7LcYoZktgUv94iH91wwtb4GqFQ/es/KKEuPKR/p4gyF6CJ1qQ5dW8SKVwq7DBH4tchocQFPn+A080nnS3wLaDMShy+/x+kfBou4wZOiSPCrTawurmTG76OKwveD2frqChyESpE2DUcKaO4rxkB4XSK1R882i8AblyCH0w31gYT7o5JpLzzb4yYt0VHrqER/XdkOdXCBgAmmlr58T1wRYPJjVhhCB4EX1eGTO80v8B6JHhLctgp1/90o+JYWjb59O8Xk5OSHNbHQvL1a3pqlhhPLGzEHs1PyqTpLhVxPOK9svDjaIHWktl8EBnnp9loZOidruHCmB/Cnzo1jBQYUXvwGmhgjDT8BoDFgQFQrmhMEBx4vYEEdPw5pOlghip9ZtKOutYp7csukWk65SIzQ+zjlB/2F/ogPEPqFbcC/B6W8aAC/f8/rxID8IrLAr3kZlLmeWuOg9skBZDSKueVb4tpzswDxuRP0qd2PRcm4vrC82H/hRGl7rsj6uegi2COcb2BCSaVGmyJ6axuT5hKMs9+FTeJrVUePGAOBZKnubf7BapnywaB51REebXgfbBoCvwQRqjaYlIZt4XQuGBG2rdMM36SCbQmBhEOK1Mm9U25EiUVazG14bSDlelHMd9Rt6gjl2sfpUC+OLDTLPTzFqII8kvL3y69Gm+10/8+Qna2C9ZQ3IWpPFX2ZwO/20X995aFQLY0Kffk+d84jJ1JwfF4VZI+8yZNJz4jRfkVgRe1z3c1RrjJpntNH0anePru09N5HE87QAVJNPRDe4BfN5TE+AoPy4+DfJiWMO/fHxMS0WPz6tULy416nV2dXwFKy6MmXn7aUJL94Mm4dXczBSLc7nF1flb1ls9DmQ8Bpspcx5UHtcrEwDPH5z1baeuvB4c8J/iIjd8wDA2jGCqob1L+kYK+7UjYXvJ1ldMaqcj3omCD71ZRAt+HD1ijjf6hPdkBflyaGLWmyMewvOdOC0kkXafBOXdkp0hxAgbpMPnl8JbWkS/REEQ54vx8VwEIgB97dwFV6Ob9jM8CYRqKHck2UQN/MPq7ljMMVe4m38ldHX+NorhEs1lAjqgx9P0AEoN6njVVgdR6s5Q2rDBHLHlINbJ9ngBddFUgyOyUdJAx09LErxykhWg7RLNgERkrQLJnec/MrNShKaGDBUIXC39vlAlP8HPdSbN01bUlqIHOO2IPoPEaZDu1CvGxtWpb6zCb3Rh3yqaxoEhs12nHkoWVXbOWl0kjn4dU2R5tbOXkffn2TkSnkaqDiKaKzHxZMUOA+qwaCA/H4vCvcUwIR6G+Nr0chVupL+taaqnrHzZhrM7l0dUo6E6O/Ic3Swt4bxLbSAnxRF+GakF9dZAJ8IVbqO6BlO2mEsizK2qH/NF3qcUjDunulQuHOhQRE6bwLHrmDjYsVRgh46TShV1wIIVUG0f4LZVtpifSrVSbmV8yK7to/xwW5hrFRc5RCvPRJsnigjC57RHLEzeH85euKJIwqs0JVQfu1feYMiwJK3sGPGAgwbtSejkK0JFtn/t93LYFIeanz/MwSANjEn0qso9it+CMxZlA+LXL0zkQxRL6fjkWGhaXWYAfTlTc1X5GI2nRykNnrp6NGwo2rf5hz8eZZMIwPWgRxh9vNc+YDRsP6tp2SjMNzIJsSQ/TaJXHjiX2bbHSAepWCtQP7DNLIoHqi8qwd85dMeaVh7JIHXqCrp2vl5K0WUcy31xntIa38JlBUgjppksZWhX2iayajvYuuZTPG5rD9wY8NC9xPosHwOeEyloo7jD9C3ZBZAV3E9GhKlFfWsnYf6zrfg25d7hPN9iNqi1pJeb7nWrlfJMiL3aX8jQfUqpISagWK8ehbEb/Jveb2au0G/273mMCRw2ndcoKVplxehgwwKWXSKpOVDroycrLnFvImPGgxry0iVJ2Vl0QslknzBuwkFdctAQG/eYoyerMcg8eDSuQ3+faTTm3ZwtZAEfIf/jU7IePSyKfUXptAgRkHgAuLPEAdCSCsrM4DMSVYv/2/CfXtVQboqcad0oEFhfDf86lK2erz7qFs1o+ZargGDcuIanSj+KancDrHOSRxO0ei8xr7xHSe4CY4WYbdGT/zssMrjGYWP2GJD2nkTZT/GxmaaaxNniMrVZJjklUXjkZ/TGLQ97PK39MQSCqw/S3+XaUR8kenY8SAAAluxml98LMyXaVZF/XeYorpmk+3noistJlADiLBkI+Gbkd8HLUERnsUcFQgq+Al+Mys1TnoxWWpwIl0JVWus0sm7ObGA7NQ9JRrnBfZN6oJht0AHZq9DJ+N8sXpGpL/I9qGFtjdjHJ0lqkcureGbOHbTRR83pXSfibJ+MViM5Hh53M3xrvlAlc/xZFTz9XZd2erT8LyJiTB/BGqCbhq5J+jrieStNMIYYSqAlPDKlefANNvMDYrrq+7F47WWSAO/OEctU/7a6Ap7JM/gXpmdJFPkc5NWbdxLil0VX/JpAwsUAu7Imtq2oUCFh3KAYcuQ2jVCVOixfiUPLHBQ5YEHD6m43G0/oYrDPob574YLPgcyBFXcUCdUW8cb0Maug2Ui26u86mJDbr8jyBVZwhp0vpoc2WgEmzqs7RvpqHvbSTs/HGslLtTfBMJHRPh0owZvXTosXE2nt3bobyylOcay7tUSdLyghQqxwVSO2ieEwcuAsnYxUAUpF/wcYEF2rVv+IatYl652QZxlAKQKDN7S1IMnmjcf9PSjPntkmCAU9hgyO7sU2gNZTFK6QDTnz/5cypV7nGINxSc1e021eanCLUxq10zrDS3q4I5G0f3PDO1NXFsSEan46KQ+qWyo6UMgeqGw/Qxjl4QhEDRuvxPaMDLCvLehdPuPwpGxkM29RP2pmYhdRGh7QTJ7bpe6+2Gll2c4CgzZT1efg6tUjzrNZnqwpzllbG0UHjHoDu/ACL1D7oVk25Ia4fVuurgRROIunfF/7iTNeKBiJBGJKzrX4vRUqYRfBHww8tcbYV0HN05wFDBRGIHFzovfoP1zq4JZdhihw+Vq4ODMMRBxJgICo/It2Tco+2SEHuuEJ+SzNiASVjiOUHMoAW4UD5OdGTkdTkODtrURSelmENrdxBtDecVEuKOMq4o3UIZge/HG24m/HCcCXU8vFtzo6JeokUWKtQJJ+IoxLyF2RqXQb+6H0YG5g2IquyoSV8U1SqYcmACVR+g/9d/fBRrXuEB+qLyvYh3KUmEm4taSxivRW93vKldVFnb/89wX9pIF/sqmNmb+uIOVCW0a4zWXB6++q64+om3/oAOPIy45Id+KX/x+gDXOsv+oyO3+Q2WGZ5ub2M1CcuK6J/dwKPLHj+4RVOVQRvBoaLsVN+XtBo9oL+wVBkoEg4zlOq5t/qYxZqLsldUv7xCOMVrbg9gxqu6lgfgiN4yi+fvp8f0af++0JgXdhT7nC2y9fogNS0/P01wg+tZnuSsfaQTis9EdUY/NOsG6R4B9gyz2kRutoFDIqhMuBRyE8lHgRvWpQo/GLR+gUfVUsfxV3gfvP9BPT2ChNiN7IYrmdCw7XSjIXImnUQvIfuiIX16s6RsL+mYCEkcBQ7oTEs+0XYCfMReNqJn574Al97wu3cAZK8JJQZaqojancODEyv8zqp1ko7x/4wVtG8U15osDeZC5vvVYXmy5ZDyKndFKnorkL/zYuth5OdunjPfNpnGe3qKl62Uq/EOdhL8qto/S5jX9hS4ShuLG1gCNFiIkm0jGQ/a4BTlPRVLQs9Jz47HO7Nvuhc4II1Ka1+6IY1rPDa+wLM6Y1OZek/NzegUHbUXpYcwGcHNMgRuIyiig8wDoiomHk6v8UT02YSeJn7zJF7leZ5SIFedwUOdAr7ee1DSUv6CwsM6bP6dUcEqqsQCxp3pBqJqC1Xn25kMBCXMxRwCvG+UnyZNdDAAr0h79f9zrqwHCtOkqezy/odqEDP8gSdmK5x4XpITHjHQkK/gfv8JJeQtzlHtsGK2Fxo23A2Sq77xlQWEzyKbg8nIDqLUUwJqZY+Pp0G/h8Qxd8GDbZESx2cqPpkjkI86efjzGdc4ePvui/FmuxMQrB5v0V/Ev5vTPwoRZaEmD4SasG0VlHHGqg0VsL883shUI0rbBquCVjpDr/exiuz24a68WaxzkKO1TLso/N2ljJJ1sQTSNii5qCSP+ftsa3L6rr2LgLPO0xsPAmEtJJ+GFC985nvniEr7ot2U6UCTRcY+e61sEHVl5tq8cQwg/WygTRllFlSezf5+oRKtzdUNQYNT37O0dCl25G8+tqmSr8h/WqTId/MQTb6rqJnvRxr9TxBf3UDlYUvtQzWTES9lvyh2XMZ/XCRlF6iPvB8QhqgKIt6v5n/U3NPBqoF7TzOx+wN9ds/QiR0R2zkeDQInGBezM4hqIw5SmM7QyVEE9WrCmU+XOrbwOOVMnpqpq+OSpr1gF397NavzhCwcfZiACQfs7H2tRvGrctF6EY9y0Iy6SarmVswT3hROzGxobT0ojMQ//1jxCfjEODUyXYnjgRmFu1W+TXgyWWDuofbeCxJ+QO/4+cQicDaf7fUylySI/s4Fv1RR/KKmpTq5uevt6jVNQhdq2JGDF5BSja0zINvBiw6Zq3iLQLjGzeTxIL8lciTmMAl72D9jjeeTcartpuzloOGXZrbDQrfhM3S4JfuOnVR+9mXlGpPbHhaytSRaj3RCEkUMRZM7oT9GBZ/fMeD/gvWgNhm0vglskmngveoQ+XPjlSYcV7e1GMXkIxunrPekueJxCfTzjSd4mUtdfEZG0yb+32y5WCxr0kb0anKZ1D1a4zjgodSuPhEwTAWphYGilFLcXSmHVFieP+E9VwTAPuegBbrKNuQAI4DSMCM89+q5b2nvFCqYQfNMZWinweio728stXkiYuhZy6TS/E6DJxnJ628AdRmLTHD0KH0thTFwtv8n21+jiSTBOsOkJredtfztM7y1NjO6FdT9gc6C0w/2BPbQvGw4dnbpLstN2iHPO611TrPYDMtDNRy09kvoYxyBdmJSodSSdAuEhQNtAUCL6HezkRpb6oc1jPE909QPFsLDszK29ohAbnS5gvCRRDJiiTr8uJ7BU66pixWtLp9kHebYIewQZ0f6s8E7CMbqxb7JlGUffOK03tdFT3bms5Nctcub5+gcrbvlCt9ht/sdihX099TFHjpqIUJxFQwtOGZvxcABlvmVQ2AuSTUSFxz+BFyIsuUYOh5AHcdSssW0EDAECqcOx5iIIM/CkoB/N0jQWV0MG4gmKioq9JNTl78od+NjE7b1ctiZ8aIjkt9IEQf8YF3XmCr8jnm5JytlWY2+wxcL3rpRGedALwDeoy29LjyWA9QMen7O82lDwGv8sWa6A+O8xVjgZM4mhw4eGNRHJZ+SunR/cepg0TBldsnA7PN4lR30rVB/E+HfipjVsBXkMhgpie9x5+8ET1by5UhgI4Ut53avLPUH5VEKFZBH/zMhlj/Ycowc0C/z/wlsbfpYc7OhytvdIbf9tJAd+/dDPDVHk9eybyBNrxP2PBN+ulZ9qo/rbyRCyuSj1s6F6wkhI+8HH/jI3bV4GEhZbRzMGugxrYT1pTVXs6eIjNjBk0tZuUDjP8bJNXnOxqxCWHVnVRIhQWLnqi96Kff/GZKi56iVmIUIFq31O7nfwakyBJHUj5BG3BFSOAbI8Nvxdrf/+qyzK953rc/kfvDfcbvFWuKZe+uehxIyBY0Bw79N2gLM2OQ13N2UHA3sjsG/GWYIegMkgaOaTqGmzCNBxdXmNKXbhhT2Q/dnD3ytTNeYWya03AFKTvV+Q7AovwodYzTE0VNxV5QI5xsqYKcfaanoxCtVyrTZkvQDnl01Bw9hwdfaC6yuq5AFSnUgKtJFV2MjNi4nvvZyjYKFFAhmAqJqyZGw4L2nF93SyEAVNUiU6dRGymDZLbgLYZh2dHJ7CXMSVuWvf9OD1qs7GBmWzrXbO9RWf6CT4cHBngFXQvnxmtj6ZO+G/dsvU3lvrsA4Ry1kZR/dYOgKiV8hhdDrog3IkRDrL8PapYIfBc3m74rDy1P9QRL16Bng0vGFuN5u0VHGECPUg0E5q5gzv/lM95VpAWyz/Y3DzEeunbpsWAQena4/zH+cF1Srt0KQG+Fcfpdx4cAuFg7eINyUoRsuJhwh0ge89b2xHxBzuM4GYRJ6gyarV0YLx+GtAol7+k2uMbfJUBGrW7Jj8us25hXejZ2jMAEXoKjEPWGOe1rdNFU8E635dUNps1SXZfsiQCMLpY3PPkMvIfjzjfVTgIrqa99SFEV0S1snB0OnfxP/yf2LdeBQ0wBHKZqHFamKxvBwUGp/W5ghMqc0pEEbLZBPdsU4CjuGjVRRVJt54GVppVrFruowDrzu/nvuC/L1V6Cc+iNq909xrDBLfzH/E8U9oATpRDyZFa/BYF/IeuLsYLEx+STk8nesfZO+mH/9RdrdIhpx98S9MCgQPZozogzqRu3gQSM8K2vM4io6VU5u08l2hGqAXaJGlhyunQ8IHhpnkfxtT+t64zX6yR/LQUbteP4y+OMcY0R6MhMfyCTZQMo9OfnmHIGUeIbNqY12JKQXq6RuzcXwpORXHxkDAvwc0gyUM1wNUfx+FhBEs1ysq1hOtQ1Zih+aB0AQGMIog7lJOPBj8AlhwpSDEOZzl0VIEMpO8131DHDbtjaU3ig4td8mLBqJbmAREHgWkzZTwbBjqjEGrNFlnLRHmaJAwRvsBywuArXpkMFllqGGSwC/XAr7waMAYzrDbYxAFlkwP/+GxNGdjW/Z4sO9gCxBZICT83VhvQ+kezO1PF2KhMYpgNtg1uhwNWEktIZXHgnRFdErHnM5jBa11gqv3Nid3GCxoe4lLajDdpKJOAwdEB90Nnnguqm2ZfAJQ79egmQ+mk5s2UMDQuFj0kJp5A8OsqdG5JGMbGswCnAfKxbO+VFH96mt2rKc2cMSS4B1kA3mFuGp5iNNo9Q+nOx361nRzl3pbHlNLvfRO9JjOjFzE37I6L77grQWFm1XMQqEMg/cYsgtUp3aJmHG36aw4YfD/7nHSVP9IZ1XonkDfUHvJEgAyMTMhran9c4A1CSssAoFpDis9GruZzcYxCpbM7AHscIp2djxph0ci3JuuNMJf/gCioaT290TWOuyT/VfAAMKNlrB+2VeyT2r6RqSz21ZoCg+BokGsd/v9aSPILDzG+1YsGaTCHXSMMaiKYzmzhfmcm4MFkevmI9pQZR6JRHLKD5oDwvZGY6FuC4klWsOxs7fd2IKGJgCznrT4TOjv7Q+83zHaYWODeWphwfWdug0aA5ErnljaUUlXv/hxOg1pwD4BFuCbMQUpV7GzSyPJ6S2Cb0uajtAQ5DPNgf/YCvUGXANUuz7p8QYtCSRhIG30bk4HOA/zQCsIqIcsQtu29TruoYY1gsCU962zDMidJ/SVsFzJiHu3CFOUycSRFoSUN0k2Sgn5KIMVy7KBDlc4AZ9L1etLo3jKth0ILNhYUqG4/phJ4QpEu9mTRXJ/HFGd0YyNjiMYu1D5e9HwvbHcLmb3GPT+1cMjBJ81T6B0XycZlqkBfT6ByPuvONdDR6rrQJaMvUJbZnidjYxPtRtN51FnnqdIa8tBJzFYtf4Y5tgfs3yUtAtm9A7UrRW00xkPGhOEoQBoI+vh8kkcuJrtce4z6wqUFv4gRmJ7hrtjO803rvKEqoO8SvAnCLzChRSBYvLOoHU/q7jS0A2RmhT2JZyuelfsrKp9wlpqq9ayFOEGZKpNOsd5yyLmLWtgNpiN2egdwQZAWgBTStkLh52W+GnlwLc2GiydEV6Kvw0i8/vWAkhCSr2aJlaKIz7+1i1mJIBC/2GEBHSseQ1Jvs7/YTmHeiOadORNXZF+JekrWxyVUqwn+YpQLAh9f0l5jPaGl6uJuUWx3wPEolwD7ERCI3bu/6FJkpHsGH6UDPw1G27nFyFOFvS//jmXyll7tn9TPDGwpLHl2gnd490NtveY4jO0f/78ILbwFy8OUdPi5rYvisUGP5aghCfMDl183oL6FZswhnnYr7vYSox1cFaWUBmOdchG11o/B3MbpSDz4OayyV2gZ/nMKAfTfKVjiBLGjKVHaqRXjXC4Bb9iPtS5ciEK4IyUgYPzPCHX7mGxFhsQ+anKLNgqTQ1w2FXzG4/OI3jcLM7gVW7jpfKzlOziHIKWslUyjEx1PIsiIuR6aDVp6SkmoGPPd7r5kx59QlAivQs4xDtSTVP+fpYVXK9DZwbLYdudzWf2iW0s4oo7oe9hLTKSo5deYnxG/Dk2YImz4BUBLL4qWY5BgXIf6YNDlwImUTBUfwN0kz6ua5LxBZxldokO30oOWwKSw6C6Od+2U0lwPx0G6eK1jOUMN8C7fv8il7UmJWyJhG9bnQ3umAVUZogFeJJhin7onDWFdt+ysc13JkCzV8Et283LmMOnKRmbde3akCs9op9qPifwKGfX5lxQmlHIFiwUUW2BApUqT/FyJN7b8ATry5l0dGz8iZQLj2iTpzRAyh5VEE08uuekFjD+YTJ9LzYVtv0Y6ovHk5OFD1FoyGwcHsxhMQFLk6dIan6grnWOGh9TzfmytTRfhJ3vbPmVfLoiNcF1Q7m/FrlnqgeVnjZWYa1dk0lRB2GnZhZ3Ihh/5i+ixLypYYbyLOLuwn2gWY8HFs7ysl/0hQCeLJ/66q6bn07ffeGjb9tEtxIvm/mlxJ7J9cwg9PHe9IBnwY8lacfWT7w9dPFs540aGC5Sjsg9TKTqpRLLqa+c+OEDHRo0GuT08kA/Qkw5F2q0TOUu4v/KXP+pF+zI2mdXxr1LSLu66CkFS270+aLtRRdI1nHtWKyA4asxryPDT+w4vrSpEw58USRl4xsH+7Pv4BDIBJWB1iTov+OqwrfaTB8kU/Uc3+h+DdAktXoqMiUnY877MxQXE+PCq9WzRLuY1o2DMbmb8O17frGUCWCrpvBHjDh9xZOeiO+/f95zr7OUcGQyp6e2nAnYrBJ36mgxqP1qxk1Tovw4bgv/0R8em8U4MYlxXYP4UjrIxLM6NyJlTv2N4yGGYzsifFPlSJ5D9KtkUr3ahzuxquGfo4+k6+RzsRJX86hh1GXB0tzxFg2lCD7UWbQmoAe0Hq0FCprYkkwK2dRUWJd+h/0H062lsVRDLc6VXtPWLCshAFnADUEhHt3Fas/37gqqUnLWBWRitt6HZXguT8j2LKK8mbDAyLJyMr6CeeQqPQNXZKT3AAGIWB7mYaTADeO7cEMOG6344LO0/dAeezVC+AofF8rXWPnvci2P61+j8OnGn3DCJppOsve4utXDcky1/O1auQDhX6uGq/Z822gCXFeDmthhM4WTbqzXWkjjmkurK9D2k1E7o7GLxS00xtCf2eG2w3ycbwNzq1zFdTSjNJyhL7KfXCZNngLVu0gve+kWsYS8lbZXKaq8zaPYZGQqKgoUUUV935aSD/mvQP4Sc7qL+uqhl8YF/T+UL2IUnUY/T4OmnKbpbm+0QJDtUrHXUbjNUBezfxsWKxNbstBhssCs8XeN+763FYGgSC5KiKs2IcMDZ9aLy9jVXONiINgum1/fQfrQb2eY4SEzvz1XUwCffW+hOEfAy+OOCOWTWZplYn1V16mXmtK2KyfjYHahdjtlAhK0+QZOA5PwF7jPVgvi5JB3bmqGZE7thJYfyHbSKitWFfOv0J//dEne6cu6NCrCJXNCiDhTj556Z5dOrmJXy/SR9cvhaWwZzIoXgSgx9d4S1+BWMhTNEsIcLaI+dSdK6DzoBtRdzvI2C+x8FBSgflsYyyBpnfonn2E0gzgestSLUTuOexb2qSa8INWhjAQHdIkvrdv2hhRv+22+UtkAriTpziZP+4SPlnIKrlQ8ct64MB5PcZ/B+m0rFHAbyS+wutChLCJzuRYut4CjZAn5M9SrlF6Zs0IhdiNum99aDVLr95ht7uDmqpqLPB7dWRHFhENNIPhHKxDDekagF+565tZR8zqUTJ5VU4nHal0/BwelN2E7G+CWFtXzFbCLFvB9kRQbL3bLGCCy8a50C4fadmfoaT3VyeTLTqzxxmiM6isBm20sx1BCpdEtPuU9LXR3SxKNJijnJfc5K0akKQap5bbpbO4/TO8S1tz0VEAin3m83PjlKba5nqUuZrct3MrY4fVehScgGgi/AArDT6z98GcQAPWRdl1lCBmmjVzEjDu74v0saveXl9412xiiIx7okeEuvqWIC8vJi6UjF+mLu8unROKRqlW4OTYNDiZprx09Qo/+mh9sJVMZp6x4+l9dYFWkJkpp0cjdap4QVlcTiJEXZ1fnfVvHTYiuinjeMw06fBQGQlwEX8i1sCyyIFN3PN6AD0ia+yCZN9Jh1QTH/q+VU8zzgcL4hjJGdjhHu3uFvuDgUdlu2Jx8426Gk6MkwwUNlSXQiOhwKpa8wvT776JIkGyk3OQqCp3jsOUekM1XYYMF7BMOx4KuRQ56pGkW3fNtdqQtoVW5bERJB8OPd57uEztDm8GPlkPVANbsS55gL/FU6vq8p6F/r00kng2tytW/4jNK9OdTbBl0qtOBEHaU5KJdIIPq83Zz0ChoDIl8EkxiG5d/Z+auNfXiGCeEdUz38fnA2BhkFDxClm1kbpGyqmPzdRpigruz3+Bys26D6FudTsTIDqor5Q06lHoNAxgh/Sfql/wkv53YS8hviR2J+dJLkg3RNcPIy4BIDH2vnwV1bkvjO7Hddt5FwwvxVMKCrAHS62/lqTzs5Sl6ccBpjMI37/Z0SrLQxHTRIRZIB6UrzH/6WHtSbG/4bVNsQQIyQ+/NRqTprKmcPfBAwJ4jAlPArgPlyApWlp5Rp9icFfmTFIc01ksSeB/2OEbUgjbzr4ipqIFZRjpB+vkbfUwKx7sSXJ8AYQ3aSgRbEwVFOpwUCNFsN7Dfc3a12MuPobRkL0XPzt28SaCG1wPl6I8jnuJjoIqCcTMxMydJfdZKc67eEIyTsoWfU+jzTOGFubTHhkji08eTtCrnJbQkKjZE5+5IkuVJ+0RkIPkW2hl+lWHKOo0KjNZcdvTJDGcL8w7Iwwhvxeh0MVaL4ne8pxpthKHNqYt7kmgcto2yVkNfu+9ZTQWLLYSZO9AacaxSd2dXL+tWjaYaedAYu31RpM8npHCf0rVC+qiUXHsGP5ClVVZ8/61Cu6oolltaqC7I5VsXS/VEZ6+Qs3rG52W1Gea7heTIILrOCMOJ44R6g8Jo9cO4iyFFAMNTzISxAV0ckqk4ptvI5jfqxdfQpUExW8s6/yV//7OgcwvJHerGSPmuuiXT6KIqB3BJUzTG7ycNuXAAM4l1PyvB7Hhig9cfb2B/CDSST5Z2dquGXvPMthvtwEV8NrJqmngrF8ByUZeqq1JrPx02mkVmPnlYfU6Puhqcy9Ll5BOFFYne0exPbfJaqHkS7PXkJmdjaraQv0yTD3z2+Eo4PwYSmlMdMGtdkvRW5bxdzoxQs5jqR9AMurAbBF8hlFN8gziiYan92R/riF5HfZ99Sbsru8Q4cUNUvEKiUSeDR5YlbqCYWf0pwUJhEag1ZhS66FH4p6fk81+mGRMONbmLNk96cQJTZ9D43dfMCIFPQreuA4NKI4d1t6uCJtcjPYona7nenMSUvrrd1xcFlFFmyWjmxp49AR6SLPA9+hioPSibDTXZHJGH+RrCm/4aA88Jk3933wpIcsm4DZzXDBkdKOQPSgUBDMdgwLfwmSBTqHtCVZTvCgzxuL60V2BpOKm7YDgUqKjOEAQJViLsWrdHiUgLawEx2Egl+oVUEiJrBF7GXX4BggdL8j4VqPOs5Z54H+FbgCpsafAMZ+b2GOiW3OxQm59aTL0JKSGraMxDX8Wc18Jkke2iRiB40+OgIGt5gZXKGEUFgH4GTEcUJY/ogGc38SwfpIrj3I0CiZwEGYC/wQugop1xJNCf75MCmRqiS+QRBkfTcd+Vo9nRSGFqa7FGMkfVr4U7K5K+UjTH/e0J9/iDxQhCJvd4D7G/63UQ5WCshRy94D0gv9hoJwP8db72VvmL3xJ1qNraHcDEY+Nq6XyhFiUXBG4K9sifpNO5iQI9gAmlBBotxMY06Q9DFWR3YScTJBOX0MmljqhbcI9cg4oo8aP885pY1QCs1gOitj21WLdG8mbkONovLCoPMHdfgJk+A4YblFexJo+NckZeK+AUsSMbminpzZ+w6vdC/so7v11HNUJ/+aDVC+ERCEsPAONXb1n1rB6jOhu1Z6C0OWAYOI+wp1CXyhonxu3E37J10xB6iQ3RGTfITDcDelPYxPqjGOPyr/teXkiCrpK/5fkjDhEwoF5Tg4RwaDreSr4VnzV+s1oCTrdFE7NbCpWQHFkqznaLy36xY7C9MwFer9VJzmCk9PNyKNYdzT6SoiDmahLRUrVXGjxpI2je7KZpZ6UEllf5RhDEnmpUaiWsTH1aS4r/BlKokmLqHAa1MMTAVFQYkECFuiRF6xtOzmnTYF8ZgBs6Of2rBvAcwTw9nJxiJYM7NCVN3Dx12O/M4ybb2o4HVQyBV62+9zb8EhAvgUROSXAEWyKqADuJ8hJLjaWKOY8OdNWJl3uZPTmnFIYhsCxgIIbn29g3FjuMuSHGdCFcWNIlUq83ljNzeIAQrdTxH9n6BdoJoNlLtXa1C8Hf+6SvOGQQOIvxG0sxoJs9pliuIZ2sYtCX4LMPErugv3jdBpfbgl5LWi/3tP0UQUE6reDsJFd+ZQ/P+wBLjAxFbn/7HPomtKr1f41eF+S26ujnWmtRaRHBD7UzzBE8imGJjqYo3VRDqGsNQ+aG8hGSs+r1zCaDgquck+HaB15gr2DU8F/klontSy0ts99ERPtEomftMfr+Y+NiPOz1ZpYmRNSgicgzu7auoxq3pC5kHrzSH9dDAEsSGIswGDAeamDlcKRaOO0+W7EHxTjGKXjY0oxtsEEP8bE/z8RHz9zQfiNbMRolJV9odYR3VZ+QxM7ao1IaqcQ1BT/dSFgrMfFFp1Atoc7jVE2piI2QzIoxixPOFh5us976aAunqpSdFf+RbrX77Y4AbwRUTUjTKhNHn96HZ+qlrsOwcamNGWQ/hBtsQP2uBubZ/2p2shnwlDVud6H6gz3UNXTnd0+o+6pmuprRtdIVis6eU2mGXBWhGow6BMAfvL1/Jv/fBcoesWfDvaNMgO8Szr+uPAuk072ath9Br0EMfcOOerBWM2zrWvJ0t4rcrfyQUuJcydO9lY1bT/ppAAVLpKandVUPGzqk3XF0O8VneVPNctNhG+a+bQGpJuyFtPE072RbJhyB9AcbN8K+s6Lf788PIG+KBvxMzkpwyY1u/Y2gPTucBHSsx2n8em6Y8BZdQaoApTkanOgzCW28MuewCGqLX6txlR5Ib58kq991igEMywfz8AyHV1WcUEmZt5mFc1AgddUMyxDCQAPuOolV5HkSBQlFH1nFWWKNOxPLCOaGbAeuwDc4BnO2kYUzPQmYMac2qa+ff2xlMRxiVqoRZ4YoAGLczXhqjzQd5gZPN43XNtLvM0siW3ifhID0XHA5JLYWr8MBZ3tSdwLihgrqU6lQdg5jb3cWlANhYb7ZGJK9iETAPL52eHdOvTOmwYkkUqVrcnfQyMqoLez0o+d3UZGwsODcOgkxdf1PF5IJMiFNVAkQvtdzFgxef/Dr1yMXcaH+R4GR8H1SwyTr+KdE7xgdPBAka7bA06Dv/hAQ33n2c4GjMYns3qSw5Ba+/0y1812PeKvodXn78KJz/GnFQ37rQqYdtPa4dCJ0qkmMH9RYHES81OUa08fSt+M3l0EaLOWERxPkA3BxFJzI1YvryibAnZ+ccesO6WNRFWhATXVKyIa68+0mnqlPNP9xcxuMmL8MZGlQHs4VoFYFFVzJ+Kf8o5wPqa8n2oCWaz6piKXaNHbE778As5VKXSaRprus9ym5oTYppofPZwPeBBMsfF/pxoQB0/c+Yyk7TwoRFQclh+ltnqDA3RR5Tmdrte/WW+SRNdsKSR2sUU+eBv685bn8xFogNbi3pIYRaEHC40yBQIqtuCwK3FkwV36nJc2OsGccNM9kS4mHL6qIa/uSyyYBcq+qjiZtOQ2Wn7BBSwnZwPD0D8nvYs+kQvRYVn/hgrDEgwMbGctoXoVmyNxYjeOSixE9bkEJlHbycaU7dq7CrKfL/lGmO02yxsDaW23QlCc6jEgk8aHR8XQeOm9oalD2s+I0fGRdlq4iudogUlElCS6n2MOkatYCPThLkVfTPpVerPIR02z9ioP8Magzfb3OOi2Mt+VyIwllhmoJlowimS92cNNdlgdrEA5zrCYJn4dM8kM53yi518zLsxRUzHO+AgdATb40SZ8YhRlqBU6YrnC4MWTIp9SykUtXMtESx8i+eDXlFn1ROg8jiuPbFHTZi7zQBBISL5i0TLQf/HjWLX3z99JwBq4zdL7/7bbtSv9JGy/MVfspWfIFJTBxczRnZNUnzf22V3VbNYI9U7j1vNntddDjN565x7W+oRBQ4Cz8BwARaDL4nlgxYGafh9MthJ7+wNLCkQ8/j/RwxDNzDPy7lcOxT7VLnqCandM2PLT7KRvMe2pnjGQPRBGOuasATDpCgIsOhOfQ8qP+TwdcrGvj/+wPj9EAECuS2tTK5JdxcXh4O64Bn7Op20vIodLatLDAvXopKenAuvgVze0Gbw9l/BznRlK3VXAvOCABH5C/fxZUvgiygdwZPAwih7vxxnI6o2YSAjEAXvtqutWim5e4nsVYl/Twzd1Y7YJGn+7g7lCF+WJvqjfJJE/pS/8jeTeMcmlN3x02WCeaxON+sNsQbuqSbq7BP9sL38CEGroLDIvLDdTyvQmDjXqZkHPhZRN3p1f3ETBOzQCZFrbWFZZp1EQ8K33gZeBqqFVNjyMEvTfw0MWDQRYqU/655SZTX99b2WsTNibTVyPPK2OqmzO4YAWTniWviz8HBiw66jqx7Mz8VziuCvMu6FbqQXCV3j/4lHrHe6DdOr+duoPNBRnJ3ploEuZfd42WIe43QhEbUgy6F6IzrL8uVbc7gd4s/kyZD99+NsjTe/AigdvLcNnXn0fbxhEqsNCfD1Q/lKJHMydi8KLKldALn3WHnph3WEErcsEavwWcyQlWHFk+GqBi74JjGt+qut9ZHxLW9WH60jMSzl5dH7J/Mv9mB32eRw1DkZ7SPtCqT3TqYWv/57NZCUg+miJWELVhUy2ldFTt/MCsPTN7Qyb/s+ulSi9LL+17VNjijmonZ7bjtgUOA5rhAkaDIj/qQ7IepQZVKgI4YJ0KRZScNoWc1pcDEf7l6SE1RjldU+19xXqd22ddqsGOjsmEHsIHeXmc2M2nr+8i3Tk64ZIT5hfXUZ/q1Ov0Zq8ZrI59as7ra7SoS+tRvMeATsByDU5wVOhA6e0bzIeCRKG5vBYQ801H5o+dadGYrwFjUyLQ0+AowvXVmTnoKpnV+HCMInWB5rTulI0GOt22k4Zs+GtQv/ao+eKWpMHXaQDxdR9HGij0sRHNYNAZ+FczSbjBH08eDK33sXRGMMjg00knftME73/1GQWMtETBPlBqaZNpboQbuHX00XhhxQamhSVApRVruHpvIPevRg1hpik4ka5vBr8buL03s7+4Evk0/PyLH2An6Lj0g0kkab1vI1oOSTMjoAxXSWKw8MZlkQZ6piT27Eld2AD7/s7X6slz/Ykxt0TFIWEOCMiO9LF9bm8hgHcSWfThEwn5qQoEM6NcyMSdIvbk3xGvTMx5aPHWUzd3NWpRETbY588Yo24uNjO+EY5HDCyd5RsY+t8rYU+jaEA4Gn2OdeRb3At4NbdN+fh7r7ThAPcYw2Qxa8TFTlYQUOBQx6nKXXrmCrnD4n2mpHCcJbfofEvin+Jax2V4mGv+Nb5btumkoD6NkK6feqB4vGmqFOXufTvpLtkosnJK6SJ/oyoHtVEhkUb2VTvGrDEyUszHshWkhfnCecmA3aBvEiNJ9x+I6x6U0YotiNrOqCzOQSq7tBLU1isl5a+HDCLSjEhJVAF3/FrFf71RbQXQa21gn2MvJ1aJ5+5fMk3WPv30smRidoL74fGbXEKezXk7HqvSFr3WRQc9R9SJr0Q8podJ2pJPA2+EgXRMtjkUgTs0jqJSHAo8mRDdvLMPFHkKvpa7o+OU8MUrmiceCYocLZunRajwLNQU5MgriQcVAxeLiSCW0iNwqmKc8HzvaQyuLJ7DBfd1wjOle07sziO15IYSC9J4eiTIj4ZxPxgcEOZIUVJ3F8yO+vKDPxVOVkVxuBF9mhNIIGoxI5yrymczAP2uTQPaaKKqlMAxKomFmso11jbMKRy5hXR/cpSh0sHbyB13TAi2BaiNcfUsmMPwsRoSY2WRG/xbe5PTGQuxyhLcYyWvFE8EWn6h+J6Y+LEhBvSAXLrAofyTNqiRNaDRwtPsEM7BxLCpqTYr2AL9yfrkEZuMrXkA67FMTw6o6SPpCL/XJu2h+44niDfVx7Iy7S+0gPCUD4XTtEdkqIP3HbKhdV7AYqBS/uFkc6ySRoqxQkeDKeT0TEmdL2r1wdAu0zIs82L7aRtvqFsL5s8Glo+hlULIFpHhEKSgZlArnobz5VJ1lL8xiJ9rrE/AkldU8UqjafCQcYVtCpKNzkpWMu9Uh92+Ufwtd/1JOxSQ4vAPPMK73oVNxcPCT7w824fn69D58RwIZXAJ/2yug/dm5QkuwYyXzsExPwiR4x2bWfRiDTJ+ywSmCb35ARQYglulrM0AM7KH1Zz5kAdaOP44Jy2ihlyPaYLww3U1WrQ9ONRDcK1VlHXnCcw5N9Vsri+f+Q7qzf2gU8bGM4XUuT9pil68JYy4XLKz7GK0Z4/xeBL+NvcJ29jHEA5TG8NMSCmHbXhlwMjNpa9dTk5UWsNg3yyM3RGd1HMGSUY9dWcmwz7B4uT7ctKbdVKW9GuWjQVxmc1k9rJ91kzn5oL1jZfUDNtKSR8bz0pkxCCR85F7R5SqC7p8ZvTXy/O52wkd4dACdyKORQwU8OrhxwqMTFVUPiHW8W75GmIUpXNIO47hiyb2woWL2Tv7Qd8hkqix26wKq00DPp36AOhe58ua8YtO6xGAHF94fcxixYJ3UoLGmqvezOjhnUZTHaOPAFNLccKcNU1ruxwyBNLuemo7YFb+Uk72TUBv/5RVWuKPUnV9el0QKcDrL6CKRk86gMOjilOxd/kM2tCq+ZxD+n7WkPTizCpNGu+BzBFcbJk1NAHL9B+yHQwo4Ob8FJ0d60MWTJE6jVbdluq/0VphBFHujTa/tnbzty+sBL69Klogw6mjD9k6jsvtiMLbjhvRDddzCnBHCWWz0BCPpJbvVtac48GNzFmd27mC2fm2KMLNuujIsmm0KQTBTBNdeZfk9HXl6GLe90DrrEdBdZY+OyEzGBBfKpgGWHFcIIZDUK1q6d9VQzTKJWpQHGFlCkDoyTMOWq6CMuQC5YE7hShyMv0kgXxw2WhkTovg7gLeSKb7FoODGdCDwOyFd3g8mKiae33AqJ2U9yN8cFae8+qb+dG3yXbNCMTE4u72GQ7CzzzXFizoECvDymG2ePlJ3UMoa9bX6kcO7vyFHQTKfj7UzHHDRQQLh7FinRiKb4tVyJpMCrncKMm399P0juzraaKY3cdqtC5YuKoJATRx+wZf0hCac7v41TDzKbBrfJJWUznFmJdQTcqPL2gJ5GdJqWP5avJzBh5vx2N9a9yLJ0dT04PqBXupMuqBTrlNCPK4FoKgKEpnoAZlpHY/Pbotip1sCWjdIrFJOHpQsG+51gsAxHgHxAFb59fSO4D2M/53zzlV+As2VaqnruC8jUsevbWW8zeTvqG4RPGuqnZE/4cfP1M4kDpOPvGDw73mtcCzIbyywtGnUrSzcZsMgCR9QYlVnjr6InPwrj3USVz3DXu3uelknfYVRDVVJHt8WMBMdStV5PzIEGXa5CSdCNJ29s1evBewcP4lddPMUjEa9iSh5DkLSoWeUCsa+XgHJa04dC5RP2LuEM8bnMi3brkSyZE3Huf8ybg4TGmKMBCCzSfZShuwAbbYpvkBJd2fzuAPd4FeZlTUosDSAW5RfEdGb6WLwuhjtPxkJns8dpYFAKMBxhf8B84tVoSnKANzQOSL6Aj/9jt+x7IAAXXQN9XtlCZGHfvKXmqSJfwRnmCf5+EXqZMEDRHEjru9w3CErVcjx89AaoZt6gs/zw5MjI8MIh9OXAbzOtgk7C1l2H02IHyVca4QQJ6V98Oh/RVAUPGMKTfEA3Nj99iEPxe3L1WS6bpc1n//6vin+iiqj14jjCg8oh+8rvARs0Rqcyy7lUpFMs4BOE+tvPiDEZ12lHjYBMplrPqRTF0LQsFPD/jKzx+/yegiTLmo0SqjcBu2uJiV+9fmAWihp1dquPVOuIJOMXATSiJbFONPbMnJdk6XW4z5ObB+HLx9E2s81mha1+5yLoecnbgyTmvmgVGOFjnHVsgb4QGoOrBhgFNFDWxXS3wHr1/QRlCGk2qiEe/rB4r7seMEa73TQh2tULSOBB4FO+lrngrQpnNY2bRwhBE0a/CA3mXVW21f9JNdKdNACMeW2RxQajifQ1OBK3Sf0Yu2untXGrZIkfv/t3rwSQlCkS0h+HQHG97S6EzpOOUdKdSFiZb6VmaT8vHf4mi2VSgiaZsGsPYKXWZPU4oIrxxtiNOr2WUt3lXje4G85NcwMYO6Hwr3W8alydRhYY8mxDkO6BCYYsD6iNJvGTuAU0X21Y/WeuqVTMSNWWckhjLnNj2pqHvBwdqlK2Z1On2h9X+sdwXq2J3UFrxDRs8WADYbNuEuPzhC2a3LxZ5FSG2pWJJxRM1udZp0pGj2Cm3+ktmH14H5LiRBreZnsDCjA0ADwgt9WXyyCU2Cfx7ehTKpsUBKitSahuwnPhO+W8e8kZXWEVnqk+YPro23R84JGAIrEeOdeZdG1wSwEj3srPLltwS3uwq+SzNATYrI6BRwrEqcq9lOoyabSUgr23aW3bi4t4J3aiYLMSHJQrYeUKDpwPdxsSCziLSHU9UtbiK4ltCrOz/aG1OgKOB/ZxiTXYD5W+0snMc0k/0otcBBA5pgltRTBFNz99jBM/9RvRUlTx+4rjraPVyc0Ta1eF4oPFUtDeX6+3W7z/MceE2nJVk0NTaMI7BOTb4Zhg5MYtC800KquRVhOGDuLN/yQR8lEnTdhYXMs/HjRM3TfA8qBoIqszrZhJUx+yK6v2EWqi9KHQUepSU9nxTae/DfJpfmV60j6yC78WJak44r63Z2lCHqrtwgDsSFlskOu8OaO3o6zNJSwSFvjuclKWeqOeu4A4q9R0/BPZMW8vrNb25b4kWvBio+THPdwGBhmz1MZYZndc/mmeVvUtI/JmlUO0kTHr0ogxU37hd5NfccBqRgPOmti5VOo3rxau5LkyZ+/kEJa9R//T6liFj0XjE1FC7jyin8qFbdGIdnoonsPnnwtiHrJRNMGLRrkJctBvZWeRr2pIeDdxBt5nqbbcSmkR+bYCQ2pyoGD9Bap25rN03jSLBfZ/GX7JGQ7F5uHgQJKUL7Vf8aCSAJ4KuFElCefFCSp94hdJkOis+KWA1ysgNFPA+glZhNN+lYo+quQ3YcPkaMgR17QkKSb2KMD8l6BKUWLwlv6rDBNfvOjbD6dDpHlHgAnfVfZA8it7BnvRHLjMjecP+SkgPCQt5uVMpFAfKcGHIcU+ckopdZ/y7NedtFDVv1qbfNs4yUL1UCCmO2ql7Smgx08XGhMI98UA+0U5VfrTgVJ//S7oNJVu4+XFaOgmjygkkKIJgmgc9/mQ0HwS6kHkqCxp9rMa3cDY2kWJ003xNk6ktFbvhartwf4NTvxYi3sNn7Vra3tpjRb2IzU07uNWdfqSye01Ck2tpiuuvw9bM+K+fAez5T2jmutCjqqUDQFJi2fZJvJIwjsCOixf7AxTG7ZkXbF+0bd3bUWlHP4DXKUamkE5cCN5IG4xQ38rNRseKAtn6RHqh7Oje9MfSK5UIOJF/lI6Z7gPIISbAaBNHXwBX8pgJlN82I0pT1F6DPqtcxUR67iHqP1ApNiCCPwD0p1m0SaZ27i5a05lM6BLvBy1CWzoLOrh/6Gy+jpSmh6iRoCERXIGAkyu2jtsgKyReYiAIGWc3RCh71/Pa30Grea1WUxcbEcAn8Gv6YzMX8V4hEy0rrzLqbYStLJYsAyS3Hm7hF/S0WXb4Eue45LgcIDqD9Yoo74XpWoSVL55tBgOV9krJhEpcb7Z3SGTqGuRX595hRHJ1j/QJqes+zlUhVeXRLOv8PBU+Rz/ieI5jYBQmlX3uMN+cH6koOlPtzOLkK/U2g49z4RI85mDdXOTUqBbWvimdj/fUyp8Ve87DO1G20vPhvvhioUa7/eGR9ZCanufMvMBqB4YfofYe7Qv5kHAYub7wnK2qIWt4nOLtWDLteyhDJWvqcQPECEI/OFw1D/XBNseOICG76C72aS39/D8JqGDhRVyi8438Pfv8CULr3lKvKEmO6lzvEkWI6Z2QsOv5Bz3BaDkE4VcizwxjpsPOsqg3Z0t5Np10JcTh35aOL2ZCkOh8wuXoVI9t8ef6x0WaoPAEuxi3sdK76OYn+uZCTl8se5L7sJDNBfafaqtNJrRCyuKZT5+cQ73vHzuAKvoCAYn87tl5U5PVTis6LFnelJP7CjA1B+sIIoZKYjCE3UZjwgny1g2vqrM82fPqOs3lsEAV4qysEx656b/Fhujw5cG3pSl+BgXZIRG77AgEcJGPysojcW08YHmmIdo53B2qiWdguucQfbDrzj7CBXoJr3kpsu1T18ieOdZXEfm1IIdElvUXPBkaoapthR31kV/KeF9deN8l2YuXMtas+YS8GN1e/+m7NAzB0N+lFRIHUcMhVqCfpzlFqTX+aljp56wd7Gg/yRF3XCA05huu5+fx/2dA2wu+8oywM3Md3/gvrkgKgw0OaoZE6xsawKKFmcjPtE01HoCTEbX1efHbrPUSnLXMvlqwVsvFEkdB6NmtDLWw1BcIzIHJ92S8w98BWHIGs436F1rYYvPDexYoV30/FlOMIP5AyCUN5HWDwL0cLLJmqlTFOtXwthDeCVPuFde6Cw5upSaw9iE5ja+9O8f8tyG43E3SetLnxbtrsvNWuCnCQeLtQNDq7MK6Tl8/w1A6guktGsqD8AHdCLteWmt2UjaYKMk4beFjNW0Ho4mlhU5Xu+f7ohT2T+KJyZmHtFePPNyjDfKgU3Y2vaJTCvYs3yZ80Fc8tM5Ni3Yi727LYlIbjXXPcGwC2hfDX6O1qEoDkqnU4w06s0HpSXzS304YfQQ7Y/nCOZGQ2ayxfhhG2/ivnpzyeAqnHaaCt3tDrWnz+JNBF04gG1DFNO+knEj6r1zG5z/sUjwypDcQsFYDJ7006bvh4NtX9/EOyjYWS3XQKU9IaCY1GXBfUNqb+ydtCBdjRJZDgJqDdR/pongdIHCoMNm9L7RQkdmFkdbl7eAsCQpJXN2wzW3cRRcEFJFLgAIATiYveuK4Rpu9TOKj5l91yDfbKHfbspSMEhWp422k4Kcjx+8qdf1XuxK6FhdoK5XeTJyJ7RjrKxne7uwwqPi3pWoVJR0bRnYYZh4hu8aJ4Ir1c+JibxYzc4ugBTpJqWRii4GwnAu3wxz9Izw9tRjxvd1szf+TKceFOSi4nVC3LtMlnk8jvfrnoDmOfcJRHQ4KUFDAP+Gngy3Y7rQVytZPeb7tRe+Wymb2O9wxLhFc5JTEa9U6eRJUXLN5gXcsahrR+SMDvaM3AofsK1MVWf0CtcblWqqkRi9tI/Claj+mFS6rY4/5kAl8tZBATvsoaPK43JjwqJAXxtv7h1tty78OwJLiu3mCPZiHLGpAtitlGqSvH5Imylyuq2YT33qUTgo1YBkEPDOaAOeycw1DEVJ0eYdrSz3qug2uzT9KscJtje9CFVuGNVTjU6A9w6o7tkSnqJWKnwWbPz4ujGUYV/gFwprpCRAh4CoOKPW0KhbDNg1gMLcms33X2yvkFhCPopbPc6qb99s95PBvw2u8ujpW4aZen/BLqI+t1s1k3XrhzY6zI7xVo8y6tnhqg6j5eIJAAPdA6TIdVPpMZ4uPX7V9SlFvwUcnv8wK3arMPLkcffzCb6YpZYK40BVU8jVd3H6ecpqHLFHpzVogmjsxB4v812MyyuXH9rGxrujla7wv+RL0FNipRL9gO/BasmoMYxMvHRjx2DgwcSkT80BuTZLGY3uVw+0/7ZaZQrT4VZGfpUJjLo5d+rnNCj+56XuEj/ORH3b0DHFe+zbVGUJBHy1LLb6aY++SPcQxBFYeq9umzoaKBq9jSktVcffbs+nPEoZBKQGyOrmst7g+B3BsNPlrBwvUlB2OdDDPwfecKCvwcLvMS5hRZnTln208S8HjmrVX3knQoOKpxV/Wh11wxguMBAD0sNot+MKzKsZm60l/pGznJiNPYZk0OrT/cXSdyri1GkoI1yAiY7Rroz0FPDdEu41ceJ23CMZRLZFW7h8b66UeRWsSYxBgS2EDeXHU1xDjp3lHpi3aR7n1btAsmInYmcWjv9hnLKFDNhUr6ZC0DHC5MSmizDLskzgDn28dPGEUP0c/Yo6y2aqku5XE70jwJ2y6sEJJeVt3ymbWkgfjhaNgz6sNChKydqkniprSsegZntDuzgmTvh5bb2GH9Kj1Agfm4/N9sBuQh1DMNxkrKJck38tC7C3Ii1GEGPkEOunnvvAjF1plZ3C3hy9sGDgc/J81PcoorLyIPOaBU8/TwrJTUO2yw4JL52ReMmKZyjIVJhrGe2c6+Qjod3YUdWkGTliY6O9dxK/ApE/xex+KPLi8lUYGxBKJ9Qr3u7Gyf0vIyFUCy0KhDO1JDVbhZeBh4aQXdbwZZXGygjR2bgYg468rmrZd6GzF1DBvb4v23e3ShifYeCmbysbwIeZv/hYbVobVup+LHRplgqkYvl/wEBqkPwCB9BuJF9rriup9fwzF3AcJGQCSsCWgquN29lwkaWpqab5zJnhbFk+e+BY7MGKyDCnf4J80pxH65D9lfcbSTLJJRvHHY0HO4YpYidQUUkDpKUeODyIVWwfVeZNl/2nmVbri9coWeaZqf05rZ6mAijd05vD1atET5LD2BrWb50cmd2F7KOPUhMI/6tC/EIghuOZ+LBBWnc57yF47M0s7LvxIfbkKaOKrSX7dQuQfsYgm99wBkWu4F9/kdIrRqdZ/NxB3X1dO9hHfp5+Zzz1sazFCuhTEfJHB5nL+8szcZIwJS2BWGeAdYtjbLpDDVHaz+cBp9Cpr2f760do1nugPD6M/Vtcb5NiuxWRBA5J98CkJYkZ/EHMIgHPA3MNS1dVvYc8rgnnXUOruh57P6uTP74s2YdYVX43NLZ1q6Bsw5vJegMd+W1NfcEp/GmCYPxvMXHq5nS2yKWrrwS7LqG5NvHzOmlYdmaYCsjZ8J1WRl6P+4C6rmnAkwsLafmBJTA3D3ILft/AaUIQDMRDi9Q7YDf1TTZ1RDcJs6pOcCvNGxn73lvlcK2hVL6NVKvAeOJnglo5NL2s2rIZfjrw14Y3CMvieJu0j6uN0/BrY4DqbOtDIiPIxrmE5fi1w5ENY1HLaFw7JYnJ0h7h0TLuaP7KlyZVScW2fB79mQHVAYzMNhwdJsnhAXYdp1HA/V1JEx+WgbEjbvcYK30ny95ViTX455lVS6VIuQzNXgnuN7KZddJEVTWZn913HD3oqZ2qFbqn5A0AynHR1x8j6PPm+B54aYFtR/4dXJLK3uajrUVHn/Q1PPIfYOH1UxcJESrSJZg33ugqh7k9S5+jjTRgDX4sL+wr/ryBzr6gROnHDtI4hmotRXyTUf/4z2DBwkZgdykqhCfJLxxKhSfwGPsZLnA6gfTgRimbrb/Dayjrj3HKe5FLF+IMM4Gek3AUKnAjehgIq8APMGqr1MqCnj9mBFqTb6I0MRSbLIAqIwCQi9VY/8zaaelcB7JBw9Pk07wLY7+6dU0iioK8VVGxNQhN/Z/bSich2ymubRTKqJMLmNIyUu5b0B38tYHGAX4NSy8h0g3bmSlSGlBWYnQpZePJvhxB4AdQg1Ipu9ymDNAZg2SavfhYMLha+zOQtm3Yg8tqxsCl7k2KQcvUos2CBEMrEnEKRfuHMvhfgSgacvSkohzdnsKJPlgE6TLGuJmQ+nim9iQ/gAzlGeZX8JY22d35fY6dBZGT9nkYeeZwQXiCfr0+Hob05hydr8ZYWfaetkEMi752PN2EOPUlDSdxTKS6bXDgPODLifIN4u/iMV91OEktbLgRrhi9Fivq2qhIz+sS3XURgesbPR7A/dh6ODO5Xd6/Hi/codZjVy35eIXo8KM/gA2ydcSLzToFk661qmY3RG0IDSd+InTkB7r4LMtleudvc/E/Oc4PwFPfMrmYriFXLQRKZbxlaEsaiWlZuCdax4km7fff2cBwHDuXol6hVOOdGWv8ybxiZFqx4XmvdIPXXpbsxRDHbM8q+V7q/acUigIRc3Lm/qG+udl3g6aIVKMCUnZIqudrgWZdTahN5QISoX3h4rdGgTCSBoSCtPm4r59azD5BA2eUmcB0JTTVYWawoPgiAOx9IJpX3QVa/nCxcU08qXdL916uhPT4gGWwIuCdsm6kKzcrw9E9oxs2JGT9YIUTXpoKhyxpDxrSZyLo0wqvqXV/5A5xS5TDOzaqyiFIlBxPxwfiiWM9qUfX9sPsqu0zay39gBs5ONdE3Dt5jgiM5c4j9yH8EsPKAdTN7bTYj/vTWnygETEaeGEwg7d8tBhBYxBL4GTklwiv2wnYA1vxFnPtCX0KW/LUTI6ltsSl5itHlSKducZbvs7Viz3dPzvoOjwD+Ss+JTAoMA4KaIBSGZ8ZVPWEdb3JoP1RCfj8atajIY4PvBeTanMsDgo0ZqcQ90oKKWhmIqh5agjArzNOEmpRNzY1yn+nLP68MggUK6x0YBmHQIk3g+O0xaOHZzIFAy93XgAbQHcwImOQ6txVsuMKL874S6FXNg0ahhGL4/XxE7Gy47wRLGlcjfbxqATIR9DdcT/BmqxDRR6lw/B9vkdWdnqhcWBJaiaoQVVBIpGufp1TOZiuZ75knf0aUTmFs6YmT1b6nSEr2/Uj5d0Gzkvmd+HYCqPPRpqUDJJdWsxXX+IIrV3q9dEypjqFyObt3osR/R8sIZoTmyNJKgIgeqeIkc5fBDmhPz+2xno8aoEqseaUG9psVdsvIIlASU+QCwjoWAkxis4lDvGmGw6VxLhoOHFHDJksV/JkxOBOwZIQb2FZSOGA4B3WFFLkSiw3AfUecGxdd3I3CvZtyLjRVOe5r36uYelgsPxph4Gq9Cc8HR74r69+tpk2+euwLBrmGieTsJmq84HSCeeU9T3PCUFfJjp4zO1FFHBacRuTvb48Gk8xu1B70i1OgvpvHULXE3f0IVkPHQ9mqvhX7aAdTnuQ95+/dnT00fdBu6ago6thlT9LFhJZlabnwa79S4vSIQ6TSbBZdDSGWeM3q2fZ/C7cT/DzFyhEwSO9zD42Gl2ienzs/iyWNLHzbpyWFAFx/uBeov2TAdFvn7DX0RaELkXO0uOEqrCvnkx2q3AGpKfoFe0dAgXqNFdkFWKI/QLbl5TBqfAID/0oTcKqLuyHSz1nmtDGTnpKNChyJ8VPo2PZGwG3Ucay3xgFhq+KBtOUDgVcBx+k+2h9qBYfwFiyrO3v0w7zn5wf20oqdXI4PlHvuXCG8NqWJLM7zRYI7FV5PlsBYlQeNztJ/nrdNbadASRdvoXOENZt1GZ6fubQWBczjvJm1gLiWCiPVH4KzcwMsM/v1nZpjC/MMfTGEjKIyVPPWOAi0NzGfew3vjx6sMQy62d5YQYfaSeNIifUtH8Z/wBPeK+WZxk3vp64BAk6lXsLzRM34ImHYt+WGg4HvjEPfjJmTzvKcpFXP5z20nzZvzfWlobRE1Jx4hpw9OopoC642VboVHEPIew+/6rdeFL8c9vNbS5M+rlMDt53YfV4QhCaypPGDPZObwb5OKehv3kWtebKvRyWGQBsIh5oRcNp45VYPz/lYiVmEHgjaOBRqXwUecLbnRCv7OcQ1uoNqTe1F0rcwKAwnrOffRlQyFH1bGbnCkdySZLY46G1gAIiT4o69wRTfe+pGgdE4In7ykQwaQVWKXFJGIN1J/QLHwR8510G4FQtlhhcELdI/0bryVhd3FVo5TCpt29Rdp7eurodDYNGRiJwQYLLwDoM1n4wggCBn9rI6zRq5V3ClOnkCmi3GFlNQTaHjU2PUZ+6R+TK5os7fVh3wFO17xMzOnSxyN1vd3DAuP4erqUa6lot94zVOwONRwf+ps+4Y8dhiV2tr3Nk0Vz+2Cb49b85F98P3ABelFyTI+1xDzGAMx741NcwGXuJiQfEmNY3HyFeFt0W9mzUwBA0n5XJ/qFiRBQ7hXFymfdtrNtiffIxpxfpU8Mxnu5MYgEL2AMKMyAfReCHjZeus9rP3/TctFcU3FNhG3zNWjFlXC5/bpFNZ5yp+RSMkXx2544+rUSTQ7hnQN+go8OdQI/BnlNuELDSDygS7iYF6bxp8B/HE6a7Kuhklxcn825zjqjfgFj/MFbtr1KQhUA7GFodk4HEu99bz5zKla+iMpSgvI6Rxj6rCqC3Qwszo4SawY+uPEbJxSEj7zeRV4WK/PokWDAwBPaCm7bEV8NqWDXnYbLscf4C+0dVENgVmUstpgvj7cgqT3X1R+Y0uSbvXKCh+iqujMa0vpgsmGMU+HhKVdbe4aCJR4YgSAZy3y1p02Hia3Dc8p0qq4ydXs5WhSnkPP9PRfhiqnl5i5Rc5CK1p5bDRx2aWqL6ENwZ9wVc0IrmkwEBvd0Cm0a/Bhl3FittUz/twccHH5gOIDbgjlAAj8XARJfsJFIV567COhzIJwX1gXEwDxH5W0TDaL6ca0kyvpMIEAs5ytfajuFKF9AYBzLgtLeU11XHrUA86Nhx3IMZppK+QnMWEx2Ib0DVyErOort0oF0g7Bh3li1O4Ai4bWw0P5C6iDbe3xTITpoeLHFSJgbk6mZ4SJPLPRUxBNePsSeXFQbL20mCndBOuGw3eix6GpbYbKbNsGzjIkDR2qwgNZyghNMp88fUwNJBAhAM5PDb8Sj86X/ipPN8efReef1d6J7sMb7L11+hTPuh8Pq3cjnSvle5on35QMMMthTcoXFd+qFoMTPDA6KfmQjnl9MlSMe9Li87234SguTAyGN+x1fCqH20dJy9OI41SS+4Wowe38yzV0s+/LNFy4CNarArOhvLi+tZjhcjJLU5YDFuqf3Doe8p3OpwWFwKeDu1jo/vWoOgFbbzxKsmzQGW0Yqh54m5RfTFNn+jalSBeB795gMyrDbZ2TeyRlbQ3QjtD5Mk/xW4NHIiImsQUKWnGD3KhZax0NGPaVjmTwmy/w5LIDtPe0kTlAYpOZ3uBSD57xwvVnv+zXMNSP+J/vbAitnrMy9q9VkQmV53K9HMrCeny5UftnJmpzdiSwQ/WxpIOxsATkCdboY0tO1jwg4s3U8ZA/tWUTgjCma7KApYkdVBnmjZHafm9DtwhRcPlpivwYi44Bua/PEWoXgDLl47B8Cl6oijtQBhHqZLBMWYYoEUC1DQpRLwkBamRT1wXB8vm8APpFYyFjwIrCg9INFIE2qXzsxbeKHNLn5OHNIm8QMKo/U7BxH4L1V+cUT627n4fhmn/a1Ves/R5XgPy2ZdUtbf3+ZKSm7hUbuR/OzPx/M9W1sCsjiOkI2qS65y2JTs4r9KcsfhKNV6HiiSmqeN4AnNZjgFwc0PmllVwEi2qmVlUvVk9v4aFhmjN6o26y46W9a5kJ9QX79tzpj1TtORTbNcprSuYh4FmIlfLF5Za/hu09GVYPdSwdUo6FZWQFAt314R8FZug7/oG/oLjmagSilPyfaDoQtk/49Pazfo2J+SBn+hEMmq4rLLHhp3LisThV0DgzpprypsWITuK9Mmn1fZQyokLPa9MBb/VqsE3eapkWi2JFeB7VIWonAGU9TJaj0Zc0JIOGkX+bbDEeTHN/8Isat2VrrNkiAXkdBfwfRtkBFKnROi5F4MoqDlebo6jDgOxHciyDZpIrCZUvG0WOd191mQvOYOo9+rcWq1JEPol48xONWzzKywGDTQTLQ9YGph65yLWZ6brqg+nwtzrsJi4f4ZEfalcPVLNyy4Rzy57eK4DISzKSf8wZXVi+lO+ynahimUTcJnTySNi/fXuFFtgcinNhId3g2MPdG8Iw527RvevqKH4jPoXZ847Qd66bPnfZkvONlL0vF38cp+wKtId34SA5tXvMrZp4oyo0qpAiUy+Ex33cBnbNO+8fGNeIVp2cSg28HTX6FTDHxwJY1QX4o5M5ipcmkMDWWYJ8pf7Qn2LpHtYPnAl6wY3kf7bHXSIqnvElAPvuUl7zyaqhl+Z1EDYLU/4aUD9DB/8Jj9YFM/YGgh+DOMl26bbyJ389/8GoyrUSdsuZys9Ibzq7iJvPResC1lIlAVpsgjS96DAQtAupmZSkgVNfSlb+wxsTEIRJDQxjh4nfpoW9A7///QGp4y26h93k0M4/lpDwIZuILXiWIdqJ7dKlsXoM4+jgEmTo1ZZj2zLmw6FiJRNS2aAsJkAsIJoS6oZhX7X2UEanRmjTBEDr8yF4FIgPhH0KEvPEA0MbP6FM859phezW//D1se4UP1CvKaLoLG+LUmro+1fkmlUr8CzD0yMoVaF6QgPXS8BjzEsQ4p1pKQPaIz2M+gvWRHXxVBX8dl/f1xliItdN09bW3GE2NbZwmVvSUHflilV77ImkybzoPx3Hzi+sdX/f2yyn5pGElqnxBmIIT6PEJhcgjVdhFg/r3S+8nJ9WArTQWTun2MUyKzvOpEt+bhp5rKCfTGUxBppmsn/WOQ=="/>
  <p:tag name="MEKKOXMLTAGS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BAINBULLETS" val="1"/>
  <p:tag name="BTFPLAYOUTENABLED" val="0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BAINBULLETS" val="1"/>
  <p:tag name="BTFPLAYOUTENABLED" val="0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ENTERX" val="50"/>
  <p:tag name="BTFPCENTERY" val="50"/>
  <p:tag name="BTFPLAYOUTANCHORELEFT" val="True"/>
  <p:tag name="BTFPLAYOUTANCHORETOP" val="True"/>
  <p:tag name="BTFPHEIGHT" val="19.11512"/>
  <p:tag name="BTFPWIDTH" val="67.08323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3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CHARTIMAGE" val="FILL"/>
  <p:tag name="MEKKO" val="MekkoChart"/>
  <p:tag name="MEKKOSAVED" val="1"/>
  <p:tag name="MEKKOEXCEL6" val="False"/>
  <p:tag name="MEKKOEXCEL7" val="False"/>
  <p:tag name="MEKKOEXCEL8" val="False"/>
  <p:tag name="MEKKOXML1" val="4HooU0THZk28POP9trq+pbTvvzd/gcV8t56cq85kb3NDTsUhojRA0EsgEHHMH7oYP1SYpn09ysXVivguJdhTvfyVMsBLTGvcX7WPTor/CmWiWcfk2RmY+GE6Q6T90sFUr0lg9IPP9y8umrse/9AoLT5R0GKq+XM9pr/aTyOTf0wptcuHbHxeyqBm9svU01qeeEM1v0hpSHUgirOnAK/wuqE4+dkl4wQfaKhVGXQ4wkSQT6WvSZ/Jug0J0PMrOVjnk1nOopl19Kw8CvYsx4GkHQ35FBMSpyxpOfNmOWbyGhOrQL9ocgV3te0gPg2k/OdfSHXrkHkU3RwzDlDWYEY5bW4I1m2o8+PYsu6/qPjLOLOKmDSG4LyEITQ/pvkbtFugjTLuBBVlXXWBICTPm+yv9ZYBatt88bolDSyobAY9evSb7lgUu0Aa8f8GpnMOA/+hQk0SB10/2BC1FSjAtVfwAxZBCPeLVZ79AhxNZ35WPQl00NYExk6u4lsxZOWYKpL6WkvSzuP8a4PzjRR/G/04Xvd6Ag+4Q20stt3yq0ltyLZxf1r6r2Ct9n80xT8O/j9qnFVJWsBjukTv5DEPJ61F6pE7XIWpoDxryqfqMZL7EHT/4Rw4n3jwOHej6brWDIZJE22mVH0bWbkI+o2U9+EamPAYva1+Ly8fu3DNGNuZeTfDvcgi7m76yYxzFtUWlBOFE5x8ogQWSjCmERwQApirbe3SckHURSQ2/ODgebIMAFji3inTU0rrAgG+KCpi71aZucRbKEW9zFIoTA4KpFf29iylW07fEZ75vHXhCVLvKhFkh4z6RuUXKt19bJ7aQNvW1oiDvf0ktvsVFXIXGh+fVdk52oxG6Y90ABGP0RI+M1/JHLjkVIsVuCPm0rVIAqgZtYbnylN0yzMJMX03rIp5ip45/6GnrUolZ9wvW1K6y0cu7OzyraNKCXQI1tdip5HibmR99k2KA1erHAARSdnT3u/WoMaR3kCXRWP6ryArPoWFg05FOhq7ZtX5Xoa/EDb1mnENH7ivIf7WZDz1Gd9kbwVpLphEjE5WYNpzG7YUg+wSNLDEx22+cNQg5MKEALntBB0PTwIDahOdMC5yTksCLxcEACQiYyJEvF0eOKTO4QoyLzJvE/ECVLjTHtSZlA1W+Uu6tTFjDueq9C0wtFz0PXU1qddzHZKIiCvdPZw4Xh/URhOQy2+ZrrbWiQaVCJ6cd2LLwbtQoGbV7OdFYnPUVe+g7T8r4yNXj3DsWAFTFyOD4Kh4pLA8g8a+pcnBkmCUODBOkHHT0R1GQRstZyxAyzNQqLIXYLShAKyOBNgh2PaS9JGNJfAvmnLErE4wIEEy+TDbSx2MWpiqftVCwnMhzgjXXhNPJ3Ye5JtIQvZoeSZ5g8gEYe5fkNwhxpCDYArPv6moR8/Ta33bTg2moVElr8rHjPVopBvMbRrwrDmEeEUyoNwB7FVdZbBI71qgEDOfkUqUguvnhuoBkZ3cRX22+Swn4vKWSW1E7jA+KIg+JVQzFiQ7Pq2flJ5yNWBJkbUauO/OQPZlQawFjPlti60PHJ1/9F9G8j19nEeC3PdGVftTFxY5FQ/O5XTyGD/BjA+HVdcuV/SBN5lcYfkXitPZQOWdNTStu/RdB0uTv3VRp+zONxPkwnhvjBRrzoxtOW6L417bDC27sF2RSQKuqmfAyooXqdo4+r5uVIe0fS6tymKV9cr9RpM1/SwE4HYdM1GB/YeSw09MVPmXhwGaXWgw83vRJTvCHSNfUCEUGEit748pDHDQWveDtEqFuMfFSsZayPZV4QScIWlANce/6EeyRWujwjCEKPj87ls6G2vr09rPlIqSxvrzwfNATT6YiHm5LLK/HP4Sounkc85GKpRaEhocTuSbQ+c2Axh7LQdyR9q6urNM89A814YO0j06qOWBVG0FR0OVokxVArE3UzI43kJ4DrcwwPfTTSA0SkzyimcsLAIBYcijWKN7EOFjMwMqqutE9BqjlxY8c4h6pLkFR3p9SeStx444kXmppZtw2F5ZZRSP0Cq8/B6siO+Nv+NZeCJ3Vog7zIEPrDXsokKnkXjWG+s4bY659Qh6EMH8o+q5KrPIl8zcB3alNvXwYWGNqgDoCAMBHUyU6Ftc+y/WQuwig5U521cWuPXndrHu+7rusSbe7N4L1TwZhtz5Z2cVkaGItX3KK3RMx3r2jPIzuoYuqv5oudJJtgUtY3i+RQ+0jv6C2Tv2mQCk09RG64SUbeRPzvn9dMMu7Xe5sJkDBDJfCY5p4XfcRuJjRvOYbrvp6JbH4j42kVA+rVajANSMrplrHxO+Arp6j6L+Y85uR+o+VC7qjw/qy7tr/97cqJFRMhIgi1rCrtYLf7gWlH777H81lE4poDrbUt8YyKuTzoiIrWlpio/EX50BREulRwxavDjN7Ih1GKFvjzg9wlf4+AphJh/v4mfE34xDBrX8NRz7ZcvpEld+1J5t5UNVdqpUoM+TFmKgylm1ynxEGiRWW+LXFkKI1YgFFITm+7SlLq+zt3cpQsbJaNx+Rm7J6jnqY7VrAHk9vy4tBzGh0tFMQjlp4mDyd2GxVLX5geuN9BrWTyARtiRMb4eWIZlszcrO2lfqfWcNw1FKHeQV9LdjygNnO2A4vs27jeNz9V6MiO3p6bx6a1PJH4vgHiEAjw8DkU9bzHzsZ2sWUTqTbDLsMdvpVRIH0sOFlvYI9+1AiZIGKTucAIEBwciNt3wDLYSpOF5rX+udheo2l6MEa2SVzspyZi/Q8JcROvWZCwdsLE6KL4BbuXm2/i3ZysuY2awoqqsl6+lRuPJ2uF2/ytPRhXKkqN5sN4o+HGTHRL2b39fzjq7wmhkDw7ToLXOcBHTAM0Cd99QLBWP5PXIz2TE82PuQmsDqiPIKL9wK01XNm6WmmZs8F4eM1tEwkvivrqifhUOFwIYXCIR16pMr8B8kgT3sIaDg6dSWbDtcaBFX6mRN3k2jDW4YILwgxF0vmEGGXQ1Tl31d2Kjw+AfFF1JZNR++LblqOGllGPYMVvXJQIWbkXxa+1rC7u4CC+4SPT7psaQCcHNaZ1X6gAEEa+z4kfucEeKEe9plzEOT8KQs/HLRkdfAfvMHCXNkiwKDnL1Wo/0eRaGOH2LDWOjYldV5ZfTDk/NQQYWvx+An6yMcm270BU8dO2zaLxJQBaxbhud5e+WnC4/AMQwpODH8s+GrSN4XsT1/ijqLP8lLmEtdBLuAQxlKbY6yrta/mfUFXHiBjyINXcoPQJP7l50xCF4bv47os3IhHyxNltRLWMX33/GuWoU4LNP1IJIBq6hgeox2nx2txaiY+5oIKhAbYpXLXZHghTwaU62xUnWDJEQ0eTK5/Qgn2Oiis1JGLDUnlmWe/SpTUFclDtcWN2x5CaT75kCOCTt1hirkZ4C+uCM0+lJsH3aJRagIEcsxZk7MGVyhQAdBvahkpteJsHgWbgk7pGXayFccl7whM8O8uOIbOpZ4VgiFN7la6jxEAdVZppGXGRDeMirarllymNdR9KXrP4t17ePNNgRCtPTfDGbgi/KV7y4+0q212BwzrG8paUl9fcWuXPAdkkS1vOBfIzyexmvu0bpb0f3jNM6cLhjwBbJxCrdmjUlweeiPPqyg3B3BHA/eRI5N6llE8UgxH7jRsZrVBf07nPajC72KUOklgR2+Y9g/C/o94hB/b3KadG5QIBcMGKODp9VmsvGnf3a0LEtbG9ehspdwNiSztRRcnIL+zGlJsYgZPYhqrQmYbBJidTC7vjVFxaAnYbYpljI5QxD6Y1vAsSPsSgcbqqeBHDb3Y8yvi59dLFfF9Wb2xwB8CXUqLYu5JxCosKexQob538WSm1FPXxhgkInfP5VOu6B7RstA1Z3ReA1g3r1yIYES0xzGkyLurPpg4vkiGmMrZZsaEZh9PanLXmOJvA0T7CKN880Ju3LNXlqRAak5XQnKsB2yTUNW1MCSA7fKEa8qISeLNpaUVkgQI2TeG84/1Vl9ZAD3nqRivBfI7XCwM8KNviMKsRGa6JPUj8HX7UXI591dNoQX0yxovuEvSSTM1wmooQRy2KnIDxXU423UPoYEZmXB0aVrRTdxGShbxhIfmC85fZBaWi4dC9Y1xQuKPSsQ/3M0O0RF1fMehnydojDEjA0QvcEk8bZ6IkDHflmADUjbQoqtJUonNDOEpjcjGwiVt83KQhit1uYhrB5O8W5cGFx3RyhNg1R+cCvYcI2H/+2Bz/XdoGlvswLjctadMomDnOFzmmQDexqLSOwclNrVlqG4KV/9qD76I8TZoyGOsS8QpNxRtB2lC3JIO9LsHsAhjgzq5T+7rEPX1cZlAc1h2yKCZSVqRqhH0/VwcKjNr/O0jOu2pXokoKxz3KxnkeYt74W5/5WxP6OOYlptMrx+yC2DgrXDWso2lSuOzifRezuF0OIImzbymTkx3ryCunHWwTHMa8vo/FagLkz2Y6K9ejvXRb8VIBUmN6RAB31QsZ4A4kIdl1K2C9ihXKbNbbb9TuWB50VZ5n1ezb0P0dM9hrhZyjJMFfGs/MoSNGajxoXZuLpiLtJcY4gAjL7Oqq7NyNzRjevcZ02I8icBsBDT5XMFeC7/wgwA/zIEqnZXBjQz3tWMoTuHHPReaFNuuxBFFJ9ULRlsuPdWSXU4hwA4fRM1jWNSUken6aTxvzKfbKyEK7ljeTNGmx3IQGkipMK31CyvIno8FZXk7dTYbkRv1kH8iIc1f0amiR80gUipJitKRNpHikIHHUY/4LIjMkH4WM0SJPRjBbA/XHlslMSkxCWJ3bfRfc+zKcFufQbT1T2oImYp94YXuvVpnMmopW6C5xlJIhkEPccVnO1NA10jn99sqDUSJyvgE+SWhgQy1JlEO0ctJZfM1jvAkmjXoDWV/O8k56AglxMPV9+tmGkRBg6TPTI05c5ZQ37SJx8fUrRs0KcHnd9CcgeuTNmmmQoVrbVjw4VwRXqzpUm65HpFwAs2dcMe/wpJWE/f8dO9vczWzub6R2pGTpWXAhYC8BQaJ2jjrFiUGtgl5dyapAZ6fNNQX1dZeIvFhxDtGWezlbEhtEGGq2d5dlgwePqZZSTYRfXCIu1BflvenD3C0z7njpDXUPxo09ay+GYe+1A6FQjh9tibMf14Rm8bv9q2zj9sCBgaTU7t4q89wPMZCbG0JujaogiV843FQ47PwKo1tAUkskwRxrXPn3HFjkyJlH0UXEZc0Yj/Khb1/ItRiuJ2sdpxJH1cnlHQJn8I1RdvFx+BcUqqGU/4EjZcvseaFrjeKlk81B7szE/13qTXuIIEwA5jT7E3Axms5PUSssJ1iKcZxurWZxp9d0Vj8dr2kzIDf/7Fk7H96OPjIvWka9dNmusVyq/a5NeDxdoUqdfSDTbFkm79A6HWFgiIavD9Xn96xaPKKdMj2OavgErDmFDj/P0IFyYmgQPHkn2IreCd3ITQezsLGBjlcWg90crmH4ESItxlz8cQKtSKbsmAMA2hLapJCFdYMulHNz5BgMUKM+l60Vy5/zo6itRh0AM3ik1MnS6LsK7tira0uWen82+cXPh36/waOItz0ekRkL3U/1R7BXTniWdkdQjOMLUoRIeh7Kv0/CdCW3E1Vyshe9+bUV7owJ+7wW5KYO0UbzUh/TD69QDsOJmS3rR0LhjQj+9Njc4NpKfzE+VLKnt1FR88U8AwLWxbVsGGrPXCyeooCq1DU3v2IX+RlJ9nN5z3qALuOv4P7WOJDoteWLHWdBolROWu4zna7Hn7wD/XnU/nMd1UOQkilQicHAdPHTQQama53pAGgAx0tX5LsFSg600u21HQJwg04WBMje0g3w52BR/l76D395xxNr8b92DisUAs8ylM+8ZUuO+kD5UAwaWYI7qNfSRD3hyfrefgRE5iEm1CgTFw2LB3wjjkUkkjeKyvgrwjWCaDD+Z1ZnNlEXhbxBKjgLjr+cjw17ViqqJEs2hGKycM5O0UvJRNPqxIeF4phQqERVjh4vp5RXHk5w2BOKwsNhBNsYrs5+tuqFfxIT/1NEgAH/fx7QjsiIIgeTQJDHy+VUeZj6+blYFKJpX/S8jbwYRaByasEmPDUmQfpPobllyyNs2i8l1uspF9Ns0cVo+U6BdSQP7rueEnM90d0vxnXQW5YudDDqpCbRR/PXjyN5aheQtqr9rFBvI2VfH6QWspJxyWIltJP1c98kBQ9c8KIE6+nWJbjcm12P5TFZYQBzpdxAxAXqm6TK6nQQJxWux3rD7eT/OvEve+ypOoHZUrPZlzDhxwGKI6GxzIOiE1VHS4H40LrVqxA+4Gbkc9QMCsyHrzGq+7HXxXCubduq4ZcfPY8TefLfVG3rN16RQ1Dy+XboR2n3VXEnfDjYEIVKFZlmYP+QFDrDFmJLyIf3fELV1e/+t2DvvfR9oZYskUUX+byDysEafloQd0MszN0BqD8nCOiV5ivKOzs/hbf7F/t4CopXftK6G8Cak1zF5RHu5w7ieJOaj8UH6aydgJ8jqy+Nvyb+HtTvRYeW5/F1sqcFy6HW0sIcsG09vNXomFH0E3s0ixS3++od4PnB6mK+6m6wvdl/iOM3gosN9QwbKN7/gu1YbAwnrxc44c/1Y92ICkYDq+x7ClMUaG356+tLRKLz9OdIupj/D1bRhRo5puspf1tG4SBJwZM+pe/Cw3dYeeOzLFGRo/6+c/sN+EPPa0QApNYRfXHoRdVU+1hbsb8soo67M/lJFCi/B1s8jrNmIoMfcfJmucj4/1Q4pNj4N6UjNenXS+Z0OmVkWhYQcGvNhRh79y5+NMA7X5bE7a2pYFa18W/tCRSttkcy0t0bBjWs9jWlf8AtzadSaUf9Ut2jm3HIEu9jzyWaKlcl96ZnT0xY9wnpsjs20o1433ncPvkFFVUYViZwJEWwBb8/lTYMQjsLOzDiaQSKk50PG0Zt//sp3B7UhRDZ9SJSetN/EaAv2vuVQp0raT/l5Ji/i3W+1GS87noAUnpYrR12f0UNo97LTPU16nciKgE6GnLK21TkzaOcYZFuE1eetn95YSN2JOrByPDcqKUtNqPELL8uNeNSZWK03SlSPnwJlLsFCi7avmNuu+eHebWYfcYtisX9LmfbQZ3YIKCodcauYGSQ0xDojeAIYM0k4gCci9sFUM1iPl9rhSF1iGgpB1FACHy/NCMbTGHNLhkEnmcMe5W2QH4W4kVKINhNK2981xyXl5gsXM/VHLrcYk4+Txd179RMNWDfxQ2Ta4A3n+XDVNfq4SI0sKw1C9ovyd5GYepK+kXKwiwsCVV4xtjNytT+XF5meCFFjTzG521UKXEWS8reGcgcUKHbyBe6hQaZqMMr25klu1fwTnZUwaL+pxme/CUSDzs5nCtPuCSeSnyzMC9mgWUhkzXZgUwW9/PtwZCQdw7qRdC+BZDO+DVK004OEVvBuZDTP9yWaMg+kiRziW2BxR5UO85aMGDebHzB2JjYDSwFTVkSuERB/sm9lxjo2WGFzFhKx0FeBUh128jspOmaj4W19hIqchT0EhrgekQf5cAG8gv92kkSZsf9N90Qy6iE4vFYBMM5hzc2tiBtnXW/tGelbldCnqcSTWUg/z8/AgOQ2evY4A13Sp5z20HjipohEMFARvsAILGsVzlK5+DiNlC4rnrb7RjW5mdTA1PqkPmin43BZuJ5tx7RC5eCaZnZnnzOB1PQwpJiM8BgDygJMh21n99FA4rmErDlDeFMrZa1nrBLou9hIXGZGo6aqdvRz3Ub8pOfog5Tmb2Njxhe8c77SgIopbYpbJRSL6LkBoaqlC2ULYUmiUmT2Zxhst+jsfwHkDVSRRMeLkrUyMpgRVK49r5vd4X5aHOD9YA168W/mExTHXEDcQNGRuYMjBCsWSuc7yEVwqAOsOCgQm6vCntQVnGPqy4AkkzAayiIDSO6YONJeAnt1dxoF+aLIMuwvtolCbv5ZKea3e7La20NC1o70EwNXVkOG1rvTDbeLgpEuP7rG7WPlBxt6b5iZkzfdsKeMRU9w66d+x+p+lXX4bxFRKoHc66LjHBf7ECp4YKq+E++ugPu8sp73kg6koxJ/M2MJWRehZnKED12V19P5ElDX4Nr/mGfbDMRIMzyij5QEoM7nIBwr5OG8k4CZWuXcQmWm56rDNz0lsA87On+nQyBk+RUqvyY9qupXOw2pVrig96mljxV8ObTlHLfpRSBwCD3eUke0Fc7xEm8Y1Gu2pKZ+5Hx+YObFUGd5BAMwYhiG9HbrNev33tqHsO578Iy8hftstil5ZBoLeiqvOKmLMubsPepu2FW5QfkNvZiMEGA/q/bVWx241VMDCpfrL7Lju2Jlgx0fECHDe6hijLP/4uuTIt+UpoTJxPjfUua38SXmWzaNPKUK3DJv1eX/RYXSAXe1M2GlIzLwxKH6MWzONzrY3R6i7hbK48THMTmPjbUsr8PDAzZjKg8WaEehYItmjREWKmbZmwhsL7vVOCQtDhdGguelo/OoXnKonhEzlFg0IYyGNAeQRUuhLlmF1KQmYwH62JD86cSWdwXUItuFlxVuNGsDJ7o8cIrFZke4AovTliLqeKOK4OLigdUQ2U88HA1A6/lQUMmnb7+Qa4lTNV7v55wJ1P54da8TpWluzVQYo6WfXhUW2HZHiWOFHobMu9+ojDpOXatT2v6Io9hn3kQkL9et2zJudrMnu9MPID8tCDqENhr6f8eiDP/6GRxzjppXt3CLppTrZyZreBYJzXoICmcjhG+5T2NcdbCwGf/dEYjri+Zfxhzy4LJXLeVNi6XTwQfN5vkGkkLXx467OrVW29izoKqO4LPBmb72LLIpsaMYQjtaIb25jNBTcdo24uA2tleIHMT/0HmwViTDMQcQS+OD3zKzzWss4viCUDx/4WKggd33XtONZk6dGrWoWK4TyuXUWki3W+XVi0yFHxddiEAiDGcN3ipz+TmcOGg0sWWQhBR0tDhLOhiQtWobgdeVu23Q1qFd7zqrOg6EX5NHcI6Inr1rAdKwG9xc+Uj9Mtiw5Kveco3xeP3R7sOMglGy6xntA38+a7pZmPKLK6bFV9JIzP7MWpQlEEVomGvcCW6H94w8FB6E0ixzebGdiCidE3JJ1BtgHiJ0Imxd12Bb0L4VX+d6ZZ2xu7vtJDDRxEVi4N7x4aOujZOz9PFh9L1ePnkOehOZnjCYKa0O/5vJtPO537rwSrA+DDWOo/7XNbgTodvGBVnRG7l0aCWwfC4TdlI0KOtUMSa9Td0QmBtT/OFpFKCOhCPPubQYmMyx4cpGSyPPVH5fUhF5n4Oi/DVUHQE31kpvXfBI6BRBHHIR3qpUIJmHPNe0PDmDrmpnCW/Zp618+RWpmXfzgL1gttrysNCN6yb8CmkbgOKZldbnGLKkjVCsDFW3VGSTgcWrmUNIsqRzQEAXqbrFVflrt4vxSqSRKs7UjvtHIvDbFSToWG+ebMbw+GJOihfbkHaJrlmax3goZIs33EAiCBcmfs2wq9B/eMOFUY+4r55A+gKe/h2YnNkmGiZyP8DPYtxgFpO4+lPSUGDAgmOeWG+oTHQvD1lST6jiIsZdQzrN1viuLXh9MwPI/k5zvrx7z+t16yaMQtc7S+AC7Ll9lbFMhyw8KPlgVBnqOZTt8/ygqg37GeV0qpr0pSbT6NeJGVxLw3W8WPk6B+JnOwk5pxtL4gIYzL3PPLMaDqeM36BsoBBzZ88P8ArMBKfGk/BxagKrFqjFgvRmpYRcndASKG0PBepykq1tKxsTLV0SeFC/6Y/WnQcJ1k6t60I34W0+reEoj5bckpXiQY/ryytSr18Au1hJ7xIS6tHhUN/W9okaX2rRyfYcdBcikSlotT2bLMizQLCSCTVumugvE8Y9z3hOm3m5NpIhDOi3mZBurshN76kiHxyt5rjB4d9F45gEKH+wIX15n9ePyVEQRgedw0+Kc7RxWL9Ow/YqE0uQbMu0/4Y6CJ6yIE5gxBhwH+HBQpBsCeeqb7G5kjg5ZYEqrWKmS4Vef3PqKZGxAfmMJ63Wuf6opxwR9gCaQVgrLZ1LC8pqJW0O/mV7rwuXIoGKZGJsKoEwkTma1UE9CuFkdxr0adXd+psXkpzBl3CeLf0vJlNbRrFVQyc5QecxyPn+hIR3h7qG16P2+wO7kOlgNcX+xWz2fMwLhqiRB0vRzZ2uYudmpagDdn1ocW7hbhx+a/LQvEbGq9meDZiii3kY71a2b4j+gP040lFQsf5p7oXaPQEsEgnPM+DM+/hW5M6XbZiUVRhFLoYSJmhjuJGTmZORQJtOE7kJ0dt0Ium6M4rQcWaxNp70AtstV4nnWyaJTme29HIus52BqH7U0bbePJOAuZ9bzTLPHYsAXuVe311Eumg+cpNBe9laxq2sUtup7fgjZC6hKp1v5WA1YmTQEh+3ttdNLJavheNqU9cgsmZoZzPdkTB37d6W09v2d3PKLU9TNZTOrbyJdeeuCPS8K+wS8V6Ai1gddCqN6gMDsfVlczvdikI0JSwWvDvrnIDFP8a3wcB3by//Pbbc4DPrQ1ngiKqkuaoSSIbpAl8r+v17hXZuC/WCX1oIV/1A49Nlh9uw0hy+6ouTnt4ZTXUOBmxFtzRnRb9zshoJDE+4lR6baBaIq9mQQeKKLoYGITHGHnRI/W1bsePZoW8bTS93wjFo3HMsgl5UYv5/7ZDZVieJPTOfgHc7rbHmeUpqKhb9pqABX/QgrP6UjovJ3NJwtKVMmBK8lKbSBcD4FCL3T3Hfufctbqx0TvipQJEsYz5b+A5m9JmazcxxYBW/Fl2yxsN3VumBN2dJc20KEFNaE8UyPQoHLWNjfqjQCpABf5LKP6PjExOmI8kHmz6GOFxEy1vHs2getFKksQvk7e1VNjFsGQG2wmxMNMmtcdqBgTze0yJJryAwBR0CYYkTgwjTDBL/qM6U50EVjO9CbhmlnbIwhtpgu3hvrTq0jPo3LqAmqcP+4fwq5wbmS7oUnViH+IPRWiHx0dxIX+lYj0KDTRmchCegE5gaPOTFq6BdGZGUVy9Zh/oA+CpbLRXxtNscTz+8wkTeO9o4nxT7PE9iaP6i9mAZYe9fQKoE63dFdMK+qS3/435B/FfVGQ5dq1R1L6KiF7VDoHperP0mUAk56PFUU+aSiS5vPbVZboJzw8iwHgNRtrnXLaGyxeM/vWjgeweEUwt+hlWcnq/Lnk3EVOF1UlM+PRaZDsqIHh6yKVPG8HaT14vU3ijs1h0Qm7f9jqXFyGuCTII6QjYZ6DXJAR7Kapy2PMrluKYZFhdxTh1gJ6vdzxyS7s3X7eWySX7Ry5/FxlsQvuj8TYTnfe0M82Cc42WJANF2zBiv9D57PM1McwLDS/MdGeFxqIAgpzcvHEV8r5P8AbfGu+eIs2MMv76ICapNOpfXx9s1MdeWuYJqdURjCW4CpWJfTb91jIOJBg4nVTNsdL5d6AOUJcq77/aewRk5u/FFRTD1Ts7E4kaWpVDn88WmGRra4+FtOwq1DSQNXstID26LdLmiQHlyk6KqZMAKAJhhVO+9YCdXHjl1+C4WWPqGW0QakLjYSHYa8zgq9yL8PQ7U96pSDeXItcvYVRzfL6ZhBgAxyk4LnjLOkZHTM1YkHI6R/MIssAbKExGegS0qEP6bT61y6YAl7TbA+T5As02yZ+P0GEN17bjZ+QqrRQTd51S7IlhUxIeCYbZoAlBD3n/D9vgOw9khsljU5Yx80IgmyFL2+aQsP4Qbi9WEaC2ZCB5qpIrpjKeTlycSqN9XZTv4K5I3cvY78gTZPOZ0Q9UjAv4fg8E8i8p2Bl1rahnhbpyKIV9Kzr+bzz2TE3RGvL9Di/li4pkZ4W9dvOs7lteY+gDmRgZeaZ1v/AnQSZc5lcUq5nzPvvIb2CAhEKPs1xmBekBOzq42zF+JzbTXGPzKCOV5OiHkzQ1yG4ZZsjoNxdH6snJtaEC21uzxDlvUAVsqR82nnI+HD4U8UALSndZtYflU3Crfpu5GWljwgekc35xdx6x7O2vj3zX5ljd0Y1DBJHaehEIWEXjvjHY5w7Y7twRlN1K0TGokP88euB2ojI+IynELPnYwl4PESbjxhIWijPHmLBJRPX+ebrPQbIiC+BKin0hEXsJc1k4Oe+aBGJ6PtIzhPKv6EJKoKZb7+lB+uwcqNN29jeDwJ8ayDZonhT8bKrPKuHsM02hf0fnn8E8AV0KWebYSx594q09I7eycCbxbwwnV8BT2WxgCsUNDwuneMPbHnRV+krAUVXFxUzXK4ysOViDzYvQnOONZcku7nJu2njJ9t1VKiP8NqUWR4x48xuuQZeQL4TK45fTyBrwLYju6U+mBiGzVPwLS4AJPnDNhAGe64uzu3VmAB2pfdLnlCBuVunILibvTd89egvgGr+klPTTpzNKivisKszkK8gAcv9PtV+sp+dzxIHSJ4x9wjr+jpMxty0+RwSG0R79O8AoBt4BhBV93C1zETCXtsw4AHZMuB8/+JvyAITjLbnW8SQnxpOPsQ3WPdEGakQB9v9eKJfgRK2wAXC6FXpybfiw5ft0T6MTi633bfraa4QOnESzm4mxS88iGuaddAzkrxvaDJMqF7hMGaL20J9GjCdTXlxS2O7KpI7xq85nTyJqeKKouExCYfzQUTWOgmqifvUUSMtCBeXBosYAKx+idZ0bLHTyMsk0Qo7GbEDZbmoDRxFWXSocFqKqRMSF3pfBAuH/eSqgeO8ONg8+mwDivRPd30iUfMwrUM0SXNwulc4DSiffSM8Ia6uyYUY7BDUgvDIWt7Ku5Y9CMpNXBocUnG59IHN6EPle1WbiTZPlCor9eQGWPP1BF3lgJGfiY/9nPmujAn5Wk3Dpgn+AYV+hfGgR/u8UDumtxsWfwg4ANtUIukJ/dFB0mzd57wqyT00pDAeLJPFSYC0mrJQaWYU6M/pH/hd5ov4z9x5x3sCNpP83VeVH7ScpPugQ7foCdHG6diHDxsg4owmLbeqf7Rko4eC6YAbolzkRkrfbukytazW6IHEDa1vuplLEkvMuMGVNOsOSjOEu4iwwwpkspIWKCfM9KmyAAudw0Idh7fzn4CAj/IsMyruYgdxmyujXGiuJSJGNiKNarbr7VGfo7a2bQSd1PFiWyXEGIMd2E0tBHPmjqaJKQl5CHUzkily1rv2iDM9Y9iP3GdlQw7cr9/7upYdqgNwRFaE1LAS6CMkz8GqaNJMDljuVpPC8ZGSq2FoQMRJt8sK9x2PBPgW65b0mmNzxggbqfdbvxqnbWp2jLgC10ZxGlx4ZDPM8eWDU6IgVM5Luc0oxpj2Ub4WpaxPMQRXs4VcpzDfrU5yRrBrLZ3Gs1x7IUyJdw5SGM/ZCrbT90iVOOtcTEhqgyHGdOoHN61MHSvXdtQZPTEaAulojOiEyJ++dSPl9fYxv8nfj/0g0RSHx78NjPtNch5rgjpPW8dpZU66Y1B8t74WewEHSixah2j5/G1s5vGcCUjh52SuOzviVn5/OsORJAeOyTmGz5JpNpYEd1KoRMcYTDPUooaeVpmOVqt3amkT7sl6pLSF0BWY9Jwpuh0f4a5X7Ott/kR271caoRqgLevXKFpRohUMWpDcLgsxr7bRrZnlH/W4ra+WomPreRtlip4tXTbduiRV7FuK10gzN2mdT8UhhztVDsUrT+D5k/C5YxYuxxrc43g/hLwk23c1TifuOKEh8tylKEucq51PioSzebUqImlUUh7evkd/VDDOY7JpGyAEhFsMcRFbzpET3PZ+UnrH+2ZOcc/B7DT4sMC2dS7c1KyFqklrbKfUUGUtdEAGGXK06pxTjxlIv8AnFHIioJf2+CUSjVlz3kQvdRHTZ2JchXY+plsszwlQniUkJ6hPEK8i4v7GxWHkDfZU9tnBqpn7SXUXhBMbWHTpGkhFNAcCpbyOMpMlOtGHeFGXILACu7s8SVOxuNHwXVwj0bBw4ndF0s8vhXWjq01FJIF1XQ/05xH3yYWeb5FXQYfm/nTAD5uexxREhb6/AX77sW/5JW9eY3WGvPT29517g931wDVY9PtRdyn51NeDMHG76bU7wh6ofviw1N3h6/IwIsfj9TfewMjeu0rm5sI48qK4VNDdkVUdGSZDF/T6ITsi2Gsuv+VK1MDPL8yzHC/UVPRcUFqT1SYkmQvUPTFXwyP8Y+dDtn2J/mTTESbEE5x/2V4FHs1MPF0h+5BYKqory1SuiPLlG6zyWgKOnMZIyVd/HTZR1RkK5w9/e7IwNrmoha9xOOpvX1YfmpDTvUzsAF2awhBTIPclkbliWkc02AeOmClnMWBAFuUr02W43hwkMiNadSafvvO2WPCiWiNwqCDq75u5GI6c+cLJEPQ36TmuqEJPwfHgkG37moveIEps8nDiAExIQCTlA3VVG6cUcXBUFcmuy8NgyJ/EetFcwqkcNa1wk764sb4476IuP2cg+6fa9Y6isVmh6u2H45c8hqD8/EqwxTfTGsXXVkKl8nKR1Fyg71Pc6XadeOb7/etTmu9vUFV0aya+HF1tBDIOM5c8wwaoel8Qsd0sCgEX0khNKR13QOuoTvub0PY8VhlI3w1LsjSM93/cZWyM/oTyQADmDaNBgVK5ewI9PLErtHHUm80F+MhCCGE6rjlAkpsWxAFax+ITD0+waKHVoDMgAzYvpySegm0tzVoL48kopWAd6jQtNRu8ilawfa3jyFILPYxC7zCMVhoGyXvccCruqUsM0yZV1N+1zuE9BP6MMuRiK4X3h03jBZfeop57Mxvb6engU2vo5HBhKXydOfqgfMuyogPTzF32QmAx3gRfuuv3e78AJoj7I8pXKwgtYaLO8DzM0DbT1jiYtMabyMqWGO5Oeb8IA7SHkOopXjSOPOcTEyuNF9wCy3wFjzH0gdHW6F6CzRJnW+ZHAl7oqF/FhAFPAVkWaJxenSnIlBbArPXBqTnwZjF0OP4gj1Q8y0g75hi1uJSGFBwAIWUEkLxkECnp38fSxjGA4KFMse09IxSqXQsU1cnTNhsAaHmonjMyIc/3qz3qbifiJYcvcLhy4FVQGI6dTYm7Aih0QHg5XukTSQtpCc5IyWcVtj8EZ7xTWOGzprKbQ2xfUIpvJisDgEV2OchNWQ8Xxqcf+4ByTAitarW13A1vWJAwM1LeXoWh26XJ+Rnqi4Lw0q7ZI5sHfizsVM563N+9cfsJCYewhmFmoW2mrFa7Emuh173igiPSCaHoKqLBRmo9uewBFmoXRKNQACskIMWPmgNfjzE1mxHndPjlmua+BddUd1oEOg+agWnCFo+oZEYexsxDzYx6I9LAhp74h1KYMIqBQn4SkBX0PK/bOwpWyJ7h4cxCf3tK8nqC1AjaRG43hQ/4sHvHznh1s6SvRDe0chPumeRfM+k8OtxaXGqt/VLe5eJXoMQcfGCBs9JFSlLL6+LvZ9qH9q8XsB2zwiXPVfY8mA1AumHMrNJDqpQJA8GBATyP2PLbUM9g5VVJWk5rRbFCEu9qWgh19/bNd2b17YxF/mkgX1FsNXe9LEosr6CoULScs6hulxXPLMgJ8x3FUI7rIiOOk7O1FabWd9UkoY6XLVStttVWFB8JgZ47jnUHLVu4RyftDmWRQ2E3EL/eRL0uU6yHM6nhV4nLRjYKhOqvJ8VZ2YkMbuV/icu+g+o4mA83AXK6B2qHYZ9rEScLRDR5NYvXfCeWL3150reSBulFkmOI+/ywmoXBkloLIgOfMxPtfhvxlu86hCjPJA1xQMz2067xFs91ykzE0vLyQ1tCu1aWUYiHAcEEyl+nNXXL1Mk1f5c2F6ItHf9INseK75MwNyS8DX2OQ2Vq63hmPaHshSVedYaqbxXKnWZgy2zkbyeVWdYPk/mJKQJ/eWOy5ywOebVFMys+XxCPH/yzpBsff9t9AN+T3PQ2mfJ59NQlNh6VHfKmezlvFzxK8/lv3dkMsufreSPXBYasXeXbVonwSuHwKnjIGDyUDg7KvU7ndaQIEVHwze5tFOLPgGFCkjFqBtClZjgKb86roXVYQmQbJPlHi4ziJe9KQrCZuHAs7EpSMvLOujJRNvDS+KkLLgXT5WkGaaf9bdu8I/rwHtrrf5uVdQgtCG/4LGHHeQfMBKPhFVv8WDbo250q3sMF1i3zxL4fO1lVFao9E/8BS/K0oTU68t1+dTeM/dLlR6DGigFeEPvz7jnTjRVSD0E0EnsMCjHRENX+59gSgAyDrTHY49vPOjSCHromZc4bUXZG+e8U0foJToKPzi4pIWlcaYnqx6eNhIhkz5lE/XTLGLJz4EosNN3yT07xMsNv4YZYvahhMAfG+DhLdNLy/RpP0ushfOmXx3SHMhT1yVMYqo59xAsYgr2QPkKhN4pv1iAfqMLxnq4Nb4aKGnSZzIiKBKssrAuFW76qub2bXQ4cgZhOa4kc6ME5eB+SIPCoCtDK8CxxpsmwAfmpR0Yoir96+AcepTBfpsLsSiTtBH9Jmtg3SHapiuegKHmihVkPE+d3SljGlvmNoubEDs9ukUH6CUTzyxBq1Elf7xIpmsYcoiFT/3Kt6KlPb1Nt8RZGGTv+CQLdjNOOut68eGd5UUH8VZGoZrC694gFMnQpowzQSJeoRaygDYLoFJU5g8ZqLOZwiHlUTGWoDs8DltdJ6sAHqT2qWaopqbsbMEO1tD7ITCKjx0ZDVfTp2I/2VSCTec3gQuAMOPPIcTUBMYkL0IXI5/Bl+upr+ag0c3rssaLPq6EGg7WSsaPgdBDZVJj09DEIT6o/GRJ+gHPXbCMeZ4yw/t9TgHzDhCVrMXHFfvGunBNrHym7Ei/IfD+DR1TG8fbAF3BJqbv5M4jwwDfdfOR4fLNJwgu4InDoeg0OGXl/54kYU+ZtUnD5ScGL/z1V6uCBq4jg2wfL29K8pfL7I3X4p/kbN6bDXUxS8Fk4+NoyghF2MELA/JRKqaMV2bzhFWjDZaMdb/UCqKMlKorOLy/LsTOQunYuLL/Lxy10Lvqn6/C+Vy9rY8yDiazSD6twE3pE8YGcurwouBREELeZwN1tMmTKvhQbjjOvWJWDeCaXyDEaTeh2jF83Qd5dq+HcFQxlAvZwPj2i0vD4NkBfwY+xnuqGNZPIgnq5r17Fby8dhZGrQluhW0mp7kG2aeq8/g5WquCV0uYfVybChvPgsBlAmqRxm7IOqaW3U++LukFZo+AMLOBeEjeXmcYNl2YvmYVvQp9k3llOh2QOBGBh5H+/xgMrV6UERXY9FlBATxQ5uT85nTNotppp0WU7szlHJGvVIqU7sv+yUvYj6LM5XBEfSTx9XlPfzrY7cfUTe4FtRVYzibXg1hN/xNKf2sFg7pnKkWOStYS4slqkW/U46EcTXZn+tS1RmPh7pjNo9kG2rjrFIpxI4ULrTaVCPYm41Nda7R3QB3Xu9Wbpw8Lv3maEZRRw9oBG72Z8fMoYqtMLSHvMwBwZvW0+LEgDGZ9LIBFAavQjRUiZQepaFj9I5fBgS+6jDmV4IQjsyxBxddBYLSK8qzHiOoP9JaLKfa5YfA9lJI0/Cvn6Eg42LZwFPyADFMps18ZkO3bfPDSVJpyfIQq3A9dvS+jsaSqNjGRFoPYTPNwqWGBQsQwUwOekklmwfhN5ANCeHWsudJ0/7nTZxj89vmiNaONxcNjt+p6lODFMmtBL72emKD/eHYRFSig20GP3xp1wPFJIsoWyOF+rMlUy51Kb98y7i/sMnPztwhabLVQtO/GPCzSl9JkE0gu2/+cxJAE2byJL4LGh7fPOIxQc1dnLCvUrmGD8hPlkJ5wNvXTS1I/SoiEIcqgdKV+jMNwuNqHcMvxE6rvMLy0ad4EWyPas6xflN8hr4bXSr5tnMYqS3nZ2uDG5sXyZrLVd7W/xtCuEO2ed+RoKnn00ZCUGWDAtiFU01n9qVlH80ieFBLXKLM5SqM0fSk/y2YRPv6YZCIkGWEuDQM3IA3gCTJ+mo3zX9qo1vVFQeM37FEryUVb9/WSyZ2C5VTpWWGkhi1FQkJ7Qv/RAn13rsI3lJXaqtX71TioB+6fciB72xkVJCfcx/Y5BZcMEfNyKI4tp99KdakrYLwk9zRdLVvxZfvaqcT4XdY2qX/v+BROxsk6Aj4T1234B2rcNKSHV4YDhHv4zVbBs9yS1Xfu2vv4F1HySa5024XBpOCK4Lonujkvmq/sN/gXbwlfqKJ8HdU/mM+6aUuRDCpMiGJLHGrQhdLQ5VBc+0fA/J65KfYuqPq5nMrM4JZBtr3kWBvvQtoxDgPi+Ge/5UM+Oqud83XTeHlsSFMNR1pztF50IBhGHSRvifCGi8nuZAe1SiBIgF6XX8obcDJ+rc0P0fjtMRcERkxbN9iN/UCzei6tvTN6dh0kvt2qeUqF59T+p7gb2vwcVcGPrB8vRnLfQhDnR6dVdPV2uONqbpXscs8ahHZdje0iy4v6Sukc6b5gQvMpMO80+PVtUSuh6S70K32z+/StFMcRzirkksnVgJtKUYKol3NYc+t0NNXxv52Kt8WK0x86RUksifdAVVKjKCyr+Mk0a5JrbiYiBL2n0UEkuXkChHLnhDH9rgutYffXFx2SZnfzUgRED0Bhq8OhF2SJeSzKSTxvxMnIT7HirEh9GbhC9WmVhrSgCjbexbP6jhvaTjdSaMJWpbefivoIWP3akTfFadjRW9RfChZPb9Dt4JJtXRoM8946+e0lWSAt7CWsuFcohM0BJI985oQU4i84Zfo93FxPypIVsnq7uz8rCYT4yQ+YknOWz59oWLBJRt7bDgxJr/mB9hTTEx55nxdUK/TF6er2GH55vF0Ryfsy2QBEos8hYaiVvY/sT8OVZ3gxdZwk0/zB6tb33U8XsIqnmAK8/e31Vdnea8CVe3epposkGAHuBXu2/gyhd3Li9NcJ9IGN8gWThynkxGKbdLDvJ2U86m4HdBY1udkphQ/380+0lbnrod/S+ngM7uvJ9BiCnDmV1H+8YSnI5f9eYkjcIavJcEEZ/fc9erDJRdV1lfZyoomHIYZvPsHsgxmX6pt+JUFDWAuhaqk6Ws6tcXQpfT7ntgrmBW2QRx7LTnAuL3tvYE1ckD4h+51xxQ0B+cmdeW0FmOvEfwHs5WFQPnWvih0TyXDOqjJGU+WFpRYbVbL7ad0PnzFSO3zybN4fSebfhxF0UE/BAsHDpnJF18k6YSa8HVSrEMMvXK4VO6ivBdWUV0iHJzExZ9FCJuQvDUG1zWdUwM9HIIJ4qqEJQgcJM53/BE83VBAumCCguGyTdXUI1up+aDeCDV05QdN45TK/1OyyKVdKGsmQPwvypcf5D5GZCscNEmbnF2+J4nSKNBEVDcUuupVXF+ZZ4s3Blwj07wIVcPLbfwFsD143DTq1Z6Nit0bvjuCz0isBKt6Gc1kbZRaT/I/QAxZngV3NeYAUiFInWd3qnqgTaCHHkbvnfQ+zOzq7YlLzS2zu2mpoO6tQqdrtLnuNo4TQUJySzd/Lm/surWN5sV70x/wtVcfBmMPjf+/pITpc8k7bV0Iml4sgFR2Wc+Fq+AiZlQ4zuFddjkwgwZqFHERu+L9NruEgR2KzL7DNZi0tg+57e6V8UpB3sxN0it8+dJWnvYsG3JBRvfp8K8uBzII8KlgEtZ89Szd51IBrExHtU6JYiD4KqHovOgK1/L0ehgHg484jAZ1zgT3nd7a0K/ZVvlpEu3xTvuWPGCSP6QAJ0NE6f7SdvIsdwbYOd1Sv+yc6cKdjF1aTXz0qAcWzvywD9VzS5/uARI7DHp35/ocFtNW4NuRQW6YGS1AaxnJk0gWVAt5dzcFQ5G/jeB5BBRn+qGSjI9reCBxdsiGtwxfAZ6xmwu6VDm4UoUiUZbMdgGHiJhHytxby3mvtUrnVWx7JD52WTthU4XkUZKPmrcd+mLc9aVxneaj6IUK8MdXfxInr8N5OPudAkqAtYDsKJapmKIVyvvCxtIqa4Dw4gdpZmP5TGw9pYL+TJFJ8iHCrnhAr+92ePGWAB24mrJfY0f48lIQSwuIgmvZs53dvqfdsueNlIDRfgVxevJE+0TW1pbPSmalbWuzG+lDNw923B0yFH1J+jytyy/f4GjoPqLr/Ge0rJBtPxjnOAAY+f/6a7FN3s61TYLhDjLBRHit7ttOBk3lL6U8TOz4kY3wYjRXuvg3YUhk2Xss+ywtBjWFG6mg1rTqtxv6ISgk7xcQPog9UtZ8SH2j/4zFQPRhWgn9LCbN8O52OdvauZ17eILjHtrDASKjcNyVu1ocqluCXRjyFrHlGJDpP2oEIs82PM1fGcuIx4zPgpTvDkzrJkTrQG0FrKMvtsukiYKey8iro0YzlIf99nHVMlNupfiG3qJtFpxaZr6NLhqB++8VEVjfGEV+1Q83P46o21gD7qiSx/XEZ3OWvMxEdW6bNjkOe5rFDfzBuPgPEm8xofbskO4qNZv5IYym1UkJDJ3zQMbEnargDOgSLjI3OxMqVzGJEdMuKCWcajM3AKzXzh/lyGC6Uj5hQcRGHeqC0Po1fQSE4dpZatIoZsoEbT80fzqwg1dvXDfb07tjgAwCbZRWD6XLbdTmycE9dz/JW+sDDVzbQpUOtJ7S7OCrRamEhoPMBp0+y36pEz9OAhNteMMvWJmF9lavU9dPXxlvwEYR7z4aCdTg4Y/R7XRqPx3akyxQapv358Zm/Y9Itfj15ixoHpjzHzr2RKKJRap79UIqvThhi8kszo6qBuXO1EvcZ7grDpPOrZiK1F4tybnDzKn8cVDXnKhOygbvMVpeq8HrJm3I2pqIBc8OIpxqcAyLBfb+R8U5G6+LPCw5O4Fh0QMzJG8Z2FzQs6HsTp8VDDKmbCXg6iasRgMVWXjh7DrAN9soGUkfFwQ6COEjdHi3FdK1oiWjd01GmuLsZZroIrzUixVtrBHGkvsWUyfM4OBsQAYT5lBOTynLmV0T+a9YE00OAnVDuGB5unznpIkSExoz/fUsoPubXLo5Qyeuzbv7bhLJObw/1kkniwQOufYHHEzf5BW7gPZLyAOp4sc7pteRXgtXPhqcsm719Zndch3WJ08Xf5PiAAN2vqW9x8cdYlUSjOMH91Kem2Gm9XLIEJ7FHRGQ2VY8O9dyu5ku4I6Y3pw4N0sAwYTTLiw5F0ywa33KK2W5RuUhwTQdpAtcovSrRWX0grl2ZKNr7CXRBQ1VaQIwnuU1RUiK/vGTZ2u/MuRJlj4mbndNFjKli6eaepPH40Z4BYqpSJSXtRgiTFewwwCYLeUmq2r3b/klSJ17NclyMphPvfUicavRRDD3ejOFmlMX4EeNGY/prtqqcgOkEOYRGpUodqSZ46zjV5+YPTxeK6EvFkiMuilg3Z0nGKmUYDqCNS73ExqCt5RpNkOuiO9Or67DELznw1JWdNqvlXFwbB/Wmm4PkEZOV/ny7FrJCfTCtdL0hi1TDv3JtO8LUIGs0fzJKijMXWmjgAbRR0mMSskuYYTOX+YSbFFksY6P76ThH6qoa1SSoUB7vahs6ClgnrT3UDPIa9uI4Wzv3P4edOscUJMu4DG4/FNxPJA8sCldbyJ+zzFOenGSyZBjtKCdMxnY27WWOSDDibfJCq7My/55uY8fHGXvgxJTGKswxBVuuDtwOuoRoomq7JDhI+vk1OXYuAuD8vFmXWm9+LQtozqGvYIg+EDj+MUuc+blp+UDte/BGNF79/ifBHyQuVPUymXwuHZ29rfmz/gmDEgYEuFTS0Mbf6p8dDEgmvPk1CkvQWjrQmCuHKZ4jmvebwa2MaKxPWopMcs2tl3d2ZUVHK6kS+a29iYZ38hOa7JKAtFhtA+KvLTszducFymVZmVoKb6Gn2Yo9bgMeMrapEUxFa90bq3ciDZk2aYll34EZa0kqQtMwF3TbNLqDA0X7R1sGmrqFMxRXamePw5ZL1VkxCrx2CdBHdTQ3HknYInvyGK82/YaG03xBKYpbA9W5FR6UCOD0ne73wtcbiU+1R4j7CZwwCLGoA3ezpQKWy6k2jQ/YW2r+2aO+vw15rCpU1oKHik7IhCOszT3BhmvyilYA2TZ+TmOcJAVjFyhYNvCd4vMEDfV7tnGXQ3K6shlP/jJqIO0Jf8T7UDZhCqDxQ/ONx30sWJWEqt8CvNhlEczKzB8i52gZYuWZGKVt32qJGHL6i5a0e32QMEXt9xxbSZOBNRSTE0yA22ze1eHBf+PxAP++pLeDaCurKcrZn85X7XSeLZEXxB7EyFouOXIs/9HWJwFJPKTEdYuH6AgkqR5bh9ko3OYhh7fig/KodK9MO0WOHOq7y7yo6dpmYXLqdGFs+9NGYswiOb1EnvNvayPGTyfumfW6lW+Myw8wiHofs0Nr6xGsPMw4/5bB7hbnnQ2XRMMyiwG4oF0vIAcYNC6Hgt1TWtOcKWKfu6qdTKa3+CigVDmA8U0DQalzwluHb+c1pyQnDngBR7/l/+YFjVief3/RX2lu+TzE66WxHkhz2/A5FwC3nha1jnciQGyjQhBnunHIZtc/vOYxnjnGd792AUeaF9IYEkBnOQk19Jw1Jv468KFyBltHgnY3Cw+DXEuOyOsR9JxJHaX8Wjw4XxvktF9h412EucangQTZqiCYQD11wnJDWUbYGh8w7//V3IdIN5tEJd9ByS/nBk9VgJV/V4HPC0lG1vrGnAST95ax+HrqZKeV1mSqEwIrJ9khflgTCR9MmUDzzaYxPIfYFcXg1RPGdnCcshh71Em4YRckG1DzEQ1PW5DOfwkQkjT2ThBXGEwSuAiR6bWaSSB3yzhzMiZBNBskrN4X9hJm+/JRh8KaGvNu2IqJXy9sg0BH2Pu9B4RvZ500K+c5XxNmOQpQZ41+lTAs4iG/XjyYgp8DUmzZev7gGCdSQHGnmeo6kmqh4cIBFrf/VnwbkSJq+VgOy84ZpWUY60urUNTfwFuS8se1IbGmI3Nl94D7rF+IN0FvzC/VbzfEylABTeZ0CpyDryrQDaxBAQ/ZBR/etWmIB6G/gVN6/3qRQYSbnkswahmkLhvSBortAFBtDjamj4yl7qwlXgwpJiSpzH75Gpw096Dwa1XMq90W+hB9bYIHBPdQshDJ5Opp3LCF3dNV+ppx3jH4LTg+4+W0bdAzv2cCwgIhOyYALLAXoD2/OINPX53N+vCuZQW8axIkYdsk3Qk7iI0wLUyrKuXHJaYaU9ELRAxDo5+gecBbu/dMpLwisb5DqmaUpiQ6wFcpsMYnpY4kV1fR8r1m8ajZJP2BEca0U7paZMiRX3kivCCymMTPOEnfYa75cxkxcoTElZREKUrVBlF0feZV1jAgfyDTIxarjAb5f8gRIQsj66T78ow+Ja1AfAfAZ4XP9bXLAwbNscbykCl4ghbZiGBSli2gFlDbWR5lA3GRwARTv+lZdOKXy+fhggf94T2CWPsXYgf4VUzHrp+R+TGMSAu14tTduHMFuPb+ZO1DBKGbBXyj/hkNeV5B3hYksiVSUHtRJVfi1U0GMC1QFsD4Q60lXeoSK0MCulMWanr9k1ZCm5ZEZZiFNzAr1KyBThCdOMDanYtmmDaVRjl3bsUmwR9rjGFU9c2PsxmfIeDaoE5B1E+rK1FhjvfV7R6rcrYjJEPp/Jh7fMU8vDCDqaF5uG1kEwJLZ2vFWtszscpPR80EMDvTU6yGQWqut/ZYfZsahscFRsIw2QQvfWgEoDuqqRRXmdWKYpk1h/328wFsYYqkCPYuayuek9Su8PuxEq14Qr4cEFq+W7j4R/Ae5YEMXa8GUa9L89ZS6FwH2X15pxQxkW+t4xIEtrzUf596bRlz40g+h14Rnab6qxsTQ7aCYR9CcJ89TXw9cH8a+xKIEI6A/8MbSDQKgo67L1RdQAPvx8XIDg4LVwnzwwfXPUjWjLFYt3UihOGu6rIJQ7ciuuGf57hs8PQKXmV2OhzKvcan4PeTS3YjQICQjgtNsA3fD6N+w+6Vj39JlGgpiPtpebNSPSoBAUdzUcDEIX7GdyUrkdRzQ0Yv2v1gncy0nBbGrnKe5Z4SioJGUO717xfYI2abG7Jb0RWWRNSy02MizKOv+YUMueWF9l4kwW11+ydLOLl7UHxB5BwnWSfrcXVK/twYGWlnuxtnfLPt5VX/8CdtIxT6iAuQVm7U5W5ZPUYB7tsI9Whh/15K3cvA3tNaxWMRD+HuK9+zWWMfZHC50mrGn38MBSRB/G82xT4SGKJP5rgvjH8jveGUrYoE5xKX0Iy8ESnEgOhT65QnYKxamyKsC0i2K0My8hsUznRhzNINnWnVMi1zXVwUkmdPVMUn4HQJdzugnXeA8gDjTIRV1ZFUQ0eRkv0rMdL/11wqNgH3DMIuaCrBao9rRV9yieJgI7pXJO+ILj6CAWC0SfitcWmMnrTGll0Y5nfrX0MvYNPq7MeEY8ckfnQrbnAxClLzkunR65UQuKkKaG1aJIhw1Wpt9q6PyQkOZA9hwxu/zx5eZVLnObW8xv/t9B4w0aZGrNTPA0cPQCrBSUQP7rQdGY89zqnDm9jjs+BWivwria7zuLIA+vUGu0YmuefnyHK0XsROHHN2Aha3ay3kPrJueTssp/ku2UtlygI+kXKwmBP+K+ojVdWFSMoZkJ3GqYh2hohuDEL4UCPn/VvTG6JIi9tYx9HmhNw4yhF6lB3QK6w+DvlqTUWvyiHRRYCBae3UZlJVacuWjQkArGUW+acl7jbOBt/ods6qpBGSTf2nzhQ4Vhy9KY6FxwYU5vzQRdfGqSH0jcZHEZWnFTfIthX+6bFcmsBjwPx/StPzmotdu0lHBxoU97KeDT9/Ueoj+rPTGh+5P7mCHUdM4nVp+OZRrOtkUvqJ53oi0v96KJICIcGXBncjk3nbJXvZTTPizzb7Jd4aKHBw/yK3mwX+0jVmefi7UtGelrdOgz1ie9p7TkEA+Jd3fllwJdktTR0Nwcj+/+9cI/2AGdIb5rRiLfi8T7gOS49mSwKQrAg6cfgx1/b9KEG+nYOUlMo1NszpicFJUd0yRhwAafY/N26WWnhJCOwWeGzHS1PyLDzvliAGT4oemRFSu3GtQdF/ywigisAC0jHkM1syekeTfIHGJeFd6zq6E6e0I2eoZLYgT1v6dAgjKJDVayVWalfaYR0uVI/D1fv4/y8zMNGR0NVaElWmPyrmbPNiPcf/QEeDi+1l7DjrKS5sQ9u2aDUrKchSYgGlionemWl+/rnwXuspPd8FeuQerKuLlQn61RwNcofDuYERfDKsZTOojJPdYjFnlgI3CGfLuq0WZpFm0T+PGEXhuRSVZ4OveIKcO5v7cCNYH0u+7cGSctOaJ1kRED5NRs1zJfSdfAoIAvR4Q7Fr5q1/2Lr1YLTx1NDP92GNe2A24KgKR2IypsJPRbwVpVL2PtsmtzVwwG9SbfIAMFLxcwohw4QdwAlzoEbzwIw7wEL5HawoyUeeVs7RNtmzaJqOKyK2YucDkU6i6vf2q3b5mDd9FfeXnvOBgB/nlmQmN4lZawtWxK8bbKIqAjEehr6arOUyh0QOogKTdx/55VVMWMLypKvpK8uw2YubBVJkLDYFJWWWEf1AGpWz3Ji1+HcC7kCXVqHXR0zERzy6ErR8jfAuR0d1I1gH2XSFYWNT5Bz68EgCdttyHvCg1qwhZgt7mTpY9JmoqMxoCtXZ4w8qaBQveUAROjY3mYRaaOxHq8N71jmR4eXzUWSQEC70L0xGcihMAT1aeak7bElwsENdweuCwj6Ujcs58Ue16wPZsK5bTCf7rsdK3ljvz1V+WNb3X373D4WDy0P5btK3cfGIeRaFLpLJbyqVY5UiI5IUteMdkEkS1jw9wn4rtJMuSHzHjKsdVIdoO1QseUE3bYd01dbyoP2ZMdm+pLXTPQ5WEPgtkq5MoNw5IAMXuwFP+9UzdjEy8cWQoeI3kl/JgPW5sXyVluZ5XumEPLTdDdsgoZzJiplPlj9QIbhwNPc/v3ax8t8GeGq/wENGbbjZ5AV6PctYIv2xx3hUmxdYBrykSBiTFh8tlbny/R59/VgdkNLwHePp8NL2+1Uva/6UEA+1A+kA21tXORNRWhGpCfWzNQ+myGDuZZUiljjbnIraBFDxVD2VCCuhrVp4ptW2r4lRtTfNrvLHJBiIIdfILQ1k7JJ/Si99wMx2EQ0w1SyovHlO9DqxX5vCcwm5DeHrPOiwrYgUSWNyTHwPWoapDyi+HhnXcN/uswrbn5hE5gh2rpxMdDluf7tB4ZFDL7lReKE7CGBlC7u0idMJcGw0uNp23aKO2fPLLoz17KlcyPN2be1w3C8UX9ulqmcIIbxbONFF/ggAmgWdHPU/R+DQFB/411/Y4x9lybPDFYTgvhQzlMEhVHE1IX1EIhEGLedcgKl3tlcrxumYsvUTFeym3X5NmdP/iMHWLs7nsFQzQFYUiCvUHZODcsu64HlpiEfNeMQxt3RV2ObqngZvpi6lGnl6nJ1ZBVEaSQEyBZP8xZJ6rNmw5gyIR2hCTgLLihCGUoC20ObJNX4J6t85jfqjqqjr9oOIdF8ejQXumHT0sqQiJLmN75/NawcOBb+4B9Ae8yos1Kw3rXIDd7/AI5niSQqAzmBiU7sywD57xQnCHvSd3N4wzEyiAWUkdzAddIZeMjQuUV6AQtsTzTQwFTjLILzcHYRkmCWMPm8TECelPnaXPCpUDhp+2IiIGL7HnQWOSQT6KyVIyGurw8crSSAVWcK7f2GHJRF1mmKEa7dPyNUJuzU4NiO5lRsrDGqeNgd4mdPDKTaacYtVIDTKiZcshwifnJvcsC3epKkOAprNwzcBlShLST+eK0+CnpaL4w6aNMB3PXcCimMEjBs5j9DvD0XQHLNrDk4ZjB7Ptvt0lRv3i4ISM26kP96Lyj1kSTBi88V6t5CYQs6LqAwvGfxX2BzU6QRYg5WG97aPlcgPdLAKYcR77eU8kyScxbSlCI1+H8Yq4zvDnupTho1n6eWS/EIHK3RJAQVLJnwnb+0a0/YGSoVUKj2Zvkw+d1Q+m7WLCBolAyuF7mC9U+IFiWcoV+Mbj/tmzL7npiz6QKL3nsvJvv/h2JSI4yv7SSxP8QJeH95x0iyAnSoQh3gQQ3gB6/a3EQZYFDH1GTnXhVBGTyCulfn1ABVAmv5VIqsA9NJFhSVU4dLlYjODts3pl/BTJRxPiW0W58Lby8V2cryk1C38QUJqDn1SI0/WYx86rSyhBdQ4MjnjNURkI46VBKnWn/3CXH/Xdk1N/bu3/Owd8RxDSF1mUXY+aoOiVDirxQZ3Xj4BOAriuhCDWXS7FvjeHIj0mTnBvOYki6ayuSNaxQ+/OzQjCXYdtUbxyqeVrTyMHqrzHmXa6QFIRJxfL2NSxq0/UWKeC3LFtppMmD28BfAhcafLFCCDZPpRXqabLWCSj8ypn4ybuGD4lJwmJgm2Jnqoin8K3TW8y9ZM7gtx8tlixnB2sYfmNjAEGTC/8LJykZ2CXwT/WFpNDqLCmbmF8Kqa0nNIMDsyh8Rm/t9WnXmDriNakGJ8DNP8syJYuJjfUYO7OoIGK3w76uSeSXscg8/pkDw3DnQkeOCz6nzWNoFPWtynEPGAb+Uhr2JqrvPbic3MnhijLkntCywVoXXgoYnp97/y0lelE6R1t8HXOgqjd9Z2dGw+0WAWAax8ccoBa5oqax66ZJ3GzUSF+ClhqA4WWosEXZe4lnSg0jcHVbZup2TmxU20j2Xs1hpEdrZWBieVUwgYNgb7nF2N3SpLaHz7RoLHWsLxu0iOuQB9DlmEawx4ppjBCO7yZ7ZVWr0ZS8Evhw46A/cOYk5LJHbAjyECl7SPQ6BT9bA9PaacGJywH8Hq1fJqyf2HJzeQK7wvfHF4tp+R4RYAxaC55A30GApaSRP7VNN6LZmFjz8eIk6P97KOv2Bbc+zyNYMjaYfqx5GINtnT0nQyxwFHitdM0naw30t7HMKpHPVr+UEt2aUl/7iWYW+7qr3ddqGe1zgpMb9RfbSrumg18z3SPZSRKpsXJ+NNTsiedcD521D7I4zz7TZuq7c8F+y/31w3qlPkbaRqkkxI5wlHXl7VGpNBo1Wf1jlI0mk4nix1Phb8O+16StLZmEKfnBO24w63OH2vICkekZmMUHCkqX8ar4U/P4E+RyhsrE4H97Lp4WO9qB9Vak5G7QWJoz+oZXIZiuToDxweaYPlXZWnxp6oqa83Q//xqLD/SmR9oR8GxgtowtkRnRfisq11GtoNXH6ID4aoV7sQR+xIdOz19BJFAaJISg7YCoz1rThepMjMcACFx/9IBoJq9pb3thfSADiYsE9lbBEjhhKOiM4DCH8kUA/u87GXW0kOtXqm2+7MEGSc/qu4HxZxqqxdB8qGVI/hp4AN2+AO7fLoaMnhe3sjKxaKKtp1mOG1UDfQ/EtgoPqrb4SmwCeS3+AvAzHER0WhHHJMu9MFL8s8aNrv/M0tXlzjnNxlCNVpDoBwUlzT3B9PMxjE+19dfGFmOAcQme5xJJDcO6/PntjL/u17Sb1DgxIqFGfCZEo88iznMK2QHtTexrwMNK3g6s4wn+MozJQSsZNEzCZepZ2qw29fZrW0QimhZlKDqlOqfS8ixdcFzmDWqM/BUKjdtfgRZzW+KUaYErwCvvpIc0emyWLelol6xTTQPfBIg1J8J7Fpvz1PtMSdNH60eQz2D9a+iMdHv/ZV0AnEAGEGTL0bTOXnImQiHGjNDNOlUtinzBeKumRRoHU+0RHnDn9m2JVDX6mbYLhFvBOjp5pRUeDYTJ7O04Pia/WhvvefHS9I2jcZzFffb9bkHSsnPTaSyXo9RRf+R99+rUYqQbeJaotkgTu+1DNnL4TH0CmTMwS1hJEjcSfksThx0CHK9bhVz9u8IHRYdlO1xNTRplkOJ30OqNLNisYRyHJq80eLY1CYvuYIb8h1vQWEfxujnPbaR9RJ+gFcECBtDAQyZpLvpPTL4Xk2BGie9Eh5LIc4lW3dkOw+9yKDmX1Kf8YyjDhrbWZ7+SBm1YGJxxSrQWm6RMNTvjDB7U7U7XJoo8OyFJ+Ggy8k3Q3dJ5zbbehPemXBi6OYDZBDtCwDi8qB2Bb9b3D4sQH1SJp2NnhxYke3+KES56lXNJqkl5koYNYAFWvBjzb5dgENr7XUbwC5NzR1ARtclemY8lVhLe8Mccb70O4EGdEbyG4aa2bINExgp52nxNEYFxIw+bZCdZm3LwNEQ3qom6GTfWd/nj48oys2C9X+PkYMFDjrMLFOvwlaLwhMeFDb9icL0M0uXfgQPZROFRIUGVPDAsbnV7ephJPPWdxfhxjNltJvIGeYCTYQ+Rp+muP/KmmQhya9pWtK/Grze9DEaQCbmtR+u0GVdL4EzOv9TBhF/onfaWpaUxR729tl4rw61d8DuP/sCo6TPma5L/XCrSF0EuW5buZ7oSgMqpmycJ6sLjGT47We9cOoqqCZ9bp1zyhO2Q0D7kNuriFKRRrB3uiRphNTZ8YtQH94FFsa+YWQxuEgpTANtbwJrrTyXgkZW+ZYM7ha4u9ux4jseVLzTyXdOooQsuDD6ca3ghQbMPRuuwpn/VPowX0D/mP1tWxv7eJCF4LDYlUIoG29wmRnEVdPMgFaads/4p71702JoCFzw/ZXsrlfjc6RtYnqtYse24sbSXSJPr/28lhlbHBijhaAHTf0meiVYMBms5JZ5UZJHl9BYT+5rcZhSim2TG7ZqkKNuABdy8q6L6UoEwE4NgTqXC81nsK1uv8KsLtYdsL2tZXeBffzSOdyh0lQo54mhNCB+eTnxPY0sEVMRroF8JTQkFWNynZtE2RpzoyYHK0P//d/Xm/EXVcuJYuGM4x9zBVnReSYX0F6mxkWzMYqStPhdasZ8xU5BgXBYo1uiurI8s1RCS3i9m6lRSpK1Sef2MZe9qCoaDAdWcJoJSaQeRVEsOpGryz7kG7Td6zGeN3wxK5MYAQE26FEU12TP6/B+fUhdq1OmdaY4wVjcMAMuhbaD1+DNG1sUoI9fPIwAndFvwwLCkPwLi+jjWxCik/ycwDfpj9JcqQQOwYVUtrQJlF/ILeg45HjUo7YLsLw0dO6sZ+tzYCNEq4ZQd4RjuVFL78Gs4MywaCkFXXstpbOyxrW1+ekZ+Prv7bw/WrnKv6RaeFHScusOn1OPKiJckAD+xO9g2M6UGFSUJK15QbJ3rgNf5Fc4fwH8BNwszHR1i479bFYW0K624ucAUGzMJskEAl4MCCGBtXGodA9aMUqegoIP2727aboYmiMBJZhhSK5AseH1KGRojX4oTNdUx26z9xtVSulc1YirPpG3nGunPI4y1RkXx3n3QXxeI7gaQ9OU4oNbulQ4HWALYZ6kgBMDq/gmIdQciyboW1sbUs6dkO4t06HUv8f7ddFoLQXxGoeuepqJYBZGgotwaEF465vxiNAARRZvDBaCL2CHXw98m4bHou2tqCdmxZ04EuOZt4c+JZVchOskLaAwOKmQ5ny0vjgLNNw9MeYSwPVo0dqpM7Xy05kx3rm1NYdvIbTDWU8ivzdjISrv5kZo/EGIfF0UmPxde/jq9l2nMbsJEle0Qc7E9cAuqvs+w6HVVy0UpX/pW8vkhbC8NGfx9TOTNPzOdFif+L0540GE7CyV2KEg1C9Su9hVpjGOa3NNjFfupRajTLAxKHSUPPGnRATjGmwceZ+nGurARcpXUcVxcfHl0rjMH6ql0hxKTC2imJqa7aQl/f6+WhdyzUcQqlRwMvOF7nebQo+65dcXjZapdX0gPDr8zjWLo9Hezb+GRu3TTx5s8LE+MvHL4j91WhCjKgIGCh33osUSQo1URL1W4UaJqE0stdoPuD+kK6WcbNBY9Mvm7PBbwSD7uZsmfNUDaFypOZx7zK9zJ5STCqjadw4NAI5pnCRZrKl+dRZKZ3uSaXb7YLnTpLx95tAFJxmqAMutI3hsLbJ5RDfTPyj3RdVfgLlxPnbWibvwRAMgwmswWlDfqxqenfLlpEOfx/3R3cwhzMY53dRFVxRwdn3lEK++jI7PPhkuuVQQOmY2rnE3f8o6tAkXO75XZhD0urcRiOy0lEfJoMY4H8HRqXeL+XO3IG1sUMX7V14JUaGXDsKREt/QZTXe9P1HpRu1rcbc4479Jwes0Ff5VUWnYHRWFUpWzoTeQG7Muii9jq9pSb8krynmmwdxY9eQsZdEExa7Z1tQQ/FoO45Uxgjy3BEVfItL8fuN1MbiXM+lMNExJ1xkvEFIQ+VCxvbXUj91ZI5ROtyVWHI8O+bZwHV3huDS1bJT0ZAjnkBoMOvc4Np9ASaWVH8c0qD21RR6Xo5JWYThIfKEXpz6/AgXaeIV6c3ZpViRxchYIwVQwkQDKw735nDeWdl0+/Z7qzK+J4iHicn7XgOL4mn0rgYOCMqG7GG9Io1kURk0hpKLVLcjpdicf1JSDQeac02r4riT8XPSCfJk29VATUGt6MjGkFPsaQDkM+nFEh9w7FjWpkYSzoOPXxej8RZXFUAOZHosqq8E1VFLvMs7ANJGwCQv/IWWFpPVdMGhUdLU/KLaYaQpvjEO6ousvl0VGojGw8r2RpDwQ8+ynhSdS87qsMiG2zXdW8Ci1hsWylHCciE35T8yrcax0q/fCjcbPl6Win9iBHb4zzNSSs8U3NRe8OOBndf7C3Ubv8StRhJg20tscKsDzMSMn0HTTUuC8gXS6vkgB9BRwbIl+1LVRM2rmFg/TvKlg47+icDrgYP0bs+4jTV5XGLlQs1sdShV7i2pPS3KcCtkBLXTWGfaJrpntPD4mQoGF7S/nDSJceuwq71PcFeSjCTjH8kOZ/urVpoCRcB2b+/Y5mATxG1kncy5dp/xvWkpCaYaH2FXSkU6CPUiGmleDlvgGM71svN+edfraFl1/cDSPGoOtzb8mPrmOlmP8ng3v6ikbsMKsKj+/VjyaWa0kokvYe38QVt36c1Z+6kJM9qSw+DGMIKpf67AmE9ApSE4KIm9OnrSFWOWIrJB2QelDubnp9Nfu0dgqlJNcYMI1gahLSpE9wXiI3xG7zibh6fnw5bsUvnSkv8e+XpkH7hMx3owpqpt3ZfQQIeC0PLTn0ynEhUia3D8t2UUEFAjnqAXXXQ6KXyl8v720hxoc/LFOslmuva1Dos2wd3WsZBRYOkPhyldP05zyT4Wr16SdXvNRqrZd3Mx+k+cNrnak4Cey9pmSeOGXwB7jNdkge65HbPC65+hzm0wFb/hiTtvV37iCANRfftDyJSupe8v8rwK3BPjpVkzckqvw5RjmFHWw71r6Kg2eZc7QouNdE5mn//X1VYS5TQ0uGQBVh53kFqjL1cjhjWeOrZSbVW9r+BblVhDaxgBPIh/AhxTZzJ/xWi887iz0OdO89y5sGrCA0CZ6JMh1/FNzmfMyBS4rr5wUbycW+1tVtsspoe8QGpx5dxYl8vdLi1DbGNa8YloxaQ9RjZe9+CS5C46aBQnXTIWaN8e460r5NCvQJ5zC3SiUSFYhlfmYKjn9VZ8Bgf9u3qln5oObxkusmD0NGWOkiXZL/SAiFu20AfA2x0fMc1UsPdSWBgs8qCZNLbYth0Xn7JPkTXcqZpeUGL5YN67sxGM7PrDggtmUwdHY9XEXhwAVZQdj6D7eAwfQNt33ugl807FPLDBqVfz9qk+a6X/IZq9NKrwdSZg1PC+dohD4TJlZL2theG2odGcCEDS79BJmjSJXiVBRydnl0Dnwd+sLPF/m2Ul9Wt/jPhvnpl9lZHlSf4khCahKFcDM0FuCkGv+MLaARMvlorgXs29vKy0YB/6UsP3piG8wxnfZcTuSdic8T8+E2TQpXv3sPLIGUQWY8r7B920m/ZN3C/7W+a9qd0LpRXBq9oK/4mrIjdQ7uwJADBlQ0mjOQOERxKToQY70EwqJEmh16DazG2/fcMDWzdhU5N4WbTIiGW9PA8ihQbjDEtgSYUMdGC9nFH/OZOPBXIJ67ZQQ7ekPUxs4ZDJc9H/1Ju15QwxMYWhQqHGMSFSs1nLabvniGgYIrm3bYnNzkDJHXw68gl3v5ELEtYcGjAK3HGlBtE11AmogNuZOiWTl3EajxfM1S7ek2sADKhDNaYIWRLhode0iUDC22McvtltTjnPcVbHambOzEBaNCw1EDpUxjDSFkX8bpIhtbuj6ES7/sFZxCirDusHyyezhVI+kH8v19jVFZTSQyMo2CEPis54r00oNey+2/G1qnkRs7RAsqmAHmeAg1LwpKQDTeymQ7NYE21B3k70/SAMu/X+pyk1uzr2LjbHb9Mvhr0JQKQTbHqyTXVWYTHcqtFfwDq2+Pl4VC1+2CkdUjzwZ2gsp0w5WsRk+8P5xOrRkbS/gjjcRMP+oOV6/CAAD8BrIQHhjpdEXSQzy1CCN/zo6ptsvoIOi749x3+Mc86elgj5dXsWynEqUB5J8MgaC1MtKnm2z0MbGvG4WvHVHTLCp8kYWSozXiTsRudLGcFsHH0tBI8Ep/GsF8doQQ73VY1y24kIpRELxuTDAwroZUa8TE2dk9wqbaIwnXgjPfSBeV8zvH+fMCxsIcLBR6neZZvRNNAOfQLIVsQAqUYGWXZx+8WFGchun/d7BWG9TS3BpUYfBpNdqBgnGD31JgDwxagifJH15OwHA6HGnhijMLkOH50NC5REjsPE8GNkan9Pj/5Ti1pOJLMYqmmZrH/bYQPUlnC0Sp9akYJPGs/4I5Ra5Wf6dYCEZOIUFPdwkaVrr77ZSaOuWLgHXySKfOumhw+nVqG2nl4zi3/007qMTpxoHnse2H8/8grbhwT6yDjmiuR2aBxp2Q5t+83ALjrNZOBvID/cGANsMoNKNGKWNjgv86eaUWg1gR9/EuEwhwBskx+p09/xsI42quXM7CtYzMije+lW7TsyV81YDcDWuNgIbu0ty2GPvshgJWSRBbLMjW2evy9H+XoguwYDcDBfMD+dN0POoQv/Q23PdHetHYp4w4s9Lg4MZ1Sib290eu/AQNPOZA+zOO+JF1azRFaIXzG1RrUac5BQhqC4cDouk0Ss3fmEmmPXRXHmmDaM/RYucfeggh0Rb83Pq1oZGpCYZSrS9i1V1xeR2nxI71wT95edxKnFcnVKKmTkzm+2bp2s4d7LP2C8mfc1bn7k/c/OHqsEL/TDs8TMQlOWlYlnGqdaxrrZ9G/iPKcQ4ucR4uDiweQOzKm35ZlSkfgd6bCPVodG57O0pfk2tQuOxEErIYIQOoi9CDFsaglKSKUc0146IefOlbapaGUyVdSe4Q4Zuckkt6bt/vIfrzXLHsMtTZ0eB8I18g7m6adq4bw9PpaECzbLbS/2k4z7HbWfV0gv5QifNSb7x9ObG5x8C9xxAUIpW7F6W898cEO9nCcILv+7W7E7bmtOvZf3pMtNQpSW6lcSkanJ4+9mIacaX1fHcDC8TxxPjmlEumgoqqnJW70UVn+PRZP+CNaM7QlAa8f0uJ3gcwpBmnCExcphUmKMy3MQ3ECFQ9KAz8EEfUp0DcjcJOuISoFJKsCpR40XC7Zl2fV+MKgujl/PLQmKz1rDOKgjJ933gCVVoZw3TJ6a1mehIw+I093HrappSCr5lWaW4RMMUsRN3L2mEKcsHgd0wR5BqNE5wfuGtwVgQeGd4lM5WDHQZzQeGk/7/WKsMx8bFQQZxgQs6tDTcaMlhzCY+KQJ98351KqUrzp/Vg/Mq1gNlWMvmaJizAOpQe/P0q8PWGEa3FdFE0sg9XbwD++CHQUqNev03D2TbpK0Mg6HlkAfLmRAFU4d59NxCcb69olMtR8qUAZ1EIZbml+/u5QGIRTlQNn1aQgvvmcJCUky9JVcBSp1yD7+4a9o9d+iBVHeJTtOQKkDCDsfWFl1AMLiONaWSf2Dgj6L5AcSZziah3IRCdDesyOcnPusnZW/K4dmNPAdGUi88P8bEQmpyiX1fXPzqjHi7J7rUohywu2mVvY9HvlYLI3AT2USrsk8kEbFma9noqXTWuV/CKQV3ukBAXKCoOfmL43q8W8k3e87Oxtv8a32b/6WSkYEhYqxoIKiajlVUIiISmeDdXk8veQgsPURXnocZXtKCoGXh4cDgm94jEHAO0ZUyyN1sLWVhipS+ZaHGbjnhrYqWfAqUdKem2Sn9j2qysk25OKRZVYX3lIHoN+Or1tskZnmh0H2hrzLGooZPyCIEWrom08EZkYtIU/SWynIBZ62wkcNXF/Ikev53BvS3vz9U7K6O60TQNkJV48xUvu2o5NUPRWZpuvEv68HLLa5FDFoDwoomQK6W0u8dZuoiSvjWbzdtuUf9CfAR2b8S0ObZHoLVfJ9vLE4aeRKB3+YoqXNzVgfP9KYmrfo1pIsnc+lLK9uffWF6PcbClAavRWT371p+Np2D6iTItfHg4drdO/MMovMo/ND2qkEVnk7FsmLxB+r3/0dXgtKAn5Ivl1IEUApcyB27x2PBy4X6rc37tfrX+HrK2t+HFiHv1yeeZ5xcvUlNH5J0/wxDE5SflAJ7z3Wz9S2vMRQwielrPLMPovsnsBfpqTXLwbINswQKOcuvcumMKcFduzx2DnCiIrfUGiCAYsGnAbMnHk7dqmatmpmdiLrxCVHAvKlPqlxGXtqUC3EIYuHz/WZIuZkqLLxk8iDBL5O9MsS/4Dg3sz9QHyhpRNTwJ57u38srU2tBvIuAzQjmxoJtj2mjFcHB4Vp/19lQt1TCuaAOjzUYRPRY/HAtUecYdSrXZfK3au0OH51eVMpcfHy3xz7ETL8jy9m9sIMrO7kF73dYepylo0Dhbc2H6AkhNPznFGpDOoja1iuxkXkz+b0sFbdEOgAt+XNSoPd5mDLHCV+NqkWyvMdTXJb34XSBeny3WtTniNBXooqjy3QgyiXfJPi+WceB7XzCfHYpdAU9AduvcEwWz0S545TijpHvWZYkOOQcDqcyoe5AdkYbaqdZ1nObhXzvpHBR0dOMPpxBMDzZXdXCsT2GjdhflQc0AHANtDCRILQnoZwTloKfHeprtWwPoIsZlcZHm20+dBhBv1QJx7vizCALHbVgH/WCFXH/37pAxf9nVol5b8xx4dNgbpLYm1kPw/lfYQPp+GsVHoREt0jquYen5sdRvVTfocPf406/DFyzAwkpvot5r/0NNjrU21NopnVLst4QGijh9fZYaVP378ZOUZC6JQCzRGovqoTw10BG+wq1pJ4xblltg4tVkgzmkSU7AKVyFk6YbzvppwzAa1ZMMN6Cparl9SENRW5xH1GxM1CpQx6BhZAjnnKorics2CzfhafFJXkmZKMXFpWOzNkXeeHPwBAciJCGFYSqS1czZ03nW6NylWkesYcww/YeMlWlkmhm1WfrrG05cv9mvJ3hWMS3Oeqx2v47vijxEwS+VbNnmF1n+TemK9SpUP8ZfM874ccRW4KNuWKsZIn2DmH57Ojd2AHVC5Z4YTwGOA7Z1qJHLZ6aECTuQzs/duP+viQb3DY7Kpv5IR7G7uh7TF3jOol82ycBIp9MaAsqZpcwEQseqcQr7NA/6ArszqegyS1rwm4PSKugcNmxNuWczdnJ4lXeTG3RW4SGjfjoipErIza5jpdpmu3NKn0D2O/9EBnWJbHL/Q/ohZV/j2cx3/nBQeQV1cWVukmeOhqkbsrf0uDd86UCq1ucq+R1qRhpbZ74dQo1jJUcLed9ds7hdR7F2QSj3p3f2oM74asMtnM7hpBXOKZlpfQZmDidUe+w4SIZUVKZQFL9//uHaED/vkbB3GnNVv3MAZqroWBntrHX1raXPV+8wTLyHQ03C103529ILcMzNZegI4V+Z/6nOAcUjZQAXa5OqWtn1qsu94CAWVi3XwJdB28vTA2YG3tshL7ilMYl88b0Y++wof0x7JHJnaMVSYwWB4f5wpyRinelwMSl44eq3WK2oRK/ZaDsnO7dIlM+ePPuc4Du1IN1nFs+5PuJurdUQ7EocSFPDldI78JTKoooMg1glvGmuOv6AzKxy0JgKDKlQxXUJlzx+IfkBzVfRS/JmwOUbO1R7t+KiJs5y3u7uPaLmrF43EHF7fsDKyjQCgz1+a1IReh+j/7IR2SSlqJBILMUx7E3bn07OfGEBH4hS8SM5ulklC6fOJywAySozD7OoS2QcHZFkNoK5U0MDFaUewT7lNpkFugB9XJIcIG2GwpbFfv/DlysVDWfgaYWzs0kfnAzWDQIrlTjL28XKedDLKue9TSSzf0jKzsBiHs4NPROVJSGCW2lneaKrTltg0RDrZ1yqgpim6fHlTR4A2D3PWNeBNd6DjGUdwc11JX1x+R8IL5WgWqGKz17IN9LnSicER8pGCuqmI+hfdmGc3KoiwkCjDdHKGtXWFInFg4Ia0YvQfJ5972PIU8JtORdJOBsUd8RJVkjOIdhvNDlF4E1U9lyG7INzQoskW/KF8m8yHboFFoyQ60xGHNBvFX0UzzPxMbGCiqkeK4DJhCZeBc/AmkGIKpQTgR35yYQxGDzlR6d30gZvw2KKt8MYq1JaqkY9nZtHmERlVbPe9LQuD7UCEEAJcSzE20/s7sDzYyAwGXiDkJINCjbLaHQ9Hz6rMioJafEN9yTdXIj81KmtWihw8Xb+g/2uNnfwB6UFMmvUb0GbU5bzw945cE12nb59B7M3rviuYpGpjf9Qy/nfV1GqnCo5D2hfJ6vvWBNCnHlJknLL5Pk9Ryrv0dRr8gqVBpHsgCeuueHaWmx+31PZEx7WCHwqafD88U8EFLAi1NgF/UqiNaZtZ/wHGRdYT9RFLzCmJTAar9TferRehSndzGHgr/jsY/+m0YMYAoAEhrCvAsiwF7J+PKtb9oiFz928PsUzkdIpKnPdA1LGFAvJizQe0R1qkucDmWyVP4BzrELB4LbivdnYlD6seZQedBm9j2wsn6seU+OB6ONjCyh2iEVkvFUHsrkAQspbXK0JsazfXQK8i2o/LrctFVoGmRcsXrGAu0b9CSfN5SP3wtogUMczEGRca/SuItEGGCOqgEtTLCaaPL96Uo7zsJdoGFX91IXXss8yHx6b5YKFVvRYnxCjMFZpFVse+cJd04b1Fu6fOBJOlHyXBuwdoPDfgNdCzmdbByh+Dy+tWEy44mCVBNTg3uN/h236FF49ZkhfNB/j3VUPyJgRLa3lpiYHa4ONnU5Wa6XTvZEgxkG7eHfc5GMS1wACW8+OEqvTis5QsizetXAcrrhppxRn289UxQQhuPuMStHydt+P/F/7dcpfn5boIbQbOHSE0keSL/8jGLc6o8rvCrwQbKR+KVVZVmnJW4f4NGXytNpsVVW7KHFVJc/mqoL0Xd5kN9DbMTiNKY0tuXCvc48VrCGC7dnmI8nQ02Zzcw6XOHQ5+Z0Z5QxJd5HGX+2J6rPCg/KHpg0J7ytj8FTXElSeUpw5e8PUJ/Zh1As7Uz0HxTPA2LzBsjsCEUh8ToE/sot7+6PlYp8SUQ7d7OYcGQc9UAX3UnE0VIJX4tw2LwDbv0xhDR7l6TbgZg8KHEEDsyJBvedTqkCUidcWlR1Bo3ZLWDNMlG95es7Rpjgu2YSRkz6cnVm9o2Jbdc7X1OCgbInzXBqlYlwrSLzx0BPhdd1jkbgc90o5Qn1Rq0LEEPfFHXmAIwaoAPxis7IS85ziiUAnE82yl+6tumWdSnOAD33GHX5kGYzO0S/RQwNAdItyxVJv50m4FKMsFqGOG2Oc/kdoV9zKzj9fTLYwsNdBJbCyw2htvpnHOppLlCQbEd8RafqZZNx2Gs42+ZramJvv/yKo14h5dNW9+9Nzv92Cd5gGahi/83oUS+PUAlqmQ9AOlDhcrOh+A3Vf+TkHWEtcqsvJ//5OKUtnkY4ybdgXzZC7FyJtkNEfGr+IyUFHGO7hXYn8WchjS2awlpMQIxIXxwcNJbmMSmmQboPCCPmLCBQ/YOcncDiSULzTXmQjPOimTHQwgxYMm4MIyb2zxB2ClPb6y5dM02Os/8GNVHsao7myGA9msC7CjQgsg/e1QYwBER6Pvc2IWX5AwKWzj6ZUlMHUic6x7eQqzulFp8u0OQjMh6K7R6MK2ZrSKN5veVGfz3EIsIeRDlFp81PkYmnf4aAiVkTsR20TsHR/ARPJfCnE5mBWW8ew6xi3gnedJ3l+EtWgYmEdu5sz8AIcr1iP2A9k6gvgzcdsMt8gof+c0bYtNpNP6c6zSWze/j0UwBcHUJewHYJ4tgBWcf5iiEuQnPPydbE8f0V85tZA6nOWAhY5MlYc0NlA2SnW6B6OEia26MxNtpf6GKqF/BFu9YhuoPbSIR4SxEFHldgLJKTeCOhzxBQXViu+r3uxNn6VtT1x/oKWFyR7lRXcFDSLxMx1dgWOJwjUvzdxPQwFq4fh5auPJv9oostBZfrCRkRC+n4D0M09kfZjdGTFDG3FmIC0CHnrTCfqi7rcm0PZfOmVqHi//3dAfnTOZJH5Hu8/gI65ucHZnswQmwIfmfTaLYcM4SSv7LQOUkzd71Pip++VUPUQRozt6LtkMlRXGjY+56LT9M7HvMdYr+vko8KBOIfygHY8pD3jE84XhjCVWRLj2QKq3RHQS60sSuCKCoS4dF2iKuGEAimn1JEvndeaOiPc735pUQ6NHh/YzyvNRui4JaRAlBUoEaufT3m8lFzhybAHA0G1ZvxGPJpyUjoBgF6BwlVET2pRVkespUsSNbWR3a/tdPTyn+HcmleH7vTiqwo+HmujK+RNdrNoz++KZFuSzsBc+2wmGibOhwj8eDNndPNi148F1fmn7sxCOt3VE1GHkUH9qmybwdK9zg/Me9Ci4bLN3y/wPU0K94EVD/v+Kh4K58ErsI47FQ0P0hT9v5bgKJN95M+Jx1YqGrqNNf896hckFyoLeOwZ4XkO9V5V3k6usbwui10EdsDwrsqaOH4tkIcLVDviNQNRP59PgSaGgKJ5IO61jfKa5DZtKJMVTkY5SenNO0Sc9nXxLdg892rA+NbN/50rTQXImZAuEw6fgFirbelchKNaakW15LG9R57SNo9yL+uVlAy/oUpbMHrC+KhcizfHIl0tTLN1Ah/zxG/+hImLEQHLvnRi1ed8NNQ174LDScHVWA/pMzxSfn8LpOst4iSc1Ss4nvxwCeisvjp5PZCva043fss25QSS0O1h8I/ElgcZfIDXSm2hK7mv8hij373RgMf8/VYEyo+mw0uVwFCyQawmVj3ykvufckxfHB5b4TyTfs6iEf4Z27wdV5jc2WzjIA8km8sAIp+q6g8Id0VrIuHEtOkRX0G2sTIuvPKIjvnhskMXszuEh5IScPFxl31HHgX5vTmOjGPIgPuz7hEos2AUk7StIlnRdp18jiZFJL6F+Qmh7I6qDAMiSZ249/EqmeeCH6LkPk6ENXLdohXZSIGmFbZMT2lYRx4n+ZjtrjV4i6N2h41w454dv1rXRU3fmuVSRDqKKvdNjehjo+SFZc1LAq29ua/2KOIIAleKnbRYytlMliURY5yxDmk4YsCfAcQ2LeAHguw9Ehl4gc2+m96Sb5NAnzuJRLM/Cs6zeAvLwY3R6oTz3ZvDa4D22tkDjmQpjCu5THIz45yNYxLWcKXcJOTKag+SDiwL9VAY3QgnHA/686jWo/zDBl2kyduLin+XZZdPmdBDlZrSK1UmyjYPU/vDepEbviDAOpq/JKKXn3Pn2iGVP8dRMoor5EOSSCOttfL23b14k83J9lDgstHeH4gdwbWtfuvDFRAwVFtCx2qqG6aTn4ThwnyAUWqqYsE/uJIyVID4bAf2qEg+rGlQKpgy/QDZopqVfUsbMpqwxm5AzOLZX9wulvcH5FJeZSxsxKbvFIp27mSoEdcsgtD3LoE6x"/>
  <p:tag name="MEKKOXMLTAGS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2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XMLTAGS" val="1"/>
  <p:tag name="MEKKOXML1" val="4HooU0THZk28POP9trq+pbTvvzd/gcV8t56cq85kb3NDTsUhojRA0EsgEHHMH7oYP1SYpn09ysXVivguJdhTvfyVMsBLTGvcX7WPTor/CmWiWcfk2RmY+GE6Q6T90sFUl6ddlBhs8PJ6AroKZoqWzrzXagBrsEmKgm8aoRWjoguWTksPsouwEExyC6uXBfWuMQIgFvu9Bqg5Uc1MGe5LLgyyRLtdOkBepWj3afYVgz/62p5nMGq2NkfH7nlHdx/qNKMPG/K21RNAJVs+jumcwu453yAEYxtIgUL8PjUCyyuwk/NW1YROmG6dmxlXYpY2GemceQvFIPhxGIKgby/og7I77QUNEx5TIo4EqCpaQP9JspRz8FP3sK67DHnzp/TrYmi0DtJdw//rH3DY947ps9rc2anO6j8JojaiSx6DYDXzHptJP+GT24H9mTAURIYC5EZSZ3qYpGB6XiCR9TuXR9WJxrKIn0h6osmga3bK7ws4zsN8Hpj5BIMDdasjVr0uA6HJXCLbMmPQypTilmLcHJd+crjsaoRZ9knz16N8dip+fpn/0HEstIcVkrPtIAV4ZyL2Boc5fLNdRyINKNRtmaHuCeFcezaJ6tRPFxir5W/wCO26N2PtE09jYzx9oAjKjJVFppA0HsuKvE7+nZPg/tMnXzE68lJdXWuAxqNjGZOsJ6gLsjo944nEhMMK/4bSB0/Zd1xVYZHP6NxtmuAhL2RrNMSGDHWUMTPramM8lXHcjnIzZ2B7b4dWEbvFnrNaCpzrp24UebA2QoaSO7dsEdgripn1gG2xuBpbaOsAAQCyiDXK3wfTxBsHEIGOY2GR3qlISaUAcynFg3+kcWRp8bnvmNQfZc1N7r22syYa8j+iF2g33W4lHETWju6CfxDuonZi/nUGenyYZbpXi5uZI7l0K7cwHDm3XpDeh/1N2rCxjK84WHIj4x7GdOUX3spwT36dvu1wE99lg/dd6zjEKTINNIFZ4ZO0L2h2sEW00QloEbGVTbDq3EgEEv7fwZvz/sXpS0FB3I3NrbCL42Lzi6ukyOUIlpaZWGJupxh7aLwfm8Ta2m5G9lQv+XRtdinIkYcc7mIRwPEDQdcG5omjIbmdEm2lZbb/h9VoPa9Ov/TkF+r94kQS2d8A1VJUdHm/ezKapsej9IL7bI14aKBWeGYhMpCXr0xbyr4bXcOEhZ/uBNgTqneFqOM1fQSx9SUFuaL0hP4AcZ4Gg/D6b0TjKFE+jPdfGI0mjz1v1oyxLOHd3HmF3Mfhrf/A1GVyh6ChU2+Uu1cYXkthkW3BcOncDiy/4OnLoMaeKGZHZzOgcDC9rLWmO1PLEdnWkksLpT5/+/4zvQQfJHVVElSfU4WpawdYNh5oYyXSDwCf7lshdg9c4n5dJ0tgilPYKPj1FB30jYo1+OI8OjU9349DPCUZ78dXx2qHZ5lJgzpKz31yGfmvAbWko2Dk9lNKafoU0ZeRIPaJZ8tYp37CuyoYgERXs/fX+fW7IXAJdvD7YbfyLXcN9AhPLnXX8Za0y1Rbv91F0yOs5SePrhh4RbWWjVuZLgTzAfF2P3IRXvyLILW1vxK0K6ee+m1KzoXOUzRNE9ZkMyK+7rTqOWibYojRozkzjteaP6NoP12HOY/tl6kx3wlTv3z7hZwUs4861vegz4AoHB3xudDNcHGKHg3JSjEU3YkDOLVC5oouggR7rJeRqnvzik5WloVxX4n4twZg+GYL7yG4I6Z5woMDi5XXgu2FEt1cQA6T59QjxLNcW42aEZnXwD+ZjxXqxXbqee3aviqLTXx7b/B8Akn+vbllZttjEaFVTSlmdnQc08co2VOo9ef+g573c5Kvh+y1lXn02T0gkFswzeMNnSipPcljFmJLT/rEUt6Ci2MrQPZxhpHkTfcoK1lzBEgXKlb3s3AOfQx8vxgk8C/xpvYkp4KRSQdOtoBKdu9HA2BzL1OaSBFh0GWZAq9P4tWye9oc2/Si8CoSurrs6KkOxyQ+F+H+x7NtGpafCTAdfT7m0maKHPxsWuVaySo1DAZNl9pTLpMaeLuh05T4mE8+HbsdlM+ln/L5aHC4gCTfPM7U2oNjGzW1vdNfQIsGClwps1h3h0+n4UTmu/ANSP7fVRO78JnnkCrX8apE00w2efrW7NdtjEbFosE0nJM1AiDQoZYvr6fTTHZykfTdFGeOzRUSBiiDOoYGYvdPZ3kbhXTGqpdSgz0xhSHQ3LbwzucqNxjqIncCvxouLzn2uLqrsAV1crR0kPjAaAHiT0c/6q9aucmQRjrYLZiIbCQb5oDvd0vMgfb6yIkrafr3m1g+5hCrCREeu/Im2btPYie78rHG8Tf4RhHOI+IKQBWn8P02on5mA53bsgdsssUNMZEzDtCZZ7U5bPMCcqSIFxQiuDcnUktV0o4YSrbm018rSq8GEmdx7RBhokj63ppjTZPHgx9VlJFAsK8O+IAhfQjV5A39Ys6AEI9G70eP5BkOi6aQUWirvhkr6izGhf0hKIbfG5oSr9/Z7yCvfCsVb7pEeXbcfM3MlyvNHUJgoks7GYiSxJVNT57T7DfPWZz2xLm/aFBHYT8ZQv0NRa34eFzLwCPUP1mpWyBLF/UTQRU3BUr1F8b4Y/MeCVMbZhTGgFpKKD0Vtygd2A02mVyY/fn/ur/tlj3GUhgYln98fHyz/102nmbNHUNFXgqcLW0yXQu4gq5aoIvQOW+Gv33/96VSSjgG8nUunNi8zX3luEWxsRSYTY7rwHjAUHhceVGKUWOcvn3WehVCDEFWhCMeBgbVyHnJu5xt5nhvfHuFrpXHaNf0z5DPKYCAJ+YBM1cZDsmD3CVLx2OG46AjJyFmxNFtLsh8LDbhfNDe9xDTTa6rVIixDWAs2KabO85BRaLE/YvlKhfX8JB6m//F8hG0maHQlxMwLhkfgVWG5GWVw1pZbCrTOZJQBbKivNb2rzn+gjwPrP8CdZ3ajWMMUBe5iWrPK4xbSK7HkOhAzpglbHMtLTROaKp3EfXtGMwnhE8WrFwPOPteRUAN7eWqZ6/bi4YFd+2DJigD3aHALXwXhemoAZo03sUWKaiYTuAIHNTZ9gH9VJnvJ2jARBVJkrDj6Y2u8FdVgMAEuHc01/EmoLoiUE4zW6fGTgxnT8172IKPnLdgtVEbSvl2q7EbFbvSRhAJ+w71+HuMvTr2KyzVELcRimA8UKEcww1bHe47/3hha4md3CfosNwWoaXQ4Ea61eSZZnGwMTpgkTlKq0j0j9hLvYrPJp8QZFhDOnw89Js1tv8SrF+pJmY1+5qF6mWhL+aQqYbQq3OR6qkf3VJnDOeR43qWka9WlkH9GJoQU/iKxwVJnLkivpWtuXK28ainXqpODnPstyZve/9xU1ZuC3TN5uo8X57MgmYnJaDH8a4Det5vMOtiGzbxxAEAofD3ZCwGEMvCup7jwFy/sMmb2BeGI9PzVs+CQBUXjwDxb+GpyblH1KRUsOypzdQVoHkLhD3MSkm7WMT0DNwhuO9KmF52RILNH3Q6iNuiWFzIp+gOnxgnjqclSAJAqiHiGOspyvWTqcggBVtolG3vqm9CB9TiN0BuW7wno3jYDYFQKgQGlhyQyGy/sGw9e924PPSocHq2NEQkJEF29NRlCdi5LGI1Pda8sN045vqJ6W6IarTuNIPXtJ4PJzXGsA85zD7vExbhVyWEJfPuUT5d4+PoM16omlaqOeLq7TAXxTufkewgwQE0LjdmVAH+5Uj20mxSLag4PVTS5A4ATpJw/c8kddsLp1TgERcHcFDbzLSt5w8TSo0jzjk8q8Sebg+yb+fvwYBrWOCYmaxsvJAAP3XSe22nWyt0Q8ZyeDTgr8tEYJ7RTS6dGGV6bWdw9FnUSjuGsO/OM9BQySnHdsSMhuPqpClek0/I6bG+FXxfeqRfAPICn9F8uZW94a25JtsX8Ibx4DhJZACMyi63k8LIyKrceVOPH9+qHPqaGzvCh+7bTZwAb+c9ztneICHnLAV/kZrsqtJkJyTGx/x0q0c3//Fk5AqAz3H7sWkvBK+F73RNNC4eBr+jfeA9oWYDuFHBVB5qHlJPtZONKIsAclmm04LT92TcAo9AQKHdm+imphQOX8zOeiCGXucHZPw1uck+NedzbcOJiBXhzuvWHmPZbwBImYCBJn6knbLxhZ6pzk8EY0Lt79p7Yevg5Rke8/hXWdA9HE183pjEAH39s+igcoQVkuyh9jSZhAApNFdt+7Yle09+GwMfnFIhStjpH0rusRgPE7VJRSnD/n6mmq5w+eelU0OsjvosOZbSuSTIlgsHxIUJ4Fe67v3/RS7tEh9rty7LGiHpL1Z3uHjen4urkgyBPUK2vWKVw0Z3E5fANUdXV9WD2wdqd5G5yTqa1y+Q92TKR/itpGKLnbExNeRZAKFPheM0jMfPQAccutZIhhPhvObO9LNQOrXt51fIv7q1XeDLjZ9Z4+F+UcyCSfkSbNvFepvcXYTbDqWBezobRrP0+2BwRtVBEmhN08t4wSvBINAmfIQr1vNzCgjRZ80KPIlNuDcXW2zOONcxBs8/LPVtRGwbZXLn3wkcDaRIQGqMvyhuTWJZVu6O84h0beSVVlYmx24K5vgKFlBwIYY4I/YRdaid8NbuBkxGuX3bs7TOGD2jHB3SNrN+aTC+1aqZ1lZfKfS3WIJVa54ChQ+PHK0E74vCcfNxTmefsKujXxMK6NRHWIzriDUQWkfz+M+8AUzA/0czfTwuWpk/oD9Ao3QiwfaqcjpwVXGE1DeL5HwrvKAoy7o0gLNvarD4R04gTrDNnv8jGeI7/47RHoktdzM7EO5/el30NuaqV9FLdG8RfVIkQ1E+94veAXP4qSjKoVY2XKIMV280Icuu6xoBbbY1SDJO5bEgitGo3i+f/hf6tBUpUrVZVpHnq3JdMDx7d4/ZmxADoq/qVyQCTz/6GnFvRinGW+9gRrt16zi2fv2lKvkDwA3AH37mgPMno2IyQa/j3AxmgRwrrHs5hz2AFO7BnDGfr1PLVhcggNnqZSlzWetI/0L+Kv3tn2XD6QSnsKZCNmpzr0pu/PwqVuxwA1aU6PokvbpS2pCLnOart1wnLZAPcWwmru902Bh6ddUvRp2PqASz32WXL6FdxdofvJPvr7nBL1p9c+Ulb5pAknLT0lM3Gq1jmp1bmKUCGhZbeW9pnOnnqiLe20iJH4ADhfRtoyNEhyzxkSVofBMiT3147pNA0lwDOlJm0i2cMis7smy3Nua8cRoZmPNGq0WJ0e2RWcNzHKdN1q/jWRl4d+LSUTIGHmw6/ASqX66i7ZLfqP6YYKgOXinfD7M91wSOKwJCCBpwt7GI0t+swQ3EmSLQlP4KiCwlyTY8F8Kj9qvP3K10+Nr5dL5lRq7Ojkej7uM9pk1lA3vgcPGVCTQoMXBrCkOkhAU5G+oRcVIhNej/lAUUf62gFIT0+I8ysVBxpNZhuvM2oLlwuat34eLyG9C2ZABRAnxHaf5mEeB9ek8Jjy1hTmvm+u41YeLVAAGj9CS5ZxvOqgc3gSI+bl9LRK41fVhfwy5Ep4HjqmsfWv0J454bz12wXXVIqpjta9YYVLfZfhBVtcEq95vgSY8dlsN8wcO9/YFofF5N+ime4ELjR4cgSTJ5J9oHEbXoIzDNETCk0PjRacXj7gIXyVM/KR2zG6i+eLpteOz2BuMvmakgxUUvHqxpWU1GfnhohSw2wHydHPA5nJSRhz3n+FyGkXJLyf/pbw6b7hXKeV1pYcC/e5G7mri/29rK7byx+laXHluKsqnpGbMV+SgBuvQtt26opUV9RHmWhKJ1VTA7y1Q7w/wiGovKnH2EdMw9FunEzB4mJa1DUuwafd7D4MP9t9pfPlOK0a/l3atMb1shqTpocBbYVo9WkzlRr4IfY5bGbSELCUdbkatIh9xCxP6n7NHfp873nLSpOizTjWElInD4+qad5jUM9yfN/MUl7mlQdXRpTI6qvBYo6iOCcQYmgELnhbI21Mlb75vxZ8nbATvNOjeO+w7E1i32Z4R6/bGjHtMMbxSzjL9QVK6/IPcZA0KN0Eb/33U8SejAW0DLjEf/nfB9HGOsY1onF/pM+9cmUTdBbpRiJLK2I7jwqztH988+BA7VyDwLeo6rbRRk0BjapwiA/jlHpcPBiVdVEAeKVvtbqTfVmoBf15P47kqjUgsp3yJt3cOvcib77VBRgWr+bMTjc7X56NibrYut/qgX0vKLNWzKJtRrPOWs1btYaB2knpHsbFWpKepgAcAdz+rWYjo0Uy2jgHea13bexGNwJvNbfT8ZOQYcyDXbUTFkp0RSB/3SuFsHATylneEQcJzhsXyzntG/CBEeT+M5jQr18dRBIBxRxsHuiMYir2icV4wtFvVl92eKE62QCEU1c9sVv8sI9hQ3v8K4xw6N9YcKPjUSNZIyxXt2UViqqcSSRaOrZFv7daXHLUeybr1zbtb9m1h7IJEDNdVYqx2VoYmJDULWjRffxYXe0dO5M/FI+5Lkl2xvMEEQkV97Pa9P9fEkO/U7TmWK6KE/t36j/QmIzb7xR+IBS68/9gJR+v6NePAy+k6uwZujUPa6Q5yT5ms0rH4PAytduym/z7Cc+CD5AyVjG4DB+syx3ZesW4SyNCyemd2+NJMMTqEhxu5dXNUW5vC/OL60ZHq2Xxr3h79fqsBua1I8vO/MckFc3Ht5S0y/9Xe63NaP7/48ZPCM2fLPL8B9c1z0DW4RR2SRFyk9XNuF0AqLtui5fVpr4cMf8JsLxVBsOepGnofAxYO0TMaYdDGDnKuGGNa2jt32gGcCc0Iac7KuaE3pv3cLRcO7+utcaMlmOfd0y6Jd1P9kC1OOFWMP36rXvSjvR/N2p4QNyL/KvUNMsLpsfNUlImHBJjy2L+Coq/QLwyBXHkcHddTdxlLPJVW0VvwtJCCOQZhhZDEyO7cU4QRZczIxw3y9nY10LBkHhbmaRcfikAg2zyxuwJHaT8L1DtcHmv7E/zomPsEwzprK11Hx1HFuKyJ2lJoQTKpaMGBiGMH7NkDtv8GqldnbWlWKdGuhZPRKZLZrfvKLr4cFhewVMV66/2OZ42WWCaeeR7Q3uDhF6XBCA2rag2m57qWSJYTYcNO6VsUKUUHQBnR35OeJfTlC5lYCIK7f8VDSB0fyT4fLyUVxmTn8WfK/P8yyZR4Mm9gHOKQrFSCXg/p2LCIrQkmGY07ayKWosE7vEoa1TgGYvTSdoQ/Q9vnJ8YHTnHZCy2FnVIbakWjcgVSLoJAxa6u/Symi4MOxwXhq2TftMRervQ/CIG066knl4AFujsNERTcSGBtx/79MDTjHFy563nagUL8pLdMH/O831HnOISeH3pK6KwO4X8ku0018Lz4cGFxdVeCeKC0ZsBk0qk/HhPgVw0gU0cqCmFVTVlrv0De6ZP4uEzW/Jg/Z6ZN+9786zLFB1BtOFEFhgvDrNrVdQCGLavP62dvKgalIXjcNCPWS2WniQzDNum31jJ1RWy7rMiZKfoHK6myopmzBQ3QRd7nWXjzOKnF4VxYz+uUGRHmXxv/eEo4tUKxx2DvIEpn/W0kdDPHax7O5b+OdYy4yxGcfUtcoPEZpFGk2HBAIW5Rt+gCp7jk7t2erRCOsyImT7QBkmvkdXpzRGhYblQg5g/1OQwAl+VW8vxNdZI6aP1YnMOgosiE0CLm04R65vY7AjWdavKu+zUAVJeuwz50Joz+7CzjdfAs15ucetLvcbRsmkH0E3HRNB584zdoOKD/G1MxOOwDuxk++7Dro1c6H4PYy+8j8VLoVSND1lZNHNGpRVUPHJWeJ6NY6/uNLmkECs6rZI32JAoPrBToQNL68vClWjOqxzZRTK+TbZviR91dZayPB0l6wOyHN6GxcoAmjgo2Qo1dDC6vlDEJEm78YNc3zvh5ujuZe+wgsBilz0vhZW6Uq55uhR/hjX/cJ2MBgsDRW7YXmtwcANI3MifoCyN9Hw4AzQHv4sISy0WYRNXJuHfOjILb5VqNKbFC3ULNdTQnf2GfiNsB+GCQDz/LqcrGFYaKZaNzFdgCQXU08ZD5o67am3KNhke+xFbQ96+kENPPglF7IWwXIOIGzBNSO2VS2UFRO38IMAcWhrqetO5XY/zuoeN+mKLLrZ4YqZfgYUhJaCnRPK2jhnFVO3e+/7DD6/ljAlY0eCCudXuAE/CnXIxypslsA6I3z7HnVZ9SsGlqYdtq6YyKJRLMguj489e0ilGnDHOsPE2fwBZHbBh0nPM/KyLRW9VIhiuvzOY8fy4uSaEJySv0DBJQ2N6A+h9cJHgG86GAYD3ObgwJRQtD2PScEl4M4SJAQOyBPsbw6quKc05332kpU6WYRTj9UAfkqjBp/POy3ikK2sOjTpdDOMX1kkKiRzbJak3Pi7YaL9xHLyUh1v2I+GYiy3GyWh2/ImHAjArsGQybqxwSVigmPTInBJF2BM0Y7O+rvTBg5OpkGtpN7HNh1BAiEQtK8HF+tywekM9tWrEor2Qt1UTX2OVkfI30w0wsacitin4+FebjA8TT0mfC0ixD01thtPu0d5ZGJYjTx9jzMq5FrhZppVIy1eNSIZYRRvYarTQRXgfX351Kghy3A6ukMwf/gOfnjSSqkcDoAh1PaCmJJedEJ4ZPClOLyoWkl55QGKw+sPwXqEZNPrDOFEyX75YEL5h3Dkf/PoNZzmIz0EqpboqCkD4Bzgq5FkOf+d/lJAeU4B1fZRiD2QPPVLvFSx0bjcV6PbHcPP+6IdBKhVmW8tSL6Fflequ/dnUjCxWhsOq4949kD6qryLwiBqWzxQMONCBa0nKTgtm5hujQysBFvuzSKbb01SW1ja5G0i51LfbX3Pap6oMB4SQr5z2tszJMmY53AwWfrbQESsWhMbqzzyf8VlttyZUQv5QXZq5qZeWaVwkYUI0IjJrAeDUkxRzzYkK02xyQV2jn0kThTuLFerjuECEkN+bl2RTrv4WkqZj8QgFXkBkiC1Nzd8aKbfdB5mfCK8X77btC/BJk8UoGBXwwagbwHNOjnu5xkqP44RI1/pNPDki2NzaiWhSggMlEpI60WbOkxRBfeDOBH3yDa94U2+ytt35YWqJR6IsBbSgd0xam4uJU84NuGSB+FnZSmDkBh/dCYPol0sJ2lSNWvSpZqun73J1SlzxTugszjoO33YCBXcP4wXqqz0oHKJJyPJAYftl11QRq0O6yKQttjxbByrwfkh7GTWE8vFuLYWli4biyQ191mb72D4BtWDeX9ZLXP+ynsRhogHjoTS6UEpS3dbj+FppP9GI2LRN+BmEFhJ8BHMMTuEkuCJGOYMdELEdDeN9aCF4c4dqKw4jwyeB+t11MTPugvSVWdgTn4Qy5CKpUg/9qcWFDA72L+SxJNLi6iwtQUgzYxJL8gDNZf2Wunx7YfljJBKi6u4WQNMjufqOGj1K8z7M9YFtECdeyR5s/tNEBa3ZOitaYL0giSZMmcUZWKv+pC69+S65SlFeJnDAZK4sHGjbGJBN+sGsI1pRJHlKghB2Ar3tlPWoeMH83vEctJGhlz6Z/PgJy94fJrLQCf/6k5TK1GLFX0lawf2lKu4APMJtXXfG0BTXqVO8ZGhfPHCrbr405jji8Daov3JgjWE6jKIb5YNrAbBkA4uBXwmaa9ptbZnVUWZlWUXbY+iJf4w1GsLe2Xzn1R7KNltY3nVW7Eq+LC48GpySDRaSt+F//vCOvILAi+aVaSXxwOLDoMKsg49D23oMF0/DUW7xdGxNLZ2B5xODFZ0iblONq3EIhBKfJP1mjSiyKxQvPpGvWkNLk3B5OZxVgAbmQKhUvJ3MnR9s633n5wUaLRXyS8mT4zlr805fEN0CrppJfjas2HsLbnAAT/yEYZNFZTl3M3epAkdfyBl5U6tAF4K5/ig9lYjYuKuKRYLZfCwdlG4FwBd0YZWemH4auqOWgHN7Su8lsbLAcuhqT3kvsGdxZRrgU3PnQX7u3c4nt9+zSTOqdn/BsqTOKVYHX7XG51waYJnWLMR7oZjqot2rPdUYMw6fKlz+PeE5sYLFbcn0yAmFjvF8sHd5edz+2LdIJk6brPRZ0Vxn06MONWcNbjSg0H32Kve9sUOQ0PKugV54XZh65NUFfCisowzzzJvQe4dIKsCEDpK1quk406nkZzOL14KvRMS/BKWcZkDCmL2fguNwek3MFfMtNaduDxraBeE1p+vQQbPlqb7qeHwkXQ/A3WljDFcR5RnyuH8elclpfFy7eCPcJ+NMk69IORAtNd7o6mdN+HOJlJ66IPkQk8F98mP2EtwNA3r4VrIx101337YebOOcVYl4zqVGt6aYYBZx512OxY1BR0gRXIc6cBRa0jfGy70MII7FAb0j7tp8ut1D02OYkFbYawH+O+NqrL1GcArLgFwqD97arsfX2yf5Hup/A4dKhi95n9dt864Pf5hrbkXBpY/XpNJl324oenekCrEj14V5kqHdWe2lr3e8MGWpuzAdZ9pNx4fJrCrOcoFn48nKsZzT/VatVEQZxNxI3eWIJ6PSKMaWl//hcLLQH7pu7FHMv6iETuu0xQExxnhZ9DcP2hNr/LYt0jKZ8LxKKWQIZXnSWww7ajLp01hhS1Q25T2OlxxLPa0tQzfiUNpSviH25mjTDTYNGUTf0NttkAwA8mmt+33Cqvk2rhu8l3rvzRruSjlf7hoD074+k9Vr5+rBW6iGb2JKvuUZu+tKKTSVylSnQAqaX8l9LdLUcUVmqmJagC6jJVORilXm1yxvoM0PdjhDpDFScPxZPJktv+hwg3FHcnLkL4zoEEWnlTVY//qXZn35xgZ2FjGlsIiTJn0fKpJ900m1YeBjFD5vgxXBvpFKwtNQVN7JjkhDB0+IE/fZzCjb/6sGHssxN6pS5Ce4Ik9H/C/IUV5RkA/T1v3KtO4Ax9P4BzzJhsOZVfCgU5fNWFkDo9mHggu1rpWD3HUSeQngl9kbVPnMyB21qKetLdZIzGg+nQ8LZmHwsiSXYT1hyzD0s+CoSY5CsHipydtGZM2lYnp5hAF5JLrDelJ9OlgzoA8XMBAotOZgLrg07T2ayoZKkcjC36AnX1RCIL/U3QHABbJvrKYRkcFhCGMSUSLW/1TnCNezaiz51oBsgn1Wj62XNuMoijUqeef82p0wWfFBrxc1kT5ZHXr8nehQNnM5BBnDASHBLqLzlO5FMSns72WEOlrXoXnfIK5KzlHFNAGp+5bM+EgU4eV4GUHdCd6/2z/5I1xLpnGVq/z5EI9Tg7t6G/Qk25nDVDL9xZ0M6pTJ3/FSBVTjqVKOdZY1+WZ9A2+5OzzacarQPRc6/q/6Td46X146AGIo4LFwDOGx7/YULPtC76/4PDsaUZcQq3C/ZnJNpObkd+cr6MsNV9Wpdsu3GpOrm8ELSNXv7k73kuUhD/l9f5KJnOf+svFgu6TpgG/4xOZDGyMNt6gwONu4Df5UtUeDZrLXy680dGE6Pe6csulnz3U9/C9mggGTrmsQgG65+cGURUZZeLf6kPxvP6QSS4jhxjrvc6jbzkfgfJVsowUliFgdexvOQu1OXMXuruLQR9dXs8GmG6uH8AA+pHhxzEV8V45DF7tpL9KAYFd8ZL3j9zo4aIqqBCq8HA9W7X1TisEeASLbqt//1npzAb/YaaPcCF06Z6nCNMI22FO5ik/7XTsvgDT0iE0olqFreAcseXJKP7WWYa9QXr2bSW52Y0o2u8oqKwrIDHqK7UbvAny9RGcfohLBwyf1mSfJL0OIX5zxG1wN44vEllZwQfwERmqAdjRvtWGmVU1M/RsFQx54thXDJJwzsCgW2fbERJs1TqXAsGQd2gjdqWmg0yZ1EjnZHOf9j1FIdxxe09gZ06mAVRafeyXQEmuYoanFvNUkqur4HmHdc/sWTBfWiFT1gataVMdMv2u1kKwsxhu3Wvlk7mIFwEKYAf1URAxmRCng0Q/22Rz2IicZGklfSS8hdVCU7XBKH2xdVsrCNC3UxCe77l6GDaRYTuUSUVzEWWB1i3T6hSTHbdR4a9tfhjm0R78xB5l2+CkUe0aI9sSsvMWRf1xorCH3pMyebKVvI37pdtdDzhWODPgZVEw84a+Y2taeIfVq2Yh5l2Wh2KYkpWtXwE+SW2OEb0H5yegGxMO3TUg79ixqC8q4Kooe+vYqjWT+Wa1aYmRYqxYxEUZ+r+kfhsYTTSLXgEEmNWAUBz8K9U6u8aYkBfw6plf0dQ6fMJ5Av1za4fK+icVXHY7rrHC25Hzx2NG7KUFnKuVEobm3LZ8vYHEnn0gKvGLmEtWfaj109uhyWy5b0H4Xj8yCe1b5vsLPDRppMqAEOAoI5ibRgaCdmLmZRFx8732L38yNgUy1FGVxZPAsoQdeMB6JK6B1vsA1nuEljzyQjhK2BJdKVKB+0sXbwfYUk5XjPvvvHKU3GjVMLdxKsHN7DWYbNeKEb43BsY7glH4bA8OWEWHyg9bOfI5xceT37KYHzfT3NIXvU3YtiwSK1qTkW1QwUl0dAtykcXSuMktJpnqMLhy5Vd8BT3rfa+oJ22Aoap15PmxZNDUIwtV8r++gx6U5vvhfgtY/0oiFXDcKoJ3i63Driv1sbdZQxM6ByAUOoAv3YuvKQd4bjJ1Y5vGO1wy5ExN4lhoSSUizEPYLHBgPZYcAWaPJnLN4gNZ2RZpkBe+Fo0sYjTLYmB3MI4Lm24lrPB8HIHjS9pyWXlTHt01ajf54sIcfsxjt/cBnDJHNsYC5gKq623T70ot2ZJ0sMAC0d3jcCbM/pbUnDT4dQnY30b4u6VFScPPB/h/BkmUNjDQy6oRZDI2ZQySzTrKEmhAW2K6pxMeY7kBfXjUShio8VYvMsy6UuLNibuViIP4KcJhkwZqOXnP/dobOPW2jsjLFv7mziyKRlucZELIuGcqONAOsXhtoGlNIBRs1FjGXlgtVO8PhxUwIIBNTEnEnWpGWBdDm342mtt+CjupmuCj11EFfmmWneu4mn77dtKbtvvZwTnxdl0oHB8F/qux7z3E8gfnTANKzsxg8pIVFz+wx773P3K3KLJQhRYVPK0gSmyjDD3JZUOg2fmhV/psDMFnETDdVlAOVP8+ZO0m02pNutUe5IU9z0u/K9KS0XdEzImLywqysNy9p+AAbwHqMosenfEmokIyJXoNYkjTFpT1ESTInHTaWK9Dy4PBMYFgvTfQz8umUStxZ4d4P6noLBGawMdNd3fFjfFiTsrxnClK6m8vkpJ1iLq7CwRfSaHMVP1awtNzy4V/U+pGYCcPgG21jLKWHlMRzXE/lH605+p0tlq4y/RsU496SR8gUnJHytnOGTJ4F7hNpOvJNNkzqsmDMajCISSyadArK0py11U+gq6C4uNsRptVUuMQS9sWlPbSYT++4WtF27BCzb7WauAcDt98s5unIeufNw6/dARu7kiMwFEslhScKQznNUWQtYmvI0BBI/3jRDipNRljn7gaKd5MRke/4szwEIlBysHNZPu9e/E4k0DfpqtWOyLWhxFj6kofBZ4l8VBKUrIe7NYKEwOf0DkntF9AkAP/hoFfN1Pltc2wUCdrErP6ktbkYDWRoRrntUvIflo/cvsRPOyIE3/iFYKPXHmhFhvw5OwW229AzEgp0vUk1o9T9eKcPccIkGiK5pzGkJCuPy8WnQIj/vF4uy7S4CH8nJJ9GsX7FmRaQpuNhOxf2UhLDABCAwOG0r+MNFwLL+8odMaJ4r9gbqZJEwfDQkJ0Vw7vMeOzpnbA0ZDgrD56ynDCcvbt4C3sPU7hWlzgU6d9tFdJLawibSn1b0I9mqtldC3kHB7NhuHchrBz3iSOk7LCXIgfoZMKW828QLcBnzSidYab6GRHKMxIWTjiyCA9M5WqcweJBm9Av9LbJHOY4UjASI1eLEK0jOLOyrzxrXQyoNiB5Qx0IGbDBIicxGAf0MXMM9NWYPEdg+tKic5eUrp0JoxoKd2Q7E/BWnLG0ClgOb/MXRBqmxH11aZDKr6b86Wki2F560Y+z3P7gh9FVdS41S2PL4KJdRnkwDWDnWP5DDYpbwI7gxYjJZkqeNr0ewpqcqjON20hlNOE2ag8SKb2UnQ8SbW2BwrKoOVOY6pXsEZKFKyqHKgPNk62hMXfqNsb8HU1olD+NL/u8ic3/lLtt3vrZqtRUXwCyGgJEFct4Mr4z+JpZoCyhPlJtRxuWnFQwcXK4HnQxkOI5zHN3LpcBS1YPMJxIblAGXSq7sAi7YPqIxsIllsJdzxTKElhSCAChfPF/wq3fNAjpEntaWnHQkthIXjrYHe3ZQBGAkpZ+vQhjm0VM4XV3ZBjTzZx51zmvHhQ5SMFPUO076kLsfpgXaRu/kjbOVrqNm1OyXMf+jy1xM4edcMEQVXqvQZKAbMvrWydtldt+A2AKXZGWD607sMTk6Lri54exsduFQwZ/N4a6adjWrCG7GvUASwRWuWB4ZKHYGn7nACcrtaV9QkhNZtkLMvzmsquSd0GF1J/MCZ+cbnCWXippuqq0Z2K4KRV/Y8q721YGwFUaPGu87qk6IIqyUqNZHR4Tm/mU29xQl7O/KudGmedrewTeuJGAqSzaylLgmF091+bap7H0SEzFl565LP8DxipXtIWh25pANnF7z9i+CdJ9N2y157USoljfyyHCMepYvzM4nwH3oPGv09mJ7Jr1hcVXRiAFWFCnRhKlTT+DQfNhRm9UuWjtDBbc++kGaSzTkQAD24xC9TT3askKW+4k2blOyD4cHieDCt7jqzoSE5bA5+NgzZVv4GZmoGV3Dew+yNy5cKJnnOO82X0z8s69tbmOfgHO+P8eWgimL0QGBERPm4p7k6lK7WN5SwOipGBhqUyEY46XGUw54zDDh57b2/ZvC2NOVXKFKb8VuwRsplliZZIaUadnSx4+3bbgCuiyafkeYhCUO4ZHbuHWwK831t+86dB1i6tNtgE9IG7LvWJjHn7etzNHnFjXlt05ZzhCpNx0lbcpHJtNWDpzO2Q8YS5MzHfCQqigNMYIe5qjMUixlTRXzLuRKKZlfFgqHmsaTjMEcFHsQcV3OkZOlVjBGzcJX4kPmtDzq1xLTfFhZWOSLwBq6N/G8DKTa3Vn8Unw4a5hT4VDj4TiiLM5U9hyCAXt/pOIuAF9z+mrRNVArBz7duMGKGkwEBF8if6CoWN8HHVcNH5mRrswEDGdRtTKLhIKa4xZIRIc/i3jt+WZM8JSWnR2ERaQB04JU7v9uu5fdi2WJBdBTFU3u5NZI0zOETvCqYy1UyuxTaGwfUpxx3cjjZsWjquYmcmRhMC05WPOCHcyvschUsi6eZ1xkRTz2lhVgD2F4lYio3CAW0AeCjS9M12K2e9XKt5/S+b8VTHTTaq0pUkpxuEwhtEkJcSfsxGm8o+zb9hBnfh5XlvV5QUkHwfoEUFMZYBz7mxau/ZMyjYSGHzQ3ZhRJpSaJYuPI69PxTUkSjvLw9iZBwC8Uyvnq1ALwPidIEFOC17B+LzbnGNOPc+QPgNHuHIibBDai/DSgxMi+9PIivSs1bi3CUwIBCd27woLL0fTzw1Z0WetdGCgIUXiSqL0arJtFgCgZDo168fw+rtkmFtknvZsgG9moIYW8YUxNQ3akP4HFum9Y7whhwZiPrELwCHNbcCWwdAnb3+wUX0vtuhqUmupqkyderWKaXNaeK1W85Y/BptqsfkmW13Hv3upinCoZpz5MSWkDIwFBfv2D7FXL1kyTb+oik7dxuFqXiHNqRd0Vh6cjUTBS6Pgz7Bu9Pb+qOX9WSuW3qka0XoWYgqrz6kb+hjsUlKAY/UcSlOwG2Q+6L3c/KmwTp/aZIYooA4vRBRsoBwvnQoI3MPDBJCqG1hjhVl0LOFWIhCMwAMvQ9RgOk6xwpN7w1AcfKENH6DJVILVadC6F/eJaDVHDLvf/M1IWr34K45raFscqmDk8pjP13KlDTafCGx7B0NL3rKv2KfJqeYKB7EDOIMr9tiNw5rYuQcKJiogFn2QQor7HZb6rqKXyX3dHE/6Kq5D7Mju6p82ByYVltPIoG31TCjZfqkq4qEclOn2BRoqM0kFencFzsox70g1e5BDzQVRZhLR/2xrQQMubdVSnALuPN1cRZO595twGwMhVZxgWF/c0tgvvMenHnY+lTNb6dPoZmkZjBnmAZ70sPK1+LdGbbpIDaA8PVD3/Gy7Yz4+a1mCEDBxxegmQ3eg/KwM32Dd+faSklOOo1grQBA6hlte5T++iSsN1mLoeyACGyEeZGYGt/k/MYH+2hsREVY5uzQif3b5qWat/EF5z6JNQurwD+4z7Vqb6ygQSUIFKRk6KQPgMPLUe2QLqOTWeAdwBray6Cy7Ufw8VNZUM7wSDkBOpc+eymR1QNk0nod2GIqXmhrSjs+uIFMpcXv6geqB+Bpa3TFp8JE2+fuyR9UtA9Fi5tqoYEBAOhY6Ih3qRAwMnsbmHXibYCTEYOqJtfsR72xb+h7EWVebAqFXFtMjapBLI1eZJ3tFYmtywm6zu0msIMMcPo7nXrDFpnO62TdchCvJ/6LAqil0C1orXfb9XcEaCrzA4cq4lqyv9zQvMsUcfeEX++QEwd7OTF08KXqvBtq2mAU5tijE7NW/RyJ/qBf8pzR9VpRHAlQOSvj4jojmqOl0kiBdNZKDs0gpK5DYvSnW9CulMfghPpuGTg9Ab0u0ZAjav2Ydzq8ME4LlUnZduZ40TMMtbNWoFystMRuxk2kh4ezE2jcI3IAjFV8KQquJ2OCDzhv5VlqOLTt+gcxnpt9eO2LPowQVwso3YUugLh7sJhUOiDNvhVR+BqiDJQWOwbiC08SsQsGCQO0v5KXijmiPXzdyAJcrc/ndWsrSK0Nr+VIhuoFB8VGRhzrKMjsbJe5krsgp/DTndb1BYMXEteYZ5BsQgSJ9F/bw0iFSfDuEu1Mc3jQkKV1imG0VBBmLeOmlXeOSLmECvvXsPgig3UAA5gBlHQ9jbEM81d7td5VbDw8Ct7EFHZEb4rGSVoJc7IAB78W6HANJystKDwprqBrGsdHLp6l1sasChriJ3QmamgYpV32ySKVZF+FOjHn4/ibbcjgKODTUW4LmnZca+gPVCUvedcv2f/YAG1DuDMVYJJUkpdtoz3+MTn86Yt8fBv+GHEMRM1TmwSbzMA8hSOmvekzW9Ky+oqK6/QQzR+jgAb4W5b51LOCJEwKHBqOTk5WEC2NbmMzsoFls7vD1d9psPiSmOFmw4a/Crv8wonTi07TICn5eOSNIK17Qz8XM6TRY5584Zqoq3xmRlLKUzv1gA3ygznJXUi6yOKbNfgcA0lJzpxUU7fZZq9mTNayTnaKO1Eh85bNezG5ftD4Z1noVMOH6/p1LAMWxRNRLXyRES1YtCIg3TAka2xTttHQGI3fxu00jOTA9EIL3Uc9j8XzxaHW0JeWr3T/7sxvyPi4utHIX1dxeeUR51cjzp8fQfkvB4V0gdKYPZSBrkx5bnu/CmaH01w/ZQbTMfNrvvk25dis+xt709hfwnutV5dhcH80gt19vZ8oKFE24dNmz/19NijA03oLn6CojfG1M6ZvegqN2dCIWNJCQXyRy14QOipuLlGlnKHCSWzYUUV3/SKdyGDC4lI6rzziDdTVoGN+8HDLZf8ynz+lcIlnrQ9S/B2kQeeOU2KR80LZwSqNHRLnvhIR1fFXxh9x+wBUsgcgdwMpLugoxyzv9wID1sSYhULg7q+ujKdc5tu3k6D/Fi0uX/3GDttW4GqU8CffgX/5sFweXnuFARe3tYjM+vWqFMNDOz0POtqSilZMyXRc8jB/tGdURaY0/odUpR3jJiS/GHnvL1h4Hu5gqRBuigbXjHHdnTa38gs/ZiLDFQsNf5XPv1oUwvDTDfF7OQxiTvzVgeoy2e6nXcEB0mNc1CW8clY51YUsMYkmbFqw8FQKCMmXTYQLNlA9AFRorTHaRh7+W+d0ch9PswR1BWTZeLKNgVvgR4VAVVT9xN6hjIPu9sPPf1w4AW4a6PLloi93JqEDCzoyRV84CqRJmZLJrUWZV30dtJapLNoLHBA5FD9BZfSb6QvEEJmLWH9hkDsmbg4SMVznnvoVk29vDgkuOpqbRh03en5vsVNRNCsBS19mTZDzVqsGh+luCOrVxJOI8VX6AfKNwI1NNgNXRC/S4LESEZd/qZzB8L63F473UYOxmF1cYjlnnRLyxG70ge8vqCcULlmCwmDMRo6fzsQBQ0qgXBz5bYObNLWCRgGEXJbz0t9jqtWpVXrjgixJk9aku99ZIUrmVSvA1B8OjBIPs4GeqsfrdxjLxfa4ovOWrKcjrBz1LUuWl3X+2UpV6lQ1Ag8Sa64RGQl+6fL8xr4JGqFXm+gpMoIVNthlpel9nEhlcnRhFL068fH4yGlNPC63Mns5+IBCFA2mAmOvFKBd4a85aeKjNumwk2q+ah9H0yseyJg0BoiwQyOoca2ev+KSQU1R/Qt35/7+4Jt50xoa77ZjQRobxuiCR+oPXOIvq/5L4Ni2C8tbbG+P2M2KF8OUIodo3YHqQBZSOJgoeP3cQzrhpandZIrtQXngEsr4y0USyCWksAgvRLvOxHl6UrNAF1W434mbhKGhjYb1gA+6TF6Yma/de1ve40iw7YaFto2KKRUexZnApR9bRDai7PY48GRjnSbsHRDEbNYf0chHqwaU2UeF50ufQPEq54oqmSyXLg1AY6WQ0GjpmjksZy0mRtOfv7EH6/thVoU2x78IS64NFXomuDHPOztcQadxRvQxFzdkv4eeX3DJogWg4LLfY6TgTOJw860K686sumOkpstt4KDLBNQ1IOYz2yEUT2d1VMY+dWPpNSc2dIZAKQEfco1vuLs2kQFJyeLjd3hAMwhp9lOAmzP2lbyM25JimNYOqKpr2tkt7aqWIJOaHfFG+XSwPX28cpcbzez5u6qS/YegHVx/98gBGJ6VtJ3CyY7Zh2z8H78MDwfn0yMftcvJr6xBq5yqlU2gz3k7h0foCjXiqvb/1XI7qYh/AKyzDoD/8KrFuaZSvlpzDPASUxA5g0gQ8D91N6RoVhiyECgrcr1/vWrcCG1iHuj8rTt9SuiAHEc9qL9gnZZxf6s0EC5BjfLG8UIkDMplcaf8DQdW/J4NsXTTsvlu2T7wWMH/4GsKboUrwyjH5obHaoDee+gBpDHGEsFHQrEzty85N27HRRmW5NJbG/tzQd0Nq/iO4e6xPjCTl9scwgij5RwlHft84Ta08ymIlKHXD5Go7m2tzDZTCqCHPTY2OCGfhn9GurAFHc9YAsLiA0wg3WlnPdZCVyP0ND6YfAZLdxVoHfCoYDY925G17O0ZYleKQQPLmAg7KDafTYUSl183T6EzB8/pBwgv6kIA3vrRXUdDLVj4E3IbQkEJursxKtiUygL3tQFTwM7v/+GkZtyLu6MMhxOF5wMJR0BNSuyrYduHqATcrFXrWHTrKanh5Xd0Kt8NbpDnEjuMVGM0EonIvBW2y3NybLHCGM5cvlaF+JoetOHY+gUxwDD2pM85dtUYtrnxIpfgv2jEqxm1LXBREG+PxxmFsnqfcoTgFrzzZ4DKWBmtIc/JQsI7/K1TfXaMG8gRO0kztWcrwd3ES+uOKImUAKdEtb7s7z9I+pEt7Zh1pAayyb8XMYeQqe5NkdwHPuHCMFgWUAPAsgO6Qx+Z3nXz2F1VwFAfExzoUAt/93RXP3OqPq7EWfp8DCQDJ/l8+8+Mvvbw+jiQLiXnduvs5kcYyG33UEc24Vlczm4qO1KHR86OfVivv7LKoF7CpbMUbdEa64FIEJp1jkbK2TSBtEQGIOc75k6QoTy7lRfHJPi79+RoqDpSJcPlPORk6VxSwbC25qG7nJFmlrNzYBHP7Tp1X9hrTu72HOkbdbgUHiaFw1JnJurfEmd6Eq8uzeYkt/xuEUKzPf6bkApX4blumCM7fdWtU1SeV90JI9wOE5KwV+lf3In/9WWH5havkdKPpALLC8CAODborGKw8zUKH48HM+m7SyoSf3rz+yFNUsSCvuqKHKkxjBXPt60DA0V559EIp9uxHeXYjIFjKWIxVOXrR1BWAydtIKrPxltbiESOYzGVtQju4z2JUGk93FGj89wTFxgG835ll5VL//Gna0uYEUXPqAaTGCM3474kjFSaESij+XNTTG1XLI71BXqn7oVpNZOy6bihHCLJxr3dUdCNNa82iPZyKsPYBe0T19QYG1AfaDksEOZ6+RnQGrRI8bgBOULbyihcJpVQGuF8KSsTP+76iP53AVUWSV4ycjvvhQXMqACFnzqahVacy3pO21hfoIa5xgkCV/ooVMyoaKED0bY4ubGdRlQhIaD7sCQUbOqDxK9SG/tNBtuou8TlfLc8n0JxakOmhWy0nbzVWfxJnEx9RQGFoT65gL5pv/sIVO8uoG1i2aBUwAGKzr50UTEZgjDfzDku0vpCIvcmeXdwbHlCQVQPf5cKKPeMjvy1ir5HjvsdrGbgXGR2uaH37BMtkIhr7iOYAnMI3se5yapja5WbQ1fCRB190GJJns/Anlq6hdFUcMmIcY5Xs3+xcrfZIof/W9tMuCX2ZXMB3dbmpItoYcVpkKie4kJgGzquOQcZLr+dnK56tEL5mJgdBY0BgcJwNILdO/1KvroW7j5xgQ899LHh8tAxwCwlvM1MY2zChczUG+1rcZm/F16UzD5cw3vgn6IlgA88CLq/JGZpHv3EjOrvcM5q72Zj1YEn+541wC7v1ETiVStIcwenwGtOY4u+9DtKvD4dEnM4vJ2dmfYYNRRJrAOBQB/d6Fr7b7h9ldvqyB94M8Im9T9Oh65oYfgIrpOoWKVZig1f0NYJcc/hquHH/domS6YOjIKF8EnublLXsM2t+mI7QgL9HHeeYs8o7ONFzVGx19YWWWPAdtx7hEf+6s3dhlyglmBEfaZxt2FF1d6ecOPGCl5w+sAYB98A+usv3M1NepEQLZF404p1k49j89mjXwCJ70goPrYnS1RyrkYM19W/Z+dhvZoc0UxK4ZhTf1N9ByueogeI6PWpRESiLhzgI4z1wjaygH+h532dE0rQCoMvUhMa3PvbW2wPnSrjGbmFBFjn20XHjjBFwEbw7OA3wiLua1zUxTeutSwkGl4j7ofYLhz1vb7hekdVDFT7QSdbbXjdRVjSfD4gmoP6cm4UFnCv7xA1AFfH5dLOvDOf4ZtuRfybugyZfJnok9ppVhVI65b2H7pasWu0aWC97+N9hi6At9JYExZEnTjqVstG+zJUs0VR2sCd+6Wl/ocsLIUTO1lCjdIaGpg1PKI20S1YgNwvYFxX7CpwG2OvlWZ4SegJyl0LkoQLm8rkZZOG38kthEBXhP57qixy7KbY5J1+rp3sJfo5fdHtgaDHrG2yiLH3/lC8ALdfRLrbBXfwrG10Th0iprxR4m6QA3ASsVlyIQVUdsPAg/w9RhzSI46PhjudmfrqRCazPU9PaQaplaB4nJTalATwt0Ca0cpNciEWVAWIDh0041NhQed6zozRNhu6q2dmRQBx/6IOu3V7mtNNImNEpdi9IF3z1SGxmnmeWFl9n+GGaxTf+VLMMQrSjS4y2vDpWuR0xZ2IDl9ThnIOgcaa7Exm6fqX4ciJakzUu4QfLxKwHc/QZXNRMg481DIwQdWdgtLgUdAIg6wjTYnGsrWMhiLbIdbQKlSNMP/XH3FTbzq+1Myzle938R1GcgeTpUua/GM6KnaqQApY75yEWWjOQiegRCLg+KK7KIfToihFaR0CjN6ln2+nNzni3YvDN33j6yTn3AXX5Bga4LPgmKx3fk/xo+HSzl86zbMRWCFWNtfja+u1P+d3FRdM4O9m2fgNWdXEvyGpR2Dk30ViNivtufBwSLT9lHDtszlz/U+s8jUY7+hLaMY9HF4Z2u0dy3m+Mv0dSPVQvWRLGgZyW44GGhNrY4ncndzXYEwFch0GmdszkoN9xl1nGTDs0r8Z9qvbRlZ+zSEaDDqt5Zqyp+htG0Uqr4T/C0VG1dgYcxwSXUSthRZJpTTkQJA+RI1P2qtTzdKx2tx5CFnaTI1F26KLIjW8X0Iz1Ar0SkamFg6GH2wcp04U3exVAROZobqm/EWN/xfOLq2B5XmOc08tTgQgP+HyF3hO0K9WK8xlE846KDUNxl/I7R11GK4R4TkY9GDCsxsCKw+vQGxwW8S20iHyBspgeGM5uRG4f5iboExU98FskgEYVmOomrCV4ohTXSG3i7kKOex6UwORYASYEoYWXWxGXGGUs6q6parANwTgJVn/NFOcqlrWSPjVoQXRY2htU6giYR1p2kq1OoIh9sNTw2cSMW2hEE2xPbrioNx6f2ILEZTqI0x8VkeSkn1UNEwfwmhklZwIy03VH/PsRhM6DT7KK02plnIXlPbCGkUQ518RpXMMtP6b36fc6wicSF/lD1T7zmDwcZuWxYLSQueyTrkRRa/Zia3uORJm7ir4sQhoAnblwNYeRDvb6we+mk0xldQjI2UP8jBmU8qFJ2a9JA3ETywyhpUwHP4gKYxlXE1Rj2G8NzjudyhAcTC/ZfCNDwbdnaNw/6rKbIdxSFbDCuT4qhfMpi05MQpF/eSfanZRuAZyNrKat1JvimTq8DWAyb2hYY7Io9k/vntSDBPoADcf4UeSBSxNnIFlvsai8TeW/Tx0n/XrIVkzm/06YhjHi0DFZH7QZL/p4PS+eXnbt9GOvIQnN37SO/AM43b+auhV4xCo0bazAoWiEE7PN030sTT4ayKixAuH67L+g/QWo3NGpj3o/ZVgxEo4MY1uTfpa2AeluHnAG0vD1ZaS3dgXJhft+kJQVkmnq7cYaVcStAi0BG2AomLHqHtyMkjOPcvjsVZKzg1GOgYCX5++TBhGmgt1bhGVfX765wKHP6cc2ZmRc8Vrao4vgESqlASBKfJ+OpUh2WRdX6IiZCUJ564sObDj7UKBnYYLIMBCrYA9zmUF4EYmyjvTvcASOjLcALV4yUgX01ux0gQ56kv63ikTx5DPwteX5Wuxki7N26IPTTuCdFBfejOh5el56vXOUC+TSWEuz988wl1mDn+wmdeAyKz3hxEc972nOKPmlrihIr4TwT5u9b25G4Cwk2KMf3DEBwGjugf5zKVgnzhyWhPJnD9hr7DQm8zC/ZXRn+EpkfQDgIrFQl0jalyC8SIPS3sh2Ub87DqT6oaSk0JqnU5PeDZqEBPcET2DRb2jC42WASGoBu8by5wNfUqZ8KRSKy1RpK2mMO1yKrE4RFPQ0XZ+plHRJntxqB2+McKaTMKlfKe1NSIwUKjg87Y4joaiIQbsfXxD+PCKAxOrl/33AdaNxGWIzhNqLLpQKmIGXn3FF4kvZBgIrEWfN98cNr+VKBKVkNUkk6ucEzJFp26k+pkyipxsdWk+FJADIOv7O4CFnBVe64ioF2kZYen8h0qaYt8yuHquLCp1Bydtk2rW6vENmp3NTAp7NYz+3L9QuiIxOShAub2Y5Cfp/f43BgeTyb6hD4xkUVLcuwQ2k9/0IGJSX8CmxQonft/m3CYHIjt8ubPAs1mMxTIbl2uPJW2VUd8yhzvNil1h29dlzS8VhG7xld4PqrBhxKBTj8iyFsRhPGnskwnFaNUPtT/CyZw0lHVvF1TAE0k8KBM8mFW0aLJwDMRlrjbK80Bbbpy9dBO/YScj54dT0E+qCqQGTaSqlJqbPzzR08KxlkN9rZpCCCztkrtYMlL7PtNlGlIXykbxu8Mdwbr4c7O9i+ZNBziKbHsub2Yk0Ctgt1zCrEzXr0NTIhc6jLRH+XGwPM6o0kXL67UEv1Uv/xnSseTYXAbjYdg/lj9YRx2vBbhdH50HpcBpIUauf/EsnaO2RbqyOcYZt0ztjbmBVMYV9SzxZw1KdV+uDb86/je09nH1O/AzFnVux6QqGXJsrWaCYAXwBxgOVXF7acYfjeA8xctsjCBaVLB7vpHOtQuIHwpUWUpRw/8jI74kNVDQZ+Sq05cjfvKN3XSMkOZl7xJq7SlhDG6zPb7l5EYRbld2Nz9vq0Iij4ZNbfInqawvrndyXcOa/gVZunhr9lIXb6ijsiq+uWdsiDZ2ID9b7Wpex3ZpXvJq7oc7c5I88TvDLr2Fd+DtQ8ZaJKcicC4aYmpS5BD9EjX0gQbP78Hoy74G4aVNRppwI8buHg0B3b6hyokdJ1iU5d1e6jtFME5mpigJnW8rOHFBIP/D7tu1FX0bSHTd4WZTsdpdSDWi+kSl/2Gq/pqwv3eQyw8QaWQA1vawg27PcZge1dK+09K2mDqvvBTM918HLek5obgqSq/YrLQW0pNoYfCJ8A1XUE6EObshVfV1yEFchKzj6BJEpERMw32jDnyw0gaxCzNL2pO5fpN06HRTdYHMa2xQiHSItdwPx/U23p8NPReLfNqnb759/9OZa7CbJBgfJo2KeBwMomt/273qiPcaGUkHFyqFsG8hCsOlt68eWJC4j4HYYn8NF1r2krOOuj+E7eFOy9hQbos65b8jtsrEGqach2Yn+VzomYLnVTNzepKRag1iY7eCHgPm8ZwsSpKePAcOW3jOtHDJ85bkVjEBfoi/G60sY5gzq97DiXHvf+gH3hI8z/2RFwEbvOpNU0RzwftssSwyQ8QCdDtpV5Q0Xyt9VeNaS3EuR/KSLuaehqUhWdk8OeCaGRag4DahUG+bQq+LMe0ej8S+Qelh2ioBl/5c6v29hr+3aqxXpdusUObd8lSDw2ias9HTOYlRRtsCAq3IJHKRMSqt2ohhTtgWFrYk/yEIR3Th2QbIOynBrII0TS8LOVisMqgNDdIn+z4kI19qRwzYtZ8PYdXKjz7aY8gG9Ht5515dWpkPAxqiAojJItwNM3jHMiAbVQeGkClavBwYZ1IfBbBM4kbmTN/wnCTRy5WbQZzpj2zvkpV+dBhGFpo44qLAyaMJla50GGNC7sX5psxRay0I9noJ9KVHDY46uDkiOIr8lZg/AQNRIQCIKVLx2/8kqBOSXASHJe62bHu8PFaD0pNR8Lihx0TY3clG3HcixTt2Qx2WqzDxZ4F7/t1bkuv19KfRJZXb0XhVCqxRwFMQpIlga4WFa4SUEmCAf/Ht1xA6V1PzG7sT/nbRKrlSLbB5eIreT/yoeZmamM4ExNDZRIBQNjkGTXR/DEE8LnqtNGKlpF6HuxOA6dglJ4ysl1GJDZCuZ5OWZCB8Qec11YlPM448RS9Slkh7q70RY1xzBQYnxL3UdHXMLcxtGxBcExZ4sHtk/wQnoKX/STkZqyXHVJv+yMgVyDjHzrNOhjGV2rfxNi/yG4opfth74sWxGydxvZHcvWVT/kacnby8r7umo84vzrVojWNh5T1PLQK6v/Dv5siZkmWNgZSexLrMSr6GdWUxXAVY92w1hHfKTGfnHI55OlLHlRa0mNfO4X2C2FjKkV3NmPv0y3ynIzDxUyFJCPdfEH+Ppqi+6H47ahPxrfcrvc5Ks7/ct5cKvhmO052R4FuIKr3lktMnvWtVYMs73gWyEVaVFLPEMNlDSuevn5D8nQdjAUzKWW+NZqNtvnZv2vEkKWF1IcRcHZk+sGzfItLGC1l0GqayUYZwMWxHkISRhgpcwTB/Xe/gV2eNG9CRXnSiwLgs5xi3sHry6SiAK8h2uuIgWtY7CVh68v8Ju/fKkSfQO8ofE8+yaMF7eMqelknLN0kZDp2fJdMAJlOK1k4AW+8CqlXRaJZulcvhu3fuaQLWQD0SdZCxoJN5BbVva2VQtH0fnczxKejcxUGkZNIlGngc5K2TWizTaXF6bg6qxXbYLKqOgD8jUegp3V7bMHZPO5VouyqDfO+IgXOf7Ern/jezlPKsGIacZ2q6gjnQ9vAHF6sqc2Tw++IUQs0YeA5jf81OuOh73WyxgWMMLxqQvMAbO85LDXXDRuhKEeIa1IM2JILK7mp2VnK5tKFBeyAKVqWQcGcrWZnt/8QJEUN4kNFhKGSR4zgRFHaoKrx3SzCr/9/vXybXnu/0KW4VgcdHK4R0kX3TCcch5490NVlXGAF0i4mMvxKw+FY302TYYDRwdjhnlTFTL4HI53cQ9gnz+i2/POEDTo9uBnc4ctbDzBbVjoFq5MfjgGITj9W1KINkOb/KG0EkBKbg4UNPLQjujleOG0ql0S372KZ3GBqLIxTHxu7b3KlGCZ298Aa2nCYSDLI1e8XMD3cLDYOEyJNgUudVc3sdemrVG44rL70l0uNc1JUUuEyRHBfLDjXmNS8CiZD6T+Fghmrgq9AEk52qN/4pzKCw7Sk86HEtWWDZAoCN8MmHSVz1HDoWRJtb2xER9nBEEYlzlF+JIdLjqaWFOrHnTu+Cttpse3U7w5JD+23Qd34BvEd5WYWoaSxGC+1aDjRcc941+Lt+nn/UK1zO9oiodRvRfjofc0ERKWKWhpzC1Dli2YxeuUFpdUbo/5ATE0wq4JZubOnrG3bs0qdjxv77EX+KYBHBiHGyX29hrlYfo70Elf6K0uFBmLiFDncXOrLgXqYa3FlhtUrOEDzinp/phnlMitdBZT38yoElOMZBWW83EyWhFBms7S4Agy1DZHGh/KBhOmzcDG/8TdZ3En26KoalI4l4rmHvAHc3tkBP4oecBmjewUIbOTHGEDxm8F+KLIaTCF1opXs49bZAqb4IdKaQyPgCGWw1RAnL2wSrYaBxeO0J0/PcXeHj38f5xRh/OokP7jbf1bRoqxvZoJTDwn1anmcyv5c7lOvk/yJ47YMgiVzhPZHUPXYGjUFKIxBjd62wOGW3a7vdEXihke561Pgy+2v7yEJ198T1aDEZItnRcnn6PrE+reMCHr8x2va91QIt30+rY8wcc/Ic1xIK7keINLsi6hVz5x2gCE8D0AgueKf1LfhxkE8W1EZp1pRYSdBA8TffnHQAq6c4SXUSnrw0rIqX3svdoZvzANPkzc5ULZh/a/su49R3Vg0D0Cc6KFvL+5lyUdM8NZUjUb+Kxwbecq2SsrcpUjFUDfspzS6s++KiI2Dxyd0tt+yPHZxpFfxkfYanfwSJH3GYRxTbo95rwQtZ2XD9SVlyGk3yp+zub5JHBlHw8kWJo69Es+tskYF6IE1L6fMUkkIkZcDMeIC2HgtcIwLIyBL98GlkjEft4maqx587hEAEf0ajfE0kMTseobLoPbPgEjev/dX4XoF4MpNxF12smk8IdenCWVuBPaUnuip8J/VY4PHDhUk8tChWaL4UKjsqPUD31+b4q9XVAXW2ybCYaOReRYXY1xBLgdEAHvAFiJUPSr0FALiolQgwSUffb0X/97+jA5YVq1K99POMXLtw97ahbe3hIdxf506kxpLLNt0Oy8Koh0Xq0M+ynZ0L0n9TCWDaquHbMku5TomhrV2EmHApwgL/+Zwb2WnDg/kWx+B7a/OFWRVtVtOLnaHCS/6PtFNsmaH3cK60yich7pychRcOnciAdvwHEli/ou53v4ROS3Sw4tn87emR+PhhBoR3L+lKVcsstNfOlkxNRWKGT5TxApPx1CLekDXVpl+ck1iq7QLuhdLQISHPAnEM3GKuNmvpjJG3Q0xfAe09F9S/KbvUiQCpi8NnxmkJn739riDk7nWHzP+iFJwfOoYqsQfMMnAwssN8MvXLP1HAtP4Tb0WViv2VnagOwrBR9aLWAIVkokZWxHgcuegCGRYJS/LMYtuwm3StwkfipFeI8TKNQdjv45zLgKe7IKs/PKVzo473wWk+XEkSEkRyb4Ux1mF+IiL1NcN+uMrAZt9dUx3osw28MZbLwotswUN1KqlXirgT4PPbOkZcbM30sEGzH39CRi4aY1Uvpmgm2DFYbhztFimJpg2hbaScYfeEVc09Z/NMFofYCDlmiabMCSuYV7uA9NXV5oIXmxqKZkA3HJyGo9FdRYD2W9IWAxa42wB/EU7kLWK9MSeJKJHNUyNyPq4GrvOo1Fu2c2wB8oM8/NbrJXcus9X9MibqeqeAqfqN56HSsHeBxfJ84pUYcIig80q0USsL1ACdCAeKW7KnEjeJXGDqO+miec5T5udHllAdSiQ8+MDH+4nasdeiwmoU/pKIIqNMJDbeq+oMpJcEBr0NaVzHlTdwLP4IP5KYMySU7SidHdFw8HvYg15ahN9WrlK1JOfIrQ/KI1yZu8y9z059xy+vudjN7Rkn9ETGvaXbrJT9aNUi+bJf8hY4PLbWrvRRaDKFVs1ke2OQx9TmSKFaNAuuQf6Y8Iqtlmc5q36LZA3GtTshkiVUMXX79/0HU8t7XYppilZkoaiEFp0130Uz0uewuf9UbP6LBiFqd+j/ZMtxCWlly2/xDjJZh4RoMKATBubDMXeSVtC2eyCh5B/1DTR69kd6Fe+qUmwkJfPiO8PrtWRUCkdgqEMhSlPnm03V8xulirBMIXlkh51scuq6vC6XgmTUwnPwVWk8SQ9L3w5k0Tc4T0e0zfE9twKZnibDtdbovgCb0WQvRh4qeZmjN1Wagsn4gj4rK19I8j+RVqwoGD7xNG3X8kLO69si2RmgB2I+wOvjDBIY7U5KLtJ2PzDOgWtmrJuFboGGkEhiT6YkerCBrV39qusfuiAsN+da4FNATJsjYByIeIeQO0qn+BLIK23EL+Ugg5T7n9frsBBUQAU5AISRsE31iTiM1a1azXMYxEPXUXJjVL2+ZRHOdOi1eohzJ+l4OuqDM7wCjCvHwVg6xWmUbe6vSQUijXmaAYnNIVqLX9tH1STFsTTnZ8gYSzRm4/XTdeVLs4g9nZPY8ZwnZ/ejC76YiDnvMLKQYvCNqnrP3N6dIvGHdtMM7PwHcSMWaeL5c6w0EgoPe9vdyDgILHNJda2XidY+V8jJsttI0g9iOxJubodHwjxSDdxabIbOIB5NK6/cF9LnZFpUS3ov7qbaPKZA7F1o3NQ2Y/xGBEQ9WEvLhfH21nOph9tiYwrL76G2jNIEVZK1fPlYwVOnRTCauivgiDYSZ2DU6Tjhy2oBNgSs7tPTLpdb04EetEiiFncr2gS/ZrLczIzyOhkWGxAvStCcjCXNd9ZWLtS2mRz80N9tP/JiKQWzZuTT1F8iEaLn3AWKzH0fdymO0x/hleMAPQq030FI3yAL5/MdYlVqmBtaR0Xzl0wLZRuwe5V6pcEWPPIV0ghQTBY0+T3mxVRO/DNccSNl0d3p1UJ5NeuONPoUOnaWwOFXpJG/BTlULisGw4H/aDr8juyC9ppjQkVn0s7S+qI25dsIFLWh7pUCtzq3lkKsgrOXz29D7wOkrDVDRKU9p0vZ5fzgr/b5tYiA01FqC6qvYDiZkE5QoTJ/2D+t/WL9xm7iVfSS/LcI34c1Tn9G8iiwc4EzZUPsx7/6ZfTArYAki+OjSQWLYJZrrqjlGCQlMb0rEvjTftJE0qgiLt7b7xciaS9eSoHkhv8j1FTUc9M28v4c0IcUJebaUY3N0vFMWt955LF+kFqqslBgtRcvsW04tsSA1pxvNoiyxHkaahYd/Or7tubgybG6/V51XW29eF/x5jx+ybXRmB53/X2+utQP1K7SNpzCPtYfSeePiX8putx/to0vzhS0l7EP1PBTiSyfeCghNiTcJu7L9juxfqLPNUdjuZHEzA8tn/88M3uxceNfiq1w91nWp18ughEJuUFD8q4CO8LFy7dR9vuaZzv4jS/Ll1EYHw39M6PhEe2hZ5qD80/1b+vDjouVXEFb2sJgl8/3UMv9Tqk6UV475CkS1LOtozW7iNzbSWOrcNAr46dFedmdMs9z55ishofkQk7h6uK65yO2Z22PiYLQSJv8kSNhh6N5iJmaaIEO7eYphMsFnpr0tq9Tdpcjud9fZLfcYC9NkGTtJebNBPYclIGa1ys0BycK2ksRM6yg6xEoHE0992a8onqvf8MbiN2dXk04iSvaXaQr/qkH3OwREj694TWKoFdvsExlgezkNw/azWMYvFwjCnCv3l4MG7Mpv4301mu5MPx/AnPyk6uTCyQ/BhTVKtnJ8eBtYEdywPMY6NbDX/sN9ePu5ucBEHJxCCEYJfrfnh4Gp2G14nmgJ9C4ca6aFBXjXznrPZrf/sJ06HhAdNtBdwttFNJQlCJi1Da+G6DB3MEVgIJxO1KHDvaNfWTH1Wa54WNWmQIsD/0SVLgslux4nKc0VluyVt/JiTg4lhgotl89s/wJqN9W6Ikg/JjDZuqT349JbErOC70chaZXGxW12A9yf5J42GWvC9FjxzG7vDlgS1lJ7U+6Xq2LwAlZTTY4zRXQJlwSPY4gkPgLi8/jye6INVZg0+rZ7UXZS7AyX4hdLALgX9qMxm6ZBXYROSWYEOp5LyPQqmJ2nkME0/dzP0YmLu6lU1UdSO6oZR7kSqN47rQP7sQcizrg0HQI60aV8zoXqaXlXr6l6lWpVQMwMANtf7xGTTI6IUnNYx2cae5U+XILqQ7VeYh0wZfRQYXeYNLlwq1hB56SJYc3TZynOjfre+Nb7ubjU3ovNASDYkzy3ouKlc3nq94aUHEZLuHw+m4sgx+or2cHMrLJ5V4eDqnw7QD+ZpPCXvdqtl2k516U2ciq797MWoYqMMB3Hyiv+iek2bETb3Q1J9JiBSW5RaPzN5KwR8JXRaMev7m27u8r+tHy0KsmVN/WfM8AEmyTppWKR7HQuayV/Rr6kQo8NSqMMODwG4cruHX9fU9AKwhT+Zp46AnOMDcquR0XdWPI8PRMS7ZY+XSv02OVk29WxecYHmEEnPPmsSc8lBY5BcMZcRWE2mEJIvF61jJsRIo22VKfsnt0v5cqjf3vvX9FXsfyHq7NiuKDUT0Oh6V0nbUFsZj4p2GeWG0h1G7dlVih5/D1uYw0z/mUD8eqj2i6XCT3hhDcGWqy9FYUigP78CkP58OltsnBtHq6VCol6PCJH/ZyxVo3+LnagBVKbIZlyvG5nMtEIS+jDcS+P0o9srkAwxe3bwkignf6ndgPzK+A8NRdGnPlCt1TA/+s0ZeUQ6ZEHrkT8PEZ7ccQbkJ6DD+erS8I+a2Y/9IACr5tza1oy3llARwERJz30cG8Ip5N737ZqdrI6SWpHh7OWxuooXi1BXkPkjgRhZ024jAwLmxzKsosLiMOQlC63j3dbxCuJNPZgF1y+yKK4IX8hxSV7OM/xAU/rvrnIfjGk/lFNpQJ3bwe9junCXG2MbkTOmK2yugz6vrqG6I8qlA3veo32cpd+uf2RgtPGb5+CIUxjbz76dRetYiaN1yXucL9g943YeHzJ+xPNxAipySSV0hFABRDBOaO0uIkkTn1l30doQBF8daoqEPwsEbjX0tvtD1c9azzwHT5QULKHXAO0stQm7uQPlKbXzoRyMgk0QlC8oCDnzU38ihnJGrGJmFeQkBWLeQR9iB1AJNIX7W0txRFK/FXAT8rGC8kyiiB+ndRGGKDRSB2Fh1pKCtdjN3vBbIvCyBFnEhw/QaLUERXlS+2chUWudU7fnGEmc+YEeGu8SbICzls5TwWxWfxz8YIQFpXZjzrZzslBXJpoC0Z3yFf2Kqf0wUDwWX0vb7rDbuxZCn3gyuZ7JWg4T9v3v4kSRUHNMEjWuKwaTC/bcrwNGMc0LzE3KD/82dDDesO9Wv3lFa5OP/tzongYpnZ8bWQ2E+rxzhgoODzn0RG+mLLlOyNfrOH7jukBTXazHtBIt7ljFJEVQQNTE/Lue+cxMsOU/hJ/o9q7iXPcPmptwQwTiQTu62G/ZBLAcrUQfUN6Ytr6KN95mzTDQp9rrRQ10UcBRRsvvRFs8KYzQFQdjngWpCWpT6Hg18539RNTzYpGY1nd474usUkronMgY9iQ4zIyIipWwKE26EkB8KlII5yDw0roV3DQRAwkaJUWpVYviRgejHQ9b7LllhotAE4wB+zW6ofrO9XDhX1h3Vv2nJaqQkGnXM3lhUSZ3PyryRvM+WYXQq4iN4fcLFORrGj6kd6SUO+j3o3sOR/CYymLPx32B1e0MPtPy4Z0dLNIV6QU9RdfSDNa92kRjmiCEVSeHYgrsYL6JC+XorLvFK3CxmLXmffz5QHgDq/3WoiHTvx7CbW3ztq0JkfniDmpqf4p49drNdgsLA76IeWCZoKzXdhXwt9q9+x5bDFFmAty0E1DqQ0aY7tJTYsGX7I+AmBNhcH32HY2d6yHtxc7klqS7SaqX6+2qzHuyCHReBzhbhmVEmCCrA+dUE4RSa6jXZm7V2QWyzJaD6LUmMyB+Nl1wjBxjiDaCIvqanqqO/wO6CEqsDrxAP27mqwQTiuLak1aLePeQyW6P35eGUf929bYDJ3xHtWhcaSTHztpJLN0FXzK6QkldKUYMpzMKT6GHDOHfcZgcpT52TEPw09z7jZIqtiUuCmren85/Y5nCNwYTD7xKJt2teSkI3tZ3Vcu59hYGcM9uW6c6JshzyH2Ss6sQvvDw8g0oUKncuJyXr/mmqqyiTi47DE1CNX6MFB/2EQGQhaYVli83k9aimJAWBEb1byfffqq3LEHbKDtznoslA5G7aK5aKXMww1XU5nc633fYoGKB/IaPr/PJo2MxE4HaKcfNMIN8bIQQ6WU///qpG+tZH7bxkbJOTC8+o27uWvrfKuqyv611hZN6DOAvzj29iF+kuNgtu1tKWHbKeJ8unAV4QGuOOmoG7pgkblo/m0ImBhaqrxp51gUy1IYTbSLy4qOCM+co0zCddYjOv1cQOICs2mlvI1yYSNfuQjAUiXvgiZqz1kNiP0GlELrdXqW0zAptcJ3m8hJLziAERIeGOLMZvsIZjyolC1cJNqLUsPFtzo2kPVJUprIjcrHLCJ0HAI/U60UQkg+04AJBhDpuZsa/KQfShU0G/fbpLX7temmMaka//34y6bsbS39aVketC7jWDZk8b1wMJr/veohJv8aO9381Q0q/QLTPm94c8uiWmukjirBL5cLSCwAEpRafB1UzkRqPNsCRG8QI1QG8L6QMtCl5RMj/z+Tkz3iG99Kd4SwthRupWcWLH0ZJLbcV6gyfSadHRcRkCV1Z7ljX9DaD7AlatzWVwKG3Lfnwm1CHqy7CkZDZG3F8od7mb9Z7AzR8eql+OfuuWtrg3td878V8b4QTSOs8rlwVrJN0CYrvnYt+0VwhyBKhUuS8r+jnleViAcXiFeOL+UNPYdTGtwko7a1kSGw/rHnm2/z/WDzYZAiLWSjC1rWWC40JFWl1ZkV00WLdZkcYfC55xbZ3pxtuz2OUhz1beztmb2L+H7CRvEPzzcGuFwBznqe2zVYWOIaZOS71+SxCXFZhWtNsn8szfRvNj/eVxMLW14zElqEhRZO0pgasPKIj+79XGW5Wwiu4sYHcIIvzskBCnPsYxMlSsT4o8sDdfj4n4CRqfJrozuee490m2Vuk1w37Ca4sPV/9MLjb2g1nDSrBbxP89IRsuLBNHCG7XrXDnNJB2Y96moFfPQICHeyj6Z2nKWygnA/BWUONr4faf+NTW7dcqNMxFk9VgmylL8z39Jfc1JVs9/hyq05ONwCvItJNfUO4LeJ0+3Fc4m9oHKwvbsC62Ek12MVk8a4Vehy4mqxlzVaMxlufoRCRePyl93iKSEzKtanrYJI6aPnvYNVSEb6KnTs+LtOolG+CyJTcwwmCNypsCzU9wh2UkiYo7I6oPsDtvtz1lMqx8ZOCuFwIPkQbGTqj+KYex7btELEWGHO3AuOTDry+wt3kxN4C0r6avAtn6t965dKKyZGHzYvoUSExShv9dKa+IhV86YyEEF7XY41C0AY+bACHUfHglTLvo0LOH34uPvJf2xBOpTPmkSrO4VO2JtwHXgSKJM/KtjFLynkK9Jvr3iyqvJGCbq+a/DUqrxJ+ug8f8xGrb8526WP7MLl+24/gQr4UqE9LDv2ERF0CrWTRW3Ski3UOlZNu9uJrZxYRq71ox2t6o1iSJcce5j+HVU8ZZxMKhlmkGkSpNF6Y5/gdMQHyNGb/ZsM4iEL/FLltIJZue7ZpJPYDoxO8o0e9w3tJn8o9nZj8iR/0TIYpFb0X0nQywvPgEibauZiKbBQVD4aKmEGeq7eOovH5BIyTXxCG8DpS0yzE7qyc7Ck3hE0zViEAS39jpyhmQdVSMRkEFp563AlMeKX3XNpFtnS/QaQoWAky3UHzlMA5QjwbVHx+HhzUjsiebT9xmwQCN2hwlSdtBYyc7IP4X/ckZDx2+/5fm1472HHF89vWjnF20M48zAvGXV7n9A2I60Vp9eKWVElw/t1nIiHm4Dsyg+U3+oCHbp0cR1AInOSFFBWKoO04ZOg73X6Enbt00Ya1hSbm/Mvn+FJRVuFSIApXeNyjKA3RV5WdKks1MBalAm1t14GIZwNmKLEaW5K2HBm/8r5BJCgbsp2kk/jvl1D2cbvr4N12qPhnfDuuJRls+hRleffeOTzi70JKECX7EUw+JURH1D67ZEOTzybd0qdOEmZ2hpWZIKdj4d/9TtTtInzONibykdM8GBFV90NSN9/yh8NkafCED15K3hD3AFXJur4Sl5wQ/kpDfmIFcVet2arbUAUz52EHBlXnztOGPwO9gNY+5tiGQoOz7enEgBPsLPEnuC4L8JD1cd1SXibHJSAPfhGZL7BrHyc5sOH+kz6HE+13yeE1xYLrRuWhg0Vr1IMtT7Ifszo/hP3xsIyIqyfxkITptr9Ca3DrqTbIUbD1Fpbs5hYg/EZb5T5CoRrLDzN/tu5HDytBaf/CzGHBapy6+z2kEnNyadMriPXm8tF+d6mpVAPFCLN5BKbB8EmLSMJ+EYbOFESAhznNx08Psj5iIhlTQ+5vUJtVUaqUNOrlLEsO4RRUSlcQZnsqfYqWR92WjoIVknv7ujiXUieXpJqpA8zWab24tSv4oSoJyibGpRv8HYmFyNSZeJ1Dkx4j0Bm9kcxtcWuuxwOodDBXKcNnfIwCb7ovbXu90K6qUaPNVRT1r4h1IwKTtuqVTQXJFxHOM5atwg4vKS1WXHGuACwbMqDQwKG0KuzLWBpi3LlU7GUjsN6l4soCVr0F0rJ0RhQsUj6GHyXnn5G16qvVAWhfbed8FT08D9jeYGtf2oSDH/XlLNGz4bVHRKdmOWrfrZIavSpQcpYoiOOSERgFOnf3J/wZXh9+r4umwT+2R5SO7VH2XEGBsAnzWEKutnDqIptP1juIgtjx4Osy8WPbBZAygKKRQFjjUdRe3gcabztsLI6K07pUQXSRgLhjGSs7bpxV0Jrb/s+r/BNDAw1CLb87HBWmI7Lo45S18oill/zLgfFY80dVtbvXlg+GsxPnnxWz6v/DxHeSU9Uj+LGrl1935i9/tNnrUUXaflw5nWSIdXd8NUqB8dwY2oz5N57cm80kMgQ/Fp1g9IkHnccSt/NsCUmdfXBl62W8MbDgkoWaoGpQGA2l+I1sapFUqXDvWbKIN/YRb7qG36ufWjW9Dbb8IuKQxFARXvEZpKlkV+C1W3Yj44shhOS3ztUtdxpfIaS1m516zy0q/sSxDBcHLT1XmhydfuKqY4qu5zVkAY0Q8VJnoadZTd/SCNHPkLhkvWO19979H4oPbqcrqkCIm9eRT+P/9VKIQVzvGWOQcVg+cXSw5YkaTx8LgVCSxN6X/tRMkVZ3RdGb+uke1orP5r7zRN8nQwP7IqW/4i9Vudq7HFybC6n61OqQfh548pW+iU9rezPl56X+jA6tCJgeUBBJMTUoQmN+SPOWbC8+z68LdULjE/9onF4V14a/O59c1U2+IIoIa/zUKIbwq5Q1XveWOKwnrbectUemSLViH2ZlrKenUFTV0mJcmkQJ5gQ4R6IEIhCnyIo2H7ke4Jqa473T2z7tFKBZwWK0O6eKTWU/wxVqM/iTc3WQF36fewTjbqBZeTJkw9rgoR+a/FkSWquircFfFlF/kEuhZTCoSK88LYpHiQzUGaIObBzwY0P4PHAb9Cc4LNoq54hvkJxnDi4cArJpIRWrGfhbSUaRSSgA2YsZWDnRsEAHDOMT4tnZm65B/45sQopLAs9Arw+S47Yo74KAMRL1Ohcfq8O8z5EBLjJbFbNliCGyxBIivSkZZIt3FqYgYfH8aV0gWHJ/zn8vPiJI705X7gw4TvP7Hj8k4kXJNO5NINTMoYokgRt0tVlVYjHWXARVOIDKPiN8jiJxsBHqO+RUI5bONKrZXlskR55c3yX47e6xDfWGf3Yoh81JfJ2NB/8SyD36rcghpIcBfuzTt7yjqWRv9M/YsPWyLtFgDEHb1/uHYcRLhU9lfPaB66bjp7GxFrG27FCnpfEb7o99vHDf+Pi286q+7MpY8H/wC2dL+Z9LQnlUMRn0pSRT4Tu0OWx/+7pj3XDeha7ej5Fk6CJTlrVv/mYaUOdckkGRlWq/OP+dXzlFdKlWXkOlsatJTF21unA+kdn6o5pwdGMyoRYp+ygCx9SA1PCPmXiXOwawevo+6neUd7wbKkrkm4PCl2TKGWCZN5XulWoAtZdC3iekBQEW4fFenOkAulNX1RXI7sSW52snTi1lXVncnRf2hqSPeJSL2ul4Nmet9wU4nVyQKRifPb/CANSnn4UCZVmurNsL1REVY1tu7AOlHaqSAVB9/zz70M4/aiOVnrz1Gd9zd/G8zef0kmQjQ9BqwY9Eaiijclwm634XuR2iBpLoKf0Va2tvZFY7ZYou2r3GWsOax4LvqrR0Rw3tDhihLWUX7QD9RLQP7KkabQFGLpJMyjFNbpC8GJFRqwBWmt4U2WiX8H1VjDLcr4IpRfay4q3iA0U9cNlcvyt12qtK1DZVRXPkR0ZmGDK8SFFtg9uEaXKcbmLHt3mKwUg8DqcPa0n6u9GmRB38yRnC0FwZfUGlZiz+vruD6XndjiAlGXWZrEBTCC+3eG+AQsUSrQzxseiP5co4PJNx+RP61gQJ8AB10WKte2uybfOwuOX6WfA97ewqqe21Pz1GFDNGa3v8zSE1vR5GxvENLMp+RMIgLLWm5MDqPKvzN0WwJxZLNZi2kQKJhGVRau6M+HdQFZBXv27NvybRJowoXea7GApFZ0URilgm5J74G/eximrXeRQr7DihHhriyBestOHa7NhwTnmfN3YCOYO2yy045TIYIkZVWLbLTaUqcfkOAcUoLBOEtKtDrCqrFzccbc8EJzi+Xh1SHTd89C5HVgT4l3IMhUjjhBNd4O9vRHbT5CWn5MArgdnmPAGaTL7J9dQon8lamf8E3bQ3earLKCQ4NcPGFNXbRAn+WneG2EZq7TzXPRWY+OMnNw7kyUWpccNTCVKJG2IBuMhaHNjqAHYErtRZTbbn17z0WFGdQqUYRTivOZV0tKKBFEWLoDve9ODRda+sCRwySeIx90xKAMKquAZ90JNVOyuvAffDbuTIGvw3aEHnZSr84FnQCho7tVQP9LTAVgKCVAyjG4hihB3KrHJ+w2MEUfzBNJkAU4Iu/+729oXPaQWFL3RxF75gM4+DYQu8XSfTIKLkDd4YKJUPZrayOo6GT0Av0JjDrY/+GyxvXpTazxsU77FbIl4fUXf0ih7Wkf92AuEHxdQiWEq9dpX6UuTfuSUHSepIwHvxIL0B1J9N7VTKNroS4b4yB7mbfu2UyJtGjBgS0ABP+z8RyWTX/9h1o7Zyg3KqPAtkZq0uQn1/PFXF+RxT7wXmal0lBhiNAjv1mzcd7IG+whu981QmimVw6OQzJVSlKl0kgEbZQUmlnMC/UccF31NHPtevOiOXRoPshwDmk2Mz/u3ihNbimh975d69s58h31pcUspQ4H85rbSkIk/gooITCdOljAj2DhbEQoTl3ixmrFZA+WQP4ze865h3Turru2SkGrPT9W4Zq1fwyykIxYEZiHkpZox0bvlvWqfbkd9Y0Im9Mxoo+SKubLCHswpQI7zDsRxvrAKMIWuKwW2L6vuETgYiJLMtIyQR4EGLoSVE1+jNfPqh9LdtSGddkXzeCC5ZTbDRQ6LHYCMemHSte1pS2VorCxFarZKB83I5qc902gYlLkNT4x7YwV8/i7zJwUrEluLZ4bfGkwxXkzJMTls1GZ3EgsPSo5faf9gmzTvFJnq2RdjDZ5b44+o6f9GBJGfobZ4KKMpLdTHQRKKs1h+S+o76ydDrubIvnaL2GvmLucOo0XQ81d92BN0oYXTUwYFkZpu7E3lglT+kWXWZ7xWwPeA4D2qQgg8ePTBQZae771FosrEmXbr8+1AEe1R8vFPbh5ykRtgXZ4eMmJH6qgLavHkePDD2GJFzMEV+huhOPBpnYJYblymG5XfGJp3qyqmPaIgb+vMHvZYcvbfC4j3BUfT4OuS9iGI7huRajWrGs411oKnn04CpTz1n4U+PBHu1B9ccFqZT/37tdJqRcpy9QwLQXD6LrnVADIGXSE2ycQKiSmwPQ9pBZA47rAcQQ6iQARygWKBvZwo6gvUfa1uENDPWxKnQnI9+jhrGdb9NzHCvkrhNHiDp9iMfWE+Q9S83kCh0iB+SG/oojyZzM2cSG9rjO4mQnTVcALgPCn1jS99MwKYaNPHMuTCs6cVJbiBNi2IPo3A5GTz/6AeejHUfiRml5g83kd0QPfQYevdJwPn9bRp1wFl9IRQtKrzzxPer7BfTTHCsSxNHxMUQhKue9aK95mkoPehfnri3JWy2gsuiQj7Y0dfpZ65lKuBKsmG7tgOtEEXXUx3uQYQgSccpkA+B+DTECveCynYg7dizEqscbIs4cklKZJ5qHcDnziuG/ir7Xn0BWk9FbGXPIWnImwgwsgSM/wZv5Cim2sW0ItRBVSkXrBjxAwfR2MSwaPDlg/FzWjrVd0KbSI6UxpvpGkTpmqKulFrjqqMsNmOtyBQYwzBNXMdReZroWKZVv40RyjAcHgXuN4i9bdT7daeud+NlsIKkO8gt9y+1fCv8ShGFHg0Zz7Nm3axooOdo0jwXm8zf/3jqREQOrhDvmyOuzpEGo38U4er5Y3nrVUlIn5m2w5lW/+fHM/RHADjs+ItdlaNlsPvJQdmxf7SR9+X72p8zQM23/IpZrCZ+gQXYWvhUIk4vO3UYeh4zZktrbVewbOVKbG4rzszlfR+VzRmQ2rv4taBdp/OamTtW2xSty1NyuBqs+VrxHU+hbx4BU1NRnpN6rsrjYjETW/pvrUt+uMJGiSG/Ukve+BFOKtPp1PcfXA1a3cCabzP8h0preRdBFr8AQ3veL3X7B4qQpj7/EHbvLyH7kTvhRxJ4oNMtuA0XdtzKeePETyorZH87JRM2RJ1uHFgsMS8nnfnP2IlNwTNHd/B99FaJ3XI+MnkeeyC5nH/MpYA0kAa2Lv8kMIDYAQJ7Xn0n1oV38OKpNPHFxpbZOlFSv2yXuzGEEhJUeYN8+wYt8Ugo5NZqKWoheUxZwNTY8aL84S/Yttgy801zSEFTFzp7g27dVMFhhuJ+2Tnmoo+xFzwjyYyzCBBM8PNsNCz/M590+aerxBfDJEx08tmGDKKrdIT3izsTH2WAVeYqjlinYGPQFPVg59JBxVONpllg+uX1JsDa5ypcZY68MNNYYe+0uZItlVU2K4n0Oi3HaIt0Vl64fEkvRO8t0T9y488Pccjf0fhhgA4yUm6vuYzJTyuLpJpTgTgr8wEphvbB8ASnS93Ou2xmEf0blOqa3ho96++fhjbHbMBShtfAOMEGX7Hr9oIZg2KDiwzRTc9Kl45syc0LK3igRq86EA4eMffH/t7yYWv0nFWHnGV1tR1n9PrejQOB2HufQ4M0PYXPErdMymvuVTv2oC/FECnnepbyCopggf4CpPvGsGokX6RP/p6CK6KSVIlcQTceyRRHbH+WYpru8Jn5ZJ1Vc45GkHxjc3MsgdC/ZDZPc1n0/raoUldN0s+4gXDy16H0/6nkrSL7M7h0yxY8AnRJqwvQ384/E6St48+D9B5jN8lHikXsrHBC0CB3iGkZqRxbVcrDvf3vgbOEkXQzqmHyimT3cNwn8nnMk/9AR4aR9E9ITHlMWj1xxG0HvakVspC032HxtJOGeBEzKSAQD2wx5mqGCPAHNEeemT7rxoP/Nh736GwTOcKbuSS2KlfFatzEQU+xaHK4W6PEkwVmJvUemWEqPugmR4/xrDaE76CkilABXeMil5azfYAtiQYDaOm1iM6HExLt2nnoJ1z9ZJtpYQ3Pz88mRC6raOUykS/XJefgdrnfvnGrArEeIpsX5G9USvuomiL5jHqc2TdxbRQu2gpBmwn7oujmfTGGrt+h4GbxvTuAaUsFeezkgBUCKvjPAMOcL8vxH9vBUg03IFkCetJ9yFkPMOlDIxdKjPTkgM7tRlznMkIPN5K43AUkZtoFGPBeqrDbVyyOQwVi18AGlezzR8bDc/KWwXZZeoKyBo2kg0dXeReyT444AWuv4OzKYROj6qQHfxc21TTtxPBb7n45cYrpPqFK3kW9Ei3Or8FkpFWBQ9tZmUjajLTJDSuoAnYq4S58OLlBVJSwBLokPz8djVJyU8tFy9SSYUOCJMIo79Kg8iCJo+p2/RoB3voCerD4tgKqRK4piZUzwu/iyshnxcHKtkg/SA8uxE29dYwlgUmARWz8Nv4ZQFSuR6owiCaFHnuY6ayDzgKq5w+X1kdl44tTvHLVxSr998dnTfJ8omGLXLyT85GtAARYNQglvbNKKgHEgsd1FZJ/+J+H7RFRV4Xe/izOhEpsC4BkGG9OfmycTha7ManmL7PR8Ldy1K0YFKNLPEJJ5N4YJdDdteiCvqaXzwuOKdGDXVCKCnUl25e5AwIP/TiEqLvbhKB0gHbFnj91uvg+2OydhhPg7Km1b/h9QC/1fLjLQfF1Q9Q7pgJCDzw8n9ZTO8VwwwcyjTrxrAYvU/WTFbD3gh4xPeZLQ1ihDnu4blQdFDxTnOiA6R1p2mYetItcq+mfvTwlTyKmi+qCbuEACETPPFKGrlkNvxFxQ0AAjT9xLattuwElui2FEPdoj5snPKsUqT8WfsVd+AxdLJg/3Ig0TAeKH5lAEsrrM2t5t1y0bLirlApW3LL61miX5DTT0FwhBqDJfAJyacJ5GBuQDII39kN7SE+4viCjnCq7a6DsHnUe4v9tCWEqmUeT8rZ3tKzCpU+4dFnTuL281bpSimmXToTkXi1m6hqQL6zlCJ3VQZNZuO9ik0ZxX7tiZ8MF+3nSe3OANyyeBoT1KUQ9neTalT5QPPJkpU81o+TA3R42f9h6Slh8APLmQgjKEllXV+6QTjKd5tBwfII7R/3ioE4yAPbPrUTv/f9UdB0Tveo+i5CkyHlBFsv8LWo3tIZzukTjc5l4W6C8cXyJsYAiQ3J79WWaNL4NTPWbdGwNHsIsvM5FWIVM/xhJFBSx53gDi60R/y8os8PLkMBzuv7Zvuaa4q3jqrY4zXnDBTczwgTUp8YT2EPMVxbU0OLjhWuwfaImKHkqb93pLhut7XR1JbwPoi9HeqqczbQozkbbUzxlUnaeBO/z/LKeCod5Qc26PN/iAnCdPBg1604mqtX6xLuNSC4e+3SAs4yxKhizmouEnHcdqsQd54TJGi51ta3BU1XcWUBXexjf5fcWjL59h7dt6172ySFf/mtViNqlLM1thg/MGLZm9U0LbziQIau2OqETvEw7Oo/PyHtDPXWpnVjNN8T6GG3Sf8n1obObGA9+XoXksgcohEA2ljmgnqgcjWAXh53MRjsXsocpHIicaQQCAQMiljcRG/Y1MQNdUkH+vwhZIKtZBblZLO7qoYI+hQt+hMRgBZamvQiGmGCntQgGCVSOn/ZZb6KMvGoosThqjl/5CA/d7pUXWgspcOgq1VxVPhEpNmZLQhYrmpuCLPud6nuCJ+v7z0RrZ2T61MtV9Imjfq46jhkvZq15/o+RMRGgBxGVmhDWMavjDqUb7R5x2zUA6GVf2GbrVmt8WeV7ztW5HQwPmJoOOG5zcguzxsP2g6tkpmY2ioLy96Qyuqw5aSKhLEv8jknNRHcZmlTrNbwY+nsn7CUEfcUfrmaI9ypiHO2lmeNOOZ/JkC26wrfp3LjRcVmornCtaxc8mqJL/SqgjU2eFLurBhm28o8I0omtkpFQMx45WMlLROoGO5AcPDpSaYhTPZTEm8u9UMserKGts3p8w2oWC3WNn0yw5vjR+HhlO4i6dcGL72oCstA/jL+vsH4xmwyWPnF6txzwSGi6urVr6dvh6ifwslLLCPRsLKP1VPT4IzZ2RRZKvNwF92YRM3d9BqRrFoyo8peZTh5OpdDOpIVMQBRgneJL3PpX2A+nJ0lPMar3wjDCFikaoJ3MtsRc6qq3WLvjeAEzyJcQn3FCA+GpRZ9YlL1e9ZyGKdBYPsFoQ1M24WT8TdI46RGdJJMLpTVzLHDr6ofBa6Waat2S/oNzN4OqdL/IEQjkTFL1+nCEy7lRF1B4MfjcYeARclVt+fIQyP2vaTIl70rEcPt9/M83mjkye7gbCfziDtzqSD0aEM+z2pehs3Z9qT9C7WrE82sKcz/A7S4UqJht9aRNYI1Gkq2FdImYTY+7CdPAZ7/CQIuvAJibAVt50C9sf4WPO7/A1RaBIQGPpxjEg14t5b+8OxH9Vhe7zRXCzVi3xQuSGNRwHzAZmz9/9DNqLfUqiDdk3prrYLL7LE2FqGQGLjx7oxAXZE2jd5Hfs5LJV7vrZyccpamfuw35zOLW3u3w77TS5TAqVg263qWd+8xhINc4H5Za0D36iElbyF1Q5ITn0IZskAxCtNyUot6GqKlA4UfppWhEGIqUHYhsiIwugCvnlm8BVVTnSSbxvOVka1n1rdBTuzN617jAqlqhztKl/WogRpw4++/dtqHRP0An95IGwX0o7FPJkDMiy4g1LQ1q3KzJwECdMyACPtBWKfM6hmoOgrxtLie8ofEvTeAi3JAEXdO2870a2ko+Dxy9aMcuUEFVOsJ9ANrWeFh2Vw4E7F7AzIC3AlIJS2OtEaYxEJnodMoD0Z3fR1pPc2Xx6Iodo7oT/pgGkvGTVt8EaNXfxeB9vne7LUbLiV61JvOcVrI0H56J83BgFBuTZNB7Q5dX4O9LJXnZEpzp96iG7wdn4C6lfjfsVug0XQcLTVSM3EjAuRs1oXaMGl/uQTNcHBBNBYIG0reygpd8cgfp3fNZPKeQWYIahvsGFj0J7aHbfavDBBGluO00mz/bYlW2W/DjZrhIv1779DMdYNV58OaYi32/Nj/aDZXVpKfulVexqWPF9MuSB212wMEIGlNcreUqYopEldvdmc4TnRamrSJlFJ5qPfnH3KYHR1SLidp5GYQ0HW3I92B0DhFUBk8WOgaT2veVRg8GwyILIcq608LROD+SQBeAvYMX/joEz4UTE1kOvysG2rcj7wZN6VmafNnWyhWfqRmbuhdBX8/z1SsJUhVjN2qp8b4WOpl5ry+7supRKpZhqol/ddAdWDdi+VuO3XObvYn/JoL0gfEAoeAqkh/oxkLZuaESqHMIG2m4AsyXT+1CYQ9kvzBD4qsyQCiWatn6Py9nPp8sF2bmev0wTa8iatVOhDWlDaDZ+CAvl7kpIB8Lq4c96l+Qt9rVQgxWZLaEFf/T6HIWSndhEfHj57kxc3pIhEJw7kF53+NOjvzc42gqcAGRsiGSdyLigcDZGfpn6KzMHbsl9hDBA1XbUa+wUq/ZtOl94lizU/c6U2LJaqAAFs3MBSYFY9PeupPtyUlAhjCo1vtiSqcunycEi4zhGWedLmL1eGcwdFDg9RPqU5ZISV2vTcnGIExsrYPVrMWVCrBgpQQf7cwzFS34pp3m9xviXqjPSed7QwGL793skbsTJbqoqcG4siJ7jH2WVChi/Zx5sMg3gVOSNsRnOW8pKEGjqNGBsBbglSFx5jfSJ5+ZKMJIqofAgvz9XVst9rT4kpqOSRFk3B6QbXCVpR4VJretiAxll1MdyxWd6D1swdCQ0RlsFwdEuXijUMoR4zXqZQUzBmMvM3jLc0m4oqNcWLbu8Qhwz2dA/iQsPoXvTubjP8ooqMH+fw621nQknvRx3JSq9pxEuwj0xlwxnaS+/EbbNJmW5CjoTE1AGpFVpYAUD+C6KyL+sgVJ+uBmGu4U5HPZFwxVZHqNAJTIZdHqFPaWMz8FnEQEL4m5mBMOW2Z3grWYVwGdsBxo+edCE4gJLIvsLJAO/lG2KbtZWuCWweqhENFVffUUsMUrBuM/iWPv/z0MZe+LMspSmVD9klS9tynjgUik4sE4aqoB8siTgRP+Km3qgpQMvkDhwKXe8ixxSEWAC9xKqlMflo+CnRB2zeB5df79pOxi4DKkAZfeg1ldvYTSYt+CMOxN8QyRhDdKIdp2a7PhADedGRBEy8f/wEYoF02dFbu9NKH8a4GIyVoIuTu+jCfgBnrqr1O8M554d7RoGul1Epp8My7SBy0reop8dwMljdXD9Lp12Tbyi+LpLsZcdH/KAihrOPDhjPx45HgPYnC2OPf9sJw5a3aDZhw+4ohmqrzkkAHZhcQZHfF04ll0zW8UQlWyqo5t9aCf4FPf8mINUDBCJ3F5QKX/6Qrj0IwAZCS3F2LOk9YVz1/mYDVP9VGRFU76bwPxq0rxoX8BlyqBrWp6iy2JR+JoCxzb4rXgGVjfyG3DKTaMAIgO0O7n8+4Ziu4AkyiryMv0ab9Xnrr+djZaLZZArhSl2ovemDgZzgIPZgZjpg7msjlGFaDyQ8Yv7JpV+EFCVzolhGDdTGhFh2I4GTCR9hy4/3/4luHv3JF67ssM1IN7XysG2B6N+YOUfX9KDjG0LD4+eIQm/8fLjcE8a4TSSmyf53Ceh+HInMqCfuEgfmpx4O02OyiWbeE/4ls5ylmyYHmtN6Ytzge3gIsSXxUmdaR4oeyn98IH6DXJsx94kGQizYyBMX5PNbkSKXdbl0VwJRU7YNSMqs05OWJ+q9evI7UsJ/tlpzoPAW77g3HU2MpWJOFjr18RRyA+5g+l9IJy+hya/zkjSt41ifSFwfhBl2pGhhjtzzY+ApoWxE8Xs90lk3iK1YWyoaW1VF1P6x01y4z2WuiwOdJzfxozcNs4ST38O4nbHC9ggPtmLtyTZ2x1f4V9fGCPe3wOtXohxNyMvqMIT/Sp3yg1XnUIFARO6Zo8TwgTdApy/aiHvcegy1jSXKYhTUQZyUv9dP6G452VqSNfMx1KbUpCOx6TyyH2bXD3bLbK/3g4Sbo9BJ8MZu9XYvTA2fCNoIRmyQqnPstsqO9KV/5rzzNco8oLnnJpmNJoirlQMtWjemkwvLzQetmys+LVGkiVPAHvkxA+K1FCzkdjbqtHgExQvj+6Qo+CyO2KWSzCoObLwqFcNFmTV+7fE1Rqkvk79AC6HYz2DBmpIt2uxhfeu2h43E+Aal5zSnGgUpmgJzew/9BE+4P4jLhFepf8x4z5j0UvtMgp4ZAU4wfcfwdFNHtrCUadf26AZvgUfPtmdrJkD3/ZwawKP4sQe/V8XcI88bRNBTpKApAKSVqABoxjd0Q0WQmW0hlyTKtAyetZeLpcYWAR0R9Uo4N9QXpkQlQiW1a7ExD7uqSUzv1q5B8Ql+EtvIKnfRurn+CXHiAcQ7jyYhf18LZB/X7R48FkvS8NA+NC3tGbvTC4uEgWYb1pL/kHh0EFxCKhKTALzlXl0yGJUadWCGFuwaO0T+sfoqe2B7+6S85Cr+8zj3i4+DcyMDk77ZRD0K1h0pgoXFoK46TIW5CDLOPzRm0yxCznSYgwa0x08s4Okj2pJ0BEu/OqKfzsWi5YmEwXI7Y2TlBqs6mlh3Y8d6TWLfLr7zY+qPpryDzH22y2tU9Eg03nGdQOLyZrGCIReH2w4njyb5orPJHqldPEp8CC4EkRUqn/qaXMkZsL2DDqGshg1MpY9x2/RqlxIpGyW46vjvPbxC3/Oev9r9qVGB+8iEptQY5Wc3oGd5D7rhq4+F+Ly0UVTnDvMbLM4JaIvWxLQhL+4WNIW+2k4XCxGtMNf7O+A1cKbmmka4eyh2AFMuhwZ98Vc33ZRj5rt9tDV8U5NPAfCvkC3Lb459miCoVbq1r5KXrw033/8xwh2zyLZFSA1SiT/mgpnvx6/QaQwULNKT9LofcTDEucoeCPPa1xHHDK6UtOR4MP7SUCwg/n+AaGxVG/EG9qLvM4GJs3VN4Vla8Iy9JGmOEYZbJiltOg46hCer3Nhez7hnVDjBjX8+udXLWmRJhp9PKC3UDeOjvElNsXDpcwJDB7U/eFORhOsiWBPj4RKox/SXMl3umDZTP9sXBoNEfAu+Lbppa17MOwAlzNDudwq6FUYuq96kfMjgcBakM9GjjG1vXUBKjsOCcBPY8rCbAKzaEISgxFj7KTbvsQloMQHaVPopE6O6ThOujxSjzsFAjod1DVWHqKVrfIKmmVRgUL0fj+LIHsbfMzgMXzeRaIJo2EqRFfMlmJJG4TO5LwJwrT4tAoLBO1x7kYCMvFwzUMLWliDojRdWc/47RroyNCph7hP211PaJCnC7m6pCy60QuRYIoO1me1GcANb5B5KqgdYRNMOBAviZFY5GvJUCrR2wI2bmFqV15eWRUeJlW9pUgGoM0C+MnTOT6abUO8bUKf/BAbgdUZG6QhQEw9C01TlK8K8wLItY5W0ncO1kZRDcYIVyPk+TFDtZzDYmOWe65+ccjs8S8gIZOLtKIyj7Cg/cFCz30eFjKIxHVW22+PlVR5jF4sWRmwzZQARu+8wYIRoZBbUSyeSNxMVI3a3mkunirfayCRrv5UDeQnHT1R+YyozlNvVXaRukPB6MZhlnND5Q1MXUO0FRaZYBQQ9plV64taNsw8fCCgmikVtuiB3sc+Bmeuzdg8oAVkd+rVz3t6nbGuRhTRSOSTM/gSZPCtCGwyjreDrT1KYHqLin8w7jSd2s/LqSbye6OMkfVz3aWgLFSOO3z9HmMOl5hoY7yixkZOwoLUg6NshMslqnIpGDISon7gVkQHHSsCZEEgPuWaShk5mgUI9g3C6YnD6F1P0h0mXemdAz2oTLd/snS2y0kTL5fPSOZ51l6UR31EQKZlH2rONSV/Hw9lOkStf+shyIS5z2tdIySq196dwN1QUJvJIrxD4ET9PVKeSXtVfDtU0cQgrHLHF2A1euvM1MRVoXhGzWGCEoIL2X5mSVdb36kY2L852yAZhJNleq/Jbv5ABb86tZ6pDH9WPaO9BoMNEleGw11N+Af5cBV+LhwS+h9DUFbPPT2kSqgFGrMmxewbtdzgqlHI6NxZAb5hEW1k8UxNd3+fHVsl8TCrIpN4PrfMFXzsiaFKwjJ96aspUDgRe4n9lx9Jrp9078/l5UBno8NyRmLmI3LIofdqIRAo+GXHcLNXIfGwnSg1Q1goFDRn4DRXYcqDl3gtmu2PBwp9RlzNkKWPFDQjKpRDrON+i9UT2o1VL0lGCAzIIL9e6Mw5tVPBU4Gfd5iVqDHwZl5gvMIInlTpOPodp4n+PUbcah3Xr8mIr9L1l0fYUbN1fqQwUsUsOMedmuPIMkeQ2awqHUwlvLdhmRYmf8mgZ6jeuP5sCIccTGz101d1+lYOHqqIZoURCarrwXM3o7m20eBbgrRQGaJFc1euqaNr4TLi92NQeUY9o9m5zuovOYCyB+UcI21HJepWwkAV7K12HEotimtmYFiVkHFLK8N4MxHihDOHBopjUl/X51sdtg6YtmTW0tyKcSjMBUAWOYMPgbQiViLBn8tnqnDkXPiwfmV2xsdbZmpvHxN7UU/McFc9gsMcF4EsmmzYlWcqUhWxs0KAVGZJdxd2iE07isECClDTYaNn2PjEjTAEytyFW+XTwtj4ip+XwbJR9vyXiSJpn9H7XKVjfRP1HmUcwZWeQLVhrkuDYHPkW6JVwYtzyq/0n//Kj0Depi1JdUw1C/vUaZS9Xvuwh1AMacmBbCucA1oqiSLg+HHbM8GrShqXCLsRu0s69gs1wcaRIdjDbIChO/89w0+nb3eLhBt0UE1O12SBLRrAdRfoGWV8A0PB3sjtdTWrq+xbd+7DZUiMZ/afmhsA/o8Qr1YnEhxASsObVegwGcFoKwdL2S/y4M3wcSJSMerbfypQIvo7JZYhuuEc+VjQvl/DHqlSwGJzy4uHW3k0OJbYIlDTnE7loKI0tF/X+yMHBK/pIryiZCu6E2zxmVQjGR2horE9t+zVEiOG8sD6QHJ1k0bt0oK5azy7WBwIHXTkjdtpK3AW2MSiVaou7kj3K+ZqZ2gZwg7Bz7nO3XxIqQ7hmfPVKbec6IIvIBVHoRcWG/+WzdBkhK/Diql/oWxgZu1WExUMgTAZEKtwJH0bsprGOPSyrFbCpQ2MVQ5kKUYDjJPl3Pr95NWlEmKupPUV0lM9gp6fopzg3oS+ODjvLHkp6yqtNazVegDZ9mLmhdsxUQKTRKw1MVE8MiwhQwLhjxzBDCGe8eaA2SOim4arrnV7zipNLblk5wsTQljDTVWIHvcqMeDdNEUjhFJlzba7lF45Q+2RHtheK0anZ1aq/Iu1omE196I0PapNb9WRD/UE+Igo2Mp474ZJg2KEw0fY4MTqbVuLIzS24Qwml92NFJKh/5g1ltAQHUY3ecO2GwuTUEi1+6tndT/It3SQVcdK9BuOtraDrPQRSelTNSUkj7mK6sFaOte4S5jMnNHKWUNt8L28SyG0fRc83mySUSdeAWOZmGkenoaWLKIlpU0wCcqBqJpeFJXYh1sAjkLKUJBupK2e+1E5iPcMQX67wJ08St0Uy9f1v/EbvmooPkAPB16iNk+JhF8jFMqrs5ivh41J4XkSTxeYFvgMmJbSXne+j+X/kfPGpZJTPMrm8KWSbJGqU9AFsfVyBiUsAdzQl7CnPIFAY581zqY7aqiQJnBDKUXuT6JuBAOcUeon53JlqP1hWRWdWjFfRMyLaj9Ol90PjHwOg+qmXjUKp31myW8h02XOQZJdeDynywINxx5Eb+mbZz8iTVYf/HhlFUiLJiCHvgLNx6BMQ/Ne6k10aRZjVs9TCYn0JFFIrdGqSgGiRJ649TXAWID6tRjit113ltBqeC1qm3AfKvbUMnuFCKgOBn9qVMnwsJBo0g2L0TZn63U8Cbnz0NxcnAfglFpbJdwtXm1kLYMYwdRV/GeKVs1MJNNBkmi9EBFxv8R3Y0I+tONx3Hbk9bacb8sA6ps4wQIGdlB+q/Zi4yYvoGUumzSHCiUFBYoWl0/I8+d09vOruThGzzyBPzFpQVX6s+42P4nhouJ+rk+qs677ZMqumMuUb+sYEMOumXK2fYV0VJoJGMufQatg2ioO7pjSAMO4WLlkzcAy44ekdRvsM1rjMrEj2Cp+RrQn68RIyj3Cg6gTGsoWvxNcdzvYVhxeyFHtxgjSPJMMRNNsR4xAiI5h99lmaelp9kaRiFd1DyH1SA/ZckuU+bLu4+RhxHUWYniPEygw18yUQtB0cJRlqJEj9lVFZa3vYAAUauG5zSVc/K1Ngnt/3q10N43+a9AbNRLtv6/jl5Fhiob7AgM7e4/fRo1w6E2QgxQgXA8BJVNVkr2GquT3ZEEvtdhmhA8yi+yF9/hyhChERQRjVCu5ov4iWVPk/Q1+w8U6atFI+aZ3Uy+QeKXms7+lgijsDRU7K6WmISEGIFZS4JFyyNrshefO/6SJTBrwCAT5LTiDUbvee6FeM9p2SYzbGHryr8ICFyQZBjII8nexhM0qbtoBb88Cejs/E47tI9PCjVi2wpEPbeg8nldhSL0/hHSCdstaLNrB+1M5iJU79nDOzUtc9SCch4zdgKd6ufot0OVuUTyP81svsr6OlfgS0qZWzywZgv+kTmDQS5jAKfFPDOVhPUpKNQwAeS3a2eLUKo10UY4ZvWJc+RQLuCd9V6ZkSZyoOSXZ58wnWhTbXVBeVzilojCEkuERNzIybmwVvBvA/a9628RF+l5cA9BQyGJ6l5GZbO9MLLfhjVjznQt0x2g+vE3wHi7bgbEwBB0Xj9zzO48iE8Ed1TZjt2/lg3iCBRNRn5rLomsGZPsf1vi5Yq0jgvM9Yn953o2ds5bZZ4SXQUb1O2W/Aj4sqLKQ39Fo6ms53FzYTOsAqOT5WoLCw//dtzzWKMii4SK0YD1sBEqJMEkoHLnodXnYxG9gr+8UC1O50/N8ItLJ9padhK/NDQEdgNWvl6jAilpQsgiDWIugvNEL2fSSUTp3hSX/E3FJ1o9Up6Yvhz+6ZT1bLZyNJaS3drQ4LpEGL7xUVE69LQKmb9UbsEl2ykrGiBsMNx9UaogjfZb9ijeF/QDn7+FJjV0kaup3Ls4Fc4Y6W2+wjoVcoxlo9TXJsgZz7LgPI+kG7ahsmwcs/CFuasRFTfq2LfbGkBaX60yw5cjJfO9n0xUnCr0iuoaOBCoCVgP7GXnysWo2fDP49lvX4R7xvlfxX+KwWLcZuWxKGuZwJHm5nHpWZaBGTNP5ROjuD9ib5ja++j/gfJMTuW4nxR8IBvyukISJPCNLnt4GxeRyL82OZpJwguML8DKy5gYkb5xH4yIoQDEZbfojWH3v9Yr9ZJn8z24b0wBAZx2+txpsB6isiFWIRYvwD7ItqDGly8xfPyNugEfKNqUZmdMd+MTnz6XyYZ/Y4+e1GJi3d/M2oqjEGL09eQ8Bcoa56t1df5geqr4iK1YACDddSHRtjYra34lRpwmkJXRYb7MC1ZOoYnHuYPAT40IyOOq22Jj9cYLSgFebTng0Th/ddGU7vNQSW7jdVEg4eG6g7h6GcsGY1u8nKVfFGC9rb8x90BEx91DokAJuzI1w0JrLxx8+/wuZQ1egh+np2NM8qyotemDG+JbdtY4iofTJw/3dBxohoBBq/wf6Ib6SOAv9hR8qHgc7m42dzznbY6l4sbzGj3t1905ueLq2ABnErUIgSceCySYky8U29c2scfmFZR3RAXvGgrEKbCgV7EOp82dGNdyzh6Rub9+XqROVq0mS5m96i4tASeK0kpITNozQFuGkHOpJ6WgfYhGTo9n8FG9GhwM/r2B8szKSv32e14UxJUxti4ia5xtG39GCgBrQTl4q/ft1/tJ88uoF1LUH9mfPOnVL3QIz+yLOc71YfKWaC0SrnMHPCc1SHZF1CqIZqMrBCkCX6Tpvsd+MUk2S9CiSzrh6iht/LJqKwdwzVLtsJQGDgKm2QrslLwqbotd+Twv0im08W9NRbdvhsvpQwdMR8DWpeJG6ITIaLZdpmwWP7A/RJRNLFtWAXCQ/BbMztY4iHeMF41JYCvH9eKrTqbJ5phP5ToOmmaEPKHftUG2A/NXYMzK7oYNCZxLakBrx7OSxhRxFqzKXvydRVVa07ewppDjmBgjUa89P50MFN4QacsHp1+zlhlQa+NE2pn1UAJ3bXVVcmdYCk3Ov6ir2JPB7M3OPycfdDCmlLZ2DJTCRyqYF/U0zsL1YyhWfzmfEoRNOtKe6ggOJijfRHpDZGCUGa0pR2SSYd62vcfngJ9J1C2h/eWvW2JyBRBezPGZ5rM4dbNU3nuUjX8ifLxK+XEuEQXx95PnKF3Idvv/snKWkMRLua0sbRY54+bOBGjRrXKhxhAKxpDmA9OQrBmWwyDBOwWGvpemuGFzu93/ebRHY86CdrsEn2O54NoodZRpV1M0RKe+eC7p8L6eXQai+jm4GGZyJbAZi0oNFJ8ApQA+gcqDoyy/imT3pI2CXENxztG+a7AT72Hw3oMviUmTHgw2ET8bvsD2biwW5pikBZQIBGN5i/FmQfKkykXMbAOEOeo8snfjUbk3yXFvbdgkmgXOiDX1whnWmWvgh2/7udC+F0hZrYhHrwOyH250oYfHdeEE1eRkKcOLGDqo8igyJle0zGeWjPqKMPkkVR9RwsRNtoHAGVU+3bQY6Jki57IRq7Bt0mwJFdAlIB7icXFOdJaW0Vw/L8/5vRjuBw7zHqAMGcwF1ITCekF04NG3zEU76xu6ZT0FM6NB+fLt8iMIRGlTsmZK/fCrFye0kV/AhwBvH1yBnR/zeLQ9eyc1X5vwgNoFfyLXsy0Ch4romPQaM2riKTwhRi4+WnWqUjfjY6skaXAr7dDOHNUBf/iRqNhaOk9JV7pWS/YAFD3fmuxpz1J20lPCa8K3EDJ6w2ThJh7JS8Yuke6CEYx+/Zhmzz/lRhOwKxYkmYGD/m3WKTbfX0hTw3fZSO2GAvYGnk5iwbZjxSopl5H7R43Kn7xHVV2p20xTkkUVluAjt8YdT1tw7t06EhIKC5gZw9uIL9qTZtLu1T+jAPz0pj4aRX90ayAGnebVW/DxsGG+xD3cuwxzBERHrYEYO/nGCJl+PlFN2IcQJxWiLmhamnfYG2JrktbsZ57ZAupXe+vPeGchAY1159z2CAtghUfNuGR5oSK47MCOYrJJJUOpT3VxNTVWdXfdVVDxuu48DZ4vzrMl/XtlyvL44IxdEjFTnS5hq4JksNoVa/Ld/h2MuHc/ssY2hGSSlS8TsIoWwD8Q/FlxoeSH80LxjDpvOYCUVxGfH6DItj19y1O0kbhXAWi0FShKL1HHrCHpXSwNoK4JcXBhUXOSOlUdSlmTzH77G/8EdEchd1NM9s+cty7zroSoY73inV6sAwyqes2HDJP/ZEkg1kkeJcsFd0B9DlZtZiJpN0p1UK5MvEXEXedbv7ez1o+Lhy10NdIEM+IQu82Sq1c/3GsHZtjHqGyJ7QVPmTdzCLIg4rrYgmreqkmBdQzcZ4d0kmCtQN2y9b6exqvT7hUMxrcGlf0SwZYRo0cqKd8VK4XyvrWUZ+tTfINs0AGnqaZFXfteQiIU6ZtlmDRmD9a59NTopJGQq1M1a71/P6YlNhnbqdQEQ3cIEflO0pKdAeV1gBP4yHEJQZx/CbLKFyCe7wrgggZ39v+DGTF5F7VY3aksopU1wSSWLcvR5y1t+QjdopRfG6mQf/walX724myTDI0o3XsXMZrUcJHJLu/ghyHWLy7WlgmWVlx38nxN7lCvQSDGiArf/Fufp6ElCdTtzSnRCBVpHrYbIwRb2JGxZb+tm/P5HmUTG6loAUi0aSs8UPPAI5FTeSMbpBd9K+EunybZurom1wZPVcHrIjLPbPw4TutyvbwhO8ZArXKhPcuxgdKXs9NTlEoBxsb6DjkrMEHqOZhdKHScQXy84+71YvgPFIG9K7x5Hl6Jkkb7+RT6g+8QJyMDXKpEuZyqOONajo+6/dyZcuZfN7IoTCwsPQpa6nymvJObUX2Mr7w1OE9FhP5DBms1KUgORHJ5MLiW5KfWs9Fq04myzl3dqNMeNbCj/L2a0VCPO8SinmZJwqxlgVOh0rM34SASPPXb3+r8EArIV8TlB/bKXrfEbFjXkDU3KAcT3fxn49/B4TGxMEf87EK5jS/B4+VnwkSlKWCqc/qfslM09nj1K3BLmxaQHchrnU1byGeu1YIcUs3+vqfKMfMchzUfKbRiNRAIb4pRO+FJkXmIlQNX2UjpY2LSDDmRg6tB1sgpPFGgSFVvUh5wDBLGZe0dvMo5pMxJFsM1yKDbMn7jTjRVVZIYsQYmfC1U1m1CpVWbl+p4AJKzO5D6GyrQ5guABFGGGKSipkGxi4StfZWS1xXelP7bzig9AtvdPZFQ9THaDY+4aUKdwJqjiggpXm0JWlRtdSvo/DuCVQGcLrW8fRphiwNIpJ8eDDX2FdAKh8NnqDhUGupCbltTgkBfinG0L0J2YMEbbZsuhuOhYF3o7QPfyxvrKypOWKo5l4tu22nwbLPLfAfdwacZYIT2gklneY5ES7qReUSA12smyT4lMdBsN3FtLWrSLrhl3IFER1GS/92NC6QfeXqlNBqLrZcLVpS3W7/GjMeC6qKGgqBB2f8c7SKh5FFQ8j2K19DTqQJFX6L+Q7LAwUKWuWyLmOqMGJVLnWQf1l1CjQMVk2HWKhXMB9kKHut/n94f38HYbXsbElEzr+LtMwzLSOLw9FfZRJ7EDLvqQey8+4rXfm6fRopx1G4h6OaU3HtlCk7dh4rXXishQLfj7agrJvUFU388C4rohGqw9hWhSxbXB7Pzitwt2s1FW2Z4VtnXfmTwyLE7AdkEGrr6m07SkjEeowod3Vr4LDIUy6//ZzdvTIEX1a7OXRx8SW6VqSeMnt32jS0hAgkVLzdDd0DB2VeUBdAuGJ0bSa6uX6iE1Xmlb0lREjKcRZNFFUDEeq1+u0w4RGMWbfnQHI3Aj4TaVWB7isLgr4zDWV/WCwTcUyd5vzO9qWJo6wluwEiwDlHut/Uq17Vz1RFQVE2A4v83zlpBtRre5LbC2FhFE7HlH8rWAuVW9g/DhDE5MFcwjGN7MGjLKQgjUWz8OUsqoW81wdI7Yyae3tF1Mub42PWywl3vve8Jag4J34qlSjqnN+GNw0U/1z5rniFLwHY78tCHs6ugJK7peLWb1d5WPf2wlA/bUtmSZ7KzhwdjZ7eP96ic+G35x493LrYjyuHfFarpe4ksHZHVVuiskbG0NRODODN7afFEwIQKZhaZluNGfXrs8iGXrm10WN7+YTqS1adv3QzvHsTcto9/moUvYOZ5QbARBA8pe+KI5C3NckqUUZ71MXjSt8cTZpde1TCI8EnJo4nXkYSkbq7vEv9eD3ihv3Q83NK3++Nanz+7VWic+Ry6KivOItdI8JrN1CJ/Hz0EvXpmSyMxiEjGoV6BarCjxc1q+W2LqvcUCD0bE7mac7JfEBZb62vSQEoIbMlLoE4bao/YRWLoZJ4DMmE7QSyNyJ8lfN4SeuZl178LOC+OFn2JkXrJXK4SglGLzxD8ggcyi2t6Nk6TpFB7Ut1By5YrQJjVbWHbZN8pYg5Vmbp3JlolKz7R9OL7ynyaIgvlkKaJSNJRwyJW48krmDh0kkFl4r83FcxA3lFpxGTpkwKg3+jUMKbxbqtjXzjXCKtx+uoBirf3ZfAGaTQCxZ41aXk3j/PiQ8890j9xNx9upAYtJZqMuZ9ZMMtaC9WTECWWViSTqvVx9SVhVO+lA5VxgPbp07O3OK2mPfSIqSHDNGxqNd6jbgfzrUD+nbHKVGLOba5yBU//LUVOOAyAjtvtu+btCW2yKNfU2PkWbGJMA1WERelm5Z7aupr2MkhDXyYMXJGREMHmXqjSxU/lCaybL7uszKt+ityWPite2AmmmB2pl5pCvCXULx7eOGnt/iBJAE5tAYL3eqdT/1WgrbZjE4HqoGcBQVdpeaIFDZyvUruNgEw8E76I9ZjzcOFVhIeAqstBZ0PGompW6pgIOwsJPxkhEpQKfscRfF9dOIAgWsH0dzgm6KeYJWbZjVDScRzmJRWGxrgQDVxntHf++17rMGWlTu9VQapAzXFfH7jnFtaJCm0sjPqeDEGgLHwN03yw07ERG4fJmTVGuSvwmOPfzG+l4L6LhOjsMqEGtAbtldJP7hOs/4ZI4Ch5UuNidHgBBmKBznDf7yIpB0AUUo+23da9hjJu6LaGfCFAJjz2R9mpEKvLwkHZRhrZGK9cJbo++Yal1nd4xI75K90MhBPoS3DJHG2aIHM6RbwNy9Iqz7WqtloDcZHaV6o3q7ZANVwWjLUBh3d1+UpYkzMkwyxNiQvk5qnKOWRas3tMmVpt0lTPxp1E0oa2EROwHJXkoigsKg8+lID1VPF1a7PnCdgwoMiGeFk0Ren7AZqxAVj9MYHDF3KyxpP0NTHFsBQhj0EsghUg+pLVYfAEFMnYW51fzJR2cJ03UrtN4beUA7t6b2hAJgpUjrEOh9FwcY0gpPBdFwiSoCGPtJm+qvq0HPu3/zGaCbITUDh0ow6iJO9niViSNfitmQUc+JXULjzweiGiBKmTeb9G4Ev/FJIX4ebt6US3c9YGAQ/Lc+frL1DxL6gaD0G3xPhonIXiTvC6PtcSdzwYvJOhqCNc+UAo87at/Jr45DscbMoRUCw0ylPwIttKhifYV2gXNrYCXTVA08wdloJJBfJ81E0nR7XRRlQRQ2NbrAz1bfswHwSFaLccqAB3biZpPlximaX+C8g3vyCXjTt9ak2OgspbrsHSR2u7KNq/glG+JjSAnGHZVpVXDrHOfJRA+Z8uczF0sBamdYICHVKMGHbrLciim6fllgJW5QazQgsbFlF4w4//WYHhucAHN7zzYKbG510gMhBxqjgjnQ+4e1l+ZswcsHflnSwx4douMk9gGodS2Ty2cu6p21crv4aASq658OGi1qQ7v2Kpw3lrzLx5jNKhl0KwUd5C7DECdS71W3oOOeBeucDnH52Xi+9oKP3BBNKkhK13Y4XlAljN1f/Na/6ebS0VWDY7joqc4YyzyADVYNklIyWwnxzcGvmXly11HPbjzXcAOJ6pCG7jHFkIAtnBYAeFiN6Dy1jq4/rfMmr8/+Ne169zQd3k8kBYG6yiOrqNI4qYnR9HsJLzTzIzLwRwPV3MFbPsVj9SOAJkR6rjxm2cFyoz1oDD6YCpZckWzJ0zhKTLGaa+f8GOTZQMXGEvaSzrCm5jRbxbFn+5VI45s3fz2NNyvssMXXWR7x8ycqYFaWqpuFCwwBFUKnSYc1euwSlARt75KZV4ApNEsfgVIj/DOkpv4rS9dPbS6vz912UVCRVqcKeHfJFYdHdohFzly0WfKcCCCNFjYrLciiWRcxO/QWStBPboyy2NcqQsNUrFQY635t87Ku+w/FdU251WRtl6iEBsebWcXM9JfqH/TMMshIGIOyVJiD4oqtl+nju+VLPXwvde5uyYIyN2cSwnHddAJlwlI0EcKrbW1zRcIgFGNz1kvnKdSPdR9EGxbwxwv8SYabL6ZFr+ibEL03z4xR7lVSrWqsuVv1gr9E+a0eARHxn7liN7qK2FqhOhq1R7JwT+MXV3DWqmguFGJfLuxuUeskd2fBLslkxVGTYjxhwCKg4qtYlvMKOUHhX9FyMAZDVvQ4C6hRCMz0OQY/vk5ciUra/eO1onDeYVhMHr4gjgRAQ4GKPc918mQcYy9ShMJp1QwMmxdUl8CIWhOOF4/s5ZoXJ8Yxn6Fobi+pM0WQB0jn4X2xrZKB0BTT4+wlIiBmv6xLh9uAKGlSTYyrpE28pZBV/aPyK5F4h028DmvfbABEZBPzckiJxPW0dadoUoD56f7tzOn6SKnVeTYJ32O4NMq3p60px54+ocguhEOe9v0YawFklX7UqY1F7dKnJiGvkjHGHEGTep3o/KyyrucxOrv6073fJ643g8MW+FLYBR4FLXG0aUSlQp5rea9letTqJdlUOU9GNTKPChFzFfOgG8qDv/8LBj2+dnAizZ7H5FyF4WOfEENm7Bvpq/xJTPrq7gRaIABkbXeccz4Zsl0WYNyOln3gSZNfUdkoY3QapwetjZNzKA80BxeMVJIsmblAHEyKyKCEPRsnuLXzCa4siDOinW8hqG2vQao0SHkApSfDrSmMc7VxAE8jBxVMlzaAQaoifLGK/OHsElRMe5ZkOudKoTEtJwhZoSsxDa/Lpz1Y2d7MUEvLLlk/kTFFc4uvOZqFLyEDqflvcuGOzuPXTQQnlD7X4w0faSCVAi0coz8Ats6jKgdz8+hk6urbybNdXPkA2WrnDRH1M4kSOhwHr9UKt2GODi0NMSboMbzvQ6BgS4XuRFn0UihWXJaslQSTc6xCW+8uAbvb3pr83rq89Em/dlQsNzoQji7i7VKQuiwXx4OnMg6PtGOr+T05ifol+I2shzWMDqypTvfdikgJtaGQRX2ZKs/fUQRw07p4UJgGTgNcpC93ns0QZfTKnd4ysoJfHFr6HhnqhntamD2RtvxV/1snBJ3SiR7yR26s61N50PmNVxlpwuUNjbNHwJhyPIVmIyTmJ2yf5/XsBKPUBfzpxEyqXiYSfcAuTEsMoeu3ZH5/wIm36+Dlr9TFMJQ+FIwaee5mMqyleoPH1uIavN0z7m79jq+vfCzBAbWQWwQUAEB0NbSQ4UIDCWuzaF+r69T07fgtUBJWaoXkRILPAKpJg2Zfg8jtiyQRUuhVhAZrYPkbD242/LVFzOiRcVajwZ49NcQfzEeA3CTayzQARh6vl0fxLUEsb3tXd8uqUzQti3WZpJtcz2rxfT1PrH1t7VwXTkuTemJQqQKD+iwnfJMPImeQvZWAPrdiflyWsFSzpg77cR8EAShVjA53U2xU1c3wvNJORttcW3eRLkwZ46aCku/OFUFMxuLXCKPjzDCr7DsfzpDaSgcOdZmT7mx6+YS3yhsBjNw/zbKtbHN5d/ZCLvggQKIsO4Dqk2KGoo8TRBRrshuEJoeMyb/iNw4ycAF/NMWGA6IGquKIvSechJrkKynSAl3TP1vjzBFNQYvHktAgCvl47bDUM+9PPLWZny0wZF4+Us7CA7+jnAuzKJ56gkjJEx4ZtrFR+XrkJuttIxZdzdkRncSbNj/QuO3KmM0rNvPbo7aJrVhhu0jqjpwbctXuPI1xNeVxGrMFp4vCHUxI4tVt5nhIPJineJStau2Kbb2r5QFig2kjNVaLm65S0jebOi13U9x+M/A7UVLOJ9/YEvhCLeDGrcF5Cd6kQU+SgdsRL7hEI0MsJIcNGc5J2zohI3LIbbZ+YIRe6wTTYz7H1t0/7cpSCD6IuqGIqmH3DG9ReeYm/EWuqS3x5MxuWTAMbRq02Qs4THkaq3D2DAx+6k1cBP3z93HonKnsaUWHV43YxPxyQja1rYXcMFrmt+8MmNiK3et009XST80tktCGz1o6gpQcaDbptK7lfqu8VpK7KYMFR1oVmf/aE2aVUA3ozYk1XXMTeMnOhSNdclDKwASEvnWqQb6QCCudOYrRs5xRrcOG8sFjfMRidf2UPKyRUnKo5Uv6vNDVCdLpkBo1G5dNNQjJ9nfV8hAbTtB705l9nMTlSIaqBvX4PQ1JY56rlGJHaN1IvwN7CTj1/WsdJOWg15ONVU3JkxGPRYKAjdpEyZX9aIkOYMBiFsb5oEeSsnAIcCfoVgE3tYNlFH2AOq3SqHX9xAghphC4WcVvwltR0T5gTclHFmt9W2zG7CCanzkgu8yAdwy6hoJOrRQ0Bv4h1KZilGpMbpRnkrMBzq/kUFkaS6Tf6+DnyN3aRNsCFVzjpeODBkpf5VgaOO9pbvyRfoAxj7bms8hWvc2wk406oWqRdMLr5VVyo5jUACRfAWYmbjYiB62xp/Faegi2FnJTMGhZb6gmhOaCMZUlM9UA1a71EtOfAx+j02m5FwRLMJ1qYfM5RsQASXL76vX7il4+2T6Wa3djv/F+bSMXW07oaQgNWo2ChpFGfcXodCAuxzcuLVOfO8JNG4eHDHEYD2I8HscxL5beieNtZhP1Pqso8GL/puLQuiSvgpFB4Cegmy+PeQq5FmNk0kc7/af1smTsoa/TeI84DIq2yGZaAdFc6AY4YpojAD2qUi7f8n8RkTIV5P3B6k8raDgBZl+LMhD3y7NXdhpEDTPeZrv4XkQ7SIvHWjvD6P4pJVrUWC++ehl40q/y08yK5G3j1S1JMwTAO22ZBZLZBvf24m3V3u+Bap/q9ATQbAk9h2QH5FMOmP3u+1tIbTN+y2sdob7WXMlOmk9aiwN5KfEaQoHtPtLt2r+fRTssLyFQ2bdjlESzu8IlskHRUTkWeqyJpPsnT665QCxLOj6WLCTTbdZRwmHUWBk7OqyIIv/vQbS1LtIQSwA7fRzYuyvZWQeEtqDs6aM2u03F+V9Ff3xHaEW2UKaXB/uz6UP/msnGDa+OR7ht9t0z1FRtBQLJH9mI5fESOGUpIwCFq3IEbXmQou9Svcyh8UISczC4V+iEX/SeDw1ZoprzO2iAu3Dft6E2oMnBuj3AWPQTUvRRoV8+dj+P2adB5yQJSlhXpU7CW/8HQfLoiVQN9/SpSc4ROvgtQgmQ06Fqo4mWuFlivWa+rX5wSOMKpskHtZ0lvnqywXFO+lL7XllI9i0XUl5eB2v5gzci9jSafWUABFEfJTAd0cKx1M2MEmNYwk/RjTWJxqtFJJ76enb2MjsSe1dLc+2VzD4do0jh7KVLX53H+vb2KTiDTtVH3gPKvwICVstZUGPhAYSBa5bbIulV9gLNlZ04PzN9O02EyEXTsmQ6R1n15EecFd01KEyOYeRPhxRhI7pdls4QGE9zL3ZDViVrslvFtyRQndrN8atTCTMYECvqKQvVnhS1LCdvu7UTJgKz7kWMGUp2uzRfbFENiPJV6rVFzU01dMR8RPjsDXigxU+RiUOPc/35Akve9FnDUMnYkc/zKu2PAqCaOM7TpGDwQmVUcnmgKfFdLK13bs8m6NmCpN4vaT03Z0/K6EORgqx5AwZHSGBKlxRKp79ubAz7ChU7Nz0num8vcBnvoH4Cg+us6vd69bfK+Ix4N0pkZTeGA/Bh3VXHzpsSFiTaZkIJQiYDFKFstwFnO06F1EYSgZZyMsK0EvMSPXceN4iJPcj0ZT6fVhTyLLxyVAWB55+7XI6MN+312tFV/WRVz4Yc7kABi/WsFlqg9f7QhTxVHkK8w1cYcnpNsjSotNw3HH3FDTJXKwkpYfiPCtrXyxXSlTbVNMsjv4mP9nemeSwU6UBbUOU0iLRwaRpOzV1tGwjvpPa36MKZ6yO6r4VvtIQbaukC4KPR0G0Nq1VOkDDK/lK5BGUNTq41tJmLNt0q9/oBYbNs0Sr3ZsaKTeDPqwEGDLN6BgfBwHP8kjYYsuVtQNwWRkVQBhyfjMAOZsVlW1sW/eCFBpdO2QMsW+MlBiB94qv/RxTcTnq4MjKw3A9J2w/KOcGlUbsh5QaBUMguDiRf+2vMb8JFkT8vftIlU/JELqaM3STZPGNlgwMZi6wwwClcu6FWnncRpADztyvdaOCWBFwApnBNa8OYWSzfgFzT0nPtS4Uxts2DE0cQtt65xaAjc+QzeY2382MjXBxDA7rLLkuqrCPPDwNXz2+pYWV+32nlLrHyaK4/ER3p+HNAmQbNzLmlL7Ovdhg+8xiHasVkuaL6uyoM3LW/8DjQwQHYpOC3hAuqM7GaORqkZ2mYJGnDj3/4+MLrSxOOQIH+SMtPzwEUGPOXCi8raJ8qXVVw9ixDmxLidDrmPRIrjiPj03pTrY/4seKw0Ldj5dQfdDky5GShW4xjXZ1qAODa7Buid7GmwD7Dxob8W+X6GTMluGRW8qmIc91QbsdHKF7+F9aTOL4Pf/XC1CDfju41LIQtlaMoPpNw633RzSdcjliQPnjSb8W6uJ+qocnll3FTh4xLAp5Iu5mMmABKbxTDXVYs/R+rVVD8F7LFUOIyvcIAKru9QD0keekaL3HDX+8GLP2m8oXUiXwv0mnXFTkPmAomkNFFb82+c6/Ban361hfG71oNlPc7FSKqIHH5ODHk9IFURRPVF3/I13rR1inxNsalo8peu/UmhFYMmWDCyRHrbP65QqKX99+SQLvoB51qbV/Q66b3VbJhFykK+uNrwzPKxtPP4lb1kfujofL4ZqSxU3K4D6FTVYBQzha/ArV5l4z0thrPRhJj53m1vW4gFFLL8W7glwS6FvZL0AJhMLjUOx4D/Zac8oEd6puyN9P50HXrR14W/1SjGeqmWrC25HGnmIz4v6ab2QPB/ZZKx+7XlK7h/0qoHXOBej56gpurnhL19lAnXm6r5sY6L9d0usUGdUn7Pp9Iam4DgKAYD725gNh5fjYeYcSwz8U/+xKcNud8/dcRyG5G8VUVDDWmUVEiAlDJI0Gl3IikL3REq/r+fEcHQ73ioG7V5YTO9oVmmkuOlEVGvM5mDjAXinE3vgH8aiL1Xl4yusjPs92zBeherxFqGDUNzXcNNABZVgOI7CtEW3kj2upOE4DiXBtx48nzg9/Hs+WRwnoBuDlLHeuUfbkfeFUvbml88jrCOfk6you3Lb4VibWjlxqvu5rS1T8Krneh5rsWad6glG2vsLzIVV72Ancx9OS8V1EcKcOfNn2wjrjYJi3g8dwBO6mJmBjtEM7P8Orr489jaIz1m7wHSCi25FNTY0y6Ob9AspgHpubw+ITkXZhdfX2pQiUKOf501Ov1XGyezh/jeGhqI0i9kex6C/CGNIgfM8EdOYqAio1cYYcOXZ9riXGGbDwQ5odLM/YDCHzp8KtAT7voRdiFfOjyC0XwwT3XpfF9OZFBu3s2NioBjw7xHYo7vdqB1qFDDguf+vXK6RlZlU9du3sgubLCeZlxMl5c0SB4ag0xgRch+v9PqDQMdPE6XMVl+T6IDMJdaxAkgASd/2qeNl1bkEpKZf9wzod2wf/+uPVlK9jt9nnJN0mFsmkOyybFJ86rhez5gtHllL0nTC0H5xhTUU1Zxp6G2ad2R2ADRes64GN0oPxospGEucViwWYKnHGt53/r+lk3XS75WohCDPaUYIo0EhIE1TY7L6pe2dDv+9SqyNvyDoD+z4PKEM4loXzn69JP9VcTNeLbnn+gCn2kvEj1dcBVdaqRJfi27AdDZrIuLrI8ydWxJxrS3NVSurAQ7j918MIFDkKjGYP5CmUprdg04OTvGHxsiG2ZQneDVLNzWk2lAQbk3V5pCXB48Mw1k8Z/nQeWJkoly+6ChJoWTtC8TvlWFs5az5jYluJ83taiUehYLtaAcqZAXCU2l/tuSVn+bLxnnIPySZRfRGWfipecMatrpWF3SUpA8PaP6TQYoYv9ICnFejlQ6ylIftiTkWYKPQoNAJenWF7faLd6eEaqyM9HpLY1P7Ze4oI8PFiEq2x2ATtejgaouFE+iT6NDA3a3Po3lL/h/NBiOz+P1rABmFO8cPrXrH6AkiBL5DrpeMM3FPeqASvOojbNTlm/6ZGO/3RKQoln3lT5I+4D9MUam4K7Te+UjS3US7oKWNZeSN8C8NCpaLcCeuy5x64Uw1lcBArp4sJEIcwb3uLas5gYqONWzjI5dyzHplTBals3fD7l8uPbWs6urwhqgPU532e/QyGu3mHzMI1jE+zWopq6/0JJ/boFMknMVeIzPMydU1J21YXntD441trshyibQHSqieUVhwl0/ShKsEBUI/xXTBJmWIe3FLiiLkwQcWFqkdsFRo0gi2QV2/YCUvgBDU6sfdo4OCQvKMypGIVG+lZ+ZbOTdhSuQ0huhtDBwvuY377NOTDJpvi1pXNPCJ3Wv6KE8PtRwgYShQe4Uo1JCFhki79Dj3lggZ3gUW2m0muJlswvZ6ggkyhatMNJefA8evE1PQl1ktQORN8qwvRAy0U9WzSrARY1uL6eQWauC6irCdoqIkCtnDbL7TUKS+J2C02kX/HYjHqQROcSfu3ARPRcuX74LDHqGF+INhm6vxtYQOJwf5eHNX03LqMsf59YLCxN/mcxVrUnnXqy9cibcIhikSoxhODhHE8nky63qa7U+LHrbSoUhEVUgJjoQIpyS2s8XIGr+3VVp7nr6eV1V4XN0mS47xAT1bPKbJsOqLAJdUe/5mBQqf7MTRmcRVqpXYl2v5dvk/fS5uXMHNEs1RgTkQnrt9hqoO4UrD9DbRsSfgQ8X9RG3liDpwNEpunpzU6jpEJIr8IpvHHzkN9xfhrSIwCbkoMPB4kpoGi6IwHioYEYp4Cs0G3QMA2Dg4jV5g5g/KeTaM0KVGMNSdgymFCgg0p0I/xddT5LdTdZTXY3yFpjWPF3O3NN3z5Qi+aA1XSwD8uhYTj8xsbqrO8xZZd4D6hTsQh+7F3lSc/ZbhEv/DO59oTPAtViV7iLCsdcefIik4yhqJuDV/di40ZZOyPo+jPFTHC9UOSBBMGYp61GV2s1LNaGp5T4SsvSASm+Z8FlBrK9uxunDgSz+/DLEjs6GerJN44/vzChhxC0w9D3HGrTiTGr6lfxnZccKtLJDO99Nt+SMH4fqmsTz3yCmZGN8v/xKehDXMG6Yv4TrAYZyMo87XREfdJxrqJuOTuleuaEf9Mmn/nznjq5YiXZA1lqVYDRWQyqSoPQjXcVlUZNX2MVT92vebdXF0H/tTdg4W4dUYcP7pMEU/WYTvcCgymVtFlPFd0pMVDyQMR/iqi0r1h/wBNuwRd7WhnpYmCmUGQJ6T9fxkWdjmhfnmp7PzXqllCgTvYpc4IG5Ss3pp+TrdiO8ccrMsa73LpQMjE+oCDOGKFZjQJ45SN2jK7Z2taCOmOOMI5PE0fO5RtGrkpZ1I4gj6rPLqKemiHqA4glhX+TpbG/y6pun0uHj+Yff/ZREJzNDfVeGaWkoXKHspMx8QkFSOswxMrmMcCz/yIfT/cOAmzG3YVOMbQHN0oYvEEY2U5yaV31ibp7AiMqZBRb+xm+vORPyVrRhBr8RfmPSeGwvMgH0HpL+HvI+FfoX4SfaasZnW+iUkEce5ZoSVwMuf8xWw2GQVjyRJXFTBgVEWASbdQhJxjZraI3Q7gkHLaJIqtI77JJ46OMQWAO2jL9dtJiLJWcjQpUAnNsuVnvVTWMiqHAsI2qhtie/U40iEBtB17L1WkGol13ZbJlbRk1wSyl2CHFoX6rC1F92j8eojHsz/YM5qKiB3Ql8H49yu6E4NAjdeDgIlKNe4z9QRl9vCXPMc4BgG4DYpRVPfuQy7ORjb+i9TsosVPUCYzXv+KR2aC10STVfg+OGxpHJFZ5lWIE9zkFA0prDjLeTBRQori2Ewvotshx8k5ZZXtja9Ap+pDx1YXI9RBPBbNnd/E7eeJhuerlBPtvk/lq912iMIGAzGFYo3HWDxozR+B0pM8JDQK0tLgj2pWvXEPVohDZJENujn7rB+XZtn/oaBtcr/ZOe+fiBtHQqDEyloUHo+pkmrjyuCjRKmO3y6Kf0vCQrxPj9UQn3JMB6C+qjAyiNwGRiTo9wiEJOMO/E7pM63H1mWUKQt1/UgChY978+8m4mt1xbm6QHL4TLpPb8nhdlMHdLVaJCnF1m17zrfO5cPud1oFYdP0Cp8tu45eRTD8Ayd0hajfT9yqPeY5n5ElTXpkPPH+KQdfHwtNmwe6lsBEkl+FSlP2vqCeJSnP98q4DPhwl3LYW13D3evhDQ0FKiBKIaELn0KHitRQYb4u1V0EjBMTWVb14BLmR/ddYSS2LPjUoZivPUY7JVFF+HP4rnqge40OlPDzsIC7E/JBPKKYzVHSuJ2L4rE6JeqhjMPiAfyFByOwdJlsZnUnQIcVbo9djfozVb38IBLLzCCO0P4lnjIoLeKt5dn7mpi+hF4nMSMpk03jV/CFk7buBNLTGE3zUpyq1HBcdqxeaJP7E4lO7IJGdAIf+5RlwBFp7+53OmS4Jm4R+l68p1mMgSTzUy0fQhohNvPMz5Px4z8Tzr59CK/WLuBiCwjmCLSCiPFOdF9k6p/vB2WQ99BBUHoQwAB48r+4w8jVCvEm2Chga44j5g8elUEvkG907V7uPfQvbjieeIxg1mpHDARtAwMonmUDU7JgrAxKYlOe1YNh+UScYP4q+xiJGAQnKToLmhz14cdbNhCo1jUmHDuJ+8NYAunxiJ5dkvpk0a2C5tsSzM00NZtSt421CyrPkGTl1CD4ELPVv3itesOkhxY1q1S6OzZIZDk/01CnzvxVfJa7zX0QxzNvV56TnY837oPyDUmpU/RM+IeHp4VQCjqYVcXyUeMws2N0skuk1v+9czBbdFuD4+REwzy73QNBc9gLtya5i0N3ZsEO0oOBcNOPjRgl1Pg+iMTfeXHNMFe7VACrIu/2r3Zg1qw1XB35sCq6iFS+js2Zzlh899vIn7VcmCVlHY6k0EXb218KLQK3snCpHmtbjgRs17GrIbL3TQrKVZgjSoBkbJDCNUSgcYA9Kg3R7D9WzRlybdmTaeP1rcmrEFkXPB/wumAO02B3F+5OxhN1/msY2e0rFn6w1XKWcwUvywB2znzA0uOPu/DhVPZ9l11NNj2aPEojmUpk5JgbHSHPzJYbBVxkXF0PapA/bzf977V+Eg271DJ68bcUn2dDa4K7ewEEhrslgAQ+6e+TqTwGaaANJ8OJX3UPhKmy6GRmBadvIOwG/nLv6OPq45+QYkoiCVNju/pOMnVKdcOErOQgNsY7kKqV6TXPumQEusSGRCtWpy/TF+Ml2WLNo1XsuccZR5bcQ8IomsTp67hamKmA4zwTR6f1RZUmgHMyxN4ys6ZvJmfFdGmnhAJW93ObtLYojCEOqVF+qxrncN4aNwIKHQsEsDUduYPP3hFnVJ0AWoGf3T9HXs9t5QyME/Tc74nHrxN4aifT4203M6dpfEd9vIv2MD/DrfZTrhHO+73lDLUYRhTOakEyAXvqcXiGGpph56dYpuuXGWYG2KTIS4r7xVlEXis0zDitm3uIUDzgfyIY+4WNm2mYMacfF8j9t1FYpYJ0HrJ7NnfWP9E+0B/EXN58CFwhpD6QcjD7xQT4JQe3jiPyGxV0XFITvgWcDKVs21FICWRAs2Vs6JovTriDflx2t1/ZzmPWvucDIcDb/wznDXzEHMcszADRWl8pfqvQweO8Yge+zvPgsG1/eSYfsMV/hc7ZnP6/krsn7W0fj/jV3R+AE9b9nhB2jZ4pjuYmDv6srdiMePfLappxCpmXVjqTRg4CM2Kg9EwSTRBx/+MIm3FdfipP0Om42dnG3CY2q/r6DyHdkNXVZwv/m2LBQS565ei7HfTteamrvVbNdE+2Hy8J5kh1T+lNilOdXcHyCJEpTFq1c6YCcjVFHhVUiEn2OEHF2Bi4UptqLsMLTtCGnl01ZUz4lNos9exbeNI9gyOyFB8wNRMuijZlXbWdeHL3RD3mSpYW8jVS7A5i2ef/ACaBt93SOV5nE1Py1vS1EaL4MMCICwdlAVFJLhRh9+TyLOHNW3SuS7utu3328r+mNvWHud/Rd12kg+VhsLzlvOQjgiOQlrZyp6WPoZ8Kfgu3sqIgPeVmijW50cijcm9/633Q3F6x46i4mJxoEQamH93qWUpPTyWhwRrD+KmgoBFnbaWKjfLqVlsvxfS7L/4HZC11V6ud9QyVuCqQVv1+uNF4sN5msXBVGspgI1v/BMiu/Ys7PFQXOuhdcnVSxCtVjGV9Zv+3kDlYNZsvxcgEegGD9DKGQj8emXJ/9NNRyFKBKvUVIrwWIY1SWfTcYbU0PFRER8J8Jh8/7osEbTqnB6C+3Fo70+0+XcrT1PcZuBOg8SOTkXJFGehr+W4/D2JmTkSuqsBsrgN5FukeEvw2tToKFaCXRZPsvjM/3HOtmICBhCIWNtA/fzJ/Shr862aXXvhMYYzmWNY10blOtdq5YIMK8bI3Tzc9B0Q18WFZEyzQ1Emr1Gm41w+2GXEtmy8lOzJQtHbIdNs9pmnHJAZ9Ia0EuC6/n7/x1dSyQ21DITAPgtTK6mDyukYN3zPo9A+aPjaooCNbF4vIGh7wd5Tcl06W5aWm+FiPD1iFpGidrTYCJxSIGSntuFkcZbYIYbZo41xHPwAQ97XUY9dB0HPt1asAZcgV6hE9bOG2YvXSbSP2rTkBhuKqjND4kgXeZQ13TpK/Qu6Kk0EEBi/er0kxVI8D6zedArJkc3CVx1OrbkTnDHxBZjUjS0CkpAfrEsjX4IMYpiBlwR7vUpo3BzsffTWKyAlKc4WQ00z5aQctQmWa7jBR8r2sDoPDItneek7pOUHF0X6j3gr7ZmZ4SCuKAgNImVHyuHxLqOJaobqvoZ5so7hUdWAPjCOP0b2488tUyPQb25HUvtghR2BRJ3lvSOYmKeeqzFuUNMXWOsXe3rA4ySi6+gCgJdly0bsyizAhTsUWU2pYqVWk0aGKs27BafXwj8aKCDEfkKEndHvffSZGlSg5Y1OoQ8qtLiA2wdpy2vHI+A+gr6J8xgpAzyulMMey1xcuyldZtEJYel14GZASqOBMy9LD11LpagyaN1U5OI8fK0dg7nrmbS8jgVHiy/beRK3x97/Ir9Fc+/HpjbNraVnskTB1mM1ZYhMBrFt0j3Vlgf23EeOqpkX/q0TbXeUZUeU6/LBFU3zCoO8s3xyswI/k16wnjv9PIfs1vqV82YBrwcyhCSOdqZ737b8eJdx6tmH0Yf5eXrK/1hd+Pxz4jRQD5GBRx3ZHN2LMgiCB4E+5EOY8JoIG5Y9uM961Sfjr9dG0OtiJ1RW4QANmkQLApXI2OQ0kFXXCPPh6i7nin9u7KghlPAii8Rz6ct/+JjmBQYrQwp8PDM6ikweoRVuav1A5c63ubpD0+jaz0B7iXaWIBGdem+30OWqcIhCvHxhb7v5nup3uTAtKIyBy917flcyFRhKK4sLSHWsc/FYFFKLyXzDNwtAbHoIqJ/wQfqbpAbEp5pFoKGvw6stJuBN/5xDqTR9fuIBf1G7Tutm4u7qjd93rXJn5TYvF/XXSkg1YmUImHbwZmFgS3fkqV+aowqGj3+0J3DQ+avI2dzp+Jk316mf64sV3EzMGvJkt4KOhoVtElj54mtjEf6G/KYT3pAmOETcfj7UXnkicO+tXXQZr/EkTwIW3cikkB0lJY9/rMzzjg582M73bKXjQfFbQ"/>
  <p:tag name="MEKKOEXCEL8" val="False"/>
  <p:tag name="MEKKOEXCEL7" val="False"/>
  <p:tag name="MEKKOEXCEL6" val="False"/>
  <p:tag name="MEKKOSAVED" val="1"/>
  <p:tag name="MEKKO" val="MekkoChart"/>
  <p:tag name="MEKKOCHARTIMAGE" val="FILL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3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heme/theme1.xml><?xml version="1.0" encoding="utf-8"?>
<a:theme xmlns:a="http://schemas.openxmlformats.org/drawingml/2006/main" name="8_Bain Core">
  <a:themeElements>
    <a:clrScheme name="Bain">
      <a:dk1>
        <a:srgbClr val="000000"/>
      </a:dk1>
      <a:lt1>
        <a:srgbClr val="FFFFFF"/>
      </a:lt1>
      <a:dk2>
        <a:srgbClr val="D6D6D6"/>
      </a:dk2>
      <a:lt2>
        <a:srgbClr val="5C5C5C"/>
      </a:lt2>
      <a:accent1>
        <a:srgbClr val="B4B4B4"/>
      </a:accent1>
      <a:accent2>
        <a:srgbClr val="D6D6D6"/>
      </a:accent2>
      <a:accent3>
        <a:srgbClr val="CC0000"/>
      </a:accent3>
      <a:accent4>
        <a:srgbClr val="46647B"/>
      </a:accent4>
      <a:accent5>
        <a:srgbClr val="507867"/>
      </a:accent5>
      <a:accent6>
        <a:srgbClr val="973B74"/>
      </a:accent6>
      <a:hlink>
        <a:srgbClr val="46647B"/>
      </a:hlink>
      <a:folHlink>
        <a:srgbClr val="7891AA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indent="0" algn="ctr">
          <a:buNone/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 cap="flat">
          <a:solidFill>
            <a:schemeClr val="tx1"/>
          </a:solidFill>
          <a:miter lim="800000"/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36000" tIns="36000" rIns="36000" bIns="36000" rtlCol="0">
        <a:spAutoFit/>
      </a:bodyPr>
      <a:lstStyle>
        <a:defPPr marL="0" indent="0">
          <a:buNone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ain Core On Screen Show (16_9).potx" id="{BF16324A-100D-43A3-989B-06855AF3057C}" vid="{05E5CB01-ABF8-49A0-9EED-8A582D469C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de5a8f2-0da9-4b4b-bfab-acbbc33c8cd7" xsi:nil="true"/>
    <lcf76f155ced4ddcb4097134ff3c332f xmlns="2016ed0b-6fa7-418e-9a8b-539bd057eb51">
      <Terms xmlns="http://schemas.microsoft.com/office/infopath/2007/PartnerControls"/>
    </lcf76f155ced4ddcb4097134ff3c332f>
    <SharedWithUsers xmlns="2de5a8f2-0da9-4b4b-bfab-acbbc33c8cd7">
      <UserInfo>
        <DisplayName>SharingLinks.5cc1d02b-49b7-4c5f-8d15-432a7305acff.OrganizationView.e2e50429-8442-420d-836e-2d364d815e66</DisplayName>
        <AccountId>205</AccountId>
        <AccountType/>
      </UserInfo>
      <UserInfo>
        <DisplayName>Santos, Paloma</DisplayName>
        <AccountId>32</AccountId>
        <AccountType/>
      </UserInfo>
      <UserInfo>
        <DisplayName>SharingLinks.6039da7a-639d-4a4e-a776-41c6ad8a587a.OrganizationView.99b76234-f955-46b1-80d2-f42dbe0bc5de</DisplayName>
        <AccountId>192</AccountId>
        <AccountType/>
      </UserInfo>
      <UserInfo>
        <DisplayName>Mehrotra, Manu</DisplayName>
        <AccountId>191</AccountId>
        <AccountType/>
      </UserInfo>
      <UserInfo>
        <DisplayName>Savalia, Shubh</DisplayName>
        <AccountId>222</AccountId>
        <AccountType/>
      </UserInfo>
      <UserInfo>
        <DisplayName>Joshi, Aditya (Mumbai)</DisplayName>
        <AccountId>223</AccountId>
        <AccountType/>
      </UserInfo>
      <UserInfo>
        <DisplayName>Chadha, Vedika</DisplayName>
        <AccountId>224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65BF4FA8825F47A8DBC8DC21862E2C" ma:contentTypeVersion="16" ma:contentTypeDescription="Create a new document." ma:contentTypeScope="" ma:versionID="60ce74722f765480c657cc9cf153d452">
  <xsd:schema xmlns:xsd="http://www.w3.org/2001/XMLSchema" xmlns:xs="http://www.w3.org/2001/XMLSchema" xmlns:p="http://schemas.microsoft.com/office/2006/metadata/properties" xmlns:ns2="2016ed0b-6fa7-418e-9a8b-539bd057eb51" xmlns:ns3="2de5a8f2-0da9-4b4b-bfab-acbbc33c8cd7" targetNamespace="http://schemas.microsoft.com/office/2006/metadata/properties" ma:root="true" ma:fieldsID="311f712936b2434c0edfd299f0db2807" ns2:_="" ns3:_="">
    <xsd:import namespace="2016ed0b-6fa7-418e-9a8b-539bd057eb51"/>
    <xsd:import namespace="2de5a8f2-0da9-4b4b-bfab-acbbc33c8c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16ed0b-6fa7-418e-9a8b-539bd057eb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b166abb-7d38-406f-9233-2f33b10aef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e5a8f2-0da9-4b4b-bfab-acbbc33c8cd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8c86035f-101a-4ecb-9829-163f25faedb7}" ma:internalName="TaxCatchAll" ma:showField="CatchAllData" ma:web="2de5a8f2-0da9-4b4b-bfab-acbbc33c8c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1AB7B6-ADBC-4644-A47B-0EA2830A59DA}">
  <ds:schemaRefs>
    <ds:schemaRef ds:uri="011e86b5-fef1-48ed-baf9-ad05910c6f04"/>
    <ds:schemaRef ds:uri="0ccf3515-7e5b-4d1b-a8fd-24503eb55a11"/>
    <ds:schemaRef ds:uri="0e427f73-0d6a-4740-aee4-eea3ddf9cfe2"/>
    <ds:schemaRef ds:uri="2016ed0b-6fa7-418e-9a8b-539bd057eb51"/>
    <ds:schemaRef ds:uri="2de5a8f2-0da9-4b4b-bfab-acbbc33c8cd7"/>
    <ds:schemaRef ds:uri="7cc8ae98-094c-4994-ae60-244e8d57d0a7"/>
    <ds:schemaRef ds:uri="a70562cc-a507-4180-a171-068479b32e9c"/>
    <ds:schemaRef ds:uri="ae0ead52-4c73-4f99-9fb2-7ff7390244a8"/>
    <ds:schemaRef ds:uri="eb13b04c-d062-4c48-b56f-742508949864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1AB0904-DFED-4029-8503-EFA2803B370B}">
  <ds:schemaRefs>
    <ds:schemaRef ds:uri="2016ed0b-6fa7-418e-9a8b-539bd057eb51"/>
    <ds:schemaRef ds:uri="2de5a8f2-0da9-4b4b-bfab-acbbc33c8cd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090B2AF-91B5-4DE7-AB57-7117491C94D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Bain Core On Screen Show (16_9)</Template>
  <Application>Microsoft Office PowerPoint</Application>
  <PresentationFormat>Widescreen</PresentationFormat>
  <Slides>23</Slides>
  <Notes>18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8_Bain Core</vt:lpstr>
      <vt:lpstr>Potential ‘dig sites’ to achieve ~$1.5-3B of value at Nike</vt:lpstr>
      <vt:lpstr>Initial outside-in hypothesis on “size of the prize” across the cost bar, based on Bain’s case experience </vt:lpstr>
      <vt:lpstr>Outside-in-hypothesis: There is likely $50-75M in savings on the current in scope expense (additional potential if cost base increases)</vt:lpstr>
      <vt:lpstr>Illustrative pharmaceuticals cost bar</vt:lpstr>
      <vt:lpstr>Illustrative healthcare providers cost bar</vt:lpstr>
      <vt:lpstr>Illustrative healthcare payers cost bar</vt:lpstr>
      <vt:lpstr>Bain experience suggests savings potential of $0.6-1.3B – to be validated and refined in the diligence phase</vt:lpstr>
      <vt:lpstr>ACT identified ~$500M in savings in first phase of cost program</vt:lpstr>
      <vt:lpstr>Illustrative airlines cost bar</vt:lpstr>
      <vt:lpstr>Illustrative aerospace cost bars</vt:lpstr>
      <vt:lpstr>Illustrative auto parts supplier cost bar</vt:lpstr>
      <vt:lpstr>Bain experience suggests run rate potential of ~$435-1160M– to be validated and refined in the diligence phase</vt:lpstr>
      <vt:lpstr>Illustrative banking cost bar</vt:lpstr>
      <vt:lpstr>Illustrative life insurance cost bar as % of premiums</vt:lpstr>
      <vt:lpstr>Illustrative P&amp;C insurance cost bar as % of premium</vt:lpstr>
      <vt:lpstr>Outside-in estimate suggests ~4-5pp EBIT improvement potential through cost optimization, an equivalent of ~USD 15-20M in annual savings</vt:lpstr>
      <vt:lpstr>Baseline: Based on PCG’s published information and industry benchmarks, we have estimated PCG’s cost structure</vt:lpstr>
      <vt:lpstr>Opportunity levers for Fonterra - Detail (1 of 2)</vt:lpstr>
      <vt:lpstr>Opportunity levers for Fonterra - Detail (2 of 2)</vt:lpstr>
      <vt:lpstr>Danone – Peer Benchmarking </vt:lpstr>
      <vt:lpstr>Typical composition of procurement spend of a Dairy Co. </vt:lpstr>
      <vt:lpstr>Illustrative Telco OPEX profile</vt:lpstr>
      <vt:lpstr>Leverage high-level industry benchmarks to quickly assess whether the client has high current state technology spend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Bernhard, Elizabeth</dc:creator>
  <cp:revision>1</cp:revision>
  <cp:lastPrinted>2017-02-15T14:23:56Z</cp:lastPrinted>
  <dcterms:created xsi:type="dcterms:W3CDTF">2023-02-01T15:31:43Z</dcterms:created>
  <dcterms:modified xsi:type="dcterms:W3CDTF">2026-08-28T19:33:43Z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0x010100F365BF4FA8825F47A8DBC8DC21862E2C</vt:lpwstr>
  </property>
</Properties>
</file>