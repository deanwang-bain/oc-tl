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8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10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1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14.xml" ContentType="application/vnd.openxmlformats-officedocument.presentationml.notesSlide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16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17.xml" ContentType="application/vnd.openxmlformats-officedocument.presentationml.notesSlide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notesSlides/notesSlide18.xml" ContentType="application/vnd.openxmlformats-officedocument.presentationml.notesSlide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9.xml" ContentType="application/vnd.openxmlformats-officedocument.drawingml.chart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notesSlides/notesSlide20.xml" ContentType="application/vnd.openxmlformats-officedocument.presentationml.notesSlide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21.xml" ContentType="application/vnd.openxmlformats-officedocument.presentationml.notesSlid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notesSlides/notesSlide22.xml" ContentType="application/vnd.openxmlformats-officedocument.presentationml.notesSlide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notesSlides/notesSlide23.xml" ContentType="application/vnd.openxmlformats-officedocument.presentationml.notesSlide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notesSlides/notesSlide24.xml" ContentType="application/vnd.openxmlformats-officedocument.presentationml.notesSlide+xml"/>
  <Override PartName="/ppt/charts/chart10.xml" ContentType="application/vnd.openxmlformats-officedocument.drawingml.chart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1.xml" ContentType="application/vnd.openxmlformats-officedocument.drawingml.chart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12.xml" ContentType="application/vnd.openxmlformats-officedocument.drawingml.chart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notesSlides/notesSlide27.xml" ContentType="application/vnd.openxmlformats-officedocument.presentationml.notesSlide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notesSlides/notesSlide28.xml" ContentType="application/vnd.openxmlformats-officedocument.presentationml.notesSlide+xml"/>
  <Override PartName="/ppt/tags/tag45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304" r:id="rId5"/>
    <p:sldId id="1481" r:id="rId6"/>
    <p:sldId id="2147483645" r:id="rId7"/>
    <p:sldId id="2147483636" r:id="rId8"/>
    <p:sldId id="2147481106" r:id="rId9"/>
    <p:sldId id="2147483536" r:id="rId10"/>
    <p:sldId id="257" r:id="rId11"/>
    <p:sldId id="266" r:id="rId12"/>
    <p:sldId id="258" r:id="rId13"/>
    <p:sldId id="267" r:id="rId14"/>
    <p:sldId id="2147481078" r:id="rId15"/>
    <p:sldId id="1354" r:id="rId16"/>
    <p:sldId id="259" r:id="rId17"/>
    <p:sldId id="354" r:id="rId18"/>
    <p:sldId id="2147481074" r:id="rId19"/>
    <p:sldId id="260" r:id="rId20"/>
    <p:sldId id="2147483644" r:id="rId21"/>
    <p:sldId id="256" r:id="rId22"/>
    <p:sldId id="261" r:id="rId23"/>
    <p:sldId id="2147481077" r:id="rId24"/>
    <p:sldId id="262" r:id="rId25"/>
    <p:sldId id="1323" r:id="rId26"/>
    <p:sldId id="452" r:id="rId27"/>
    <p:sldId id="1503" r:id="rId28"/>
    <p:sldId id="2147481105" r:id="rId29"/>
    <p:sldId id="263" r:id="rId30"/>
    <p:sldId id="268" r:id="rId31"/>
    <p:sldId id="2147481102" r:id="rId32"/>
    <p:sldId id="269" r:id="rId33"/>
    <p:sldId id="270" r:id="rId34"/>
    <p:sldId id="271" r:id="rId35"/>
    <p:sldId id="264" r:id="rId36"/>
    <p:sldId id="272" r:id="rId37"/>
    <p:sldId id="2147483647" r:id="rId38"/>
    <p:sldId id="265" r:id="rId39"/>
    <p:sldId id="2147483646" r:id="rId40"/>
    <p:sldId id="273" r:id="rId41"/>
    <p:sldId id="274" r:id="rId42"/>
    <p:sldId id="1311" r:id="rId43"/>
  </p:sldIdLst>
  <p:sldSz cx="12192000" cy="6858000"/>
  <p:notesSz cx="6797675" cy="9926638"/>
  <p:custDataLst>
    <p:tags r:id="rId45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7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CDB"/>
    <a:srgbClr val="FFFFFF"/>
    <a:srgbClr val="5C5C5C"/>
    <a:srgbClr val="FAEEC3"/>
    <a:srgbClr val="F2DE8A"/>
    <a:srgbClr val="E9CD49"/>
    <a:srgbClr val="C6AA3D"/>
    <a:srgbClr val="AB8933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32" y="636"/>
      </p:cViewPr>
      <p:guideLst>
        <p:guide orient="horz" pos="35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, Min" userId="d3e45563-9bdf-4ccc-a1d3-7c3948c14975" providerId="ADAL" clId="{B629431A-7B27-4DC4-A7C6-613E79DDF560}"/>
    <pc:docChg chg="custSel addSld delSld modSld">
      <pc:chgData name="Park, Min" userId="d3e45563-9bdf-4ccc-a1d3-7c3948c14975" providerId="ADAL" clId="{B629431A-7B27-4DC4-A7C6-613E79DDF560}" dt="2025-06-25T15:23:27.528" v="196" actId="47"/>
      <pc:docMkLst>
        <pc:docMk/>
      </pc:docMkLst>
      <pc:sldChg chg="addSp modSp new del mod">
        <pc:chgData name="Park, Min" userId="d3e45563-9bdf-4ccc-a1d3-7c3948c14975" providerId="ADAL" clId="{B629431A-7B27-4DC4-A7C6-613E79DDF560}" dt="2025-06-25T15:22:57.316" v="195" actId="47"/>
        <pc:sldMkLst>
          <pc:docMk/>
          <pc:sldMk cId="1187015947" sldId="275"/>
        </pc:sldMkLst>
        <pc:spChg chg="add mod">
          <ac:chgData name="Park, Min" userId="d3e45563-9bdf-4ccc-a1d3-7c3948c14975" providerId="ADAL" clId="{B629431A-7B27-4DC4-A7C6-613E79DDF560}" dt="2025-06-25T15:22:50.969" v="61"/>
          <ac:spMkLst>
            <pc:docMk/>
            <pc:sldMk cId="1187015947" sldId="275"/>
            <ac:spMk id="7" creationId="{210A4A4D-1678-4251-A260-B1E58ADD1EC2}"/>
          </ac:spMkLst>
        </pc:spChg>
        <pc:spChg chg="add mod">
          <ac:chgData name="Park, Min" userId="d3e45563-9bdf-4ccc-a1d3-7c3948c14975" providerId="ADAL" clId="{B629431A-7B27-4DC4-A7C6-613E79DDF560}" dt="2025-06-25T15:22:50.969" v="63"/>
          <ac:spMkLst>
            <pc:docMk/>
            <pc:sldMk cId="1187015947" sldId="275"/>
            <ac:spMk id="8" creationId="{694F2212-9AD3-27C0-22A1-5940208C10F0}"/>
          </ac:spMkLst>
        </pc:spChg>
        <pc:spChg chg="add mod">
          <ac:chgData name="Park, Min" userId="d3e45563-9bdf-4ccc-a1d3-7c3948c14975" providerId="ADAL" clId="{B629431A-7B27-4DC4-A7C6-613E79DDF560}" dt="2025-06-25T15:22:50.969" v="61"/>
          <ac:spMkLst>
            <pc:docMk/>
            <pc:sldMk cId="1187015947" sldId="275"/>
            <ac:spMk id="9" creationId="{A7CFF506-4AA6-5E81-5D19-3E2677D8ACD1}"/>
          </ac:spMkLst>
        </pc:spChg>
        <pc:spChg chg="add mod">
          <ac:chgData name="Park, Min" userId="d3e45563-9bdf-4ccc-a1d3-7c3948c14975" providerId="ADAL" clId="{B629431A-7B27-4DC4-A7C6-613E79DDF560}" dt="2025-06-25T15:22:50.969" v="63"/>
          <ac:spMkLst>
            <pc:docMk/>
            <pc:sldMk cId="1187015947" sldId="275"/>
            <ac:spMk id="10" creationId="{1AAB1CCB-7E69-9246-2208-1FF411CB7B71}"/>
          </ac:spMkLst>
        </pc:spChg>
        <pc:grpChg chg="add mod">
          <ac:chgData name="Park, Min" userId="d3e45563-9bdf-4ccc-a1d3-7c3948c14975" providerId="ADAL" clId="{B629431A-7B27-4DC4-A7C6-613E79DDF560}" dt="2025-06-25T15:22:50.969" v="62"/>
          <ac:grpSpMkLst>
            <pc:docMk/>
            <pc:sldMk cId="1187015947" sldId="275"/>
            <ac:grpSpMk id="11" creationId="{EED9F0E2-2D72-18C5-0586-0D02BE76F861}"/>
          </ac:grpSpMkLst>
        </pc:grpChg>
        <pc:grpChg chg="add mod">
          <ac:chgData name="Park, Min" userId="d3e45563-9bdf-4ccc-a1d3-7c3948c14975" providerId="ADAL" clId="{B629431A-7B27-4DC4-A7C6-613E79DDF560}" dt="2025-06-25T15:22:50.969" v="64"/>
          <ac:grpSpMkLst>
            <pc:docMk/>
            <pc:sldMk cId="1187015947" sldId="275"/>
            <ac:grpSpMk id="12" creationId="{8230BF5B-267F-EBD8-BC55-8B616B242172}"/>
          </ac:grpSpMkLst>
        </pc:grpChg>
        <pc:cxnChg chg="add mod ord">
          <ac:chgData name="Park, Min" userId="d3e45563-9bdf-4ccc-a1d3-7c3948c14975" providerId="ADAL" clId="{B629431A-7B27-4DC4-A7C6-613E79DDF560}" dt="2025-06-25T15:22:50.969" v="61"/>
          <ac:cxnSpMkLst>
            <pc:docMk/>
            <pc:sldMk cId="1187015947" sldId="275"/>
            <ac:cxnSpMk id="3" creationId="{39D4A5B4-2DEA-ECF6-F05C-9912F677F023}"/>
          </ac:cxnSpMkLst>
        </pc:cxnChg>
        <pc:cxnChg chg="add mod ord">
          <ac:chgData name="Park, Min" userId="d3e45563-9bdf-4ccc-a1d3-7c3948c14975" providerId="ADAL" clId="{B629431A-7B27-4DC4-A7C6-613E79DDF560}" dt="2025-06-25T15:22:50.969" v="63"/>
          <ac:cxnSpMkLst>
            <pc:docMk/>
            <pc:sldMk cId="1187015947" sldId="275"/>
            <ac:cxnSpMk id="4" creationId="{3260E842-B45F-412A-6BD3-B58ED0833FAE}"/>
          </ac:cxnSpMkLst>
        </pc:cxnChg>
        <pc:cxnChg chg="add mod ord">
          <ac:chgData name="Park, Min" userId="d3e45563-9bdf-4ccc-a1d3-7c3948c14975" providerId="ADAL" clId="{B629431A-7B27-4DC4-A7C6-613E79DDF560}" dt="2025-06-25T15:22:50.969" v="61"/>
          <ac:cxnSpMkLst>
            <pc:docMk/>
            <pc:sldMk cId="1187015947" sldId="275"/>
            <ac:cxnSpMk id="5" creationId="{D45FD9BA-98A2-9881-1D59-0BBC7A6568A2}"/>
          </ac:cxnSpMkLst>
        </pc:cxnChg>
        <pc:cxnChg chg="add mod ord">
          <ac:chgData name="Park, Min" userId="d3e45563-9bdf-4ccc-a1d3-7c3948c14975" providerId="ADAL" clId="{B629431A-7B27-4DC4-A7C6-613E79DDF560}" dt="2025-06-25T15:22:50.969" v="63"/>
          <ac:cxnSpMkLst>
            <pc:docMk/>
            <pc:sldMk cId="1187015947" sldId="275"/>
            <ac:cxnSpMk id="6" creationId="{3DC180E8-29CE-15B9-CF20-6049DC388809}"/>
          </ac:cxnSpMkLst>
        </pc:cxnChg>
      </pc:sldChg>
      <pc:sldChg chg="addSp modSp add del mod">
        <pc:chgData name="Park, Min" userId="d3e45563-9bdf-4ccc-a1d3-7c3948c14975" providerId="ADAL" clId="{B629431A-7B27-4DC4-A7C6-613E79DDF560}" dt="2025-06-25T15:23:27.528" v="196" actId="47"/>
        <pc:sldMkLst>
          <pc:docMk/>
          <pc:sldMk cId="2505781100" sldId="276"/>
        </pc:sldMkLst>
        <pc:spChg chg="mod">
          <ac:chgData name="Park, Min" userId="d3e45563-9bdf-4ccc-a1d3-7c3948c14975" providerId="ADAL" clId="{B629431A-7B27-4DC4-A7C6-613E79DDF560}" dt="2025-06-25T15:22:55.812" v="87" actId="20577"/>
          <ac:spMkLst>
            <pc:docMk/>
            <pc:sldMk cId="2505781100" sldId="276"/>
            <ac:spMk id="2" creationId="{88CB55CC-2301-CE62-1AF3-6CE219A6FF18}"/>
          </ac:spMkLst>
        </pc:spChg>
        <pc:spChg chg="add mod">
          <ac:chgData name="Park, Min" userId="d3e45563-9bdf-4ccc-a1d3-7c3948c14975" providerId="ADAL" clId="{B629431A-7B27-4DC4-A7C6-613E79DDF560}" dt="2025-06-25T15:22:55.929" v="130" actId="948"/>
          <ac:spMkLst>
            <pc:docMk/>
            <pc:sldMk cId="2505781100" sldId="276"/>
            <ac:spMk id="3" creationId="{0F045A79-CD26-4858-8033-3DDF121070FF}"/>
          </ac:spMkLst>
        </pc:spChg>
        <pc:spChg chg="add mod">
          <ac:chgData name="Park, Min" userId="d3e45563-9bdf-4ccc-a1d3-7c3948c14975" providerId="ADAL" clId="{B629431A-7B27-4DC4-A7C6-613E79DDF560}" dt="2025-06-25T15:22:55.961" v="191"/>
          <ac:spMkLst>
            <pc:docMk/>
            <pc:sldMk cId="2505781100" sldId="276"/>
            <ac:spMk id="8" creationId="{6EB18876-641C-F875-0ADA-21C57CE4CDC1}"/>
          </ac:spMkLst>
        </pc:spChg>
        <pc:spChg chg="add mod">
          <ac:chgData name="Park, Min" userId="d3e45563-9bdf-4ccc-a1d3-7c3948c14975" providerId="ADAL" clId="{B629431A-7B27-4DC4-A7C6-613E79DDF560}" dt="2025-06-25T15:22:55.961" v="193"/>
          <ac:spMkLst>
            <pc:docMk/>
            <pc:sldMk cId="2505781100" sldId="276"/>
            <ac:spMk id="9" creationId="{401DF196-9B5D-8BFE-BEF3-D71DBDF62D56}"/>
          </ac:spMkLst>
        </pc:spChg>
        <pc:spChg chg="add mod">
          <ac:chgData name="Park, Min" userId="d3e45563-9bdf-4ccc-a1d3-7c3948c14975" providerId="ADAL" clId="{B629431A-7B27-4DC4-A7C6-613E79DDF560}" dt="2025-06-25T15:22:55.961" v="191"/>
          <ac:spMkLst>
            <pc:docMk/>
            <pc:sldMk cId="2505781100" sldId="276"/>
            <ac:spMk id="10" creationId="{6303E539-2F38-9074-EA1B-EBDAC32ED001}"/>
          </ac:spMkLst>
        </pc:spChg>
        <pc:spChg chg="add mod">
          <ac:chgData name="Park, Min" userId="d3e45563-9bdf-4ccc-a1d3-7c3948c14975" providerId="ADAL" clId="{B629431A-7B27-4DC4-A7C6-613E79DDF560}" dt="2025-06-25T15:22:55.961" v="193"/>
          <ac:spMkLst>
            <pc:docMk/>
            <pc:sldMk cId="2505781100" sldId="276"/>
            <ac:spMk id="11" creationId="{6E96CAAC-85AB-477A-A754-0761FAEB584C}"/>
          </ac:spMkLst>
        </pc:spChg>
        <pc:grpChg chg="add mod">
          <ac:chgData name="Park, Min" userId="d3e45563-9bdf-4ccc-a1d3-7c3948c14975" providerId="ADAL" clId="{B629431A-7B27-4DC4-A7C6-613E79DDF560}" dt="2025-06-25T15:22:55.961" v="192"/>
          <ac:grpSpMkLst>
            <pc:docMk/>
            <pc:sldMk cId="2505781100" sldId="276"/>
            <ac:grpSpMk id="12" creationId="{9B398955-A896-3F07-F02F-11F2B1E42882}"/>
          </ac:grpSpMkLst>
        </pc:grpChg>
        <pc:grpChg chg="add mod">
          <ac:chgData name="Park, Min" userId="d3e45563-9bdf-4ccc-a1d3-7c3948c14975" providerId="ADAL" clId="{B629431A-7B27-4DC4-A7C6-613E79DDF560}" dt="2025-06-25T15:22:55.961" v="194"/>
          <ac:grpSpMkLst>
            <pc:docMk/>
            <pc:sldMk cId="2505781100" sldId="276"/>
            <ac:grpSpMk id="13" creationId="{B64022BD-88F8-ABA3-6AF5-D6A6F0F3CD2B}"/>
          </ac:grpSpMkLst>
        </pc:grpChg>
        <pc:cxnChg chg="add mod ord">
          <ac:chgData name="Park, Min" userId="d3e45563-9bdf-4ccc-a1d3-7c3948c14975" providerId="ADAL" clId="{B629431A-7B27-4DC4-A7C6-613E79DDF560}" dt="2025-06-25T15:22:55.961" v="191"/>
          <ac:cxnSpMkLst>
            <pc:docMk/>
            <pc:sldMk cId="2505781100" sldId="276"/>
            <ac:cxnSpMk id="4" creationId="{EB736C84-FE99-647E-C382-C82D51D6F33B}"/>
          </ac:cxnSpMkLst>
        </pc:cxnChg>
        <pc:cxnChg chg="add mod ord">
          <ac:chgData name="Park, Min" userId="d3e45563-9bdf-4ccc-a1d3-7c3948c14975" providerId="ADAL" clId="{B629431A-7B27-4DC4-A7C6-613E79DDF560}" dt="2025-06-25T15:22:55.961" v="193"/>
          <ac:cxnSpMkLst>
            <pc:docMk/>
            <pc:sldMk cId="2505781100" sldId="276"/>
            <ac:cxnSpMk id="5" creationId="{23A5E89E-D3ED-7B46-273E-3120EC4BD74A}"/>
          </ac:cxnSpMkLst>
        </pc:cxnChg>
        <pc:cxnChg chg="add mod ord">
          <ac:chgData name="Park, Min" userId="d3e45563-9bdf-4ccc-a1d3-7c3948c14975" providerId="ADAL" clId="{B629431A-7B27-4DC4-A7C6-613E79DDF560}" dt="2025-06-25T15:22:55.961" v="191"/>
          <ac:cxnSpMkLst>
            <pc:docMk/>
            <pc:sldMk cId="2505781100" sldId="276"/>
            <ac:cxnSpMk id="6" creationId="{23F91DC6-B0AB-DB2A-451D-A6C286E3C4CA}"/>
          </ac:cxnSpMkLst>
        </pc:cxnChg>
        <pc:cxnChg chg="add mod ord">
          <ac:chgData name="Park, Min" userId="d3e45563-9bdf-4ccc-a1d3-7c3948c14975" providerId="ADAL" clId="{B629431A-7B27-4DC4-A7C6-613E79DDF560}" dt="2025-06-25T15:22:55.961" v="193"/>
          <ac:cxnSpMkLst>
            <pc:docMk/>
            <pc:sldMk cId="2505781100" sldId="276"/>
            <ac:cxnSpMk id="7" creationId="{CF0393AE-1D93-AB83-EE3A-78D85ED09FD1}"/>
          </ac:cxnSpMkLst>
        </pc:cxnChg>
      </pc:sldChg>
    </pc:docChg>
  </pc:docChgLst>
  <pc:docChgLst>
    <pc:chgData name="Eaton, Alex" userId="6bca960c-ab82-4fce-a203-7b392deeea51" providerId="ADAL" clId="{B0065F24-7C19-40E3-B6DB-835EBF5F879B}"/>
    <pc:docChg chg="undo modSld">
      <pc:chgData name="Eaton, Alex" userId="6bca960c-ab82-4fce-a203-7b392deeea51" providerId="ADAL" clId="{B0065F24-7C19-40E3-B6DB-835EBF5F879B}" dt="2025-04-29T20:13:16.381" v="32"/>
      <pc:docMkLst>
        <pc:docMk/>
      </pc:docMkLst>
      <pc:sldChg chg="modSp mod">
        <pc:chgData name="Eaton, Alex" userId="6bca960c-ab82-4fce-a203-7b392deeea51" providerId="ADAL" clId="{B0065F24-7C19-40E3-B6DB-835EBF5F879B}" dt="2025-04-29T18:33:02.596" v="6" actId="20577"/>
        <pc:sldMkLst>
          <pc:docMk/>
          <pc:sldMk cId="3568884321" sldId="271"/>
        </pc:sldMkLst>
        <pc:spChg chg="mod">
          <ac:chgData name="Eaton, Alex" userId="6bca960c-ab82-4fce-a203-7b392deeea51" providerId="ADAL" clId="{B0065F24-7C19-40E3-B6DB-835EBF5F879B}" dt="2025-04-29T18:33:02.596" v="6" actId="20577"/>
          <ac:spMkLst>
            <pc:docMk/>
            <pc:sldMk cId="3568884321" sldId="271"/>
            <ac:spMk id="25" creationId="{6B40BD93-34ED-79B7-2719-F2D9EAB1D03E}"/>
          </ac:spMkLst>
        </pc:spChg>
      </pc:sldChg>
      <pc:sldChg chg="addSp modSp mod">
        <pc:chgData name="Eaton, Alex" userId="6bca960c-ab82-4fce-a203-7b392deeea51" providerId="ADAL" clId="{B0065F24-7C19-40E3-B6DB-835EBF5F879B}" dt="2025-04-29T18:33:19.346" v="11"/>
        <pc:sldMkLst>
          <pc:docMk/>
          <pc:sldMk cId="1907958574" sldId="272"/>
        </pc:sldMkLst>
        <pc:spChg chg="add mod">
          <ac:chgData name="Eaton, Alex" userId="6bca960c-ab82-4fce-a203-7b392deeea51" providerId="ADAL" clId="{B0065F24-7C19-40E3-B6DB-835EBF5F879B}" dt="2025-04-29T18:33:19.346" v="11"/>
          <ac:spMkLst>
            <pc:docMk/>
            <pc:sldMk cId="1907958574" sldId="272"/>
            <ac:spMk id="25" creationId="{BDB4FB56-C6A3-1207-FF64-2C797FE3AEE2}"/>
          </ac:spMkLst>
        </pc:spChg>
        <pc:graphicFrameChg chg="modGraphic">
          <ac:chgData name="Eaton, Alex" userId="6bca960c-ab82-4fce-a203-7b392deeea51" providerId="ADAL" clId="{B0065F24-7C19-40E3-B6DB-835EBF5F879B}" dt="2025-04-29T18:22:33.243" v="1" actId="12"/>
          <ac:graphicFrameMkLst>
            <pc:docMk/>
            <pc:sldMk cId="1907958574" sldId="272"/>
            <ac:graphicFrameMk id="21" creationId="{5892A50C-6336-4A55-9CC4-AA677276987D}"/>
          </ac:graphicFrameMkLst>
        </pc:graphicFrameChg>
      </pc:sldChg>
      <pc:sldChg chg="addSp modSp mod">
        <pc:chgData name="Eaton, Alex" userId="6bca960c-ab82-4fce-a203-7b392deeea51" providerId="ADAL" clId="{B0065F24-7C19-40E3-B6DB-835EBF5F879B}" dt="2025-04-29T19:28:42.885" v="23"/>
        <pc:sldMkLst>
          <pc:docMk/>
          <pc:sldMk cId="2195717893" sldId="273"/>
        </pc:sldMkLst>
        <pc:spChg chg="add mod">
          <ac:chgData name="Eaton, Alex" userId="6bca960c-ab82-4fce-a203-7b392deeea51" providerId="ADAL" clId="{B0065F24-7C19-40E3-B6DB-835EBF5F879B}" dt="2025-04-29T19:28:42.885" v="23"/>
          <ac:spMkLst>
            <pc:docMk/>
            <pc:sldMk cId="2195717893" sldId="273"/>
            <ac:spMk id="4" creationId="{B9FAA127-8CB1-76A5-D4A5-5E0F959105CD}"/>
          </ac:spMkLst>
        </pc:spChg>
        <pc:graphicFrameChg chg="modGraphic">
          <ac:chgData name="Eaton, Alex" userId="6bca960c-ab82-4fce-a203-7b392deeea51" providerId="ADAL" clId="{B0065F24-7C19-40E3-B6DB-835EBF5F879B}" dt="2025-04-29T19:27:20.318" v="22" actId="12"/>
          <ac:graphicFrameMkLst>
            <pc:docMk/>
            <pc:sldMk cId="2195717893" sldId="273"/>
            <ac:graphicFrameMk id="42" creationId="{83D05BF2-B216-4DEE-AE62-45C0DBCC6482}"/>
          </ac:graphicFrameMkLst>
        </pc:graphicFrameChg>
      </pc:sldChg>
      <pc:sldChg chg="addSp modSp mod">
        <pc:chgData name="Eaton, Alex" userId="6bca960c-ab82-4fce-a203-7b392deeea51" providerId="ADAL" clId="{B0065F24-7C19-40E3-B6DB-835EBF5F879B}" dt="2025-04-29T20:13:16.381" v="32"/>
        <pc:sldMkLst>
          <pc:docMk/>
          <pc:sldMk cId="3424720950" sldId="274"/>
        </pc:sldMkLst>
        <pc:spChg chg="add mod">
          <ac:chgData name="Eaton, Alex" userId="6bca960c-ab82-4fce-a203-7b392deeea51" providerId="ADAL" clId="{B0065F24-7C19-40E3-B6DB-835EBF5F879B}" dt="2025-04-29T20:13:16.381" v="32"/>
          <ac:spMkLst>
            <pc:docMk/>
            <pc:sldMk cId="3424720950" sldId="274"/>
            <ac:spMk id="4" creationId="{81B946BF-4EC6-7CE7-1822-4BDD42F629DE}"/>
          </ac:spMkLst>
        </pc:spChg>
        <pc:graphicFrameChg chg="modGraphic">
          <ac:chgData name="Eaton, Alex" userId="6bca960c-ab82-4fce-a203-7b392deeea51" providerId="ADAL" clId="{B0065F24-7C19-40E3-B6DB-835EBF5F879B}" dt="2025-04-29T20:12:15.463" v="31" actId="12"/>
          <ac:graphicFrameMkLst>
            <pc:docMk/>
            <pc:sldMk cId="3424720950" sldId="274"/>
            <ac:graphicFrameMk id="42" creationId="{83D05BF2-B216-4DEE-AE62-45C0DBCC6482}"/>
          </ac:graphicFrameMkLst>
        </pc:graphicFrameChg>
      </pc:sldChg>
      <pc:sldChg chg="addSp modSp mod">
        <pc:chgData name="Eaton, Alex" userId="6bca960c-ab82-4fce-a203-7b392deeea51" providerId="ADAL" clId="{B0065F24-7C19-40E3-B6DB-835EBF5F879B}" dt="2025-04-29T19:24:29.810" v="16" actId="12"/>
        <pc:sldMkLst>
          <pc:docMk/>
          <pc:sldMk cId="4075415095" sldId="2147483646"/>
        </pc:sldMkLst>
        <pc:spChg chg="add mod">
          <ac:chgData name="Eaton, Alex" userId="6bca960c-ab82-4fce-a203-7b392deeea51" providerId="ADAL" clId="{B0065F24-7C19-40E3-B6DB-835EBF5F879B}" dt="2025-04-29T19:17:50.828" v="15"/>
          <ac:spMkLst>
            <pc:docMk/>
            <pc:sldMk cId="4075415095" sldId="2147483646"/>
            <ac:spMk id="4" creationId="{C2E28584-04BF-33A4-1EBB-53F3644207FA}"/>
          </ac:spMkLst>
        </pc:spChg>
        <pc:graphicFrameChg chg="modGraphic">
          <ac:chgData name="Eaton, Alex" userId="6bca960c-ab82-4fce-a203-7b392deeea51" providerId="ADAL" clId="{B0065F24-7C19-40E3-B6DB-835EBF5F879B}" dt="2025-04-29T19:24:29.810" v="16" actId="12"/>
          <ac:graphicFrameMkLst>
            <pc:docMk/>
            <pc:sldMk cId="4075415095" sldId="2147483646"/>
            <ac:graphicFrameMk id="21" creationId="{5892A50C-6336-4A55-9CC4-AA677276987D}"/>
          </ac:graphicFrameMkLst>
        </pc:graphicFrameChg>
      </pc:sldChg>
      <pc:sldChg chg="addSp modSp mod">
        <pc:chgData name="Eaton, Alex" userId="6bca960c-ab82-4fce-a203-7b392deeea51" providerId="ADAL" clId="{B0065F24-7C19-40E3-B6DB-835EBF5F879B}" dt="2025-04-29T18:33:15.345" v="10" actId="20577"/>
        <pc:sldMkLst>
          <pc:docMk/>
          <pc:sldMk cId="62466711" sldId="2147483647"/>
        </pc:sldMkLst>
        <pc:spChg chg="add mod">
          <ac:chgData name="Eaton, Alex" userId="6bca960c-ab82-4fce-a203-7b392deeea51" providerId="ADAL" clId="{B0065F24-7C19-40E3-B6DB-835EBF5F879B}" dt="2025-04-29T18:33:15.345" v="10" actId="20577"/>
          <ac:spMkLst>
            <pc:docMk/>
            <pc:sldMk cId="62466711" sldId="2147483647"/>
            <ac:spMk id="2" creationId="{9CA84E0B-BE92-8BDE-0103-45D018F96656}"/>
          </ac:spMkLst>
        </pc:spChg>
        <pc:graphicFrameChg chg="modGraphic">
          <ac:chgData name="Eaton, Alex" userId="6bca960c-ab82-4fce-a203-7b392deeea51" providerId="ADAL" clId="{B0065F24-7C19-40E3-B6DB-835EBF5F879B}" dt="2025-04-29T18:33:03.483" v="7" actId="12"/>
          <ac:graphicFrameMkLst>
            <pc:docMk/>
            <pc:sldMk cId="62466711" sldId="2147483647"/>
            <ac:graphicFrameMk id="4" creationId="{D4964C20-7806-CD28-9696-79BF370A258E}"/>
          </ac:graphicFrameMkLst>
        </pc:graphicFrameChg>
      </pc:sldChg>
    </pc:docChg>
  </pc:docChgLst>
  <pc:docChgLst>
    <pc:chgData name="Salazar, Mariana" userId="f6e65adb-5e14-45a7-9b8e-f1b845da2201" providerId="ADAL" clId="{60690613-5091-460F-A735-E1228714F621}"/>
    <pc:docChg chg="modSld">
      <pc:chgData name="Salazar, Mariana" userId="f6e65adb-5e14-45a7-9b8e-f1b845da2201" providerId="ADAL" clId="{60690613-5091-460F-A735-E1228714F621}" dt="2024-12-10T04:06:37.367" v="7"/>
      <pc:docMkLst>
        <pc:docMk/>
      </pc:docMkLst>
      <pc:sldChg chg="addSp modSp">
        <pc:chgData name="Salazar, Mariana" userId="f6e65adb-5e14-45a7-9b8e-f1b845da2201" providerId="ADAL" clId="{60690613-5091-460F-A735-E1228714F621}" dt="2024-12-10T03:47:04.624" v="3"/>
        <pc:sldMkLst>
          <pc:docMk/>
          <pc:sldMk cId="274241641" sldId="268"/>
        </pc:sldMkLst>
        <pc:spChg chg="add mod">
          <ac:chgData name="Salazar, Mariana" userId="f6e65adb-5e14-45a7-9b8e-f1b845da2201" providerId="ADAL" clId="{60690613-5091-460F-A735-E1228714F621}" dt="2024-12-10T03:47:04.624" v="3"/>
          <ac:spMkLst>
            <pc:docMk/>
            <pc:sldMk cId="274241641" sldId="268"/>
            <ac:spMk id="4" creationId="{9A0A25B1-589C-DD89-EAC1-6A668715C45C}"/>
          </ac:spMkLst>
        </pc:spChg>
      </pc:sldChg>
      <pc:sldChg chg="addSp modSp">
        <pc:chgData name="Salazar, Mariana" userId="f6e65adb-5e14-45a7-9b8e-f1b845da2201" providerId="ADAL" clId="{60690613-5091-460F-A735-E1228714F621}" dt="2024-12-10T03:59:08.225" v="5"/>
        <pc:sldMkLst>
          <pc:docMk/>
          <pc:sldMk cId="3828408051" sldId="269"/>
        </pc:sldMkLst>
        <pc:spChg chg="add mod">
          <ac:chgData name="Salazar, Mariana" userId="f6e65adb-5e14-45a7-9b8e-f1b845da2201" providerId="ADAL" clId="{60690613-5091-460F-A735-E1228714F621}" dt="2024-12-10T03:59:08.225" v="5"/>
          <ac:spMkLst>
            <pc:docMk/>
            <pc:sldMk cId="3828408051" sldId="269"/>
            <ac:spMk id="4" creationId="{05975958-2142-1B64-1715-DB553C1439BC}"/>
          </ac:spMkLst>
        </pc:spChg>
      </pc:sldChg>
      <pc:sldChg chg="addSp modSp">
        <pc:chgData name="Salazar, Mariana" userId="f6e65adb-5e14-45a7-9b8e-f1b845da2201" providerId="ADAL" clId="{60690613-5091-460F-A735-E1228714F621}" dt="2024-12-10T04:04:27.090" v="6"/>
        <pc:sldMkLst>
          <pc:docMk/>
          <pc:sldMk cId="3610627299" sldId="270"/>
        </pc:sldMkLst>
        <pc:spChg chg="add mod">
          <ac:chgData name="Salazar, Mariana" userId="f6e65adb-5e14-45a7-9b8e-f1b845da2201" providerId="ADAL" clId="{60690613-5091-460F-A735-E1228714F621}" dt="2024-12-10T04:04:27.090" v="6"/>
          <ac:spMkLst>
            <pc:docMk/>
            <pc:sldMk cId="3610627299" sldId="270"/>
            <ac:spMk id="7" creationId="{BFB4BD81-2ACC-0FBE-A379-C12EBCCE3D82}"/>
          </ac:spMkLst>
        </pc:spChg>
      </pc:sldChg>
      <pc:sldChg chg="addSp modSp">
        <pc:chgData name="Salazar, Mariana" userId="f6e65adb-5e14-45a7-9b8e-f1b845da2201" providerId="ADAL" clId="{60690613-5091-460F-A735-E1228714F621}" dt="2024-12-10T04:06:37.367" v="7"/>
        <pc:sldMkLst>
          <pc:docMk/>
          <pc:sldMk cId="3568884321" sldId="271"/>
        </pc:sldMkLst>
        <pc:spChg chg="add mod">
          <ac:chgData name="Salazar, Mariana" userId="f6e65adb-5e14-45a7-9b8e-f1b845da2201" providerId="ADAL" clId="{60690613-5091-460F-A735-E1228714F621}" dt="2024-12-10T04:06:37.367" v="7"/>
          <ac:spMkLst>
            <pc:docMk/>
            <pc:sldMk cId="3568884321" sldId="271"/>
            <ac:spMk id="25" creationId="{6B40BD93-34ED-79B7-2719-F2D9EAB1D03E}"/>
          </ac:spMkLst>
        </pc:spChg>
      </pc:sldChg>
      <pc:sldChg chg="addSp modSp">
        <pc:chgData name="Salazar, Mariana" userId="f6e65adb-5e14-45a7-9b8e-f1b845da2201" providerId="ADAL" clId="{60690613-5091-460F-A735-E1228714F621}" dt="2024-12-10T03:33:07.076" v="0"/>
        <pc:sldMkLst>
          <pc:docMk/>
          <pc:sldMk cId="3255526203" sldId="452"/>
        </pc:sldMkLst>
        <pc:spChg chg="add mod">
          <ac:chgData name="Salazar, Mariana" userId="f6e65adb-5e14-45a7-9b8e-f1b845da2201" providerId="ADAL" clId="{60690613-5091-460F-A735-E1228714F621}" dt="2024-12-10T03:33:07.076" v="0"/>
          <ac:spMkLst>
            <pc:docMk/>
            <pc:sldMk cId="3255526203" sldId="452"/>
            <ac:spMk id="20" creationId="{2AF4C6C7-F87B-701B-30D6-7B189D956B71}"/>
          </ac:spMkLst>
        </pc:spChg>
      </pc:sldChg>
      <pc:sldChg chg="addSp modSp">
        <pc:chgData name="Salazar, Mariana" userId="f6e65adb-5e14-45a7-9b8e-f1b845da2201" providerId="ADAL" clId="{60690613-5091-460F-A735-E1228714F621}" dt="2024-12-10T03:42:08.876" v="1"/>
        <pc:sldMkLst>
          <pc:docMk/>
          <pc:sldMk cId="285920949" sldId="1503"/>
        </pc:sldMkLst>
        <pc:spChg chg="add mod">
          <ac:chgData name="Salazar, Mariana" userId="f6e65adb-5e14-45a7-9b8e-f1b845da2201" providerId="ADAL" clId="{60690613-5091-460F-A735-E1228714F621}" dt="2024-12-10T03:42:08.876" v="1"/>
          <ac:spMkLst>
            <pc:docMk/>
            <pc:sldMk cId="285920949" sldId="1503"/>
            <ac:spMk id="4" creationId="{03FDF6E2-2966-445C-0FDA-306F8C76A3F8}"/>
          </ac:spMkLst>
        </pc:spChg>
      </pc:sldChg>
      <pc:sldChg chg="addSp modSp">
        <pc:chgData name="Salazar, Mariana" userId="f6e65adb-5e14-45a7-9b8e-f1b845da2201" providerId="ADAL" clId="{60690613-5091-460F-A735-E1228714F621}" dt="2024-12-10T03:52:40.698" v="4"/>
        <pc:sldMkLst>
          <pc:docMk/>
          <pc:sldMk cId="4244653968" sldId="2147481102"/>
        </pc:sldMkLst>
        <pc:spChg chg="add mod">
          <ac:chgData name="Salazar, Mariana" userId="f6e65adb-5e14-45a7-9b8e-f1b845da2201" providerId="ADAL" clId="{60690613-5091-460F-A735-E1228714F621}" dt="2024-12-10T03:52:40.698" v="4"/>
          <ac:spMkLst>
            <pc:docMk/>
            <pc:sldMk cId="4244653968" sldId="2147481102"/>
            <ac:spMk id="25" creationId="{07801974-DF15-6E3C-0341-9657334DE0AC}"/>
          </ac:spMkLst>
        </pc:spChg>
      </pc:sldChg>
      <pc:sldChg chg="addSp modSp">
        <pc:chgData name="Salazar, Mariana" userId="f6e65adb-5e14-45a7-9b8e-f1b845da2201" providerId="ADAL" clId="{60690613-5091-460F-A735-E1228714F621}" dt="2024-12-10T03:43:26.175" v="2"/>
        <pc:sldMkLst>
          <pc:docMk/>
          <pc:sldMk cId="3457748821" sldId="2147481105"/>
        </pc:sldMkLst>
        <pc:spChg chg="add mod">
          <ac:chgData name="Salazar, Mariana" userId="f6e65adb-5e14-45a7-9b8e-f1b845da2201" providerId="ADAL" clId="{60690613-5091-460F-A735-E1228714F621}" dt="2024-12-10T03:43:26.175" v="2"/>
          <ac:spMkLst>
            <pc:docMk/>
            <pc:sldMk cId="3457748821" sldId="2147481105"/>
            <ac:spMk id="4" creationId="{E27F7C96-35B1-ECA8-E2D2-E7319D9B9966}"/>
          </ac:spMkLst>
        </pc:spChg>
      </pc:sldChg>
    </pc:docChg>
  </pc:docChgLst>
  <pc:docChgLst>
    <pc:chgData name="Wambu, Leonne" userId="cbefa415-5fc5-4f57-93aa-b33f4e46ad8f" providerId="ADAL" clId="{8B741F8D-B04F-45D0-80D7-A9D32A2452A3}"/>
    <pc:docChg chg="custSel modSld">
      <pc:chgData name="Wambu, Leonne" userId="cbefa415-5fc5-4f57-93aa-b33f4e46ad8f" providerId="ADAL" clId="{8B741F8D-B04F-45D0-80D7-A9D32A2452A3}" dt="2025-06-26T21:35:56.214" v="129"/>
      <pc:docMkLst>
        <pc:docMk/>
      </pc:docMkLst>
      <pc:sldChg chg="addSp delSp modSp mod">
        <pc:chgData name="Wambu, Leonne" userId="cbefa415-5fc5-4f57-93aa-b33f4e46ad8f" providerId="ADAL" clId="{8B741F8D-B04F-45D0-80D7-A9D32A2452A3}" dt="2025-06-26T21:35:56.214" v="129"/>
        <pc:sldMkLst>
          <pc:docMk/>
          <pc:sldMk cId="3646768813" sldId="2147483644"/>
        </pc:sldMkLst>
        <pc:spChg chg="mod ord">
          <ac:chgData name="Wambu, Leonne" userId="cbefa415-5fc5-4f57-93aa-b33f4e46ad8f" providerId="ADAL" clId="{8B741F8D-B04F-45D0-80D7-A9D32A2452A3}" dt="2025-06-26T21:35:29.913" v="84"/>
          <ac:spMkLst>
            <pc:docMk/>
            <pc:sldMk cId="3646768813" sldId="2147483644"/>
            <ac:spMk id="2" creationId="{00000000-0000-0000-0000-000000000000}"/>
          </ac:spMkLst>
        </pc:spChg>
        <pc:spChg chg="mod ord">
          <ac:chgData name="Wambu, Leonne" userId="cbefa415-5fc5-4f57-93aa-b33f4e46ad8f" providerId="ADAL" clId="{8B741F8D-B04F-45D0-80D7-A9D32A2452A3}" dt="2025-06-26T21:35:29.913" v="86"/>
          <ac:spMkLst>
            <pc:docMk/>
            <pc:sldMk cId="3646768813" sldId="2147483644"/>
            <ac:spMk id="3" creationId="{00000000-0000-0000-0000-000000000000}"/>
          </ac:spMkLst>
        </pc:spChg>
        <pc:spChg chg="mod ord">
          <ac:chgData name="Wambu, Leonne" userId="cbefa415-5fc5-4f57-93aa-b33f4e46ad8f" providerId="ADAL" clId="{8B741F8D-B04F-45D0-80D7-A9D32A2452A3}" dt="2025-06-26T21:35:29.929" v="123"/>
          <ac:spMkLst>
            <pc:docMk/>
            <pc:sldMk cId="3646768813" sldId="2147483644"/>
            <ac:spMk id="4" creationId="{B2B14EEE-E6DD-0598-AB33-9091395D60CE}"/>
          </ac:spMkLst>
        </pc:spChg>
        <pc:spChg chg="add del mod modVis">
          <ac:chgData name="Wambu, Leonne" userId="cbefa415-5fc5-4f57-93aa-b33f4e46ad8f" providerId="ADAL" clId="{8B741F8D-B04F-45D0-80D7-A9D32A2452A3}" dt="2025-06-26T21:35:29.930" v="125"/>
          <ac:spMkLst>
            <pc:docMk/>
            <pc:sldMk cId="3646768813" sldId="2147483644"/>
            <ac:spMk id="5" creationId="{C4C7AC0A-670B-B16F-6958-DDA7390DED91}"/>
          </ac:spMkLst>
        </pc:spChg>
        <pc:spChg chg="mod">
          <ac:chgData name="Wambu, Leonne" userId="cbefa415-5fc5-4f57-93aa-b33f4e46ad8f" providerId="ADAL" clId="{8B741F8D-B04F-45D0-80D7-A9D32A2452A3}" dt="2025-06-26T21:35:29.920" v="98"/>
          <ac:spMkLst>
            <pc:docMk/>
            <pc:sldMk cId="3646768813" sldId="2147483644"/>
            <ac:spMk id="11" creationId="{12B6A7AE-3B5B-60F5-8B50-631D6CEBF2D1}"/>
          </ac:spMkLst>
        </pc:spChg>
        <pc:spChg chg="mod ord">
          <ac:chgData name="Wambu, Leonne" userId="cbefa415-5fc5-4f57-93aa-b33f4e46ad8f" providerId="ADAL" clId="{8B741F8D-B04F-45D0-80D7-A9D32A2452A3}" dt="2025-06-26T21:35:29.919" v="97"/>
          <ac:spMkLst>
            <pc:docMk/>
            <pc:sldMk cId="3646768813" sldId="2147483644"/>
            <ac:spMk id="12" creationId="{4AC7FE19-49DF-6A41-A4C8-902A4F87C989}"/>
          </ac:spMkLst>
        </pc:spChg>
        <pc:spChg chg="mod">
          <ac:chgData name="Wambu, Leonne" userId="cbefa415-5fc5-4f57-93aa-b33f4e46ad8f" providerId="ADAL" clId="{8B741F8D-B04F-45D0-80D7-A9D32A2452A3}" dt="2025-06-26T21:35:29.918" v="95"/>
          <ac:spMkLst>
            <pc:docMk/>
            <pc:sldMk cId="3646768813" sldId="2147483644"/>
            <ac:spMk id="13" creationId="{75C60908-01BB-287C-BFE2-DA3ED9209129}"/>
          </ac:spMkLst>
        </pc:spChg>
        <pc:spChg chg="mod ord">
          <ac:chgData name="Wambu, Leonne" userId="cbefa415-5fc5-4f57-93aa-b33f4e46ad8f" providerId="ADAL" clId="{8B741F8D-B04F-45D0-80D7-A9D32A2452A3}" dt="2025-06-26T21:35:29.925" v="109"/>
          <ac:spMkLst>
            <pc:docMk/>
            <pc:sldMk cId="3646768813" sldId="2147483644"/>
            <ac:spMk id="14" creationId="{00000000-0000-0000-0000-000000000000}"/>
          </ac:spMkLst>
        </pc:spChg>
        <pc:spChg chg="mod ord">
          <ac:chgData name="Wambu, Leonne" userId="cbefa415-5fc5-4f57-93aa-b33f4e46ad8f" providerId="ADAL" clId="{8B741F8D-B04F-45D0-80D7-A9D32A2452A3}" dt="2025-06-26T21:35:29.925" v="111"/>
          <ac:spMkLst>
            <pc:docMk/>
            <pc:sldMk cId="3646768813" sldId="2147483644"/>
            <ac:spMk id="18" creationId="{FA4B202E-703B-41B5-A394-0B4D61BA51D0}"/>
          </ac:spMkLst>
        </pc:spChg>
        <pc:spChg chg="mod ord">
          <ac:chgData name="Wambu, Leonne" userId="cbefa415-5fc5-4f57-93aa-b33f4e46ad8f" providerId="ADAL" clId="{8B741F8D-B04F-45D0-80D7-A9D32A2452A3}" dt="2025-06-26T21:35:29.926" v="113"/>
          <ac:spMkLst>
            <pc:docMk/>
            <pc:sldMk cId="3646768813" sldId="2147483644"/>
            <ac:spMk id="25" creationId="{DE25F65B-9C81-43E5-A183-665545949069}"/>
          </ac:spMkLst>
        </pc:spChg>
        <pc:spChg chg="mod">
          <ac:chgData name="Wambu, Leonne" userId="cbefa415-5fc5-4f57-93aa-b33f4e46ad8f" providerId="ADAL" clId="{8B741F8D-B04F-45D0-80D7-A9D32A2452A3}" dt="2025-06-26T21:35:29.918" v="94"/>
          <ac:spMkLst>
            <pc:docMk/>
            <pc:sldMk cId="3646768813" sldId="2147483644"/>
            <ac:spMk id="40" creationId="{E01AFBFC-054D-77D6-97FC-0E2F0B3FCC31}"/>
          </ac:spMkLst>
        </pc:spChg>
        <pc:spChg chg="mod">
          <ac:chgData name="Wambu, Leonne" userId="cbefa415-5fc5-4f57-93aa-b33f4e46ad8f" providerId="ADAL" clId="{8B741F8D-B04F-45D0-80D7-A9D32A2452A3}" dt="2025-06-26T21:35:29.914" v="88"/>
          <ac:spMkLst>
            <pc:docMk/>
            <pc:sldMk cId="3646768813" sldId="2147483644"/>
            <ac:spMk id="54" creationId="{A1962233-BBA9-E4D7-8A1D-91F544A1F173}"/>
          </ac:spMkLst>
        </pc:spChg>
        <pc:spChg chg="mod">
          <ac:chgData name="Wambu, Leonne" userId="cbefa415-5fc5-4f57-93aa-b33f4e46ad8f" providerId="ADAL" clId="{8B741F8D-B04F-45D0-80D7-A9D32A2452A3}" dt="2025-06-26T21:35:29.915" v="89"/>
          <ac:spMkLst>
            <pc:docMk/>
            <pc:sldMk cId="3646768813" sldId="2147483644"/>
            <ac:spMk id="55" creationId="{435F832D-F2E5-FC45-E2E8-ABFD14B6526B}"/>
          </ac:spMkLst>
        </pc:spChg>
        <pc:spChg chg="mod">
          <ac:chgData name="Wambu, Leonne" userId="cbefa415-5fc5-4f57-93aa-b33f4e46ad8f" providerId="ADAL" clId="{8B741F8D-B04F-45D0-80D7-A9D32A2452A3}" dt="2025-06-26T21:35:29.915" v="90"/>
          <ac:spMkLst>
            <pc:docMk/>
            <pc:sldMk cId="3646768813" sldId="2147483644"/>
            <ac:spMk id="56" creationId="{031B4407-C5BE-B81E-3BA5-40EBA01307AA}"/>
          </ac:spMkLst>
        </pc:spChg>
        <pc:spChg chg="mod">
          <ac:chgData name="Wambu, Leonne" userId="cbefa415-5fc5-4f57-93aa-b33f4e46ad8f" providerId="ADAL" clId="{8B741F8D-B04F-45D0-80D7-A9D32A2452A3}" dt="2025-06-26T21:35:29.916" v="91"/>
          <ac:spMkLst>
            <pc:docMk/>
            <pc:sldMk cId="3646768813" sldId="2147483644"/>
            <ac:spMk id="57" creationId="{05111743-BD6B-3C09-D938-921E1ACD323B}"/>
          </ac:spMkLst>
        </pc:spChg>
        <pc:spChg chg="mod">
          <ac:chgData name="Wambu, Leonne" userId="cbefa415-5fc5-4f57-93aa-b33f4e46ad8f" providerId="ADAL" clId="{8B741F8D-B04F-45D0-80D7-A9D32A2452A3}" dt="2025-06-26T21:35:29.917" v="92"/>
          <ac:spMkLst>
            <pc:docMk/>
            <pc:sldMk cId="3646768813" sldId="2147483644"/>
            <ac:spMk id="58" creationId="{8EF1F3A3-5B83-CF68-2E2F-D3F027D00ED6}"/>
          </ac:spMkLst>
        </pc:spChg>
        <pc:spChg chg="mod">
          <ac:chgData name="Wambu, Leonne" userId="cbefa415-5fc5-4f57-93aa-b33f4e46ad8f" providerId="ADAL" clId="{8B741F8D-B04F-45D0-80D7-A9D32A2452A3}" dt="2025-06-26T21:35:29.917" v="93"/>
          <ac:spMkLst>
            <pc:docMk/>
            <pc:sldMk cId="3646768813" sldId="2147483644"/>
            <ac:spMk id="59" creationId="{9B5C9055-5F7F-0A0F-4536-93D6CFF1701C}"/>
          </ac:spMkLst>
        </pc:spChg>
        <pc:spChg chg="mod">
          <ac:chgData name="Wambu, Leonne" userId="cbefa415-5fc5-4f57-93aa-b33f4e46ad8f" providerId="ADAL" clId="{8B741F8D-B04F-45D0-80D7-A9D32A2452A3}" dt="2025-06-26T21:35:29.922" v="104"/>
          <ac:spMkLst>
            <pc:docMk/>
            <pc:sldMk cId="3646768813" sldId="2147483644"/>
            <ac:spMk id="69" creationId="{51F73CEC-36ED-84D7-E48C-4569C1F94457}"/>
          </ac:spMkLst>
        </pc:spChg>
        <pc:spChg chg="mod">
          <ac:chgData name="Wambu, Leonne" userId="cbefa415-5fc5-4f57-93aa-b33f4e46ad8f" providerId="ADAL" clId="{8B741F8D-B04F-45D0-80D7-A9D32A2452A3}" dt="2025-06-26T21:35:29.920" v="99"/>
          <ac:spMkLst>
            <pc:docMk/>
            <pc:sldMk cId="3646768813" sldId="2147483644"/>
            <ac:spMk id="186" creationId="{EC02AF72-AD46-3477-B3F9-D0DD03410604}"/>
          </ac:spMkLst>
        </pc:spChg>
        <pc:spChg chg="mod">
          <ac:chgData name="Wambu, Leonne" userId="cbefa415-5fc5-4f57-93aa-b33f4e46ad8f" providerId="ADAL" clId="{8B741F8D-B04F-45D0-80D7-A9D32A2452A3}" dt="2025-06-26T21:35:29.922" v="103"/>
          <ac:spMkLst>
            <pc:docMk/>
            <pc:sldMk cId="3646768813" sldId="2147483644"/>
            <ac:spMk id="188" creationId="{EB153F44-B6F4-BB11-DBA5-804D3BDB9A59}"/>
          </ac:spMkLst>
        </pc:spChg>
        <pc:spChg chg="mod">
          <ac:chgData name="Wambu, Leonne" userId="cbefa415-5fc5-4f57-93aa-b33f4e46ad8f" providerId="ADAL" clId="{8B741F8D-B04F-45D0-80D7-A9D32A2452A3}" dt="2025-06-26T21:35:29.924" v="107"/>
          <ac:spMkLst>
            <pc:docMk/>
            <pc:sldMk cId="3646768813" sldId="2147483644"/>
            <ac:spMk id="189" creationId="{5D2567EC-E0E3-D03D-F811-30F2A0C9913C}"/>
          </ac:spMkLst>
        </pc:spChg>
        <pc:spChg chg="mod ord">
          <ac:chgData name="Wambu, Leonne" userId="cbefa415-5fc5-4f57-93aa-b33f4e46ad8f" providerId="ADAL" clId="{8B741F8D-B04F-45D0-80D7-A9D32A2452A3}" dt="2025-06-26T21:35:29.926" v="115"/>
          <ac:spMkLst>
            <pc:docMk/>
            <pc:sldMk cId="3646768813" sldId="2147483644"/>
            <ac:spMk id="194" creationId="{7D5C70F8-6BD1-B660-C4C3-0CCBF20BE0B8}"/>
          </ac:spMkLst>
        </pc:spChg>
        <pc:spChg chg="mod ord">
          <ac:chgData name="Wambu, Leonne" userId="cbefa415-5fc5-4f57-93aa-b33f4e46ad8f" providerId="ADAL" clId="{8B741F8D-B04F-45D0-80D7-A9D32A2452A3}" dt="2025-06-26T21:35:29.927" v="117"/>
          <ac:spMkLst>
            <pc:docMk/>
            <pc:sldMk cId="3646768813" sldId="2147483644"/>
            <ac:spMk id="195" creationId="{EE0F93AD-705D-5E5B-75EB-22DF1979371B}"/>
          </ac:spMkLst>
        </pc:spChg>
        <pc:spChg chg="mod ord">
          <ac:chgData name="Wambu, Leonne" userId="cbefa415-5fc5-4f57-93aa-b33f4e46ad8f" providerId="ADAL" clId="{8B741F8D-B04F-45D0-80D7-A9D32A2452A3}" dt="2025-06-26T21:35:29.927" v="119"/>
          <ac:spMkLst>
            <pc:docMk/>
            <pc:sldMk cId="3646768813" sldId="2147483644"/>
            <ac:spMk id="196" creationId="{CDAA1900-17E1-DB1F-CC1B-11BD39D82061}"/>
          </ac:spMkLst>
        </pc:spChg>
        <pc:spChg chg="mod">
          <ac:chgData name="Wambu, Leonne" userId="cbefa415-5fc5-4f57-93aa-b33f4e46ad8f" providerId="ADAL" clId="{8B741F8D-B04F-45D0-80D7-A9D32A2452A3}" dt="2025-06-26T21:35:29.921" v="100"/>
          <ac:spMkLst>
            <pc:docMk/>
            <pc:sldMk cId="3646768813" sldId="2147483644"/>
            <ac:spMk id="202" creationId="{494EC851-B067-AB1E-FFD4-CEEEEB4456A6}"/>
          </ac:spMkLst>
        </pc:spChg>
        <pc:spChg chg="mod">
          <ac:chgData name="Wambu, Leonne" userId="cbefa415-5fc5-4f57-93aa-b33f4e46ad8f" providerId="ADAL" clId="{8B741F8D-B04F-45D0-80D7-A9D32A2452A3}" dt="2025-06-26T21:35:29.921" v="101"/>
          <ac:spMkLst>
            <pc:docMk/>
            <pc:sldMk cId="3646768813" sldId="2147483644"/>
            <ac:spMk id="203" creationId="{6C0D454C-AD04-EC1D-D8CD-D3535B762C44}"/>
          </ac:spMkLst>
        </pc:spChg>
        <pc:spChg chg="mod">
          <ac:chgData name="Wambu, Leonne" userId="cbefa415-5fc5-4f57-93aa-b33f4e46ad8f" providerId="ADAL" clId="{8B741F8D-B04F-45D0-80D7-A9D32A2452A3}" dt="2025-06-26T21:35:29.922" v="102"/>
          <ac:spMkLst>
            <pc:docMk/>
            <pc:sldMk cId="3646768813" sldId="2147483644"/>
            <ac:spMk id="204" creationId="{47D78167-7162-D29C-73D8-1B3F2C8A8F34}"/>
          </ac:spMkLst>
        </pc:spChg>
        <pc:spChg chg="mod">
          <ac:chgData name="Wambu, Leonne" userId="cbefa415-5fc5-4f57-93aa-b33f4e46ad8f" providerId="ADAL" clId="{8B741F8D-B04F-45D0-80D7-A9D32A2452A3}" dt="2025-06-26T21:35:29.923" v="105"/>
          <ac:spMkLst>
            <pc:docMk/>
            <pc:sldMk cId="3646768813" sldId="2147483644"/>
            <ac:spMk id="205" creationId="{6759AE4A-0411-0D5C-3705-235185B544C8}"/>
          </ac:spMkLst>
        </pc:spChg>
        <pc:spChg chg="mod">
          <ac:chgData name="Wambu, Leonne" userId="cbefa415-5fc5-4f57-93aa-b33f4e46ad8f" providerId="ADAL" clId="{8B741F8D-B04F-45D0-80D7-A9D32A2452A3}" dt="2025-06-26T21:35:29.923" v="106"/>
          <ac:spMkLst>
            <pc:docMk/>
            <pc:sldMk cId="3646768813" sldId="2147483644"/>
            <ac:spMk id="206" creationId="{FB0C5226-3A1B-6E68-3B33-2CCE0E5BC97D}"/>
          </ac:spMkLst>
        </pc:spChg>
        <pc:grpChg chg="mod">
          <ac:chgData name="Wambu, Leonne" userId="cbefa415-5fc5-4f57-93aa-b33f4e46ad8f" providerId="ADAL" clId="{8B741F8D-B04F-45D0-80D7-A9D32A2452A3}" dt="2025-06-26T21:35:29.912" v="82"/>
          <ac:grpSpMkLst>
            <pc:docMk/>
            <pc:sldMk cId="3646768813" sldId="2147483644"/>
            <ac:grpSpMk id="49" creationId="{82649EAC-5BA0-7CE1-3762-D2CA11DFE193}"/>
          </ac:grpSpMkLst>
        </pc:grpChg>
        <pc:grpChg chg="mod">
          <ac:chgData name="Wambu, Leonne" userId="cbefa415-5fc5-4f57-93aa-b33f4e46ad8f" providerId="ADAL" clId="{8B741F8D-B04F-45D0-80D7-A9D32A2452A3}" dt="2025-06-26T21:35:29.911" v="81"/>
          <ac:grpSpMkLst>
            <pc:docMk/>
            <pc:sldMk cId="3646768813" sldId="2147483644"/>
            <ac:grpSpMk id="50" creationId="{AE58349A-A9B3-2A8B-0599-C573FA372522}"/>
          </ac:grpSpMkLst>
        </pc:grpChg>
        <pc:graphicFrameChg chg="add mod">
          <ac:chgData name="Wambu, Leonne" userId="cbefa415-5fc5-4f57-93aa-b33f4e46ad8f" providerId="ADAL" clId="{8B741F8D-B04F-45D0-80D7-A9D32A2452A3}" dt="2025-06-26T21:35:29.913" v="87"/>
          <ac:graphicFrameMkLst>
            <pc:docMk/>
            <pc:sldMk cId="3646768813" sldId="2147483644"/>
            <ac:graphicFrameMk id="6" creationId="{CD763C27-C4E0-27B4-CD7D-3B7184471CB1}"/>
          </ac:graphicFrameMkLst>
        </pc:graphicFrameChg>
        <pc:graphicFrameChg chg="del">
          <ac:chgData name="Wambu, Leonne" userId="cbefa415-5fc5-4f57-93aa-b33f4e46ad8f" providerId="ADAL" clId="{8B741F8D-B04F-45D0-80D7-A9D32A2452A3}" dt="2025-06-26T21:35:29.834" v="75"/>
          <ac:graphicFrameMkLst>
            <pc:docMk/>
            <pc:sldMk cId="3646768813" sldId="2147483644"/>
            <ac:graphicFrameMk id="15" creationId="{AFD6151F-2688-D69B-B17F-3D91F9FF3DE4}"/>
          </ac:graphicFrameMkLst>
        </pc:graphicFrameChg>
        <pc:graphicFrameChg chg="mod">
          <ac:chgData name="Wambu, Leonne" userId="cbefa415-5fc5-4f57-93aa-b33f4e46ad8f" providerId="ADAL" clId="{8B741F8D-B04F-45D0-80D7-A9D32A2452A3}" dt="2025-06-26T21:35:56.214" v="129"/>
          <ac:graphicFrameMkLst>
            <pc:docMk/>
            <pc:sldMk cId="3646768813" sldId="2147483644"/>
            <ac:graphicFrameMk id="68" creationId="{A0412F0E-6028-FF7A-ADDA-F316C2176A89}"/>
          </ac:graphicFrameMkLst>
        </pc:graphicFrameChg>
        <pc:graphicFrameChg chg="mod ord">
          <ac:chgData name="Wambu, Leonne" userId="cbefa415-5fc5-4f57-93aa-b33f4e46ad8f" providerId="ADAL" clId="{8B741F8D-B04F-45D0-80D7-A9D32A2452A3}" dt="2025-06-26T21:35:29.928" v="121"/>
          <ac:graphicFrameMkLst>
            <pc:docMk/>
            <pc:sldMk cId="3646768813" sldId="2147483644"/>
            <ac:graphicFrameMk id="197" creationId="{D6B1A85B-D6B8-109B-E47E-5EA201E2985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838105337575115E-2"/>
          <c:w val="0.95497835497835493"/>
          <c:h val="0.9632378932484977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1038-4188-9588-031555C336DB}"/>
              </c:ext>
            </c:extLst>
          </c:dPt>
          <c:dPt>
            <c:idx val="2"/>
            <c:invertIfNegative val="0"/>
            <c:bubble3D val="0"/>
            <c:spPr>
              <a:solidFill>
                <a:srgbClr val="507867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038-4188-9588-031555C336DB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68.545518674491447</c:v>
                </c:pt>
                <c:pt idx="1">
                  <c:v>86.64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38-4188-9588-031555C336DB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3BCD3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1038-4188-9588-031555C336DB}"/>
              </c:ext>
            </c:extLst>
          </c:dPt>
          <c:dPt>
            <c:idx val="2"/>
            <c:invertIfNegative val="0"/>
            <c:bubble3D val="0"/>
            <c:spPr>
              <a:solidFill>
                <a:srgbClr val="BBCAB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1038-4188-9588-031555C336DB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18.612448527755699</c:v>
                </c:pt>
                <c:pt idx="1">
                  <c:v>3.3599999999999963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38-4188-9588-031555C336DB}"/>
            </c:ext>
          </c:extLst>
        </c:ser>
        <c:ser>
          <c:idx val="2"/>
          <c:order val="2"/>
          <c:spPr>
            <a:solidFill>
              <a:srgbClr val="B4B4B4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CE5E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1038-4188-9588-031555C336DB}"/>
              </c:ext>
            </c:extLst>
          </c:dPt>
          <c:val>
            <c:numRef>
              <c:f>Sheet1!$A$3:$C$3</c:f>
              <c:numCache>
                <c:formatCode>General</c:formatCode>
                <c:ptCount val="3"/>
                <c:pt idx="0">
                  <c:v>12.842032797752855</c:v>
                </c:pt>
                <c:pt idx="1">
                  <c:v>4.610000000000003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038-4188-9588-031555C336DB}"/>
            </c:ext>
          </c:extLst>
        </c:ser>
        <c:ser>
          <c:idx val="3"/>
          <c:order val="3"/>
          <c:spPr>
            <a:solidFill>
              <a:srgbClr val="D6D6D6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1">
                  <c:v>5.3900000000000059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38-4188-9588-031555C33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994377040"/>
        <c:axId val="1"/>
      </c:barChart>
      <c:catAx>
        <c:axId val="9943770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9943770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9181113980081151E-2"/>
          <c:w val="0.95497835497835493"/>
          <c:h val="0.9616377720398376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2D475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D85-4E82-921C-49C579C562CA}"/>
              </c:ext>
            </c:extLst>
          </c:dPt>
          <c:dPt>
            <c:idx val="2"/>
            <c:invertIfNegative val="0"/>
            <c:bubble3D val="0"/>
            <c:spPr>
              <a:solidFill>
                <a:srgbClr val="507867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D85-4E82-921C-49C579C562CA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55.000000000000007</c:v>
                </c:pt>
                <c:pt idx="1">
                  <c:v>79.508186607770796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85-4E82-921C-49C579C562CA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6647B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BD85-4E82-921C-49C579C562CA}"/>
              </c:ext>
            </c:extLst>
          </c:dPt>
          <c:dPt>
            <c:idx val="2"/>
            <c:invertIfNegative val="0"/>
            <c:bubble3D val="0"/>
            <c:spPr>
              <a:solidFill>
                <a:srgbClr val="83AC9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BD85-4E82-921C-49C579C562CA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30.000000000000004</c:v>
                </c:pt>
                <c:pt idx="1">
                  <c:v>10.712738215080719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D85-4E82-921C-49C579C562CA}"/>
            </c:ext>
          </c:extLst>
        </c:ser>
        <c:ser>
          <c:idx val="2"/>
          <c:order val="2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BD85-4E82-921C-49C579C562CA}"/>
              </c:ext>
            </c:extLst>
          </c:dPt>
          <c:val>
            <c:numRef>
              <c:f>Sheet1!$A$3:$C$3</c:f>
              <c:numCache>
                <c:formatCode>General</c:formatCode>
                <c:ptCount val="3"/>
                <c:pt idx="0">
                  <c:v>14.999999999999991</c:v>
                </c:pt>
                <c:pt idx="1">
                  <c:v>9.0268609572223486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D85-4E82-921C-49C579C562CA}"/>
            </c:ext>
          </c:extLst>
        </c:ser>
        <c:ser>
          <c:idx val="3"/>
          <c:order val="3"/>
          <c:spPr>
            <a:solidFill>
              <a:srgbClr val="B4B4B4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1">
                  <c:v>0.75221421992612836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85-4E82-921C-49C579C562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2130500944"/>
        <c:axId val="1"/>
      </c:barChart>
      <c:catAx>
        <c:axId val="2130500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2130500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7962003454231434E-2"/>
          <c:w val="0.95497835497835493"/>
          <c:h val="0.964075993091537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D6D6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B7-44A0-BC48-0529A69E475D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53</c:v>
                </c:pt>
                <c:pt idx="1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B7-44A0-BC48-0529A69E475D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B4B4B4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9BB7-44A0-BC48-0529A69E475D}"/>
              </c:ext>
            </c:extLst>
          </c:dPt>
          <c:val>
            <c:numRef>
              <c:f>Sheet1!$A$2:$B$2</c:f>
              <c:numCache>
                <c:formatCode>General</c:formatCode>
                <c:ptCount val="2"/>
                <c:pt idx="0">
                  <c:v>37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BB7-44A0-BC48-0529A69E475D}"/>
            </c:ext>
          </c:extLst>
        </c:ser>
        <c:ser>
          <c:idx val="2"/>
          <c:order val="2"/>
          <c:spPr>
            <a:solidFill>
              <a:srgbClr val="D6D6D6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Sheet1!$A$3:$B$3</c:f>
              <c:numCache>
                <c:formatCode>General</c:formatCode>
                <c:ptCount val="2"/>
                <c:pt idx="0">
                  <c:v>9.9999999999999982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BB7-44A0-BC48-0529A69E4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929053744"/>
        <c:axId val="1"/>
      </c:barChart>
      <c:catAx>
        <c:axId val="1929053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929053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8030513176144243E-2"/>
          <c:w val="0.95497835497835493"/>
          <c:h val="0.963938973647711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3A9-4D48-8483-2523E21F38EA}"/>
              </c:ext>
            </c:extLst>
          </c:dPt>
          <c:dPt>
            <c:idx val="2"/>
            <c:invertIfNegative val="0"/>
            <c:bubble3D val="0"/>
            <c:spPr>
              <a:solidFill>
                <a:srgbClr val="507867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3A9-4D48-8483-2523E21F38EA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75</c:v>
                </c:pt>
                <c:pt idx="1">
                  <c:v>41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A9-4D48-8483-2523E21F38EA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3BCD3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3A9-4D48-8483-2523E21F38EA}"/>
              </c:ext>
            </c:extLst>
          </c:dPt>
          <c:dPt>
            <c:idx val="2"/>
            <c:invertIfNegative val="0"/>
            <c:bubble3D val="0"/>
            <c:spPr>
              <a:solidFill>
                <a:srgbClr val="83AC9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43A9-4D48-8483-2523E21F38EA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25</c:v>
                </c:pt>
                <c:pt idx="1">
                  <c:v>35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3A9-4D48-8483-2523E21F38EA}"/>
            </c:ext>
          </c:extLst>
        </c:ser>
        <c:ser>
          <c:idx val="2"/>
          <c:order val="2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1">
                  <c:v>2.0000000000000018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A9-4D48-8483-2523E21F38EA}"/>
            </c:ext>
          </c:extLst>
        </c:ser>
        <c:ser>
          <c:idx val="3"/>
          <c:order val="3"/>
          <c:spPr>
            <a:solidFill>
              <a:srgbClr val="B4B4B4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1">
                  <c:v>21.999999999999996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3A9-4D48-8483-2523E21F38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997733759"/>
        <c:axId val="1"/>
      </c:barChart>
      <c:catAx>
        <c:axId val="997733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9977337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518769787426504E-2"/>
          <c:y val="1.8558172733761598E-2"/>
          <c:w val="0.95296246042514698"/>
          <c:h val="0.9628836545324768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2D475A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6647B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289-4685-A5D1-AE4DF984ECD8}"/>
              </c:ext>
            </c:extLst>
          </c:dPt>
          <c:dPt>
            <c:idx val="2"/>
            <c:invertIfNegative val="0"/>
            <c:bubble3D val="0"/>
            <c:spPr>
              <a:solidFill>
                <a:srgbClr val="507867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289-4685-A5D1-AE4DF984ECD8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80</c:v>
                </c:pt>
                <c:pt idx="1">
                  <c:v>61.154308789414891</c:v>
                </c:pt>
                <c:pt idx="2">
                  <c:v>40.977561587949154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89-4685-A5D1-AE4DF984ECD8}"/>
            </c:ext>
          </c:extLst>
        </c:ser>
        <c:ser>
          <c:idx val="1"/>
          <c:order val="1"/>
          <c:spPr>
            <a:solidFill>
              <a:srgbClr val="104C3E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9289-4685-A5D1-AE4DF984ECD8}"/>
              </c:ext>
            </c:extLst>
          </c:dPt>
          <c:dPt>
            <c:idx val="2"/>
            <c:invertIfNegative val="0"/>
            <c:bubble3D val="0"/>
            <c:spPr>
              <a:solidFill>
                <a:srgbClr val="83AC9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9289-4685-A5D1-AE4DF984ECD8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19.999999999999996</c:v>
                </c:pt>
                <c:pt idx="1">
                  <c:v>23.837958587507512</c:v>
                </c:pt>
                <c:pt idx="2">
                  <c:v>59.022438412050839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289-4685-A5D1-AE4DF984ECD8}"/>
            </c:ext>
          </c:extLst>
        </c:ser>
        <c:ser>
          <c:idx val="2"/>
          <c:order val="2"/>
          <c:spPr>
            <a:solidFill>
              <a:srgbClr val="B4B4B4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1">
                  <c:v>2.6205000429590175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89-4685-A5D1-AE4DF984ECD8}"/>
            </c:ext>
          </c:extLst>
        </c:ser>
        <c:ser>
          <c:idx val="3"/>
          <c:order val="3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1">
                  <c:v>12.387232580118567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289-4685-A5D1-AE4DF984EC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131233839"/>
        <c:axId val="1"/>
      </c:barChart>
      <c:catAx>
        <c:axId val="1312338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3123383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7962003454231434E-2"/>
          <c:w val="0.95497835497835493"/>
          <c:h val="0.964075993091537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2D475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504-43BE-8E6F-091C2374F963}"/>
              </c:ext>
            </c:extLst>
          </c:dPt>
          <c:dPt>
            <c:idx val="2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504-43BE-8E6F-091C2374F963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69</c:v>
                </c:pt>
                <c:pt idx="1">
                  <c:v>83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04-43BE-8E6F-091C2374F963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6D6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8504-43BE-8E6F-091C2374F963}"/>
              </c:ext>
            </c:extLst>
          </c:dPt>
          <c:dPt>
            <c:idx val="2"/>
            <c:invertIfNegative val="0"/>
            <c:bubble3D val="0"/>
            <c:spPr>
              <a:solidFill>
                <a:srgbClr val="A3BCD3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8504-43BE-8E6F-091C2374F963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24</c:v>
                </c:pt>
                <c:pt idx="1">
                  <c:v>6.9999999999999947</c:v>
                </c:pt>
                <c:pt idx="2">
                  <c:v>9.9999999999999982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04-43BE-8E6F-091C2374F963}"/>
            </c:ext>
          </c:extLst>
        </c:ser>
        <c:ser>
          <c:idx val="2"/>
          <c:order val="2"/>
          <c:spPr>
            <a:solidFill>
              <a:srgbClr val="46647B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B4B4B4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8504-43BE-8E6F-091C2374F963}"/>
              </c:ext>
            </c:extLst>
          </c:dPt>
          <c:dPt>
            <c:idx val="1"/>
            <c:invertIfNegative val="0"/>
            <c:bubble3D val="0"/>
            <c:spPr>
              <a:solidFill>
                <a:srgbClr val="D6D6D6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8504-43BE-8E6F-091C2374F963}"/>
              </c:ext>
            </c:extLst>
          </c:dPt>
          <c:val>
            <c:numRef>
              <c:f>Sheet1!$A$3:$C$3</c:f>
              <c:numCache>
                <c:formatCode>General</c:formatCode>
                <c:ptCount val="3"/>
                <c:pt idx="0">
                  <c:v>7.0000000000000062</c:v>
                </c:pt>
                <c:pt idx="1">
                  <c:v>9.9999999999999982</c:v>
                </c:pt>
                <c:pt idx="2">
                  <c:v>3.0000000000000027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04-43BE-8E6F-091C2374F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178395727"/>
        <c:axId val="1"/>
      </c:barChart>
      <c:catAx>
        <c:axId val="117839572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17839572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628388368654508E-2"/>
          <c:y val="1.8137425880711544E-2"/>
          <c:w val="0.948743223262691"/>
          <c:h val="0.963725148238576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05-41D7-B410-1C4055AD85DC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Sheet1!$A$2</c:f>
              <c:numCache>
                <c:formatCode>General</c:formatCode>
                <c:ptCount val="1"/>
                <c:pt idx="0">
                  <c:v>3.0000000000000027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05-41D7-B410-1C4055AD85DC}"/>
            </c:ext>
          </c:extLst>
        </c:ser>
        <c:ser>
          <c:idx val="2"/>
          <c:order val="2"/>
          <c:spPr>
            <a:solidFill>
              <a:srgbClr val="D6D6D6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</c:f>
              <c:numCache>
                <c:formatCode>General</c:formatCode>
                <c:ptCount val="1"/>
                <c:pt idx="0">
                  <c:v>9.9999999999999982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05-41D7-B410-1C4055AD85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5"/>
        <c:overlap val="100"/>
        <c:axId val="1288803311"/>
        <c:axId val="1"/>
      </c:barChart>
      <c:catAx>
        <c:axId val="1288803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288803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224653863331845E-2"/>
          <c:y val="1.8564798286326314E-2"/>
          <c:w val="0.95355069227333633"/>
          <c:h val="0.962870403427347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A3BCD3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61F9-43D0-BC52-4A70116A7CE3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78.836826188749271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F9-43D0-BC52-4A70116A7CE3}"/>
            </c:ext>
          </c:extLst>
        </c:ser>
        <c:ser>
          <c:idx val="1"/>
          <c:order val="1"/>
          <c:spPr>
            <a:solidFill>
              <a:srgbClr val="46647B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CE5E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61F9-43D0-BC52-4A70116A7CE3}"/>
              </c:ext>
            </c:extLst>
          </c:dPt>
          <c:val>
            <c:numRef>
              <c:f>Sheet1!$A$2:$B$2</c:f>
              <c:numCache>
                <c:formatCode>General</c:formatCode>
                <c:ptCount val="2"/>
                <c:pt idx="0">
                  <c:v>16.544985433962456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F9-43D0-BC52-4A70116A7CE3}"/>
            </c:ext>
          </c:extLst>
        </c:ser>
        <c:ser>
          <c:idx val="2"/>
          <c:order val="2"/>
          <c:spPr>
            <a:solidFill>
              <a:srgbClr val="507867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Sheet1!$A$3:$B$3</c:f>
              <c:numCache>
                <c:formatCode>General</c:formatCode>
                <c:ptCount val="2"/>
                <c:pt idx="0">
                  <c:v>4.6181883772882575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F9-43D0-BC52-4A70116A7C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2050793520"/>
        <c:axId val="1"/>
      </c:barChart>
      <c:catAx>
        <c:axId val="205079352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205079352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7962003454231434E-2"/>
          <c:w val="0.95497835497835493"/>
          <c:h val="0.964075993091537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5C5C5C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7B8-46BC-9D1D-75F5B994F3E9}"/>
              </c:ext>
            </c:extLst>
          </c:dPt>
          <c:dPt>
            <c:idx val="2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7B8-46BC-9D1D-75F5B994F3E9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45.800000000000004</c:v>
                </c:pt>
                <c:pt idx="1">
                  <c:v>82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B8-46BC-9D1D-75F5B994F3E9}"/>
            </c:ext>
          </c:extLst>
        </c:ser>
        <c:ser>
          <c:idx val="1"/>
          <c:order val="1"/>
          <c:spPr>
            <a:solidFill>
              <a:srgbClr val="46647B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B4B4B4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57B8-46BC-9D1D-75F5B994F3E9}"/>
              </c:ext>
            </c:extLst>
          </c:dPt>
          <c:dPt>
            <c:idx val="2"/>
            <c:invertIfNegative val="0"/>
            <c:bubble3D val="0"/>
            <c:spPr>
              <a:solidFill>
                <a:srgbClr val="A3BCD3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57B8-46BC-9D1D-75F5B994F3E9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28.799999999999997</c:v>
                </c:pt>
                <c:pt idx="1">
                  <c:v>9.9999999999999982</c:v>
                </c:pt>
                <c:pt idx="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7B8-46BC-9D1D-75F5B994F3E9}"/>
            </c:ext>
          </c:extLst>
        </c:ser>
        <c:ser>
          <c:idx val="2"/>
          <c:order val="2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6D6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57B8-46BC-9D1D-75F5B994F3E9}"/>
              </c:ext>
            </c:extLst>
          </c:dPt>
          <c:val>
            <c:numRef>
              <c:f>Sheet1!$A$3:$C$3</c:f>
              <c:numCache>
                <c:formatCode>General</c:formatCode>
                <c:ptCount val="3"/>
                <c:pt idx="0">
                  <c:v>25.4</c:v>
                </c:pt>
                <c:pt idx="1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7B8-46BC-9D1D-75F5B994F3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2084685696"/>
        <c:axId val="1"/>
      </c:barChart>
      <c:catAx>
        <c:axId val="20846856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20846856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04108164326573E-2"/>
          <c:y val="1.9439252336448599E-2"/>
          <c:w val="0.94591783671346852"/>
          <c:h val="0.9611214953271027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B4B4B4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9D3-43BA-AA60-E864100B0368}"/>
              </c:ext>
            </c:extLst>
          </c:dPt>
          <c:dPt>
            <c:idx val="2"/>
            <c:invertIfNegative val="0"/>
            <c:bubble3D val="0"/>
            <c:spPr>
              <a:solidFill>
                <a:srgbClr val="46647B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9D3-43BA-AA60-E864100B0368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85</c:v>
                </c:pt>
                <c:pt idx="1">
                  <c:v>78.14</c:v>
                </c:pt>
                <c:pt idx="2">
                  <c:v>88.594362516333774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D3-43BA-AA60-E864100B0368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6D6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9D3-43BA-AA60-E864100B0368}"/>
              </c:ext>
            </c:extLst>
          </c:dPt>
          <c:dPt>
            <c:idx val="2"/>
            <c:invertIfNegative val="0"/>
            <c:bubble3D val="0"/>
            <c:spPr>
              <a:solidFill>
                <a:srgbClr val="7891A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49D3-43BA-AA60-E864100B0368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15.000000000000002</c:v>
                </c:pt>
                <c:pt idx="1">
                  <c:v>10.19</c:v>
                </c:pt>
                <c:pt idx="2">
                  <c:v>11.405637483666231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D3-43BA-AA60-E864100B0368}"/>
            </c:ext>
          </c:extLst>
        </c:ser>
        <c:ser>
          <c:idx val="2"/>
          <c:order val="2"/>
          <c:spPr>
            <a:solidFill>
              <a:srgbClr val="858585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Sheet1!$A$3:$C$3</c:f>
              <c:numCache>
                <c:formatCode>General</c:formatCode>
                <c:ptCount val="3"/>
                <c:pt idx="1">
                  <c:v>2.959999999999996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D3-43BA-AA60-E864100B0368}"/>
            </c:ext>
          </c:extLst>
        </c:ser>
        <c:ser>
          <c:idx val="3"/>
          <c:order val="3"/>
          <c:spPr>
            <a:solidFill>
              <a:srgbClr val="BA749F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1">
                  <c:v>8.7099999999999955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9D3-43BA-AA60-E864100B0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1330469007"/>
        <c:axId val="1"/>
      </c:barChart>
      <c:catAx>
        <c:axId val="13304690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3304690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831347387717691E-2"/>
          <c:y val="1.7962003454231434E-2"/>
          <c:w val="0.95233730522456461"/>
          <c:h val="0.964075993091537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2D475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45C9-4456-BF38-BF6513B04CB9}"/>
              </c:ext>
            </c:extLst>
          </c:dPt>
          <c:dPt>
            <c:idx val="2"/>
            <c:invertIfNegative val="0"/>
            <c:bubble3D val="0"/>
            <c:spPr>
              <a:solidFill>
                <a:srgbClr val="507867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45C9-4456-BF38-BF6513B04CB9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43</c:v>
                </c:pt>
                <c:pt idx="1">
                  <c:v>43</c:v>
                </c:pt>
                <c:pt idx="2">
                  <c:v>69.306930693069305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C9-4456-BF38-BF6513B04CB9}"/>
            </c:ext>
          </c:extLst>
        </c:ser>
        <c:ser>
          <c:idx val="1"/>
          <c:order val="1"/>
          <c:spPr>
            <a:solidFill>
              <a:srgbClr val="5C5C5C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46647B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45C9-4456-BF38-BF6513B04CB9}"/>
              </c:ext>
            </c:extLst>
          </c:dPt>
          <c:dPt>
            <c:idx val="2"/>
            <c:invertIfNegative val="0"/>
            <c:bubble3D val="0"/>
            <c:spPr>
              <a:solidFill>
                <a:srgbClr val="83AC9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45C9-4456-BF38-BF6513B04CB9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38.000000000000007</c:v>
                </c:pt>
                <c:pt idx="1">
                  <c:v>36.000000000000007</c:v>
                </c:pt>
                <c:pt idx="2">
                  <c:v>29.702970297029708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5C9-4456-BF38-BF6513B04CB9}"/>
            </c:ext>
          </c:extLst>
        </c:ser>
        <c:ser>
          <c:idx val="2"/>
          <c:order val="2"/>
          <c:spPr>
            <a:solidFill>
              <a:srgbClr val="A3BCD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858585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45C9-4456-BF38-BF6513B04CB9}"/>
              </c:ext>
            </c:extLst>
          </c:dPt>
          <c:val>
            <c:numRef>
              <c:f>Sheet1!$A$3:$C$3</c:f>
              <c:numCache>
                <c:formatCode>General</c:formatCode>
                <c:ptCount val="3"/>
                <c:pt idx="0">
                  <c:v>12</c:v>
                </c:pt>
                <c:pt idx="1">
                  <c:v>20.999999999999996</c:v>
                </c:pt>
                <c:pt idx="2">
                  <c:v>0.9108910891089117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5C9-4456-BF38-BF6513B04CB9}"/>
            </c:ext>
          </c:extLst>
        </c:ser>
        <c:ser>
          <c:idx val="3"/>
          <c:order val="3"/>
          <c:spPr>
            <a:solidFill>
              <a:srgbClr val="7891AA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0">
                  <c:v>6.9999999999999947</c:v>
                </c:pt>
                <c:pt idx="2">
                  <c:v>7.9207920792079278E-2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5C9-4456-BF38-BF6513B04C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2123670431"/>
        <c:axId val="1"/>
      </c:barChart>
      <c:catAx>
        <c:axId val="21236704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21236704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510822510822513E-2"/>
          <c:y val="1.7962003454231434E-2"/>
          <c:w val="0.95497835497835493"/>
          <c:h val="0.964075993091537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33333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2D475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8A0-488D-B5BE-1B6C7687128D}"/>
              </c:ext>
            </c:extLst>
          </c:dPt>
          <c:dPt>
            <c:idx val="2"/>
            <c:invertIfNegative val="0"/>
            <c:bubble3D val="0"/>
            <c:spPr>
              <a:solidFill>
                <a:srgbClr val="A3BCD3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8A0-488D-B5BE-1B6C7687128D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57.999999999999993</c:v>
                </c:pt>
                <c:pt idx="1">
                  <c:v>57.000000000000007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A0-488D-B5BE-1B6C7687128D}"/>
            </c:ext>
          </c:extLst>
        </c:ser>
        <c:ser>
          <c:idx val="1"/>
          <c:order val="1"/>
          <c:spPr>
            <a:solidFill>
              <a:srgbClr val="46647B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858585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58A0-488D-B5BE-1B6C7687128D}"/>
              </c:ext>
            </c:extLst>
          </c:dPt>
          <c:dPt>
            <c:idx val="2"/>
            <c:invertIfNegative val="0"/>
            <c:bubble3D val="0"/>
            <c:spPr>
              <a:solidFill>
                <a:srgbClr val="DCE5EA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58A0-488D-B5BE-1B6C7687128D}"/>
              </c:ext>
            </c:extLst>
          </c:dPt>
          <c:val>
            <c:numRef>
              <c:f>Sheet1!$A$2:$C$2</c:f>
              <c:numCache>
                <c:formatCode>General</c:formatCode>
                <c:ptCount val="3"/>
                <c:pt idx="0">
                  <c:v>21.999999999999996</c:v>
                </c:pt>
                <c:pt idx="1">
                  <c:v>20.999999999999996</c:v>
                </c:pt>
                <c:pt idx="2">
                  <c:v>30.000000000000004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8A0-488D-B5BE-1B6C7687128D}"/>
            </c:ext>
          </c:extLst>
        </c:ser>
        <c:ser>
          <c:idx val="2"/>
          <c:order val="2"/>
          <c:spPr>
            <a:solidFill>
              <a:srgbClr val="7891AA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6D6D6"/>
              </a:solidFill>
              <a:ln w="952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58A0-488D-B5BE-1B6C7687128D}"/>
              </c:ext>
            </c:extLst>
          </c:dPt>
          <c:val>
            <c:numRef>
              <c:f>Sheet1!$A$3:$C$3</c:f>
              <c:numCache>
                <c:formatCode>General</c:formatCode>
                <c:ptCount val="3"/>
                <c:pt idx="0">
                  <c:v>20.000000000000007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8A0-488D-B5BE-1B6C7687128D}"/>
            </c:ext>
          </c:extLst>
        </c:ser>
        <c:ser>
          <c:idx val="3"/>
          <c:order val="3"/>
          <c:spPr>
            <a:solidFill>
              <a:srgbClr val="DCE2D6"/>
            </a:solidFill>
            <a:ln w="9525" cmpd="sng" algn="ctr">
              <a:solidFill>
                <a:srgbClr val="FFFFFF"/>
              </a:solidFill>
              <a:prstDash val="solid"/>
            </a:ln>
          </c:spPr>
          <c:invertIfNegative val="0"/>
          <c:val>
            <c:numRef>
              <c:f>Sheet1!$A$4:$C$4</c:f>
              <c:numCache>
                <c:formatCode>General</c:formatCode>
                <c:ptCount val="3"/>
                <c:pt idx="1">
                  <c:v>9.9999999999999982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8A0-488D-B5BE-1B6C768712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overlap val="100"/>
        <c:axId val="330465296"/>
        <c:axId val="1"/>
      </c:barChart>
      <c:catAx>
        <c:axId val="33046529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33046529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605D2-09CB-4FF5-B3E0-0D8438672C31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066D0-4CB1-42F9-9E48-378C88200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35BA9-1C34-4928-ABC7-F17D5D4A57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4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44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12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80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62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49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6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50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34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92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6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49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822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77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38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34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36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60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291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34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B8AAA8-266B-4E68-AEEE-EB875BBD9B7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87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240827_Levers_Library_v01</a:t>
            </a: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" Type="http://schemas.openxmlformats.org/officeDocument/2006/relationships/tags" Target="../tags/tag8.xml"/><Relationship Id="rId21" Type="http://schemas.openxmlformats.org/officeDocument/2006/relationships/tags" Target="../tags/tag26.xml"/><Relationship Id="rId34" Type="http://schemas.openxmlformats.org/officeDocument/2006/relationships/chart" Target="../charts/chart1.xml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image" Target="../media/image1.emf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0" Type="http://schemas.openxmlformats.org/officeDocument/2006/relationships/tags" Target="../tags/tag25.xml"/><Relationship Id="rId29" Type="http://schemas.openxmlformats.org/officeDocument/2006/relationships/tags" Target="../tags/tag34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oleObject" Target="../embeddings/oleObject3.bin"/><Relationship Id="rId5" Type="http://schemas.openxmlformats.org/officeDocument/2006/relationships/tags" Target="../tags/tag10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notesSlide" Target="../notesSlides/notesSlide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slideLayout" Target="../slideLayouts/slideLayout2.xml"/><Relationship Id="rId35" Type="http://schemas.openxmlformats.org/officeDocument/2006/relationships/image" Target="../media/image5.png"/><Relationship Id="rId8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3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6.emf"/><Relationship Id="rId4" Type="http://schemas.openxmlformats.org/officeDocument/2006/relationships/tags" Target="../tags/tag38.xml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3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9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26" Type="http://schemas.openxmlformats.org/officeDocument/2006/relationships/tags" Target="../tags/tag71.xml"/><Relationship Id="rId21" Type="http://schemas.openxmlformats.org/officeDocument/2006/relationships/tags" Target="../tags/tag66.xml"/><Relationship Id="rId34" Type="http://schemas.openxmlformats.org/officeDocument/2006/relationships/oleObject" Target="../embeddings/oleObject6.bin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25" Type="http://schemas.openxmlformats.org/officeDocument/2006/relationships/tags" Target="../tags/tag70.xml"/><Relationship Id="rId33" Type="http://schemas.openxmlformats.org/officeDocument/2006/relationships/notesSlide" Target="../notesSlides/notesSlide5.xml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tags" Target="../tags/tag65.xml"/><Relationship Id="rId29" Type="http://schemas.openxmlformats.org/officeDocument/2006/relationships/tags" Target="../tags/tag74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tags" Target="../tags/tag69.xml"/><Relationship Id="rId32" Type="http://schemas.openxmlformats.org/officeDocument/2006/relationships/slideLayout" Target="../slideLayouts/slideLayout2.xml"/><Relationship Id="rId37" Type="http://schemas.openxmlformats.org/officeDocument/2006/relationships/chart" Target="../charts/chart2.xml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tags" Target="../tags/tag68.xml"/><Relationship Id="rId28" Type="http://schemas.openxmlformats.org/officeDocument/2006/relationships/tags" Target="../tags/tag73.xml"/><Relationship Id="rId36" Type="http://schemas.openxmlformats.org/officeDocument/2006/relationships/image" Target="../media/image5.png"/><Relationship Id="rId10" Type="http://schemas.openxmlformats.org/officeDocument/2006/relationships/tags" Target="../tags/tag55.xml"/><Relationship Id="rId19" Type="http://schemas.openxmlformats.org/officeDocument/2006/relationships/tags" Target="../tags/tag64.xml"/><Relationship Id="rId31" Type="http://schemas.openxmlformats.org/officeDocument/2006/relationships/tags" Target="../tags/tag76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tags" Target="../tags/tag67.xml"/><Relationship Id="rId27" Type="http://schemas.openxmlformats.org/officeDocument/2006/relationships/tags" Target="../tags/tag72.xml"/><Relationship Id="rId30" Type="http://schemas.openxmlformats.org/officeDocument/2006/relationships/tags" Target="../tags/tag75.xml"/><Relationship Id="rId35" Type="http://schemas.openxmlformats.org/officeDocument/2006/relationships/image" Target="../media/image1.emf"/><Relationship Id="rId8" Type="http://schemas.openxmlformats.org/officeDocument/2006/relationships/tags" Target="../tags/tag53.xml"/><Relationship Id="rId3" Type="http://schemas.openxmlformats.org/officeDocument/2006/relationships/tags" Target="../tags/tag4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tags" Target="../tags/tag103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29" Type="http://schemas.openxmlformats.org/officeDocument/2006/relationships/oleObject" Target="../embeddings/oleObject7.bin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32" Type="http://schemas.openxmlformats.org/officeDocument/2006/relationships/image" Target="../media/image5.png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notesSlide" Target="../notesSlides/notesSlide6.xml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31" Type="http://schemas.openxmlformats.org/officeDocument/2006/relationships/chart" Target="../charts/chart3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slideLayout" Target="../slideLayouts/slideLayout2.xml"/><Relationship Id="rId30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26" Type="http://schemas.openxmlformats.org/officeDocument/2006/relationships/tags" Target="../tags/tag130.xml"/><Relationship Id="rId3" Type="http://schemas.openxmlformats.org/officeDocument/2006/relationships/tags" Target="../tags/tag107.xml"/><Relationship Id="rId21" Type="http://schemas.openxmlformats.org/officeDocument/2006/relationships/tags" Target="../tags/tag125.xml"/><Relationship Id="rId34" Type="http://schemas.openxmlformats.org/officeDocument/2006/relationships/image" Target="../media/image5.png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5" Type="http://schemas.openxmlformats.org/officeDocument/2006/relationships/tags" Target="../tags/tag129.xml"/><Relationship Id="rId33" Type="http://schemas.openxmlformats.org/officeDocument/2006/relationships/chart" Target="../charts/chart4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tags" Target="../tags/tag124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tags" Target="../tags/tag128.xml"/><Relationship Id="rId32" Type="http://schemas.openxmlformats.org/officeDocument/2006/relationships/image" Target="../media/image1.emf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23" Type="http://schemas.openxmlformats.org/officeDocument/2006/relationships/tags" Target="../tags/tag127.xml"/><Relationship Id="rId28" Type="http://schemas.openxmlformats.org/officeDocument/2006/relationships/tags" Target="../tags/tag132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31" Type="http://schemas.openxmlformats.org/officeDocument/2006/relationships/oleObject" Target="../embeddings/oleObject8.bin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Relationship Id="rId22" Type="http://schemas.openxmlformats.org/officeDocument/2006/relationships/tags" Target="../tags/tag126.xml"/><Relationship Id="rId27" Type="http://schemas.openxmlformats.org/officeDocument/2006/relationships/tags" Target="../tags/tag131.xml"/><Relationship Id="rId30" Type="http://schemas.openxmlformats.org/officeDocument/2006/relationships/notesSlide" Target="../notesSlides/notesSlide7.xml"/><Relationship Id="rId8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3" Type="http://schemas.openxmlformats.org/officeDocument/2006/relationships/tags" Target="../tags/tag13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10" Type="http://schemas.openxmlformats.org/officeDocument/2006/relationships/image" Target="../media/image7.emf"/><Relationship Id="rId4" Type="http://schemas.openxmlformats.org/officeDocument/2006/relationships/tags" Target="../tags/tag136.xml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151.xml"/><Relationship Id="rId18" Type="http://schemas.openxmlformats.org/officeDocument/2006/relationships/tags" Target="../tags/tag156.xml"/><Relationship Id="rId26" Type="http://schemas.openxmlformats.org/officeDocument/2006/relationships/tags" Target="../tags/tag164.xml"/><Relationship Id="rId21" Type="http://schemas.openxmlformats.org/officeDocument/2006/relationships/tags" Target="../tags/tag159.xml"/><Relationship Id="rId34" Type="http://schemas.openxmlformats.org/officeDocument/2006/relationships/notesSlide" Target="../notesSlides/notesSlide9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tags" Target="../tags/tag155.xml"/><Relationship Id="rId25" Type="http://schemas.openxmlformats.org/officeDocument/2006/relationships/tags" Target="../tags/tag163.xml"/><Relationship Id="rId33" Type="http://schemas.openxmlformats.org/officeDocument/2006/relationships/slideLayout" Target="../slideLayouts/slideLayout2.xml"/><Relationship Id="rId38" Type="http://schemas.openxmlformats.org/officeDocument/2006/relationships/chart" Target="../charts/chart5.xml"/><Relationship Id="rId2" Type="http://schemas.openxmlformats.org/officeDocument/2006/relationships/tags" Target="../tags/tag140.xml"/><Relationship Id="rId16" Type="http://schemas.openxmlformats.org/officeDocument/2006/relationships/tags" Target="../tags/tag154.xml"/><Relationship Id="rId20" Type="http://schemas.openxmlformats.org/officeDocument/2006/relationships/tags" Target="../tags/tag158.xml"/><Relationship Id="rId29" Type="http://schemas.openxmlformats.org/officeDocument/2006/relationships/tags" Target="../tags/tag167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24" Type="http://schemas.openxmlformats.org/officeDocument/2006/relationships/tags" Target="../tags/tag162.xml"/><Relationship Id="rId32" Type="http://schemas.openxmlformats.org/officeDocument/2006/relationships/tags" Target="../tags/tag170.xml"/><Relationship Id="rId37" Type="http://schemas.openxmlformats.org/officeDocument/2006/relationships/image" Target="../media/image5.png"/><Relationship Id="rId5" Type="http://schemas.openxmlformats.org/officeDocument/2006/relationships/tags" Target="../tags/tag143.xml"/><Relationship Id="rId15" Type="http://schemas.openxmlformats.org/officeDocument/2006/relationships/tags" Target="../tags/tag153.xml"/><Relationship Id="rId23" Type="http://schemas.openxmlformats.org/officeDocument/2006/relationships/tags" Target="../tags/tag161.xml"/><Relationship Id="rId28" Type="http://schemas.openxmlformats.org/officeDocument/2006/relationships/tags" Target="../tags/tag166.xml"/><Relationship Id="rId36" Type="http://schemas.openxmlformats.org/officeDocument/2006/relationships/image" Target="../media/image1.emf"/><Relationship Id="rId10" Type="http://schemas.openxmlformats.org/officeDocument/2006/relationships/tags" Target="../tags/tag148.xml"/><Relationship Id="rId19" Type="http://schemas.openxmlformats.org/officeDocument/2006/relationships/tags" Target="../tags/tag157.xml"/><Relationship Id="rId31" Type="http://schemas.openxmlformats.org/officeDocument/2006/relationships/tags" Target="../tags/tag169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Relationship Id="rId22" Type="http://schemas.openxmlformats.org/officeDocument/2006/relationships/tags" Target="../tags/tag160.xml"/><Relationship Id="rId27" Type="http://schemas.openxmlformats.org/officeDocument/2006/relationships/tags" Target="../tags/tag165.xml"/><Relationship Id="rId30" Type="http://schemas.openxmlformats.org/officeDocument/2006/relationships/tags" Target="../tags/tag168.xml"/><Relationship Id="rId35" Type="http://schemas.openxmlformats.org/officeDocument/2006/relationships/oleObject" Target="../embeddings/oleObject10.bin"/><Relationship Id="rId8" Type="http://schemas.openxmlformats.org/officeDocument/2006/relationships/tags" Target="../tags/tag146.xml"/><Relationship Id="rId3" Type="http://schemas.openxmlformats.org/officeDocument/2006/relationships/tags" Target="../tags/tag14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0.xml"/><Relationship Id="rId4" Type="http://schemas.openxmlformats.org/officeDocument/2006/relationships/tags" Target="../tags/tag17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194.xml"/><Relationship Id="rId18" Type="http://schemas.openxmlformats.org/officeDocument/2006/relationships/tags" Target="../tags/tag199.xml"/><Relationship Id="rId26" Type="http://schemas.openxmlformats.org/officeDocument/2006/relationships/tags" Target="../tags/tag207.xml"/><Relationship Id="rId3" Type="http://schemas.openxmlformats.org/officeDocument/2006/relationships/tags" Target="../tags/tag184.xml"/><Relationship Id="rId21" Type="http://schemas.openxmlformats.org/officeDocument/2006/relationships/tags" Target="../tags/tag202.xml"/><Relationship Id="rId34" Type="http://schemas.openxmlformats.org/officeDocument/2006/relationships/image" Target="../media/image5.png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17" Type="http://schemas.openxmlformats.org/officeDocument/2006/relationships/tags" Target="../tags/tag198.xml"/><Relationship Id="rId25" Type="http://schemas.openxmlformats.org/officeDocument/2006/relationships/tags" Target="../tags/tag206.xml"/><Relationship Id="rId33" Type="http://schemas.openxmlformats.org/officeDocument/2006/relationships/chart" Target="../charts/chart6.xml"/><Relationship Id="rId2" Type="http://schemas.openxmlformats.org/officeDocument/2006/relationships/tags" Target="../tags/tag183.xml"/><Relationship Id="rId16" Type="http://schemas.openxmlformats.org/officeDocument/2006/relationships/tags" Target="../tags/tag197.xml"/><Relationship Id="rId20" Type="http://schemas.openxmlformats.org/officeDocument/2006/relationships/tags" Target="../tags/tag201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24" Type="http://schemas.openxmlformats.org/officeDocument/2006/relationships/tags" Target="../tags/tag205.xml"/><Relationship Id="rId32" Type="http://schemas.openxmlformats.org/officeDocument/2006/relationships/image" Target="../media/image1.emf"/><Relationship Id="rId5" Type="http://schemas.openxmlformats.org/officeDocument/2006/relationships/tags" Target="../tags/tag186.xml"/><Relationship Id="rId15" Type="http://schemas.openxmlformats.org/officeDocument/2006/relationships/tags" Target="../tags/tag196.xml"/><Relationship Id="rId23" Type="http://schemas.openxmlformats.org/officeDocument/2006/relationships/tags" Target="../tags/tag204.xml"/><Relationship Id="rId28" Type="http://schemas.openxmlformats.org/officeDocument/2006/relationships/tags" Target="../tags/tag209.xml"/><Relationship Id="rId10" Type="http://schemas.openxmlformats.org/officeDocument/2006/relationships/tags" Target="../tags/tag191.xml"/><Relationship Id="rId19" Type="http://schemas.openxmlformats.org/officeDocument/2006/relationships/tags" Target="../tags/tag200.xml"/><Relationship Id="rId31" Type="http://schemas.openxmlformats.org/officeDocument/2006/relationships/oleObject" Target="../embeddings/oleObject11.bin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Relationship Id="rId22" Type="http://schemas.openxmlformats.org/officeDocument/2006/relationships/tags" Target="../tags/tag203.xml"/><Relationship Id="rId27" Type="http://schemas.openxmlformats.org/officeDocument/2006/relationships/tags" Target="../tags/tag208.xml"/><Relationship Id="rId30" Type="http://schemas.openxmlformats.org/officeDocument/2006/relationships/notesSlide" Target="../notesSlides/notesSlide12.xml"/><Relationship Id="rId8" Type="http://schemas.openxmlformats.org/officeDocument/2006/relationships/tags" Target="../tags/tag18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tags" Target="../tags/tag227.xml"/><Relationship Id="rId26" Type="http://schemas.openxmlformats.org/officeDocument/2006/relationships/image" Target="../media/image5.png"/><Relationship Id="rId3" Type="http://schemas.openxmlformats.org/officeDocument/2006/relationships/tags" Target="../tags/tag212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5" Type="http://schemas.openxmlformats.org/officeDocument/2006/relationships/chart" Target="../charts/chart7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20" Type="http://schemas.openxmlformats.org/officeDocument/2006/relationships/tags" Target="../tags/tag229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24" Type="http://schemas.openxmlformats.org/officeDocument/2006/relationships/image" Target="../media/image1.emf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23" Type="http://schemas.openxmlformats.org/officeDocument/2006/relationships/oleObject" Target="../embeddings/oleObject12.bin"/><Relationship Id="rId10" Type="http://schemas.openxmlformats.org/officeDocument/2006/relationships/tags" Target="../tags/tag219.xml"/><Relationship Id="rId19" Type="http://schemas.openxmlformats.org/officeDocument/2006/relationships/tags" Target="../tags/tag228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Relationship Id="rId22" Type="http://schemas.openxmlformats.org/officeDocument/2006/relationships/notesSlide" Target="../notesSlides/notesSlide13.xml"/><Relationship Id="rId27" Type="http://schemas.openxmlformats.org/officeDocument/2006/relationships/hyperlink" Target="https://iris.bain.com/content-viewer/KPV8BC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233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35.xml"/><Relationship Id="rId4" Type="http://schemas.openxmlformats.org/officeDocument/2006/relationships/tags" Target="../tags/tag2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239.xml"/><Relationship Id="rId21" Type="http://schemas.openxmlformats.org/officeDocument/2006/relationships/tags" Target="../tags/tag257.xml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25" Type="http://schemas.openxmlformats.org/officeDocument/2006/relationships/tags" Target="../tags/tag261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tags" Target="../tags/tag256.xml"/><Relationship Id="rId29" Type="http://schemas.openxmlformats.org/officeDocument/2006/relationships/image" Target="../media/image1.emf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24" Type="http://schemas.openxmlformats.org/officeDocument/2006/relationships/tags" Target="../tags/tag260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23" Type="http://schemas.openxmlformats.org/officeDocument/2006/relationships/tags" Target="../tags/tag259.xml"/><Relationship Id="rId28" Type="http://schemas.openxmlformats.org/officeDocument/2006/relationships/oleObject" Target="../embeddings/oleObject13.bin"/><Relationship Id="rId10" Type="http://schemas.openxmlformats.org/officeDocument/2006/relationships/tags" Target="../tags/tag246.xml"/><Relationship Id="rId19" Type="http://schemas.openxmlformats.org/officeDocument/2006/relationships/tags" Target="../tags/tag255.xml"/><Relationship Id="rId31" Type="http://schemas.openxmlformats.org/officeDocument/2006/relationships/chart" Target="../charts/chart8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Relationship Id="rId22" Type="http://schemas.openxmlformats.org/officeDocument/2006/relationships/tags" Target="../tags/tag258.xml"/><Relationship Id="rId27" Type="http://schemas.openxmlformats.org/officeDocument/2006/relationships/notesSlide" Target="../notesSlides/notesSlide15.xml"/><Relationship Id="rId30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13" Type="http://schemas.openxmlformats.org/officeDocument/2006/relationships/image" Target="../media/image8.emf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12" Type="http://schemas.openxmlformats.org/officeDocument/2006/relationships/image" Target="../media/image5.png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26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65.xml"/><Relationship Id="rId9" Type="http://schemas.openxmlformats.org/officeDocument/2006/relationships/tags" Target="../tags/tag27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13" Type="http://schemas.openxmlformats.org/officeDocument/2006/relationships/image" Target="../media/image5.png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image" Target="../media/image9.emf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27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74.xml"/><Relationship Id="rId9" Type="http://schemas.openxmlformats.org/officeDocument/2006/relationships/tags" Target="../tags/tag27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82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4.xml"/><Relationship Id="rId4" Type="http://schemas.openxmlformats.org/officeDocument/2006/relationships/tags" Target="../tags/tag28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5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298.xml"/><Relationship Id="rId18" Type="http://schemas.openxmlformats.org/officeDocument/2006/relationships/tags" Target="../tags/tag303.xml"/><Relationship Id="rId26" Type="http://schemas.openxmlformats.org/officeDocument/2006/relationships/tags" Target="../tags/tag311.xml"/><Relationship Id="rId3" Type="http://schemas.openxmlformats.org/officeDocument/2006/relationships/tags" Target="../tags/tag288.xml"/><Relationship Id="rId21" Type="http://schemas.openxmlformats.org/officeDocument/2006/relationships/tags" Target="../tags/tag306.xml"/><Relationship Id="rId34" Type="http://schemas.openxmlformats.org/officeDocument/2006/relationships/image" Target="../media/image5.png"/><Relationship Id="rId7" Type="http://schemas.openxmlformats.org/officeDocument/2006/relationships/tags" Target="../tags/tag292.xml"/><Relationship Id="rId12" Type="http://schemas.openxmlformats.org/officeDocument/2006/relationships/tags" Target="../tags/tag297.xml"/><Relationship Id="rId17" Type="http://schemas.openxmlformats.org/officeDocument/2006/relationships/tags" Target="../tags/tag302.xml"/><Relationship Id="rId25" Type="http://schemas.openxmlformats.org/officeDocument/2006/relationships/tags" Target="../tags/tag310.xml"/><Relationship Id="rId33" Type="http://schemas.openxmlformats.org/officeDocument/2006/relationships/chart" Target="../charts/chart9.xml"/><Relationship Id="rId2" Type="http://schemas.openxmlformats.org/officeDocument/2006/relationships/tags" Target="../tags/tag287.xml"/><Relationship Id="rId16" Type="http://schemas.openxmlformats.org/officeDocument/2006/relationships/tags" Target="../tags/tag301.xml"/><Relationship Id="rId20" Type="http://schemas.openxmlformats.org/officeDocument/2006/relationships/tags" Target="../tags/tag305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tags" Target="../tags/tag296.xml"/><Relationship Id="rId24" Type="http://schemas.openxmlformats.org/officeDocument/2006/relationships/tags" Target="../tags/tag309.xml"/><Relationship Id="rId32" Type="http://schemas.openxmlformats.org/officeDocument/2006/relationships/image" Target="../media/image1.emf"/><Relationship Id="rId5" Type="http://schemas.openxmlformats.org/officeDocument/2006/relationships/tags" Target="../tags/tag290.xml"/><Relationship Id="rId15" Type="http://schemas.openxmlformats.org/officeDocument/2006/relationships/tags" Target="../tags/tag300.xml"/><Relationship Id="rId23" Type="http://schemas.openxmlformats.org/officeDocument/2006/relationships/tags" Target="../tags/tag308.xml"/><Relationship Id="rId28" Type="http://schemas.openxmlformats.org/officeDocument/2006/relationships/tags" Target="../tags/tag313.xml"/><Relationship Id="rId10" Type="http://schemas.openxmlformats.org/officeDocument/2006/relationships/tags" Target="../tags/tag295.xml"/><Relationship Id="rId19" Type="http://schemas.openxmlformats.org/officeDocument/2006/relationships/tags" Target="../tags/tag304.xml"/><Relationship Id="rId31" Type="http://schemas.openxmlformats.org/officeDocument/2006/relationships/oleObject" Target="../embeddings/oleObject14.bin"/><Relationship Id="rId4" Type="http://schemas.openxmlformats.org/officeDocument/2006/relationships/tags" Target="../tags/tag289.xml"/><Relationship Id="rId9" Type="http://schemas.openxmlformats.org/officeDocument/2006/relationships/tags" Target="../tags/tag294.xml"/><Relationship Id="rId14" Type="http://schemas.openxmlformats.org/officeDocument/2006/relationships/tags" Target="../tags/tag299.xml"/><Relationship Id="rId22" Type="http://schemas.openxmlformats.org/officeDocument/2006/relationships/tags" Target="../tags/tag307.xml"/><Relationship Id="rId27" Type="http://schemas.openxmlformats.org/officeDocument/2006/relationships/tags" Target="../tags/tag312.xml"/><Relationship Id="rId30" Type="http://schemas.openxmlformats.org/officeDocument/2006/relationships/notesSlide" Target="../notesSlides/notesSlide19.xml"/><Relationship Id="rId8" Type="http://schemas.openxmlformats.org/officeDocument/2006/relationships/tags" Target="../tags/tag29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21.xml"/><Relationship Id="rId13" Type="http://schemas.openxmlformats.org/officeDocument/2006/relationships/image" Target="../media/image5.png"/><Relationship Id="rId3" Type="http://schemas.openxmlformats.org/officeDocument/2006/relationships/tags" Target="../tags/tag316.xml"/><Relationship Id="rId7" Type="http://schemas.openxmlformats.org/officeDocument/2006/relationships/tags" Target="../tags/tag320.xml"/><Relationship Id="rId12" Type="http://schemas.openxmlformats.org/officeDocument/2006/relationships/image" Target="../media/image10.emf"/><Relationship Id="rId2" Type="http://schemas.openxmlformats.org/officeDocument/2006/relationships/tags" Target="../tags/tag315.xml"/><Relationship Id="rId1" Type="http://schemas.openxmlformats.org/officeDocument/2006/relationships/tags" Target="../tags/tag314.xml"/><Relationship Id="rId6" Type="http://schemas.openxmlformats.org/officeDocument/2006/relationships/tags" Target="../tags/tag319.xml"/><Relationship Id="rId11" Type="http://schemas.openxmlformats.org/officeDocument/2006/relationships/notesSlide" Target="../notesSlides/notesSlide20.xml"/><Relationship Id="rId5" Type="http://schemas.openxmlformats.org/officeDocument/2006/relationships/tags" Target="../tags/tag31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17.xml"/><Relationship Id="rId9" Type="http://schemas.openxmlformats.org/officeDocument/2006/relationships/tags" Target="../tags/tag32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30.xml"/><Relationship Id="rId13" Type="http://schemas.openxmlformats.org/officeDocument/2006/relationships/image" Target="../media/image5.png"/><Relationship Id="rId3" Type="http://schemas.openxmlformats.org/officeDocument/2006/relationships/tags" Target="../tags/tag325.xml"/><Relationship Id="rId7" Type="http://schemas.openxmlformats.org/officeDocument/2006/relationships/tags" Target="../tags/tag329.xml"/><Relationship Id="rId12" Type="http://schemas.openxmlformats.org/officeDocument/2006/relationships/image" Target="../media/image11.emf"/><Relationship Id="rId2" Type="http://schemas.openxmlformats.org/officeDocument/2006/relationships/tags" Target="../tags/tag324.xml"/><Relationship Id="rId1" Type="http://schemas.openxmlformats.org/officeDocument/2006/relationships/tags" Target="../tags/tag323.xml"/><Relationship Id="rId6" Type="http://schemas.openxmlformats.org/officeDocument/2006/relationships/tags" Target="../tags/tag328.xml"/><Relationship Id="rId11" Type="http://schemas.openxmlformats.org/officeDocument/2006/relationships/notesSlide" Target="../notesSlides/notesSlide21.xml"/><Relationship Id="rId5" Type="http://schemas.openxmlformats.org/officeDocument/2006/relationships/tags" Target="../tags/tag32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26.xml"/><Relationship Id="rId9" Type="http://schemas.openxmlformats.org/officeDocument/2006/relationships/tags" Target="../tags/tag33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13" Type="http://schemas.openxmlformats.org/officeDocument/2006/relationships/image" Target="../media/image12.emf"/><Relationship Id="rId3" Type="http://schemas.openxmlformats.org/officeDocument/2006/relationships/tags" Target="../tags/tag334.xml"/><Relationship Id="rId7" Type="http://schemas.openxmlformats.org/officeDocument/2006/relationships/tags" Target="../tags/tag338.xml"/><Relationship Id="rId12" Type="http://schemas.openxmlformats.org/officeDocument/2006/relationships/notesSlide" Target="../notesSlides/notesSlide22.xm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36.xml"/><Relationship Id="rId10" Type="http://schemas.openxmlformats.org/officeDocument/2006/relationships/tags" Target="../tags/tag341.xml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49.xml"/><Relationship Id="rId13" Type="http://schemas.openxmlformats.org/officeDocument/2006/relationships/image" Target="../media/image5.png"/><Relationship Id="rId3" Type="http://schemas.openxmlformats.org/officeDocument/2006/relationships/tags" Target="../tags/tag344.xml"/><Relationship Id="rId7" Type="http://schemas.openxmlformats.org/officeDocument/2006/relationships/tags" Target="../tags/tag348.xml"/><Relationship Id="rId12" Type="http://schemas.openxmlformats.org/officeDocument/2006/relationships/image" Target="../media/image13.emf"/><Relationship Id="rId2" Type="http://schemas.openxmlformats.org/officeDocument/2006/relationships/tags" Target="../tags/tag343.xml"/><Relationship Id="rId1" Type="http://schemas.openxmlformats.org/officeDocument/2006/relationships/tags" Target="../tags/tag342.xml"/><Relationship Id="rId6" Type="http://schemas.openxmlformats.org/officeDocument/2006/relationships/tags" Target="../tags/tag347.xml"/><Relationship Id="rId11" Type="http://schemas.openxmlformats.org/officeDocument/2006/relationships/notesSlide" Target="../notesSlides/notesSlide23.xml"/><Relationship Id="rId5" Type="http://schemas.openxmlformats.org/officeDocument/2006/relationships/tags" Target="../tags/tag34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45.xml"/><Relationship Id="rId9" Type="http://schemas.openxmlformats.org/officeDocument/2006/relationships/tags" Target="../tags/tag35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1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364.xml"/><Relationship Id="rId18" Type="http://schemas.openxmlformats.org/officeDocument/2006/relationships/tags" Target="../tags/tag369.xml"/><Relationship Id="rId26" Type="http://schemas.openxmlformats.org/officeDocument/2006/relationships/tags" Target="../tags/tag377.xml"/><Relationship Id="rId3" Type="http://schemas.openxmlformats.org/officeDocument/2006/relationships/tags" Target="../tags/tag354.xml"/><Relationship Id="rId21" Type="http://schemas.openxmlformats.org/officeDocument/2006/relationships/tags" Target="../tags/tag372.xml"/><Relationship Id="rId34" Type="http://schemas.openxmlformats.org/officeDocument/2006/relationships/image" Target="../media/image5.png"/><Relationship Id="rId7" Type="http://schemas.openxmlformats.org/officeDocument/2006/relationships/tags" Target="../tags/tag358.xml"/><Relationship Id="rId12" Type="http://schemas.openxmlformats.org/officeDocument/2006/relationships/tags" Target="../tags/tag363.xml"/><Relationship Id="rId17" Type="http://schemas.openxmlformats.org/officeDocument/2006/relationships/tags" Target="../tags/tag368.xml"/><Relationship Id="rId25" Type="http://schemas.openxmlformats.org/officeDocument/2006/relationships/tags" Target="../tags/tag376.xml"/><Relationship Id="rId33" Type="http://schemas.openxmlformats.org/officeDocument/2006/relationships/chart" Target="../charts/chart10.xml"/><Relationship Id="rId2" Type="http://schemas.openxmlformats.org/officeDocument/2006/relationships/tags" Target="../tags/tag353.xml"/><Relationship Id="rId16" Type="http://schemas.openxmlformats.org/officeDocument/2006/relationships/tags" Target="../tags/tag367.xml"/><Relationship Id="rId20" Type="http://schemas.openxmlformats.org/officeDocument/2006/relationships/tags" Target="../tags/tag371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352.xml"/><Relationship Id="rId6" Type="http://schemas.openxmlformats.org/officeDocument/2006/relationships/tags" Target="../tags/tag357.xml"/><Relationship Id="rId11" Type="http://schemas.openxmlformats.org/officeDocument/2006/relationships/tags" Target="../tags/tag362.xml"/><Relationship Id="rId24" Type="http://schemas.openxmlformats.org/officeDocument/2006/relationships/tags" Target="../tags/tag375.xml"/><Relationship Id="rId32" Type="http://schemas.openxmlformats.org/officeDocument/2006/relationships/image" Target="../media/image1.emf"/><Relationship Id="rId5" Type="http://schemas.openxmlformats.org/officeDocument/2006/relationships/tags" Target="../tags/tag356.xml"/><Relationship Id="rId15" Type="http://schemas.openxmlformats.org/officeDocument/2006/relationships/tags" Target="../tags/tag366.xml"/><Relationship Id="rId23" Type="http://schemas.openxmlformats.org/officeDocument/2006/relationships/tags" Target="../tags/tag374.xml"/><Relationship Id="rId28" Type="http://schemas.openxmlformats.org/officeDocument/2006/relationships/tags" Target="../tags/tag379.xml"/><Relationship Id="rId10" Type="http://schemas.openxmlformats.org/officeDocument/2006/relationships/tags" Target="../tags/tag361.xml"/><Relationship Id="rId19" Type="http://schemas.openxmlformats.org/officeDocument/2006/relationships/tags" Target="../tags/tag370.xml"/><Relationship Id="rId31" Type="http://schemas.openxmlformats.org/officeDocument/2006/relationships/oleObject" Target="../embeddings/oleObject15.bin"/><Relationship Id="rId4" Type="http://schemas.openxmlformats.org/officeDocument/2006/relationships/tags" Target="../tags/tag355.xml"/><Relationship Id="rId9" Type="http://schemas.openxmlformats.org/officeDocument/2006/relationships/tags" Target="../tags/tag360.xml"/><Relationship Id="rId14" Type="http://schemas.openxmlformats.org/officeDocument/2006/relationships/tags" Target="../tags/tag365.xml"/><Relationship Id="rId22" Type="http://schemas.openxmlformats.org/officeDocument/2006/relationships/tags" Target="../tags/tag373.xml"/><Relationship Id="rId27" Type="http://schemas.openxmlformats.org/officeDocument/2006/relationships/tags" Target="../tags/tag378.xml"/><Relationship Id="rId30" Type="http://schemas.openxmlformats.org/officeDocument/2006/relationships/notesSlide" Target="../notesSlides/notesSlide24.xml"/><Relationship Id="rId8" Type="http://schemas.openxmlformats.org/officeDocument/2006/relationships/tags" Target="../tags/tag359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tags" Target="../tags/tag392.xml"/><Relationship Id="rId18" Type="http://schemas.openxmlformats.org/officeDocument/2006/relationships/tags" Target="../tags/tag397.xml"/><Relationship Id="rId26" Type="http://schemas.openxmlformats.org/officeDocument/2006/relationships/tags" Target="../tags/tag405.xml"/><Relationship Id="rId3" Type="http://schemas.openxmlformats.org/officeDocument/2006/relationships/tags" Target="../tags/tag382.xml"/><Relationship Id="rId21" Type="http://schemas.openxmlformats.org/officeDocument/2006/relationships/tags" Target="../tags/tag400.xml"/><Relationship Id="rId34" Type="http://schemas.openxmlformats.org/officeDocument/2006/relationships/image" Target="../media/image1.emf"/><Relationship Id="rId7" Type="http://schemas.openxmlformats.org/officeDocument/2006/relationships/tags" Target="../tags/tag386.xml"/><Relationship Id="rId12" Type="http://schemas.openxmlformats.org/officeDocument/2006/relationships/tags" Target="../tags/tag391.xml"/><Relationship Id="rId17" Type="http://schemas.openxmlformats.org/officeDocument/2006/relationships/tags" Target="../tags/tag396.xml"/><Relationship Id="rId25" Type="http://schemas.openxmlformats.org/officeDocument/2006/relationships/tags" Target="../tags/tag404.xml"/><Relationship Id="rId33" Type="http://schemas.openxmlformats.org/officeDocument/2006/relationships/oleObject" Target="../embeddings/oleObject16.bin"/><Relationship Id="rId2" Type="http://schemas.openxmlformats.org/officeDocument/2006/relationships/tags" Target="../tags/tag381.xml"/><Relationship Id="rId16" Type="http://schemas.openxmlformats.org/officeDocument/2006/relationships/tags" Target="../tags/tag395.xml"/><Relationship Id="rId20" Type="http://schemas.openxmlformats.org/officeDocument/2006/relationships/tags" Target="../tags/tag399.xml"/><Relationship Id="rId29" Type="http://schemas.openxmlformats.org/officeDocument/2006/relationships/tags" Target="../tags/tag408.xml"/><Relationship Id="rId1" Type="http://schemas.openxmlformats.org/officeDocument/2006/relationships/tags" Target="../tags/tag380.xml"/><Relationship Id="rId6" Type="http://schemas.openxmlformats.org/officeDocument/2006/relationships/tags" Target="../tags/tag385.xml"/><Relationship Id="rId11" Type="http://schemas.openxmlformats.org/officeDocument/2006/relationships/tags" Target="../tags/tag390.xml"/><Relationship Id="rId24" Type="http://schemas.openxmlformats.org/officeDocument/2006/relationships/tags" Target="../tags/tag403.xml"/><Relationship Id="rId32" Type="http://schemas.openxmlformats.org/officeDocument/2006/relationships/notesSlide" Target="../notesSlides/notesSlide25.xml"/><Relationship Id="rId5" Type="http://schemas.openxmlformats.org/officeDocument/2006/relationships/tags" Target="../tags/tag384.xml"/><Relationship Id="rId15" Type="http://schemas.openxmlformats.org/officeDocument/2006/relationships/tags" Target="../tags/tag394.xml"/><Relationship Id="rId23" Type="http://schemas.openxmlformats.org/officeDocument/2006/relationships/tags" Target="../tags/tag402.xml"/><Relationship Id="rId28" Type="http://schemas.openxmlformats.org/officeDocument/2006/relationships/tags" Target="../tags/tag407.xml"/><Relationship Id="rId36" Type="http://schemas.openxmlformats.org/officeDocument/2006/relationships/image" Target="../media/image5.png"/><Relationship Id="rId10" Type="http://schemas.openxmlformats.org/officeDocument/2006/relationships/tags" Target="../tags/tag389.xml"/><Relationship Id="rId19" Type="http://schemas.openxmlformats.org/officeDocument/2006/relationships/tags" Target="../tags/tag398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383.xml"/><Relationship Id="rId9" Type="http://schemas.openxmlformats.org/officeDocument/2006/relationships/tags" Target="../tags/tag388.xml"/><Relationship Id="rId14" Type="http://schemas.openxmlformats.org/officeDocument/2006/relationships/tags" Target="../tags/tag393.xml"/><Relationship Id="rId22" Type="http://schemas.openxmlformats.org/officeDocument/2006/relationships/tags" Target="../tags/tag401.xml"/><Relationship Id="rId27" Type="http://schemas.openxmlformats.org/officeDocument/2006/relationships/tags" Target="../tags/tag406.xml"/><Relationship Id="rId30" Type="http://schemas.openxmlformats.org/officeDocument/2006/relationships/tags" Target="../tags/tag409.xml"/><Relationship Id="rId35" Type="http://schemas.openxmlformats.org/officeDocument/2006/relationships/chart" Target="../charts/chart11.xml"/><Relationship Id="rId8" Type="http://schemas.openxmlformats.org/officeDocument/2006/relationships/tags" Target="../tags/tag38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0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tags" Target="../tags/tag423.xml"/><Relationship Id="rId18" Type="http://schemas.openxmlformats.org/officeDocument/2006/relationships/tags" Target="../tags/tag428.xml"/><Relationship Id="rId26" Type="http://schemas.openxmlformats.org/officeDocument/2006/relationships/tags" Target="../tags/tag436.xml"/><Relationship Id="rId3" Type="http://schemas.openxmlformats.org/officeDocument/2006/relationships/tags" Target="../tags/tag413.xml"/><Relationship Id="rId21" Type="http://schemas.openxmlformats.org/officeDocument/2006/relationships/tags" Target="../tags/tag431.xml"/><Relationship Id="rId34" Type="http://schemas.openxmlformats.org/officeDocument/2006/relationships/chart" Target="../charts/chart12.xml"/><Relationship Id="rId7" Type="http://schemas.openxmlformats.org/officeDocument/2006/relationships/tags" Target="../tags/tag417.xml"/><Relationship Id="rId12" Type="http://schemas.openxmlformats.org/officeDocument/2006/relationships/tags" Target="../tags/tag422.xml"/><Relationship Id="rId17" Type="http://schemas.openxmlformats.org/officeDocument/2006/relationships/tags" Target="../tags/tag427.xml"/><Relationship Id="rId25" Type="http://schemas.openxmlformats.org/officeDocument/2006/relationships/tags" Target="../tags/tag435.xml"/><Relationship Id="rId33" Type="http://schemas.openxmlformats.org/officeDocument/2006/relationships/image" Target="../media/image1.emf"/><Relationship Id="rId2" Type="http://schemas.openxmlformats.org/officeDocument/2006/relationships/tags" Target="../tags/tag412.xml"/><Relationship Id="rId16" Type="http://schemas.openxmlformats.org/officeDocument/2006/relationships/tags" Target="../tags/tag426.xml"/><Relationship Id="rId20" Type="http://schemas.openxmlformats.org/officeDocument/2006/relationships/tags" Target="../tags/tag430.xml"/><Relationship Id="rId29" Type="http://schemas.openxmlformats.org/officeDocument/2006/relationships/tags" Target="../tags/tag439.xml"/><Relationship Id="rId1" Type="http://schemas.openxmlformats.org/officeDocument/2006/relationships/tags" Target="../tags/tag411.xml"/><Relationship Id="rId6" Type="http://schemas.openxmlformats.org/officeDocument/2006/relationships/tags" Target="../tags/tag416.xml"/><Relationship Id="rId11" Type="http://schemas.openxmlformats.org/officeDocument/2006/relationships/tags" Target="../tags/tag421.xml"/><Relationship Id="rId24" Type="http://schemas.openxmlformats.org/officeDocument/2006/relationships/tags" Target="../tags/tag434.xml"/><Relationship Id="rId32" Type="http://schemas.openxmlformats.org/officeDocument/2006/relationships/oleObject" Target="../embeddings/oleObject17.bin"/><Relationship Id="rId5" Type="http://schemas.openxmlformats.org/officeDocument/2006/relationships/tags" Target="../tags/tag415.xml"/><Relationship Id="rId15" Type="http://schemas.openxmlformats.org/officeDocument/2006/relationships/tags" Target="../tags/tag425.xml"/><Relationship Id="rId23" Type="http://schemas.openxmlformats.org/officeDocument/2006/relationships/tags" Target="../tags/tag433.xml"/><Relationship Id="rId28" Type="http://schemas.openxmlformats.org/officeDocument/2006/relationships/tags" Target="../tags/tag438.xml"/><Relationship Id="rId10" Type="http://schemas.openxmlformats.org/officeDocument/2006/relationships/tags" Target="../tags/tag420.xml"/><Relationship Id="rId19" Type="http://schemas.openxmlformats.org/officeDocument/2006/relationships/tags" Target="../tags/tag429.xml"/><Relationship Id="rId31" Type="http://schemas.openxmlformats.org/officeDocument/2006/relationships/notesSlide" Target="../notesSlides/notesSlide26.xml"/><Relationship Id="rId4" Type="http://schemas.openxmlformats.org/officeDocument/2006/relationships/tags" Target="../tags/tag414.xml"/><Relationship Id="rId9" Type="http://schemas.openxmlformats.org/officeDocument/2006/relationships/tags" Target="../tags/tag419.xml"/><Relationship Id="rId14" Type="http://schemas.openxmlformats.org/officeDocument/2006/relationships/tags" Target="../tags/tag424.xml"/><Relationship Id="rId22" Type="http://schemas.openxmlformats.org/officeDocument/2006/relationships/tags" Target="../tags/tag432.xml"/><Relationship Id="rId27" Type="http://schemas.openxmlformats.org/officeDocument/2006/relationships/tags" Target="../tags/tag437.xml"/><Relationship Id="rId30" Type="http://schemas.openxmlformats.org/officeDocument/2006/relationships/slideLayout" Target="../slideLayouts/slideLayout2.xml"/><Relationship Id="rId35" Type="http://schemas.openxmlformats.org/officeDocument/2006/relationships/image" Target="../media/image5.png"/><Relationship Id="rId8" Type="http://schemas.openxmlformats.org/officeDocument/2006/relationships/tags" Target="../tags/tag41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3" Type="http://schemas.openxmlformats.org/officeDocument/2006/relationships/tags" Target="../tags/tag44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10" Type="http://schemas.openxmlformats.org/officeDocument/2006/relationships/image" Target="../media/image7.emf"/><Relationship Id="rId4" Type="http://schemas.openxmlformats.org/officeDocument/2006/relationships/tags" Target="../tags/tag443.xml"/><Relationship Id="rId9" Type="http://schemas.openxmlformats.org/officeDocument/2006/relationships/oleObject" Target="../embeddings/oleObject1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3" Type="http://schemas.openxmlformats.org/officeDocument/2006/relationships/tags" Target="../tags/tag44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47.xml"/><Relationship Id="rId1" Type="http://schemas.openxmlformats.org/officeDocument/2006/relationships/tags" Target="../tags/tag446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10" Type="http://schemas.openxmlformats.org/officeDocument/2006/relationships/image" Target="../media/image1.emf"/><Relationship Id="rId4" Type="http://schemas.openxmlformats.org/officeDocument/2006/relationships/tags" Target="../tags/tag449.xml"/><Relationship Id="rId9" Type="http://schemas.openxmlformats.org/officeDocument/2006/relationships/oleObject" Target="../embeddings/oleObject19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FD6E856-D9D8-8007-1711-966F055A879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1669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84" imgH="486" progId="TCLayout.ActiveDocument.1">
                  <p:embed/>
                </p:oleObj>
              </mc:Choice>
              <mc:Fallback>
                <p:oleObj name="think-cell Slide" r:id="rId5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6E856-D9D8-8007-1711-966F055A8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btfpColumnIndicatorGroup2">
            <a:extLst>
              <a:ext uri="{FF2B5EF4-FFF2-40B4-BE49-F238E27FC236}">
                <a16:creationId xmlns:a16="http://schemas.microsoft.com/office/drawing/2014/main" id="{7CCAD3A2-8CD0-41C4-9EE5-E3D022150BB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3" name="btfpColumnGapBlocker482449">
              <a:extLst>
                <a:ext uri="{FF2B5EF4-FFF2-40B4-BE49-F238E27FC236}">
                  <a16:creationId xmlns:a16="http://schemas.microsoft.com/office/drawing/2014/main" id="{9F519E7B-DC0E-413B-90C1-746FCF8B882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21" name="btfpColumnGapBlocker967584">
              <a:extLst>
                <a:ext uri="{FF2B5EF4-FFF2-40B4-BE49-F238E27FC236}">
                  <a16:creationId xmlns:a16="http://schemas.microsoft.com/office/drawing/2014/main" id="{75E4A3E7-2E08-4711-A3ED-106F62FDAB0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9" name="btfpColumnIndicator941254">
              <a:extLst>
                <a:ext uri="{FF2B5EF4-FFF2-40B4-BE49-F238E27FC236}">
                  <a16:creationId xmlns:a16="http://schemas.microsoft.com/office/drawing/2014/main" id="{6BE78751-E04A-492A-99A4-6AB9CD30079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btfpColumnIndicator679723">
              <a:extLst>
                <a:ext uri="{FF2B5EF4-FFF2-40B4-BE49-F238E27FC236}">
                  <a16:creationId xmlns:a16="http://schemas.microsoft.com/office/drawing/2014/main" id="{37C3A41F-C1F1-4442-82F7-B8A211EF561C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btfpColumnIndicatorGroup1">
            <a:extLst>
              <a:ext uri="{FF2B5EF4-FFF2-40B4-BE49-F238E27FC236}">
                <a16:creationId xmlns:a16="http://schemas.microsoft.com/office/drawing/2014/main" id="{CA22F16B-2CE8-41FD-897D-1962211DDB6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2" name="btfpColumnGapBlocker932811">
              <a:extLst>
                <a:ext uri="{FF2B5EF4-FFF2-40B4-BE49-F238E27FC236}">
                  <a16:creationId xmlns:a16="http://schemas.microsoft.com/office/drawing/2014/main" id="{723E7ED3-481C-42CF-8DCE-2295EED13B3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20" name="btfpColumnGapBlocker972291">
              <a:extLst>
                <a:ext uri="{FF2B5EF4-FFF2-40B4-BE49-F238E27FC236}">
                  <a16:creationId xmlns:a16="http://schemas.microsoft.com/office/drawing/2014/main" id="{05A23AB6-A784-4923-8020-585B084996E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8" name="btfpColumnIndicator510189">
              <a:extLst>
                <a:ext uri="{FF2B5EF4-FFF2-40B4-BE49-F238E27FC236}">
                  <a16:creationId xmlns:a16="http://schemas.microsoft.com/office/drawing/2014/main" id="{0A78BD82-A2AA-4C2B-99BA-49CE0F8EAED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btfpColumnIndicator646155">
              <a:extLst>
                <a:ext uri="{FF2B5EF4-FFF2-40B4-BE49-F238E27FC236}">
                  <a16:creationId xmlns:a16="http://schemas.microsoft.com/office/drawing/2014/main" id="{644658B4-3FC9-44A1-A30B-BB8398D8735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Date"/>
          <p:cNvSpPr>
            <a:spLocks noGrp="1"/>
          </p:cNvSpPr>
          <p:nvPr>
            <p:ph type="subTitle" idx="1"/>
          </p:nvPr>
        </p:nvSpPr>
        <p:spPr/>
        <p:txBody>
          <a:bodyPr vert="horz" lIns="36000" tIns="36000" rIns="36000" bIns="36000" rtlCol="0" anchor="t">
            <a:noAutofit/>
          </a:bodyPr>
          <a:lstStyle/>
          <a:p>
            <a:r>
              <a:rPr lang="en-US"/>
              <a:t>August 2024</a:t>
            </a:r>
          </a:p>
        </p:txBody>
      </p:sp>
      <p:sp>
        <p:nvSpPr>
          <p:cNvPr id="4" name="Title"/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OI Lever compendium (not exhaustive)</a:t>
            </a:r>
          </a:p>
        </p:txBody>
      </p:sp>
      <p:sp>
        <p:nvSpPr>
          <p:cNvPr id="5" name="btfpLayoutConfig" hidden="1"/>
          <p:cNvSpPr txBox="1"/>
          <p:nvPr/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overall_0_132500659116737732 columns_1_132500659116737732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532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1197225"/>
            <a:ext cx="127000" cy="503530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2848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84" imgH="486" progId="TCLayout.ActiveDocument.1">
                  <p:embed/>
                </p:oleObj>
              </mc:Choice>
              <mc:Fallback>
                <p:oleObj name="think-cell Slide" r:id="rId32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an Automotive Parts OEM suggests ~</a:t>
            </a:r>
            <a:r>
              <a:rPr lang="en-US" sz="2400" b="0">
                <a:solidFill>
                  <a:schemeClr val="tx1"/>
                </a:solidFill>
              </a:rPr>
              <a:t>€</a:t>
            </a:r>
            <a:r>
              <a:rPr lang="en-US" sz="2400">
                <a:solidFill>
                  <a:schemeClr val="tx1"/>
                </a:solidFill>
              </a:rPr>
              <a:t>610M</a:t>
            </a:r>
            <a:r>
              <a:rPr lang="en-US"/>
              <a:t>+ of cost savings opportunity within </a:t>
            </a:r>
            <a:r>
              <a:rPr lang="en-US" err="1"/>
              <a:t>Forvia’s</a:t>
            </a:r>
            <a:r>
              <a:rPr lang="en-US"/>
              <a:t>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73F44A4D-397C-B2C8-6BA6-09B2A85E306F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47688" y="1714500"/>
          <a:ext cx="3667125" cy="4491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74663" y="604678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4813" y="51816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4813" y="43164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4813" y="34512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4813" y="25860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4963" y="172085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4963" y="1273175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77" name="Text Placeholder">
            <a:extLst>
              <a:ext uri="{FF2B5EF4-FFF2-40B4-BE49-F238E27FC236}">
                <a16:creationId xmlns:a16="http://schemas.microsoft.com/office/drawing/2014/main" id="{DB0632A5-9A9C-A92B-8167-BFB286459F7F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598488" y="1998663"/>
            <a:ext cx="1230313" cy="152400"/>
          </a:xfrm>
          <a:prstGeom prst="rect">
            <a:avLst/>
          </a:prstGeom>
          <a:solidFill>
            <a:srgbClr val="DCE5EA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7334CA1-90AC-4198-9E67-DF6E48346505}" type="datetime'E''''x''''t''''e''''r''n''''al Costs'''''' (1''''''''3''%)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External Costs (13%)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1" name="Text Placeholder">
            <a:extLst>
              <a:ext uri="{FF2B5EF4-FFF2-40B4-BE49-F238E27FC236}">
                <a16:creationId xmlns:a16="http://schemas.microsoft.com/office/drawing/2014/main" id="{3F49C034-CEF6-EBF1-6660-C68C9C37AB2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725488" y="2678113"/>
            <a:ext cx="976313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E6687AF-714A-4A0A-BA4B-5827651B8145}" type="datetime'''''P''''''er''s''''''''o''''''''nn''''''''e''''''l (19%'''')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Personnel (19%)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55" name="Text Placeholder">
            <a:extLst>
              <a:ext uri="{FF2B5EF4-FFF2-40B4-BE49-F238E27FC236}">
                <a16:creationId xmlns:a16="http://schemas.microsoft.com/office/drawing/2014/main" id="{4A72609E-76D6-E492-BAD3-AACB7856407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639764" y="4564063"/>
            <a:ext cx="1147763" cy="152400"/>
          </a:xfrm>
          <a:prstGeom prst="rect">
            <a:avLst/>
          </a:prstGeom>
          <a:solidFill>
            <a:srgbClr val="7891AA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5CC132F-6796-4E79-A3C5-300268D0F37A}" type="datetime'R''''aw ''''M''ate''''''''rial'' (''''''69''''''''''''''%)''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Raw Material (69%)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6" name="Text Placeholder">
            <a:extLst>
              <a:ext uri="{FF2B5EF4-FFF2-40B4-BE49-F238E27FC236}">
                <a16:creationId xmlns:a16="http://schemas.microsoft.com/office/drawing/2014/main" id="{EC02AF72-AD46-3477-B3F9-D0DD0341060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20763" y="6165850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3AA323-CE1E-48B2-B15A-02B935A3F00B}" type="datetime'''C''''''''''''''''OG''''''''''''''''''''''''S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8" name="Text Placeholder">
            <a:extLst>
              <a:ext uri="{FF2B5EF4-FFF2-40B4-BE49-F238E27FC236}">
                <a16:creationId xmlns:a16="http://schemas.microsoft.com/office/drawing/2014/main" id="{8364680F-DD6F-1C5A-ADB1-32C04F706FE1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2071688" y="1836738"/>
            <a:ext cx="6191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BE40CE1-DD4B-43C7-AFEC-0AA4ECF3F1B4}" type="datetime'EB''''I''''''''T'''''' ''(''''''5''''''''''%)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 (5%)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494EC851-B067-AB1E-FFD4-CEEEEB4456A6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2058988" y="2054225"/>
            <a:ext cx="6461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146E3F41-CA7F-4C05-8CD2-804194ECADC2}" type="datetime'''''''''''''''''''''''S''''G''''&amp;''''''''''A'''' ''''(''5%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(5%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67" name="Text Placeholder">
            <a:extLst>
              <a:ext uri="{FF2B5EF4-FFF2-40B4-BE49-F238E27FC236}">
                <a16:creationId xmlns:a16="http://schemas.microsoft.com/office/drawing/2014/main" id="{D394AA7A-E185-1587-8BA2-3E4AAFE8E380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078038" y="2225675"/>
            <a:ext cx="6064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7D2378F-908D-4B5D-A3BA-F734E193491B}" type="datetime'''''R&amp;''''D'''' ''(''''''''''3''''''''''%'''''''')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R&amp;D (3%)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58" name="Text Placeholder">
            <a:extLst>
              <a:ext uri="{FF2B5EF4-FFF2-40B4-BE49-F238E27FC236}">
                <a16:creationId xmlns:a16="http://schemas.microsoft.com/office/drawing/2014/main" id="{460EBDF1-C9F6-FD70-BFBD-AD9A6DEA0F3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054225" y="4171950"/>
            <a:ext cx="654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14133C41-6A28-414D-BD52-BC008125DC72}" type="datetime'''''''''''C''oS'''''''''''''''' ''''''''''(''8''''7''''''%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CoS (87%)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965325" y="616585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6" name="Text Placeholder">
            <a:extLst>
              <a:ext uri="{FF2B5EF4-FFF2-40B4-BE49-F238E27FC236}">
                <a16:creationId xmlns:a16="http://schemas.microsoft.com/office/drawing/2014/main" id="{FB0C5226-3A1B-6E68-3B33-2CCE0E5BC97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3173413" y="2478088"/>
            <a:ext cx="749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537C73E-1C8A-44B6-B079-B705EF0ECDD8}" type="datetime'''''G''&amp;A'' ''''''(~3''''''''''''''5''''''%'''''')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G&amp;A (~35%)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52" name="Text Placeholder">
            <a:extLst>
              <a:ext uri="{FF2B5EF4-FFF2-40B4-BE49-F238E27FC236}">
                <a16:creationId xmlns:a16="http://schemas.microsoft.com/office/drawing/2014/main" id="{CA0FFA20-65C8-D6DA-D4E2-1D07EE066581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170238" y="4640263"/>
            <a:ext cx="757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D3BC3BE-8F10-4916-B77E-084C08BF1E12}" type="datetime'S''''&amp;''''''''''''M ''''''''''''(~''6''''5%'''''')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S&amp;M (~65%)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367088" y="616585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3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Totals may not tie due to rounding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5"/>
            </p:custDataLst>
          </p:nvPr>
        </p:nvSpPr>
        <p:spPr>
          <a:xfrm>
            <a:off x="4450863" y="981194"/>
            <a:ext cx="1054870" cy="359703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6"/>
            </p:custDataLst>
          </p:nvPr>
        </p:nvSpPr>
        <p:spPr>
          <a:xfrm>
            <a:off x="6499862" y="1119695"/>
            <a:ext cx="5310779" cy="220028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27"/>
            </p:custDataLst>
          </p:nvPr>
        </p:nvSpPr>
        <p:spPr>
          <a:xfrm>
            <a:off x="5669887" y="981194"/>
            <a:ext cx="829975" cy="359703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 err="1">
                <a:solidFill>
                  <a:schemeClr val="accent3"/>
                </a:solidFill>
              </a:rPr>
              <a:t>Forvia’s</a:t>
            </a:r>
            <a:r>
              <a:rPr lang="en-US" sz="900" b="1" cap="all">
                <a:solidFill>
                  <a:schemeClr val="accent3"/>
                </a:solidFill>
              </a:rPr>
              <a:t>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71512" y="1512617"/>
            <a:ext cx="2243137" cy="221203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 err="1">
                <a:solidFill>
                  <a:srgbClr val="C00000"/>
                </a:solidFill>
              </a:rPr>
              <a:t>Forvia</a:t>
            </a:r>
            <a:r>
              <a:rPr lang="en-US" sz="900" b="1" cap="all">
                <a:solidFill>
                  <a:srgbClr val="C00000"/>
                </a:solidFill>
              </a:rPr>
              <a:t>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4" name="BainTable47798">
            <a:extLst>
              <a:ext uri="{FF2B5EF4-FFF2-40B4-BE49-F238E27FC236}">
                <a16:creationId xmlns:a16="http://schemas.microsoft.com/office/drawing/2014/main" id="{655AAE25-D603-211E-A228-79AEC637B7B8}"/>
              </a:ext>
            </a:extLst>
          </p:cNvPr>
          <p:cNvGraphicFramePr>
            <a:graphicFrameLocks noGrp="1"/>
          </p:cNvGraphicFramePr>
          <p:nvPr>
            <p:custDataLst>
              <p:tags r:id="rId29"/>
            </p:custDataLst>
          </p:nvPr>
        </p:nvGraphicFramePr>
        <p:xfrm>
          <a:off x="4464148" y="1283073"/>
          <a:ext cx="7392890" cy="503609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098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104928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146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517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Raw Material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lower cost suppliers for non-critical components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&amp; contracts to eliminate long tail of suppliers &amp; unlock volume discounts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45920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1-3%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~€160-485M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43003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/>
                        <a:t>External Costs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~€60-120M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/>
                        <a:t>Engage businesses in supply chain strategy, encompassing Directs and Subcontract spend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00">
                          <a:effectLst/>
                        </a:rPr>
                        <a:t>Direct more spend through PSL suppliers, including Subcontract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/>
                        <a:t>Re-source with higher spend and control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/>
                        <a:t>Extend Direct sourcing to key categories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/>
                        <a:t>Buying power can be extended to the subcontract supply chain through use of PSLs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/>
                        <a:t>Formalization and deepening of relationships based on Subcontract collaboration model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021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2-4%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149209"/>
                  </a:ext>
                </a:extLst>
              </a:tr>
              <a:tr h="184517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Personnel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Right size demand by eliminating unnecessary services/activities and optimizing service levels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management &amp; support: Remove unnecessary open positions, de-title, and otherwise streamline stores support and management structure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new technology-based productivity tools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labor to achieve desired service levels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46375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~€220-440M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18451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/>
                        <a:t>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~€440-1,045M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7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327735">
                <a:tc gridSpan="2"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</a:rPr>
                        <a:t>S&amp;M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</a:rPr>
                        <a:t>10-15% </a:t>
                      </a: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</a:t>
                      </a:r>
                      <a:r>
                        <a:rPr lang="en-US" sz="700" b="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capacity coverage (where to deploy, optimize channels, role design &amp; decision rights)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Coordinate single product sales efforts to drive up share of wallet and improve cross 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(e.g., prioritize accounts by profit opportunity and ability to win)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Optimize sales incentives to drive desired behaviors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Expand sales operations capabilities including commercial pipeline mgmt., KPI tracking and sales continuous improvement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baseline="0">
                          <a:solidFill>
                            <a:srgbClr val="000000"/>
                          </a:solidFill>
                        </a:rPr>
                        <a:t>Marketing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baseline="0">
                          <a:solidFill>
                            <a:srgbClr val="000000"/>
                          </a:solidFill>
                        </a:rPr>
                        <a:t>Improve ROI of marketing – shift low-impact spend to high-impact areas;  leverage AI/ML to better customize offers and improve conversion; conduct A/B testing to refine messaging, tactics, etc.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 to lower cost consumer market insight</a:t>
                      </a:r>
                      <a:r>
                        <a:rPr 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vendor</a:t>
                      </a:r>
                      <a:r>
                        <a:rPr 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self-serve platforms &amp; </a:t>
                      </a:r>
                      <a:r>
                        <a:rPr lang="en-US" sz="700" b="0" i="0" u="non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data in-house (create</a:t>
                      </a:r>
                      <a:r>
                        <a:rPr lang="en-US" sz="700" b="0" i="0" u="non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internal center of excellence)</a:t>
                      </a:r>
                      <a:endParaRPr lang="en-US" sz="700" b="0" i="0" u="non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90022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~€80-120M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solidFill>
                      <a:srgbClr val="D6D6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184517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lvl="0" indent="-177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/>
                        <a:t>Optimize spans and layers and align talent pyramid and compensation (‘right person, right role’)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/>
                        <a:t>Zero base activities, eliminating non-value-added work and automating low value, repetitive processes </a:t>
                      </a:r>
                    </a:p>
                    <a:p>
                      <a:pPr marL="177800" lvl="0" indent="-177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/>
                        <a:t>Explore shared services, internal COEs and outsourcing/offshore to optimize where services are done and by whom (eliminate shadow organizations within BUs)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27279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C0000"/>
                          </a:solidFill>
                        </a:rPr>
                        <a:t>10-20% </a:t>
                      </a:r>
                      <a:r>
                        <a:rPr lang="en-US" sz="800">
                          <a:solidFill>
                            <a:srgbClr val="000000"/>
                          </a:solidFill>
                        </a:rPr>
                        <a:t>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~€45-90M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18451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~€125-210M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endParaRPr lang="en-US" sz="7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45731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</a:rPr>
                        <a:t>R&amp;D </a:t>
                      </a:r>
                      <a:br>
                        <a:rPr lang="en-US" sz="800" b="1">
                          <a:solidFill>
                            <a:srgbClr val="000000"/>
                          </a:solidFill>
                        </a:rPr>
                      </a:br>
                      <a:r>
                        <a:rPr lang="en-US" sz="800" b="1">
                          <a:solidFill>
                            <a:srgbClr val="CC0000"/>
                          </a:solidFill>
                        </a:rPr>
                        <a:t>5-10%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savings 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~€45-90M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942522"/>
                  </a:ext>
                </a:extLst>
              </a:tr>
              <a:tr h="19815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800" b="1" i="0" u="none" strike="noStrike" baseline="0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800" b="1" i="0" u="none" strike="noStrike">
                        <a:solidFill>
                          <a:srgbClr val="CC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C0000"/>
                          </a:solidFill>
                        </a:rPr>
                        <a:t>~€610-1,345M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900" b="1" u="none" strike="noStrike" baseline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21FA4125-2AF9-7A90-385A-EAA8177CA577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936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0C25F4F1-FE7B-DFA1-20F6-BE35866FC4F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564808">
              <a:extLst>
                <a:ext uri="{FF2B5EF4-FFF2-40B4-BE49-F238E27FC236}">
                  <a16:creationId xmlns:a16="http://schemas.microsoft.com/office/drawing/2014/main" id="{39C4FA17-4CCD-64CB-DE96-D29C3AA57269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281656">
              <a:extLst>
                <a:ext uri="{FF2B5EF4-FFF2-40B4-BE49-F238E27FC236}">
                  <a16:creationId xmlns:a16="http://schemas.microsoft.com/office/drawing/2014/main" id="{4D1DEFAF-1CCB-A073-E0C7-3990864316A7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240675">
              <a:extLst>
                <a:ext uri="{FF2B5EF4-FFF2-40B4-BE49-F238E27FC236}">
                  <a16:creationId xmlns:a16="http://schemas.microsoft.com/office/drawing/2014/main" id="{3416FEED-7449-4DD9-85CB-C2B53B5FAE63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321216">
              <a:extLst>
                <a:ext uri="{FF2B5EF4-FFF2-40B4-BE49-F238E27FC236}">
                  <a16:creationId xmlns:a16="http://schemas.microsoft.com/office/drawing/2014/main" id="{C0C4BBBB-1E90-D6F0-EC41-D50BF2FE57FF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930351">
              <a:extLst>
                <a:ext uri="{FF2B5EF4-FFF2-40B4-BE49-F238E27FC236}">
                  <a16:creationId xmlns:a16="http://schemas.microsoft.com/office/drawing/2014/main" id="{1633F8A8-C4FD-989E-3A96-9517742770FF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919626">
              <a:extLst>
                <a:ext uri="{FF2B5EF4-FFF2-40B4-BE49-F238E27FC236}">
                  <a16:creationId xmlns:a16="http://schemas.microsoft.com/office/drawing/2014/main" id="{46D8228F-A1C3-211F-0684-8BB4DD94503C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728028">
              <a:extLst>
                <a:ext uri="{FF2B5EF4-FFF2-40B4-BE49-F238E27FC236}">
                  <a16:creationId xmlns:a16="http://schemas.microsoft.com/office/drawing/2014/main" id="{C12F26E1-C09D-B710-2490-ADD2CD2F6C95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181504">
              <a:extLst>
                <a:ext uri="{FF2B5EF4-FFF2-40B4-BE49-F238E27FC236}">
                  <a16:creationId xmlns:a16="http://schemas.microsoft.com/office/drawing/2014/main" id="{48D44035-822C-2F26-CA20-940C71890357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416237">
              <a:extLst>
                <a:ext uri="{FF2B5EF4-FFF2-40B4-BE49-F238E27FC236}">
                  <a16:creationId xmlns:a16="http://schemas.microsoft.com/office/drawing/2014/main" id="{0AA5F197-609A-56E2-2DFE-201881984934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592986">
              <a:extLst>
                <a:ext uri="{FF2B5EF4-FFF2-40B4-BE49-F238E27FC236}">
                  <a16:creationId xmlns:a16="http://schemas.microsoft.com/office/drawing/2014/main" id="{17A938E6-676D-BD1C-9A13-95846DD8970C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597603">
              <a:extLst>
                <a:ext uri="{FF2B5EF4-FFF2-40B4-BE49-F238E27FC236}">
                  <a16:creationId xmlns:a16="http://schemas.microsoft.com/office/drawing/2014/main" id="{17583271-15A9-F8A8-B184-34B1A835C3D7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297703">
              <a:extLst>
                <a:ext uri="{FF2B5EF4-FFF2-40B4-BE49-F238E27FC236}">
                  <a16:creationId xmlns:a16="http://schemas.microsoft.com/office/drawing/2014/main" id="{8696E2A7-2179-2A04-13C8-51EA1D363E6D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888105">
              <a:extLst>
                <a:ext uri="{FF2B5EF4-FFF2-40B4-BE49-F238E27FC236}">
                  <a16:creationId xmlns:a16="http://schemas.microsoft.com/office/drawing/2014/main" id="{28140FAB-05E6-6ECE-8CCD-CE0C20ED744A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197890">
              <a:extLst>
                <a:ext uri="{FF2B5EF4-FFF2-40B4-BE49-F238E27FC236}">
                  <a16:creationId xmlns:a16="http://schemas.microsoft.com/office/drawing/2014/main" id="{FC9D63BB-782B-3EC0-4E90-4339649F9603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250735">
              <a:extLst>
                <a:ext uri="{FF2B5EF4-FFF2-40B4-BE49-F238E27FC236}">
                  <a16:creationId xmlns:a16="http://schemas.microsoft.com/office/drawing/2014/main" id="{17552454-E98F-72CC-DF01-BA3D3D5BC16D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779178">
              <a:extLst>
                <a:ext uri="{FF2B5EF4-FFF2-40B4-BE49-F238E27FC236}">
                  <a16:creationId xmlns:a16="http://schemas.microsoft.com/office/drawing/2014/main" id="{24ECBBDB-4327-A195-9D36-7AA7811EAA3D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307494">
              <a:extLst>
                <a:ext uri="{FF2B5EF4-FFF2-40B4-BE49-F238E27FC236}">
                  <a16:creationId xmlns:a16="http://schemas.microsoft.com/office/drawing/2014/main" id="{B6C48968-203A-9DDD-4E03-28F642943FF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858707">
              <a:extLst>
                <a:ext uri="{FF2B5EF4-FFF2-40B4-BE49-F238E27FC236}">
                  <a16:creationId xmlns:a16="http://schemas.microsoft.com/office/drawing/2014/main" id="{61CD65E6-08CF-5227-D3E6-9466ADB738DA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735198">
              <a:extLst>
                <a:ext uri="{FF2B5EF4-FFF2-40B4-BE49-F238E27FC236}">
                  <a16:creationId xmlns:a16="http://schemas.microsoft.com/office/drawing/2014/main" id="{DC32AFAB-59F8-5362-8BBA-A33CE22759E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C7753627-BE70-7F94-04D7-5413B6E988A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667702">
              <a:extLst>
                <a:ext uri="{FF2B5EF4-FFF2-40B4-BE49-F238E27FC236}">
                  <a16:creationId xmlns:a16="http://schemas.microsoft.com/office/drawing/2014/main" id="{49157C73-66FE-B9EA-59E6-AF522372EC60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618268">
              <a:extLst>
                <a:ext uri="{FF2B5EF4-FFF2-40B4-BE49-F238E27FC236}">
                  <a16:creationId xmlns:a16="http://schemas.microsoft.com/office/drawing/2014/main" id="{EDA5EF65-4E9F-7E10-F622-CBC5805864C1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226579">
              <a:extLst>
                <a:ext uri="{FF2B5EF4-FFF2-40B4-BE49-F238E27FC236}">
                  <a16:creationId xmlns:a16="http://schemas.microsoft.com/office/drawing/2014/main" id="{A9B3EEFB-79E2-C63C-EEE7-629C259057BE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902903">
              <a:extLst>
                <a:ext uri="{FF2B5EF4-FFF2-40B4-BE49-F238E27FC236}">
                  <a16:creationId xmlns:a16="http://schemas.microsoft.com/office/drawing/2014/main" id="{08BE7C0F-F605-7FEB-D8A6-1D119F4B496F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833873">
              <a:extLst>
                <a:ext uri="{FF2B5EF4-FFF2-40B4-BE49-F238E27FC236}">
                  <a16:creationId xmlns:a16="http://schemas.microsoft.com/office/drawing/2014/main" id="{F0215204-3163-9F8A-01FB-27FE553CB536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161402">
              <a:extLst>
                <a:ext uri="{FF2B5EF4-FFF2-40B4-BE49-F238E27FC236}">
                  <a16:creationId xmlns:a16="http://schemas.microsoft.com/office/drawing/2014/main" id="{14A56A8C-5B37-BCC7-2E8A-E1638CD0D5B6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937033">
              <a:extLst>
                <a:ext uri="{FF2B5EF4-FFF2-40B4-BE49-F238E27FC236}">
                  <a16:creationId xmlns:a16="http://schemas.microsoft.com/office/drawing/2014/main" id="{78396574-813E-6000-BE3A-0DD00173A479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615329">
              <a:extLst>
                <a:ext uri="{FF2B5EF4-FFF2-40B4-BE49-F238E27FC236}">
                  <a16:creationId xmlns:a16="http://schemas.microsoft.com/office/drawing/2014/main" id="{7D9BC6B8-6F10-38E3-6E2D-DB4E0874A191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774970">
              <a:extLst>
                <a:ext uri="{FF2B5EF4-FFF2-40B4-BE49-F238E27FC236}">
                  <a16:creationId xmlns:a16="http://schemas.microsoft.com/office/drawing/2014/main" id="{A1FA5C81-7DED-BE0E-EA93-4698A75EFB14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172749">
              <a:extLst>
                <a:ext uri="{FF2B5EF4-FFF2-40B4-BE49-F238E27FC236}">
                  <a16:creationId xmlns:a16="http://schemas.microsoft.com/office/drawing/2014/main" id="{4B0D09BA-B183-457A-71AC-7B82963B7765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930499">
              <a:extLst>
                <a:ext uri="{FF2B5EF4-FFF2-40B4-BE49-F238E27FC236}">
                  <a16:creationId xmlns:a16="http://schemas.microsoft.com/office/drawing/2014/main" id="{4687FDA1-5000-D9D9-612D-E772898F0D8D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560939">
              <a:extLst>
                <a:ext uri="{FF2B5EF4-FFF2-40B4-BE49-F238E27FC236}">
                  <a16:creationId xmlns:a16="http://schemas.microsoft.com/office/drawing/2014/main" id="{98C26CD4-9F65-9160-01DD-BD7CD7445F08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519244">
              <a:extLst>
                <a:ext uri="{FF2B5EF4-FFF2-40B4-BE49-F238E27FC236}">
                  <a16:creationId xmlns:a16="http://schemas.microsoft.com/office/drawing/2014/main" id="{8AE74342-56DA-82D5-3D0E-4A8B86D5B86A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257969">
              <a:extLst>
                <a:ext uri="{FF2B5EF4-FFF2-40B4-BE49-F238E27FC236}">
                  <a16:creationId xmlns:a16="http://schemas.microsoft.com/office/drawing/2014/main" id="{63A94E84-70BC-A217-44C8-3919CB6375D8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278763">
              <a:extLst>
                <a:ext uri="{FF2B5EF4-FFF2-40B4-BE49-F238E27FC236}">
                  <a16:creationId xmlns:a16="http://schemas.microsoft.com/office/drawing/2014/main" id="{25DA4891-6E9D-7FB5-519F-BCD5ACE23D01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572761">
              <a:extLst>
                <a:ext uri="{FF2B5EF4-FFF2-40B4-BE49-F238E27FC236}">
                  <a16:creationId xmlns:a16="http://schemas.microsoft.com/office/drawing/2014/main" id="{43D3EA6A-F916-BCC1-24F8-408539049E7C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938453">
              <a:extLst>
                <a:ext uri="{FF2B5EF4-FFF2-40B4-BE49-F238E27FC236}">
                  <a16:creationId xmlns:a16="http://schemas.microsoft.com/office/drawing/2014/main" id="{1EE70030-1FD0-D800-3A5B-76504112046C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152809">
              <a:extLst>
                <a:ext uri="{FF2B5EF4-FFF2-40B4-BE49-F238E27FC236}">
                  <a16:creationId xmlns:a16="http://schemas.microsoft.com/office/drawing/2014/main" id="{69A59435-025D-99A0-53C2-C290464D68C1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435948">
              <a:extLst>
                <a:ext uri="{FF2B5EF4-FFF2-40B4-BE49-F238E27FC236}">
                  <a16:creationId xmlns:a16="http://schemas.microsoft.com/office/drawing/2014/main" id="{2A13EBDE-AC6F-51F7-C4B4-E4C67959FBE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3" name="think-cell data - do not delete" hidden="1">
            <a:extLst>
              <a:ext uri="{FF2B5EF4-FFF2-40B4-BE49-F238E27FC236}">
                <a16:creationId xmlns:a16="http://schemas.microsoft.com/office/drawing/2014/main" id="{A68D0049-FECF-044B-B330-FFF622F23F9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56" imgH="229" progId="TCLayout.ActiveDocument.1">
                  <p:embed/>
                </p:oleObj>
              </mc:Choice>
              <mc:Fallback>
                <p:oleObj name="think-cell Slide" r:id="rId9" imgW="456" imgH="229" progId="TCLayout.ActiveDocument.1">
                  <p:embed/>
                  <p:pic>
                    <p:nvPicPr>
                      <p:cNvPr id="9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68D0049-FECF-044B-B330-FFF622F23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34963" y="1266638"/>
          <a:ext cx="11526835" cy="48783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5011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253946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586306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146056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6115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71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accent3"/>
                          </a:solidFill>
                        </a:rPr>
                        <a:t>FY22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1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Fletcher-BP&amp;D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1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123028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~NZD 1,835M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3-5%*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CC0000"/>
                          </a:solidFill>
                          <a:latin typeface="+mn-lt"/>
                          <a:ea typeface="+mn-ea"/>
                          <a:cs typeface="+mn-cs"/>
                        </a:rPr>
                        <a:t>~NZD 55-90M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lower cost suppliers for non-critical components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manufacturing network footprint design and production setup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factory performance (e.g., HVPS, lean shopfloor processes, asset health &amp; total productive maintenance, total quality management)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 digital manufacturing capabilities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 policies requiring labor and adjust movement/flow of direct labor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make vs. buy to reduce complexity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/>
                        <a:t>Manufacturing modernization (i.e., advantaged assets,</a:t>
                      </a:r>
                      <a:r>
                        <a:rPr lang="en-US" sz="1050" baseline="0"/>
                        <a:t> </a:t>
                      </a:r>
                      <a:r>
                        <a:rPr lang="en-US" sz="1050"/>
                        <a:t>processes of the future)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10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Analyze best spend profiles across like-for-like plants and identify BDPs to normalize cost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Renegotiate/rebid/consolidate with contractors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10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Drive up productivity and wrench time in maintenance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05379"/>
                  </a:ext>
                </a:extLst>
              </a:tr>
              <a:tr h="1426381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1100" b="1"/>
                        <a:t>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~NZD 575M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7-13%**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CC0000"/>
                          </a:solidFill>
                          <a:latin typeface="+mn-lt"/>
                          <a:ea typeface="+mn-ea"/>
                          <a:cs typeface="+mn-cs"/>
                        </a:rPr>
                        <a:t>~NZD 40-75M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105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817195"/>
                  </a:ext>
                </a:extLst>
              </a:tr>
              <a:tr h="25767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CC0000"/>
                          </a:solidFill>
                        </a:rPr>
                        <a:t>Total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rgbClr val="CC0000"/>
                          </a:solidFill>
                          <a:latin typeface="+mn-lt"/>
                          <a:ea typeface="+mn-ea"/>
                          <a:cs typeface="+mn-cs"/>
                        </a:rPr>
                        <a:t>~NZD 2,410M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CC0000"/>
                          </a:solidFill>
                        </a:rPr>
                        <a:t>4-7%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CC0000"/>
                          </a:solidFill>
                        </a:rPr>
                        <a:t>~NZD ~95-165M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1100" b="1" i="0" kern="1200" baseline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 vert="horz"/>
          <a:lstStyle/>
          <a:p>
            <a:r>
              <a:rPr lang="en-US"/>
              <a:t>Applying Bain experience against a typical cost structure for a Building Products company suggests NZD 95M+ of cost savings opportunity within Fletcher-BP&amp;D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89" name="btfpStatusSticker253844">
            <a:extLst>
              <a:ext uri="{FF2B5EF4-FFF2-40B4-BE49-F238E27FC236}">
                <a16:creationId xmlns:a16="http://schemas.microsoft.com/office/drawing/2014/main" id="{45164639-27C6-44E3-8DA3-A58F89122F2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003470" y="879340"/>
            <a:ext cx="1858330" cy="235611"/>
            <a:chOff x="-2436373" y="876300"/>
            <a:chExt cx="1858330" cy="235611"/>
          </a:xfrm>
        </p:grpSpPr>
        <p:sp>
          <p:nvSpPr>
            <p:cNvPr id="90" name="btfpStatusStickerText253844">
              <a:extLst>
                <a:ext uri="{FF2B5EF4-FFF2-40B4-BE49-F238E27FC236}">
                  <a16:creationId xmlns:a16="http://schemas.microsoft.com/office/drawing/2014/main" id="{14487CC9-0010-44DC-B175-475B7619EE96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91" name="btfpStatusStickerLine253844">
              <a:extLst>
                <a:ext uri="{FF2B5EF4-FFF2-40B4-BE49-F238E27FC236}">
                  <a16:creationId xmlns:a16="http://schemas.microsoft.com/office/drawing/2014/main" id="{4AE77C85-8DA0-4455-83D5-CAE3340F252B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btfpNotesBox333743">
            <a:extLst>
              <a:ext uri="{FF2B5EF4-FFF2-40B4-BE49-F238E27FC236}">
                <a16:creationId xmlns:a16="http://schemas.microsoft.com/office/drawing/2014/main" id="{9761A8C8-D659-4B0B-923D-64670A717B9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30199" y="6196570"/>
            <a:ext cx="1153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*Savings </a:t>
            </a:r>
            <a:r>
              <a:rPr lang="en-US" sz="800" b="0" i="0" u="none" strike="noStrike">
                <a:solidFill>
                  <a:schemeClr val="tx1"/>
                </a:solidFill>
                <a:effectLst/>
                <a:latin typeface="+mn-lt"/>
              </a:rPr>
              <a:t>range represents a blend of cost buckets: 1-3% savings in Materials and 10-15% in Manufacturing Overheads; **Savings range represents a blend of cost buckets: 5-10% savings in Selling &amp; Marketing and 10-20% in General &amp; Administrative expenses</a:t>
            </a:r>
            <a:endParaRPr lang="en-US" sz="800">
              <a:solidFill>
                <a:srgbClr val="0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annual reports; Quarterly earnings presentation; Capital IQ; Bain analysis</a:t>
            </a:r>
          </a:p>
        </p:txBody>
      </p:sp>
      <p:grpSp>
        <p:nvGrpSpPr>
          <p:cNvPr id="60" name="btfpRunningAgenda1Level650523">
            <a:extLst>
              <a:ext uri="{FF2B5EF4-FFF2-40B4-BE49-F238E27FC236}">
                <a16:creationId xmlns:a16="http://schemas.microsoft.com/office/drawing/2014/main" id="{A020A5FA-0C9B-4CFA-AB36-D7251A807839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61" name="btfpRunningAgenda1LevelBarLeft650523">
              <a:extLst>
                <a:ext uri="{FF2B5EF4-FFF2-40B4-BE49-F238E27FC236}">
                  <a16:creationId xmlns:a16="http://schemas.microsoft.com/office/drawing/2014/main" id="{0C8A9529-1348-45A7-A966-271FF84BA116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RunningAgenda1LevelTextLeft650523">
              <a:extLst>
                <a:ext uri="{FF2B5EF4-FFF2-40B4-BE49-F238E27FC236}">
                  <a16:creationId xmlns:a16="http://schemas.microsoft.com/office/drawing/2014/main" id="{B6B5C8E7-4821-4FD3-B488-90A09B35DC09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5" name="CommentBox">
            <a:extLst>
              <a:ext uri="{FF2B5EF4-FFF2-40B4-BE49-F238E27FC236}">
                <a16:creationId xmlns:a16="http://schemas.microsoft.com/office/drawing/2014/main" id="{F725709F-9DE1-EC07-DABF-E1CC9A289EE4}"/>
              </a:ext>
            </a:extLst>
          </p:cNvPr>
          <p:cNvSpPr/>
          <p:nvPr/>
        </p:nvSpPr>
        <p:spPr bwMode="gray">
          <a:xfrm>
            <a:off x="4151645" y="967670"/>
            <a:ext cx="2620630" cy="350084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 panose="020B0604020202020204" pitchFamily="34" charset="0"/>
              </a:rPr>
              <a:t>Internal Note:</a:t>
            </a:r>
            <a:r>
              <a:rPr lang="en-US" sz="900" b="1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Bain Experience savings ranges and levers taken from Johnson Controls’ OI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2F500F6-824E-F7A9-1DC0-F9948A974411}"/>
              </a:ext>
            </a:extLst>
          </p:cNvPr>
          <p:cNvSpPr/>
          <p:nvPr/>
        </p:nvSpPr>
        <p:spPr bwMode="gray">
          <a:xfrm>
            <a:off x="10942637" y="230388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719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6B91402-9F80-E222-4E9F-E74E537C47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84" imgH="486" progId="TCLayout.ActiveDocument.1">
                  <p:embed/>
                </p:oleObj>
              </mc:Choice>
              <mc:Fallback>
                <p:oleObj name="think-cell Slide" r:id="rId8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B91402-9F80-E222-4E9F-E74E537C4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" name="btfpColumnIndicatorGroup2">
            <a:extLst>
              <a:ext uri="{FF2B5EF4-FFF2-40B4-BE49-F238E27FC236}">
                <a16:creationId xmlns:a16="http://schemas.microsoft.com/office/drawing/2014/main" id="{80BAB13F-9A2C-4E99-BFF7-5156032454D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24" name="btfpColumnGapBlocker492013">
              <a:extLst>
                <a:ext uri="{FF2B5EF4-FFF2-40B4-BE49-F238E27FC236}">
                  <a16:creationId xmlns:a16="http://schemas.microsoft.com/office/drawing/2014/main" id="{56790AC7-3A26-4DDE-98CE-9DC86B4DF0BC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22" name="btfpColumnGapBlocker576368">
              <a:extLst>
                <a:ext uri="{FF2B5EF4-FFF2-40B4-BE49-F238E27FC236}">
                  <a16:creationId xmlns:a16="http://schemas.microsoft.com/office/drawing/2014/main" id="{25A7EEC4-C11F-43CC-8407-43AEC78F5DAE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0" name="btfpColumnIndicator199133">
              <a:extLst>
                <a:ext uri="{FF2B5EF4-FFF2-40B4-BE49-F238E27FC236}">
                  <a16:creationId xmlns:a16="http://schemas.microsoft.com/office/drawing/2014/main" id="{8792B488-BF38-46E1-A2E2-21137429387E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btfpColumnIndicator695250">
              <a:extLst>
                <a:ext uri="{FF2B5EF4-FFF2-40B4-BE49-F238E27FC236}">
                  <a16:creationId xmlns:a16="http://schemas.microsoft.com/office/drawing/2014/main" id="{C5C3B665-8339-40A1-8B00-41FC59A962B0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btfpColumnGapBlocker562865">
              <a:extLst>
                <a:ext uri="{FF2B5EF4-FFF2-40B4-BE49-F238E27FC236}">
                  <a16:creationId xmlns:a16="http://schemas.microsoft.com/office/drawing/2014/main" id="{3B4BB044-BDD2-4425-82DA-EA7793946F6C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4" name="btfpColumnIndicator403248">
              <a:extLst>
                <a:ext uri="{FF2B5EF4-FFF2-40B4-BE49-F238E27FC236}">
                  <a16:creationId xmlns:a16="http://schemas.microsoft.com/office/drawing/2014/main" id="{3546B113-AD01-486F-AC6A-D13A96CD1EAA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btfpColumnIndicator840873">
              <a:extLst>
                <a:ext uri="{FF2B5EF4-FFF2-40B4-BE49-F238E27FC236}">
                  <a16:creationId xmlns:a16="http://schemas.microsoft.com/office/drawing/2014/main" id="{FCE66B26-92FF-40F4-8B70-14BF5569CA88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btfpColumnGapBlocker672582">
              <a:extLst>
                <a:ext uri="{FF2B5EF4-FFF2-40B4-BE49-F238E27FC236}">
                  <a16:creationId xmlns:a16="http://schemas.microsoft.com/office/drawing/2014/main" id="{C615745C-28F7-4764-A145-8E882A5B0901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8" name="btfpColumnIndicator312226">
              <a:extLst>
                <a:ext uri="{FF2B5EF4-FFF2-40B4-BE49-F238E27FC236}">
                  <a16:creationId xmlns:a16="http://schemas.microsoft.com/office/drawing/2014/main" id="{C9A8F495-0BF6-4673-82A1-6E45F297B926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btfpColumnIndicator743231">
              <a:extLst>
                <a:ext uri="{FF2B5EF4-FFF2-40B4-BE49-F238E27FC236}">
                  <a16:creationId xmlns:a16="http://schemas.microsoft.com/office/drawing/2014/main" id="{EA3F10C7-15B2-47DD-B799-6537063AF1CD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btfpColumnGapBlocker395654">
              <a:extLst>
                <a:ext uri="{FF2B5EF4-FFF2-40B4-BE49-F238E27FC236}">
                  <a16:creationId xmlns:a16="http://schemas.microsoft.com/office/drawing/2014/main" id="{815981D7-7760-47A0-98D9-C149EBEEFBDE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2" name="btfpColumnIndicator399691">
              <a:extLst>
                <a:ext uri="{FF2B5EF4-FFF2-40B4-BE49-F238E27FC236}">
                  <a16:creationId xmlns:a16="http://schemas.microsoft.com/office/drawing/2014/main" id="{3D3ED36B-F953-4D89-81F0-46E913708B2F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btfpColumnIndicator164192">
              <a:extLst>
                <a:ext uri="{FF2B5EF4-FFF2-40B4-BE49-F238E27FC236}">
                  <a16:creationId xmlns:a16="http://schemas.microsoft.com/office/drawing/2014/main" id="{1F2635EE-F575-41BF-AAB8-D6EAB52BD430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btfpColumnGapBlocker650329">
              <a:extLst>
                <a:ext uri="{FF2B5EF4-FFF2-40B4-BE49-F238E27FC236}">
                  <a16:creationId xmlns:a16="http://schemas.microsoft.com/office/drawing/2014/main" id="{55F1D479-8C2E-4054-8D0C-4594301135BF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6" name="btfpColumnIndicator512794">
              <a:extLst>
                <a:ext uri="{FF2B5EF4-FFF2-40B4-BE49-F238E27FC236}">
                  <a16:creationId xmlns:a16="http://schemas.microsoft.com/office/drawing/2014/main" id="{3C1F900A-F417-4E9D-9D60-D906A70CC582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btfpColumnIndicator512820">
              <a:extLst>
                <a:ext uri="{FF2B5EF4-FFF2-40B4-BE49-F238E27FC236}">
                  <a16:creationId xmlns:a16="http://schemas.microsoft.com/office/drawing/2014/main" id="{C5A73AB8-B737-4F7B-A5D1-1B7C1701C34E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btfpColumnGapBlocker325989">
              <a:extLst>
                <a:ext uri="{FF2B5EF4-FFF2-40B4-BE49-F238E27FC236}">
                  <a16:creationId xmlns:a16="http://schemas.microsoft.com/office/drawing/2014/main" id="{DD98ACF6-0D7A-4B4C-8CC4-CB490A4940B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0" name="btfpColumnIndicator259021">
              <a:extLst>
                <a:ext uri="{FF2B5EF4-FFF2-40B4-BE49-F238E27FC236}">
                  <a16:creationId xmlns:a16="http://schemas.microsoft.com/office/drawing/2014/main" id="{884EFFA5-AE22-4C75-9E9D-B84C6D09B908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btfpColumnIndicator434335">
              <a:extLst>
                <a:ext uri="{FF2B5EF4-FFF2-40B4-BE49-F238E27FC236}">
                  <a16:creationId xmlns:a16="http://schemas.microsoft.com/office/drawing/2014/main" id="{07768850-8D9B-4742-99BB-6607E3C6DC3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btfpColumnIndicatorGroup1">
            <a:extLst>
              <a:ext uri="{FF2B5EF4-FFF2-40B4-BE49-F238E27FC236}">
                <a16:creationId xmlns:a16="http://schemas.microsoft.com/office/drawing/2014/main" id="{6FCD84DE-6CA5-4FB1-9388-7EA886E2636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23" name="btfpColumnGapBlocker342212">
              <a:extLst>
                <a:ext uri="{FF2B5EF4-FFF2-40B4-BE49-F238E27FC236}">
                  <a16:creationId xmlns:a16="http://schemas.microsoft.com/office/drawing/2014/main" id="{088C9E90-68C7-40B2-B066-5E6BF6C2181C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21" name="btfpColumnGapBlocker761032">
              <a:extLst>
                <a:ext uri="{FF2B5EF4-FFF2-40B4-BE49-F238E27FC236}">
                  <a16:creationId xmlns:a16="http://schemas.microsoft.com/office/drawing/2014/main" id="{B9CE5086-3A8D-4A94-B2D4-C3EDBF6E8DC7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9" name="btfpColumnIndicator625422">
              <a:extLst>
                <a:ext uri="{FF2B5EF4-FFF2-40B4-BE49-F238E27FC236}">
                  <a16:creationId xmlns:a16="http://schemas.microsoft.com/office/drawing/2014/main" id="{2A367F7F-694B-4F63-8D8A-8F6010B1D245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btfpColumnIndicator864134">
              <a:extLst>
                <a:ext uri="{FF2B5EF4-FFF2-40B4-BE49-F238E27FC236}">
                  <a16:creationId xmlns:a16="http://schemas.microsoft.com/office/drawing/2014/main" id="{40DCB74F-0630-462B-B198-FB4581CDD9C2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btfpColumnGapBlocker334191">
              <a:extLst>
                <a:ext uri="{FF2B5EF4-FFF2-40B4-BE49-F238E27FC236}">
                  <a16:creationId xmlns:a16="http://schemas.microsoft.com/office/drawing/2014/main" id="{F302043C-DF32-430D-BF9C-23019FB6304C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3" name="btfpColumnIndicator482366">
              <a:extLst>
                <a:ext uri="{FF2B5EF4-FFF2-40B4-BE49-F238E27FC236}">
                  <a16:creationId xmlns:a16="http://schemas.microsoft.com/office/drawing/2014/main" id="{3D38C9D1-9E98-4665-942C-D56857CC4EDD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btfpColumnIndicator625167">
              <a:extLst>
                <a:ext uri="{FF2B5EF4-FFF2-40B4-BE49-F238E27FC236}">
                  <a16:creationId xmlns:a16="http://schemas.microsoft.com/office/drawing/2014/main" id="{11EDA24C-E85B-4F1B-86F7-9225795F472E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btfpColumnGapBlocker853612">
              <a:extLst>
                <a:ext uri="{FF2B5EF4-FFF2-40B4-BE49-F238E27FC236}">
                  <a16:creationId xmlns:a16="http://schemas.microsoft.com/office/drawing/2014/main" id="{E0647D4C-FAB1-493E-BB0F-4730F26222BA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7" name="btfpColumnIndicator174683">
              <a:extLst>
                <a:ext uri="{FF2B5EF4-FFF2-40B4-BE49-F238E27FC236}">
                  <a16:creationId xmlns:a16="http://schemas.microsoft.com/office/drawing/2014/main" id="{DFE0E8EC-9545-48C4-8FF8-F0C8FD3396AE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btfpColumnIndicator241993">
              <a:extLst>
                <a:ext uri="{FF2B5EF4-FFF2-40B4-BE49-F238E27FC236}">
                  <a16:creationId xmlns:a16="http://schemas.microsoft.com/office/drawing/2014/main" id="{300CB453-858D-4C62-BA62-D88E128B5261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btfpColumnGapBlocker400253">
              <a:extLst>
                <a:ext uri="{FF2B5EF4-FFF2-40B4-BE49-F238E27FC236}">
                  <a16:creationId xmlns:a16="http://schemas.microsoft.com/office/drawing/2014/main" id="{E6A7F276-AE75-40EB-ABCF-621FA7B1B591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01" name="btfpColumnIndicator641883">
              <a:extLst>
                <a:ext uri="{FF2B5EF4-FFF2-40B4-BE49-F238E27FC236}">
                  <a16:creationId xmlns:a16="http://schemas.microsoft.com/office/drawing/2014/main" id="{6B561C5F-32F9-4851-9A47-64A06765EF11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btfpColumnIndicator696113">
              <a:extLst>
                <a:ext uri="{FF2B5EF4-FFF2-40B4-BE49-F238E27FC236}">
                  <a16:creationId xmlns:a16="http://schemas.microsoft.com/office/drawing/2014/main" id="{66C98B2B-190B-4B39-8763-E1A87B3B8BD6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btfpColumnGapBlocker111727">
              <a:extLst>
                <a:ext uri="{FF2B5EF4-FFF2-40B4-BE49-F238E27FC236}">
                  <a16:creationId xmlns:a16="http://schemas.microsoft.com/office/drawing/2014/main" id="{F2C54B02-577F-402A-BDB8-68A7DF0F2685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95" name="btfpColumnIndicator700319">
              <a:extLst>
                <a:ext uri="{FF2B5EF4-FFF2-40B4-BE49-F238E27FC236}">
                  <a16:creationId xmlns:a16="http://schemas.microsoft.com/office/drawing/2014/main" id="{02D6138E-FAA0-43D1-8C19-563CFE8DB766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btfpColumnIndicator473651">
              <a:extLst>
                <a:ext uri="{FF2B5EF4-FFF2-40B4-BE49-F238E27FC236}">
                  <a16:creationId xmlns:a16="http://schemas.microsoft.com/office/drawing/2014/main" id="{9EF2083A-4CFC-4114-9690-AE150D2913B3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btfpColumnGapBlocker619121">
              <a:extLst>
                <a:ext uri="{FF2B5EF4-FFF2-40B4-BE49-F238E27FC236}">
                  <a16:creationId xmlns:a16="http://schemas.microsoft.com/office/drawing/2014/main" id="{D0525F39-39E6-4756-B284-18D44831F094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9" name="btfpColumnIndicator592335">
              <a:extLst>
                <a:ext uri="{FF2B5EF4-FFF2-40B4-BE49-F238E27FC236}">
                  <a16:creationId xmlns:a16="http://schemas.microsoft.com/office/drawing/2014/main" id="{AD99E572-862F-40F0-85C1-DEDE45DFE7E0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btfpColumnIndicator896827">
              <a:extLst>
                <a:ext uri="{FF2B5EF4-FFF2-40B4-BE49-F238E27FC236}">
                  <a16:creationId xmlns:a16="http://schemas.microsoft.com/office/drawing/2014/main" id="{824A3ABE-E74C-4050-B80A-25E354CB157A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 vert="horz"/>
          <a:lstStyle/>
          <a:p>
            <a:r>
              <a:rPr lang="en-US"/>
              <a:t>Bain experience within the Building Materials Industry, applied against SIG’s cost baseline, suggests savings of ~</a:t>
            </a:r>
            <a:r>
              <a:rPr lang="en-US" sz="2400" b="0">
                <a:solidFill>
                  <a:schemeClr val="tx1"/>
                </a:solidFill>
              </a:rPr>
              <a:t>£110</a:t>
            </a:r>
            <a:r>
              <a:rPr lang="en-US"/>
              <a:t>M+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reports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64869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329100" y="925634"/>
          <a:ext cx="11542409" cy="52876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18675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56164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7533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52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FY23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SIG Materials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44220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Merchandise costs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1,750M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3-5%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~£55-90M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aseline="0"/>
                        <a:t>SKU rationalization and portfolio optimization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aseline="0"/>
                        <a:t>Unit economics optimization by strategize sourcing and vendor selections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Char char="•"/>
                        <a:tabLst/>
                        <a:defRPr/>
                      </a:pP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customer choice in the user experience (e.g., pre-defined baskets, targeted promotions)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Char char="•"/>
                        <a:tabLst/>
                        <a:defRPr/>
                      </a:pP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Re-base shelf price vs. promotional investments to optimize customer basket value and price perception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30102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Inbound freight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~</a:t>
                      </a: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£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~£15-30M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Optimize inbound supply chain network and reduce complexities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Tap into </a:t>
                      </a: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alternative sources and new partnerships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Get closer to source / renegotiate freight relationships</a:t>
                      </a: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66649"/>
                  </a:ext>
                </a:extLst>
              </a:tr>
              <a:tr h="33156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COGS 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~£</a:t>
                      </a: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2,060M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~3-6%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~£70-120M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05379"/>
                  </a:ext>
                </a:extLst>
              </a:tr>
              <a:tr h="64190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0" i="1"/>
                        <a:t>Distribution (incl. of branch operations)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~£320M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~£15-30M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Adjust mix of temp/permanent labor, optimize wholesale delivery flows;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operational efficiency in DCs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3PL vs 4PL managed transportation solutions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Load consolidation and optimization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branch and distribution footprint including DC mix/network, low-cost location, etc.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Network optimization (Number, location of trading sites)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Branch indirect procurement costs and footprint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Drive more timely/accurate forecasts, set daily labor hour targets driven by sales and other store characteristics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17195"/>
                  </a:ext>
                </a:extLst>
              </a:tr>
              <a:tr h="687468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0" i="1"/>
                        <a:t>Selling &amp; Marketing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~£180M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5-15%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~£10-25M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90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capacity and coverage plan/account and territory management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performance management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marketing headcount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</a:t>
                      </a: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sz="9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renegotiate</a:t>
                      </a: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agency contracts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 all spend efficiency/ROI to inform reductions</a:t>
                      </a: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961600"/>
                  </a:ext>
                </a:extLst>
              </a:tr>
              <a:tr h="658559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300"/>
                        </a:spcBef>
                        <a:buClrTx/>
                        <a:buNone/>
                      </a:pPr>
                      <a:r>
                        <a:rPr lang="en-US" sz="900" b="0" i="1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General &amp; Administrative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~£140M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10-20%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~£15-30M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Extend replacement cycles, tightly monitor discretionary spend (e.g., T&amp;E)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Conduct corporate maturity assessment to identify inefficiencies and/or process redesign opportunities, including use of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prices or new contracts leveraging RFQs, electronic/reverse auctions, terms tradeoffs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99532"/>
                  </a:ext>
                </a:extLst>
              </a:tr>
              <a:tr h="26938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~£</a:t>
                      </a: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640M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~6-13%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~£40-85M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93424"/>
                  </a:ext>
                </a:extLst>
              </a:tr>
              <a:tr h="26938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Est. savings 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~£2,700M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~4-8%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~£110-205M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 i="0" kern="1200" baseline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7" name="CommentBox">
            <a:extLst>
              <a:ext uri="{FF2B5EF4-FFF2-40B4-BE49-F238E27FC236}">
                <a16:creationId xmlns:a16="http://schemas.microsoft.com/office/drawing/2014/main" id="{58872436-23DF-C5CC-FFB7-A62B5E7D6708}"/>
              </a:ext>
            </a:extLst>
          </p:cNvPr>
          <p:cNvSpPr/>
          <p:nvPr/>
        </p:nvSpPr>
        <p:spPr bwMode="gray">
          <a:xfrm>
            <a:off x="7516587" y="929063"/>
            <a:ext cx="2047702" cy="388068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 panose="020B0604020202020204" pitchFamily="34" charset="0"/>
              </a:rPr>
              <a:t>Internal Note:</a:t>
            </a:r>
            <a:r>
              <a:rPr lang="en-US" sz="900" b="1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900">
                <a:solidFill>
                  <a:srgbClr val="000000"/>
                </a:solidFill>
                <a:latin typeface="Arial" panose="020B0604020202020204" pitchFamily="34" charset="0"/>
              </a:rPr>
              <a:t>COGS split leveraged from previous refresh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A89489-6AC0-CC81-ADD9-612541082410}"/>
              </a:ext>
            </a:extLst>
          </p:cNvPr>
          <p:cNvSpPr/>
          <p:nvPr/>
        </p:nvSpPr>
        <p:spPr bwMode="gray">
          <a:xfrm>
            <a:off x="10942637" y="230388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692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DC03835-7475-91C0-07B9-052CDDA9B2E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606" imgH="608" progId="TCLayout.ActiveDocument.1">
                  <p:embed/>
                </p:oleObj>
              </mc:Choice>
              <mc:Fallback>
                <p:oleObj name="think-cell Slide" r:id="rId34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C03835-7475-91C0-07B9-052CDDA9B2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btfpColumnIndicatorGroup2">
            <a:extLst>
              <a:ext uri="{FF2B5EF4-FFF2-40B4-BE49-F238E27FC236}">
                <a16:creationId xmlns:a16="http://schemas.microsoft.com/office/drawing/2014/main" id="{FD230962-85B4-43ED-B12D-70A35C6B5C30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8" name="btfpColumnGapBlocker473976">
              <a:extLst>
                <a:ext uri="{FF2B5EF4-FFF2-40B4-BE49-F238E27FC236}">
                  <a16:creationId xmlns:a16="http://schemas.microsoft.com/office/drawing/2014/main" id="{C788AFD2-5A6E-44AD-BD44-A318E1A08813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6" name="btfpColumnGapBlocker310871">
              <a:extLst>
                <a:ext uri="{FF2B5EF4-FFF2-40B4-BE49-F238E27FC236}">
                  <a16:creationId xmlns:a16="http://schemas.microsoft.com/office/drawing/2014/main" id="{E8A453F8-B2A4-4F93-86CF-BD5BA673AD3A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4" name="btfpColumnIndicator741554">
              <a:extLst>
                <a:ext uri="{FF2B5EF4-FFF2-40B4-BE49-F238E27FC236}">
                  <a16:creationId xmlns:a16="http://schemas.microsoft.com/office/drawing/2014/main" id="{58810E40-242D-4BB4-A91C-7CDCF78A563A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btfpColumnIndicator958038">
              <a:extLst>
                <a:ext uri="{FF2B5EF4-FFF2-40B4-BE49-F238E27FC236}">
                  <a16:creationId xmlns:a16="http://schemas.microsoft.com/office/drawing/2014/main" id="{896E7E7D-1736-4709-B688-BECAA353B4E0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785842">
              <a:extLst>
                <a:ext uri="{FF2B5EF4-FFF2-40B4-BE49-F238E27FC236}">
                  <a16:creationId xmlns:a16="http://schemas.microsoft.com/office/drawing/2014/main" id="{5E6026E4-86AD-4783-9501-55235ABCC27D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8" name="btfpColumnIndicator873211">
              <a:extLst>
                <a:ext uri="{FF2B5EF4-FFF2-40B4-BE49-F238E27FC236}">
                  <a16:creationId xmlns:a16="http://schemas.microsoft.com/office/drawing/2014/main" id="{84360FD6-0662-43DD-B8B8-630630BF5B17}"/>
                </a:ext>
              </a:extLst>
            </p:cNvPr>
            <p:cNvCxnSpPr/>
            <p:nvPr/>
          </p:nvCxnSpPr>
          <p:spPr bwMode="gray">
            <a:xfrm flipV="1">
              <a:off x="582572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747256">
              <a:extLst>
                <a:ext uri="{FF2B5EF4-FFF2-40B4-BE49-F238E27FC236}">
                  <a16:creationId xmlns:a16="http://schemas.microsoft.com/office/drawing/2014/main" id="{FBFC155B-2574-4BD6-9D47-A359967E265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btfpColumnIndicatorGroup1">
            <a:extLst>
              <a:ext uri="{FF2B5EF4-FFF2-40B4-BE49-F238E27FC236}">
                <a16:creationId xmlns:a16="http://schemas.microsoft.com/office/drawing/2014/main" id="{3A4AE7D2-1D88-456B-8068-B7DC3CEDEED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7" name="btfpColumnGapBlocker355777">
              <a:extLst>
                <a:ext uri="{FF2B5EF4-FFF2-40B4-BE49-F238E27FC236}">
                  <a16:creationId xmlns:a16="http://schemas.microsoft.com/office/drawing/2014/main" id="{B2F34D7B-5DD0-424D-8B85-46D788E2CD5D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5" name="btfpColumnGapBlocker673352">
              <a:extLst>
                <a:ext uri="{FF2B5EF4-FFF2-40B4-BE49-F238E27FC236}">
                  <a16:creationId xmlns:a16="http://schemas.microsoft.com/office/drawing/2014/main" id="{ABCBE8A7-75F0-4E34-935D-72385022877D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3" name="btfpColumnIndicator345563">
              <a:extLst>
                <a:ext uri="{FF2B5EF4-FFF2-40B4-BE49-F238E27FC236}">
                  <a16:creationId xmlns:a16="http://schemas.microsoft.com/office/drawing/2014/main" id="{7C2B246A-A0BA-4CAD-AC7A-200F52C08282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246871">
              <a:extLst>
                <a:ext uri="{FF2B5EF4-FFF2-40B4-BE49-F238E27FC236}">
                  <a16:creationId xmlns:a16="http://schemas.microsoft.com/office/drawing/2014/main" id="{9596EE0A-8559-4339-8871-3BD354DA3C4F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btfpColumnGapBlocker355660">
              <a:extLst>
                <a:ext uri="{FF2B5EF4-FFF2-40B4-BE49-F238E27FC236}">
                  <a16:creationId xmlns:a16="http://schemas.microsoft.com/office/drawing/2014/main" id="{6E23F090-DB7A-4899-8A74-1C87C5C2B78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7" name="btfpColumnIndicator817220">
              <a:extLst>
                <a:ext uri="{FF2B5EF4-FFF2-40B4-BE49-F238E27FC236}">
                  <a16:creationId xmlns:a16="http://schemas.microsoft.com/office/drawing/2014/main" id="{3F170CD8-1ED4-45F7-A050-BFC7C0678EB9}"/>
                </a:ext>
              </a:extLst>
            </p:cNvPr>
            <p:cNvCxnSpPr/>
            <p:nvPr/>
          </p:nvCxnSpPr>
          <p:spPr bwMode="gray">
            <a:xfrm flipV="1">
              <a:off x="582572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btfpColumnIndicator949456">
              <a:extLst>
                <a:ext uri="{FF2B5EF4-FFF2-40B4-BE49-F238E27FC236}">
                  <a16:creationId xmlns:a16="http://schemas.microsoft.com/office/drawing/2014/main" id="{A9965311-CDB1-442E-BEDA-645BA954A8D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paper/packaging manufacturers suggests ~</a:t>
            </a:r>
            <a:r>
              <a:rPr lang="en-US" sz="2400">
                <a:solidFill>
                  <a:schemeClr val="tx1"/>
                </a:solidFill>
              </a:rPr>
              <a:t>$415M</a:t>
            </a:r>
            <a:r>
              <a:rPr lang="en-US"/>
              <a:t>+ of opportunity within Amcor’s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LTM R&amp;D basis FY23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Company annual reports; Quarterly earnings presentation; Capital IQ; Bain analysis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4306459" y="1049230"/>
            <a:ext cx="1117600" cy="359703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6365875" y="1187730"/>
            <a:ext cx="5480278" cy="221203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5403442" y="1049230"/>
            <a:ext cx="962433" cy="359703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900" b="1" cap="all">
                <a:solidFill>
                  <a:srgbClr val="C00000"/>
                </a:solidFill>
              </a:rPr>
              <a:t>Amcor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900" b="1" cap="all"/>
              <a:t>hypothesis</a:t>
            </a:r>
          </a:p>
        </p:txBody>
      </p:sp>
      <p:graphicFrame>
        <p:nvGraphicFramePr>
          <p:cNvPr id="43" name="BainTable47798">
            <a:extLst>
              <a:ext uri="{FF2B5EF4-FFF2-40B4-BE49-F238E27FC236}">
                <a16:creationId xmlns:a16="http://schemas.microsoft.com/office/drawing/2014/main" id="{6F1EE7F7-8BB1-4CCB-BE4C-7C469A7E8B43}"/>
              </a:ext>
            </a:extLst>
          </p:cNvPr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308841" y="1373956"/>
          <a:ext cx="7548198" cy="505990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495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829421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55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550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Freight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footprint including DC mix/network, low-cost location, etc.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DC operations (pick and pack, racking, etc.) and network by optimizing for advantaged assets w/automation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freight and shipping contracts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34125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~$80-165M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21555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Manufacturing &amp; labor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manufacturing network footprint design and production setup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factory performance (e.g., HVPS, lean shopfloor processes, asset health &amp; total productive maintenance)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 digital manufacturing capabilities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Update role and shift design to improve flexibility, create operations playbook, cross-train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Drive more timely/accurate forecasts, set daily labor hour targets to improve productivity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416463"/>
                  </a:ext>
                </a:extLst>
              </a:tr>
              <a:tr h="45994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~$165-330M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DE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791940"/>
                  </a:ext>
                </a:extLst>
              </a:tr>
              <a:tr h="21555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Raw materials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make vs. buy to reduce complexity </a:t>
                      </a:r>
                    </a:p>
                    <a:p>
                      <a:pPr marL="177800" marR="0" lvl="0" indent="-17780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Leverage Generative AI for supplier network rationalization and raw material spread optimization</a:t>
                      </a:r>
                      <a:endParaRPr lang="en-US" sz="8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57864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1-3%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~$85-260M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21555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~$330-755M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215550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Sales &amp; Marketing</a:t>
                      </a:r>
                    </a:p>
                  </a:txBody>
                  <a:tcPr marL="84244" marR="8775" marT="42122" marB="42122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80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65250"/>
                  </a:ext>
                </a:extLst>
              </a:tr>
              <a:tr h="49745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~$40-120M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169257"/>
                  </a:ext>
                </a:extLst>
              </a:tr>
              <a:tr h="215550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&amp; Administrative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scheduling &amp; employee designations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Cross-train employees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Leverage Generative AI to automate invoicing, payroll and non-core functions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69734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~$45-85M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1555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~$85-205M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1555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internal spend control to optimize ROI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&amp; layers (e.g., reduce # project managers and program coordinators)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Reprioritize current project portfolio across all BUs (e.g., eliminate double work on platforms)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R&amp;D site footprint (e.g., centralize common R&amp;D activities at Business Group level) 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497993"/>
                  </a:ext>
                </a:extLst>
              </a:tr>
              <a:tr h="35397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5-10% 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savings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351739"/>
                  </a:ext>
                </a:extLst>
              </a:tr>
              <a:tr h="29013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C00000"/>
                          </a:solidFill>
                          <a:effectLst/>
                          <a:latin typeface="+mn-lt"/>
                        </a:rPr>
                        <a:t>Est. Savings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~$415-960M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061209"/>
                  </a:ext>
                </a:extLst>
              </a:tr>
            </a:tbl>
          </a:graphicData>
        </a:graphic>
      </p:graphicFrame>
      <p:sp>
        <p:nvSpPr>
          <p:cNvPr id="41" name="BainTable47798HeaderBox1">
            <a:extLst>
              <a:ext uri="{FF2B5EF4-FFF2-40B4-BE49-F238E27FC236}">
                <a16:creationId xmlns:a16="http://schemas.microsoft.com/office/drawing/2014/main" id="{14388661-AF0D-4916-899C-F45A01C8064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02375" y="1509759"/>
            <a:ext cx="1215715" cy="390480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1000" b="1" cap="all">
                <a:solidFill>
                  <a:srgbClr val="C00000"/>
                </a:solidFill>
              </a:rPr>
              <a:t>Amcor </a:t>
            </a:r>
            <a:r>
              <a:rPr lang="en-US" sz="1000" b="1" cap="all"/>
              <a:t>actuals FY24 LTM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EDDE18-9830-CA8F-009B-85120B8D9723}"/>
              </a:ext>
            </a:extLst>
          </p:cNvPr>
          <p:cNvCxnSpPr/>
          <p:nvPr>
            <p:custDataLst>
              <p:tags r:id="rId10"/>
            </p:custDataLst>
          </p:nvPr>
        </p:nvCxnSpPr>
        <p:spPr bwMode="gray">
          <a:xfrm>
            <a:off x="1739900" y="1985963"/>
            <a:ext cx="104775" cy="847725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C1E2959-F3A6-B138-A532-633DA64A2A28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gray">
          <a:xfrm flipV="1">
            <a:off x="2908300" y="1985963"/>
            <a:ext cx="104775" cy="3175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0" name="Chart 139">
            <a:extLst>
              <a:ext uri="{FF2B5EF4-FFF2-40B4-BE49-F238E27FC236}">
                <a16:creationId xmlns:a16="http://schemas.microsoft.com/office/drawing/2014/main" id="{581F4AFC-C9A5-FCF2-D64F-BF858C879B5E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542925" y="1903413"/>
          <a:ext cx="3667125" cy="4303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sp>
        <p:nvSpPr>
          <p:cNvPr id="18" name="Text Placeholder">
            <a:extLst>
              <a:ext uri="{FF2B5EF4-FFF2-40B4-BE49-F238E27FC236}">
                <a16:creationId xmlns:a16="http://schemas.microsoft.com/office/drawing/2014/main" id="{4D49FD04-0461-4B09-FF37-ED8527AD90AF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69900" y="6048375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3D409D4-B2D5-4C3C-A194-41EE3320E043}" type="datetime'''''''''''''''0''''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C3830F38-916E-C582-CAA5-CB1154BBE507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400050" y="52212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1A1399DA-35AD-4B3A-8937-D2A51800B7FD}" type="datetime'''''''''2''0''''''''''''''''''''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2F0C7258-0C85-8CBC-DEB5-2728EA7AFF82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400050" y="43926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5E2EB6C-A142-4D3C-A936-AE851AD1AC51}" type="datetime'''''''''''4''0''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0F81CB7E-05C4-B0B4-0B3A-1E8384622DBB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400050" y="35655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9D7C1D3-381D-48E6-9406-1E7B2A2DDBF8}" type="datetime'''''''''''''''''''''''''6''''''0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1BDEA4A5-9918-E105-D629-F82C830BEEFF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400050" y="273685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0EC0208-B34D-4EDF-830C-FCAD24608C56}" type="datetime'''''''''''''''''''''''''''''8''''''0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9A84D29E-6951-0E72-A9AE-89E6FC897AA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330200" y="190976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527196F-469A-4A55-BC6D-5A392733ED12}" type="datetime'''''''''''''''''''1''''''''''''0''''''''0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194CD9C2-B243-A2CC-A4C7-63CC9108ED64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30200" y="1462088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ABB331AB-B1BD-1231-DE75-21139A4FF4E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565150" y="4910138"/>
            <a:ext cx="1285875" cy="152400"/>
          </a:xfrm>
          <a:prstGeom prst="rect">
            <a:avLst/>
          </a:prstGeom>
          <a:solidFill>
            <a:srgbClr val="2D475A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2A38BCD-C80C-49E4-9F18-925F8010E812}" type="datetime'''''''''R''a''''''w Mate''''r''ial''s (''''~''''55%'')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Raw Materials (~55%)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3" name="Text Placeholder">
            <a:extLst>
              <a:ext uri="{FF2B5EF4-FFF2-40B4-BE49-F238E27FC236}">
                <a16:creationId xmlns:a16="http://schemas.microsoft.com/office/drawing/2014/main" id="{B8D3B3B1-8F57-ADD8-08DD-01A40D722834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769938" y="2219325"/>
            <a:ext cx="876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98E84BF3-FBB8-4864-9A9F-9E67FFE8E3A8}" type="datetime'''F''r''''e''i''ght ''''''(''''~''15%)''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Freight (~15%)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F0D21F7F-319D-22DC-BEAC-1537DB67EEBE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1016000" y="6167438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6469708-BFB7-45A7-8098-B0A950437AEA}" type="datetime'''''''''C''''''O''''''''''''G''S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7D4AFF74-6395-BA13-B7DA-20A695F9052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995488" y="2535238"/>
            <a:ext cx="7635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74285ED-1A5C-45C4-A735-5C48A8CC111C}" type="datetime'''E''''''B''''I''T'''''''' ''''''(''''''''''''''~1''1''''''%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 (~11%)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6" name="Text Placeholder">
            <a:extLst>
              <a:ext uri="{FF2B5EF4-FFF2-40B4-BE49-F238E27FC236}">
                <a16:creationId xmlns:a16="http://schemas.microsoft.com/office/drawing/2014/main" id="{C9CBB777-0BB3-6D4F-8D6E-FF44F536F898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1995488" y="2127250"/>
            <a:ext cx="7635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1197FCEA-7E2E-4C57-8534-59AE5974714E}" type="datetime'''''''S''''G&amp;''''A'''' ''''''''''''''(''''~9''%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(~9%)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7" name="Text Placeholder">
            <a:extLst>
              <a:ext uri="{FF2B5EF4-FFF2-40B4-BE49-F238E27FC236}">
                <a16:creationId xmlns:a16="http://schemas.microsoft.com/office/drawing/2014/main" id="{3A979A8C-3500-B381-FCE0-5B0113F2E67C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1949450" y="4402138"/>
            <a:ext cx="8556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29FC008-2EE8-44CA-B995-8AF4FD8D17FF}" type="datetime'''C''''''''O''''G''S'' (''''''''''~7''''''9''''''%)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(~79%)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86" name="Text Placeholder">
            <a:extLst>
              <a:ext uri="{FF2B5EF4-FFF2-40B4-BE49-F238E27FC236}">
                <a16:creationId xmlns:a16="http://schemas.microsoft.com/office/drawing/2014/main" id="{FE6D0B60-53FC-81B9-80EB-02113947D72C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2036763" y="1925638"/>
            <a:ext cx="681038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CD67FDF-F2D8-4596-B6EA-1B8214C85418}" type="datetime'''R''''''''''&amp;D (''''''~''''''''''''1''%'')''''''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R&amp;D (~1%)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E2EAB69D-9032-38B0-50F0-E19D8E581D88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1960563" y="6167438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350211A-5697-4191-8307-381C01A94622}" type="datetime'''''''T''''''ot''a''''l R''''''ev''en''''''''''''''''ue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0" name="Text Placeholder">
            <a:extLst>
              <a:ext uri="{FF2B5EF4-FFF2-40B4-BE49-F238E27FC236}">
                <a16:creationId xmlns:a16="http://schemas.microsoft.com/office/drawing/2014/main" id="{B7160704-8C0D-D3A0-4451-3B7C497DEE84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3165475" y="4702175"/>
            <a:ext cx="757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5217AD2-F0CC-4CD8-AEB9-ADDABEBF8FE0}" type="datetime'''S''''''&amp;''''''''M'''' ''''''(''''''''~6''5''%'''')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S&amp;M (~65%)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1" name="Text Placeholder">
            <a:extLst>
              <a:ext uri="{FF2B5EF4-FFF2-40B4-BE49-F238E27FC236}">
                <a16:creationId xmlns:a16="http://schemas.microsoft.com/office/drawing/2014/main" id="{ADDE2DCA-9866-04DC-4F11-B18E9578CEA3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3168650" y="2633663"/>
            <a:ext cx="749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B6BC7C7-C361-440C-867C-4DB2B2F1A1DC}" type="datetime'''''''''G''''''&amp;''A'''''''''''' (''''~3''''''5''%'''')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G&amp;A (~35%)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2" name="Text Placeholder">
            <a:extLst>
              <a:ext uri="{FF2B5EF4-FFF2-40B4-BE49-F238E27FC236}">
                <a16:creationId xmlns:a16="http://schemas.microsoft.com/office/drawing/2014/main" id="{F5DE226A-4EDB-B243-8C86-059443385513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3362325" y="6167438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9FE298FD-5CA4-460C-8F7B-54D1654F9634}" type="datetime'''''S''''''''''''''''''G''''''''''&amp;''''''''A''''''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1" name="Text Placeholder">
            <a:extLst>
              <a:ext uri="{FF2B5EF4-FFF2-40B4-BE49-F238E27FC236}">
                <a16:creationId xmlns:a16="http://schemas.microsoft.com/office/drawing/2014/main" id="{F805D720-6895-2E01-7744-58617F37852F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714375" y="3074988"/>
            <a:ext cx="9890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6647B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7DD0DF14-45F1-4A0C-8524-4AA3A551A33F}" type="datetime'Ma''nu''fac''t''ur''''''in''g'' &amp; &#10;L''abor (~30''''''''''%'')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Manufacturing &amp; 
Labor (~30%)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39" name="CommentBox">
            <a:extLst>
              <a:ext uri="{FF2B5EF4-FFF2-40B4-BE49-F238E27FC236}">
                <a16:creationId xmlns:a16="http://schemas.microsoft.com/office/drawing/2014/main" id="{F3F1F321-A2D5-BCDA-86ED-82C7BB53108C}"/>
              </a:ext>
            </a:extLst>
          </p:cNvPr>
          <p:cNvSpPr/>
          <p:nvPr/>
        </p:nvSpPr>
        <p:spPr bwMode="gray">
          <a:xfrm>
            <a:off x="1842864" y="1050662"/>
            <a:ext cx="2230305" cy="331303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000" i="1">
                <a:solidFill>
                  <a:srgbClr val="000000"/>
                </a:solidFill>
                <a:latin typeface="Arial" panose="020B0604020202020204" pitchFamily="34" charset="0"/>
              </a:rPr>
              <a:t>COGS and SG&amp;A split leveraged from Berry Global OI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0B7C116-181D-3DD6-D965-4514EB63896B}"/>
              </a:ext>
            </a:extLst>
          </p:cNvPr>
          <p:cNvCxnSpPr/>
          <p:nvPr/>
        </p:nvCxnSpPr>
        <p:spPr bwMode="gray">
          <a:xfrm>
            <a:off x="2908300" y="2371725"/>
            <a:ext cx="104775" cy="3733240"/>
          </a:xfrm>
          <a:prstGeom prst="line">
            <a:avLst/>
          </a:prstGeom>
          <a:ln w="9525" cap="flat">
            <a:solidFill>
              <a:schemeClr val="tx1"/>
            </a:solidFill>
            <a:prstDash val="lg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FF2B666-9D9E-4A1B-5C9E-85684947C7CB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3047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1719576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35508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84" imgH="486" progId="TCLayout.ActiveDocument.1">
                  <p:embed/>
                </p:oleObj>
              </mc:Choice>
              <mc:Fallback>
                <p:oleObj name="think-cell Slide" r:id="rId29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a Broadcasting player suggest ~</a:t>
            </a:r>
            <a:r>
              <a:rPr lang="en-US" sz="2400">
                <a:solidFill>
                  <a:schemeClr val="tx1"/>
                </a:solidFill>
              </a:rPr>
              <a:t>$</a:t>
            </a:r>
            <a:r>
              <a:rPr lang="en-US"/>
              <a:t>375M+ of cost savings opportunity within Lionsgate’s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10D86784-CFBE-167D-92D4-FF9E9CFC4B93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 flipV="1">
            <a:off x="2297112" y="1793875"/>
            <a:ext cx="158750" cy="442913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4479A68A-7062-8646-EADE-9B2E0FEE83AA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 flipV="1">
            <a:off x="2297112" y="1793875"/>
            <a:ext cx="158750" cy="442913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302C6760-20B6-8A36-423B-E6239F3319A5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542925" y="1711325"/>
          <a:ext cx="3667125" cy="459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69900" y="614838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526256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43767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00050" y="3489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400050" y="26035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494EC851-B067-AB1E-FFD4-CEEEEB4456A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120775" y="2979738"/>
            <a:ext cx="758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C133DA0-705F-40AD-BAED-D9101781F12F}" type="datetime'''''SG''''''''&amp;''A'' ''(''37''''''''''''''''''%'''')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(37%)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3" name="Text Placeholder">
            <a:extLst>
              <a:ext uri="{FF2B5EF4-FFF2-40B4-BE49-F238E27FC236}">
                <a16:creationId xmlns:a16="http://schemas.microsoft.com/office/drawing/2014/main" id="{6C0D454C-AD04-EC1D-D8CD-D3535B762C4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896938" y="4973638"/>
            <a:ext cx="12080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E40735D-82B5-40C4-9B29-EDF37D9EC605}" type="datetime'''Co''''nt''en''t Co''''''''s''''t''s (''''5''''''''3%'')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Content Costs (53%)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4" name="Text Placeholder">
            <a:extLst>
              <a:ext uri="{FF2B5EF4-FFF2-40B4-BE49-F238E27FC236}">
                <a16:creationId xmlns:a16="http://schemas.microsoft.com/office/drawing/2014/main" id="{47D78167-7162-D29C-73D8-1B3F2C8A8F3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325563" y="1938338"/>
            <a:ext cx="3508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876F6B5-453A-4D8A-A24D-4BC808CE8B40}" type="datetime'''''''Ot''''''''''''h''''''''''''''er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Other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84263" y="626745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5" name="Text Placeholder">
            <a:extLst>
              <a:ext uri="{FF2B5EF4-FFF2-40B4-BE49-F238E27FC236}">
                <a16:creationId xmlns:a16="http://schemas.microsoft.com/office/drawing/2014/main" id="{6759AE4A-0411-0D5C-3705-235185B544C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770188" y="4752975"/>
            <a:ext cx="9636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785D008-1B71-45FC-B8FF-6CECE3456DD7}" type="datetime'''''''M''''''''''a''''''rke''ti''n''g'' ''''''''(''63''%'')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Marketing (63%)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6" name="Text Placeholder">
            <a:extLst>
              <a:ext uri="{FF2B5EF4-FFF2-40B4-BE49-F238E27FC236}">
                <a16:creationId xmlns:a16="http://schemas.microsoft.com/office/drawing/2014/main" id="{FB0C5226-3A1B-6E68-3B33-2CCE0E5BC97D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914649" y="2536825"/>
            <a:ext cx="6746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47A821D-2E32-481B-A7F4-53D13B7EEF37}" type="datetime'''G''&amp;A'''''''''''''''''''''' ''(''''''''''''''3''''''7''%)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G&amp;A (37%)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3070225" y="626745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0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1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2"/>
            </p:custDataLst>
          </p:nvPr>
        </p:nvSpPr>
        <p:spPr>
          <a:xfrm>
            <a:off x="4450863" y="1379682"/>
            <a:ext cx="1054870" cy="359703"/>
          </a:xfrm>
          <a:prstGeom prst="rect">
            <a:avLst/>
          </a:prstGeom>
          <a:blipFill dpi="0" rotWithShape="1">
            <a:blip r:embed="rId3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3"/>
            </p:custDataLst>
          </p:nvPr>
        </p:nvSpPr>
        <p:spPr>
          <a:xfrm>
            <a:off x="6499862" y="1518183"/>
            <a:ext cx="5310779" cy="220028"/>
          </a:xfrm>
          <a:prstGeom prst="rect">
            <a:avLst/>
          </a:prstGeom>
          <a:blipFill dpi="0" rotWithShape="1">
            <a:blip r:embed="rId3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24"/>
            </p:custDataLst>
          </p:nvPr>
        </p:nvSpPr>
        <p:spPr>
          <a:xfrm>
            <a:off x="5587810" y="1383299"/>
            <a:ext cx="829975" cy="359703"/>
          </a:xfrm>
          <a:prstGeom prst="rect">
            <a:avLst/>
          </a:prstGeom>
          <a:blipFill dpi="0" rotWithShape="1">
            <a:blip r:embed="rId3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 err="1">
                <a:solidFill>
                  <a:schemeClr val="accent3"/>
                </a:solidFill>
              </a:rPr>
              <a:t>Lionsgate’S</a:t>
            </a:r>
            <a:r>
              <a:rPr lang="en-US" sz="900" b="1" cap="all">
                <a:solidFill>
                  <a:schemeClr val="accent3"/>
                </a:solidFill>
              </a:rPr>
              <a:t>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85800" y="1544486"/>
            <a:ext cx="3429000" cy="221203"/>
          </a:xfrm>
          <a:prstGeom prst="rect">
            <a:avLst/>
          </a:prstGeom>
          <a:blipFill dpi="0" rotWithShape="1">
            <a:blip r:embed="rId3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 err="1">
                <a:solidFill>
                  <a:srgbClr val="C00000"/>
                </a:solidFill>
              </a:rPr>
              <a:t>Lionsgate’S</a:t>
            </a:r>
            <a:r>
              <a:rPr lang="en-US" sz="900" b="1" cap="all">
                <a:solidFill>
                  <a:srgbClr val="C00000"/>
                </a:solidFill>
              </a:rPr>
              <a:t>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61" name="BainTable47798">
            <a:extLst>
              <a:ext uri="{FF2B5EF4-FFF2-40B4-BE49-F238E27FC236}">
                <a16:creationId xmlns:a16="http://schemas.microsoft.com/office/drawing/2014/main" id="{50CD3652-80D2-A910-B7B7-CEA1D89EF300}"/>
              </a:ext>
            </a:extLst>
          </p:cNvPr>
          <p:cNvGraphicFramePr>
            <a:graphicFrameLocks noGrp="1"/>
          </p:cNvGraphicFramePr>
          <p:nvPr>
            <p:custDataLst>
              <p:tags r:id="rId26"/>
            </p:custDataLst>
          </p:nvPr>
        </p:nvGraphicFramePr>
        <p:xfrm>
          <a:off x="4442699" y="1793875"/>
          <a:ext cx="7337650" cy="47254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2427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074862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250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50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Content Costs</a:t>
                      </a:r>
                    </a:p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 b="1" i="0" baseline="0">
                          <a:solidFill>
                            <a:schemeClr val="tx1"/>
                          </a:solidFill>
                        </a:rPr>
                        <a:t>savings</a:t>
                      </a: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900" b="0">
                        <a:solidFill>
                          <a:srgbClr val="C00000"/>
                        </a:solidFill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~$210-425M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Develop internal localization center of excellence (e.g., for subtitling, dubbing, etc.)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Standardize / consolidate technology enablers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Re-assess value of 3</a:t>
                      </a:r>
                      <a:r>
                        <a:rPr lang="en-US" sz="900" b="0" baseline="30000">
                          <a:solidFill>
                            <a:srgbClr val="000000"/>
                          </a:solidFill>
                        </a:rPr>
                        <a:t>rd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 party distributors, given combined scale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Eliminate / reduce localization for non-core or low-value territories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Content portfolio optimization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877798"/>
                  </a:ext>
                </a:extLst>
              </a:tr>
              <a:tr h="34947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baseline="0">
                          <a:solidFill>
                            <a:srgbClr val="CC0000"/>
                          </a:solidFill>
                        </a:rPr>
                        <a:t>COGS 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~$210-425M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12233"/>
                  </a:ext>
                </a:extLst>
              </a:tr>
              <a:tr h="1690774"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None/>
                      </a:pPr>
                      <a:r>
                        <a:rPr lang="en-US" sz="900" b="1"/>
                        <a:t>S&amp;M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~$90-140M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Embrace digital transformation of sales channels, implementing e-commerce platforms, and utilizing data analytics for targeted marketing and sales efforts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Streamline sales processes via automation, improving CRM systems, and standardizing sales procedures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 strategic partnerships and collaborations via co-marketing agreements, distribution partnerships, and revenue sharing arrangements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Identify and target specific high-value customer segments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sales operations capabilities including commercial pipeline mgmt., KPI tracking and sales continuous improvement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baseline="0"/>
                        <a:t>Marketing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baseline="0"/>
                        <a:t>Improve ROI of marketing – shift low-impact spend to high-impact areas;  leverage AI/ML to better customize offers and improve conversion; conduct A/B testing to refine messaging, tactics, etc.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 to lower cost consumer market insight</a:t>
                      </a:r>
                      <a:r>
                        <a:rPr lang="en-US" sz="9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vendor</a:t>
                      </a:r>
                      <a:r>
                        <a:rPr lang="en-US" sz="9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self-serve platforms &amp; </a:t>
                      </a:r>
                      <a:r>
                        <a:rPr lang="en-US" sz="900" b="0" i="0" u="non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data in-house (create</a:t>
                      </a:r>
                      <a:r>
                        <a:rPr lang="en-US" sz="9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internal center of excellence)</a:t>
                      </a:r>
                      <a:endParaRPr lang="en-US" sz="900" b="0" i="0" u="non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23788"/>
                  </a:ext>
                </a:extLst>
              </a:tr>
              <a:tr h="609206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3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/>
                        <a:t>~$55-110M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/>
                        <a:t>Optimize spans and layers and align talent pyramid and compensation (‘right person, right role’)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/>
                        <a:t>Zero base activities, eliminating non-value-added work and automating low value, repetitive processes 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/>
                        <a:t>Explore shared services, internal COEs and outsourcing/offshore to optimize where services are done and by whom (eliminate shadow organizations within BUs)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/>
                        <a:t>Leverage </a:t>
                      </a:r>
                      <a:r>
                        <a:rPr lang="en-US" sz="900" b="0" err="1"/>
                        <a:t>GenAI</a:t>
                      </a:r>
                      <a:r>
                        <a:rPr lang="en-US" sz="900" b="0"/>
                        <a:t> to implement employee facing chatbots for HR, Finance an Legal queries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49423"/>
                  </a:ext>
                </a:extLst>
              </a:tr>
              <a:tr h="21960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SG&amp;A 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~</a:t>
                      </a: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$145</a:t>
                      </a: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-250M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137618"/>
                  </a:ext>
                </a:extLst>
              </a:tr>
              <a:tr h="21960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  ~$355-675M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10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4B03B9-A56A-D440-5188-8293B86194F7}"/>
              </a:ext>
            </a:extLst>
          </p:cNvPr>
          <p:cNvCxnSpPr/>
          <p:nvPr/>
        </p:nvCxnSpPr>
        <p:spPr bwMode="gray">
          <a:xfrm>
            <a:off x="2297112" y="3881336"/>
            <a:ext cx="158750" cy="2267052"/>
          </a:xfrm>
          <a:prstGeom prst="line">
            <a:avLst/>
          </a:prstGeom>
          <a:ln w="12700" cap="flat">
            <a:solidFill>
              <a:schemeClr val="tx1"/>
            </a:solidFill>
            <a:prstDash val="lg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D0A1023-2A11-4E6C-37EF-1AE8C6D0BB0F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6915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2240275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61849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84" imgH="486" progId="TCLayout.ActiveDocument.1">
                  <p:embed/>
                </p:oleObj>
              </mc:Choice>
              <mc:Fallback>
                <p:oleObj name="think-cell Slide" r:id="rId31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a typical cost structure for US Consumer Products players and Bain experience suggests up to ~$850M+ of cost opportunity within Colgate’s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25B7A970-AF9A-7188-060C-DED5FAFD117E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42925" y="1711325"/>
          <a:ext cx="3667125" cy="457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69900" y="6130925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0050" y="52482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43656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34829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2600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200" name="Text Placeholder">
            <a:extLst>
              <a:ext uri="{FF2B5EF4-FFF2-40B4-BE49-F238E27FC236}">
                <a16:creationId xmlns:a16="http://schemas.microsoft.com/office/drawing/2014/main" id="{8F61AA30-8459-7593-1232-BBAB9F2A00C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709613" y="4398963"/>
            <a:ext cx="996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6D6D6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Raw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Materials (~75%)</a:t>
            </a:r>
          </a:p>
        </p:txBody>
      </p:sp>
      <p:sp>
        <p:nvSpPr>
          <p:cNvPr id="65" name="Text Placeholder">
            <a:extLst>
              <a:ext uri="{FF2B5EF4-FFF2-40B4-BE49-F238E27FC236}">
                <a16:creationId xmlns:a16="http://schemas.microsoft.com/office/drawing/2014/main" id="{2D66229A-5FFE-4BDD-524F-01E7B935AD7A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566738" y="2268538"/>
            <a:ext cx="1282700" cy="152400"/>
          </a:xfrm>
          <a:prstGeom prst="rect">
            <a:avLst/>
          </a:prstGeom>
          <a:solidFill>
            <a:srgbClr val="A3BCD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Manufacturing (~25%)</a:t>
            </a:r>
          </a:p>
        </p:txBody>
      </p:sp>
      <p:sp>
        <p:nvSpPr>
          <p:cNvPr id="186" name="Text Placeholder">
            <a:extLst>
              <a:ext uri="{FF2B5EF4-FFF2-40B4-BE49-F238E27FC236}">
                <a16:creationId xmlns:a16="http://schemas.microsoft.com/office/drawing/2014/main" id="{EC02AF72-AD46-3477-B3F9-D0DD0341060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16000" y="6249988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3AA323-CE1E-48B2-B15A-02B935A3F00B}" type="datetime'''C''''''''''''''''OG''''''''''''''''''''''''S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494EC851-B067-AB1E-FFD4-CEEEEB4456A6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1997075" y="3548063"/>
            <a:ext cx="758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SG&amp;A (35%)</a:t>
            </a:r>
          </a:p>
        </p:txBody>
      </p:sp>
      <p:sp>
        <p:nvSpPr>
          <p:cNvPr id="95" name="Text Placeholder">
            <a:extLst>
              <a:ext uri="{FF2B5EF4-FFF2-40B4-BE49-F238E27FC236}">
                <a16:creationId xmlns:a16="http://schemas.microsoft.com/office/drawing/2014/main" id="{2EDE2FA1-4796-7FE7-E764-3ADFEB7C116C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985962" y="5226050"/>
            <a:ext cx="781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0C4C1AD-10F7-45C7-961D-17ADECC9F1AD}" type="datetime'C''''O''''''''''''''''''GS'''' ''''(''41%'''''''''''')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(41%)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15" name="Text Placeholder">
            <a:extLst>
              <a:ext uri="{FF2B5EF4-FFF2-40B4-BE49-F238E27FC236}">
                <a16:creationId xmlns:a16="http://schemas.microsoft.com/office/drawing/2014/main" id="{B2C80BF3-14A9-A8CB-13D7-37BC2BE0CF31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2090737" y="2732088"/>
            <a:ext cx="571500" cy="152400"/>
          </a:xfrm>
          <a:prstGeom prst="rect">
            <a:avLst/>
          </a:prstGeom>
          <a:solidFill>
            <a:srgbClr val="85858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0FDE4E1-76E6-465B-AFF8-28C8E1967751}" type="datetime'''R''''''''&amp;''''''''D''''''''''''''''''''(''''''''''2%)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R&amp;D(2%)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12" name="Text Placeholder">
            <a:extLst>
              <a:ext uri="{FF2B5EF4-FFF2-40B4-BE49-F238E27FC236}">
                <a16:creationId xmlns:a16="http://schemas.microsoft.com/office/drawing/2014/main" id="{CA083D4F-DF1D-BE11-533F-893A455B170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032000" y="2203450"/>
            <a:ext cx="688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EBIT (22%)</a:t>
            </a: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1960563" y="6249988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5" name="Text Placeholder">
            <a:extLst>
              <a:ext uri="{FF2B5EF4-FFF2-40B4-BE49-F238E27FC236}">
                <a16:creationId xmlns:a16="http://schemas.microsoft.com/office/drawing/2014/main" id="{6759AE4A-0411-0D5C-3705-235185B544C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030538" y="4695825"/>
            <a:ext cx="10255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6E07C64-0AA6-4BDB-B6F6-649AE9F68978}" type="datetime'O''t''''''''he''r'''' G&amp;''A ''(''6''''''5''''''''''''%)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Other G&amp;A (65%)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6" name="Text Placeholder">
            <a:extLst>
              <a:ext uri="{FF2B5EF4-FFF2-40B4-BE49-F238E27FC236}">
                <a16:creationId xmlns:a16="http://schemas.microsoft.com/office/drawing/2014/main" id="{FB0C5226-3A1B-6E68-3B33-2CCE0E5BC97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3027363" y="2489200"/>
            <a:ext cx="10334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36C7B34-D40C-42F7-87C8-B87378C43C81}" type="datetime'A''''dv''''e''''rt''is''''''''''''''ing (3''''''''''''5%)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Advertising (35%)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3362325" y="6249988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2"/>
            </p:custDataLst>
          </p:nvPr>
        </p:nvSpPr>
        <p:spPr bwMode="gray">
          <a:xfrm>
            <a:off x="469900" y="6431985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3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4"/>
            </p:custDataLst>
          </p:nvPr>
        </p:nvSpPr>
        <p:spPr>
          <a:xfrm>
            <a:off x="4450863" y="981194"/>
            <a:ext cx="1054870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5"/>
            </p:custDataLst>
          </p:nvPr>
        </p:nvSpPr>
        <p:spPr>
          <a:xfrm>
            <a:off x="6499862" y="1119695"/>
            <a:ext cx="5310779" cy="220028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26"/>
            </p:custDataLst>
          </p:nvPr>
        </p:nvSpPr>
        <p:spPr>
          <a:xfrm>
            <a:off x="5669887" y="981194"/>
            <a:ext cx="829975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Colgate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2054678" y="1445672"/>
            <a:ext cx="1869621" cy="2212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COLGATE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9" name="BainTable47798">
            <a:extLst>
              <a:ext uri="{FF2B5EF4-FFF2-40B4-BE49-F238E27FC236}">
                <a16:creationId xmlns:a16="http://schemas.microsoft.com/office/drawing/2014/main" id="{75DBBE1C-AC70-2E8D-B5F7-FBD95CDE8ED3}"/>
              </a:ext>
            </a:extLst>
          </p:cNvPr>
          <p:cNvGraphicFramePr>
            <a:graphicFrameLocks noGrp="1"/>
          </p:cNvGraphicFramePr>
          <p:nvPr>
            <p:custDataLst>
              <p:tags r:id="rId28"/>
            </p:custDataLst>
          </p:nvPr>
        </p:nvGraphicFramePr>
        <p:xfrm>
          <a:off x="4262588" y="1380418"/>
          <a:ext cx="7841218" cy="485814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9901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022273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589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8962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Manufacturing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L>
                      <a:noFill/>
                    </a:lnL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manufacturing network footprint design and production setup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factory performance (e.g., HVPS, lean shop floor, asset health &amp; total productive maintenance)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 digital manufacturing capabilities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make vs. buy to reduce complexity 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32402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~$100-200M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1479185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of Materials</a:t>
                      </a:r>
                    </a:p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3-5% </a:t>
                      </a:r>
                      <a:r>
                        <a:rPr lang="en-US" sz="900"/>
                        <a:t>savings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~$180-305M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 and wholesale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quality / features and revise size-level forecast with historical data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b="1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In-house manufacturing 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6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6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lower cost suppliers for non-critical inputs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6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  <a:endParaRPr lang="en-US" sz="800" b="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b="1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Contract-manufacturing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6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contracts and implement master/long-term contracts 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6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prices (e.g., use RFQs, use electronic/ reverse auctions, etc.)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6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terms (e.g., service levels, penalties, etc.) 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6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 price risks by defending against price increases and hedging indexed materials 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903749"/>
                  </a:ext>
                </a:extLst>
              </a:tr>
              <a:tr h="218962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COGS 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~$280-505M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011604"/>
                  </a:ext>
                </a:extLst>
              </a:tr>
              <a:tr h="218962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Advertising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28988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~$120-365M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18962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 SG&amp;A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management,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gross-to-net leakage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023542"/>
                  </a:ext>
                </a:extLst>
              </a:tr>
              <a:tr h="43416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10-15%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~$450-680M</a:t>
                      </a: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995619"/>
                  </a:ext>
                </a:extLst>
              </a:tr>
              <a:tr h="21896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~$570-1045M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18962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188676"/>
                  </a:ext>
                </a:extLst>
              </a:tr>
              <a:tr h="31767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~NA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28683"/>
                  </a:ext>
                </a:extLst>
              </a:tr>
              <a:tr h="21896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~$850-1,550M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10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254D9C78-7F18-CD46-CAFE-CD2FD5E90642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381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ED7C051-DD94-8AF0-6BBD-FF43ED3462E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D7C051-DD94-8AF0-6BBD-FF43ED3462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F2129844-760C-447F-B7FD-4BDE9E9ADCC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895062">
              <a:extLst>
                <a:ext uri="{FF2B5EF4-FFF2-40B4-BE49-F238E27FC236}">
                  <a16:creationId xmlns:a16="http://schemas.microsoft.com/office/drawing/2014/main" id="{2DCC9900-FF58-44BF-8A29-487E8CAD061A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286672">
              <a:extLst>
                <a:ext uri="{FF2B5EF4-FFF2-40B4-BE49-F238E27FC236}">
                  <a16:creationId xmlns:a16="http://schemas.microsoft.com/office/drawing/2014/main" id="{BDF6CEA0-7115-4229-90FB-AC91689532DA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928465">
              <a:extLst>
                <a:ext uri="{FF2B5EF4-FFF2-40B4-BE49-F238E27FC236}">
                  <a16:creationId xmlns:a16="http://schemas.microsoft.com/office/drawing/2014/main" id="{60370EBE-9444-4819-8277-530A1A493FBD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484581">
              <a:extLst>
                <a:ext uri="{FF2B5EF4-FFF2-40B4-BE49-F238E27FC236}">
                  <a16:creationId xmlns:a16="http://schemas.microsoft.com/office/drawing/2014/main" id="{775D5644-AE0E-4A7D-919E-FD456A0F4024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820613">
              <a:extLst>
                <a:ext uri="{FF2B5EF4-FFF2-40B4-BE49-F238E27FC236}">
                  <a16:creationId xmlns:a16="http://schemas.microsoft.com/office/drawing/2014/main" id="{3E2D922D-5AAF-480A-9F00-C69263C687AA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547553">
              <a:extLst>
                <a:ext uri="{FF2B5EF4-FFF2-40B4-BE49-F238E27FC236}">
                  <a16:creationId xmlns:a16="http://schemas.microsoft.com/office/drawing/2014/main" id="{FA7D80AD-81C8-42D2-A111-A28F9EDE2789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595886">
              <a:extLst>
                <a:ext uri="{FF2B5EF4-FFF2-40B4-BE49-F238E27FC236}">
                  <a16:creationId xmlns:a16="http://schemas.microsoft.com/office/drawing/2014/main" id="{1364CCCC-8E48-4FF1-BD59-747549FD12AA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964704">
              <a:extLst>
                <a:ext uri="{FF2B5EF4-FFF2-40B4-BE49-F238E27FC236}">
                  <a16:creationId xmlns:a16="http://schemas.microsoft.com/office/drawing/2014/main" id="{ADF0D890-855E-4B29-BD4D-9A493429E277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910818">
              <a:extLst>
                <a:ext uri="{FF2B5EF4-FFF2-40B4-BE49-F238E27FC236}">
                  <a16:creationId xmlns:a16="http://schemas.microsoft.com/office/drawing/2014/main" id="{D9668ADF-9372-410F-B0A0-F060D66FE70A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801564">
              <a:extLst>
                <a:ext uri="{FF2B5EF4-FFF2-40B4-BE49-F238E27FC236}">
                  <a16:creationId xmlns:a16="http://schemas.microsoft.com/office/drawing/2014/main" id="{8019436C-77E9-4DF0-9339-0DD25427C383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544424">
              <a:extLst>
                <a:ext uri="{FF2B5EF4-FFF2-40B4-BE49-F238E27FC236}">
                  <a16:creationId xmlns:a16="http://schemas.microsoft.com/office/drawing/2014/main" id="{873F1874-1164-41FF-A07B-9D5DA05BEED2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904633">
              <a:extLst>
                <a:ext uri="{FF2B5EF4-FFF2-40B4-BE49-F238E27FC236}">
                  <a16:creationId xmlns:a16="http://schemas.microsoft.com/office/drawing/2014/main" id="{4D9E0B46-03A1-438C-8DA4-647D26234F38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586849">
              <a:extLst>
                <a:ext uri="{FF2B5EF4-FFF2-40B4-BE49-F238E27FC236}">
                  <a16:creationId xmlns:a16="http://schemas.microsoft.com/office/drawing/2014/main" id="{664065FB-0FB0-47BF-8EEF-94919E465F07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309031">
              <a:extLst>
                <a:ext uri="{FF2B5EF4-FFF2-40B4-BE49-F238E27FC236}">
                  <a16:creationId xmlns:a16="http://schemas.microsoft.com/office/drawing/2014/main" id="{E1C32DC2-6EEC-4831-A18F-3F9525F1BEF6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506121">
              <a:extLst>
                <a:ext uri="{FF2B5EF4-FFF2-40B4-BE49-F238E27FC236}">
                  <a16:creationId xmlns:a16="http://schemas.microsoft.com/office/drawing/2014/main" id="{F494712A-A42D-4E4F-8085-C065D526FD0D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661416">
              <a:extLst>
                <a:ext uri="{FF2B5EF4-FFF2-40B4-BE49-F238E27FC236}">
                  <a16:creationId xmlns:a16="http://schemas.microsoft.com/office/drawing/2014/main" id="{6C1E231C-3A74-429B-9A91-C66129E76C4A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779112">
              <a:extLst>
                <a:ext uri="{FF2B5EF4-FFF2-40B4-BE49-F238E27FC236}">
                  <a16:creationId xmlns:a16="http://schemas.microsoft.com/office/drawing/2014/main" id="{66DF4422-2BC8-466E-89C1-1B1DB7D3B16D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373567">
              <a:extLst>
                <a:ext uri="{FF2B5EF4-FFF2-40B4-BE49-F238E27FC236}">
                  <a16:creationId xmlns:a16="http://schemas.microsoft.com/office/drawing/2014/main" id="{48BF01FC-C8FA-44A2-AC71-AC8550AAE47B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371794">
              <a:extLst>
                <a:ext uri="{FF2B5EF4-FFF2-40B4-BE49-F238E27FC236}">
                  <a16:creationId xmlns:a16="http://schemas.microsoft.com/office/drawing/2014/main" id="{D3EFE0FA-0223-4E76-84F6-F3440A089D30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F9FEF444-6D15-48AD-919E-9D82C56AADD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939656">
              <a:extLst>
                <a:ext uri="{FF2B5EF4-FFF2-40B4-BE49-F238E27FC236}">
                  <a16:creationId xmlns:a16="http://schemas.microsoft.com/office/drawing/2014/main" id="{876D733E-2243-43BC-BB2C-1A7FE7765DA7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399252">
              <a:extLst>
                <a:ext uri="{FF2B5EF4-FFF2-40B4-BE49-F238E27FC236}">
                  <a16:creationId xmlns:a16="http://schemas.microsoft.com/office/drawing/2014/main" id="{273F69D9-B42A-4470-99B3-279A3B817289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720090">
              <a:extLst>
                <a:ext uri="{FF2B5EF4-FFF2-40B4-BE49-F238E27FC236}">
                  <a16:creationId xmlns:a16="http://schemas.microsoft.com/office/drawing/2014/main" id="{5FDA14FC-CE6F-40AD-B17A-819C17B4E877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976306">
              <a:extLst>
                <a:ext uri="{FF2B5EF4-FFF2-40B4-BE49-F238E27FC236}">
                  <a16:creationId xmlns:a16="http://schemas.microsoft.com/office/drawing/2014/main" id="{010C6AF8-675E-44F5-9300-41B4F4093AD7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709295">
              <a:extLst>
                <a:ext uri="{FF2B5EF4-FFF2-40B4-BE49-F238E27FC236}">
                  <a16:creationId xmlns:a16="http://schemas.microsoft.com/office/drawing/2014/main" id="{FBFAEFC0-07BB-4746-8024-BE19CAF009F7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628983">
              <a:extLst>
                <a:ext uri="{FF2B5EF4-FFF2-40B4-BE49-F238E27FC236}">
                  <a16:creationId xmlns:a16="http://schemas.microsoft.com/office/drawing/2014/main" id="{D0368F2A-606F-411D-9A77-6B1A8A674E03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822744">
              <a:extLst>
                <a:ext uri="{FF2B5EF4-FFF2-40B4-BE49-F238E27FC236}">
                  <a16:creationId xmlns:a16="http://schemas.microsoft.com/office/drawing/2014/main" id="{9631480A-B5F3-4519-A0C1-2223C7CC5FE1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941464">
              <a:extLst>
                <a:ext uri="{FF2B5EF4-FFF2-40B4-BE49-F238E27FC236}">
                  <a16:creationId xmlns:a16="http://schemas.microsoft.com/office/drawing/2014/main" id="{1D5D5AD2-76DB-4D6F-B482-B69A8C3F913B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427921">
              <a:extLst>
                <a:ext uri="{FF2B5EF4-FFF2-40B4-BE49-F238E27FC236}">
                  <a16:creationId xmlns:a16="http://schemas.microsoft.com/office/drawing/2014/main" id="{BA1E1051-1439-42E6-ADB6-803E7A3A2945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569617">
              <a:extLst>
                <a:ext uri="{FF2B5EF4-FFF2-40B4-BE49-F238E27FC236}">
                  <a16:creationId xmlns:a16="http://schemas.microsoft.com/office/drawing/2014/main" id="{CB225071-71F9-432B-8BED-08B65D7009C6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903899">
              <a:extLst>
                <a:ext uri="{FF2B5EF4-FFF2-40B4-BE49-F238E27FC236}">
                  <a16:creationId xmlns:a16="http://schemas.microsoft.com/office/drawing/2014/main" id="{C139F5F1-BD78-4A8F-ABCF-AC288E3A3BBD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111464">
              <a:extLst>
                <a:ext uri="{FF2B5EF4-FFF2-40B4-BE49-F238E27FC236}">
                  <a16:creationId xmlns:a16="http://schemas.microsoft.com/office/drawing/2014/main" id="{E2582397-3F8D-40E9-A0E2-18D5E849F7AD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235353">
              <a:extLst>
                <a:ext uri="{FF2B5EF4-FFF2-40B4-BE49-F238E27FC236}">
                  <a16:creationId xmlns:a16="http://schemas.microsoft.com/office/drawing/2014/main" id="{BD945023-0FEF-4DEA-AFC4-7FF112EBE2E1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675183">
              <a:extLst>
                <a:ext uri="{FF2B5EF4-FFF2-40B4-BE49-F238E27FC236}">
                  <a16:creationId xmlns:a16="http://schemas.microsoft.com/office/drawing/2014/main" id="{CAEA7C31-7542-49B4-A209-F1A1ACD053F0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778841">
              <a:extLst>
                <a:ext uri="{FF2B5EF4-FFF2-40B4-BE49-F238E27FC236}">
                  <a16:creationId xmlns:a16="http://schemas.microsoft.com/office/drawing/2014/main" id="{722D1A90-C7C4-4E9B-9F8C-062718321E2A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644054">
              <a:extLst>
                <a:ext uri="{FF2B5EF4-FFF2-40B4-BE49-F238E27FC236}">
                  <a16:creationId xmlns:a16="http://schemas.microsoft.com/office/drawing/2014/main" id="{3AA23CAE-00D3-4B2A-95A0-66F132646C4A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21504">
              <a:extLst>
                <a:ext uri="{FF2B5EF4-FFF2-40B4-BE49-F238E27FC236}">
                  <a16:creationId xmlns:a16="http://schemas.microsoft.com/office/drawing/2014/main" id="{09D4A3F7-0E58-4F84-9791-81DADCC674F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929630">
              <a:extLst>
                <a:ext uri="{FF2B5EF4-FFF2-40B4-BE49-F238E27FC236}">
                  <a16:creationId xmlns:a16="http://schemas.microsoft.com/office/drawing/2014/main" id="{3F301F81-9A3E-455F-B8CC-3109ADEB9ACF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567843">
              <a:extLst>
                <a:ext uri="{FF2B5EF4-FFF2-40B4-BE49-F238E27FC236}">
                  <a16:creationId xmlns:a16="http://schemas.microsoft.com/office/drawing/2014/main" id="{3A91925C-DF02-4F52-8CF9-E1679BDE68EE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30200" y="1264230"/>
          <a:ext cx="11526835" cy="495111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25011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226825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582344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570289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5722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38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FY23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LEGO’s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6077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0"/>
                        <a:t>Raw Materials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9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DKK 10.1B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1-3%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100-305M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lower cost suppliers for non-critical components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&amp; contracts to eliminate long tail of suppliers &amp; unlock volume discounts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243797"/>
                  </a:ext>
                </a:extLst>
              </a:tr>
              <a:tr h="145533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0"/>
                        <a:t>Manufacturing Costs (</a:t>
                      </a:r>
                      <a:r>
                        <a:rPr lang="en-US" sz="900" b="0" err="1"/>
                        <a:t>Labor+D&amp;A+Other</a:t>
                      </a:r>
                      <a:r>
                        <a:rPr lang="en-US" sz="900" b="0"/>
                        <a:t> overheads)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9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DKK 10.9B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545-1,095M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aseline="0"/>
                        <a:t>Optimize manufacturing network footprint design and production setup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aseline="0"/>
                        <a:t>Improve factory performance (e.g., HVPS, lean shopfloor processes, asset health &amp; total productive maintenance, total quality management)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aseline="0"/>
                        <a:t>Install digital manufacturing capabilities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baseline="0"/>
                        <a:t>Smart make vs. buy to reduce complexity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 spans and layers and cross-train employees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 scheduling &amp; employee designations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Update role and shift design to improve flexibility, create operations playbook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Optimize resource planning and allocation to reduce services costs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Increase revenue/pricing of higher value consulting services (i.e., tech strategic consulting)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Restructure where services are done and by whom (Talent mix: senior vs junior / shared services / outsourcing)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Increase mix of lower cost resources (i.e., offshore/remote)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Update wages to match market rates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039399"/>
                  </a:ext>
                </a:extLst>
              </a:tr>
              <a:tr h="20521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1"/>
                        <a:t>COGS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~DKK 21.0B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3-7%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645-1,400M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endParaRPr lang="en-US" sz="75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49548"/>
                  </a:ext>
                </a:extLst>
              </a:tr>
              <a:tr h="60779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Sales &amp; Distribution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sz="900" b="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DKK 20.6B</a:t>
                      </a:r>
                      <a:endParaRPr lang="en-US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1,030-2,060M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 defTabSz="7112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Char char="•"/>
                        <a:defRPr/>
                      </a:pPr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lvl="0" indent="-177800" algn="l" defTabSz="7112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Char char="•"/>
                        <a:defRPr/>
                      </a:pPr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gross-to-net leakage</a:t>
                      </a:r>
                    </a:p>
                    <a:p>
                      <a:pPr marL="177800" lvl="0" indent="-177800" algn="l" defTabSz="7112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Char char="•"/>
                        <a:defRPr/>
                      </a:pPr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75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lvl="0" indent="-177800" algn="l" defTabSz="7112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Char char="•"/>
                        <a:defRPr/>
                      </a:pPr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lvl="0" indent="-177800" algn="l" defTabSz="7112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SzPct val="100000"/>
                        <a:buChar char="•"/>
                        <a:defRPr/>
                      </a:pPr>
                      <a:r>
                        <a:rPr lang="en-US" sz="7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  <a:endParaRPr lang="en-US" sz="75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805965"/>
                  </a:ext>
                </a:extLst>
              </a:tr>
              <a:tr h="50185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Administrative &amp; IT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~DKK 5.1B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10-20%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520-1,035M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(internal/external)</a:t>
                      </a:r>
                      <a:endParaRPr lang="en-US" sz="7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943385"/>
                  </a:ext>
                </a:extLst>
              </a:tr>
              <a:tr h="20521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~DKK 25.7B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6-12%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1,550-3,095M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7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05379"/>
                  </a:ext>
                </a:extLst>
              </a:tr>
              <a:tr h="50185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1"/>
                        <a:t>R&amp;D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~DKK 1.9B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~DKK 95-195M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335418"/>
                  </a:ext>
                </a:extLst>
              </a:tr>
              <a:tr h="20521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Total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~DKK 48.6B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4-8%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~DKK 2,290-4,690M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00" b="1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 vert="horz"/>
          <a:lstStyle/>
          <a:p>
            <a:r>
              <a:rPr lang="en-US"/>
              <a:t>Applying Bain experience against Lego’s cost baseline suggests ~</a:t>
            </a:r>
            <a:r>
              <a:rPr lang="en-US">
                <a:latin typeface="+mn-lt"/>
                <a:ea typeface="+mn-ea"/>
                <a:cs typeface="+mn-cs"/>
              </a:rPr>
              <a:t>DKK 2.3</a:t>
            </a:r>
            <a:r>
              <a:rPr lang="en-US" b="0" kern="1200">
                <a:latin typeface="+mn-lt"/>
                <a:ea typeface="+mn-ea"/>
                <a:cs typeface="+mn-cs"/>
              </a:rPr>
              <a:t>B</a:t>
            </a:r>
            <a:r>
              <a:rPr lang="en-US"/>
              <a:t>+ of cost savings opportunity within its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89" name="btfpStatusSticker253844">
            <a:extLst>
              <a:ext uri="{FF2B5EF4-FFF2-40B4-BE49-F238E27FC236}">
                <a16:creationId xmlns:a16="http://schemas.microsoft.com/office/drawing/2014/main" id="{45164639-27C6-44E3-8DA3-A58F89122F2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003470" y="945329"/>
            <a:ext cx="1858330" cy="235611"/>
            <a:chOff x="-2436373" y="876300"/>
            <a:chExt cx="1858330" cy="235611"/>
          </a:xfrm>
        </p:grpSpPr>
        <p:sp>
          <p:nvSpPr>
            <p:cNvPr id="90" name="btfpStatusStickerText253844">
              <a:extLst>
                <a:ext uri="{FF2B5EF4-FFF2-40B4-BE49-F238E27FC236}">
                  <a16:creationId xmlns:a16="http://schemas.microsoft.com/office/drawing/2014/main" id="{14487CC9-0010-44DC-B175-475B7619EE96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91" name="btfpStatusStickerLine253844">
              <a:extLst>
                <a:ext uri="{FF2B5EF4-FFF2-40B4-BE49-F238E27FC236}">
                  <a16:creationId xmlns:a16="http://schemas.microsoft.com/office/drawing/2014/main" id="{4AE77C85-8DA0-4455-83D5-CAE3340F252B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btfpRunningAgenda1Level650523">
            <a:extLst>
              <a:ext uri="{FF2B5EF4-FFF2-40B4-BE49-F238E27FC236}">
                <a16:creationId xmlns:a16="http://schemas.microsoft.com/office/drawing/2014/main" id="{A020A5FA-0C9B-4CFA-AB36-D7251A80783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61" name="btfpRunningAgenda1LevelBarLeft650523">
              <a:extLst>
                <a:ext uri="{FF2B5EF4-FFF2-40B4-BE49-F238E27FC236}">
                  <a16:creationId xmlns:a16="http://schemas.microsoft.com/office/drawing/2014/main" id="{0C8A9529-1348-45A7-A966-271FF84BA116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RunningAgenda1LevelTextLeft650523">
              <a:extLst>
                <a:ext uri="{FF2B5EF4-FFF2-40B4-BE49-F238E27FC236}">
                  <a16:creationId xmlns:a16="http://schemas.microsoft.com/office/drawing/2014/main" id="{B6B5C8E7-4821-4FD3-B488-90A09B35DC09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59" name="btfpNotesBox953997">
            <a:extLst>
              <a:ext uri="{FF2B5EF4-FFF2-40B4-BE49-F238E27FC236}">
                <a16:creationId xmlns:a16="http://schemas.microsoft.com/office/drawing/2014/main" id="{D72CC06E-0EA3-413E-A896-D4CA40DE62C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007072-BDB7-0802-698C-56C69FB93B2D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971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hink-cell data - do not delete" hidden="1">
            <a:extLst>
              <a:ext uri="{FF2B5EF4-FFF2-40B4-BE49-F238E27FC236}">
                <a16:creationId xmlns:a16="http://schemas.microsoft.com/office/drawing/2014/main" id="{1A8D9140-BDA5-3206-3B0D-88AE6E2FC9E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484" imgH="486" progId="TCLayout.ActiveDocument.1">
                  <p:embed/>
                </p:oleObj>
              </mc:Choice>
              <mc:Fallback>
                <p:oleObj name="think-cell Slide" r:id="rId35" imgW="484" imgH="486" progId="TCLayout.ActiveDocument.1">
                  <p:embed/>
                  <p:pic>
                    <p:nvPicPr>
                      <p:cNvPr id="5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8D9140-BDA5-3206-3B0D-88AE6E2FC9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4E7828D1-0ABC-4491-BB82-15E3F7F06B3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912971">
              <a:extLst>
                <a:ext uri="{FF2B5EF4-FFF2-40B4-BE49-F238E27FC236}">
                  <a16:creationId xmlns:a16="http://schemas.microsoft.com/office/drawing/2014/main" id="{2889CA9D-C4A2-4B89-8E4B-7C5B15A445D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2" name="btfpColumnGapBlocker330762">
              <a:extLst>
                <a:ext uri="{FF2B5EF4-FFF2-40B4-BE49-F238E27FC236}">
                  <a16:creationId xmlns:a16="http://schemas.microsoft.com/office/drawing/2014/main" id="{4C8B3655-7E31-450A-B38F-7FA66CE1E11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0" name="btfpColumnIndicator242612">
              <a:extLst>
                <a:ext uri="{FF2B5EF4-FFF2-40B4-BE49-F238E27FC236}">
                  <a16:creationId xmlns:a16="http://schemas.microsoft.com/office/drawing/2014/main" id="{A05CD150-35C5-455A-AB4B-E9AFD765F29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747848">
              <a:extLst>
                <a:ext uri="{FF2B5EF4-FFF2-40B4-BE49-F238E27FC236}">
                  <a16:creationId xmlns:a16="http://schemas.microsoft.com/office/drawing/2014/main" id="{AF6FA35C-ACB1-47F8-9919-8AD1ABBFD1B8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984602AA-D0D3-4EA9-8643-B47A0387EAE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674224">
              <a:extLst>
                <a:ext uri="{FF2B5EF4-FFF2-40B4-BE49-F238E27FC236}">
                  <a16:creationId xmlns:a16="http://schemas.microsoft.com/office/drawing/2014/main" id="{13C5EB5C-E949-43A8-942F-0E1979B8B29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1" name="btfpColumnGapBlocker316082">
              <a:extLst>
                <a:ext uri="{FF2B5EF4-FFF2-40B4-BE49-F238E27FC236}">
                  <a16:creationId xmlns:a16="http://schemas.microsoft.com/office/drawing/2014/main" id="{75AB82DC-1795-4C80-A166-2B15B47D9A1A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9" name="btfpColumnIndicator637094">
              <a:extLst>
                <a:ext uri="{FF2B5EF4-FFF2-40B4-BE49-F238E27FC236}">
                  <a16:creationId xmlns:a16="http://schemas.microsoft.com/office/drawing/2014/main" id="{8B05A293-EE79-4C3D-B4B2-FCB9EAC85CA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988255">
              <a:extLst>
                <a:ext uri="{FF2B5EF4-FFF2-40B4-BE49-F238E27FC236}">
                  <a16:creationId xmlns:a16="http://schemas.microsoft.com/office/drawing/2014/main" id="{594C3C54-38D2-4926-A6D1-6709FEDE2A1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CPG players suggests ~$165-310M of cost savings opportunity within Perrigo’s P&amp;L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42857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overall_0_132441137684899042 columns_1_132441137684899042</a:t>
            </a: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Capital IQ</a:t>
            </a:r>
          </a:p>
        </p:txBody>
      </p:sp>
      <p:graphicFrame>
        <p:nvGraphicFramePr>
          <p:cNvPr id="9" name="BainTable4779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250987" y="1342300"/>
          <a:ext cx="7610813" cy="51940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595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26773">
                  <a:extLst>
                    <a:ext uri="{9D8B030D-6E8A-4147-A177-3AD203B41FA5}">
                      <a16:colId xmlns:a16="http://schemas.microsoft.com/office/drawing/2014/main" val="1042097099"/>
                    </a:ext>
                  </a:extLst>
                </a:gridCol>
                <a:gridCol w="5468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159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Cost of Raw Materials</a:t>
                      </a:r>
                      <a:endParaRPr lang="en-US" sz="8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~$45-115M</a:t>
                      </a:r>
                    </a:p>
                  </a:txBody>
                  <a:tcPr marL="84244" marR="8775" marT="42122" marB="4212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Lower cost country sourcing strategy 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Standardize contract terms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Reduce shrink/ waste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Product complexity reduction (portfolio optimization)</a:t>
                      </a:r>
                      <a:endParaRPr lang="en-US" sz="8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 digital manufacturing capabilities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make vs. buy to reduce complexity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>
                          <a:solidFill>
                            <a:schemeClr val="tx1"/>
                          </a:solidFill>
                        </a:rPr>
                        <a:t>Link assortment/ planogram decisions to negotiations to create winners and losers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</a:t>
                      </a:r>
                    </a:p>
                  </a:txBody>
                  <a:tcPr marL="84244" marR="8775" marT="42122" marB="42122"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63337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rgbClr val="C00000"/>
                          </a:solidFill>
                        </a:rPr>
                        <a:t>2-5% </a:t>
                      </a:r>
                      <a:r>
                        <a:rPr lang="en-US" sz="850"/>
                        <a:t>savings</a:t>
                      </a: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225159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50" b="1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Production &amp; Overheads</a:t>
                      </a:r>
                      <a:endParaRPr lang="en-US" sz="850"/>
                    </a:p>
                  </a:txBody>
                  <a:tcPr marL="84244" marR="8775" marT="42122" marB="4212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/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factory performance (e.g., HVPS, lean shopfloor processes, asset health &amp; total productive maintenance, total quality management)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Network optimization (Number, location of plants, and production segmentation strategy)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Co-packer strategy (rationalize and optimize terms)</a:t>
                      </a:r>
                    </a:p>
                    <a:p>
                      <a:pPr marL="355600" lvl="1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De-risk new product introductions</a:t>
                      </a:r>
                    </a:p>
                    <a:p>
                      <a:pPr marL="355600" lvl="1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Source excess capacity for seasonal products</a:t>
                      </a:r>
                    </a:p>
                    <a:p>
                      <a:pPr marL="355600" lvl="1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Isolate complexity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Manufacturing modernization (i.e., advantaged assets, processes of the future)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Product complexity reduction (portfolio optimization)</a:t>
                      </a:r>
                      <a:endParaRPr lang="en-US" sz="8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46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rgbClr val="C00000"/>
                          </a:solidFill>
                        </a:rPr>
                        <a:t>5-7% </a:t>
                      </a:r>
                      <a:r>
                        <a:rPr lang="en-US" sz="850"/>
                        <a:t>savings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~$30-40M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893472"/>
                  </a:ext>
                </a:extLst>
              </a:tr>
              <a:tr h="21046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COGS savings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~$75-155M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/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686540"/>
                  </a:ext>
                </a:extLst>
              </a:tr>
              <a:tr h="225159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Sales and Marketing</a:t>
                      </a:r>
                    </a:p>
                  </a:txBody>
                  <a:tcPr marL="84244" marR="8775" marT="42122" marB="42122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65250"/>
                  </a:ext>
                </a:extLst>
              </a:tr>
              <a:tr h="19683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850"/>
                        <a:t>savings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~$35-65M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108014"/>
                  </a:ext>
                </a:extLst>
              </a:tr>
              <a:tr h="225159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and Administrative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mgmt,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gross-to-net leakage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92517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rgbClr val="C00000"/>
                          </a:solidFill>
                        </a:rPr>
                        <a:t>10-15% </a:t>
                      </a:r>
                      <a:r>
                        <a:rPr lang="en-US" sz="85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~$45-70M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2515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~$80-135M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46303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022157"/>
                  </a:ext>
                </a:extLst>
              </a:tr>
              <a:tr h="38815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10-15%</a:t>
                      </a: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savings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chemeClr val="accent3"/>
                          </a:solidFill>
                        </a:rPr>
                        <a:t>~$10-20M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392125"/>
                  </a:ext>
                </a:extLst>
              </a:tr>
              <a:tr h="22515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85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85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~$165-310M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85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4250986" y="977900"/>
            <a:ext cx="1096277" cy="359703"/>
          </a:xfrm>
          <a:prstGeom prst="rect">
            <a:avLst/>
          </a:prstGeom>
          <a:blipFill dpi="0" rotWithShape="1">
            <a:blip r:embed="rId37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6455684" y="1116401"/>
            <a:ext cx="5401354" cy="221203"/>
          </a:xfrm>
          <a:prstGeom prst="rect">
            <a:avLst/>
          </a:prstGeom>
          <a:blipFill dpi="0" rotWithShape="1">
            <a:blip r:embed="rId37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5422561" y="977900"/>
            <a:ext cx="957825" cy="359703"/>
          </a:xfrm>
          <a:prstGeom prst="rect">
            <a:avLst/>
          </a:prstGeom>
          <a:blipFill dpi="0" rotWithShape="1">
            <a:blip r:embed="rId37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C0000"/>
                </a:solidFill>
              </a:rPr>
              <a:t>PERRIGO</a:t>
            </a:r>
            <a:r>
              <a:rPr lang="en-US" sz="900" b="1" cap="all"/>
              <a:t>  hypothesis</a:t>
            </a:r>
          </a:p>
        </p:txBody>
      </p:sp>
      <p:grpSp>
        <p:nvGrpSpPr>
          <p:cNvPr id="6" name="btfpStatusSticker253844">
            <a:extLst>
              <a:ext uri="{FF2B5EF4-FFF2-40B4-BE49-F238E27FC236}">
                <a16:creationId xmlns:a16="http://schemas.microsoft.com/office/drawing/2014/main" id="{99C3E7AE-D4CC-4946-9D82-06ADD46D5CD7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10003470" y="898194"/>
            <a:ext cx="1858330" cy="235611"/>
            <a:chOff x="-2436373" y="876300"/>
            <a:chExt cx="1858330" cy="235611"/>
          </a:xfrm>
        </p:grpSpPr>
        <p:sp>
          <p:nvSpPr>
            <p:cNvPr id="4" name="btfpStatusStickerText253844">
              <a:extLst>
                <a:ext uri="{FF2B5EF4-FFF2-40B4-BE49-F238E27FC236}">
                  <a16:creationId xmlns:a16="http://schemas.microsoft.com/office/drawing/2014/main" id="{0BF0A840-4F02-4F18-AF2D-6567DB82CDDE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5" name="btfpStatusStickerLine253844">
              <a:extLst>
                <a:ext uri="{FF2B5EF4-FFF2-40B4-BE49-F238E27FC236}">
                  <a16:creationId xmlns:a16="http://schemas.microsoft.com/office/drawing/2014/main" id="{26714755-577E-4441-9A4C-8405326338D9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btfpRunningAgenda1Level650523">
            <a:extLst>
              <a:ext uri="{FF2B5EF4-FFF2-40B4-BE49-F238E27FC236}">
                <a16:creationId xmlns:a16="http://schemas.microsoft.com/office/drawing/2014/main" id="{4E32D776-A36C-4ED7-BF26-F0BEBC006D6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16" name="btfpRunningAgenda1LevelBarLeft650523">
              <a:extLst>
                <a:ext uri="{FF2B5EF4-FFF2-40B4-BE49-F238E27FC236}">
                  <a16:creationId xmlns:a16="http://schemas.microsoft.com/office/drawing/2014/main" id="{DC205F80-85D3-445C-8EF6-31433C5B5EFE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7" name="btfpRunningAgenda1LevelTextLeft650523">
              <a:extLst>
                <a:ext uri="{FF2B5EF4-FFF2-40B4-BE49-F238E27FC236}">
                  <a16:creationId xmlns:a16="http://schemas.microsoft.com/office/drawing/2014/main" id="{6D13E2C9-EAB3-4052-B570-E92DB9C00543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7" name="CommentBox">
            <a:extLst>
              <a:ext uri="{FF2B5EF4-FFF2-40B4-BE49-F238E27FC236}">
                <a16:creationId xmlns:a16="http://schemas.microsoft.com/office/drawing/2014/main" id="{1730DA58-9C10-3E7C-C5F5-DE4EFEFDD51F}"/>
              </a:ext>
            </a:extLst>
          </p:cNvPr>
          <p:cNvSpPr/>
          <p:nvPr/>
        </p:nvSpPr>
        <p:spPr bwMode="gray">
          <a:xfrm>
            <a:off x="10077197" y="475922"/>
            <a:ext cx="1730608" cy="419924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Bain Experience leveraged from </a:t>
            </a:r>
            <a:r>
              <a:rPr lang="en-US" sz="900" i="1" err="1">
                <a:solidFill>
                  <a:srgbClr val="000000"/>
                </a:solidFill>
                <a:latin typeface="Arial" panose="020B0604020202020204" pitchFamily="34" charset="0"/>
              </a:rPr>
              <a:t>Edgewell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 OI</a:t>
            </a:r>
          </a:p>
        </p:txBody>
      </p:sp>
      <p:graphicFrame>
        <p:nvGraphicFramePr>
          <p:cNvPr id="70" name="Chart 69">
            <a:extLst>
              <a:ext uri="{FF2B5EF4-FFF2-40B4-BE49-F238E27FC236}">
                <a16:creationId xmlns:a16="http://schemas.microsoft.com/office/drawing/2014/main" id="{32407D3C-4C64-9AEE-260C-D14387C66D39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547688" y="1674813"/>
          <a:ext cx="3509962" cy="4448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8"/>
          </a:graphicData>
        </a:graphic>
      </p:graphicFrame>
      <p:sp>
        <p:nvSpPr>
          <p:cNvPr id="19" name="Text Placeholder">
            <a:extLst>
              <a:ext uri="{FF2B5EF4-FFF2-40B4-BE49-F238E27FC236}">
                <a16:creationId xmlns:a16="http://schemas.microsoft.com/office/drawing/2014/main" id="{B55EF570-4DA4-46B4-4B61-65070009F77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474663" y="596423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149C49F-FBA2-4AB4-81DC-FE95D590B098}" type="datetime'''''''''0''''''''''''''''''''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D197EEEF-FFE2-2ECF-8345-33F569F4A7B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404813" y="51069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A80855A7-EBB0-4C85-882E-AE8E3CE826A8}" type="datetime'''''''''''''''''''2''''0''''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96BE8DED-1EA5-C225-95E3-236FEC221710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04813" y="4251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DF88BB26-DDAC-45AE-B54C-8B988589F754}" type="datetime'''''''''''4''''''''''''''''''''''''''0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B8B82C2F-BD13-1575-E755-27BB8C40922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404813" y="33940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C1F623E-E555-4B9B-92A8-1143B15BE968}" type="datetime'6''''''0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F89036E2-4C2D-F197-2A0E-1CB7FFF4025F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404813" y="253841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B352D37-1D51-4EDF-BAF8-8D327EBE74F6}" type="datetime'''''''''''''8''''''''''''''''''''''''''''''''''''''''''''0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7CFD1113-B259-B1C3-5DC2-2E6E828FA92B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334963" y="1681163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6B7E788-823E-4A9A-B5BF-4144299AC4C6}" type="datetime'''''''''''''''''''''''''''''''''''''1''''''''0''''0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5" name="Text Placeholder">
            <a:extLst>
              <a:ext uri="{FF2B5EF4-FFF2-40B4-BE49-F238E27FC236}">
                <a16:creationId xmlns:a16="http://schemas.microsoft.com/office/drawing/2014/main" id="{E369F7BF-5575-C075-2A3B-7BABFB94FBD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4964" y="1274763"/>
            <a:ext cx="828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Cost profile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28A2CD82-7C75-BA32-F803-33BFBCBD9E3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860425" y="2033588"/>
            <a:ext cx="652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891A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Overheads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(~20%)</a:t>
            </a: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70C8C567-47B5-DDAA-345A-AC8EDB56CDE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11225" y="4098925"/>
            <a:ext cx="54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6647B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</a:rPr>
              <a:t>Raw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</a:rPr>
              <a:t>Materials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(~80%)</a:t>
            </a:r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BA0B84DB-E42E-A87F-E1E9-A636481596CB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957388" y="1946275"/>
            <a:ext cx="688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58585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EBIT </a:t>
            </a:r>
            <a:fld id="{551D5ED3-EBA9-4481-8490-46EDCBDC0DEA}" type="datetime'''''''''''''''''(''''''1''''''''''''''''''2%'''''''''''''''')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(12%)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39" name="Text Placeholder">
            <a:extLst>
              <a:ext uri="{FF2B5EF4-FFF2-40B4-BE49-F238E27FC236}">
                <a16:creationId xmlns:a16="http://schemas.microsoft.com/office/drawing/2014/main" id="{B6850854-61F1-CAFD-0142-49F46913A11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2092325" y="2757488"/>
            <a:ext cx="4206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04C3E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SG&amp;A 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DB5635D-C2B0-4B87-BFEF-10428FCC2F90}" type="datetime'''''''''''''''''''''''''(''''''2''''4''''''''%'')''''''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(24%)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20AA1749-DD56-0EA3-3BF5-C660F2DD97FB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2098675" y="4578350"/>
            <a:ext cx="4079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COGS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8E4422E-E269-457D-8735-C5FBC3772AD2}" type="datetime'(6''''''''''''''''''''1''''''''%''''''''''''''''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(61%)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A9EDB510-BE48-9E4F-1F55-FC42828D000F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3230563" y="2868613"/>
            <a:ext cx="3730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S&amp;M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9CA47C1B-6CDB-4E10-A321-F44443E53602}" type="datetime'(''5''''''''''''''9%'''''''''''''''''''''''''''''''''')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(59%)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A15C36B1-758F-1E75-A0AE-008BEF4432A0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3230563" y="5010150"/>
            <a:ext cx="3730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G&amp;A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9E67360B-FD53-451E-8AD7-4B7D16CCDCC1}" type="datetime'''(4''''''''''''''''''''''''''''1''''''''''%)''''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(41%)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20060F3A-4FBB-AE2B-BB84-8E404DF37B64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1998663" y="2266950"/>
            <a:ext cx="606425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R&amp;D </a:t>
            </a:r>
            <a:fld id="{3A892E55-07DF-441A-8778-2D7B44B57105}" type="datetime'(''3''''''''''''''''''''''''''''%'''''''')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(3%)</a:t>
            </a:fld>
            <a:endParaRPr lang="en-US" sz="1000">
              <a:solidFill>
                <a:srgbClr val="000000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3162ED-6067-F7FD-6642-5A13672B9194}"/>
              </a:ext>
            </a:extLst>
          </p:cNvPr>
          <p:cNvCxnSpPr/>
          <p:nvPr>
            <p:custDataLst>
              <p:tags r:id="rId26"/>
            </p:custDataLst>
          </p:nvPr>
        </p:nvCxnSpPr>
        <p:spPr bwMode="gray">
          <a:xfrm>
            <a:off x="2767012" y="3421064"/>
            <a:ext cx="185738" cy="2619375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A176021-392A-F0D0-D1E6-07EC1AF11C17}"/>
              </a:ext>
            </a:extLst>
          </p:cNvPr>
          <p:cNvCxnSpPr/>
          <p:nvPr>
            <p:custDataLst>
              <p:tags r:id="rId27"/>
            </p:custDataLst>
          </p:nvPr>
        </p:nvCxnSpPr>
        <p:spPr bwMode="gray">
          <a:xfrm flipV="1">
            <a:off x="2767013" y="1757362"/>
            <a:ext cx="185738" cy="642938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71AB205-363C-A76F-6821-5C8FEE4C7D71}"/>
              </a:ext>
            </a:extLst>
          </p:cNvPr>
          <p:cNvCxnSpPr/>
          <p:nvPr>
            <p:custDataLst>
              <p:tags r:id="rId28"/>
            </p:custDataLst>
          </p:nvPr>
        </p:nvCxnSpPr>
        <p:spPr bwMode="gray">
          <a:xfrm>
            <a:off x="1651000" y="1757363"/>
            <a:ext cx="185738" cy="166370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 Placeholder">
            <a:extLst>
              <a:ext uri="{FF2B5EF4-FFF2-40B4-BE49-F238E27FC236}">
                <a16:creationId xmlns:a16="http://schemas.microsoft.com/office/drawing/2014/main" id="{26D58B7E-5C26-73B6-8DE4-54D83357FD71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630238" y="6116638"/>
            <a:ext cx="111442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50800" rIns="1588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DCA974D-24CE-437F-B664-E25FE6CB35E1}" type="datetime'''C''''''''''OG''''''''''''''''''''S''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7" name="Text Placeholder">
            <a:extLst>
              <a:ext uri="{FF2B5EF4-FFF2-40B4-BE49-F238E27FC236}">
                <a16:creationId xmlns:a16="http://schemas.microsoft.com/office/drawing/2014/main" id="{F1AA7C29-6277-1565-D47D-FADD954FEC54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1744663" y="6116638"/>
            <a:ext cx="1116013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5080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00A941E-EE6D-4BEC-937A-9CFB01828AFB}" type="datetime'''To''''t''''''a''''l'''''''' R''''''''''''e''''''ve''''nu''e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8" name="Text Placeholder">
            <a:extLst>
              <a:ext uri="{FF2B5EF4-FFF2-40B4-BE49-F238E27FC236}">
                <a16:creationId xmlns:a16="http://schemas.microsoft.com/office/drawing/2014/main" id="{410A9540-6869-EEEB-C683-2C65BE9A290C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2860675" y="6116638"/>
            <a:ext cx="1114425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50800" rIns="1588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06D23D7B-1B3D-46FD-9D59-3809A243264F}" type="datetime'''''S''''''''''''''''''''''''''''G''''''''''''''''''''''''&amp;A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E5092AA5-211C-4FD2-90BC-35235F24968A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805147" y="1313580"/>
            <a:ext cx="2109467" cy="359703"/>
          </a:xfrm>
          <a:prstGeom prst="rect">
            <a:avLst/>
          </a:prstGeom>
          <a:blipFill dpi="0" rotWithShape="1">
            <a:blip r:embed="rId37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900" b="1" cap="all">
                <a:solidFill>
                  <a:srgbClr val="C00000"/>
                </a:solidFill>
              </a:rPr>
              <a:t>Perrigo</a:t>
            </a:r>
            <a:endParaRPr lang="en-US" sz="900" b="1" cap="all"/>
          </a:p>
          <a:p>
            <a:pPr marL="0" indent="0" algn="ctr">
              <a:spcBef>
                <a:spcPts val="0"/>
              </a:spcBef>
              <a:buNone/>
            </a:pPr>
            <a:r>
              <a:rPr lang="en-US" sz="900" b="1" cap="all"/>
              <a:t>Actuals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0283621-33B9-1D72-9EDB-FFC06B84B879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1265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2760975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80686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btfpColumnIndicatorGroup2">
            <a:extLst>
              <a:ext uri="{FF2B5EF4-FFF2-40B4-BE49-F238E27FC236}">
                <a16:creationId xmlns:a16="http://schemas.microsoft.com/office/drawing/2014/main" id="{201DC7A8-82C0-4F58-94EB-F2A72B4B360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7" name="btfpColumnGapBlocker942719">
              <a:extLst>
                <a:ext uri="{FF2B5EF4-FFF2-40B4-BE49-F238E27FC236}">
                  <a16:creationId xmlns:a16="http://schemas.microsoft.com/office/drawing/2014/main" id="{CCD0666B-83DD-4D54-AE32-C8F0D44D0E7F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5" name="btfpColumnGapBlocker284788">
              <a:extLst>
                <a:ext uri="{FF2B5EF4-FFF2-40B4-BE49-F238E27FC236}">
                  <a16:creationId xmlns:a16="http://schemas.microsoft.com/office/drawing/2014/main" id="{D0E21D84-0172-47BB-AD72-8CCBBCF42B27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3" name="btfpColumnIndicator704688">
              <a:extLst>
                <a:ext uri="{FF2B5EF4-FFF2-40B4-BE49-F238E27FC236}">
                  <a16:creationId xmlns:a16="http://schemas.microsoft.com/office/drawing/2014/main" id="{A9D6CDB4-F78D-445B-8BB9-50B0971650F7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btfpColumnIndicator393273">
              <a:extLst>
                <a:ext uri="{FF2B5EF4-FFF2-40B4-BE49-F238E27FC236}">
                  <a16:creationId xmlns:a16="http://schemas.microsoft.com/office/drawing/2014/main" id="{32545D79-2B72-414C-B045-BB75FC7C9CF4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btfpColumnGapBlocker882597">
              <a:extLst>
                <a:ext uri="{FF2B5EF4-FFF2-40B4-BE49-F238E27FC236}">
                  <a16:creationId xmlns:a16="http://schemas.microsoft.com/office/drawing/2014/main" id="{FCF18B0F-F3BB-488F-8EF9-64F7EEFD10FA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7" name="btfpColumnIndicator504618">
              <a:extLst>
                <a:ext uri="{FF2B5EF4-FFF2-40B4-BE49-F238E27FC236}">
                  <a16:creationId xmlns:a16="http://schemas.microsoft.com/office/drawing/2014/main" id="{2F843AFC-677E-443F-8531-9FACC9E3600B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btfpColumnIndicator868266">
              <a:extLst>
                <a:ext uri="{FF2B5EF4-FFF2-40B4-BE49-F238E27FC236}">
                  <a16:creationId xmlns:a16="http://schemas.microsoft.com/office/drawing/2014/main" id="{04C1A89F-0723-45DF-9829-9F9C57A677BE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btfpColumnGapBlocker985612">
              <a:extLst>
                <a:ext uri="{FF2B5EF4-FFF2-40B4-BE49-F238E27FC236}">
                  <a16:creationId xmlns:a16="http://schemas.microsoft.com/office/drawing/2014/main" id="{01733A22-9B66-4465-8C98-005E20BDEEB7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1" name="btfpColumnIndicator443928">
              <a:extLst>
                <a:ext uri="{FF2B5EF4-FFF2-40B4-BE49-F238E27FC236}">
                  <a16:creationId xmlns:a16="http://schemas.microsoft.com/office/drawing/2014/main" id="{0B211161-F9BA-4D11-B439-ED1BF30971D2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btfpColumnIndicator643344">
              <a:extLst>
                <a:ext uri="{FF2B5EF4-FFF2-40B4-BE49-F238E27FC236}">
                  <a16:creationId xmlns:a16="http://schemas.microsoft.com/office/drawing/2014/main" id="{CCDE01AE-F637-4249-A091-C6D65C147FC8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btfpColumnGapBlocker216165">
              <a:extLst>
                <a:ext uri="{FF2B5EF4-FFF2-40B4-BE49-F238E27FC236}">
                  <a16:creationId xmlns:a16="http://schemas.microsoft.com/office/drawing/2014/main" id="{A4D15431-EE3F-4FEE-8D58-57FA8C599192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4" name="btfpColumnIndicator355185">
              <a:extLst>
                <a:ext uri="{FF2B5EF4-FFF2-40B4-BE49-F238E27FC236}">
                  <a16:creationId xmlns:a16="http://schemas.microsoft.com/office/drawing/2014/main" id="{97523AB0-6BFD-42ED-839B-552EF518F2FA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btfpColumnIndicator468606">
              <a:extLst>
                <a:ext uri="{FF2B5EF4-FFF2-40B4-BE49-F238E27FC236}">
                  <a16:creationId xmlns:a16="http://schemas.microsoft.com/office/drawing/2014/main" id="{61E56052-C2FA-4DF6-AF4D-6179703E2EF0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btfpColumnGapBlocker568118">
              <a:extLst>
                <a:ext uri="{FF2B5EF4-FFF2-40B4-BE49-F238E27FC236}">
                  <a16:creationId xmlns:a16="http://schemas.microsoft.com/office/drawing/2014/main" id="{C36AD83E-50D7-4A46-83E2-450BCF943C08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436330">
              <a:extLst>
                <a:ext uri="{FF2B5EF4-FFF2-40B4-BE49-F238E27FC236}">
                  <a16:creationId xmlns:a16="http://schemas.microsoft.com/office/drawing/2014/main" id="{D765668C-A83D-4663-81EE-D85877043178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650941">
              <a:extLst>
                <a:ext uri="{FF2B5EF4-FFF2-40B4-BE49-F238E27FC236}">
                  <a16:creationId xmlns:a16="http://schemas.microsoft.com/office/drawing/2014/main" id="{3FCC5C6C-EFEC-4B7D-A33B-C19D6A6FFAF4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659180">
              <a:extLst>
                <a:ext uri="{FF2B5EF4-FFF2-40B4-BE49-F238E27FC236}">
                  <a16:creationId xmlns:a16="http://schemas.microsoft.com/office/drawing/2014/main" id="{069DE6F4-8EA0-49AB-810C-D0E5D0CAD244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404086">
              <a:extLst>
                <a:ext uri="{FF2B5EF4-FFF2-40B4-BE49-F238E27FC236}">
                  <a16:creationId xmlns:a16="http://schemas.microsoft.com/office/drawing/2014/main" id="{EC039E09-0509-4FDE-A6EB-C5D7E51F427A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499939">
              <a:extLst>
                <a:ext uri="{FF2B5EF4-FFF2-40B4-BE49-F238E27FC236}">
                  <a16:creationId xmlns:a16="http://schemas.microsoft.com/office/drawing/2014/main" id="{7675FFCC-9165-4107-8E1C-D30C6DA60897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btfpColumnIndicatorGroup1">
            <a:extLst>
              <a:ext uri="{FF2B5EF4-FFF2-40B4-BE49-F238E27FC236}">
                <a16:creationId xmlns:a16="http://schemas.microsoft.com/office/drawing/2014/main" id="{2FF5B762-3705-42F3-94EC-218EF2B720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6" name="btfpColumnGapBlocker591830">
              <a:extLst>
                <a:ext uri="{FF2B5EF4-FFF2-40B4-BE49-F238E27FC236}">
                  <a16:creationId xmlns:a16="http://schemas.microsoft.com/office/drawing/2014/main" id="{AC1ECAA3-8230-474A-9174-301BFF3E28B4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626001">
              <a:extLst>
                <a:ext uri="{FF2B5EF4-FFF2-40B4-BE49-F238E27FC236}">
                  <a16:creationId xmlns:a16="http://schemas.microsoft.com/office/drawing/2014/main" id="{BDE17974-B566-460C-82AC-B2ED9C3149A2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461767">
              <a:extLst>
                <a:ext uri="{FF2B5EF4-FFF2-40B4-BE49-F238E27FC236}">
                  <a16:creationId xmlns:a16="http://schemas.microsoft.com/office/drawing/2014/main" id="{07836787-F3FB-43B5-9247-D7A28A03BC90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755496">
              <a:extLst>
                <a:ext uri="{FF2B5EF4-FFF2-40B4-BE49-F238E27FC236}">
                  <a16:creationId xmlns:a16="http://schemas.microsoft.com/office/drawing/2014/main" id="{21DAA355-79F9-490C-96D6-9CCC689F0FBD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805258">
              <a:extLst>
                <a:ext uri="{FF2B5EF4-FFF2-40B4-BE49-F238E27FC236}">
                  <a16:creationId xmlns:a16="http://schemas.microsoft.com/office/drawing/2014/main" id="{97492218-7E5D-4A54-805C-BCAF5FEA937B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686786">
              <a:extLst>
                <a:ext uri="{FF2B5EF4-FFF2-40B4-BE49-F238E27FC236}">
                  <a16:creationId xmlns:a16="http://schemas.microsoft.com/office/drawing/2014/main" id="{2FA53CFD-DF8E-4832-A308-CCA3FBEE4DA1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326894">
              <a:extLst>
                <a:ext uri="{FF2B5EF4-FFF2-40B4-BE49-F238E27FC236}">
                  <a16:creationId xmlns:a16="http://schemas.microsoft.com/office/drawing/2014/main" id="{C23C1F9F-1348-4498-85FC-EBF2D89D49C4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303978">
              <a:extLst>
                <a:ext uri="{FF2B5EF4-FFF2-40B4-BE49-F238E27FC236}">
                  <a16:creationId xmlns:a16="http://schemas.microsoft.com/office/drawing/2014/main" id="{B4772707-88A5-4176-8F95-F985C4D62CF4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251977">
              <a:extLst>
                <a:ext uri="{FF2B5EF4-FFF2-40B4-BE49-F238E27FC236}">
                  <a16:creationId xmlns:a16="http://schemas.microsoft.com/office/drawing/2014/main" id="{B9F86B55-6F1B-409A-B172-2F93D04BDC5E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118977">
              <a:extLst>
                <a:ext uri="{FF2B5EF4-FFF2-40B4-BE49-F238E27FC236}">
                  <a16:creationId xmlns:a16="http://schemas.microsoft.com/office/drawing/2014/main" id="{79B6BE67-77F5-4C0B-9953-1C3032EF6658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212617">
              <a:extLst>
                <a:ext uri="{FF2B5EF4-FFF2-40B4-BE49-F238E27FC236}">
                  <a16:creationId xmlns:a16="http://schemas.microsoft.com/office/drawing/2014/main" id="{19E4CF5F-4B61-4C1A-B9FA-E294B21DF5C6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260883">
              <a:extLst>
                <a:ext uri="{FF2B5EF4-FFF2-40B4-BE49-F238E27FC236}">
                  <a16:creationId xmlns:a16="http://schemas.microsoft.com/office/drawing/2014/main" id="{4F8F77FF-4C6F-402D-AB12-8A5BD2377F12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451315">
              <a:extLst>
                <a:ext uri="{FF2B5EF4-FFF2-40B4-BE49-F238E27FC236}">
                  <a16:creationId xmlns:a16="http://schemas.microsoft.com/office/drawing/2014/main" id="{D50BEC6C-60E8-48B5-BD24-DF44D6355FBB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334681">
              <a:extLst>
                <a:ext uri="{FF2B5EF4-FFF2-40B4-BE49-F238E27FC236}">
                  <a16:creationId xmlns:a16="http://schemas.microsoft.com/office/drawing/2014/main" id="{A1B62411-9A48-4ED1-8B52-64C011490F65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182816">
              <a:extLst>
                <a:ext uri="{FF2B5EF4-FFF2-40B4-BE49-F238E27FC236}">
                  <a16:creationId xmlns:a16="http://schemas.microsoft.com/office/drawing/2014/main" id="{A9817554-5BDB-4165-BE0A-7220E95122E7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544522">
              <a:extLst>
                <a:ext uri="{FF2B5EF4-FFF2-40B4-BE49-F238E27FC236}">
                  <a16:creationId xmlns:a16="http://schemas.microsoft.com/office/drawing/2014/main" id="{F62CDBB4-67A7-4462-8487-89D3608EF74E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900838">
              <a:extLst>
                <a:ext uri="{FF2B5EF4-FFF2-40B4-BE49-F238E27FC236}">
                  <a16:creationId xmlns:a16="http://schemas.microsoft.com/office/drawing/2014/main" id="{83C3D25A-9FDE-40E5-BC51-5629B15D728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276787">
              <a:extLst>
                <a:ext uri="{FF2B5EF4-FFF2-40B4-BE49-F238E27FC236}">
                  <a16:creationId xmlns:a16="http://schemas.microsoft.com/office/drawing/2014/main" id="{3181F15E-2C3E-421F-B353-FF88CCCE52F2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469337">
              <a:extLst>
                <a:ext uri="{FF2B5EF4-FFF2-40B4-BE49-F238E27FC236}">
                  <a16:creationId xmlns:a16="http://schemas.microsoft.com/office/drawing/2014/main" id="{9F193A7D-FEE8-4FF5-9C2F-0BC339D0450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/>
          <a:lstStyle/>
          <a:p>
            <a:r>
              <a:rPr lang="en-US"/>
              <a:t>Bain experience within the Defense &amp; Space sector, applied against ADS’ estimated cost baseline, suggests savings of ~€245-525M (3-5% of cost base)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4" name="btfpNotesBox953997"/>
          <p:cNvSpPr txBox="1"/>
          <p:nvPr>
            <p:custDataLst>
              <p:tags r:id="rId2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*Cost of materials based on split available for Airbus total company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</a:t>
            </a:r>
            <a:r>
              <a:rPr lang="fr-FR" sz="800">
                <a:solidFill>
                  <a:srgbClr val="000000"/>
                </a:solidFill>
              </a:rPr>
              <a:t>Financial Management Report; </a:t>
            </a:r>
            <a:r>
              <a:rPr lang="en-US" sz="800">
                <a:solidFill>
                  <a:srgbClr val="000000"/>
                </a:solidFill>
              </a:rPr>
              <a:t>Bain experience; Annual reports</a:t>
            </a:r>
          </a:p>
        </p:txBody>
      </p:sp>
      <p:grpSp>
        <p:nvGrpSpPr>
          <p:cNvPr id="17" name="btfpStatusSticker584984"/>
          <p:cNvGrpSpPr/>
          <p:nvPr>
            <p:custDataLst>
              <p:tags r:id="rId3"/>
            </p:custDataLst>
          </p:nvPr>
        </p:nvGrpSpPr>
        <p:grpSpPr>
          <a:xfrm>
            <a:off x="10003470" y="964869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94035136"/>
              </p:ext>
            </p:extLst>
          </p:nvPr>
        </p:nvGraphicFramePr>
        <p:xfrm>
          <a:off x="334962" y="935836"/>
          <a:ext cx="11542409" cy="533642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1066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275907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275907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275907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6603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41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FY21 Estimated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8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Airbus Defense &amp;Space Segment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8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60670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of materials*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</a:t>
                      </a: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6,615M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1-3%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~€70-200M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Redesign products to optimize cost structure (design to value)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Use lower cost suppliers for non-critical components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Reduce SKU complexity; reduce complexity of variants purchased/simplify specifications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Qualify multiple sources of supply to increase negotiating power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aseline="0"/>
                        <a:t>Consolidate volumes and contracts to eliminate long tail of suppliers and unlock volume discounts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/>
                        <a:t>Manufacturing and overheads </a:t>
                      </a:r>
                      <a:br>
                        <a:rPr lang="en-US" sz="800" b="0"/>
                      </a:br>
                      <a:r>
                        <a:rPr lang="en-US" sz="800" b="0"/>
                        <a:t>(excluding IT costs)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~€1,725M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€85-170M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dirty="0"/>
                        <a:t>Reduce engineering hours required (e.g., redesign how work scope is estimated, increase reuse of previous engineering, make/buy)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dirty="0"/>
                        <a:t>Increase productivity of engineering hours (e.g., standardize work process, automate information flows) and increase time allocation to engineering tasks versus admin or overhead tasks;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 dirty="0"/>
                        <a:t>Manufacturing modernization (i.e., advantaged assets,</a:t>
                      </a:r>
                      <a:r>
                        <a:rPr lang="en-US" sz="800" baseline="0" dirty="0"/>
                        <a:t> </a:t>
                      </a:r>
                      <a:r>
                        <a:rPr lang="en-US" sz="800" dirty="0"/>
                        <a:t>processes of the future)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Analyze best spend profiles across like-for-like plants and identify BDPs to normalize cost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Drive up productivity and wrench time in maintenance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Control demand and reduce consumption; standardize range of product offered and/or simplify specifications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/>
                        <a:t>Implement automation into standard procurement processes 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672263"/>
                  </a:ext>
                </a:extLst>
              </a:tr>
              <a:tr h="21204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€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8,340M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2-4%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€155-370M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05379"/>
                  </a:ext>
                </a:extLst>
              </a:tr>
              <a:tr h="879584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800" b="0"/>
                        <a:t>Selling expenses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~€290M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~€15-30M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80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marketing headcount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r</a:t>
                      </a: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eview </a:t>
                      </a:r>
                      <a:r>
                        <a:rPr lang="en-US" sz="8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renegotiate</a:t>
                      </a:r>
                      <a:r>
                        <a:rPr lang="en-US" sz="8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agency contracts</a:t>
                      </a:r>
                      <a:endParaRPr lang="en-US" sz="8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footprint including DC mix/network, low-cost location, etc.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DC operations (pick and pack, racking, etc.) and network by optimizing for advantaged assets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17195"/>
                  </a:ext>
                </a:extLst>
              </a:tr>
              <a:tr h="737500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300"/>
                        </a:spcBef>
                        <a:buClrTx/>
                        <a:buNone/>
                      </a:pP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G&amp;A </a:t>
                      </a:r>
                      <a:b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(including IT costs)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~€675M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10-15%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~€65-100M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(and in some cases zero-base) design of tasks/processes</a:t>
                      </a:r>
                      <a:endParaRPr lang="en-US" sz="8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layers and clarify RAPIDs (if in scope)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Right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size demand by e</a:t>
                      </a:r>
                      <a:r>
                        <a:rPr lang="en-US" sz="8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liminating unnecessary</a:t>
                      </a: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services/activities and optimizing service levels</a:t>
                      </a:r>
                      <a:endParaRPr lang="en-US" sz="8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shared services based on optimized 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Move or fully consolidate production hours into lower cost/under-utilized production facilities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Offshore indirect labor to low-cost countries; reduce indirect plant support FTEs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buy-better, spend-better levers to indirect spend (e.g., utilities, office supplies)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99532"/>
                  </a:ext>
                </a:extLst>
              </a:tr>
              <a:tr h="21204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€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965M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8-13%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€80-130M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00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93424"/>
                  </a:ext>
                </a:extLst>
              </a:tr>
              <a:tr h="60613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R&amp;D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~€250M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€10-25M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0494"/>
                  </a:ext>
                </a:extLst>
              </a:tr>
              <a:tr h="21204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Total 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€9,555M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3-5%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accent3"/>
                          </a:solidFill>
                        </a:rPr>
                        <a:t>€245-525M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00" i="0" kern="1200" baseline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ED8E650E-5D77-E160-5F94-0344C898BD2E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4639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7A0B7877-F265-4BE9-96D6-8FD004DF2A4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918412">
              <a:extLst>
                <a:ext uri="{FF2B5EF4-FFF2-40B4-BE49-F238E27FC236}">
                  <a16:creationId xmlns:a16="http://schemas.microsoft.com/office/drawing/2014/main" id="{9AD9A091-AEC6-4A69-9C2B-75952759B4B0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827530">
              <a:extLst>
                <a:ext uri="{FF2B5EF4-FFF2-40B4-BE49-F238E27FC236}">
                  <a16:creationId xmlns:a16="http://schemas.microsoft.com/office/drawing/2014/main" id="{C5A125F8-8926-4E05-BCAF-74D6868D091A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841843">
              <a:extLst>
                <a:ext uri="{FF2B5EF4-FFF2-40B4-BE49-F238E27FC236}">
                  <a16:creationId xmlns:a16="http://schemas.microsoft.com/office/drawing/2014/main" id="{EECBE802-83E0-4A7B-9A22-3625F63695B9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979990">
              <a:extLst>
                <a:ext uri="{FF2B5EF4-FFF2-40B4-BE49-F238E27FC236}">
                  <a16:creationId xmlns:a16="http://schemas.microsoft.com/office/drawing/2014/main" id="{84913BE4-CCCA-47FE-A981-F19A274ED446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341402">
              <a:extLst>
                <a:ext uri="{FF2B5EF4-FFF2-40B4-BE49-F238E27FC236}">
                  <a16:creationId xmlns:a16="http://schemas.microsoft.com/office/drawing/2014/main" id="{0CB21DE9-1D85-49B9-9DDD-86EE85EBE1E2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469291">
              <a:extLst>
                <a:ext uri="{FF2B5EF4-FFF2-40B4-BE49-F238E27FC236}">
                  <a16:creationId xmlns:a16="http://schemas.microsoft.com/office/drawing/2014/main" id="{C8EE8B28-80D7-4C79-A88E-4BBAD4593949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511484">
              <a:extLst>
                <a:ext uri="{FF2B5EF4-FFF2-40B4-BE49-F238E27FC236}">
                  <a16:creationId xmlns:a16="http://schemas.microsoft.com/office/drawing/2014/main" id="{F6E7A7B7-B01A-421E-97E1-B2474CF36A28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930806">
              <a:extLst>
                <a:ext uri="{FF2B5EF4-FFF2-40B4-BE49-F238E27FC236}">
                  <a16:creationId xmlns:a16="http://schemas.microsoft.com/office/drawing/2014/main" id="{B1DACBC9-E79C-445B-A52A-7E84D3ECB473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750271">
              <a:extLst>
                <a:ext uri="{FF2B5EF4-FFF2-40B4-BE49-F238E27FC236}">
                  <a16:creationId xmlns:a16="http://schemas.microsoft.com/office/drawing/2014/main" id="{4FE94052-91F3-4DAF-AE14-486FFA7CAA10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847421">
              <a:extLst>
                <a:ext uri="{FF2B5EF4-FFF2-40B4-BE49-F238E27FC236}">
                  <a16:creationId xmlns:a16="http://schemas.microsoft.com/office/drawing/2014/main" id="{4234155B-AD58-4D36-90D5-42664E4CB236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173405">
              <a:extLst>
                <a:ext uri="{FF2B5EF4-FFF2-40B4-BE49-F238E27FC236}">
                  <a16:creationId xmlns:a16="http://schemas.microsoft.com/office/drawing/2014/main" id="{766DC566-24F2-4AC9-AF55-DEB9FA47E3EF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785106">
              <a:extLst>
                <a:ext uri="{FF2B5EF4-FFF2-40B4-BE49-F238E27FC236}">
                  <a16:creationId xmlns:a16="http://schemas.microsoft.com/office/drawing/2014/main" id="{CC61E791-F2C6-4483-BA99-3B58CFEF3A15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895868">
              <a:extLst>
                <a:ext uri="{FF2B5EF4-FFF2-40B4-BE49-F238E27FC236}">
                  <a16:creationId xmlns:a16="http://schemas.microsoft.com/office/drawing/2014/main" id="{045ECCD3-C01C-4F83-87F6-C150A824A541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578410">
              <a:extLst>
                <a:ext uri="{FF2B5EF4-FFF2-40B4-BE49-F238E27FC236}">
                  <a16:creationId xmlns:a16="http://schemas.microsoft.com/office/drawing/2014/main" id="{78A877D8-AC8E-451F-9A10-A56BBE1C95C0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692436">
              <a:extLst>
                <a:ext uri="{FF2B5EF4-FFF2-40B4-BE49-F238E27FC236}">
                  <a16:creationId xmlns:a16="http://schemas.microsoft.com/office/drawing/2014/main" id="{19429D05-4CE7-4C7D-9FEA-7149C8506DC5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195101">
              <a:extLst>
                <a:ext uri="{FF2B5EF4-FFF2-40B4-BE49-F238E27FC236}">
                  <a16:creationId xmlns:a16="http://schemas.microsoft.com/office/drawing/2014/main" id="{5F61884D-0ADB-4233-96FA-CC58499B4C4F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224774">
              <a:extLst>
                <a:ext uri="{FF2B5EF4-FFF2-40B4-BE49-F238E27FC236}">
                  <a16:creationId xmlns:a16="http://schemas.microsoft.com/office/drawing/2014/main" id="{4EFB898A-A613-4959-A09C-E0452BEF1B1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695494">
              <a:extLst>
                <a:ext uri="{FF2B5EF4-FFF2-40B4-BE49-F238E27FC236}">
                  <a16:creationId xmlns:a16="http://schemas.microsoft.com/office/drawing/2014/main" id="{5886F61A-65BE-4790-A5D4-71282B941F1C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221770">
              <a:extLst>
                <a:ext uri="{FF2B5EF4-FFF2-40B4-BE49-F238E27FC236}">
                  <a16:creationId xmlns:a16="http://schemas.microsoft.com/office/drawing/2014/main" id="{D09BB446-85A1-4A61-93CE-7C1C916A64B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70AD9BA9-F4FF-4D3F-87D2-567D21D0F23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370687">
              <a:extLst>
                <a:ext uri="{FF2B5EF4-FFF2-40B4-BE49-F238E27FC236}">
                  <a16:creationId xmlns:a16="http://schemas.microsoft.com/office/drawing/2014/main" id="{AC14B74D-CD7B-44B3-B06D-CE7AFEAF6C49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948155">
              <a:extLst>
                <a:ext uri="{FF2B5EF4-FFF2-40B4-BE49-F238E27FC236}">
                  <a16:creationId xmlns:a16="http://schemas.microsoft.com/office/drawing/2014/main" id="{3199CA2B-9B03-4A4B-BA1C-A305B6559F4F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478430">
              <a:extLst>
                <a:ext uri="{FF2B5EF4-FFF2-40B4-BE49-F238E27FC236}">
                  <a16:creationId xmlns:a16="http://schemas.microsoft.com/office/drawing/2014/main" id="{83865DD3-9B4D-4ACB-9F8F-F61558317104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300419">
              <a:extLst>
                <a:ext uri="{FF2B5EF4-FFF2-40B4-BE49-F238E27FC236}">
                  <a16:creationId xmlns:a16="http://schemas.microsoft.com/office/drawing/2014/main" id="{467C5409-6581-4F2D-B7C2-05D70193B928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141874">
              <a:extLst>
                <a:ext uri="{FF2B5EF4-FFF2-40B4-BE49-F238E27FC236}">
                  <a16:creationId xmlns:a16="http://schemas.microsoft.com/office/drawing/2014/main" id="{4B959947-1C88-42E8-AD52-C12F2322CC93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907531">
              <a:extLst>
                <a:ext uri="{FF2B5EF4-FFF2-40B4-BE49-F238E27FC236}">
                  <a16:creationId xmlns:a16="http://schemas.microsoft.com/office/drawing/2014/main" id="{20DCBE1E-6AAD-4B7C-9957-63AE97546015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445813">
              <a:extLst>
                <a:ext uri="{FF2B5EF4-FFF2-40B4-BE49-F238E27FC236}">
                  <a16:creationId xmlns:a16="http://schemas.microsoft.com/office/drawing/2014/main" id="{073C527F-4C3B-4851-9489-B8C333D3B36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617251">
              <a:extLst>
                <a:ext uri="{FF2B5EF4-FFF2-40B4-BE49-F238E27FC236}">
                  <a16:creationId xmlns:a16="http://schemas.microsoft.com/office/drawing/2014/main" id="{C418ECC6-E6F1-4F51-A3F6-1D65AFDC571C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792553">
              <a:extLst>
                <a:ext uri="{FF2B5EF4-FFF2-40B4-BE49-F238E27FC236}">
                  <a16:creationId xmlns:a16="http://schemas.microsoft.com/office/drawing/2014/main" id="{17583526-2F19-4733-91BD-B6DB8E8EB7B0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239699">
              <a:extLst>
                <a:ext uri="{FF2B5EF4-FFF2-40B4-BE49-F238E27FC236}">
                  <a16:creationId xmlns:a16="http://schemas.microsoft.com/office/drawing/2014/main" id="{07278D0F-2CD3-4915-A673-FD5B250FFC67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113767">
              <a:extLst>
                <a:ext uri="{FF2B5EF4-FFF2-40B4-BE49-F238E27FC236}">
                  <a16:creationId xmlns:a16="http://schemas.microsoft.com/office/drawing/2014/main" id="{A4E0B3A1-6BD6-4082-A649-C3177337435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781169">
              <a:extLst>
                <a:ext uri="{FF2B5EF4-FFF2-40B4-BE49-F238E27FC236}">
                  <a16:creationId xmlns:a16="http://schemas.microsoft.com/office/drawing/2014/main" id="{B6F8184D-51F6-4E2F-8E21-1AD485493014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27711">
              <a:extLst>
                <a:ext uri="{FF2B5EF4-FFF2-40B4-BE49-F238E27FC236}">
                  <a16:creationId xmlns:a16="http://schemas.microsoft.com/office/drawing/2014/main" id="{DC695065-FE84-4C9C-B7F6-6418788870A1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258528">
              <a:extLst>
                <a:ext uri="{FF2B5EF4-FFF2-40B4-BE49-F238E27FC236}">
                  <a16:creationId xmlns:a16="http://schemas.microsoft.com/office/drawing/2014/main" id="{C6D1471C-8CBD-4B6E-A2CE-CB2C85F60043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320142">
              <a:extLst>
                <a:ext uri="{FF2B5EF4-FFF2-40B4-BE49-F238E27FC236}">
                  <a16:creationId xmlns:a16="http://schemas.microsoft.com/office/drawing/2014/main" id="{4142CC34-19BA-4469-8D99-8D3093B1FF2C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314570">
              <a:extLst>
                <a:ext uri="{FF2B5EF4-FFF2-40B4-BE49-F238E27FC236}">
                  <a16:creationId xmlns:a16="http://schemas.microsoft.com/office/drawing/2014/main" id="{1CF247EC-E3D8-4254-BE38-20676BBD371B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20740">
              <a:extLst>
                <a:ext uri="{FF2B5EF4-FFF2-40B4-BE49-F238E27FC236}">
                  <a16:creationId xmlns:a16="http://schemas.microsoft.com/office/drawing/2014/main" id="{F4923904-0168-4848-BBCE-FCFDD3911B0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47114">
              <a:extLst>
                <a:ext uri="{FF2B5EF4-FFF2-40B4-BE49-F238E27FC236}">
                  <a16:creationId xmlns:a16="http://schemas.microsoft.com/office/drawing/2014/main" id="{FAF7423C-0846-42BF-91D3-59D4A5E7F887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817455">
              <a:extLst>
                <a:ext uri="{FF2B5EF4-FFF2-40B4-BE49-F238E27FC236}">
                  <a16:creationId xmlns:a16="http://schemas.microsoft.com/office/drawing/2014/main" id="{98A3089B-0F3A-4EFE-BC80-C018555204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0199" y="1268413"/>
          <a:ext cx="11522075" cy="50478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871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559139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585651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113731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614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0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FY22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Babcock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777353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50" b="1" u="none" strike="noStrike">
                          <a:solidFill>
                            <a:srgbClr val="000000"/>
                          </a:solidFill>
                          <a:effectLst/>
                        </a:rPr>
                        <a:t>Direct Materials</a:t>
                      </a:r>
                      <a:endParaRPr lang="en-US" sz="8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~£355M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1-3%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~£5-10M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lower cost suppliers for non-critical components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resource planning and allocation to reduce services costs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89524"/>
                  </a:ext>
                </a:extLst>
              </a:tr>
              <a:tr h="92309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Direct Labor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~£890M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~£45-90M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Cross-train employees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scheduling &amp; employee designations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 policies requiring labor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Adjust movement/ flow of direct labor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Restructure where services are done and by whom (Talent mix: senior vs junior / shared services / outsourcing / offshoring)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Update role and shift design to improve flexibility, create operations playbook, cross-train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Drive more timely/accurate forecasts, set daily labor hour targets to improve productivity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Update wages to match market rates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590252"/>
                  </a:ext>
                </a:extLst>
              </a:tr>
              <a:tr h="55378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Manufacturing OH and Other Direct Costs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~£2,315M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~£115-230M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manufacturing network footprint design and production setup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 digital manufacturing capabilities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factory performance (e.g., HVPS, lean shopfloor processes, asset health &amp; total productive maintenance, total quality management)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make vs. buy to reduce complexity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43575"/>
                  </a:ext>
                </a:extLst>
              </a:tr>
              <a:tr h="16296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COGS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~£3,560M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5-9%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~£165-330M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05379"/>
                  </a:ext>
                </a:extLst>
              </a:tr>
              <a:tr h="35209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850" b="0"/>
                        <a:t>Selling &amp; Marketing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~£195M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>
                          <a:solidFill>
                            <a:schemeClr val="tx1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~£10-20M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through data driven insights on markets,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85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Evaluate all spend efficiency/ROI to inform reductions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17195"/>
                  </a:ext>
                </a:extLst>
              </a:tr>
              <a:tr h="62166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&amp; Administration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~£85M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10-20%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5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~£10-15M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Extend replacement cycles, tightly monitor discretionary spend (e.g., T&amp;E)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Conduct corporate maturity assessment to identify inefficiencies and/or process redesign opportunities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0896"/>
                  </a:ext>
                </a:extLst>
              </a:tr>
              <a:tr h="16296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~£280M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7-12%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~£20-35M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93424"/>
                  </a:ext>
                </a:extLst>
              </a:tr>
              <a:tr h="175009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850" b="1">
                          <a:solidFill>
                            <a:schemeClr val="accent3"/>
                          </a:solidFill>
                        </a:rPr>
                        <a:t>Total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kern="1200">
                          <a:solidFill>
                            <a:srgbClr val="CC0000"/>
                          </a:solidFill>
                          <a:latin typeface="+mn-lt"/>
                          <a:ea typeface="+mn-ea"/>
                          <a:cs typeface="+mn-cs"/>
                        </a:rPr>
                        <a:t>~£3,840M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chemeClr val="accent3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850" b="1">
                          <a:solidFill>
                            <a:schemeClr val="accent3"/>
                          </a:solidFill>
                        </a:rPr>
                        <a:t>~£185-365M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50" b="1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/>
          <a:lstStyle/>
          <a:p>
            <a:pPr marL="0" marR="0" lvl="0" indent="0" defTabSz="711200" rtl="0" eaLnBrk="1" fontAlgn="b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Bain experience against a typical cost structure for an A&amp;D player suggests ~</a:t>
            </a:r>
            <a:r>
              <a:rPr lang="en-US" sz="2400">
                <a:solidFill>
                  <a:schemeClr val="tx1"/>
                </a:solidFill>
              </a:rPr>
              <a:t>£185M+</a:t>
            </a:r>
            <a:r>
              <a:rPr lang="en-US"/>
              <a:t> of cost savings opportunity within Babcock’s P&amp;L</a:t>
            </a:r>
            <a:endParaRPr lang="en-US" sz="24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89" name="btfpStatusSticker253844">
            <a:extLst>
              <a:ext uri="{FF2B5EF4-FFF2-40B4-BE49-F238E27FC236}">
                <a16:creationId xmlns:a16="http://schemas.microsoft.com/office/drawing/2014/main" id="{45164639-27C6-44E3-8DA3-A58F89122F2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003470" y="879340"/>
            <a:ext cx="1858330" cy="235611"/>
            <a:chOff x="-2436373" y="876300"/>
            <a:chExt cx="1858330" cy="235611"/>
          </a:xfrm>
        </p:grpSpPr>
        <p:sp>
          <p:nvSpPr>
            <p:cNvPr id="90" name="btfpStatusStickerText253844">
              <a:extLst>
                <a:ext uri="{FF2B5EF4-FFF2-40B4-BE49-F238E27FC236}">
                  <a16:creationId xmlns:a16="http://schemas.microsoft.com/office/drawing/2014/main" id="{14487CC9-0010-44DC-B175-475B7619EE96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91" name="btfpStatusStickerLine253844">
              <a:extLst>
                <a:ext uri="{FF2B5EF4-FFF2-40B4-BE49-F238E27FC236}">
                  <a16:creationId xmlns:a16="http://schemas.microsoft.com/office/drawing/2014/main" id="{4AE77C85-8DA0-4455-83D5-CAE3340F252B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btfpNotesBox333743">
            <a:extLst>
              <a:ext uri="{FF2B5EF4-FFF2-40B4-BE49-F238E27FC236}">
                <a16:creationId xmlns:a16="http://schemas.microsoft.com/office/drawing/2014/main" id="{9761A8C8-D659-4B0B-923D-64670A717B9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199" y="6442791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annual reports; Quarterly earnings presentation; Capital IQ; Bain analysis</a:t>
            </a:r>
          </a:p>
        </p:txBody>
      </p:sp>
      <p:grpSp>
        <p:nvGrpSpPr>
          <p:cNvPr id="60" name="btfpRunningAgenda1Level650523">
            <a:extLst>
              <a:ext uri="{FF2B5EF4-FFF2-40B4-BE49-F238E27FC236}">
                <a16:creationId xmlns:a16="http://schemas.microsoft.com/office/drawing/2014/main" id="{A020A5FA-0C9B-4CFA-AB36-D7251A80783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61" name="btfpRunningAgenda1LevelBarLeft650523">
              <a:extLst>
                <a:ext uri="{FF2B5EF4-FFF2-40B4-BE49-F238E27FC236}">
                  <a16:creationId xmlns:a16="http://schemas.microsoft.com/office/drawing/2014/main" id="{0C8A9529-1348-45A7-A966-271FF84BA116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RunningAgenda1LevelTextLeft650523">
              <a:extLst>
                <a:ext uri="{FF2B5EF4-FFF2-40B4-BE49-F238E27FC236}">
                  <a16:creationId xmlns:a16="http://schemas.microsoft.com/office/drawing/2014/main" id="{B6B5C8E7-4821-4FD3-B488-90A09B35DC09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6" name="CommentBox">
            <a:extLst>
              <a:ext uri="{FF2B5EF4-FFF2-40B4-BE49-F238E27FC236}">
                <a16:creationId xmlns:a16="http://schemas.microsoft.com/office/drawing/2014/main" id="{7449CEA4-5A38-8B72-2770-5F1DC7B18EB0}"/>
              </a:ext>
            </a:extLst>
          </p:cNvPr>
          <p:cNvSpPr/>
          <p:nvPr/>
        </p:nvSpPr>
        <p:spPr bwMode="gray">
          <a:xfrm>
            <a:off x="4520230" y="866806"/>
            <a:ext cx="3513882" cy="431732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000" i="1">
                <a:solidFill>
                  <a:srgbClr val="000000"/>
                </a:solidFill>
                <a:latin typeface="Arial" panose="020B0604020202020204" pitchFamily="34" charset="0"/>
              </a:rPr>
              <a:t>Saving ranges and levers need to be validated by the account team</a:t>
            </a:r>
            <a:endParaRPr lang="en-US" sz="1000" b="1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B2744F-C89E-07D3-FF32-D4B0EF46426E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6217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3281675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91807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03510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84" imgH="486" progId="TCLayout.ActiveDocument.1">
                  <p:embed/>
                </p:oleObj>
              </mc:Choice>
              <mc:Fallback>
                <p:oleObj name="think-cell Slide" r:id="rId31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Bain experience within the </a:t>
            </a:r>
            <a:r>
              <a:rPr lang="en-US" err="1"/>
              <a:t>Agro</a:t>
            </a:r>
            <a:r>
              <a:rPr lang="en-US"/>
              <a:t>-Fertilizers and Chemicals industry, applied against Yara’s cost baseline, suggests cost savings of up to ~$700M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D763C27-C4E0-27B4-CD7D-3B7184471CB1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82182784"/>
              </p:ext>
            </p:extLst>
          </p:nvPr>
        </p:nvGraphicFramePr>
        <p:xfrm>
          <a:off x="542925" y="1711325"/>
          <a:ext cx="3667125" cy="459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69900" y="614838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0050" y="526256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43767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3489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26035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75C60908-01BB-287C-BFE2-DA3ED9209129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28675" y="4467225"/>
            <a:ext cx="75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 dirty="0">
                <a:solidFill>
                  <a:srgbClr val="FFFFFF"/>
                </a:solidFill>
              </a:rPr>
              <a:t>Direct </a:t>
            </a:r>
            <a:br>
              <a:rPr lang="en-US" altLang="en-US" sz="1000" dirty="0">
                <a:solidFill>
                  <a:srgbClr val="FFFFFF"/>
                </a:solidFill>
              </a:rPr>
            </a:br>
            <a:r>
              <a:rPr lang="en-US" altLang="en-US" sz="1000" dirty="0">
                <a:solidFill>
                  <a:srgbClr val="FFFFFF"/>
                </a:solidFill>
              </a:rPr>
              <a:t>Procurement</a:t>
            </a:r>
            <a:br>
              <a:rPr lang="en-US" altLang="en-US" sz="1000" dirty="0">
                <a:solidFill>
                  <a:srgbClr val="FFFFFF"/>
                </a:solidFill>
              </a:rPr>
            </a:br>
            <a:r>
              <a:rPr lang="en-US" altLang="en-US" sz="1000" dirty="0">
                <a:solidFill>
                  <a:srgbClr val="FFFFFF"/>
                </a:solidFill>
              </a:rPr>
              <a:t>(69%)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2" name="Text Placeholder">
            <a:extLst>
              <a:ext uri="{FF2B5EF4-FFF2-40B4-BE49-F238E27FC236}">
                <a16:creationId xmlns:a16="http://schemas.microsoft.com/office/drawing/2014/main" id="{4AC7FE19-49DF-6A41-A4C8-902A4F87C989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695326" y="2482850"/>
            <a:ext cx="10255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</a:rPr>
              <a:t>Mfg. </a:t>
            </a:r>
            <a:br>
              <a:rPr lang="en-US" altLang="en-US" sz="1000">
                <a:solidFill>
                  <a:srgbClr val="000000"/>
                </a:solidFill>
              </a:rPr>
            </a:br>
            <a:r>
              <a:rPr lang="en-US" altLang="en-US" sz="1000">
                <a:solidFill>
                  <a:srgbClr val="000000"/>
                </a:solidFill>
              </a:rPr>
              <a:t>Overheads (24%)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12B6A7AE-3B5B-60F5-8B50-631D6CEBF2D1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793750" y="1871663"/>
            <a:ext cx="8302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6C31667-44B6-4ECA-8D7E-5E3C604D0EB3}" type="datetime'''''L''''''o''''gist''''''ics'''''''''''''''''''' ''(7%)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Logistics (7%)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6" name="Text Placeholder">
            <a:extLst>
              <a:ext uri="{FF2B5EF4-FFF2-40B4-BE49-F238E27FC236}">
                <a16:creationId xmlns:a16="http://schemas.microsoft.com/office/drawing/2014/main" id="{EC02AF72-AD46-3477-B3F9-D0DD0341060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16000" y="6267450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3AA323-CE1E-48B2-B15A-02B935A3F00B}" type="datetime'''C''''''''''''''''OG''''''''''''''''''''''''S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494EC851-B067-AB1E-FFD4-CEEEEB4456A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2032000" y="2314575"/>
            <a:ext cx="688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1C14DF52-9965-4D96-9EDF-1FEEC16D7A73}" type="datetime'''SG''''''''''&amp;A'''''''' ''(''''''''''''''7''''%'')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3" name="Text Placeholder">
            <a:extLst>
              <a:ext uri="{FF2B5EF4-FFF2-40B4-BE49-F238E27FC236}">
                <a16:creationId xmlns:a16="http://schemas.microsoft.com/office/drawing/2014/main" id="{6C0D454C-AD04-EC1D-D8CD-D3535B762C4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1985963" y="4308475"/>
            <a:ext cx="781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4B570A0-B1E9-4540-8CBB-46352008CE06}" type="datetime'''''''CO''''''G''''S (8''''3''''''''''''%)''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(83%)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4" name="Text Placeholder">
            <a:extLst>
              <a:ext uri="{FF2B5EF4-FFF2-40B4-BE49-F238E27FC236}">
                <a16:creationId xmlns:a16="http://schemas.microsoft.com/office/drawing/2014/main" id="{47D78167-7162-D29C-73D8-1B3F2C8A8F3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944687" y="1938338"/>
            <a:ext cx="8651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EBITDA (10%)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1960563" y="626745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69" name="Text Placeholder">
            <a:extLst>
              <a:ext uri="{FF2B5EF4-FFF2-40B4-BE49-F238E27FC236}">
                <a16:creationId xmlns:a16="http://schemas.microsoft.com/office/drawing/2014/main" id="{51F73CEC-36ED-84D7-E48C-4569C1F9445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205163" y="2071688"/>
            <a:ext cx="6762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8244035-2209-4403-A627-06D8B37381F7}" type="datetime'''''R''''''''&amp;''''D ''''''''''(''1''0%'''''''''''')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R&amp;D (10%)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5" name="Text Placeholder">
            <a:extLst>
              <a:ext uri="{FF2B5EF4-FFF2-40B4-BE49-F238E27FC236}">
                <a16:creationId xmlns:a16="http://schemas.microsoft.com/office/drawing/2014/main" id="{6759AE4A-0411-0D5C-3705-235185B544C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3030538" y="4221163"/>
            <a:ext cx="10255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74B26B7-ADB6-4FE6-9E0D-3CE72A86A096}" type="datetime'''''''O''''''t''he''''''r'''' ''G&amp;A ''''(''''87''''%''''''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Other G&amp;A (87%)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6" name="Text Placeholder">
            <a:extLst>
              <a:ext uri="{FF2B5EF4-FFF2-40B4-BE49-F238E27FC236}">
                <a16:creationId xmlns:a16="http://schemas.microsoft.com/office/drawing/2014/main" id="{FB0C5226-3A1B-6E68-3B33-2CCE0E5BC97D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062288" y="1784350"/>
            <a:ext cx="9636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6C4C2F5-AF1C-4420-B2BC-84C4E26EA626}" type="datetime'''Ad''vert''i''si''''ng'' ''(''''''3''%)''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Advertising (3%)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362325" y="626745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67266" y="1467183"/>
            <a:ext cx="3257034" cy="2212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 err="1">
                <a:solidFill>
                  <a:srgbClr val="C00000"/>
                </a:solidFill>
              </a:rPr>
              <a:t>yara</a:t>
            </a:r>
            <a:r>
              <a:rPr lang="en-US" sz="900" b="1" cap="all">
                <a:solidFill>
                  <a:srgbClr val="C00000"/>
                </a:solidFill>
              </a:rPr>
              <a:t> </a:t>
            </a:r>
            <a:r>
              <a:rPr lang="en-US" sz="900" b="1" cap="all"/>
              <a:t>Actuals</a:t>
            </a:r>
          </a:p>
        </p:txBody>
      </p:sp>
      <p:sp>
        <p:nvSpPr>
          <p:cNvPr id="25" name="CommentBox">
            <a:extLst>
              <a:ext uri="{FF2B5EF4-FFF2-40B4-BE49-F238E27FC236}">
                <a16:creationId xmlns:a16="http://schemas.microsoft.com/office/drawing/2014/main" id="{DE25F65B-9C81-43E5-A183-665545949069}"/>
              </a:ext>
            </a:extLst>
          </p:cNvPr>
          <p:cNvSpPr/>
          <p:nvPr/>
        </p:nvSpPr>
        <p:spPr bwMode="gray">
          <a:xfrm>
            <a:off x="1913635" y="922869"/>
            <a:ext cx="2079056" cy="440425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Savings levers and percentages sourced from previous Yara OI (#545)</a:t>
            </a:r>
          </a:p>
        </p:txBody>
      </p:sp>
      <p:sp>
        <p:nvSpPr>
          <p:cNvPr id="194" name="BainTable47798HeaderBox1">
            <a:extLst>
              <a:ext uri="{FF2B5EF4-FFF2-40B4-BE49-F238E27FC236}">
                <a16:creationId xmlns:a16="http://schemas.microsoft.com/office/drawing/2014/main" id="{7D5C70F8-6BD1-B660-C4C3-0CCBF20BE0B8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450863" y="1099470"/>
            <a:ext cx="1128352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95" name="BainTable47798HeaderBox3">
            <a:extLst>
              <a:ext uri="{FF2B5EF4-FFF2-40B4-BE49-F238E27FC236}">
                <a16:creationId xmlns:a16="http://schemas.microsoft.com/office/drawing/2014/main" id="{EE0F93AD-705D-5E5B-75EB-22DF1979371B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6499862" y="1237971"/>
            <a:ext cx="5310779" cy="220028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96" name="BainTable47798HeaderBox1">
            <a:extLst>
              <a:ext uri="{FF2B5EF4-FFF2-40B4-BE49-F238E27FC236}">
                <a16:creationId xmlns:a16="http://schemas.microsoft.com/office/drawing/2014/main" id="{CDAA1900-17E1-DB1F-CC1B-11BD39D82061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5579215" y="1099470"/>
            <a:ext cx="920647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YARA’S </a:t>
            </a:r>
            <a:r>
              <a:rPr lang="en-US" sz="900" b="1" cap="all"/>
              <a:t>hypothesis</a:t>
            </a:r>
          </a:p>
        </p:txBody>
      </p:sp>
      <p:graphicFrame>
        <p:nvGraphicFramePr>
          <p:cNvPr id="197" name="BainTable47798">
            <a:extLst>
              <a:ext uri="{FF2B5EF4-FFF2-40B4-BE49-F238E27FC236}">
                <a16:creationId xmlns:a16="http://schemas.microsoft.com/office/drawing/2014/main" id="{D6B1A85B-D6B8-109B-E47E-5EA201E29854}"/>
              </a:ext>
            </a:extLst>
          </p:cNvPr>
          <p:cNvGraphicFramePr>
            <a:graphicFrameLocks noGrp="1"/>
          </p:cNvGraphicFramePr>
          <p:nvPr>
            <p:custDataLst>
              <p:tags r:id="rId28"/>
            </p:custDataLst>
          </p:nvPr>
        </p:nvGraphicFramePr>
        <p:xfrm>
          <a:off x="4438750" y="1394221"/>
          <a:ext cx="7423050" cy="51625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5637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215051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755593">
                  <a:extLst>
                    <a:ext uri="{9D8B030D-6E8A-4147-A177-3AD203B41FA5}">
                      <a16:colId xmlns:a16="http://schemas.microsoft.com/office/drawing/2014/main" val="3265954770"/>
                    </a:ext>
                  </a:extLst>
                </a:gridCol>
                <a:gridCol w="5306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277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Freight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 marL="84244" marR="8775" marT="42122" marB="42122"/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Network optimization (Number, location of plants, and production</a:t>
                      </a:r>
                      <a:r>
                        <a:rPr lang="en-US" sz="900" baseline="0"/>
                        <a:t> </a:t>
                      </a:r>
                      <a:r>
                        <a:rPr lang="en-US" sz="900"/>
                        <a:t>segmentation strategy)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/>
                        <a:t>Increase operational efficiency in Distribution center's (DC)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/>
                        <a:t>Outsource vs. managed transportation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Load consolidation and optimization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26053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3-5%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       ~$25-40M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210277">
                <a:tc gridSpan="3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Direct Procurement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Collaborate with suppliers to optimize sourcing costs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suppliers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Pool inventory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Char char="•"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Harmonize inputs (incl. packaging)</a:t>
                      </a:r>
                    </a:p>
                    <a:p>
                      <a:pPr marL="177800" lvl="0" indent="-177800" algn="l" defTabSz="711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har char="•"/>
                      </a:pPr>
                      <a:r>
                        <a:rPr lang="en-US" sz="9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Lower cost country sourcing strategy 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390801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1-3%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~$70-115M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~$80-235M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615552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Manufacturing Overheads</a:t>
                      </a:r>
                    </a:p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5-10% </a:t>
                      </a: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~$135-270M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SzPct val="100000"/>
                      </a:pPr>
                      <a:r>
                        <a:rPr lang="en-US" sz="900"/>
                        <a:t>In-plant improvement</a:t>
                      </a:r>
                      <a:r>
                        <a:rPr lang="en-US" sz="900" baseline="0"/>
                        <a:t>: e</a:t>
                      </a:r>
                      <a:r>
                        <a:rPr lang="en-US" sz="900"/>
                        <a:t>nergy efficiency, repair &amp; maintenance, OEE</a:t>
                      </a:r>
                    </a:p>
                    <a:p>
                      <a:pPr marL="177800" lvl="0" indent="-177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Network optimization (Number, location of plants, and production</a:t>
                      </a:r>
                      <a:r>
                        <a:rPr lang="en-US" sz="900" baseline="0"/>
                        <a:t> </a:t>
                      </a:r>
                      <a:r>
                        <a:rPr lang="en-US" sz="900"/>
                        <a:t>segmentation strategy)</a:t>
                      </a:r>
                    </a:p>
                    <a:p>
                      <a:pPr marL="177800" lvl="0" indent="-177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Product</a:t>
                      </a:r>
                      <a:r>
                        <a:rPr lang="en-US" sz="900" baseline="0"/>
                        <a:t> complexity reduction (portfolio optimization)</a:t>
                      </a:r>
                      <a:endParaRPr lang="en-US" sz="900"/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/>
                        <a:t>Manufacturing modernization (i.e., advantaged assets,</a:t>
                      </a:r>
                      <a:r>
                        <a:rPr lang="en-US" sz="900" baseline="0"/>
                        <a:t> </a:t>
                      </a:r>
                      <a:r>
                        <a:rPr lang="en-US" sz="900"/>
                        <a:t>processes of the future)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582623"/>
                  </a:ext>
                </a:extLst>
              </a:tr>
              <a:tr h="210277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Total 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~$90-155M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~$240-545M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210277">
                <a:tc gridSpan="3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Advertising</a:t>
                      </a:r>
                    </a:p>
                  </a:txBody>
                  <a:tcPr marL="84244" marR="8775" marT="42122" marB="42122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 and Apply test and learn and digital marketing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0" u="non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 to lower-price/lower-tier</a:t>
                      </a:r>
                      <a:r>
                        <a:rPr lang="en-US" sz="9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agencies for less complex work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465250"/>
                  </a:ext>
                </a:extLst>
              </a:tr>
              <a:tr h="52106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      ~$2-5M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169257"/>
                  </a:ext>
                </a:extLst>
              </a:tr>
              <a:tr h="210277">
                <a:tc gridSpan="3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 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Extend replacement cycles, tightly monitor discretionary spend (e.g., T&amp;E)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Conduct corporate maturity assessment to identify inefficiencies and/or process redesign opportunities</a:t>
                      </a:r>
                    </a:p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prices or new contracts leveraging RFQs, electronic/reverse auctions, terms tradeoffs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65133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     ~$95-140M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81752">
                <a:tc gridSpan="3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023542"/>
                  </a:ext>
                </a:extLst>
              </a:tr>
              <a:tr h="31932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    ~$5-10M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995619"/>
                  </a:ext>
                </a:extLst>
              </a:tr>
              <a:tr h="34054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    ~$100-155M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1027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     ~$340-700M</a:t>
                      </a:r>
                      <a:endParaRPr lang="en-US" sz="900" b="1" dirty="0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10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B2B14EEE-E6DD-0598-AB33-9091395D60CE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6768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84" imgH="486" progId="TCLayout.ActiveDocument.1">
                  <p:embed/>
                </p:oleObj>
              </mc:Choice>
              <mc:Fallback>
                <p:oleObj name="think-cell Slide" r:id="rId23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an O&amp;G Refiner, we see these as potential savings levers for Marathon Petroleum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5720F7B-8D92-57BD-E5D9-3DAF8A9F6F7E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42925" y="1778000"/>
          <a:ext cx="3221038" cy="45513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69900" y="6170613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0050" y="52927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44164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35385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26622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784350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1336675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494EC851-B067-AB1E-FFD4-CEEEEB4456A6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808163" y="2287588"/>
            <a:ext cx="688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6765FBB-D570-49C9-A665-41B9F0DA16AF}" type="datetime'''''''''SG''''&amp;''''''''''''A'''' (3''''''''''''%'''''')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3" name="Text Placeholder">
            <a:extLst>
              <a:ext uri="{FF2B5EF4-FFF2-40B4-BE49-F238E27FC236}">
                <a16:creationId xmlns:a16="http://schemas.microsoft.com/office/drawing/2014/main" id="{6C0D454C-AD04-EC1D-D8CD-D3535B762C44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822450" y="4262438"/>
            <a:ext cx="6619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A900B65-9B18-4858-935C-79FE670C1165}" type="datetime'''C''o''R'''''''' ''''''''''''(''8''''''''7''''%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CoR (87%)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4" name="Text Placeholder">
            <a:extLst>
              <a:ext uri="{FF2B5EF4-FFF2-40B4-BE49-F238E27FC236}">
                <a16:creationId xmlns:a16="http://schemas.microsoft.com/office/drawing/2014/main" id="{47D78167-7162-D29C-73D8-1B3F2C8A8F3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763714" y="2003425"/>
            <a:ext cx="7794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</a:rPr>
              <a:t>EBITDA 10%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736725" y="6289675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15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16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17"/>
            </p:custDataLst>
          </p:nvPr>
        </p:nvSpPr>
        <p:spPr>
          <a:xfrm>
            <a:off x="4450863" y="981194"/>
            <a:ext cx="1559412" cy="359703"/>
          </a:xfrm>
          <a:prstGeom prst="rect">
            <a:avLst/>
          </a:prstGeom>
          <a:blipFill dpi="0" rotWithShape="1">
            <a:blip r:embed="rId2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</a:t>
            </a:r>
            <a:br>
              <a:rPr lang="en-US" sz="900" b="1" cap="all"/>
            </a:br>
            <a:r>
              <a:rPr lang="en-US" sz="900" b="1" cap="all"/>
              <a:t>savings levers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18"/>
            </p:custDataLst>
          </p:nvPr>
        </p:nvSpPr>
        <p:spPr>
          <a:xfrm>
            <a:off x="6499862" y="1119695"/>
            <a:ext cx="5310779" cy="220028"/>
          </a:xfrm>
          <a:prstGeom prst="rect">
            <a:avLst/>
          </a:prstGeom>
          <a:blipFill dpi="0" rotWithShape="1">
            <a:blip r:embed="rId2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247714" y="1495647"/>
            <a:ext cx="1869621" cy="359703"/>
          </a:xfrm>
          <a:prstGeom prst="rect">
            <a:avLst/>
          </a:prstGeom>
          <a:blipFill dpi="0" rotWithShape="1">
            <a:blip r:embed="rId2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Marathon Petroleum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21" name="BainTable47798">
            <a:extLst>
              <a:ext uri="{FF2B5EF4-FFF2-40B4-BE49-F238E27FC236}">
                <a16:creationId xmlns:a16="http://schemas.microsoft.com/office/drawing/2014/main" id="{5892A50C-6336-4A55-9CC4-AA677276987D}"/>
              </a:ext>
            </a:extLst>
          </p:cNvPr>
          <p:cNvGraphicFramePr>
            <a:graphicFrameLocks noGrp="1"/>
          </p:cNvGraphicFramePr>
          <p:nvPr>
            <p:custDataLst>
              <p:tags r:id="rId20"/>
            </p:custDataLst>
          </p:nvPr>
        </p:nvGraphicFramePr>
        <p:xfrm>
          <a:off x="4462814" y="1320485"/>
          <a:ext cx="7398987" cy="51889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0565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249050">
                  <a:extLst>
                    <a:ext uri="{9D8B030D-6E8A-4147-A177-3AD203B41FA5}">
                      <a16:colId xmlns:a16="http://schemas.microsoft.com/office/drawing/2014/main" val="270810311"/>
                    </a:ext>
                  </a:extLst>
                </a:gridCol>
                <a:gridCol w="5869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044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</a:rPr>
                        <a:t>Cost of Revenues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Feedstock sourcing strategy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Update S&amp;OP/ product slate optimization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Leverage Generative AI for operations and logistics planning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 and wholesale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internal operational and financial KPIs, conducting internal and external benchmarking and assessing overall performance/ trends, visit plants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743848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231044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Ensure maintenance and turnaround excellence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Improve capital project execution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Leverage Generative AI for investment optimization and project selection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Continuously improve operating model grounded in continuous improvement and lean principles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Exercise operating discipline and operational excellence management system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Enhance productivity through re-design / automation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100"/>
                        <a:t>Simplify functional processes and redesign to better serve key customers (internal and external)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1014436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/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</a:tbl>
          </a:graphicData>
        </a:graphic>
      </p:graphicFrame>
      <p:sp>
        <p:nvSpPr>
          <p:cNvPr id="5" name="CommentBox">
            <a:extLst>
              <a:ext uri="{FF2B5EF4-FFF2-40B4-BE49-F238E27FC236}">
                <a16:creationId xmlns:a16="http://schemas.microsoft.com/office/drawing/2014/main" id="{2083FABE-D50E-BA31-084D-B7FE0CF25140}"/>
              </a:ext>
            </a:extLst>
          </p:cNvPr>
          <p:cNvSpPr/>
          <p:nvPr/>
        </p:nvSpPr>
        <p:spPr bwMode="gray">
          <a:xfrm>
            <a:off x="539750" y="926232"/>
            <a:ext cx="3795249" cy="407268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/>
                <a:cs typeface="Arial"/>
              </a:rPr>
              <a:t>Internal Note: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Developed this lever slide using data from the O&amp;G Refining section of this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  <a:hlinkClick r:id="rId27"/>
              </a:rPr>
              <a:t>deck from Iris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(slides 68-78)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7E60A0-B9FA-79D4-3BD1-E75C5C8F2F06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8871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3802376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72634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1AA048C8-ABFD-4B96-A84F-E3D24EF0E73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368051">
              <a:extLst>
                <a:ext uri="{FF2B5EF4-FFF2-40B4-BE49-F238E27FC236}">
                  <a16:creationId xmlns:a16="http://schemas.microsoft.com/office/drawing/2014/main" id="{48D0CDCE-242C-4988-985B-FF03E72067A2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476867">
              <a:extLst>
                <a:ext uri="{FF2B5EF4-FFF2-40B4-BE49-F238E27FC236}">
                  <a16:creationId xmlns:a16="http://schemas.microsoft.com/office/drawing/2014/main" id="{C587101F-D69C-4331-8519-B2F2502BADFD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602660">
              <a:extLst>
                <a:ext uri="{FF2B5EF4-FFF2-40B4-BE49-F238E27FC236}">
                  <a16:creationId xmlns:a16="http://schemas.microsoft.com/office/drawing/2014/main" id="{2C6E4760-5B28-417D-8115-0B0BDCECF138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906883">
              <a:extLst>
                <a:ext uri="{FF2B5EF4-FFF2-40B4-BE49-F238E27FC236}">
                  <a16:creationId xmlns:a16="http://schemas.microsoft.com/office/drawing/2014/main" id="{A84AD74D-3048-424F-90DA-64BE1900B247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231762">
              <a:extLst>
                <a:ext uri="{FF2B5EF4-FFF2-40B4-BE49-F238E27FC236}">
                  <a16:creationId xmlns:a16="http://schemas.microsoft.com/office/drawing/2014/main" id="{D3E36386-374B-451A-A94E-C3A3230B33CC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694129">
              <a:extLst>
                <a:ext uri="{FF2B5EF4-FFF2-40B4-BE49-F238E27FC236}">
                  <a16:creationId xmlns:a16="http://schemas.microsoft.com/office/drawing/2014/main" id="{F8B5FDF0-D568-4522-ABA1-735928F18BE5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912659">
              <a:extLst>
                <a:ext uri="{FF2B5EF4-FFF2-40B4-BE49-F238E27FC236}">
                  <a16:creationId xmlns:a16="http://schemas.microsoft.com/office/drawing/2014/main" id="{BED5209F-A721-4929-BF66-45CCA812A66B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678989">
              <a:extLst>
                <a:ext uri="{FF2B5EF4-FFF2-40B4-BE49-F238E27FC236}">
                  <a16:creationId xmlns:a16="http://schemas.microsoft.com/office/drawing/2014/main" id="{0B172C8A-5429-44DB-803C-A3450040258C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229874">
              <a:extLst>
                <a:ext uri="{FF2B5EF4-FFF2-40B4-BE49-F238E27FC236}">
                  <a16:creationId xmlns:a16="http://schemas.microsoft.com/office/drawing/2014/main" id="{0B5AA5F3-1019-4574-8AEE-A4B2023953DB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479882">
              <a:extLst>
                <a:ext uri="{FF2B5EF4-FFF2-40B4-BE49-F238E27FC236}">
                  <a16:creationId xmlns:a16="http://schemas.microsoft.com/office/drawing/2014/main" id="{1F9C689A-B260-458B-8520-C7DB47B48109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121822">
              <a:extLst>
                <a:ext uri="{FF2B5EF4-FFF2-40B4-BE49-F238E27FC236}">
                  <a16:creationId xmlns:a16="http://schemas.microsoft.com/office/drawing/2014/main" id="{A971DD3C-AA6A-4323-AFFE-479C87BAE6AC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470158">
              <a:extLst>
                <a:ext uri="{FF2B5EF4-FFF2-40B4-BE49-F238E27FC236}">
                  <a16:creationId xmlns:a16="http://schemas.microsoft.com/office/drawing/2014/main" id="{77439AB3-788E-4AC2-AFBC-35187F38D0BE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440364">
              <a:extLst>
                <a:ext uri="{FF2B5EF4-FFF2-40B4-BE49-F238E27FC236}">
                  <a16:creationId xmlns:a16="http://schemas.microsoft.com/office/drawing/2014/main" id="{2442A2BC-139C-455C-85FF-5B457F1B2C1A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723862">
              <a:extLst>
                <a:ext uri="{FF2B5EF4-FFF2-40B4-BE49-F238E27FC236}">
                  <a16:creationId xmlns:a16="http://schemas.microsoft.com/office/drawing/2014/main" id="{E0BE02CB-C248-4AA4-AC96-29422F4D0CE5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757989">
              <a:extLst>
                <a:ext uri="{FF2B5EF4-FFF2-40B4-BE49-F238E27FC236}">
                  <a16:creationId xmlns:a16="http://schemas.microsoft.com/office/drawing/2014/main" id="{E7A45BB3-FCE6-4407-B994-2DCCC7BD2818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742201">
              <a:extLst>
                <a:ext uri="{FF2B5EF4-FFF2-40B4-BE49-F238E27FC236}">
                  <a16:creationId xmlns:a16="http://schemas.microsoft.com/office/drawing/2014/main" id="{D3EB00A3-D2AC-4F14-9DF6-7560873C28D4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351915">
              <a:extLst>
                <a:ext uri="{FF2B5EF4-FFF2-40B4-BE49-F238E27FC236}">
                  <a16:creationId xmlns:a16="http://schemas.microsoft.com/office/drawing/2014/main" id="{79881BD9-064F-4236-905A-B9C30B5DC10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630061">
              <a:extLst>
                <a:ext uri="{FF2B5EF4-FFF2-40B4-BE49-F238E27FC236}">
                  <a16:creationId xmlns:a16="http://schemas.microsoft.com/office/drawing/2014/main" id="{C6F993E3-7A77-402C-8855-974F4BF89786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279885">
              <a:extLst>
                <a:ext uri="{FF2B5EF4-FFF2-40B4-BE49-F238E27FC236}">
                  <a16:creationId xmlns:a16="http://schemas.microsoft.com/office/drawing/2014/main" id="{C2EAC65C-2AB6-4AE7-8EA5-62916B28B45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B2B5CC48-631E-4030-A183-669D68B892C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254487">
              <a:extLst>
                <a:ext uri="{FF2B5EF4-FFF2-40B4-BE49-F238E27FC236}">
                  <a16:creationId xmlns:a16="http://schemas.microsoft.com/office/drawing/2014/main" id="{3C82D061-4251-4515-BE07-7F091B906889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742233">
              <a:extLst>
                <a:ext uri="{FF2B5EF4-FFF2-40B4-BE49-F238E27FC236}">
                  <a16:creationId xmlns:a16="http://schemas.microsoft.com/office/drawing/2014/main" id="{5ED65C2A-0E2C-4D99-B6C7-541267F7518B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825049">
              <a:extLst>
                <a:ext uri="{FF2B5EF4-FFF2-40B4-BE49-F238E27FC236}">
                  <a16:creationId xmlns:a16="http://schemas.microsoft.com/office/drawing/2014/main" id="{0D523D68-0F8A-4343-959A-ACEF59C02963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872100">
              <a:extLst>
                <a:ext uri="{FF2B5EF4-FFF2-40B4-BE49-F238E27FC236}">
                  <a16:creationId xmlns:a16="http://schemas.microsoft.com/office/drawing/2014/main" id="{748ABE85-B17C-4B2E-A1E9-889262B21440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747009">
              <a:extLst>
                <a:ext uri="{FF2B5EF4-FFF2-40B4-BE49-F238E27FC236}">
                  <a16:creationId xmlns:a16="http://schemas.microsoft.com/office/drawing/2014/main" id="{CFEDDC2F-0103-4421-8AD1-74668EB6DBF0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197149">
              <a:extLst>
                <a:ext uri="{FF2B5EF4-FFF2-40B4-BE49-F238E27FC236}">
                  <a16:creationId xmlns:a16="http://schemas.microsoft.com/office/drawing/2014/main" id="{B49100E1-1258-4CAC-95A3-B648130FFCD7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254231">
              <a:extLst>
                <a:ext uri="{FF2B5EF4-FFF2-40B4-BE49-F238E27FC236}">
                  <a16:creationId xmlns:a16="http://schemas.microsoft.com/office/drawing/2014/main" id="{56642C1E-6773-4093-AE63-132DE0F78A88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987447">
              <a:extLst>
                <a:ext uri="{FF2B5EF4-FFF2-40B4-BE49-F238E27FC236}">
                  <a16:creationId xmlns:a16="http://schemas.microsoft.com/office/drawing/2014/main" id="{D1E7BDA4-2098-4B37-A22C-2659E7D9B9FF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770288">
              <a:extLst>
                <a:ext uri="{FF2B5EF4-FFF2-40B4-BE49-F238E27FC236}">
                  <a16:creationId xmlns:a16="http://schemas.microsoft.com/office/drawing/2014/main" id="{A62AF997-A01C-4485-BCED-47253E38B434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101154">
              <a:extLst>
                <a:ext uri="{FF2B5EF4-FFF2-40B4-BE49-F238E27FC236}">
                  <a16:creationId xmlns:a16="http://schemas.microsoft.com/office/drawing/2014/main" id="{339F0C7F-30AB-4C79-B3A5-02A99FDB1E60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373739">
              <a:extLst>
                <a:ext uri="{FF2B5EF4-FFF2-40B4-BE49-F238E27FC236}">
                  <a16:creationId xmlns:a16="http://schemas.microsoft.com/office/drawing/2014/main" id="{A761D2C9-7DF3-48E8-911D-DB2B4AE07A9A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260323">
              <a:extLst>
                <a:ext uri="{FF2B5EF4-FFF2-40B4-BE49-F238E27FC236}">
                  <a16:creationId xmlns:a16="http://schemas.microsoft.com/office/drawing/2014/main" id="{BC8F534A-FEA9-478A-AFD9-759F9C1869C2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61917">
              <a:extLst>
                <a:ext uri="{FF2B5EF4-FFF2-40B4-BE49-F238E27FC236}">
                  <a16:creationId xmlns:a16="http://schemas.microsoft.com/office/drawing/2014/main" id="{301C0EFF-0854-42CF-B9A6-D97851037A32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255492">
              <a:extLst>
                <a:ext uri="{FF2B5EF4-FFF2-40B4-BE49-F238E27FC236}">
                  <a16:creationId xmlns:a16="http://schemas.microsoft.com/office/drawing/2014/main" id="{5AAD187C-EB95-4363-9D8F-7207E4EEB40D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217153">
              <a:extLst>
                <a:ext uri="{FF2B5EF4-FFF2-40B4-BE49-F238E27FC236}">
                  <a16:creationId xmlns:a16="http://schemas.microsoft.com/office/drawing/2014/main" id="{E342991C-5D12-4FCF-B6CE-20F0D1C77FBC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819888">
              <a:extLst>
                <a:ext uri="{FF2B5EF4-FFF2-40B4-BE49-F238E27FC236}">
                  <a16:creationId xmlns:a16="http://schemas.microsoft.com/office/drawing/2014/main" id="{7F80714B-B922-49F8-93E6-A130DFE21D03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974248">
              <a:extLst>
                <a:ext uri="{FF2B5EF4-FFF2-40B4-BE49-F238E27FC236}">
                  <a16:creationId xmlns:a16="http://schemas.microsoft.com/office/drawing/2014/main" id="{B598791D-8B35-461A-90EF-F3F72F304319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219310">
              <a:extLst>
                <a:ext uri="{FF2B5EF4-FFF2-40B4-BE49-F238E27FC236}">
                  <a16:creationId xmlns:a16="http://schemas.microsoft.com/office/drawing/2014/main" id="{DE667DC5-4E4C-47FB-B2DF-02371B07D365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968993">
              <a:extLst>
                <a:ext uri="{FF2B5EF4-FFF2-40B4-BE49-F238E27FC236}">
                  <a16:creationId xmlns:a16="http://schemas.microsoft.com/office/drawing/2014/main" id="{4851DF9E-7B45-4C11-BDF3-F7D6E87A6B47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5183066"/>
              </p:ext>
            </p:extLst>
          </p:nvPr>
        </p:nvGraphicFramePr>
        <p:xfrm>
          <a:off x="334961" y="1258118"/>
          <a:ext cx="11522075" cy="401760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74231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247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66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chemeClr val="accent3"/>
                          </a:solidFill>
                        </a:rPr>
                        <a:t>Cost category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1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96886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i="1" noProof="0"/>
                        <a:t>Cost of service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05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Leverage scale economics through network sharing and cost sharing optimization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 in network investment and infrastructure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 and fully optimize operations in hardware, network, and storage</a:t>
                      </a:r>
                      <a:endParaRPr lang="en-US" sz="1050" b="0" i="0" u="none" strike="noStrike">
                        <a:effectLst/>
                        <a:latin typeface="+mj-lt"/>
                      </a:endParaRP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>
                          <a:effectLst/>
                          <a:latin typeface="+mj-lt"/>
                        </a:rPr>
                        <a:t>Optimize call centers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>
                          <a:effectLst/>
                          <a:latin typeface="+mj-lt"/>
                        </a:rPr>
                        <a:t>Increase mix of lower cost resources (i.e., offshore/remote)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>
                          <a:effectLst/>
                          <a:latin typeface="+mj-lt"/>
                        </a:rPr>
                        <a:t>Update wages to match market rates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scheduling to customer demand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productivity through training and specialization 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>
                          <a:effectLst/>
                          <a:latin typeface="+mj-lt"/>
                        </a:rPr>
                        <a:t>Consolidate vendors 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>
                          <a:effectLst/>
                          <a:latin typeface="+mj-lt"/>
                        </a:rPr>
                        <a:t>Eliminate customer knowledge gaps and improve digital self-service capabilities</a:t>
                      </a:r>
                    </a:p>
                    <a:p>
                      <a:pPr marL="543560" marR="0" lvl="1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u="none" strike="noStrike">
                          <a:effectLst/>
                          <a:latin typeface="+mj-lt"/>
                        </a:rPr>
                        <a:t>Manage habitual callers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54841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i="1" noProof="0"/>
                        <a:t>Selling and Marketing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576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36576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</a:rPr>
                        <a:t>Improve marketing mix – shift spend to high-impact areas</a:t>
                      </a:r>
                    </a:p>
                    <a:p>
                      <a:pPr marL="36576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</a:rPr>
                        <a:t>Apply test and learn and digital marketing tools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79737"/>
                  </a:ext>
                </a:extLst>
              </a:tr>
              <a:tr h="78027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100" b="1" i="1" noProof="0"/>
                        <a:t>General and Administrative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105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36576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1050" b="0" i="0" u="none" strike="noStrike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Reduce gross-to-net leakage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17195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/>
          <a:lstStyle/>
          <a:p>
            <a:r>
              <a:rPr lang="en-US"/>
              <a:t>Appendix: Potential savings levers based on prior Bain experience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89" name="btfpStatusSticker253844">
            <a:extLst>
              <a:ext uri="{FF2B5EF4-FFF2-40B4-BE49-F238E27FC236}">
                <a16:creationId xmlns:a16="http://schemas.microsoft.com/office/drawing/2014/main" id="{45164639-27C6-44E3-8DA3-A58F89122F2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003470" y="955540"/>
            <a:ext cx="1858330" cy="235611"/>
            <a:chOff x="-2436373" y="876300"/>
            <a:chExt cx="1858330" cy="235611"/>
          </a:xfrm>
        </p:grpSpPr>
        <p:sp>
          <p:nvSpPr>
            <p:cNvPr id="90" name="btfpStatusStickerText253844">
              <a:extLst>
                <a:ext uri="{FF2B5EF4-FFF2-40B4-BE49-F238E27FC236}">
                  <a16:creationId xmlns:a16="http://schemas.microsoft.com/office/drawing/2014/main" id="{14487CC9-0010-44DC-B175-475B7619EE96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91" name="btfpStatusStickerLine253844">
              <a:extLst>
                <a:ext uri="{FF2B5EF4-FFF2-40B4-BE49-F238E27FC236}">
                  <a16:creationId xmlns:a16="http://schemas.microsoft.com/office/drawing/2014/main" id="{4AE77C85-8DA0-4455-83D5-CAE3340F252B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btfpNotesBox333743">
            <a:extLst>
              <a:ext uri="{FF2B5EF4-FFF2-40B4-BE49-F238E27FC236}">
                <a16:creationId xmlns:a16="http://schemas.microsoft.com/office/drawing/2014/main" id="{9761A8C8-D659-4B0B-923D-64670A717B9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49249" y="6442791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</a:t>
            </a:r>
          </a:p>
        </p:txBody>
      </p:sp>
      <p:grpSp>
        <p:nvGrpSpPr>
          <p:cNvPr id="60" name="btfpRunningAgenda1Level650523">
            <a:extLst>
              <a:ext uri="{FF2B5EF4-FFF2-40B4-BE49-F238E27FC236}">
                <a16:creationId xmlns:a16="http://schemas.microsoft.com/office/drawing/2014/main" id="{A020A5FA-0C9B-4CFA-AB36-D7251A80783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-6" y="944429"/>
            <a:ext cx="4179056" cy="257442"/>
            <a:chOff x="-6" y="944429"/>
            <a:chExt cx="4179056" cy="257442"/>
          </a:xfrm>
        </p:grpSpPr>
        <p:sp>
          <p:nvSpPr>
            <p:cNvPr id="61" name="btfpRunningAgenda1LevelBarLeft650523">
              <a:extLst>
                <a:ext uri="{FF2B5EF4-FFF2-40B4-BE49-F238E27FC236}">
                  <a16:creationId xmlns:a16="http://schemas.microsoft.com/office/drawing/2014/main" id="{0C8A9529-1348-45A7-A966-271FF84BA116}"/>
                </a:ext>
              </a:extLst>
            </p:cNvPr>
            <p:cNvSpPr/>
            <p:nvPr/>
          </p:nvSpPr>
          <p:spPr bwMode="gray">
            <a:xfrm>
              <a:off x="-6" y="944429"/>
              <a:ext cx="4179056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  <a:gd name="connsiteX0" fmla="*/ 3158135 w 3980257"/>
                <a:gd name="connsiteY0" fmla="*/ 0 h 257442"/>
                <a:gd name="connsiteX1" fmla="*/ 3980257 w 3980257"/>
                <a:gd name="connsiteY1" fmla="*/ 257442 h 257442"/>
                <a:gd name="connsiteX2" fmla="*/ 0 w 3980257"/>
                <a:gd name="connsiteY2" fmla="*/ 257442 h 257442"/>
                <a:gd name="connsiteX3" fmla="*/ 0 w 3980257"/>
                <a:gd name="connsiteY3" fmla="*/ 0 h 257442"/>
                <a:gd name="connsiteX0" fmla="*/ 3158135 w 3158135"/>
                <a:gd name="connsiteY0" fmla="*/ 0 h 257442"/>
                <a:gd name="connsiteX1" fmla="*/ 3103415 w 3158135"/>
                <a:gd name="connsiteY1" fmla="*/ 257442 h 257442"/>
                <a:gd name="connsiteX2" fmla="*/ 0 w 3158135"/>
                <a:gd name="connsiteY2" fmla="*/ 257442 h 257442"/>
                <a:gd name="connsiteX3" fmla="*/ 0 w 3158135"/>
                <a:gd name="connsiteY3" fmla="*/ 0 h 257442"/>
                <a:gd name="connsiteX0" fmla="*/ 3158135 w 3158135"/>
                <a:gd name="connsiteY0" fmla="*/ 0 h 257442"/>
                <a:gd name="connsiteX1" fmla="*/ 3103415 w 3158135"/>
                <a:gd name="connsiteY1" fmla="*/ 257442 h 257442"/>
                <a:gd name="connsiteX2" fmla="*/ 0 w 3158135"/>
                <a:gd name="connsiteY2" fmla="*/ 257442 h 257442"/>
                <a:gd name="connsiteX3" fmla="*/ 0 w 3158135"/>
                <a:gd name="connsiteY3" fmla="*/ 0 h 257442"/>
                <a:gd name="connsiteX0" fmla="*/ 3158135 w 3158135"/>
                <a:gd name="connsiteY0" fmla="*/ 0 h 257442"/>
                <a:gd name="connsiteX1" fmla="*/ 3103415 w 3158135"/>
                <a:gd name="connsiteY1" fmla="*/ 257442 h 257442"/>
                <a:gd name="connsiteX2" fmla="*/ 0 w 3158135"/>
                <a:gd name="connsiteY2" fmla="*/ 257442 h 257442"/>
                <a:gd name="connsiteX3" fmla="*/ 0 w 3158135"/>
                <a:gd name="connsiteY3" fmla="*/ 0 h 257442"/>
                <a:gd name="connsiteX0" fmla="*/ 3318436 w 3318436"/>
                <a:gd name="connsiteY0" fmla="*/ 0 h 257442"/>
                <a:gd name="connsiteX1" fmla="*/ 3103415 w 3318436"/>
                <a:gd name="connsiteY1" fmla="*/ 257442 h 257442"/>
                <a:gd name="connsiteX2" fmla="*/ 0 w 3318436"/>
                <a:gd name="connsiteY2" fmla="*/ 257442 h 257442"/>
                <a:gd name="connsiteX3" fmla="*/ 0 w 3318436"/>
                <a:gd name="connsiteY3" fmla="*/ 0 h 257442"/>
                <a:gd name="connsiteX0" fmla="*/ 3318436 w 3318436"/>
                <a:gd name="connsiteY0" fmla="*/ 0 h 257442"/>
                <a:gd name="connsiteX1" fmla="*/ 3263714 w 3318436"/>
                <a:gd name="connsiteY1" fmla="*/ 257442 h 257442"/>
                <a:gd name="connsiteX2" fmla="*/ 0 w 3318436"/>
                <a:gd name="connsiteY2" fmla="*/ 257442 h 257442"/>
                <a:gd name="connsiteX3" fmla="*/ 0 w 3318436"/>
                <a:gd name="connsiteY3" fmla="*/ 0 h 257442"/>
                <a:gd name="connsiteX0" fmla="*/ 3318437 w 3318437"/>
                <a:gd name="connsiteY0" fmla="*/ 0 h 257442"/>
                <a:gd name="connsiteX1" fmla="*/ 3263715 w 3318437"/>
                <a:gd name="connsiteY1" fmla="*/ 257442 h 257442"/>
                <a:gd name="connsiteX2" fmla="*/ 0 w 3318437"/>
                <a:gd name="connsiteY2" fmla="*/ 257442 h 257442"/>
                <a:gd name="connsiteX3" fmla="*/ 1 w 3318437"/>
                <a:gd name="connsiteY3" fmla="*/ 0 h 257442"/>
                <a:gd name="connsiteX0" fmla="*/ 3318437 w 3318437"/>
                <a:gd name="connsiteY0" fmla="*/ 0 h 257442"/>
                <a:gd name="connsiteX1" fmla="*/ 3263715 w 3318437"/>
                <a:gd name="connsiteY1" fmla="*/ 257442 h 257442"/>
                <a:gd name="connsiteX2" fmla="*/ 0 w 3318437"/>
                <a:gd name="connsiteY2" fmla="*/ 257442 h 257442"/>
                <a:gd name="connsiteX3" fmla="*/ 1 w 3318437"/>
                <a:gd name="connsiteY3" fmla="*/ 0 h 257442"/>
                <a:gd name="connsiteX0" fmla="*/ 3478737 w 3478737"/>
                <a:gd name="connsiteY0" fmla="*/ 0 h 257442"/>
                <a:gd name="connsiteX1" fmla="*/ 3263715 w 3478737"/>
                <a:gd name="connsiteY1" fmla="*/ 257442 h 257442"/>
                <a:gd name="connsiteX2" fmla="*/ 0 w 3478737"/>
                <a:gd name="connsiteY2" fmla="*/ 257442 h 257442"/>
                <a:gd name="connsiteX3" fmla="*/ 1 w 3478737"/>
                <a:gd name="connsiteY3" fmla="*/ 0 h 257442"/>
                <a:gd name="connsiteX0" fmla="*/ 3478737 w 3478737"/>
                <a:gd name="connsiteY0" fmla="*/ 0 h 257442"/>
                <a:gd name="connsiteX1" fmla="*/ 3424016 w 3478737"/>
                <a:gd name="connsiteY1" fmla="*/ 257442 h 257442"/>
                <a:gd name="connsiteX2" fmla="*/ 0 w 3478737"/>
                <a:gd name="connsiteY2" fmla="*/ 257442 h 257442"/>
                <a:gd name="connsiteX3" fmla="*/ 1 w 3478737"/>
                <a:gd name="connsiteY3" fmla="*/ 0 h 257442"/>
                <a:gd name="connsiteX0" fmla="*/ 3478736 w 3478736"/>
                <a:gd name="connsiteY0" fmla="*/ 0 h 257442"/>
                <a:gd name="connsiteX1" fmla="*/ 3424015 w 3478736"/>
                <a:gd name="connsiteY1" fmla="*/ 257442 h 257442"/>
                <a:gd name="connsiteX2" fmla="*/ 0 w 3478736"/>
                <a:gd name="connsiteY2" fmla="*/ 257442 h 257442"/>
                <a:gd name="connsiteX3" fmla="*/ 0 w 3478736"/>
                <a:gd name="connsiteY3" fmla="*/ 0 h 257442"/>
                <a:gd name="connsiteX0" fmla="*/ 3478737 w 3478737"/>
                <a:gd name="connsiteY0" fmla="*/ 0 h 257442"/>
                <a:gd name="connsiteX1" fmla="*/ 3424016 w 3478737"/>
                <a:gd name="connsiteY1" fmla="*/ 257442 h 257442"/>
                <a:gd name="connsiteX2" fmla="*/ 1 w 3478737"/>
                <a:gd name="connsiteY2" fmla="*/ 257442 h 257442"/>
                <a:gd name="connsiteX3" fmla="*/ 0 w 3478737"/>
                <a:gd name="connsiteY3" fmla="*/ 0 h 257442"/>
                <a:gd name="connsiteX0" fmla="*/ 3647053 w 3647053"/>
                <a:gd name="connsiteY0" fmla="*/ 0 h 257442"/>
                <a:gd name="connsiteX1" fmla="*/ 3424016 w 3647053"/>
                <a:gd name="connsiteY1" fmla="*/ 257442 h 257442"/>
                <a:gd name="connsiteX2" fmla="*/ 1 w 3647053"/>
                <a:gd name="connsiteY2" fmla="*/ 257442 h 257442"/>
                <a:gd name="connsiteX3" fmla="*/ 0 w 3647053"/>
                <a:gd name="connsiteY3" fmla="*/ 0 h 257442"/>
                <a:gd name="connsiteX0" fmla="*/ 3647053 w 3647053"/>
                <a:gd name="connsiteY0" fmla="*/ 0 h 257442"/>
                <a:gd name="connsiteX1" fmla="*/ 3592332 w 3647053"/>
                <a:gd name="connsiteY1" fmla="*/ 257442 h 257442"/>
                <a:gd name="connsiteX2" fmla="*/ 1 w 3647053"/>
                <a:gd name="connsiteY2" fmla="*/ 257442 h 257442"/>
                <a:gd name="connsiteX3" fmla="*/ 0 w 3647053"/>
                <a:gd name="connsiteY3" fmla="*/ 0 h 257442"/>
                <a:gd name="connsiteX0" fmla="*/ 3647053 w 3647053"/>
                <a:gd name="connsiteY0" fmla="*/ 0 h 257442"/>
                <a:gd name="connsiteX1" fmla="*/ 3592332 w 3647053"/>
                <a:gd name="connsiteY1" fmla="*/ 257442 h 257442"/>
                <a:gd name="connsiteX2" fmla="*/ 1 w 3647053"/>
                <a:gd name="connsiteY2" fmla="*/ 257442 h 257442"/>
                <a:gd name="connsiteX3" fmla="*/ 0 w 3647053"/>
                <a:gd name="connsiteY3" fmla="*/ 0 h 257442"/>
                <a:gd name="connsiteX0" fmla="*/ 3647052 w 3647052"/>
                <a:gd name="connsiteY0" fmla="*/ 0 h 257442"/>
                <a:gd name="connsiteX1" fmla="*/ 3592331 w 3647052"/>
                <a:gd name="connsiteY1" fmla="*/ 257442 h 257442"/>
                <a:gd name="connsiteX2" fmla="*/ 0 w 3647052"/>
                <a:gd name="connsiteY2" fmla="*/ 257442 h 257442"/>
                <a:gd name="connsiteX3" fmla="*/ 0 w 3647052"/>
                <a:gd name="connsiteY3" fmla="*/ 0 h 257442"/>
                <a:gd name="connsiteX0" fmla="*/ 3832999 w 3832999"/>
                <a:gd name="connsiteY0" fmla="*/ 0 h 257442"/>
                <a:gd name="connsiteX1" fmla="*/ 3592331 w 3832999"/>
                <a:gd name="connsiteY1" fmla="*/ 257442 h 257442"/>
                <a:gd name="connsiteX2" fmla="*/ 0 w 3832999"/>
                <a:gd name="connsiteY2" fmla="*/ 257442 h 257442"/>
                <a:gd name="connsiteX3" fmla="*/ 0 w 3832999"/>
                <a:gd name="connsiteY3" fmla="*/ 0 h 257442"/>
                <a:gd name="connsiteX0" fmla="*/ 3832999 w 3832999"/>
                <a:gd name="connsiteY0" fmla="*/ 0 h 257442"/>
                <a:gd name="connsiteX1" fmla="*/ 3778278 w 3832999"/>
                <a:gd name="connsiteY1" fmla="*/ 257442 h 257442"/>
                <a:gd name="connsiteX2" fmla="*/ 0 w 3832999"/>
                <a:gd name="connsiteY2" fmla="*/ 257442 h 257442"/>
                <a:gd name="connsiteX3" fmla="*/ 0 w 3832999"/>
                <a:gd name="connsiteY3" fmla="*/ 0 h 257442"/>
                <a:gd name="connsiteX0" fmla="*/ 3833000 w 3833000"/>
                <a:gd name="connsiteY0" fmla="*/ 0 h 257442"/>
                <a:gd name="connsiteX1" fmla="*/ 3778279 w 3833000"/>
                <a:gd name="connsiteY1" fmla="*/ 257442 h 257442"/>
                <a:gd name="connsiteX2" fmla="*/ 0 w 3833000"/>
                <a:gd name="connsiteY2" fmla="*/ 257442 h 257442"/>
                <a:gd name="connsiteX3" fmla="*/ 1 w 3833000"/>
                <a:gd name="connsiteY3" fmla="*/ 0 h 257442"/>
                <a:gd name="connsiteX0" fmla="*/ 3833000 w 3833000"/>
                <a:gd name="connsiteY0" fmla="*/ 0 h 257442"/>
                <a:gd name="connsiteX1" fmla="*/ 3778279 w 3833000"/>
                <a:gd name="connsiteY1" fmla="*/ 257442 h 257442"/>
                <a:gd name="connsiteX2" fmla="*/ 0 w 3833000"/>
                <a:gd name="connsiteY2" fmla="*/ 257442 h 257442"/>
                <a:gd name="connsiteX3" fmla="*/ 0 w 3833000"/>
                <a:gd name="connsiteY3" fmla="*/ 0 h 257442"/>
                <a:gd name="connsiteX0" fmla="*/ 3993301 w 3993301"/>
                <a:gd name="connsiteY0" fmla="*/ 0 h 257442"/>
                <a:gd name="connsiteX1" fmla="*/ 3778279 w 3993301"/>
                <a:gd name="connsiteY1" fmla="*/ 257442 h 257442"/>
                <a:gd name="connsiteX2" fmla="*/ 0 w 3993301"/>
                <a:gd name="connsiteY2" fmla="*/ 257442 h 257442"/>
                <a:gd name="connsiteX3" fmla="*/ 0 w 3993301"/>
                <a:gd name="connsiteY3" fmla="*/ 0 h 257442"/>
                <a:gd name="connsiteX0" fmla="*/ 3993301 w 3993301"/>
                <a:gd name="connsiteY0" fmla="*/ 0 h 257442"/>
                <a:gd name="connsiteX1" fmla="*/ 3938580 w 3993301"/>
                <a:gd name="connsiteY1" fmla="*/ 257442 h 257442"/>
                <a:gd name="connsiteX2" fmla="*/ 0 w 3993301"/>
                <a:gd name="connsiteY2" fmla="*/ 257442 h 257442"/>
                <a:gd name="connsiteX3" fmla="*/ 0 w 3993301"/>
                <a:gd name="connsiteY3" fmla="*/ 0 h 257442"/>
                <a:gd name="connsiteX0" fmla="*/ 3993301 w 3993301"/>
                <a:gd name="connsiteY0" fmla="*/ 0 h 257442"/>
                <a:gd name="connsiteX1" fmla="*/ 3938580 w 3993301"/>
                <a:gd name="connsiteY1" fmla="*/ 257442 h 257442"/>
                <a:gd name="connsiteX2" fmla="*/ 0 w 3993301"/>
                <a:gd name="connsiteY2" fmla="*/ 257442 h 257442"/>
                <a:gd name="connsiteX3" fmla="*/ 0 w 3993301"/>
                <a:gd name="connsiteY3" fmla="*/ 0 h 257442"/>
                <a:gd name="connsiteX0" fmla="*/ 3993301 w 3993301"/>
                <a:gd name="connsiteY0" fmla="*/ 0 h 257442"/>
                <a:gd name="connsiteX1" fmla="*/ 3938580 w 3993301"/>
                <a:gd name="connsiteY1" fmla="*/ 257442 h 257442"/>
                <a:gd name="connsiteX2" fmla="*/ 0 w 3993301"/>
                <a:gd name="connsiteY2" fmla="*/ 257442 h 257442"/>
                <a:gd name="connsiteX3" fmla="*/ 0 w 3993301"/>
                <a:gd name="connsiteY3" fmla="*/ 0 h 257442"/>
                <a:gd name="connsiteX0" fmla="*/ 4305886 w 4305886"/>
                <a:gd name="connsiteY0" fmla="*/ 0 h 257442"/>
                <a:gd name="connsiteX1" fmla="*/ 3938580 w 4305886"/>
                <a:gd name="connsiteY1" fmla="*/ 257442 h 257442"/>
                <a:gd name="connsiteX2" fmla="*/ 0 w 4305886"/>
                <a:gd name="connsiteY2" fmla="*/ 257442 h 257442"/>
                <a:gd name="connsiteX3" fmla="*/ 0 w 4305886"/>
                <a:gd name="connsiteY3" fmla="*/ 0 h 257442"/>
                <a:gd name="connsiteX0" fmla="*/ 4305886 w 4305886"/>
                <a:gd name="connsiteY0" fmla="*/ 0 h 257442"/>
                <a:gd name="connsiteX1" fmla="*/ 4251164 w 4305886"/>
                <a:gd name="connsiteY1" fmla="*/ 257442 h 257442"/>
                <a:gd name="connsiteX2" fmla="*/ 0 w 4305886"/>
                <a:gd name="connsiteY2" fmla="*/ 257442 h 257442"/>
                <a:gd name="connsiteX3" fmla="*/ 0 w 4305886"/>
                <a:gd name="connsiteY3" fmla="*/ 0 h 257442"/>
                <a:gd name="connsiteX0" fmla="*/ 4305887 w 4305887"/>
                <a:gd name="connsiteY0" fmla="*/ 0 h 257442"/>
                <a:gd name="connsiteX1" fmla="*/ 4251165 w 4305887"/>
                <a:gd name="connsiteY1" fmla="*/ 257442 h 257442"/>
                <a:gd name="connsiteX2" fmla="*/ 0 w 4305887"/>
                <a:gd name="connsiteY2" fmla="*/ 257442 h 257442"/>
                <a:gd name="connsiteX3" fmla="*/ 1 w 4305887"/>
                <a:gd name="connsiteY3" fmla="*/ 0 h 257442"/>
                <a:gd name="connsiteX0" fmla="*/ 4305887 w 4305887"/>
                <a:gd name="connsiteY0" fmla="*/ 0 h 257442"/>
                <a:gd name="connsiteX1" fmla="*/ 4251165 w 4305887"/>
                <a:gd name="connsiteY1" fmla="*/ 257442 h 257442"/>
                <a:gd name="connsiteX2" fmla="*/ 0 w 4305887"/>
                <a:gd name="connsiteY2" fmla="*/ 257442 h 257442"/>
                <a:gd name="connsiteX3" fmla="*/ 1 w 4305887"/>
                <a:gd name="connsiteY3" fmla="*/ 0 h 257442"/>
                <a:gd name="connsiteX0" fmla="*/ 4567177 w 4567177"/>
                <a:gd name="connsiteY0" fmla="*/ 0 h 257442"/>
                <a:gd name="connsiteX1" fmla="*/ 4251165 w 4567177"/>
                <a:gd name="connsiteY1" fmla="*/ 257442 h 257442"/>
                <a:gd name="connsiteX2" fmla="*/ 0 w 4567177"/>
                <a:gd name="connsiteY2" fmla="*/ 257442 h 257442"/>
                <a:gd name="connsiteX3" fmla="*/ 1 w 4567177"/>
                <a:gd name="connsiteY3" fmla="*/ 0 h 257442"/>
                <a:gd name="connsiteX0" fmla="*/ 4567177 w 4567177"/>
                <a:gd name="connsiteY0" fmla="*/ 0 h 257442"/>
                <a:gd name="connsiteX1" fmla="*/ 4512456 w 4567177"/>
                <a:gd name="connsiteY1" fmla="*/ 257442 h 257442"/>
                <a:gd name="connsiteX2" fmla="*/ 0 w 4567177"/>
                <a:gd name="connsiteY2" fmla="*/ 257442 h 257442"/>
                <a:gd name="connsiteX3" fmla="*/ 1 w 4567177"/>
                <a:gd name="connsiteY3" fmla="*/ 0 h 257442"/>
                <a:gd name="connsiteX0" fmla="*/ 4567176 w 4567176"/>
                <a:gd name="connsiteY0" fmla="*/ 0 h 257442"/>
                <a:gd name="connsiteX1" fmla="*/ 4512455 w 4567176"/>
                <a:gd name="connsiteY1" fmla="*/ 257442 h 257442"/>
                <a:gd name="connsiteX2" fmla="*/ 0 w 4567176"/>
                <a:gd name="connsiteY2" fmla="*/ 257442 h 257442"/>
                <a:gd name="connsiteX3" fmla="*/ 0 w 4567176"/>
                <a:gd name="connsiteY3" fmla="*/ 0 h 257442"/>
                <a:gd name="connsiteX0" fmla="*/ 4567177 w 4567177"/>
                <a:gd name="connsiteY0" fmla="*/ 0 h 257442"/>
                <a:gd name="connsiteX1" fmla="*/ 4512456 w 4567177"/>
                <a:gd name="connsiteY1" fmla="*/ 257442 h 257442"/>
                <a:gd name="connsiteX2" fmla="*/ 1 w 4567177"/>
                <a:gd name="connsiteY2" fmla="*/ 257442 h 257442"/>
                <a:gd name="connsiteX3" fmla="*/ 0 w 4567177"/>
                <a:gd name="connsiteY3" fmla="*/ 0 h 257442"/>
                <a:gd name="connsiteX0" fmla="*/ 4735492 w 4735492"/>
                <a:gd name="connsiteY0" fmla="*/ 0 h 257442"/>
                <a:gd name="connsiteX1" fmla="*/ 4512456 w 4735492"/>
                <a:gd name="connsiteY1" fmla="*/ 257442 h 257442"/>
                <a:gd name="connsiteX2" fmla="*/ 1 w 4735492"/>
                <a:gd name="connsiteY2" fmla="*/ 257442 h 257442"/>
                <a:gd name="connsiteX3" fmla="*/ 0 w 4735492"/>
                <a:gd name="connsiteY3" fmla="*/ 0 h 257442"/>
                <a:gd name="connsiteX0" fmla="*/ 4735492 w 4735492"/>
                <a:gd name="connsiteY0" fmla="*/ 0 h 257442"/>
                <a:gd name="connsiteX1" fmla="*/ 4680770 w 4735492"/>
                <a:gd name="connsiteY1" fmla="*/ 257442 h 257442"/>
                <a:gd name="connsiteX2" fmla="*/ 1 w 4735492"/>
                <a:gd name="connsiteY2" fmla="*/ 257442 h 257442"/>
                <a:gd name="connsiteX3" fmla="*/ 0 w 4735492"/>
                <a:gd name="connsiteY3" fmla="*/ 0 h 257442"/>
                <a:gd name="connsiteX0" fmla="*/ 4735492 w 4735492"/>
                <a:gd name="connsiteY0" fmla="*/ 0 h 257442"/>
                <a:gd name="connsiteX1" fmla="*/ 4680770 w 4735492"/>
                <a:gd name="connsiteY1" fmla="*/ 257442 h 257442"/>
                <a:gd name="connsiteX2" fmla="*/ 0 w 4735492"/>
                <a:gd name="connsiteY2" fmla="*/ 257442 h 257442"/>
                <a:gd name="connsiteX3" fmla="*/ 0 w 4735492"/>
                <a:gd name="connsiteY3" fmla="*/ 0 h 257442"/>
                <a:gd name="connsiteX0" fmla="*/ 4735492 w 4735492"/>
                <a:gd name="connsiteY0" fmla="*/ 0 h 257442"/>
                <a:gd name="connsiteX1" fmla="*/ 4680770 w 4735492"/>
                <a:gd name="connsiteY1" fmla="*/ 257442 h 257442"/>
                <a:gd name="connsiteX2" fmla="*/ 0 w 4735492"/>
                <a:gd name="connsiteY2" fmla="*/ 257442 h 257442"/>
                <a:gd name="connsiteX3" fmla="*/ 0 w 4735492"/>
                <a:gd name="connsiteY3" fmla="*/ 0 h 257442"/>
                <a:gd name="connsiteX0" fmla="*/ 4985367 w 4985367"/>
                <a:gd name="connsiteY0" fmla="*/ 0 h 257442"/>
                <a:gd name="connsiteX1" fmla="*/ 4680770 w 4985367"/>
                <a:gd name="connsiteY1" fmla="*/ 257442 h 257442"/>
                <a:gd name="connsiteX2" fmla="*/ 0 w 4985367"/>
                <a:gd name="connsiteY2" fmla="*/ 257442 h 257442"/>
                <a:gd name="connsiteX3" fmla="*/ 0 w 4985367"/>
                <a:gd name="connsiteY3" fmla="*/ 0 h 257442"/>
                <a:gd name="connsiteX0" fmla="*/ 4985367 w 4985367"/>
                <a:gd name="connsiteY0" fmla="*/ 0 h 257442"/>
                <a:gd name="connsiteX1" fmla="*/ 4930646 w 4985367"/>
                <a:gd name="connsiteY1" fmla="*/ 257442 h 257442"/>
                <a:gd name="connsiteX2" fmla="*/ 0 w 4985367"/>
                <a:gd name="connsiteY2" fmla="*/ 257442 h 257442"/>
                <a:gd name="connsiteX3" fmla="*/ 0 w 4985367"/>
                <a:gd name="connsiteY3" fmla="*/ 0 h 257442"/>
                <a:gd name="connsiteX0" fmla="*/ 4985367 w 4985367"/>
                <a:gd name="connsiteY0" fmla="*/ 0 h 257442"/>
                <a:gd name="connsiteX1" fmla="*/ 4930646 w 4985367"/>
                <a:gd name="connsiteY1" fmla="*/ 257442 h 257442"/>
                <a:gd name="connsiteX2" fmla="*/ 0 w 4985367"/>
                <a:gd name="connsiteY2" fmla="*/ 257442 h 257442"/>
                <a:gd name="connsiteX3" fmla="*/ 0 w 4985367"/>
                <a:gd name="connsiteY3" fmla="*/ 0 h 257442"/>
                <a:gd name="connsiteX0" fmla="*/ 4985367 w 4985367"/>
                <a:gd name="connsiteY0" fmla="*/ 0 h 257442"/>
                <a:gd name="connsiteX1" fmla="*/ 4930646 w 4985367"/>
                <a:gd name="connsiteY1" fmla="*/ 257442 h 257442"/>
                <a:gd name="connsiteX2" fmla="*/ 0 w 4985367"/>
                <a:gd name="connsiteY2" fmla="*/ 257442 h 257442"/>
                <a:gd name="connsiteX3" fmla="*/ 0 w 4985367"/>
                <a:gd name="connsiteY3" fmla="*/ 0 h 257442"/>
                <a:gd name="connsiteX0" fmla="*/ 5153682 w 5153682"/>
                <a:gd name="connsiteY0" fmla="*/ 0 h 257442"/>
                <a:gd name="connsiteX1" fmla="*/ 4930646 w 5153682"/>
                <a:gd name="connsiteY1" fmla="*/ 257442 h 257442"/>
                <a:gd name="connsiteX2" fmla="*/ 0 w 5153682"/>
                <a:gd name="connsiteY2" fmla="*/ 257442 h 257442"/>
                <a:gd name="connsiteX3" fmla="*/ 0 w 5153682"/>
                <a:gd name="connsiteY3" fmla="*/ 0 h 257442"/>
                <a:gd name="connsiteX0" fmla="*/ 5153682 w 5153682"/>
                <a:gd name="connsiteY0" fmla="*/ 0 h 257442"/>
                <a:gd name="connsiteX1" fmla="*/ 5098960 w 5153682"/>
                <a:gd name="connsiteY1" fmla="*/ 257442 h 257442"/>
                <a:gd name="connsiteX2" fmla="*/ 0 w 5153682"/>
                <a:gd name="connsiteY2" fmla="*/ 257442 h 257442"/>
                <a:gd name="connsiteX3" fmla="*/ 0 w 5153682"/>
                <a:gd name="connsiteY3" fmla="*/ 0 h 257442"/>
                <a:gd name="connsiteX0" fmla="*/ 5153683 w 5153683"/>
                <a:gd name="connsiteY0" fmla="*/ 0 h 257442"/>
                <a:gd name="connsiteX1" fmla="*/ 5098961 w 5153683"/>
                <a:gd name="connsiteY1" fmla="*/ 257442 h 257442"/>
                <a:gd name="connsiteX2" fmla="*/ 0 w 5153683"/>
                <a:gd name="connsiteY2" fmla="*/ 257442 h 257442"/>
                <a:gd name="connsiteX3" fmla="*/ 1 w 5153683"/>
                <a:gd name="connsiteY3" fmla="*/ 0 h 257442"/>
                <a:gd name="connsiteX0" fmla="*/ 5153683 w 5153683"/>
                <a:gd name="connsiteY0" fmla="*/ 0 h 257442"/>
                <a:gd name="connsiteX1" fmla="*/ 5098961 w 5153683"/>
                <a:gd name="connsiteY1" fmla="*/ 257442 h 257442"/>
                <a:gd name="connsiteX2" fmla="*/ 0 w 5153683"/>
                <a:gd name="connsiteY2" fmla="*/ 257442 h 257442"/>
                <a:gd name="connsiteX3" fmla="*/ 1 w 5153683"/>
                <a:gd name="connsiteY3" fmla="*/ 0 h 257442"/>
                <a:gd name="connsiteX0" fmla="*/ 5331617 w 5331617"/>
                <a:gd name="connsiteY0" fmla="*/ 0 h 257442"/>
                <a:gd name="connsiteX1" fmla="*/ 5098961 w 5331617"/>
                <a:gd name="connsiteY1" fmla="*/ 257442 h 257442"/>
                <a:gd name="connsiteX2" fmla="*/ 0 w 5331617"/>
                <a:gd name="connsiteY2" fmla="*/ 257442 h 257442"/>
                <a:gd name="connsiteX3" fmla="*/ 1 w 5331617"/>
                <a:gd name="connsiteY3" fmla="*/ 0 h 257442"/>
                <a:gd name="connsiteX0" fmla="*/ 5331617 w 5331617"/>
                <a:gd name="connsiteY0" fmla="*/ 0 h 257442"/>
                <a:gd name="connsiteX1" fmla="*/ 5276896 w 5331617"/>
                <a:gd name="connsiteY1" fmla="*/ 257442 h 257442"/>
                <a:gd name="connsiteX2" fmla="*/ 0 w 5331617"/>
                <a:gd name="connsiteY2" fmla="*/ 257442 h 257442"/>
                <a:gd name="connsiteX3" fmla="*/ 1 w 5331617"/>
                <a:gd name="connsiteY3" fmla="*/ 0 h 257442"/>
                <a:gd name="connsiteX0" fmla="*/ 5331616 w 5331616"/>
                <a:gd name="connsiteY0" fmla="*/ 0 h 257442"/>
                <a:gd name="connsiteX1" fmla="*/ 5276895 w 5331616"/>
                <a:gd name="connsiteY1" fmla="*/ 257442 h 257442"/>
                <a:gd name="connsiteX2" fmla="*/ 0 w 5331616"/>
                <a:gd name="connsiteY2" fmla="*/ 257442 h 257442"/>
                <a:gd name="connsiteX3" fmla="*/ 0 w 5331616"/>
                <a:gd name="connsiteY3" fmla="*/ 0 h 257442"/>
                <a:gd name="connsiteX0" fmla="*/ 5331617 w 5331617"/>
                <a:gd name="connsiteY0" fmla="*/ 0 h 257442"/>
                <a:gd name="connsiteX1" fmla="*/ 5276896 w 5331617"/>
                <a:gd name="connsiteY1" fmla="*/ 257442 h 257442"/>
                <a:gd name="connsiteX2" fmla="*/ 1 w 5331617"/>
                <a:gd name="connsiteY2" fmla="*/ 257442 h 257442"/>
                <a:gd name="connsiteX3" fmla="*/ 0 w 5331617"/>
                <a:gd name="connsiteY3" fmla="*/ 0 h 257442"/>
                <a:gd name="connsiteX0" fmla="*/ 5491917 w 5491917"/>
                <a:gd name="connsiteY0" fmla="*/ 0 h 257442"/>
                <a:gd name="connsiteX1" fmla="*/ 5276896 w 5491917"/>
                <a:gd name="connsiteY1" fmla="*/ 257442 h 257442"/>
                <a:gd name="connsiteX2" fmla="*/ 1 w 5491917"/>
                <a:gd name="connsiteY2" fmla="*/ 257442 h 257442"/>
                <a:gd name="connsiteX3" fmla="*/ 0 w 5491917"/>
                <a:gd name="connsiteY3" fmla="*/ 0 h 257442"/>
                <a:gd name="connsiteX0" fmla="*/ 5491917 w 5491917"/>
                <a:gd name="connsiteY0" fmla="*/ 0 h 257442"/>
                <a:gd name="connsiteX1" fmla="*/ 5437196 w 5491917"/>
                <a:gd name="connsiteY1" fmla="*/ 257442 h 257442"/>
                <a:gd name="connsiteX2" fmla="*/ 1 w 5491917"/>
                <a:gd name="connsiteY2" fmla="*/ 257442 h 257442"/>
                <a:gd name="connsiteX3" fmla="*/ 0 w 5491917"/>
                <a:gd name="connsiteY3" fmla="*/ 0 h 257442"/>
                <a:gd name="connsiteX0" fmla="*/ 5491917 w 5491917"/>
                <a:gd name="connsiteY0" fmla="*/ 0 h 257442"/>
                <a:gd name="connsiteX1" fmla="*/ 5437196 w 5491917"/>
                <a:gd name="connsiteY1" fmla="*/ 257442 h 257442"/>
                <a:gd name="connsiteX2" fmla="*/ 1 w 5491917"/>
                <a:gd name="connsiteY2" fmla="*/ 257442 h 257442"/>
                <a:gd name="connsiteX3" fmla="*/ 0 w 5491917"/>
                <a:gd name="connsiteY3" fmla="*/ 0 h 257442"/>
                <a:gd name="connsiteX0" fmla="*/ 5491916 w 5491916"/>
                <a:gd name="connsiteY0" fmla="*/ 0 h 257442"/>
                <a:gd name="connsiteX1" fmla="*/ 5437195 w 5491916"/>
                <a:gd name="connsiteY1" fmla="*/ 257442 h 257442"/>
                <a:gd name="connsiteX2" fmla="*/ 0 w 5491916"/>
                <a:gd name="connsiteY2" fmla="*/ 257442 h 257442"/>
                <a:gd name="connsiteX3" fmla="*/ 0 w 5491916"/>
                <a:gd name="connsiteY3" fmla="*/ 0 h 257442"/>
                <a:gd name="connsiteX0" fmla="*/ 5745190 w 5745190"/>
                <a:gd name="connsiteY0" fmla="*/ 0 h 257442"/>
                <a:gd name="connsiteX1" fmla="*/ 5437195 w 5745190"/>
                <a:gd name="connsiteY1" fmla="*/ 257442 h 257442"/>
                <a:gd name="connsiteX2" fmla="*/ 0 w 5745190"/>
                <a:gd name="connsiteY2" fmla="*/ 257442 h 257442"/>
                <a:gd name="connsiteX3" fmla="*/ 0 w 5745190"/>
                <a:gd name="connsiteY3" fmla="*/ 0 h 257442"/>
                <a:gd name="connsiteX0" fmla="*/ 5745190 w 5745190"/>
                <a:gd name="connsiteY0" fmla="*/ 0 h 257442"/>
                <a:gd name="connsiteX1" fmla="*/ 5690469 w 5745190"/>
                <a:gd name="connsiteY1" fmla="*/ 257442 h 257442"/>
                <a:gd name="connsiteX2" fmla="*/ 0 w 5745190"/>
                <a:gd name="connsiteY2" fmla="*/ 257442 h 257442"/>
                <a:gd name="connsiteX3" fmla="*/ 0 w 5745190"/>
                <a:gd name="connsiteY3" fmla="*/ 0 h 257442"/>
                <a:gd name="connsiteX0" fmla="*/ 5745191 w 5745191"/>
                <a:gd name="connsiteY0" fmla="*/ 0 h 257442"/>
                <a:gd name="connsiteX1" fmla="*/ 5690470 w 5745191"/>
                <a:gd name="connsiteY1" fmla="*/ 257442 h 257442"/>
                <a:gd name="connsiteX2" fmla="*/ 0 w 5745191"/>
                <a:gd name="connsiteY2" fmla="*/ 257442 h 257442"/>
                <a:gd name="connsiteX3" fmla="*/ 1 w 5745191"/>
                <a:gd name="connsiteY3" fmla="*/ 0 h 257442"/>
                <a:gd name="connsiteX0" fmla="*/ 5745191 w 5745191"/>
                <a:gd name="connsiteY0" fmla="*/ 0 h 257442"/>
                <a:gd name="connsiteX1" fmla="*/ 5690470 w 5745191"/>
                <a:gd name="connsiteY1" fmla="*/ 257442 h 257442"/>
                <a:gd name="connsiteX2" fmla="*/ 0 w 5745191"/>
                <a:gd name="connsiteY2" fmla="*/ 257442 h 257442"/>
                <a:gd name="connsiteX3" fmla="*/ 1 w 5745191"/>
                <a:gd name="connsiteY3" fmla="*/ 0 h 257442"/>
                <a:gd name="connsiteX0" fmla="*/ 5905492 w 5905492"/>
                <a:gd name="connsiteY0" fmla="*/ 0 h 257442"/>
                <a:gd name="connsiteX1" fmla="*/ 5690470 w 5905492"/>
                <a:gd name="connsiteY1" fmla="*/ 257442 h 257442"/>
                <a:gd name="connsiteX2" fmla="*/ 0 w 5905492"/>
                <a:gd name="connsiteY2" fmla="*/ 257442 h 257442"/>
                <a:gd name="connsiteX3" fmla="*/ 1 w 5905492"/>
                <a:gd name="connsiteY3" fmla="*/ 0 h 257442"/>
                <a:gd name="connsiteX0" fmla="*/ 5905492 w 5905492"/>
                <a:gd name="connsiteY0" fmla="*/ 0 h 257442"/>
                <a:gd name="connsiteX1" fmla="*/ 5850770 w 5905492"/>
                <a:gd name="connsiteY1" fmla="*/ 257442 h 257442"/>
                <a:gd name="connsiteX2" fmla="*/ 0 w 5905492"/>
                <a:gd name="connsiteY2" fmla="*/ 257442 h 257442"/>
                <a:gd name="connsiteX3" fmla="*/ 1 w 5905492"/>
                <a:gd name="connsiteY3" fmla="*/ 0 h 257442"/>
                <a:gd name="connsiteX0" fmla="*/ 5905492 w 5905492"/>
                <a:gd name="connsiteY0" fmla="*/ 0 h 257442"/>
                <a:gd name="connsiteX1" fmla="*/ 5850770 w 5905492"/>
                <a:gd name="connsiteY1" fmla="*/ 257442 h 257442"/>
                <a:gd name="connsiteX2" fmla="*/ 0 w 5905492"/>
                <a:gd name="connsiteY2" fmla="*/ 257442 h 257442"/>
                <a:gd name="connsiteX3" fmla="*/ 1 w 5905492"/>
                <a:gd name="connsiteY3" fmla="*/ 0 h 257442"/>
                <a:gd name="connsiteX0" fmla="*/ 5905492 w 5905492"/>
                <a:gd name="connsiteY0" fmla="*/ 0 h 257442"/>
                <a:gd name="connsiteX1" fmla="*/ 5850770 w 5905492"/>
                <a:gd name="connsiteY1" fmla="*/ 257442 h 257442"/>
                <a:gd name="connsiteX2" fmla="*/ 0 w 5905492"/>
                <a:gd name="connsiteY2" fmla="*/ 257442 h 257442"/>
                <a:gd name="connsiteX3" fmla="*/ 0 w 5905492"/>
                <a:gd name="connsiteY3" fmla="*/ 0 h 257442"/>
                <a:gd name="connsiteX0" fmla="*/ 6065791 w 6065791"/>
                <a:gd name="connsiteY0" fmla="*/ 0 h 257442"/>
                <a:gd name="connsiteX1" fmla="*/ 5850770 w 6065791"/>
                <a:gd name="connsiteY1" fmla="*/ 257442 h 257442"/>
                <a:gd name="connsiteX2" fmla="*/ 0 w 6065791"/>
                <a:gd name="connsiteY2" fmla="*/ 257442 h 257442"/>
                <a:gd name="connsiteX3" fmla="*/ 0 w 6065791"/>
                <a:gd name="connsiteY3" fmla="*/ 0 h 257442"/>
                <a:gd name="connsiteX0" fmla="*/ 6065791 w 6065791"/>
                <a:gd name="connsiteY0" fmla="*/ 0 h 257442"/>
                <a:gd name="connsiteX1" fmla="*/ 6011070 w 6065791"/>
                <a:gd name="connsiteY1" fmla="*/ 257442 h 257442"/>
                <a:gd name="connsiteX2" fmla="*/ 0 w 6065791"/>
                <a:gd name="connsiteY2" fmla="*/ 257442 h 257442"/>
                <a:gd name="connsiteX3" fmla="*/ 0 w 6065791"/>
                <a:gd name="connsiteY3" fmla="*/ 0 h 257442"/>
                <a:gd name="connsiteX0" fmla="*/ 6065791 w 6065791"/>
                <a:gd name="connsiteY0" fmla="*/ 0 h 257442"/>
                <a:gd name="connsiteX1" fmla="*/ 6011070 w 6065791"/>
                <a:gd name="connsiteY1" fmla="*/ 257442 h 257442"/>
                <a:gd name="connsiteX2" fmla="*/ 0 w 6065791"/>
                <a:gd name="connsiteY2" fmla="*/ 257442 h 257442"/>
                <a:gd name="connsiteX3" fmla="*/ 0 w 6065791"/>
                <a:gd name="connsiteY3" fmla="*/ 0 h 257442"/>
                <a:gd name="connsiteX0" fmla="*/ 6065791 w 6065791"/>
                <a:gd name="connsiteY0" fmla="*/ 0 h 257442"/>
                <a:gd name="connsiteX1" fmla="*/ 6011070 w 6065791"/>
                <a:gd name="connsiteY1" fmla="*/ 257442 h 257442"/>
                <a:gd name="connsiteX2" fmla="*/ 0 w 6065791"/>
                <a:gd name="connsiteY2" fmla="*/ 257442 h 257442"/>
                <a:gd name="connsiteX3" fmla="*/ 0 w 6065791"/>
                <a:gd name="connsiteY3" fmla="*/ 0 h 257442"/>
                <a:gd name="connsiteX0" fmla="*/ 6226091 w 6226091"/>
                <a:gd name="connsiteY0" fmla="*/ 0 h 257442"/>
                <a:gd name="connsiteX1" fmla="*/ 6011070 w 6226091"/>
                <a:gd name="connsiteY1" fmla="*/ 257442 h 257442"/>
                <a:gd name="connsiteX2" fmla="*/ 0 w 6226091"/>
                <a:gd name="connsiteY2" fmla="*/ 257442 h 257442"/>
                <a:gd name="connsiteX3" fmla="*/ 0 w 6226091"/>
                <a:gd name="connsiteY3" fmla="*/ 0 h 257442"/>
                <a:gd name="connsiteX0" fmla="*/ 6226091 w 6226091"/>
                <a:gd name="connsiteY0" fmla="*/ 0 h 257442"/>
                <a:gd name="connsiteX1" fmla="*/ 6171370 w 6226091"/>
                <a:gd name="connsiteY1" fmla="*/ 257442 h 257442"/>
                <a:gd name="connsiteX2" fmla="*/ 0 w 6226091"/>
                <a:gd name="connsiteY2" fmla="*/ 257442 h 257442"/>
                <a:gd name="connsiteX3" fmla="*/ 0 w 6226091"/>
                <a:gd name="connsiteY3" fmla="*/ 0 h 257442"/>
                <a:gd name="connsiteX0" fmla="*/ 6226091 w 6226091"/>
                <a:gd name="connsiteY0" fmla="*/ 0 h 257442"/>
                <a:gd name="connsiteX1" fmla="*/ 6171370 w 6226091"/>
                <a:gd name="connsiteY1" fmla="*/ 257442 h 257442"/>
                <a:gd name="connsiteX2" fmla="*/ 0 w 6226091"/>
                <a:gd name="connsiteY2" fmla="*/ 257442 h 257442"/>
                <a:gd name="connsiteX3" fmla="*/ 0 w 6226091"/>
                <a:gd name="connsiteY3" fmla="*/ 0 h 257442"/>
                <a:gd name="connsiteX0" fmla="*/ 6226091 w 6226091"/>
                <a:gd name="connsiteY0" fmla="*/ 0 h 257442"/>
                <a:gd name="connsiteX1" fmla="*/ 6171370 w 6226091"/>
                <a:gd name="connsiteY1" fmla="*/ 257442 h 257442"/>
                <a:gd name="connsiteX2" fmla="*/ 0 w 6226091"/>
                <a:gd name="connsiteY2" fmla="*/ 257442 h 257442"/>
                <a:gd name="connsiteX3" fmla="*/ 0 w 6226091"/>
                <a:gd name="connsiteY3" fmla="*/ 0 h 257442"/>
                <a:gd name="connsiteX0" fmla="*/ 6394406 w 6394406"/>
                <a:gd name="connsiteY0" fmla="*/ 0 h 257442"/>
                <a:gd name="connsiteX1" fmla="*/ 6171370 w 6394406"/>
                <a:gd name="connsiteY1" fmla="*/ 257442 h 257442"/>
                <a:gd name="connsiteX2" fmla="*/ 0 w 6394406"/>
                <a:gd name="connsiteY2" fmla="*/ 257442 h 257442"/>
                <a:gd name="connsiteX3" fmla="*/ 0 w 6394406"/>
                <a:gd name="connsiteY3" fmla="*/ 0 h 257442"/>
                <a:gd name="connsiteX0" fmla="*/ 6394406 w 6394406"/>
                <a:gd name="connsiteY0" fmla="*/ 0 h 257442"/>
                <a:gd name="connsiteX1" fmla="*/ 6339684 w 6394406"/>
                <a:gd name="connsiteY1" fmla="*/ 257442 h 257442"/>
                <a:gd name="connsiteX2" fmla="*/ 0 w 6394406"/>
                <a:gd name="connsiteY2" fmla="*/ 257442 h 257442"/>
                <a:gd name="connsiteX3" fmla="*/ 0 w 6394406"/>
                <a:gd name="connsiteY3" fmla="*/ 0 h 257442"/>
                <a:gd name="connsiteX0" fmla="*/ 6394407 w 6394407"/>
                <a:gd name="connsiteY0" fmla="*/ 0 h 257442"/>
                <a:gd name="connsiteX1" fmla="*/ 6339685 w 6394407"/>
                <a:gd name="connsiteY1" fmla="*/ 257442 h 257442"/>
                <a:gd name="connsiteX2" fmla="*/ 0 w 6394407"/>
                <a:gd name="connsiteY2" fmla="*/ 257442 h 257442"/>
                <a:gd name="connsiteX3" fmla="*/ 1 w 6394407"/>
                <a:gd name="connsiteY3" fmla="*/ 0 h 257442"/>
                <a:gd name="connsiteX0" fmla="*/ 6394407 w 6394407"/>
                <a:gd name="connsiteY0" fmla="*/ 0 h 257442"/>
                <a:gd name="connsiteX1" fmla="*/ 6339685 w 6394407"/>
                <a:gd name="connsiteY1" fmla="*/ 257442 h 257442"/>
                <a:gd name="connsiteX2" fmla="*/ 0 w 6394407"/>
                <a:gd name="connsiteY2" fmla="*/ 257442 h 257442"/>
                <a:gd name="connsiteX3" fmla="*/ 1 w 6394407"/>
                <a:gd name="connsiteY3" fmla="*/ 0 h 257442"/>
                <a:gd name="connsiteX0" fmla="*/ 6554708 w 6554708"/>
                <a:gd name="connsiteY0" fmla="*/ 0 h 257442"/>
                <a:gd name="connsiteX1" fmla="*/ 6339685 w 6554708"/>
                <a:gd name="connsiteY1" fmla="*/ 257442 h 257442"/>
                <a:gd name="connsiteX2" fmla="*/ 0 w 6554708"/>
                <a:gd name="connsiteY2" fmla="*/ 257442 h 257442"/>
                <a:gd name="connsiteX3" fmla="*/ 1 w 6554708"/>
                <a:gd name="connsiteY3" fmla="*/ 0 h 257442"/>
                <a:gd name="connsiteX0" fmla="*/ 6554708 w 6554708"/>
                <a:gd name="connsiteY0" fmla="*/ 0 h 257442"/>
                <a:gd name="connsiteX1" fmla="*/ 6499986 w 6554708"/>
                <a:gd name="connsiteY1" fmla="*/ 257442 h 257442"/>
                <a:gd name="connsiteX2" fmla="*/ 0 w 6554708"/>
                <a:gd name="connsiteY2" fmla="*/ 257442 h 257442"/>
                <a:gd name="connsiteX3" fmla="*/ 1 w 6554708"/>
                <a:gd name="connsiteY3" fmla="*/ 0 h 257442"/>
                <a:gd name="connsiteX0" fmla="*/ 6554708 w 6554708"/>
                <a:gd name="connsiteY0" fmla="*/ 0 h 257442"/>
                <a:gd name="connsiteX1" fmla="*/ 6499986 w 6554708"/>
                <a:gd name="connsiteY1" fmla="*/ 257442 h 257442"/>
                <a:gd name="connsiteX2" fmla="*/ 0 w 6554708"/>
                <a:gd name="connsiteY2" fmla="*/ 257442 h 257442"/>
                <a:gd name="connsiteX3" fmla="*/ 1 w 6554708"/>
                <a:gd name="connsiteY3" fmla="*/ 0 h 257442"/>
                <a:gd name="connsiteX0" fmla="*/ 6554708 w 6554708"/>
                <a:gd name="connsiteY0" fmla="*/ 0 h 257442"/>
                <a:gd name="connsiteX1" fmla="*/ 6499986 w 6554708"/>
                <a:gd name="connsiteY1" fmla="*/ 257442 h 257442"/>
                <a:gd name="connsiteX2" fmla="*/ 0 w 6554708"/>
                <a:gd name="connsiteY2" fmla="*/ 257442 h 257442"/>
                <a:gd name="connsiteX3" fmla="*/ 0 w 6554708"/>
                <a:gd name="connsiteY3" fmla="*/ 0 h 257442"/>
                <a:gd name="connsiteX0" fmla="*/ 4179056 w 6499986"/>
                <a:gd name="connsiteY0" fmla="*/ 0 h 257442"/>
                <a:gd name="connsiteX1" fmla="*/ 6499986 w 6499986"/>
                <a:gd name="connsiteY1" fmla="*/ 257442 h 257442"/>
                <a:gd name="connsiteX2" fmla="*/ 0 w 6499986"/>
                <a:gd name="connsiteY2" fmla="*/ 257442 h 257442"/>
                <a:gd name="connsiteX3" fmla="*/ 0 w 6499986"/>
                <a:gd name="connsiteY3" fmla="*/ 0 h 257442"/>
                <a:gd name="connsiteX0" fmla="*/ 4179056 w 4179056"/>
                <a:gd name="connsiteY0" fmla="*/ 0 h 257442"/>
                <a:gd name="connsiteX1" fmla="*/ 4124335 w 4179056"/>
                <a:gd name="connsiteY1" fmla="*/ 257442 h 257442"/>
                <a:gd name="connsiteX2" fmla="*/ 0 w 4179056"/>
                <a:gd name="connsiteY2" fmla="*/ 257442 h 257442"/>
                <a:gd name="connsiteX3" fmla="*/ 0 w 4179056"/>
                <a:gd name="connsiteY3" fmla="*/ 0 h 257442"/>
                <a:gd name="connsiteX0" fmla="*/ 4179056 w 4179056"/>
                <a:gd name="connsiteY0" fmla="*/ 0 h 257442"/>
                <a:gd name="connsiteX1" fmla="*/ 4124335 w 4179056"/>
                <a:gd name="connsiteY1" fmla="*/ 257442 h 257442"/>
                <a:gd name="connsiteX2" fmla="*/ 0 w 4179056"/>
                <a:gd name="connsiteY2" fmla="*/ 257442 h 257442"/>
                <a:gd name="connsiteX3" fmla="*/ 0 w 4179056"/>
                <a:gd name="connsiteY3" fmla="*/ 0 h 257442"/>
                <a:gd name="connsiteX0" fmla="*/ 4179056 w 4179056"/>
                <a:gd name="connsiteY0" fmla="*/ 0 h 257442"/>
                <a:gd name="connsiteX1" fmla="*/ 4124335 w 4179056"/>
                <a:gd name="connsiteY1" fmla="*/ 257442 h 257442"/>
                <a:gd name="connsiteX2" fmla="*/ 0 w 4179056"/>
                <a:gd name="connsiteY2" fmla="*/ 257442 h 257442"/>
                <a:gd name="connsiteX3" fmla="*/ 0 w 4179056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79056" h="257442">
                  <a:moveTo>
                    <a:pt x="4179056" y="0"/>
                  </a:moveTo>
                  <a:lnTo>
                    <a:pt x="4124335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RunningAgenda1LevelTextLeft650523">
              <a:extLst>
                <a:ext uri="{FF2B5EF4-FFF2-40B4-BE49-F238E27FC236}">
                  <a16:creationId xmlns:a16="http://schemas.microsoft.com/office/drawing/2014/main" id="{B6B5C8E7-4821-4FD3-B488-90A09B35DC09}"/>
                </a:ext>
              </a:extLst>
            </p:cNvPr>
            <p:cNvSpPr txBox="1"/>
            <p:nvPr/>
          </p:nvSpPr>
          <p:spPr bwMode="gray">
            <a:xfrm>
              <a:off x="-6" y="944429"/>
              <a:ext cx="4124335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example savings levers</a:t>
              </a: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4882C8DE-D450-2410-6903-6F29BDF9C0BC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9061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4323076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50509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84" imgH="486" progId="TCLayout.ActiveDocument.1">
                  <p:embed/>
                </p:oleObj>
              </mc:Choice>
              <mc:Fallback>
                <p:oleObj name="think-cell Slide" r:id="rId28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a Healthcare Distributor suggests ~$125M+ of cost savings opportunity within Patterson’s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Totals may not tie due to rounding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4450863" y="981194"/>
            <a:ext cx="1054870" cy="359703"/>
          </a:xfrm>
          <a:prstGeom prst="rect">
            <a:avLst/>
          </a:prstGeom>
          <a:blipFill dpi="0" rotWithShape="1">
            <a:blip r:embed="rId30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6499862" y="1119695"/>
            <a:ext cx="5310779" cy="220028"/>
          </a:xfrm>
          <a:prstGeom prst="rect">
            <a:avLst/>
          </a:prstGeom>
          <a:blipFill dpi="0" rotWithShape="1">
            <a:blip r:embed="rId30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5669887" y="981194"/>
            <a:ext cx="829975" cy="359703"/>
          </a:xfrm>
          <a:prstGeom prst="rect">
            <a:avLst/>
          </a:prstGeom>
          <a:blipFill dpi="0" rotWithShape="1">
            <a:blip r:embed="rId30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Patterson’s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04766" y="1540922"/>
            <a:ext cx="1552660" cy="221203"/>
          </a:xfrm>
          <a:prstGeom prst="rect">
            <a:avLst/>
          </a:prstGeom>
          <a:blipFill dpi="0" rotWithShape="1">
            <a:blip r:embed="rId30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Patterson </a:t>
            </a:r>
            <a:r>
              <a:rPr lang="en-US" sz="900" b="1" cap="all"/>
              <a:t>Actuals</a:t>
            </a:r>
          </a:p>
        </p:txBody>
      </p:sp>
      <p:sp>
        <p:nvSpPr>
          <p:cNvPr id="25" name="CommentBox">
            <a:extLst>
              <a:ext uri="{FF2B5EF4-FFF2-40B4-BE49-F238E27FC236}">
                <a16:creationId xmlns:a16="http://schemas.microsoft.com/office/drawing/2014/main" id="{DE25F65B-9C81-43E5-A183-665545949069}"/>
              </a:ext>
            </a:extLst>
          </p:cNvPr>
          <p:cNvSpPr/>
          <p:nvPr/>
        </p:nvSpPr>
        <p:spPr bwMode="gray">
          <a:xfrm>
            <a:off x="2332247" y="1246373"/>
            <a:ext cx="2079056" cy="440425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 panose="020B0604020202020204" pitchFamily="34" charset="0"/>
              </a:rPr>
              <a:t>Internal Note:</a:t>
            </a:r>
            <a:r>
              <a:rPr lang="en-US" sz="900" b="1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SG&amp;A split leveraged from EBOS OI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06C12B-535E-8D6A-F304-5B661923CCF2}"/>
              </a:ext>
            </a:extLst>
          </p:cNvPr>
          <p:cNvCxnSpPr/>
          <p:nvPr>
            <p:custDataLst>
              <p:tags r:id="rId9"/>
            </p:custDataLst>
          </p:nvPr>
        </p:nvCxnSpPr>
        <p:spPr bwMode="gray">
          <a:xfrm flipV="1">
            <a:off x="2355850" y="1793875"/>
            <a:ext cx="153988" cy="198438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2" name="Chart 81">
            <a:extLst>
              <a:ext uri="{FF2B5EF4-FFF2-40B4-BE49-F238E27FC236}">
                <a16:creationId xmlns:a16="http://schemas.microsoft.com/office/drawing/2014/main" id="{8A97E447-E3BF-93D4-3F8F-FE5880B690B3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655638" y="1711325"/>
          <a:ext cx="3554412" cy="4446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6" name="Text Placeholder">
            <a:extLst>
              <a:ext uri="{FF2B5EF4-FFF2-40B4-BE49-F238E27FC236}">
                <a16:creationId xmlns:a16="http://schemas.microsoft.com/office/drawing/2014/main" id="{AC40CE95-0259-DA00-133D-E78DF015290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469900" y="5999163"/>
            <a:ext cx="1825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17157B3E-B555-48A1-B742-198DFD511AA1}" type="datetime'''''''0''''''''''''''''''''''''''''''%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1BDDD1A-B2EC-95BC-0FF4-D6F847B2BFA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400050" y="5143500"/>
            <a:ext cx="2524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ACF7A092-3559-4D08-B0B2-2F004E195BBE}" type="datetime'''''''2''''''''''''''''''''''''''''''''''''''''''0''%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E1FF8607-2E60-11E8-A2D1-A91C2D4E7637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00050" y="4286250"/>
            <a:ext cx="2524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8C55B46-98F7-4F09-86C9-96F719228AF4}" type="datetime'''4''''''''''''''0''''''%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D4440D6-CAB1-9E1C-7F39-4A3B0E0236FF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400050" y="3430588"/>
            <a:ext cx="2524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C35CD8B8-D91C-4CE1-8703-C5DD2991F702}" type="datetime'''''''''''''6''''''''''''''''''''''0''''''%''''''''''''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CFC2B856-C9D1-D41C-4ED6-4B36C56FCB6E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400050" y="2573338"/>
            <a:ext cx="2524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1418199-69B7-4CB4-9138-D3CF70E48D37}" type="datetime'''''8''0''''''''''''''''''''''''''%''''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C6D4F9D6-11D4-BB53-DD13-F49A7B83FA7F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330200" y="1717675"/>
            <a:ext cx="3222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BEC22047-4B66-4B47-BAC3-8AFC8B786050}" type="datetime'''1''''''''''''''''''''0''0''''''''''''''''''%'''">
              <a:rPr lang="en-US" altLang="en-US" sz="1000" smtClean="0">
                <a:solidFill>
                  <a:srgbClr val="000000"/>
                </a:solidFill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100%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83E8FF89-5277-5976-DB81-C34942C8D497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71EBF732-62C3-0F4B-264F-4DE6734EB8EB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274763" y="1816100"/>
            <a:ext cx="6191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CE5E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73CC0369-BC1E-493A-80ED-0BB32EB8FACD}" type="datetime'E''B''''''I''''''T (''''''''5%'''''''''''''''')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 (5%)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10C323BA-0E80-5EA1-6932-97E327E70314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1222375" y="2270125"/>
            <a:ext cx="723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CE5E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187827C-3455-43CA-8BF7-912978ADB0FC}" type="datetime'''''''''''''''''O''pE''''x'''''' (''1''''''''7''%''''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OpEx (17%)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1F747495-7236-6432-1AD7-B51B9F6DD415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1257300" y="4235450"/>
            <a:ext cx="654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3BCD3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28ECB6C-20DE-4FDC-87B3-E5CFE6A9FA66}" type="datetime'''''''C''''''''oS'''''' ''(''''''''79''''''%)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CoS (79%)</a:t>
            </a:fld>
            <a:br>
              <a:rPr lang="en-US" altLang="en-US" sz="1000">
                <a:solidFill>
                  <a:srgbClr val="FFFFFF"/>
                </a:solidFill>
                <a:effectLst/>
              </a:rPr>
            </a:b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6" name="Text Placeholder">
            <a:extLst>
              <a:ext uri="{FF2B5EF4-FFF2-40B4-BE49-F238E27FC236}">
                <a16:creationId xmlns:a16="http://schemas.microsoft.com/office/drawing/2014/main" id="{A2BD66CE-423D-2C33-71EC-3760FC4A2CD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168400" y="6118225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7AE9B365-F20E-49CD-9C3F-8030C770B942}" type="datetime'''''''T''ot''''al ''''Re''''''''ve''''''nu''''''''''''e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7" name="Text Placeholder">
            <a:extLst>
              <a:ext uri="{FF2B5EF4-FFF2-40B4-BE49-F238E27FC236}">
                <a16:creationId xmlns:a16="http://schemas.microsoft.com/office/drawing/2014/main" id="{375B6D80-B417-DA40-4E2F-8B36CE7817EF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2717800" y="4530725"/>
            <a:ext cx="1123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CE5E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B056D81-E6EC-43D5-A98D-4A5C853CD650}" type="datetime'S''''elling &amp; Mark''''e''''''''ti''ng''&#10;''''''''(~6''5''%'')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Selling &amp; Marketing
(~65%)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8" name="Text Placeholder">
            <a:extLst>
              <a:ext uri="{FF2B5EF4-FFF2-40B4-BE49-F238E27FC236}">
                <a16:creationId xmlns:a16="http://schemas.microsoft.com/office/drawing/2014/main" id="{C5D9D517-8335-7EA4-67B4-A5120362EB7D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2563813" y="2390775"/>
            <a:ext cx="14335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475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242CE3E-31C5-4348-A90D-8B6C73397726}" type="datetime'''General &amp; Admi''n''is''t''''''''ra''t''''''i''''ve&#10;(''~35%)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General &amp; Administrative
(~35%)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3C979B81-DE6C-2F53-C56F-9A374CC52514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2940050" y="6118225"/>
            <a:ext cx="6794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DAF5CFB-1F44-4F6B-847C-7726A90AC1A6}" type="datetime'''''''''''''''''Ot''''her'''''' O''''''''''''''pE''''''x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Other OpEx</a:t>
            </a:fld>
            <a:endParaRPr lang="en-US" sz="1000">
              <a:solidFill>
                <a:srgbClr val="000000"/>
              </a:solidFill>
            </a:endParaRPr>
          </a:p>
        </p:txBody>
      </p:sp>
      <p:graphicFrame>
        <p:nvGraphicFramePr>
          <p:cNvPr id="33" name="BainTable47798">
            <a:extLst>
              <a:ext uri="{FF2B5EF4-FFF2-40B4-BE49-F238E27FC236}">
                <a16:creationId xmlns:a16="http://schemas.microsoft.com/office/drawing/2014/main" id="{4D6D711E-26E6-E644-C4BB-3EDB7983436B}"/>
              </a:ext>
            </a:extLst>
          </p:cNvPr>
          <p:cNvGraphicFramePr>
            <a:graphicFrameLocks noGrp="1"/>
          </p:cNvGraphicFramePr>
          <p:nvPr>
            <p:custDataLst>
              <p:tags r:id="rId25"/>
            </p:custDataLst>
          </p:nvPr>
        </p:nvGraphicFramePr>
        <p:xfrm>
          <a:off x="4471987" y="1338677"/>
          <a:ext cx="7394576" cy="49719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430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092266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088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355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COS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 and wholesale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Delay placing orders to incorporate more demand data and cancel styles or shift to domestic FG vendors for tail / low performers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quality / features and revise size-level forecast with historical data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internal operational and financial KPIs, conducting internal and external benchmarking and assessing overall performance/ trends, plant visits, etc.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125675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1-2%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~$50-105M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26286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~$50-105M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290355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&amp; Administrative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Explore shared services, internal COEs and outsourcing/ offshore to optimize where services are done and by whom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95762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~$40-75M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290355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Selling &amp; Marketing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Grow rep selling time via winning behaviors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Reduce gross-to-net leakage and</a:t>
                      </a:r>
                      <a:r>
                        <a:rPr lang="en-US" sz="1000" baseline="0">
                          <a:solidFill>
                            <a:schemeClr val="tx1"/>
                          </a:solidFill>
                        </a:rPr>
                        <a:t> optimize ROI of commission spend</a:t>
                      </a:r>
                      <a:endParaRPr lang="en-US" sz="10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Deploy right selling/support roles for each opportunity type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1000"/>
                        <a:t>Enhance productivity through re-design / automation 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103261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~$35-105M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9035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OpEx</a:t>
                      </a: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~$75-180M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9035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rgbClr val="CC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~$125-285M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900" b="1" u="none" strike="noStrike" baseline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4DD74341-1B9C-7E72-8616-970052C6E6ED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108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btfpColumnIndicatorGroup2">
            <a:extLst>
              <a:ext uri="{FF2B5EF4-FFF2-40B4-BE49-F238E27FC236}">
                <a16:creationId xmlns:a16="http://schemas.microsoft.com/office/drawing/2014/main" id="{14D5B380-9A44-4BFF-9D0D-29474798ACA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1" name="btfpColumnGapBlocker583976">
              <a:extLst>
                <a:ext uri="{FF2B5EF4-FFF2-40B4-BE49-F238E27FC236}">
                  <a16:creationId xmlns:a16="http://schemas.microsoft.com/office/drawing/2014/main" id="{9060F16F-E3FF-4A74-A3B0-BCDB3BD27D9C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1" name="btfpColumnGapBlocker145660">
              <a:extLst>
                <a:ext uri="{FF2B5EF4-FFF2-40B4-BE49-F238E27FC236}">
                  <a16:creationId xmlns:a16="http://schemas.microsoft.com/office/drawing/2014/main" id="{0ABB8DBA-319F-46CE-A3C4-DEE014937F0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208146">
              <a:extLst>
                <a:ext uri="{FF2B5EF4-FFF2-40B4-BE49-F238E27FC236}">
                  <a16:creationId xmlns:a16="http://schemas.microsoft.com/office/drawing/2014/main" id="{B3F4F8DB-B2CC-448D-80C3-1778AED62C6E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517895">
              <a:extLst>
                <a:ext uri="{FF2B5EF4-FFF2-40B4-BE49-F238E27FC236}">
                  <a16:creationId xmlns:a16="http://schemas.microsoft.com/office/drawing/2014/main" id="{E8E9C8E0-A54D-46D0-A14A-C06D6B2F742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btfpColumnIndicatorGroup1">
            <a:extLst>
              <a:ext uri="{FF2B5EF4-FFF2-40B4-BE49-F238E27FC236}">
                <a16:creationId xmlns:a16="http://schemas.microsoft.com/office/drawing/2014/main" id="{58EDE728-8D32-4EE0-B41F-D7968ED560B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8" name="btfpColumnGapBlocker707143">
              <a:extLst>
                <a:ext uri="{FF2B5EF4-FFF2-40B4-BE49-F238E27FC236}">
                  <a16:creationId xmlns:a16="http://schemas.microsoft.com/office/drawing/2014/main" id="{8F0B11FF-CC8E-4796-A441-274C219BEBC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650209">
              <a:extLst>
                <a:ext uri="{FF2B5EF4-FFF2-40B4-BE49-F238E27FC236}">
                  <a16:creationId xmlns:a16="http://schemas.microsoft.com/office/drawing/2014/main" id="{34BE7A0F-E6E2-4F7D-813D-F4F03768D76A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685097">
              <a:extLst>
                <a:ext uri="{FF2B5EF4-FFF2-40B4-BE49-F238E27FC236}">
                  <a16:creationId xmlns:a16="http://schemas.microsoft.com/office/drawing/2014/main" id="{E60AF655-7F0F-4E48-A620-C9D5D192CC8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334359">
              <a:extLst>
                <a:ext uri="{FF2B5EF4-FFF2-40B4-BE49-F238E27FC236}">
                  <a16:creationId xmlns:a16="http://schemas.microsoft.com/office/drawing/2014/main" id="{43400BB5-F9B3-4826-A6DD-12A3CD07F8E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Applying Bain experience from the MedTech industry to Stryker’s cost structure suggests ~$1,285M+ in potential cost savings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4" name="btfpNotesBox953997"/>
          <p:cNvSpPr txBox="1"/>
          <p:nvPr>
            <p:custDataLst>
              <p:tags r:id="rId2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3"/>
            </p:custDataLst>
          </p:nvPr>
        </p:nvGrpSpPr>
        <p:grpSpPr>
          <a:xfrm>
            <a:off x="9998708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BainTable4779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3200134" y="1304977"/>
          <a:ext cx="8661666" cy="52844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3679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823344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6501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716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Clinical Site Services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resource utilization through optimized scheduling, higher resource sharing across locations, cross-training, optimal matching of technicians to cases, etc.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travel time/cost of remote services with automatic route optimization; Perform calibration and testing in factory to reduce installation time in field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Effective dispatching: Optimize remote diagnostic &amp; resolution capabilities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44781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~$145-215M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180716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u="none" strike="noStrike">
                          <a:solidFill>
                            <a:schemeClr val="tx1"/>
                          </a:solidFill>
                          <a:effectLst/>
                        </a:rPr>
                        <a:t>Direct Materials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discounts; shift volumes to best price suppliers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(e.g., redesign equipment for better cost and serviceability; simplify parts portfolio by cutting low volume parts)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44781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3-5%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~$120-200M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180716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Manufacturing &amp; Supply Chain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 inventory levels and emplacement by optimize footprint based on segmentation (customer, product, velocity) and leveraging predictive analytics (real-time, mobile-based tools)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fixed and operating costs (e.g., personnel, maintenance) for facilities and distribution by optimizing warehouse processes through automation and technology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Decrease transport costs via more efficient inter-facility and customer delivery routes and logistics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Leveraged 3PLs for specific expertise; use DHL for warehouse logistics (e.g., automated picking robots, distribution system software) and FedEx for loaner kit processing &amp; distribution to customers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67172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~$180-360M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Total 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~$445-775M (~6-11% of cost base)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180716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&amp; Administrative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Explore shared services, internal COEs and outsourcing/ offshore to optimize where services are done and by whom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33586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15-25%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~$350-580M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180716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Selling &amp; Marketing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Grow rep selling time via winning behaviors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Reduce gross-to-net leakage and</a:t>
                      </a:r>
                      <a:r>
                        <a:rPr lang="en-US" sz="900" baseline="0">
                          <a:solidFill>
                            <a:schemeClr val="tx1"/>
                          </a:solidFill>
                        </a:rPr>
                        <a:t> optimize ROI of commission spend</a:t>
                      </a: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Deploy right selling/support roles for each opportunity type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023542"/>
                  </a:ext>
                </a:extLst>
              </a:tr>
              <a:tr h="55976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~$430-865M</a:t>
                      </a: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995619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~$780-1,445M (~12-22% of cost base)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R&amp;D project portfolio with strategy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infrastructure spend and capability sourcing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portfolio / project complexity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91350"/>
                  </a:ext>
                </a:extLst>
              </a:tr>
              <a:tr h="22390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5-10% 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savings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~$60-125M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535903"/>
                  </a:ext>
                </a:extLst>
              </a:tr>
              <a:tr h="18071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~$1,285-2,345M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10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3214814" y="1025106"/>
            <a:ext cx="1123633" cy="359703"/>
          </a:xfrm>
          <a:prstGeom prst="rect">
            <a:avLst/>
          </a:prstGeom>
          <a:blipFill dpi="0" rotWithShape="1">
            <a:blip r:embed="rId1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5448033" y="1170983"/>
            <a:ext cx="6409005" cy="221203"/>
          </a:xfrm>
          <a:prstGeom prst="rect">
            <a:avLst/>
          </a:prstGeom>
          <a:blipFill dpi="0" rotWithShape="1">
            <a:blip r:embed="rId1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4424891" y="1032483"/>
            <a:ext cx="936699" cy="359703"/>
          </a:xfrm>
          <a:prstGeom prst="rect">
            <a:avLst/>
          </a:prstGeom>
          <a:blipFill dpi="0" rotWithShape="1">
            <a:blip r:embed="rId1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Stryker’s</a:t>
            </a:r>
            <a:br>
              <a:rPr lang="en-US" sz="900" b="1" cap="all">
                <a:solidFill>
                  <a:schemeClr val="accent3"/>
                </a:solidFill>
              </a:rPr>
            </a:br>
            <a:r>
              <a:rPr lang="en-US" sz="900" b="1" cap="all"/>
              <a:t>hypothesis</a:t>
            </a:r>
          </a:p>
        </p:txBody>
      </p:sp>
      <p:sp>
        <p:nvSpPr>
          <p:cNvPr id="19" name="Rectangle 18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yz2t3h3Qdw9oDA7dokJTm0oNYBClCcMCodpe7R1gcxY/ChfIbCN4LLZjp5Vo6CEX2PKA4zC3rJN5XmSGhMRd1+B35Fe534+C58uVf+UpeXJWA9PVGniOR7aTZHhJ20Svic2dMt2/iQ64VUl4AlLJv1wP4MmRUQp/pjBJ7O/B3ek1ppd0NaXkRxTW6DVWjmeBugQJItVhgUXTOnhsgnem9vLFqqe09lbhljZofnCvWwXxOvD24mM7ZT5oxdo8pc2fEi1KHTD7nLmeCQniJCNOk5o6eYgZL64qP+R3sw7z+SMN/cHZ7wM9qbdLxyRRI5N31wD/4LH3/kHkzwOIiJpvPKCMaVqHRCjmtPMNTd3+aMUKwBCyCgPgLEmR31O5mUEWkDfuQPukiC+7i6WCYLcODcCZkCMiMzxkYk4kxSuVXq3V9dz8RTP3QuJDmY02DEoYuvlf1bopncfWdzNsVlrfnf/M7l0yOuj3+TR3qPnrXCX51C7reK3O1YgfXR5019XwsYcEQYOBw4angP6WMK+RLgqra0Rj0Au1FhRZKX/9gQtUjR3j8qopRjX5GQ1uHSGN17LZjQNM4jEpnGygjUbaA3rhqnZ7CGuwDGNcYYI8BAaenYfdF88Z52rCVWGT6GsnYDmI/Jn+sRi21Yu4ZRH1htrdVDGYg/nvc2f3ew4mm9OwQW1q+/05YX4maxDHH3IFKWxTQlP6qBPJGHlydTR795ayGgBKbhjR2Kgouwd7wUelKv6bC7F/jG4YSW/JsZWQ+lRH/fp1TTk5WWe/0xFmgRY9FoWxS7/XctTypiGqVRLk6FzL3yuVBadG9o6K8hTa165PuZN6OdMv8npfRQqMvlJnr33CRSXtVqNTKmZSK81DY6iuz7Ysx4MEnaICL5yLAV71iCbniVgM08Xitx+FtpzDmGmHavqz1Y2ptpo7oUFKwWFJlyxIe0cThYFIHfcFNoLWSHag2OXzB0hblxS1JVsCu8ZGez4P/O+SorztE+4dEX8IKRzRmAn40yPZh/pMZpWVGpCsT48fzERM3zf6G2hfQpunIb5NcH7agz3x2ej5cv7Kk5wl4BPtXWEcIDbcjwbB3rbPbqNGfEceacZ2mIYhg5AdlYbkiUwp/YCyDA6UuAtwoV6q2VdwvOHhd0o9kTKv+UJgJUVeexGqmH2n4p2bDb/asWKyRTYn4U11mlNUokltaxm7h8j+w4j/LmKRbIsmDugYdOMPJH3GceZ2q3qm2KybLNAYbbZlp7fqWwYM1l+9muK7Me7wuvIN4RkH+xYi1kfL+poB/TbV+bH2Hbm+s9uoTFhAs6HdQcOqqsnuIaofW/zypaMLBMGzGvKhuQ2qse8eJ2XACLv/ZpSy6yIox6zKENfZmNmPJje5DqrYXdoGY5pYBDRqG09OhYSnP+keJS3dgM7/bf2CnS3TC3jJzuxh43Dfw+gJdGKkvBPnIPik7ZBaZVkWgz2RkfgR3YL2i4kqzJ1bBU9U/SHrZSVCK420DvguMQFi7XGmGa5S5SIYslaX0YHXpiFBw5qFk1AgPbqfJx6kq7/kJZYWdhU7LtyzsmSDyqDsqloihVIOdepnClfZr47h9nA1RTHyY636Sovo0Hx+jJqV+JAuzLgb+pp2Ey/TQlN0ZjiUqONJAc1Sqs1J+ZBQqPSjG3wy2To5DbbE6m7huDZwPzk5mX5fr2VDH55MJcAqkgiLcu1MZYFunEh9nSR2V1/X/eViq1bHXucq4AkaqshTj94JqxsOSL1fxx7nuQcyDnRoqyxQsLFKfTwHPGKqw5a3hUGN/OtQS57TIN6h6pQzxaHqWa7oh/XLhQRcX7EPXx48B9cfMUApYtmU5cXCTUBJNtL6ftwvgvyc8g0un9bRZ3E7GkiTuZbosCbk5Eq2VGpCGiPYDZTPXw/HcvaGr4uBtOQFMCsmYx0PwWcSNWgPO64fS7Q+Y20xS0F4PIkHhWXT6ID8+OrRonPKP4kWZdnPjdsZ1qwGraC+cKNpn6iU0y9NHPPzu39/qkDN63KAyEkd6XSkI/5n1OO4GRMgG0pCZ8v9BcMBfONMZEU0MQfoYY3wv5PaMAjJO/7iRAkk0cXrQPQNbKObpRjcsMWY8E74fjyrsLKJnfJGs2WNEWYj2sNKDRrw/muQmlGwFyWcOlrS6QkYRR7qzkZZycAZJ4fuzSW1ZAzoJlo4UNvT10lHmCenJ8H0Z+z9oMOzEVK20WXH93KPAStp+zItPw7jyP+iD9XGdsSDAIMe1tT8DNKBfB+5CucWRZVrz5NVHdodNxh+e578YoicjkuB4f0Hjfmh15aMf4ZxHILcbG2EbHcAWbsyZRg3PkB4wuMYPlAUJmnLtjaxuHpyiA2+bulwIm6MlFDasBgmsuEyfcvzpSaP3dZ78Kzl+I7z8kG1yhdJ9iOcQ5KACvaHnhnmjgCzGdbdlhpvI6Us/+1i4hOvh+5ubPD9mpOdnUx90nYIuvLa1chzhnco9znaqSbK0zAwic4+KtL50lNSP62F8UX+OrDuDxxhSRZDK+AWE9AIjjGiZ6utHcQNpO6mk4IIedKhQBRAEtt2/a+Da2E+Toj4ZVFW8UezHjueHkVmL2dG9SrHOkJqzv/dOeXbTB77Yk519VnfZ4isZlsU+3yV1/Ycu2jSmhZPjMLTx8MDS3D+ti+hSGRcsnTOpfkcKI9RHS+jjgio8OF0Rbi8rXY6Zz1Ld2t6HQXxalyeExsMPaPGIjArdQsWxsCsMY1+/rLnyBVxGgj1uOqsRGf4p0+cD/Yyejwlh7W8uZIDqhvkXbQ3kIVLQZ3CYAWbtmL7K13x02JgkES+Tc06WvEc38LlYOcaFVu0B7OFrwwyivkY9ccsCdopHCPNbOPsaGLCu03a5vSIJvsvHdeniPeGh89vLF24yUoDtHIy4wAyE0aiQ0mL2m7ZnnOmwpNRLZ6x4t+/1xetcTc9kZaXWEtZZw9o3s1PjPR7bq+geLhaV9gbIagzhFVsJQW6YQKwZ2SL6KwdfuI9CDV5kIH2ZwjKYfldeQY1iO5UTkFa6OhIc1Wx/h9wlUXDJCFxTwpbudcWz/xjGXyY5Pl6otnQqXyFk/YrZJz0zcT4e3rNmVbF14y/iM8Fh+7/JomLOjrknLeQLyHi2hyQY/yfWzAuzGfWBcjTlhy0R/XXFSWCuA9th4UrvKFW8WbhazCOl/JKTsBVBLwLe5iK0UvMDEoNWqtLedi0jJcjYqxvvl2EjNTSvBoL8b5KgErh2iYu09fmnpdHAHNI8SOusznqR8BTQO+vS3tqv4oeIpPJXqAmPiZAZE51XJjHZ4tn+co3CWcwSX4zjaNiZRMnzqNj8dbP6bkzfldkFgxiKkDOTgI+V9v5U8kJD4bgL+6VvDZjH6F4hCaFFuFJKhDV1rm4pvh5pXpqbyI7rEFgW5b0rm7cSPRun9HiAK0yNPY+gFHznuCYBCn+HrhMuMeOVHKTGggQ9ncd9lhOtrREXbU6Sdv/eY0WMlVU8Y06gA2X8N8YHyChXWi0nL+GtNsPc3yCMgUeXzrcNMNgZ1k9N2MOCCMCG4sujKZy6TPIMLluROrbfx9D1zEXA6nMN8SQPo5Zmiw8XoVjRT+uLDZ+XbKMT+Lqev79OokVVce7vTASafxK2ipr0c9AjCaXrg1f+6WX0fPjqkOW6l4PG/0isPZWMRu3O4Ynq8iT1HSKHjTNVyHf9DZnElirj9kg55kyBPUVKiR3qdsx1ZzOumEmbNp0q5SzihMNSEjAmxX4fAgcO/KqzJhP4DS8N05ejwtuzMgQD6YgpkI37QkITF/Ai0h100Dm5zAVaEv46mJzCTKzJ5aV6IsZSz/ESYSiJyxPiewWOnfNG1ap11M7oEyhujCHXihUK8tWfqOgcqLMd12KC3t1w39otwIR1pyVVjnj9jk+FhpMy+F65+US+XudbVLQgKPLC8prIQMY8gsMJ5Oz3dnCQlZX6T5HtddnBfyMePh44BGdslUUeXt2iqI/LLJikar4B3ZzsGZhsQfq7VQmHBcnxmWLJoTTnxYBbEj3UW2TByIpYFNzCmYD2Zf1r45/ZgZIHqHMsN0y37CA4UMxUcPRtLdyh3St3KPabOoUhrXx3+UiRhSMmoIGr/W99JuuXXhB1rVfmkK2sZ1ehzg4dQ+bVoZ+fUGTVZIHCQ7g3qLB0o6jhr7AOZjMiov6btiH0CPr2DTuctvAdGwnSDPFul6fD2r3g6FUqPkEsiUx8HtJngnKSSNd2PcuhxzigKNHFzzVHnXz8crZRiJrDHgdUvxNVGwmOx0mtA6uLJu5pr4yUu4BfQQaGxZFhKkeR/FGye+AminrVvdHj3jyvniOqSPgnmJ8JIEIU0inunc8fhBDw/0cBXgyhNXJBwvRKJ6JxIGGR/6iSIIUl2rh/ZlIfc0Cwd28YZXs96aRYrVCVyNpZr7MdJ4cCnUaq/IosuZ7VvCd7e1wsDr3b2d6KUBMSX5Ov1nuS0q4fzzyUh904D/UVRRpXEbDuwXTjDq+9OQt9v2vy8qNc2CVBzx//7DRdKxaGe8s7Cpx1KbAr1LDFZRApMu4lP0wmGK0iulNHJDAOQjaC1YbooNARiTqCsvSqcipHRgyHjgj3YWiePIUZ+VvE6x6W+b2HKnOaXSp5rdKM8hwvAn3Pqv6FKVxP9LFQpBOC+gymZNAsFNyJL3RsAn9+QKevEHX7Kt2oH09/hy93hdbzGaniqm9MTLoRUXe71H0DiHxLgEI5Vt3ox/Eyyi4dmGUoMbvejPV46JdTqhN8j8TFtgphnyCwmn9cqHk5+gTA49bg82EGjTLzRuoosPukoukc6sghajwWxBkCIvm0FUTNy1MvKBbWRbuUZS7NLP3qwjzB9UUiVI3REtnPvI7saOWz9ip6RphIQeHT7tQ+OFJLHBGl0mVezuk6l4+FGq2n92Rl/p/StUgyLqA7q3iwp83TN5sdK1OT/c4CRyT1jpEX8gQpau/mnJForf9bTwDkX9N/KcMEsjVxNYKEUPJNwJUtF1rgZJFFIcSts+p2+rsibzibl6vHNL5gzeE5oqSb4nAOqdUUrmSSZSvNclkrpWKW6PptaOxHaLjGAwKRuFeAzwh94BWUYnAhHuk5dEZqhzzkAF2mKeBIaf2sP5k7IMrZgrFbCWomVCVPElFu9OY8mPbpzPcVLnLiDQ5vgD5NtE/M9cDVfbk6jLdJcgdfJD+79LP+FTy2MIqjEqN/P7bMBtng+uH0qQFxSF6LbhrZyCKiXu+4wbgYcFzTdsoeLNB8dSxd584SvrwCjzS8Wuqv7cqXukWvFLoCEmbUX4loOwEWtw6BsEySoAw72LJxOBsLoUcK+yOw5zmPcV4poWwoBW6tj/y/8pYGYkE5CKJrRCl/1f4KL/9EncqhTmbCFRv8gzI6dEi8RJm7LUlG2nwdztDFJtPNGPEeRf6iw+1+NHwQmdiRoQKnUEn3ndESyiy4bIl4n1e+k1Ai76tKRhul2YHMDSzjKGA0H1ILHKMSDlpsLvA8n3y5TPDHxGyzwbybXk9ySiH52zuWM/ItRlH3I+4ToyqhkRh29u2QoyEEaR3f4Jf9E7Z/hXgVowOIdEx6Fc1hBadTF85ZMx/K+ebH5d+dVDeKwo0+PHA+/Zt5KSpu91UaHHVDb+yiW0pb+kRFoyn2jDr6C2ygRuQ5Zw9CvDQ5TCvM0Ik6omUcJSvJ2xzYl3PvsTQvtmSiFb1KJ7fhP1u2YalZn/DYN3uN+4exwTfQEctoZfYgUu+VyOAB0HeKcGd3ZIlfzHaJkpKp+r2pI+g/ODbFqMNnngQ+ivg2uDCc73bQpyRTHXiMbOgwSg+BzscRBgKs16lkS4cHrPvK9yIkXkmf+PlV+dmqlXnW4NNJ9GAO4JwIcxoHXWKeH/qCj3E2AyE3fHzMsjodyb64kVhGql7ZIumMVj6WCRVYG5lgti419W3f8aErWEZfv07WHhdRNzhcXwV67E3n3x37ft2y77JwcAY6mGsY/aqw3DFiwhy2QYrts3dXVzrK+MQQxBDZ6BAAFiqFss0bD3cEGKa0ZltoqGS+jfxfB0ez7n8MmEecJlj1LySBBPF4hEffjbPNBrYjbts0r0uAw1wriOmZWGOlfe6jMUD3PqdGUJ+lemY+lofEnYEbCtxoW2Nvb0rmHHIKav6hMB58ZduOZ8kkycKEtzk2Fb1CEfGbZGsxHly0WpvcSD4xCK5d7bR3Sc2AvIUnw8LAKL6bKkpDvLmoHcjRseMqZXPE+xnZ8uk0NPQNin4J/w9iWvqijHYRPrVbLFBKfLdyJxtoA2NvL7wMHGCWAEZtkkifMll9A/4svkInZSG3DnVLWgevMTiuItd2BSiJFRNdnjsbTO0v8nnDUG+maRsQ17MEAXSs5rUtnH6Cw6jXxZUSa5ne2TULUcq0YNISxbZQiSL4aZf79jZ/GjbS98jjC8ZBlcvhv53wfPczVmpRBaKPmWndqDmXHSd7hq50JpU7BMsk+qgXUokrVniE6czqYs8s7W0g0ZhDSyYTE0ys9+1KNZyRc3uHPFbO8g7QDBYFyXjkxnfNM0KzaLu7VuTZTXfL/S0XY3BA12bHmhNltsXA5cDvNzv6a41k8pcZE90mhDUhnjpENBdUBrHEZNpK8kAvkR9Oaomu5bimdoae+Cjd9w0ZAIBzCIfZcV7URm6Kn+qVLbspmjv1eyAnWMkdfIguJRnEW3DUK/L7XF0hc0R0nbt5ChzT2hdf1ej45/BIriTc5PRMI4BfoBrfyPnRpwJ6f1YB7T3auEqIUkPc8nqOiqOcTsMsOSxv11nbytf8Y3NHLktsIS2UmKwB+m2nPmsTp0V+phmO7x37yB5zD5AQmGLdxe2BGaQxsfYmc4qqoO8rSmWGG7eCr38uxePfUL9Lc/LEIBynssOwpwSitXKPBw236FSUFXi0L7qqeXaCn7yruaWUkc7FUJYaRwjB6bPpazuQwLh4JYb5rTY6J7hm9p8Jcl+4//u4ZPNqLwpOYPL2TUhKzkRWouYUj1JdiakcdbgN6fvGbHdUaE2c2v3IDVRBHD1CppX97iH5Bd69hE6VwcjX8R0OTo/m9IlGMmeqYNOXL0MaWTj5cPwN+lIL4wgHiqapSbwCrUXrZ8P61FKV2i+U6Xi3h5B7yl0sfGW0fvxcee1fXBicYf43NcX9ibKcWYFy7W3lWotKYwj6pW0db1OtYyjhbRgMEUcYIflJTPqsiAttpmmy3CIY+dOyJ9dNIRE8YtkkQeBgLBWszrYtjMSQZpOWr10a1X0PDjYXDLAcpI9bKyirNXubql5tEHQGG+sgYJufGV9SNFq692Rcl4QckU2ZcsEKfCRv+5Mp3SzaYJ5HoI37MdQgMsvpOIrnMmlXBkMYTpJuAh4d9HJbeFUpx0LwmEfwOgW+QwdtFA8BZaPUMDKYbz1xgCzSoU+8mzMVcHQ+SQgS6mWs0MEkFcqoTZAisKLsSzmpB8JR8XD0Arw2erTLRpgUUd16vY4Gbc4c3+/25oO41Si9dPPeEhLDDSPuNDgwlEEacXVcUtHOjgeiymMpHRujFA04hjmY+o7uQ8APk3AkmoYbno5PZZUtQeULjgaImmTelNQyfIdeKWqU6xXCpGgErNVV70ij9roGOjKwUhtFJhaVAFlT8mpmDecatbcnOcsAdGcMvHkNma30mgzoZU4XmAYpGDRMJP/J0497RsRiwAqJ4NzY93nm9q6wD8fQ8oVK+gn41NnJF2+2oEeRp4vzts9qOWlUoWGM4X1TCLDcZ7o0xWEsW6M1wr1CHrK79MTfzAHlpqDgvctcuS54hJD2dBboE5NxfQr2Zf6FaUA45sjF1IWK0baaJDGKyCBasCuEnEEvcK2nl4yqnq/Hc48dmlnkvyFLXiUeBPaZ18uCZSd3qD/Toi3CTPyho+j5oqzwIdrDbXgmyNF0uSQ9lqz++Hr2uL8520ZEQKSYFja2npDhfBqJxeokPEW7INCVISun0TX1LlPBf/DC+PLKTP+BWiOwrCv7FRga7JzTzClQd83YeoauCuwSv7nRKkU71y4wJBgV67uiMpJ0KbLAbO/hMn0+CofomPMscUBrVqdWoZrMzAGi2/fZkcKmxzkMZLGTwZSiCEW2jExxb7l3t503tXSXg0irPpBL4k3NpNvHlQq25P3wncWu5v4lk/W1Qgd7PsXRi0+U43AsaOlbfpr5vdWzC4PbI2dF9G+JRHFoi0+fGoedI719go2FE6M7nNUPeQvi2OVsH6NijXTCaNlzpYVuMTIut+EnrN6jl1QIncxr/8WIbsIYD1UpBCiuwqs6GOquQp+PdH2DaRu8qRsHKLZVUeefU9kPxaPBRBy/3cyfEm0/UP/a0u6koKBAvS6HKA1Bv6w1aim5nflgZFBTfuhipvKyeJViMjBIUWiqofof+shUMvlMkZ0UkAgpb/2ii+pkvCkLWh6pHIv7v/xSjm/a9/neZhQ+lVxzYvOLTK/a9c2WDQyLGiLCKs9HdxrmUAL+MpiKgyUNwOO1I2wNBLpy8vl3zfprKVXKOhdSEVabRGHDTdNil1aQilG1ubaLf0ENh3ewCZx4oi2S1WLP+L5PmE8HUGdnEW3CJ+4IMH4Nh3jx/ESS69AIwJp9rkSyiWioIJ+vbsiDdIfFrxGzhwMk2iuBIb9aoOOs4KEgT4EhUG4uuXU1zo3fcyhB3C4r+2NjZ/XEa/+w/A2QYBuUeKaDl6R1HISSvYRE7owuQfKSt6BW03Ye8dpiWavr0w/e2JbYqEltI20UXDkiOsMYdRJB0wFf0m2L668AtX5zA0Kx8FED553qpQjqKbI80lvVpIoMgAkhHKba1oYNoUTAbO7XKn/f43Rua8Ud1lFKm5ynw4Z01BwjQ0Pj28q7Zqdkbco/4n4bVPRH9IHFLzfYYqHUaCOIjf3Q5dq9uIyLEgUlA+8qcNk+lVY4UPHIHi1vjd36JzQdUjKd3XrgWZ5mQsT0TDrkvAyqSeyj5e1P724waDCdD1alaGDHBic4rwQGp0nrAsMNAPJG4eU2oA9sldVFIccW7qmIv6ySse4jzR1FIlt0BfTswTZqWye96L7P9ULvB4HBmyYO94PmrX3jkuQ7wtV/xIa5Zt0wT0yTvqHqRLxXmzmrtknByK7I9cB2sL5FgmLhZYrqq5wM+e8ysr+uPf+0VyDo9E8wBquOXRkPTBn2ZWGjvnTwBS83Iyu7gH8pWEPR4brvc/xJiWqkrieUS6H8Qx3EmGxrsaUh64FooLsXEM6FXDxpGV8iMaVy7L4355RYBrZ6Pylb16NM2vt3ylNahVKv3s/Hv4MuNLvFKfG1gePW+vo0W8gdA7hWu144M6xevgiWTBNgSKSFslcET5m/AWtY4pi80kzi3LGajd4qr8UKrBUW2icrSkiAcCX6oAtys3nhxTuN724LPxiZ5M1vsndA3LAfRLw+RfhEp3ghLs8p4r/Fh5hXskK2CRTHcZBP/XEXOXOOHeSCFwFveCTk9JTj99s9MgEjBaAe0/P+4J6VWTI5+rN7bBS60HOh5Y6tFq3TD+2EPw9byCy3pz6aR0UpMKU49s8TIQcboyefKCx5+88x8FeSRlV4Zwg8eC8KB3IgJxmN/OUl2Z9IEPyN5790TtJakVYQwfJ+roEgwUrTa6LnqI4xTR/IXWQknN96nZ+fmjN/Wg+ygVPjK2aigCg0nvxlaVeRxZaHzG0bSHWwjHu6wYEW0UQmZD4HxEhms3aE2XvQ9Ro3ygbik6F/u8WDFAMPfzEXRcopkcAz3RR9EKLK91Trm4Hysz2aG5JlM1GZ3E7NY/wJ5hTEweF1FFAzlzwhWEZEpH2W1NWzzi6zVnJPUq3J0sIMDUKCvaPPfzsX+WEKmvFLCq1bAkCZB1RZfT4Yxgb4L7tizt2R1KhHQpHsc6J0Mxs1u2Jta/6x2UWU5BHqIK1ZFlPB5P0wA08Mrj9UPbhEn5rtNHFhRiTNChE/V6sTEZuLsC6Wjc2LenW4+8RMBVRR/Uv2ZIl7wEDPKioZBWTNhLoq6jvFf2eWRORqdDldZ7juWJJSOLAyPAgEYVT01+yUuFFawVUoGcUL3+yCHR4R0lGZbYzMKxiYHvx9kzQWTzkHGeIGIbXnZDSpmJy0tnZr2mh2ejfouZv+xllQ6OWTyHgXdiBQ2h+Fbh22hBJp9SlO5Rq3+BPwyD4Va/F7yxJYMKm8wATeTBE+4pQi3Fr7+7aTBUpJ0Y+rBd25yujuWkB/9kX5WacoS8+b0qe3zV1drwHX8obiZcG9By71n0Xb4eowVTEsEqgu4BbGk5hlUpybV1uNH7XjG6aImPPUa3Te9lpsMwRJS2DaMuHRWdJJw4EPslHJPCpnRo8qBtU5gJnyF7Rnd8x/JmuPnmBqpf2X57t11rUXJH3GBfsb3L2FyXL6hfqJyJGLKFYogoxLL5U3iEXXB56gHb2OCITXGw/HHyHf3kPmoW8Q+NhEx2LqX3ymT4Gt9VfDEzgRk5u4BIQ5sY4A1avOJVHeSFzl0ukhEXyKR0DUvgHUVE0ROHVqk7WZgllvnkUWR1JMa4l+7VGauW2k8PcS4Qu5/kBxggEl/IVPma/7fRtEmRI4QDiT50USjzi4DWy31ojpwPNdXusy5XECexqYRpO94aZ16EqbSsdRrIo0k9fy54llUZJ35wi83FfFiPj/BJKMYLQk9TqJC9baaxx99yMr1F+EGIY6uGThkEAsBw9ltiw68tM8bXACp5YTg2IzUYzoH2Bcutqs76lXJlYP62+GHaZlmXXZzgoIq3SPPwGgHhfInpnh34GZsNwdGuWQkkOdD8Qzi9QocBD6syVc3j0YnWQM2hJtcTQOspsBJUFD9iKAxpG2mJa/jNEdCKZ+CQIwHqURFyZBE2Ui60hVPceyGgFPgj3H1H9V0FGZlTlmA2BbsqPpCZFRN467yyObINdU8IHCCyAjrSuIkjZK47uURw+KIahoFew6KkegoPcpEpRq8cNPlK/bLbfFgRfSJzci0H50ZBo/JvhNp6N+SF08PdIbhpC1fETdIpaP9cpT+wRhXL4UakPt6DIOv5UdwjQfttIRl9ZptplN+tlJC3Czj3tUimjBeZJdYsOw/6B3wEz09nwGxVrQE0vqi65USMT+oyfBU5OWxjk8jFu5EFfo/I2m7IgAdRM7o/NSj94Oepn0cd9SRm74cHjXrAyBbnoqzhxDVsyuXtdMN7qUuwHP44Cjkg8OSlltmhBLsEmklxDw+iSA7TinUK0NOrXTI2RBJcgi54DNNBRKyHHSWjyYnVzAoYjlCi0qZ+aDtwZLcQFhBTVBCEoFPyHJLiG3bfBL9CrItNq/MUHccykHTcZuZXgKc1BgJyJMnuPx3uQjl/1U8MmPMEkrNSMwO7qy9FrhoH8R36BKjMrjIEO9f+nd+se7p0PLbBQ0doa+Yw/Pwf0BqZini8t+x1Uir97h6G2OMPEegjZaCClfVtfBTCE1vpjDPKNj4xomOfuAizn4arDs21CrbowSgJpoz4nh9EVBIYYC6MdrxdqroU7VnTGsjxB4QoaPQLsu/Mvgiz7qEFMUIpNevRwx47cVr+MIYjaCmWuFEQBbAkv8GABQ6p4whUBTCCmcKwSmQjUZ1KO+GqHTzSJukmdsGiKpMw3+nsiga6wGLkbByt71mdGLZmEn9+59eT/XUELYT1USPwTPKqTvCAyMTGWw+puc/gzHPTZE1V078RyqN1l9mqFQFAqQgygRbo6npdzTEkJemDb3+HLKOhkTqHPgQe36fQlPufXMxA4RMyYfZYNfTB2hBvCfJbJQpcBPTkkkDKH7aVAelKYfb/NR0AijcfkF205LyEFHQd80eQqwiUMHnOGEZmVYRcgkGL3qbRBTiHHnuIn6N2Q5WM0C5B4+JLwZmtmeNHXvwwJhG6ak4265OvwHK/Bj3q9CeCvjuh7K+RU7ASDF+aS1lPrBHRbXeOmCEhTZo0m5iSw+Z0PmZSEwcptkedIiRyDmjvswKV4Qr27oVabQEtBBCqUJwB/pooE+YUTJ7eY0+W8JD92/R0+Kadyc1atrH8cGXi/CERyRwMOLdf3NTuu6h4buc3mKVS4XgtNaUqcgDABBufgYVSlxM481CsN4XAdwjrPxx/CEVtSI+nZ9OKUHR4ASPB3rAvuivl/M9uVJYgoFxqlO1eQPPiAinQj9jPRMEdvSpfSSeom9TEs49M/vLjgyd2JnAUavX2rCytVaC7d1WWscE5IOnT6RCSZlV1sm34RaTYX0VBSfb+WnvLYD2J0Qo/L9ZdmdjQ9au4XGalEPUWQN7fnp/r4+F74Gw1vOdpGsPDuXkr+1Ftq0hFswaFzedaB9/LL/N40Py6fAvQ21jZ1i+HIRMfZmKc1Yw/4zNO8qTNn/YsIeh+ArIMak8yUABQ1WYj7bA3umHrxkYdNzpplG/icSnrj36vJqlQjiPOT2ILasXAekXtjH2dI1P4JARoHOrwnBcJBH2azCBzrbJKIfNh3MafIUXmMraeWzLve6YbOKcZd4eyJPvWuas0Qi4AnDdADmV4L18Pi9UDSE/UNqLcBCA+LMGhR4Muph7q2bWYJfimn5oA0jvH3H5cezAPWLMOmCwlFd6px4yGLItP1/5W6YoeL7OBCZ4tSWPZyu1rPFho8ATvaVJqzCPi4ZxXRvytpBANMAFzbC7McT6JYPpMgI+yeCt/ax3Qsep1T8vPXSueWpZUsXxXTEj3faIzl6mixs3KCBWL518sTVESNQkxro7vwC5yRflW/x3oFUgmJ6Rsa9eSRl/MlzMNWc1UUVNAjlK/5u9s73jvFo51Ek1a0pKhG86DubAuXqGaJK4G8gy7rlaCkp91buqCVwLdJzQ/np3lfzuYewQC0WMSqCeFrxnhnxCaYlwFpvK3IVoEWUOsOgjMnFUPCGbzAoIy2k+OqJy8kLGC8IKU9gQ/Ft6gQqrDXrW16hCn91CU8aC4K/rTzMFJc4WpDnQqiV+x3qoH16FK53yAHcPlEfT059DIyxhsozER8rHd/TKIaGokxU6Sal77zpIyRcit4F4FgjDyqcaT2RXCpZmDNM1sXkhtyyMDlhYXcxA+uOTghRSy821bxRc7+bXfBeOMHjoE+GF5PjDyNRPvlDZXwgAuDxS5hVeNbOyIG4+ts3E1+PqwLrUtWdzbVmtxg6g9zHSZhW/3ZhIj+WdgDjv2sKgM2bJVXUKZG0GBVXUbXIyj5K2iL1ulaQe/M5fUJrUSDbjW9odJC6QfTozBFrwBTTV7Nx75efnDplaIuccEZDXVtwPUv9Ylg+eiZ/vN7BgRiK+TMmdNtRb9mrrQ+edFdbAgaHHNubF7ScFGHDya6e6/yvo4se5Rw8asWAf0LFXhGKYHH1y6FVpIHLa6MwqTcMAhSVxmwIN9mzgTunbxeOgIU+5vN5L1zEHiLJaWxZyRL8Yy4suFcdczrYLLULpi2HJ1DoteyQGgo6PRE85JdqI9CEF0ys8g5NECpe9e4WY5CtaufRmbT4LPWtgSEAKq49dpVDF8xYkUhQsC+AUm55wtgdaHLYPI6rP5u/61uqC/DRyT2txLrfJv4JSTknJ4ypJUO+8wwTm3uEYeNPQgVrAgInV3czAQikStKKOjZ2q55lmqhXnv9AJm4c/Eejd57yPSZAsZ57/PBapNomubcqEScMo9SWC7TCNuz/w+lslCUJA1vc2n1w4LI74PBZXcpKPZF7CS5lm5x9ujRIQnekV1oS/jqYkimc2Fh1vynQNM/BS9hAh929Rbumsc47HKd+tXgOTi5qgJ2yfF2irFsZOPSGGdlXhVcwKYZCtVCuwT1v3MOfTAjBLSAGtRCA/N5GyCwsT/f7VGKoJ0LoLOCX3f9239mCkXcrqeCksGnF5qLwbu+cq2Mez1G98FKZTMhegIJOZ1CniiMCMYcoN0Rj3ie4Bzgs5xQqzBtfDfZSwv96fVXT/4BEAhLat5fMiOLQA0vdsiM7BHYZQzG/SiZVTGpkP1n+W4pLOxe/+Bg5TG/8l2vX1CHrsm/RIJfOMnvYXU1OQfYMrz4g9tbS37PDBmArzNLDki8UXaGz+8lHJwcSjXwuOy16fLaRbQp45TJ582C7J+KLpFdWCPtnIs1v5VxskWKckod/DINIW6tl04dJdxJiOfIk6n/4jk7Ru0meuyW4VF48IJwzrwPtiZDSVm7L+7P7f0jfE8RXaulbXk9QbGJAV6yDVuKG3I0QHQMey2VLZppIDVs1TVkNF56/8UWlNlKE71W0bVjKKvWYkMMQniUl4kGVfZy2gGEjouaLTmwEKpEDD9ZGgTugBDmmY5JJsXUXVFm0+q6zZeYLhgiKOHJ8hWX6oU6Bhl0LSVObQ9eef44sTOGoUuP/yzF2Z2dFdJEbPGr3SBgkr7VWZqzRJ9E6LoKlUR/x0XVAKohoD9zONihAUuCvkwNKL6kVQadOiCUjYcenH4WEC2PSO3vQOR/RsWg5XH9DuGpRCD2PHzy3aXL+7v1bZCw5YNTUdjrJPcd1eSVOCg3b2ReozRZFuhAyTm+Ns9wThhYqcuAMmTz460dt6/Q/pe5A6BnHn/TucMrO7Um3gEeq3gQNllTFZ94ppstcu0EGSZIJgKYw+XQPfeoKGxk0rp26NVuq6OqkjM8BiQJahZ/wx3WHVPYkbk43AEalbRdGTrw6+oMRjgHVCsxL99qtRa05VqQ4qdGLmvXedSU3DK+79jb8ilg7q9kknOBtcAdafSkERrYaWb85txOlvA6j2ZApKOiZhVgOB5e1raOSWE/UyAEze5mhvM8fg2DjDZSbtWnGvDfyFCKWK7fKD3kvUUXiumUzXLKd2ywsN5voc0/XxoJ0avWd1znvMXrGn6de7fzSs9QH2/TxbEgI1B4dFD5EMoxxOj6/m0csnJFmBNckurRFQ77ieb9AWoSbVvbMkSSk+YZvYuR1doz5qCi7qTdbpgF2hfC+6azyb+Rsou3kswG4xlTnyIO+Rlk6Qa/MVco7eqv73w4+epfg8ydRVNoJ/wnHCfJpxBkHIZuY1xyyWdOlDoDvJv0QLblY/VNPUotgiaYowZqdwsKmnHSZZVlLPI14uIzUsmU7woxJwKrAt81jhoeaaPuOEyhwEns8OPlkV2ubA+IMILMdDvef1rOHymRfMfgoko3p6ipvgqfuKdCHdOky/+sTr2Akv4NHZBjQTwGJGolCg/MsE5aamOqYpHZQZL9R6XmVqx3U645HCQzXbfnRCMEh2qYIpR1aDLj0UPdW+UbbghWJpxay+v8BwhckAervNnWnGsMfds3EVD4T8oXzESO/y6da9YKHpNxdVnG94yf2Ptip0MTckiufcb9/UvPfqGkJxQTAY3liAMHgMxZ+HXYeca8S0wIxuIiIo/vvv9Gj+6j5eqROMl+KKxNpbzWAzXuK7AuAeEJ98grkDezItqBGvtnwy830XMjQ1xBIuw7hQq+QOuVpNJsMK1HvOL310ssjFeWbSuohZD39lu4OP7pu0T9JvmF87XM206p89oXuO2IfxU0eaYRtsV0DVpH51H9yoASFY5ZyTw+auxnt/dauM7zL1fMxBy5ydYs/Ijjw0LBPOubTRHHsztkKg0gb+OCmkrv2JqhXLtiHRmmxqSikBrxI24nfjN1g5BrXVx4+w/OLPNOYp5gzJ/qVeuBlbopERBJWQh/bVtMqEczFsX8f8pVnOwLvauqKeVzQGWOhqYSxL5VlYEttrlpxnGNupLUeTI+Bcg7eqxKa4kcb/WjabhhPxAIV3ycAYgL8WeJfKwUVL0TrjpUrcfIw3q0SO+E8QJKc1pJiE4m4pc1FJUCx5No9RGNvkg1fEgK4pAKTXFnra8n6/DQdMdML95G9iEZ93v0lGVYSX36KG5kID7hpU0SSz2fqCQBPxiBBBExfIheejoRv9+lRWBXUUA5gbyTZGociru4WtzrsFUE+B5acGPAPHqGtYBMhB4H2PI73edVpAZZGeUrrlX4/hKFrrnDADIW3GuGiADFK817GAzxVNVxC4dRHtaFoWmpjJ9jvxAOGzunDcueroIIq0cfyGm/P5TkJsiWyok6XpNI1wkU4wuJfLIfe42466M97plZ+U3/rgz28cFT+gxMpXK+MIW91i4bz0VFXspJBmu/kU+N2ua08jTq3Cz51rKZxiYw8gR7NZpG64GfbSr7c+ysoNBjVVOkGBtyYrKfOBeXXu2P4DqzQv724Fdj1dJ3xXc+dexjqFCQ0oLjz9MxRbeuqmz1Krcal959lKD1xLTurEIleghoLm7fXeni0h8s0cbDVCNKobIvtJXxUtiRmaZuREGYV2z+tAfhqYyEVwzFvlHXkVEGLikpa3SAfCcJZEYOkK43SXJ/wP70tIsHZ77AaYiHCaewB0A98+ewUssXQCN+C2/mUsCGRKxg5cpJIeDpxBHXRzcmIZSyjoDGFjjkvWGpazs2xjONBUMZ2ODxrN4MsPoL2DSmcNSXvAcGKq93Ueq7kfkvP6JOoIMR5RD241vl35SV6DtxV5dfvA6Z0r82bvZqzDwdMY897ERlT9XGr3b7oiuDFD/4JLiHAMd1RFM8yZlAHBlaAH7Jds9kst6qgrlSzsbXCzQ42G6LkdZKmCOFo6QZhbJLgGajXAlMUWQvErneyqBKWufRCETXVeo8M0OEqEkyKlyiw2h0Vwf/TpxrecF0ftr0/vAAAqg7KoMv+5GSYD/y2QPs+S6oiSlb5iv7oY86qvm3D6DKlX4S6eMv0uazW699MM3Hz9DM2+atAB9kWauOsjhMwYFrOXweFN78hyuq1qgrcwPhLX2MzW3qzObeNl4n40x05SF6Cai4m8jPjflcizrjj4pT84QzTrG1kQOep7UdcWExogndq6qixIaCFrqgNinsBpC9yuwbLcrTktx8oCLr6enr3T8QHTtV4BMP6mk2VjvkicrixyOqo+4zrqwJvcoIAD7XdCCqFLS40SPDHYeROGZoPfJL3ihufmMrvOJK/NNLTHKOAHdwx/Sm3yyuOb0d6qLG35wNwK9947RecLev/MAJSkDE1nHbbo4VTUHuSAdzgYHFoRwKR2S9kmnpK810rjoBrEVlIO3jThoCjYzKoxaUd8mAYk6sQJtzhBQrxaaqGkFuK/l9XS30x5W7lD/NDpICEhhK1pLr2uYmYGdrF55n4CdCHCD5a2Bcjt/6mUjrxNjwshZCf8b5we/kWqQv/QlpD6Ns9rQBBTOVSU1izJkvTU+CEtN6LQ3UX15H1RK5Vy766Os/hm2KQoWxu0Sr/LSDyDCfGUKkXbBb6i1uFxJ7hZzZnOHhayfm0xaJdVgHahqPc1cQ703/0ycuebyclkYzDvNH9IXi8mY1Tde/k5IhmMDHPsGeNDekWNs5zZNiRk859WjIT55ZyoAFNmBD2TH2ObEqGUSL4FXDJb3NwmRsrz9qLpKlsN2S5mA2rGoUNisPRtTUZYrC7AEXsjKp8/Z6PCX/k+mQL0T9pXrUAZP75JI/mYNJjwPWRuREhE5tjVA4Dd8pkFFwrGr/a4axdvdn6QTiJh9tQ4QPs8eXHYlc0x8WH+LPjN3qUzoUaYj/iaT51u/91hG1Zz0cajlNrFcrABVmXmfjU6KY0ErGwugHFLKnwCNVFh9j/xUzY5F6BW0I9HQQ/KGSX2fN9nATkiAoB8BDzn/w01Jy5gUiEsgPGzHQVqIzDT2Uu5D204Zz4F7Fnurl/y/mR8rm4tDZ4NeVkTRkf594nCvtEz46WwRV3jFuRmnsXa8HYIk9IaaGu4YW9zH8M9OA8kp1VofgrJah1gypPbiXl+mT5LK3+sf44RAIifRnFe7FEnmYsaWgBbs/GY21mR4pGCQvxEnwTYSqVho2BAJqolK3Q77lWBLPJm2qNsjdsMPcVJEw88jT1i4PagQBVDnKBoiDMmQFA/fbvINqEBTWzNPf61nj/cgvlJQqE0Zs0WV4R3B14zMg3H2GledRg5wgkqrLIWT+SAIeuFkD2IidIL2xxAQYRaiaHa2oSW8+RMJWRkjNkPue/Vwux6XJ0OETB7ICHPmdOUCQRhjKb+Q/ZFpEDe5qMYM0ORmuK0Dgy5j/nm11GdveiANNUewPdgucobcpC1smVeB4bFzX87GNIU0jQH8fCKYTkb5thV5admPSA51DYLNSPGd7L2xOSgzlkDzy/u+S0rWyNlD7wSCU8pBF4oPVDWb8AOL5tEQue32S37vfdMGUdUUcofYXrrHuJsMvw7p3VeJREe/+imfTq+Oq/GinOVHjzD1tDYL12vTyTAm42tsPKraiCCG7OComxsP0By5dUAD8W043VnopcVbKu/W6DWzDs2yMJsOj9EcPQUKtIwSI3d8NC3bM85h+6HXOaVOccDxBgndAEJKTw/DWsjg1jXQrv1ub4XqecUKGJIlks7XwGGMBs9ncUmoTAgXgMsS5SAjWPdWhjrs1WAcnGW7WiCANctt7wATWXFaoI4YtJnbmj9it2n21lFrsakk9nr/fcE8YD/7/URf3rGLOCjJWLjhjSLEISepUXtWVl/ATaTlHMOXovwygBLm6/V/25LIMnb3K01CwT0hQiGU9UWeHxEcxM9KXhz/rgPq/Xu8QJiP//EY6Xtx4UP7/mCktVx/bIg/rGY6D+IkvT/k7ly0shtAOCdKoQOZ5qxohCUQK1wr2f+2FMGja3WFHNgghwjcrzHlBuHRGpVdW70NQ8PL1wtomx0DlJVc9qRuvSAqVhZY/6J8tb81v+ASA1eIqmT6+XcuomI9l2PxwHiFGV0t7kGsHU5rN13XSpAfD9sL29am1ryytJtmuKKvorgxKs7Z+TTJHXQ67nBFQsKYkza59yDCCSl3lDURl/p5DvpQWddT4dxCW23S8zKTXBSa2UlDty74Zu8X7rawGn1wKo8mtccN0QeLYLq2cLFHEtfEBUCyeJ480p53SNj8GMLpM6FNu1mQymeRTEpwUUavktVHZRx3k1pwLpKv6T7qQgcP2X6GT8Pi3vC24/O7Zaj9Dd2zUpKeIuBgwEugKRkuvwEqHpjOez4k05E9z0g2NPNHxS9T185eaCpxWqFJgRY6o0v9zDTv9lMadfSkF+EftplnJZG+Qh82lHlnnz6NDeTaNOmGVuoH1SxtaiXDEiQA/cXif4qy7yE2fSDL9YxBFZP3v6AE8DrSk9nimdU+9CRMKIoCnSaXWcYJO5I/oP48cqil3xjIwzbHoVjlsZgI6UfQahsEhKuM1auK7zIJr2qNdjgkLSZu05OdJmeJ/SnsL+OGk+QKZENzl84VjuukRFNtdgGg3lD/xrgoNxYollI0YUzlFumQuj7pbYdufiTakPD0RHigPnMk89zd+78/0SehFXPXRM85CUzjr+65jQFaIKUe60p5xSxaB2dClGQyeH983RbQuXVm40OxA0F1n6QhaKpJkaFropVEmLf0HwPU+IoBS5Tz42RuKeq3I3rJBJiWywcPO4M2C8dymE3qk8uo1z++/h8+l4tN3YKebuk7tzE+cxezqcFetN0WbtoK8DNAORPzXuZZ0sas84Gfs9/BUtI97g4QZOLabejHPtIf114tyWi80gtfUekzBunZzE+pqaDuXRpuNaXXcMlpTDGiqp/FQmcu59BerGuLPZa0ndi+TbUOzN/TrNV2TS9eEl8PSmCswt4D9pi/KoVCFN88bJbWJTVxcDezTE4eQcpg/UhOn79AFZSs822LJLz/8RstKgK6WfFLXMwEdaeXqnlsWGx8eRla9jc4Gu3u2ZP9geMWm00Akp26xFLPQhIg5gn6t0ZQ16+09KMX3cbxwZ9Xn4EY7JKdhPUY6Wg+gGCZ9gnbjqNwvM3zSRjkJm5ealKi+HHqbj8+6IAlpr1l+0RjnYAbz71/HkQm6lTQbeaxD3fILLRXN0/fS36zMfkQmDLN4QBEsxWsM9fZBqYX2keaunIOfmFVGEapZPmz3P6JyvxinsolSJ3zQTFUZcQMBh2ATQ4Zx9IFr604P3RvJRMp9qSD5ZFnP94FzOcP8CTzaVgA+fWBXxQrwLilkabZZAUj7GXpoNXQinB4vRPx/nMF1jf3U61L2VfuI7TEIHvs9tXFfT/2TjR3oDH3xIBzm8ocmtZh7tVkCZWbO90EBZ7BdhE+uO9WAvIH/UNoNYUR5wJggCnNSPLTY59b1R6gX6fmwRJVU5x38qy1kXx/8qjGvi3zf5Dj+842x0TE7ug6y2zTxD9vrLV8tvLqMt01fR2gIi10YSRK8sPdRpVHHT9pw0vEaIk1QbbkhanvDAFHOVkxTebnhBZjB8IvsR3xr6/SNezKaq3q9XJgQdgt4OKFuBQ1Oj6Cz23V/iswYK1S2CtWKlhLXjRUg9esNq2dDsq3VlRqZfr7qGYpn7nIjZ9thVsScD9izEq/DP47cFrfIYkzCZoQ3P4sAz6Vs+er0u3ac4tA8jTWpBuKLCCSAz6HPGjcwKwpAhY3UAFE1Ufrprz/yQZfjXFAtdGq7St33SIP1Pw7UEobOlrCyMwjEtyTs2qshMH6TcZYS8cTMFeXg9gujELGMa6dflxLTAk0avUVB0SrmeBy6OduhyGghNpSJJcrJVcxMVNC3R71HTjmqu15JgqRwp1e/Nmcs5geTDVYQ1P13X7Lo25D31bPER2Lferz110ovfyfu2QnKSgIcDNfcGU8h+7cUhaItiJTcAuaWxjzGyYKknin9qM1+xwVUmzo6eu26SZ58lk2BNcOGJTQfMDXbY3v5KackHvuSOYulv59K/sisr3F9itXGoyaBzxLkqt0B4BsCzMEsvWf+EM2ChdbkvRVgS9ygMV1n69TAhsmATiiHl+jHw2tJhpJo3Y1+hrsWr69wDxHo+eSIeKPnd884vRCXA1WtzmidsTFzp/Mh59UGDMxT0sP9+wmhKjhy8eogGt5NN0goTkDT8QjD9Zq63X7QqiqzIdBzuNAvRHGuPdOFAUd1fogIJAVv9RnOuJdeHoGHP34G/XR1KUaVFZyJtw3Z4f0U2+bQkE/4KbsRzwJxPhGBrNCa8+WoGHCV9lk8VAPvw2cUrdXsQ9XbyDoPTKkd5K5ZmVRN7VIKooj0TJyBDnXIxrO0+YobV6G2GmLhPNcjOK85e6aRDx5eQSlR/jXbh/wbQmqVj7Qu5lE62BDzf+f3QR4k2nyZieWKM5WsEG/mEIg47+nEoRoHsoEuHVqu8vYQFRULvNkPeUGFYeJJMrANiooJFTrlbDa7zU7SJPGWy6OJTeLg16QDu4P/SP4uwHnaa78a8tO/zkNIfWUrR6CAL55jF2TdLzoGTUi+bHyWjdTIPSRfyLPB0L0kPoWvNvgb+pTD5HHAv2Wo79NA1LdaB8h9es7SBlK7eRBl8mqIVDlzbI5ZlPqw+TyHVnVYc4cjTHdYGdDslS8n7Mloh0yx1aMPwlTgklxid0im7dV05rVxJkyT50OIa6NDPOPyVJpMDiOzY0Uxn1CWkDLy9qqCYNUHtNK6vRNSiUUeGcUdmbth2KosElRUXgziLfkZKHU6tKLzHtBBig8BYk5reHgO9nhBlG1D8LQONieL8+Vo0DzQqprLl3bIj9bB19iRwEqXFhVufUmmdB6VWEJyT9m+sOiDSrx345OQj/GYHNLIwhUeUacMYExcoPyYbbHlYSTVnJ/bP6D7szO0TnaF3bErTvtWeOEpstVgFhVOLbQBgWMXWy7V0ZqNgWHgEEJYOr5VdzpTkdsYAVn76zxgkWq51xMTlXFh3eUHj77G/m7WnmifdTyeXJI9rkcuXpyy107kNpAKlyvQd/ljkUaSs4soqsxOe/UP3NIWDSoy3vcFBOTV0UdjlXySQgvJ5hiSxBH992ez/9ZHoMPFsFFkJ0Gzs8nUKfyxk5gfKsA2G73MLjrkldqtWebMUred+mNgzpyrvDuwAfPBQjka2xvvMcHqDGOqI4FaP1xHDkceCYwNeieQG9ywe+a8XhJ2H5J/k9Fb8qAdQ7zeubpvLbD7rMfqIvFYUpIz6g9teCsfUkAgK0zTXSclLro28I9hN1hqs+eedC/ypQhGoytRJVk9vDwsspewb23kIlNoU8U4+aHHce+72Xq8DTu3CkisNHWzE1jFSN72aAiu5LEJwDVrFCodxUG3CVnJ2h8bBCoFWl3yoyg2FT3tukVF52WJExKDH9JNvfJcOtbo9Vdt4ljHqAWJ6wV0Q5poyJM1p5u4C/zqmwgLIe1Qltgsd0MQ7vl89kT7o2kT32LqpqRsz0M+eEsha/Ewj8gumytfc+KHpiYOnv48UvScfdKhdULz6rnUmSnq78gMPGobXkWutGxlLq7gWoRVQvBMxOPUe9wNvVNXYtNwgIlf6J4adz7Ynjt7WFxKNb2ZsLq642iAMgsWtLOeVeAR1dMcjDChnwpxLVRINv0S3BS8qF3rFl80I0hzOyagE1S++jEMst9Ok/od2+Oc64sEeHDQbm6V6YPmBmTzogHWjPWJ2L6oDuhQcnBl0OpVkAAezTGEpbagKiIs7YRIt4DEuvGwDZ9cg00F9VruwHAA5ku4FPJbeIQ1NG+PY5sP5bdGrcYIBgr2+YYz0owefmlTRJh5eGb9B9+bomuhSaImKKHkfdlJIf9oJN6HNwNXRSRwJE6l9bcDvDL+SGux/uQ9HbpveAQQHrwJQeoRY3q0RBxdbBm1NIcf7l+zUa5lFVEqq3piDJmOTn4aprT1hY1lvK0E/wOrxWoUsEZer7QQWtMuRsfwTkK6jS+c6C7yLH5KX7TernWX3Fg5xrTUyAYIl6XI0WT7yDaX+ZAuPoSt9Iwzqo3Bik8GoK4HHwFc6a7aHn6N5fNfbsbfGaFCyUCeEJVg5Bx0O6yLPO3LBHgOgT/tfGypzicRWyzarSYjoH+1jSp3h7q1hTUtdOu4k1G4lt+MiK5sRDQgP/2ZhZnQDGiz8cHY7LWm4Fb7eYvPg9QVi9RmH4VJn8cy7Q58DujH8Ez4YRogl4u8sUUuFXFbQsFwo9x2biDHV3D+lbIo6LoLOW5GndZonVzPgpups4Ch/SFNl0Nf4MUr7QU1oG0QIYhkupjveuX7dAExdMmY3BXzwONB3CAiMp3F2/kf3QHJ0C+uGbMUB3r2v9PKEtyyqhkEaOL0NG+xMcKqDZBjiTeiJOWEQQeh0JwuJeadNUcwB6HWAdSY646qFe58h0W4SybIOOh7Se7AZaxnuFzFfsq6QqvCV9spr3Cj06QTnwZMgtIvYHJAO2ZFEDZHbN7CY7Xda8uv339wdgPcBIu6/rnHvQckCFIfKl9U6XyoGyZi+jtbgcC53c6AKa3IQ94fFJ95tpdBQ7zVhVTdI26qNEZTKFv8PNc8tCpq4NW3KwjFkohpW6NrbtbWVjO69puugUKDElgGN67GD1qTuhJ0wyfqHiRVtShuIhaK+1ENQ4k6JOlYXbrW3S9tBMBX95z7KPNHxJ2SoYuZZj2vEKD3mFZiJlrBMSBenyVJlgSzZbSkOX76jWbJ9GKxsPbcy50egQCpTSPYR8rzeJWQdCRQ/SVFLFNBwEwjF5Ezj8mVV6kUv4tUT3KOqeq/uk4q857YHdbEbls7hQEALxzyD+oPBjgAzXaW8FC1w0G1FHYy6ommsZ4DLdk8eurUrxTgyPbMkVC5YIazVPp5cIqzzqmpUMouztw2zbKolJMr2uOCUpKvL7oHdeRYkL9irnn89gmV94S4LIyMvww3YSIPNYXa1nE8cBYKWFl4MEaK9HGLM3laukH6dY1i5zM00rc03zqBAodsVhTF3qWLrAIEzeLdAOIyPBYNwpYhOBzmtdHaaV9FaTXz8bWjfe4JRjyPx5EhBk3Kd3KmxzjOGgHToSIc0oKYgGzmK5PQMoKj4c5xDorDpgaR4Jfu6TTAA6ftSlsXK4gCnjNZamUdkSmohze8Yfycnva86GrGzJLStDgNBr41NbajixuZORcEB89YKVa/fFLdBjIYIA9I3LqYa6hAP8/PZglu1awE1o/SxTXUj24fSOUm0itbfziQ3QFcZYfFkI7tU7b+rG+OjQcAlXgdgCkjZHTMFQ/KaquejrJS9c/u5H06xnmYFunW1Jb6NEsNGqLkBHxMb7USFlRiOlJ0HRXZy1gxS6O127Jo4Fz/uEl0+XCvU3W7N5avIqRqVjpY3SgG0N368WnCz+VMTRYR1YeqaZOmbqchWubLyoGhpO3SNIlUbW9mL2daBHt9MjNiIJ6QgachKikh3v2XRf6fw6bAdlo8qN6xT3mXVkYkNJpTAIjpcv4f0RRajY9NrvP3Pw/qzPK7+yjJWlnRY3AXfxRZ4jnv2akN+ZxbSkQtXLjdVFiqeTrPYd6o3GkIAhgcAmHZY2bzPeGFzEuh+0W+P78Mt2HcDX8kp89My9nbyKZFIeFvdhk8vv8ORJzc6pGVgt7MIgZJE7lPBbk9hr2iGhlh0nwHz0ux8hQSc7cNpNB2RBPCXHTnddCx6rROqqKzCIuOKwFI1eRKPvIowN/YhdBRQl+Z+7/UGvAL5stltLgLOLTsxJA08ta9Rui3gbbQsqaiZHPNXum3TftlJoUVWmTTZ+kxhLOBqMwmkykfheC9Da1bTwJyHI1dAlKz6Px0eO/JeFVUi0G4hSeus8iioy3xrAmfFum39A1wAq1JpmQiel+eoQWX0b7ozlO2wQCWSPReBsD19YZachgd6jwG1jlzACgBST1C6steHG37ZlKR1JucvF1Lmkelg3g7s0HXkK0gwhqQ9OGiiP6A24pMSAXzhiieV4KUebZO4GXnMGTLqYu6OXo+/4fubWZaI819kBpT9lChaGhKjMHD95Z9VJ2PFfw70agWA/S5qtDRgwosLdVHcSEOVZ2JeDdOBeGi19FzO+ATp3HdqqiwiiZjUr+lRRK86tBpTnuSPE53ELpovkc9cp/x91MtTLBGupZw3wKV0ZgFTgI8yrxnUD9YnNSH9YKtjLSsA/eRi46U0B4vez1+1BNm6fdqMhtZarDBBQOP0BSSuVwLMGfROuJLPoJiknCsJI8DDXhNchkTPVtvzKCdQIC6SMY0r83tg70EzeBcbsU6QDguY8JqVv+fJtColH5z6f5iEvo8I5Lje/sLvTaWaJhGkuszYgKsNFN2NIxi50x2P690clb5ZldrWFKv36q4cn+CvM4unxbNz8QwDprAxBknMfHXCIsBOobFIXrPVwqAc6N5nlROEvKRTkYHoaQ2Yf35c23NrNlyDBKBPXfNTDTqKpl3HqljpwigImr5DTDGOijPBug40HHmmsbxUTKmUemYwgzSSlFQuNSnKSlccZXew2v7OCo9YkHo2VAPTAu/ELqovJEi+wKx8bnwMZlnn2Vtwo4tc/YbYKaGUwPJ/G39qH/LmEYmWHPfivNvG134EnDxVQ5an1Bn7ki1xPjR7kj6x7P9UNSNZJWvWI7Xf0rM5y69E8GEuffRWUMldBERlYkKFz/RV484jVpw09HRGfOc89dTjR6ALvZddTz3Of1q6S/iNi0ejnBfZswRle4fl9GMveCRtEXQDFarbjkySCcEiXvXKUGr3EGO3+XaavXwHpzrvDvmpsiaTFP6MyGihOu0NSW/jOYs6hcqTaoJVSohA9FHqyhyt+4H1VsvrTyl1pRBSNc/x88I4W+fcPPT396Rm8HvThX1XXYd0P5LZ1ubGeF7EF1LsgXoMYrtKJJgvYKWIb34DtLlKzO4BulKOJhuo/kI+fxZ/ABPTtI8by0Yl7etQn2lvl2R06lnqha09SJ+ZQmydiTAJwElUozYrBgWRq71BaVzIssaSaItNBne+eMOgwvcgpjY6z01Qt+vnY6m/QB2JY/BJdCOK2swhvjG1NawWs4TzxpUsRTGw1n1yWcD48HvGBmmsyfp86rtQ6pWRhHIG3OGb1sfTS4MnIzxVG3x+jl++pN2MkbvqT/lR1K53YWoAMN3MDaaDQeA54gN6PUZLZyjJhxMa4iSdsSih64TDF8mje14P6UWvYit1/PkjzxIHkh8Ov7yaqOh07/fS5k9v9Nmg858wRUemV9LNFIQ5Xe0idYqWajUrBS8zkPzQ5x11ZaNKa0vq7FA6dua2EQFDQfVcLv7oFyHDaAL8DcblfSLsZatFAWPxW+n3I58rMeOs4Pk1z6UPzKlwMXovOqCtZv9e+7o7BVVNAfAFv4GoEAR64KpwJX+iERJElYuNPICsg2Yu6P+gnfp7DTpGRapQkI1rrWpKgLCdghNKwoXEBQ2Zy6o0Zgdf+HK0yqVywyRnJ7SRbuiTAeI+XFNKjhBQignN6QkFuMuxjWQcKySPfuLE2tPSf+8aDTgTndArCdN9J6G/35KgOOO4GNquNHHG/I9NH1wxAED93sa99u6p4IM6iHcDUCcMrG3rvtMqjhFyrkfeuj9jq4SmeOue8zvtKVLRFkps+2xMgRJILQi3apoqFHJtcuP2THD3kiNkEaVV0vO2MSNYX1Ewql7+IRfPmsxSRASgogZKYqe3wpB2KYECytTGMMj+A+HfLP2zmG5OSvP+Ybb7Px/jfqHDNglq6pkoGwrZpXbcNcefq8XLBcGOoO3Lv1vXSw5O5sFTcH4aGxoJqAWRjC4UDHcZeHSm3TOlj/jaVZmw3b68nd2QJCqmPf8wbkKL3gvvCP2R9RcjUbRXvR1Jd8s7kdTsTW7VDGfp9Lo+JkWvcS6z6yascglXRB3bv1gqJHIgqM5cTRDvONWk4p4KwCGCk77YFR7huJ8QrvxRx0MCiiGx0NfZrS3QsB9CuJZQoZYQbW6ALBjTDnP55g9DXkQHFUMaB8qMmwQEmadEFRjZilwOqJTxwjZg72uAzQXyfF+IV4UHD4jZ5JbTB6+1xHv1KOfE0vtOZRokgNjK1is8+DIRSp2pEZYfGrzgzIJNtAIX9wlpSLoXVWYGMaYc7zhIWsD/K/rvqb2dVAK3uOpS0Aa0Azi46O1udSSifjxVz6+w2xyFUeoaHs5ODv+kRJ1oQvh8Rt6K1obgSA2j8Qui7gNh8TWcVNOUQO557/iKtz7KfunXRsKAqzGslFeXKcOp2UKlFumAXNVXv96AAfHKsAi1mlnxi9SG3IMddTE1ofgEFrWVa21Mf0lRBpmlkyw3Fn1Cz6lgB/xC38QkrpEDzRcY3u2knl/87A6/a3tAgWFg9tfJRoBRc9MgjJpPnQLlS15wKdfeLCQgJ7k1cpIrFj6OePdX+nnl+/FCcusRicl5PLeoeA7W40r+l8W8kjh9ZLZ9IBPD68/ic2YjwaNjxlAA43n3lKk4or9TPbHcmE+r/HGQDR3xFCS6kwJYpFRtQ3Ju/sSHeg8mThRehUSialWwgjkHHJTvRIDwmges3aB5b5MmgfcNsJ3Z7+bbQ6Jecc1crOVSdjVcjWh2iFZFe5j4fvSsWCKOHhdNYpPco9udQW+147nfbDr31GoO/UaomIPoIRtUo8mjIgFUb7YXJXfnNaQ0y3jpsgLP4hbFz+oCxY+b/JKrovwBNFb3LFXrtolTu2euKRd44W6ZJUctJX52dYgGqlv7YXrOudY3cblmI3B15rHjF+hBt82hiRTNP48f5fL7MqUfoJhIUa5JzfXNmthM5mnF0jt8FtvSGwaS8pgX4xfZmOyzIgru0n8n0v4U8ActIn3eziyA7kHbNn8AlnvydrMc0MGikGvPjkLhibg/SkmTPddKD+1wMqey0G4nilMCjX2vK0RwV4pNmlQ8AQ4Cr5uI3qVQKOviCXm3uqDYmQBeqsfNxZZyIAklkWz4d31WO6oOzFfld74rHVJ0pOSw5W+9DXCuO9EfA3YSHLrBe/fdwAUV4spVFMbHAoyVvgOQOYqSmw2ezRcZFu2g8XGIN0MACzh2tmNQoIiEPt/diiUNoGfElrF0H6ZZUP+/NYfARk2eSFhOb4twGv+vMXQKByucCeb4blK40YDsI2EcX1/adcGMLeEIWau/aLwxIQL/sV15bgVnGdj0RFKTCss8RUbn0Re1sWtIdzEk+cH72kV0w1csKPo8Y0/a+5/rH3pROfX6yxPM+d9cZfsQc7a1kdPAnw7zWTj6q1apNM2vTUoEl6vY0jvQA17yPwMIsuhXPVSTCbde2XrGfArurFOnh2AslXBxDxAH3w1HHBeDcoSe1uMEqQfVzb8JLRKBrassgCiAGvVQVZORzWIDEGiTh0o3FHJDlQsMK3sF2uQxIKXjccWZDbtSr/1x2EwYPChE+Os/z+JAeL3CHjfF7LSwDGE524SbiV926N5cI4DX4FdweO/sfqTC/WWUYZQyu+attG6+QcS6rFIjlaosHqQZafeSQjCW04ANu1dOcUciqObCQTyTzZ6v0+rvFjbXl5XOVIC9bJilHFnIVKoQAtLep3jgvZPzQtaWUIGT/mLU3/ZSjdEESkWwRGiXD1Hjla9WR/CwSD07d8hRCi4j6124X+Ce0T1ekya84D6EOZ1jq/ti7kMkHf6XzMDsnxxglRKG8c70HFsGMBX1HXAju5NbhNCubn+E8wskLkyxKd+vfdrRYSe4pXiuT9tS3ccXLTIYx9bY92QYnG7LXBk9i6naL3g3h59HJVU2mc3GeSNionel/42FNNSV1LLXnOkqODNlUv33pRBSpYYWl2xmcYsste1COQYdop3HMPJFJCJc0D7iaGTDQ9TOudmHDuuUza1NAXZ0WDlljFF2RNVtJjg2qeC1JCcZ4rMToBPbSVNBQSdb7rv3zbMNp4aiXq9oz5JtntjIVfeMbbxLah5j1/LT4mHbJS4/TOABDV73H8Oed6PLehEINgyPUzOGIrgsIW7DpbnaBJTl+vDIrbkXzu5wtlvAaOiT2jd+MmdxMIIlcJ4pPVivUNzIq1l9JWAZyyUOnBAeyprMjpKAdB4MfRi6pbItmaylA1P03si6obTBlurr5dxasHclH6ditTKjlTn5LKPwSCkh77Che75sy+K0A66YJ7eSVltjncn98AuBFHQzERwCuMh1Vwsez3iUbkErHwYVfo0N05J1vKd0QEeIZp6xuRjmNtB2qqY2TtVleYOlczXkC6yWhH3+Dv3laJGk+JlS++qr8M/8QkdOu7WhU5z0mtRN90Yt91+Ip9/9W3BOiD58WGVHnQIGY/bTdDAFMcmhKdzgCEy/3uiCEBcXsoXl1hVKsHHFfOIAgJs9C7g8isIdL0mjb500yHGMJAuGLwCIdZp5VhlVRfjeSCfVKaskwwTjykjYFOLy9TH1lHLx8t4CC1NOEob1YoSBAvzm9WwtUiTZsNhNo7M1t+WXtiw9n/JTApqX726J4c1gtoPfsi+/xiL/q/2LG38DrOwpxOPTheNgNKrLGhkLwY88/C12V+iOEVzoxep14PZpbsA3oza9de7vUuQzdX5oQ4Fsod1dpQxEEnlmnJEO9naFqqtfpWoTvdErnpYUwc3q6mm0+7++kODvTC2b8aECqXx69NXYQl8/LplZGaY7C7MdIxrLg+3/0Su3g7XkXDuZfZ/Did4tXkxiT1K9vsnPtK7kQ2I8Ji67ETsbPaWu6HlvO4BcAfbvv9AySQphSawARE6x7B6zABci6pmhVGUqzA7/+n6TfrDdm2fiKD1K64TvEI9Dg4QHCxlDPYBztrtLXgjdZXO9s7ecr0cXHZ47AjPOWA8HaJgSoffYLenjw0Zo+tAG6hNAJFe5rADloMG004tprIuG7xldVuNGeLEkoCnf/7EWvEAKhjnFPc9UNUhiMKotY4voNE9qi7Ft8PQ14elH0z9UtKLZch8jlLipT2WdaIel7GtHyCh11KTR+gVFXG/KztNBsJSj4KeHRgkwujN6Oh4FG+bRtnM7DH4ImYOysJXAv5Adny0A7248wiDHToygpWYbuaA9fnuph7NEMj3hcZeugBA7WqoAPiKi/z84pF4SXKj+12MYixmiSq3T3+Ga2RI7kIbyM4YmMnJFxLXcOrgUvrDbS89UPabyxyJbJB2/ateno9EDO9oXZC+RNjisA3vOHheTFFT27NGsmg9g6aFdEE/r56HRb4nzBqH0CsuOO40cnubVkho4wkcUYyaRI5ppVrIOtFuA0JB6GJ7211GKDcW/pGWzyil5StilLvMaBYOGoPhkC+lR7uafUStvf4RH0Q6sPqDbL1nwIsegue5qrbGkVGcBpcFdahODTaNYjxJmEybjLaE6tTwh87//fO63K6LCcKN+pLV1a/XJYPJbVPnf1V3H2sLVjmyRJp1b8bC5lMZsKR/VQ4bfiNPIoS9o+Ykkp5epITARCGl+CKqOeBPiyPVuaIqEnXjWS+yByyNuQBAso+tWLqcU/OaqB9lzpH7MQgbaS0z8aXQQiSiB+SE0G8F3QM3wFkVuTDOud812qxP+Bk3FGnydwwSgE4oqK1uh/ZBbsKwHOuy/KcgmnzaigcIQaIHHiOKtcELmt6pWElgk44ghTq6Vhh5FZHWz9SlvpqY/ZdZ/096o3fN11VMkq4ZLtSlN06fBXXWAv07dxxGtECmyLbvfzF2oUSCkUfnS6MuV90ZB/hsictX6cA3lQ82egIxLFm0+vpkKRlQDfIWtX9e2hdC86sVJrnAFhuh3tR+6alM7aqDZFcpJIxOUZMxAer+ndW8nDx01rZ15nmqMEHlU1dX0iIKXJ9+sv3mqhX43OjOV0RHpU7wkF0vsnjJFiJhm42L6YS0W0FEvrXblUCE0aNttsS8IT9/Ft44ZZdcphjxuz6gnhR5LhsrEzRK4hB2xWRymndmln9nOlgZ+Ow2+ymSAHDn0iiYHY+V9B8PuJPj0QqozULtrW0QgZoPob5ItSuMINksuhwE5fUJ55/5JBYIEACpY2JXQyUxrRAuW29g2yB2oiQZmsJz545gSXIJNDtgcEpUHi9na9enuIz286vf8gqsRQDwNP0FdipybkWuCrYAsssyxTPcbcTx14RCWjK3XVFNmcAKZOJj1C0WHJM+RGXFIwhEvIpNBuhL28JG7S/0ffjmWI2auGznI3V0ehxNAZKTK/2zsS9S4jspLpFhnZk5s5ilnkyw25GqHdL7FvKCeXXC7GEDCgaEtapYISylcy28A04LZ6NKKs5dp8Uez4GHXwltPaFpn78EXE5B8hQLR2YMbf2H0QwPthyWHVXDXTQAaQUGZbWELdrCf127XAu0ryQSmtHOSaUKbC/ZkPdG9MjlVwYbW/khKColGORQN69mTgffdU0rqRdzT+TKY/LR3WfjhpNqflJKZRFgqhHWzj36RSdBwMjYKiEDFuY6qH+uWQNUfURekga+iH5dfOwDCO84H5Tzb1YgC5speJqK1Wq4EPnx7I4du7BP7Bzi4DUbch/XOwyGzTQDKyK2ANg6rc+sxXnAapvJu2jtjfHP8V5iQ7it+qtf4uUWLD6XlrMk9+bx30+Ujr2mf90q6YDsX8RD+2XihoNXhtp3Wj6XKgVWllKakUzzMnCZYOg/mvuAilr3+SDre38ryh7PaKhXYZ7qVgjUqdMElh1TI96ph8X6Vxx00ahSF5M0KuU80aNznkx/l43T3ILkAiIoXSwghz80z/jrKY12nEnJeo0MwW3mXJwNyy7WvQPVwnrTnbrSOKOwvwOUmVghChzDoKWLjXaDZc2oGbS53vvtq5edKQAjCQLM2Q4693t1M+hjXsxAkbvwa2bcuqWufjH4fazYvH0fR+SFmJOcdLFMd8LG/riDW09gIpESEgyiymkEus8frt+b+dSwpfA7LS4UNE4veICuOiHP/urgRB4bBB/WilrGN6R8d1GICAgWvf00HS44sYjQcLjsxulUJQqePx1uf+f22BROZxjVZiC6T9PParX6yRiuFjB817FGzG2flqUEGKEPy/a1QROlxCvb6iteJ54oy708/nvzsMjeSN6k8PVhr4liPFmc9xy8RoQxLz1LwpqWtrjFpPMGT119cIxI0F0UnYPwZ+qmFxCyIg2Wje+vnEXlocPmOHF0xDLwTFMKdCew8VZaKFt2cbN4nMmsIYzCjZ7sxZNH9qcIzic2E7o9z2gCCPRZbk6zBDizix9lN6zCnpvegGy25CwIe9C4ZB4/oW/euJJN+EnXD4gc3bpULv7aZYWX6tCp3fKklZ5koodeAh3JA/2CwdcbiCjcy8dx0ZkXrbcI2ok6nHqyC1lfkQuV9CSrVxQ3DsNLIOSfd5tD4Yut1ssNj6Z6zaTJYTEyKxFnNPPiLDScXLJl8t7pEJlaB568FhpCiPMUDYJhzTgaqwa3mion91X7bjCkqLK3gwLU8FvuIbke9G4zLTbxXr0whDIYkYYcIML3cV6X7WNgaPp4MKQfnz4gi4eTxtLJoV5Czsh0ZZwN7ReW1ICSMq2Hdrngdh1pCbDSFQOPAOHvjhIeA+HX/UD8+jjUUdhR9iMW9grb3AsXjD+/xZttSTIl9QU6Ahxj232I68sK7CWrNTrr2qy1You+8AsmKBQ0X37BRdPI/erPDQIkzpXv3+v23j6PAYovYOgYfqk3I1GuUpVwvjRJjO8tod2ZRL2iqnXjJV55CdCMR2Dy02qFqzsv9seQxXoldzl8pYIAMF8ngCX+CiswFJ5F0buLj+IfwbO6RelTKVslc9SRNJxn0MWuQ3/tjdfm0gc49MwniYQP9ll7+bBAtHPPKNgzWqCLj3n21jWAn2q2ZJt0DqQ/dNtvJwUSmHvxuIBGTq4JoFRVvoU8qeykp2hXj6/2Ac//ByuOge501D0ZWzx4s0t8vLKQ6sOhh6GAeB27IdDVH+WK7bMD5UNTaU+WYHlJ9TPGB/7Q9YwpsczKQZMdD3UCVi4AlvRg97tfDsm8T8QEBmOtcUsivXW/oY3th65AcVZBZG7+AI+Upo980kgrS57+NI6ylW3j3WKd0JbZd30v4Wo2wHakagxcpr2XKOyCHDrdMfhPTyFAYBjw5dryUDiSsuriLoNEpuxb1QIG0qmZu5VaymgdI9G2v+isaCQg9GuKHnuMlX7p+0Y4yp00dLvKFIMXb3NLzXGJvzKwc3BUjwcQvhXPZzkPqxZUI9B2es7Z4utyybPN1AHuyqPAIzXU/21rmh8w604hLjLkaf8Gevc9RdyTZ6ifu1c6sxkInFiWGGUM4uO3yMzdQj+JMznvUbkx94N/abHxVWo42amHEEIAwyl5IiMWhgjE6+RGlVNouPsk9UsTAQxYi9io2ZwBvvqIwps2QJVwHFJO2pSlUNljrhHtd8vJJxyFc3ao6Tk969NNMOttN9Xf5q8XiEW0x2y9Hp8zhpIxOwt3HuzY/F0lQEpY6Eqqcl2srDpx/eKTqQpUcBzodHoRLeZRrorZg91o3/5Jipcp99lnaLM24cEkJ/cASXYxDQWN+ImN2liko2iv1fOXOGtrx8DSI+BigCTmQW4KWOhEDlEJI87FrVkMcKP2EqZLbQb66d7kBIYjlstOhHRj8Pz50BDEIwirX7OX9G7MZI2GlsV2r4APie1HB57MVeYk1lLX5YWuEHJW8RY0jcZFVgBqRE/OXNmyzVCmRLBuzzzrB3jBwulMC7jIil59jF0NMazmI6i/VBwTCZV293TjzQmr4XKkdC6OIQAC4vzphSCO/N3xyylcHORAtEm7UT3GmSWmlaHh9O/fDNYPSH6a5dbqwkbrTDgrBNdwl03O5akKoFTKW5sptfx3ufp78EleZ1RRSRnHkoeuqbwzm8zh9BjXRG1U0sR7klTmKp25MW6dMbDJ+7iHctlCu1OBXCfm5rxd/gsHQ7r3C9a4tqPVBSAv7djOIJgvvDcntu+CWx8Rlb388P21cB/q08Eb4UUySCC2imwjwll51/amZN0WOxUQgHtA2IrzfgHt2uS0b8nA6ZKsypbIM+YgnBNPlXYtmF+2KrNPI05RL5kW+3KyaE5Z9iRDc9sMXGQ2gEYCcGifyiV2Fu7n1WY7JRTup+DDKXEyav6oBLdj4QGMOuckgrPKYYbxzThljQ8ER4PzDYhwztaVamK2+ykcs9njlUnkKR2lfrKX5UraQER7UaMTNPL5q4UntREkWvGCORnkQBgUPrK4XRB5zL76CyaAPC+0cfY5lhwWDVodHUy1Z6qWERkuDo+401VMQGo74tWxJCJHcs14Jxfn0ArfZ8kRqRJ3ZHfg/YlGwaMwjaMw89PqUs+D8ISqwWIj73ZEI7vwMViXOe1miubSmqcoak7AIKBKSi9fVP1tj4//U3FRJlUzDv4w/XKIktATWbODeJB6i4EEGLsNb7FdbUU1TCXsTGwUjxtiC7b37VX/UeLhbUmPvbpXpFVJ4ca0L+zBom1melGKczlZgyALpvDyOZpXeEBLre51n187yF9N18vfxVLIY402NcMDBhSdsDXLB0EkEUpv1z0DouFCkX20z4pv9OW7MFWMdkDdf4ZrWxK1+pqNlNDBiS7xctGjxPA2byfT9tLQfJMpYEWX7Cjx8GZHdH+rgsDy7IptfgfnSfD7VlEF+T7JCBA7Y2FzegWkGCJvqaynIiktIdmiyCVowjmJwgGaipS/iQScsbXNjeFCebL+5TmTaVka81XwolAMvUwvPA+woNSvVj6AemhfA+dAzh9yx5T5F04gIv13tjreeKtrXOOwdHBzlBxmCHFYkxl2QsXBBLUPNah6hxUb8pwTpalLHr4ekkGzGSGGG/KBOVHtqyLz+BEvuW3KXkSnrFsIbDTCUU0BLm5OV2+sclAPAlPLG6xszYuUlq/Uv3lArbO9FxG5FLpt9i2Qqa6WiWftDr9tTU6Y9ta84AkXC3ucGloCYqCYnypM5wZ1zEZuOMi7B1MLmy7myZ0VbmnTrHKrxjuqrOtfNiyY6fB1iW0aWG6cFdLySQphsQPs6RfiL78BPburGyt5+Q1CNccLMiDqYWkDK7mlxXlw6WWAtHZZEGwZokFre5C53lOM8t+++GtUGMp5rzWUH/pQwS1jKUHeeKczUw2zMCSTcPsYx+XAZjVjFBk8E/oQQw9gUYk9uLWILR4UQGCNpr+3BQ8e94SEG/WxVqQiM7uOtz/VFTFV5elrNDpcrXIe3j27MQCdZwFg8b110ISuJJsplyNGe36nPQRttQunCQWKtgzj6YOAB5+pxc6gH6aFF3xeidAJIkI3YSd+bPrJQ8+g1cIcNkoYOmBRQLx5af841j5kxSuOlgzyuhPdmh7jZUazwM1KDj+9pJ45sAhYh/45Ntn45nRF0tT2g6MF24BfO7a9KPEw6JKMGdIKRrG8kyCVoqU6KWCnIME4zEv1vDDQfkrspoj3ovMb+Syg/5m9N0lHhCUvyJcZaWKwavs1MeYOoS32XgNf6m9AB+amz3tD42E65Lmm1k4KBAICtbYqR1R/rJig/zlixMPRV+STy3Hy6F57MkuyJnIZ4W+R39dBBu6Byqs8a512XGbRKKBh1pmOZe4fjTtFaEOjs1Ki4jWXjgU6dv629DwPGP8GZbfIPTjyunpKHlenB9vaGfYDzT+rS7Orf4I1w8CpH5zEMz3CknnL2kudNILlwxhC/P7YY6Scuv2/HM+snY7AkypIp3/tdugUFF0MCFdaNIP1YSQ1dtgdN7XQT/LwLU+zz2DQh+cMtKDh/VFxRc5AEgb7Z8fOdbe2x/grsmvUZrJ496oWsRzjvhpLOy/lfrR8FujDadGJNmME/ZvSrb23waGjcMrPu15DAU5N2dX3Cf1jGo+qrGwaW9G4GzFi9L9ba1CZG2a3wo6Eb1MBnRwlVH26/+beEVklirRXO/IvsXx/celZJU3v5SvCJUqZ3J1roFBDgBS/w3m7pXkQx6Lz57hpZv79IggyzjAxqzyjYTyRaFW6GjLln2OtQr7Cdeo+fukvkLJBIahlQU585FP1tis9ReDeMf7/GSuwfA4rUfePbSyFG33tUVcOyz/pQtk58xmQLnQxXzuLntpi7BbqC/qMw8HTJYjwyKwR82wd95VKykqw5PSPjBl5Sa1pSm0GAOL5phA59Ajs8vSKsu4M9TO035PI7tyrqpEo5+v3ZSYVKMomruhsz9y02lqOST68G/pmD5T9RYe5Qsw64E647FDP8i/plihfiGzgfH7qZ3ybsWSk4z0q3iAMpyhDTLjbQSV5r7T/GDiUOaF/o6qdCsbdtsNa0MROy88ns7mPbNLDSmWmk7uEM+d0HNXakFKv75agoFuNivvuW7+Aamqb1PMOQYfqJ549aId+ENk87pulTLxdEpmQoRQRqQshTJ17tmI4zWQa4h990XD4O6XFVsLTDBZ2CvjIA7otDsO2+5Z9bgOqeenY4h9t6NunVaRv7B+nK9ECH4L6FGpYZht7lJz5cFOCMffjs9rhbqnm0MX504PnEH/DqyPvnhNMDRCeF/8cGe99lOM5shEk8r3HDXXGoJeETmdpxGFSCXWC6NBC3u8bWjEVLz4qw3k2sf/PbNHcUOTfKshMI9p7dqp7j2ImQt1Cj5AKX4Ffxuxrl6aaBuEIakzgdLdmw1uYijStEwQOX+mIUZ62o1Prgs5t1lReUS5ewfpv/1wyc1jz47+A2M+lVDQuzwYHQULXKTm7ftQbdsl6DPKkcaZagjMbWtJ8T+WKQB3AmNKRW03IEUx/mXc1PF1WiHtk1l5Fc3B+r2coQJCtJwCzYUwo+zXj1fIYnaq2ciiZaANAlzC6L8S1W6t1rL9VaesoydCcj0VZlogZtZdBN580qMl8tELw14alr7UXxHXgovKBCHNzbZh/wJGCpUXOLmDhv+oqnVPg03ymVVpRBSs33+6rH4EEKUeYqIi7Q0dMHhExQlI77jxfgAKF63zvYpXPvbI5SW0OmYK9N9l5PNXsPmyluRO4fCrZb6+iwVkhG9hN/ljiFtz4+uCFS66nQqs8Jit4W/EN+AJn07n6yUMvrLsMosRNTcYJY6tlD3k+XYIKbY8MmVjZOu3C+FGscmTyE9QELj4y6nthUil95iVEbNsCVQvz2Zl/99hzevYfeSaR63COqWjAto+d5BDftd+uFOPxt533sdXtmq4X4qP2/BVu4K/jtClhxdUSCrEDFSskAewrDBL1SWB7SPTgEYxQboo3PkeEIvUtpwM1ZhZjdnzXfzzb8uDoMhhQtFk6Q1FuRg2rKzeF34o5sotUM89XuvGxT6YnyvaqTWgqRi9LnX2+jbJnlO6SQ/WTz4WGzVWebbQuh/MnlFKJf9J49yB7jnD6RN9ivFjj5C9byc1HiFaFkDXRTEeP5AhLUtFnohvBuhkJl62O5XfSGS7woKzhTWESgK5gfxUjNYPLfNgOqDQT1u7Vve/CDGE45hgL6NFNFbDr/CHec1/uZxYPRMGsEdgiSgV2tiEfgC2SC0R1+6Vlr0flq+yX2m3sGK357J+gIBOHlYsExtGxUOgOtXhSfCd5WZ+eWVEuQitSLqBvqMkozwKDEnXf+zjOQSl6JpZh1j4hTEKxq5s1gtxxpukEWfVv2qUZBVBzS6eNSOg909LrsAa0IAFRW7DWIBgbrQAdvjxJLPJiwv5Zh+CrZVCHd1ozSqSrvJp0vEOSkZv3Sk/UF+Ks7quRlTr5x3TwwhnNcDKr/NsD6jg/LmEAmcEa1aNlijzF5ndCOtKvYSz56k7ed+xynMYYC+rEwlqmvF5T9V/4p0dSkQl57cevCKMHInGKbOpCkNBWx0NNJ1uVWeSbdoejaivR14yLyung2aW/ueE9GSPxHmoA7p63Mze+n56QW2oocsb+yCqH+a4wduUV63b+sY1vcVhIUAW2KCP6VjDHU9rlb6qS50yBuUg85admsv8mT89nubvDvqhmOYC1qx2arupUxcVLIVhNIOfBVIYrE7PSu24Uu6FK5qngx/ld8fkKtXdmdaaZORWddqdCPuCwc7kBKPKGjBZl3ZWEwfroLbep2l9g+w/75wvvhVcGytdM8ipEeMudX9NTdT4+SaD31V1RfQKxVWgNfWYtdfHHlYHOAGh6U0VFjBbc11eEhuZMaijMBKCI0E+x6hiSF0xTRdvMUybKQQtMbyeffrDr/VSA7foS0tNaK745rSAEfQuLlaLhqCzV336lgRuffFoW8i+I/4boOgX94fKsFFb/eiWx3ywOpUBMiOxppx0USlN33eY6YpTH7RteUQQqmsfxEgQhQMD+yJRXpHonnUg65Bqa3lLObMB5zqgxnLChGfZXktWBwn8AEYy+IUOBwIVyOw01e1BARNBUU/CBIm5PUyq8ZrPLm+8Y6t5wOdqlnOkmIvwtfHAk3rQv9yFJMr6s4xBSIKeInUqjpTf3/qjGMfS5PYcaN4n2ak2QfrErs3tCasdsZycQpmDeeI5tcG+/BANKQQ3L1+SB77H0YmE8zh0SC/JzmR3Jcx8ur7y8AKIXNUHJsuG8QgPIJRQSCHPIIkfDKfx47WVA6ekvjDvHji+jgOE46eknkvRsBy8ZYRI5aCJA+hYKkkBix2uRwA3hFwD4Pxg3UBMhDglyipozcXsi8vOYVON2NG7qHX15AYn1Rrgae2Q+wFF2i4MNTzccESc/o2fQCPOi+tLUHjIVHa+q5DkW2GqyNINJjUL3XaGHbLOTGa2fihmYxfroQ6bWMVBUhqMNS1XfWvAM18YnHu3PWyVAGrgwSncQ63ywFCV3xk13WmjGUIuEAS0LRQoCsk/RqIUz6529f4S2yEPxBj0Eiw8Su1LqECNlpiTUX6wWAM4ONScj1h0hjaXuKpVSyELKSv2JoFzjSuxcxBb6X6KLqFVdAY7QBJ1TkC1/w3xsPeM3fRhYDhNp6VPAfWiU3k14GMQP9FeupVmKUuJhD2MkmsZSFdQn2gMyWucge8FkspGLB7PqMXC3FqNx4zkh6sS/tW1PcUclYrI6VH7OTiugAPYMtCWGTRskQIsvxXXdwfPDPhnxtlZCUCK+HVlD1IpsIFYF7cZDYW+vAaXxOTwrj9iqAIvh9l7+5dBiGP/CvE437VY76178dVx9y4Z8KB9/mtbc2nxs9J/VsGhEq+og8e0tbwVJ1f7FeFCe15nvIRCOnQndz9lzWU3wYCHDl5jP8vieDZtosDezXlcyJSJlRDij7gXBM2m50GhR7Qnp/vCvcAs6tI7bjp7kP8vXRgb8Sosa2AsDL+KQ/d98dcHbs90NBImEVWELAReP+PwvrpPY0Vmcdk9nJt0Ghc3iXWEp+qoqfJowZt2dlyccVP/v8Yvkla3CSo1HIbsjoLBp8ZcgTSVJjvmf5eTEi7/d5m/jSX5yhyOFke8RM2pdz97G0s/J9w8uRMzqRUgXXzcQYoNfLfBT5myVOEK9ZcdTaRsRwSj2HU7FeQlwdYAGTtwdOMQju1R4RQBGJOt0Huz1CE9HAoLKcKswZ4R0p8cQP9CpcdC4KL/iC/TavFxFW4fdtZ7XfG9sI+qi4DhnQlh1BEjueoY8NPvjkypSXK5n8wQ2SvxE5IIQL8U5e1tWVpGJ0aPgVjYAx25zpnJjWuVL8qKfmWQXvd4YCOWtfvJ+GIoZGT2R6ueKgOkK/+Pyw98lVayb7T9pv7bm4xXzX2KV99daPxgcBR0XN6cyjZFktFVKDqetkE02XoLWx44h8Rr25nwHpcgau8XvszVK9XOs6m4btuZE5hRC0Yv1rbaLy73Jh7tH9YdjdRJi9F2q0hNZEyh8HTz2w7DVvpO7LQvY7KPl+hRQqdAyn3c4oav3lHjZIOfKssHGnU58SKqFp8JCEGVsxybOapzGRo6Vnv+er5Ot3o/IB3yP3T2JYObcBbpXn0DA9ViULNFwxlJw76TLL1eOBuCrhHQgnNtd2mDIkshm64vV+AaIegL22Csronz2jYI2W3tIaYoMhi/m0tVzyw2FIflIaxsA6OHHmGiiFRAofLXzE90iOFOA1pb7atKNO3cnoxKlo5PY2LZN2csR7lEwkWtmC5kJ8sAjbapDw1R/XrZVqD+1Hw6MaRHd+e6utcYH///kl3eXgCTz+9qUp7MvKbGxnBkJGLI3LBjwZoHOwseGyHtMMsrsEZ6BZHnXT3NbM0MNldRZRBuNjDYrm/VNp7Dfc/Ic1iiUkXdGr28NPRsultJ6qWo3b8X9A0dRRRlEPZ2fQz9dT40aHU6/bA10J8CisTyU9yBr6z39Q0B+vN4626/wf0ozgFYIzMnP0Uw769Rkjr90qyi5+rfOOiMRjtSWoBvpVZTnJTMc5CTCtUToeXkRtdgctDK9gvpN8TIbc0p72m59ckNeM10zygaVmgQQjqWEm6RY8ydek65m4wT76o/4RXrgHfMZ4uMY5NcR9YEfCE130xusSKWpXRzllGTkE+yYyc9io2v2eE+gVSd3iw/NvLPtqV+dIDkbHwlm8PqhSFRhQaZCo9u3BEiqDC3m7wUp4DxOic1RFqh1Iu501IuXIENZJKO1z+zXmMRZQYsYxEvdmi5LVHYIro8A/SzKHDY/QhmImrGgPGES5B11zsVs9Rt5TBCZmMz0WS0oQUNdWE8CsWl/FIbkHxErit+gZKSpD3GGWQIk7GcCnEMTgNyl6NLikRXXvtvelG9l608BI51xXvHJhMxxWfZrc4pokdrMT4liP8vyaIaVSE7Gz+d1te51VH55L75LIVy2jVlJTzM8s+l1dZ494Gy1sRoH9fGbXJvHptTyza4u9CoNoFGSermiJAY1G4kjHJNtyPKcg2nA2hCL3wyeiujoWZZ+78jEoXevS6bo8GVgitlPfWck0W2vTx1Py4Ao8hmMNwKkpC6MVPepYXJtjsSPhIUE/KlpC4DSOcImCAleQKTy+/sjTCylBAHkP8q833YTGxByRjtajxo0KBQTm3DlbwQlQnp9mLWILNfiLkVxl2auTqxCUxn5zo73C3E2ofndHhzR85YRRWv2+iwq334VGMs8EzwRNz7dck5sctv91vpEim10UFbHo/m5J60JpHSv7Dj3ktB/SAiwRBfkgMuHrRcXp5NhgZYcGPtn/icSsy2HVCOUn67IAry7brVaWGLytlX3sYjBEGULAhpbST4XBoBelIZYVkPzkg0PIfVj1jb13fcle4AsBr3OOn5+9nVSiE9g3WhUlIGoBXdqgmmM4/rPagg2anRXVBDCTzrvhIcrUtONieLxpsDea5A+57qMOYDc/lFbsoHvPxwWNL87EN0p3oFRNb9EgrYILSiUDhK//iANHh4LwcUKfWZdEvZ6cxLKaOKIC4YyRCtrZtEe5Cv0u8O8eFARn198PQEB27qr7ORt/qj0up5OHUgloar7sFavtlMVZTw/Q941UpxmTglbeBImOcMGm+xGnpZXJoytRLrLkywoi1qPU9JwwDpKk1lkyzKYCKBTj1Svd2biSvrVgg/uJfHAsrDl2FUn7eorUfWBZCzZM2xv2/LarfceA+CJdLg3bAKXckL196QWj1nvdxXKY5smQ/0BrcVREH/l8/QsorGyaDL8AyIL0I5IZSE8ASSw+zwvb+6FAk4KrSw2mGzARrsMISzSXCdXgbgBRlfm6FQAsSKlYCRMNS/uV7Q0zRs8GTdrec1wx9XnZUqiWfTZJmERTgymZ6skYjv0lAGFjIZGRtWqXHbnf6JuB8+iNn9yYCcTgxBEtaGu4dU8TbXBp/Iuw1yG6QC9LUAgu+f84KwV5cst3/lptWvVNAl4zQYzJSn/1VT3RXsYIppZsFB8+O/XYS30Cp6+ib+fzFARb2sL4QJyyjpTIiDkulZLgYXzbfLF/EsBP1j5/H2I2+OmiTcAOSPTgTNGiwdg/eATd2RYqn9OrryOrgtke3COi2Ll2k56AJPJxwd1GVv1f2bGLtfZ0EvnvbADcE7JQF7sh5Thd0b0U9XVW/DvoTvxaG4upP7VXTw/zlQxyUcf90oOtrR+c0N9sF/bEEvZbwUdIwzt3pkB9Fs+uQ27Fi1Zf1tIftGQcrl668PypDqEbQR3nir9R083t6S+Ha8RjvZbd7pMlowM9RGpmvTtAZUVR2mG3a+hUvZ778Imwafiv9ZekRnoskEj/AQp96elKuJyVxnbxwctuBw5CMfd2T8o/LpFQcHPWY2XAxcmsuNjyE/9isvPoCWziBXfFcdySH54XcLCKAC4d4G/yXp0igKMUufXLJfoZZEGlQmwDSg9zsjIsXZy2Z0EoHTRGAv7WyK3R84KYHITDblRb5saKSfy/hqbn9SRb7sSBDtBpuCd8KVzVMI5vG/GORV2KW3LjLa1YHT5BdKytHFWywVHFM4YoH6WqecwE/EwYC9D0nkgHZ7fwkiDAIb5eBTEWhY8zZeqfREoFYXcNp8vUrtVcq5uWjBnqXUtWMc4kCrd+vgzx3edTf+kbSxkVANu5DGBJJc3Tkj9fJnZ3jXE/6xoD1easBpQ71vPqz9aFdCoG2elAkRtBRWn4xOxkxnDvPo6j8hnGLW3ci1tXo4pGZ8Ogb4RVuTKQLihnICVxjk8LiPRRFCMrOr6a6z6z+o8FignTeu2sIfpnwHstX660VJk5vjksCOl+mbWQATQ9wglNklGL/pYXOTCBr5c6Yb0Hw9aUZUropY5hlifcziHupes3X1D0bqisDs2YCkgc0wMkkMv+dGfc5b4DLDCKtFjtqplK99ZqXFFRlwMZZg4iZS5fHJ1hiKhP7IBRaEQNxbMZINUrAyfVhKAZJVsNXRpQbcMeQoi0eniBPYEw4NcEUfeCX7kFhLEPvpRuuCtK6SKZffmhLVEYAn/kijZQS+/sBBtIY2sKuz+5lTw4hHALVWjskd3uPksNJGAgSUgcKyT3V2q40BxU831MBSw4bvIO/7Okj80g5CA1IZkOEU6mZ5uHVRRSEMv/ITICnBvkjhT64LENrno+mBUA1HHcekCf4fZ69D5MGEv1jVeqPXSW41wOQPphA3PsGTR5U84HHledX5G9GnGqoNAmvWqwURUBtTQ8OoTzSc+a92eJFr6LOFlFSs/NP2CQWY0c/1wRC/uE1gf586aQ0YXSAJOucDLFdiVWU6S0jhbCYtCW4dVeA3Qu9KAUxGxVFTx1gr6xj0VUyh9QnK9+nkzfVpOMhp2llFnhMa3SI6cXYmXvj46kwghxbqpADNAst+8rY4/QVz7kdksql4rovbQpkw2bvoSvX7st6a0t0pExCudogioqzqgf8ZY7xZ8O2JW5wUxGbI64Xm0lkhzLonfTDvQw/bOOV9i9MsuBpA0mamiixmIdkGwgZD7xzCohGvFDLB7x5jfx7g6lPC9qro/oKO2pgxzQFsW7dCtDh7aqHTnY7/ZCHZsIwkiBW3O87j5rtgNxnH3WZlwEU+nheAZhJLh7p4fCMuPYp6BEDhdOiN8Q/6U70QyrGLwLPckQmVjRNepXSvN4hpjn4cJANJc8IrMb9eBol+kNHICKDHALUzWpZjJR5s6Z6yw19PKtx8yuZK+fcd2/vCKAC07kKUGoHLf5UONhCVoAPxtQl4CTmzx5x1ttFBz791cZyy3CQADGkXBkzPTH+UglCUC2KVw+Te6PUXHfUMLv1Qd9UoFTfAHBY6dObgWrXN2y7++zOCYKgmMzwkKxmEvPOgNwU3+gBJyDo+l3fY0h0ftOdPls1B1+IHJ+HSW4ynEyCNXjcdpxxichlth4ZGFZLuXbzHjYKnhGG8Ft9Wy+k2RDxQEzSAHz5vDJ/l8x6U9k8viklr6kHwCAeER48P9f0XNAv2H+VRImGNS5sCqaNRFN8ES1A+VEedmi1fmvDxsNOYChpCqqTD91VwTzfFCoxAT6JXTa5OfcDAA8IBlC/Iq6V538q1gu7C1Shvc1pqts8PKSy2D84ax19A6ZLBwx0lcNN6dwh+ylBFcVKXskLDyv6srsr3c4WT8mOL6NEPDrx3l8k6GI7iyO3P6n4mvrWwYGAciUC3eujJ0Wen8VHawsPmjcb7CyWGkWOO9KG7DtiBiR5K3Ka4Yaw3oFkk2YpTk/+IaszBLSrguhMCAJOR6CKqxMylyVrdjX+jUX8fKRtPIcJ2e/yGN1jCanlJ2w+hUfcVeK0sP1YAvpiDhHRycO5Hez+mRjXjoBs3OhL/19fso9aTdJLB105cGn0sUP15SzHCa8nNoVSnzcGzD9Jxa+ol+I/QKE55ivWkM+jdSnXhvwY2xkV7PPU4w8zAkRch2SQKYbOloAsnRVfTl9yIz7PFWSkwi5rhh2b3ZOF0VG1oRgoG2H0vQPbQxaVa8TueB9fwrQsocfx11bbK9ko2GSrjUn16c6R12M2OLVS96d8kl3+h/V2N/zYAsClu09Hje49tP0ZkuEhYCngANdknGk6Kbpae4xX6gpHtl7LZLZyW9CZxyALm8ywo5YOMG6vFn7cRWdz6gDK34CAp/zRgNX29FHN7IJurIhMz9+ESc+AIwe+sLgexL9hYq5q6JiYnT8gposscL2DkVHrp1+pdPwZC0FcV1FW/5CWov89xs0vBCjlGJDyk8qem1UiIv6EWvDGkzXH8tkiMAeP6dBSsHZYx2LCs04G+FOlHNrrlOE8ObQvUxER+KAhmOwt6o/j4NikjJnj9QoTuXk2y3Ns8rO7bPhUgoSrVnDaXpBkAF0wl+bY3CLVkYDhcuMbIHL0TGBWU6iQNtk2KDqUIzGtchkHu8YeIdUKcI3iw4qFtonY3VTa9Ml2z6vkB3EPaj7r1KBs7rGP+nwVMolqp3q9tb4Ck85S3lOS1DgN9LnoWXCXmchVCxViQCxqDFeKHT7ttTkwQSsjTl8Y37L11LVdpQEpnw3t+OIcEQfMIntrVUjSP6xPJLKdFx/G0i7zD2uA+U+O8tcZQ0CUhnAGNL/wmSw41WwKham9RmaQFMFnkLiqMWxm6GELTJgJppPa7vxDXGRGOpOJh8qzTuz4tTblrcx1hykzn1JeTh+1KZW39s3WAI4dyUFxjN6E1Yly3n1tqUlr9kllyxYNbgM9PZrDIVEz4cHRt2I0tZv8ZYV2B+0XHgAuCfSRt7uXxjceuqugKXsJ67BP4jI3Jkkt6ov2nE7GLWwcU6MP3OOROX+30OB0JnMwLNrY0iEJlKQwqdhGuJYG2AvgKGc1YcISDXMr8XdG73Z4KAQdDNUMqIQban5urLzDn1gZ7IbKgTrW8dfOVdfHbn3+sJBVBoXWN6Euaz+T0D/hhTs2QbzPhvpQxZJ8/DTHpYLDtCJXKnH2nSgAk9EvQFaw1loogC2sItFE0FqHOhR8QzacSc0rRCnZhvdjowLLu94nsJgcssR2i7/c+ag/N9MA2LjP554xLWcntARcNVjrswEmEKU9OP9Tkjy7m5BLxg6GPo8UXo4ClvXnDFqyyAFJKlMaLX1JnCiZhiklBqLCsBTejlz8KvyAsmz0D2DA4NE//7i8HIsc+0o4txuJ76TV+52XhTGkeLHy5t1slCWnd3XhQDHd8McI5dRVmWTkvwRCtLR/4VnSY3J+37WAXtR24XQkywI/USRFDYpi8gd5yfDS2q58yDrPO3C/Wu+oV00iZLPjoSErQELx3moJqOv2KB1xBajN7ZX5jQxIFsREooZS0QPfaG40EItr221D6cV3GKSxqse55F/SmxVeQmIgFszPoNKbDMC0X2zZaFvoTq4d3kLH7CoyPqTCSLyZEpNfruXr0icgtsfXfVqUkKzLdu11U7muEVvCHa7jWtueo/29ORu7oLSEFl9sk4ZXVe9CXSgSzthWqSCf3m0SQaqs/72N7iivh+Bbpwr/wPJRB45uuNPS1racaWadydtmJBPyls2SMrqjfeZjiIh9pu7+ibQdjC3FYW9fXs7iGPxG7yuu15xNHXn8J6x9o+izBABqGbtxW2Vnmks5yQeu0nW723vn0JbTMu6BAkxQxU9S7GNEUwpM6tdsrN2Q1DTf5Nk3ZQ0Vo/ZlNHZP5vkXtlX53+ONm1O+obZ4dCtuR2BJJeHkZWsP8jY3QzSgz5gulxG49pqh7TCWGaTrYyeEjrG/i3B3twPe1TwyEOJiiGxLOf5hIJFcSfYGrTEtYlR5BBKd6SAC67qD6kQAn4VeIL8dugwkEg8q7EkaOJadDGJ1uwjrxqU/RjRA/0uxCsCdCmTEEj8tFVdrSay/G4ViWKIczYKpgFBUpHJb6cxWdGCX0ulVhO2qUEvoY/AFH7hEM/KoUv64P0LRLHWUSG3J9iMmOuTKqTngJh6GNV2WMriMQYAsaVqjBwPwWPDrsRwmhDad/eP8IIC5uDMB4vfWHWoupW7CGJyDiWeetFIi0H6fFKqollWgo6ak5DSq04zXN2ScncLvMyy98ISEyl0qtYpAm0x8SGHRxwfKNSmXWOV2Ng4UvqmvoQeTsmtPzm5pwrtU9BGBZ1bzb+gClm+cyQe1X3u+roP+Pb6pmGxx8vuPek9p+6abZqw6W4WoYjNMTa99s55S+61ImNYcHCquPGdhBhsKtOBytdFlhDHCrB5w9XzR8vn6vkjhf3weYu6gDQurrjZExa/dDQp/4ItBSGloK9deVfwLZwIogmbu20xL9NctEoEF82NMfSSfl4TOqW45zyiqtiS+k4vI4OsIsQrNuYiGWFDtgqxhcvfJEb6AxXdGQWfJHvdq7gy8g/tWcfGg8hCkhwHQPSCWsonfvmPVV4hRlr2yxKfeWv1E1yzAYyALAlOfuVPajCSORX1j2oY5S+NW9yL4lUbFVzWHybcZRaWqLuaPClBhCaGGjGvFMcDMATIHRi6LKrHZ2zRr09BeuRRSi5Wot0OFWsiblzt1mBa0oZhDyITKvEJ8o72/bifEGF6UT1jWgcwJo1KtI/QNbAPpHJuwelvdKuZHFvXjdiDhaPBtU+l4pwhg452w4n0HOMiULIJFltTFnevAwSmHP01DVGOD+dBXZwWExGfivEswh+ktKQH478TPF6Y63q23zq9Akdb94wP58mG8oRw/13/HOkFK5zmASAODddoZb0CkbIena9p6oYo4qPlqI8UkhhVGc+w3lm94N0uVUWCnigLm37UUk6AhaNbtMbQca0QLlKOVGwjmc7kgFbCwqWdX8t9lMhV1aTTLL2kLnCKwyHbyU3f5kuZZbMWc5rSiyVlP1TVf0COftaPlMBJYwCb5l0Lt/Jg60Vkial+UH6GnZ7gRO6PvnoSw/m9RlolPiQYQPZMBFagAveTjOKgRoqAVsxQPHeByHvex8XAgnpRPbwyJQsVXHyZ0V1hzbH8xYQMtbrd/Gy9fDfYmaXI6D69/BjyQejlFT7NBLw6MNPnVmPHZZkpH0x7G4ifWuRUGj6tde6/kn7Ht5+oFb/wvYI3pw1QZgxy8CCxnB8T6M6ngOXFKJBQhZpB1SzJV+6AAr2DR4ks3mxaDPSREI0wCSLDWhzlSu9iPer9dXmx619jjQxoJE0JgPj31dFhEV2bBJoxcW33jSIhsmheccWNKgyPJEB0QaeKDz6bVQV/BAeJYk1WrNX5thJUdTXsKIzv+MG5ezicXC3EN9GmZxBqzvYatohrP6l0lZLGVDbJ1eh+e0cfuCRYAvttgr7bOxYRecd+r+4Q6esag5c/eex6z94fPecyH5Abc7oGkXT+yZ672Mb6gpn0cr/r1QmjH0OmS6P1+++uodA+y28Sf44IJFgAxdepCDy5j5s33EalxPeK+ml3bz/Tzm7QzLAf50O/IbxQh1gVObreFbYYRW7cru8oBtUSig8W+z40/3FE2cZqVGLdtEvuLkZODldoHb7YZ1RYMtqDM90FR35rOoxji/y6CN2NkddK7mTsYId/3lLWP4LkDVPXsN5bWrTCk4zU/Z6hlbdfl1/DeG/3Axd+Qv/AKrmlM1IwmczqZMrhzbWyPPEUzHUP+HwousNzhF446xFH3NCS1CAHx17O0RBSd9M1wfu2Md9wdQN4NqHxJa08XJkpLWmitx1T86/7kNBt6YJ1REVWBMnu8G46F1VQS3Ak+SuLxAjqfRi2NGuXYqFrWWmjG/dNqPlGA8ChJwDOZl9odh2+YM/ffCItd9cfLMatduw4+4PR1r5Pahj1Ux0nAbuSlfs1JuqCvxNWwxZ4F/g4A4k99y6FAA1dOBOg14mCCwobA461zpKz90f77TtN3YVs6UVukjGO0ofPwBKtL/RwjV6KINWtRYdkpTuJ9sVR6gq0RpBtxuIC2INHBjTWycusrN5U8kzcuAfNs/1aLWRwDtiJmeeftXa0LVRIcjBRoFkbGMQ4G8Ck+2WAk+BY+8mg4UjYukYlZgU227yC52dSZAEOZiTzjkhWC0o9cjDf2Rez0TzvJC1fuv+wQ6q6KMm8TH2aEZ2lby7GlEkVzH9tH0FHgyWU1VM7Uo1gFgyy0xIBiXu2BgQ0W6HhqK3qaF2O71P0b+8NEiqbU6W+y4BJeXTZ2B6TLJfBm0Qf6v5wuYlLCRapZ5CN4K9kkGIbezflk1lhFj9OzqJzm9sOkbxCbSBI1iLjtw6omAPrsDdoU9oKkfUqHhi4mJO/u6rBOV4liFQlafDNekLrp3pq9GJQO+niPKMDxroR8Az7W4fP4+2E0UY+VY64DO28CocanB2H492hw75CExPm1k4I2rdTitP/d2yoOdT5mv1wpIobsg7cjYafWLI/a0Sv8mF9KXDZzdj6zDxjfRTKsY5NIZGLcESdtW4eHlezf+/vlF+OHnQ9RJbce/nX9T9u3EVUXIh9dhKNisfq8fvtVKGaVD67NiaFGzhcrT8+IRe3ZMnlFYOFTLt3HNVxxEjJehl/BAIVguXlan4DptF2o3HD5pu/l/mKVWIcjppaiAjTBx62efk+7qLrcyytAofaydF+CwcqVFlJPzOEFG8mUJYrKZnmEs=" title="Mekko Graphics Chart"/>
          <p:cNvSpPr>
            <a:spLocks noChangeAspect="1"/>
          </p:cNvSpPr>
          <p:nvPr>
            <p:custDataLst>
              <p:tags r:id="rId8"/>
            </p:custDataLst>
          </p:nvPr>
        </p:nvSpPr>
        <p:spPr bwMode="gray">
          <a:xfrm>
            <a:off x="367653" y="1225505"/>
            <a:ext cx="2746038" cy="549591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24" name="BainTable47798HeaderBox1">
            <a:extLst>
              <a:ext uri="{FF2B5EF4-FFF2-40B4-BE49-F238E27FC236}">
                <a16:creationId xmlns:a16="http://schemas.microsoft.com/office/drawing/2014/main" id="{8C2C66FC-1869-483C-A1E3-ED605BF823B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473085" y="1562443"/>
            <a:ext cx="903171" cy="359703"/>
          </a:xfrm>
          <a:prstGeom prst="rect">
            <a:avLst/>
          </a:prstGeom>
          <a:blipFill dpi="0" rotWithShape="1">
            <a:blip r:embed="rId12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Stryker’s </a:t>
            </a:r>
            <a:r>
              <a:rPr lang="en-US" sz="900" b="1" cap="all"/>
              <a:t>actuals</a:t>
            </a:r>
          </a:p>
        </p:txBody>
      </p:sp>
      <p:sp>
        <p:nvSpPr>
          <p:cNvPr id="27" name="CommentBox">
            <a:extLst>
              <a:ext uri="{FF2B5EF4-FFF2-40B4-BE49-F238E27FC236}">
                <a16:creationId xmlns:a16="http://schemas.microsoft.com/office/drawing/2014/main" id="{4B3EA8AB-A798-07D5-48E7-54E3DE10B692}"/>
              </a:ext>
            </a:extLst>
          </p:cNvPr>
          <p:cNvSpPr/>
          <p:nvPr/>
        </p:nvSpPr>
        <p:spPr bwMode="gray">
          <a:xfrm>
            <a:off x="763662" y="955344"/>
            <a:ext cx="2177965" cy="351230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000" i="1">
                <a:solidFill>
                  <a:srgbClr val="000000"/>
                </a:solidFill>
                <a:latin typeface="Arial" panose="020B0604020202020204" pitchFamily="34" charset="0"/>
              </a:rPr>
              <a:t>Account team should always verify savings levers and %s;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F4C6C7-F87B-701B-30D6-7B189D956B71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5526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F2B054B9-2A69-4531-901B-BF24D0B29F8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938844">
              <a:extLst>
                <a:ext uri="{FF2B5EF4-FFF2-40B4-BE49-F238E27FC236}">
                  <a16:creationId xmlns:a16="http://schemas.microsoft.com/office/drawing/2014/main" id="{72E68D38-AD03-42B0-AFE3-9815801EE97E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2" name="btfpColumnGapBlocker885708">
              <a:extLst>
                <a:ext uri="{FF2B5EF4-FFF2-40B4-BE49-F238E27FC236}">
                  <a16:creationId xmlns:a16="http://schemas.microsoft.com/office/drawing/2014/main" id="{32E7D504-BBCB-4A68-9F91-33022D7D5C29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0" name="btfpColumnIndicator784331">
              <a:extLst>
                <a:ext uri="{FF2B5EF4-FFF2-40B4-BE49-F238E27FC236}">
                  <a16:creationId xmlns:a16="http://schemas.microsoft.com/office/drawing/2014/main" id="{8CE4462B-BC6E-42CB-B8B7-14FA9A4C567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592331">
              <a:extLst>
                <a:ext uri="{FF2B5EF4-FFF2-40B4-BE49-F238E27FC236}">
                  <a16:creationId xmlns:a16="http://schemas.microsoft.com/office/drawing/2014/main" id="{92974063-6E2C-49CE-A376-AF2644DFDC8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709E5CC1-FA65-4C27-94D0-E62AB3AE35D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157387">
              <a:extLst>
                <a:ext uri="{FF2B5EF4-FFF2-40B4-BE49-F238E27FC236}">
                  <a16:creationId xmlns:a16="http://schemas.microsoft.com/office/drawing/2014/main" id="{ED8873C6-BDDD-4D52-8C4F-83BE34969D1C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1" name="btfpColumnGapBlocker567926">
              <a:extLst>
                <a:ext uri="{FF2B5EF4-FFF2-40B4-BE49-F238E27FC236}">
                  <a16:creationId xmlns:a16="http://schemas.microsoft.com/office/drawing/2014/main" id="{8831F8E8-BD14-4F2C-A849-E6D20ADB0515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9" name="btfpColumnIndicator626704">
              <a:extLst>
                <a:ext uri="{FF2B5EF4-FFF2-40B4-BE49-F238E27FC236}">
                  <a16:creationId xmlns:a16="http://schemas.microsoft.com/office/drawing/2014/main" id="{D73BB62A-5832-4CD0-B9CB-D7A4F2A8207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498206">
              <a:extLst>
                <a:ext uri="{FF2B5EF4-FFF2-40B4-BE49-F238E27FC236}">
                  <a16:creationId xmlns:a16="http://schemas.microsoft.com/office/drawing/2014/main" id="{41D0E888-107E-4011-9745-869FE17A2A4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Bain experience within the Biotech and Pharmaceuticals industries, applied against Biogen's estimated cost baseline, suggests savings potential of ~$500M+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Kni7qipUQJzrOZxURA0/k9VOegrsKM74lGdisCG/D3bvAG41ylv3hG/GgO6xsUoTAfXAtIT6PDp76CbtpYlverwkCmt4RsYy3uQjy7fDnrY1kl3fsznFJ4NcOZrAzWqTuWd+f6LwpR0N/SognQ0+l7bUic+WMSXMYPeeBDPjMGCG08K6psnm8Vy6Sa2b2aBWyEvGRsEyLbCN8ENjVnqm46XsavOiwCqSv0b8ivto3ha8FiEAzOk87Ch2QItvXkYzeyigu/OUtAA/vtW2U9/UXg5JQ/DQK+/K1vTV6Yqpet+VVXKP4C6FlBeCjdkEqDwFJJ9GWSOKjbssvJ5TfAGYZNXpYlVCbjuJAhWVYWhvEwBOXCv7zHYSTmstObqBc2+JLfK3VOZc+4FkbBt2UnKABQO5v8jvI+ilIneuV5+oJpv7chs3KU4B8oCe3w9yis0eRVgL+Ph9BrqcxkOU4WV5dXKbuHj0wLXCaFTQHWEFJljLWEY4LKL6lPR4G1y9BXmc4X0fHxAo+idhsmLwjsEwFhOBpXuQXLSmVTUuRlsNKBbkwhA21o5gJ9j7B9lsJhImxlr6PyZoTkoTN0XuBkP2yezy7VP6DYZNOJj9/wEEhGekJLyhYFRI2nhj/LF3yRymlfI7aeineb8H3A+SjBYn6r7y8GOr/uSqblwRQ4lV+6T9lbhQjnEIZnAMh9hUbAG30r4x/QEfR9TGijpU/bzi0xEn3mR4hodMnaNgCBt/uIBjcRMflhtlhzg5/OnhgZN8pde5GcgzZ34y+BZTPR6OxCLhS3FwpfxbkZyF+ki15DFLNXoM9YDdVPmuxJzO1/WBZIYSUOiyhn4nOYTpETU/rWtdH2O1c3p4QUpQo00zD7bGtHDtnXo16gXjYxIYLZ12tr844zTSqM6taZlwEshwz6cgafi6eDZ34Kkgy7mP7wg8TmtNMdk2XYUwny4xwOyMSXCH9k3lHhx7z7UwvfrFaC097rU1ptus7My4mnbh/2Yum5hvc0W4I3OHC4pCIiFpcCnJ6DHjdJnItF3VfcEjXmQWAuCxSw6PgyoUISsMYACg0JlrOkTorgus1C34Hk5gMycCVrPi+7C2B/lnAv0fM9ePph4aTUW4fetmxRijhVViiHmxtmeDoZ8TMSRgZp+YGJp4yBmbUhTx9lLixD9SzsbazSzAh5+ZRAB53nB9wXE0IWwKxpHfjTsWMZnHqQI91B1ZuScTtqGmUXF/ujBxe73sb5wvUsyKt2LDZsdF2fRa8suXcOLVT9GLqaM6U57sBJN+psNAG3a0uIJ5mQJPSr6NoN9+m/3GmNUX7erMeTqRPbcylaSj+aqOw8PxKup/Liyn9j3i2//NKZZ2K89o4cChdug7/UHN5en/mn7j3L+v75U+AowGLObzCb3ZWXN6o0XrIlHP/Ln8SoxJJ1VNJy9Khg8JltnYLkLqdQfMwVBAYzQp8vovpBhZpgbQdQEFyH84mFVTYiJARPX8OW0D5PRDixQC0ywHlW0uiWt1Lsm41B2HvxhJ8Ht7rDIp9ZuK3wCKqIFI4YSugAlFBK7eDegt7+noQUEI+nZjyeVIvYyTUnzedY+AK9gL7dxTAJo/HOKvoBgFQNDrR57IZDT/oQoJOqcDB4yUc6BjbiKIqpyFh+tn65FdrRBdKkialRRRy5wxpcTytkjiC8M5MvQ9M2WX5JHf0pCfRRswpMfUdT4+uTl3A44v+e12j9qdfCaMoi6dJ333jeRUCn2XK7uQiBo0bNduEBu5zWZGlM/oWkAlvNpDM5K9XaB+dpdJyIDMCfnujPBEwcxvPHbSbSAYmoOTirJ8pEep1GKnZbEe0dbkg1ARv4K7p4uZTlox9Ly001FEUlqfzkHeKtnHkrdUutMAc8nQ++ULyQAa62Ys9Gh1OaYdTzzfnfYuo6uCyvhEYLd7Fv6BbPt7sSzi2cuRBr5rVbySgN1S61etsC3tYxC72BVbKheHP/Xv0mpC++Z0FTw4kyvAJ+v7GL8F9WsW94dr3UXGq5a0T+NN2ullJI0y0nRopJL9qTD7yFdQA/y+ddNzUTtgYOKzQtgOuUf1gT0llGYVB4Wc4bQ4hnomAuHwnk93aObYQjBhKWt3cbaTrb5P3eDQUfXlFTbo4k58bQ03pq66eluUJ6JqkLeq9m2G3VgfMWwt1UnHhdA9JQmoKNUiOVnI/FTWcaMPkwp2HsH3Ub8UOPogEqN7zBMPHJFFsqvl8DPAbZuowspub+L9AbltVzghRugSbqT2TdUGP8VsrLRPzrQwk72aYBtVHI3hVL62cHGjDXyGTOhjLFaTBltBoB51veEqVxx1/FIxPoXYxPQamjwzJIo1MKFGb0zDJHD816qy991JcOwTVIUjBlWIUngIk0rrss9Q3NkUQybhHwP4F4QVt6iuB0+0XCajVLXCM2ubxExJhkRHsff6L/IccSzbjHBmLvA4lq5Dbq/xJWRnkJvzwdFCTD0t0SZgAPwUQ1bZeRjuRIrJHqCwZQuGPoIfbXZnwjptQKj1m8JyA7EmF4opsxd0iQfiLbVkVLxsrblA5Lpc6uJftIRU3CaLDQ1r/SlTvdiHnJYltuUdufgjyZNEktcBym6/M9guzAqAvOivjc4NRzMD1ZPUen2r37wnU6VdO612i8JL7PC0u2bxyC/pgarnWQqZyL3F5+hsGYfRmpafyBa1U4ov0baL3rbHfmYV3DSF1/2dmV7/ndz36FkfNlMgI3wL/bb2jq6G6M4hchZqlSTvmHl9sZSt9tup9Ftqa/4fjjJ0vmTzcuiH9KSFwedTu08bqXfTVjRYIPCfmWgtmamgGcYitEp6A+maelpD2YM30DTqoOO7Oo4yn4j3cIrmNc9JH78YI6VQaxJsXXK8I7OsBbdu5BiPCniHTqdYNp7CvinVhJ2y4FdXB7nZpg0Ir8iBGSWiA8BR49KdVMUm7/ZULoCRXmA9uH0M2+OUDut5nB+f4NwczkokO+GpIGv5ewoCjEzpqrHyDsANoKo+TGlCfYu3rx5MfQ3Z8M3g19PrHj/Ly/HUB4HKCYfG4/XlxHfEhaJTHqmutYJNscL6L5EdRCwSn1ww6fYSTKqEfL/Ag0PhWeSNVDvDD2zpaoCe/gRTfqSru9ZV5D+yHiysgSHxf+vYU1U8KMjnniuxXbYaRgZSnooc99kbPLtDeSFC0k6DrCb7ryi2kV4lc9SY2Em8OM7UpXTM/OjRbSCv4R61AzM9QdyPg0UzGz0cR4Fb/xu9TvqRFAI97QoVuei66NCoM5+UWmUlRb5dsNwFGTTpnwHSOvO6JTphaPw/QwHOKu0V6Aj5FsA1LLbMjYvqf+/BA1LLbPf0XR831UjuudFqLuDVap2KtsVDuE4j/r2XaPyx9coQeTpm5V6N1+h7nXgUuDeOu020YriKOCi6bHnnEVruCJ9+dq6inrlvB14CMlNieU7pncGzeHKY7Meb9bwV7/UgWu76bYfOSbSUNd9h5b0aQNUexxyFt7akHDs4sQdQsBAY6xaopReEVUXpc31jfOEvC79Pg6JeQeQj9whOZ/3tPVjHoNqV8wHgcDzjDmvM7VbGEfrko0/FdhJDudy8oJl6radoqJEsOF59YPk3MXMzLyeYbQaE09iyfdLvCj0QA7oWckkGre5GpKk7JCLk//AQapdqma/RRI7f4wl8hudGjjTbv2lrNc7/ZUVANGIq30fZ+KcyJhM83jkB4qTA+SLXwSTVJsl2NmhCriblY0N3AP9HihkceH227NOqMdS2vx2r04zoap7VP4N8SGYV+KpAg3o8IP6xMei9dqCBW1Lytj/BHJVjO2k/R6KwJYVnzv2IVnFYxZUv0+YKereZIidlvw71UmJVBPXBIV/qW4vUsivKDyoNIYei5nDmO7WydkqQCsNP9M0Bol/kCc6jnaftq3Ts+ngFjzQo52/mAUQjXiqrL35qLQZC4csFx8mjhQON2Kfw7bvYvXRGmbIpdfawwalhS1Yyld43yp03XGH1ECUTV19zWSciXaVJHPytE7NxetK0WA1rqS/Bb6PMzvNvQyAwdEyxFlFMv7yeEDS7ktJ1kqEXIHCXBiZaZQL+qcSstc9utmfz36MGZeFmhAcjEJgSuw8J+Z1y2EuRNrpAyUO3O71K/uIAp/Ej1tG4PYI9m6zDwU6GZDhsDUoy2TSdsbDz9Te32o4T7NAPQ0juNFgdunyhVbsckoU1wiRWsT6aWpxJSR/rumZZgu5FaMwMe5mM694Lzxl0DKv9Pp6iGRpfzRKRfv6pgUb9tDcAMzAtut3VBBPo0q0d8DwuIPj8KxD7B4nqai/ga05iuvO52SCwZMPqA0M0JE/vbKLu2cjs6Vx+3ohlupj7dirYbbW/uAK277NbmWr9lRdwsCRyBmb8AAinxWUrtDqH2ZssCyc3dkLAo+ZJnYtKH2ECipAqG1KoKxV1gnyuU2/w5RMmSDoFBsNAhBQiru8An8jlmiPNidcVl5VyUQEEiu++W+q52v4fMTU//Q+TmDYlEaM0zg+2U1RsV1RMdkxEFCbVf+hKDva0Pg0ahbt4L4tj2Rrnpm7oNESttVcowVpv/mg7pQHNMBIjWQERCsN4BZ2alNTDH5ROSkMNLRau6ryhW2sCaQqBNWTuhcAKdviYjVH+jeLMFtHbHUXCetoKq39E5J6ElF9YlJu0r4FbvVsj0H/GMV2rlH7iJhE8HI5jBYMGgTgjqjYNdH46Om8bp3Y5B6hFIs4BYB8rwJ7DkruXwmfzJDD8thp9QmYmBNTAVD4HGzE48ssIVMaS8gOLAsmsYG6QTSwt0BpY+Y3h01v1iazqtrqwzYym01SK5M3I9gJfZUZWpWvvaIpOwvrNjnZAAO2W3Sn5UC8JNb031xCcHal6H2bTx1CATsnNaBtBukKZI1fQyuACDC3ltnQnUD3cJRE9UYp8UAhXitW3se4AF6YD7PNt+0hWeg3ALBGgKrWo+OhBuWgMpBXEjts4r1+j0Dkd1YRJ2K8E9O0v82dzoz9lb0i+9jTt4URKPJqeoNxIr0ZWCa4sGcyHjGfLCCE55aEswvuLScUCjs6CxfI6w628HcRB4kcCMkrbNs0HdJJLPVxDKmVBEV1obK9jrGbxolrBuYO7OOs4XUBFCyz/+zLvj7+39/vTcQeCKcfNDYfqHY9x/mC5czhzMbR84uOc6s1qqQwF1oMGh0XwyO0hJXOM2zVOzdUnzSaYFg36iEQfaSoJkGSEq/vBlm2cWY3yi2PHSr2v7694D2Y2VNVkpf8lLCcSMnQmBoxOpYvLsFRPdyri/nICTIau3RoSIkaYpnMbtXJU+RD3gjyeVuTwwE6Uu7KVQMqNGqHqLGLQJWA97ap5sXXCeL8rm4MHwD6Ddk/I62+/hcUSi88Wc9QIHl8HUl5conzWc+ypMEYcbOwCpCQhJTgAqvKo/hto9sBF6YE2q2vVPJhvumhKiE/QS2jDxkmQZakHJo3GIoU24FdpRBST2DxA7rUVgJKTEeXl95dZNSd0RwRheFOsGRSA6bKiUbdWSpkwUuEmpjVnPOnDrRy6VajWMtPFTlAZc4AERh3qdW+wUu7Qv9uWLwU6XzWz8RYBSJb//I8lHxPLjT77JUpbhP78TY0MFwScn9WNy7Dj1Ko7YI1brtpqXHKVDXSoHEEHpyWyuOU3LOBoYlm/stnXiEcvIqt+JYe2O3gRktqDjB3JzJKl2brTRe9D4a7etz0flBS8UfpdMSP7B/Oclp7zlLjXPaotKDTubpMFkqrum/IpLVenDjdoqNd+UMRSZiAd0hgqXo6bFVbSjIPod4yPpKNuI5JlALCKmmI1RkiiiS53MCecgmdRbOSO4k/KvHrbLJdZClT1nMqetrEWoHg+CAj22dCgG0jOVyqZo1bg2AQXO4NVTUp4klTw2UMhdNnoVr2XbgEG6m/t3Tg/kFz0Xv9oQhfPi40NTqitLE6PhhoW1uWgIx6PMEgAsfVWNiStiRCo803X1wdyul22m69zgFb0IkS/3ozOVOBMncN1chmqj7PoneBr+pASUsLXkGI+6ZKfQPnrD/3shJCPgRHyEjpL0NnJeTNHaLBYKY/L/bM7OIAniD8C7YK459Q1Om4bmw4PsAMy0A4MoIcgHzVxoboXoAT+J4CBpvFwV0tSdvkpCpjjj1vYvfkHhhc/XLChA3usckSuaUNbQABUY6uRM98Z9bNFYOimbgmZTjZj7akngabXEfOOH8Sz2PhM/lLxD45hq0adIj4aUvLENPOG4ITUj2s8lI5RkrPfeeBm+Ai/zA4/vxT8EHxGGc2Ue5uS811P5grW9dV+o7JnwFYxxCKnTTl9qyiFYz6yh28vn9o6wvxi+Knx9MAoEcnmcR9x7RcMQcRg5SuXKgAFRz+cDp5bzl2U60bfkUFVXy9ceJ2aMNR/bwQ8KN4IhDY4gFdTH7hiKde3arjJ17BNFDF53cfVfcS2+IYcggKrairO47ebFgT3xNXIBHmj8lkjU4dMiKKwiFUhSmIt/3m1qb3sclVgY8EvOucjKbMhQ0KKsWFheAJMnvCNDyporOQwbgTcXKRJCyiqprjOqEhtbo7qzk0NoGS0QtflS6N9xYG8F0D/K42CgCzGV6TiWUxsN4S6dJTRmXwikP8hTIA7vMW2UY765gmFwybemG2nYjR3EKavG3ZoKTbT6CA2TES06Am9PBisQUAxO+fq2XOoTjAVSpWKJG9lXkji4OmXCTuiJatn7Y99Da9yK5uZIUb+i462kj6AA0+Ez0XT3KDSUqveCutzceqT7v6lD3+o9WwRgeIG8KdkygD60Ya0DCCxF8e0H1yRKQrqsaUedxRLU6DQ4p2oSwGEBFKtf4yYsnKtaz/28RPvOSpTM/QCLB4hnEu0QWxPKYtDjhyN/p5qgEkVg029hzG5ohNJjIhhW7NtEQCOmNPcA8+LdmMU8Lg++ktr9ACeqc674lcH6zfVQ3TgZaxeF7/m/3XX/CHu37ztKyQ+PCkhj4LPHaGtmFS4/35JWU4PiQQp3oOFFRpzxUC6ZiwVTHn+4B/nARE1c+nYjyifCGFmx+VNLHGCHGnPxmS95gn5oQQ/lXAXYEUU6jR+uQ6eAFqWSQGtSREhtd0xmWXwwK0t09acGzHVT7fIg8BOnCJubMH3pZfW+P6ENIAPbq4tz9cDCXHGUM2oBjI1z6tzZH4lqx4FqkLBDo0k+EKY8tcOcAOtFJRpqdBRax5toBLef1lHUh3jyNrrbAVxD82aPuUnhubuoyvqfkOBy1l0Q/GERo89NEKmML+YvQgvkUZmloQkLlHPbbCQ8NfkdZmDPlDAIVtlBOh5+Yyb/LQod0HBSwEfEmvZxq1aloIT0qnRkZJs670k4HoL0PagGdw1qjTjBkBgf43DUR6kWeoIe6V115qFRuRjvkWThq9HWXB++4Oq5kovb9twMmjzU9KwCPagduHSNQUX1NOAmZtkhGEqVCeeCIBZlzHjlfp1zS7lsJOU+/Ep5bIJHkNPMHBSjYIQvRe197cKCZAgY4VdG3w9OglyO3w0rFNmbb53/bHlY0Le2FnTwmwoi1b6ZvTMQFHSXzZXErRkFNrnvJpbsN2ateBV0k7s2SDJmkoln590UFzSG1Tlrmah5+cv3GksgArIClTrTtjdH5mKH3PwlXhrF6LnFxlT5al85lLnUp7XgVUXLyLy0TpTssWjz/OnLd63EDJQuIu3mhOJHP9LpNT7/GOR3JPUoUYT81v29K9FlY9vz94tKlh08yIRJqJ5/EJi6TbDuA66kLg3y040vJkZompZiwOVduuwKHBUi1yLhE+3TE5t73LaXNIEcKGefEt6l5ms34UjrzdI50pBf62s+DaF5aaJVmvZnO5FdkRL1yhixymIfpntosYAxUEVwiCH4/xXL50uh67EV0totd4T9wEr6O2egxUxXsJE9IRhxFNynFj87WglUJQIa1sN8gT3wZ8HHkn7LpZg/L8S/UKT0B93iKukVAQ0yzw96JyEKt8PfKya96SiuL5O+0oSeDh/f0Q2BzNEKfyQMUdXI4JJCpOnWKVPbsZCpkPJzriUMxWChWCo31bns4aikoqZxGnsGBmr8iCF/FFd/I5b5bs7x+Ky1Eeu7FIgMws86ZQPFLDw09JLoKnAV4nf8X7HI+GWiUAyutyrhbGFPmGXvZyvdUTneerGxZgM8jbJu0IFNHz862hvNtQuM/A+/0zYss7vHYoducXLxKdhyQqfZHenGkMFhnYlW1ONPS/kxv31OFH4CjxPMhftO3zHQnYsFYDqJ6r3RIozYVoQ7EC1FXs/yj8G/ZRiFZMEtOPrpx2x04e11dKpGqrLrvfhbJZWuxdmXxc8SpJCV3pSZEWAD7K0jZMwuJlkAuEI1gAvPccL1YbQNzNs8H1XC8VNBgWgddWHf1ZDXvCDCkBZus0QbEcD9ecbEp9GvSZd1qg9pzxMMaaQSe+KsDyUId3Jr/0QuHokNbdb1bAaz7ZZwA8B6nBisogDzVijqJA083ipWYMdA7CnDsZ5EmRzIicI27hJjru6kRLqigmdIRQFswXVDM9UDRaIKuGItxYPndUk88dhoyjHqkGYhj29o1RaHPMyM77lMk8XW4SXEf44jfhp3pf0CIgPBChEb+55p5W5oQFjgqH/yWgarbcrX0sbqINGUYHPNaM0U6WHUSCIXhngfB5AJkb14JBoT65+uCWBgAiNXChZsJrc+UWb4JKz7sjxaFu/Hc/amJiaecBOk21VZL3KY76yar+RRFkUAH7ETWGDYmesZO9KDTqXl0gQF30KE91+kYOC4O6W+zvHSWB8HAAPyGhALY9JSG3DBIrr687OUD/2hLQYcwtZPFpD52OyCv/HxnrR/CsfQcBVebr0T6+t9dlvoumcBu6Vv58vVFw7ipw3F4q3sz7B1o2eqvub6FF83uGiKqF1KH0SMRFrv7FYZAMHbUIzWJyBd/s8Gug/mkYMqW35l1RrCYxNjHk/kCSX2qdcfM2VPtMRE2ZhO6IQIMfrsD8OUvkfmJBkMdifXW5RI0rjjNgOBrgo/VnXT2+gKU2/BSuCJJLWSOuehofw1n0YnZO/ZNrSA4dZWSUDPJpabjP4uE3Nw7n8j3wuCgfnz+TWoidlzXImZJX775zQUNR4ZjSygw/pQ3YDr1DicFyqZOnhL0C+w0cmrYfse9wuRu2ps3/mkYxp55k044TlFxxp3mdHurBFHqjHJZ9MUg2sNGwaC6aDz8hnMoZFjlUB/cGnJzXr6inJN9ECYwfe9uYEUo9w7h2NOL7qPsIsV+Es7P9UUi1oD6ZBAvMCjXpVMzFVwdkHlbwmxMYUNixoaxiSVT6ht4DDf0gYZPjeZAtvVmX9aJXLthRIlM8gGzdANYKT9Ek6bpNcdpEDzOTywTknr+0EaoATWBPSkkBU16Q2blAmvOZY7Xz6Kq2iKBwXYqdyTqz7nadZbUbTEqkg2QkquiRtMmvpHGXNiOvMKn0nrj2vl1XeW2KdimtWpkoY5OsMZbsiPFKnHy7WuX1JhJ8E6HvLMtqMXW7a+vbo8Jc2jHMyGHiVpYjxKzYA6tfOaqyGZhM57xXC2OMlG4rtzU4k6E3p/ot6uZQ1V9+FY/32I4fw0ZCz3q0ZpLmk11EzexL5vvis24CNTnFC+fBk2BESu0SNOLsS6JspRLYXRNbUSB4xYSrd1NkhrC339Ji76+8LAFb/DCGdSL/dutH0ghnezjLkKRR0g7FqxBQB7+FHB1DBnljvKac/65XuUq5Q85PJOLbjoiWKhHDK0yWtoiscGcKaMWF3iu5aeV36vtAO6+0c/BjO5Ign/FHa7JtWxV0nKBxNTPhnrglo8lqXj9F9dVbs649ojW4slZuAzF+YvplzvD4KWQYkvhQM0293Gi2m9+dH43MwLjVS6vwN64i2S0SuCvPaExty5pKcdWTqIrkW+xkxF1C1xaehl+G06kjSESzGoVxgoNw2b9okST9TSG4kK3EDsvheQRs2FN0SH9v8sjS5WbPH9g71xi80tm8D7SCo2vJel+PtyWAvfLCSuPQMwnmXompA+INidRnV2lSXAvPyYPX0jLAi+KsKIMT2wSfbfotnJkHAwug900Za5p4ZzzS80XGxDjvKrLtS1Z7GS8CSc2cwkJ7aH8AgiNmNINnfqc516wFVUxKZ8LuAjGctQmoBEGteLAtRonp+VTy2864n6u8FOYDprb4GbNKlZJ7HliC86Q6UMvxjFc32LnnIC/UEzf6iwf5rWWeMhtqWd2S9HM+WXg0F0++ZImlcSLpV9m6UPxGhcuinnya29U3EtbRghi5qMXJEEPmoV3wuqs6DRAYtVOytXsFmUb2bMDnYhGwPuP0xRA+TuptTYU2a68y3a7ZTKVFoDhSJg+XcVNVl8ObBvAd5jiarj77MxnGatiLoTq2NIGQKRWOMElS+2hFoxHtb/RJMwVfV1ejvRhO0W8e7bkfs5J/81ihfx9FeD/EXLjkoBwXBtBbijkwG7ir0XASPNAEWA38n/sIicM6mIrTy1wBTUvWUZEJ8Ha5evbq74kv9UYBnupc4UuU7UWhs85iYUxlcOM1zAeugVi0LuKuJ1ZangibliW+M02ZMCcLA1LqZuvi4EmnF65VgCsqb8WPKq2RCuqemon0ip8DAAM/cR0TEBvw9m+i6jjt4a2kJdJQOpMa9SLY4cbzIrsxIWAynS3geBNMQD9IVntxCfisvLt3+lr2DZv0h45s4zeX05Q7BZedlZ/rz3F6kKsHsMPviDoRkl3uyRhdstHkrwZ6BBkI8FD7eDi81Q1BIIJaeZQ6YsI/m9K98X+P2hrSk9L4ZDMgUn55HwmCWOlL14wn/zQ/ubXGxToQvWxdV/anHrZama1HZQUKbKVXzdWLK670++SqC9qt6KR7kqN/EGpwLeXKYs/5sWm4aQu+Iu3K4iiI2j/jCFcGw5GzjXJK0VYc6EcG3oF/uehBDSx4bY0ybgMzpSR+SC8CVFSVddY5LeqStJBC1DI/XffI9CL7nynDh/s62j4Q1gK9l/5NDmMaegKs9JLKjBDZq1cn0iTRlpoRsUFJ+tEKXzXeUbGmGPSiP0ZIRPDFmBbOC+R42SQef5F09LFYCmRGA+414bMM+7fVA8gjKcs4GAZjbq0xGrWstqQy/aG/HFCd35xFf6GLbc6cnx8d0fs1tegAeVjAyWWiZ5D5ayjdWvgwBzTdRPKLszaWhcBW+maUfaW7844pV2eJJBPWzao9o1v4MLb16ah/RrBURePPQZ+LiI0Tl4qhaKLjGJKQgkvbdBsJiQjLsqv1KVK8kHHEkxapeQudoTfLPbj28d778mDvcTGuPQ+iuUfY950S3RYUCO2BN7m/s61Cu3GPUFAZyN2g76p0G7T1YotKBZ3Ml5pUjfOlolE7+OAo03jfJN1qdWcypfVZatXBLu2a+IrgLmIkP55i76jcvJxlNxtf0y2mt6j9vlNWhSFoOsnjFLaedhUUpU+at95HT6pybhSRnVZu98q3kR30biBIIEUn0QwuX8OMWSg9sSmA+C0RIpJGMe67LoLoJJOWyHgsOJtSxLhL3g1Iu8mgXwrlHxMHju9JPaskLPli/VxuLDseVJ2/LUWUm9cG08w6tEj+5drJzyLsXrt0jrwVAJc+4XU7vc3U/S3aYdmrU+Tp1gKYzTCMbiRxRfL93/AXVJwmUcRYzahepuF9VrLbixmR3BBTci7KeTgnWYUdgBKb50YIKanKCKW05M1bLf+Y8nbgx8DKeoOEbE0Yg481ZoEFl1Gtpr+Oe+JaLbQKj4hJ6P5TeA+OMQlHV/83Zq2mTqldRFWxxEDHI2W9oY7AeVV/CK7ZEoilaYrQB3WUKsJRhSX/dD7/COE4jyPtVWRdq2/hLlYnCuht7xZ3JNtAD3wqRgxImZX/KnuIv9CZqQPU/b/qh0my7A7dDFOE04bVakbsx9odoQb1cqCcSce/jhiEGGmcGnWU+9RVCGFvAS36nnVAlDxFyDaxy5gGxM6Kl+kNymmCjQ3gJOZNw4mwDRFhrHELH+I5I7j8H0JgnE+1JCPSz8ztAOlY6pAlZ+nt1iXv6JYHkc1zdwtakFPld6I+dzNG+TFA+2TOsGjUm2n4FKudEf8e0UnfC+MWDm/UDiSbxlHv/EE8SIwPA08MDRXTAOgg/0XNQU/BZo3Ef7DDix9SWNC+5fakC3AF740Ki2TAm+P3tTTOJxuEvhSbbSdh0IbjBcYlZLawSbpE1pxTDJvxEbTj+ByqXwXmsxDfiUQfxX+KRBEMejoDZnuq5ngOV4GaeGDbpQL4YY6Bu2m49f3/IQI+nRYeRw45KxZAw+GmB8/oFgPQOrnzuT0txGqd+uNKjSeiglnJqYsTgGtQ/wNq/JMlkm1yPrFV6jiAW8wLQHzEUJN0eCknglf8KH/lsyif9PWfbh2TtvE6J5bZcOPOSORSZ9VuzeKCRCqivEdDt3pHJxgIHzROZjWcK3b6zOlCy5vtXKATWvnIbT8rrTNNuHetdOXxDkR3zeger6Mc2DeGiquYAz6VBpzPspmMg4eb3cylssvoLp0GinuqQOlPAYtUqUxOH/PvpXg4kB/Nnk8Mk6BVH/kiiefdYoIWlGlVvjKLUFLfinCM/4D5Sg6pfkl2piKRyZUaxZsnCLRl0MhZ2QHZRiS4JcB4JEwLItasWZRh5VcasVKWqZUi0EJdBixftyxD62TUCifmGvb/meIWdbkh8l8DPNoqgi5yXmGyPNoISvvFJaVLptDB8PPJaQ3tktd/xT7kMUAQeX/BI9StVzAbyUifSX7nhdAP/MUYuR5kgNpA5bydtyN0jGoYkU3rquhmO0oHDEaCkGqXRm3UEMRW8f3dq/bNxPvMU4g7cSmE3PRYr++UC7K566qi+zbuObsxaymDHHg9X8GeeooQc9l94IPLXfpjm0PA+ywrM086+I8DWpuj43Azqa43NekFxT0pakKNgkiuIIpGYsklWuumOxsxp7frSTBu9Y8X12sXXMxxRWS3tGAJfTGMEb1FXiOZvhuRiEtyc0t1ucZRuDieOtOPKEIBjgvEMlFpFDZEknlCe+oPREPIedLwHRJRVtdOEfKeQdOZD0h3vOu3kqixjWWdn7pX7BUcnzW/a2Wmlaq5OBx0Q25R5kqDyyMFm3h+GtlvuedDyBwJO2/EACqdknAnncDGahg2mvWBsDSJhFbdHIufe34ku8wNeUvOB/ZbnnfRkF5TtrYP8NX6HGeo8J+dHu/HwmpY6Eip3Xp8F3/+xltdNFdN4LwPBKmYBR8Vh0qZ2jlKx6viUo4sNd0kmMChTIeiKEix0N3FcpU5Cl2SpjAyYeU2MWzUDmDWbMSEyj2pqtVFsp2808Eiq1jMCa/l1H4RUhObFjL0SvT1lEWP1wW4D/DXIqEfP1p5vlClv2OMwnfiIi4bhiHQD68KL2Bod4/qcd2W9PAB/MvazJtxr6uU4Kc/JkY/gokumo5SvJh3mX3lIT2Yzyry/iWjb6mrizDhsWQh8iboQMrTHVj+aeRnFbM4C3bpjfDSNaC5eFl54J+/a42xFK+roJx2/TngHYuvuNMt7JpUg2my/LepleHBVBPuxiXYPilU3VBqUHVxLCdjEZ28jcbtrFuJ4inLLQcZoEhXMtAa9yol7eiBJEHlPUGaAhJwyc7Fr48WoFB6BxpPuqWIqmC/8owRNEAAWbRc4twRJ0Duiv5lOeWz3tRw9Wj5wBAmA3/sPJHv78iGH4UbrNQ4RlJUzXPC/EjcDtDG3dqHaaQ3zldvBql3AnuJ43ucpsZgnIpSy84oubU+gpWkU0glgyxVLrWhJRdF70E1iXJyEk4Rbq50rSe3/7NFkoYQPKtBNsRyxRiqhvnd/Lv8zhQhKgtCT4CeRsYXM5hyitrxJt/jiKsxDQnhElh3+LB+eSeVU/iH8FVxARCLC8oEosBPMUzYGgYsFmwgpejF/5eUyW4mj5NbLRnBdJKzLYqj+LTLEJs26x/6aYnho8nDLeqFBqEUiNpxVbAUg1+wP5/bKX6k+RIwJlhMl0I/+VPWEYRZkpOSOD/GIVMqM/yZH08DMiuUx1eRtLGz0QjFpf6ziG/Q2AGo9GJNru2bi54wk2wh3ztALCFkT8Al77hKT4T/gZESWAu2YkLsFgQizonw48uD+SgDw+t4ZUreGtdEd8iTXaa1fwkSRHN+eTv2I7Imc/pCY+o57nHp3fFdZ//aKAMJ9cfEssVBZfYjni2QHRwr3tEu3q1eQuOIbCU6d4HGf484Eq6W8W6diswGSFj1SEpNNlLQSU2yPD7lsgE1A/M0PFEEvXcCLlcJqPVhB2XL6sMjVlUPl03GF5K/77Plz2grEBYRXKYYj3dXnl+1F213WaGRgWrzw7fD1tPHHaUxCb/aRSkwggW4b9/Fxp1h16DqlmhvWwenpAo5IeGhtC/Vcy6SFk7A7I/POMzYeoKDSuEE75zMv5R0IVaCwwftoYx1byGRZvZ3Ey2NGzl8LhKlYp/P/5Kj9b6i6ndxowA8C1EsknxPdPNPSSfM42zmTv60bvC33sqI6NLbR5mTb0i+HsnE6GmRMxe10Xyd9xPIQGEVsD6Ya/mlP5nlbLnsK6nEDyWV7jFKui1uF5fY6WfZzawYunWmQdQWzoANjUPLhW/YJbFN8/JPihqNO+qOFl6wzL5l5DeheSMHT+Z1KQL+bgJyMybKLhlCZw8ceB9kiaTIYZtGFacGNFm3pdUNKB+bVBBOSPVVG3hSsXBgyy7dkGlBbAE0sgcfVa4vXqH3Tr/Lb83xBFrVu8LXEJdT52F8lJfNKP3j7S9zSaaWOUBatL4NL8H/lO2IU9gQJOkjZVk0d2zfKBLsww3KoXB4xbVNvKIG2NIt0H4kToc1obsB1McA7c9xjPeYseQNdd3aX2TB7Dr7bJnekjNMIQtV9ixyS/CPcEP6bPkyibBbYCTmmPpE2U2epVDw9WYFYpZpsjAB5av+pz4YzunYLOeIbGFUgJDvneN7+rjp8iUQjU+HWosrJ9hcNtdaMms6ejRJw+m84Xc+Bayo2kNySIJD4JbTF49JxzhjwcduvHJWMxbf7FLlErFyKnEGZzwnp+VZO2vTpwCL54VvP2AN57jCvj57oRY97zf9tJn3JLxceP8KPM14SMkLtFgVR0Orgngaeo9JsOTkfwFIKVcNGE674hNcHefu4mspZOgDvHoh/geTqeVAOKD5IgQGz/a8C17i5xB0POeQwUGE0tFZpDexvKEvsPDNPFzvmKuo5bavfH7q/qelXxLGb/FUfxQrWNq0dcSU/WurCCD9l7phNFYSuxW93jSuxMcLW+h3EYkn66HK22YZlUGy1SXDZ/nIlzpnEQq5ZM/irES1bcQFBhl7QKT0mldP0hHqzeXEXeag5USiyMTuGxpIGIqm6UZzWj1DQZZ+M7Jxby4Mx9WXHnhNdVNJyzdqMdK54FOl5WS7pAnNuY9/hVvXHerfMBMAxI7UAcoI+CQLOcQn4LH0jbozQuSi3Ftaez02fGYZQTtHSvQ9S0qg+J07wLHIOH8YYR0/d9twWV6b4DUHOKQIf5z67FHAXLIwIb6WV+/MYNcyFZPRnffFjvVnkLgPrXqRjapwwzbRknmW2AOkkiPA/ECZtbVOINjHg22CgvvW6CqLw1K9J0PJg2k/OV8InGm8l7F8q/9O6Xkb6Mc1uEK3okU01I8ZAWcd3vv1IUqSSUawAy7LSzPr6vvf4+PntJd18d67PhqE3cuJIjoALAhcFP6YPhhLToPvuo660iqHEl4BSzQTjaTNs42I2bYIo79n6cA1riQmAmk5PyXYLZ1fpOtHwBLc+uZwnXReLO983jasO2b/ANihNF1Up4IwdiXv7MulXoRo3WebQbO0GxcHTIKoQF7AXoG9pTPFjpdRVf8b2oiSAiswd5CACxmf6TLOr8rwp/dqb7xo5AeQDYke//wX3cyTixazshvRUhSt1F7jqlWtC3EXG/zufeAmx663J0Y0ivf5g7BquLTjN5RUYZ3f9ubfjwOm4wyXFybtJS1PFUt6CpqOcBFWdJrZRY6Po6MEo5ifT5njx3pxUf6ChWkAE/NMX482x83XYA8cPMNMDY+/v7fvxPi6q29S0J4rDTAKxiGK+352xlvTznuM3/Ene3L32rLWSn8oRQ7DeJh6yfnb/R02yTi5wBsxDdlwVPtwYWGYJcxrv1MeiNcgMnqnhCwCa1HjYJBbydwQi28AabkdkuKReYgzoY41KLleSur6omYoPyce7bS4TUZal5muacMC3oWOqw3jpNG0zhYeKuaLdXccZak4JY+EsaI0BxY0a389iYjFTHzRgBTU4/E+3p6SGGL9pFElZvAgjd7xxIiBZEOVC1NZu7sD/hxTvtEYFS0Q4v5GwgkmM60D/2toVQIyOHtNRSjOFMBgsWEav9N5PY2uPvEXBZo9T+Vbgx0InIKqrxDgj5i+urognjE5ZsASoHR8u9h0wa8couol+U7TKWbjr+jYPaMfAo0AEUdVTJoxT2SDqHnXylzHlTvJehunhKZuRk32LDZkH/UWJ2MQlVWxp5K9umyZ9e2ZQvooUDXJaU10GmTdh1VqgozmccD/X97CZbQCOOvdKrhnEnG3L+LqCp9a3IcMO2NnsER5l+6RJawRZjD27Ju2IBawiykF35PVW5prtzY8C0Io3/z5/qawZC+ehAFPl9m59UqSD/KXHO3jc64MOdhJhFOOuslwQP/TuN55FpKs7Dqozm+HMGTAPGH3eBD1mSe56XZgVFwyClW/CQUQo8k6Ebv/oks2ZhO3Y4mMMC1eYzZtQliniMfsEuJyAwgb2pzyLjoFbRrK1dAZUBCLTL2aV9WDjIHGGYp4clf2suy1EOt2KsO9jHQik6REytcRzJHB7cl0TufwPmTtGy8GoCmf7dWzsvD2HNYWBeApbHcOdxJ4F3Pdtuz/1oiHveQtnG7wlLuXuIstajnTre2TvvwEG/gxpUt4eIGXNG6G/nfBao1IS9xpDBvAtPvkpMktpuuP6T5tzawYVmOiIBXEa7oF3/KPUwVu3FnESg8cv8AN0IhJs9DxQdl+9if2Bc2MpHXULERhhzkrnzmzyEYaaS5voRw3+G06EiBydodsYbEC9mlPNmRM28T18h2lLUMEXuHgWn6as6429nEj1P76KnKGJuOZjfj+VV0v36VQ8kztGwxtquI8aobFGPeIedA88SO01OoyxeHtiPvaoFsIPC2JUttwaL2vFRY62PwsBAryUmp77zYTKDLnoH0LPF4X/KfwDhlhAzzgew01iZQ0Y8tgtHBIQIrsvxV+zgn0J5T1NCrJ/DxDOxgS7fGfniTVVYnu/1oJw7tCfqRZ+hbSjggSOn+F/h/sQJlkSnAX9ns/tyt8gFEhZAejkflPA0AktSu8tdoPVgKLjeIJPQ2pbfIyBO1o+L7to8N1H4n312O+Whg8WB0SlEBfZ7sT/9bRnZlQwsmAFkNQNiXPzW2FYEU2aRzmO83gAtSw/EBY8e0yD7IIUBoXJXcHKODFPTqlR7bZn5d6qc/yEb8Gjc2SkQan8WH9AFf76wJ0kC8UHE2xCfSoZ23q3CEJP9Y/gar1zKqZugR8VFB7ZmLgY9dyo9zWFQhZEyd68CxR/TXW2cigxZ0411V196aExycEt0iI+oX4AYbFfVxd2GMf7bvJ8FDTKKkU87x+8AZ3NF8zco18wv3Q2zerIgINynatJrSsSbJG4qzTZ60lG+QyD/ITXFh4vlMU1LR7GpnSbqluLo7CYHfnNDXq+MV6ZH4QxEop4xvdGMM7NC3ruoyUDhBFwC8FOf9gg4b5gwfOE/TDT883mRpcQB2AVhSu7iDm1rbjG/hzyvSz4buRQpzyJAZyyKblznynDz58T795PII/MkQHToJ2Q/p8CLnDuDzGSm7YoT9AwYuR5rkoPLEXwzwdmX6knehjvl7PitLCK67IyIC3Dl4sBps1Zks/aaYqnv5qfl0gEOrIIqKOVs2C7QGjA09zc73gaCvrdMUeUGC1P/ZPhaDSq59mLb85afOdRi+Ins9umebghWoAR1dq/Hkot+JddysIgcdPtrpWbX7UQTvDy01Pf9+FyIqvSLEhhVXSAZ2upUXcHElNcoj2JR5wsOC81AERAFGzAHHaqqFJCG9OE0X3CQy2qJeChyn4UAaco1sVvM2jxf1v7omcLUAA85mNgv5TxgwPHF2d4gRnFDjN9nZoiZQEeqiDVdMXgn9yMaBemp3ng1vKzt7ByuhuRw95b0qZqS3f6wKnlaO4h8NEToPv8dY9cShd7S8RxCMULiVLd2Wr5xOdGWMTqWjnZhNQlhW4igLdW8dpQGub6s6ykd1rIuXxqfL/OcHLQNmuRQjiqHtLrochi8BRM2S/90mQlgONkpXun/YvYK3y4BcU91rXZ4VAnd8xB7wTpJTr5p1wbLk6e6Sr3sqUOS742nMmEPFu3kt4WPYkdSB6EHvl1ik8iNgc8DNCGmSXnd8PSvvH/oGKE6ov7zFXkpWJ23oY45K9Lf/tmXLhpU+kwvWkQzYS2rrsgD6fqEUODnL+ojvF5Fvm09jdILEhZhHhSO3E3ohmkMCgN66ETr/+HNyASTQlaoAR5Pk/hioiLU7ZmZptR2rSJj4Caaoan6ET9roeFdpMm2LiuhpBGby3u4O1RMz6izoIqpT3cKVXR2QW9lJz+f5UHjMJ7Y55Xc5mHtoSNrJqQlitmZ5GQBc0/mCe0Wayu/On6J8sYQrwajs4FBCSiRq2k3ka/DEHvAyfpTdpJj/p+cLP2dPMx1KGK1nITY5uY9RiVKv42Do5qrM1sZguHAC+X2/HDhBMTdvP1BFEOrgfRgVLKIPLUGRmc2J377PVFW/72JNER4potXoYtfp8b+w80CMWa1/KFRV/uX6E2OuDkZHhlrV0PxbFlUIOuzhAlrSus6I9GWLbMynZY7nxRPU5zsO03/ZxJFJWETLjOIYV3pj9xmAuHTsEAoApeDcme2Ml12y+CWUhq1fGQyJ7c6WNikP4Hu0wGEqe9aLORL17YWROkcd6GIy9tuRJySXDuF83Fjgakj7ITc8AsHLN7TDA0urgY73rsR7zoZ6Xg3BHRQOMaNOeP4UgAexJ24Z0oSXFDMfzVqueEpTiaIwLogL2AJ7Go7IWYHMkC3vCCVcXzZUrHkkVI3QsLa6p2rMrcxADyenNeKsKNEpVFolgBRU9bIgtbch3hdkiqQiLir4XSrGMjHXoPJ85mstl6FVpw7YS1FyEuhrJO6zy3pqkBFerJfF94Yzu6yHn00AVmsqLiAPar9WhV+ntfXqYCGv41fY7FzshNfBpFp/whdpCPLsb5vkqi5OsHO74dUMXzJEV+rDxv4W2qt9uGr3Aui6cH7MfC+uh48Xvqacxz4+VXZmR/Ai1P3blvWNDLwzJtSKCYEQX0xNgecpMjTC0ydEWptXY3jNlQxSY8TphB+mJa8MAk82XHv4QsqawL5FRCu8loTDv4FeMvr5cMT1CJ8sdD9Q1ucGNOxql/B0qZTEbFV+rv5NsnHA9xDuoM/8xJA+SG0+mxNwAmKzBh0JsprlH5gSYa+XulrDaAIaXl++i1t972BTagNjZgY1j0cPci6T7z1O1FNm+2t5dOU+ah9+/hvjgLtKAXzIvoGjda/WUhU11cuXnC3A/kKSYNYJHnNeRSL0yLzdzTsPlPygIRDbX9Fw3MK2aXryTr9EgfNoKyQsPJyPV/SC0nygRa5VXSLkrbe1zXjpTEp3V6xf3RCbMWweJA2Y2vDV6dZLpyoUMAdQiAlLgrbAxOwooA36hRxDPqM0x+LXhZscPPn3XghRADHchV13Y+sUEn53CKZJkxopIOjNUPt4ATnx0UWBqZdZ43ivQEQs4fklSZPemtHarKD1ohePioME3bDNWanA4bMPMIUFRucO6xUr8obGJaRYxT3VOqTK2DyKhlEpITiod2mw2XURlZ8RPfkzv5GGI5HOPLcZMRmDN3sq0q4BC/vu8VnJd+MHmEeGErEbmomd1Il/orTdwz27yTH7OTue0YuB+egBQYJ+Z2mPIi3RfBTiUaoq5REzSRen9tbdxfJCSWhs9OM+vrYNr6f5hKwZk/jjzJWPFaZkaLQPHARgWvH+my+J1lFSNIOD1n/r2IqcRhQwDuOWgea0JpL43hPoEeW4aJgOkbpOFARKLhmHZKClWlzDDszmGqxpZU7LACwInr3/gsF6pRvNC/vMEkJBeIyL2Ch2piR5YhQMNd95NXQd2QBENG5yiOfkWZ2F4J+6/3y1fZXHxCz/Tc34vxBaHrcmiY9hrBGwr3Na4/Sr8r7Np6JBjPyTPPQncUfrYs9Y83tPyvoeT4MK+Ese2eTIU+zUk/EMiYPmWp2qlqYWKMiOztXYz44CQzDtp1yWZI5zfpjTzNC/bmvxTgJW5mIcudkNhgwCg/RsnEc1++Oji2rXAhObeMLqQqih/SIlPAbNdkVXzPSuYCVjgvA081syxm6b+dsMJSZJavS+ih8zKYuY/TdQz62jkqjt4IvC9f8SG1iW/TF0MvKvcHqwXmk5CX/wxw9fuvTAN2rz1nhato/qZGJZ9A+a8fS24FH30tmSMfqyYTWzdUwJzfYkEYK9iMC9ocnR49uIXKXrhi6rKjMPqznmdKH1I5/TZETiVMmEkjOZwSRHvaVa8/no3xvow45Twh7cLGfI0tx7RBLMmyAEJai8JpfXaZGI0JimON4Ltu85xEookh83GEWE7jHPsuSm2nVsErKUo7dEtxBALvcS5opkzjtKfibTdPBVegPdInryeLcjttkRLc0MU5n0Xo5vzVy5jHVxZ9sffWksL+2zMEWhlz//MvaLFxnybgqDCPudw1+5lOwL9hX1nD1sh7GWarqhrS4SyjsyMCCw7aDZfOdlDlWIE0CbLSXYjuOMl2FcfX0GnPTW9mbK6DnWdB6y96JZck/VgiiKHyH3yKyeinEhnZhaspMtmLd+UYHluJT9t5Trx/1KT61tncZZmZgw0Bm59RjKPgh8PXtALzaLo2yzXZcXu2AVcjha95SA2f40yG2S7yuLaY27yAiipNebkKXdVg+ZINaI1eUh5I8XEmT55nh7FvFrgZ8/V4QlaRcfHpJ3aEieOcDEogui3wrcG+1i328azXGlx7oOJdy6OyPttQwSqpbfW2E1gBJVbZxxAx/XUwLcUnyloMx1dGufR52TMZy2F3kGvaBbmMDc5o9VNp0mRC7yjj/9b+zhU3Gr09wW5FGT1nGaDWAEdrb1rXnZSNM2oEpkwYbdM1xnpNdmzIKxLLeu5DH5RzkesHH7Drf4jBUE1Ayb+dS5kBmGIdRYEikFADVwAaRx9ZEq6BuEMBgt/be6WV7FtEypFWXhNSe6/5Vuu6cwoTvLrdhCjvyMuGm/Qjfqqsu8aMqbLiv5ElglJTHqrgGDM8qbJKIpUA3yTyb6BAEwmLiI1KodNay0OUEvHvIG5z7lsWRxMxXzOPJrF1UnciYqHbZJQ7pCGjc2wgJifZDXnyhuqv5Ya9T84ucelxJW+GGb0CnywiMs16YxG+4M2W3GkeOvCAiw1HbMJEkKVjbSv5ElwmjT5AWbO/nkJYJ1tesGCGtXaaN7qnK7FvqXQOCfN+uvFmFbtEJSXaYHm4uVe/ZjU+tQxuPrDyKNx3oPEI0T5gVx21B0T9k22m8tJXOr2PkFvDow54sJRC20lJ57/G9PumWa67CfUIdEc4xOd83OV9NqXunpYaKJKrTupTiYgvjp7hAiIheFQHLItULqT4W5baySww83wPSyouaPP86ifTYxNBbK8hWkaT4i2SZ1Sb8QaC66fOyxaNIFDx06YQXtv2Rd5Er/g+mMLYtX5zodwk50V6/vle6tKNiLLm+AGeMQJ8Eplci7foMx6fGXoVfZkEdrLof+nAfWci/4Tqmn62xS4JplI59FqIqMkbkC9jSGxI9rhqpUlsiRg1uisdj9c5ZHdjla7jY/kpnxluef25nxGuy06mldcvh2VnIfuHpT99PUtS+fo2S86+H4XpvLzg/rF59nJy0WPoTg3Q/bd63PvDrFkI/Lxp64sGDAC31jQ8HhLWW3tWTH8y1WDGZFJM9A9+QWmTic+hyYs+VMtYoZkI6OnS+DhLsYkTzOb3OwSKOV0wI+84YJRvONwLHZqat8lSqPrAYCqdNpkmwBleqnJG8cQHn4oJ/HGjVxgqr2MELpj74L4wP3+XAbZPUM1I8bsUQ/3J2o5PX9F6ox5LgZO7arruYKkvqiL9UD3lGJEBIJh8+eyzYXnUU9Hbem7CKZ/59Quvt0aXf1E8ugZz83nwRUMLx2n4PxzeM0QiNAZAbw7k4bFL5AIg4qw8GCbsCURpAH90EiojqkxWMGOIM2wxyDFB8iiFwObPiWUcxoIW/A6BTIAmjlSnE2Hmznk9Y2B54Yk7v0qSSVFo96Dd0YA7ntcJPvoF7IoIBjwOrKxovbsu5oV6SDwhKOZthG1GnlB4k5AIRbSWsw8PHOerlezMJ5zEJYxl7GEcpiFPgRkN7RpdU9jzuVst6yT5eT3zLScU25FhrQufn6W0mQxm2+NxMuhFytIVJKUIi0USCZt0eSkHj0qLPBseYSIQkG6JNtpZIMJECYI5eH49vjFKEy2eM/YEt2VahG7f6v5+W0bFpwIuE6+TJPYRF3Rlt7Vy5A/AXgoBPOe0Nbmg2Ee4+xZz5j0yabG6rSqZuooURfSlJwU4EV20JPCL0xk5+hhxtAUx4OmDpW63oOTGXjZ3MsapGgV56xXI+4lzVm68U1Dr9siGKi5d2HN3QDrhsy6pXB4ehEO+Y5ZE4eKjSYwfe6KYumcwHS5yS6mhaAEL31wwMXrDHPcKyyCWOZZ20ncHf0DgFu8wD4FdbMLfayBL5UywCF4UEwGQlHMgdYEYfHjgAyFaC8TOO9aL0oghUf9EgfRDGqDf+IkDgkTlKHKWz/JGliSHEP/lvKjbSHBsHO+fsKlBkdvwS7yBKKxqQ80omiEJq7HFzEuBy671qfeuQ14TwuqmoJQrMEyRIhP2AVWr6yehLmXAtPyacJ+N5Gj0nT7S/ohPN6FQ3Y5jjkCsZRhIJ8DvOVZFd9l4fvIBarACGh9dULFP3DF8oKJY/T2Z8JFGrmzzOmW5KHotYBpgAowAjoBRksoa/eVaCrmNHox2bBtiBzeKIGFvD4TYjP/+w/E/14J2c+MhBw9O0KUlg7VHXUD0zp8ItUrjAQRraODHcX3+3Eq7p/gzUPw8ibjRwvpYo0GQWhxykx9coPR3b8kv4k3ac366PmxtigC7eGlj/MxaUjlFoWdn/TjpDpIvszDOfzzyhCzGPyW48gxLie0mt2k6DfqLQLKszb5yZtMBv5mTM2O1KRhaqBdwmTeX2fH/VPD1mw57uTSis3jwqg6XTyLDyItAtVfQXFn6b/nO8ZPBIxyD+wgBFopiZdznlTfx57ciSpcwiD/1eyaxISwPucc2cdJWOlWj8Pr3SM7rQf56BEYjbo6VyBejJDFR+9Ad/fkD0gVXEJC7A+FoIl3I0KsjdtD5atIl9P2v5DdaV34YzbPxYMnFPD+KrA38FEyWgkQ/SbLdyAqbebwgfcy1lCzzlBBA8M7Aq/PvKfc2JjSAKwf3VBK4JdMyGI0WK2+Zeuv9Qaf8wUShuWeZkDwSlQQTyz8m6tzxJcYeSFzy7P3DRanhbwm5YCBx8pTjTTTdd3zhU9oxY5TbkCue0kD5Y0ern47pRquwYXoxFrjk1XVyAQt7P8dvUXXRuNRI0G9Mr/X69KLtb22+hAP2n/e4Tm08GXWRFcMqNEIp4IEdkHV2dgcxrbWt/pUv232ET5FHbQPOwb3/n0ASJb/YFKwVF/BjRIjl2jnP1FhhSG5EXfvOcffjtnw0Lf850PjjPrZ0FLqYWxvADJF/lOPnGdZ7cbKaxtyyocssP4Qy9YVe6QZnaDKVIiKZW8eYewvrEvEP7ufFplXT+1AKAS9ZW07V5J5IMvBW98Jpgj5t0iufXr6fziKwSZmEl6oCvQ+KDucyHNxyYk/e03rRKkbFcaYjgBZvAOAs24kfj5Zr+vq3ewG3N9Icxsfk/PV2eQkr43oCMuidZ5rjjdczpkYHpXQF60habPEW9XNbAGcQ2F+kO5G8SQUu3gAH/dj3v0jB/0cl0k669LF4UdD/CRjuzZ7WGU2quM/15n8WI+gtScS10ln4ejFvqv3CQKc9X+iW0S17Y7PKnYdg/Pd3wufTVwZyfEnPhUsMWlyh5+E73VfF2zYLxJWc0WrldGeTCB+XqZmjl8RnBTefdkKBV635WJQM10tHN4hmxxtjFqMorVxUbbtDkYAk3sLQBwlzeMqbyd0wUvzA46wz/r5PcJtL9XsSwpdj56AwVlSd7k/OY0RqiW+w4BvIb6QGNYEyriaAKPWpGfUjBdzbi1S29CYhLmsLfF4smoh1zgA+/P9ZsJ5iy+6IBJ2tnibOuz6J87QhA7IXTri0GuWOPAaZdCwRJ1+JvYtM796wdglCO861PF7FfVvryOM0oU7XolX/XA59OpBS7iy1PKd0vKiU5Vt3Wid1RrRyyWYmATLUGBCBVGkGk1Q6ShqEUcvgbCLPHy6Ol/yZ02tntw+6lOwH1OISxRreeqwQdt7kJlOL7coGv2HCtqjK+8dygjc6klelhmxSGirCXylJtyZHyNymqvQS+rvVJJ+m9TfwlveZ8TlHFqlMOTsIyinMJm8vp65xAS1Mie3lPTIv/7KZGjHk/ep+UYJi1QPpGETZ1R45WctB4+D2/JZ9W7skYLAPN1FLiVMf6LSvmp8RctjxdHp2hrrzQ1H5uadGzVtedNPySkLDoUHxlxpfIz9eHSAZkISET7jT8Vmh6N5vHhbnW6GQx1UhKXuUmQ8oHVskNcMywTVg659SUpW6to4OAlYRbY4Lyl20pcyv168Nr5IJ7vD86sYWyijEbvwd30UGjVU0xDa/gNgtLs2vAgTO0ElrnauR54ec7b7Lq0Z7/ckrwkBrxrPUaje6uSBGarvsyVq9+uSbIj7T1bkitRMlSHQlYmm9VRfGuNfNukPhIXQ0q+pZ68h3DlcZpHDJMSfmGhFC1adTh0iwEKrm77IlaZ2UERpWWF7/ous0zWTRiwiJlRHnXNdKIew3FDB45HppPEcDfXUI/XQcS3qvxaNKyx9hpsGmHROh/4BCahbfdICSE9jgutAv1fIkfVvOJ4eYz0VuLVqv6WXz+nn3hlKLeuHUGLR17tIvGssrzijDyfEE4rP+xuUuAGkch/fZP0U3wv+8xWbkQuWlR+7AZbtvP9cdyR6vgcIOC6Q9+HnjvUvAfE5MMuOVUY0NVXFew+yFpbXYj7tGTPdH+0AaxDGJ+rQ6IpsvW0MtEz9zIU4eMYfmx8EEU08+pflsoi6wvA4VAIMUSbAA+siFzU6MXcYhLn8Zb/WvnYqRbRWjVpT5wWU3DbkhnrAOM5y1yT2ADwYbBD3m4lwCckZncKLbhgWnVcs6MdAaFgnUTmNzBGnNMgmm2CkOJPxRl55xzmof00YSYfFFw7b1lW4y88XQzLhliH8ckoBKEIkwqN9nGZc/OBIDXYFaCYKRKlr2nSrOc+5GZmmupf5xY4ERNAOMbEF3t/+sfvNqQfQXr+Zc0z6IpQgEPXZTm4DMDrRbS03zmt5oDDKpOntWrjY1eVgSdZZLS8wMQg0G+Ox6Z5WN86MFUKRHS50+fEcQZDdDBIDrt/6vGJCoaBE6dWn5JuKsMAOmXhmckFh56YDj1NJqVIaRN+owQu6DwDo7teRy2K7+HYpqSQC17NF86sCzJgxoxXFtDKKNf9qk5i1lb4x0eMWWswYvy6yk7MgCx/T8X2BkqTm0ugGsL3igD/4Ist1a1BL2VLmxVUn5j1K7tuNM3o0OtqfyCEb1/xZVXQjTiW+WRXH/KGf9ZlzEhZ4N8nmwFDbCw/QWzMP4O5h57AjnWYTG9JVDju1z/wPBFqv7Rj3MdC1Z8d+LJ/FqOVTSOxMmp4g6LD/XyMz6xlq0fh30a5iipBc5sH8pBP6omhmurBl4CBlwKqlT8Dp7EeUsYeTk2zNF2MEXyt1SCr8JFTfst2kcIbOSr4oI48cS2xHcpBo/g997Lo7rNZMNiUsyol8o1RMlWnk7qObFmOM1MaXII1LyWGon7aOEvyiC0Q1EL7KDQwxAcPDcJ6IFFGYZdQhchCB2KtjBfwiJQgu3Wj3oMkVw1Y97o31oi1SFRVj9mXZboefapNUJrDSsElYjWshtEtnFGMzbKdhmE5NAoYwWDrQqWfWUKP6m2oDb1ghpJMVIPXiTEO9fujZ3lPO6TE4UvbLe2KjNDsmmvOKFIhOvQYJLr6QuNWr78yL4rZFrzIInzKgu21EXsE/rVh8UfiTw+cWKDsa66XYMaPty3B8JLxrsHMEOnm/Ii0U2F/NnbjoE0StfMeP4aGBCsWnQXYdKTJ+CjJGlcW/uBh2/7KKZT6Qo/NWT40A+G31OrHYFtvWcChCIaC2RdN3T7hhWqM82++2pZXYn/oAaW748rW646YBR/w9GZ5g5p9Exo+gOK5GLvECNOI5EQric3H3RgrlMDXfm/yfZQWXAstq5UVJT8BLp7XZO/TsiuYZ7lGzHSLr2ms7k1OwJKori1DkaLXQi+GbUpEoGquGHCVXhw0xMD77qezJPmlR6U0BigijPrqf2chMDteot/5lsu6MMRTWT+PL17/qM5VmX+cScoZJXBOUPsjSd9tnWZqAMAeIJNn4x6Jsa5al/ZHWbnumdtuL/KCO3o38C8Z5T8jrjqCA9KzCqw7cjpfmY+9zUA3ywVjd86Ykb3Zfbrt1DM5vPv4HGYpImXydlDdo/w7xCNs72N/xCT2+/ftSGJ1aeKohmDpCwqLmPDHaFf9vGDonWYPvRpYPXSo1/VJ03rIZw3RTFe2PW8q0WfFM2oO8qGMCoBH0KMUbY1oXMaWi5LWi2125fBe0/x+wASFTKmEHY3cAnJDG9WSj4epBo+mbgirF4Zcv9gAwXVYcgFE4ZuSK4JSzN5HiI+hQ6esBzqsx3vCwmNCCr0gSdMVumsPM/H60r2GgGrcpLo95g9JKxyiUiITH7dhIb0tOcV93nOml0oVFqcIfGPbDcuhaHAXx7kdNVypsuL6f+On1Ju9tGXRWMxoLZoE02afX+1fyGg3q/DbUswe7v/rsATTfAV5H8/FsHhEdFt4HOuOkZiVh+0aEhgvU7PyKPX3EpCAL3AhpMmBvB8WVfYfFoa9H+wmPoCdRJI9i1Ms38JKkLJZNfvoWe+GAYVSkbKI66wLozAyB+tru9dKs/nlYYXffe5Ll8raq9rXeWRHK0h+jGMkasNHj02rsbaN+iP3yFjl3lM9MAHdlXQyeY7BWi/cQcjIX3wgejJpYujRzk4SWHeZQA5W/w11vgG4L0gPmKZyJIoK7xdeNHAB/QBkKMFpvM3Nyf2Xu2aNI2ML/I/3KDYi4rXTxbm8EPXH3hn6SsWeqrNItlqNKlPiojUfrLW5/tLMlrudoHGQSvcl4dwMG604R4m8LWXK5bP4+VQ2SbDWWGyukYwwfQSn/tegIOmUyZZEkYIFbZKbyhtnqVVtuLmnFI5GGX9TeDs+S9OimM8GbWdftZLUMnY4lqElGNXwhnOdmAaFxtbd1SMXCHa0cZHaG+pgF1AIwusi8vnir1sknnCKpUFu6x8nfzGmUP5bQSwpcv0rNTGTr3gB0OzOPKhqMtn2LcY9KZuGOm82OlSz/sgfP2tEYHvCqRjX1v4IzedIPcH4fZdnl0fFUeu4Y6e/h5cZu/YSoAs+pSkYzVwIgEo6Y90TewMvdPjeX4Xe+yl6wQx7E1g4mx/43AkmwI7q4P1wbxw9HR1y5SFsq5EsMthn7sTLy17KhhT//PiwsFJj9BAvJc/RDTI7Fj/CSIWRXzx9oF9NIwjVteijqNXkGX2EFDpAzkkVVtmwnY0nP0daGa6OmRuVIiTYfR9pBd3oN1Ebe7It+5JD1ow2GKrQmZb2+bX5cDbIs+DrL+b1s+Q0mov+ZF6JhUK7Oo8kj8e2fo61/dduAYDaDYqanpDM36Qmvlinso6JSUixHy/lveCppAxORWTzo24IM09oHKFdQqcui93KSJyefb2MuZpnGap4eq1HXjcIogO7SnYd/KmFp3/skYUyUh/NF9zOB2jUlkOjbzsMDPL8lAi1MkWoTxMV7XlPdwOCSuA80OSjWVCDJD9XEK2Zs6kao5iVlrLGu1+1kCGE9M+ChbWbQ64ZD1nThRuX4huwVhUU+ak/CO2Tso+UEJpVGcFOqKMqEhZzB0BgwCkwcRSGt8RYcga0Ip7iOfyrJibJAteq+k+ZhWAx45mUHsTeiiPAx5ffqLW22a43pUsHwj01r5h9ViQAugzc7Rls1G/CJMSF5QO2uisU6Px3ZdgRYxL9mWATY0uRuy0b1eZ5ITDgbv0G8mH3s86EgVQBjxpwL963gg3lm1VMTcWYvn1Ozk6L3LLdi2mMdkE1kfrQTM0uNrNIG/RqPE6mgoL0IfddJNrO6et9a35QrgsIr1FpLDnqu/WhZ4qq0c11zwA7GW9MHuWwYjS8gS1uvEsHbbktA7nf3hdsg/UWKoPpgW6w2nbEkTtfnjl5OqW8yuoRS6Nyy46m9ZDNdoq9nM6LvZ+Ly4xzRuzBxbXqff3E0wHcn8uWbPHSSiomJY7ES9vG/oE1S0d7UY+FbIv62qvJv0a71PW775cGEcKGZvEskWg8dJJFoubRksedMsY5jL1jpKGQqZ/UJxt2JFc00NKYmeAbi38d0LzZ5NExE2J2V9AmkzA/NDjFgXvzh+g+ked0DzMy8FidOYQhtXIVSyl9zywbDMHdAnGtGwtrCF63mEuZUZcggNiz4N7qiObyC53xP2TBL4iVS2bT7e8GwgUPzfMlPYX6gsQnUa4oqWiEUUZSMOQ1F63zWcHLxOP//bwDAHpuhF3m6xBulaHD7CHEq2iDqMarOuxnKxqgKz4Y3cAWpTmZoHmuCWPeJWE3QbZcrCUCF/qJjycWdPHk8aMcBHjtMwNfcD1PgiUvIm5URTI4mVPbvP+MMXz+thloJYnHF80ckWuG45ICpWdMZv/Nscf4SVBRcozV3VJy9/dA1FCX9ztTtUYbPA+Az+v1dLfjqHAT8eP+ZC8Ns5u5Jbu2RsBXf985HxEded6VAUzjlRbc5K3XzKfjL5nsosrUnOUR5qLv0I39XezQT9bRryoWYlBdt4POhc4b05Ip1dUtn5/HeYShPJpzueitCg2oNa3i9oB9GlrBfBTE5rRV9JVL+7Q7f+mzpfz+9ANM3P5hY8hAMzH33aVNM7kKfWTjyT10s02AKaWgmMaRHJMJ0LlX5yhgma9JLr7dyX/Plj6yOo4GNJo0CbPngvT9fyeBOV+mrGM3eQ6dVOHr0GiZm0EQ2DWnwrb60bw7MsJQXnrowiy+tT/OKxO/NFwLl8nt0kJ268RppuCwhB0j7jBdyiJHxCUT0lZ5m7raPekMf2HG3Eak7gnNt4jxRg7pnOilwAVjETdUFTBJUj0gqYaIE4vh4W840rxRHXrf9OlByPYWwrSGe5mjDg9njH6k/oGwmOaODBQ7n6P/WvLRDPhJdx9VSBQej4ZuUXg1ecJfTz1/FjsutnWV9vuLUuEYMT4i5wl2obuJbs3aPVODaFN0dKvSeDvzbkTTEsDJezOnhcWu07RxjYWr/WcytxcVe4qZiFz9LJ1oW9lcPlVOQE1v8Fe7ZFnAx88yx/nXrAi2U5MsDXT9zZb2GGPDktK0z5p3MagU83Vi98YHvQOzLp71McD4kYZRL7NTORKKRl+1s5wiAsU+BWR+A3/K1ZrN6fiB2zb4c9tVX990IcJotObPqBmZV3TQTbPIVXIxTlQuCax2itIfhUoxxbkT3AJM63v2XBnFSjBT31GdJda2TiAq7dmWfoYaIxiPE8e5TV0hgNff/HKcG11pxN+uxRoBFrOHFXHhD5577HLmhkzXw+WMSYRifklybgMDG+SuVbev1xbhsg+1aeSRkJ9rgcHEF0d8kpjwbjtel6XJVaSDK5EGTa7dddkVsPRytveuJk2QKhGyPL36hGBNjX92j+TSjJc9a+ANPhAbpN5RmieRlRpp9E1t4mVDMqFH5p3e36v0+WXHovSSOUD9+fGONmdqIfDEQjs/0os2jH88hnWKeSlJdRv/DlISnQpvr4HG3yZVi+RAafNv7rS1GLLuQxwBEc1TALH5zCrQkcVmI8eHf9alqhXeMZAM0DD/DjhIqPLoY7Q22zLu/QhTGVOkCz2myYxJHDLc6j3X7Ov7BOYjKOQ1ccSTz+VwYTFqHdFZURnHF4Kz1/paYDNagQRJoncArZT/TOlU1+Fy2Z1m99PFFi1QEmaLxdR8aXqpJ2AHvQeQYPa5eQKdKjDVdpanwtnh09hucsNuJ7o4AOiJV6ul8eAjPlYDTBkXpPfgUP96LoULRblxb4ZYZ/DhUCjorGH19PEu5CeVjOkkDKBnPV++vcIQPr7kGtOrbRvQb5NgalfNi8hA9Gdt9VjsoIXIiaJS4HdfDAu4IOfNe3EP3eNz4b6Y6UPXwvDMgtCaGCY715iku7MO0B9xolXb1tW6WkVHrJNgU/JJVe76YjESRi0yT7gVeKHEz16NzOjox7bc6sxYnalcTL40sbNmdxwSJ4WxJIrq/r0z7h90+oKAhWCslSFeLYn/Lmg4evoRy0mdZokMw9P8jRCA3PN9HYYjIvfLm8mKpmFi6HVkhvUMSyVJ6sH+CI62WBCVY+sJUla3YGcW70Q75kJ2qLqFOXi6UM5fmzwoSBuMjVNDYIHaqE7FrWImvfv33+lCOar1Dh+MuImEoXM21//Fg0hBAhmeLai5ILhnwd4xZypUj5Oz2o9Yd59uwSJDJ/nnrk4eyIs+DeG6r9212+/IfCNdTnGpD080B/aylmCuohCnHpy0GlGduV7TItON4+zQms/oEp76HCTt9YG9W8M2fD2/dSoauekAVa7ftOYivPlbScSaPtcuEU55U2a6HrnSdki7W8LWR2dfc23k80DzQfX016G2CtybDX8wPwG4caP/hwf3Dwr/gz6lgYuQGmUcP/UhWpDhz5hxj3SD4+0jr866ResLpfhs2n8yQB2/j/oajO9ivotClDgmcCMyAvzYOt2Zyz4F9j07arI5CAdoqG55FuaiJny6Of8XE2J9NZhxhgLTaNaNQp/k7R7ZpbBFx+x8hShhl/pY5GzjStNcsOzkKTmG8rutqmE4xizhDom3Id+7cy22TI6Tb0/cFLE53KVRbywWy+0KwETuGqvKU2ZmBiyPWYeYab2s5f3wu/yb3QdClMvQnJhOGwbVQ8M3lgvB57aBcV7vZOmYrX3bliI2Tv2YfdParNfPW21BNFvI4tYfDeo64zCZdKjg6WvUy1WhzS6Rqpd5uksvlEhNyOmT0MYUtaKqTecA2S/pPLokV0ffgbmJHsSFMD7DhI68dizjOjXaup9M9K9kUWs4aul7WIWngaVxD37JGGoWc0WI4hgOvC8gzEOqwH2Pr68++tGysbUaQSMhzDMVVp2VZgDNh5yU+D2YbfwciRu5/Sro+0EPWtDx6f1ji229H+kI6mIybNLaqESt1UYhadZ65nCxJoxiwUpNruJrmOoNMJxH9WYD/blTrG85ZbFP81Ldwjx6cZP9D+M2BwIV44TbzFC70pcTXDpYOw3dbTio2iKGtWd/JCvZiImMSXV3kkmwdfgNABI8GoRW3nwwqKgGjjk7tDM/ubQFdfwe7bgJCuxLEd/iBOS5Wz8v8izTD1CO/LqmyFuEU8IW09eD27PejOuP0Xti/vD/1TDagrnyMfZBRz3zJ0sL1EkPdf5KkiZdHJ/hSkZUOPo5oMrEdXgELUl0IVF3MxNJlm+UoV+6oukH+4BsTjGLVXeENQ2naBclY/2Tm14DkOXYOo0/6vb5Ptis7z8ous/GJsoWUOBrSBmsPuzpEjx4oZ6cTtz/SCqAVOOqlBnwQURwE3xVnkDk/z1KPp/teRCCfjpv8Y8ThkqcrzOzRSC1CfeoksABUqDzKsYZCZl5D9Z8vd+bcDl/96gPa0t7mQfZOeNVihs07GlzE0tahhSQVSOdSrLmp4PzDt6I90JPmNOo7drryIKmfdvN2yY1NmlKpT0+58ybpLoOatXHUmRH5MbpInJvRSyjwUu3bfxvrVF5Ta+cDLdi4QD6b7vldQsctYrlPCJMF8p/w+VGL2JIlsvftzlVvl4ztNKIiSLlbP6I4TCizyLFEQ61wj5C+Zmsb1O25nOGgpY8nfNp56W9aba3lvxQnMv30wr2aki8c6nUWczdYeB0EEhgzEUZEhcXEiRQ1cqGi9OSZ3DxJyuGeyOrbvBuhjdxIw/zMtKQvdDp531wpkjBRId3ErGid26YBsldI5yxL9KElKADBifx0WCgF5eG6vCym93l8tMAUNhIi+PCwXVPke5dTJX1G861EU3K+/EnVySxdmg25cwSp38HGFyK7f4ocP0lIImBVr8kRQdj+mQJ5dQBZU5rt+dHud2E1QINGSDb0rm6LD6tY50MJj8W+bON0nID+3gk2S+i00E+BbyD0Nndw9dkDAX+xR8qb81pnS7O7t8KSRXYTU7eze5YejO0AWVoWp+8CflYPZTGSM2HRQPG8ZDyNQEPbClhljxOQ7HaCOC+Nxl+fVCGRUjnNdcrta+j4Pnt3EzBZwQvs6zYRYFyyZHZD1jGW0j0Ao2cqBXpDtR6+AIdzliCEgzSk+Xa8wsTkZy/XFpM9IhU2vEvZeOp0ORr4yFtoItpHm33dOjGZ9WXy1laTmvL8lr06QZjiZYYbCFn+9sP8/NvyEVA0jzTkZtGzKkjgoFzuXGfNGxCBjdUmTLOZtij2vaTF02LhBT2nZK68wsBuI8lzQeseeJUYn+npXCEJfTCffehinAnn0jKKS/X5rSFYIUa+RQRP6Z3Ug5KZV7RXVsaGYq3LCj7cLbJGVSc5qnCxR73p63DwGzXCZdWR73K1Qi4jhR/Bg87+6sgiiZ3oY0h5RlJ6ZJKlgzqJFAp4Q5sp4KsngnyDqKYmL6j9nDyi8PQyONfj428mURez0sDKb07t3WjlrepzbWtZjAIsYoVRmxN9E2iIlKFCV+Zs/1RzB7JAw6FOZrwr5pubm3WADnovsC4egBVFTWqjmc8sHqsg1/iBNkagNdMl2suw+X9jsH8RtpdjkBMSUPQYVCjAz8sIm7D/HyA1vJLDhP7kJIapY94KuQ3WktjRmGEjj2MPM61cUhCZtFkh9kCyke2/GORBvB4IInXA57V3zX6jZlzST4hWK37XEqFN7QP97lKiQEXaOKXeZv/B0gxRhh/Bl/X0tqKn939BM81RmHCdJhXxTI0mP05BSccrioroMGnVLEomhrcpPvcgMCSaEyF7Nba/+xk7DC+CsGMt8l855QW+RTo41TD1FjNdazrwSQcpxpVE31iD0l5Gc2OLSSJRrVZ9Hw0pXIKHjee7AAAg/ykT6AMeUpFqbWyaCUVY/UTizUNrABFsKf3rBULahrKzEp9hSf0vjhdweeoBmvF5WUNKfxwHLOVZjcPuhXFMD0Ncujx06ndBPl2Uadhpuvd3Eb63vyAcv1cEjHLBtdG90Ik69JaizCwDtILLWSedwiSaAYrnm7MwHz/r1NB4CzkFE4qdxHFlqv1JN3VRkjUb7Kg4Qqlsvb6eGP1nNTtx1JYBt3OgHKA49Nzd2HogyDv8PDJFsYpgA57m4Q63LYEOlE0E9zKtjEVXZj3CVJB0BIrXOaqDZ/sal8fx2FMGvVeeNiGBICtbjy3lhXnQVr0S4ymU35DLXRHDLGPgwT8tgwU+8tG5+vDg/KdunfwrxUt8NwnjaK7VlDf1wuOfTx3+U5KAkujSBkzmywOLIPjnGdiC3pbZ8GyYtECzk2SyImpJ5WBXOBZhroygptDX4NhcM5tqv4foQsrlg3RflYAgV6dEI5IHdeS0wCRhWsHNYCFd9lY71oELLUOsW4C9r7nwiHsq9Z8VwQR6E1w9HI/8J6QlM7Bl6yrmH4QXISznts+237BA3IRR8fFXTbtUUSkpR/NooYSr3cvk1qvS/JmzogqjrzRWuy/AkHqg+HqjP7mCETSJNPLRBILDy6dJVNDprv7q7uj2azHEfvGYexNqkMCkjNQ7iZXdGkgYH0XbpsaXdx0MbjyeIdNNsxAc+ZLpb+RezzhwaGS+5/YhBWhQ4JXweZ7xjb0+0+BbyhOQqsDRBTz9aKxO9Vjq0/NLvpqBX/k7CcKhVzGyUFH29TbHO7siREfDpPW3MOikTrbCeeYqy34wylKsOVz2MCqTvKV/sKUIouGHPtM08sVGd5gtxr19xR4bMrL2gLYv4JCYUiqTSSLSYrfpWGWBsT4nlFbQocpQp22jEJhJ8wYbC3en1cwjNsF84uIc8EC07uMC4fnC3xbwp/yTf0NwLKmFm/Ng/hkiPU+xeO8/Nb5VzbgmboqWZ/tK1IQpDZO1fgR27ttdPbV8hvtPj3A2ei61XEDydtfl7XMXj1++o2H3bEGkeb9tJNe5Ssd/5o7wPNq+palO1Bxx2z0QQNP1YpkRsgaQPBmFjUi19ZLeg5fZOFS2WrTJTy8g7/3yqmv+7h29zhOtqpnswJbzaqd467s3dOqDRoOCKea2cKjUxBkQGARYbnHM2rUFA1/c6sTk/Bk5CO+tbcbC+QHpEX4gMBLup84LAQLUTlsdVTMnHvoEa4jcfDhsxvX3nOlJWiDw+wBzB1+m/3w+iCjWL/CdzVKWgxsHq3jOPPNb1oh9zV9Ilm5QhBlMPDB4eLaRkkIqUoVC8HZiNXU9X5TXrlDTQ4A8kzjAPXbzHVT7C0z8/E+s1XUSoMXc/asagzSLd/HNiNqBh0le5YoXSR0q9grZasJG+xfx9S6rIztj+GqXwUzxozd8qk9mvMN+/n2qLrE+/ecbyoMfr7SXYyNDSUfzsk5U+uyrKR1roE7KwyJfcI5BoLXqOKg3xdWYl7ifszrRQAVNu0eMt61NAHMnh9Lo8Wy2mvK8aCRQStRx5R84+BNtHYLRzHMBicV1z41b6h84ey8dl3qKOCdOPe9ZXQXnhWNaSA8m1Asq6r7UGEq7tzz9MtBPra3qksIwzGk2czuN8U8i+NIr6VNUctdisTIYmm0uvXmRHOvrS1GkPmFLIY8Y7inypKliOL/9A/Vl4NdEdbcVa49OPYm3XTHiYdDSTgsUCENUZbAKranGx+UehksltZ5YFap9SOtyR9NYy4wb9zNtvjHKY5GEhW0lG/+YJWzfJzSnIUaDwnD/esr+YaMN+Wt8pXQsi7lCvQODS6ZNc6Nf7i2+7MjXRemYPBvXp1h5iow7eLWt/VQ/883ijFOctdfJccGeu4lF4+xoXamuhJUNK4oGjcQxlsEdL0M30YE2DCYXoeMCV2825EmkAJASfcHHCMJdR0UZota4rtSI5vQyrfQ8dGsp4iF5lr79WlAeEVt5jyd6osptpaarbxkiFg6Zo4wusNOQKLEZbVPtDhK8gBo4StQ625xn0WD1MSUROdKQH/GQ5mYa0mc0aImhHTbqnibX3A6Z+dwDAbk3AztSU4PHEOlFyyrXqHVQeRIcvMJLXLSQ7ORpl+c5MUJngzZpKlxkvRGUaNC9r2lAGIt9Ry9ACS+oGSbH2Ai5G7cR6/iblY1fOhJT1+AxyCN2yE/fKOFWStrKY3xkwDg5/FQyNxEsSPpyeRANcol0Z7sjjApSVHCSNmIL3xw3GFvNRCpZSgy9PMlE7O6ouN2+Zh4eYt6yUiEXFIb5XhsRaiRm+Ji4aOF8AGnz5GS2ZjQyY2qmJVhj3by1dnSc2XLie3xO23rEgH/Vdet0J98gqNaZRDW2Cw6fFeHbhr690ISE9gxRlf0bAjX2v/N43DRV3qmN6D8k/tFAXw2zKKv80R3gD/YlwNb+eHZAgrEt+6ULybYtyEGTaClctf4RaLuHMwpjke6/lHfEfTmP1JvsT9OeCjKw5tRuVVxSAU6JugmWnPVmZmh0R8YRrSiJbAEZrKiX1KkBLTiSbeHptuIYn/+PjvTsb2Ca3K28UnjfVxQe9prU3iMtSkPfieFSqK0+47ddDnYpCPY48PCIReLhSAtcLUZbhAsjmySU/FM2sdFiumZ9Myk+Db7wlcqEb52aYxTK2obhkNWi2vOUAkUaFOvOcobFkZqFLCGHzN5MBJ8JIGfTx1uLT/IZFba8R/sKAux7yvMzzDjYm6kyHEo1K0A+z5CGP7NvUsWxjPAmv//CsIVHZFnhI8FhsIaZ+yBLhGIOQsU2UJuI0vGGKcTf4NLJHVf7GbweWvOiuJpa9WHjzHYMZr8qpxDmDzacbuwYLOoRAJwAAGJ1E4f2F+j9Z7Gf0uYgQsL0xU8BncR+41x5UzfJ9KIYgilTKf9eBcrZ+FOQEgm1RPuLuGolXYFIv8CQNmA5bNhsJ1RRa76vA3XL8X9YsN/g5ElsAo2WvRBmpU2CUI/WLgp+ruVTNQ2gGhGghUF0VIZcrjDa9HtDl8ExlGHYkcmIcEsjW6SCTaql+LVap/r/yn9s+4tS+mr5B/S8Fc7vncSN+wadLKF2Xne/2SMGvVLpYPQcS03UfVPjZv44aFt2TaMA1xXueWbXCOeatVPhAffH7SEf2sm2+1q46dIZKIFCKSv9fZVC8ZWQSZwGsJJw1uFkTrxUNtwV1WHhbrvL2uEPbnSKgQmWZIN5rXAd1zpX6LgZBixTF6Pc+8rAXjBFBFKtiT4lsbkaBYpIiEIoDx8LbWfEsrddQdCGZpbp3C2Mocs0wVzOGHkAu2k8XCsnHrg6i8mxNvV3VPAvS9l2nLPUMR7Vg292xrOoQMojT2+tXFM8i0GlUCiDDN3bQGX4djJJx6EXPGyYPiN8eD87KRtl8eJJoZ1k0Qx2+py96EyzzBXL1zwA/bW3J+194iCbeYpDP5+HjO47enJx3dyyQ5LeO/RTbyFGkL457Gg4MjFmI1hZ3RAr2PClLYHvnJeFK2+LzPfmoH1e4Ydu9tUyD6HX5lrZ4u6m1LRkKzuZAajRSZnx2yBiS/YE+bKOVHqG2n4SgRx7vMxZne89YSHBGJhSynnbl/EQ4u8bbw2ac+mZ6C80HOSXYfiyQkbxLWHxrFS/C9iKWxLju4MEA6k0ir/UxU0Psm4101YlQiwlIHhQ9YMOOSbp2/F7eeg9+YFNfSlxqbAt5n/G0KxE3/5JgGAhL0GluwV7wK1L+AGOARvY9igU4iUBE7cj8Kndt3q91pMLXWQqZpJu0CDr5MaGD28AI42EyTsDjF5fUqLmrGQDMO6icYB31iEzCvW1BBHVxb8ZxTRj9B41zXiw3tP943Fps0gaKHFvDEhjqVF3uTAIDw6jTYqClU4MxbetdKqWtyMDiIubShz71Xyek/SyooABvZbQW3M2gFd3UTRrpBFTLRG56e3o1WEwzvALVpq0uCRdxpQgWHV+LzlJjMS3eu0i4LHaUr2W4220dYhKLFt5OcJ9uJSy+9+CXld4wJ++2/poa5S6zcooDsF9oCNGKBPDL1qoOUwJATEV68AA6cwAaRfaKKBfW4K7B72WZJQ2RgdGvJ5iV2UVpsZEQkg9PiG4u1NAKzMQMSskSBdZFIy9y2af+wgm63E8wm1Tpjicuw0gB2f6j6g4UjMk8gGU1KvC45RJ2FcqErjqMh8Jrg5Q2MjU5mryib7jxrgNM2ujqMtrwbbp2VXsqzsfqabFA2eDHbvrD+0kSKcRUGBPTCzaol6ZrYLVoaFnP2k968t3akRGA3UZ/9YdTHjB+wTk7zntqjSG12aY+sMvifpRSu2K6pj6zyQV37IWasrPcNm/XccDwdolZ6oR4gM/ywGveNxv7mAcNIg16rJv3nxse2jfnRpoZ5Z6B3YfdxmffgJUxB74ynIwZrIS+eZUFEDuzpLoJelZrEMstZ/GlyDINBS7GumOJ0XnkUfQ1Z4+8ow4NOZttZk/LGtBWShUacRl/qagKUzNHdjS0rJbLPbMMdKtyaXVDvaMzE34A8rQOvcFhIoFQmzk+509KpMKa9r032NRGMFXoBcUA/y8GNt2/RPl8HMwAwizEYszAyMcCr6aBeHB/gwwbDyecH29c/BqfbLpuIhL44gpG7jckB2q9Xeh9XRYeg9Ppr2DMO2YRX2iqU67zPegNmBa/UERkiSxuaXmdb+zJldRb32QzMlwGGpcCV4gvK9WOwOjSwjkSXqFIXJHQ6UFeK0aBSGn8ce0U6nBCldV1sw0H0ffuOWLgpzRNdHjLLSQDVoX/MUy1RsQVizYycnUYmFmNQfvoW4pOqigZ67rmS9aR8JcExvSSitDCZcgaD8+2DHYxgX27i61QuhasWcAv9PsK/1TY115HI0bA9vWlUEPUIIWNzEkSWD8LfpjbovCDoLbjrNrX2OXXnHsXJ/suOyqebC1pqO8q8/CZM5iUq/p7aAfEaMjfj68QtbtecWbs4ABCiJ9063kq7a7aRODudt8xG2OVhMWLtEPrpAebl2QJvBYi5khZk/H49+4wdbdmdyKmKEPcyakrDNahv8CDDU1JFP3M5psEKHnCFImDbo9QrLSqn6FSIu8znfgH0Vxpl152uQ3SkgUDfUSHEaDLYnd6sCYQpAmjJYL4xaEtS6VdFjmtl8ah5+U9oVCEoKao7xJBCBLv52AKXnu5HKASv6tqtp0+upBa7oaThR+1vktmQ/AgfV3pQdDpQwuLWfYIvMSFZvSmT9ReP2wWh3ho28JkbuGhtR9Mnp0icKGcgjZ/iK8HWuflkn6VmJke1lHEoEXzi6NYWFU/cBsSjOgBNmA9adn2iDk3gwk22SA8hgVeZjrgyqFOyWENgxSqVuTB2Ytd56eE6wLVEABQwMXKRaKddmOXbTOdMTJignxZAtrPcq3Yq7Rw+xHsIaL4KW0xb/J/lf6GFJB2tEvBHNsnqNhvOIRhIoPxmx4i/3TAyVhCTNRTT351jzAMzYfPaI+mlycYhN75lf9hKwHjLJHMhE5xim+ymjzP7SbZCWWHdEgXNJHbUD5ecalT8PVl1iudDb+Edc20vkqeXiL7pjCAhpMq0E5icJiA5vMP6PID62RHaXIREMJN1STfZBXnGFFLf0T2ekiB24L9rmn9ayDFkQJBI+8wHaQopgiwKFX/ASgMcCvWV0rHQFnuXt9/sPtQqqj5+3RhFuNfdncJXjB2HyS3N0G/4qNamgK3cwbxp6dHf/SO3URi/DrlE6s1i0GAfHld0ykBOd5zJuIs8ykiZ4+SOsykHHEla5Xivq13WbUPmyz3YK36HJUWDXsW+nyxTZbjLmXhvhjB8bWRiDfBRO7ZZhYT5Kxwr5wLfWt9E8rjcDqSlz3e5tEEIA9mTCyHX9PYw1iPbAi9d+ky1Cf3rJA00zJ2qmZUKuvalIOYZ9B0Ln7CFDgH3aR56KJrpkwbPzuFJeTgXPzjo5ZQX5vTwURwCiw4bKFgjIb4oz1bWyLsINQfzSCCeDLV6L7udc/DewKxIk/pnlSv2k4DUpCqI/Z5lovHo9+jT6Kqx3JB8kPjvm6cJkyfjlh4Vw61JlzciZt47dbjrC6nrlHJS1luxtynydFA+Xewq/7L2dY1aV1H1Is5NcmU0I43tePpyhrSxFQ1ZddbvAEoXx6n/msCbRBdnL+p4XioDH9ZByv4MJNEKBP6z7FtqOyVpb2PfSKNB0YjpS6C2tprFJpCHNQuhINdklV6iZ+wqCdvEnggMrvyOur7ynWvhYKV/b1o4mwGc5hjwx9/Qv545keyzOUJSLNkTFJPucrjtIC5l1J5lkIcSCbTzi53dLYhrdXCs3X+bOFvfgNjthzo+dIFthDThQsKtym3YtCinAOxw794NfE20qoDkXNXiX+puce8rNf42lKk75LFYVxian8mHrvJQIH00P+C3QKQ/XKCqbJwpHkme7ipryxV99mAipSrVLfhxoan4FsxCaw2Krci5+/gtSjs4X/im1kzcuCjJtQUR1+ma1h0MJwm/BKJaKwmo+MSo885JLPgxVo3bHqecC1Y3qSuWPv4eF5MMz5hrS4ekpbVQpnB7av3+CmOkFVbOM4OMEhwcVv3ow+RAMoGJli2wrY6n6yuVDnivAO8FounbckadLCOIRydpcxN13E8RZ4AP0J9RJ4288HFJaL0CaFY5CpIELFEDlmqZw4R0uWpmoMJv+Jutwq2I+EnIXFJGHdFEEucT/ywDSJDGoljeSaqnUgsrgMbcy68BOEB4Ffd4WfPEDA4LnOL90c5E9n9MXsSUpn7DcYGEask8s6XkIlD89QZ9XsTKLKXACCo2GSPLPsjdJfb0nWa894Jh5Hh++nvJk4LuswNhB6w6HIpyAiBmzMg5d+adnyFFKNpF94l/7Rmi+Mmj3e0rjaTeBcDusqWUSw64Ty/rdORwzvVrT9VnkVVPeuJwTOZbh5WZnZAWZiphuQ8Dh8MtwDW3HdAt1AUg6dIyo4Ho6dBNkuUxYk2cMcJUPL+WKcKVm8QLY3UursqLWKoC3dkiCgEKBRkwkPtZAIUUJkfKX4nne0MYlemvVS66yulII+wmJ6uLCa++QWlfI5iZoaP7jYA/5U1aWyNOLsgllmr8kj/ViI86HL9S8/5fjNfUjnpkwC8IeR+ix4WYV/aMd4tON457BZVozjITsIXph/WSvXrOm3FJs+oKwtmHoiDHsk/YNUaFYoCJZ6Df4o+v244RaWo+Eq2kgvw/B4dIiBKoOIDDozd5GSTXs/Jxafugz5FwApcMqjfuau4l2p/K7tXggkOj5uDt6zmX4Bhj16P4Rzk7TNEL75Fr20vaqnw5eTiOjriQzSu5UrlWj16ALOFNlgQKGcH7acB4G3DYi56Jr/uvBH4kv804IIHkywJWjDmI/EQszciRdDf68ajLvv/CPPIFQXlkjBsxLp1ZkjkfZJHDmHwiDJ8YV5Wh/QMmJTnMsvOBX+DjT8Bym7dzGGKLBeyJd5Xv2/1DN2xQLGv2z6R1zlG520hOk+mOxdjjo2hNoYPMn8KSYP1dNXDOG2aQRze10sDzsCNBsbw2/maeFj6XUVTB0zYeFUPX+vbWJvGZn7CznMvoDum9Q3PjpWTIqVoe9uA6Wr7rfVRa7rhu3HKMS82AcgjsbfIwLLvBvqaAYKEswPL4HuH0qtQwCYnbdC9oKiF+UWpVIsftM/rDGMY4OUT/vOCiPT3y4mUiC7DJsvCg3TFgUASReh0u0+s6PhQpjJmvAiCwHaYx0MMVjC4BF0EcyBHSXRPA5HURF36CQc2U6pOQAoLatjJjRpxag236WvMh3e9YRqq6FWEUZmpuqFEp6cr6uGn1umGITdxt8aATOhrtAwtRQXGM1JWsBV3HXrKVSe6IJHiZNjhDnkozaMSQzWNuIgN6kaaEsjJUra+mesLCfn8RAS1dEUVwziRHMU/QBkYUZWCMc7cObI4TKTyW2mfY7c8jjkZixXWLlgyWLAKuQT8KISKmJBk/YGodTwST00Xo2uuwPqn9b14av8uyseQCcCie5Xq+eUoRFLLSV/6YH/rmAOaBuiQDxXHgPT14sHRjFIzLqjJQyQfpM9vzW3znU7jcCxrZVsKiRkKN1vQ08KUioTRwuBDI03JqVytaR4NreTokpBruevzQmq7BGvsSi8427gUAM+HC8oFqCZPeCWSbaj+1PiDivcnFMLupEUvkwC9sk+tjb8mIQzGLSPWFAd3TnyuLY6/xW9XlgLKk81d8KdpzvgoZ+jRf0h1L9i+VuJaqtWYzGJRca3UW5hvZLCp3ZYsW9U1wu/c5CXvR8UrNM5x53Of9ixg8NS6ie/cdcoyweT368An5iELmPaPrNBN/RPDj/C6Z3ejAuY0Wm+OHMTK6miY8GmWte1RBKSyLz5UBdT7cSQnyc4swnTdLvHlXmeSiNvPtD8mK6Xt2HLNBkTqP0+P3qqspioW5OLy16TRLUFC6U4LFkfy2CFIJMce/U6TUHglm08eXsWJXDpooMKuXs0haJyefY8qgxymIGNYd47hKRhWhcIxihP9gfSeQX+lo/au+Lz313ey/W+lDnwO4DifGwq6IoFpHk2s2nlOeH0bfIxY3pGPkwpM8hFyPT2xOL4W3SQbNef4N6IktaatTl9BL5Lu8HKE2+CjndjoSRjI+MxypdH0Z4sxUGUrmSYbJ2PDLkEwSq4U2kLByI1nTypI4MoxRWKN4Rgm2TzftsZSmA0xmdC5MLVOGgnSoneVverCT8l45Irp/nllHM1Azs1aRFo8mA88xP2U7H7zTm+8dNCBgHvTaqGHdOHaueYYcvPv8ZGICSQ6qVk7dRqzCX+g8wOuZL+6F6aSPu9lqJpAU5Ak1Z5n0HJmkluAZ1OWqFPKAzL1Bf3xoByo54MqvHi0Cx7NzLIosJf1yf5eAcGUQzR4GEcwNu5OGQV+817/CbEMwNlSsL9cgdMxoeoUhyB17bV51c8XYwlit768MfInX2B/B+AVV7qrLiywxzJD4Aghgpa93zWp4371DHomHfixbrWuuPrjfFTo5B5ZMHGXvf3ceBJ6fqghrK2wgBdsGNwPU/g/LKQ11iT0Q+kHnRkCBv0DulB6lQEkF8ZcRJ09FaDb6oyBI8xfdcVo6ZNcu57V4tUspTyLYiwT1NytjKSSMROQm/ZN0Btrz7tDetYPERiYvwQsRCYNgESbwrbOOlRAmZ2RufsLRPOK2Mn50vK51Qb8YylXaS1JX9c9JtDzO/aEhi67xzYaPQjQ/pkar7jUKad31OtF7R59YznvvmfEwKCT4enLwfuedHvnyMuAlKyEuZG3ptpJc1CbL1nGoAL3+01zIpF8/oTz9cN+TD9Y4JcYGZmPKXBXBZxA9PLZSPShNOj9kbKX504o93x2LpyXgg1PlGJpKN/UhUZdLOpSdfKMge2kEVwABW4vzJqfM70t0vi4WKFPseZZuh4w2/KK5RRfj1R/uWKo+i6FEoabNQ87L3mbH++OiSsa6lGDsFpOomJHkDnhXUC5T3MjtKYZmdMxMeegLJSLACsDDQVweGAMocE11KkhJ/c971ekXDYr2Fn5U5L2xmH7teouQ2IauxrIG8ZuUDGuI5jzqqwIg4zR53pRDBQucWbNGbl6qHNTvLWsbACVP1vTQF7TkC1I8x/eFzCvn+OMZgvqOENAhWoDLLqN710y07ZTX+nfihNmMGfQ5v4rEjXB9T2zQ/iDw/6QVU4YwHMDkqU7mNP1Nl3J5ji07B8L4aMgNsjdh8ft+y57ti/iHHbYfVrQaUww9za2LhtezFkoMJ6bLeo6qcdekmyXSREE6tInIzvmvqyTS1an/7L00WoeczRP0VTQ9R9m9Nozwz9xQzhYsEn04L9IDVeu8cPOBD6XaPCUZ1FEuFFSCre5iSwuFExMJiZvlUOI7l2iJ9ws/V8OsvcOg9EW9szCiSzeMJFmL1os/Z+Bfl0Vxignj9xjZVBLjXJzlXxBuQSgL+rtMT1N1gVsfCVUZ2z1EzlEcq9OLuqxgLDLRRPQbrFWBOdJjFODvDDCYf40gYnms6T4WgJN80OP+3PDbyfI7GDMTNzfCEPvPfYcL7x/0HEgyCE1M+vrLrYQ6F4cq/RyRTgzGIFBgkEK/hkk9gfYebffaiv2f+U0HYSLPQnyBJjkTHJxClZsDAwJgG5SwQ7J6AZhm5U4HASheze+i8VXKPrpJfBqFmsx2IxlOk47GTAyQV/rmOsMo1Q+RrV0d2KQFP7tMlxH0HGZrYyygk0XtnKhOrlxe57J1rR/KitsaMe0JCjfW78J6xk2r2+j7XLTxaFJ/Jav1+1wCONKKE4EZz1ry4c1XM0KV1cL1HfleUqBDNP42myXk+pPSBuHyrXvGQvHqxqUbUOEROlMjrD+O3QWSG3bY2XoOKYcpqeRNSGFOc8PWHXfpAFt3N0vXEOLbWl1jjs4YuLJwLYoe4DtXkQVwcfB/IU9VXnmiH/4yrH7b06YYm8FPlFiWV0nnimXX0mmMllxkwD6TJirZ5IBaIT8bp+jfCZ9j5fnqviL/UEYnBe6yWi/2AS10Q4nzAgO/2CE2U5EYl9BfS0I5LTtF/VJvFvni5hH8GUhmZ7WPvCwuVfHw2UM0bbUSyOtpR1Vu2tTjILEVErl8u6giKMIZJJcX6b5pHgtQ7xNLBNmOTquM83ehnK9xpnGbKx0AtXyCE6+UQPq+Nnps5F6YY1E9vkX9B+3r0Fftw7YXVJYFTSyLFvIBV7lna1SL2t+slTbFhPavZ3n7BlRGuNLz1cRDtW+ybEiSxzSlRhQFwdu9vc0Jkx0xVA6f9IfXW7zmoQXAvgXmj+68A1E1Wu+LppfAP7glntm+7RAmQ+n72rB6hwuoqDWV7KGKxK4WHuG6GDnestnqNH6nphjYLtAuRnDOY6rpTDqnXGd2dsYn77uYZmLs7tIGi0pi62igLaBsDF64naHpUo3BbSXRZP6h8mMo15xWODDt6wdeZvvOOF3jwWF+HAL3Qjd7iUWZsMgJYhX4dnHHOPvwmPh4pj5hAJgD0u6Fz1RZIih8tEctDPfK0u+6+BbQ2qdUzPDNP23fipRah/gTdOsVIZ1VBF6Pawvncm4ZouwSnp2ry6KJH110ZAchtkLdMH7CJXF8cKYUe110ZO5U0riQndtjexhIMMkb/ZcvtcYtFHsPib7cb6nI7XmOGL1na949mMNYlMhhzWmIHTVzuFzSM3JvXPf9Q++vbiWTW9qpBrRlmFvlq7VxfvYFNls0g4TQJN0x6Jbc3g0sGazd0/XkyP0uVZraGndaYlcdZcJpCtqNzToj/wjsMxhyijPhsbCassI95gAIe1exGNcdEc4c2XangLMfEiVEuQ8akR1r5yrbvPvGIDlqw4b6FyhSIFwwhIf66LfODQbQWh7hT5Z4OarQ1o0QKWYzRqhfMQM+vXjyW8UiRRWateU1PnMMUybq9cOQw/usdkj6vVHAkb/Ot7YxArr/rDAukPCeC0nrQAFFLTP60jfupW/ao10/8aAcityQg7vzmf9nFjHZmxUEA9QPhWFh3Ocnfso0U4CtixojPfKPBdDVZuQ7FNz9vY3/iKrCbllExcVxSvq72JH4kNZVKIeZvvhme4oks9jVQQFXBA9w6tGZTGROODK8IbSFcKKfg2ChMLmTJZ9EIA67vjH91SQxDgb3z7T0UIlATcWyFdjL5gO+wy2QBlgAl4Payybh25pcbpZMLqkMTR0GiuectAo00RQCRNlqIFks89jL1enRgD93bJ0oY1thVoEWLm6af2VQuUzW8lTwg9ZsEiHFY5S9wOAJS7N1Wgg000OdQAO4Rn4M6KU2VHYvdfNpp9dU/MrG2JBWNU9wYJt8ZyjlgJImEelYaT/O/YDN94YYNCY5n9kOygabXYQHTzQ3MsmGSOUKYWfqBUrQN4Aefww8k1Ems25RKtrPAI2RpSOfUHiAlxi3ryW/+dtENMxMkmJp0+Q47hJwwGuVew9ym6NhTy5C8tdDWAZ5EN1I7bzFoLfrIXYIFcm5a/SB5Jc1d+6IB7cPAcSB00U96jLZSagKC4a1BFbFfsVuqIx9WMED/S8BRdiYzjqRpmhUP9cf0FG5JMOE87WGfkc9Um0peKqHTjhX0H/bCdOVHf6dTca3tgi4DEM3kB5dK30mKwIsOUO7DgY8AB56KGspAVOyOSUzCLf4zqHYDa9P2YtiF97q00EanNfpKx24rtDdcLlB5xfRvP+QT5hysxhG0iFfFSZky9D0qsNb/6G9heVTDwMyvftmL+l3Kc43MJ9r9MldqeafOdTbUdOYE3pPOgmui2E4zGWi7ityUGWSFaj6R8hPKsjDHVJao2m8RpdyZ6rqSkdYR//FWhnJx+1AKbQMN8sN9bnjYuLhWykmm3vAz6lfF6pyfOPfz3uXUHXxhbQfzxlb17ObkppiMSf4Q099pKC+OyA4kk3yRFgUia92RQawm+9YupWjAGNfrzCaiMe5Tuk0wNDMOHTBioTXzrTueE1C1PmUMgsGl11WVEwTCAzZFXLnD7nvOtghOHyAde2GkEDbb6Vrt6iWgkRPtzVGtNvrargF1ISawcrY3H983TYK6hjOth0UdeiPHHNUAVPxtWiY50MbeTIa04JCLx9SailHsAIlR/vN6hbEO0shMwUHEqhh4np3n87QuzSgm9DGb+R7RQfgeoSOkcD+YcKXAc4jD42iDuDcjBakLt4pyXBm4X9uzClxEgcQjc4PHefLv6plf5LHrBFoXTYqfazuMwRyA3tzv57YAVqEtL/5QRBogWUqYFeVw9PvzsGS27dsBbO1FgOXIanYRM9PzOz2ojcqRdQxyp9GIZE6xGViHJD5+51m9fbRhq6nJBLpY6hkl844Yyf9pgszRc24oJw9ilCCrSkhChBvkYzO+mgTdemsHaQT8Q46lJHukKL6CJwLnJxuJR995M1evvWZq6islkkD0jwHIBzKQdrOY9jGyPppLghJuUSdYll1/bk8QlPNg6FvIQ/bMQ4wp7jhd7TC9/dEIiLBan7+JAgmoxC/8eA05zf1+lH1wa1DnYe3C6QVPHNARd6lY45sQdR2dAXCOearlz8PGwiWrJRMhv2sAjOL8uYVdZFl5AX0+E8+JbjzMzzcIyj+H3iWwesKDQSl01z/zOmmFUoFVFbgR7ngOGmas4tRpOXeelJ4l2ykop/19zaUdm4+vUckZG003BQ6mlV9jTXMdzqEJFOa+KmZBkEgkkoMauvMz4c/tEK/1QynctAONKSrXpjJPHIjublvyKiLBgnek4xpxfkduFv/4+mpRyhTwfrsIYJuq12y/BH6Lc/0o8sIbmhpmgBrdcoLpRSo3EllsRSx29zPo+hhnb0UO5arxp7aXNqQGM0cb3XxUN7XiRChk2k6/ap64YwAMZj/jtWvGDzH+R06nb+L71O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260416" y="1076526"/>
            <a:ext cx="3191208" cy="5211286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200" y="6442790"/>
            <a:ext cx="3089276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3521837" y="946473"/>
            <a:ext cx="1232685" cy="328925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800" b="1" cap="all"/>
              <a:t>Category/</a:t>
            </a:r>
            <a:br>
              <a:rPr lang="en-US" sz="800" b="1" cap="all"/>
            </a:br>
            <a:r>
              <a:rPr lang="en-US" sz="8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5657850" y="1068408"/>
            <a:ext cx="6152792" cy="205814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8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4810125" y="946473"/>
            <a:ext cx="792122" cy="328925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800" b="1" cap="all">
                <a:solidFill>
                  <a:schemeClr val="accent3"/>
                </a:solidFill>
              </a:rPr>
              <a:t>BIOGEN’s </a:t>
            </a:r>
            <a:r>
              <a:rPr lang="en-US" sz="8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43299" y="1571466"/>
            <a:ext cx="619125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 err="1">
                <a:solidFill>
                  <a:srgbClr val="C00000"/>
                </a:solidFill>
              </a:rPr>
              <a:t>BIogen</a:t>
            </a:r>
            <a:r>
              <a:rPr lang="en-US" sz="900" b="1" cap="all">
                <a:solidFill>
                  <a:srgbClr val="C00000"/>
                </a:solidFill>
              </a:rPr>
              <a:t>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37" name="BainTable47798">
            <a:extLst>
              <a:ext uri="{FF2B5EF4-FFF2-40B4-BE49-F238E27FC236}">
                <a16:creationId xmlns:a16="http://schemas.microsoft.com/office/drawing/2014/main" id="{ED1F3B43-A7C2-4F89-A8C7-64AF081B86FD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3521837" y="1260772"/>
          <a:ext cx="8344408" cy="52273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208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151101514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563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Logistics &amp; Distribution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operational efficiency in DCs (reduce inventory holding cost/handling costs, reduce overhead)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Network optimization (Number, location, size and function of DCs)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Inbound/outbound transportation management (outsource distribution, cooperative replenishment, delivery time reduction)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Inventor management (service level segmentation, safety stock reduction)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23496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3-5%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~$3-5M</a:t>
                      </a:r>
                      <a:endParaRPr lang="en-US" sz="900"/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158563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u="none" strike="noStrike" baseline="0">
                          <a:solidFill>
                            <a:srgbClr val="000000"/>
                          </a:solidFill>
                          <a:effectLst/>
                        </a:rPr>
                        <a:t>Raw Materials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Consolidate and seek volume discounts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procurement schedule to match vendors’ production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 dirty="0"/>
                        <a:t>Renegotiate component costing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Negotiate for new launch products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29469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1-3%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~$10-25M</a:t>
                      </a:r>
                      <a:endParaRPr lang="en-US" sz="9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Manufacturing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indent="-177800" algn="l" rtl="0" fontAlgn="b">
                        <a:spcBef>
                          <a:spcPts val="0"/>
                        </a:spcBef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Re-examine relationships with CMO partners, refine strategy related to specific SKUs (outsource / insource where appropriate)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/>
                        <a:t>Optimize in-plant performance (improve OEE, reduce cycle time, improve process capabilities and yield)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/>
                        <a:t>Leverage advanced robotics in production process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/>
                        <a:t>Use IOT sensors / devices to perform autonomous tasks and predict maintenance needs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Review QC/QA activities with a critical-to-quality point of view; remove waste in QA activities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4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~$70-135M</a:t>
                      </a:r>
                      <a:endParaRPr lang="en-US" sz="9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894481"/>
                  </a:ext>
                </a:extLst>
              </a:tr>
              <a:tr h="23496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Total 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~$83-165M</a:t>
                      </a:r>
                      <a:endParaRPr lang="en-US" sz="900" b="1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S&amp;M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field force of the future – fewer reps, different roles, virtual engagement, site-of-care shift, prescriber engagement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Bring sales support spans and layers in-line with industry benchmarks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possible, digitize sales support tasks and allocate headcount to highest value-add tasks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Optimize media ROI and revenue uplift by re-allocating media budget to new products, channels, etc.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~$40-85M</a:t>
                      </a:r>
                      <a:endParaRPr lang="en-US" sz="90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(incl. automation) to better serve key customers (internal/external)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02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~$155-310M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9956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~$195-395M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34964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Examine mix of CROs and shift to higher performing/lower-cost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Streamline activities not related directly to projects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mfg. costs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235760"/>
                  </a:ext>
                </a:extLst>
              </a:tr>
              <a:tr h="23496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10-15%</a:t>
                      </a: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savings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~$225-335M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ED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908222"/>
                  </a:ext>
                </a:extLst>
              </a:tr>
              <a:tr h="23496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~$503-895M</a:t>
                      </a:r>
                      <a:endParaRPr lang="en-US" sz="900" b="1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10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03FDF6E2-2966-445C-0FDA-306F8C76A3F8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920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7A0B7877-F265-4BE9-96D6-8FD004DF2A4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918412">
              <a:extLst>
                <a:ext uri="{FF2B5EF4-FFF2-40B4-BE49-F238E27FC236}">
                  <a16:creationId xmlns:a16="http://schemas.microsoft.com/office/drawing/2014/main" id="{9AD9A091-AEC6-4A69-9C2B-75952759B4B0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827530">
              <a:extLst>
                <a:ext uri="{FF2B5EF4-FFF2-40B4-BE49-F238E27FC236}">
                  <a16:creationId xmlns:a16="http://schemas.microsoft.com/office/drawing/2014/main" id="{C5A125F8-8926-4E05-BCAF-74D6868D091A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841843">
              <a:extLst>
                <a:ext uri="{FF2B5EF4-FFF2-40B4-BE49-F238E27FC236}">
                  <a16:creationId xmlns:a16="http://schemas.microsoft.com/office/drawing/2014/main" id="{EECBE802-83E0-4A7B-9A22-3625F63695B9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979990">
              <a:extLst>
                <a:ext uri="{FF2B5EF4-FFF2-40B4-BE49-F238E27FC236}">
                  <a16:creationId xmlns:a16="http://schemas.microsoft.com/office/drawing/2014/main" id="{84913BE4-CCCA-47FE-A981-F19A274ED446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341402">
              <a:extLst>
                <a:ext uri="{FF2B5EF4-FFF2-40B4-BE49-F238E27FC236}">
                  <a16:creationId xmlns:a16="http://schemas.microsoft.com/office/drawing/2014/main" id="{0CB21DE9-1D85-49B9-9DDD-86EE85EBE1E2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469291">
              <a:extLst>
                <a:ext uri="{FF2B5EF4-FFF2-40B4-BE49-F238E27FC236}">
                  <a16:creationId xmlns:a16="http://schemas.microsoft.com/office/drawing/2014/main" id="{C8EE8B28-80D7-4C79-A88E-4BBAD4593949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511484">
              <a:extLst>
                <a:ext uri="{FF2B5EF4-FFF2-40B4-BE49-F238E27FC236}">
                  <a16:creationId xmlns:a16="http://schemas.microsoft.com/office/drawing/2014/main" id="{F6E7A7B7-B01A-421E-97E1-B2474CF36A28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930806">
              <a:extLst>
                <a:ext uri="{FF2B5EF4-FFF2-40B4-BE49-F238E27FC236}">
                  <a16:creationId xmlns:a16="http://schemas.microsoft.com/office/drawing/2014/main" id="{B1DACBC9-E79C-445B-A52A-7E84D3ECB473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750271">
              <a:extLst>
                <a:ext uri="{FF2B5EF4-FFF2-40B4-BE49-F238E27FC236}">
                  <a16:creationId xmlns:a16="http://schemas.microsoft.com/office/drawing/2014/main" id="{4FE94052-91F3-4DAF-AE14-486FFA7CAA10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847421">
              <a:extLst>
                <a:ext uri="{FF2B5EF4-FFF2-40B4-BE49-F238E27FC236}">
                  <a16:creationId xmlns:a16="http://schemas.microsoft.com/office/drawing/2014/main" id="{4234155B-AD58-4D36-90D5-42664E4CB236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173405">
              <a:extLst>
                <a:ext uri="{FF2B5EF4-FFF2-40B4-BE49-F238E27FC236}">
                  <a16:creationId xmlns:a16="http://schemas.microsoft.com/office/drawing/2014/main" id="{766DC566-24F2-4AC9-AF55-DEB9FA47E3EF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785106">
              <a:extLst>
                <a:ext uri="{FF2B5EF4-FFF2-40B4-BE49-F238E27FC236}">
                  <a16:creationId xmlns:a16="http://schemas.microsoft.com/office/drawing/2014/main" id="{CC61E791-F2C6-4483-BA99-3B58CFEF3A15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895868">
              <a:extLst>
                <a:ext uri="{FF2B5EF4-FFF2-40B4-BE49-F238E27FC236}">
                  <a16:creationId xmlns:a16="http://schemas.microsoft.com/office/drawing/2014/main" id="{045ECCD3-C01C-4F83-87F6-C150A824A541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578410">
              <a:extLst>
                <a:ext uri="{FF2B5EF4-FFF2-40B4-BE49-F238E27FC236}">
                  <a16:creationId xmlns:a16="http://schemas.microsoft.com/office/drawing/2014/main" id="{78A877D8-AC8E-451F-9A10-A56BBE1C95C0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692436">
              <a:extLst>
                <a:ext uri="{FF2B5EF4-FFF2-40B4-BE49-F238E27FC236}">
                  <a16:creationId xmlns:a16="http://schemas.microsoft.com/office/drawing/2014/main" id="{19429D05-4CE7-4C7D-9FEA-7149C8506DC5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195101">
              <a:extLst>
                <a:ext uri="{FF2B5EF4-FFF2-40B4-BE49-F238E27FC236}">
                  <a16:creationId xmlns:a16="http://schemas.microsoft.com/office/drawing/2014/main" id="{5F61884D-0ADB-4233-96FA-CC58499B4C4F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224774">
              <a:extLst>
                <a:ext uri="{FF2B5EF4-FFF2-40B4-BE49-F238E27FC236}">
                  <a16:creationId xmlns:a16="http://schemas.microsoft.com/office/drawing/2014/main" id="{4EFB898A-A613-4959-A09C-E0452BEF1B1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695494">
              <a:extLst>
                <a:ext uri="{FF2B5EF4-FFF2-40B4-BE49-F238E27FC236}">
                  <a16:creationId xmlns:a16="http://schemas.microsoft.com/office/drawing/2014/main" id="{5886F61A-65BE-4790-A5D4-71282B941F1C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221770">
              <a:extLst>
                <a:ext uri="{FF2B5EF4-FFF2-40B4-BE49-F238E27FC236}">
                  <a16:creationId xmlns:a16="http://schemas.microsoft.com/office/drawing/2014/main" id="{D09BB446-85A1-4A61-93CE-7C1C916A64B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70AD9BA9-F4FF-4D3F-87D2-567D21D0F23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370687">
              <a:extLst>
                <a:ext uri="{FF2B5EF4-FFF2-40B4-BE49-F238E27FC236}">
                  <a16:creationId xmlns:a16="http://schemas.microsoft.com/office/drawing/2014/main" id="{AC14B74D-CD7B-44B3-B06D-CE7AFEAF6C49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948155">
              <a:extLst>
                <a:ext uri="{FF2B5EF4-FFF2-40B4-BE49-F238E27FC236}">
                  <a16:creationId xmlns:a16="http://schemas.microsoft.com/office/drawing/2014/main" id="{3199CA2B-9B03-4A4B-BA1C-A305B6559F4F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478430">
              <a:extLst>
                <a:ext uri="{FF2B5EF4-FFF2-40B4-BE49-F238E27FC236}">
                  <a16:creationId xmlns:a16="http://schemas.microsoft.com/office/drawing/2014/main" id="{83865DD3-9B4D-4ACB-9F8F-F61558317104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300419">
              <a:extLst>
                <a:ext uri="{FF2B5EF4-FFF2-40B4-BE49-F238E27FC236}">
                  <a16:creationId xmlns:a16="http://schemas.microsoft.com/office/drawing/2014/main" id="{467C5409-6581-4F2D-B7C2-05D70193B928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141874">
              <a:extLst>
                <a:ext uri="{FF2B5EF4-FFF2-40B4-BE49-F238E27FC236}">
                  <a16:creationId xmlns:a16="http://schemas.microsoft.com/office/drawing/2014/main" id="{4B959947-1C88-42E8-AD52-C12F2322CC93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907531">
              <a:extLst>
                <a:ext uri="{FF2B5EF4-FFF2-40B4-BE49-F238E27FC236}">
                  <a16:creationId xmlns:a16="http://schemas.microsoft.com/office/drawing/2014/main" id="{20DCBE1E-6AAD-4B7C-9957-63AE97546015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445813">
              <a:extLst>
                <a:ext uri="{FF2B5EF4-FFF2-40B4-BE49-F238E27FC236}">
                  <a16:creationId xmlns:a16="http://schemas.microsoft.com/office/drawing/2014/main" id="{073C527F-4C3B-4851-9489-B8C333D3B36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617251">
              <a:extLst>
                <a:ext uri="{FF2B5EF4-FFF2-40B4-BE49-F238E27FC236}">
                  <a16:creationId xmlns:a16="http://schemas.microsoft.com/office/drawing/2014/main" id="{C418ECC6-E6F1-4F51-A3F6-1D65AFDC571C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792553">
              <a:extLst>
                <a:ext uri="{FF2B5EF4-FFF2-40B4-BE49-F238E27FC236}">
                  <a16:creationId xmlns:a16="http://schemas.microsoft.com/office/drawing/2014/main" id="{17583526-2F19-4733-91BD-B6DB8E8EB7B0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239699">
              <a:extLst>
                <a:ext uri="{FF2B5EF4-FFF2-40B4-BE49-F238E27FC236}">
                  <a16:creationId xmlns:a16="http://schemas.microsoft.com/office/drawing/2014/main" id="{07278D0F-2CD3-4915-A673-FD5B250FFC67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113767">
              <a:extLst>
                <a:ext uri="{FF2B5EF4-FFF2-40B4-BE49-F238E27FC236}">
                  <a16:creationId xmlns:a16="http://schemas.microsoft.com/office/drawing/2014/main" id="{A4E0B3A1-6BD6-4082-A649-C3177337435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781169">
              <a:extLst>
                <a:ext uri="{FF2B5EF4-FFF2-40B4-BE49-F238E27FC236}">
                  <a16:creationId xmlns:a16="http://schemas.microsoft.com/office/drawing/2014/main" id="{B6F8184D-51F6-4E2F-8E21-1AD485493014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27711">
              <a:extLst>
                <a:ext uri="{FF2B5EF4-FFF2-40B4-BE49-F238E27FC236}">
                  <a16:creationId xmlns:a16="http://schemas.microsoft.com/office/drawing/2014/main" id="{DC695065-FE84-4C9C-B7F6-6418788870A1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258528">
              <a:extLst>
                <a:ext uri="{FF2B5EF4-FFF2-40B4-BE49-F238E27FC236}">
                  <a16:creationId xmlns:a16="http://schemas.microsoft.com/office/drawing/2014/main" id="{C6D1471C-8CBD-4B6E-A2CE-CB2C85F60043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320142">
              <a:extLst>
                <a:ext uri="{FF2B5EF4-FFF2-40B4-BE49-F238E27FC236}">
                  <a16:creationId xmlns:a16="http://schemas.microsoft.com/office/drawing/2014/main" id="{4142CC34-19BA-4469-8D99-8D3093B1FF2C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314570">
              <a:extLst>
                <a:ext uri="{FF2B5EF4-FFF2-40B4-BE49-F238E27FC236}">
                  <a16:creationId xmlns:a16="http://schemas.microsoft.com/office/drawing/2014/main" id="{1CF247EC-E3D8-4254-BE38-20676BBD371B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20740">
              <a:extLst>
                <a:ext uri="{FF2B5EF4-FFF2-40B4-BE49-F238E27FC236}">
                  <a16:creationId xmlns:a16="http://schemas.microsoft.com/office/drawing/2014/main" id="{F4923904-0168-4848-BBCE-FCFDD3911B0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47114">
              <a:extLst>
                <a:ext uri="{FF2B5EF4-FFF2-40B4-BE49-F238E27FC236}">
                  <a16:creationId xmlns:a16="http://schemas.microsoft.com/office/drawing/2014/main" id="{FAF7423C-0846-42BF-91D3-59D4A5E7F887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817455">
              <a:extLst>
                <a:ext uri="{FF2B5EF4-FFF2-40B4-BE49-F238E27FC236}">
                  <a16:creationId xmlns:a16="http://schemas.microsoft.com/office/drawing/2014/main" id="{98A3089B-0F3A-4EFE-BC80-C018555204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0199" y="1197829"/>
          <a:ext cx="11533550" cy="51007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7481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639193">
                  <a:extLst>
                    <a:ext uri="{9D8B030D-6E8A-4147-A177-3AD203B41FA5}">
                      <a16:colId xmlns:a16="http://schemas.microsoft.com/office/drawing/2014/main" val="729189537"/>
                    </a:ext>
                  </a:extLst>
                </a:gridCol>
                <a:gridCol w="967666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154097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109709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6688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10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Est. spend %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FY23 LTM  Est.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GSK Savings Hypothesis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51911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Raw Materials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35%  COGS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~£2,705M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1-3%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~£30-80M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Consolidate and seek volume discounts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procurement schedule to match vendors’ production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 dirty="0"/>
                        <a:t>Renegotiate component costing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Negotiate for new launch products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489524"/>
                  </a:ext>
                </a:extLst>
              </a:tr>
              <a:tr h="631615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1000" b="1">
                          <a:latin typeface="+mj-lt"/>
                        </a:rPr>
                        <a:t>Manufacturing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65% COGS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~£5,020M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j-lt"/>
                        </a:rPr>
                        <a:t>10-25%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~£500-1,255M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algn="l" rtl="0" fontAlgn="b">
                        <a:spcBef>
                          <a:spcPts val="0"/>
                        </a:spcBef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Re-examine relationships with CMO partners, refine strategy related to specific SKUs (outsource / insource where appropriate)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/>
                        <a:t>Optimize in-plant performance (improve OEE, reduce cycle time, improve process capabilities and yield)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/>
                        <a:t>Leverage advanced robotics in production process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aseline="0"/>
                        <a:t>Use IoT sensors / devices to perform autonomous tasks and predict maintenance needs 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Review QC/QA activities with a critical-to-quality point of view; remove waste in QA activities</a:t>
                      </a:r>
                      <a:endParaRPr lang="en-US" sz="900">
                        <a:effectLst/>
                        <a:latin typeface="+mj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17195"/>
                  </a:ext>
                </a:extLst>
              </a:tr>
              <a:tr h="19410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COGS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~£7,725M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7-17%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>~£530-1,335M</a:t>
                      </a:r>
                      <a:endParaRPr lang="en-US" sz="1000"/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>
                        <a:effectLst/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20896"/>
                  </a:ext>
                </a:extLst>
              </a:tr>
              <a:tr h="97502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S&amp;D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80% 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~£6,930M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~£345-695M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field force of the future – fewer reps, different roles, virtual engagement, site-of-care shift, prescriber engagement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Bring sales support spans and layers in-line with industry benchmarks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possible, digitize sales support tasks and allocate headcount to highest value-add tasks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Optimize media ROI and revenue uplift by re-allocating media budget to new products, channels, etc.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operational efficiency in DCs (reduce inventory holding cost/handling costs, reduce overhead)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Network optimization (Number, location, size and function of DCs)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Inbound/outbound transportation management (outsource distribution, cooperative replenishment, delivery time reduction)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Inventory management (service level segmentation, safety stock reduction)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07207"/>
                  </a:ext>
                </a:extLst>
              </a:tr>
              <a:tr h="41251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20% 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~£1,730M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10-20%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~£175-345M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(incl. automation) to better serve key customers (internal/external)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 GL accounts)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09912"/>
                  </a:ext>
                </a:extLst>
              </a:tr>
              <a:tr h="19410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~£8,660M</a:t>
                      </a:r>
                      <a:endParaRPr lang="en-US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6-12%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>~£520-1,040M</a:t>
                      </a:r>
                      <a:endParaRPr lang="en-US" sz="1000"/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indent="-173736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380450"/>
                  </a:ext>
                </a:extLst>
              </a:tr>
              <a:tr h="74411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R&amp;D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~£5,355M</a:t>
                      </a:r>
                      <a:endParaRPr lang="en-US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10-15%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NA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Examine mix of CROs and shift to higher performing/lower-cost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Streamline activities not related directly to projects</a:t>
                      </a:r>
                    </a:p>
                    <a:p>
                      <a:pPr marL="177800" marR="0" lvl="0" indent="-17780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manufacturing costs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893424"/>
                  </a:ext>
                </a:extLst>
              </a:tr>
              <a:tr h="19410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  <a:latin typeface="+mj-lt"/>
                        </a:rPr>
                        <a:t>Est. 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kern="1200">
                        <a:solidFill>
                          <a:srgbClr val="CC000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CC0000"/>
                          </a:solidFill>
                          <a:latin typeface="+mj-lt"/>
                          <a:ea typeface="+mn-ea"/>
                          <a:cs typeface="+mn-cs"/>
                        </a:rPr>
                        <a:t>~£21,740M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  <a:latin typeface="+mj-lt"/>
                        </a:rPr>
                        <a:t>5-11%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C00000"/>
                          </a:solidFill>
                        </a:rPr>
                        <a:t>~£</a:t>
                      </a:r>
                      <a:r>
                        <a:rPr lang="en-US" sz="1000" b="1">
                          <a:solidFill>
                            <a:schemeClr val="accent3"/>
                          </a:solidFill>
                          <a:latin typeface="+mj-lt"/>
                        </a:rPr>
                        <a:t>1,050-2,375M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1000" b="1" i="0" kern="1200" baseline="0" dirty="0">
                        <a:solidFill>
                          <a:schemeClr val="accent3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/>
          <a:lstStyle/>
          <a:p>
            <a:r>
              <a:rPr lang="en-US"/>
              <a:t>Bain experience within the Pharmaceuticals industries, applied against GSK’s estimated cost baseline, suggests savings potential of ~£1B+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89" name="btfpStatusSticker253844">
            <a:extLst>
              <a:ext uri="{FF2B5EF4-FFF2-40B4-BE49-F238E27FC236}">
                <a16:creationId xmlns:a16="http://schemas.microsoft.com/office/drawing/2014/main" id="{45164639-27C6-44E3-8DA3-A58F89122F24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10003470" y="879340"/>
            <a:ext cx="1858330" cy="235611"/>
            <a:chOff x="-2436373" y="876300"/>
            <a:chExt cx="1858330" cy="235611"/>
          </a:xfrm>
        </p:grpSpPr>
        <p:sp>
          <p:nvSpPr>
            <p:cNvPr id="90" name="btfpStatusStickerText253844">
              <a:extLst>
                <a:ext uri="{FF2B5EF4-FFF2-40B4-BE49-F238E27FC236}">
                  <a16:creationId xmlns:a16="http://schemas.microsoft.com/office/drawing/2014/main" id="{14487CC9-0010-44DC-B175-475B7619EE96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91" name="btfpStatusStickerLine253844">
              <a:extLst>
                <a:ext uri="{FF2B5EF4-FFF2-40B4-BE49-F238E27FC236}">
                  <a16:creationId xmlns:a16="http://schemas.microsoft.com/office/drawing/2014/main" id="{4AE77C85-8DA0-4455-83D5-CAE3340F252B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btfpNotesBox333743">
            <a:extLst>
              <a:ext uri="{FF2B5EF4-FFF2-40B4-BE49-F238E27FC236}">
                <a16:creationId xmlns:a16="http://schemas.microsoft.com/office/drawing/2014/main" id="{9761A8C8-D659-4B0B-923D-64670A717B9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gray">
          <a:xfrm>
            <a:off x="330199" y="6442791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annual reports; Quarterly earnings presentation; Capital IQ; Bain analysis</a:t>
            </a:r>
          </a:p>
        </p:txBody>
      </p:sp>
      <p:grpSp>
        <p:nvGrpSpPr>
          <p:cNvPr id="60" name="btfpRunningAgenda1Level650523">
            <a:extLst>
              <a:ext uri="{FF2B5EF4-FFF2-40B4-BE49-F238E27FC236}">
                <a16:creationId xmlns:a16="http://schemas.microsoft.com/office/drawing/2014/main" id="{A020A5FA-0C9B-4CFA-AB36-D7251A80783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61" name="btfpRunningAgenda1LevelBarLeft650523">
              <a:extLst>
                <a:ext uri="{FF2B5EF4-FFF2-40B4-BE49-F238E27FC236}">
                  <a16:creationId xmlns:a16="http://schemas.microsoft.com/office/drawing/2014/main" id="{0C8A9529-1348-45A7-A966-271FF84BA116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RunningAgenda1LevelTextLeft650523">
              <a:extLst>
                <a:ext uri="{FF2B5EF4-FFF2-40B4-BE49-F238E27FC236}">
                  <a16:creationId xmlns:a16="http://schemas.microsoft.com/office/drawing/2014/main" id="{B6B5C8E7-4821-4FD3-B488-90A09B35DC09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5" name="CommentBox">
            <a:extLst>
              <a:ext uri="{FF2B5EF4-FFF2-40B4-BE49-F238E27FC236}">
                <a16:creationId xmlns:a16="http://schemas.microsoft.com/office/drawing/2014/main" id="{8DF55219-71E7-8262-42BD-E45E5D6A19B7}"/>
              </a:ext>
            </a:extLst>
          </p:cNvPr>
          <p:cNvSpPr/>
          <p:nvPr/>
        </p:nvSpPr>
        <p:spPr bwMode="gray">
          <a:xfrm>
            <a:off x="5486401" y="837151"/>
            <a:ext cx="4249990" cy="467865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000" i="1">
                <a:solidFill>
                  <a:srgbClr val="000000"/>
                </a:solidFill>
                <a:latin typeface="Arial" panose="020B0604020202020204" pitchFamily="34" charset="0"/>
              </a:rPr>
              <a:t>Account team should always verify savings levers and %s; COGS split leveraged from previous work for similar companies, SG&amp;A split leveraged from Roche S&amp;D/G&amp;A split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7F7C96-35B1-ECA8-E2D2-E7319D9B9966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7748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4843776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80557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84" imgH="486" progId="TCLayout.ActiveDocument.1">
                  <p:embed/>
                </p:oleObj>
              </mc:Choice>
              <mc:Fallback>
                <p:oleObj name="think-cell Slide" r:id="rId31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Bain experience within the Services Industry, applied against Aramark’s estimated cost baseline, suggests cost savings of ~$420M+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5DC9C499-8AFB-6AF9-F1C6-8A25B66242F6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42925" y="1711325"/>
          <a:ext cx="3667125" cy="459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69900" y="614838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8" name="Text Placeholder">
            <a:extLst>
              <a:ext uri="{FF2B5EF4-FFF2-40B4-BE49-F238E27FC236}">
                <a16:creationId xmlns:a16="http://schemas.microsoft.com/office/drawing/2014/main" id="{1ADE7D11-9FFC-C03B-579A-2CB2A8330B66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0050" y="526256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6657431F-FBC8-47AD-A517-653B754642C1}" type="datetime'''''''2''''''0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0" name="Text Placeholder">
            <a:extLst>
              <a:ext uri="{FF2B5EF4-FFF2-40B4-BE49-F238E27FC236}">
                <a16:creationId xmlns:a16="http://schemas.microsoft.com/office/drawing/2014/main" id="{D53C149B-FF12-BF1A-E7D6-983B90364C1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43767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0DC4C421-AE67-4E9F-B5AD-F835637A761D}" type="datetime'''''''''''''''''''''''''''''''''''4''''''''''''''''''''0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2" name="Text Placeholder">
            <a:extLst>
              <a:ext uri="{FF2B5EF4-FFF2-40B4-BE49-F238E27FC236}">
                <a16:creationId xmlns:a16="http://schemas.microsoft.com/office/drawing/2014/main" id="{06440D3F-8095-E375-8A51-3994F63FC8A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3489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70A2818-D184-49B0-BDCF-F9981D03CF48}" type="datetime'''''''''''''''''''''''''''''''60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3" name="Text Placeholder">
            <a:extLst>
              <a:ext uri="{FF2B5EF4-FFF2-40B4-BE49-F238E27FC236}">
                <a16:creationId xmlns:a16="http://schemas.microsoft.com/office/drawing/2014/main" id="{BAAB30DC-BFB3-F71E-9A18-EE5D2CCDB61C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26035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785C8C3-DF1F-4B4A-A4EC-77D6527F89EC}" type="datetime'''''''''''''''''''''80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61" name="Text Placeholder">
            <a:extLst>
              <a:ext uri="{FF2B5EF4-FFF2-40B4-BE49-F238E27FC236}">
                <a16:creationId xmlns:a16="http://schemas.microsoft.com/office/drawing/2014/main" id="{3663D5F2-5603-D3A6-27E0-AD47A1A2BF6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646112" y="3405188"/>
            <a:ext cx="1125538" cy="3048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</a:rPr>
              <a:t>Food &amp; Support</a:t>
            </a:r>
            <a:br>
              <a:rPr lang="en-US" altLang="en-US" sz="1000">
                <a:solidFill>
                  <a:srgbClr val="000000"/>
                </a:solidFill>
              </a:rPr>
            </a:br>
            <a:r>
              <a:rPr lang="en-US" altLang="en-US" sz="1000">
                <a:solidFill>
                  <a:srgbClr val="000000"/>
                </a:solidFill>
              </a:rPr>
              <a:t>Service Cost (29%)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60" name="Text Placeholder">
            <a:extLst>
              <a:ext uri="{FF2B5EF4-FFF2-40B4-BE49-F238E27FC236}">
                <a16:creationId xmlns:a16="http://schemas.microsoft.com/office/drawing/2014/main" id="{B2ED5C3A-3685-DCA8-8F10-888098F225EA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727076" y="5057775"/>
            <a:ext cx="962025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</a:rPr>
              <a:t>Personnel Costs</a:t>
            </a:r>
            <a:br>
              <a:rPr lang="en-US" altLang="en-US" sz="1000">
                <a:solidFill>
                  <a:srgbClr val="FFFFFF"/>
                </a:solidFill>
              </a:rPr>
            </a:br>
            <a:r>
              <a:rPr lang="en-US" altLang="en-US" sz="1000">
                <a:solidFill>
                  <a:srgbClr val="FFFFFF"/>
                </a:solidFill>
              </a:rPr>
              <a:t>(46%)</a:t>
            </a: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2" name="Text Placeholder">
            <a:extLst>
              <a:ext uri="{FF2B5EF4-FFF2-40B4-BE49-F238E27FC236}">
                <a16:creationId xmlns:a16="http://schemas.microsoft.com/office/drawing/2014/main" id="{4AF19A31-8D66-3497-75B4-099D8F4553C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842963" y="2203450"/>
            <a:ext cx="731838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000000"/>
                </a:solidFill>
                <a:effectLst/>
              </a:rPr>
              <a:t>Other Direct</a:t>
            </a:r>
            <a:br>
              <a:rPr lang="en-US" altLang="en-US" sz="1000">
                <a:solidFill>
                  <a:srgbClr val="000000"/>
                </a:solidFill>
                <a:effectLst/>
              </a:rPr>
            </a:br>
            <a:r>
              <a:rPr lang="en-US" altLang="en-US" sz="1000">
                <a:solidFill>
                  <a:srgbClr val="000000"/>
                </a:solidFill>
                <a:effectLst/>
              </a:rPr>
              <a:t>Costs (25%)</a:t>
            </a:r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16000" y="6267450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FE863DD-25FE-4C97-ADC7-C6A53C95425B}" type="datetime'''C''''''''''O''''''G''''S''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5" name="Text Placeholder">
            <a:extLst>
              <a:ext uri="{FF2B5EF4-FFF2-40B4-BE49-F238E27FC236}">
                <a16:creationId xmlns:a16="http://schemas.microsoft.com/office/drawing/2014/main" id="{41B4F880-94C6-1AB6-A040-4E03524845FE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979613" y="1893888"/>
            <a:ext cx="7953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6D6D6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31611DD-CE22-455E-9688-CEB4E5D2F512}" type="datetime'''''''''''''''EBI''''''''''T''''DA'''' (''''8%'''''')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EBITDA (8%)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74" name="Text Placeholder">
            <a:extLst>
              <a:ext uri="{FF2B5EF4-FFF2-40B4-BE49-F238E27FC236}">
                <a16:creationId xmlns:a16="http://schemas.microsoft.com/office/drawing/2014/main" id="{4F2A74F3-4686-30BE-E72F-68D773795521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1997075" y="2292350"/>
            <a:ext cx="758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6D6D6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F88CC71-B57D-464B-BA56-12DA90BC8A0E}" type="datetime'S''''''''''''''G''&amp;''''''''A ''''''(''''''''1''''0%)''''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(10%)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73" name="Text Placeholder">
            <a:extLst>
              <a:ext uri="{FF2B5EF4-FFF2-40B4-BE49-F238E27FC236}">
                <a16:creationId xmlns:a16="http://schemas.microsoft.com/office/drawing/2014/main" id="{20C351EB-FC2F-1E49-E7DD-0FC4CD69983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985963" y="4330700"/>
            <a:ext cx="781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6D6D6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499BDA8-54B3-4B1C-BB32-D924E24692CA}" type="datetime'''C''''''''O''''''''''GS'''''''''''''' ''''''''''''(''82%)'''">
              <a:rPr lang="en-US" altLang="en-US" sz="1000" smtClean="0">
                <a:solidFill>
                  <a:srgbClr val="FFFFFF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(82%)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F78539B3-5653-90AE-920D-EA8ADC8B1439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1960563" y="626745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722E545D-C87C-4659-BA67-C70E8C9154D1}" type="datetime'''''T''''''ot''al'''''' ''''''''Re''''''v''e''n''''''u''''e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77" name="Text Placeholder">
            <a:extLst>
              <a:ext uri="{FF2B5EF4-FFF2-40B4-BE49-F238E27FC236}">
                <a16:creationId xmlns:a16="http://schemas.microsoft.com/office/drawing/2014/main" id="{7AADEADB-659A-EA86-02A4-B0DCE6582BD5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165475" y="2492375"/>
            <a:ext cx="757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C5C5C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6F32FBC-E5D9-46D5-9506-A789264CBF00}" type="datetime'''S''''''''''&amp;''''M'''''' ''''(''''~''35''''''''''''%'''')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S&amp;M (~35%)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1" name="Text Placeholder">
            <a:extLst>
              <a:ext uri="{FF2B5EF4-FFF2-40B4-BE49-F238E27FC236}">
                <a16:creationId xmlns:a16="http://schemas.microsoft.com/office/drawing/2014/main" id="{A2B40E19-C14F-A6EF-E454-3BF44674CA73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3168650" y="4708525"/>
            <a:ext cx="749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C5C5C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33595EE-163A-450F-A6CC-B24198FAC4AC}" type="datetime'''''G''&amp;''''''''''''''''''''A (''''~''''65%'')''''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G&amp;A (~65%)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3362325" y="626745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2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3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4"/>
            </p:custDataLst>
          </p:nvPr>
        </p:nvSpPr>
        <p:spPr>
          <a:xfrm>
            <a:off x="4450863" y="1288087"/>
            <a:ext cx="1054870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5"/>
            </p:custDataLst>
          </p:nvPr>
        </p:nvSpPr>
        <p:spPr>
          <a:xfrm>
            <a:off x="6600540" y="1427762"/>
            <a:ext cx="5277081" cy="220028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26"/>
            </p:custDataLst>
          </p:nvPr>
        </p:nvSpPr>
        <p:spPr>
          <a:xfrm>
            <a:off x="5448848" y="1288087"/>
            <a:ext cx="1215167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r">
              <a:buNone/>
            </a:pPr>
            <a:r>
              <a:rPr lang="en-US" sz="900" b="1" cap="all">
                <a:solidFill>
                  <a:schemeClr val="accent3"/>
                </a:solidFill>
              </a:rPr>
              <a:t>Aramark’s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665192" y="1570561"/>
            <a:ext cx="2262241" cy="2212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Aramark’s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21" name="BainTable47798">
            <a:extLst>
              <a:ext uri="{FF2B5EF4-FFF2-40B4-BE49-F238E27FC236}">
                <a16:creationId xmlns:a16="http://schemas.microsoft.com/office/drawing/2014/main" id="{5892A50C-6336-4A55-9CC4-AA677276987D}"/>
              </a:ext>
            </a:extLst>
          </p:cNvPr>
          <p:cNvGraphicFramePr>
            <a:graphicFrameLocks noGrp="1"/>
          </p:cNvGraphicFramePr>
          <p:nvPr>
            <p:custDataLst>
              <p:tags r:id="rId28"/>
            </p:custDataLst>
          </p:nvPr>
        </p:nvGraphicFramePr>
        <p:xfrm>
          <a:off x="4454576" y="1600789"/>
          <a:ext cx="7423051" cy="488718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5637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109436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167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578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 Direct costs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Close underperforming locations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lease terms and costs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store space: reduce size or reutilize space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risk-based maintenance and decrease preventative maintenance frequency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autonomous maintenance (shift low skill/risk tasks to operations)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utilities usage through process optimization &amp; standardized usage policies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178122"/>
                  </a:ext>
                </a:extLst>
              </a:tr>
              <a:tr h="20957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~$200-395M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55223"/>
                  </a:ext>
                </a:extLst>
              </a:tr>
              <a:tr h="209578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Food &amp; Support Services costs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Aggregate volumes or consolidate suppliers / contracts to unlock discounts; Shift volumes to best price suppliers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Harmonize inputs to reduce variants (# unique containers, packages, etc.)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slow run items for improved efficiency and margin improvement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Introduce/expand ‘Fact-based negotiation’ buying capabilities to reduce direct costs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 waste control and improve trimming efficiency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43943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1-3%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~$45-140M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217855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Personnel costs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scheduling &amp; employee designations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role and shift design to improve flexibility, create operations playbook, cross-train, minimize non-customer time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Drive more timely/accurate staffing forecasts, set daily labor hour targets driven by sales and other store characteristics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 staffing through strategic distribution over off-days and peak days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Simplify store processes where possible to minimize required labor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 wages to match market rates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023701"/>
                  </a:ext>
                </a:extLst>
              </a:tr>
              <a:tr h="77053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1-5%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~$75-365M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554908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COGS 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~$320-900M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702528"/>
                  </a:ext>
                </a:extLst>
              </a:tr>
              <a:tr h="26437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S&amp;M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tc rowSpan="2">
                  <a:txBody>
                    <a:bodyPr/>
                    <a:lstStyle/>
                    <a:p>
                      <a:pPr marL="173736" marR="0" indent="-173736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i="0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  <a:endParaRPr lang="en-US" sz="75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5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ROI of marketing – shift low-impact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50">
                          <a:solidFill>
                            <a:schemeClr val="tx1"/>
                          </a:solidFill>
                        </a:rPr>
                        <a:t>Review and renegotiate agency contracts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50">
                          <a:solidFill>
                            <a:schemeClr val="tx1"/>
                          </a:solidFill>
                        </a:rPr>
                        <a:t>Evaluate all spend efficiency/ROI to inform reductions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50">
                          <a:solidFill>
                            <a:schemeClr val="tx1"/>
                          </a:solidFill>
                        </a:rPr>
                        <a:t>Better leverage agencies and eliminate work duplicated internally/externally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50">
                          <a:solidFill>
                            <a:schemeClr val="tx1"/>
                          </a:solidFill>
                        </a:rPr>
                        <a:t>Increase effectiveness/ return of marketing and advertising spend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59832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8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8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~$35-70M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264370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Other 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 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3736" marR="0" indent="-173736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50" i="0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  <a:endParaRPr lang="en-US" sz="75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39018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800"/>
                        <a:t>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tx1"/>
                          </a:solidFill>
                        </a:rPr>
                        <a:t>~$65-200M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6437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~$100-270M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6437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~$420-1,170M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9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25" name="CommentBox">
            <a:extLst>
              <a:ext uri="{FF2B5EF4-FFF2-40B4-BE49-F238E27FC236}">
                <a16:creationId xmlns:a16="http://schemas.microsoft.com/office/drawing/2014/main" id="{DE25F65B-9C81-43E5-A183-665545949069}"/>
              </a:ext>
            </a:extLst>
          </p:cNvPr>
          <p:cNvSpPr/>
          <p:nvPr/>
        </p:nvSpPr>
        <p:spPr bwMode="gray">
          <a:xfrm>
            <a:off x="1913635" y="922869"/>
            <a:ext cx="2079056" cy="440425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 panose="020B0604020202020204" pitchFamily="34" charset="0"/>
              </a:rPr>
              <a:t>Internal Note:</a:t>
            </a:r>
            <a:r>
              <a:rPr lang="en-US" sz="900" b="1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SG&amp;A split leveraged from Sodexo OI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0A25B1-589C-DD89-EAC1-6A668715C45C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241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BCEEEDEC-D7BA-45F8-9D01-A0FEE711775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834779">
              <a:extLst>
                <a:ext uri="{FF2B5EF4-FFF2-40B4-BE49-F238E27FC236}">
                  <a16:creationId xmlns:a16="http://schemas.microsoft.com/office/drawing/2014/main" id="{20C7C85A-E7BB-482D-A797-F49D50628E1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409889">
              <a:extLst>
                <a:ext uri="{FF2B5EF4-FFF2-40B4-BE49-F238E27FC236}">
                  <a16:creationId xmlns:a16="http://schemas.microsoft.com/office/drawing/2014/main" id="{EF2C258E-ED8B-41A1-AA50-D6C7DC7A26E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226474">
              <a:extLst>
                <a:ext uri="{FF2B5EF4-FFF2-40B4-BE49-F238E27FC236}">
                  <a16:creationId xmlns:a16="http://schemas.microsoft.com/office/drawing/2014/main" id="{80D17F62-D525-4C4F-8750-6C4ECE03202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969225">
              <a:extLst>
                <a:ext uri="{FF2B5EF4-FFF2-40B4-BE49-F238E27FC236}">
                  <a16:creationId xmlns:a16="http://schemas.microsoft.com/office/drawing/2014/main" id="{7334AF2E-6998-44BF-997D-BA5184FD772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ColumnIndicatorGroup1">
            <a:extLst>
              <a:ext uri="{FF2B5EF4-FFF2-40B4-BE49-F238E27FC236}">
                <a16:creationId xmlns:a16="http://schemas.microsoft.com/office/drawing/2014/main" id="{31EAFDA7-7DFC-4569-94BF-70A10EBE635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438807">
              <a:extLst>
                <a:ext uri="{FF2B5EF4-FFF2-40B4-BE49-F238E27FC236}">
                  <a16:creationId xmlns:a16="http://schemas.microsoft.com/office/drawing/2014/main" id="{62815AE4-931D-46EE-887B-BED863298D0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60391">
              <a:extLst>
                <a:ext uri="{FF2B5EF4-FFF2-40B4-BE49-F238E27FC236}">
                  <a16:creationId xmlns:a16="http://schemas.microsoft.com/office/drawing/2014/main" id="{13392349-08B6-481C-8B23-C221CBD2662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491286">
              <a:extLst>
                <a:ext uri="{FF2B5EF4-FFF2-40B4-BE49-F238E27FC236}">
                  <a16:creationId xmlns:a16="http://schemas.microsoft.com/office/drawing/2014/main" id="{240A7169-A261-4F64-8AE1-0BAC0EF435F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46854">
              <a:extLst>
                <a:ext uri="{FF2B5EF4-FFF2-40B4-BE49-F238E27FC236}">
                  <a16:creationId xmlns:a16="http://schemas.microsoft.com/office/drawing/2014/main" id="{42157B05-64FC-4A1C-A1C1-2601DBFD09E4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Bain experience within the Retail industry applied against Dollar Tree’s estimated cost baseline suggests an opportunity of $910M+ 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KAzR+bKZ1nscM6PuA5xkpP8mmL+4+P/SdxQJVNz02xtTdqT4yzjj8PtiqFZt9yV7AcwuRIlasH5yY5LotQY/uQ1Wd56mI3t5tRF5W5XuuhJWkfMcNzeItl8MyFSTP5XOq3QohGy9Wt07Xg8zT49dr/pyh3W9BPcw0Ka4PABVqKSP8jciLxguXlEzz4JXNaUvH16mjlB+YxDvlxu6NPBMMbZ/eHz8j84i0hQDZqjyURRgG2y5ExraezkAxsW/aLXHZHNOzNZ5LG+tqPJQjKH52zX3A/Ut1I2FCsepH98pOpzFGE1hImSLd2b2Gd9cteI/lEXAJlFQQLEkfs8+LlBdslBnvEGFi/NtpC589fcC13uP1dUuOAs2cpYgJV2KXk0xH6NLp7JQuGv3JhU1BOo+icgrXBM20lfNRJBRaf27d0aI0OE2fzmb9YfdKhCbuHtBQte2lvSpQIqmI6VE0z81VGBeg6KpP8vo2dquyDJdQqcckBsWIw8aMS3O2sSwK7b9IxNl5cIqjjEngTO3iDOC9t5wwPA+q6CLP/JVNV2ngArn+pIjreL2H+BB9antmy+FHWJgMnMfjSSWh92iF0DQpFSSXw1iBeV3OWc3GjJ7woceAvKz/Ol7YokDZJib7b+S/E6pPdkh8TnGNYMFuEMOD4IH1DoWzKMNe64G57tspcwXwq/ITBMbJRlJWsfEps+8io35YhwaR/4joIGBSBuTgoJO2cLrO7pGSQwqQ8c1/014Hh4GszTBLzE6ffuKRWrp7vwJxG0yIgb4jsfEugvsb6ps07z8H6Gc292/yWhbWHdtog4BhKr0Xa5n0YxyB5H0zL7ZTS7jkiBMUxRFWH9sgJtgyqMCYGn66FJfRQsiQZmQfXRL5tdlhWCPj+WXUqo6UAodNnETdb9vbYLzwYYqVhKetkTf9ZtHNj0nuwTEa8cLlp2BkxeB1bNv+/xVe0WFqyITlYMzphNTSsnN7+212Kk8yNOuMHqkHjZFhVibpE/MaCSjHfMBX827UETlqcz8rTaOp8dWnSuitVgDYC94hdeaddwTz9X/6bhPTUs+AdmVrdvkUtaCaSTgcYAYdRH2gQEfFdxohNRIxf1/7RI2Kp8Et+DAc/M7/HsolyGD2f1lleGuAgExU9FvP5DmqE2HDvq+cctOdZdmTRBYfdYDg4e61AzULIyaB3Z2IJNmnKltiHuE46X3o1/oXQTaVKqUfb+1aN6Pz2JLpqGcfYkKj8AFUsawo08YLHD0x3aYNBW6NmtHSOvJGzJzjnFrq3+51s8f+WKPyvvC7CuKULHKE7/j/MMNYQDmpO8m6kJeZkhcwcHQLzHbfQnFV75cJc78gFjMpWSJqQz06UG3PrUGjo9lpyi3BRn18h4OUz+kOvKURKd6X4Y21AmAPpshG0aVK7wd1cHM1uJHuu39NXKljayM76hWcH9plRS0H1YbZY4lGfrrzbgDwMQdScH042vSXBtct24SnjXB382CJuRagPM5puKqx+UFr3LwLgtZksUMmYJ3TuPYI4ZAebrmkRaYt4qXku0F8W5SPJvpUeSigA806Vdd/oH5T6LK671bmYY+e+o+FYbXCQx5Ficlp3no3T/Konlj9oTSdYpOL6XnT9/SMGoJ5/SZBVm4VPlzFFSSQuIzBM3doyROUP2Ie/0q9GTma0bxKLNBvlEZNnjZsa8zjaAMBDq87nGFTeV+6cZLrQ7ijfdy0WfPujpE/t9IMMdN+L1G0jbxlyQ1ZgVJ3YkmVnlfa1hF4RhWOn8oaObG8eWY7P3ZQ6dZWcymuYwanseOLPcuVynJKE0b1nKnkLIvlyhWBEdOL9NZiILoJgqLzkOZVfji2/qvQc8ijbrKXbaNlUTK+I2KMiVzUMlHGR9nF6+2/K4dCstfmjhH5Ix1JjQhikHBaUHDNkKMf26L5UuVoCIYmqut6UuilwXIGqaXYlW1cnSSMtSRXfYlFqZvO/AhF+gCjPZc6JP6K2O4v/44SY1tobW1OWbV3q+7MLUJMuzJDB/5wfZBvRrIKediLYCtzJRlzYrMjLgXUtmQzqQowv+Ve2GnGDYhrZovfhreGK9OpNJfaJy8Y75LEa8kDYYNfcQHzmi29w/OmY3JswTkRVynP2PBATBNzW6dwo57JSl7S0evYeekQQI9WIWVzTen7YLhpc2ROccr9CCbq2YcaZfQJ9vmJDtypcjzQsgk6wPkC+iFO1HOdz+vv0uvRyhxc4Z2eTxUAgl1RX2AC1EpN1ag+hGHO8FoEoKuNZvN29zJdlEJzMt3O5/tfmDLMhBdA2yX9nkzRyL9VZ02z1ibSRo2dMekgm6ocoDl/M8Gz4In3QWTFlAYF6hu9F9MUId1nTJ3GTZ25RcsgtORM+xiCk0ANk4zr6Hdw2JWtiStaSkPlAeQiNXI01wGfvVCRSm/ZRKIgtFZAQ0L0XagGBpu6WWIpvHFe55x3wVekGoSiPtFHsmPy5t/grSYblcQQQl2+QBiZ2bmC1t0ZwGHl6OAYkFepo3csNBtyDZ0EqoP6VrajcphgzRrS0MOR9s6LjYHR+xWp4wLMu+/fGPI/EOvZ/A+cAgtPPnYOYYZoRZ+tjN3XCLG5a36e/XiPLs9EpzDWxOswhkRXEPwwGOe5RaR/dp7/9w+J64MrAO4qQsOBc6XznTDMsKYi/B+mcg9+J+wNfABki4FVi3JCezZel0hnDAaJ9PicVenouFwBP0zay9Rl/5rtfJyJ/lRidWzcFA06d1zfzoGVMadYmiw27D28h6QyYv2LhUOIsukHrdmAVJnCEPIayK2jcdM6itVsQbu99GxzlpwskotRVd7qkie5ODALIq5dhhW7dQDYzXcdcj4xJWqso5geeGz4zFlxdevEUMxri0/qbQ/u9F6bHKaQ7LG/AMcUeS7I7+z3WtR+4VdSzRKSkkPzuZi0afCRQJ42wEiUOTg2eAsw6xAcadTwRT441Qq/gSYZ5J1yweQw9GeqtIrRK4n/mY5OhaT6nsmeyKuYHsECs3i2bLrrPYfvZyziLDVryWANDYGz5+fWK570KSBk997v2gatfuxBmb8TZsr4rMDSJ58gY73POMFD3P0tQ4PU5GxMfUaLRfYnUKjmrnQ7Kchl0I0VYzRQPmtVfi4RuPdrXdXD3oU1UMbBjUIKVkla/K9AsRUPjqN8cZyxGU36ScnEu3wZOR7cBhUdoZn9CHY9QfxkW3jQLYu5yQcMyOZ8tps/gHz+v5HbfvsO7QlB70d+gn8f177YqJ7YFvvmXfjpFHAlO22BwKj8OubVgcLzzQhyoshpdPAUdTq+xw/A52I74PKHza47CYvh4+P/qmEH5/BAtOQQq4Wu5W1CaDMp46dKisI+xdlawZX2QhJ4Yx31XIDyq14itnS0rkAqIJDx0gjCA/T+YLpc7shXRXHbE3PTSeMFWTyeNzrF7CbOAKEB3OSjK5UMHc+ElvRoHVWBDz7ESI2YVehxFC4rwKorEW2jg8wXgy9f8zDAblMgIkw80naxrzrMXs8IlWw+DP1gwPWN5PYjsMKQgk167Nbj2d0VnV6nUetyrHyEZ1SgC79BsB7V33q3u4YZHRxRpjVCbBBhMBLYKDuw15pWAHX1ww9cKVycgaLkawVsS8791A1YAJ1revtI4MbSMCYOrLqtme1F8P3vPSZj0Tarh+I4T33iXtcIdZFmRZxInrpNeE+Wv4f5qnEssNWhnOrbmH+rZzrC7iXCtXuy2+S1jvc3rkKcagpzLDXyl/AESCdIREytfXCB8z5rJ61oMkKTqgyA/CrxC6TBeHx4V4vpa65BgCUxhrYisvu/haI0Y3uGXaMd3khfHmG8btC/ry4Fmj6zsxf9qRg08MagZNHEcdfcxNMbTGm63bfaQ+wrhb3WQ7u47b7dtIb1PA5snqSRlFdEEbZHm7Ocil2WJTTbWQ5U4QeYFnT4yrFvzZCGwznctteCrMWwr45WBu0Sj80GeF4EDFlNEcMmAbw4CgNkNySfc8Tco8CCnhdrvV3w6EVDBFDdlzbYP0pONFFTGY17/+NdIkoHKrKAV3VLNmPWX6xxPwJS6Fap0FSdSfun5YMFr8x8ZvqbQwX3mkm1SMXk7jT3zgJ3D8UG5VDBvMwQoGeDgajtx6ajUr8OpnO8oQ6WKOLrJgOMLSasCzrVqpsqomjrU6RGFVHt58442jzzBapIcYasCT+r3weBPgUoBl2NmIzG+KVCRksLCvx+kmAyHDlyEv+fv0pjIXNWFf7/jnEBRscO9d7EpL+TG3OF00w+wtm5FNs9lClcAr0j3n/qLf+RtGQFt+QfUSRULDbBulUL+9Kkc+tbuVbvdQgqILmmlOHZBKxneQYFmQXMzL2criMNOAoXx0SutPPRmgrVJw58Ai8JCB9j6QURIH6b7fFLNkRZfiZYm7V3miszhWkx1ZBt4qlppzbJYq6dn4FmU8a5B33E2J8rMhHtPQUxDc/mi/hK7jLXV3ol9qdXRVHr3gF4Bn9HR+HTn9+WO8utMJFj76FNldZp8rUkxGIkswKUeRLth3FhLR76mCmJVFuvU28ZpS4FJU+hF1ezJSE1ndYw+798rFaFsSNSEZpARQs+ob3aG9l2Xh/Mo+yKJsR3QVWzpU3GhPAfhpsRC6RrSSP2kpS3Cl3e+0MmUwSrNh+a2qaXXg4KMhRr0AdXtcVB+qVElwMbF4NClXMSUp0FsLNy5GqLu9y9Zn5P/g9scRe4rZ/OyP3pJpy+JO5mERwpKGikek0cmdtaAX1lr6KGa/ZJByXBaIOpoqOaJYdbYydM5fL1j5rce9YxVU4k6tjwyfXexf0ZCljoxEKDwywOG+k5mEodFbl5XXb7Wmo0z58d6a4ih5cfjTdzTABe5PtJutz0Z7w3cbcyzVKjcNhUE+Rw8jL63HHYqp9h9AZRZrdsK7tL0c/IO5YOtcB1zx3H8etaMpY+QYc7bod2RW1pxp7S+KRvmdOhhC+ZtZlqglQdkIXHpNCWTFUY/bFrjjVQqbbSVyKB5De+QVWyI1T3kzU6UCWYKHdqimeS3rrBPvF+OLougzJh4rf7Wo4XAAnHAOKZFP+YaTozVCz/r8knz80vVi0wlDw40aAPFAg37axQBqRrHLPusPmmmxsvxvrAnFxcrm9HJq492rMp1M2hWPwkN6iLu18nf/biwLuDC5+22VO5MNcVNJXmCQ6sXekWtE3apb2LV/YunBuXlVZ4nphOY9BywCRdN4/jm334YNUFrJ/ITOZ9Y0UfLcI7ksL3jXlwL3g/LCl9Lt5guI90hYG3bxuV5NovLl4XbbBgDs4bv2H9llQQmE4wMrf65bfWt3JA3nxtpuQzXaRts2+9tLwv/6Xqml1xx12cX0u5CHbM+U4PnbHkUaGlAdih69EbJHr7XggaEJ4EwXnpMskHv/p0iUCPodriq9IntJKkjKmaGqdFwvO6ZpV93mlrt+ViAINEscbf/6Pv4/fnnq56hbScjYkeQDlgqgy7Eh7UNk0gxsmR8EaMqAd80aEC+Ai6oONzvk+dj9Zq02tcctUfgYahi+68fl3SYFtUi8Tckqyev/ZRN+7IpN0jMcjMI4mdDVOqyjHyghK2sY5OXFsnwb8QY7FNApa8+6zjIeGRp8yKo7XVG2CDuVwl2DSYkCH1oUt5BLHf5wyF0ABILrFhX1U/9gp7FSXJptprvcL6Xm6fXtvDqNBmRz9LKlRnQ0S3V227P/k1wETYMDV3w+hxsEBWtgCq9GYyhClms1ZNQO6qAkZOy5QvVpI4Q2I3mc+5kq4jTkSTHXNA/qGjKcl9QtGHOKs9U+nwDrEKn/JJ1DoWqeOvIYKvm6rUF2UG6kg9ezzYjdMVAyugWFHkP7uC0IyoJ8qrxBeqtCy8V43KI9EsAgT44BODrujCmjuSEbb2KqirLy+KgHG4qiZnzHGIBGeZ1LX/jzLcqxxAKZzyJgdIyjJKyA6CdPDgNusekYRWTlxdoxkNIAj7gflUYhOS/sTxoTtzJLB7x749VKpXO0f23qYN0p/39XzFuQ43ETk5QA9Yy4B2v3r0P05PC8vPJVsZIiOw8oX5SRta4cEpEQjeIFax1MgUddSJd6Sx3faf0CCGmkHdkU2zuK5hzygP0l83voxNa3Zu3unjfM2PFkqdBaDJcS7iPgqX63zYUCfTudG6BlrVIkZ9IfymiAb4dt7G4BiuB1wvXBHwXOPQd0L8AAAeiblzzYRhZdHJOsB3QK5FhbD/0ix1Cpz1u7cyGAhRWZOFNPbigdC2PBHoipq7XxgIFXnjwfTxm4KFDtgbN7AKwCN9SpZ1K6PBNgycY6wkw/pp0dJ3AwEZREm+G8/4ILiygF9AeJyhEnfWQQLKuy0+GbC0xTuHboTNeG6PRMm4O7BebwW9qmVzKqBEgfzJnCW/GXtDqz47QfTv+mXEmMh7StiBPxYf/fwWXLVLO29WLrKJfamy2dPEbOIqIwY4C1oG1oGiDD6glIdyF7mRbAdc9BKbMkxSs0KfxStSka/Pm+FZ6pXrqweh71ZxJN+NSxd0XnbbM1ZZjp+cHrl/s7wxxPNM4FH2cR0ob0wex8fdYqUjjmJiCyqkGq14pKy75eJBLO2NqNGpXLO3RXbSmThWAlBpLfLlAcVuyJn/Qu/Ln2lF7Llic1kNWQFx4qDBq911Bj3JqM5ZcspzsmArWIRs2jAz5i2bQSXOU4TU3C4wx2zIJRQPPkx85hxajd565Tn0HEz/0DmBJni4WGCy/ucamDmNT05nN/z4EfAZoqxcSAe39/rF/gY+KbxqoCGHVgx+kyurzysVz3hA6hfGprdzpHOm/s/96jTgV8yxbD6roRB6eilfC6GT5hJea69YiXFlxyGNN0mmA0kdNhyxtfDCHdkUouVS3W3UpMRGqzs9hBFLIn8m8Ti42VGTZWfpkZM0VrXEKsv/Z5qjHgmwKzdLfrTvw7czs7NlR9rWt3PB9abLhlgDo6uejtPugDwiPywcXlvpMiO2NAxWurN1oogB6jvjl7/cxd6x+ktBlqHFtsxmn5Pc7Y+1uAx/QXOaGmNHtl8dKqulnUAhEkrAPsYsjugHoCdlcUkoYhbOxWI7k9b+z40m2iUoKnGMPj4K5Yq46Pjh9awixNKU5VjsImDiGrPFbhJGV+EiBhX5GeY5trkXrXJwKbJcx/GhmYqTwkZ170A0dRivlpPdn1i+kMj1FZqJ2CQWMLcKVcjbR9HStqWlvOQ0bcnMRBWlE2b2Gek+iQGu8wamrdyJwjaIAOpOkWsQpPiuy2GEyZ73q5jyQyz8IX+OkuV6AVC2GyWfseheFDdRKi/d6u+Ea1MunkLncBS419ziAgn4NUu19dMDGOFiALeeKeUctG1XwhbTXbCuBQBVSLdx4296P7mnVoqE8orK/9B3hs42CPkfVkwsshzAxhzDUowyHDCKbAKGPnVBCd8Bjvj5dQwbzvodF/x8WcqM5oukBZCVG4GpAIPI+ZoatpRF/nbYNnBnImsJvN98ElBGCygnjLRvy1OltSu/77QDDX/3UE59mCViBB/Wv1aseIcTFub1mOytEuT2lRF7pA5raUN7IsKp77iNI7fGoMDj6G6nuE9pUiVrqs+0a+6dePY4aLH54mqj9n/RcyRzLOTAcKp1lE8p4aWfccupmKl2/wAEiCgyFeN8dM57QHHb8vVJls+buM41Z8je1EiComuxdlLhJ0XHQbDf9Swc2ghsy24FHKfHvpYpZmQNzKG79aCkhLwbYKtn7GWsC7R1E+BGKF1lsXZWZlWaEPuvV2hhSawH//tgWoeUxbE0mxDuiz5+tf5Z/ZIIpkIOg1C2g4nyG8pItPOaiInmPeKJDw0Hj4hhXFPYT0fCMH9XoMrGHMpBIpX/uTydIHcwyvnAtfqTGoXQ4OUUq0qNkF/t2o7bIQrL9XVVya0vX2KXn4h8RMju3kcr7OHKhd+l7UF+2ye1aSgyxfNjPIvqJUCgXbiz6MN8Xx6IQ7RCyIJu9F95n8gXZj+foFmyJY+V83S30j0JJSAbXXJCIrKDcEya5PnNPG5suw7EN53GkLUWFmKA0cird5KYUE4C8CQzBiDb4ygD1+fvB+DgXykse7f9Zswz09wb3nqB8EZGnawE7asCFzCmGF7CLBDYkpM/9Lzpz50QqA5hnUM70vUbehdDbMfOVDq73pZZ9bzJQWudexUYg+TO1gST6zSx+xtoc2hc8lufbvO4yMCFVG65eWy9HOJylM0m1aOpc0xjzTc5/PiNT4Qsg8ERTtRZntg8ps2CITELhkvgaP9mHFigSy6APde+WsNB3IzvbvWTlSWDM+0cv3W2MwuUJfJ5edd+pI27czzKpUTAln0KCZOVFjHzInNeIvbUwHSwx9SiJZUfICJH8UHNoOU9bQOJkZtrZgCVWRScHsVrq2I1tsIWe3yVk1OcRcS0JYb3dlHMdgkm4KqVIJARiv7q5uMUPKmUEY52tvMJ7hYEsKe83w4g89HA04fL9Gx6XyJcurbdtKGYn1sn4szIMn0eVfeHQazTemxanCa6pcG/7uCazDyEXlN4QhdbJFfRfej7H+H/utGVdvQtpUfrCVmSigtNmaHjQbQArhVumU8iHhxJkz9ovliqb06DciGG3LqKUct0XcTGEH3PFrWbrOIA+ZpdWboIlXvr4Y5hEw6BDlUEGm7YocDk+EwRBOcy4t5aXxlBWswd5QZU9TSQM13T5w612l5KvQUyi5Agsmua5df+jRgvsI30tEk9+kf+Wh16o7u+pEVnT3Dsp94eYhXtM/sRQXYtU+j7qK0Vy1UAMN1RT/2fvSjQ3GLXsJKMTO8YnNGKgyainQdXak4Ny753KQ5WFSOIc8lM0WVx2MCqJvrXDaE9mldHf0loPGkmRzpberwh+0A1WyfgUQxWg57OeywmcsEqHObwzYDgPOfb2rGLyfTni0cCIKBD9BDZZ3GQlbjFmxKy2r3CORVCleQ1zO7jgGJyhRRU/J7SpLLj7ZtIWqQObkSHvJWTh57E74lOXlgw1WwjvNV6cXOZpmfPopHEWugWB6GjuXe/mXmPZxhYGPr4QQT/HGsKCK6l0bQ0v7F2xv1gFafN+kRWnNLgkFkttHwGwREw4YQzEM//XPzJV8X2Jn+sQHHOz+hu7/SsyoSpvNGzuan0lMgZ064IIyE6QQE5ad4aWhsgUW0M1kuqp9zF7+5YmsHhWtHcr/qMIy30mj/b534Rt4yjtx6uPkFs5pfQ8RSyC807cluxbiZVkvyro+mWRNz7MdBg24i9tDIEvVqsYj7hD0yTlEmDdrrC8ZEZy824nNioKsXsFPKRhPp/YgrEYDN4ZeTfP/YCdbbUhb7c9fjrEP5kq+wnFRRLTUZKd65boxkVl4SWIH6HjMFmd1ich5pZa1In5SgQpqq11Q2H4ySqtlZNeCFys1AW80dWXK1BfiXyVWDy3rF0Jb7Q8kUfcksa6IO1J/WpJzE72b7W5sMdmg4NhJJZKVejIFGu/UzrY6qTSvhOUBO7kEWHM9mxx2nas0Gj5aIp4pE3eQAkd0v2VcxQgR0IxATU7gri77RV3faauSCcQBw4CEh5m99ESFqKCQXy5EOgldWfct0oIWAwFMhQt1yD6JrgZy/L0+KvAfddF9pW660/okFDMKssHo/aqRsV875cUbqXl2aAGHVErbRKai6q4niNuEkfizehGEzm0Nuqf4BPPKUb4noCHYlo4NeNQyoz6st+RLWoP5F2yphB40nuUnFrKE47zVTNvEbgw2QGzSKa4WqjrwxXDRbeXGg60Z+Q3jQ344QuGXt50Iz/R7+bj0rLginCjXTy/+s6pe0zSnzm5Q/ozHfwaZPMcFrCEDocQinNO9wed7rk+i39ZLedPbKQ3hx0SGq4s2SFTO3B7Ym9H2hVqhKLBb044i98Ai8JeVNEojty9C0O7XQAE/HJpipISS7Tq3xGgtY1hnbBrQ6HA1RD5g/jQzjqMEWE1VVRi3hTMwQbl/9vjfrobSBHKLpZ0rgCUKFL6iLiHabuCAljEP5HG0BSpwXxNyJ6SCbOTYKaTuNLdqM3/3XhNd7hCxH8CxxRl5CmvCobKlvGHeQcvU92O32172SXo335mjStnWv29x7yatax4YYoNYIMFWIXOBvbBI7JnJMx4pOUanrA8fc6sxCDOeuOCygzHc6UyWwsq/j3PWh7Ux8PExJ0gMEG2uu5TwRWBtm/VVy5EB6Y/Z0Z+qwSZ4f0lMc8tr9i3XamQs6/4J404Hj0GKUdP6EXb+AxF76ud4lQZ7EjPaiQ4bVDsb1FUQgGRM2QUP4umxHttRFBXFs4e47NT4niKNhSMxCSahbFQliSnjlu8kWJBo8njS1OrOoF7T7861QstjrBj0Rfh3DcTfe9hml+aCbMt0ZGSue5mheL3NUnvaP+LO1yuNn6XSxAQrtuDkT7sIwK3JFtFrioJG6IgLT6AGQmh2uC7lghbDHuoH8kb0p9+CW629rL3yFePpURGOmqwKMXkVVDbUt9fcsv9dSNlOk9d31uPOgZiAkV547MfrcCyBcxusIzFQqiwgtDqxZZYi3iFr03zpuiQdJSM1Rf24j5XoJ8qG0X2OCkwkpXBamszNMGat9NaMMF9P8Avc20JEeuGI2oJmECIw+3yj4izjJtLtuXtDr9fZiytvEPzueyHe4KdzNYrX518EtGMsVLOHnIbhruJ6XESff2P0W0JrrIUUewSDP9dgyaZCGU9g8DodbTjzmLfD+dIhQq4id8LeZ/UCB/E/oD/IAcuy5IxWO2K8o88IFcul8UzQwMcK1q0muL8OSEvmPPeEF/kRgZfHuwVqyoAu/k4JiLwp8DZB0isKRg4bYj7uzRMWaR9P75LQLO+IWyphm+Yn2ltBIuM0Vdhqe01QIpaMMV5Q9co8DkMXrziFK9yNGejFY0wQNVrcILx5hfazG3jwX4ZlC9R2SDwLgsWJUgplj+qTv150YXn9hrapWmbPGCroecvzlPI+X0Yk738MoRNKG1uuqP5CT0cyKTsrJq68BcR+qF9toUI3lmHQa/avgzC37QrDpyRUUIkkv9EkcBZEglcAuQlqpUJGojrPxouXBEQ5QG5eFxL5jEz0aK8CI6PB8bJym0jgoLwjz6Q4PSmMtC2r7HAli8KKzlC1nUGrG5tRtzCLRlYSLmUpA3Z74fmgS5rMOtM9+dgi/f3Sx7ihLhr6u7roGL89rBgyHMYgfJ7wv6GfUH/RDPbDlTOTmoQoFumHSBE+cBn7kuh4tSCufygJTN6pyZJa72j+n0TJQtAvzVJ172+qCXWBtQPQr7nf+b8RAdkYqYkBIn5CpucMsJoletIkbiPNQtP4N3Zkz/v7lXfHuVnc+lXRVLyhXJN9SvIdxXG/18d32gLzyPKTaIowk9RK19bOoxKjJIUWD5Yg4g/69wcWPC9VYYqMeDokddVGW0wZWkXdXfgk5qXvFGIhPlLT8jlYYEX48+9U8Mkk+2HZWQMOgd1DiiIFbqc2zRkKBRPdtIXDj56u+TmUbAaG/dhW2J5j4BqRvViINT+glXJv+w8uYFx7Pj9klsf8GOkkhXwRBN8zEi6WIMZaE+uP9cbMqxk3WUXWuZlW8YRlRA/VelFX22LJPpudooNT4W8xetoTva1PmMPz34rQkDUyq0mc6CvWqzBfXsdGt1QFMAtPMLKkzXO/wQ2EZJt3S2g/krN4qnyMvV4+fK6PhmRWTOe6eCRlBd8MxUkJP95z5zTv38WMMdJYWCJphKD527Xmbpn5xPNNxvX06qaQSJA8E4ZuuyN2zdScY4ps18GgzH64lGKfweGkBFFgDnFw1btEghbxwP5LrR1/0Uzf6UuIrTSDThQZ7nbSTYVtxbj0sJHw62IL6RPclzm7Vf75/alahc3dsneARct4crAK7FZttB1ZeUJlcjrLbUAaF5Qq+23FP2E/6UzUrr9N0cGg2FHSaEBLEKPW+IkQHTd9RUSCPJDUlYEii7muensWvUU/d0IWulMHE0TBKh+M2Tv5X70PR1syDzS4O7EMJYgfhxxyJ4uob70/ktV2nz8F3RFE0MIyHRbBA5T6vAtOCaXI+dT0lhn0kya4LVASZwAVb547tBnebKjU0V9A3lUcren1+jB3ZNo54+rFIGi45QJsVoWUK0CQB5W5ylXygEDinq24NCTwdk/4BG6SGoIUoX/tn6sz5+fHQFaYeCXRZm+stlDO5MClIT3jpu/tB7Nyd9SxdAlTfIR7TICY++bVKNv0ieAtn6aGnaNRjAmLvrfbeuYXbcfOQDfYVjdaz5PMsbL6Q2YQgj8/Dw3Vlc9N1IQqw6+VliPEAPIa1zXROvurcgtkb4e6zUY3Uzqg/7lcKIcgOrR24fc2Jo78U55Auwb0Mi5BwYcqxVNW/fyu5Gh/bo4PRc84ouYJ0ZJjhzkAuVmXiPnBoLar6H1t8c15opPjOqESA7YscY5AtDyNoBvp/Cb6ozlboNymkuGgQ10jzZevuhJI009HfxEhj81od8ur0LgN/yhFAFuWpoNjwWwZQzZ1BYlCp7/i7MoRVAUEngEIhAk8UY+WDJ/ydR4GuYNwpa2ydRDzBDr1iaF9t1RKRwnTys1RUTO93cei/n7AdTEe9j1ILKHVLhmvwloi8fOW3HDjDXjEsPClUnbXsqYVrcR+un2fZIYmnOKDMMiw5JIEXYUPAtgS7K5zi5dcjfAhe7cClvFFzxwXqe2elF07lECalDIHVqwwgRegjZzzXD0k0yc6lZECIuUQp6/n/r/IKh42QTu10N5s/NOOIV6R+J7m09s5WxWFtG5utpChL3KDOcb2lwtyCTccBfREm1m9NxvUBZ176EzYkotiLFB7lj7ED1/OD5oVTRb6RZH+UgiILxjd0VxZlxkps2ijJ+R1iKiP8yNa98Trn50O780NZgQEqWUuE1ftIJPbqvj7btUlg55FTwCcIVeQ+nu+Be+qWyzWRr1LXK1WknJ5tE9aUgzdPSCoulliM0W8SdhXFb5AxpMylvqVH5KN05/hM4vbgvM/sKZN9pzeTgqRZuKpAv8/t47nUcsYIsGtqgCaQjrRlLY2v4Txk0t2TK8McZHjvbrI26YGqi0qR58PM0D46oCw06BIuZwhjapovoJS2EZYZ00gmN04yVXhl/5WI+aws3cLpa3NalfAJCZk7Pof/jaDTg1TZT0cgGHwMhtFTBBN/hGJYF+oedyv5fMakdkJLqbiv5FHSGTe35ZQVYKL6FeNmWPMIKscftO7zRX9kOhyRHitd6dPIi19yMgyTPzQ/qxVzoD1p5+YWj2zz3hd6YP1ueIGf+Lg3ZQ7PtubvhNEqojroJ7dm7S8AHKCUljc2jPL647igJrquihtlVnSh08m/3YS1c47P0d5WR3wO36MODlqKXSt2DcdRGfY0GXnKUJpn3+Ji9AA5X6iY5u03AGW4sYVXMqpRHC8t5fyYGLniQG/4niuItrT1FWdIigSGqrqgFkDbQfrJ2LpFhml5CG6zddbw1JIyA44is/SJLaQHtrXNvwHFzXrI/eWaJjAwewAzs2xYOMyqkUREEgkthNgvdFiiPk5/DHESzcgLWbGatvVy9EXiFr7iFglVKFfCCovUb1BSLB8b9n/a8y5J4lohH+nEjPD5PgbWJmViM2nQZFcej+z7+xQO9lk9dM2M03zZcP5qY/P4D1Oj4Dr5G65j4f3OfvCP5mmZUZDm0SVkq0V4IghwJQUpMSV5NU/STDWyjLcCwS4Z/ttvN61cRGfh4ESEbfhc2ybVLCZbz8nYIlsRVbJHqJPQHLHKFVNyJYPoR8QyxNbp222Os/Ig2Sbo1CyEOio8iGEpTuG4TPkzyWliXQ2VwjFP3dbXRbq5XNK/3dcpVQRv0HCN+cJTL8pVTcgqJTyLgL7MC9dvJXxbYYSDbAGnRpbZGqFhMlxBiPrnBJS+vve9I7c2vyxcGOsTfG8t0NkmjTQsJmmYD6D7U7AV1CINkpsLccjX+s32jgxS/UUapIJKJwZ3BUYgJKMZz+jwhVO0PQxA7m+CmuwqGzX4ejcK00IEKL6vhiTgo0V4HbUlR8vSMySox3e+hX62myKDGNqQytUS+S8GLqWsq0w3KWXHRtDKcsUDbJ3tBDUaWfsBqinFi1cAu+NJNP3HUlS4VDJeUOobDGPSbgF5kkNS8QwBCoTU5yGBTClKzdkCFKYL8tP9Zr+clUnw49vXnpE5KHlkgzCGOs1+0TwoGRdJMwkMjHxH1YXu+tW//HTbtFiXFJoXkx0wHTXKLamSj7c+Bru1qgTW+Txp6J9hN+MJ//DkPXERmPC9Fxz/kzgXVdsQVuZqRDgBHJ4GZAzl/RwPE+yZCNGgxhavXyZf/7bOCf8e/Yye6E/w+BwSaTry62SNS0OojW9/P69FF/hDOlVTTCU8zmnudOqOsN5GeY0kV8v3izL56UdYXV/uU/fMoljLh5KW9A1I+U5tOkF1Tz2AK8ur9YHHS42mAykbbv9Rs71kV/BztBcXMFhQ2DH6KvRQqcRI9ZcbZNouSGK/zRhl286DW72VKKojq9Y4xbKe9Wd5mU/lP6oXWri5a1/Jjl09Z1Xu9CXPRFXOjxjkA8swhCO6n0fppNi25Xr3XikfquFsRTdi5f4byr9rPqUCrDqAWn/CaZgcRaDC12cmWcwFn4QL3rA2N8lfQuwxXKc9xBSzgy/3ja2tvIqillhNNBi6YxH4rYdgeQeVXZMCTT1ASLEES47TnIKNyDknTd9JkfUNiXE5mpDrgJ/LWHDYwZeArEEB3bXj13SQ1vuyx+8nnIODkK5Em5BD0GEDRINHNcvSVB8f8I7AbNqOWmPdVwmAsD52YKeL0qx7e6gsTkZGhnFvlHVckXVMKEtwrSaXs836C8hZa6cOtZSROAW3yxVtwFLw5B7kCXETvt8J7zywQNia2I4liq5DKnQ+h3IbmJPWpF/aduXb9yBAI20lr8oFvzNZ60Ezqn0f999ScSUcMDQEjIfjNsxMCjP1BzUbpjKwZH+1LnWxmgI34gpEyc6AK62HvKSzejDQhWktoVygEndN/oCTIaEdvGJ+t36U25ahMrr18OszSiYVVB655HO6F/lJCwSV/cCDAph2kQWn7NuYLFlzsnynjw8NQC04bww3pw4lM7PYahSR7OGpsrgYI/A3vqgrBJwPQ6M6dK9COMKlz/NALu+JNtAQLAnHCqVVBtGACU2YhE1iTrjXOizo2GuHPhAdDSXemM0eqT8LVr43GFfqdaPzyuyQMkgQ/4qUTx8PLmMgvXue7KdwOnKPzbu3X0aO4veffKJQ7rD9F/Mb1daHUpRdc8WhPeoyJTCSbcveDgVoRPE65q3VagbW7pP9laaoNfH/q9xXmw8f08zI0AGD9QGBjCGH7aJeV7wH9mBQfZngJ/zDdjchN/LUk5rYFjG3LC5VCg87T7jGTn65bHyVwudlRkWhbbTreLF/pOcmW7OPhayPPf25T7kI8bCti2qoW2qPj5qsXfqVJM3fFCBYlhsyKVKlH1F5ipo4HHbcK0oNHGswB8ERf/24N63RgT6bIwpS5gK5lJl255loCXmeWe2yXl8sTmIkac3sL5CpSFklplc9itN4P2hXzxEtD9w/E0Dj+GjeT74T3dyosxnurfbPFORzzqG4LeLgXyXJjGOFN9SPcD028ouwNJp03s5wMy5L2rF//U3ZNy40y7OwYWB3xf27svlro65CDBY9XzFFJ/x+pim0ahaHTMjZa8nETPKDmiLqp78OqvQeRMlhUJZgqP3N1CGDD3yWKSEM+nRoEJ2NSv+IJ+PKqoBluknoq97RvnwzRF9E/m+Ye9DuLCXoJ7Z+Y+WMCQ5LNbzq/shYN5ZmK4gc6/l9SM9yo3fQFEb2KQ5ocnXdItE5FSt85pRmZX36zQMc/qMgijZ7eUfV2EcHV9CKiadPk7Pdn2+57SfXVD2IbE3xdIL6S1ipgEwVoc6EcqshYrdVkcTIERaz9RpHQthxMybwPgIxZWzgpegGALnpW7UF2A5BQeQLih8U/0z5IluCwBAd2hciEhgafw2qcgDjsmdhPS8FDT1TEPL8IrOuzsadxvhtJ6ErtvghgtkeverwZKFZnud6LALIv0L7BTYxfvh4zSVrK4z5vb5ws/F/3ZUj07qBQOeRc/l6DhLJ8a7Mald/Ahxf5S5e3Av/mZY7TMJ0Iyf/BH/6GRO1XtsQOUVciDxww8loDhdKUvK2hyb/z5P/k2fcytKjRgboGRyKrBrBL9hqjxynv2Cnxg+J/a5wRLaZd4igXQTJY/w7HPAGkRlwIQG4/6EmQEqSvRkoYPOOhKfGAbrsiU+eQw6EgdQ0UJ7OF3o1rFq5ppDnBAARoWZvbZIoSYCYTXgZunqAnx77Ib2I/MAyI9g4btjVvpbCHlGhBuv78CWdbs7AMTeyXf2iPKXhV2KuqzO0Pe+8EzDsr5dVzrft50yi4CuWWqu+dOIV9Z5kgSKjbvfu9UgtKHpU8qDnbfFlqLlS2WjQzZ78B48VUXYF0qedMfKjmtOiI4o41kdSBX8HuP8rEovH+JhvU5PC539hGIki9DlZ+/JiV9UpOEK2gxUhL8/7vvM2hXOD61LsUOSOBGmVa1foLGGT9SqHnLsJnjb5fFu/oVUl5LyCIHOEYCzGND8iHVLguWHkjWogHLMfuGKs82OV/bCf7QSZEpYepZPH7JXyEySbHMX2Pce4NBn63nexSBoZMvFYlqmG1tsiPFt/f5wQEFW6KxiHrD9wIP2CY/7xFGC3EU/wpBH2LUKZz2N5n63H9w41keDOt+DNrvk8JBobqjkxtW5IfRvWEjqGSgluwFpqCTx2gyaZLRBBUon5zWBOsEuuaugt1BmqMegp1EM6FTp+YPkdn8AB23t02k73rAutXCFXTzozp1IcaFKtqxBmM8aRCrE9ccB/AnB9Q3lBwvzmfE7caxk1V3Rcogu0uv4HB+z3eZqXJzhWQPXU5RHbafilyjw3ARDpVBZIuFGxlBbZQTMfQlcwOxWl1aDfheVnV6gGPVwUpKkun7BQPliQoWNBrkYBlCmjzgOSK4YWVY1lxmLHwpYizGdcbXJ79aPkK4t5tgGCj3ngjJAwSsrjZssgsIVo0KjY6dGlZvdIP+JB21VXDtjFy6B0qVZ3XvfZUti43Qag2881sYqIi+axSaCHvukf3ySX0YaxId3L7YtxCo/LaPFl3wJOupOMhooPuVv1Mx2Qb2tf/HhitZI+Q/OtRrDn4h2aXPwMoUuplE7+1fZIJMSWw6W2X/FJvteFnpY9eI4RwFaqhlSVZjSAWUSuoUTwv3NuV91OjPUu+3Wdoz0hxqwZzmn0PKCbuFbjyRHrCUK3TwwvhKpIZUQtvgfzTyT07RHHuahEDoeK/3xVIgDWtFv5ahAy6Eoymq6rTSxd5+Rg0nwHmY5qP41q5qUApBaRFpdyx3LOxWGtLNdRydhCeZob5oZNa6WgiMmLHSTejq7bZBbtAAHN7TZBdvi/5At4lNZ8xaLbt3K5WFWGWNd12uszEhLT1Olb8cNRm7/UUOptLdZ0F8856jc7x3Gwld+8C0Uaq32XXFNfD2K5zRZNOKRxEJEiC4kmJWRdTOjyFxnyV+hf14iUjQwoQbGLgAr/wuFMzLcfGxd7jpUbFOOm0pd4VsV+BlLAXlJ+HWG/PgTNWJwn3EOjLN5DscZldlwtMVtS6/eoGDkMXTuaYp1+0UbgQTEtRFBH24PJJ8dJ/DBw6+Q+ZhUqQ1a08CPDXjIzKYfyF2UWaa3E4GYGcWMMzTu6GfDsXV3LsWNJy8BZ/OvM8iqVxQAf3o0J7Dq0ctJO3ATEzEIh665TsMDLaUtamQRzjhwa1OxklSXk9S5IfvqAsf1kLvCwsIZKQ8T3LolM9vslqR1/FSvB8P7ckKAXGltX9Sl9yAFI1vSFbkhYOaQWDQAskLrMQalq6YnQikwGycfmzNInoZ25iEuWWNXW5u0LhNtKXV61k0U4EYuaEpDrPPmTBaEX0Njf/cQsQ0ebcTBGEde5rbUFXJIsjyw6Xc815MsqfP5gGC3Vt2Siio8e1gORW8wXJjyJ5CSbvkacl/bqNYXeK5bmdkxzyj6Uam2884pqVF7/Ll1LuoOPjrdSWFzZ77qFFFqacessAR9vn9I/AYzvZRQuc9hWzagXuEze3jM+AXbJdyIKXt6ngSTJkO6jtW/I+DlkbrItu7gyk92dQqosvtPFmFb1NFuRbC7MrNNgyvkptsIaOXa2uCCv0OGD6uXAPnP9SN2gY3TzEiS8+dG9Q+WTeooIsI0phyDc8AFruZ78l7yqXoyD6a+ZvOKpiZc3LjA0OOdGFRugudd0Y9HiPGoLflbacNlt6A5KKptszHD4JDMP+aVqe0WaBlV9HQgRLuK3IRMRBCkXSZtcTtRjC97q89LE9MLeSzzLGWPyZEFUcV/QfH5ValmVb3djHLK9/BXIzFa+q8TcDLEwrFNgVquxY4I4vMKlt5371I1XlZGkK9XNzLITi9e43ju0MwGysgyKssPz0ehYx0IwGYvqJcXNUvQhHtG3iY1oKWFWthrs35DZS94mCXg38cM6Lf36ZkOgmWek9lTQF7Pfef226xf1BzgVjWb8w4af2ds8qH1acwzbG0NV7Z8bJsAR0VD3fxRKv+awA5bz3c92JSriSpt2iD2fCUQGtYSB4PjXv3DzkUCkQ84aQ8tmIXF00/wppGD5LtJVeIDvR1w3RQRuW+llE7nEJsWT4OXITNt5Eh6cEJBEdDjw6WVOSXOF3VI+NX07IkrFi23mK5Epp82nJN46KrDhIUttf1pANqam4ysqXfFgSGpKhEK/Kckxen+fZ2cUI1p4wJIp4I2yR/cFymxT3q7sPC4whM1/XiHFXagjgWJqV5ZDkhtCF98Z9yBfrd12u9790arddJ4Pv47JopgRkWG7I3QLuH+81gMAvXyp2GZ5/fCAEfyQNMAK6tv8LIzWTfgOqzLG9/8mTgjxd0A/dIHnGwtaj/XQKaoAF/6b+SdIwF6obtj+DCrMEWJTqhpxeO4hvkhGE87DdzKcTWJBNAdAx2dEFtqDknD7NDqw+l4nhr+YdxU+lBRr4FDM5z+7tF+PtYyrMCalfRZvN4ycf0TsirgUciKflnHWtYmYY8mRmg2ICoHCQsmH/Lb4y6neMzwjDyOrxIHrJB6r+0TBUetT94xkpRYMKb6L7ZMzzNbjfNrYM8G0QNcsPwHTqiQ/pwMfoKH/P7nyaDXKHgj1StAK3iBysIqh3WuQ9JWZniWVM1g8M8mhjF7kIxutNvGzadq00RAj9v0ixjtWmIBj9CAjixpBJesmOPNMG5E+RLAGFlwdcE9nKqmCOV8zOtLgqLJgv/nrLcBgLtM/Nc94xgSUrIDi9CNKGZ5/CkCOyVV9PvR+a/JazPQY6cDe6+z8M86qzU0EXC74ik01G2VUciJuHk8vgaYc4tJ1luphOSEkgrVkX2SOk4RJCVjnms8Vx6/bXwsFROHT0mdBjUXbctEDg80+O5X6FaSzYupqHLpnyJMNxLb742DK2MsmzFVpx4M3MOe1exjDmRpevCl+him9MRtLnbPHjU+EeG8plihlHhLVglSis8GoK0M+pLt+PXweFShFMMYLBUFDcQtlzXr3tNEH4+h3aZ4BcSvlEAYInlA3NmsHmWyCnmAJVc7cmeii2VXmhZNX5EHYDY0yGXsFdRQ6Q7P0Hexlz7SeRuyGwcZpQNT29vn4W1m6JhF7Uq/etkDxBJbGebEkGh1p2hFcey7Q3fVujWiZrEnRAqZvXH6h8z1vFgpBRl73eF8+AoSf05EQefSjV2xuQEWZicdzshtFvFGJEGe2HHAdJ0HD5qwtXIbdEAmQ4eVtU2Hmk9FPFTLMAaCZFB8cYj5a0z86t4hP4qeTwBbKnY9tsSVnPAsG0Pcohce9AF/Ych7Lrk24Pfx0xOh+8xICEddoO66VlkwZTacCP2wHfIpxHy7V1zQ0bBHG0wWaIiRZfaPo5OwtYy2b24Jv9JkXSuzTtBr09K91pU9Vd/jZ140EhbopX7pg0ZyYM0QnnPu8+M3NH4mcbILn8SFDrLxnxiw8gPSef24edu5WK8cEs/ksV2gp3iJOL1cWzKWCW0NQ+4t03yQpf3btiKSs69nLjQbIFhTvJTm05y8Ff7IxVzQpOoEinQhwNGZEhEv9NERkh/+2gEbbFHKpvMDIHrAY0obXs7IVl1OI/qFIen7cffCtiTfxs0LXmh0StfImKqGswVeqE4zmt2AO61gk/XzRAd6V11AxcQmC+RMeslArBpGGqjjH7ZSox9F37doI0sE1FmsoI6qPGG89qb2vFKVuqbltQa3IPjunEm9N9jj74aintaTDPJ8vaZ/FFe4vy9lruILfLdca7Pj2pwxGBzhQ+7LVqazi0+ikEkDLZZbTvrcvQ3dwjQm6y3vPxI213/wUxazBMxZUfm4wU5Gn93AJnmZSWSQ+WIKAINo+93QJ5rcI9XIpBphKrjql2zU7Y3F7dp866A0YUxzPVw/DBYkeu3LkYO7XIAKr70uHuD008Xs9ELyOo1U6sFtt0BnYGYOcvpFxKI7Bp4Jb/3kn73wK47SWS9l9oGgQOJygQpVa8KonVUElNHsVHZUInVsV6TJNmaYP6dkEhmC3HFqn77tKcA/ES5QCCMBUB9teJ6CtnGwgIySLX/NpJwN1TieMd94rxChwOU6QcF1sZcrmeIgy5eZu7PJwNf8hEc0TGrMoBmr3gbniAyF4u/sATr8t0dYrgwMC0yu+xUsjE/f07rEnAL6/76U2Q4ToReyr0HDGwJIMmk5Y3FRQmdhj6BxUXc7z/3VV4xP2RsHOYx4hwny7Q9K4rPSOtvrEb/490iH8Mmpgy/cLFu+8thKBk0aNh5EDFguZ+770BZMzZedSmnKDge2WB2QDeWhh7KOI+rqezGpUlm9e/iG8h+Mb21uCvwY4jy/h9iM6jKNBSw62VL1ZbWb6TPTSIQKvpkuidMGx8tZph1iJgJcYl5HT96qE5nPnqRDldQ6a+j38kS+SAOHB3V+nhn4Vz0r0S1rVt+Dxfysky8YQEL7IpLqtP+bBNcANF83uGSfQmmayNGMFdIulJYq4DTpKtrA0Hn/VcOC5NSvYd1oVlNCTe2IAvGgK++2b70Z8v0ujqW1xxrOwYijRLWeLiSeIi9/786pn65VX6cBor+XdBN3DSV8wJpSMc/q0Skiw+ZBAWeMmpSbHoPqgOp5GPbtXzNQ1CaCxtpq3rKFjLg0LlX/AM2Zh+ywJFKflnhb3bcYshhCkZXvHzy4ho4jSzlcKsk9imTIrlbXut5jE1a9vwLyfdYytY4+qekAbYBYD/mohKXa3VfyzVLAh1Qqj8b4iRJ+hqmgmtbxICbEimVALUI5txWvFLvSrfSZpL/JnyngMJNuzSkomBTNle6XYsnyva4SCrpQQo+tBkS8c5rsSqj10aGAp7umTZf8jkjlqTT1YCiWU9Wfaywjatl1okJB106mhOMy0DdCTKZDnX07dtlBfHQLf9jX+o42D3Ax9uZm0s4Fdiy1jdjMCfBT3VSXW0z9s+GE/Bo4JkLxL0GVnzoRV6l31UBiYW9WVfHX5oyE89s9TwAfNovw/TCi2a3Id8+qfXenmOgOcHbkuHTOP/JqjiMaDErfVvYFGSj7asuHLPHuI9+uRWlnLKDNpRA1gW+jbVI1aYE3QZrVe1P9rFYepWuGH3r6USI57smROkYOixV+GPmi7BOSRwKMqxT+Xaj+QiG2LaIEJai9bKVkFmwpwuw6lGZJmbD6CD8qNfCJ9uBmRKWF/M+3KLJ5YvgqgLX/Zq/P7fueILC6C5Fn64eTdXlRitlJZFCvb1yg9SJZQhxb6n4ltJ0itUZk9JZ58SpEE2GqoY0LJ8+YuPqjWT0+uQ3pyhwSz4ZEeJfOtHrz8Vc3HL0Am7Xgg9B8dRO8uVCWm3dw4JCnbVIG8WC+YhSZZAeWE/deFesZ75/rAppEJii6/sulTRI1TEQdG2tI/nhmfsNjyfZKuFakHiRx7ivzOnH04LTjqltdQEB443euwbpwDA79pyv7yBSf+USDlGu0FN75YCYyp53bEWYm1ZejnNyL/YVd5v94shvpVA0NN9PljWXjjuxZRjqAmmDJvNOtMY3pYKwuCSMKnesvkl3PmVQDZK9owAIhhRCLFWMCAxkr3v0RMylapJdlRRctSoygBP7EvOxC47dnI2/SH92gwHkrwK+AGLu7c7kADTnFgfF9lxsD/HQlW241peoHAGyz2Rum5ag5MdCGBOA10TF6sgPw6oQlx/AGCr4xEsFMUaZK842qFfG26GFeqWTM9cgu9ISsrMejA0QaAuWONa0TPjutHwSltdlQKfRQsw0gyQpoWpddGv+0UJkdrJ7eABJLi0OSjuwLG1IaRwjCrBhaB45aDCChh0AXhEaBiBY595bmZKqkWtOuiMVw7csGZIMazEYV6esCYCrAQrq4hBCt5eVmPdMjjRc7FZnBEVzs/mTyYSijBtZaupCKzNThqHd2WYCyW8T+lHwKF0WGerIKp2eHtl1UaFbBQ+XCTEIOlLiCNMknUJdf03AQejO2qbWLgTAFA0E8ZRk3+FOLFXIxyswPGBjpi/m40PC7DBGwWO4I43y1iOtvqT8GSi9474lyZtUktZ2RGbr8fyatRP+MLK3vtXvl6QQQK2qQMymh6asV+34jc/09FlmMlccTKJd5auoW26yIA2nnpqwzEjeXPlFP8kY4e0T6fGAAdSKUR8z3FzV7gxk+XoGpgg8FATxHxhRK1A3f+epW+vfxjJ/C3TvhEdrADtnPOs2+csOubeumnFi0SPUWtef+M9TRIs6y2rMET2e8uiYHnIbSMNj34S1/9L1iFLMpT2tF6rpRzAPwGyn4fJYnE9iMuV8PMh7Ln1XB/ZkBqicnluN3EjMsZxDRYTcD3ltJNJPAg2bqVR4LAELKkiZ6bnO8xoZto5g4dyBW5cGW5unFmSlcK0CmWhjz8kcvHFgoSkUod11Qo20HUO8z75S1zdVVlLepAt6xYo8Tk8SNlYg5l2pncmMwNWqPQt0QWxpR/T/GJIGFXYRaCc/sSSV/uWE4iJb9Bax3RhCdAb9/cEaVaqDj74sh+b0JQ6ES2gBFSZlj/4I85oL0wJdU4zDJC5y3weru5bkAcI7CcUwzXwvN6iRl5074bLU+Se97ym0gq2r4hW8vGVi81/ktFSDTyU9HK3m1qKjvoxbN/eSgkBXVEoVJ/F2YznkAmHGJJp9ra/ci8ghMxlEDxpa8Gm64SyeqDp3CLXms4E39yD0KljlvntRRpnf2H4xhq6/vfIO4yG79DnpeNNcdAeZE24zWat++gXd8UUMXtD1qmoNiXaAhGPmzsbOy3WKqOv2KMWFzlHA7C69pzm91YO9YptSeUZijlyaAfftjx+rIpsUSFkkrIcodEbq8TDQm8kk1xQkel1u1Rds2QYLiKx8YUH28G2UrBb7ht72HcoJtEokOEY6S3XAXYtMnt2pPzA0IxnnvumI67xWuf4m0II+HEtAG6mH5K/mhJ61lRgahyRXipHNukeDIm0wRLdtU8yjlB8w3DzyhtwP+kXo/SHMmeO9HbkzrMljQzIbb02HdFiNNC4YFiL9qGINrksOINWUAYsDl4ppG6I7u4edqJwXBHVkG8k3VelxUD2gsrvf6eTQBRNXSgEbo3uCNA6L2Ifao70K5GzCJP2iAk7PdQOOZDvm0+IicyIyd+HIrh0xB5/IJnoCZJl0U5fWCKHV1ONbGhVK+2PvctO6dP5bNeHrbXkKHNijSbx3dBKnlol9usApZdlMD47kvfvCCcRT/pIj44SoylJNFEs5aqZxIEeFsASfAg2RvdmQ4ZAHNqsmCB+yCLAa/UmIqF0RFxKoFdZgagnlg0oR2bV8cU9doh+McPTp04VdCfhLBQQjcmqYFds5Smvm+HTYDTdHj+7c46vCsc3duuvJZTLokkuoICpjqWpxvZpAb77/A30TKP7l7WYU1co7MQuB4LbZeIdIng2jiKc2RefVoGhyEWAox/5VTjG1mwWuEd89Z4BbCnZR1xMql+bUvYHRFOHepoN7yHbSNjJSZtnNWGm9Wetxg1rqtq7R4LAdgI3wSCz1KW7yZufmpABJyOvWc6D9KR0hmINp42GLRP5T1g8Zl4fihTujkI66CtDDHQWS1CQS1KCSSUJtgpR6rSDW8i55znoGn8ABMXMCTCB3HTO8jtkNQrdo/3hhkQe6hb8agoDj/EGGtrltLeqUvoEJBbAYyp0ZQQfO/kWtmzfswRB1piVSdUmjfSHZ+dOdnyKgpXBcdClhPJ78OES6O/Jr0Q7Vyscfnyxw+dNy/PMhPNWU0gpVQ9qmSJ65+QHCub/fKui8bcvOJ7IycFCGnFKh4sWfAB6DQrO046if/EJXbXJq5tN14l+AZr226Oe14gYfR0qoJ18aQZeRXcC6aa/cBK7UVXxNfy1s/t8DZTIbJLJkFZRd+IuImdxG0wBJqRaAViRNXok7kHe7dXKzzqCPvYu5n920D2sCbLtW+czBWY8/TgznMUah2/UcrjAOo+fajo29FjgUgCk06lAqYit5AkPlN+SBaq02wmNhVFS1gHZzmHgM2Z2Ua393pSQMVNUhQIfRSt3+RLdk6KXsQNAXUgeuT1Zi2fM78ikqwxSs2g6gzDWX4H+fRee0/26YUMBU0oJu6RUFYbWW9vi+g7mY9rmm3d8qYmTU2caILm2sRBNwS2o9QDB54xraUfypzQsglK9SwFyKo6LJg1S3t0/y5MaAg7P+jKq30fNDCT0IcneEBVzJMpE+HaHVUmEJoUX3P9YqKGp6DzyLfcxxqq0TS2WKmUihg/LkyM0uMl2whBERPTLWs09Fd+0dERwiS9a0D+B8Qog11m6Sj61nWQ8RUalE1Q7UnsbTc5MoR1S6RMQlR4JfS/i7a+bd6dYsb3kWCkQ+i1hqPUWyQjtYyLujzt2GoOU46wWmnYqXrwcFtxouErWa7iL8rGvepLMCyZHCLbKPWn50+uRmA3v2q6a3jb4gwtxxLbnUl9ShTB4UkszwYUSKzSEcYd6j/d/mQuOt5RZesAx/BRlzuKQDkffRaCSeUXmrNlTCjbUvfOcA/j2je5Q0wb7UvJSjqVRvaV7P3kXs49wMch6MTgg++St0kLy14nQ6sTd9HqubBf4FruvsuHQcf4z86/jpMJvg50KJz2PelZVMabed14uKvDQmjKDfWTDUoq+A7Jmg4v3tigo7JVLfwjFZJvX1RbBG6fBbBEyUP19u88SEbYDZ+13GB7V1UnI1AlpF6EGV/MRdsXpjfPhXOgy6BQW+Hcyvb+jGkK87/oEyw82Mu47dDQBFwdSRXZXyeymPtarLaRBeMoy4iasK9YLY/u5LdRlKK8iHaMZ1QTKh3SHt/8c8NZBs3cwx4VFetS71C+Dcu7Q5MWPv3JgFUygUvSp4sSvTFU3II6MqE4ZsyGW6z8il8zNGGFspmuscDK7blfCAMRGwPffSuZAPJVb7+y64Mo6ZxKJo32AaZNw7cuF7V65jc/BQ8PVuVxDOcvJEDoeGqF61Do7q4IXUSDIfYtoOPnfgsTm4XaOBVQXA+G+Rj0vUgbqM0YgWCzmXDhUOhbY+plKFLMu0ZXk4aS11UX4r89nbKsDA3ZBm60V7Cxghm/q3ddjvvyz3SqX9HEwqCV3wsXSblvyycvG490o6CNJGzCdI2uq/mn1DdDF7Xfmrk/xCghFiQ7jDHNUyOAt6LoFGd9PH3LZWIBNyjvbdHs6Spr9sAuerzm8xq86IkwKudhpdeOk+lslNVF89WZA3qWCVFr0HqeDuezlWebAkLrbwK5wVqi6bD1+8aAvcxJA6gsbtG2rnccee8X8KQhcm6czszIxam0PkfWmD+x57dawRCZKCu7Q2ZvFaTHvxSu0bjWyjQ+qBpASQ0Obf8ectkw9Zl+SDJYupkFgfcrSdbdA+3pt1YUWT/K3mVdHsFaOtNSXGwx7mVMrz4yGc6il5Dx7jeG0yfi4Cwkikh8caqfUYkVcnnw7l39OTeFM/KmgtlORK4oazH3ySm26kxP8Thn78VHWf8XsKBExzOhqu84213RoymudTt+aPDwRwV7xtQwTpcpuW3s5OqnD+jOeLr3EySHNATc7dAyAxtHbYz5nyOEm/FMRiOcCWqNFDDPf0NBUetZsyoyntyOy8uR0C2LQk2wnnoIZO7TiB0w6JMU8GK5qluyyVlKfTHOh+1hyY/WaPd/VW/vN8ukvV0VmTHAF0CR0ijN5s2yiAtgt6sE3ON5USsltI+kIncHIL9CXEsk81hbvPRd5fkXWyKF5GNdd50VUD4X5sWOytPemYDwMuJkd5Kb1R15qYSiUHPEEj2in5ft16rTHif7vWRqtgT3fX0wKGR/QqiY7Lsc/LFqgy3aAlS+tL5cIohnZJ3p3571A5Rqwy3J8JJGkF788+SfqlBvC7k90w+Z9kDYSb+RGXPFfUnpWVjkJQLrfG3KKZYeyqHR/uTp9g8mX5KgMsPgXIzpb2fkDJybwbKcUgcPGVZRvd/Lkp7c9Vl9v+S5VkSewFQqIVDGuA24T+AxBkbgjaRB9+nnloalZd8F3kaGRm9u17X6eGLUPX1DMb/7bueOftrsIsRw13v63WdomIHcvuMnVR4owBsS8FqEd38H7VwDKYRWuZGTKw4QHDVYNyN8OwswBUcPGZquB1T2+0IiNBlmIIk2XqbV7PP+cXuLuMtOkZ5vInCG9v/RREj3Z/UqaCqA6nAIR4zRyfoMuO369tyQ5pWjtsKsoWOSu+WQU+djq+3AxN0ULg3nyAAW9ncqavFwD15VH19exy5AOG/I7A1naTmce+8phVZPaBrGoyzh1WLsC8Vc8hLuCJhpP4s2XFou8XzVts2wXJn19lrxv25pVlQcvNDBPUA67rTuYsemJ5GyJtVF+CqMhhRbhZmqw4e6sIR8Up4ybPRH7nGLkeNjbPSHhQU2LpwL8IR6N2o17Vfc2LDQnYO/hOHrYi8zFpJ77cctgFKB66o5yno3EJe06L7tJisl0Mg+YfZGg5YwaDjhSfGiiG4Ub6p59ouo8KraslpDRnPTc13kd8bcVRFdLApUrdTdlDX4/sbB5Cwomo0p3k/zi9Rz1Yg6IyeDbVZsWC6NKHawpN2WBJlExEPUP38Fj90wVQOjJD9+liCFGKhvLSUMr3/rvIY8luAwFgAV562JfEv8X6wpcRnc/bflvpcjcAtEKavgyqIMpIHJzMfSONbZfN1Npukv9sVMKssKgTMQGnw1CXZXKvkZB1n40KT40Lr0LpoGktAzFttoxobHfRiCPZ5vV9eIDCFZtKDNSc0F34QaygMvoSC/Q/Ng1n0eUfKJrvKOEEucxa+GhzC1rKC8QcKtsR4SlDB3ceRsH1f9Sn3y7fa/J15Xrn8+OURTTqJsKHRUZyd6fczxx0bL/brp+jk4of6Z+kbIjmlMqAHZVxote83ViFDb9eftBBBi6gXIeqI3VLpQRm8skZCzmSIsZO3pF4FaXEU9KdR6AD4Fov0o33FF5OGen643LNNYcf08G+UD4p9PBuIQiZxNom0POx+39//n9XsqsqyY4R6gMwJv7DIpeFmNJkyvk/72f3qvjS4a9lbxI53YK54bVmRCYroqfaviMXn44WNR/X98ljIQ6I1dnjSRG6npYAFQPpC2+MfpcycA0G3WQ0IncDeMTFAPVeYa9a6vwo2V59VeSlrl7nRQaZB99RkoUVi4A1RxeZIc2l4MpOhSalhoTh+T2ur5Ee3d+Q/BPiANM8M3pJkgYpYkeqiLRTz9fsyjdlZpKjIwr2Ielv69KuNUZfRVv1DjXizxasEhabQVmP3M12FTANlYQlS3yFP//93+mDBTm221jQ8k3mIZxFISd2qSzRPj3PLbmEXTKHJTUjtTUr3UjDoR98lCQa1tzazJEkqNnYOpXue+FQXzrBA6qpxQaebDmox7sDIe7iPqKeSx6ZZaJjvuHIcW6U0MAVpHGhx/lql+WzwDBZn7EDHVik0uUK3VHzuugAmzbCVGVpd6Oy5ZzwirH7Vdysi+PzyVatg1Vszf5zSJrBVxUtaO8byAzIGP+A7zTdIHvuDVACHZJPmWXZ1gFnEfHM/NPm92PKoQ97920h0GrebV82FOycPsKVzISf8Ifc6jxYT1e9bHLyoJPcfXTuhIPLWJ0MGBiVaB3c9la0xif5739cmULrQAWF3WlY1Kw/Ofel9A7XDNVnTE3CGLxnBUTARPUiKS5T7FnJDZ6zkT5RocJ7n/g3DH+ylMC6ay2uH2hW/uH3Mx3ecnKYTen99sRsGN82JO/2RLjdMXMVRa6e/sGi4wuwndhzaocqQYch/RpQABWL+eYzwIjIBwn2Yilw3JzEiJBgCsOUtuQOzxykcMH0CFB9TBpXAyJnxMGEMdI2qboA2S3+p8iDfts/UTCOgEne5oGxFkXtddJ+P/pBqVwTshg6u4WYfqBwO87qD+T09RZrvT3+1l7STDv7SZG/zZ7V5BF623tKmlAgW0UXl6J15M+HWw338kRCcBESudhoDgg66SFlM9OcS0w5z3vwI0c+PS+BJ6uUkQ7J9yP92HXn4V6AuQSpuIT/RU+/Z5PszacyFyOeLZxHjIdyJxTB93PqKeCoe0ImxMBq9/342OGwwxpOf2vgnkSWYongN8r310IgKu0Evaxg+EKJQmSOQdy5DvfcCDWQ0v+9dv8kyDv8h/VCA8J4B4sJQMYP1i1kHO50PRKQF+40We9YTFyZEcHHtLXhuTnTOwkY5UBDMBziKC6VIBPwPWKWkaXO+/SkeKufKtPDHOioncg75RGqFIepKmczvzZdO7MEeVpMoFHZkMaPhgCm/cvxuKlJ9zo1VLXinEFk7NPOSdhp6mhVSZhoIgyC/MSySTpLMoif7i+DQ+azmURt3DYWSRPwd2IsHezg7lfwbz9R8kCzHzh4xljUGn/hZrLK7mBV7YmYCpAQcZIHQOcShFhU30FBON3asA3hccU33qdnv4ByCxSDfk78tw7fvasnwr8fniDqN3AdURG7GBWbZQo47OXSTXOT4fdX3JrtMERV+6JHkcDpEqq5h088VvNTeHxwRLfOMYSgcCS8cIsDDzDt4Vf+yNsXyYgNuJLlk8yuY61+O27UPnbb8/z420DpvsTCRWCRHZRNN6PD3Isbcq6yM1J+XoYhOVpxoZ/kI+xZgdRKkacpsBKwXrvjowRAq+3MRgybWl2VyavIIHOyPoEhFLLZZyqruMzm27bh6jxzmPVhu1Z2WjopDPmla2VtBt2By9XFL+VpNuDwEfW1Y8CqThgF2dSbjUA5uoj6dn4EbnQfStXEOl3YP5/u/IWSYndQGBXs7/E+8UMAdxOgJ/I0hp1B5e8Nx8YUlLOb2zZ7ljexQ7nygCQKwN6LEFYEQsZ/ep0t7UaMpxnJyX3YqPUxBiV0E0lvA7J/NcBseKS+YUE9B7ps3BOtKPdq3ydnN1GTI+Le4wrUrJueL4G8USXorm0zJl+b8XSqpxIY7Frb9z3vA32bKJ77g7G428NrPJ8azHyN35t6zlLQ8HC5iWQoQANN/bwLW0IG4o1PiRWo320m89hpTt24E/5N80Dg/0U5/cDmSNZZeQFeXCQyFsHtI/dNaWt4nkPMrQ9lipoNHpZ80rkbNpDI2x/22k+yuh7+GuQc1pzufuw1hB/xqvqgxqNPoEGJEO0nNglLlygcOF66p2ExRiEWEzKetVB25k62WwzLloNDAy5MjqLymITkSekGmPzObXRWx7Bn1nd3YSiCaZbvO9kcCeJP6QreABgpD/jWbM2843hNgxsuKWagI+eD+5GT+Kc3h0s1Akeqr91EzCXYBUTrnw2sz/56X4xIhGHrgtv5FZKwBP9L55DUW7Ow6h111OK108CCFuOC2F5PxqRfUg0HOW0waMY24DIg2q8XZtYa/WD/JLdcbpNl3I+sGbrOzV0rjtgN8h5cja5cmEU3O2Z6we8o5sY/lV2rwckkqlZ4rABf55WzZ3imKXkpSkyFUs75qKY9zD1fPBPjmuh1ZYMNCR51tXKbRaApEmlXkryB8X3b1ZS7itLKymGGk2U3QgcSWRat/gb6ZXIACxPvKpXSb35f0lNPWeAH6OYrMPrnnTfhHttAgWS/sBgfAlUolM5TALS8sy7310PSck7+Lph6tMLz+55+fdxGJohNQN8vLJQu9bnT2LZbguEFwbIHYI799q4KrnqvxsOGXHAnDldOl93c9dqGl3IRlDYv8uYO7v4LQSPbcg9J/eVYi1KLbqJT9HQY8MosQYPU0wqAjOhUn6GCLZ57Q6UMnl9KPRGZskUL4/0a9LC5qxxNl8ERZeAlgqcTAmiwaB99VMZbCdBbUKkg0EMrShvThH2WCeiWKjMsTI2wY1pEDxPMeghiCbUnWByFy4r9mK7jhHELe9gGTWLAldV9XT77EUV+A+RZlLelEJgyWtaSjBU+9fHmlstwZDTOiTnDZ2ynz+ypDkVsgGxWaJZztiw7GZQH1UzGk9EOAmVsP5Pz5qHwmaYst0PO1DM6YXQAMoKiQ2diQlTkaF+NI3geHDXlYUy/m1F4lMsutz/eDMU/k+eVj8I6W7ig60WB3DAMn08wd95P2Doh+pnHVDCHGrwgo9jiuNA/Q5o9KZZPyOmPU/Fs5rombQR1T6g0vInpl8ePi6rr7oazPcU73h0pMtD6eCqgGD3ckBK171b3jNtoGwRHjPP/hfDiSBcTQkJR2yedkfY77G8DkvHb0nz9olE9Biy1IOaMoK+l8ZzvxGMcYMjV/r8SgmScI+3d2SBN0/eePmQ+3sp8n/Ba5BpTqMUCvmJX368MWV0kT22eRVgOw2T89/+f6NUaN6XnYUXwzzbDJcRpuM9NYQ5huatqEh/BPVqBiI/e3/uy19jcmoSl4USCVoEOtG1EOhf5LTQ4tP+2aujYKV13NyeBIU1iJFEzdhwdmrIMLug/GINg3KtXNDPV4201haNZPoRAQDsTHJhVuK3Y0jDU34Wg/vAm0hTDDUPIJjP7PJS6tQOWAK76p4tuDmCS1EBZ5yOd1I3iwBXSzyl1zGuBfqqpxagJ15RMi5sSVjaLvUFpCoJ0UReqwOJIX+B400h9qw3SB5zSiDxjB7K5F2Qx/tnK+lAI9k/jQv9h0XN1h4dvkHRSFQJYp6l9NnqKa6uEQ7wiRI1XYSo+xNY7Kh2rG6Nmd7xrjo9U1E3YZU4exg3drHeKW4twDbMmuYEHOBXaiNnxDW6YbBWdkeSUJNZ3Pi1lfgwz8/spHVHelkqo/yyUYcfdi6DZuI6PXmiP6P3OrxtQWCX10iYUs2WaSp8A/TQpMmlFmrxA7kzqtFXGIvzVq663FyRU7YeQVlP6KkGkP7Uf7bFh8MhvLB+qqsequfUd+DdRuV+uTJMniAY1HkRXnJEWHrZJSmVI5Rr6TSXnNeoTl1t6s7HX+XpDICNEXl9TNDhJGoywBx+ecZIAtFEEOPNlCUaPAuOxMiWUZJgsYPB7+m6wstm4F57KuL8k86OthCvz1gMQytYOFn4dwg0eLD0059XEzOB4uZklnM59X9hvuPXI1xuNJ+pwfxFwzBDAn2xPpdHRmQ1QFxqxHpAO69WAO98MxFcXflhnl1qnakEu1JTqd7rmWvQRBUYWjmlEkLtMGu/jdcCYo35QgLyxH2E+WrBwJcoKzBenV5gFEfFkebZji4NL82BrhLSboFu7QSJjCq2cKvHDUMxlxgi24qF9DBwsiL9bDAyvq6EHim9YFazVtgYdYzrxS5xsl8GK0hwYjoZOqS6gIaAhYx6NfVLXV5OBoylwGpJd5wrDLy7K3abrVOkZOAwWt5rGrM4cpi0A3u5+2IcnAjQjVS0ofIdedRBhZzcDL654ZMOVKfDfanj05uWMySMDQ6VD5zgN/Zhh4Vc2GbAD7jYiCI9K5mQ+Pff7CEVkc6nL/LVjDgqjImDMLFZosNlYamhyCSJMREOxHRxAS//w40rEQQPCkLUWQAIpaZE5HOXy7iztJ/lQr25ULsOfFyESVksqSjTrxKw0lXvdKc3e0Wv99+uOLWuPBYvW+kcQnfU/OAa025H4xrQj/r762yagqub84y4oGWHEVKNOO2U1Je4vY1W2zIo+iRqHUCaKprLqlLUt8ONy+YY9uyhmwopEeaAFX11sJrP3f05J4PUfUUOESzdYSZ67H33FAYPvKFOSEHXrMPJb/WygldIyktDd06XtqVUZmSZ8VthofwEPi+I6TEi/u/2jf3LWA+E4VLaY7dgQZoFxh08JSyVRGCH8vlD6dVT9q6YL7IOMFyp++R77vnQIAJ3M4e6W+lotQn3MqeyTVlKNwqV9Rn1HWE8gkwKMTVFVfVZPWRXjo/BYiGxrvbAJJNzfVAmQeyNzvHFTNUF8a5Lvw+rlCAb6sAzyB5c8xGU4CBbikGWNQ2XPhca6TDEP1vIVi35N0pl5EBROyJlS7qbu2AlOs+LcR/8xTIAVVHyLK7hs3c7NQiGSQSg52gXjGXxIyKCJufP+ozZRTnki3gmhxpPPDFrQP8TnGKVsQu+CEsVgXjgnRUSbEXGz2ornw9tizno97GMV1EY1JDTwehdslADC3HLmrmsUqHbfCLCG/CwgiJikqIPXdbWN5lKWnD4x6lrsfMTgk7ubN8iCtaZk5RtW3qC5MZSBV+iGNXQJe9qM8PF7ndCNJyjCHVwfaqDHgrUesur9gLr0hfsAoGwp6tpb2pm3YmhGuhMvDop8ZrVc0sqzBJKqYLFvWUV35wppC4FNzg/qlHvIWR5ruBhHFYZtGPKMDFNRr2B0CABKCbsOkj+gTKaamhWvZMYV1S2GX4q71rc4DxaaWVfoITHdPnhsXtVo8Hp2aplgReHJnSOPleuMnBga0nEBmTxFsoP+Z8LGoH1SqWEa+r7AixYpu9bTvnPamtl4nlluOpZswfOrQpS2BhbhG4N/XBrlACutTc+wh/HYOobtdotKkyTBujsUR25jFihw2oSuoc62doWW97GulCYdb14IgEfZiVuiCmndgY+a4lQnpIGG3Belj+VzrAcPpIWiao4pLdp8BwQ7gg5HsYonTwW57tWNmzulut/gk4c4GW/CkJXOzgWWfhY1eBATDmylvCzpoXfd1CXl7wPRyjLlAqITyOBDB/Z1GlQ7PFZXbBre+GeYUFW0OYkTjlFMzP2jgUq7xNC0ov+x+JAIk1a+8CnJGVn1syIgr6aAQ+rkaRV9i2QoCMb608vVGwltIQw3DYdWej3JIlJuuW3TWJ89koF4pUVFK9Qw2scW758xLIvrbxUL4Fno80AP19DX33pq8qUDUbe9dF7Q6Rkk3ZPAHPKjsx8pMruoDsoKsl+pUDLVOcZkw9xrv+ffchySSXlnCh2fdaOH1E4aC51eVruWQj/M88BVTaII8hQiwJXqSpNQPCzzafKkcZaSz7j2asocjfVBpOtlik9IDMjvweWprAAghMjMPoyDvQhm4EYTodiH6RYLm/V2uggQbmf/1avrt1CAsDsbmfubU1VjiI4iJDWzriVYP1PkJrOBNb9gVLpCPQsV0vEInq+0KXNiW/JTLjcPc2lm6U4pT4BLxHCl0MW7I/g9RvEHmqfpB6tNtLESLOvCVjfOvjO1Cczx/xOnon58NTC7PqYEKBPDkeN7ziXhxOQW4Oqh/garwmEEe7A+KORW3pS9UWi6RfYShz1fLTv9IvW5iXeoT9c9OFCYqU18ATVyybig0LR1o/BixWkEVeyNgk47gc7K2J97DQENTF8tHeAWWz6jBXrYHpBQxLQo6LtGys0jaKo18Nt4R86KgEVy+JCN8JaRct9M6+RnWALrOlXGEYgobjEBbksDWjarPIhhsNa6SWTCfqqF7qDbKGZB1c+nMUlvYuOkZIxjZPtskRNUZLCUF9XWt8CsY75T9mfQcqpzU4mSYAF8ECX218lKbxWjdtq3oMSiGj9CgS+MlfWiZAtwXBtHwpAQ3ZD6vcuXIC8MkHhrV9qhAj35gzfXrmzB3cvFtq6D9vccf/6oDflO7Kf7Su40YE3l/UULAbl77Hg9zBxPdEKjFDcB25o6ah8h19pDOJn8bOBrirUGIB9tsHrcFT2eswnJlswx3HxIwppokNz1B9wFKxbhzcKYx/JYm3sAW5+xE5v8mj+1hCNvuy/5WcpixhXD8YGI4Jcrx4jjAUPHox64OeFtDbiK0R5tJnldZk26UHlatGFVwzl4R5BFcr70Lmvejegg4IXnhOkkrwA49RetxalsNkHGFRTsSh8V8JLHHdC0OKExU5CaHHvsE7axM6ndhtl1z1awkPs7G5G/eM80nacuvEaJdt6InYLF08cSqWjlHpBEEPmtgtySSvkmzRbjVjAx1vAYVCwWLAkYhfaOokwZKXc9vLaUATwX1y3DPk0GVyaiUdCaqBJWkC3l76kzaEvcDM3yYGXMq2yOFOCEE2t5JcAziVmy2NIp2IqvWW/kq1YO3GphhMI6Ts4mJC6SRdR+YeVjfhh/xIAWIhIeZIdM4jMbv02t/vUIt4BO2XOIGQgtjeu6BKT/seNfGLWe5oIPJEskptgy1hqKI5Eo10pVu0UqemV+gQdLs2nWttgNGZ3NFerDzxdzLfpOBHm+bWIZeiuYAL+f44s2TlLF+XDXo0zH5DiHDQ4HgXZF41VXtzNcHg81ymsBgTSylBftNECP6v0B5xCei1OOv3vRUVm6rUZNVrpWK7t25Tf5qUOx8ReizsKNtTQQGjtqR/iKE8gxsX0M1HyqWkXCtJ9Vo0EFC7IzlLyG0VO6WXT9bSLKolTaJmUiY4/4TuVZ/8u1PkvnDS1sQk0p7/mVTF0zVvTlHtWOPQ0FZqGGM4n1Ac5JFpaxDIFKRsnDbuASgL3hiGv3vn3zrjnpXFg4Ovx4PaNe1BdBPYPdavo/33/jPVtqRyUsobaQjEgFxJcaFQCy9HNIP2jsjOHgLIoMb3r52n7nzMpLpGLiLC8LM3vPqRCHHOcpZjcbtJU92sZSFhc3JEAXBQQDalJjiTgo+VHFF0U5C21gZ8Gxch+ay0LzjPewC19yZyLn2tYvvIlvOmJh4tZoTZu7+NapR1P83tmFLj7vVVmyG4BZLkwrPmnMNrD9WrLOl4S7bG1hbw4x8hs4OAn7LBYDF+ftp2XjBXwde7QX8Q8WohC7poBssfGYK1GXm9WesEwiwXx7U33aJYvnsGA/3yRCbqg3v6yKiVslMGDExOKjLIycTmYjq1Cu6G8GKmBzt/tZdoFpJULUu1ofOPR7GBECxWTAIiIlwfgj2nVyAadLmQeT0XLo8HjKMB36CF6Br/I3LRfacYrG12cjptFRORtnUXJcH2CI5zW2ofm3WPw9iR+pqb4lsuVTyNpoXwCVVsI61A+FTkjohlNFKwdX3PIJnkOWBc/7lo4SJSbYWoQXQUY8qZJJ82bFfRHjbcWmV85DnRE5xvt6i5YQU7jEYfuTSCO6hIPqsk8+USq43k3u0kleyLkymZtf40J0rvzWEwGptyjheG4SSf5E2oQBV3IUNNxRGoC4MG5zcZmXm9XyABldp6XmsvT2uTXx3Sye5XhtFmXYrRrmyoqwCOLdn4sxNYp/m9YXaGlrUeXnmW7E9641i0Hx8mqz1xsSFxN2ai2CEBJlKXRVoF1LEGUa1KfOtGtMPkZQcHy448zvKL8i4nolPz7cZUB9O1DyJXKElMCNyO6FHyC4dVMyKbo2GzJS2anlVCPxISsI8mWujKG9mfdiKzneNXSAGZhQanZI767q911cO9cjt51taF76LkLKlVmSYVbWCvqcNKai+UTv2wwDn86lfMJvCsyQZZPtuD6utYVhAPR+jusaioDaqeEwOtattpN2NKTkkGlobU4L18QkeEOHitAs0jzXNkeIkrpxA3NY7OoyYVCODJTzNOzVduyk+8d3PLytQxAyBpD3venODoOKFwddOhxP+suEIPxfKhaa405x8RacLJzf3zjyoZIr/axblgvZDII+naFqzHwr50C5GKVMFcLEvzdzn5KZpV7rN5NuIYg7Qzje2WTlNKYsZdaQC1DJC11NGTQ+oJisWpFcYgeOZUoFB4WRzvDiigghvw3DaNEuNl+aAl/P5sGh0nY5V+E7F7Eq/m6d+Z6BnPaxNSmY7XSVWlZm2ErAVT12CZ78m6M2uZUlefFP2lrEhYa7iyDa5OFTsWiGuiLqBQ6KyqeC6IplPigkiyFCqKkL4u9jwfo+uT6fYFkiOJwSp5ZFIiaGeET/h54AmOMLfifGZPk/jzRKt2+na8RdHuEoUaxNL/WsnbE9vVQG87PoVtjUN6+JpM6QiYKkbJqEmUThzxMnJFKcZUtbRGYah3J/8N21oh8t1mIDIGHPPMzYCM+yGBFTM4P0EtUNCl+k2GByUbdpApUzNt84mO55C8Cyf13av3y+T0rN2U4nOcNxublasNwlu0oOfjkAmgagF4DcLwCdOm3Ogz6sBhAeehKlMqBB8uZ0V5nIVfKK0jkPZoWj1jRult6kyGsMXhJK9xU4gzrgrUvOl6dmuD2DmHjTKsrB5JkiXy5LxJs2qMhaV1lovHMry1GrO78zNAhIu6+So7fI2/Z1RtsDZhfgznmM31GMb33SeWEyrnQn/sht9+cInlHaavS58HGs20fD6REW9W/Yw2+Re5pu0HVhVdrxY4rzJZQs2JscyXL/1443Kk7xcVolWbsS1vnmFSxuWz+dFtBm8JmkjqFSS8XKYqv0Hg5HwnSxm7ZttfASY7dFVxovaMLNt/z540KRZcUTdhilua11+OVBR397KbjgMTVqrKcM8W0cNTzhs2ASOCnXztP3CwfjZUYoIBg75Xniva9rv0jklBH0eENP+NhyVHmm9itM9nbY3TqCShjVQfHkFEy3zdWf5H38MI2qNt4E3ply1ljkCwCsbsOgWUIn9mcD5xe0hYIS4tRq0v4JR1hgVP4hzjBOJOzXsLydnGvk28pG7SIklsSpnViIlhVo7Zk70KT7dNR3WiK/LvoA6XfyGlveRz/QFeY8Oboe/BtrSSzo96WhqCDXguKOiEEwu/41S9J5Myi8tiJQJN1bWThtuQHXNWAjIrKrYKP1Y9uGIfv8L1JoNzwf/9Gbp4Lb0uIR8H8BltG5K5dZ7cFCZAbVLFv0fwN/bxq88zskgVG1Qj2EUH+KNtE94N0GB3q17Zrs6Gk72CA6ZTsII7FXdqCEaqJ3bgd3yYXw9iEQSgUiX73BI6Btg8vwp3jxZQJlh0dV9TKH1vl3b4RhRE0eIcLsXXwHsnbC8zbY8FXOI4micmMpIzJPkKEL72Tcduhgd57sk9uCSHUWiwIACavkW4eCvxjXFRmTZUTsfbhWlWp927TJ7qWFnIKv+vy2a4y7h57ajfu/Fc2VqX4FmuWlly2r3VkxQbKKXzHfnj5uOFKG5g4+PIrS9dtItx1L4fE38r8qaKx9tNrJAwjgtCdP8DwvJEGDRWp7XMQDpi18CBRXl0iXDMmQxSPMHUyqbX+OH6IBa1brE/vBRaHMaW38oEKfXU327bot1TfggagxTw8i4Gy1L309+MApEVEa5+VfU2OK3bfTC3gzg66gyZW1Hg+WYaGXkWm/6+TLHPTazdmkA2A74q3b33unCX6l8TAKE3EdBd3DDmi5+nczabzOgZdip39ss3ogJ8vSKtqtcF+p8QSriILWprXWidt1gZc7FvBQ7XXmt8LsHrigJrbRvgBcT89Wc2QPnQndt0SKtQT/RybGw0Ig9n5GwMaAzfmk+jaY5d2ETt3bNvFo46++VyVVppr11V96qazpL5x018EE/Rinb1VRqqqGog8nsZM1sO1Glqy23bOA+RMpTk7UEcVsworu0ld6w6exKjrnfOggaHSQaPFVhoW/1JaLog3D5RKUvgq3nsiTqW68U0Nlil+mAuGiZs1ixkmCd0F5qX5llUTjsF77xNm7522vH4HqJ36WHAA/i8peNDEyw3ZOaEVmLeJyVOYD64ugqBmnIPwRzx603I+IpSXBcUH3xKDSvYXkSLk8XcccajsC6wndnKl2OGBHiHGqK/SNEYZnZqDSWQlwExlBdNBpSR/KTRTWGnx4TCruDJ1KHr07YpeDZQbwXmQ4OuCpruBkH0sMrFetWCI08AnWCD73uKBlSuhryeMTRMaLexAK/WM3OWzuNz0McUbQ4vCnjL0a+2s8897Jdxil5Ku/bPZQjZhwdZeNRMCqDov7C3AZKGq2C+dGh/U57JcMdekE1b3PlUnZ6fn07XpmAwqIAVRc0O/jB6Aubat37wyqnUi3M+/uTQso0KYR7BErh/j4EdHnDNmIWDv/k0aMZRujbZIuBumkSs3vdlPonYNJAn3ApVYvKXu9TF8nr1ZqXr6BgGy0fTOPUy9F36mBkF9aU8i6qDeGq2S+g4zp6DRnfqSpyiMlzvnaWJIgKua7AvC9vnmjiriXL3m/bKE9owkmp6ftbpYVeqgqlbfpUd+lwalMYcsvxgmwP3Y0Tu4qPKtkn6125TkmMwSEdwIVm6gMuf8zGdCjn58f3Dib8tLbgHqFwPpkiblTv87rmxn8M1pDjg4sUh0806b0TRN8X2Xsh0QgDHyN0CFxybTVWM8tams/EkOOo1wsxKKJ4lNeyavtRMt7L/uKAcn8VlGeqFjE9ugJn1DPmB2pDVw7ob9u2GgrwDQpHwj03hMZhiFs1edDMwk1btww2OfCaiZFPjChvCdJ5gekXpMOmJ1Z9gPU2SpMiYy7in5dNt9PAGaqU0G2hnpSJPVBiRfYhlxwFxGuJ40Vy/O48aQ98DZ1hjCLgO4ZRjjy3kwJC3557lrsKTRA09LopN55/BUKctkYLV0hA6YlOJVqvw0wHyDvL55cIGDjOTrz8h2RmbKvB4I0io1lF3YWeRopHM+PsNLJmjaXuUcS9dlC5W2D/AYe5g7ZPXsaXjCO8BJAI6/w4nMx11FircwakRRZjshUflJ8MkWdHzBEr5kTDTivVdGi5VcyoQaIyeJ95H1sjFg0o0Weu2hFYPr/nmi0NKhjQ6l5Q6UAx1VHZhGUwIhD8hu2KEZp5hXq5tXq0z1CR8HjFQbVavnOv/fFuZErPsupqJZV+qnQO73f+t9VWE/m8YEN2kasppVSmqi/GHHc1kppubj895AVoVaL+r+VTxSbB6nqQ29M85yOrOLJCHxutHA4hhwTNqUaelg5zrgd8f8lg2zf7p1MujR7AUkM7iX9tKNAgOgon2szFER6w1Wl9+sLPIX78wJIgR7mQwD5/jeXcEnFymZB1p/yhCtFSkjls4vHkZ4tpxLCggv6istX4XqfdC0hilZh+nECpAO+8ncJhdhzLYstFa40zG43/hN9cp69Kjav/tMfu3K/TG8J8n7unIB2W+6EFfG99QdmaHyvqCTOQckD/OKWTzAtbIylr3V6Jg6leQpKQ4pCr053JaQ/1dij8LNawtGjUtsQotdTMmrom4nzDHLwX7pu90xkt7Vb+eqwuUinGUB3uunBn2+s/qY1wP9PYXKWzxwm2cLJFj9EZQlYYf/opNFJduzk8BqX5tHnZGRPNko0OvDEElsLlbZRZ8SrpuTsj6EaYkNYtVInXWzJlWYtUIT8uLZG1jxiHRr5q/1cjVovNM/5F3kFRfcJ1JlnD6Y8KUw40OrHhB6EjG12BF/1yoC4vFs+Q0SQebUBWCCyGNMu6Uf+ayiXxw0oa4IsiculonHX+0V/n/5aQbYo0kckQJ2/mx7PBVByKiNVX1ArM93fRg+CmuYEryFzjBJeSdxB5LlP4eF41bo17B5qMpl4Obv0A0HVCgFLIGNo9pJcV4qxfL7/nRB4YQL3waOOXxlNJimpeD6cqBlzXVybJoPlSL5ZjD/a4CTUij10MSCjNrf5k9/2Eah8gqjznpUNuWpQZCQURgXqFzeqKP/YcNU/Onwm8aHPC6KQTziAobqmznxDtqkETW+RN3f/KECVFzLzMpLJkaAOGwIH2K7ron0nkfBWE4SbtnZNoAX5mwP/miVSLgdsQH9K2cR88+1ZT7HXCMCTMUV1NxJ465DBMo1hAQ3x9aVRjEVbch+aTCS92+VFiTu/K9bBy00EzGAS6puhA1AjEj/nb6SeTkk3gtoaQoAVsut9bVPQ/BQe3OPpDd0xmvSIGYytlvwGJxLrLAREo78ABWDCOTWV7cFIliTk7WozaJG86dv8rPWZjW3CNeVIdb+jFu+7UdqwvO39DX1PLdu2W5K6U2tZQz7dFoPVv0hNSa+om+UaqXI8PRMyvxJtBYHbafZfZrt4jypdXDxoq9pECUMZ4nlJyUV/LacL8Eb5lX5oa6XKQZP88DwKRp3PooDN9GeaPFf3cyWfJXMHK5J8CeK18bw9aBRXMegMI+ylLowHkEmtZcC7PhzCamgmxnHSVPJp1kouayPphgsDLIz3UYFOYyBhNXEMBX3rJZ99OfGs0KVZ8xmMXC9Ky2QQxdOvsD07WTlWDSuvrdt7fFYBOuwdUvxiIqyA77OdSRboU5rf0lG3XuSeAYQbHrH49G0elqXSa73Fm0oQDtRo8i+uL0OL16edelIpcwGp4hSLEmJtNz+oPd2NgqNQW38UDVXhT0wofx6k+6MjtdNqkNPk9YNaN/AS2LXhQmQo33tKn+aoX7PL4MEOyPBM2w8N9P6oJH9JVS2Z7QppgQTB5Ialw1NcHMog7omZkjCY84qxhJnjceunOxhk/vCX9pQAFPZeGJ0YRMWLqQEExa10nTjU8DaJaTfdFRsfUU9gZpe/4Ml28X/zto/hAcxLcYiejo3FmqGMTdzd0IUH80IUgTePRhB7dpFtwCIqSbJDUQwscxEtK4YG7ztcgASv765BI6EQtfbFAbx5vhrrDgClIQmOMMmH5CzBIHuc0BjlX44idWQJQyg2EJ/ve5JopIkl8aiGCAl8rtvTSr3E6bZ+mfVcxzNsbooyQQBq0rEc6PvqNWtzUYAkfeQw5ffJajVUNcMdPsMuS8fEeH1ntt+k4L4DedpacSdflAj7857yOxJSWV/iH+qEsHiIh86IAMx+eF0aZQXBbXqpM5xhelwpEpaiWEcpqhvQADhU5GQn4v+oZ4rXIT+9YknARhKmx/go+alrXiggdXL5lvcOE/RxE430LDBn8Z1x4V842bSBzHrHJkbO3b5i6zHizo5kB6XQZNOy52/WOCSTa82oWrnKsK/yK4O5vMZ8hA1jy1r4uS9zxkk7SrWSNqoYPbGXVwj0Cw2N0myYveXUvvzAD3qSL7tv6b9xkBT1fLCi7uLfE+niRzUoUNM/i3O9yHZRVap9R2E8U0/RoUB8uCyLMeZHnM1wX351o79h1CFRKuFNpiZ4c5ClmjNV3saUrIXmJ2q0EG8zwKIriP3Xueq5oxvVujGM0hIqQZlT123l7Zg3ADMUlZu0w73uQlxb/7pQx+3KzmY02dpEX5TgYBy9NyVJE+e0VUu5THCS1zPD4GE4LUrE0tTUP9b9ErYNGJqxvtTm7H7v8dNv1DJcT40TVzJiaQzRifaB5fdecjQifCaUuHlhX0LbeCGzPJjRwb+zTLqPdSKVcCaPb6Lu2PjXA4MI7usiY4ae9JIIqoqvYLWLdXhlwp6gYK48UIZW4wQvCRMsQH1D/nZShkv7uYlQARSU1B2LiYaRR3F43l60/HmjQ/BmwIuSwagob5sl468pws7kZ9SQlUEVgBGMW1jbouS2NNuhCpeJfR8zKFfgb6GpMEDDGmYyBnSomhATxgXQYCL13f18Ppk6AIHxCRRVFJDjKn3GQFK0BsSmzswiBatahYzDdEB5kUofTUyM2XWYaxlFYTbijjoUUVQd16kFGJ8f3tipGMf/5w3Z3YwhjcvKVG4/z2xoQtUZqkEBAP2K7mQTMAgodFywhXVeUkLy4hiAP1JngHEb25NULm0Sn3vvEz16ZR/n6BknH+T5AgZz+zuBAr9H9br5rIgF/PciePw5KNk7P07rXWDDdFuzKbdG1K47u4Y8rWFO4W/P5/IdlLluwrLPjundMx46hhl92sy2YL1UKCrXvs5MGrwIkrymKisjvgQNEFbcfNv+47dn9t1m7dq8VjtI4aXnYbyRikRHO54BqGfPCK5Kh0FUsFFzlLNiEX6sNxUwaSvy2b3PxTmYQxX6ex0FCjBSNuVOAgkRWHoRBkl74qUI0fpojmVeU2FEYjefaH4PWn31e1toTmx6Ulw3YeOBakzkbaiMMEqKy703pOQdWupw1CvbYkEKP7PqBJIkjlY/TNZdDjFPlXWi3A3Jp9/+DcLfcvGyQjvqDhwPC0YX5B1b2V/ewMupm5meOok4ufANtnCAZmspaC1XgR+keWGmO8BR9W7bH4x6hSxwNid6gHgWOVPaGD1JRhatAlwktEsL8kRwjmEN3axC82qXAxKel9OFwox+uMKH/f/kAMimEE5O6OS7/7orBr3ibHgdRKDPDhkGa38hA/p320Yu4aPt4OCn5Y7gEjnxcx51KBzhVSBT5Vh7AvbQ8qQy+C2ylMu19EvtmEbeyhf3262VDa2qv6rbrQxsuzi9IoCbS8a8OvRsdRisRCKBqSyNXf0ScY3mUPBnEIHyEVJMM83dzFCNPEhEbP7VFbp/Gubl2H5NaNlA7SWNrhp/KNrF5do6N6EsSTvdmZcOXehBOXF0f/gwLD0gIdbxGiM86Z9IoG71uN9yIyigIB6LRohQvmiUxkyghVjZpsbvtUz83mMMLdc3031IE1BRipsV92sO+BnKG+FOINDZckCNRYhvwCoDa+AFv0Zp6Z8o0tu2smG9EnF26KNpwkywA61f0NkqR+Dwu6zFLbJugkdKM5BrwReesvcXdQ6GzyDlguW2sJusyjdU9xSRIzGwQOJNY6RLaRtZw+eF1WMwpq9TNx/uUFZCCjsIwQbc7Dmu1m0EWlnDGwekPW5mYIqL93NfBATIcMQaggT9PuMrQMOHXWr+ByQ4anlay/N5FRP2QUCKZ7355pnqUfDK4A0rp+kAw5l+QUqHLit9uqua9Y4JCuS5cAkTRHy+amezABACTWrhYrs5oQvhexHfbqIJlmhc0lRYIrdl4QFcPiHDsCuBxAPB4dB/vF4KPomKoYrcoS90TigJYKEzkC2/GI8A8Pmxb5/nKvjjMlySZC9EDl+C8dSVgNI+JGPIDrdqb+pYERZ+LNgkzND1KF1cnPpO99VFw++yztl01zgO29BZrBDUlaK2jIWX8GBrEMu6X9IENcEkk1TJfwp6R+EADfn9HaLh8H+hlhHSrR0onqnmG9DH+GhlFCUhPad9lVtjqqeUFIBPZKTAp8A1qP4+5K8vIxjT9BfBu+hdP5OZn4UL+nulzQL/ZnA/j3wV05fBFm+BOrcQxUidXBNxGItUInf778cdgAwwHW34gBgI7iNeYsJZcYQj7H/ZbOtUg4x59Roa3i6TK7+M5+DKziSXWdz5gb6RowG0Xr1PhL6FS7OPFzLQQRd2iw+tqtfaUhgFf5kyv2J5ksnDfErc3BHs2mZ0a4dBsqzvmLFJWAIkJZV/tmsRvu1fN7WHwtFVX/BJiK8oW6CehdgJvFHFXpbC21C4J5AtzEjq/S21KfJRvwhVaN8MXdeusrcgmwACpEujsNKdlF0OY3ZIkZQWI0wDnbeNKQcciZX2zslqkNL1JOdjbz6A3ozQ4uooIHioL7BW0bfxHySafSrnyBcjSrPX1vY28t63/Vj+YVHX/4cx6iRtGefx6eSAb/ByWMvEnT0DrnXzybI8QGGc0MI8TEAEGhveEqT25MlD9oV/Tna40218eFqDjM/HuBmoTew4UWgk2zAkFIMvIpERsiMsvoI4rXvIo4uqZO1gji2IRw/E3aDv4sb0+/Vg1gK6mVa8bG3IRniWaRY9oepnpVnOJE0CDHmnedH5BDkPZXmOpPzrZcBl8mwgSqr8SttUF5eORUxx90p49UJMsfxqLqFbuwXSbuBE7ylytSOjBnK+4D0PjWlDIn2MkYYfFk4avEYVy46+fmgYktqb9LxbIkvcRBR+L30gmxNwxNRR59bALZdQJkeeN8PCcdZlUk73sC+CSmVmecVgKnDoKi2Gw68NLCc6Ky+6IO1A83lJSkrCDNlfI5MW4yNax6jJ8MeYXwuzo6kxl6lwQ8YP00n3NxOlkLKRQe8GOnNSzro2aoffOndB3QYWKlZXl4dBO/b7TdBTkjB7HtErfV41ntTqKf1jaPyOXiDLSZkU8VsWNyqZJSMveunJ8MTr5HDu3cdcoSrMLvKduOJllXakTB5qPjCAzlMCqpzkoLchTDEqSQuooNRkLVsu0SL1anM551vEIc86Hfu4J/B2Cy5waJVnb4AqhWsHjDF7tE9NL31eXqsA8sDy8lOJQrstvNH8XX/WvCwEtt3v0HyMfye/K2/yIho7vdfwGAKVW+40YZsuMD/lFRQzFM0PRPsfeAbR2hgISv3O8HM/H7kUsHxKSJfsVdAidw/gOV5l9yhSofJKf3Bt3C/ZwK81FQoxdNGW5xdoBl3HmKRrAIq+pfzCqjd1/Hmaovbc7PiiZEkgpPpu6Tg54IfNsWij5cXJ5eN+8eoyTxE+Tjw4mE5hAXsNQAqNBwEezXOJuMk5nuqdaG13+zJ4IV55whnO7OG5GH/0wRHcq6W5zOckUVhmnRjTUtXTRFyohCVucADP4pN12XiFDGPhpkBGl0CyjfQR3CMKwfWggbKnWaddo0lDU+v82+PjTgXG1Chx13SaJA8LbRSzzDzgUfXSwZQCvooM+8XB2vfX6k356q47SeHb1S9iGFOXm1o4YyCEmBt2mbQa9ptazWSnDBRT81WgC16I9IgOmRbrvrj1bC0oha9CICNrXJenC8UAETpUR3QEnlDSIRvmKPs780Mlsm2H0KK9Ta6pv5AtyATIOp1z3ffsyygwdikJXmyKmiXacZ0sLfc3geMv3ixbvgWvRdqSmQIaWIx4mUi0IZ2fj9NiUHozQ3nCwno5Y/3iEHWll2U22HkOgnDEeZY4on7Han41L7DVGRZHf6kWCbjJ6V9Rb/x+G/6REn8RaIJOt9Urgq+BKGIptRIhZ3gAfaikKeK0iJMo2uUywyS9fsr2RgCc0KGG+zrkB/BWOfcsTRbxrgCw0XWMrwhvFrbo29lIbzNKSeGnpSd6B26w0XuSoFCIHipADYqVPKIZ0ziQu/t/2EqsEFPZ+dch/CnzQGe884x8HGv9vdNk84MPhf9YE7sOyW2rYA7pgc6cOSUhNrgflBz9qsVnVu4LIR4bf7VEa8YEnH2ycw2pRT9ujocujlaPFBFGaBgamFJS0aA3xAUPy1IVorVUO/gjjdudKglS6CWWfgaRVIWYURmL6b+Lc/Ta/DVX8fe67kFPgJEep9fKRZYSgZBP1zqgt129oxSWG3Hk/MlEa3N0z0AGMXwZQnKXcGOywIaPBimehmOLKcb4H1Q6DK8ZIL8D0a6ZCYS8yyK8ERK8w9Qp7ZsHrdSj6tfXpMGU3OuhKAgX/P0MtLYqQ4vYxTb4l1zOydAlX20My/FDBRaJ4clO/YdCx4gPwqn72DoaGKXPWHH8jHp/dUIg1umb/dm3HdmxFPGSEBrfE8FdRsoB029PMA8RNm171bjL5ayBX2eI25Hiqn1HNyNN7ebRLW8t9g1VdlH9+t5G/41mfyF8ESGGs4BHxCdlINuCchxUo2PwbnShbb/5FOXYPxz4STKRWVsxbRTZ014/48QWcJW9hdNsnBizFEBHuLjJgN5WkQU1zy1ph1f8riQgEVtNEXsv7yZ24UqBhY+qr2grbZMXyAJYEg+nG+URWl0kN1ArqL4pSQ80MVo0oZhEZwxLQunKQgYTGiKV6jmJtd+VhwwXKL0JKtnXnHEgQw1wd0mEjn3bMO5+5MCsistH29mFDFF4jXUSH8KLGKFzKaqyRXqywvFBB52nF1JOGX1xB2GBKaq4YrJvPXQ0ihSK9LiVz5Ww2DdKTr1DpLOGW+RTa9FtWT9jwEorSyaOr8Cj0DcBsaPbAbc/RoGdg5FFip5q3TX3prIBzFsgm8zU1VYD6VHBquZZBEyYMnQ5rXxI1R8rNR2UU94F8yUa7BjWCd2/hzGOHc6FoE+tAASunjVL40yf+Mb9zSTp+FOPfLkZarqzZ23Ew8SLDK5J5ClHxLiOgBW/AaXYknlux5iAM4OzfYXCO7WpxEvs2tlo2LqdYqmqlvFTXXQYcctRTkoDrZS90szZg6Vn2END9ySxhnFU/x93skcnJ4aXYXW/pyWknX4Zuo7Lc8CjN5fVoQvX6CDURsTD7AaQQWZuJiQu1XBZqQkwyGmSn7dsRY8q8E9ExR7OEzshGq01gf2jT3Hgfqjub/EpcDWw+7AIB+WpISoRO2IWoiqYUcNxCmvepc9qy1XgPt7RehgD4+7+IGrF8W2xodKnU+mTZ0hgcTqr8wihiZ1THn56QiRlrRE8wbEQ6s8eeAqKAHVFX26Moti1b67dY1CukaJEpd/DrDbbzi65scOtAxy5xZJfTY5NDX7NxXf5BSfhZ6EScwuL/LjiyivtlFyOC+464AmA0sI//NP7+MX5yDiBnCuwDKq2q5AIvskIaeItgBd08brb62kXDq6uZqv5quidGthyr6gTAtZprGi5FjDBLN7Q3QOyqa2iIxePjtPP2l4VseLAP3+kCjILjhzcD6I9nhmOY0WybkRcOUv3ZaiHYKfrCFUDE+YGw3niE+btm822+bQXGHfgpxXeZb7qjnTJVlhU9OU1nsAltBf7D5vU1XXaCHi6/4/BrebzDJZYfIqkMVtU9OUcn5GDIsQqmkpIETRFQEOrjEnLUE5quRWw7gA9umgQdJZZrSOwl19k2VTSDj8WxFpFvIDFqxm1gVIINK0d8CR8qjYjWsyu+weuIxIdCoXIgCqxrDDsnVCAy2gCBczG/u5eSIMmS5nHNgbOQmekczLUv25BHkON1AKu8OL5IIAgJzg8q5xqYy9EASiI+JuDEo2JDs7j2S9JSYT1R7Xu0HBRi9aleVhXth7TsqFmZbxiwbryML7KNjfE+e8I8fEFplliNAWrMlrG7HwJCcu9nTg8c7Q/REEhXxBWs5j7dzIze3Tz5TSO+7K+8h9PxPYZkgkIe0HNPeCpUgcdVuURx/iWIWfqKO36/8oeobzHQwV8ZXxDKgJEvfCvMNn0XLi4EI+LgF17QM5wdZSURnDMcgr/mizLpFe8Yw5Gwqje6lrhyC8DH0h4+PP9S6SCylYq+cjPFiEM164Ig1oumvx7WdPzTJeNbBs+VPYVlB1pa0T+RhwagrmfrOVfrLK5gzEC2Q7njVJtU+RwG1memNXx8l6WZM7+7poQS9GlPc5LRp7/CWvZegyNUgvft+w+xzy9mmK576E88+GNO6jJZBpIKEnRIysTlWG6sLeDAXyV7ZBCHjbbz06HSNf0AsPqDWqTHK5n0xbLnPvpiH4JDo+S8eYWDq+idkav2+gDc/zy+snqPiRDQ4RsEo5CKHpgC2/jcTRRfDm2VEiGXu5dEP5mHoTR8w8kCee5kvziNVurCORVjTUnTn1seKIfTfwQjCb6+U2g3EKiHCb1s7AxUL7t/XKxBKbr2DRD/n7de0iO0E2rMFcE/qaazOUGz2msKRYlXuernwO4qJ0uPXgwXnjck5RjNbWsnJYeuPNIjz29a3mfJx/SxluCnVr7vpsR4Yg5CvogIIheD8ahbK3+ATLbcy1bx2fPQXHBGJJMpLVe1hxBKc7+/uOeB6VkTlstg6Ah4l+INWANguzOet6QUHjm/fTxNqZRZKciZ5wXWFPUMa8XWyRwUuam8XkklXx6U1FG3/aXoLTrS4cvEHTKSmwJZCOZFhiScpDv5t21D9IGPmGQodvnIjG6J0bEyI0vePAJFDKMyUVgOol3GIhpXuKLAbzlno6R0Dmwu+cZHXkNC2J3FQ6Sx984UYRmiFiSTGy3bxqc5Hr0WFmz5gwYjqO/1tg32w6W1egi9cFVXlZ79V7UT35TtTlf+9aE8AorF+rvIcxuwRFPDpgrMUm0jH3fc2IbUDPd6oiPwblyOHvV1bDAuZ6JzacNTgytp/vesTw1y1ep/8GFSQ9KO0TLOJA9wwTArxb8pJmulKw8/cf15LU7JsBnI1IXEXHTkhB7/DFCzDhwBlrX5ry2BPp3ZUaOC9mDNnTCqD5wkYkioBF1Svm6oQL8PdsYgRi+MwpYga7OVT5VPO2JOA6HkhHatOxwXN6UAYk546OY6q4pWN8rWcborXNVeA5SOmf2d1WFW+VPL4ZNh+sXMMI5kFuRWYu5R5ptZt5UNtofHloIYiPBuYbg+MkqOQeCwgYdLoQB21bVFyZ+dIzY451OCrRf7IaBHRn4dsViALNDRTCOoUpB6E8K22td3C/zcsydIb4o+Z3YYvDPWAdmbV2abe0nj2wDETqV3E/SYH+n/dN4eIh64w1JF5fwH1ZInqtUy47dyCX0PWxzvPqhpOLYCFc3jkE7XEUGou8Wvnng8locNblPa7tOhRhfBePvfsY/Xp9Iep27w5evEWg7Bug2T6aFlg4VpRnHy0BaDfGyiGlbzPIeN5Xyfer4oiQLRG55tgQ1b6yW//s8iPnQ6GJnmnIHNc/duZb6tGB6GHAunj3fyWqUUuOydIKBR17nJRXzS7wwgITzO51S6fM5FnDeTMyULIoHETMCThzZAZtVW+1yQ82g2t3FkJ8gfnGL2J02VVK3c7sa6brvQaarhK/OvqPHyyZMWRx8m9sA/ZpjsLP8F02NpoiXUZS9nIFCVa5qZ0WDq3MvhtYGXr+hRj/03lBZSMo84jFb5Afqu9eVRs7pXrbXESjUHKFJAz06v2CRdZR7B7o7tRA2+h7mt18SufjRQui5m8VY/RTEToHfWIBEGPLvcKSaTeKpPPlUJ/YQVeKhDhYnG0a/uyHDj4ySn4OFYlhI3Ve5MVAHdN7hP9kzMEE998hB5Z2CxYZIk75tTVF4KZjoK+Rg8p7iBKFFsZ04C2AHvFm70znUxopfIrs4bwa1QvXNWF1LhLrc58SVTiNIiYKGnGhhYX7Ud1d9z9mTCbhzt0btD63u26y8qP/zC9l7MgzyQzhZI/wDGMi+cOiQRZavWb55Fdjg3SGJNw+4f8GBGKpPbwU8HhwPAjbVZgaGxAw9tTLgUwVuyV0CjYafQ1WZEJhXmJVzN+CaOyXhkqFWbnU1Miau0RIv2pxBr1pEmL5CnZD3/ds3sGuUGmp4YFOoHIHfwzPbCBWoF3gMIwkgMy99tpnv449hR+S5bl9WPq23n7gpwhVU9Q7nnMS25e9uC/nXMZXR+KfnPHchgdHyqfzckJmdrz9eZ83EpB6H6iFEROxgH3g6qTFyGqsXmYxQo+B8gWQ3MJBA2kbZHrpvPFXcyW1G2H93BDG62YhElWA24uApIRZXXCfoqZPAa2qJXpbxmGa5MZ7BnOFPVVP8ZJEAlhtpoQ6W5mZ8w94iKFX8+etIY0Doyp+Dy8HhwCqguHRGDONUeepTedf99mDI7OHquCOaiMJBXccX+jrf38CKxDciR2o3zQEDrgDRaF8uv2R/XlmNBh5lwyG0Mke31AEATREnqwsVD0dNTr4Rr0xvOuoNDyDUrFNA8us1AxWINBc6MrLqR2j+eI9RNw8fSrEa+1H5zPxk2ijG1gzQAv7MsZ0aSCuZ7IJjmxhsjIpthDrcBvZSzHu7EBjTiqJQPGZCUhqtE26R1+afM9Z+9BSTXwDHs+nOoItkmn8azHABpLQk3tEiPogd/lmiz/4VGaYv1OVfBT//NCR2rIXqI8dE+0IGciz7jmz8CKdR2//ScbSk/yr9iN8S/asEp+bhkllGVuB54vCJA4NzVWiIikruZD2xPpU93ktkxG6gD7Rf8dy7ksY/emT+976lnqAakM+hmI06t3/r93dRnsyhc2DrUkqEjoY6k1KLNfGMIcmAxtmMWL/a2rW3f3sZvYRSzFFv7BjrqxL3xw3mFLxuJw6qprBrmqfxYK2iNyjqygfJHbDT4ZpgUrPTxuUo/a2YFnkejtfWjVgaohX6BkdPYgmMGsWY4Gnr924WXICuoaHc2vkp/nI3V5eTslzOondCQgmoh7Nf6ZytQTbFEexmtOzBfqb2+L+bo0alBpT+J8mYSIzvkxjG5itKKJQ5IShJ2BJnbcES/+yV+blO5Qs0gBPc5Hv8JQ/yCCPsvZx35YaU7+x/grfDiGyPTYfFwNk4Wwq+LSH9lAeR5cqp3vh/4M49XWc9ZBjiOmLkZze4126DMGBPvxKk7ZgYMyBpDxROmSZ7xgewuzRHK0OEbGYn+x2As2wnp1YGPmnD1/73Ql3pjlhgncHeU6xmY5NBqopcExq48rgkfV/kNKhvUTsO+1Ub0fwdogTfiSya2Spds58+mm1ysgCWz6sa6I7wDjKFBYZDlxYmDXrWjNnmeuiNiG10t3lb60z7X2n0heFAm2Vbps5La+0gVz4Yp3x1OHy9v7lR9OXTnFANxUNlgvXTy8Vze0dO516GpshBNljf6jztJpA9vjlOf+bmnBS3ANSBM+G7J2XonbLCWgOQ5XvQ6jSf1MxNdcvVYsZBLkwS4RGP0x2z4q8sFGMdfiITkVUGULotCFOfeh/CPDjKz7v/7yYuOav+xnpgSxUpszq2OKDRMVLmJOaC+dWmMtiaEqnsDEBraoadUNvUUJ1Prqe29Ryo/vVVa45PqndjqjgJrUTtBRSBxgfxlJM2GLUMOoMXB3k5j3xdN6n1XQeCxP5K5FGhxsYFyTrqPOpuceDcdt7vWPhwUBcr3eWzPQeFY3DYJN/cvxiOrs6bo7fmeNrmyxIJQtmIxFoMMdn5JE6mcUfGVLcC/Yf48Fns4GKwpJmSIItpHdfpOqZ/8UpUrcs35wklcR9opNFyH9C9pF2hmD0QuN18GP9HfRHfKrKhZ14W6/2GBOMwylmogcBaWc8YXTbBWwsRJnyiZZn+bQrwFJilEv2eo4s1rSHkIXfyZjWalBW5Jh80L0dv+/S37xpxL2BiaHo5fsiqFZ8zPNgVBiRFMejysm762piQOh3hjtsSZMoJkySxYpH+Nzbtmj8xaHjJGFENRZOK8xGqBuOC0aPSBTnuUbPzlmSe0Z7mknfH+lRaYoZ4FaGJpuV/saL09LlBnBdaN8S6fmEMNGgK6U3rai9d1CONYgrkORxgLN4UTgg7tD434NFiwJqhhgd+0dWivJh8fAtzcuLqBsslBjAYeO9VUFZJxGfvTgu+W2OFz7mtWvKg4bLHgX1yfLQRrDTHpZ2PJBMW2aZbUrGiKw5a0t8MYIgQbqxd1FV0EsbarvhLqOXhbk6RQzEKD9F7iIDCuz5UBRcmq8aDcUDOFG1fjbweYqOHDli8SbE/tqZpAUzn7mZZXQcTGgLNHmPdvrkt+tzNCTx1gz5mnrnsP/vFQYoSNmc+aQiSD73xlKBz+lQBdyuk4lvq2rta7bwDkgQhxJiK6+UQaV8imhLA8RCt7ucUXusKYUCh1hXRHEzKgpPIIGpijo2RQTg+R3vlh40LRNBPsId4F5DrRq13DVv0ewwcjyP5/RFnfEWkNsDIcHxR7/BfFJf8NDtAeVrePy2xANClor3/8TRBb1hl++qEiuLPSn4MFwYvq4r2+aHsTjgK93SRpkfYupQP3oIPGHNZXY634Q/YxiK8BEHGxTaoMDi2OV2Vw+drct5RlSwilbe694vC2MHHTfX03grg5UE4T364WVEnT2K1rP3rlm8EBMy3Bk7IC6WMwHqc1MDmeQ1dbhG/d4ZKOk66zK9Xtlg/kDa43/KRrbkRAhZGcIGfr0/xKfKJ5UNTr0xIklqzLNiQ94VMiOGY1WRuo380zyxwdthV40rCX6z8VCGuwVz8DWjx29c1wPEUAzjjlJ3p0BmWMMEiV/zF+bRz8wsbHRZHsuMe6nvazE6vxrVlewON7n97ooA4ypWvJZC142iEn8YC8OUL0BllF8ptN+O1XEVlO9qbnzjIsS6AhFrmRrUmEZ/1npIYdQ6Q7FLg45MRFMh33RIG894fowXHrf3a/yw23deMohQTKfKmxuDJTYXuYTEXX8RNVJyb1+M0DPidU2Brs2b0JpjEJ0hZAq+dhYUJZzAGEIvQj5D+D9ay/DtgSjivHbAD12b9DBPKN8LYLz6YA67tQciHNegRXvqTpqni25OxHfd1ANfWZbWUAqT3z+mtcBuIqWr8qVvl2O12EunzkVPMBIA3lbGWdFW0BmBl1PAD8frAqVmP03iGDi5LhrXzuArgnJzyQ0e8NAm3fi4ioeX7upPD9AUrQtjvDel6PEadzEVmGInm1AznR/gjzmr1bMpdt/DgfKhNk9gSsmqYzIgi2Dr8o33D4668p9Iz4MJ0dadZ5Q2qGL9vBkVPflDq8BCZh6xjvEF+e/fMtpCrxII/u37cf8piF57+uO5vA1aeHoeTX7j8f83MLdAu5Zy/WOpGmRIAAimxM0aoIq4Q/bYa3DBga2sxOMbwuv+T7TPIeomDscX+SsMaBUboi3YYxG1HW0mD+klIUwwybUP58b2w4hfvnI7Sd3MkFulIU/351sbPJNcD2wdh7tRCbJrbXCkzW8HfCrwWDlEmWkC6443xqvIqIfhQiUsupql5Mkv0WmbsMGuToCtrgX5vXVcTw91xClvKl2XnYeOV7ftYMEYiN1iCJXA0nHyA9NDz02JSYkTRSWY4YSwL/W9JBuN7MQr4v+3Z7yBGrowHxdxbdAHHRvxa9INrjTjxso4iCOXXpo3yPbGCuHr6QO1DKSYqaCAO+CD2aQKWF83YI31izX+0dORnlwSoUbgD1uMZzBBZD4jFj9ZT41eLH1TSil/3SwSUIfdz+jDgYTB26CCNXBaZRPzVaSTcNFdNKQ8Kf+UtxantLwHaLNWj1fvkvLNTgEbZrSD8RAilH59HLGkH/qkZTaSyna+Kd551PAi0+zejLgqFCdTWXQggtop+epjP1ztzsodc4N+ygdQ7nUXcVuUNURW5b2vgIys0FSccMZdyeYCF/aWUX35k3Ye1HxJiXAGDLZm8EfLW2FUYqK5csABgEkJPpaBljoftd47BMAAOG0AMS8hK4+6uwkzSnD9CHC9W1WSVaU8BA4U0xGW4V7uBBs2xS261oIpUdF+zqJSUlVrE+cBTWZis3K2XaT3RvUlpYkjUOEmO/ngRyuJWKk7Wknz9W6Z53pmFvWmeoNVhpANM6mtgn9nz/SjFILJNyC6prOYVjB9RoawVQ1WIpIuK0XJgBvFQUaQaP8I8nwAEK64GLwAHcNprYkbyzyAW2dfkqL1sUx4m7cM+ySq/Rhj/dY3G+XzTEtzHPeqiKwCDbLIfCk7Ay8tuiuuq1ZzHgMW72VendsR7bWLYlaa6w5LNUy4T6hQFmO3YsIDxRoXfLoMaxNo53/40TPL1PMyH4L0xsKPZS1eAQYH3eUd5cSMSvEW+V0NbOuKEM28icP9yOUSFoBDntYXmRt/xF5PF+UiYaW06/0/ah52X1T7JLsCB3rFlU+BDdhFpeb/OAUesuhkxu711WyjHuIUxhyNdNaljpGA4InxTrR36GVY+TgfSp24snS4YqzMSOiClzE/ZSnNHupWQ86IxUuFHS8SRKHP+Gj4tKHoQSVmYlgctsmi0M/AyZd/Y+IAHyjgrbbjrkHQ1GshkxA4xzAT1/Dp+QSjycsCdPcmVoldoMjEwK7lS44TDEl+gjoUknmioO6NYfUGCmJWjzMZkhhg/8Zw2JOG1ShsWXo9ck+hN6kB0TAwkVv1riZR3N7Lni3zUXLKKBZNalOWMYCDM3qRA+8ARAdaRyLIW47tmzGOe8Fjr0iV9UvyeosJoIZHu7Jw/L7FcOMx0X8V84UrB/lifnoS/f6Ze3IThr9z4zVJyLhRBAyJE4MNOjbIfIA4tXMP/p6qz84tmo2xSkroYxlQtZDcLDuLJjI0AXBAgg5nMogbtp1zx5BksUAr1WUSAtN69NcF+KojEg571KxHx/2DdFBAIi7k83t6a8YRaVXRUvdx4iFErJdM4kAdiEjDraaOSpJRD6YNy1y/NcJlXukKlIqdRMOlPqg0FGVtdTUi884DV6sg/6IwIcs2eCBlVLMtJX4J3yt9+m/v6hsISgthBdF4dOpD5uW9j/8BGRLhpLHL2xXdwbj4zBbKiKIMeGpklYBcl6LIeEDqrCJ9YbGWV+fQmuoQlKQ3Ksc5CiUNtdzhL2Qv7FXRP6CswTn60S56MEUUqEPbGFzrOep+0pPQO5LohTw7xuoHKvvuoNrvfF/ayfEn+hpam7P0kCpH609DsRIFjOMOPCjVnPzpfVEKR0en3z9BWl7G4CGHPuPQMbUGT4xzERZ8a6e0ovZY6bCO56WMF+7t6Iasv8pZzd/HfLC428R2PYEzcPI9kF1s54wHh3+jFuNOkbx9xFd6z+7Ar0wVyxl6ulnqs8tYBaucKIQC1uxC0vLeWd454zDooTXPjOml8qv/Czl4yYTP4HEFaaU/Sic0XatZSpTn3g8KzVXOwxjSePyjgPJNMEjuU6rxcmkmAhBnkZ6lKYTPdecW6N1wvFC0HMUuuM+zMAADwmtS7sgtwRPX+CSNIjJIibenilcY4kRprTJ1L5/sJ2Q450hzhLHxaFIvf7MxiqNB/54KlS6qMXxkV9h7cE2RpZLAWbhgLUe2ztwRq3eFqc2adUMv9zW24a1TnK/rOCGAww4wqQF/o/N02iW1lANwLxgkvzLSPOEjTm1Pb3jlrJB6TCLH6EhJyvAFVsFqQ3AFW5Ebsaj6N3On+A9ubkmDPMC2UGDlofyT/EXhe7PMTOmr/V69Eb9yV0NW4a43necTAf4svdGTykdYLCRcVzX0QuhkpFq8s0R+CT40/gM/xiXhKTJmztEmX12Dh18TsalMgOfEGPW4IKyZrhkLKqrwfzA99cmXSNA/W5gTItn94w9ElzFuSnFzC3bNskOTM+cPTz1Yu7OmYC+PHpJCIWZqruE9Ejqa5JupvL5gMpEPs7GDH8GdvPuw9lFJXViH5kJGHrANLyL8hX5D0HAWXpSvI92ODNYO3jvRVlDJF2RkmcY6tqcJGt5Y9UndkAvoU3tyBLl5Obc8pOoTYlfCV7XCuMJx4jlyjKriAT5eZueRt9RyTMldghAhQu7pdWPJzcBx0TvwyNCiV+5sCQ/wIBC7ijZUnYCWkscrHMR/Asmi+9zmnTPS35JQKwLKUuQeeGRrC1Rga8cSdW8rCa/zCSnXzZ/4lXrciYV1DTjwv9GzcQ0gHp/0cggCeao24FtRL1Emj8iD2Y1G+IP/VveB5XQn1yMWL7BZSdqIUEzoHXpjFFA8RftAYphRxY2sM2s9D4jwaUNh+2na7PwW+V4PPkyZxxLAsHRMz6Y4FJpK7H7nU8ADQ91KVC2cFGM7coHDaweaOMgjGc+6iYcqEzOJeJC8QDukIZlWv+7wA4Bp54Sws/37WQoYoLZ4V5BIbKeihqJjnhMrcMJuWnW5ENqb71arYgcZUQqRbMEHd+Lzfw50QDyfOWPD6xCzDDwvzEtD3u/Wo9tYDNK9XaQdfLnzVxcaNqqpW3prDvyMnLqNzn8byhIYnQ8RK9tzrBZLHZ/yg4TEcVy+EMVp5jj5gFFHkq4v73dhVmmhqdFoSfG6FL0OG8h5U6eT+J98tPYbHx6pn2HQZ02TE940hghS6IpYcTmjEbAy78adMTdngXZHviDjJUm3b2N0HKLwZdYsR+VTijJNTo7jjFur6lWdSn3t2zYp6ikBI3yx7tLOAiY/3w3Nc4XaTfjW5Kl3sQoxiUeiT8kVsZ4VRmTIZO9IlNqZxF7NzXpZ34l0LFAL8U3nxj6diHH1W9gFKuQXpiMbAro65LLZ4tiC2nQpdsxYQQN0WzG0LPoHVOuVDRNmSuxxKBIdxUoDcnRyl62oO+4y+smxsrCHNoDF30NuCjwfUeMDDTeKMllQqnWonHyA/lkHd2zJNmIFKfh1zDHPO+qUS1ysAdtoyi3s6SwZQAD3yDru7tW48/pNdRL9YLPq5jtmEnXKC16cDpH9jmSjw9t0IockDJhOSxFRGrtrvBYnB+IxUM/mJNjF17RUyJ3QL/a5PF/1CiNZlx4D9ar3dfb5ASQdD/9iAxi/M/074RAUI2KZV+baKxNEL+CcSwVI5+TitoBvVFdVruDm/+eIVixk9h0pXhEK4Qrw8yo790UZVmsuCwQQVs1mHUzIMsiFjWhAi7yzdynJhFLrYJ7j6uaa6kXIa8ZQH7Oec7YYEaXbl6JMCSc2tH1vCHyqq2fGBpd9d7KgyWY63HcLPGzxNv4ltVWzUQBWJz3nLPTLkLcmcTUuZLh1uHo0cVz/LwpKl0HOjAnDJgmC9khIvvA9T+kpiTxT/H++r+XkzRX4UQd8OT1pGne2JIrt5y9Z2uNqW4/dqMs8pwak5DoleyQA5+BY0a7uUQf9qLrNlay7O5DBh/K7HmVmVTQ0WDUUkUXM4XJRKi2TV+WtgN1a0f9ISpG+nZ6lQLPHxvy9bQ6FX6GsqNvVaE/4UVjJKOSsV/z7Lw5rkVn8BQd/Qu0qGNXAfwDZmTOcYVXWX17m8AlaNhBCHKBCpyArp8d9XuadOJ5OwzdivAy03RiRJCJY5BcV/8WEfwMfIeuaeYZYb7gBAQb3mijla98M8mf/5kY8KBMkwClEFmtE55xRzMSvAds6gK+K9/YNq705oT3w93ssWpcUREFyZr35Sjzje+mvTvJwZyaG54MVlI5+Y1Mxp7w6w6p4zU9jUMNG3j3QigYxTKp65zi7jqXgkEdOAfTBcAriUbS2rG5QVzp63g3sPAQyrNj9ccDqunVIB5yClwxWTPdsOSdHypjb8tHz4pVJpaS9A7A9V4boWT+CQyk4iMjnugL4KaUdmAfIGJydr8uvRr+w1/hCmvWZdyRbBQmxVG2C7KUUyWviJKVe+3Kc+mSdf2bO8Qo9TidN4GuzeY3O9Z532u/gCipLFf2YTE28IeYmoWAogyi7lRf/ffYfafHuZnhUntXQxfW5N1UNmlQkkGycXmkqRWQHWWf3eaxIOEr6XBZUmEVr/Me81iMutNvIqvNoys8T+Rqq7+MnZvx0TN3xueTLfaECFMJkcu3HjPTKzaYXbdePWufxzITgGlvgb79bmzvBZ0FhKhkh4yxxKrCVMSE2KXd3uCVhFjAg9ZgFuUbR15kV84Zh1rBNpl7979Rd1zKdXCGjiMgfQtvWzs1+bYwKYqL+XO/d4mBE8ZUMNF80sQojRI/Teg/1Y7UEh55VA3Mwt21aFIw1fG6SQzvl43y3LpT49tCx7e72XmwvyXUm+kYKJGTN6xjjXsv56r7T7xtNmcljJMrM1liyNlhIeK7tYaFs3nhGOqaR8Cfu1TVv3VSh7zf2pghipEIX7jCYJjvaqscultknnRmelTJbQuHVWBSO8x8UdaomomYAZVt09FE2PtQmao3UCYHoNEYYj9F/uXqa0vn3RGFXa49O0BG/xxjWmV7apCUXDxwsM5gxMTwxBtceCnCuIxqbQwf6d03+XlH914nHjEHr/mSa6dj4oPFdak356DQTVlAUjbXrvVv84Auo6rC5Btxl1NyGcTdBmnZ5e8nHUSjovrbm9sol+g56FbqjFgDpYmbRVEb3QtEKz2yzFUEyOK+0Vt+cnxorFRvn5aCZalf0NHDYir9SuZojZ7SMVMmfpmpW6c7I9SNiGTWeNn6JWpnj+gOXp2fyeYN9VpPjIWFcdMxAx36Y2wmJ7PbFcKVi8Glt+MCjy668kBzEtZsmGZYvgD+6ThhEsNKhZqUoAE5qh/1Z5cs3kGxgx/+mu83Rp7fKVDruL9CmhTXXw69Sh0rbgmkdUBKTcnl8/MRVn4FdRBUzW1vvP9E/CfzsgDWmjWfSeMdWjnRr7yvQoOUKcVnKh4QYUKsRv4ecSUJpVwedBo4wG0USSKx8cxehMtoKf4MaoMmpoqzg8sf0LK/VxUTO1p3C8PANIfogtnx4ndIFb9cRctN/n3ejo1UyB37DUFOsJsqpsSdwHryGJZ0KcQ5YEvHZDJXm6jaQZSxXLva/IPLkm7wTbVTyX8Zwr9tCCq0JBZIdWE9J5lc0A47Gbua7CqWWZZZbqDuI2EJNT5xGx9MDvSknolDvaTFQOs+1F1QB6wJLEpC7XpA9I5m1mszIk9SIA9VMaFuffN3s83YbZqQs5LVNplAFklNKg2oDfJsce/saMydNTTuyZzFGyAJsskyfaThWVFiy2zWUJLjb0VLsrP85kyOTgj0IDoMNCMQehZh/xJ6SC9+SV1CAHLcdoSI0n5ZpToxHa0dEgTmVXSCYz2csz/XHh/4cdQ6l4P12gwvnr1uiZiQASmIzt1EybAt5IYz+Z/Va8x+MJNi+4PjlnuqGzUCpJbB71Ll5rQRQjQV6AROg2gUiLbiE2ri2z90oLTlnT48DjDGFcxOhclP5TBwOFU1wIYBug/jtVgOyXGRDxbqa8AUa4mDh5XFLoZiqOPbDPLfLqhFmW88ahyc9hQe/ZeovAHeG80CynOX++XBl0S3dMONU2sn+dbyWW0Ss2LYrXu5+puUBJIMJXEO8CNp5g/4pLnk2ZqZ14IOfKRqIHdSicON3HBxfnL8r2yBH4bJ40QMVa0Ex4cFVmx3wb7F4mfaDyoZEyBERLvRA0gyC1eC8JINK0LynSm8gZUCpKBldskgbDGL2uBqz6FMabFcOcicWNKxR2PGljzbKz04q/u/prPtYhoYhWyDpJTQIPgjYCt00cmw6YfrYjBKGqFV30gwfLTE6vKp54gXeQ9RUr0PH+0k3fPzbwDm7MJxNaqQsuW2qUeb1zhocwatbWRz5KuipQF1I0MYLEgkfXgWNVy0cemDHCockgh/j8HA/v7r8LM64w2KdmDwOpgcCEH0eQrzJQgKFc2HcpvI1Ey6qkAFhVSOwr/JwseYffYAZOD96pobAyRlMwKzl/9E+lglLhU/4wxwb5XZUI3GuyqmPxjaftGuEq28ziZE+wr+9NmKOGIyd4QKI+oT/ikiqS2jrJq5dySfOqtRi4TWhmHmaV6sGf+2PYToc78s/ZCD2YpujDA8fOpSsoHdHZbylOQqk2W7sap/pxz4N5Ew13KMv1lr1hI2E1Rw/KTLtcj4qwDqen/lvXc8hrGgT7GX/+YZCl6m5ejALqreFIJGP9od0xGVVZ/0TDuvKnoYJTo5d70ecAkAwl+EDAh3MgsOv6uQNjd2dMU0fEbL7P4zNzBsDzeoMYNGnRpBNJgBfncXcRkflfQ2/jJlJ6QMBi1coNa3Xs8KhrThmiwockF2EPL4FBUw5UlW0h/LkfAuN0R71p87HIg5Mh6BDDpoQ1IS2Tg8CHXhuN2FXMM05pGdY9hdM6+pFIPwAb10MgFiE3Wqgaqr/2ox16yR+f8Gzh9BGgZimWfB9Nctl/3kSSYHrq7ya7fOLPrhsp79oLERXdB6mEqQM2K7yg8UfaVs9gpcFS8yqIS/2ECJz9yrw6V7mYBK24InCttqI+UN4Kbqoi1UcT1ePdR9fT1oxxl9uDXR1dwvh33HfIKN26shBlPYGgaQe6W4CrfVN7W61wGbqMJ/M2T3tE3zWuthtF6sdy+tScFI0CUATBKimhh2rmXBUjHGWy6X0piI03kjx+YW+omIiilQ2zv076J506T7PFebbF4rhukGSaztMqpSikCqvokcE7zJ7ksTyPRPRPfuh+4Ov5uUVpATAXgZWIR7qncFovALr5EhmhVNVJlpZ8kMSNmXMlqudJuAmHi5SCoMaXkmDNCLv0pCJXDV1NqGvEurNiWcA+uvAAIEg/6rHZUDx+7qryYKEdEmBSteM3kgVvRzGmNiIhknYAHLojMS58tFqDO6CVWpyXcfD/fmsrUQImYMjP0rsLYzTfKoLWMYnLhgNOLaM+mapQ8MxFEtFlfNb7L94tbwRQC6QF+cV4WpUUChqRa9PQ6RpM6jnAZQLTBbvND6hBDTA5iSsppgcsbxHIcK9AUaholoNsCJpQjQxpP0Gs3exHdZ3KLneQXr40mU2+rT6yKTTeRy2/QOSMGWbRTtrFmPND9mHWdoJm2sDAOb+U9n/WwtNrrV9qmjcwQI7k0kvFzvXSMYkzLUkfeW4ZpijQ/SU4IaBIhDCOFtgjOfv9RhOaaX3o40Pwe0gA8RX5B1fysRGhZ4YLAerK9NyhvIqiTLu6vLUg1yCdIO/Ncz8P8970M4nuh2uCFALTHuSaIqfggN3GPDOg99IvCHZTMO0nbqgeV2CRzosPoCVzJ6KVZs3wdChnh/ZuswF65Cfpzuq6YPRZ58vhUJtxVVrrfCnQBzhX60rRFxySvJritMcxgFu9IbW3iMHVsqdaRhzszNmGSmFkeohumSfs7VmjI6YfU3RMrHxxCynHOKOBT60BLSw0TsrPQ7K4h2GTn7hVN21OhchLn38JGSv74RgwOB5027S+QWtKECeXuw3bzM8xt+tu9IBVYxUoIPhqV7G7QnEOYmEXntdKnOY3tQs+cMcU4ORTuZzGvPiRoFay6hGg9mmdm3bdy/j4J/Uh5T0lvn7VQ08/171ECk9UsZR2y5HSiJMFF4NtvHl4JAXyCd+CjQgDlwRqRZsWdl6YLhHsmDSiXi5BvVPKJ7yAj9Wqa/mm8LOcGAC8nMyf0n0u1QocDNOmXXGV6DW5cN3x0Cu8wNI119DmRGswYSaLyzxCqVglWSoZcyiZVhwHlKsj3ueTg6l7V0BZLAyCQ87DCdhbPmrcOcdFITbHwfoo4ik5BvietUr5+TdRInxyXDxPUNiT5CMyqzM+S5lddGGGvdZhw6AJjQoyKBRyn1GPeVfS2hBlkC60MIYzqSJxT5x099qnSIxX1o86OHDLZYfIh1Zcqohw5CiQ4HfRIxxSlw7D1xJyui6+9HckPqRezS6gbondAHZ/NSdI+hhGBsi3TD0Wd8Lq8MssimOLOnE+ZV+zhPCoTeQ+zTlFVG2O8RGnum2gFDa6sgBo5JDsZUsn424dx0AKKnGgdwvGEPW12x/uOQ+FQqY9z/e5D+FpJzaRHc3/XnBbdaR6as9wSxaEOVxh+cDpR+/ZCvl16OsjXJ6uv7Y3zf2M4+ngblEaAB3K7BM8idKPN2waY4CSAcSu15nj6l1EaA4n1I3Tn27AHU+xKGaMQcxs2PkcIDlh3ZqRQyYPHDBhxwoV6Cmxp0yu2rxltJ2LYVZsZUPtigENAbsHTxlrVCwxk/M1takHND87d/DRoIeDqYzRJjh0l6gSbjRLwmXdQ7L+2TDJ1AZXwQ8p5brosBMDGgy1cbecST/q8Av/ZukUwNr/ESfI1IrFZQrgDxc/mxLK//QmqXX+ew5GSy6B15aQWizS+6umZwq583BENt8qi3+EuoRsMJSHJATrcgDT3Gbfvbks00vvMa26k+ni2Wpp+yoV+IY8sG0Hq6+btgfQFJeQVVj13SJEy6iGiPo6BkRY95kOeeNztd0bOvChyiXtwYRmCkJEqkjBjceK8U/MaqS6NYV02Sq897XQ2Yp9KdyJ2MCwZKO+Re7HXdBIgKAzjMf7rcL3sTsxLYnGM19ZrkpNOYGrLhiNvLKzaEVjmctzPLxZApjaIdICjaliQKkGhSDDhuqzOnIFEeS/zRb/IrcBLCyMKaB4IT1s37eAazbsidDH1avctgmp9zPwpWh9ZZxvgtxMX9rF8rQZElDFuB/TZnSpc4cKcaXEHylNW9AJVVSyNXfUpxPRDc9i0iCCa4f1yVOPF5rT56gz4CQn8e/rnrlzwLjqUz/+YcbgcluFWAunQK0XoLIJqQZgruWOJ3OSLM5lH3Nk/WYZo5os0ywIcoWWiwGCP2THsnBSdZz/l2YuX/8cLQWEOI3MeH1j2jHJadbWZdk94BhI5c4qf18UuHCLjqc7qeUZoJq03YotY2nInTJFlj4mWZwr090E5btJD+Wo/LyEYfuTkkj729W539/py31s3lBGYBXQRn2Z6Q8m43WXvTYFkzh8ZUTpTcPOFv7iP/1nvMTTV4zsoFq8oc9vKS70RFOtMTnf2JOEHpyxlyUgPOwoFxmikcaNl+kjkB7BYut79lw44Lyy0DmsKWN+lzFpp8ElxDqkzdksCVJr5i6CYB9k15PFmiEHs8Oyx2LvV5z6OCqTPGbGzy2ULVAG+gsHScuXU/ou6yqcHaJ6Rw65yCP7GRBB8/BsPHudNucmrsxaioey+t2OyIAJati2gHFlDYJ36vNvgYoKDFTRI4qY1WTJ/cB8YQxity0558BGecuxFjal+hgul8zCw2Gr05jAESiPXL0KZ9r+6PlfpUzKn/dDnVjnYZqgMzWSpTjcIGIwF1eeXBkeNqFydH0RNVPYWim8oTb03JUoNQmb7jMA64h1ppsKjRyEFWD8s6jhEdDh+JHW1oyfQ2vWN/WXI8V/Vxsy9+Z1K+wu6ad26v5llyXiAtaMWFprtzYoSZveVCk5Qu1pB7UhUo8Zg3RxU4fQgnLc8ImsiwXq5Z5BLNaZvcmKD3ALmgRJQ+A4z6MANYGHZypQw7YEzgfPFV4SITtFpzhhTSyZBKxeMHHzFfZcIH5wObGZ+3zZLGU9NqnnIyFRDVqk4Zhk9vwSqt0xzsDCpB9JaliQsPhXpglmMvcOSTBqIe2E7VVnBiaHcuVB4pkYvxDtQIQlWQOwmUZ9P1jhFnRJLU9MFzqgP7T/4yIqJVRjQIYm++WvH1ddY/uybmQiLzoyCySplrJYfBzUtU2YVfAP7A5Ci3ZApqA5OLV0MmLVNeR47x/LttYhP5Y8koeEczFt67Ex6LMXVJYa43Vh19QEaRCoYjA5hxucjkhnzfOBXuqdCIn2yrF+EW9RVxy9BWSPDfGbJjma4fJdLnG4LEDlMuN/16x06Axk+vvvuPYEQ8oDMq/iVKXP0/ZG1FhQMU2dpY9THwcCLhTYpplOIZjXQ5SWzOGH2TlT5YljZ9JuLz0tTya5P8sMXq0YXfgB5nRY3WqzMes/Pa5iSyGB70anS8KMTbqWTkOKEATfTXP9BjcVkVXf8C8pf4JBxUmbbM0AlqTcYBNl+Q3zYNgDQvPV6LHthx2ywoje0pgX0iTVuadyWYtD6mU5JFNxmc89kWwKbWErWX8f5uaSuEpkc3KFY1yOj+ttolUCrl/bkNL834hfSkGymJlrRCXuYnOTdBQ6pkgIu1MRbYwuAuq4P4XGhc6ovBYK+uImsQYeMzyLN5lRJhoZLmnPZBw0JjtCm54XGAB3CSabG9ON8czgZb5K0vSQdJiSu2BfZ3+w9Yg23BdSDzaVUy4tidykOysqwdbbc77RCqP6PC9kC2lfUVRfzigNMLr3pIScI546i5AZGMWUoXS67SHt81F6LPll6nRHfTVFnRZxvv/pAQPIvaVo9qMEOlZpPl+kBEoARjc9N854rYqw4JLLItkNCqYf9MkzRjz+wEB3pZlHfKGcYHxRqsJO7OO9SLNmSxU+XgNfXbb1I3180i6WGS9oG2XidTKOuSMj2P0pMyANyGGSfm2NMfiCPCP3J/Fh1pfaPiSw0hrSecBueLqZcUm1+whA4BktGs88ZpJptlzTMHGCeL0+Om4QBpJwl3e9uuEUtf7ljGZlkUbUUNf22J7GN5wbNvJeFusMn70WJ/e4fWlbmut+TRFfzRYw42GxN7Dg5CahRnPfOFkxjRt6T8zpFTibUuDfF/YsS1qIu1h98k7Xh7wJoCA42bbLHMBrGXWxgoXD7s9vyJcacr3LtmoZvPCtBOVS265nIkZRCx1LTfxmd5aUgbGykYvkofwGA6M9JHfNXVcadNccvjIsjcBNcSYgoggec5BWZpBURe7r3dlNItGDnYOytyYY23caPTDeYe5qJHywzSlyuXgm+qYGF3RpEvAJtFRgPmBG33+4crSYX6JUc6zn56P+eNgXOizjf6saqRThRbxE+yma37mMegA3+jzpy7N2Tay4AfLIDb5IczdEP4dX5PWgRl6dGi0Y41jwWOx20L8mLMMTxBKUS8GEfgx7wKyQYrUF7AxCSjqG8IS1frj8Y++9CVWYQbEioB+XIGmBdN9IWVHIMg3px5ZrgJb+7YRtLGm5nWevFv6xw9yM1+kpS7waqr9S84HLBi1P2jd//SKWJP+k6ZLBELQPVjvcjs+7xJqyYYJjHn0PqP/nKt8+i6E8JYMt1E2pOOl+zgNw+CmTiBpfdfn8R9rSa17GLPEhPfClejH7PyMBTOLDNI76bJw4zZGhWodJrWbyaqGKyuVYzTAR7W0ty0AafSPTVM3MZHpSP7XBZ0lhlQ+Gnw4vXql8t2vKfKNqiXcktmeswocV04bbwCjN4zXKNMnXRRpC3U+8iOyy+cE2vOOp/DwD/6MmgcDBZgPiGv9Bqgl22qbojv/pDYsSBmqFh2IjNqOhg8YmmvYyjl681O/ymOcTrQugcxtV4Y2biVRIKvVMWTUx/6rsfxO98PP7I5TWY165WwbOgnk3x0XhiocYTzhLnpm9ON+Dc/zhbmH7POFdvpzDH98/JV1U/99WStTPRMPtJrQiqXF2hiIwP5/dxJQRM0dPz9U4KL2VQK5xzxn9Gbb4ezEfB4sa+TfBMSVsLCUsU2818vhie+w7eWDNMv+caRzrKmrOGeQmSLTs6YuhFNT3ivcu0AmCAvOauBMKoJJT2XqqZY3k9y5tzolTRb4+WQxRzvXYk0Yho1/ijcDdiAFA7zVVPRzGZIAOj/ARsZPL8fZMpGICGjijxKMN56imXXl8329lnFZS11Kgz+aKXW0ICHooUUZz011inhCbxNAC71SirvDR7pbtI7aPEz5sUhttk6857bxt1kWYzVzpPjNN/8HVhEaAyw1P4wqwSoG0feZARU/7TaRNy2f2uyCfoHNICwaFYZfWUVjZjZHwWQQIzrNTug6lHtarUiYONsU0gI8ZZ4Sz00A4gjt34x1GjAThruLXrhWY6CDt1qd3JQKS1jn7U68+DLfmKcIRxKMVFhmtQFJin+pxqyo9/Y/1kQ/ePsJz3PvYr3QrLcEyaJ2HhOhsh+rUZVYdk0o9+3kcvN2jq4D29GqSli/wufXo20oGxQalqPJ9Tt7XhKFEbBNQXx605Fz2ZxPryd7M/5VlwEvKQTWk5IS9QljFFUzNDaJ5v/XQBi2gH0uXmJQ97SfrzA6vKSz331dGgOuVZHMJOTEdEhBA4Prasj3A3nOr5vz74Hf5tYYDMImx+MDY+Wr3HbCiqjVajXDYaRQhpyK6SdmT5ael4aJXAIhD24ylHXRVDdpsA7mPFJ5yF+zmtCzY2uqFI3l7nAAeEBXC/4kFYLdzOl4QkRnCrfDf6YZtmfYrC5ZRr8QEqUIIdZrlLyyvwSPxWQBPwe9TCzN2e22IEeDn8x+uYAjRur/Z7xe3FyeQRu6dWB0/sB7Xv4qjzS7pSzk5f2giUPldWeTLgnPRP3D82wHldAHw5G54bZbsuJQcX44FH/yj+fobO9SvWlpvJEY7lcyaMTNDfSralVCZOXlz4+dBjsoaXmdcNw+z0/1atymyZHsih/j1zaRB5hzB5pyiYHyDDE5N+xUEVnZbmL3qJ5NNgWfclCwz4CbFNuXWhGXBzg1GB3XJKrC2r2b3VJIseeBu41rEKgt5sc3SjNF0htTQ+1QhTdqOeV0mAVSc1mQMdClTyJ4KWv0dzccoIELjYpky5FrO/XaQRjH+A6ZN6vZ3/iD3ttoEVclGQRqikeBVSCBUJpp+v/fGzEKfF2G4dEjRTLvWzA425QqnPGpou29LuPM3/jxQnRlIBs42HHIrH9yr2TxUxSV5QsS/wXvtYBgVX/Y5FlBZdh3ExXQf5WfbtSNChR7M06on32CjfF7wVhSygtOQHFsJyHtWvtjxh9iYvoJVRqaJF5indFUA+aA2w4XlTKqz1eEW9m927waPQ+KlMIXpR0oaz/HcSD1LGpnHZPH9BlfZ1l/YEz94agK9cckOUEuNFnrwsMlwVCOno6oyhZqc3fq1nBoIqYq9J8N6wl9Q9MaDNZrHbmiOSp+u6E1WkEuxpIEPo3vlDTJJ5PT5bFukIT6pd5cPfvrhJUB8xlMl6yYGUtG4u8W6y43YorFGMnKXtiCWD39+/CB9kx7+unDcBJytSW9WmwQ595jtPDK2kojgXey9Qr5UvsSFg828hIX+klNEraThdGJ8KTbNQweo0HlUzvLKDROxO+T3dibuPtwqX+cWfFBFRT7xslkUwv2LHya6vKm/IET3g8TlRyosZN1/QFbB0lfuMgz1//hzuQmLWZiJWdrVvF6l/DfZJ8z+TWk8us5eI3fkMDi4ZSEV5L3k7qWvJ2d/VsC1JSB3BA7xH23ahMWC/eEumk1TgSug4inPeu7DRRgavoLQBgaMN63zLsQv7jIlAEaXjqutnCdUb7e15AS6X0T8Zv36Jvc3REfB2KLtGrozO8FKiCRpE31cNKiktfVni+yWjDhyBqg6oByqflc0BA2J7Gwv4I4inBBomaYLVCOsheXcJUzGl61kGilctrhfCACMvW1KsWn2khzcdyXGjD96TEEdEA7i/pr0maykdLoh/ZA8Aj3v5pWVzV4FGzv/nq0rD29p32+Et6gwH9+aIcoK+ibxviDxDZCceNH93DBABqNMOt7ZREUvU6Z2BIIvletQxe19heE2NRY/7aCxzI+wDXasKKh/uPmIWHjKjw+w8f8VkQW2VauyBM6MTBa3y2ExMdNoVtTtzPompX5iDxsAmj9HrelyLCicSq/Fvxww031oSYvHH89q5kxBnPjWg2VKQ+tnbSB1r2ztGP/sAgy4hbD6gGF1XL7RnJgSeCwz2IpC7fY8ot1mynq/ujGiUeuldh3yW9d24DScnFrU1YVxy1hvZBQ4vwQyjtAkYoOeRhYuy6P5M7oGL02b7YliPM9b2MrEANQeXZwkle4Ih0AsaSxFOe09Attz486XRemUUrJSW0zrwwxaMcACs1hmLvRqVMceBRCwn/zTsk/754c/7lk74nO/tZ4BDyU2xS7JI5fEIC/tqde04ZVTmzmqag4huFTrmmxkhDqiU5BizQHFuY6wRYO9Z6B+2D5sxi712zSWbXiCq/FzzjgVEBj71UyD63tfLoYz75pPLpAfVQNZ+Hd32oUaJer/CcGEPlP/NQtyEyE9o0H2li0ONlFU6YT6pIKwNw30DHMDIypoXSC6TAR+GR0l8SKDA9A3Zv0sFg10LVeZOm5j3mALVCk1/fv3l2yX2gC5vxhamYzHvliZLoXE6plmfZVNinch0exoY3Vb5OIe5prYraHa5bL5Er3ctynYMXvohAuXzrB5iq01isbWwJ/Sk4Rq3nQVDFBilbUEI8lcY+btvQzGkE1dk5UOMJvh5E/SQfFgIZ+9yhvuNSeK8d2XMXJA685PG0bzv/eXqDOA50yR+cg3eSdAs+hYOsmIVJebBppfuQ+Aqive8Fc/bSPku021JSwJvrp4tCIcfiVD59QDzhuLXYGL+31ctnVj/U73Q3aUzZYhffw4ai0tiWd6T+ZUmEfjceCh6h7TR4bSNxHxpUAa8l8GgjAe7a1if0KGflN1akbW3iza7ihUnyak3yfojweSeUwq/d1/iUiNlVM3CsahHjK/wOqqWRXBOu5Fdao/+nshHlp+iQ4nSgd/lo76TCIPuQVgOTSq96jJs06AbQhTA2IFAe+aoPndwvAp4rzMKf9O1AWFZme03j8hwwliF+frz6ZHMpqlaKIJUv7K97Wm6XaYNK+f6F7Zmr+Xo2Fu3OFFTgwWvgNxuteNXcsZ64URp/23eiQNO+i6BKuIisXlwKC0Dcduz3yoywbUJlVqzLfVY4/DmlMNjcYEELzPyAACrNQl0h1ha7jpenjyGJF2M0Fh3DPbjdDiEpdyjyU40WW5VJuabdhIDmt/kMA6ZERHwlY3E2UxxcsWxPWaQkTn7GMSEzpDEPTbWnscyEhThLCEKjLUe2h5CCPZwY94yZGu5eZASQRVNwSgd2pwz2Geb9AY7hFArGLBUm8gmz2Ao1e8QJ1WOoocXaLsD4QncGlS0BdvNnqZ0sy4MtxiJor/hRfoBK1AbqByJfsYxt+QQuX3S0sHDtIFcp158jAwhwk90ERZgyPw7Tz9OEBMHgncqSwQNg6hhu/uX3D2JT0gBPuzQAPZ8GRcvZ5rOZtyIsosCqMHdLctOCI1U3x3wvWjevnA7/WlL7VhR7e71KHIBlMeKMu0adJaSM3n+l2LaDUMWxCDYPjKFN5mSzSzspdrOLnct4fdHkMsy0mJ7WqDh1x4IyOLjx7i74UqvXvaxc5Fre43WDkeT67IvGShIEyKBuHkjAVqAc6QsUlQSmuN1X8VqEEUmSB1vMUiezG8n+uRZUo3UJrWF5QUCXRI0DlZgDbYH8A1i67c0uDJsUs3ePVd5l42Y3qY9ViLF/AcGMp435ZwjQeqqUalPhQ6/Me6kSP1B7U94Ud07VJVHoxkxNalYbe+VQsdBQ98nRYDji+IqbJN0KUoLy7469VVx40NT6/8Sh2kIpDfohVi9tyE3KpZcjqbVGLL0IpuahZExpbyuVGCwTxrNJz630J3rhSAvlAMM5twykAJFacNlYBZ8oD/DAfhVhjy5mYeLO9D/ytE1y28sAgqw8nWTw06AanC9MRbTGC4I8jLvLbcx+9vb1DqN0MxuvL695+6K9xTiLQSkjhph+Wgj/gesWg60qR2oBGuUvmlH2ZnX0wPDV2qzpM+zBJ5fQQTqJiiy8GsMwAQUMXFGyDktg3HBWTTaE9o9VRJwcDK9CInKA3WMx3214MqjkGwB39UFQaj8jkEfOx401UeS9JgaLDnCNOvEh9cdh74IHPbIGWj+pmOF2ppKbCz8j3w8rxAssiWDNQ8YkalIQAZdDHZApnOAmM+yEI9kSuyZboHjZz89rfaZVrYRMZRkdxmKqC22BW3FSZzWVQJyxgYgTcKoIrCs6CbePY1do8B/NBR1Zz+QYUqq5H6RQFNGzy2Y6ebHY30wzev1ZdOXIq4ET4tabLrO4MgAKiqjf4PZdIWq+EVw3bP6Z9PKM5LioW5on1UoB4eNOe5wAe3OgtRGBF7uD82A3Ixn3kuzCYXt01zVMuZzqTQ8EpN0T2xYeb2+7Dp2usT35K5DoJuG370RIxt8uvX8MMvG9xu4dUtg0yvj6h7AOC55SbScDmsx4W+BSJ/nQOo31wuTUi45+avTLO01uu+C3dx1dkeUaDUEWOzPN6TRfaHdZmj5A+HkDoDRHO6FCbP4eaHk8p2/6q8RbhTzxRxX5OyxfRjwvvrKc9+mkCZuDjfaZ1f6TojAcFc60c/Vj52BJdSQFE6U8s9wsyMr2amDxwipvBAr8fUQnKX/Kg97cdWRkQnjVB3O6OeuhPnLFC4qcXVfSV4ybsvxpfj+bZlW283lVxprmD8oiEz+TR1FHYPMe8IDOHEotx05KfcnnBkURs70eBRSSmm0zeLZsdZQsVuR+RdeK2Et6ZoBairsrl+la+zPl48HI0Glzqc8K5MDOjd33qzoQDmw0ZMz9wPTC7ZwciWWCketVfTTLaOljToyCJDrOHzvPqxdXynPYLVzqG0zRiavsl8GG/awyxp4xFK3ZDOOu+7v8qE3NWHph9sDskiJ4Hd0AwD8vhDtPr+nac4Yh1zKLgr5KpJ2BbKuoHyGg6DkDRai7gTT/I+l7voqhVVtwORE8I0CbbkX81cp27/INaRNXN/Ay5OPim9sX3Osuz+ivJPmBHXiuQ2Z3eYgBYrI8MhI729NGCakPZD9Ue8od2gAPAmMAvM/WhxSP0DRcl+FT806kZ6kfCAbVpnIcTsFrPYN9m9mG+XgDlfG/IfddJn2ZZggnxyOtvovPg5etradpDqMG8kuil+hLAzrty1q8TtcyWpQuYcuQcC9gb88vicuPrIwxSQsQz+8/3w7Q1oIJt29g4vBR80GneE4T/fVyBKGzRcP6X0/sAq9psdaB7Y/pQzOAwqkkiVNXAkzHZD7jaXzLKmPrTxtPS2aNVN+TAeVsUj5ubr3nJLagJJGUGKDRgoo0L5idpdBy2GLywT+1TVsX/VbFTrqZJWwAZzWXNPPemNjZvQX+VpN0B//Xg6aGNHyggN/1/8I2G25EtuYlg52O1kuImv1s6U+H+z6Oh8UWYcjwUaUbov6EUyiXOQJhDB9V5wom17ueEu/1NpNCd5AtpeaSLSJ2n5sMeic0zet1UlLxaKdxEFsq2wrMyXgJZEVXsUAU0iYthwclEvbIOod4ik4XQxeyaynEEUm84dzS1WWAAnaYHmDv/haz4dSUcDVde/DLPhja2oEuczV+OmiLhU0S/guR1T3kbhpygKqfy2R/AXxdQAeydjbVyBboTiCtTPAxIM3F4TCOOZnSqk46dPg9Ir6PJY1VON4+3rBMxVmLlpKHMQDpCtvJnfFckUgPyFeTWFejxKPaSRK/yY095Lbue/T/eGswqiM3LkPJDnrPIlBL7NSpEwLQkc/m5yczBdT58CK+vutDtnItLfhklVU/qzXt4weiVUZ9fPUVEjdi69h6L81RSlsLydwD+AxYQL1ZTHJRjMBy74HNw0vWj0qTKUHhCey4MbX+kQDCCmDiGIEXkmagPH6MyuAoPr72mhFKn4vKxA57ncNIXpgq20OC4ONRFwNmPS59lR9FbPNWfpnNYajJYGS9PEpdFu62lX3GvHfkcwiiy4WH1d2Y2GUbABuVqQuRDVcW0U9vszyXDqx98xYyUj5gajCPezfYL70A+J8qYxjOSL/qeE7ZdqegmXlmDFf7REMQi54aej8tl2+BQTjfD8VsWgSDTktXU0FDqXUI/uvG4e7RsVr6vYA2icPxXmUNEa7Dxcg5g6fd898OoXncP0Nk4OdtpZQT1FQKQTYDM6cak1lRBa09cUAdve3Mu8EbpGBS97e79W4OBCniiBtrxGvUHAhGiDBD+sQIAU6ZQbpaKLYLTcDFqiiti4Wi9hUr4E4tn2/aSbHSRMfRqC59ZA+WK/mMihU+bov714iKLp8Sli7fHLpb0fX4xyEZO5jFX7aquH2xUrvg9Mxn1YFL96KDDbzr+9WUr+ubcJFwcC8hCqmqg2ZqMiXCtP7JlaIXg7CMYlpveJp5ZjmsWochYeXLDRZSTK56qleeLG1StmbO3HYIivaPmkaZBi3fH/mqWo3Pds7axRzJ38kKjSbmYtIG6uNn3liH+BP/uGyGqU7kpRvZsdxjXJzLAxKFzVZ658tVu3Qre/RnjAWs6Svd8K16nVDkU85MqqhebL9VbscUVjWQS0f+MhEhGp3Ij/f+ipU+ZkJfgqfra4EkyqtgXbxrbmE/JQfuk/nkZzMIJtMZ3wLua33EPwE/ojKeA3wMBHSLmKx+jbrX2keeahAv2vneRcdbzLCMNBhE7GdjhKr1NHmzJK6SoBtHEZdt1WVdzgnMHoAadH8vW+zCnmeFMI+dKACQt5RNMotD26ly3eDOGARe8xdX0hDAFY//eA2IYFkcG0NKr2C3aWswmjLncrgfP1KunKl3SUKfbxpVrUQW5XSQKTVc4gHpEajeuvvzIqGHSu9dkGNc/dWTCBq0o/vmDdoyEowI7pY4FIHynByKHEaDLXmLS5m0ayP9360j+TnyPXg+Zu1F2kGKWkx7RJlTqYBYbsr5/570+Mhjt+lPD+lpWJzlErKYgh/snLaWjuo67KQwtp2M8w2wUYkjJpw1CxdVxmrkCEFfyuu3Qod9yFxqzeO5dDU4JcH9aa/exbElobCHZBFCj7HHiDx3ip6/lWl2EAw1JJ1Hb7FL+1OMQ/qqD5gY3yEjxlBSn7Q66VA1n9g3nzTWItdNXDUvynqez9YHuXvTfqrGu3H0lpFicc1HJPEoQ6fVRyaJvdSgDrWFRcXMX8ZV9VbvvaKimMyVL9Fn7kwny53erE+5G0Soq7PDMRF+WJNyhoAklA+3Utg6A8I7Nu4+z4Ar3oZo0NDuU4p8GqrvshgZChArZEuc8oU6il3jcQ8qT9qnxgnOcM2breb+eoGT/0jsO8SpBQXYpU9YxL7Ogno1xQki4FNly00g2V9a5tlbqR/R8YPXbK1rqI/XTW20yP7QCnH/yb3PMH7jqS/4MfNqfjPdIajRd5LqX1wrVEy7pWG4yFx3GUp+IiYFAB6I9Hb7yn+0hYd8kHZYXnJbA+moD5DTyJVdr/+D4T8AfZrwcZgzuFQ2xoPwP7LYTJUE8tQc/5/L3o/xbZRAiQT3Nbdlj94ZjipzHA/aI3J4DWOtbjFeorxPHCWOMnyrcvkI2d1pje/OeY6YualazzIX6R0M7325y7S0qO2leH9S1WbFGxxF5l9E1afL3e/gMFt7BbfAnEvqAJAgZAdW+ypY1WEtwEC9vmPI2N2KKJikRTqdwSfqcKUOQkbgYR5Gdy+Gk+A36kOLM3nj/HIsFFyYfjtxKbKXLGR8pPG87OC7paFoTmAodXG/vVS8IJI/l8/OLWmyQdtENOd0UO9ZM0tqxNTCaV9+PpbI0aHHWj/EOXwPOwSwjEuJRLspcz0EVcJHuGOB7rVRTUwjccaGu2TZSzVfn5l6HPwzjXpLq4QJYdh9sCOwKM0e1haEAVv2ARnoaGMJ/daouBtJx8erJmAVtd3C5ssC1oNWcvMTmMTGsVh1R5WD0xEkA3Z72yy/1wLGHt5QqrdfAcuSwx5qSxPmkU33ZxssZpORWurM74MxLE/CcV6uN7Lo/MqoYx61ghpSK2e7Q1Qtk/IY45z9ADnDlVmmmzPsP7RZ9VZIFe0up0MhNa52RG6DEA0n+CJ65I750Qd5jY2baN9hLWti5dTSjIhzqZddJw/psaU+iMG4RB67Q+76dobkLp8KTfm8HxfY0P2RH1bDO5bQ/+TtBOEibv+KZN6lHVf2YpwfH3J4vURx8OCPrd7WVnKLCSpQFNPCPPzeZef1HwagVSUqeuRgP7dSUBPszfSXYJfOma9it2fZDewCtX3jSdJ9G7x5xyoAaCwR2MaZkTK6Fmv125UGN3mpQJkBrW3lPyIHtjmp/uBtZAeCC7Gn3wTJasl73a2usz5IkADpP3cj8XA8V6Xpi/pbUTeOBmivPD/ec6pcDrUWpQyf9+4dZmMpqL6PVPWtrWmM/cjsBLUE/CYlv0BMkYR1ZdBlKUna0pxWyPvaKWM/9CYfYH/myy2vHBrCGvg/TZWYabq5iWeXu3Kpos2X+0z9PfjIMUXbtqb0vo9YN4CO4l2g29/Ll0mBMMs1L3GOvIW9dGjknFupMKXwY4NeWH1uwXfOzDAvHnupJtEhATqul08n1fzA1BQHNY2ZgmhQRV3WdqeiFAE/uhTy2OmB6CaPeJ8ZgvVu634UnYR6HMp8O3KTAHQ450O5cEbVWqxQUs9mZgCIBQpwHVpCOB5el1cBQ1Y0+1q9Li0gsqChCNiG/CLVg5ed/kzrYtruZedu/IgkM48MTjmdnIiyg0yOohRw41zqQfm7uQMAtgkvsUF5vBodZgphMKC1/ShnTgmw8Eb3BqBm5AxQ9v1zOws3zVltavyUyS0CpDOlTjiRGQcOksdR1Sp9CYfFGb85PxH1cwOnZRPUUpxLuorWrOnTYFvs61fiVyCzS2cvFRTn/8VYFup3mjWUN+SXYH72pDF38Jp0MrZqPlKjqYkHO6TvxEcliki6YxtdpcGUwCjj0sT9yWdaH+xdgxcPtNZfc+iiBCPlDFsy6yOk0l1kYHZdhNpFi2FDRsK7oaHAfpOIuXmtYqYbccc5BkJFWJUKFJBapHKBYIwUjhyeASmLpDNjgIa1XCRO8ukX2NfT0naysJDivAqG8fUWbsoLsEyDyZdgoRqj62Xw/myWLv1zYZ+Ek4mpksAcDq0oRgCgXf5Zkj5koFWL8cvB0oq4Gq9bV6RFZBjGD2zDVAO7cWPU5wlsp+D1WRbOkGm1s7ZxnbaquxZAAP9iyITjz1LHdUnOGNwMJFw9SbS26uOXWHJne7KUW2uPZ94Zb0wlPCOWzwVr+5XgTk6ttbjTXinjw4urbeBHo0bFilMZ4iIdbVbE/a4nGIwNK3vF/knq4U0rmEcS6ISNUWLHcq3QTSvx5OjsmLIQ+8TdvAAm73kOvRl1th9gwgBV9RhIzJsS8eXSvkbQAF+2wNw9HJ3Axf7J1lXtu4YHtLE2A5IFx10UM5rjebHgEtDw2ANRjASNqA+yAHuznlBg/qon+u8JxuG22PLX8ybG8gbp7Jasf6QK48ldpfjAZ1lBNORnm4BOZRiQSnN0gt8FfZ1/Dyqjfm/CB2cSbY+OUPwEn5ao4/+yOt6HTjqw5WlSSDj0Gs1tqWyjXD7OPJNx/U5Ptfy5nnzACfx1+reuEctTfOKqMxSUVuImVfC2vQfd4ju1SDU5zMRbGDX/fCm1IVKralYVtIc7DzfclXgnWXid0HDk+3WmIKXC87JAzxSBtosM+3xJ4rF0q+k1NgOBSfmHWQxzoX3EZY4mRCajCDiqve7jw7IxVHWZvOR6kN10ZCpPuxKxRogFuanmKUX26vnvnFGMR8lgRs/QtBZEkdCFL0dO4K12MvcmWKF5q4rsgAyiSqzq+jAvKV7/AWupagyWVWpY6wbe9ccW570KJhF3RjG8e/CNQOz/NFTxjLKvZnBvAbrF/oWCBppiuOx+I9YWCWvC29uMrm+xLgHWcOxCTqROcMQlvDPigKnhmnnraY+gOB0bypas+4hrq90rqox85QP+x5Gwun9l40RAo8VUyI+DVpvMjDi5GPsFMDB6lkSt/B2UKDHtg1uYaeFB4SUMsK/FJVRuYMSjCcY8uGeJLgvub63S36bRvEd5gw0uvuP5Bn3sc+jst3vgxWWJkebr3kRMntjNN7K6hmD6nu0GVYa7v5mrmADvjWsxbBFGJwJwEv2h/EQucGI1mJYkb8jGcc/OimnCFefJ8sMObeTxh4y1My+O1vU2b6vzMtCaMjpmk6pBE6LgHWOJS/+6R9dkIyS9fRr1zBU5Akp1L/ULU77c5sT5WhGqgmok2ZFfyf1CprOlbbC1y4hgyuTctmveyT7cjXNv18kq574A8Gz2nlKV1PlNv0s/QRZTLNZpOFuzLw9cGwlgAtNcWRMSU7+RC2eSQ1fAC5/463DkOdLSoIJAK+azypWW/1imFBfWNNIyyE4onqUrO+fDtqZeHu+uRDdv2EfVV7BcDeY7h040Wsypjs7iiFtM1gGZTYT9NTTGREIhCrY2CXQThWlssVAND2p33E6DuEMOCiv2R2mnN+3PcDez+RmqbrjdY0QQObklttP4EJnItPNR1NR0/zhnjTq3+gW5JsB0dV949FelyDThLMVCL/1/gJl7gM/sexJIj2cnLIoM3zIM3IjVnLsozYppbYDkMJGUtQDbLUOY9Q79PSvwD2RxrbqtwIbCbQ7PLLto4kSdQpXFNlYwhurzHE9b0pFegGuoPVI1LTCogljFGQwZz41QdtbfCUFecg1Ui1uuD/lEIWX11+BTWvCYFonuQcfYllESx/TO3ZAitiRp3naI/m6AlBqeUyBB9wQV+9YKpJWq4VDKMAYProb+JpXJ8V1NIZxC0rPYn5p5kBjqD9LlDvN/CnVGCXAvW7uue4Tp8zsYh1ZTzSagwTBCT0HEMncs3hbh06yXKAkypZ6JwV9u/tdE6JGfDzNZb3slA7uQC4LNoB3pX9/2ALQbm/k6QHhkAwiwI9jK2lvI4xanS5rZq7w42C4mQSF/gYSXPXjnOxwNKItpXRuwPFTFjxXA/CkdrIJVChUAvcIxgFpczhJyP3RNI+gkP+SCLgaBx6oyEoRZXczEM2P5IX7gyItS4my3pSKyyFDAOn8fOd8Ups7rw9mQ4nLY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06136" y="1051126"/>
            <a:ext cx="3852492" cy="5211286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336613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Notes: *Includes the cost of merchandise, inbound freight and the cost of shipping direct-to-customer e-commerce orders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4267977" y="981194"/>
            <a:ext cx="1054870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6441671" y="1119695"/>
            <a:ext cx="5310779" cy="220028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5359343" y="842695"/>
            <a:ext cx="1004270" cy="498202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Dollar tree’s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814842" y="1215649"/>
            <a:ext cx="1028838" cy="498202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Dollar tree’s</a:t>
            </a:r>
            <a:r>
              <a:rPr lang="en-US" sz="900" b="1" cap="all"/>
              <a:t> FY23 LTM Actuals</a:t>
            </a:r>
          </a:p>
        </p:txBody>
      </p:sp>
      <p:sp>
        <p:nvSpPr>
          <p:cNvPr id="20" name="CommentBox">
            <a:extLst>
              <a:ext uri="{FF2B5EF4-FFF2-40B4-BE49-F238E27FC236}">
                <a16:creationId xmlns:a16="http://schemas.microsoft.com/office/drawing/2014/main" id="{C286853C-0AC9-4D8B-B2F9-F378D1A9DF2E}"/>
              </a:ext>
            </a:extLst>
          </p:cNvPr>
          <p:cNvSpPr/>
          <p:nvPr/>
        </p:nvSpPr>
        <p:spPr bwMode="gray">
          <a:xfrm>
            <a:off x="8029715" y="404071"/>
            <a:ext cx="3729036" cy="438624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0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000" i="1">
                <a:solidFill>
                  <a:srgbClr val="000000"/>
                </a:solidFill>
                <a:latin typeface="Arial" panose="020B0604020202020204" pitchFamily="34" charset="0"/>
              </a:rPr>
              <a:t>Account team should validate savings ranges and cost levers</a:t>
            </a:r>
          </a:p>
        </p:txBody>
      </p:sp>
      <p:graphicFrame>
        <p:nvGraphicFramePr>
          <p:cNvPr id="21" name="BainTable47798">
            <a:extLst>
              <a:ext uri="{FF2B5EF4-FFF2-40B4-BE49-F238E27FC236}">
                <a16:creationId xmlns:a16="http://schemas.microsoft.com/office/drawing/2014/main" id="{5892A50C-6336-4A55-9CC4-AA677276987D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4177556" y="1327835"/>
          <a:ext cx="7708309" cy="497747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966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835208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683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023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Merchandise cost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 and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Delay placing orders to incorporate more demand data and shift to domestic FG vendors for underperformers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quality / features and revise size-level forecast with historical data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internal operational and financial KPIs, conducting internal and external benchmarking and assessing overall performance/ trends, visit plants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savings on item costs based on item profitability turns and/or supplier performance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tertiary items within a category in favor of bolstering private brand offering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Assess maturity level across relevant dimensions to identify improvement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freight, shipping, and supplier contracts (e.g. standard contracts)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00"/>
                        <a:t>De-bundle</a:t>
                      </a:r>
                      <a:r>
                        <a:rPr lang="en-US" sz="800" baseline="0"/>
                        <a:t> inbound freight and leverage backhaul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123870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2-4%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~$375-745M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361187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Distribution &amp; Outbound Transportation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Network optimization (Number, location of plants, and production</a:t>
                      </a:r>
                      <a:r>
                        <a:rPr lang="en-US" sz="800" baseline="0"/>
                        <a:t> </a:t>
                      </a:r>
                      <a:r>
                        <a:rPr lang="en-US" sz="800"/>
                        <a:t>segmentation strategy)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DC operations (pick and pack, racking, etc.) and network by optimizing for advantaged assets w/automation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00"/>
                        <a:t>Increase operational efficiency in DCs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/>
                        <a:t>Load consolidation and optimization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22302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$105-205M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22302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~$480-950M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223023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Store related costs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Close underperforming locations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lease terms and costs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store space: reduce size or reutilize space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risk-based maintenance and decrease preventative maintenance frequency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autonomous maintenance (shift low skill/risk tasks to operations)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utilities usage through process optimization &amp; standardized usage policies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59870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~$290-580M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253443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 SG&amp;A and Corporate Costs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(and in some cases zero-base) design of tasks/processes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 and clarify RAPIDs (if in scope)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Right size demand by eliminating unnecessary services/activities and optimizing service levels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shared services based on optimized 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IT, as well as the above, consolidate apps, rationalize infrastructure, address vendor management and outside spend, and implement agile DevOps</a:t>
                      </a:r>
                      <a:endParaRPr lang="en-US" sz="800" b="0" i="0" u="non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198320"/>
                  </a:ext>
                </a:extLst>
              </a:tr>
              <a:tr h="69109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~$140-275M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736461"/>
                  </a:ext>
                </a:extLst>
              </a:tr>
              <a:tr h="223023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Marketing and advertising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155032"/>
                  </a:ext>
                </a:extLst>
              </a:tr>
              <a:tr h="27317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N/A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886236"/>
                  </a:ext>
                </a:extLst>
              </a:tr>
              <a:tr h="22302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~$430-855M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2302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~$910-1,805M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8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07801974-DF15-6E3C-0341-9657334DE0AC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4653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btfpColumnIndicatorGroup2">
            <a:extLst>
              <a:ext uri="{FF2B5EF4-FFF2-40B4-BE49-F238E27FC236}">
                <a16:creationId xmlns:a16="http://schemas.microsoft.com/office/drawing/2014/main" id="{259A272A-BE40-4A65-A3D9-A644F56CF7C6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1" name="btfpColumnGapBlocker942695">
              <a:extLst>
                <a:ext uri="{FF2B5EF4-FFF2-40B4-BE49-F238E27FC236}">
                  <a16:creationId xmlns:a16="http://schemas.microsoft.com/office/drawing/2014/main" id="{4EF7CC56-7291-4284-A218-B7080D95ADA0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9" name="btfpColumnGapBlocker841366">
              <a:extLst>
                <a:ext uri="{FF2B5EF4-FFF2-40B4-BE49-F238E27FC236}">
                  <a16:creationId xmlns:a16="http://schemas.microsoft.com/office/drawing/2014/main" id="{AB5C858A-FDEE-4D0E-A897-939479DB7C0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892696">
              <a:extLst>
                <a:ext uri="{FF2B5EF4-FFF2-40B4-BE49-F238E27FC236}">
                  <a16:creationId xmlns:a16="http://schemas.microsoft.com/office/drawing/2014/main" id="{AE094AB1-0108-4D63-AE40-6DD68AC0B41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350443">
              <a:extLst>
                <a:ext uri="{FF2B5EF4-FFF2-40B4-BE49-F238E27FC236}">
                  <a16:creationId xmlns:a16="http://schemas.microsoft.com/office/drawing/2014/main" id="{957D7D27-FF6F-4A1F-9D2E-8AE84E8DE0B3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btfpColumnIndicatorGroup1">
            <a:extLst>
              <a:ext uri="{FF2B5EF4-FFF2-40B4-BE49-F238E27FC236}">
                <a16:creationId xmlns:a16="http://schemas.microsoft.com/office/drawing/2014/main" id="{68C5A039-44AC-464C-840A-E7A5D330135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0" name="btfpColumnGapBlocker581472">
              <a:extLst>
                <a:ext uri="{FF2B5EF4-FFF2-40B4-BE49-F238E27FC236}">
                  <a16:creationId xmlns:a16="http://schemas.microsoft.com/office/drawing/2014/main" id="{C1C16656-0834-4B1F-B54A-6DED6596FDE7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28" name="btfpColumnGapBlocker704967">
              <a:extLst>
                <a:ext uri="{FF2B5EF4-FFF2-40B4-BE49-F238E27FC236}">
                  <a16:creationId xmlns:a16="http://schemas.microsoft.com/office/drawing/2014/main" id="{5B46FDAE-19FE-47D6-ADDC-9AC89799E1E3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148579">
              <a:extLst>
                <a:ext uri="{FF2B5EF4-FFF2-40B4-BE49-F238E27FC236}">
                  <a16:creationId xmlns:a16="http://schemas.microsoft.com/office/drawing/2014/main" id="{C5A7D39F-57F6-456F-95CB-CE07CAEB5F7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158204">
              <a:extLst>
                <a:ext uri="{FF2B5EF4-FFF2-40B4-BE49-F238E27FC236}">
                  <a16:creationId xmlns:a16="http://schemas.microsoft.com/office/drawing/2014/main" id="{B87CA531-0C16-49CD-9A3B-9CFD4FAEA769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Bain experience in the retail industry, applied against Nordstrom’s FY22 cost baseline, suggests savings of ~$505M+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oweQb4gwV81PWkBOx/f4+u0dx+qkt9rcJNk2ovLFTJSby1Ni/30OV7xugt3AhiYZ5IHvNnvEt8DGnFJ3U27c0nzhwryBjlMna4mguCTpFOVibNPr0IO8/pSKoGDIobtw5WCqVMVFial/oyBc1S4CV+2bzPBXbVTqlEC9Q6Hgui3beV16jzque1bAB5gXBopOLfwrm0C6XjOntwLWr3uGBZFz+TxhT95mYRi0h5AxNzGRw7GiYQd8bJtt/W0jQx1sfWahltP/KPVTQoOBejQIjrhYtBJE6gFy5AHODszPBFTdcSF/g6u0YMyIEhLkmAN7RfMWvJ8DhaAcGC4eNpw20V+VywbFWdPpme7TJUBZkGwNOkkkfX6IEChIUKB7iRtFF4X9vLexXXjg+eGHTAhCP5JIGzmkexGkiu1Oy2RvGewXzxe8IuK3S0xcbCZbJw0fauCxTHXEZH0Q0y00h13I32lUEXh//ReiZo8l4+XPkrCYM4ED4t4y3qDevGFaN80i+2i44pHUPQsxRC4PbQuLQ00AnFlOlnaPCtlbm6WcyCblMkJD+eNxGbwa7zT+1agkf6//PUt7D4ZCR+Q6nFBZ47OJryI3ltT3NxyhVybnT4ZBpxmjP1wRNX+/WnW+0Nht+Li4xFiUHfvc8vtsMzSyy96fZPcF/NzwWJ5d3+RX0a8lAZCRvqynqiUi3Ic2EZ8hG/4G+jDA6zoIZvxSrbbY+dcdXWFO4Vk0nELBxQtWubBD5iXbCIkiehUU1lpw9BPCzOEbduokKK7w+ey+Kj03C1VXsBA99YQQhSTKqSZyb8/PlD1EYZyEwf887QbmixoiwSu1dHWa4muOVyvxuCduuh/BGyPGfnWrZqM/Q2vuS8F+DdLne942rN8iY2P0WlexQjkXhQRkyUhh4r27SopTdqDmfAK8cgAAPyFjhbV27Ej8Q3dtLdkUSppVW6Ul56Z6SLJ72FdAUMI1oi9Y7psvwc864ZV98tCwYISWPe712MVmvrYKOJajTpEgLOhziXajvhCZ1k4UpkyJUsySInoYT7QK2duRWbFAxdplghbCyp0ebC0daAUHMyyer73XeF5bmhDM0lKMYdG5D/ayUwnVgd7TJA+m9GWqHGAJumnQmkiUZOGND7xS6eLtOyOFA5aaGkPcW1VVsZgsP4k4VFlnvqk6LJYtSyLlQ+s5cZMMavv+lm5W3zEoA9wgK5HBi0n7LsKlCiU4uQFAiMPQJGQ38QU79VpPnOFU73CuxGNDPJeIDiBMqjP85X2e3zKjG0HB9Jqk7HGhjwc1yP99BAKw7qP6ZNxPq1lrGC9yh63UmEYF6MAFPE0koI15cigPDn+tceg1GAPN+5Mqy9ROD8GSQrljG+IGIrHMT1bvkAV3+nz8zdBUfVrMh4OOf/cDzTz8awIs3qSUq57Lv8kOjpKeVQ9uuq20xreHrQH95BsbI8GoYhk1RK4AUpLY9mCM/0VD6Ip2ImdgtOkm2tJajHF/6FCLd2WI7BbypEpPmTNJTT0yNQggGX/EKzfTKMupexsLPe+/90EKhOfwL4Y96itDTiJckiBBU5WRH/Py7uIIC3GirWv8CiHSbKJf377Wl9OZzQSQiFsegn6QBcKJVGIfNr/+vFXqLtqwJoqLfI6j8tSNVFyBgyHhDU43GLfS+vDyjdEPN6dzXCUuy2iuTLBRfBPuP+jcP0Lgm5LUcyG8VbphAwDyJ09pdYLLbmH3HuHyrEXhp1iFDUXS46vxgPU7NS/GfqlHS7ON+pDQ4X3Yol99rHIkEmuemWXydHvcoKxzvUFORiIKg8YNytpBq2gtfZrexO5IzRBDuGIQbqwlQ8N7+iKgb8cjoOplW9Z9UoiS/SAizTciCpeMwh1d+zS+QSrq+VDnM2+tnY0HhpxSfsFRqUFB9n/kXeY01k7pQnvFaE1UrGJmxQTOQ2mh+a67IBp3IJr9lEhOj8fDqL6x3JJQ0BvO8TaoiFla/PRTiq4zwxvuotDJmLwQQZjc3QiV/6Yv39Y/dv1OcbGIlseR89AXJSJsPuXxaC1xJgLJWJlsYT5tAt2hv4c9MDqGNbB+y2yeBcUXUZEqDQx87pLP72AWEmaMypnk9OrP8C0NCL03xWjxbU/AGH04qFXiPnQUPPxVrDNWMDiFM75JDm5Os+g32mAtXeN5t081IjJFZpt7f3SM5y2e0dZ8p7cbhN+QRWJ7ky8fw9FNcAZRFrf8nO3GUl8A8ykgvz/AQ2v3JKl+jB4D3X/r+mzrbkvRD+iDRlwZoujkHaChuzZWw+fMAoWadB/cuV8CLLMfmni63PU7MjdW8hU8SyiPO8Dh+a60EhbGH4jiGSNcD0G/Flv0+Z+LfnDzjagTsCfUzHVN9+hcWG2KLEO5sHUVWQX/QU6hp13cYNLzLyvk/xURvDsw/0IJ9kJwt4zHTYZFN76iaUcMxORPFoCmklzfV16XmQ9cC2WGu0EFThzVh6MxT+PFzQ1s2//srW8s2SpkaMtRRjXc/6w2gKsE97yvTOFt2jzrTZN1biXvyBDS7k2Grflbg/vmzNY39hZcAKlk8sPPtiFb5MhsgWLZFzNaXnNet5SNpf6MfZnvuIjfsXyKGyee4XPhF126SZ/XCK2nS6j6oi+bYlG1GlBqC+b2BfCtEnt0Vg6n66vtR/5mDIzLluaVqFUdxuZsALiFea1+/rstijl4EVmrmEbDmY32SKoCycO97/Hbe9PiJjWrjsflsIqJRyYoYXNKkj75py4GPQRKBqxaSEhUopjcH2SJvIyZQUyn3PCQ0miEfMLZ7Gv2+/4/A5t0aSne/kDA/EfDaDlfxO/yCkRNJz89ykpAUhk+C0IshS1VGWZPqoCc87qxwBJxSClMT4vJgIqrNXjhHa5+TB66jdJuWUyHTxlKSKTRimb7zAv37iAnrn2QQxHMsSMxtkatjkxPKLKFO0gRezRsYjEj5KC05FQC0acWl1ms2IQN0vQZaypWb8B1Y/DAW5PMh0JbbQaaAG/Lnluj3bNO/mDEStU/eIHcADqGiKT6SD7HvZ3gwF1VnaSSWNC+fZouol4DyYGznNlQtCatiS5lAYItLBh+YKtzOeJqcba5MvwsIRyuGliRWuzmW0Ld/cApZl+N5QnH4fwALmcNbIdG4pJi8wqLoeeGGb6dloC8E0BSWJBQnnDtFx+WtUqdh5EpFftw4y8QZ0TFhGqAMnLDUAwqc45gHpDT4RheWs4OgKaeyWEbY69vT6/4QgJFi4JU5h/lLEF2d90ck1L0CaA0afsaUCv9OzUjO/DxP0s5HMz709vHvFiGusnP/6NQ878qOkkbmizETuau8NG+/oYx3kyTRQBVoqHfypN0WlNA9kNcxpJzb8MOiepranrPgKMb1YmKgtCuhj2soRhOW4dVuNtrs1Vm6PZX3Kh3u5G3ixrhocPxFroYKFArqoaN0LHsyFJKYYgIoVAhm0Z6y+oENmBr/pQdioR+McZmPftB2GLsfI3RAF+ooTd41cyWDM11WtQ/9MxsedijwiyyFF9i5ENFU2RFkzLxfTvxZmGxWgroDkh3PQuHQrJco9vnzzFrKPfqwjtpXewzvZd1nmljjhxKOWlhkpWoK0RL80nPLMJC1wf9zVvxUGhPkUUHHmFhM9+on6cq47f1iDsTK5EYxFmS7rNhvb8lyw+kGHJFmrltwYA6MTMAhraNekVL/uKCcocH/Ipwfl0pyP9NvCLJGcmi9ugGiLTMJdylGJRhu8Kfc2p1sOE0w1P1GZb0XFVHzNISpUkqkv6jFad23SS8Iqfiu6knfgSYpP07TNB6eV2pkEqMhMpYsvIxmzVxLDHPGfauvCSRAb7dnUNqrchGSMP6GGa0C3/m81CovVF7WvghXNuMjuiP16LhP0P/ow1Af0Df5KS3uKGZ3BVWSL/zFVVj8+NrPxs/d0Z2jqnkNpO6Q/iJ2IU0uPeRUt4x0pTaq9j08GhtIg8wLYrnLk65HkkEETdIqPvSVkCtZMNw7FjcyhJB7NazsEcQiF/G902AjkqDFy+MyMfjOh2G0rIW/DThySoeCnOdPxCwz0nCOnE0zxONOP7RWgETdPxhSzHvyCXTyeywe1Wpa1PfQwmTIur6iZDg683PrE+/JfF+2/A8uJumkdByCCbZIFKnmST1gmGhOdfJ59e6uavQ6x+DgoxR7KQ3i5DeJBG3DXRTaZtXA/a2w0JJjDUltuowUVqeE90+PlC5ndWZLGVPhvzs73MQKDkhjKMHG07TcHq4lQqx7Q5NBbpsNagExdBgh5Ioec6/yvp1jm3MjKu3wFXl7nHkqICswszNHoSVt/Qsgsz0EYPJKK77jfGYhtKL4Jr8N6yWnt1mOce6dIUb+FOWJJjvuBX2p8ZPTDEIbQrhfYznAGwT5W4JPEeyKnbXZ+AAsDS+7kVfY8/nHEJm9m7rF56CK4AMWAQjmmbCm1Qe6+tneDuhaOLfKq8KeZgD43nnnxx7EKTUxX0ZE65twc1f5RaoULNHtTww6kdD51/WEzwUDA3IrQ594LBhpsKdbwMMagpgbJLCFNob/12pU3FhpOmq2UPfsxsnaVsSTC5cWJme3xfNH60rEX6mrxE4suJWoNO7UBpog+1J/bsJwpWYArRaHAjwKaWenKh7aYeFlid3P93yjtRuG24k/3q8T7GayJ8FnBpZ563k61ZaVeBlgApsXKWZlU85J8qUO9371JI+JYeaX5k/KRD/1xXvczV2iJoADSQKoiNh9wGbHB25Zb22gIl9nWMJDefxKcSFWprrDFUTTvZL9c+pahGE4sZVYqAvJf0GUcg0HGly/83ABxdIMYRM/bbCBxrT+9Vyh7TdkklMEBjCBGIKybkNk1Uw8AwxHMfntEGuYoOGYuPyiyXheDYYR83yTxNWUoy+m0hF23qeOqWShVatA8oB7gKjG2qRhNTaXgpgwO6UibjOKUI1M5imVaJ3F8UlWlDikrQuOyltMgVXY68YIZ2tzZTetm6E3OEdwy/w3ohPdi2acfjK+PcKk4PZ/upkj1+Zx8SBda0jBvSVV4ol7YEhQ/NqQFRIA5LkItk+pZA2jRQoYOpq+jfbgMp3iSMBhZyLC5uTPP7pXx+zmxCXAH2tKc2HAQNGffFBamz3bPnYoJUtVdnjsg4KrrUCmXCiL0AdcsP/eLE6bWsl/MIe5+V/h971o4HYiGSBoWlpqIOe3YPuM4BsWSfnBm3WtBnblZKmP9nyqvEbof17ASRjVbKAj0N/qu3NIXbCytmE9ExN1FQsdmFOBowyOEeiY6cFc6nUIs5SoAcNIoAviXecoUQs53x03xAAGTZYNYVkNiVLPyb50MQ/SEmb2xH/GB6u1VmGXj6Gio+xdGIYHhC5FLJoR+fjAzxyorBpY1sZQOacJgJxqM5wrW8rM10NhzKMbqzeHJ9HW/x/PQYjOkvgu/upK7UkHFcK3dYXYWMF4IU4VE6cuBeCdJy1GhGO7dJAHDe3vQreWJGZJzW8y9wJUThA67hxdw3ZZrgOS/tluDt/587kVaTaMSNU04N64zhaNVz2fN63bpJQxKCFWHKCNVE8uj1S1B1da7kPTg4EncOvDNlCPqk8ao/8n5St9Ay1+4mGYcISXIfnLzjKHXWGsZf/S9ARbwYN7YUf+jwqX+RvDxT5Y5x/UscuWC7Az1aHElDIlRGLEhEkSYtKm3uY4S6450w64af4H8Lo2/5OxyxekhHMlCh7JT81IkH7mQ/GoRteyjtT5TcaEZyBjb6dCrxegFZvWBOQSjxFbSL+mSX3jRDCK28evM5wcELMkJly/pbMCbI5RmqcIvEF9UNl6Q2ljqKFpYrvJOlBU8a0m9jeR5mnWC67yGEFpE6lIjwoUuVt5hZ6qNHQ6+J75JGTQfLPf7v5Rq+Yzp9v3F49ce4ai7cjnuZmbmi+kQwhvhzOj/tezV9/EkWvvLJ8YfHfOOsnsTco55r7VqutpBOpWB9uDWmVeQCBJmUP2FAR9EPpz8VzRcR1lOnZrRirlWsB8/GC8eMa8YYU3lOtbIz2VOqBg2usW24qF2fYT5v21HSS2MbIShubWHIAEnNYrDdUDGP01oqXsOOK2FWfzCmykIy19SUo/hfnxYbxZCevcIgCYUtb8ba2KpWfgqKaRKd70Uh0zSTs9wfnz4Z2Xrg0zwta4IEkPLT+fwI/hus8nYT97sNt7ggfEvm1SP60tVWwwSGrB6qAP2yBh3J2i0LF/3uJPr5NR2JQwiWmuu/bY/DJHdHm2twTem+EmkU7ctvK7YMQ7utMQPoTH+ZAgmFE6gj4a4qhf1BT5KyzlUr93G986YVqBczva5HUFp4i8QVSBpN84+BdtkFCM5g6wLMfeBExRcKnPDYuwGKB8cKVxD2r6ww8xpydzKS0i8NS6DGQjceQAr64d1iP4nnJi8d/UWc30VsZZYaoPh/d4VsKoHKXIC5vwSStJoPUvdqXLGkHBV4U2o4Pr/Y5omgr0/rsKQ4Od1YyCP+toqxz+odqLN+JoS3Np3YJzOHoA4FY57bFJJgZMkbf/QOnknNBXdmaNH+lfBPvKxvFGN9FWSowGyso7K7nU+JJem9PWvFA9Lbn5cJgDvPnk3BjTwX0eOYnc2t9DAKfq4BqKIbWv37TDGcaqB66aVM/lYD75aVTOVnmMmmgBYwd3IpcAFOyLRkx2CuvltQ7aWgmdfacp8WLZofLxZR0qOnm0rBXUyJHNVvr5DQ3mSHsTt3PWnvjJcQ/ohQcqpk0CwP5qJ21ZzT3C3HB3hIdWLAbkQgTEZ+8gq0S8ffMdw10cCEyTKXwE+rCd31fV7t5bNKcn745VMN+Kwq8x1Ot+Ew9ktAwH+2A+Jbvh5M8bSZ1SBLEdx0HSCGYpO2/WryGZul5rAaJPWhsHTuEz7V5lTgX9/pq22RTzNm0OUbLRfVA7zPk/FMsPbSgLtMK8JSVjmyqksc1rW9VBqXa0YEZIoKsol4idwNPtBNHA7Ozboa0C7k6Qh828L9xPqLUwY56HgbQkUACr154JCIJp+z0vtT20zkJUPv7aDGc1JII/zL/9E0gRgGevS2MhbAnlZ+bopuLyL3run02tbyLUbPtCFiTv70UEJ9JfDC/feDpnYvOKoE3HtvITBsTIiqBQi9CpqPYg46RwEw+E2+EbT4z8rrJ+K5dzSg65UhVpzysDCDkmOZJT2AaSKt0SU17wybbq4jFkQUqpUhxFtk/lpwcBggcudUg+HkJ5kDE04Owp7cKF9vLw+bpwhtLUsz8ydtOzIz5m3Jsx4Rxn9/Qxp+FwGLzQYur3D6wUbfC7i+iKKjc598GKPd+DW95Zy0OPyuvF6MsEqlG+YQQRP2DZyKcAA8xpf7pn+Cw1OR+8AsNyfYfrtNMTX2CIFX4mSOL+6CXbZ+kWtPCk0/D1EXiJwnD/ddDKIM8NKDdJx6qgl8lgEteXTraiZ5aIfhsukSLLBOz7ZrBRlDDNhLU1mpi2ja0Oof7mn2H20kqhhc13jYktbralP8j9Q4WVYrd2TxTlABE1vJ18IOcZMhtHVnuijVDAeDoBko+efoEsTySkte1m1TLVkPFShZsLWLMzW0+2rN+KTCUiQVGbjYJwkkVF0062hN3nWYEWtrnT8HC/kReQ/gHCFG1QlykR+uuUz9ibluT9EYvkHg8GD6buTE6C+ZORS1CBK1a7nUIICiQ0j1ghu2s9azVw5SZMME39J5BiyrLyZomIeNFYHZZL7xE0ADSZwuZ8XG+sBxFB9+OSGGqO85Cls7L1H4rezHxu24k/upf7Q8TRUNvJeqq/IG9+OCM7qT4UtwQuKK3riVHwlA48lnyrCWoIrj96gZyT9U2RBu4eiE3mKuFRWnSJJhIjWeBeD++wl8zIA3PG4cN9rnopyjRS+mQ2zEBxV9G5r6ziIJ8DnKrTVjq8tKzvJ8fFumB5m/12h1ZrFLm/iW7V5S5F5Zf5zqJhGbyVEsR1JC9eXW8YCm6a4KG3wFcxP3t348B+i+uT1SDUhhZ534V2zw1yodOyuWQWNKYDW3pffDDqU0zO8jie5eidskqkw5DXY1bCBwxRdWlAqkBlOI5xGCYGvhMbCWTdS6AVGEz4Efb7sJsiKLcHP/eUs06DCUbRHGpA21JK/UBcC5T2U8Wu/C/HhpZoBP6oNCjrsmJP+8Khi38hOBUUa68AJ2ldT9HvCUqrRLo+1myR1/Y7R5EXfohA81K/C4ULenGa3XlkZqIjtSaeCSOSrrM8Ae8zn66VO9o4SBGLt9wv5Gvq5D8oiQ8bGsioQdMX1mudv7u/9VKstK0RBulUqBS4JW4ygwA6inGkPzFThZVqCoV7j+0jv4PLwNgPdVcUd1fAXhhm1ShEQHuFbYlyfGTCxC+Xwn8oW392mC6KZkZW1m6x/chOwb8YMTIMvVXRDPSYM0yuFfsBq3Kv3MDxRaOTBWHQpTqGmb8hOFuyDwm1/VMpOB8TV03Uk0WTv6vqPwMeJp95s+7yYcxP8YLKmPHD/sTYC3jDFkyj46pZsIhYTmKrgDuttvE0ZyPr2uwvxYsUUGmaKCDzmcuF3Czcmc0WZDz/e72ulKplhEKbc8h7gPV+JhfCp+ki6N+XnnD5wOIkF0K8G5Runflm1zDZIklQzc2b2LmmM49e5+8MHjjvj4Tg6H2JurCx7POZyxapzSx66KcaBT/sg98mDLXkaKupirgf7SBxwlezGn0EKuxNTrC1NKMuZT5bw3O25g+i7f62bvlMGmqFVKqYNYv/AdcttYsgFsY7zJsOiu/n3gpAgth6jw5sI/EtzXxJCx3P/RcMl/HwueGAfXurL/aus9PUlYI7EJ1ikjOHYm7/V4Tc4LbU4JH/6kxi1ON9DYRrB5QoXretESLq3t/z5MVtKU+vYgNkGVVAa0nIibmzmyG+/Yq42YSKjfUZLH7sd7Y4cKoQMS4hremLCBFIi31ER7oeVKkf63NTC44Q7BCItgXKBy+4HN96rR6Fh/SMO1Mj+olvQNh/AV8xfnAl/whcpSWh8e2vp0BFuDh8VPr3mDwaeXP4tZ8L3l/bVPpPlgH/ob2DAT9XBlaqoPWrpKGGcA0ddApegAeSVxFI8MP1Qx+4mkI+ZVyTHhtFUrIt0hRITpuczmobGkIOTcrCSxXRS2GZlhhXjn+0q/d9baysIMNZoFsh6ohf0fmABrKtyBqfIlILXbkiLepn0pHSdgDFcG/gCKCW82eCW0iKrys93TJXGSMmtA+2JbhLWk76EGPZG4JXnIpDgXeBqfP7h87G70jR66gqEq9aOjc+5SySWOGWYiOzrWZgPFLrQqyAEzqgaIcnM2VDSkEuyPO9M9WwPniXsW5B4uYtR5yIboGnhxSIhT7IGOneTbdznj/ycpiztM8efvEPSXXFvPqWbV0LlSSCKte1suyEgZg6tZFQQLwJl5aJPVZGd05u/0bMWXDI4YpnLXEhWpa5QZ5ykTGc+YuwNomUrWn0JNIKobmt/6M/kknX7MEEDVb6ulFeN3AABQe56H1r2Be6kEzqD3rfJY6UkMke0PbkQE5hlQaNeHDAX+MEQAtf9yzzrw6R2qA0MVp+31uLBJieFeRhow4atmnQfLqSPYPTntfR33fpbFGZjHub40qMSH6GjlhiXqeWncf6iMv/Iz/svvD/HtUNL8IGnoHVpCcXX5+L036z3TbJr9sHtep0lIjRp4EmwHhpiqtLuh0VqrbnjHtoJXMfmrEExjPM669IHW28zImCaPkv056Svvg2O39TinxiF8jfQnUQM5+YWq2JPYZ1j/DWEfdcgZv+LnCiLgGhkydHxx9X1ICQ1XTb4iOyvoUDtO83PCiya3zsee9p1qMUZ6VH3u782MQ7BKeltuRYB7j8JJPQFuv/cozyVMSRW9yd+A7LzFngqKW3cFbMNEgQllP5n5hAEyCmaUFanMhzDTOMt/4fVwHRl2/gwETW2lWA1KwhMWxml+9I02ViQcVchx2HpyAsD97RWv2nEsFUgffYLtD/w9EYd6OzBb+kw/JKVH5LSW8Y8SOnOl388wrZXyu4DljCUe8cCWnsCdtDpA1appIC8flQuprENLjNch424DygpoyU7mccMOufGOU9+IY6UPu3ukBIIsmDnPI2NbAmjdgUrvbARo0Vfxm/E1Y9SrPHEuMKDPcuwQqMefdqryGjh/7uKneIV3Iu/SWD9lu2CJhj4mLmvxwfuALm01PYe2O0cbZbftf9rCi8USe8Lv+/0dfO+ooVC1PNzoLCEiK+65F4QwTierGadgf3ehXXT8gwBtPvdAMKEgVQU9X108+B3Op0e7ajv+SkZnsXI7RHIIXmUWbTcauCRUUTweqTnf6LhAk77wggMaT3enpAu11OGKjcjYBnUoJ4+nc4OMaN79QaH4Izf6tcmFfr6z+QS29fW5buJmqwEKHni3MbkjRsjy23K2RhEfqUicfhO+WdZ0p3cXatLLOYj3r+PSRvt6d49LWSAPzSHaBpB7AN6uc0aNoBOpMAeijXmOwF3mOlQrNqmHYL+alOmxOSbNw/pxyJc2XxV5HCIrQD0vtnC5SI29J3AQMEQO2zkf7BDSIEYi7E8AsBoBhjtVl7JFWEpXpET82A2AYQ1yncLGQG/GFG7rlufZkUaC3whtPI4uvPJMiTZ1zZjlwQhqiO3tUYSBhenaXSAiBTNbpJC89Q3FynwzqA6Dq0JNnsKwpKaynLV/eovggceb3u/VprpZ6oL1QkK+XLI4/4YPLXJMGiIc2F78BV7Waw7A5148WLsIpQ12vlveYGBoCcx8wNErLdRSlKj4q2icTx9r7gTgIYMOlJmLmP6f/ZdCcDhH1U6zrqzoEeKHGDDPvNKQFFon9teNloliJiSVLHGXRqQMhBoSk1TDrRThq4w7rF0bI3Pm9kRozZb4eJmjgtZkdIBNpqTnU4P2B3GSbcl6AFnwMuLKG8H1LiRnnJtT0mwM5kGOjlkNu9XhQuaA73bLNXfrU/3iyD8SQLd1ZWX3MNY/HGwOXdkam1+Msqyj9w6HUIMvPEcWG852xAsjlUP+fUypEy6RWSvLDKqS/apJT8VFEBP/tKA4tCeXE4oTSqX54qmeEFwiEla5etiNeY3PwYfFdCICdPnbiBw7dygV1h4ANIivIVSoH06+k61uK1p7kcT7/zkbmd/UxUBaF6P98cY6UGnnZ4v2MPdsJiPpdlnl1UzvfG82urIzl83w7dx15hgzEHQiyuA0W2srXGNP1mYpSoRFsuJU4yIOD5wgUwDX/BRHUoURHpyvX0HCMvBTw4I/mo5NlKRZDlN/2E/+O7mW9Nt8upbG4BoaeafBr2gUlkA7VAEyI2EG4fEKIWc+ILGduAatey9yMEDh9LJnr1S0/uyuV6o9sk4/J5Wmmw8wWMTm1p5HqLTPq5ms2bUD09IrUNgVQiT3wYs8EyqqZsTtDV5SIVhH3JMMSXbI9KECqUoz5yIBmWuUEjpzNPPk4d39MgRosdx7EdxKY6Iwa/N2d9SmmYIofFZr+pqbAEWiKRDVUkyXlKYUoamAdAgVc5cvf7RSvQGUlCYgC1f691bYCYxVrLZ+oJLAiguH0F4UgSaQcw2o/nwx68Cw3ZC9tpLcnNPtthMceLtNvcllYRNtXwi5r+J6sQWyXnks+8USb9GMxRtG4xAdaBImUC42CRGvxeOilNDuNShlVPQW9hmNogBcoS+qhFP9DBpwIoqkJTDwvctK4Fg1Xk3Rc740iWmuPvnLmlgQBJIijureNF50u20YylmPhUV1dCQGpMC6WHKmSxoqUFhrNGlmGcEZ15uZO0wgjaH4dX3t1cAMUbhcxQmNteXB1H7Uaq6oA2G1wchVsDy6UzZiObYmcXnKqK0mHDIqjc7ywL74vxz3I7iMUOJljhx4h8DRqcYxhG+vhbzBz3+jzxzMy1BPHEuNmcQl8Gt8BOVy0Snh+crCOSr+BZIPSBiKgjKmiqZQ7X0CN3KOkwkO8XxTSSNaAIvKyEC72Egii/PHEUQe/K2g0jnzMVO0hJi0NwaFbZfbGB8ZtitSsFOtGWoLuUF8bQeH9vYxC+sIHpBA2KCGmYxONgT5/jx4xDMQ5qEMOPjq757g4/ybu155Rd18DSVr2bAuMcgZ+xlc01JNyboOOqi5xqAU3Drq704CO04ZR8SC/45p2SJWgS1CwzxwRIgEK2sFGhCKBRdJJvPlV8NgNBKGBle/kBKKTCmgPJMJU32/mKbLhJzxQF8FAmkJC2QCgdXkSGES+yearEwOZ72igel/x2zuLoMK7DbXer9IZ+067+ewFK7ycSZhErT4kteKdrbulfYPuLgct/3NVHyqyg6ABaMzIftIKMrjCXg/p0pVz1anP871j4A3B3MwrS/+IqXrMqWB2B15pl9wLooiR8SoPFPLbkcR3YRwvohj5nhPKCvQTTiM8V4smlaXf4Ua1jht7VgGDz0EWl0yUK+xM/SVqL4Upuam335geXU/1u8OhJ+s+uL7yI4e6Q1Ym+hKPTZRpeKOw6TTvtqcT3yqUrYMdYNGm+bGqEtJlZU2E+cw0xrVeBPNIWVLs8KBgmF1uo91dkrAo0e5OXkd8rgKtETzLiGbspAABXVx9eUTQImWQvcpDTlVDewl56ztdmidtv2FF6LcPg3cPo/b50mXLRzMRPH+UjYbbbHSBEPGQHZeSg2EdW3Fq/bLGy2DlhKTbV5lzXoAVIRFUe6BZs1i/vrbh3awK05rgO4mm9hLRjICDxZRKESbXbViesN8PZijaz8Ck84/uU3dMwFJjwsn6EBZU9m0HMNySne4+eKjfBsisUf2hR924ZZZHs/l1qydk6jn/sUNaKJ/aZ69DpkRvDoXwgIRAN4MXeSFQp2yo+2ehGk5j82Cxkr1zMQDpuPP1vxfEiQl2IjywgyaNUhjnrung7Mora834lwLpKGl57JCB4sMuAACCGuAf9uUPj7AtSJZP4knq/GiZL+QDHXevCCGcN8Zw3gG5clMm0k2MNRCBKNw3dbxJqi/cwddXSoIKefNhy0QMdFN/2YmdjgLQjf+d/CPwUxhB+SgncUrEDW0aE8XIz1n/GHzJ2/yfSVltREdJ+CkYin7F7wpTZZGX6fPxVbvyTXWiNMi1R8E1W8pv3G0pra416kobq+11Ldq/3WnU0TpwaF1jHRZUTmABR7ENw0CKGdU+b5NaDkBYhFmOYooxCgkqZZO9Yc90IKI5BGe5Wm/R2imFW+KlHROrDLCMwGm83XzxP5MLIwBGgpBvDfY1PKpE6YK0Yt/Jg/96DnifHDW2le4LCrgQSjedn9RHsBSIq7lUnBF9uetBhCmdbsWvEwW6BGMaho0O8G4S5/NPgk1Sk92U8NwJWw1+rPTRf0Fs3GDcJvYAuUOA3vPxPt2zK+orFFsz3jlILvOc1XA37YIbgTNez6yBKFPskbphYlqjcP3+GnqfuYVYYAXBtVi7ZCNEajKzbQpc7l5wzBxDX3wJNLyFVFafsKSQ4M2zYixcwvbefs24NuGZ8oxajaURohU9mJ6XTLIeOljG+rm/dslk0n5AMxBa78I1aAVxzMkCYIWKxu6YccX2d4g4Clk3sHyUnavDl0Sr1jPixQI6z65lXPoYsrwiaW6m+BPs2HL1wCERLgzIQHjlcksTo0OoCNMeeq6By+Lj/zY7Y/MiSHl3db4j96jNzu3ZNU9q27quseqBV6V2ToR3xCnG2o0TTNVjHC1VrSnVFrjoCSqgb5NYfr6+76lLfcL5WueLCi3tRjHFVAKSWb+7JfMTXcma0kBVRcPHgzJ8eDENnMgye1dVIPouw8Q68NLd+gGqbyyhiSDViWzJHO83elviiMUnO+0a6rigfK6WCOrinmsYwyxAYoFTu+8krNvS12gOyUjEXmVcme4683dwRKAfGoQpGzOJLo7xTnziE2UXKxqCTzA3O/A7cvGnOAN+DVcgOtdxp9f6ZmnqzDG/j++RlNWfby0ZTa/VcnsrBYpF2LCZwKCNGTchQ7FfV3+GU80OyDX65EPtiQCuViHlQ3DmOTkKhE+pVza3HYoTl1OxOap+iFIClxERVG2vXl7Cy41KeBKVZumy1j1ds4ef6CIwG5JhhRm9oDFzUBQZypYxzXxjZaXkQGZP5RUXG8LVsI32TakpTpUj3oTMLVgBa4IWWMydLxEy6lX/5N2U59cwhfjFdvf0aB6DvqfaWVU84Zhg2uLgGHLUV7pbayFbcSPpqXVzdYXhF+aV/+jgA9OnLKeb8m+qELmwGg3A0SZ4V0RWQK10HeM+INO98dBjaA87Xn0dgOz9hyE/nPpp3N6B8iJSX/pHOENoFgv6vWGdX5jMOQGHwhSNxDQB7V4085ayu9eBjn75Hf6gAlFdxu5LOikaUdqXjvUWRG55BRetc2uDMYdgZ2x4zVKvsCXTMUuEyNSYslzRMZh1uS3eVH5IdskxHh+KhTsXRGEp5jl9PUmIvgzpYCIulJ7tiQlEVUQKP4eV3Z2/n/xR0+S4ZkCbwRBHMBX47WpUIqTWIb+UrYvaqpU7OTbvfQ/2XrZKnTsHZXmcAcpMcvEyOjP8mZC3GMuFPBqsb9THdJGxl0yf6KYcnUdLjmG0Wm+ugF0tDphp4LBm50Eq1EJYi7OUhv/ePbsGSjHWdLX/VSRXAKk8wBsXDvu+piUwcHf35arjOm/0cQEfKR/JCQuWo/fVAj1Z8X3LN2AVZz9wXkRdxubki+YhoO05pCicJyaj+VP7ZbSrtK4yZmn0cVEgRV39n12Pkt07oV0JPQ98UpSoDpPJEc2CN5M1WX02/BD/3ePHgvFiBdK3lXlNUR3ETictORdc5ZZD1oIeglafyTdIVdyq6dOK6uyQ/ESxMldNqFHHA9ublZeNFg/HauZCax/nPpVrv0A7MTJL4dZtbSj1Y6tLEgsehzbGGnXz718AkLpkfCvXGvI+zJi7NMMYerjjj0y+uwey1ViGwMOJk+94j9zk1R1DyCOx0+6UTgHylEPxeW28wToGAU/9ep1U7ZKIDYKrCRCs4665GqL1A73l/boxFnlgFBLiL+Vh7ak+E7koZ9naIRyzdBumogWSLZIoTBthCjON3FyXLMKeAuFqKm/Fq+MdOWv5gNraXW8I6wwGDaCJV1rcX5y9oV+wmLcQHq1NlQqOO/87QnvExXq5IT5uOHt8h7it8Z5rgE5A++67jl6ZbN3fKo5rlS+LPsbWdU4Kqbo80c3nHKNAQhQtIf+bkEXx+E8E4dxvMPfI+tVL1qek5HHYr4pBxtPf8WzgsW5cigyYt4HarghqyC5T62ozvRV6Ry0+kc5CWxPw/xvpo3FiCEEsqQH5NnfokBlblRrJW5IEbBMdzHiRW40bFhFQ6AvFhkgJ2qJJ8wA4oZQMbvmSKVgonVlbmfAYd9QgQzgF2VvVHz5+3kNgkxxhHr7Ci6LcY1zEb4WMc/i3zDhj+Jm8zz/+W0vO1Pr1aHoVDKzIwnVnE3NC/00Qff+Wr4Eg56e1FHW2PE0hkKriu9XCam3Px0GHFpdOfMfxzVc8Y+DvWmpNkWb2xYaODHZ7cExITtd+s3FBA0ZukdBfvX4XlqzhrSulFumn5XgEUmSwYnCQhs63I8dXykfsHncFOe/U/Sw7thJgtcDk7NJ/HXC0unggZayh31VuEy3OGfZfGZj5aQfR9YAuZL7AyW1N7MCLERP9ScB29jGLy8w5Y/8DPBIALOM4MI30O3OQpfzCSCirP+UKbir7aAg3Oj4AYlXbrUZMUM5SXIJRKW1gCtynTVc1K/5vLHKtQOCZhWvXiZ2Z57DioglloVYKWvgXnIOxcbhKwExw5ji2XX0e8ekzwEWRqtG421j96vF5P3oKYrv5fdiVj/mf1LqXNNpTJTxQYQF6dqPZpVhXmxPEM6eHujJJpfMljnlEglwHONitOVdFd5kYjs5Pvqs2gHPAeVwurbYCxVqoFhsR38mukO97mDaIqZLoUoU1k738RIUMRViuU955vvioFB6m2sVAmJrEWD3OSMdWomokBd984d8hgSbdL7b9RYU9aAmPV7NPtfnaMZKW1Ey7hMEf4vGDaGu/zmf4GfTqlKqht+cyhObI4ehRFNihTd1xCxkPWFYFOjLr8PVkPQw2gaZC4pAqJNES5xWXMTiIj46x9cuZslfWfsBFuNeV7LzPUFVoNUSiiJjA3onAZQBhE9x30joqz8HllIcQA86mYF/I4HK4+1//bruYj+UXpnxRPAaWcJdQfC0aBt/dKzzU2Ke6JYSUPSM64Ir1/Kl8fUbhulX6H7cx//PfHaSezLoExNFhDEImNuQCp2dWr5UyRqwbHTqYxGoUyfBs7inRD1IqeKLALesuXS2cReHTA0MW5us3g9LuTDVcu8SssOC6FGUqJjeJNxJhjjuAYIc2bZC67IGY2lnD2yP/lni0+Y51GvLgVQJWUjyf7u+A3ttRJkHOUCU/tpThVDj972copFsMM7haA+CMQK5GmcfIDdCbqCEBHxDGi1dPlbvsWmuSk6DeJul79T4kSWnUyH8XEdy7+PASpBoCQABNMWNcDYoglviOYKk880ZuvbuJAOSLVJ5vAH/15V6mjcr5XZ3xzT2AUjFel7e8lCn79bmj9PHEeQSIM7DcJAaMTDobOzBaHStxp4fUFdJVdFGlGAkNdj0Tj420xJW37pQ9DhW7sZFd7uiiEZ5RsmktX/XhqZ6fnJAC6IR18WWZMNdx7bFgzpx3biaTFk4XimFsIZheMgD3t++SGlAJ5FRpwYHKUvsodvpANlY+16GE3VAzTyvXBgtH7iwd/LJ1zEYDk+nq7UmpRrZ1v+8vz8DUBY6qpR5WVaX3dXrrDWBsYI1D3BQcDRaP2r8UvNkwLbyCoS065ImeSTH0P9rRXqBmKIiMjB0qEGAcsuX4TdAAraNK26m5tHmBPWz/tSNgGbnUhzf4In8nTzXc56cO9dL65Uz//zAQkx6lRU2Aud31/v0CnSdVnScxw14duQh9Boad1gwKu5FWP22jP/ZHy7EJzneeJm8n4I4u+ty2RpXnlg5aMdIATP8SeCGLAZxgMxgqUOFCRyxh366rS0bQf0RSM2KXFdqr4I4Vu0Et5Qjd0sSeAxlJzvHftUR+XUc22s8Oa+tugRz5F99JKFw0PI+/KyqYCVXvZ33aTdmZf4oZ0Z0kk5lzxlXBjuAVbwcB4r4Kf8MTbtMIyX8etz0PDskV/+OykRd5JHwa/oHU5bUOyMpKQoqnuEHs5MpZ3Qg3uifipOrNo8Cbw9q7OKFh/s4wrC47VApgGG7yGkspecA9wAufoN1TslAxu61Crn5M2xgTM3DaGB1QabYZDyCyUZ24ZubUlBMFlqxq+6FLvfb+i6bSfQvDizX378XMqrzDmn4Tz+Jyd5S4bAmB0vl1aHLxmFwXp4eqjG/zNfrFra8kA/9UKBf61EX2x9YOGtpEPdaJMEEbY7ArCBupHfRvw+gWG4z7DZp+A2qD4EkvKrDHskOcRz3W0QWZrngfOsXv6htgwQ2CzMSFIWwmoKAMwiZZNe1V4cMEg2Olis+Ag6u8sV+OsKmYInKwoX2/8ClyUdlUAH3G5BoznC9ybvS4OKBgx6Gk9vD/PG6E677+UiYSZwXlJqhnJo3G7ytH9n743vlTswa4s1OyxVRf5ThR7Yy+2PsmhNWN1TP9RDBd0V1Jx+dQOxmvJ8VPe4PEWVgfywEC7lkr6o1BIZsN9ZddtHCgGb8oL9/jLkkvtx1ugtfIBZXUDvPoE1PfMz4/dDnD7NzZHFZkeg9GD5H9Zg/TlMrekfnSuHaJumTEWbfgw/xGPtJYG3bbzi1KpAmaB4fEjbiqUP0QG3xgnGkSfNvnSjvkrseQiW0lIdUTz4R4fam/WpfE+yFhvsOQnK4DUH9omqy9FJ5FyrOVvvGhVpU5cbbPvTuwrWQR0vRXTFPyu6TnnVIFmkJNBXzEJ8rwhLODbzr9hx/QhKZd7saq/CHPf1zYzQX1H/ciriOiQ3c9UDx0g9cXQyO6nGNzgwN1IxMmak2OnpemHfd19+KuNSecmXVxYUg4EyzhHfmr8ocIQiL621UeIh36Jvi9EyLP6fo3D/1lTf0/dDuNpHUEih5upiNhrfI24GjU/vJ5oBVLOIoImLuE4aTrAxwDwe2sRBpv+jWlowwLpzGPTE2bat/hFsyp9yTuwLWPmRb7yNuUL1hLrwXxLFKKs73Ib2d2h/vIwinOJmoTz005od/KvsZqtl3RfUX8mJ/tHS4kz4X5gmcGSFsPQVqGwpch59Acxz8u9iEqQE0K4OSILtuoXJb1/ysSivEev+Vc256iSfwzfVUEdcJ5RyNL2qqsNOwqfTAdEY/bL76Af8FtjLyV2VFwU/zCZpcM+bvxgcH6xEWZnpeqhS0dk7hsbdUlgweH3dIMIh6BXc9jBWmv3YxjCuBZg3SfR/BbB8Ztd+4bloWEkaGvNY+Of/rF5tM4TH1SGw7VHLk4cXA24JRF1vWsuPRmLJgtHcadGfERDCdo+hDVkqRVTgFFCDoTSdk24db540ZzkX05IR6aKY7CgLdj+iU/8DYbBlH5vDmM6NSVKaWQ0lbt8fVL52PXRicdFNDIZu2MObONor/6GYS6bEh8HPuFuuY7fVHj7fv8/82TIc2WDwenussVqDMnV0r17K7ziMr1kNAC/8WiTFx62GzlekpOW5OF7u5yRqZnDD0HyGsfVFp6j0gnJ8VI6mFD4ero1oX8ReiIEXRVxdX1y/uAxbHlMhmHzItDatO8JBGaeYWi4FaPEnpzAApaYsTqg2ULhunk2CStjpTjHqt71kxOqo0ovGt2PUMCKyiRLNduQq2NNJQvdQVpQRCd6c3IQD43RG9jsbjKAndnQl5A5CyIEzEJ0rB8HAnYl8ceCTk26BnJAKUreCaBF+eOvN48SnQFi8GfrNf2alOtsEecC8dJ7tldA43zr8F4joomYi2C+tLhgrMP5B8esg+L/a0/MJXfHQYuwyK55nsEHh4L9ZTz75BlcdXOdYgRzPttJF+5Gr2F0Q0+7Fg9ePBgN8Mw8rL7F1Uzs5xxR5zMSSyAI1lKwkCB2wFwUkDvUMs1HdIpXmSW8Whl3jA1DtXBu50zowf8dLTIpawpqrpY7t2MlyYnQEAzzbrW/fjB0PSRAL16MFMS5eo84SEmEF8ZfBPrM8gTi8lIo61tCav8+Hrv+0utwurPH45GPYCVJOnm+3j2yJotWkvrTxMz0hrClcyjiUXNBbJWKi9EkOwsGqKgI29BifJwkuc8qc1iucaNZa7Rq997tnzmsKZaJj8ynuH2zJRwUTwZB3HqkwXh+hdVV/feczcfUYb6/WboKZQUvZlgCsQ0bgLVAE1213Lr7ozwESMCPXj8fyBgMYF3TL2IvSg38kbL79VqVGngLc2JrV4xG8lvcO3YP0xQ50jJipOWaEC20okb1Dvp3oNswPLU/aooTtMKbvBScSbETFPRiKbd4/PMz9ZbMr/Fq97IOyAGFjT5EDRP8Tt5Ucg+LTJV8IFHjPtXnkT3sfbJbv9kINcHOe5FN2tsCI8oLFr3mEKYOGFgFzNglMXUHjBH1ARqCwR+H0SvktHNs1F8afXE3REVRydh4JkMAs6C/AMORvrWWkIkuYECPMVtbr7Geqq1PiVh7s4l9hruFqUI1Ou7HOghxoPRKOTttMW+/8vYnXB5qWSP9KvTolqSZRU49aPq8wHshNgB/xYM4s9cwXkFg+yyyQUSkkYUkuDuyBsutOCXy88VUF9Xqu/xJSipxVxU+W0+ITQ0UonJr6QgadeqQOChRjmAOM2LHOJq8JBcI7cntniSQiGxU8JQ9qKxg+0mQzU7Gkf8IRDorQr4p/kIzxbML6isgMfh1G2QIueLqkoWaOkb+Qd9BxE9tXDZhZ87nhYomTLcOf+d+RlrHUDNzMAytQeEBn17ejdNGRnGPBqWfwwa90YQiJx7NME92TaamA1wtF3KqkTkBv3kWJ5QB8G9NnK9wQ2JDaNSGVf6FwN5LkZWk7be1OK0VzDv9EZpguEsbic6xxWgcltnktEo6Gbn6pqsqa3xZ4wIrrDiUtF91PRuCF+jc68Kuo+jveLPZCpomKosB4qgmP2U7zz75LBl5xaEVWEDejRJ3lmcRr993ozWAMRrkDc6kbh3y+WcrheLvjAkiupTRJJud33NELs1G0wkngMzVvaUlmRpzyUbvsagyy870K3Wph9VwzTY2ZqOH9H91SqueAK3fkwjZkkeqGKpr9aIofndhAMrNcBSnLumN9FbAJXgzM2PUgEYYMAhA1AMy0URai+H9qqgihcyTlfYdqfwIFd/6J6n+rYXnwBoSjol1ZjGXfmMnLY9xTYTJKYBAobJCJ4NE2uHlNYf4uDE2T53fy6cbp0fF2hi78Xme61AdMf18G8iHaWuPEIdw/7p33kATxeFICTic9f+stb0nrP/8UPA6X/HCKx9IRrRZocHn0qFZntLhrX4RvmoS+Jc+oI/VcVfMBFC/y2MTZ9Na7MfMJi0UbK7TfdOYUqn0AoZ9Ff2I+1cQ19XcpK+SRFGpOGBulnMscCnam4+V6XDr9V7bgNa37CNKBbd/4OetITVLPK0ugZFtlM/AZ9ytu45DV1EeuLXvf71fucdox5EPwXsDt3zs/x9LW7wWgSthgepShDaYEaBUExK6lOCcXkGNX6DrBKuUWgW9ChRhTvgKQc5lX3e509zHiXF4wQxO8gaI+TfHpum1dOrsYfC1SSV6KvTf4ImcFzrUrJYpFd1X4p56iFH0MM/rMgsFPWkIoaZuyV+l9n4afLq2ZEnwKleq5rkrNI7VXyGmIToVhUR8TqgovwjN2HzxyPk8mVJ5cifgHZ0AxFOHhlE8zqJeXZ/HqQYBQdGFwoIn5FKw5besliswLSADY+OPX/lDkpiYTa0Alo8Iz0ammcwMvkjhy7h9YvBxV2wXwiUH8CbXPa9yPb0sog1y5M/GRzgDsJleYkuKkfVlHn0Uxtud9SMLORxfPc5HGVb24WVFVHNTJOxg7UdN4OfK4GldEaurHIpG6eIx+wxQRmBELltowQUWJiwHfOAtqsdbQ68DkByiwAi4rox+cRTd4AMfVXGa6eBONwZfX0XUabb9cRos//fkTi8Wyn0mv92QGEVJr8whKsC5JIXP+rvNmaB9PCJ+QjXN8v9wgZmlVV7/61070G2h18DXdwN+l3/GGQxPFRwfyLR51tkLj1k50UowwmoqNpaufHBvJ/eFU4LqwJGqFkrpNujSGnHZSIwOShkIkA1sxyMYOPgXVTiDw/oJs1H49DR+38nKQdeDd6lhpZAO7dgYJd593CfELZLCudvMsbl48yOV88AIMy4hCmoyA2jz4YczudW8W+dvgQYhQfZXj0+SBSHvwRp85Ce5Oi64o3IDYu/5Vy0heptftJZPiK0T8rkX6P+1B+vx1Je9WmvE+x2Ediy3b3k8axWvcxnuc+Wf79S+p4rFTUhf7hDE+gDfooz/WJ2FGgIp0ycvOox56pYW2tStC8wGTPTaamidQF/287672ZY75hDhhanngssv6Xkr14EDXWJVlPumm7EAXHtxejRfidoPp6stBitIxW0mz14FtTT4BS4blNjtU2QvaoZj4PrsoAoVx04dIdRhMpkq50At5Ms02isrcvGo2ay81IETYEmJVJwafPFpQTQBtxxNdc7mgVgP6zzU/Hi6Uk9qPXNnLPzNmW7aKwDh/J8Th4WRARyZHFErgiF5ZbNDD2IWSdN0D51xBUutdJJjGtIlHN0mKXY2b39TF4E2CxIV5vWnQ4QIwkH2E632q7E/tKvU+PR2D7DaIL6QDLdrAGlORvIZRnTz7KyfFbQ6FNCqOId0Wak/fkoPLTx/RV/xx6bMlrFVKmxwlxz2tkN5N6Ko1aZeAfznpLU+wXAMjfIlmaIzkGPZa4SZSGAlpzOvzavqN+jpwAtsO8zzeFFovu19RVMUDtFDB+KciZadcW5t2b5Pw9p3w1+hHxPjOoGip/T+WYUZxAR8gJxDeC5832XKRsWMQh1EcDQN5VONkhyDsy86PsGBdihvfqjacpSbTIKiV/plRroLOQneKktc4F+HO67TGWAkvbhxJFCvVvJzSq1wSebWS5j5aVN+H5SIh5y4MGGRRsaGalt/OqO258ac+fM/LjOxEthWXn34VLXyo3PdfNY1TME5G+fMFTdwvYTRITIqeQupIDDKFivB+laFA0gnqOCXmv22BWB4+fz4BtqrBtilGLkzxzEywYLcTPwd/miBmgy/vxXGqssEADnVGwnN/nBWNtfJ54LfbgXDVn5XguqR/645B0MRq3WbVpVWI7UcBYcJzMHzCLEXw3Hl6Zee7IJ8ERV2415yAwaL+wNHC92l0DceWa1Pu6aqVE/JZNpiKyo4gv3HtFGZtf1mtI18DdhvWFT28USBdURCvnsvk3EGgAOdFnQsFdtz7StOz6WGo2TO+GmRuXCnuqyc32At/XWG8z1IBdZG4/S+TzWDcRLoNZ+u2yqSq7BBl99zexPe4N2FO1uq78Un4gRA0OYHAyCUlQu/mw3p7AdsNoxEnsMhW5B07EixkEByZzqhr6o1xztit4fstdX4FytDKFpXNzh8OL1VuyCOPYjMIgvQiEEsz0ERffpL0PYXtFO4I2QKKTpchHGSqNEZAqD6bSjmIMQncMeh37lXocxZ75L7nE3fO/bx1KjYraogKwqYJ7HJ12AObYz37CXQ/3wU/diCDpTtF67zGxEHve6lzRdWHeX0FlHmK0QYZ+a7H2Z5IAk8xZPuBgs7aGdFQzXJ3ma/B+WMRJlsvPUlLU0mcPxmuaKI6PER+5mX5OBqKguNP5N62XYwBliHtLoc3clRKdVCh2dqmbMinF5Uydydca4PEfKhD43j+7KAL+fDLYiYw4jNpn/YVRPZltP7iDZBiVCzPUC1r5/nsvGhHZSPsWy1E2VaUi9LrgVmqe3dFecPrpxBN5ZgA1QbpOnc8eFg2Us7R2ytB4pr9FzSc0cch39JTx+opU5E9KpvxI9hcS3qc0zMhSJYzPBtS5SGPmh5ysqL7PBvbaUd4rb0zV3buKG4iqUyMgyNfjv+8wr0hSlUCINib7VFDbO9hn9bUFjlEFH4Sb/ISJYB3jA12MLF+hoj0CGfLdP0QvbCQ7VGpPneUiOfk0wDcFEWsJU4pEYutJ7PB4WDmj8JxMrW3Psuw3pjKbX0spPwXCMk91xvH0TScLrgfGeevYOuCIujcpUVFzpvwNn12woPAwReiMGpvDRgon0k4EuRStPLCzGbWjvTmchcAgP+4Hjifj6QzAG0ZvOX9PQazjXnfDLvgJOl8geVGysH4adIKIbwljFK9Z7F3KZZwOvDar3XL+FR/jJkjnRMOyPUkVX7jOC71NvM1XI71RorJVsEOYbRWQcc8NAqv/F6jk+wTNiB+b+MDUI5cen+13iQHMfkQ+s/atySR5vQTvdf9vuWuUgvaXAfIkoYf4j8O0IRGMcZXDmwKuGMTTbp+HgxWUmMK5z1e5MHTVQWa+r1GHgeKcGXOqN6gUPwQqmaFircUqyg6Ec+EwtaIkqOlPuzaKqPHhWTwotjDzHdz2PVCJ2GIzSlzBnVURkoF1mWr7EPoVifDa2JFEaTVfGdOgJ4cfB5ekTKyfxJ6NHBp57z7l6o/Go7SeVz1yklBy1hzYR7xQtGGjCRIVp+5Hsg+lR8/cj7Cz/9/9EEQguZ/TWUMllCLI0VGfpH/2bzuUjXiBG58aP0oAR4HCYH4sVVEF126Z+fg8Hhl1EbaQZHEYQfm/XZY50DScZfp9WQ0RXbTOj7MUnDKBxCU5quIFUys0ahGkjfx7vI7FHePVU/n6eKPZRjSwEzNlDbgI1u1jC0y1YVOLe8VftzOGDb8Q/RMOMqREtnT0xaHudgJGVFi5ZIP08LK73UiEPrDx2s3VhsGFyo2uKls/QKw1V8By5LHR1cnkI9vJssJC3vfvPLxgt573DY/ur3o2Bf2SlodiIUryBiscmXbu5wpgVBto8D+DPay9m3Rsx7jPu4khiwEDMajpl04ORltvrdImhia6X0e0IDtapeGSJhljqxeFU64OPz7RMg/OqpkjQn401bC/bvaZqfQ+maoOp85KgoKWk+p6DlfuXjuFrMjf/NJ/lt1jNAUaj6YAI2kzBfcaRSNWTbmpiRc0Sj+QN/hPx8AkJPyNcdrtBWVnEq+KB4dsxlI9m7/Kgfrv4HW9pNMKDMC8yrQV+WJOg2JBaR7qedLcfyCQcAsmC6HJA9ZbnO1lFHt0QG6UFCwVvTuJjjwt2dVEZA5uA8SAQqfVWoKOLN0s9xe+WIltoIgD0nfAzJit7aphYgUJODv0v7LOO9DCBT47BthcTGsccJOyvLLn+LsgKdSL8imeCqCwGUuvH4DLzDuN3zEfknPTY2YA6CSJCJwlT/JyjVIbFC/XMotfZee5berYALaqOC8CqEvCopaygIHZNKKQVa39yzBNcXTI2nGDJgKqAioreuuhye3pVOxJNAAyNYC019lPIaG9BL47tg+5rMTtuw/W9wdGt3ceJogBNplt6QNt8WUluSEWgJvInLxQdICVVNl0jkjOnKn8UqjxuVO3w0Y8fGOtVYaBVEbmMs6OCTrhST1wZm9z1Q7b+o5P7I/APjeBGhGWqYGmLBvhKgK1CT2U7LIS6nWOkCX0r/CafOaNEvO8EZhXVbssdeyw3ComqWV71tuO0cjQKsLrZA5m+LKrmvP7NhZqq2FPIvn3C/Y83Mm0saTPIy23WEtm+wFvX96GC/TNcfp+04B/PJ0FHqq22kgvej7xCR9dKFKqvyioMwmRHhBmCLZkwpCXEWBk8IWfvHWpZFH9MtxhDMlX3DLRw47RMk/U2s8CZ2Ai6GQnv19CDNO+hYa4yu+Xrs9aYGoyI3CUT5+XkW3r1dEJr4YN3g4+PMKSczIY7kcip4GfHcef3+f/IEb66pxGm3W3xLmYXZ9M3Y6D+AA+SjELkK51ZmRWcw+a5XSwfRSUNjchek4kn9N58+P3xbe3RN5pQC/KYEg0LCsv/Ttw+2fdQ8EhuqfP9NjkgQtv+CLvWeySwiPLrb4dhtaTM5y+nVq0bfKgDZNV3hMHpGHRt/PHlNMRzqyFNoG+OHK0snX7XRPVu5YMv+4jGF+QfEzJloe6Heh679qT3VEGj+BdXcYgrLihEkKPPbQ5d8wnKT6ayd5lussVQQnlBSJzsULaYbFIYpWwrhy4Vv3urjjd9MSN1bvImGKrpMX30p930usNgeGLI2zeNPp3BgQ+sFparX7EFwiaJJY038jMFIcaCSc3DRLZY3MiGOxUYebnv/0RH8NACvjV6iXl2HzL8qNwc0LpbIpzXoZo7KqU+MKIe+O8vg8DozZEeLRc/F3M13fOJrQA58bis2jmNrlnHC1dprgcDBxF3ibsxMz1SpRhNf61wDeWTLYHDKrfhPy0S6A6mC5utAVOSOPqFZx7/UsIo0qA+Q/4h9Uw6AmTRFYci5rgHj+YrA7nd9Q98IRwoauNMWqD0SBrurQ9JqhPDizwsew2pJfpZ/2gEpXzM4+xru8E79Gybp1RiycmsPzVAsiEZg/PegMWgnzLW4dBzJyQ5xtWPjNQDyIO0tlJUiuUqQ9j4pF1cxIefr2y0L1b0wCxE/ndeDyxtecJJRyS4RQ5GO0HFTSvLUpO4yVxBUWXx+eZREVNUB+y7AAvJOEZADi9TcrEBtbBur5yxWLCsBjM+FrhvQWjxcj7k79eSJN1wSApbkUT5lyDBETfdvnnA2TYAKKfOQkKQDgrSVJcCbdRmFBnQIsK6KGEksPA7HA+i2w/RAHmXu5I4IqgTvqKliAZoLyzWz9xNpZgWMghlZgASD36Z8XOLy4YfLM73A3N+mbTHDaqW3N/NgjFi+LeZughKWFvIsA1yqQfgDTgVV4wBx5T9yidoKPCbW+rDBa5ejudniQPwgLs3IUeE4FN2uVHMmJHGzUYYeQEUm1vYh6oHO/q+7oKwdpzq1mqu/sOuKzJmfTBkDw8aO7yim4PWWcYHB5dbzJfSim1xgLCnuE1e4n9OAFPDdroYPGURBueAp728StPWesUUxAgaDHTn88fJV+RZ/iOt3BAfcak0yXBSd9YFqlG2ooAvpQRUBg/UcLAIMdLehz1KBDsfCw2i+0o0CODPa1ReOo2kd/o0MxajgyElkENgDKGS7x7M/SzBLmgJOG2JFxMuLL/ebWZ2177lbmBQV0oEOaJy8HMmpIQ6asmIThHLHSqbOB1G1TBeBLG1Ak26l0So9pyIbnnlF2fdtTMJvpGCTZyOy4RNJGWV5eJOSlVXk3Cv00oo/7z4jgFy3LsG+cnL9ih/aNVjSxj7tjmLcjQdtHaaI+Lx/XwQEEaDLKlQlRz1N0qGDJmJ9U50dz2Hmfb2/h0X17qzBgamCkdj0n/zpAhN1c0WPQrylyU5ff3ayjrpleDyfz94PLpaFmzurdUe6aHeZYnSyGERP29OsAb5vLJNj1oN15de1dt2kPRNdDcBT3HXBjKTZgNpFZtqTVoiT9kDRsIgEl2j8PEzFj40jvrlEyYMp0+DWzrYNl62CzEFJjeOdg/ocNl8i+/n2cwjV81htHJGqaOXUGB4oUPzITiJc+hgbuj3mjHNDC/bSVhSz8iIJkm7OtlyhpL18mIWk001W+ygzzRlshSYt2CtZv1qOy5dnPUasyCTInd23SSOjUYWv1bAO1akcxukPZxxMUrAQtFSD7QxFgeoKMfcmTKRLVOwYJqiudYFavoG0wZwX1wmow6rk9mkRteJABv9G0zavZKyvR+c35kpEMRp3+e8zKirIZ7sKk4FsCcMYpPMkjZWcCa7ATVFEnDdhY5xFxmiBl3Hp5PXWgFhrJhjLIbeINsQOKn3HqRYK1mEuzoVxqVT9bZHVaCyiZ8WkM94EMkAXHFRa8FbYT2c8qJthlxs3wSpInvhrUcGY3djQwOZBd4IAT+pOnUQmBMQbtzk0jrY5v01qYNfQ0qE/5jR1hJ42IUUovTyVAQ4pOfu4RbLSYQlOoblnqeKZCxH7Ull/cNYlT+NvOLVdzpfZljVCXjwArtQCYYstkM0XM5aNS74MpnH6YQqQQ+npE5ngqRcIezGE3XaBzc4FzOojA9gs7+FS9wBTUaw2Yv00KqK00Ph+6CGsjlFa5CTRy2mfOdwmx1Ikl6DZVUgKxRgtHod+DEM19PMnLrHmhWD/2b3Ve0EbuqVl6p2qlh6Uo324Y8VM7WnI/BYbrFm+hGujoTGzsFe9/G1iQzGN2g9Ia+iOSWBp/0XTVISBBMXgcAlPZ3tSE5gONjZtablgoJDuSQs6A6AP8kYXHJLrgaC4vKGE9Otts+1jttbN0TYS1dLoLusGHj6pL6dyncY7v2Ju9W5fycAFEsnrxDrzpVlwZpQXw3srY6SYKVe9kUvi1JB2j1PeOlIrzvYjPRUkipfMiCt89KXYTdFZLPXDC4gpFI7HQuAhCu2qeCB6fhJbGGGeeT+OwrVwmgHiGOtPAAqJND6i3lrZ/dxrly6Vq5FdzpU5HaWc1ps7nl/NJDjQDcuE1DIojON+7OHYbjNiGJQTNswDVQn6RvU2aDdmmbiieHiiGVEMugZtbKVtNwC7Ar1FrIPV7x1msqN+6LIFUf0KFgXwt6u8x/pnqpH1VClsIAK6RAE9IgB6AFrKONzDXJTuFrM7AjWKGiguvqDYiF7e5oHdaerJHbcaqdA+iKmXOWTm34RcRR4YWVuEYyNelklFpriGgU3T1KiJxXKB+AO0pvAP2aTSFcBY+PeRmGAtptb7gLr8w6KN4BmK/V/rVWDRxQJT0C6wWjulpeDw3gytfqEasDvnujMVe7/sJ2NSzAuK/wjrT+m6g7RLH6E/OBEdnYMQxpl3K8muEngIDA7+rDgBWKsrm7e1rRrC6rW/+TwDbIriA4Q+9ZQgROT9zGCDnACsv+yUORZShlOVlwryxUBDs0jxdsYdaOIsOBFUAEJfIi7nMHQdC221qaw5deCTtt+3wuUavtZGd/Lg5bhII40ASzA7DA2XQprDod/7PGWkEzUaYUuIIu858fXUI6i3KBI19UAMfoAMcqG4PO/sQJpvvpe4IyVSplnLQuy7TUqxw8vfSDZhx/wR20EO2bYlsMmIkRYNJprlJwZcv3pu/0ZJJLGXvPAQSCaXKtHlaL36+7+VIEmp5iLoyLCkqSSQzsvdhv4xA6Tfvi8Dw86+X7D6j3GuxDnV/5a+gJ+lV661yLCa2nvbqJk8kC/7qA9NKoeDMXq7AtLkOsGRjlHZqYi9ZeFLc7JXU0kVaBDUsKvWfxAzGb+FqWfJ+qxYxug7xc3BhY5KddkGWlJ7jv7I9Io5zY6915we8bZFx1YAJXvJC3MZYno2zCrwroEPHrxQMo0AtBjAILaQnrF6Y8z74Uewqw079PLCDWDC1t+JrfEIWqUnzsIijlW807Xd6CiJ5GUj9ZzZMj6fPzpBAXpvsfEHU24roQi8U/lfV95KqWuEm5APBo2sbu2J4FVD9zdxnU0eItpDoIGSrb3WF3Xy9cCdZV2Iv84S4p/0pwsai/m+adkoYGA9UNfSK5Brnhz8X1YPiKS9IxNyezL9eJS54Y1nnOL+zUiHgq9izcMT+YbXwN0PI+ilkGTll58qTwzqyHAlmFJr3HMU87EVTs+m7eDYUWHTRWaYUKtZGArsSSi5NB7VVkP3ElWHLA4NK4ZE1QPR0PKjQ7ar6roiVuYOfvlXnmroT2xxksXaIUbkQjoAMLovVkowBtKZZZUhHw3sK51OZyT4MosV8syBR5mZozxNgMtq85svKvT3nvZSBP4vAD9fdEMgG6qXSP02qdKgbnaUu5h1ciijUWB46Y2plPFOtD5Zpi3jCbDJzXe67iLuo9BQi9JvpRrXst1IM3+wuNoI4Phmzabjn14gxz48fi/SBVJbcck5D7YFHtwPHFwYEnPUSTe2ZRIfo2Z8uHVm0wI47AYWHDDh9tgn+bficjYr7o2YY8KHepvvcKM74orDMLckdOltMgkzjxnT/FZookmBHhlNBXu2lZkPW9drT11CG2DajwGfs1ROw1q1pOvHh/4mw95zVDgl3dzvSt6lZ1y3N6dsZWDu1RYpToqkJuDKDwKNNHUeAWEqLcZT/PdFJut2l1jkDhJIC1HXSvFVAvIiJteG/8+OIkr386+DmznIip2/dlGVYa+oXzZGxfyrTCl6TDHNXzdWZj4dVhLSB3xZgjCIna1BwagMf35uIvzEGSr0y1oayQ9EpDc8SQd4cjX6Xy+6lEKEUmyga5oVScPiXThf4eXlzBBD+0sbs0yZHHo092rw2JQP3EpJcldCv+EGDRD4bmPEbNF0YP3Oc4xWRKqi0MxBvAD5TobnO8sdTzHBlK9MeW0AfHSJZkljvfx49DyTKY+nrSo7++694Wa0EtdGa+r3HZm1On9nrbI1Kekrhi+mmQw3ZImJaeNwq5MahDLfEKXNyvxPl/0N05/U0TnlZjtZT36roXceQKjDHuzbZVOUooke5N0q8xoJoQkExeiwYsvBczkoRHbm081iTMrjpV6tH9HaubvyoIhmQ6NuIlDuGwVASZaTKLixOYYZJWvb6qWn1tZf0ANXi7YKOywZRvqlgYoEcdcEM+oXTWCHx00Ra/AR1OcSQwcUjPY/xbUhtT2tK4L4tZqsh/7sP8mjl1ViUCdMNrO5CWJEZpSALo8fSYzzMaNJh/8ZPJI5CIbJ+aB+YgHtQcEp0pCZx0WLXX4PBnKLzS+omNp7MFMhC9ktWC1VxQSIlOatzj9Oj4vmtaEnspNKrzMmnuteHPuBwj/7gy+lQ9L6juMMfslt4EytIJSSWK57vWBKAAD/9GIbiHaoeS5As7MoUWnHwOL8Zo6WgjGqX41kfk1HHULuxvbKyB9gOpNhVSXoSFjkmRe96bdF06LP354oKlGM1+H8ZUJ7JLr6n/uRZZoW5z5B5OzrM+PnAcihpFYSA4OHIXkdISgmxA/KLsUCXSkvjvaRHnLU42vv62UTysa+2JKSCS156tn6pjad03+w+pzJIgZXpSVnLlcni5POXk1aFM753IafV+wdUr8etQwAfgK3y1oPPC4N6NcbW1UqBXPr7nxdPywYH23JWTb2xYJms1mCq7QuY/DaJDBbGX2+xsfT3420M/kteMe1Fnyw/kKLVnuujBTziKaz+LZfdrVSushAJfGh+zDNPEwrw+YSyZk1/DxUVMHCqG8eCsOamrb59MYINazsT09IHcxdtq0jQLLxZsGnYk6Si+NPV9qATeHqgdLAsUCzu8EYQpZSeZzyORHoZEpM+95Jw6ZkB7eJ/aqX68X895JP3oZniscbcnVlTTQpTQF6XuG6rz7K3I6s7jyuqBq+HCHCUP+cKh29VBC0M94JyswdkTFUFhUAoAxisk8pgLGFOY+WZVzkJOYnl6fqaCHyV5gPbBfN+TBASzc1ErM9EAHrhNpO6/6rAxW7VWoMhCRdzPjJZdayLFxP1rR6g6oQHHbFH8MT/EPEK69m3HT6ks9mzUI4WXVkB+oJU0uc3TX7FoIWp2eMkYnIqU0oJPZ5ZkiW1dm1vli5RwMBGoACp3JrTnrvVK8jxCN/miBbUala3FlxgREcJLxOS39+iZ2LEvflNitJtPk3vfBN4VDhBBcnR5NCFaACp3n16YI+5Q8iUMYNbX7zJc5BM9px7dX1qEjKIOWhFSbH7lB1Z9GDSG2W2MKnhgC9Hv5v8JRhzLZIpbXMyhOeV2VGWmjcfmp/GznEBhrd5injzQetcWoImEqFxKLIpBcuEV8Jp4I7oStxSKc5/cTZIVJkBVodnJqORtwVUAWdqWhzrUFD4OVTa1Fh4OapKtX534SwhOgNsHfwOb731iBRm3211vhJcsZGZMq9zSKNPubFo9aZzqt2wm5i27AjUgq7BpzdOd/gZriYia3EZgDmOQY4JFTi6YwMvzAK/0dJl+Vgjru06D8vg1/BIpvpZ+F/NVg2cHAKzhmmRAtrbqpvVHmqxCleWZ7fMPlk94k2rxQTgRc9s5Jt4wawj1Q4Fft4JJ5c4Gfpb6klpT1kl/un+KHRlOHBqBPSnAl0sW67sfgq/m2+3+dvHGTy7c8S8qjz2EhK96DEcQiLYy4P4oBJEZw4a7A1yR0YRnczOiH8Nxd5N0WZ7e4YHRnmJ3Lhdy9Jnvdces9rrWzKqE10DdIyTa6ZGccA5l0dAtG3ys7Y/8sHq/ZI9EprjO6NoGIYuktFrzhBrGhuPDSbuNs7WOSC1+5P3h4xKG3Q6VCqtPU8RwKP3bAVUu213XB7JZvnrcHwrJSpfKYKwHfxmOEm7FzetL08RzqfgASwuflMWdpw0TTWt+h5Eie+mIVdWy8oCCbvCSGt0pMd9aUcWUXJMirdBaxFrQbSwmb6aJL4Ke2Bv+O5EjLqhRHv1t4zdYPpMINYbVlhYK672AIMIgFINgNvQ5smPqZY5/8K2610ZeiO9qRGZhyZq6+QRBa8t5rYLA4Eh4CIybDIF51bVA0KBMGH8kPMM7YtlKM28qe7QAHijt/MXAATfiNdnWWDAZ+neT1XNlJgsYaGkM4vyOKBs9FWgHCYqLQv1pMxWNDfhvThVpkvgR/hbSOcbFmhJ79ZC3MbS0eP8vtpvcRkAsx+YEbck7bFq663B9e3I9wa1YdLXSWfHgh5b2h8PeRZS8d7nqGkHs7pNY7uRPT1GvGqki1RbNOWDfi9EKbnYJ12qwDJQ1rw38qDXJVNnZWsHndxmgWpnAdjkS4OuLQ1tTeeL730RnPvCmgSEmTxbomNxG8CbslEj0oTZ5PqADPDVXUZB1HY9giUP4D7RgAbOuJI9Gk1shMW27OBRkbmQEUIlECg/kOLOKNPAZ94OUYZBlf+FK4bkmTWjJjYZX3YI8dswwOXDHk2zCUVlUl0d9YP9l1ybSnWb2efRqh7/7CLZn72WSGTNQPaBXhhkwtgAZrfUNn2tN9OlpH5/L0YHX5Q//eJit5fJZpFXKixS3maX7HruBnUZSaxaW3KdQTedQCqYCsjNCjNvKrKYZpTw2MBp/zjZRJN1CKPLs3uy2UNGIeJ3X/JvSftzofnlTrXNc77fecZzzx1I8aZkLCKpeaIHxVK99lgBtskz5B81w41kfSMbljC84UCDjDvK3W/KA9wLTBiw2caKQCiZ0JuCOB8skeZ6CE2OTB60dhSDJOaMbSnelD5Ax/rJf5i5LZhEE7/grTwsKykchRoe9dSITiFjxtNBCsPSTg3JTIGZVYI+KyWqxxdq3b9muRDRJTUK7HsbA6YqrUbCvPOZ8UymLqMTFoY/VZkN01eh4I8MS1sTeAhE8AW/ADgzSDypY8xKkGdmwDIgreRoHADwRYefX/mN/a+gCKnrMrXqjwy6p0hcq/8HA5rqIfp9IJo5v5JX0ACLlCpst6z7jcpzb6cpnhRoHiVUJgzsVf1vKu/2mgE4K0tbTKXdi8SGethJeYmkkMlGQNdNlxAQylAXoeNG0V29bIKZIfnnQlLZbv1UCJhRt+k4nQuhICfN5Di21CaLzb/n5u05Cg0AwMRXrbObrSDJqFng8JPdnDGMD3uOf3++iSfbivOzf9eXsCaXMl4CZwpZRsTNk52Zd7bcZYya8X1rH5GOsFENZbYIQ2YXDGWuHkC5TXkXBtI1VpKU5NlRkAb7FuW1YW+o5vswuitq8E7mgIYJF3ObW+kBQGwnbHDnkBgKhcEJ7ZnRNtC+k0sCAziwyKYo9qKgYl2ZKDy5WAqHWgSaO8cuqrYPHpIh2LXIBV7+DFGGkbA4a2jUa7FTe9w1d7e9r330o5xfKsK+1yTin+uizXUGOv6170NOdUkO8Bz9p2dIEBtE9NroEMfsYk/XB+TPi4tkcrhRqC1H/duZ+gKhCjsoplD62EwFXNB7/KXF1nmbBd9WX9PD/py5N33A6/Q84vL/e/GKruJq8dtz/2BXje5JJt5Bw0nmCbOJdDFAimv/qXWBfavMwzacU5yhjPfEz4Yu50sGHDCm5NPJ2ZIb0KZR+kK3CHN2tdq67Se5ehnGk+9ztQqCgQ6VPzGkp4VdX5EFkJs2It3EWx48XsSMkUm12d7uFCth8sKQakrIAWJkx/dbrqliYMeo+TVe20qeYwcbRdPUZ8ygfR6oHnhzRKBkkJUNbKkLEm7ZdE9Z1TeKzkY5iqJtXOWNM6FQlltM+rzhMeE6EcDgG6livqFnlQ8w7WAkEB/uCUjNKt44LHM9v7xmxIn8FW6PCewyaH7VfE0Pgj61d3TctXELlx0Is3va7Tpiy/InUfMPhkjHARA2gWokTGERQvo1TAE6DjZJbhmWOIwV19VR0q7jRR0/oiCX7Z2XRIqJQKqIMIJ26KpYTM3Vimv1IgBN/zPfXKZbpSjqDbpjMD93szWHRJcpnoRRMDh2yJiJtKGFYylmyyLAEainIhKcOUJs9y3S8LNSJRRy6XaLhGgRc8FC/0s3Cy+PA6b0QQNLfpVjvbt0EKNukMRCpoUwqmR2cd+f2/skCNt1GYlKf1m5Szx37624c6mKtIBZZFdkbh0bTiLqssl/d101z8ycCAlkeDLrPcxPDeZqDOtNTJlgpCa/XVC14nMvFNfGMEVxVvBfilmIb1e1xJceaNMqD8KesEi8mWeiHAC4/popVYK7A9ITghwRrxPOepc7WnGy7jLvVQT2wPdz6HnEWZgJ66tYKfBtRuxEM94RurNaNk+yNvowGmFrkdgREAq4ReWEYlAsW1AxiWS4GNsiKz062iBjNB685i/WbaYrEAxsoodppN1tKPQrXw1Pod9xmn4hHc4qzks8XikVfe78b70M6IVpes9baQclcrSJf2UaR+w9Ci/qrWtdPqQKpB5kwZjis+hSYafN20OK7JuKCiGokORFMzJ1ImDL6zM+hnrkJAzfzGg9MA27qBvWymBo/83SewbNwPVnTx2UytKQ6xvDjKVO/s36GY+gNxrEVP5Q7fnAtT9T1hXRZmmQ1u3PDXmMDJou0pdMvjEotdv3CjJNzXCA8jbAVQqF3RkSe0AXqkC3ycX2SPVdVd/m2r8FzrhxZ0ykDm+x1onpzixgqYz9zkxmnSnSkzI6WuaaUhcD1YnxV4/3keBcBVIQJiXVzYJOsXdX8yL5EF1kgDkRNIJwUZTh2jCSMoj67aYVMtqydzf170Ias/1K/aZidnBmBd1SqUfrSKBc6d/ECRIjeN4+ux+TpO3jcfRPxgha5xT36jvcIAcs1phds7YApo14vvDcMdLmDmmoHc7lwzGKawryVhzY4JyMna3+dwyXAt6jp+CgsOT6ivYRZArujKV2abrIEQkjkkO01iwEGZO/04pqKYUzH8cXhZvXmUCgNGygJR9aN0l5qmvWfL5q3kjz/IQV+qK9Q9OoNWlzxZ4Er1XRj78vXVK4NMjzZpVeWMkUrOTcCGtk6rTO9ZhEUNJYAmPr73BE+zVd5XpL8HK0+P5ygsYT5IORNj+4iyIfVOG7AGGWTEt8vNckR2xchYjWvLlN0+09VVm9fX8R3EWgdDMFbIdCyoiiszdqLRPSIAuDvsL2pVACsWpqyB6A/gUE2M+w1t+EWbM3CS2xcSDo7C0LOkPvpKvyAXn1fCID1rokPn7Q90GUPe6j9iRPsJVJFJ6DxPKBKanbqXS8OIFs1ZdMSr6J3psxic8vc37egKG7yZtcTLscv86Qe9Zfs8Cs0DMmiQe42CY2Zm98trB3XUk4FWIh9XqfAtRnpPcuIFI32EG4q0w4gIXv/usNe9tiTjqTgCgx9hE1jDiIwTVLaOdExfBeSerWu0NiaMj29GHwNjf69ol9X9RY7dyCRn7kDaF5fJ2eSVh7XoUvwcOgNe6vcdpciTMxzakz3UkKvFXjAsLEd/HZoqrqX8SrLharQQlWd5YBnoC9bMn9AOXE6boKtiQKQQi6bIF2llMkGg6W/9ZoVCmyJ+wCvy27OwjOZzJ71gKSl+iyX/FIWKsjkW0h3TtaBXelQICH5BI6+p/ijmoxJf8jVD/hu9tJGa/hyPMFxy64Bm+Cl28lKWbAJk/M0J6kPGMj29LNFJ/GKR4NzRsNVp/BRAK1o8q8JiOJhpsxR6RNQ/KjrUGkr6fR96htjsSmXutehIWxBUzyvIjSr9pCFapB4c1uaK0VcmHoAnNG1FpZogcVuxG6hXd0Lq4wfmW3v0bWY7eBEVZY1WFKrdkExjeRfJ5Gv82zaxmbMI+sAe9mY0oxeM2WpBTpFcdb+qnNZtRgjA0sR6TcLSLfdBczLLrS5ACpb/dIL7sdnntjJCfEpB7d/9yVspaNqREBNrq/4sR+QUC3R4adNQO5x1zEcfXB6Jdv/ANZHsD+fuwwVRKWbqBe+iCYfrbsnhYiFUHTfYrhaNya5DmjPWnuJ5/qIjm+SxC7dN+LG+agHdskPncWztMWfx9DUuJMdn63efDq4p4t8w9umT+Nj2jFtf9tvCa4LTM3eDUpJLxsPst2kQhoHwetqXzdd44wEcAx4w3CSy2rKptxOI7D2M3wlmX9Cgy/7crVFcU31br2bCJQukpd9HuriOIiomu/sh7zMBdOIUDenm/P/bUZt8Kvr4gSGwQYeCZJfbxfuM99uTw3/xW92jjw49AyK+klW6B8fzM4kmXEjILmj3OCtizCuoByt1LP2XR3rEC2WYFxFMIWG2O/+JIeMC84dehuJIDzXzV+UmRVD8qdUTb80YD0moKrt5BCZu5GpFUOCBP4HAuRDVAO4lUl/tlF77m3ayWfPvkfXpmO3+o4GrxM4CHYG7jeZ/uvAV4oQ5jeTz4gz40vW7BRRMqF8+XtiBsA8ihx1YFVZ/Clz5Xl+hir0pF+oCU6M0WxBbm6zkzNjBhIlBUU6Pq5I9LsXeO23WzUbpNlaHTauhwdiEfRwnI/AJci/CZ4YCVxPeX6kkaA+agbkHsEnVmxUR0RXXwr//TajbtZvy8rA0v13WibLff4Xt59FYHgllLbuodPZ/uKONW3tYg8Dslub9XxvkJxAIHaIIJuwpwPHHluQkQY5JW0UdvLULfcMbcMGYPFlKgTW/Mt1X7kKx71uc/Hkzerg7BYix7cYYjy6bogKyOhOW4PTb4xvpLxhlEV4n98zBSEj77qtDH0dlIK6PaLy2MtCkf6z8OXtzwWzRxcucftO8vW6czBtP8Tte1lfmmB3UaOBV/jShSwWG821cJtnQ0ihlSSCoKP3ZI3aSJLNkzxa3hZtp7ZdlYF0d68UGCVINlrOgqOr+prNnpOS7KjfAFs1M3t9sfFBS+DSQUHulNPy9alpgBHOq8/HkXnaupxW3EnY9+NmjT+TfYAW4dOlttaYCU6CYzGLfkHJTsgt/gvnGjPQ1qyPl99CYz12qlEHwsJXxE5GwJowQNe7YDoP8mDsgFvTz95Xvd2t8tYWQO7pyKOhmQAzq8yHj2rFObl2pmSh+dJe84eePfJWT8F9+anq6GskhmHF1gVys1Y7RtyJc3rI0v4bXYvLqS/JOHztokcXSC3858ZB6MMPTirgy+TiqQnuaYWukWVh0XjJHGCrRitDv5oTLYpjWqL48vFHnwJT+1Tks5ZFfqhO1LHNCsB3hhAMwoPQKFxE2090LN7nmLGFjOEVzJFeCqa3JD2klVNlA1vy1n7MtIB406WQWqKfNdYvZqGx/KvTLMbNPi9F3g3JZ1+FixQCzbsJTvxuD62rPfS/HqOga0Z8PMzSrreojC72ARpRyfonja5Hpy81LQRjP0ZQE2uJaWySYTOx8dp4MQDdVDKAnxMOHqVF6deN6jxR3ivJyUrmMDsITFq4o/QCFY9fs5Sb9efFtLQ5iv1DR7RddduNRqdJdASJIOsooxA2TvlNwGaVlKE1acRGeyLRx8Tlz3CrO+SwXXObct4i1o+prloY3wlBDurOjoaUFwnk3fBCcgTjU+flGcRZWbkGv4KXFsMu/5f6ol9qh11Exl0Zv/gSjj+pxWBVao5JN9jjeM8PM67DCFXOO+AdhzAcnzgXBgwnrzyG+tnWW+7kpxzsYQZ9Agfk8r4oxsl3jYf2IQnx106Cfwl70WLoTL9rC6pRFqIbFM1calN9k9rsWH09+L4fmpX0szTncoCZs4Dc/0Ou912umsLBwkUEDr/08kZlT5rJ4HhHtvQx7RmjzfbluWwTwRgcv71JMwZbVXLE5e7uo/MjAt+wE1dNuajToAMdXLwAUzFUsCvm6+SGP6DjENiaEOfzrkIZZKNSqebweMdijbr5QOb28CFH7gDL+XAsO6rf0QdMdi0nfY0FnaBs7cMT+rp5oLMUTjK6jWzB1DsiOarl0a39HHv4Ny7EwhjpqlEKTw4WbVinWM2dFvJ/YJrp4+u7sqefjPmBOx8csP+oPx4EO3qCu4eplzgGYLHB0w4454PQCJFSlHfrELLSdB+NN0zgMBHpKjPcGplY6x56ZZlwEWmMBIDNes9IfbDsFRkzHE0UitlS4Pnbjcyvo3lMGKuM3KhDbBUNOgoU6nLCV99pjZ9GwPJfLNc9C8wDSlaGj/GvSekzy0L1SVX7qPPIUOIxlaZH95LhxHIgKSgmyJ1lilEVqkUHjCO20YAAXvuhmBVzabuWRwMGDDsmd5lMD/GV4UNMqEkkH9SiAEKinE10C/aGYqNNGDhpdchBr0QMFciGcv3Ey8K9ibc0EYoVerTPgjOOE4ciEgW7vgwm3C/cXABKvLHqt+6xfG1wPvzzBH7e9ICeVBKkqcp3JLUDF08a7nD4bW3T9z0n8gT2p0BiTRF2LxbMVLxUuYxb5ZQD9/4khxAKhZVlCge7GirO1wW41+qzDHQEAgAVvfFJB/9BbWwtZBtyFOsgIN5sS9rZ5XGqDK/0E4fEDac5wHYOtzavzrYTp+fvczDYLz377/OZ9nQoEKrvmcUt3tYiiq7nk47FMgzgNErrQdDfhbn+tPEK3vy9/L50KjSizI2+qLktQ6htmePa45NW0u/biSO6pV7NDDvoF8EKgDyM9+qB1GqvM7eojN8l6rD6SyTpVL44fVoCFaRBEisTjJIxsdHiow3k1cxc5w7bORAVwbCmEbem2OlLRUzVgIy0qFZN8ZZZU6CqEdv0TV4e8rFm1/aVNhTKxdFCv6jlxSTf7TMKzPCUHVvUBKjxJOvqgS36hTK8cEqgq4noXi303Ec2PADROL+v9qB6Xn+2qXPbgSZAZvA46WrVWczpN+VEeoou2DunsmDLYjWktcA6DefzbIDA9Zcq2LdxqAX6BoapejYrmzZtuFDO6QpjDs2Yt6nqY+Qqs+UAlJ5Q3S7CLvsB/v9p2YNrQQa+eprj8lhKAq8qtW1FFrAXL5xoC12tuXTqVeosOn11CyQVQb1Nnm/T2XUJYdR0L555qBppTqImkTAj/qX4yhEFufOhWysL+OGXUJUpBFwBS3yyg0JeIb17BgEaycnvk3dbBMqZGpbitM8k8+SvlJ4fRXrbyAEyn2TJXzEHd1G8k4uEJxewn6xNEQURRgWlHbQ2PsR3PDgS4JPts8YF6LVqxzeFAIL4hWCXLsFWWyDAhM/o1+JFRpM5Zyfj4PXpTN/Oqp4ysbtpMaAtd/XM9yk1fPY31ZS4WVWNx5X0B/glk9UcDsKfx3SKyfw3Pad/Eov7pXqo+MmXqCgIwShY/bGUQvR+UsXBEmjVakWoGNps5A/fmbvloPKml8B9xYzo32aaNR6EBlAsqNLMyHKX4bZhzABs3L3aHLjhy/NywcUXhN7pKVHDETAqGMe5f2ZdLRS/sQ0eZNAID08H4Vc4VruxM9ZiWYRcdeH6nGcdyOr+1TnwREqDGql4viD0I46wi/TzpxRfT2bkMeGrkRRMEE+PBadndpilHT/efBuesztTgh+1ftsjYGRgVBcV5u/cQCY0vboqnepO4UgNfeDaWPqQDZ6NRwxGAAi9gTYimpM3CQBQ+FhFEb4tPhzqK0YqMzaQDQ9O6MgOw5sz3CadvVtuN4NzxVQ+tsFXoyC83+Kg+VruuhoiUjNz0XRDvHMYzMkmdit4kXgmu3D4S+hOLCuRd/D8VGEGIBOKoiv9CXyr+3M9yc/TnOqRnXgq29ZI83ir97GrJwRfCFVIZFbp+G2Pj8deXnYx2tqApe+Fupc6X5aW7kQpImE91cMCVxJY94nSEI2k4QAgS2i8yCSGBeE6K85Lf0C2sq4DUhtke2oW+v1noEJkti+rx4EqjPmLdJfTEiov7MhmeSmdb0UZTEVmumJiU6nhicxVLNv8wsHo891xP6GMCWqKtLSE1EXOprn8opGIiVVDTDFOCBiKfcx0q45o22TDsOzpaxnqD3H5N1kuDKzSrgfFTW/5KNni3SYE3BxBFjwyUuQuhWfJj0YsOtcNVtloAsvfKDs6tnX4+/4PRjrM2CRkvHC9V54rp3d8y/FGi/0mlrH8K8xI2R+f+yn+z0VwqvNAOrkoYTnU52agshcymqUt/cBOjh0XutG8C1nmamZj3SzsNKsc6pOwUWaFYqvp6/guK8QrUfvYoTcFYpOunhonV0PEdP8XQkaMaMFLuvKazQx0MQcOijDo/DQ3vfe813Z/O9UV9Usqk1Niq+WaTpN1u68JWVJXNeQsMaZ3qoPfH2AagcQHDUvOBv59DJjRXqpVYsb3f3nS5AoVMhinCVvKXF/8jSJwEPocVs9LUIYU+T4sc9ZJMFSe1JOMQbnI5aOCxZjeUTWaENEg7jdDYF0UzQizSMLLqssKjeThT3enbBBWjaKT8Lj0eLhVyDZByAfii3ReUG7R9f04OR1BZVHb383yCwqSVeDzr64ar/tMLbMeRUD2VC18AAwtrm31mLkzlqT2yzi/cXZazWQRcz9LhQcDmLPyF284vK5lIXRWiNbDcrHWktlmtJQDeJ3SJrI4OQwZgYkPFz9uwGBy8trR1+i+MDdmIVzRWtpTEnu++NIOElMf9pU0hWocqsVzLmWtjo1YNe0fQaInNi1RT20u6IFY9I90RPNg/ifsb4LUCTOy98K9HktwOdVMKkMaXpx/eX3sQ6wcSN5Jmk5Et51CoZrvhpC1Q+TvE8OT5KUVrZkm2jh7YM7+Y8MtHz23P8lzkJttDrkuvSmEJOKiYS0jlAuVDr7roRSOZLilGJDPz4cB6Qwy1hepPpdSsZONxdUeSenFbJnOYM+bpH69jI3cCNzmPObxtvck6CMw8dWy2aVm323v9rbNAOemu1slqeUTCSeAxsvkMHWxwbOZitcl2QHdhxMqWWy7fuAlkJvg+booy+D03q5N64wCdLp26I5tXSG2oFqynqYxMGoRYw76fD9koFGCBW6qDLnXSB15FG2K3q8ihZRj/4EUuPq2QlagaXIQ6nnTzI/ZU5AgsuZX5udfU8Ni57zt9BDkGx/eUb2SqiwN/BLh3lPxMAyvwjjS4IlT76AIGcf/hoZd34DBg/SBGdqRoV0pCis+ACs04YuvLZff18JmgNIflGa/yaMMnTYtMl//ViJGnyHOH3iITK9DGu1VDqcyPmOdRydD8QupnrtgvuYlcz3z3fNnmLpmGkU4AU0VrnKxrQsyuLQXOMYp9wYqG6gw76KYPBskBvXLnK27WvVIgDDhS88r0SGdv87LVHc+H9WrabnV2EYX6R21qv+Q3I0uvYEyXHg5kIZp5azCuTPctbEyK0XEa0VUjZ3hY58xEYfu9DhKCowH+cVrBp4kvj2bvSKcVQLNqk/YCtqWMWFoqKQ2ziosuVSDAaixMTNq2SqIqqwpORpaEZoflzlkoh1IQmVZAkgowWLKw9zZnrzHkMgDn0sMrzQVwnJ/OxMYM4LLygzkCCzqSRwZ1U8TPzQB77GUWDoILh7umXze/UL8dqLSznSdp1pYzzoowxfme7MicOMWCOWPDdLTEHtp9yD3gyRYvJGgtllxLxpkONjDQR7ayhX7ow/2gfEynf3zjzl1gwvs079r/OGQ7ADMI2NcQr21kQQo1kNXtSxzGHz49ZbS2Kzcn8Hs8f3LfCvPUpaAEd1tv7WhhbV5DtwVvENEVXZa1OG6lOrE4GKCDwq9i6/3uD9kJV/+BCMX95+mHbJd0GGzv/vS3U+YkgaJRnC8NJp1+jEoeRQyGeUuhcHZp9LE9/tx3JyJ9dAzYnzKvYH1zR5MxxuY/yargOvDq7rCZo5OLR03quCqKuNkiMYJspOugAvbGQ+ahcNgoJzTisFFBKjm+EtKqzSU5H+iKwUa4qaPEs9HaZrnqAGrHXUoOK+PMYtkUwxX9SLU23iCPUKAEpDSTRMsuw9ka8bkDsDuyBNVh9Yz0Bgglfx/WwqDJSIEkIqu5/TiQTfswYHwFs3afwNFeE0bNmikEylaCarItRWSIAEGKje6ma6SgPok7nlJwv1vu0xOYYBAxUUm1P95Mh/5aM6ytFPYlmJC6zK1j3mHN+Kobu1MsU3zDyvSyltCAZVBKfWvJyPEBaM0FoLc3de87PgHA6iPqs5Tixby7kHVYSKacze4p5AtOlrdG8NmRK2dGTThtA5yVefOPaSWareRoGbYDld2T8UTnI6jvEpONcOEHlCrZq3WpdP+piBxFx3rTTtTIdMuqbrPN4lg9N/1ATlhIplE/gFUpDmnESQd0jULcZjEERpB3puC6SMJA3LPu0bsUT0vlUkv/inO/qa9AmR60RszvbTALB5WuQJUMix3eL6ENwg/RHIFTi1t8SFS0xDUUgLKOqy/10t+vliaSPzvnVdwDlkP3RlF8hj+mM8zmgZMe3zYE4tra07Z2Sz1RA5eTC22ShobKKfJ9ZTIkqqxGYSNXg7lXvKqKiptlCK4+ldJuWiv+yQeUlrdQYy2zJQq/mfoqCgH32aXvsDDmkLYGE21oVxYlZyFfSc7bkQ8FVpYfLAQbH9LaEtkt98aFrBOWYs8m+zEZ7VbC8je8bMhExAlrAZHHW4Nt64rSx/hF393QIa0m78+auEEsU721vce5A9RbedxMD+EJE2jaSaNxQS5rgTaFruz/nWpOcVcgulfJCfRO4cst5/UzCcKh4N+c+EDDJSJzvuKVOVasArQFl9ONb+IV69DNzEzVANfXkuVoNSEDNAdoXSwDtRS4wKj/DfuWTIr8hCO4QshXYC0Q2Ma6R17174nb/3pKvgpuA8eU8zRTBJyNo2nwHwVbELo7Lwbi4JVdRedVofmgv1QEU1mgE1955qlTvxjRRK8fjtyrD/IMtyLi4+ZbjEAOiFtUb34qUGGZL1/XBv4zUxwo98aj1uCDEQOHaOu3Vbd/p9wPbZIlzcejuNq3OBPBcFw0W64VhZeAQLCnzn5YURTUMmCj5JrbBdY23QVq3WvUro/xUOM8J81CHrzbTQUxdltg3UX2PA0wSTF87ZpB2z6B3I9HhHD2FfZ8oy5/dGX7EZhkPbSiFSKZ7ISEsXz6dBtgKJbrahnKWGL62lNUihvy+07YWTqXIctFYpOijcXG45hvsEb16HtYd4CJOFus/wDUOPMyRqXjpxbPLOSEbpvKA1vNt1ARGoGzKITp4GBipeM68SyVgoVubpLIeZ4A6pv6OgDkGkMqJt5LqEcFGxPH43cItppEgO5j1RH6mXQafUAZEmouW+YAA66iXiM+FmVSv/8vROETIemdEoj0GY8F8eBLaPF5xnSwlXrShxyakHCRPKkm03iOEakzg34Q5p3tpAR22OfQUqa+NU2iAMuI3QhhYCZ5By//RpzDGbI/p1DoY16rN+RqevkkPWS3xPuP3B2Xiuj7aPCS0UAPLzdM4CKqmOBxE/LHuKWuxhUl6h5ZYyui5CyHhGJAjLRmNiHdsIdhwugRYxwXzVFemd1c/fdqc+dtWOZSgHnG4ybC61W3kXXbjsScUGGNFsYxUh48oha3xuLItZfYuwTyXMoX7Pa3TFaDC3sDpATUGBdMGxxaBFo1wIVIV+l++Dycc9vNEYw57ClvPJR6qQ2b0e09PVpAo6Uex5GgUDqqHwrGpQ8shgNGluiZ89F9sSbMwOIR6b4nS8NBmlQpPaaIc7vx+59iOHxK+qOvcT0p+g59agByaL4Z2149Lgt2yTMBEGB2psa4YkeuP/OmzQJLSSKefRDIGhq6QUrXu/AiTgCSk7M+x9woO6c37Fo4O4EPUTVbd1xKswncQoMSJQ80HLBwytKDtAZheO46zAXtJ/mwpKn3fFyTONmTGcG9duIR6eAPKNS7PeU+N17hRsnuDZmuQ1NKpLuQ+eAvoBTJk1vZojyRzgW4WEaVgSN55VIGLGE6hyTm1TUN+rjSJu/xvqDrsXmEZur2t0BYIbVa9+rJ8GisBgyKxHvNdrRm1/gBiSvd/ULYRHnYu/cpW5tbd4OhQUEwrPiTNVtImQcoD8xkEOhRKmn0LrYZa6K2Kzh8djDUdEvZS3swmQfVLDtYB2UnX+gFzGMfCrXn57piQqG8mThcBCIcgcL+jlrNUpoVFuuM3WRfG5mzyUdMcQbSztB4UnrXX7qFprDvTuJRegWQ7ZaerrXokP3/E1v7RUrkDw9e4lhAdHQ/QwuaJM9k72ar7SZNNb0I7qs+Z89WIfSK1fvei42L0WGvJERZyK+vrIrZC4jZ4PwjLJhd6w5CPXUkOV+O0dGQFwVA+KHjb+oohiGgSy1lifNfnHeHuavJCZvWm5OkQ1aqeb5V0Y/oXZ9E0cGQOQ1wZzrfdOER5BmNP7U3wWziL+KnK9fJqaj72cvdLomuGUhKiR7gzra18fTlUCCIltY6dENlAn7L/oPKARIfEZFArH018GukSeyDYgD1dMaDzgRAQc9ZM2l3wwW3a8oMTcCsHKy4IgiiR+tFs2cOMVux24nAEY0YLmNQ0MVxSwnpRKdvjwAnLkw7XSuLnDGODnEGSjejblpcc7hgpYUHiEqMw4gYm9CpbJPpcBwX+q6RXojEDdmOZ2CQZoZK9DqUi8h5DERsBOS79vtgkWOWYvyLe8YFbl8I2Ynw/YV3v1a7kJkAiToFdk0rgCzK2zJLftdVOkFk1CrAlmLlaGpKuRJbpJ7Sm0hz4nyZuxnqHcJlaQBTQN/K8JCnyVLaVKcfT71uJxAqID2bGPLUsnI48tXp2XfvpE5Ekbv1CIxE8sMI17xup/fA8eUwlJEi4dQeGa0T/CmID4JNvCyiUzCmyqj+Br2j8hnuxJ0OC25hDDYG8A1mnRXZQfuIoHRAFrvMvgWULyyiOb+EqcsZl1MbUEYuLmHEBC57f8aMndEaO+a9BY4XCoOCaJSvzoc6LXJU/Dj5ftjQj9m90LU/mrlHSjr4jMoppcGXyKES/t1HyZzk0rv3tJzthlZ59Vn5lfyIst6WttsT5MTvUwCsryDxqCkme0gzg4xlApCZ2dE8akMp+93uY17yGLs4rg6lFAQgwDzLc31rgeC+Hs8FRwz4IwrnP+a0QN5BRoHtkzqSTUYc4Fa6kpH0Bnw4mq9H/nPKVZQREyaXRBoksD/MLAXODFIs1w7dXw7vCT5uSCd3//P56F6aZQPK0gRMfUcqIiNy3cIpYyldnsDsFZ0aGXgttJ3dorR/COZlaBf2RMSTAisdbcvfG/Ax1ejyzK5khBrqLQw3bNPUITIcEXJ73HrptrFzq+zALOfduLUTDADqN7R435DL4N/DN5CsIa2czQl54tZg3hvECcyp3tuqWrKYL1nwQw9A7NX8DwbqJvodjGifaMU9aOOlFat20XnR0WORcFdZAfCxmcpUaNaHBqKmX2IxCLCd/g3AqvhhSiNEJpAA/oS/RC3kd1zeI07ZaHa6n9XEYas7dgyiPAW29p5g/9RIVnGAWr2DTuWXXC2XP111N69NWBsZeafpM27wnONJpu9G6QP0yoTrSKY1RqTAyBduZQTaJm60jZ/UK9y6mZThGK8LXDr8cki9emtVIM2IYrfvXx21JSLh6eRXzt1cQdv0aYVbQPMCWBiNrVyX81Hiw3um1AYKpNUMN4J2VjwhBrXUu8fBjluwtQCNfwj7m6AX68ayMTAW73BshjMoMIjy/s2T6fA0LMs80boOwliukcYjz0o+ljzHYn0IAQJEUQHIHEKP7sfPll7Dh/RXXzB039MVGDzMOtjRETQmlu1icDgFHyu5enwSFwGCJaQ1dtZN0B5QplIp2HAp10585qf0pnj5wlDvziCn954CiDkY8y4FP/9zam9jiAkdYsCkkSNEfehFi1TLRO6RN5ZJ8AcSa1RqHT0uF/ddpAX3KofrCFGXTTwJXAjSKDLe3cPKdGyR0wWelwqBh1uC+F7YxCzJLYuMgiWEH7udctnBtLHr16tfbjucXeKRb0+7e08kmLCCN8QYfXZn2HDpXaxg3DOvXLVppN8wN6K01K4eIHdCLww649sUOAUK+ivXkm1pfSjNusPhPr66srnRGhVTnCHm4XgVHeDLwIBIjIwAUGV3/rS01rGPLq21hq+KI1BL6Ze71JY+vbcHcFlftBG6e+tjbbexImGHUejjcnDLimTTGPc32Drm8VlCgur79Vz9exeV0aU2AFiuthVbWNc+pPQ1/9+NgBTOAn/8YK12gndt/kVxh26gk9OccET6B4S1DhuyUJIlhMjVwiLReMmQ1Bwn8/kWPdl2N23AZZdLNlH6Tu5kERCA5l3K4l30vsGcE763TzbEs7Rp6PNE6B8Hs9WvMJrdhS4LVZvgX771fdr32oI+ZdWfyd2rcmysK2a83EUClOKie5+su9wxyREaACtrnhJbGNdxJH7HIhsxODpWciFKJjYhdV72Fy6TwTMfwGsXjoy771nv1xXBrgh/RSR8scpuB3X/62S3cA79Jk6jJwNcATTOg/VZSAOv30XK9fBGaIr/oKQfqKeGbgbao9kJc0eoHZhqqI3GT/VIYG6jIMfrI47mVG1nXG52U0s039DWt8q4VO2gUfqFe0vj4xkGGB40IS7UJjIfNH6m3zvS/TKGgu7CfquoRPCk+8Ttve/Ck9iANsMJk5jFiPk7/sQb0tVS+EzM3djCHYIGELrJvbhOnZSQg77ERncq5KvqMQsk2z/xZ41TJbLAzQkg4OpS2XOEgADFnmRAlpN9nmgizMIyUGZte3f5YuGCvjtExqkkRF5QHMnoqwnlK01OQnnMnbhaFloPKBgY1hRH6ipG/0XKNC1JKbVIOnrHwWJ1tUl5dJZOH9drfsKrGq34twFTAmEy01NgpZO8YwyLm8xCvrYG0i7105ccpto56C7I8ps9UX7xD/e5Qu9377IqZI1XCQy+B5O2qWw/1meexzW6A2DxE7DyPhGX8qtqzB2dJhAVztk3xUJeGgkJocNUvp7Gjo8D3BN+Oj9yIlNUF1AcFtpeYs+BvuOmSUd2LOy+dE0V25Ngd2ztEPiurFxAD+vZJ5xcyMWNoYP/l4ju6NWs1N64QY6Zmt8hi5sF5UqsPKWW/98iI1lxr1XxEZ5bViFlwc348nitW4Yj8dYjhUX5zX19ywTroPBJyIrGBxo9Q4+gXN5hGAksIsMTrTqfJiHhn6QK/lhgkmqOfZOVl2CH4lG1vM+jS4My47T96UWV6DzLBQCmjXMe7WdFCXlo9uWb0dTf9nPo5wpGuUqsx8iEN7hA+w3V1OlEcrHKCaxgFWu4+uv+v9dI8owVV1Dut7Vvj3wnVqSWj7j1WsQzXke26zgvaTZe8BjCVaxxbsw9ctYx3fBPRN2qpgWcN+DmE1LkvIEAIGb+TUB1oYbnGula0Bm0CVfPn/clROLt7fitzJqDCRPCongOV4NpzdBCvfLDcJioMaYUH37d5xXa4dC1UPbxjgwdcFp3YF1qkn1Py/HIHw+g+seaVc82lwgz9zUjQj2le7Y2GcLejfFEENm74VEBCum5/mBtaEhONCoSfVbIkYHWJbWVjnvgTSS7tJsJHGqxSfzmRvOKESwGe+Uqn57m14NXHBum9eXClgy2PSrQwVB63lYDKuWH73J/aa6Zgd6FA9KVCKsCo0sA6NL169YFjzjXCs+dG64291UGnc0am18mLuSzCjpdrsQ0IChEUalipXHbqMsRzxVR1VQJ9E7LwEvSRmFWD4tZntfDD/VxwFEu/rHuR1UFWJf+grnMaBuqUn7mGg7CwSK5k6MBCiD+SSvctEpdF33C4A1lUIc3o3C7nhOST5iuObk0TFJxwmY9GrHATysTXeBg+ZoT5MjjST02GpU8kRzttl1+9k4c50e/+ikei9Iu806ofQ4AmlEyHfLExcl4Qal8mI1P+XHZtmvYSE7UL9sIu+R7q51RBHDhFzpoW4oI88z4xociCakdjKACPaUjG7fbgOEsSs5lekoQRpBhu44vJkpYEN+lNt2/7c4ueiw8itpfNSjBdRbICtNB3QrqsCWPyeK8YE4ixfqeyJf70NX/izr8bmrbiMT9JH+g9SrK39QyF8kNAwz8ZfEhfXKHJ/tP4EkcQCeoE03rR0aWGoTdJ/qZKy6S2Sbhg36hsdi34XsYb1Pbt4g5dEoTo9rrWqU233P+GNla7df6k6HS9oEgwANa1r9811H1GqB5UAPV75peuj9w3VduitkzFFGtLNtETV2oxPPOhcQtTzZivUR/wGdJ2sAm4+TvxazJ57Q91RrLwlv6rNl14p9Bo2ogv8C0Ny5y2EwdnrOES8G8OtLWnH9qZ47sBle9ZuzJAiaZGoGwlPwdOP9GmM6wxXok7HaSg5rv9K/WLDA1MMj/WkFWK0eYS/dH1JINpnmFa0EDi2gbgyuTJ7hPpl5601FL+WtkfknfI6B6sg1Dyo8KmzrmBp+lJpWqcYstY9PL1W5egGGxZ1lTz0HKHt6dcmRjN14AJ6m+h1zjG8p25wuIjBKC38p+9aucv6kACoX8YT5eZHCohJ53CHeU+796Qh3ayCP3wk6GkxNODTn8p7L4IJNWkw9x3Gslmjn0cZqDOTm6dwJkjVOsHJszJfqiHhNSwer+br7I51w/FIBoDWkouLq47Ggs02uFymCdfOetuvf72TyfcfZ3vV5k3sr3xaYpoihCmM3JPg4R7b9S6Rrx3YdliFveHlGk44Q2xklbcHTx7x8ER7NEIXmKAr3Fnj84ZyIaC37wv62cqvpPinjMaB/rzmLjmQohMUvhycPKk7b0BZrsbHCEYsrqG0VWg1La2rNb5TSKFTIuUI7uQA2uIL0eohcjmNm5VXuuUCUhlKH7Zvl7W87gazRcTro1QCuuj7Dpe5sJqT+xCARsOMsIuIc55MmB4ZZeSYp0plb4IKRDaRxHLcXEA753R1ICgRN3ByNkGDqIWp32/7SzFGCMiJ2lnAmpfNP7g3ft66bhN1tuDDiV8gyCSPPdNU3qyQIG1taWko+n9hozFGSUAslBzhmF6OBsF6CmF4oslWenjAgK3Sw/dNCG3YoU/8hiwKd8otFmIrQtb8PgxEdanuU3R1fS53ni2b/rwBPIba+mB1i5maBU3KgGGjuZ9fijSnxHmT+csjLTnfL1BtpozT16nv7teoLe1aHZVY81nPAV8c8I9YLKy3ZYgiOiHnefnmmnnsuhdY0KspbJebuG7TyO2Ss2TBXqEabiEUQyM1go46pk7qc1HdRo50rwdj6nLwJS8YdUWFfBK+86A913MiZid++h9Bq/3anu/GWT2roQZyh3xrI0ccrLa90JJJDZhwRBTr+Tbupe0NTE8DSrXM6QbF8opQ4LBy67CbxVsAdIRtsZKnnI7ETXMw4J9m56YgeexA+7eTWwjfh//Ks3nTuz22lnR8nR7rRqV5gOZRIkHRRmwhYoiWc07iXkEp/YUmaQ2Nsu+/s7OZNw0MMXXAWo2pre1gCfqRE31IIQPGczslWB0yq/ZNX0opjSIC35B+aGIG6dDwXxS0ns0KpD8qNvEEN70Fo3c/XdKfanbbY1DbH2A/xcC6W+TAMd6B9+UFY/TsbM6j/CdOUs8KxlZN4CoX/l2qctl5z4VZVRt14hL4b2yFHEfYNN+/OIg9G8ifugTNa9WNuoT8RyUPgau1lSHl/QWVwi3wxrmhHwNJRH6aG4bmyNmQw79DTsqAI6JDMwXkgtm2DBLNO3wTXzzrkDTK0j7/8T9Jauu9/GEo2/hVj1i2rrycg5DAKE4wRofh/s6KUJAotRVIS+IVv6yi8TaAx44c4PFVvAXjqNien88K1oNgYTCoWxFW7QeHpQiLjLQ3eiCi56gpBGv/Gv+q6vjNhOumB8/8160dGb+0wWoNghKxf8gFGrK+lop6YMC+hfKf33sFWEU/ED/Dl2zsEavC8ED/tKcgyKs6voczpOMRRD1VYfkr+c2YPBcDYfMcnjc+CnqhYWabSpcVj63HQtA0RW1k9ylAi3Y+PKsuQpCM5v3zJWLqsj8Jlutd2A7a9UFfBPPazPC/RqWebpaadzTC6culfiKGLmBUkDBUtvkVsgQjd4WUrvGY9xnd+CP8MWRf/rik5l0UoXl3KvHWTeuFNoj0h7iYgsU+AFtFp1M4MjJwdbE61/zVO9DE4U0BHJWEtBDxKqgs804YyB8yz6gX4XsJw+FF5LfgEOncnqEy9toqS4zImnMoFuKajBFIU8hOgpL6ERIG5fRI5Tcwi7TxrFCJYP6aKIh0s4cV4dNDP8kD+Cdpt+sCUoyLTyeIjsPEz3+I1dSNkokxYDmrRyPYECxDBkeQM0HtgXOSCTBQOQNnDJLF5aYYMPjZCmJMrt3LT2MEpLyO6bxYXoNqEvWVPY9VSxa797kAta7gxBJcSluPQbi6uuXJM36tOqoPQzyTAT2Qa8ca/9fPl4bQf7cC9lEXIJ8CC7uKqkiwVhvEqcls+xk0NMARJ4+jrTBlSNnEPDVzQDGh9ff2bMpCQgdCeAgDitdrxcI2ZHm2eZ3las7dUrJ8h+wzjl0oRyENZ+gv7jAOU1osw/Mk8PBP4JRBIsqKK1kgzRktdt5VWrKN/DyCm+pXZA2PpNAjVqTTsAHACwDYxjSBO5tA+zvQeqD8EjC3ElVTzy08gW2YyZXABULwZT/jaaFt5kfJZ34n7py39ZG9demAek/Dlp0YTpU3phiE5iL0h4TorTRzsZQs3dKAkDJgzKsshjZsnFPzuD9aSmFhWxTCWhk3/4znWRVkh27RiDgy6bY+08UybnuGYujS3StibzOVVaPWP5ToWKWeRrJCpUv3zXBMdPW73URPtGYRMyOZRkimahdZBhnZ36QHFPMemFsrRQ1mw79SvZzVjijD+gEfzHB55bapnQ7TEXO6M2UajFK5+T+/QfW1KR3294+Bqldt9EEh6SPftHAzdwdMKAGnjtRGyoU2bQR+wd2b1975IEXHR/WJGjImZg46VWc+vER8sXkqaLVfCBZ7nA9cFGOrseVja71W+hHDP5JP4ld2Ga3o+bAnv5vukYz35gr9aI9KJJzTZtI0CxeixO8lY4+CWmJ3YwiDMd1HRp90+m0bZ3KfgHNEsk8wOBuVTfGSPQ0iSW1wCuIYhln7ElIGhoDsG6gdpJhdZVXH7eEg7DcZY22CEyYtLmps3w3Flsvy8IgRbOElah8YMOv60RsyUqD838zA0M0qaGztwjSHNm7LGUVjXC6LWSrLKyxoWofmmtNbfcMOw3fx9fqM87aRVCw1xSPUdaFglinpBn6vJhcZIkOXtV4cCYVD+A+AsVGJT9qR0hmJrgkiSsSjydQHx4vo27t1FOtm4hWDsSlc5/RmXnw7EFhhW20e10crriD1SPCC2G/VT/lu/qYEadG2spGfnOCGhf68WPOIABV0YvJsE7yt4dQq8Fc4ITbKkBeOGFEalTXj/IAJTEbplvZakAf2hkhxJph8IEZJTNlWehizoLOFEskKWwwYm9zbeUDBQUrmQIpSZ8sSUMHyHIvXJSTPFfyd9h4gUFwuwjTNELfjV6+OXXEbAntwYsm9+DlObkc9XNCdTkhzeOL3EuwJUj9YZAAwf4XAubkVTkYqbloFRnceA/k1wCAU4jWz8Ys2viyVBvgq1mFBdEH5EqmyOzJCi47fI042HseGVaehkGKDdMl/dd2xS28Bj/JL+OYFpDIWY6ztFEHEiE0lqNqa5tpu1W2gEoCd+U83msIcGcJHUf9Av8XDCeOirPT+b6I3rYQK0JEbpClFLnrQOlKR+SfV3+0KbJmiyJ0bamXUBc5UE8DRr6NwOC/tnwvnV1qfRMmZyEefMI1+tX3ao//C212BEW2xidsbmnFx59K4pfrqogqe8hhrHc1D8zYwwrb9v6IzcSg7AgOFXLFXONSYUaEld83/+xMw+zTADkVFj8QSi2hnl26hUADj+SWT96ZsaMaOxFGX3Iw0CbzHI7MhpzjAYasMB933UvbIs7dFFClw+OFidgZIIo5LhACtTXovrS+1qCPHv0f9u43yWSOJ5T++UwjWVCcQZuWxQfY4iL53HdkyLk5dInjOqlBs2PAgVLLYwKfPLyr/ZeLObLHXKdqPnNQPq3g4SAP9z1naoa/5r7JX/lQ1V/ztla8YBuZiwxGoqj0WyLaQTa44HYD7zYf8BmuTLx+iplHWUzD3J4c4XW+5eq1vSD0p+6WG3DH3+5Yl20dp5rsuuq/wsio7C3+U1JXoeaighHrsFw72s35EH/xDIXarX4svx8bxU56sO1Zlyut6i0e4nrChQmU9zBvmBUGeSUb5CJQ4jcvULmWmMhIYLYlwgRHfFRI3SbyJYKh88mQREhSEwKjAMyKEAAR8WflU1rwVj/gtXTNFsjHOqKHTtp3D0rnp9rz6jZeDXcBJtAes9wXxsDaTbMHt7JsSmoGqYa1d2GcdGHXQFOgTxT6vJ1QBXHpmg9L8N1psDEGsOW7i6HVssRrLHRBevK+n512ofB+WHdZ/f/hct1wFfdo5zu+xQ8k1XvDoxLrBNwXp2C8nxhBB5gIipyanAJp+NrTsGep5GTPSoOsENBLCwdxzMulZcjih6m3oMZMx2CUhF16pGQCahjBSRbWcFy6zyhUAZ8hDxq8aGL9dKAsiU07R1N/Gs5PRdkXFB6/yiU00PKE36AXT15k4ScNgKv8G84rPIyCtnK8Yxxu1Rg1FaPWsUXnCqx/wnLapVkPYorFVsNJJ9Olp9RrfXeZPMwQNZfBJIPJnF+hTpujOBIiat5fdzQOPbeNOwC1CT4OHRwzwbBjq99Atgp8xUOtMt1pTHen8zZCi5TIRyABrSgZFZXvVeExcr4fvBYe8pM2HTG7rRWTxp7ZskljEzB19lfoVZd66MU2Z0onKqZ/KhGY8zKy5EU9p17R4BfziaDybMHIQ1ib/1Py1Y+W05Q3hbC6btz3jw9Jd6NnB14kCW2EDVz7rYBaeq9Z22XffRvYWCu0gALeT3ps88wp62cIezPhNvj+lF3CqfIDYUUdMREm3Tsx2cC2sSvzM//4z4FT3Gc4f6ZzasJXvpxMAGqBNXKqrEwfk3iNB1KtzJpwzmWev8bXU/9UgLJi2jQyXJCx1eNEcf18YuOplGuckI/NRgppihYkmUF2+Q/g/rJgutITR8QOyP+HiNyu4sj+sgIteqeyw1Ga6dhDaAqOORvOx7lbtZGHa4xjwfv5yYydIaMlW7omFejCCzca4wpzqCbS+RzSLcbGWjZGiLC6xNKZxil1//C4Qc6KKSfQPIaokVemzToxuOdrv4RRITv4keArF1FCGQtbYvQHjuAmURVmlnjeSjaiFlpc8Es/GHozvmvpssRuiYFaoTv9Dr+uMiLVtJpBEJs6CPeprarnkDR6fnGe5cRBf3L8zDrEhE8JXyTJJBEBgz6SjJbLYoa75Oavl0WjmWwl6E4Ywn8YvTjNOnV2sDGADaGyQQj1d6DGKkwy4bFfx6CCSRcF27SiZ1d6KWY2XQy1n+E7gQZnLosO+NSeDmAk5Q8/aqeOpOxbXNlCSKe/puQzKFlwcMq4Mxrz25YeiRX2Q+6mmkWXLoni1jsjx19fF90+J1qxacWoMBKgwPoRulCBhcmtPQRO6d50+4j8z6FQWDRQya7DqjFAtkY1L54PGf9yKwQAFFEspbyYcyytjAD1SY6QzAuhGnU/9uZDbyOu9wqP5uInNRWaZNktufDBa2rpJMIIUojXp3jatu3rZS6TGObzfL+FCirQu50FgVP/g5xJURf6zA323o6IdKDUEe8uthOrMgI835xP5wM4ojq7GNKWc3KellR5nDWxIB8eYYNuJFXBOujhJsY3Jr45vZTe5rE2z7RpgWfbwdc+lUB+CZxYB/WwyZ7f5zSrA8nwsVZMO4lhaDHVzarWY+wDWrj7GdkxNnT/aeld7WphDwUqvGUFWVs+fE5zNEtmq3zu/FyBZXCZSyna9lP/oyYJA+ZyYHD/z3sxXsYZunzO1CXejXecO/PHxwBsDIc8kyyGc1Ifn0drQG+tcVw0SzETaHB0GT3L/jilpdPIXcgZdsQInyy7VfKsBM5fN/zbzFzvxZ9aXTV3X7LPCmycnK/93ZQQkho6d7zjzmMCS63eL8TyXly+gSCXbbl1YUKnMX6WKioDw83nUjSCriNIk6ctBe7lWtuj6Ubpf5zpHt0H/L27OIUKDF8XUZeP4fFbTLZoZJWhdDpuFBUgrkic/hSLCwa3qpuR+jSwuH87fOU5e74HATENWDygvrgoUVwTZbzxiQQg5llMR2lBan2rLVRP0OrKQQS1qTQ74ELI/IYbvhUifCSReeBce7UsyjfJ0OPDKw4XI1RO/YpMANH+eAvQgWJ4GFkEi/ydsko8FqFY6TDMVWuu3LK0tfm2xoGSgEA7r3Cow+DRU/SjD+BR3yD1tg8CDRFREXdUzJkmuAcqugEymHndt9K6Kn/2a8PSAkR+yTp15Jr+rTEEvhEvE1BN5cu5mMnuiNRLBU3ZKXzOoFBfi/UmdJPE62Pm2T06Uv95bFOZWyeSzIUZCdqwb259BUWpHtdzviK3KqNTTzcyBsMO/fgc3oJLQzRTMBpeQx7dAaCf7DcdarqJHAtaLYIiwY2MMYVHu/HTyxbITZ+Zl03BcdpG9WSD6HyqphkbTrvYFOuMcciO6zwAp5TfsRlEfHnOqFRo63XDVPFKs6+XjrixN/t3BGhWPDW0IV0exttgCS77PINEHJwxmSlwVzRFRS47qnCjaOrx7NoPP1h45Cqy4YRm08Q/4Z+0EtGdOV4LwK3AONzVIXGpJsn5/Uup5G+B0z9OqT0p659e2TSAWKoVAiiiBgHoTBN1m9XoKBc08fWqFC4uCMAzID2Xy0N2Q5Rqm40Z2AoIeiwpkUdDexEk3m7zylr39c96v6gye2+gZwQyNDfYnkG4rt4qlulGxYgHv6tvfji/BWqTGOqOGuWb0LZFj+eCcMAA6MKBW92PwpddpLtrLztSDy8PJ6urGAKaREsUmS0KC5XUzLlWBH7tPRZbSR7VR8nSGWkgNjCPQvOdJ1SFtw5JgkOSYtRqcoPtZxZkUUL9cNlFOeN3nolcUqnsnJVL9KGkGDCaN6b/LSVUX06J4oRQ/Q3BoDH/tsx7cHrSlewY05/DsX8ayJBxlP+6ufIALM9WI+twmG0Y4fiOl3rSbHw/djyEwqPx4P7NZxrc7MZbS83VTs5kcWiuXX1TSINxrLOyWYQN2OWyWrTSSRAAKQvNlX3U1C3LcMLd1mP1QF9awYaMv9E/jjdGasFlpMDJQUOA9dM/wmDUpMYkGwYTyWVZ8qHJ30t+rOo7kn/rvKSuyCJhF7anmXNqu5n4MfGjPTv9pT+Qx1eN/9SK0zEAISgZfQYj78k4huDju/mja07xmT+ri3CxiOGnzaQ+oOmtiqWU3+ST3aEUmWrL4Q2nBDjsYEx0lU71bb1NVnnb3u8Xhmy6oiJgE7vqnHZJU33MpewV7/C7XF5KBy4Dkrd9bL2GuWCNGgoV81KZilXuwBKe+UlJXBMM4ac2rY/GCqr9XCb/HK/LLgYoDEuU8L01UEeQy+mfqhxfea33AvDHpE/gQuDjXjokzmHHKKP06T++XEIyZfnC69gx8iHYuPTLziAAT+4CFuEK5pzIDUQfucvW4r/OOZ/N4YCxtZHkFWDuqfcuhrMQhVUr0J8BtDSXIxLyuVyyfFrwwfwXvk8z0++KOO0fGsJseE2zuhKNe269IzkuWZDGEwY0CfKzpRd2f22HUP3bxkcg8A0yinBu8zsX0GFQMSYyJ7B2+vGMdB4sE0S6vGTvmnU8xbuq4SzMnldXtpTf/JCg6VaUr3HjN7H2iKmfPuluEwaek5abRZlrGMmikSzCZuI1vOuaDZQR6SaPlJg3zSHkrtPuW19izVuWhH0C0mgbnvRU3K/l8OwsnJ3hG+X3QyPv0PRlOAxDljOvKAVz2J4BWxXurnZc5Vn85H2tZ3Ye36YWirUmK9xYYBf9xJTqh42//jjYdIFxW34i91xpfGzgOKlbdMinjqiXcY2XBrUKar03pJngu/DixbegnFYyDYWE5HlImpcoeLYHI3sythHBVp6lON3t4hL+0ix6pSqjcgCQofhi64TIEhGqUM+Omlc9D6x/xwks/OlmqLepPpFYlDBRR5ZQ34K5r0ubwHEQnsknxh9lwca/b+1C1hQRNbeDEYoTUz5Lj9bnIt5E4DhTZtpsU4OYQbyWm/xD5QGDkAp0oJlwU4xl7i8E4EhlkG0OMXjlNQ3HoG9C0U3IG7VqUYhtND06NwektZIPfHMAR5qSREimtZHWJp9aww5qXB9a3ZmmHI8cZ+hEcIXBqGjqcAkrZZmZfKwRhXPdme5Q32BRT88JnBHjWGWue7qKm8lOAnZxWuXzSYAsrZLV2aDihO1hQ6RoNKWu2X9DJuQchaGDxauG+II8fg+7x3k/M0pPQdvwpZOeQYG+N/nOPR09RAX/ZpXbTthdpyOeLySusbhaNICIS+uBhBvkL4N/Lfev9NkCv9JJlQv3HoCiTKVtCs0zN4zehA/cTW8JkNrftOMPZ9VD3KHysdk3X1jKl1zJoyY7B3GKb4UR3+kFpgcD8GGtFRRiOSadyS6rC060ReARcXQEBhe8BVHqMi6v1WHPwkHMfyBknwRBYQN8quMdvaRX7cppuiOrFXv87Miq+G6IWhBK36RSoIvMk+1JhSWx7U8cfj8/EHg30jLqS8NYpM2hXKtePg3bEeyZ8r0WbiBlQ+zzUCgOQrS8evNTwO/Of7agT694qbpdsw3Bpy9dc1dJrTfLcJfH9V0kGGfTysLWOqc9KVmtK5SWfzi88Zbii5OGSwKaoxtO/ZdDQDvJmIcLTMPOn7jEeADjww0AJ0NUTBKWQpUul4wlp3GpbJKp5r6+AjhXmjMfmGLe4kRIgywxT+Y3YkKAtLdFoqBIkMda4vZLSxNTPFvzhhlvuIpAtzLTIG0N+8dSOpdC5KCSX/wXVuJyzn9o5mDp6rxo6nR4uIfTZylN3hqJ4IZvKDTVGb2btqBskyjSZx/q0ySix53z238QgeEiR2mc8gF8R3NmnUbeV6p+iV/UvScBuwvgrAgoTPge/LQRo+sGqUMnIeL5VLaDkNQ56i0irGUHRDtaiqLk4oZKEPkoh5ulB/wq73uA0dkILRZplrLKUQo3F515vJQ4/jB8t3td5sFQmeZXFl4QcWPl+jF/NDJbcc90igMhsyeiSeL6I56/qZF4Jfgt4QkhIxAenfnX0Si8KW3CaHaIb3rb1b64W5YTLHU8xf5K6ADNEhjR8Mh9wSbTCgaoPXMiBo73EVQWcC/MfaCE3BAlYJVM54gSQCqWgTwLkzId7ewEsaZX4VoAGc7JsI0s5Fxt+dxbL+rZegk0zbWXT9T+NM8nIBh7PGTW0IdlcRYLaWxOJgvOw7MzNC/eEJ3DG8YKcF5xkR6IyO1DPbUuaSaUrtR5yGdI8G+DshZbXBAw5T87s8zm8cK5Gkph3SfBP3OaqbocCYuqLhQ9kdJKzKqmBsYM3dBqaUDNmqcHlxTd0tMMUbP+trL134Ny8O/eznroyehPqtcFNrhhTbKwmPhfqLPNCG7/9+yOYQVxkoQ/8h3mJdM76BHNGi0vdX36aukUq6aX8TmVdmg3gHRejIaMPZIgyFCQcZCx7UcwJB0VwShAf9mWEOqOa6mVIk69hT3knbR7P0jXicynaFpcmg5wABeMCOq4hJ2+gY37VJvSqRXDkCL0b0/dYtJnRH2jR2/3UUWSvm72TfjdxAog4zQAaUlt+QEcBlMNoWKmubVcRJUIHpD7mr3S2+ELOqNOwr/81Mde2Xzz7UeY/HpvN3LlpQkoIPTJLp8WILFnEkpIv+4daDhpS3TqAqU0i9t7P+Rr6IY4Qzp3BI1J/VGAkQkjXKg3WWOjSEkkIGoa5WXQe4GKAqUrw2DxTpnUWHVOlp45TTR2jgPRNyiq5NpUVd84CG0I2sc+m1jEp31BCVuCdGqaAovqGU+OH3Ihz53oryco4/fHH19GhrSbbzmUy167whdv7K5Yzw7Ne6BDjL80WmdnQtYKctD4aA/3sm75VPfSe6SYQ5mFtzKwnO/Yvt5Hm9xspaxtJtwZc5lardEx6gtjREKithedQ3xkKlS6B+WMLkYt4TDDC9/D0FcVSIMq/oDrm48FR3DOLXgtHasz5MZbq/ovPXwl1Pm7eiVDZdbUQ08wFOO9fkl2BpsE74DjMI4vzpNosHwpuuwc3mo8sxOMj3TS9NXeTfWf5QjOQdxcsObz+JWcBuflqRPS2U+FQj2f1pDjumrVLbE2x6Igw1GgPYE/XKyZprt4qPqwwKfknKl9ZRLDgEcNUeWySSGRAu6GdYngrN5ougd8jHsXVPThnv+9oQgBadQwVo1J1f6DZB1b4+fFX4R8jIEatmXVg1DhbvPLeOi1pv4NFr/8so1LQVY0oOAgRO+D3okNLduKqVIzscQ7oI6LNX4cQe1ZbUrYJDLPOUM/IomzX9RND31ADhbN0nRNxnj8Um4TZUyc1aiWmeZ5IFQD2TwL24UTTgL4R9ycHFQdDEqIYVc78cuavIAGk9GsIqL5p+Ve6Igq+n0oaBkEgAR2MetCjRdq1K69os4TEcOJMCJmCkqwsa0g6nS2OFZbrTTuA0cG4A8m526bjOiFwzERsyaQ7NCJmMZlHwiG8f/lufKYIYW/ATfYYK3wJ5ZGkSr1U+9hIvqESg5/1mbYZRYj85OID4gWBwJhP5rQLkcZsZijvZrjKXpReW2sLNt55UlNHXY/EbChQBwlHB++kXbMOSA0g85GUD6e2RrD4hiiHTLJY9fh6KCovlcjHyOgY5cyVcqycntDMlK483eiGngc6U8VOuon6iZ4s6eHvHiQZtTVjaIrXGamsD3HUxc+oU4yFdiei+DRU8fwX94Wpt4jlLRP/hjCe4dXp2Q3DPMJSuxzfq4JdtHd4Y5vRonPpEcrys9EOBoEkZMI+/nC0W2WarJWWlYn4xrZerhjRk9Lh3seMGgVX40n6GuO/ZnsX8h4PuctnLYidF2wKg6Qx0jYgN0gTxPgnhj1VB3poxFWbwPUsUVObhYLUPaiCtE6h9TiwmWDBH+//zXGA9cnoXmTtfp++Qpqz4TBR5UHyVKD4DFCyeLZr+6YbxRtrIfoGtD/WpcvWMQXvJ75HNM0JpWn4TABwmw/wizF62zb4nNWXpL+hqOr/sIXzsKGDPgnOsYozW1fpeAkMp0PwM73i43s3azLSLdIovzf/qQIOT3D4R2UbWDPpf23Bpdap3uRy0hnIFJmRigzy8eDqudJrS3+AKrVWGCEaTJtfJuLzQ1jG1XT6FD/IAZ7wBxbJxOHPUIKVXJ61eS2SpPLrUXCehNJQ/Spt+YIZ3wuqVTNsFG7GyLdL5y/8cVWs898uSeayQ8reGgYJhPZytwHJKZNip3jeYbY2Kut98cwQEVgO64BiIj3MZCY9XlOIE27p+6kdwvW5gBWaGETzm+RIw98X8dnvpTor2oWiK1HdkaoBT7fIdZ7nyJuItrTOTMdUdh2xcPROv+eeLJkKJuY/SZkNuFMCcaA/GwGkrPN39akXs2362Pb+05wfoq9WNJ9hPK0wyHQoO7p/7SfWwXImPv0tzqM+nt6p4xncUVgB49wFSLETDyFEiJi3aHKEt21XzSZZUsUeuRK2JS/Jj2CtgZfn+6bkDgMweowY5ip3w3V25eHy8lnc9w4dUa7RcV8EWg4mbDcRW82HjD673tBeCEmqAg7iAtYrfrY1hVs4Cg5ghBda39BcOOwrPBeetbA63su+cAdX9MG+gYyWwviFO6QkFx5NOtugZ/1MgDDomPN7hnjOUK28N3cEmGJBfd6yY0IJo9kvSYfOTwuJScEFgec/aBAJCZrFFhtlWAcbVuyM3QmtEcl8AvKG6cLMNi+XE2MK/dodnlXZA6vah+NTCfRTFipI6V3VGgfWsvZQR4senrcBD1QiBraB7Qto++mkop9KXkXE4LrHdoEGMH7ftrHrC3Qmsqc02w64efKJIsTqYkl/JUI8P/QKH8yvYLX6m6JkwgFw==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30200" y="1230820"/>
            <a:ext cx="3280508" cy="5088859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319679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* Actual client Shipping and Handling latest costs ($885M) used, with S&amp;M/G&amp;A being split 75-25 among the remaining SG&amp;A spend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reports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BainTable47798HeaderBox1">
            <a:extLst>
              <a:ext uri="{FF2B5EF4-FFF2-40B4-BE49-F238E27FC236}">
                <a16:creationId xmlns:a16="http://schemas.microsoft.com/office/drawing/2014/main" id="{2A8BAE42-4930-4470-9814-D67878B4475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38897" y="1681246"/>
            <a:ext cx="899660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Nordstrom FY22 Actuals</a:t>
            </a:r>
          </a:p>
        </p:txBody>
      </p:sp>
      <p:graphicFrame>
        <p:nvGraphicFramePr>
          <p:cNvPr id="24" name="BainTable47798">
            <a:extLst>
              <a:ext uri="{FF2B5EF4-FFF2-40B4-BE49-F238E27FC236}">
                <a16:creationId xmlns:a16="http://schemas.microsoft.com/office/drawing/2014/main" id="{E0C4E5F9-7A21-440E-98AA-32D309CF384E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3610708" y="1451009"/>
          <a:ext cx="8246330" cy="46934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080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3984109473"/>
                    </a:ext>
                  </a:extLst>
                </a:gridCol>
                <a:gridCol w="5877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68821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of Goods sold</a:t>
                      </a:r>
                    </a:p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2-5%</a:t>
                      </a:r>
                      <a:r>
                        <a:rPr lang="en-US" sz="900" b="0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 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~$200-500M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Strategic sourcing for direct materials across tiers 2-4 and enhanced SRM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Standardized methods of make and BDP sharing across factories 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Flexibly source to groups of like-capability factories 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Total cost of ownership (TCO) via waste reduction and value engineering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SKU and raw material simplification (harmonization, standardization, recyclable material, ail spend optimization, rationalize features and quality) 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Improved forecasting and demand planning (e.g., in-season planning) using ML/AI and analytics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Increased digital connectivity with tier 1-2 partners (e.g., touch-less data exchange and planning)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b="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Define “winning portfolio” by brand and channel based on product-level growth and profitability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b="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Drive efficiencies in end-to-end design to shelf process, including productivity KPIs, clarified accountabilities, and use of technology to improve lead times and efficiency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09914"/>
                  </a:ext>
                </a:extLst>
              </a:tr>
              <a:tr h="573866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Logistics &amp; distribution</a:t>
                      </a:r>
                    </a:p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~$45-90M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End-to-end (supplier-to-shelf) inventory and fulfillment flow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Best-in-class reverse logistics to reduce cost of returns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transportation routes (e.g., inbound freight) and delivery frequency; case pick productivity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Distribution network optimization and productivity improvements via RPA/automation</a:t>
                      </a:r>
                    </a:p>
                  </a:txBody>
                  <a:tcPr marL="84244" marR="8775" marT="42122" marB="4212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39091"/>
                  </a:ext>
                </a:extLst>
              </a:tr>
              <a:tr h="200757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S&amp;M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Zero-base sales capacity and coverage and drive efficiency and effectiveness (e.g., coverage, pipeline </a:t>
                      </a:r>
                      <a:r>
                        <a:rPr lang="en-US" sz="900" err="1">
                          <a:solidFill>
                            <a:schemeClr val="tx1"/>
                          </a:solidFill>
                        </a:rPr>
                        <a:t>mgmt</a:t>
                      </a: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, incentives)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Coordinate single product sales efforts to drive up share of wallet and improve cross 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(e.g., prioritize accounts by profit opportunity and ability to win)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sales incentives to drive desired behaviors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975539"/>
                  </a:ext>
                </a:extLst>
              </a:tr>
              <a:tr h="62184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~$155-310M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4153110"/>
                  </a:ext>
                </a:extLst>
              </a:tr>
              <a:tr h="200757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Optimize spans and layers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/>
                        <a:t>Explore shared services, internal COEs and outsourcing/offshore to optimize where services are done and by whom (eliminate shadow organizations within BUs)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Simplify functional processes and redesign to better serve key customers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74621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~$105-210M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0075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~$305-610M</a:t>
                      </a:r>
                      <a:endParaRPr lang="en-US"/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0075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~$505-1,110M</a:t>
                      </a:r>
                      <a:endParaRPr lang="en-US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10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25" name="BainTable47798HeaderBox1">
            <a:extLst>
              <a:ext uri="{FF2B5EF4-FFF2-40B4-BE49-F238E27FC236}">
                <a16:creationId xmlns:a16="http://schemas.microsoft.com/office/drawing/2014/main" id="{17942A8D-62BB-4630-B47E-155B78B4475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605948" y="1114458"/>
            <a:ext cx="1419344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26" name="BainTable47798HeaderBox3">
            <a:extLst>
              <a:ext uri="{FF2B5EF4-FFF2-40B4-BE49-F238E27FC236}">
                <a16:creationId xmlns:a16="http://schemas.microsoft.com/office/drawing/2014/main" id="{D84EE64D-99F1-482C-AE45-3D5F93AD324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007166" y="1252958"/>
            <a:ext cx="5849872" cy="2212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27" name="BainTable47798HeaderBox1">
            <a:extLst>
              <a:ext uri="{FF2B5EF4-FFF2-40B4-BE49-F238E27FC236}">
                <a16:creationId xmlns:a16="http://schemas.microsoft.com/office/drawing/2014/main" id="{A1E229BA-13FC-4FEB-9319-14F6EFBFAE2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108396" y="1114458"/>
            <a:ext cx="815666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Nordstrom</a:t>
            </a:r>
            <a:br>
              <a:rPr lang="en-US" sz="800" b="1" cap="all">
                <a:solidFill>
                  <a:srgbClr val="C00000"/>
                </a:solidFill>
              </a:rPr>
            </a:br>
            <a:r>
              <a:rPr lang="en-US" sz="900" b="1" cap="all"/>
              <a:t>hypothesis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975958-2142-1B64-1715-DB553C1439BC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84080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btfpColumnIndicatorGroup2">
            <a:extLst>
              <a:ext uri="{FF2B5EF4-FFF2-40B4-BE49-F238E27FC236}">
                <a16:creationId xmlns:a16="http://schemas.microsoft.com/office/drawing/2014/main" id="{4E7828D1-0ABC-4491-BB82-15E3F7F06B3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4" name="btfpColumnGapBlocker912971">
              <a:extLst>
                <a:ext uri="{FF2B5EF4-FFF2-40B4-BE49-F238E27FC236}">
                  <a16:creationId xmlns:a16="http://schemas.microsoft.com/office/drawing/2014/main" id="{2889CA9D-C4A2-4B89-8E4B-7C5B15A445D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2" name="btfpColumnGapBlocker330762">
              <a:extLst>
                <a:ext uri="{FF2B5EF4-FFF2-40B4-BE49-F238E27FC236}">
                  <a16:creationId xmlns:a16="http://schemas.microsoft.com/office/drawing/2014/main" id="{4C8B3655-7E31-450A-B38F-7FA66CE1E112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0" name="btfpColumnIndicator242612">
              <a:extLst>
                <a:ext uri="{FF2B5EF4-FFF2-40B4-BE49-F238E27FC236}">
                  <a16:creationId xmlns:a16="http://schemas.microsoft.com/office/drawing/2014/main" id="{A05CD150-35C5-455A-AB4B-E9AFD765F298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btfpColumnIndicator747848">
              <a:extLst>
                <a:ext uri="{FF2B5EF4-FFF2-40B4-BE49-F238E27FC236}">
                  <a16:creationId xmlns:a16="http://schemas.microsoft.com/office/drawing/2014/main" id="{AF6FA35C-ACB1-47F8-9919-8AD1ABBFD1B8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btfpColumnIndicatorGroup1">
            <a:extLst>
              <a:ext uri="{FF2B5EF4-FFF2-40B4-BE49-F238E27FC236}">
                <a16:creationId xmlns:a16="http://schemas.microsoft.com/office/drawing/2014/main" id="{984602AA-D0D3-4EA9-8643-B47A0387EAE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3" name="btfpColumnGapBlocker674224">
              <a:extLst>
                <a:ext uri="{FF2B5EF4-FFF2-40B4-BE49-F238E27FC236}">
                  <a16:creationId xmlns:a16="http://schemas.microsoft.com/office/drawing/2014/main" id="{13C5EB5C-E949-43A8-942F-0E1979B8B29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31" name="btfpColumnGapBlocker316082">
              <a:extLst>
                <a:ext uri="{FF2B5EF4-FFF2-40B4-BE49-F238E27FC236}">
                  <a16:creationId xmlns:a16="http://schemas.microsoft.com/office/drawing/2014/main" id="{75AB82DC-1795-4C80-A166-2B15B47D9A1A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29" name="btfpColumnIndicator637094">
              <a:extLst>
                <a:ext uri="{FF2B5EF4-FFF2-40B4-BE49-F238E27FC236}">
                  <a16:creationId xmlns:a16="http://schemas.microsoft.com/office/drawing/2014/main" id="{8B05A293-EE79-4C3D-B4B2-FCB9EAC85CA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988255">
              <a:extLst>
                <a:ext uri="{FF2B5EF4-FFF2-40B4-BE49-F238E27FC236}">
                  <a16:creationId xmlns:a16="http://schemas.microsoft.com/office/drawing/2014/main" id="{594C3C54-38D2-4926-A6D1-6709FEDE2A1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Applying Bain experience against a typical cost structure for retail players, we see ~$1.3B+ of cost saving opportunity within Best Buy’s P&amp;L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42857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overall_0_132441137684899042 columns_1_132441137684899042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44ndfJwpkKtk8Y9Q6kCnYbex31xYD+J5OzF71BVNcgs6Mr+RwVDI0fzx01AdvGsTZQozHemptJb5dee6UtjJWSuwPNJKxwrhoktVVbyZMqUTF9s84fmgLIAJwpdn03V2y/1QMgaL2wSqJaoYDmnUN9hUN2fHfejGVna5jc6WdndTs6xe0mEVhhaaU5SbSYf+MaUn2I0WWyTARDNLdC6eMYvHtgXyqw2DuRTZPkq6wpmWqDLWYJ6Nmx1SbBAy98vsXbi+TTYuOzAza60YVGRCQAIam9UmsmjkNEDcQfN7658Uc/1T46A8IUdbchu26hhyQNyzRbAJFhfh531wLk7bUetp5FJ6qDyZBjo+Tw9V7bs6YBsmX9MrHfLcqDVhISk63DuEkhQ1/AW9im4UGw7lWU7V40btT0yHY9uEJRfxaj9tUG/CdQJz+EDRj5jq9VR57VMb3609R5sTXL5Q1h9klXE1UxEvke4LVlCmYSgB6M49Lm1sRLLdrf5ggTSZX4XxWhqACzGAWlXKcJyG1spV8r84hsTGOz+tkrF3/7ThUnIHxSxNzTJZ3EPGIj9lr43QT+eS43AG5tx1kaxwu5lQTtMHYHXyrozfnCW5091T3y6pGPz9GOC/hbgU84pI1XD/PQBnpY2IhyO7gUj9CSZ6UhVxFOke68WRAlomavhDm3F6gQy7GEd1rYSjclAYPljf0VEskG8apCRhVebgUf/+Rj5nUL/e2EZ70+LUIyxCZ+wRTtUaoWondRjLS44Khk9UeaHuQbaMrx9X7KGNbCrsqgRuTqaU4GjBFkrjjDbhX7yx8k7T6TlrEv/Wz+iscCh1Cv/8wRDC7gU/RQUnyT+RVa85yRpfZ6PxQf4N1kQ/VDQUUvfVkFuFuk3vuwnn+ALOKPd6lVkqJ1nb8mVotKotfIX1cEzkabmhtjQ4FxHwmmW6R8z5mYmuOexIGnraTZrhW+WACqLIsjwBfHaAdgppITEPy9dOj413YCqEZoBL4M63hRuJjNs3ldr6nQ8IGZU4BmyEO0L/3sq4hbGxNGHe/WOvPtRzZ9c1qpXH83L7kdapev+06MmsEoxgZQO4jMi/CwztjnP3UVjhnKfb7RlfGtn0OEfX4CD10O0MHaZwOtUuUxYuu6hDmZWeu8PZwc3frFJzAqKZ2P3Ox20DQpLtA8DOZK3yPllymSXY1hi0aBIOB0pZv0q8Xwxr2NeI6004UydMjolcIy0RQpS9XpEhYFFiA0tv7Z0diEA9gkI29Oew5aCUAbMasZoiAn+O5VLM+aRloZL4QKyX66/5h+xsJSm9scE15Chwrn2gob6pCaojtKm9M6JLAVaLG4xqSXpygSBDJtno+6mdQER82WZB+LuCKS61vt9tOpOiJwL3iUJ+ZvoHleyfweyiAyQGN7EjZl6S51hadbujH2zf47ALzgs0z4ITbpLeWoRJ8S9WLiBfNOwlRTy3ffAVL2uc3Zv6ehzzdKDx2rX3srLqSW2PD0KKfJbHwm13nDuXVEPtgAzfkjYsLwKdFbZ8rPC/ftbZ677W1n+4dXVYi6dO921xv3Zabcfiv9B2lKWtL61CLO9Hb0R7t2i0lAdnhaQPoRG8n04SiE5/vXTg97yWiTJZ7Am5Kh4GFU3qewod06v72RHmPEskp+gL7RF/KouETjJlQuWY8PXeGfI41KDhm4bPC+19szxUYh1WMU/8SCNx5BP2dOSWwgzyzH+l44M0E1ULJRzc2MM/+ti0qLyvkIK02SnLcSaDPzVdQnYkelEPxydQHZ6yuXyiEbZ7XD0pYG8K6KnyL+G4CFmGg9QDnOv16Yrd+GXt1ojdB80hg3Rzu9vG4X7L5/HCop0cj4YDItb5FJBfu7HVa6+15CI36yJgfJWRseYG7CEOHmrVyewaZuwh3GMMy3IBqzdthy9oSv0pp24QW2iWsti2eYjvCCG8eLoGOe8fMYw7wo+PxUq3T9Vy/Vtc9KOKE1NYIOnnwSyqJ1upyznx9DxckKvP/EeUJEyZpmaj7zgfEjV6yZjmHWSEzeWzhzfaIHSgwbbPB9VLlVct9oPqt13Duw9VcYOVDhCCiBPEuR5OaXxYBfP53XlRpeYso1wyInNjjVXX6FfrOFoZMqerOSWsw9Sa9btvIaheZtkJ0UO2ccTM6TlcW2hdpaqgBzbR425dE6w9ciCNVsZ+cKKb9mUPs1OdCYqEiazXjdrdXBcxPqiBcmkYIajhFThO8mDpmJlDitd3deiGba1SWDecLa8QCqARo0cl0LdqYh6Y2ivc6QQdJrwI3vuwab1J1M7kjxB94rw8bFvMLcKp/bXyZb5JkDySVgHQm86uOqLSC/niog/vycxjVMLzh1ANT2q3j5O3erQFARUBrIYYFPSdd/dlxYTvtrHEkDC5F70xhRUZFJBpBbF8j/4uIwNm6LygZwyCf1ql05fPOoGEdOczGZsNjdsFAXGiyjW/lST7EayacFuBZV7SRNFWYQQBac5D/mZPt5y5HdfRzIFiTrr6VqALtoq2WqRfwVKQIW7L7Z0WVsw+d7agWSRSwlBta7fELDUZzSxn+4xlrWO717rwsYAxW2YLs7F8ohgugmBMjGLfR01Z1/3npScnW0E1659IEnPzM2IFvzQcgIg3mMyecBpzK+8/pZBGFAM5/oHfDGwdD0nqKIUVZRlKfxMij3UDmIuklrRt7FFOaHwsM6LYckN6T11FxVE7Za2qype0xpqzK8MJ19UrtjJko9Rz0bvoSFth4EtFFP/VdNicvVKzFQduHSfXtjyz4E07DOHgCwvWrzAySaINhqKd/Od6p3oOVvvUNxjCgb2bHBwZGrYV/h1/5C4SYCG5vLudMdpCEEqQCuOetGyObzV62VO1BmjHnkZuo2l3EJqLkqoxA/RMHJdY1zzWwCCOdWqqTgrbFbqm6dl2+zG3fH7L/fd92pxloeA0FAO2yyznx9lKY+Z+v/MnoyvJi7TFWLFwIrD8opIgQ7E9f/AKH5IrXfEV9l1gOnjqMeN/LfrT/TUtevBBryAeYgPjtczPHU3wGPjklTEwy7xCUQGLBx5poWdCRsrsblq05ySADXbc9W39sINp747DU+wxjX9lI2XV80RlzNnzzOltZAnqkWc8Ncw3YLCCnUa289z7GLJFSkFrDpABTwSc48Tswf/IOI1n2EtYAm/yJzzCrqZ3jBFVfvNJ15VyXFtGo65JVAIjo/9EdVNiDwHlHSe3iSILeMLF+H5Pzb1B9nlkbLxPsCMPcLtTEwXfXNgcN0JyXWYpuLCddWuuPVObzUF+KEDKzATjo1K7zorFyOBbyCGlOFStmyEvoeXmdnnk0zlULvihJkg0etUFo14n3h62MNKl4Xz3Fh2oSxSrK0cpluTcZroCNHBco/64jd8LLvHXd9ed3KkodWQSFckvFTEMqKyaseo9gH/lIB4Pryvj9YXNIQTtUI92H7gixUI0E3iIWcMcFGjDbyme6kuvvAFuKv7iRFEGU01S5rYnJm6oZTa6oi3+AvSD6/cq07ObfVXd1KhDaqtVhU8FGOKbEjtZIy0+MVDEUco+WyVYBVFvLdIcuE0bCAxD3tBwQt9qUdNrFS+EqCUzBJ4dlEPl09MowhdDsnjbRJ8c7T9e+MhIUUmkOEHhH3C29TVNcQ1oTfrNaWugZxJStbc1xIZ3MLYVu1FXtuJ/4GPNnymTjArwEg4jNvgc279QpFrn9g4YxlLwzg0ybrKhBzNlU7bnHKyWn0NgMwMweJouJE5sCZFEkGpmnK55v/xR3ARHbOMIrFyOoivL3NoGFcdMAdWtbSN7PTG2UVg41jzQomKfvIKQPVIGt64gKXeCt4gQxS1JEa8pmoidRnpgEHRhjLr+RElYyGUSUyAFUC2EZri7m7f4uuYMzGjYkqUdDDLtGqok2KDAR+vQ1vwdcv0gl5oNStHDDh6pKeAdMdS2G08zORGOHqL0BJJFqdknLiofpXgWHq6DKD++TaMB++sC6ywOb4cySGku1awhCg6mMbyapfIDYWOnjJiC034dKA/+o0ZZlwAB4SrYumuuvgO62i05fpKZqAfWzh4X3JHFrrTbvPf6Lfbk35VkFZSwDMxR4HGBeZ1BFJMTroQcuUteWI/yQe/haUkODfaYTUQZ2KWAR6E6HhCgoftyJM0qUdUieCdToPeW6Xe1kI7v6HMeli/GvvFbt95FJwA6ckm/dbztOGVNRJgCAq9QNSu9dQ1Zrg21qJ4KDRaTot8aldolLnyxIHXZs+8sEQaNjkTg7BfAp8dKv/bcf8IgxhN1eAgUaQHwxXV3EgAZ+YpIfp2Tk+tumMlr7Aa6q5t/gNUcO7wuO61w4GhUYFHXzosvxs6bc2HRGyN1alCtHK0CB2jYI1C9pTk2Nl5rgqpB2BVzQec0Eittdmr01owcnl77IRnIR1wwRkfXECmMzabqk/X1zL3/GS2n4xwOVI7EJlXUV6PNRldjszGQ1Gdw3px0BS+UDIHU2prCXtStoI82/wyFRFaTVnGaQHKPZBbd7F47rBYIbNOc3qo8RexjqTjwqOFSXC/hvKjU1qrSJMD07je5xov5WV6HlviH5hHYGGcfNcyTDbMuaGZoJVD4Phtk2eUVTMgT/sSFbb3ffHcRd6A6MuXnrF9yYcezQN6vI/N4IXYRxzflW6Lu4nUFkbDXrjbIEabWE+wZD0yRMDKxVJuVXP1qPjF2fdVmSzTwPkprTCMFaaPkky0xn3rikLWQhHhENMs7ilETZRxZG8n+IpR+u26yleN+7KZhy35s4/T30lMS3UQTNVffI4vTgrsAxY7LFE9vXvGsEIqD4huPLyUf3b68JFWp3d95lV71z8jiyCADM8jcUawXm6Bxmr4/FbcZInNr4YWlBcBA9gRuPo2XFsC0wGW0UeczFPWBTw4AnUrf/YeLZKueaXx1o5+QBkoGYjJvcAOPDPNziFXpHOAMcO9cAhMbLm/lpwMnnzrSIUQXMKXYE2nXhLZOkaiDcMyBEQ3UWwBhXFPMocGqEW8UKyEdmCEDgx74dp8p0UsPud6218who8Lif5FPUGm8J8aNe7B0BqY2viuxOQw6YnpzQWYEKV7JsmaAWp0Y4BtnZKp3z//IYK4KMuXiuqE4EtCFvAFlsSImilTjXQjOC8p1MUU5zx/ebcZITNrolguQyH1di7JvFVbwoHzVrLibLwkE/A6r9IMP9x4s+tD8QfssGFLBkUJOnr3/zygkv6ZFkq234xa2y6npOlZEwlhQSyziOAzsV3LdlHQvFabnpcFs49nMMJ0lF8kITDDvUvz9T1GYAftiJq2v/5ZPyUyI6n+qV6hfEYirPNsxwMV8GpsU4WIglFymqsrjGROZUWoQdN2QJjivBt46sgz35RQc2p9exK7eWfybSUS+srC4VOu+2XgJ4e56fdp7v5MyiaJgwh//KqYrZGXym4bucOZb5Vo0CUhYsiugm7Nm5I1LQWauBqt0ALdCng2WkOB8/SJZErtvV/5FgYNqB+5cQ5/7dBid1caVRQH9cS9LHF1eVby7oCYRQu9TUi/kSnqobB4VUVn529JBeCabnspJirZdUzprRLP3BOzG/wIknUaLnLDMyrFESHjKw9oN3HsC6QpnHB5yG91zYieodsu4bTcWiogkztJ1Z09mHp5ah2MVzh+3eU8jLSrsJfT2gKLat05lNVHfnEkBeYrF7bk+7uHsYFz/2MES24fSP3/OxK4WjGADwr6u9YU56Ue9U7s5GIHCeqKXCDuOeilPGhSgPjAh/E+HxXry8+Gm8ZgbDMCzxd1/HtTWVFrBo/8JlcFn8dfIxZpCrOS2G7FglRMTWDw/3pfiIrn0dpTECCN4IeJ6aqjDNe4XVgrBWEbfay8yrv7RvQoMe2rFPSql+pJHnrYFxd84T1mJt3DYjunc9QHFX+mDnalCwK9dEAQ8XplaWmayDvtZeI59u6kZIlom8+1nhRskrAQGk9sAfuQab36L4pq8qm5J+mI/Ncm9M6ar+wl6i7XD5ZovcRf8oYzoIcum4+Ij7ZgNIKJ21g4cGeN6DjsjPejrNoAjw2HspEUaUc07OdLdZTSgSrB0HNYQif4ngOkAyTqwtKCwduYjhPvaBhM+ICm1+6tSEWsq3ybgn6W7eZhgrkEpROfe94Kqhqv8toNG+aDL7N9Ii5HHz/QgSIBqGBDeSyuLyDS52PuB+Bgxzy0rd1FOZLkX8ZM1Qk80LiRhWG7SKZXprTZ88Juw5gOTOXPvup1Jx7NkoQGhiOF4hvmWoPBAsomaIk0iUC2A5iBXJvIRqIkatzjY1s+u+JMfBtKzd6UEMAs+NemiV5iKuMQOCjuOH8A3EQvwvTH9S09MFSaWRMharacW2pVIZHna3DNNy0JpzvsVxKGF9z/7IharbyJ/HvxfT0iSN+/KFNASh5JXjX49GzrN/mN/UZg4ueeyV1ZpUFV8+zyB0VUHvOWs4A+mNocCas27O1daZcNnisvonao66P+5K36CmCNgRFgfqncTUQ/SC6/NxSBv7FWRZl5/3+fOGpZvE8Q2sS24/hMFiBOGF4k4QhkbDXWEO7NDcjPsgOtXvtd3UoppiE7j68nTCkH7cU54A6wyepPjiV1L0ehgsKhDumIf6fE1wHdUDsC/RwGmMNBErdZdAlt6CVeOxMODnqwk0ODDwaZBwyITJPxP1hZIEU5CSpGNaGjW5yecgychl5/qdFLmOjgfiX7O6hQkdqJdJZMI/tNXwBj6jcLrBJJbRcXvp/uhTeNcIi752TzYJMCeFB0YyMVQbuQII4gQMjlVCzZ5yuDJG4OOZhHSHKkCk45jdHbfeowKUmvLtIf+9+hYlAfA2EnyE5/RcWnDMiRq39qx9uaF05tyIxQYfLxEQgddfiSHHcAs7e6otBKOlJrq2P4tFzptrSgJwP4tztX34ZFq5VgoVwRRRsXPa3xCzaqp6C680xZIFtQzSxH1D4Gc5bvNDT9XNHcGXhQrHOfpiN+HnNMTE9HI0evbjUzhyufZJMdiP2Y+dPAnpbe9GU6kta1pLUCuqYng2o183/DACnXya4NP89w8WHn/PzMpjXStxmFNAiChuvOm/xMt8vHEKKKHbexRKNZRyF8M1Ri3m+E6yemd2RCPIS4NBULLvfk3w6j9R2w+DMxpWW9j5I/sYj71dmOehjZjIbQsIMwYTvPAKTnupCXRfPF0EtDgI3gj6EjdPhhtgJ51y8s4Ltwqi9qp+dlFiaOwk27uU5jjxvz+9T5VY/ep+6dWN3wn7Ij6zPLpoooyPQpwBrZ9WdWwZvEfuVqsHCEVCygzsJ+GJP7wpS3QaIxGDY+594g6kEdkkObzH0CTR9dU+Umbl1zzB/DEVPTWtR3v4mVUYoqVQNi+3DLgDhL2GIXnJh6TFyRHWZdZZGiz4U2bLOmzAxQP+KW/+PllNAD3tCizannFUxPLHY3sHxGgvk1gYjrdrBsYFMCNN4OntwWyFAMp0UmP5DK3ghn0+q8N7cF98pwboHAznrqhx6y4XnIRcAiEg7wuLDZ/e9iJSXp9Tx6B788xu601cD1Kc5Xgb3C3Npe8v/z8rNpOwqZ1EerP0EiPc/eV3uxls4PWiAjHuLDD/HlvzYiyR/g3b98kfH8IEDqZJWWPxuRm2de7ZBZAFMf7ZYv/mCKJz8dgFZ64ObioMcwjEPX7ZrR5GCSJEkB9xTkgKfey6SK4ZOnr/qPmriiNiUm18uPBOhW22vh2EOYmFBb1leIkkxLELh7Wx/CprzjYc5obbnpRRhA6KZbp/t55wUaAUQr8bM1UIVmGzIEATb6NapdOr4w2w4SZn+pPqeZqK83tyJUbQBMUQ6crQ4yCMNXDy3ZZbr4yK8xqJghO0lR4ypCQp3x0zhlupuF27weD2lrDAQI2XCCUuEq02+lSSE1177F26K+yIRTlWoD7GtIz5F4mmiVe29PhhJcbVStLx3OLW35vKFiTnIwQlSmotcHkMD3sklW/aw4Z3fQ9qi1AjN5EWY/pPGd9XMBiOMzfEN4obhPWSwxYXIrWGu94GXNcotWWNVk5jmLI4REWyW/ZkAQbpzRjhX8YOZa1d16LtKf1yYR5+ANrAeiH2y0+Hto1PFkJzfzol7BB60Aqc4YJ8E5/vL2LRL33P3JCBP4Tr1JTCK4IO8EL64Exqm/OFpG6TwQ9kZeseYDliyLrK+2vAo8zjNKU7D/PdE3FGFZJL8En4qYGxn4Cd60rq62Hq1gq89vRQe16I9VIlL+SBEFueoiD0Sfq8asF3VMJkIh4xhpjFq06na9rKeYsGAMQB7ikJQJKWvZM2yKT3n8o/JccN1/BoJdz5/Jql2xyeba4L1ySuEpzUdQfVV0Q5cYZQBXp/8OcmIq6zQf/Jy6Kw/1cBJ4ur9E+UNo0wvvZdLCsMwHlDQKOh7Ahd1gLs1rzJEEKfrD2LhFqjEpbUSLhca41W7TYNsegbt4P3qwcFn9vI4n0fynsQxe5eJuCMJPFKWWgR/nOOOyFwRVMsird2D5brsNNRttTYls+43BzcGz2YtZB2pdtP8Uvv2/68I8d11sD0WMA7PUR0FXRm/wZ3UF9nQbZU70YWEHmyQoTWpunIrz7E2Vtj0H0whFmgw6nRGfUCtPEi+Ij4MvWoPIURgLU/LoZB4zA0t+qEBzuPvF1oMaFh46pPYdquqUSMrk6oMZcyGmBM9d94USWC0fFoTCpJl8XUwHVODvQX+2NZ/GwU+91PBIBJf+a0dBiyN5UII7WqwNokB2NfqVXkV0kh5+in6Z4/2Ikcobabss0ildkACZTKNpQIquUZhnggQccakT+3m6P4H3VT3pf5vlDPX6uJ39yrwb09FqzWESU6KxTG7Pu1u2aSObFGwEJT8uM/W8ZfcZcjiXvcuyapuV77SS+/oeY6+k37OUe+1ncuhLQLcVNyq46vrancksB4WhT5LgTG8SBQk3mDZsOfB7G4SAOG52BZ+9nx+0H9m974Z9NKHzs0dEbGurSqvBrSqGyxJnBj3MgytW8IpfY+TtasCh1yT/vUTtabewEeRJItoOoZivGYqSUBEpio7uTkLH+F9KpT9aqTQrUSPYZL9X1IDj8GkKRL5OgNkx3iCq5AGwwGXEL5w31YotGAL4FCPE8rNjBrDKgWzs3vL++1v7KmQSUPp+dG/wy27nUk4pud3KLt/QtP2ymm6MGewQHQPx1CUcz2x/m6fcFLBP9faq1ybMEhxgb4ph6eECXwn1o+uwGkfdL9R0Neov7yKo2Eh+mKDdj54bc4eaJiTItZxL9BcLBoqLhyoN/qt1bUwP8db1jx4ymqmZhn/bPEu+ajjleTktak/PXv4qWYSLiA0jSZBz0Fa2Q5XGj+Ui+X9C9XGWAazf+GdpPsMC3DhOQEDtK5xb/jwLw//2cIoBaz3uQDGiE16EDoA6QpBFRVSrVSJUiXa88ftA4/gdMEwy2UGgTJao3ogxPNm7J+jLpZ33IUtzmS+znSrCfn+9hTCtxGMnuzBCPXFmmomJyIROKIdtSFQ1TreRi5Bt6pVclSaASrO+k5ljCid20LH4wdnHdH8ayqdIOB8MAeiDMbhpPH+wYbg0Xg8jt0VLPOqBY0aHdotPAeNn7dgUjAlOXUd201z6k5ahxkn7kDJ0zVCZTlj7Tuy81cMmkcxBwNaMVrekzk2V67JTt1rEAxNck/D/l1PpLu2rEDqIXa0g/CKtDW+9XewRGy4KBLjbUdx8H84T65HWm8kCjCHdeAgVAJPSHygHaNIwKEgMHeEZ8yhGe+G9x6RM8Xon649i0Bnz9uX1pxJu74a6SXvwQEmvgVv7Q8BxvnFwkE5d5vdQI49UDqw4zJ5oA0JqeNpY3YhzmE88D15DBHN8iCnMeYtPXgcngqG6xjGobrpxCJeiFdRJJWsRmmfw8gxCaBJyJviQ7nw4tcr4JYyMCEWbPDHzOaGuGGHwe/raBW7M/IYu4QDTuR6f8SP3rE+2lR+osLk9SS8uYfghBNxzO0td6Jv18XzLcRyTIhhVSMsssCZpgTVaKB9VPkbMq1nArSS8r44XeE7XXJeWvnhiUYCII+mmToYFQMaUHQwuvgwv6OCTx4FhRgkKvbVYx6PwIlmUPL/6ayAFIGFe7Xj7KlANJSNCJ7HAUpS8v9Wm1ZH7fT798OvsZd4Uu8g+aP2GOC9ecIQgvbYZm6XB5ktRTZvt1P7AxMG2ViGkgPC6s/uBKlZBTAw6dDujbpNz0Th3kbq0zmwcTb9LB+IMdqVhdCMJJ/SwO1B6vHzxeNXhZ2Lh0LzNsvhgOvKLoz4yMPQi3h7yKRdIoN88HcRaAIEJyiGkqPK+jSYtXoQ2R+PI1eaQp3fJIS1h/zgNfg/PEe/cdqpI7+FDApEy3c8JUCkf+MWaJfxD9N+n2xtC5Z9ekNrLVvsqWSff8w7+uSDk6WFJrKxAleuqPlSTEb+K9lOdzkVXHC2VRvnxu57lVvIM7kFHlYU7uUjztAsZlETU5EuRV0JVyDFbDBr2qASXO1lY+4H3rB7uWzXwDJ12yaZv9Hc4tmqSebljqPyKQ68+3xaPh2bGdBNhidWRJa8P8d1qxY075QU4w9yZrfr9JX37frLUhxr5nofMPmtDb9PBysbosKYg+8hxleDceKi4ZG7a51QXhCnJpdFq8fnZyLPI6+7vvy/geJfscCgrHJVQr0RGNXiIpavb9JU5m/F5gmaWcmpntfWnl1rRJbmtNaul9TidKQsy86kyBksqUsBgXIyziTky/B2yLNcD0TCQXNUZCCD21XJ7QanPuPncanWp8Wz7fL46PSsPGO5CPTJpq1qFKepfXuUWE+KXUpL0X2tlkBz2q4RyS43pCqbnlZFyyYkliiAk8kXjnePVv8RYTmjMAjzRAisbw9ZL8xaRFVWkTLkAdQ2NUK+uhQmcgIr/9kgKocqCaq/3NHBIWHeZNkx0dNOoPf2hOiRScg7H4u3nv/dKcPDEC2b8wt3vh7hrH9HMTOCz8ZqpbQgI/7CGiF6esStQulZFSH2c+8a/AvRWZ3YOmxWhvo0Nzplzm3aEKMj+C+7W4+U8MZ6WSZGEo662vxLzvllqdklx1jExLOVt7kREO4P4646ucjssXTo+2wE+fvwOJUluGPON6Od2bsRmnu8ISFyR/Lz7kwGrD0tc5jdicrtncH5yoGNa0DivQXMD1PKbuTc8tM9pdcmKWbkNc3il3BzDl8T52+WSk2Mbc/cYwVrofaiv7WL9IBthw3OZUVhc+jptz8HYD1GufHT0Z5C78Pq6/JVtyWGPWqw30//ZmI71p9UXO31CPSM3G9I75FkrZz8AsiYAoOjzAzRwQEtYUdWPPPYLvSLR6XoaMLpObK8G6eaZSo2/kn68AWQfzSlh1aAHjKpeV6eJQMK4z1awKX7Qp/p8vx9QsehZhXeNo389n99XpVxFavZEg/NHjDp/BYp1zzwMxlJZomtkan0jKZ3i+dFQaDRmxA1v4elgDV3hVqoQKCduwxD28M6MYkFfFknbjSJb6IYQgSqUkmYZxj7F0J/WW1pzIx1eT1QZsSFBVxDEpEBYiOJfc+I0+NWmNEmwxUUY9uoDg91HPvYEf5gaJrQCKj4r2HcfXdlyM2kuYTjgWCSR4PW3gLEhjCAK+XtcSUmOcvE89o/xPFV8cfzRNPfp1gcWTj6khyV5k9A1bN8uCOO+XsYRypNDGXCte0bm1suqKmhkH7P2YKnsDjwThtsTJWJ6aG/vIo+GPRG0HRkAxk/YXcYbSYVu0TxgU4WtE7tZ64gfIjkCqGTBn8IhTRTXYPXxwxy9Jj41z/9kqyBoY+vgLP5oddbc2Sr5obgRrJeh2zJkBLk9WV3FP22ejOK9u6mPk77cxZz6RwuQcHaml4V06MXI/a1Tmz+uPeJpzJyG2Cs8KDnESizznr0KB2A5ImTGv7VW8RfwqSSV8g1XvZc6I0aNu2am1vGU0sfg18vnhlCaP5gHRyXbTBqXOyk1BXOl9+I/ruBRhkOhpkgwhsYv/iX6Al3gzi6YQIyvxRCk3o75hsAW/AhN90wn+MxjOGC2/RuoIaQefSttl9RmX8yFgVFZltZycmP7zeWa2ftM0om6BKwrIHhC4fM1pIVGVbzxwPkzDpBGzzZemw+KfpPBMIZ5d7cFTF9FZysHw7GCJdrj43Mb7HtWsscb1YTLQeqpOoMQKv+wSVf7C4a7fCTpnDs+ncyK9yyYkuIgPMWRYszDOe+WhQuO7fgkI/VQgCZ1ToGhoigzNbFr/wmP4riAMkf7ouD6Rvun5eUix/L2a4i4l5c4opg3XKTuaJFTPpJa6+Wnc8Ticf8L1gOj92m7hAT5X1O+aT/aTnkXyGapAIr78O/vVUX+gMnJRsC4DZtDsrHWTGzVI8Iz1a52zumAb/CjZqm6JynCkDstV2dGJ2nPOWZfiC8PnsvIw6Y+pHaUDeT0/7G6dwfmthzje41JO6ssx4Zv+3WfqZadqBhgZhBm6JhMmLJpmdiKr/bsfLsmGWxN9MlFPyEAbKgawgzFMups3+zJ+sBqaOhdq+Lo1CQgwzWG7fwmGfonDxrBwANUFLFBzmf5w9KodxI0VvrR74rLtdYmWOIdMn1Epgy+y2+OSXMN1U6Rkf2zobn92J/HL9w4ifywE+8wPQvtnbqaqFBSGSPDVTCyaEGszgHowIvKrfA7ZKP9nivIiLEonAhKbRYw2kQidNx4W061258AlBcvENnMRa2bC1R4859iXZOQrw0oMZp0t8/gQaxF0X4/MdyEFI1Mw3Ieqw3jB4WmBWhSPOaR5pdLUbDXsqeft/ciJnz+unB7d71+bHgkLVAg1g3vgSmw78sCfB1iFrVd+kCU2Fqibueu0cz2JNG+Pfc0USQXqNmJe2bK7bepGBYnqZysoeZ1EQn12LstUx7N2iYjL4F62rlBh/b17WzkwZkrMjpdQiXx9szWRekre+SPQJ8H4rHSmp1+hX6yyGx5PujeQl879bgRdMq4oPCWloLnUEkh++rmI8WAtRpmOPQHw2I2+8Kq9bA9lSmk8XoME/O9GTuGt5vc8VCK44DaOt0baVe4mNHXpaLQLeEnfRHEvMwfIR+orhiXuR0NfpLZF9w3VXcfjbKuj9RjQdvnP4JO2zLJT0Zt7VYfVR5UWXyqc1guOSRCBsunzQqV4MJTtwiNzGy0WV7a7RstCD5qH0B/D3+Sm9kdSu3OqYr5ZUUK2z8K3P9IRwOKdWEg1WZkyqxVIxsUIRgWBiVk7kErBT1Er1asjfs8bN70+OBWMCKMjyw3nsA8UXYmG9r4uuSb59V4+29VOQteI0KPphHYqRZ89Hh9/5jaruebWJ1Qxyq48S/1XzL9Z26NRKX2NCU5YKKSRtgxMsWaMIOFA0RDxiVNFXSzu7iSV142vzcPTwm8zes3AqXWyHm6lizP4XmzVINEbQBFRld9U4EGceEZh9DgMrb8dyV1bDksVwVf16s622nwjh3DnkLBTPcBZ5fo+Sy86rbCxJB/QXgOSyX18ATGtzd6CyEL31knLJFnmVe16FMfRX9/3hL7fowqqK8rWkUM3Aq3pvDWHVGEm4YNi0FZqHP9BB5D+PYVv2RWq4Nptn3N+Y5bUtQROzN/r0helGcMxGaN2gnaAg3UhBcEvioNZfhUQ+SPwpEF3O43amhWs0i1ix67vzPucvIY2I/2J16KCiMsFCj0Eg6GjB22vn0gDGQTwqDvmSqivNY1d9YK9EOlx5c6+KEJBg/7y3Ab5qXPFHXehaA4RYSZLrRwWi3nEA4BKFqYTs4XLJhSIO3iQhM4mnYt3Re9sZ0axYn8VAKgfKWBziUplzwC08p8aPm6nGDbLZTJpS0Xyhrx51Xd6S3n6HHvyZlTv0kJSFYX7W91ytjtLmq69rRSjS9FMFKRDmejw9uiDrx7pyNIzlsHMkYP2EEoP3DVf5OFQOKZd4l7yd632OrY6EtcR789bXTVEK8lDrI84gOiGwkBVMD+G9VYXrYDw9jDUWBHYgjQRzXdxHpX1NNeFBEDsg6rkvsy2dtONKWutxAieMdKtvYSAz+x8LcWj0zbCgtJNFTKJ3C0rOM14LqnCXKkJg2M5MDQBr5YkNFX0l9mFLmfpOX5jkbuwK51B/hsqhVSkE5nkhkci8TwTgeh1KeaxaeOgSWbFMPdY2YHucmhStQfJh0IJtn758a2ZbvUS5vKnFdf4oRr5AyAhwBXo2rZn2qi7j/3xWmW5kenSaLk7q2P4X8ao2aWtRTJEKPn1crb5rI5PP0ECjoAEou7HZ201yNQdqoM9wPkE9CgnfkjD5ymhQYLfR50TuhIOew4/iBH1Xve6DFdDJ+in1Ycro8b2PFFXPTLH9voCoOJ7rA9T9WOcQf5RRsf1CVyZeGBmIDDVOYzwqdTeiLiIHUlKr59rGiyceUH2F25UeYnI6HHmGkQAwzCKrYld2YNbcvUy1u9CrOKQKUuTUpICsGhkt83ejk3/ZYdwQcLBcjR0AuublHypi8Mh0vFtCk2zfNO/by8xP4OctnFyVglnCGjQtEzBnqqanmvrppUNd5EAtgHMkTruH0v8lPBx043ticqO5ywVpw+72P1zIeqLRIWVlqmPnxvqOOEA6DxIHa2abqApFnqxt97LevD6TZgyujCo13Lt0BvjiBWIQyIWmfDw0O+NFYTPiAJuXvD+Ka5hhYR0A8quv6+7vrFQR6OWLs1t7TKulDdRDPZfr7WLs9gZaWr9aFfcshAo6L+IRjjoyuTue4b8s7VUbvyRMqjl37/8j3vtYZvoDBJmEsVdjMnFctQlTxiULVmHGszfqNBq+Yxsj44o9kfhy/9vJny4MG9s3dOImpZqa9wkdkN7nNoxoiz4o7iVmzlG5rjvTxsbbgQWG8FqUfTMmJx9P2pqLrTT2VGG3fzRLeYhrOtyVO1CK1/c7iBiIGLJ+KTr7weLYQAA4qp/KakA+SCC5yLsoJnqab6EYt7n808qPUXNChYCoahEFTmGzo7PTXybfIQv6TDKek+bpG93rmOy+qA3Rn9VBkmJZ/k+M/CDURAgsytZ19gyoxfPwLy9bPQA6BLAD/GsZ6TU9J8PbP5Kf7Yk+3y0bWUOBvVX0zOcUn6ut0iLBUG0cq4dXXgF2jN2E39eATY0gm1qrUViz9LjjY1Tq9fKLErUTBMrVCn+DhSnG4d9ogwzbLZEW/PlfT2Syq2IXBI7CaZObjgmFrbhTqXAAfEsgYoLwsgax7YkrbyY7WttgAjFPGM62IhYABpDPsTRXMNfuqeOxOHS1LKZq/B2NUhmHO/p523tMGGoSK2A7r/MEx7oNQEddw9ailhumSBGlfWgKVgs9efzz7kjVWlS4LVHU75Y5JqGudFaBNsox5Vsf6diodZ+1uPxW1QU9hFhgGT545YcKhaqJxWtBOcKE7bOZzva5HyFVboHW+Tgu8jfuU/1vl+vIr6kRzZWdO32fS7w+BOWk7eQidjejkUvLf5p0bDbJniu8CsxjiHhVBve07Vrh90DpCn8ylN6QnF3gVV5rHx4LRGEr9VaBf0S8mPDJmBGQ9dzuHXA5PCFebQ3L0qOuOyQnhPQNeVPACyq2GvjmLc9jauVvp7IhdG5U2d5FacHwlf9d+Dj90lNv7fg3sib1eTx1cJ0ZX4cJNApXEYySXNYIQY3gkIfT3Rend3hP0Vy6let5itUL2VJ4YUyIpvdQIk1UznYhjOb2v4F3YaQIRvIRnFlox/CEzSOaipkzIXZsMzfoXDyeyED49rVNa9R1bVxC3sbAm87sR7UlCMRaU3SZaKEoaMoMBuh4n3JIdlR3RqvjFNv7MTFDgf/wZQ9TecsQzm+Iz9jswo7TwoSOGOtVe8GubxzY2josdiA6Z7QVb5wLwqiKUmEkBad/oF3b7HyNDah+kk7PRhhyJ7bb9TCMHB+jUx8nsjDmZhRT+tT93lEO9/AET+p0WHrE+ueLklbsHUxCwnybd1owUZR4u/y0QC9oBaIZWr38h9T9hGsMiX67FQ2U0NHkDG4XHP9tbkIE79NA45JymhWAtl/zvBF7nibSOZV8QRj/vD06INxOw6lIkiM4GmcPmUyYNSR4yxA7B9FyL8mG5V92VXanzVeGjm348+Hn7pb2w55oPN7hoqjMW3XyRF2v6+RH2AQQFsg2pHt1ZJTpKH18246XD6XV8mXMKyGYiwI54OrahCqnF0k9mPxB970gtozAMgDvZsEt2BhvMX+oXal5d+a3QxDGncUCxucgdJpCCxx0Dau7bOmcXTd3OYaHrxqFzuzFQOAERcO0ZBLk3KFGzQI1J25OjvAlTvOluWytdSuTw0C9v2KHwjZ8Mr9XIkl9VOVcvL6p6dNB6SjvLEM1ryn2k8GnFmMcndNTXyRnGOvlfq8fQcBW8w1wrOpxcf8rRgseK2X1vFOYyZCT9/KM9HEFOB8eHi91GICU6EyjD4ZHnW+YNUmI77HQTg5VgrreStAS/e1l/NH1vXbtB7ZjfWLmi6HMhqIgIpMKkYBd6umkcbgaUr86DxSgT4gHZNskF81mD3v4kFt2eG36aJ/qorGsrYeTHXHAeb4Nwu2oDYkkgM66A9je2tepcYUAcaqdyB3lU3xwiDomnnuDV4y4n0IHg2dHsh/jnXgc3Cp5abh5W6H9jid77df8ysmVSSdKVpPUKp/VKYEBzFukTG1cUy/lKJt4p3N8t2KIY/73ZOOR7LNtv3ELhT3BPNgg0eQFofoSLnfK1ZSUGBm2xra3evlOpTzTTnarB0OP4Eu4R6DlRS3397zAuuHOGsqXjBrRYBg7soopWyZRgihn6Rl4raLcYgZf/nfJfUVZQje2qjHC+UldNjOd9AlNof1IirIeL14aFPzo9hbaeXZwQOUWBV8Um9M5Cy3JAvatsBkF/Os5pScM2qaQAiLLZTWsBlq8dl3/WbdZV4/wE0967/JIICI16TLg7itPw6dIGFHlFQ1PrU9LTjczSynV9ltYBBpNmVSwHj3upV2aO/rJbqhUk0sQUGWpOV4y5G8S4Ttju3H2/Ykdn/v+vxJy+DCR2zUcpieJuCSxY/nrkxqJKxJH4z8hy/kMNJ5YHd1G3F2fW0nnwL0YfUtlAi9NkML9qJjdbAM39B0DnSjDWS0j7H4XGFJNejtylsgA9EtgPbNO6G8KEr6peGyC/nxZuPZRllqTJJKtuoxQQHRT+1TNcD1T6gTKPDygMiGJaxiHUaYs4w1NdQP1Wq5f/faB0D/H2RVIjFeHPuB01V6rlVXakOGgc5GWIB0tFMRD4jSoLPGcey4bl+zd6ImHF5tbvSZuZtjhA8c7TUseEL9Ok7soPCvQvKja5AVcsYXEe8gEGxdEdPJfx0X3/UI3v+j2JnapVfDxjtJdFfXJOHb3idZixViRpK+jubUD6XSdEMu5e83Xbo9ePts/3P47E1tTCR8+y7JhlJLRdzvkL2meekwihBouc9tVRVDMCtiTg8HRazYE1ZOO3tcWXfb698vfD9704Xg+Qy/w2RIINA3kFb/RssuRpixJELf05itoXHG0ZRkoHWEPnSF7Rl9LbRzl+ICSnQfEPNGibEIWz//Z/8MSkO8tfJS9TQ8zeh1j6Xv1ZXEVUp4xectW0SXke22uMrw6adG05sN/B4gVcom97Fe2iQS8mrupPeB7emnPfLUwdPdofjo17yg8HZ5P4dsrpgilIfGyReXeNtRv//L5S5bRJ7yj4DITSwHHSOQcHs17i3d48dpTy41Yucvbt2WN8lzZvfs0cm/8nOpxxxBR1NSWcNURJ8MFwjgPgIkWeROivCOowUvsLY5sGaEtc1QF3dIZYUSjIKnqg2BfzQ16O1nJIUVl+mOcPSbe5UpUJM1nVrhW66M1ai8WEd9jrjJqJiepMsCDylpuiR9iRgI8SL7PRu4ENb9XQVux7l6zpFNkN6l5HgXMWvFOBVrBu16Gh/kF/Z8DiO3yBTrawJVuI9Be3VcddE+TTMaLQSanzar7Uq44jgejN2J22Z8Mps8dufVtWuuQEq/JmL8RNBjtoBHjztS6MiG0NRQBOwRnyIRP5F4lSwunqNszKedCVBG5ySDN9JunZHeytcKBYTjmkf81kVbXOi5DOSC50v58m0dO1Ke4yATbR0YS/dKL3WUFBvnBHOhMU2uXwehu7vtgzkvDVlGIXyWVmvLW8tyGA7eY0sMGxRQZTN+p4/Klw88srUudIBePryB0D0Kfgzi/UHX8zuXpWd9NjZG0fwjEJEwss2gBuApHcZC0YQ3sBHM8tFRm2RFqbf9i6kVRoXTBSao7rkn7bvtoAzpVjbing2QtaTwKcWh+R25lea1UE/qT/11E2BYjAvJd9Yp8i0UzDT5p/PnrKF96uSNgOydc5pFYl3/rq7Xmy9dZsb5LFHZExGEgTrufj3mV6k+jxwCnfEX0qtJhyqBjPH98wDz0ACjef9CowYZJL+q6uhcwxHhJCX65xEoJIeLW+6vYyuIJyMWWahY24URrLs4lI6kpButUqtzvHUkgqUd+CS9nnA6VPIA3WAd1fzdLsLNqeieCg5v9XvcFqC+si1z3xH1t80/ilZ0CX/brl1oAkPVm8AiwV3qp7o3iQXa4cNknrVTATFR9462zPuP9dF0F8tqrSNEpTDwD/RVLGL3PZSvgubLu6tSMUuFXT3xhgy3qz2+Hx1EhPcSUhJ38uLAKlNYGph3Pbn1iPXnqLoTVpbaH683cj5BL5iiylXHnVB8iOkfbDDp6u5AMhROPoV/h+GhWEn5MqJUvigfiBoA/fxUJkHIrfrXdqLC2vo3KSm639Q2lO8fO/iGbLqgdhZoMXhUxRwwrwCK6up5upYEGNci4XnLkRB0UdrSfPVvsBtmMkM8WwFpr9jFF2bEkjgPAtaXXoBgz5MIcwv/ygzIU93QzzL6CT2wcMvsEM9pHNovZZnK/7avaWwm4HplQzxTCh01fIlX4fd35tZQLD4pgmQiYO7W3mVlUnGVPy0xzAsYukkmOOtTU3sWJ5W2c1BubtGgLGHX59gkFEMvIxZpq3ZliTUIr8ux370GvIBdr4QRxHpFoRb+oUJviT+yHnIhbcjmWE+YgCBlEAjYuQDteK6GIjN6qJJQtCq81ldpphObv8FHrwgfaBbfAApEY6hPKByB1Vj05Pe72c/z47WC3N8nrBIKCVaDt0g2wLdHvGIWkzJa0AP0qREAlXxAmjE7fOLcFfsW6c40fZwqvYiY56ZuT6FMRz+Vm8WahUuYgZCJ+d8NgYab8ka6ujE0uPYFIwl7NtLchtW09JBhcTST5s+wC3iYwN4O/yLm+IAd2CCmSf3KZPaSURACrxgIObO4/mKmt2jyqe0KvWuXfmXKK4oYMQUYAJI1CWzzGmxdHS0+HPPlDHSz7oJxwMRksX9lnDtBPhlg+W6gBuozfoVTx38/4ALwe0sfZQ3YU61SyQ2cwsZ7oWBGvUuDqRxctT/KxYZ+91+NGrpNObfONP//rldLalBPYpfxk9fhannk46bDjdSx+yoG+NG1Pa510ph8OICuNBG0opXFwohV/AxwDSRBXwP6X83j/Uhu0l03gmw+ILRReRwTtl+/3w2pNK0MasL09yiqhZGkrA0AufQ+sQ30uOxitdWqNrroQuIAkvuhwlTWCNZZORJDj7VssJev92Spmm7oXbeHC1xqDPuIWF3isyTtCPd7pxKlcRrJsFDqPDt1pPoWs7z1kXXD+BbYU6wgAUav2RZfdM13w+6Qqi4fZgED0Yhfa0CccMuMBylEvzEtvWke4wAOdnj0y13JQ6Yr9YnfaKi5xsm5+8xl9e3FMYicwxc54uN6F3W1Mo5GN4gTSsGq1PQT2CyJf6I0kY4MFdk6Uw9ldYzMYEMeQfOXcSR+u+kk55+pIICb9Db53ZWrCEsc7wR3+qXUb5eFRSOXBr7HRDRuBMsBfRjdeSmF/Ayr3B34r1xEQvIz6bC12r0YHd9eBuOS7wHCFpiFuArF1Ycxwc8KLvP0EZIT/1/dQuCRQBF4BZFSADCW+T4DInTBTnZYyqL3EWru/clo3ZAg52UodtvARNPNGSAwcahuxcT4z+2mVqJSlooKha0YP9BR4yDd3B0VVSn4PWgsSUseh1bjczyKEYusllvq3N/Aomk9SxoUAj+OchN2f/x5UegBqazLhXLWm8t3+k+hCm9R0jXoa63V8hAoSZkDGNDIM7tqfEupbMBTGosQ+FB8pobSHZ2HOLQtjPKf2aMc6b73Qlv2KAPC9XtgjQkqGxX4/qI2vsD4SX+JOJam6gdobLKlaKT4eFnvpFCb1y3eX4lTEyiJXInFjKP9iMcGw5CPqqFcD8gpQbq8D3KAlEZ8Lq6XzVaFS4Mfh7djl/OKsKpaNLoAoCEGYDT5YQCb7QCd2SERi+G0rHeV8jJihnDVhW59HarGxscMX3CzWPjNpCcXx5qAA/zHHU99zlLcTFg5AEQ0dExqzlkmwJ2zkhiJEIV78NTNWpm983blKItBLy8J21qLKX868iko6RU65dkVJIiKUg6XzImpeAnKZDC4Sa6MbCFnpUTyJkAa9stx1GVAhWMpHBKgdqi4K9M0xwvLuBYeSfAo7UMds9M2FuTnP6+3ZfENN61XW/Ak1d+INHQBfScNrnPtwFBbZzElqtIGUAQrmdu7yvxv8lXWHocIpD1uCHnx9Zf56Lvr56SZtnnD9F//gI980rog5XphM9skQeMJ7qo3ExbgjjJthlSiXh8hDzgcuohYQI+vWd3mxVoLC3/GFOrZVxahKES51sgDsitlUVL1i+ydclMhupHaV+yqsA/3IPNrQy8HiYikRgCxrF8Or9P637Tz7lL5EH7t+9v1HBloB4yR/MLjezdxrjFy6HU2K5Zt22X+34XThM1HVaOmIntMRCs5EkTtCn6NijkLbD8CJ16BgvrLNy7I9w5wGi7dl5CptJQFv1egb31jtym3XoYbCnPMw+kVIuelzFkTM2gimoqBKZDcZPmT5LRG+GR2XcEtnjJtrDKiOD+YB39Z0Hb6PUOQLsYcZBA81IEr9GIPVv3U0esJEkMhs8gsB9gZcg/cu6ZVhhEhNLzIlM/NNJodi25RELsoeAI+01uI5sFpGp+tczSggSDZAuxTC2+PSktROgLQhstLSC+iuQFuZnAWA7KbHFuBjmaB4KKjvdIzxHGJQBoHkHkJwgkViMFtwp5oNwx321HtK0nUDMWMPR28Uo2XkE85QvPZ5RIVgTy/a33XDrBL9//AzGq5l+XQLFSgM6LuzRTNHQlxGkFWoLrlaFd+Rv0VPzq3Rr8K5FEI6hIVsHVBJFfFVqBgf4cfWYQ59tsmGP3i2zgDFwGhgQJ7V3X9wKH1sL65yaD91ji8D/kbJiU83/KJJedre7avwgBjd9p6HinQNdyu3TKHpyiaOvxaDN5a6t+L2pkJT/2kjdtA9ZCLM2HIzLg3qp9dbUAE8+QKRHkMwapuKlGanZcwbRk68XnKfmWxRhrgYlTizKXmSpKPRyArr3ILycE+IGYdaciETkWgtPdDf4ix7fJArVb2GOdSzDuMeETc6EArz5RIrhTohnwq2ysRY0006y3vGGNC85NDs5Ec3MOpw8xkIydKHFz0Q70jq6pkLnhLX/gBc5wmvoTmcOMiw2diXQ8WdD8H76LdhKobfepqInGKfZ20BcVY0+0h3Iiwjz3FND37s7mpEBbpflfCEh83q00NwWXjyE9sJym7NJlwzOBsPiDPNsXkgv7x+Mv5siAkDV7h4TqUPe33+xQ2ptSI9bVTbW1B12ZtfbhG5s2bexF+1ecsYrjwLNmHS3Q2jrMLEyHN9az0Vxi5K9XKb08cIzYMRgBGNpJ0LpvvGn5wpSVEZKQ4TxeHeVAv5KunEk9Jn2d4wNxvyZNGNl1koFX9s6R8Z/Pqr0xDOdAL/gdoUmpKy39WxtJF/qNAoPsaYVq4YZFIDLmGWwGyl/Zt5zAnehB2ruoSgmFQFjJMiQf3dmJVVC+IC+U4vRKRww8mileW1KOArl+iHdxj00Xxc//dPXVJ0IwsradpmK7wm9xH3ewSQy27g7VMfw9OEmVDZhRTj4YlmfcXpSJ6NX0Kjk9iJsrgUEHtLPr0tq3NL9eVajhXx4xFB5xh98BFCX6noZPJnN2Cf/Oupc9VjUh9+/sPAa0ZRiB0ESvCjaIWuWePFFwcbvgBvjZEU89bAqz1UuUle+hnMIauSCNNYM6JgPais2ogVQK4zHddkcqu7P+QM+VfX90r+QZHrR9RiFIiRLHP78wOFScUJBNKaHXOwJmdnq9WPfL5oOzQI8WpqcSKWKV1D1KhIuzHUujysQRgqLHdJNMyHyV6/L4AfSKmSQObUzaBEW+8XuAo1w7/CCLvDQ6YFuP02iqrt829eX4H8hXzQ1xGSlc05HTHPhiWblDNPetx7tlKA2pIUhc/b3T+JAyYQ+M0x405nuNAEjSIaWOz+GSnXvlSjwv9WVtXo8Olnk01P1ucbYqKrFGOSGggSzfWsC6HLw/edBz5H0ay3+WwOss6qKQG+qOr4XJeOE6b8xBbCBpBkiimV6NKf+JU373OtMGdJ0DCxBOb2M1+OiCYTeiebCdYVc/hZ/Gk90IGw/mOb5/ZKJ2ngq2a6CtgPSZZmD1pS18wDZ1tVks6NTdPWprwG2w6mcVk0BUhuvE3wxEI4kefDr1+CE3eCv9weDOU8gWVuj10pK45cexlWsfY3QKM7hSN8084RLAWQ87472SQ/5nptqlHwskMTb4V8JvHaLxrtyjYKgOqVMNbObaFvbyUa39904WKaxKSyXIRKOtSmg9RVh2/vkAxebvVqkWvv1Dn+3CaT/illLG2LEIfu/J1eFVgNjAIhVKBlxB8NHhHsDBbfDEZ7f/C5v3vSJhQnOIegYqd37003hIHU9XPw75jvYAT129eZxjWAsos7C7bkZ4jXtQRs9ZXmyHaQmBHa6r37yR3m3/qHfmJ6fckZ3vAazs74AmLmCXeWwE2KKLfZ7T2jR+xAg5F4ELniDCf8SNljgA4/mgiEtT2veoWX/gz52rPVfLjtCSIqnMIuHXSPJxicSHX0B8JZPUZAT5P9h+hxvN1ZHS4kgfpNhQZ91HA2E39v65GfzXgFNDzUF3A+eFdki3n7MuvcnQK9XPMqD1/bUNxmS9vg4aGGfuD8b0miKeoyEA6nxSO2oM8Gg0tzlPqOduleAHDJ/oer6iS6Fc/VBd5qfN6wJEVija4mxAlVAUOH4c6peTlTVs0wXyZyDeh4Z6ldx7pOW/lzsGPFnP1OtaHztWdoBInucuZPXx2AcjLvcH2Wf52GkM3m5vf7FPwC04V9V8YwH/sYFdLHQrh7Xl0QRQVmV6rgIgA7NhYOBu4llqOAyeYiXKjuskNLs3IIgc/EQWz3TBzicWRDMipVKg42TNFGlf+aY/8SSsiWXaozHaoyoBF6GW0oNW4SrykpsE2TEkv04G7JxGxNyCtfrwaHHKlMlVO22yEveNKykgGpnpnhIsRJTpf8KGltu42jNVBGn1iMMnQcjhAfpO6bETGZ3RCpAETtsURonX7Ugv02FqY1Q3n2ZyePh1zwq1PxInTtblHKsjqorg12/vC0nHsKs6KWO7/eQjyEjf/1H9VTt6qGgCYCKrIAzadT/syxqTC6+F+AldW+voIe7hhAWgahqYCHS1moTxVsCZ31ZUmH0CWoMA31kuxoBVme+tPK6bVzQaUvCcVKZbw/gk6p/1LKrQEmotrz/Yckm0FOBJNdHrrdMahUJYdbFDOnaplK6dWOu0QjPRjeyzArTnN0m4lQi4auV+ggHFQPu8MtcNY1TLEPmAMQLvTtPmZ1SI/YQrisi32k9ZVKE4KfONPAecp28WY3h/1s8biPlAkPn88EPIXXJA7i/GYTo6XNmd7E4SZJL/pqBCRdkc26O/RmGY3M7+7rWj+E2PmJ0nkktyi11E82Wx010V7EpcozWrrmQxp57oJkaziqHwElqxk6hbsY3N79GgdiY68/aOCmDM8tPc0PjUN/dNQEN9WeIG/WOb5zvhiDvapK8WgWP8jfippgqnD0PdmKTMUV8TZ625c+j44Z3VUtEzrNTaWmxBhO/WRcwADEhRrgGtPivQlYF7WoXNNQnlFAcXo/Qq0Op6nroyDewJP7evEuAaQM65kWfYT33bhwzWAT1SFAhc5BqyUgx9DQ4bNcGY7+6Kxl4mVqxY7NzckOUVlWlpylNADJgcXkpT6CvgrDRsM+z6dWoSutZzBsueS93xNa4GT8tLAKrjZUXy7AruxYyKesWerO5kx7lwyGzbbEK1pmGgsLjLmGpQXxsSdUVCMUNvpdaGMETcePU1kygEjQi8LY7FLvlWWRa/TZ2QBd9xt8XF+N4d7I/vVueLNXV31NljRSK9pRhNYMtSDp/sBbvCjjNHgPpwuYPdlzSm9GSgnoTw+xLXI7kmzu+GoKwVPtPZqe37HpKZaKhezjmuNg/3uJ+r7WgCCrTgWtcLRXJo87NSTPeGrx+kF/pYC5i0arvpTjgwXWWFob+qebyIGvXAFp0fHlSOz6EBBlIF5tdX7udKxB6QIZaz2EOB0jCALCunFnycJN+ZhomjfzlZKdC10Fj/+RV0PG0NLHYKw6ACU7lrYlk//vZBPnE5ToyHvhywJ1Ex3VFZCdBMrDOEQqxw8vddJuM51xycLXcEnI41HdfHkYPvA+Grf4a41TANWwcQay3FIDJIuKqYrEjLm29602FECnDWds5e/aBbG78Mw0Mq1vyZEL1ANXTZKJjny1nVY156yFiUDLByJ2np89cYBvHmq24rrFhFCzfb1fBVWxx41ilpPJ8Vjt7ABUAB2fZXRN7HrIwuRkDbZM4ho5JCskp2Nf+caQ88ilV0CQuXq2GjbRQTYGL50iKJELpYoI1/eBK5SojFHY3FUd39AQYEZYSylWvM4iLGxPyUVYwGlfWhKwvvmd6omEQlyckCGzKHznJ0TuQndW4H59Ah6blJImNf7egH9oaf3hK6/WJO8/WJWWMpQeKinkW1Y3RWhz6D2up5MPy1dNNGAusToCHCaE3kaywRZ37letH+tQFU/sWeQwTloEePRo8MXzPPFBs83kYrtQiXW5jqKeFTMnzz0eH2OMwrlHrsWjovfPXmUYflhlFhFk8pTrarzzR264yPGFXwemUBLRygumaE4DVZefLwGm/xEBvZVrF0v6hczKOY47PFpnyyok4YwF4iMSFBB60Mmi0T91n+TxokvpfDe00JMA77EXtH1WkJQQSyR3DYBeRHaFpDBW5Gh3YDlRxy1Xl9fjXCZ4ZQLJQXTzUP2JTDcVxMgNP/jzPzzL42uzBLtxYXCt3I+vv0bUYaMfSHA3O1nHA7m8jCFiAvZHfZk5WNiwIxMGYW+YtK+ROTWqxppizFQqLGebCxcD0VrC3B8qjthQFL8l2IVs1Q+SVUY3agVSgiYeE+qVvZy8rSyLnlXCkYeChSte+rHXm22/ZLeaKfSUg7E+Q4hD2+lgLsVCypN3axse58btROpJ5MwPPZAaZSFcka1rwhFBH2vnPuOZYj4T7rx2iQW+bjYO6ecOhQ3oyWhw1mCY1kT+/j8TwhYOHKG4JoHgx97brrt1eoBkHehW0wvT0rVcH63+6ICAsdpICmfF9KLOesUweCUPsQUEIrNdZxnVbiu6GpanniMFNDYKnhqtmXEYFhOJd9r/MsHGohvbAPFIOS8e81m8ZhTNRnevaVdas2puymKGzZVqVidaaK9TbiZIioEG5kUTXsma64TzUdWkY2u0HzEFU5Vfgv3JUoHPx4uGoMnZG6lQCa0wVHt/ALpbI16IM0vxh71BMpczXNKSFvDC9TdlQzqjGWB8Tj+JJB1hFbl4enwUizAsPpYTaSWeiifaRoFhKJXjlV6CwPz4PkOzATByG23RPfkUCGgTIppgs1moBh3hk+t5J401+1ieVUpnpk9c9wEQczsUiLUFIFBDQqRNTU9Nd1LbN5NV8Nk5ZTMZdgjgfPK9jDAu95jiWuOMMzSaIheB4wN2hRoiN4jlG4y2oWGk2TzWso6jIk6GCXB/OoycGIh5OV4p7EDDqLaSwFVDP1h+iC/XwMGW4MWU6bLc1/VUWxokVPOFXnb/9CjNiE7gPfKBSXaIcpmlh2w+Xn8x6VhMfQ6+OmiJkpBKqHvrocACH4TxAO4+IAynxtt6zf+OAQWA6EiSTQy51s5eFxLi2j/BxkKVQB8qxxAi0h0p2gS/5a5gwOVaHP3CHyXHMaZ3ovfch6pUhH/OE9VyL7ZM2Kg0xrRyz/ExhVhchTtQVWRhCmlZk1LWD3jpuCU7yBtH/6H4lSsdGo9OckSl7bVOJ9NlyF1M2h/bMCi76mZl2tKifkiLtzT23SiqYiUWE5vVtHIZtIMAvQ/aercBZMGS5wAaWvQyXAmJHm0LoGvx+4DPFXdzl20UqbqoKdqZjEejm+d4sa9xS+FMvZ3nUmdOzVt3S55O2HnZ9pnDxNs2bGR22Tjct8hfg/w5UvZ/mey3Rx5eKNdm2/iW8SMUkV7WUuHpU66xZLUGuw0WTVHRw45hKE6o1n3IU/nJxoGBmFYrtywV4q3E4nsDQ94KwBVnCxxv2AkTWybJGXsF1NK8XOEFuznfGQqaiEPYeKvbxp90WxS4NuGZmczmYCY9cVXDgYuQ5DxwQZ3UicE1iWW+OTPtN6/M0LOuvARiJ6TG+JuUwjSpAlvyzwVRkfDpUjkOlmk1i9shUHTXnkywXQJUNZQjiAgZGKRRAJ7PvXxp6QGS84/ae5RqAAdbxElxgU2QGS2uxvscCPemZfulf8kITa1xj2aW/jW/fKValyCuwfedMjZHCquHh6HCZBfPKYVjBq7on0KdkeQdROdTIszNCxVdDvBSKL2Z4gvpihXNrQ/0fVydXOVlwkSdPFK6HhD7/xaPi+OS4rDCoY7A6W+YSLsFhOkiY/i//kZH6Mpe/U9uxHH8cIjEaz9aFJamn3L4kJN5+61Ne4x4i+X6J5tl6Xvm20LYz++JHQ2Ci2O6NrNNQxvEEB8N4IyV7mhsGXx45VNeTaJgiJTz07pLLUbh9G4LIpBRcqDtUxYvHusW2OCZOEw9LD67gkb9a3w3LBjN3N2W0Dq6TSr3AGURhc8g4x6m0FOJpiH6OAHtKTEN2NKb5HhVdR2jfxC32PL4uuD++1ZtYoegtRvBEyCSKhiAD+tTL0TuGH3LwKIa/eSYxAaBqAOxvU/crvjPlVD8AZ6+Mxn73lv/Iclg6ds+gIhufF5c0aRsWZn5W/mpfw7AVgqXwmfbZZR5DgYRDt04pywdyE4Oxsr+UpmhJQIhjPgM71aGpvR3Inxb9NlkLSeKi26AuL2fBq4ItAqo892KsAMjLmnDOXBQ0LhGbWyaXGciefBcrP8cRzmgaPTWen8D8BTz/qyW5Dw+ZhJdVtn6LQJkD97z9mU7km7646abZzT28gJUl2QAVnedCGpLA0Ycpoq7cxbCqsZDp7o+61EWpRwQmPvqe7JJqEYmalUy4NdSNNDy7PQ8oX/7sNaV5l+2wRP9F1eUPDywwr/3kb4td5/DeQbxCJrvIAb2FFZq/wXe2D/AVG7JX4X8NeloO3chADSTJaLcTHMqTE1G0xMLpI6QQoJWG9IrlE2VV07YzLQfzbG1BLDkCnZC7XjmmOvMa1GXiRg62Ku0zvea3yAPScDIcfK3FX6/1Aan3b1xxZFf5TqLzrFC0yTUhRIK4o5FV42vEOtsfk+k++Zh29pwBS7fV0PUxin2YzKUI3w39tl21eZEg2e9crMns0o1hOhGPGHXd6geoL2TB2OzZCCFmYOa6f2K5sxfu5D3lXqg2xHz3oYJT+RTBW7jZmQS6HSppDzPNNBRN4wD+2q2HMCSySPeeHTNX80MnXWfwW0ieSmKE+wVfRfvk/TmccYkYzKyHjIoMl2MLo9lVOicvSTI8v/aBGN5oEyh4/ufznsaYX4n8vIcuCoJFHB5uVh317f9TaUpTvikAqXRZX6cUqUwQi+7trtlIQ43plzTKVndFjiifwKtB64ESS5GVuwUbBPYRCyKJnL2RMpOPL386W2w1aX5IC9p7kI55IkgIOp9Xcxyxtfu+UybXVeZk/ej7qmUJmaldOJ3PpXuDFmBUnUZJKSyhGhK3fP9kZWweAVzVk/i0HaVMdlYzJe7aiDx+rUm9xpKjOoR5AGyRhsdKvhErK4RMHSNNrr4agsQo5mO0WBEGohB1TcdvggKDsu+0bFaKwDanXaWQJJtiUjyDkRvcQyFtBxge2bQNmcw3EHJWaNbteCWcV072PzHyq7O6+zJ3VV0QTB4ou8c+It2W7E8ntQLlULZFEJrsuL+6T6KhSpBd2EY5yYYSZSnH5yZivm3NdVvZOWqJEMw36o2ZB8XHFT13Z0vSSm+vx3pBZVA8DVlV3eirbgDYhxopIqupdTzJiMJE7iaAMbvXlpOTPrBMjiGduxOO5x+ac0chU0GeQ/O5wHxWTENqUp1+8k7NfIv4dVtLgC+WEOWjUe1Yo/S2p2CWOtuhWOoOkGVIn1Eo3NP3rw/MyDjcrZfz8RfBA0tBQ5y+sryDONKJltcs0LPz+IFrpfJnHR3408ZjgG0ir81re/nXPeC1pk7B3kqh/nyuaQYOAE72FNgcjnIo/6Y4+0cSgbRga/BylR71VqvaQrxPKPdXTn/Fa4GqxVuS8RLz60sCn/y4rTQrKUENXTvZ53Naa+auc8Fqg5JyouNN3cjau7XyLyru6pF2NgbhExuysrQPN1k9bj+VsZBDSwl3eUxEtNk7664npr5bYeLBr7Djkd/+Be3aZWGqFMBYHhgCJVxluObSXJW9X2pNDt14gLXh9SxBQfH27oeq6r95Z/0XO4ENpP1jyL+NB2gQPx/ePdmGiIvH8YBZuXStAZjNcIcnuAfixOjKqs90z7IbTnGOW0ezqWZfI4KS90yib2lIO2jZpwUpBolEzaHNlafulvItP4dL7u9+nzH7TPpyFUZOiM8sypY39jqjvpFTp615NZiYuO0r6VkZEhPskcxQIImYW+PpW9hU3EUDk/wH9ZUBfM+rkrPh2Fy5EtenOxkdq1hg9t5Gby5JFUQALKQK4hMR1wyGC2p/55rtdJGrOAc1LeasCB2yarm7IIZ3uYbLove8d0HcHkVCCe2XbVc9PZ5fA6ivwZUaOY0fvNHZR0BHXMwSVs4T2hsthyA6HvoOcfuBMGJjucj3WpH5iLrhuPL9T5873XbeUP53xwRiRGV6zd4yfSR0yTYST8JZsGWq4r5pZpDkQhGWEnRTRPLsohkf5VKUcAk1dvgXj0yTP441+y78L5FDQNJBc3djDn6RQRLDEQ6GSpwN7ARq4PQCQolSftie1/PmslDhNJXaogplJ60uo6dwRw+m8Xlb0mBnwf87i93Z3JPb5hbVQFmdLTLEbF32Qz9msTsxMYwayhJeyHdPClfvzaf1IP8SytU6PX8Qp1r9Wp4myG3xIlfLozprYLnycWxkqcNz3Mh+J26Uzp8gvEZcutEHQJg1LwnuhJbTNPnbbv8ZH93nlxz8IQBuqowr67cl59eZYKHKA5w4a5yWFB+zPgmREIW/qQ/TtfL2h5eQ0SMeW3TijNmqSm2WEUrsamHKrAf5X6hUEggJpiW41B7iKOXfQwX7EFk1pDP2ca8AHIMv8JFXWnAAPn6Aae1Jb9S3YAUOubI9V1gclHbOcnPYkERNhDlsaRA+fcAKyIK55ARF+DP1o+vQ9ZS2LhkcYBoYBn+eZpQpIGWz8sN3+kfHkCmD1We2BLHGFEIKugIUiogS0dG3E3vZAvQpxLMxm/OUc9MBfhBOMraHIZz38vx++Bw0eTRBysGLr1yudAjUHon3QPw2pJyHacxaGndbEoKT7bJczK4vbYDaezv0QJ591vIHr02jOZuliDCTluhPKZssRkDgGqRv4dNg5KneP2U2Dtf0SZvEIZTq+1e3LPbxWVtyMQhN9Dm5FduIpN25GEzDK9ICdyfvjWA+kj12zmBhYXFPFEyET6OsM1WiGs/l2ypSWU/qqqJ+kuIEC63uWhiihi4XUKLyEhrgxgFe2lmUSohKeXBW/Sqc6d/Ne+Lb/pWaK2KbLPIOSJkKZm3YZcb4xRD4N7MBbZoCfGWtyHHXr1TLANIHTF811LRY8N+/278DtceGK6fvljg0DAsCavtz9KWCvcYfF7HKC4xphECBVk0DR0+NIPRlufSvid832TINbHnvkulg4QgopGE0LU8E681mI28/U8fOusubUAqoGfkWslqs9xO0ttbxOFtcx2UfRTIzL6wtF9HotHbGcEYFuDEa0PuBVmcn5KTMBAB5V09wS6DQmQj9U+IFXBosaYUUzDYxs+bVsVDPgz4SIfO6MBXRrl06u025bbL3PSfeersjH94/U51vqOsEBpVc8aEnw63GwqZERww/YL4+A41l8WNEDWMFsYMqUy51A9c/qGHt1i9toRz5DmPX5p7HG5Luz+nmhnnBCQGYyoZ7weSXS1EMGuHij/zC8XCHxlZxyHjdLTQ5bEcixq+Z/8gRGZpShKu9ExXJ1QrDYT2ww0X49a01OJ8KOhR4e553zhyX+X6AW49dhKNzaBymW0kvWCsQuGBy8T3/MeF1+WF2itAi7g/usfo1YK8gxoQ/zpfNTsCxew/XJye2eJ9drLY7rbt0z5M4jxXVor4S2oRdvec6eBmqTWHYTkJcOe/Iul+IHiluWH5pgzUzPmpJTRXggU7ijQWf9fhsM9am3Gwhg1TvVeJOVsKRsZkj07iQtcoKPfMfEPxXzr5ZYnjJMhsgRTDjkKpXhu9GPNwxfJ4b2TAA/+b7Qed39scK8rrdvPvBmkg33MfIrpEadeOTzGgLcEF9RQrUUQWk1TObzCTAmQSQOjMjV9HibLHm48Kv/ZufJjDq4Y5mZYtlWxX69kQ7AF/bF9LA1Y/p8Gh6op9vXzhPhFw0G9ZCJWcG5TYgkX9bEnrWNVAEYs+oXOKczQPFcWsOP4h0nd34vsfi3crskEyfUuW54OeFh3rgYf+i2gNzGUufq+4kmRozUbHjGxWSFm7jq/VPZDGTGwKO4gda/Go68TbiU0OZ+QPEIlC8ZeUUKacood20QwGdcqDl+4nIAHSnDt1BnckgOlACjhGfqi+x0pWDLwkJSKEJZbbp7EnDT88F3jeG1FIxpjmjr9W1BB8EjRYUVNaxHB9ZLKB/aY4C/5BpLeS/W6LFEFhM97ZT5yaf13OrZWt+eIf21C2z9RMenLztmaYo/W9VRe7OlMOIOdxunEfFBS6DbiUcFzThWgbtixteHwnhCu9+CnwdXsVsdHoSzKpFQZESbiCzncBZcuXmsWzTwBlJ9E7DU3CTCuPLcrfF8w86wx1v6sUTOJ8RM3nNyFooxtLcuCaPOPOubOXCCWmCJrHNmzaXrg1WiuQ5M42Ur4BEc/XlZLt0AWawBSs/vA3BaQevdz4ecEky+gwqJTyFQBoKHSq5PBZVqDty5/PRlSRpSMu/x+kD7LlveBFBYbUrYW/wBm8vLnsuLCXFBm2k20CIhxKQpaZ75t+QJGHXfd/607pyzQBnOyIRJckYNZ2oL1g3C30de5JbjbAn531i2zWD5X+IonUtBmLU7nR/QKHdeikhVsxmk/q+e88maFooKVFFXrhqHcOvcd+XQGrNxNCAf8mNEZ/WY1uBh5NPyqaeW2Z2IQs09hOUfDL6x868ZzkG9e8yxxKZULVohkR3G3N5Y8vX6SFx9WD1NBtRzN7zG5QhMQ1k9odPUB8vSCtGvnHYRTU8t2VcTLQ2gCMOTrsWvT99Jd8r/4w6jBH8D6EqhZzMBSE9KkzgYq9Y+1mmJidniDPj9s33gM5EmdWZXBL+LVQsxVC8Ml6O0q6V2kzpRNsjZ/Ho866osLakeSu/a1IibMhiYX/GKUgitPWHmqLZgL2dVcLYP6FnxQlHx376qzFfIjNfXzQaGFzSo4QlGZ6GtGZroY9Gu1waO8brd63Cd8FuH3tkHBcbpds4f7H5xmPPIluEKzBFK5gX6xij1g1cBE5WPjUZ5MZg00UWFvVP0J2cWgiURPT2p4i7LxZizLgM/6RWwhRZHVdCHJSHKUQ5o70WU7CoDbrEryradPbm023ntAKOk+QNOjO0s6QXAOV+ljXuNn/0Vuhf6tHlibn1Hroh/Fa6zOTCYfleukSCWPBD+tCjdKIKycFcM1YFkg2/9xszVltpk5ielqmWybfiVVWaomL1Qjiyrjz4stwW4PE16/81H2XfWNG1CD335gzfv9NkCLR8PvWxHFRLD/jAuaRs0WHoU6Y9dClCV5PFiKUz7bxFLKvpInTd3IGq75eWFVZ0ObGS/wvNQrULWVUOJSXdrvR+9vnhm5vpJFiB2sN/RYIUjNGwcV5pxNsYpI0lY1uCxfFtqBLBRTuePocSrzNIr2uITI3RIOfBOi9HZ+i4ZJJaENU7+dw5cZBLIcddjFHtEdMVR4oLAmTX7LLdnb7/NmJ34faD1Su7CD53pijFW75uUCcpoxvsaHGxr09iDx3AB+1/NcfLM3l/vlO7IFJOYsNNVKk5KRdzNR/tctH47ryiX2H1MBX+u3DcSUCSgpHGXKgU1O8w6DPjfIUB1qh0MJkF/UbPMLzJU18BIc0iS3PXPFYrYK0ujxb8U1Q2y7zrh3dUHPab6yrwdv11gS4vKqSaDQruYoM8pRqY/2X8GS8tsprrU9cNzxP652b4NR37xf9QA2BjeaAvg3DhGYAPTocLWcrGMRlyHdlVNgrjGsgoqu2137Mx5o8EmZFQllLIslsBhYY1MJqrlaKAPeT61cVXvUhbZQFgEOUqfzwA4lwQBvHoNjYnxIoiojEgatFOpS3XETDXA6bLK3k3ILMiIubhu9vDYf3J3ndK/3tYtquAa0U4mSSWmZeiW8SUrFe/py1mHhX+GcmNY9kYtL035W+0C4JUmo4on/CQZ7CSThne5Yy0KJy3Gt1DJ9L5f6eTEt3MuM/c1e3FV96QRLUo/saMJK4gHwS2BKBRSBt14Cz3Q5lG3E/WiM5bD/aX6b2iaXBYuPHBBLhD2VOkvODNrVFAy4BqeRtdzkJ+JOqHSi/GLxciQlWooUpuF6Sz5uI7c1pBsnPAabVqxvziLqqZSJeWfVpod0O2IXWKRpCaVmp44iS1WPoHGN6KS77gSqQAr6Ik1Y71mNmoYF488inCWbW8csPlbQsqVwR8IsE4P6PZUndg2fjL11Jdu+slTOsqDTQjvpe2RdLeXbFPPhsa+zU4qU3kPmCd1x4IgrneutuZWPYsBT9m+VItZecfIyalvReCtUienl1lOvOlYylQreX8f6oyFlTnSIxKGCnugVI7Ap4DZdri9iXkTc2kbN7/i906DzbmN3Kkj9PgP4P1ZG2rHdS+QX9Yom/5XSrzE1sU6M8RScSBBgs3mTVuCgmJphyjxHRugNY8sGr+YvAjgojWknlGzYCtRCBpBvnwy0B/Z8BQYZN2NbYberVCqftFcAU0E2HsLIryCNnsMFyir7GKslGyu65DPj8ygwHE5rhLZ655lHprgWPqsiu1VtJlr5/VEIkKBGjWmcHv9M2C0jM/qUzgv1ynY1FAMPn7Vxhj3rSRpHgPl4CvilTwDzwKLtRJ6czjv1Zx2kEYYM3faTIwzcM32Nih8G477AVzhujg7PBR4WoNl6qEbDmfveWqzj26+bU9nmL2ZG4HhVxE5U9/1Q0y37XCuII1X/G5GqzqAJk8BOFxDwpp9GmKS8VGtKkLZw+kVOsQbZi8hE3xaIdeODXvVNkrQDOMXwjVrAbF6tBOWK6OBJ2Iym66ugvylLb7JIp1xjRW9lCDGhDUOOynqit5zTUDUHO+U/zbiZU13C/ls9bDlVw7NDxi1/72tVSJsVdog86t7MewGaoOMFOGZpHJci4dE45N7rsmuk6dzhx0Jf98RmgQfh7Lb2kqjxmFokPq4mOf0GwFiS/pY3gxeHTeZOOyH56CYG+/Gtk5NIsaxGLgHofoVEIrXKWHq3LreXUWiR0kRsBbX/BNhTAnb2IiXzSZ4NP7ZewnUMymi0F6sB23zV95wyYHRWVcxTyOSAX3YsQTokgNsdamsGJXFMbgFHSXwzKxdQDqKCrHVqb65Un8enngelqExZL1FJSUiUV4gtt7K2WuZgO9J0dxp4/GvRaEX7ej3y1nA7WZb/trRRrSfW0A9mAa31sylyW7kO6rqgU1gf+IgkO2RHIvl8qE113ygvuXAheDD2cB7E5AmuchIIpbNflI6zSE7/IhmFYthfLk9GXSxRznib9cG+kwLjaihxHWewdCdg03qwJSqwotAvymq2l9Vcoe9pNEi3dkpcd6lBv9axPWQSpVFzT1hV1eIuYX3qffI/cM4LilS/VaaoDvJB0I+45KYsOQW96EuMi6n6ofHG/3dOD/chbpFEn+NmJYr8EnIfc1/RBuoc5EsiY4dFuTPUalopBuv6135IpX/0+UlrNLIFQtv1+7ikqJb9WZztlaDSdg7yS6cAa4eVxKX2FleeiSVvNiedQISdx6B2J5kjKBgJU5y4HFBTsU58G27AGiW0K+/NhcBHmnekwjKuS+vYJH4AZKQ60gsgx4zcGRvKFYQNsKJojFEYNErBawrvQB6Xj6skttdejluZicfez7OH9KL4RJbwmPkhFWmQuf1qG6bCJGfzWzdI0l3FZHiL9d5dlZVTTfmN4CvNHrfbpbzFuH+PQENXerrOtHSRaQniZ7vEX7PBetT/k7o+IFiDDp0lQdgNxhPPDvvmgEcPxMnVQNrPfNG6m+wyaeq9qgn6r1z6YeH4vwXdg+o8cyoR5RTQ9NOPul81ZGtaRWAx77D9iHWnKsj6+qrtNi2SkrTSKxEvW/MtgsB5orzaoc2cVBH8hI+jXPgJrlp0KhdPboFDvVqjeDIguQ91CvW2ULFkpVEnVXo77h9VSXuWt99APh9FRZthhtDRhzHNTMzai+3Ve6s4YBcww79KXRu12QV+XzsCtfN3TtwPqU/czIaYNGOJTys43FWQbaoG65/JV0iiP9tLElyb++HPbINBYfs1YgDbLaZeYdmYGTii9tz5zN/hI0yLAoYl4JscyfvIrjbqUP3K1jU/9FGnidFL5GTl4qQ6VLcX+yxVyO/qgxHbbtXpv3toC3R9nxRkpzUpc3NK+qt97vNZD4feMt/+M3xnpSrz9vXgJfN2cbDbYBfVZPcHR2vTn11x51D6O24BP9OzrgQsNbx2AwNY0iJS/Vgafz9ikgE5HvhLfg0NcB9XegqDq2OOXMFq73CJ7X26Eh1hTrBHwGZ2Auad74z98p1gvi2oIv39SNVDuFltut6Igupd1v9X9+l9rcOF9cTBmxifretEHfR4+2/knqpB7Bqqg9ewJ2DRFqENXyYcZSCbQO+IUx/uX2Wlt8qiLSURwjrJbLBosGOsUanpniPzpV/ygYPdzPl+JY4uCu0+D7FWdKPigKMr354I/ahFIiUD4iJt5Xqq+MMShj3KxUopyCNDwxzTFAaw4T5AhhcR7mdx8/TY3xszFwdID79bOCApOtr1blLbRt0e3s8sUWb0zDSsm4Dbxs0Nn2NEjAfa3k0L950FLIUbrWVqL9AJHOK3yqnnglL8rjb5hiwdSBAQOlTA4uU8aIcIgmm/xZ0K2Fnel+X5k131DgS/+uOF8ojR8BX2sGucErHNX0zL5+8JkWJuTq3z1EOfWAknYHKZjk6v5djLTEzovFynADxSV1Y+U7iBBsDLuLRW9nCJKzTA5eK2yVLFrJH8SUDwv6AOyTNLoFcpTSJGrcBoMVPOJ5rlmPtl7piwb94DglJYHBGuJNhuFpsep8jKhoN+6UnuNJDPnNIVpA0EkI5oy26L5CB2bHaIwLVtdJ49r5LdomErT+AFX6O54m2hQU8J1MCZM+vFtcqtTezjK4zLIb4WkmW53YYfKJ2YVPR6ASrjQ3WwFZfha99m7XbvJ9uBzVrKbLMgbCDKon1zcV0T1O7OK9aC74wP1lYXW1BQfpxFq5qYOBaKkhpz3oMCiWy9QBjLleNm+UTbXdQQ90Yw3B2R1R8MO4Cml45IZGoQOXk6xZf/YcmmCbBwdabLVBPzDmsJE9D5F2j9/mszCNj+b2WxiAK9U2ZbWIj2XquUkzBMdE+6QdwqbicwUi0XXvJCBHaS/1OD68WqKC0U74TnAzrzhqIgNAn9sDfk//O3Z6NyPqGJdGe28+983LcKzrQdvUxvKL3uOAq8PUkq8PCST5xAAg3JmEiw0FYMYEOF6l5/ZnBYSSRri6adGxSeFCQ7kSrWiVpsdwiTjUEQHWNtsAfjItpShX7OJMNxFrdu9KH9i+lsEXBrSaYC1gXedUSbGs76hc+RsCxyKb8bHoK3n0qRdTe+I7p5Y/lPk+kvjM0ZLxlL+DP66gttLJoLY17dpWzWmgOhkJOyug4SGjRW9sXqGGTxIZ4tEToMTcX1pK4mWCeq9eGDqjuwdCwfWdnGH4z1OOtPRW4p1ip9Fvkxcnx6RiLs1vyjxPSWP0rbe4Vl1Eu6dH403MB1JDzH1HZ488FawZi9IdxEvdedhvv1hy+04HK9IzsZBwQgtAsGA4qW361dB4bnmXcQyTx7oWoeA0flz1sj4F1oQ1DTcoeHyrfNa2u7oD3l84wmwn7N4tMICIkWURAgyA8OpyofuGWGeBBcRGVpR4UyAQAKELDkSlY2LOAAx1IDPBb2YyLNRTH/0SLMXF1xFxC0b3F4Actw/Vsyx9tWMw4VuBeWuJFzCVgIVW3J8F8PyWqXmyuitUPxIGgAQFAcsGlYfpWtmad+doYhSqo0b9/tr66h7tmFPR3I8ymSbDRoRRGs3CzfoSXoi56sunSHouuG+HItImcD7Uc7Fo+DidYmiV92t7H2a8OkXx1LoI0jvkrg2lF4h+RsU0Awtq3njinoqm5w+BskzAWR5fPFJhmku+SqYdP9Zu7rxfZLFMIXKLKrH19Gk2lkc0CJ84i4B6z+NLM3dJ1OEDBu6cVbVZqLUh8cdqe1MDtVxQV3Dh2SzGYvRC0GF0cwjbtr9RN7dZp8XamSi4y9r6v8VyrZZ43USO7hblXZDkgTjMbkGZYk4pfdlFaqzof+f+jY1jvhAAECrr08HK/6KwfE7YjUeqK9tRIqoQo3XcsmByAVoFHQru8tZpVTVlufYzF0LqIRWAwJJUKgDzkh5IWBIo19HaBpIRmdQgkTPQw9WkSWET/2pti6aV3PJAUJRIPVUumKVr65vloMpnUnlJ0YLSGFoBvldCPwUXY+eTLuuC7xszGs0o/OB1lAcZefY9LjfpRGDn075lT7PmsdbzwcpP4BuZfou9rlXf0gqdSesUU35M5o7MiLvdILSnPnyrCpVoyEsWyNQawFVX3epAYzAY+JwvuQDessbpAcXYgBsXESX0aYIkTyTCWCvnHOpLLcXAhKTwb1uHNjk42zQHVaGlKrsBJaJHp5C6l8VYDtVOAvtjkz6dbX9rsi8HJFuRkkgh8sZl9CZnSwEaWb03MDXtGrAW0ta/QoFJVEzFiM8dDbNvcN6lfdYHOxeYiCYguPn2/bdTAta1eVY9q1i/ihBb2eHVBNqmHnOTgdbMVaajLxweVuJXQQAR4tUr/nNL3JjEms+5fcfq/ZewFntZHKzJWW9LMotH46QLIKbWK8MATFf084wTGdeYY4NlIlTD7Np6wdbgOXt/G9xP8PmZiYYXueVBdnlMSk1d+0He28HPMP+j4oA3+Ul6P03u/b3gA9cq5V592H7CDe1RF76FRqklBICzHn1n+T6RGCQSvK8T6JDAcJw/9Upp41drc3oWPvW5SRu2Xk6cOjJnxBb4GRWJmALDI5MleQAJ7kIfkAQXTEkCDRKLYfJPIR0qfY4JEjiDvWGB2An7h0yCkTHCfZMS/YpyTBg0tvavyVOfEtLPASq+lOXf7cmttwfR/5/05/fBd0kE0dtjxhu04ImqjXrmS9YK4B6JDNZ+A6pK7oG8/mmk23fgUCy9zYr2NxaRXigqt5M7A769/NQkrFZSPM/hlfH2z2QGteexsTwMmHT2Mx07zUQIO7J0nrjFpgadyh8XJgg/4wqLkFarRPTaCye6OsdmEv0g1AHNHQ27rRrqUe4vrPdjm39TJEbNx+USpujQsgyf6lPYTdddGbNRRP9OB0JXXp+UMBSPoPiWOmX1BOmjTX0FLkhcsXqAYMSvNBnKPEimrF4TZQmT8rwB5YeJx5ByczqybTKY004yTHZCmHC8ds8lKRF+aSSDQHoSi2imtwA/N/jT71cip+rzc29xgO/ulnfCOFxtAmCBrpKldslq8AjNe+BCts/dpZXXbB3LGyv01EjWbaFmG9vJjzEiNWLPFoRhBkOW1YJYuAOeQKe2WhF7EHD2//JJzC/0N+MhVHcEMBRa8qRRoVNt0o6elORvnbvJX/ef+5S54EAJPYqRX+1I8DMHC0nbzNrRo/4neBs9hxgme8fWxP/hcPUw5RxANSryI0P/sUEtbNrIa4dw0jdzroGts0H0rJTkTd/LhCKrElUC6bGlkWMN4pWJmTbXc3XJ2K+yR8NoulJE+N0j+SEUxBhHk3rhEA7D1ZFzDwvfmbkuiZpAfYgT24NDxM/S7ZvryWHAMWu9/7EkVQfm3EQvs3uQ2td9dhuufJD/Vfo4VWevr+wDiir53f2ovgKwFmAbw53gIPzDPKDrQdAl/85GaJ6QH3zzelB4yFIBUsD/V5bKcWyE0JgvNsp9XNhXIssoJRRIsqJIhf/dQWVRQKZceOzTwuICfcSCBR//HWLoLPJ0If/561dAZicVQovjJnIVymB1Pgi76IdepodGzTpAGgl3FO0FdwPUcKP+qp0kmt/hFbiDsm1DsVRc5APKmYOp/9bulYy+6OCPEAwPr1Kz+/CdSNRn5LwvQlvukwM8eyAkNWIXmmcuosKHcIbEGbLnTD7nfJYGChNayxXPP+3mhwm3APXCsGXSf/QiiDnVjVdfw/JsWOSSA/3Tlh6TXJBM4cTv4Q/M4oRnLd7NHVlP+TDipKSg4p3vnjblTxkeUxWE68W1BGw58hYlQHGikvEndZTA1C8Dl86CYoKQVl8QbPpsEVNFjYbDFfM1ZYQAWjY1cnOcu2FHp+P3WvU2eIkDGb9MaJCK/unBjYRdcJMP2y5UUQeO4whcFypYtRpJbCb262gTWDCus/0jjNtstxImqGgKT/8f60tt+aw4fBDQYqEJ1l1XJEm26junimgJqc4QB4MD3sGyy8guN1QNeCBJOEZp9UOOBxTJvr9xmen/7bNVGZ64HL9MKvtruVlflon2CHcFk9JOlV6ElQY6JU6ib9P/N2yKzR4Mnf6imRf0Jdpk//pDJhmJVQTdfgfW7smirG6euHNGUgvIfFQgaKcqv5w83TwxDNAQak9A1rl5k1N8Dib++f4FCEO3nnnp/ycL4yGwv4tb0vtXXvtPAw+bQ0LFxPOJPiBEA3/Ph5X+jWY7mve5gRAWiOlowwQczCHhjvfDZ3Yj24jFJ0DSwewanA1iIMOpHIk/6x1fHuw0YFuHBiv3MZ0SayUVVJaUCIFvICFRk/xcMFOqkFCIFYjUMMP9mS1myu3n6rt3o58hfGqMPm6qW4YVSfo32rbRQTlFcbO8LH3IRii80ga4PwUCVhrIk24gNUUsOo1mA2xzu04EPyqepwoSqxDkPWa43j0MLa9HUzOTE3v7doGGph6m2Qt5EY1cZYTyBxmXh5LyttvPPOpalUAMRZ386GqeA0ejD0XUhfVdZHEJPzwj5qMV2L8IhvikLhlh3pEZJutWabE+0L34Jbf/A2OKiyJL60sbT9QfETEPMzRqutGIJ46ZMvzSINsf07Wy3x/jL7ybR77n4Y0aoxnfG/kbtfJxt3jGRqiNFKeGBl1dFc03K0am3VA+x5fNilNtVJrBVOJsE4AI5bf3bO7Q6iBz0xYADDmEyG+dWsogOxsO6SYLFz5U3Y+VTxJPgX1MQbPsci09LSJG16cifhLMhKRFd9AbZI/jW8FglbUHA6Ok92I85okNuiOlofaewS4iQQEyZATQ3q1URKjelFDdCFYXBcezLx+FdnGyjB/McAcnkp4Q5eiZXjRWEgFZLFNrTHODyrTev8DzR6QS28j2wYqS419XkVfVV+XvxKTwtX6EFvhlh005SSdSNpwl6ggjnOXK8NFGv5fXjRicmPaDdSmlZEhMbOkNLOWz3TLIvZK5DtmUaPM7KIi+gKhPOoKm33yPAaPgRYEUVYhbHGVMJIcIxa/d72aderEGAiq9mJHwyHgevFkhZomNRJGyREk5uXskNamPg+sKO9Vx8YiGucdryuskpP01Kmp8DpsXc+BTuFPcON7G+Cco0v0i9Mv6RXpn9GFTksFMeWh8L9XPGjn+8sO8tG3w75TwkxrW66A56Hrg2Dyy3eBIT9ofvhhqmr6B/WzyVfnLxcFkG9bumVEUZlv0bSrnJcF6V1Bv7f+QE9yrlmo8h1/mho3qaPoxI+tDMxJ3rdUXksYxTrUuR2kjFYr6O9TMQKhmrgGMYCTPI23hNnfG5PSq3lalGWEdK4lqTFAsWXN0ZDIAfjKgbb77n5UiJ65hG4x4XmVojvG7CFYctqDT7wbhxUUAfLRr281PZLke6nInqSFlDs2ifKamvZqlU2xk+ykkd+EiWlJTqUhCZV3A2hMNjg9ix2SzsS1GwzqOEOcs+/mfdoPBWXoI+23TN/f7rPDo4NRQRuk95jcpl8le28W+X/maOgq3nlwnQGl8ZSeuufH8dI83WEzCaR/thGbXUuED2rD5F8W1i6h9ggnB9olArViWKEDNiKsWbhM8dB/RHWE492ZHkgZvXLBLisIOpqFqumQvNI/NBcSKz108eEjZHhbKroApLN82iklVGNa17xrOGVcG+r7qUMs+h2LIlRnRzM47RB4Df9wWaWZNioc0ZuaY/BhreDzdOWAYlDGUYapvxLMG7Ql7bGZZmu1D3/1HW6PzDsv/Dh3hjUfI+mJ6r/78/DR3cj8dUTPMhPEM9Jtc4zHE5N29t+7zcezezbq5pez/JQ6n7fIldVjR11ErGEdgs6+TvJN4A5Wfs6JUsBFNfVeu58Jbg1JMRNCOeRvpVbHPapmFZUiDQ2jlaNNsLSbgg17iauMb72m557/LhHu1B6TYKt9z5p96lB1vs+mxufi6d4Xe/0e4KAdzqQpxhPHnNtDPgOLhMAqBRJ/q9/OI6OM8qt3TWI7oY4Qjk4/bSGoNEPfe0SB3/PyiOLV18Z17BVEZVwjGQrk5C67oWrPa/Z8opeAyclE3Jai1pmpbV2Vbb+8XgXXGdUPyq907p+X+OGKw/9bIt1ZyTWTrC1b6Yj2IKZvz4Cx7FLG+RKbrwDjIjdrZ7RTPwU0+v5m7WJnur1uBuewwX/I61bYaaKdnz3nQLYIkP6sKKW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30199" y="1228930"/>
            <a:ext cx="4016949" cy="5213859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Capital IQ</a:t>
            </a:r>
          </a:p>
        </p:txBody>
      </p:sp>
      <p:sp>
        <p:nvSpPr>
          <p:cNvPr id="10" name="BainTable47798HeaderBox1"/>
          <p:cNvSpPr txBox="1"/>
          <p:nvPr>
            <p:custDataLst>
              <p:tags r:id="rId4"/>
            </p:custDataLst>
          </p:nvPr>
        </p:nvSpPr>
        <p:spPr>
          <a:xfrm>
            <a:off x="4250987" y="977900"/>
            <a:ext cx="1096276" cy="359703"/>
          </a:xfrm>
          <a:prstGeom prst="rect">
            <a:avLst/>
          </a:prstGeom>
          <a:blipFill dpi="0" rotWithShape="1">
            <a:blip r:embed="rId1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5"/>
            </p:custDataLst>
          </p:nvPr>
        </p:nvSpPr>
        <p:spPr>
          <a:xfrm>
            <a:off x="6455684" y="1116401"/>
            <a:ext cx="5401354" cy="221203"/>
          </a:xfrm>
          <a:prstGeom prst="rect">
            <a:avLst/>
          </a:prstGeom>
          <a:blipFill dpi="0" rotWithShape="1">
            <a:blip r:embed="rId1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6"/>
            </p:custDataLst>
          </p:nvPr>
        </p:nvSpPr>
        <p:spPr>
          <a:xfrm>
            <a:off x="5422561" y="977900"/>
            <a:ext cx="957825" cy="359703"/>
          </a:xfrm>
          <a:prstGeom prst="rect">
            <a:avLst/>
          </a:prstGeom>
          <a:blipFill dpi="0" rotWithShape="1">
            <a:blip r:embed="rId1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Best Buy  </a:t>
            </a:r>
            <a:r>
              <a:rPr lang="en-US" sz="900" b="1" cap="all"/>
              <a:t>hypothesis</a:t>
            </a:r>
          </a:p>
        </p:txBody>
      </p:sp>
      <p:grpSp>
        <p:nvGrpSpPr>
          <p:cNvPr id="6" name="btfpStatusSticker253844">
            <a:extLst>
              <a:ext uri="{FF2B5EF4-FFF2-40B4-BE49-F238E27FC236}">
                <a16:creationId xmlns:a16="http://schemas.microsoft.com/office/drawing/2014/main" id="{99C3E7AE-D4CC-4946-9D82-06ADD46D5CD7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003470" y="898194"/>
            <a:ext cx="1858330" cy="235611"/>
            <a:chOff x="-2436373" y="876300"/>
            <a:chExt cx="1858330" cy="235611"/>
          </a:xfrm>
        </p:grpSpPr>
        <p:sp>
          <p:nvSpPr>
            <p:cNvPr id="4" name="btfpStatusStickerText253844">
              <a:extLst>
                <a:ext uri="{FF2B5EF4-FFF2-40B4-BE49-F238E27FC236}">
                  <a16:creationId xmlns:a16="http://schemas.microsoft.com/office/drawing/2014/main" id="{0BF0A840-4F02-4F18-AF2D-6567DB82CDDE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5" name="btfpStatusStickerLine253844">
              <a:extLst>
                <a:ext uri="{FF2B5EF4-FFF2-40B4-BE49-F238E27FC236}">
                  <a16:creationId xmlns:a16="http://schemas.microsoft.com/office/drawing/2014/main" id="{26714755-577E-4441-9A4C-8405326338D9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btfpRunningAgenda1Level650523">
            <a:extLst>
              <a:ext uri="{FF2B5EF4-FFF2-40B4-BE49-F238E27FC236}">
                <a16:creationId xmlns:a16="http://schemas.microsoft.com/office/drawing/2014/main" id="{4E32D776-A36C-4ED7-BF26-F0BEBC006D6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16" name="btfpRunningAgenda1LevelBarLeft650523">
              <a:extLst>
                <a:ext uri="{FF2B5EF4-FFF2-40B4-BE49-F238E27FC236}">
                  <a16:creationId xmlns:a16="http://schemas.microsoft.com/office/drawing/2014/main" id="{DC205F80-85D3-445C-8EF6-31433C5B5EFE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7" name="btfpRunningAgenda1LevelTextLeft650523">
              <a:extLst>
                <a:ext uri="{FF2B5EF4-FFF2-40B4-BE49-F238E27FC236}">
                  <a16:creationId xmlns:a16="http://schemas.microsoft.com/office/drawing/2014/main" id="{6D13E2C9-EAB3-4052-B570-E92DB9C00543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E5092AA5-211C-4FD2-90BC-35235F24968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960545" y="1476727"/>
            <a:ext cx="1003197" cy="359703"/>
          </a:xfrm>
          <a:prstGeom prst="rect">
            <a:avLst/>
          </a:prstGeom>
          <a:blipFill dpi="0" rotWithShape="1">
            <a:blip r:embed="rId1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Best Buy </a:t>
            </a:r>
            <a:r>
              <a:rPr lang="en-US" sz="900" b="1" cap="all"/>
              <a:t> Actuals</a:t>
            </a:r>
          </a:p>
        </p:txBody>
      </p:sp>
      <p:graphicFrame>
        <p:nvGraphicFramePr>
          <p:cNvPr id="37" name="BainTable47798">
            <a:extLst>
              <a:ext uri="{FF2B5EF4-FFF2-40B4-BE49-F238E27FC236}">
                <a16:creationId xmlns:a16="http://schemas.microsoft.com/office/drawing/2014/main" id="{A6D1126E-990C-4404-A315-1EB546DA6CE0}"/>
              </a:ext>
            </a:extLst>
          </p:cNvPr>
          <p:cNvGraphicFramePr>
            <a:graphicFrameLocks noGrp="1"/>
          </p:cNvGraphicFramePr>
          <p:nvPr>
            <p:custDataLst>
              <p:tags r:id="rId10"/>
            </p:custDataLst>
          </p:nvPr>
        </p:nvGraphicFramePr>
        <p:xfrm>
          <a:off x="4250987" y="1311479"/>
          <a:ext cx="7610813" cy="526091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1595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26773">
                  <a:extLst>
                    <a:ext uri="{9D8B030D-6E8A-4147-A177-3AD203B41FA5}">
                      <a16:colId xmlns:a16="http://schemas.microsoft.com/office/drawing/2014/main" val="1042097099"/>
                    </a:ext>
                  </a:extLst>
                </a:gridCol>
                <a:gridCol w="5468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6633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Merchandise costs</a:t>
                      </a:r>
                    </a:p>
                  </a:txBody>
                  <a:tcPr marL="84244" marR="8775" marT="42122" marB="42122">
                    <a:solidFill>
                      <a:srgbClr val="DEDED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solidFill>
                      <a:srgbClr val="DEDED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underperforming SKUs and optimize assortment 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Update systems to improve demand / supply planning accuracy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statistical inventory management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 and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inventory levels, safety stock, payment terms, etc.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Identify opportunities to reduce loss prevention where makes financial sense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  <a:solidFill>
                      <a:srgbClr val="D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854505"/>
                  </a:ext>
                </a:extLst>
              </a:tr>
              <a:tr h="50082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2-4%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~$655-1,310M</a:t>
                      </a:r>
                    </a:p>
                  </a:txBody>
                  <a:tcPr marL="84244" marR="8775" marT="42122" marB="42122" anchor="ctr">
                    <a:solidFill>
                      <a:srgbClr val="DEDEDE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871886"/>
                  </a:ext>
                </a:extLst>
              </a:tr>
              <a:tr h="206633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Freight &amp; distribution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DC/store mix and shared assets; optimize store-specific replenishment frequency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Ensure activities are performed at the lowest total cost location between Stores and Supply Chain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supply chain overhead organization, adjust mix of temp / permanent labor in DC network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freight and shipping contracts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De-bundle inbound freight and leverage backhaul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return/reverse logistics: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Disposition of return items in the most economical location (e.g., at the store if possible, a central returns center, etc.) </a:t>
                      </a:r>
                    </a:p>
                    <a:p>
                      <a:pPr marL="355600" marR="0" lvl="1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Maximize disposition value (e.g., selling the item for reduced margin over scrapping the product)</a:t>
                      </a:r>
                    </a:p>
                  </a:txBody>
                  <a:tcPr marL="84244" marR="8775" marT="42122" marB="42122"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~$180-365M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20663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Total 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~$835-1,675M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206633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Store related costs</a:t>
                      </a:r>
                    </a:p>
                  </a:txBody>
                  <a:tcPr marL="84244" marR="8775" marT="42122" marB="42122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Close underperforming locations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lease terms and costs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store space: reduce size or reutilize space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Cross-train employees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scheduling &amp; employee designations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risk-based maintenance and decrease preventative maintenance frequency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autonomous maintenance (shift low skill/risk tasks to operations)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utilities usage through process optimization &amp; standardized usage policies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465250"/>
                  </a:ext>
                </a:extLst>
              </a:tr>
              <a:tr h="50082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~$315-630M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108014"/>
                  </a:ext>
                </a:extLst>
              </a:tr>
              <a:tr h="206633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 SG&amp;A and corporate costs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(and in some cases zero-base) design of tasks/processes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 and clarify RAPIDs (if in scope)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Right size demand by eliminating unnecessary services/activities and optimizing service levels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shared services based on optimized 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infrastructure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 demand for office space and services; Reduce footprint</a:t>
                      </a: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87644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~$160-315M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0663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~$475-945M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/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 ~$1,310-2,620M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85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39" name="CommentBox">
            <a:extLst>
              <a:ext uri="{FF2B5EF4-FFF2-40B4-BE49-F238E27FC236}">
                <a16:creationId xmlns:a16="http://schemas.microsoft.com/office/drawing/2014/main" id="{22D606CC-A251-42F4-AD14-5EA07B0ADF70}"/>
              </a:ext>
            </a:extLst>
          </p:cNvPr>
          <p:cNvSpPr/>
          <p:nvPr/>
        </p:nvSpPr>
        <p:spPr bwMode="gray">
          <a:xfrm>
            <a:off x="6602834" y="6158760"/>
            <a:ext cx="3284115" cy="374159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100" i="1">
                <a:solidFill>
                  <a:srgbClr val="000000"/>
                </a:solidFill>
                <a:latin typeface="Arial" panose="020B0604020202020204" pitchFamily="34" charset="0"/>
              </a:rPr>
              <a:t>Need account team to validate typical cost profile, savings ranges and cost levers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B4BD81-2ACC-0FBE-A379-C12EBCCE3D82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0627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BCEEEDEC-D7BA-45F8-9D01-A0FEE711775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2" name="btfpColumnGapBlocker834779">
              <a:extLst>
                <a:ext uri="{FF2B5EF4-FFF2-40B4-BE49-F238E27FC236}">
                  <a16:creationId xmlns:a16="http://schemas.microsoft.com/office/drawing/2014/main" id="{20C7C85A-E7BB-482D-A797-F49D50628E1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409889">
              <a:extLst>
                <a:ext uri="{FF2B5EF4-FFF2-40B4-BE49-F238E27FC236}">
                  <a16:creationId xmlns:a16="http://schemas.microsoft.com/office/drawing/2014/main" id="{EF2C258E-ED8B-41A1-AA50-D6C7DC7A26E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226474">
              <a:extLst>
                <a:ext uri="{FF2B5EF4-FFF2-40B4-BE49-F238E27FC236}">
                  <a16:creationId xmlns:a16="http://schemas.microsoft.com/office/drawing/2014/main" id="{80D17F62-D525-4C4F-8750-6C4ECE03202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969225">
              <a:extLst>
                <a:ext uri="{FF2B5EF4-FFF2-40B4-BE49-F238E27FC236}">
                  <a16:creationId xmlns:a16="http://schemas.microsoft.com/office/drawing/2014/main" id="{7334AF2E-6998-44BF-997D-BA5184FD772D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btfpColumnIndicatorGroup1">
            <a:extLst>
              <a:ext uri="{FF2B5EF4-FFF2-40B4-BE49-F238E27FC236}">
                <a16:creationId xmlns:a16="http://schemas.microsoft.com/office/drawing/2014/main" id="{31EAFDA7-7DFC-4569-94BF-70A10EBE635F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438807">
              <a:extLst>
                <a:ext uri="{FF2B5EF4-FFF2-40B4-BE49-F238E27FC236}">
                  <a16:creationId xmlns:a16="http://schemas.microsoft.com/office/drawing/2014/main" id="{62815AE4-931D-46EE-887B-BED863298D0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60391">
              <a:extLst>
                <a:ext uri="{FF2B5EF4-FFF2-40B4-BE49-F238E27FC236}">
                  <a16:creationId xmlns:a16="http://schemas.microsoft.com/office/drawing/2014/main" id="{13392349-08B6-481C-8B23-C221CBD26628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491286">
              <a:extLst>
                <a:ext uri="{FF2B5EF4-FFF2-40B4-BE49-F238E27FC236}">
                  <a16:creationId xmlns:a16="http://schemas.microsoft.com/office/drawing/2014/main" id="{240A7169-A261-4F64-8AE1-0BAC0EF435FB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46854">
              <a:extLst>
                <a:ext uri="{FF2B5EF4-FFF2-40B4-BE49-F238E27FC236}">
                  <a16:creationId xmlns:a16="http://schemas.microsoft.com/office/drawing/2014/main" id="{42157B05-64FC-4A1C-A1C1-2601DBFD09E4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Bain experience within the Food/Grocery Retailers industry, applied against Sprouts’ estimated cost baseline, suggests $280M+ of opportunity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sp>
        <p:nvSpPr>
          <p:cNvPr id="11" name="Rectangle 10" descr="Enter Chart Description Here:&#10;&#10;End of Chart Description&#10;DO NOT ALTER TEXT BELOW THIS POINT! IF YOU DO YOUR CHART WILL NOT BE EDITABLE!&#10;mkkoexcel__~~~~~~~~~~False~~False~~Falsemkko__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Yxs+yys5bTynQZ/lm61I+1nbWwsz4bHjmd1tB5OvlqJtWbFdPVdkpleVvZot/Enah1cLemQRK7i8VMkDlkIpuJtZfHlc3K+tUnocnhPBNyrHvoK8V7RchuWpv+lFDxpo36FMPVAM5ZqFPHkErDoKv0toQddmtvFN72BXtkovPrUgs6e/AZMm9WMlpV9G0G9Gd966BiDesslNUH4NqdZClF0+bmV8Blupdb0kuDFpHIpaysYeYxRr+C7S6TaW4HLrQ1ZWWebCNcMhL8x964nNXAxZt35kXQbMqltjuqeYNHhXkfQBs/frpy6yoZUtgChVHehLRlvcna+3x6oXO5pHz5m6/XeHU8SSeLP9Pi7YdfxSruYMOPR+xjLYNTCftiicbyUQMIfJhlnSmpJuewyObZu+7H4yl8WSzeHGqO6ZL7rjej/OszH63oilE25zjBpbf9VNirZOZgkPaAae+aoTRlvPlD3tRsBEO7QrzJFMVtikOmgkCvDbM4KTdShObyM1JbCr9plbqjSYV+D/R6TYLt9OLkCO5qfs4+FEBn68ez2faHtR397kcfGFhVDJw8MrhJf/T49DRS1UYCwGdbURaThVvqsQMaEnX58jz6t6PQVL7Miq6Dkr1Kj4YnxR/H12v0ttTlpO+PD/7funzuIWzW3NxztpYazNehG8M7EoLBloLgCOc/RWrOXTn2q0KcRPImlJQchd4y/gz+1Cnkx5G/8YOAScmyAvqSs4xwonBNcxD6p9Y7YRE2KLpoZhXIAypAikwuvYJ5v6aKXk7yJfD3aqL8GnUz7zer1Rk5DxsBm9dTHIQ823zkWKoedxSBULgUHbyX0PrJ0RmkKw2LEJsnlGDjTvgFZ5mdXNMkS8rXy10en7xPEbHUrtYmR5NS1dvK/AkhiZsLJy2XEZoTP6oZhMBzZzd6TZaZoaJiU4PlD4BPQ1EvCO1bZItKDtCLIePAED0uSsKjolcRjAMwVzkTdF4ckiwG9uKMnEMMV1kyiAck3bTX1BFQdYhQIYwNnCL9sYb+VHiX7AiF+QlKX6l/lkeP0I8CrJthHjjLhScBdEetO4fvGU6afsFqSPuqMCrVKgl9IUzv/cMhE5nWp5+wA2d2PIvu3PrqVK2MCA9iuOtc+KlSJlTsyQ0g/A4riRophOiH7NHWnYSmDuRpnXpvzlO/VatW+T4qn2/R1mwRCb9VdOTs2CygE6f6CyzoqYaWpgb/pYVyy2uV1X5MBImrfhcmVM9NosD+lAy8ijvNfWPIZ49Qw0GNZxMTt9MPMoAXDQ2O21jQIv+TmVUZf1NFXDMLtNFs7FuAmzzXkyyXSDUJcMJIFh8hrH/+uSZ7roFPmp8Q7cnN7/DJnJYCo+MStq0bqGMdXBHSd17sDp7W22irtWy4xtnanU+NOpIzqtJSm/LSygHPH52fUwNnPOjVl+iv7vEsiYXiuNLrob8xTcslzzG+ehQnkn8aen5bFMHSp93t6+d2d6oQ11so6BSUGFxeG7bSCO+hPi6jwfckZ+HAA7/X37+Xrwtc/HZXtZmpBV6eOswJaqZaNoQvYSY3aauGgzyIGnOglA1qvcdzI18HBdYc/ASXxQSaS0cNLv9Y15JhfuPOv8RQvNyY4hB6lRwwCOLn4Quk1p4SpoUKycFZqcMAzOCGEpJRs2q7pTbZ15qFfWUqZcoQ88Qem8L94dBLCHrcPjV5mryll5fqW+acPXdthrK+glPNo2yJ+jI7OCIbMIrzSK4XNGKaDtvQrvKfjUhyJ6B8skbvZx7RtNl5L3XO+InNEdoa5oxupQXwzbwv2lSRbzGSkZP9b2BpzAx8LDXGcYoTQzYTKRNGnyaOtXC58Iuty4AVG7FB1qAmyqcMgNSFRAxz4Gg/pEO0XbFjc8iWKbqcVqdGOGeRifUb3BJjRuMo09wwqwugwLvw/S81EJ022csugGZffUKsg/MhVjrC1P39H+iV09J80YRWp1EVy/f/1zxZrxYvwNcjwzwV5Yx2VDWbb6V3NI+kDIdg2PVXCrlzjuQj0jVA5ZMbPU9j5iGg/u9weSrPmq4g5p98ccGO97eFodewMPimMpxVcoSibBVOM5xrmTqmY9g4cDg3iYoxh1EHWT2MDx7jLuZN7R+x73vt9qhq2wPV4lEas1njoA2fWt95voiNYJXs6g9K5MgzjyFX2CXdbWkUZpxj4lyfM2lOQSARP5GP9spqCTl63/LsMGxOmB9KRSGDTsmj8eMswnt4CqlEjlwCvVImYkxgUfoA8c/fcpnh1hPx3HR8PRBbKhL+W5tR55dMjeHlDcs708OSNHV4RM7G9NHngE6owT0C4TKL825t+D3ofKzMhAWEGRVXJbJ6/YgWsnhZBaB9p4zDBmJRdbaJPzoVFTVLIvDU7OI5SYBiJ23PLvDd2DbUncbnbh9jmNBiZ4WZPyDuks/B6DaP8R9nX92y6IS8mQWPZjBjsedigwn+F0SP+Mg6JZadZItSUsNShg/KHs/BiEPWHp/4uikCb/QqKI0Kk1UKrIHVNmLqqMQzMs8C1sEWspKrQKmnbSMdGqKwJGAWLtpVXKdUfn0yXPHocP7ORxuvuwGep5Sx4bvejZd5VxOymJ6XN1y+zWYhDVybEj+xGAbUp2RbRRI98CYIsQ9YXldHmjHP3pVXHMZZ3l73+YzyCUtoP2njtKjFjpNZNWdYveO005yesb9T/SqVOfa3nGVyMmUUFtlfnqzKsaqcY8ZVtRxO6Sc1GzK5Cf41UWAxOPtp1Al1cgGioljpzf5w8F89ogboVu9vmIv0qZ75H7S6EQgQ0F4VMfkgIM6EvLFaBjSDj/h/wJ75X2HD9wX3emGbBK2kroAIlabDRxP2f0VCItgRPbLUKee44kLIN/TWvMmSGZOVkCIdRI7VOTiWdwvNiPuwM9njRXIY0Eb6F0lXjeq8dAehBuQmVq47pICbazzrhbyyeRNKA/uhWy/lqDwpDJwAzDrYXfMC1L5cjkziYkpjSWVHAcV1tMruRpNTafsd9nnKKOVmwCLM5LQIeH9/ND+cVgzCqRU3N4GXTQALu+jSPTRY4s0yyDUnKmqSEpqicEFgYl+3QBFVPDT8khKH4ira52qSvU5aYXJZALMwA1N2/fJLwpDQA29q9MDDxWyftNY4bxlSwYlx/euZrxtgMYmiZGkj3hWKsiJSpXfNJ0BpLfblXg8FZUHv+sRJb55LP6yfjjvQaQ86OB1uMg8Hhcq/yXu5mau50oydgaUAeNyZL/xFzkTD1on5Xxke+lUTtFkfiKG56Kd0phTTE8DrlHIdNKW3IhDCSCtmeIAYZmNYxVJb9RRSCFHI0hbdzlTND4vMu+UTX3RLvjCw+XfynbZdA+PRbrv9RD1xuhl9T/MU6bgJzRQR2fhK/DRVXLgCeGI2MM4meBvwdpogOgVgw5cOTEBTUitCTBi+LNGJ80H+2o69CwToXaX3IVEaNf5TPFcUh/CaTI/hjkMQx0QCDc1nAEa2nnKapSK0kf3mnkQ6Ci+UlsqgP++ECd1XnGXZiMq6BoQo6G3UuKA6+8rbNIPfxxwOCRZfP1R03vPgsj0JGkWCnf9uaCwG7sAPi07I1Wp/4MNG/NaNqczWCrec6TUXpRxc1Y2LslIYWhl/nREc5ZZtHUTF+dDR0a1rtFAUjXEHBz5Bv0HBImJUvvoLz+g4fsY096mi4HffNQzZmPB58HZwLxzHYj9QVw4Uwm0zNAPdqvT+0VZfE4GVZm8FvAnM6cWf4aWgjUNy321p5+HfxmbUMBUrT5mPDwqka8vF9wQPBXPJLYLneGRqQ94J36YPDXnayq84ILeZPdaUiPcrBtzQ/f9kf3u6XvFlLUm7vfdRUZYBeJ/OaT9jQdPZYKNeeg7JOvRoENv583ErB0qKqm8FhuaJ0awU3WX2Kg15hhehsu3GkTob9hnJrVo8I3qN6pFTYIagd79ZYlLA6VUzG3CZGpUQ/n0tscZoHuPhsmvRdQqe8ZD7cuNFlOF3XKYyLq3XvjBZwUXAxvtfkzWkQwCnME4a2NN33VYhDwZVwOpVjBXlWsfuhy3oUJ8zukQmnkdbbk+DmPEV1F3pnO8t9W86GiDAC4yHLXqCUkzHSh4QMG3BFlJu3ax39gNDZFDkLeL46kMjQ5votkjqrPdCAAi0+1ftWVCA1a86WK1R11YuXKEhgQoGf/MRUfrKqIbkRHfgrHj0syq0eWxtTgfQc7bt7SSOOLtHe3BWutiq7XF0GEWa6CLbb5udzLmD3zyuPWjqvPmh8uNFAwyuFYKQ9oSirmlYSUd9uun5uyhIXen0ureU4GyJr3Cocrg4h/kKwM96dFUnLnVUeQUUSZEdK91VtIN3002m/NZ91BXb6DmJoidWtBzvqR/sRCHajoZhI0n9OCMVYyN6EMmPDYdf3sEhuZ3Th0exfuQmQ44Wo/+gMFlY+HkxHj1eFDy1phcUF7Gb50/b5oN4c8O2OWYS/o1UN9pfb0sC9cBiprZ7r6e1tPrLImKPWwbuvG8yykOgifBVwQpep/FJ4kV/0wIgaz7j/WXjHQ+/6gS6B9ii8fo3N5d0bYg81drt7iMlNnoziws1yxos0ah6+vRH5jK5Iaab34sOQg3Mh6c+fs8o5ZxAjnsTLOvMUZqoQmybei/58i+Wtgxmp48YMuXXIt8X0fnCPb6BjOt59TokCsjC7bwcVTmQuDC07tclnWUppIvuNC9WukqbR9mc5V3c2baCEt9FY9vBZEN0hCXpDVIr0w0I056SlwOirm5D9klXonKQbMjX8iboII1IaCTw8hf7XaLljjHCrlfpvHXkqdgR+yLTAylhfSBIeJ1M3K5f0tITZWTfimQl4s+6ExVvLmvA8Qz2rPLWaWvuL0alGqRM0iiasR0ie+8qOc6El64BUJtRZ72lDZyrGT3OZCqqbmwX17wXwq7vLcdLiVNhy2My770nx3/9wxYTUKJ/iS1ADEiOqUrearEm3DEtDxRK9/RLR6jlNmfR/maUGMe9wyWNFprQ9KOuv+/hLAeN27oEcolALzUsjNgUXRyOSwRHVzj97ZmM0DXgK1ZuLbZYjXJmC6xMUWpdYt9bgb6EyedGKVTkhtkDQolpT20ol6vZx1RgfsAEeygmACWBbZLmeKV5hWzGjuGBB1+WN4VkFxyMxsPE+eGkIBV0wgIPLpMTDFC4ePHFDr6hgJ2rDg9A5ZKp2AlalP9wUpJvgDK1YMSl9PyeIjXglaxacCM3WtQRJUhcV8dthHwOmy4GtIrBMv/OHO/x7da18YWC4h1RLa43i6lWtmue1zlI4CXIi/tmGQnQTcorpuUICQMmQok12rIIvzSmlaq8Q8S9d8xnDug/ZanMSce93QkXbeCbQ9ppSqYU0BnNzsNx3jXx7oN5fyV//EoPkwCiqsxL9UKuTe/Ltfe5lwzN1sKqgwi5u2xPyEH5nwSr1BN+LzNZCCtOIA9m7FvgMjJ5tey+mWo0DvIS3rXDeHmnVyizZqo9pW6qScrMwW6L2Z1QmlwcrWoh7KoY+vRiWYLw3vPoEWTbMAfhLl9wrTQ8+iWMvyeTCXkSxyHHSafkKFMKWTCVMOgB7t4KHQsoMj2t3hGEzgOTcEdnHLGjN0Lqobcgs/niDCyf5F4hEOsR0t6Rh/blB8o4SJ8jxVHsAWSRkI0nooeMqxUtm9VqrSaFwj2zPpz0TVkTV8ZDCIe0UDrLRgWerGORhapKt+MIydXDKfWE8G/c0rdpMuOjy/cy+DlSxMPYf8HtjLYc9CCgPDyMYAkeRbpgpESY93ilSY5kbXiS3D5Rk3MLU202sexsDPEshXjkIt4wQ2lTgeBMC89sYPhpiIZnuMh2pwGRukbC0K76PCRCjcXHho9pbBfewnKPyw22UXyJWZK6UVoiDDiDQPgnnxAR/F1G+ZavL19yuOnssPhUCDBOtpzHb6fHfYr+woBROe2tF5GYs+32c4Ev/9qPn6ujG/oB7thivgA8sTHqFEY0FBUM+T7sgju1yXe0kH50gfgirZoi0V8GyzikgGNZgP9s67HBUvQKGq1Uub13as9sb99i0K0DnhwESQ9jM9WNlhTbnS4PWpITANSZVoS2YeiPbCYHMVwCgeYiqTM9Yg6nbFlr1j4g4oxP8jv68TOX4MXS1BHv5Wl0R1fRgTWKvjVtvUFWBKMACoXk12iXPyNtNNF9l1ux5/xBr9YH4rRUb+jPXZ6B2rf5qCcYAxixqFJVZ6AZVxMYiztUjAc5IL7KkVnJHritXzdrW2KUebWabRS5oItKNcTghjYZYikpNALEq5+TQ3IcIDyTrEqj+lsgzcgn8X1rr0gWkfr4Lm9tlvb5hZ1m0lQK71LYf3ePyw4K8+Mg08oKI7VdnwZN/5tho/SXcMoBaflhkfZams2RNjnYmInPOYHp7NIvsT2CuM5j/n2fOsgDtcRBJ5SrEviOHyv1VWwFqZzmENcqBoQckU4d8l+wb09Tc5BKnNAttIPALqJFpEC0y0neD4EaCxgr+qgCWiSSwjk8u/G2eA+9I7VJdaQllUfOhRxEGAPDuPpe1l9SYivokBTIERklsH9Sn06ZJ0gkihdI5poz4mM8JBdVAnVl2Eb8wrFJw9e/4oPVvCz8egDLxg2eYVhycCY3B7Z9IoucxHX+iNxor/Vl8grzdIkjrz9jLl9YhM8Y9eJ21Bauz3weWkpo6nYB10oOOhlYP3pG6615wEHTL/hRXgnWlVBWYmdtwQ90ssrgB4m4thqsk9YlTRKqt3gOx6yyeErhP5JdLb45Ez90sS28P8me2y8uy+C4vKnHxBTj8ujlDz+PDv+BzrsEjUj8RZkQpcF9t15grgShL2EbbMc5bpd6c/Wa5TTUGvy8+JlcWoh/W3JD6U6SbBp4zCi4nM3TAt60C155kkvKh82GQIZRWNfZ5ZaaWPfo6cNazPWBxtu1DI7THWbmMu2uAHFuwzw8x6sbDKKZkTQW2X3NXRJTJqQK2ztijx9nXc0jVaFZWijnVx382D/kKPhwU73EbH1t1YdB162ILwykv1Av7stz8Zkh9NUMx5oCDM7fnvS5TXMpupBsU9sofy1vlezWVUAfPkPLmI1EQMSyaqGDrnNAJx1utBgP7cz0In45K4p1rh6XfAuM/EkDyTgxK2M+vUcPH1SCzljcLTKGSg/OMgZVuyquZYKdyminw3Kd5KApo9Ygg/7Dss5qasRduU5NEZwZVlJXS2y2ZDm/NmjSXnENPUp4NQka5mbmBkM+ENsJEBg6L1I1O2bHvT7ZS+GvQpL+FIR9C+2dmM/ncJoDcqHy4wq9vs6Lw0jglVUJ3j32qchqRRp0T7WG+/hz0zGC6X8uKoxBEzIL+dMjUoHmK7SDCsI3Cr4xgkwUfDfvmzncyShhC+U8cX0WfLKBWdNpt5VIAJPjgiOALhY+g4H3IQBcBMQSoRVwUrbSkVoYtFpMiwBegeCLIlmyIgNZw0wPcwV4Uegl243hMsxFFS7ovifq2d11NjjR+ZbZeqZdXNU9JMmmal7YI4TPlx3+FKnRbzP7UBNGDSm+VQeBF0lb2yy9OhYgsTJPg0nO6/9gr7q6xYi8DfDiPhFPWwU2CwXOM3jj0XtQVnzlMvJfjT8DOcg0U7A28wixIPV3P7tH4tu17iZmwp+2/WZREKMwmPASk6NHQHaUeZfLxNnYAnR5HH6LUZp51qwVlVuZytADC3z0LfdS9EHoELm7RpUY8hBDpxjPYKhqQUsF1j+hqN/6YnBmtDu37WaWwLPfAkf3vnl6C82DxlYFt4aTuICboUJQ17+ynxcJENEumBfwmuydOWNPTOdtN/qoMseAQg+apxWDDN9JdLxGbHO2Rw1ZgjCQaSIo2spGnUr1TQ/FCixi99/vx4yx4O5R0+VOzhao334aEk95vpPDjF9ugzBaXna4e9Y5UPAGRX4c+pVRg0fXWgaLhDbAzlOAtF+tTbasUjfX/c1w9FTJuzxFBCWIfMzgqfoldD2e/ZvwUng3R7pndWge5Due/KdLW4L6JeVkYCEI0GtMXJE5IyYYftNJYsWvaZApY0SypOW65cHc2yG5sfAlxIEQqXJeuwf5PQD1MixM82LHr5ad+WytWENHesRs6lyfxaxc+U2/SDwUZlX5+I1G+pfJ8DAyZT2pH4PNvku0MCfzgfShv2J7i5b21djruWM2xn8bEsWDTAxMcQTNwkmqU+XVyTqjZDV9Ph4GptYIT+5mi4G3go09c/BhDQFpzEBCN955Jul1tLSW4ItQoH1z7IbCIu+Vo4Uk3h4+UFHlPtLjIJZTgakFAErSFjdZ09mZDC/vbgvHGf6t9zIL4536InCNIVoArVBbHMUbDQ3R+cLqfMCJLr6/mvmzW3fH/ctT2pRjIz8bVTB62dt/L8s67KyLBQa3r3v10KuTTn0Ik6ZCwJ8OJiIAMBA0j60dEMB+GLAjp7INCMDGI2tqQJHGAWGBt3F1Q9+BltED/fAOaCBZY1MLltqMlU6IAuvHm2qp3QhbvrqUle8zf0M+xMvWHn+2Qd4t0ktLl49wSpPZ+BOJgAv1xvQf9/o3qytni668OtRo1CNdbVY6jDxrxeJQkLqtZgDiio1PqQI4hVkWuW/SE+o12m6YSnc/cghmiQn3FjZBtRD++gIrdejHElt3Fgvrwlok7fQOstVO6ek1/hG3i+Cr6od79cXXgh5PrKxjnwdMja3HKsv9iSMdJLEe7d1hQIcT81B89Mrl/Z6l53I6OrIyuBdNlKtgc7d06jrwGCh2E6WkrcSfOCYPnh773M3E3PfZYvu6MnPzZBgoqbKNTH+NGdhdZopQlpnGMnbOnrfy04Yloqbe+HjKEw90MHVUDIeqXs9on7PY+Q4hequUjZt3PFNAakvLK9YSPiIeW2pW4iNx04FxFhDnFJalIPnRV+mXsG/egVw84HZDYCRy0RUFTiSNEY6WEeCebEvfgOQQRTy4A4x2hKgd2QImeHG6CBNBuS/bP+vbBATtSM0KZQ9SrtAQYY2Eug2iMCrlmP+WIYA/LqzsHPA9nVVYSEBKVTRWv7nqUgYBpAbSQwVvNz1ZgPwzFe46epn6krmTD2W+dsZqFP4jzy/mf0szTLiUo4yS+OlKT7izXPNw0jKHjM2oYGZWNVNQbqLzjAVEm/G221sbiDIEbc5xcxGCDMOZy5Am3gxLkCihQf/8hIKz71PuUlKhaIKng+AVK/qV4pAFLsvaEKirEKUhEjeu5MeYXbTATI/Qu3gZ9Tg3K42FK5HzRZLV5tlwJTTGlniUTrNcDq4qbliFfzr8bpGBe8O+iVkqaQGwuN+Fo+XuTlxfTgpocq56i9NbXYgMb7OeHTMh45ESXmEYZ7t6+AenNy1zsojRbi811KlP3WKdTIOnyVv82yC7WWNxCYBklYzSOGd3b4+VR9q4zgaPr3jzfPkNSV0iRL6kaWI/HE18iwaf/nkdIy48kLZcnlKYbr6xiLOkozMgZLAe5e6O4AYNdx7isY4hNN+P5kzBXJX+KAgvRBzxIhGZXPL/sWB1D10dSCuhY7+HzjDeez7iP+eGzEd3eyHpqF+9X3MKYkLpxILeNKvA/o1iU6wqDrZd4t4QQ9OSDPpU1xIeZPouiPrandQwb9glp01PkdaBQBNtKRN0OaJgoFnTm2110VsFllj76dUpTZDc00EoLeTSlKhU+yNOPup5Bp3kHgfumgpqe78d1UZtWr1Q1u4qGEe+HeQ3MEvb7rSxMO9TAugJgeOcpeZCJIGUx4y3T3KlmCdCvwFvXiTcc1hAxleD+zSfriisnmbT56j3zmrWqRqlv4QoLLRgKUK8yV6C2kW9by4YTkk0XGRflrpV5kjHitnpPu4hofTfoov8AHHTLLwNNR8/eYlMT3BlagKjK6ZrZA3uvnoBufe6IhbkXk6IruEpVw07AA7xVaYXWpXWV73/7NQjvOlXY9lOtReAj+V/Yf6ziXYurv8+JPIBZjoIce8p0yzmKfU6PNk8Ygf0I+ZlOiBpR+PolZWykD+M4I615d8xdARq8MOFO59zldx1AzO+bzkP2ijXsa2OtwtbVko7MM2yBc2cRsHjxvi9V8zA5phrxEgTAY4/S2UeuTZr5jY+88c08DYlM1v48b6CvHD0vWqe4JT8hRMoTmuZu8Fpbc5zvYf6LVev06ld+kfRYnOEwWONHpwEHv5oNUxuBEbZjXMNpx18x1hoku5odRqFLRIwUYxGMf9SoAGSGAbU/OmQY7G9rFDjb5YZ49nrlkgjUXYnhGCwFGzs9qUhu+on1VSFgSkJvY4MDc67TvXhLeyXxWHjNM2BE/W8uJ9WFQgoIm9VN/6ybbENZ4fCs/gXwzSZ7PuOksAIkFObPxwptNywLuORn/9BWHZHoN+Ai+wNs0PuCZJsH2PntiL6x3LmkeGo0e76dIIGOlkuCuLvnU6MRjJ15IGpvhoL5UOslbVkcDugPetAELoZ5ZgQF6W9vq0FitgeXfKwpE15r4NaLyJBWSgwxP563jQKQedLEEuubvZkAk9myYr9btI2UOWcMOp1+ntBXF7k4bWaXDkXlWMlJjalx1YzMzNhNLGJ+BVvDudv35CofGjIV2EkTvIW+zBd0k3w4Q2EsnPfztEukAlimvElfv5mhoDv6+dOvnirnqntL3Iyrv+ISzpX+T5H1KeFfh70oH2D1vTsnOSSle0I8cBQ6j7CHbN3vM2uyrKfjcLwf8FIoSSae48rUyBgsejNuF61FjqZePKIjDRqARN1kyYmsWffMNimtHbnNmZH2zRl3lBkrpxcQbBWlrhoUtb9VDYnfXrrSo2WtToghx0yOMykkta1+FzjhYwNp7fn47mUtq4lLGrviaR940JGesMV21AqFW0U03UyDpxXdJNkPt4XL3YE9KGn3Yllx2VClAal2Nlam3ckh/E+Vo0DQoDabogluGLJf8onN6IyrUKxR28BGRdv63bnlFDqkN5/lvPRd5LMROH6wa//vNS31fRvRKORleJrgt5hXLV8aAcERzCasRA5nxvak8cdqkJXiEGmu04eqfuPA/V3XyH6fo86EEfyZVceJd4gXHNZ6jqNZojVIkjsuZQ97eIP5LJbPDzhvXcRj0S1qd9h4vRFmNdD/S3BNJlg8iYk7v/1rELUzE0wqlUbTASGPkT5BnC1R0TriK8zqwiZkxODgcwg1N+JTS6o9PtGokTfjZQO/9xCnFaQejVwGNcBhfdr5DCl92nLibaAWtKyYRRRk5B/W/DioSRUdxrKTOOiOfehvE7UTJtHafItqOc4rNgxi2Ia16XChDkZM49rO5BLbY9qVvphNZ1zYUxpVm3jMwb9/rPSmrTulA8Gn55r1aE3UtzpVRDaWMcyNN46d5Z3WovS7gObQNHB01jo6h27ZmXGWj6l2RFXhA71hGE7NWLuahpvu2I/hTW5gLVoLyf3KHrp77JSaXrp1hTmAk+hBc6rQ6ByA9aJvzVA+hhBdRydIunPl2RNocwfcqZu105hQ39kF2rZ+uFbmRTOPVKKenVJbXYHsXuJXaOvNCvQ9GWDYWZRptL1YfXdxBWQEI1GDCESToC9dgIKYX7kjoQf3ykrxO336/QniSehfptfWYZc5w+KdpH7rFFiVsz3qE4Xrak5Sg8iXwxT7GVA82W+FatMDqyPRcWV6WoYkRLlW2UKPU1RovYfOVWxssJcnUMNOmUT9uKb48tcIYubul3cLW9PoYNa9gn1LJpb6IbZQh8poA0UfwVSJaO1CRotKBrDDXxwfY25mGzlPqC25TnktO+B8TPEjQhoUmCQUc8eru0PZbItk/fcMYv2tLEa1uHM4P/NouNRiN5Ny4eAfJ93XDZqLCJyKp7WReaQX2bZsPLXd//+u+IKbVV4w+8c9qIMCx4hasZCO7SyBbEBhWRSzXHG/3a01l/M/+4nzuxa1DBB53b8UbIb1CwrJFa/oBDBi4wJbj9rIVH9EbNE4fMmfKZpXDvCztZ6vlK2J7q2Ef3EKkk7wKkj1gstOM6BwZ2vqsDy4lH2SqBgm5ckaL0safKKiRvK9sKlFfnb45bIUtPhV/7kT0tTtstvE4BW0H/F3znySn7bSjenAYpaM8cdWAHLmtfM8vaxOJAB/uKO6UwnpG9e2Kt4DR+AEnA6JUcKa1j+xxnos9AY58R+s16XSMCE+dEZww1n2doECSvvVE8OI/wWexcoO0cjCUAm3DDhbdXesppQPad8XzfCm/cD9gnci2CjfTNn/rqaFVc9a4Fr30hi4t6OHAkv+Ow8pGTUxt3WrJatTyoYsWfo/LVDaDj6I7kchDgEfM87fg9lllT2c4o2OQ2S11aqvMzH5M8Vi/TMa3fgnrEl4+WuOhIzsY8Em1YYaQFQDthJh2chddEmxExVLzuyRhKsCwZsSnRhDsehuxwkDL4UvyHQe0GT0PU/w9b79E7f9tX4xOO14MlcFFjM/fQin8yKkX6+oCBbQZ459/i3at97XSA7rprTz4BGef5h0xwd+Msf+XAfInV91iBTty7fKf6X/rz8m37EgV6WZ+mm6/dZ9Q8qtx1/GMQqqIi+xfLXGJvkfc6OO0Cthx5fQ6Ypj6ebf3aBFODuj0lDQ0WvCrSmZAUpb0Q/XwcoxXeGl42xyrM0CwEAWeddFZYYCLODUJBGOfoVM4ODWYz1D237FiZ1GD3+0XHB9UrNca9znrjuhkKa5DJvIp7QwhDSwQhO+eC0HeCezNwoduCZ9/yZz6XpfaYSKxk+c5dYg8RoSV2rl8CK9aZ1sv9/RRkxaZQryMDqgwVL/A8Z7QdNAuteuwSMB7I65deSqnlwEHLbkyc+X+cr4xlL5jj7pmeaXj/UgpBvKH3KtdkwbUSqqvBNBgqwy8tzKtbRRKzuEwVqx0Ox0W7MMO3fx+i/4FnqbpQsvgG3V1mK2lQtpjXyURC5KvypHFfneN2rDqqvrzEv4zuxIwbqSwWHQjT9tZSnTIRGnn1cFYWXl/zDao3fX025LJ8zAUmk17155I0vEr62389jcUU2UVW/BuHYO6Q9wVMHhr9itdtScRmdnFiauWz1MKHy0O1wPEt82uNyOob+3aya0dQPsbNsDEWiTEHaTiwGF10zCLS2uISlEP0Vh34ni87Aa+0x2RMpKkru1yuAcnUgWsIU+CImIVsT1pGy4VdkEHoSQcYfgNzv/lckbxWnpSHO8SYIAZqefsluDxG57oQQ/r92cJlPFLZNioDgg8atrgvP+QYKDDRNV8/vf/BbD9ZtUz+6E/8lZf+/BHwNSDAycCFdjw/2Unbsg4wkueRd7fIB2JryOljPgsb6LPSdLXmb9t6aq9RpGD86vzv3PeYYcaVx3JiWvLBRAZHiqmKmBmRWWl9aNdSgJ4FFR9zTBBBSQxa/CWo8ZReM2XA1LB//dPY4wkkHBytd6EpkI6UAlILVYRLIOGy8WBlx1hJRhbPdyk2i8MMZAP0YvchZEV6rtOUqZoOLn8WmIClotETGZW3JMlp/k0DyEQs1/mOI1gasAMfvBB9U2N7YHvIHq2Q3+McHfrF00YaB/eeLrSjAShohVIs9Ljttg24sI9ShrdeMqi2ipQcsFiS0Gw2a1dgWkzUg9p51dCCt/bPitsUgwo2VO7zUD7sCsVXuhKVnQG0QwzE6uVPtxfL9c6AIm7gOQAcFX5nMUW0EytCBL+HKUf09n4OFKBNLbl/0fgiIOsxhRICJ3PLzqaw1hOap9VSVfS7HOJ+taSsAhhjrTXv3/QygfMToHTkE6uyrUXdeyM+bat4daN5eICzcqks6RJ2yEJqBm8UiSyO2HweyxLmt8QjBubHI6mwOXq+DwKCMuTsIV+mKYUgl+V4SarmORGDllCIQJdy3dpqVoheW+z6V8Zu3/+z6fZ5XOQ/HVqTWeG4neN/96VqT3zNqLxnLkBK12hz/VJKaUJC/CVWsF0tyinydAtJJzJNWr7Q2LewNWZfmW59fk2FM2cWByu3l4FIitdi1vCJxYl8Vaehiz5HktYQ7QMX4GvmGdvtasFTpGXG3cGJ0utZucoPiFPtxTqxG2F7iy9BuCJcV8p9+xy89l7GcCKaQW22ZFjEASqFXk1n9B1ZqydneBCimVRnVjMeLvBWY+AeYvfmjepYuSE1LGvy3HirkLSRmDb94hlK1KvoMZWWgB1jxZdltHDqKxO+78lrTcwoE3lNs6QUTT9ZM2lVGbEp0GSGsXGDeZDL1+YeSKRaokEKneW7HopMFUvfCULielh+GP/vBcn4L/YS26jVSh/WlXNoDoyKf2lj1L6kF6nDPtOjjZI/1cu3VyCoZOQgppoz680TmvVRYpI0QfzqO4qV4fcN95AecEzvdY/qBxecV27Cu+E3yzzUUVTII2aqXsOdDbVgkxo+iVpavMsYBHQkQowI4SYWLeu9rhtjOCks5F0waNnQzVABjdNfxQRZQLx+YohxT+I+zCZy1m/tzLZZxrYhzCPnI7jnwfjfl5hIFd6X4Zq+01tH0tw2AX99j2Omc4/4alqkkM+xt4AZDabaOJ+EfhEKPrsHFvo+KiN/6+HLQBifw0ShuEYW6Jbyrh7cRjn0JIxVb9t/Xh3vdCll9SpNJtYCSjee6KPOkXlwc/jgcyYV5u0hf/XDRpvh9K+et0D1N+HClWy+fftsFrDfzoNQYyP/C8oZjEUbzc9gcI/21JNsZd3h7rRgObib7vpqD0Lrh3GRqxveMlU6hALEQt2h2FBRWLzRRp0heVEe2ToVuIyXPKhkenL9eu43qgRTkdpYBY9jJXJXAgU6tqOnTlMLs+s5sTWf9gZprZFsWGXRVeNkK/Gv4gAGJLgbQY5+bIGi96TZYoQ6oDx9pp1NMkf1HVNwmEcZjKCwzdm7f5Dm8eXpeTEuWKa7PybjLqlXiz4Kq+4yVEvPV+fdfsyDlD+RP1Y2cZN2X/ejUXmPQOd+JY+vpKAvkA77GkOp2XDDKTBG2tzedRXqLZTPfCtrTh9Fit0HUsZYiCAozCew2bzrgP8jkw2yilr3cUh0UcBkuDTdHzwCVLdunx0EEN2xk2/6XFf6tI9COUn4eCSLFHWLNHGbokshweaRAneP/6rUK/PEX1kHoLV59Ry9u+tks1Ft6Voihx1iHj0HNr5UW3nrh74HBHbYp3q/Bxf6ObEmY07av0t67+c4PkeQnC+CeDImSvoB3Fo/53MMOTGxtIf3XopppZyroSxZc14gxJp1sCBR8oBd5myMsOagJwLlEaAsjsHQ7eS6k57BB/B8clUVvctgmrJ4jXPMLIvPXN2tWWik/4rAdQZNHxXSyHw+a8yJmEZ4Yjl1D5VwbHzTfRcp5W7xuQeTnUDMGjXLCR5pePESFK+aDO2upQr2SJBvMJMvoh458atL+wp5HyxRDxc6la2xxwzPQng0lOGbjlcoBjYQjWLHDlHSd+eA5J27dmN2mN8txoGo12rnwHD1OfgoYQ33F/NRjZ2M8X1nOuCziBMHVEYllsVhSxfMNQbdQ+RDLRe0cZ6JxiNqLUfxfQLEzYH7QjpdaOfVVZpZSLxqZEeVI57QUUQD22/f762eRK2r2Gc9xY+/KSPAeapA8Q1ozve26GncjEwcb9Q+nEiIyWV4xOO1rofHfQZcsFyMZ/Viql8SHk9NH5lzQUg4ecm0w8dKOFfg07MQ2CSUuoQBxxKQJIyAVQRlSkm8/nlkTaB0Bekvhiw8uOkSGrX9jYVfH/vLOI4FIhbsqHr3Z8yIvQ21bFiRlQ7j+3TWELjXrRqlzHjh2/EZxwar/RxzAyaE25rlvxsRb1S4uaRWvE3D62ft1X4/vStI1qprYKl2OoYbUq0/+67OdzNFWoPbVdQWrI6wDnIqxDGHwsWMPex5w8KKM7SK60NKJVdQD96kyk8gj7xl4LQCGHjSqkrNhaA4Op7TOK+6eTXZavSQYWHZVyDKuTlyWUf0w2/7GjU9ZLqlgCHMOuR2R0NHtiSCzjgmlXgsb89UCLdW2e/TtQ9hZ4uEWOGKGPcLsiVaZXFC8PEaJEuP7uLtafIF+LoORDG3D0Q00IZxld9/iBurOOcMykG/XVfLJ3fQ2tZeqALk6mr+9TRWSuggSDI9h75Ykd3YCgBHHHCvBWYMFTwwF5xDfs2uCq4lHGK/TIvKZiRY12VIhw2/awbRBI+Sf/SL+Ac6DGyzetJyUgsHGShM3gxAvd6/STQeW32oEH6+2qB/AbGIscjvcSTVNMcPAgogtFyGIBEjnEv4qjVY+Ot4eIK18qebYs67Iuq8bv7qGhmdKgkViHaBK9g9gyVtk38QTa5fjVkBIHrc+XcywuDBiqfSpW6C3mmzMJf4HQ6WrKq2OEJ8oCUVcdMlh+g7Wyv3XN+LJazclWeYyQpXbwlSjHV3P/AEN4zOk2LBOgvyO6TH17GxOftc3Ytw2mw663MeOZJNadqcUVcttDCBQwInWmIEaAb8Ky4HxfJvqu2Wm4klNrde4K9E+hMRfUphQgoeJedZdRqd4aQNZILYiEfnHptn5pdM8LX9JD0ccO8tl2D7o2LAvWlDmP/ja0/Y3MfC5zGetSQXp/+owsRrM/Ex1qakuD6aQ/aUb1BfT1lOQfGNtGsppiHNDzfmHZpDM44aSpRj1OYx7dRF1+8M6m40+06u/Ukhuu0K/WfrKfnReusj3LNH1dXe2pjL1ktrJlfBaoKMCiV4eZP0g1qDrWNVcRY9A6R8V7HGydN+P8vq4gjJwXWRR2zY3coNmMtEA9so8xQf2sdnDY9p+UFlwI+ahpfe2CWoc9Hx1zAkZs5YiQBu5S/6ItCZqzAWnxONbnzJTs0gxDqY5kLkKeDRPjBYAZ5AvI95elabaMKt3a0BXBDpV1csnG5YuvHuun6kQizKEfeL+mPMiKD5ke0EIB8iTeTuomQaeNJfaknllzixJKmNNgx4yULAQNh0oeMk8oXKu89ZUEEYJ16rLKdYxcMweLFo4u+zZPPS4BpGzmoHrA4aJOBkQANF6i6xfhgbN2+/5zGgTzkyTqKZloq2W7P31xZwzUC+bARHJj6O+LOOmPX/xMbRiPYWsgzT8E8yH8NGg0VPCdm2nmdqApVS/vj111VupbS3GLLRG8GXRAbSuYTQ8w6taVEMR3vAZGw5I3KH5mkr9WW0V0yqk8LuIjHpc55kZGmEMsXaZmMJUIRW1JvCpxHcWCyIXI85GUb9pqfSNj2Z+3BwnO6a9eowv5DgUAsk/zCCRwJlkds0CoQOxGcN2IrSJyBZnJ7/SsNElvEhi/XIFD3np/VlnYS3ChyFqT8/TxIC3AcOcpua/jTInjzoFgOg8wFgMh/tvzi855Q7KgSFcZ4v8mgqjkUfQ+KG2I+vN4LPPHJfQRJSpaGO+v48+cYzphVpR4hsFjPIDuywkAr0OCjcsxCFJrZhny8+aXJ5/TrvAEOaeOnk8CZx4F8CMr8K4t7a0bpMDZqw9c+h0A7Dl9lgzPML8N0tEOcijxqW7kXMJpp3Pq4cGWRGHtQL83MiEHFXNRyEk6stnBqwswz0+4tY42FR43Uxt6jBmEX0nlkWqZPi/pZjGZoxK6SuerJG5+DTc0tIcRPNb5k6E5v3b+je6AtCaRGCB0zZB7+y6ZVmjPbBiTdJv485jaxCAndq3GuSNwFLT0dut439egJtxg2D4lUTMP2EzLTvMi7dtmR7DY3xANqPvmw2d+s4VpI3uTb5qP1tHUKX/GvYIFDecfBI2MAyBuMEWzv0dlGgoboH/IndJh/B5PjwU8GeVfn7BNPthJoI9s33XEx7dAKuwWAqz3Ts3eb+lCHKwuhYNwrJcZsT+WjTssfjHOznkmrSzXCKqa9UYDQZUkbc2TWizzwkMxXHPbEjLfisA0s329AyVelreoQOHamKw6ZVafPN3ZHdrWW9iS5gV5+qttxtddUhHZjTZcEYnwj7uu4GXm7u7ZiX4XXQG8/NA/dFnF4p6sKmb0UZiO/U5uGG+VLCaRG7icUUhs8jXaMU1JiYLHpx+p7nTaJAfTi1R/lsXKq5G587ysBAG7ALW3qOube92+jKdgF7GYej/E/GhjShW7YbJPvRTwiWQv4HEHpeSESpMm/tS24yYsUIhoZNBKmz4UWQjYk4R+soTy4bu+Eun196C+EuabocfZJmgesxVbIc8nLmXk8ix9ESdM1tMe3NVP5/aAPaonjYVZipdb/aJ+2Vhuj6LWls+rIJtONjaIDlfPHQhDJ/Vo1RhK5zap/B2zySmztb1qP9KVUGa3VhFwepUB/GEeWzpZdO3btqX51kj83fYfm68hz7nK8bGYgv798LYusXvCOAUqK1GWCjtLXywxx0SvPny90wuZ/Wi/2b481LcFFTuSxSebUABtGcb35/gNx0Z2H0Z2RY0nAfJnqqNMq70gfpB/WDCAnQwq5mltfKu79+SeYem09FwwxKkiYBT9plujVXXcqpqY2EZDukHdnA5mVeePEMCeLwueNhsKCLUGnuf9o4m3OwlTgHy6/eNz6GJcPtvHEgh3nIh+pKOX0ihdCQWEuj97W31/Thh58v5/p7X09X+CUY7LX5LwZJVHZ1ENvXHiAsyju4u3XZxmiWnQSwEPgTarWdScyt9FGwzA4tHybfmZJV6q0iOY66tT0i7f1Q/W4YMQwqSRlm51NPrnmcYHeOrH9oUv1IZB8ivEZvewpE82oiwoWulB+AEg/qU8voCc7NLLZjqYXu0NJyRw6N8TBoeB1LjrHSVWTcZXA2RaMBcDYEcTYcJd2wPKpkO2J92nAXRkTXEj2kVaJiCF3TsksoIoeJ5lvru86IVNDTYjJELsLmGw6O9H+ebB6ANZ/DRK1QG/32zKyqBorlM7gIA0KBWE8yjc+4oIsDenRDfW5B40AkG3oacOTRn5+gsfLToa4GmD5tmlIUH+2dxtdQq63svqCDMI/fSyThafqgbTUxEnFzdgXS1xIYqeQJbX9zvl5ctsMNuhur4y/ZVCQnT+/EY2FbD0qn9i5aUqo87RUnCQCJHn5tMcRW79y/f+viV0YmXME5+S3yrKrrg3XhGZz0m76zXlHnB2IsxORBzXp7La4qPHEFVJrZ5FxWMrXCkZw6aPlXRtKs2cuLnZsXJs2yr0hxv1HPj0T9aSywrl/yYILssW8k8Udf/wvZ1MwXpQV8aBNDMR9UiMZyfYMkR3ten5EOhfZwC9g3s4J9hPlSNj0hOLlNXRyOmfOf0Z/UvcT8frMa4XFvbg8OJqnXp9kCFJZx23i8GAUMWcO4J+ehrcyHaTXpzmDheCFU0R1Dr95lajmP5a/MC0v8HPELvf1WM14K5JvWr7pMptoKgFvj2dPvPzNkVZAOE6j8IZyYXN1JtS0PQMlntAqye4FbQGDdc5/ncq1PGJmgn5vAts4n5/ZqVGfzNGWlmUMNA7uQMuHdspir/7B2mhifw8cPM6t0aDl+k0orWk074qAkcXceXizp7jfxquKcoWDkstuxjhYp2xFpAvusN8OnMojeChBGAT3OwA3zYV3Wm4D+V39R+AuSNt3876KXOH8weblv3AYh+ofrDZJYEM6JMqJHzn2rnmP+Z0+vQjGzuTiLDehzdiQ6dXszfHQZ2+pchIZXjHtfgV0n9E5NFCjgBJ07q8YuTm+fLTMBSDag267bPp1TVD0bLFL1JtgsnALY5kWgrKvzC5u2UAV68MrHZKqolxP00pGyVcZ/sHZEQ9fg302q2eHCVvs3ZcIihQNHjq3tWv4L8FFjrp+iAKF4/eFLH1EUZyLGP91eH+2O+TobK+be4hDdhI0LDLaHSFnIU+qVzkEjbW/ztRBBl6j4+cEMmSBIeNe/PvCp0PDvorULt0VCnSR2O20UR9E/mVnljAa6GpCtqMYj/Qj7Nic0mNA/fxLlkGzLTAcAd5SgTBKH/akXbDAE4Y+2VB34ZlyLqxwe/3z9/ITL3d50ddiA4hOwDZv7F/0qxneZEVkO0czDi3mojH5b4h4ZTXxwqNjx1lgrTTsZp6r8Z9VNjMupFPS0ZL5tKcpwHRERkTzVolOIrdli68c/iksrlokv9jHsBQ4rY5nf1zF8T9phDv4mgKVXiwLhyYRNuMp7QznRYTh5xEtH88QgS02W37EKGXIg8VmJlM8494tavuKG1jgCTvH88WaLoMUxcFI+A3fA+gX40nILtXmm/e7eY7jtoDU154U5l+GvGuyUxd784LKnllqci2LEVbmqyhuor4uu6oB8vOaHpgkIIGHzQrIWxZQqAcJ7wT+TAWkjK23rJPZBRd7U/9XIAGe6jVQApCqXJl6c1YfriCJyJKrxLTcGosb/3XnOLCiBnue5X+zQO5pAfVRPPLKLBPREjPcfeKMnsSZlx1jOZ13KK9fENcA+Q5OKoIUQuFDeo04k2Gqd96r3y6TC8JxfMeiUr+3zGiFs22Ik6RqV6QQNXVVvubCVTWDB1lliQ7dT89mgThOXfr0JPPSOzcaG5r4qgKQqbcqCjhq/VJb9UQVlgfsevvvN2FxEdcPP9qzVki07aNpSaQdDwPzwRYLsVl2oJZIbhKPE1Zn1NQS1AvrmK+sOn3klE9RfA5ejVp2eIjdF6flfE3P98BvXO+fSx90jE4BVxaoJlyqR7z/vFt2i1Ual3KfvtNC2MBSzPU/2xSe5wgSAf0w6+kEUPY8az0i0NE8qqh+sRFV/oFujX2SlvBTR7NCmoGppoCI4bz8m8CxdFr8/9IzRFLqE1xE62x4hiRhmOgOZUOkvoEEhYdKXQmb5gV0veCpTWjmOmU7NgExKe+QE2VxEYNDOLBTUHrPZl7mTjAxg7jvdORvYrgJTrVHms8aM+tK4Ma4hXR9p+knJvqK4/ZzWzwvMxNTL2HVpb0pQ8qUgHsYa66nDnCat5v310jGXc9BnpgR7CNr5bz8Db+8nbhGbFi1jBzl0kYPq1OzDQ7WXajHT73NMQKwNQzQsAHLGGBxEPLS+aTQ7tdF6dA1EHMP30sWyQWEsXQV6OPXbcPhS1yurSZMyvCHl6mBwDxto8y0ixJn01ua+c9MiXVRKk0RfHH1Sn2sbIMWq6L4rAcZTKQpKvheqonM+535eUXTXYAD4S+5gFTFPSvqTvzhjHezkwsfcT2/GrmdX/pALKRNJQgqueEhok0vG3DxIy1ItdxnYiR4yRdrk8Nth6yIseInp7AGdqb9RHSId6d7rQFLf0TRWRqRaqzM72LrBVjce4fwRXSPM2GJnUBzVC7YtCi6ptEksWi3jWUgjRiudF0M3TrZMxeX68ZMDO5m63Y0V/z1YijAzF9YWYsIPG1aZMUXQ/YkoXjSeV57DG9BerJxX8e8CX6YBDM73XryXdgrpdGng1N2Rd3iwxkuYiVanjMNxY65hvEU+nkkyADboNz216w5v3tnMbHddHaLU+oJ8H86L2Qmarh21SlANzsVCDCuRJZIjtbeUECv4haXyfUo0kPDO/bRNGY1Ta0bxvsbXmVbYBES1bxlBUvrKJCBIzHEX6+GUg+hq2zO3+IJqioszv4WxJI4e1mIzaXqVMKchBcMbOBgnWlxxGfKVMMqRIBmvWwQaRKMiR7JX5KDXy3AowJJfWiyjVCh2qeUm5GOKl0qyCfAiQWkDRjwOkjQzrfWb9ePmGYFpQUeI4C1QLYOabjI/VipPIE6uyS+4lQdxnT77lZsiMkXcG0G9zBzP7A4gz0xyi/b0GyI+0nnSOxk5y3Ao+obsXpJgem/ot/vSHEtYmH736e3xaf807dUQz/Ni8KA4WyTMowfsQr3GDw3LfFoSuhFdpuSLVmvmAGtG18uJ3NAzbmWvy/9bTplAWo6NigpOD37d93htWijB6OQJyFs2HYXhajRu9OLHnKQLx7L0+GKdoiHCXraAnmfwiT8OZWQgd5ibo5OvKCBUVSOJrlbYAzX5Geom/6GQ20xNP4K06co9sOgKBFzYoT1WSOed9VoEYFuCeEBPNNAZ4b5SXNQG9RCLRgIxut4feB5vjCFp4QA60OP8v+VjIOXnYLhizuagfyPSHzrhCipP99W2goIqNNmHGKQj1WAFrfEhyr6D1Re3VSAOEHrB5DHXBldG++67rvEJ6JzdO4sZP1ulyP89Khydm4vio/QkbIUU0XQmGfd/sbVTJFXRIhHs/I+GuAAcLjLQ6qhbNTUha7aon/GknN527WBkzq0t8Qo6FAQoH7fQsG3fsnW1bVkkzUMIvZr12hWcTryCHZFlYdfYlR2VPTkN1Eip4vnTQDlkB8JgtNi6z126SjBOfL2KLpmJqJiwfkGLekCJnUuvyuIjLcFuMn43SSAPMro6ymMt1VByM+dQUXmBaJGkXKay8PEDbgxSRZQFDOypfxyD5LmmfcXpJRjWBQCZDWUcygzojWHQOHbajGGHnF0XtDaghc5RFUHJt5sUwq61qdww+aGgIh464EsmIFsG5riCSdHpdB22TEeo4OIC3cAB8KgdEjhiRFHfl0ms9/5xjUn2VGbz7/1xKAwBca8vUtud4ghhm66sSIvaqSf7fKy9Fofl2CKHtlzUAo5RkXVBl4qBcSWOrMqNOMguazJHnwEuV21rb/fKRIieOTba/t/gY0ZCQa+T3HMvotNhD43Mhn+hRxRE5JKjKhQhz0ttIkNbd713nqN6xvY9xjwmGMLFPZDgz2SOBiD2JERtyGZP+FIyJ3yjN9fezQwXTtu3pyPmro/gCQj0S7NBwjmQpNkeohqzjbd7oSReT01MiAX16daGZRbbIYX1wroRNavjLjHBez9ApfT/+db8hXjVitJJLWFMbGvVfa9JQrxvmjT707ZdKvJIKE2GNSwGWBeglySfR29A/+eQE6XBlWw3zJCOO3MUVO+SyoH4xw7BkV/2sLK0UUVV6etzsH2VlPfkjQtmS9qpn95On7Na75Tg87d2+RrTTPPQgaUYyJKxi6axnPvru6J3T2sqybevBmZmTTLff7jFg9jAW+IjmFfy5sj5hYmySEv5GOnu60qAozj4SF9OwMW5/3r8QAdMcr4gWEZS5sDo6ya0GO/DzbfTRIKsB9NLPBaybpUVPcgOG7fHliJW5HuM7lht3UNCzry5ZwTK0qUqH+0qIKJikFqCWYbHxLN43O+D2aXcHnGLfV3iPWIiVamAl1V6sqpU0c67nGM0zlXcyOp/N1pKDcrMHvfXjkeL2PC75+XRaQ2kpzYixNu/Pl0aJcEWO/0hFyxUXEaOlTKU3ekIZqJs5M1OnpAI3w/KM3Sxel7TMjoD0cm3MuwlPWLQLsmGWIkANiS3DgUX3fhm8VRzK1Kex+ghhg/62reP0kq6FX3rhOmL4G2QuGTrVsz7ZW4ec8BWIGEBXyGDGyxubOBY599Scj20as1y7sZPYbT3EVdpeQusube5gXw31tCQYi87DM8YR4+nBud2mVcmlw8omQK6u2hqP2qCOMnz7dRhidHTQwKSAippc2pL3i1S+lCP/ddhSXWOeC16i64bPdjCUPdDQsrMnW5oG0VDcPNzxvaAqAIIUQ/w1bjjxgzBwZzaQz7eIEW3LNRPbJsxwT40NbQR7q7smevKuyNz6ewxA1CT0X3sP892zsn6CnXAgq0p/ZVNVdXRKnGf9+iLo7pN6yX0sn0RoIxh049YFqZlAvRkMC5odii8AECLBUYBSnSJrvjcS/x0rpUpqnnIWG6UiXPGT/YGfx5adU2TYhsK5gpifHEOjJtJ85Rh6s8ocDQfafNv4gflm4bEqrQ2udodlzQNyZshiXGnvHKcCuMR8tZK71U+ygy38s4JnXc5IJvAa/4pAf9+CqacRZNzI3u14PEkPq3TZkNfVXtEAVrth25pWVgyvaArBI6QfYl6wFSucuxu0SHpQQeVWgvTiy9pm42Em6KgQq3rFhAysOTPoHumA9l+rZvF6VYbUr7CFGnpRPEdd5LQgEKwgtLiEHzZt0W8XbPKfbbgNrSsLaRrX2Z29ZQ1DNo/+yWVB489iPoUa2Watm2i+M249vMZArRxsFkvgP8BNNVH3y3PYdLy9PpH9OcssWklDcVSqqYncXPi9iQBJ3lYbJ27aKWlYQjdzFYrD7WI3Ohn+amj5rXHGshXlEil9xpj2dkItmKR4+qhM1N+XXjxwVy7YGoxyiOOAWFs8n1f+RuYTP3Pep4vbrryAGelrO/5dH97uftW3+lLRMolzyUY+QtBPUU97h6Z/icF/KPvMT88Ta5/D5dJCsNGGwvG1DYiqEp1A7ECvtIkURnffQ+3qePA2N0z0iRL14nUmT52PBJfwjUs0rFRy+GSb6eEGM+tZXOmFa72HNNdjYDTZQSCq+tlLg7G4lahaNZ/MO5ZzjbGG8VpByHFvW//FKM2gqOlV667oZxBD8e6s20kRqVHvNi+SDQ4xtg9nVrqM0/xLT6yhQ/8yucBzuhncKyDkGXsUiqu05jNvEwmTgJiCL6XkOR6UQ7ia/Hyub/3yfqImBWDVWThh5rV4D5ZKEtqbZobhOXA0KQ8yxgWRxdaQQQ9CCSzl38WSpZxbvqYODh7akKVnTaQV9pWjcl56MkF+irv+qw15J/qYWL0FwnelYra+Rmp8uVDp66sxnm8A4P9j6WCb8aU7TAUiO0oYg5tJvgvkOaNuiFu2kAhhIuf9ZwxCIJq2bGhJ/pyw8rhhPTbUdj8hDXtAmCvIhJbu4tMlJ+Wr+L46KslfH0fFDIBoDyHPIA/VleUUYOYPDaoK8xYXNzfqH/EJFR5BsADgO3/DhWMYRs0UcB7U9cJuungvHnjameCs1qPVV9gTHNPoNF8CN/UPljV07OT9cnEcFreEgFv8pEg6aNZVxX3yca46I9vTMAbcWbAq9y8vDNyelWV4Olq9lB/RmUM8I9blv8EGUIOWzkoCzaOyVaTAKlp4Dw3JsCrsq4mSEDIhm5VWHylbvj+u5ErgvTWD3b74CruHWhjPdXmw9O3E14D3I7fsYfEz3Bz41afmwq9v+44DZ9SKSCVJjWgvcbjHB7B4GJCJA3rXW3ssoby81Tk/UPZRYgeITXSfY2HDVVSFtMOvrhqaCMTCXSwUzv1GNjM+0X0l/58vvswxvVCMrc//SGY1a0n/Kc3tZadSPMkS/09SEyFcprBgF8DZtvupXCkACRoU7ef3ch2cuLY+q9dAuXT7R3FxMSfMV7y6ENlM1AmbASViuZpe7Xx4S1T3pJRpHMXTQ/yIcGLWzJ8+PzgM1rJsJdMUImoR2E5i/u1BtZj4i8CtJ0P6q2fl/erJPrWKbeeazi9wixelwdgJEn5D2fYkMEllCAZhuz9HO/m6R9X7tP+BTCepwMBcl1OcGQ8Vq1SaZWwvnAyDBLlAfIv/FKkInL4Q1Z3Oqm3xwGv72Wk4BqEvz5/C+LjCkAHWFmYWM7CcHXJsbNRcxIrKl10bUcD7b5k0yBY/kJSHJ9aJY0YPyqf+NlCLpXAvCIxyKB62OxP4t87BEY9bGB4UabR5LwHTFP6snCRHjhbIduskkve6BAkxNjul9LD5Rh1VzOmUlul+8K1i2eiRsHtx/aTauwc7FFhKhvXAHIO9NoOE04qtqLd2qG0txaT1hU14XkPuJGZpyD8RBAIZR2zQeCXa9wyrcTIadLRgiwunA4aXmed4qeW+HoXmXIw74WGCGgqxCL5bpPi/55qLKpbc5B8nMf2yq8yaMFJObdnRAqIvRVY8goNTZA+8pdAwaOatMloALGtenKLP9r+nmpL5FF5zADRTllsrFaOatgaY8dE0u9AI7ohlF6DvxaN36OK1lHw3ojfPKSTOMj5D6yDnGfcIv7uTMa5vpCmWTi0DQC5V1R5QS/MrtouKg7ec3nuKmDoIlQcFtjvcoeqLGNbTtn8Aq/JnrTm1gkZx0c6vCQ0b78J7kxrWeBCFMYkrREBaG+IqGGW3eNh2BrY39ABTdmMqkF65UMchWHVhf7iwQIZl+3gey+SrtRHKQklZwSc7J9E4kZFIPDgU3ciMtj4wewMZCqb17GlSkOTwDn0s9E2Oa81RVmfmQwGWYojGp6dqMoo76IcIGGx0dnsyNA7V0UdYuZOKTa1BZe512fu9AIMaPmxr6qofiylYrZ6cpK7U2oxU6wlZIqo2ZUPSD/G70BXFULxFIUlWoHDYnGuCihtzdxgTnQUzDd2krhIa3eUeFleNCHSE1mQxkgroxP+QsfkpKT88RN3gH75uWX/zLfDZmHGWNwyiPa63mm2R2gsTFdL+5jeuDVMBBijyQOQ4n9B1RVcLIQVFQqV8Du8gwnhymjDkyQOFOlZjpN0feN3uKFVtphOr7uySsDtFhf4LTCoD8j+MtkIh1Gh9cSh74fT4nUoWTWWnqx7c7PoPCENDBNFagPtdel+8YltDGmIvHs59TNdrCMfghWhycOadgqBt8hBi+A5OEXsD04gynwmwa0SyHHasetkPw7kXtyxUOfPnUV2JdpGB1+/YOLzsdX7/a+LtlddKyf2zMF+Bef7eW49TrppnmUE2Fe8zjSLcucRcysCTSgBj7SEbdT9EiDHAdp+V71QofG8iB2/q7hXioKOXlIAErFWzDePbZPr2C08g3MwubgpWljtRK/il5AnAzLIH29zLowbj7r3XSHcopWXMphba2PlCeeI/lh0IuESKKoQif776kWa1JIWf3BcVr0B7M8ty8nLjdLigT3tP9bV4YyPXufOzfd+D8gKoLYfEZQcnfT5BrwJRuLSbokTSu8SwBBxyDkP6yPrxts5IY8Lvy3QSG7VuitaaXXfwseWPo1jtWT1UPpE4cihSCguC0GIXHb77mEweoHDHl7DpvXgP45h3RwIfVp7WYiALukv2AfPnceun1l3lp2sJ+hageVf67OHeUwL/Pwl3ZchbmANdiHFc2x+Cuoqav7oIUejqVf7l0CIAJcIo16sk/kIdpuo5W4L0JEa45XEHoyCS1WXKmpIRG27tqZwsvrlMRCtrkEBQcgmDvHVLX/gfhpfkOrDrogNJdXdBYbApeoifpNw6qwAqNdHeVbT8CfZ+7RXv3uYHQ7KMrgyaRJfyrxbD0+4lKKHR3WO5IRQrqRJXTj3FCCRphq2rWgZHXkTTWT5Sq2r6pWQE6tIZBs3TRsFP/EIr6exWrl0oQRKDewsSkfDTRMdbyBk2MTb38qgaSeH5OZpEG41jiKyw68QkGtDkXeXscMKlBOKcixax2IR+Pdvb+weGAx6hnX2EQEfibzvtQOaQKDl7ZNr6P2jSnYtaacKX7J9h21Egja+MdeihEv0eajddMuFUwmFJARdpXDcorEcauDQF5GZ+uXef+WQh89QXG1gR3t+BSTAlUkhP+dUOKk/ctVVEenMAYTesIJWD+kPMlOm76BlapfLErSyI/BqtRzr0+NJsHn0RR84uy9+Rp7Pjxh6OXsG3TOC2tWcTlkaYrOVsykTV0xlK64d36tZTa4WmmlNtScxaF2GHl/ZxwSlSJ2oQ1ivs1yJH8fsbfHPsw8qp69ZID+gCTkmDSbIsPCWaMxirsxtTRf3Bh3JR98pI7Ono7IZIoxvaH3Ymbn7RkuJtbhT55QtKfrHkGa2LG8vxv/MUM/H7WDnneOSAp0CxQh43mI/6M8uzeREYQXh47u2kV8Wj4Oxqdy3C/6wdOsDdblvCdDAJ6GSbObXR4/KIuU9pB40CQSfoqnEVzHCzhiy4hEmFLEo0gUOgLD+dtT9HzQ9uTjci/oothzeSZd/Y3Jg4o7VV4laQYUGKajMceSv/YXk0JYtKnSn9eWndcEvwf2IG7Gq7tT8IcwOPQRyjFizQ1ew88BtI7OTiRIZK3grXvg+xQLXqRznlLQWUFie+6u7uGyGXpdEhHp7owTZMZjC405gFQqDR32JEn4FWJEQlxYYhWpDJscD48pI1izvWZZim5uH6xJsq6FkJUc8grluMhceSZ7/Ibi4ZEGNULg4DgRYcBqqolcafMvBFJecMTrSkOekiPjy9dB18ytrZIv/wK57EFSB6O+di1wX13MsL95v9hEGHakOxn1aiaO3NaSo+pim1p2vh9399HToUIpKtYowpP3wTftTUap78ZJg7yfWB+X6VQWND5d4kLmAd0S5AqtL5yxOyBYyy2CMcphJ2WuAj/6c3dV036U4/h+TEFP7NdPG6ZEQDr4wfdEa+/PjW3Xsw112nrjLXU4Kdfmer/N/wqfhu12mlLbxLL0Y+8/bRruxW3i7AWS+QDFNWjV5blLidWDLQtEhqZ0Oa/nZZT45RXqAGwcuz+fMwkH864nsTHf42LKcS1Pk5oiRGGXcrN4nnm5QfxchqRssIX8rOC2vUOdcGhJHMxLyXKuMlNwwZtdehuzAjhMo9yn4SgWcJ5roMLdZMeHEgVUCINkm4d+zz1EcBMMH5MErhyhYH2ToZMIe8GcWUdhsdbFFjEFgcUuMCD84+qqX8mXcmbUwx2CxHxuTme8izd4lIIRtVKM5fUaMypFeYm2a91FyT+qgc3bFvZHFzfNB0der/DRe+PIE1BYgFyvnosHfKWv7Au+ivWOIQC1ld+JZjVKo5x5nsMOws+Y7u9+E1gKUQCl8feug9v5Xig+8ZgEjesBzmMpZyLAsIxfYWn2WEu021LI+eMVYeI5aJCRHeal+N7qPJmsJMoeDN7KSpZd+Z0SvKuTudcYbZvMsUXCfHQ7kbAaoR7eyZa3sJ1vNZ0IIYf48QQ4pWCD/GezNkAigbsKrp6CtEDeLHLbHf48STC9QLWb4YpbOSwlxvmTduem5g5Bki23tGllq2MUiRVd4MHmssTqSSrNK+Q32PXOVsjw49TgkPgok1+4Jy6SlgqPrjcVt3OeOcGLz41uF0DJhc1qbmv2zsQ3GJihggaANTXdOMMeBX7X6PZoLBkWOLNyiK6RmqNrBTTRzpV2B5t/eFJkpqOt+nCUZw+TJsSC39rVFUIdXRVNr64lINSyUrgq1w5rdQq2P9hiEy7fYUNxS4ZNv3Y0Wxg5vKguQ5S3jNf9gjdTYDac0UmbPDT/2kxNropfnf8m4m0+9vD9UPTQ/R86jNxDly/kH3wD48ubuKFFqIFAOp3oPRgLSgiXzIX0Cd7qVOJ8L8f/lPuNCziT8bP2hmteZ5TL5Kn72YWneSM23wgTVpE83gPiZBWN4nqzEekdRSji6aav5ghKxfkDYiG4Z1W6wEwHn/sbjKwgWDSTLcfjALRe1SJvWt/qAHF+hn1YBQRsxgB03zXNTTbLdMJf6bxoYMcsjjf2N/IsN8qEaCiZKBdTJpBOFZ4FSPy+XDje4Sxeu4kbWsnh8pCI+A+HUFUJvQTt9fOXqOK2qu4UJiACfb1Xh5Q6ASG2gRtLxOW63zxKl259C4TCWu1aP5q/dcvBxL0kb8MdsSN8n+YNScqmbyrqR46SAXQCh1eSBEkcfQ0qCbOsUkIIJCMx+MD+d84h3UL3aJ5IT0/EQFFZyCuxL/gzMDUsgeYqE5wotq8CnmsT59V3TC7pGIrxpTXjpSiLRf3nWaWAr51D6xNANbyJ6VlBY63Mc53ttiw52q7s+U+n9DLewsoriePVj2MM7UHTeLws25ZgcWmVXl0G+j3AwmMxGUCG1NkHUTd9Ft8zJ05+CSLQM1Qe+IJk9gbRWmuDufyhgCwjT3Uj1mq3962SdjC7TiLsHnBCsPirpr5aUSrZCE8gctGclxMQNcuUkt+EiDqKQv1D5kMFZ/vhOzHThkkEwz9KnDz/PWEEtLoJsqJ/hb3lSTgeq0nJCnjuQbtElzNZZzti8nbn+EElQD+d6uuCkGKrI/1rkpzDktIEXT5W7GUmGNuZwWyc2dzvV3Zbs+LbtIaMJJ4tCRBASp+w09H2xQUqRolbx+tX34Jqj0GsuvG1MaHNYsJO2IYMLwfWxxylu4a6VOw0Hz6NnVmIX2arOW09/W5LIEJyYxwL+n8VFP60v0t/majniPHLTc9ovtrEMt7AukKZODVfAxEv5+YEg4EDj9HI2BvmtekYV5PhevFDohRi+WZT7aMU8zfjRMj8xCT3BFkZuoxH6tXLfIy1KEvG//CTOlBNVXmp4yeqv1qailnf4l8rTjF9fMRG6n2iIHeUb0uy1YCDyGO5XBfJeoTYcbMZQwvier+9w5vnh6mkQstNT3R2Q7MoM1Bqr9I0U1JPCNUgLmJXQYslXpAYxv/KVlC5DyLKLw+Cffj/NqJzMP1y6jo0hn1ibds7VD3PJdU/Fq4BO85zuNpv1QJgg7PtV/p/Iq4hEE/AZT5s559dMvBJsNBZaJJha0YVE9K8JYhvG9GCvchQSKJxOiJr/vOK1WEKaZcGPLQlsMfZtgNrr0RdBeE+/m5Fl9mqUmkdHt+Som7otzPkIfk1ZZ5SPk29PZ7BqI0EsIKqGX6mxcMvV6X5rot/irNZ/X1Guf9dRBY1CuDylgX+PcTx4pSWSCJ7cfiWfEV+Kt41oCsevDxNvQ+RrVTr9m1n9A4icxRuPI/QpYwE2M1cnxA2ZvHH1TBpTcUGnPln3S6CqCMbv2D5YnsQKrB1dfOsLMRbjDn9XhaE0Ue+oFISnucTMQWemugMWB2JNDN7Kvekr2CWvpMNIpuI3ABfufNDTdUe/q8HSleNPK0w/xhOhvCsAi3OKgHgGX2zJoTc7S4knBcZ/hdKoNNdDJCDUF39OqRPemr6lw/3sTS4Vgzk18R9uGtU59DqvIIOdRUArayKpuzkkhfxkU42VaDjre7MnHVM8ZvKn6w9NyAo2RI47CkZ1k/OQiMKXeP4CTvfxuVAHTbGoyT3Q+semNy6MAl6m0zH+OIhbxm6W3Ja5fN71GGKW4Qmns1p4qlc6qtyU0RrzbfsKdbl/lrW/WHcHCS41N9XvjhvKjqnwE2PkVZxUNXGVHqfz+gQFiSJFGHXYkaE/8azOM0cxuVgqOJk9oaCL4A0dTWZeSe372FdtEKTmJNfB5p/wxa5Y+xf5lb5Da3441NS0GpTjCFaGaZspLcCk7KwmdDboGgJD6j3LGIUiyBDkCTqk2MgQvpiQYSI0Dr5OhNGkV1seGsd8dMb78ZjoiIJ7RXLm5p1d7OVyVVQuhnzX7z0sUhWMvaVCMd1Evd4+XgdeY5Eqzki87FpDa+2rJxYR+ykmUx1CmmsGlgt0Le4bBsmfh4d9ByazqWQ7d5mAJLf98Rj4WxKQrjpAtJqp8RPzimtKH18a80TVlxiMsveAkdpf7q5U8HDp3iKFaQBEq7OAtyTv2LHXUbLSNELLPBo1XVxjtO0UZfDSoe5DM7SmvdcHiVhFCiuMj32vS6LyvKzJhaMjkMwv9NA1+R/A84f+f+2FEWwwbRsXqFd8RUKRPRN9m86kaj3Gofo8BDRFMgS6ji7uh7GvararrTBj1pauwqZb38SsvbiJyN/eiTFHHa/IgMnSRuwBGvTiqhBMxaCGrVH23tlwOzG0QtH8a4LNDtZ+QsajKMUWwOoDNhG6W6OqNTOgeJcWai0KsXn9m828cTrRRCjM9x0QKQI3dX2H4Nhk1QA41GrOtVGvMeKy1xQDoWVht2QeDtQqlx53EAiiKVglq8wHJJj2esylDIxz6pXS63oT/xic+uRqf+YYNs5nKoHF6FANtzhPRm4IkMcPu9ZvP8Q3qroZ7dY/IPoZ7vrGiSkOW6hayOKlJSKU2SnT9tg8DgxLc0PdBm8n5aSynnfM4ld0tLTxyMUK3MJXKI/UbcMgqrsZAQ732wKXiWOvFcAc4EWRlj6YXgnCnYDmbNV/zbje7bRnm1KQzeswpzAZa8iTiAb9ZbIyo0n2SSfnIM2SkeE0OHT14UdnmhcPSoJvf2ysSklZwe9sh0t8YBIPjOS4XbThcSnQbBiGQAnYGdX5sQi82MmLuCf1H3AX0nrYE7ASaR0U3mGXFpZ8Axn1PZMr7bgZDtftFh32aMKwFC0XvDyanFLrB3w49zZdUxcdTyCibgV8tW52Y26pwtgbW1w7xLoGXUQ/vgyqQiiyjA5XIKh9mltrN2LAtN3FjNuI+0EXH3qEOgpprQQoKokIrxJGjxT2PwR6fKg9U3XCAXi5oY3OPkqrdBwGOdOcVQ9DMgUhoNH+05YoBIRj0NEz11jZmHhDHcPd39IJI/QkLAHwAVYjKlQiAh7IHrks0QrXGKrSql/cocSvO9qUap7Ec3dtPSJ9howYDf00xH2vzL2YaeHUrL6nvcnA9xRgMc4T3Ms6xR17WtPrOY45EVXhWIQ4aRqENwnT+guQ/lFdYld6ALvlqDWCQ3RlO04U/O2Ehwm1xqy+INkyAQ7P+BsEzjpYk0IhbqlJGmIexuH7gtpe1psBbjD5vxu/2IwIm46Wb4IwnLWVkuBOsL2MkGBRu7ILXAiULvpPAxYbWemzR3dEqzC3QIrwxW6SlzIQLgpzFi7F2CQh+qKOysJ01E3ac24Uj9VdRFRRH3NtwikwXCQImBSHbO/oD4Ih2CHAdxSH54TR2uLARbKVj+ud2dI765QAnIOSMdRGJ7mBl6U/l9hvLkxWemGOyZCzoqGh7V8r5Eitiuj4/tZMdErdLOLQv/rjxRnlWJuLe6RJwQgGE63gWs4ngqLShz/gWiba7kJfRh0geLOA9AfcAho4hkh9e1GhZL7KCs/dusuQe5uszfJlu1JZrk6c8bphmoHYfGl/ZcmDQ/vhNysmYUdUyOwoVya+Up6N8WZWKRXur0XOcH587OksRMdmIYFc95+pMZG9TTS982q75W8470NbcYVOAdeqK024Xwg0LUiUXjg6jNZMq3qn2uL+iAD1hX0TGwYCllfWpmZqehMAVx8vYNV+yj30FBZeF14/bsIJFkgbP8yHG+8O+KVDiXy0g63BbRRxVexNmM7jVKWtbMDBcZevzNYiHKJdLTM2Co7Er9oKmp6fI4r1HglzitSGwi4DEjW5RgQQlpXZHcmWPde6AprmcNPmXRzEGlrzaRH7uqyy86uzj8/1YBvf4v+FHdCS1t3tlc2hQ6WIfTnCOSfSWkqs9XTLv67QrsMmbuBhFkCEH0olMJ6kmm4DH259NtPZufZdqW9KO1/YgqJJ/Zt36LTR4apH0s52O5xsOcLazjyKlsmZT3AM14rdX9F5IABa1zKCAt4bbaBM/FYvj2Pck3At/hMoSoWqbcnGoYAbRfZ3pPS8Ibkm7XPIuGDN8n16Ov2KdvhYJuLz2DKILu6QiTqs9Ir2au3j+wAfJfBaFg5f1jqvSBQnRyplXItUuMSWGv5JHeit4hKo50IziH6AlqrJqBwKXlOMPiXJOBwvsxyPx3hu6adbHqn2xNDjZhasBf2hMDfpUyxtm7rY1qjo/pI0UbeZb8aicgx+vErRpnf2eX0YwuxFO9th7fvNxCgULmqO19qhn/MhVpeRhoPdffXbDXcAkCQQqfc0pO1xFbQrz4VPhtkNh/2rdBqHfF3ABHvRcFlimalt6CoDRjpUHTOsSb1jpUxTo8w3tl0dbMUdoVgywgGvhkZbthRyfrZS43OsSPw6bV+47BqELU87Gt/94L2GcRCLupPAGKApqw30Ovx9OTr4AYkbZ52bkuUBKNgn9QQv0A6OMCieReh9rwgq4UzxhYQssKTB16NFdqcWpFpolWKRQMKxj9caEZfLP/8M2MagTgzIfHMaomIRZqkGq24PPGX7CX1b0Qs1dkFQ2YiayObjSR3aEthJwWmonQAGVecfeffi3BbK7MSIp+KrcjarO+zB6EraGLuSRC5MZbXZ5qzik4apR4cGvt2p7aNemlDBA4QQFYhto+h9yzK+9RJaEB6DM5x5vsuVvHQgTpve2l2s55HzQewlzEKoDuo93yvzs4TNEUi/mua92CRCOE9EKgTSop8hwnX7CxCcuEjGJzbujFcXptbIDLIfX0A6xXXokZQe1j2faNFZTandWLE2Qr0jRnIv3WkhKvlqOD+PR0qvdP2JiNSXcFH1Re1ZyLJc0Dglr0m3LtTjq80SN3AvFH59FILc0YqErksLffcESyxPSI0xGPmnNV1OaHw4PdADUvVzZ17LAmQ8NQfeEKDOby78uu6oIt06vkjCnXhmRtdxheCo6QoOp0gZJlzCMoKg8OIreyf2DfJdP9Nal6uxoDFpClxh8mRqIKN+Nthle2pRbwCOQNUt1+ugkEP8+oxYR1OdS7CJ523cK02WdNnptZmJ93+75aVLiEHKjE/2IzvuKnP1C4kSzhvlB5dYoYIWCmbpiHMVLWDcif68+mLCx6GsePrSUgLpwYCd0vpdgK5f+6qeecoOB4rKfyhO7OhEZZPukiCe15AeU6ejf0mFVZLenrkTFb0L6LyYC/R6rIx6n+8iUaeBgawBUYn+AlOz8ve99O0kC18sqzL2Zq6kwV4216tHkB+jPOSoJglkA57xg6ddvaMviIBRIam3TGbGiyLY23xkutzLjZdqcA4yrqnHTR0VZcmvMuUe2irbCAX40qiWUU8bWrwNaxGyP8Ysr1Iu6WfPbldlcntPA7sT0JI9ydHXipUew1bCdpdMZOElbJqFMWQ4P1kBntEknG0bCBy5hpCNyibh46lcXe/njMoYw5JFfsUTZ9NlmtjG6TLVic/cSiah5ZITOfcEPm5Lr361DT/SmPWU0jq4vTL9eYObHDD/KpL6d3K1CgHjsZnIotJvb09uQWZdrmhAVCBEVcftj6X3qj8WhbgU2uvdvLcRNEHCDeff7cAzuqmyerwC44ZCEM3c0qmbBrRbRTY1BV5zzSU0h6DRxZFNlutCT0PLnzO8SKtVB3qnrfgsthXL7hmRpNnUI7kOttlSfxj/xyNz4HmXPdwBetTLkyBINizcdsqX/TJhLVUqhiNt4IFk6nVuuMTw/MYXEBnkcOfOQ/PJBNXqtLA0tT3CzBH+cSoQZcJ12dESmoK8/jhH8EQeW63myK/lUl6OlmFa2y36XBpcZkGfIGM5tVf5CqmG2HDmCIIExhqlxvYhf+w38xkgHUW0iqJ4qqQ5uaCZsbyA/HpQL0mt5uuYzYHTCbyf6OWTdtATgVUP+/5sB0IqMFb+ul9wEgGFLKZlchPS91eR7q8EzR1bx3mHtiVjjbxVAdArQaiHd+Mil7uulYPrZyqlLpr/TMhI48lAiH4z7ppCRm/0zavbxyjydtxWSM0rF2DpJf96P0qUJyWevfQelE+az9RkxJPMy87NURqzqMlCAh56eUyQOn02Jx061I+41y770gOWyQfE1J4veUu5azgZ6DQiexZFtjEaKTWCcH3hsN9+MIlQ7N2FeuqHU9s/5fbfnWBz5rVdDNHksWVOuShr5OCdVQyeiwvRidCFJ8i3y/ic48J6EL0ObY+eaLIxmU9+Z6aY9GGQ5WHbzYM6UbVwHuXsfqWgA2PO+iflzloSD8zwE+SlyZysVCSgjfd+ZWMXn8ySwilIAh0lTSq5JLU3CEwB5gwUS/Mlqpeixby/vddhb4oTdizcSt07WKKnBdbjdCKv2Xby8JHLr8yRZ5E0JEY/SEAREIm0oHAB4u/dSaOBa6RX81ScZ7zdmHIlPTamNeeCUPEjzQhsYF8uLyFyuqC7gqLbioDqHYjjIfdEGFpR7sofKWoNo560bxycT6PTnkImgcMF0mv5dQKmiRzGkOWEPXe3ws/QjMPxpWl5SQhduuVuxBmPrrDOGtytXMo0WBhDanFINNDpKmTCd94/Y3vCNE4z51kFUSnbQmnISq5jAkKsu9y2+ChR1V04oBs9ROQsq4JDu6e4hbEiEWOgOdWa8BLdfb0cHC5oj64kDSd39YrrXaPH8U60IqRCzjrUlvtxwVq7OPSdb28w9+auHgwC+3SwN6YEZ4Gan0r2M9UKgZ2deJVfG1nLjFsmGUJBt2V3MGNKC583kH8TqsIGhzmAho0XZYCskaHlbz6RyueMHKZSDjjTn7Of7CwPWrHVcVdlU8yWRefbcfloxQj+kp6cVUrrAogCyaAy8osacD+uTv1YRVb6HFTPKxQ7Er3DI0368njN1uKS7u0k2dKnn2P05YAYNWEFoIWSs5ESOsimro7ChEjJeRPD4khGUrj2bSXADqMcrHHIpRs3XTaz74ExNRRTQqNkX1AoJHIffoAsklceUOFwEFvVfqoYeUpg4W/lLcAuou/EVf8kpAUpkDkPcTs+jv0bOnCgyrXdIFHQcAvbtF6mtnSnmMVl+4W3Z9lLNQ6OZuWlh2O4FYnbkgZeLo8/53ek4gO5HbO4pouzJQuYaQ8duXIizwVKnCVdTFYaoZhBn7ffqEUY/o4DNzijWXxnEsjusVt5dEYRfnXZEeoz1Zg3FvG2nUR138WpXMn0EalRIbCrVCKZrE+3JOQoTeWAv4wUyX09PVpXulypcCd0OKOz1YT3CpIFLqbIQphO/anh6N1YlSg+n4fGmit8cSusmVGmyG8jbSE/3A7+HK1y62QBJ5wFk0gRTXMEbio70HQkCtoLVJbim2v3C30OLbhKHViEaWTq3bjcncV1HyDNRQpIK0VlNGVeOUaQcF53f2kfjFwtV5J17gZcVow30HXDUiRkjEG4IZGnGCgY5YLfTDMIv8bNeoeKCi2QmroIZvcD77viu0FafKMjq7DFfnpN5SACTyaf0aX6fT588PVbFHfjpfrqkSIGEevgA7mbTpQ3A/iO3qfOxyjqGctM8nM/ERf2UJm7oxWp7mYtaqwtS1ApyeTdINeF63n8eG/iZQ3D6rTKrmVx2p2UPRsl5FE0TZY1xAmTxH/ySzQnAOVF0gYGvBPJ5A5vvkPsM+CVGAj2iOsHE+FzaeB8Dei1jmaw33ueLjWigzWLhSeqtbf5FlLaax4g8WwOALEJckkmL3M5RICJR4cGHgzya0+syA6UhXeS3GnSOdhQRIXc3Mu7UI1itw/Icpq9FraE2wQri6wxKHob2SxV9zB8ZJ27RXVniDOvjkWpE+TNyfvmNYCFEGuehK0soLOG2q2/kFh/1b3C/4OHzkndahMB0sirKnNUt23EG/vzVwxrwUe7kKMR1cLONoqHnhLE7R/gTVLyhmw0B8aNuDf/4JNk/L8PxqlF/+tdlo2aDHBEfV7R8GRDTMzEz2Xn9/cPHZPavgoRE/Kzqm1EOO0WbpH9H+mG3qQ+7NmMoyIXZhrT7mJIfWUiwKr8fdZ06ctfeq4q9QJAL1/p4P5MrGOo4Y04xz/ygj/O5PETxT52Ieox4LMds5czs1qDvWjLG8ahH0hBptrdpgfE6LQ14gL8h7TPG/vzQRAgoAtvVwpgrhI8lrhWVV4oZMRIRc4mloAlFwqnKiXV3WS9bDjrpxivZaPL1UWhA//tRlD+/OLY7tvRAEBfJl/cvBY0Gpjp6lF8r8BlW1jLVyvr0GkTGBu+erwSDG5UeKmhLsCqkscPxWkP4CnMD35SiIAf3JsUStzgkW4Ysm2SRwExOiqA/kHFyyUzg2MflTN1Px3xHL5tFGZez0vpDMsJ/HUKDuetF9F36tZgSRPc0r2DiI4X5G3AMj/14wo4G0Zb7hj1IguLHl4DW5DlJNMCxLGVAzmtOdw23bb1tRP3W5BpdcgtcmoSX3YhZ7wseyHbU2wGZH2UUtyU8w9uZu9N2UO5pNB208VHgCKqksJFtjQ+DtY0EZv/YzrOYFNe02iDjJuIbqSV6o5YHrHwvS0xhYQMN+m4pt9vg3uzq13rbPC/MAZRVBBIoDPNZsmRfYmWzCMX9XQpflQ1vZqbkvrc9gU/Mk+0f4uZzlJik/S+rMbTI5JX7VqLPAGIoLZ0MUgGhm5+FcMZn94XV4VzWaaY05CINCass2ueXbSddncIeHHrJ358k/4Ht4YOu8aUuvS+9yuMfhONKxlupkgT3n7qs5QtMcbmwEHSHX+MBl7+1Bhg8fajnJZLixikK2nLJJIO2hUfQngvdxNOfxOkjkV2pclvDfBBT1KEVm5Bdbtjh7CEHCbYY7skwpVaPwBrBitMsnq1PPANFb+7/JEwlTkgoCg3FoKdN1fStBHPrMJmRD5Uh0nhpbHHgzHkATEtnUgE/ceS64umpRlwowhyJiK6gUdwY+gNXUOheeEirMHXvAqhK01BRz1mDqvrdTioLUy4w7yInkwZ85r7iaGxCCbfKmjUq+DSElOuS9TJkf9iXFismSed08olfgUmwrCEU24unRkLwDYzlVzp9pwuc6Us6f1wMq4c2z1nW9L/nMkGIMO4NqxScqXYdjZvEWOPXI1DJUgd3ctJmDTrKeZjYaPycCONOf+MPjySWIkqmgB6SS3V5FmUaq1Z9gOplTEw10vwr848S1yuNm2WNVBpt/wmYAmJG/ZFdEyW+5MNzmOHuatnf3yKT+oAfaiwDUzZ3FOdXlzCaeWbt9W1PiOi0ARCSnnTsTESQ0Xz0MzzBH5hgs7trrZR+Er86sGfZv2AHCB+ZLAAoc1zXhbpVqxxT/MjRJED7DDBBOJucG0/d4svIkRfGSQX84Nx8JmlqNkweIJ8cnJWW1qbDYZQMsgex3Rd+otVWBsI8KwNRhBpT5LFvbmV9wB1PeZX4K7axMoYf1Nlay2pcD++fO8KoWCpqUA1lxNjIDg+nR53053CLflGSW1B0C35XY/u/ymcOw1xk55ygBVZSntoZK0apzeLBvpfj9c2to9gnb9JL24QR7IDjqGpU/B6c6PdrVp5KiliBlp5AXmHOKikQyEZ2BqMpnA6tWowG+kTnxX/+dPrTrcNkhZbh7vwOqN0DdtUZof5GiKDidXMiCSDdxJSQprfBHMIKYktoAnJm9XPnuFbeyDLpMpdTCV20YWDG8WHM6xnF8Q0TO29MMBBf2UFxmE204teMHpP1kM3GooxYSxokU2zaBrSlbvwOkvaldtnGu8B4Ehg1UIg/CZbFwuXl0PpFIRYrwaC+BUt4X0UXr6Yweoc4BjU3qH+nDV3xsh9oAXGFALJK5coXMvxDZOfwZMZQjnWh831D//sgogZyYowWNChSrYaHamh+cUes7GCh7J27N7SVwhiDlJdOvBX5xvm6lTfwX8yk63txXQbjZLA5j7QjbRWBtu0n6Xk9tPndbdCcLDqTI/Z+o5UlL9qOhsgXDwCoMYPDKg0kP+lOY9xR4z1zhHiD2qrYjnycY0HFc/fNBuppj40coJ4HFFdPHYZLXcfuE2awzD+1foCkCzEmcQMudTxqTK+DNv9gtvNLxa45gdOJCi7ZcYmCfj9s67DfrWZWbNZLQX4j7g2qRo+TJjOGGoBJtG6vdwUskO6CA5VZtxkFcJ3xECiUWzD4Dq8EpRBWSGE9+8G6EWCF9hWwALS6Nh4tCO8L0EFDKpeqJRUcckq+izPVCpoFDTE9H0nsQ0I7cccfHOD+ehCUEwX2i1PNaqLF9+uX8pnIBK907C9/lcB6kWd3TsKAcuqUGaQGWN2/2aeegbeBEbD+2dV0n6UxHm1p8WoifIo1GKr1Qe5F/D4SzlYRyAjafoo7PVfCNIMHba2ZEI8dmvzP71bD2kQbvDTiPtVLeUsown66aZM6WYsH3o24RQhw0BKFNwq/ouSvdJsRYBNsVzDaLG5z5aaP7hpkwIj5Gy5MEbxqy03i2FyHf3FGtbMzup/HVHlE79oI//urCljfuO3Q731Ip9h4tOdQAArYW8fMB+PwWJD3yvwhP4agjHCAuT5r2THCjMTOAhvswfaRJXt9hFfk74Fk77UnNly2tIolj8q6+jYxURUEIo8bn+SQ2Nv6M0Bvks+rFew7BbQgWVdzDZRKs9YgW2zJ3qYlWlh4PHjR7CYEvPhF8Yojcpps7axmAQ0egRF7n2BuwTnv7Dtkbsp5eRD8Z8rC3V1i0IkTz9oroAObGDKZ64Rhyl0uyY0QwR5/joB7fKIuXB0d3rrjT6paQAqg3NkIjGuVHoLJt14GpWq3CcgLWkDR3+4LfDSugBnfi+w562k88tB32JVL2qgUZVLGTHZwSQ6kOFZ51vuJNwPOQFJRR7se6GfNELnRDK6Byv90lDjtWxbdp2ccDj9o80libv6gVDlLYSIqT/1EwYsH75mH7I/J6eixsxv0xKjV6vBVtkDQfLLjz8N6DfSS+swsEr016f0jRgqNm1Qvy5R1ZUJqpf6cWl0Y2y4C/L/OEexpDH68k0D43XlsJwpiT7T/+rK15VEPKKC5ojw3JRsY9Y6Xnfcfwn/UjDZxEf8AADWMtGoKnVBEOIiv9ppmv6kigTwxFQ7dd0EKbudnQCcqZAnXyAaZYFQqfHg7XU7LJeohzql1Ddtr4n2oGchEePbth+ebNxw/KS5/S58wRjsML7eJ7CdFXBXOUqFrwgTVp3F4QExijpA/108b0BumK9eMBKps1ns3jY3itcN9tEYUw9XXIaxLHkBZgFfvSf61MQGwx9vn1msB/RIwrIiKvZaf1dJdwYaw1kauTmyH8jrHAWwzjud0MI5m3I8JnjosDTJY3kl0aHuPCfcsS97jXvYLhZ1qANNY7dtV8PA2WYw/aXXXHtsQ052cTV/I3Ev+/Y/dhavrgoLwYQ1VqHRkXtVHRTD8RdH8hASHxkLc/GxG5Dqsh/tD+upSv0xtHx/xKjlb+gydUYza04BO+ktsMgnjEhjYRvgwoNTbz31lZzkqmML8F5N3HO0rOWZCbPnzsJKu5r3RXmhzXzoxlZGCQZ32C4WoybjwoI8DLIm/rc6NCWCs7SG7tCcpSte3wm017SaODAPXVLyfseo8OtFlCF6kf+T8KI/5x/0VYu3MTAgEVvNXkgTtn7dSU4z8ed5rUF6dPj3VEFc6g9hNBkurVoWOiNjn1LzOzl6F6erT9ulLYItC+LM6H4DPYilVKA4Dgp8jpfQnxoG2lwE1agCwdL+ZoqXWp32GdT9Q7fg1ZOaYiBOeTxAdG8N3Zzv/y6IRNtdaudETA2NTeCPAx7F+y8ZzZQeWXoDGpb3PLPbQTzzo11nNVPwr3ThFleUs/xR6pTmOVc1WLgq3ZYWOIeF7V4WNr7IshKc+bsLPIALiIWwR7YjCLKESFEnHPmDERIYU+C+2XG/OtWn9z8KX7yrxgFjJGj7Vqsd/QtHdvTlfXxb0zf3bh5Aa8312sKFT9jZhXDFiKnjcnSQ0aAj5yc9mjjqmT3LmZ2ojP4lepIn3gyEnVbRQBXd4e7PCu702ALH/DOSZA5dZzwH4VV4W7q0X8rq7sIF84mLkyOuWiw6/viC+4w2vRPqF/Atv4dA9e6idJoI63XRiJhsYA9DnX9rDSgLtdt9LTCTuRxpRytvNjdXBNNIebU9hY201OOMAsVppHEv+ZoXtFiS7mM5coXDdEsqpoeYrQhLy2jszqTMQRCVNP1v5vF6EBQ7dwwwJWXYLMMK8WR552pPeTKvGBO05VEPB+Ez6gQnyXF9z7lmfq0V3FXDDkpqoNJhG27J+mUezprTqd7sJnsd9jIspFzm7FFD57o4tsMND+YRhlMVgMxfkwSvQrEzIUIZI8uvwgpoH5j98wI3Cxw5bm+QnPj0BiPnxaaWUfSYaEHcy9R28g+ot+ZGMVugJxuU9aXnruXGn34vB5OxFlNv+1tZKd1WtAT3srkzNuA8eDSeeAVPeX6OhzBSfx0/+tiCZr4uOWT+Igzk5Lmj9HsmADyINA2G5giKtx7JG6IbDb/W/nrsd44aeNF9ommpgyiRrjQP0w/lBNH3+I11PMdHeIG3q/OnGSV6DDrnOQQoGWfF4u7ZY+ClRaR3/rirZahPyTxEzPraIKVt++rLSESR63m+ZITG2oR35TybvTSkYTJvBDro1vR5CyAQjDX3RP/T4bxUhoDtkZXy2xNPXwm+7oJkSyFoEVOgY+fcKbrewzbEdJ9ni+KrKOam9wFY+9wQNuMj6ZW//pybfbujbGQfr3AeK9Y307eWHkBQJkwAtMvpnIUG2Q50n1a0x1ON/uuDAXjkUlclEqGvo9GVAQEUtwN+/4lNHBxN4bLgrUvqi8q1y45bViTIVjL9AJo4+zU1gjsziCMkr4s7bUKp71ukCNn5PezUqPVfEu4ujdXr83YUXX8T1tu+sMrasD/KivjPugcrTYxFiUVNwpKeKQDbHefNxW0VvJFcF4VvCvzPUi99VSW5Q23hrB2aZ6P2brJLXzFZeAObR+UG/cGXMx2Gjf/VLUBPe5FyvvOsFR9w5UWxpB6JE9cdlLCj4x4+AWCwgTeSjg7JFBtZW6IHhdRxGZ8Qh8I/05ZFChL50DVTJuD3W3n5ab1/Q80AVl7U0Fjy+gMwOQe4IrkTFD3BBDgV6ogAjYzlzE7hGALeBDminCgWZaMHq+dyyaYRt5aPwmq1DPBT7vOqHAzmyLA6QwSKVzHS/Ku3R1driO3A6jPL0cV3nR8xbWFm+McGXz06eSMH/86pjq5OGggGI8uNUCzeEwQB/rqtkb/zjvqVX3tGqrSKslfjWNSeFNfP0tK4EO4DaUBStsBNPLPf3vHAGKo+CpqaHbxyqs8UveomDQBDLy9saCc2dmZwPYTOvRMM+3FNhVe+QzpnK+rdJIYjD9Q+KHCDrXp12Jm/DIVe7LfS22SBsCJisdccWpc30t7jxJaNq+YRr4XqnoY4Sqd7xJhQs3jx11JzC4WOQ2T+lhwGV9IExSi31sh2enpdeaP0QiBIlpj96jXOMUSqj/usDiRHZZK9X+CeZYZS55u0SjwVM0LtbolB+rjXl9E2hvvFfW68uJFwBSM1kbIhhUPIkh1AL075aaixJzKzEqB5E7nUTUiT9ZD67tIkod77NjM5iZXs7TyW/k1xzK6Hhv08momD9jovBdnyTFa5mUeQ8ZasQ9ZZVMD6qvDK14tVHlxwxGdCqaDTwj+JV9t9P4tfNOYlm2ys7rhrVOft8Ywzhd58SnTqmD1prJqrLW7eLi2zsNXKnKsVGR056Mow/bgMtutwESNS/Dq9IpVGh2AeGZUSqofyDoEB8nv5mJNYhkxrTZ7vFp79pcTTi+gZi0xl2251tiC8Y/A/P85el3uOM/Z3yX/iJrSHEcZIOVIG8BD4FPU7u0twwLceWArWbr3dt2iGJfJVZZqV2l5pE/JnlMJqdW5xRix22O2Kt1qUy+nqYc3MzfGkjInChHTzVABYYnHF142MKYMYikJOweXCzMEGSnF1Zo5K/+Ks11II1gLL8GdMtFTpEzQfLALsTyApSzg5wHg+IFgG1ijrIiQDRIja0+tt+84pXED1IjCIfp1bogfpDx2EuYmmwW9l9go/tq3Jk/6H6WS27bFEzRl2d3ksYBZAQXCRqBtLtBuAwjJ1ZDmEa8jXza5dGuwNp9iW2DMNS9WbztSYiPjhFlsUffnBtUR+u8oZtxnPi0ENQGlThwvrh+VfCpeLitMiLK/uhiyHa+D/0tqkgjV0M9QxoLFl4aSuunIiz/GxhJORtAz8+zw15VH1BMWtiHf7e3ep0xCTgwcs2dJt52zM9t0JzbfNrC8ymP55Nwj1VhuQxoaIz5sVg+S4UTKwwiYSeFpz0K02yuk+GkyErDkPk+IyIK7LrCGYejZDoeLZnEYopPvL7MlqWxYQx0vahLNPsepOgS5Fc5IPhdBO7jXHG6Ij3MdhsiyU/zW5+4NJzO6C5usV0VWlDCp1c+nBYpemaPgvugafZRIvIUq/45TDiE7aoHH0Uc9qjKzop+62deS+5z6kZFV6Bo/qE7gw4jpQMqChT0zBTamnboX+eF4QudoctYkjbgUof0JIlIGlSC9F0Gwm3x1QVquOmNmo8jWFkFGVmXDd20RQgXs0PsZ2xJpQTMhJUogZdYjeBlFbI1oNAMnARy0wAT+XTmc7OBfAYBuZc4yNi3OFMc5UGtQE+jHfYeeqSxxPMUzeB6Iff1LvtUElZFZX5hxRb0QbuRiRIVS71B+tjDXjIF6vjIyzGABfwKMolXz/4IAEU5JDw7hm6wxnFy9VHNHSR7kf9IvSIuxDLC5z+TiOCODK66y2Cb+USGIST/NtcHj6+wEarGww1QqDyh43xAhLcL3fjMy0P/prui/eGnVehbga2vAxL3hFm55NHVxFn11WP9rIypUb42HICOiMkXElcCk2YwazKow5Qvus235bVPfKBOT0mBV12pWpgubyUUy+U82b2e57n2YvpWdekFPRiAn0jU4NLUr8vOUj2u2vbY3mrzCUnvu7hAHBXhzOp5ex8RoZxos3d56RjZ3zHwzFo8yGeKnm41qjjXvWh9M76q4UslWWarsCDugYrIWOBzlp8zRwJYLgR00loVhfw0tln230A8YDLwyHNWHzwN2jLxIhh++TnrQP+ceW6gNRRLPz2YwptwwIngnb3N17nB0qFQ6PlM5Lrcgju2HHE7QCxBacN7b48k4nHdrYGG+hOr5PXtcQYJ/V9/Sa/UHz9FuxBV/4t0e2KHrxkhpJiWxVEUFXlsQXC//HzR+Wvozb08hkfOgkRzGSDhkbPrN6AeHedWHrGRltEvh6TnlvtAztz0BAgtSnyNyzOqZYzJ8ZQrBEfNREJ+Uaft29Ujexzf7jOKR0E1EImawerWL9KKZna+f4+wxP/Kvqd9NSIOjUZmFI9sbhf0b0oaZXTvrLxi+DSr3Mp+/ei+r0AIWZj6EdWjgWGN3QV5TtOL2qDRPfXpmHGyHYss6ZVegACXMS12Waw0tyJkaN3ho113lXVg3Ebzk08pX5OaMmI54s5+KO5aXuYVkmRlP5TLJ36uQ+KJ0GLt2hw84hTXIjZui/YVuXBQFgJg45CToFP9/w68O0jY4iG2IWg+XlbkGWsL6udU3DECuYr9NALZm+GndLuSyL27YYFpJmwyNRqDHsT7XaJJIqRpaGqdoB42lfhvoloE81BLAAePubPW8QpTtfTGi6CaMUPSL7QqU1ID3j/QHfipmdVT/Llo/+3AE/V/OGh9rRwFgBEJjziMdZI3CNvHS4hUO4tjTX/8qmnCc8a8ChS6PAGLtqwBAzF4Mi8Tk+VwoAbk7REQI1pfj4IDHUquhhv3B4Eeg6zL6xmMGl8HOi2RzhhDJqWQW+E0EI+8oDjdiNLJiueo0cTNeGPu2IcgL/VzwGYU82p8DTXIyjgHqdA3SxhEIss1+xk1T3Mqq/2bvh+WWL+s7E5GosL4Le0pljjTfMK9R1zyzfkmEXtauho62UXaSMlrsScRcvpopH42hxyp1R0IiL9FkL2a5viMwmroxIeGCA0bEBI19ObvurBUk+2SHO7Q3KTrwY8Ex3Uu7KLMXrI1vIl0zUpYMTITifdTUw4YRAVH7OlJaWm9rmzdQzJEW9I1M9pCPtIvytZt34wuZjfluXrO5aN/ZVwDKUl4UcWi2aP08RlEt9YZQuOj5ySD59U2bDDjpnnTWrEraPBNWurwtwCPBiI0h+l/6I+2cvLpaj7kAii1I/omRw/tR4E6ksUTDGyRo/aA/GGwikrRXkq51T8Z6JZA91lq+fi5itSD6vK0LNK81hFutxzFne4S+TAM7Y/GXullRo+qgDLsJTIWNPHCPKIITksu8oZ2l3h+2oTA2BUOQuEcNbiHCEDXngeWK7SeU8AZybv7Cqa3uJmDilIVDtpA5Vh6NW7Bzo8UoUSoMh2wWEnoYKFAn5LntHr5Rot6ZfWg8517Rs5tdGpaeSYrzHJWkK8k+P+U5glvgGaFXfm/WYMEECLY0trKk3oH7tEs+dZLW7OK2cJc2MR39wD+2CNOK1E2D7Qpl8Ll2yTmjFijVk7rsFOASAWaO3PfPWukhgDXbo4qyziwsgth1JPRMEW2PmU4kNVLr3taMxN+HPCa+mIN23RYj6is8q/p7iU5r3o482QXzEHRxf5XqA+kYcA2XHfuBdUJ1c0rbEsoYvW5zPmCkfJypIwH4vOGOAIxe91kYJd1UpI0cCq60wEKHvSdET2ZMbXEOcYR8rLUy7gvh8WPWg3N8v7qvz7AkDYVjPBvHiu/XOdr0dTDVnn+iNrfJ8/MI67N2L5yn+IY/gIRUx+MA+QE23iKe30CqCjNmb4D0pA9FbgyVOp3wTZI0z4iQe41ZFcJeLx5fHDeyfDd5ViD8vaWvNFpmqQlXKHyqO8R3NqOxSmXsymabXXJ8kjLLSFl6GBkUjFNOatwic5E+LXFxDkArHQMqsYvQ2DJZcc59P9s2IkCnUn1FACvP5u5kVokbtJwH+S6ZVcRjKziOQ/6JXdTtNVTCco/vPRNM164cM27QYUXA3pK1kckQ/SqFcqdMvC8ST502JfgFxek1eXSXomoR4hjaDzcMvFCT2cnuM4/Ym3T4qazAoZF4KfMANEBnQ7RRZQfaFLZ15n/KGCYTcVEKtzSZ3UcOXazVyEufrZj7q3vSFLcoWMWEo+wTByQZeUethtOQHVzSQgXEhF0c0RbMCbnKBqppZ1SHNtU/wCXYJOfpCvZzG8H/5RDEj/biwUX/0XRE0qsTOb8wNghe6obUoBDFrhTFMYWZXgxMd6YtuC2bI832fv5yxX6ITk9Nx3/fzW/KEYsnvWPpuxtXC+4YE8T+vuAAjaSiVyeCHRlTLUktGcbQUiKV1fmuOGHtyizg3XIcwHI2kMefF2HCq0NmdWpcey/5vMjvqcRSmAshGf2ZyeJsvH7aH7j7r+9BVzj0FTjv1l1MciDPxk1x2ocpWB3lhmRN2H9Reqlb2JZNLBcnKRrcmr8bTwzvEcF0MbwLhYbXW67qAUAXqA6faCMYu2Gt5AOGlG8H+75k2QgITRdkDky7bM4mXsW/RI/saRsLcze4/qVZM853KpOhjSXGgJBHfzATRxsLU7kVEYkWzL30Idd0mh2JYevdjduUE5ywSVrSmJdPeH/TqmPf+LQ1cThMp/FCbnzn1zq1Zbsuf9nNfQQThIoY8OPXZK0NO7AYtbhhxoJJuEowcavqFr1MnFAGwmZw/3oj8cPJun7BoOuqttIHhRd5krPLCK1Sj44knSgZiz2aQLObeRChfuvHVqP/ksrE4A+LHWliGvNcET1G9r2QlXsYUQmfaIFjV5ChtLgB5vQ4XFHqGuh4a50Dw8UI/LtVBCLnt4CVBKpk6nncbjNIx91e8iZGwHdW5e2NCijPH6QPwkAw5Pq4cMvVhsJLyIjjWPM7TMoHkBZZokYt0664sVpUtIyJJi3nm/7+gjgzYy+n8f5X5D59SCNPO3RJcLnkwirca3VqhCmt74Ig2rFgQPYwCcP4hxAlr1KR1KQkr/xzsgwAG5oBsUFWSd0VYtje8Ab1fWaw9Hw1vvdv8bIJJ9MjPImldhdBApBbHS/rzue/c7QOId/N7lcNzGb/0ukORd7RHxEPUBTazVdfOpLzsP4mLYtHHBt1eECX9lJZ2xb4ZJ6oJkEbEpjeoxyx1bOxFsoSyWaIu0Uqka+/qzeizAwHWwjwai/LnNHTEoxd8HaZj0e/eLY8bqGvMwdQEeZyFNQbbkdPPMKL3OvL4E6kVuQC3IS3OyiXuyFH1edY+bmyXI2w4stEDZfouejffSOEtZSoA0e6xtwg54u4nWpDR9jq3SZFgybLIxOyjLaj/oyXFhdEmNmV5TzvbsUl1ID+Y5xkt1T2s9R7WqiZPbs0YE2CtKHWg+xd7Q+20uZn+C36thjzhNTfpnQNn78Zh0QHyyLMQ8heRkW18cYvetFMDwovZZj3ZSQrO9QP5ppPs0OBEUGakdI8qZGgQYvw2gQOu7nRpg1U7eRidyUvQUDSxBZhpSzqhg0APRN26XFFKQPX/uyqRIgnfs9AAQ02Zz5zN3Ko8qlNwhCXjjW0yPFTjsbTMCaG8HNwmJmSXXSEg8En4S/r0uLe8ThR0URwbe7tpHk9x7o7GjIRJC/kIEVI6AVw3yRBs7sTz+akKUbDhVHxP1pb22TyurwRjRroakY3aocTOXQky+7GTDnnrgE4Q42nVmktTzssoC0f53GfFK+Z5HzWIQVQgHGuMmICoQIMzqzgyW2WQwKZCh3XOGnM16iTB+MneHgxfr3EgzopISVKovJ5jvx2GZqp1ch5xA1ahCbP+ZK468UhVDx58+umN79juSFwi2lgTioN0GIfWRTZQvrTvcxFqPieOpWtF5CDvfVwGxx4+EkACF4TwgIzomeBcpFMc9hYbiGJBPosLat8vApyuimw/oaZS+r0CmA98uVT6qVaQsukBYSDdQx3yThqE4O4GJqkWAxiy6ZaotS0BHpryPWaE5Mi6O8I5NYGfMiHTENO6tKU5Fv7CLQXlJJrASQjBBGxh/4m+gAiwVPmvtlaVNinrPp1DKxcDKqKqMgBUURG3xgUu2qr9cQ1nyDsmjWQU2OstDIVq390BKVIJiWVRYxEb1YiCg3SYiu2dYZtR71CEoOxkGaN/7Rr3P/OYWGIRYEUw1E335qEaHYVlriZ0PK9SNTzoIYTR7g3fumJt5YUnztJX4ZrFXFgUAIAPIiJOaqtfI/sT3NG0CXAubuXPtCninMtarGSaK3dskcM8TMz5FZFvlQgDI5Ovq53nYXWhYXqN+1lIWIgwH37yKgp5Mo4RWQ6Z9mNiLs3W8/6gNaWblhuGudWRcb7LRdGNsRxApRinoB8NBUsAt3b1kvAV7FvGo2tu0ck1BbWqAjo3fVl80VnLc5GXDkMO1sC51shM7LeSpDd0NWhfBzYsGVaHCUlDCh0T2AgwvMXikcPpEy9Uf/g/KbCk23tKeweFGgXzXQ0U+2UGMx53wkHBwvL/Y71ot5WlZuUjoazOq/26lBjeXKABh0HOfU5VF1QvcXuER8pTD8yB18b3pkZ7sdZ+ZdB/frrlqHDIcrjvEBxFyJjHdyoKCvFvVO97LdWqXBq1DNfYWicxDBnWfRA8fDcGw+QBWSoW9i1eOsnWGqRaswYoVzwytl8LifeNJYP+2Ykuv0IF+OJQ3luFnVIicAWvdbY70kE7yOHxCuiKn3sGyOhGJvxPvbpg35tAZGhhvoQ9Ta4fLKi8jOAtrz3AofY4oBtZzSN2tGAjadNl93tQbA54oMxIjj6RdVTWzNYNZsmpR4FLakuSX4ibUgWg01JRhzE+FZZ2gs1SOlDHuveS3aQXBXOn27qt6p5nQmGGhBqoHI8mA5o8R6mQ7mZmk6e8DHV1RiBgDgm1dlhviCd673nDyXIcgrWS8VM9ZoTlzYuoFKtoB+FILTUN342j6FpPFIvUToFmnsaX9EnUD2VM5cHlkAZFBFP1ZiF6Q9RMNTDxjc1osigAc07nPc8bRrVqv1GGnE5EyQQEbDuv5AKOADMxHyclVrpHPSpL27sw0U98NfBIFiC+ZaTvNf9SP6ox9JHK6P/ZIot88ZGTnl59iR2U8GGcxwiP9NCGOPc6pLjNPyau14t6vi9i4XJKUnRNoe+SHg925cAGH6F3TPrA0CT0Owsdi6Q/MbML1N6yRefpASO4h9NQx9tqU/im1kCINqrw4+1gTEQuLfzIbj9oIMn0ZaGg+S7UM05+JJIWruiJVkvsAYk1T0bwpUwnAJMlU/VR3XC7xIDBYXhIugvGZZrZ/7Vs2WLTOiZVrw3Ut8VF+qzjJ0Qr35H3rK5AdVv4Ppd/D9uuKMScbx80b1h8bwsWyUzg9yDEI3SRM+vwN5Ng61MM9qGRwOnCrXNrbLK9GmXj7Nkkz9/0kJFvy8MoP7X2kLlJDGiuezLhTQfoiJlsFhMNbqySePbasG5rwZHPRD8mZ3B4meDlcKgXZF/pLPTPQppRlcY8kYxnZoA4DRINWtEUrLqESC87FK3BTNYno9XG1jajKpYc4icVik3SRdqX4nOnPbUon5r3V1DcgTSpBdtDbEZXqWYrdX3FI3tWcuxLHhHN004IYyG77yfeYUG7OVwSaOhsoJWH7plPavdR9gWnqjFllOXPRqaDAjLqX8fe4pVEFJzaqosFiYfi0qk4WJiFAsipT3du/L/YGa6OmKqkBLubp+z+lAFtRsa2KuM++Y+3CkH2EeW6yK2q/Ts3uNF0q/c+2wlQeqUBZvGd+g9UmpFxn2/jtaTyKrC9MqKZi0MxXIEPLolk9rBO33FZiCnSOM21dbrXTcSmpDuGulygQBNzyvnJPguxvwABpWkdopmeaIfYralutd7onZ6az6ReYYtkNMBFCMPwN7FAd5QMhM4DDo/DoWDuNwyfs1Pv0uB9eT3V4L2Jp2n/NXVAKGVjbqMUV05uSJAErowH1uOVAk0i6vv6VG27Z3SViTjZXKLVIj9WPYgJy431PWR1UyrOFQvAy+bmnjpV1dNi50dG21HGJik7WMAd/j4kJWUFDMaBI7r4FNKI9Eoj4uXKZGHNFndv1hYNM+yyJz7T3A+TBhd+ScdpWJj4YMIzphJcu3J2tYsy+mpWuzwDCxOzsoWfYZy92kPRi90vjGc0Y2agvRZG+0860JhbuQUjQNhcDr8AX2DMuRKuhePPKkAcGX0TYpPQ2jOeov8yd5mmsLHqaiZhhIA0GCk5/ZKs76qx9/jSUJp1tu43nS2VN9tfP6T1T8K15Ok2DWSfuVpDkIBPdqYNF0DNSQEqgdwpWoCGJYizQd/+crruNrNi1XN8tHyhUDYOn5V2vAuI9ZFQRwY5YP4cUzGnT3oEtJEBdraGOYQFMuvZEm+A0Nj7/YSZv5dx/TzDqVbzrGZ17660n72dKJGhF9NLEV0ygQkhaGgZAam7/uurCCbbvsYnBy5jA6jIELYsULob2OpqAGdkEryv1Ypp2rbv+bf484mvOgP3sbs5LI8DIJNXM3UVJidR5WlaF5I/4WRLF9i4mwWcjXW+jhdE/Ug3ZsDXFS3gJkqqhussCR0/N5swVcc8NQa5+9BaVKUS4Eyvdm574FSW7CPSmDbYq2s3BtZqOEl3Ic0E21pBDluBJ7AKQ/bsm6NqsjfmA93FRfh3zNOeqMLzn3t4RT9RNJOJ43SFydTw33ka4iozzvw8HlWRbQgY0kNifrlAPfC9zS4QqpHIajMlEx2ottPhCJiCIEQy0LBP5BPCADIZWRsJMtg3Wwht4vDb96X5eq5PRYVlN1GdR4XbRriLSSUHOoGXJAf4eNvOOKgR/2Nf3WnWHnZUfuKxqd36OnxTbdC5mqnRECYkRZ5JaL6Le+mKGBUlToCb3M2u1bwDGGCtu7f9JeH0Mrdk4HnsJiP7/rIHQVVRU+bpI+2wODSRr00V6pYsItQvbxNQfiFLH87UU0AXx1NGBuAfzQjWuKV1QCH7QN/MU1rbikj3YDOOQBz4tMp1WpYowHhJM4jA0jHVyiOlmVwtvA9epqb6pTDc4mjeB+XNXCWxlsmy2VGL1xhCfebAtYQ6NWLv1lYCw3lUL+IKC+aYExjS/C4HudJZmyyDaPf/PD7l9324TfYkIoa6/Wa4Cor3yC7ch/8TFAmYGsvLpda9etWXaoYLCaxGRSO0P8HDzUz5AUrsKizh1HdDKvfDe3grTRHFDkE4aSoiq3PoOyeno1HcLW9CrY0BgjjPRKBt5IeXBBhfx4QMlPdwVznaeB1mH39A3nWqYGu1qxj4ONYoUoG6UtP2gsAGZGQujFex7wZsu8+0rbv+y5+Usy2ymBKfepHzv0CNFOd9J+qnxDUWNRk29DVwSruuhxakC9GPtVkMFIbX3bLV0fqgL5eTSr6JO+fiZo99slTFx+vpULsfNHg0zHs6GI5VCT2GtDOFWpn6UfkFERs8XbvsN8GhjOKB7VfPiNBtURInNOPtC9aoaO7hHh78JpDNLFIgXmYLMyZJBTPql3JpLdJMWDjoEtlRgAJlwxBiH3O4JxMD+I+tRmqBLc21Pco/ii4cxJGQq94Hs/9HixhIyF5FBEUlUQYnC6ZU64bPJVhtvIMXs1K/FSgdi+qAkMy3EnIYZI+kRqXpiW12DcnoAr3YW9m99dXSnoiO++KmGPuEzAvCUfU6N8cI8KmWpe0Y/Rome42LnJCxziV58aMsp2XXAl3h+v+XLnVf/DYTG5b39vLAHIqfByVbzFHYjueD5CcB4vZICXm48YdjsYIRXsjYey8jf4CKWmWzm32S4+GfuShY++br0lWqa372HMJ1j+ZoqZje3/T1alPS0sjAp5S/oj4SRLUWUSvtY5PtRxhOksZzYbx8uXDy9dZh8QRoqV/8A8XXTRUrOh1HrR1vFWyS1T6jR78/y5i0frPozE9pLfsSzQzGinqdc6LsSuVygNBOQ80++vByAjLGyMkmlHUuDswQD5aQYefShWSe8HJsRea8vR1ZRwY6eV6rUPCr2mUswoZu3pptAei3tBRVi9Id/F67CEO27pnntXPigNFTskTaSp8p0JYv9WyJrMs+EtrkD2X0Sj8Brk+T7dSHieM6LNkbERMZUK5EUjS9Y49F+g1y+LOoeAapoRaJQo/DpWrTcWCI2zxHfH356wDmwxwuyNOWPoa+80TjnSiV2fosu0rBDmFEber4wixcHWY8wkn+IVkWlD2SSepGjlZ3iAF70py/SxpkLKvGhQ5FTKDfwWKItau8/lUw5XfDpXa2CFWPASwk70a96SlH2N7Qoh+lILOdjKMWqN4hqmW/4vrd7lZgAKKTXZArw/kpjzxhXDpxtAhSdNhkckJ7TYoMAPsM2U6VNKkbpFOn4VfD0y/S2CDdpgE9F5mrdV9DMpetamulppjfKjNeHe6aagqWvnnORzfMVq/IxID0OQAg+IiIa8BcwGraSEqnhz1ODHvo/aNzqWZAyLZDmHPGoDHDL3FAXf22yUOHhoFS4gG+zXIzvWQ7DJYtasTKns7vTD4+cUCW82LuM7SbqRyFiIzKRcEkFO6IKdYCdYr9SO4mmJbvotx7HxQmZIaeOYr/sXub/g3IGn0au8Qb8RZknw2gWmbJBjsCzf7U0xv+BKRjRJ/yLE+/eU5qPitN+1fqNa7duQCXHYfxvqoZ7jht2WTnAB+wl9raFjRsUfpmIaaKZcqRn/W5Fe3tIrtcDAEwMYalYQRoTWQDG6iPAr+VV07pHX2mIVn+Kj3eDMOfPpKj2KUnxWdACpq4mWXfQENgoP32pb2FvBx15hlJ/uX8E/OfjfAc7cZQUnenO7wIQPTZos5f4m8B/V5xu9uARtt/5znKW2APsu+Jl0SagUp8q/o1G7XoW9WzfBQuoETd8woRoFmBPysAALTWxJeVgvq6eFxvVDkXV0riuCJkdXvlX4p1M9OhBMciu0busvigZPK9AwFmYdx0LlIzR7uJUpBkQ588xf4THqgMGXvhyPsk+9AcF/OXUNAkdIM1VUNmTCO+RObGzbBVIPDVrt/h9U7rxY8R9F42nDc2pXyGvA0hgOnV1NaYUvd1XRjYSqhrjTVjKaDgBCbHa6opiJGSBw3mEOdKo1T5oinuYzeIPsVr6NKQOoIH5/EGp/YCnfN1wcqQDZH/BUsvMru2TTcoQuOjVOQofKLuLgKU/sApoC+MrseCQUs93/VVPfAe//y7lYG366SUa4jM/tco7KCCi37BiWs93PqdK9c4cSohuFIfuoPxzKg2/gZJbGgTN5u0TSDZrX5UbPaVrKj8Mwq/GGhk4F1kpiOTtGVN1c/WGfMBvaSApWU1rawNmKpSfCTVp8tO4ZucFdhuAYFaYRnxi2QpqLp4TTLuFmpf8WzYvUtC6806orViNiFjClx6aWsHzg6PihmZfonULILKvTlFwvmnJG/1ER9S2aVVJJmzgI+uyi9xzzdE3ZOKaGUceqi0PnXQq63rLqoxyPl/ckbP1+Xrew8xLJvixr2k1/1xGirazDwfxKVhgFpVWOTx5fo1It2nlyMdUXvUnljaSh27pBKbDhl34JcMzU0hAN/7Qv4TnJM3JiTJ9UO3mwxjLGsJ/2RxDiNtx6o6/ObHCet61wgkGARjVAdcvbbaH3G/oVmhRg2yPfib8lbMgqrWg7DxIDMT39SJm76+0GefMKCbgHHESEvW0NUbjvecvWh5arN9oGWv0EAOYX1K8CdmdAX5Ibhivm9Elcqmss22nlQAJS27Z7uvliNAPzKd65xeb06qyr98UZId9tXwAq6nnAXP/Z2sd+EESOyMebFKsZAjAVuy4vLZJTtJcQCcbR5+BpncDMDA4Rab4X4TxClJeeWvPXGDQ4bn0UkCku5FvI48G5ygjNFJPlodEDhZ7MG9j6veaCtje2/+V/A+hzPTCkToBF9BLyN05fXSiJ8SsNQHGkQwQzMddk1XwkmyYycWGaZ0EHmcv2/waZ103UqzjNF0zWmPDGK2J+u49NsN5SIfw2mwmRs8BYI4PCAvcEh/RwHmgc9avgIYxw36YjKDFYBzgGMBZv7203UAj9GceaLPCj1nqVgfyLWFJIX/kCe21TLqPvcHYxPLUD3gFl26uvDPQw8xnyDCep1gx4ZJig5p0zir2hDmAMtcfPpVFKEecm28HoR8e/U+yclbqfzVxjM5JSSUCDK/mwslNKlJWvkd3CdMyyX4mJ5u1C4YlvMWJzNtg8enfT72Enrxd7j2Oa91XE/ap7I+kOn2Siikae7McQ6cl5aPmXE/RdO6h1+4v54SI80UnzYWPyK4zUc+KlsUvUUg82jcxJCj/wypEVlcYq9KvvBEH8XPm/JglThlIaSKglttld2fW0l+MFcITMl1Fl52VZDkvbnUHS6JYcCP0rFNub9tOBn5hQt1rYo+mswmTPxfa3EVP6rJ/WBoOnUQYn2C9lkQRZCW4fLCklFf3ibwZqGybu4W1yLCSD8G9K5r8CLQ5t3fy1pvKZaxemGCF5ulsGSwWJyOebqEwtGocs6z0XUpIB7Nrh+e1Upy5YG/URIo9PPwwdTANngIk2kvqYHzvetgkLbYeO68SuQeTzYBAYgHeTdujgedasd9tdJGXR95KceKxhtnxKM5MUyejRGFrSzlvCkCg53cKDnLUHH/n2YU+QQG4y/Go95Q9DSYH0EH1A+XTMv3suTnh7/OgnZzBD26qJMG2WT/sJ39YSuF1y9RyukQVqFcSqXzoCwTCCBMh7V2xBqCEnXAYHWFG+Yo9hVB9duJJftsL4O5S5PaVxSTq7t8Sv8+hx2NYDk2OxWeQYe9Wf4K9WG2ytg4F8LeVqujztO1g5rjIWSW1g9i/6rnLYr2e63IKgPp/ZbueWjLuvpFN6/zIUBrYDiQOCRU73h/ObGahfyc+SMkObKmEBSrJBmnVTSSn7G2yqtFIMxvflyyjyMmpENZ9gRzgQBmc0NhaQyLL7hHthTrTNfQfR25x0aIKGFDWLx5KvvjQEHwL1sKjFq2pt69Pv6c70bRH0vBAWUr2FcnzNp6okM3buR/L8E60y1G9jNBqBqhb13VH5a61q2o86aTWr/UZ29sCU7yDPxumlIuNjn4xtnyRdzoR6E9rQZzitXDd3fhhFGt/wXfkawE0Gepvir4t3U+yu/0Syp1+m2vgC2zlGfMEyj3RM5a2kHijq4p7+vcLqnDflbsKQeatYHmPGpsxH6jPqN3bbTDqq5dLbOWkpzN5Ko4LKCUHOOn1IksSSgu/f3vgYyBVSFP3oTBwEf5+NCKhIBjyQqP+FRX2yGm9SmSFRhRJjX4L1xsRIOmX22aY9MMyv6TQTe4GYRjmyWQKm/DITsf789yzG61+IG93piII43nlXxUXxSnW2p85twzH5GJv/g3wDx5/Y1v516FpIWHlL6//FyeXHsZ6awBDlhSJpffuuHXmEr0eWtAGq4Un22245Fcoc6tF9G07eTc4UNT7hVduxgr1fOPaSm5jNHWrV5ZVzyx18OnI1wxTOQLdLHEbuh7EnWtC6KUTzFwCnLrW2tKeSdk0xqfBpIvfGGNE5N+2RQNUjJ7troL1cP8+6C7yHCr7FSjPbWMGBO6/oD+WYA00F58hstA3QxiFUuHbGzoc8pc10BhNlV59eoE6bLFmvLui/EWrLy1ZQlyimZ6RJSjO9dbRM92wJ0+rKgXQeXlevmNgJgXc3ZTiCbxpkkNo46Fr/3A2OIPTq5piHN6oFI6alS4LMg/EuLVyP3/sSXLDKEnJ/uIbXjiFtHZXWFv/Ahy44USDMEyhrVyNaDqzgXg8ZSh8zhiUoEIEpsVxp3ZdKBbiK0Lud0Jj1UpToqxVZtVZBk21CKQkpnRG2fBxZIfbeoAiSYvuqvFjGUtPFFQW+LrW1cPY4qpbkSTq9WG0cPgWXVNyRois9fxRm3LAhOXKMEURDYJpkl3NtITAVfmQ257cT7wcTdoB8zsTvKHjoMTSsvGgiI6oYg90qdfFAJ0K9n7HC75HY1MGllQNzC14KAgaw6+KBYuXf0uxDU3zi705awdDJfBFbXh1Ca1CDLU5kQv7RASt+tPRW7FACF5JuUro50z/i8VKHW+YD0jG4mGPbwR/p+Z7bRKZ0W+8kZtxRJg0pxAkv0aDDLURIK6tTjU5PDZV/+Q1/+Q6IdUZA/7JAW8llSd+EFHYCTyXFCoYdq+w9SaF9qwbo6jeAYaFrwf0Hj226SrhUF8WgZgjtwzQiItYXWVbJLnOt7Qn+goRs3sxlRPZ2BLGmpH1DjdcSeVqJ10w3pLrkDK66n46wuAGUSnUdHBG842DxUjcXO4hXOX97cJj2ZO6WRqXtGru9PI/W44YEINYVKsK4QB0z75wisUQkX5eFNZM75OhWZqv92mKKryBqB2QKaSRTPP9iwgtJoktnHO+ftGKq66e49l6+Y64+yIG8Ed7Tl/KymbW242+vYwolJJpeuWJuZ2eJir6QN/ZoEKMydgzCRhX0Pb+jFVLj8MAO9LyUrp6l2lXbue8v2knW8JvSzDMrin65fMPEgzhZgWTnWqscKIlQR55VsypfmVuECGLP5BoZ5SGLuxLaoSEudXpW8qEUJPG4vsaxk+FMHfAwN52UQ9iAcMWkA1jKWFcmKs991tl8mdbf3wXhpAAJlhez1244gv4/ctO8ILJQSaL3LIGioPxcKC8nwuI9dU55iVkWchgxsrfZsgtmECATr0/l1T0mweW9y0NhGdodYlec4hpodTfZeFJ+4GP4c8MCoTkPAP2DDMWiRNcI13Eilu5yieJrE6EWBeGgbf18FETVOnPdQcqbVDbKjF/Oxsyhp+8zaYJiNUddHIZYuEj2US2Tcdc2VtH4JeQMLaqL7NPKzrx0eY27hgkvvKe/LTDV0Ll/7uSC1J+z/dAoT/qQYzThZviUkWfQtbHd5QBzUSEheworvo5oruFeqDyYSat1MCh03J+SRfdWctvCbLLfNw5J6nq5LxcbwRwrtuNMoo1Jac5OzEr8yd4YXFEnfbFD2iwMv0ALqXBcn72uL3LbdCtsvQpj2qOGjwDZDdlW27W9XQLP0JpxNN95qkvd/2yb+J6r6XVGvG2TOH7h0OKQWWLLrO3Olw0oXycvprJtq9pv6mDzqSrek/161u1DUkpg2YZdv+6CFXexBALzCaetsOOGUcIbAaUjLUINvFVy+0eRdikNTU3GwY4+daOvMRhN73PkiTH9ch3IEvl4Q2VoAynbLAV5mqP/mwpoNNLBCDMBccKlKRAhJcQzbpvD00q6X0i/5uuu1OR9Ps3vDPO/3Cji8Ew74V0K/cmVYLCna2YkyVCCc6VC9wNb+xaYEfQzhwJ/Qv1kG2+hN6BEmtFaz48iB+gMBU2y56DZOoKsTNJTo3EalgkrAnJzdAIdN87dwXtb7R9sUboHEobNIdU8R8SdM4246Ho8U17+QK6C+G8oOnzxUDsCpMVePJnzUlugBqTriyzJTabVqqsIBQHDxqIX9OOwtaGU1bY5NJ20Fyy23m1WJQmAqpJwg+XEDaPFI5glnOf4fh4uF6fvmCUW/tSjKQb1fuVDIEpJusNUS+eB4hdGmMEVffURueUxctulNq9orVkGchw71MTUq5AJSOcnlo0M9i0d3W3/fdZhpVWD3kER/4t24VwPO61U1dc66cpK+ACROaEhehpgJBOJ8G7oOs6FXsuaeoI5lnMgF36uKAZj6kD1rrONVQxQhHIU7gWJJMYUl2/C3SVgNO+Y22UoyTamrci2DezbN4Gc2DXjZJCVe1KB5B0DGTzuZ5J4auFPhFRweBO4X349M/RUuyHnFIkFOLMtNVrGU4MVnBir5JwHXF61vbdmNZPCfWLD8M+ZiH9lUsP/AZFgPbyVd6GJvetDN9r7W190CGbDynpWByO/EUlXebbHvNKUTHwDvKH0tb+K5/ZGPRNVST8AeUkL/qfQMfglbpqJuKepSXvnWfHHYiFT4DliFdOeIAmEwAT3578PzHWLPgWZrx0spSLWQVACBsBct2z9Byw30E1UmmIobWPFvy99xGBi+DsuVNF66Uh/rl3V/K5YU9itTYnN6zdcPoth7gIdaLHQCy24DMEpeBxf0sh2TBbvmicr6+0EKJsyaXF7RDz2Tw98UOL19dM4hosMlu3CXCfqU3VNLxIJj7QGAqtgJtrAkM1G4MIneynfFdN76IZz5izpqNBWxMaUG+pA1KJpN8mYzqT0iaU0MRAq1yNmbZXO5GGVBusiDqOBc0V5lQZBkd9Gmf0o4yibzmtakYnT9Ai5iikBQdbhjNoWFUAt91pFhKvzKvBGcS84f9Nu2PskGOTsAfoYQKsGc1KwPbg6QIKzx7xYXU0KfEOYBnLpJ5944uEp+aZWos90zN2Iyf3bqWa2oJLohr9NPrcMAmyQh8XcTM3JbDU5DAcS+OT8ceReJhOKCVT/MElqZMSM2RBfz/rHUylRaDFNbbq5fJHpKz2YDBXrjoEXl6MOk4B6RwJoJ89AA+uTRiMNmN7Mo1dFVtT2OSv+sCSibEjsLwid8o331v2xwO9Ob/AH2Gqw8Afz1+g4cOhKaWn+F3gOjcQZptKEDrCuJGte9+wRxJNL1xdQbyns0I+QB958yhrr9LMKlTV6UqbkZXoYfWpeW1xmR54cOFKaSwtpresCXhAZT6ixBeEDfYDvxGwuLzX14TdyHCZhjNotZAo5YNuBLLjW/p64aNoUvUDbJZG8e46jcC31ceZEULzo7dkgWKpQcHLjnnBlQITadzpRyQGK6s3dENm9PD3TZEh56yX5PKiQ9w5iM1cHOXdqUx+3XZH6iqA0YyNYIbIIesB7DUBJpKTl7LzSFbOI8L6+nPZ9IPkKYhmBKkNx5HmFR8gAGchpeQnthMGo044DZFxCPf5c+7CArqYuBgt9HmCyT25rkDBSqOniy/V/KX2CEQ4rw5Nsw9JWDGQZ2/oLsP68Sqdx5rhzBDtGdn/ID/yz2sJXdqRz6b6uW+qkC7BURK5CclLgJQ9LTOFcRlyD4cFzAfcO4LQHirqwEKjYgpl90F01VNBunU+P+LYynQhXvOOJAYNhpMJCnMuFaNU8+4QXWkqWlMpL/WMJ+7Quu30ZmyzzJVlST++Kim5wpKNHEmDkdWmrth5FAuLu/SOuKCT8Yt6rvyZk0Pkd2M3uEQ9TiEbgkSd2nQTowbegXJ9Cc4jOweCfp0g5y/nY++CeAvUm5SGXtzY0FvO4PWzaDVaV+LzT51QEIIt2E34J6dJ3TcPm8/V9FE7marXSvnTz2LTLhRMSmYFyq68jixzj+oHU3eJori9Oc76Em7cT6qyLuwwaS1Vvuc+p8ZMvFCo7NPaF/BY8avsomC1B4ANYKHs9Hd8VKwKFa75dT0vqZsZYsJza4ZnKzGNf5aPK5uIKrrdqQdM6MvRIN5PQjpM4PjbkDUfiZixTEoczEaS8WD9nB2CURxAtftnZ+t7n3Nj1bi+JjjBFlPQsUFQ+3vd5iA9KyxUAxt2o3g3LGDavMYSiJ2/5Y0IVZ7cIDKqwhYJItxzgQ2X3w0bpYW3ivImREzBnldIzlar/umMr/FaVXg2jXxgd4HvMu1RxJdEKUyKu73uaXq5RfXQ1dBrEZWVd32q7yF4zHnPsztyCNxxT6zX/h+7ESIYnJ51GAUGdGxqWZIM4yACuzNkqcQu1XP1LlahN+1UW7NTZ+kqChCuf+y8gWgKn0iJokumTGtx5uqzKZ9YrvugvqXPnvWGbRI++geGsSNf/kyOXaFqwcSjzJ00M92ghkgPciuS17lPlnvPW4v7q6I0IyTMMl0yauu2+cm+H0cBbL6n6YJZVnqo2DB683KUp6ZPGwqBqFV/ooxfThG8BPSv+z7FXuYKxWZ0xitlrPlGmEHJMCOCGAjLq2xSM74jVvP3XqD+h1R1G4wYDMvhhZOhFY8zGryzZAK5KBpXC+yp83NvGDjo9+zSTiYPcXIGPGei31CYEMZcOygNN6tgZTKToivdCeLdww5/R3g8RvljEzS12B+3mqFCxglkTJPAJP3aQwPeDyuUi32zSoVPpbWw5+7PtwO/uLLN74Sakkjpe8Ou6aah0aWGIooTvvaX5/tsfwW9eDjm1Yjn+S0qxU5vrkosY4dRc1FznLQOw2AjjYQu4w+YJGcBSc4nWLAOiGkXpIGbLRAJ/UR2sZdlysJaKwUq68RewWRhKHUUGeRVIra/Jm4mZLLvTmkSU/0bkGpx9b7ujIDQjkTr6rdoc3fXAInjxfhADafrAGDW7c2lPsCenhYEF0/hnLmaCjDsGzIJuuRlrcfArU6zIwHmDkeFrYVVW4ij03+mbWp2FyoL8964W9hg5JHeswp7pPJMGx8zSld8u+FjA0zq48cbNNbpqs3SkKv61Ab1BJiR5FOn53bMkONRbnDVmt7ACp1rmKXglq7XjH1i/lNUDWVU1GIUFwKcFaaRHCWsaOWJwwIVMtYssWV8KRGbO8pJKhwT9AUUBP2SbB4rt+HuY6BAFgBLIXTnZN1OaY5OkLMQq19coXQNqPx2bS8MMlGaKtunIFR1PCR8o5PW4ytX+PY0gCn0v/8D3X3lGGQNire7yMft5NowldGPsZOPoSScIYSnkR5hB0tadp43d/8I2I+HTLbaCX8S63HXKZ8hMcHi8NcZH5LkWbRL6kay0wMC7Cw4PdkYBpmm+E/CwQPKI80T8hxBtleVLzlzb7MRzQSAdltyIL5tWJ/baRoL0glK1NjV2rcvLDBfUmVaG1gcM8RCPscjnVBMwZQ41ofWDwrNpjWuW2MY0WNe66tqGZH3H/A/MRiLqHzTpfe2KowipIDlzbl1MLkWn3WEGqAHVik5QM2SeJhjgdUdksqwizNlOgtVxTtdrSs1jWbELxL1d/edwo15EpYzbVMg4UDxyy7hrcpSa/etDYKoeL2LVXnB1A65zi5pO0xPWCIeSeHIiTNwSpjiDX2wsnC38E0bVi2/sLexh23/0fGCV8lNA7pAPXWIz8tjqVzmDjU90dHfgF64J+sCPRmjf1SdP5iy8Hvi+BgcAhYkthZEAIu0SOnHt5vtC/5I2qhPAYTrkww+W+yUDKqsHeOjzlmqwJGJ6wEe3pj+gpyXX3bQuk8BYM11rX/P2qmvkqDQ8x2ibut1ko6K3zZ7/w/40gn1FbizuT2uPZwcGSLmkQRNfAhSp0NHUTnm/uhkUakHBm1/RAw+pGfvUv6H4UkSofneqacMyL/yN7oBZUkpv7Eq3lzoObHPTWPNxoWy63SrCXVH9s+UrUQ/9lZ1ecfvl09FahSX96XkRTUSwis7qf2z2LLONK6cL8aYpXIJ9chUFCnvanDiCiGfG8tU1FMmKS5LSHKIvZ+61rSvWfT3cGi2E/xMH1ftFrgjM4aWbikb7i+7DvzSeeamrhXaozqOrxSqbDJA7Cg0o+BbeGewvHPBZfGBTqNLTsoA10pjJ48kTTSTP8VKwLnb+5Ies7sqHPfkRYwYoAGJXB12QqR1R0FnTIdA7ZKoM7RVrPGXHK8GT2IrFexjIKFatGfISnQg78eoq4uy3uGkxHbE/yKYmz9IJu8EfprsuxYkpeAuDGJvmdBXm6wRcbn9wv3/ragy2Ztqw6RZi+fbZkxK/bp+60k/5a1gsbBc8wBwUsiJjxLzwIl1IMdLYj41xmmB0+/RTZYVpUuojZ5gQkBKo86SbSQhmqn9RdUn/EKxyDl0xNTrB6VoKU2cImYyEd3738RV3lwRQmr9VgsdKLBXRiVCg59YKm0vpW/7TIiCvMvUDAy75eB7N0yYcsXWNkjWOoTJGGYLReRB6QN9Fu6Sg/z8OHdNjdXBlJ2V/rYRYzedSpsFYM2+ooESrU2G/KUcaihpFkqVzQQAcrnGIQTjetfabqNFxBWI58LTWl2zU+iy1K3vavZFHkSkpwRFfaSnS6zp1POix9gcRNXlDbFy0RJW7qsoWre9IEAnK7r6pTjV1YkRrXaMjpki2eTky66C80FUzZMeA0FgPVSlC3DPvly6sUZ2mQ2lm1pone1dbae1sl2yVGgRMROrFr/aX+Iv+VA/D01XgrCbpLDqViyzeECo2nDAWcu6n5ro+KNhzPaG0MwtkGnX3xihqfVfAktBuJgnnD5diaYS0RlgbnpylWaacgjVYV0GT54mL9YDRfqc85LDJyu99/2vjXG6j25wOGuGETIck2KSQUSBckUfVzHUEGuztkysx90yUNMKl1VyWf1fvsZf1A4cw7OyWVfMxxdRJuWXwCzTWMSwInFzjgkWAQkWvdsilf034RWLrD9k6UJbNQpjcn3d+9TBRt4XjRV1VILFq+AhkaXHw4Gi8f4HrmJ3DiqfU5gf4PaQ8Yx8TYXkuf17dGWmNVc48R5L7ulaA7rYmK+iywX+v2d9zw5LfuYvkP3RKa/aPxdgaJUMQDiPf07q5jCmH0KB23j5ymq6WXi9qqSMn+eHX+xhUXM8FlNKDUpivG3a0svCG9BuS/kKKLpXU3J5i42k6Y+70FO5X27eRDqOVW/1ldAtqGwAlvCgcx9RrCTrLgFibODtMMUXdM6R4i7NxswYSTRxFLysAiPTKcre8I+3RFYFiwPBdZSQusV2gudzIajPjNyY4H7d9BzmBJiwd7yal63poWhs92+WJAkDZReoklaQ21WNrzfH3NkeGJ5HNgYKeS4linkoy5WUGB5ah3ajGowtSc4CGNns90IbiIye1BLaVvts1u5XQ0J+aVOLEGdL0a3yRKc1Tn3wHnDSN/guNgZUQrkQPexo2y2LkPCLYYpjkJG1Y8OeScfU6L8OMP66w7UOSPXVWYQa+WPlkbZevfZyHvtDdWhgXokrKTqiRCUTz9vdkz/eCPHp8fNVY7R7yROmkRQnhM+9qYLrkv6bOhG7bNRblkwOMTJJoW+9y/i51Pt7HJj6ep3EetrZ08lyR0NRELQMBiFqkIGXvCoYO5dVjlVUMb3qFC2jiu881+69PzzL8nIL0aK9ChMqUy8BiMUQWf86A3fsAs/nxXsRtxrGb9wduikijrKpyNzfrjEMulElpgJ2+JrJ78tgPflaeOS8xeZn4WCl0eMFkZ1CwIOg29vosDAGwfZpY9DHsBLU/aA8ewrXCuRwKaeDNRy9VDeV3uuIRImfRBIpw3NXjU1+9lvCvaNdmcjDcehnsA1gd56vtdmjcf8je+fAwtTiBKmbV+T0/mme4RDZd13gPGbSjf5Kbya8Qcc1BYVTWsWOJW7kSJG9PvVowLfY9ja6+EFlKzj7hCaFwl2rSAo0FrWx2LYFUGtdBbYA67ZTylUQ9MapmHrLm0HajXxO7ZNuXzSJBLM/vi4h6Dpr/okbJWz9rf782IAzGwG9wH2Xvw8uQiUZa1XQtGAIzU/zkH7FVfKKdlm2+RSbJJs0lXRje8aoS9J9GpZuzWDOXxLLxwUwVO0PA118Vevzh/HQeISkTjxTMnOXm903OVg7yBIkT2w75/eT2lAM43zPXVHZ6tz7DI7ntqe25CtoynOqrA+yuUQQ4dYm+VZF4I3XAEFLwRnnIMM2Rt/smozhydJBDaqpEbhvhmGEisgBgMT1P48w7HNh6CKfnR/6EJcFH0EWUh3CAPlX31kzPTL1hE2qW/2aNu2AK0qzuz/HLLlWI9CWKyzckntlS9D1sOTkTHUKhRPrg/VXV2oMcphdYqaufDu8TF3fImfnfdIxYIRwFuw+44Gep9V9Wr1k73ZILrhYcXQfFQI7NU2tRBj9tH7G4rmXyIHcJZ8kRCm4fbRT8B6sf5r+qrbiiWWLkW+V6CoJvpiCegIdGaZSCNvOBaBRJHiun02lva/U5dJKeHn+jn+2ekwyp4JHA4Dd99X8TY5NwQYDk8vWfS84lKDaJwbTRW4NIhrU7+edoRCdWoj11+3dtRQ6eGw/hAd2BXIwML2zmbZgR70hWR4CCAh3//dEpg/2adt/GB56GfP0exzv6teeJaNQGtcxsb8m/iTqbAKYBps2a6/p0lLY6fiqkstOVzX5y2oE/0ODNIFz9TfLa2C69mhpWdu17MgNRscCVT/l78XYQr4H6W6iRH0qOHxOlvke+VXb5Z/mlKdgMsg5cJ0Wbv+xSO9bwcLZOv6rabTJ18fm8HehJvX2sAiEFTebvek5ZF9ykio996hFeyziTOSvP6Luj3M3WErXaJzQ3yDjCP/3BWbsam/Eizdl4JIpwimAVfgU8pnYW6t5onR+q0kkO4kXX8AMNhteDs2Rb46xPPiFHstYRuka05qEeG/D5pIkjmkC+g4EMspkVhYdCHs+p0YpuKfGg2Cb6AOSaP6uelquDJygMzjaFBWokH4GXjnlASZ7e5VdVLwPt962pplFi4N3iPhH/tpsTdhnYTNhsmO7uIbHNOu2AJq1FGmLCm/h9N1EUl/KuwIVgOJYiq+W/DpjmBQ6AaokBWojdE1IibIIva2pohZFrKX/qY7I0KLm6jDLIg01zJieDJL/M9KEPLby1BXlA2ZwRXrV8Il6TfZ05zW4MeddYIUG6mcdn/eARmj2JQk/yOl88qXPS2BR/DanSCoaMjf8YhgNerMd2gbz/PXAWLoM0lxcFK9x+oS0CGW6wGM2N1And9ip3kXbamDBqzcnbt0+5B6LEz5OFvkRcnXI4FgBPZmgBnjhXrS71NAbnbnuLdfZcePdtUBwHeDdRgYeVBE5+uW7OiqT+ePmxuDscdhnQY/BIyayVu8SsW3nFuepDCIDoufg1S+rijcW5T8ffP5UJl3k4b5wyE2A/3Y8Wcn6M3o4kgqbgl63rvVjriA9CQQ/OXhbwDMgEaTqk5iW3kih7j6KW0n1VCxw4eYtHohgs9phbn5bSisxNz00alv+Eycyc8Xhc/iJgbRUr7cnZfsOVg/OSvB/4ljXH6eYWZK/VzlRq6sEY1jg2/0ykBMkkUHhbE80EZBy1GWbLEQofiMiFyAL7kHjA/YHaFap5MJdkVK0tVrjwoDsCKbZ7rAznxUyeM+oX8iYsepO3zj5VkbNNbl/PV1+7yZ3ZVGSYM+d2yTAbIfSbq5kR/7ZoEQ7enzSNsasNw62mRyA+0AfEXuocpp27tk0t+07c86sfdlMVg9x/Qdd+WjNMwYzfwGWkRBjTNMJWhi8fPqWv+3hyiTVwEZxtHEictxkKRERAvjV2nvz26hjOjx+dSaZQJk6suRHdlPpHaoAE9wIkqkdYPPtAxuor9df9atWYzQfwiWtrIVYkySIczHInOEQ2gHhfl8B2cEUYd8lTExjvZn3cAQjtGJRehfSTUSUtsIsfGXZ14OAtr2lP5P/UyeG84nFlqXEriL9A+bnG/xjM5C7TIoS00WLUb+HqUlOrZ86p5DpoZTg9KWCccbMRu1s1RifcpPt0ZsNC+4fiJEmXn3p2gnyZXWmveftZB8AOK5IC8O2icz5t5j5r9353pk8PZjyS/GGvrPh6Ytx5PSrcsScdQWfy6MHCCLSIoRw8+65M1FrXp+ik0OPsqiIVHW08hvbBxC5pnCtue9eXQfr5JMZxhLRsf02OPB7x+YZaczGN2/tpzsezeamhDnHjKSBstLdq+r5Ssrx+LlPNy0pHSDICIhXTDTp7I7srwHs4ajdXBKPa0zug=" title="Mekko Graphics Chart"/>
          <p:cNvSpPr>
            <a:spLocks noChangeAspect="1"/>
          </p:cNvSpPr>
          <p:nvPr>
            <p:custDataLst>
              <p:tags r:id="rId2"/>
            </p:custDataLst>
          </p:nvPr>
        </p:nvSpPr>
        <p:spPr bwMode="gray">
          <a:xfrm>
            <a:off x="306135" y="1076526"/>
            <a:ext cx="4016949" cy="5211286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4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5"/>
            </p:custDataLst>
          </p:nvPr>
        </p:nvSpPr>
        <p:spPr>
          <a:xfrm>
            <a:off x="4450863" y="981194"/>
            <a:ext cx="1054870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6"/>
            </p:custDataLst>
          </p:nvPr>
        </p:nvSpPr>
        <p:spPr>
          <a:xfrm>
            <a:off x="6499862" y="1119695"/>
            <a:ext cx="5310779" cy="220028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7"/>
            </p:custDataLst>
          </p:nvPr>
        </p:nvSpPr>
        <p:spPr>
          <a:xfrm>
            <a:off x="5587810" y="981194"/>
            <a:ext cx="829975" cy="3597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SPROUTS’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054678" y="1445672"/>
            <a:ext cx="1869621" cy="221203"/>
          </a:xfrm>
          <a:prstGeom prst="rect">
            <a:avLst/>
          </a:prstGeom>
          <a:blipFill dpi="0" rotWithShape="1">
            <a:blip r:embed="rId13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C0000"/>
                </a:solidFill>
              </a:rPr>
              <a:t>Sprouts (FY22)</a:t>
            </a:r>
            <a:r>
              <a:rPr lang="en-US" sz="900" b="1" cap="all"/>
              <a:t> Actuals</a:t>
            </a:r>
          </a:p>
        </p:txBody>
      </p:sp>
      <p:sp>
        <p:nvSpPr>
          <p:cNvPr id="20" name="CommentBox">
            <a:extLst>
              <a:ext uri="{FF2B5EF4-FFF2-40B4-BE49-F238E27FC236}">
                <a16:creationId xmlns:a16="http://schemas.microsoft.com/office/drawing/2014/main" id="{C286853C-0AC9-4D8B-B2F9-F378D1A9DF2E}"/>
              </a:ext>
            </a:extLst>
          </p:cNvPr>
          <p:cNvSpPr/>
          <p:nvPr/>
        </p:nvSpPr>
        <p:spPr bwMode="gray">
          <a:xfrm>
            <a:off x="9262109" y="493467"/>
            <a:ext cx="2929891" cy="374159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100" b="1" i="1">
                <a:solidFill>
                  <a:srgbClr val="000000"/>
                </a:solidFill>
                <a:latin typeface="Arial" panose="020B0604020202020204" pitchFamily="34" charset="0"/>
              </a:rPr>
              <a:t>Internal note: </a:t>
            </a:r>
            <a:r>
              <a:rPr lang="en-US" sz="1100" i="1">
                <a:solidFill>
                  <a:srgbClr val="000000"/>
                </a:solidFill>
                <a:latin typeface="Arial" panose="020B0604020202020204" pitchFamily="34" charset="0"/>
              </a:rPr>
              <a:t>Need account team to validate typical savings ranges and cost levers</a:t>
            </a:r>
          </a:p>
        </p:txBody>
      </p:sp>
      <p:graphicFrame>
        <p:nvGraphicFramePr>
          <p:cNvPr id="21" name="BainTable47798">
            <a:extLst>
              <a:ext uri="{FF2B5EF4-FFF2-40B4-BE49-F238E27FC236}">
                <a16:creationId xmlns:a16="http://schemas.microsoft.com/office/drawing/2014/main" id="{5892A50C-6336-4A55-9CC4-AA677276987D}"/>
              </a:ext>
            </a:extLst>
          </p:cNvPr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4450863" y="1332780"/>
          <a:ext cx="7423051" cy="504420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5637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886362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391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1952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Merchandise cost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 and wholesale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Delay placing orders to incorporate more demand data and cancel styles or shift to domestic FG vendors for tail / low performers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Rationalize quality / features and revise size-level forecast with historical data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Review internal operational and financial KPIs, conducting internal and external benchmarking and assessing overall performance/ trends, visit plants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Assess maturity level across relevant dimensions to identify improvement areas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78903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2-4%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~$75-145M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183375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Freight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Network optimization (Number, location of plants, and production</a:t>
                      </a:r>
                      <a:r>
                        <a:rPr lang="en-US" sz="900" baseline="0"/>
                        <a:t> </a:t>
                      </a:r>
                      <a:r>
                        <a:rPr lang="en-US" sz="900"/>
                        <a:t>segmentation strategy)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DC operations (pick and pack, racking, etc.) and network by optimizing for advantaged assets w/automation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freight and shipping contracts</a:t>
                      </a:r>
                      <a:endParaRPr lang="en-US" sz="900"/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/>
                        <a:t>Increase operational efficiency in DCs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900"/>
                        <a:t>Outsource vs. managed transportation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Load consolidation and optimization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/>
                        <a:t>De-bundle</a:t>
                      </a:r>
                      <a:r>
                        <a:rPr lang="en-US" sz="900" baseline="0"/>
                        <a:t> inbound freight and leverage backhaul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78761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~$20-40M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29467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~$95-185M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181952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Advertising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900" b="0" i="0" u="non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 to lower-price/lower-tier</a:t>
                      </a:r>
                      <a:r>
                        <a:rPr lang="en-US" sz="9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agencies for less complex creative work (e.g., local creative, mail, etc.)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60464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5-15%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~$3-7M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181952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Other SG&amp;A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headquarters spend and store footprint, including strengthen processes for store opening</a:t>
                      </a: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management reports) and reduce complexity (e.g., # legal entities)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Simplify functional processes and redesign to better serve key customers (internal and external)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Extend replacement cycles, tightly monitor discretionary spend (e.g., T&amp;E)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Conduct corporate maturity assessment to identify inefficiencies and/or process redesign opportunities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806187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10-15%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~$180-270M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9467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~$183-277M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181952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~$278-462M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9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6B40BD93-34ED-79B7-2719-F2D9EAB1D03E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8884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5364476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75987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btfpColumnIndicatorGroup2">
            <a:extLst>
              <a:ext uri="{FF2B5EF4-FFF2-40B4-BE49-F238E27FC236}">
                <a16:creationId xmlns:a16="http://schemas.microsoft.com/office/drawing/2014/main" id="{58D2A3A3-4BE2-D60D-5D66-3674EE38D1E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9" name="btfpColumnGapBlocker114330">
              <a:extLst>
                <a:ext uri="{FF2B5EF4-FFF2-40B4-BE49-F238E27FC236}">
                  <a16:creationId xmlns:a16="http://schemas.microsoft.com/office/drawing/2014/main" id="{2947406C-3092-3915-F3C2-8470C51D6396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166330">
              <a:extLst>
                <a:ext uri="{FF2B5EF4-FFF2-40B4-BE49-F238E27FC236}">
                  <a16:creationId xmlns:a16="http://schemas.microsoft.com/office/drawing/2014/main" id="{E5269492-1868-84F9-1878-E73867CFA56C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488188">
              <a:extLst>
                <a:ext uri="{FF2B5EF4-FFF2-40B4-BE49-F238E27FC236}">
                  <a16:creationId xmlns:a16="http://schemas.microsoft.com/office/drawing/2014/main" id="{81C07D75-1C04-2994-EDEA-6CAE3D4207FF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866545">
              <a:extLst>
                <a:ext uri="{FF2B5EF4-FFF2-40B4-BE49-F238E27FC236}">
                  <a16:creationId xmlns:a16="http://schemas.microsoft.com/office/drawing/2014/main" id="{220D2AC3-C588-A49D-E9A4-CB7E4AA56D00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btfpColumnIndicatorGroup1">
            <a:extLst>
              <a:ext uri="{FF2B5EF4-FFF2-40B4-BE49-F238E27FC236}">
                <a16:creationId xmlns:a16="http://schemas.microsoft.com/office/drawing/2014/main" id="{F098B426-BA23-C2BB-A08D-9D832F78002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1" name="btfpColumnGapBlocker181100">
              <a:extLst>
                <a:ext uri="{FF2B5EF4-FFF2-40B4-BE49-F238E27FC236}">
                  <a16:creationId xmlns:a16="http://schemas.microsoft.com/office/drawing/2014/main" id="{B81CE6C9-682C-B28F-D9CB-4F6815D19C25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27280">
              <a:extLst>
                <a:ext uri="{FF2B5EF4-FFF2-40B4-BE49-F238E27FC236}">
                  <a16:creationId xmlns:a16="http://schemas.microsoft.com/office/drawing/2014/main" id="{1FD4D8C0-8A0E-5FD4-73BA-5E4178EEDBFE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711145">
              <a:extLst>
                <a:ext uri="{FF2B5EF4-FFF2-40B4-BE49-F238E27FC236}">
                  <a16:creationId xmlns:a16="http://schemas.microsoft.com/office/drawing/2014/main" id="{9F37C9A9-4A0D-A390-129B-A3300426575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35421">
              <a:extLst>
                <a:ext uri="{FF2B5EF4-FFF2-40B4-BE49-F238E27FC236}">
                  <a16:creationId xmlns:a16="http://schemas.microsoft.com/office/drawing/2014/main" id="{EECCB1A3-AC71-CF11-6A9D-5ECB72B6C90F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84" imgH="486" progId="TCLayout.ActiveDocument.1">
                  <p:embed/>
                </p:oleObj>
              </mc:Choice>
              <mc:Fallback>
                <p:oleObj name="think-cell Slide" r:id="rId31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Applying Bain experience against a typical cost structure for a personal computer and printer manufacturer suggests ~</a:t>
            </a:r>
            <a:r>
              <a:rPr lang="en-US" sz="2400">
                <a:solidFill>
                  <a:schemeClr val="tx1"/>
                </a:solidFill>
              </a:rPr>
              <a:t>$2.2B+ </a:t>
            </a:r>
            <a:r>
              <a:rPr lang="en-US"/>
              <a:t>cost savings opportunity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A32A1415-1429-D171-E0B5-E11987EF90A1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42925" y="1711325"/>
          <a:ext cx="3052763" cy="4246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69900" y="579913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0050" y="498316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41671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33496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253365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200" name="Text Placeholder">
            <a:extLst>
              <a:ext uri="{FF2B5EF4-FFF2-40B4-BE49-F238E27FC236}">
                <a16:creationId xmlns:a16="http://schemas.microsoft.com/office/drawing/2014/main" id="{8F61AA30-8459-7593-1232-BBAB9F2A00C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684213" y="1947863"/>
            <a:ext cx="841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6D6D6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Service</a:t>
            </a:r>
            <a:br>
              <a:rPr lang="en-US" sz="1000">
                <a:solidFill>
                  <a:srgbClr val="000000"/>
                </a:solidFill>
              </a:rPr>
            </a:br>
            <a:r>
              <a:rPr lang="en-US" sz="1000">
                <a:solidFill>
                  <a:srgbClr val="000000"/>
                </a:solidFill>
              </a:rPr>
              <a:t> Costs (~15%)</a:t>
            </a:r>
          </a:p>
        </p:txBody>
      </p:sp>
      <p:sp>
        <p:nvSpPr>
          <p:cNvPr id="201" name="Text Placeholder">
            <a:extLst>
              <a:ext uri="{FF2B5EF4-FFF2-40B4-BE49-F238E27FC236}">
                <a16:creationId xmlns:a16="http://schemas.microsoft.com/office/drawing/2014/main" id="{3F49C034-CEF6-EBF1-6660-C68C9C37AB2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466725" y="4064000"/>
            <a:ext cx="1276350" cy="152400"/>
          </a:xfrm>
          <a:prstGeom prst="rect">
            <a:avLst/>
          </a:prstGeom>
          <a:solidFill>
            <a:srgbClr val="B4B4B4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9FB8B3F-52BB-45EC-AFC2-0F28CE4D82C0}" type="datetime'''Produ''c''t ''''C''os''t''''''''''''''s'' (~8''5''''''''%)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Product Costs (~85%)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6" name="Text Placeholder">
            <a:extLst>
              <a:ext uri="{FF2B5EF4-FFF2-40B4-BE49-F238E27FC236}">
                <a16:creationId xmlns:a16="http://schemas.microsoft.com/office/drawing/2014/main" id="{EC02AF72-AD46-3477-B3F9-D0DD0341060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12813" y="5918200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3AA323-CE1E-48B2-B15A-02B935A3F00B}" type="datetime'''C''''''''''''''''OG''''''''''''''''''''''''S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4" name="Text Placeholder">
            <a:extLst>
              <a:ext uri="{FF2B5EF4-FFF2-40B4-BE49-F238E27FC236}">
                <a16:creationId xmlns:a16="http://schemas.microsoft.com/office/drawing/2014/main" id="{B41C586F-F1A8-CA83-C52D-5FDE1F2F5F53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1633538" y="1895475"/>
            <a:ext cx="871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A749F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91C2D3F-ABFF-4BD0-B61A-B1EE1CEB3728}" type="datetime'''A''''''dj.'' E''''''''''BI''''''''T (9''%'')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Adj. EBIT (9%)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9" name="Text Placeholder">
            <a:extLst>
              <a:ext uri="{FF2B5EF4-FFF2-40B4-BE49-F238E27FC236}">
                <a16:creationId xmlns:a16="http://schemas.microsoft.com/office/drawing/2014/main" id="{1D48AA60-3DE5-60F9-B71F-17D84BC37AC5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765300" y="2133600"/>
            <a:ext cx="606425" cy="152400"/>
          </a:xfrm>
          <a:prstGeom prst="rect">
            <a:avLst/>
          </a:prstGeom>
          <a:solidFill>
            <a:srgbClr val="858585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7980E23B-FD1F-4DF8-8279-3AB25D71D544}" type="datetime'''''''''R''''''''''''&amp;''''''D'' (3''''%'''''''')''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R&amp;D (3%)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494EC851-B067-AB1E-FFD4-CEEEEB4456A6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1689100" y="2401888"/>
            <a:ext cx="758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C5C5C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C1D3B99-5367-4BFD-B6B7-6A67229B677F}" type="datetime'''S''G&amp;''''A'''''' ''''''(10''''''''''''''''%)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(10%)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3" name="Text Placeholder">
            <a:extLst>
              <a:ext uri="{FF2B5EF4-FFF2-40B4-BE49-F238E27FC236}">
                <a16:creationId xmlns:a16="http://schemas.microsoft.com/office/drawing/2014/main" id="{6C0D454C-AD04-EC1D-D8CD-D3535B762C4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677988" y="4203700"/>
            <a:ext cx="781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150E3329-77F2-427E-A7A4-E54B2C28927B}" type="datetime'''CO''''''''G''''S'' ''(''7''''8''''''''''''''''''''''%'')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(78%)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1652588" y="591820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205" name="Text Placeholder">
            <a:extLst>
              <a:ext uri="{FF2B5EF4-FFF2-40B4-BE49-F238E27FC236}">
                <a16:creationId xmlns:a16="http://schemas.microsoft.com/office/drawing/2014/main" id="{6759AE4A-0411-0D5C-3705-235185B544C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2514600" y="1949450"/>
            <a:ext cx="1033463" cy="152400"/>
          </a:xfrm>
          <a:prstGeom prst="rect">
            <a:avLst/>
          </a:prstGeom>
          <a:solidFill>
            <a:srgbClr val="7891AA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0927AFC7-056C-4388-B56C-9182155A540F}" type="datetime'''A''dv''ert''''i''''''s''i''''ng ''(''1''1''%)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Advertising (11%)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206" name="Text Placeholder">
            <a:extLst>
              <a:ext uri="{FF2B5EF4-FFF2-40B4-BE49-F238E27FC236}">
                <a16:creationId xmlns:a16="http://schemas.microsoft.com/office/drawing/2014/main" id="{FB0C5226-3A1B-6E68-3B33-2CCE0E5BC97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2517775" y="3990975"/>
            <a:ext cx="1025525" cy="152400"/>
          </a:xfrm>
          <a:prstGeom prst="rect">
            <a:avLst/>
          </a:prstGeom>
          <a:solidFill>
            <a:srgbClr val="46647B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EC2A2FA-FD95-4D61-9237-1D008EAABBA2}" type="datetime'''O''t''he''r ''''''''G''&amp;''A ''''''''(''89''''%'''')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Other G&amp;A (89%)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2849563" y="591820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2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3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4"/>
            </p:custDataLst>
          </p:nvPr>
        </p:nvSpPr>
        <p:spPr>
          <a:xfrm>
            <a:off x="3735755" y="934298"/>
            <a:ext cx="1006229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5"/>
            </p:custDataLst>
          </p:nvPr>
        </p:nvSpPr>
        <p:spPr>
          <a:xfrm>
            <a:off x="6013349" y="1072799"/>
            <a:ext cx="5924648" cy="220028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26"/>
            </p:custDataLst>
          </p:nvPr>
        </p:nvSpPr>
        <p:spPr>
          <a:xfrm>
            <a:off x="4872299" y="934298"/>
            <a:ext cx="1006229" cy="3597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HPI’s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633538" y="1445672"/>
            <a:ext cx="1818908" cy="221203"/>
          </a:xfrm>
          <a:prstGeom prst="rect">
            <a:avLst/>
          </a:prstGeom>
          <a:blipFill dpi="0" rotWithShape="1">
            <a:blip r:embed="rId34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HPI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21" name="BainTable47798">
            <a:extLst>
              <a:ext uri="{FF2B5EF4-FFF2-40B4-BE49-F238E27FC236}">
                <a16:creationId xmlns:a16="http://schemas.microsoft.com/office/drawing/2014/main" id="{5892A50C-6336-4A55-9CC4-AA677276987D}"/>
              </a:ext>
            </a:extLst>
          </p:cNvPr>
          <p:cNvGraphicFramePr>
            <a:graphicFrameLocks noGrp="1"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99300429"/>
              </p:ext>
            </p:extLst>
          </p:nvPr>
        </p:nvGraphicFramePr>
        <p:xfrm>
          <a:off x="3728787" y="1261863"/>
          <a:ext cx="8209212" cy="53373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319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73015">
                  <a:extLst>
                    <a:ext uri="{9D8B030D-6E8A-4147-A177-3AD203B41FA5}">
                      <a16:colId xmlns:a16="http://schemas.microsoft.com/office/drawing/2014/main" val="1137562199"/>
                    </a:ext>
                  </a:extLst>
                </a:gridCol>
                <a:gridCol w="6222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684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Product Costs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indent="-177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+mn-lt"/>
                        </a:rPr>
                        <a:t>Standardize offerings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  <a:latin typeface="+mn-lt"/>
                        </a:rPr>
                        <a:t> &amp; improve ways of working (i.e. DevOps) rather than distributed model</a:t>
                      </a:r>
                      <a:endParaRPr lang="en-US" sz="900" b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Reduce L1/L2 product support cost by automating addressable incident types and increasing self-service, documentation, and partner enablement (i.e. migration to digital service)</a:t>
                      </a:r>
                      <a:endParaRPr lang="en-US" sz="900" b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182563" marR="0" lvl="0" indent="-182563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baseline="0">
                          <a:solidFill>
                            <a:schemeClr val="tx1"/>
                          </a:solidFill>
                        </a:rPr>
                        <a:t>Achieve optimal level of offshoring for key job families, e.g., customer support</a:t>
                      </a:r>
                    </a:p>
                    <a:p>
                      <a:pPr marL="182563" indent="-18256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</a:pPr>
                      <a:r>
                        <a:rPr lang="en-US" sz="900" b="0" baseline="0">
                          <a:solidFill>
                            <a:schemeClr val="tx1"/>
                          </a:solidFill>
                        </a:rPr>
                        <a:t>Automate and fully optimize operations in hardware, network, and storage</a:t>
                      </a:r>
                    </a:p>
                    <a:p>
                      <a:pPr marL="182563" marR="0" lvl="0" indent="-182563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Use digital delivery at scale (DevOps, Agile, product-centric) with deep digital capabilities (UR/UX/design)</a:t>
                      </a:r>
                    </a:p>
                    <a:p>
                      <a:pPr marL="182563" marR="0" lvl="0" indent="-182563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+mn-lt"/>
                        </a:rPr>
                        <a:t>Close sub-scale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  <a:latin typeface="+mn-lt"/>
                        </a:rPr>
                        <a:t> DCs and DCs with below benchmark utilization where feasible, move workload to other existing DCs, and eliminate fixed costs of closed DCs</a:t>
                      </a:r>
                      <a:endParaRPr lang="en-US" sz="900" b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94398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~$1,765-3,525M</a:t>
                      </a:r>
                      <a:endParaRPr lang="en-US" sz="900"/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217684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Service Costs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Shift services mix from Implementation to higher-margin services, e.g., Advisor or Managed services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Increase revenue/pricing of higher value consulting services (i.e. tech strategic consulting)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Reduce / manage time spent on NB project tasks, presales, and vacation time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Increase mix of lower cost resources (i.e. offshore/remote)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Consolidate subcontractor vendors and re-negotiate rates, maximize usage in highest margin roles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Maximize allocation of low value tasks with low-cost sub-contractors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67427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~7% </a:t>
                      </a:r>
                      <a:r>
                        <a:rPr lang="en-US" sz="900"/>
                        <a:t>margin uplift</a:t>
                      </a:r>
                    </a:p>
                  </a:txBody>
                  <a:tcPr marL="84244" marR="8775" marT="42122" marB="42122" anchor="ctr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~$435M</a:t>
                      </a:r>
                      <a:endParaRPr lang="en-US" sz="900"/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21768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~$1,765-3,960M</a:t>
                      </a:r>
                      <a:endParaRPr lang="en-US" sz="900" b="1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217684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Advertising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agency contracts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Streamlined portfolio with focus on HERO SKUs/brands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b="0" i="0" u="non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 to lower-price/lower-tier</a:t>
                      </a:r>
                      <a:r>
                        <a:rPr lang="en-US" sz="900" b="0" i="0" u="non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agencies for less complex creative work (e.g., local creative, mail, etc.)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67515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5-15%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~$30-90M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217684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Other 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Optimize spans and layers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Zero-base sales capacity and coverage and drive efficiency and effectiveness (e.g., coverage, pipeline </a:t>
                      </a:r>
                      <a:r>
                        <a:rPr lang="en-US" sz="900" err="1">
                          <a:solidFill>
                            <a:schemeClr val="tx1"/>
                          </a:solidFill>
                        </a:rPr>
                        <a:t>mgmt</a:t>
                      </a: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Eliminate unnecessary work (e.g., management reports) and reduce complexity (e.g., # legal entities, #GL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Simplify functional processes and redesign to better serve key customers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Increase use of automation/RPA for select sub-processes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80913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~$480-965M</a:t>
                      </a:r>
                      <a:endParaRPr lang="en-US" sz="900"/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1768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~$510-1,055M</a:t>
                      </a: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21768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R&amp;D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internal spend control to optimize ROI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&amp; layers (e.g., reduce # project managers and program coordinators)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Reprioritize current project portfolio across all BUs (e.g., eliminate double work on platforms)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R&amp;D site footprint (e.g., centralize common R&amp;D activities at Business Group level) 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66261"/>
                  </a:ext>
                </a:extLst>
              </a:tr>
              <a:tr h="404566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5-10% 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savings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N/A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internal spend control to optimize ROI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&amp; layers (e.g., reduce # project managers and program coordinators)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Reprioritize current project portfolio across all BUs (e.g., eliminate double work on platforms)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8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R&amp;D site footprint (e.g., centralize common R&amp;D activities at Business Group level) </a:t>
                      </a:r>
                    </a:p>
                  </a:txBody>
                  <a:tcPr marL="84244" marR="8775" marT="42122" marB="42122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004892"/>
                  </a:ext>
                </a:extLst>
              </a:tr>
              <a:tr h="21768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accent3"/>
                          </a:solidFill>
                        </a:rPr>
                        <a:t>~$2,275-5,015M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900" b="1" u="none" strike="noStrike" baseline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D2ACEF-2849-34ED-E929-63F076BA9514}"/>
              </a:ext>
            </a:extLst>
          </p:cNvPr>
          <p:cNvCxnSpPr>
            <a:cxnSpLocks/>
          </p:cNvCxnSpPr>
          <p:nvPr/>
        </p:nvCxnSpPr>
        <p:spPr bwMode="gray">
          <a:xfrm flipV="1">
            <a:off x="2500710" y="1804737"/>
            <a:ext cx="80566" cy="463432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6FEA67-7717-0C15-1ADB-8578B929D5CB}"/>
              </a:ext>
            </a:extLst>
          </p:cNvPr>
          <p:cNvCxnSpPr>
            <a:cxnSpLocks/>
          </p:cNvCxnSpPr>
          <p:nvPr/>
        </p:nvCxnSpPr>
        <p:spPr bwMode="gray">
          <a:xfrm>
            <a:off x="2502258" y="2673836"/>
            <a:ext cx="89879" cy="3193564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1251FF-DC9B-2003-56AB-BC40DFF08B28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535112" y="1804737"/>
            <a:ext cx="109706" cy="908055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BDB4FB56-C6A3-1207-FF64-2C797FE3AEE2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 err="1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7958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484" imgH="486" progId="TCLayout.ActiveDocument.1">
                  <p:embed/>
                </p:oleObj>
              </mc:Choice>
              <mc:Fallback>
                <p:oleObj name="think-cell Slide" r:id="rId33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10D86784-CFBE-167D-92D4-FF9E9CFC4B9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gray">
          <a:xfrm>
            <a:off x="2774950" y="1793875"/>
            <a:ext cx="98425" cy="0"/>
          </a:xfrm>
          <a:prstGeom prst="line">
            <a:avLst/>
          </a:prstGeom>
          <a:ln w="9525" cap="flat" cmpd="sng" algn="ctr">
            <a:solidFill>
              <a:srgbClr val="000000"/>
            </a:solidFill>
            <a:prstDash val="lgDash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DEF346B2-B16D-B44C-D82D-A7540651DEA0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542925" y="1711325"/>
          <a:ext cx="3463925" cy="459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69900" y="614838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526256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43767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3489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00050" y="26035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131" name="Text Placeholder">
            <a:extLst>
              <a:ext uri="{FF2B5EF4-FFF2-40B4-BE49-F238E27FC236}">
                <a16:creationId xmlns:a16="http://schemas.microsoft.com/office/drawing/2014/main" id="{9D60AD67-1E9E-1F18-33EC-F0026CD20373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403224" y="2292350"/>
            <a:ext cx="1544638" cy="152400"/>
          </a:xfrm>
          <a:prstGeom prst="rect">
            <a:avLst/>
          </a:prstGeom>
          <a:solidFill>
            <a:srgbClr val="A3BCD3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C27A2B7-C55E-49E8-B856-1E31B8359826}" type="datetime'''''Produ''c''''t'' ''''Co''''S''/ ''others ''(1''''''2%'''')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Product CoS/ others (12%)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89" name="Text Placeholder">
            <a:extLst>
              <a:ext uri="{FF2B5EF4-FFF2-40B4-BE49-F238E27FC236}">
                <a16:creationId xmlns:a16="http://schemas.microsoft.com/office/drawing/2014/main" id="{D3C7AF64-3571-D435-084C-24EB67494C4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598488" y="1871663"/>
            <a:ext cx="1152525" cy="152400"/>
          </a:xfrm>
          <a:prstGeom prst="rect">
            <a:avLst/>
          </a:prstGeom>
          <a:solidFill>
            <a:srgbClr val="7891AA"/>
          </a:solidFill>
          <a:ln>
            <a:noFill/>
          </a:ln>
          <a:effectLst/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3B66498-66D1-4339-A355-F73EBBC61C09}" type="datetime'''''''T''r''''''an''''''s''po''rta''''ti''''on'' ''''''(7%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Transportation (7%)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92" name="Text Placeholder">
            <a:extLst>
              <a:ext uri="{FF2B5EF4-FFF2-40B4-BE49-F238E27FC236}">
                <a16:creationId xmlns:a16="http://schemas.microsoft.com/office/drawing/2014/main" id="{8D515D33-5FF3-E864-0970-6B0B7AE232C3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809625" y="3400425"/>
            <a:ext cx="7302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9049806-9BAE-4E4B-97B2-8D6530720FD6}" type="datetime'''''L''''''''a''''''''''bor'''''''' ''(38''''''%''''''''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Labor (38%)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97" name="Text Placeholder">
            <a:extLst>
              <a:ext uri="{FF2B5EF4-FFF2-40B4-BE49-F238E27FC236}">
                <a16:creationId xmlns:a16="http://schemas.microsoft.com/office/drawing/2014/main" id="{1EF1A694-3AF7-0C98-4410-967D3BD62CCD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723900" y="5195888"/>
            <a:ext cx="901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9C3DCF7-C97A-4769-8682-ED3B198F3299}" type="datetime'''''''''''''Fa''''''''c''ilit''i''''es'' ''(4''3%''''''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Facilities (43%)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6" name="Text Placeholder">
            <a:extLst>
              <a:ext uri="{FF2B5EF4-FFF2-40B4-BE49-F238E27FC236}">
                <a16:creationId xmlns:a16="http://schemas.microsoft.com/office/drawing/2014/main" id="{EC02AF72-AD46-3477-B3F9-D0DD0341060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82663" y="6267450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3AA323-CE1E-48B2-B15A-02B935A3F00B}" type="datetime'''C''''''''''''''''OG''''''''''''''''''''''''S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60" name="Text Placeholder">
            <a:extLst>
              <a:ext uri="{FF2B5EF4-FFF2-40B4-BE49-F238E27FC236}">
                <a16:creationId xmlns:a16="http://schemas.microsoft.com/office/drawing/2014/main" id="{63919C58-3D5E-4F63-7B58-FBB934737AA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1843087" y="3444875"/>
            <a:ext cx="8651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E597C84-7E26-462A-8533-8A0136C18335}" type="datetime'E''''B''''''''I''T''''DA'''''''''''' ''''''(3''''6''''%'')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EBITDA (36%)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5" name="Text Placeholder">
            <a:extLst>
              <a:ext uri="{FF2B5EF4-FFF2-40B4-BE49-F238E27FC236}">
                <a16:creationId xmlns:a16="http://schemas.microsoft.com/office/drawing/2014/main" id="{98F3EFAD-048C-E981-D570-343010F16051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895475" y="2182813"/>
            <a:ext cx="7588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C15AC89B-CBEF-45E4-B8AA-FA2C742EBD10}" type="datetime'''''S''''''''''''''''''''''G''''''&amp;''A'''' ''(''''2''''1%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(21%)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9" name="Text Placeholder">
            <a:extLst>
              <a:ext uri="{FF2B5EF4-FFF2-40B4-BE49-F238E27FC236}">
                <a16:creationId xmlns:a16="http://schemas.microsoft.com/office/drawing/2014/main" id="{FC2ADB0A-BB90-8563-2545-5CF3F1B8FD60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1884363" y="5195888"/>
            <a:ext cx="7810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F38DEFE-BF9C-4C59-A00A-8C8784C38B55}" type="datetime'''C''''''''''''O''''G''''S ''''(''''4''3''''''%'')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(43%)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1858962" y="626745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1" name="Text Placeholder">
            <a:extLst>
              <a:ext uri="{FF2B5EF4-FFF2-40B4-BE49-F238E27FC236}">
                <a16:creationId xmlns:a16="http://schemas.microsoft.com/office/drawing/2014/main" id="{4170E95D-041B-896F-48C8-B2AB283EAF5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049588" y="2419350"/>
            <a:ext cx="647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9BD4B1F4-D661-4FB3-87C4-C3D9994B74C8}" type="datetime'S''''''''&amp;''''M(''''''''3''''''0''''''''''''''''''%'')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S&amp;M(30%)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7" name="Text Placeholder">
            <a:extLst>
              <a:ext uri="{FF2B5EF4-FFF2-40B4-BE49-F238E27FC236}">
                <a16:creationId xmlns:a16="http://schemas.microsoft.com/office/drawing/2014/main" id="{6D359232-60E2-E79D-65D4-581101E000B4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3054350" y="4613275"/>
            <a:ext cx="639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C7DD352-F675-4394-B9D4-8F7C6815671B}" type="datetime'''G''''''''&amp;A''''''(''7''''0''''''''''''%'''')''''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G&amp;A(70%)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3192463" y="626745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4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5"/>
            </p:custDataLst>
          </p:nvPr>
        </p:nvGrpSpPr>
        <p:grpSpPr>
          <a:xfrm>
            <a:off x="10003470" y="955344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6"/>
            </p:custDataLst>
          </p:nvPr>
        </p:nvSpPr>
        <p:spPr>
          <a:xfrm>
            <a:off x="4450863" y="981194"/>
            <a:ext cx="1054870" cy="359703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7"/>
            </p:custDataLst>
          </p:nvPr>
        </p:nvSpPr>
        <p:spPr>
          <a:xfrm>
            <a:off x="6499862" y="1119695"/>
            <a:ext cx="5310779" cy="220028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66751" y="1453609"/>
            <a:ext cx="3114043" cy="221203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IRON MTN </a:t>
            </a:r>
            <a:r>
              <a:rPr lang="en-US" sz="900" b="1" cap="all"/>
              <a:t>Actuals</a:t>
            </a:r>
          </a:p>
        </p:txBody>
      </p:sp>
      <p:graphicFrame>
        <p:nvGraphicFramePr>
          <p:cNvPr id="4" name="BainTable47798">
            <a:extLst>
              <a:ext uri="{FF2B5EF4-FFF2-40B4-BE49-F238E27FC236}">
                <a16:creationId xmlns:a16="http://schemas.microsoft.com/office/drawing/2014/main" id="{D4964C20-7806-CD28-9696-79BF370A258E}"/>
              </a:ext>
            </a:extLst>
          </p:cNvPr>
          <p:cNvGraphicFramePr>
            <a:graphicFrameLocks noGrp="1"/>
          </p:cNvGraphicFramePr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2066610339"/>
              </p:ext>
            </p:extLst>
          </p:nvPr>
        </p:nvGraphicFramePr>
        <p:xfrm>
          <a:off x="4231936" y="1237340"/>
          <a:ext cx="7654434" cy="53149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05648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734369">
                  <a:extLst>
                    <a:ext uri="{9D8B030D-6E8A-4147-A177-3AD203B41FA5}">
                      <a16:colId xmlns:a16="http://schemas.microsoft.com/office/drawing/2014/main" val="3305488630"/>
                    </a:ext>
                  </a:extLst>
                </a:gridCol>
                <a:gridCol w="5614417">
                  <a:extLst>
                    <a:ext uri="{9D8B030D-6E8A-4147-A177-3AD203B41FA5}">
                      <a16:colId xmlns:a16="http://schemas.microsoft.com/office/drawing/2014/main" val="1260648170"/>
                    </a:ext>
                  </a:extLst>
                </a:gridCol>
              </a:tblGrid>
              <a:tr h="186100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Facilities</a:t>
                      </a:r>
                    </a:p>
                  </a:txBody>
                  <a:tcPr marL="84244" marR="8775" marT="42122" marB="42122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Perform risk-based maintenance and decrease preventative maintenance frequency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utilities usage through process optimization &amp; standardized usage policies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Renegotiate lease terms and costs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121318"/>
                  </a:ext>
                </a:extLst>
              </a:tr>
              <a:tr h="21136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2-4%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/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$20-40M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/>
                </a:tc>
                <a:tc vMerge="1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848435"/>
                  </a:ext>
                </a:extLst>
              </a:tr>
              <a:tr h="186100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Labor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 and cross-train employees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 autonomous maintenance (shift low skill/risk tasks to operations)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scheduling &amp; employee designations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resource planning and allocation to reduce services costs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Restructure where services are done and by whom (Talent mix: senior vs junior / shared services)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kumimoji="0" lang="en-US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Increase mix of lower cost resources (i.e. offshore/remote)</a:t>
                      </a:r>
                      <a:endParaRPr lang="en-US" sz="8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53801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10-15%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$95-140M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/>
                </a:tc>
                <a:extLst>
                  <a:ext uri="{0D108BD9-81ED-4DB2-BD59-A6C34878D82A}">
                    <a16:rowId xmlns:a16="http://schemas.microsoft.com/office/drawing/2014/main" val="3483978100"/>
                  </a:ext>
                </a:extLst>
              </a:tr>
              <a:tr h="18610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Transportation</a:t>
                      </a:r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Network optimization (Number, location, size and function of DCs)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operational efficiency in DCs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3PL vs company owned/managed decisions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Outsource vs. managed transportation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Load consolidation and optimization</a:t>
                      </a:r>
                      <a:endParaRPr lang="en-US" sz="850"/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819118"/>
                  </a:ext>
                </a:extLst>
              </a:tr>
              <a:tr h="42913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$10-15M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/>
                </a:tc>
                <a:tc vMerge="1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900"/>
                    </a:p>
                  </a:txBody>
                  <a:tcPr marL="84244" marR="8775" marT="42122" marB="42122"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362823"/>
                  </a:ext>
                </a:extLst>
              </a:tr>
              <a:tr h="186100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Product Cost of Sales and Others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/>
                    </a:p>
                  </a:txBody>
                  <a:tcPr marL="84244" marR="8775" marT="42122" marB="42122">
                    <a:lnL>
                      <a:noFill/>
                    </a:lnL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kumimoji="0" lang="en-US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Renegotiate terms and costs associated with third party providers</a:t>
                      </a:r>
                      <a:endParaRPr lang="en-US" sz="8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lower cost suppliers for non-critical components and 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 b="0">
                          <a:solidFill>
                            <a:srgbClr val="000000"/>
                          </a:solidFill>
                        </a:rPr>
                        <a:t>Use digital delivery at scale (DevOps, Agile, product-centric) with deep digital capabilities (UR/UX/design)</a:t>
                      </a:r>
                      <a:endParaRPr lang="en-US" sz="85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kumimoji="0" lang="en-US" sz="8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Consolidate subcontractor vendors and re-negotiate rates, maximize usage in highest margin roles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47696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1-5%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$5-15M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186100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</a:t>
                      </a:r>
                      <a:r>
                        <a:rPr lang="en-US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 $130-210M</a:t>
                      </a:r>
                      <a:endParaRPr lang="en-US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011604"/>
                  </a:ext>
                </a:extLst>
              </a:tr>
              <a:tr h="186100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>
                          <a:solidFill>
                            <a:schemeClr val="tx1"/>
                          </a:solidFill>
                        </a:rPr>
                        <a:t>Enhance productivity through re-design / automation / Gen AI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50" b="0"/>
                        <a:t>Explore shared services, internal COEs and outsourcing/offshore to optimize where services are done and by whom (eliminate shadow organizations within BUs)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/>
                        <a:t>Zero base activities, eliminating non-value-added work and automating low value, repetitive processes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Eliminate unnecessary work (e.g., </a:t>
                      </a:r>
                      <a:r>
                        <a:rPr lang="en-US" sz="85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reports), reduce complexity (e.g., # legal entities, # GL accounts)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85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Increase use of automation/RPA for select sub-processes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53801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10-20%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$85-165M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/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186100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S&amp;M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850">
                          <a:solidFill>
                            <a:schemeClr val="tx1"/>
                          </a:solidFill>
                        </a:rPr>
                        <a:t>Zero-base sales capacity and coverage and drive efficiency and effectiveness (e.g., coverage, pipeline </a:t>
                      </a:r>
                      <a:r>
                        <a:rPr lang="en-US" sz="850" err="1">
                          <a:solidFill>
                            <a:schemeClr val="tx1"/>
                          </a:solidFill>
                        </a:rPr>
                        <a:t>mgmt</a:t>
                      </a:r>
                      <a:r>
                        <a:rPr lang="en-US" sz="850">
                          <a:solidFill>
                            <a:schemeClr val="tx1"/>
                          </a:solidFill>
                        </a:rPr>
                        <a:t>, incentives)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Coordinate single product sales efforts to drive up share of wallet and improve cross 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(e.g., prioritize accounts by profit opportunity and ability to win)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sales incentives to drive desired behaviors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85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sales operations capabilities including commercial pipeline mgmt., KPI tracking and sales continuous improvement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023542"/>
                  </a:ext>
                </a:extLst>
              </a:tr>
              <a:tr h="646899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</a:t>
                      </a:r>
                      <a:r>
                        <a:rPr lang="en-US" sz="900" b="0" baseline="0">
                          <a:solidFill>
                            <a:srgbClr val="000000"/>
                          </a:solidFill>
                        </a:rPr>
                        <a:t>ings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$20-35M</a:t>
                      </a:r>
                      <a:endParaRPr lang="en-US" sz="9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1">
                        <a:solidFill>
                          <a:schemeClr val="accent3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995619"/>
                  </a:ext>
                </a:extLst>
              </a:tr>
              <a:tr h="18610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 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$105-200M</a:t>
                      </a:r>
                      <a:endParaRPr lang="en-US" sz="900" b="1">
                        <a:solidFill>
                          <a:srgbClr val="CC0000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>
                        <a:solidFill>
                          <a:srgbClr val="CC0000"/>
                        </a:solidFill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299431"/>
                  </a:ext>
                </a:extLst>
              </a:tr>
              <a:tr h="18610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$235-410M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/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880252"/>
                  </a:ext>
                </a:extLst>
              </a:tr>
            </a:tbl>
          </a:graphicData>
        </a:graphic>
      </p:graphicFrame>
      <p:sp>
        <p:nvSpPr>
          <p:cNvPr id="149" name="BainTable47798HeaderBox1">
            <a:extLst>
              <a:ext uri="{FF2B5EF4-FFF2-40B4-BE49-F238E27FC236}">
                <a16:creationId xmlns:a16="http://schemas.microsoft.com/office/drawing/2014/main" id="{060A9ACE-E6B2-20E1-7957-E5C42619DA4A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5534025" y="976018"/>
            <a:ext cx="806450" cy="359703"/>
          </a:xfrm>
          <a:prstGeom prst="rect">
            <a:avLst/>
          </a:prstGeom>
          <a:blipFill dpi="0" rotWithShape="1">
            <a:blip r:embed="rId36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Iron mtn</a:t>
            </a:r>
            <a:r>
              <a:rPr lang="en-US" sz="900" b="1" cap="all"/>
              <a:t> hypothesis</a:t>
            </a:r>
          </a:p>
        </p:txBody>
      </p:sp>
      <p:sp>
        <p:nvSpPr>
          <p:cNvPr id="152" name="Title 1">
            <a:extLst>
              <a:ext uri="{FF2B5EF4-FFF2-40B4-BE49-F238E27FC236}">
                <a16:creationId xmlns:a16="http://schemas.microsoft.com/office/drawing/2014/main" id="{7D9E7447-5BF7-B230-62E2-73EA20CA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</p:spPr>
        <p:txBody>
          <a:bodyPr vert="horz"/>
          <a:lstStyle/>
          <a:p>
            <a:r>
              <a:rPr lang="en-US"/>
              <a:t>Bain experience, applied against Iron Mountain’s cost baseline, suggests a savings range of ~$235M+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A84E0B-BE92-8BDE-0103-45D018F96656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66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btfpColumnIndicatorGroup2">
            <a:extLst>
              <a:ext uri="{FF2B5EF4-FFF2-40B4-BE49-F238E27FC236}">
                <a16:creationId xmlns:a16="http://schemas.microsoft.com/office/drawing/2014/main" id="{F898C045-7F39-4D56-A681-D2A282202AF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7" name="btfpColumnGapBlocker129621">
              <a:extLst>
                <a:ext uri="{FF2B5EF4-FFF2-40B4-BE49-F238E27FC236}">
                  <a16:creationId xmlns:a16="http://schemas.microsoft.com/office/drawing/2014/main" id="{00AB18EC-A0A0-4FFD-8474-814F60CD32CA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btfpColumnGapBlocker705901">
              <a:extLst>
                <a:ext uri="{FF2B5EF4-FFF2-40B4-BE49-F238E27FC236}">
                  <a16:creationId xmlns:a16="http://schemas.microsoft.com/office/drawing/2014/main" id="{2EF54035-0856-446D-BB24-DAA5D40BCEB3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90644">
              <a:extLst>
                <a:ext uri="{FF2B5EF4-FFF2-40B4-BE49-F238E27FC236}">
                  <a16:creationId xmlns:a16="http://schemas.microsoft.com/office/drawing/2014/main" id="{9FD1463F-D0DC-496A-B79E-D8BDE677A065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510364">
              <a:extLst>
                <a:ext uri="{FF2B5EF4-FFF2-40B4-BE49-F238E27FC236}">
                  <a16:creationId xmlns:a16="http://schemas.microsoft.com/office/drawing/2014/main" id="{74269EAE-5D24-4C57-AC33-6D7743B18F8A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btfpColumnIndicatorGroup1">
            <a:extLst>
              <a:ext uri="{FF2B5EF4-FFF2-40B4-BE49-F238E27FC236}">
                <a16:creationId xmlns:a16="http://schemas.microsoft.com/office/drawing/2014/main" id="{E3B808F6-81FF-4245-A0AF-8FC06BCDF0D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6" name="btfpColumnGapBlocker941011">
              <a:extLst>
                <a:ext uri="{FF2B5EF4-FFF2-40B4-BE49-F238E27FC236}">
                  <a16:creationId xmlns:a16="http://schemas.microsoft.com/office/drawing/2014/main" id="{5E3AEB10-2800-4DF8-BC5D-75656A10B594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4" name="btfpColumnGapBlocker271524">
              <a:extLst>
                <a:ext uri="{FF2B5EF4-FFF2-40B4-BE49-F238E27FC236}">
                  <a16:creationId xmlns:a16="http://schemas.microsoft.com/office/drawing/2014/main" id="{1EC6F39E-CAEA-44CD-8398-A17735BAF73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22836">
              <a:extLst>
                <a:ext uri="{FF2B5EF4-FFF2-40B4-BE49-F238E27FC236}">
                  <a16:creationId xmlns:a16="http://schemas.microsoft.com/office/drawing/2014/main" id="{03A70072-40B8-4548-A22C-1F9E95B89A1D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610514">
              <a:extLst>
                <a:ext uri="{FF2B5EF4-FFF2-40B4-BE49-F238E27FC236}">
                  <a16:creationId xmlns:a16="http://schemas.microsoft.com/office/drawing/2014/main" id="{A73BC879-8411-42A7-99D3-36DA79CE87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AgendaLine">
            <a:extLst>
              <a:ext uri="{FF2B5EF4-FFF2-40B4-BE49-F238E27FC236}">
                <a16:creationId xmlns:a16="http://schemas.microsoft.com/office/drawing/2014/main" id="{98767490-A4A2-45F5-BE8F-163D4744E5C7}"/>
              </a:ext>
            </a:extLst>
          </p:cNvPr>
          <p:cNvCxnSpPr/>
          <p:nvPr/>
        </p:nvCxnSpPr>
        <p:spPr bwMode="gray">
          <a:xfrm>
            <a:off x="1616981" y="876300"/>
            <a:ext cx="0" cy="5689600"/>
          </a:xfrm>
          <a:prstGeom prst="line">
            <a:avLst/>
          </a:prstGeom>
          <a:ln w="19050" cap="flat" cmpd="sng">
            <a:solidFill>
              <a:srgbClr val="CC0000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gendaTitle">
            <a:extLst>
              <a:ext uri="{FF2B5EF4-FFF2-40B4-BE49-F238E27FC236}">
                <a16:creationId xmlns:a16="http://schemas.microsoft.com/office/drawing/2014/main" id="{13D6E035-DC2F-42F4-B7D2-7103E1A0E4F6}"/>
              </a:ext>
            </a:extLst>
          </p:cNvPr>
          <p:cNvSpPr txBox="1"/>
          <p:nvPr/>
        </p:nvSpPr>
        <p:spPr bwMode="gray">
          <a:xfrm>
            <a:off x="330200" y="952500"/>
            <a:ext cx="1102585" cy="235611"/>
          </a:xfrm>
          <a:prstGeom prst="rect">
            <a:avLst/>
          </a:prstGeom>
          <a:noFill/>
        </p:spPr>
        <p:txBody>
          <a:bodyPr vert="horz" wrap="none" lIns="18136" tIns="25226" rIns="72073" bIns="25226" rtlCol="0">
            <a:spAutoFit/>
          </a:bodyPr>
          <a:lstStyle/>
          <a:p>
            <a:pPr marL="0" indent="0">
              <a:buNone/>
            </a:pPr>
            <a:r>
              <a:rPr lang="en-US" sz="1200" b="1" cap="all" spc="450"/>
              <a:t>Agenda</a:t>
            </a:r>
          </a:p>
        </p:txBody>
      </p:sp>
      <p:sp>
        <p:nvSpPr>
          <p:cNvPr id="21" name="AgendaEmphasisBar">
            <a:extLst>
              <a:ext uri="{FF2B5EF4-FFF2-40B4-BE49-F238E27FC236}">
                <a16:creationId xmlns:a16="http://schemas.microsoft.com/office/drawing/2014/main" id="{CAEC348C-3A88-415E-9551-357AF52471D1}"/>
              </a:ext>
            </a:extLst>
          </p:cNvPr>
          <p:cNvSpPr/>
          <p:nvPr/>
        </p:nvSpPr>
        <p:spPr bwMode="gray">
          <a:xfrm>
            <a:off x="1616981" y="5885176"/>
            <a:ext cx="127000" cy="501879"/>
          </a:xfrm>
          <a:prstGeom prst="rect">
            <a:avLst/>
          </a:prstGeom>
          <a:solidFill>
            <a:srgbClr val="CC0000"/>
          </a:solidFill>
          <a:ln w="19050">
            <a:solidFill>
              <a:srgbClr val="CC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28" name="Agenda">
            <a:extLst>
              <a:ext uri="{FF2B5EF4-FFF2-40B4-BE49-F238E27FC236}">
                <a16:creationId xmlns:a16="http://schemas.microsoft.com/office/drawing/2014/main" id="{A134861E-606B-9FC2-2C0B-31579B8704A7}"/>
              </a:ext>
            </a:extLst>
          </p:cNvPr>
          <p:cNvGrpSpPr/>
          <p:nvPr/>
        </p:nvGrpSpPr>
        <p:grpSpPr>
          <a:xfrm>
            <a:off x="1970752" y="1270000"/>
            <a:ext cx="9891047" cy="5295900"/>
            <a:chOff x="1970752" y="1270000"/>
            <a:chExt cx="9891047" cy="5295900"/>
          </a:xfrm>
        </p:grpSpPr>
        <p:sp>
          <p:nvSpPr>
            <p:cNvPr id="23" name="AgendaTextBox">
              <a:extLst>
                <a:ext uri="{FF2B5EF4-FFF2-40B4-BE49-F238E27FC236}">
                  <a16:creationId xmlns:a16="http://schemas.microsoft.com/office/drawing/2014/main" id="{09C5212D-3A32-442D-8A39-B94BDACFB039}"/>
                </a:ext>
              </a:extLst>
            </p:cNvPr>
            <p:cNvSpPr txBox="1"/>
            <p:nvPr/>
          </p:nvSpPr>
          <p:spPr bwMode="gray">
            <a:xfrm>
              <a:off x="2034252" y="1270000"/>
              <a:ext cx="9827547" cy="5295900"/>
            </a:xfrm>
            <a:prstGeom prst="rect">
              <a:avLst/>
            </a:prstGeom>
            <a:noFill/>
          </p:spPr>
          <p:txBody>
            <a:bodyPr vert="horz" wrap="square" lIns="36000" tIns="36000" rIns="36000" bIns="36000" rtlCol="0">
              <a:noAutofit/>
            </a:bodyPr>
            <a:lstStyle/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AMS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CME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CP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Defense / IT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ENR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FS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Healthcare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Retail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/>
                <a:t>Tech</a:t>
              </a:r>
            </a:p>
            <a:p>
              <a:pPr marL="0" indent="0">
                <a:spcBef>
                  <a:spcPts val="1713"/>
                </a:spcBef>
                <a:buNone/>
              </a:pPr>
              <a:r>
                <a:rPr lang="en-US" sz="2000" b="1">
                  <a:solidFill>
                    <a:srgbClr val="CC0000"/>
                  </a:solidFill>
                </a:rPr>
                <a:t>Telecom</a:t>
              </a:r>
            </a:p>
          </p:txBody>
        </p:sp>
        <p:cxnSp>
          <p:nvCxnSpPr>
            <p:cNvPr id="2" name="AgendaSeparator1">
              <a:extLst>
                <a:ext uri="{FF2B5EF4-FFF2-40B4-BE49-F238E27FC236}">
                  <a16:creationId xmlns:a16="http://schemas.microsoft.com/office/drawing/2014/main" id="{4BA68B2F-0B3F-2152-ACC8-38D8904F0392}"/>
                </a:ext>
              </a:extLst>
            </p:cNvPr>
            <p:cNvCxnSpPr/>
            <p:nvPr/>
          </p:nvCxnSpPr>
          <p:spPr bwMode="gray">
            <a:xfrm>
              <a:off x="1970752" y="17195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AgendaSeparator2">
              <a:extLst>
                <a:ext uri="{FF2B5EF4-FFF2-40B4-BE49-F238E27FC236}">
                  <a16:creationId xmlns:a16="http://schemas.microsoft.com/office/drawing/2014/main" id="{92AC94BD-224F-93DE-C842-D5517BC76785}"/>
                </a:ext>
              </a:extLst>
            </p:cNvPr>
            <p:cNvCxnSpPr/>
            <p:nvPr/>
          </p:nvCxnSpPr>
          <p:spPr bwMode="gray">
            <a:xfrm>
              <a:off x="1970752" y="22402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AgendaSeparator3">
              <a:extLst>
                <a:ext uri="{FF2B5EF4-FFF2-40B4-BE49-F238E27FC236}">
                  <a16:creationId xmlns:a16="http://schemas.microsoft.com/office/drawing/2014/main" id="{7E05E75E-69D6-2FBB-CAC2-E396A3CAE341}"/>
                </a:ext>
              </a:extLst>
            </p:cNvPr>
            <p:cNvCxnSpPr/>
            <p:nvPr/>
          </p:nvCxnSpPr>
          <p:spPr bwMode="gray">
            <a:xfrm>
              <a:off x="1970752" y="27609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gendaSeparator4">
              <a:extLst>
                <a:ext uri="{FF2B5EF4-FFF2-40B4-BE49-F238E27FC236}">
                  <a16:creationId xmlns:a16="http://schemas.microsoft.com/office/drawing/2014/main" id="{D1ADEF37-CB9A-9A9D-95A7-ED7B4EF0EE6A}"/>
                </a:ext>
              </a:extLst>
            </p:cNvPr>
            <p:cNvCxnSpPr/>
            <p:nvPr/>
          </p:nvCxnSpPr>
          <p:spPr bwMode="gray">
            <a:xfrm>
              <a:off x="1970752" y="3281675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gendaSeparator5">
              <a:extLst>
                <a:ext uri="{FF2B5EF4-FFF2-40B4-BE49-F238E27FC236}">
                  <a16:creationId xmlns:a16="http://schemas.microsoft.com/office/drawing/2014/main" id="{C553FA82-37C5-BEEB-787A-D937C52582BC}"/>
                </a:ext>
              </a:extLst>
            </p:cNvPr>
            <p:cNvCxnSpPr/>
            <p:nvPr/>
          </p:nvCxnSpPr>
          <p:spPr bwMode="gray">
            <a:xfrm>
              <a:off x="1970752" y="38023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gendaSeparator6">
              <a:extLst>
                <a:ext uri="{FF2B5EF4-FFF2-40B4-BE49-F238E27FC236}">
                  <a16:creationId xmlns:a16="http://schemas.microsoft.com/office/drawing/2014/main" id="{9C7F39E2-C650-87E8-D427-C1463C8F4004}"/>
                </a:ext>
              </a:extLst>
            </p:cNvPr>
            <p:cNvCxnSpPr/>
            <p:nvPr/>
          </p:nvCxnSpPr>
          <p:spPr bwMode="gray">
            <a:xfrm>
              <a:off x="1970752" y="43230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gendaSeparator7">
              <a:extLst>
                <a:ext uri="{FF2B5EF4-FFF2-40B4-BE49-F238E27FC236}">
                  <a16:creationId xmlns:a16="http://schemas.microsoft.com/office/drawing/2014/main" id="{951E31D6-9AF3-8471-864F-47D6CC6E0DCA}"/>
                </a:ext>
              </a:extLst>
            </p:cNvPr>
            <p:cNvCxnSpPr/>
            <p:nvPr/>
          </p:nvCxnSpPr>
          <p:spPr bwMode="gray">
            <a:xfrm>
              <a:off x="1970752" y="48437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gendaSeparator8">
              <a:extLst>
                <a:ext uri="{FF2B5EF4-FFF2-40B4-BE49-F238E27FC236}">
                  <a16:creationId xmlns:a16="http://schemas.microsoft.com/office/drawing/2014/main" id="{CF556E7B-4688-013C-0B75-A240C04B6EA0}"/>
                </a:ext>
              </a:extLst>
            </p:cNvPr>
            <p:cNvCxnSpPr/>
            <p:nvPr/>
          </p:nvCxnSpPr>
          <p:spPr bwMode="gray">
            <a:xfrm>
              <a:off x="1970752" y="53644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gendaSeparator9">
              <a:extLst>
                <a:ext uri="{FF2B5EF4-FFF2-40B4-BE49-F238E27FC236}">
                  <a16:creationId xmlns:a16="http://schemas.microsoft.com/office/drawing/2014/main" id="{B79ED860-1C26-7BAD-23FF-E544D75DF2A5}"/>
                </a:ext>
              </a:extLst>
            </p:cNvPr>
            <p:cNvCxnSpPr/>
            <p:nvPr/>
          </p:nvCxnSpPr>
          <p:spPr bwMode="gray">
            <a:xfrm>
              <a:off x="1970752" y="5885176"/>
              <a:ext cx="1557338" cy="0"/>
            </a:xfrm>
            <a:prstGeom prst="line">
              <a:avLst/>
            </a:prstGeom>
            <a:ln w="9525" cap="flat">
              <a:solidFill>
                <a:srgbClr val="D6D6D6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39741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hink-cell data - do not delete" hidden="1">
            <a:extLst>
              <a:ext uri="{FF2B5EF4-FFF2-40B4-BE49-F238E27FC236}">
                <a16:creationId xmlns:a16="http://schemas.microsoft.com/office/drawing/2014/main" id="{A0412F0E-6028-FF7A-ADDA-F316C2176A8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484" imgH="486" progId="TCLayout.ActiveDocument.1">
                  <p:embed/>
                </p:oleObj>
              </mc:Choice>
              <mc:Fallback>
                <p:oleObj name="think-cell Slide" r:id="rId32" imgW="484" imgH="486" progId="TCLayout.ActiveDocument.1">
                  <p:embed/>
                  <p:pic>
                    <p:nvPicPr>
                      <p:cNvPr id="6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412F0E-6028-FF7A-ADDA-F316C2176A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btfpColumnIndicatorGroup2">
            <a:extLst>
              <a:ext uri="{FF2B5EF4-FFF2-40B4-BE49-F238E27FC236}">
                <a16:creationId xmlns:a16="http://schemas.microsoft.com/office/drawing/2014/main" id="{AE58349A-A9B3-2A8B-0599-C573FA37252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8" name="btfpColumnGapBlocker222225">
              <a:extLst>
                <a:ext uri="{FF2B5EF4-FFF2-40B4-BE49-F238E27FC236}">
                  <a16:creationId xmlns:a16="http://schemas.microsoft.com/office/drawing/2014/main" id="{FA1B95CA-746B-7D8B-93D3-518C1173257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253348">
              <a:extLst>
                <a:ext uri="{FF2B5EF4-FFF2-40B4-BE49-F238E27FC236}">
                  <a16:creationId xmlns:a16="http://schemas.microsoft.com/office/drawing/2014/main" id="{37EEB10D-D869-8B1C-C968-1BC28A645BB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899031">
              <a:extLst>
                <a:ext uri="{FF2B5EF4-FFF2-40B4-BE49-F238E27FC236}">
                  <a16:creationId xmlns:a16="http://schemas.microsoft.com/office/drawing/2014/main" id="{91C8F399-C20C-E91F-DBD0-6AAE28A785D9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253956">
              <a:extLst>
                <a:ext uri="{FF2B5EF4-FFF2-40B4-BE49-F238E27FC236}">
                  <a16:creationId xmlns:a16="http://schemas.microsoft.com/office/drawing/2014/main" id="{14F7FD36-D40D-C4D7-B925-81EF79BFA241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btfpColumnIndicatorGroup1">
            <a:extLst>
              <a:ext uri="{FF2B5EF4-FFF2-40B4-BE49-F238E27FC236}">
                <a16:creationId xmlns:a16="http://schemas.microsoft.com/office/drawing/2014/main" id="{82649EAC-5BA0-7CE1-3762-D2CA11DFE19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7" name="btfpColumnGapBlocker538798">
              <a:extLst>
                <a:ext uri="{FF2B5EF4-FFF2-40B4-BE49-F238E27FC236}">
                  <a16:creationId xmlns:a16="http://schemas.microsoft.com/office/drawing/2014/main" id="{AE451D31-AC97-53B6-4E8A-0FBDFBF43B1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5" name="btfpColumnGapBlocker809699">
              <a:extLst>
                <a:ext uri="{FF2B5EF4-FFF2-40B4-BE49-F238E27FC236}">
                  <a16:creationId xmlns:a16="http://schemas.microsoft.com/office/drawing/2014/main" id="{F1D13D2B-DC91-5481-2C98-70D9CA7A849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3" name="btfpColumnIndicator633570">
              <a:extLst>
                <a:ext uri="{FF2B5EF4-FFF2-40B4-BE49-F238E27FC236}">
                  <a16:creationId xmlns:a16="http://schemas.microsoft.com/office/drawing/2014/main" id="{C1A7C622-60C6-5F3B-8E79-38F23B630F23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btfpColumnIndicator388056">
              <a:extLst>
                <a:ext uri="{FF2B5EF4-FFF2-40B4-BE49-F238E27FC236}">
                  <a16:creationId xmlns:a16="http://schemas.microsoft.com/office/drawing/2014/main" id="{517B71A8-97DF-9F9E-6C34-C94F2805B1DC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Bain experience against Nokia’s cost structure suggests ~€685M+ of cost savings opportunity within its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aphicFrame>
        <p:nvGraphicFramePr>
          <p:cNvPr id="77" name="Chart 76">
            <a:extLst>
              <a:ext uri="{FF2B5EF4-FFF2-40B4-BE49-F238E27FC236}">
                <a16:creationId xmlns:a16="http://schemas.microsoft.com/office/drawing/2014/main" id="{D5679EF2-2F89-0098-0B9B-8B49A0A959D2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542925" y="1711325"/>
          <a:ext cx="3667125" cy="459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54" name="Text Placeholder">
            <a:extLst>
              <a:ext uri="{FF2B5EF4-FFF2-40B4-BE49-F238E27FC236}">
                <a16:creationId xmlns:a16="http://schemas.microsoft.com/office/drawing/2014/main" id="{A1962233-BBA9-E4D7-8A1D-91F544A1F173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469900" y="6148388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329602C-2C72-441A-A541-FAB4B5BC2519}" type="datetime'0''''''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5" name="Text Placeholder">
            <a:extLst>
              <a:ext uri="{FF2B5EF4-FFF2-40B4-BE49-F238E27FC236}">
                <a16:creationId xmlns:a16="http://schemas.microsoft.com/office/drawing/2014/main" id="{435F832D-F2E5-FC45-E2E8-ABFD14B6526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400050" y="5262563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1A15245-234F-47E2-840B-37FDED06A08B}" type="datetime'''''''''''2''''''''''''''''''''''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6" name="Text Placeholder">
            <a:extLst>
              <a:ext uri="{FF2B5EF4-FFF2-40B4-BE49-F238E27FC236}">
                <a16:creationId xmlns:a16="http://schemas.microsoft.com/office/drawing/2014/main" id="{031B4407-C5BE-B81E-3BA5-40EBA01307A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400050" y="437673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889546A-6656-4931-8072-BF13BAF82837}" type="datetime'''''''''''''''''''''''''''4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7" name="Text Placeholder">
            <a:extLst>
              <a:ext uri="{FF2B5EF4-FFF2-40B4-BE49-F238E27FC236}">
                <a16:creationId xmlns:a16="http://schemas.microsoft.com/office/drawing/2014/main" id="{05111743-BD6B-3C09-D938-921E1ACD323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00050" y="348932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49F530E-662D-46D0-BA7B-205527A53A0F}" type="datetime'''''''''''''''''''''6''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8" name="Text Placeholder">
            <a:extLst>
              <a:ext uri="{FF2B5EF4-FFF2-40B4-BE49-F238E27FC236}">
                <a16:creationId xmlns:a16="http://schemas.microsoft.com/office/drawing/2014/main" id="{8EF1F3A3-5B83-CF68-2E2F-D3F027D00ED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0050" y="26035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8BC4EE8-C5A2-4AAB-8936-CA1FFDABC95A}" type="datetime'''''''''''''8''''''''''''''''0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9B5C9055-5F7F-0A0F-4536-93D6CFF1701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30200" y="1717675"/>
            <a:ext cx="209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9C1D471-F664-4D77-BB82-902FAE6B7A85}" type="datetime'1''''''0''''''0''''''''''''''''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E01AFBFC-054D-77D6-97FC-0E2F0B3FCC3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30200" y="1270000"/>
            <a:ext cx="1117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Typical cost profile  </a:t>
            </a:r>
          </a:p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(% of revenue)</a:t>
            </a:r>
          </a:p>
        </p:txBody>
      </p:sp>
      <p:sp>
        <p:nvSpPr>
          <p:cNvPr id="63" name="Text Placeholder">
            <a:extLst>
              <a:ext uri="{FF2B5EF4-FFF2-40B4-BE49-F238E27FC236}">
                <a16:creationId xmlns:a16="http://schemas.microsoft.com/office/drawing/2014/main" id="{B844D3CC-2980-D767-E8BF-92F3866F00C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804863" y="4786313"/>
            <a:ext cx="8064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475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  <a:effectLst/>
              </a:rPr>
              <a:t>Material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Costs (~58%)</a:t>
            </a:r>
          </a:p>
        </p:txBody>
      </p:sp>
      <p:sp>
        <p:nvSpPr>
          <p:cNvPr id="66" name="Text Placeholder">
            <a:extLst>
              <a:ext uri="{FF2B5EF4-FFF2-40B4-BE49-F238E27FC236}">
                <a16:creationId xmlns:a16="http://schemas.microsoft.com/office/drawing/2014/main" id="{65CB5A86-99D1-CA07-FC39-1BB41EED1755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769938" y="3014663"/>
            <a:ext cx="876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6647B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</a:rPr>
              <a:t>Subcontracting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Costs (~22%)</a:t>
            </a:r>
          </a:p>
        </p:txBody>
      </p:sp>
      <p:sp>
        <p:nvSpPr>
          <p:cNvPr id="62" name="Text Placeholder">
            <a:extLst>
              <a:ext uri="{FF2B5EF4-FFF2-40B4-BE49-F238E27FC236}">
                <a16:creationId xmlns:a16="http://schemas.microsoft.com/office/drawing/2014/main" id="{B8476AE2-2FFA-70F3-423B-01F66D25B56B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882651" y="2084388"/>
            <a:ext cx="652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891AA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000">
                <a:solidFill>
                  <a:srgbClr val="FFFFFF"/>
                </a:solidFill>
              </a:rPr>
              <a:t>Overheads</a:t>
            </a:r>
          </a:p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FFFFFF"/>
                </a:solidFill>
              </a:rPr>
              <a:t>(~20%)</a:t>
            </a:r>
          </a:p>
        </p:txBody>
      </p:sp>
      <p:sp>
        <p:nvSpPr>
          <p:cNvPr id="186" name="Text Placeholder">
            <a:extLst>
              <a:ext uri="{FF2B5EF4-FFF2-40B4-BE49-F238E27FC236}">
                <a16:creationId xmlns:a16="http://schemas.microsoft.com/office/drawing/2014/main" id="{EC02AF72-AD46-3477-B3F9-D0DD03410604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16000" y="6267450"/>
            <a:ext cx="3857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63AA323-CE1E-48B2-B15A-02B935A3F00B}" type="datetime'''C''''''''''''''''OG''''''''''''''''''''''''S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1" name="Text Placeholder">
            <a:extLst>
              <a:ext uri="{FF2B5EF4-FFF2-40B4-BE49-F238E27FC236}">
                <a16:creationId xmlns:a16="http://schemas.microsoft.com/office/drawing/2014/main" id="{1EE73B31-52A3-AC6B-E4BA-F93DB6CDC497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960562" y="242570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B46B46A-2226-4D7C-B3D9-8EDE57C5C786}" type="datetime'''SG''''&amp;''''A'''''''' ''(''''~''''1''''''2''%'')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 (~12%)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06" name="Text Placeholder">
            <a:extLst>
              <a:ext uri="{FF2B5EF4-FFF2-40B4-BE49-F238E27FC236}">
                <a16:creationId xmlns:a16="http://schemas.microsoft.com/office/drawing/2014/main" id="{9420FB02-0E7F-435C-1186-5C4F0FED574A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1949450" y="4884738"/>
            <a:ext cx="8556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01F7A13-E64F-4D54-941E-84AAF64747C7}" type="datetime'C''''''''''OGS'''''''''' ''''''''''(''~''5''7''%'''''''')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COGS (~57%)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111" name="Text Placeholder">
            <a:extLst>
              <a:ext uri="{FF2B5EF4-FFF2-40B4-BE49-F238E27FC236}">
                <a16:creationId xmlns:a16="http://schemas.microsoft.com/office/drawing/2014/main" id="{E0BEAE44-0F77-EF26-F371-17D2CCDE8F6B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001837" y="3157538"/>
            <a:ext cx="7508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3E2135F-7FEE-493F-BBDF-352A2CEAB0C0}" type="datetime'''''R''&amp;''''D'' ''''''''(''~21''''%)'''''''">
              <a:rPr lang="en-US" altLang="en-US" sz="1000" smtClean="0">
                <a:solidFill>
                  <a:srgbClr val="FFFFFF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R&amp;D (~21%)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96" name="Text Placeholder">
            <a:extLst>
              <a:ext uri="{FF2B5EF4-FFF2-40B4-BE49-F238E27FC236}">
                <a16:creationId xmlns:a16="http://schemas.microsoft.com/office/drawing/2014/main" id="{8ACC428A-2D29-E0F8-E158-B279A56D4054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2032000" y="1938338"/>
            <a:ext cx="6889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EBIT (10%)</a:t>
            </a:r>
          </a:p>
        </p:txBody>
      </p:sp>
      <p:sp>
        <p:nvSpPr>
          <p:cNvPr id="188" name="Text Placeholder">
            <a:extLst>
              <a:ext uri="{FF2B5EF4-FFF2-40B4-BE49-F238E27FC236}">
                <a16:creationId xmlns:a16="http://schemas.microsoft.com/office/drawing/2014/main" id="{EB153F44-B6F4-BB11-DBA5-804D3BDB9A5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960563" y="6267450"/>
            <a:ext cx="8334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0B178CA-0A90-4E88-8AD2-6CA7C0F8FA5B}" type="datetime'''''''T''''''o''''ta''''l ''R''e''''''''v''''''en''ue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Total Revenue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53" name="Text Placeholder">
            <a:extLst>
              <a:ext uri="{FF2B5EF4-FFF2-40B4-BE49-F238E27FC236}">
                <a16:creationId xmlns:a16="http://schemas.microsoft.com/office/drawing/2014/main" id="{D586AF4E-F22B-BBD9-4B61-81343E58D7B5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3168650" y="2381250"/>
            <a:ext cx="7493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ED28D7C-B714-442E-9283-E5CBCA753612}" type="datetime'''''G''''&amp;''A ''(''~''''''''''''3''''''''''''''0%)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G&amp;A (~30%)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39" name="Text Placeholder">
            <a:extLst>
              <a:ext uri="{FF2B5EF4-FFF2-40B4-BE49-F238E27FC236}">
                <a16:creationId xmlns:a16="http://schemas.microsoft.com/office/drawing/2014/main" id="{283D8BFB-E468-2D2E-F5CF-3A93E4158886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165475" y="4597400"/>
            <a:ext cx="7572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061C0F9-B21A-4192-93BF-5BF0F35EDF5D}" type="datetime'''''S&amp;M'''' ''''''''(~''''''7''''''''0''%'')'''''''''''">
              <a:rPr lang="en-US" altLang="en-US" sz="1000" smtClean="0">
                <a:solidFill>
                  <a:srgbClr val="000000"/>
                </a:solidFill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S&amp;M (~70%)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89" name="Text Placeholder">
            <a:extLst>
              <a:ext uri="{FF2B5EF4-FFF2-40B4-BE49-F238E27FC236}">
                <a16:creationId xmlns:a16="http://schemas.microsoft.com/office/drawing/2014/main" id="{5D2567EC-E0E3-D03D-F811-30F2A0C9913C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362325" y="6267450"/>
            <a:ext cx="3635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9B4FC7E-2400-4698-BD44-759859600772}" type="datetime'''''''''''''SG''''''''''''''''''''&amp;''''A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SG&amp;A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14" name="btfpNotesBox953997"/>
          <p:cNvSpPr txBox="1"/>
          <p:nvPr>
            <p:custDataLst>
              <p:tags r:id="rId23"/>
            </p:custDataLst>
          </p:nvPr>
        </p:nvSpPr>
        <p:spPr bwMode="gray">
          <a:xfrm>
            <a:off x="330199" y="6442789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Annual report; Capital IQ</a:t>
            </a:r>
          </a:p>
        </p:txBody>
      </p:sp>
      <p:grpSp>
        <p:nvGrpSpPr>
          <p:cNvPr id="17" name="btfpStatusSticker584984"/>
          <p:cNvGrpSpPr/>
          <p:nvPr>
            <p:custDataLst>
              <p:tags r:id="rId24"/>
            </p:custDataLst>
          </p:nvPr>
        </p:nvGrpSpPr>
        <p:grpSpPr>
          <a:xfrm>
            <a:off x="10003470" y="915000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BainTable47798HeaderBox1"/>
          <p:cNvSpPr txBox="1"/>
          <p:nvPr>
            <p:custDataLst>
              <p:tags r:id="rId25"/>
            </p:custDataLst>
          </p:nvPr>
        </p:nvSpPr>
        <p:spPr>
          <a:xfrm>
            <a:off x="4450863" y="1016501"/>
            <a:ext cx="1054870" cy="359703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Category/</a:t>
            </a:r>
            <a:br>
              <a:rPr lang="en-US" sz="900" b="1" cap="all"/>
            </a:br>
            <a:r>
              <a:rPr lang="en-US" sz="900" b="1" cap="all"/>
              <a:t>avg. savings</a:t>
            </a:r>
          </a:p>
        </p:txBody>
      </p:sp>
      <p:sp>
        <p:nvSpPr>
          <p:cNvPr id="12" name="BainTable47798HeaderBox3"/>
          <p:cNvSpPr txBox="1"/>
          <p:nvPr>
            <p:custDataLst>
              <p:tags r:id="rId26"/>
            </p:custDataLst>
          </p:nvPr>
        </p:nvSpPr>
        <p:spPr>
          <a:xfrm>
            <a:off x="6823361" y="1155002"/>
            <a:ext cx="4987280" cy="220028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/>
              <a:t>Example SAVINGS LEVERS</a:t>
            </a:r>
          </a:p>
        </p:txBody>
      </p:sp>
      <p:sp>
        <p:nvSpPr>
          <p:cNvPr id="13" name="BainTable47798HeaderBox1"/>
          <p:cNvSpPr txBox="1"/>
          <p:nvPr>
            <p:custDataLst>
              <p:tags r:id="rId27"/>
            </p:custDataLst>
          </p:nvPr>
        </p:nvSpPr>
        <p:spPr>
          <a:xfrm>
            <a:off x="5641312" y="1016501"/>
            <a:ext cx="1054870" cy="359703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chemeClr val="accent3"/>
                </a:solidFill>
              </a:rPr>
              <a:t>Nokia </a:t>
            </a:r>
            <a:r>
              <a:rPr lang="en-US" sz="900" b="1" cap="all"/>
              <a:t>hypothesis</a:t>
            </a:r>
          </a:p>
        </p:txBody>
      </p:sp>
      <p:sp>
        <p:nvSpPr>
          <p:cNvPr id="18" name="BainTable47798HeaderBox1">
            <a:extLst>
              <a:ext uri="{FF2B5EF4-FFF2-40B4-BE49-F238E27FC236}">
                <a16:creationId xmlns:a16="http://schemas.microsoft.com/office/drawing/2014/main" id="{FA4B202E-703B-41B5-A394-0B4D61BA51D0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695325" y="1544293"/>
            <a:ext cx="2206086" cy="221203"/>
          </a:xfrm>
          <a:prstGeom prst="rect">
            <a:avLst/>
          </a:prstGeom>
          <a:blipFill dpi="0" rotWithShape="1">
            <a:blip r:embed="rId35"/>
            <a:tile tx="0" ty="0" sx="100000" sy="100000" flip="xy" algn="b"/>
          </a:blipFill>
        </p:spPr>
        <p:txBody>
          <a:bodyPr vert="horz" wrap="square" lIns="0" tIns="0" rIns="0" bIns="81904" rtlCol="0" anchor="b">
            <a:spAutoFit/>
          </a:bodyPr>
          <a:lstStyle/>
          <a:p>
            <a:pPr marL="0" indent="0" algn="ctr">
              <a:buNone/>
            </a:pPr>
            <a:r>
              <a:rPr lang="en-US" sz="900" b="1" cap="all">
                <a:solidFill>
                  <a:srgbClr val="C00000"/>
                </a:solidFill>
              </a:rPr>
              <a:t>NOKIA </a:t>
            </a:r>
            <a:r>
              <a:rPr lang="en-US" sz="900" b="1" cap="all"/>
              <a:t>Actuals</a:t>
            </a:r>
          </a:p>
        </p:txBody>
      </p:sp>
      <p:sp>
        <p:nvSpPr>
          <p:cNvPr id="25" name="CommentBox">
            <a:extLst>
              <a:ext uri="{FF2B5EF4-FFF2-40B4-BE49-F238E27FC236}">
                <a16:creationId xmlns:a16="http://schemas.microsoft.com/office/drawing/2014/main" id="{DE25F65B-9C81-43E5-A183-665545949069}"/>
              </a:ext>
            </a:extLst>
          </p:cNvPr>
          <p:cNvSpPr/>
          <p:nvPr/>
        </p:nvSpPr>
        <p:spPr bwMode="gray">
          <a:xfrm>
            <a:off x="3024385" y="1334010"/>
            <a:ext cx="1290930" cy="400386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FAEEC3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900" b="1">
                <a:solidFill>
                  <a:srgbClr val="000000"/>
                </a:solidFill>
                <a:latin typeface="Arial" panose="020B0604020202020204" pitchFamily="34" charset="0"/>
              </a:rPr>
              <a:t>Internal Note:</a:t>
            </a:r>
            <a:r>
              <a:rPr lang="en-US" sz="900" b="1" i="1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900" i="1">
                <a:solidFill>
                  <a:srgbClr val="000000"/>
                </a:solidFill>
                <a:latin typeface="Arial" panose="020B0604020202020204" pitchFamily="34" charset="0"/>
              </a:rPr>
              <a:t>SG&amp;A split leveraged from </a:t>
            </a:r>
            <a:r>
              <a:rPr lang="en-US" sz="900" i="1" err="1">
                <a:solidFill>
                  <a:srgbClr val="000000"/>
                </a:solidFill>
                <a:latin typeface="Arial" panose="020B0604020202020204" pitchFamily="34" charset="0"/>
              </a:rPr>
              <a:t>Ciena</a:t>
            </a:r>
            <a:endParaRPr lang="en-US" sz="900" i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" name="BainTable47798">
            <a:extLst>
              <a:ext uri="{FF2B5EF4-FFF2-40B4-BE49-F238E27FC236}">
                <a16:creationId xmlns:a16="http://schemas.microsoft.com/office/drawing/2014/main" id="{5892A50C-6336-4A55-9CC4-AA677276987D}"/>
              </a:ext>
            </a:extLst>
          </p:cNvPr>
          <p:cNvGraphicFramePr>
            <a:graphicFrameLocks noGrp="1"/>
          </p:cNvGraphicFramePr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3573664367"/>
              </p:ext>
            </p:extLst>
          </p:nvPr>
        </p:nvGraphicFramePr>
        <p:xfrm>
          <a:off x="4464148" y="1345219"/>
          <a:ext cx="7392890" cy="5246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4098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104928">
                  <a:extLst>
                    <a:ext uri="{9D8B030D-6E8A-4147-A177-3AD203B41FA5}">
                      <a16:colId xmlns:a16="http://schemas.microsoft.com/office/drawing/2014/main" val="654404552"/>
                    </a:ext>
                  </a:extLst>
                </a:gridCol>
                <a:gridCol w="5146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398">
                <a:tc gridSpan="2"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u="none" strike="noStrike">
                          <a:solidFill>
                            <a:srgbClr val="000000"/>
                          </a:solidFill>
                          <a:effectLst/>
                        </a:rPr>
                        <a:t>Materials Costs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Redesign products to optimize cost structure (design to value)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Use lower cost suppliers for non-critical components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Qualify multiple sources of supply to increase negotiating power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&amp; contracts to eliminate long tail of suppliers &amp; unlock volume discounts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049583"/>
                  </a:ext>
                </a:extLst>
              </a:tr>
              <a:tr h="45735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1-3%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~€65-200M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>
                        <a:alpha val="75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667645"/>
                  </a:ext>
                </a:extLst>
              </a:tr>
              <a:tr h="46941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Subcontracting Costs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~€50-100M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/>
                        <a:t>Engage businesses in supply chain strategy, encompassing Directs and Subcontract spend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>
                          <a:effectLst/>
                        </a:rPr>
                        <a:t>Direct more spend through PSL suppliers, including Subcontract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/>
                        <a:t>Re-source with higher spend and control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/>
                        <a:t>Extend Direct sourcing to key categories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/>
                        <a:t>Buying power can be extended to the subcontract supply chain through use of PSLs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/>
                        <a:t>Formalization and deepening of relationships based on Subcontract collaboration model</a:t>
                      </a:r>
                      <a:endParaRPr lang="en-US" sz="7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021335"/>
                  </a:ext>
                </a:extLst>
              </a:tr>
              <a:tr h="327294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2-4%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149209"/>
                  </a:ext>
                </a:extLst>
              </a:tr>
              <a:tr h="203398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Overheads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manufacturing network footprint design and production setup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factory performance (e.g., HVPS, lean shopfloor processes, asset health &amp; total productive maintenance, total quality management)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Install digital manufacturing capabilities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7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Smart make vs. buy to reduce complexity 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234478"/>
                  </a:ext>
                </a:extLst>
              </a:tr>
              <a:tr h="36820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00000"/>
                          </a:solidFill>
                        </a:rPr>
                        <a:t>5-10% </a:t>
                      </a:r>
                      <a:r>
                        <a:rPr lang="en-US" sz="900"/>
                        <a:t>savings</a:t>
                      </a:r>
                    </a:p>
                  </a:txBody>
                  <a:tcPr marL="84244" marR="8775" marT="42122" marB="42122" anchor="ctr"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~€115-230M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46659"/>
                  </a:ext>
                </a:extLst>
              </a:tr>
              <a:tr h="20339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/>
                        <a:t>COGS savings</a:t>
                      </a:r>
                    </a:p>
                  </a:txBody>
                  <a:tcPr marL="84244" marR="8775" marT="42122" marB="42122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~€230-530M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lang="en-US" sz="700" b="0">
                        <a:solidFill>
                          <a:schemeClr val="tx1"/>
                        </a:solidFill>
                      </a:endParaRPr>
                    </a:p>
                  </a:txBody>
                  <a:tcPr marL="84244" marR="8775" marT="42122" marB="42122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024466"/>
                  </a:ext>
                </a:extLst>
              </a:tr>
              <a:tr h="364406">
                <a:tc gridSpan="2"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S&amp;M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10-15% 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savings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</a:t>
                      </a:r>
                      <a:r>
                        <a:rPr lang="en-US" sz="700" b="0" i="0" kern="1200" baseline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capacity coverage (where to deploy, optimize channels, role design &amp; decision rights)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Coordinate single product sales efforts to drive up share of wallet and improve cross selling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(e.g., prioritize accounts by profit opportunity and ability to win)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Optimize sales incentives to drive desired behaviors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Expand sales operations capabilities including commercial pipeline mgmt., KPI tracking and sales continuous improvement</a:t>
                      </a:r>
                    </a:p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baseline="0">
                          <a:solidFill>
                            <a:srgbClr val="000000"/>
                          </a:solidFill>
                        </a:rPr>
                        <a:t>Marketing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baseline="0">
                          <a:solidFill>
                            <a:srgbClr val="000000"/>
                          </a:solidFill>
                        </a:rPr>
                        <a:t>Improve ROI of marketing – shift low-impact spend to high-impact areas;  leverage AI/ML to better customize offers and improve conversion; conduct A/B testing to refine messaging, tactics, etc.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 to lower cost consumer market insight</a:t>
                      </a:r>
                      <a:r>
                        <a:rPr 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vendor</a:t>
                      </a:r>
                      <a:r>
                        <a:rPr 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self-serve platforms &amp; </a:t>
                      </a:r>
                      <a:r>
                        <a:rPr lang="en-US" sz="700" b="0" i="0" u="non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data in-house (create</a:t>
                      </a:r>
                      <a:r>
                        <a:rPr lang="en-US" sz="700" b="0" i="0" u="none" kern="1200" baseline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internal center of excellence)</a:t>
                      </a:r>
                      <a:endParaRPr lang="en-US" sz="700" b="0" i="0" u="non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810527"/>
                  </a:ext>
                </a:extLst>
              </a:tr>
              <a:tr h="89604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~€170-255M</a:t>
                      </a:r>
                    </a:p>
                  </a:txBody>
                  <a:tcPr marL="84244" marR="8775" marT="42122" marB="42122">
                    <a:lnL>
                      <a:noFill/>
                    </a:lnL>
                    <a:solidFill>
                      <a:srgbClr val="D6D6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696515"/>
                  </a:ext>
                </a:extLst>
              </a:tr>
              <a:tr h="203398">
                <a:tc gridSpan="2"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1200"/>
                        </a:spcBef>
                        <a:buClrTx/>
                        <a:buNone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/>
                        <a:t>Optimize spans and layers and align talent pyramid and compensation (‘right person, right role’)</a:t>
                      </a:r>
                    </a:p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tabLst/>
                        <a:defRPr/>
                      </a:pPr>
                      <a:r>
                        <a:rPr lang="en-US" sz="700" b="0"/>
                        <a:t>Zero base activities, eliminating non-value-added work and automating low value, repetitive processes 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/>
                        <a:t>Explore shared services, internal COEs and outsourcing/offshore to optimize where services are done and by whom (eliminate shadow organizations within BUs)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967867"/>
                  </a:ext>
                </a:extLst>
              </a:tr>
              <a:tr h="27131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10-20% </a:t>
                      </a:r>
                      <a:r>
                        <a:rPr lang="en-US" sz="900">
                          <a:solidFill>
                            <a:srgbClr val="000000"/>
                          </a:solidFill>
                        </a:rPr>
                        <a:t>savings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</a:rPr>
                        <a:t>~€75-145M</a:t>
                      </a: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782845"/>
                  </a:ext>
                </a:extLst>
              </a:tr>
              <a:tr h="20339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 savings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~€245-400M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700"/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00060"/>
                  </a:ext>
                </a:extLst>
              </a:tr>
              <a:tr h="46941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</a:rPr>
                        <a:t>R&amp;D </a:t>
                      </a:r>
                      <a:br>
                        <a:rPr lang="en-US" sz="900" b="1">
                          <a:solidFill>
                            <a:srgbClr val="000000"/>
                          </a:solidFill>
                        </a:rPr>
                      </a:b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5-10% </a:t>
                      </a:r>
                      <a:r>
                        <a:rPr lang="en-US" sz="900" b="0">
                          <a:solidFill>
                            <a:srgbClr val="000000"/>
                          </a:solidFill>
                        </a:rPr>
                        <a:t>savings 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</a:rPr>
                        <a:t>~€210-420M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 portfolio with strategy / focus on relevant projects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automation, AI, advanced analytics to improve R&amp;D productivity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 strategic approach to “make vs. buy” decisions for sourcing innovation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r>
                        <a:rPr lang="en-US" sz="700" b="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Prioritize sustaining engineering projects that will substantially shift costs</a:t>
                      </a: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2942522"/>
                  </a:ext>
                </a:extLst>
              </a:tr>
              <a:tr h="20339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u="none" strike="noStrike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Est. </a:t>
                      </a:r>
                      <a:r>
                        <a:rPr lang="en-US" sz="900" b="1" i="0" u="none" strike="noStrike" baseline="0">
                          <a:solidFill>
                            <a:srgbClr val="CC0000"/>
                          </a:solidFill>
                          <a:effectLst/>
                          <a:latin typeface="+mn-lt"/>
                        </a:rPr>
                        <a:t>savings</a:t>
                      </a:r>
                      <a:endParaRPr lang="en-US" sz="900" b="1" i="0" u="none" strike="noStrike">
                        <a:solidFill>
                          <a:srgbClr val="CC0000"/>
                        </a:solidFill>
                        <a:effectLst/>
                        <a:latin typeface="+mn-lt"/>
                      </a:endParaRP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solidFill>
                            <a:srgbClr val="CC0000"/>
                          </a:solidFill>
                        </a:rPr>
                        <a:t>~€685-1350M</a:t>
                      </a:r>
                    </a:p>
                  </a:txBody>
                  <a:tcPr marL="84244" marR="8775" marT="42122" marB="42122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81334" rtl="0" eaLnBrk="1" fontAlgn="b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Verdana" panose="020B0604030504040204" pitchFamily="34" charset="0"/>
                        <a:buNone/>
                      </a:pPr>
                      <a:endParaRPr lang="en-US" sz="900" b="1" u="none" strike="noStrike" baseline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244" marR="8775" marT="42122" marB="42122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756157"/>
                  </a:ext>
                </a:extLst>
              </a:tr>
            </a:tbl>
          </a:graphicData>
        </a:graphic>
      </p:graphicFrame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7B2D19E-2C1A-D8BC-14FC-708B2B7CA6E6}"/>
              </a:ext>
            </a:extLst>
          </p:cNvPr>
          <p:cNvCxnSpPr>
            <a:cxnSpLocks/>
          </p:cNvCxnSpPr>
          <p:nvPr/>
        </p:nvCxnSpPr>
        <p:spPr bwMode="gray">
          <a:xfrm flipV="1">
            <a:off x="2901411" y="1788435"/>
            <a:ext cx="105412" cy="443777"/>
          </a:xfrm>
          <a:prstGeom prst="line">
            <a:avLst/>
          </a:prstGeom>
          <a:ln w="9525" cap="flat">
            <a:solidFill>
              <a:schemeClr val="tx1"/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5201706-B9D5-DA69-66C8-75163F9F5687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901411" y="2755900"/>
            <a:ext cx="105412" cy="3442062"/>
          </a:xfrm>
          <a:prstGeom prst="line">
            <a:avLst/>
          </a:prstGeom>
          <a:ln w="9525" cap="flat">
            <a:solidFill>
              <a:schemeClr val="tx1"/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053FB81-BE49-059B-ED69-6AF092B6B1B3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726247" y="1788435"/>
            <a:ext cx="125317" cy="1905682"/>
          </a:xfrm>
          <a:prstGeom prst="line">
            <a:avLst/>
          </a:prstGeom>
          <a:ln w="9525" cap="flat">
            <a:solidFill>
              <a:schemeClr val="tx1"/>
            </a:solidFill>
            <a:prstDash val="dash"/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2E28584-04BF-33A4-1EBB-53F3644207FA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54150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C8D6AC1-8913-4CF7-8E0F-D61E63ABAFD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D6AC1-8913-4CF7-8E0F-D61E63ABAF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7A0B7877-F265-4BE9-96D6-8FD004DF2A4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918412">
              <a:extLst>
                <a:ext uri="{FF2B5EF4-FFF2-40B4-BE49-F238E27FC236}">
                  <a16:creationId xmlns:a16="http://schemas.microsoft.com/office/drawing/2014/main" id="{9AD9A091-AEC6-4A69-9C2B-75952759B4B0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827530">
              <a:extLst>
                <a:ext uri="{FF2B5EF4-FFF2-40B4-BE49-F238E27FC236}">
                  <a16:creationId xmlns:a16="http://schemas.microsoft.com/office/drawing/2014/main" id="{C5A125F8-8926-4E05-BCAF-74D6868D091A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841843">
              <a:extLst>
                <a:ext uri="{FF2B5EF4-FFF2-40B4-BE49-F238E27FC236}">
                  <a16:creationId xmlns:a16="http://schemas.microsoft.com/office/drawing/2014/main" id="{EECBE802-83E0-4A7B-9A22-3625F63695B9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979990">
              <a:extLst>
                <a:ext uri="{FF2B5EF4-FFF2-40B4-BE49-F238E27FC236}">
                  <a16:creationId xmlns:a16="http://schemas.microsoft.com/office/drawing/2014/main" id="{84913BE4-CCCA-47FE-A981-F19A274ED446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341402">
              <a:extLst>
                <a:ext uri="{FF2B5EF4-FFF2-40B4-BE49-F238E27FC236}">
                  <a16:creationId xmlns:a16="http://schemas.microsoft.com/office/drawing/2014/main" id="{0CB21DE9-1D85-49B9-9DDD-86EE85EBE1E2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469291">
              <a:extLst>
                <a:ext uri="{FF2B5EF4-FFF2-40B4-BE49-F238E27FC236}">
                  <a16:creationId xmlns:a16="http://schemas.microsoft.com/office/drawing/2014/main" id="{C8EE8B28-80D7-4C79-A88E-4BBAD4593949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511484">
              <a:extLst>
                <a:ext uri="{FF2B5EF4-FFF2-40B4-BE49-F238E27FC236}">
                  <a16:creationId xmlns:a16="http://schemas.microsoft.com/office/drawing/2014/main" id="{F6E7A7B7-B01A-421E-97E1-B2474CF36A28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930806">
              <a:extLst>
                <a:ext uri="{FF2B5EF4-FFF2-40B4-BE49-F238E27FC236}">
                  <a16:creationId xmlns:a16="http://schemas.microsoft.com/office/drawing/2014/main" id="{B1DACBC9-E79C-445B-A52A-7E84D3ECB473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750271">
              <a:extLst>
                <a:ext uri="{FF2B5EF4-FFF2-40B4-BE49-F238E27FC236}">
                  <a16:creationId xmlns:a16="http://schemas.microsoft.com/office/drawing/2014/main" id="{4FE94052-91F3-4DAF-AE14-486FFA7CAA10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847421">
              <a:extLst>
                <a:ext uri="{FF2B5EF4-FFF2-40B4-BE49-F238E27FC236}">
                  <a16:creationId xmlns:a16="http://schemas.microsoft.com/office/drawing/2014/main" id="{4234155B-AD58-4D36-90D5-42664E4CB236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173405">
              <a:extLst>
                <a:ext uri="{FF2B5EF4-FFF2-40B4-BE49-F238E27FC236}">
                  <a16:creationId xmlns:a16="http://schemas.microsoft.com/office/drawing/2014/main" id="{766DC566-24F2-4AC9-AF55-DEB9FA47E3EF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785106">
              <a:extLst>
                <a:ext uri="{FF2B5EF4-FFF2-40B4-BE49-F238E27FC236}">
                  <a16:creationId xmlns:a16="http://schemas.microsoft.com/office/drawing/2014/main" id="{CC61E791-F2C6-4483-BA99-3B58CFEF3A15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895868">
              <a:extLst>
                <a:ext uri="{FF2B5EF4-FFF2-40B4-BE49-F238E27FC236}">
                  <a16:creationId xmlns:a16="http://schemas.microsoft.com/office/drawing/2014/main" id="{045ECCD3-C01C-4F83-87F6-C150A824A541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578410">
              <a:extLst>
                <a:ext uri="{FF2B5EF4-FFF2-40B4-BE49-F238E27FC236}">
                  <a16:creationId xmlns:a16="http://schemas.microsoft.com/office/drawing/2014/main" id="{78A877D8-AC8E-451F-9A10-A56BBE1C95C0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692436">
              <a:extLst>
                <a:ext uri="{FF2B5EF4-FFF2-40B4-BE49-F238E27FC236}">
                  <a16:creationId xmlns:a16="http://schemas.microsoft.com/office/drawing/2014/main" id="{19429D05-4CE7-4C7D-9FEA-7149C8506DC5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195101">
              <a:extLst>
                <a:ext uri="{FF2B5EF4-FFF2-40B4-BE49-F238E27FC236}">
                  <a16:creationId xmlns:a16="http://schemas.microsoft.com/office/drawing/2014/main" id="{5F61884D-0ADB-4233-96FA-CC58499B4C4F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224774">
              <a:extLst>
                <a:ext uri="{FF2B5EF4-FFF2-40B4-BE49-F238E27FC236}">
                  <a16:creationId xmlns:a16="http://schemas.microsoft.com/office/drawing/2014/main" id="{4EFB898A-A613-4959-A09C-E0452BEF1B1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695494">
              <a:extLst>
                <a:ext uri="{FF2B5EF4-FFF2-40B4-BE49-F238E27FC236}">
                  <a16:creationId xmlns:a16="http://schemas.microsoft.com/office/drawing/2014/main" id="{5886F61A-65BE-4790-A5D4-71282B941F1C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221770">
              <a:extLst>
                <a:ext uri="{FF2B5EF4-FFF2-40B4-BE49-F238E27FC236}">
                  <a16:creationId xmlns:a16="http://schemas.microsoft.com/office/drawing/2014/main" id="{D09BB446-85A1-4A61-93CE-7C1C916A64B2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70AD9BA9-F4FF-4D3F-87D2-567D21D0F230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370687">
              <a:extLst>
                <a:ext uri="{FF2B5EF4-FFF2-40B4-BE49-F238E27FC236}">
                  <a16:creationId xmlns:a16="http://schemas.microsoft.com/office/drawing/2014/main" id="{AC14B74D-CD7B-44B3-B06D-CE7AFEAF6C49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948155">
              <a:extLst>
                <a:ext uri="{FF2B5EF4-FFF2-40B4-BE49-F238E27FC236}">
                  <a16:creationId xmlns:a16="http://schemas.microsoft.com/office/drawing/2014/main" id="{3199CA2B-9B03-4A4B-BA1C-A305B6559F4F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478430">
              <a:extLst>
                <a:ext uri="{FF2B5EF4-FFF2-40B4-BE49-F238E27FC236}">
                  <a16:creationId xmlns:a16="http://schemas.microsoft.com/office/drawing/2014/main" id="{83865DD3-9B4D-4ACB-9F8F-F61558317104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300419">
              <a:extLst>
                <a:ext uri="{FF2B5EF4-FFF2-40B4-BE49-F238E27FC236}">
                  <a16:creationId xmlns:a16="http://schemas.microsoft.com/office/drawing/2014/main" id="{467C5409-6581-4F2D-B7C2-05D70193B928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141874">
              <a:extLst>
                <a:ext uri="{FF2B5EF4-FFF2-40B4-BE49-F238E27FC236}">
                  <a16:creationId xmlns:a16="http://schemas.microsoft.com/office/drawing/2014/main" id="{4B959947-1C88-42E8-AD52-C12F2322CC93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907531">
              <a:extLst>
                <a:ext uri="{FF2B5EF4-FFF2-40B4-BE49-F238E27FC236}">
                  <a16:creationId xmlns:a16="http://schemas.microsoft.com/office/drawing/2014/main" id="{20DCBE1E-6AAD-4B7C-9957-63AE97546015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445813">
              <a:extLst>
                <a:ext uri="{FF2B5EF4-FFF2-40B4-BE49-F238E27FC236}">
                  <a16:creationId xmlns:a16="http://schemas.microsoft.com/office/drawing/2014/main" id="{073C527F-4C3B-4851-9489-B8C333D3B365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617251">
              <a:extLst>
                <a:ext uri="{FF2B5EF4-FFF2-40B4-BE49-F238E27FC236}">
                  <a16:creationId xmlns:a16="http://schemas.microsoft.com/office/drawing/2014/main" id="{C418ECC6-E6F1-4F51-A3F6-1D65AFDC571C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792553">
              <a:extLst>
                <a:ext uri="{FF2B5EF4-FFF2-40B4-BE49-F238E27FC236}">
                  <a16:creationId xmlns:a16="http://schemas.microsoft.com/office/drawing/2014/main" id="{17583526-2F19-4733-91BD-B6DB8E8EB7B0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239699">
              <a:extLst>
                <a:ext uri="{FF2B5EF4-FFF2-40B4-BE49-F238E27FC236}">
                  <a16:creationId xmlns:a16="http://schemas.microsoft.com/office/drawing/2014/main" id="{07278D0F-2CD3-4915-A673-FD5B250FFC67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113767">
              <a:extLst>
                <a:ext uri="{FF2B5EF4-FFF2-40B4-BE49-F238E27FC236}">
                  <a16:creationId xmlns:a16="http://schemas.microsoft.com/office/drawing/2014/main" id="{A4E0B3A1-6BD6-4082-A649-C3177337435C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781169">
              <a:extLst>
                <a:ext uri="{FF2B5EF4-FFF2-40B4-BE49-F238E27FC236}">
                  <a16:creationId xmlns:a16="http://schemas.microsoft.com/office/drawing/2014/main" id="{B6F8184D-51F6-4E2F-8E21-1AD485493014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427711">
              <a:extLst>
                <a:ext uri="{FF2B5EF4-FFF2-40B4-BE49-F238E27FC236}">
                  <a16:creationId xmlns:a16="http://schemas.microsoft.com/office/drawing/2014/main" id="{DC695065-FE84-4C9C-B7F6-6418788870A1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258528">
              <a:extLst>
                <a:ext uri="{FF2B5EF4-FFF2-40B4-BE49-F238E27FC236}">
                  <a16:creationId xmlns:a16="http://schemas.microsoft.com/office/drawing/2014/main" id="{C6D1471C-8CBD-4B6E-A2CE-CB2C85F60043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320142">
              <a:extLst>
                <a:ext uri="{FF2B5EF4-FFF2-40B4-BE49-F238E27FC236}">
                  <a16:creationId xmlns:a16="http://schemas.microsoft.com/office/drawing/2014/main" id="{4142CC34-19BA-4469-8D99-8D3093B1FF2C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314570">
              <a:extLst>
                <a:ext uri="{FF2B5EF4-FFF2-40B4-BE49-F238E27FC236}">
                  <a16:creationId xmlns:a16="http://schemas.microsoft.com/office/drawing/2014/main" id="{1CF247EC-E3D8-4254-BE38-20676BBD371B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820740">
              <a:extLst>
                <a:ext uri="{FF2B5EF4-FFF2-40B4-BE49-F238E27FC236}">
                  <a16:creationId xmlns:a16="http://schemas.microsoft.com/office/drawing/2014/main" id="{F4923904-0168-4848-BBCE-FCFDD3911B01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347114">
              <a:extLst>
                <a:ext uri="{FF2B5EF4-FFF2-40B4-BE49-F238E27FC236}">
                  <a16:creationId xmlns:a16="http://schemas.microsoft.com/office/drawing/2014/main" id="{FAF7423C-0846-42BF-91D3-59D4A5E7F887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817455">
              <a:extLst>
                <a:ext uri="{FF2B5EF4-FFF2-40B4-BE49-F238E27FC236}">
                  <a16:creationId xmlns:a16="http://schemas.microsoft.com/office/drawing/2014/main" id="{98A3089B-0F3A-4EFE-BC80-C0185552046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708603105"/>
              </p:ext>
            </p:extLst>
          </p:nvPr>
        </p:nvGraphicFramePr>
        <p:xfrm>
          <a:off x="334961" y="1269612"/>
          <a:ext cx="11522075" cy="48327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8712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1559139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585651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113731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614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283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FY24 LTM Baseline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Vodafone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72900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Cost of Goods Sold 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~€30,400M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~€1,520-3,040M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Standardize offerings &amp; improve ways of working (i.e. DevOps) rather than distributed model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 and fully optimize operations in hardware, network, and storage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digital delivery at scale (DevOps, Agile, product-centric) with deep digital capabilities (UR/UX/design)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 sub-scale DCs and DCs with below benchmark utilization where feasible, move workload to other existing DCs, and eliminate fixed costs of closed DCs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 services mix from Implementation to higher-margin services, e.g., Advisor or Managed services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revenue/pricing of higher value consulting services (i.e. tech strategic consulting)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/ manage time spent on NB project tasks, presales, and vacation time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mix of lower cost resources (i.e. offshore/remote)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Consolidate subcontractor vendors and re-negotiate rates, maximize usage in highest margin roles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Maximize allocation of low value tasks with low-cost sub-contractors</a:t>
                      </a:r>
                    </a:p>
                  </a:txBody>
                  <a:tcPr marL="84244" marR="8775" marT="42122" marB="42122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489524"/>
                  </a:ext>
                </a:extLst>
              </a:tr>
              <a:tr h="786461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S&amp;M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~€3,150M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10-15%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~€235-355M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Selling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sales/capacity coverage (where to deploy, optimize channels, role design &amp; decision rights)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Coordinate single product sales efforts to drive up share of wallet and improve cross selling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Focus reps on best opportunities (e.g., prioritize accounts by profit opportunity and ability to win)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sales incentives to drive desired behaviors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Expand sales operations capabilities including commercial pipeline mgmt., KPI tracking and sales continuous improvement</a:t>
                      </a:r>
                    </a:p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Marketing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ROI of marketing – shift low-impact spend to high-impact areas;  leverage AI/ML to better customize offers and improve conversion; conduct A/B testing to refine messaging, tactics, etc.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 to lower cost consumer market insight vendor / Use self-serve platforms &amp; analyze data in-house (create internal center of excellence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20896"/>
                  </a:ext>
                </a:extLst>
              </a:tr>
              <a:tr h="623400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~€6,250M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10-20%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~€235-470M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spans and layers and align talent pyramid and compensation (‘right person, right role’)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 base activities, eliminating non-value-added work and automating low value, repetitive processes 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Explore shared services, internal COEs and outsourcing/offshore to optimize where services are done and by whom (eliminate shadow organizations within BUs)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007207"/>
                  </a:ext>
                </a:extLst>
              </a:tr>
              <a:tr h="171598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 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~€9,400M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5-9%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~€470-825M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79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93424"/>
                  </a:ext>
                </a:extLst>
              </a:tr>
              <a:tr h="184283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Total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CC0000"/>
                          </a:solidFill>
                          <a:latin typeface="+mn-lt"/>
                          <a:ea typeface="+mn-ea"/>
                          <a:cs typeface="+mn-cs"/>
                        </a:rPr>
                        <a:t>~€39,800M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5-10%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~€1,990-3,865M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800" b="1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 vert="horz"/>
          <a:lstStyle/>
          <a:p>
            <a:r>
              <a:rPr lang="en-US"/>
              <a:t>Bain experience against Vodafone’s cost structure suggests ~€2B+ of cost savings opportunity within its P&amp;L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89" name="btfpStatusSticker253844">
            <a:extLst>
              <a:ext uri="{FF2B5EF4-FFF2-40B4-BE49-F238E27FC236}">
                <a16:creationId xmlns:a16="http://schemas.microsoft.com/office/drawing/2014/main" id="{45164639-27C6-44E3-8DA3-A58F89122F2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003470" y="879340"/>
            <a:ext cx="1858330" cy="235611"/>
            <a:chOff x="-2436373" y="876300"/>
            <a:chExt cx="1858330" cy="235611"/>
          </a:xfrm>
        </p:grpSpPr>
        <p:sp>
          <p:nvSpPr>
            <p:cNvPr id="90" name="btfpStatusStickerText253844">
              <a:extLst>
                <a:ext uri="{FF2B5EF4-FFF2-40B4-BE49-F238E27FC236}">
                  <a16:creationId xmlns:a16="http://schemas.microsoft.com/office/drawing/2014/main" id="{14487CC9-0010-44DC-B175-475B7619EE96}"/>
                </a:ext>
              </a:extLst>
            </p:cNvPr>
            <p:cNvSpPr txBox="1"/>
            <p:nvPr/>
          </p:nvSpPr>
          <p:spPr bwMode="gray">
            <a:xfrm>
              <a:off x="-2436373" y="876300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91" name="btfpStatusStickerLine253844">
              <a:extLst>
                <a:ext uri="{FF2B5EF4-FFF2-40B4-BE49-F238E27FC236}">
                  <a16:creationId xmlns:a16="http://schemas.microsoft.com/office/drawing/2014/main" id="{4AE77C85-8DA0-4455-83D5-CAE3340F252B}"/>
                </a:ext>
              </a:extLst>
            </p:cNvPr>
            <p:cNvCxnSpPr>
              <a:cxnSpLocks/>
            </p:cNvCxnSpPr>
            <p:nvPr/>
          </p:nvCxnSpPr>
          <p:spPr bwMode="gray">
            <a:xfrm rot="720000">
              <a:off x="-2436373" y="876300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btfpNotesBox333743">
            <a:extLst>
              <a:ext uri="{FF2B5EF4-FFF2-40B4-BE49-F238E27FC236}">
                <a16:creationId xmlns:a16="http://schemas.microsoft.com/office/drawing/2014/main" id="{9761A8C8-D659-4B0B-923D-64670A717B9B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gray">
          <a:xfrm>
            <a:off x="330199" y="6442791"/>
            <a:ext cx="1153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Company annual reports; Quarterly earnings presentation; Capital IQ; Bain analysis</a:t>
            </a:r>
          </a:p>
        </p:txBody>
      </p:sp>
      <p:grpSp>
        <p:nvGrpSpPr>
          <p:cNvPr id="60" name="btfpRunningAgenda1Level650523">
            <a:extLst>
              <a:ext uri="{FF2B5EF4-FFF2-40B4-BE49-F238E27FC236}">
                <a16:creationId xmlns:a16="http://schemas.microsoft.com/office/drawing/2014/main" id="{A020A5FA-0C9B-4CFA-AB36-D7251A807839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61" name="btfpRunningAgenda1LevelBarLeft650523">
              <a:extLst>
                <a:ext uri="{FF2B5EF4-FFF2-40B4-BE49-F238E27FC236}">
                  <a16:creationId xmlns:a16="http://schemas.microsoft.com/office/drawing/2014/main" id="{0C8A9529-1348-45A7-A966-271FF84BA116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2" name="btfpRunningAgenda1LevelTextLeft650523">
              <a:extLst>
                <a:ext uri="{FF2B5EF4-FFF2-40B4-BE49-F238E27FC236}">
                  <a16:creationId xmlns:a16="http://schemas.microsoft.com/office/drawing/2014/main" id="{B6B5C8E7-4821-4FD3-B488-90A09B35DC09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B9FAA127-8CB1-76A5-D4A5-5E0F959105CD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5717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D93C156-6372-2C80-7DF3-F3416060459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606" imgH="608" progId="TCLayout.ActiveDocument.1">
                  <p:embed/>
                </p:oleObj>
              </mc:Choice>
              <mc:Fallback>
                <p:oleObj name="think-cell Slide" r:id="rId9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93C156-6372-2C80-7DF3-F34160604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btfpColumnIndicatorGroup2">
            <a:extLst>
              <a:ext uri="{FF2B5EF4-FFF2-40B4-BE49-F238E27FC236}">
                <a16:creationId xmlns:a16="http://schemas.microsoft.com/office/drawing/2014/main" id="{2BA8F982-8569-48F0-B59C-E6F65ED14D8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86" name="btfpColumnGapBlocker653395">
              <a:extLst>
                <a:ext uri="{FF2B5EF4-FFF2-40B4-BE49-F238E27FC236}">
                  <a16:creationId xmlns:a16="http://schemas.microsoft.com/office/drawing/2014/main" id="{3367A5CF-7012-4110-B45C-97560E825DF9}"/>
                </a:ext>
              </a:extLst>
            </p:cNvPr>
            <p:cNvSpPr/>
            <p:nvPr/>
          </p:nvSpPr>
          <p:spPr bwMode="gray">
            <a:xfrm>
              <a:off x="11861801" y="692658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4" name="btfpColumnGapBlocker624777">
              <a:extLst>
                <a:ext uri="{FF2B5EF4-FFF2-40B4-BE49-F238E27FC236}">
                  <a16:creationId xmlns:a16="http://schemas.microsoft.com/office/drawing/2014/main" id="{D70ACCBA-A7C8-4079-9809-FABBAB56CCED}"/>
                </a:ext>
              </a:extLst>
            </p:cNvPr>
            <p:cNvSpPr/>
            <p:nvPr/>
          </p:nvSpPr>
          <p:spPr bwMode="gray">
            <a:xfrm>
              <a:off x="9849776" y="692658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2" name="btfpColumnIndicator786442">
              <a:extLst>
                <a:ext uri="{FF2B5EF4-FFF2-40B4-BE49-F238E27FC236}">
                  <a16:creationId xmlns:a16="http://schemas.microsoft.com/office/drawing/2014/main" id="{C15B4B57-C747-4F06-93FB-2CC4A87145EE}"/>
                </a:ext>
              </a:extLst>
            </p:cNvPr>
            <p:cNvCxnSpPr/>
            <p:nvPr/>
          </p:nvCxnSpPr>
          <p:spPr bwMode="gray">
            <a:xfrm flipV="1">
              <a:off x="1186180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btfpColumnIndicator628682">
              <a:extLst>
                <a:ext uri="{FF2B5EF4-FFF2-40B4-BE49-F238E27FC236}">
                  <a16:creationId xmlns:a16="http://schemas.microsoft.com/office/drawing/2014/main" id="{A53C06B8-963F-4052-B804-ACC0175B2A96}"/>
                </a:ext>
              </a:extLst>
            </p:cNvPr>
            <p:cNvCxnSpPr/>
            <p:nvPr/>
          </p:nvCxnSpPr>
          <p:spPr bwMode="gray">
            <a:xfrm flipV="1">
              <a:off x="10390321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btfpColumnGapBlocker208088">
              <a:extLst>
                <a:ext uri="{FF2B5EF4-FFF2-40B4-BE49-F238E27FC236}">
                  <a16:creationId xmlns:a16="http://schemas.microsoft.com/office/drawing/2014/main" id="{74828120-7C04-4A5F-BADC-A5AC125793A1}"/>
                </a:ext>
              </a:extLst>
            </p:cNvPr>
            <p:cNvSpPr/>
            <p:nvPr/>
          </p:nvSpPr>
          <p:spPr bwMode="gray">
            <a:xfrm>
              <a:off x="7837753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6" name="btfpColumnIndicator147742">
              <a:extLst>
                <a:ext uri="{FF2B5EF4-FFF2-40B4-BE49-F238E27FC236}">
                  <a16:creationId xmlns:a16="http://schemas.microsoft.com/office/drawing/2014/main" id="{CD385007-7941-43BB-9AC7-DBB845818B09}"/>
                </a:ext>
              </a:extLst>
            </p:cNvPr>
            <p:cNvCxnSpPr/>
            <p:nvPr/>
          </p:nvCxnSpPr>
          <p:spPr bwMode="gray">
            <a:xfrm flipV="1">
              <a:off x="984977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btfpColumnIndicator842935">
              <a:extLst>
                <a:ext uri="{FF2B5EF4-FFF2-40B4-BE49-F238E27FC236}">
                  <a16:creationId xmlns:a16="http://schemas.microsoft.com/office/drawing/2014/main" id="{0B452954-25D4-45E9-A55C-2A53F843F941}"/>
                </a:ext>
              </a:extLst>
            </p:cNvPr>
            <p:cNvCxnSpPr/>
            <p:nvPr/>
          </p:nvCxnSpPr>
          <p:spPr bwMode="gray">
            <a:xfrm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btfpColumnGapBlocker961739">
              <a:extLst>
                <a:ext uri="{FF2B5EF4-FFF2-40B4-BE49-F238E27FC236}">
                  <a16:creationId xmlns:a16="http://schemas.microsoft.com/office/drawing/2014/main" id="{E7FA9B71-74C7-42B5-BED8-0275ED570B0B}"/>
                </a:ext>
              </a:extLst>
            </p:cNvPr>
            <p:cNvSpPr/>
            <p:nvPr/>
          </p:nvSpPr>
          <p:spPr bwMode="gray">
            <a:xfrm>
              <a:off x="5825729" y="692658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btfpColumnIndicator505855">
              <a:extLst>
                <a:ext uri="{FF2B5EF4-FFF2-40B4-BE49-F238E27FC236}">
                  <a16:creationId xmlns:a16="http://schemas.microsoft.com/office/drawing/2014/main" id="{C91E48BD-8C1D-43F1-BD60-DA3EDA3327AE}"/>
                </a:ext>
              </a:extLst>
            </p:cNvPr>
            <p:cNvCxnSpPr/>
            <p:nvPr/>
          </p:nvCxnSpPr>
          <p:spPr bwMode="gray">
            <a:xfrm flipV="1">
              <a:off x="7837753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btfpColumnIndicator102983">
              <a:extLst>
                <a:ext uri="{FF2B5EF4-FFF2-40B4-BE49-F238E27FC236}">
                  <a16:creationId xmlns:a16="http://schemas.microsoft.com/office/drawing/2014/main" id="{53DB7F25-343A-4866-B017-15F198F2CF0C}"/>
                </a:ext>
              </a:extLst>
            </p:cNvPr>
            <p:cNvCxnSpPr/>
            <p:nvPr/>
          </p:nvCxnSpPr>
          <p:spPr bwMode="gray">
            <a:xfrm flipV="1">
              <a:off x="636627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btfpColumnGapBlocker709738">
              <a:extLst>
                <a:ext uri="{FF2B5EF4-FFF2-40B4-BE49-F238E27FC236}">
                  <a16:creationId xmlns:a16="http://schemas.microsoft.com/office/drawing/2014/main" id="{20FAE28D-C81B-413C-9804-77A0974CDB11}"/>
                </a:ext>
              </a:extLst>
            </p:cNvPr>
            <p:cNvSpPr/>
            <p:nvPr/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3" name="btfpColumnIndicator352260">
              <a:extLst>
                <a:ext uri="{FF2B5EF4-FFF2-40B4-BE49-F238E27FC236}">
                  <a16:creationId xmlns:a16="http://schemas.microsoft.com/office/drawing/2014/main" id="{F90E73BE-92E6-4FF1-8529-3EBB56C3B3D0}"/>
                </a:ext>
              </a:extLst>
            </p:cNvPr>
            <p:cNvCxnSpPr/>
            <p:nvPr/>
          </p:nvCxnSpPr>
          <p:spPr bwMode="gray">
            <a:xfrm flipV="1">
              <a:off x="5825729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btfpColumnIndicator970361">
              <a:extLst>
                <a:ext uri="{FF2B5EF4-FFF2-40B4-BE49-F238E27FC236}">
                  <a16:creationId xmlns:a16="http://schemas.microsoft.com/office/drawing/2014/main" id="{E5F3B25B-15C5-44BC-8378-FE3D30F328F4}"/>
                </a:ext>
              </a:extLst>
            </p:cNvPr>
            <p:cNvCxnSpPr/>
            <p:nvPr/>
          </p:nvCxnSpPr>
          <p:spPr bwMode="gray">
            <a:xfrm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tfpColumnGapBlocker955205">
              <a:extLst>
                <a:ext uri="{FF2B5EF4-FFF2-40B4-BE49-F238E27FC236}">
                  <a16:creationId xmlns:a16="http://schemas.microsoft.com/office/drawing/2014/main" id="{642CCBA4-0542-4876-A27E-AD7B37AFEE4E}"/>
                </a:ext>
              </a:extLst>
            </p:cNvPr>
            <p:cNvSpPr/>
            <p:nvPr/>
          </p:nvSpPr>
          <p:spPr bwMode="gray">
            <a:xfrm>
              <a:off x="1801680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7" name="btfpColumnIndicator550556">
              <a:extLst>
                <a:ext uri="{FF2B5EF4-FFF2-40B4-BE49-F238E27FC236}">
                  <a16:creationId xmlns:a16="http://schemas.microsoft.com/office/drawing/2014/main" id="{12230266-633E-46E8-B5A5-8B966D7591FE}"/>
                </a:ext>
              </a:extLst>
            </p:cNvPr>
            <p:cNvCxnSpPr/>
            <p:nvPr/>
          </p:nvCxnSpPr>
          <p:spPr bwMode="gray">
            <a:xfrm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btfpColumnIndicator392157">
              <a:extLst>
                <a:ext uri="{FF2B5EF4-FFF2-40B4-BE49-F238E27FC236}">
                  <a16:creationId xmlns:a16="http://schemas.microsoft.com/office/drawing/2014/main" id="{322F4653-F565-40F6-9F23-652156B66F9E}"/>
                </a:ext>
              </a:extLst>
            </p:cNvPr>
            <p:cNvCxnSpPr/>
            <p:nvPr/>
          </p:nvCxnSpPr>
          <p:spPr bwMode="gray">
            <a:xfrm flipV="1">
              <a:off x="234222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tfpColumnGapBlocker681994">
              <a:extLst>
                <a:ext uri="{FF2B5EF4-FFF2-40B4-BE49-F238E27FC236}">
                  <a16:creationId xmlns:a16="http://schemas.microsoft.com/office/drawing/2014/main" id="{A0A0E592-6E48-4C35-A9EA-B776192282F5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3" name="btfpColumnIndicator206023">
              <a:extLst>
                <a:ext uri="{FF2B5EF4-FFF2-40B4-BE49-F238E27FC236}">
                  <a16:creationId xmlns:a16="http://schemas.microsoft.com/office/drawing/2014/main" id="{FD8AB6E7-86BE-4C6A-A610-9D9566F46B33}"/>
                </a:ext>
              </a:extLst>
            </p:cNvPr>
            <p:cNvCxnSpPr/>
            <p:nvPr/>
          </p:nvCxnSpPr>
          <p:spPr bwMode="gray">
            <a:xfrm flipV="1">
              <a:off x="180168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btfpColumnIndicator651293">
              <a:extLst>
                <a:ext uri="{FF2B5EF4-FFF2-40B4-BE49-F238E27FC236}">
                  <a16:creationId xmlns:a16="http://schemas.microsoft.com/office/drawing/2014/main" id="{CEC6F715-C792-44F7-8707-B38D5C88EB9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tfpColumnIndicatorGroup1">
            <a:extLst>
              <a:ext uri="{FF2B5EF4-FFF2-40B4-BE49-F238E27FC236}">
                <a16:creationId xmlns:a16="http://schemas.microsoft.com/office/drawing/2014/main" id="{11A19959-8874-418A-A5F3-A0676A8FF59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85" name="btfpColumnGapBlocker145307">
              <a:extLst>
                <a:ext uri="{FF2B5EF4-FFF2-40B4-BE49-F238E27FC236}">
                  <a16:creationId xmlns:a16="http://schemas.microsoft.com/office/drawing/2014/main" id="{B2ACDDCD-468C-4938-85E0-A23E03F28EA3}"/>
                </a:ext>
              </a:extLst>
            </p:cNvPr>
            <p:cNvSpPr/>
            <p:nvPr/>
          </p:nvSpPr>
          <p:spPr bwMode="gray">
            <a:xfrm>
              <a:off x="11861801" y="-205740"/>
              <a:ext cx="330199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83" name="btfpColumnGapBlocker237649">
              <a:extLst>
                <a:ext uri="{FF2B5EF4-FFF2-40B4-BE49-F238E27FC236}">
                  <a16:creationId xmlns:a16="http://schemas.microsoft.com/office/drawing/2014/main" id="{D7227011-D4B3-4F8B-9ED4-17C7ADD6A78C}"/>
                </a:ext>
              </a:extLst>
            </p:cNvPr>
            <p:cNvSpPr/>
            <p:nvPr/>
          </p:nvSpPr>
          <p:spPr bwMode="gray">
            <a:xfrm>
              <a:off x="9849776" y="-205740"/>
              <a:ext cx="540545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81" name="btfpColumnIndicator421023">
              <a:extLst>
                <a:ext uri="{FF2B5EF4-FFF2-40B4-BE49-F238E27FC236}">
                  <a16:creationId xmlns:a16="http://schemas.microsoft.com/office/drawing/2014/main" id="{251756D4-9534-4BED-9A40-7BB25E460B60}"/>
                </a:ext>
              </a:extLst>
            </p:cNvPr>
            <p:cNvCxnSpPr/>
            <p:nvPr/>
          </p:nvCxnSpPr>
          <p:spPr bwMode="gray">
            <a:xfrm flipV="1">
              <a:off x="1186180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btfpColumnIndicator833273">
              <a:extLst>
                <a:ext uri="{FF2B5EF4-FFF2-40B4-BE49-F238E27FC236}">
                  <a16:creationId xmlns:a16="http://schemas.microsoft.com/office/drawing/2014/main" id="{C93437EF-317C-4CBC-956A-97F4EB9CE82A}"/>
                </a:ext>
              </a:extLst>
            </p:cNvPr>
            <p:cNvCxnSpPr/>
            <p:nvPr/>
          </p:nvCxnSpPr>
          <p:spPr bwMode="gray">
            <a:xfrm flipV="1">
              <a:off x="10390321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btfpColumnGapBlocker930767">
              <a:extLst>
                <a:ext uri="{FF2B5EF4-FFF2-40B4-BE49-F238E27FC236}">
                  <a16:creationId xmlns:a16="http://schemas.microsoft.com/office/drawing/2014/main" id="{543E3713-9235-4247-8710-86B198E70E8B}"/>
                </a:ext>
              </a:extLst>
            </p:cNvPr>
            <p:cNvSpPr/>
            <p:nvPr/>
          </p:nvSpPr>
          <p:spPr bwMode="gray">
            <a:xfrm>
              <a:off x="7837753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75" name="btfpColumnIndicator184997">
              <a:extLst>
                <a:ext uri="{FF2B5EF4-FFF2-40B4-BE49-F238E27FC236}">
                  <a16:creationId xmlns:a16="http://schemas.microsoft.com/office/drawing/2014/main" id="{CCE6559B-7771-422A-9D4D-49C6CEB4107F}"/>
                </a:ext>
              </a:extLst>
            </p:cNvPr>
            <p:cNvCxnSpPr/>
            <p:nvPr/>
          </p:nvCxnSpPr>
          <p:spPr bwMode="gray">
            <a:xfrm flipV="1">
              <a:off x="984977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btfpColumnIndicator633065">
              <a:extLst>
                <a:ext uri="{FF2B5EF4-FFF2-40B4-BE49-F238E27FC236}">
                  <a16:creationId xmlns:a16="http://schemas.microsoft.com/office/drawing/2014/main" id="{3A0A04EC-D82E-4D39-AF72-4023E94D68DF}"/>
                </a:ext>
              </a:extLst>
            </p:cNvPr>
            <p:cNvCxnSpPr/>
            <p:nvPr/>
          </p:nvCxnSpPr>
          <p:spPr bwMode="gray">
            <a:xfrm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btfpColumnGapBlocker335928">
              <a:extLst>
                <a:ext uri="{FF2B5EF4-FFF2-40B4-BE49-F238E27FC236}">
                  <a16:creationId xmlns:a16="http://schemas.microsoft.com/office/drawing/2014/main" id="{7DB047BC-5A5D-4BE9-BD12-32ACD22312EF}"/>
                </a:ext>
              </a:extLst>
            </p:cNvPr>
            <p:cNvSpPr/>
            <p:nvPr/>
          </p:nvSpPr>
          <p:spPr bwMode="gray">
            <a:xfrm>
              <a:off x="5825729" y="-205740"/>
              <a:ext cx="540543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8" name="btfpColumnIndicator342179">
              <a:extLst>
                <a:ext uri="{FF2B5EF4-FFF2-40B4-BE49-F238E27FC236}">
                  <a16:creationId xmlns:a16="http://schemas.microsoft.com/office/drawing/2014/main" id="{0B259CA1-4C81-444E-B20A-87C194599CAC}"/>
                </a:ext>
              </a:extLst>
            </p:cNvPr>
            <p:cNvCxnSpPr/>
            <p:nvPr/>
          </p:nvCxnSpPr>
          <p:spPr bwMode="gray">
            <a:xfrm flipV="1">
              <a:off x="7837753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btfpColumnIndicator958307">
              <a:extLst>
                <a:ext uri="{FF2B5EF4-FFF2-40B4-BE49-F238E27FC236}">
                  <a16:creationId xmlns:a16="http://schemas.microsoft.com/office/drawing/2014/main" id="{82B824BA-6C4F-43B0-8738-A0C20F8C2B99}"/>
                </a:ext>
              </a:extLst>
            </p:cNvPr>
            <p:cNvCxnSpPr/>
            <p:nvPr/>
          </p:nvCxnSpPr>
          <p:spPr bwMode="gray">
            <a:xfrm flipV="1">
              <a:off x="636627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btfpColumnGapBlocker513110">
              <a:extLst>
                <a:ext uri="{FF2B5EF4-FFF2-40B4-BE49-F238E27FC236}">
                  <a16:creationId xmlns:a16="http://schemas.microsoft.com/office/drawing/2014/main" id="{4A15B404-A135-4B16-A527-C8DD79713E06}"/>
                </a:ext>
              </a:extLst>
            </p:cNvPr>
            <p:cNvSpPr/>
            <p:nvPr/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2" name="btfpColumnIndicator194209">
              <a:extLst>
                <a:ext uri="{FF2B5EF4-FFF2-40B4-BE49-F238E27FC236}">
                  <a16:creationId xmlns:a16="http://schemas.microsoft.com/office/drawing/2014/main" id="{DABC1147-2F04-4F1F-9D03-DB6D47DB6D2E}"/>
                </a:ext>
              </a:extLst>
            </p:cNvPr>
            <p:cNvCxnSpPr/>
            <p:nvPr/>
          </p:nvCxnSpPr>
          <p:spPr bwMode="gray">
            <a:xfrm flipV="1">
              <a:off x="5825729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389933">
              <a:extLst>
                <a:ext uri="{FF2B5EF4-FFF2-40B4-BE49-F238E27FC236}">
                  <a16:creationId xmlns:a16="http://schemas.microsoft.com/office/drawing/2014/main" id="{A61C2997-6F78-4071-B5A9-381A62A77697}"/>
                </a:ext>
              </a:extLst>
            </p:cNvPr>
            <p:cNvCxnSpPr/>
            <p:nvPr/>
          </p:nvCxnSpPr>
          <p:spPr bwMode="gray">
            <a:xfrm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btfpColumnGapBlocker197434">
              <a:extLst>
                <a:ext uri="{FF2B5EF4-FFF2-40B4-BE49-F238E27FC236}">
                  <a16:creationId xmlns:a16="http://schemas.microsoft.com/office/drawing/2014/main" id="{6D7A6760-56FA-443A-A0DA-5DB8FF6E7622}"/>
                </a:ext>
              </a:extLst>
            </p:cNvPr>
            <p:cNvSpPr/>
            <p:nvPr/>
          </p:nvSpPr>
          <p:spPr bwMode="gray">
            <a:xfrm>
              <a:off x="1801680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6" name="btfpColumnIndicator329453">
              <a:extLst>
                <a:ext uri="{FF2B5EF4-FFF2-40B4-BE49-F238E27FC236}">
                  <a16:creationId xmlns:a16="http://schemas.microsoft.com/office/drawing/2014/main" id="{1A5341CE-677B-442B-AE88-6BA2318E041B}"/>
                </a:ext>
              </a:extLst>
            </p:cNvPr>
            <p:cNvCxnSpPr/>
            <p:nvPr/>
          </p:nvCxnSpPr>
          <p:spPr bwMode="gray">
            <a:xfrm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btfpColumnIndicator331477">
              <a:extLst>
                <a:ext uri="{FF2B5EF4-FFF2-40B4-BE49-F238E27FC236}">
                  <a16:creationId xmlns:a16="http://schemas.microsoft.com/office/drawing/2014/main" id="{DA199221-7C42-4C88-8DCD-729F7260A41E}"/>
                </a:ext>
              </a:extLst>
            </p:cNvPr>
            <p:cNvCxnSpPr/>
            <p:nvPr/>
          </p:nvCxnSpPr>
          <p:spPr bwMode="gray">
            <a:xfrm flipV="1">
              <a:off x="234222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btfpColumnGapBlocker410059">
              <a:extLst>
                <a:ext uri="{FF2B5EF4-FFF2-40B4-BE49-F238E27FC236}">
                  <a16:creationId xmlns:a16="http://schemas.microsoft.com/office/drawing/2014/main" id="{9D5ECC7A-57AE-4A32-9E33-76DD007FC02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118546">
              <a:extLst>
                <a:ext uri="{FF2B5EF4-FFF2-40B4-BE49-F238E27FC236}">
                  <a16:creationId xmlns:a16="http://schemas.microsoft.com/office/drawing/2014/main" id="{75233029-19E6-43C5-9078-B90EA047CEC8}"/>
                </a:ext>
              </a:extLst>
            </p:cNvPr>
            <p:cNvCxnSpPr/>
            <p:nvPr/>
          </p:nvCxnSpPr>
          <p:spPr bwMode="gray">
            <a:xfrm flipV="1">
              <a:off x="180168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849031">
              <a:extLst>
                <a:ext uri="{FF2B5EF4-FFF2-40B4-BE49-F238E27FC236}">
                  <a16:creationId xmlns:a16="http://schemas.microsoft.com/office/drawing/2014/main" id="{380F5B89-8278-44F9-94B8-FFA56918D8D3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3" y="1"/>
            <a:ext cx="11531600" cy="876687"/>
          </a:xfrm>
        </p:spPr>
        <p:txBody>
          <a:bodyPr vert="horz"/>
          <a:lstStyle/>
          <a:p>
            <a:r>
              <a:rPr lang="en-US"/>
              <a:t>Bain experience within the Telecom industry, applied against </a:t>
            </a:r>
            <a:r>
              <a:rPr lang="en-US" err="1"/>
              <a:t>Telenet’s</a:t>
            </a:r>
            <a:r>
              <a:rPr lang="en-US"/>
              <a:t> estimated cost baseline, suggests savings of up to ~€205M</a:t>
            </a:r>
          </a:p>
        </p:txBody>
      </p:sp>
      <p:sp>
        <p:nvSpPr>
          <p:cNvPr id="3" name="btfpLayoutConfig" hidden="1"/>
          <p:cNvSpPr txBox="1"/>
          <p:nvPr/>
        </p:nvSpPr>
        <p:spPr bwMode="gray">
          <a:xfrm>
            <a:off x="12700" y="12700"/>
            <a:ext cx="733140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overall_1_131853068672274192 columns_1_131853068672274192 14_1_131853095735509976 17_1_131853101701930982 </a:t>
            </a:r>
          </a:p>
        </p:txBody>
      </p:sp>
      <p:grpSp>
        <p:nvGrpSpPr>
          <p:cNvPr id="17" name="btfpStatusSticker584984"/>
          <p:cNvGrpSpPr/>
          <p:nvPr>
            <p:custDataLst>
              <p:tags r:id="rId3"/>
            </p:custDataLst>
          </p:nvPr>
        </p:nvGrpSpPr>
        <p:grpSpPr>
          <a:xfrm>
            <a:off x="10003470" y="964869"/>
            <a:ext cx="1858330" cy="235611"/>
            <a:chOff x="10003470" y="955344"/>
            <a:chExt cx="1858330" cy="235611"/>
          </a:xfrm>
        </p:grpSpPr>
        <p:sp>
          <p:nvSpPr>
            <p:cNvPr id="15" name="btfpStatusStickerText584984"/>
            <p:cNvSpPr txBox="1"/>
            <p:nvPr/>
          </p:nvSpPr>
          <p:spPr bwMode="gray">
            <a:xfrm>
              <a:off x="10003470" y="955344"/>
              <a:ext cx="1858330" cy="235611"/>
            </a:xfrm>
            <a:prstGeom prst="rect">
              <a:avLst/>
            </a:prstGeom>
            <a:noFill/>
          </p:spPr>
          <p:txBody>
            <a:bodyPr vert="horz" wrap="none" lIns="72073" tIns="25226" rIns="0" bIns="25226" rtlCol="0" anchor="t">
              <a:spAutoFit/>
            </a:bodyPr>
            <a:lstStyle/>
            <a:p>
              <a:pPr marL="0" indent="0" algn="r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000000"/>
                  </a:solidFill>
                </a:rPr>
                <a:t>illustrative</a:t>
              </a:r>
            </a:p>
          </p:txBody>
        </p:sp>
        <p:cxnSp>
          <p:nvCxnSpPr>
            <p:cNvPr id="16" name="btfpStatusStickerLine584984"/>
            <p:cNvCxnSpPr/>
            <p:nvPr/>
          </p:nvCxnSpPr>
          <p:spPr bwMode="gray">
            <a:xfrm rot="720000">
              <a:off x="10003470" y="955344"/>
              <a:ext cx="0" cy="23561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 lim="800000"/>
              <a:headEnd type="non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BainTable47798">
            <a:extLst>
              <a:ext uri="{FF2B5EF4-FFF2-40B4-BE49-F238E27FC236}">
                <a16:creationId xmlns:a16="http://schemas.microsoft.com/office/drawing/2014/main" id="{83D05BF2-B216-4DEE-AE62-45C0DBCC648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72560938"/>
              </p:ext>
            </p:extLst>
          </p:nvPr>
        </p:nvGraphicFramePr>
        <p:xfrm>
          <a:off x="334962" y="1201296"/>
          <a:ext cx="11542409" cy="47668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50913">
                  <a:extLst>
                    <a:ext uri="{9D8B030D-6E8A-4147-A177-3AD203B41FA5}">
                      <a16:colId xmlns:a16="http://schemas.microsoft.com/office/drawing/2014/main" val="2301522946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49455333"/>
                    </a:ext>
                  </a:extLst>
                </a:gridCol>
                <a:gridCol w="1066802">
                  <a:extLst>
                    <a:ext uri="{9D8B030D-6E8A-4147-A177-3AD203B41FA5}">
                      <a16:colId xmlns:a16="http://schemas.microsoft.com/office/drawing/2014/main" val="2551004202"/>
                    </a:ext>
                  </a:extLst>
                </a:gridCol>
                <a:gridCol w="1144569">
                  <a:extLst>
                    <a:ext uri="{9D8B030D-6E8A-4147-A177-3AD203B41FA5}">
                      <a16:colId xmlns:a16="http://schemas.microsoft.com/office/drawing/2014/main" val="2869888378"/>
                    </a:ext>
                  </a:extLst>
                </a:gridCol>
                <a:gridCol w="74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35"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Category</a:t>
                      </a:r>
                    </a:p>
                  </a:txBody>
                  <a:tcPr marL="84244" marR="8775" marT="42122" marB="42122" anchor="b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FY24 LTM Est. baseline*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Bain experience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Telenet’s</a:t>
                      </a: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 savings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1000" b="1" i="0" kern="1200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Example Savings Levers</a:t>
                      </a:r>
                    </a:p>
                  </a:txBody>
                  <a:tcPr marL="84244" marR="8775" marT="42122" marB="42122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799547"/>
                  </a:ext>
                </a:extLst>
              </a:tr>
              <a:tr h="1076660">
                <a:tc>
                  <a:txBody>
                    <a:bodyPr/>
                    <a:lstStyle/>
                    <a:p>
                      <a:pPr marL="0" marR="0" lvl="0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of services provided</a:t>
                      </a:r>
                    </a:p>
                  </a:txBody>
                  <a:tcPr marL="84244" marR="8775" marT="42122" marB="42122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~€1,510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1-5%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~€15-75M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SKU complexity; reduce complexity of variants purchased/simplify specifications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Consolidate volumes and contracts to eliminate long tail of suppliers and unlock volume discounts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Revise volume commitments based on improved forecasts and customer inputs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Leverage Generative AI for planning, architecture and energy management to lower service delivery platforms and energy costs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50253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Cost of services provided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~€1,510M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1-5%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~€15-75M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05379"/>
                  </a:ext>
                </a:extLst>
              </a:tr>
              <a:tr h="1549237">
                <a:tc>
                  <a:txBody>
                    <a:bodyPr/>
                    <a:lstStyle/>
                    <a:p>
                      <a:pPr marL="0" indent="0" algn="l" defTabSz="711200" rtl="0" eaLnBrk="1" fontAlgn="b" latinLnBrk="0" hangingPunct="1">
                        <a:spcBef>
                          <a:spcPts val="300"/>
                        </a:spcBef>
                        <a:buClrTx/>
                        <a:buNone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~€</a:t>
                      </a: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825M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10-16%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~€85-130M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b="1"/>
                        <a:t>S&amp;M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Optimize spans and layers</a:t>
                      </a:r>
                    </a:p>
                    <a:p>
                      <a:pPr marL="177800" lvl="0" indent="-17780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/>
                        <a:t>Explore shared services, internal COEs and outsourcing/offshore to optimize where services are done and by whom (eliminate shadow organizations within BUs)</a:t>
                      </a: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optimal route to market (incl. digital) through data driven insights on the market, customers and competitors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Improve marketing mix – shift spend to high-impact areas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Reduce gross-to-net leakage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test and learn and digital marketing tools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Zero-base sales capacity and coverage and drive efficiency and effectiveness (e.g., coverage, pipeline </a:t>
                      </a:r>
                      <a:r>
                        <a:rPr lang="en-US" sz="900" i="0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mgmt</a:t>
                      </a: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incentives)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Optimize sales incentives to drive desired behaviors</a:t>
                      </a:r>
                    </a:p>
                    <a:p>
                      <a:pPr marL="0" marR="0" lvl="0" indent="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None/>
                        <a:tabLst/>
                        <a:defRPr/>
                      </a:pPr>
                      <a:r>
                        <a:rPr lang="en-US" sz="900" b="1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G&amp;A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Right size demand by eliminating unnecessary services/activities and optimizing service levels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IT, consolidate apps, rationalize infrastructure, address vendor management and outside spend, and implement agile DevOps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 i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prices or new contracts leveraging RFQs, electronic/reverse auctions, terms tradeoffs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Enhance productivity through re-design / automation</a:t>
                      </a:r>
                    </a:p>
                    <a:p>
                      <a:pPr marL="177800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tabLst/>
                        <a:defRPr/>
                      </a:pPr>
                      <a:r>
                        <a:rPr lang="en-US" sz="900">
                          <a:solidFill>
                            <a:schemeClr val="tx1"/>
                          </a:solidFill>
                        </a:rPr>
                        <a:t>Simplify functional processes and redesign to better serve key customers</a:t>
                      </a:r>
                      <a:endParaRPr lang="en-US" sz="900" i="0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99532"/>
                  </a:ext>
                </a:extLst>
              </a:tr>
              <a:tr h="229567">
                <a:tc>
                  <a:txBody>
                    <a:bodyPr/>
                    <a:lstStyle/>
                    <a:p>
                      <a:pPr marL="0" marR="0" lvl="0" indent="0" algn="l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SG&amp;A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~€</a:t>
                      </a: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825M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10-16%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~€85-130M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1000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93424"/>
                  </a:ext>
                </a:extLst>
              </a:tr>
              <a:tr h="229567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300"/>
                        </a:spcBef>
                        <a:buNone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Total 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~€2,335M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b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4-9%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accent3"/>
                          </a:solidFill>
                        </a:rPr>
                        <a:t>~€100-205M</a:t>
                      </a:r>
                    </a:p>
                  </a:txBody>
                  <a:tcPr marL="84244" marR="8775" marT="42122" marB="4212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736" marR="0" lvl="0" indent="-177800" algn="l" defTabSz="9813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Char char="•"/>
                        <a:tabLst/>
                        <a:defRPr/>
                      </a:pPr>
                      <a:endParaRPr lang="en-US" sz="1050" i="0" kern="1200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244" marR="8775" marT="42122" marB="4212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94293"/>
                  </a:ext>
                </a:extLst>
              </a:tr>
            </a:tbl>
          </a:graphicData>
        </a:graphic>
      </p:graphicFrame>
      <p:grpSp>
        <p:nvGrpSpPr>
          <p:cNvPr id="59" name="btfpRunningAgenda1Level650523">
            <a:extLst>
              <a:ext uri="{FF2B5EF4-FFF2-40B4-BE49-F238E27FC236}">
                <a16:creationId xmlns:a16="http://schemas.microsoft.com/office/drawing/2014/main" id="{56EF34B4-72AA-4AC9-92D0-EF2C3297F1E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-6" y="944429"/>
            <a:ext cx="4034979" cy="257442"/>
            <a:chOff x="-6" y="944429"/>
            <a:chExt cx="4034979" cy="257442"/>
          </a:xfrm>
        </p:grpSpPr>
        <p:sp>
          <p:nvSpPr>
            <p:cNvPr id="60" name="btfpRunningAgenda1LevelBarLeft650523">
              <a:extLst>
                <a:ext uri="{FF2B5EF4-FFF2-40B4-BE49-F238E27FC236}">
                  <a16:creationId xmlns:a16="http://schemas.microsoft.com/office/drawing/2014/main" id="{DC08700E-9273-4533-A4DF-FF4C6554EF21}"/>
                </a:ext>
              </a:extLst>
            </p:cNvPr>
            <p:cNvSpPr/>
            <p:nvPr/>
          </p:nvSpPr>
          <p:spPr bwMode="gray">
            <a:xfrm>
              <a:off x="-5" y="944429"/>
              <a:ext cx="4034978" cy="257442"/>
            </a:xfrm>
            <a:custGeom>
              <a:avLst/>
              <a:gdLst>
                <a:gd name="connsiteX0" fmla="*/ 950801 w 1870925"/>
                <a:gd name="connsiteY0" fmla="*/ 0 h 257442"/>
                <a:gd name="connsiteX1" fmla="*/ 1870925 w 1870925"/>
                <a:gd name="connsiteY1" fmla="*/ 0 h 257442"/>
                <a:gd name="connsiteX2" fmla="*/ 1816204 w 1870925"/>
                <a:gd name="connsiteY2" fmla="*/ 257442 h 257442"/>
                <a:gd name="connsiteX3" fmla="*/ 0 w 1870925"/>
                <a:gd name="connsiteY3" fmla="*/ 257442 h 257442"/>
                <a:gd name="connsiteX0" fmla="*/ 950801 w 1816204"/>
                <a:gd name="connsiteY0" fmla="*/ 0 h 257442"/>
                <a:gd name="connsiteX1" fmla="*/ 896081 w 1816204"/>
                <a:gd name="connsiteY1" fmla="*/ 257442 h 257442"/>
                <a:gd name="connsiteX2" fmla="*/ 1816204 w 1816204"/>
                <a:gd name="connsiteY2" fmla="*/ 257442 h 257442"/>
                <a:gd name="connsiteX3" fmla="*/ 0 w 1816204"/>
                <a:gd name="connsiteY3" fmla="*/ 257442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257442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1 w 950800"/>
                <a:gd name="connsiteY3" fmla="*/ 0 h 257442"/>
                <a:gd name="connsiteX0" fmla="*/ 1119116 w 1119116"/>
                <a:gd name="connsiteY0" fmla="*/ 0 h 257442"/>
                <a:gd name="connsiteX1" fmla="*/ 896080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1 w 1119116"/>
                <a:gd name="connsiteY3" fmla="*/ 0 h 257442"/>
                <a:gd name="connsiteX0" fmla="*/ 1119116 w 1119116"/>
                <a:gd name="connsiteY0" fmla="*/ 0 h 257442"/>
                <a:gd name="connsiteX1" fmla="*/ 1064395 w 1119116"/>
                <a:gd name="connsiteY1" fmla="*/ 257442 h 257442"/>
                <a:gd name="connsiteX2" fmla="*/ 0 w 1119116"/>
                <a:gd name="connsiteY2" fmla="*/ 257442 h 257442"/>
                <a:gd name="connsiteX3" fmla="*/ 0 w 1119116"/>
                <a:gd name="connsiteY3" fmla="*/ 0 h 257442"/>
                <a:gd name="connsiteX0" fmla="*/ 1446578 w 1446578"/>
                <a:gd name="connsiteY0" fmla="*/ 0 h 257442"/>
                <a:gd name="connsiteX1" fmla="*/ 1064395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446578 w 1446578"/>
                <a:gd name="connsiteY0" fmla="*/ 0 h 257442"/>
                <a:gd name="connsiteX1" fmla="*/ 1391857 w 1446578"/>
                <a:gd name="connsiteY1" fmla="*/ 257442 h 257442"/>
                <a:gd name="connsiteX2" fmla="*/ 0 w 1446578"/>
                <a:gd name="connsiteY2" fmla="*/ 257442 h 257442"/>
                <a:gd name="connsiteX3" fmla="*/ 0 w 1446578"/>
                <a:gd name="connsiteY3" fmla="*/ 0 h 257442"/>
                <a:gd name="connsiteX0" fmla="*/ 1632526 w 1632526"/>
                <a:gd name="connsiteY0" fmla="*/ 0 h 257442"/>
                <a:gd name="connsiteX1" fmla="*/ 1391857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632526 w 1632526"/>
                <a:gd name="connsiteY0" fmla="*/ 0 h 257442"/>
                <a:gd name="connsiteX1" fmla="*/ 1577805 w 1632526"/>
                <a:gd name="connsiteY1" fmla="*/ 257442 h 257442"/>
                <a:gd name="connsiteX2" fmla="*/ 0 w 1632526"/>
                <a:gd name="connsiteY2" fmla="*/ 257442 h 257442"/>
                <a:gd name="connsiteX3" fmla="*/ 0 w 1632526"/>
                <a:gd name="connsiteY3" fmla="*/ 0 h 257442"/>
                <a:gd name="connsiteX0" fmla="*/ 1810459 w 1810459"/>
                <a:gd name="connsiteY0" fmla="*/ 0 h 257442"/>
                <a:gd name="connsiteX1" fmla="*/ 1577805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810459 w 1810459"/>
                <a:gd name="connsiteY0" fmla="*/ 0 h 257442"/>
                <a:gd name="connsiteX1" fmla="*/ 1755738 w 1810459"/>
                <a:gd name="connsiteY1" fmla="*/ 257442 h 257442"/>
                <a:gd name="connsiteX2" fmla="*/ 0 w 1810459"/>
                <a:gd name="connsiteY2" fmla="*/ 257442 h 257442"/>
                <a:gd name="connsiteX3" fmla="*/ 0 w 1810459"/>
                <a:gd name="connsiteY3" fmla="*/ 0 h 257442"/>
                <a:gd name="connsiteX0" fmla="*/ 1978775 w 1978775"/>
                <a:gd name="connsiteY0" fmla="*/ 0 h 257442"/>
                <a:gd name="connsiteX1" fmla="*/ 1755738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1978775 w 1978775"/>
                <a:gd name="connsiteY0" fmla="*/ 0 h 257442"/>
                <a:gd name="connsiteX1" fmla="*/ 1924054 w 1978775"/>
                <a:gd name="connsiteY1" fmla="*/ 257442 h 257442"/>
                <a:gd name="connsiteX2" fmla="*/ 0 w 1978775"/>
                <a:gd name="connsiteY2" fmla="*/ 257442 h 257442"/>
                <a:gd name="connsiteX3" fmla="*/ 0 w 1978775"/>
                <a:gd name="connsiteY3" fmla="*/ 0 h 257442"/>
                <a:gd name="connsiteX0" fmla="*/ 2232049 w 2232049"/>
                <a:gd name="connsiteY0" fmla="*/ 0 h 257442"/>
                <a:gd name="connsiteX1" fmla="*/ 1924054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232049 w 2232049"/>
                <a:gd name="connsiteY0" fmla="*/ 0 h 257442"/>
                <a:gd name="connsiteX1" fmla="*/ 2177328 w 2232049"/>
                <a:gd name="connsiteY1" fmla="*/ 257442 h 257442"/>
                <a:gd name="connsiteX2" fmla="*/ 0 w 2232049"/>
                <a:gd name="connsiteY2" fmla="*/ 257442 h 257442"/>
                <a:gd name="connsiteX3" fmla="*/ 0 w 2232049"/>
                <a:gd name="connsiteY3" fmla="*/ 0 h 257442"/>
                <a:gd name="connsiteX0" fmla="*/ 2392350 w 2392350"/>
                <a:gd name="connsiteY0" fmla="*/ 0 h 257442"/>
                <a:gd name="connsiteX1" fmla="*/ 21773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0 w 2392350"/>
                <a:gd name="connsiteY0" fmla="*/ 0 h 257442"/>
                <a:gd name="connsiteX1" fmla="*/ 2337628 w 2392350"/>
                <a:gd name="connsiteY1" fmla="*/ 257442 h 257442"/>
                <a:gd name="connsiteX2" fmla="*/ 0 w 2392350"/>
                <a:gd name="connsiteY2" fmla="*/ 257442 h 257442"/>
                <a:gd name="connsiteX3" fmla="*/ 0 w 2392350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392351 w 2392351"/>
                <a:gd name="connsiteY0" fmla="*/ 0 h 257442"/>
                <a:gd name="connsiteX1" fmla="*/ 2337629 w 2392351"/>
                <a:gd name="connsiteY1" fmla="*/ 257442 h 257442"/>
                <a:gd name="connsiteX2" fmla="*/ 0 w 2392351"/>
                <a:gd name="connsiteY2" fmla="*/ 257442 h 257442"/>
                <a:gd name="connsiteX3" fmla="*/ 1 w 2392351"/>
                <a:gd name="connsiteY3" fmla="*/ 0 h 257442"/>
                <a:gd name="connsiteX0" fmla="*/ 2653639 w 2653639"/>
                <a:gd name="connsiteY0" fmla="*/ 0 h 257442"/>
                <a:gd name="connsiteX1" fmla="*/ 2337629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1 w 2653639"/>
                <a:gd name="connsiteY3" fmla="*/ 0 h 257442"/>
                <a:gd name="connsiteX0" fmla="*/ 2653639 w 2653639"/>
                <a:gd name="connsiteY0" fmla="*/ 0 h 257442"/>
                <a:gd name="connsiteX1" fmla="*/ 2598918 w 2653639"/>
                <a:gd name="connsiteY1" fmla="*/ 257442 h 257442"/>
                <a:gd name="connsiteX2" fmla="*/ 0 w 2653639"/>
                <a:gd name="connsiteY2" fmla="*/ 257442 h 257442"/>
                <a:gd name="connsiteX3" fmla="*/ 0 w 2653639"/>
                <a:gd name="connsiteY3" fmla="*/ 0 h 257442"/>
                <a:gd name="connsiteX0" fmla="*/ 2813939 w 2813939"/>
                <a:gd name="connsiteY0" fmla="*/ 0 h 257442"/>
                <a:gd name="connsiteX1" fmla="*/ 25989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813939 w 2813939"/>
                <a:gd name="connsiteY0" fmla="*/ 0 h 257442"/>
                <a:gd name="connsiteX1" fmla="*/ 2759218 w 2813939"/>
                <a:gd name="connsiteY1" fmla="*/ 257442 h 257442"/>
                <a:gd name="connsiteX2" fmla="*/ 0 w 2813939"/>
                <a:gd name="connsiteY2" fmla="*/ 257442 h 257442"/>
                <a:gd name="connsiteX3" fmla="*/ 0 w 2813939"/>
                <a:gd name="connsiteY3" fmla="*/ 0 h 257442"/>
                <a:gd name="connsiteX0" fmla="*/ 2991873 w 2991873"/>
                <a:gd name="connsiteY0" fmla="*/ 0 h 257442"/>
                <a:gd name="connsiteX1" fmla="*/ 2759218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2991873 w 2991873"/>
                <a:gd name="connsiteY0" fmla="*/ 0 h 257442"/>
                <a:gd name="connsiteX1" fmla="*/ 2937152 w 2991873"/>
                <a:gd name="connsiteY1" fmla="*/ 257442 h 257442"/>
                <a:gd name="connsiteX2" fmla="*/ 0 w 2991873"/>
                <a:gd name="connsiteY2" fmla="*/ 257442 h 257442"/>
                <a:gd name="connsiteX3" fmla="*/ 0 w 2991873"/>
                <a:gd name="connsiteY3" fmla="*/ 0 h 257442"/>
                <a:gd name="connsiteX0" fmla="*/ 3253162 w 3253162"/>
                <a:gd name="connsiteY0" fmla="*/ 0 h 257442"/>
                <a:gd name="connsiteX1" fmla="*/ 2937152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2 w 3253162"/>
                <a:gd name="connsiteY0" fmla="*/ 0 h 257442"/>
                <a:gd name="connsiteX1" fmla="*/ 3198440 w 3253162"/>
                <a:gd name="connsiteY1" fmla="*/ 257442 h 257442"/>
                <a:gd name="connsiteX2" fmla="*/ 0 w 3253162"/>
                <a:gd name="connsiteY2" fmla="*/ 257442 h 257442"/>
                <a:gd name="connsiteX3" fmla="*/ 0 w 3253162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253163 w 3253163"/>
                <a:gd name="connsiteY0" fmla="*/ 0 h 257442"/>
                <a:gd name="connsiteX1" fmla="*/ 3198441 w 3253163"/>
                <a:gd name="connsiteY1" fmla="*/ 257442 h 257442"/>
                <a:gd name="connsiteX2" fmla="*/ 0 w 3253163"/>
                <a:gd name="connsiteY2" fmla="*/ 257442 h 257442"/>
                <a:gd name="connsiteX3" fmla="*/ 1 w 3253163"/>
                <a:gd name="connsiteY3" fmla="*/ 0 h 257442"/>
                <a:gd name="connsiteX0" fmla="*/ 3092861 w 3198441"/>
                <a:gd name="connsiteY0" fmla="*/ 0 h 257442"/>
                <a:gd name="connsiteX1" fmla="*/ 3198441 w 3198441"/>
                <a:gd name="connsiteY1" fmla="*/ 257442 h 257442"/>
                <a:gd name="connsiteX2" fmla="*/ 0 w 3198441"/>
                <a:gd name="connsiteY2" fmla="*/ 257442 h 257442"/>
                <a:gd name="connsiteX3" fmla="*/ 1 w 319844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1 w 3092861"/>
                <a:gd name="connsiteY3" fmla="*/ 0 h 257442"/>
                <a:gd name="connsiteX0" fmla="*/ 3092861 w 3092861"/>
                <a:gd name="connsiteY0" fmla="*/ 0 h 257442"/>
                <a:gd name="connsiteX1" fmla="*/ 3038140 w 3092861"/>
                <a:gd name="connsiteY1" fmla="*/ 257442 h 257442"/>
                <a:gd name="connsiteX2" fmla="*/ 0 w 3092861"/>
                <a:gd name="connsiteY2" fmla="*/ 257442 h 257442"/>
                <a:gd name="connsiteX3" fmla="*/ 0 w 3092861"/>
                <a:gd name="connsiteY3" fmla="*/ 0 h 257442"/>
                <a:gd name="connsiteX0" fmla="*/ 3338121 w 3338121"/>
                <a:gd name="connsiteY0" fmla="*/ 0 h 257442"/>
                <a:gd name="connsiteX1" fmla="*/ 303814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338121 w 3338121"/>
                <a:gd name="connsiteY0" fmla="*/ 0 h 257442"/>
                <a:gd name="connsiteX1" fmla="*/ 3283400 w 3338121"/>
                <a:gd name="connsiteY1" fmla="*/ 257442 h 257442"/>
                <a:gd name="connsiteX2" fmla="*/ 0 w 3338121"/>
                <a:gd name="connsiteY2" fmla="*/ 257442 h 257442"/>
                <a:gd name="connsiteX3" fmla="*/ 0 w 3338121"/>
                <a:gd name="connsiteY3" fmla="*/ 0 h 257442"/>
                <a:gd name="connsiteX0" fmla="*/ 3506436 w 3506436"/>
                <a:gd name="connsiteY0" fmla="*/ 0 h 257442"/>
                <a:gd name="connsiteX1" fmla="*/ 3283400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6 w 3506436"/>
                <a:gd name="connsiteY0" fmla="*/ 0 h 257442"/>
                <a:gd name="connsiteX1" fmla="*/ 3451714 w 3506436"/>
                <a:gd name="connsiteY1" fmla="*/ 257442 h 257442"/>
                <a:gd name="connsiteX2" fmla="*/ 0 w 3506436"/>
                <a:gd name="connsiteY2" fmla="*/ 257442 h 257442"/>
                <a:gd name="connsiteX3" fmla="*/ 0 w 3506436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3506437 w 3506437"/>
                <a:gd name="connsiteY0" fmla="*/ 0 h 257442"/>
                <a:gd name="connsiteX1" fmla="*/ 3451715 w 3506437"/>
                <a:gd name="connsiteY1" fmla="*/ 257442 h 257442"/>
                <a:gd name="connsiteX2" fmla="*/ 0 w 3506437"/>
                <a:gd name="connsiteY2" fmla="*/ 257442 h 257442"/>
                <a:gd name="connsiteX3" fmla="*/ 1 w 3506437"/>
                <a:gd name="connsiteY3" fmla="*/ 0 h 257442"/>
                <a:gd name="connsiteX0" fmla="*/ 950801 w 3451715"/>
                <a:gd name="connsiteY0" fmla="*/ 0 h 257442"/>
                <a:gd name="connsiteX1" fmla="*/ 3451715 w 3451715"/>
                <a:gd name="connsiteY1" fmla="*/ 257442 h 257442"/>
                <a:gd name="connsiteX2" fmla="*/ 0 w 3451715"/>
                <a:gd name="connsiteY2" fmla="*/ 257442 h 257442"/>
                <a:gd name="connsiteX3" fmla="*/ 1 w 3451715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1 w 950801"/>
                <a:gd name="connsiteY3" fmla="*/ 0 h 257442"/>
                <a:gd name="connsiteX0" fmla="*/ 950801 w 950801"/>
                <a:gd name="connsiteY0" fmla="*/ 0 h 257442"/>
                <a:gd name="connsiteX1" fmla="*/ 896080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2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128735 w 1128735"/>
                <a:gd name="connsiteY0" fmla="*/ 0 h 257442"/>
                <a:gd name="connsiteX1" fmla="*/ 1074013 w 1128735"/>
                <a:gd name="connsiteY1" fmla="*/ 257442 h 257442"/>
                <a:gd name="connsiteX2" fmla="*/ 0 w 1128735"/>
                <a:gd name="connsiteY2" fmla="*/ 257442 h 257442"/>
                <a:gd name="connsiteX3" fmla="*/ 1 w 1128735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2 w 1314682"/>
                <a:gd name="connsiteY0" fmla="*/ 0 h 257442"/>
                <a:gd name="connsiteX1" fmla="*/ 1259960 w 1314682"/>
                <a:gd name="connsiteY1" fmla="*/ 257442 h 257442"/>
                <a:gd name="connsiteX2" fmla="*/ 0 w 1314682"/>
                <a:gd name="connsiteY2" fmla="*/ 257442 h 257442"/>
                <a:gd name="connsiteX3" fmla="*/ 1 w 1314682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2 w 1314683"/>
                <a:gd name="connsiteY3" fmla="*/ 0 h 257442"/>
                <a:gd name="connsiteX0" fmla="*/ 1314683 w 1314683"/>
                <a:gd name="connsiteY0" fmla="*/ 0 h 257442"/>
                <a:gd name="connsiteX1" fmla="*/ 1259961 w 1314683"/>
                <a:gd name="connsiteY1" fmla="*/ 257442 h 257442"/>
                <a:gd name="connsiteX2" fmla="*/ 0 w 1314683"/>
                <a:gd name="connsiteY2" fmla="*/ 257442 h 257442"/>
                <a:gd name="connsiteX3" fmla="*/ 1 w 1314683"/>
                <a:gd name="connsiteY3" fmla="*/ 0 h 257442"/>
                <a:gd name="connsiteX0" fmla="*/ 1128734 w 1259961"/>
                <a:gd name="connsiteY0" fmla="*/ 0 h 257442"/>
                <a:gd name="connsiteX1" fmla="*/ 1259961 w 1259961"/>
                <a:gd name="connsiteY1" fmla="*/ 257442 h 257442"/>
                <a:gd name="connsiteX2" fmla="*/ 0 w 1259961"/>
                <a:gd name="connsiteY2" fmla="*/ 257442 h 257442"/>
                <a:gd name="connsiteX3" fmla="*/ 1 w 1259961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1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1128734 w 1128734"/>
                <a:gd name="connsiteY0" fmla="*/ 0 h 257442"/>
                <a:gd name="connsiteX1" fmla="*/ 896080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314682 w 1314682"/>
                <a:gd name="connsiteY0" fmla="*/ 0 h 257442"/>
                <a:gd name="connsiteX1" fmla="*/ 1074013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314682 w 1314682"/>
                <a:gd name="connsiteY0" fmla="*/ 0 h 257442"/>
                <a:gd name="connsiteX1" fmla="*/ 1259961 w 1314682"/>
                <a:gd name="connsiteY1" fmla="*/ 257442 h 257442"/>
                <a:gd name="connsiteX2" fmla="*/ 0 w 1314682"/>
                <a:gd name="connsiteY2" fmla="*/ 257442 h 257442"/>
                <a:gd name="connsiteX3" fmla="*/ 0 w 1314682"/>
                <a:gd name="connsiteY3" fmla="*/ 0 h 257442"/>
                <a:gd name="connsiteX0" fmla="*/ 1474983 w 1474983"/>
                <a:gd name="connsiteY0" fmla="*/ 0 h 257442"/>
                <a:gd name="connsiteX1" fmla="*/ 1259961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2 w 1474983"/>
                <a:gd name="connsiteY1" fmla="*/ 257442 h 257442"/>
                <a:gd name="connsiteX2" fmla="*/ 0 w 1474983"/>
                <a:gd name="connsiteY2" fmla="*/ 257442 h 257442"/>
                <a:gd name="connsiteX3" fmla="*/ 0 w 1474983"/>
                <a:gd name="connsiteY3" fmla="*/ 0 h 257442"/>
                <a:gd name="connsiteX0" fmla="*/ 1744287 w 1744287"/>
                <a:gd name="connsiteY0" fmla="*/ 0 h 257442"/>
                <a:gd name="connsiteX1" fmla="*/ 1420262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0 w 1744287"/>
                <a:gd name="connsiteY3" fmla="*/ 0 h 257442"/>
                <a:gd name="connsiteX0" fmla="*/ 1912603 w 1912603"/>
                <a:gd name="connsiteY0" fmla="*/ 0 h 257442"/>
                <a:gd name="connsiteX1" fmla="*/ 1689566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2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2165877 w 2165877"/>
                <a:gd name="connsiteY0" fmla="*/ 0 h 257442"/>
                <a:gd name="connsiteX1" fmla="*/ 1857882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334192 w 2334192"/>
                <a:gd name="connsiteY0" fmla="*/ 0 h 257442"/>
                <a:gd name="connsiteX1" fmla="*/ 2111156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0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334193 w 2334193"/>
                <a:gd name="connsiteY0" fmla="*/ 0 h 257442"/>
                <a:gd name="connsiteX1" fmla="*/ 2279471 w 2334193"/>
                <a:gd name="connsiteY1" fmla="*/ 257442 h 257442"/>
                <a:gd name="connsiteX2" fmla="*/ 0 w 2334193"/>
                <a:gd name="connsiteY2" fmla="*/ 257442 h 257442"/>
                <a:gd name="connsiteX3" fmla="*/ 1 w 2334193"/>
                <a:gd name="connsiteY3" fmla="*/ 0 h 257442"/>
                <a:gd name="connsiteX0" fmla="*/ 2603497 w 2603497"/>
                <a:gd name="connsiteY0" fmla="*/ 0 h 257442"/>
                <a:gd name="connsiteX1" fmla="*/ 2279471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1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781430 w 2781430"/>
                <a:gd name="connsiteY0" fmla="*/ 0 h 257442"/>
                <a:gd name="connsiteX1" fmla="*/ 2548776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0 w 2781430"/>
                <a:gd name="connsiteY0" fmla="*/ 0 h 257442"/>
                <a:gd name="connsiteX1" fmla="*/ 2726708 w 2781430"/>
                <a:gd name="connsiteY1" fmla="*/ 257442 h 257442"/>
                <a:gd name="connsiteX2" fmla="*/ 0 w 2781430"/>
                <a:gd name="connsiteY2" fmla="*/ 257442 h 257442"/>
                <a:gd name="connsiteX3" fmla="*/ 0 w 2781430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2781431 w 2781431"/>
                <a:gd name="connsiteY0" fmla="*/ 0 h 257442"/>
                <a:gd name="connsiteX1" fmla="*/ 2726709 w 2781431"/>
                <a:gd name="connsiteY1" fmla="*/ 257442 h 257442"/>
                <a:gd name="connsiteX2" fmla="*/ 0 w 2781431"/>
                <a:gd name="connsiteY2" fmla="*/ 257442 h 257442"/>
                <a:gd name="connsiteX3" fmla="*/ 1 w 2781431"/>
                <a:gd name="connsiteY3" fmla="*/ 0 h 257442"/>
                <a:gd name="connsiteX0" fmla="*/ 3042719 w 3042719"/>
                <a:gd name="connsiteY0" fmla="*/ 0 h 257442"/>
                <a:gd name="connsiteX1" fmla="*/ 2726709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1 w 3042719"/>
                <a:gd name="connsiteY3" fmla="*/ 0 h 257442"/>
                <a:gd name="connsiteX0" fmla="*/ 3042719 w 3042719"/>
                <a:gd name="connsiteY0" fmla="*/ 0 h 257442"/>
                <a:gd name="connsiteX1" fmla="*/ 2987998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203020 w 3203020"/>
                <a:gd name="connsiteY0" fmla="*/ 0 h 257442"/>
                <a:gd name="connsiteX1" fmla="*/ 29879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8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203021 w 3203021"/>
                <a:gd name="connsiteY0" fmla="*/ 0 h 257442"/>
                <a:gd name="connsiteX1" fmla="*/ 3148299 w 3203021"/>
                <a:gd name="connsiteY1" fmla="*/ 257442 h 257442"/>
                <a:gd name="connsiteX2" fmla="*/ 0 w 3203021"/>
                <a:gd name="connsiteY2" fmla="*/ 257442 h 257442"/>
                <a:gd name="connsiteX3" fmla="*/ 1 w 3203021"/>
                <a:gd name="connsiteY3" fmla="*/ 0 h 257442"/>
                <a:gd name="connsiteX0" fmla="*/ 3404998 w 3404998"/>
                <a:gd name="connsiteY0" fmla="*/ 0 h 257442"/>
                <a:gd name="connsiteX1" fmla="*/ 3148299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8 w 3404998"/>
                <a:gd name="connsiteY0" fmla="*/ 0 h 257442"/>
                <a:gd name="connsiteX1" fmla="*/ 3350276 w 3404998"/>
                <a:gd name="connsiteY1" fmla="*/ 257442 h 257442"/>
                <a:gd name="connsiteX2" fmla="*/ 0 w 3404998"/>
                <a:gd name="connsiteY2" fmla="*/ 257442 h 257442"/>
                <a:gd name="connsiteX3" fmla="*/ 1 w 3404998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2 w 3404999"/>
                <a:gd name="connsiteY3" fmla="*/ 0 h 257442"/>
                <a:gd name="connsiteX0" fmla="*/ 3404999 w 3404999"/>
                <a:gd name="connsiteY0" fmla="*/ 0 h 257442"/>
                <a:gd name="connsiteX1" fmla="*/ 3350277 w 3404999"/>
                <a:gd name="connsiteY1" fmla="*/ 257442 h 257442"/>
                <a:gd name="connsiteX2" fmla="*/ 0 w 3404999"/>
                <a:gd name="connsiteY2" fmla="*/ 257442 h 257442"/>
                <a:gd name="connsiteX3" fmla="*/ 1 w 3404999"/>
                <a:gd name="connsiteY3" fmla="*/ 0 h 257442"/>
                <a:gd name="connsiteX0" fmla="*/ 3203020 w 3350277"/>
                <a:gd name="connsiteY0" fmla="*/ 0 h 257442"/>
                <a:gd name="connsiteX1" fmla="*/ 3350277 w 3350277"/>
                <a:gd name="connsiteY1" fmla="*/ 257442 h 257442"/>
                <a:gd name="connsiteX2" fmla="*/ 0 w 3350277"/>
                <a:gd name="connsiteY2" fmla="*/ 257442 h 257442"/>
                <a:gd name="connsiteX3" fmla="*/ 1 w 3350277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1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371336 w 3371336"/>
                <a:gd name="connsiteY0" fmla="*/ 0 h 257442"/>
                <a:gd name="connsiteX1" fmla="*/ 3148299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5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624610 w 3624610"/>
                <a:gd name="connsiteY0" fmla="*/ 0 h 257442"/>
                <a:gd name="connsiteX1" fmla="*/ 3316615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624610 w 3624610"/>
                <a:gd name="connsiteY0" fmla="*/ 0 h 257442"/>
                <a:gd name="connsiteX1" fmla="*/ 3569889 w 3624610"/>
                <a:gd name="connsiteY1" fmla="*/ 257442 h 257442"/>
                <a:gd name="connsiteX2" fmla="*/ 0 w 3624610"/>
                <a:gd name="connsiteY2" fmla="*/ 257442 h 257442"/>
                <a:gd name="connsiteX3" fmla="*/ 0 w 3624610"/>
                <a:gd name="connsiteY3" fmla="*/ 0 h 257442"/>
                <a:gd name="connsiteX0" fmla="*/ 3877885 w 3877885"/>
                <a:gd name="connsiteY0" fmla="*/ 0 h 257442"/>
                <a:gd name="connsiteX1" fmla="*/ 3569889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4038185 w 4038185"/>
                <a:gd name="connsiteY0" fmla="*/ 0 h 257442"/>
                <a:gd name="connsiteX1" fmla="*/ 38231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4038185 w 4038185"/>
                <a:gd name="connsiteY0" fmla="*/ 0 h 257442"/>
                <a:gd name="connsiteX1" fmla="*/ 3983464 w 4038185"/>
                <a:gd name="connsiteY1" fmla="*/ 257442 h 257442"/>
                <a:gd name="connsiteX2" fmla="*/ 0 w 4038185"/>
                <a:gd name="connsiteY2" fmla="*/ 257442 h 257442"/>
                <a:gd name="connsiteX3" fmla="*/ 0 w 4038185"/>
                <a:gd name="connsiteY3" fmla="*/ 0 h 257442"/>
                <a:gd name="connsiteX0" fmla="*/ 3877885 w 3983464"/>
                <a:gd name="connsiteY0" fmla="*/ 0 h 257442"/>
                <a:gd name="connsiteX1" fmla="*/ 3983464 w 3983464"/>
                <a:gd name="connsiteY1" fmla="*/ 257442 h 257442"/>
                <a:gd name="connsiteX2" fmla="*/ 0 w 3983464"/>
                <a:gd name="connsiteY2" fmla="*/ 257442 h 257442"/>
                <a:gd name="connsiteX3" fmla="*/ 0 w 3983464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0 w 3877885"/>
                <a:gd name="connsiteY2" fmla="*/ 257442 h 257442"/>
                <a:gd name="connsiteX3" fmla="*/ 0 w 3877885"/>
                <a:gd name="connsiteY3" fmla="*/ 0 h 257442"/>
                <a:gd name="connsiteX0" fmla="*/ 3877885 w 3877885"/>
                <a:gd name="connsiteY0" fmla="*/ 0 h 257442"/>
                <a:gd name="connsiteX1" fmla="*/ 3823164 w 3877885"/>
                <a:gd name="connsiteY1" fmla="*/ 257442 h 257442"/>
                <a:gd name="connsiteX2" fmla="*/ 1 w 3877885"/>
                <a:gd name="connsiteY2" fmla="*/ 257442 h 257442"/>
                <a:gd name="connsiteX3" fmla="*/ 0 w 3877885"/>
                <a:gd name="connsiteY3" fmla="*/ 0 h 257442"/>
                <a:gd name="connsiteX0" fmla="*/ 3877884 w 3877884"/>
                <a:gd name="connsiteY0" fmla="*/ 0 h 257442"/>
                <a:gd name="connsiteX1" fmla="*/ 3823163 w 3877884"/>
                <a:gd name="connsiteY1" fmla="*/ 257442 h 257442"/>
                <a:gd name="connsiteX2" fmla="*/ 0 w 3877884"/>
                <a:gd name="connsiteY2" fmla="*/ 257442 h 257442"/>
                <a:gd name="connsiteX3" fmla="*/ 0 w 3877884"/>
                <a:gd name="connsiteY3" fmla="*/ 0 h 257442"/>
                <a:gd name="connsiteX0" fmla="*/ 3725598 w 3823163"/>
                <a:gd name="connsiteY0" fmla="*/ 0 h 257442"/>
                <a:gd name="connsiteX1" fmla="*/ 3823163 w 3823163"/>
                <a:gd name="connsiteY1" fmla="*/ 257442 h 257442"/>
                <a:gd name="connsiteX2" fmla="*/ 0 w 3823163"/>
                <a:gd name="connsiteY2" fmla="*/ 257442 h 257442"/>
                <a:gd name="connsiteX3" fmla="*/ 0 w 3823163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725598 w 3725598"/>
                <a:gd name="connsiteY0" fmla="*/ 0 h 257442"/>
                <a:gd name="connsiteX1" fmla="*/ 3670878 w 3725598"/>
                <a:gd name="connsiteY1" fmla="*/ 257442 h 257442"/>
                <a:gd name="connsiteX2" fmla="*/ 0 w 3725598"/>
                <a:gd name="connsiteY2" fmla="*/ 257442 h 257442"/>
                <a:gd name="connsiteX3" fmla="*/ 0 w 3725598"/>
                <a:gd name="connsiteY3" fmla="*/ 0 h 257442"/>
                <a:gd name="connsiteX0" fmla="*/ 3523620 w 3670878"/>
                <a:gd name="connsiteY0" fmla="*/ 0 h 257442"/>
                <a:gd name="connsiteX1" fmla="*/ 3670878 w 3670878"/>
                <a:gd name="connsiteY1" fmla="*/ 257442 h 257442"/>
                <a:gd name="connsiteX2" fmla="*/ 0 w 3670878"/>
                <a:gd name="connsiteY2" fmla="*/ 257442 h 257442"/>
                <a:gd name="connsiteX3" fmla="*/ 0 w 3670878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523620 w 3523620"/>
                <a:gd name="connsiteY0" fmla="*/ 0 h 257442"/>
                <a:gd name="connsiteX1" fmla="*/ 3468899 w 3523620"/>
                <a:gd name="connsiteY1" fmla="*/ 257442 h 257442"/>
                <a:gd name="connsiteX2" fmla="*/ 0 w 3523620"/>
                <a:gd name="connsiteY2" fmla="*/ 257442 h 257442"/>
                <a:gd name="connsiteX3" fmla="*/ 0 w 3523620"/>
                <a:gd name="connsiteY3" fmla="*/ 0 h 257442"/>
                <a:gd name="connsiteX0" fmla="*/ 3371336 w 3468899"/>
                <a:gd name="connsiteY0" fmla="*/ 0 h 257442"/>
                <a:gd name="connsiteX1" fmla="*/ 3468899 w 3468899"/>
                <a:gd name="connsiteY1" fmla="*/ 257442 h 257442"/>
                <a:gd name="connsiteX2" fmla="*/ 0 w 3468899"/>
                <a:gd name="connsiteY2" fmla="*/ 257442 h 257442"/>
                <a:gd name="connsiteX3" fmla="*/ 0 w 3468899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0 w 3371336"/>
                <a:gd name="connsiteY2" fmla="*/ 257442 h 257442"/>
                <a:gd name="connsiteX3" fmla="*/ 0 w 3371336"/>
                <a:gd name="connsiteY3" fmla="*/ 0 h 257442"/>
                <a:gd name="connsiteX0" fmla="*/ 3371336 w 3371336"/>
                <a:gd name="connsiteY0" fmla="*/ 0 h 257442"/>
                <a:gd name="connsiteX1" fmla="*/ 3316616 w 3371336"/>
                <a:gd name="connsiteY1" fmla="*/ 257442 h 257442"/>
                <a:gd name="connsiteX2" fmla="*/ 1 w 3371336"/>
                <a:gd name="connsiteY2" fmla="*/ 257442 h 257442"/>
                <a:gd name="connsiteX3" fmla="*/ 0 w 3371336"/>
                <a:gd name="connsiteY3" fmla="*/ 0 h 257442"/>
                <a:gd name="connsiteX0" fmla="*/ 3371335 w 3371335"/>
                <a:gd name="connsiteY0" fmla="*/ 0 h 257442"/>
                <a:gd name="connsiteX1" fmla="*/ 3316615 w 3371335"/>
                <a:gd name="connsiteY1" fmla="*/ 257442 h 257442"/>
                <a:gd name="connsiteX2" fmla="*/ 0 w 3371335"/>
                <a:gd name="connsiteY2" fmla="*/ 257442 h 257442"/>
                <a:gd name="connsiteX3" fmla="*/ 0 w 3371335"/>
                <a:gd name="connsiteY3" fmla="*/ 0 h 257442"/>
                <a:gd name="connsiteX0" fmla="*/ 3203020 w 3316615"/>
                <a:gd name="connsiteY0" fmla="*/ 0 h 257442"/>
                <a:gd name="connsiteX1" fmla="*/ 3316615 w 3316615"/>
                <a:gd name="connsiteY1" fmla="*/ 257442 h 257442"/>
                <a:gd name="connsiteX2" fmla="*/ 0 w 3316615"/>
                <a:gd name="connsiteY2" fmla="*/ 257442 h 257442"/>
                <a:gd name="connsiteX3" fmla="*/ 0 w 3316615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203020 w 3203020"/>
                <a:gd name="connsiteY0" fmla="*/ 0 h 257442"/>
                <a:gd name="connsiteX1" fmla="*/ 3148299 w 3203020"/>
                <a:gd name="connsiteY1" fmla="*/ 257442 h 257442"/>
                <a:gd name="connsiteX2" fmla="*/ 0 w 3203020"/>
                <a:gd name="connsiteY2" fmla="*/ 257442 h 257442"/>
                <a:gd name="connsiteX3" fmla="*/ 0 w 3203020"/>
                <a:gd name="connsiteY3" fmla="*/ 0 h 257442"/>
                <a:gd name="connsiteX0" fmla="*/ 3042719 w 3148299"/>
                <a:gd name="connsiteY0" fmla="*/ 0 h 257442"/>
                <a:gd name="connsiteX1" fmla="*/ 3148299 w 3148299"/>
                <a:gd name="connsiteY1" fmla="*/ 257442 h 257442"/>
                <a:gd name="connsiteX2" fmla="*/ 0 w 3148299"/>
                <a:gd name="connsiteY2" fmla="*/ 257442 h 257442"/>
                <a:gd name="connsiteX3" fmla="*/ 0 w 314829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0 w 3042719"/>
                <a:gd name="connsiteY2" fmla="*/ 257442 h 257442"/>
                <a:gd name="connsiteX3" fmla="*/ 0 w 3042719"/>
                <a:gd name="connsiteY3" fmla="*/ 0 h 257442"/>
                <a:gd name="connsiteX0" fmla="*/ 3042719 w 3042719"/>
                <a:gd name="connsiteY0" fmla="*/ 0 h 257442"/>
                <a:gd name="connsiteX1" fmla="*/ 2987999 w 3042719"/>
                <a:gd name="connsiteY1" fmla="*/ 257442 h 257442"/>
                <a:gd name="connsiteX2" fmla="*/ 1 w 3042719"/>
                <a:gd name="connsiteY2" fmla="*/ 257442 h 257442"/>
                <a:gd name="connsiteX3" fmla="*/ 0 w 3042719"/>
                <a:gd name="connsiteY3" fmla="*/ 0 h 257442"/>
                <a:gd name="connsiteX0" fmla="*/ 3042718 w 3042718"/>
                <a:gd name="connsiteY0" fmla="*/ 0 h 257442"/>
                <a:gd name="connsiteX1" fmla="*/ 2987998 w 3042718"/>
                <a:gd name="connsiteY1" fmla="*/ 257442 h 257442"/>
                <a:gd name="connsiteX2" fmla="*/ 0 w 3042718"/>
                <a:gd name="connsiteY2" fmla="*/ 257442 h 257442"/>
                <a:gd name="connsiteX3" fmla="*/ 0 w 3042718"/>
                <a:gd name="connsiteY3" fmla="*/ 0 h 257442"/>
                <a:gd name="connsiteX0" fmla="*/ 2882418 w 2987998"/>
                <a:gd name="connsiteY0" fmla="*/ 0 h 257442"/>
                <a:gd name="connsiteX1" fmla="*/ 2987998 w 2987998"/>
                <a:gd name="connsiteY1" fmla="*/ 257442 h 257442"/>
                <a:gd name="connsiteX2" fmla="*/ 0 w 2987998"/>
                <a:gd name="connsiteY2" fmla="*/ 257442 h 257442"/>
                <a:gd name="connsiteX3" fmla="*/ 0 w 2987998"/>
                <a:gd name="connsiteY3" fmla="*/ 0 h 257442"/>
                <a:gd name="connsiteX0" fmla="*/ 2882418 w 2882418"/>
                <a:gd name="connsiteY0" fmla="*/ 0 h 257442"/>
                <a:gd name="connsiteX1" fmla="*/ 2827697 w 2882418"/>
                <a:gd name="connsiteY1" fmla="*/ 257442 h 257442"/>
                <a:gd name="connsiteX2" fmla="*/ 0 w 2882418"/>
                <a:gd name="connsiteY2" fmla="*/ 257442 h 257442"/>
                <a:gd name="connsiteX3" fmla="*/ 0 w 2882418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882419 w 2882419"/>
                <a:gd name="connsiteY0" fmla="*/ 0 h 257442"/>
                <a:gd name="connsiteX1" fmla="*/ 2827698 w 2882419"/>
                <a:gd name="connsiteY1" fmla="*/ 257442 h 257442"/>
                <a:gd name="connsiteX2" fmla="*/ 0 w 2882419"/>
                <a:gd name="connsiteY2" fmla="*/ 257442 h 257442"/>
                <a:gd name="connsiteX3" fmla="*/ 1 w 2882419"/>
                <a:gd name="connsiteY3" fmla="*/ 0 h 257442"/>
                <a:gd name="connsiteX0" fmla="*/ 2603498 w 2827698"/>
                <a:gd name="connsiteY0" fmla="*/ 0 h 257442"/>
                <a:gd name="connsiteX1" fmla="*/ 2827698 w 2827698"/>
                <a:gd name="connsiteY1" fmla="*/ 257442 h 257442"/>
                <a:gd name="connsiteX2" fmla="*/ 0 w 2827698"/>
                <a:gd name="connsiteY2" fmla="*/ 257442 h 257442"/>
                <a:gd name="connsiteX3" fmla="*/ 1 w 2827698"/>
                <a:gd name="connsiteY3" fmla="*/ 0 h 257442"/>
                <a:gd name="connsiteX0" fmla="*/ 2603498 w 2603498"/>
                <a:gd name="connsiteY0" fmla="*/ 0 h 257442"/>
                <a:gd name="connsiteX1" fmla="*/ 2548777 w 2603498"/>
                <a:gd name="connsiteY1" fmla="*/ 257442 h 257442"/>
                <a:gd name="connsiteX2" fmla="*/ 0 w 2603498"/>
                <a:gd name="connsiteY2" fmla="*/ 257442 h 257442"/>
                <a:gd name="connsiteX3" fmla="*/ 1 w 2603498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603497 w 2603497"/>
                <a:gd name="connsiteY0" fmla="*/ 0 h 257442"/>
                <a:gd name="connsiteX1" fmla="*/ 2548776 w 2603497"/>
                <a:gd name="connsiteY1" fmla="*/ 257442 h 257442"/>
                <a:gd name="connsiteX2" fmla="*/ 0 w 2603497"/>
                <a:gd name="connsiteY2" fmla="*/ 257442 h 257442"/>
                <a:gd name="connsiteX3" fmla="*/ 0 w 2603497"/>
                <a:gd name="connsiteY3" fmla="*/ 0 h 257442"/>
                <a:gd name="connsiteX0" fmla="*/ 2435182 w 2548776"/>
                <a:gd name="connsiteY0" fmla="*/ 0 h 257442"/>
                <a:gd name="connsiteX1" fmla="*/ 2548776 w 2548776"/>
                <a:gd name="connsiteY1" fmla="*/ 257442 h 257442"/>
                <a:gd name="connsiteX2" fmla="*/ 0 w 2548776"/>
                <a:gd name="connsiteY2" fmla="*/ 257442 h 257442"/>
                <a:gd name="connsiteX3" fmla="*/ 0 w 2548776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435182 w 2435182"/>
                <a:gd name="connsiteY0" fmla="*/ 0 h 257442"/>
                <a:gd name="connsiteX1" fmla="*/ 2380461 w 2435182"/>
                <a:gd name="connsiteY1" fmla="*/ 257442 h 257442"/>
                <a:gd name="connsiteX2" fmla="*/ 0 w 2435182"/>
                <a:gd name="connsiteY2" fmla="*/ 257442 h 257442"/>
                <a:gd name="connsiteX3" fmla="*/ 0 w 2435182"/>
                <a:gd name="connsiteY3" fmla="*/ 0 h 257442"/>
                <a:gd name="connsiteX0" fmla="*/ 2334192 w 2380461"/>
                <a:gd name="connsiteY0" fmla="*/ 0 h 257442"/>
                <a:gd name="connsiteX1" fmla="*/ 2380461 w 2380461"/>
                <a:gd name="connsiteY1" fmla="*/ 257442 h 257442"/>
                <a:gd name="connsiteX2" fmla="*/ 0 w 2380461"/>
                <a:gd name="connsiteY2" fmla="*/ 257442 h 257442"/>
                <a:gd name="connsiteX3" fmla="*/ 0 w 2380461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0 w 2334192"/>
                <a:gd name="connsiteY2" fmla="*/ 257442 h 257442"/>
                <a:gd name="connsiteX3" fmla="*/ 0 w 2334192"/>
                <a:gd name="connsiteY3" fmla="*/ 0 h 257442"/>
                <a:gd name="connsiteX0" fmla="*/ 2334192 w 2334192"/>
                <a:gd name="connsiteY0" fmla="*/ 0 h 257442"/>
                <a:gd name="connsiteX1" fmla="*/ 2279472 w 2334192"/>
                <a:gd name="connsiteY1" fmla="*/ 257442 h 257442"/>
                <a:gd name="connsiteX2" fmla="*/ 1 w 2334192"/>
                <a:gd name="connsiteY2" fmla="*/ 257442 h 257442"/>
                <a:gd name="connsiteX3" fmla="*/ 0 w 2334192"/>
                <a:gd name="connsiteY3" fmla="*/ 0 h 257442"/>
                <a:gd name="connsiteX0" fmla="*/ 2334191 w 2334191"/>
                <a:gd name="connsiteY0" fmla="*/ 0 h 257442"/>
                <a:gd name="connsiteX1" fmla="*/ 2279471 w 2334191"/>
                <a:gd name="connsiteY1" fmla="*/ 257442 h 257442"/>
                <a:gd name="connsiteX2" fmla="*/ 0 w 2334191"/>
                <a:gd name="connsiteY2" fmla="*/ 257442 h 257442"/>
                <a:gd name="connsiteX3" fmla="*/ 0 w 2334191"/>
                <a:gd name="connsiteY3" fmla="*/ 0 h 257442"/>
                <a:gd name="connsiteX0" fmla="*/ 2165877 w 2279471"/>
                <a:gd name="connsiteY0" fmla="*/ 0 h 257442"/>
                <a:gd name="connsiteX1" fmla="*/ 2279471 w 2279471"/>
                <a:gd name="connsiteY1" fmla="*/ 257442 h 257442"/>
                <a:gd name="connsiteX2" fmla="*/ 0 w 2279471"/>
                <a:gd name="connsiteY2" fmla="*/ 257442 h 257442"/>
                <a:gd name="connsiteX3" fmla="*/ 0 w 2279471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165877 w 2165877"/>
                <a:gd name="connsiteY0" fmla="*/ 0 h 257442"/>
                <a:gd name="connsiteX1" fmla="*/ 2111156 w 2165877"/>
                <a:gd name="connsiteY1" fmla="*/ 257442 h 257442"/>
                <a:gd name="connsiteX2" fmla="*/ 0 w 2165877"/>
                <a:gd name="connsiteY2" fmla="*/ 257442 h 257442"/>
                <a:gd name="connsiteX3" fmla="*/ 0 w 2165877"/>
                <a:gd name="connsiteY3" fmla="*/ 0 h 257442"/>
                <a:gd name="connsiteX0" fmla="*/ 2013592 w 2111156"/>
                <a:gd name="connsiteY0" fmla="*/ 0 h 257442"/>
                <a:gd name="connsiteX1" fmla="*/ 2111156 w 2111156"/>
                <a:gd name="connsiteY1" fmla="*/ 257442 h 257442"/>
                <a:gd name="connsiteX2" fmla="*/ 0 w 2111156"/>
                <a:gd name="connsiteY2" fmla="*/ 257442 h 257442"/>
                <a:gd name="connsiteX3" fmla="*/ 0 w 2111156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2013592 w 2013592"/>
                <a:gd name="connsiteY0" fmla="*/ 0 h 257442"/>
                <a:gd name="connsiteX1" fmla="*/ 1958871 w 2013592"/>
                <a:gd name="connsiteY1" fmla="*/ 257442 h 257442"/>
                <a:gd name="connsiteX2" fmla="*/ 0 w 2013592"/>
                <a:gd name="connsiteY2" fmla="*/ 257442 h 257442"/>
                <a:gd name="connsiteX3" fmla="*/ 0 w 2013592"/>
                <a:gd name="connsiteY3" fmla="*/ 0 h 257442"/>
                <a:gd name="connsiteX0" fmla="*/ 1912603 w 1958871"/>
                <a:gd name="connsiteY0" fmla="*/ 0 h 257442"/>
                <a:gd name="connsiteX1" fmla="*/ 1958871 w 1958871"/>
                <a:gd name="connsiteY1" fmla="*/ 257442 h 257442"/>
                <a:gd name="connsiteX2" fmla="*/ 0 w 1958871"/>
                <a:gd name="connsiteY2" fmla="*/ 257442 h 257442"/>
                <a:gd name="connsiteX3" fmla="*/ 0 w 1958871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0 w 1912603"/>
                <a:gd name="connsiteY2" fmla="*/ 257442 h 257442"/>
                <a:gd name="connsiteX3" fmla="*/ 0 w 1912603"/>
                <a:gd name="connsiteY3" fmla="*/ 0 h 257442"/>
                <a:gd name="connsiteX0" fmla="*/ 1912603 w 1912603"/>
                <a:gd name="connsiteY0" fmla="*/ 0 h 257442"/>
                <a:gd name="connsiteX1" fmla="*/ 1857883 w 1912603"/>
                <a:gd name="connsiteY1" fmla="*/ 257442 h 257442"/>
                <a:gd name="connsiteX2" fmla="*/ 1 w 1912603"/>
                <a:gd name="connsiteY2" fmla="*/ 257442 h 257442"/>
                <a:gd name="connsiteX3" fmla="*/ 0 w 1912603"/>
                <a:gd name="connsiteY3" fmla="*/ 0 h 257442"/>
                <a:gd name="connsiteX0" fmla="*/ 1912602 w 1912602"/>
                <a:gd name="connsiteY0" fmla="*/ 0 h 257442"/>
                <a:gd name="connsiteX1" fmla="*/ 1857882 w 1912602"/>
                <a:gd name="connsiteY1" fmla="*/ 257442 h 257442"/>
                <a:gd name="connsiteX2" fmla="*/ 0 w 1912602"/>
                <a:gd name="connsiteY2" fmla="*/ 257442 h 257442"/>
                <a:gd name="connsiteX3" fmla="*/ 0 w 1912602"/>
                <a:gd name="connsiteY3" fmla="*/ 0 h 257442"/>
                <a:gd name="connsiteX0" fmla="*/ 1744286 w 1857882"/>
                <a:gd name="connsiteY0" fmla="*/ 0 h 257442"/>
                <a:gd name="connsiteX1" fmla="*/ 1857882 w 1857882"/>
                <a:gd name="connsiteY1" fmla="*/ 257442 h 257442"/>
                <a:gd name="connsiteX2" fmla="*/ 0 w 1857882"/>
                <a:gd name="connsiteY2" fmla="*/ 257442 h 257442"/>
                <a:gd name="connsiteX3" fmla="*/ 0 w 1857882"/>
                <a:gd name="connsiteY3" fmla="*/ 0 h 257442"/>
                <a:gd name="connsiteX0" fmla="*/ 1744286 w 1744286"/>
                <a:gd name="connsiteY0" fmla="*/ 0 h 257442"/>
                <a:gd name="connsiteX1" fmla="*/ 1689565 w 1744286"/>
                <a:gd name="connsiteY1" fmla="*/ 257442 h 257442"/>
                <a:gd name="connsiteX2" fmla="*/ 0 w 1744286"/>
                <a:gd name="connsiteY2" fmla="*/ 257442 h 257442"/>
                <a:gd name="connsiteX3" fmla="*/ 0 w 1744286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744287 w 1744287"/>
                <a:gd name="connsiteY0" fmla="*/ 0 h 257442"/>
                <a:gd name="connsiteX1" fmla="*/ 1689566 w 1744287"/>
                <a:gd name="connsiteY1" fmla="*/ 257442 h 257442"/>
                <a:gd name="connsiteX2" fmla="*/ 0 w 1744287"/>
                <a:gd name="connsiteY2" fmla="*/ 257442 h 257442"/>
                <a:gd name="connsiteX3" fmla="*/ 1 w 1744287"/>
                <a:gd name="connsiteY3" fmla="*/ 0 h 257442"/>
                <a:gd name="connsiteX0" fmla="*/ 1575973 w 1689566"/>
                <a:gd name="connsiteY0" fmla="*/ 0 h 257442"/>
                <a:gd name="connsiteX1" fmla="*/ 1689566 w 1689566"/>
                <a:gd name="connsiteY1" fmla="*/ 257442 h 257442"/>
                <a:gd name="connsiteX2" fmla="*/ 0 w 1689566"/>
                <a:gd name="connsiteY2" fmla="*/ 257442 h 257442"/>
                <a:gd name="connsiteX3" fmla="*/ 1 w 1689566"/>
                <a:gd name="connsiteY3" fmla="*/ 0 h 257442"/>
                <a:gd name="connsiteX0" fmla="*/ 1575973 w 1575973"/>
                <a:gd name="connsiteY0" fmla="*/ 0 h 257442"/>
                <a:gd name="connsiteX1" fmla="*/ 1521252 w 1575973"/>
                <a:gd name="connsiteY1" fmla="*/ 257442 h 257442"/>
                <a:gd name="connsiteX2" fmla="*/ 0 w 1575973"/>
                <a:gd name="connsiteY2" fmla="*/ 257442 h 257442"/>
                <a:gd name="connsiteX3" fmla="*/ 1 w 1575973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575972 w 1575972"/>
                <a:gd name="connsiteY0" fmla="*/ 0 h 257442"/>
                <a:gd name="connsiteX1" fmla="*/ 1521251 w 1575972"/>
                <a:gd name="connsiteY1" fmla="*/ 257442 h 257442"/>
                <a:gd name="connsiteX2" fmla="*/ 1 w 1575972"/>
                <a:gd name="connsiteY2" fmla="*/ 257442 h 257442"/>
                <a:gd name="connsiteX3" fmla="*/ 0 w 1575972"/>
                <a:gd name="connsiteY3" fmla="*/ 0 h 257442"/>
                <a:gd name="connsiteX0" fmla="*/ 1474983 w 1521251"/>
                <a:gd name="connsiteY0" fmla="*/ 0 h 257442"/>
                <a:gd name="connsiteX1" fmla="*/ 1521251 w 1521251"/>
                <a:gd name="connsiteY1" fmla="*/ 257442 h 257442"/>
                <a:gd name="connsiteX2" fmla="*/ 1 w 1521251"/>
                <a:gd name="connsiteY2" fmla="*/ 257442 h 257442"/>
                <a:gd name="connsiteX3" fmla="*/ 0 w 1521251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3 w 1474983"/>
                <a:gd name="connsiteY0" fmla="*/ 0 h 257442"/>
                <a:gd name="connsiteX1" fmla="*/ 1420263 w 1474983"/>
                <a:gd name="connsiteY1" fmla="*/ 257442 h 257442"/>
                <a:gd name="connsiteX2" fmla="*/ 1 w 1474983"/>
                <a:gd name="connsiteY2" fmla="*/ 257442 h 257442"/>
                <a:gd name="connsiteX3" fmla="*/ 0 w 1474983"/>
                <a:gd name="connsiteY3" fmla="*/ 0 h 257442"/>
                <a:gd name="connsiteX0" fmla="*/ 1474982 w 1474982"/>
                <a:gd name="connsiteY0" fmla="*/ 0 h 257442"/>
                <a:gd name="connsiteX1" fmla="*/ 1420262 w 1474982"/>
                <a:gd name="connsiteY1" fmla="*/ 257442 h 257442"/>
                <a:gd name="connsiteX2" fmla="*/ 0 w 1474982"/>
                <a:gd name="connsiteY2" fmla="*/ 257442 h 257442"/>
                <a:gd name="connsiteX3" fmla="*/ 0 w 1474982"/>
                <a:gd name="connsiteY3" fmla="*/ 0 h 257442"/>
                <a:gd name="connsiteX0" fmla="*/ 1314681 w 1420262"/>
                <a:gd name="connsiteY0" fmla="*/ 0 h 257442"/>
                <a:gd name="connsiteX1" fmla="*/ 1420262 w 1420262"/>
                <a:gd name="connsiteY1" fmla="*/ 257442 h 257442"/>
                <a:gd name="connsiteX2" fmla="*/ 0 w 1420262"/>
                <a:gd name="connsiteY2" fmla="*/ 257442 h 257442"/>
                <a:gd name="connsiteX3" fmla="*/ 0 w 1420262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314681 w 1314681"/>
                <a:gd name="connsiteY0" fmla="*/ 0 h 257442"/>
                <a:gd name="connsiteX1" fmla="*/ 1259960 w 1314681"/>
                <a:gd name="connsiteY1" fmla="*/ 257442 h 257442"/>
                <a:gd name="connsiteX2" fmla="*/ 0 w 1314681"/>
                <a:gd name="connsiteY2" fmla="*/ 257442 h 257442"/>
                <a:gd name="connsiteX3" fmla="*/ 0 w 1314681"/>
                <a:gd name="connsiteY3" fmla="*/ 0 h 257442"/>
                <a:gd name="connsiteX0" fmla="*/ 1128734 w 1259960"/>
                <a:gd name="connsiteY0" fmla="*/ 0 h 257442"/>
                <a:gd name="connsiteX1" fmla="*/ 1259960 w 1259960"/>
                <a:gd name="connsiteY1" fmla="*/ 257442 h 257442"/>
                <a:gd name="connsiteX2" fmla="*/ 0 w 1259960"/>
                <a:gd name="connsiteY2" fmla="*/ 257442 h 257442"/>
                <a:gd name="connsiteX3" fmla="*/ 0 w 1259960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1128734 w 1128734"/>
                <a:gd name="connsiteY0" fmla="*/ 0 h 257442"/>
                <a:gd name="connsiteX1" fmla="*/ 1074013 w 1128734"/>
                <a:gd name="connsiteY1" fmla="*/ 257442 h 257442"/>
                <a:gd name="connsiteX2" fmla="*/ 0 w 1128734"/>
                <a:gd name="connsiteY2" fmla="*/ 257442 h 257442"/>
                <a:gd name="connsiteX3" fmla="*/ 0 w 1128734"/>
                <a:gd name="connsiteY3" fmla="*/ 0 h 257442"/>
                <a:gd name="connsiteX0" fmla="*/ 950801 w 1074013"/>
                <a:gd name="connsiteY0" fmla="*/ 0 h 257442"/>
                <a:gd name="connsiteX1" fmla="*/ 1074013 w 1074013"/>
                <a:gd name="connsiteY1" fmla="*/ 257442 h 257442"/>
                <a:gd name="connsiteX2" fmla="*/ 0 w 1074013"/>
                <a:gd name="connsiteY2" fmla="*/ 257442 h 257442"/>
                <a:gd name="connsiteX3" fmla="*/ 0 w 1074013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0 w 950801"/>
                <a:gd name="connsiteY2" fmla="*/ 257442 h 257442"/>
                <a:gd name="connsiteX3" fmla="*/ 0 w 950801"/>
                <a:gd name="connsiteY3" fmla="*/ 0 h 257442"/>
                <a:gd name="connsiteX0" fmla="*/ 950801 w 950801"/>
                <a:gd name="connsiteY0" fmla="*/ 0 h 257442"/>
                <a:gd name="connsiteX1" fmla="*/ 896081 w 950801"/>
                <a:gd name="connsiteY1" fmla="*/ 257442 h 257442"/>
                <a:gd name="connsiteX2" fmla="*/ 1 w 950801"/>
                <a:gd name="connsiteY2" fmla="*/ 257442 h 257442"/>
                <a:gd name="connsiteX3" fmla="*/ 0 w 950801"/>
                <a:gd name="connsiteY3" fmla="*/ 0 h 257442"/>
                <a:gd name="connsiteX0" fmla="*/ 950800 w 950800"/>
                <a:gd name="connsiteY0" fmla="*/ 0 h 257442"/>
                <a:gd name="connsiteX1" fmla="*/ 896080 w 950800"/>
                <a:gd name="connsiteY1" fmla="*/ 257442 h 257442"/>
                <a:gd name="connsiteX2" fmla="*/ 0 w 950800"/>
                <a:gd name="connsiteY2" fmla="*/ 257442 h 257442"/>
                <a:gd name="connsiteX3" fmla="*/ 0 w 950800"/>
                <a:gd name="connsiteY3" fmla="*/ 0 h 257442"/>
                <a:gd name="connsiteX0" fmla="*/ 782549 w 896080"/>
                <a:gd name="connsiteY0" fmla="*/ 0 h 257442"/>
                <a:gd name="connsiteX1" fmla="*/ 896080 w 896080"/>
                <a:gd name="connsiteY1" fmla="*/ 257442 h 257442"/>
                <a:gd name="connsiteX2" fmla="*/ 0 w 896080"/>
                <a:gd name="connsiteY2" fmla="*/ 257442 h 257442"/>
                <a:gd name="connsiteX3" fmla="*/ 0 w 896080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782549 w 782549"/>
                <a:gd name="connsiteY0" fmla="*/ 0 h 257442"/>
                <a:gd name="connsiteX1" fmla="*/ 727828 w 782549"/>
                <a:gd name="connsiteY1" fmla="*/ 257442 h 257442"/>
                <a:gd name="connsiteX2" fmla="*/ 0 w 782549"/>
                <a:gd name="connsiteY2" fmla="*/ 257442 h 257442"/>
                <a:gd name="connsiteX3" fmla="*/ 0 w 782549"/>
                <a:gd name="connsiteY3" fmla="*/ 0 h 257442"/>
                <a:gd name="connsiteX0" fmla="*/ 1120719 w 1120719"/>
                <a:gd name="connsiteY0" fmla="*/ 0 h 257442"/>
                <a:gd name="connsiteX1" fmla="*/ 72782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120719 w 1120719"/>
                <a:gd name="connsiteY0" fmla="*/ 0 h 257442"/>
                <a:gd name="connsiteX1" fmla="*/ 1065998 w 1120719"/>
                <a:gd name="connsiteY1" fmla="*/ 257442 h 257442"/>
                <a:gd name="connsiteX2" fmla="*/ 0 w 1120719"/>
                <a:gd name="connsiteY2" fmla="*/ 257442 h 257442"/>
                <a:gd name="connsiteX3" fmla="*/ 0 w 1120719"/>
                <a:gd name="connsiteY3" fmla="*/ 0 h 257442"/>
                <a:gd name="connsiteX0" fmla="*/ 1289034 w 1289034"/>
                <a:gd name="connsiteY0" fmla="*/ 0 h 257442"/>
                <a:gd name="connsiteX1" fmla="*/ 1065998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4 w 1289034"/>
                <a:gd name="connsiteY0" fmla="*/ 0 h 257442"/>
                <a:gd name="connsiteX1" fmla="*/ 1234312 w 1289034"/>
                <a:gd name="connsiteY1" fmla="*/ 257442 h 257442"/>
                <a:gd name="connsiteX2" fmla="*/ 0 w 1289034"/>
                <a:gd name="connsiteY2" fmla="*/ 257442 h 257442"/>
                <a:gd name="connsiteX3" fmla="*/ 0 w 1289034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289035 w 1289035"/>
                <a:gd name="connsiteY0" fmla="*/ 0 h 257442"/>
                <a:gd name="connsiteX1" fmla="*/ 1234313 w 1289035"/>
                <a:gd name="connsiteY1" fmla="*/ 257442 h 257442"/>
                <a:gd name="connsiteX2" fmla="*/ 0 w 1289035"/>
                <a:gd name="connsiteY2" fmla="*/ 257442 h 257442"/>
                <a:gd name="connsiteX3" fmla="*/ 1 w 1289035"/>
                <a:gd name="connsiteY3" fmla="*/ 0 h 257442"/>
                <a:gd name="connsiteX0" fmla="*/ 1457351 w 1457351"/>
                <a:gd name="connsiteY0" fmla="*/ 0 h 257442"/>
                <a:gd name="connsiteX1" fmla="*/ 1234313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0 w 1457351"/>
                <a:gd name="connsiteY2" fmla="*/ 257442 h 257442"/>
                <a:gd name="connsiteX3" fmla="*/ 1 w 1457351"/>
                <a:gd name="connsiteY3" fmla="*/ 0 h 257442"/>
                <a:gd name="connsiteX0" fmla="*/ 1457350 w 1457350"/>
                <a:gd name="connsiteY0" fmla="*/ 0 h 257442"/>
                <a:gd name="connsiteX1" fmla="*/ 1402629 w 1457350"/>
                <a:gd name="connsiteY1" fmla="*/ 257442 h 257442"/>
                <a:gd name="connsiteX2" fmla="*/ 0 w 1457350"/>
                <a:gd name="connsiteY2" fmla="*/ 257442 h 257442"/>
                <a:gd name="connsiteX3" fmla="*/ 0 w 1457350"/>
                <a:gd name="connsiteY3" fmla="*/ 0 h 257442"/>
                <a:gd name="connsiteX0" fmla="*/ 1457351 w 1457351"/>
                <a:gd name="connsiteY0" fmla="*/ 0 h 257442"/>
                <a:gd name="connsiteX1" fmla="*/ 1402630 w 1457351"/>
                <a:gd name="connsiteY1" fmla="*/ 257442 h 257442"/>
                <a:gd name="connsiteX2" fmla="*/ 1 w 1457351"/>
                <a:gd name="connsiteY2" fmla="*/ 257442 h 257442"/>
                <a:gd name="connsiteX3" fmla="*/ 0 w 1457351"/>
                <a:gd name="connsiteY3" fmla="*/ 0 h 257442"/>
                <a:gd name="connsiteX0" fmla="*/ 1712934 w 1712934"/>
                <a:gd name="connsiteY0" fmla="*/ 0 h 257442"/>
                <a:gd name="connsiteX1" fmla="*/ 1402630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1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712934 w 1712934"/>
                <a:gd name="connsiteY0" fmla="*/ 0 h 257442"/>
                <a:gd name="connsiteX1" fmla="*/ 1658212 w 1712934"/>
                <a:gd name="connsiteY1" fmla="*/ 257442 h 257442"/>
                <a:gd name="connsiteX2" fmla="*/ 0 w 1712934"/>
                <a:gd name="connsiteY2" fmla="*/ 257442 h 257442"/>
                <a:gd name="connsiteX3" fmla="*/ 0 w 1712934"/>
                <a:gd name="connsiteY3" fmla="*/ 0 h 257442"/>
                <a:gd name="connsiteX0" fmla="*/ 1873233 w 1873233"/>
                <a:gd name="connsiteY0" fmla="*/ 0 h 257442"/>
                <a:gd name="connsiteX1" fmla="*/ 16582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1873233 w 1873233"/>
                <a:gd name="connsiteY0" fmla="*/ 0 h 257442"/>
                <a:gd name="connsiteX1" fmla="*/ 1818512 w 1873233"/>
                <a:gd name="connsiteY1" fmla="*/ 257442 h 257442"/>
                <a:gd name="connsiteX2" fmla="*/ 0 w 1873233"/>
                <a:gd name="connsiteY2" fmla="*/ 257442 h 257442"/>
                <a:gd name="connsiteX3" fmla="*/ 0 w 1873233"/>
                <a:gd name="connsiteY3" fmla="*/ 0 h 257442"/>
                <a:gd name="connsiteX0" fmla="*/ 2126508 w 2126508"/>
                <a:gd name="connsiteY0" fmla="*/ 0 h 257442"/>
                <a:gd name="connsiteX1" fmla="*/ 1818512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8 w 2126508"/>
                <a:gd name="connsiteY0" fmla="*/ 0 h 257442"/>
                <a:gd name="connsiteX1" fmla="*/ 2071786 w 2126508"/>
                <a:gd name="connsiteY1" fmla="*/ 257442 h 257442"/>
                <a:gd name="connsiteX2" fmla="*/ 0 w 2126508"/>
                <a:gd name="connsiteY2" fmla="*/ 257442 h 257442"/>
                <a:gd name="connsiteX3" fmla="*/ 0 w 2126508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2126509 w 2126509"/>
                <a:gd name="connsiteY0" fmla="*/ 0 h 257442"/>
                <a:gd name="connsiteX1" fmla="*/ 2071787 w 2126509"/>
                <a:gd name="connsiteY1" fmla="*/ 257442 h 257442"/>
                <a:gd name="connsiteX2" fmla="*/ 0 w 2126509"/>
                <a:gd name="connsiteY2" fmla="*/ 257442 h 257442"/>
                <a:gd name="connsiteX3" fmla="*/ 1 w 2126509"/>
                <a:gd name="connsiteY3" fmla="*/ 0 h 257442"/>
                <a:gd name="connsiteX0" fmla="*/ 942787 w 2071787"/>
                <a:gd name="connsiteY0" fmla="*/ 0 h 257442"/>
                <a:gd name="connsiteX1" fmla="*/ 2071787 w 2071787"/>
                <a:gd name="connsiteY1" fmla="*/ 257442 h 257442"/>
                <a:gd name="connsiteX2" fmla="*/ 0 w 2071787"/>
                <a:gd name="connsiteY2" fmla="*/ 257442 h 257442"/>
                <a:gd name="connsiteX3" fmla="*/ 1 w 2071787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0 w 942787"/>
                <a:gd name="connsiteY2" fmla="*/ 257442 h 257442"/>
                <a:gd name="connsiteX3" fmla="*/ 1 w 942787"/>
                <a:gd name="connsiteY3" fmla="*/ 0 h 257442"/>
                <a:gd name="connsiteX0" fmla="*/ 942786 w 942786"/>
                <a:gd name="connsiteY0" fmla="*/ 0 h 257442"/>
                <a:gd name="connsiteX1" fmla="*/ 888065 w 942786"/>
                <a:gd name="connsiteY1" fmla="*/ 257442 h 257442"/>
                <a:gd name="connsiteX2" fmla="*/ 0 w 942786"/>
                <a:gd name="connsiteY2" fmla="*/ 257442 h 257442"/>
                <a:gd name="connsiteX3" fmla="*/ 0 w 942786"/>
                <a:gd name="connsiteY3" fmla="*/ 0 h 257442"/>
                <a:gd name="connsiteX0" fmla="*/ 942787 w 942787"/>
                <a:gd name="connsiteY0" fmla="*/ 0 h 257442"/>
                <a:gd name="connsiteX1" fmla="*/ 888066 w 942787"/>
                <a:gd name="connsiteY1" fmla="*/ 257442 h 257442"/>
                <a:gd name="connsiteX2" fmla="*/ 1 w 942787"/>
                <a:gd name="connsiteY2" fmla="*/ 257442 h 257442"/>
                <a:gd name="connsiteX3" fmla="*/ 0 w 942787"/>
                <a:gd name="connsiteY3" fmla="*/ 0 h 257442"/>
                <a:gd name="connsiteX0" fmla="*/ 1111102 w 1111102"/>
                <a:gd name="connsiteY0" fmla="*/ 0 h 257442"/>
                <a:gd name="connsiteX1" fmla="*/ 888066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1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111102 w 1111102"/>
                <a:gd name="connsiteY0" fmla="*/ 0 h 257442"/>
                <a:gd name="connsiteX1" fmla="*/ 1056380 w 1111102"/>
                <a:gd name="connsiteY1" fmla="*/ 257442 h 257442"/>
                <a:gd name="connsiteX2" fmla="*/ 0 w 1111102"/>
                <a:gd name="connsiteY2" fmla="*/ 257442 h 257442"/>
                <a:gd name="connsiteX3" fmla="*/ 0 w 1111102"/>
                <a:gd name="connsiteY3" fmla="*/ 0 h 257442"/>
                <a:gd name="connsiteX0" fmla="*/ 1390024 w 1390024"/>
                <a:gd name="connsiteY0" fmla="*/ 0 h 257442"/>
                <a:gd name="connsiteX1" fmla="*/ 1056380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390024 w 1390024"/>
                <a:gd name="connsiteY0" fmla="*/ 0 h 257442"/>
                <a:gd name="connsiteX1" fmla="*/ 1335303 w 1390024"/>
                <a:gd name="connsiteY1" fmla="*/ 257442 h 257442"/>
                <a:gd name="connsiteX2" fmla="*/ 0 w 1390024"/>
                <a:gd name="connsiteY2" fmla="*/ 257442 h 257442"/>
                <a:gd name="connsiteX3" fmla="*/ 0 w 1390024"/>
                <a:gd name="connsiteY3" fmla="*/ 0 h 257442"/>
                <a:gd name="connsiteX0" fmla="*/ 1558339 w 1558339"/>
                <a:gd name="connsiteY0" fmla="*/ 0 h 257442"/>
                <a:gd name="connsiteX1" fmla="*/ 1335303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558339 w 1558339"/>
                <a:gd name="connsiteY0" fmla="*/ 0 h 257442"/>
                <a:gd name="connsiteX1" fmla="*/ 1503618 w 1558339"/>
                <a:gd name="connsiteY1" fmla="*/ 257442 h 257442"/>
                <a:gd name="connsiteX2" fmla="*/ 0 w 1558339"/>
                <a:gd name="connsiteY2" fmla="*/ 257442 h 257442"/>
                <a:gd name="connsiteX3" fmla="*/ 0 w 1558339"/>
                <a:gd name="connsiteY3" fmla="*/ 0 h 257442"/>
                <a:gd name="connsiteX0" fmla="*/ 1827643 w 1827643"/>
                <a:gd name="connsiteY0" fmla="*/ 0 h 257442"/>
                <a:gd name="connsiteX1" fmla="*/ 1503618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827643 w 1827643"/>
                <a:gd name="connsiteY0" fmla="*/ 0 h 257442"/>
                <a:gd name="connsiteX1" fmla="*/ 1772922 w 1827643"/>
                <a:gd name="connsiteY1" fmla="*/ 257442 h 257442"/>
                <a:gd name="connsiteX2" fmla="*/ 0 w 1827643"/>
                <a:gd name="connsiteY2" fmla="*/ 257442 h 257442"/>
                <a:gd name="connsiteX3" fmla="*/ 0 w 1827643"/>
                <a:gd name="connsiteY3" fmla="*/ 0 h 257442"/>
                <a:gd name="connsiteX0" fmla="*/ 1995959 w 1995959"/>
                <a:gd name="connsiteY0" fmla="*/ 0 h 257442"/>
                <a:gd name="connsiteX1" fmla="*/ 1772922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1995959 w 1995959"/>
                <a:gd name="connsiteY0" fmla="*/ 0 h 257442"/>
                <a:gd name="connsiteX1" fmla="*/ 1941238 w 1995959"/>
                <a:gd name="connsiteY1" fmla="*/ 257442 h 257442"/>
                <a:gd name="connsiteX2" fmla="*/ 0 w 1995959"/>
                <a:gd name="connsiteY2" fmla="*/ 257442 h 257442"/>
                <a:gd name="connsiteX3" fmla="*/ 0 w 1995959"/>
                <a:gd name="connsiteY3" fmla="*/ 0 h 257442"/>
                <a:gd name="connsiteX0" fmla="*/ 2265264 w 2265264"/>
                <a:gd name="connsiteY0" fmla="*/ 0 h 257442"/>
                <a:gd name="connsiteX1" fmla="*/ 1941238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4 w 2265264"/>
                <a:gd name="connsiteY0" fmla="*/ 0 h 257442"/>
                <a:gd name="connsiteX1" fmla="*/ 2210542 w 2265264"/>
                <a:gd name="connsiteY1" fmla="*/ 257442 h 257442"/>
                <a:gd name="connsiteX2" fmla="*/ 0 w 2265264"/>
                <a:gd name="connsiteY2" fmla="*/ 257442 h 257442"/>
                <a:gd name="connsiteX3" fmla="*/ 0 w 2265264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265265 w 2265265"/>
                <a:gd name="connsiteY0" fmla="*/ 0 h 257442"/>
                <a:gd name="connsiteX1" fmla="*/ 2210543 w 2265265"/>
                <a:gd name="connsiteY1" fmla="*/ 257442 h 257442"/>
                <a:gd name="connsiteX2" fmla="*/ 0 w 2265265"/>
                <a:gd name="connsiteY2" fmla="*/ 257442 h 257442"/>
                <a:gd name="connsiteX3" fmla="*/ 1 w 2265265"/>
                <a:gd name="connsiteY3" fmla="*/ 0 h 257442"/>
                <a:gd name="connsiteX0" fmla="*/ 2526554 w 2526554"/>
                <a:gd name="connsiteY0" fmla="*/ 0 h 257442"/>
                <a:gd name="connsiteX1" fmla="*/ 2210543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1 w 2526554"/>
                <a:gd name="connsiteY3" fmla="*/ 0 h 257442"/>
                <a:gd name="connsiteX0" fmla="*/ 2526554 w 2526554"/>
                <a:gd name="connsiteY0" fmla="*/ 0 h 257442"/>
                <a:gd name="connsiteX1" fmla="*/ 2471832 w 2526554"/>
                <a:gd name="connsiteY1" fmla="*/ 257442 h 257442"/>
                <a:gd name="connsiteX2" fmla="*/ 0 w 2526554"/>
                <a:gd name="connsiteY2" fmla="*/ 257442 h 257442"/>
                <a:gd name="connsiteX3" fmla="*/ 0 w 2526554"/>
                <a:gd name="connsiteY3" fmla="*/ 0 h 257442"/>
                <a:gd name="connsiteX0" fmla="*/ 2686853 w 2686853"/>
                <a:gd name="connsiteY0" fmla="*/ 0 h 257442"/>
                <a:gd name="connsiteX1" fmla="*/ 24718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686853 w 2686853"/>
                <a:gd name="connsiteY0" fmla="*/ 0 h 257442"/>
                <a:gd name="connsiteX1" fmla="*/ 2632132 w 2686853"/>
                <a:gd name="connsiteY1" fmla="*/ 257442 h 257442"/>
                <a:gd name="connsiteX2" fmla="*/ 0 w 2686853"/>
                <a:gd name="connsiteY2" fmla="*/ 257442 h 257442"/>
                <a:gd name="connsiteX3" fmla="*/ 0 w 2686853"/>
                <a:gd name="connsiteY3" fmla="*/ 0 h 257442"/>
                <a:gd name="connsiteX0" fmla="*/ 2847153 w 2847153"/>
                <a:gd name="connsiteY0" fmla="*/ 0 h 257442"/>
                <a:gd name="connsiteX1" fmla="*/ 26321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2847153 w 2847153"/>
                <a:gd name="connsiteY0" fmla="*/ 0 h 257442"/>
                <a:gd name="connsiteX1" fmla="*/ 2792432 w 2847153"/>
                <a:gd name="connsiteY1" fmla="*/ 257442 h 257442"/>
                <a:gd name="connsiteX2" fmla="*/ 0 w 2847153"/>
                <a:gd name="connsiteY2" fmla="*/ 257442 h 257442"/>
                <a:gd name="connsiteX3" fmla="*/ 0 w 2847153"/>
                <a:gd name="connsiteY3" fmla="*/ 0 h 257442"/>
                <a:gd name="connsiteX0" fmla="*/ 3007453 w 3007453"/>
                <a:gd name="connsiteY0" fmla="*/ 0 h 257442"/>
                <a:gd name="connsiteX1" fmla="*/ 27924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007453 w 3007453"/>
                <a:gd name="connsiteY0" fmla="*/ 0 h 257442"/>
                <a:gd name="connsiteX1" fmla="*/ 2952732 w 3007453"/>
                <a:gd name="connsiteY1" fmla="*/ 257442 h 257442"/>
                <a:gd name="connsiteX2" fmla="*/ 0 w 3007453"/>
                <a:gd name="connsiteY2" fmla="*/ 257442 h 257442"/>
                <a:gd name="connsiteX3" fmla="*/ 0 w 3007453"/>
                <a:gd name="connsiteY3" fmla="*/ 0 h 257442"/>
                <a:gd name="connsiteX0" fmla="*/ 3175769 w 3175769"/>
                <a:gd name="connsiteY0" fmla="*/ 0 h 257442"/>
                <a:gd name="connsiteX1" fmla="*/ 2952732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175769 w 3175769"/>
                <a:gd name="connsiteY0" fmla="*/ 0 h 257442"/>
                <a:gd name="connsiteX1" fmla="*/ 3121048 w 3175769"/>
                <a:gd name="connsiteY1" fmla="*/ 257442 h 257442"/>
                <a:gd name="connsiteX2" fmla="*/ 0 w 3175769"/>
                <a:gd name="connsiteY2" fmla="*/ 257442 h 257442"/>
                <a:gd name="connsiteX3" fmla="*/ 0 w 3175769"/>
                <a:gd name="connsiteY3" fmla="*/ 0 h 257442"/>
                <a:gd name="connsiteX0" fmla="*/ 3437058 w 3437058"/>
                <a:gd name="connsiteY0" fmla="*/ 0 h 257442"/>
                <a:gd name="connsiteX1" fmla="*/ 3121048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8 w 3437058"/>
                <a:gd name="connsiteY0" fmla="*/ 0 h 257442"/>
                <a:gd name="connsiteX1" fmla="*/ 3382336 w 3437058"/>
                <a:gd name="connsiteY1" fmla="*/ 257442 h 257442"/>
                <a:gd name="connsiteX2" fmla="*/ 0 w 3437058"/>
                <a:gd name="connsiteY2" fmla="*/ 257442 h 257442"/>
                <a:gd name="connsiteX3" fmla="*/ 0 w 3437058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437059 w 3437059"/>
                <a:gd name="connsiteY0" fmla="*/ 0 h 257442"/>
                <a:gd name="connsiteX1" fmla="*/ 3382337 w 3437059"/>
                <a:gd name="connsiteY1" fmla="*/ 257442 h 257442"/>
                <a:gd name="connsiteX2" fmla="*/ 0 w 3437059"/>
                <a:gd name="connsiteY2" fmla="*/ 257442 h 257442"/>
                <a:gd name="connsiteX3" fmla="*/ 1 w 3437059"/>
                <a:gd name="connsiteY3" fmla="*/ 0 h 257442"/>
                <a:gd name="connsiteX0" fmla="*/ 3605375 w 3605375"/>
                <a:gd name="connsiteY0" fmla="*/ 0 h 257442"/>
                <a:gd name="connsiteX1" fmla="*/ 3382337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0 w 3605375"/>
                <a:gd name="connsiteY2" fmla="*/ 257442 h 257442"/>
                <a:gd name="connsiteX3" fmla="*/ 1 w 3605375"/>
                <a:gd name="connsiteY3" fmla="*/ 0 h 257442"/>
                <a:gd name="connsiteX0" fmla="*/ 3605374 w 3605374"/>
                <a:gd name="connsiteY0" fmla="*/ 0 h 257442"/>
                <a:gd name="connsiteX1" fmla="*/ 3550653 w 3605374"/>
                <a:gd name="connsiteY1" fmla="*/ 257442 h 257442"/>
                <a:gd name="connsiteX2" fmla="*/ 0 w 3605374"/>
                <a:gd name="connsiteY2" fmla="*/ 257442 h 257442"/>
                <a:gd name="connsiteX3" fmla="*/ 0 w 3605374"/>
                <a:gd name="connsiteY3" fmla="*/ 0 h 257442"/>
                <a:gd name="connsiteX0" fmla="*/ 3605375 w 3605375"/>
                <a:gd name="connsiteY0" fmla="*/ 0 h 257442"/>
                <a:gd name="connsiteX1" fmla="*/ 3550654 w 3605375"/>
                <a:gd name="connsiteY1" fmla="*/ 257442 h 257442"/>
                <a:gd name="connsiteX2" fmla="*/ 1 w 3605375"/>
                <a:gd name="connsiteY2" fmla="*/ 257442 h 257442"/>
                <a:gd name="connsiteX3" fmla="*/ 0 w 3605375"/>
                <a:gd name="connsiteY3" fmla="*/ 0 h 257442"/>
                <a:gd name="connsiteX0" fmla="*/ 3765675 w 3765675"/>
                <a:gd name="connsiteY0" fmla="*/ 0 h 257442"/>
                <a:gd name="connsiteX1" fmla="*/ 35506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5 w 3765675"/>
                <a:gd name="connsiteY0" fmla="*/ 0 h 257442"/>
                <a:gd name="connsiteX1" fmla="*/ 3710954 w 3765675"/>
                <a:gd name="connsiteY1" fmla="*/ 257442 h 257442"/>
                <a:gd name="connsiteX2" fmla="*/ 1 w 3765675"/>
                <a:gd name="connsiteY2" fmla="*/ 257442 h 257442"/>
                <a:gd name="connsiteX3" fmla="*/ 0 w 3765675"/>
                <a:gd name="connsiteY3" fmla="*/ 0 h 257442"/>
                <a:gd name="connsiteX0" fmla="*/ 3765674 w 3765674"/>
                <a:gd name="connsiteY0" fmla="*/ 0 h 257442"/>
                <a:gd name="connsiteX1" fmla="*/ 3710953 w 3765674"/>
                <a:gd name="connsiteY1" fmla="*/ 257442 h 257442"/>
                <a:gd name="connsiteX2" fmla="*/ 0 w 3765674"/>
                <a:gd name="connsiteY2" fmla="*/ 257442 h 257442"/>
                <a:gd name="connsiteX3" fmla="*/ 0 w 3765674"/>
                <a:gd name="connsiteY3" fmla="*/ 0 h 257442"/>
                <a:gd name="connsiteX0" fmla="*/ 3933988 w 3933988"/>
                <a:gd name="connsiteY0" fmla="*/ 0 h 257442"/>
                <a:gd name="connsiteX1" fmla="*/ 3710953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8 w 3933988"/>
                <a:gd name="connsiteY0" fmla="*/ 0 h 257442"/>
                <a:gd name="connsiteX1" fmla="*/ 3879267 w 3933988"/>
                <a:gd name="connsiteY1" fmla="*/ 257442 h 257442"/>
                <a:gd name="connsiteX2" fmla="*/ 0 w 3933988"/>
                <a:gd name="connsiteY2" fmla="*/ 257442 h 257442"/>
                <a:gd name="connsiteX3" fmla="*/ 0 w 3933988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3933989 w 3933989"/>
                <a:gd name="connsiteY0" fmla="*/ 0 h 257442"/>
                <a:gd name="connsiteX1" fmla="*/ 3879268 w 3933989"/>
                <a:gd name="connsiteY1" fmla="*/ 257442 h 257442"/>
                <a:gd name="connsiteX2" fmla="*/ 0 w 3933989"/>
                <a:gd name="connsiteY2" fmla="*/ 257442 h 257442"/>
                <a:gd name="connsiteX3" fmla="*/ 1 w 3933989"/>
                <a:gd name="connsiteY3" fmla="*/ 0 h 257442"/>
                <a:gd name="connsiteX0" fmla="*/ 4094290 w 4094290"/>
                <a:gd name="connsiteY0" fmla="*/ 0 h 257442"/>
                <a:gd name="connsiteX1" fmla="*/ 38792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1 w 4094290"/>
                <a:gd name="connsiteY3" fmla="*/ 0 h 257442"/>
                <a:gd name="connsiteX0" fmla="*/ 4094290 w 4094290"/>
                <a:gd name="connsiteY0" fmla="*/ 0 h 257442"/>
                <a:gd name="connsiteX1" fmla="*/ 4039568 w 4094290"/>
                <a:gd name="connsiteY1" fmla="*/ 257442 h 257442"/>
                <a:gd name="connsiteX2" fmla="*/ 0 w 4094290"/>
                <a:gd name="connsiteY2" fmla="*/ 257442 h 257442"/>
                <a:gd name="connsiteX3" fmla="*/ 0 w 4094290"/>
                <a:gd name="connsiteY3" fmla="*/ 0 h 257442"/>
                <a:gd name="connsiteX0" fmla="*/ 4034979 w 4039568"/>
                <a:gd name="connsiteY0" fmla="*/ 0 h 257442"/>
                <a:gd name="connsiteX1" fmla="*/ 4039568 w 4039568"/>
                <a:gd name="connsiteY1" fmla="*/ 257442 h 257442"/>
                <a:gd name="connsiteX2" fmla="*/ 0 w 4039568"/>
                <a:gd name="connsiteY2" fmla="*/ 257442 h 257442"/>
                <a:gd name="connsiteX3" fmla="*/ 0 w 4039568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0 w 4034979"/>
                <a:gd name="connsiteY2" fmla="*/ 257442 h 257442"/>
                <a:gd name="connsiteX3" fmla="*/ 0 w 4034979"/>
                <a:gd name="connsiteY3" fmla="*/ 0 h 257442"/>
                <a:gd name="connsiteX0" fmla="*/ 4034979 w 4034979"/>
                <a:gd name="connsiteY0" fmla="*/ 0 h 257442"/>
                <a:gd name="connsiteX1" fmla="*/ 3980258 w 4034979"/>
                <a:gd name="connsiteY1" fmla="*/ 257442 h 257442"/>
                <a:gd name="connsiteX2" fmla="*/ 1 w 4034979"/>
                <a:gd name="connsiteY2" fmla="*/ 257442 h 257442"/>
                <a:gd name="connsiteX3" fmla="*/ 0 w 4034979"/>
                <a:gd name="connsiteY3" fmla="*/ 0 h 257442"/>
                <a:gd name="connsiteX0" fmla="*/ 4034978 w 4034978"/>
                <a:gd name="connsiteY0" fmla="*/ 0 h 257442"/>
                <a:gd name="connsiteX1" fmla="*/ 3980257 w 4034978"/>
                <a:gd name="connsiteY1" fmla="*/ 257442 h 257442"/>
                <a:gd name="connsiteX2" fmla="*/ 0 w 4034978"/>
                <a:gd name="connsiteY2" fmla="*/ 257442 h 257442"/>
                <a:gd name="connsiteX3" fmla="*/ 0 w 4034978"/>
                <a:gd name="connsiteY3" fmla="*/ 0 h 257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34978" h="257442">
                  <a:moveTo>
                    <a:pt x="4034978" y="0"/>
                  </a:moveTo>
                  <a:lnTo>
                    <a:pt x="3980257" y="257442"/>
                  </a:lnTo>
                  <a:lnTo>
                    <a:pt x="0" y="25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5C5C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1" name="btfpRunningAgenda1LevelTextLeft650523">
              <a:extLst>
                <a:ext uri="{FF2B5EF4-FFF2-40B4-BE49-F238E27FC236}">
                  <a16:creationId xmlns:a16="http://schemas.microsoft.com/office/drawing/2014/main" id="{738BC546-D4A7-4321-95C6-4725B506981D}"/>
                </a:ext>
              </a:extLst>
            </p:cNvPr>
            <p:cNvSpPr txBox="1"/>
            <p:nvPr/>
          </p:nvSpPr>
          <p:spPr bwMode="gray">
            <a:xfrm>
              <a:off x="-6" y="944429"/>
              <a:ext cx="3980258" cy="257442"/>
            </a:xfrm>
            <a:prstGeom prst="rect">
              <a:avLst/>
            </a:prstGeom>
            <a:noFill/>
          </p:spPr>
          <p:txBody>
            <a:bodyPr vert="horz" wrap="none" lIns="360363" tIns="36036" rIns="360363" bIns="36036" rtlCol="0" anchor="t">
              <a:spAutoFit/>
            </a:bodyPr>
            <a:lstStyle/>
            <a:p>
              <a:pPr marL="0" indent="0">
                <a:spcBef>
                  <a:spcPts val="0"/>
                </a:spcBef>
                <a:buNone/>
              </a:pPr>
              <a:r>
                <a:rPr lang="en-US" sz="1200" b="1" cap="all" spc="450">
                  <a:solidFill>
                    <a:srgbClr val="FFFFFF"/>
                  </a:solidFill>
                </a:rPr>
                <a:t>Prior Bain experience </a:t>
              </a:r>
            </a:p>
          </p:txBody>
        </p:sp>
      </p:grpSp>
      <p:sp>
        <p:nvSpPr>
          <p:cNvPr id="62" name="btfpNotesBox953997">
            <a:extLst>
              <a:ext uri="{FF2B5EF4-FFF2-40B4-BE49-F238E27FC236}">
                <a16:creationId xmlns:a16="http://schemas.microsoft.com/office/drawing/2014/main" id="{D7F16BEA-2E15-4F64-AB07-703E19F99F0B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gray">
          <a:xfrm>
            <a:off x="345771" y="6321784"/>
            <a:ext cx="115316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Note: *Split of personnel between cost of revenues and SG&amp;A based on Bain industry experience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800">
                <a:solidFill>
                  <a:srgbClr val="000000"/>
                </a:solidFill>
              </a:rPr>
              <a:t>Source: Bain experience; Capital IQ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B946BF-4EC6-7CE7-1822-4BDD42F629DE}"/>
              </a:ext>
            </a:extLst>
          </p:cNvPr>
          <p:cNvSpPr/>
          <p:nvPr/>
        </p:nvSpPr>
        <p:spPr bwMode="gray">
          <a:xfrm>
            <a:off x="10942637" y="198489"/>
            <a:ext cx="914400" cy="914400"/>
          </a:xfrm>
          <a:prstGeom prst="ellipse">
            <a:avLst/>
          </a:prstGeom>
          <a:solidFill>
            <a:srgbClr val="104C3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ZA" sz="16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4720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btfpColumnIndicatorGroup2">
            <a:extLst>
              <a:ext uri="{FF2B5EF4-FFF2-40B4-BE49-F238E27FC236}">
                <a16:creationId xmlns:a16="http://schemas.microsoft.com/office/drawing/2014/main" id="{1134A6AD-C05E-44E4-9FDD-03EB5C60D8D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0" name="btfpColumnGapBlocker173611">
              <a:extLst>
                <a:ext uri="{FF2B5EF4-FFF2-40B4-BE49-F238E27FC236}">
                  <a16:creationId xmlns:a16="http://schemas.microsoft.com/office/drawing/2014/main" id="{BC7B046B-C8B4-4230-9E90-90564BC51B9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8" name="btfpColumnGapBlocker511703">
              <a:extLst>
                <a:ext uri="{FF2B5EF4-FFF2-40B4-BE49-F238E27FC236}">
                  <a16:creationId xmlns:a16="http://schemas.microsoft.com/office/drawing/2014/main" id="{0C8333C3-BB3E-4165-ADAD-781ED61C156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6" name="btfpColumnIndicator107046">
              <a:extLst>
                <a:ext uri="{FF2B5EF4-FFF2-40B4-BE49-F238E27FC236}">
                  <a16:creationId xmlns:a16="http://schemas.microsoft.com/office/drawing/2014/main" id="{2E95026A-A13F-460F-AEEA-4CA3E4A651CC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791521">
              <a:extLst>
                <a:ext uri="{FF2B5EF4-FFF2-40B4-BE49-F238E27FC236}">
                  <a16:creationId xmlns:a16="http://schemas.microsoft.com/office/drawing/2014/main" id="{DD6D6BCC-D87C-4856-9298-6CD27A29D04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btfpColumnIndicatorGroup1">
            <a:extLst>
              <a:ext uri="{FF2B5EF4-FFF2-40B4-BE49-F238E27FC236}">
                <a16:creationId xmlns:a16="http://schemas.microsoft.com/office/drawing/2014/main" id="{0A1E7FFD-4DD5-4EE3-BFE7-C399358CEEA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9" name="btfpColumnGapBlocker538564">
              <a:extLst>
                <a:ext uri="{FF2B5EF4-FFF2-40B4-BE49-F238E27FC236}">
                  <a16:creationId xmlns:a16="http://schemas.microsoft.com/office/drawing/2014/main" id="{B564DDBF-1277-4212-94C3-4D1D7FA61D99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7" name="btfpColumnGapBlocker533810">
              <a:extLst>
                <a:ext uri="{FF2B5EF4-FFF2-40B4-BE49-F238E27FC236}">
                  <a16:creationId xmlns:a16="http://schemas.microsoft.com/office/drawing/2014/main" id="{B8B81CF4-3195-4E57-927D-10620A5AECDA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5" name="btfpColumnIndicator436593">
              <a:extLst>
                <a:ext uri="{FF2B5EF4-FFF2-40B4-BE49-F238E27FC236}">
                  <a16:creationId xmlns:a16="http://schemas.microsoft.com/office/drawing/2014/main" id="{A79E38EE-22B1-4F4C-8902-FB9BD8730AB7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btfpColumnIndicator464761">
              <a:extLst>
                <a:ext uri="{FF2B5EF4-FFF2-40B4-BE49-F238E27FC236}">
                  <a16:creationId xmlns:a16="http://schemas.microsoft.com/office/drawing/2014/main" id="{1EBBBDF3-0558-4C8A-9A18-F9F7B8D03802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btfpLayoutConfig" hidden="1"/>
          <p:cNvSpPr txBox="1"/>
          <p:nvPr/>
        </p:nvSpPr>
        <p:spPr bwMode="gray">
          <a:xfrm>
            <a:off x="12700" y="12700"/>
            <a:ext cx="431776" cy="88092"/>
          </a:xfrm>
          <a:prstGeom prst="rect">
            <a:avLst/>
          </a:prstGeom>
          <a:noFill/>
        </p:spPr>
        <p:txBody>
          <a:bodyPr vert="horz"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overall_1_132415501627017059 columns_1_132415501627017059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3267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OFFICE" val="Boston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  <p:tag name="THINKCELLPRESENTATIONDONOTDELETE" val="&lt;?xml version=&quot;1.0&quot; encoding=&quot;UTF-16&quot; standalone=&quot;yes&quot;?&gt;&lt;root reqver=&quot;30783&quot;&gt;&lt;version val=&quot;367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1.00000000000000000000E+00&quot;&gt;&lt;m_msothmcolidx val=&quot;0&quot;/&gt;&lt;m_rgb r=&quot;FD&quot; g=&quot;DF&quot; b=&quot;E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QdU0JMdWBFME283dGBy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kcyoq5Q3sI_ZADYE4ip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DCHelS8gHkwr55wFTAy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8mk.wK4Gm.ypmSZiiz7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jaITia2vHkcXtaVc2D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pFptbLJkYf4tiqiU2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vgk65iJqQFbVc20rYs_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jUAAeWL5korDL2KFJxa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R5teOZmJoE_GhZiBzuW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qq51yh6bQXqqvVDUbEO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AWyfQRkahPA6KvuVBgs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.gToTSbGUFCEulbui0f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tZrhh0LePy67Q8xlwLC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PTI9WUmb4UCCZTJGVJ8N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PDrGId6tOHA5Qqlr3ri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DsVtnF8MDCUBymuOOu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BL6DaByp7aopoMHL9BO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t46O8_HH9Rb4t3HG74X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PGyqb7fG.LgRPdxe12s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3cqa9bBJJcqZXWLgvapI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BZ5vpTD_zSYf8D7Dbn.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bmGdeCmQnjBtl1B9VLNq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49lNbSCiYMgqikrdEGUQ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ojqGbOo_OZayx9yBAY5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zhdbmo2vWa0QIjdTSShY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0qJrXbwciGFZO9bGKZK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0x1flbRepEoonQ8FN4g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we5aADmUm3YMXaPUt95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3LFR.e.NOnZgluriOBH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Fx4.NrM2253b_j61w6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AH7iNCiMNhtNNkKPK78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fPg32HJinHRhRn48CWB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a8DRM7fQuyMaMV0Cujd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kFdJsW49bqoBKWuhT8j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pFptbLJkYf4tiqiU2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v8oSssqTjzVZKXR3V2.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uJTZil5saeIQajgFtSQ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d9buBudFHT1GkmtSIfT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R5teOZmJoE_GhZiBzuW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zqxPh11L2Kjqv1D9wE8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sZl8Zwpmar5g3sit4hJ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8mk.wK4Gm.ypmSZiiz7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pFptbLJkYf4tiqiU2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L_z.LaeYfe6H8wM0J4u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Vc9su55XECciD2LpWody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sGaKggkuvjukN4Chv1A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d9buBudFHT1GkmtSIfT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R5teOZmJoE_GhZiBzuW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z3ZfFKXA7urmBjmWBeK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jPd4XQ0BOJ2sDWknzcP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uFwP8X_4gWYT7gxiS7KQ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7NJQWX.Gyx6Hko6tjQyM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XttyO662hcgD1GG1Q.y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zY8.ccoeW3DXkuzeQEA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JgrA4qEf2TF1mxDinEp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gAFRenItDujAU2Fbp1s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.5ZcNRtgImNLklb4R5r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Gtxwy9JycNaAXpcLRsf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9L0fBchIBt3Wd6wpHyP9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QgclNO5X0i37nPeD18V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78JvUn_UlI2Njrn35KK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8qxg7KzY.U7rSMjo1lj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iEcTDBzWX2s7hjpjQNG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QtM_GpL3LjtmIbs.f1Q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xmHf2IQP0MhxypzqosB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1oowXGaOhOjrTMLRXiv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dSvkqv0QE4XfiQjtNYfm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R0if4JLqS0e0NKaeOt.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wiqPfhQZT75Ha5AIj.Xt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oBarvtTP1ByK9Co6ApV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DqbrAzJjBZeD9NwsVGI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dOKBjxA1WcyToQpibOPw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6MUD4rl0eun1Vds_dfU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8mk.wK4Gm.ypmSZiiz7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pFptbLJkYf4tiqiU2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v8oSssqTjzVZKXR3V2.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uJTZil5saeIQajgFtSQ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Z4AZzqAi8bsz8928I8_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d9buBudFHT1GkmtSIfT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R5teOZmJoE_GhZiBzuW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pFptbLJkYf4tiqiU2A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v8oSssqTjzVZKXR3V2.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uJTZil5saeIQajgFtSQ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k_j67HldJz1P4log2thg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VWBTsqejfv_n.vKleKOWg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1TFnm6lgnGkkOkoWL.Me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mCYyCK3iPg5LzjR_tlS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0JAL_as_nLpAuAZKiCM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usyLN0J0QQ2.g27I.61g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zwy7n2c.DHoR74JrBflw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Q6dial.n_akUQv2F.J_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t9bVxQGJ0ylXtfsFf7w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hxZ.AP2Sg9pifWZqzsCA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Sph2wP_aQHSumrLpOdcw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41LmFw2FP6haeqm4z6aJg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vcGkeE50vd_giIktnWnA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1JsNLKYGiLLoowzVEmq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PU54WiWb1p66oSzv2ex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b.5G8bR9hgGznXYFi9J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yz2t3h3Qdw9oDA7dokJTm0oNYBClCcMCodpe7R1gcxY/ChfIbCN4LLZjp5Vo6CEX2PKA4zC3rJN5XmSGhMRd1+B35Fe534+C58uVf+UpeXJWA9PVGniOR7aTZHhJ20Svic2dMt2/iQ64VUl4AlLJv1wP4MmRUQp/pjBJ7O/B3ek1ppd0NaXkRxTW6DVWjmeBugQJItVhgUXTOnhsgnem9vLFqqe09lbhljZofnCvWwXxOvD24mM7ZT5oxdo8pc2fEi1KHTD7nLmeCQniJCNOk5o6eYgZL64qP+R3sw7z+SMN/cHZ7wM9qbdLxyRRI5N31wD/4LH3/kHkzwOIiJpvPKCMaVqHRCjmtPMNTd3+aMUKwBCyCgPgLEmR31O5mUEWkDfuQPukiC+7i6WCYLcODcCZkCMiMzxkYk4kxSuVXq3V9dz8RTP3QuJDmY02DEoYuvlf1bopncfWdzNsVlrfnf/M7l0yOuj3+TR3qPnrXCX51C7reK3O1YgfXR5019XwsYcEQYOBw4angP6WMK+RLgqra0Rj0Au1FhRZKX/9gQtUjR3j8qopRjX5GQ1uHSGN17LZjQNM4jEpnGygjUbaA3rhqnZ7CGuwDGNcYYI8BAaenYfdF88Z52rCVWGT6GsnYDmI/Jn+sRi21Yu4ZRH1htrdVDGYg/nvc2f3ew4mm9OwQW1q+/05YX4maxDHH3IFKWxTQlP6qBPJGHlydTR795ayGgBKbhjR2Kgouwd7wUelKv6bC7F/jG4YSW/JsZWQ+lRH/fp1TTk5WWe/0xFmgRY9FoWxS7/XctTypiGqVRLk6FzL3yuVBadG9o6K8hTa165PuZN6OdMv8npfRQqMvlJnr33CRSXtVqNTKmZSK81DY6iuz7Ysx4MEnaICL5yLAV71iCbniVgM08Xitx+FtpzDmGmHavqz1Y2ptpo7oUFKwWFJlyxIe0cThYFIHfcFNoLWSHag2OXzB0hblxS1JVsCu8ZGez4P/O+SorztE+4dEX8IKRzRmAn40yPZh/pMZpWVGpCsT48fzERM3zf6G2hfQpunIb5NcH7agz3x2ej5cv7Kk5wl4BPtXWEcIDbcjwbB3rbPbqNGfEceacZ2mIYhg5AdlYbkiUwp/YCyDA6UuAtwoV6q2VdwvOHhd0o9kTKv+UJgJUVeexGqmH2n4p2bDb/asWKyRTYn4U11mlNUokltaxm7h8j+w4j/LmKRbIsmDugYdOMPJH3GceZ2q3qm2KybLNAYbbZlp7fqWwYM1l+9muK7Me7wuvIN4RkH+xYi1kfL+poB/TbV+bH2Hbm+s9uoTFhAs6HdQcOqqsnuIaofW/zypaMLBMGzGvKhuQ2qse8eJ2XACLv/ZpSy6yIox6zKENfZmNmPJje5DqrYXdoGY5pYBDRqG09OhYSnP+keJS3dgM7/bf2CnS3TC3jJzuxh43Dfw+gJdGKkvBPnIPik7ZBaZVkWgz2RkfgR3YL2i4kqzJ1bBU9U/SHrZSVCK420DvguMQFi7XGmGa5S5SIYslaX0YHXpiFBw5qFk1AgPbqfJx6kq7/kJZYWdhU7LtyzsmSDyqDsqloihVIOdepnClfZr47h9nA1RTHyY636Sovo0Hx+jJqV+JAuzLgb+pp2Ey/TQlN0ZjiUqONJAc1Sqs1J+ZBQqPSjG3wy2To5DbbE6m7huDZwPzk5mX5fr2VDH55MJcAqkgiLcu1MZYFunEh9nSR2V1/X/eViq1bHXucq4AkaqshTj94JqxsOSL1fxx7nuQcyDnRoqyxQsLFKfTwHPGKqw5a3hUGN/OtQS57TIN6h6pQzxaHqWa7oh/XLhQRcX7EPXx48B9cfMUApYtmU5cXCTUBJNtL6ftwvgvyc8g0un9bRZ3E7GkiTuZbosCbk5Eq2VGpCGiPYDZTPXw/HcvaGr4uBtOQFMCsmYx0PwWcSNWgPO64fS7Q+Y20xS0F4PIkHhWXT6ID8+OrRonPKP4kWZdnPjdsZ1qwGraC+cKNpn6iU0y9NHPPzu39/qkDN63KAyEkd6XSkI/5n1OO4GRMgG0pCZ8v9BcMBfONMZEU0MQfoYY3wv5PaMAjJO/7iRAkk0cXrQPQNbKObpRjcsMWY8E74fjyrsLKJnfJGs2WNEWYj2sNKDRrw/muQmlGwFyWcOlrS6QkYRR7qzkZZycAZJ4fuzSW1ZAzoJlo4UNvT10lHmCenJ8H0Z+z9oMOzEVK20WXH93KPAStp+zItPw7jyP+iD9XGdsSDAIMe1tT8DNKBfB+5CucWRZVrz5NVHdodNxh+e578YoicjkuB4f0Hjfmh15aMf4ZxHILcbG2EbHcAWbsyZRg3PkB4wuMYPlAUJmnLtjaxuHpyiA2+bulwIm6MlFDasBgmsuEyfcvzpSaP3dZ78Kzl+I7z8kG1yhdJ9iOcQ5KACvaHnhnmjgCzGdbdlhpvI6Us/+1i4hOvh+5ubPD9mpOdnUx90nYIuvLa1chzhnco9znaqSbK0zAwic4+KtL50lNSP62F8UX+OrDuDxxhSRZDK+AWE9AIjjGiZ6utHcQNpO6mk4IIedKhQBRAEtt2/a+Da2E+Toj4ZVFW8UezHjueHkVmL2dG9SrHOkJqzv/dOeXbTB77Yk519VnfZ4isZlsU+3yV1/Ycu2jSmhZPjMLTx8MDS3D+ti+hSGRcsnTOpfkcKI9RHS+jjgio8OF0Rbi8rXY6Zz1Ld2t6HQXxalyeExsMPaPGIjArdQsWxsCsMY1+/rLnyBVxGgj1uOqsRGf4p0+cD/Yyejwlh7W8uZIDqhvkXbQ3kIVLQZ3CYAWbtmL7K13x02JgkES+Tc06WvEc38LlYOcaFVu0B7OFrwwyivkY9ccsCdopHCPNbOPsaGLCu03a5vSIJvsvHdeniPeGh89vLF24yUoDtHIy4wAyE0aiQ0mL2m7ZnnOmwpNRLZ6x4t+/1xetcTc9kZaXWEtZZw9o3s1PjPR7bq+geLhaV9gbIagzhFVsJQW6YQKwZ2SL6KwdfuI9CDV5kIH2ZwjKYfldeQY1iO5UTkFa6OhIc1Wx/h9wlUXDJCFxTwpbudcWz/xjGXyY5Pl6otnQqXyFk/YrZJz0zcT4e3rNmVbF14y/iM8Fh+7/JomLOjrknLeQLyHi2hyQY/yfWzAuzGfWBcjTlhy0R/XXFSWCuA9th4UrvKFW8WbhazCOl/JKTsBVBLwLe5iK0UvMDEoNWqtLedi0jJcjYqxvvl2EjNTSvBoL8b5KgErh2iYu09fmnpdHAHNI8SOusznqR8BTQO+vS3tqv4oeIpPJXqAmPiZAZE51XJjHZ4tn+co3CWcwSX4zjaNiZRMnzqNj8dbP6bkzfldkFgxiKkDOTgI+V9v5U8kJD4bgL+6VvDZjH6F4hCaFFuFJKhDV1rm4pvh5pXpqbyI7rEFgW5b0rm7cSPRun9HiAK0yNPY+gFHznuCYBCn+HrhMuMeOVHKTGggQ9ncd9lhOtrREXbU6Sdv/eY0WMlVU8Y06gA2X8N8YHyChXWi0nL+GtNsPc3yCMgUeXzrcNMNgZ1k9N2MOCCMCG4sujKZy6TPIMLluROrbfx9D1zEXA6nMN8SQPo5Zmiw8XoVjRT+uLDZ+XbKMT+Lqev79OokVVce7vTASafxK2ipr0c9AjCaXrg1f+6WX0fPjqkOW6l4PG/0isPZWMRu3O4Ynq8iT1HSKHjTNVyHf9DZnElirj9kg55kyBPUVKiR3qdsx1ZzOumEmbNp0q5SzihMNSEjAmxX4fAgcO/KqzJhP4DS8N05ejwtuzMgQD6YgpkI37QkITF/Ai0h100Dm5zAVaEv46mJzCTKzJ5aV6IsZSz/ESYSiJyxPiewWOnfNG1ap11M7oEyhujCHXihUK8tWfqOgcqLMd12KC3t1w39otwIR1pyVVjnj9jk+FhpMy+F65+US+XudbVLQgKPLC8prIQMY8gsMJ5Oz3dnCQlZX6T5HtddnBfyMePh44BGdslUUeXt2iqI/LLJikar4B3ZzsGZhsQfq7VQmHBcnxmWLJoTTnxYBbEj3UW2TByIpYFNzCmYD2Zf1r45/ZgZIHqHMsN0y37CA4UMxUcPRtLdyh3St3KPabOoUhrXx3+UiRhSMmoIGr/W99JuuXXhB1rVfmkK2sZ1ehzg4dQ+bVoZ+fUGTVZIHCQ7g3qLB0o6jhr7AOZjMiov6btiH0CPr2DTuctvAdGwnSDPFul6fD2r3g6FUqPkEsiUx8HtJngnKSSNd2PcuhxzigKNHFzzVHnXz8crZRiJrDHgdUvxNVGwmOx0mtA6uLJu5pr4yUu4BfQQaGxZFhKkeR/FGye+AminrVvdHj3jyvniOqSPgnmJ8JIEIU0inunc8fhBDw/0cBXgyhNXJBwvRKJ6JxIGGR/6iSIIUl2rh/ZlIfc0Cwd28YZXs96aRYrVCVyNpZr7MdJ4cCnUaq/IosuZ7VvCd7e1wsDr3b2d6KUBMSX5Ov1nuS0q4fzzyUh904D/UVRRpXEbDuwXTjDq+9OQt9v2vy8qNc2CVBzx//7DRdKxaGe8s7Cpx1KbAr1LDFZRApMu4lP0wmGK0iulNHJDAOQjaC1YbooNARiTqCsvSqcipHRgyHjgj3YWiePIUZ+VvE6x6W+b2HKnOaXSp5rdKM8hwvAn3Pqv6FKVxP9LFQpBOC+gymZNAsFNyJL3RsAn9+QKevEHX7Kt2oH09/hy93hdbzGaniqm9MTLoRUXe71H0DiHxLgEI5Vt3ox/Eyyi4dmGUoMbvejPV46JdTqhN8j8TFtgphnyCwmn9cqHk5+gTA49bg82EGjTLzRuoosPukoukc6sghajwWxBkCIvm0FUTNy1MvKBbWRbuUZS7NLP3qwjzB9UUiVI3REtnPvI7saOWz9ip6RphIQeHT7tQ+OFJLHBGl0mVezuk6l4+FGq2n92Rl/p/StUgyLqA7q3iwp83TN5sdK1OT/c4CRyT1jpEX8gQpau/mnJForf9bTwDkX9N/KcMEsjVxNYKEUPJNwJUtF1rgZJFFIcSts+p2+rsibzibl6vHNL5gzeE5oqSb4nAOqdUUrmSSZSvNclkrpWKW6PptaOxHaLjGAwKRuFeAzwh94BWUYnAhHuk5dEZqhzzkAF2mKeBIaf2sP5k7IMrZgrFbCWomVCVPElFu9OY8mPbpzPcVLnLiDQ5vgD5NtE/M9cDVfbk6jLdJcgdfJD+79LP+FTy2MIqjEqN/P7bMBtng+uH0qQFxSF6LbhrZyCKiXu+4wbgYcFzTdsoeLNB8dSxd584SvrwCjzS8Wuqv7cqXukWvFLoCEmbUX4loOwEWtw6BsEySoAw72LJxOBsLoUcK+yOw5zmPcV4poWwoBW6tj/y/8pYGYkE5CKJrRCl/1f4KL/9EncqhTmbCFRv8gzI6dEi8RJm7LUlG2nwdztDFJtPNGPEeRf6iw+1+NHwQmdiRoQKnUEn3ndESyiy4bIl4n1e+k1Ai76tKRhul2YHMDSzjKGA0H1ILHKMSDlpsLvA8n3y5TPDHxGyzwbybXk9ySiH52zuWM/ItRlH3I+4ToyqhkRh29u2QoyEEaR3f4Jf9E7Z/hXgVowOIdEx6Fc1hBadTF85ZMx/K+ebH5d+dVDeKwo0+PHA+/Zt5KSpu91UaHHVDb+yiW0pb+kRFoyn2jDr6C2ygRuQ5Zw9CvDQ5TCvM0Ik6omUcJSvJ2xzYl3PvsTQvtmSiFb1KJ7fhP1u2YalZn/DYN3uN+4exwTfQEctoZfYgUu+VyOAB0HeKcGd3ZIlfzHaJkpKp+r2pI+g/ODbFqMNnngQ+ivg2uDCc73bQpyRTHXiMbOgwSg+BzscRBgKs16lkS4cHrPvK9yIkXkmf+PlV+dmqlXnW4NNJ9GAO4JwIcxoHXWKeH/qCj3E2AyE3fHzMsjodyb64kVhGql7ZIumMVj6WCRVYG5lgti419W3f8aErWEZfv07WHhdRNzhcXwV67E3n3x37ft2y77JwcAY6mGsY/aqw3DFiwhy2QYrts3dXVzrK+MQQxBDZ6BAAFiqFss0bD3cEGKa0ZltoqGS+jfxfB0ez7n8MmEecJlj1LySBBPF4hEffjbPNBrYjbts0r0uAw1wriOmZWGOlfe6jMUD3PqdGUJ+lemY+lofEnYEbCtxoW2Nvb0rmHHIKav6hMB58ZduOZ8kkycKEtzk2Fb1CEfGbZGsxHly0WpvcSD4xCK5d7bR3Sc2AvIUnw8LAKL6bKkpDvLmoHcjRseMqZXPE+xnZ8uk0NPQNin4J/w9iWvqijHYRPrVbLFBKfLdyJxtoA2NvL7wMHGCWAEZtkkifMll9A/4svkInZSG3DnVLWgevMTiuItd2BSiJFRNdnjsbTO0v8nnDUG+maRsQ17MEAXSs5rUtnH6Cw6jXxZUSa5ne2TULUcq0YNISxbZQiSL4aZf79jZ/GjbS98jjC8ZBlcvhv53wfPczVmpRBaKPmWndqDmXHSd7hq50JpU7BMsk+qgXUokrVniE6czqYs8s7W0g0ZhDSyYTE0ys9+1KNZyRc3uHPFbO8g7QDBYFyXjkxnfNM0KzaLu7VuTZTXfL/S0XY3BA12bHmhNltsXA5cDvNzv6a41k8pcZE90mhDUhnjpENBdUBrHEZNpK8kAvkR9Oaomu5bimdoae+Cjd9w0ZAIBzCIfZcV7URm6Kn+qVLbspmjv1eyAnWMkdfIguJRnEW3DUK/L7XF0hc0R0nbt5ChzT2hdf1ej45/BIriTc5PRMI4BfoBrfyPnRpwJ6f1YB7T3auEqIUkPc8nqOiqOcTsMsOSxv11nbytf8Y3NHLktsIS2UmKwB+m2nPmsTp0V+phmO7x37yB5zD5AQmGLdxe2BGaQxsfYmc4qqoO8rSmWGG7eCr38uxePfUL9Lc/LEIBynssOwpwSitXKPBw236FSUFXi0L7qqeXaCn7yruaWUkc7FUJYaRwjB6bPpazuQwLh4JYb5rTY6J7hm9p8Jcl+4//u4ZPNqLwpOYPL2TUhKzkRWouYUj1JdiakcdbgN6fvGbHdUaE2c2v3IDVRBHD1CppX97iH5Bd69hE6VwcjX8R0OTo/m9IlGMmeqYNOXL0MaWTj5cPwN+lIL4wgHiqapSbwCrUXrZ8P61FKV2i+U6Xi3h5B7yl0sfGW0fvxcee1fXBicYf43NcX9ibKcWYFy7W3lWotKYwj6pW0db1OtYyjhbRgMEUcYIflJTPqsiAttpmmy3CIY+dOyJ9dNIRE8YtkkQeBgLBWszrYtjMSQZpOWr10a1X0PDjYXDLAcpI9bKyirNXubql5tEHQGG+sgYJufGV9SNFq692Rcl4QckU2ZcsEKfCRv+5Mp3SzaYJ5HoI37MdQgMsvpOIrnMmlXBkMYTpJuAh4d9HJbeFUpx0LwmEfwOgW+QwdtFA8BZaPUMDKYbz1xgCzSoU+8mzMVcHQ+SQgS6mWs0MEkFcqoTZAisKLsSzmpB8JR8XD0Arw2erTLRpgUUd16vY4Gbc4c3+/25oO41Si9dPPeEhLDDSPuNDgwlEEacXVcUtHOjgeiymMpHRujFA04hjmY+o7uQ8APk3AkmoYbno5PZZUtQeULjgaImmTelNQyfIdeKWqU6xXCpGgErNVV70ij9roGOjKwUhtFJhaVAFlT8mpmDecatbcnOcsAdGcMvHkNma30mgzoZU4XmAYpGDRMJP/J0497RsRiwAqJ4NzY93nm9q6wD8fQ8oVK+gn41NnJF2+2oEeRp4vzts9qOWlUoWGM4X1TCLDcZ7o0xWEsW6M1wr1CHrK79MTfzAHlpqDgvctcuS54hJD2dBboE5NxfQr2Zf6FaUA45sjF1IWK0baaJDGKyCBasCuEnEEvcK2nl4yqnq/Hc48dmlnkvyFLXiUeBPaZ18uCZSd3qD/Toi3CTPyho+j5oqzwIdrDbXgmyNF0uSQ9lqz++Hr2uL8520ZEQKSYFja2npDhfBqJxeokPEW7INCVISun0TX1LlPBf/DC+PLKTP+BWiOwrCv7FRga7JzTzClQd83YeoauCuwSv7nRKkU71y4wJBgV67uiMpJ0KbLAbO/hMn0+CofomPMscUBrVqdWoZrMzAGi2/fZkcKmxzkMZLGTwZSiCEW2jExxb7l3t503tXSXg0irPpBL4k3NpNvHlQq25P3wncWu5v4lk/W1Qgd7PsXRi0+U43AsaOlbfpr5vdWzC4PbI2dF9G+JRHFoi0+fGoedI719go2FE6M7nNUPeQvi2OVsH6NijXTCaNlzpYVuMTIut+EnrN6jl1QIncxr/8WIbsIYD1UpBCiuwqs6GOquQp+PdH2DaRu8qRsHKLZVUeefU9kPxaPBRBy/3cyfEm0/UP/a0u6koKBAvS6HKA1Bv6w1aim5nflgZFBTfuhipvKyeJViMjBIUWiqofof+shUMvlMkZ0UkAgpb/2ii+pkvCkLWh6pHIv7v/xSjm/a9/neZhQ+lVxzYvOLTK/a9c2WDQyLGiLCKs9HdxrmUAL+MpiKgyUNwOO1I2wNBLpy8vl3zfprKVXKOhdSEVabRGHDTdNil1aQilG1ubaLf0ENh3ewCZx4oi2S1WLP+L5PmE8HUGdnEW3CJ+4IMH4Nh3jx/ESS69AIwJp9rkSyiWioIJ+vbsiDdIfFrxGzhwMk2iuBIb9aoOOs4KEgT4EhUG4uuXU1zo3fcyhB3C4r+2NjZ/XEa/+w/A2QYBuUeKaDl6R1HISSvYRE7owuQfKSt6BW03Ye8dpiWavr0w/e2JbYqEltI20UXDkiOsMYdRJB0wFf0m2L668AtX5zA0Kx8FED553qpQjqKbI80lvVpIoMgAkhHKba1oYNoUTAbO7XKn/f43Rua8Ud1lFKm5ynw4Z01BwjQ0Pj28q7Zqdkbco/4n4bVPRH9IHFLzfYYqHUaCOIjf3Q5dq9uIyLEgUlA+8qcNk+lVY4UPHIHi1vjd36JzQdUjKd3XrgWZ5mQsT0TDrkvAyqSeyj5e1P724waDCdD1alaGDHBic4rwQGp0nrAsMNAPJG4eU2oA9sldVFIccW7qmIv6ySse4jzR1FIlt0BfTswTZqWye96L7P9ULvB4HBmyYO94PmrX3jkuQ7wtV/xIa5Zt0wT0yTvqHqRLxXmzmrtknByK7I9cB2sL5FgmLhZYrqq5wM+e8ysr+uPf+0VyDo9E8wBquOXRkPTBn2ZWGjvnTwBS83Iyu7gH8pWEPR4brvc/xJiWqkrieUS6H8Qx3EmGxrsaUh64FooLsXEM6FXDxpGV8iMaVy7L4355RYBrZ6Pylb16NM2vt3ylNahVKv3s/Hv4MuNLvFKfG1gePW+vo0W8gdA7hWu144M6xevgiWTBNgSKSFslcET5m/AWtY4pi80kzi3LGajd4qr8UKrBUW2icrSkiAcCX6oAtys3nhxTuN724LPxiZ5M1vsndA3LAfRLw+RfhEp3ghLs8p4r/Fh5hXskK2CRTHcZBP/XEXOXOOHeSCFwFveCTk9JTj99s9MgEjBaAe0/P+4J6VWTI5+rN7bBS60HOh5Y6tFq3TD+2EPw9byCy3pz6aR0UpMKU49s8TIQcboyefKCx5+88x8FeSRlV4Zwg8eC8KB3IgJxmN/OUl2Z9IEPyN5790TtJakVYQwfJ+roEgwUrTa6LnqI4xTR/IXWQknN96nZ+fmjN/Wg+ygVPjK2aigCg0nvxlaVeRxZaHzG0bSHWwjHu6wYEW0UQmZD4HxEhms3aE2XvQ9Ro3ygbik6F/u8WDFAMPfzEXRcopkcAz3RR9EKLK91Trm4Hysz2aG5JlM1GZ3E7NY/wJ5hTEweF1FFAzlzwhWEZEpH2W1NWzzi6zVnJPUq3J0sIMDUKCvaPPfzsX+WEKmvFLCq1bAkCZB1RZfT4Yxgb4L7tizt2R1KhHQpHsc6J0Mxs1u2Jta/6x2UWU5BHqIK1ZFlPB5P0wA08Mrj9UPbhEn5rtNHFhRiTNChE/V6sTEZuLsC6Wjc2LenW4+8RMBVRR/Uv2ZIl7wEDPKioZBWTNhLoq6jvFf2eWRORqdDldZ7juWJJSOLAyPAgEYVT01+yUuFFawVUoGcUL3+yCHR4R0lGZbYzMKxiYHvx9kzQWTzkHGeIGIbXnZDSpmJy0tnZr2mh2ejfouZv+xllQ6OWTyHgXdiBQ2h+Fbh22hBJp9SlO5Rq3+BPwyD4Va/F7yxJYMKm8wATeTBE+4pQi3Fr7+7aTBUpJ0Y+rBd25yujuWkB/9kX5WacoS8+b0qe3zV1drwHX8obiZcG9By71n0Xb4eowVTEsEqgu4BbGk5hlUpybV1uNH7XjG6aImPPUa3Te9lpsMwRJS2DaMuHRWdJJw4EPslHJPCpnRo8qBtU5gJnyF7Rnd8x/JmuPnmBqpf2X57t11rUXJH3GBfsb3L2FyXL6hfqJyJGLKFYogoxLL5U3iEXXB56gHb2OCITXGw/HHyHf3kPmoW8Q+NhEx2LqX3ymT4Gt9VfDEzgRk5u4BIQ5sY4A1avOJVHeSFzl0ukhEXyKR0DUvgHUVE0ROHVqk7WZgllvnkUWR1JMa4l+7VGauW2k8PcS4Qu5/kBxggEl/IVPma/7fRtEmRI4QDiT50USjzi4DWy31ojpwPNdXusy5XECexqYRpO94aZ16EqbSsdRrIo0k9fy54llUZJ35wi83FfFiPj/BJKMYLQk9TqJC9baaxx99yMr1F+EGIY6uGThkEAsBw9ltiw68tM8bXACp5YTg2IzUYzoH2Bcutqs76lXJlYP62+GHaZlmXXZzgoIq3SPPwGgHhfInpnh34GZsNwdGuWQkkOdD8Qzi9QocBD6syVc3j0YnWQM2hJtcTQOspsBJUFD9iKAxpG2mJa/jNEdCKZ+CQIwHqURFyZBE2Ui60hVPceyGgFPgj3H1H9V0FGZlTlmA2BbsqPpCZFRN467yyObINdU8IHCCyAjrSuIkjZK47uURw+KIahoFew6KkegoPcpEpRq8cNPlK/bLbfFgRfSJzci0H50ZBo/JvhNp6N+SF08PdIbhpC1fETdIpaP9cpT+wRhXL4UakPt6DIOv5UdwjQfttIRl9ZptplN+tlJC3Czj3tUimjBeZJdYsOw/6B3wEz09nwGxVrQE0vqi65USMT+oyfBU5OWxjk8jFu5EFfo/I2m7IgAdRM7o/NSj94Oepn0cd9SRm74cHjXrAyBbnoqzhxDVsyuXtdMN7qUuwHP44Cjkg8OSlltmhBLsEmklxDw+iSA7TinUK0NOrXTI2RBJcgi54DNNBRKyHHSWjyYnVzAoYjlCi0qZ+aDtwZLcQFhBTVBCEoFPyHJLiG3bfBL9CrItNq/MUHccykHTcZuZXgKc1BgJyJMnuPx3uQjl/1U8MmPMEkrNSMwO7qy9FrhoH8R36BKjMrjIEO9f+nd+se7p0PLbBQ0doa+Yw/Pwf0BqZini8t+x1Uir97h6G2OMPEegjZaCClfVtfBTCE1vpjDPKNj4xomOfuAizn4arDs21CrbowSgJpoz4nh9EVBIYYC6MdrxdqroU7VnTGsjxB4QoaPQLsu/Mvgiz7qEFMUIpNevRwx47cVr+MIYjaCmWuFEQBbAkv8GABQ6p4whUBTCCmcKwSmQjUZ1KO+GqHTzSJukmdsGiKpMw3+nsiga6wGLkbByt71mdGLZmEn9+59eT/XUELYT1USPwTPKqTvCAyMTGWw+puc/gzHPTZE1V078RyqN1l9mqFQFAqQgygRbo6npdzTEkJemDb3+HLKOhkTqHPgQe36fQlPufXMxA4RMyYfZYNfTB2hBvCfJbJQpcBPTkkkDKH7aVAelKYfb/NR0AijcfkF205LyEFHQd80eQqwiUMHnOGEZmVYRcgkGL3qbRBTiHHnuIn6N2Q5WM0C5B4+JLwZmtmeNHXvwwJhG6ak4265OvwHK/Bj3q9CeCvjuh7K+RU7ASDF+aS1lPrBHRbXeOmCEhTZo0m5iSw+Z0PmZSEwcptkedIiRyDmjvswKV4Qr27oVabQEtBBCqUJwB/pooE+YUTJ7eY0+W8JD92/R0+Kadyc1atrH8cGXi/CERyRwMOLdf3NTuu6h4buc3mKVS4XgtNaUqcgDABBufgYVSlxM481CsN4XAdwjrPxx/CEVtSI+nZ9OKUHR4ASPB3rAvuivl/M9uVJYgoFxqlO1eQPPiAinQj9jPRMEdvSpfSSeom9TEs49M/vLjgyd2JnAUavX2rCytVaC7d1WWscE5IOnT6RCSZlV1sm34RaTYX0VBSfb+WnvLYD2J0Qo/L9ZdmdjQ9au4XGalEPUWQN7fnp/r4+F74Gw1vOdpGsPDuXkr+1Ftq0hFswaFzedaB9/LL/N40Py6fAvQ21jZ1i+HIRMfZmKc1Yw/4zNO8qTNn/YsIeh+ArIMak8yUABQ1WYj7bA3umHrxkYdNzpplG/icSnrj36vJqlQjiPOT2ILasXAekXtjH2dI1P4JARoHOrwnBcJBH2azCBzrbJKIfNh3MafIUXmMraeWzLve6YbOKcZd4eyJPvWuas0Qi4AnDdADmV4L18Pi9UDSE/UNqLcBCA+LMGhR4Muph7q2bWYJfimn5oA0jvH3H5cezAPWLMOmCwlFd6px4yGLItP1/5W6YoeL7OBCZ4tSWPZyu1rPFho8ATvaVJqzCPi4ZxXRvytpBANMAFzbC7McT6JYPpMgI+yeCt/ax3Qsep1T8vPXSueWpZUsXxXTEj3faIzl6mixs3KCBWL518sTVESNQkxro7vwC5yRflW/x3oFUgmJ6Rsa9eSRl/MlzMNWc1UUVNAjlK/5u9s73jvFo51Ek1a0pKhG86DubAuXqGaJK4G8gy7rlaCkp91buqCVwLdJzQ/np3lfzuYewQC0WMSqCeFrxnhnxCaYlwFpvK3IVoEWUOsOgjMnFUPCGbzAoIy2k+OqJy8kLGC8IKU9gQ/Ft6gQqrDXrW16hCn91CU8aC4K/rTzMFJc4WpDnQqiV+x3qoH16FK53yAHcPlEfT059DIyxhsozER8rHd/TKIaGokxU6Sal77zpIyRcit4F4FgjDyqcaT2RXCpZmDNM1sXkhtyyMDlhYXcxA+uOTghRSy821bxRc7+bXfBeOMHjoE+GF5PjDyNRPvlDZXwgAuDxS5hVeNbOyIG4+ts3E1+PqwLrUtWdzbVmtxg6g9zHSZhW/3ZhIj+WdgDjv2sKgM2bJVXUKZG0GBVXUbXIyj5K2iL1ulaQe/M5fUJrUSDbjW9odJC6QfTozBFrwBTTV7Nx75efnDplaIuccEZDXVtwPUv9Ylg+eiZ/vN7BgRiK+TMmdNtRb9mrrQ+edFdbAgaHHNubF7ScFGHDya6e6/yvo4se5Rw8asWAf0LFXhGKYHH1y6FVpIHLa6MwqTcMAhSVxmwIN9mzgTunbxeOgIU+5vN5L1zEHiLJaWxZyRL8Yy4suFcdczrYLLULpi2HJ1DoteyQGgo6PRE85JdqI9CEF0ys8g5NECpe9e4WY5CtaufRmbT4LPWtgSEAKq49dpVDF8xYkUhQsC+AUm55wtgdaHLYPI6rP5u/61uqC/DRyT2txLrfJv4JSTknJ4ypJUO+8wwTm3uEYeNPQgVrAgInV3czAQikStKKOjZ2q55lmqhXnv9AJm4c/Eejd57yPSZAsZ57/PBapNomubcqEScMo9SWC7TCNuz/w+lslCUJA1vc2n1w4LI74PBZXcpKPZF7CS5lm5x9ujRIQnekV1oS/jqYkimc2Fh1vynQNM/BS9hAh929Rbumsc47HKd+tXgOTi5qgJ2yfF2irFsZOPSGGdlXhVcwKYZCtVCuwT1v3MOfTAjBLSAGtRCA/N5GyCwsT/f7VGKoJ0LoLOCX3f9239mCkXcrqeCksGnF5qLwbu+cq2Mez1G98FKZTMhegIJOZ1CniiMCMYcoN0Rj3ie4Bzgs5xQqzBtfDfZSwv96fVXT/4BEAhLat5fMiOLQA0vdsiM7BHYZQzG/SiZVTGpkP1n+W4pLOxe/+Bg5TG/8l2vX1CHrsm/RIJfOMnvYXU1OQfYMrz4g9tbS37PDBmArzNLDki8UXaGz+8lHJwcSjXwuOy16fLaRbQp45TJ582C7J+KLpFdWCPtnIs1v5VxskWKckod/DINIW6tl04dJdxJiOfIk6n/4jk7Ru0meuyW4VF48IJwzrwPtiZDSVm7L+7P7f0jfE8RXaulbXk9QbGJAV6yDVuKG3I0QHQMey2VLZppIDVs1TVkNF56/8UWlNlKE71W0bVjKKvWYkMMQniUl4kGVfZy2gGEjouaLTmwEKpEDD9ZGgTugBDmmY5JJsXUXVFm0+q6zZeYLhgiKOHJ8hWX6oU6Bhl0LSVObQ9eef44sTOGoUuP/yzF2Z2dFdJEbPGr3SBgkr7VWZqzRJ9E6LoKlUR/x0XVAKohoD9zONihAUuCvkwNKL6kVQadOiCUjYcenH4WEC2PSO3vQOR/RsWg5XH9DuGpRCD2PHzy3aXL+7v1bZCw5YNTUdjrJPcd1eSVOCg3b2ReozRZFuhAyTm+Ns9wThhYqcuAMmTz460dt6/Q/pe5A6BnHn/TucMrO7Um3gEeq3gQNllTFZ94ppstcu0EGSZIJgKYw+XQPfeoKGxk0rp26NVuq6OqkjM8BiQJahZ/wx3WHVPYkbk43AEalbRdGTrw6+oMRjgHVCsxL99qtRa05VqQ4qdGLmvXedSU3DK+79jb8ilg7q9kknOBtcAdafSkERrYaWb85txOlvA6j2ZApKOiZhVgOB5e1raOSWE/UyAEze5mhvM8fg2DjDZSbtWnGvDfyFCKWK7fKD3kvUUXiumUzXLKd2ywsN5voc0/XxoJ0avWd1znvMXrGn6de7fzSs9QH2/TxbEgI1B4dFD5EMoxxOj6/m0csnJFmBNckurRFQ77ieb9AWoSbVvbMkSSk+YZvYuR1doz5qCi7qTdbpgF2hfC+6azyb+Rsou3kswG4xlTnyIO+Rlk6Qa/MVco7eqv73w4+epfg8ydRVNoJ/wnHCfJpxBkHIZuY1xyyWdOlDoDvJv0QLblY/VNPUotgiaYowZqdwsKmnHSZZVlLPI14uIzUsmU7woxJwKrAt81jhoeaaPuOEyhwEns8OPlkV2ubA+IMILMdDvef1rOHymRfMfgoko3p6ipvgqfuKdCHdOky/+sTr2Akv4NHZBjQTwGJGolCg/MsE5aamOqYpHZQZL9R6XmVqx3U645HCQzXbfnRCMEh2qYIpR1aDLj0UPdW+UbbghWJpxay+v8BwhckAervNnWnGsMfds3EVD4T8oXzESO/y6da9YKHpNxdVnG94yf2Ptip0MTckiufcb9/UvPfqGkJxQTAY3liAMHgMxZ+HXYeca8S0wIxuIiIo/vvv9Gj+6j5eqROMl+KKxNpbzWAzXuK7AuAeEJ98grkDezItqBGvtnwy830XMjQ1xBIuw7hQq+QOuVpNJsMK1HvOL310ssjFeWbSuohZD39lu4OP7pu0T9JvmF87XM206p89oXuO2IfxU0eaYRtsV0DVpH51H9yoASFY5ZyTw+auxnt/dauM7zL1fMxBy5ydYs/Ijjw0LBPOubTRHHsztkKg0gb+OCmkrv2JqhXLtiHRmmxqSikBrxI24nfjN1g5BrXVx4+w/OLPNOYp5gzJ/qVeuBlbopERBJWQh/bVtMqEczFsX8f8pVnOwLvauqKeVzQGWOhqYSxL5VlYEttrlpxnGNupLUeTI+Bcg7eqxKa4kcb/WjabhhPxAIV3ycAYgL8WeJfKwUVL0TrjpUrcfIw3q0SO+E8QJKc1pJiE4m4pc1FJUCx5No9RGNvkg1fEgK4pAKTXFnra8n6/DQdMdML95G9iEZ93v0lGVYSX36KG5kID7hpU0SSz2fqCQBPxiBBBExfIheejoRv9+lRWBXUUA5gbyTZGociru4WtzrsFUE+B5acGPAPHqGtYBMhB4H2PI73edVpAZZGeUrrlX4/hKFrrnDADIW3GuGiADFK817GAzxVNVxC4dRHtaFoWmpjJ9jvxAOGzunDcueroIIq0cfyGm/P5TkJsiWyok6XpNI1wkU4wuJfLIfe42466M97plZ+U3/rgz28cFT+gxMpXK+MIW91i4bz0VFXspJBmu/kU+N2ua08jTq3Cz51rKZxiYw8gR7NZpG64GfbSr7c+ysoNBjVVOkGBtyYrKfOBeXXu2P4DqzQv724Fdj1dJ3xXc+dexjqFCQ0oLjz9MxRbeuqmz1Krcal959lKD1xLTurEIleghoLm7fXeni0h8s0cbDVCNKobIvtJXxUtiRmaZuREGYV2z+tAfhqYyEVwzFvlHXkVEGLikpa3SAfCcJZEYOkK43SXJ/wP70tIsHZ77AaYiHCaewB0A98+ewUssXQCN+C2/mUsCGRKxg5cpJIeDpxBHXRzcmIZSyjoDGFjjkvWGpazs2xjONBUMZ2ODxrN4MsPoL2DSmcNSXvAcGKq93Ueq7kfkvP6JOoIMR5RD241vl35SV6DtxV5dfvA6Z0r82bvZqzDwdMY897ERlT9XGr3b7oiuDFD/4JLiHAMd1RFM8yZlAHBlaAH7Jds9kst6qgrlSzsbXCzQ42G6LkdZKmCOFo6QZhbJLgGajXAlMUWQvErneyqBKWufRCETXVeo8M0OEqEkyKlyiw2h0Vwf/TpxrecF0ftr0/vAAAqg7KoMv+5GSYD/y2QPs+S6oiSlb5iv7oY86qvm3D6DKlX4S6eMv0uazW699MM3Hz9DM2+atAB9kWauOsjhMwYFrOXweFN78hyuq1qgrcwPhLX2MzW3qzObeNl4n40x05SF6Cai4m8jPjflcizrjj4pT84QzTrG1kQOep7UdcWExogndq6qixIaCFrqgNinsBpC9yuwbLcrTktx8oCLr6enr3T8QHTtV4BMP6mk2VjvkicrixyOqo+4zrqwJvcoIAD7XdCCqFLS40SPDHYeROGZoPfJL3ihufmMrvOJK/NNLTHKOAHdwx/Sm3yyuOb0d6qLG35wNwK9947RecLev/MAJSkDE1nHbbo4VTUHuSAdzgYHFoRwKR2S9kmnpK810rjoBrEVlIO3jThoCjYzKoxaUd8mAYk6sQJtzhBQrxaaqGkFuK/l9XS30x5W7lD/NDpICEhhK1pLr2uYmYGdrF55n4CdCHCD5a2Bcjt/6mUjrxNjwshZCf8b5we/kWqQv/QlpD6Ns9rQBBTOVSU1izJkvTU+CEtN6LQ3UX15H1RK5Vy766Os/hm2KQoWxu0Sr/LSDyDCfGUKkXbBb6i1uFxJ7hZzZnOHhayfm0xaJdVgHahqPc1cQ703/0ycuebyclkYzDvNH9IXi8mY1Tde/k5IhmMDHPsGeNDekWNs5zZNiRk859WjIT55ZyoAFNmBD2TH2ObEqGUSL4FXDJb3NwmRsrz9qLpKlsN2S5mA2rGoUNisPRtTUZYrC7AEXsjKp8/Z6PCX/k+mQL0T9pXrUAZP75JI/mYNJjwPWRuREhE5tjVA4Dd8pkFFwrGr/a4axdvdn6QTiJh9tQ4QPs8eXHYlc0x8WH+LPjN3qUzoUaYj/iaT51u/91hG1Zz0cajlNrFcrABVmXmfjU6KY0ErGwugHFLKnwCNVFh9j/xUzY5F6BW0I9HQQ/KGSX2fN9nATkiAoB8BDzn/w01Jy5gUiEsgPGzHQVqIzDT2Uu5D204Zz4F7Fnurl/y/mR8rm4tDZ4NeVkTRkf594nCvtEz46WwRV3jFuRmnsXa8HYIk9IaaGu4YW9zH8M9OA8kp1VofgrJah1gypPbiXl+mT5LK3+sf44RAIifRnFe7FEnmYsaWgBbs/GY21mR4pGCQvxEnwTYSqVho2BAJqolK3Q77lWBLPJm2qNsjdsMPcVJEw88jT1i4PagQBVDnKBoiDMmQFA/fbvINqEBTWzNPf61nj/cgvlJQqE0Zs0WV4R3B14zMg3H2GledRg5wgkqrLIWT+SAIeuFkD2IidIL2xxAQYRaiaHa2oSW8+RMJWRkjNkPue/Vwux6XJ0OETB7ICHPmdOUCQRhjKb+Q/ZFpEDe5qMYM0ORmuK0Dgy5j/nm11GdveiANNUewPdgucobcpC1smVeB4bFzX87GNIU0jQH8fCKYTkb5thV5admPSA51DYLNSPGd7L2xOSgzlkDzy/u+S0rWyNlD7wSCU8pBF4oPVDWb8AOL5tEQue32S37vfdMGUdUUcofYXrrHuJsMvw7p3VeJREe/+imfTq+Oq/GinOVHjzD1tDYL12vTyTAm42tsPKraiCCG7OComxsP0By5dUAD8W043VnopcVbKu/W6DWzDs2yMJsOj9EcPQUKtIwSI3d8NC3bM85h+6HXOaVOccDxBgndAEJKTw/DWsjg1jXQrv1ub4XqecUKGJIlks7XwGGMBs9ncUmoTAgXgMsS5SAjWPdWhjrs1WAcnGW7WiCANctt7wATWXFaoI4YtJnbmj9it2n21lFrsakk9nr/fcE8YD/7/URf3rGLOCjJWLjhjSLEISepUXtWVl/ATaTlHMOXovwygBLm6/V/25LIMnb3K01CwT0hQiGU9UWeHxEcxM9KXhz/rgPq/Xu8QJiP//EY6Xtx4UP7/mCktVx/bIg/rGY6D+IkvT/k7ly0shtAOCdKoQOZ5qxohCUQK1wr2f+2FMGja3WFHNgghwjcrzHlBuHRGpVdW70NQ8PL1wtomx0DlJVc9qRuvSAqVhZY/6J8tb81v+ASA1eIqmT6+XcuomI9l2PxwHiFGV0t7kGsHU5rN13XSpAfD9sL29am1ryytJtmuKKvorgxKs7Z+TTJHXQ67nBFQsKYkza59yDCCSl3lDURl/p5DvpQWddT4dxCW23S8zKTXBSa2UlDty74Zu8X7rawGn1wKo8mtccN0QeLYLq2cLFHEtfEBUCyeJ480p53SNj8GMLpM6FNu1mQymeRTEpwUUavktVHZRx3k1pwLpKv6T7qQgcP2X6GT8Pi3vC24/O7Zaj9Dd2zUpKeIuBgwEugKRkuvwEqHpjOez4k05E9z0g2NPNHxS9T185eaCpxWqFJgRY6o0v9zDTv9lMadfSkF+EftplnJZG+Qh82lHlnnz6NDeTaNOmGVuoH1SxtaiXDEiQA/cXif4qy7yE2fSDL9YxBFZP3v6AE8DrSk9nimdU+9CRMKIoCnSaXWcYJO5I/oP48cqil3xjIwzbHoVjlsZgI6UfQahsEhKuM1auK7zIJr2qNdjgkLSZu05OdJmeJ/SnsL+OGk+QKZENzl84VjuukRFNtdgGg3lD/xrgoNxYollI0YUzlFumQuj7pbYdufiTakPD0RHigPnMk89zd+78/0SehFXPXRM85CUzjr+65jQFaIKUe60p5xSxaB2dClGQyeH983RbQuXVm40OxA0F1n6QhaKpJkaFropVEmLf0HwPU+IoBS5Tz42RuKeq3I3rJBJiWywcPO4M2C8dymE3qk8uo1z++/h8+l4tN3YKebuk7tzE+cxezqcFetN0WbtoK8DNAORPzXuZZ0sas84Gfs9/BUtI97g4QZOLabejHPtIf114tyWi80gtfUekzBunZzE+pqaDuXRpuNaXXcMlpTDGiqp/FQmcu59BerGuLPZa0ndi+TbUOzN/TrNV2TS9eEl8PSmCswt4D9pi/KoVCFN88bJbWJTVxcDezTE4eQcpg/UhOn79AFZSs822LJLz/8RstKgK6WfFLXMwEdaeXqnlsWGx8eRla9jc4Gu3u2ZP9geMWm00Akp26xFLPQhIg5gn6t0ZQ16+09KMX3cbxwZ9Xn4EY7JKdhPUY6Wg+gGCZ9gnbjqNwvM3zSRjkJm5ealKi+HHqbj8+6IAlpr1l+0RjnYAbz71/HkQm6lTQbeaxD3fILLRXN0/fS36zMfkQmDLN4QBEsxWsM9fZBqYX2keaunIOfmFVGEapZPmz3P6JyvxinsolSJ3zQTFUZcQMBh2ATQ4Zx9IFr604P3RvJRMp9qSD5ZFnP94FzOcP8CTzaVgA+fWBXxQrwLilkabZZAUj7GXpoNXQinB4vRPx/nMF1jf3U61L2VfuI7TEIHvs9tXFfT/2TjR3oDH3xIBzm8ocmtZh7tVkCZWbO90EBZ7BdhE+uO9WAvIH/UNoNYUR5wJggCnNSPLTY59b1R6gX6fmwRJVU5x38qy1kXx/8qjGvi3zf5Dj+842x0TE7ug6y2zTxD9vrLV8tvLqMt01fR2gIi10YSRK8sPdRpVHHT9pw0vEaIk1QbbkhanvDAFHOVkxTebnhBZjB8IvsR3xr6/SNezKaq3q9XJgQdgt4OKFuBQ1Oj6Cz23V/iswYK1S2CtWKlhLXjRUg9esNq2dDsq3VlRqZfr7qGYpn7nIjZ9thVsScD9izEq/DP47cFrfIYkzCZoQ3P4sAz6Vs+er0u3ac4tA8jTWpBuKLCCSAz6HPGjcwKwpAhY3UAFE1Ufrprz/yQZfjXFAtdGq7St33SIP1Pw7UEobOlrCyMwjEtyTs2qshMH6TcZYS8cTMFeXg9gujELGMa6dflxLTAk0avUVB0SrmeBy6OduhyGghNpSJJcrJVcxMVNC3R71HTjmqu15JgqRwp1e/Nmcs5geTDVYQ1P13X7Lo25D31bPER2Lferz110ovfyfu2QnKSgIcDNfcGU8h+7cUhaItiJTcAuaWxjzGyYKknin9qM1+xwVUmzo6eu26SZ58lk2BNcOGJTQfMDXbY3v5KackHvuSOYulv59K/sisr3F9itXGoyaBzxLkqt0B4BsCzMEsvWf+EM2ChdbkvRVgS9ygMV1n69TAhsmATiiHl+jHw2tJhpJo3Y1+hrsWr69wDxHo+eSIeKPnd884vRCXA1WtzmidsTFzp/Mh59UGDMxT0sP9+wmhKjhy8eogGt5NN0goTkDT8QjD9Zq63X7QqiqzIdBzuNAvRHGuPdOFAUd1fogIJAVv9RnOuJdeHoGHP34G/XR1KUaVFZyJtw3Z4f0U2+bQkE/4KbsRzwJxPhGBrNCa8+WoGHCV9lk8VAPvw2cUrdXsQ9XbyDoPTKkd5K5ZmVRN7VIKooj0TJyBDnXIxrO0+YobV6G2GmLhPNcjOK85e6aRDx5eQSlR/jXbh/wbQmqVj7Qu5lE62BDzf+f3QR4k2nyZieWKM5WsEG/mEIg47+nEoRoHsoEuHVqu8vYQFRULvNkPeUGFYeJJMrANiooJFTrlbDa7zU7SJPGWy6OJTeLg16QDu4P/SP4uwHnaa78a8tO/zkNIfWUrR6CAL55jF2TdLzoGTUi+bHyWjdTIPSRfyLPB0L0kPoWvNvgb+pTD5HHAv2Wo79NA1LdaB8h9es7SBlK7eRBl8mqIVDlzbI5ZlPqw+TyHVnVYc4cjTHdYGdDslS8n7Mloh0yx1aMPwlTgklxid0im7dV05rVxJkyT50OIa6NDPOPyVJpMDiOzY0Uxn1CWkDLy9qqCYNUHtNK6vRNSiUUeGcUdmbth2KosElRUXgziLfkZKHU6tKLzHtBBig8BYk5reHgO9nhBlG1D8LQONieL8+Vo0DzQqprLl3bIj9bB19iRwEqXFhVufUmmdB6VWEJyT9m+sOiDSrx345OQj/GYHNLIwhUeUacMYExcoPyYbbHlYSTVnJ/bP6D7szO0TnaF3bErTvtWeOEpstVgFhVOLbQBgWMXWy7V0ZqNgWHgEEJYOr5VdzpTkdsYAVn76zxgkWq51xMTlXFh3eUHj77G/m7WnmifdTyeXJI9rkcuXpyy107kNpAKlyvQd/ljkUaSs4soqsxOe/UP3NIWDSoy3vcFBOTV0UdjlXySQgvJ5hiSxBH992ez/9ZHoMPFsFFkJ0Gzs8nUKfyxk5gfKsA2G73MLjrkldqtWebMUred+mNgzpyrvDuwAfPBQjka2xvvMcHqDGOqI4FaP1xHDkceCYwNeieQG9ywe+a8XhJ2H5J/k9Fb8qAdQ7zeubpvLbD7rMfqIvFYUpIz6g9teCsfUkAgK0zTXSclLro28I9hN1hqs+eedC/ypQhGoytRJVk9vDwsspewb23kIlNoU8U4+aHHce+72Xq8DTu3CkisNHWzE1jFSN72aAiu5LEJwDVrFCodxUG3CVnJ2h8bBCoFWl3yoyg2FT3tukVF52WJExKDH9JNvfJcOtbo9Vdt4ljHqAWJ6wV0Q5poyJM1p5u4C/zqmwgLIe1Qltgsd0MQ7vl89kT7o2kT32LqpqRsz0M+eEsha/Ewj8gumytfc+KHpiYOnv48UvScfdKhdULz6rnUmSnq78gMPGobXkWutGxlLq7gWoRVQvBMxOPUe9wNvVNXYtNwgIlf6J4adz7Ynjt7WFxKNb2ZsLq642iAMgsWtLOeVeAR1dMcjDChnwpxLVRINv0S3BS8qF3rFl80I0hzOyagE1S++jEMst9Ok/od2+Oc64sEeHDQbm6V6YPmBmTzogHWjPWJ2L6oDuhQcnBl0OpVkAAezTGEpbagKiIs7YRIt4DEuvGwDZ9cg00F9VruwHAA5ku4FPJbeIQ1NG+PY5sP5bdGrcYIBgr2+YYz0owefmlTRJh5eGb9B9+bomuhSaImKKHkfdlJIf9oJN6HNwNXRSRwJE6l9bcDvDL+SGux/uQ9HbpveAQQHrwJQeoRY3q0RBxdbBm1NIcf7l+zUa5lFVEqq3piDJmOTn4aprT1hY1lvK0E/wOrxWoUsEZer7QQWtMuRsfwTkK6jS+c6C7yLH5KX7TernWX3Fg5xrTUyAYIl6XI0WT7yDaX+ZAuPoSt9Iwzqo3Bik8GoK4HHwFc6a7aHn6N5fNfbsbfGaFCyUCeEJVg5Bx0O6yLPO3LBHgOgT/tfGypzicRWyzarSYjoH+1jSp3h7q1hTUtdOu4k1G4lt+MiK5sRDQgP/2ZhZnQDGiz8cHY7LWm4Fb7eYvPg9QVi9RmH4VJn8cy7Q58DujH8Ez4YRogl4u8sUUuFXFbQsFwo9x2biDHV3D+lbIo6LoLOW5GndZonVzPgpups4Ch/SFNl0Nf4MUr7QU1oG0QIYhkupjveuX7dAExdMmY3BXzwONB3CAiMp3F2/kf3QHJ0C+uGbMUB3r2v9PKEtyyqhkEaOL0NG+xMcKqDZBjiTeiJOWEQQeh0JwuJeadNUcwB6HWAdSY646qFe58h0W4SybIOOh7Se7AZaxnuFzFfsq6QqvCV9spr3Cj06QTnwZMgtIvYHJAO2ZFEDZHbN7CY7Xda8uv339wdgPcBIu6/rnHvQckCFIfKl9U6XyoGyZi+jtbgcC53c6AKa3IQ94fFJ95tpdBQ7zVhVTdI26qNEZTKFv8PNc8tCpq4NW3KwjFkohpW6NrbtbWVjO69puugUKDElgGN67GD1qTuhJ0wyfqHiRVtShuIhaK+1ENQ4k6JOlYXbrW3S9tBMBX95z7KPNHxJ2SoYuZZj2vEKD3mFZiJlrBMSBenyVJlgSzZbSkOX76jWbJ9GKxsPbcy50egQCpTSPYR8rzeJWQdCRQ/SVFLFNBwEwjF5Ezj8mVV6kUv4tUT3KOqeq/uk4q857YHdbEbls7hQEALxzyD+oPBjgAzXaW8FC1w0G1FHYy6ommsZ4DLdk8eurUrxTgyPbMkVC5YIazVPp5cIqzzqmpUMouztw2zbKolJMr2uOCUpKvL7oHdeRYkL9irnn89gmV94S4LIyMvww3YSIPNYXa1nE8cBYKWFl4MEaK9HGLM3laukH6dY1i5zM00rc03zqBAodsVhTF3qWLrAIEzeLdAOIyPBYNwpYhOBzmtdHaaV9FaTXz8bWjfe4JRjyPx5EhBk3Kd3KmxzjOGgHToSIc0oKYgGzmK5PQMoKj4c5xDorDpgaR4Jfu6TTAA6ftSlsXK4gCnjNZamUdkSmohze8Yfycnva86GrGzJLStDgNBr41NbajixuZORcEB89YKVa/fFLdBjIYIA9I3LqYa6hAP8/PZglu1awE1o/SxTXUj24fSOUm0itbfziQ3QFcZYfFkI7tU7b+rG+OjQcAlXgdgCkjZHTMFQ/KaquejrJS9c/u5H06xnmYFunW1Jb6NEsNGqLkBHxMb7USFlRiOlJ0HRXZy1gxS6O127Jo4Fz/uEl0+XCvU3W7N5avIqRqVjpY3SgG0N368WnCz+VMTRYR1YeqaZOmbqchWubLyoGhpO3SNIlUbW9mL2daBHt9MjNiIJ6QgachKikh3v2XRf6fw6bAdlo8qN6xT3mXVkYkNJpTAIjpcv4f0RRajY9NrvP3Pw/qzPK7+yjJWlnRY3AXfxRZ4jnv2akN+ZxbSkQtXLjdVFiqeTrPYd6o3GkIAhgcAmHZY2bzPeGFzEuh+0W+P78Mt2HcDX8kp89My9nbyKZFIeFvdhk8vv8ORJzc6pGVgt7MIgZJE7lPBbk9hr2iGhlh0nwHz0ux8hQSc7cNpNB2RBPCXHTnddCx6rROqqKzCIuOKwFI1eRKPvIowN/YhdBRQl+Z+7/UGvAL5stltLgLOLTsxJA08ta9Rui3gbbQsqaiZHPNXum3TftlJoUVWmTTZ+kxhLOBqMwmkykfheC9Da1bTwJyHI1dAlKz6Px0eO/JeFVUi0G4hSeus8iioy3xrAmfFum39A1wAq1JpmQiel+eoQWX0b7ozlO2wQCWSPReBsD19YZachgd6jwG1jlzACgBST1C6steHG37ZlKR1JucvF1Lmkelg3g7s0HXkK0gwhqQ9OGiiP6A24pMSAXzhiieV4KUebZO4GXnMGTLqYu6OXo+/4fubWZaI819kBpT9lChaGhKjMHD95Z9VJ2PFfw70agWA/S5qtDRgwosLdVHcSEOVZ2JeDdOBeGi19FzO+ATp3HdqqiwiiZjUr+lRRK86tBpTnuSPE53ELpovkc9cp/x91MtTLBGupZw3wKV0ZgFTgI8yrxnUD9YnNSH9YKtjLSsA/eRi46U0B4vez1+1BNm6fdqMhtZarDBBQOP0BSSuVwLMGfROuJLPoJiknCsJI8DDXhNchkTPVtvzKCdQIC6SMY0r83tg70EzeBcbsU6QDguY8JqVv+fJtColH5z6f5iEvo8I5Lje/sLvTaWaJhGkuszYgKsNFN2NIxi50x2P690clb5ZldrWFKv36q4cn+CvM4unxbNz8QwDprAxBknMfHXCIsBOobFIXrPVwqAc6N5nlROEvKRTkYHoaQ2Yf35c23NrNlyDBKBPXfNTDTqKpl3HqljpwigImr5DTDGOijPBug40HHmmsbxUTKmUemYwgzSSlFQuNSnKSlccZXew2v7OCo9YkHo2VAPTAu/ELqovJEi+wKx8bnwMZlnn2Vtwo4tc/YbYKaGUwPJ/G39qH/LmEYmWHPfivNvG134EnDxVQ5an1Bn7ki1xPjR7kj6x7P9UNSNZJWvWI7Xf0rM5y69E8GEuffRWUMldBERlYkKFz/RV484jVpw09HRGfOc89dTjR6ALvZddTz3Of1q6S/iNi0ejnBfZswRle4fl9GMveCRtEXQDFarbjkySCcEiXvXKUGr3EGO3+XaavXwHpzrvDvmpsiaTFP6MyGihOu0NSW/jOYs6hcqTaoJVSohA9FHqyhyt+4H1VsvrTyl1pRBSNc/x88I4W+fcPPT396Rm8HvThX1XXYd0P5LZ1ubGeF7EF1LsgXoMYrtKJJgvYKWIb34DtLlKzO4BulKOJhuo/kI+fxZ/ABPTtI8by0Yl7etQn2lvl2R06lnqha09SJ+ZQmydiTAJwElUozYrBgWRq71BaVzIssaSaItNBne+eMOgwvcgpjY6z01Qt+vnY6m/QB2JY/BJdCOK2swhvjG1NawWs4TzxpUsRTGw1n1yWcD48HvGBmmsyfp86rtQ6pWRhHIG3OGb1sfTS4MnIzxVG3x+jl++pN2MkbvqT/lR1K53YWoAMN3MDaaDQeA54gN6PUZLZyjJhxMa4iSdsSih64TDF8mje14P6UWvYit1/PkjzxIHkh8Ov7yaqOh07/fS5k9v9Nmg858wRUemV9LNFIQ5Xe0idYqWajUrBS8zkPzQ5x11ZaNKa0vq7FA6dua2EQFDQfVcLv7oFyHDaAL8DcblfSLsZatFAWPxW+n3I58rMeOs4Pk1z6UPzKlwMXovOqCtZv9e+7o7BVVNAfAFv4GoEAR64KpwJX+iERJElYuNPICsg2Yu6P+gnfp7DTpGRapQkI1rrWpKgLCdghNKwoXEBQ2Zy6o0Zgdf+HK0yqVywyRnJ7SRbuiTAeI+XFNKjhBQignN6QkFuMuxjWQcKySPfuLE2tPSf+8aDTgTndArCdN9J6G/35KgOOO4GNquNHHG/I9NH1wxAED93sa99u6p4IM6iHcDUCcMrG3rvtMqjhFyrkfeuj9jq4SmeOue8zvtKVLRFkps+2xMgRJILQi3apoqFHJtcuP2THD3kiNkEaVV0vO2MSNYX1Ewql7+IRfPmsxSRASgogZKYqe3wpB2KYECytTGMMj+A+HfLP2zmG5OSvP+Ybb7Px/jfqHDNglq6pkoGwrZpXbcNcefq8XLBcGOoO3Lv1vXSw5O5sFTcH4aGxoJqAWRjC4UDHcZeHSm3TOlj/jaVZmw3b68nd2QJCqmPf8wbkKL3gvvCP2R9RcjUbRXvR1Jd8s7kdTsTW7VDGfp9Lo+JkWvcS6z6yascglXRB3bv1gqJHIgqM5cTRDvONWk4p4KwCGCk77YFR7huJ8QrvxRx0MCiiGx0NfZrS3QsB9CuJZQoZYQbW6ALBjTDnP55g9DXkQHFUMaB8qMmwQEmadEFRjZilwOqJTxwjZg72uAzQXyfF+IV4UHD4jZ5JbTB6+1xHv1KOfE0vtOZRokgNjK1is8+DIRSp2pEZYfGrzgzIJNtAIX9wlpSLoXVWYGMaYc7zhIWsD/K/rvqb2dVAK3uOpS0Aa0Azi46O1udSSifjxVz6+w2xyFUeoaHs5ODv+kRJ1oQvh8Rt6K1obgSA2j8Qui7gNh8TWcVNOUQO557/iKtz7KfunXRsKAqzGslFeXKcOp2UKlFumAXNVXv96AAfHKsAi1mlnxi9SG3IMddTE1ofgEFrWVa21Mf0lRBpmlkyw3Fn1Cz6lgB/xC38QkrpEDzRcY3u2knl/87A6/a3tAgWFg9tfJRoBRc9MgjJpPnQLlS15wKdfeLCQgJ7k1cpIrFj6OePdX+nnl+/FCcusRicl5PLeoeA7W40r+l8W8kjh9ZLZ9IBPD68/ic2YjwaNjxlAA43n3lKk4or9TPbHcmE+r/HGQDR3xFCS6kwJYpFRtQ3Ju/sSHeg8mThRehUSialWwgjkHHJTvRIDwmges3aB5b5MmgfcNsJ3Z7+bbQ6Jecc1crOVSdjVcjWh2iFZFe5j4fvSsWCKOHhdNYpPco9udQW+147nfbDr31GoO/UaomIPoIRtUo8mjIgFUb7YXJXfnNaQ0y3jpsgLP4hbFz+oCxY+b/JKrovwBNFb3LFXrtolTu2euKRd44W6ZJUctJX52dYgGqlv7YXrOudY3cblmI3B15rHjF+hBt82hiRTNP48f5fL7MqUfoJhIUa5JzfXNmthM5mnF0jt8FtvSGwaS8pgX4xfZmOyzIgru0n8n0v4U8ActIn3eziyA7kHbNn8AlnvydrMc0MGikGvPjkLhibg/SkmTPddKD+1wMqey0G4nilMCjX2vK0RwV4pNmlQ8AQ4Cr5uI3qVQKOviCXm3uqDYmQBeqsfNxZZyIAklkWz4d31WO6oOzFfld74rHVJ0pOSw5W+9DXCuO9EfA3YSHLrBe/fdwAUV4spVFMbHAoyVvgOQOYqSmw2ezRcZFu2g8XGIN0MACzh2tmNQoIiEPt/diiUNoGfElrF0H6ZZUP+/NYfARk2eSFhOb4twGv+vMXQKByucCeb4blK40YDsI2EcX1/adcGMLeEIWau/aLwxIQL/sV15bgVnGdj0RFKTCss8RUbn0Re1sWtIdzEk+cH72kV0w1csKPo8Y0/a+5/rH3pROfX6yxPM+d9cZfsQc7a1kdPAnw7zWTj6q1apNM2vTUoEl6vY0jvQA17yPwMIsuhXPVSTCbde2XrGfArurFOnh2AslXBxDxAH3w1HHBeDcoSe1uMEqQfVzb8JLRKBrassgCiAGvVQVZORzWIDEGiTh0o3FHJDlQsMK3sF2uQxIKXjccWZDbtSr/1x2EwYPChE+Os/z+JAeL3CHjfF7LSwDGE524SbiV926N5cI4DX4FdweO/sfqTC/WWUYZQyu+attG6+QcS6rFIjlaosHqQZafeSQjCW04ANu1dOcUciqObCQTyTzZ6v0+rvFjbXl5XOVIC9bJilHFnIVKoQAtLep3jgvZPzQtaWUIGT/mLU3/ZSjdEESkWwRGiXD1Hjla9WR/CwSD07d8hRCi4j6124X+Ce0T1ekya84D6EOZ1jq/ti7kMkHf6XzMDsnxxglRKG8c70HFsGMBX1HXAju5NbhNCubn+E8wskLkyxKd+vfdrRYSe4pXiuT9tS3ccXLTIYx9bY92QYnG7LXBk9i6naL3g3h59HJVU2mc3GeSNionel/42FNNSV1LLXnOkqODNlUv33pRBSpYYWl2xmcYsste1COQYdop3HMPJFJCJc0D7iaGTDQ9TOudmHDuuUza1NAXZ0WDlljFF2RNVtJjg2qeC1JCcZ4rMToBPbSVNBQSdb7rv3zbMNp4aiXq9oz5JtntjIVfeMbbxLah5j1/LT4mHbJS4/TOABDV73H8Oed6PLehEINgyPUzOGIrgsIW7DpbnaBJTl+vDIrbkXzu5wtlvAaOiT2jd+MmdxMIIlcJ4pPVivUNzIq1l9JWAZyyUOnBAeyprMjpKAdB4MfRi6pbItmaylA1P03si6obTBlurr5dxasHclH6ditTKjlTn5LKPwSCkh77Che75sy+K0A66YJ7eSVltjncn98AuBFHQzERwCuMh1Vwsez3iUbkErHwYVfo0N05J1vKd0QEeIZp6xuRjmNtB2qqY2TtVleYOlczXkC6yWhH3+Dv3laJGk+JlS++qr8M/8QkdOu7WhU5z0mtRN90Yt91+Ip9/9W3BOiD58WGVHnQIGY/bTdDAFMcmhKdzgCEy/3uiCEBcXsoXl1hVKsHHFfOIAgJs9C7g8isIdL0mjb500yHGMJAuGLwCIdZp5VhlVRfjeSCfVKaskwwTjykjYFOLy9TH1lHLx8t4CC1NOEob1YoSBAvzm9WwtUiTZsNhNo7M1t+WXtiw9n/JTApqX726J4c1gtoPfsi+/xiL/q/2LG38DrOwpxOPTheNgNKrLGhkLwY88/C12V+iOEVzoxep14PZpbsA3oza9de7vUuQzdX5oQ4Fsod1dpQxEEnlmnJEO9naFqqtfpWoTvdErnpYUwc3q6mm0+7++kODvTC2b8aECqXx69NXYQl8/LplZGaY7C7MdIxrLg+3/0Su3g7XkXDuZfZ/Did4tXkxiT1K9vsnPtK7kQ2I8Ji67ETsbPaWu6HlvO4BcAfbvv9AySQphSawARE6x7B6zABci6pmhVGUqzA7/+n6TfrDdm2fiKD1K64TvEI9Dg4QHCxlDPYBztrtLXgjdZXO9s7ecr0cXHZ47AjPOWA8HaJgSoffYLenjw0Zo+tAG6hNAJFe5rADloMG004tprIuG7xldVuNGeLEkoCnf/7EWvEAKhjnFPc9UNUhiMKotY4voNE9qi7Ft8PQ14elH0z9UtKLZch8jlLipT2WdaIel7GtHyCh11KTR+gVFXG/KztNBsJSj4KeHRgkwujN6Oh4FG+bRtnM7DH4ImYOysJXAv5Adny0A7248wiDHToygpWYbuaA9fnuph7NEMj3hcZeugBA7WqoAPiKi/z84pF4SXKj+12MYixmiSq3T3+Ga2RI7kIbyM4YmMnJFxLXcOrgUvrDbS89UPabyxyJbJB2/ateno9EDO9oXZC+RNjisA3vOHheTFFT27NGsmg9g6aFdEE/r56HRb4nzBqH0CsuOO40cnubVkho4wkcUYyaRI5ppVrIOtFuA0JB6GJ7211GKDcW/pGWzyil5StilLvMaBYOGoPhkC+lR7uafUStvf4RH0Q6sPqDbL1nwIsegue5qrbGkVGcBpcFdahODTaNYjxJmEybjLaE6tTwh87//fO63K6LCcKN+pLV1a/XJYPJbVPnf1V3H2sLVjmyRJp1b8bC5lMZsKR/VQ4bfiNPIoS9o+Ykkp5epITARCGl+CKqOeBPiyPVuaIqEnXjWS+yByyNuQBAso+tWLqcU/OaqB9lzpH7MQgbaS0z8aXQQiSiB+SE0G8F3QM3wFkVuTDOud812qxP+Bk3FGnydwwSgE4oqK1uh/ZBbsKwHOuy/KcgmnzaigcIQaIHHiOKtcELmt6pWElgk44ghTq6Vhh5FZHWz9SlvpqY/ZdZ/096o3fN11VMkq4ZLtSlN06fBXXWAv07dxxGtECmyLbvfzF2oUSCkUfnS6MuV90ZB/hsictX6cA3lQ82egIxLFm0+vpkKRlQDfIWtX9e2hdC86sVJrnAFhuh3tR+6alM7aqDZFcpJIxOUZMxAer+ndW8nDx01rZ15nmqMEHlU1dX0iIKXJ9+sv3mqhX43OjOV0RHpU7wkF0vsnjJFiJhm42L6YS0W0FEvrXblUCE0aNttsS8IT9/Ft44ZZdcphjxuz6gnhR5LhsrEzRK4hB2xWRymndmln9nOlgZ+Ow2+ymSAHDn0iiYHY+V9B8PuJPj0QqozULtrW0QgZoPob5ItSuMINksuhwE5fUJ55/5JBYIEACpY2JXQyUxrRAuW29g2yB2oiQZmsJz545gSXIJNDtgcEpUHi9na9enuIz286vf8gqsRQDwNP0FdipybkWuCrYAsssyxTPcbcTx14RCWjK3XVFNmcAKZOJj1C0WHJM+RGXFIwhEvIpNBuhL28JG7S/0ffjmWI2auGznI3V0ehxNAZKTK/2zsS9S4jspLpFhnZk5s5ilnkyw25GqHdL7FvKCeXXC7GEDCgaEtapYISylcy28A04LZ6NKKs5dp8Uez4GHXwltPaFpn78EXE5B8hQLR2YMbf2H0QwPthyWHVXDXTQAaQUGZbWELdrCf127XAu0ryQSmtHOSaUKbC/ZkPdG9MjlVwYbW/khKColGORQN69mTgffdU0rqRdzT+TKY/LR3WfjhpNqflJKZRFgqhHWzj36RSdBwMjYKiEDFuY6qH+uWQNUfURekga+iH5dfOwDCO84H5Tzb1YgC5speJqK1Wq4EPnx7I4du7BP7Bzi4DUbch/XOwyGzTQDKyK2ANg6rc+sxXnAapvJu2jtjfHP8V5iQ7it+qtf4uUWLD6XlrMk9+bx30+Ujr2mf90q6YDsX8RD+2XihoNXhtp3Wj6XKgVWllKakUzzMnCZYOg/mvuAilr3+SDre38ryh7PaKhXYZ7qVgjUqdMElh1TI96ph8X6Vxx00ahSF5M0KuU80aNznkx/l43T3ILkAiIoXSwghz80z/jrKY12nEnJeo0MwW3mXJwNyy7WvQPVwnrTnbrSOKOwvwOUmVghChzDoKWLjXaDZc2oGbS53vvtq5edKQAjCQLM2Q4693t1M+hjXsxAkbvwa2bcuqWufjH4fazYvH0fR+SFmJOcdLFMd8LG/riDW09gIpESEgyiymkEus8frt+b+dSwpfA7LS4UNE4veICuOiHP/urgRB4bBB/WilrGN6R8d1GICAgWvf00HS44sYjQcLjsxulUJQqePx1uf+f22BROZxjVZiC6T9PParX6yRiuFjB817FGzG2flqUEGKEPy/a1QROlxCvb6iteJ54oy708/nvzsMjeSN6k8PVhr4liPFmc9xy8RoQxLz1LwpqWtrjFpPMGT119cIxI0F0UnYPwZ+qmFxCyIg2Wje+vnEXlocPmOHF0xDLwTFMKdCew8VZaKFt2cbN4nMmsIYzCjZ7sxZNH9qcIzic2E7o9z2gCCPRZbk6zBDizix9lN6zCnpvegGy25CwIe9C4ZB4/oW/euJJN+EnXD4gc3bpULv7aZYWX6tCp3fKklZ5koodeAh3JA/2CwdcbiCjcy8dx0ZkXrbcI2ok6nHqyC1lfkQuV9CSrVxQ3DsNLIOSfd5tD4Yut1ssNj6Z6zaTJYTEyKxFnNPPiLDScXLJl8t7pEJlaB568FhpCiPMUDYJhzTgaqwa3mion91X7bjCkqLK3gwLU8FvuIbke9G4zLTbxXr0whDIYkYYcIML3cV6X7WNgaPp4MKQfnz4gi4eTxtLJoV5Czsh0ZZwN7ReW1ICSMq2Hdrngdh1pCbDSFQOPAOHvjhIeA+HX/UD8+jjUUdhR9iMW9grb3AsXjD+/xZttSTIl9QU6Ahxj232I68sK7CWrNTrr2qy1You+8AsmKBQ0X37BRdPI/erPDQIkzpXv3+v23j6PAYovYOgYfqk3I1GuUpVwvjRJjO8tod2ZRL2iqnXjJV55CdCMR2Dy02qFqzsv9seQxXoldzl8pYIAMF8ngCX+CiswFJ5F0buLj+IfwbO6RelTKVslc9SRNJxn0MWuQ3/tjdfm0gc49MwniYQP9ll7+bBAtHPPKNgzWqCLj3n21jWAn2q2ZJt0DqQ/dNtvJwUSmHvxuIBGTq4JoFRVvoU8qeykp2hXj6/2Ac//ByuOge501D0ZWzx4s0t8vLKQ6sOhh6GAeB27IdDVH+WK7bMD5UNTaU+WYHlJ9TPGB/7Q9YwpsczKQZMdD3UCVi4AlvRg97tfDsm8T8QEBmOtcUsivXW/oY3th65AcVZBZG7+AI+Upo980kgrS57+NI6ylW3j3WKd0JbZd30v4Wo2wHakagxcpr2XKOyCHDrdMfhPTyFAYBjw5dryUDiSsuriLoNEpuxb1QIG0qmZu5VaymgdI9G2v+isaCQg9GuKHnuMlX7p+0Y4yp00dLvKFIMXb3NLzXGJvzKwc3BUjwcQvhXPZzkPqxZUI9B2es7Z4utyybPN1AHuyqPAIzXU/21rmh8w604hLjLkaf8Gevc9RdyTZ6ifu1c6sxkInFiWGGUM4uO3yMzdQj+JMznvUbkx94N/abHxVWo42amHEEIAwyl5IiMWhgjE6+RGlVNouPsk9UsTAQxYi9io2ZwBvvqIwps2QJVwHFJO2pSlUNljrhHtd8vJJxyFc3ao6Tk969NNMOttN9Xf5q8XiEW0x2y9Hp8zhpIxOwt3HuzY/F0lQEpY6Eqqcl2srDpx/eKTqQpUcBzodHoRLeZRrorZg91o3/5Jipcp99lnaLM24cEkJ/cASXYxDQWN+ImN2liko2iv1fOXOGtrx8DSI+BigCTmQW4KWOhEDlEJI87FrVkMcKP2EqZLbQb66d7kBIYjlstOhHRj8Pz50BDEIwirX7OX9G7MZI2GlsV2r4APie1HB57MVeYk1lLX5YWuEHJW8RY0jcZFVgBqRE/OXNmyzVCmRLBuzzzrB3jBwulMC7jIil59jF0NMazmI6i/VBwTCZV293TjzQmr4XKkdC6OIQAC4vzphSCO/N3xyylcHORAtEm7UT3GmSWmlaHh9O/fDNYPSH6a5dbqwkbrTDgrBNdwl03O5akKoFTKW5sptfx3ufp78EleZ1RRSRnHkoeuqbwzm8zh9BjXRG1U0sR7klTmKp25MW6dMbDJ+7iHctlCu1OBXCfm5rxd/gsHQ7r3C9a4tqPVBSAv7djOIJgvvDcntu+CWx8Rlb388P21cB/q08Eb4UUySCC2imwjwll51/amZN0WOxUQgHtA2IrzfgHt2uS0b8nA6ZKsypbIM+YgnBNPlXYtmF+2KrNPI05RL5kW+3KyaE5Z9iRDc9sMXGQ2gEYCcGifyiV2Fu7n1WY7JRTup+DDKXEyav6oBLdj4QGMOuckgrPKYYbxzThljQ8ER4PzDYhwztaVamK2+ykcs9njlUnkKR2lfrKX5UraQER7UaMTNPL5q4UntREkWvGCORnkQBgUPrK4XRB5zL76CyaAPC+0cfY5lhwWDVodHUy1Z6qWERkuDo+401VMQGo74tWxJCJHcs14Jxfn0ArfZ8kRqRJ3ZHfg/YlGwaMwjaMw89PqUs+D8ISqwWIj73ZEI7vwMViXOe1miubSmqcoak7AIKBKSi9fVP1tj4//U3FRJlUzDv4w/XKIktATWbODeJB6i4EEGLsNb7FdbUU1TCXsTGwUjxtiC7b37VX/UeLhbUmPvbpXpFVJ4ca0L+zBom1melGKczlZgyALpvDyOZpXeEBLre51n187yF9N18vfxVLIY402NcMDBhSdsDXLB0EkEUpv1z0DouFCkX20z4pv9OW7MFWMdkDdf4ZrWxK1+pqNlNDBiS7xctGjxPA2byfT9tLQfJMpYEWX7Cjx8GZHdH+rgsDy7IptfgfnSfD7VlEF+T7JCBA7Y2FzegWkGCJvqaynIiktIdmiyCVowjmJwgGaipS/iQScsbXNjeFCebL+5TmTaVka81XwolAMvUwvPA+woNSvVj6AemhfA+dAzh9yx5T5F04gIv13tjreeKtrXOOwdHBzlBxmCHFYkxl2QsXBBLUPNah6hxUb8pwTpalLHr4ekkGzGSGGG/KBOVHtqyLz+BEvuW3KXkSnrFsIbDTCUU0BLm5OV2+sclAPAlPLG6xszYuUlq/Uv3lArbO9FxG5FLpt9i2Qqa6WiWftDr9tTU6Y9ta84AkXC3ucGloCYqCYnypM5wZ1zEZuOMi7B1MLmy7myZ0VbmnTrHKrxjuqrOtfNiyY6fB1iW0aWG6cFdLySQphsQPs6RfiL78BPburGyt5+Q1CNccLMiDqYWkDK7mlxXlw6WWAtHZZEGwZokFre5C53lOM8t+++GtUGMp5rzWUH/pQwS1jKUHeeKczUw2zMCSTcPsYx+XAZjVjFBk8E/oQQw9gUYk9uLWILR4UQGCNpr+3BQ8e94SEG/WxVqQiM7uOtz/VFTFV5elrNDpcrXIe3j27MQCdZwFg8b110ISuJJsplyNGe36nPQRttQunCQWKtgzj6YOAB5+pxc6gH6aFF3xeidAJIkI3YSd+bPrJQ8+g1cIcNkoYOmBRQLx5af841j5kxSuOlgzyuhPdmh7jZUazwM1KDj+9pJ45sAhYh/45Ntn45nRF0tT2g6MF24BfO7a9KPEw6JKMGdIKRrG8kyCVoqU6KWCnIME4zEv1vDDQfkrspoj3ovMb+Syg/5m9N0lHhCUvyJcZaWKwavs1MeYOoS32XgNf6m9AB+amz3tD42E65Lmm1k4KBAICtbYqR1R/rJig/zlixMPRV+STy3Hy6F57MkuyJnIZ4W+R39dBBu6Byqs8a512XGbRKKBh1pmOZe4fjTtFaEOjs1Ki4jWXjgU6dv629DwPGP8GZbfIPTjyunpKHlenB9vaGfYDzT+rS7Orf4I1w8CpH5zEMz3CknnL2kudNILlwxhC/P7YY6Scuv2/HM+snY7AkypIp3/tdugUFF0MCFdaNIP1YSQ1dtgdN7XQT/LwLU+zz2DQh+cMtKDh/VFxRc5AEgb7Z8fOdbe2x/grsmvUZrJ496oWsRzjvhpLOy/lfrR8FujDadGJNmME/ZvSrb23waGjcMrPu15DAU5N2dX3Cf1jGo+qrGwaW9G4GzFi9L9ba1CZG2a3wo6Eb1MBnRwlVH26/+beEVklirRXO/IvsXx/celZJU3v5SvCJUqZ3J1roFBDgBS/w3m7pXkQx6Lz57hpZv79IggyzjAxqzyjYTyRaFW6GjLln2OtQr7Cdeo+fukvkLJBIahlQU585FP1tis9ReDeMf7/GSuwfA4rUfePbSyFG33tUVcOyz/pQtk58xmQLnQxXzuLntpi7BbqC/qMw8HTJYjwyKwR82wd95VKykqw5PSPjBl5Sa1pSm0GAOL5phA59Ajs8vSKsu4M9TO035PI7tyrqpEo5+v3ZSYVKMomruhsz9y02lqOST68G/pmD5T9RYe5Qsw64E647FDP8i/plihfiGzgfH7qZ3ybsWSk4z0q3iAMpyhDTLjbQSV5r7T/GDiUOaF/o6qdCsbdtsNa0MROy88ns7mPbNLDSmWmk7uEM+d0HNXakFKv75agoFuNivvuW7+Aamqb1PMOQYfqJ549aId+ENk87pulTLxdEpmQoRQRqQshTJ17tmI4zWQa4h990XD4O6XFVsLTDBZ2CvjIA7otDsO2+5Z9bgOqeenY4h9t6NunVaRv7B+nK9ECH4L6FGpYZht7lJz5cFOCMffjs9rhbqnm0MX504PnEH/DqyPvnhNMDRCeF/8cGe99lOM5shEk8r3HDXXGoJeETmdpxGFSCXWC6NBC3u8bWjEVLz4qw3k2sf/PbNHcUOTfKshMI9p7dqp7j2ImQt1Cj5AKX4Ffxuxrl6aaBuEIakzgdLdmw1uYijStEwQOX+mIUZ62o1Prgs5t1lReUS5ewfpv/1wyc1jz47+A2M+lVDQuzwYHQULXKTm7ftQbdsl6DPKkcaZagjMbWtJ8T+WKQB3AmNKRW03IEUx/mXc1PF1WiHtk1l5Fc3B+r2coQJCtJwCzYUwo+zXj1fIYnaq2ciiZaANAlzC6L8S1W6t1rL9VaesoydCcj0VZlogZtZdBN580qMl8tELw14alr7UXxHXgovKBCHNzbZh/wJGCpUXOLmDhv+oqnVPg03ymVVpRBSs33+6rH4EEKUeYqIi7Q0dMHhExQlI77jxfgAKF63zvYpXPvbI5SW0OmYK9N9l5PNXsPmyluRO4fCrZb6+iwVkhG9hN/ljiFtz4+uCFS66nQqs8Jit4W/EN+AJn07n6yUMvrLsMosRNTcYJY6tlD3k+XYIKbY8MmVjZOu3C+FGscmTyE9QELj4y6nthUil95iVEbNsCVQvz2Zl/99hzevYfeSaR63COqWjAto+d5BDftd+uFOPxt533sdXtmq4X4qP2/BVu4K/jtClhxdUSCrEDFSskAewrDBL1SWB7SPTgEYxQboo3PkeEIvUtpwM1ZhZjdnzXfzzb8uDoMhhQtFk6Q1FuRg2rKzeF34o5sotUM89XuvGxT6YnyvaqTWgqRi9LnX2+jbJnlO6SQ/WTz4WGzVWebbQuh/MnlFKJf9J49yB7jnD6RN9ivFjj5C9byc1HiFaFkDXRTEeP5AhLUtFnohvBuhkJl62O5XfSGS7woKzhTWESgK5gfxUjNYPLfNgOqDQT1u7Vve/CDGE45hgL6NFNFbDr/CHec1/uZxYPRMGsEdgiSgV2tiEfgC2SC0R1+6Vlr0flq+yX2m3sGK357J+gIBOHlYsExtGxUOgOtXhSfCd5WZ+eWVEuQitSLqBvqMkozwKDEnXf+zjOQSl6JpZh1j4hTEKxq5s1gtxxpukEWfVv2qUZBVBzS6eNSOg909LrsAa0IAFRW7DWIBgbrQAdvjxJLPJiwv5Zh+CrZVCHd1ozSqSrvJp0vEOSkZv3Sk/UF+Ks7quRlTr5x3TwwhnNcDKr/NsD6jg/LmEAmcEa1aNlijzF5ndCOtKvYSz56k7ed+xynMYYC+rEwlqmvF5T9V/4p0dSkQl57cevCKMHInGKbOpCkNBWx0NNJ1uVWeSbdoejaivR14yLyung2aW/ueE9GSPxHmoA7p63Mze+n56QW2oocsb+yCqH+a4wduUV63b+sY1vcVhIUAW2KCP6VjDHU9rlb6qS50yBuUg85admsv8mT89nubvDvqhmOYC1qx2arupUxcVLIVhNIOfBVIYrE7PSu24Uu6FK5qngx/ld8fkKtXdmdaaZORWddqdCPuCwc7kBKPKGjBZl3ZWEwfroLbep2l9g+w/75wvvhVcGytdM8ipEeMudX9NTdT4+SaD31V1RfQKxVWgNfWYtdfHHlYHOAGh6U0VFjBbc11eEhuZMaijMBKCI0E+x6hiSF0xTRdvMUybKQQtMbyeffrDr/VSA7foS0tNaK745rSAEfQuLlaLhqCzV336lgRuffFoW8i+I/4boOgX94fKsFFb/eiWx3ywOpUBMiOxppx0USlN33eY6YpTH7RteUQQqmsfxEgQhQMD+yJRXpHonnUg65Bqa3lLObMB5zqgxnLChGfZXktWBwn8AEYy+IUOBwIVyOw01e1BARNBUU/CBIm5PUyq8ZrPLm+8Y6t5wOdqlnOkmIvwtfHAk3rQv9yFJMr6s4xBSIKeInUqjpTf3/qjGMfS5PYcaN4n2ak2QfrErs3tCasdsZycQpmDeeI5tcG+/BANKQQ3L1+SB77H0YmE8zh0SC/JzmR3Jcx8ur7y8AKIXNUHJsuG8QgPIJRQSCHPIIkfDKfx47WVA6ekvjDvHji+jgOE46eknkvRsBy8ZYRI5aCJA+hYKkkBix2uRwA3hFwD4Pxg3UBMhDglyipozcXsi8vOYVON2NG7qHX15AYn1Rrgae2Q+wFF2i4MNTzccESc/o2fQCPOi+tLUHjIVHa+q5DkW2GqyNINJjUL3XaGHbLOTGa2fihmYxfroQ6bWMVBUhqMNS1XfWvAM18YnHu3PWyVAGrgwSncQ63ywFCV3xk13WmjGUIuEAS0LRQoCsk/RqIUz6529f4S2yEPxBj0Eiw8Su1LqECNlpiTUX6wWAM4ONScj1h0hjaXuKpVSyELKSv2JoFzjSuxcxBb6X6KLqFVdAY7QBJ1TkC1/w3xsPeM3fRhYDhNp6VPAfWiU3k14GMQP9FeupVmKUuJhD2MkmsZSFdQn2gMyWucge8FkspGLB7PqMXC3FqNx4zkh6sS/tW1PcUclYrI6VH7OTiugAPYMtCWGTRskQIsvxXXdwfPDPhnxtlZCUCK+HVlD1IpsIFYF7cZDYW+vAaXxOTwrj9iqAIvh9l7+5dBiGP/CvE437VY76178dVx9y4Z8KB9/mtbc2nxs9J/VsGhEq+og8e0tbwVJ1f7FeFCe15nvIRCOnQndz9lzWU3wYCHDl5jP8vieDZtosDezXlcyJSJlRDij7gXBM2m50GhR7Qnp/vCvcAs6tI7bjp7kP8vXRgb8Sosa2AsDL+KQ/d98dcHbs90NBImEVWELAReP+PwvrpPY0Vmcdk9nJt0Ghc3iXWEp+qoqfJowZt2dlyccVP/v8Yvkla3CSo1HIbsjoLBp8ZcgTSVJjvmf5eTEi7/d5m/jSX5yhyOFke8RM2pdz97G0s/J9w8uRMzqRUgXXzcQYoNfLfBT5myVOEK9ZcdTaRsRwSj2HU7FeQlwdYAGTtwdOMQju1R4RQBGJOt0Huz1CE9HAoLKcKswZ4R0p8cQP9CpcdC4KL/iC/TavFxFW4fdtZ7XfG9sI+qi4DhnQlh1BEjueoY8NPvjkypSXK5n8wQ2SvxE5IIQL8U5e1tWVpGJ0aPgVjYAx25zpnJjWuVL8qKfmWQXvd4YCOWtfvJ+GIoZGT2R6ueKgOkK/+Pyw98lVayb7T9pv7bm4xXzX2KV99daPxgcBR0XN6cyjZFktFVKDqetkE02XoLWx44h8Rr25nwHpcgau8XvszVK9XOs6m4btuZE5hRC0Yv1rbaLy73Jh7tH9YdjdRJi9F2q0hNZEyh8HTz2w7DVvpO7LQvY7KPl+hRQqdAyn3c4oav3lHjZIOfKssHGnU58SKqFp8JCEGVsxybOapzGRo6Vnv+er5Ot3o/IB3yP3T2JYObcBbpXn0DA9ViULNFwxlJw76TLL1eOBuCrhHQgnNtd2mDIkshm64vV+AaIegL22Csronz2jYI2W3tIaYoMhi/m0tVzyw2FIflIaxsA6OHHmGiiFRAofLXzE90iOFOA1pb7atKNO3cnoxKlo5PY2LZN2csR7lEwkWtmC5kJ8sAjbapDw1R/XrZVqD+1Hw6MaRHd+e6utcYH///kl3eXgCTz+9qUp7MvKbGxnBkJGLI3LBjwZoHOwseGyHtMMsrsEZ6BZHnXT3NbM0MNldRZRBuNjDYrm/VNp7Dfc/Ic1iiUkXdGr28NPRsultJ6qWo3b8X9A0dRRRlEPZ2fQz9dT40aHU6/bA10J8CisTyU9yBr6z39Q0B+vN4626/wf0ozgFYIzMnP0Uw769Rkjr90qyi5+rfOOiMRjtSWoBvpVZTnJTMc5CTCtUToeXkRtdgctDK9gvpN8TIbc0p72m59ckNeM10zygaVmgQQjqWEm6RY8ydek65m4wT76o/4RXrgHfMZ4uMY5NcR9YEfCE130xusSKWpXRzllGTkE+yYyc9io2v2eE+gVSd3iw/NvLPtqV+dIDkbHwlm8PqhSFRhQaZCo9u3BEiqDC3m7wUp4DxOic1RFqh1Iu501IuXIENZJKO1z+zXmMRZQYsYxEvdmi5LVHYIro8A/SzKHDY/QhmImrGgPGES5B11zsVs9Rt5TBCZmMz0WS0oQUNdWE8CsWl/FIbkHxErit+gZKSpD3GGWQIk7GcCnEMTgNyl6NLikRXXvtvelG9l608BI51xXvHJhMxxWfZrc4pokdrMT4liP8vyaIaVSE7Gz+d1te51VH55L75LIVy2jVlJTzM8s+l1dZ494Gy1sRoH9fGbXJvHptTyza4u9CoNoFGSermiJAY1G4kjHJNtyPKcg2nA2hCL3wyeiujoWZZ+78jEoXevS6bo8GVgitlPfWck0W2vTx1Py4Ao8hmMNwKkpC6MVPepYXJtjsSPhIUE/KlpC4DSOcImCAleQKTy+/sjTCylBAHkP8q833YTGxByRjtajxo0KBQTm3DlbwQlQnp9mLWILNfiLkVxl2auTqxCUxn5zo73C3E2ofndHhzR85YRRWv2+iwq334VGMs8EzwRNz7dck5sctv91vpEim10UFbHo/m5J60JpHSv7Dj3ktB/SAiwRBfkgMuHrRcXp5NhgZYcGPtn/icSsy2HVCOUn67IAry7brVaWGLytlX3sYjBEGULAhpbST4XBoBelIZYVkPzkg0PIfVj1jb13fcle4AsBr3OOn5+9nVSiE9g3WhUlIGoBXdqgmmM4/rPagg2anRXVBDCTzrvhIcrUtONieLxpsDea5A+57qMOYDc/lFbsoHvPxwWNL87EN0p3oFRNb9EgrYILSiUDhK//iANHh4LwcUKfWZdEvZ6cxLKaOKIC4YyRCtrZtEe5Cv0u8O8eFARn198PQEB27qr7ORt/qj0up5OHUgloar7sFavtlMVZTw/Q941UpxmTglbeBImOcMGm+xGnpZXJoytRLrLkywoi1qPU9JwwDpKk1lkyzKYCKBTj1Svd2biSvrVgg/uJfHAsrDl2FUn7eorUfWBZCzZM2xv2/LarfceA+CJdLg3bAKXckL196QWj1nvdxXKY5smQ/0BrcVREH/l8/QsorGyaDL8AyIL0I5IZSE8ASSw+zwvb+6FAk4KrSw2mGzARrsMISzSXCdXgbgBRlfm6FQAsSKlYCRMNS/uV7Q0zRs8GTdrec1wx9XnZUqiWfTZJmERTgymZ6skYjv0lAGFjIZGRtWqXHbnf6JuB8+iNn9yYCcTgxBEtaGu4dU8TbXBp/Iuw1yG6QC9LUAgu+f84KwV5cst3/lptWvVNAl4zQYzJSn/1VT3RXsYIppZsFB8+O/XYS30Cp6+ib+fzFARb2sL4QJyyjpTIiDkulZLgYXzbfLF/EsBP1j5/H2I2+OmiTcAOSPTgTNGiwdg/eATd2RYqn9OrryOrgtke3COi2Ll2k56AJPJxwd1GVv1f2bGLtfZ0EvnvbADcE7JQF7sh5Thd0b0U9XVW/DvoTvxaG4upP7VXTw/zlQxyUcf90oOtrR+c0N9sF/bEEvZbwUdIwzt3pkB9Fs+uQ27Fi1Zf1tIftGQcrl668PypDqEbQR3nir9R083t6S+Ha8RjvZbd7pMlowM9RGpmvTtAZUVR2mG3a+hUvZ778Imwafiv9ZekRnoskEj/AQp96elKuJyVxnbxwctuBw5CMfd2T8o/LpFQcHPWY2XAxcmsuNjyE/9isvPoCWziBXfFcdySH54XcLCKAC4d4G/yXp0igKMUufXLJfoZZEGlQmwDSg9zsjIsXZy2Z0EoHTRGAv7WyK3R84KYHITDblRb5saKSfy/hqbn9SRb7sSBDtBpuCd8KVzVMI5vG/GORV2KW3LjLa1YHT5BdKytHFWywVHFM4YoH6WqecwE/EwYC9D0nkgHZ7fwkiDAIb5eBTEWhY8zZeqfREoFYXcNp8vUrtVcq5uWjBnqXUtWMc4kCrd+vgzx3edTf+kbSxkVANu5DGBJJc3Tkj9fJnZ3jXE/6xoD1easBpQ71vPqz9aFdCoG2elAkRtBRWn4xOxkxnDvPo6j8hnGLW3ci1tXo4pGZ8Ogb4RVuTKQLihnICVxjk8LiPRRFCMrOr6a6z6z+o8FignTeu2sIfpnwHstX660VJk5vjksCOl+mbWQATQ9wglNklGL/pYXOTCBr5c6Yb0Hw9aUZUropY5hlifcziHupes3X1D0bqisDs2YCkgc0wMkkMv+dGfc5b4DLDCKtFjtqplK99ZqXFFRlwMZZg4iZS5fHJ1hiKhP7IBRaEQNxbMZINUrAyfVhKAZJVsNXRpQbcMeQoi0eniBPYEw4NcEUfeCX7kFhLEPvpRuuCtK6SKZffmhLVEYAn/kijZQS+/sBBtIY2sKuz+5lTw4hHALVWjskd3uPksNJGAgSUgcKyT3V2q40BxU831MBSw4bvIO/7Okj80g5CA1IZkOEU6mZ5uHVRRSEMv/ITICnBvkjhT64LENrno+mBUA1HHcekCf4fZ69D5MGEv1jVeqPXSW41wOQPphA3PsGTR5U84HHledX5G9GnGqoNAmvWqwURUBtTQ8OoTzSc+a92eJFr6LOFlFSs/NP2CQWY0c/1wRC/uE1gf586aQ0YXSAJOucDLFdiVWU6S0jhbCYtCW4dVeA3Qu9KAUxGxVFTx1gr6xj0VUyh9QnK9+nkzfVpOMhp2llFnhMa3SI6cXYmXvj46kwghxbqpADNAst+8rY4/QVz7kdksql4rovbQpkw2bvoSvX7st6a0t0pExCudogioqzqgf8ZY7xZ8O2JW5wUxGbI64Xm0lkhzLonfTDvQw/bOOV9i9MsuBpA0mamiixmIdkGwgZD7xzCohGvFDLB7x5jfx7g6lPC9qro/oKO2pgxzQFsW7dCtDh7aqHTnY7/ZCHZsIwkiBW3O87j5rtgNxnH3WZlwEU+nheAZhJLh7p4fCMuPYp6BEDhdOiN8Q/6U70QyrGLwLPckQmVjRNepXSvN4hpjn4cJANJc8IrMb9eBol+kNHICKDHALUzWpZjJR5s6Z6yw19PKtx8yuZK+fcd2/vCKAC07kKUGoHLf5UONhCVoAPxtQl4CTmzx5x1ttFBz791cZyy3CQADGkXBkzPTH+UglCUC2KVw+Te6PUXHfUMLv1Qd9UoFTfAHBY6dObgWrXN2y7++zOCYKgmMzwkKxmEvPOgNwU3+gBJyDo+l3fY0h0ftOdPls1B1+IHJ+HSW4ynEyCNXjcdpxxichlth4ZGFZLuXbzHjYKnhGG8Ft9Wy+k2RDxQEzSAHz5vDJ/l8x6U9k8viklr6kHwCAeER48P9f0XNAv2H+VRImGNS5sCqaNRFN8ES1A+VEedmi1fmvDxsNOYChpCqqTD91VwTzfFCoxAT6JXTa5OfcDAA8IBlC/Iq6V538q1gu7C1Shvc1pqts8PKSy2D84ax19A6ZLBwx0lcNN6dwh+ylBFcVKXskLDyv6srsr3c4WT8mOL6NEPDrx3l8k6GI7iyO3P6n4mvrWwYGAciUC3eujJ0Wen8VHawsPmjcb7CyWGkWOO9KG7DtiBiR5K3Ka4Yaw3oFkk2YpTk/+IaszBLSrguhMCAJOR6CKqxMylyVrdjX+jUX8fKRtPIcJ2e/yGN1jCanlJ2w+hUfcVeK0sP1YAvpiDhHRycO5Hez+mRjXjoBs3OhL/19fso9aTdJLB105cGn0sUP15SzHCa8nNoVSnzcGzD9Jxa+ol+I/QKE55ivWkM+jdSnXhvwY2xkV7PPU4w8zAkRch2SQKYbOloAsnRVfTl9yIz7PFWSkwi5rhh2b3ZOF0VG1oRgoG2H0vQPbQxaVa8TueB9fwrQsocfx11bbK9ko2GSrjUn16c6R12M2OLVS96d8kl3+h/V2N/zYAsClu09Hje49tP0ZkuEhYCngANdknGk6Kbpae4xX6gpHtl7LZLZyW9CZxyALm8ywo5YOMG6vFn7cRWdz6gDK34CAp/zRgNX29FHN7IJurIhMz9+ESc+AIwe+sLgexL9hYq5q6JiYnT8gposscL2DkVHrp1+pdPwZC0FcV1FW/5CWov89xs0vBCjlGJDyk8qem1UiIv6EWvDGkzXH8tkiMAeP6dBSsHZYx2LCs04G+FOlHNrrlOE8ObQvUxER+KAhmOwt6o/j4NikjJnj9QoTuXk2y3Ns8rO7bPhUgoSrVnDaXpBkAF0wl+bY3CLVkYDhcuMbIHL0TGBWU6iQNtk2KDqUIzGtchkHu8YeIdUKcI3iw4qFtonY3VTa9Ml2z6vkB3EPaj7r1KBs7rGP+nwVMolqp3q9tb4Ck85S3lOS1DgN9LnoWXCXmchVCxViQCxqDFeKHT7ttTkwQSsjTl8Y37L11LVdpQEpnw3t+OIcEQfMIntrVUjSP6xPJLKdFx/G0i7zD2uA+U+O8tcZQ0CUhnAGNL/wmSw41WwKham9RmaQFMFnkLiqMWxm6GELTJgJppPa7vxDXGRGOpOJh8qzTuz4tTblrcx1hykzn1JeTh+1KZW39s3WAI4dyUFxjN6E1Yly3n1tqUlr9kllyxYNbgM9PZrDIVEz4cHRt2I0tZv8ZYV2B+0XHgAuCfSRt7uXxjceuqugKXsJ67BP4jI3Jkkt6ov2nE7GLWwcU6MP3OOROX+30OB0JnMwLNrY0iEJlKQwqdhGuJYG2AvgKGc1YcISDXMr8XdG73Z4KAQdDNUMqIQban5urLzDn1gZ7IbKgTrW8dfOVdfHbn3+sJBVBoXWN6Euaz+T0D/hhTs2QbzPhvpQxZJ8/DTHpYLDtCJXKnH2nSgAk9EvQFaw1loogC2sItFE0FqHOhR8QzacSc0rRCnZhvdjowLLu94nsJgcssR2i7/c+ag/N9MA2LjP554xLWcntARcNVjrswEmEKU9OP9Tkjy7m5BLxg6GPo8UXo4ClvXnDFqyyAFJKlMaLX1JnCiZhiklBqLCsBTejlz8KvyAsmz0D2DA4NE//7i8HIsc+0o4txuJ76TV+52XhTGkeLHy5t1slCWnd3XhQDHd8McI5dRVmWTkvwRCtLR/4VnSY3J+37WAXtR24XQkywI/USRFDYpi8gd5yfDS2q58yDrPO3C/Wu+oV00iZLPjoSErQELx3moJqOv2KB1xBajN7ZX5jQxIFsREooZS0QPfaG40EItr221D6cV3GKSxqse55F/SmxVeQmIgFszPoNKbDMC0X2zZaFvoTq4d3kLH7CoyPqTCSLyZEpNfruXr0icgtsfXfVqUkKzLdu11U7muEVvCHa7jWtueo/29ORu7oLSEFl9sk4ZXVe9CXSgSzthWqSCf3m0SQaqs/72N7iivh+Bbpwr/wPJRB45uuNPS1racaWadydtmJBPyls2SMrqjfeZjiIh9pu7+ibQdjC3FYW9fXs7iGPxG7yuu15xNHXn8J6x9o+izBABqGbtxW2Vnmks5yQeu0nW723vn0JbTMu6BAkxQxU9S7GNEUwpM6tdsrN2Q1DTf5Nk3ZQ0Vo/ZlNHZP5vkXtlX53+ONm1O+obZ4dCtuR2BJJeHkZWsP8jY3QzSgz5gulxG49pqh7TCWGaTrYyeEjrG/i3B3twPe1TwyEOJiiGxLOf5hIJFcSfYGrTEtYlR5BBKd6SAC67qD6kQAn4VeIL8dugwkEg8q7EkaOJadDGJ1uwjrxqU/RjRA/0uxCsCdCmTEEj8tFVdrSay/G4ViWKIczYKpgFBUpHJb6cxWdGCX0ulVhO2qUEvoY/AFH7hEM/KoUv64P0LRLHWUSG3J9iMmOuTKqTngJh6GNV2WMriMQYAsaVqjBwPwWPDrsRwmhDad/eP8IIC5uDMB4vfWHWoupW7CGJyDiWeetFIi0H6fFKqollWgo6ak5DSq04zXN2ScncLvMyy98ISEyl0qtYpAm0x8SGHRxwfKNSmXWOV2Ng4UvqmvoQeTsmtPzm5pwrtU9BGBZ1bzb+gClm+cyQe1X3u+roP+Pb6pmGxx8vuPek9p+6abZqw6W4WoYjNMTa99s55S+61ImNYcHCquPGdhBhsKtOBytdFlhDHCrB5w9XzR8vn6vkjhf3weYu6gDQurrjZExa/dDQp/4ItBSGloK9deVfwLZwIogmbu20xL9NctEoEF82NMfSSfl4TOqW45zyiqtiS+k4vI4OsIsQrNuYiGWFDtgqxhcvfJEb6AxXdGQWfJHvdq7gy8g/tWcfGg8hCkhwHQPSCWsonfvmPVV4hRlr2yxKfeWv1E1yzAYyALAlOfuVPajCSORX1j2oY5S+NW9yL4lUbFVzWHybcZRaWqLuaPClBhCaGGjGvFMcDMATIHRi6LKrHZ2zRr09BeuRRSi5Wot0OFWsiblzt1mBa0oZhDyITKvEJ8o72/bifEGF6UT1jWgcwJo1KtI/QNbAPpHJuwelvdKuZHFvXjdiDhaPBtU+l4pwhg452w4n0HOMiULIJFltTFnevAwSmHP01DVGOD+dBXZwWExGfivEswh+ktKQH478TPF6Y63q23zq9Akdb94wP58mG8oRw/13/HOkFK5zmASAODddoZb0CkbIena9p6oYo4qPlqI8UkhhVGc+w3lm94N0uVUWCnigLm37UUk6AhaNbtMbQca0QLlKOVGwjmc7kgFbCwqWdX8t9lMhV1aTTLL2kLnCKwyHbyU3f5kuZZbMWc5rSiyVlP1TVf0COftaPlMBJYwCb5l0Lt/Jg60Vkial+UH6GnZ7gRO6PvnoSw/m9RlolPiQYQPZMBFagAveTjOKgRoqAVsxQPHeByHvex8XAgnpRPbwyJQsVXHyZ0V1hzbH8xYQMtbrd/Gy9fDfYmaXI6D69/BjyQejlFT7NBLw6MNPnVmPHZZkpH0x7G4ifWuRUGj6tde6/kn7Ht5+oFb/wvYI3pw1QZgxy8CCxnB8T6M6ngOXFKJBQhZpB1SzJV+6AAr2DR4ks3mxaDPSREI0wCSLDWhzlSu9iPer9dXmx619jjQxoJE0JgPj31dFhEV2bBJoxcW33jSIhsmheccWNKgyPJEB0QaeKDz6bVQV/BAeJYk1WrNX5thJUdTXsKIzv+MG5ezicXC3EN9GmZxBqzvYatohrP6l0lZLGVDbJ1eh+e0cfuCRYAvttgr7bOxYRecd+r+4Q6esag5c/eex6z94fPecyH5Abc7oGkXT+yZ672Mb6gpn0cr/r1QmjH0OmS6P1+++uodA+y28Sf44IJFgAxdepCDy5j5s33EalxPeK+ml3bz/Tzm7QzLAf50O/IbxQh1gVObreFbYYRW7cru8oBtUSig8W+z40/3FE2cZqVGLdtEvuLkZODldoHb7YZ1RYMtqDM90FR35rOoxji/y6CN2NkddK7mTsYId/3lLWP4LkDVPXsN5bWrTCk4zU/Z6hlbdfl1/DeG/3Axd+Qv/AKrmlM1IwmczqZMrhzbWyPPEUzHUP+HwousNzhF446xFH3NCS1CAHx17O0RBSd9M1wfu2Md9wdQN4NqHxJa08XJkpLWmitx1T86/7kNBt6YJ1REVWBMnu8G46F1VQS3Ak+SuLxAjqfRi2NGuXYqFrWWmjG/dNqPlGA8ChJwDOZl9odh2+YM/ffCItd9cfLMatduw4+4PR1r5Pahj1Ux0nAbuSlfs1JuqCvxNWwxZ4F/g4A4k99y6FAA1dOBOg14mCCwobA461zpKz90f77TtN3YVs6UVukjGO0ofPwBKtL/RwjV6KINWtRYdkpTuJ9sVR6gq0RpBtxuIC2INHBjTWycusrN5U8kzcuAfNs/1aLWRwDtiJmeeftXa0LVRIcjBRoFkbGMQ4G8Ck+2WAk+BY+8mg4UjYukYlZgU227yC52dSZAEOZiTzjkhWC0o9cjDf2Rez0TzvJC1fuv+wQ6q6KMm8TH2aEZ2lby7GlEkVzH9tH0FHgyWU1VM7Uo1gFgyy0xIBiXu2BgQ0W6HhqK3qaF2O71P0b+8NEiqbU6W+y4BJeXTZ2B6TLJfBm0Qf6v5wuYlLCRapZ5CN4K9kkGIbezflk1lhFj9OzqJzm9sOkbxCbSBI1iLjtw6omAPrsDdoU9oKkfUqHhi4mJO/u6rBOV4liFQlafDNekLrp3pq9GJQO+niPKMDxroR8Az7W4fP4+2E0UY+VY64DO28CocanB2H492hw75CExPm1k4I2rdTitP/d2yoOdT5mv1wpIobsg7cjYafWLI/a0Sv8mF9KXDZzdj6zDxjfRTKsY5NIZGLcESdtW4eHlezf+/vlF+OHnQ9RJbce/nX9T9u3EVUXIh9dhKNisfq8fvtVKGaVD67NiaFGzhcrT8+IRe3ZMnlFYOFTLt3HNVxxEjJehl/BAIVguXlan4DptF2o3HD5pu/l/mKVWIcjppaiAjTBx62efk+7qLrcyytAofaydF+CwcqVFlJPzOEFG8mUJYrKZnmEs="/>
  <p:tag name="MEKKOXMLTAGS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Kni7qipUQJzrOZxURA0/k9VOegrsKM74lGdisCG/D3bvAG41ylv3hG/GgO6xsUoTAfXAtIT6PDp76CbtpYlverwkCmt4RsYy3uQjy7fDnrY1kl3fsznFJ4NcOZrAzWqTuWd+f6LwpR0N/SognQ0+l7bUic+WMSXMYPeeBDPjMGCG08K6psnm8Vy6Sa2b2aBWyEvGRsEyLbCN8ENjVnqm46XsavOiwCqSv0b8ivto3ha8FiEAzOk87Ch2QItvXkYzeyigu/OUtAA/vtW2U9/UXg5JQ/DQK+/K1vTV6Yqpet+VVXKP4C6FlBeCjdkEqDwFJJ9GWSOKjbssvJ5TfAGYZNXpYlVCbjuJAhWVYWhvEwBOXCv7zHYSTmstObqBc2+JLfK3VOZc+4FkbBt2UnKABQO5v8jvI+ilIneuV5+oJpv7chs3KU4B8oCe3w9yis0eRVgL+Ph9BrqcxkOU4WV5dXKbuHj0wLXCaFTQHWEFJljLWEY4LKL6lPR4G1y9BXmc4X0fHxAo+idhsmLwjsEwFhOBpXuQXLSmVTUuRlsNKBbkwhA21o5gJ9j7B9lsJhImxlr6PyZoTkoTN0XuBkP2yezy7VP6DYZNOJj9/wEEhGekJLyhYFRI2nhj/LF3yRymlfI7aeineb8H3A+SjBYn6r7y8GOr/uSqblwRQ4lV+6T9lbhQjnEIZnAMh9hUbAG30r4x/QEfR9TGijpU/bzi0xEn3mR4hodMnaNgCBt/uIBjcRMflhtlhzg5/OnhgZN8pde5GcgzZ34y+BZTPR6OxCLhS3FwpfxbkZyF+ki15DFLNXoM9YDdVPmuxJzO1/WBZIYSUOiyhn4nOYTpETU/rWtdH2O1c3p4QUpQo00zD7bGtHDtnXo16gXjYxIYLZ12tr844zTSqM6taZlwEshwz6cgafi6eDZ34Kkgy7mP7wg8TmtNMdk2XYUwny4xwOyMSXCH9k3lHhx7z7UwvfrFaC097rU1ptus7My4mnbh/2Yum5hvc0W4I3OHC4pCIiFpcCnJ6DHjdJnItF3VfcEjXmQWAuCxSw6PgyoUISsMYACg0JlrOkTorgus1C34Hk5gMycCVrPi+7C2B/lnAv0fM9ePph4aTUW4fetmxRijhVViiHmxtmeDoZ8TMSRgZp+YGJp4yBmbUhTx9lLixD9SzsbazSzAh5+ZRAB53nB9wXE0IWwKxpHfjTsWMZnHqQI91B1ZuScTtqGmUXF/ujBxe73sb5wvUsyKt2LDZsdF2fRa8suXcOLVT9GLqaM6U57sBJN+psNAG3a0uIJ5mQJPSr6NoN9+m/3GmNUX7erMeTqRPbcylaSj+aqOw8PxKup/Liyn9j3i2//NKZZ2K89o4cChdug7/UHN5en/mn7j3L+v75U+AowGLObzCb3ZWXN6o0XrIlHP/Ln8SoxJJ1VNJy9Khg8JltnYLkLqdQfMwVBAYzQp8vovpBhZpgbQdQEFyH84mFVTYiJARPX8OW0D5PRDixQC0ywHlW0uiWt1Lsm41B2HvxhJ8Ht7rDIp9ZuK3wCKqIFI4YSugAlFBK7eDegt7+noQUEI+nZjyeVIvYyTUnzedY+AK9gL7dxTAJo/HOKvoBgFQNDrR57IZDT/oQoJOqcDB4yUc6BjbiKIqpyFh+tn65FdrRBdKkialRRRy5wxpcTytkjiC8M5MvQ9M2WX5JHf0pCfRRswpMfUdT4+uTl3A44v+e12j9qdfCaMoi6dJ333jeRUCn2XK7uQiBo0bNduEBu5zWZGlM/oWkAlvNpDM5K9XaB+dpdJyIDMCfnujPBEwcxvPHbSbSAYmoOTirJ8pEep1GKnZbEe0dbkg1ARv4K7p4uZTlox9Ly001FEUlqfzkHeKtnHkrdUutMAc8nQ++ULyQAa62Ys9Gh1OaYdTzzfnfYuo6uCyvhEYLd7Fv6BbPt7sSzi2cuRBr5rVbySgN1S61etsC3tYxC72BVbKheHP/Xv0mpC++Z0FTw4kyvAJ+v7GL8F9WsW94dr3UXGq5a0T+NN2ullJI0y0nRopJL9qTD7yFdQA/y+ddNzUTtgYOKzQtgOuUf1gT0llGYVB4Wc4bQ4hnomAuHwnk93aObYQjBhKWt3cbaTrb5P3eDQUfXlFTbo4k58bQ03pq66eluUJ6JqkLeq9m2G3VgfMWwt1UnHhdA9JQmoKNUiOVnI/FTWcaMPkwp2HsH3Ub8UOPogEqN7zBMPHJFFsqvl8DPAbZuowspub+L9AbltVzghRugSbqT2TdUGP8VsrLRPzrQwk72aYBtVHI3hVL62cHGjDXyGTOhjLFaTBltBoB51veEqVxx1/FIxPoXYxPQamjwzJIo1MKFGb0zDJHD816qy991JcOwTVIUjBlWIUngIk0rrss9Q3NkUQybhHwP4F4QVt6iuB0+0XCajVLXCM2ubxExJhkRHsff6L/IccSzbjHBmLvA4lq5Dbq/xJWRnkJvzwdFCTD0t0SZgAPwUQ1bZeRjuRIrJHqCwZQuGPoIfbXZnwjptQKj1m8JyA7EmF4opsxd0iQfiLbVkVLxsrblA5Lpc6uJftIRU3CaLDQ1r/SlTvdiHnJYltuUdufgjyZNEktcBym6/M9guzAqAvOivjc4NRzMD1ZPUen2r37wnU6VdO612i8JL7PC0u2bxyC/pgarnWQqZyL3F5+hsGYfRmpafyBa1U4ov0baL3rbHfmYV3DSF1/2dmV7/ndz36FkfNlMgI3wL/bb2jq6G6M4hchZqlSTvmHl9sZSt9tup9Ftqa/4fjjJ0vmTzcuiH9KSFwedTu08bqXfTVjRYIPCfmWgtmamgGcYitEp6A+maelpD2YM30DTqoOO7Oo4yn4j3cIrmNc9JH78YI6VQaxJsXXK8I7OsBbdu5BiPCniHTqdYNp7CvinVhJ2y4FdXB7nZpg0Ir8iBGSWiA8BR49KdVMUm7/ZULoCRXmA9uH0M2+OUDut5nB+f4NwczkokO+GpIGv5ewoCjEzpqrHyDsANoKo+TGlCfYu3rx5MfQ3Z8M3g19PrHj/Ly/HUB4HKCYfG4/XlxHfEhaJTHqmutYJNscL6L5EdRCwSn1ww6fYSTKqEfL/Ag0PhWeSNVDvDD2zpaoCe/gRTfqSru9ZV5D+yHiysgSHxf+vYU1U8KMjnniuxXbYaRgZSnooc99kbPLtDeSFC0k6DrCb7ryi2kV4lc9SY2Em8OM7UpXTM/OjRbSCv4R61AzM9QdyPg0UzGz0cR4Fb/xu9TvqRFAI97QoVuei66NCoM5+UWmUlRb5dsNwFGTTpnwHSOvO6JTphaPw/QwHOKu0V6Aj5FsA1LLbMjYvqf+/BA1LLbPf0XR831UjuudFqLuDVap2KtsVDuE4j/r2XaPyx9coQeTpm5V6N1+h7nXgUuDeOu020YriKOCi6bHnnEVruCJ9+dq6inrlvB14CMlNieU7pncGzeHKY7Meb9bwV7/UgWu76bYfOSbSUNd9h5b0aQNUexxyFt7akHDs4sQdQsBAY6xaopReEVUXpc31jfOEvC79Pg6JeQeQj9whOZ/3tPVjHoNqV8wHgcDzjDmvM7VbGEfrko0/FdhJDudy8oJl6radoqJEsOF59YPk3MXMzLyeYbQaE09iyfdLvCj0QA7oWckkGre5GpKk7JCLk//AQapdqma/RRI7f4wl8hudGjjTbv2lrNc7/ZUVANGIq30fZ+KcyJhM83jkB4qTA+SLXwSTVJsl2NmhCriblY0N3AP9HihkceH227NOqMdS2vx2r04zoap7VP4N8SGYV+KpAg3o8IP6xMei9dqCBW1Lytj/BHJVjO2k/R6KwJYVnzv2IVnFYxZUv0+YKereZIidlvw71UmJVBPXBIV/qW4vUsivKDyoNIYei5nDmO7WydkqQCsNP9M0Bol/kCc6jnaftq3Ts+ngFjzQo52/mAUQjXiqrL35qLQZC4csFx8mjhQON2Kfw7bvYvXRGmbIpdfawwalhS1Yyld43yp03XGH1ECUTV19zWSciXaVJHPytE7NxetK0WA1rqS/Bb6PMzvNvQyAwdEyxFlFMv7yeEDS7ktJ1kqEXIHCXBiZaZQL+qcSstc9utmfz36MGZeFmhAcjEJgSuw8J+Z1y2EuRNrpAyUO3O71K/uIAp/Ej1tG4PYI9m6zDwU6GZDhsDUoy2TSdsbDz9Te32o4T7NAPQ0juNFgdunyhVbsckoU1wiRWsT6aWpxJSR/rumZZgu5FaMwMe5mM694Lzxl0DKv9Pp6iGRpfzRKRfv6pgUb9tDcAMzAtut3VBBPo0q0d8DwuIPj8KxD7B4nqai/ga05iuvO52SCwZMPqA0M0JE/vbKLu2cjs6Vx+3ohlupj7dirYbbW/uAK277NbmWr9lRdwsCRyBmb8AAinxWUrtDqH2ZssCyc3dkLAo+ZJnYtKH2ECipAqG1KoKxV1gnyuU2/w5RMmSDoFBsNAhBQiru8An8jlmiPNidcVl5VyUQEEiu++W+q52v4fMTU//Q+TmDYlEaM0zg+2U1RsV1RMdkxEFCbVf+hKDva0Pg0ahbt4L4tj2Rrnpm7oNESttVcowVpv/mg7pQHNMBIjWQERCsN4BZ2alNTDH5ROSkMNLRau6ryhW2sCaQqBNWTuhcAKdviYjVH+jeLMFtHbHUXCetoKq39E5J6ElF9YlJu0r4FbvVsj0H/GMV2rlH7iJhE8HI5jBYMGgTgjqjYNdH46Om8bp3Y5B6hFIs4BYB8rwJ7DkruXwmfzJDD8thp9QmYmBNTAVD4HGzE48ssIVMaS8gOLAsmsYG6QTSwt0BpY+Y3h01v1iazqtrqwzYym01SK5M3I9gJfZUZWpWvvaIpOwvrNjnZAAO2W3Sn5UC8JNb031xCcHal6H2bTx1CATsnNaBtBukKZI1fQyuACDC3ltnQnUD3cJRE9UYp8UAhXitW3se4AF6YD7PNt+0hWeg3ALBGgKrWo+OhBuWgMpBXEjts4r1+j0Dkd1YRJ2K8E9O0v82dzoz9lb0i+9jTt4URKPJqeoNxIr0ZWCa4sGcyHjGfLCCE55aEswvuLScUCjs6CxfI6w628HcRB4kcCMkrbNs0HdJJLPVxDKmVBEV1obK9jrGbxolrBuYO7OOs4XUBFCyz/+zLvj7+39/vTcQeCKcfNDYfqHY9x/mC5czhzMbR84uOc6s1qqQwF1oMGh0XwyO0hJXOM2zVOzdUnzSaYFg36iEQfaSoJkGSEq/vBlm2cWY3yi2PHSr2v7694D2Y2VNVkpf8lLCcSMnQmBoxOpYvLsFRPdyri/nICTIau3RoSIkaYpnMbtXJU+RD3gjyeVuTwwE6Uu7KVQMqNGqHqLGLQJWA97ap5sXXCeL8rm4MHwD6Ddk/I62+/hcUSi88Wc9QIHl8HUl5conzWc+ypMEYcbOwCpCQhJTgAqvKo/hto9sBF6YE2q2vVPJhvumhKiE/QS2jDxkmQZakHJo3GIoU24FdpRBST2DxA7rUVgJKTEeXl95dZNSd0RwRheFOsGRSA6bKiUbdWSpkwUuEmpjVnPOnDrRy6VajWMtPFTlAZc4AERh3qdW+wUu7Qv9uWLwU6XzWz8RYBSJb//I8lHxPLjT77JUpbhP78TY0MFwScn9WNy7Dj1Ko7YI1brtpqXHKVDXSoHEEHpyWyuOU3LOBoYlm/stnXiEcvIqt+JYe2O3gRktqDjB3JzJKl2brTRe9D4a7etz0flBS8UfpdMSP7B/Oclp7zlLjXPaotKDTubpMFkqrum/IpLVenDjdoqNd+UMRSZiAd0hgqXo6bFVbSjIPod4yPpKNuI5JlALCKmmI1RkiiiS53MCecgmdRbOSO4k/KvHrbLJdZClT1nMqetrEWoHg+CAj22dCgG0jOVyqZo1bg2AQXO4NVTUp4klTw2UMhdNnoVr2XbgEG6m/t3Tg/kFz0Xv9oQhfPi40NTqitLE6PhhoW1uWgIx6PMEgAsfVWNiStiRCo803X1wdyul22m69zgFb0IkS/3ozOVOBMncN1chmqj7PoneBr+pASUsLXkGI+6ZKfQPnrD/3shJCPgRHyEjpL0NnJeTNHaLBYKY/L/bM7OIAniD8C7YK459Q1Om4bmw4PsAMy0A4MoIcgHzVxoboXoAT+J4CBpvFwV0tSdvkpCpjjj1vYvfkHhhc/XLChA3usckSuaUNbQABUY6uRM98Z9bNFYOimbgmZTjZj7akngabXEfOOH8Sz2PhM/lLxD45hq0adIj4aUvLENPOG4ITUj2s8lI5RkrPfeeBm+Ai/zA4/vxT8EHxGGc2Ue5uS811P5grW9dV+o7JnwFYxxCKnTTl9qyiFYz6yh28vn9o6wvxi+Knx9MAoEcnmcR9x7RcMQcRg5SuXKgAFRz+cDp5bzl2U60bfkUFVXy9ceJ2aMNR/bwQ8KN4IhDY4gFdTH7hiKde3arjJ17BNFDF53cfVfcS2+IYcggKrairO47ebFgT3xNXIBHmj8lkjU4dMiKKwiFUhSmIt/3m1qb3sclVgY8EvOucjKbMhQ0KKsWFheAJMnvCNDyporOQwbgTcXKRJCyiqprjOqEhtbo7qzk0NoGS0QtflS6N9xYG8F0D/K42CgCzGV6TiWUxsN4S6dJTRmXwikP8hTIA7vMW2UY765gmFwybemG2nYjR3EKavG3ZoKTbT6CA2TES06Am9PBisQUAxO+fq2XOoTjAVSpWKJG9lXkji4OmXCTuiJatn7Y99Da9yK5uZIUb+i462kj6AA0+Ez0XT3KDSUqveCutzceqT7v6lD3+o9WwRgeIG8KdkygD60Ya0DCCxF8e0H1yRKQrqsaUedxRLU6DQ4p2oSwGEBFKtf4yYsnKtaz/28RPvOSpTM/QCLB4hnEu0QWxPKYtDjhyN/p5qgEkVg029hzG5ohNJjIhhW7NtEQCOmNPcA8+LdmMU8Lg++ktr9ACeqc674lcH6zfVQ3TgZaxeF7/m/3XX/CHu37ztKyQ+PCkhj4LPHaGtmFS4/35JWU4PiQQp3oOFFRpzxUC6ZiwVTHn+4B/nARE1c+nYjyifCGFmx+VNLHGCHGnPxmS95gn5oQQ/lXAXYEUU6jR+uQ6eAFqWSQGtSREhtd0xmWXwwK0t09acGzHVT7fIg8BOnCJubMH3pZfW+P6ENIAPbq4tz9cDCXHGUM2oBjI1z6tzZH4lqx4FqkLBDo0k+EKY8tcOcAOtFJRpqdBRax5toBLef1lHUh3jyNrrbAVxD82aPuUnhubuoyvqfkOBy1l0Q/GERo89NEKmML+YvQgvkUZmloQkLlHPbbCQ8NfkdZmDPlDAIVtlBOh5+Yyb/LQod0HBSwEfEmvZxq1aloIT0qnRkZJs670k4HoL0PagGdw1qjTjBkBgf43DUR6kWeoIe6V115qFRuRjvkWThq9HWXB++4Oq5kovb9twMmjzU9KwCPagduHSNQUX1NOAmZtkhGEqVCeeCIBZlzHjlfp1zS7lsJOU+/Ep5bIJHkNPMHBSjYIQvRe197cKCZAgY4VdG3w9OglyO3w0rFNmbb53/bHlY0Le2FnTwmwoi1b6ZvTMQFHSXzZXErRkFNrnvJpbsN2ateBV0k7s2SDJmkoln590UFzSG1Tlrmah5+cv3GksgArIClTrTtjdH5mKH3PwlXhrF6LnFxlT5al85lLnUp7XgVUXLyLy0TpTssWjz/OnLd63EDJQuIu3mhOJHP9LpNT7/GOR3JPUoUYT81v29K9FlY9vz94tKlh08yIRJqJ5/EJi6TbDuA66kLg3y040vJkZompZiwOVduuwKHBUi1yLhE+3TE5t73LaXNIEcKGefEt6l5ms34UjrzdI50pBf62s+DaF5aaJVmvZnO5FdkRL1yhixymIfpntosYAxUEVwiCH4/xXL50uh67EV0totd4T9wEr6O2egxUxXsJE9IRhxFNynFj87WglUJQIa1sN8gT3wZ8HHkn7LpZg/L8S/UKT0B93iKukVAQ0yzw96JyEKt8PfKya96SiuL5O+0oSeDh/f0Q2BzNEKfyQMUdXI4JJCpOnWKVPbsZCpkPJzriUMxWChWCo31bns4aikoqZxGnsGBmr8iCF/FFd/I5b5bs7x+Ky1Eeu7FIgMws86ZQPFLDw09JLoKnAV4nf8X7HI+GWiUAyutyrhbGFPmGXvZyvdUTneerGxZgM8jbJu0IFNHz862hvNtQuM/A+/0zYss7vHYoducXLxKdhyQqfZHenGkMFhnYlW1ONPS/kxv31OFH4CjxPMhftO3zHQnYsFYDqJ6r3RIozYVoQ7EC1FXs/yj8G/ZRiFZMEtOPrpx2x04e11dKpGqrLrvfhbJZWuxdmXxc8SpJCV3pSZEWAD7K0jZMwuJlkAuEI1gAvPccL1YbQNzNs8H1XC8VNBgWgddWHf1ZDXvCDCkBZus0QbEcD9ecbEp9GvSZd1qg9pzxMMaaQSe+KsDyUId3Jr/0QuHokNbdb1bAaz7ZZwA8B6nBisogDzVijqJA083ipWYMdA7CnDsZ5EmRzIicI27hJjru6kRLqigmdIRQFswXVDM9UDRaIKuGItxYPndUk88dhoyjHqkGYhj29o1RaHPMyM77lMk8XW4SXEf44jfhp3pf0CIgPBChEb+55p5W5oQFjgqH/yWgarbcrX0sbqINGUYHPNaM0U6WHUSCIXhngfB5AJkb14JBoT65+uCWBgAiNXChZsJrc+UWb4JKz7sjxaFu/Hc/amJiaecBOk21VZL3KY76yar+RRFkUAH7ETWGDYmesZO9KDTqXl0gQF30KE91+kYOC4O6W+zvHSWB8HAAPyGhALY9JSG3DBIrr687OUD/2hLQYcwtZPFpD52OyCv/HxnrR/CsfQcBVebr0T6+t9dlvoumcBu6Vv58vVFw7ipw3F4q3sz7B1o2eqvub6FF83uGiKqF1KH0SMRFrv7FYZAMHbUIzWJyBd/s8Gug/mkYMqW35l1RrCYxNjHk/kCSX2qdcfM2VPtMRE2ZhO6IQIMfrsD8OUvkfmJBkMdifXW5RI0rjjNgOBrgo/VnXT2+gKU2/BSuCJJLWSOuehofw1n0YnZO/ZNrSA4dZWSUDPJpabjP4uE3Nw7n8j3wuCgfnz+TWoidlzXImZJX775zQUNR4ZjSygw/pQ3YDr1DicFyqZOnhL0C+w0cmrYfse9wuRu2ps3/mkYxp55k044TlFxxp3mdHurBFHqjHJZ9MUg2sNGwaC6aDz8hnMoZFjlUB/cGnJzXr6inJN9ECYwfe9uYEUo9w7h2NOL7qPsIsV+Es7P9UUi1oD6ZBAvMCjXpVMzFVwdkHlbwmxMYUNixoaxiSVT6ht4DDf0gYZPjeZAtvVmX9aJXLthRIlM8gGzdANYKT9Ek6bpNcdpEDzOTywTknr+0EaoATWBPSkkBU16Q2blAmvOZY7Xz6Kq2iKBwXYqdyTqz7nadZbUbTEqkg2QkquiRtMmvpHGXNiOvMKn0nrj2vl1XeW2KdimtWpkoY5OsMZbsiPFKnHy7WuX1JhJ8E6HvLMtqMXW7a+vbo8Jc2jHMyGHiVpYjxKzYA6tfOaqyGZhM57xXC2OMlG4rtzU4k6E3p/ot6uZQ1V9+FY/32I4fw0ZCz3q0ZpLmk11EzexL5vvis24CNTnFC+fBk2BESu0SNOLsS6JspRLYXRNbUSB4xYSrd1NkhrC339Ji76+8LAFb/DCGdSL/dutH0ghnezjLkKRR0g7FqxBQB7+FHB1DBnljvKac/65XuUq5Q85PJOLbjoiWKhHDK0yWtoiscGcKaMWF3iu5aeV36vtAO6+0c/BjO5Ign/FHa7JtWxV0nKBxNTPhnrglo8lqXj9F9dVbs649ojW4slZuAzF+YvplzvD4KWQYkvhQM0293Gi2m9+dH43MwLjVS6vwN64i2S0SuCvPaExty5pKcdWTqIrkW+xkxF1C1xaehl+G06kjSESzGoVxgoNw2b9okST9TSG4kK3EDsvheQRs2FN0SH9v8sjS5WbPH9g71xi80tm8D7SCo2vJel+PtyWAvfLCSuPQMwnmXompA+INidRnV2lSXAvPyYPX0jLAi+KsKIMT2wSfbfotnJkHAwug900Za5p4ZzzS80XGxDjvKrLtS1Z7GS8CSc2cwkJ7aH8AgiNmNINnfqc516wFVUxKZ8LuAjGctQmoBEGteLAtRonp+VTy2864n6u8FOYDprb4GbNKlZJ7HliC86Q6UMvxjFc32LnnIC/UEzf6iwf5rWWeMhtqWd2S9HM+WXg0F0++ZImlcSLpV9m6UPxGhcuinnya29U3EtbRghi5qMXJEEPmoV3wuqs6DRAYtVOytXsFmUb2bMDnYhGwPuP0xRA+TuptTYU2a68y3a7ZTKVFoDhSJg+XcVNVl8ObBvAd5jiarj77MxnGatiLoTq2NIGQKRWOMElS+2hFoxHtb/RJMwVfV1ejvRhO0W8e7bkfs5J/81ihfx9FeD/EXLjkoBwXBtBbijkwG7ir0XASPNAEWA38n/sIicM6mIrTy1wBTUvWUZEJ8Ha5evbq74kv9UYBnupc4UuU7UWhs85iYUxlcOM1zAeugVi0LuKuJ1ZangibliW+M02ZMCcLA1LqZuvi4EmnF65VgCsqb8WPKq2RCuqemon0ip8DAAM/cR0TEBvw9m+i6jjt4a2kJdJQOpMa9SLY4cbzIrsxIWAynS3geBNMQD9IVntxCfisvLt3+lr2DZv0h45s4zeX05Q7BZedlZ/rz3F6kKsHsMPviDoRkl3uyRhdstHkrwZ6BBkI8FD7eDi81Q1BIIJaeZQ6YsI/m9K98X+P2hrSk9L4ZDMgUn55HwmCWOlL14wn/zQ/ubXGxToQvWxdV/anHrZama1HZQUKbKVXzdWLK670++SqC9qt6KR7kqN/EGpwLeXKYs/5sWm4aQu+Iu3K4iiI2j/jCFcGw5GzjXJK0VYc6EcG3oF/uehBDSx4bY0ybgMzpSR+SC8CVFSVddY5LeqStJBC1DI/XffI9CL7nynDh/s62j4Q1gK9l/5NDmMaegKs9JLKjBDZq1cn0iTRlpoRsUFJ+tEKXzXeUbGmGPSiP0ZIRPDFmBbOC+R42SQef5F09LFYCmRGA+414bMM+7fVA8gjKcs4GAZjbq0xGrWstqQy/aG/HFCd35xFf6GLbc6cnx8d0fs1tegAeVjAyWWiZ5D5ayjdWvgwBzTdRPKLszaWhcBW+maUfaW7844pV2eJJBPWzao9o1v4MLb16ah/RrBURePPQZ+LiI0Tl4qhaKLjGJKQgkvbdBsJiQjLsqv1KVK8kHHEkxapeQudoTfLPbj28d778mDvcTGuPQ+iuUfY950S3RYUCO2BN7m/s61Cu3GPUFAZyN2g76p0G7T1YotKBZ3Ml5pUjfOlolE7+OAo03jfJN1qdWcypfVZatXBLu2a+IrgLmIkP55i76jcvJxlNxtf0y2mt6j9vlNWhSFoOsnjFLaedhUUpU+at95HT6pybhSRnVZu98q3kR30biBIIEUn0QwuX8OMWSg9sSmA+C0RIpJGMe67LoLoJJOWyHgsOJtSxLhL3g1Iu8mgXwrlHxMHju9JPaskLPli/VxuLDseVJ2/LUWUm9cG08w6tEj+5drJzyLsXrt0jrwVAJc+4XU7vc3U/S3aYdmrU+Tp1gKYzTCMbiRxRfL93/AXVJwmUcRYzahepuF9VrLbixmR3BBTci7KeTgnWYUdgBKb50YIKanKCKW05M1bLf+Y8nbgx8DKeoOEbE0Yg481ZoEFl1Gtpr+Oe+JaLbQKj4hJ6P5TeA+OMQlHV/83Zq2mTqldRFWxxEDHI2W9oY7AeVV/CK7ZEoilaYrQB3WUKsJRhSX/dD7/COE4jyPtVWRdq2/hLlYnCuht7xZ3JNtAD3wqRgxImZX/KnuIv9CZqQPU/b/qh0my7A7dDFOE04bVakbsx9odoQb1cqCcSce/jhiEGGmcGnWU+9RVCGFvAS36nnVAlDxFyDaxy5gGxM6Kl+kNymmCjQ3gJOZNw4mwDRFhrHELH+I5I7j8H0JgnE+1JCPSz8ztAOlY6pAlZ+nt1iXv6JYHkc1zdwtakFPld6I+dzNG+TFA+2TOsGjUm2n4FKudEf8e0UnfC+MWDm/UDiSbxlHv/EE8SIwPA08MDRXTAOgg/0XNQU/BZo3Ef7DDix9SWNC+5fakC3AF740Ki2TAm+P3tTTOJxuEvhSbbSdh0IbjBcYlZLawSbpE1pxTDJvxEbTj+ByqXwXmsxDfiUQfxX+KRBEMejoDZnuq5ngOV4GaeGDbpQL4YY6Bu2m49f3/IQI+nRYeRw45KxZAw+GmB8/oFgPQOrnzuT0txGqd+uNKjSeiglnJqYsTgGtQ/wNq/JMlkm1yPrFV6jiAW8wLQHzEUJN0eCknglf8KH/lsyif9PWfbh2TtvE6J5bZcOPOSORSZ9VuzeKCRCqivEdDt3pHJxgIHzROZjWcK3b6zOlCy5vtXKATWvnIbT8rrTNNuHetdOXxDkR3zeger6Mc2DeGiquYAz6VBpzPspmMg4eb3cylssvoLp0GinuqQOlPAYtUqUxOH/PvpXg4kB/Nnk8Mk6BVH/kiiefdYoIWlGlVvjKLUFLfinCM/4D5Sg6pfkl2piKRyZUaxZsnCLRl0MhZ2QHZRiS4JcB4JEwLItasWZRh5VcasVKWqZUi0EJdBixftyxD62TUCifmGvb/meIWdbkh8l8DPNoqgi5yXmGyPNoISvvFJaVLptDB8PPJaQ3tktd/xT7kMUAQeX/BI9StVzAbyUifSX7nhdAP/MUYuR5kgNpA5bydtyN0jGoYkU3rquhmO0oHDEaCkGqXRm3UEMRW8f3dq/bNxPvMU4g7cSmE3PRYr++UC7K566qi+zbuObsxaymDHHg9X8GeeooQc9l94IPLXfpjm0PA+ywrM086+I8DWpuj43Azqa43NekFxT0pakKNgkiuIIpGYsklWuumOxsxp7frSTBu9Y8X12sXXMxxRWS3tGAJfTGMEb1FXiOZvhuRiEtyc0t1ucZRuDieOtOPKEIBjgvEMlFpFDZEknlCe+oPREPIedLwHRJRVtdOEfKeQdOZD0h3vOu3kqixjWWdn7pX7BUcnzW/a2Wmlaq5OBx0Q25R5kqDyyMFm3h+GtlvuedDyBwJO2/EACqdknAnncDGahg2mvWBsDSJhFbdHIufe34ku8wNeUvOB/ZbnnfRkF5TtrYP8NX6HGeo8J+dHu/HwmpY6Eip3Xp8F3/+xltdNFdN4LwPBKmYBR8Vh0qZ2jlKx6viUo4sNd0kmMChTIeiKEix0N3FcpU5Cl2SpjAyYeU2MWzUDmDWbMSEyj2pqtVFsp2808Eiq1jMCa/l1H4RUhObFjL0SvT1lEWP1wW4D/DXIqEfP1p5vlClv2OMwnfiIi4bhiHQD68KL2Bod4/qcd2W9PAB/MvazJtxr6uU4Kc/JkY/gokumo5SvJh3mX3lIT2Yzyry/iWjb6mrizDhsWQh8iboQMrTHVj+aeRnFbM4C3bpjfDSNaC5eFl54J+/a42xFK+roJx2/TngHYuvuNMt7JpUg2my/LepleHBVBPuxiXYPilU3VBqUHVxLCdjEZ28jcbtrFuJ4inLLQcZoEhXMtAa9yol7eiBJEHlPUGaAhJwyc7Fr48WoFB6BxpPuqWIqmC/8owRNEAAWbRc4twRJ0Duiv5lOeWz3tRw9Wj5wBAmA3/sPJHv78iGH4UbrNQ4RlJUzXPC/EjcDtDG3dqHaaQ3zldvBql3AnuJ43ucpsZgnIpSy84oubU+gpWkU0glgyxVLrWhJRdF70E1iXJyEk4Rbq50rSe3/7NFkoYQPKtBNsRyxRiqhvnd/Lv8zhQhKgtCT4CeRsYXM5hyitrxJt/jiKsxDQnhElh3+LB+eSeVU/iH8FVxARCLC8oEosBPMUzYGgYsFmwgpejF/5eUyW4mj5NbLRnBdJKzLYqj+LTLEJs26x/6aYnho8nDLeqFBqEUiNpxVbAUg1+wP5/bKX6k+RIwJlhMl0I/+VPWEYRZkpOSOD/GIVMqM/yZH08DMiuUx1eRtLGz0QjFpf6ziG/Q2AGo9GJNru2bi54wk2wh3ztALCFkT8Al77hKT4T/gZESWAu2YkLsFgQizonw48uD+SgDw+t4ZUreGtdEd8iTXaa1fwkSRHN+eTv2I7Imc/pCY+o57nHp3fFdZ//aKAMJ9cfEssVBZfYjni2QHRwr3tEu3q1eQuOIbCU6d4HGf484Eq6W8W6diswGSFj1SEpNNlLQSU2yPD7lsgE1A/M0PFEEvXcCLlcJqPVhB2XL6sMjVlUPl03GF5K/77Plz2grEBYRXKYYj3dXnl+1F213WaGRgWrzw7fD1tPHHaUxCb/aRSkwggW4b9/Fxp1h16DqlmhvWwenpAo5IeGhtC/Vcy6SFk7A7I/POMzYeoKDSuEE75zMv5R0IVaCwwftoYx1byGRZvZ3Ey2NGzl8LhKlYp/P/5Kj9b6i6ndxowA8C1EsknxPdPNPSSfM42zmTv60bvC33sqI6NLbR5mTb0i+HsnE6GmRMxe10Xyd9xPIQGEVsD6Ya/mlP5nlbLnsK6nEDyWV7jFKui1uF5fY6WfZzawYunWmQdQWzoANjUPLhW/YJbFN8/JPihqNO+qOFl6wzL5l5DeheSMHT+Z1KQL+bgJyMybKLhlCZw8ceB9kiaTIYZtGFacGNFm3pdUNKB+bVBBOSPVVG3hSsXBgyy7dkGlBbAE0sgcfVa4vXqH3Tr/Lb83xBFrVu8LXEJdT52F8lJfNKP3j7S9zSaaWOUBatL4NL8H/lO2IU9gQJOkjZVk0d2zfKBLsww3KoXB4xbVNvKIG2NIt0H4kToc1obsB1McA7c9xjPeYseQNdd3aX2TB7Dr7bJnekjNMIQtV9ixyS/CPcEP6bPkyibBbYCTmmPpE2U2epVDw9WYFYpZpsjAB5av+pz4YzunYLOeIbGFUgJDvneN7+rjp8iUQjU+HWosrJ9hcNtdaMms6ejRJw+m84Xc+Bayo2kNySIJD4JbTF49JxzhjwcduvHJWMxbf7FLlErFyKnEGZzwnp+VZO2vTpwCL54VvP2AN57jCvj57oRY97zf9tJn3JLxceP8KPM14SMkLtFgVR0Orgngaeo9JsOTkfwFIKVcNGE674hNcHefu4mspZOgDvHoh/geTqeVAOKD5IgQGz/a8C17i5xB0POeQwUGE0tFZpDexvKEvsPDNPFzvmKuo5bavfH7q/qelXxLGb/FUfxQrWNq0dcSU/WurCCD9l7phNFYSuxW93jSuxMcLW+h3EYkn66HK22YZlUGy1SXDZ/nIlzpnEQq5ZM/irES1bcQFBhl7QKT0mldP0hHqzeXEXeag5USiyMTuGxpIGIqm6UZzWj1DQZZ+M7Jxby4Mx9WXHnhNdVNJyzdqMdK54FOl5WS7pAnNuY9/hVvXHerfMBMAxI7UAcoI+CQLOcQn4LH0jbozQuSi3Ftaez02fGYZQTtHSvQ9S0qg+J07wLHIOH8YYR0/d9twWV6b4DUHOKQIf5z67FHAXLIwIb6WV+/MYNcyFZPRnffFjvVnkLgPrXqRjapwwzbRknmW2AOkkiPA/ECZtbVOINjHg22CgvvW6CqLw1K9J0PJg2k/OV8InGm8l7F8q/9O6Xkb6Mc1uEK3okU01I8ZAWcd3vv1IUqSSUawAy7LSzPr6vvf4+PntJd18d67PhqE3cuJIjoALAhcFP6YPhhLToPvuo660iqHEl4BSzQTjaTNs42I2bYIo79n6cA1riQmAmk5PyXYLZ1fpOtHwBLc+uZwnXReLO983jasO2b/ANihNF1Up4IwdiXv7MulXoRo3WebQbO0GxcHTIKoQF7AXoG9pTPFjpdRVf8b2oiSAiswd5CACxmf6TLOr8rwp/dqb7xo5AeQDYke//wX3cyTixazshvRUhSt1F7jqlWtC3EXG/zufeAmx663J0Y0ivf5g7BquLTjN5RUYZ3f9ubfjwOm4wyXFybtJS1PFUt6CpqOcBFWdJrZRY6Po6MEo5ifT5njx3pxUf6ChWkAE/NMX482x83XYA8cPMNMDY+/v7fvxPi6q29S0J4rDTAKxiGK+352xlvTznuM3/Ene3L32rLWSn8oRQ7DeJh6yfnb/R02yTi5wBsxDdlwVPtwYWGYJcxrv1MeiNcgMnqnhCwCa1HjYJBbydwQi28AabkdkuKReYgzoY41KLleSur6omYoPyce7bS4TUZal5muacMC3oWOqw3jpNG0zhYeKuaLdXccZak4JY+EsaI0BxY0a389iYjFTHzRgBTU4/E+3p6SGGL9pFElZvAgjd7xxIiBZEOVC1NZu7sD/hxTvtEYFS0Q4v5GwgkmM60D/2toVQIyOHtNRSjOFMBgsWEav9N5PY2uPvEXBZo9T+Vbgx0InIKqrxDgj5i+urognjE5ZsASoHR8u9h0wa8couol+U7TKWbjr+jYPaMfAo0AEUdVTJoxT2SDqHnXylzHlTvJehunhKZuRk32LDZkH/UWJ2MQlVWxp5K9umyZ9e2ZQvooUDXJaU10GmTdh1VqgozmccD/X97CZbQCOOvdKrhnEnG3L+LqCp9a3IcMO2NnsER5l+6RJawRZjD27Ju2IBawiykF35PVW5prtzY8C0Io3/z5/qawZC+ehAFPl9m59UqSD/KXHO3jc64MOdhJhFOOuslwQP/TuN55FpKs7Dqozm+HMGTAPGH3eBD1mSe56XZgVFwyClW/CQUQo8k6Ebv/oks2ZhO3Y4mMMC1eYzZtQliniMfsEuJyAwgb2pzyLjoFbRrK1dAZUBCLTL2aV9WDjIHGGYp4clf2suy1EOt2KsO9jHQik6REytcRzJHB7cl0TufwPmTtGy8GoCmf7dWzsvD2HNYWBeApbHcOdxJ4F3Pdtuz/1oiHveQtnG7wlLuXuIstajnTre2TvvwEG/gxpUt4eIGXNG6G/nfBao1IS9xpDBvAtPvkpMktpuuP6T5tzawYVmOiIBXEa7oF3/KPUwVu3FnESg8cv8AN0IhJs9DxQdl+9if2Bc2MpHXULERhhzkrnzmzyEYaaS5voRw3+G06EiBydodsYbEC9mlPNmRM28T18h2lLUMEXuHgWn6as6429nEj1P76KnKGJuOZjfj+VV0v36VQ8kztGwxtquI8aobFGPeIedA88SO01OoyxeHtiPvaoFsIPC2JUttwaL2vFRY62PwsBAryUmp77zYTKDLnoH0LPF4X/KfwDhlhAzzgew01iZQ0Y8tgtHBIQIrsvxV+zgn0J5T1NCrJ/DxDOxgS7fGfniTVVYnu/1oJw7tCfqRZ+hbSjggSOn+F/h/sQJlkSnAX9ns/tyt8gFEhZAejkflPA0AktSu8tdoPVgKLjeIJPQ2pbfIyBO1o+L7to8N1H4n312O+Whg8WB0SlEBfZ7sT/9bRnZlQwsmAFkNQNiXPzW2FYEU2aRzmO83gAtSw/EBY8e0yD7IIUBoXJXcHKODFPTqlR7bZn5d6qc/yEb8Gjc2SkQan8WH9AFf76wJ0kC8UHE2xCfSoZ23q3CEJP9Y/gar1zKqZugR8VFB7ZmLgY9dyo9zWFQhZEyd68CxR/TXW2cigxZ0411V196aExycEt0iI+oX4AYbFfVxd2GMf7bvJ8FDTKKkU87x+8AZ3NF8zco18wv3Q2zerIgINynatJrSsSbJG4qzTZ60lG+QyD/ITXFh4vlMU1LR7GpnSbqluLo7CYHfnNDXq+MV6ZH4QxEop4xvdGMM7NC3ruoyUDhBFwC8FOf9gg4b5gwfOE/TDT883mRpcQB2AVhSu7iDm1rbjG/hzyvSz4buRQpzyJAZyyKblznynDz58T795PII/MkQHToJ2Q/p8CLnDuDzGSm7YoT9AwYuR5rkoPLEXwzwdmX6knehjvl7PitLCK67IyIC3Dl4sBps1Zks/aaYqnv5qfl0gEOrIIqKOVs2C7QGjA09zc73gaCvrdMUeUGC1P/ZPhaDSq59mLb85afOdRi+Ins9umebghWoAR1dq/Hkot+JddysIgcdPtrpWbX7UQTvDy01Pf9+FyIqvSLEhhVXSAZ2upUXcHElNcoj2JR5wsOC81AERAFGzAHHaqqFJCG9OE0X3CQy2qJeChyn4UAaco1sVvM2jxf1v7omcLUAA85mNgv5TxgwPHF2d4gRnFDjN9nZoiZQEeqiDVdMXgn9yMaBemp3ng1vKzt7ByuhuRw95b0qZqS3f6wKnlaO4h8NEToPv8dY9cShd7S8RxCMULiVLd2Wr5xOdGWMTqWjnZhNQlhW4igLdW8dpQGub6s6ykd1rIuXxqfL/OcHLQNmuRQjiqHtLrochi8BRM2S/90mQlgONkpXun/YvYK3y4BcU91rXZ4VAnd8xB7wTpJTr5p1wbLk6e6Sr3sqUOS742nMmEPFu3kt4WPYkdSB6EHvl1ik8iNgc8DNCGmSXnd8PSvvH/oGKE6ov7zFXkpWJ23oY45K9Lf/tmXLhpU+kwvWkQzYS2rrsgD6fqEUODnL+ojvF5Fvm09jdILEhZhHhSO3E3ohmkMCgN66ETr/+HNyASTQlaoAR5Pk/hioiLU7ZmZptR2rSJj4Caaoan6ET9roeFdpMm2LiuhpBGby3u4O1RMz6izoIqpT3cKVXR2QW9lJz+f5UHjMJ7Y55Xc5mHtoSNrJqQlitmZ5GQBc0/mCe0Wayu/On6J8sYQrwajs4FBCSiRq2k3ka/DEHvAyfpTdpJj/p+cLP2dPMx1KGK1nITY5uY9RiVKv42Do5qrM1sZguHAC+X2/HDhBMTdvP1BFEOrgfRgVLKIPLUGRmc2J377PVFW/72JNER4potXoYtfp8b+w80CMWa1/KFRV/uX6E2OuDkZHhlrV0PxbFlUIOuzhAlrSus6I9GWLbMynZY7nxRPU5zsO03/ZxJFJWETLjOIYV3pj9xmAuHTsEAoApeDcme2Ml12y+CWUhq1fGQyJ7c6WNikP4Hu0wGEqe9aLORL17YWROkcd6GIy9tuRJySXDuF83Fjgakj7ITc8AsHLN7TDA0urgY73rsR7zoZ6Xg3BHRQOMaNOeP4UgAexJ24Z0oSXFDMfzVqueEpTiaIwLogL2AJ7Go7IWYHMkC3vCCVcXzZUrHkkVI3QsLa6p2rMrcxADyenNeKsKNEpVFolgBRU9bIgtbch3hdkiqQiLir4XSrGMjHXoPJ85mstl6FVpw7YS1FyEuhrJO6zy3pqkBFerJfF94Yzu6yHn00AVmsqLiAPar9WhV+ntfXqYCGv41fY7FzshNfBpFp/whdpCPLsb5vkqi5OsHO74dUMXzJEV+rDxv4W2qt9uGr3Aui6cH7MfC+uh48Xvqacxz4+VXZmR/Ai1P3blvWNDLwzJtSKCYEQX0xNgecpMjTC0ydEWptXY3jNlQxSY8TphB+mJa8MAk82XHv4QsqawL5FRCu8loTDv4FeMvr5cMT1CJ8sdD9Q1ucGNOxql/B0qZTEbFV+rv5NsnHA9xDuoM/8xJA+SG0+mxNwAmKzBh0JsprlH5gSYa+XulrDaAIaXl++i1t972BTagNjZgY1j0cPci6T7z1O1FNm+2t5dOU+ah9+/hvjgLtKAXzIvoGjda/WUhU11cuXnC3A/kKSYNYJHnNeRSL0yLzdzTsPlPygIRDbX9Fw3MK2aXryTr9EgfNoKyQsPJyPV/SC0nygRa5VXSLkrbe1zXjpTEp3V6xf3RCbMWweJA2Y2vDV6dZLpyoUMAdQiAlLgrbAxOwooA36hRxDPqM0x+LXhZscPPn3XghRADHchV13Y+sUEn53CKZJkxopIOjNUPt4ATnx0UWBqZdZ43ivQEQs4fklSZPemtHarKD1ohePioME3bDNWanA4bMPMIUFRucO6xUr8obGJaRYxT3VOqTK2DyKhlEpITiod2mw2XURlZ8RPfkzv5GGI5HOPLcZMRmDN3sq0q4BC/vu8VnJd+MHmEeGErEbmomd1Il/orTdwz27yTH7OTue0YuB+egBQYJ+Z2mPIi3RfBTiUaoq5REzSRen9tbdxfJCSWhs9OM+vrYNr6f5hKwZk/jjzJWPFaZkaLQPHARgWvH+my+J1lFSNIOD1n/r2IqcRhQwDuOWgea0JpL43hPoEeW4aJgOkbpOFARKLhmHZKClWlzDDszmGqxpZU7LACwInr3/gsF6pRvNC/vMEkJBeIyL2Ch2piR5YhQMNd95NXQd2QBENG5yiOfkWZ2F4J+6/3y1fZXHxCz/Tc34vxBaHrcmiY9hrBGwr3Na4/Sr8r7Np6JBjPyTPPQncUfrYs9Y83tPyvoeT4MK+Ese2eTIU+zUk/EMiYPmWp2qlqYWKMiOztXYz44CQzDtp1yWZI5zfpjTzNC/bmvxTgJW5mIcudkNhgwCg/RsnEc1++Oji2rXAhObeMLqQqih/SIlPAbNdkVXzPSuYCVjgvA081syxm6b+dsMJSZJavS+ih8zKYuY/TdQz62jkqjt4IvC9f8SG1iW/TF0MvKvcHqwXmk5CX/wxw9fuvTAN2rz1nhato/qZGJZ9A+a8fS24FH30tmSMfqyYTWzdUwJzfYkEYK9iMC9ocnR49uIXKXrhi6rKjMPqznmdKH1I5/TZETiVMmEkjOZwSRHvaVa8/no3xvow45Twh7cLGfI0tx7RBLMmyAEJai8JpfXaZGI0JimON4Ltu85xEookh83GEWE7jHPsuSm2nVsErKUo7dEtxBALvcS5opkzjtKfibTdPBVegPdInryeLcjttkRLc0MU5n0Xo5vzVy5jHVxZ9sffWksL+2zMEWhlz//MvaLFxnybgqDCPudw1+5lOwL9hX1nD1sh7GWarqhrS4SyjsyMCCw7aDZfOdlDlWIE0CbLSXYjuOMl2FcfX0GnPTW9mbK6DnWdB6y96JZck/VgiiKHyH3yKyeinEhnZhaspMtmLd+UYHluJT9t5Trx/1KT61tncZZmZgw0Bm59RjKPgh8PXtALzaLo2yzXZcXu2AVcjha95SA2f40yG2S7yuLaY27yAiipNebkKXdVg+ZINaI1eUh5I8XEmT55nh7FvFrgZ8/V4QlaRcfHpJ3aEieOcDEogui3wrcG+1i328azXGlx7oOJdy6OyPttQwSqpbfW2E1gBJVbZxxAx/XUwLcUnyloMx1dGufR52TMZy2F3kGvaBbmMDc5o9VNp0mRC7yjj/9b+zhU3Gr09wW5FGT1nGaDWAEdrb1rXnZSNM2oEpkwYbdM1xnpNdmzIKxLLeu5DH5RzkesHH7Drf4jBUE1Ayb+dS5kBmGIdRYEikFADVwAaRx9ZEq6BuEMBgt/be6WV7FtEypFWXhNSe6/5Vuu6cwoTvLrdhCjvyMuGm/Qjfqqsu8aMqbLiv5ElglJTHqrgGDM8qbJKIpUA3yTyb6BAEwmLiI1KodNay0OUEvHvIG5z7lsWRxMxXzOPJrF1UnciYqHbZJQ7pCGjc2wgJifZDXnyhuqv5Ya9T84ucelxJW+GGb0CnywiMs16YxG+4M2W3GkeOvCAiw1HbMJEkKVjbSv5ElwmjT5AWbO/nkJYJ1tesGCGtXaaN7qnK7FvqXQOCfN+uvFmFbtEJSXaYHm4uVe/ZjU+tQxuPrDyKNx3oPEI0T5gVx21B0T9k22m8tJXOr2PkFvDow54sJRC20lJ57/G9PumWa67CfUIdEc4xOd83OV9NqXunpYaKJKrTupTiYgvjp7hAiIheFQHLItULqT4W5baySww83wPSyouaPP86ifTYxNBbK8hWkaT4i2SZ1Sb8QaC66fOyxaNIFDx06YQXtv2Rd5Er/g+mMLYtX5zodwk50V6/vle6tKNiLLm+AGeMQJ8Eplci7foMx6fGXoVfZkEdrLof+nAfWci/4Tqmn62xS4JplI59FqIqMkbkC9jSGxI9rhqpUlsiRg1uisdj9c5ZHdjla7jY/kpnxluef25nxGuy06mldcvh2VnIfuHpT99PUtS+fo2S86+H4XpvLzg/rF59nJy0WPoTg3Q/bd63PvDrFkI/Lxp64sGDAC31jQ8HhLWW3tWTH8y1WDGZFJM9A9+QWmTic+hyYs+VMtYoZkI6OnS+DhLsYkTzOb3OwSKOV0wI+84YJRvONwLHZqat8lSqPrAYCqdNpkmwBleqnJG8cQHn4oJ/HGjVxgqr2MELpj74L4wP3+XAbZPUM1I8bsUQ/3J2o5PX9F6ox5LgZO7arruYKkvqiL9UD3lGJEBIJh8+eyzYXnUU9Hbem7CKZ/59Quvt0aXf1E8ugZz83nwRUMLx2n4PxzeM0QiNAZAbw7k4bFL5AIg4qw8GCbsCURpAH90EiojqkxWMGOIM2wxyDFB8iiFwObPiWUcxoIW/A6BTIAmjlSnE2Hmznk9Y2B54Yk7v0qSSVFo96Dd0YA7ntcJPvoF7IoIBjwOrKxovbsu5oV6SDwhKOZthG1GnlB4k5AIRbSWsw8PHOerlezMJ5zEJYxl7GEcpiFPgRkN7RpdU9jzuVst6yT5eT3zLScU25FhrQufn6W0mQxm2+NxMuhFytIVJKUIi0USCZt0eSkHj0qLPBseYSIQkG6JNtpZIMJECYI5eH49vjFKEy2eM/YEt2VahG7f6v5+W0bFpwIuE6+TJPYRF3Rlt7Vy5A/AXgoBPOe0Nbmg2Ee4+xZz5j0yabG6rSqZuooURfSlJwU4EV20JPCL0xk5+hhxtAUx4OmDpW63oOTGXjZ3MsapGgV56xXI+4lzVm68U1Dr9siGKi5d2HN3QDrhsy6pXB4ehEO+Y5ZE4eKjSYwfe6KYumcwHS5yS6mhaAEL31wwMXrDHPcKyyCWOZZ20ncHf0DgFu8wD4FdbMLfayBL5UywCF4UEwGQlHMgdYEYfHjgAyFaC8TOO9aL0oghUf9EgfRDGqDf+IkDgkTlKHKWz/JGliSHEP/lvKjbSHBsHO+fsKlBkdvwS7yBKKxqQ80omiEJq7HFzEuBy671qfeuQ14TwuqmoJQrMEyRIhP2AVWr6yehLmXAtPyacJ+N5Gj0nT7S/ohPN6FQ3Y5jjkCsZRhIJ8DvOVZFd9l4fvIBarACGh9dULFP3DF8oKJY/T2Z8JFGrmzzOmW5KHotYBpgAowAjoBRksoa/eVaCrmNHox2bBtiBzeKIGFvD4TYjP/+w/E/14J2c+MhBw9O0KUlg7VHXUD0zp8ItUrjAQRraODHcX3+3Eq7p/gzUPw8ibjRwvpYo0GQWhxykx9coPR3b8kv4k3ac366PmxtigC7eGlj/MxaUjlFoWdn/TjpDpIvszDOfzzyhCzGPyW48gxLie0mt2k6DfqLQLKszb5yZtMBv5mTM2O1KRhaqBdwmTeX2fH/VPD1mw57uTSis3jwqg6XTyLDyItAtVfQXFn6b/nO8ZPBIxyD+wgBFopiZdznlTfx57ciSpcwiD/1eyaxISwPucc2cdJWOlWj8Pr3SM7rQf56BEYjbo6VyBejJDFR+9Ad/fkD0gVXEJC7A+FoIl3I0KsjdtD5atIl9P2v5DdaV34YzbPxYMnFPD+KrA38FEyWgkQ/SbLdyAqbebwgfcy1lCzzlBBA8M7Aq/PvKfc2JjSAKwf3VBK4JdMyGI0WK2+Zeuv9Qaf8wUShuWeZkDwSlQQTyz8m6tzxJcYeSFzy7P3DRanhbwm5YCBx8pTjTTTdd3zhU9oxY5TbkCue0kD5Y0ern47pRquwYXoxFrjk1XVyAQt7P8dvUXXRuNRI0G9Mr/X69KLtb22+hAP2n/e4Tm08GXWRFcMqNEIp4IEdkHV2dgcxrbWt/pUv232ET5FHbQPOwb3/n0ASJb/YFKwVF/BjRIjl2jnP1FhhSG5EXfvOcffjtnw0Lf850PjjPrZ0FLqYWxvADJF/lOPnGdZ7cbKaxtyyocssP4Qy9YVe6QZnaDKVIiKZW8eYewvrEvEP7ufFplXT+1AKAS9ZW07V5J5IMvBW98Jpgj5t0iufXr6fziKwSZmEl6oCvQ+KDucyHNxyYk/e03rRKkbFcaYjgBZvAOAs24kfj5Zr+vq3ewG3N9Icxsfk/PV2eQkr43oCMuidZ5rjjdczpkYHpXQF60habPEW9XNbAGcQ2F+kO5G8SQUu3gAH/dj3v0jB/0cl0k669LF4UdD/CRjuzZ7WGU2quM/15n8WI+gtScS10ln4ejFvqv3CQKc9X+iW0S17Y7PKnYdg/Pd3wufTVwZyfEnPhUsMWlyh5+E73VfF2zYLxJWc0WrldGeTCB+XqZmjl8RnBTefdkKBV635WJQM10tHN4hmxxtjFqMorVxUbbtDkYAk3sLQBwlzeMqbyd0wUvzA46wz/r5PcJtL9XsSwpdj56AwVlSd7k/OY0RqiW+w4BvIb6QGNYEyriaAKPWpGfUjBdzbi1S29CYhLmsLfF4smoh1zgA+/P9ZsJ5iy+6IBJ2tnibOuz6J87QhA7IXTri0GuWOPAaZdCwRJ1+JvYtM796wdglCO861PF7FfVvryOM0oU7XolX/XA59OpBS7iy1PKd0vKiU5Vt3Wid1RrRyyWYmATLUGBCBVGkGk1Q6ShqEUcvgbCLPHy6Ol/yZ02tntw+6lOwH1OISxRreeqwQdt7kJlOL7coGv2HCtqjK+8dygjc6klelhmxSGirCXylJtyZHyNymqvQS+rvVJJ+m9TfwlveZ8TlHFqlMOTsIyinMJm8vp65xAS1Mie3lPTIv/7KZGjHk/ep+UYJi1QPpGETZ1R45WctB4+D2/JZ9W7skYLAPN1FLiVMf6LSvmp8RctjxdHp2hrrzQ1H5uadGzVtedNPySkLDoUHxlxpfIz9eHSAZkISET7jT8Vmh6N5vHhbnW6GQx1UhKXuUmQ8oHVskNcMywTVg659SUpW6to4OAlYRbY4Lyl20pcyv168Nr5IJ7vD86sYWyijEbvwd30UGjVU0xDa/gNgtLs2vAgTO0ElrnauR54ec7b7Lq0Z7/ckrwkBrxrPUaje6uSBGarvsyVq9+uSbIj7T1bkitRMlSHQlYmm9VRfGuNfNukPhIXQ0q+pZ68h3DlcZpHDJMSfmGhFC1adTh0iwEKrm77IlaZ2UERpWWF7/ous0zWTRiwiJlRHnXNdKIew3FDB45HppPEcDfXUI/XQcS3qvxaNKyx9hpsGmHROh/4BCahbfdICSE9jgutAv1fIkfVvOJ4eYz0VuLVqv6WXz+nn3hlKLeuHUGLR17tIvGssrzijDyfEE4rP+xuUuAGkch/fZP0U3wv+8xWbkQuWlR+7AZbtvP9cdyR6vgcIOC6Q9+HnjvUvAfE5MMuOVUY0NVXFew+yFpbXYj7tGTPdH+0AaxDGJ+rQ6IpsvW0MtEz9zIU4eMYfmx8EEU08+pflsoi6wvA4VAIMUSbAA+siFzU6MXcYhLn8Zb/WvnYqRbRWjVpT5wWU3DbkhnrAOM5y1yT2ADwYbBD3m4lwCckZncKLbhgWnVcs6MdAaFgnUTmNzBGnNMgmm2CkOJPxRl55xzmof00YSYfFFw7b1lW4y88XQzLhliH8ckoBKEIkwqN9nGZc/OBIDXYFaCYKRKlr2nSrOc+5GZmmupf5xY4ERNAOMbEF3t/+sfvNqQfQXr+Zc0z6IpQgEPXZTm4DMDrRbS03zmt5oDDKpOntWrjY1eVgSdZZLS8wMQg0G+Ox6Z5WN86MFUKRHS50+fEcQZDdDBIDrt/6vGJCoaBE6dWn5JuKsMAOmXhmckFh56YDj1NJqVIaRN+owQu6DwDo7teRy2K7+HYpqSQC17NF86sCzJgxoxXFtDKKNf9qk5i1lb4x0eMWWswYvy6yk7MgCx/T8X2BkqTm0ugGsL3igD/4Ist1a1BL2VLmxVUn5j1K7tuNM3o0OtqfyCEb1/xZVXQjTiW+WRXH/KGf9ZlzEhZ4N8nmwFDbCw/QWzMP4O5h57AjnWYTG9JVDju1z/wPBFqv7Rj3MdC1Z8d+LJ/FqOVTSOxMmp4g6LD/XyMz6xlq0fh30a5iipBc5sH8pBP6omhmurBl4CBlwKqlT8Dp7EeUsYeTk2zNF2MEXyt1SCr8JFTfst2kcIbOSr4oI48cS2xHcpBo/g997Lo7rNZMNiUsyol8o1RMlWnk7qObFmOM1MaXII1LyWGon7aOEvyiC0Q1EL7KDQwxAcPDcJ6IFFGYZdQhchCB2KtjBfwiJQgu3Wj3oMkVw1Y97o31oi1SFRVj9mXZboefapNUJrDSsElYjWshtEtnFGMzbKdhmE5NAoYwWDrQqWfWUKP6m2oDb1ghpJMVIPXiTEO9fujZ3lPO6TE4UvbLe2KjNDsmmvOKFIhOvQYJLr6QuNWr78yL4rZFrzIInzKgu21EXsE/rVh8UfiTw+cWKDsa66XYMaPty3B8JLxrsHMEOnm/Ii0U2F/NnbjoE0StfMeP4aGBCsWnQXYdKTJ+CjJGlcW/uBh2/7KKZT6Qo/NWT40A+G31OrHYFtvWcChCIaC2RdN3T7hhWqM82++2pZXYn/oAaW748rW646YBR/w9GZ5g5p9Exo+gOK5GLvECNOI5EQric3H3RgrlMDXfm/yfZQWXAstq5UVJT8BLp7XZO/TsiuYZ7lGzHSLr2ms7k1OwJKori1DkaLXQi+GbUpEoGquGHCVXhw0xMD77qezJPmlR6U0BigijPrqf2chMDteot/5lsu6MMRTWT+PL17/qM5VmX+cScoZJXBOUPsjSd9tnWZqAMAeIJNn4x6Jsa5al/ZHWbnumdtuL/KCO3o38C8Z5T8jrjqCA9KzCqw7cjpfmY+9zUA3ywVjd86Ykb3Zfbrt1DM5vPv4HGYpImXydlDdo/w7xCNs72N/xCT2+/ftSGJ1aeKohmDpCwqLmPDHaFf9vGDonWYPvRpYPXSo1/VJ03rIZw3RTFe2PW8q0WfFM2oO8qGMCoBH0KMUbY1oXMaWi5LWi2125fBe0/x+wASFTKmEHY3cAnJDG9WSj4epBo+mbgirF4Zcv9gAwXVYcgFE4ZuSK4JSzN5HiI+hQ6esBzqsx3vCwmNCCr0gSdMVumsPM/H60r2GgGrcpLo95g9JKxyiUiITH7dhIb0tOcV93nOml0oVFqcIfGPbDcuhaHAXx7kdNVypsuL6f+On1Ju9tGXRWMxoLZoE02afX+1fyGg3q/DbUswe7v/rsATTfAV5H8/FsHhEdFt4HOuOkZiVh+0aEhgvU7PyKPX3EpCAL3AhpMmBvB8WVfYfFoa9H+wmPoCdRJI9i1Ms38JKkLJZNfvoWe+GAYVSkbKI66wLozAyB+tru9dKs/nlYYXffe5Ll8raq9rXeWRHK0h+jGMkasNHj02rsbaN+iP3yFjl3lM9MAHdlXQyeY7BWi/cQcjIX3wgejJpYujRzk4SWHeZQA5W/w11vgG4L0gPmKZyJIoK7xdeNHAB/QBkKMFpvM3Nyf2Xu2aNI2ML/I/3KDYi4rXTxbm8EPXH3hn6SsWeqrNItlqNKlPiojUfrLW5/tLMlrudoHGQSvcl4dwMG604R4m8LWXK5bP4+VQ2SbDWWGyukYwwfQSn/tegIOmUyZZEkYIFbZKbyhtnqVVtuLmnFI5GGX9TeDs+S9OimM8GbWdftZLUMnY4lqElGNXwhnOdmAaFxtbd1SMXCHa0cZHaG+pgF1AIwusi8vnir1sknnCKpUFu6x8nfzGmUP5bQSwpcv0rNTGTr3gB0OzOPKhqMtn2LcY9KZuGOm82OlSz/sgfP2tEYHvCqRjX1v4IzedIPcH4fZdnl0fFUeu4Y6e/h5cZu/YSoAs+pSkYzVwIgEo6Y90TewMvdPjeX4Xe+yl6wQx7E1g4mx/43AkmwI7q4P1wbxw9HR1y5SFsq5EsMthn7sTLy17KhhT//PiwsFJj9BAvJc/RDTI7Fj/CSIWRXzx9oF9NIwjVteijqNXkGX2EFDpAzkkVVtmwnY0nP0daGa6OmRuVIiTYfR9pBd3oN1Ebe7It+5JD1ow2GKrQmZb2+bX5cDbIs+DrL+b1s+Q0mov+ZF6JhUK7Oo8kj8e2fo61/dduAYDaDYqanpDM36Qmvlinso6JSUixHy/lveCppAxORWTzo24IM09oHKFdQqcui93KSJyefb2MuZpnGap4eq1HXjcIogO7SnYd/KmFp3/skYUyUh/NF9zOB2jUlkOjbzsMDPL8lAi1MkWoTxMV7XlPdwOCSuA80OSjWVCDJD9XEK2Zs6kao5iVlrLGu1+1kCGE9M+ChbWbQ64ZD1nThRuX4huwVhUU+ak/CO2Tso+UEJpVGcFOqKMqEhZzB0BgwCkwcRSGt8RYcga0Ip7iOfyrJibJAteq+k+ZhWAx45mUHsTeiiPAx5ffqLW22a43pUsHwj01r5h9ViQAugzc7Rls1G/CJMSF5QO2uisU6Px3ZdgRYxL9mWATY0uRuy0b1eZ5ITDgbv0G8mH3s86EgVQBjxpwL963gg3lm1VMTcWYvn1Ozk6L3LLdi2mMdkE1kfrQTM0uNrNIG/RqPE6mgoL0IfddJNrO6et9a35QrgsIr1FpLDnqu/WhZ4qq0c11zwA7GW9MHuWwYjS8gS1uvEsHbbktA7nf3hdsg/UWKoPpgW6w2nbEkTtfnjl5OqW8yuoRS6Nyy46m9ZDNdoq9nM6LvZ+Ly4xzRuzBxbXqff3E0wHcn8uWbPHSSiomJY7ES9vG/oE1S0d7UY+FbIv62qvJv0a71PW775cGEcKGZvEskWg8dJJFoubRksedMsY5jL1jpKGQqZ/UJxt2JFc00NKYmeAbi38d0LzZ5NExE2J2V9AmkzA/NDjFgXvzh+g+ked0DzMy8FidOYQhtXIVSyl9zywbDMHdAnGtGwtrCF63mEuZUZcggNiz4N7qiObyC53xP2TBL4iVS2bT7e8GwgUPzfMlPYX6gsQnUa4oqWiEUUZSMOQ1F63zWcHLxOP//bwDAHpuhF3m6xBulaHD7CHEq2iDqMarOuxnKxqgKz4Y3cAWpTmZoHmuCWPeJWE3QbZcrCUCF/qJjycWdPHk8aMcBHjtMwNfcD1PgiUvIm5URTI4mVPbvP+MMXz+thloJYnHF80ckWuG45ICpWdMZv/Nscf4SVBRcozV3VJy9/dA1FCX9ztTtUYbPA+Az+v1dLfjqHAT8eP+ZC8Ns5u5Jbu2RsBXf985HxEded6VAUzjlRbc5K3XzKfjL5nsosrUnOUR5qLv0I39XezQT9bRryoWYlBdt4POhc4b05Ip1dUtn5/HeYShPJpzueitCg2oNa3i9oB9GlrBfBTE5rRV9JVL+7Q7f+mzpfz+9ANM3P5hY8hAMzH33aVNM7kKfWTjyT10s02AKaWgmMaRHJMJ0LlX5yhgma9JLr7dyX/Plj6yOo4GNJo0CbPngvT9fyeBOV+mrGM3eQ6dVOHr0GiZm0EQ2DWnwrb60bw7MsJQXnrowiy+tT/OKxO/NFwLl8nt0kJ268RppuCwhB0j7jBdyiJHxCUT0lZ5m7raPekMf2HG3Eak7gnNt4jxRg7pnOilwAVjETdUFTBJUj0gqYaIE4vh4W840rxRHXrf9OlByPYWwrSGe5mjDg9njH6k/oGwmOaODBQ7n6P/WvLRDPhJdx9VSBQej4ZuUXg1ecJfTz1/FjsutnWV9vuLUuEYMT4i5wl2obuJbs3aPVODaFN0dKvSeDvzbkTTEsDJezOnhcWu07RxjYWr/WcytxcVe4qZiFz9LJ1oW9lcPlVOQE1v8Fe7ZFnAx88yx/nXrAi2U5MsDXT9zZb2GGPDktK0z5p3MagU83Vi98YHvQOzLp71McD4kYZRL7NTORKKRl+1s5wiAsU+BWR+A3/K1ZrN6fiB2zb4c9tVX990IcJotObPqBmZV3TQTbPIVXIxTlQuCax2itIfhUoxxbkT3AJM63v2XBnFSjBT31GdJda2TiAq7dmWfoYaIxiPE8e5TV0hgNff/HKcG11pxN+uxRoBFrOHFXHhD5577HLmhkzXw+WMSYRifklybgMDG+SuVbev1xbhsg+1aeSRkJ9rgcHEF0d8kpjwbjtel6XJVaSDK5EGTa7dddkVsPRytveuJk2QKhGyPL36hGBNjX92j+TSjJc9a+ANPhAbpN5RmieRlRpp9E1t4mVDMqFH5p3e36v0+WXHovSSOUD9+fGONmdqIfDEQjs/0os2jH88hnWKeSlJdRv/DlISnQpvr4HG3yZVi+RAafNv7rS1GLLuQxwBEc1TALH5zCrQkcVmI8eHf9alqhXeMZAM0DD/DjhIqPLoY7Q22zLu/QhTGVOkCz2myYxJHDLc6j3X7Ov7BOYjKOQ1ccSTz+VwYTFqHdFZURnHF4Kz1/paYDNagQRJoncArZT/TOlU1+Fy2Z1m99PFFi1QEmaLxdR8aXqpJ2AHvQeQYPa5eQKdKjDVdpanwtnh09hucsNuJ7o4AOiJV6ul8eAjPlYDTBkXpPfgUP96LoULRblxb4ZYZ/DhUCjorGH19PEu5CeVjOkkDKBnPV++vcIQPr7kGtOrbRvQb5NgalfNi8hA9Gdt9VjsoIXIiaJS4HdfDAu4IOfNe3EP3eNz4b6Y6UPXwvDMgtCaGCY715iku7MO0B9xolXb1tW6WkVHrJNgU/JJVe76YjESRi0yT7gVeKHEz16NzOjox7bc6sxYnalcTL40sbNmdxwSJ4WxJIrq/r0z7h90+oKAhWCslSFeLYn/Lmg4evoRy0mdZokMw9P8jRCA3PN9HYYjIvfLm8mKpmFi6HVkhvUMSyVJ6sH+CI62WBCVY+sJUla3YGcW70Q75kJ2qLqFOXi6UM5fmzwoSBuMjVNDYIHaqE7FrWImvfv33+lCOar1Dh+MuImEoXM21//Fg0hBAhmeLai5ILhnwd4xZypUj5Oz2o9Yd59uwSJDJ/nnrk4eyIs+DeG6r9212+/IfCNdTnGpD080B/aylmCuohCnHpy0GlGduV7TItON4+zQms/oEp76HCTt9YG9W8M2fD2/dSoauekAVa7ftOYivPlbScSaPtcuEU55U2a6HrnSdki7W8LWR2dfc23k80DzQfX016G2CtybDX8wPwG4caP/hwf3Dwr/gz6lgYuQGmUcP/UhWpDhz5hxj3SD4+0jr866ResLpfhs2n8yQB2/j/oajO9ivotClDgmcCMyAvzYOt2Zyz4F9j07arI5CAdoqG55FuaiJny6Of8XE2J9NZhxhgLTaNaNQp/k7R7ZpbBFx+x8hShhl/pY5GzjStNcsOzkKTmG8rutqmE4xizhDom3Id+7cy22TI6Tb0/cFLE53KVRbywWy+0KwETuGqvKU2ZmBiyPWYeYab2s5f3wu/yb3QdClMvQnJhOGwbVQ8M3lgvB57aBcV7vZOmYrX3bliI2Tv2YfdParNfPW21BNFvI4tYfDeo64zCZdKjg6WvUy1WhzS6Rqpd5uksvlEhNyOmT0MYUtaKqTecA2S/pPLokV0ffgbmJHsSFMD7DhI68dizjOjXaup9M9K9kUWs4aul7WIWngaVxD37JGGoWc0WI4hgOvC8gzEOqwH2Pr68++tGysbUaQSMhzDMVVp2VZgDNh5yU+D2YbfwciRu5/Sro+0EPWtDx6f1ji229H+kI6mIybNLaqESt1UYhadZ65nCxJoxiwUpNruJrmOoNMJxH9WYD/blTrG85ZbFP81Ldwjx6cZP9D+M2BwIV44TbzFC70pcTXDpYOw3dbTio2iKGtWd/JCvZiImMSXV3kkmwdfgNABI8GoRW3nwwqKgGjjk7tDM/ubQFdfwe7bgJCuxLEd/iBOS5Wz8v8izTD1CO/LqmyFuEU8IW09eD27PejOuP0Xti/vD/1TDagrnyMfZBRz3zJ0sL1EkPdf5KkiZdHJ/hSkZUOPo5oMrEdXgELUl0IVF3MxNJlm+UoV+6oukH+4BsTjGLVXeENQ2naBclY/2Tm14DkOXYOo0/6vb5Ptis7z8ous/GJsoWUOBrSBmsPuzpEjx4oZ6cTtz/SCqAVOOqlBnwQURwE3xVnkDk/z1KPp/teRCCfjpv8Y8ThkqcrzOzRSC1CfeoksABUqDzKsYZCZl5D9Z8vd+bcDl/96gPa0t7mQfZOeNVihs07GlzE0tahhSQVSOdSrLmp4PzDt6I90JPmNOo7drryIKmfdvN2yY1NmlKpT0+58ybpLoOatXHUmRH5MbpInJvRSyjwUu3bfxvrVF5Ta+cDLdi4QD6b7vldQsctYrlPCJMF8p/w+VGL2JIlsvftzlVvl4ztNKIiSLlbP6I4TCizyLFEQ61wj5C+Zmsb1O25nOGgpY8nfNp56W9aba3lvxQnMv30wr2aki8c6nUWczdYeB0EEhgzEUZEhcXEiRQ1cqGi9OSZ3DxJyuGeyOrbvBuhjdxIw/zMtKQvdDp531wpkjBRId3ErGid26YBsldI5yxL9KElKADBifx0WCgF5eG6vCym93l8tMAUNhIi+PCwXVPke5dTJX1G861EU3K+/EnVySxdmg25cwSp38HGFyK7f4ocP0lIImBVr8kRQdj+mQJ5dQBZU5rt+dHud2E1QINGSDb0rm6LD6tY50MJj8W+bON0nID+3gk2S+i00E+BbyD0Nndw9dkDAX+xR8qb81pnS7O7t8KSRXYTU7eze5YejO0AWVoWp+8CflYPZTGSM2HRQPG8ZDyNQEPbClhljxOQ7HaCOC+Nxl+fVCGRUjnNdcrta+j4Pnt3EzBZwQvs6zYRYFyyZHZD1jGW0j0Ao2cqBXpDtR6+AIdzliCEgzSk+Xa8wsTkZy/XFpM9IhU2vEvZeOp0ORr4yFtoItpHm33dOjGZ9WXy1laTmvL8lr06QZjiZYYbCFn+9sP8/NvyEVA0jzTkZtGzKkjgoFzuXGfNGxCBjdUmTLOZtij2vaTF02LhBT2nZK68wsBuI8lzQeseeJUYn+npXCEJfTCffehinAnn0jKKS/X5rSFYIUa+RQRP6Z3Ug5KZV7RXVsaGYq3LCj7cLbJGVSc5qnCxR73p63DwGzXCZdWR73K1Qi4jhR/Bg87+6sgiiZ3oY0h5RlJ6ZJKlgzqJFAp4Q5sp4KsngnyDqKYmL6j9nDyi8PQyONfj428mURez0sDKb07t3WjlrepzbWtZjAIsYoVRmxN9E2iIlKFCV+Zs/1RzB7JAw6FOZrwr5pubm3WADnovsC4egBVFTWqjmc8sHqsg1/iBNkagNdMl2suw+X9jsH8RtpdjkBMSUPQYVCjAz8sIm7D/HyA1vJLDhP7kJIapY94KuQ3WktjRmGEjj2MPM61cUhCZtFkh9kCyke2/GORBvB4IInXA57V3zX6jZlzST4hWK37XEqFN7QP97lKiQEXaOKXeZv/B0gxRhh/Bl/X0tqKn939BM81RmHCdJhXxTI0mP05BSccrioroMGnVLEomhrcpPvcgMCSaEyF7Nba/+xk7DC+CsGMt8l855QW+RTo41TD1FjNdazrwSQcpxpVE31iD0l5Gc2OLSSJRrVZ9Hw0pXIKHjee7AAAg/ykT6AMeUpFqbWyaCUVY/UTizUNrABFsKf3rBULahrKzEp9hSf0vjhdweeoBmvF5WUNKfxwHLOVZjcPuhXFMD0Ncujx06ndBPl2Uadhpuvd3Eb63vyAcv1cEjHLBtdG90Ik69JaizCwDtILLWSedwiSaAYrnm7MwHz/r1NB4CzkFE4qdxHFlqv1JN3VRkjUb7Kg4Qqlsvb6eGP1nNTtx1JYBt3OgHKA49Nzd2HogyDv8PDJFsYpgA57m4Q63LYEOlE0E9zKtjEVXZj3CVJB0BIrXOaqDZ/sal8fx2FMGvVeeNiGBICtbjy3lhXnQVr0S4ymU35DLXRHDLGPgwT8tgwU+8tG5+vDg/KdunfwrxUt8NwnjaK7VlDf1wuOfTx3+U5KAkujSBkzmywOLIPjnGdiC3pbZ8GyYtECzk2SyImpJ5WBXOBZhroygptDX4NhcM5tqv4foQsrlg3RflYAgV6dEI5IHdeS0wCRhWsHNYCFd9lY71oELLUOsW4C9r7nwiHsq9Z8VwQR6E1w9HI/8J6QlM7Bl6yrmH4QXISznts+237BA3IRR8fFXTbtUUSkpR/NooYSr3cvk1qvS/JmzogqjrzRWuy/AkHqg+HqjP7mCETSJNPLRBILDy6dJVNDprv7q7uj2azHEfvGYexNqkMCkjNQ7iZXdGkgYH0XbpsaXdx0MbjyeIdNNsxAc+ZLpb+RezzhwaGS+5/YhBWhQ4JXweZ7xjb0+0+BbyhOQqsDRBTz9aKxO9Vjq0/NLvpqBX/k7CcKhVzGyUFH29TbHO7siREfDpPW3MOikTrbCeeYqy34wylKsOVz2MCqTvKV/sKUIouGHPtM08sVGd5gtxr19xR4bMrL2gLYv4JCYUiqTSSLSYrfpWGWBsT4nlFbQocpQp22jEJhJ8wYbC3en1cwjNsF84uIc8EC07uMC4fnC3xbwp/yTf0NwLKmFm/Ng/hkiPU+xeO8/Nb5VzbgmboqWZ/tK1IQpDZO1fgR27ttdPbV8hvtPj3A2ei61XEDydtfl7XMXj1++o2H3bEGkeb9tJNe5Ssd/5o7wPNq+palO1Bxx2z0QQNP1YpkRsgaQPBmFjUi19ZLeg5fZOFS2WrTJTy8g7/3yqmv+7h29zhOtqpnswJbzaqd467s3dOqDRoOCKea2cKjUxBkQGARYbnHM2rUFA1/c6sTk/Bk5CO+tbcbC+QHpEX4gMBLup84LAQLUTlsdVTMnHvoEa4jcfDhsxvX3nOlJWiDw+wBzB1+m/3w+iCjWL/CdzVKWgxsHq3jOPPNb1oh9zV9Ilm5QhBlMPDB4eLaRkkIqUoVC8HZiNXU9X5TXrlDTQ4A8kzjAPXbzHVT7C0z8/E+s1XUSoMXc/asagzSLd/HNiNqBh0le5YoXSR0q9grZasJG+xfx9S6rIztj+GqXwUzxozd8qk9mvMN+/n2qLrE+/ecbyoMfr7SXYyNDSUfzsk5U+uyrKR1roE7KwyJfcI5BoLXqOKg3xdWYl7ifszrRQAVNu0eMt61NAHMnh9Lo8Wy2mvK8aCRQStRx5R84+BNtHYLRzHMBicV1z41b6h84ey8dl3qKOCdOPe9ZXQXnhWNaSA8m1Asq6r7UGEq7tzz9MtBPra3qksIwzGk2czuN8U8i+NIr6VNUctdisTIYmm0uvXmRHOvrS1GkPmFLIY8Y7inypKliOL/9A/Vl4NdEdbcVa49OPYm3XTHiYdDSTgsUCENUZbAKranGx+UehksltZ5YFap9SOtyR9NYy4wb9zNtvjHKY5GEhW0lG/+YJWzfJzSnIUaDwnD/esr+YaMN+Wt8pXQsi7lCvQODS6ZNc6Nf7i2+7MjXRemYPBvXp1h5iow7eLWt/VQ/883ijFOctdfJccGeu4lF4+xoXamuhJUNK4oGjcQxlsEdL0M30YE2DCYXoeMCV2825EmkAJASfcHHCMJdR0UZota4rtSI5vQyrfQ8dGsp4iF5lr79WlAeEVt5jyd6osptpaarbxkiFg6Zo4wusNOQKLEZbVPtDhK8gBo4StQ625xn0WD1MSUROdKQH/GQ5mYa0mc0aImhHTbqnibX3A6Z+dwDAbk3AztSU4PHEOlFyyrXqHVQeRIcvMJLXLSQ7ORpl+c5MUJngzZpKlxkvRGUaNC9r2lAGIt9Ry9ACS+oGSbH2Ai5G7cR6/iblY1fOhJT1+AxyCN2yE/fKOFWStrKY3xkwDg5/FQyNxEsSPpyeRANcol0Z7sjjApSVHCSNmIL3xw3GFvNRCpZSgy9PMlE7O6ouN2+Zh4eYt6yUiEXFIb5XhsRaiRm+Ji4aOF8AGnz5GS2ZjQyY2qmJVhj3by1dnSc2XLie3xO23rEgH/Vdet0J98gqNaZRDW2Cw6fFeHbhr690ISE9gxRlf0bAjX2v/N43DRV3qmN6D8k/tFAXw2zKKv80R3gD/YlwNb+eHZAgrEt+6ULybYtyEGTaClctf4RaLuHMwpjke6/lHfEfTmP1JvsT9OeCjKw5tRuVVxSAU6JugmWnPVmZmh0R8YRrSiJbAEZrKiX1KkBLTiSbeHptuIYn/+PjvTsb2Ca3K28UnjfVxQe9prU3iMtSkPfieFSqK0+47ddDnYpCPY48PCIReLhSAtcLUZbhAsjmySU/FM2sdFiumZ9Myk+Db7wlcqEb52aYxTK2obhkNWi2vOUAkUaFOvOcobFkZqFLCGHzN5MBJ8JIGfTx1uLT/IZFba8R/sKAux7yvMzzDjYm6kyHEo1K0A+z5CGP7NvUsWxjPAmv//CsIVHZFnhI8FhsIaZ+yBLhGIOQsU2UJuI0vGGKcTf4NLJHVf7GbweWvOiuJpa9WHjzHYMZr8qpxDmDzacbuwYLOoRAJwAAGJ1E4f2F+j9Z7Gf0uYgQsL0xU8BncR+41x5UzfJ9KIYgilTKf9eBcrZ+FOQEgm1RPuLuGolXYFIv8CQNmA5bNhsJ1RRa76vA3XL8X9YsN/g5ElsAo2WvRBmpU2CUI/WLgp+ruVTNQ2gGhGghUF0VIZcrjDa9HtDl8ExlGHYkcmIcEsjW6SCTaql+LVap/r/yn9s+4tS+mr5B/S8Fc7vncSN+wadLKF2Xne/2SMGvVLpYPQcS03UfVPjZv44aFt2TaMA1xXueWbXCOeatVPhAffH7SEf2sm2+1q46dIZKIFCKSv9fZVC8ZWQSZwGsJJw1uFkTrxUNtwV1WHhbrvL2uEPbnSKgQmWZIN5rXAd1zpX6LgZBixTF6Pc+8rAXjBFBFKtiT4lsbkaBYpIiEIoDx8LbWfEsrddQdCGZpbp3C2Mocs0wVzOGHkAu2k8XCsnHrg6i8mxNvV3VPAvS9l2nLPUMR7Vg292xrOoQMojT2+tXFM8i0GlUCiDDN3bQGX4djJJx6EXPGyYPiN8eD87KRtl8eJJoZ1k0Qx2+py96EyzzBXL1zwA/bW3J+194iCbeYpDP5+HjO47enJx3dyyQ5LeO/RTbyFGkL457Gg4MjFmI1hZ3RAr2PClLYHvnJeFK2+LzPfmoH1e4Ydu9tUyD6HX5lrZ4u6m1LRkKzuZAajRSZnx2yBiS/YE+bKOVHqG2n4SgRx7vMxZne89YSHBGJhSynnbl/EQ4u8bbw2ac+mZ6C80HOSXYfiyQkbxLWHxrFS/C9iKWxLju4MEA6k0ir/UxU0Psm4101YlQiwlIHhQ9YMOOSbp2/F7eeg9+YFNfSlxqbAt5n/G0KxE3/5JgGAhL0GluwV7wK1L+AGOARvY9igU4iUBE7cj8Kndt3q91pMLXWQqZpJu0CDr5MaGD28AI42EyTsDjF5fUqLmrGQDMO6icYB31iEzCvW1BBHVxb8ZxTRj9B41zXiw3tP943Fps0gaKHFvDEhjqVF3uTAIDw6jTYqClU4MxbetdKqWtyMDiIubShz71Xyek/SyooABvZbQW3M2gFd3UTRrpBFTLRG56e3o1WEwzvALVpq0uCRdxpQgWHV+LzlJjMS3eu0i4LHaUr2W4220dYhKLFt5OcJ9uJSy+9+CXld4wJ++2/poa5S6zcooDsF9oCNGKBPDL1qoOUwJATEV68AA6cwAaRfaKKBfW4K7B72WZJQ2RgdGvJ5iV2UVpsZEQkg9PiG4u1NAKzMQMSskSBdZFIy9y2af+wgm63E8wm1Tpjicuw0gB2f6j6g4UjMk8gGU1KvC45RJ2FcqErjqMh8Jrg5Q2MjU5mryib7jxrgNM2ujqMtrwbbp2VXsqzsfqabFA2eDHbvrD+0kSKcRUGBPTCzaol6ZrYLVoaFnP2k968t3akRGA3UZ/9YdTHjB+wTk7zntqjSG12aY+sMvifpRSu2K6pj6zyQV37IWasrPcNm/XccDwdolZ6oR4gM/ywGveNxv7mAcNIg16rJv3nxse2jfnRpoZ5Z6B3YfdxmffgJUxB74ynIwZrIS+eZUFEDuzpLoJelZrEMstZ/GlyDINBS7GumOJ0XnkUfQ1Z4+8ow4NOZttZk/LGtBWShUacRl/qagKUzNHdjS0rJbLPbMMdKtyaXVDvaMzE34A8rQOvcFhIoFQmzk+509KpMKa9r032NRGMFXoBcUA/y8GNt2/RPl8HMwAwizEYszAyMcCr6aBeHB/gwwbDyecH29c/BqfbLpuIhL44gpG7jckB2q9Xeh9XRYeg9Ppr2DMO2YRX2iqU67zPegNmBa/UERkiSxuaXmdb+zJldRb32QzMlwGGpcCV4gvK9WOwOjSwjkSXqFIXJHQ6UFeK0aBSGn8ce0U6nBCldV1sw0H0ffuOWLgpzRNdHjLLSQDVoX/MUy1RsQVizYycnUYmFmNQfvoW4pOqigZ67rmS9aR8JcExvSSitDCZcgaD8+2DHYxgX27i61QuhasWcAv9PsK/1TY115HI0bA9vWlUEPUIIWNzEkSWD8LfpjbovCDoLbjrNrX2OXXnHsXJ/suOyqebC1pqO8q8/CZM5iUq/p7aAfEaMjfj68QtbtecWbs4ABCiJ9063kq7a7aRODudt8xG2OVhMWLtEPrpAebl2QJvBYi5khZk/H49+4wdbdmdyKmKEPcyakrDNahv8CDDU1JFP3M5psEKHnCFImDbo9QrLSqn6FSIu8znfgH0Vxpl152uQ3SkgUDfUSHEaDLYnd6sCYQpAmjJYL4xaEtS6VdFjmtl8ah5+U9oVCEoKao7xJBCBLv52AKXnu5HKASv6tqtp0+upBa7oaThR+1vktmQ/AgfV3pQdDpQwuLWfYIvMSFZvSmT9ReP2wWh3ho28JkbuGhtR9Mnp0icKGcgjZ/iK8HWuflkn6VmJke1lHEoEXzi6NYWFU/cBsSjOgBNmA9adn2iDk3gwk22SA8hgVeZjrgyqFOyWENgxSqVuTB2Ytd56eE6wLVEABQwMXKRaKddmOXbTOdMTJignxZAtrPcq3Yq7Rw+xHsIaL4KW0xb/J/lf6GFJB2tEvBHNsnqNhvOIRhIoPxmx4i/3TAyVhCTNRTT351jzAMzYfPaI+mlycYhN75lf9hKwHjLJHMhE5xim+ymjzP7SbZCWWHdEgXNJHbUD5ecalT8PVl1iudDb+Edc20vkqeXiL7pjCAhpMq0E5icJiA5vMP6PID62RHaXIREMJN1STfZBXnGFFLf0T2ekiB24L9rmn9ayDFkQJBI+8wHaQopgiwKFX/ASgMcCvWV0rHQFnuXt9/sPtQqqj5+3RhFuNfdncJXjB2HyS3N0G/4qNamgK3cwbxp6dHf/SO3URi/DrlE6s1i0GAfHld0ykBOd5zJuIs8ykiZ4+SOsykHHEla5Xivq13WbUPmyz3YK36HJUWDXsW+nyxTZbjLmXhvhjB8bWRiDfBRO7ZZhYT5Kxwr5wLfWt9E8rjcDqSlz3e5tEEIA9mTCyHX9PYw1iPbAi9d+ky1Cf3rJA00zJ2qmZUKuvalIOYZ9B0Ln7CFDgH3aR56KJrpkwbPzuFJeTgXPzjo5ZQX5vTwURwCiw4bKFgjIb4oz1bWyLsINQfzSCCeDLV6L7udc/DewKxIk/pnlSv2k4DUpCqI/Z5lovHo9+jT6Kqx3JB8kPjvm6cJkyfjlh4Vw61JlzciZt47dbjrC6nrlHJS1luxtynydFA+Xewq/7L2dY1aV1H1Is5NcmU0I43tePpyhrSxFQ1ZddbvAEoXx6n/msCbRBdnL+p4XioDH9ZByv4MJNEKBP6z7FtqOyVpb2PfSKNB0YjpS6C2tprFJpCHNQuhINdklV6iZ+wqCdvEnggMrvyOur7ynWvhYKV/b1o4mwGc5hjwx9/Qv545keyzOUJSLNkTFJPucrjtIC5l1J5lkIcSCbTzi53dLYhrdXCs3X+bOFvfgNjthzo+dIFthDThQsKtym3YtCinAOxw794NfE20qoDkXNXiX+puce8rNf42lKk75LFYVxian8mHrvJQIH00P+C3QKQ/XKCqbJwpHkme7ipryxV99mAipSrVLfhxoan4FsxCaw2Krci5+/gtSjs4X/im1kzcuCjJtQUR1+ma1h0MJwm/BKJaKwmo+MSo885JLPgxVo3bHqecC1Y3qSuWPv4eF5MMz5hrS4ekpbVQpnB7av3+CmOkFVbOM4OMEhwcVv3ow+RAMoGJli2wrY6n6yuVDnivAO8FounbckadLCOIRydpcxN13E8RZ4AP0J9RJ4288HFJaL0CaFY5CpIELFEDlmqZw4R0uWpmoMJv+Jutwq2I+EnIXFJGHdFEEucT/ywDSJDGoljeSaqnUgsrgMbcy68BOEB4Ffd4WfPEDA4LnOL90c5E9n9MXsSUpn7DcYGEask8s6XkIlD89QZ9XsTKLKXACCo2GSPLPsjdJfb0nWa894Jh5Hh++nvJk4LuswNhB6w6HIpyAiBmzMg5d+adnyFFKNpF94l/7Rmi+Mmj3e0rjaTeBcDusqWUSw64Ty/rdORwzvVrT9VnkVVPeuJwTOZbh5WZnZAWZiphuQ8Dh8MtwDW3HdAt1AUg6dIyo4Ho6dBNkuUxYk2cMcJUPL+WKcKVm8QLY3UursqLWKoC3dkiCgEKBRkwkPtZAIUUJkfKX4nne0MYlemvVS66yulII+wmJ6uLCa++QWlfI5iZoaP7jYA/5U1aWyNOLsgllmr8kj/ViI86HL9S8/5fjNfUjnpkwC8IeR+ix4WYV/aMd4tON457BZVozjITsIXph/WSvXrOm3FJs+oKwtmHoiDHsk/YNUaFYoCJZ6Df4o+v244RaWo+Eq2kgvw/B4dIiBKoOIDDozd5GSTXs/Jxafugz5FwApcMqjfuau4l2p/K7tXggkOj5uDt6zmX4Bhj16P4Rzk7TNEL75Fr20vaqnw5eTiOjriQzSu5UrlWj16ALOFNlgQKGcH7acB4G3DYi56Jr/uvBH4kv804IIHkywJWjDmI/EQszciRdDf68ajLvv/CPPIFQXlkjBsxLp1ZkjkfZJHDmHwiDJ8YV5Wh/QMmJTnMsvOBX+DjT8Bym7dzGGKLBeyJd5Xv2/1DN2xQLGv2z6R1zlG520hOk+mOxdjjo2hNoYPMn8KSYP1dNXDOG2aQRze10sDzsCNBsbw2/maeFj6XUVTB0zYeFUPX+vbWJvGZn7CznMvoDum9Q3PjpWTIqVoe9uA6Wr7rfVRa7rhu3HKMS82AcgjsbfIwLLvBvqaAYKEswPL4HuH0qtQwCYnbdC9oKiF+UWpVIsftM/rDGMY4OUT/vOCiPT3y4mUiC7DJsvCg3TFgUASReh0u0+s6PhQpjJmvAiCwHaYx0MMVjC4BF0EcyBHSXRPA5HURF36CQc2U6pOQAoLatjJjRpxag236WvMh3e9YRqq6FWEUZmpuqFEp6cr6uGn1umGITdxt8aATOhrtAwtRQXGM1JWsBV3HXrKVSe6IJHiZNjhDnkozaMSQzWNuIgN6kaaEsjJUra+mesLCfn8RAS1dEUVwziRHMU/QBkYUZWCMc7cObI4TKTyW2mfY7c8jjkZixXWLlgyWLAKuQT8KISKmJBk/YGodTwST00Xo2uuwPqn9b14av8uyseQCcCie5Xq+eUoRFLLSV/6YH/rmAOaBuiQDxXHgPT14sHRjFIzLqjJQyQfpM9vzW3znU7jcCxrZVsKiRkKN1vQ08KUioTRwuBDI03JqVytaR4NreTokpBruevzQmq7BGvsSi8427gUAM+HC8oFqCZPeCWSbaj+1PiDivcnFMLupEUvkwC9sk+tjb8mIQzGLSPWFAd3TnyuLY6/xW9XlgLKk81d8KdpzvgoZ+jRf0h1L9i+VuJaqtWYzGJRca3UW5hvZLCp3ZYsW9U1wu/c5CXvR8UrNM5x53Of9ixg8NS6ie/cdcoyweT368An5iELmPaPrNBN/RPDj/C6Z3ejAuY0Wm+OHMTK6miY8GmWte1RBKSyLz5UBdT7cSQnyc4swnTdLvHlXmeSiNvPtD8mK6Xt2HLNBkTqP0+P3qqspioW5OLy16TRLUFC6U4LFkfy2CFIJMce/U6TUHglm08eXsWJXDpooMKuXs0haJyefY8qgxymIGNYd47hKRhWhcIxihP9gfSeQX+lo/au+Lz313ey/W+lDnwO4DifGwq6IoFpHk2s2nlOeH0bfIxY3pGPkwpM8hFyPT2xOL4W3SQbNef4N6IktaatTl9BL5Lu8HKE2+CjndjoSRjI+MxypdH0Z4sxUGUrmSYbJ2PDLkEwSq4U2kLByI1nTypI4MoxRWKN4Rgm2TzftsZSmA0xmdC5MLVOGgnSoneVverCT8l45Irp/nllHM1Azs1aRFo8mA88xP2U7H7zTm+8dNCBgHvTaqGHdOHaueYYcvPv8ZGICSQ6qVk7dRqzCX+g8wOuZL+6F6aSPu9lqJpAU5Ak1Z5n0HJmkluAZ1OWqFPKAzL1Bf3xoByo54MqvHi0Cx7NzLIosJf1yf5eAcGUQzR4GEcwNu5OGQV+817/CbEMwNlSsL9cgdMxoeoUhyB17bV51c8XYwlit768MfInX2B/B+AVV7qrLiywxzJD4Aghgpa93zWp4371DHomHfixbrWuuPrjfFTo5B5ZMHGXvf3ceBJ6fqghrK2wgBdsGNwPU/g/LKQ11iT0Q+kHnRkCBv0DulB6lQEkF8ZcRJ09FaDb6oyBI8xfdcVo6ZNcu57V4tUspTyLYiwT1NytjKSSMROQm/ZN0Btrz7tDetYPERiYvwQsRCYNgESbwrbOOlRAmZ2RufsLRPOK2Mn50vK51Qb8YylXaS1JX9c9JtDzO/aEhi67xzYaPQjQ/pkar7jUKad31OtF7R59YznvvmfEwKCT4enLwfuedHvnyMuAlKyEuZG3ptpJc1CbL1nGoAL3+01zIpF8/oTz9cN+TD9Y4JcYGZmPKXBXBZxA9PLZSPShNOj9kbKX504o93x2LpyXgg1PlGJpKN/UhUZdLOpSdfKMge2kEVwABW4vzJqfM70t0vi4WKFPseZZuh4w2/KK5RRfj1R/uWKo+i6FEoabNQ87L3mbH++OiSsa6lGDsFpOomJHkDnhXUC5T3MjtKYZmdMxMeegLJSLACsDDQVweGAMocE11KkhJ/c971ekXDYr2Fn5U5L2xmH7teouQ2IauxrIG8ZuUDGuI5jzqqwIg4zR53pRDBQucWbNGbl6qHNTvLWsbACVP1vTQF7TkC1I8x/eFzCvn+OMZgvqOENAhWoDLLqN710y07ZTX+nfihNmMGfQ5v4rEjXB9T2zQ/iDw/6QVU4YwHMDkqU7mNP1Nl3J5ji07B8L4aMgNsjdh8ft+y57ti/iHHbYfVrQaUww9za2LhtezFkoMJ6bLeo6qcdekmyXSREE6tInIzvmvqyTS1an/7L00WoeczRP0VTQ9R9m9Nozwz9xQzhYsEn04L9IDVeu8cPOBD6XaPCUZ1FEuFFSCre5iSwuFExMJiZvlUOI7l2iJ9ws/V8OsvcOg9EW9szCiSzeMJFmL1os/Z+Bfl0Vxignj9xjZVBLjXJzlXxBuQSgL+rtMT1N1gVsfCVUZ2z1EzlEcq9OLuqxgLDLRRPQbrFWBOdJjFODvDDCYf40gYnms6T4WgJN80OP+3PDbyfI7GDMTNzfCEPvPfYcL7x/0HEgyCE1M+vrLrYQ6F4cq/RyRTgzGIFBgkEK/hkk9gfYebffaiv2f+U0HYSLPQnyBJjkTHJxClZsDAwJgG5SwQ7J6AZhm5U4HASheze+i8VXKPrpJfBqFmsx2IxlOk47GTAyQV/rmOsMo1Q+RrV0d2KQFP7tMlxH0HGZrYyygk0XtnKhOrlxe57J1rR/KitsaMe0JCjfW78J6xk2r2+j7XLTxaFJ/Jav1+1wCONKKE4EZz1ry4c1XM0KV1cL1HfleUqBDNP42myXk+pPSBuHyrXvGQvHqxqUbUOEROlMjrD+O3QWSG3bY2XoOKYcpqeRNSGFOc8PWHXfpAFt3N0vXEOLbWl1jjs4YuLJwLYoe4DtXkQVwcfB/IU9VXnmiH/4yrH7b06YYm8FPlFiWV0nnimXX0mmMllxkwD6TJirZ5IBaIT8bp+jfCZ9j5fnqviL/UEYnBe6yWi/2AS10Q4nzAgO/2CE2U5EYl9BfS0I5LTtF/VJvFvni5hH8GUhmZ7WPvCwuVfHw2UM0bbUSyOtpR1Vu2tTjILEVErl8u6giKMIZJJcX6b5pHgtQ7xNLBNmOTquM83ehnK9xpnGbKx0AtXyCE6+UQPq+Nnps5F6YY1E9vkX9B+3r0Fftw7YXVJYFTSyLFvIBV7lna1SL2t+slTbFhPavZ3n7BlRGuNLz1cRDtW+ybEiSxzSlRhQFwdu9vc0Jkx0xVA6f9IfXW7zmoQXAvgXmj+68A1E1Wu+LppfAP7glntm+7RAmQ+n72rB6hwuoqDWV7KGKxK4WHuG6GDnestnqNH6nphjYLtAuRnDOY6rpTDqnXGd2dsYn77uYZmLs7tIGi0pi62igLaBsDF64naHpUo3BbSXRZP6h8mMo15xWODDt6wdeZvvOOF3jwWF+HAL3Qjd7iUWZsMgJYhX4dnHHOPvwmPh4pj5hAJgD0u6Fz1RZIih8tEctDPfK0u+6+BbQ2qdUzPDNP23fipRah/gTdOsVIZ1VBF6Pawvncm4ZouwSnp2ry6KJH110ZAchtkLdMH7CJXF8cKYUe110ZO5U0riQndtjexhIMMkb/ZcvtcYtFHsPib7cb6nI7XmOGL1na949mMNYlMhhzWmIHTVzuFzSM3JvXPf9Q++vbiWTW9qpBrRlmFvlq7VxfvYFNls0g4TQJN0x6Jbc3g0sGazd0/XkyP0uVZraGndaYlcdZcJpCtqNzToj/wjsMxhyijPhsbCassI95gAIe1exGNcdEc4c2XangLMfEiVEuQ8akR1r5yrbvPvGIDlqw4b6FyhSIFwwhIf66LfODQbQWh7hT5Z4OarQ1o0QKWYzRqhfMQM+vXjyW8UiRRWateU1PnMMUybq9cOQw/usdkj6vVHAkb/Ot7YxArr/rDAukPCeC0nrQAFFLTP60jfupW/ao10/8aAcityQg7vzmf9nFjHZmxUEA9QPhWFh3Ocnfso0U4CtixojPfKPBdDVZuQ7FNz9vY3/iKrCbllExcVxSvq72JH4kNZVKIeZvvhme4oks9jVQQFXBA9w6tGZTGROODK8IbSFcKKfg2ChMLmTJZ9EIA67vjH91SQxDgb3z7T0UIlATcWyFdjL5gO+wy2QBlgAl4Payybh25pcbpZMLqkMTR0GiuectAo00RQCRNlqIFks89jL1enRgD93bJ0oY1thVoEWLm6af2VQuUzW8lTwg9ZsEiHFY5S9wOAJS7N1Wgg000OdQAO4Rn4M6KU2VHYvdfNpp9dU/MrG2JBWNU9wYJt8ZyjlgJImEelYaT/O/YDN94YYNCY5n9kOygabXYQHTzQ3MsmGSOUKYWfqBUrQN4Aefww8k1Ems25RKtrPAI2RpSOfUHiAlxi3ryW/+dtENMxMkmJp0+Q47hJwwGuVew9ym6NhTy5C8tdDWAZ5EN1I7bzFoLfrIXYIFcm5a/SB5Jc1d+6IB7cPAcSB00U96jLZSagKC4a1BFbFfsVuqIx9WMED/S8BRdiYzjqRpmhUP9cf0FG5JMOE87WGfkc9Um0peKqHTjhX0H/bCdOVHf6dTca3tgi4DEM3kB5dK30mKwIsOUO7DgY8AB56KGspAVOyOSUzCLf4zqHYDa9P2YtiF97q00EanNfpKx24rtDdcLlB5xfRvP+QT5hysxhG0iFfFSZky9D0qsNb/6G9heVTDwMyvftmL+l3Kc43MJ9r9MldqeafOdTbUdOYE3pPOgmui2E4zGWi7ityUGWSFaj6R8hPKsjDHVJao2m8RpdyZ6rqSkdYR//FWhnJx+1AKbQMN8sN9bnjYuLhWykmm3vAz6lfF6pyfOPfz3uXUHXxhbQfzxlb17ObkppiMSf4Q099pKC+OyA4kk3yRFgUia92RQawm+9YupWjAGNfrzCaiMe5Tuk0wNDMOHTBioTXzrTueE1C1PmUMgsGl11WVEwTCAzZFXLnD7nvOtghOHyAde2GkEDbb6Vrt6iWgkRPtzVGtNvrargF1ISawcrY3H983TYK6hjOth0UdeiPHHNUAVPxtWiY50MbeTIa04JCLx9SailHsAIlR/vN6hbEO0shMwUHEqhh4np3n87QuzSgm9DGb+R7RQfgeoSOkcD+YcKXAc4jD42iDuDcjBakLt4pyXBm4X9uzClxEgcQjc4PHefLv6plf5LHrBFoXTYqfazuMwRyA3tzv57YAVqEtL/5QRBogWUqYFeVw9PvzsGS27dsBbO1FgOXIanYRM9PzOz2ojcqRdQxyp9GIZE6xGViHJD5+51m9fbRhq6nJBLpY6hkl844Yyf9pgszRc24oJw9ilCCrSkhChBvkYzO+mgTdemsHaQT8Q46lJHukKL6CJwLnJxuJR995M1evvWZq6islkkD0jwHIBzKQdrOY9jGyPppLghJuUSdYll1/bk8QlPNg6FvIQ/bMQ4wp7jhd7TC9/dEIiLBan7+JAgmoxC/8eA05zf1+lH1wa1DnYe3C6QVPHNARd6lY45sQdR2dAXCOearlz8PGwiWrJRMhv2sAjOL8uYVdZFl5AX0+E8+JbjzMzzcIyj+H3iWwesKDQSl01z/zOmmFUoFVFbgR7ngOGmas4tRpOXeelJ4l2ykop/19zaUdm4+vUckZG003BQ6mlV9jTXMdzqEJFOa+KmZBkEgkkoMauvMz4c/tEK/1QynctAONKSrXpjJPHIjublvyKiLBgnek4xpxfkduFv/4+mpRyhTwfrsIYJuq12y/BH6Lc/0o8sIbmhpmgBrdcoLpRSo3EllsRSx29zPo+hhnb0UO5arxp7aXNqQGM0cb3XxUN7XiRChk2k6/ap64YwAMZj/jtWvGDzH+R06nb+L71O"/>
  <p:tag name="MEKKOXMLTAGS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t_Sa3mAcjElNDj51aE_A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HebK_m_3br2USqNLeia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wRSfh1gd_gtkCYr5Q0Hw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80AC.onUeWGzpBx92l8U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91EDaK3d8Og6GOv1qt1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F87_m8q7AOAUTJOoZvAw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ycPs6e1B6zEwd8b_APZQ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Vg66dOCVVw_y96FRmsC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vbrWdz31JNIfSDjcie3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TjK8Baeiug5GMkJ_IoqE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1Cvj4KvnlQtRbR9ILR4e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OnSwPwruYTFY13oGVyA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PeAkz16nsNnSuA5j0T2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3+8FEg3sMj9Rge/ETmV4S87SOjLD+N8VBYalxY0z1S8o5Esh2vtszQhq6PM/KUiCKAzR+bKZ1nscM6PuA5xkpP8mmL+4+P/SdxQJVNz02xtTdqT4yzjj8PtiqFZt9yV7AcwuRIlasH5yY5LotQY/uQ1Wd56mI3t5tRF5W5XuuhJWkfMcNzeItl8MyFSTP5XOq3QohGy9Wt07Xg8zT49dr/pyh3W9BPcw0Ka4PABVqKSP8jciLxguXlEzz4JXNaUvH16mjlB+YxDvlxu6NPBMMbZ/eHz8j84i0hQDZqjyURRgG2y5ExraezkAxsW/aLXHZHNOzNZ5LG+tqPJQjKH52zX3A/Ut1I2FCsepH98pOpzFGE1hImSLd2b2Gd9cteI/lEXAJlFQQLEkfs8+LlBdslBnvEGFi/NtpC589fcC13uP1dUuOAs2cpYgJV2KXk0xH6NLp7JQuGv3JhU1BOo+icgrXBM20lfNRJBRaf27d0aI0OE2fzmb9YfdKhCbuHtBQte2lvSpQIqmI6VE0z81VGBeg6KpP8vo2dquyDJdQqcckBsWIw8aMS3O2sSwK7b9IxNl5cIqjjEngTO3iDOC9t5wwPA+q6CLP/JVNV2ngArn+pIjreL2H+BB9antmy+FHWJgMnMfjSSWh92iF0DQpFSSXw1iBeV3OWc3GjJ7woceAvKz/Ol7YokDZJib7b+S/E6pPdkh8TnGNYMFuEMOD4IH1DoWzKMNe64G57tspcwXwq/ITBMbJRlJWsfEps+8io35YhwaR/4joIGBSBuTgoJO2cLrO7pGSQwqQ8c1/014Hh4GszTBLzE6ffuKRWrp7vwJxG0yIgb4jsfEugvsb6ps07z8H6Gc292/yWhbWHdtog4BhKr0Xa5n0YxyB5H0zL7ZTS7jkiBMUxRFWH9sgJtgyqMCYGn66FJfRQsiQZmQfXRL5tdlhWCPj+WXUqo6UAodNnETdb9vbYLzwYYqVhKetkTf9ZtHNj0nuwTEa8cLlp2BkxeB1bNv+/xVe0WFqyITlYMzphNTSsnN7+212Kk8yNOuMHqkHjZFhVibpE/MaCSjHfMBX827UETlqcz8rTaOp8dWnSuitVgDYC94hdeaddwTz9X/6bhPTUs+AdmVrdvkUtaCaSTgcYAYdRH2gQEfFdxohNRIxf1/7RI2Kp8Et+DAc/M7/HsolyGD2f1lleGuAgExU9FvP5DmqE2HDvq+cctOdZdmTRBYfdYDg4e61AzULIyaB3Z2IJNmnKltiHuE46X3o1/oXQTaVKqUfb+1aN6Pz2JLpqGcfYkKj8AFUsawo08YLHD0x3aYNBW6NmtHSOvJGzJzjnFrq3+51s8f+WKPyvvC7CuKULHKE7/j/MMNYQDmpO8m6kJeZkhcwcHQLzHbfQnFV75cJc78gFjMpWSJqQz06UG3PrUGjo9lpyi3BRn18h4OUz+kOvKURKd6X4Y21AmAPpshG0aVK7wd1cHM1uJHuu39NXKljayM76hWcH9plRS0H1YbZY4lGfrrzbgDwMQdScH042vSXBtct24SnjXB382CJuRagPM5puKqx+UFr3LwLgtZksUMmYJ3TuPYI4ZAebrmkRaYt4qXku0F8W5SPJvpUeSigA806Vdd/oH5T6LK671bmYY+e+o+FYbXCQx5Ficlp3no3T/Konlj9oTSdYpOL6XnT9/SMGoJ5/SZBVm4VPlzFFSSQuIzBM3doyROUP2Ie/0q9GTma0bxKLNBvlEZNnjZsa8zjaAMBDq87nGFTeV+6cZLrQ7ijfdy0WfPujpE/t9IMMdN+L1G0jbxlyQ1ZgVJ3YkmVnlfa1hF4RhWOn8oaObG8eWY7P3ZQ6dZWcymuYwanseOLPcuVynJKE0b1nKnkLIvlyhWBEdOL9NZiILoJgqLzkOZVfji2/qvQc8ijbrKXbaNlUTK+I2KMiVzUMlHGR9nF6+2/K4dCstfmjhH5Ix1JjQhikHBaUHDNkKMf26L5UuVoCIYmqut6UuilwXIGqaXYlW1cnSSMtSRXfYlFqZvO/AhF+gCjPZc6JP6K2O4v/44SY1tobW1OWbV3q+7MLUJMuzJDB/5wfZBvRrIKediLYCtzJRlzYrMjLgXUtmQzqQowv+Ve2GnGDYhrZovfhreGK9OpNJfaJy8Y75LEa8kDYYNfcQHzmi29w/OmY3JswTkRVynP2PBATBNzW6dwo57JSl7S0evYeekQQI9WIWVzTen7YLhpc2ROccr9CCbq2YcaZfQJ9vmJDtypcjzQsgk6wPkC+iFO1HOdz+vv0uvRyhxc4Z2eTxUAgl1RX2AC1EpN1ag+hGHO8FoEoKuNZvN29zJdlEJzMt3O5/tfmDLMhBdA2yX9nkzRyL9VZ02z1ibSRo2dMekgm6ocoDl/M8Gz4In3QWTFlAYF6hu9F9MUId1nTJ3GTZ25RcsgtORM+xiCk0ANk4zr6Hdw2JWtiStaSkPlAeQiNXI01wGfvVCRSm/ZRKIgtFZAQ0L0XagGBpu6WWIpvHFe55x3wVekGoSiPtFHsmPy5t/grSYblcQQQl2+QBiZ2bmC1t0ZwGHl6OAYkFepo3csNBtyDZ0EqoP6VrajcphgzRrS0MOR9s6LjYHR+xWp4wLMu+/fGPI/EOvZ/A+cAgtPPnYOYYZoRZ+tjN3XCLG5a36e/XiPLs9EpzDWxOswhkRXEPwwGOe5RaR/dp7/9w+J64MrAO4qQsOBc6XznTDMsKYi/B+mcg9+J+wNfABki4FVi3JCezZel0hnDAaJ9PicVenouFwBP0zay9Rl/5rtfJyJ/lRidWzcFA06d1zfzoGVMadYmiw27D28h6QyYv2LhUOIsukHrdmAVJnCEPIayK2jcdM6itVsQbu99GxzlpwskotRVd7qkie5ODALIq5dhhW7dQDYzXcdcj4xJWqso5geeGz4zFlxdevEUMxri0/qbQ/u9F6bHKaQ7LG/AMcUeS7I7+z3WtR+4VdSzRKSkkPzuZi0afCRQJ42wEiUOTg2eAsw6xAcadTwRT441Qq/gSYZ5J1yweQw9GeqtIrRK4n/mY5OhaT6nsmeyKuYHsECs3i2bLrrPYfvZyziLDVryWANDYGz5+fWK570KSBk997v2gatfuxBmb8TZsr4rMDSJ58gY73POMFD3P0tQ4PU5GxMfUaLRfYnUKjmrnQ7Kchl0I0VYzRQPmtVfi4RuPdrXdXD3oU1UMbBjUIKVkla/K9AsRUPjqN8cZyxGU36ScnEu3wZOR7cBhUdoZn9CHY9QfxkW3jQLYu5yQcMyOZ8tps/gHz+v5HbfvsO7QlB70d+gn8f177YqJ7YFvvmXfjpFHAlO22BwKj8OubVgcLzzQhyoshpdPAUdTq+xw/A52I74PKHza47CYvh4+P/qmEH5/BAtOQQq4Wu5W1CaDMp46dKisI+xdlawZX2QhJ4Yx31XIDyq14itnS0rkAqIJDx0gjCA/T+YLpc7shXRXHbE3PTSeMFWTyeNzrF7CbOAKEB3OSjK5UMHc+ElvRoHVWBDz7ESI2YVehxFC4rwKorEW2jg8wXgy9f8zDAblMgIkw80naxrzrMXs8IlWw+DP1gwPWN5PYjsMKQgk167Nbj2d0VnV6nUetyrHyEZ1SgC79BsB7V33q3u4YZHRxRpjVCbBBhMBLYKDuw15pWAHX1ww9cKVycgaLkawVsS8791A1YAJ1revtI4MbSMCYOrLqtme1F8P3vPSZj0Tarh+I4T33iXtcIdZFmRZxInrpNeE+Wv4f5qnEssNWhnOrbmH+rZzrC7iXCtXuy2+S1jvc3rkKcagpzLDXyl/AESCdIREytfXCB8z5rJ61oMkKTqgyA/CrxC6TBeHx4V4vpa65BgCUxhrYisvu/haI0Y3uGXaMd3khfHmG8btC/ry4Fmj6zsxf9qRg08MagZNHEcdfcxNMbTGm63bfaQ+wrhb3WQ7u47b7dtIb1PA5snqSRlFdEEbZHm7Ocil2WJTTbWQ5U4QeYFnT4yrFvzZCGwznctteCrMWwr45WBu0Sj80GeF4EDFlNEcMmAbw4CgNkNySfc8Tco8CCnhdrvV3w6EVDBFDdlzbYP0pONFFTGY17/+NdIkoHKrKAV3VLNmPWX6xxPwJS6Fap0FSdSfun5YMFr8x8ZvqbQwX3mkm1SMXk7jT3zgJ3D8UG5VDBvMwQoGeDgajtx6ajUr8OpnO8oQ6WKOLrJgOMLSasCzrVqpsqomjrU6RGFVHt58442jzzBapIcYasCT+r3weBPgUoBl2NmIzG+KVCRksLCvx+kmAyHDlyEv+fv0pjIXNWFf7/jnEBRscO9d7EpL+TG3OF00w+wtm5FNs9lClcAr0j3n/qLf+RtGQFt+QfUSRULDbBulUL+9Kkc+tbuVbvdQgqILmmlOHZBKxneQYFmQXMzL2criMNOAoXx0SutPPRmgrVJw58Ai8JCB9j6QURIH6b7fFLNkRZfiZYm7V3miszhWkx1ZBt4qlppzbJYq6dn4FmU8a5B33E2J8rMhHtPQUxDc/mi/hK7jLXV3ol9qdXRVHr3gF4Bn9HR+HTn9+WO8utMJFj76FNldZp8rUkxGIkswKUeRLth3FhLR76mCmJVFuvU28ZpS4FJU+hF1ezJSE1ndYw+798rFaFsSNSEZpARQs+ob3aG9l2Xh/Mo+yKJsR3QVWzpU3GhPAfhpsRC6RrSSP2kpS3Cl3e+0MmUwSrNh+a2qaXXg4KMhRr0AdXtcVB+qVElwMbF4NClXMSUp0FsLNy5GqLu9y9Zn5P/g9scRe4rZ/OyP3pJpy+JO5mERwpKGikek0cmdtaAX1lr6KGa/ZJByXBaIOpoqOaJYdbYydM5fL1j5rce9YxVU4k6tjwyfXexf0ZCljoxEKDwywOG+k5mEodFbl5XXb7Wmo0z58d6a4ih5cfjTdzTABe5PtJutz0Z7w3cbcyzVKjcNhUE+Rw8jL63HHYqp9h9AZRZrdsK7tL0c/IO5YOtcB1zx3H8etaMpY+QYc7bod2RW1pxp7S+KRvmdOhhC+ZtZlqglQdkIXHpNCWTFUY/bFrjjVQqbbSVyKB5De+QVWyI1T3kzU6UCWYKHdqimeS3rrBPvF+OLougzJh4rf7Wo4XAAnHAOKZFP+YaTozVCz/r8knz80vVi0wlDw40aAPFAg37axQBqRrHLPusPmmmxsvxvrAnFxcrm9HJq492rMp1M2hWPwkN6iLu18nf/biwLuDC5+22VO5MNcVNJXmCQ6sXekWtE3apb2LV/YunBuXlVZ4nphOY9BywCRdN4/jm334YNUFrJ/ITOZ9Y0UfLcI7ksL3jXlwL3g/LCl9Lt5guI90hYG3bxuV5NovLl4XbbBgDs4bv2H9llQQmE4wMrf65bfWt3JA3nxtpuQzXaRts2+9tLwv/6Xqml1xx12cX0u5CHbM+U4PnbHkUaGlAdih69EbJHr7XggaEJ4EwXnpMskHv/p0iUCPodriq9IntJKkjKmaGqdFwvO6ZpV93mlrt+ViAINEscbf/6Pv4/fnnq56hbScjYkeQDlgqgy7Eh7UNk0gxsmR8EaMqAd80aEC+Ai6oONzvk+dj9Zq02tcctUfgYahi+68fl3SYFtUi8Tckqyev/ZRN+7IpN0jMcjMI4mdDVOqyjHyghK2sY5OXFsnwb8QY7FNApa8+6zjIeGRp8yKo7XVG2CDuVwl2DSYkCH1oUt5BLHf5wyF0ABILrFhX1U/9gp7FSXJptprvcL6Xm6fXtvDqNBmRz9LKlRnQ0S3V227P/k1wETYMDV3w+hxsEBWtgCq9GYyhClms1ZNQO6qAkZOy5QvVpI4Q2I3mc+5kq4jTkSTHXNA/qGjKcl9QtGHOKs9U+nwDrEKn/JJ1DoWqeOvIYKvm6rUF2UG6kg9ezzYjdMVAyugWFHkP7uC0IyoJ8qrxBeqtCy8V43KI9EsAgT44BODrujCmjuSEbb2KqirLy+KgHG4qiZnzHGIBGeZ1LX/jzLcqxxAKZzyJgdIyjJKyA6CdPDgNusekYRWTlxdoxkNIAj7gflUYhOS/sTxoTtzJLB7x749VKpXO0f23qYN0p/39XzFuQ43ETk5QA9Yy4B2v3r0P05PC8vPJVsZIiOw8oX5SRta4cEpEQjeIFax1MgUddSJd6Sx3faf0CCGmkHdkU2zuK5hzygP0l83voxNa3Zu3unjfM2PFkqdBaDJcS7iPgqX63zYUCfTudG6BlrVIkZ9IfymiAb4dt7G4BiuB1wvXBHwXOPQd0L8AAAeiblzzYRhZdHJOsB3QK5FhbD/0ix1Cpz1u7cyGAhRWZOFNPbigdC2PBHoipq7XxgIFXnjwfTxm4KFDtgbN7AKwCN9SpZ1K6PBNgycY6wkw/pp0dJ3AwEZREm+G8/4ILiygF9AeJyhEnfWQQLKuy0+GbC0xTuHboTNeG6PRMm4O7BebwW9qmVzKqBEgfzJnCW/GXtDqz47QfTv+mXEmMh7StiBPxYf/fwWXLVLO29WLrKJfamy2dPEbOIqIwY4C1oG1oGiDD6glIdyF7mRbAdc9BKbMkxSs0KfxStSka/Pm+FZ6pXrqweh71ZxJN+NSxd0XnbbM1ZZjp+cHrl/s7wxxPNM4FH2cR0ob0wex8fdYqUjjmJiCyqkGq14pKy75eJBLO2NqNGpXLO3RXbSmThWAlBpLfLlAcVuyJn/Qu/Ln2lF7Llic1kNWQFx4qDBq911Bj3JqM5ZcspzsmArWIRs2jAz5i2bQSXOU4TU3C4wx2zIJRQPPkx85hxajd565Tn0HEz/0DmBJni4WGCy/ucamDmNT05nN/z4EfAZoqxcSAe39/rF/gY+KbxqoCGHVgx+kyurzysVz3hA6hfGprdzpHOm/s/96jTgV8yxbD6roRB6eilfC6GT5hJea69YiXFlxyGNN0mmA0kdNhyxtfDCHdkUouVS3W3UpMRGqzs9hBFLIn8m8Ti42VGTZWfpkZM0VrXEKsv/Z5qjHgmwKzdLfrTvw7czs7NlR9rWt3PB9abLhlgDo6uejtPugDwiPywcXlvpMiO2NAxWurN1oogB6jvjl7/cxd6x+ktBlqHFtsxmn5Pc7Y+1uAx/QXOaGmNHtl8dKqulnUAhEkrAPsYsjugHoCdlcUkoYhbOxWI7k9b+z40m2iUoKnGMPj4K5Yq46Pjh9awixNKU5VjsImDiGrPFbhJGV+EiBhX5GeY5trkXrXJwKbJcx/GhmYqTwkZ170A0dRivlpPdn1i+kMj1FZqJ2CQWMLcKVcjbR9HStqWlvOQ0bcnMRBWlE2b2Gek+iQGu8wamrdyJwjaIAOpOkWsQpPiuy2GEyZ73q5jyQyz8IX+OkuV6AVC2GyWfseheFDdRKi/d6u+Ea1MunkLncBS419ziAgn4NUu19dMDGOFiALeeKeUctG1XwhbTXbCuBQBVSLdx4296P7mnVoqE8orK/9B3hs42CPkfVkwsshzAxhzDUowyHDCKbAKGPnVBCd8Bjvj5dQwbzvodF/x8WcqM5oukBZCVG4GpAIPI+ZoatpRF/nbYNnBnImsJvN98ElBGCygnjLRvy1OltSu/77QDDX/3UE59mCViBB/Wv1aseIcTFub1mOytEuT2lRF7pA5raUN7IsKp77iNI7fGoMDj6G6nuE9pUiVrqs+0a+6dePY4aLH54mqj9n/RcyRzLOTAcKp1lE8p4aWfccupmKl2/wAEiCgyFeN8dM57QHHb8vVJls+buM41Z8je1EiComuxdlLhJ0XHQbDf9Swc2ghsy24FHKfHvpYpZmQNzKG79aCkhLwbYKtn7GWsC7R1E+BGKF1lsXZWZlWaEPuvV2hhSawH//tgWoeUxbE0mxDuiz5+tf5Z/ZIIpkIOg1C2g4nyG8pItPOaiInmPeKJDw0Hj4hhXFPYT0fCMH9XoMrGHMpBIpX/uTydIHcwyvnAtfqTGoXQ4OUUq0qNkF/t2o7bIQrL9XVVya0vX2KXn4h8RMju3kcr7OHKhd+l7UF+2ye1aSgyxfNjPIvqJUCgXbiz6MN8Xx6IQ7RCyIJu9F95n8gXZj+foFmyJY+V83S30j0JJSAbXXJCIrKDcEya5PnNPG5suw7EN53GkLUWFmKA0cird5KYUE4C8CQzBiDb4ygD1+fvB+DgXykse7f9Zswz09wb3nqB8EZGnawE7asCFzCmGF7CLBDYkpM/9Lzpz50QqA5hnUM70vUbehdDbMfOVDq73pZZ9bzJQWudexUYg+TO1gST6zSx+xtoc2hc8lufbvO4yMCFVG65eWy9HOJylM0m1aOpc0xjzTc5/PiNT4Qsg8ERTtRZntg8ps2CITELhkvgaP9mHFigSy6APde+WsNB3IzvbvWTlSWDM+0cv3W2MwuUJfJ5edd+pI27czzKpUTAln0KCZOVFjHzInNeIvbUwHSwx9SiJZUfICJH8UHNoOU9bQOJkZtrZgCVWRScHsVrq2I1tsIWe3yVk1OcRcS0JYb3dlHMdgkm4KqVIJARiv7q5uMUPKmUEY52tvMJ7hYEsKe83w4g89HA04fL9Gx6XyJcurbdtKGYn1sn4szIMn0eVfeHQazTemxanCa6pcG/7uCazDyEXlN4QhdbJFfRfej7H+H/utGVdvQtpUfrCVmSigtNmaHjQbQArhVumU8iHhxJkz9ovliqb06DciGG3LqKUct0XcTGEH3PFrWbrOIA+ZpdWboIlXvr4Y5hEw6BDlUEGm7YocDk+EwRBOcy4t5aXxlBWswd5QZU9TSQM13T5w612l5KvQUyi5Agsmua5df+jRgvsI30tEk9+kf+Wh16o7u+pEVnT3Dsp94eYhXtM/sRQXYtU+j7qK0Vy1UAMN1RT/2fvSjQ3GLXsJKMTO8YnNGKgyainQdXak4Ny753KQ5WFSOIc8lM0WVx2MCqJvrXDaE9mldHf0loPGkmRzpberwh+0A1WyfgUQxWg57OeywmcsEqHObwzYDgPOfb2rGLyfTni0cCIKBD9BDZZ3GQlbjFmxKy2r3CORVCleQ1zO7jgGJyhRRU/J7SpLLj7ZtIWqQObkSHvJWTh57E74lOXlgw1WwjvNV6cXOZpmfPopHEWugWB6GjuXe/mXmPZxhYGPr4QQT/HGsKCK6l0bQ0v7F2xv1gFafN+kRWnNLgkFkttHwGwREw4YQzEM//XPzJV8X2Jn+sQHHOz+hu7/SsyoSpvNGzuan0lMgZ064IIyE6QQE5ad4aWhsgUW0M1kuqp9zF7+5YmsHhWtHcr/qMIy30mj/b534Rt4yjtx6uPkFs5pfQ8RSyC807cluxbiZVkvyro+mWRNz7MdBg24i9tDIEvVqsYj7hD0yTlEmDdrrC8ZEZy824nNioKsXsFPKRhPp/YgrEYDN4ZeTfP/YCdbbUhb7c9fjrEP5kq+wnFRRLTUZKd65boxkVl4SWIH6HjMFmd1ich5pZa1In5SgQpqq11Q2H4ySqtlZNeCFys1AW80dWXK1BfiXyVWDy3rF0Jb7Q8kUfcksa6IO1J/WpJzE72b7W5sMdmg4NhJJZKVejIFGu/UzrY6qTSvhOUBO7kEWHM9mxx2nas0Gj5aIp4pE3eQAkd0v2VcxQgR0IxATU7gri77RV3faauSCcQBw4CEh5m99ESFqKCQXy5EOgldWfct0oIWAwFMhQt1yD6JrgZy/L0+KvAfddF9pW660/okFDMKssHo/aqRsV875cUbqXl2aAGHVErbRKai6q4niNuEkfizehGEzm0Nuqf4BPPKUb4noCHYlo4NeNQyoz6st+RLWoP5F2yphB40nuUnFrKE47zVTNvEbgw2QGzSKa4WqjrwxXDRbeXGg60Z+Q3jQ344QuGXt50Iz/R7+bj0rLginCjXTy/+s6pe0zSnzm5Q/ozHfwaZPMcFrCEDocQinNO9wed7rk+i39ZLedPbKQ3hx0SGq4s2SFTO3B7Ym9H2hVqhKLBb044i98Ai8JeVNEojty9C0O7XQAE/HJpipISS7Tq3xGgtY1hnbBrQ6HA1RD5g/jQzjqMEWE1VVRi3hTMwQbl/9vjfrobSBHKLpZ0rgCUKFL6iLiHabuCAljEP5HG0BSpwXxNyJ6SCbOTYKaTuNLdqM3/3XhNd7hCxH8CxxRl5CmvCobKlvGHeQcvU92O32172SXo335mjStnWv29x7yatax4YYoNYIMFWIXOBvbBI7JnJMx4pOUanrA8fc6sxCDOeuOCygzHc6UyWwsq/j3PWh7Ux8PExJ0gMEG2uu5TwRWBtm/VVy5EB6Y/Z0Z+qwSZ4f0lMc8tr9i3XamQs6/4J404Hj0GKUdP6EXb+AxF76ud4lQZ7EjPaiQ4bVDsb1FUQgGRM2QUP4umxHttRFBXFs4e47NT4niKNhSMxCSahbFQliSnjlu8kWJBo8njS1OrOoF7T7861QstjrBj0Rfh3DcTfe9hml+aCbMt0ZGSue5mheL3NUnvaP+LO1yuNn6XSxAQrtuDkT7sIwK3JFtFrioJG6IgLT6AGQmh2uC7lghbDHuoH8kb0p9+CW629rL3yFePpURGOmqwKMXkVVDbUt9fcsv9dSNlOk9d31uPOgZiAkV547MfrcCyBcxusIzFQqiwgtDqxZZYi3iFr03zpuiQdJSM1Rf24j5XoJ8qG0X2OCkwkpXBamszNMGat9NaMMF9P8Avc20JEeuGI2oJmECIw+3yj4izjJtLtuXtDr9fZiytvEPzueyHe4KdzNYrX518EtGMsVLOHnIbhruJ6XESff2P0W0JrrIUUewSDP9dgyaZCGU9g8DodbTjzmLfD+dIhQq4id8LeZ/UCB/E/oD/IAcuy5IxWO2K8o88IFcul8UzQwMcK1q0muL8OSEvmPPeEF/kRgZfHuwVqyoAu/k4JiLwp8DZB0isKRg4bYj7uzRMWaR9P75LQLO+IWyphm+Yn2ltBIuM0Vdhqe01QIpaMMV5Q9co8DkMXrziFK9yNGejFY0wQNVrcILx5hfazG3jwX4ZlC9R2SDwLgsWJUgplj+qTv150YXn9hrapWmbPGCroecvzlPI+X0Yk738MoRNKG1uuqP5CT0cyKTsrJq68BcR+qF9toUI3lmHQa/avgzC37QrDpyRUUIkkv9EkcBZEglcAuQlqpUJGojrPxouXBEQ5QG5eFxL5jEz0aK8CI6PB8bJym0jgoLwjz6Q4PSmMtC2r7HAli8KKzlC1nUGrG5tRtzCLRlYSLmUpA3Z74fmgS5rMOtM9+dgi/f3Sx7ihLhr6u7roGL89rBgyHMYgfJ7wv6GfUH/RDPbDlTOTmoQoFumHSBE+cBn7kuh4tSCufygJTN6pyZJa72j+n0TJQtAvzVJ172+qCXWBtQPQr7nf+b8RAdkYqYkBIn5CpucMsJoletIkbiPNQtP4N3Zkz/v7lXfHuVnc+lXRVLyhXJN9SvIdxXG/18d32gLzyPKTaIowk9RK19bOoxKjJIUWD5Yg4g/69wcWPC9VYYqMeDokddVGW0wZWkXdXfgk5qXvFGIhPlLT8jlYYEX48+9U8Mkk+2HZWQMOgd1DiiIFbqc2zRkKBRPdtIXDj56u+TmUbAaG/dhW2J5j4BqRvViINT+glXJv+w8uYFx7Pj9klsf8GOkkhXwRBN8zEi6WIMZaE+uP9cbMqxk3WUXWuZlW8YRlRA/VelFX22LJPpudooNT4W8xetoTva1PmMPz34rQkDUyq0mc6CvWqzBfXsdGt1QFMAtPMLKkzXO/wQ2EZJt3S2g/krN4qnyMvV4+fK6PhmRWTOe6eCRlBd8MxUkJP95z5zTv38WMMdJYWCJphKD527Xmbpn5xPNNxvX06qaQSJA8E4ZuuyN2zdScY4ps18GgzH64lGKfweGkBFFgDnFw1btEghbxwP5LrR1/0Uzf6UuIrTSDThQZ7nbSTYVtxbj0sJHw62IL6RPclzm7Vf75/alahc3dsneARct4crAK7FZttB1ZeUJlcjrLbUAaF5Qq+23FP2E/6UzUrr9N0cGg2FHSaEBLEKPW+IkQHTd9RUSCPJDUlYEii7muensWvUU/d0IWulMHE0TBKh+M2Tv5X70PR1syDzS4O7EMJYgfhxxyJ4uob70/ktV2nz8F3RFE0MIyHRbBA5T6vAtOCaXI+dT0lhn0kya4LVASZwAVb547tBnebKjU0V9A3lUcren1+jB3ZNo54+rFIGi45QJsVoWUK0CQB5W5ylXygEDinq24NCTwdk/4BG6SGoIUoX/tn6sz5+fHQFaYeCXRZm+stlDO5MClIT3jpu/tB7Nyd9SxdAlTfIR7TICY++bVKNv0ieAtn6aGnaNRjAmLvrfbeuYXbcfOQDfYVjdaz5PMsbL6Q2YQgj8/Dw3Vlc9N1IQqw6+VliPEAPIa1zXROvurcgtkb4e6zUY3Uzqg/7lcKIcgOrR24fc2Jo78U55Auwb0Mi5BwYcqxVNW/fyu5Gh/bo4PRc84ouYJ0ZJjhzkAuVmXiPnBoLar6H1t8c15opPjOqESA7YscY5AtDyNoBvp/Cb6ozlboNymkuGgQ10jzZevuhJI009HfxEhj81od8ur0LgN/yhFAFuWpoNjwWwZQzZ1BYlCp7/i7MoRVAUEngEIhAk8UY+WDJ/ydR4GuYNwpa2ydRDzBDr1iaF9t1RKRwnTys1RUTO93cei/n7AdTEe9j1ILKHVLhmvwloi8fOW3HDjDXjEsPClUnbXsqYVrcR+un2fZIYmnOKDMMiw5JIEXYUPAtgS7K5zi5dcjfAhe7cClvFFzxwXqe2elF07lECalDIHVqwwgRegjZzzXD0k0yc6lZECIuUQp6/n/r/IKh42QTu10N5s/NOOIV6R+J7m09s5WxWFtG5utpChL3KDOcb2lwtyCTccBfREm1m9NxvUBZ176EzYkotiLFB7lj7ED1/OD5oVTRb6RZH+UgiILxjd0VxZlxkps2ijJ+R1iKiP8yNa98Trn50O780NZgQEqWUuE1ftIJPbqvj7btUlg55FTwCcIVeQ+nu+Be+qWyzWRr1LXK1WknJ5tE9aUgzdPSCoulliM0W8SdhXFb5AxpMylvqVH5KN05/hM4vbgvM/sKZN9pzeTgqRZuKpAv8/t47nUcsYIsGtqgCaQjrRlLY2v4Txk0t2TK8McZHjvbrI26YGqi0qR58PM0D46oCw06BIuZwhjapovoJS2EZYZ00gmN04yVXhl/5WI+aws3cLpa3NalfAJCZk7Pof/jaDTg1TZT0cgGHwMhtFTBBN/hGJYF+oedyv5fMakdkJLqbiv5FHSGTe35ZQVYKL6FeNmWPMIKscftO7zRX9kOhyRHitd6dPIi19yMgyTPzQ/qxVzoD1p5+YWj2zz3hd6YP1ueIGf+Lg3ZQ7PtubvhNEqojroJ7dm7S8AHKCUljc2jPL647igJrquihtlVnSh08m/3YS1c47P0d5WR3wO36MODlqKXSt2DcdRGfY0GXnKUJpn3+Ji9AA5X6iY5u03AGW4sYVXMqpRHC8t5fyYGLniQG/4niuItrT1FWdIigSGqrqgFkDbQfrJ2LpFhml5CG6zddbw1JIyA44is/SJLaQHtrXNvwHFzXrI/eWaJjAwewAzs2xYOMyqkUREEgkthNgvdFiiPk5/DHESzcgLWbGatvVy9EXiFr7iFglVKFfCCovUb1BSLB8b9n/a8y5J4lohH+nEjPD5PgbWJmViM2nQZFcej+z7+xQO9lk9dM2M03zZcP5qY/P4D1Oj4Dr5G65j4f3OfvCP5mmZUZDm0SVkq0V4IghwJQUpMSV5NU/STDWyjLcCwS4Z/ttvN61cRGfh4ESEbfhc2ybVLCZbz8nYIlsRVbJHqJPQHLHKFVNyJYPoR8QyxNbp222Os/Ig2Sbo1CyEOio8iGEpTuG4TPkzyWliXQ2VwjFP3dbXRbq5XNK/3dcpVQRv0HCN+cJTL8pVTcgqJTyLgL7MC9dvJXxbYYSDbAGnRpbZGqFhMlxBiPrnBJS+vve9I7c2vyxcGOsTfG8t0NkmjTQsJmmYD6D7U7AV1CINkpsLccjX+s32jgxS/UUapIJKJwZ3BUYgJKMZz+jwhVO0PQxA7m+CmuwqGzX4ejcK00IEKL6vhiTgo0V4HbUlR8vSMySox3e+hX62myKDGNqQytUS+S8GLqWsq0w3KWXHRtDKcsUDbJ3tBDUaWfsBqinFi1cAu+NJNP3HUlS4VDJeUOobDGPSbgF5kkNS8QwBCoTU5yGBTClKzdkCFKYL8tP9Zr+clUnw49vXnpE5KHlkgzCGOs1+0TwoGRdJMwkMjHxH1YXu+tW//HTbtFiXFJoXkx0wHTXKLamSj7c+Bru1qgTW+Txp6J9hN+MJ//DkPXERmPC9Fxz/kzgXVdsQVuZqRDgBHJ4GZAzl/RwPE+yZCNGgxhavXyZf/7bOCf8e/Yye6E/w+BwSaTry62SNS0OojW9/P69FF/hDOlVTTCU8zmnudOqOsN5GeY0kV8v3izL56UdYXV/uU/fMoljLh5KW9A1I+U5tOkF1Tz2AK8ur9YHHS42mAykbbv9Rs71kV/BztBcXMFhQ2DH6KvRQqcRI9ZcbZNouSGK/zRhl286DW72VKKojq9Y4xbKe9Wd5mU/lP6oXWri5a1/Jjl09Z1Xu9CXPRFXOjxjkA8swhCO6n0fppNi25Xr3XikfquFsRTdi5f4byr9rPqUCrDqAWn/CaZgcRaDC12cmWcwFn4QL3rA2N8lfQuwxXKc9xBSzgy/3ja2tvIqillhNNBi6YxH4rYdgeQeVXZMCTT1ASLEES47TnIKNyDknTd9JkfUNiXE5mpDrgJ/LWHDYwZeArEEB3bXj13SQ1vuyx+8nnIODkK5Em5BD0GEDRINHNcvSVB8f8I7AbNqOWmPdVwmAsD52YKeL0qx7e6gsTkZGhnFvlHVckXVMKEtwrSaXs836C8hZa6cOtZSROAW3yxVtwFLw5B7kCXETvt8J7zywQNia2I4liq5DKnQ+h3IbmJPWpF/aduXb9yBAI20lr8oFvzNZ60Ezqn0f999ScSUcMDQEjIfjNsxMCjP1BzUbpjKwZH+1LnWxmgI34gpEyc6AK62HvKSzejDQhWktoVygEndN/oCTIaEdvGJ+t36U25ahMrr18OszSiYVVB655HO6F/lJCwSV/cCDAph2kQWn7NuYLFlzsnynjw8NQC04bww3pw4lM7PYahSR7OGpsrgYI/A3vqgrBJwPQ6M6dK9COMKlz/NALu+JNtAQLAnHCqVVBtGACU2YhE1iTrjXOizo2GuHPhAdDSXemM0eqT8LVr43GFfqdaPzyuyQMkgQ/4qUTx8PLmMgvXue7KdwOnKPzbu3X0aO4veffKJQ7rD9F/Mb1daHUpRdc8WhPeoyJTCSbcveDgVoRPE65q3VagbW7pP9laaoNfH/q9xXmw8f08zI0AGD9QGBjCGH7aJeV7wH9mBQfZngJ/zDdjchN/LUk5rYFjG3LC5VCg87T7jGTn65bHyVwudlRkWhbbTreLF/pOcmW7OPhayPPf25T7kI8bCti2qoW2qPj5qsXfqVJM3fFCBYlhsyKVKlH1F5ipo4HHbcK0oNHGswB8ERf/24N63RgT6bIwpS5gK5lJl255loCXmeWe2yXl8sTmIkac3sL5CpSFklplc9itN4P2hXzxEtD9w/E0Dj+GjeT74T3dyosxnurfbPFORzzqG4LeLgXyXJjGOFN9SPcD028ouwNJp03s5wMy5L2rF//U3ZNy40y7OwYWB3xf27svlro65CDBY9XzFFJ/x+pim0ahaHTMjZa8nETPKDmiLqp78OqvQeRMlhUJZgqP3N1CGDD3yWKSEM+nRoEJ2NSv+IJ+PKqoBluknoq97RvnwzRF9E/m+Ye9DuLCXoJ7Z+Y+WMCQ5LNbzq/shYN5ZmK4gc6/l9SM9yo3fQFEb2KQ5ocnXdItE5FSt85pRmZX36zQMc/qMgijZ7eUfV2EcHV9CKiadPk7Pdn2+57SfXVD2IbE3xdIL6S1ipgEwVoc6EcqshYrdVkcTIERaz9RpHQthxMybwPgIxZWzgpegGALnpW7UF2A5BQeQLih8U/0z5IluCwBAd2hciEhgafw2qcgDjsmdhPS8FDT1TEPL8IrOuzsadxvhtJ6ErtvghgtkeverwZKFZnud6LALIv0L7BTYxfvh4zSVrK4z5vb5ws/F/3ZUj07qBQOeRc/l6DhLJ8a7Mald/Ahxf5S5e3Av/mZY7TMJ0Iyf/BH/6GRO1XtsQOUVciDxww8loDhdKUvK2hyb/z5P/k2fcytKjRgboGRyKrBrBL9hqjxynv2Cnxg+J/a5wRLaZd4igXQTJY/w7HPAGkRlwIQG4/6EmQEqSvRkoYPOOhKfGAbrsiU+eQw6EgdQ0UJ7OF3o1rFq5ppDnBAARoWZvbZIoSYCYTXgZunqAnx77Ib2I/MAyI9g4btjVvpbCHlGhBuv78CWdbs7AMTeyXf2iPKXhV2KuqzO0Pe+8EzDsr5dVzrft50yi4CuWWqu+dOIV9Z5kgSKjbvfu9UgtKHpU8qDnbfFlqLlS2WjQzZ78B48VUXYF0qedMfKjmtOiI4o41kdSBX8HuP8rEovH+JhvU5PC539hGIki9DlZ+/JiV9UpOEK2gxUhL8/7vvM2hXOD61LsUOSOBGmVa1foLGGT9SqHnLsJnjb5fFu/oVUl5LyCIHOEYCzGND8iHVLguWHkjWogHLMfuGKs82OV/bCf7QSZEpYepZPH7JXyEySbHMX2Pce4NBn63nexSBoZMvFYlqmG1tsiPFt/f5wQEFW6KxiHrD9wIP2CY/7xFGC3EU/wpBH2LUKZz2N5n63H9w41keDOt+DNrvk8JBobqjkxtW5IfRvWEjqGSgluwFpqCTx2gyaZLRBBUon5zWBOsEuuaugt1BmqMegp1EM6FTp+YPkdn8AB23t02k73rAutXCFXTzozp1IcaFKtqxBmM8aRCrE9ccB/AnB9Q3lBwvzmfE7caxk1V3Rcogu0uv4HB+z3eZqXJzhWQPXU5RHbafilyjw3ARDpVBZIuFGxlBbZQTMfQlcwOxWl1aDfheVnV6gGPVwUpKkun7BQPliQoWNBrkYBlCmjzgOSK4YWVY1lxmLHwpYizGdcbXJ79aPkK4t5tgGCj3ngjJAwSsrjZssgsIVo0KjY6dGlZvdIP+JB21VXDtjFy6B0qVZ3XvfZUti43Qag2881sYqIi+axSaCHvukf3ySX0YaxId3L7YtxCo/LaPFl3wJOupOMhooPuVv1Mx2Qb2tf/HhitZI+Q/OtRrDn4h2aXPwMoUuplE7+1fZIJMSWw6W2X/FJvteFnpY9eI4RwFaqhlSVZjSAWUSuoUTwv3NuV91OjPUu+3Wdoz0hxqwZzmn0PKCbuFbjyRHrCUK3TwwvhKpIZUQtvgfzTyT07RHHuahEDoeK/3xVIgDWtFv5ahAy6Eoymq6rTSxd5+Rg0nwHmY5qP41q5qUApBaRFpdyx3LOxWGtLNdRydhCeZob5oZNa6WgiMmLHSTejq7bZBbtAAHN7TZBdvi/5At4lNZ8xaLbt3K5WFWGWNd12uszEhLT1Olb8cNRm7/UUOptLdZ0F8856jc7x3Gwld+8C0Uaq32XXFNfD2K5zRZNOKRxEJEiC4kmJWRdTOjyFxnyV+hf14iUjQwoQbGLgAr/wuFMzLcfGxd7jpUbFOOm0pd4VsV+BlLAXlJ+HWG/PgTNWJwn3EOjLN5DscZldlwtMVtS6/eoGDkMXTuaYp1+0UbgQTEtRFBH24PJJ8dJ/DBw6+Q+ZhUqQ1a08CPDXjIzKYfyF2UWaa3E4GYGcWMMzTu6GfDsXV3LsWNJy8BZ/OvM8iqVxQAf3o0J7Dq0ctJO3ATEzEIh665TsMDLaUtamQRzjhwa1OxklSXk9S5IfvqAsf1kLvCwsIZKQ8T3LolM9vslqR1/FSvB8P7ckKAXGltX9Sl9yAFI1vSFbkhYOaQWDQAskLrMQalq6YnQikwGycfmzNInoZ25iEuWWNXW5u0LhNtKXV61k0U4EYuaEpDrPPmTBaEX0Njf/cQsQ0ebcTBGEde5rbUFXJIsjyw6Xc815MsqfP5gGC3Vt2Siio8e1gORW8wXJjyJ5CSbvkacl/bqNYXeK5bmdkxzyj6Uam2884pqVF7/Ll1LuoOPjrdSWFzZ77qFFFqacessAR9vn9I/AYzvZRQuc9hWzagXuEze3jM+AXbJdyIKXt6ngSTJkO6jtW/I+DlkbrItu7gyk92dQqosvtPFmFb1NFuRbC7MrNNgyvkptsIaOXa2uCCv0OGD6uXAPnP9SN2gY3TzEiS8+dG9Q+WTeooIsI0phyDc8AFruZ78l7yqXoyD6a+ZvOKpiZc3LjA0OOdGFRugudd0Y9HiPGoLflbacNlt6A5KKptszHD4JDMP+aVqe0WaBlV9HQgRLuK3IRMRBCkXSZtcTtRjC97q89LE9MLeSzzLGWPyZEFUcV/QfH5ValmVb3djHLK9/BXIzFa+q8TcDLEwrFNgVquxY4I4vMKlt5371I1XlZGkK9XNzLITi9e43ju0MwGysgyKssPz0ehYx0IwGYvqJcXNUvQhHtG3iY1oKWFWthrs35DZS94mCXg38cM6Lf36ZkOgmWek9lTQF7Pfef226xf1BzgVjWb8w4af2ds8qH1acwzbG0NV7Z8bJsAR0VD3fxRKv+awA5bz3c92JSriSpt2iD2fCUQGtYSB4PjXv3DzkUCkQ84aQ8tmIXF00/wppGD5LtJVeIDvR1w3RQRuW+llE7nEJsWT4OXITNt5Eh6cEJBEdDjw6WVOSXOF3VI+NX07IkrFi23mK5Epp82nJN46KrDhIUttf1pANqam4ysqXfFgSGpKhEK/Kckxen+fZ2cUI1p4wJIp4I2yR/cFymxT3q7sPC4whM1/XiHFXagjgWJqV5ZDkhtCF98Z9yBfrd12u9790arddJ4Pv47JopgRkWG7I3QLuH+81gMAvXyp2GZ5/fCAEfyQNMAK6tv8LIzWTfgOqzLG9/8mTgjxd0A/dIHnGwtaj/XQKaoAF/6b+SdIwF6obtj+DCrMEWJTqhpxeO4hvkhGE87DdzKcTWJBNAdAx2dEFtqDknD7NDqw+l4nhr+YdxU+lBRr4FDM5z+7tF+PtYyrMCalfRZvN4ycf0TsirgUciKflnHWtYmYY8mRmg2ICoHCQsmH/Lb4y6neMzwjDyOrxIHrJB6r+0TBUetT94xkpRYMKb6L7ZMzzNbjfNrYM8G0QNcsPwHTqiQ/pwMfoKH/P7nyaDXKHgj1StAK3iBysIqh3WuQ9JWZniWVM1g8M8mhjF7kIxutNvGzadq00RAj9v0ixjtWmIBj9CAjixpBJesmOPNMG5E+RLAGFlwdcE9nKqmCOV8zOtLgqLJgv/nrLcBgLtM/Nc94xgSUrIDi9CNKGZ5/CkCOyVV9PvR+a/JazPQY6cDe6+z8M86qzU0EXC74ik01G2VUciJuHk8vgaYc4tJ1luphOSEkgrVkX2SOk4RJCVjnms8Vx6/bXwsFROHT0mdBjUXbctEDg80+O5X6FaSzYupqHLpnyJMNxLb742DK2MsmzFVpx4M3MOe1exjDmRpevCl+him9MRtLnbPHjU+EeG8plihlHhLVglSis8GoK0M+pLt+PXweFShFMMYLBUFDcQtlzXr3tNEH4+h3aZ4BcSvlEAYInlA3NmsHmWyCnmAJVc7cmeii2VXmhZNX5EHYDY0yGXsFdRQ6Q7P0Hexlz7SeRuyGwcZpQNT29vn4W1m6JhF7Uq/etkDxBJbGebEkGh1p2hFcey7Q3fVujWiZrEnRAqZvXH6h8z1vFgpBRl73eF8+AoSf05EQefSjV2xuQEWZicdzshtFvFGJEGe2HHAdJ0HD5qwtXIbdEAmQ4eVtU2Hmk9FPFTLMAaCZFB8cYj5a0z86t4hP4qeTwBbKnY9tsSVnPAsG0Pcohce9AF/Ych7Lrk24Pfx0xOh+8xICEddoO66VlkwZTacCP2wHfIpxHy7V1zQ0bBHG0wWaIiRZfaPo5OwtYy2b24Jv9JkXSuzTtBr09K91pU9Vd/jZ140EhbopX7pg0ZyYM0QnnPu8+M3NH4mcbILn8SFDrLxnxiw8gPSef24edu5WK8cEs/ksV2gp3iJOL1cWzKWCW0NQ+4t03yQpf3btiKSs69nLjQbIFhTvJTm05y8Ff7IxVzQpOoEinQhwNGZEhEv9NERkh/+2gEbbFHKpvMDIHrAY0obXs7IVl1OI/qFIen7cffCtiTfxs0LXmh0StfImKqGswVeqE4zmt2AO61gk/XzRAd6V11AxcQmC+RMeslArBpGGqjjH7ZSox9F37doI0sE1FmsoI6qPGG89qb2vFKVuqbltQa3IPjunEm9N9jj74aintaTDPJ8vaZ/FFe4vy9lruILfLdca7Pj2pwxGBzhQ+7LVqazi0+ikEkDLZZbTvrcvQ3dwjQm6y3vPxI213/wUxazBMxZUfm4wU5Gn93AJnmZSWSQ+WIKAINo+93QJ5rcI9XIpBphKrjql2zU7Y3F7dp866A0YUxzPVw/DBYkeu3LkYO7XIAKr70uHuD008Xs9ELyOo1U6sFtt0BnYGYOcvpFxKI7Bp4Jb/3kn73wK47SWS9l9oGgQOJygQpVa8KonVUElNHsVHZUInVsV6TJNmaYP6dkEhmC3HFqn77tKcA/ES5QCCMBUB9teJ6CtnGwgIySLX/NpJwN1TieMd94rxChwOU6QcF1sZcrmeIgy5eZu7PJwNf8hEc0TGrMoBmr3gbniAyF4u/sATr8t0dYrgwMC0yu+xUsjE/f07rEnAL6/76U2Q4ToReyr0HDGwJIMmk5Y3FRQmdhj6BxUXc7z/3VV4xP2RsHOYx4hwny7Q9K4rPSOtvrEb/490iH8Mmpgy/cLFu+8thKBk0aNh5EDFguZ+770BZMzZedSmnKDge2WB2QDeWhh7KOI+rqezGpUlm9e/iG8h+Mb21uCvwY4jy/h9iM6jKNBSw62VL1ZbWb6TPTSIQKvpkuidMGx8tZph1iJgJcYl5HT96qE5nPnqRDldQ6a+j38kS+SAOHB3V+nhn4Vz0r0S1rVt+Dxfysky8YQEL7IpLqtP+bBNcANF83uGSfQmmayNGMFdIulJYq4DTpKtrA0Hn/VcOC5NSvYd1oVlNCTe2IAvGgK++2b70Z8v0ujqW1xxrOwYijRLWeLiSeIi9/786pn65VX6cBor+XdBN3DSV8wJpSMc/q0Skiw+ZBAWeMmpSbHoPqgOp5GPbtXzNQ1CaCxtpq3rKFjLg0LlX/AM2Zh+ywJFKflnhb3bcYshhCkZXvHzy4ho4jSzlcKsk9imTIrlbXut5jE1a9vwLyfdYytY4+qekAbYBYD/mohKXa3VfyzVLAh1Qqj8b4iRJ+hqmgmtbxICbEimVALUI5txWvFLvSrfSZpL/JnyngMJNuzSkomBTNle6XYsnyva4SCrpQQo+tBkS8c5rsSqj10aGAp7umTZf8jkjlqTT1YCiWU9Wfaywjatl1okJB106mhOMy0DdCTKZDnX07dtlBfHQLf9jX+o42D3Ax9uZm0s4Fdiy1jdjMCfBT3VSXW0z9s+GE/Bo4JkLxL0GVnzoRV6l31UBiYW9WVfHX5oyE89s9TwAfNovw/TCi2a3Id8+qfXenmOgOcHbkuHTOP/JqjiMaDErfVvYFGSj7asuHLPHuI9+uRWlnLKDNpRA1gW+jbVI1aYE3QZrVe1P9rFYepWuGH3r6USI57smROkYOixV+GPmi7BOSRwKMqxT+Xaj+QiG2LaIEJai9bKVkFmwpwuw6lGZJmbD6CD8qNfCJ9uBmRKWF/M+3KLJ5YvgqgLX/Zq/P7fueILC6C5Fn64eTdXlRitlJZFCvb1yg9SJZQhxb6n4ltJ0itUZk9JZ58SpEE2GqoY0LJ8+YuPqjWT0+uQ3pyhwSz4ZEeJfOtHrz8Vc3HL0Am7Xgg9B8dRO8uVCWm3dw4JCnbVIG8WC+YhSZZAeWE/deFesZ75/rAppEJii6/sulTRI1TEQdG2tI/nhmfsNjyfZKuFakHiRx7ivzOnH04LTjqltdQEB443euwbpwDA79pyv7yBSf+USDlGu0FN75YCYyp53bEWYm1ZejnNyL/YVd5v94shvpVA0NN9PljWXjjuxZRjqAmmDJvNOtMY3pYKwuCSMKnesvkl3PmVQDZK9owAIhhRCLFWMCAxkr3v0RMylapJdlRRctSoygBP7EvOxC47dnI2/SH92gwHkrwK+AGLu7c7kADTnFgfF9lxsD/HQlW241peoHAGyz2Rum5ag5MdCGBOA10TF6sgPw6oQlx/AGCr4xEsFMUaZK842qFfG26GFeqWTM9cgu9ISsrMejA0QaAuWONa0TPjutHwSltdlQKfRQsw0gyQpoWpddGv+0UJkdrJ7eABJLi0OSjuwLG1IaRwjCrBhaB45aDCChh0AXhEaBiBY595bmZKqkWtOuiMVw7csGZIMazEYV6esCYCrAQrq4hBCt5eVmPdMjjRc7FZnBEVzs/mTyYSijBtZaupCKzNThqHd2WYCyW8T+lHwKF0WGerIKp2eHtl1UaFbBQ+XCTEIOlLiCNMknUJdf03AQejO2qbWLgTAFA0E8ZRk3+FOLFXIxyswPGBjpi/m40PC7DBGwWO4I43y1iOtvqT8GSi9474lyZtUktZ2RGbr8fyatRP+MLK3vtXvl6QQQK2qQMymh6asV+34jc/09FlmMlccTKJd5auoW26yIA2nnpqwzEjeXPlFP8kY4e0T6fGAAdSKUR8z3FzV7gxk+XoGpgg8FATxHxhRK1A3f+epW+vfxjJ/C3TvhEdrADtnPOs2+csOubeumnFi0SPUWtef+M9TRIs6y2rMET2e8uiYHnIbSMNj34S1/9L1iFLMpT2tF6rpRzAPwGyn4fJYnE9iMuV8PMh7Ln1XB/ZkBqicnluN3EjMsZxDRYTcD3ltJNJPAg2bqVR4LAELKkiZ6bnO8xoZto5g4dyBW5cGW5unFmSlcK0CmWhjz8kcvHFgoSkUod11Qo20HUO8z75S1zdVVlLepAt6xYo8Tk8SNlYg5l2pncmMwNWqPQt0QWxpR/T/GJIGFXYRaCc/sSSV/uWE4iJb9Bax3RhCdAb9/cEaVaqDj74sh+b0JQ6ES2gBFSZlj/4I85oL0wJdU4zDJC5y3weru5bkAcI7CcUwzXwvN6iRl5074bLU+Se97ym0gq2r4hW8vGVi81/ktFSDTyU9HK3m1qKjvoxbN/eSgkBXVEoVJ/F2YznkAmHGJJp9ra/ci8ghMxlEDxpa8Gm64SyeqDp3CLXms4E39yD0KljlvntRRpnf2H4xhq6/vfIO4yG79DnpeNNcdAeZE24zWat++gXd8UUMXtD1qmoNiXaAhGPmzsbOy3WKqOv2KMWFzlHA7C69pzm91YO9YptSeUZijlyaAfftjx+rIpsUSFkkrIcodEbq8TDQm8kk1xQkel1u1Rds2QYLiKx8YUH28G2UrBb7ht72HcoJtEokOEY6S3XAXYtMnt2pPzA0IxnnvumI67xWuf4m0II+HEtAG6mH5K/mhJ61lRgahyRXipHNukeDIm0wRLdtU8yjlB8w3DzyhtwP+kXo/SHMmeO9HbkzrMljQzIbb02HdFiNNC4YFiL9qGINrksOINWUAYsDl4ppG6I7u4edqJwXBHVkG8k3VelxUD2gsrvf6eTQBRNXSgEbo3uCNA6L2Ifao70K5GzCJP2iAk7PdQOOZDvm0+IicyIyd+HIrh0xB5/IJnoCZJl0U5fWCKHV1ONbGhVK+2PvctO6dP5bNeHrbXkKHNijSbx3dBKnlol9usApZdlMD47kvfvCCcRT/pIj44SoylJNFEs5aqZxIEeFsASfAg2RvdmQ4ZAHNqsmCB+yCLAa/UmIqF0RFxKoFdZgagnlg0oR2bV8cU9doh+McPTp04VdCfhLBQQjcmqYFds5Smvm+HTYDTdHj+7c46vCsc3duuvJZTLokkuoICpjqWpxvZpAb77/A30TKP7l7WYU1co7MQuB4LbZeIdIng2jiKc2RefVoGhyEWAox/5VTjG1mwWuEd89Z4BbCnZR1xMql+bUvYHRFOHepoN7yHbSNjJSZtnNWGm9Wetxg1rqtq7R4LAdgI3wSCz1KW7yZufmpABJyOvWc6D9KR0hmINp42GLRP5T1g8Zl4fihTujkI66CtDDHQWS1CQS1KCSSUJtgpR6rSDW8i55znoGn8ABMXMCTCB3HTO8jtkNQrdo/3hhkQe6hb8agoDj/EGGtrltLeqUvoEJBbAYyp0ZQQfO/kWtmzfswRB1piVSdUmjfSHZ+dOdnyKgpXBcdClhPJ78OES6O/Jr0Q7Vyscfnyxw+dNy/PMhPNWU0gpVQ9qmSJ65+QHCub/fKui8bcvOJ7IycFCGnFKh4sWfAB6DQrO046if/EJXbXJq5tN14l+AZr226Oe14gYfR0qoJ18aQZeRXcC6aa/cBK7UVXxNfy1s/t8DZTIbJLJkFZRd+IuImdxG0wBJqRaAViRNXok7kHe7dXKzzqCPvYu5n920D2sCbLtW+czBWY8/TgznMUah2/UcrjAOo+fajo29FjgUgCk06lAqYit5AkPlN+SBaq02wmNhVFS1gHZzmHgM2Z2Ua393pSQMVNUhQIfRSt3+RLdk6KXsQNAXUgeuT1Zi2fM78ikqwxSs2g6gzDWX4H+fRee0/26YUMBU0oJu6RUFYbWW9vi+g7mY9rmm3d8qYmTU2caILm2sRBNwS2o9QDB54xraUfypzQsglK9SwFyKo6LJg1S3t0/y5MaAg7P+jKq30fNDCT0IcneEBVzJMpE+HaHVUmEJoUX3P9YqKGp6DzyLfcxxqq0TS2WKmUihg/LkyM0uMl2whBERPTLWs09Fd+0dERwiS9a0D+B8Qog11m6Sj61nWQ8RUalE1Q7UnsbTc5MoR1S6RMQlR4JfS/i7a+bd6dYsb3kWCkQ+i1hqPUWyQjtYyLujzt2GoOU46wWmnYqXrwcFtxouErWa7iL8rGvepLMCyZHCLbKPWn50+uRmA3v2q6a3jb4gwtxxLbnUl9ShTB4UkszwYUSKzSEcYd6j/d/mQuOt5RZesAx/BRlzuKQDkffRaCSeUXmrNlTCjbUvfOcA/j2je5Q0wb7UvJSjqVRvaV7P3kXs49wMch6MTgg++St0kLy14nQ6sTd9HqubBf4FruvsuHQcf4z86/jpMJvg50KJz2PelZVMabed14uKvDQmjKDfWTDUoq+A7Jmg4v3tigo7JVLfwjFZJvX1RbBG6fBbBEyUP19u88SEbYDZ+13GB7V1UnI1AlpF6EGV/MRdsXpjfPhXOgy6BQW+Hcyvb+jGkK87/oEyw82Mu47dDQBFwdSRXZXyeymPtarLaRBeMoy4iasK9YLY/u5LdRlKK8iHaMZ1QTKh3SHt/8c8NZBs3cwx4VFetS71C+Dcu7Q5MWPv3JgFUygUvSp4sSvTFU3II6MqE4ZsyGW6z8il8zNGGFspmuscDK7blfCAMRGwPffSuZAPJVb7+y64Mo6ZxKJo32AaZNw7cuF7V65jc/BQ8PVuVxDOcvJEDoeGqF61Do7q4IXUSDIfYtoOPnfgsTm4XaOBVQXA+G+Rj0vUgbqM0YgWCzmXDhUOhbY+plKFLMu0ZXk4aS11UX4r89nbKsDA3ZBm60V7Cxghm/q3ddjvvyz3SqX9HEwqCV3wsXSblvyycvG490o6CNJGzCdI2uq/mn1DdDF7Xfmrk/xCghFiQ7jDHNUyOAt6LoFGd9PH3LZWIBNyjvbdHs6Spr9sAuerzm8xq86IkwKudhpdeOk+lslNVF89WZA3qWCVFr0HqeDuezlWebAkLrbwK5wVqi6bD1+8aAvcxJA6gsbtG2rnccee8X8KQhcm6czszIxam0PkfWmD+x57dawRCZKCu7Q2ZvFaTHvxSu0bjWyjQ+qBpASQ0Obf8ectkw9Zl+SDJYupkFgfcrSdbdA+3pt1YUWT/K3mVdHsFaOtNSXGwx7mVMrz4yGc6il5Dx7jeG0yfi4Cwkikh8caqfUYkVcnnw7l39OTeFM/KmgtlORK4oazH3ySm26kxP8Thn78VHWf8XsKBExzOhqu84213RoymudTt+aPDwRwV7xtQwTpcpuW3s5OqnD+jOeLr3EySHNATc7dAyAxtHbYz5nyOEm/FMRiOcCWqNFDDPf0NBUetZsyoyntyOy8uR0C2LQk2wnnoIZO7TiB0w6JMU8GK5qluyyVlKfTHOh+1hyY/WaPd/VW/vN8ukvV0VmTHAF0CR0ijN5s2yiAtgt6sE3ON5USsltI+kIncHIL9CXEsk81hbvPRd5fkXWyKF5GNdd50VUD4X5sWOytPemYDwMuJkd5Kb1R15qYSiUHPEEj2in5ft16rTHif7vWRqtgT3fX0wKGR/QqiY7Lsc/LFqgy3aAlS+tL5cIohnZJ3p3571A5Rqwy3J8JJGkF788+SfqlBvC7k90w+Z9kDYSb+RGXPFfUnpWVjkJQLrfG3KKZYeyqHR/uTp9g8mX5KgMsPgXIzpb2fkDJybwbKcUgcPGVZRvd/Lkp7c9Vl9v+S5VkSewFQqIVDGuA24T+AxBkbgjaRB9+nnloalZd8F3kaGRm9u17X6eGLUPX1DMb/7bueOftrsIsRw13v63WdomIHcvuMnVR4owBsS8FqEd38H7VwDKYRWuZGTKw4QHDVYNyN8OwswBUcPGZquB1T2+0IiNBlmIIk2XqbV7PP+cXuLuMtOkZ5vInCG9v/RREj3Z/UqaCqA6nAIR4zRyfoMuO369tyQ5pWjtsKsoWOSu+WQU+djq+3AxN0ULg3nyAAW9ncqavFwD15VH19exy5AOG/I7A1naTmce+8phVZPaBrGoyzh1WLsC8Vc8hLuCJhpP4s2XFou8XzVts2wXJn19lrxv25pVlQcvNDBPUA67rTuYsemJ5GyJtVF+CqMhhRbhZmqw4e6sIR8Up4ybPRH7nGLkeNjbPSHhQU2LpwL8IR6N2o17Vfc2LDQnYO/hOHrYi8zFpJ77cctgFKB66o5yno3EJe06L7tJisl0Mg+YfZGg5YwaDjhSfGiiG4Ub6p59ouo8KraslpDRnPTc13kd8bcVRFdLApUrdTdlDX4/sbB5Cwomo0p3k/zi9Rz1Yg6IyeDbVZsWC6NKHawpN2WBJlExEPUP38Fj90wVQOjJD9+liCFGKhvLSUMr3/rvIY8luAwFgAV562JfEv8X6wpcRnc/bflvpcjcAtEKavgyqIMpIHJzMfSONbZfN1Npukv9sVMKssKgTMQGnw1CXZXKvkZB1n40KT40Lr0LpoGktAzFttoxobHfRiCPZ5vV9eIDCFZtKDNSc0F34QaygMvoSC/Q/Ng1n0eUfKJrvKOEEucxa+GhzC1rKC8QcKtsR4SlDB3ceRsH1f9Sn3y7fa/J15Xrn8+OURTTqJsKHRUZyd6fczxx0bL/brp+jk4of6Z+kbIjmlMqAHZVxote83ViFDb9eftBBBi6gXIeqI3VLpQRm8skZCzmSIsZO3pF4FaXEU9KdR6AD4Fov0o33FF5OGen643LNNYcf08G+UD4p9PBuIQiZxNom0POx+39//n9XsqsqyY4R6gMwJv7DIpeFmNJkyvk/72f3qvjS4a9lbxI53YK54bVmRCYroqfaviMXn44WNR/X98ljIQ6I1dnjSRG6npYAFQPpC2+MfpcycA0G3WQ0IncDeMTFAPVeYa9a6vwo2V59VeSlrl7nRQaZB99RkoUVi4A1RxeZIc2l4MpOhSalhoTh+T2ur5Ee3d+Q/BPiANM8M3pJkgYpYkeqiLRTz9fsyjdlZpKjIwr2Ielv69KuNUZfRVv1DjXizxasEhabQVmP3M12FTANlYQlS3yFP//93+mDBTm221jQ8k3mIZxFISd2qSzRPj3PLbmEXTKHJTUjtTUr3UjDoR98lCQa1tzazJEkqNnYOpXue+FQXzrBA6qpxQaebDmox7sDIe7iPqKeSx6ZZaJjvuHIcW6U0MAVpHGhx/lql+WzwDBZn7EDHVik0uUK3VHzuugAmzbCVGVpd6Oy5ZzwirH7Vdysi+PzyVatg1Vszf5zSJrBVxUtaO8byAzIGP+A7zTdIHvuDVACHZJPmWXZ1gFnEfHM/NPm92PKoQ97920h0GrebV82FOycPsKVzISf8Ifc6jxYT1e9bHLyoJPcfXTuhIPLWJ0MGBiVaB3c9la0xif5739cmULrQAWF3WlY1Kw/Ofel9A7XDNVnTE3CGLxnBUTARPUiKS5T7FnJDZ6zkT5RocJ7n/g3DH+ylMC6ay2uH2hW/uH3Mx3ecnKYTen99sRsGN82JO/2RLjdMXMVRa6e/sGi4wuwndhzaocqQYch/RpQABWL+eYzwIjIBwn2Yilw3JzEiJBgCsOUtuQOzxykcMH0CFB9TBpXAyJnxMGEMdI2qboA2S3+p8iDfts/UTCOgEne5oGxFkXtddJ+P/pBqVwTshg6u4WYfqBwO87qD+T09RZrvT3+1l7STDv7SZG/zZ7V5BF623tKmlAgW0UXl6J15M+HWw338kRCcBESudhoDgg66SFlM9OcS0w5z3vwI0c+PS+BJ6uUkQ7J9yP92HXn4V6AuQSpuIT/RU+/Z5PszacyFyOeLZxHjIdyJxTB93PqKeCoe0ImxMBq9/342OGwwxpOf2vgnkSWYongN8r310IgKu0Evaxg+EKJQmSOQdy5DvfcCDWQ0v+9dv8kyDv8h/VCA8J4B4sJQMYP1i1kHO50PRKQF+40We9YTFyZEcHHtLXhuTnTOwkY5UBDMBziKC6VIBPwPWKWkaXO+/SkeKufKtPDHOioncg75RGqFIepKmczvzZdO7MEeVpMoFHZkMaPhgCm/cvxuKlJ9zo1VLXinEFk7NPOSdhp6mhVSZhoIgyC/MSySTpLMoif7i+DQ+azmURt3DYWSRPwd2IsHezg7lfwbz9R8kCzHzh4xljUGn/hZrLK7mBV7YmYCpAQcZIHQOcShFhU30FBON3asA3hccU33qdnv4ByCxSDfk78tw7fvasnwr8fniDqN3AdURG7GBWbZQo47OXSTXOT4fdX3JrtMERV+6JHkcDpEqq5h088VvNTeHxwRLfOMYSgcCS8cIsDDzDt4Vf+yNsXyYgNuJLlk8yuY61+O27UPnbb8/z420DpvsTCRWCRHZRNN6PD3Isbcq6yM1J+XoYhOVpxoZ/kI+xZgdRKkacpsBKwXrvjowRAq+3MRgybWl2VyavIIHOyPoEhFLLZZyqruMzm27bh6jxzmPVhu1Z2WjopDPmla2VtBt2By9XFL+VpNuDwEfW1Y8CqThgF2dSbjUA5uoj6dn4EbnQfStXEOl3YP5/u/IWSYndQGBXs7/E+8UMAdxOgJ/I0hp1B5e8Nx8YUlLOb2zZ7ljexQ7nygCQKwN6LEFYEQsZ/ep0t7UaMpxnJyX3YqPUxBiV0E0lvA7J/NcBseKS+YUE9B7ps3BOtKPdq3ydnN1GTI+Le4wrUrJueL4G8USXorm0zJl+b8XSqpxIY7Frb9z3vA32bKJ77g7G428NrPJ8azHyN35t6zlLQ8HC5iWQoQANN/bwLW0IG4o1PiRWo320m89hpTt24E/5N80Dg/0U5/cDmSNZZeQFeXCQyFsHtI/dNaWt4nkPMrQ9lipoNHpZ80rkbNpDI2x/22k+yuh7+GuQc1pzufuw1hB/xqvqgxqNPoEGJEO0nNglLlygcOF66p2ExRiEWEzKetVB25k62WwzLloNDAy5MjqLymITkSekGmPzObXRWx7Bn1nd3YSiCaZbvO9kcCeJP6QreABgpD/jWbM2843hNgxsuKWagI+eD+5GT+Kc3h0s1Akeqr91EzCXYBUTrnw2sz/56X4xIhGHrgtv5FZKwBP9L55DUW7Ow6h111OK108CCFuOC2F5PxqRfUg0HOW0waMY24DIg2q8XZtYa/WD/JLdcbpNl3I+sGbrOzV0rjtgN8h5cja5cmEU3O2Z6we8o5sY/lV2rwckkqlZ4rABf55WzZ3imKXkpSkyFUs75qKY9zD1fPBPjmuh1ZYMNCR51tXKbRaApEmlXkryB8X3b1ZS7itLKymGGk2U3QgcSWRat/gb6ZXIACxPvKpXSb35f0lNPWeAH6OYrMPrnnTfhHttAgWS/sBgfAlUolM5TALS8sy7310PSck7+Lph6tMLz+55+fdxGJohNQN8vLJQu9bnT2LZbguEFwbIHYI799q4KrnqvxsOGXHAnDldOl93c9dqGl3IRlDYv8uYO7v4LQSPbcg9J/eVYi1KLbqJT9HQY8MosQYPU0wqAjOhUn6GCLZ57Q6UMnl9KPRGZskUL4/0a9LC5qxxNl8ERZeAlgqcTAmiwaB99VMZbCdBbUKkg0EMrShvThH2WCeiWKjMsTI2wY1pEDxPMeghiCbUnWByFy4r9mK7jhHELe9gGTWLAldV9XT77EUV+A+RZlLelEJgyWtaSjBU+9fHmlstwZDTOiTnDZ2ynz+ypDkVsgGxWaJZztiw7GZQH1UzGk9EOAmVsP5Pz5qHwmaYst0PO1DM6YXQAMoKiQ2diQlTkaF+NI3geHDXlYUy/m1F4lMsutz/eDMU/k+eVj8I6W7ig60WB3DAMn08wd95P2Doh+pnHVDCHGrwgo9jiuNA/Q5o9KZZPyOmPU/Fs5rombQR1T6g0vInpl8ePi6rr7oazPcU73h0pMtD6eCqgGD3ckBK171b3jNtoGwRHjPP/hfDiSBcTQkJR2yedkfY77G8DkvHb0nz9olE9Biy1IOaMoK+l8ZzvxGMcYMjV/r8SgmScI+3d2SBN0/eePmQ+3sp8n/Ba5BpTqMUCvmJX368MWV0kT22eRVgOw2T89/+f6NUaN6XnYUXwzzbDJcRpuM9NYQ5huatqEh/BPVqBiI/e3/uy19jcmoSl4USCVoEOtG1EOhf5LTQ4tP+2aujYKV13NyeBIU1iJFEzdhwdmrIMLug/GINg3KtXNDPV4201haNZPoRAQDsTHJhVuK3Y0jDU34Wg/vAm0hTDDUPIJjP7PJS6tQOWAK76p4tuDmCS1EBZ5yOd1I3iwBXSzyl1zGuBfqqpxagJ15RMi5sSVjaLvUFpCoJ0UReqwOJIX+B400h9qw3SB5zSiDxjB7K5F2Qx/tnK+lAI9k/jQv9h0XN1h4dvkHRSFQJYp6l9NnqKa6uEQ7wiRI1XYSo+xNY7Kh2rG6Nmd7xrjo9U1E3YZU4exg3drHeKW4twDbMmuYEHOBXaiNnxDW6YbBWdkeSUJNZ3Pi1lfgwz8/spHVHelkqo/yyUYcfdi6DZuI6PXmiP6P3OrxtQWCX10iYUs2WaSp8A/TQpMmlFmrxA7kzqtFXGIvzVq663FyRU7YeQVlP6KkGkP7Uf7bFh8MhvLB+qqsequfUd+DdRuV+uTJMniAY1HkRXnJEWHrZJSmVI5Rr6TSXnNeoTl1t6s7HX+XpDICNEXl9TNDhJGoywBx+ecZIAtFEEOPNlCUaPAuOxMiWUZJgsYPB7+m6wstm4F57KuL8k86OthCvz1gMQytYOFn4dwg0eLD0059XEzOB4uZklnM59X9hvuPXI1xuNJ+pwfxFwzBDAn2xPpdHRmQ1QFxqxHpAO69WAO98MxFcXflhnl1qnakEu1JTqd7rmWvQRBUYWjmlEkLtMGu/jdcCYo35QgLyxH2E+WrBwJcoKzBenV5gFEfFkebZji4NL82BrhLSboFu7QSJjCq2cKvHDUMxlxgi24qF9DBwsiL9bDAyvq6EHim9YFazVtgYdYzrxS5xsl8GK0hwYjoZOqS6gIaAhYx6NfVLXV5OBoylwGpJd5wrDLy7K3abrVOkZOAwWt5rGrM4cpi0A3u5+2IcnAjQjVS0ofIdedRBhZzcDL654ZMOVKfDfanj05uWMySMDQ6VD5zgN/Zhh4Vc2GbAD7jYiCI9K5mQ+Pff7CEVkc6nL/LVjDgqjImDMLFZosNlYamhyCSJMREOxHRxAS//w40rEQQPCkLUWQAIpaZE5HOXy7iztJ/lQr25ULsOfFyESVksqSjTrxKw0lXvdKc3e0Wv99+uOLWuPBYvW+kcQnfU/OAa025H4xrQj/r762yagqub84y4oGWHEVKNOO2U1Je4vY1W2zIo+iRqHUCaKprLqlLUt8ONy+YY9uyhmwopEeaAFX11sJrP3f05J4PUfUUOESzdYSZ67H33FAYPvKFOSEHXrMPJb/WygldIyktDd06XtqVUZmSZ8VthofwEPi+I6TEi/u/2jf3LWA+E4VLaY7dgQZoFxh08JSyVRGCH8vlD6dVT9q6YL7IOMFyp++R77vnQIAJ3M4e6W+lotQn3MqeyTVlKNwqV9Rn1HWE8gkwKMTVFVfVZPWRXjo/BYiGxrvbAJJNzfVAmQeyNzvHFTNUF8a5Lvw+rlCAb6sAzyB5c8xGU4CBbikGWNQ2XPhca6TDEP1vIVi35N0pl5EBROyJlS7qbu2AlOs+LcR/8xTIAVVHyLK7hs3c7NQiGSQSg52gXjGXxIyKCJufP+ozZRTnki3gmhxpPPDFrQP8TnGKVsQu+CEsVgXjgnRUSbEXGz2ornw9tizno97GMV1EY1JDTwehdslADC3HLmrmsUqHbfCLCG/CwgiJikqIPXdbWN5lKWnD4x6lrsfMTgk7ubN8iCtaZk5RtW3qC5MZSBV+iGNXQJe9qM8PF7ndCNJyjCHVwfaqDHgrUesur9gLr0hfsAoGwp6tpb2pm3YmhGuhMvDop8ZrVc0sqzBJKqYLFvWUV35wppC4FNzg/qlHvIWR5ruBhHFYZtGPKMDFNRr2B0CABKCbsOkj+gTKaamhWvZMYV1S2GX4q71rc4DxaaWVfoITHdPnhsXtVo8Hp2aplgReHJnSOPleuMnBga0nEBmTxFsoP+Z8LGoH1SqWEa+r7AixYpu9bTvnPamtl4nlluOpZswfOrQpS2BhbhG4N/XBrlACutTc+wh/HYOobtdotKkyTBujsUR25jFihw2oSuoc62doWW97GulCYdb14IgEfZiVuiCmndgY+a4lQnpIGG3Belj+VzrAcPpIWiao4pLdp8BwQ7gg5HsYonTwW57tWNmzulut/gk4c4GW/CkJXOzgWWfhY1eBATDmylvCzpoXfd1CXl7wPRyjLlAqITyOBDB/Z1GlQ7PFZXbBre+GeYUFW0OYkTjlFMzP2jgUq7xNC0ov+x+JAIk1a+8CnJGVn1syIgr6aAQ+rkaRV9i2QoCMb608vVGwltIQw3DYdWej3JIlJuuW3TWJ89koF4pUVFK9Qw2scW758xLIvrbxUL4Fno80AP19DX33pq8qUDUbe9dF7Q6Rkk3ZPAHPKjsx8pMruoDsoKsl+pUDLVOcZkw9xrv+ffchySSXlnCh2fdaOH1E4aC51eVruWQj/M88BVTaII8hQiwJXqSpNQPCzzafKkcZaSz7j2asocjfVBpOtlik9IDMjvweWprAAghMjMPoyDvQhm4EYTodiH6RYLm/V2uggQbmf/1avrt1CAsDsbmfubU1VjiI4iJDWzriVYP1PkJrOBNb9gVLpCPQsV0vEInq+0KXNiW/JTLjcPc2lm6U4pT4BLxHCl0MW7I/g9RvEHmqfpB6tNtLESLOvCVjfOvjO1Cczx/xOnon58NTC7PqYEKBPDkeN7ziXhxOQW4Oqh/garwmEEe7A+KORW3pS9UWi6RfYShz1fLTv9IvW5iXeoT9c9OFCYqU18ATVyybig0LR1o/BixWkEVeyNgk47gc7K2J97DQENTF8tHeAWWz6jBXrYHpBQxLQo6LtGys0jaKo18Nt4R86KgEVy+JCN8JaRct9M6+RnWALrOlXGEYgobjEBbksDWjarPIhhsNa6SWTCfqqF7qDbKGZB1c+nMUlvYuOkZIxjZPtskRNUZLCUF9XWt8CsY75T9mfQcqpzU4mSYAF8ECX218lKbxWjdtq3oMSiGj9CgS+MlfWiZAtwXBtHwpAQ3ZD6vcuXIC8MkHhrV9qhAj35gzfXrmzB3cvFtq6D9vccf/6oDflO7Kf7Su40YE3l/UULAbl77Hg9zBxPdEKjFDcB25o6ah8h19pDOJn8bOBrirUGIB9tsHrcFT2eswnJlswx3HxIwppokNz1B9wFKxbhzcKYx/JYm3sAW5+xE5v8mj+1hCNvuy/5WcpixhXD8YGI4Jcrx4jjAUPHox64OeFtDbiK0R5tJnldZk26UHlatGFVwzl4R5BFcr70Lmvejegg4IXnhOkkrwA49RetxalsNkHGFRTsSh8V8JLHHdC0OKExU5CaHHvsE7axM6ndhtl1z1awkPs7G5G/eM80nacuvEaJdt6InYLF08cSqWjlHpBEEPmtgtySSvkmzRbjVjAx1vAYVCwWLAkYhfaOokwZKXc9vLaUATwX1y3DPk0GVyaiUdCaqBJWkC3l76kzaEvcDM3yYGXMq2yOFOCEE2t5JcAziVmy2NIp2IqvWW/kq1YO3GphhMI6Ts4mJC6SRdR+YeVjfhh/xIAWIhIeZIdM4jMbv02t/vUIt4BO2XOIGQgtjeu6BKT/seNfGLWe5oIPJEskptgy1hqKI5Eo10pVu0UqemV+gQdLs2nWttgNGZ3NFerDzxdzLfpOBHm+bWIZeiuYAL+f44s2TlLF+XDXo0zH5DiHDQ4HgXZF41VXtzNcHg81ymsBgTSylBftNECP6v0B5xCei1OOv3vRUVm6rUZNVrpWK7t25Tf5qUOx8ReizsKNtTQQGjtqR/iKE8gxsX0M1HyqWkXCtJ9Vo0EFC7IzlLyG0VO6WXT9bSLKolTaJmUiY4/4TuVZ/8u1PkvnDS1sQk0p7/mVTF0zVvTlHtWOPQ0FZqGGM4n1Ac5JFpaxDIFKRsnDbuASgL3hiGv3vn3zrjnpXFg4Ovx4PaNe1BdBPYPdavo/33/jPVtqRyUsobaQjEgFxJcaFQCy9HNIP2jsjOHgLIoMb3r52n7nzMpLpGLiLC8LM3vPqRCHHOcpZjcbtJU92sZSFhc3JEAXBQQDalJjiTgo+VHFF0U5C21gZ8Gxch+ay0LzjPewC19yZyLn2tYvvIlvOmJh4tZoTZu7+NapR1P83tmFLj7vVVmyG4BZLkwrPmnMNrD9WrLOl4S7bG1hbw4x8hs4OAn7LBYDF+ftp2XjBXwde7QX8Q8WohC7poBssfGYK1GXm9WesEwiwXx7U33aJYvnsGA/3yRCbqg3v6yKiVslMGDExOKjLIycTmYjq1Cu6G8GKmBzt/tZdoFpJULUu1ofOPR7GBECxWTAIiIlwfgj2nVyAadLmQeT0XLo8HjKMB36CF6Br/I3LRfacYrG12cjptFRORtnUXJcH2CI5zW2ofm3WPw9iR+pqb4lsuVTyNpoXwCVVsI61A+FTkjohlNFKwdX3PIJnkOWBc/7lo4SJSbYWoQXQUY8qZJJ82bFfRHjbcWmV85DnRE5xvt6i5YQU7jEYfuTSCO6hIPqsk8+USq43k3u0kleyLkymZtf40J0rvzWEwGptyjheG4SSf5E2oQBV3IUNNxRGoC4MG5zcZmXm9XyABldp6XmsvT2uTXx3Sye5XhtFmXYrRrmyoqwCOLdn4sxNYp/m9YXaGlrUeXnmW7E9641i0Hx8mqz1xsSFxN2ai2CEBJlKXRVoF1LEGUa1KfOtGtMPkZQcHy448zvKL8i4nolPz7cZUB9O1DyJXKElMCNyO6FHyC4dVMyKbo2GzJS2anlVCPxISsI8mWujKG9mfdiKzneNXSAGZhQanZI767q911cO9cjt51taF76LkLKlVmSYVbWCvqcNKai+UTv2wwDn86lfMJvCsyQZZPtuD6utYVhAPR+jusaioDaqeEwOtattpN2NKTkkGlobU4L18QkeEOHitAs0jzXNkeIkrpxA3NY7OoyYVCODJTzNOzVduyk+8d3PLytQxAyBpD3venODoOKFwddOhxP+suEIPxfKhaa405x8RacLJzf3zjyoZIr/axblgvZDII+naFqzHwr50C5GKVMFcLEvzdzn5KZpV7rN5NuIYg7Qzje2WTlNKYsZdaQC1DJC11NGTQ+oJisWpFcYgeOZUoFB4WRzvDiigghvw3DaNEuNl+aAl/P5sGh0nY5V+E7F7Eq/m6d+Z6BnPaxNSmY7XSVWlZm2ErAVT12CZ78m6M2uZUlefFP2lrEhYa7iyDa5OFTsWiGuiLqBQ6KyqeC6IplPigkiyFCqKkL4u9jwfo+uT6fYFkiOJwSp5ZFIiaGeET/h54AmOMLfifGZPk/jzRKt2+na8RdHuEoUaxNL/WsnbE9vVQG87PoVtjUN6+JpM6QiYKkbJqEmUThzxMnJFKcZUtbRGYah3J/8N21oh8t1mIDIGHPPMzYCM+yGBFTM4P0EtUNCl+k2GByUbdpApUzNt84mO55C8Cyf13av3y+T0rN2U4nOcNxublasNwlu0oOfjkAmgagF4DcLwCdOm3Ogz6sBhAeehKlMqBB8uZ0V5nIVfKK0jkPZoWj1jRult6kyGsMXhJK9xU4gzrgrUvOl6dmuD2DmHjTKsrB5JkiXy5LxJs2qMhaV1lovHMry1GrO78zNAhIu6+So7fI2/Z1RtsDZhfgznmM31GMb33SeWEyrnQn/sht9+cInlHaavS58HGs20fD6REW9W/Yw2+Re5pu0HVhVdrxY4rzJZQs2JscyXL/1443Kk7xcVolWbsS1vnmFSxuWz+dFtBm8JmkjqFSS8XKYqv0Hg5HwnSxm7ZttfASY7dFVxovaMLNt/z540KRZcUTdhilua11+OVBR397KbjgMTVqrKcM8W0cNTzhs2ASOCnXztP3CwfjZUYoIBg75Xniva9rv0jklBH0eENP+NhyVHmm9itM9nbY3TqCShjVQfHkFEy3zdWf5H38MI2qNt4E3ply1ljkCwCsbsOgWUIn9mcD5xe0hYIS4tRq0v4JR1hgVP4hzjBOJOzXsLydnGvk28pG7SIklsSpnViIlhVo7Zk70KT7dNR3WiK/LvoA6XfyGlveRz/QFeY8Oboe/BtrSSzo96WhqCDXguKOiEEwu/41S9J5Myi8tiJQJN1bWThtuQHXNWAjIrKrYKP1Y9uGIfv8L1JoNzwf/9Gbp4Lb0uIR8H8BltG5K5dZ7cFCZAbVLFv0fwN/bxq88zskgVG1Qj2EUH+KNtE94N0GB3q17Zrs6Gk72CA6ZTsII7FXdqCEaqJ3bgd3yYXw9iEQSgUiX73BI6Btg8vwp3jxZQJlh0dV9TKH1vl3b4RhRE0eIcLsXXwHsnbC8zbY8FXOI4micmMpIzJPkKEL72Tcduhgd57sk9uCSHUWiwIACavkW4eCvxjXFRmTZUTsfbhWlWp927TJ7qWFnIKv+vy2a4y7h57ajfu/Fc2VqX4FmuWlly2r3VkxQbKKXzHfnj5uOFKG5g4+PIrS9dtItx1L4fE38r8qaKx9tNrJAwjgtCdP8DwvJEGDRWp7XMQDpi18CBRXl0iXDMmQxSPMHUyqbX+OH6IBa1brE/vBRaHMaW38oEKfXU327bot1TfggagxTw8i4Gy1L309+MApEVEa5+VfU2OK3bfTC3gzg66gyZW1Hg+WYaGXkWm/6+TLHPTazdmkA2A74q3b33unCX6l8TAKE3EdBd3DDmi5+nczabzOgZdip39ss3ogJ8vSKtqtcF+p8QSriILWprXWidt1gZc7FvBQ7XXmt8LsHrigJrbRvgBcT89Wc2QPnQndt0SKtQT/RybGw0Ig9n5GwMaAzfmk+jaY5d2ETt3bNvFo46++VyVVppr11V96qazpL5x018EE/Rinb1VRqqqGog8nsZM1sO1Glqy23bOA+RMpTk7UEcVsworu0ld6w6exKjrnfOggaHSQaPFVhoW/1JaLog3D5RKUvgq3nsiTqW68U0Nlil+mAuGiZs1ixkmCd0F5qX5llUTjsF77xNm7522vH4HqJ36WHAA/i8peNDEyw3ZOaEVmLeJyVOYD64ugqBmnIPwRzx603I+IpSXBcUH3xKDSvYXkSLk8XcccajsC6wndnKl2OGBHiHGqK/SNEYZnZqDSWQlwExlBdNBpSR/KTRTWGnx4TCruDJ1KHr07YpeDZQbwXmQ4OuCpruBkH0sMrFetWCI08AnWCD73uKBlSuhryeMTRMaLexAK/WM3OWzuNz0McUbQ4vCnjL0a+2s8897Jdxil5Ku/bPZQjZhwdZeNRMCqDov7C3AZKGq2C+dGh/U57JcMdekE1b3PlUnZ6fn07XpmAwqIAVRc0O/jB6Aubat37wyqnUi3M+/uTQso0KYR7BErh/j4EdHnDNmIWDv/k0aMZRujbZIuBumkSs3vdlPonYNJAn3ApVYvKXu9TF8nr1ZqXr6BgGy0fTOPUy9F36mBkF9aU8i6qDeGq2S+g4zp6DRnfqSpyiMlzvnaWJIgKua7AvC9vnmjiriXL3m/bKE9owkmp6ftbpYVeqgqlbfpUd+lwalMYcsvxgmwP3Y0Tu4qPKtkn6125TkmMwSEdwIVm6gMuf8zGdCjn58f3Dib8tLbgHqFwPpkiblTv87rmxn8M1pDjg4sUh0806b0TRN8X2Xsh0QgDHyN0CFxybTVWM8tams/EkOOo1wsxKKJ4lNeyavtRMt7L/uKAcn8VlGeqFjE9ugJn1DPmB2pDVw7ob9u2GgrwDQpHwj03hMZhiFs1edDMwk1btww2OfCaiZFPjChvCdJ5gekXpMOmJ1Z9gPU2SpMiYy7in5dNt9PAGaqU0G2hnpSJPVBiRfYhlxwFxGuJ40Vy/O48aQ98DZ1hjCLgO4ZRjjy3kwJC3557lrsKTRA09LopN55/BUKctkYLV0hA6YlOJVqvw0wHyDvL55cIGDjOTrz8h2RmbKvB4I0io1lF3YWeRopHM+PsNLJmjaXuUcS9dlC5W2D/AYe5g7ZPXsaXjCO8BJAI6/w4nMx11FircwakRRZjshUflJ8MkWdHzBEr5kTDTivVdGi5VcyoQaIyeJ95H1sjFg0o0Weu2hFYPr/nmi0NKhjQ6l5Q6UAx1VHZhGUwIhD8hu2KEZp5hXq5tXq0z1CR8HjFQbVavnOv/fFuZErPsupqJZV+qnQO73f+t9VWE/m8YEN2kasppVSmqi/GHHc1kppubj895AVoVaL+r+VTxSbB6nqQ29M85yOrOLJCHxutHA4hhwTNqUaelg5zrgd8f8lg2zf7p1MujR7AUkM7iX9tKNAgOgon2szFER6w1Wl9+sLPIX78wJIgR7mQwD5/jeXcEnFymZB1p/yhCtFSkjls4vHkZ4tpxLCggv6istX4XqfdC0hilZh+nECpAO+8ncJhdhzLYstFa40zG43/hN9cp69Kjav/tMfu3K/TG8J8n7unIB2W+6EFfG99QdmaHyvqCTOQckD/OKWTzAtbIylr3V6Jg6leQpKQ4pCr053JaQ/1dij8LNawtGjUtsQotdTMmrom4nzDHLwX7pu90xkt7Vb+eqwuUinGUB3uunBn2+s/qY1wP9PYXKWzxwm2cLJFj9EZQlYYf/opNFJduzk8BqX5tHnZGRPNko0OvDEElsLlbZRZ8SrpuTsj6EaYkNYtVInXWzJlWYtUIT8uLZG1jxiHRr5q/1cjVovNM/5F3kFRfcJ1JlnD6Y8KUw40OrHhB6EjG12BF/1yoC4vFs+Q0SQebUBWCCyGNMu6Uf+ayiXxw0oa4IsiculonHX+0V/n/5aQbYo0kckQJ2/mx7PBVByKiNVX1ArM93fRg+CmuYEryFzjBJeSdxB5LlP4eF41bo17B5qMpl4Obv0A0HVCgFLIGNo9pJcV4qxfL7/nRB4YQL3waOOXxlNJimpeD6cqBlzXVybJoPlSL5ZjD/a4CTUij10MSCjNrf5k9/2Eah8gqjznpUNuWpQZCQURgXqFzeqKP/YcNU/Onwm8aHPC6KQTziAobqmznxDtqkETW+RN3f/KECVFzLzMpLJkaAOGwIH2K7ron0nkfBWE4SbtnZNoAX5mwP/miVSLgdsQH9K2cR88+1ZT7HXCMCTMUV1NxJ465DBMo1hAQ3x9aVRjEVbch+aTCS92+VFiTu/K9bBy00EzGAS6puhA1AjEj/nb6SeTkk3gtoaQoAVsut9bVPQ/BQe3OPpDd0xmvSIGYytlvwGJxLrLAREo78ABWDCOTWV7cFIliTk7WozaJG86dv8rPWZjW3CNeVIdb+jFu+7UdqwvO39DX1PLdu2W5K6U2tZQz7dFoPVv0hNSa+om+UaqXI8PRMyvxJtBYHbafZfZrt4jypdXDxoq9pECUMZ4nlJyUV/LacL8Eb5lX5oa6XKQZP88DwKRp3PooDN9GeaPFf3cyWfJXMHK5J8CeK18bw9aBRXMegMI+ylLowHkEmtZcC7PhzCamgmxnHSVPJp1kouayPphgsDLIz3UYFOYyBhNXEMBX3rJZ99OfGs0KVZ8xmMXC9Ky2QQxdOvsD07WTlWDSuvrdt7fFYBOuwdUvxiIqyA77OdSRboU5rf0lG3XuSeAYQbHrH49G0elqXSa73Fm0oQDtRo8i+uL0OL16edelIpcwGp4hSLEmJtNz+oPd2NgqNQW38UDVXhT0wofx6k+6MjtdNqkNPk9YNaN/AS2LXhQmQo33tKn+aoX7PL4MEOyPBM2w8N9P6oJH9JVS2Z7QppgQTB5Ialw1NcHMog7omZkjCY84qxhJnjceunOxhk/vCX9pQAFPZeGJ0YRMWLqQEExa10nTjU8DaJaTfdFRsfUU9gZpe/4Ml28X/zto/hAcxLcYiejo3FmqGMTdzd0IUH80IUgTePRhB7dpFtwCIqSbJDUQwscxEtK4YG7ztcgASv765BI6EQtfbFAbx5vhrrDgClIQmOMMmH5CzBIHuc0BjlX44idWQJQyg2EJ/ve5JopIkl8aiGCAl8rtvTSr3E6bZ+mfVcxzNsbooyQQBq0rEc6PvqNWtzUYAkfeQw5ffJajVUNcMdPsMuS8fEeH1ntt+k4L4DedpacSdflAj7857yOxJSWV/iH+qEsHiIh86IAMx+eF0aZQXBbXqpM5xhelwpEpaiWEcpqhvQADhU5GQn4v+oZ4rXIT+9YknARhKmx/go+alrXiggdXL5lvcOE/RxE430LDBn8Z1x4V842bSBzHrHJkbO3b5i6zHizo5kB6XQZNOy52/WOCSTa82oWrnKsK/yK4O5vMZ8hA1jy1r4uS9zxkk7SrWSNqoYPbGXVwj0Cw2N0myYveXUvvzAD3qSL7tv6b9xkBT1fLCi7uLfE+niRzUoUNM/i3O9yHZRVap9R2E8U0/RoUB8uCyLMeZHnM1wX351o79h1CFRKuFNpiZ4c5ClmjNV3saUrIXmJ2q0EG8zwKIriP3Xueq5oxvVujGM0hIqQZlT123l7Zg3ADMUlZu0w73uQlxb/7pQx+3KzmY02dpEX5TgYBy9NyVJE+e0VUu5THCS1zPD4GE4LUrE0tTUP9b9ErYNGJqxvtTm7H7v8dNv1DJcT40TVzJiaQzRifaB5fdecjQifCaUuHlhX0LbeCGzPJjRwb+zTLqPdSKVcCaPb6Lu2PjXA4MI7usiY4ae9JIIqoqvYLWLdXhlwp6gYK48UIZW4wQvCRMsQH1D/nZShkv7uYlQARSU1B2LiYaRR3F43l60/HmjQ/BmwIuSwagob5sl468pws7kZ9SQlUEVgBGMW1jbouS2NNuhCpeJfR8zKFfgb6GpMEDDGmYyBnSomhATxgXQYCL13f18Ppk6AIHxCRRVFJDjKn3GQFK0BsSmzswiBatahYzDdEB5kUofTUyM2XWYaxlFYTbijjoUUVQd16kFGJ8f3tipGMf/5w3Z3YwhjcvKVG4/z2xoQtUZqkEBAP2K7mQTMAgodFywhXVeUkLy4hiAP1JngHEb25NULm0Sn3vvEz16ZR/n6BknH+T5AgZz+zuBAr9H9br5rIgF/PciePw5KNk7P07rXWDDdFuzKbdG1K47u4Y8rWFO4W/P5/IdlLluwrLPjundMx46hhl92sy2YL1UKCrXvs5MGrwIkrymKisjvgQNEFbcfNv+47dn9t1m7dq8VjtI4aXnYbyRikRHO54BqGfPCK5Kh0FUsFFzlLNiEX6sNxUwaSvy2b3PxTmYQxX6ex0FCjBSNuVOAgkRWHoRBkl74qUI0fpojmVeU2FEYjefaH4PWn31e1toTmx6Ulw3YeOBakzkbaiMMEqKy703pOQdWupw1CvbYkEKP7PqBJIkjlY/TNZdDjFPlXWi3A3Jp9/+DcLfcvGyQjvqDhwPC0YX5B1b2V/ewMupm5meOok4ufANtnCAZmspaC1XgR+keWGmO8BR9W7bH4x6hSxwNid6gHgWOVPaGD1JRhatAlwktEsL8kRwjmEN3axC82qXAxKel9OFwox+uMKH/f/kAMimEE5O6OS7/7orBr3ibHgdRKDPDhkGa38hA/p320Yu4aPt4OCn5Y7gEjnxcx51KBzhVSBT5Vh7AvbQ8qQy+C2ylMu19EvtmEbeyhf3262VDa2qv6rbrQxsuzi9IoCbS8a8OvRsdRisRCKBqSyNXf0ScY3mUPBnEIHyEVJMM83dzFCNPEhEbP7VFbp/Gubl2H5NaNlA7SWNrhp/KNrF5do6N6EsSTvdmZcOXehBOXF0f/gwLD0gIdbxGiM86Z9IoG71uN9yIyigIB6LRohQvmiUxkyghVjZpsbvtUz83mMMLdc3031IE1BRipsV92sO+BnKG+FOINDZckCNRYhvwCoDa+AFv0Zp6Z8o0tu2smG9EnF26KNpwkywA61f0NkqR+Dwu6zFLbJugkdKM5BrwReesvcXdQ6GzyDlguW2sJusyjdU9xSRIzGwQOJNY6RLaRtZw+eF1WMwpq9TNx/uUFZCCjsIwQbc7Dmu1m0EWlnDGwekPW5mYIqL93NfBATIcMQaggT9PuMrQMOHXWr+ByQ4anlay/N5FRP2QUCKZ7355pnqUfDK4A0rp+kAw5l+QUqHLit9uqua9Y4JCuS5cAkTRHy+amezABACTWrhYrs5oQvhexHfbqIJlmhc0lRYIrdl4QFcPiHDsCuBxAPB4dB/vF4KPomKoYrcoS90TigJYKEzkC2/GI8A8Pmxb5/nKvjjMlySZC9EDl+C8dSVgNI+JGPIDrdqb+pYERZ+LNgkzND1KF1cnPpO99VFw++yztl01zgO29BZrBDUlaK2jIWX8GBrEMu6X9IENcEkk1TJfwp6R+EADfn9HaLh8H+hlhHSrR0onqnmG9DH+GhlFCUhPad9lVtjqqeUFIBPZKTAp8A1qP4+5K8vIxjT9BfBu+hdP5OZn4UL+nulzQL/ZnA/j3wV05fBFm+BOrcQxUidXBNxGItUInf778cdgAwwHW34gBgI7iNeYsJZcYQj7H/ZbOtUg4x59Roa3i6TK7+M5+DKziSXWdz5gb6RowG0Xr1PhL6FS7OPFzLQQRd2iw+tqtfaUhgFf5kyv2J5ksnDfErc3BHs2mZ0a4dBsqzvmLFJWAIkJZV/tmsRvu1fN7WHwtFVX/BJiK8oW6CehdgJvFHFXpbC21C4J5AtzEjq/S21KfJRvwhVaN8MXdeusrcgmwACpEujsNKdlF0OY3ZIkZQWI0wDnbeNKQcciZX2zslqkNL1JOdjbz6A3ozQ4uooIHioL7BW0bfxHySafSrnyBcjSrPX1vY28t63/Vj+YVHX/4cx6iRtGefx6eSAb/ByWMvEnT0DrnXzybI8QGGc0MI8TEAEGhveEqT25MlD9oV/Tna40218eFqDjM/HuBmoTew4UWgk2zAkFIMvIpERsiMsvoI4rXvIo4uqZO1gji2IRw/E3aDv4sb0+/Vg1gK6mVa8bG3IRniWaRY9oepnpVnOJE0CDHmnedH5BDkPZXmOpPzrZcBl8mwgSqr8SttUF5eORUxx90p49UJMsfxqLqFbuwXSbuBE7ylytSOjBnK+4D0PjWlDIn2MkYYfFk4avEYVy46+fmgYktqb9LxbIkvcRBR+L30gmxNwxNRR59bALZdQJkeeN8PCcdZlUk73sC+CSmVmecVgKnDoKi2Gw68NLCc6Ky+6IO1A83lJSkrCDNlfI5MW4yNax6jJ8MeYXwuzo6kxl6lwQ8YP00n3NxOlkLKRQe8GOnNSzro2aoffOndB3QYWKlZXl4dBO/b7TdBTkjB7HtErfV41ntTqKf1jaPyOXiDLSZkU8VsWNyqZJSMveunJ8MTr5HDu3cdcoSrMLvKduOJllXakTB5qPjCAzlMCqpzkoLchTDEqSQuooNRkLVsu0SL1anM551vEIc86Hfu4J/B2Cy5waJVnb4AqhWsHjDF7tE9NL31eXqsA8sDy8lOJQrstvNH8XX/WvCwEtt3v0HyMfye/K2/yIho7vdfwGAKVW+40YZsuMD/lFRQzFM0PRPsfeAbR2hgISv3O8HM/H7kUsHxKSJfsVdAidw/gOV5l9yhSofJKf3Bt3C/ZwK81FQoxdNGW5xdoBl3HmKRrAIq+pfzCqjd1/Hmaovbc7PiiZEkgpPpu6Tg54IfNsWij5cXJ5eN+8eoyTxE+Tjw4mE5hAXsNQAqNBwEezXOJuMk5nuqdaG13+zJ4IV55whnO7OG5GH/0wRHcq6W5zOckUVhmnRjTUtXTRFyohCVucADP4pN12XiFDGPhpkBGl0CyjfQR3CMKwfWggbKnWaddo0lDU+v82+PjTgXG1Chx13SaJA8LbRSzzDzgUfXSwZQCvooM+8XB2vfX6k356q47SeHb1S9iGFOXm1o4YyCEmBt2mbQa9ptazWSnDBRT81WgC16I9IgOmRbrvrj1bC0oha9CICNrXJenC8UAETpUR3QEnlDSIRvmKPs780Mlsm2H0KK9Ta6pv5AtyATIOp1z3ffsyygwdikJXmyKmiXacZ0sLfc3geMv3ixbvgWvRdqSmQIaWIx4mUi0IZ2fj9NiUHozQ3nCwno5Y/3iEHWll2U22HkOgnDEeZY4on7Han41L7DVGRZHf6kWCbjJ6V9Rb/x+G/6REn8RaIJOt9Urgq+BKGIptRIhZ3gAfaikKeK0iJMo2uUywyS9fsr2RgCc0KGG+zrkB/BWOfcsTRbxrgCw0XWMrwhvFrbo29lIbzNKSeGnpSd6B26w0XuSoFCIHipADYqVPKIZ0ziQu/t/2EqsEFPZ+dch/CnzQGe884x8HGv9vdNk84MPhf9YE7sOyW2rYA7pgc6cOSUhNrgflBz9qsVnVu4LIR4bf7VEa8YEnH2ycw2pRT9ujocujlaPFBFGaBgamFJS0aA3xAUPy1IVorVUO/gjjdudKglS6CWWfgaRVIWYURmL6b+Lc/Ta/DVX8fe67kFPgJEep9fKRZYSgZBP1zqgt129oxSWG3Hk/MlEa3N0z0AGMXwZQnKXcGOywIaPBimehmOLKcb4H1Q6DK8ZIL8D0a6ZCYS8yyK8ERK8w9Qp7ZsHrdSj6tfXpMGU3OuhKAgX/P0MtLYqQ4vYxTb4l1zOydAlX20My/FDBRaJ4clO/YdCx4gPwqn72DoaGKXPWHH8jHp/dUIg1umb/dm3HdmxFPGSEBrfE8FdRsoB029PMA8RNm171bjL5ayBX2eI25Hiqn1HNyNN7ebRLW8t9g1VdlH9+t5G/41mfyF8ESGGs4BHxCdlINuCchxUo2PwbnShbb/5FOXYPxz4STKRWVsxbRTZ014/48QWcJW9hdNsnBizFEBHuLjJgN5WkQU1zy1ph1f8riQgEVtNEXsv7yZ24UqBhY+qr2grbZMXyAJYEg+nG+URWl0kN1ArqL4pSQ80MVo0oZhEZwxLQunKQgYTGiKV6jmJtd+VhwwXKL0JKtnXnHEgQw1wd0mEjn3bMO5+5MCsistH29mFDFF4jXUSH8KLGKFzKaqyRXqywvFBB52nF1JOGX1xB2GBKaq4YrJvPXQ0ihSK9LiVz5Ww2DdKTr1DpLOGW+RTa9FtWT9jwEorSyaOr8Cj0DcBsaPbAbc/RoGdg5FFip5q3TX3prIBzFsgm8zU1VYD6VHBquZZBEyYMnQ5rXxI1R8rNR2UU94F8yUa7BjWCd2/hzGOHc6FoE+tAASunjVL40yf+Mb9zSTp+FOPfLkZarqzZ23Ew8SLDK5J5ClHxLiOgBW/AaXYknlux5iAM4OzfYXCO7WpxEvs2tlo2LqdYqmqlvFTXXQYcctRTkoDrZS90szZg6Vn2END9ySxhnFU/x93skcnJ4aXYXW/pyWknX4Zuo7Lc8CjN5fVoQvX6CDURsTD7AaQQWZuJiQu1XBZqQkwyGmSn7dsRY8q8E9ExR7OEzshGq01gf2jT3Hgfqjub/EpcDWw+7AIB+WpISoRO2IWoiqYUcNxCmvepc9qy1XgPt7RehgD4+7+IGrF8W2xodKnU+mTZ0hgcTqr8wihiZ1THn56QiRlrRE8wbEQ6s8eeAqKAHVFX26Moti1b67dY1CukaJEpd/DrDbbzi65scOtAxy5xZJfTY5NDX7NxXf5BSfhZ6EScwuL/LjiyivtlFyOC+464AmA0sI//NP7+MX5yDiBnCuwDKq2q5AIvskIaeItgBd08brb62kXDq6uZqv5quidGthyr6gTAtZprGi5FjDBLN7Q3QOyqa2iIxePjtPP2l4VseLAP3+kCjILjhzcD6I9nhmOY0WybkRcOUv3ZaiHYKfrCFUDE+YGw3niE+btm822+bQXGHfgpxXeZb7qjnTJVlhU9OU1nsAltBf7D5vU1XXaCHi6/4/BrebzDJZYfIqkMVtU9OUcn5GDIsQqmkpIETRFQEOrjEnLUE5quRWw7gA9umgQdJZZrSOwl19k2VTSDj8WxFpFvIDFqxm1gVIINK0d8CR8qjYjWsyu+weuIxIdCoXIgCqxrDDsnVCAy2gCBczG/u5eSIMmS5nHNgbOQmekczLUv25BHkON1AKu8OL5IIAgJzg8q5xqYy9EASiI+JuDEo2JDs7j2S9JSYT1R7Xu0HBRi9aleVhXth7TsqFmZbxiwbryML7KNjfE+e8I8fEFplliNAWrMlrG7HwJCcu9nTg8c7Q/REEhXxBWs5j7dzIze3Tz5TSO+7K+8h9PxPYZkgkIe0HNPeCpUgcdVuURx/iWIWfqKO36/8oeobzHQwV8ZXxDKgJEvfCvMNn0XLi4EI+LgF17QM5wdZSURnDMcgr/mizLpFe8Yw5Gwqje6lrhyC8DH0h4+PP9S6SCylYq+cjPFiEM164Ig1oumvx7WdPzTJeNbBs+VPYVlB1pa0T+RhwagrmfrOVfrLK5gzEC2Q7njVJtU+RwG1memNXx8l6WZM7+7poQS9GlPc5LRp7/CWvZegyNUgvft+w+xzy9mmK576E88+GNO6jJZBpIKEnRIysTlWG6sLeDAXyV7ZBCHjbbz06HSNf0AsPqDWqTHK5n0xbLnPvpiH4JDo+S8eYWDq+idkav2+gDc/zy+snqPiRDQ4RsEo5CKHpgC2/jcTRRfDm2VEiGXu5dEP5mHoTR8w8kCee5kvziNVurCORVjTUnTn1seKIfTfwQjCb6+U2g3EKiHCb1s7AxUL7t/XKxBKbr2DRD/n7de0iO0E2rMFcE/qaazOUGz2msKRYlXuernwO4qJ0uPXgwXnjck5RjNbWsnJYeuPNIjz29a3mfJx/SxluCnVr7vpsR4Yg5CvogIIheD8ahbK3+ATLbcy1bx2fPQXHBGJJMpLVe1hxBKc7+/uOeB6VkTlstg6Ah4l+INWANguzOet6QUHjm/fTxNqZRZKciZ5wXWFPUMa8XWyRwUuam8XkklXx6U1FG3/aXoLTrS4cvEHTKSmwJZCOZFhiScpDv5t21D9IGPmGQodvnIjG6J0bEyI0vePAJFDKMyUVgOol3GIhpXuKLAbzlno6R0Dmwu+cZHXkNC2J3FQ6Sx984UYRmiFiSTGy3bxqc5Hr0WFmz5gwYjqO/1tg32w6W1egi9cFVXlZ79V7UT35TtTlf+9aE8AorF+rvIcxuwRFPDpgrMUm0jH3fc2IbUDPd6oiPwblyOHvV1bDAuZ6JzacNTgytp/vesTw1y1ep/8GFSQ9KO0TLOJA9wwTArxb8pJmulKw8/cf15LU7JsBnI1IXEXHTkhB7/DFCzDhwBlrX5ry2BPp3ZUaOC9mDNnTCqD5wkYkioBF1Svm6oQL8PdsYgRi+MwpYga7OVT5VPO2JOA6HkhHatOxwXN6UAYk546OY6q4pWN8rWcborXNVeA5SOmf2d1WFW+VPL4ZNh+sXMMI5kFuRWYu5R5ptZt5UNtofHloIYiPBuYbg+MkqOQeCwgYdLoQB21bVFyZ+dIzY451OCrRf7IaBHRn4dsViALNDRTCOoUpB6E8K22td3C/zcsydIb4o+Z3YYvDPWAdmbV2abe0nj2wDETqV3E/SYH+n/dN4eIh64w1JF5fwH1ZInqtUy47dyCX0PWxzvPqhpOLYCFc3jkE7XEUGou8Wvnng8locNblPa7tOhRhfBePvfsY/Xp9Iep27w5evEWg7Bug2T6aFlg4VpRnHy0BaDfGyiGlbzPIeN5Xyfer4oiQLRG55tgQ1b6yW//s8iPnQ6GJnmnIHNc/duZb6tGB6GHAunj3fyWqUUuOydIKBR17nJRXzS7wwgITzO51S6fM5FnDeTMyULIoHETMCThzZAZtVW+1yQ82g2t3FkJ8gfnGL2J02VVK3c7sa6brvQaarhK/OvqPHyyZMWRx8m9sA/ZpjsLP8F02NpoiXUZS9nIFCVa5qZ0WDq3MvhtYGXr+hRj/03lBZSMo84jFb5Afqu9eVRs7pXrbXESjUHKFJAz06v2CRdZR7B7o7tRA2+h7mt18SufjRQui5m8VY/RTEToHfWIBEGPLvcKSaTeKpPPlUJ/YQVeKhDhYnG0a/uyHDj4ySn4OFYlhI3Ve5MVAHdN7hP9kzMEE998hB5Z2CxYZIk75tTVF4KZjoK+Rg8p7iBKFFsZ04C2AHvFm70znUxopfIrs4bwa1QvXNWF1LhLrc58SVTiNIiYKGnGhhYX7Ud1d9z9mTCbhzt0btD63u26y8qP/zC9l7MgzyQzhZI/wDGMi+cOiQRZavWb55Fdjg3SGJNw+4f8GBGKpPbwU8HhwPAjbVZgaGxAw9tTLgUwVuyV0CjYafQ1WZEJhXmJVzN+CaOyXhkqFWbnU1Miau0RIv2pxBr1pEmL5CnZD3/ds3sGuUGmp4YFOoHIHfwzPbCBWoF3gMIwkgMy99tpnv449hR+S5bl9WPq23n7gpwhVU9Q7nnMS25e9uC/nXMZXR+KfnPHchgdHyqfzckJmdrz9eZ83EpB6H6iFEROxgH3g6qTFyGqsXmYxQo+B8gWQ3MJBA2kbZHrpvPFXcyW1G2H93BDG62YhElWA24uApIRZXXCfoqZPAa2qJXpbxmGa5MZ7BnOFPVVP8ZJEAlhtpoQ6W5mZ8w94iKFX8+etIY0Doyp+Dy8HhwCqguHRGDONUeepTedf99mDI7OHquCOaiMJBXccX+jrf38CKxDciR2o3zQEDrgDRaF8uv2R/XlmNBh5lwyG0Mke31AEATREnqwsVD0dNTr4Rr0xvOuoNDyDUrFNA8us1AxWINBc6MrLqR2j+eI9RNw8fSrEa+1H5zPxk2ijG1gzQAv7MsZ0aSCuZ7IJjmxhsjIpthDrcBvZSzHu7EBjTiqJQPGZCUhqtE26R1+afM9Z+9BSTXwDHs+nOoItkmn8azHABpLQk3tEiPogd/lmiz/4VGaYv1OVfBT//NCR2rIXqI8dE+0IGciz7jmz8CKdR2//ScbSk/yr9iN8S/asEp+bhkllGVuB54vCJA4NzVWiIikruZD2xPpU93ktkxG6gD7Rf8dy7ksY/emT+976lnqAakM+hmI06t3/r93dRnsyhc2DrUkqEjoY6k1KLNfGMIcmAxtmMWL/a2rW3f3sZvYRSzFFv7BjrqxL3xw3mFLxuJw6qprBrmqfxYK2iNyjqygfJHbDT4ZpgUrPTxuUo/a2YFnkejtfWjVgaohX6BkdPYgmMGsWY4Gnr924WXICuoaHc2vkp/nI3V5eTslzOondCQgmoh7Nf6ZytQTbFEexmtOzBfqb2+L+bo0alBpT+J8mYSIzvkxjG5itKKJQ5IShJ2BJnbcES/+yV+blO5Qs0gBPc5Hv8JQ/yCCPsvZx35YaU7+x/grfDiGyPTYfFwNk4Wwq+LSH9lAeR5cqp3vh/4M49XWc9ZBjiOmLkZze4126DMGBPvxKk7ZgYMyBpDxROmSZ7xgewuzRHK0OEbGYn+x2As2wnp1YGPmnD1/73Ql3pjlhgncHeU6xmY5NBqopcExq48rgkfV/kNKhvUTsO+1Ub0fwdogTfiSya2Spds58+mm1ysgCWz6sa6I7wDjKFBYZDlxYmDXrWjNnmeuiNiG10t3lb60z7X2n0heFAm2Vbps5La+0gVz4Yp3x1OHy9v7lR9OXTnFANxUNlgvXTy8Vze0dO516GpshBNljf6jztJpA9vjlOf+bmnBS3ANSBM+G7J2XonbLCWgOQ5XvQ6jSf1MxNdcvVYsZBLkwS4RGP0x2z4q8sFGMdfiITkVUGULotCFOfeh/CPDjKz7v/7yYuOav+xnpgSxUpszq2OKDRMVLmJOaC+dWmMtiaEqnsDEBraoadUNvUUJ1Prqe29Ryo/vVVa45PqndjqjgJrUTtBRSBxgfxlJM2GLUMOoMXB3k5j3xdN6n1XQeCxP5K5FGhxsYFyTrqPOpuceDcdt7vWPhwUBcr3eWzPQeFY3DYJN/cvxiOrs6bo7fmeNrmyxIJQtmIxFoMMdn5JE6mcUfGVLcC/Yf48Fns4GKwpJmSIItpHdfpOqZ/8UpUrcs35wklcR9opNFyH9C9pF2hmD0QuN18GP9HfRHfKrKhZ14W6/2GBOMwylmogcBaWc8YXTbBWwsRJnyiZZn+bQrwFJilEv2eo4s1rSHkIXfyZjWalBW5Jh80L0dv+/S37xpxL2BiaHo5fsiqFZ8zPNgVBiRFMejysm762piQOh3hjtsSZMoJkySxYpH+Nzbtmj8xaHjJGFENRZOK8xGqBuOC0aPSBTnuUbPzlmSe0Z7mknfH+lRaYoZ4FaGJpuV/saL09LlBnBdaN8S6fmEMNGgK6U3rai9d1CONYgrkORxgLN4UTgg7tD434NFiwJqhhgd+0dWivJh8fAtzcuLqBsslBjAYeO9VUFZJxGfvTgu+W2OFz7mtWvKg4bLHgX1yfLQRrDTHpZ2PJBMW2aZbUrGiKw5a0t8MYIgQbqxd1FV0EsbarvhLqOXhbk6RQzEKD9F7iIDCuz5UBRcmq8aDcUDOFG1fjbweYqOHDli8SbE/tqZpAUzn7mZZXQcTGgLNHmPdvrkt+tzNCTx1gz5mnrnsP/vFQYoSNmc+aQiSD73xlKBz+lQBdyuk4lvq2rta7bwDkgQhxJiK6+UQaV8imhLA8RCt7ucUXusKYUCh1hXRHEzKgpPIIGpijo2RQTg+R3vlh40LRNBPsId4F5DrRq13DVv0ewwcjyP5/RFnfEWkNsDIcHxR7/BfFJf8NDtAeVrePy2xANClor3/8TRBb1hl++qEiuLPSn4MFwYvq4r2+aHsTjgK93SRpkfYupQP3oIPGHNZXY634Q/YxiK8BEHGxTaoMDi2OV2Vw+drct5RlSwilbe694vC2MHHTfX03grg5UE4T364WVEnT2K1rP3rlm8EBMy3Bk7IC6WMwHqc1MDmeQ1dbhG/d4ZKOk66zK9Xtlg/kDa43/KRrbkRAhZGcIGfr0/xKfKJ5UNTr0xIklqzLNiQ94VMiOGY1WRuo380zyxwdthV40rCX6z8VCGuwVz8DWjx29c1wPEUAzjjlJ3p0BmWMMEiV/zF+bRz8wsbHRZHsuMe6nvazE6vxrVlewON7n97ooA4ypWvJZC142iEn8YC8OUL0BllF8ptN+O1XEVlO9qbnzjIsS6AhFrmRrUmEZ/1npIYdQ6Q7FLg45MRFMh33RIG894fowXHrf3a/yw23deMohQTKfKmxuDJTYXuYTEXX8RNVJyb1+M0DPidU2Brs2b0JpjEJ0hZAq+dhYUJZzAGEIvQj5D+D9ay/DtgSjivHbAD12b9DBPKN8LYLz6YA67tQciHNegRXvqTpqni25OxHfd1ANfWZbWUAqT3z+mtcBuIqWr8qVvl2O12EunzkVPMBIA3lbGWdFW0BmBl1PAD8frAqVmP03iGDi5LhrXzuArgnJzyQ0e8NAm3fi4ioeX7upPD9AUrQtjvDel6PEadzEVmGInm1AznR/gjzmr1bMpdt/DgfKhNk9gSsmqYzIgi2Dr8o33D4668p9Iz4MJ0dadZ5Q2qGL9vBkVPflDq8BCZh6xjvEF+e/fMtpCrxII/u37cf8piF57+uO5vA1aeHoeTX7j8f83MLdAu5Zy/WOpGmRIAAimxM0aoIq4Q/bYa3DBga2sxOMbwuv+T7TPIeomDscX+SsMaBUboi3YYxG1HW0mD+klIUwwybUP58b2w4hfvnI7Sd3MkFulIU/351sbPJNcD2wdh7tRCbJrbXCkzW8HfCrwWDlEmWkC6443xqvIqIfhQiUsupql5Mkv0WmbsMGuToCtrgX5vXVcTw91xClvKl2XnYeOV7ftYMEYiN1iCJXA0nHyA9NDz02JSYkTRSWY4YSwL/W9JBuN7MQr4v+3Z7yBGrowHxdxbdAHHRvxa9INrjTjxso4iCOXXpo3yPbGCuHr6QO1DKSYqaCAO+CD2aQKWF83YI31izX+0dORnlwSoUbgD1uMZzBBZD4jFj9ZT41eLH1TSil/3SwSUIfdz+jDgYTB26CCNXBaZRPzVaSTcNFdNKQ8Kf+UtxantLwHaLNWj1fvkvLNTgEbZrSD8RAilH59HLGkH/qkZTaSyna+Kd551PAi0+zejLgqFCdTWXQggtop+epjP1ztzsodc4N+ygdQ7nUXcVuUNURW5b2vgIys0FSccMZdyeYCF/aWUX35k3Ye1HxJiXAGDLZm8EfLW2FUYqK5csABgEkJPpaBljoftd47BMAAOG0AMS8hK4+6uwkzSnD9CHC9W1WSVaU8BA4U0xGW4V7uBBs2xS261oIpUdF+zqJSUlVrE+cBTWZis3K2XaT3RvUlpYkjUOEmO/ngRyuJWKk7Wknz9W6Z53pmFvWmeoNVhpANM6mtgn9nz/SjFILJNyC6prOYVjB9RoawVQ1WIpIuK0XJgBvFQUaQaP8I8nwAEK64GLwAHcNprYkbyzyAW2dfkqL1sUx4m7cM+ySq/Rhj/dY3G+XzTEtzHPeqiKwCDbLIfCk7Ay8tuiuuq1ZzHgMW72VendsR7bWLYlaa6w5LNUy4T6hQFmO3YsIDxRoXfLoMaxNo53/40TPL1PMyH4L0xsKPZS1eAQYH3eUd5cSMSvEW+V0NbOuKEM28icP9yOUSFoBDntYXmRt/xF5PF+UiYaW06/0/ah52X1T7JLsCB3rFlU+BDdhFpeb/OAUesuhkxu711WyjHuIUxhyNdNaljpGA4InxTrR36GVY+TgfSp24snS4YqzMSOiClzE/ZSnNHupWQ86IxUuFHS8SRKHP+Gj4tKHoQSVmYlgctsmi0M/AyZd/Y+IAHyjgrbbjrkHQ1GshkxA4xzAT1/Dp+QSjycsCdPcmVoldoMjEwK7lS44TDEl+gjoUknmioO6NYfUGCmJWjzMZkhhg/8Zw2JOG1ShsWXo9ck+hN6kB0TAwkVv1riZR3N7Lni3zUXLKKBZNalOWMYCDM3qRA+8ARAdaRyLIW47tmzGOe8Fjr0iV9UvyeosJoIZHu7Jw/L7FcOMx0X8V84UrB/lifnoS/f6Ze3IThr9z4zVJyLhRBAyJE4MNOjbIfIA4tXMP/p6qz84tmo2xSkroYxlQtZDcLDuLJjI0AXBAgg5nMogbtp1zx5BksUAr1WUSAtN69NcF+KojEg571KxHx/2DdFBAIi7k83t6a8YRaVXRUvdx4iFErJdM4kAdiEjDraaOSpJRD6YNy1y/NcJlXukKlIqdRMOlPqg0FGVtdTUi884DV6sg/6IwIcs2eCBlVLMtJX4J3yt9+m/v6hsISgthBdF4dOpD5uW9j/8BGRLhpLHL2xXdwbj4zBbKiKIMeGpklYBcl6LIeEDqrCJ9YbGWV+fQmuoQlKQ3Ksc5CiUNtdzhL2Qv7FXRP6CswTn60S56MEUUqEPbGFzrOep+0pPQO5LohTw7xuoHKvvuoNrvfF/ayfEn+hpam7P0kCpH609DsRIFjOMOPCjVnPzpfVEKR0en3z9BWl7G4CGHPuPQMbUGT4xzERZ8a6e0ovZY6bCO56WMF+7t6Iasv8pZzd/HfLC428R2PYEzcPI9kF1s54wHh3+jFuNOkbx9xFd6z+7Ar0wVyxl6ulnqs8tYBaucKIQC1uxC0vLeWd454zDooTXPjOml8qv/Czl4yYTP4HEFaaU/Sic0XatZSpTn3g8KzVXOwxjSePyjgPJNMEjuU6rxcmkmAhBnkZ6lKYTPdecW6N1wvFC0HMUuuM+zMAADwmtS7sgtwRPX+CSNIjJIibenilcY4kRprTJ1L5/sJ2Q450hzhLHxaFIvf7MxiqNB/54KlS6qMXxkV9h7cE2RpZLAWbhgLUe2ztwRq3eFqc2adUMv9zW24a1TnK/rOCGAww4wqQF/o/N02iW1lANwLxgkvzLSPOEjTm1Pb3jlrJB6TCLH6EhJyvAFVsFqQ3AFW5Ebsaj6N3On+A9ubkmDPMC2UGDlofyT/EXhe7PMTOmr/V69Eb9yV0NW4a43necTAf4svdGTykdYLCRcVzX0QuhkpFq8s0R+CT40/gM/xiXhKTJmztEmX12Dh18TsalMgOfEGPW4IKyZrhkLKqrwfzA99cmXSNA/W5gTItn94w9ElzFuSnFzC3bNskOTM+cPTz1Yu7OmYC+PHpJCIWZqruE9Ejqa5JupvL5gMpEPs7GDH8GdvPuw9lFJXViH5kJGHrANLyL8hX5D0HAWXpSvI92ODNYO3jvRVlDJF2RkmcY6tqcJGt5Y9UndkAvoU3tyBLl5Obc8pOoTYlfCV7XCuMJx4jlyjKriAT5eZueRt9RyTMldghAhQu7pdWPJzcBx0TvwyNCiV+5sCQ/wIBC7ijZUnYCWkscrHMR/Asmi+9zmnTPS35JQKwLKUuQeeGRrC1Rga8cSdW8rCa/zCSnXzZ/4lXrciYV1DTjwv9GzcQ0gHp/0cggCeao24FtRL1Emj8iD2Y1G+IP/VveB5XQn1yMWL7BZSdqIUEzoHXpjFFA8RftAYphRxY2sM2s9D4jwaUNh+2na7PwW+V4PPkyZxxLAsHRMz6Y4FJpK7H7nU8ADQ91KVC2cFGM7coHDaweaOMgjGc+6iYcqEzOJeJC8QDukIZlWv+7wA4Bp54Sws/37WQoYoLZ4V5BIbKeihqJjnhMrcMJuWnW5ENqb71arYgcZUQqRbMEHd+Lzfw50QDyfOWPD6xCzDDwvzEtD3u/Wo9tYDNK9XaQdfLnzVxcaNqqpW3prDvyMnLqNzn8byhIYnQ8RK9tzrBZLHZ/yg4TEcVy+EMVp5jj5gFFHkq4v73dhVmmhqdFoSfG6FL0OG8h5U6eT+J98tPYbHx6pn2HQZ02TE940hghS6IpYcTmjEbAy78adMTdngXZHviDjJUm3b2N0HKLwZdYsR+VTijJNTo7jjFur6lWdSn3t2zYp6ikBI3yx7tLOAiY/3w3Nc4XaTfjW5Kl3sQoxiUeiT8kVsZ4VRmTIZO9IlNqZxF7NzXpZ34l0LFAL8U3nxj6diHH1W9gFKuQXpiMbAro65LLZ4tiC2nQpdsxYQQN0WzG0LPoHVOuVDRNmSuxxKBIdxUoDcnRyl62oO+4y+smxsrCHNoDF30NuCjwfUeMDDTeKMllQqnWonHyA/lkHd2zJNmIFKfh1zDHPO+qUS1ysAdtoyi3s6SwZQAD3yDru7tW48/pNdRL9YLPq5jtmEnXKC16cDpH9jmSjw9t0IockDJhOSxFRGrtrvBYnB+IxUM/mJNjF17RUyJ3QL/a5PF/1CiNZlx4D9ar3dfb5ASQdD/9iAxi/M/074RAUI2KZV+baKxNEL+CcSwVI5+TitoBvVFdVruDm/+eIVixk9h0pXhEK4Qrw8yo790UZVmsuCwQQVs1mHUzIMsiFjWhAi7yzdynJhFLrYJ7j6uaa6kXIa8ZQH7Oec7YYEaXbl6JMCSc2tH1vCHyqq2fGBpd9d7KgyWY63HcLPGzxNv4ltVWzUQBWJz3nLPTLkLcmcTUuZLh1uHo0cVz/LwpKl0HOjAnDJgmC9khIvvA9T+kpiTxT/H++r+XkzRX4UQd8OT1pGne2JIrt5y9Z2uNqW4/dqMs8pwak5DoleyQA5+BY0a7uUQf9qLrNlay7O5DBh/K7HmVmVTQ0WDUUkUXM4XJRKi2TV+WtgN1a0f9ISpG+nZ6lQLPHxvy9bQ6FX6GsqNvVaE/4UVjJKOSsV/z7Lw5rkVn8BQd/Qu0qGNXAfwDZmTOcYVXWX17m8AlaNhBCHKBCpyArp8d9XuadOJ5OwzdivAy03RiRJCJY5BcV/8WEfwMfIeuaeYZYb7gBAQb3mijla98M8mf/5kY8KBMkwClEFmtE55xRzMSvAds6gK+K9/YNq705oT3w93ssWpcUREFyZr35Sjzje+mvTvJwZyaG54MVlI5+Y1Mxp7w6w6p4zU9jUMNG3j3QigYxTKp65zi7jqXgkEdOAfTBcAriUbS2rG5QVzp63g3sPAQyrNj9ccDqunVIB5yClwxWTPdsOSdHypjb8tHz4pVJpaS9A7A9V4boWT+CQyk4iMjnugL4KaUdmAfIGJydr8uvRr+w1/hCmvWZdyRbBQmxVG2C7KUUyWviJKVe+3Kc+mSdf2bO8Qo9TidN4GuzeY3O9Z532u/gCipLFf2YTE28IeYmoWAogyi7lRf/ffYfafHuZnhUntXQxfW5N1UNmlQkkGycXmkqRWQHWWf3eaxIOEr6XBZUmEVr/Me81iMutNvIqvNoys8T+Rqq7+MnZvx0TN3xueTLfaECFMJkcu3HjPTKzaYXbdePWufxzITgGlvgb79bmzvBZ0FhKhkh4yxxKrCVMSE2KXd3uCVhFjAg9ZgFuUbR15kV84Zh1rBNpl7979Rd1zKdXCGjiMgfQtvWzs1+bYwKYqL+XO/d4mBE8ZUMNF80sQojRI/Teg/1Y7UEh55VA3Mwt21aFIw1fG6SQzvl43y3LpT49tCx7e72XmwvyXUm+kYKJGTN6xjjXsv56r7T7xtNmcljJMrM1liyNlhIeK7tYaFs3nhGOqaR8Cfu1TVv3VSh7zf2pghipEIX7jCYJjvaqscultknnRmelTJbQuHVWBSO8x8UdaomomYAZVt09FE2PtQmao3UCYHoNEYYj9F/uXqa0vn3RGFXa49O0BG/xxjWmV7apCUXDxwsM5gxMTwxBtceCnCuIxqbQwf6d03+XlH914nHjEHr/mSa6dj4oPFdak356DQTVlAUjbXrvVv84Auo6rC5Btxl1NyGcTdBmnZ5e8nHUSjovrbm9sol+g56FbqjFgDpYmbRVEb3QtEKz2yzFUEyOK+0Vt+cnxorFRvn5aCZalf0NHDYir9SuZojZ7SMVMmfpmpW6c7I9SNiGTWeNn6JWpnj+gOXp2fyeYN9VpPjIWFcdMxAx36Y2wmJ7PbFcKVi8Glt+MCjy668kBzEtZsmGZYvgD+6ThhEsNKhZqUoAE5qh/1Z5cs3kGxgx/+mu83Rp7fKVDruL9CmhTXXw69Sh0rbgmkdUBKTcnl8/MRVn4FdRBUzW1vvP9E/CfzsgDWmjWfSeMdWjnRr7yvQoOUKcVnKh4QYUKsRv4ecSUJpVwedBo4wG0USSKx8cxehMtoKf4MaoMmpoqzg8sf0LK/VxUTO1p3C8PANIfogtnx4ndIFb9cRctN/n3ejo1UyB37DUFOsJsqpsSdwHryGJZ0KcQ5YEvHZDJXm6jaQZSxXLva/IPLkm7wTbVTyX8Zwr9tCCq0JBZIdWE9J5lc0A47Gbua7CqWWZZZbqDuI2EJNT5xGx9MDvSknolDvaTFQOs+1F1QB6wJLEpC7XpA9I5m1mszIk9SIA9VMaFuffN3s83YbZqQs5LVNplAFklNKg2oDfJsce/saMydNTTuyZzFGyAJsskyfaThWVFiy2zWUJLjb0VLsrP85kyOTgj0IDoMNCMQehZh/xJ6SC9+SV1CAHLcdoSI0n5ZpToxHa0dEgTmVXSCYz2csz/XHh/4cdQ6l4P12gwvnr1uiZiQASmIzt1EybAt5IYz+Z/Va8x+MJNi+4PjlnuqGzUCpJbB71Ll5rQRQjQV6AROg2gUiLbiE2ri2z90oLTlnT48DjDGFcxOhclP5TBwOFU1wIYBug/jtVgOyXGRDxbqa8AUa4mDh5XFLoZiqOPbDPLfLqhFmW88ahyc9hQe/ZeovAHeG80CynOX++XBl0S3dMONU2sn+dbyWW0Ss2LYrXu5+puUBJIMJXEO8CNp5g/4pLnk2ZqZ14IOfKRqIHdSicON3HBxfnL8r2yBH4bJ40QMVa0Ex4cFVmx3wb7F4mfaDyoZEyBERLvRA0gyC1eC8JINK0LynSm8gZUCpKBldskgbDGL2uBqz6FMabFcOcicWNKxR2PGljzbKz04q/u/prPtYhoYhWyDpJTQIPgjYCt00cmw6YfrYjBKGqFV30gwfLTE6vKp54gXeQ9RUr0PH+0k3fPzbwDm7MJxNaqQsuW2qUeb1zhocwatbWRz5KuipQF1I0MYLEgkfXgWNVy0cemDHCockgh/j8HA/v7r8LM64w2KdmDwOpgcCEH0eQrzJQgKFc2HcpvI1Ey6qkAFhVSOwr/JwseYffYAZOD96pobAyRlMwKzl/9E+lglLhU/4wxwb5XZUI3GuyqmPxjaftGuEq28ziZE+wr+9NmKOGIyd4QKI+oT/ikiqS2jrJq5dySfOqtRi4TWhmHmaV6sGf+2PYToc78s/ZCD2YpujDA8fOpSsoHdHZbylOQqk2W7sap/pxz4N5Ew13KMv1lr1hI2E1Rw/KTLtcj4qwDqen/lvXc8hrGgT7GX/+YZCl6m5ejALqreFIJGP9od0xGVVZ/0TDuvKnoYJTo5d70ecAkAwl+EDAh3MgsOv6uQNjd2dMU0fEbL7P4zNzBsDzeoMYNGnRpBNJgBfncXcRkflfQ2/jJlJ6QMBi1coNa3Xs8KhrThmiwockF2EPL4FBUw5UlW0h/LkfAuN0R71p87HIg5Mh6BDDpoQ1IS2Tg8CHXhuN2FXMM05pGdY9hdM6+pFIPwAb10MgFiE3Wqgaqr/2ox16yR+f8Gzh9BGgZimWfB9Nctl/3kSSYHrq7ya7fOLPrhsp79oLERXdB6mEqQM2K7yg8UfaVs9gpcFS8yqIS/2ECJz9yrw6V7mYBK24InCttqI+UN4Kbqoi1UcT1ePdR9fT1oxxl9uDXR1dwvh33HfIKN26shBlPYGgaQe6W4CrfVN7W61wGbqMJ/M2T3tE3zWuthtF6sdy+tScFI0CUATBKimhh2rmXBUjHGWy6X0piI03kjx+YW+omIiilQ2zv076J506T7PFebbF4rhukGSaztMqpSikCqvokcE7zJ7ksTyPRPRPfuh+4Ov5uUVpATAXgZWIR7qncFovALr5EhmhVNVJlpZ8kMSNmXMlqudJuAmHi5SCoMaXkmDNCLv0pCJXDV1NqGvEurNiWcA+uvAAIEg/6rHZUDx+7qryYKEdEmBSteM3kgVvRzGmNiIhknYAHLojMS58tFqDO6CVWpyXcfD/fmsrUQImYMjP0rsLYzTfKoLWMYnLhgNOLaM+mapQ8MxFEtFlfNb7L94tbwRQC6QF+cV4WpUUChqRa9PQ6RpM6jnAZQLTBbvND6hBDTA5iSsppgcsbxHIcK9AUaholoNsCJpQjQxpP0Gs3exHdZ3KLneQXr40mU2+rT6yKTTeRy2/QOSMGWbRTtrFmPND9mHWdoJm2sDAOb+U9n/WwtNrrV9qmjcwQI7k0kvFzvXSMYkzLUkfeW4ZpijQ/SU4IaBIhDCOFtgjOfv9RhOaaX3o40Pwe0gA8RX5B1fysRGhZ4YLAerK9NyhvIqiTLu6vLUg1yCdIO/Ncz8P8970M4nuh2uCFALTHuSaIqfggN3GPDOg99IvCHZTMO0nbqgeV2CRzosPoCVzJ6KVZs3wdChnh/ZuswF65Cfpzuq6YPRZ58vhUJtxVVrrfCnQBzhX60rRFxySvJritMcxgFu9IbW3iMHVsqdaRhzszNmGSmFkeohumSfs7VmjI6YfU3RMrHxxCynHOKOBT60BLSw0TsrPQ7K4h2GTn7hVN21OhchLn38JGSv74RgwOB5027S+QWtKECeXuw3bzM8xt+tu9IBVYxUoIPhqV7G7QnEOYmEXntdKnOY3tQs+cMcU4ORTuZzGvPiRoFay6hGg9mmdm3bdy/j4J/Uh5T0lvn7VQ08/171ECk9UsZR2y5HSiJMFF4NtvHl4JAXyCd+CjQgDlwRqRZsWdl6YLhHsmDSiXi5BvVPKJ7yAj9Wqa/mm8LOcGAC8nMyf0n0u1QocDNOmXXGV6DW5cN3x0Cu8wNI119DmRGswYSaLyzxCqVglWSoZcyiZVhwHlKsj3ueTg6l7V0BZLAyCQ87DCdhbPmrcOcdFITbHwfoo4ik5BvietUr5+TdRInxyXDxPUNiT5CMyqzM+S5lddGGGvdZhw6AJjQoyKBRyn1GPeVfS2hBlkC60MIYzqSJxT5x099qnSIxX1o86OHDLZYfIh1Zcqohw5CiQ4HfRIxxSlw7D1xJyui6+9HckPqRezS6gbondAHZ/NSdI+hhGBsi3TD0Wd8Lq8MssimOLOnE+ZV+zhPCoTeQ+zTlFVG2O8RGnum2gFDa6sgBo5JDsZUsn424dx0AKKnGgdwvGEPW12x/uOQ+FQqY9z/e5D+FpJzaRHc3/XnBbdaR6as9wSxaEOVxh+cDpR+/ZCvl16OsjXJ6uv7Y3zf2M4+ngblEaAB3K7BM8idKPN2waY4CSAcSu15nj6l1EaA4n1I3Tn27AHU+xKGaMQcxs2PkcIDlh3ZqRQyYPHDBhxwoV6Cmxp0yu2rxltJ2LYVZsZUPtigENAbsHTxlrVCwxk/M1takHND87d/DRoIeDqYzRJjh0l6gSbjRLwmXdQ7L+2TDJ1AZXwQ8p5brosBMDGgy1cbecST/q8Av/ZukUwNr/ESfI1IrFZQrgDxc/mxLK//QmqXX+ew5GSy6B15aQWizS+6umZwq583BENt8qi3+EuoRsMJSHJATrcgDT3Gbfvbks00vvMa26k+ni2Wpp+yoV+IY8sG0Hq6+btgfQFJeQVVj13SJEy6iGiPo6BkRY95kOeeNztd0bOvChyiXtwYRmCkJEqkjBjceK8U/MaqS6NYV02Sq897XQ2Yp9KdyJ2MCwZKO+Re7HXdBIgKAzjMf7rcL3sTsxLYnGM19ZrkpNOYGrLhiNvLKzaEVjmctzPLxZApjaIdICjaliQKkGhSDDhuqzOnIFEeS/zRb/IrcBLCyMKaB4IT1s37eAazbsidDH1avctgmp9zPwpWh9ZZxvgtxMX9rF8rQZElDFuB/TZnSpc4cKcaXEHylNW9AJVVSyNXfUpxPRDc9i0iCCa4f1yVOPF5rT56gz4CQn8e/rnrlzwLjqUz/+YcbgcluFWAunQK0XoLIJqQZgruWOJ3OSLM5lH3Nk/WYZo5os0ywIcoWWiwGCP2THsnBSdZz/l2YuX/8cLQWEOI3MeH1j2jHJadbWZdk94BhI5c4qf18UuHCLjqc7qeUZoJq03YotY2nInTJFlj4mWZwr090E5btJD+Wo/LyEYfuTkkj729W539/py31s3lBGYBXQRn2Z6Q8m43WXvTYFkzh8ZUTpTcPOFv7iP/1nvMTTV4zsoFq8oc9vKS70RFOtMTnf2JOEHpyxlyUgPOwoFxmikcaNl+kjkB7BYut79lw44Lyy0DmsKWN+lzFpp8ElxDqkzdksCVJr5i6CYB9k15PFmiEHs8Oyx2LvV5z6OCqTPGbGzy2ULVAG+gsHScuXU/ou6yqcHaJ6Rw65yCP7GRBB8/BsPHudNucmrsxaioey+t2OyIAJati2gHFlDYJ36vNvgYoKDFTRI4qY1WTJ/cB8YQxity0558BGecuxFjal+hgul8zCw2Gr05jAESiPXL0KZ9r+6PlfpUzKn/dDnVjnYZqgMzWSpTjcIGIwF1eeXBkeNqFydH0RNVPYWim8oTb03JUoNQmb7jMA64h1ppsKjRyEFWD8s6jhEdDh+JHW1oyfQ2vWN/WXI8V/Vxsy9+Z1K+wu6ad26v5llyXiAtaMWFprtzYoSZveVCk5Qu1pB7UhUo8Zg3RxU4fQgnLc8ImsiwXq5Z5BLNaZvcmKD3ALmgRJQ+A4z6MANYGHZypQw7YEzgfPFV4SITtFpzhhTSyZBKxeMHHzFfZcIH5wObGZ+3zZLGU9NqnnIyFRDVqk4Zhk9vwSqt0xzsDCpB9JaliQsPhXpglmMvcOSTBqIe2E7VVnBiaHcuVB4pkYvxDtQIQlWQOwmUZ9P1jhFnRJLU9MFzqgP7T/4yIqJVRjQIYm++WvH1ddY/uybmQiLzoyCySplrJYfBzUtU2YVfAP7A5Ci3ZApqA5OLV0MmLVNeR47x/LttYhP5Y8koeEczFt67Ex6LMXVJYa43Vh19QEaRCoYjA5hxucjkhnzfOBXuqdCIn2yrF+EW9RVxy9BWSPDfGbJjma4fJdLnG4LEDlMuN/16x06Axk+vvvuPYEQ8oDMq/iVKXP0/ZG1FhQMU2dpY9THwcCLhTYpplOIZjXQ5SWzOGH2TlT5YljZ9JuLz0tTya5P8sMXq0YXfgB5nRY3WqzMes/Pa5iSyGB70anS8KMTbqWTkOKEATfTXP9BjcVkVXf8C8pf4JBxUmbbM0AlqTcYBNl+Q3zYNgDQvPV6LHthx2ywoje0pgX0iTVuadyWYtD6mU5JFNxmc89kWwKbWErWX8f5uaSuEpkc3KFY1yOj+ttolUCrl/bkNL834hfSkGymJlrRCXuYnOTdBQ6pkgIu1MRbYwuAuq4P4XGhc6ovBYK+uImsQYeMzyLN5lRJhoZLmnPZBw0JjtCm54XGAB3CSabG9ON8czgZb5K0vSQdJiSu2BfZ3+w9Yg23BdSDzaVUy4tidykOysqwdbbc77RCqP6PC9kC2lfUVRfzigNMLr3pIScI546i5AZGMWUoXS67SHt81F6LPll6nRHfTVFnRZxvv/pAQPIvaVo9qMEOlZpPl+kBEoARjc9N854rYqw4JLLItkNCqYf9MkzRjz+wEB3pZlHfKGcYHxRqsJO7OO9SLNmSxU+XgNfXbb1I3180i6WGS9oG2XidTKOuSMj2P0pMyANyGGSfm2NMfiCPCP3J/Fh1pfaPiSw0hrSecBueLqZcUm1+whA4BktGs88ZpJptlzTMHGCeL0+Om4QBpJwl3e9uuEUtf7ljGZlkUbUUNf22J7GN5wbNvJeFusMn70WJ/e4fWlbmut+TRFfzRYw42GxN7Dg5CahRnPfOFkxjRt6T8zpFTibUuDfF/YsS1qIu1h98k7Xh7wJoCA42bbLHMBrGXWxgoXD7s9vyJcacr3LtmoZvPCtBOVS265nIkZRCx1LTfxmd5aUgbGykYvkofwGA6M9JHfNXVcadNccvjIsjcBNcSYgoggec5BWZpBURe7r3dlNItGDnYOytyYY23caPTDeYe5qJHywzSlyuXgm+qYGF3RpEvAJtFRgPmBG33+4crSYX6JUc6zn56P+eNgXOizjf6saqRThRbxE+yma37mMegA3+jzpy7N2Tay4AfLIDb5IczdEP4dX5PWgRl6dGi0Y41jwWOx20L8mLMMTxBKUS8GEfgx7wKyQYrUF7AxCSjqG8IS1frj8Y++9CVWYQbEioB+XIGmBdN9IWVHIMg3px5ZrgJb+7YRtLGm5nWevFv6xw9yM1+kpS7waqr9S84HLBi1P2jd//SKWJP+k6ZLBELQPVjvcjs+7xJqyYYJjHn0PqP/nKt8+i6E8JYMt1E2pOOl+zgNw+CmTiBpfdfn8R9rSa17GLPEhPfClejH7PyMBTOLDNI76bJw4zZGhWodJrWbyaqGKyuVYzTAR7W0ty0AafSPTVM3MZHpSP7XBZ0lhlQ+Gnw4vXql8t2vKfKNqiXcktmeswocV04bbwCjN4zXKNMnXRRpC3U+8iOyy+cE2vOOp/DwD/6MmgcDBZgPiGv9Bqgl22qbojv/pDYsSBmqFh2IjNqOhg8YmmvYyjl681O/ymOcTrQugcxtV4Y2biVRIKvVMWTUx/6rsfxO98PP7I5TWY165WwbOgnk3x0XhiocYTzhLnpm9ON+Dc/zhbmH7POFdvpzDH98/JV1U/99WStTPRMPtJrQiqXF2hiIwP5/dxJQRM0dPz9U4KL2VQK5xzxn9Gbb4ezEfB4sa+TfBMSVsLCUsU2818vhie+w7eWDNMv+caRzrKmrOGeQmSLTs6YuhFNT3ivcu0AmCAvOauBMKoJJT2XqqZY3k9y5tzolTRb4+WQxRzvXYk0Yho1/ijcDdiAFA7zVVPRzGZIAOj/ARsZPL8fZMpGICGjijxKMN56imXXl8329lnFZS11Kgz+aKXW0ICHooUUZz011inhCbxNAC71SirvDR7pbtI7aPEz5sUhttk6857bxt1kWYzVzpPjNN/8HVhEaAyw1P4wqwSoG0feZARU/7TaRNy2f2uyCfoHNICwaFYZfWUVjZjZHwWQQIzrNTug6lHtarUiYONsU0gI8ZZ4Sz00A4gjt34x1GjAThruLXrhWY6CDt1qd3JQKS1jn7U68+DLfmKcIRxKMVFhmtQFJin+pxqyo9/Y/1kQ/ePsJz3PvYr3QrLcEyaJ2HhOhsh+rUZVYdk0o9+3kcvN2jq4D29GqSli/wufXo20oGxQalqPJ9Tt7XhKFEbBNQXx605Fz2ZxPryd7M/5VlwEvKQTWk5IS9QljFFUzNDaJ5v/XQBi2gH0uXmJQ97SfrzA6vKSz331dGgOuVZHMJOTEdEhBA4Prasj3A3nOr5vz74Hf5tYYDMImx+MDY+Wr3HbCiqjVajXDYaRQhpyK6SdmT5ael4aJXAIhD24ylHXRVDdpsA7mPFJ5yF+zmtCzY2uqFI3l7nAAeEBXC/4kFYLdzOl4QkRnCrfDf6YZtmfYrC5ZRr8QEqUIIdZrlLyyvwSPxWQBPwe9TCzN2e22IEeDn8x+uYAjRur/Z7xe3FyeQRu6dWB0/sB7Xv4qjzS7pSzk5f2giUPldWeTLgnPRP3D82wHldAHw5G54bZbsuJQcX44FH/yj+fobO9SvWlpvJEY7lcyaMTNDfSralVCZOXlz4+dBjsoaXmdcNw+z0/1atymyZHsih/j1zaRB5hzB5pyiYHyDDE5N+xUEVnZbmL3qJ5NNgWfclCwz4CbFNuXWhGXBzg1GB3XJKrC2r2b3VJIseeBu41rEKgt5sc3SjNF0htTQ+1QhTdqOeV0mAVSc1mQMdClTyJ4KWv0dzccoIELjYpky5FrO/XaQRjH+A6ZN6vZ3/iD3ttoEVclGQRqikeBVSCBUJpp+v/fGzEKfF2G4dEjRTLvWzA425QqnPGpou29LuPM3/jxQnRlIBs42HHIrH9yr2TxUxSV5QsS/wXvtYBgVX/Y5FlBZdh3ExXQf5WfbtSNChR7M06on32CjfF7wVhSygtOQHFsJyHtWvtjxh9iYvoJVRqaJF5indFUA+aA2w4XlTKqz1eEW9m927waPQ+KlMIXpR0oaz/HcSD1LGpnHZPH9BlfZ1l/YEz94agK9cckOUEuNFnrwsMlwVCOno6oyhZqc3fq1nBoIqYq9J8N6wl9Q9MaDNZrHbmiOSp+u6E1WkEuxpIEPo3vlDTJJ5PT5bFukIT6pd5cPfvrhJUB8xlMl6yYGUtG4u8W6y43YorFGMnKXtiCWD39+/CB9kx7+unDcBJytSW9WmwQ595jtPDK2kojgXey9Qr5UvsSFg828hIX+klNEraThdGJ8KTbNQweo0HlUzvLKDROxO+T3dibuPtwqX+cWfFBFRT7xslkUwv2LHya6vKm/IET3g8TlRyosZN1/QFbB0lfuMgz1//hzuQmLWZiJWdrVvF6l/DfZJ8z+TWk8us5eI3fkMDi4ZSEV5L3k7qWvJ2d/VsC1JSB3BA7xH23ahMWC/eEumk1TgSug4inPeu7DRRgavoLQBgaMN63zLsQv7jIlAEaXjqutnCdUb7e15AS6X0T8Zv36Jvc3REfB2KLtGrozO8FKiCRpE31cNKiktfVni+yWjDhyBqg6oByqflc0BA2J7Gwv4I4inBBomaYLVCOsheXcJUzGl61kGilctrhfCACMvW1KsWn2khzcdyXGjD96TEEdEA7i/pr0maykdLoh/ZA8Aj3v5pWVzV4FGzv/nq0rD29p32+Et6gwH9+aIcoK+ibxviDxDZCceNH93DBABqNMOt7ZREUvU6Z2BIIvletQxe19heE2NRY/7aCxzI+wDXasKKh/uPmIWHjKjw+w8f8VkQW2VauyBM6MTBa3y2ExMdNoVtTtzPompX5iDxsAmj9HrelyLCicSq/Fvxww031oSYvHH89q5kxBnPjWg2VKQ+tnbSB1r2ztGP/sAgy4hbD6gGF1XL7RnJgSeCwz2IpC7fY8ot1mynq/ujGiUeuldh3yW9d24DScnFrU1YVxy1hvZBQ4vwQyjtAkYoOeRhYuy6P5M7oGL02b7YliPM9b2MrEANQeXZwkle4Ih0AsaSxFOe09Attz486XRemUUrJSW0zrwwxaMcACs1hmLvRqVMceBRCwn/zTsk/754c/7lk74nO/tZ4BDyU2xS7JI5fEIC/tqde04ZVTmzmqag4huFTrmmxkhDqiU5BizQHFuY6wRYO9Z6B+2D5sxi712zSWbXiCq/FzzjgVEBj71UyD63tfLoYz75pPLpAfVQNZ+Hd32oUaJer/CcGEPlP/NQtyEyE9o0H2li0ONlFU6YT6pIKwNw30DHMDIypoXSC6TAR+GR0l8SKDA9A3Zv0sFg10LVeZOm5j3mALVCk1/fv3l2yX2gC5vxhamYzHvliZLoXE6plmfZVNinch0exoY3Vb5OIe5prYraHa5bL5Er3ctynYMXvohAuXzrB5iq01isbWwJ/Sk4Rq3nQVDFBilbUEI8lcY+btvQzGkE1dk5UOMJvh5E/SQfFgIZ+9yhvuNSeK8d2XMXJA685PG0bzv/eXqDOA50yR+cg3eSdAs+hYOsmIVJebBppfuQ+Aqive8Fc/bSPku021JSwJvrp4tCIcfiVD59QDzhuLXYGL+31ctnVj/U73Q3aUzZYhffw4ai0tiWd6T+ZUmEfjceCh6h7TR4bSNxHxpUAa8l8GgjAe7a1if0KGflN1akbW3iza7ihUnyak3yfojweSeUwq/d1/iUiNlVM3CsahHjK/wOqqWRXBOu5Fdao/+nshHlp+iQ4nSgd/lo76TCIPuQVgOTSq96jJs06AbQhTA2IFAe+aoPndwvAp4rzMKf9O1AWFZme03j8hwwliF+frz6ZHMpqlaKIJUv7K97Wm6XaYNK+f6F7Zmr+Xo2Fu3OFFTgwWvgNxuteNXcsZ64URp/23eiQNO+i6BKuIisXlwKC0Dcduz3yoywbUJlVqzLfVY4/DmlMNjcYEELzPyAACrNQl0h1ha7jpenjyGJF2M0Fh3DPbjdDiEpdyjyU40WW5VJuabdhIDmt/kMA6ZERHwlY3E2UxxcsWxPWaQkTn7GMSEzpDEPTbWnscyEhThLCEKjLUe2h5CCPZwY94yZGu5eZASQRVNwSgd2pwz2Geb9AY7hFArGLBUm8gmz2Ao1e8QJ1WOoocXaLsD4QncGlS0BdvNnqZ0sy4MtxiJor/hRfoBK1AbqByJfsYxt+QQuX3S0sHDtIFcp158jAwhwk90ERZgyPw7Tz9OEBMHgncqSwQNg6hhu/uX3D2JT0gBPuzQAPZ8GRcvZ5rOZtyIsosCqMHdLctOCI1U3x3wvWjevnA7/WlL7VhR7e71KHIBlMeKMu0adJaSM3n+l2LaDUMWxCDYPjKFN5mSzSzspdrOLnct4fdHkMsy0mJ7WqDh1x4IyOLjx7i74UqvXvaxc5Fre43WDkeT67IvGShIEyKBuHkjAVqAc6QsUlQSmuN1X8VqEEUmSB1vMUiezG8n+uRZUo3UJrWF5QUCXRI0DlZgDbYH8A1i67c0uDJsUs3ePVd5l42Y3qY9ViLF/AcGMp435ZwjQeqqUalPhQ6/Me6kSP1B7U94Ud07VJVHoxkxNalYbe+VQsdBQ98nRYDji+IqbJN0KUoLy7469VVx40NT6/8Sh2kIpDfohVi9tyE3KpZcjqbVGLL0IpuahZExpbyuVGCwTxrNJz630J3rhSAvlAMM5twykAJFacNlYBZ8oD/DAfhVhjy5mYeLO9D/ytE1y28sAgqw8nWTw06AanC9MRbTGC4I8jLvLbcx+9vb1DqN0MxuvL695+6K9xTiLQSkjhph+Wgj/gesWg60qR2oBGuUvmlH2ZnX0wPDV2qzpM+zBJ5fQQTqJiiy8GsMwAQUMXFGyDktg3HBWTTaE9o9VRJwcDK9CInKA3WMx3214MqjkGwB39UFQaj8jkEfOx401UeS9JgaLDnCNOvEh9cdh74IHPbIGWj+pmOF2ppKbCz8j3w8rxAssiWDNQ8YkalIQAZdDHZApnOAmM+yEI9kSuyZboHjZz89rfaZVrYRMZRkdxmKqC22BW3FSZzWVQJyxgYgTcKoIrCs6CbePY1do8B/NBR1Zz+QYUqq5H6RQFNGzy2Y6ebHY30wzev1ZdOXIq4ET4tabLrO4MgAKiqjf4PZdIWq+EVw3bP6Z9PKM5LioW5on1UoB4eNOe5wAe3OgtRGBF7uD82A3Ixn3kuzCYXt01zVMuZzqTQ8EpN0T2xYeb2+7Dp2usT35K5DoJuG370RIxt8uvX8MMvG9xu4dUtg0yvj6h7AOC55SbScDmsx4W+BSJ/nQOo31wuTUi45+avTLO01uu+C3dx1dkeUaDUEWOzPN6TRfaHdZmj5A+HkDoDRHO6FCbP4eaHk8p2/6q8RbhTzxRxX5OyxfRjwvvrKc9+mkCZuDjfaZ1f6TojAcFc60c/Vj52BJdSQFE6U8s9wsyMr2amDxwipvBAr8fUQnKX/Kg97cdWRkQnjVB3O6OeuhPnLFC4qcXVfSV4ybsvxpfj+bZlW283lVxprmD8oiEz+TR1FHYPMe8IDOHEotx05KfcnnBkURs70eBRSSmm0zeLZsdZQsVuR+RdeK2Et6ZoBairsrl+la+zPl48HI0Glzqc8K5MDOjd33qzoQDmw0ZMz9wPTC7ZwciWWCketVfTTLaOljToyCJDrOHzvPqxdXynPYLVzqG0zRiavsl8GG/awyxp4xFK3ZDOOu+7v8qE3NWHph9sDskiJ4Hd0AwD8vhDtPr+nac4Yh1zKLgr5KpJ2BbKuoHyGg6DkDRai7gTT/I+l7voqhVVtwORE8I0CbbkX81cp27/INaRNXN/Ay5OPim9sX3Osuz+ivJPmBHXiuQ2Z3eYgBYrI8MhI729NGCakPZD9Ue8od2gAPAmMAvM/WhxSP0DRcl+FT806kZ6kfCAbVpnIcTsFrPYN9m9mG+XgDlfG/IfddJn2ZZggnxyOtvovPg5etradpDqMG8kuil+hLAzrty1q8TtcyWpQuYcuQcC9gb88vicuPrIwxSQsQz+8/3w7Q1oIJt29g4vBR80GneE4T/fVyBKGzRcP6X0/sAq9psdaB7Y/pQzOAwqkkiVNXAkzHZD7jaXzLKmPrTxtPS2aNVN+TAeVsUj5ubr3nJLagJJGUGKDRgoo0L5idpdBy2GLywT+1TVsX/VbFTrqZJWwAZzWXNPPemNjZvQX+VpN0B//Xg6aGNHyggN/1/8I2G25EtuYlg52O1kuImv1s6U+H+z6Oh8UWYcjwUaUbov6EUyiXOQJhDB9V5wom17ueEu/1NpNCd5AtpeaSLSJ2n5sMeic0zet1UlLxaKdxEFsq2wrMyXgJZEVXsUAU0iYthwclEvbIOod4ik4XQxeyaynEEUm84dzS1WWAAnaYHmDv/haz4dSUcDVde/DLPhja2oEuczV+OmiLhU0S/guR1T3kbhpygKqfy2R/AXxdQAeydjbVyBboTiCtTPAxIM3F4TCOOZnSqk46dPg9Ir6PJY1VON4+3rBMxVmLlpKHMQDpCtvJnfFckUgPyFeTWFejxKPaSRK/yY095Lbue/T/eGswqiM3LkPJDnrPIlBL7NSpEwLQkc/m5yczBdT58CK+vutDtnItLfhklVU/qzXt4weiVUZ9fPUVEjdi69h6L81RSlsLydwD+AxYQL1ZTHJRjMBy74HNw0vWj0qTKUHhCey4MbX+kQDCCmDiGIEXkmagPH6MyuAoPr72mhFKn4vKxA57ncNIXpgq20OC4ONRFwNmPS59lR9FbPNWfpnNYajJYGS9PEpdFu62lX3GvHfkcwiiy4WH1d2Y2GUbABuVqQuRDVcW0U9vszyXDqx98xYyUj5gajCPezfYL70A+J8qYxjOSL/qeE7ZdqegmXlmDFf7REMQi54aej8tl2+BQTjfD8VsWgSDTktXU0FDqXUI/uvG4e7RsVr6vYA2icPxXmUNEa7Dxcg5g6fd898OoXncP0Nk4OdtpZQT1FQKQTYDM6cak1lRBa09cUAdve3Mu8EbpGBS97e79W4OBCniiBtrxGvUHAhGiDBD+sQIAU6ZQbpaKLYLTcDFqiiti4Wi9hUr4E4tn2/aSbHSRMfRqC59ZA+WK/mMihU+bov714iKLp8Sli7fHLpb0fX4xyEZO5jFX7aquH2xUrvg9Mxn1YFL96KDDbzr+9WUr+ubcJFwcC8hCqmqg2ZqMiXCtP7JlaIXg7CMYlpveJp5ZjmsWochYeXLDRZSTK56qleeLG1StmbO3HYIivaPmkaZBi3fH/mqWo3Pds7axRzJ38kKjSbmYtIG6uNn3liH+BP/uGyGqU7kpRvZsdxjXJzLAxKFzVZ658tVu3Qre/RnjAWs6Svd8K16nVDkU85MqqhebL9VbscUVjWQS0f+MhEhGp3Ij/f+ipU+ZkJfgqfra4EkyqtgXbxrbmE/JQfuk/nkZzMIJtMZ3wLua33EPwE/ojKeA3wMBHSLmKx+jbrX2keeahAv2vneRcdbzLCMNBhE7GdjhKr1NHmzJK6SoBtHEZdt1WVdzgnMHoAadH8vW+zCnmeFMI+dKACQt5RNMotD26ly3eDOGARe8xdX0hDAFY//eA2IYFkcG0NKr2C3aWswmjLncrgfP1KunKl3SUKfbxpVrUQW5XSQKTVc4gHpEajeuvvzIqGHSu9dkGNc/dWTCBq0o/vmDdoyEowI7pY4FIHynByKHEaDLXmLS5m0ayP9360j+TnyPXg+Zu1F2kGKWkx7RJlTqYBYbsr5/570+Mhjt+lPD+lpWJzlErKYgh/snLaWjuo67KQwtp2M8w2wUYkjJpw1CxdVxmrkCEFfyuu3Qod9yFxqzeO5dDU4JcH9aa/exbElobCHZBFCj7HHiDx3ip6/lWl2EAw1JJ1Hb7FL+1OMQ/qqD5gY3yEjxlBSn7Q66VA1n9g3nzTWItdNXDUvynqez9YHuXvTfqrGu3H0lpFicc1HJPEoQ6fVRyaJvdSgDrWFRcXMX8ZV9VbvvaKimMyVL9Fn7kwny53erE+5G0Soq7PDMRF+WJNyhoAklA+3Utg6A8I7Nu4+z4Ar3oZo0NDuU4p8GqrvshgZChArZEuc8oU6il3jcQ8qT9qnxgnOcM2breb+eoGT/0jsO8SpBQXYpU9YxL7Ogno1xQki4FNly00g2V9a5tlbqR/R8YPXbK1rqI/XTW20yP7QCnH/yb3PMH7jqS/4MfNqfjPdIajRd5LqX1wrVEy7pWG4yFx3GUp+IiYFAB6I9Hb7yn+0hYd8kHZYXnJbA+moD5DTyJVdr/+D4T8AfZrwcZgzuFQ2xoPwP7LYTJUE8tQc/5/L3o/xbZRAiQT3Nbdlj94ZjipzHA/aI3J4DWOtbjFeorxPHCWOMnyrcvkI2d1pje/OeY6YualazzIX6R0M7325y7S0qO2leH9S1WbFGxxF5l9E1afL3e/gMFt7BbfAnEvqAJAgZAdW+ypY1WEtwEC9vmPI2N2KKJikRTqdwSfqcKUOQkbgYR5Gdy+Gk+A36kOLM3nj/HIsFFyYfjtxKbKXLGR8pPG87OC7paFoTmAodXG/vVS8IJI/l8/OLWmyQdtENOd0UO9ZM0tqxNTCaV9+PpbI0aHHWj/EOXwPOwSwjEuJRLspcz0EVcJHuGOB7rVRTUwjccaGu2TZSzVfn5l6HPwzjXpLq4QJYdh9sCOwKM0e1haEAVv2ARnoaGMJ/daouBtJx8erJmAVtd3C5ssC1oNWcvMTmMTGsVh1R5WD0xEkA3Z72yy/1wLGHt5QqrdfAcuSwx5qSxPmkU33ZxssZpORWurM74MxLE/CcV6uN7Lo/MqoYx61ghpSK2e7Q1Qtk/IY45z9ADnDlVmmmzPsP7RZ9VZIFe0up0MhNa52RG6DEA0n+CJ65I750Qd5jY2baN9hLWti5dTSjIhzqZddJw/psaU+iMG4RB67Q+76dobkLp8KTfm8HxfY0P2RH1bDO5bQ/+TtBOEibv+KZN6lHVf2YpwfH3J4vURx8OCPrd7WVnKLCSpQFNPCPPzeZef1HwagVSUqeuRgP7dSUBPszfSXYJfOma9it2fZDewCtX3jSdJ9G7x5xyoAaCwR2MaZkTK6Fmv125UGN3mpQJkBrW3lPyIHtjmp/uBtZAeCC7Gn3wTJasl73a2usz5IkADpP3cj8XA8V6Xpi/pbUTeOBmivPD/ec6pcDrUWpQyf9+4dZmMpqL6PVPWtrWmM/cjsBLUE/CYlv0BMkYR1ZdBlKUna0pxWyPvaKWM/9CYfYH/myy2vHBrCGvg/TZWYabq5iWeXu3Kpos2X+0z9PfjIMUXbtqb0vo9YN4CO4l2g29/Ll0mBMMs1L3GOvIW9dGjknFupMKXwY4NeWH1uwXfOzDAvHnupJtEhATqul08n1fzA1BQHNY2ZgmhQRV3WdqeiFAE/uhTy2OmB6CaPeJ8ZgvVu634UnYR6HMp8O3KTAHQ450O5cEbVWqxQUs9mZgCIBQpwHVpCOB5el1cBQ1Y0+1q9Li0gsqChCNiG/CLVg5ed/kzrYtruZedu/IgkM48MTjmdnIiyg0yOohRw41zqQfm7uQMAtgkvsUF5vBodZgphMKC1/ShnTgmw8Eb3BqBm5AxQ9v1zOws3zVltavyUyS0CpDOlTjiRGQcOksdR1Sp9CYfFGb85PxH1cwOnZRPUUpxLuorWrOnTYFvs61fiVyCzS2cvFRTn/8VYFup3mjWUN+SXYH72pDF38Jp0MrZqPlKjqYkHO6TvxEcliki6YxtdpcGUwCjj0sT9yWdaH+xdgxcPtNZfc+iiBCPlDFsy6yOk0l1kYHZdhNpFi2FDRsK7oaHAfpOIuXmtYqYbccc5BkJFWJUKFJBapHKBYIwUjhyeASmLpDNjgIa1XCRO8ukX2NfT0naysJDivAqG8fUWbsoLsEyDyZdgoRqj62Xw/myWLv1zYZ+Ek4mpksAcDq0oRgCgXf5Zkj5koFWL8cvB0oq4Gq9bV6RFZBjGD2zDVAO7cWPU5wlsp+D1WRbOkGm1s7ZxnbaquxZAAP9iyITjz1LHdUnOGNwMJFw9SbS26uOXWHJne7KUW2uPZ94Zb0wlPCOWzwVr+5XgTk6ttbjTXinjw4urbeBHo0bFilMZ4iIdbVbE/a4nGIwNK3vF/knq4U0rmEcS6ISNUWLHcq3QTSvx5OjsmLIQ+8TdvAAm73kOvRl1th9gwgBV9RhIzJsS8eXSvkbQAF+2wNw9HJ3Axf7J1lXtu4YHtLE2A5IFx10UM5rjebHgEtDw2ANRjASNqA+yAHuznlBg/qon+u8JxuG22PLX8ybG8gbp7Jasf6QK48ldpfjAZ1lBNORnm4BOZRiQSnN0gt8FfZ1/Dyqjfm/CB2cSbY+OUPwEn5ao4/+yOt6HTjqw5WlSSDj0Gs1tqWyjXD7OPJNx/U5Ptfy5nnzACfx1+reuEctTfOKqMxSUVuImVfC2vQfd4ju1SDU5zMRbGDX/fCm1IVKralYVtIc7DzfclXgnWXid0HDk+3WmIKXC87JAzxSBtosM+3xJ4rF0q+k1NgOBSfmHWQxzoX3EZY4mRCajCDiqve7jw7IxVHWZvOR6kN10ZCpPuxKxRogFuanmKUX26vnvnFGMR8lgRs/QtBZEkdCFL0dO4K12MvcmWKF5q4rsgAyiSqzq+jAvKV7/AWupagyWVWpY6wbe9ccW570KJhF3RjG8e/CNQOz/NFTxjLKvZnBvAbrF/oWCBppiuOx+I9YWCWvC29uMrm+xLgHWcOxCTqROcMQlvDPigKnhmnnraY+gOB0bypas+4hrq90rqox85QP+x5Gwun9l40RAo8VUyI+DVpvMjDi5GPsFMDB6lkSt/B2UKDHtg1uYaeFB4SUMsK/FJVRuYMSjCcY8uGeJLgvub63S36bRvEd5gw0uvuP5Bn3sc+jst3vgxWWJkebr3kRMntjNN7K6hmD6nu0GVYa7v5mrmADvjWsxbBFGJwJwEv2h/EQucGI1mJYkb8jGcc/OimnCFefJ8sMObeTxh4y1My+O1vU2b6vzMtCaMjpmk6pBE6LgHWOJS/+6R9dkIyS9fRr1zBU5Akp1L/ULU77c5sT5WhGqgmok2ZFfyf1CprOlbbC1y4hgyuTctmveyT7cjXNv18kq574A8Gz2nlKV1PlNv0s/QRZTLNZpOFuzLw9cGwlgAtNcWRMSU7+RC2eSQ1fAC5/463DkOdLSoIJAK+azypWW/1imFBfWNNIyyE4onqUrO+fDtqZeHu+uRDdv2EfVV7BcDeY7h040Wsypjs7iiFtM1gGZTYT9NTTGREIhCrY2CXQThWlssVAND2p33E6DuEMOCiv2R2mnN+3PcDez+RmqbrjdY0QQObklttP4EJnItPNR1NR0/zhnjTq3+gW5JsB0dV949FelyDThLMVCL/1/gJl7gM/sexJIj2cnLIoM3zIM3IjVnLsozYppbYDkMJGUtQDbLUOY9Q79PSvwD2RxrbqtwIbCbQ7PLLto4kSdQpXFNlYwhurzHE9b0pFegGuoPVI1LTCogljFGQwZz41QdtbfCUFecg1Ui1uuD/lEIWX11+BTWvCYFonuQcfYllESx/TO3ZAitiRp3naI/m6AlBqeUyBB9wQV+9YKpJWq4VDKMAYProb+JpXJ8V1NIZxC0rPYn5p5kBjqD9LlDvN/CnVGCXAvW7uue4Tp8zsYh1ZTzSagwTBCT0HEMncs3hbh06yXKAkypZ6JwV9u/tdE6JGfDzNZb3slA7uQC4LNoB3pX9/2ALQbm/k6QHhkAwiwI9jK2lvI4xanS5rZq7w42C4mQSF/gYSXPXjnOxwNKItpXRuwPFTFjxXA/CkdrIJVChUAvcIxgFpczhJyP3RNI+gkP+SCLgaBx6oyEoRZXczEM2P5IX7gyItS4my3pSKyyFDAOn8fOd8Ups7rw9mQ4nLY"/>
  <p:tag name="MEKKOXMLTAGS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oweQb4gwV81PWkBOx/f4+u0dx+qkt9rcJNk2ovLFTJSby1Ni/30OV7xugt3AhiYZ5IHvNnvEt8DGnFJ3U27c0nzhwryBjlMna4mguCTpFOVibNPr0IO8/pSKoGDIobtw5WCqVMVFial/oyBc1S4CV+2bzPBXbVTqlEC9Q6Hgui3beV16jzque1bAB5gXBopOLfwrm0C6XjOntwLWr3uGBZFz+TxhT95mYRi0h5AxNzGRw7GiYQd8bJtt/W0jQx1sfWahltP/KPVTQoOBejQIjrhYtBJE6gFy5AHODszPBFTdcSF/g6u0YMyIEhLkmAN7RfMWvJ8DhaAcGC4eNpw20V+VywbFWdPpme7TJUBZkGwNOkkkfX6IEChIUKB7iRtFF4X9vLexXXjg+eGHTAhCP5JIGzmkexGkiu1Oy2RvGewXzxe8IuK3S0xcbCZbJw0fauCxTHXEZH0Q0y00h13I32lUEXh//ReiZo8l4+XPkrCYM4ED4t4y3qDevGFaN80i+2i44pHUPQsxRC4PbQuLQ00AnFlOlnaPCtlbm6WcyCblMkJD+eNxGbwa7zT+1agkf6//PUt7D4ZCR+Q6nFBZ47OJryI3ltT3NxyhVybnT4ZBpxmjP1wRNX+/WnW+0Nht+Li4xFiUHfvc8vtsMzSyy96fZPcF/NzwWJ5d3+RX0a8lAZCRvqynqiUi3Ic2EZ8hG/4G+jDA6zoIZvxSrbbY+dcdXWFO4Vk0nELBxQtWubBD5iXbCIkiehUU1lpw9BPCzOEbduokKK7w+ey+Kj03C1VXsBA99YQQhSTKqSZyb8/PlD1EYZyEwf887QbmixoiwSu1dHWa4muOVyvxuCduuh/BGyPGfnWrZqM/Q2vuS8F+DdLne942rN8iY2P0WlexQjkXhQRkyUhh4r27SopTdqDmfAK8cgAAPyFjhbV27Ej8Q3dtLdkUSppVW6Ul56Z6SLJ72FdAUMI1oi9Y7psvwc864ZV98tCwYISWPe712MVmvrYKOJajTpEgLOhziXajvhCZ1k4UpkyJUsySInoYT7QK2duRWbFAxdplghbCyp0ebC0daAUHMyyer73XeF5bmhDM0lKMYdG5D/ayUwnVgd7TJA+m9GWqHGAJumnQmkiUZOGND7xS6eLtOyOFA5aaGkPcW1VVsZgsP4k4VFlnvqk6LJYtSyLlQ+s5cZMMavv+lm5W3zEoA9wgK5HBi0n7LsKlCiU4uQFAiMPQJGQ38QU79VpPnOFU73CuxGNDPJeIDiBMqjP85X2e3zKjG0HB9Jqk7HGhjwc1yP99BAKw7qP6ZNxPq1lrGC9yh63UmEYF6MAFPE0koI15cigPDn+tceg1GAPN+5Mqy9ROD8GSQrljG+IGIrHMT1bvkAV3+nz8zdBUfVrMh4OOf/cDzTz8awIs3qSUq57Lv8kOjpKeVQ9uuq20xreHrQH95BsbI8GoYhk1RK4AUpLY9mCM/0VD6Ip2ImdgtOkm2tJajHF/6FCLd2WI7BbypEpPmTNJTT0yNQggGX/EKzfTKMupexsLPe+/90EKhOfwL4Y96itDTiJckiBBU5WRH/Py7uIIC3GirWv8CiHSbKJf377Wl9OZzQSQiFsegn6QBcKJVGIfNr/+vFXqLtqwJoqLfI6j8tSNVFyBgyHhDU43GLfS+vDyjdEPN6dzXCUuy2iuTLBRfBPuP+jcP0Lgm5LUcyG8VbphAwDyJ09pdYLLbmH3HuHyrEXhp1iFDUXS46vxgPU7NS/GfqlHS7ON+pDQ4X3Yol99rHIkEmuemWXydHvcoKxzvUFORiIKg8YNytpBq2gtfZrexO5IzRBDuGIQbqwlQ8N7+iKgb8cjoOplW9Z9UoiS/SAizTciCpeMwh1d+zS+QSrq+VDnM2+tnY0HhpxSfsFRqUFB9n/kXeY01k7pQnvFaE1UrGJmxQTOQ2mh+a67IBp3IJr9lEhOj8fDqL6x3JJQ0BvO8TaoiFla/PRTiq4zwxvuotDJmLwQQZjc3QiV/6Yv39Y/dv1OcbGIlseR89AXJSJsPuXxaC1xJgLJWJlsYT5tAt2hv4c9MDqGNbB+y2yeBcUXUZEqDQx87pLP72AWEmaMypnk9OrP8C0NCL03xWjxbU/AGH04qFXiPnQUPPxVrDNWMDiFM75JDm5Os+g32mAtXeN5t081IjJFZpt7f3SM5y2e0dZ8p7cbhN+QRWJ7ky8fw9FNcAZRFrf8nO3GUl8A8ykgvz/AQ2v3JKl+jB4D3X/r+mzrbkvRD+iDRlwZoujkHaChuzZWw+fMAoWadB/cuV8CLLMfmni63PU7MjdW8hU8SyiPO8Dh+a60EhbGH4jiGSNcD0G/Flv0+Z+LfnDzjagTsCfUzHVN9+hcWG2KLEO5sHUVWQX/QU6hp13cYNLzLyvk/xURvDsw/0IJ9kJwt4zHTYZFN76iaUcMxORPFoCmklzfV16XmQ9cC2WGu0EFThzVh6MxT+PFzQ1s2//srW8s2SpkaMtRRjXc/6w2gKsE97yvTOFt2jzrTZN1biXvyBDS7k2Grflbg/vmzNY39hZcAKlk8sPPtiFb5MhsgWLZFzNaXnNet5SNpf6MfZnvuIjfsXyKGyee4XPhF126SZ/XCK2nS6j6oi+bYlG1GlBqC+b2BfCtEnt0Vg6n66vtR/5mDIzLluaVqFUdxuZsALiFea1+/rstijl4EVmrmEbDmY32SKoCycO97/Hbe9PiJjWrjsflsIqJRyYoYXNKkj75py4GPQRKBqxaSEhUopjcH2SJvIyZQUyn3PCQ0miEfMLZ7Gv2+/4/A5t0aSne/kDA/EfDaDlfxO/yCkRNJz89ykpAUhk+C0IshS1VGWZPqoCc87qxwBJxSClMT4vJgIqrNXjhHa5+TB66jdJuWUyHTxlKSKTRimb7zAv37iAnrn2QQxHMsSMxtkatjkxPKLKFO0gRezRsYjEj5KC05FQC0acWl1ms2IQN0vQZaypWb8B1Y/DAW5PMh0JbbQaaAG/Lnluj3bNO/mDEStU/eIHcADqGiKT6SD7HvZ3gwF1VnaSSWNC+fZouol4DyYGznNlQtCatiS5lAYItLBh+YKtzOeJqcba5MvwsIRyuGliRWuzmW0Ld/cApZl+N5QnH4fwALmcNbIdG4pJi8wqLoeeGGb6dloC8E0BSWJBQnnDtFx+WtUqdh5EpFftw4y8QZ0TFhGqAMnLDUAwqc45gHpDT4RheWs4OgKaeyWEbY69vT6/4QgJFi4JU5h/lLEF2d90ck1L0CaA0afsaUCv9OzUjO/DxP0s5HMz709vHvFiGusnP/6NQ878qOkkbmizETuau8NG+/oYx3kyTRQBVoqHfypN0WlNA9kNcxpJzb8MOiepranrPgKMb1YmKgtCuhj2soRhOW4dVuNtrs1Vm6PZX3Kh3u5G3ixrhocPxFroYKFArqoaN0LHsyFJKYYgIoVAhm0Z6y+oENmBr/pQdioR+McZmPftB2GLsfI3RAF+ooTd41cyWDM11WtQ/9MxsedijwiyyFF9i5ENFU2RFkzLxfTvxZmGxWgroDkh3PQuHQrJco9vnzzFrKPfqwjtpXewzvZd1nmljjhxKOWlhkpWoK0RL80nPLMJC1wf9zVvxUGhPkUUHHmFhM9+on6cq47f1iDsTK5EYxFmS7rNhvb8lyw+kGHJFmrltwYA6MTMAhraNekVL/uKCcocH/Ipwfl0pyP9NvCLJGcmi9ugGiLTMJdylGJRhu8Kfc2p1sOE0w1P1GZb0XFVHzNISpUkqkv6jFad23SS8Iqfiu6knfgSYpP07TNB6eV2pkEqMhMpYsvIxmzVxLDHPGfauvCSRAb7dnUNqrchGSMP6GGa0C3/m81CovVF7WvghXNuMjuiP16LhP0P/ow1Af0Df5KS3uKGZ3BVWSL/zFVVj8+NrPxs/d0Z2jqnkNpO6Q/iJ2IU0uPeRUt4x0pTaq9j08GhtIg8wLYrnLk65HkkEETdIqPvSVkCtZMNw7FjcyhJB7NazsEcQiF/G902AjkqDFy+MyMfjOh2G0rIW/DThySoeCnOdPxCwz0nCOnE0zxONOP7RWgETdPxhSzHvyCXTyeywe1Wpa1PfQwmTIur6iZDg683PrE+/JfF+2/A8uJumkdByCCbZIFKnmST1gmGhOdfJ59e6uavQ6x+DgoxR7KQ3i5DeJBG3DXRTaZtXA/a2w0JJjDUltuowUVqeE90+PlC5ndWZLGVPhvzs73MQKDkhjKMHG07TcHq4lQqx7Q5NBbpsNagExdBgh5Ioec6/yvp1jm3MjKu3wFXl7nHkqICswszNHoSVt/Qsgsz0EYPJKK77jfGYhtKL4Jr8N6yWnt1mOce6dIUb+FOWJJjvuBX2p8ZPTDEIbQrhfYznAGwT5W4JPEeyKnbXZ+AAsDS+7kVfY8/nHEJm9m7rF56CK4AMWAQjmmbCm1Qe6+tneDuhaOLfKq8KeZgD43nnnxx7EKTUxX0ZE65twc1f5RaoULNHtTww6kdD51/WEzwUDA3IrQ594LBhpsKdbwMMagpgbJLCFNob/12pU3FhpOmq2UPfsxsnaVsSTC5cWJme3xfNH60rEX6mrxE4suJWoNO7UBpog+1J/bsJwpWYArRaHAjwKaWenKh7aYeFlid3P93yjtRuG24k/3q8T7GayJ8FnBpZ563k61ZaVeBlgApsXKWZlU85J8qUO9371JI+JYeaX5k/KRD/1xXvczV2iJoADSQKoiNh9wGbHB25Zb22gIl9nWMJDefxKcSFWprrDFUTTvZL9c+pahGE4sZVYqAvJf0GUcg0HGly/83ABxdIMYRM/bbCBxrT+9Vyh7TdkklMEBjCBGIKybkNk1Uw8AwxHMfntEGuYoOGYuPyiyXheDYYR83yTxNWUoy+m0hF23qeOqWShVatA8oB7gKjG2qRhNTaXgpgwO6UibjOKUI1M5imVaJ3F8UlWlDikrQuOyltMgVXY68YIZ2tzZTetm6E3OEdwy/w3ohPdi2acfjK+PcKk4PZ/upkj1+Zx8SBda0jBvSVV4ol7YEhQ/NqQFRIA5LkItk+pZA2jRQoYOpq+jfbgMp3iSMBhZyLC5uTPP7pXx+zmxCXAH2tKc2HAQNGffFBamz3bPnYoJUtVdnjsg4KrrUCmXCiL0AdcsP/eLE6bWsl/MIe5+V/h971o4HYiGSBoWlpqIOe3YPuM4BsWSfnBm3WtBnblZKmP9nyqvEbof17ASRjVbKAj0N/qu3NIXbCytmE9ExN1FQsdmFOBowyOEeiY6cFc6nUIs5SoAcNIoAviXecoUQs53x03xAAGTZYNYVkNiVLPyb50MQ/SEmb2xH/GB6u1VmGXj6Gio+xdGIYHhC5FLJoR+fjAzxyorBpY1sZQOacJgJxqM5wrW8rM10NhzKMbqzeHJ9HW/x/PQYjOkvgu/upK7UkHFcK3dYXYWMF4IU4VE6cuBeCdJy1GhGO7dJAHDe3vQreWJGZJzW8y9wJUThA67hxdw3ZZrgOS/tluDt/587kVaTaMSNU04N64zhaNVz2fN63bpJQxKCFWHKCNVE8uj1S1B1da7kPTg4EncOvDNlCPqk8ao/8n5St9Ay1+4mGYcISXIfnLzjKHXWGsZf/S9ARbwYN7YUf+jwqX+RvDxT5Y5x/UscuWC7Az1aHElDIlRGLEhEkSYtKm3uY4S6450w64af4H8Lo2/5OxyxekhHMlCh7JT81IkH7mQ/GoRteyjtT5TcaEZyBjb6dCrxegFZvWBOQSjxFbSL+mSX3jRDCK28evM5wcELMkJly/pbMCbI5RmqcIvEF9UNl6Q2ljqKFpYrvJOlBU8a0m9jeR5mnWC67yGEFpE6lIjwoUuVt5hZ6qNHQ6+J75JGTQfLPf7v5Rq+Yzp9v3F49ce4ai7cjnuZmbmi+kQwhvhzOj/tezV9/EkWvvLJ8YfHfOOsnsTco55r7VqutpBOpWB9uDWmVeQCBJmUP2FAR9EPpz8VzRcR1lOnZrRirlWsB8/GC8eMa8YYU3lOtbIz2VOqBg2usW24qF2fYT5v21HSS2MbIShubWHIAEnNYrDdUDGP01oqXsOOK2FWfzCmykIy19SUo/hfnxYbxZCevcIgCYUtb8ba2KpWfgqKaRKd70Uh0zSTs9wfnz4Z2Xrg0zwta4IEkPLT+fwI/hus8nYT97sNt7ggfEvm1SP60tVWwwSGrB6qAP2yBh3J2i0LF/3uJPr5NR2JQwiWmuu/bY/DJHdHm2twTem+EmkU7ctvK7YMQ7utMQPoTH+ZAgmFE6gj4a4qhf1BT5KyzlUr93G986YVqBczva5HUFp4i8QVSBpN84+BdtkFCM5g6wLMfeBExRcKnPDYuwGKB8cKVxD2r6ww8xpydzKS0i8NS6DGQjceQAr64d1iP4nnJi8d/UWc30VsZZYaoPh/d4VsKoHKXIC5vwSStJoPUvdqXLGkHBV4U2o4Pr/Y5omgr0/rsKQ4Od1YyCP+toqxz+odqLN+JoS3Np3YJzOHoA4FY57bFJJgZMkbf/QOnknNBXdmaNH+lfBPvKxvFGN9FWSowGyso7K7nU+JJem9PWvFA9Lbn5cJgDvPnk3BjTwX0eOYnc2t9DAKfq4BqKIbWv37TDGcaqB66aVM/lYD75aVTOVnmMmmgBYwd3IpcAFOyLRkx2CuvltQ7aWgmdfacp8WLZofLxZR0qOnm0rBXUyJHNVvr5DQ3mSHsTt3PWnvjJcQ/ohQcqpk0CwP5qJ21ZzT3C3HB3hIdWLAbkQgTEZ+8gq0S8ffMdw10cCEyTKXwE+rCd31fV7t5bNKcn745VMN+Kwq8x1Ot+Ew9ktAwH+2A+Jbvh5M8bSZ1SBLEdx0HSCGYpO2/WryGZul5rAaJPWhsHTuEz7V5lTgX9/pq22RTzNm0OUbLRfVA7zPk/FMsPbSgLtMK8JSVjmyqksc1rW9VBqXa0YEZIoKsol4idwNPtBNHA7Ozboa0C7k6Qh828L9xPqLUwY56HgbQkUACr154JCIJp+z0vtT20zkJUPv7aDGc1JII/zL/9E0gRgGevS2MhbAnlZ+bopuLyL3run02tbyLUbPtCFiTv70UEJ9JfDC/feDpnYvOKoE3HtvITBsTIiqBQi9CpqPYg46RwEw+E2+EbT4z8rrJ+K5dzSg65UhVpzysDCDkmOZJT2AaSKt0SU17wybbq4jFkQUqpUhxFtk/lpwcBggcudUg+HkJ5kDE04Owp7cKF9vLw+bpwhtLUsz8ydtOzIz5m3Jsx4Rxn9/Qxp+FwGLzQYur3D6wUbfC7i+iKKjc598GKPd+DW95Zy0OPyuvF6MsEqlG+YQQRP2DZyKcAA8xpf7pn+Cw1OR+8AsNyfYfrtNMTX2CIFX4mSOL+6CXbZ+kWtPCk0/D1EXiJwnD/ddDKIM8NKDdJx6qgl8lgEteXTraiZ5aIfhsukSLLBOz7ZrBRlDDNhLU1mpi2ja0Oof7mn2H20kqhhc13jYktbralP8j9Q4WVYrd2TxTlABE1vJ18IOcZMhtHVnuijVDAeDoBko+efoEsTySkte1m1TLVkPFShZsLWLMzW0+2rN+KTCUiQVGbjYJwkkVF0062hN3nWYEWtrnT8HC/kReQ/gHCFG1QlykR+uuUz9ibluT9EYvkHg8GD6buTE6C+ZORS1CBK1a7nUIICiQ0j1ghu2s9azVw5SZMME39J5BiyrLyZomIeNFYHZZL7xE0ADSZwuZ8XG+sBxFB9+OSGGqO85Cls7L1H4rezHxu24k/upf7Q8TRUNvJeqq/IG9+OCM7qT4UtwQuKK3riVHwlA48lnyrCWoIrj96gZyT9U2RBu4eiE3mKuFRWnSJJhIjWeBeD++wl8zIA3PG4cN9rnopyjRS+mQ2zEBxV9G5r6ziIJ8DnKrTVjq8tKzvJ8fFumB5m/12h1ZrFLm/iW7V5S5F5Zf5zqJhGbyVEsR1JC9eXW8YCm6a4KG3wFcxP3t348B+i+uT1SDUhhZ534V2zw1yodOyuWQWNKYDW3pffDDqU0zO8jie5eidskqkw5DXY1bCBwxRdWlAqkBlOI5xGCYGvhMbCWTdS6AVGEz4Efb7sJsiKLcHP/eUs06DCUbRHGpA21JK/UBcC5T2U8Wu/C/HhpZoBP6oNCjrsmJP+8Khi38hOBUUa68AJ2ldT9HvCUqrRLo+1myR1/Y7R5EXfohA81K/C4ULenGa3XlkZqIjtSaeCSOSrrM8Ae8zn66VO9o4SBGLt9wv5Gvq5D8oiQ8bGsioQdMX1mudv7u/9VKstK0RBulUqBS4JW4ygwA6inGkPzFThZVqCoV7j+0jv4PLwNgPdVcUd1fAXhhm1ShEQHuFbYlyfGTCxC+Xwn8oW392mC6KZkZW1m6x/chOwb8YMTIMvVXRDPSYM0yuFfsBq3Kv3MDxRaOTBWHQpTqGmb8hOFuyDwm1/VMpOB8TV03Uk0WTv6vqPwMeJp95s+7yYcxP8YLKmPHD/sTYC3jDFkyj46pZsIhYTmKrgDuttvE0ZyPr2uwvxYsUUGmaKCDzmcuF3Czcmc0WZDz/e72ulKplhEKbc8h7gPV+JhfCp+ki6N+XnnD5wOIkF0K8G5Runflm1zDZIklQzc2b2LmmM49e5+8MHjjvj4Tg6H2JurCx7POZyxapzSx66KcaBT/sg98mDLXkaKupirgf7SBxwlezGn0EKuxNTrC1NKMuZT5bw3O25g+i7f62bvlMGmqFVKqYNYv/AdcttYsgFsY7zJsOiu/n3gpAgth6jw5sI/EtzXxJCx3P/RcMl/HwueGAfXurL/aus9PUlYI7EJ1ikjOHYm7/V4Tc4LbU4JH/6kxi1ON9DYRrB5QoXretESLq3t/z5MVtKU+vYgNkGVVAa0nIibmzmyG+/Yq42YSKjfUZLH7sd7Y4cKoQMS4hremLCBFIi31ER7oeVKkf63NTC44Q7BCItgXKBy+4HN96rR6Fh/SMO1Mj+olvQNh/AV8xfnAl/whcpSWh8e2vp0BFuDh8VPr3mDwaeXP4tZ8L3l/bVPpPlgH/ob2DAT9XBlaqoPWrpKGGcA0ddApegAeSVxFI8MP1Qx+4mkI+ZVyTHhtFUrIt0hRITpuczmobGkIOTcrCSxXRS2GZlhhXjn+0q/d9baysIMNZoFsh6ohf0fmABrKtyBqfIlILXbkiLepn0pHSdgDFcG/gCKCW82eCW0iKrys93TJXGSMmtA+2JbhLWk76EGPZG4JXnIpDgXeBqfP7h87G70jR66gqEq9aOjc+5SySWOGWYiOzrWZgPFLrQqyAEzqgaIcnM2VDSkEuyPO9M9WwPniXsW5B4uYtR5yIboGnhxSIhT7IGOneTbdznj/ycpiztM8efvEPSXXFvPqWbV0LlSSCKte1suyEgZg6tZFQQLwJl5aJPVZGd05u/0bMWXDI4YpnLXEhWpa5QZ5ykTGc+YuwNomUrWn0JNIKobmt/6M/kknX7MEEDVb6ulFeN3AABQe56H1r2Be6kEzqD3rfJY6UkMke0PbkQE5hlQaNeHDAX+MEQAtf9yzzrw6R2qA0MVp+31uLBJieFeRhow4atmnQfLqSPYPTntfR33fpbFGZjHub40qMSH6GjlhiXqeWncf6iMv/Iz/svvD/HtUNL8IGnoHVpCcXX5+L036z3TbJr9sHtep0lIjRp4EmwHhpiqtLuh0VqrbnjHtoJXMfmrEExjPM669IHW28zImCaPkv056Svvg2O39TinxiF8jfQnUQM5+YWq2JPYZ1j/DWEfdcgZv+LnCiLgGhkydHxx9X1ICQ1XTb4iOyvoUDtO83PCiya3zsee9p1qMUZ6VH3u782MQ7BKeltuRYB7j8JJPQFuv/cozyVMSRW9yd+A7LzFngqKW3cFbMNEgQllP5n5hAEyCmaUFanMhzDTOMt/4fVwHRl2/gwETW2lWA1KwhMWxml+9I02ViQcVchx2HpyAsD97RWv2nEsFUgffYLtD/w9EYd6OzBb+kw/JKVH5LSW8Y8SOnOl388wrZXyu4DljCUe8cCWnsCdtDpA1appIC8flQuprENLjNch424DygpoyU7mccMOufGOU9+IY6UPu3ukBIIsmDnPI2NbAmjdgUrvbARo0Vfxm/E1Y9SrPHEuMKDPcuwQqMefdqryGjh/7uKneIV3Iu/SWD9lu2CJhj4mLmvxwfuALm01PYe2O0cbZbftf9rCi8USe8Lv+/0dfO+ooVC1PNzoLCEiK+65F4QwTierGadgf3ehXXT8gwBtPvdAMKEgVQU9X108+B3Op0e7ajv+SkZnsXI7RHIIXmUWbTcauCRUUTweqTnf6LhAk77wggMaT3enpAu11OGKjcjYBnUoJ4+nc4OMaN79QaH4Izf6tcmFfr6z+QS29fW5buJmqwEKHni3MbkjRsjy23K2RhEfqUicfhO+WdZ0p3cXatLLOYj3r+PSRvt6d49LWSAPzSHaBpB7AN6uc0aNoBOpMAeijXmOwF3mOlQrNqmHYL+alOmxOSbNw/pxyJc2XxV5HCIrQD0vtnC5SI29J3AQMEQO2zkf7BDSIEYi7E8AsBoBhjtVl7JFWEpXpET82A2AYQ1yncLGQG/GFG7rlufZkUaC3whtPI4uvPJMiTZ1zZjlwQhqiO3tUYSBhenaXSAiBTNbpJC89Q3FynwzqA6Dq0JNnsKwpKaynLV/eovggceb3u/VprpZ6oL1QkK+XLI4/4YPLXJMGiIc2F78BV7Waw7A5148WLsIpQ12vlveYGBoCcx8wNErLdRSlKj4q2icTx9r7gTgIYMOlJmLmP6f/ZdCcDhH1U6zrqzoEeKHGDDPvNKQFFon9teNloliJiSVLHGXRqQMhBoSk1TDrRThq4w7rF0bI3Pm9kRozZb4eJmjgtZkdIBNpqTnU4P2B3GSbcl6AFnwMuLKG8H1LiRnnJtT0mwM5kGOjlkNu9XhQuaA73bLNXfrU/3iyD8SQLd1ZWX3MNY/HGwOXdkam1+Msqyj9w6HUIMvPEcWG852xAsjlUP+fUypEy6RWSvLDKqS/apJT8VFEBP/tKA4tCeXE4oTSqX54qmeEFwiEla5etiNeY3PwYfFdCICdPnbiBw7dygV1h4ANIivIVSoH06+k61uK1p7kcT7/zkbmd/UxUBaF6P98cY6UGnnZ4v2MPdsJiPpdlnl1UzvfG82urIzl83w7dx15hgzEHQiyuA0W2srXGNP1mYpSoRFsuJU4yIOD5wgUwDX/BRHUoURHpyvX0HCMvBTw4I/mo5NlKRZDlN/2E/+O7mW9Nt8upbG4BoaeafBr2gUlkA7VAEyI2EG4fEKIWc+ILGduAatey9yMEDh9LJnr1S0/uyuV6o9sk4/J5Wmmw8wWMTm1p5HqLTPq5ms2bUD09IrUNgVQiT3wYs8EyqqZsTtDV5SIVhH3JMMSXbI9KECqUoz5yIBmWuUEjpzNPPk4d39MgRosdx7EdxKY6Iwa/N2d9SmmYIofFZr+pqbAEWiKRDVUkyXlKYUoamAdAgVc5cvf7RSvQGUlCYgC1f691bYCYxVrLZ+oJLAiguH0F4UgSaQcw2o/nwx68Cw3ZC9tpLcnNPtthMceLtNvcllYRNtXwi5r+J6sQWyXnks+8USb9GMxRtG4xAdaBImUC42CRGvxeOilNDuNShlVPQW9hmNogBcoS+qhFP9DBpwIoqkJTDwvctK4Fg1Xk3Rc740iWmuPvnLmlgQBJIijureNF50u20YylmPhUV1dCQGpMC6WHKmSxoqUFhrNGlmGcEZ15uZO0wgjaH4dX3t1cAMUbhcxQmNteXB1H7Uaq6oA2G1wchVsDy6UzZiObYmcXnKqK0mHDIqjc7ywL74vxz3I7iMUOJljhx4h8DRqcYxhG+vhbzBz3+jzxzMy1BPHEuNmcQl8Gt8BOVy0Snh+crCOSr+BZIPSBiKgjKmiqZQ7X0CN3KOkwkO8XxTSSNaAIvKyEC72Egii/PHEUQe/K2g0jnzMVO0hJi0NwaFbZfbGB8ZtitSsFOtGWoLuUF8bQeH9vYxC+sIHpBA2KCGmYxONgT5/jx4xDMQ5qEMOPjq757g4/ybu155Rd18DSVr2bAuMcgZ+xlc01JNyboOOqi5xqAU3Drq704CO04ZR8SC/45p2SJWgS1CwzxwRIgEK2sFGhCKBRdJJvPlV8NgNBKGBle/kBKKTCmgPJMJU32/mKbLhJzxQF8FAmkJC2QCgdXkSGES+yearEwOZ72igel/x2zuLoMK7DbXer9IZ+067+ewFK7ycSZhErT4kteKdrbulfYPuLgct/3NVHyqyg6ABaMzIftIKMrjCXg/p0pVz1anP871j4A3B3MwrS/+IqXrMqWB2B15pl9wLooiR8SoPFPLbkcR3YRwvohj5nhPKCvQTTiM8V4smlaXf4Ua1jht7VgGDz0EWl0yUK+xM/SVqL4Upuam335geXU/1u8OhJ+s+uL7yI4e6Q1Ym+hKPTZRpeKOw6TTvtqcT3yqUrYMdYNGm+bGqEtJlZU2E+cw0xrVeBPNIWVLs8KBgmF1uo91dkrAo0e5OXkd8rgKtETzLiGbspAABXVx9eUTQImWQvcpDTlVDewl56ztdmidtv2FF6LcPg3cPo/b50mXLRzMRPH+UjYbbbHSBEPGQHZeSg2EdW3Fq/bLGy2DlhKTbV5lzXoAVIRFUe6BZs1i/vrbh3awK05rgO4mm9hLRjICDxZRKESbXbViesN8PZijaz8Ck84/uU3dMwFJjwsn6EBZU9m0HMNySne4+eKjfBsisUf2hR924ZZZHs/l1qydk6jn/sUNaKJ/aZ69DpkRvDoXwgIRAN4MXeSFQp2yo+2ehGk5j82Cxkr1zMQDpuPP1vxfEiQl2IjywgyaNUhjnrung7Mora834lwLpKGl57JCB4sMuAACCGuAf9uUPj7AtSJZP4knq/GiZL+QDHXevCCGcN8Zw3gG5clMm0k2MNRCBKNw3dbxJqi/cwddXSoIKefNhy0QMdFN/2YmdjgLQjf+d/CPwUxhB+SgncUrEDW0aE8XIz1n/GHzJ2/yfSVltREdJ+CkYin7F7wpTZZGX6fPxVbvyTXWiNMi1R8E1W8pv3G0pra416kobq+11Ldq/3WnU0TpwaF1jHRZUTmABR7ENw0CKGdU+b5NaDkBYhFmOYooxCgkqZZO9Yc90IKI5BGe5Wm/R2imFW+KlHROrDLCMwGm83XzxP5MLIwBGgpBvDfY1PKpE6YK0Yt/Jg/96DnifHDW2le4LCrgQSjedn9RHsBSIq7lUnBF9uetBhCmdbsWvEwW6BGMaho0O8G4S5/NPgk1Sk92U8NwJWw1+rPTRf0Fs3GDcJvYAuUOA3vPxPt2zK+orFFsz3jlILvOc1XA37YIbgTNez6yBKFPskbphYlqjcP3+GnqfuYVYYAXBtVi7ZCNEajKzbQpc7l5wzBxDX3wJNLyFVFafsKSQ4M2zYixcwvbefs24NuGZ8oxajaURohU9mJ6XTLIeOljG+rm/dslk0n5AMxBa78I1aAVxzMkCYIWKxu6YccX2d4g4Clk3sHyUnavDl0Sr1jPixQI6z65lXPoYsrwiaW6m+BPs2HL1wCERLgzIQHjlcksTo0OoCNMeeq6By+Lj/zY7Y/MiSHl3db4j96jNzu3ZNU9q27quseqBV6V2ToR3xCnG2o0TTNVjHC1VrSnVFrjoCSqgb5NYfr6+76lLfcL5WueLCi3tRjHFVAKSWb+7JfMTXcma0kBVRcPHgzJ8eDENnMgye1dVIPouw8Q68NLd+gGqbyyhiSDViWzJHO83elviiMUnO+0a6rigfK6WCOrinmsYwyxAYoFTu+8krNvS12gOyUjEXmVcme4683dwRKAfGoQpGzOJLo7xTnziE2UXKxqCTzA3O/A7cvGnOAN+DVcgOtdxp9f6ZmnqzDG/j++RlNWfby0ZTa/VcnsrBYpF2LCZwKCNGTchQ7FfV3+GU80OyDX65EPtiQCuViHlQ3DmOTkKhE+pVza3HYoTl1OxOap+iFIClxERVG2vXl7Cy41KeBKVZumy1j1ds4ef6CIwG5JhhRm9oDFzUBQZypYxzXxjZaXkQGZP5RUXG8LVsI32TakpTpUj3oTMLVgBa4IWWMydLxEy6lX/5N2U59cwhfjFdvf0aB6DvqfaWVU84Zhg2uLgGHLUV7pbayFbcSPpqXVzdYXhF+aV/+jgA9OnLKeb8m+qELmwGg3A0SZ4V0RWQK10HeM+INO98dBjaA87Xn0dgOz9hyE/nPpp3N6B8iJSX/pHOENoFgv6vWGdX5jMOQGHwhSNxDQB7V4085ayu9eBjn75Hf6gAlFdxu5LOikaUdqXjvUWRG55BRetc2uDMYdgZ2x4zVKvsCXTMUuEyNSYslzRMZh1uS3eVH5IdskxHh+KhTsXRGEp5jl9PUmIvgzpYCIulJ7tiQlEVUQKP4eV3Z2/n/xR0+S4ZkCbwRBHMBX47WpUIqTWIb+UrYvaqpU7OTbvfQ/2XrZKnTsHZXmcAcpMcvEyOjP8mZC3GMuFPBqsb9THdJGxl0yf6KYcnUdLjmG0Wm+ugF0tDphp4LBm50Eq1EJYi7OUhv/ePbsGSjHWdLX/VSRXAKk8wBsXDvu+piUwcHf35arjOm/0cQEfKR/JCQuWo/fVAj1Z8X3LN2AVZz9wXkRdxubki+YhoO05pCicJyaj+VP7ZbSrtK4yZmn0cVEgRV39n12Pkt07oV0JPQ98UpSoDpPJEc2CN5M1WX02/BD/3ePHgvFiBdK3lXlNUR3ETictORdc5ZZD1oIeglafyTdIVdyq6dOK6uyQ/ESxMldNqFHHA9ublZeNFg/HauZCax/nPpVrv0A7MTJL4dZtbSj1Y6tLEgsehzbGGnXz718AkLpkfCvXGvI+zJi7NMMYerjjj0y+uwey1ViGwMOJk+94j9zk1R1DyCOx0+6UTgHylEPxeW28wToGAU/9ep1U7ZKIDYKrCRCs4665GqL1A73l/boxFnlgFBLiL+Vh7ak+E7koZ9naIRyzdBumogWSLZIoTBthCjON3FyXLMKeAuFqKm/Fq+MdOWv5gNraXW8I6wwGDaCJV1rcX5y9oV+wmLcQHq1NlQqOO/87QnvExXq5IT5uOHt8h7it8Z5rgE5A++67jl6ZbN3fKo5rlS+LPsbWdU4Kqbo80c3nHKNAQhQtIf+bkEXx+E8E4dxvMPfI+tVL1qek5HHYr4pBxtPf8WzgsW5cigyYt4HarghqyC5T62ozvRV6Ry0+kc5CWxPw/xvpo3FiCEEsqQH5NnfokBlblRrJW5IEbBMdzHiRW40bFhFQ6AvFhkgJ2qJJ8wA4oZQMbvmSKVgonVlbmfAYd9QgQzgF2VvVHz5+3kNgkxxhHr7Ci6LcY1zEb4WMc/i3zDhj+Jm8zz/+W0vO1Pr1aHoVDKzIwnVnE3NC/00Qff+Wr4Eg56e1FHW2PE0hkKriu9XCam3Px0GHFpdOfMfxzVc8Y+DvWmpNkWb2xYaODHZ7cExITtd+s3FBA0ZukdBfvX4XlqzhrSulFumn5XgEUmSwYnCQhs63I8dXykfsHncFOe/U/Sw7thJgtcDk7NJ/HXC0unggZayh31VuEy3OGfZfGZj5aQfR9YAuZL7AyW1N7MCLERP9ScB29jGLy8w5Y/8DPBIALOM4MI30O3OQpfzCSCirP+UKbir7aAg3Oj4AYlXbrUZMUM5SXIJRKW1gCtynTVc1K/5vLHKtQOCZhWvXiZ2Z57DioglloVYKWvgXnIOxcbhKwExw5ji2XX0e8ekzwEWRqtG421j96vF5P3oKYrv5fdiVj/mf1LqXNNpTJTxQYQF6dqPZpVhXmxPEM6eHujJJpfMljnlEglwHONitOVdFd5kYjs5Pvqs2gHPAeVwurbYCxVqoFhsR38mukO97mDaIqZLoUoU1k738RIUMRViuU955vvioFB6m2sVAmJrEWD3OSMdWomokBd984d8hgSbdL7b9RYU9aAmPV7NPtfnaMZKW1Ey7hMEf4vGDaGu/zmf4GfTqlKqht+cyhObI4ehRFNihTd1xCxkPWFYFOjLr8PVkPQw2gaZC4pAqJNES5xWXMTiIj46x9cuZslfWfsBFuNeV7LzPUFVoNUSiiJjA3onAZQBhE9x30joqz8HllIcQA86mYF/I4HK4+1//bruYj+UXpnxRPAaWcJdQfC0aBt/dKzzU2Ke6JYSUPSM64Ir1/Kl8fUbhulX6H7cx//PfHaSezLoExNFhDEImNuQCp2dWr5UyRqwbHTqYxGoUyfBs7inRD1IqeKLALesuXS2cReHTA0MW5us3g9LuTDVcu8SssOC6FGUqJjeJNxJhjjuAYIc2bZC67IGY2lnD2yP/lni0+Y51GvLgVQJWUjyf7u+A3ttRJkHOUCU/tpThVDj972copFsMM7haA+CMQK5GmcfIDdCbqCEBHxDGi1dPlbvsWmuSk6DeJul79T4kSWnUyH8XEdy7+PASpBoCQABNMWNcDYoglviOYKk880ZuvbuJAOSLVJ5vAH/15V6mjcr5XZ3xzT2AUjFel7e8lCn79bmj9PHEeQSIM7DcJAaMTDobOzBaHStxp4fUFdJVdFGlGAkNdj0Tj420xJW37pQ9DhW7sZFd7uiiEZ5RsmktX/XhqZ6fnJAC6IR18WWZMNdx7bFgzpx3biaTFk4XimFsIZheMgD3t++SGlAJ5FRpwYHKUvsodvpANlY+16GE3VAzTyvXBgtH7iwd/LJ1zEYDk+nq7UmpRrZ1v+8vz8DUBY6qpR5WVaX3dXrrDWBsYI1D3BQcDRaP2r8UvNkwLbyCoS065ImeSTH0P9rRXqBmKIiMjB0qEGAcsuX4TdAAraNK26m5tHmBPWz/tSNgGbnUhzf4In8nTzXc56cO9dL65Uz//zAQkx6lRU2Aud31/v0CnSdVnScxw14duQh9Boad1gwKu5FWP22jP/ZHy7EJzneeJm8n4I4u+ty2RpXnlg5aMdIATP8SeCGLAZxgMxgqUOFCRyxh366rS0bQf0RSM2KXFdqr4I4Vu0Et5Qjd0sSeAxlJzvHftUR+XUc22s8Oa+tugRz5F99JKFw0PI+/KyqYCVXvZ33aTdmZf4oZ0Z0kk5lzxlXBjuAVbwcB4r4Kf8MTbtMIyX8etz0PDskV/+OykRd5JHwa/oHU5bUOyMpKQoqnuEHs5MpZ3Qg3uifipOrNo8Cbw9q7OKFh/s4wrC47VApgGG7yGkspecA9wAufoN1TslAxu61Crn5M2xgTM3DaGB1QabYZDyCyUZ24ZubUlBMFlqxq+6FLvfb+i6bSfQvDizX378XMqrzDmn4Tz+Jyd5S4bAmB0vl1aHLxmFwXp4eqjG/zNfrFra8kA/9UKBf61EX2x9YOGtpEPdaJMEEbY7ArCBupHfRvw+gWG4z7DZp+A2qD4EkvKrDHskOcRz3W0QWZrngfOsXv6htgwQ2CzMSFIWwmoKAMwiZZNe1V4cMEg2Olis+Ag6u8sV+OsKmYInKwoX2/8ClyUdlUAH3G5BoznC9ybvS4OKBgx6Gk9vD/PG6E677+UiYSZwXlJqhnJo3G7ytH9n743vlTswa4s1OyxVRf5ThR7Yy+2PsmhNWN1TP9RDBd0V1Jx+dQOxmvJ8VPe4PEWVgfywEC7lkr6o1BIZsN9ZddtHCgGb8oL9/jLkkvtx1ugtfIBZXUDvPoE1PfMz4/dDnD7NzZHFZkeg9GD5H9Zg/TlMrekfnSuHaJumTEWbfgw/xGPtJYG3bbzi1KpAmaB4fEjbiqUP0QG3xgnGkSfNvnSjvkrseQiW0lIdUTz4R4fam/WpfE+yFhvsOQnK4DUH9omqy9FJ5FyrOVvvGhVpU5cbbPvTuwrWQR0vRXTFPyu6TnnVIFmkJNBXzEJ8rwhLODbzr9hx/QhKZd7saq/CHPf1zYzQX1H/ciriOiQ3c9UDx0g9cXQyO6nGNzgwN1IxMmak2OnpemHfd19+KuNSecmXVxYUg4EyzhHfmr8ocIQiL621UeIh36Jvi9EyLP6fo3D/1lTf0/dDuNpHUEih5upiNhrfI24GjU/vJ5oBVLOIoImLuE4aTrAxwDwe2sRBpv+jWlowwLpzGPTE2bat/hFsyp9yTuwLWPmRb7yNuUL1hLrwXxLFKKs73Ib2d2h/vIwinOJmoTz005od/KvsZqtl3RfUX8mJ/tHS4kz4X5gmcGSFsPQVqGwpch59Acxz8u9iEqQE0K4OSILtuoXJb1/ysSivEev+Vc256iSfwzfVUEdcJ5RyNL2qqsNOwqfTAdEY/bL76Af8FtjLyV2VFwU/zCZpcM+bvxgcH6xEWZnpeqhS0dk7hsbdUlgweH3dIMIh6BXc9jBWmv3YxjCuBZg3SfR/BbB8Ztd+4bloWEkaGvNY+Of/rF5tM4TH1SGw7VHLk4cXA24JRF1vWsuPRmLJgtHcadGfERDCdo+hDVkqRVTgFFCDoTSdk24db540ZzkX05IR6aKY7CgLdj+iU/8DYbBlH5vDmM6NSVKaWQ0lbt8fVL52PXRicdFNDIZu2MObONor/6GYS6bEh8HPuFuuY7fVHj7fv8/82TIc2WDwenussVqDMnV0r17K7ziMr1kNAC/8WiTFx62GzlekpOW5OF7u5yRqZnDD0HyGsfVFp6j0gnJ8VI6mFD4ero1oX8ReiIEXRVxdX1y/uAxbHlMhmHzItDatO8JBGaeYWi4FaPEnpzAApaYsTqg2ULhunk2CStjpTjHqt71kxOqo0ovGt2PUMCKyiRLNduQq2NNJQvdQVpQRCd6c3IQD43RG9jsbjKAndnQl5A5CyIEzEJ0rB8HAnYl8ceCTk26BnJAKUreCaBF+eOvN48SnQFi8GfrNf2alOtsEecC8dJ7tldA43zr8F4joomYi2C+tLhgrMP5B8esg+L/a0/MJXfHQYuwyK55nsEHh4L9ZTz75BlcdXOdYgRzPttJF+5Gr2F0Q0+7Fg9ePBgN8Mw8rL7F1Uzs5xxR5zMSSyAI1lKwkCB2wFwUkDvUMs1HdIpXmSW8Whl3jA1DtXBu50zowf8dLTIpawpqrpY7t2MlyYnQEAzzbrW/fjB0PSRAL16MFMS5eo84SEmEF8ZfBPrM8gTi8lIo61tCav8+Hrv+0utwurPH45GPYCVJOnm+3j2yJotWkvrTxMz0hrClcyjiUXNBbJWKi9EkOwsGqKgI29BifJwkuc8qc1iucaNZa7Rq997tnzmsKZaJj8ynuH2zJRwUTwZB3HqkwXh+hdVV/feczcfUYb6/WboKZQUvZlgCsQ0bgLVAE1213Lr7ozwESMCPXj8fyBgMYF3TL2IvSg38kbL79VqVGngLc2JrV4xG8lvcO3YP0xQ50jJipOWaEC20okb1Dvp3oNswPLU/aooTtMKbvBScSbETFPRiKbd4/PMz9ZbMr/Fq97IOyAGFjT5EDRP8Tt5Ucg+LTJV8IFHjPtXnkT3sfbJbv9kINcHOe5FN2tsCI8oLFr3mEKYOGFgFzNglMXUHjBH1ARqCwR+H0SvktHNs1F8afXE3REVRydh4JkMAs6C/AMORvrWWkIkuYECPMVtbr7Geqq1PiVh7s4l9hruFqUI1Ou7HOghxoPRKOTttMW+/8vYnXB5qWSP9KvTolqSZRU49aPq8wHshNgB/xYM4s9cwXkFg+yyyQUSkkYUkuDuyBsutOCXy88VUF9Xqu/xJSipxVxU+W0+ITQ0UonJr6QgadeqQOChRjmAOM2LHOJq8JBcI7cntniSQiGxU8JQ9qKxg+0mQzU7Gkf8IRDorQr4p/kIzxbML6isgMfh1G2QIueLqkoWaOkb+Qd9BxE9tXDZhZ87nhYomTLcOf+d+RlrHUDNzMAytQeEBn17ejdNGRnGPBqWfwwa90YQiJx7NME92TaamA1wtF3KqkTkBv3kWJ5QB8G9NnK9wQ2JDaNSGVf6FwN5LkZWk7be1OK0VzDv9EZpguEsbic6xxWgcltnktEo6Gbn6pqsqa3xZ4wIrrDiUtF91PRuCF+jc68Kuo+jveLPZCpomKosB4qgmP2U7zz75LBl5xaEVWEDejRJ3lmcRr993ozWAMRrkDc6kbh3y+WcrheLvjAkiupTRJJud33NELs1G0wkngMzVvaUlmRpzyUbvsagyy870K3Wph9VwzTY2ZqOH9H91SqueAK3fkwjZkkeqGKpr9aIofndhAMrNcBSnLumN9FbAJXgzM2PUgEYYMAhA1AMy0URai+H9qqgihcyTlfYdqfwIFd/6J6n+rYXnwBoSjol1ZjGXfmMnLY9xTYTJKYBAobJCJ4NE2uHlNYf4uDE2T53fy6cbp0fF2hi78Xme61AdMf18G8iHaWuPEIdw/7p33kATxeFICTic9f+stb0nrP/8UPA6X/HCKx9IRrRZocHn0qFZntLhrX4RvmoS+Jc+oI/VcVfMBFC/y2MTZ9Na7MfMJi0UbK7TfdOYUqn0AoZ9Ff2I+1cQ19XcpK+SRFGpOGBulnMscCnam4+V6XDr9V7bgNa37CNKBbd/4OetITVLPK0ugZFtlM/AZ9ytu45DV1EeuLXvf71fucdox5EPwXsDt3zs/x9LW7wWgSthgepShDaYEaBUExK6lOCcXkGNX6DrBKuUWgW9ChRhTvgKQc5lX3e509zHiXF4wQxO8gaI+TfHpum1dOrsYfC1SSV6KvTf4ImcFzrUrJYpFd1X4p56iFH0MM/rMgsFPWkIoaZuyV+l9n4afLq2ZEnwKleq5rkrNI7VXyGmIToVhUR8TqgovwjN2HzxyPk8mVJ5cifgHZ0AxFOHhlE8zqJeXZ/HqQYBQdGFwoIn5FKw5besliswLSADY+OPX/lDkpiYTa0Alo8Iz0ammcwMvkjhy7h9YvBxV2wXwiUH8CbXPa9yPb0sog1y5M/GRzgDsJleYkuKkfVlHn0Uxtud9SMLORxfPc5HGVb24WVFVHNTJOxg7UdN4OfK4GldEaurHIpG6eIx+wxQRmBELltowQUWJiwHfOAtqsdbQ68DkByiwAi4rox+cRTd4AMfVXGa6eBONwZfX0XUabb9cRos//fkTi8Wyn0mv92QGEVJr8whKsC5JIXP+rvNmaB9PCJ+QjXN8v9wgZmlVV7/61070G2h18DXdwN+l3/GGQxPFRwfyLR51tkLj1k50UowwmoqNpaufHBvJ/eFU4LqwJGqFkrpNujSGnHZSIwOShkIkA1sxyMYOPgXVTiDw/oJs1H49DR+38nKQdeDd6lhpZAO7dgYJd593CfELZLCudvMsbl48yOV88AIMy4hCmoyA2jz4YczudW8W+dvgQYhQfZXj0+SBSHvwRp85Ce5Oi64o3IDYu/5Vy0heptftJZPiK0T8rkX6P+1B+vx1Je9WmvE+x2Ediy3b3k8axWvcxnuc+Wf79S+p4rFTUhf7hDE+gDfooz/WJ2FGgIp0ycvOox56pYW2tStC8wGTPTaamidQF/287672ZY75hDhhanngssv6Xkr14EDXWJVlPumm7EAXHtxejRfidoPp6stBitIxW0mz14FtTT4BS4blNjtU2QvaoZj4PrsoAoVx04dIdRhMpkq50At5Ms02isrcvGo2ay81IETYEmJVJwafPFpQTQBtxxNdc7mgVgP6zzU/Hi6Uk9qPXNnLPzNmW7aKwDh/J8Th4WRARyZHFErgiF5ZbNDD2IWSdN0D51xBUutdJJjGtIlHN0mKXY2b39TF4E2CxIV5vWnQ4QIwkH2E632q7E/tKvU+PR2D7DaIL6QDLdrAGlORvIZRnTz7KyfFbQ6FNCqOId0Wak/fkoPLTx/RV/xx6bMlrFVKmxwlxz2tkN5N6Ko1aZeAfznpLU+wXAMjfIlmaIzkGPZa4SZSGAlpzOvzavqN+jpwAtsO8zzeFFovu19RVMUDtFDB+KciZadcW5t2b5Pw9p3w1+hHxPjOoGip/T+WYUZxAR8gJxDeC5832XKRsWMQh1EcDQN5VONkhyDsy86PsGBdihvfqjacpSbTIKiV/plRroLOQneKktc4F+HO67TGWAkvbhxJFCvVvJzSq1wSebWS5j5aVN+H5SIh5y4MGGRRsaGalt/OqO258ac+fM/LjOxEthWXn34VLXyo3PdfNY1TME5G+fMFTdwvYTRITIqeQupIDDKFivB+laFA0gnqOCXmv22BWB4+fz4BtqrBtilGLkzxzEywYLcTPwd/miBmgy/vxXGqssEADnVGwnN/nBWNtfJ54LfbgXDVn5XguqR/645B0MRq3WbVpVWI7UcBYcJzMHzCLEXw3Hl6Zee7IJ8ERV2415yAwaL+wNHC92l0DceWa1Pu6aqVE/JZNpiKyo4gv3HtFGZtf1mtI18DdhvWFT28USBdURCvnsvk3EGgAOdFnQsFdtz7StOz6WGo2TO+GmRuXCnuqyc32At/XWG8z1IBdZG4/S+TzWDcRLoNZ+u2yqSq7BBl99zexPe4N2FO1uq78Un4gRA0OYHAyCUlQu/mw3p7AdsNoxEnsMhW5B07EixkEByZzqhr6o1xztit4fstdX4FytDKFpXNzh8OL1VuyCOPYjMIgvQiEEsz0ERffpL0PYXtFO4I2QKKTpchHGSqNEZAqD6bSjmIMQncMeh37lXocxZ75L7nE3fO/bx1KjYraogKwqYJ7HJ12AObYz37CXQ/3wU/diCDpTtF67zGxEHve6lzRdWHeX0FlHmK0QYZ+a7H2Z5IAk8xZPuBgs7aGdFQzXJ3ma/B+WMRJlsvPUlLU0mcPxmuaKI6PER+5mX5OBqKguNP5N62XYwBliHtLoc3clRKdVCh2dqmbMinF5Uydydca4PEfKhD43j+7KAL+fDLYiYw4jNpn/YVRPZltP7iDZBiVCzPUC1r5/nsvGhHZSPsWy1E2VaUi9LrgVmqe3dFecPrpxBN5ZgA1QbpOnc8eFg2Us7R2ytB4pr9FzSc0cch39JTx+opU5E9KpvxI9hcS3qc0zMhSJYzPBtS5SGPmh5ysqL7PBvbaUd4rb0zV3buKG4iqUyMgyNfjv+8wr0hSlUCINib7VFDbO9hn9bUFjlEFH4Sb/ISJYB3jA12MLF+hoj0CGfLdP0QvbCQ7VGpPneUiOfk0wDcFEWsJU4pEYutJ7PB4WDmj8JxMrW3Psuw3pjKbX0spPwXCMk91xvH0TScLrgfGeevYOuCIujcpUVFzpvwNn12woPAwReiMGpvDRgon0k4EuRStPLCzGbWjvTmchcAgP+4Hjifj6QzAG0ZvOX9PQazjXnfDLvgJOl8geVGysH4adIKIbwljFK9Z7F3KZZwOvDar3XL+FR/jJkjnRMOyPUkVX7jOC71NvM1XI71RorJVsEOYbRWQcc8NAqv/F6jk+wTNiB+b+MDUI5cen+13iQHMfkQ+s/atySR5vQTvdf9vuWuUgvaXAfIkoYf4j8O0IRGMcZXDmwKuGMTTbp+HgxWUmMK5z1e5MHTVQWa+r1GHgeKcGXOqN6gUPwQqmaFircUqyg6Ec+EwtaIkqOlPuzaKqPHhWTwotjDzHdz2PVCJ2GIzSlzBnVURkoF1mWr7EPoVifDa2JFEaTVfGdOgJ4cfB5ekTKyfxJ6NHBp57z7l6o/Go7SeVz1yklBy1hzYR7xQtGGjCRIVp+5Hsg+lR8/cj7Cz/9/9EEQguZ/TWUMllCLI0VGfpH/2bzuUjXiBG58aP0oAR4HCYH4sVVEF126Z+fg8Hhl1EbaQZHEYQfm/XZY50DScZfp9WQ0RXbTOj7MUnDKBxCU5quIFUys0ahGkjfx7vI7FHePVU/n6eKPZRjSwEzNlDbgI1u1jC0y1YVOLe8VftzOGDb8Q/RMOMqREtnT0xaHudgJGVFi5ZIP08LK73UiEPrDx2s3VhsGFyo2uKls/QKw1V8By5LHR1cnkI9vJssJC3vfvPLxgt573DY/ur3o2Bf2SlodiIUryBiscmXbu5wpgVBto8D+DPay9m3Rsx7jPu4khiwEDMajpl04ORltvrdImhia6X0e0IDtapeGSJhljqxeFU64OPz7RMg/OqpkjQn401bC/bvaZqfQ+maoOp85KgoKWk+p6DlfuXjuFrMjf/NJ/lt1jNAUaj6YAI2kzBfcaRSNWTbmpiRc0Sj+QN/hPx8AkJPyNcdrtBWVnEq+KB4dsxlI9m7/Kgfrv4HW9pNMKDMC8yrQV+WJOg2JBaR7qedLcfyCQcAsmC6HJA9ZbnO1lFHt0QG6UFCwVvTuJjjwt2dVEZA5uA8SAQqfVWoKOLN0s9xe+WIltoIgD0nfAzJit7aphYgUJODv0v7LOO9DCBT47BthcTGsccJOyvLLn+LsgKdSL8imeCqCwGUuvH4DLzDuN3zEfknPTY2YA6CSJCJwlT/JyjVIbFC/XMotfZee5berYALaqOC8CqEvCopaygIHZNKKQVa39yzBNcXTI2nGDJgKqAioreuuhye3pVOxJNAAyNYC019lPIaG9BL47tg+5rMTtuw/W9wdGt3ceJogBNplt6QNt8WUluSEWgJvInLxQdICVVNl0jkjOnKn8UqjxuVO3w0Y8fGOtVYaBVEbmMs6OCTrhST1wZm9z1Q7b+o5P7I/APjeBGhGWqYGmLBvhKgK1CT2U7LIS6nWOkCX0r/CafOaNEvO8EZhXVbssdeyw3ComqWV71tuO0cjQKsLrZA5m+LKrmvP7NhZqq2FPIvn3C/Y83Mm0saTPIy23WEtm+wFvX96GC/TNcfp+04B/PJ0FHqq22kgvej7xCR9dKFKqvyioMwmRHhBmCLZkwpCXEWBk8IWfvHWpZFH9MtxhDMlX3DLRw47RMk/U2s8CZ2Ai6GQnv19CDNO+hYa4yu+Xrs9aYGoyI3CUT5+XkW3r1dEJr4YN3g4+PMKSczIY7kcip4GfHcef3+f/IEb66pxGm3W3xLmYXZ9M3Y6D+AA+SjELkK51ZmRWcw+a5XSwfRSUNjchek4kn9N58+P3xbe3RN5pQC/KYEg0LCsv/Ttw+2fdQ8EhuqfP9NjkgQtv+CLvWeySwiPLrb4dhtaTM5y+nVq0bfKgDZNV3hMHpGHRt/PHlNMRzqyFNoG+OHK0snX7XRPVu5YMv+4jGF+QfEzJloe6Heh679qT3VEGj+BdXcYgrLihEkKPPbQ5d8wnKT6ayd5lussVQQnlBSJzsULaYbFIYpWwrhy4Vv3urjjd9MSN1bvImGKrpMX30p930usNgeGLI2zeNPp3BgQ+sFparX7EFwiaJJY038jMFIcaCSc3DRLZY3MiGOxUYebnv/0RH8NACvjV6iXl2HzL8qNwc0LpbIpzXoZo7KqU+MKIe+O8vg8DozZEeLRc/F3M13fOJrQA58bis2jmNrlnHC1dprgcDBxF3ibsxMz1SpRhNf61wDeWTLYHDKrfhPy0S6A6mC5utAVOSOPqFZx7/UsIo0qA+Q/4h9Uw6AmTRFYci5rgHj+YrA7nd9Q98IRwoauNMWqD0SBrurQ9JqhPDizwsew2pJfpZ/2gEpXzM4+xru8E79Gybp1RiycmsPzVAsiEZg/PegMWgnzLW4dBzJyQ5xtWPjNQDyIO0tlJUiuUqQ9j4pF1cxIefr2y0L1b0wCxE/ndeDyxtecJJRyS4RQ5GO0HFTSvLUpO4yVxBUWXx+eZREVNUB+y7AAvJOEZADi9TcrEBtbBur5yxWLCsBjM+FrhvQWjxcj7k79eSJN1wSApbkUT5lyDBETfdvnnA2TYAKKfOQkKQDgrSVJcCbdRmFBnQIsK6KGEksPA7HA+i2w/RAHmXu5I4IqgTvqKliAZoLyzWz9xNpZgWMghlZgASD36Z8XOLy4YfLM73A3N+mbTHDaqW3N/NgjFi+LeZughKWFvIsA1yqQfgDTgVV4wBx5T9yidoKPCbW+rDBa5ejudniQPwgLs3IUeE4FN2uVHMmJHGzUYYeQEUm1vYh6oHO/q+7oKwdpzq1mqu/sOuKzJmfTBkDw8aO7yim4PWWcYHB5dbzJfSim1xgLCnuE1e4n9OAFPDdroYPGURBueAp728StPWesUUxAgaDHTn88fJV+RZ/iOt3BAfcak0yXBSd9YFqlG2ooAvpQRUBg/UcLAIMdLehz1KBDsfCw2i+0o0CODPa1ReOo2kd/o0MxajgyElkENgDKGS7x7M/SzBLmgJOG2JFxMuLL/ebWZ2177lbmBQV0oEOaJy8HMmpIQ6asmIThHLHSqbOB1G1TBeBLG1Ak26l0So9pyIbnnlF2fdtTMJvpGCTZyOy4RNJGWV5eJOSlVXk3Cv00oo/7z4jgFy3LsG+cnL9ih/aNVjSxj7tjmLcjQdtHaaI+Lx/XwQEEaDLKlQlRz1N0qGDJmJ9U50dz2Hmfb2/h0X17qzBgamCkdj0n/zpAhN1c0WPQrylyU5ff3ayjrpleDyfz94PLpaFmzurdUe6aHeZYnSyGERP29OsAb5vLJNj1oN15de1dt2kPRNdDcBT3HXBjKTZgNpFZtqTVoiT9kDRsIgEl2j8PEzFj40jvrlEyYMp0+DWzrYNl62CzEFJjeOdg/ocNl8i+/n2cwjV81htHJGqaOXUGB4oUPzITiJc+hgbuj3mjHNDC/bSVhSz8iIJkm7OtlyhpL18mIWk001W+ygzzRlshSYt2CtZv1qOy5dnPUasyCTInd23SSOjUYWv1bAO1akcxukPZxxMUrAQtFSD7QxFgeoKMfcmTKRLVOwYJqiudYFavoG0wZwX1wmow6rk9mkRteJABv9G0zavZKyvR+c35kpEMRp3+e8zKirIZ7sKk4FsCcMYpPMkjZWcCa7ATVFEnDdhY5xFxmiBl3Hp5PXWgFhrJhjLIbeINsQOKn3HqRYK1mEuzoVxqVT9bZHVaCyiZ8WkM94EMkAXHFRa8FbYT2c8qJthlxs3wSpInvhrUcGY3djQwOZBd4IAT+pOnUQmBMQbtzk0jrY5v01qYNfQ0qE/5jR1hJ42IUUovTyVAQ4pOfu4RbLSYQlOoblnqeKZCxH7Ull/cNYlT+NvOLVdzpfZljVCXjwArtQCYYstkM0XM5aNS74MpnH6YQqQQ+npE5ngqRcIezGE3XaBzc4FzOojA9gs7+FS9wBTUaw2Yv00KqK00Ph+6CGsjlFa5CTRy2mfOdwmx1Ikl6DZVUgKxRgtHod+DEM19PMnLrHmhWD/2b3Ve0EbuqVl6p2qlh6Uo324Y8VM7WnI/BYbrFm+hGujoTGzsFe9/G1iQzGN2g9Ia+iOSWBp/0XTVISBBMXgcAlPZ3tSE5gONjZtablgoJDuSQs6A6AP8kYXHJLrgaC4vKGE9Otts+1jttbN0TYS1dLoLusGHj6pL6dyncY7v2Ju9W5fycAFEsnrxDrzpVlwZpQXw3srY6SYKVe9kUvi1JB2j1PeOlIrzvYjPRUkipfMiCt89KXYTdFZLPXDC4gpFI7HQuAhCu2qeCB6fhJbGGGeeT+OwrVwmgHiGOtPAAqJND6i3lrZ/dxrly6Vq5FdzpU5HaWc1ps7nl/NJDjQDcuE1DIojON+7OHYbjNiGJQTNswDVQn6RvU2aDdmmbiieHiiGVEMugZtbKVtNwC7Ar1FrIPV7x1msqN+6LIFUf0KFgXwt6u8x/pnqpH1VClsIAK6RAE9IgB6AFrKONzDXJTuFrM7AjWKGiguvqDYiF7e5oHdaerJHbcaqdA+iKmXOWTm34RcRR4YWVuEYyNelklFpriGgU3T1KiJxXKB+AO0pvAP2aTSFcBY+PeRmGAtptb7gLr8w6KN4BmK/V/rVWDRxQJT0C6wWjulpeDw3gytfqEasDvnujMVe7/sJ2NSzAuK/wjrT+m6g7RLH6E/OBEdnYMQxpl3K8muEngIDA7+rDgBWKsrm7e1rRrC6rW/+TwDbIriA4Q+9ZQgROT9zGCDnACsv+yUORZShlOVlwryxUBDs0jxdsYdaOIsOBFUAEJfIi7nMHQdC221qaw5deCTtt+3wuUavtZGd/Lg5bhII40ASzA7DA2XQprDod/7PGWkEzUaYUuIIu858fXUI6i3KBI19UAMfoAMcqG4PO/sQJpvvpe4IyVSplnLQuy7TUqxw8vfSDZhx/wR20EO2bYlsMmIkRYNJprlJwZcv3pu/0ZJJLGXvPAQSCaXKtHlaL36+7+VIEmp5iLoyLCkqSSQzsvdhv4xA6Tfvi8Dw86+X7D6j3GuxDnV/5a+gJ+lV661yLCa2nvbqJk8kC/7qA9NKoeDMXq7AtLkOsGRjlHZqYi9ZeFLc7JXU0kVaBDUsKvWfxAzGb+FqWfJ+qxYxug7xc3BhY5KddkGWlJ7jv7I9Io5zY6915we8bZFx1YAJXvJC3MZYno2zCrwroEPHrxQMo0AtBjAILaQnrF6Y8z74Uewqw079PLCDWDC1t+JrfEIWqUnzsIijlW807Xd6CiJ5GUj9ZzZMj6fPzpBAXpvsfEHU24roQi8U/lfV95KqWuEm5APBo2sbu2J4FVD9zdxnU0eItpDoIGSrb3WF3Xy9cCdZV2Iv84S4p/0pwsai/m+adkoYGA9UNfSK5Brnhz8X1YPiKS9IxNyezL9eJS54Y1nnOL+zUiHgq9izcMT+YbXwN0PI+ilkGTll58qTwzqyHAlmFJr3HMU87EVTs+m7eDYUWHTRWaYUKtZGArsSSi5NB7VVkP3ElWHLA4NK4ZE1QPR0PKjQ7ar6roiVuYOfvlXnmroT2xxksXaIUbkQjoAMLovVkowBtKZZZUhHw3sK51OZyT4MosV8syBR5mZozxNgMtq85svKvT3nvZSBP4vAD9fdEMgG6qXSP02qdKgbnaUu5h1ciijUWB46Y2plPFOtD5Zpi3jCbDJzXe67iLuo9BQi9JvpRrXst1IM3+wuNoI4Phmzabjn14gxz48fi/SBVJbcck5D7YFHtwPHFwYEnPUSTe2ZRIfo2Z8uHVm0wI47AYWHDDh9tgn+bficjYr7o2YY8KHepvvcKM74orDMLckdOltMgkzjxnT/FZookmBHhlNBXu2lZkPW9drT11CG2DajwGfs1ROw1q1pOvHh/4mw95zVDgl3dzvSt6lZ1y3N6dsZWDu1RYpToqkJuDKDwKNNHUeAWEqLcZT/PdFJut2l1jkDhJIC1HXSvFVAvIiJteG/8+OIkr386+DmznIip2/dlGVYa+oXzZGxfyrTCl6TDHNXzdWZj4dVhLSB3xZgjCIna1BwagMf35uIvzEGSr0y1oayQ9EpDc8SQd4cjX6Xy+6lEKEUmyga5oVScPiXThf4eXlzBBD+0sbs0yZHHo092rw2JQP3EpJcldCv+EGDRD4bmPEbNF0YP3Oc4xWRKqi0MxBvAD5TobnO8sdTzHBlK9MeW0AfHSJZkljvfx49DyTKY+nrSo7++694Wa0EtdGa+r3HZm1On9nrbI1Kekrhi+mmQw3ZImJaeNwq5MahDLfEKXNyvxPl/0N05/U0TnlZjtZT36roXceQKjDHuzbZVOUooke5N0q8xoJoQkExeiwYsvBczkoRHbm081iTMrjpV6tH9HaubvyoIhmQ6NuIlDuGwVASZaTKLixOYYZJWvb6qWn1tZf0ANXi7YKOywZRvqlgYoEcdcEM+oXTWCHx00Ra/AR1OcSQwcUjPY/xbUhtT2tK4L4tZqsh/7sP8mjl1ViUCdMNrO5CWJEZpSALo8fSYzzMaNJh/8ZPJI5CIbJ+aB+YgHtQcEp0pCZx0WLXX4PBnKLzS+omNp7MFMhC9ktWC1VxQSIlOatzj9Oj4vmtaEnspNKrzMmnuteHPuBwj/7gy+lQ9L6juMMfslt4EytIJSSWK57vWBKAAD/9GIbiHaoeS5As7MoUWnHwOL8Zo6WgjGqX41kfk1HHULuxvbKyB9gOpNhVSXoSFjkmRe96bdF06LP354oKlGM1+H8ZUJ7JLr6n/uRZZoW5z5B5OzrM+PnAcihpFYSA4OHIXkdISgmxA/KLsUCXSkvjvaRHnLU42vv62UTysa+2JKSCS156tn6pjad03+w+pzJIgZXpSVnLlcni5POXk1aFM753IafV+wdUr8etQwAfgK3y1oPPC4N6NcbW1UqBXPr7nxdPywYH23JWTb2xYJms1mCq7QuY/DaJDBbGX2+xsfT3420M/kteMe1Fnyw/kKLVnuujBTziKaz+LZfdrVSushAJfGh+zDNPEwrw+YSyZk1/DxUVMHCqG8eCsOamrb59MYINazsT09IHcxdtq0jQLLxZsGnYk6Si+NPV9qATeHqgdLAsUCzu8EYQpZSeZzyORHoZEpM+95Jw6ZkB7eJ/aqX68X895JP3oZniscbcnVlTTQpTQF6XuG6rz7K3I6s7jyuqBq+HCHCUP+cKh29VBC0M94JyswdkTFUFhUAoAxisk8pgLGFOY+WZVzkJOYnl6fqaCHyV5gPbBfN+TBASzc1ErM9EAHrhNpO6/6rAxW7VWoMhCRdzPjJZdayLFxP1rR6g6oQHHbFH8MT/EPEK69m3HT6ks9mzUI4WXVkB+oJU0uc3TX7FoIWp2eMkYnIqU0oJPZ5ZkiW1dm1vli5RwMBGoACp3JrTnrvVK8jxCN/miBbUala3FlxgREcJLxOS39+iZ2LEvflNitJtPk3vfBN4VDhBBcnR5NCFaACp3n16YI+5Q8iUMYNbX7zJc5BM9px7dX1qEjKIOWhFSbH7lB1Z9GDSG2W2MKnhgC9Hv5v8JRhzLZIpbXMyhOeV2VGWmjcfmp/GznEBhrd5injzQetcWoImEqFxKLIpBcuEV8Jp4I7oStxSKc5/cTZIVJkBVodnJqORtwVUAWdqWhzrUFD4OVTa1Fh4OapKtX534SwhOgNsHfwOb731iBRm3211vhJcsZGZMq9zSKNPubFo9aZzqt2wm5i27AjUgq7BpzdOd/gZriYia3EZgDmOQY4JFTi6YwMvzAK/0dJl+Vgjru06D8vg1/BIpvpZ+F/NVg2cHAKzhmmRAtrbqpvVHmqxCleWZ7fMPlk94k2rxQTgRc9s5Jt4wawj1Q4Fft4JJ5c4Gfpb6klpT1kl/un+KHRlOHBqBPSnAl0sW67sfgq/m2+3+dvHGTy7c8S8qjz2EhK96DEcQiLYy4P4oBJEZw4a7A1yR0YRnczOiH8Nxd5N0WZ7e4YHRnmJ3Lhdy9Jnvdces9rrWzKqE10DdIyTa6ZGccA5l0dAtG3ys7Y/8sHq/ZI9EprjO6NoGIYuktFrzhBrGhuPDSbuNs7WOSC1+5P3h4xKG3Q6VCqtPU8RwKP3bAVUu213XB7JZvnrcHwrJSpfKYKwHfxmOEm7FzetL08RzqfgASwuflMWdpw0TTWt+h5Eie+mIVdWy8oCCbvCSGt0pMd9aUcWUXJMirdBaxFrQbSwmb6aJL4Ke2Bv+O5EjLqhRHv1t4zdYPpMINYbVlhYK672AIMIgFINgNvQ5smPqZY5/8K2610ZeiO9qRGZhyZq6+QRBa8t5rYLA4Eh4CIybDIF51bVA0KBMGH8kPMM7YtlKM28qe7QAHijt/MXAATfiNdnWWDAZ+neT1XNlJgsYaGkM4vyOKBs9FWgHCYqLQv1pMxWNDfhvThVpkvgR/hbSOcbFmhJ79ZC3MbS0eP8vtpvcRkAsx+YEbck7bFq663B9e3I9wa1YdLXSWfHgh5b2h8PeRZS8d7nqGkHs7pNY7uRPT1GvGqki1RbNOWDfi9EKbnYJ12qwDJQ1rw38qDXJVNnZWsHndxmgWpnAdjkS4OuLQ1tTeeL730RnPvCmgSEmTxbomNxG8CbslEj0oTZ5PqADPDVXUZB1HY9giUP4D7RgAbOuJI9Gk1shMW27OBRkbmQEUIlECg/kOLOKNPAZ94OUYZBlf+FK4bkmTWjJjYZX3YI8dswwOXDHk2zCUVlUl0d9YP9l1ybSnWb2efRqh7/7CLZn72WSGTNQPaBXhhkwtgAZrfUNn2tN9OlpH5/L0YHX5Q//eJit5fJZpFXKixS3maX7HruBnUZSaxaW3KdQTedQCqYCsjNCjNvKrKYZpTw2MBp/zjZRJN1CKPLs3uy2UNGIeJ3X/JvSftzofnlTrXNc77fecZzzx1I8aZkLCKpeaIHxVK99lgBtskz5B81w41kfSMbljC84UCDjDvK3W/KA9wLTBiw2caKQCiZ0JuCOB8skeZ6CE2OTB60dhSDJOaMbSnelD5Ax/rJf5i5LZhEE7/grTwsKykchRoe9dSITiFjxtNBCsPSTg3JTIGZVYI+KyWqxxdq3b9muRDRJTUK7HsbA6YqrUbCvPOZ8UymLqMTFoY/VZkN01eh4I8MS1sTeAhE8AW/ADgzSDypY8xKkGdmwDIgreRoHADwRYefX/mN/a+gCKnrMrXqjwy6p0hcq/8HA5rqIfp9IJo5v5JX0ACLlCpst6z7jcpzb6cpnhRoHiVUJgzsVf1vKu/2mgE4K0tbTKXdi8SGethJeYmkkMlGQNdNlxAQylAXoeNG0V29bIKZIfnnQlLZbv1UCJhRt+k4nQuhICfN5Di21CaLzb/n5u05Cg0AwMRXrbObrSDJqFng8JPdnDGMD3uOf3++iSfbivOzf9eXsCaXMl4CZwpZRsTNk52Zd7bcZYya8X1rH5GOsFENZbYIQ2YXDGWuHkC5TXkXBtI1VpKU5NlRkAb7FuW1YW+o5vswuitq8E7mgIYJF3ObW+kBQGwnbHDnkBgKhcEJ7ZnRNtC+k0sCAziwyKYo9qKgYl2ZKDy5WAqHWgSaO8cuqrYPHpIh2LXIBV7+DFGGkbA4a2jUa7FTe9w1d7e9r330o5xfKsK+1yTin+uizXUGOv6170NOdUkO8Bz9p2dIEBtE9NroEMfsYk/XB+TPi4tkcrhRqC1H/duZ+gKhCjsoplD62EwFXNB7/KXF1nmbBd9WX9PD/py5N33A6/Q84vL/e/GKruJq8dtz/2BXje5JJt5Bw0nmCbOJdDFAimv/qXWBfavMwzacU5yhjPfEz4Yu50sGHDCm5NPJ2ZIb0KZR+kK3CHN2tdq67Se5ehnGk+9ztQqCgQ6VPzGkp4VdX5EFkJs2It3EWx48XsSMkUm12d7uFCth8sKQakrIAWJkx/dbrqliYMeo+TVe20qeYwcbRdPUZ8ygfR6oHnhzRKBkkJUNbKkLEm7ZdE9Z1TeKzkY5iqJtXOWNM6FQlltM+rzhMeE6EcDgG6livqFnlQ8w7WAkEB/uCUjNKt44LHM9v7xmxIn8FW6PCewyaH7VfE0Pgj61d3TctXELlx0Is3va7Tpiy/InUfMPhkjHARA2gWokTGERQvo1TAE6DjZJbhmWOIwV19VR0q7jRR0/oiCX7Z2XRIqJQKqIMIJ26KpYTM3Vimv1IgBN/zPfXKZbpSjqDbpjMD93szWHRJcpnoRRMDh2yJiJtKGFYylmyyLAEainIhKcOUJs9y3S8LNSJRRy6XaLhGgRc8FC/0s3Cy+PA6b0QQNLfpVjvbt0EKNukMRCpoUwqmR2cd+f2/skCNt1GYlKf1m5Szx37624c6mKtIBZZFdkbh0bTiLqssl/d101z8ycCAlkeDLrPcxPDeZqDOtNTJlgpCa/XVC14nMvFNfGMEVxVvBfilmIb1e1xJceaNMqD8KesEi8mWeiHAC4/popVYK7A9ITghwRrxPOepc7WnGy7jLvVQT2wPdz6HnEWZgJ66tYKfBtRuxEM94RurNaNk+yNvowGmFrkdgREAq4ReWEYlAsW1AxiWS4GNsiKz062iBjNB685i/WbaYrEAxsoodppN1tKPQrXw1Pod9xmn4hHc4qzks8XikVfe78b70M6IVpes9baQclcrSJf2UaR+w9Ci/qrWtdPqQKpB5kwZjis+hSYafN20OK7JuKCiGokORFMzJ1ImDL6zM+hnrkJAzfzGg9MA27qBvWymBo/83SewbNwPVnTx2UytKQ6xvDjKVO/s36GY+gNxrEVP5Q7fnAtT9T1hXRZmmQ1u3PDXmMDJou0pdMvjEotdv3CjJNzXCA8jbAVQqF3RkSe0AXqkC3ycX2SPVdVd/m2r8FzrhxZ0ykDm+x1onpzixgqYz9zkxmnSnSkzI6WuaaUhcD1YnxV4/3keBcBVIQJiXVzYJOsXdX8yL5EF1kgDkRNIJwUZTh2jCSMoj67aYVMtqydzf170Ias/1K/aZidnBmBd1SqUfrSKBc6d/ECRIjeN4+ux+TpO3jcfRPxgha5xT36jvcIAcs1phds7YApo14vvDcMdLmDmmoHc7lwzGKawryVhzY4JyMna3+dwyXAt6jp+CgsOT6ivYRZArujKV2abrIEQkjkkO01iwEGZO/04pqKYUzH8cXhZvXmUCgNGygJR9aN0l5qmvWfL5q3kjz/IQV+qK9Q9OoNWlzxZ4Er1XRj78vXVK4NMjzZpVeWMkUrOTcCGtk6rTO9ZhEUNJYAmPr73BE+zVd5XpL8HK0+P5ygsYT5IORNj+4iyIfVOG7AGGWTEt8vNckR2xchYjWvLlN0+09VVm9fX8R3EWgdDMFbIdCyoiiszdqLRPSIAuDvsL2pVACsWpqyB6A/gUE2M+w1t+EWbM3CS2xcSDo7C0LOkPvpKvyAXn1fCID1rokPn7Q90GUPe6j9iRPsJVJFJ6DxPKBKanbqXS8OIFs1ZdMSr6J3psxic8vc37egKG7yZtcTLscv86Qe9Zfs8Cs0DMmiQe42CY2Zm98trB3XUk4FWIh9XqfAtRnpPcuIFI32EG4q0w4gIXv/usNe9tiTjqTgCgx9hE1jDiIwTVLaOdExfBeSerWu0NiaMj29GHwNjf69ol9X9RY7dyCRn7kDaF5fJ2eSVh7XoUvwcOgNe6vcdpciTMxzakz3UkKvFXjAsLEd/HZoqrqX8SrLharQQlWd5YBnoC9bMn9AOXE6boKtiQKQQi6bIF2llMkGg6W/9ZoVCmyJ+wCvy27OwjOZzJ71gKSl+iyX/FIWKsjkW0h3TtaBXelQICH5BI6+p/ijmoxJf8jVD/hu9tJGa/hyPMFxy64Bm+Cl28lKWbAJk/M0J6kPGMj29LNFJ/GKR4NzRsNVp/BRAK1o8q8JiOJhpsxR6RNQ/KjrUGkr6fR96htjsSmXutehIWxBUzyvIjSr9pCFapB4c1uaK0VcmHoAnNG1FpZogcVuxG6hXd0Lq4wfmW3v0bWY7eBEVZY1WFKrdkExjeRfJ5Gv82zaxmbMI+sAe9mY0oxeM2WpBTpFcdb+qnNZtRgjA0sR6TcLSLfdBczLLrS5ACpb/dIL7sdnntjJCfEpB7d/9yVspaNqREBNrq/4sR+QUC3R4adNQO5x1zEcfXB6Jdv/ANZHsD+fuwwVRKWbqBe+iCYfrbsnhYiFUHTfYrhaNya5DmjPWnuJ5/qIjm+SxC7dN+LG+agHdskPncWztMWfx9DUuJMdn63efDq4p4t8w9umT+Nj2jFtf9tvCa4LTM3eDUpJLxsPst2kQhoHwetqXzdd44wEcAx4w3CSy2rKptxOI7D2M3wlmX9Cgy/7crVFcU31br2bCJQukpd9HuriOIiomu/sh7zMBdOIUDenm/P/bUZt8Kvr4gSGwQYeCZJfbxfuM99uTw3/xW92jjw49AyK+klW6B8fzM4kmXEjILmj3OCtizCuoByt1LP2XR3rEC2WYFxFMIWG2O/+JIeMC84dehuJIDzXzV+UmRVD8qdUTb80YD0moKrt5BCZu5GpFUOCBP4HAuRDVAO4lUl/tlF77m3ayWfPvkfXpmO3+o4GrxM4CHYG7jeZ/uvAV4oQ5jeTz4gz40vW7BRRMqF8+XtiBsA8ihx1YFVZ/Clz5Xl+hir0pF+oCU6M0WxBbm6zkzNjBhIlBUU6Pq5I9LsXeO23WzUbpNlaHTauhwdiEfRwnI/AJci/CZ4YCVxPeX6kkaA+agbkHsEnVmxUR0RXXwr//TajbtZvy8rA0v13WibLff4Xt59FYHgllLbuodPZ/uKONW3tYg8Dslub9XxvkJxAIHaIIJuwpwPHHluQkQY5JW0UdvLULfcMbcMGYPFlKgTW/Mt1X7kKx71uc/Hkzerg7BYix7cYYjy6bogKyOhOW4PTb4xvpLxhlEV4n98zBSEj77qtDH0dlIK6PaLy2MtCkf6z8OXtzwWzRxcucftO8vW6czBtP8Tte1lfmmB3UaOBV/jShSwWG821cJtnQ0ihlSSCoKP3ZI3aSJLNkzxa3hZtp7ZdlYF0d68UGCVINlrOgqOr+prNnpOS7KjfAFs1M3t9sfFBS+DSQUHulNPy9alpgBHOq8/HkXnaupxW3EnY9+NmjT+TfYAW4dOlttaYCU6CYzGLfkHJTsgt/gvnGjPQ1qyPl99CYz12qlEHwsJXxE5GwJowQNe7YDoP8mDsgFvTz95Xvd2t8tYWQO7pyKOhmQAzq8yHj2rFObl2pmSh+dJe84eePfJWT8F9+anq6GskhmHF1gVys1Y7RtyJc3rI0v4bXYvLqS/JOHztokcXSC3858ZB6MMPTirgy+TiqQnuaYWukWVh0XjJHGCrRitDv5oTLYpjWqL48vFHnwJT+1Tks5ZFfqhO1LHNCsB3hhAMwoPQKFxE2090LN7nmLGFjOEVzJFeCqa3JD2klVNlA1vy1n7MtIB406WQWqKfNdYvZqGx/KvTLMbNPi9F3g3JZ1+FixQCzbsJTvxuD62rPfS/HqOga0Z8PMzSrreojC72ARpRyfonja5Hpy81LQRjP0ZQE2uJaWySYTOx8dp4MQDdVDKAnxMOHqVF6deN6jxR3ivJyUrmMDsITFq4o/QCFY9fs5Sb9efFtLQ5iv1DR7RddduNRqdJdASJIOsooxA2TvlNwGaVlKE1acRGeyLRx8Tlz3CrO+SwXXObct4i1o+prloY3wlBDurOjoaUFwnk3fBCcgTjU+flGcRZWbkGv4KXFsMu/5f6ol9qh11Exl0Zv/gSjj+pxWBVao5JN9jjeM8PM67DCFXOO+AdhzAcnzgXBgwnrzyG+tnWW+7kpxzsYQZ9Agfk8r4oxsl3jYf2IQnx106Cfwl70WLoTL9rC6pRFqIbFM1calN9k9rsWH09+L4fmpX0szTncoCZs4Dc/0Ou912umsLBwkUEDr/08kZlT5rJ4HhHtvQx7RmjzfbluWwTwRgcv71JMwZbVXLE5e7uo/MjAt+wE1dNuajToAMdXLwAUzFUsCvm6+SGP6DjENiaEOfzrkIZZKNSqebweMdijbr5QOb28CFH7gDL+XAsO6rf0QdMdi0nfY0FnaBs7cMT+rp5oLMUTjK6jWzB1DsiOarl0a39HHv4Ny7EwhjpqlEKTw4WbVinWM2dFvJ/YJrp4+u7sqefjPmBOx8csP+oPx4EO3qCu4eplzgGYLHB0w4454PQCJFSlHfrELLSdB+NN0zgMBHpKjPcGplY6x56ZZlwEWmMBIDNes9IfbDsFRkzHE0UitlS4Pnbjcyvo3lMGKuM3KhDbBUNOgoU6nLCV99pjZ9GwPJfLNc9C8wDSlaGj/GvSekzy0L1SVX7qPPIUOIxlaZH95LhxHIgKSgmyJ1lilEVqkUHjCO20YAAXvuhmBVzabuWRwMGDDsmd5lMD/GV4UNMqEkkH9SiAEKinE10C/aGYqNNGDhpdchBr0QMFciGcv3Ey8K9ibc0EYoVerTPgjOOE4ciEgW7vgwm3C/cXABKvLHqt+6xfG1wPvzzBH7e9ICeVBKkqcp3JLUDF08a7nD4bW3T9z0n8gT2p0BiTRF2LxbMVLxUuYxb5ZQD9/4khxAKhZVlCge7GirO1wW41+qzDHQEAgAVvfFJB/9BbWwtZBtyFOsgIN5sS9rZ5XGqDK/0E4fEDac5wHYOtzavzrYTp+fvczDYLz377/OZ9nQoEKrvmcUt3tYiiq7nk47FMgzgNErrQdDfhbn+tPEK3vy9/L50KjSizI2+qLktQ6htmePa45NW0u/biSO6pV7NDDvoF8EKgDyM9+qB1GqvM7eojN8l6rD6SyTpVL44fVoCFaRBEisTjJIxsdHiow3k1cxc5w7bORAVwbCmEbem2OlLRUzVgIy0qFZN8ZZZU6CqEdv0TV4e8rFm1/aVNhTKxdFCv6jlxSTf7TMKzPCUHVvUBKjxJOvqgS36hTK8cEqgq4noXi303Ec2PADROL+v9qB6Xn+2qXPbgSZAZvA46WrVWczpN+VEeoou2DunsmDLYjWktcA6DefzbIDA9Zcq2LdxqAX6BoapejYrmzZtuFDO6QpjDs2Yt6nqY+Qqs+UAlJ5Q3S7CLvsB/v9p2YNrQQa+eprj8lhKAq8qtW1FFrAXL5xoC12tuXTqVeosOn11CyQVQb1Nnm/T2XUJYdR0L555qBppTqImkTAj/qX4yhEFufOhWysL+OGXUJUpBFwBS3yyg0JeIb17BgEaycnvk3dbBMqZGpbitM8k8+SvlJ4fRXrbyAEyn2TJXzEHd1G8k4uEJxewn6xNEQURRgWlHbQ2PsR3PDgS4JPts8YF6LVqxzeFAIL4hWCXLsFWWyDAhM/o1+JFRpM5Zyfj4PXpTN/Oqp4ysbtpMaAtd/XM9yk1fPY31ZS4WVWNx5X0B/glk9UcDsKfx3SKyfw3Pad/Eov7pXqo+MmXqCgIwShY/bGUQvR+UsXBEmjVakWoGNps5A/fmbvloPKml8B9xYzo32aaNR6EBlAsqNLMyHKX4bZhzABs3L3aHLjhy/NywcUXhN7pKVHDETAqGMe5f2ZdLRS/sQ0eZNAID08H4Vc4VruxM9ZiWYRcdeH6nGcdyOr+1TnwREqDGql4viD0I46wi/TzpxRfT2bkMeGrkRRMEE+PBadndpilHT/efBuesztTgh+1ftsjYGRgVBcV5u/cQCY0vboqnepO4UgNfeDaWPqQDZ6NRwxGAAi9gTYimpM3CQBQ+FhFEb4tPhzqK0YqMzaQDQ9O6MgOw5sz3CadvVtuN4NzxVQ+tsFXoyC83+Kg+VruuhoiUjNz0XRDvHMYzMkmdit4kXgmu3D4S+hOLCuRd/D8VGEGIBOKoiv9CXyr+3M9yc/TnOqRnXgq29ZI83ir97GrJwRfCFVIZFbp+G2Pj8deXnYx2tqApe+Fupc6X5aW7kQpImE91cMCVxJY94nSEI2k4QAgS2i8yCSGBeE6K85Lf0C2sq4DUhtke2oW+v1noEJkti+rx4EqjPmLdJfTEiov7MhmeSmdb0UZTEVmumJiU6nhicxVLNv8wsHo891xP6GMCWqKtLSE1EXOprn8opGIiVVDTDFOCBiKfcx0q45o22TDsOzpaxnqD3H5N1kuDKzSrgfFTW/5KNni3SYE3BxBFjwyUuQuhWfJj0YsOtcNVtloAsvfKDs6tnX4+/4PRjrM2CRkvHC9V54rp3d8y/FGi/0mlrH8K8xI2R+f+yn+z0VwqvNAOrkoYTnU52agshcymqUt/cBOjh0XutG8C1nmamZj3SzsNKsc6pOwUWaFYqvp6/guK8QrUfvYoTcFYpOunhonV0PEdP8XQkaMaMFLuvKazQx0MQcOijDo/DQ3vfe813Z/O9UV9Usqk1Niq+WaTpN1u68JWVJXNeQsMaZ3qoPfH2AagcQHDUvOBv59DJjRXqpVYsb3f3nS5AoVMhinCVvKXF/8jSJwEPocVs9LUIYU+T4sc9ZJMFSe1JOMQbnI5aOCxZjeUTWaENEg7jdDYF0UzQizSMLLqssKjeThT3enbBBWjaKT8Lj0eLhVyDZByAfii3ReUG7R9f04OR1BZVHb383yCwqSVeDzr64ar/tMLbMeRUD2VC18AAwtrm31mLkzlqT2yzi/cXZazWQRcz9LhQcDmLPyF284vK5lIXRWiNbDcrHWktlmtJQDeJ3SJrI4OQwZgYkPFz9uwGBy8trR1+i+MDdmIVzRWtpTEnu++NIOElMf9pU0hWocqsVzLmWtjo1YNe0fQaInNi1RT20u6IFY9I90RPNg/ifsb4LUCTOy98K9HktwOdVMKkMaXpx/eX3sQ6wcSN5Jmk5Et51CoZrvhpC1Q+TvE8OT5KUVrZkm2jh7YM7+Y8MtHz23P8lzkJttDrkuvSmEJOKiYS0jlAuVDr7roRSOZLilGJDPz4cB6Qwy1hepPpdSsZONxdUeSenFbJnOYM+bpH69jI3cCNzmPObxtvck6CMw8dWy2aVm323v9rbNAOemu1slqeUTCSeAxsvkMHWxwbOZitcl2QHdhxMqWWy7fuAlkJvg+booy+D03q5N64wCdLp26I5tXSG2oFqynqYxMGoRYw76fD9koFGCBW6qDLnXSB15FG2K3q8ihZRj/4EUuPq2QlagaXIQ6nnTzI/ZU5AgsuZX5udfU8Ni57zt9BDkGx/eUb2SqiwN/BLh3lPxMAyvwjjS4IlT76AIGcf/hoZd34DBg/SBGdqRoV0pCis+ACs04YuvLZff18JmgNIflGa/yaMMnTYtMl//ViJGnyHOH3iITK9DGu1VDqcyPmOdRydD8QupnrtgvuYlcz3z3fNnmLpmGkU4AU0VrnKxrQsyuLQXOMYp9wYqG6gw76KYPBskBvXLnK27WvVIgDDhS88r0SGdv87LVHc+H9WrabnV2EYX6R21qv+Q3I0uvYEyXHg5kIZp5azCuTPctbEyK0XEa0VUjZ3hY58xEYfu9DhKCowH+cVrBp4kvj2bvSKcVQLNqk/YCtqWMWFoqKQ2ziosuVSDAaixMTNq2SqIqqwpORpaEZoflzlkoh1IQmVZAkgowWLKw9zZnrzHkMgDn0sMrzQVwnJ/OxMYM4LLygzkCCzqSRwZ1U8TPzQB77GUWDoILh7umXze/UL8dqLSznSdp1pYzzoowxfme7MicOMWCOWPDdLTEHtp9yD3gyRYvJGgtllxLxpkONjDQR7ayhX7ow/2gfEynf3zjzl1gwvs079r/OGQ7ADMI2NcQr21kQQo1kNXtSxzGHz49ZbS2Kzcn8Hs8f3LfCvPUpaAEd1tv7WhhbV5DtwVvENEVXZa1OG6lOrE4GKCDwq9i6/3uD9kJV/+BCMX95+mHbJd0GGzv/vS3U+YkgaJRnC8NJp1+jEoeRQyGeUuhcHZp9LE9/tx3JyJ9dAzYnzKvYH1zR5MxxuY/yargOvDq7rCZo5OLR03quCqKuNkiMYJspOugAvbGQ+ahcNgoJzTisFFBKjm+EtKqzSU5H+iKwUa4qaPEs9HaZrnqAGrHXUoOK+PMYtkUwxX9SLU23iCPUKAEpDSTRMsuw9ka8bkDsDuyBNVh9Yz0Bgglfx/WwqDJSIEkIqu5/TiQTfswYHwFs3afwNFeE0bNmikEylaCarItRWSIAEGKje6ma6SgPok7nlJwv1vu0xOYYBAxUUm1P95Mh/5aM6ytFPYlmJC6zK1j3mHN+Kobu1MsU3zDyvSyltCAZVBKfWvJyPEBaM0FoLc3de87PgHA6iPqs5Tixby7kHVYSKacze4p5AtOlrdG8NmRK2dGTThtA5yVefOPaSWareRoGbYDld2T8UTnI6jvEpONcOEHlCrZq3WpdP+piBxFx3rTTtTIdMuqbrPN4lg9N/1ATlhIplE/gFUpDmnESQd0jULcZjEERpB3puC6SMJA3LPu0bsUT0vlUkv/inO/qa9AmR60RszvbTALB5WuQJUMix3eL6ENwg/RHIFTi1t8SFS0xDUUgLKOqy/10t+vliaSPzvnVdwDlkP3RlF8hj+mM8zmgZMe3zYE4tra07Z2Sz1RA5eTC22ShobKKfJ9ZTIkqqxGYSNXg7lXvKqKiptlCK4+ldJuWiv+yQeUlrdQYy2zJQq/mfoqCgH32aXvsDDmkLYGE21oVxYlZyFfSc7bkQ8FVpYfLAQbH9LaEtkt98aFrBOWYs8m+zEZ7VbC8je8bMhExAlrAZHHW4Nt64rSx/hF393QIa0m78+auEEsU721vce5A9RbedxMD+EJE2jaSaNxQS5rgTaFruz/nWpOcVcgulfJCfRO4cst5/UzCcKh4N+c+EDDJSJzvuKVOVasArQFl9ONb+IV69DNzEzVANfXkuVoNSEDNAdoXSwDtRS4wKj/DfuWTIr8hCO4QshXYC0Q2Ma6R17174nb/3pKvgpuA8eU8zRTBJyNo2nwHwVbELo7Lwbi4JVdRedVofmgv1QEU1mgE1955qlTvxjRRK8fjtyrD/IMtyLi4+ZbjEAOiFtUb34qUGGZL1/XBv4zUxwo98aj1uCDEQOHaOu3Vbd/p9wPbZIlzcejuNq3OBPBcFw0W64VhZeAQLCnzn5YURTUMmCj5JrbBdY23QVq3WvUro/xUOM8J81CHrzbTQUxdltg3UX2PA0wSTF87ZpB2z6B3I9HhHD2FfZ8oy5/dGX7EZhkPbSiFSKZ7ISEsXz6dBtgKJbrahnKWGL62lNUihvy+07YWTqXIctFYpOijcXG45hvsEb16HtYd4CJOFus/wDUOPMyRqXjpxbPLOSEbpvKA1vNt1ARGoGzKITp4GBipeM68SyVgoVubpLIeZ4A6pv6OgDkGkMqJt5LqEcFGxPH43cItppEgO5j1RH6mXQafUAZEmouW+YAA66iXiM+FmVSv/8vROETIemdEoj0GY8F8eBLaPF5xnSwlXrShxyakHCRPKkm03iOEakzg34Q5p3tpAR22OfQUqa+NU2iAMuI3QhhYCZ5By//RpzDGbI/p1DoY16rN+RqevkkPWS3xPuP3B2Xiuj7aPCS0UAPLzdM4CKqmOBxE/LHuKWuxhUl6h5ZYyui5CyHhGJAjLRmNiHdsIdhwugRYxwXzVFemd1c/fdqc+dtWOZSgHnG4ybC61W3kXXbjsScUGGNFsYxUh48oha3xuLItZfYuwTyXMoX7Pa3TFaDC3sDpATUGBdMGxxaBFo1wIVIV+l++Dycc9vNEYw57ClvPJR6qQ2b0e09PVpAo6Uex5GgUDqqHwrGpQ8shgNGluiZ89F9sSbMwOIR6b4nS8NBmlQpPaaIc7vx+59iOHxK+qOvcT0p+g59agByaL4Z2149Lgt2yTMBEGB2psa4YkeuP/OmzQJLSSKefRDIGhq6QUrXu/AiTgCSk7M+x9woO6c37Fo4O4EPUTVbd1xKswncQoMSJQ80HLBwytKDtAZheO46zAXtJ/mwpKn3fFyTONmTGcG9duIR6eAPKNS7PeU+N17hRsnuDZmuQ1NKpLuQ+eAvoBTJk1vZojyRzgW4WEaVgSN55VIGLGE6hyTm1TUN+rjSJu/xvqDrsXmEZur2t0BYIbVa9+rJ8GisBgyKxHvNdrRm1/gBiSvd/ULYRHnYu/cpW5tbd4OhQUEwrPiTNVtImQcoD8xkEOhRKmn0LrYZa6K2Kzh8djDUdEvZS3swmQfVLDtYB2UnX+gFzGMfCrXn57piQqG8mThcBCIcgcL+jlrNUpoVFuuM3WRfG5mzyUdMcQbSztB4UnrXX7qFprDvTuJRegWQ7ZaerrXokP3/E1v7RUrkDw9e4lhAdHQ/QwuaJM9k72ar7SZNNb0I7qs+Z89WIfSK1fvei42L0WGvJERZyK+vrIrZC4jZ4PwjLJhd6w5CPXUkOV+O0dGQFwVA+KHjb+oohiGgSy1lifNfnHeHuavJCZvWm5OkQ1aqeb5V0Y/oXZ9E0cGQOQ1wZzrfdOER5BmNP7U3wWziL+KnK9fJqaj72cvdLomuGUhKiR7gzra18fTlUCCIltY6dENlAn7L/oPKARIfEZFArH018GukSeyDYgD1dMaDzgRAQc9ZM2l3wwW3a8oMTcCsHKy4IgiiR+tFs2cOMVux24nAEY0YLmNQ0MVxSwnpRKdvjwAnLkw7XSuLnDGODnEGSjejblpcc7hgpYUHiEqMw4gYm9CpbJPpcBwX+q6RXojEDdmOZ2CQZoZK9DqUi8h5DERsBOS79vtgkWOWYvyLe8YFbl8I2Ynw/YV3v1a7kJkAiToFdk0rgCzK2zJLftdVOkFk1CrAlmLlaGpKuRJbpJ7Sm0hz4nyZuxnqHcJlaQBTQN/K8JCnyVLaVKcfT71uJxAqID2bGPLUsnI48tXp2XfvpE5Ekbv1CIxE8sMI17xup/fA8eUwlJEi4dQeGa0T/CmID4JNvCyiUzCmyqj+Br2j8hnuxJ0OC25hDDYG8A1mnRXZQfuIoHRAFrvMvgWULyyiOb+EqcsZl1MbUEYuLmHEBC57f8aMndEaO+a9BY4XCoOCaJSvzoc6LXJU/Dj5ftjQj9m90LU/mrlHSjr4jMoppcGXyKES/t1HyZzk0rv3tJzthlZ59Vn5lfyIst6WttsT5MTvUwCsryDxqCkme0gzg4xlApCZ2dE8akMp+93uY17yGLs4rg6lFAQgwDzLc31rgeC+Hs8FRwz4IwrnP+a0QN5BRoHtkzqSTUYc4Fa6kpH0Bnw4mq9H/nPKVZQREyaXRBoksD/MLAXODFIs1w7dXw7vCT5uSCd3//P56F6aZQPK0gRMfUcqIiNy3cIpYyldnsDsFZ0aGXgttJ3dorR/COZlaBf2RMSTAisdbcvfG/Ax1ejyzK5khBrqLQw3bNPUITIcEXJ73HrptrFzq+zALOfduLUTDADqN7R435DL4N/DN5CsIa2czQl54tZg3hvECcyp3tuqWrKYL1nwQw9A7NX8DwbqJvodjGifaMU9aOOlFat20XnR0WORcFdZAfCxmcpUaNaHBqKmX2IxCLCd/g3AqvhhSiNEJpAA/oS/RC3kd1zeI07ZaHa6n9XEYas7dgyiPAW29p5g/9RIVnGAWr2DTuWXXC2XP111N69NWBsZeafpM27wnONJpu9G6QP0yoTrSKY1RqTAyBduZQTaJm60jZ/UK9y6mZThGK8LXDr8cki9emtVIM2IYrfvXx21JSLh6eRXzt1cQdv0aYVbQPMCWBiNrVyX81Hiw3um1AYKpNUMN4J2VjwhBrXUu8fBjluwtQCNfwj7m6AX68ayMTAW73BshjMoMIjy/s2T6fA0LMs80boOwliukcYjz0o+ljzHYn0IAQJEUQHIHEKP7sfPll7Dh/RXXzB039MVGDzMOtjRETQmlu1icDgFHyu5enwSFwGCJaQ1dtZN0B5QplIp2HAp10585qf0pnj5wlDvziCn954CiDkY8y4FP/9zam9jiAkdYsCkkSNEfehFi1TLRO6RN5ZJ8AcSa1RqHT0uF/ddpAX3KofrCFGXTTwJXAjSKDLe3cPKdGyR0wWelwqBh1uC+F7YxCzJLYuMgiWEH7udctnBtLHr16tfbjucXeKRb0+7e08kmLCCN8QYfXZn2HDpXaxg3DOvXLVppN8wN6K01K4eIHdCLww649sUOAUK+ivXkm1pfSjNusPhPr66srnRGhVTnCHm4XgVHeDLwIBIjIwAUGV3/rS01rGPLq21hq+KI1BL6Ze71JY+vbcHcFlftBG6e+tjbbexImGHUejjcnDLimTTGPc32Drm8VlCgur79Vz9exeV0aU2AFiuthVbWNc+pPQ1/9+NgBTOAn/8YK12gndt/kVxh26gk9OccET6B4S1DhuyUJIlhMjVwiLReMmQ1Bwn8/kWPdl2N23AZZdLNlH6Tu5kERCA5l3K4l30vsGcE763TzbEs7Rp6PNE6B8Hs9WvMJrdhS4LVZvgX771fdr32oI+ZdWfyd2rcmysK2a83EUClOKie5+su9wxyREaACtrnhJbGNdxJH7HIhsxODpWciFKJjYhdV72Fy6TwTMfwGsXjoy771nv1xXBrgh/RSR8scpuB3X/62S3cA79Jk6jJwNcATTOg/VZSAOv30XK9fBGaIr/oKQfqKeGbgbao9kJc0eoHZhqqI3GT/VIYG6jIMfrI47mVG1nXG52U0s039DWt8q4VO2gUfqFe0vj4xkGGB40IS7UJjIfNH6m3zvS/TKGgu7CfquoRPCk+8Ttve/Ck9iANsMJk5jFiPk7/sQb0tVS+EzM3djCHYIGELrJvbhOnZSQg77ERncq5KvqMQsk2z/xZ41TJbLAzQkg4OpS2XOEgADFnmRAlpN9nmgizMIyUGZte3f5YuGCvjtExqkkRF5QHMnoqwnlK01OQnnMnbhaFloPKBgY1hRH6ipG/0XKNC1JKbVIOnrHwWJ1tUl5dJZOH9drfsKrGq34twFTAmEy01NgpZO8YwyLm8xCvrYG0i7105ccpto56C7I8ps9UX7xD/e5Qu9377IqZI1XCQy+B5O2qWw/1meexzW6A2DxE7DyPhGX8qtqzB2dJhAVztk3xUJeGgkJocNUvp7Gjo8D3BN+Oj9yIlNUF1AcFtpeYs+BvuOmSUd2LOy+dE0V25Ngd2ztEPiurFxAD+vZJ5xcyMWNoYP/l4ju6NWs1N64QY6Zmt8hi5sF5UqsPKWW/98iI1lxr1XxEZ5bViFlwc348nitW4Yj8dYjhUX5zX19ywTroPBJyIrGBxo9Q4+gXN5hGAksIsMTrTqfJiHhn6QK/lhgkmqOfZOVl2CH4lG1vM+jS4My47T96UWV6DzLBQCmjXMe7WdFCXlo9uWb0dTf9nPo5wpGuUqsx8iEN7hA+w3V1OlEcrHKCaxgFWu4+uv+v9dI8owVV1Dut7Vvj3wnVqSWj7j1WsQzXke26zgvaTZe8BjCVaxxbsw9ctYx3fBPRN2qpgWcN+DmE1LkvIEAIGb+TUB1oYbnGula0Bm0CVfPn/clROLt7fitzJqDCRPCongOV4NpzdBCvfLDcJioMaYUH37d5xXa4dC1UPbxjgwdcFp3YF1qkn1Py/HIHw+g+seaVc82lwgz9zUjQj2le7Y2GcLejfFEENm74VEBCum5/mBtaEhONCoSfVbIkYHWJbWVjnvgTSS7tJsJHGqxSfzmRvOKESwGe+Uqn57m14NXHBum9eXClgy2PSrQwVB63lYDKuWH73J/aa6Zgd6FA9KVCKsCo0sA6NL169YFjzjXCs+dG64291UGnc0am18mLuSzCjpdrsQ0IChEUalipXHbqMsRzxVR1VQJ9E7LwEvSRmFWD4tZntfDD/VxwFEu/rHuR1UFWJf+grnMaBuqUn7mGg7CwSK5k6MBCiD+SSvctEpdF33C4A1lUIc3o3C7nhOST5iuObk0TFJxwmY9GrHATysTXeBg+ZoT5MjjST02GpU8kRzttl1+9k4c50e/+ikei9Iu806ofQ4AmlEyHfLExcl4Qal8mI1P+XHZtmvYSE7UL9sIu+R7q51RBHDhFzpoW4oI88z4xociCakdjKACPaUjG7fbgOEsSs5lekoQRpBhu44vJkpYEN+lNt2/7c4ueiw8itpfNSjBdRbICtNB3QrqsCWPyeK8YE4ixfqeyJf70NX/izr8bmrbiMT9JH+g9SrK39QyF8kNAwz8ZfEhfXKHJ/tP4EkcQCeoE03rR0aWGoTdJ/qZKy6S2Sbhg36hsdi34XsYb1Pbt4g5dEoTo9rrWqU233P+GNla7df6k6HS9oEgwANa1r9811H1GqB5UAPV75peuj9w3VduitkzFFGtLNtETV2oxPPOhcQtTzZivUR/wGdJ2sAm4+TvxazJ57Q91RrLwlv6rNl14p9Bo2ogv8C0Ny5y2EwdnrOES8G8OtLWnH9qZ47sBle9ZuzJAiaZGoGwlPwdOP9GmM6wxXok7HaSg5rv9K/WLDA1MMj/WkFWK0eYS/dH1JINpnmFa0EDi2gbgyuTJ7hPpl5601FL+WtkfknfI6B6sg1Dyo8KmzrmBp+lJpWqcYstY9PL1W5egGGxZ1lTz0HKHt6dcmRjN14AJ6m+h1zjG8p25wuIjBKC38p+9aucv6kACoX8YT5eZHCohJ53CHeU+796Qh3ayCP3wk6GkxNODTn8p7L4IJNWkw9x3Gslmjn0cZqDOTm6dwJkjVOsHJszJfqiHhNSwer+br7I51w/FIBoDWkouLq47Ggs02uFymCdfOetuvf72TyfcfZ3vV5k3sr3xaYpoihCmM3JPg4R7b9S6Rrx3YdliFveHlGk44Q2xklbcHTx7x8ER7NEIXmKAr3Fnj84ZyIaC37wv62cqvpPinjMaB/rzmLjmQohMUvhycPKk7b0BZrsbHCEYsrqG0VWg1La2rNb5TSKFTIuUI7uQA2uIL0eohcjmNm5VXuuUCUhlKH7Zvl7W87gazRcTro1QCuuj7Dpe5sJqT+xCARsOMsIuIc55MmB4ZZeSYp0plb4IKRDaRxHLcXEA753R1ICgRN3ByNkGDqIWp32/7SzFGCMiJ2lnAmpfNP7g3ft66bhN1tuDDiV8gyCSPPdNU3qyQIG1taWko+n9hozFGSUAslBzhmF6OBsF6CmF4oslWenjAgK3Sw/dNCG3YoU/8hiwKd8otFmIrQtb8PgxEdanuU3R1fS53ni2b/rwBPIba+mB1i5maBU3KgGGjuZ9fijSnxHmT+csjLTnfL1BtpozT16nv7teoLe1aHZVY81nPAV8c8I9YLKy3ZYgiOiHnefnmmnnsuhdY0KspbJebuG7TyO2Ss2TBXqEabiEUQyM1go46pk7qc1HdRo50rwdj6nLwJS8YdUWFfBK+86A913MiZid++h9Bq/3anu/GWT2roQZyh3xrI0ccrLa90JJJDZhwRBTr+Tbupe0NTE8DSrXM6QbF8opQ4LBy67CbxVsAdIRtsZKnnI7ETXMw4J9m56YgeexA+7eTWwjfh//Ks3nTuz22lnR8nR7rRqV5gOZRIkHRRmwhYoiWc07iXkEp/YUmaQ2Nsu+/s7OZNw0MMXXAWo2pre1gCfqRE31IIQPGczslWB0yq/ZNX0opjSIC35B+aGIG6dDwXxS0ns0KpD8qNvEEN70Fo3c/XdKfanbbY1DbH2A/xcC6W+TAMd6B9+UFY/TsbM6j/CdOUs8KxlZN4CoX/l2qctl5z4VZVRt14hL4b2yFHEfYNN+/OIg9G8ifugTNa9WNuoT8RyUPgau1lSHl/QWVwi3wxrmhHwNJRH6aG4bmyNmQw79DTsqAI6JDMwXkgtm2DBLNO3wTXzzrkDTK0j7/8T9Jauu9/GEo2/hVj1i2rrycg5DAKE4wRofh/s6KUJAotRVIS+IVv6yi8TaAx44c4PFVvAXjqNien88K1oNgYTCoWxFW7QeHpQiLjLQ3eiCi56gpBGv/Gv+q6vjNhOumB8/8160dGb+0wWoNghKxf8gFGrK+lop6YMC+hfKf33sFWEU/ED/Dl2zsEavC8ED/tKcgyKs6voczpOMRRD1VYfkr+c2YPBcDYfMcnjc+CnqhYWabSpcVj63HQtA0RW1k9ylAi3Y+PKsuQpCM5v3zJWLqsj8Jlutd2A7a9UFfBPPazPC/RqWebpaadzTC6culfiKGLmBUkDBUtvkVsgQjd4WUrvGY9xnd+CP8MWRf/rik5l0UoXl3KvHWTeuFNoj0h7iYgsU+AFtFp1M4MjJwdbE61/zVO9DE4U0BHJWEtBDxKqgs804YyB8yz6gX4XsJw+FF5LfgEOncnqEy9toqS4zImnMoFuKajBFIU8hOgpL6ERIG5fRI5Tcwi7TxrFCJYP6aKIh0s4cV4dNDP8kD+Cdpt+sCUoyLTyeIjsPEz3+I1dSNkokxYDmrRyPYECxDBkeQM0HtgXOSCTBQOQNnDJLF5aYYMPjZCmJMrt3LT2MEpLyO6bxYXoNqEvWVPY9VSxa797kAta7gxBJcSluPQbi6uuXJM36tOqoPQzyTAT2Qa8ca/9fPl4bQf7cC9lEXIJ8CC7uKqkiwVhvEqcls+xk0NMARJ4+jrTBlSNnEPDVzQDGh9ff2bMpCQgdCeAgDitdrxcI2ZHm2eZ3las7dUrJ8h+wzjl0oRyENZ+gv7jAOU1osw/Mk8PBP4JRBIsqKK1kgzRktdt5VWrKN/DyCm+pXZA2PpNAjVqTTsAHACwDYxjSBO5tA+zvQeqD8EjC3ElVTzy08gW2YyZXABULwZT/jaaFt5kfJZ34n7py39ZG9demAek/Dlp0YTpU3phiE5iL0h4TorTRzsZQs3dKAkDJgzKsshjZsnFPzuD9aSmFhWxTCWhk3/4znWRVkh27RiDgy6bY+08UybnuGYujS3StibzOVVaPWP5ToWKWeRrJCpUv3zXBMdPW73URPtGYRMyOZRkimahdZBhnZ36QHFPMemFsrRQ1mw79SvZzVjijD+gEfzHB55bapnQ7TEXO6M2UajFK5+T+/QfW1KR3294+Bqldt9EEh6SPftHAzdwdMKAGnjtRGyoU2bQR+wd2b1975IEXHR/WJGjImZg46VWc+vER8sXkqaLVfCBZ7nA9cFGOrseVja71W+hHDP5JP4ld2Ga3o+bAnv5vukYz35gr9aI9KJJzTZtI0CxeixO8lY4+CWmJ3YwiDMd1HRp90+m0bZ3KfgHNEsk8wOBuVTfGSPQ0iSW1wCuIYhln7ElIGhoDsG6gdpJhdZVXH7eEg7DcZY22CEyYtLmps3w3Flsvy8IgRbOElah8YMOv60RsyUqD838zA0M0qaGztwjSHNm7LGUVjXC6LWSrLKyxoWofmmtNbfcMOw3fx9fqM87aRVCw1xSPUdaFglinpBn6vJhcZIkOXtV4cCYVD+A+AsVGJT9qR0hmJrgkiSsSjydQHx4vo27t1FOtm4hWDsSlc5/RmXnw7EFhhW20e10crriD1SPCC2G/VT/lu/qYEadG2spGfnOCGhf68WPOIABV0YvJsE7yt4dQq8Fc4ITbKkBeOGFEalTXj/IAJTEbplvZakAf2hkhxJph8IEZJTNlWehizoLOFEskKWwwYm9zbeUDBQUrmQIpSZ8sSUMHyHIvXJSTPFfyd9h4gUFwuwjTNELfjV6+OXXEbAntwYsm9+DlObkc9XNCdTkhzeOL3EuwJUj9YZAAwf4XAubkVTkYqbloFRnceA/k1wCAU4jWz8Ys2viyVBvgq1mFBdEH5EqmyOzJCi47fI042HseGVaehkGKDdMl/dd2xS28Bj/JL+OYFpDIWY6ztFEHEiE0lqNqa5tpu1W2gEoCd+U83msIcGcJHUf9Av8XDCeOirPT+b6I3rYQK0JEbpClFLnrQOlKR+SfV3+0KbJmiyJ0bamXUBc5UE8DRr6NwOC/tnwvnV1qfRMmZyEefMI1+tX3ao//C212BEW2xidsbmnFx59K4pfrqogqe8hhrHc1D8zYwwrb9v6IzcSg7AgOFXLFXONSYUaEld83/+xMw+zTADkVFj8QSi2hnl26hUADj+SWT96ZsaMaOxFGX3Iw0CbzHI7MhpzjAYasMB933UvbIs7dFFClw+OFidgZIIo5LhACtTXovrS+1qCPHv0f9u43yWSOJ5T++UwjWVCcQZuWxQfY4iL53HdkyLk5dInjOqlBs2PAgVLLYwKfPLyr/ZeLObLHXKdqPnNQPq3g4SAP9z1naoa/5r7JX/lQ1V/ztla8YBuZiwxGoqj0WyLaQTa44HYD7zYf8BmuTLx+iplHWUzD3J4c4XW+5eq1vSD0p+6WG3DH3+5Yl20dp5rsuuq/wsio7C3+U1JXoeaighHrsFw72s35EH/xDIXarX4svx8bxU56sO1Zlyut6i0e4nrChQmU9zBvmBUGeSUb5CJQ4jcvULmWmMhIYLYlwgRHfFRI3SbyJYKh88mQREhSEwKjAMyKEAAR8WflU1rwVj/gtXTNFsjHOqKHTtp3D0rnp9rz6jZeDXcBJtAes9wXxsDaTbMHt7JsSmoGqYa1d2GcdGHXQFOgTxT6vJ1QBXHpmg9L8N1psDEGsOW7i6HVssRrLHRBevK+n512ofB+WHdZ/f/hct1wFfdo5zu+xQ8k1XvDoxLrBNwXp2C8nxhBB5gIipyanAJp+NrTsGep5GTPSoOsENBLCwdxzMulZcjih6m3oMZMx2CUhF16pGQCahjBSRbWcFy6zyhUAZ8hDxq8aGL9dKAsiU07R1N/Gs5PRdkXFB6/yiU00PKE36AXT15k4ScNgKv8G84rPIyCtnK8Yxxu1Rg1FaPWsUXnCqx/wnLapVkPYorFVsNJJ9Olp9RrfXeZPMwQNZfBJIPJnF+hTpujOBIiat5fdzQOPbeNOwC1CT4OHRwzwbBjq99Atgp8xUOtMt1pTHen8zZCi5TIRyABrSgZFZXvVeExcr4fvBYe8pM2HTG7rRWTxp7ZskljEzB19lfoVZd66MU2Z0onKqZ/KhGY8zKy5EU9p17R4BfziaDybMHIQ1ib/1Py1Y+W05Q3hbC6btz3jw9Jd6NnB14kCW2EDVz7rYBaeq9Z22XffRvYWCu0gALeT3ps88wp62cIezPhNvj+lF3CqfIDYUUdMREm3Tsx2cC2sSvzM//4z4FT3Gc4f6ZzasJXvpxMAGqBNXKqrEwfk3iNB1KtzJpwzmWev8bXU/9UgLJi2jQyXJCx1eNEcf18YuOplGuckI/NRgppihYkmUF2+Q/g/rJgutITR8QOyP+HiNyu4sj+sgIteqeyw1Ga6dhDaAqOORvOx7lbtZGHa4xjwfv5yYydIaMlW7omFejCCzca4wpzqCbS+RzSLcbGWjZGiLC6xNKZxil1//C4Qc6KKSfQPIaokVemzToxuOdrv4RRITv4keArF1FCGQtbYvQHjuAmURVmlnjeSjaiFlpc8Es/GHozvmvpssRuiYFaoTv9Dr+uMiLVtJpBEJs6CPeprarnkDR6fnGe5cRBf3L8zDrEhE8JXyTJJBEBgz6SjJbLYoa75Oavl0WjmWwl6E4Ywn8YvTjNOnV2sDGADaGyQQj1d6DGKkwy4bFfx6CCSRcF27SiZ1d6KWY2XQy1n+E7gQZnLosO+NSeDmAk5Q8/aqeOpOxbXNlCSKe/puQzKFlwcMq4Mxrz25YeiRX2Q+6mmkWXLoni1jsjx19fF90+J1qxacWoMBKgwPoRulCBhcmtPQRO6d50+4j8z6FQWDRQya7DqjFAtkY1L54PGf9yKwQAFFEspbyYcyytjAD1SY6QzAuhGnU/9uZDbyOu9wqP5uInNRWaZNktufDBa2rpJMIIUojXp3jatu3rZS6TGObzfL+FCirQu50FgVP/g5xJURf6zA323o6IdKDUEe8uthOrMgI835xP5wM4ojq7GNKWc3KellR5nDWxIB8eYYNuJFXBOujhJsY3Jr45vZTe5rE2z7RpgWfbwdc+lUB+CZxYB/WwyZ7f5zSrA8nwsVZMO4lhaDHVzarWY+wDWrj7GdkxNnT/aeld7WphDwUqvGUFWVs+fE5zNEtmq3zu/FyBZXCZSyna9lP/oyYJA+ZyYHD/z3sxXsYZunzO1CXejXecO/PHxwBsDIc8kyyGc1Ifn0drQG+tcVw0SzETaHB0GT3L/jilpdPIXcgZdsQInyy7VfKsBM5fN/zbzFzvxZ9aXTV3X7LPCmycnK/93ZQQkho6d7zjzmMCS63eL8TyXly+gSCXbbl1YUKnMX6WKioDw83nUjSCriNIk6ctBe7lWtuj6Ubpf5zpHt0H/L27OIUKDF8XUZeP4fFbTLZoZJWhdDpuFBUgrkic/hSLCwa3qpuR+jSwuH87fOU5e74HATENWDygvrgoUVwTZbzxiQQg5llMR2lBan2rLVRP0OrKQQS1qTQ74ELI/IYbvhUifCSReeBce7UsyjfJ0OPDKw4XI1RO/YpMANH+eAvQgWJ4GFkEi/ydsko8FqFY6TDMVWuu3LK0tfm2xoGSgEA7r3Cow+DRU/SjD+BR3yD1tg8CDRFREXdUzJkmuAcqugEymHndt9K6Kn/2a8PSAkR+yTp15Jr+rTEEvhEvE1BN5cu5mMnuiNRLBU3ZKXzOoFBfi/UmdJPE62Pm2T06Uv95bFOZWyeSzIUZCdqwb259BUWpHtdzviK3KqNTTzcyBsMO/fgc3oJLQzRTMBpeQx7dAaCf7DcdarqJHAtaLYIiwY2MMYVHu/HTyxbITZ+Zl03BcdpG9WSD6HyqphkbTrvYFOuMcciO6zwAp5TfsRlEfHnOqFRo63XDVPFKs6+XjrixN/t3BGhWPDW0IV0exttgCS77PINEHJwxmSlwVzRFRS47qnCjaOrx7NoPP1h45Cqy4YRm08Q/4Z+0EtGdOV4LwK3AONzVIXGpJsn5/Uup5G+B0z9OqT0p659e2TSAWKoVAiiiBgHoTBN1m9XoKBc08fWqFC4uCMAzID2Xy0N2Q5Rqm40Z2AoIeiwpkUdDexEk3m7zylr39c96v6gye2+gZwQyNDfYnkG4rt4qlulGxYgHv6tvfji/BWqTGOqOGuWb0LZFj+eCcMAA6MKBW92PwpddpLtrLztSDy8PJ6urGAKaREsUmS0KC5XUzLlWBH7tPRZbSR7VR8nSGWkgNjCPQvOdJ1SFtw5JgkOSYtRqcoPtZxZkUUL9cNlFOeN3nolcUqnsnJVL9KGkGDCaN6b/LSVUX06J4oRQ/Q3BoDH/tsx7cHrSlewY05/DsX8ayJBxlP+6ufIALM9WI+twmG0Y4fiOl3rSbHw/djyEwqPx4P7NZxrc7MZbS83VTs5kcWiuXX1TSINxrLOyWYQN2OWyWrTSSRAAKQvNlX3U1C3LcMLd1mP1QF9awYaMv9E/jjdGasFlpMDJQUOA9dM/wmDUpMYkGwYTyWVZ8qHJ30t+rOo7kn/rvKSuyCJhF7anmXNqu5n4MfGjPTv9pT+Qx1eN/9SK0zEAISgZfQYj78k4huDju/mja07xmT+ri3CxiOGnzaQ+oOmtiqWU3+ST3aEUmWrL4Q2nBDjsYEx0lU71bb1NVnnb3u8Xhmy6oiJgE7vqnHZJU33MpewV7/C7XF5KBy4Dkrd9bL2GuWCNGgoV81KZilXuwBKe+UlJXBMM4ac2rY/GCqr9XCb/HK/LLgYoDEuU8L01UEeQy+mfqhxfea33AvDHpE/gQuDjXjokzmHHKKP06T++XEIyZfnC69gx8iHYuPTLziAAT+4CFuEK5pzIDUQfucvW4r/OOZ/N4YCxtZHkFWDuqfcuhrMQhVUr0J8BtDSXIxLyuVyyfFrwwfwXvk8z0++KOO0fGsJseE2zuhKNe269IzkuWZDGEwY0CfKzpRd2f22HUP3bxkcg8A0yinBu8zsX0GFQMSYyJ7B2+vGMdB4sE0S6vGTvmnU8xbuq4SzMnldXtpTf/JCg6VaUr3HjN7H2iKmfPuluEwaek5abRZlrGMmikSzCZuI1vOuaDZQR6SaPlJg3zSHkrtPuW19izVuWhH0C0mgbnvRU3K/l8OwsnJ3hG+X3QyPv0PRlOAxDljOvKAVz2J4BWxXurnZc5Vn85H2tZ3Ye36YWirUmK9xYYBf9xJTqh42//jjYdIFxW34i91xpfGzgOKlbdMinjqiXcY2XBrUKar03pJngu/DixbegnFYyDYWE5HlImpcoeLYHI3sythHBVp6lON3t4hL+0ix6pSqjcgCQofhi64TIEhGqUM+Omlc9D6x/xwks/OlmqLepPpFYlDBRR5ZQ34K5r0ubwHEQnsknxh9lwca/b+1C1hQRNbeDEYoTUz5Lj9bnIt5E4DhTZtpsU4OYQbyWm/xD5QGDkAp0oJlwU4xl7i8E4EhlkG0OMXjlNQ3HoG9C0U3IG7VqUYhtND06NwektZIPfHMAR5qSREimtZHWJp9aww5qXB9a3ZmmHI8cZ+hEcIXBqGjqcAkrZZmZfKwRhXPdme5Q32BRT88JnBHjWGWue7qKm8lOAnZxWuXzSYAsrZLV2aDihO1hQ6RoNKWu2X9DJuQchaGDxauG+II8fg+7x3k/M0pPQdvwpZOeQYG+N/nOPR09RAX/ZpXbTthdpyOeLySusbhaNICIS+uBhBvkL4N/Lfev9NkCv9JJlQv3HoCiTKVtCs0zN4zehA/cTW8JkNrftOMPZ9VD3KHysdk3X1jKl1zJoyY7B3GKb4UR3+kFpgcD8GGtFRRiOSadyS6rC060ReARcXQEBhe8BVHqMi6v1WHPwkHMfyBknwRBYQN8quMdvaRX7cppuiOrFXv87Miq+G6IWhBK36RSoIvMk+1JhSWx7U8cfj8/EHg30jLqS8NYpM2hXKtePg3bEeyZ8r0WbiBlQ+zzUCgOQrS8evNTwO/Of7agT694qbpdsw3Bpy9dc1dJrTfLcJfH9V0kGGfTysLWOqc9KVmtK5SWfzi88Zbii5OGSwKaoxtO/ZdDQDvJmIcLTMPOn7jEeADjww0AJ0NUTBKWQpUul4wlp3GpbJKp5r6+AjhXmjMfmGLe4kRIgywxT+Y3YkKAtLdFoqBIkMda4vZLSxNTPFvzhhlvuIpAtzLTIG0N+8dSOpdC5KCSX/wXVuJyzn9o5mDp6rxo6nR4uIfTZylN3hqJ4IZvKDTVGb2btqBskyjSZx/q0ySix53z238QgeEiR2mc8gF8R3NmnUbeV6p+iV/UvScBuwvgrAgoTPge/LQRo+sGqUMnIeL5VLaDkNQ56i0irGUHRDtaiqLk4oZKEPkoh5ulB/wq73uA0dkILRZplrLKUQo3F515vJQ4/jB8t3td5sFQmeZXFl4QcWPl+jF/NDJbcc90igMhsyeiSeL6I56/qZF4Jfgt4QkhIxAenfnX0Si8KW3CaHaIb3rb1b64W5YTLHU8xf5K6ADNEhjR8Mh9wSbTCgaoPXMiBo73EVQWcC/MfaCE3BAlYJVM54gSQCqWgTwLkzId7ewEsaZX4VoAGc7JsI0s5Fxt+dxbL+rZegk0zbWXT9T+NM8nIBh7PGTW0IdlcRYLaWxOJgvOw7MzNC/eEJ3DG8YKcF5xkR6IyO1DPbUuaSaUrtR5yGdI8G+DshZbXBAw5T87s8zm8cK5Gkph3SfBP3OaqbocCYuqLhQ9kdJKzKqmBsYM3dBqaUDNmqcHlxTd0tMMUbP+trL134Ny8O/eznroyehPqtcFNrhhTbKwmPhfqLPNCG7/9+yOYQVxkoQ/8h3mJdM76BHNGi0vdX36aukUq6aX8TmVdmg3gHRejIaMPZIgyFCQcZCx7UcwJB0VwShAf9mWEOqOa6mVIk69hT3knbR7P0jXicynaFpcmg5wABeMCOq4hJ2+gY37VJvSqRXDkCL0b0/dYtJnRH2jR2/3UUWSvm72TfjdxAog4zQAaUlt+QEcBlMNoWKmubVcRJUIHpD7mr3S2+ELOqNOwr/81Mde2Xzz7UeY/HpvN3LlpQkoIPTJLp8WILFnEkpIv+4daDhpS3TqAqU0i9t7P+Rr6IY4Qzp3BI1J/VGAkQkjXKg3WWOjSEkkIGoa5WXQe4GKAqUrw2DxTpnUWHVOlp45TTR2jgPRNyiq5NpUVd84CG0I2sc+m1jEp31BCVuCdGqaAovqGU+OH3Ihz53oryco4/fHH19GhrSbbzmUy167whdv7K5Yzw7Ne6BDjL80WmdnQtYKctD4aA/3sm75VPfSe6SYQ5mFtzKwnO/Yvt5Hm9xspaxtJtwZc5lardEx6gtjREKithedQ3xkKlS6B+WMLkYt4TDDC9/D0FcVSIMq/oDrm48FR3DOLXgtHasz5MZbq/ovPXwl1Pm7eiVDZdbUQ08wFOO9fkl2BpsE74DjMI4vzpNosHwpuuwc3mo8sxOMj3TS9NXeTfWf5QjOQdxcsObz+JWcBuflqRPS2U+FQj2f1pDjumrVLbE2x6Igw1GgPYE/XKyZprt4qPqwwKfknKl9ZRLDgEcNUeWySSGRAu6GdYngrN5ougd8jHsXVPThnv+9oQgBadQwVo1J1f6DZB1b4+fFX4R8jIEatmXVg1DhbvPLeOi1pv4NFr/8so1LQVY0oOAgRO+D3okNLduKqVIzscQ7oI6LNX4cQe1ZbUrYJDLPOUM/IomzX9RND31ADhbN0nRNxnj8Um4TZUyc1aiWmeZ5IFQD2TwL24UTTgL4R9ycHFQdDEqIYVc78cuavIAGk9GsIqL5p+Ve6Igq+n0oaBkEgAR2MetCjRdq1K69os4TEcOJMCJmCkqwsa0g6nS2OFZbrTTuA0cG4A8m526bjOiFwzERsyaQ7NCJmMZlHwiG8f/lufKYIYW/ATfYYK3wJ5ZGkSr1U+9hIvqESg5/1mbYZRYj85OID4gWBwJhP5rQLkcZsZijvZrjKXpReW2sLNt55UlNHXY/EbChQBwlHB++kXbMOSA0g85GUD6e2RrD4hiiHTLJY9fh6KCovlcjHyOgY5cyVcqycntDMlK483eiGngc6U8VOuon6iZ4s6eHvHiQZtTVjaIrXGamsD3HUxc+oU4yFdiei+DRU8fwX94Wpt4jlLRP/hjCe4dXp2Q3DPMJSuxzfq4JdtHd4Y5vRonPpEcrys9EOBoEkZMI+/nC0W2WarJWWlYn4xrZerhjRk9Lh3seMGgVX40n6GuO/ZnsX8h4PuctnLYidF2wKg6Qx0jYgN0gTxPgnhj1VB3poxFWbwPUsUVObhYLUPaiCtE6h9TiwmWDBH+//zXGA9cnoXmTtfp++Qpqz4TBR5UHyVKD4DFCyeLZr+6YbxRtrIfoGtD/WpcvWMQXvJ75HNM0JpWn4TABwmw/wizF62zb4nNWXpL+hqOr/sIXzsKGDPgnOsYozW1fpeAkMp0PwM73i43s3azLSLdIovzf/qQIOT3D4R2UbWDPpf23Bpdap3uRy0hnIFJmRigzy8eDqudJrS3+AKrVWGCEaTJtfJuLzQ1jG1XT6FD/IAZ7wBxbJxOHPUIKVXJ61eS2SpPLrUXCehNJQ/Spt+YIZ3wuqVTNsFG7GyLdL5y/8cVWs898uSeayQ8reGgYJhPZytwHJKZNip3jeYbY2Kut98cwQEVgO64BiIj3MZCY9XlOIE27p+6kdwvW5gBWaGETzm+RIw98X8dnvpTor2oWiK1HdkaoBT7fIdZ7nyJuItrTOTMdUdh2xcPROv+eeLJkKJuY/SZkNuFMCcaA/GwGkrPN39akXs2362Pb+05wfoq9WNJ9hPK0wyHQoO7p/7SfWwXImPv0tzqM+nt6p4xncUVgB49wFSLETDyFEiJi3aHKEt21XzSZZUsUeuRK2JS/Jj2CtgZfn+6bkDgMweowY5ip3w3V25eHy8lnc9w4dUa7RcV8EWg4mbDcRW82HjD673tBeCEmqAg7iAtYrfrY1hVs4Cg5ghBda39BcOOwrPBeetbA63su+cAdX9MG+gYyWwviFO6QkFx5NOtugZ/1MgDDomPN7hnjOUK28N3cEmGJBfd6yY0IJo9kvSYfOTwuJScEFgec/aBAJCZrFFhtlWAcbVuyM3QmtEcl8AvKG6cLMNi+XE2MK/dodnlXZA6vah+NTCfRTFipI6V3VGgfWsvZQR4senrcBD1QiBraB7Qto++mkop9KXkXE4LrHdoEGMH7ftrHrC3Qmsqc02w64efKJIsTqYkl/JUI8P/QKH8yvYLX6m6JkwgFw=="/>
  <p:tag name="MEKKOXMLTAGS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44ndfJwpkKtk8Y9Q6kCnYbex31xYD+J5OzF71BVNcgs6Mr+RwVDI0fzx01AdvGsTZQozHemptJb5dee6UtjJWSuwPNJKxwrhoktVVbyZMqUTF9s84fmgLIAJwpdn03V2y/1QMgaL2wSqJaoYDmnUN9hUN2fHfejGVna5jc6WdndTs6xe0mEVhhaaU5SbSYf+MaUn2I0WWyTARDNLdC6eMYvHtgXyqw2DuRTZPkq6wpmWqDLWYJ6Nmx1SbBAy98vsXbi+TTYuOzAza60YVGRCQAIam9UmsmjkNEDcQfN7658Uc/1T46A8IUdbchu26hhyQNyzRbAJFhfh531wLk7bUetp5FJ6qDyZBjo+Tw9V7bs6YBsmX9MrHfLcqDVhISk63DuEkhQ1/AW9im4UGw7lWU7V40btT0yHY9uEJRfxaj9tUG/CdQJz+EDRj5jq9VR57VMb3609R5sTXL5Q1h9klXE1UxEvke4LVlCmYSgB6M49Lm1sRLLdrf5ggTSZX4XxWhqACzGAWlXKcJyG1spV8r84hsTGOz+tkrF3/7ThUnIHxSxNzTJZ3EPGIj9lr43QT+eS43AG5tx1kaxwu5lQTtMHYHXyrozfnCW5091T3y6pGPz9GOC/hbgU84pI1XD/PQBnpY2IhyO7gUj9CSZ6UhVxFOke68WRAlomavhDm3F6gQy7GEd1rYSjclAYPljf0VEskG8apCRhVebgUf/+Rj5nUL/e2EZ70+LUIyxCZ+wRTtUaoWondRjLS44Khk9UeaHuQbaMrx9X7KGNbCrsqgRuTqaU4GjBFkrjjDbhX7yx8k7T6TlrEv/Wz+iscCh1Cv/8wRDC7gU/RQUnyT+RVa85yRpfZ6PxQf4N1kQ/VDQUUvfVkFuFuk3vuwnn+ALOKPd6lVkqJ1nb8mVotKotfIX1cEzkabmhtjQ4FxHwmmW6R8z5mYmuOexIGnraTZrhW+WACqLIsjwBfHaAdgppITEPy9dOj413YCqEZoBL4M63hRuJjNs3ldr6nQ8IGZU4BmyEO0L/3sq4hbGxNGHe/WOvPtRzZ9c1qpXH83L7kdapev+06MmsEoxgZQO4jMi/CwztjnP3UVjhnKfb7RlfGtn0OEfX4CD10O0MHaZwOtUuUxYuu6hDmZWeu8PZwc3frFJzAqKZ2P3Ox20DQpLtA8DOZK3yPllymSXY1hi0aBIOB0pZv0q8Xwxr2NeI6004UydMjolcIy0RQpS9XpEhYFFiA0tv7Z0diEA9gkI29Oew5aCUAbMasZoiAn+O5VLM+aRloZL4QKyX66/5h+xsJSm9scE15Chwrn2gob6pCaojtKm9M6JLAVaLG4xqSXpygSBDJtno+6mdQER82WZB+LuCKS61vt9tOpOiJwL3iUJ+ZvoHleyfweyiAyQGN7EjZl6S51hadbujH2zf47ALzgs0z4ITbpLeWoRJ8S9WLiBfNOwlRTy3ffAVL2uc3Zv6ehzzdKDx2rX3srLqSW2PD0KKfJbHwm13nDuXVEPtgAzfkjYsLwKdFbZ8rPC/ftbZ677W1n+4dXVYi6dO921xv3Zabcfiv9B2lKWtL61CLO9Hb0R7t2i0lAdnhaQPoRG8n04SiE5/vXTg97yWiTJZ7Am5Kh4GFU3qewod06v72RHmPEskp+gL7RF/KouETjJlQuWY8PXeGfI41KDhm4bPC+19szxUYh1WMU/8SCNx5BP2dOSWwgzyzH+l44M0E1ULJRzc2MM/+ti0qLyvkIK02SnLcSaDPzVdQnYkelEPxydQHZ6yuXyiEbZ7XD0pYG8K6KnyL+G4CFmGg9QDnOv16Yrd+GXt1ojdB80hg3Rzu9vG4X7L5/HCop0cj4YDItb5FJBfu7HVa6+15CI36yJgfJWRseYG7CEOHmrVyewaZuwh3GMMy3IBqzdthy9oSv0pp24QW2iWsti2eYjvCCG8eLoGOe8fMYw7wo+PxUq3T9Vy/Vtc9KOKE1NYIOnnwSyqJ1upyznx9DxckKvP/EeUJEyZpmaj7zgfEjV6yZjmHWSEzeWzhzfaIHSgwbbPB9VLlVct9oPqt13Duw9VcYOVDhCCiBPEuR5OaXxYBfP53XlRpeYso1wyInNjjVXX6FfrOFoZMqerOSWsw9Sa9btvIaheZtkJ0UO2ccTM6TlcW2hdpaqgBzbR425dE6w9ciCNVsZ+cKKb9mUPs1OdCYqEiazXjdrdXBcxPqiBcmkYIajhFThO8mDpmJlDitd3deiGba1SWDecLa8QCqARo0cl0LdqYh6Y2ivc6QQdJrwI3vuwab1J1M7kjxB94rw8bFvMLcKp/bXyZb5JkDySVgHQm86uOqLSC/niog/vycxjVMLzh1ANT2q3j5O3erQFARUBrIYYFPSdd/dlxYTvtrHEkDC5F70xhRUZFJBpBbF8j/4uIwNm6LygZwyCf1ql05fPOoGEdOczGZsNjdsFAXGiyjW/lST7EayacFuBZV7SRNFWYQQBac5D/mZPt5y5HdfRzIFiTrr6VqALtoq2WqRfwVKQIW7L7Z0WVsw+d7agWSRSwlBta7fELDUZzSxn+4xlrWO717rwsYAxW2YLs7F8ohgugmBMjGLfR01Z1/3npScnW0E1659IEnPzM2IFvzQcgIg3mMyecBpzK+8/pZBGFAM5/oHfDGwdD0nqKIUVZRlKfxMij3UDmIuklrRt7FFOaHwsM6LYckN6T11FxVE7Za2qype0xpqzK8MJ19UrtjJko9Rz0bvoSFth4EtFFP/VdNicvVKzFQduHSfXtjyz4E07DOHgCwvWrzAySaINhqKd/Od6p3oOVvvUNxjCgb2bHBwZGrYV/h1/5C4SYCG5vLudMdpCEEqQCuOetGyObzV62VO1BmjHnkZuo2l3EJqLkqoxA/RMHJdY1zzWwCCOdWqqTgrbFbqm6dl2+zG3fH7L/fd92pxloeA0FAO2yyznx9lKY+Z+v/MnoyvJi7TFWLFwIrD8opIgQ7E9f/AKH5IrXfEV9l1gOnjqMeN/LfrT/TUtevBBryAeYgPjtczPHU3wGPjklTEwy7xCUQGLBx5poWdCRsrsblq05ySADXbc9W39sINp747DU+wxjX9lI2XV80RlzNnzzOltZAnqkWc8Ncw3YLCCnUa289z7GLJFSkFrDpABTwSc48Tswf/IOI1n2EtYAm/yJzzCrqZ3jBFVfvNJ15VyXFtGo65JVAIjo/9EdVNiDwHlHSe3iSILeMLF+H5Pzb1B9nlkbLxPsCMPcLtTEwXfXNgcN0JyXWYpuLCddWuuPVObzUF+KEDKzATjo1K7zorFyOBbyCGlOFStmyEvoeXmdnnk0zlULvihJkg0etUFo14n3h62MNKl4Xz3Fh2oSxSrK0cpluTcZroCNHBco/64jd8LLvHXd9ed3KkodWQSFckvFTEMqKyaseo9gH/lIB4Pryvj9YXNIQTtUI92H7gixUI0E3iIWcMcFGjDbyme6kuvvAFuKv7iRFEGU01S5rYnJm6oZTa6oi3+AvSD6/cq07ObfVXd1KhDaqtVhU8FGOKbEjtZIy0+MVDEUco+WyVYBVFvLdIcuE0bCAxD3tBwQt9qUdNrFS+EqCUzBJ4dlEPl09MowhdDsnjbRJ8c7T9e+MhIUUmkOEHhH3C29TVNcQ1oTfrNaWugZxJStbc1xIZ3MLYVu1FXtuJ/4GPNnymTjArwEg4jNvgc279QpFrn9g4YxlLwzg0ybrKhBzNlU7bnHKyWn0NgMwMweJouJE5sCZFEkGpmnK55v/xR3ARHbOMIrFyOoivL3NoGFcdMAdWtbSN7PTG2UVg41jzQomKfvIKQPVIGt64gKXeCt4gQxS1JEa8pmoidRnpgEHRhjLr+RElYyGUSUyAFUC2EZri7m7f4uuYMzGjYkqUdDDLtGqok2KDAR+vQ1vwdcv0gl5oNStHDDh6pKeAdMdS2G08zORGOHqL0BJJFqdknLiofpXgWHq6DKD++TaMB++sC6ywOb4cySGku1awhCg6mMbyapfIDYWOnjJiC034dKA/+o0ZZlwAB4SrYumuuvgO62i05fpKZqAfWzh4X3JHFrrTbvPf6Lfbk35VkFZSwDMxR4HGBeZ1BFJMTroQcuUteWI/yQe/haUkODfaYTUQZ2KWAR6E6HhCgoftyJM0qUdUieCdToPeW6Xe1kI7v6HMeli/GvvFbt95FJwA6ckm/dbztOGVNRJgCAq9QNSu9dQ1Zrg21qJ4KDRaTot8aldolLnyxIHXZs+8sEQaNjkTg7BfAp8dKv/bcf8IgxhN1eAgUaQHwxXV3EgAZ+YpIfp2Tk+tumMlr7Aa6q5t/gNUcO7wuO61w4GhUYFHXzosvxs6bc2HRGyN1alCtHK0CB2jYI1C9pTk2Nl5rgqpB2BVzQec0Eittdmr01owcnl77IRnIR1wwRkfXECmMzabqk/X1zL3/GS2n4xwOVI7EJlXUV6PNRldjszGQ1Gdw3px0BS+UDIHU2prCXtStoI82/wyFRFaTVnGaQHKPZBbd7F47rBYIbNOc3qo8RexjqTjwqOFSXC/hvKjU1qrSJMD07je5xov5WV6HlviH5hHYGGcfNcyTDbMuaGZoJVD4Phtk2eUVTMgT/sSFbb3ffHcRd6A6MuXnrF9yYcezQN6vI/N4IXYRxzflW6Lu4nUFkbDXrjbIEabWE+wZD0yRMDKxVJuVXP1qPjF2fdVmSzTwPkprTCMFaaPkky0xn3rikLWQhHhENMs7ilETZRxZG8n+IpR+u26yleN+7KZhy35s4/T30lMS3UQTNVffI4vTgrsAxY7LFE9vXvGsEIqD4huPLyUf3b68JFWp3d95lV71z8jiyCADM8jcUawXm6Bxmr4/FbcZInNr4YWlBcBA9gRuPo2XFsC0wGW0UeczFPWBTw4AnUrf/YeLZKueaXx1o5+QBkoGYjJvcAOPDPNziFXpHOAMcO9cAhMbLm/lpwMnnzrSIUQXMKXYE2nXhLZOkaiDcMyBEQ3UWwBhXFPMocGqEW8UKyEdmCEDgx74dp8p0UsPud6218who8Lif5FPUGm8J8aNe7B0BqY2viuxOQw6YnpzQWYEKV7JsmaAWp0Y4BtnZKp3z//IYK4KMuXiuqE4EtCFvAFlsSImilTjXQjOC8p1MUU5zx/ebcZITNrolguQyH1di7JvFVbwoHzVrLibLwkE/A6r9IMP9x4s+tD8QfssGFLBkUJOnr3/zygkv6ZFkq234xa2y6npOlZEwlhQSyziOAzsV3LdlHQvFabnpcFs49nMMJ0lF8kITDDvUvz9T1GYAftiJq2v/5ZPyUyI6n+qV6hfEYirPNsxwMV8GpsU4WIglFymqsrjGROZUWoQdN2QJjivBt46sgz35RQc2p9exK7eWfybSUS+srC4VOu+2XgJ4e56fdp7v5MyiaJgwh//KqYrZGXym4bucOZb5Vo0CUhYsiugm7Nm5I1LQWauBqt0ALdCng2WkOB8/SJZErtvV/5FgYNqB+5cQ5/7dBid1caVRQH9cS9LHF1eVby7oCYRQu9TUi/kSnqobB4VUVn529JBeCabnspJirZdUzprRLP3BOzG/wIknUaLnLDMyrFESHjKw9oN3HsC6QpnHB5yG91zYieodsu4bTcWiogkztJ1Z09mHp5ah2MVzh+3eU8jLSrsJfT2gKLat05lNVHfnEkBeYrF7bk+7uHsYFz/2MES24fSP3/OxK4WjGADwr6u9YU56Ue9U7s5GIHCeqKXCDuOeilPGhSgPjAh/E+HxXry8+Gm8ZgbDMCzxd1/HtTWVFrBo/8JlcFn8dfIxZpCrOS2G7FglRMTWDw/3pfiIrn0dpTECCN4IeJ6aqjDNe4XVgrBWEbfay8yrv7RvQoMe2rFPSql+pJHnrYFxd84T1mJt3DYjunc9QHFX+mDnalCwK9dEAQ8XplaWmayDvtZeI59u6kZIlom8+1nhRskrAQGk9sAfuQab36L4pq8qm5J+mI/Ncm9M6ar+wl6i7XD5ZovcRf8oYzoIcum4+Ij7ZgNIKJ21g4cGeN6DjsjPejrNoAjw2HspEUaUc07OdLdZTSgSrB0HNYQif4ngOkAyTqwtKCwduYjhPvaBhM+ICm1+6tSEWsq3ybgn6W7eZhgrkEpROfe94Kqhqv8toNG+aDL7N9Ii5HHz/QgSIBqGBDeSyuLyDS52PuB+Bgxzy0rd1FOZLkX8ZM1Qk80LiRhWG7SKZXprTZ88Juw5gOTOXPvup1Jx7NkoQGhiOF4hvmWoPBAsomaIk0iUC2A5iBXJvIRqIkatzjY1s+u+JMfBtKzd6UEMAs+NemiV5iKuMQOCjuOH8A3EQvwvTH9S09MFSaWRMharacW2pVIZHna3DNNy0JpzvsVxKGF9z/7IharbyJ/HvxfT0iSN+/KFNASh5JXjX49GzrN/mN/UZg4ueeyV1ZpUFV8+zyB0VUHvOWs4A+mNocCas27O1daZcNnisvonao66P+5K36CmCNgRFgfqncTUQ/SC6/NxSBv7FWRZl5/3+fOGpZvE8Q2sS24/hMFiBOGF4k4QhkbDXWEO7NDcjPsgOtXvtd3UoppiE7j68nTCkH7cU54A6wyepPjiV1L0ehgsKhDumIf6fE1wHdUDsC/RwGmMNBErdZdAlt6CVeOxMODnqwk0ODDwaZBwyITJPxP1hZIEU5CSpGNaGjW5yecgychl5/qdFLmOjgfiX7O6hQkdqJdJZMI/tNXwBj6jcLrBJJbRcXvp/uhTeNcIi752TzYJMCeFB0YyMVQbuQII4gQMjlVCzZ5yuDJG4OOZhHSHKkCk45jdHbfeowKUmvLtIf+9+hYlAfA2EnyE5/RcWnDMiRq39qx9uaF05tyIxQYfLxEQgddfiSHHcAs7e6otBKOlJrq2P4tFzptrSgJwP4tztX34ZFq5VgoVwRRRsXPa3xCzaqp6C680xZIFtQzSxH1D4Gc5bvNDT9XNHcGXhQrHOfpiN+HnNMTE9HI0evbjUzhyufZJMdiP2Y+dPAnpbe9GU6kta1pLUCuqYng2o183/DACnXya4NP89w8WHn/PzMpjXStxmFNAiChuvOm/xMt8vHEKKKHbexRKNZRyF8M1Ri3m+E6yemd2RCPIS4NBULLvfk3w6j9R2w+DMxpWW9j5I/sYj71dmOehjZjIbQsIMwYTvPAKTnupCXRfPF0EtDgI3gj6EjdPhhtgJ51y8s4Ltwqi9qp+dlFiaOwk27uU5jjxvz+9T5VY/ep+6dWN3wn7Ij6zPLpoooyPQpwBrZ9WdWwZvEfuVqsHCEVCygzsJ+GJP7wpS3QaIxGDY+594g6kEdkkObzH0CTR9dU+Umbl1zzB/DEVPTWtR3v4mVUYoqVQNi+3DLgDhL2GIXnJh6TFyRHWZdZZGiz4U2bLOmzAxQP+KW/+PllNAD3tCizannFUxPLHY3sHxGgvk1gYjrdrBsYFMCNN4OntwWyFAMp0UmP5DK3ghn0+q8N7cF98pwboHAznrqhx6y4XnIRcAiEg7wuLDZ/e9iJSXp9Tx6B788xu601cD1Kc5Xgb3C3Npe8v/z8rNpOwqZ1EerP0EiPc/eV3uxls4PWiAjHuLDD/HlvzYiyR/g3b98kfH8IEDqZJWWPxuRm2de7ZBZAFMf7ZYv/mCKJz8dgFZ64ObioMcwjEPX7ZrR5GCSJEkB9xTkgKfey6SK4ZOnr/qPmriiNiUm18uPBOhW22vh2EOYmFBb1leIkkxLELh7Wx/CprzjYc5obbnpRRhA6KZbp/t55wUaAUQr8bM1UIVmGzIEATb6NapdOr4w2w4SZn+pPqeZqK83tyJUbQBMUQ6crQ4yCMNXDy3ZZbr4yK8xqJghO0lR4ypCQp3x0zhlupuF27weD2lrDAQI2XCCUuEq02+lSSE1177F26K+yIRTlWoD7GtIz5F4mmiVe29PhhJcbVStLx3OLW35vKFiTnIwQlSmotcHkMD3sklW/aw4Z3fQ9qi1AjN5EWY/pPGd9XMBiOMzfEN4obhPWSwxYXIrWGu94GXNcotWWNVk5jmLI4REWyW/ZkAQbpzRjhX8YOZa1d16LtKf1yYR5+ANrAeiH2y0+Hto1PFkJzfzol7BB60Aqc4YJ8E5/vL2LRL33P3JCBP4Tr1JTCK4IO8EL64Exqm/OFpG6TwQ9kZeseYDliyLrK+2vAo8zjNKU7D/PdE3FGFZJL8En4qYGxn4Cd60rq62Hq1gq89vRQe16I9VIlL+SBEFueoiD0Sfq8asF3VMJkIh4xhpjFq06na9rKeYsGAMQB7ikJQJKWvZM2yKT3n8o/JccN1/BoJdz5/Jql2xyeba4L1ySuEpzUdQfVV0Q5cYZQBXp/8OcmIq6zQf/Jy6Kw/1cBJ4ur9E+UNo0wvvZdLCsMwHlDQKOh7Ahd1gLs1rzJEEKfrD2LhFqjEpbUSLhca41W7TYNsegbt4P3qwcFn9vI4n0fynsQxe5eJuCMJPFKWWgR/nOOOyFwRVMsird2D5brsNNRttTYls+43BzcGz2YtZB2pdtP8Uvv2/68I8d11sD0WMA7PUR0FXRm/wZ3UF9nQbZU70YWEHmyQoTWpunIrz7E2Vtj0H0whFmgw6nRGfUCtPEi+Ij4MvWoPIURgLU/LoZB4zA0t+qEBzuPvF1oMaFh46pPYdquqUSMrk6oMZcyGmBM9d94USWC0fFoTCpJl8XUwHVODvQX+2NZ/GwU+91PBIBJf+a0dBiyN5UII7WqwNokB2NfqVXkV0kh5+in6Z4/2Ikcobabss0ildkACZTKNpQIquUZhnggQccakT+3m6P4H3VT3pf5vlDPX6uJ39yrwb09FqzWESU6KxTG7Pu1u2aSObFGwEJT8uM/W8ZfcZcjiXvcuyapuV77SS+/oeY6+k37OUe+1ncuhLQLcVNyq46vrancksB4WhT5LgTG8SBQk3mDZsOfB7G4SAOG52BZ+9nx+0H9m974Z9NKHzs0dEbGurSqvBrSqGyxJnBj3MgytW8IpfY+TtasCh1yT/vUTtabewEeRJItoOoZivGYqSUBEpio7uTkLH+F9KpT9aqTQrUSPYZL9X1IDj8GkKRL5OgNkx3iCq5AGwwGXEL5w31YotGAL4FCPE8rNjBrDKgWzs3vL++1v7KmQSUPp+dG/wy27nUk4pud3KLt/QtP2ymm6MGewQHQPx1CUcz2x/m6fcFLBP9faq1ybMEhxgb4ph6eECXwn1o+uwGkfdL9R0Neov7yKo2Eh+mKDdj54bc4eaJiTItZxL9BcLBoqLhyoN/qt1bUwP8db1jx4ymqmZhn/bPEu+ajjleTktak/PXv4qWYSLiA0jSZBz0Fa2Q5XGj+Ui+X9C9XGWAazf+GdpPsMC3DhOQEDtK5xb/jwLw//2cIoBaz3uQDGiE16EDoA6QpBFRVSrVSJUiXa88ftA4/gdMEwy2UGgTJao3ogxPNm7J+jLpZ33IUtzmS+znSrCfn+9hTCtxGMnuzBCPXFmmomJyIROKIdtSFQ1TreRi5Bt6pVclSaASrO+k5ljCid20LH4wdnHdH8ayqdIOB8MAeiDMbhpPH+wYbg0Xg8jt0VLPOqBY0aHdotPAeNn7dgUjAlOXUd201z6k5ahxkn7kDJ0zVCZTlj7Tuy81cMmkcxBwNaMVrekzk2V67JTt1rEAxNck/D/l1PpLu2rEDqIXa0g/CKtDW+9XewRGy4KBLjbUdx8H84T65HWm8kCjCHdeAgVAJPSHygHaNIwKEgMHeEZ8yhGe+G9x6RM8Xon649i0Bnz9uX1pxJu74a6SXvwQEmvgVv7Q8BxvnFwkE5d5vdQI49UDqw4zJ5oA0JqeNpY3YhzmE88D15DBHN8iCnMeYtPXgcngqG6xjGobrpxCJeiFdRJJWsRmmfw8gxCaBJyJviQ7nw4tcr4JYyMCEWbPDHzOaGuGGHwe/raBW7M/IYu4QDTuR6f8SP3rE+2lR+osLk9SS8uYfghBNxzO0td6Jv18XzLcRyTIhhVSMsssCZpgTVaKB9VPkbMq1nArSS8r44XeE7XXJeWvnhiUYCII+mmToYFQMaUHQwuvgwv6OCTx4FhRgkKvbVYx6PwIlmUPL/6ayAFIGFe7Xj7KlANJSNCJ7HAUpS8v9Wm1ZH7fT798OvsZd4Uu8g+aP2GOC9ecIQgvbYZm6XB5ktRTZvt1P7AxMG2ViGkgPC6s/uBKlZBTAw6dDujbpNz0Th3kbq0zmwcTb9LB+IMdqVhdCMJJ/SwO1B6vHzxeNXhZ2Lh0LzNsvhgOvKLoz4yMPQi3h7yKRdIoN88HcRaAIEJyiGkqPK+jSYtXoQ2R+PI1eaQp3fJIS1h/zgNfg/PEe/cdqpI7+FDApEy3c8JUCkf+MWaJfxD9N+n2xtC5Z9ekNrLVvsqWSff8w7+uSDk6WFJrKxAleuqPlSTEb+K9lOdzkVXHC2VRvnxu57lVvIM7kFHlYU7uUjztAsZlETU5EuRV0JVyDFbDBr2qASXO1lY+4H3rB7uWzXwDJ12yaZv9Hc4tmqSebljqPyKQ68+3xaPh2bGdBNhidWRJa8P8d1qxY075QU4w9yZrfr9JX37frLUhxr5nofMPmtDb9PBysbosKYg+8hxleDceKi4ZG7a51QXhCnJpdFq8fnZyLPI6+7vvy/geJfscCgrHJVQr0RGNXiIpavb9JU5m/F5gmaWcmpntfWnl1rRJbmtNaul9TidKQsy86kyBksqUsBgXIyziTky/B2yLNcD0TCQXNUZCCD21XJ7QanPuPncanWp8Wz7fL46PSsPGO5CPTJpq1qFKepfXuUWE+KXUpL0X2tlkBz2q4RyS43pCqbnlZFyyYkliiAk8kXjnePVv8RYTmjMAjzRAisbw9ZL8xaRFVWkTLkAdQ2NUK+uhQmcgIr/9kgKocqCaq/3NHBIWHeZNkx0dNOoPf2hOiRScg7H4u3nv/dKcPDEC2b8wt3vh7hrH9HMTOCz8ZqpbQgI/7CGiF6esStQulZFSH2c+8a/AvRWZ3YOmxWhvo0Nzplzm3aEKMj+C+7W4+U8MZ6WSZGEo662vxLzvllqdklx1jExLOVt7kREO4P4646ucjssXTo+2wE+fvwOJUluGPON6Od2bsRmnu8ISFyR/Lz7kwGrD0tc5jdicrtncH5yoGNa0DivQXMD1PKbuTc8tM9pdcmKWbkNc3il3BzDl8T52+WSk2Mbc/cYwVrofaiv7WL9IBthw3OZUVhc+jptz8HYD1GufHT0Z5C78Pq6/JVtyWGPWqw30//ZmI71p9UXO31CPSM3G9I75FkrZz8AsiYAoOjzAzRwQEtYUdWPPPYLvSLR6XoaMLpObK8G6eaZSo2/kn68AWQfzSlh1aAHjKpeV6eJQMK4z1awKX7Qp/p8vx9QsehZhXeNo389n99XpVxFavZEg/NHjDp/BYp1zzwMxlJZomtkan0jKZ3i+dFQaDRmxA1v4elgDV3hVqoQKCduwxD28M6MYkFfFknbjSJb6IYQgSqUkmYZxj7F0J/WW1pzIx1eT1QZsSFBVxDEpEBYiOJfc+I0+NWmNEmwxUUY9uoDg91HPvYEf5gaJrQCKj4r2HcfXdlyM2kuYTjgWCSR4PW3gLEhjCAK+XtcSUmOcvE89o/xPFV8cfzRNPfp1gcWTj6khyV5k9A1bN8uCOO+XsYRypNDGXCte0bm1suqKmhkH7P2YKnsDjwThtsTJWJ6aG/vIo+GPRG0HRkAxk/YXcYbSYVu0TxgU4WtE7tZ64gfIjkCqGTBn8IhTRTXYPXxwxy9Jj41z/9kqyBoY+vgLP5oddbc2Sr5obgRrJeh2zJkBLk9WV3FP22ejOK9u6mPk77cxZz6RwuQcHaml4V06MXI/a1Tmz+uPeJpzJyG2Cs8KDnESizznr0KB2A5ImTGv7VW8RfwqSSV8g1XvZc6I0aNu2am1vGU0sfg18vnhlCaP5gHRyXbTBqXOyk1BXOl9+I/ruBRhkOhpkgwhsYv/iX6Al3gzi6YQIyvxRCk3o75hsAW/AhN90wn+MxjOGC2/RuoIaQefSttl9RmX8yFgVFZltZycmP7zeWa2ftM0om6BKwrIHhC4fM1pIVGVbzxwPkzDpBGzzZemw+KfpPBMIZ5d7cFTF9FZysHw7GCJdrj43Mb7HtWsscb1YTLQeqpOoMQKv+wSVf7C4a7fCTpnDs+ncyK9yyYkuIgPMWRYszDOe+WhQuO7fgkI/VQgCZ1ToGhoigzNbFr/wmP4riAMkf7ouD6Rvun5eUix/L2a4i4l5c4opg3XKTuaJFTPpJa6+Wnc8Ticf8L1gOj92m7hAT5X1O+aT/aTnkXyGapAIr78O/vVUX+gMnJRsC4DZtDsrHWTGzVI8Iz1a52zumAb/CjZqm6JynCkDstV2dGJ2nPOWZfiC8PnsvIw6Y+pHaUDeT0/7G6dwfmthzje41JO6ssx4Zv+3WfqZadqBhgZhBm6JhMmLJpmdiKr/bsfLsmGWxN9MlFPyEAbKgawgzFMups3+zJ+sBqaOhdq+Lo1CQgwzWG7fwmGfonDxrBwANUFLFBzmf5w9KodxI0VvrR74rLtdYmWOIdMn1Epgy+y2+OSXMN1U6Rkf2zobn92J/HL9w4ifywE+8wPQvtnbqaqFBSGSPDVTCyaEGszgHowIvKrfA7ZKP9nivIiLEonAhKbRYw2kQidNx4W061258AlBcvENnMRa2bC1R4859iXZOQrw0oMZp0t8/gQaxF0X4/MdyEFI1Mw3Ieqw3jB4WmBWhSPOaR5pdLUbDXsqeft/ciJnz+unB7d71+bHgkLVAg1g3vgSmw78sCfB1iFrVd+kCU2Fqibueu0cz2JNG+Pfc0USQXqNmJe2bK7bepGBYnqZysoeZ1EQn12LstUx7N2iYjL4F62rlBh/b17WzkwZkrMjpdQiXx9szWRekre+SPQJ8H4rHSmp1+hX6yyGx5PujeQl879bgRdMq4oPCWloLnUEkh++rmI8WAtRpmOPQHw2I2+8Kq9bA9lSmk8XoME/O9GTuGt5vc8VCK44DaOt0baVe4mNHXpaLQLeEnfRHEvMwfIR+orhiXuR0NfpLZF9w3VXcfjbKuj9RjQdvnP4JO2zLJT0Zt7VYfVR5UWXyqc1guOSRCBsunzQqV4MJTtwiNzGy0WV7a7RstCD5qH0B/D3+Sm9kdSu3OqYr5ZUUK2z8K3P9IRwOKdWEg1WZkyqxVIxsUIRgWBiVk7kErBT1Er1asjfs8bN70+OBWMCKMjyw3nsA8UXYmG9r4uuSb59V4+29VOQteI0KPphHYqRZ89Hh9/5jaruebWJ1Qxyq48S/1XzL9Z26NRKX2NCU5YKKSRtgxMsWaMIOFA0RDxiVNFXSzu7iSV142vzcPTwm8zes3AqXWyHm6lizP4XmzVINEbQBFRld9U4EGceEZh9DgMrb8dyV1bDksVwVf16s622nwjh3DnkLBTPcBZ5fo+Sy86rbCxJB/QXgOSyX18ATGtzd6CyEL31knLJFnmVe16FMfRX9/3hL7fowqqK8rWkUM3Aq3pvDWHVGEm4YNi0FZqHP9BB5D+PYVv2RWq4Nptn3N+Y5bUtQROzN/r0helGcMxGaN2gnaAg3UhBcEvioNZfhUQ+SPwpEF3O43amhWs0i1ix67vzPucvIY2I/2J16KCiMsFCj0Eg6GjB22vn0gDGQTwqDvmSqivNY1d9YK9EOlx5c6+KEJBg/7y3Ab5qXPFHXehaA4RYSZLrRwWi3nEA4BKFqYTs4XLJhSIO3iQhM4mnYt3Re9sZ0axYn8VAKgfKWBziUplzwC08p8aPm6nGDbLZTJpS0Xyhrx51Xd6S3n6HHvyZlTv0kJSFYX7W91ytjtLmq69rRSjS9FMFKRDmejw9uiDrx7pyNIzlsHMkYP2EEoP3DVf5OFQOKZd4l7yd632OrY6EtcR789bXTVEK8lDrI84gOiGwkBVMD+G9VYXrYDw9jDUWBHYgjQRzXdxHpX1NNeFBEDsg6rkvsy2dtONKWutxAieMdKtvYSAz+x8LcWj0zbCgtJNFTKJ3C0rOM14LqnCXKkJg2M5MDQBr5YkNFX0l9mFLmfpOX5jkbuwK51B/hsqhVSkE5nkhkci8TwTgeh1KeaxaeOgSWbFMPdY2YHucmhStQfJh0IJtn758a2ZbvUS5vKnFdf4oRr5AyAhwBXo2rZn2qi7j/3xWmW5kenSaLk7q2P4X8ao2aWtRTJEKPn1crb5rI5PP0ECjoAEou7HZ201yNQdqoM9wPkE9CgnfkjD5ymhQYLfR50TuhIOew4/iBH1Xve6DFdDJ+in1Ycro8b2PFFXPTLH9voCoOJ7rA9T9WOcQf5RRsf1CVyZeGBmIDDVOYzwqdTeiLiIHUlKr59rGiyceUH2F25UeYnI6HHmGkQAwzCKrYld2YNbcvUy1u9CrOKQKUuTUpICsGhkt83ejk3/ZYdwQcLBcjR0AuublHypi8Mh0vFtCk2zfNO/by8xP4OctnFyVglnCGjQtEzBnqqanmvrppUNd5EAtgHMkTruH0v8lPBx043ticqO5ywVpw+72P1zIeqLRIWVlqmPnxvqOOEA6DxIHa2abqApFnqxt97LevD6TZgyujCo13Lt0BvjiBWIQyIWmfDw0O+NFYTPiAJuXvD+Ka5hhYR0A8quv6+7vrFQR6OWLs1t7TKulDdRDPZfr7WLs9gZaWr9aFfcshAo6L+IRjjoyuTue4b8s7VUbvyRMqjl37/8j3vtYZvoDBJmEsVdjMnFctQlTxiULVmHGszfqNBq+Yxsj44o9kfhy/9vJny4MG9s3dOImpZqa9wkdkN7nNoxoiz4o7iVmzlG5rjvTxsbbgQWG8FqUfTMmJx9P2pqLrTT2VGG3fzRLeYhrOtyVO1CK1/c7iBiIGLJ+KTr7weLYQAA4qp/KakA+SCC5yLsoJnqab6EYt7n808qPUXNChYCoahEFTmGzo7PTXybfIQv6TDKek+bpG93rmOy+qA3Rn9VBkmJZ/k+M/CDURAgsytZ19gyoxfPwLy9bPQA6BLAD/GsZ6TU9J8PbP5Kf7Yk+3y0bWUOBvVX0zOcUn6ut0iLBUG0cq4dXXgF2jN2E39eATY0gm1qrUViz9LjjY1Tq9fKLErUTBMrVCn+DhSnG4d9ogwzbLZEW/PlfT2Syq2IXBI7CaZObjgmFrbhTqXAAfEsgYoLwsgax7YkrbyY7WttgAjFPGM62IhYABpDPsTRXMNfuqeOxOHS1LKZq/B2NUhmHO/p523tMGGoSK2A7r/MEx7oNQEddw9ailhumSBGlfWgKVgs9efzz7kjVWlS4LVHU75Y5JqGudFaBNsox5Vsf6diodZ+1uPxW1QU9hFhgGT545YcKhaqJxWtBOcKE7bOZzva5HyFVboHW+Tgu8jfuU/1vl+vIr6kRzZWdO32fS7w+BOWk7eQidjejkUvLf5p0bDbJniu8CsxjiHhVBve07Vrh90DpCn8ylN6QnF3gVV5rHx4LRGEr9VaBf0S8mPDJmBGQ9dzuHXA5PCFebQ3L0qOuOyQnhPQNeVPACyq2GvjmLc9jauVvp7IhdG5U2d5FacHwlf9d+Dj90lNv7fg3sib1eTx1cJ0ZX4cJNApXEYySXNYIQY3gkIfT3Rend3hP0Vy6let5itUL2VJ4YUyIpvdQIk1UznYhjOb2v4F3YaQIRvIRnFlox/CEzSOaipkzIXZsMzfoXDyeyED49rVNa9R1bVxC3sbAm87sR7UlCMRaU3SZaKEoaMoMBuh4n3JIdlR3RqvjFNv7MTFDgf/wZQ9TecsQzm+Iz9jswo7TwoSOGOtVe8GubxzY2josdiA6Z7QVb5wLwqiKUmEkBad/oF3b7HyNDah+kk7PRhhyJ7bb9TCMHB+jUx8nsjDmZhRT+tT93lEO9/AET+p0WHrE+ueLklbsHUxCwnybd1owUZR4u/y0QC9oBaIZWr38h9T9hGsMiX67FQ2U0NHkDG4XHP9tbkIE79NA45JymhWAtl/zvBF7nibSOZV8QRj/vD06INxOw6lIkiM4GmcPmUyYNSR4yxA7B9FyL8mG5V92VXanzVeGjm348+Hn7pb2w55oPN7hoqjMW3XyRF2v6+RH2AQQFsg2pHt1ZJTpKH18246XD6XV8mXMKyGYiwI54OrahCqnF0k9mPxB970gtozAMgDvZsEt2BhvMX+oXal5d+a3QxDGncUCxucgdJpCCxx0Dau7bOmcXTd3OYaHrxqFzuzFQOAERcO0ZBLk3KFGzQI1J25OjvAlTvOluWytdSuTw0C9v2KHwjZ8Mr9XIkl9VOVcvL6p6dNB6SjvLEM1ryn2k8GnFmMcndNTXyRnGOvlfq8fQcBW8w1wrOpxcf8rRgseK2X1vFOYyZCT9/KM9HEFOB8eHi91GICU6EyjD4ZHnW+YNUmI77HQTg5VgrreStAS/e1l/NH1vXbtB7ZjfWLmi6HMhqIgIpMKkYBd6umkcbgaUr86DxSgT4gHZNskF81mD3v4kFt2eG36aJ/qorGsrYeTHXHAeb4Nwu2oDYkkgM66A9je2tepcYUAcaqdyB3lU3xwiDomnnuDV4y4n0IHg2dHsh/jnXgc3Cp5abh5W6H9jid77df8ysmVSSdKVpPUKp/VKYEBzFukTG1cUy/lKJt4p3N8t2KIY/73ZOOR7LNtv3ELhT3BPNgg0eQFofoSLnfK1ZSUGBm2xra3evlOpTzTTnarB0OP4Eu4R6DlRS3397zAuuHOGsqXjBrRYBg7soopWyZRgihn6Rl4raLcYgZf/nfJfUVZQje2qjHC+UldNjOd9AlNof1IirIeL14aFPzo9hbaeXZwQOUWBV8Um9M5Cy3JAvatsBkF/Os5pScM2qaQAiLLZTWsBlq8dl3/WbdZV4/wE0967/JIICI16TLg7itPw6dIGFHlFQ1PrU9LTjczSynV9ltYBBpNmVSwHj3upV2aO/rJbqhUk0sQUGWpOV4y5G8S4Ttju3H2/Ykdn/v+vxJy+DCR2zUcpieJuCSxY/nrkxqJKxJH4z8hy/kMNJ5YHd1G3F2fW0nnwL0YfUtlAi9NkML9qJjdbAM39B0DnSjDWS0j7H4XGFJNejtylsgA9EtgPbNO6G8KEr6peGyC/nxZuPZRllqTJJKtuoxQQHRT+1TNcD1T6gTKPDygMiGJaxiHUaYs4w1NdQP1Wq5f/faB0D/H2RVIjFeHPuB01V6rlVXakOGgc5GWIB0tFMRD4jSoLPGcey4bl+zd6ImHF5tbvSZuZtjhA8c7TUseEL9Ok7soPCvQvKja5AVcsYXEe8gEGxdEdPJfx0X3/UI3v+j2JnapVfDxjtJdFfXJOHb3idZixViRpK+jubUD6XSdEMu5e83Xbo9ePts/3P47E1tTCR8+y7JhlJLRdzvkL2meekwihBouc9tVRVDMCtiTg8HRazYE1ZOO3tcWXfb698vfD9704Xg+Qy/w2RIINA3kFb/RssuRpixJELf05itoXHG0ZRkoHWEPnSF7Rl9LbRzl+ICSnQfEPNGibEIWz//Z/8MSkO8tfJS9TQ8zeh1j6Xv1ZXEVUp4xectW0SXke22uMrw6adG05sN/B4gVcom97Fe2iQS8mrupPeB7emnPfLUwdPdofjo17yg8HZ5P4dsrpgilIfGyReXeNtRv//L5S5bRJ7yj4DITSwHHSOQcHs17i3d48dpTy41Yucvbt2WN8lzZvfs0cm/8nOpxxxBR1NSWcNURJ8MFwjgPgIkWeROivCOowUvsLY5sGaEtc1QF3dIZYUSjIKnqg2BfzQ16O1nJIUVl+mOcPSbe5UpUJM1nVrhW66M1ai8WEd9jrjJqJiepMsCDylpuiR9iRgI8SL7PRu4ENb9XQVux7l6zpFNkN6l5HgXMWvFOBVrBu16Gh/kF/Z8DiO3yBTrawJVuI9Be3VcddE+TTMaLQSanzar7Uq44jgejN2J22Z8Mps8dufVtWuuQEq/JmL8RNBjtoBHjztS6MiG0NRQBOwRnyIRP5F4lSwunqNszKedCVBG5ySDN9JunZHeytcKBYTjmkf81kVbXOi5DOSC50v58m0dO1Ke4yATbR0YS/dKL3WUFBvnBHOhMU2uXwehu7vtgzkvDVlGIXyWVmvLW8tyGA7eY0sMGxRQZTN+p4/Klw88srUudIBePryB0D0Kfgzi/UHX8zuXpWd9NjZG0fwjEJEwss2gBuApHcZC0YQ3sBHM8tFRm2RFqbf9i6kVRoXTBSao7rkn7bvtoAzpVjbing2QtaTwKcWh+R25lea1UE/qT/11E2BYjAvJd9Yp8i0UzDT5p/PnrKF96uSNgOydc5pFYl3/rq7Xmy9dZsb5LFHZExGEgTrufj3mV6k+jxwCnfEX0qtJhyqBjPH98wDz0ACjef9CowYZJL+q6uhcwxHhJCX65xEoJIeLW+6vYyuIJyMWWahY24URrLs4lI6kpButUqtzvHUkgqUd+CS9nnA6VPIA3WAd1fzdLsLNqeieCg5v9XvcFqC+si1z3xH1t80/ilZ0CX/brl1oAkPVm8AiwV3qp7o3iQXa4cNknrVTATFR9462zPuP9dF0F8tqrSNEpTDwD/RVLGL3PZSvgubLu6tSMUuFXT3xhgy3qz2+Hx1EhPcSUhJ38uLAKlNYGph3Pbn1iPXnqLoTVpbaH683cj5BL5iiylXHnVB8iOkfbDDp6u5AMhROPoV/h+GhWEn5MqJUvigfiBoA/fxUJkHIrfrXdqLC2vo3KSm639Q2lO8fO/iGbLqgdhZoMXhUxRwwrwCK6up5upYEGNci4XnLkRB0UdrSfPVvsBtmMkM8WwFpr9jFF2bEkjgPAtaXXoBgz5MIcwv/ygzIU93QzzL6CT2wcMvsEM9pHNovZZnK/7avaWwm4HplQzxTCh01fIlX4fd35tZQLD4pgmQiYO7W3mVlUnGVPy0xzAsYukkmOOtTU3sWJ5W2c1BubtGgLGHX59gkFEMvIxZpq3ZliTUIr8ux370GvIBdr4QRxHpFoRb+oUJviT+yHnIhbcjmWE+YgCBlEAjYuQDteK6GIjN6qJJQtCq81ldpphObv8FHrwgfaBbfAApEY6hPKByB1Vj05Pe72c/z47WC3N8nrBIKCVaDt0g2wLdHvGIWkzJa0AP0qREAlXxAmjE7fOLcFfsW6c40fZwqvYiY56ZuT6FMRz+Vm8WahUuYgZCJ+d8NgYab8ka6ujE0uPYFIwl7NtLchtW09JBhcTST5s+wC3iYwN4O/yLm+IAd2CCmSf3KZPaSURACrxgIObO4/mKmt2jyqe0KvWuXfmXKK4oYMQUYAJI1CWzzGmxdHS0+HPPlDHSz7oJxwMRksX9lnDtBPhlg+W6gBuozfoVTx38/4ALwe0sfZQ3YU61SyQ2cwsZ7oWBGvUuDqRxctT/KxYZ+91+NGrpNObfONP//rldLalBPYpfxk9fhannk46bDjdSx+yoG+NG1Pa510ph8OICuNBG0opXFwohV/AxwDSRBXwP6X83j/Uhu0l03gmw+ILRReRwTtl+/3w2pNK0MasL09yiqhZGkrA0AufQ+sQ30uOxitdWqNrroQuIAkvuhwlTWCNZZORJDj7VssJev92Spmm7oXbeHC1xqDPuIWF3isyTtCPd7pxKlcRrJsFDqPDt1pPoWs7z1kXXD+BbYU6wgAUav2RZfdM13w+6Qqi4fZgED0Yhfa0CccMuMBylEvzEtvWke4wAOdnj0y13JQ6Yr9YnfaKi5xsm5+8xl9e3FMYicwxc54uN6F3W1Mo5GN4gTSsGq1PQT2CyJf6I0kY4MFdk6Uw9ldYzMYEMeQfOXcSR+u+kk55+pIICb9Db53ZWrCEsc7wR3+qXUb5eFRSOXBr7HRDRuBMsBfRjdeSmF/Ayr3B34r1xEQvIz6bC12r0YHd9eBuOS7wHCFpiFuArF1Ycxwc8KLvP0EZIT/1/dQuCRQBF4BZFSADCW+T4DInTBTnZYyqL3EWru/clo3ZAg52UodtvARNPNGSAwcahuxcT4z+2mVqJSlooKha0YP9BR4yDd3B0VVSn4PWgsSUseh1bjczyKEYusllvq3N/Aomk9SxoUAj+OchN2f/x5UegBqazLhXLWm8t3+k+hCm9R0jXoa63V8hAoSZkDGNDIM7tqfEupbMBTGosQ+FB8pobSHZ2HOLQtjPKf2aMc6b73Qlv2KAPC9XtgjQkqGxX4/qI2vsD4SX+JOJam6gdobLKlaKT4eFnvpFCb1y3eX4lTEyiJXInFjKP9iMcGw5CPqqFcD8gpQbq8D3KAlEZ8Lq6XzVaFS4Mfh7djl/OKsKpaNLoAoCEGYDT5YQCb7QCd2SERi+G0rHeV8jJihnDVhW59HarGxscMX3CzWPjNpCcXx5qAA/zHHU99zlLcTFg5AEQ0dExqzlkmwJ2zkhiJEIV78NTNWpm983blKItBLy8J21qLKX868iko6RU65dkVJIiKUg6XzImpeAnKZDC4Sa6MbCFnpUTyJkAa9stx1GVAhWMpHBKgdqi4K9M0xwvLuBYeSfAo7UMds9M2FuTnP6+3ZfENN61XW/Ak1d+INHQBfScNrnPtwFBbZzElqtIGUAQrmdu7yvxv8lXWHocIpD1uCHnx9Zf56Lvr56SZtnnD9F//gI980rog5XphM9skQeMJ7qo3ExbgjjJthlSiXh8hDzgcuohYQI+vWd3mxVoLC3/GFOrZVxahKES51sgDsitlUVL1i+ydclMhupHaV+yqsA/3IPNrQy8HiYikRgCxrF8Or9P637Tz7lL5EH7t+9v1HBloB4yR/MLjezdxrjFy6HU2K5Zt22X+34XThM1HVaOmIntMRCs5EkTtCn6NijkLbD8CJ16BgvrLNy7I9w5wGi7dl5CptJQFv1egb31jtym3XoYbCnPMw+kVIuelzFkTM2gimoqBKZDcZPmT5LRG+GR2XcEtnjJtrDKiOD+YB39Z0Hb6PUOQLsYcZBA81IEr9GIPVv3U0esJEkMhs8gsB9gZcg/cu6ZVhhEhNLzIlM/NNJodi25RELsoeAI+01uI5sFpGp+tczSggSDZAuxTC2+PSktROgLQhstLSC+iuQFuZnAWA7KbHFuBjmaB4KKjvdIzxHGJQBoHkHkJwgkViMFtwp5oNwx321HtK0nUDMWMPR28Uo2XkE85QvPZ5RIVgTy/a33XDrBL9//AzGq5l+XQLFSgM6LuzRTNHQlxGkFWoLrlaFd+Rv0VPzq3Rr8K5FEI6hIVsHVBJFfFVqBgf4cfWYQ59tsmGP3i2zgDFwGhgQJ7V3X9wKH1sL65yaD91ji8D/kbJiU83/KJJedre7avwgBjd9p6HinQNdyu3TKHpyiaOvxaDN5a6t+L2pkJT/2kjdtA9ZCLM2HIzLg3qp9dbUAE8+QKRHkMwapuKlGanZcwbRk68XnKfmWxRhrgYlTizKXmSpKPRyArr3ILycE+IGYdaciETkWgtPdDf4ix7fJArVb2GOdSzDuMeETc6EArz5RIrhTohnwq2ysRY0006y3vGGNC85NDs5Ec3MOpw8xkIydKHFz0Q70jq6pkLnhLX/gBc5wmvoTmcOMiw2diXQ8WdD8H76LdhKobfepqInGKfZ20BcVY0+0h3Iiwjz3FND37s7mpEBbpflfCEh83q00NwWXjyE9sJym7NJlwzOBsPiDPNsXkgv7x+Mv5siAkDV7h4TqUPe33+xQ2ptSI9bVTbW1B12ZtfbhG5s2bexF+1ecsYrjwLNmHS3Q2jrMLEyHN9az0Vxi5K9XKb08cIzYMRgBGNpJ0LpvvGn5wpSVEZKQ4TxeHeVAv5KunEk9Jn2d4wNxvyZNGNl1koFX9s6R8Z/Pqr0xDOdAL/gdoUmpKy39WxtJF/qNAoPsaYVq4YZFIDLmGWwGyl/Zt5zAnehB2ruoSgmFQFjJMiQf3dmJVVC+IC+U4vRKRww8mileW1KOArl+iHdxj00Xxc//dPXVJ0IwsradpmK7wm9xH3ewSQy27g7VMfw9OEmVDZhRTj4YlmfcXpSJ6NX0Kjk9iJsrgUEHtLPr0tq3NL9eVajhXx4xFB5xh98BFCX6noZPJnN2Cf/Oupc9VjUh9+/sPAa0ZRiB0ESvCjaIWuWePFFwcbvgBvjZEU89bAqz1UuUle+hnMIauSCNNYM6JgPais2ogVQK4zHddkcqu7P+QM+VfX90r+QZHrR9RiFIiRLHP78wOFScUJBNKaHXOwJmdnq9WPfL5oOzQI8WpqcSKWKV1D1KhIuzHUujysQRgqLHdJNMyHyV6/L4AfSKmSQObUzaBEW+8XuAo1w7/CCLvDQ6YFuP02iqrt829eX4H8hXzQ1xGSlc05HTHPhiWblDNPetx7tlKA2pIUhc/b3T+JAyYQ+M0x405nuNAEjSIaWOz+GSnXvlSjwv9WVtXo8Olnk01P1ucbYqKrFGOSGggSzfWsC6HLw/edBz5H0ay3+WwOss6qKQG+qOr4XJeOE6b8xBbCBpBkiimV6NKf+JU373OtMGdJ0DCxBOb2M1+OiCYTeiebCdYVc/hZ/Gk90IGw/mOb5/ZKJ2ngq2a6CtgPSZZmD1pS18wDZ1tVks6NTdPWprwG2w6mcVk0BUhuvE3wxEI4kefDr1+CE3eCv9weDOU8gWVuj10pK45cexlWsfY3QKM7hSN8084RLAWQ87472SQ/5nptqlHwskMTb4V8JvHaLxrtyjYKgOqVMNbObaFvbyUa39904WKaxKSyXIRKOtSmg9RVh2/vkAxebvVqkWvv1Dn+3CaT/illLG2LEIfu/J1eFVgNjAIhVKBlxB8NHhHsDBbfDEZ7f/C5v3vSJhQnOIegYqd37003hIHU9XPw75jvYAT129eZxjWAsos7C7bkZ4jXtQRs9ZXmyHaQmBHa6r37yR3m3/qHfmJ6fckZ3vAazs74AmLmCXeWwE2KKLfZ7T2jR+xAg5F4ELniDCf8SNljgA4/mgiEtT2veoWX/gz52rPVfLjtCSIqnMIuHXSPJxicSHX0B8JZPUZAT5P9h+hxvN1ZHS4kgfpNhQZ91HA2E39v65GfzXgFNDzUF3A+eFdki3n7MuvcnQK9XPMqD1/bUNxmS9vg4aGGfuD8b0miKeoyEA6nxSO2oM8Gg0tzlPqOduleAHDJ/oer6iS6Fc/VBd5qfN6wJEVija4mxAlVAUOH4c6peTlTVs0wXyZyDeh4Z6ldx7pOW/lzsGPFnP1OtaHztWdoBInucuZPXx2AcjLvcH2Wf52GkM3m5vf7FPwC04V9V8YwH/sYFdLHQrh7Xl0QRQVmV6rgIgA7NhYOBu4llqOAyeYiXKjuskNLs3IIgc/EQWz3TBzicWRDMipVKg42TNFGlf+aY/8SSsiWXaozHaoyoBF6GW0oNW4SrykpsE2TEkv04G7JxGxNyCtfrwaHHKlMlVO22yEveNKykgGpnpnhIsRJTpf8KGltu42jNVBGn1iMMnQcjhAfpO6bETGZ3RCpAETtsURonX7Ugv02FqY1Q3n2ZyePh1zwq1PxInTtblHKsjqorg12/vC0nHsKs6KWO7/eQjyEjf/1H9VTt6qGgCYCKrIAzadT/syxqTC6+F+AldW+voIe7hhAWgahqYCHS1moTxVsCZ31ZUmH0CWoMA31kuxoBVme+tPK6bVzQaUvCcVKZbw/gk6p/1LKrQEmotrz/Yckm0FOBJNdHrrdMahUJYdbFDOnaplK6dWOu0QjPRjeyzArTnN0m4lQi4auV+ggHFQPu8MtcNY1TLEPmAMQLvTtPmZ1SI/YQrisi32k9ZVKE4KfONPAecp28WY3h/1s8biPlAkPn88EPIXXJA7i/GYTo6XNmd7E4SZJL/pqBCRdkc26O/RmGY3M7+7rWj+E2PmJ0nkktyi11E82Wx010V7EpcozWrrmQxp57oJkaziqHwElqxk6hbsY3N79GgdiY68/aOCmDM8tPc0PjUN/dNQEN9WeIG/WOb5zvhiDvapK8WgWP8jfippgqnD0PdmKTMUV8TZ625c+j44Z3VUtEzrNTaWmxBhO/WRcwADEhRrgGtPivQlYF7WoXNNQnlFAcXo/Qq0Op6nroyDewJP7evEuAaQM65kWfYT33bhwzWAT1SFAhc5BqyUgx9DQ4bNcGY7+6Kxl4mVqxY7NzckOUVlWlpylNADJgcXkpT6CvgrDRsM+z6dWoSutZzBsueS93xNa4GT8tLAKrjZUXy7AruxYyKesWerO5kx7lwyGzbbEK1pmGgsLjLmGpQXxsSdUVCMUNvpdaGMETcePU1kygEjQi8LY7FLvlWWRa/TZ2QBd9xt8XF+N4d7I/vVueLNXV31NljRSK9pRhNYMtSDp/sBbvCjjNHgPpwuYPdlzSm9GSgnoTw+xLXI7kmzu+GoKwVPtPZqe37HpKZaKhezjmuNg/3uJ+r7WgCCrTgWtcLRXJo87NSTPeGrx+kF/pYC5i0arvpTjgwXWWFob+qebyIGvXAFp0fHlSOz6EBBlIF5tdX7udKxB6QIZaz2EOB0jCALCunFnycJN+ZhomjfzlZKdC10Fj/+RV0PG0NLHYKw6ACU7lrYlk//vZBPnE5ToyHvhywJ1Ex3VFZCdBMrDOEQqxw8vddJuM51xycLXcEnI41HdfHkYPvA+Grf4a41TANWwcQay3FIDJIuKqYrEjLm29602FECnDWds5e/aBbG78Mw0Mq1vyZEL1ANXTZKJjny1nVY156yFiUDLByJ2np89cYBvHmq24rrFhFCzfb1fBVWxx41ilpPJ8Vjt7ABUAB2fZXRN7HrIwuRkDbZM4ho5JCskp2Nf+caQ88ilV0CQuXq2GjbRQTYGL50iKJELpYoI1/eBK5SojFHY3FUd39AQYEZYSylWvM4iLGxPyUVYwGlfWhKwvvmd6omEQlyckCGzKHznJ0TuQndW4H59Ah6blJImNf7egH9oaf3hK6/WJO8/WJWWMpQeKinkW1Y3RWhz6D2up5MPy1dNNGAusToCHCaE3kaywRZ37letH+tQFU/sWeQwTloEePRo8MXzPPFBs83kYrtQiXW5jqKeFTMnzz0eH2OMwrlHrsWjovfPXmUYflhlFhFk8pTrarzzR264yPGFXwemUBLRygumaE4DVZefLwGm/xEBvZVrF0v6hczKOY47PFpnyyok4YwF4iMSFBB60Mmi0T91n+TxokvpfDe00JMA77EXtH1WkJQQSyR3DYBeRHaFpDBW5Gh3YDlRxy1Xl9fjXCZ4ZQLJQXTzUP2JTDcVxMgNP/jzPzzL42uzBLtxYXCt3I+vv0bUYaMfSHA3O1nHA7m8jCFiAvZHfZk5WNiwIxMGYW+YtK+ROTWqxppizFQqLGebCxcD0VrC3B8qjthQFL8l2IVs1Q+SVUY3agVSgiYeE+qVvZy8rSyLnlXCkYeChSte+rHXm22/ZLeaKfSUg7E+Q4hD2+lgLsVCypN3axse58btROpJ5MwPPZAaZSFcka1rwhFBH2vnPuOZYj4T7rx2iQW+bjYO6ecOhQ3oyWhw1mCY1kT+/j8TwhYOHKG4JoHgx97brrt1eoBkHehW0wvT0rVcH63+6ICAsdpICmfF9KLOesUweCUPsQUEIrNdZxnVbiu6GpanniMFNDYKnhqtmXEYFhOJd9r/MsHGohvbAPFIOS8e81m8ZhTNRnevaVdas2puymKGzZVqVidaaK9TbiZIioEG5kUTXsma64TzUdWkY2u0HzEFU5Vfgv3JUoHPx4uGoMnZG6lQCa0wVHt/ALpbI16IM0vxh71BMpczXNKSFvDC9TdlQzqjGWB8Tj+JJB1hFbl4enwUizAsPpYTaSWeiifaRoFhKJXjlV6CwPz4PkOzATByG23RPfkUCGgTIppgs1moBh3hk+t5J401+1ieVUpnpk9c9wEQczsUiLUFIFBDQqRNTU9Nd1LbN5NV8Nk5ZTMZdgjgfPK9jDAu95jiWuOMMzSaIheB4wN2hRoiN4jlG4y2oWGk2TzWso6jIk6GCXB/OoycGIh5OV4p7EDDqLaSwFVDP1h+iC/XwMGW4MWU6bLc1/VUWxokVPOFXnb/9CjNiE7gPfKBSXaIcpmlh2w+Xn8x6VhMfQ6+OmiJkpBKqHvrocACH4TxAO4+IAynxtt6zf+OAQWA6EiSTQy51s5eFxLi2j/BxkKVQB8qxxAi0h0p2gS/5a5gwOVaHP3CHyXHMaZ3ovfch6pUhH/OE9VyL7ZM2Kg0xrRyz/ExhVhchTtQVWRhCmlZk1LWD3jpuCU7yBtH/6H4lSsdGo9OckSl7bVOJ9NlyF1M2h/bMCi76mZl2tKifkiLtzT23SiqYiUWE5vVtHIZtIMAvQ/aercBZMGS5wAaWvQyXAmJHm0LoGvx+4DPFXdzl20UqbqoKdqZjEejm+d4sa9xS+FMvZ3nUmdOzVt3S55O2HnZ9pnDxNs2bGR22Tjct8hfg/w5UvZ/mey3Rx5eKNdm2/iW8SMUkV7WUuHpU66xZLUGuw0WTVHRw45hKE6o1n3IU/nJxoGBmFYrtywV4q3E4nsDQ94KwBVnCxxv2AkTWybJGXsF1NK8XOEFuznfGQqaiEPYeKvbxp90WxS4NuGZmczmYCY9cVXDgYuQ5DxwQZ3UicE1iWW+OTPtN6/M0LOuvARiJ6TG+JuUwjSpAlvyzwVRkfDpUjkOlmk1i9shUHTXnkywXQJUNZQjiAgZGKRRAJ7PvXxp6QGS84/ae5RqAAdbxElxgU2QGS2uxvscCPemZfulf8kITa1xj2aW/jW/fKValyCuwfedMjZHCquHh6HCZBfPKYVjBq7on0KdkeQdROdTIszNCxVdDvBSKL2Z4gvpihXNrQ/0fVydXOVlwkSdPFK6HhD7/xaPi+OS4rDCoY7A6W+YSLsFhOkiY/i//kZH6Mpe/U9uxHH8cIjEaz9aFJamn3L4kJN5+61Ne4x4i+X6J5tl6Xvm20LYz++JHQ2Ci2O6NrNNQxvEEB8N4IyV7mhsGXx45VNeTaJgiJTz07pLLUbh9G4LIpBRcqDtUxYvHusW2OCZOEw9LD67gkb9a3w3LBjN3N2W0Dq6TSr3AGURhc8g4x6m0FOJpiH6OAHtKTEN2NKb5HhVdR2jfxC32PL4uuD++1ZtYoegtRvBEyCSKhiAD+tTL0TuGH3LwKIa/eSYxAaBqAOxvU/crvjPlVD8AZ6+Mxn73lv/Iclg6ds+gIhufF5c0aRsWZn5W/mpfw7AVgqXwmfbZZR5DgYRDt04pywdyE4Oxsr+UpmhJQIhjPgM71aGpvR3Inxb9NlkLSeKi26AuL2fBq4ItAqo892KsAMjLmnDOXBQ0LhGbWyaXGciefBcrP8cRzmgaPTWen8D8BTz/qyW5Dw+ZhJdVtn6LQJkD97z9mU7km7646abZzT28gJUl2QAVnedCGpLA0Ycpoq7cxbCqsZDp7o+61EWpRwQmPvqe7JJqEYmalUy4NdSNNDy7PQ8oX/7sNaV5l+2wRP9F1eUPDywwr/3kb4td5/DeQbxCJrvIAb2FFZq/wXe2D/AVG7JX4X8NeloO3chADSTJaLcTHMqTE1G0xMLpI6QQoJWG9IrlE2VV07YzLQfzbG1BLDkCnZC7XjmmOvMa1GXiRg62Ku0zvea3yAPScDIcfK3FX6/1Aan3b1xxZFf5TqLzrFC0yTUhRIK4o5FV42vEOtsfk+k++Zh29pwBS7fV0PUxin2YzKUI3w39tl21eZEg2e9crMns0o1hOhGPGHXd6geoL2TB2OzZCCFmYOa6f2K5sxfu5D3lXqg2xHz3oYJT+RTBW7jZmQS6HSppDzPNNBRN4wD+2q2HMCSySPeeHTNX80MnXWfwW0ieSmKE+wVfRfvk/TmccYkYzKyHjIoMl2MLo9lVOicvSTI8v/aBGN5oEyh4/ufznsaYX4n8vIcuCoJFHB5uVh317f9TaUpTvikAqXRZX6cUqUwQi+7trtlIQ43plzTKVndFjiifwKtB64ESS5GVuwUbBPYRCyKJnL2RMpOPL386W2w1aX5IC9p7kI55IkgIOp9Xcxyxtfu+UybXVeZk/ej7qmUJmaldOJ3PpXuDFmBUnUZJKSyhGhK3fP9kZWweAVzVk/i0HaVMdlYzJe7aiDx+rUm9xpKjOoR5AGyRhsdKvhErK4RMHSNNrr4agsQo5mO0WBEGohB1TcdvggKDsu+0bFaKwDanXaWQJJtiUjyDkRvcQyFtBxge2bQNmcw3EHJWaNbteCWcV072PzHyq7O6+zJ3VV0QTB4ou8c+It2W7E8ntQLlULZFEJrsuL+6T6KhSpBd2EY5yYYSZSnH5yZivm3NdVvZOWqJEMw36o2ZB8XHFT13Z0vSSm+vx3pBZVA8DVlV3eirbgDYhxopIqupdTzJiMJE7iaAMbvXlpOTPrBMjiGduxOO5x+ac0chU0GeQ/O5wHxWTENqUp1+8k7NfIv4dVtLgC+WEOWjUe1Yo/S2p2CWOtuhWOoOkGVIn1Eo3NP3rw/MyDjcrZfz8RfBA0tBQ5y+sryDONKJltcs0LPz+IFrpfJnHR3408ZjgG0ir81re/nXPeC1pk7B3kqh/nyuaQYOAE72FNgcjnIo/6Y4+0cSgbRga/BylR71VqvaQrxPKPdXTn/Fa4GqxVuS8RLz60sCn/y4rTQrKUENXTvZ53Naa+auc8Fqg5JyouNN3cjau7XyLyru6pF2NgbhExuysrQPN1k9bj+VsZBDSwl3eUxEtNk7664npr5bYeLBr7Djkd/+Be3aZWGqFMBYHhgCJVxluObSXJW9X2pNDt14gLXh9SxBQfH27oeq6r95Z/0XO4ENpP1jyL+NB2gQPx/ePdmGiIvH8YBZuXStAZjNcIcnuAfixOjKqs90z7IbTnGOW0ezqWZfI4KS90yib2lIO2jZpwUpBolEzaHNlafulvItP4dL7u9+nzH7TPpyFUZOiM8sypY39jqjvpFTp615NZiYuO0r6VkZEhPskcxQIImYW+PpW9hU3EUDk/wH9ZUBfM+rkrPh2Fy5EtenOxkdq1hg9t5Gby5JFUQALKQK4hMR1wyGC2p/55rtdJGrOAc1LeasCB2yarm7IIZ3uYbLove8d0HcHkVCCe2XbVc9PZ5fA6ivwZUaOY0fvNHZR0BHXMwSVs4T2hsthyA6HvoOcfuBMGJjucj3WpH5iLrhuPL9T5873XbeUP53xwRiRGV6zd4yfSR0yTYST8JZsGWq4r5pZpDkQhGWEnRTRPLsohkf5VKUcAk1dvgXj0yTP441+y78L5FDQNJBc3djDn6RQRLDEQ6GSpwN7ARq4PQCQolSftie1/PmslDhNJXaogplJ60uo6dwRw+m8Xlb0mBnwf87i93Z3JPb5hbVQFmdLTLEbF32Qz9msTsxMYwayhJeyHdPClfvzaf1IP8SytU6PX8Qp1r9Wp4myG3xIlfLozprYLnycWxkqcNz3Mh+J26Uzp8gvEZcutEHQJg1LwnuhJbTNPnbbv8ZH93nlxz8IQBuqowr67cl59eZYKHKA5w4a5yWFB+zPgmREIW/qQ/TtfL2h5eQ0SMeW3TijNmqSm2WEUrsamHKrAf5X6hUEggJpiW41B7iKOXfQwX7EFk1pDP2ca8AHIMv8JFXWnAAPn6Aae1Jb9S3YAUOubI9V1gclHbOcnPYkERNhDlsaRA+fcAKyIK55ARF+DP1o+vQ9ZS2LhkcYBoYBn+eZpQpIGWz8sN3+kfHkCmD1We2BLHGFEIKugIUiogS0dG3E3vZAvQpxLMxm/OUc9MBfhBOMraHIZz38vx++Bw0eTRBysGLr1yudAjUHon3QPw2pJyHacxaGndbEoKT7bJczK4vbYDaezv0QJ591vIHr02jOZuliDCTluhPKZssRkDgGqRv4dNg5KneP2U2Dtf0SZvEIZTq+1e3LPbxWVtyMQhN9Dm5FduIpN25GEzDK9ICdyfvjWA+kj12zmBhYXFPFEyET6OsM1WiGs/l2ypSWU/qqqJ+kuIEC63uWhiihi4XUKLyEhrgxgFe2lmUSohKeXBW/Sqc6d/Ne+Lb/pWaK2KbLPIOSJkKZm3YZcb4xRD4N7MBbZoCfGWtyHHXr1TLANIHTF811LRY8N+/278DtceGK6fvljg0DAsCavtz9KWCvcYfF7HKC4xphECBVk0DR0+NIPRlufSvid832TINbHnvkulg4QgopGE0LU8E681mI28/U8fOusubUAqoGfkWslqs9xO0ttbxOFtcx2UfRTIzL6wtF9HotHbGcEYFuDEa0PuBVmcn5KTMBAB5V09wS6DQmQj9U+IFXBosaYUUzDYxs+bVsVDPgz4SIfO6MBXRrl06u025bbL3PSfeersjH94/U51vqOsEBpVc8aEnw63GwqZERww/YL4+A41l8WNEDWMFsYMqUy51A9c/qGHt1i9toRz5DmPX5p7HG5Luz+nmhnnBCQGYyoZ7weSXS1EMGuHij/zC8XCHxlZxyHjdLTQ5bEcixq+Z/8gRGZpShKu9ExXJ1QrDYT2ww0X49a01OJ8KOhR4e553zhyX+X6AW49dhKNzaBymW0kvWCsQuGBy8T3/MeF1+WF2itAi7g/usfo1YK8gxoQ/zpfNTsCxew/XJye2eJ9drLY7rbt0z5M4jxXVor4S2oRdvec6eBmqTWHYTkJcOe/Iul+IHiluWH5pgzUzPmpJTRXggU7ijQWf9fhsM9am3Gwhg1TvVeJOVsKRsZkj07iQtcoKPfMfEPxXzr5ZYnjJMhsgRTDjkKpXhu9GPNwxfJ4b2TAA/+b7Qed39scK8rrdvPvBmkg33MfIrpEadeOTzGgLcEF9RQrUUQWk1TObzCTAmQSQOjMjV9HibLHm48Kv/ZufJjDq4Y5mZYtlWxX69kQ7AF/bF9LA1Y/p8Gh6op9vXzhPhFw0G9ZCJWcG5TYgkX9bEnrWNVAEYs+oXOKczQPFcWsOP4h0nd34vsfi3crskEyfUuW54OeFh3rgYf+i2gNzGUufq+4kmRozUbHjGxWSFm7jq/VPZDGTGwKO4gda/Go68TbiU0OZ+QPEIlC8ZeUUKacood20QwGdcqDl+4nIAHSnDt1BnckgOlACjhGfqi+x0pWDLwkJSKEJZbbp7EnDT88F3jeG1FIxpjmjr9W1BB8EjRYUVNaxHB9ZLKB/aY4C/5BpLeS/W6LFEFhM97ZT5yaf13OrZWt+eIf21C2z9RMenLztmaYo/W9VRe7OlMOIOdxunEfFBS6DbiUcFzThWgbtixteHwnhCu9+CnwdXsVsdHoSzKpFQZESbiCzncBZcuXmsWzTwBlJ9E7DU3CTCuPLcrfF8w86wx1v6sUTOJ8RM3nNyFooxtLcuCaPOPOubOXCCWmCJrHNmzaXrg1WiuQ5M42Ur4BEc/XlZLt0AWawBSs/vA3BaQevdz4ecEky+gwqJTyFQBoKHSq5PBZVqDty5/PRlSRpSMu/x+kD7LlveBFBYbUrYW/wBm8vLnsuLCXFBm2k20CIhxKQpaZ75t+QJGHXfd/607pyzQBnOyIRJckYNZ2oL1g3C30de5JbjbAn531i2zWD5X+IonUtBmLU7nR/QKHdeikhVsxmk/q+e88maFooKVFFXrhqHcOvcd+XQGrNxNCAf8mNEZ/WY1uBh5NPyqaeW2Z2IQs09hOUfDL6x868ZzkG9e8yxxKZULVohkR3G3N5Y8vX6SFx9WD1NBtRzN7zG5QhMQ1k9odPUB8vSCtGvnHYRTU8t2VcTLQ2gCMOTrsWvT99Jd8r/4w6jBH8D6EqhZzMBSE9KkzgYq9Y+1mmJidniDPj9s33gM5EmdWZXBL+LVQsxVC8Ml6O0q6V2kzpRNsjZ/Ho866osLakeSu/a1IibMhiYX/GKUgitPWHmqLZgL2dVcLYP6FnxQlHx376qzFfIjNfXzQaGFzSo4QlGZ6GtGZroY9Gu1waO8brd63Cd8FuH3tkHBcbpds4f7H5xmPPIluEKzBFK5gX6xij1g1cBE5WPjUZ5MZg00UWFvVP0J2cWgiURPT2p4i7LxZizLgM/6RWwhRZHVdCHJSHKUQ5o70WU7CoDbrEryradPbm023ntAKOk+QNOjO0s6QXAOV+ljXuNn/0Vuhf6tHlibn1Hroh/Fa6zOTCYfleukSCWPBD+tCjdKIKycFcM1YFkg2/9xszVltpk5ielqmWybfiVVWaomL1Qjiyrjz4stwW4PE16/81H2XfWNG1CD335gzfv9NkCLR8PvWxHFRLD/jAuaRs0WHoU6Y9dClCV5PFiKUz7bxFLKvpInTd3IGq75eWFVZ0ObGS/wvNQrULWVUOJSXdrvR+9vnhm5vpJFiB2sN/RYIUjNGwcV5pxNsYpI0lY1uCxfFtqBLBRTuePocSrzNIr2uITI3RIOfBOi9HZ+i4ZJJaENU7+dw5cZBLIcddjFHtEdMVR4oLAmTX7LLdnb7/NmJ34faD1Su7CD53pijFW75uUCcpoxvsaHGxr09iDx3AB+1/NcfLM3l/vlO7IFJOYsNNVKk5KRdzNR/tctH47ryiX2H1MBX+u3DcSUCSgpHGXKgU1O8w6DPjfIUB1qh0MJkF/UbPMLzJU18BIc0iS3PXPFYrYK0ujxb8U1Q2y7zrh3dUHPab6yrwdv11gS4vKqSaDQruYoM8pRqY/2X8GS8tsprrU9cNzxP652b4NR37xf9QA2BjeaAvg3DhGYAPTocLWcrGMRlyHdlVNgrjGsgoqu2137Mx5o8EmZFQllLIslsBhYY1MJqrlaKAPeT61cVXvUhbZQFgEOUqfzwA4lwQBvHoNjYnxIoiojEgatFOpS3XETDXA6bLK3k3ILMiIubhu9vDYf3J3ndK/3tYtquAa0U4mSSWmZeiW8SUrFe/py1mHhX+GcmNY9kYtL035W+0C4JUmo4on/CQZ7CSThne5Yy0KJy3Gt1DJ9L5f6eTEt3MuM/c1e3FV96QRLUo/saMJK4gHwS2BKBRSBt14Cz3Q5lG3E/WiM5bD/aX6b2iaXBYuPHBBLhD2VOkvODNrVFAy4BqeRtdzkJ+JOqHSi/GLxciQlWooUpuF6Sz5uI7c1pBsnPAabVqxvziLqqZSJeWfVpod0O2IXWKRpCaVmp44iS1WPoHGN6KS77gSqQAr6Ik1Y71mNmoYF488inCWbW8csPlbQsqVwR8IsE4P6PZUndg2fjL11Jdu+slTOsqDTQjvpe2RdLeXbFPPhsa+zU4qU3kPmCd1x4IgrneutuZWPYsBT9m+VItZecfIyalvReCtUienl1lOvOlYylQreX8f6oyFlTnSIxKGCnugVI7Ap4DZdri9iXkTc2kbN7/i906DzbmN3Kkj9PgP4P1ZG2rHdS+QX9Yom/5XSrzE1sU6M8RScSBBgs3mTVuCgmJphyjxHRugNY8sGr+YvAjgojWknlGzYCtRCBpBvnwy0B/Z8BQYZN2NbYberVCqftFcAU0E2HsLIryCNnsMFyir7GKslGyu65DPj8ygwHE5rhLZ655lHprgWPqsiu1VtJlr5/VEIkKBGjWmcHv9M2C0jM/qUzgv1ynY1FAMPn7Vxhj3rSRpHgPl4CvilTwDzwKLtRJ6czjv1Zx2kEYYM3faTIwzcM32Nih8G477AVzhujg7PBR4WoNl6qEbDmfveWqzj26+bU9nmL2ZG4HhVxE5U9/1Q0y37XCuII1X/G5GqzqAJk8BOFxDwpp9GmKS8VGtKkLZw+kVOsQbZi8hE3xaIdeODXvVNkrQDOMXwjVrAbF6tBOWK6OBJ2Iym66ugvylLb7JIp1xjRW9lCDGhDUOOynqit5zTUDUHO+U/zbiZU13C/ls9bDlVw7NDxi1/72tVSJsVdog86t7MewGaoOMFOGZpHJci4dE45N7rsmuk6dzhx0Jf98RmgQfh7Lb2kqjxmFokPq4mOf0GwFiS/pY3gxeHTeZOOyH56CYG+/Gtk5NIsaxGLgHofoVEIrXKWHq3LreXUWiR0kRsBbX/BNhTAnb2IiXzSZ4NP7ZewnUMymi0F6sB23zV95wyYHRWVcxTyOSAX3YsQTokgNsdamsGJXFMbgFHSXwzKxdQDqKCrHVqb65Un8enngelqExZL1FJSUiUV4gtt7K2WuZgO9J0dxp4/GvRaEX7ej3y1nA7WZb/trRRrSfW0A9mAa31sylyW7kO6rqgU1gf+IgkO2RHIvl8qE113ygvuXAheDD2cB7E5AmuchIIpbNflI6zSE7/IhmFYthfLk9GXSxRznib9cG+kwLjaihxHWewdCdg03qwJSqwotAvymq2l9Vcoe9pNEi3dkpcd6lBv9axPWQSpVFzT1hV1eIuYX3qffI/cM4LilS/VaaoDvJB0I+45KYsOQW96EuMi6n6ofHG/3dOD/chbpFEn+NmJYr8EnIfc1/RBuoc5EsiY4dFuTPUalopBuv6135IpX/0+UlrNLIFQtv1+7ikqJb9WZztlaDSdg7yS6cAa4eVxKX2FleeiSVvNiedQISdx6B2J5kjKBgJU5y4HFBTsU58G27AGiW0K+/NhcBHmnekwjKuS+vYJH4AZKQ60gsgx4zcGRvKFYQNsKJojFEYNErBawrvQB6Xj6skttdejluZicfez7OH9KL4RJbwmPkhFWmQuf1qG6bCJGfzWzdI0l3FZHiL9d5dlZVTTfmN4CvNHrfbpbzFuH+PQENXerrOtHSRaQniZ7vEX7PBetT/k7o+IFiDDp0lQdgNxhPPDvvmgEcPxMnVQNrPfNG6m+wyaeq9qgn6r1z6YeH4vwXdg+o8cyoR5RTQ9NOPul81ZGtaRWAx77D9iHWnKsj6+qrtNi2SkrTSKxEvW/MtgsB5orzaoc2cVBH8hI+jXPgJrlp0KhdPboFDvVqjeDIguQ91CvW2ULFkpVEnVXo77h9VSXuWt99APh9FRZthhtDRhzHNTMzai+3Ve6s4YBcww79KXRu12QV+XzsCtfN3TtwPqU/czIaYNGOJTys43FWQbaoG65/JV0iiP9tLElyb++HPbINBYfs1YgDbLaZeYdmYGTii9tz5zN/hI0yLAoYl4JscyfvIrjbqUP3K1jU/9FGnidFL5GTl4qQ6VLcX+yxVyO/qgxHbbtXpv3toC3R9nxRkpzUpc3NK+qt97vNZD4feMt/+M3xnpSrz9vXgJfN2cbDbYBfVZPcHR2vTn11x51D6O24BP9OzrgQsNbx2AwNY0iJS/Vgafz9ikgE5HvhLfg0NcB9XegqDq2OOXMFq73CJ7X26Eh1hTrBHwGZ2Auad74z98p1gvi2oIv39SNVDuFltut6Igupd1v9X9+l9rcOF9cTBmxifretEHfR4+2/knqpB7Bqqg9ewJ2DRFqENXyYcZSCbQO+IUx/uX2Wlt8qiLSURwjrJbLBosGOsUanpniPzpV/ygYPdzPl+JY4uCu0+D7FWdKPigKMr354I/ahFIiUD4iJt5Xqq+MMShj3KxUopyCNDwxzTFAaw4T5AhhcR7mdx8/TY3xszFwdID79bOCApOtr1blLbRt0e3s8sUWb0zDSsm4Dbxs0Nn2NEjAfa3k0L950FLIUbrWVqL9AJHOK3yqnnglL8rjb5hiwdSBAQOlTA4uU8aIcIgmm/xZ0K2Fnel+X5k131DgS/+uOF8ojR8BX2sGucErHNX0zL5+8JkWJuTq3z1EOfWAknYHKZjk6v5djLTEzovFynADxSV1Y+U7iBBsDLuLRW9nCJKzTA5eK2yVLFrJH8SUDwv6AOyTNLoFcpTSJGrcBoMVPOJ5rlmPtl7piwb94DglJYHBGuJNhuFpsep8jKhoN+6UnuNJDPnNIVpA0EkI5oy26L5CB2bHaIwLVtdJ49r5LdomErT+AFX6O54m2hQU8J1MCZM+vFtcqtTezjK4zLIb4WkmW53YYfKJ2YVPR6ASrjQ3WwFZfha99m7XbvJ9uBzVrKbLMgbCDKon1zcV0T1O7OK9aC74wP1lYXW1BQfpxFq5qYOBaKkhpz3oMCiWy9QBjLleNm+UTbXdQQ90Yw3B2R1R8MO4Cml45IZGoQOXk6xZf/YcmmCbBwdabLVBPzDmsJE9D5F2j9/mszCNj+b2WxiAK9U2ZbWIj2XquUkzBMdE+6QdwqbicwUi0XXvJCBHaS/1OD68WqKC0U74TnAzrzhqIgNAn9sDfk//O3Z6NyPqGJdGe28+983LcKzrQdvUxvKL3uOAq8PUkq8PCST5xAAg3JmEiw0FYMYEOF6l5/ZnBYSSRri6adGxSeFCQ7kSrWiVpsdwiTjUEQHWNtsAfjItpShX7OJMNxFrdu9KH9i+lsEXBrSaYC1gXedUSbGs76hc+RsCxyKb8bHoK3n0qRdTe+I7p5Y/lPk+kvjM0ZLxlL+DP66gttLJoLY17dpWzWmgOhkJOyug4SGjRW9sXqGGTxIZ4tEToMTcX1pK4mWCeq9eGDqjuwdCwfWdnGH4z1OOtPRW4p1ip9Fvkxcnx6RiLs1vyjxPSWP0rbe4Vl1Eu6dH403MB1JDzH1HZ488FawZi9IdxEvdedhvv1hy+04HK9IzsZBwQgtAsGA4qW361dB4bnmXcQyTx7oWoeA0flz1sj4F1oQ1DTcoeHyrfNa2u7oD3l84wmwn7N4tMICIkWURAgyA8OpyofuGWGeBBcRGVpR4UyAQAKELDkSlY2LOAAx1IDPBb2YyLNRTH/0SLMXF1xFxC0b3F4Actw/Vsyx9tWMw4VuBeWuJFzCVgIVW3J8F8PyWqXmyuitUPxIGgAQFAcsGlYfpWtmad+doYhSqo0b9/tr66h7tmFPR3I8ymSbDRoRRGs3CzfoSXoi56sunSHouuG+HItImcD7Uc7Fo+DidYmiV92t7H2a8OkXx1LoI0jvkrg2lF4h+RsU0Awtq3njinoqm5w+BskzAWR5fPFJhmku+SqYdP9Zu7rxfZLFMIXKLKrH19Gk2lkc0CJ84i4B6z+NLM3dJ1OEDBu6cVbVZqLUh8cdqe1MDtVxQV3Dh2SzGYvRC0GF0cwjbtr9RN7dZp8XamSi4y9r6v8VyrZZ43USO7hblXZDkgTjMbkGZYk4pfdlFaqzof+f+jY1jvhAAECrr08HK/6KwfE7YjUeqK9tRIqoQo3XcsmByAVoFHQru8tZpVTVlufYzF0LqIRWAwJJUKgDzkh5IWBIo19HaBpIRmdQgkTPQw9WkSWET/2pti6aV3PJAUJRIPVUumKVr65vloMpnUnlJ0YLSGFoBvldCPwUXY+eTLuuC7xszGs0o/OB1lAcZefY9LjfpRGDn075lT7PmsdbzwcpP4BuZfou9rlXf0gqdSesUU35M5o7MiLvdILSnPnyrCpVoyEsWyNQawFVX3epAYzAY+JwvuQDessbpAcXYgBsXESX0aYIkTyTCWCvnHOpLLcXAhKTwb1uHNjk42zQHVaGlKrsBJaJHp5C6l8VYDtVOAvtjkz6dbX9rsi8HJFuRkkgh8sZl9CZnSwEaWb03MDXtGrAW0ta/QoFJVEzFiM8dDbNvcN6lfdYHOxeYiCYguPn2/bdTAta1eVY9q1i/ihBb2eHVBNqmHnOTgdbMVaajLxweVuJXQQAR4tUr/nNL3JjEms+5fcfq/ZewFntZHKzJWW9LMotH46QLIKbWK8MATFf084wTGdeYY4NlIlTD7Np6wdbgOXt/G9xP8PmZiYYXueVBdnlMSk1d+0He28HPMP+j4oA3+Ul6P03u/b3gA9cq5V592H7CDe1RF76FRqklBICzHn1n+T6RGCQSvK8T6JDAcJw/9Upp41drc3oWPvW5SRu2Xk6cOjJnxBb4GRWJmALDI5MleQAJ7kIfkAQXTEkCDRKLYfJPIR0qfY4JEjiDvWGB2An7h0yCkTHCfZMS/YpyTBg0tvavyVOfEtLPASq+lOXf7cmttwfR/5/05/fBd0kE0dtjxhu04ImqjXrmS9YK4B6JDNZ+A6pK7oG8/mmk23fgUCy9zYr2NxaRXigqt5M7A769/NQkrFZSPM/hlfH2z2QGteexsTwMmHT2Mx07zUQIO7J0nrjFpgadyh8XJgg/4wqLkFarRPTaCye6OsdmEv0g1AHNHQ27rRrqUe4vrPdjm39TJEbNx+USpujQsgyf6lPYTdddGbNRRP9OB0JXXp+UMBSPoPiWOmX1BOmjTX0FLkhcsXqAYMSvNBnKPEimrF4TZQmT8rwB5YeJx5ByczqybTKY004yTHZCmHC8ds8lKRF+aSSDQHoSi2imtwA/N/jT71cip+rzc29xgO/ulnfCOFxtAmCBrpKldslq8AjNe+BCts/dpZXXbB3LGyv01EjWbaFmG9vJjzEiNWLPFoRhBkOW1YJYuAOeQKe2WhF7EHD2//JJzC/0N+MhVHcEMBRa8qRRoVNt0o6elORvnbvJX/ef+5S54EAJPYqRX+1I8DMHC0nbzNrRo/4neBs9hxgme8fWxP/hcPUw5RxANSryI0P/sUEtbNrIa4dw0jdzroGts0H0rJTkTd/LhCKrElUC6bGlkWMN4pWJmTbXc3XJ2K+yR8NoulJE+N0j+SEUxBhHk3rhEA7D1ZFzDwvfmbkuiZpAfYgT24NDxM/S7ZvryWHAMWu9/7EkVQfm3EQvs3uQ2td9dhuufJD/Vfo4VWevr+wDiir53f2ovgKwFmAbw53gIPzDPKDrQdAl/85GaJ6QH3zzelB4yFIBUsD/V5bKcWyE0JgvNsp9XNhXIssoJRRIsqJIhf/dQWVRQKZceOzTwuICfcSCBR//HWLoLPJ0If/561dAZicVQovjJnIVymB1Pgi76IdepodGzTpAGgl3FO0FdwPUcKP+qp0kmt/hFbiDsm1DsVRc5APKmYOp/9bulYy+6OCPEAwPr1Kz+/CdSNRn5LwvQlvukwM8eyAkNWIXmmcuosKHcIbEGbLnTD7nfJYGChNayxXPP+3mhwm3APXCsGXSf/QiiDnVjVdfw/JsWOSSA/3Tlh6TXJBM4cTv4Q/M4oRnLd7NHVlP+TDipKSg4p3vnjblTxkeUxWE68W1BGw58hYlQHGikvEndZTA1C8Dl86CYoKQVl8QbPpsEVNFjYbDFfM1ZYQAWjY1cnOcu2FHp+P3WvU2eIkDGb9MaJCK/unBjYRdcJMP2y5UUQeO4whcFypYtRpJbCb262gTWDCus/0jjNtstxImqGgKT/8f60tt+aw4fBDQYqEJ1l1XJEm26junimgJqc4QB4MD3sGyy8guN1QNeCBJOEZp9UOOBxTJvr9xmen/7bNVGZ64HL9MKvtruVlflon2CHcFk9JOlV6ElQY6JU6ib9P/N2yKzR4Mnf6imRf0Jdpk//pDJhmJVQTdfgfW7smirG6euHNGUgvIfFQgaKcqv5w83TwxDNAQak9A1rl5k1N8Dib++f4FCEO3nnnp/ycL4yGwv4tb0vtXXvtPAw+bQ0LFxPOJPiBEA3/Ph5X+jWY7mve5gRAWiOlowwQczCHhjvfDZ3Yj24jFJ0DSwewanA1iIMOpHIk/6x1fHuw0YFuHBiv3MZ0SayUVVJaUCIFvICFRk/xcMFOqkFCIFYjUMMP9mS1myu3n6rt3o58hfGqMPm6qW4YVSfo32rbRQTlFcbO8LH3IRii80ga4PwUCVhrIk24gNUUsOo1mA2xzu04EPyqepwoSqxDkPWa43j0MLa9HUzOTE3v7doGGph6m2Qt5EY1cZYTyBxmXh5LyttvPPOpalUAMRZ386GqeA0ejD0XUhfVdZHEJPzwj5qMV2L8IhvikLhlh3pEZJutWabE+0L34Jbf/A2OKiyJL60sbT9QfETEPMzRqutGIJ46ZMvzSINsf07Wy3x/jL7ybR77n4Y0aoxnfG/kbtfJxt3jGRqiNFKeGBl1dFc03K0am3VA+x5fNilNtVJrBVOJsE4AI5bf3bO7Q6iBz0xYADDmEyG+dWsogOxsO6SYLFz5U3Y+VTxJPgX1MQbPsci09LSJG16cifhLMhKRFd9AbZI/jW8FglbUHA6Ok92I85okNuiOlofaewS4iQQEyZATQ3q1URKjelFDdCFYXBcezLx+FdnGyjB/McAcnkp4Q5eiZXjRWEgFZLFNrTHODyrTev8DzR6QS28j2wYqS419XkVfVV+XvxKTwtX6EFvhlh005SSdSNpwl6ggjnOXK8NFGv5fXjRicmPaDdSmlZEhMbOkNLOWz3TLIvZK5DtmUaPM7KIi+gKhPOoKm33yPAaPgRYEUVYhbHGVMJIcIxa/d72aderEGAiq9mJHwyHgevFkhZomNRJGyREk5uXskNamPg+sKO9Vx8YiGucdryuskpP01Kmp8DpsXc+BTuFPcON7G+Cco0v0i9Mv6RXpn9GFTksFMeWh8L9XPGjn+8sO8tG3w75TwkxrW66A56Hrg2Dyy3eBIT9ofvhhqmr6B/WzyVfnLxcFkG9bumVEUZlv0bSrnJcF6V1Bv7f+QE9yrlmo8h1/mho3qaPoxI+tDMxJ3rdUXksYxTrUuR2kjFYr6O9TMQKhmrgGMYCTPI23hNnfG5PSq3lalGWEdK4lqTFAsWXN0ZDIAfjKgbb77n5UiJ65hG4x4XmVojvG7CFYctqDT7wbhxUUAfLRr281PZLke6nInqSFlDs2ifKamvZqlU2xk+ykkd+EiWlJTqUhCZV3A2hMNjg9ix2SzsS1GwzqOEOcs+/mfdoPBWXoI+23TN/f7rPDo4NRQRuk95jcpl8le28W+X/maOgq3nlwnQGl8ZSeuufH8dI83WEzCaR/thGbXUuED2rD5F8W1i6h9ggnB9olArViWKEDNiKsWbhM8dB/RHWE492ZHkgZvXLBLisIOpqFqumQvNI/NBcSKz108eEjZHhbKroApLN82iklVGNa17xrOGVcG+r7qUMs+h2LIlRnRzM47RB4Df9wWaWZNioc0ZuaY/BhreDzdOWAYlDGUYapvxLMG7Ql7bGZZmu1D3/1HW6PzDsv/Dh3hjUfI+mJ6r/78/DR3cj8dUTPMhPEM9Jtc4zHE5N29t+7zcezezbq5pez/JQ6n7fIldVjR11ErGEdgs6+TvJN4A5Wfs6JUsBFNfVeu58Jbg1JMRNCOeRvpVbHPapmFZUiDQ2jlaNNsLSbgg17iauMb72m557/LhHu1B6TYKt9z5p96lB1vs+mxufi6d4Xe/0e4KAdzqQpxhPHnNtDPgOLhMAqBRJ/q9/OI6OM8qt3TWI7oY4Qjk4/bSGoNEPfe0SB3/PyiOLV18Z17BVEZVwjGQrk5C67oWrPa/Z8opeAyclE3Jai1pmpbV2Vbb+8XgXXGdUPyq907p+X+OGKw/9bIt1ZyTWTrC1b6Yj2IKZvz4Cx7FLG+RKbrwDjIjdrZ7RTPwU0+v5m7WJnur1uBuewwX/I61bYaaKdnz3nQLYIkP6sKKW"/>
  <p:tag name="MEKKOXMLTAGS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KKOCHARTIMAGE" val="FILL"/>
  <p:tag name="MEKKO" val="MekkoChart"/>
  <p:tag name="MEKKOSAVED" val="1"/>
  <p:tag name="MEKKOEXCEL6" val="False"/>
  <p:tag name="MEKKOEXCEL7" val="False"/>
  <p:tag name="MEKKOEXCEL8" val="False"/>
  <p:tag name="MEKKOXML1" val="4HooU0THZk28POP9trq+pbTvvzd/gcV8t56cq85kb3NDTsUhojRA0EsgEHHMH7oYP1SYpn09ysXVivguJdhTvfyVMsBLTGvcX7WPTor/CmWiWcfk2RmY+GE6Q6T90sFUr0lg9IPP9y8umrse/9AoLT5R0GKq+XM9pr/aTyOTf0wptcuHbHxeyqBm9svU01qeeEM1v0hpSHUgirOnAK/wunjZPmzVPPwFyUBDlDfxgncyrn26mfUxYRA79xbk5zo/zvtIH1wUlJEoc3ym/tE0R7TFuylI/Ka2jPa3hxGxqIcsuoAMr2BhzJBCBPZe4yurIN19wt/gMUjAGy97TwjZifIBF+Hck3maX8bxqwmWN5Lz4DqIq7RLGwL8cJPdxHxrFyTKy81ndsieYrArIDksaybtutEDKS7lWtJ6JAcGZVRCI4SlTtmuy++sF4Qk1arzGu4Oz9IkmAd7u4YylVdbCEd7/NfDrWG6DSdDzK26TyTs2Be8WvtuEe77wJxcSkcmYxs+yys5bTynQZ/lm61I+1nbWwsz4bHjmd1tB5OvlqJtWbFdPVdkpleVvZot/Enah1cLemQRK7i8VMkDlkIpuJtZfHlc3K+tUnocnhPBNyrHvoK8V7RchuWpv+lFDxpo36FMPVAM5ZqFPHkErDoKv0toQddmtvFN72BXtkovPrUgs6e/AZMm9WMlpV9G0G9Gd966BiDesslNUH4NqdZClF0+bmV8Blupdb0kuDFpHIpaysYeYxRr+C7S6TaW4HLrQ1ZWWebCNcMhL8x964nNXAxZt35kXQbMqltjuqeYNHhXkfQBs/frpy6yoZUtgChVHehLRlvcna+3x6oXO5pHz5m6/XeHU8SSeLP9Pi7YdfxSruYMOPR+xjLYNTCftiicbyUQMIfJhlnSmpJuewyObZu+7H4yl8WSzeHGqO6ZL7rjej/OszH63oilE25zjBpbf9VNirZOZgkPaAae+aoTRlvPlD3tRsBEO7QrzJFMVtikOmgkCvDbM4KTdShObyM1JbCr9plbqjSYV+D/R6TYLt9OLkCO5qfs4+FEBn68ez2faHtR397kcfGFhVDJw8MrhJf/T49DRS1UYCwGdbURaThVvqsQMaEnX58jz6t6PQVL7Miq6Dkr1Kj4YnxR/H12v0ttTlpO+PD/7funzuIWzW3NxztpYazNehG8M7EoLBloLgCOc/RWrOXTn2q0KcRPImlJQchd4y/gz+1Cnkx5G/8YOAScmyAvqSs4xwonBNcxD6p9Y7YRE2KLpoZhXIAypAikwuvYJ5v6aKXk7yJfD3aqL8GnUz7zer1Rk5DxsBm9dTHIQ823zkWKoedxSBULgUHbyX0PrJ0RmkKw2LEJsnlGDjTvgFZ5mdXNMkS8rXy10en7xPEbHUrtYmR5NS1dvK/AkhiZsLJy2XEZoTP6oZhMBzZzd6TZaZoaJiU4PlD4BPQ1EvCO1bZItKDtCLIePAED0uSsKjolcRjAMwVzkTdF4ckiwG9uKMnEMMV1kyiAck3bTX1BFQdYhQIYwNnCL9sYb+VHiX7AiF+QlKX6l/lkeP0I8CrJthHjjLhScBdEetO4fvGU6afsFqSPuqMCrVKgl9IUzv/cMhE5nWp5+wA2d2PIvu3PrqVK2MCA9iuOtc+KlSJlTsyQ0g/A4riRophOiH7NHWnYSmDuRpnXpvzlO/VatW+T4qn2/R1mwRCb9VdOTs2CygE6f6CyzoqYaWpgb/pYVyy2uV1X5MBImrfhcmVM9NosD+lAy8ijvNfWPIZ49Qw0GNZxMTt9MPMoAXDQ2O21jQIv+TmVUZf1NFXDMLtNFs7FuAmzzXkyyXSDUJcMJIFh8hrH/+uSZ7roFPmp8Q7cnN7/DJnJYCo+MStq0bqGMdXBHSd17sDp7W22irtWy4xtnanU+NOpIzqtJSm/LSygHPH52fUwNnPOjVl+iv7vEsiYXiuNLrob8xTcslzzG+ehQnkn8aen5bFMHSp93t6+d2d6oQ11so6BSUGFxeG7bSCO+hPi6jwfckZ+HAA7/X37+Xrwtc/HZXtZmpBV6eOswJaqZaNoQvYSY3aauGgzyIGnOglA1qvcdzI18HBdYc/ASXxQSaS0cNLv9Y15JhfuPOv8RQvNyY4hB6lRwwCOLn4Quk1p4SpoUKycFZqcMAzOCGEpJRs2q7pTbZ15qFfWUqZcoQ88Qem8L94dBLCHrcPjV5mryll5fqW+acPXdthrK+glPNo2yJ+jI7OCIbMIrzSK4XNGKaDtvQrvKfjUhyJ6B8skbvZx7RtNl5L3XO+InNEdoa5oxupQXwzbwv2lSRbzGSkZP9b2BpzAx8LDXGcYoTQzYTKRNGnyaOtXC58Iuty4AVG7FB1qAmyqcMgNSFRAxz4Gg/pEO0XbFjc8iWKbqcVqdGOGeRifUb3BJjRuMo09wwqwugwLvw/S81EJ022csugGZffUKsg/MhVjrC1P39H+iV09J80YRWp1EVy/f/1zxZrxYvwNcjwzwV5Yx2VDWbb6V3NI+kDIdg2PVXCrlzjuQj0jVA5ZMbPU9j5iGg/u9weSrPmq4g5p98ccGO97eFodewMPimMpxVcoSibBVOM5xrmTqmY9g4cDg3iYoxh1EHWT2MDx7jLuZN7R+x73vt9qhq2wPV4lEas1njoA2fWt95voiNYJXs6g9K5MgzjyFX2CXdbWkUZpxj4lyfM2lOQSARP5GP9spqCTl63/LsMGxOmB9KRSGDTsmj8eMswnt4CqlEjlwCvVImYkxgUfoA8c/fcpnh1hPx3HR8PRBbKhL+W5tR55dMjeHlDcs708OSNHV4RM7G9NHngE6owT0C4TKL825t+D3ofKzMhAWEGRVXJbJ6/YgWsnhZBaB9p4zDBmJRdbaJPzoVFTVLIvDU7OI5SYBiJ23PLvDd2DbUncbnbh9jmNBiZ4WZPyDuks/B6DaP8R9nX92y6IS8mQWPZjBjsedigwn+F0SP+Mg6JZadZItSUsNShg/KHs/BiEPWHp/4uikCb/QqKI0Kk1UKrIHVNmLqqMQzMs8C1sEWspKrQKmnbSMdGqKwJGAWLtpVXKdUfn0yXPHocP7ORxuvuwGep5Sx4bvejZd5VxOymJ6XN1y+zWYhDVybEj+xGAbUp2RbRRI98CYIsQ9YXldHmjHP3pVXHMZZ3l73+YzyCUtoP2njtKjFjpNZNWdYveO005yesb9T/SqVOfa3nGVyMmUUFtlfnqzKsaqcY8ZVtRxO6Sc1GzK5Cf41UWAxOPtp1Al1cgGioljpzf5w8F89ogboVu9vmIv0qZ75H7S6EQgQ0F4VMfkgIM6EvLFaBjSDj/h/wJ75X2HD9wX3emGbBK2kroAIlabDRxP2f0VCItgRPbLUKee44kLIN/TWvMmSGZOVkCIdRI7VOTiWdwvNiPuwM9njRXIY0Eb6F0lXjeq8dAehBuQmVq47pICbazzrhbyyeRNKA/uhWy/lqDwpDJwAzDrYXfMC1L5cjkziYkpjSWVHAcV1tMruRpNTafsd9nnKKOVmwCLM5LQIeH9/ND+cVgzCqRU3N4GXTQALu+jSPTRY4s0yyDUnKmqSEpqicEFgYl+3QBFVPDT8khKH4ira52qSvU5aYXJZALMwA1N2/fJLwpDQA29q9MDDxWyftNY4bxlSwYlx/euZrxtgMYmiZGkj3hWKsiJSpXfNJ0BpLfblXg8FZUHv+sRJb55LP6yfjjvQaQ86OB1uMg8Hhcq/yXu5mau50oydgaUAeNyZL/xFzkTD1on5Xxke+lUTtFkfiKG56Kd0phTTE8DrlHIdNKW3IhDCSCtmeIAYZmNYxVJb9RRSCFHI0hbdzlTND4vMu+UTX3RLvjCw+XfynbZdA+PRbrv9RD1xuhl9T/MU6bgJzRQR2fhK/DRVXLgCeGI2MM4meBvwdpogOgVgw5cOTEBTUitCTBi+LNGJ80H+2o69CwToXaX3IVEaNf5TPFcUh/CaTI/hjkMQx0QCDc1nAEa2nnKapSK0kf3mnkQ6Ci+UlsqgP++ECd1XnGXZiMq6BoQo6G3UuKA6+8rbNIPfxxwOCRZfP1R03vPgsj0JGkWCnf9uaCwG7sAPi07I1Wp/4MNG/NaNqczWCrec6TUXpRxc1Y2LslIYWhl/nREc5ZZtHUTF+dDR0a1rtFAUjXEHBz5Bv0HBImJUvvoLz+g4fsY096mi4HffNQzZmPB58HZwLxzHYj9QVw4Uwm0zNAPdqvT+0VZfE4GVZm8FvAnM6cWf4aWgjUNy321p5+HfxmbUMBUrT5mPDwqka8vF9wQPBXPJLYLneGRqQ94J36YPDXnayq84ILeZPdaUiPcrBtzQ/f9kf3u6XvFlLUm7vfdRUZYBeJ/OaT9jQdPZYKNeeg7JOvRoENv583ErB0qKqm8FhuaJ0awU3WX2Kg15hhehsu3GkTob9hnJrVo8I3qN6pFTYIagd79ZYlLA6VUzG3CZGpUQ/n0tscZoHuPhsmvRdQqe8ZD7cuNFlOF3XKYyLq3XvjBZwUXAxvtfkzWkQwCnME4a2NN33VYhDwZVwOpVjBXlWsfuhy3oUJ8zukQmnkdbbk+DmPEV1F3pnO8t9W86GiDAC4yHLXqCUkzHSh4QMG3BFlJu3ax39gNDZFDkLeL46kMjQ5votkjqrPdCAAi0+1ftWVCA1a86WK1R11YuXKEhgQoGf/MRUfrKqIbkRHfgrHj0syq0eWxtTgfQc7bt7SSOOLtHe3BWutiq7XF0GEWa6CLbb5udzLmD3zyuPWjqvPmh8uNFAwyuFYKQ9oSirmlYSUd9uun5uyhIXen0ureU4GyJr3Cocrg4h/kKwM96dFUnLnVUeQUUSZEdK91VtIN3002m/NZ91BXb6DmJoidWtBzvqR/sRCHajoZhI0n9OCMVYyN6EMmPDYdf3sEhuZ3Th0exfuQmQ44Wo/+gMFlY+HkxHj1eFDy1phcUF7Gb50/b5oN4c8O2OWYS/o1UN9pfb0sC9cBiprZ7r6e1tPrLImKPWwbuvG8yykOgifBVwQpep/FJ4kV/0wIgaz7j/WXjHQ+/6gS6B9ii8fo3N5d0bYg81drt7iMlNnoziws1yxos0ah6+vRH5jK5Iaab34sOQg3Mh6c+fs8o5ZxAjnsTLOvMUZqoQmybei/58i+Wtgxmp48YMuXXIt8X0fnCPb6BjOt59TokCsjC7bwcVTmQuDC07tclnWUppIvuNC9WukqbR9mc5V3c2baCEt9FY9vBZEN0hCXpDVIr0w0I056SlwOirm5D9klXonKQbMjX8iboII1IaCTw8hf7XaLljjHCrlfpvHXkqdgR+yLTAylhfSBIeJ1M3K5f0tITZWTfimQl4s+6ExVvLmvA8Qz2rPLWaWvuL0alGqRM0iiasR0ie+8qOc6El64BUJtRZ72lDZyrGT3OZCqqbmwX17wXwq7vLcdLiVNhy2My770nx3/9wxYTUKJ/iS1ADEiOqUrearEm3DEtDxRK9/RLR6jlNmfR/maUGMe9wyWNFprQ9KOuv+/hLAeN27oEcolALzUsjNgUXRyOSwRHVzj97ZmM0DXgK1ZuLbZYjXJmC6xMUWpdYt9bgb6EyedGKVTkhtkDQolpT20ol6vZx1RgfsAEeygmACWBbZLmeKV5hWzGjuGBB1+WN4VkFxyMxsPE+eGkIBV0wgIPLpMTDFC4ePHFDr6hgJ2rDg9A5ZKp2AlalP9wUpJvgDK1YMSl9PyeIjXglaxacCM3WtQRJUhcV8dthHwOmy4GtIrBMv/OHO/x7da18YWC4h1RLa43i6lWtmue1zlI4CXIi/tmGQnQTcorpuUICQMmQok12rIIvzSmlaq8Q8S9d8xnDug/ZanMSce93QkXbeCbQ9ppSqYU0BnNzsNx3jXx7oN5fyV//EoPkwCiqsxL9UKuTe/Ltfe5lwzN1sKqgwi5u2xPyEH5nwSr1BN+LzNZCCtOIA9m7FvgMjJ5tey+mWo0DvIS3rXDeHmnVyizZqo9pW6qScrMwW6L2Z1QmlwcrWoh7KoY+vRiWYLw3vPoEWTbMAfhLl9wrTQ8+iWMvyeTCXkSxyHHSafkKFMKWTCVMOgB7t4KHQsoMj2t3hGEzgOTcEdnHLGjN0Lqobcgs/niDCyf5F4hEOsR0t6Rh/blB8o4SJ8jxVHsAWSRkI0nooeMqxUtm9VqrSaFwj2zPpz0TVkTV8ZDCIe0UDrLRgWerGORhapKt+MIydXDKfWE8G/c0rdpMuOjy/cy+DlSxMPYf8HtjLYc9CCgPDyMYAkeRbpgpESY93ilSY5kbXiS3D5Rk3MLU202sexsDPEshXjkIt4wQ2lTgeBMC89sYPhpiIZnuMh2pwGRukbC0K76PCRCjcXHho9pbBfewnKPyw22UXyJWZK6UVoiDDiDQPgnnxAR/F1G+ZavL19yuOnssPhUCDBOtpzHb6fHfYr+woBROe2tF5GYs+32c4Ev/9qPn6ujG/oB7thivgA8sTHqFEY0FBUM+T7sgju1yXe0kH50gfgirZoi0V8GyzikgGNZgP9s67HBUvQKGq1Uub13as9sb99i0K0DnhwESQ9jM9WNlhTbnS4PWpITANSZVoS2YeiPbCYHMVwCgeYiqTM9Yg6nbFlr1j4g4oxP8jv68TOX4MXS1BHv5Wl0R1fRgTWKvjVtvUFWBKMACoXk12iXPyNtNNF9l1ux5/xBr9YH4rRUb+jPXZ6B2rf5qCcYAxixqFJVZ6AZVxMYiztUjAc5IL7KkVnJHritXzdrW2KUebWabRS5oItKNcTghjYZYikpNALEq5+TQ3IcIDyTrEqj+lsgzcgn8X1rr0gWkfr4Lm9tlvb5hZ1m0lQK71LYf3ePyw4K8+Mg08oKI7VdnwZN/5tho/SXcMoBaflhkfZams2RNjnYmInPOYHp7NIvsT2CuM5j/n2fOsgDtcRBJ5SrEviOHyv1VWwFqZzmENcqBoQckU4d8l+wb09Tc5BKnNAttIPALqJFpEC0y0neD4EaCxgr+qgCWiSSwjk8u/G2eA+9I7VJdaQllUfOhRxEGAPDuPpe1l9SYivokBTIERklsH9Sn06ZJ0gkihdI5poz4mM8JBdVAnVl2Eb8wrFJw9e/4oPVvCz8egDLxg2eYVhycCY3B7Z9IoucxHX+iNxor/Vl8grzdIkjrz9jLl9YhM8Y9eJ21Bauz3weWkpo6nYB10oOOhlYP3pG6615wEHTL/hRXgnWlVBWYmdtwQ90ssrgB4m4thqsk9YlTRKqt3gOx6yyeErhP5JdLb45Ez90sS28P8me2y8uy+C4vKnHxBTj8ujlDz+PDv+BzrsEjUj8RZkQpcF9t15grgShL2EbbMc5bpd6c/Wa5TTUGvy8+JlcWoh/W3JD6U6SbBp4zCi4nM3TAt60C155kkvKh82GQIZRWNfZ5ZaaWPfo6cNazPWBxtu1DI7THWbmMu2uAHFuwzw8x6sbDKKZkTQW2X3NXRJTJqQK2ztijx9nXc0jVaFZWijnVx382D/kKPhwU73EbH1t1YdB162ILwykv1Av7stz8Zkh9NUMx5oCDM7fnvS5TXMpupBsU9sofy1vlezWVUAfPkPLmI1EQMSyaqGDrnNAJx1utBgP7cz0In45K4p1rh6XfAuM/EkDyTgxK2M+vUcPH1SCzljcLTKGSg/OMgZVuyquZYKdyminw3Kd5KApo9Ygg/7Dss5qasRduU5NEZwZVlJXS2y2ZDm/NmjSXnENPUp4NQka5mbmBkM+ENsJEBg6L1I1O2bHvT7ZS+GvQpL+FIR9C+2dmM/ncJoDcqHy4wq9vs6Lw0jglVUJ3j32qchqRRp0T7WG+/hz0zGC6X8uKoxBEzIL+dMjUoHmK7SDCsI3Cr4xgkwUfDfvmzncyShhC+U8cX0WfLKBWdNpt5VIAJPjgiOALhY+g4H3IQBcBMQSoRVwUrbSkVoYtFpMiwBegeCLIlmyIgNZw0wPcwV4Uegl243hMsxFFS7ovifq2d11NjjR+ZbZeqZdXNU9JMmmal7YI4TPlx3+FKnRbzP7UBNGDSm+VQeBF0lb2yy9OhYgsTJPg0nO6/9gr7q6xYi8DfDiPhFPWwU2CwXOM3jj0XtQVnzlMvJfjT8DOcg0U7A28wixIPV3P7tH4tu17iZmwp+2/WZREKMwmPASk6NHQHaUeZfLxNnYAnR5HH6LUZp51qwVlVuZytADC3z0LfdS9EHoELm7RpUY8hBDpxjPYKhqQUsF1j+hqN/6YnBmtDu37WaWwLPfAkf3vnl6C82DxlYFt4aTuICboUJQ17+ynxcJENEumBfwmuydOWNPTOdtN/qoMseAQg+apxWDDN9JdLxGbHO2Rw1ZgjCQaSIo2spGnUr1TQ/FCixi99/vx4yx4O5R0+VOzhao334aEk95vpPDjF9ugzBaXna4e9Y5UPAGRX4c+pVRg0fXWgaLhDbAzlOAtF+tTbasUjfX/c1w9FTJuzxFBCWIfMzgqfoldD2e/ZvwUng3R7pndWge5Due/KdLW4L6JeVkYCEI0GtMXJE5IyYYftNJYsWvaZApY0SypOW65cHc2yG5sfAlxIEQqXJeuwf5PQD1MixM82LHr5ad+WytWENHesRs6lyfxaxc+U2/SDwUZlX5+I1G+pfJ8DAyZT2pH4PNvku0MCfzgfShv2J7i5b21djruWM2xn8bEsWDTAxMcQTNwkmqU+XVyTqjZDV9Ph4GptYIT+5mi4G3go09c/BhDQFpzEBCN955Jul1tLSW4ItQoH1z7IbCIu+Vo4Uk3h4+UFHlPtLjIJZTgakFAErSFjdZ09mZDC/vbgvHGf6t9zIL4536InCNIVoArVBbHMUbDQ3R+cLqfMCJLr6/mvmzW3fH/ctT2pRjIz8bVTB62dt/L8s67KyLBQa3r3v10KuTTn0Ik6ZCwJ8OJiIAMBA0j60dEMB+GLAjp7INCMDGI2tqQJHGAWGBt3F1Q9+BltED/fAOaCBZY1MLltqMlU6IAuvHm2qp3QhbvrqUle8zf0M+xMvWHn+2Qd4t0ktLl49wSpPZ+BOJgAv1xvQf9/o3qytni668OtRo1CNdbVY6jDxrxeJQkLqtZgDiio1PqQI4hVkWuW/SE+o12m6YSnc/cghmiQn3FjZBtRD++gIrdejHElt3Fgvrwlok7fQOstVO6ek1/hG3i+Cr6od79cXXgh5PrKxjnwdMja3HKsv9iSMdJLEe7d1hQIcT81B89Mrl/Z6l53I6OrIyuBdNlKtgc7d06jrwGCh2E6WkrcSfOCYPnh773M3E3PfZYvu6MnPzZBgoqbKNTH+NGdhdZopQlpnGMnbOnrfy04Yloqbe+HjKEw90MHVUDIeqXs9on7PY+Q4hequUjZt3PFNAakvLK9YSPiIeW2pW4iNx04FxFhDnFJalIPnRV+mXsG/egVw84HZDYCRy0RUFTiSNEY6WEeCebEvfgOQQRTy4A4x2hKgd2QImeHG6CBNBuS/bP+vbBATtSM0KZQ9SrtAQYY2Eug2iMCrlmP+WIYA/LqzsHPA9nVVYSEBKVTRWv7nqUgYBpAbSQwVvNz1ZgPwzFe46epn6krmTD2W+dsZqFP4jzy/mf0szTLiUo4yS+OlKT7izXPNw0jKHjM2oYGZWNVNQbqLzjAVEm/G221sbiDIEbc5xcxGCDMOZy5Am3gxLkCihQf/8hIKz71PuUlKhaIKng+AVK/qV4pAFLsvaEKirEKUhEjeu5MeYXbTATI/Qu3gZ9Tg3K42FK5HzRZLV5tlwJTTGlniUTrNcDq4qbliFfzr8bpGBe8O+iVkqaQGwuN+Fo+XuTlxfTgpocq56i9NbXYgMb7OeHTMh45ESXmEYZ7t6+AenNy1zsojRbi811KlP3WKdTIOnyVv82yC7WWNxCYBklYzSOGd3b4+VR9q4zgaPr3jzfPkNSV0iRL6kaWI/HE18iwaf/nkdIy48kLZcnlKYbr6xiLOkozMgZLAe5e6O4AYNdx7isY4hNN+P5kzBXJX+KAgvRBzxIhGZXPL/sWB1D10dSCuhY7+HzjDeez7iP+eGzEd3eyHpqF+9X3MKYkLpxILeNKvA/o1iU6wqDrZd4t4QQ9OSDPpU1xIeZPouiPrandQwb9glp01PkdaBQBNtKRN0OaJgoFnTm2110VsFllj76dUpTZDc00EoLeTSlKhU+yNOPup5Bp3kHgfumgpqe78d1UZtWr1Q1u4qGEe+HeQ3MEvb7rSxMO9TAugJgeOcpeZCJIGUx4y3T3KlmCdCvwFvXiTcc1hAxleD+zSfriisnmbT56j3zmrWqRqlv4QoLLRgKUK8yV6C2kW9by4YTkk0XGRflrpV5kjHitnpPu4hofTfoov8AHHTLLwNNR8/eYlMT3BlagKjK6ZrZA3uvnoBufe6IhbkXk6IruEpVw07AA7xVaYXWpXWV73/7NQjvOlXY9lOtReAj+V/Yf6ziXYurv8+JPIBZjoIce8p0yzmKfU6PNk8Ygf0I+ZlOiBpR+PolZWykD+M4I615d8xdARq8MOFO59zldx1AzO+bzkP2ijXsa2OtwtbVko7MM2yBc2cRsHjxvi9V8zA5phrxEgTAY4/S2UeuTZr5jY+88c08DYlM1v48b6CvHD0vWqe4JT8hRMoTmuZu8Fpbc5zvYf6LVev06ld+kfRYnOEwWONHpwEHv5oNUxuBEbZjXMNpx18x1hoku5odRqFLRIwUYxGMf9SoAGSGAbU/OmQY7G9rFDjb5YZ49nrlkgjUXYnhGCwFGzs9qUhu+on1VSFgSkJvY4MDc67TvXhLeyXxWHjNM2BE/W8uJ9WFQgoIm9VN/6ybbENZ4fCs/gXwzSZ7PuOksAIkFObPxwptNywLuORn/9BWHZHoN+Ai+wNs0PuCZJsH2PntiL6x3LmkeGo0e76dIIGOlkuCuLvnU6MRjJ15IGpvhoL5UOslbVkcDugPetAELoZ5ZgQF6W9vq0FitgeXfKwpE15r4NaLyJBWSgwxP563jQKQedLEEuubvZkAk9myYr9btI2UOWcMOp1+ntBXF7k4bWaXDkXlWMlJjalx1YzMzNhNLGJ+BVvDudv35CofGjIV2EkTvIW+zBd0k3w4Q2EsnPfztEukAlimvElfv5mhoDv6+dOvnirnqntL3Iyrv+ISzpX+T5H1KeFfh70oH2D1vTsnOSSle0I8cBQ6j7CHbN3vM2uyrKfjcLwf8FIoSSae48rUyBgsejNuF61FjqZePKIjDRqARN1kyYmsWffMNimtHbnNmZH2zRl3lBkrpxcQbBWlrhoUtb9VDYnfXrrSo2WtToghx0yOMykkta1+FzjhYwNp7fn47mUtq4lLGrviaR940JGesMV21AqFW0U03UyDpxXdJNkPt4XL3YE9KGn3Yllx2VClAal2Nlam3ckh/E+Vo0DQoDabogluGLJf8onN6IyrUKxR28BGRdv63bnlFDqkN5/lvPRd5LMROH6wa//vNS31fRvRKORleJrgt5hXLV8aAcERzCasRA5nxvak8cdqkJXiEGmu04eqfuPA/V3XyH6fo86EEfyZVceJd4gXHNZ6jqNZojVIkjsuZQ97eIP5LJbPDzhvXcRj0S1qd9h4vRFmNdD/S3BNJlg8iYk7v/1rELUzE0wqlUbTASGPkT5BnC1R0TriK8zqwiZkxODgcwg1N+JTS6o9PtGokTfjZQO/9xCnFaQejVwGNcBhfdr5DCl92nLibaAWtKyYRRRk5B/W/DioSRUdxrKTOOiOfehvE7UTJtHafItqOc4rNgxi2Ia16XChDkZM49rO5BLbY9qVvphNZ1zYUxpVm3jMwb9/rPSmrTulA8Gn55r1aE3UtzpVRDaWMcyNN46d5Z3WovS7gObQNHB01jo6h27ZmXGWj6l2RFXhA71hGE7NWLuahpvu2I/hTW5gLVoLyf3KHrp77JSaXrp1hTmAk+hBc6rQ6ByA9aJvzVA+hhBdRydIunPl2RNocwfcqZu105hQ39kF2rZ+uFbmRTOPVKKenVJbXYHsXuJXaOvNCvQ9GWDYWZRptL1YfXdxBWQEI1GDCESToC9dgIKYX7kjoQf3ykrxO336/QniSehfptfWYZc5w+KdpH7rFFiVsz3qE4Xrak5Sg8iXwxT7GVA82W+FatMDqyPRcWV6WoYkRLlW2UKPU1RovYfOVWxssJcnUMNOmUT9uKb48tcIYubul3cLW9PoYNa9gn1LJpb6IbZQh8poA0UfwVSJaO1CRotKBrDDXxwfY25mGzlPqC25TnktO+B8TPEjQhoUmCQUc8eru0PZbItk/fcMYv2tLEa1uHM4P/NouNRiN5Ny4eAfJ93XDZqLCJyKp7WReaQX2bZsPLXd//+u+IKbVV4w+8c9qIMCx4hasZCO7SyBbEBhWRSzXHG/3a01l/M/+4nzuxa1DBB53b8UbIb1CwrJFa/oBDBi4wJbj9rIVH9EbNE4fMmfKZpXDvCztZ6vlK2J7q2Ef3EKkk7wKkj1gstOM6BwZ2vqsDy4lH2SqBgm5ckaL0safKKiRvK9sKlFfnb45bIUtPhV/7kT0tTtstvE4BW0H/F3znySn7bSjenAYpaM8cdWAHLmtfM8vaxOJAB/uKO6UwnpG9e2Kt4DR+AEnA6JUcKa1j+xxnos9AY58R+s16XSMCE+dEZww1n2doECSvvVE8OI/wWexcoO0cjCUAm3DDhbdXesppQPad8XzfCm/cD9gnci2CjfTNn/rqaFVc9a4Fr30hi4t6OHAkv+Ow8pGTUxt3WrJatTyoYsWfo/LVDaDj6I7kchDgEfM87fg9lllT2c4o2OQ2S11aqvMzH5M8Vi/TMa3fgnrEl4+WuOhIzsY8Em1YYaQFQDthJh2chddEmxExVLzuyRhKsCwZsSnRhDsehuxwkDL4UvyHQe0GT0PU/w9b79E7f9tX4xOO14MlcFFjM/fQin8yKkX6+oCBbQZ459/i3at97XSA7rprTz4BGef5h0xwd+Msf+XAfInV91iBTty7fKf6X/rz8m37EgV6WZ+mm6/dZ9Q8qtx1/GMQqqIi+xfLXGJvkfc6OO0Cthx5fQ6Ypj6ebf3aBFODuj0lDQ0WvCrSmZAUpb0Q/XwcoxXeGl42xyrM0CwEAWeddFZYYCLODUJBGOfoVM4ODWYz1D237FiZ1GD3+0XHB9UrNca9znrjuhkKa5DJvIp7QwhDSwQhO+eC0HeCezNwoduCZ9/yZz6XpfaYSKxk+c5dYg8RoSV2rl8CK9aZ1sv9/RRkxaZQryMDqgwVL/A8Z7QdNAuteuwSMB7I65deSqnlwEHLbkyc+X+cr4xlL5jj7pmeaXj/UgpBvKH3KtdkwbUSqqvBNBgqwy8tzKtbRRKzuEwVqx0Ox0W7MMO3fx+i/4FnqbpQsvgG3V1mK2lQtpjXyURC5KvypHFfneN2rDqqvrzEv4zuxIwbqSwWHQjT9tZSnTIRGnn1cFYWXl/zDao3fX025LJ8zAUmk17155I0vEr62389jcUU2UVW/BuHYO6Q9wVMHhr9itdtScRmdnFiauWz1MKHy0O1wPEt82uNyOob+3aya0dQPsbNsDEWiTEHaTiwGF10zCLS2uISlEP0Vh34ni87Aa+0x2RMpKkru1yuAcnUgWsIU+CImIVsT1pGy4VdkEHoSQcYfgNzv/lckbxWnpSHO8SYIAZqefsluDxG57oQQ/r92cJlPFLZNioDgg8atrgvP+QYKDDRNV8/vf/BbD9ZtUz+6E/8lZf+/BHwNSDAycCFdjw/2Unbsg4wkueRd7fIB2JryOljPgsb6LPSdLXmb9t6aq9RpGD86vzv3PeYYcaVx3JiWvLBRAZHiqmKmBmRWWl9aNdSgJ4FFR9zTBBBSQxa/CWo8ZReM2XA1LB//dPY4wkkHBytd6EpkI6UAlILVYRLIOGy8WBlx1hJRhbPdyk2i8MMZAP0YvchZEV6rtOUqZoOLn8WmIClotETGZW3JMlp/k0DyEQs1/mOI1gasAMfvBB9U2N7YHvIHq2Q3+McHfrF00YaB/eeLrSjAShohVIs9Ljttg24sI9ShrdeMqi2ipQcsFiS0Gw2a1dgWkzUg9p51dCCt/bPitsUgwo2VO7zUD7sCsVXuhKVnQG0QwzE6uVPtxfL9c6AIm7gOQAcFX5nMUW0EytCBL+HKUf09n4OFKBNLbl/0fgiIOsxhRICJ3PLzqaw1hOap9VSVfS7HOJ+taSsAhhjrTXv3/QygfMToHTkE6uyrUXdeyM+bat4daN5eICzcqks6RJ2yEJqBm8UiSyO2HweyxLmt8QjBubHI6mwOXq+DwKCMuTsIV+mKYUgl+V4SarmORGDllCIQJdy3dpqVoheW+z6V8Zu3/+z6fZ5XOQ/HVqTWeG4neN/96VqT3zNqLxnLkBK12hz/VJKaUJC/CVWsF0tyinydAtJJzJNWr7Q2LewNWZfmW59fk2FM2cWByu3l4FIitdi1vCJxYl8Vaehiz5HktYQ7QMX4GvmGdvtasFTpGXG3cGJ0utZucoPiFPtxTqxG2F7iy9BuCJcV8p9+xy89l7GcCKaQW22ZFjEASqFXk1n9B1ZqydneBCimVRnVjMeLvBWY+AeYvfmjepYuSE1LGvy3HirkLSRmDb94hlK1KvoMZWWgB1jxZdltHDqKxO+78lrTcwoE3lNs6QUTT9ZM2lVGbEp0GSGsXGDeZDL1+YeSKRaokEKneW7HopMFUvfCULielh+GP/vBcn4L/YS26jVSh/WlXNoDoyKf2lj1L6kF6nDPtOjjZI/1cu3VyCoZOQgppoz680TmvVRYpI0QfzqO4qV4fcN95AecEzvdY/qBxecV27Cu+E3yzzUUVTII2aqXsOdDbVgkxo+iVpavMsYBHQkQowI4SYWLeu9rhtjOCks5F0waNnQzVABjdNfxQRZQLx+YohxT+I+zCZy1m/tzLZZxrYhzCPnI7jnwfjfl5hIFd6X4Zq+01tH0tw2AX99j2Omc4/4alqkkM+xt4AZDabaOJ+EfhEKPrsHFvo+KiN/6+HLQBifw0ShuEYW6Jbyrh7cRjn0JIxVb9t/Xh3vdCll9SpNJtYCSjee6KPOkXlwc/jgcyYV5u0hf/XDRpvh9K+et0D1N+HClWy+fftsFrDfzoNQYyP/C8oZjEUbzc9gcI/21JNsZd3h7rRgObib7vpqD0Lrh3GRqxveMlU6hALEQt2h2FBRWLzRRp0heVEe2ToVuIyXPKhkenL9eu43qgRTkdpYBY9jJXJXAgU6tqOnTlMLs+s5sTWf9gZprZFsWGXRVeNkK/Gv4gAGJLgbQY5+bIGi96TZYoQ6oDx9pp1NMkf1HVNwmEcZjKCwzdm7f5Dm8eXpeTEuWKa7PybjLqlXiz4Kq+4yVEvPV+fdfsyDlD+RP1Y2cZN2X/ejUXmPQOd+JY+vpKAvkA77GkOp2XDDKTBG2tzedRXqLZTPfCtrTh9Fit0HUsZYiCAozCew2bzrgP8jkw2yilr3cUh0UcBkuDTdHzwCVLdunx0EEN2xk2/6XFf6tI9COUn4eCSLFHWLNHGbokshweaRAneP/6rUK/PEX1kHoLV59Ry9u+tks1Ft6Voihx1iHj0HNr5UW3nrh74HBHbYp3q/Bxf6ObEmY07av0t67+c4PkeQnC+CeDImSvoB3Fo/53MMOTGxtIf3XopppZyroSxZc14gxJp1sCBR8oBd5myMsOagJwLlEaAsjsHQ7eS6k57BB/B8clUVvctgmrJ4jXPMLIvPXN2tWWik/4rAdQZNHxXSyHw+a8yJmEZ4Yjl1D5VwbHzTfRcp5W7xuQeTnUDMGjXLCR5pePESFK+aDO2upQr2SJBvMJMvoh458atL+wp5HyxRDxc6la2xxwzPQng0lOGbjlcoBjYQjWLHDlHSd+eA5J27dmN2mN8txoGo12rnwHD1OfgoYQ33F/NRjZ2M8X1nOuCziBMHVEYllsVhSxfMNQbdQ+RDLRe0cZ6JxiNqLUfxfQLEzYH7QjpdaOfVVZpZSLxqZEeVI57QUUQD22/f762eRK2r2Gc9xY+/KSPAeapA8Q1ozve26GncjEwcb9Q+nEiIyWV4xOO1rofHfQZcsFyMZ/Viql8SHk9NH5lzQUg4ecm0w8dKOFfg07MQ2CSUuoQBxxKQJIyAVQRlSkm8/nlkTaB0Bekvhiw8uOkSGrX9jYVfH/vLOI4FIhbsqHr3Z8yIvQ21bFiRlQ7j+3TWELjXrRqlzHjh2/EZxwar/RxzAyaE25rlvxsRb1S4uaRWvE3D62ft1X4/vStI1qprYKl2OoYbUq0/+67OdzNFWoPbVdQWrI6wDnIqxDGHwsWMPex5w8KKM7SK60NKJVdQD96kyk8gj7xl4LQCGHjSqkrNhaA4Op7TOK+6eTXZavSQYWHZVyDKuTlyWUf0w2/7GjU9ZLqlgCHMOuR2R0NHtiSCzjgmlXgsb89UCLdW2e/TtQ9hZ4uEWOGKGPcLsiVaZXFC8PEaJEuP7uLtafIF+LoORDG3D0Q00IZxld9/iBurOOcMykG/XVfLJ3fQ2tZeqALk6mr+9TRWSuggSDI9h75Ykd3YCgBHHHCvBWYMFTwwF5xDfs2uCq4lHGK/TIvKZiRY12VIhw2/awbRBI+Sf/SL+Ac6DGyzetJyUgsHGShM3gxAvd6/STQeW32oEH6+2qB/AbGIscjvcSTVNMcPAgogtFyGIBEjnEv4qjVY+Ot4eIK18qebYs67Iuq8bv7qGhmdKgkViHaBK9g9gyVtk38QTa5fjVkBIHrc+XcywuDBiqfSpW6C3mmzMJf4HQ6WrKq2OEJ8oCUVcdMlh+g7Wyv3XN+LJazclWeYyQpXbwlSjHV3P/AEN4zOk2LBOgvyO6TH17GxOftc3Ytw2mw663MeOZJNadqcUVcttDCBQwInWmIEaAb8Ky4HxfJvqu2Wm4klNrde4K9E+hMRfUphQgoeJedZdRqd4aQNZILYiEfnHptn5pdM8LX9JD0ccO8tl2D7o2LAvWlDmP/ja0/Y3MfC5zGetSQXp/+owsRrM/Ex1qakuD6aQ/aUb1BfT1lOQfGNtGsppiHNDzfmHZpDM44aSpRj1OYx7dRF1+8M6m40+06u/Ukhuu0K/WfrKfnReusj3LNH1dXe2pjL1ktrJlfBaoKMCiV4eZP0g1qDrWNVcRY9A6R8V7HGydN+P8vq4gjJwXWRR2zY3coNmMtEA9so8xQf2sdnDY9p+UFlwI+ahpfe2CWoc9Hx1zAkZs5YiQBu5S/6ItCZqzAWnxONbnzJTs0gxDqY5kLkKeDRPjBYAZ5AvI95elabaMKt3a0BXBDpV1csnG5YuvHuun6kQizKEfeL+mPMiKD5ke0EIB8iTeTuomQaeNJfaknllzixJKmNNgx4yULAQNh0oeMk8oXKu89ZUEEYJ16rLKdYxcMweLFo4u+zZPPS4BpGzmoHrA4aJOBkQANF6i6xfhgbN2+/5zGgTzkyTqKZloq2W7P31xZwzUC+bARHJj6O+LOOmPX/xMbRiPYWsgzT8E8yH8NGg0VPCdm2nmdqApVS/vj111VupbS3GLLRG8GXRAbSuYTQ8w6taVEMR3vAZGw5I3KH5mkr9WW0V0yqk8LuIjHpc55kZGmEMsXaZmMJUIRW1JvCpxHcWCyIXI85GUb9pqfSNj2Z+3BwnO6a9eowv5DgUAsk/zCCRwJlkds0CoQOxGcN2IrSJyBZnJ7/SsNElvEhi/XIFD3np/VlnYS3ChyFqT8/TxIC3AcOcpua/jTInjzoFgOg8wFgMh/tvzi855Q7KgSFcZ4v8mgqjkUfQ+KG2I+vN4LPPHJfQRJSpaGO+v48+cYzphVpR4hsFjPIDuywkAr0OCjcsxCFJrZhny8+aXJ5/TrvAEOaeOnk8CZx4F8CMr8K4t7a0bpMDZqw9c+h0A7Dl9lgzPML8N0tEOcijxqW7kXMJpp3Pq4cGWRGHtQL83MiEHFXNRyEk6stnBqwswz0+4tY42FR43Uxt6jBmEX0nlkWqZPi/pZjGZoxK6SuerJG5+DTc0tIcRPNb5k6E5v3b+je6AtCaRGCB0zZB7+y6ZVmjPbBiTdJv485jaxCAndq3GuSNwFLT0dut439egJtxg2D4lUTMP2EzLTvMi7dtmR7DY3xANqPvmw2d+s4VpI3uTb5qP1tHUKX/GvYIFDecfBI2MAyBuMEWzv0dlGgoboH/IndJh/B5PjwU8GeVfn7BNPthJoI9s33XEx7dAKuwWAqz3Ts3eb+lCHKwuhYNwrJcZsT+WjTssfjHOznkmrSzXCKqa9UYDQZUkbc2TWizzwkMxXHPbEjLfisA0s329AyVelreoQOHamKw6ZVafPN3ZHdrWW9iS5gV5+qttxtddUhHZjTZcEYnwj7uu4GXm7u7ZiX4XXQG8/NA/dFnF4p6sKmb0UZiO/U5uGG+VLCaRG7icUUhs8jXaMU1JiYLHpx+p7nTaJAfTi1R/lsXKq5G587ysBAG7ALW3qOube92+jKdgF7GYej/E/GhjShW7YbJPvRTwiWQv4HEHpeSESpMm/tS24yYsUIhoZNBKmz4UWQjYk4R+soTy4bu+Eun196C+EuabocfZJmgesxVbIc8nLmXk8ix9ESdM1tMe3NVP5/aAPaonjYVZipdb/aJ+2Vhuj6LWls+rIJtONjaIDlfPHQhDJ/Vo1RhK5zap/B2zySmztb1qP9KVUGa3VhFwepUB/GEeWzpZdO3btqX51kj83fYfm68hz7nK8bGYgv798LYusXvCOAUqK1GWCjtLXywxx0SvPny90wuZ/Wi/2b481LcFFTuSxSebUABtGcb35/gNx0Z2H0Z2RY0nAfJnqqNMq70gfpB/WDCAnQwq5mltfKu79+SeYem09FwwxKkiYBT9plujVXXcqpqY2EZDukHdnA5mVeePEMCeLwueNhsKCLUGnuf9o4m3OwlTgHy6/eNz6GJcPtvHEgh3nIh+pKOX0ihdCQWEuj97W31/Thh58v5/p7X09X+CUY7LX5LwZJVHZ1ENvXHiAsyju4u3XZxmiWnQSwEPgTarWdScyt9FGwzA4tHybfmZJV6q0iOY66tT0i7f1Q/W4YMQwqSRlm51NPrnmcYHeOrH9oUv1IZB8ivEZvewpE82oiwoWulB+AEg/qU8voCc7NLLZjqYXu0NJyRw6N8TBoeB1LjrHSVWTcZXA2RaMBcDYEcTYcJd2wPKpkO2J92nAXRkTXEj2kVaJiCF3TsksoIoeJ5lvru86IVNDTYjJELsLmGw6O9H+ebB6ANZ/DRK1QG/32zKyqBorlM7gIA0KBWE8yjc+4oIsDenRDfW5B40AkG3oacOTRn5+gsfLToa4GmD5tmlIUH+2dxtdQq63svqCDMI/fSyThafqgbTUxEnFzdgXS1xIYqeQJbX9zvl5ctsMNuhur4y/ZVCQnT+/EY2FbD0qn9i5aUqo87RUnCQCJHn5tMcRW79y/f+viV0YmXME5+S3yrKrrg3XhGZz0m76zXlHnB2IsxORBzXp7La4qPHEFVJrZ5FxWMrXCkZw6aPlXRtKs2cuLnZsXJs2yr0hxv1HPj0T9aSywrl/yYILssW8k8Udf/wvZ1MwXpQV8aBNDMR9UiMZyfYMkR3ten5EOhfZwC9g3s4J9hPlSNj0hOLlNXRyOmfOf0Z/UvcT8frMa4XFvbg8OJqnXp9kCFJZx23i8GAUMWcO4J+ehrcyHaTXpzmDheCFU0R1Dr95lajmP5a/MC0v8HPELvf1WM14K5JvWr7pMptoKgFvj2dPvPzNkVZAOE6j8IZyYXN1JtS0PQMlntAqye4FbQGDdc5/ncq1PGJmgn5vAts4n5/ZqVGfzNGWlmUMNA7uQMuHdspir/7B2mhifw8cPM6t0aDl+k0orWk074qAkcXceXizp7jfxquKcoWDkstuxjhYp2xFpAvusN8OnMojeChBGAT3OwA3zYV3Wm4D+V39R+AuSNt3876KXOH8weblv3AYh+ofrDZJYEM6JMqJHzn2rnmP+Z0+vQjGzuTiLDehzdiQ6dXszfHQZ2+pchIZXjHtfgV0n9E5NFCjgBJ07q8YuTm+fLTMBSDag267bPp1TVD0bLFL1JtgsnALY5kWgrKvzC5u2UAV68MrHZKqolxP00pGyVcZ/sHZEQ9fg302q2eHCVvs3ZcIihQNHjq3tWv4L8FFjrp+iAKF4/eFLH1EUZyLGP91eH+2O+TobK+be4hDdhI0LDLaHSFnIU+qVzkEjbW/ztRBBl6j4+cEMmSBIeNe/PvCp0PDvorULt0VCnSR2O20UR9E/mVnljAa6GpCtqMYj/Qj7Nic0mNA/fxLlkGzLTAcAd5SgTBKH/akXbDAE4Y+2VB34ZlyLqxwe/3z9/ITL3d50ddiA4hOwDZv7F/0qxneZEVkO0czDi3mojH5b4h4ZTXxwqNjx1lgrTTsZp6r8Z9VNjMupFPS0ZL5tKcpwHRERkTzVolOIrdli68c/iksrlokv9jHsBQ4rY5nf1zF8T9phDv4mgKVXiwLhyYRNuMp7QznRYTh5xEtH88QgS02W37EKGXIg8VmJlM8494tavuKG1jgCTvH88WaLoMUxcFI+A3fA+gX40nILtXmm/e7eY7jtoDU154U5l+GvGuyUxd784LKnllqci2LEVbmqyhuor4uu6oB8vOaHpgkIIGHzQrIWxZQqAcJ7wT+TAWkjK23rJPZBRd7U/9XIAGe6jVQApCqXJl6c1YfriCJyJKrxLTcGosb/3XnOLCiBnue5X+zQO5pAfVRPPLKLBPREjPcfeKMnsSZlx1jOZ13KK9fENcA+Q5OKoIUQuFDeo04k2Gqd96r3y6TC8JxfMeiUr+3zGiFs22Ik6RqV6QQNXVVvubCVTWDB1lliQ7dT89mgThOXfr0JPPSOzcaG5r4qgKQqbcqCjhq/VJb9UQVlgfsevvvN2FxEdcPP9qzVki07aNpSaQdDwPzwRYLsVl2oJZIbhKPE1Zn1NQS1AvrmK+sOn3klE9RfA5ejVp2eIjdF6flfE3P98BvXO+fSx90jE4BVxaoJlyqR7z/vFt2i1Ual3KfvtNC2MBSzPU/2xSe5wgSAf0w6+kEUPY8az0i0NE8qqh+sRFV/oFujX2SlvBTR7NCmoGppoCI4bz8m8CxdFr8/9IzRFLqE1xE62x4hiRhmOgOZUOkvoEEhYdKXQmb5gV0veCpTWjmOmU7NgExKe+QE2VxEYNDOLBTUHrPZl7mTjAxg7jvdORvYrgJTrVHms8aM+tK4Ma4hXR9p+knJvqK4/ZzWzwvMxNTL2HVpb0pQ8qUgHsYa66nDnCat5v310jGXc9BnpgR7CNr5bz8Db+8nbhGbFi1jBzl0kYPq1OzDQ7WXajHT73NMQKwNQzQsAHLGGBxEPLS+aTQ7tdF6dA1EHMP30sWyQWEsXQV6OPXbcPhS1yurSZMyvCHl6mBwDxto8y0ixJn01ua+c9MiXVRKk0RfHH1Sn2sbIMWq6L4rAcZTKQpKvheqonM+535eUXTXYAD4S+5gFTFPSvqTvzhjHezkwsfcT2/GrmdX/pALKRNJQgqueEhok0vG3DxIy1ItdxnYiR4yRdrk8Nth6yIseInp7AGdqb9RHSId6d7rQFLf0TRWRqRaqzM72LrBVjce4fwRXSPM2GJnUBzVC7YtCi6ptEksWi3jWUgjRiudF0M3TrZMxeX68ZMDO5m63Y0V/z1YijAzF9YWYsIPG1aZMUXQ/YkoXjSeV57DG9BerJxX8e8CX6YBDM73XryXdgrpdGng1N2Rd3iwxkuYiVanjMNxY65hvEU+nkkyADboNz216w5v3tnMbHddHaLU+oJ8H86L2Qmarh21SlANzsVCDCuRJZIjtbeUECv4haXyfUo0kPDO/bRNGY1Ta0bxvsbXmVbYBES1bxlBUvrKJCBIzHEX6+GUg+hq2zO3+IJqioszv4WxJI4e1mIzaXqVMKchBcMbOBgnWlxxGfKVMMqRIBmvWwQaRKMiR7JX5KDXy3AowJJfWiyjVCh2qeUm5GOKl0qyCfAiQWkDRjwOkjQzrfWb9ePmGYFpQUeI4C1QLYOabjI/VipPIE6uyS+4lQdxnT77lZsiMkXcG0G9zBzP7A4gz0xyi/b0GyI+0nnSOxk5y3Ao+obsXpJgem/ot/vSHEtYmH736e3xaf807dUQz/Ni8KA4WyTMowfsQr3GDw3LfFoSuhFdpuSLVmvmAGtG18uJ3NAzbmWvy/9bTplAWo6NigpOD37d93htWijB6OQJyFs2HYXhajRu9OLHnKQLx7L0+GKdoiHCXraAnmfwiT8OZWQgd5ibo5OvKCBUVSOJrlbYAzX5Geom/6GQ20xNP4K06co9sOgKBFzYoT1WSOed9VoEYFuCeEBPNNAZ4b5SXNQG9RCLRgIxut4feB5vjCFp4QA60OP8v+VjIOXnYLhizuagfyPSHzrhCipP99W2goIqNNmHGKQj1WAFrfEhyr6D1Re3VSAOEHrB5DHXBldG++67rvEJ6JzdO4sZP1ulyP89Khydm4vio/QkbIUU0XQmGfd/sbVTJFXRIhHs/I+GuAAcLjLQ6qhbNTUha7aon/GknN527WBkzq0t8Qo6FAQoH7fQsG3fsnW1bVkkzUMIvZr12hWcTryCHZFlYdfYlR2VPTkN1Eip4vnTQDlkB8JgtNi6z126SjBOfL2KLpmJqJiwfkGLekCJnUuvyuIjLcFuMn43SSAPMro6ymMt1VByM+dQUXmBaJGkXKay8PEDbgxSRZQFDOypfxyD5LmmfcXpJRjWBQCZDWUcygzojWHQOHbajGGHnF0XtDaghc5RFUHJt5sUwq61qdww+aGgIh464EsmIFsG5riCSdHpdB22TEeo4OIC3cAB8KgdEjhiRFHfl0ms9/5xjUn2VGbz7/1xKAwBca8vUtud4ghhm66sSIvaqSf7fKy9Fofl2CKHtlzUAo5RkXVBl4qBcSWOrMqNOMguazJHnwEuV21rb/fKRIieOTba/t/gY0ZCQa+T3HMvotNhD43Mhn+hRxRE5JKjKhQhz0ttIkNbd713nqN6xvY9xjwmGMLFPZDgz2SOBiD2JERtyGZP+FIyJ3yjN9fezQwXTtu3pyPmro/gCQj0S7NBwjmQpNkeohqzjbd7oSReT01MiAX16daGZRbbIYX1wroRNavjLjHBez9ApfT/+db8hXjVitJJLWFMbGvVfa9JQrxvmjT707ZdKvJIKE2GNSwGWBeglySfR29A/+eQE6XBlWw3zJCOO3MUVO+SyoH4xw7BkV/2sLK0UUVV6etzsH2VlPfkjQtmS9qpn95On7Na75Tg87d2+RrTTPPQgaUYyJKxi6axnPvru6J3T2sqybevBmZmTTLff7jFg9jAW+IjmFfy5sj5hYmySEv5GOnu60qAozj4SF9OwMW5/3r8QAdMcr4gWEZS5sDo6ya0GO/DzbfTRIKsB9NLPBaybpUVPcgOG7fHliJW5HuM7lht3UNCzry5ZwTK0qUqH+0qIKJikFqCWYbHxLN43O+D2aXcHnGLfV3iPWIiVamAl1V6sqpU0c67nGM0zlXcyOp/N1pKDcrMHvfXjkeL2PC75+XRaQ2kpzYixNu/Pl0aJcEWO/0hFyxUXEaOlTKU3ekIZqJs5M1OnpAI3w/KM3Sxel7TMjoD0cm3MuwlPWLQLsmGWIkANiS3DgUX3fhm8VRzK1Kex+ghhg/62reP0kq6FX3rhOmL4G2QuGTrVsz7ZW4ec8BWIGEBXyGDGyxubOBY599Scj20as1y7sZPYbT3EVdpeQusube5gXw31tCQYi87DM8YR4+nBud2mVcmlw8omQK6u2hqP2qCOMnz7dRhidHTQwKSAippc2pL3i1S+lCP/ddhSXWOeC16i64bPdjCUPdDQsrMnW5oG0VDcPNzxvaAqAIIUQ/w1bjjxgzBwZzaQz7eIEW3LNRPbJsxwT40NbQR7q7smevKuyNz6ewxA1CT0X3sP892zsn6CnXAgq0p/ZVNVdXRKnGf9+iLo7pN6yX0sn0RoIxh049YFqZlAvRkMC5odii8AECLBUYBSnSJrvjcS/x0rpUpqnnIWG6UiXPGT/YGfx5adU2TYhsK5gpifHEOjJtJ85Rh6s8ocDQfafNv4gflm4bEqrQ2udodlzQNyZshiXGnvHKcCuMR8tZK71U+ygy38s4JnXc5IJvAa/4pAf9+CqacRZNzI3u14PEkPq3TZkNfVXtEAVrth25pWVgyvaArBI6QfYl6wFSucuxu0SHpQQeVWgvTiy9pm42Em6KgQq3rFhAysOTPoHumA9l+rZvF6VYbUr7CFGnpRPEdd5LQgEKwgtLiEHzZt0W8XbPKfbbgNrSsLaRrX2Z29ZQ1DNo/+yWVB489iPoUa2Watm2i+M249vMZArRxsFkvgP8BNNVH3y3PYdLy9PpH9OcssWklDcVSqqYncXPi9iQBJ3lYbJ27aKWlYQjdzFYrD7WI3Ohn+amj5rXHGshXlEil9xpj2dkItmKR4+qhM1N+XXjxwVy7YGoxyiOOAWFs8n1f+RuYTP3Pep4vbrryAGelrO/5dH97uftW3+lLRMolzyUY+QtBPUU97h6Z/icF/KPvMT88Ta5/D5dJCsNGGwvG1DYiqEp1A7ECvtIkURnffQ+3qePA2N0z0iRL14nUmT52PBJfwjUs0rFRy+GSb6eEGM+tZXOmFa72HNNdjYDTZQSCq+tlLg7G4lahaNZ/MO5ZzjbGG8VpByHFvW//FKM2gqOlV667oZxBD8e6s20kRqVHvNi+SDQ4xtg9nVrqM0/xLT6yhQ/8yucBzuhncKyDkGXsUiqu05jNvEwmTgJiCL6XkOR6UQ7ia/Hyub/3yfqImBWDVWThh5rV4D5ZKEtqbZobhOXA0KQ8yxgWRxdaQQQ9CCSzl38WSpZxbvqYODh7akKVnTaQV9pWjcl56MkF+irv+qw15J/qYWL0FwnelYra+Rmp8uVDp66sxnm8A4P9j6WCb8aU7TAUiO0oYg5tJvgvkOaNuiFu2kAhhIuf9ZwxCIJq2bGhJ/pyw8rhhPTbUdj8hDXtAmCvIhJbu4tMlJ+Wr+L46KslfH0fFDIBoDyHPIA/VleUUYOYPDaoK8xYXNzfqH/EJFR5BsADgO3/DhWMYRs0UcB7U9cJuungvHnjameCs1qPVV9gTHNPoNF8CN/UPljV07OT9cnEcFreEgFv8pEg6aNZVxX3yca46I9vTMAbcWbAq9y8vDNyelWV4Olq9lB/RmUM8I9blv8EGUIOWzkoCzaOyVaTAKlp4Dw3JsCrsq4mSEDIhm5VWHylbvj+u5ErgvTWD3b74CruHWhjPdXmw9O3E14D3I7fsYfEz3Bz41afmwq9v+44DZ9SKSCVJjWgvcbjHB7B4GJCJA3rXW3ssoby81Tk/UPZRYgeITXSfY2HDVVSFtMOvrhqaCMTCXSwUzv1GNjM+0X0l/58vvswxvVCMrc//SGY1a0n/Kc3tZadSPMkS/09SEyFcprBgF8DZtvupXCkACRoU7ef3ch2cuLY+q9dAuXT7R3FxMSfMV7y6ENlM1AmbASViuZpe7Xx4S1T3pJRpHMXTQ/yIcGLWzJ8+PzgM1rJsJdMUImoR2E5i/u1BtZj4i8CtJ0P6q2fl/erJPrWKbeeazi9wixelwdgJEn5D2fYkMEllCAZhuz9HO/m6R9X7tP+BTCepwMBcl1OcGQ8Vq1SaZWwvnAyDBLlAfIv/FKkInL4Q1Z3Oqm3xwGv72Wk4BqEvz5/C+LjCkAHWFmYWM7CcHXJsbNRcxIrKl10bUcD7b5k0yBY/kJSHJ9aJY0YPyqf+NlCLpXAvCIxyKB62OxP4t87BEY9bGB4UabR5LwHTFP6snCRHjhbIduskkve6BAkxNjul9LD5Rh1VzOmUlul+8K1i2eiRsHtx/aTauwc7FFhKhvXAHIO9NoOE04qtqLd2qG0txaT1hU14XkPuJGZpyD8RBAIZR2zQeCXa9wyrcTIadLRgiwunA4aXmed4qeW+HoXmXIw74WGCGgqxCL5bpPi/55qLKpbc5B8nMf2yq8yaMFJObdnRAqIvRVY8goNTZA+8pdAwaOatMloALGtenKLP9r+nmpL5FF5zADRTllsrFaOatgaY8dE0u9AI7ohlF6DvxaN36OK1lHw3ojfPKSTOMj5D6yDnGfcIv7uTMa5vpCmWTi0DQC5V1R5QS/MrtouKg7ec3nuKmDoIlQcFtjvcoeqLGNbTtn8Aq/JnrTm1gkZx0c6vCQ0b78J7kxrWeBCFMYkrREBaG+IqGGW3eNh2BrY39ABTdmMqkF65UMchWHVhf7iwQIZl+3gey+SrtRHKQklZwSc7J9E4kZFIPDgU3ciMtj4wewMZCqb17GlSkOTwDn0s9E2Oa81RVmfmQwGWYojGp6dqMoo76IcIGGx0dnsyNA7V0UdYuZOKTa1BZe512fu9AIMaPmxr6qofiylYrZ6cpK7U2oxU6wlZIqo2ZUPSD/G70BXFULxFIUlWoHDYnGuCihtzdxgTnQUzDd2krhIa3eUeFleNCHSE1mQxkgroxP+QsfkpKT88RN3gH75uWX/zLfDZmHGWNwyiPa63mm2R2gsTFdL+5jeuDVMBBijyQOQ4n9B1RVcLIQVFQqV8Du8gwnhymjDkyQOFOlZjpN0feN3uKFVtphOr7uySsDtFhf4LTCoD8j+MtkIh1Gh9cSh74fT4nUoWTWWnqx7c7PoPCENDBNFagPtdel+8YltDGmIvHs59TNdrCMfghWhycOadgqBt8hBi+A5OEXsD04gynwmwa0SyHHasetkPw7kXtyxUOfPnUV2JdpGB1+/YOLzsdX7/a+LtlddKyf2zMF+Bef7eW49TrppnmUE2Fe8zjSLcucRcysCTSgBj7SEbdT9EiDHAdp+V71QofG8iB2/q7hXioKOXlIAErFWzDePbZPr2C08g3MwubgpWljtRK/il5AnAzLIH29zLowbj7r3XSHcopWXMphba2PlCeeI/lh0IuESKKoQif776kWa1JIWf3BcVr0B7M8ty8nLjdLigT3tP9bV4YyPXufOzfd+D8gKoLYfEZQcnfT5BrwJRuLSbokTSu8SwBBxyDkP6yPrxts5IY8Lvy3QSG7VuitaaXXfwseWPo1jtWT1UPpE4cihSCguC0GIXHb77mEweoHDHl7DpvXgP45h3RwIfVp7WYiALukv2AfPnceun1l3lp2sJ+hageVf67OHeUwL/Pwl3ZchbmANdiHFc2x+Cuoqav7oIUejqVf7l0CIAJcIo16sk/kIdpuo5W4L0JEa45XEHoyCS1WXKmpIRG27tqZwsvrlMRCtrkEBQcgmDvHVLX/gfhpfkOrDrogNJdXdBYbApeoifpNw6qwAqNdHeVbT8CfZ+7RXv3uYHQ7KMrgyaRJfyrxbD0+4lKKHR3WO5IRQrqRJXTj3FCCRphq2rWgZHXkTTWT5Sq2r6pWQE6tIZBs3TRsFP/EIr6exWrl0oQRKDewsSkfDTRMdbyBk2MTb38qgaSeH5OZpEG41jiKyw68QkGtDkXeXscMKlBOKcixax2IR+Pdvb+weGAx6hnX2EQEfibzvtQOaQKDl7ZNr6P2jSnYtaacKX7J9h21Egja+MdeihEv0eajddMuFUwmFJARdpXDcorEcauDQF5GZ+uXef+WQh89QXG1gR3t+BSTAlUkhP+dUOKk/ctVVEenMAYTesIJWD+kPMlOm76BlapfLErSyI/BqtRzr0+NJsHn0RR84uy9+Rp7Pjxh6OXsG3TOC2tWcTlkaYrOVsykTV0xlK64d36tZTa4WmmlNtScxaF2GHl/ZxwSlSJ2oQ1ivs1yJH8fsbfHPsw8qp69ZID+gCTkmDSbIsPCWaMxirsxtTRf3Bh3JR98pI7Ono7IZIoxvaH3Ymbn7RkuJtbhT55QtKfrHkGa2LG8vxv/MUM/H7WDnneOSAp0CxQh43mI/6M8uzeREYQXh47u2kV8Wj4Oxqdy3C/6wdOsDdblvCdDAJ6GSbObXR4/KIuU9pB40CQSfoqnEVzHCzhiy4hEmFLEo0gUOgLD+dtT9HzQ9uTjci/oothzeSZd/Y3Jg4o7VV4laQYUGKajMceSv/YXk0JYtKnSn9eWndcEvwf2IG7Gq7tT8IcwOPQRyjFizQ1ew88BtI7OTiRIZK3grXvg+xQLXqRznlLQWUFie+6u7uGyGXpdEhHp7owTZMZjC405gFQqDR32JEn4FWJEQlxYYhWpDJscD48pI1izvWZZim5uH6xJsq6FkJUc8grluMhceSZ7/Ibi4ZEGNULg4DgRYcBqqolcafMvBFJecMTrSkOekiPjy9dB18ytrZIv/wK57EFSB6O+di1wX13MsL95v9hEGHakOxn1aiaO3NaSo+pim1p2vh9399HToUIpKtYowpP3wTftTUap78ZJg7yfWB+X6VQWND5d4kLmAd0S5AqtL5yxOyBYyy2CMcphJ2WuAj/6c3dV036U4/h+TEFP7NdPG6ZEQDr4wfdEa+/PjW3Xsw112nrjLXU4Kdfmer/N/wqfhu12mlLbxLL0Y+8/bRruxW3i7AWS+QDFNWjV5blLidWDLQtEhqZ0Oa/nZZT45RXqAGwcuz+fMwkH864nsTHf42LKcS1Pk5oiRGGXcrN4nnm5QfxchqRssIX8rOC2vUOdcGhJHMxLyXKuMlNwwZtdehuzAjhMo9yn4SgWcJ5roMLdZMeHEgVUCINkm4d+zz1EcBMMH5MErhyhYH2ToZMIe8GcWUdhsdbFFjEFgcUuMCD84+qqX8mXcmbUwx2CxHxuTme8izd4lIIRtVKM5fUaMypFeYm2a91FyT+qgc3bFvZHFzfNB0der/DRe+PIE1BYgFyvnosHfKWv7Au+ivWOIQC1ld+JZjVKo5x5nsMOws+Y7u9+E1gKUQCl8feug9v5Xig+8ZgEjesBzmMpZyLAsIxfYWn2WEu021LI+eMVYeI5aJCRHeal+N7qPJmsJMoeDN7KSpZd+Z0SvKuTudcYbZvMsUXCfHQ7kbAaoR7eyZa3sJ1vNZ0IIYf48QQ4pWCD/GezNkAigbsKrp6CtEDeLHLbHf48STC9QLWb4YpbOSwlxvmTduem5g5Bki23tGllq2MUiRVd4MHmssTqSSrNK+Q32PXOVsjw49TgkPgok1+4Jy6SlgqPrjcVt3OeOcGLz41uF0DJhc1qbmv2zsQ3GJihggaANTXdOMMeBX7X6PZoLBkWOLNyiK6RmqNrBTTRzpV2B5t/eFJkpqOt+nCUZw+TJsSC39rVFUIdXRVNr64lINSyUrgq1w5rdQq2P9hiEy7fYUNxS4ZNv3Y0Wxg5vKguQ5S3jNf9gjdTYDac0UmbPDT/2kxNropfnf8m4m0+9vD9UPTQ/R86jNxDly/kH3wD48ubuKFFqIFAOp3oPRgLSgiXzIX0Cd7qVOJ8L8f/lPuNCziT8bP2hmteZ5TL5Kn72YWneSM23wgTVpE83gPiZBWN4nqzEekdRSji6aav5ghKxfkDYiG4Z1W6wEwHn/sbjKwgWDSTLcfjALRe1SJvWt/qAHF+hn1YBQRsxgB03zXNTTbLdMJf6bxoYMcsjjf2N/IsN8qEaCiZKBdTJpBOFZ4FSPy+XDje4Sxeu4kbWsnh8pCI+A+HUFUJvQTt9fOXqOK2qu4UJiACfb1Xh5Q6ASG2gRtLxOW63zxKl259C4TCWu1aP5q/dcvBxL0kb8MdsSN8n+YNScqmbyrqR46SAXQCh1eSBEkcfQ0qCbOsUkIIJCMx+MD+d84h3UL3aJ5IT0/EQFFZyCuxL/gzMDUsgeYqE5wotq8CnmsT59V3TC7pGIrxpTXjpSiLRf3nWaWAr51D6xNANbyJ6VlBY63Mc53ttiw52q7s+U+n9DLewsoriePVj2MM7UHTeLws25ZgcWmVXl0G+j3AwmMxGUCG1NkHUTd9Ft8zJ05+CSLQM1Qe+IJk9gbRWmuDufyhgCwjT3Uj1mq3962SdjC7TiLsHnBCsPirpr5aUSrZCE8gctGclxMQNcuUkt+EiDqKQv1D5kMFZ/vhOzHThkkEwz9KnDz/PWEEtLoJsqJ/hb3lSTgeq0nJCnjuQbtElzNZZzti8nbn+EElQD+d6uuCkGKrI/1rkpzDktIEXT5W7GUmGNuZwWyc2dzvV3Zbs+LbtIaMJJ4tCRBASp+w09H2xQUqRolbx+tX34Jqj0GsuvG1MaHNYsJO2IYMLwfWxxylu4a6VOw0Hz6NnVmIX2arOW09/W5LIEJyYxwL+n8VFP60v0t/majniPHLTc9ovtrEMt7AukKZODVfAxEv5+YEg4EDj9HI2BvmtekYV5PhevFDohRi+WZT7aMU8zfjRMj8xCT3BFkZuoxH6tXLfIy1KEvG//CTOlBNVXmp4yeqv1qailnf4l8rTjF9fMRG6n2iIHeUb0uy1YCDyGO5XBfJeoTYcbMZQwvier+9w5vnh6mkQstNT3R2Q7MoM1Bqr9I0U1JPCNUgLmJXQYslXpAYxv/KVlC5DyLKLw+Cffj/NqJzMP1y6jo0hn1ibds7VD3PJdU/Fq4BO85zuNpv1QJgg7PtV/p/Iq4hEE/AZT5s559dMvBJsNBZaJJha0YVE9K8JYhvG9GCvchQSKJxOiJr/vOK1WEKaZcGPLQlsMfZtgNrr0RdBeE+/m5Fl9mqUmkdHt+Som7otzPkIfk1ZZ5SPk29PZ7BqI0EsIKqGX6mxcMvV6X5rot/irNZ/X1Guf9dRBY1CuDylgX+PcTx4pSWSCJ7cfiWfEV+Kt41oCsevDxNvQ+RrVTr9m1n9A4icxRuPI/QpYwE2M1cnxA2ZvHH1TBpTcUGnPln3S6CqCMbv2D5YnsQKrB1dfOsLMRbjDn9XhaE0Ue+oFISnucTMQWemugMWB2JNDN7Kvekr2CWvpMNIpuI3ABfufNDTdUe/q8HSleNPK0w/xhOhvCsAi3OKgHgGX2zJoTc7S4knBcZ/hdKoNNdDJCDUF39OqRPemr6lw/3sTS4Vgzk18R9uGtU59DqvIIOdRUArayKpuzkkhfxkU42VaDjre7MnHVM8ZvKn6w9NyAo2RI47CkZ1k/OQiMKXeP4CTvfxuVAHTbGoyT3Q+semNy6MAl6m0zH+OIhbxm6W3Ja5fN71GGKW4Qmns1p4qlc6qtyU0RrzbfsKdbl/lrW/WHcHCS41N9XvjhvKjqnwE2PkVZxUNXGVHqfz+gQFiSJFGHXYkaE/8azOM0cxuVgqOJk9oaCL4A0dTWZeSe372FdtEKTmJNfB5p/wxa5Y+xf5lb5Da3441NS0GpTjCFaGaZspLcCk7KwmdDboGgJD6j3LGIUiyBDkCTqk2MgQvpiQYSI0Dr5OhNGkV1seGsd8dMb78ZjoiIJ7RXLm5p1d7OVyVVQuhnzX7z0sUhWMvaVCMd1Evd4+XgdeY5Eqzki87FpDa+2rJxYR+ykmUx1CmmsGlgt0Le4bBsmfh4d9ByazqWQ7d5mAJLf98Rj4WxKQrjpAtJqp8RPzimtKH18a80TVlxiMsveAkdpf7q5U8HDp3iKFaQBEq7OAtyTv2LHXUbLSNELLPBo1XVxjtO0UZfDSoe5DM7SmvdcHiVhFCiuMj32vS6LyvKzJhaMjkMwv9NA1+R/A84f+f+2FEWwwbRsXqFd8RUKRPRN9m86kaj3Gofo8BDRFMgS6ji7uh7GvararrTBj1pauwqZb38SsvbiJyN/eiTFHHa/IgMnSRuwBGvTiqhBMxaCGrVH23tlwOzG0QtH8a4LNDtZ+QsajKMUWwOoDNhG6W6OqNTOgeJcWai0KsXn9m828cTrRRCjM9x0QKQI3dX2H4Nhk1QA41GrOtVGvMeKy1xQDoWVht2QeDtQqlx53EAiiKVglq8wHJJj2esylDIxz6pXS63oT/xic+uRqf+YYNs5nKoHF6FANtzhPRm4IkMcPu9ZvP8Q3qroZ7dY/IPoZ7vrGiSkOW6hayOKlJSKU2SnT9tg8DgxLc0PdBm8n5aSynnfM4ld0tLTxyMUK3MJXKI/UbcMgqrsZAQ732wKXiWOvFcAc4EWRlj6YXgnCnYDmbNV/zbje7bRnm1KQzeswpzAZa8iTiAb9ZbIyo0n2SSfnIM2SkeE0OHT14UdnmhcPSoJvf2ysSklZwe9sh0t8YBIPjOS4XbThcSnQbBiGQAnYGdX5sQi82MmLuCf1H3AX0nrYE7ASaR0U3mGXFpZ8Axn1PZMr7bgZDtftFh32aMKwFC0XvDyanFLrB3w49zZdUxcdTyCibgV8tW52Y26pwtgbW1w7xLoGXUQ/vgyqQiiyjA5XIKh9mltrN2LAtN3FjNuI+0EXH3qEOgpprQQoKokIrxJGjxT2PwR6fKg9U3XCAXi5oY3OPkqrdBwGOdOcVQ9DMgUhoNH+05YoBIRj0NEz11jZmHhDHcPd39IJI/QkLAHwAVYjKlQiAh7IHrks0QrXGKrSql/cocSvO9qUap7Ec3dtPSJ9howYDf00xH2vzL2YaeHUrL6nvcnA9xRgMc4T3Ms6xR17WtPrOY45EVXhWIQ4aRqENwnT+guQ/lFdYld6ALvlqDWCQ3RlO04U/O2Ehwm1xqy+INkyAQ7P+BsEzjpYk0IhbqlJGmIexuH7gtpe1psBbjD5vxu/2IwIm46Wb4IwnLWVkuBOsL2MkGBRu7ILXAiULvpPAxYbWemzR3dEqzC3QIrwxW6SlzIQLgpzFi7F2CQh+qKOysJ01E3ac24Uj9VdRFRRH3NtwikwXCQImBSHbO/oD4Ih2CHAdxSH54TR2uLARbKVj+ud2dI765QAnIOSMdRGJ7mBl6U/l9hvLkxWemGOyZCzoqGh7V8r5Eitiuj4/tZMdErdLOLQv/rjxRnlWJuLe6RJwQgGE63gWs4ngqLShz/gWiba7kJfRh0geLOA9AfcAho4hkh9e1GhZL7KCs/dusuQe5uszfJlu1JZrk6c8bphmoHYfGl/ZcmDQ/vhNysmYUdUyOwoVya+Up6N8WZWKRXur0XOcH587OksRMdmIYFc95+pMZG9TTS982q75W8470NbcYVOAdeqK024Xwg0LUiUXjg6jNZMq3qn2uL+iAD1hX0TGwYCllfWpmZqehMAVx8vYNV+yj30FBZeF14/bsIJFkgbP8yHG+8O+KVDiXy0g63BbRRxVexNmM7jVKWtbMDBcZevzNYiHKJdLTM2Co7Er9oKmp6fI4r1HglzitSGwi4DEjW5RgQQlpXZHcmWPde6AprmcNPmXRzEGlrzaRH7uqyy86uzj8/1YBvf4v+FHdCS1t3tlc2hQ6WIfTnCOSfSWkqs9XTLv67QrsMmbuBhFkCEH0olMJ6kmm4DH259NtPZufZdqW9KO1/YgqJJ/Zt36LTR4apH0s52O5xsOcLazjyKlsmZT3AM14rdX9F5IABa1zKCAt4bbaBM/FYvj2Pck3At/hMoSoWqbcnGoYAbRfZ3pPS8Ibkm7XPIuGDN8n16Ov2KdvhYJuLz2DKILu6QiTqs9Ir2au3j+wAfJfBaFg5f1jqvSBQnRyplXItUuMSWGv5JHeit4hKo50IziH6AlqrJqBwKXlOMPiXJOBwvsxyPx3hu6adbHqn2xNDjZhasBf2hMDfpUyxtm7rY1qjo/pI0UbeZb8aicgx+vErRpnf2eX0YwuxFO9th7fvNxCgULmqO19qhn/MhVpeRhoPdffXbDXcAkCQQqfc0pO1xFbQrz4VPhtkNh/2rdBqHfF3ABHvRcFlimalt6CoDRjpUHTOsSb1jpUxTo8w3tl0dbMUdoVgywgGvhkZbthRyfrZS43OsSPw6bV+47BqELU87Gt/94L2GcRCLupPAGKApqw30Ovx9OTr4AYkbZ52bkuUBKNgn9QQv0A6OMCieReh9rwgq4UzxhYQssKTB16NFdqcWpFpolWKRQMKxj9caEZfLP/8M2MagTgzIfHMaomIRZqkGq24PPGX7CX1b0Qs1dkFQ2YiayObjSR3aEthJwWmonQAGVecfeffi3BbK7MSIp+KrcjarO+zB6EraGLuSRC5MZbXZ5qzik4apR4cGvt2p7aNemlDBA4QQFYhto+h9yzK+9RJaEB6DM5x5vsuVvHQgTpve2l2s55HzQewlzEKoDuo93yvzs4TNEUi/mua92CRCOE9EKgTSop8hwnX7CxCcuEjGJzbujFcXptbIDLIfX0A6xXXokZQe1j2faNFZTandWLE2Qr0jRnIv3WkhKvlqOD+PR0qvdP2JiNSXcFH1Re1ZyLJc0Dglr0m3LtTjq80SN3AvFH59FILc0YqErksLffcESyxPSI0xGPmnNV1OaHw4PdADUvVzZ17LAmQ8NQfeEKDOby78uu6oIt06vkjCnXhmRtdxheCo6QoOp0gZJlzCMoKg8OIreyf2DfJdP9Nal6uxoDFpClxh8mRqIKN+Nthle2pRbwCOQNUt1+ugkEP8+oxYR1OdS7CJ523cK02WdNnptZmJ93+75aVLiEHKjE/2IzvuKnP1C4kSzhvlB5dYoYIWCmbpiHMVLWDcif68+mLCx6GsePrSUgLpwYCd0vpdgK5f+6qeecoOB4rKfyhO7OhEZZPukiCe15AeU6ejf0mFVZLenrkTFb0L6LyYC/R6rIx6n+8iUaeBgawBUYn+AlOz8ve99O0kC18sqzL2Zq6kwV4216tHkB+jPOSoJglkA57xg6ddvaMviIBRIam3TGbGiyLY23xkutzLjZdqcA4yrqnHTR0VZcmvMuUe2irbCAX40qiWUU8bWrwNaxGyP8Ysr1Iu6WfPbldlcntPA7sT0JI9ydHXipUew1bCdpdMZOElbJqFMWQ4P1kBntEknG0bCBy5hpCNyibh46lcXe/njMoYw5JFfsUTZ9NlmtjG6TLVic/cSiah5ZITOfcEPm5Lr361DT/SmPWU0jq4vTL9eYObHDD/KpL6d3K1CgHjsZnIotJvb09uQWZdrmhAVCBEVcftj6X3qj8WhbgU2uvdvLcRNEHCDeff7cAzuqmyerwC44ZCEM3c0qmbBrRbRTY1BV5zzSU0h6DRxZFNlutCT0PLnzO8SKtVB3qnrfgsthXL7hmRpNnUI7kOttlSfxj/xyNz4HmXPdwBetTLkyBINizcdsqX/TJhLVUqhiNt4IFk6nVuuMTw/MYXEBnkcOfOQ/PJBNXqtLA0tT3CzBH+cSoQZcJ12dESmoK8/jhH8EQeW63myK/lUl6OlmFa2y36XBpcZkGfIGM5tVf5CqmG2HDmCIIExhqlxvYhf+w38xkgHUW0iqJ4qqQ5uaCZsbyA/HpQL0mt5uuYzYHTCbyf6OWTdtATgVUP+/5sB0IqMFb+ul9wEgGFLKZlchPS91eR7q8EzR1bx3mHtiVjjbxVAdArQaiHd+Mil7uulYPrZyqlLpr/TMhI48lAiH4z7ppCRm/0zavbxyjydtxWSM0rF2DpJf96P0qUJyWevfQelE+az9RkxJPMy87NURqzqMlCAh56eUyQOn02Jx061I+41y770gOWyQfE1J4veUu5azgZ6DQiexZFtjEaKTWCcH3hsN9+MIlQ7N2FeuqHU9s/5fbfnWBz5rVdDNHksWVOuShr5OCdVQyeiwvRidCFJ8i3y/ic48J6EL0ObY+eaLIxmU9+Z6aY9GGQ5WHbzYM6UbVwHuXsfqWgA2PO+iflzloSD8zwE+SlyZysVCSgjfd+ZWMXn8ySwilIAh0lTSq5JLU3CEwB5gwUS/Mlqpeixby/vddhb4oTdizcSt07WKKnBdbjdCKv2Xby8JHLr8yRZ5E0JEY/SEAREIm0oHAB4u/dSaOBa6RX81ScZ7zdmHIlPTamNeeCUPEjzQhsYF8uLyFyuqC7gqLbioDqHYjjIfdEGFpR7sofKWoNo560bxycT6PTnkImgcMF0mv5dQKmiRzGkOWEPXe3ws/QjMPxpWl5SQhduuVuxBmPrrDOGtytXMo0WBhDanFINNDpKmTCd94/Y3vCNE4z51kFUSnbQmnISq5jAkKsu9y2+ChR1V04oBs9ROQsq4JDu6e4hbEiEWOgOdWa8BLdfb0cHC5oj64kDSd39YrrXaPH8U60IqRCzjrUlvtxwVq7OPSdb28w9+auHgwC+3SwN6YEZ4Gan0r2M9UKgZ2deJVfG1nLjFsmGUJBt2V3MGNKC583kH8TqsIGhzmAho0XZYCskaHlbz6RyueMHKZSDjjTn7Of7CwPWrHVcVdlU8yWRefbcfloxQj+kp6cVUrrAogCyaAy8osacD+uTv1YRVb6HFTPKxQ7Er3DI0368njN1uKS7u0k2dKnn2P05YAYNWEFoIWSs5ESOsimro7ChEjJeRPD4khGUrj2bSXADqMcrHHIpRs3XTaz74ExNRRTQqNkX1AoJHIffoAsklceUOFwEFvVfqoYeUpg4W/lLcAuou/EVf8kpAUpkDkPcTs+jv0bOnCgyrXdIFHQcAvbtF6mtnSnmMVl+4W3Z9lLNQ6OZuWlh2O4FYnbkgZeLo8/53ek4gO5HbO4pouzJQuYaQ8duXIizwVKnCVdTFYaoZhBn7ffqEUY/o4DNzijWXxnEsjusVt5dEYRfnXZEeoz1Zg3FvG2nUR138WpXMn0EalRIbCrVCKZrE+3JOQoTeWAv4wUyX09PVpXulypcCd0OKOz1YT3CpIFLqbIQphO/anh6N1YlSg+n4fGmit8cSusmVGmyG8jbSE/3A7+HK1y62QBJ5wFk0gRTXMEbio70HQkCtoLVJbim2v3C30OLbhKHViEaWTq3bjcncV1HyDNRQpIK0VlNGVeOUaQcF53f2kfjFwtV5J17gZcVow30HXDUiRkjEG4IZGnGCgY5YLfTDMIv8bNeoeKCi2QmroIZvcD77viu0FafKMjq7DFfnpN5SACTyaf0aX6fT588PVbFHfjpfrqkSIGEevgA7mbTpQ3A/iO3qfOxyjqGctM8nM/ERf2UJm7oxWp7mYtaqwtS1ApyeTdINeF63n8eG/iZQ3D6rTKrmVx2p2UPRsl5FE0TZY1xAmTxH/ySzQnAOVF0gYGvBPJ5A5vvkPsM+CVGAj2iOsHE+FzaeB8Dei1jmaw33ueLjWigzWLhSeqtbf5FlLaax4g8WwOALEJckkmL3M5RICJR4cGHgzya0+syA6UhXeS3GnSOdhQRIXc3Mu7UI1itw/Icpq9FraE2wQri6wxKHob2SxV9zB8ZJ27RXVniDOvjkWpE+TNyfvmNYCFEGuehK0soLOG2q2/kFh/1b3C/4OHzkndahMB0sirKnNUt23EG/vzVwxrwUe7kKMR1cLONoqHnhLE7R/gTVLyhmw0B8aNuDf/4JNk/L8PxqlF/+tdlo2aDHBEfV7R8GRDTMzEz2Xn9/cPHZPavgoRE/Kzqm1EOO0WbpH9H+mG3qQ+7NmMoyIXZhrT7mJIfWUiwKr8fdZ06ctfeq4q9QJAL1/p4P5MrGOo4Y04xz/ygj/O5PETxT52Ieox4LMds5czs1qDvWjLG8ahH0hBptrdpgfE6LQ14gL8h7TPG/vzQRAgoAtvVwpgrhI8lrhWVV4oZMRIRc4mloAlFwqnKiXV3WS9bDjrpxivZaPL1UWhA//tRlD+/OLY7tvRAEBfJl/cvBY0Gpjp6lF8r8BlW1jLVyvr0GkTGBu+erwSDG5UeKmhLsCqkscPxWkP4CnMD35SiIAf3JsUStzgkW4Ysm2SRwExOiqA/kHFyyUzg2MflTN1Px3xHL5tFGZez0vpDMsJ/HUKDuetF9F36tZgSRPc0r2DiI4X5G3AMj/14wo4G0Zb7hj1IguLHl4DW5DlJNMCxLGVAzmtOdw23bb1tRP3W5BpdcgtcmoSX3YhZ7wseyHbU2wGZH2UUtyU8w9uZu9N2UO5pNB208VHgCKqksJFtjQ+DtY0EZv/YzrOYFNe02iDjJuIbqSV6o5YHrHwvS0xhYQMN+m4pt9vg3uzq13rbPC/MAZRVBBIoDPNZsmRfYmWzCMX9XQpflQ1vZqbkvrc9gU/Mk+0f4uZzlJik/S+rMbTI5JX7VqLPAGIoLZ0MUgGhm5+FcMZn94XV4VzWaaY05CINCass2ueXbSddncIeHHrJ358k/4Ht4YOu8aUuvS+9yuMfhONKxlupkgT3n7qs5QtMcbmwEHSHX+MBl7+1Bhg8fajnJZLixikK2nLJJIO2hUfQngvdxNOfxOkjkV2pclvDfBBT1KEVm5Bdbtjh7CEHCbYY7skwpVaPwBrBitMsnq1PPANFb+7/JEwlTkgoCg3FoKdN1fStBHPrMJmRD5Uh0nhpbHHgzHkATEtnUgE/ceS64umpRlwowhyJiK6gUdwY+gNXUOheeEirMHXvAqhK01BRz1mDqvrdTioLUy4w7yInkwZ85r7iaGxCCbfKmjUq+DSElOuS9TJkf9iXFismSed08olfgUmwrCEU24unRkLwDYzlVzp9pwuc6Us6f1wMq4c2z1nW9L/nMkGIMO4NqxScqXYdjZvEWOPXI1DJUgd3ctJmDTrKeZjYaPycCONOf+MPjySWIkqmgB6SS3V5FmUaq1Z9gOplTEw10vwr848S1yuNm2WNVBpt/wmYAmJG/ZFdEyW+5MNzmOHuatnf3yKT+oAfaiwDUzZ3FOdXlzCaeWbt9W1PiOi0ARCSnnTsTESQ0Xz0MzzBH5hgs7trrZR+Er86sGfZv2AHCB+ZLAAoc1zXhbpVqxxT/MjRJED7DDBBOJucG0/d4svIkRfGSQX84Nx8JmlqNkweIJ8cnJWW1qbDYZQMsgex3Rd+otVWBsI8KwNRhBpT5LFvbmV9wB1PeZX4K7axMoYf1Nlay2pcD++fO8KoWCpqUA1lxNjIDg+nR53053CLflGSW1B0C35XY/u/ymcOw1xk55ygBVZSntoZK0apzeLBvpfj9c2to9gnb9JL24QR7IDjqGpU/B6c6PdrVp5KiliBlp5AXmHOKikQyEZ2BqMpnA6tWowG+kTnxX/+dPrTrcNkhZbh7vwOqN0DdtUZof5GiKDidXMiCSDdxJSQprfBHMIKYktoAnJm9XPnuFbeyDLpMpdTCV20YWDG8WHM6xnF8Q0TO29MMBBf2UFxmE204teMHpP1kM3GooxYSxokU2zaBrSlbvwOkvaldtnGu8B4Ehg1UIg/CZbFwuXl0PpFIRYrwaC+BUt4X0UXr6Yweoc4BjU3qH+nDV3xsh9oAXGFALJK5coXMvxDZOfwZMZQjnWh831D//sgogZyYowWNChSrYaHamh+cUes7GCh7J27N7SVwhiDlJdOvBX5xvm6lTfwX8yk63txXQbjZLA5j7QjbRWBtu0n6Xk9tPndbdCcLDqTI/Z+o5UlL9qOhsgXDwCoMYPDKg0kP+lOY9xR4z1zhHiD2qrYjnycY0HFc/fNBuppj40coJ4HFFdPHYZLXcfuE2awzD+1foCkCzEmcQMudTxqTK+DNv9gtvNLxa45gdOJCi7ZcYmCfj9s67DfrWZWbNZLQX4j7g2qRo+TJjOGGoBJtG6vdwUskO6CA5VZtxkFcJ3xECiUWzD4Dq8EpRBWSGE9+8G6EWCF9hWwALS6Nh4tCO8L0EFDKpeqJRUcckq+izPVCpoFDTE9H0nsQ0I7cccfHOD+ehCUEwX2i1PNaqLF9+uX8pnIBK907C9/lcB6kWd3TsKAcuqUGaQGWN2/2aeegbeBEbD+2dV0n6UxHm1p8WoifIo1GKr1Qe5F/D4SzlYRyAjafoo7PVfCNIMHba2ZEI8dmvzP71bD2kQbvDTiPtVLeUsown66aZM6WYsH3o24RQhw0BKFNwq/ouSvdJsRYBNsVzDaLG5z5aaP7hpkwIj5Gy5MEbxqy03i2FyHf3FGtbMzup/HVHlE79oI//urCljfuO3Q731Ip9h4tOdQAArYW8fMB+PwWJD3yvwhP4agjHCAuT5r2THCjMTOAhvswfaRJXt9hFfk74Fk77UnNly2tIolj8q6+jYxURUEIo8bn+SQ2Nv6M0Bvks+rFew7BbQgWVdzDZRKs9YgW2zJ3qYlWlh4PHjR7CYEvPhF8Yojcpps7axmAQ0egRF7n2BuwTnv7Dtkbsp5eRD8Z8rC3V1i0IkTz9oroAObGDKZ64Rhyl0uyY0QwR5/joB7fKIuXB0d3rrjT6paQAqg3NkIjGuVHoLJt14GpWq3CcgLWkDR3+4LfDSugBnfi+w562k88tB32JVL2qgUZVLGTHZwSQ6kOFZ51vuJNwPOQFJRR7se6GfNELnRDK6Byv90lDjtWxbdp2ccDj9o80libv6gVDlLYSIqT/1EwYsH75mH7I/J6eixsxv0xKjV6vBVtkDQfLLjz8N6DfSS+swsEr016f0jRgqNm1Qvy5R1ZUJqpf6cWl0Y2y4C/L/OEexpDH68k0D43XlsJwpiT7T/+rK15VEPKKC5ojw3JRsY9Y6Xnfcfwn/UjDZxEf8AADWMtGoKnVBEOIiv9ppmv6kigTwxFQ7dd0EKbudnQCcqZAnXyAaZYFQqfHg7XU7LJeohzql1Ddtr4n2oGchEePbth+ebNxw/KS5/S58wRjsML7eJ7CdFXBXOUqFrwgTVp3F4QExijpA/108b0BumK9eMBKps1ns3jY3itcN9tEYUw9XXIaxLHkBZgFfvSf61MQGwx9vn1msB/RIwrIiKvZaf1dJdwYaw1kauTmyH8jrHAWwzjud0MI5m3I8JnjosDTJY3kl0aHuPCfcsS97jXvYLhZ1qANNY7dtV8PA2WYw/aXXXHtsQ052cTV/I3Ev+/Y/dhavrgoLwYQ1VqHRkXtVHRTD8RdH8hASHxkLc/GxG5Dqsh/tD+upSv0xtHx/xKjlb+gydUYza04BO+ktsMgnjEhjYRvgwoNTbz31lZzkqmML8F5N3HO0rOWZCbPnzsJKu5r3RXmhzXzoxlZGCQZ32C4WoybjwoI8DLIm/rc6NCWCs7SG7tCcpSte3wm017SaODAPXVLyfseo8OtFlCF6kf+T8KI/5x/0VYu3MTAgEVvNXkgTtn7dSU4z8ed5rUF6dPj3VEFc6g9hNBkurVoWOiNjn1LzOzl6F6erT9ulLYItC+LM6H4DPYilVKA4Dgp8jpfQnxoG2lwE1agCwdL+ZoqXWp32GdT9Q7fg1ZOaYiBOeTxAdG8N3Zzv/y6IRNtdaudETA2NTeCPAx7F+y8ZzZQeWXoDGpb3PLPbQTzzo11nNVPwr3ThFleUs/xR6pTmOVc1WLgq3ZYWOIeF7V4WNr7IshKc+bsLPIALiIWwR7YjCLKESFEnHPmDERIYU+C+2XG/OtWn9z8KX7yrxgFjJGj7Vqsd/QtHdvTlfXxb0zf3bh5Aa8312sKFT9jZhXDFiKnjcnSQ0aAj5yc9mjjqmT3LmZ2ojP4lepIn3gyEnVbRQBXd4e7PCu702ALH/DOSZA5dZzwH4VV4W7q0X8rq7sIF84mLkyOuWiw6/viC+4w2vRPqF/Atv4dA9e6idJoI63XRiJhsYA9DnX9rDSgLtdt9LTCTuRxpRytvNjdXBNNIebU9hY201OOMAsVppHEv+ZoXtFiS7mM5coXDdEsqpoeYrQhLy2jszqTMQRCVNP1v5vF6EBQ7dwwwJWXYLMMK8WR552pPeTKvGBO05VEPB+Ez6gQnyXF9z7lmfq0V3FXDDkpqoNJhG27J+mUezprTqd7sJnsd9jIspFzm7FFD57o4tsMND+YRhlMVgMxfkwSvQrEzIUIZI8uvwgpoH5j98wI3Cxw5bm+QnPj0BiPnxaaWUfSYaEHcy9R28g+ot+ZGMVugJxuU9aXnruXGn34vB5OxFlNv+1tZKd1WtAT3srkzNuA8eDSeeAVPeX6OhzBSfx0/+tiCZr4uOWT+Igzk5Lmj9HsmADyINA2G5giKtx7JG6IbDb/W/nrsd44aeNF9ommpgyiRrjQP0w/lBNH3+I11PMdHeIG3q/OnGSV6DDrnOQQoGWfF4u7ZY+ClRaR3/rirZahPyTxEzPraIKVt++rLSESR63m+ZITG2oR35TybvTSkYTJvBDro1vR5CyAQjDX3RP/T4bxUhoDtkZXy2xNPXwm+7oJkSyFoEVOgY+fcKbrewzbEdJ9ni+KrKOam9wFY+9wQNuMj6ZW//pybfbujbGQfr3AeK9Y307eWHkBQJkwAtMvpnIUG2Q50n1a0x1ON/uuDAXjkUlclEqGvo9GVAQEUtwN+/4lNHBxN4bLgrUvqi8q1y45bViTIVjL9AJo4+zU1gjsziCMkr4s7bUKp71ukCNn5PezUqPVfEu4ujdXr83YUXX8T1tu+sMrasD/KivjPugcrTYxFiUVNwpKeKQDbHefNxW0VvJFcF4VvCvzPUi99VSW5Q23hrB2aZ6P2brJLXzFZeAObR+UG/cGXMx2Gjf/VLUBPe5FyvvOsFR9w5UWxpB6JE9cdlLCj4x4+AWCwgTeSjg7JFBtZW6IHhdRxGZ8Qh8I/05ZFChL50DVTJuD3W3n5ab1/Q80AVl7U0Fjy+gMwOQe4IrkTFD3BBDgV6ogAjYzlzE7hGALeBDminCgWZaMHq+dyyaYRt5aPwmq1DPBT7vOqHAzmyLA6QwSKVzHS/Ku3R1driO3A6jPL0cV3nR8xbWFm+McGXz06eSMH/86pjq5OGggGI8uNUCzeEwQB/rqtkb/zjvqVX3tGqrSKslfjWNSeFNfP0tK4EO4DaUBStsBNPLPf3vHAGKo+CpqaHbxyqs8UveomDQBDLy9saCc2dmZwPYTOvRMM+3FNhVe+QzpnK+rdJIYjD9Q+KHCDrXp12Jm/DIVe7LfS22SBsCJisdccWpc30t7jxJaNq+YRr4XqnoY4Sqd7xJhQs3jx11JzC4WOQ2T+lhwGV9IExSi31sh2enpdeaP0QiBIlpj96jXOMUSqj/usDiRHZZK9X+CeZYZS55u0SjwVM0LtbolB+rjXl9E2hvvFfW68uJFwBSM1kbIhhUPIkh1AL075aaixJzKzEqB5E7nUTUiT9ZD67tIkod77NjM5iZXs7TyW/k1xzK6Hhv08momD9jovBdnyTFa5mUeQ8ZasQ9ZZVMD6qvDK14tVHlxwxGdCqaDTwj+JV9t9P4tfNOYlm2ys7rhrVOft8Ywzhd58SnTqmD1prJqrLW7eLi2zsNXKnKsVGR056Mow/bgMtutwESNS/Dq9IpVGh2AeGZUSqofyDoEB8nv5mJNYhkxrTZ7vFp79pcTTi+gZi0xl2251tiC8Y/A/P85el3uOM/Z3yX/iJrSHEcZIOVIG8BD4FPU7u0twwLceWArWbr3dt2iGJfJVZZqV2l5pE/JnlMJqdW5xRix22O2Kt1qUy+nqYc3MzfGkjInChHTzVABYYnHF142MKYMYikJOweXCzMEGSnF1Zo5K/+Ks11II1gLL8GdMtFTpEzQfLALsTyApSzg5wHg+IFgG1ijrIiQDRIja0+tt+84pXED1IjCIfp1bogfpDx2EuYmmwW9l9go/tq3Jk/6H6WS27bFEzRl2d3ksYBZAQXCRqBtLtBuAwjJ1ZDmEa8jXza5dGuwNp9iW2DMNS9WbztSYiPjhFlsUffnBtUR+u8oZtxnPi0ENQGlThwvrh+VfCpeLitMiLK/uhiyHa+D/0tqkgjV0M9QxoLFl4aSuunIiz/GxhJORtAz8+zw15VH1BMWtiHf7e3ep0xCTgwcs2dJt52zM9t0JzbfNrC8ymP55Nwj1VhuQxoaIz5sVg+S4UTKwwiYSeFpz0K02yuk+GkyErDkPk+IyIK7LrCGYejZDoeLZnEYopPvL7MlqWxYQx0vahLNPsepOgS5Fc5IPhdBO7jXHG6Ij3MdhsiyU/zW5+4NJzO6C5usV0VWlDCp1c+nBYpemaPgvugafZRIvIUq/45TDiE7aoHH0Uc9qjKzop+62deS+5z6kZFV6Bo/qE7gw4jpQMqChT0zBTamnboX+eF4QudoctYkjbgUof0JIlIGlSC9F0Gwm3x1QVquOmNmo8jWFkFGVmXDd20RQgXs0PsZ2xJpQTMhJUogZdYjeBlFbI1oNAMnARy0wAT+XTmc7OBfAYBuZc4yNi3OFMc5UGtQE+jHfYeeqSxxPMUzeB6Iff1LvtUElZFZX5hxRb0QbuRiRIVS71B+tjDXjIF6vjIyzGABfwKMolXz/4IAEU5JDw7hm6wxnFy9VHNHSR7kf9IvSIuxDLC5z+TiOCODK66y2Cb+USGIST/NtcHj6+wEarGww1QqDyh43xAhLcL3fjMy0P/prui/eGnVehbga2vAxL3hFm55NHVxFn11WP9rIypUb42HICOiMkXElcCk2YwazKow5Qvus235bVPfKBOT0mBV12pWpgubyUUy+U82b2e57n2YvpWdekFPRiAn0jU4NLUr8vOUj2u2vbY3mrzCUnvu7hAHBXhzOp5ex8RoZxos3d56RjZ3zHwzFo8yGeKnm41qjjXvWh9M76q4UslWWarsCDugYrIWOBzlp8zRwJYLgR00loVhfw0tln230A8YDLwyHNWHzwN2jLxIhh++TnrQP+ceW6gNRRLPz2YwptwwIngnb3N17nB0qFQ6PlM5Lrcgju2HHE7QCxBacN7b48k4nHdrYGG+hOr5PXtcQYJ/V9/Sa/UHz9FuxBV/4t0e2KHrxkhpJiWxVEUFXlsQXC//HzR+Wvozb08hkfOgkRzGSDhkbPrN6AeHedWHrGRltEvh6TnlvtAztz0BAgtSnyNyzOqZYzJ8ZQrBEfNREJ+Uaft29Ujexzf7jOKR0E1EImawerWL9KKZna+f4+wxP/Kvqd9NSIOjUZmFI9sbhf0b0oaZXTvrLxi+DSr3Mp+/ei+r0AIWZj6EdWjgWGN3QV5TtOL2qDRPfXpmHGyHYss6ZVegACXMS12Waw0tyJkaN3ho113lXVg3Ebzk08pX5OaMmI54s5+KO5aXuYVkmRlP5TLJ36uQ+KJ0GLt2hw84hTXIjZui/YVuXBQFgJg45CToFP9/w68O0jY4iG2IWg+XlbkGWsL6udU3DECuYr9NALZm+GndLuSyL27YYFpJmwyNRqDHsT7XaJJIqRpaGqdoB42lfhvoloE81BLAAePubPW8QpTtfTGi6CaMUPSL7QqU1ID3j/QHfipmdVT/Llo/+3AE/V/OGh9rRwFgBEJjziMdZI3CNvHS4hUO4tjTX/8qmnCc8a8ChS6PAGLtqwBAzF4Mi8Tk+VwoAbk7REQI1pfj4IDHUquhhv3B4Eeg6zL6xmMGl8HOi2RzhhDJqWQW+E0EI+8oDjdiNLJiueo0cTNeGPu2IcgL/VzwGYU82p8DTXIyjgHqdA3SxhEIss1+xk1T3Mqq/2bvh+WWL+s7E5GosL4Le0pljjTfMK9R1zyzfkmEXtauho62UXaSMlrsScRcvpopH42hxyp1R0IiL9FkL2a5viMwmroxIeGCA0bEBI19ObvurBUk+2SHO7Q3KTrwY8Ex3Uu7KLMXrI1vIl0zUpYMTITifdTUw4YRAVH7OlJaWm9rmzdQzJEW9I1M9pCPtIvytZt34wuZjfluXrO5aN/ZVwDKUl4UcWi2aP08RlEt9YZQuOj5ySD59U2bDDjpnnTWrEraPBNWurwtwCPBiI0h+l/6I+2cvLpaj7kAii1I/omRw/tR4E6ksUTDGyRo/aA/GGwikrRXkq51T8Z6JZA91lq+fi5itSD6vK0LNK81hFutxzFne4S+TAM7Y/GXullRo+qgDLsJTIWNPHCPKIITksu8oZ2l3h+2oTA2BUOQuEcNbiHCEDXngeWK7SeU8AZybv7Cqa3uJmDilIVDtpA5Vh6NW7Bzo8UoUSoMh2wWEnoYKFAn5LntHr5Rot6ZfWg8517Rs5tdGpaeSYrzHJWkK8k+P+U5glvgGaFXfm/WYMEECLY0trKk3oH7tEs+dZLW7OK2cJc2MR39wD+2CNOK1E2D7Qpl8Ll2yTmjFijVk7rsFOASAWaO3PfPWukhgDXbo4qyziwsgth1JPRMEW2PmU4kNVLr3taMxN+HPCa+mIN23RYj6is8q/p7iU5r3o482QXzEHRxf5XqA+kYcA2XHfuBdUJ1c0rbEsoYvW5zPmCkfJypIwH4vOGOAIxe91kYJd1UpI0cCq60wEKHvSdET2ZMbXEOcYR8rLUy7gvh8WPWg3N8v7qvz7AkDYVjPBvHiu/XOdr0dTDVnn+iNrfJ8/MI67N2L5yn+IY/gIRUx+MA+QE23iKe30CqCjNmb4D0pA9FbgyVOp3wTZI0z4iQe41ZFcJeLx5fHDeyfDd5ViD8vaWvNFpmqQlXKHyqO8R3NqOxSmXsymabXXJ8kjLLSFl6GBkUjFNOatwic5E+LXFxDkArHQMqsYvQ2DJZcc59P9s2IkCnUn1FACvP5u5kVokbtJwH+S6ZVcRjKziOQ/6JXdTtNVTCco/vPRNM164cM27QYUXA3pK1kckQ/SqFcqdMvC8ST502JfgFxek1eXSXomoR4hjaDzcMvFCT2cnuM4/Ym3T4qazAoZF4KfMANEBnQ7RRZQfaFLZ15n/KGCYTcVEKtzSZ3UcOXazVyEufrZj7q3vSFLcoWMWEo+wTByQZeUethtOQHVzSQgXEhF0c0RbMCbnKBqppZ1SHNtU/wCXYJOfpCvZzG8H/5RDEj/biwUX/0XRE0qsTOb8wNghe6obUoBDFrhTFMYWZXgxMd6YtuC2bI832fv5yxX6ITk9Nx3/fzW/KEYsnvWPpuxtXC+4YE8T+vuAAjaSiVyeCHRlTLUktGcbQUiKV1fmuOGHtyizg3XIcwHI2kMefF2HCq0NmdWpcey/5vMjvqcRSmAshGf2ZyeJsvH7aH7j7r+9BVzj0FTjv1l1MciDPxk1x2ocpWB3lhmRN2H9Reqlb2JZNLBcnKRrcmr8bTwzvEcF0MbwLhYbXW67qAUAXqA6faCMYu2Gt5AOGlG8H+75k2QgITRdkDky7bM4mXsW/RI/saRsLcze4/qVZM853KpOhjSXGgJBHfzATRxsLU7kVEYkWzL30Idd0mh2JYevdjduUE5ywSVrSmJdPeH/TqmPf+LQ1cThMp/FCbnzn1zq1Zbsuf9nNfQQThIoY8OPXZK0NO7AYtbhhxoJJuEowcavqFr1MnFAGwmZw/3oj8cPJun7BoOuqttIHhRd5krPLCK1Sj44knSgZiz2aQLObeRChfuvHVqP/ksrE4A+LHWliGvNcET1G9r2QlXsYUQmfaIFjV5ChtLgB5vQ4XFHqGuh4a50Dw8UI/LtVBCLnt4CVBKpk6nncbjNIx91e8iZGwHdW5e2NCijPH6QPwkAw5Pq4cMvVhsJLyIjjWPM7TMoHkBZZokYt0664sVpUtIyJJi3nm/7+gjgzYy+n8f5X5D59SCNPO3RJcLnkwirca3VqhCmt74Ig2rFgQPYwCcP4hxAlr1KR1KQkr/xzsgwAG5oBsUFWSd0VYtje8Ab1fWaw9Hw1vvdv8bIJJ9MjPImldhdBApBbHS/rzue/c7QOId/N7lcNzGb/0ukORd7RHxEPUBTazVdfOpLzsP4mLYtHHBt1eECX9lJZ2xb4ZJ6oJkEbEpjeoxyx1bOxFsoSyWaIu0Uqka+/qzeizAwHWwjwai/LnNHTEoxd8HaZj0e/eLY8bqGvMwdQEeZyFNQbbkdPPMKL3OvL4E6kVuQC3IS3OyiXuyFH1edY+bmyXI2w4stEDZfouejffSOEtZSoA0e6xtwg54u4nWpDR9jq3SZFgybLIxOyjLaj/oyXFhdEmNmV5TzvbsUl1ID+Y5xkt1T2s9R7WqiZPbs0YE2CtKHWg+xd7Q+20uZn+C36thjzhNTfpnQNn78Zh0QHyyLMQ8heRkW18cYvetFMDwovZZj3ZSQrO9QP5ppPs0OBEUGakdI8qZGgQYvw2gQOu7nRpg1U7eRidyUvQUDSxBZhpSzqhg0APRN26XFFKQPX/uyqRIgnfs9AAQ02Zz5zN3Ko8qlNwhCXjjW0yPFTjsbTMCaG8HNwmJmSXXSEg8En4S/r0uLe8ThR0URwbe7tpHk9x7o7GjIRJC/kIEVI6AVw3yRBs7sTz+akKUbDhVHxP1pb22TyurwRjRroakY3aocTOXQky+7GTDnnrgE4Q42nVmktTzssoC0f53GfFK+Z5HzWIQVQgHGuMmICoQIMzqzgyW2WQwKZCh3XOGnM16iTB+MneHgxfr3EgzopISVKovJ5jvx2GZqp1ch5xA1ahCbP+ZK468UhVDx58+umN79juSFwi2lgTioN0GIfWRTZQvrTvcxFqPieOpWtF5CDvfVwGxx4+EkACF4TwgIzomeBcpFMc9hYbiGJBPosLat8vApyuimw/oaZS+r0CmA98uVT6qVaQsukBYSDdQx3yThqE4O4GJqkWAxiy6ZaotS0BHpryPWaE5Mi6O8I5NYGfMiHTENO6tKU5Fv7CLQXlJJrASQjBBGxh/4m+gAiwVPmvtlaVNinrPp1DKxcDKqKqMgBUURG3xgUu2qr9cQ1nyDsmjWQU2OstDIVq390BKVIJiWVRYxEb1YiCg3SYiu2dYZtR71CEoOxkGaN/7Rr3P/OYWGIRYEUw1E335qEaHYVlriZ0PK9SNTzoIYTR7g3fumJt5YUnztJX4ZrFXFgUAIAPIiJOaqtfI/sT3NG0CXAubuXPtCninMtarGSaK3dskcM8TMz5FZFvlQgDI5Ovq53nYXWhYXqN+1lIWIgwH37yKgp5Mo4RWQ6Z9mNiLs3W8/6gNaWblhuGudWRcb7LRdGNsRxApRinoB8NBUsAt3b1kvAV7FvGo2tu0ck1BbWqAjo3fVl80VnLc5GXDkMO1sC51shM7LeSpDd0NWhfBzYsGVaHCUlDCh0T2AgwvMXikcPpEy9Uf/g/KbCk23tKeweFGgXzXQ0U+2UGMx53wkHBwvL/Y71ot5WlZuUjoazOq/26lBjeXKABh0HOfU5VF1QvcXuER8pTD8yB18b3pkZ7sdZ+ZdB/frrlqHDIcrjvEBxFyJjHdyoKCvFvVO97LdWqXBq1DNfYWicxDBnWfRA8fDcGw+QBWSoW9i1eOsnWGqRaswYoVzwytl8LifeNJYP+2Ykuv0IF+OJQ3luFnVIicAWvdbY70kE7yOHxCuiKn3sGyOhGJvxPvbpg35tAZGhhvoQ9Ta4fLKi8jOAtrz3AofY4oBtZzSN2tGAjadNl93tQbA54oMxIjj6RdVTWzNYNZsmpR4FLakuSX4ibUgWg01JRhzE+FZZ2gs1SOlDHuveS3aQXBXOn27qt6p5nQmGGhBqoHI8mA5o8R6mQ7mZmk6e8DHV1RiBgDgm1dlhviCd673nDyXIcgrWS8VM9ZoTlzYuoFKtoB+FILTUN342j6FpPFIvUToFmnsaX9EnUD2VM5cHlkAZFBFP1ZiF6Q9RMNTDxjc1osigAc07nPc8bRrVqv1GGnE5EyQQEbDuv5AKOADMxHyclVrpHPSpL27sw0U98NfBIFiC+ZaTvNf9SP6ox9JHK6P/ZIot88ZGTnl59iR2U8GGcxwiP9NCGOPc6pLjNPyau14t6vi9i4XJKUnRNoe+SHg925cAGH6F3TPrA0CT0Owsdi6Q/MbML1N6yRefpASO4h9NQx9tqU/im1kCINqrw4+1gTEQuLfzIbj9oIMn0ZaGg+S7UM05+JJIWruiJVkvsAYk1T0bwpUwnAJMlU/VR3XC7xIDBYXhIugvGZZrZ/7Vs2WLTOiZVrw3Ut8VF+qzjJ0Qr35H3rK5AdVv4Ppd/D9uuKMScbx80b1h8bwsWyUzg9yDEI3SRM+vwN5Ng61MM9qGRwOnCrXNrbLK9GmXj7Nkkz9/0kJFvy8MoP7X2kLlJDGiuezLhTQfoiJlsFhMNbqySePbasG5rwZHPRD8mZ3B4meDlcKgXZF/pLPTPQppRlcY8kYxnZoA4DRINWtEUrLqESC87FK3BTNYno9XG1jajKpYc4icVik3SRdqX4nOnPbUon5r3V1DcgTSpBdtDbEZXqWYrdX3FI3tWcuxLHhHN004IYyG77yfeYUG7OVwSaOhsoJWH7plPavdR9gWnqjFllOXPRqaDAjLqX8fe4pVEFJzaqosFiYfi0qk4WJiFAsipT3du/L/YGa6OmKqkBLubp+z+lAFtRsa2KuM++Y+3CkH2EeW6yK2q/Ts3uNF0q/c+2wlQeqUBZvGd+g9UmpFxn2/jtaTyKrC9MqKZi0MxXIEPLolk9rBO33FZiCnSOM21dbrXTcSmpDuGulygQBNzyvnJPguxvwABpWkdopmeaIfYralutd7onZ6az6ReYYtkNMBFCMPwN7FAd5QMhM4DDo/DoWDuNwyfs1Pv0uB9eT3V4L2Jp2n/NXVAKGVjbqMUV05uSJAErowH1uOVAk0i6vv6VG27Z3SViTjZXKLVIj9WPYgJy431PWR1UyrOFQvAy+bmnjpV1dNi50dG21HGJik7WMAd/j4kJWUFDMaBI7r4FNKI9Eoj4uXKZGHNFndv1hYNM+yyJz7T3A+TBhd+ScdpWJj4YMIzphJcu3J2tYsy+mpWuzwDCxOzsoWfYZy92kPRi90vjGc0Y2agvRZG+0860JhbuQUjQNhcDr8AX2DMuRKuhePPKkAcGX0TYpPQ2jOeov8yd5mmsLHqaiZhhIA0GCk5/ZKs76qx9/jSUJp1tu43nS2VN9tfP6T1T8K15Ok2DWSfuVpDkIBPdqYNF0DNSQEqgdwpWoCGJYizQd/+crruNrNi1XN8tHyhUDYOn5V2vAuI9ZFQRwY5YP4cUzGnT3oEtJEBdraGOYQFMuvZEm+A0Nj7/YSZv5dx/TzDqVbzrGZ17660n72dKJGhF9NLEV0ygQkhaGgZAam7/uurCCbbvsYnBy5jA6jIELYsULob2OpqAGdkEryv1Ypp2rbv+bf484mvOgP3sbs5LI8DIJNXM3UVJidR5WlaF5I/4WRLF9i4mwWcjXW+jhdE/Ug3ZsDXFS3gJkqqhussCR0/N5swVcc8NQa5+9BaVKUS4Eyvdm574FSW7CPSmDbYq2s3BtZqOEl3Ic0E21pBDluBJ7AKQ/bsm6NqsjfmA93FRfh3zNOeqMLzn3t4RT9RNJOJ43SFydTw33ka4iozzvw8HlWRbQgY0kNifrlAPfC9zS4QqpHIajMlEx2ottPhCJiCIEQy0LBP5BPCADIZWRsJMtg3Wwht4vDb96X5eq5PRYVlN1GdR4XbRriLSSUHOoGXJAf4eNvOOKgR/2Nf3WnWHnZUfuKxqd36OnxTbdC5mqnRECYkRZ5JaL6Le+mKGBUlToCb3M2u1bwDGGCtu7f9JeH0Mrdk4HnsJiP7/rIHQVVRU+bpI+2wODSRr00V6pYsItQvbxNQfiFLH87UU0AXx1NGBuAfzQjWuKV1QCH7QN/MU1rbikj3YDOOQBz4tMp1WpYowHhJM4jA0jHVyiOlmVwtvA9epqb6pTDc4mjeB+XNXCWxlsmy2VGL1xhCfebAtYQ6NWLv1lYCw3lUL+IKC+aYExjS/C4HudJZmyyDaPf/PD7l9324TfYkIoa6/Wa4Cor3yC7ch/8TFAmYGsvLpda9etWXaoYLCaxGRSO0P8HDzUz5AUrsKizh1HdDKvfDe3grTRHFDkE4aSoiq3PoOyeno1HcLW9CrY0BgjjPRKBt5IeXBBhfx4QMlPdwVznaeB1mH39A3nWqYGu1qxj4ONYoUoG6UtP2gsAGZGQujFex7wZsu8+0rbv+y5+Usy2ymBKfepHzv0CNFOd9J+qnxDUWNRk29DVwSruuhxakC9GPtVkMFIbX3bLV0fqgL5eTSr6JO+fiZo99slTFx+vpULsfNHg0zHs6GI5VCT2GtDOFWpn6UfkFERs8XbvsN8GhjOKB7VfPiNBtURInNOPtC9aoaO7hHh78JpDNLFIgXmYLMyZJBTPql3JpLdJMWDjoEtlRgAJlwxBiH3O4JxMD+I+tRmqBLc21Pco/ii4cxJGQq94Hs/9HixhIyF5FBEUlUQYnC6ZU64bPJVhtvIMXs1K/FSgdi+qAkMy3EnIYZI+kRqXpiW12DcnoAr3YW9m99dXSnoiO++KmGPuEzAvCUfU6N8cI8KmWpe0Y/Rome42LnJCxziV58aMsp2XXAl3h+v+XLnVf/DYTG5b39vLAHIqfByVbzFHYjueD5CcB4vZICXm48YdjsYIRXsjYey8jf4CKWmWzm32S4+GfuShY++br0lWqa372HMJ1j+ZoqZje3/T1alPS0sjAp5S/oj4SRLUWUSvtY5PtRxhOksZzYbx8uXDy9dZh8QRoqV/8A8XXTRUrOh1HrR1vFWyS1T6jR78/y5i0frPozE9pLfsSzQzGinqdc6LsSuVygNBOQ80++vByAjLGyMkmlHUuDswQD5aQYefShWSe8HJsRea8vR1ZRwY6eV6rUPCr2mUswoZu3pptAei3tBRVi9Id/F67CEO27pnntXPigNFTskTaSp8p0JYv9WyJrMs+EtrkD2X0Sj8Brk+T7dSHieM6LNkbERMZUK5EUjS9Y49F+g1y+LOoeAapoRaJQo/DpWrTcWCI2zxHfH356wDmwxwuyNOWPoa+80TjnSiV2fosu0rBDmFEber4wixcHWY8wkn+IVkWlD2SSepGjlZ3iAF70py/SxpkLKvGhQ5FTKDfwWKItau8/lUw5XfDpXa2CFWPASwk70a96SlH2N7Qoh+lILOdjKMWqN4hqmW/4vrd7lZgAKKTXZArw/kpjzxhXDpxtAhSdNhkckJ7TYoMAPsM2U6VNKkbpFOn4VfD0y/S2CDdpgE9F5mrdV9DMpetamulppjfKjNeHe6aagqWvnnORzfMVq/IxID0OQAg+IiIa8BcwGraSEqnhz1ODHvo/aNzqWZAyLZDmHPGoDHDL3FAXf22yUOHhoFS4gG+zXIzvWQ7DJYtasTKns7vTD4+cUCW82LuM7SbqRyFiIzKRcEkFO6IKdYCdYr9SO4mmJbvotx7HxQmZIaeOYr/sXub/g3IGn0au8Qb8RZknw2gWmbJBjsCzf7U0xv+BKRjRJ/yLE+/eU5qPitN+1fqNa7duQCXHYfxvqoZ7jht2WTnAB+wl9raFjRsUfpmIaaKZcqRn/W5Fe3tIrtcDAEwMYalYQRoTWQDG6iPAr+VV07pHX2mIVn+Kj3eDMOfPpKj2KUnxWdACpq4mWXfQENgoP32pb2FvBx15hlJ/uX8E/OfjfAc7cZQUnenO7wIQPTZos5f4m8B/V5xu9uARtt/5znKW2APsu+Jl0SagUp8q/o1G7XoW9WzfBQuoETd8woRoFmBPysAALTWxJeVgvq6eFxvVDkXV0riuCJkdXvlX4p1M9OhBMciu0busvigZPK9AwFmYdx0LlIzR7uJUpBkQ588xf4THqgMGXvhyPsk+9AcF/OXUNAkdIM1VUNmTCO+RObGzbBVIPDVrt/h9U7rxY8R9F42nDc2pXyGvA0hgOnV1NaYUvd1XRjYSqhrjTVjKaDgBCbHa6opiJGSBw3mEOdKo1T5oinuYzeIPsVr6NKQOoIH5/EGp/YCnfN1wcqQDZH/BUsvMru2TTcoQuOjVOQofKLuLgKU/sApoC+MrseCQUs93/VVPfAe//y7lYG366SUa4jM/tco7KCCi37BiWs93PqdK9c4cSohuFIfuoPxzKg2/gZJbGgTN5u0TSDZrX5UbPaVrKj8Mwq/GGhk4F1kpiOTtGVN1c/WGfMBvaSApWU1rawNmKpSfCTVp8tO4ZucFdhuAYFaYRnxi2QpqLp4TTLuFmpf8WzYvUtC6806orViNiFjClx6aWsHzg6PihmZfonULILKvTlFwvmnJG/1ER9S2aVVJJmzgI+uyi9xzzdE3ZOKaGUceqi0PnXQq63rLqoxyPl/ckbP1+Xrew8xLJvixr2k1/1xGirazDwfxKVhgFpVWOTx5fo1It2nlyMdUXvUnljaSh27pBKbDhl34JcMzU0hAN/7Qv4TnJM3JiTJ9UO3mwxjLGsJ/2RxDiNtx6o6/ObHCet61wgkGARjVAdcvbbaH3G/oVmhRg2yPfib8lbMgqrWg7DxIDMT39SJm76+0GefMKCbgHHESEvW0NUbjvecvWh5arN9oGWv0EAOYX1K8CdmdAX5Ibhivm9Elcqmss22nlQAJS27Z7uvliNAPzKd65xeb06qyr98UZId9tXwAq6nnAXP/Z2sd+EESOyMebFKsZAjAVuy4vLZJTtJcQCcbR5+BpncDMDA4Rab4X4TxClJeeWvPXGDQ4bn0UkCku5FvI48G5ygjNFJPlodEDhZ7MG9j6veaCtje2/+V/A+hzPTCkToBF9BLyN05fXSiJ8SsNQHGkQwQzMddk1XwkmyYycWGaZ0EHmcv2/waZ103UqzjNF0zWmPDGK2J+u49NsN5SIfw2mwmRs8BYI4PCAvcEh/RwHmgc9avgIYxw36YjKDFYBzgGMBZv7203UAj9GceaLPCj1nqVgfyLWFJIX/kCe21TLqPvcHYxPLUD3gFl26uvDPQw8xnyDCep1gx4ZJig5p0zir2hDmAMtcfPpVFKEecm28HoR8e/U+yclbqfzVxjM5JSSUCDK/mwslNKlJWvkd3CdMyyX4mJ5u1C4YlvMWJzNtg8enfT72Enrxd7j2Oa91XE/ap7I+kOn2Siikae7McQ6cl5aPmXE/RdO6h1+4v54SI80UnzYWPyK4zUc+KlsUvUUg82jcxJCj/wypEVlcYq9KvvBEH8XPm/JglThlIaSKglttld2fW0l+MFcITMl1Fl52VZDkvbnUHS6JYcCP0rFNub9tOBn5hQt1rYo+mswmTPxfa3EVP6rJ/WBoOnUQYn2C9lkQRZCW4fLCklFf3ibwZqGybu4W1yLCSD8G9K5r8CLQ5t3fy1pvKZaxemGCF5ulsGSwWJyOebqEwtGocs6z0XUpIB7Nrh+e1Upy5YG/URIo9PPwwdTANngIk2kvqYHzvetgkLbYeO68SuQeTzYBAYgHeTdujgedasd9tdJGXR95KceKxhtnxKM5MUyejRGFrSzlvCkCg53cKDnLUHH/n2YU+QQG4y/Go95Q9DSYH0EH1A+XTMv3suTnh7/OgnZzBD26qJMG2WT/sJ39YSuF1y9RyukQVqFcSqXzoCwTCCBMh7V2xBqCEnXAYHWFG+Yo9hVB9duJJftsL4O5S5PaVxSTq7t8Sv8+hx2NYDk2OxWeQYe9Wf4K9WG2ytg4F8LeVqujztO1g5rjIWSW1g9i/6rnLYr2e63IKgPp/ZbueWjLuvpFN6/zIUBrYDiQOCRU73h/ObGahfyc+SMkObKmEBSrJBmnVTSSn7G2yqtFIMxvflyyjyMmpENZ9gRzgQBmc0NhaQyLL7hHthTrTNfQfR25x0aIKGFDWLx5KvvjQEHwL1sKjFq2pt69Pv6c70bRH0vBAWUr2FcnzNp6okM3buR/L8E60y1G9jNBqBqhb13VH5a61q2o86aTWr/UZ29sCU7yDPxumlIuNjn4xtnyRdzoR6E9rQZzitXDd3fhhFGt/wXfkawE0Gepvir4t3U+yu/0Syp1+m2vgC2zlGfMEyj3RM5a2kHijq4p7+vcLqnDflbsKQeatYHmPGpsxH6jPqN3bbTDqq5dLbOWkpzN5Ko4LKCUHOOn1IksSSgu/f3vgYyBVSFP3oTBwEf5+NCKhIBjyQqP+FRX2yGm9SmSFRhRJjX4L1xsRIOmX22aY9MMyv6TQTe4GYRjmyWQKm/DITsf789yzG61+IG93piII43nlXxUXxSnW2p85twzH5GJv/g3wDx5/Y1v516FpIWHlL6//FyeXHsZ6awBDlhSJpffuuHXmEr0eWtAGq4Un22245Fcoc6tF9G07eTc4UNT7hVduxgr1fOPaSm5jNHWrV5ZVzyx18OnI1wxTOQLdLHEbuh7EnWtC6KUTzFwCnLrW2tKeSdk0xqfBpIvfGGNE5N+2RQNUjJ7troL1cP8+6C7yHCr7FSjPbWMGBO6/oD+WYA00F58hstA3QxiFUuHbGzoc8pc10BhNlV59eoE6bLFmvLui/EWrLy1ZQlyimZ6RJSjO9dbRM92wJ0+rKgXQeXlevmNgJgXc3ZTiCbxpkkNo46Fr/3A2OIPTq5piHN6oFI6alS4LMg/EuLVyP3/sSXLDKEnJ/uIbXjiFtHZXWFv/Ahy44USDMEyhrVyNaDqzgXg8ZSh8zhiUoEIEpsVxp3ZdKBbiK0Lud0Jj1UpToqxVZtVZBk21CKQkpnRG2fBxZIfbeoAiSYvuqvFjGUtPFFQW+LrW1cPY4qpbkSTq9WG0cPgWXVNyRois9fxRm3LAhOXKMEURDYJpkl3NtITAVfmQ257cT7wcTdoB8zsTvKHjoMTSsvGgiI6oYg90qdfFAJ0K9n7HC75HY1MGllQNzC14KAgaw6+KBYuXf0uxDU3zi705awdDJfBFbXh1Ca1CDLU5kQv7RASt+tPRW7FACF5JuUro50z/i8VKHW+YD0jG4mGPbwR/p+Z7bRKZ0W+8kZtxRJg0pxAkv0aDDLURIK6tTjU5PDZV/+Q1/+Q6IdUZA/7JAW8llSd+EFHYCTyXFCoYdq+w9SaF9qwbo6jeAYaFrwf0Hj226SrhUF8WgZgjtwzQiItYXWVbJLnOt7Qn+goRs3sxlRPZ2BLGmpH1DjdcSeVqJ10w3pLrkDK66n46wuAGUSnUdHBG842DxUjcXO4hXOX97cJj2ZO6WRqXtGru9PI/W44YEINYVKsK4QB0z75wisUQkX5eFNZM75OhWZqv92mKKryBqB2QKaSRTPP9iwgtJoktnHO+ftGKq66e49l6+Y64+yIG8Ed7Tl/KymbW242+vYwolJJpeuWJuZ2eJir6QN/ZoEKMydgzCRhX0Pb+jFVLj8MAO9LyUrp6l2lXbue8v2knW8JvSzDMrin65fMPEgzhZgWTnWqscKIlQR55VsypfmVuECGLP5BoZ5SGLuxLaoSEudXpW8qEUJPG4vsaxk+FMHfAwN52UQ9iAcMWkA1jKWFcmKs991tl8mdbf3wXhpAAJlhez1244gv4/ctO8ILJQSaL3LIGioPxcKC8nwuI9dU55iVkWchgxsrfZsgtmECATr0/l1T0mweW9y0NhGdodYlec4hpodTfZeFJ+4GP4c8MCoTkPAP2DDMWiRNcI13Eilu5yieJrE6EWBeGgbf18FETVOnPdQcqbVDbKjF/Oxsyhp+8zaYJiNUddHIZYuEj2US2Tcdc2VtH4JeQMLaqL7NPKzrx0eY27hgkvvKe/LTDV0Ll/7uSC1J+z/dAoT/qQYzThZviUkWfQtbHd5QBzUSEheworvo5oruFeqDyYSat1MCh03J+SRfdWctvCbLLfNw5J6nq5LxcbwRwrtuNMoo1Jac5OzEr8yd4YXFEnfbFD2iwMv0ALqXBcn72uL3LbdCtsvQpj2qOGjwDZDdlW27W9XQLP0JpxNN95qkvd/2yb+J6r6XVGvG2TOH7h0OKQWWLLrO3Olw0oXycvprJtq9pv6mDzqSrek/161u1DUkpg2YZdv+6CFXexBALzCaetsOOGUcIbAaUjLUINvFVy+0eRdikNTU3GwY4+daOvMRhN73PkiTH9ch3IEvl4Q2VoAynbLAV5mqP/mwpoNNLBCDMBccKlKRAhJcQzbpvD00q6X0i/5uuu1OR9Ps3vDPO/3Cji8Ew74V0K/cmVYLCna2YkyVCCc6VC9wNb+xaYEfQzhwJ/Qv1kG2+hN6BEmtFaz48iB+gMBU2y56DZOoKsTNJTo3EalgkrAnJzdAIdN87dwXtb7R9sUboHEobNIdU8R8SdM4246Ho8U17+QK6C+G8oOnzxUDsCpMVePJnzUlugBqTriyzJTabVqqsIBQHDxqIX9OOwtaGU1bY5NJ20Fyy23m1WJQmAqpJwg+XEDaPFI5glnOf4fh4uF6fvmCUW/tSjKQb1fuVDIEpJusNUS+eB4hdGmMEVffURueUxctulNq9orVkGchw71MTUq5AJSOcnlo0M9i0d3W3/fdZhpVWD3kER/4t24VwPO61U1dc66cpK+ACROaEhehpgJBOJ8G7oOs6FXsuaeoI5lnMgF36uKAZj6kD1rrONVQxQhHIU7gWJJMYUl2/C3SVgNO+Y22UoyTamrci2DezbN4Gc2DXjZJCVe1KB5B0DGTzuZ5J4auFPhFRweBO4X349M/RUuyHnFIkFOLMtNVrGU4MVnBir5JwHXF61vbdmNZPCfWLD8M+ZiH9lUsP/AZFgPbyVd6GJvetDN9r7W190CGbDynpWByO/EUlXebbHvNKUTHwDvKH0tb+K5/ZGPRNVST8AeUkL/qfQMfglbpqJuKepSXvnWfHHYiFT4DliFdOeIAmEwAT3578PzHWLPgWZrx0spSLWQVACBsBct2z9Byw30E1UmmIobWPFvy99xGBi+DsuVNF66Uh/rl3V/K5YU9itTYnN6zdcPoth7gIdaLHQCy24DMEpeBxf0sh2TBbvmicr6+0EKJsyaXF7RDz2Tw98UOL19dM4hosMlu3CXCfqU3VNLxIJj7QGAqtgJtrAkM1G4MIneynfFdN76IZz5izpqNBWxMaUG+pA1KJpN8mYzqT0iaU0MRAq1yNmbZXO5GGVBusiDqOBc0V5lQZBkd9Gmf0o4yibzmtakYnT9Ai5iikBQdbhjNoWFUAt91pFhKvzKvBGcS84f9Nu2PskGOTsAfoYQKsGc1KwPbg6QIKzx7xYXU0KfEOYBnLpJ5944uEp+aZWos90zN2Iyf3bqWa2oJLohr9NPrcMAmyQh8XcTM3JbDU5DAcS+OT8ceReJhOKCVT/MElqZMSM2RBfz/rHUylRaDFNbbq5fJHpKz2YDBXrjoEXl6MOk4B6RwJoJ89AA+uTRiMNmN7Mo1dFVtT2OSv+sCSibEjsLwid8o331v2xwO9Ob/AH2Gqw8Afz1+g4cOhKaWn+F3gOjcQZptKEDrCuJGte9+wRxJNL1xdQbyns0I+QB958yhrr9LMKlTV6UqbkZXoYfWpeW1xmR54cOFKaSwtpresCXhAZT6ixBeEDfYDvxGwuLzX14TdyHCZhjNotZAo5YNuBLLjW/p64aNoUvUDbJZG8e46jcC31ceZEULzo7dkgWKpQcHLjnnBlQITadzpRyQGK6s3dENm9PD3TZEh56yX5PKiQ9w5iM1cHOXdqUx+3XZH6iqA0YyNYIbIIesB7DUBJpKTl7LzSFbOI8L6+nPZ9IPkKYhmBKkNx5HmFR8gAGchpeQnthMGo044DZFxCPf5c+7CArqYuBgt9HmCyT25rkDBSqOniy/V/KX2CEQ4rw5Nsw9JWDGQZ2/oLsP68Sqdx5rhzBDtGdn/ID/yz2sJXdqRz6b6uW+qkC7BURK5CclLgJQ9LTOFcRlyD4cFzAfcO4LQHirqwEKjYgpl90F01VNBunU+P+LYynQhXvOOJAYNhpMJCnMuFaNU8+4QXWkqWlMpL/WMJ+7Quu30ZmyzzJVlST++Kim5wpKNHEmDkdWmrth5FAuLu/SOuKCT8Yt6rvyZk0Pkd2M3uEQ9TiEbgkSd2nQTowbegXJ9Cc4jOweCfp0g5y/nY++CeAvUm5SGXtzY0FvO4PWzaDVaV+LzT51QEIIt2E34J6dJ3TcPm8/V9FE7marXSvnTz2LTLhRMSmYFyq68jixzj+oHU3eJori9Oc76Em7cT6qyLuwwaS1Vvuc+p8ZMvFCo7NPaF/BY8avsomC1B4ANYKHs9Hd8VKwKFa75dT0vqZsZYsJza4ZnKzGNf5aPK5uIKrrdqQdM6MvRIN5PQjpM4PjbkDUfiZixTEoczEaS8WD9nB2CURxAtftnZ+t7n3Nj1bi+JjjBFlPQsUFQ+3vd5iA9KyxUAxt2o3g3LGDavMYSiJ2/5Y0IVZ7cIDKqwhYJItxzgQ2X3w0bpYW3ivImREzBnldIzlar/umMr/FaVXg2jXxgd4HvMu1RxJdEKUyKu73uaXq5RfXQ1dBrEZWVd32q7yF4zHnPsztyCNxxT6zX/h+7ESIYnJ51GAUGdGxqWZIM4yACuzNkqcQu1XP1LlahN+1UW7NTZ+kqChCuf+y8gWgKn0iJokumTGtx5uqzKZ9YrvugvqXPnvWGbRI++geGsSNf/kyOXaFqwcSjzJ00M92ghkgPciuS17lPlnvPW4v7q6I0IyTMMl0yauu2+cm+H0cBbL6n6YJZVnqo2DB683KUp6ZPGwqBqFV/ooxfThG8BPSv+z7FXuYKxWZ0xitlrPlGmEHJMCOCGAjLq2xSM74jVvP3XqD+h1R1G4wYDMvhhZOhFY8zGryzZAK5KBpXC+yp83NvGDjo9+zSTiYPcXIGPGei31CYEMZcOygNN6tgZTKToivdCeLdww5/R3g8RvljEzS12B+3mqFCxglkTJPAJP3aQwPeDyuUi32zSoVPpbWw5+7PtwO/uLLN74Sakkjpe8Ou6aah0aWGIooTvvaX5/tsfwW9eDjm1Yjn+S0qxU5vrkosY4dRc1FznLQOw2AjjYQu4w+YJGcBSc4nWLAOiGkXpIGbLRAJ/UR2sZdlysJaKwUq68RewWRhKHUUGeRVIra/Jm4mZLLvTmkSU/0bkGpx9b7ujIDQjkTr6rdoc3fXAInjxfhADafrAGDW7c2lPsCenhYEF0/hnLmaCjDsGzIJuuRlrcfArU6zIwHmDkeFrYVVW4ij03+mbWp2FyoL8964W9hg5JHeswp7pPJMGx8zSld8u+FjA0zq48cbNNbpqs3SkKv61Ab1BJiR5FOn53bMkONRbnDVmt7ACp1rmKXglq7XjH1i/lNUDWVU1GIUFwKcFaaRHCWsaOWJwwIVMtYssWV8KRGbO8pJKhwT9AUUBP2SbB4rt+HuY6BAFgBLIXTnZN1OaY5OkLMQq19coXQNqPx2bS8MMlGaKtunIFR1PCR8o5PW4ytX+PY0gCn0v/8D3X3lGGQNire7yMft5NowldGPsZOPoSScIYSnkR5hB0tadp43d/8I2I+HTLbaCX8S63HXKZ8hMcHi8NcZH5LkWbRL6kay0wMC7Cw4PdkYBpmm+E/CwQPKI80T8hxBtleVLzlzb7MRzQSAdltyIL5tWJ/baRoL0glK1NjV2rcvLDBfUmVaG1gcM8RCPscjnVBMwZQ41ofWDwrNpjWuW2MY0WNe66tqGZH3H/A/MRiLqHzTpfe2KowipIDlzbl1MLkWn3WEGqAHVik5QM2SeJhjgdUdksqwizNlOgtVxTtdrSs1jWbELxL1d/edwo15EpYzbVMg4UDxyy7hrcpSa/etDYKoeL2LVXnB1A65zi5pO0xPWCIeSeHIiTNwSpjiDX2wsnC38E0bVi2/sLexh23/0fGCV8lNA7pAPXWIz8tjqVzmDjU90dHfgF64J+sCPRmjf1SdP5iy8Hvi+BgcAhYkthZEAIu0SOnHt5vtC/5I2qhPAYTrkww+W+yUDKqsHeOjzlmqwJGJ6wEe3pj+gpyXX3bQuk8BYM11rX/P2qmvkqDQ8x2ibut1ko6K3zZ7/w/40gn1FbizuT2uPZwcGSLmkQRNfAhSp0NHUTnm/uhkUakHBm1/RAw+pGfvUv6H4UkSofneqacMyL/yN7oBZUkpv7Eq3lzoObHPTWPNxoWy63SrCXVH9s+UrUQ/9lZ1ecfvl09FahSX96XkRTUSwis7qf2z2LLONK6cL8aYpXIJ9chUFCnvanDiCiGfG8tU1FMmKS5LSHKIvZ+61rSvWfT3cGi2E/xMH1ftFrgjM4aWbikb7i+7DvzSeeamrhXaozqOrxSqbDJA7Cg0o+BbeGewvHPBZfGBTqNLTsoA10pjJ48kTTSTP8VKwLnb+5Ies7sqHPfkRYwYoAGJXB12QqR1R0FnTIdA7ZKoM7RVrPGXHK8GT2IrFexjIKFatGfISnQg78eoq4uy3uGkxHbE/yKYmz9IJu8EfprsuxYkpeAuDGJvmdBXm6wRcbn9wv3/ragy2Ztqw6RZi+fbZkxK/bp+60k/5a1gsbBc8wBwUsiJjxLzwIl1IMdLYj41xmmB0+/RTZYVpUuojZ5gQkBKo86SbSQhmqn9RdUn/EKxyDl0xNTrB6VoKU2cImYyEd3738RV3lwRQmr9VgsdKLBXRiVCg59YKm0vpW/7TIiCvMvUDAy75eB7N0yYcsXWNkjWOoTJGGYLReRB6QN9Fu6Sg/z8OHdNjdXBlJ2V/rYRYzedSpsFYM2+ooESrU2G/KUcaihpFkqVzQQAcrnGIQTjetfabqNFxBWI58LTWl2zU+iy1K3vavZFHkSkpwRFfaSnS6zp1POix9gcRNXlDbFy0RJW7qsoWre9IEAnK7r6pTjV1YkRrXaMjpki2eTky66C80FUzZMeA0FgPVSlC3DPvly6sUZ2mQ2lm1pone1dbae1sl2yVGgRMROrFr/aX+Iv+VA/D01XgrCbpLDqViyzeECo2nDAWcu6n5ro+KNhzPaG0MwtkGnX3xihqfVfAktBuJgnnD5diaYS0RlgbnpylWaacgjVYV0GT54mL9YDRfqc85LDJyu99/2vjXG6j25wOGuGETIck2KSQUSBckUfVzHUEGuztkysx90yUNMKl1VyWf1fvsZf1A4cw7OyWVfMxxdRJuWXwCzTWMSwInFzjgkWAQkWvdsilf034RWLrD9k6UJbNQpjcn3d+9TBRt4XjRV1VILFq+AhkaXHw4Gi8f4HrmJ3DiqfU5gf4PaQ8Yx8TYXkuf17dGWmNVc48R5L7ulaA7rYmK+iywX+v2d9zw5LfuYvkP3RKa/aPxdgaJUMQDiPf07q5jCmH0KB23j5ymq6WXi9qqSMn+eHX+xhUXM8FlNKDUpivG3a0svCG9BuS/kKKLpXU3J5i42k6Y+70FO5X27eRDqOVW/1ldAtqGwAlvCgcx9RrCTrLgFibODtMMUXdM6R4i7NxswYSTRxFLysAiPTKcre8I+3RFYFiwPBdZSQusV2gudzIajPjNyY4H7d9BzmBJiwd7yal63poWhs92+WJAkDZReoklaQ21WNrzfH3NkeGJ5HNgYKeS4linkoy5WUGB5ah3ajGowtSc4CGNns90IbiIye1BLaVvts1u5XQ0J+aVOLEGdL0a3yRKc1Tn3wHnDSN/guNgZUQrkQPexo2y2LkPCLYYpjkJG1Y8OeScfU6L8OMP66w7UOSPXVWYQa+WPlkbZevfZyHvtDdWhgXokrKTqiRCUTz9vdkz/eCPHp8fNVY7R7yROmkRQnhM+9qYLrkv6bOhG7bNRblkwOMTJJoW+9y/i51Pt7HJj6ep3EetrZ08lyR0NRELQMBiFqkIGXvCoYO5dVjlVUMb3qFC2jiu881+69PzzL8nIL0aK9ChMqUy8BiMUQWf86A3fsAs/nxXsRtxrGb9wduikijrKpyNzfrjEMulElpgJ2+JrJ78tgPflaeOS8xeZn4WCl0eMFkZ1CwIOg29vosDAGwfZpY9DHsBLU/aA8ewrXCuRwKaeDNRy9VDeV3uuIRImfRBIpw3NXjU1+9lvCvaNdmcjDcehnsA1gd56vtdmjcf8je+fAwtTiBKmbV+T0/mme4RDZd13gPGbSjf5Kbya8Qcc1BYVTWsWOJW7kSJG9PvVowLfY9ja6+EFlKzj7hCaFwl2rSAo0FrWx2LYFUGtdBbYA67ZTylUQ9MapmHrLm0HajXxO7ZNuXzSJBLM/vi4h6Dpr/okbJWz9rf782IAzGwG9wH2Xvw8uQiUZa1XQtGAIzU/zkH7FVfKKdlm2+RSbJJs0lXRje8aoS9J9GpZuzWDOXxLLxwUwVO0PA118Vevzh/HQeISkTjxTMnOXm903OVg7yBIkT2w75/eT2lAM43zPXVHZ6tz7DI7ntqe25CtoynOqrA+yuUQQ4dYm+VZF4I3XAEFLwRnnIMM2Rt/smozhydJBDaqpEbhvhmGEisgBgMT1P48w7HNh6CKfnR/6EJcFH0EWUh3CAPlX31kzPTL1hE2qW/2aNu2AK0qzuz/HLLlWI9CWKyzckntlS9D1sOTkTHUKhRPrg/VXV2oMcphdYqaufDu8TF3fImfnfdIxYIRwFuw+44Gep9V9Wr1k73ZILrhYcXQfFQI7NU2tRBj9tH7G4rmXyIHcJZ8kRCm4fbRT8B6sf5r+qrbiiWWLkW+V6CoJvpiCegIdGaZSCNvOBaBRJHiun02lva/U5dJKeHn+jn+2ekwyp4JHA4Dd99X8TY5NwQYDk8vWfS84lKDaJwbTRW4NIhrU7+edoRCdWoj11+3dtRQ6eGw/hAd2BXIwML2zmbZgR70hWR4CCAh3//dEpg/2adt/GB56GfP0exzv6teeJaNQGtcxsb8m/iTqbAKYBps2a6/p0lLY6fiqkstOVzX5y2oE/0ODNIFz9TfLa2C69mhpWdu17MgNRscCVT/l78XYQr4H6W6iRH0qOHxOlvke+VXb5Z/mlKdgMsg5cJ0Wbv+xSO9bwcLZOv6rabTJ18fm8HehJvX2sAiEFTebvek5ZF9ykio996hFeyziTOSvP6Luj3M3WErXaJzQ3yDjCP/3BWbsam/Eizdl4JIpwimAVfgU8pnYW6t5onR+q0kkO4kXX8AMNhteDs2Rb46xPPiFHstYRuka05qEeG/D5pIkjmkC+g4EMspkVhYdCHs+p0YpuKfGg2Cb6AOSaP6uelquDJygMzjaFBWokH4GXjnlASZ7e5VdVLwPt962pplFi4N3iPhH/tpsTdhnYTNhsmO7uIbHNOu2AJq1FGmLCm/h9N1EUl/KuwIVgOJYiq+W/DpjmBQ6AaokBWojdE1IibIIva2pohZFrKX/qY7I0KLm6jDLIg01zJieDJL/M9KEPLby1BXlA2ZwRXrV8Il6TfZ05zW4MeddYIUG6mcdn/eARmj2JQk/yOl88qXPS2BR/DanSCoaMjf8YhgNerMd2gbz/PXAWLoM0lxcFK9x+oS0CGW6wGM2N1And9ip3kXbamDBqzcnbt0+5B6LEz5OFvkRcnXI4FgBPZmgBnjhXrS71NAbnbnuLdfZcePdtUBwHeDdRgYeVBE5+uW7OiqT+ePmxuDscdhnQY/BIyayVu8SsW3nFuepDCIDoufg1S+rijcW5T8ffP5UJl3k4b5wyE2A/3Y8Wcn6M3o4kgqbgl63rvVjriA9CQQ/OXhbwDMgEaTqk5iW3kih7j6KW0n1VCxw4eYtHohgs9phbn5bSisxNz00alv+Eycyc8Xhc/iJgbRUr7cnZfsOVg/OSvB/4ljXH6eYWZK/VzlRq6sEY1jg2/0ykBMkkUHhbE80EZBy1GWbLEQofiMiFyAL7kHjA/YHaFap5MJdkVK0tVrjwoDsCKbZ7rAznxUyeM+oX8iYsepO3zj5VkbNNbl/PV1+7yZ3ZVGSYM+d2yTAbIfSbq5kR/7ZoEQ7enzSNsasNw62mRyA+0AfEXuocpp27tk0t+07c86sfdlMVg9x/Qdd+WjNMwYzfwGWkRBjTNMJWhi8fPqWv+3hyiTVwEZxtHEictxkKRERAvjV2nvz26hjOjx+dSaZQJk6suRHdlPpHaoAE9wIkqkdYPPtAxuor9df9atWYzQfwiWtrIVYkySIczHInOEQ2gHhfl8B2cEUYd8lTExjvZn3cAQjtGJRehfSTUSUtsIsfGXZ14OAtr2lP5P/UyeG84nFlqXEriL9A+bnG/xjM5C7TIoS00WLUb+HqUlOrZ86p5DpoZTg9KWCccbMRu1s1RifcpPt0ZsNC+4fiJEmXn3p2gnyZXWmveftZB8AOK5IC8O2icz5t5j5r9353pk8PZjyS/GGvrPh6Ytx5PSrcsScdQWfy6MHCCLSIoRw8+65M1FrXp+ik0OPsqiIVHW08hvbBxC5pnCtue9eXQfr5JMZxhLRsf02OPB7x+YZaczGN2/tpzsezeamhDnHjKSBstLdq+r5Ssrx+LlPNy0pHSDICIhXTDTp7I7srwHs4ajdXBKPa0zug="/>
  <p:tag name="MEKKOXMLTAGS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zqxPh11L2Kjqv1D9wE8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kcyoq5Q3sI_ZADYE4ipA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8mk.wK4Gm.ypmSZiiz7w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NN2xqoo0ordQPhfoAG3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FSCwMTzvHA4yV8zU2r8V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OppFptbLJkYf4tiqiU2A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v8oSssqTjzVZKXR3V2.g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d9buBudFHT1GkmtSIfTA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WR5teOZmJoE_GhZiBzuW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a8DRM7fQuyMaMV0Cujdg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4kCr6Q_tU0wrk6Z7p0KfQ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hqm7wGm7Ip5Yum2YbuDA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j_aTdyUA5fGcmpe0e1PQ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f29ImuMw88PtX_LxrIYg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8mk.wK4Gm.ypmSZiiz7w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wLflsooSedEZQlGtlg_Q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yN1Fuu8ZvktgJBudrDeA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l43t6ugFFp99iyV1DXUg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swckfGv0KLFrWj_vZ1Pg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1NyA0Ahl044wbj0muKSA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c9OizHBbSFTkKPGdJzBA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Z6CFIydNIeygdlolJrOQ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DG5U0qoBn.Ia5qX8EhQ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MhXQfu_mw1pcwvDGT_xw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.oeyBLGLQD47ankcXvHw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xehvz5Nup.9qW.3wpXww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cIlO7ruRNi34j3R7kBuw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oBALDMOAxjmL23SlOGuQ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lCDsXzuz4XXEL00srkgw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bKrFf4q3vc2D2hfFenIZA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FJFc9vNrqWIS98eigh3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8mk.wK4Gm.ypmSZiiz7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0tb8UPowjzgZ3y3bpsbg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qRy.WptL_HqOIUi012.g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8jD0UMfDu5MPvEL2_B2g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OB_X0q3DNvoa3fzlyLeg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q_mATMdrILhLBsWzFgoA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bky2lAxqmXqgC0MSodsGg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mCEqUlxPuhWyVYj7Bu2A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SIU_yhzqxkA.6nGL.KP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  <p:tag name="BTFPLAYOUTCOLUMNS" val="6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0"/>
  <p:tag name="BAINBULLETSACTIVATED" val="False"/>
  <p:tag name="BAINBULLETSLINESPACING" val="1"/>
  <p:tag name="SHADEEVENROWS" val="False"/>
  <p:tag name="TABLENAME" val="BainTable47798"/>
  <p:tag name="BTFPBAINBULLETS" val="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076094d-626a-47d6-b70b-65f1571c0e83" xsi:nil="true"/>
    <lcf76f155ced4ddcb4097134ff3c332f xmlns="b7810096-b8ae-4cab-a0a4-7ef89b2282e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8FA43199862044828F3ECEAE151F51" ma:contentTypeVersion="12" ma:contentTypeDescription="Create a new document." ma:contentTypeScope="" ma:versionID="104a227b722cd2ae7b4f6b5c0d466d88">
  <xsd:schema xmlns:xsd="http://www.w3.org/2001/XMLSchema" xmlns:xs="http://www.w3.org/2001/XMLSchema" xmlns:p="http://schemas.microsoft.com/office/2006/metadata/properties" xmlns:ns2="b7810096-b8ae-4cab-a0a4-7ef89b2282ea" xmlns:ns3="6076094d-626a-47d6-b70b-65f1571c0e83" targetNamespace="http://schemas.microsoft.com/office/2006/metadata/properties" ma:root="true" ma:fieldsID="2290d73a13d466fd8c6f7a32820dd2e8" ns2:_="" ns3:_="">
    <xsd:import namespace="b7810096-b8ae-4cab-a0a4-7ef89b2282ea"/>
    <xsd:import namespace="6076094d-626a-47d6-b70b-65f1571c0e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10096-b8ae-4cab-a0a4-7ef89b2282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76094d-626a-47d6-b70b-65f1571c0e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111fbc-f006-4a96-94fb-a5cb753bfbff}" ma:internalName="TaxCatchAll" ma:showField="CatchAllData" ma:web="6076094d-626a-47d6-b70b-65f1571c0e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CF4703-A903-42F1-A35B-C6A47D675461}">
  <ds:schemaRefs>
    <ds:schemaRef ds:uri="http://www.w3.org/XML/1998/namespace"/>
    <ds:schemaRef ds:uri="http://schemas.openxmlformats.org/package/2006/metadata/core-properties"/>
    <ds:schemaRef ds:uri="6076094d-626a-47d6-b70b-65f1571c0e83"/>
    <ds:schemaRef ds:uri="b7810096-b8ae-4cab-a0a4-7ef89b2282ea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773BC7-EB4D-423F-A06B-E38664ADB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810096-b8ae-4cab-a0a4-7ef89b2282ea"/>
    <ds:schemaRef ds:uri="6076094d-626a-47d6-b70b-65f1571c0e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30</TotalTime>
  <Words>12388</Words>
  <Application>Microsoft Office PowerPoint</Application>
  <PresentationFormat>Widescreen</PresentationFormat>
  <Paragraphs>1889</Paragraphs>
  <Slides>39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Verdana</vt:lpstr>
      <vt:lpstr>Bain Core</vt:lpstr>
      <vt:lpstr>think-cell Slide</vt:lpstr>
      <vt:lpstr>OI Lever compendium (not exhaustive)</vt:lpstr>
      <vt:lpstr>PowerPoint Presentation</vt:lpstr>
      <vt:lpstr>Applying Bain experience against a typical cost structure for an Automotive Parts OEM suggests ~€610M+ of cost savings opportunity within Forvia’s P&amp;L</vt:lpstr>
      <vt:lpstr>Applying Bain experience against a typical cost structure for a Building Products company suggests NZD 95M+ of cost savings opportunity within Fletcher-BP&amp;D</vt:lpstr>
      <vt:lpstr>Bain experience within the Building Materials Industry, applied against SIG’s cost baseline, suggests savings of ~£110M+</vt:lpstr>
      <vt:lpstr>Applying Bain experience against a typical cost structure for paper/packaging manufacturers suggests ~$415M+ of opportunity within Amcor’s P&amp;L</vt:lpstr>
      <vt:lpstr>PowerPoint Presentation</vt:lpstr>
      <vt:lpstr>Applying Bain experience against a typical cost structure for a Broadcasting player suggest ~$375M+ of cost savings opportunity within Lionsgate’s P&amp;L</vt:lpstr>
      <vt:lpstr>PowerPoint Presentation</vt:lpstr>
      <vt:lpstr>Applying a typical cost structure for US Consumer Products players and Bain experience suggests up to ~$850M+ of cost opportunity within Colgate’s P&amp;L</vt:lpstr>
      <vt:lpstr>Applying Bain experience against Lego’s cost baseline suggests ~DKK 2.3B+ of cost savings opportunity within its P&amp;L</vt:lpstr>
      <vt:lpstr>Applying Bain Experience against a typical cost structure for CPG players suggests ~$165-310M of cost savings opportunity within Perrigo’s P&amp;L</vt:lpstr>
      <vt:lpstr>PowerPoint Presentation</vt:lpstr>
      <vt:lpstr>Bain experience within the Defense &amp; Space sector, applied against ADS’ estimated cost baseline, suggests savings of ~€245-525M (3-5% of cost base)</vt:lpstr>
      <vt:lpstr>Bain experience against a typical cost structure for an A&amp;D player suggests ~£185M+ of cost savings opportunity within Babcock’s P&amp;L</vt:lpstr>
      <vt:lpstr>PowerPoint Presentation</vt:lpstr>
      <vt:lpstr>Bain experience within the Agro-Fertilizers and Chemicals industry, applied against Yara’s cost baseline, suggests cost savings of up to ~$700M</vt:lpstr>
      <vt:lpstr>Applying Bain experience against a typical cost structure for an O&amp;G Refiner, we see these as potential savings levers for Marathon Petroleum</vt:lpstr>
      <vt:lpstr>PowerPoint Presentation</vt:lpstr>
      <vt:lpstr>Appendix: Potential savings levers based on prior Bain experience</vt:lpstr>
      <vt:lpstr>PowerPoint Presentation</vt:lpstr>
      <vt:lpstr>Applying Bain experience against a typical cost structure for a Healthcare Distributor suggests ~$125M+ of cost savings opportunity within Patterson’s P&amp;L</vt:lpstr>
      <vt:lpstr>Applying Bain experience from the MedTech industry to Stryker’s cost structure suggests ~$1,285M+ in potential cost savings</vt:lpstr>
      <vt:lpstr>Bain experience within the Biotech and Pharmaceuticals industries, applied against Biogen's estimated cost baseline, suggests savings potential of ~$500M+</vt:lpstr>
      <vt:lpstr>Bain experience within the Pharmaceuticals industries, applied against GSK’s estimated cost baseline, suggests savings potential of ~£1B+</vt:lpstr>
      <vt:lpstr>PowerPoint Presentation</vt:lpstr>
      <vt:lpstr>Bain experience within the Services Industry, applied against Aramark’s estimated cost baseline, suggests cost savings of ~$420M+</vt:lpstr>
      <vt:lpstr>Bain experience within the Retail industry applied against Dollar Tree’s estimated cost baseline suggests an opportunity of $910M+ </vt:lpstr>
      <vt:lpstr>Bain experience in the retail industry, applied against Nordstrom’s FY22 cost baseline, suggests savings of ~$505M+</vt:lpstr>
      <vt:lpstr>Applying Bain experience against a typical cost structure for retail players, we see ~$1.3B+ of cost saving opportunity within Best Buy’s P&amp;L</vt:lpstr>
      <vt:lpstr>Bain experience within the Food/Grocery Retailers industry, applied against Sprouts’ estimated cost baseline, suggests $280M+ of opportunity</vt:lpstr>
      <vt:lpstr>PowerPoint Presentation</vt:lpstr>
      <vt:lpstr>Applying Bain experience against a typical cost structure for a personal computer and printer manufacturer suggests ~$2.2B+ cost savings opportunity</vt:lpstr>
      <vt:lpstr>Bain experience, applied against Iron Mountain’s cost baseline, suggests a savings range of ~$235M+</vt:lpstr>
      <vt:lpstr>PowerPoint Presentation</vt:lpstr>
      <vt:lpstr>Bain experience against Nokia’s cost structure suggests ~€685M+ of cost savings opportunity within its P&amp;L</vt:lpstr>
      <vt:lpstr>Bain experience against Vodafone’s cost structure suggests ~€2B+ of cost savings opportunity within its P&amp;L</vt:lpstr>
      <vt:lpstr>Bain experience within the Telecom industry, applied against Telenet’s estimated cost baseline, suggests savings of up to ~€205M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Emerging Insights: SIG plc</dc:title>
  <dc:creator>Lamba, Tushar</dc:creator>
  <cp:lastModifiedBy>Angelares, Cesar</cp:lastModifiedBy>
  <cp:revision>1</cp:revision>
  <cp:lastPrinted>2017-02-15T14:23:56Z</cp:lastPrinted>
  <dcterms:created xsi:type="dcterms:W3CDTF">2024-01-05T11:31:22Z</dcterms:created>
  <dcterms:modified xsi:type="dcterms:W3CDTF">2025-08-06T20:38:10Z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0x010100EF8FA43199862044828F3ECEAE151F51</vt:lpwstr>
  </property>
  <property fmtid="{D5CDD505-2E9C-101B-9397-08002B2CF9AE}" pid="3" name="MediaServiceImageTags">
    <vt:lpwstr/>
  </property>
  <property fmtid="{D5CDD505-2E9C-101B-9397-08002B2CF9AE}" pid="4" name="Order">
    <vt:r8>4624200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