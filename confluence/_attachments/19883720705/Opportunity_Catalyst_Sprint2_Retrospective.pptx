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Remaining (actual)</c:v>
                </c:pt>
              </c:strCache>
            </c:strRef>
          </c:tx>
          <c:spPr>
            <a:ln w="38100" cap="flat">
              <a:solidFill>
                <a:srgbClr val="CC0000"/>
              </a:solidFill>
              <a:prstDash val="solid"/>
              <a:round/>
            </a:ln>
            <a:effectLst/>
          </c:spPr>
          <c:marker>
            <c:symbol val="none"/>
          </c:marker>
          <c:cat>
            <c:strRef>
              <c:f>Sheet1!$A$2:$A$11</c:f>
              <c:strCache>
                <c:ptCount val="10"/>
                <c:pt idx="0">
                  <c:v>Sep 15</c:v>
                </c:pt>
                <c:pt idx="1">
                  <c:v>Sep 16</c:v>
                </c:pt>
                <c:pt idx="2">
                  <c:v>Sep 17</c:v>
                </c:pt>
                <c:pt idx="3">
                  <c:v>Sep 18</c:v>
                </c:pt>
                <c:pt idx="4">
                  <c:v>Sep 21</c:v>
                </c:pt>
                <c:pt idx="5">
                  <c:v>Sep 22</c:v>
                </c:pt>
                <c:pt idx="6">
                  <c:v>Sep 23</c:v>
                </c:pt>
                <c:pt idx="7">
                  <c:v>Sep 24</c:v>
                </c:pt>
                <c:pt idx="8">
                  <c:v>Sep 25</c:v>
                </c:pt>
                <c:pt idx="9">
                  <c:v>Sep 27</c:v>
                </c:pt>
              </c:strCache>
            </c:strRef>
          </c:cat>
          <c:val>
            <c:numRef>
              <c:f>Sheet1!$B$2:$B$11</c:f>
              <c:numCache>
                <c:formatCode>General</c:formatCode>
                <c:ptCount val="10"/>
                <c:pt idx="0">
                  <c:v>49</c:v>
                </c:pt>
                <c:pt idx="1">
                  <c:v>48</c:v>
                </c:pt>
                <c:pt idx="2">
                  <c:v>46</c:v>
                </c:pt>
                <c:pt idx="3">
                  <c:v>43</c:v>
                </c:pt>
                <c:pt idx="4">
                  <c:v>43</c:v>
                </c:pt>
                <c:pt idx="5">
                  <c:v>42</c:v>
                </c:pt>
                <c:pt idx="6">
                  <c:v>42</c:v>
                </c:pt>
                <c:pt idx="7">
                  <c:v>38</c:v>
                </c:pt>
                <c:pt idx="8">
                  <c:v>36</c:v>
                </c:pt>
                <c:pt idx="9">
                  <c:v>11</c:v>
                </c:pt>
              </c:numCache>
            </c:numRef>
          </c:val>
          <c:smooth val="0"/>
          <c:extLst>
            <c:ext xmlns:c16="http://schemas.microsoft.com/office/drawing/2014/chart" uri="{C3380CC4-5D6E-409C-BE32-E72D297353CC}">
              <c16:uniqueId val="{00000000-0AD2-4070-92A8-EEA020FF0473}"/>
            </c:ext>
          </c:extLst>
        </c:ser>
        <c:ser>
          <c:idx val="1"/>
          <c:order val="1"/>
          <c:tx>
            <c:strRef>
              <c:f>Sheet1!$C$1</c:f>
              <c:strCache>
                <c:ptCount val="1"/>
                <c:pt idx="0">
                  <c:v>Guideline (ideal)</c:v>
                </c:pt>
              </c:strCache>
            </c:strRef>
          </c:tx>
          <c:spPr>
            <a:ln w="38100" cap="flat">
              <a:solidFill>
                <a:srgbClr val="9B9B9B"/>
              </a:solidFill>
              <a:prstDash val="solid"/>
              <a:round/>
            </a:ln>
            <a:effectLst/>
          </c:spPr>
          <c:marker>
            <c:symbol val="none"/>
          </c:marker>
          <c:cat>
            <c:strRef>
              <c:f>Sheet1!$A$2:$A$11</c:f>
              <c:strCache>
                <c:ptCount val="10"/>
                <c:pt idx="0">
                  <c:v>Sep 15</c:v>
                </c:pt>
                <c:pt idx="1">
                  <c:v>Sep 16</c:v>
                </c:pt>
                <c:pt idx="2">
                  <c:v>Sep 17</c:v>
                </c:pt>
                <c:pt idx="3">
                  <c:v>Sep 18</c:v>
                </c:pt>
                <c:pt idx="4">
                  <c:v>Sep 21</c:v>
                </c:pt>
                <c:pt idx="5">
                  <c:v>Sep 22</c:v>
                </c:pt>
                <c:pt idx="6">
                  <c:v>Sep 23</c:v>
                </c:pt>
                <c:pt idx="7">
                  <c:v>Sep 24</c:v>
                </c:pt>
                <c:pt idx="8">
                  <c:v>Sep 25</c:v>
                </c:pt>
                <c:pt idx="9">
                  <c:v>Sep 27</c:v>
                </c:pt>
              </c:strCache>
            </c:strRef>
          </c:cat>
          <c:val>
            <c:numRef>
              <c:f>Sheet1!$C$2:$C$11</c:f>
              <c:numCache>
                <c:formatCode>General</c:formatCode>
                <c:ptCount val="10"/>
                <c:pt idx="0">
                  <c:v>49</c:v>
                </c:pt>
                <c:pt idx="1">
                  <c:v>43.56</c:v>
                </c:pt>
                <c:pt idx="2">
                  <c:v>38.11</c:v>
                </c:pt>
                <c:pt idx="3">
                  <c:v>32.67</c:v>
                </c:pt>
                <c:pt idx="4">
                  <c:v>27.22</c:v>
                </c:pt>
                <c:pt idx="5">
                  <c:v>21.78</c:v>
                </c:pt>
                <c:pt idx="6">
                  <c:v>16.329999999999998</c:v>
                </c:pt>
                <c:pt idx="7">
                  <c:v>10.89</c:v>
                </c:pt>
                <c:pt idx="8">
                  <c:v>5.44</c:v>
                </c:pt>
                <c:pt idx="9">
                  <c:v>0</c:v>
                </c:pt>
              </c:numCache>
            </c:numRef>
          </c:val>
          <c:smooth val="0"/>
          <c:extLst>
            <c:ext xmlns:c16="http://schemas.microsoft.com/office/drawing/2014/chart" uri="{C3380CC4-5D6E-409C-BE32-E72D297353CC}">
              <c16:uniqueId val="{00000001-0AD2-4070-92A8-EEA020FF0473}"/>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E3E3E3"/>
            </a:solidFill>
            <a:prstDash val="solid"/>
            <a:round/>
          </a:ln>
        </c:spPr>
        <c:txPr>
          <a:bodyPr/>
          <a:lstStyle/>
          <a:p>
            <a:pPr>
              <a:defRPr sz="900" b="0" i="0" u="none" strike="noStrike">
                <a:solidFill>
                  <a:srgbClr val="9B9B9B"/>
                </a:solidFill>
                <a:latin typeface="Arial"/>
              </a:defRPr>
            </a:pPr>
            <a:endParaRPr lang="en-US"/>
          </a:p>
        </c:txPr>
        <c:crossAx val="2094734552"/>
        <c:crosses val="autoZero"/>
        <c:auto val="1"/>
        <c:lblAlgn val="ctr"/>
        <c:lblOffset val="100"/>
        <c:noMultiLvlLbl val="1"/>
      </c:catAx>
      <c:valAx>
        <c:axId val="2094734552"/>
        <c:scaling>
          <c:orientation val="minMax"/>
          <c:max val="56"/>
          <c:min val="0"/>
        </c:scaling>
        <c:delete val="0"/>
        <c:axPos val="l"/>
        <c:majorGridlines>
          <c:spPr>
            <a:ln w="12700" cap="flat">
              <a:solidFill>
                <a:srgbClr val="F0F0F0"/>
              </a:solidFill>
              <a:prstDash val="solid"/>
              <a:round/>
            </a:ln>
          </c:spPr>
        </c:majorGridlines>
        <c:title>
          <c:tx>
            <c:rich>
              <a:bodyPr/>
              <a:lstStyle/>
              <a:p>
                <a:pPr>
                  <a:defRPr sz="950" b="0" i="0" u="none" strike="noStrike">
                    <a:solidFill>
                      <a:srgbClr val="9B9B9B"/>
                    </a:solidFill>
                    <a:latin typeface="Arial"/>
                  </a:defRPr>
                </a:pPr>
                <a:r>
                  <a:rPr lang="en-GB" sz="950" b="0" i="0" u="none" strike="noStrike">
                    <a:solidFill>
                      <a:srgbClr val="9B9B9B"/>
                    </a:solidFill>
                    <a:latin typeface="Arial"/>
                  </a:rPr>
                  <a:t>Issue count</a:t>
                </a:r>
              </a:p>
            </c:rich>
          </c:tx>
          <c:overlay val="0"/>
        </c:title>
        <c:numFmt formatCode="General" sourceLinked="0"/>
        <c:majorTickMark val="out"/>
        <c:minorTickMark val="none"/>
        <c:tickLblPos val="nextTo"/>
        <c:spPr>
          <a:ln w="12700" cap="flat">
            <a:noFill/>
            <a:prstDash val="solid"/>
            <a:round/>
          </a:ln>
        </c:spPr>
        <c:txPr>
          <a:bodyPr/>
          <a:lstStyle/>
          <a:p>
            <a:pPr>
              <a:defRPr sz="950" b="0" i="0" u="none" strike="noStrike">
                <a:solidFill>
                  <a:srgbClr val="9B9B9B"/>
                </a:solidFill>
                <a:latin typeface="Arial"/>
              </a:defRPr>
            </a:pPr>
            <a:endParaRPr lang="en-US"/>
          </a:p>
        </c:txPr>
        <c:crossAx val="2094734554"/>
        <c:crosses val="autoZero"/>
        <c:crossBetween val="between"/>
        <c:majorUnit val="7"/>
      </c:valAx>
      <c:spPr>
        <a:noFill/>
        <a:ln>
          <a:noFill/>
        </a:ln>
        <a:effectLst/>
      </c:spPr>
    </c:plotArea>
    <c:legend>
      <c:legendPos val="b"/>
      <c:overlay val="0"/>
      <c:txPr>
        <a:bodyPr/>
        <a:lstStyle/>
        <a:p>
          <a:pPr>
            <a:defRPr sz="1050">
              <a:solidFill>
                <a:srgbClr val="6E6E6E"/>
              </a:solidFill>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Completed</c:v>
                </c:pt>
              </c:strCache>
            </c:strRef>
          </c:tx>
          <c:spPr>
            <a:solidFill>
              <a:srgbClr val="CC0000"/>
            </a:solidFill>
            <a:effectLst/>
          </c:spPr>
          <c:invertIfNegative val="0"/>
          <c:dLbls>
            <c:numFmt formatCode="#,##0" sourceLinked="0"/>
            <c:spPr>
              <a:noFill/>
              <a:ln>
                <a:noFill/>
              </a:ln>
              <a:effectLst/>
            </c:spPr>
            <c:txPr>
              <a:bodyPr/>
              <a:lstStyle/>
              <a:p>
                <a:pPr>
                  <a:defRPr sz="1300" b="1" i="0" u="none" strike="noStrike">
                    <a:solidFill>
                      <a:srgbClr val="1A1A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Committed at start</c:v>
                </c:pt>
                <c:pt idx="1">
                  <c:v>Added mid-sprint</c:v>
                </c:pt>
              </c:strCache>
            </c:strRef>
          </c:cat>
          <c:val>
            <c:numRef>
              <c:f>Sheet1!$B$2:$B$3</c:f>
              <c:numCache>
                <c:formatCode>General</c:formatCode>
                <c:ptCount val="2"/>
                <c:pt idx="0">
                  <c:v>36</c:v>
                </c:pt>
                <c:pt idx="1">
                  <c:v>12</c:v>
                </c:pt>
              </c:numCache>
            </c:numRef>
          </c:val>
          <c:extLst>
            <c:ext xmlns:c16="http://schemas.microsoft.com/office/drawing/2014/chart" uri="{C3380CC4-5D6E-409C-BE32-E72D297353CC}">
              <c16:uniqueId val="{00000000-AB13-4435-9988-A815A32828F5}"/>
            </c:ext>
          </c:extLst>
        </c:ser>
        <c:ser>
          <c:idx val="1"/>
          <c:order val="1"/>
          <c:tx>
            <c:strRef>
              <c:f>Sheet1!$C$1</c:f>
              <c:strCache>
                <c:ptCount val="1"/>
                <c:pt idx="0">
                  <c:v>Carried over</c:v>
                </c:pt>
              </c:strCache>
            </c:strRef>
          </c:tx>
          <c:spPr>
            <a:solidFill>
              <a:srgbClr val="8C8C8C"/>
            </a:solidFill>
            <a:effectLst/>
          </c:spPr>
          <c:invertIfNegative val="0"/>
          <c:dLbls>
            <c:numFmt formatCode="#,##0" sourceLinked="0"/>
            <c:spPr>
              <a:noFill/>
              <a:ln>
                <a:noFill/>
              </a:ln>
              <a:effectLst/>
            </c:spPr>
            <c:txPr>
              <a:bodyPr/>
              <a:lstStyle/>
              <a:p>
                <a:pPr>
                  <a:defRPr sz="1300" b="1" i="0" u="none" strike="noStrike">
                    <a:solidFill>
                      <a:srgbClr val="1A1A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Committed at start</c:v>
                </c:pt>
                <c:pt idx="1">
                  <c:v>Added mid-sprint</c:v>
                </c:pt>
              </c:strCache>
            </c:strRef>
          </c:cat>
          <c:val>
            <c:numRef>
              <c:f>Sheet1!$C$2:$C$3</c:f>
              <c:numCache>
                <c:formatCode>General</c:formatCode>
                <c:ptCount val="2"/>
                <c:pt idx="0">
                  <c:v>9</c:v>
                </c:pt>
                <c:pt idx="1">
                  <c:v>1</c:v>
                </c:pt>
              </c:numCache>
            </c:numRef>
          </c:val>
          <c:extLst>
            <c:ext xmlns:c16="http://schemas.microsoft.com/office/drawing/2014/chart" uri="{C3380CC4-5D6E-409C-BE32-E72D297353CC}">
              <c16:uniqueId val="{00000001-AB13-4435-9988-A815A32828F5}"/>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E3E3E3"/>
            </a:solidFill>
            <a:prstDash val="solid"/>
            <a:round/>
          </a:ln>
        </c:spPr>
        <c:txPr>
          <a:bodyPr/>
          <a:lstStyle/>
          <a:p>
            <a:pPr>
              <a:defRPr sz="1150" b="0" i="0" u="none" strike="noStrike">
                <a:solidFill>
                  <a:srgbClr val="1A1A1A"/>
                </a:solidFill>
                <a:latin typeface="Arial"/>
              </a:defRPr>
            </a:pPr>
            <a:endParaRPr lang="en-US"/>
          </a:p>
        </c:txPr>
        <c:crossAx val="2094734552"/>
        <c:crosses val="autoZero"/>
        <c:auto val="1"/>
        <c:lblAlgn val="ctr"/>
        <c:lblOffset val="100"/>
        <c:noMultiLvlLbl val="1"/>
      </c:catAx>
      <c:valAx>
        <c:axId val="2094734552"/>
        <c:scaling>
          <c:orientation val="minMax"/>
          <c:max val="40"/>
          <c:min val="0"/>
        </c:scaling>
        <c:delete val="0"/>
        <c:axPos val="l"/>
        <c:majorGridlines>
          <c:spPr>
            <a:ln w="12700" cap="flat">
              <a:solidFill>
                <a:srgbClr val="F0F0F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50" b="0" i="0" u="none" strike="noStrike">
                <a:solidFill>
                  <a:srgbClr val="9B9B9B"/>
                </a:solidFill>
                <a:latin typeface="Arial"/>
              </a:defRPr>
            </a:pPr>
            <a:endParaRPr lang="en-US"/>
          </a:p>
        </c:txPr>
        <c:crossAx val="2094734554"/>
        <c:crosses val="autoZero"/>
        <c:crossBetween val="between"/>
        <c:majorUnit val="10"/>
      </c:valAx>
      <c:spPr>
        <a:noFill/>
        <a:ln>
          <a:noFill/>
        </a:ln>
        <a:effectLst/>
      </c:spPr>
    </c:plotArea>
    <c:legend>
      <c:legendPos val="b"/>
      <c:overlay val="0"/>
      <c:txPr>
        <a:bodyPr/>
        <a:lstStyle/>
        <a:p>
          <a:pPr>
            <a:defRPr sz="1050">
              <a:solidFill>
                <a:srgbClr val="6E6E6E"/>
              </a:solidFill>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Items</c:v>
                </c:pt>
              </c:strCache>
            </c:strRef>
          </c:tx>
          <c:spPr>
            <a:solidFill>
              <a:srgbClr val="B8B4B2"/>
            </a:solidFill>
            <a:effectLst/>
          </c:spPr>
          <c:invertIfNegative val="0"/>
          <c:dPt>
            <c:idx val="0"/>
            <c:invertIfNegative val="0"/>
            <c:bubble3D val="0"/>
            <c:spPr>
              <a:solidFill>
                <a:srgbClr val="B8B4B2"/>
              </a:solidFill>
              <a:effectLst/>
            </c:spPr>
            <c:extLst>
              <c:ext xmlns:c16="http://schemas.microsoft.com/office/drawing/2014/chart" uri="{C3380CC4-5D6E-409C-BE32-E72D297353CC}">
                <c16:uniqueId val="{00000001-C0C9-4A33-9009-3516BE981258}"/>
              </c:ext>
            </c:extLst>
          </c:dPt>
          <c:dPt>
            <c:idx val="1"/>
            <c:invertIfNegative val="0"/>
            <c:bubble3D val="0"/>
            <c:spPr>
              <a:solidFill>
                <a:srgbClr val="4A4A4A"/>
              </a:solidFill>
              <a:effectLst/>
            </c:spPr>
            <c:extLst>
              <c:ext xmlns:c16="http://schemas.microsoft.com/office/drawing/2014/chart" uri="{C3380CC4-5D6E-409C-BE32-E72D297353CC}">
                <c16:uniqueId val="{00000003-C0C9-4A33-9009-3516BE981258}"/>
              </c:ext>
            </c:extLst>
          </c:dPt>
          <c:dPt>
            <c:idx val="2"/>
            <c:invertIfNegative val="0"/>
            <c:bubble3D val="0"/>
            <c:spPr>
              <a:solidFill>
                <a:srgbClr val="9B9B9B"/>
              </a:solidFill>
              <a:effectLst/>
            </c:spPr>
            <c:extLst>
              <c:ext xmlns:c16="http://schemas.microsoft.com/office/drawing/2014/chart" uri="{C3380CC4-5D6E-409C-BE32-E72D297353CC}">
                <c16:uniqueId val="{00000005-C0C9-4A33-9009-3516BE981258}"/>
              </c:ext>
            </c:extLst>
          </c:dPt>
          <c:dPt>
            <c:idx val="3"/>
            <c:invertIfNegative val="0"/>
            <c:bubble3D val="0"/>
            <c:spPr>
              <a:solidFill>
                <a:srgbClr val="CC0000"/>
              </a:solidFill>
              <a:effectLst/>
            </c:spPr>
            <c:extLst>
              <c:ext xmlns:c16="http://schemas.microsoft.com/office/drawing/2014/chart" uri="{C3380CC4-5D6E-409C-BE32-E72D297353CC}">
                <c16:uniqueId val="{00000007-C0C9-4A33-9009-3516BE981258}"/>
              </c:ext>
            </c:extLst>
          </c:dPt>
          <c:dLbls>
            <c:numFmt formatCode="#,##0" sourceLinked="0"/>
            <c:spPr>
              <a:noFill/>
              <a:ln>
                <a:noFill/>
              </a:ln>
              <a:effectLst/>
            </c:spPr>
            <c:txPr>
              <a:bodyPr/>
              <a:lstStyle/>
              <a:p>
                <a:pPr>
                  <a:defRPr sz="1300" b="1" i="0" u="none" strike="noStrike">
                    <a:solidFill>
                      <a:srgbClr val="1A1A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To Do</c:v>
                </c:pt>
                <c:pt idx="1">
                  <c:v>In Progress</c:v>
                </c:pt>
                <c:pt idx="2">
                  <c:v>In Review</c:v>
                </c:pt>
                <c:pt idx="3">
                  <c:v>Blocked</c:v>
                </c:pt>
              </c:strCache>
            </c:strRef>
          </c:cat>
          <c:val>
            <c:numRef>
              <c:f>Sheet1!$B$2:$B$5</c:f>
              <c:numCache>
                <c:formatCode>General</c:formatCode>
                <c:ptCount val="4"/>
                <c:pt idx="0">
                  <c:v>3</c:v>
                </c:pt>
                <c:pt idx="1">
                  <c:v>3</c:v>
                </c:pt>
                <c:pt idx="2">
                  <c:v>2</c:v>
                </c:pt>
                <c:pt idx="3">
                  <c:v>2</c:v>
                </c:pt>
              </c:numCache>
            </c:numRef>
          </c:val>
          <c:extLst>
            <c:ext xmlns:c16="http://schemas.microsoft.com/office/drawing/2014/chart" uri="{C3380CC4-5D6E-409C-BE32-E72D297353CC}">
              <c16:uniqueId val="{00000008-C0C9-4A33-9009-3516BE981258}"/>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E3E3E3"/>
            </a:solidFill>
            <a:prstDash val="solid"/>
            <a:round/>
          </a:ln>
        </c:spPr>
        <c:txPr>
          <a:bodyPr/>
          <a:lstStyle/>
          <a:p>
            <a:pPr>
              <a:defRPr sz="1200" b="0" i="0" u="none" strike="noStrike">
                <a:solidFill>
                  <a:srgbClr val="1A1A1A"/>
                </a:solidFill>
                <a:latin typeface="Arial"/>
              </a:defRPr>
            </a:pPr>
            <a:endParaRPr lang="en-US"/>
          </a:p>
        </c:txPr>
        <c:crossAx val="2094734552"/>
        <c:crosses val="autoZero"/>
        <c:auto val="1"/>
        <c:lblAlgn val="ctr"/>
        <c:lblOffset val="100"/>
        <c:noMultiLvlLbl val="1"/>
      </c:catAx>
      <c:valAx>
        <c:axId val="2094734552"/>
        <c:scaling>
          <c:orientation val="minMax"/>
          <c:max val="4"/>
          <c:min val="0"/>
        </c:scaling>
        <c:delete val="0"/>
        <c:axPos val="b"/>
        <c:majorGridlines>
          <c:spPr>
            <a:ln w="12700" cap="flat">
              <a:solidFill>
                <a:srgbClr val="F0F0F0"/>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50" b="0" i="0" u="none" strike="noStrike">
                <a:solidFill>
                  <a:srgbClr val="9B9B9B"/>
                </a:solidFill>
                <a:latin typeface="Arial"/>
              </a:defRPr>
            </a:pPr>
            <a:endParaRPr lang="en-US"/>
          </a:p>
        </c:txPr>
        <c:crossAx val="2094734554"/>
        <c:crosses val="autoZero"/>
        <c:crossBetween val="between"/>
        <c:majorUnit val="1"/>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4142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Jira Sprint Report, OI3 board, sprint 49388. One epic (OI3-157) is excluded from all counts and tracked at programme level. Jira issue keys remain OI3 following the rename to Opportunity Catalyst.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001000" y="1417320"/>
            <a:ext cx="3611880" cy="3611880"/>
          </a:xfrm>
          <a:prstGeom prst="rect">
            <a:avLst/>
          </a:prstGeom>
          <a:solidFill>
            <a:srgbClr val="F7F7F7"/>
          </a:solidFill>
          <a:ln/>
        </p:spPr>
        <p:txBody>
          <a:bodyPr/>
          <a:lstStyle/>
          <a:p>
            <a:endParaRPr lang="en-GB"/>
          </a:p>
        </p:txBody>
      </p:sp>
      <p:sp>
        <p:nvSpPr>
          <p:cNvPr id="3" name="Shape 1"/>
          <p:cNvSpPr/>
          <p:nvPr/>
        </p:nvSpPr>
        <p:spPr>
          <a:xfrm>
            <a:off x="7635240" y="4663440"/>
            <a:ext cx="731520" cy="731520"/>
          </a:xfrm>
          <a:prstGeom prst="rect">
            <a:avLst/>
          </a:prstGeom>
          <a:solidFill>
            <a:srgbClr val="CC0000"/>
          </a:solidFill>
          <a:ln/>
        </p:spPr>
        <p:txBody>
          <a:bodyPr/>
          <a:lstStyle/>
          <a:p>
            <a:endParaRPr lang="en-GB"/>
          </a:p>
        </p:txBody>
      </p:sp>
      <p:sp>
        <p:nvSpPr>
          <p:cNvPr id="4" name="Shape 2"/>
          <p:cNvSpPr/>
          <p:nvPr/>
        </p:nvSpPr>
        <p:spPr>
          <a:xfrm>
            <a:off x="868680" y="1920240"/>
            <a:ext cx="146304" cy="146304"/>
          </a:xfrm>
          <a:prstGeom prst="rect">
            <a:avLst/>
          </a:prstGeom>
          <a:solidFill>
            <a:srgbClr val="CC0000"/>
          </a:solidFill>
          <a:ln/>
        </p:spPr>
        <p:txBody>
          <a:bodyPr/>
          <a:lstStyle/>
          <a:p>
            <a:endParaRPr lang="en-GB"/>
          </a:p>
        </p:txBody>
      </p:sp>
      <p:sp>
        <p:nvSpPr>
          <p:cNvPr id="5" name="Text 3"/>
          <p:cNvSpPr txBox="1"/>
          <p:nvPr/>
        </p:nvSpPr>
        <p:spPr>
          <a:xfrm>
            <a:off x="868680" y="2212848"/>
            <a:ext cx="6858000" cy="347472"/>
          </a:xfrm>
          <a:prstGeom prst="rect">
            <a:avLst/>
          </a:prstGeom>
          <a:noFill/>
          <a:ln/>
        </p:spPr>
        <p:txBody>
          <a:bodyPr wrap="square" lIns="0" tIns="0" rIns="0" bIns="0" rtlCol="0" anchor="ctr"/>
          <a:lstStyle/>
          <a:p>
            <a:pPr marL="0" indent="0">
              <a:buNone/>
            </a:pPr>
            <a:r>
              <a:rPr lang="en-US" sz="1400" b="1" kern="0" spc="300" dirty="0">
                <a:solidFill>
                  <a:srgbClr val="CC0000"/>
                </a:solidFill>
                <a:latin typeface="Arial" pitchFamily="34" charset="0"/>
                <a:ea typeface="Arial" pitchFamily="34" charset="-122"/>
                <a:cs typeface="Arial" pitchFamily="34" charset="-120"/>
              </a:rPr>
              <a:t>OPPORTUNITY CATALYST</a:t>
            </a:r>
            <a:endParaRPr lang="en-US" sz="1400" dirty="0"/>
          </a:p>
        </p:txBody>
      </p:sp>
      <p:sp>
        <p:nvSpPr>
          <p:cNvPr id="6" name="Text 4"/>
          <p:cNvSpPr txBox="1"/>
          <p:nvPr/>
        </p:nvSpPr>
        <p:spPr>
          <a:xfrm>
            <a:off x="822960" y="2670048"/>
            <a:ext cx="6949440" cy="868680"/>
          </a:xfrm>
          <a:prstGeom prst="rect">
            <a:avLst/>
          </a:prstGeom>
          <a:noFill/>
          <a:ln/>
        </p:spPr>
        <p:txBody>
          <a:bodyPr wrap="square" lIns="0" tIns="0" rIns="0" bIns="0" rtlCol="0" anchor="ctr"/>
          <a:lstStyle/>
          <a:p>
            <a:pPr marL="0" indent="0">
              <a:buNone/>
            </a:pPr>
            <a:r>
              <a:rPr lang="en-US" sz="4400" b="1" dirty="0">
                <a:solidFill>
                  <a:srgbClr val="1A1A1A"/>
                </a:solidFill>
                <a:latin typeface="Arial" pitchFamily="34" charset="0"/>
                <a:ea typeface="Arial" pitchFamily="34" charset="-122"/>
                <a:cs typeface="Arial" pitchFamily="34" charset="-120"/>
              </a:rPr>
              <a:t>Sprint 2 Retrospective</a:t>
            </a:r>
            <a:endParaRPr lang="en-US" sz="4400" dirty="0"/>
          </a:p>
        </p:txBody>
      </p:sp>
      <p:sp>
        <p:nvSpPr>
          <p:cNvPr id="7" name="Text 5"/>
          <p:cNvSpPr txBox="1"/>
          <p:nvPr/>
        </p:nvSpPr>
        <p:spPr>
          <a:xfrm>
            <a:off x="868680" y="3639312"/>
            <a:ext cx="6858000" cy="365760"/>
          </a:xfrm>
          <a:prstGeom prst="rect">
            <a:avLst/>
          </a:prstGeom>
          <a:noFill/>
          <a:ln/>
        </p:spPr>
        <p:txBody>
          <a:bodyPr wrap="square" lIns="0" tIns="0" rIns="0" bIns="0" rtlCol="0" anchor="ctr"/>
          <a:lstStyle/>
          <a:p>
            <a:pPr marL="0" indent="0">
              <a:buNone/>
            </a:pPr>
            <a:r>
              <a:rPr lang="en-US" sz="1450" dirty="0">
                <a:solidFill>
                  <a:srgbClr val="4A4A4A"/>
                </a:solidFill>
                <a:latin typeface="Arial" pitchFamily="34" charset="0"/>
                <a:ea typeface="Arial" pitchFamily="34" charset="-122"/>
                <a:cs typeface="Arial" pitchFamily="34" charset="-120"/>
              </a:rPr>
              <a:t>Peers and evidence — peer set selection, the evidence trail and the first screens</a:t>
            </a:r>
            <a:endParaRPr lang="en-US" sz="1450" dirty="0"/>
          </a:p>
        </p:txBody>
      </p:sp>
      <p:sp>
        <p:nvSpPr>
          <p:cNvPr id="8" name="Text 6"/>
          <p:cNvSpPr txBox="1"/>
          <p:nvPr/>
        </p:nvSpPr>
        <p:spPr>
          <a:xfrm>
            <a:off x="868680" y="4169664"/>
            <a:ext cx="6858000" cy="365760"/>
          </a:xfrm>
          <a:prstGeom prst="rect">
            <a:avLst/>
          </a:prstGeom>
          <a:noFill/>
          <a:ln/>
        </p:spPr>
        <p:txBody>
          <a:bodyPr wrap="square" lIns="0" tIns="0" rIns="0" bIns="0" rtlCol="0" anchor="ctr"/>
          <a:lstStyle/>
          <a:p>
            <a:pPr marL="0" indent="0">
              <a:buNone/>
            </a:pPr>
            <a:r>
              <a:rPr lang="en-US" sz="1150" dirty="0">
                <a:solidFill>
                  <a:srgbClr val="9B9B9B"/>
                </a:solidFill>
                <a:latin typeface="Arial" pitchFamily="34" charset="0"/>
                <a:ea typeface="Arial" pitchFamily="34" charset="-122"/>
                <a:cs typeface="Arial" pitchFamily="34" charset="-120"/>
              </a:rPr>
              <a:t>15 – 27 September 2026  ·  OI3 board  ·  58 delivery items in sprint at close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94360" y="402336"/>
            <a:ext cx="137160" cy="137160"/>
          </a:xfrm>
          <a:prstGeom prst="rect">
            <a:avLst/>
          </a:prstGeom>
          <a:solidFill>
            <a:srgbClr val="CC0000"/>
          </a:solidFill>
          <a:ln/>
        </p:spPr>
        <p:txBody>
          <a:bodyPr/>
          <a:lstStyle/>
          <a:p>
            <a:endParaRPr lang="en-GB"/>
          </a:p>
        </p:txBody>
      </p:sp>
      <p:sp>
        <p:nvSpPr>
          <p:cNvPr id="3" name="Text 1"/>
          <p:cNvSpPr txBox="1"/>
          <p:nvPr/>
        </p:nvSpPr>
        <p:spPr>
          <a:xfrm>
            <a:off x="594360" y="658368"/>
            <a:ext cx="10725912" cy="457200"/>
          </a:xfrm>
          <a:prstGeom prst="rect">
            <a:avLst/>
          </a:prstGeom>
          <a:noFill/>
          <a:ln/>
        </p:spPr>
        <p:txBody>
          <a:bodyPr wrap="square" lIns="0" tIns="0" rIns="0" bIns="0" rtlCol="0" anchor="ctr"/>
          <a:lstStyle/>
          <a:p>
            <a:pPr marL="0" indent="0">
              <a:buNone/>
            </a:pPr>
            <a:r>
              <a:rPr lang="en-US" sz="2700" b="1" dirty="0">
                <a:solidFill>
                  <a:srgbClr val="1A1A1A"/>
                </a:solidFill>
                <a:latin typeface="Arial" pitchFamily="34" charset="0"/>
                <a:ea typeface="Arial" pitchFamily="34" charset="-122"/>
                <a:cs typeface="Arial" pitchFamily="34" charset="-120"/>
              </a:rPr>
              <a:t>Sprint 2 at a glance</a:t>
            </a:r>
            <a:endParaRPr lang="en-US" sz="2700" dirty="0"/>
          </a:p>
        </p:txBody>
      </p:sp>
      <p:sp>
        <p:nvSpPr>
          <p:cNvPr id="5" name="Shape 3"/>
          <p:cNvSpPr/>
          <p:nvPr/>
        </p:nvSpPr>
        <p:spPr>
          <a:xfrm>
            <a:off x="594360" y="1627632"/>
            <a:ext cx="2560320" cy="1371600"/>
          </a:xfrm>
          <a:prstGeom prst="rect">
            <a:avLst/>
          </a:prstGeom>
          <a:solidFill>
            <a:srgbClr val="F7F7F7"/>
          </a:solidFill>
          <a:ln/>
        </p:spPr>
        <p:txBody>
          <a:bodyPr/>
          <a:lstStyle/>
          <a:p>
            <a:endParaRPr lang="en-GB"/>
          </a:p>
        </p:txBody>
      </p:sp>
      <p:sp>
        <p:nvSpPr>
          <p:cNvPr id="6" name="Text 4"/>
          <p:cNvSpPr txBox="1"/>
          <p:nvPr/>
        </p:nvSpPr>
        <p:spPr>
          <a:xfrm>
            <a:off x="850392" y="1755648"/>
            <a:ext cx="2103120" cy="640080"/>
          </a:xfrm>
          <a:prstGeom prst="rect">
            <a:avLst/>
          </a:prstGeom>
          <a:noFill/>
          <a:ln/>
        </p:spPr>
        <p:txBody>
          <a:bodyPr wrap="square" lIns="0" tIns="0" rIns="0" bIns="0" rtlCol="0" anchor="ctr"/>
          <a:lstStyle/>
          <a:p>
            <a:pPr marL="0" indent="0">
              <a:buNone/>
            </a:pPr>
            <a:r>
              <a:rPr lang="en-US" sz="3800" b="1" dirty="0">
                <a:solidFill>
                  <a:srgbClr val="1A1A1A"/>
                </a:solidFill>
                <a:latin typeface="Arial" pitchFamily="34" charset="0"/>
                <a:ea typeface="Arial" pitchFamily="34" charset="-122"/>
                <a:cs typeface="Arial" pitchFamily="34" charset="-120"/>
              </a:rPr>
              <a:t>45</a:t>
            </a:r>
            <a:endParaRPr lang="en-US" sz="3800" dirty="0"/>
          </a:p>
        </p:txBody>
      </p:sp>
      <p:sp>
        <p:nvSpPr>
          <p:cNvPr id="7" name="Text 5"/>
          <p:cNvSpPr txBox="1"/>
          <p:nvPr/>
        </p:nvSpPr>
        <p:spPr>
          <a:xfrm>
            <a:off x="850392" y="2432304"/>
            <a:ext cx="2103120" cy="457200"/>
          </a:xfrm>
          <a:prstGeom prst="rect">
            <a:avLst/>
          </a:prstGeom>
          <a:noFill/>
          <a:ln/>
        </p:spPr>
        <p:txBody>
          <a:bodyPr wrap="square" lIns="0" tIns="0" rIns="0" bIns="0" rtlCol="0" anchor="ctr"/>
          <a:lstStyle/>
          <a:p>
            <a:pPr marL="0" indent="0">
              <a:lnSpc>
                <a:spcPts val="1350"/>
              </a:lnSpc>
              <a:buNone/>
            </a:pPr>
            <a:r>
              <a:rPr lang="en-US" sz="1050" dirty="0">
                <a:solidFill>
                  <a:srgbClr val="6E6E6E"/>
                </a:solidFill>
                <a:latin typeface="Arial" pitchFamily="34" charset="0"/>
                <a:ea typeface="Arial" pitchFamily="34" charset="-122"/>
                <a:cs typeface="Arial" pitchFamily="34" charset="-120"/>
              </a:rPr>
              <a:t>Committed at</a:t>
            </a:r>
            <a:endParaRPr lang="en-US" sz="1050" dirty="0"/>
          </a:p>
          <a:p>
            <a:pPr marL="0" indent="0">
              <a:lnSpc>
                <a:spcPts val="1350"/>
              </a:lnSpc>
              <a:buNone/>
            </a:pPr>
            <a:r>
              <a:rPr lang="en-US" sz="1050" dirty="0">
                <a:solidFill>
                  <a:srgbClr val="6E6E6E"/>
                </a:solidFill>
                <a:latin typeface="Arial" pitchFamily="34" charset="0"/>
                <a:ea typeface="Arial" pitchFamily="34" charset="-122"/>
                <a:cs typeface="Arial" pitchFamily="34" charset="-120"/>
              </a:rPr>
              <a:t>sprint start</a:t>
            </a:r>
            <a:endParaRPr lang="en-US" sz="1050" dirty="0"/>
          </a:p>
        </p:txBody>
      </p:sp>
      <p:sp>
        <p:nvSpPr>
          <p:cNvPr id="8" name="Shape 6"/>
          <p:cNvSpPr/>
          <p:nvPr/>
        </p:nvSpPr>
        <p:spPr>
          <a:xfrm>
            <a:off x="3392424" y="1627632"/>
            <a:ext cx="2560320" cy="1371600"/>
          </a:xfrm>
          <a:prstGeom prst="rect">
            <a:avLst/>
          </a:prstGeom>
          <a:solidFill>
            <a:srgbClr val="F7F7F7"/>
          </a:solidFill>
          <a:ln/>
        </p:spPr>
        <p:txBody>
          <a:bodyPr/>
          <a:lstStyle/>
          <a:p>
            <a:endParaRPr lang="en-GB"/>
          </a:p>
        </p:txBody>
      </p:sp>
      <p:sp>
        <p:nvSpPr>
          <p:cNvPr id="9" name="Text 7"/>
          <p:cNvSpPr txBox="1"/>
          <p:nvPr/>
        </p:nvSpPr>
        <p:spPr>
          <a:xfrm>
            <a:off x="3648456" y="1755648"/>
            <a:ext cx="2103120" cy="640080"/>
          </a:xfrm>
          <a:prstGeom prst="rect">
            <a:avLst/>
          </a:prstGeom>
          <a:noFill/>
          <a:ln/>
        </p:spPr>
        <p:txBody>
          <a:bodyPr wrap="square" lIns="0" tIns="0" rIns="0" bIns="0" rtlCol="0" anchor="ctr"/>
          <a:lstStyle/>
          <a:p>
            <a:pPr marL="0" indent="0">
              <a:buNone/>
            </a:pPr>
            <a:r>
              <a:rPr lang="en-US" sz="3800" b="1" dirty="0">
                <a:solidFill>
                  <a:srgbClr val="CC0000"/>
                </a:solidFill>
                <a:latin typeface="Arial" pitchFamily="34" charset="0"/>
                <a:ea typeface="Arial" pitchFamily="34" charset="-122"/>
                <a:cs typeface="Arial" pitchFamily="34" charset="-120"/>
              </a:rPr>
              <a:t>13</a:t>
            </a:r>
            <a:endParaRPr lang="en-US" sz="3800" dirty="0"/>
          </a:p>
        </p:txBody>
      </p:sp>
      <p:sp>
        <p:nvSpPr>
          <p:cNvPr id="10" name="Text 8"/>
          <p:cNvSpPr txBox="1"/>
          <p:nvPr/>
        </p:nvSpPr>
        <p:spPr>
          <a:xfrm>
            <a:off x="3648456" y="2432304"/>
            <a:ext cx="2103120" cy="457200"/>
          </a:xfrm>
          <a:prstGeom prst="rect">
            <a:avLst/>
          </a:prstGeom>
          <a:noFill/>
          <a:ln/>
        </p:spPr>
        <p:txBody>
          <a:bodyPr wrap="square" lIns="0" tIns="0" rIns="0" bIns="0" rtlCol="0" anchor="ctr"/>
          <a:lstStyle/>
          <a:p>
            <a:pPr marL="0" indent="0">
              <a:lnSpc>
                <a:spcPts val="1350"/>
              </a:lnSpc>
              <a:buNone/>
            </a:pPr>
            <a:r>
              <a:rPr lang="en-US" sz="1050" dirty="0">
                <a:solidFill>
                  <a:srgbClr val="6E6E6E"/>
                </a:solidFill>
                <a:latin typeface="Arial" pitchFamily="34" charset="0"/>
                <a:ea typeface="Arial" pitchFamily="34" charset="-122"/>
                <a:cs typeface="Arial" pitchFamily="34" charset="-120"/>
              </a:rPr>
              <a:t>Added after</a:t>
            </a:r>
            <a:endParaRPr lang="en-US" sz="1050" dirty="0"/>
          </a:p>
          <a:p>
            <a:pPr marL="0" indent="0">
              <a:lnSpc>
                <a:spcPts val="1350"/>
              </a:lnSpc>
              <a:buNone/>
            </a:pPr>
            <a:r>
              <a:rPr lang="en-US" sz="1050" dirty="0">
                <a:solidFill>
                  <a:srgbClr val="6E6E6E"/>
                </a:solidFill>
                <a:latin typeface="Arial" pitchFamily="34" charset="0"/>
                <a:ea typeface="Arial" pitchFamily="34" charset="-122"/>
                <a:cs typeface="Arial" pitchFamily="34" charset="-120"/>
              </a:rPr>
              <a:t>sprint started</a:t>
            </a:r>
            <a:endParaRPr lang="en-US" sz="1050" dirty="0"/>
          </a:p>
        </p:txBody>
      </p:sp>
      <p:sp>
        <p:nvSpPr>
          <p:cNvPr id="11" name="Shape 9"/>
          <p:cNvSpPr/>
          <p:nvPr/>
        </p:nvSpPr>
        <p:spPr>
          <a:xfrm>
            <a:off x="6190488" y="1627632"/>
            <a:ext cx="2560320" cy="1371600"/>
          </a:xfrm>
          <a:prstGeom prst="rect">
            <a:avLst/>
          </a:prstGeom>
          <a:solidFill>
            <a:srgbClr val="F7F7F7"/>
          </a:solidFill>
          <a:ln/>
        </p:spPr>
        <p:txBody>
          <a:bodyPr/>
          <a:lstStyle/>
          <a:p>
            <a:endParaRPr lang="en-GB"/>
          </a:p>
        </p:txBody>
      </p:sp>
      <p:sp>
        <p:nvSpPr>
          <p:cNvPr id="12" name="Text 10"/>
          <p:cNvSpPr txBox="1"/>
          <p:nvPr/>
        </p:nvSpPr>
        <p:spPr>
          <a:xfrm>
            <a:off x="6446520" y="1755648"/>
            <a:ext cx="2103120" cy="640080"/>
          </a:xfrm>
          <a:prstGeom prst="rect">
            <a:avLst/>
          </a:prstGeom>
          <a:noFill/>
          <a:ln/>
        </p:spPr>
        <p:txBody>
          <a:bodyPr wrap="square" lIns="0" tIns="0" rIns="0" bIns="0" rtlCol="0" anchor="ctr"/>
          <a:lstStyle/>
          <a:p>
            <a:pPr marL="0" indent="0">
              <a:buNone/>
            </a:pPr>
            <a:r>
              <a:rPr lang="en-US" sz="3800" b="1" dirty="0">
                <a:solidFill>
                  <a:srgbClr val="1A1A1A"/>
                </a:solidFill>
                <a:latin typeface="Arial" pitchFamily="34" charset="0"/>
                <a:ea typeface="Arial" pitchFamily="34" charset="-122"/>
                <a:cs typeface="Arial" pitchFamily="34" charset="-120"/>
              </a:rPr>
              <a:t>48</a:t>
            </a:r>
            <a:endParaRPr lang="en-US" sz="3800" dirty="0"/>
          </a:p>
        </p:txBody>
      </p:sp>
      <p:sp>
        <p:nvSpPr>
          <p:cNvPr id="13" name="Text 11"/>
          <p:cNvSpPr txBox="1"/>
          <p:nvPr/>
        </p:nvSpPr>
        <p:spPr>
          <a:xfrm>
            <a:off x="6446520" y="2432304"/>
            <a:ext cx="2103120" cy="457200"/>
          </a:xfrm>
          <a:prstGeom prst="rect">
            <a:avLst/>
          </a:prstGeom>
          <a:noFill/>
          <a:ln/>
        </p:spPr>
        <p:txBody>
          <a:bodyPr wrap="square" lIns="0" tIns="0" rIns="0" bIns="0" rtlCol="0" anchor="ctr"/>
          <a:lstStyle/>
          <a:p>
            <a:pPr marL="0" indent="0">
              <a:lnSpc>
                <a:spcPts val="1350"/>
              </a:lnSpc>
              <a:buNone/>
            </a:pPr>
            <a:r>
              <a:rPr lang="en-US" sz="1050" dirty="0">
                <a:solidFill>
                  <a:srgbClr val="6E6E6E"/>
                </a:solidFill>
                <a:latin typeface="Arial" pitchFamily="34" charset="0"/>
                <a:ea typeface="Arial" pitchFamily="34" charset="-122"/>
                <a:cs typeface="Arial" pitchFamily="34" charset="-120"/>
              </a:rPr>
              <a:t>Completed</a:t>
            </a:r>
            <a:endParaRPr lang="en-US" sz="1050" dirty="0"/>
          </a:p>
          <a:p>
            <a:pPr marL="0" indent="0">
              <a:lnSpc>
                <a:spcPts val="1350"/>
              </a:lnSpc>
              <a:buNone/>
            </a:pPr>
            <a:r>
              <a:rPr lang="en-US" sz="1050" dirty="0">
                <a:solidFill>
                  <a:srgbClr val="6E6E6E"/>
                </a:solidFill>
                <a:latin typeface="Arial" pitchFamily="34" charset="0"/>
                <a:ea typeface="Arial" pitchFamily="34" charset="-122"/>
                <a:cs typeface="Arial" pitchFamily="34" charset="-120"/>
              </a:rPr>
              <a:t>(of 58 items)</a:t>
            </a:r>
            <a:endParaRPr lang="en-US" sz="1050" dirty="0"/>
          </a:p>
        </p:txBody>
      </p:sp>
      <p:sp>
        <p:nvSpPr>
          <p:cNvPr id="14" name="Shape 12"/>
          <p:cNvSpPr/>
          <p:nvPr/>
        </p:nvSpPr>
        <p:spPr>
          <a:xfrm>
            <a:off x="8988552" y="1627632"/>
            <a:ext cx="2560320" cy="1371600"/>
          </a:xfrm>
          <a:prstGeom prst="rect">
            <a:avLst/>
          </a:prstGeom>
          <a:solidFill>
            <a:srgbClr val="F7F7F7"/>
          </a:solidFill>
          <a:ln/>
        </p:spPr>
        <p:txBody>
          <a:bodyPr/>
          <a:lstStyle/>
          <a:p>
            <a:endParaRPr lang="en-GB"/>
          </a:p>
        </p:txBody>
      </p:sp>
      <p:sp>
        <p:nvSpPr>
          <p:cNvPr id="15" name="Text 13"/>
          <p:cNvSpPr txBox="1"/>
          <p:nvPr/>
        </p:nvSpPr>
        <p:spPr>
          <a:xfrm>
            <a:off x="9244584" y="1755648"/>
            <a:ext cx="2103120" cy="640080"/>
          </a:xfrm>
          <a:prstGeom prst="rect">
            <a:avLst/>
          </a:prstGeom>
          <a:noFill/>
          <a:ln/>
        </p:spPr>
        <p:txBody>
          <a:bodyPr wrap="square" lIns="0" tIns="0" rIns="0" bIns="0" rtlCol="0" anchor="ctr"/>
          <a:lstStyle/>
          <a:p>
            <a:pPr marL="0" indent="0">
              <a:buNone/>
            </a:pPr>
            <a:r>
              <a:rPr lang="en-US" sz="3800" b="1" dirty="0">
                <a:solidFill>
                  <a:srgbClr val="1A1A1A"/>
                </a:solidFill>
                <a:latin typeface="Arial" pitchFamily="34" charset="0"/>
                <a:ea typeface="Arial" pitchFamily="34" charset="-122"/>
                <a:cs typeface="Arial" pitchFamily="34" charset="-120"/>
              </a:rPr>
              <a:t>83%</a:t>
            </a:r>
            <a:endParaRPr lang="en-US" sz="3800" dirty="0"/>
          </a:p>
        </p:txBody>
      </p:sp>
      <p:sp>
        <p:nvSpPr>
          <p:cNvPr id="16" name="Text 14"/>
          <p:cNvSpPr txBox="1"/>
          <p:nvPr/>
        </p:nvSpPr>
        <p:spPr>
          <a:xfrm>
            <a:off x="9244584" y="2432304"/>
            <a:ext cx="2103120" cy="457200"/>
          </a:xfrm>
          <a:prstGeom prst="rect">
            <a:avLst/>
          </a:prstGeom>
          <a:noFill/>
          <a:ln/>
        </p:spPr>
        <p:txBody>
          <a:bodyPr wrap="square" lIns="0" tIns="0" rIns="0" bIns="0" rtlCol="0" anchor="ctr"/>
          <a:lstStyle/>
          <a:p>
            <a:pPr marL="0" indent="0">
              <a:lnSpc>
                <a:spcPts val="1350"/>
              </a:lnSpc>
              <a:buNone/>
            </a:pPr>
            <a:r>
              <a:rPr lang="en-US" sz="1050" dirty="0">
                <a:solidFill>
                  <a:srgbClr val="6E6E6E"/>
                </a:solidFill>
                <a:latin typeface="Arial" pitchFamily="34" charset="0"/>
                <a:ea typeface="Arial" pitchFamily="34" charset="-122"/>
                <a:cs typeface="Arial" pitchFamily="34" charset="-120"/>
              </a:rPr>
              <a:t>Completion</a:t>
            </a:r>
            <a:endParaRPr lang="en-US" sz="1050" dirty="0"/>
          </a:p>
          <a:p>
            <a:pPr marL="0" indent="0">
              <a:lnSpc>
                <a:spcPts val="1350"/>
              </a:lnSpc>
              <a:buNone/>
            </a:pPr>
            <a:r>
              <a:rPr lang="en-US" sz="1050" dirty="0">
                <a:solidFill>
                  <a:srgbClr val="6E6E6E"/>
                </a:solidFill>
                <a:latin typeface="Arial" pitchFamily="34" charset="0"/>
                <a:ea typeface="Arial" pitchFamily="34" charset="-122"/>
                <a:cs typeface="Arial" pitchFamily="34" charset="-120"/>
              </a:rPr>
              <a:t>rate</a:t>
            </a:r>
            <a:endParaRPr lang="en-US" sz="1050" dirty="0"/>
          </a:p>
        </p:txBody>
      </p:sp>
      <p:sp>
        <p:nvSpPr>
          <p:cNvPr id="17" name="Text 15"/>
          <p:cNvSpPr txBox="1"/>
          <p:nvPr/>
        </p:nvSpPr>
        <p:spPr>
          <a:xfrm>
            <a:off x="594360" y="3291840"/>
            <a:ext cx="6309360" cy="274320"/>
          </a:xfrm>
          <a:prstGeom prst="rect">
            <a:avLst/>
          </a:prstGeom>
          <a:noFill/>
          <a:ln/>
        </p:spPr>
        <p:txBody>
          <a:bodyPr wrap="square" lIns="0" tIns="0" rIns="0" bIns="0" rtlCol="0" anchor="ctr"/>
          <a:lstStyle/>
          <a:p>
            <a:pPr marL="0" indent="0">
              <a:buNone/>
            </a:pPr>
            <a:r>
              <a:rPr lang="en-US" sz="1250" b="1" dirty="0">
                <a:solidFill>
                  <a:srgbClr val="CC0000"/>
                </a:solidFill>
                <a:latin typeface="Arial" pitchFamily="34" charset="0"/>
                <a:ea typeface="Arial" pitchFamily="34" charset="-122"/>
                <a:cs typeface="Arial" pitchFamily="34" charset="-120"/>
              </a:rPr>
              <a:t>Reading the numbers</a:t>
            </a:r>
            <a:endParaRPr lang="en-US" sz="1250" dirty="0"/>
          </a:p>
        </p:txBody>
      </p:sp>
      <p:sp>
        <p:nvSpPr>
          <p:cNvPr id="18" name="Shape 16"/>
          <p:cNvSpPr/>
          <p:nvPr/>
        </p:nvSpPr>
        <p:spPr>
          <a:xfrm>
            <a:off x="594360" y="3621024"/>
            <a:ext cx="6355080" cy="0"/>
          </a:xfrm>
          <a:prstGeom prst="line">
            <a:avLst/>
          </a:prstGeom>
          <a:noFill/>
          <a:ln w="12700">
            <a:solidFill>
              <a:srgbClr val="E3E3E3"/>
            </a:solidFill>
            <a:prstDash val="solid"/>
          </a:ln>
        </p:spPr>
        <p:txBody>
          <a:bodyPr/>
          <a:lstStyle/>
          <a:p>
            <a:endParaRPr lang="en-GB"/>
          </a:p>
        </p:txBody>
      </p:sp>
      <p:sp>
        <p:nvSpPr>
          <p:cNvPr id="19" name="Text 17"/>
          <p:cNvSpPr txBox="1"/>
          <p:nvPr/>
        </p:nvSpPr>
        <p:spPr>
          <a:xfrm>
            <a:off x="594360" y="3785616"/>
            <a:ext cx="6355080" cy="2468880"/>
          </a:xfrm>
          <a:prstGeom prst="rect">
            <a:avLst/>
          </a:prstGeom>
          <a:noFill/>
          <a:ln/>
        </p:spPr>
        <p:txBody>
          <a:bodyPr wrap="square" lIns="0" tIns="0" rIns="0" bIns="0" rtlCol="0" anchor="t"/>
          <a:lstStyle/>
          <a:p>
            <a:pPr marL="342900" indent="-342900">
              <a:lnSpc>
                <a:spcPts val="1500"/>
              </a:lnSpc>
              <a:spcAft>
                <a:spcPts val="700"/>
              </a:spcAft>
              <a:buSzPct val="100000"/>
              <a:buChar char="•"/>
            </a:pPr>
            <a:r>
              <a:rPr lang="en-US" sz="1100" dirty="0">
                <a:solidFill>
                  <a:srgbClr val="1A1A1A"/>
                </a:solidFill>
                <a:latin typeface="Arial" pitchFamily="34" charset="0"/>
                <a:ea typeface="Arial" pitchFamily="34" charset="-122"/>
                <a:cs typeface="Arial" pitchFamily="34" charset="-120"/>
              </a:rPr>
              <a:t>48 of 58 items completed. Of the 45 committed at the start, 36 finished and 9 carry into Sprint 3.</a:t>
            </a:r>
            <a:endParaRPr lang="en-US" sz="1100" dirty="0"/>
          </a:p>
          <a:p>
            <a:pPr marL="342900" indent="-342900">
              <a:lnSpc>
                <a:spcPts val="1500"/>
              </a:lnSpc>
              <a:spcAft>
                <a:spcPts val="700"/>
              </a:spcAft>
              <a:buSzPct val="100000"/>
              <a:buChar char="•"/>
            </a:pPr>
            <a:r>
              <a:rPr lang="en-US" sz="1100" dirty="0">
                <a:solidFill>
                  <a:srgbClr val="1A1A1A"/>
                </a:solidFill>
                <a:latin typeface="Arial" pitchFamily="34" charset="0"/>
                <a:ea typeface="Arial" pitchFamily="34" charset="-122"/>
                <a:cs typeface="Arial" pitchFamily="34" charset="-120"/>
              </a:rPr>
              <a:t>13 items were added after the sprint began, a scope increase of roughly 29%. 12 of those 13 were completed within the sprint.</a:t>
            </a:r>
            <a:endParaRPr lang="en-US" sz="1100" dirty="0"/>
          </a:p>
          <a:p>
            <a:pPr marL="342900" indent="-342900">
              <a:lnSpc>
                <a:spcPts val="1500"/>
              </a:lnSpc>
              <a:spcAft>
                <a:spcPts val="700"/>
              </a:spcAft>
              <a:buSzPct val="100000"/>
              <a:buChar char="•"/>
            </a:pPr>
            <a:r>
              <a:rPr lang="en-US" sz="1100" dirty="0">
                <a:solidFill>
                  <a:srgbClr val="1A1A1A"/>
                </a:solidFill>
                <a:latin typeface="Arial" pitchFamily="34" charset="0"/>
                <a:ea typeface="Arial" pitchFamily="34" charset="-122"/>
                <a:cs typeface="Arial" pitchFamily="34" charset="-120"/>
              </a:rPr>
              <a:t>Much of the Sprint 1 carryover closed here, including the data foundation items OI3-37, 39, 42 and 45 and the two think-cell reviews.</a:t>
            </a:r>
            <a:endParaRPr lang="en-US" sz="1100" dirty="0"/>
          </a:p>
          <a:p>
            <a:pPr marL="342900" indent="-342900">
              <a:lnSpc>
                <a:spcPts val="1500"/>
              </a:lnSpc>
              <a:spcAft>
                <a:spcPts val="700"/>
              </a:spcAft>
              <a:buSzPct val="100000"/>
              <a:buChar char="•"/>
            </a:pPr>
            <a:r>
              <a:rPr lang="en-US" sz="1100" dirty="0">
                <a:solidFill>
                  <a:srgbClr val="1A1A1A"/>
                </a:solidFill>
                <a:latin typeface="Arial" pitchFamily="34" charset="0"/>
                <a:ea typeface="Arial" pitchFamily="34" charset="-122"/>
                <a:cs typeface="Arial" pitchFamily="34" charset="-120"/>
              </a:rPr>
              <a:t>Estimates were still not recorded in Jira. The team estimated in hours, the board was configured for story points, and capturing them required admin access. Issue count remained the only available measure. </a:t>
            </a:r>
            <a:r>
              <a:rPr lang="en-US" sz="1100" b="1" dirty="0">
                <a:solidFill>
                  <a:srgbClr val="1A1A1A"/>
                </a:solidFill>
                <a:latin typeface="Arial" pitchFamily="34" charset="0"/>
                <a:ea typeface="Arial" pitchFamily="34" charset="-122"/>
                <a:cs typeface="Arial" pitchFamily="34" charset="-120"/>
              </a:rPr>
              <a:t>Fixed starting from Sprint 3.</a:t>
            </a:r>
            <a:endParaRPr lang="en-US" sz="1100" b="1" dirty="0"/>
          </a:p>
        </p:txBody>
      </p:sp>
      <p:sp>
        <p:nvSpPr>
          <p:cNvPr id="20" name="Text 18"/>
          <p:cNvSpPr txBox="1"/>
          <p:nvPr/>
        </p:nvSpPr>
        <p:spPr>
          <a:xfrm>
            <a:off x="7315200" y="3291840"/>
            <a:ext cx="4279392" cy="274320"/>
          </a:xfrm>
          <a:prstGeom prst="rect">
            <a:avLst/>
          </a:prstGeom>
          <a:noFill/>
          <a:ln/>
        </p:spPr>
        <p:txBody>
          <a:bodyPr wrap="square" lIns="0" tIns="0" rIns="0" bIns="0" rtlCol="0" anchor="ctr"/>
          <a:lstStyle/>
          <a:p>
            <a:pPr marL="0" indent="0">
              <a:buNone/>
            </a:pPr>
            <a:r>
              <a:rPr lang="en-US" sz="1250" b="1" dirty="0">
                <a:solidFill>
                  <a:srgbClr val="CC0000"/>
                </a:solidFill>
                <a:latin typeface="Arial" pitchFamily="34" charset="0"/>
                <a:ea typeface="Arial" pitchFamily="34" charset="-122"/>
                <a:cs typeface="Arial" pitchFamily="34" charset="-120"/>
              </a:rPr>
              <a:t>What the 13 added items were</a:t>
            </a:r>
            <a:endParaRPr lang="en-US" sz="1250" dirty="0"/>
          </a:p>
        </p:txBody>
      </p:sp>
      <p:sp>
        <p:nvSpPr>
          <p:cNvPr id="21" name="Shape 19"/>
          <p:cNvSpPr/>
          <p:nvPr/>
        </p:nvSpPr>
        <p:spPr>
          <a:xfrm>
            <a:off x="7315200" y="3621024"/>
            <a:ext cx="4279392" cy="0"/>
          </a:xfrm>
          <a:prstGeom prst="line">
            <a:avLst/>
          </a:prstGeom>
          <a:noFill/>
          <a:ln w="12700">
            <a:solidFill>
              <a:srgbClr val="E3E3E3"/>
            </a:solidFill>
            <a:prstDash val="solid"/>
          </a:ln>
        </p:spPr>
        <p:txBody>
          <a:bodyPr/>
          <a:lstStyle/>
          <a:p>
            <a:endParaRPr lang="en-GB"/>
          </a:p>
        </p:txBody>
      </p:sp>
      <p:sp>
        <p:nvSpPr>
          <p:cNvPr id="22" name="Text 20"/>
          <p:cNvSpPr txBox="1"/>
          <p:nvPr/>
        </p:nvSpPr>
        <p:spPr>
          <a:xfrm>
            <a:off x="7315200" y="3767328"/>
            <a:ext cx="3730752" cy="237744"/>
          </a:xfrm>
          <a:prstGeom prst="rect">
            <a:avLst/>
          </a:prstGeom>
          <a:noFill/>
          <a:ln/>
        </p:spPr>
        <p:txBody>
          <a:bodyPr wrap="square" lIns="0" tIns="0" rIns="0" bIns="0" rtlCol="0" anchor="ctr"/>
          <a:lstStyle/>
          <a:p>
            <a:pPr marL="0" indent="0">
              <a:buNone/>
            </a:pPr>
            <a:r>
              <a:rPr lang="en-US" sz="1100" b="1" dirty="0">
                <a:solidFill>
                  <a:srgbClr val="1A1A1A"/>
                </a:solidFill>
                <a:latin typeface="Arial" pitchFamily="34" charset="0"/>
                <a:ea typeface="Arial" pitchFamily="34" charset="-122"/>
                <a:cs typeface="Arial" pitchFamily="34" charset="-120"/>
              </a:rPr>
              <a:t>Build and platform</a:t>
            </a:r>
            <a:endParaRPr lang="en-US" sz="1100" dirty="0"/>
          </a:p>
        </p:txBody>
      </p:sp>
      <p:sp>
        <p:nvSpPr>
          <p:cNvPr id="23" name="Text 21"/>
          <p:cNvSpPr txBox="1"/>
          <p:nvPr/>
        </p:nvSpPr>
        <p:spPr>
          <a:xfrm>
            <a:off x="11045952" y="3767328"/>
            <a:ext cx="548640" cy="237744"/>
          </a:xfrm>
          <a:prstGeom prst="rect">
            <a:avLst/>
          </a:prstGeom>
          <a:noFill/>
          <a:ln/>
        </p:spPr>
        <p:txBody>
          <a:bodyPr wrap="square" lIns="0" tIns="0" rIns="0" bIns="0" rtlCol="0" anchor="ctr"/>
          <a:lstStyle/>
          <a:p>
            <a:pPr marL="0" indent="0" algn="r">
              <a:buNone/>
            </a:pPr>
            <a:r>
              <a:rPr lang="en-US" sz="1200" b="1" dirty="0">
                <a:solidFill>
                  <a:srgbClr val="1A1A1A"/>
                </a:solidFill>
                <a:latin typeface="Arial" pitchFamily="34" charset="0"/>
                <a:ea typeface="Arial" pitchFamily="34" charset="-122"/>
                <a:cs typeface="Arial" pitchFamily="34" charset="-120"/>
              </a:rPr>
              <a:t>5</a:t>
            </a:r>
            <a:endParaRPr lang="en-US" sz="1200" dirty="0"/>
          </a:p>
        </p:txBody>
      </p:sp>
      <p:sp>
        <p:nvSpPr>
          <p:cNvPr id="24" name="Shape 22"/>
          <p:cNvSpPr/>
          <p:nvPr/>
        </p:nvSpPr>
        <p:spPr>
          <a:xfrm>
            <a:off x="7315200" y="4041648"/>
            <a:ext cx="4279392" cy="82296"/>
          </a:xfrm>
          <a:prstGeom prst="rect">
            <a:avLst/>
          </a:prstGeom>
          <a:solidFill>
            <a:srgbClr val="E9E9E9"/>
          </a:solidFill>
          <a:ln/>
        </p:spPr>
        <p:txBody>
          <a:bodyPr/>
          <a:lstStyle/>
          <a:p>
            <a:endParaRPr lang="en-GB"/>
          </a:p>
        </p:txBody>
      </p:sp>
      <p:sp>
        <p:nvSpPr>
          <p:cNvPr id="25" name="Shape 23"/>
          <p:cNvSpPr/>
          <p:nvPr/>
        </p:nvSpPr>
        <p:spPr>
          <a:xfrm>
            <a:off x="7315200" y="4041648"/>
            <a:ext cx="4279392" cy="82296"/>
          </a:xfrm>
          <a:prstGeom prst="rect">
            <a:avLst/>
          </a:prstGeom>
          <a:solidFill>
            <a:srgbClr val="4A4A4A"/>
          </a:solidFill>
          <a:ln/>
        </p:spPr>
        <p:txBody>
          <a:bodyPr/>
          <a:lstStyle/>
          <a:p>
            <a:endParaRPr lang="en-GB"/>
          </a:p>
        </p:txBody>
      </p:sp>
      <p:sp>
        <p:nvSpPr>
          <p:cNvPr id="26" name="Text 24"/>
          <p:cNvSpPr txBox="1"/>
          <p:nvPr/>
        </p:nvSpPr>
        <p:spPr>
          <a:xfrm>
            <a:off x="7315200" y="4151376"/>
            <a:ext cx="4279392" cy="201168"/>
          </a:xfrm>
          <a:prstGeom prst="rect">
            <a:avLst/>
          </a:prstGeom>
          <a:noFill/>
          <a:ln/>
        </p:spPr>
        <p:txBody>
          <a:bodyPr wrap="square" lIns="0" tIns="0" rIns="0" bIns="0" rtlCol="0" anchor="ctr"/>
          <a:lstStyle/>
          <a:p>
            <a:pPr marL="0" indent="0">
              <a:buNone/>
            </a:pPr>
            <a:r>
              <a:rPr lang="en-US" sz="850" dirty="0">
                <a:solidFill>
                  <a:srgbClr val="6E6E6E"/>
                </a:solidFill>
                <a:latin typeface="Arial" pitchFamily="34" charset="0"/>
                <a:ea typeface="Arial" pitchFamily="34" charset="-122"/>
                <a:cs typeface="Arial" pitchFamily="34" charset="-120"/>
              </a:rPr>
              <a:t>Dashboard and target setup screens, Case Service, search API and taxonomy migration</a:t>
            </a:r>
            <a:endParaRPr lang="en-US" sz="850" dirty="0"/>
          </a:p>
        </p:txBody>
      </p:sp>
      <p:sp>
        <p:nvSpPr>
          <p:cNvPr id="27" name="Text 25"/>
          <p:cNvSpPr txBox="1"/>
          <p:nvPr/>
        </p:nvSpPr>
        <p:spPr>
          <a:xfrm>
            <a:off x="7315200" y="4370832"/>
            <a:ext cx="3730752" cy="237744"/>
          </a:xfrm>
          <a:prstGeom prst="rect">
            <a:avLst/>
          </a:prstGeom>
          <a:noFill/>
          <a:ln/>
        </p:spPr>
        <p:txBody>
          <a:bodyPr wrap="square" lIns="0" tIns="0" rIns="0" bIns="0" rtlCol="0" anchor="ctr"/>
          <a:lstStyle/>
          <a:p>
            <a:pPr marL="0" indent="0">
              <a:buNone/>
            </a:pPr>
            <a:r>
              <a:rPr lang="en-US" sz="1100" b="1" dirty="0">
                <a:solidFill>
                  <a:srgbClr val="1A1A1A"/>
                </a:solidFill>
                <a:latin typeface="Arial" pitchFamily="34" charset="0"/>
                <a:ea typeface="Arial" pitchFamily="34" charset="-122"/>
                <a:cs typeface="Arial" pitchFamily="34" charset="-120"/>
              </a:rPr>
              <a:t>Quality and testing</a:t>
            </a:r>
            <a:endParaRPr lang="en-US" sz="1100" dirty="0"/>
          </a:p>
        </p:txBody>
      </p:sp>
      <p:sp>
        <p:nvSpPr>
          <p:cNvPr id="28" name="Text 26"/>
          <p:cNvSpPr txBox="1"/>
          <p:nvPr/>
        </p:nvSpPr>
        <p:spPr>
          <a:xfrm>
            <a:off x="11045952" y="4370832"/>
            <a:ext cx="548640" cy="237744"/>
          </a:xfrm>
          <a:prstGeom prst="rect">
            <a:avLst/>
          </a:prstGeom>
          <a:noFill/>
          <a:ln/>
        </p:spPr>
        <p:txBody>
          <a:bodyPr wrap="square" lIns="0" tIns="0" rIns="0" bIns="0" rtlCol="0" anchor="ctr"/>
          <a:lstStyle/>
          <a:p>
            <a:pPr marL="0" indent="0" algn="r">
              <a:buNone/>
            </a:pPr>
            <a:r>
              <a:rPr lang="en-US" sz="1200" b="1" dirty="0">
                <a:solidFill>
                  <a:srgbClr val="1A1A1A"/>
                </a:solidFill>
                <a:latin typeface="Arial" pitchFamily="34" charset="0"/>
                <a:ea typeface="Arial" pitchFamily="34" charset="-122"/>
                <a:cs typeface="Arial" pitchFamily="34" charset="-120"/>
              </a:rPr>
              <a:t>4</a:t>
            </a:r>
            <a:endParaRPr lang="en-US" sz="1200" dirty="0"/>
          </a:p>
        </p:txBody>
      </p:sp>
      <p:sp>
        <p:nvSpPr>
          <p:cNvPr id="29" name="Shape 27"/>
          <p:cNvSpPr/>
          <p:nvPr/>
        </p:nvSpPr>
        <p:spPr>
          <a:xfrm>
            <a:off x="7315200" y="4645152"/>
            <a:ext cx="4279392" cy="82296"/>
          </a:xfrm>
          <a:prstGeom prst="rect">
            <a:avLst/>
          </a:prstGeom>
          <a:solidFill>
            <a:srgbClr val="E9E9E9"/>
          </a:solidFill>
          <a:ln/>
        </p:spPr>
        <p:txBody>
          <a:bodyPr/>
          <a:lstStyle/>
          <a:p>
            <a:endParaRPr lang="en-GB"/>
          </a:p>
        </p:txBody>
      </p:sp>
      <p:sp>
        <p:nvSpPr>
          <p:cNvPr id="30" name="Shape 28"/>
          <p:cNvSpPr/>
          <p:nvPr/>
        </p:nvSpPr>
        <p:spPr>
          <a:xfrm>
            <a:off x="7315200" y="4645152"/>
            <a:ext cx="3423514" cy="82296"/>
          </a:xfrm>
          <a:prstGeom prst="rect">
            <a:avLst/>
          </a:prstGeom>
          <a:solidFill>
            <a:srgbClr val="9B9B9B"/>
          </a:solidFill>
          <a:ln/>
        </p:spPr>
        <p:txBody>
          <a:bodyPr/>
          <a:lstStyle/>
          <a:p>
            <a:endParaRPr lang="en-GB"/>
          </a:p>
        </p:txBody>
      </p:sp>
      <p:sp>
        <p:nvSpPr>
          <p:cNvPr id="31" name="Text 29"/>
          <p:cNvSpPr txBox="1"/>
          <p:nvPr/>
        </p:nvSpPr>
        <p:spPr>
          <a:xfrm>
            <a:off x="7315200" y="4754880"/>
            <a:ext cx="4279392" cy="201168"/>
          </a:xfrm>
          <a:prstGeom prst="rect">
            <a:avLst/>
          </a:prstGeom>
          <a:noFill/>
          <a:ln/>
        </p:spPr>
        <p:txBody>
          <a:bodyPr wrap="square" lIns="0" tIns="0" rIns="0" bIns="0" rtlCol="0" anchor="ctr"/>
          <a:lstStyle/>
          <a:p>
            <a:pPr marL="0" indent="0">
              <a:buNone/>
            </a:pPr>
            <a:r>
              <a:rPr lang="en-US" sz="850" dirty="0">
                <a:solidFill>
                  <a:srgbClr val="6E6E6E"/>
                </a:solidFill>
                <a:latin typeface="Arial" pitchFamily="34" charset="0"/>
                <a:ea typeface="Arial" pitchFamily="34" charset="-122"/>
                <a:cs typeface="Arial" pitchFamily="34" charset="-120"/>
              </a:rPr>
              <a:t>CI checks on every PR, framework gap analysis, grammar and agent QA</a:t>
            </a:r>
            <a:endParaRPr lang="en-US" sz="850" dirty="0"/>
          </a:p>
        </p:txBody>
      </p:sp>
      <p:sp>
        <p:nvSpPr>
          <p:cNvPr id="32" name="Text 30"/>
          <p:cNvSpPr txBox="1"/>
          <p:nvPr/>
        </p:nvSpPr>
        <p:spPr>
          <a:xfrm>
            <a:off x="7315200" y="4974336"/>
            <a:ext cx="3730752" cy="237744"/>
          </a:xfrm>
          <a:prstGeom prst="rect">
            <a:avLst/>
          </a:prstGeom>
          <a:noFill/>
          <a:ln/>
        </p:spPr>
        <p:txBody>
          <a:bodyPr wrap="square" lIns="0" tIns="0" rIns="0" bIns="0" rtlCol="0" anchor="ctr"/>
          <a:lstStyle/>
          <a:p>
            <a:pPr marL="0" indent="0">
              <a:buNone/>
            </a:pPr>
            <a:r>
              <a:rPr lang="en-US" sz="1100" b="1" dirty="0">
                <a:solidFill>
                  <a:srgbClr val="1A1A1A"/>
                </a:solidFill>
                <a:latin typeface="Arial" pitchFamily="34" charset="0"/>
                <a:ea typeface="Arial" pitchFamily="34" charset="-122"/>
                <a:cs typeface="Arial" pitchFamily="34" charset="-120"/>
              </a:rPr>
              <a:t>Data and taxonomy</a:t>
            </a:r>
            <a:endParaRPr lang="en-US" sz="1100" dirty="0"/>
          </a:p>
        </p:txBody>
      </p:sp>
      <p:sp>
        <p:nvSpPr>
          <p:cNvPr id="33" name="Text 31"/>
          <p:cNvSpPr txBox="1"/>
          <p:nvPr/>
        </p:nvSpPr>
        <p:spPr>
          <a:xfrm>
            <a:off x="11045952" y="4974336"/>
            <a:ext cx="548640" cy="237744"/>
          </a:xfrm>
          <a:prstGeom prst="rect">
            <a:avLst/>
          </a:prstGeom>
          <a:noFill/>
          <a:ln/>
        </p:spPr>
        <p:txBody>
          <a:bodyPr wrap="square" lIns="0" tIns="0" rIns="0" bIns="0" rtlCol="0" anchor="ctr"/>
          <a:lstStyle/>
          <a:p>
            <a:pPr marL="0" indent="0" algn="r">
              <a:buNone/>
            </a:pPr>
            <a:r>
              <a:rPr lang="en-US" sz="1200" b="1" dirty="0">
                <a:solidFill>
                  <a:srgbClr val="1A1A1A"/>
                </a:solidFill>
                <a:latin typeface="Arial" pitchFamily="34" charset="0"/>
                <a:ea typeface="Arial" pitchFamily="34" charset="-122"/>
                <a:cs typeface="Arial" pitchFamily="34" charset="-120"/>
              </a:rPr>
              <a:t>2</a:t>
            </a:r>
            <a:endParaRPr lang="en-US" sz="1200" dirty="0"/>
          </a:p>
        </p:txBody>
      </p:sp>
      <p:sp>
        <p:nvSpPr>
          <p:cNvPr id="34" name="Shape 32"/>
          <p:cNvSpPr/>
          <p:nvPr/>
        </p:nvSpPr>
        <p:spPr>
          <a:xfrm>
            <a:off x="7315200" y="5248656"/>
            <a:ext cx="4279392" cy="82296"/>
          </a:xfrm>
          <a:prstGeom prst="rect">
            <a:avLst/>
          </a:prstGeom>
          <a:solidFill>
            <a:srgbClr val="E9E9E9"/>
          </a:solidFill>
          <a:ln/>
        </p:spPr>
        <p:txBody>
          <a:bodyPr/>
          <a:lstStyle/>
          <a:p>
            <a:endParaRPr lang="en-GB"/>
          </a:p>
        </p:txBody>
      </p:sp>
      <p:sp>
        <p:nvSpPr>
          <p:cNvPr id="35" name="Shape 33"/>
          <p:cNvSpPr/>
          <p:nvPr/>
        </p:nvSpPr>
        <p:spPr>
          <a:xfrm>
            <a:off x="7315200" y="5248656"/>
            <a:ext cx="1711757" cy="82296"/>
          </a:xfrm>
          <a:prstGeom prst="rect">
            <a:avLst/>
          </a:prstGeom>
          <a:solidFill>
            <a:srgbClr val="9B9B9B"/>
          </a:solidFill>
          <a:ln/>
        </p:spPr>
        <p:txBody>
          <a:bodyPr/>
          <a:lstStyle/>
          <a:p>
            <a:endParaRPr lang="en-GB"/>
          </a:p>
        </p:txBody>
      </p:sp>
      <p:sp>
        <p:nvSpPr>
          <p:cNvPr id="36" name="Text 34"/>
          <p:cNvSpPr txBox="1"/>
          <p:nvPr/>
        </p:nvSpPr>
        <p:spPr>
          <a:xfrm>
            <a:off x="7315200" y="5358384"/>
            <a:ext cx="4279392" cy="201168"/>
          </a:xfrm>
          <a:prstGeom prst="rect">
            <a:avLst/>
          </a:prstGeom>
          <a:noFill/>
          <a:ln/>
        </p:spPr>
        <p:txBody>
          <a:bodyPr wrap="square" lIns="0" tIns="0" rIns="0" bIns="0" rtlCol="0" anchor="ctr"/>
          <a:lstStyle/>
          <a:p>
            <a:pPr marL="0" indent="0">
              <a:buNone/>
            </a:pPr>
            <a:r>
              <a:rPr lang="en-US" sz="850" dirty="0">
                <a:solidFill>
                  <a:srgbClr val="6E6E6E"/>
                </a:solidFill>
                <a:latin typeface="Arial" pitchFamily="34" charset="0"/>
                <a:ea typeface="Arial" pitchFamily="34" charset="-122"/>
                <a:cs typeface="Arial" pitchFamily="34" charset="-120"/>
              </a:rPr>
              <a:t>Parquet regeneration, fixtures-to-live migration</a:t>
            </a:r>
            <a:endParaRPr lang="en-US" sz="850" dirty="0"/>
          </a:p>
        </p:txBody>
      </p:sp>
      <p:sp>
        <p:nvSpPr>
          <p:cNvPr id="37" name="Text 35"/>
          <p:cNvSpPr txBox="1"/>
          <p:nvPr/>
        </p:nvSpPr>
        <p:spPr>
          <a:xfrm>
            <a:off x="7315200" y="5577840"/>
            <a:ext cx="3730752" cy="237744"/>
          </a:xfrm>
          <a:prstGeom prst="rect">
            <a:avLst/>
          </a:prstGeom>
          <a:noFill/>
          <a:ln/>
        </p:spPr>
        <p:txBody>
          <a:bodyPr wrap="square" lIns="0" tIns="0" rIns="0" bIns="0" rtlCol="0" anchor="ctr"/>
          <a:lstStyle/>
          <a:p>
            <a:pPr marL="0" indent="0">
              <a:buNone/>
            </a:pPr>
            <a:r>
              <a:rPr lang="en-US" sz="1100" b="1" dirty="0">
                <a:solidFill>
                  <a:srgbClr val="1A1A1A"/>
                </a:solidFill>
                <a:latin typeface="Arial" pitchFamily="34" charset="0"/>
                <a:ea typeface="Arial" pitchFamily="34" charset="-122"/>
                <a:cs typeface="Arial" pitchFamily="34" charset="-120"/>
              </a:rPr>
              <a:t>Demo readiness and feasibility</a:t>
            </a:r>
            <a:endParaRPr lang="en-US" sz="1100" dirty="0"/>
          </a:p>
        </p:txBody>
      </p:sp>
      <p:sp>
        <p:nvSpPr>
          <p:cNvPr id="38" name="Text 36"/>
          <p:cNvSpPr txBox="1"/>
          <p:nvPr/>
        </p:nvSpPr>
        <p:spPr>
          <a:xfrm>
            <a:off x="11045952" y="5577840"/>
            <a:ext cx="548640" cy="237744"/>
          </a:xfrm>
          <a:prstGeom prst="rect">
            <a:avLst/>
          </a:prstGeom>
          <a:noFill/>
          <a:ln/>
        </p:spPr>
        <p:txBody>
          <a:bodyPr wrap="square" lIns="0" tIns="0" rIns="0" bIns="0" rtlCol="0" anchor="ctr"/>
          <a:lstStyle/>
          <a:p>
            <a:pPr marL="0" indent="0" algn="r">
              <a:buNone/>
            </a:pPr>
            <a:r>
              <a:rPr lang="en-US" sz="1200" b="1" dirty="0">
                <a:solidFill>
                  <a:srgbClr val="CC0000"/>
                </a:solidFill>
                <a:latin typeface="Arial" pitchFamily="34" charset="0"/>
                <a:ea typeface="Arial" pitchFamily="34" charset="-122"/>
                <a:cs typeface="Arial" pitchFamily="34" charset="-120"/>
              </a:rPr>
              <a:t>2</a:t>
            </a:r>
            <a:endParaRPr lang="en-US" sz="1200" dirty="0"/>
          </a:p>
        </p:txBody>
      </p:sp>
      <p:sp>
        <p:nvSpPr>
          <p:cNvPr id="39" name="Shape 37"/>
          <p:cNvSpPr/>
          <p:nvPr/>
        </p:nvSpPr>
        <p:spPr>
          <a:xfrm>
            <a:off x="7315200" y="5852160"/>
            <a:ext cx="4279392" cy="82296"/>
          </a:xfrm>
          <a:prstGeom prst="rect">
            <a:avLst/>
          </a:prstGeom>
          <a:solidFill>
            <a:srgbClr val="E9E9E9"/>
          </a:solidFill>
          <a:ln/>
        </p:spPr>
        <p:txBody>
          <a:bodyPr/>
          <a:lstStyle/>
          <a:p>
            <a:endParaRPr lang="en-GB"/>
          </a:p>
        </p:txBody>
      </p:sp>
      <p:sp>
        <p:nvSpPr>
          <p:cNvPr id="40" name="Shape 38"/>
          <p:cNvSpPr/>
          <p:nvPr/>
        </p:nvSpPr>
        <p:spPr>
          <a:xfrm>
            <a:off x="7315200" y="5852160"/>
            <a:ext cx="1711757" cy="82296"/>
          </a:xfrm>
          <a:prstGeom prst="rect">
            <a:avLst/>
          </a:prstGeom>
          <a:solidFill>
            <a:srgbClr val="CC0000"/>
          </a:solidFill>
          <a:ln/>
        </p:spPr>
        <p:txBody>
          <a:bodyPr/>
          <a:lstStyle/>
          <a:p>
            <a:endParaRPr lang="en-GB"/>
          </a:p>
        </p:txBody>
      </p:sp>
      <p:sp>
        <p:nvSpPr>
          <p:cNvPr id="41" name="Text 39"/>
          <p:cNvSpPr txBox="1"/>
          <p:nvPr/>
        </p:nvSpPr>
        <p:spPr>
          <a:xfrm>
            <a:off x="7315200" y="5961888"/>
            <a:ext cx="4279392" cy="201168"/>
          </a:xfrm>
          <a:prstGeom prst="rect">
            <a:avLst/>
          </a:prstGeom>
          <a:noFill/>
          <a:ln/>
        </p:spPr>
        <p:txBody>
          <a:bodyPr wrap="square" lIns="0" tIns="0" rIns="0" bIns="0" rtlCol="0" anchor="ctr"/>
          <a:lstStyle/>
          <a:p>
            <a:pPr marL="0" indent="0">
              <a:buNone/>
            </a:pPr>
            <a:r>
              <a:rPr lang="en-US" sz="850" dirty="0">
                <a:solidFill>
                  <a:srgbClr val="6E6E6E"/>
                </a:solidFill>
                <a:latin typeface="Arial" pitchFamily="34" charset="0"/>
                <a:ea typeface="Arial" pitchFamily="34" charset="-122"/>
                <a:cs typeface="Arial" pitchFamily="34" charset="-120"/>
              </a:rPr>
              <a:t>Full stack deployed via Bastion, MS Foundry agent setup</a:t>
            </a:r>
            <a:endParaRPr lang="en-US" sz="850" dirty="0"/>
          </a:p>
        </p:txBody>
      </p:sp>
      <p:sp>
        <p:nvSpPr>
          <p:cNvPr id="42" name="Text 40"/>
          <p:cNvSpPr txBox="1"/>
          <p:nvPr/>
        </p:nvSpPr>
        <p:spPr>
          <a:xfrm>
            <a:off x="594360" y="6382512"/>
            <a:ext cx="5486400" cy="228600"/>
          </a:xfrm>
          <a:prstGeom prst="rect">
            <a:avLst/>
          </a:prstGeom>
          <a:noFill/>
          <a:ln/>
        </p:spPr>
        <p:txBody>
          <a:bodyPr wrap="square" lIns="0" tIns="0" rIns="0" bIns="0" rtlCol="0" anchor="ctr"/>
          <a:lstStyle/>
          <a:p>
            <a:pPr marL="0" indent="0">
              <a:buNone/>
            </a:pPr>
            <a:r>
              <a:rPr lang="en-US" sz="800" dirty="0">
                <a:solidFill>
                  <a:srgbClr val="9B9B9B"/>
                </a:solidFill>
                <a:latin typeface="Arial" pitchFamily="34" charset="0"/>
                <a:ea typeface="Arial" pitchFamily="34" charset="-122"/>
                <a:cs typeface="Arial" pitchFamily="34" charset="-120"/>
              </a:rPr>
              <a:t>Opportunity Catalyst  |  Sprint 2 Retrospective</a:t>
            </a:r>
            <a:endParaRPr lang="en-US" sz="800" dirty="0"/>
          </a:p>
        </p:txBody>
      </p:sp>
      <p:sp>
        <p:nvSpPr>
          <p:cNvPr id="43" name="Text 41"/>
          <p:cNvSpPr txBox="1"/>
          <p:nvPr/>
        </p:nvSpPr>
        <p:spPr>
          <a:xfrm>
            <a:off x="10972800" y="6382512"/>
            <a:ext cx="621792" cy="228600"/>
          </a:xfrm>
          <a:prstGeom prst="rect">
            <a:avLst/>
          </a:prstGeom>
          <a:noFill/>
          <a:ln/>
        </p:spPr>
        <p:txBody>
          <a:bodyPr wrap="square" lIns="0" tIns="0" rIns="0" bIns="0" rtlCol="0" anchor="ctr"/>
          <a:lstStyle/>
          <a:p>
            <a:pPr marL="0" indent="0" algn="r">
              <a:buNone/>
            </a:pPr>
            <a:r>
              <a:rPr lang="en-US" sz="800" dirty="0">
                <a:solidFill>
                  <a:srgbClr val="9B9B9B"/>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94360" y="402336"/>
            <a:ext cx="137160" cy="137160"/>
          </a:xfrm>
          <a:prstGeom prst="rect">
            <a:avLst/>
          </a:prstGeom>
          <a:solidFill>
            <a:srgbClr val="CC0000"/>
          </a:solidFill>
          <a:ln/>
        </p:spPr>
        <p:txBody>
          <a:bodyPr/>
          <a:lstStyle/>
          <a:p>
            <a:endParaRPr lang="en-GB"/>
          </a:p>
        </p:txBody>
      </p:sp>
      <p:sp>
        <p:nvSpPr>
          <p:cNvPr id="3" name="Text 1"/>
          <p:cNvSpPr txBox="1"/>
          <p:nvPr/>
        </p:nvSpPr>
        <p:spPr>
          <a:xfrm>
            <a:off x="594360" y="658368"/>
            <a:ext cx="10725912" cy="457200"/>
          </a:xfrm>
          <a:prstGeom prst="rect">
            <a:avLst/>
          </a:prstGeom>
          <a:noFill/>
          <a:ln/>
        </p:spPr>
        <p:txBody>
          <a:bodyPr wrap="square" lIns="0" tIns="0" rIns="0" bIns="0" rtlCol="0" anchor="ctr"/>
          <a:lstStyle/>
          <a:p>
            <a:pPr marL="0" indent="0">
              <a:buNone/>
            </a:pPr>
            <a:r>
              <a:rPr lang="en-US" sz="2700" b="1" dirty="0">
                <a:solidFill>
                  <a:srgbClr val="1A1A1A"/>
                </a:solidFill>
                <a:latin typeface="Arial" pitchFamily="34" charset="0"/>
                <a:ea typeface="Arial" pitchFamily="34" charset="-122"/>
                <a:cs typeface="Arial" pitchFamily="34" charset="-120"/>
              </a:rPr>
              <a:t>Sprint 1 compared with Sprint 2</a:t>
            </a:r>
            <a:endParaRPr lang="en-US" sz="2700" dirty="0"/>
          </a:p>
        </p:txBody>
      </p:sp>
      <p:sp>
        <p:nvSpPr>
          <p:cNvPr id="4" name="Text 2"/>
          <p:cNvSpPr txBox="1"/>
          <p:nvPr/>
        </p:nvSpPr>
        <p:spPr>
          <a:xfrm>
            <a:off x="594360" y="1152144"/>
            <a:ext cx="10725912" cy="292608"/>
          </a:xfrm>
          <a:prstGeom prst="rect">
            <a:avLst/>
          </a:prstGeom>
          <a:noFill/>
          <a:ln/>
        </p:spPr>
        <p:txBody>
          <a:bodyPr wrap="square" lIns="0" tIns="0" rIns="0" bIns="0" rtlCol="0" anchor="ctr"/>
          <a:lstStyle/>
          <a:p>
            <a:pPr marL="0" indent="0">
              <a:buNone/>
            </a:pPr>
            <a:r>
              <a:rPr lang="en-US" sz="1150" dirty="0">
                <a:solidFill>
                  <a:srgbClr val="6E6E6E"/>
                </a:solidFill>
                <a:latin typeface="Arial" pitchFamily="34" charset="0"/>
                <a:ea typeface="Arial" pitchFamily="34" charset="-122"/>
                <a:cs typeface="Arial" pitchFamily="34" charset="-120"/>
              </a:rPr>
              <a:t>Both sprints counted on the same basis — delivery items only, epics excluded</a:t>
            </a:r>
            <a:endParaRPr lang="en-US" sz="1150" dirty="0"/>
          </a:p>
        </p:txBody>
      </p:sp>
      <p:sp>
        <p:nvSpPr>
          <p:cNvPr id="5" name="Shape 3"/>
          <p:cNvSpPr/>
          <p:nvPr/>
        </p:nvSpPr>
        <p:spPr>
          <a:xfrm>
            <a:off x="594360" y="1627632"/>
            <a:ext cx="2560320" cy="2487168"/>
          </a:xfrm>
          <a:prstGeom prst="rect">
            <a:avLst/>
          </a:prstGeom>
          <a:solidFill>
            <a:srgbClr val="F7F7F7"/>
          </a:solidFill>
          <a:ln/>
        </p:spPr>
        <p:txBody>
          <a:bodyPr/>
          <a:lstStyle/>
          <a:p>
            <a:endParaRPr lang="en-GB"/>
          </a:p>
        </p:txBody>
      </p:sp>
      <p:sp>
        <p:nvSpPr>
          <p:cNvPr id="6" name="Text 4"/>
          <p:cNvSpPr txBox="1"/>
          <p:nvPr/>
        </p:nvSpPr>
        <p:spPr>
          <a:xfrm>
            <a:off x="832104" y="1773936"/>
            <a:ext cx="2103120" cy="274320"/>
          </a:xfrm>
          <a:prstGeom prst="rect">
            <a:avLst/>
          </a:prstGeom>
          <a:noFill/>
          <a:ln/>
        </p:spPr>
        <p:txBody>
          <a:bodyPr wrap="square" lIns="0" tIns="0" rIns="0" bIns="0" rtlCol="0" anchor="ctr"/>
          <a:lstStyle/>
          <a:p>
            <a:pPr marL="0" indent="0">
              <a:buNone/>
            </a:pPr>
            <a:r>
              <a:rPr lang="en-US" sz="1100" b="1" dirty="0">
                <a:solidFill>
                  <a:srgbClr val="1A1A1A"/>
                </a:solidFill>
                <a:latin typeface="Arial" pitchFamily="34" charset="0"/>
                <a:ea typeface="Arial" pitchFamily="34" charset="-122"/>
                <a:cs typeface="Arial" pitchFamily="34" charset="-120"/>
              </a:rPr>
              <a:t>Items completed</a:t>
            </a:r>
            <a:endParaRPr lang="en-US" sz="1100" dirty="0"/>
          </a:p>
        </p:txBody>
      </p:sp>
      <p:sp>
        <p:nvSpPr>
          <p:cNvPr id="7" name="Text 5"/>
          <p:cNvSpPr txBox="1"/>
          <p:nvPr/>
        </p:nvSpPr>
        <p:spPr>
          <a:xfrm>
            <a:off x="832104" y="2212848"/>
            <a:ext cx="914400" cy="201168"/>
          </a:xfrm>
          <a:prstGeom prst="rect">
            <a:avLst/>
          </a:prstGeom>
          <a:noFill/>
          <a:ln/>
        </p:spPr>
        <p:txBody>
          <a:bodyPr wrap="square" lIns="0" tIns="0" rIns="0" bIns="0" rtlCol="0" anchor="ctr"/>
          <a:lstStyle/>
          <a:p>
            <a:pPr marL="0" indent="0">
              <a:buNone/>
            </a:pPr>
            <a:r>
              <a:rPr lang="en-US" sz="850" kern="0" spc="100" dirty="0">
                <a:solidFill>
                  <a:srgbClr val="9B9B9B"/>
                </a:solidFill>
                <a:latin typeface="Arial" pitchFamily="34" charset="0"/>
                <a:ea typeface="Arial" pitchFamily="34" charset="-122"/>
                <a:cs typeface="Arial" pitchFamily="34" charset="-120"/>
              </a:rPr>
              <a:t>Sprint 1</a:t>
            </a:r>
            <a:endParaRPr lang="en-US" sz="850" dirty="0"/>
          </a:p>
        </p:txBody>
      </p:sp>
      <p:sp>
        <p:nvSpPr>
          <p:cNvPr id="8" name="Text 6"/>
          <p:cNvSpPr txBox="1"/>
          <p:nvPr/>
        </p:nvSpPr>
        <p:spPr>
          <a:xfrm>
            <a:off x="832104" y="2395728"/>
            <a:ext cx="914400" cy="457200"/>
          </a:xfrm>
          <a:prstGeom prst="rect">
            <a:avLst/>
          </a:prstGeom>
          <a:noFill/>
          <a:ln/>
        </p:spPr>
        <p:txBody>
          <a:bodyPr wrap="square" lIns="0" tIns="0" rIns="0" bIns="0" rtlCol="0" anchor="ctr"/>
          <a:lstStyle/>
          <a:p>
            <a:pPr marL="0" indent="0">
              <a:buNone/>
            </a:pPr>
            <a:r>
              <a:rPr lang="en-US" sz="2400" b="1" dirty="0">
                <a:solidFill>
                  <a:srgbClr val="9B9B9B"/>
                </a:solidFill>
                <a:latin typeface="Arial" pitchFamily="34" charset="0"/>
                <a:ea typeface="Arial" pitchFamily="34" charset="-122"/>
                <a:cs typeface="Arial" pitchFamily="34" charset="-120"/>
              </a:rPr>
              <a:t>22</a:t>
            </a:r>
            <a:endParaRPr lang="en-US" sz="2400" dirty="0"/>
          </a:p>
        </p:txBody>
      </p:sp>
      <p:sp>
        <p:nvSpPr>
          <p:cNvPr id="9" name="Shape 7"/>
          <p:cNvSpPr/>
          <p:nvPr/>
        </p:nvSpPr>
        <p:spPr>
          <a:xfrm>
            <a:off x="1819656" y="2542032"/>
            <a:ext cx="365760" cy="201168"/>
          </a:xfrm>
          <a:prstGeom prst="rightArrow">
            <a:avLst/>
          </a:prstGeom>
          <a:solidFill>
            <a:srgbClr val="CC0000"/>
          </a:solidFill>
          <a:ln/>
        </p:spPr>
        <p:txBody>
          <a:bodyPr/>
          <a:lstStyle/>
          <a:p>
            <a:endParaRPr lang="en-GB"/>
          </a:p>
        </p:txBody>
      </p:sp>
      <p:sp>
        <p:nvSpPr>
          <p:cNvPr id="10" name="Text 8"/>
          <p:cNvSpPr txBox="1"/>
          <p:nvPr/>
        </p:nvSpPr>
        <p:spPr>
          <a:xfrm>
            <a:off x="2258568" y="2212848"/>
            <a:ext cx="914400" cy="201168"/>
          </a:xfrm>
          <a:prstGeom prst="rect">
            <a:avLst/>
          </a:prstGeom>
          <a:noFill/>
          <a:ln/>
        </p:spPr>
        <p:txBody>
          <a:bodyPr wrap="square" lIns="0" tIns="0" rIns="0" bIns="0" rtlCol="0" anchor="ctr"/>
          <a:lstStyle/>
          <a:p>
            <a:pPr marL="0" indent="0">
              <a:buNone/>
            </a:pPr>
            <a:r>
              <a:rPr lang="en-US" sz="850" kern="0" spc="100" dirty="0">
                <a:solidFill>
                  <a:srgbClr val="CC0000"/>
                </a:solidFill>
                <a:latin typeface="Arial" pitchFamily="34" charset="0"/>
                <a:ea typeface="Arial" pitchFamily="34" charset="-122"/>
                <a:cs typeface="Arial" pitchFamily="34" charset="-120"/>
              </a:rPr>
              <a:t>Sprint 2</a:t>
            </a:r>
            <a:endParaRPr lang="en-US" sz="850" dirty="0"/>
          </a:p>
        </p:txBody>
      </p:sp>
      <p:sp>
        <p:nvSpPr>
          <p:cNvPr id="11" name="Text 9"/>
          <p:cNvSpPr txBox="1"/>
          <p:nvPr/>
        </p:nvSpPr>
        <p:spPr>
          <a:xfrm>
            <a:off x="2258568" y="2340864"/>
            <a:ext cx="1005840" cy="566928"/>
          </a:xfrm>
          <a:prstGeom prst="rect">
            <a:avLst/>
          </a:prstGeom>
          <a:noFill/>
          <a:ln/>
        </p:spPr>
        <p:txBody>
          <a:bodyPr wrap="square" lIns="0" tIns="0" rIns="0" bIns="0" rtlCol="0" anchor="ctr"/>
          <a:lstStyle/>
          <a:p>
            <a:pPr marL="0" indent="0">
              <a:buNone/>
            </a:pPr>
            <a:r>
              <a:rPr lang="en-US" sz="3200" b="1" dirty="0">
                <a:solidFill>
                  <a:srgbClr val="CC0000"/>
                </a:solidFill>
                <a:latin typeface="Arial" pitchFamily="34" charset="0"/>
                <a:ea typeface="Arial" pitchFamily="34" charset="-122"/>
                <a:cs typeface="Arial" pitchFamily="34" charset="-120"/>
              </a:rPr>
              <a:t>48</a:t>
            </a:r>
            <a:endParaRPr lang="en-US" sz="3200" dirty="0"/>
          </a:p>
        </p:txBody>
      </p:sp>
      <p:sp>
        <p:nvSpPr>
          <p:cNvPr id="12" name="Shape 10"/>
          <p:cNvSpPr/>
          <p:nvPr/>
        </p:nvSpPr>
        <p:spPr>
          <a:xfrm>
            <a:off x="832104" y="3310128"/>
            <a:ext cx="2084832" cy="0"/>
          </a:xfrm>
          <a:prstGeom prst="line">
            <a:avLst/>
          </a:prstGeom>
          <a:noFill/>
          <a:ln w="12700">
            <a:solidFill>
              <a:srgbClr val="E3E3E3"/>
            </a:solidFill>
            <a:prstDash val="solid"/>
          </a:ln>
        </p:spPr>
        <p:txBody>
          <a:bodyPr/>
          <a:lstStyle/>
          <a:p>
            <a:endParaRPr lang="en-GB"/>
          </a:p>
        </p:txBody>
      </p:sp>
      <p:sp>
        <p:nvSpPr>
          <p:cNvPr id="13" name="Text 11"/>
          <p:cNvSpPr txBox="1"/>
          <p:nvPr/>
        </p:nvSpPr>
        <p:spPr>
          <a:xfrm>
            <a:off x="832104" y="3438144"/>
            <a:ext cx="2103120" cy="548640"/>
          </a:xfrm>
          <a:prstGeom prst="rect">
            <a:avLst/>
          </a:prstGeom>
          <a:noFill/>
          <a:ln/>
        </p:spPr>
        <p:txBody>
          <a:bodyPr wrap="square" lIns="0" tIns="0" rIns="0" bIns="0" rtlCol="0" anchor="t"/>
          <a:lstStyle/>
          <a:p>
            <a:pPr marL="0" indent="0">
              <a:lnSpc>
                <a:spcPts val="1300"/>
              </a:lnSpc>
              <a:buNone/>
            </a:pPr>
            <a:r>
              <a:rPr lang="en-US" sz="1000" dirty="0">
                <a:solidFill>
                  <a:srgbClr val="6E6E6E"/>
                </a:solidFill>
                <a:latin typeface="Arial" pitchFamily="34" charset="0"/>
                <a:ea typeface="Arial" pitchFamily="34" charset="-122"/>
                <a:cs typeface="Arial" pitchFamily="34" charset="-120"/>
              </a:rPr>
              <a:t>more than doubled</a:t>
            </a:r>
            <a:endParaRPr lang="en-US" sz="1000" dirty="0"/>
          </a:p>
        </p:txBody>
      </p:sp>
      <p:sp>
        <p:nvSpPr>
          <p:cNvPr id="14" name="Shape 12"/>
          <p:cNvSpPr/>
          <p:nvPr/>
        </p:nvSpPr>
        <p:spPr>
          <a:xfrm>
            <a:off x="3392424" y="1627632"/>
            <a:ext cx="2560320" cy="2487168"/>
          </a:xfrm>
          <a:prstGeom prst="rect">
            <a:avLst/>
          </a:prstGeom>
          <a:solidFill>
            <a:srgbClr val="F7F7F7"/>
          </a:solidFill>
          <a:ln/>
        </p:spPr>
        <p:txBody>
          <a:bodyPr/>
          <a:lstStyle/>
          <a:p>
            <a:endParaRPr lang="en-GB"/>
          </a:p>
        </p:txBody>
      </p:sp>
      <p:sp>
        <p:nvSpPr>
          <p:cNvPr id="15" name="Text 13"/>
          <p:cNvSpPr txBox="1"/>
          <p:nvPr/>
        </p:nvSpPr>
        <p:spPr>
          <a:xfrm>
            <a:off x="3630168" y="1773936"/>
            <a:ext cx="2103120" cy="274320"/>
          </a:xfrm>
          <a:prstGeom prst="rect">
            <a:avLst/>
          </a:prstGeom>
          <a:noFill/>
          <a:ln/>
        </p:spPr>
        <p:txBody>
          <a:bodyPr wrap="square" lIns="0" tIns="0" rIns="0" bIns="0" rtlCol="0" anchor="ctr"/>
          <a:lstStyle/>
          <a:p>
            <a:pPr marL="0" indent="0">
              <a:buNone/>
            </a:pPr>
            <a:r>
              <a:rPr lang="en-US" sz="1100" b="1" dirty="0">
                <a:solidFill>
                  <a:srgbClr val="1A1A1A"/>
                </a:solidFill>
                <a:latin typeface="Arial" pitchFamily="34" charset="0"/>
                <a:ea typeface="Arial" pitchFamily="34" charset="-122"/>
                <a:cs typeface="Arial" pitchFamily="34" charset="-120"/>
              </a:rPr>
              <a:t>Completion rate</a:t>
            </a:r>
            <a:endParaRPr lang="en-US" sz="1100" dirty="0"/>
          </a:p>
        </p:txBody>
      </p:sp>
      <p:sp>
        <p:nvSpPr>
          <p:cNvPr id="16" name="Text 14"/>
          <p:cNvSpPr txBox="1"/>
          <p:nvPr/>
        </p:nvSpPr>
        <p:spPr>
          <a:xfrm>
            <a:off x="3630168" y="2212848"/>
            <a:ext cx="914400" cy="201168"/>
          </a:xfrm>
          <a:prstGeom prst="rect">
            <a:avLst/>
          </a:prstGeom>
          <a:noFill/>
          <a:ln/>
        </p:spPr>
        <p:txBody>
          <a:bodyPr wrap="square" lIns="0" tIns="0" rIns="0" bIns="0" rtlCol="0" anchor="ctr"/>
          <a:lstStyle/>
          <a:p>
            <a:pPr marL="0" indent="0">
              <a:buNone/>
            </a:pPr>
            <a:r>
              <a:rPr lang="en-US" sz="850" kern="0" spc="100" dirty="0">
                <a:solidFill>
                  <a:srgbClr val="9B9B9B"/>
                </a:solidFill>
                <a:latin typeface="Arial" pitchFamily="34" charset="0"/>
                <a:ea typeface="Arial" pitchFamily="34" charset="-122"/>
                <a:cs typeface="Arial" pitchFamily="34" charset="-120"/>
              </a:rPr>
              <a:t>Sprint 1</a:t>
            </a:r>
            <a:endParaRPr lang="en-US" sz="850" dirty="0"/>
          </a:p>
        </p:txBody>
      </p:sp>
      <p:sp>
        <p:nvSpPr>
          <p:cNvPr id="17" name="Text 15"/>
          <p:cNvSpPr txBox="1"/>
          <p:nvPr/>
        </p:nvSpPr>
        <p:spPr>
          <a:xfrm>
            <a:off x="3630168" y="2395728"/>
            <a:ext cx="914400" cy="457200"/>
          </a:xfrm>
          <a:prstGeom prst="rect">
            <a:avLst/>
          </a:prstGeom>
          <a:noFill/>
          <a:ln/>
        </p:spPr>
        <p:txBody>
          <a:bodyPr wrap="square" lIns="0" tIns="0" rIns="0" bIns="0" rtlCol="0" anchor="ctr"/>
          <a:lstStyle/>
          <a:p>
            <a:pPr marL="0" indent="0">
              <a:buNone/>
            </a:pPr>
            <a:r>
              <a:rPr lang="en-US" sz="2400" b="1" dirty="0">
                <a:solidFill>
                  <a:srgbClr val="9B9B9B"/>
                </a:solidFill>
                <a:latin typeface="Arial" pitchFamily="34" charset="0"/>
                <a:ea typeface="Arial" pitchFamily="34" charset="-122"/>
                <a:cs typeface="Arial" pitchFamily="34" charset="-120"/>
              </a:rPr>
              <a:t>44%</a:t>
            </a:r>
            <a:endParaRPr lang="en-US" sz="2400" dirty="0"/>
          </a:p>
        </p:txBody>
      </p:sp>
      <p:sp>
        <p:nvSpPr>
          <p:cNvPr id="18" name="Shape 16"/>
          <p:cNvSpPr/>
          <p:nvPr/>
        </p:nvSpPr>
        <p:spPr>
          <a:xfrm>
            <a:off x="4617720" y="2542032"/>
            <a:ext cx="365760" cy="201168"/>
          </a:xfrm>
          <a:prstGeom prst="rightArrow">
            <a:avLst/>
          </a:prstGeom>
          <a:solidFill>
            <a:srgbClr val="CC0000"/>
          </a:solidFill>
          <a:ln/>
        </p:spPr>
        <p:txBody>
          <a:bodyPr/>
          <a:lstStyle/>
          <a:p>
            <a:endParaRPr lang="en-GB"/>
          </a:p>
        </p:txBody>
      </p:sp>
      <p:sp>
        <p:nvSpPr>
          <p:cNvPr id="19" name="Text 17"/>
          <p:cNvSpPr txBox="1"/>
          <p:nvPr/>
        </p:nvSpPr>
        <p:spPr>
          <a:xfrm>
            <a:off x="5056632" y="2212848"/>
            <a:ext cx="914400" cy="201168"/>
          </a:xfrm>
          <a:prstGeom prst="rect">
            <a:avLst/>
          </a:prstGeom>
          <a:noFill/>
          <a:ln/>
        </p:spPr>
        <p:txBody>
          <a:bodyPr wrap="square" lIns="0" tIns="0" rIns="0" bIns="0" rtlCol="0" anchor="ctr"/>
          <a:lstStyle/>
          <a:p>
            <a:pPr marL="0" indent="0">
              <a:buNone/>
            </a:pPr>
            <a:r>
              <a:rPr lang="en-US" sz="850" kern="0" spc="100" dirty="0">
                <a:solidFill>
                  <a:srgbClr val="CC0000"/>
                </a:solidFill>
                <a:latin typeface="Arial" pitchFamily="34" charset="0"/>
                <a:ea typeface="Arial" pitchFamily="34" charset="-122"/>
                <a:cs typeface="Arial" pitchFamily="34" charset="-120"/>
              </a:rPr>
              <a:t>Sprint 2</a:t>
            </a:r>
            <a:endParaRPr lang="en-US" sz="850" dirty="0"/>
          </a:p>
        </p:txBody>
      </p:sp>
      <p:sp>
        <p:nvSpPr>
          <p:cNvPr id="20" name="Text 18"/>
          <p:cNvSpPr txBox="1"/>
          <p:nvPr/>
        </p:nvSpPr>
        <p:spPr>
          <a:xfrm>
            <a:off x="5056632" y="2340864"/>
            <a:ext cx="1005840" cy="566928"/>
          </a:xfrm>
          <a:prstGeom prst="rect">
            <a:avLst/>
          </a:prstGeom>
          <a:noFill/>
          <a:ln/>
        </p:spPr>
        <p:txBody>
          <a:bodyPr wrap="square" lIns="0" tIns="0" rIns="0" bIns="0" rtlCol="0" anchor="ctr"/>
          <a:lstStyle/>
          <a:p>
            <a:pPr marL="0" indent="0">
              <a:buNone/>
            </a:pPr>
            <a:r>
              <a:rPr lang="en-US" sz="3200" b="1" dirty="0">
                <a:solidFill>
                  <a:srgbClr val="CC0000"/>
                </a:solidFill>
                <a:latin typeface="Arial" pitchFamily="34" charset="0"/>
                <a:ea typeface="Arial" pitchFamily="34" charset="-122"/>
                <a:cs typeface="Arial" pitchFamily="34" charset="-120"/>
              </a:rPr>
              <a:t>83%</a:t>
            </a:r>
            <a:endParaRPr lang="en-US" sz="3200" dirty="0"/>
          </a:p>
        </p:txBody>
      </p:sp>
      <p:sp>
        <p:nvSpPr>
          <p:cNvPr id="21" name="Shape 19"/>
          <p:cNvSpPr/>
          <p:nvPr/>
        </p:nvSpPr>
        <p:spPr>
          <a:xfrm>
            <a:off x="3630168" y="3310128"/>
            <a:ext cx="2084832" cy="0"/>
          </a:xfrm>
          <a:prstGeom prst="line">
            <a:avLst/>
          </a:prstGeom>
          <a:noFill/>
          <a:ln w="12700">
            <a:solidFill>
              <a:srgbClr val="E3E3E3"/>
            </a:solidFill>
            <a:prstDash val="solid"/>
          </a:ln>
        </p:spPr>
        <p:txBody>
          <a:bodyPr/>
          <a:lstStyle/>
          <a:p>
            <a:endParaRPr lang="en-GB"/>
          </a:p>
        </p:txBody>
      </p:sp>
      <p:sp>
        <p:nvSpPr>
          <p:cNvPr id="22" name="Text 20"/>
          <p:cNvSpPr txBox="1"/>
          <p:nvPr/>
        </p:nvSpPr>
        <p:spPr>
          <a:xfrm>
            <a:off x="3630168" y="3438144"/>
            <a:ext cx="2103120" cy="548640"/>
          </a:xfrm>
          <a:prstGeom prst="rect">
            <a:avLst/>
          </a:prstGeom>
          <a:noFill/>
          <a:ln/>
        </p:spPr>
        <p:txBody>
          <a:bodyPr wrap="square" lIns="0" tIns="0" rIns="0" bIns="0" rtlCol="0" anchor="t"/>
          <a:lstStyle/>
          <a:p>
            <a:pPr marL="0" indent="0">
              <a:lnSpc>
                <a:spcPts val="1300"/>
              </a:lnSpc>
              <a:buNone/>
            </a:pPr>
            <a:r>
              <a:rPr lang="en-US" sz="1000" dirty="0">
                <a:solidFill>
                  <a:srgbClr val="6E6E6E"/>
                </a:solidFill>
                <a:latin typeface="Arial" pitchFamily="34" charset="0"/>
                <a:ea typeface="Arial" pitchFamily="34" charset="-122"/>
                <a:cs typeface="Arial" pitchFamily="34" charset="-120"/>
              </a:rPr>
              <a:t>up 39 points</a:t>
            </a:r>
            <a:endParaRPr lang="en-US" sz="1000" dirty="0"/>
          </a:p>
        </p:txBody>
      </p:sp>
      <p:sp>
        <p:nvSpPr>
          <p:cNvPr id="23" name="Shape 21"/>
          <p:cNvSpPr/>
          <p:nvPr/>
        </p:nvSpPr>
        <p:spPr>
          <a:xfrm>
            <a:off x="6190488" y="1627632"/>
            <a:ext cx="2560320" cy="2487168"/>
          </a:xfrm>
          <a:prstGeom prst="rect">
            <a:avLst/>
          </a:prstGeom>
          <a:solidFill>
            <a:srgbClr val="F7F7F7"/>
          </a:solidFill>
          <a:ln/>
        </p:spPr>
        <p:txBody>
          <a:bodyPr/>
          <a:lstStyle/>
          <a:p>
            <a:endParaRPr lang="en-GB"/>
          </a:p>
        </p:txBody>
      </p:sp>
      <p:sp>
        <p:nvSpPr>
          <p:cNvPr id="24" name="Text 22"/>
          <p:cNvSpPr txBox="1"/>
          <p:nvPr/>
        </p:nvSpPr>
        <p:spPr>
          <a:xfrm>
            <a:off x="6428232" y="1773936"/>
            <a:ext cx="2103120" cy="274320"/>
          </a:xfrm>
          <a:prstGeom prst="rect">
            <a:avLst/>
          </a:prstGeom>
          <a:noFill/>
          <a:ln/>
        </p:spPr>
        <p:txBody>
          <a:bodyPr wrap="square" lIns="0" tIns="0" rIns="0" bIns="0" rtlCol="0" anchor="ctr"/>
          <a:lstStyle/>
          <a:p>
            <a:pPr marL="0" indent="0">
              <a:buNone/>
            </a:pPr>
            <a:r>
              <a:rPr lang="en-US" sz="1100" b="1" dirty="0">
                <a:solidFill>
                  <a:srgbClr val="1A1A1A"/>
                </a:solidFill>
                <a:latin typeface="Arial" pitchFamily="34" charset="0"/>
                <a:ea typeface="Arial" pitchFamily="34" charset="-122"/>
                <a:cs typeface="Arial" pitchFamily="34" charset="-120"/>
              </a:rPr>
              <a:t>Scope added mid-sprint</a:t>
            </a:r>
            <a:endParaRPr lang="en-US" sz="1100" dirty="0"/>
          </a:p>
        </p:txBody>
      </p:sp>
      <p:sp>
        <p:nvSpPr>
          <p:cNvPr id="25" name="Text 23"/>
          <p:cNvSpPr txBox="1"/>
          <p:nvPr/>
        </p:nvSpPr>
        <p:spPr>
          <a:xfrm>
            <a:off x="6428232" y="2212848"/>
            <a:ext cx="914400" cy="201168"/>
          </a:xfrm>
          <a:prstGeom prst="rect">
            <a:avLst/>
          </a:prstGeom>
          <a:noFill/>
          <a:ln/>
        </p:spPr>
        <p:txBody>
          <a:bodyPr wrap="square" lIns="0" tIns="0" rIns="0" bIns="0" rtlCol="0" anchor="ctr"/>
          <a:lstStyle/>
          <a:p>
            <a:pPr marL="0" indent="0">
              <a:buNone/>
            </a:pPr>
            <a:r>
              <a:rPr lang="en-US" sz="850" kern="0" spc="100" dirty="0">
                <a:solidFill>
                  <a:srgbClr val="9B9B9B"/>
                </a:solidFill>
                <a:latin typeface="Arial" pitchFamily="34" charset="0"/>
                <a:ea typeface="Arial" pitchFamily="34" charset="-122"/>
                <a:cs typeface="Arial" pitchFamily="34" charset="-120"/>
              </a:rPr>
              <a:t>Sprint 1</a:t>
            </a:r>
            <a:endParaRPr lang="en-US" sz="850" dirty="0"/>
          </a:p>
        </p:txBody>
      </p:sp>
      <p:sp>
        <p:nvSpPr>
          <p:cNvPr id="26" name="Text 24"/>
          <p:cNvSpPr txBox="1"/>
          <p:nvPr/>
        </p:nvSpPr>
        <p:spPr>
          <a:xfrm>
            <a:off x="6428232" y="2395728"/>
            <a:ext cx="914400" cy="457200"/>
          </a:xfrm>
          <a:prstGeom prst="rect">
            <a:avLst/>
          </a:prstGeom>
          <a:noFill/>
          <a:ln/>
        </p:spPr>
        <p:txBody>
          <a:bodyPr wrap="square" lIns="0" tIns="0" rIns="0" bIns="0" rtlCol="0" anchor="ctr"/>
          <a:lstStyle/>
          <a:p>
            <a:pPr marL="0" indent="0">
              <a:buNone/>
            </a:pPr>
            <a:r>
              <a:rPr lang="en-US" sz="2400" b="1" dirty="0">
                <a:solidFill>
                  <a:srgbClr val="9B9B9B"/>
                </a:solidFill>
                <a:latin typeface="Arial" pitchFamily="34" charset="0"/>
                <a:ea typeface="Arial" pitchFamily="34" charset="-122"/>
                <a:cs typeface="Arial" pitchFamily="34" charset="-120"/>
              </a:rPr>
              <a:t>127%</a:t>
            </a:r>
            <a:endParaRPr lang="en-US" sz="2400" dirty="0"/>
          </a:p>
        </p:txBody>
      </p:sp>
      <p:sp>
        <p:nvSpPr>
          <p:cNvPr id="27" name="Shape 25"/>
          <p:cNvSpPr/>
          <p:nvPr/>
        </p:nvSpPr>
        <p:spPr>
          <a:xfrm>
            <a:off x="7415784" y="2542032"/>
            <a:ext cx="365760" cy="201168"/>
          </a:xfrm>
          <a:prstGeom prst="rightArrow">
            <a:avLst/>
          </a:prstGeom>
          <a:solidFill>
            <a:srgbClr val="CC0000"/>
          </a:solidFill>
          <a:ln/>
        </p:spPr>
        <p:txBody>
          <a:bodyPr/>
          <a:lstStyle/>
          <a:p>
            <a:endParaRPr lang="en-GB"/>
          </a:p>
        </p:txBody>
      </p:sp>
      <p:sp>
        <p:nvSpPr>
          <p:cNvPr id="28" name="Text 26"/>
          <p:cNvSpPr txBox="1"/>
          <p:nvPr/>
        </p:nvSpPr>
        <p:spPr>
          <a:xfrm>
            <a:off x="7854696" y="2212848"/>
            <a:ext cx="914400" cy="201168"/>
          </a:xfrm>
          <a:prstGeom prst="rect">
            <a:avLst/>
          </a:prstGeom>
          <a:noFill/>
          <a:ln/>
        </p:spPr>
        <p:txBody>
          <a:bodyPr wrap="square" lIns="0" tIns="0" rIns="0" bIns="0" rtlCol="0" anchor="ctr"/>
          <a:lstStyle/>
          <a:p>
            <a:pPr marL="0" indent="0">
              <a:buNone/>
            </a:pPr>
            <a:r>
              <a:rPr lang="en-US" sz="850" kern="0" spc="100" dirty="0">
                <a:solidFill>
                  <a:srgbClr val="CC0000"/>
                </a:solidFill>
                <a:latin typeface="Arial" pitchFamily="34" charset="0"/>
                <a:ea typeface="Arial" pitchFamily="34" charset="-122"/>
                <a:cs typeface="Arial" pitchFamily="34" charset="-120"/>
              </a:rPr>
              <a:t>Sprint 2</a:t>
            </a:r>
            <a:endParaRPr lang="en-US" sz="850" dirty="0"/>
          </a:p>
        </p:txBody>
      </p:sp>
      <p:sp>
        <p:nvSpPr>
          <p:cNvPr id="29" name="Text 27"/>
          <p:cNvSpPr txBox="1"/>
          <p:nvPr/>
        </p:nvSpPr>
        <p:spPr>
          <a:xfrm>
            <a:off x="7854696" y="2340864"/>
            <a:ext cx="1005840" cy="566928"/>
          </a:xfrm>
          <a:prstGeom prst="rect">
            <a:avLst/>
          </a:prstGeom>
          <a:noFill/>
          <a:ln/>
        </p:spPr>
        <p:txBody>
          <a:bodyPr wrap="square" lIns="0" tIns="0" rIns="0" bIns="0" rtlCol="0" anchor="ctr"/>
          <a:lstStyle/>
          <a:p>
            <a:pPr marL="0" indent="0">
              <a:buNone/>
            </a:pPr>
            <a:r>
              <a:rPr lang="en-US" sz="3200" b="1" dirty="0">
                <a:solidFill>
                  <a:srgbClr val="CC0000"/>
                </a:solidFill>
                <a:latin typeface="Arial" pitchFamily="34" charset="0"/>
                <a:ea typeface="Arial" pitchFamily="34" charset="-122"/>
                <a:cs typeface="Arial" pitchFamily="34" charset="-120"/>
              </a:rPr>
              <a:t>29%</a:t>
            </a:r>
            <a:endParaRPr lang="en-US" sz="3200" dirty="0"/>
          </a:p>
        </p:txBody>
      </p:sp>
      <p:sp>
        <p:nvSpPr>
          <p:cNvPr id="30" name="Shape 28"/>
          <p:cNvSpPr/>
          <p:nvPr/>
        </p:nvSpPr>
        <p:spPr>
          <a:xfrm>
            <a:off x="6428232" y="3310128"/>
            <a:ext cx="2084832" cy="0"/>
          </a:xfrm>
          <a:prstGeom prst="line">
            <a:avLst/>
          </a:prstGeom>
          <a:noFill/>
          <a:ln w="12700">
            <a:solidFill>
              <a:srgbClr val="E3E3E3"/>
            </a:solidFill>
            <a:prstDash val="solid"/>
          </a:ln>
        </p:spPr>
        <p:txBody>
          <a:bodyPr/>
          <a:lstStyle/>
          <a:p>
            <a:endParaRPr lang="en-GB"/>
          </a:p>
        </p:txBody>
      </p:sp>
      <p:sp>
        <p:nvSpPr>
          <p:cNvPr id="31" name="Text 29"/>
          <p:cNvSpPr txBox="1"/>
          <p:nvPr/>
        </p:nvSpPr>
        <p:spPr>
          <a:xfrm>
            <a:off x="6428232" y="3438144"/>
            <a:ext cx="2103120" cy="548640"/>
          </a:xfrm>
          <a:prstGeom prst="rect">
            <a:avLst/>
          </a:prstGeom>
          <a:noFill/>
          <a:ln/>
        </p:spPr>
        <p:txBody>
          <a:bodyPr wrap="square" lIns="0" tIns="0" rIns="0" bIns="0" rtlCol="0" anchor="t"/>
          <a:lstStyle/>
          <a:p>
            <a:pPr marL="0" indent="0">
              <a:lnSpc>
                <a:spcPts val="1300"/>
              </a:lnSpc>
              <a:buNone/>
            </a:pPr>
            <a:r>
              <a:rPr lang="en-US" sz="1000" dirty="0">
                <a:solidFill>
                  <a:srgbClr val="6E6E6E"/>
                </a:solidFill>
                <a:latin typeface="Arial" pitchFamily="34" charset="0"/>
                <a:ea typeface="Arial" pitchFamily="34" charset="-122"/>
                <a:cs typeface="Arial" pitchFamily="34" charset="-120"/>
              </a:rPr>
              <a:t>down from 28 items to 13</a:t>
            </a:r>
            <a:endParaRPr lang="en-US" sz="1000" dirty="0"/>
          </a:p>
        </p:txBody>
      </p:sp>
      <p:sp>
        <p:nvSpPr>
          <p:cNvPr id="32" name="Shape 30"/>
          <p:cNvSpPr/>
          <p:nvPr/>
        </p:nvSpPr>
        <p:spPr>
          <a:xfrm>
            <a:off x="8988552" y="1627632"/>
            <a:ext cx="2560320" cy="2487168"/>
          </a:xfrm>
          <a:prstGeom prst="rect">
            <a:avLst/>
          </a:prstGeom>
          <a:solidFill>
            <a:srgbClr val="F7F7F7"/>
          </a:solidFill>
          <a:ln/>
        </p:spPr>
        <p:txBody>
          <a:bodyPr/>
          <a:lstStyle/>
          <a:p>
            <a:endParaRPr lang="en-GB"/>
          </a:p>
        </p:txBody>
      </p:sp>
      <p:sp>
        <p:nvSpPr>
          <p:cNvPr id="33" name="Text 31"/>
          <p:cNvSpPr txBox="1"/>
          <p:nvPr/>
        </p:nvSpPr>
        <p:spPr>
          <a:xfrm>
            <a:off x="9226296" y="1773936"/>
            <a:ext cx="2103120" cy="274320"/>
          </a:xfrm>
          <a:prstGeom prst="rect">
            <a:avLst/>
          </a:prstGeom>
          <a:noFill/>
          <a:ln/>
        </p:spPr>
        <p:txBody>
          <a:bodyPr wrap="square" lIns="0" tIns="0" rIns="0" bIns="0" rtlCol="0" anchor="ctr"/>
          <a:lstStyle/>
          <a:p>
            <a:pPr marL="0" indent="0">
              <a:buNone/>
            </a:pPr>
            <a:r>
              <a:rPr lang="en-US" sz="1100" b="1" dirty="0">
                <a:solidFill>
                  <a:srgbClr val="1A1A1A"/>
                </a:solidFill>
                <a:latin typeface="Arial" pitchFamily="34" charset="0"/>
                <a:ea typeface="Arial" pitchFamily="34" charset="-122"/>
                <a:cs typeface="Arial" pitchFamily="34" charset="-120"/>
              </a:rPr>
              <a:t>Items carried over</a:t>
            </a:r>
            <a:endParaRPr lang="en-US" sz="1100" dirty="0"/>
          </a:p>
        </p:txBody>
      </p:sp>
      <p:sp>
        <p:nvSpPr>
          <p:cNvPr id="34" name="Text 32"/>
          <p:cNvSpPr txBox="1"/>
          <p:nvPr/>
        </p:nvSpPr>
        <p:spPr>
          <a:xfrm>
            <a:off x="9226296" y="2212848"/>
            <a:ext cx="914400" cy="201168"/>
          </a:xfrm>
          <a:prstGeom prst="rect">
            <a:avLst/>
          </a:prstGeom>
          <a:noFill/>
          <a:ln/>
        </p:spPr>
        <p:txBody>
          <a:bodyPr wrap="square" lIns="0" tIns="0" rIns="0" bIns="0" rtlCol="0" anchor="ctr"/>
          <a:lstStyle/>
          <a:p>
            <a:pPr marL="0" indent="0">
              <a:buNone/>
            </a:pPr>
            <a:r>
              <a:rPr lang="en-US" sz="850" kern="0" spc="100" dirty="0">
                <a:solidFill>
                  <a:srgbClr val="9B9B9B"/>
                </a:solidFill>
                <a:latin typeface="Arial" pitchFamily="34" charset="0"/>
                <a:ea typeface="Arial" pitchFamily="34" charset="-122"/>
                <a:cs typeface="Arial" pitchFamily="34" charset="-120"/>
              </a:rPr>
              <a:t>Sprint 1</a:t>
            </a:r>
            <a:endParaRPr lang="en-US" sz="850" dirty="0"/>
          </a:p>
        </p:txBody>
      </p:sp>
      <p:sp>
        <p:nvSpPr>
          <p:cNvPr id="35" name="Text 33"/>
          <p:cNvSpPr txBox="1"/>
          <p:nvPr/>
        </p:nvSpPr>
        <p:spPr>
          <a:xfrm>
            <a:off x="9226296" y="2395728"/>
            <a:ext cx="914400" cy="457200"/>
          </a:xfrm>
          <a:prstGeom prst="rect">
            <a:avLst/>
          </a:prstGeom>
          <a:noFill/>
          <a:ln/>
        </p:spPr>
        <p:txBody>
          <a:bodyPr wrap="square" lIns="0" tIns="0" rIns="0" bIns="0" rtlCol="0" anchor="ctr"/>
          <a:lstStyle/>
          <a:p>
            <a:pPr marL="0" indent="0">
              <a:buNone/>
            </a:pPr>
            <a:r>
              <a:rPr lang="en-US" sz="2400" b="1" dirty="0">
                <a:solidFill>
                  <a:srgbClr val="9B9B9B"/>
                </a:solidFill>
                <a:latin typeface="Arial" pitchFamily="34" charset="0"/>
                <a:ea typeface="Arial" pitchFamily="34" charset="-122"/>
                <a:cs typeface="Arial" pitchFamily="34" charset="-120"/>
              </a:rPr>
              <a:t>28</a:t>
            </a:r>
            <a:endParaRPr lang="en-US" sz="2400" dirty="0"/>
          </a:p>
        </p:txBody>
      </p:sp>
      <p:sp>
        <p:nvSpPr>
          <p:cNvPr id="36" name="Shape 34"/>
          <p:cNvSpPr/>
          <p:nvPr/>
        </p:nvSpPr>
        <p:spPr>
          <a:xfrm>
            <a:off x="10213848" y="2542032"/>
            <a:ext cx="365760" cy="201168"/>
          </a:xfrm>
          <a:prstGeom prst="rightArrow">
            <a:avLst/>
          </a:prstGeom>
          <a:solidFill>
            <a:srgbClr val="CC0000"/>
          </a:solidFill>
          <a:ln/>
        </p:spPr>
        <p:txBody>
          <a:bodyPr/>
          <a:lstStyle/>
          <a:p>
            <a:endParaRPr lang="en-GB"/>
          </a:p>
        </p:txBody>
      </p:sp>
      <p:sp>
        <p:nvSpPr>
          <p:cNvPr id="37" name="Text 35"/>
          <p:cNvSpPr txBox="1"/>
          <p:nvPr/>
        </p:nvSpPr>
        <p:spPr>
          <a:xfrm>
            <a:off x="10652760" y="2212848"/>
            <a:ext cx="914400" cy="201168"/>
          </a:xfrm>
          <a:prstGeom prst="rect">
            <a:avLst/>
          </a:prstGeom>
          <a:noFill/>
          <a:ln/>
        </p:spPr>
        <p:txBody>
          <a:bodyPr wrap="square" lIns="0" tIns="0" rIns="0" bIns="0" rtlCol="0" anchor="ctr"/>
          <a:lstStyle/>
          <a:p>
            <a:pPr marL="0" indent="0">
              <a:buNone/>
            </a:pPr>
            <a:r>
              <a:rPr lang="en-US" sz="850" kern="0" spc="100" dirty="0">
                <a:solidFill>
                  <a:srgbClr val="CC0000"/>
                </a:solidFill>
                <a:latin typeface="Arial" pitchFamily="34" charset="0"/>
                <a:ea typeface="Arial" pitchFamily="34" charset="-122"/>
                <a:cs typeface="Arial" pitchFamily="34" charset="-120"/>
              </a:rPr>
              <a:t>Sprint 2</a:t>
            </a:r>
            <a:endParaRPr lang="en-US" sz="850" dirty="0"/>
          </a:p>
        </p:txBody>
      </p:sp>
      <p:sp>
        <p:nvSpPr>
          <p:cNvPr id="38" name="Text 36"/>
          <p:cNvSpPr txBox="1"/>
          <p:nvPr/>
        </p:nvSpPr>
        <p:spPr>
          <a:xfrm>
            <a:off x="10652760" y="2340864"/>
            <a:ext cx="1005840" cy="566928"/>
          </a:xfrm>
          <a:prstGeom prst="rect">
            <a:avLst/>
          </a:prstGeom>
          <a:noFill/>
          <a:ln/>
        </p:spPr>
        <p:txBody>
          <a:bodyPr wrap="square" lIns="0" tIns="0" rIns="0" bIns="0" rtlCol="0" anchor="ctr"/>
          <a:lstStyle/>
          <a:p>
            <a:pPr marL="0" indent="0">
              <a:buNone/>
            </a:pPr>
            <a:r>
              <a:rPr lang="en-US" sz="3200" b="1" dirty="0">
                <a:solidFill>
                  <a:srgbClr val="CC0000"/>
                </a:solidFill>
                <a:latin typeface="Arial" pitchFamily="34" charset="0"/>
                <a:ea typeface="Arial" pitchFamily="34" charset="-122"/>
                <a:cs typeface="Arial" pitchFamily="34" charset="-120"/>
              </a:rPr>
              <a:t>10</a:t>
            </a:r>
            <a:endParaRPr lang="en-US" sz="3200" dirty="0"/>
          </a:p>
        </p:txBody>
      </p:sp>
      <p:sp>
        <p:nvSpPr>
          <p:cNvPr id="39" name="Shape 37"/>
          <p:cNvSpPr/>
          <p:nvPr/>
        </p:nvSpPr>
        <p:spPr>
          <a:xfrm>
            <a:off x="9226296" y="3310128"/>
            <a:ext cx="2084832" cy="0"/>
          </a:xfrm>
          <a:prstGeom prst="line">
            <a:avLst/>
          </a:prstGeom>
          <a:noFill/>
          <a:ln w="12700">
            <a:solidFill>
              <a:srgbClr val="E3E3E3"/>
            </a:solidFill>
            <a:prstDash val="solid"/>
          </a:ln>
        </p:spPr>
        <p:txBody>
          <a:bodyPr/>
          <a:lstStyle/>
          <a:p>
            <a:endParaRPr lang="en-GB"/>
          </a:p>
        </p:txBody>
      </p:sp>
      <p:sp>
        <p:nvSpPr>
          <p:cNvPr id="40" name="Text 38"/>
          <p:cNvSpPr txBox="1"/>
          <p:nvPr/>
        </p:nvSpPr>
        <p:spPr>
          <a:xfrm>
            <a:off x="9226296" y="3438144"/>
            <a:ext cx="2103120" cy="548640"/>
          </a:xfrm>
          <a:prstGeom prst="rect">
            <a:avLst/>
          </a:prstGeom>
          <a:noFill/>
          <a:ln/>
        </p:spPr>
        <p:txBody>
          <a:bodyPr wrap="square" lIns="0" tIns="0" rIns="0" bIns="0" rtlCol="0" anchor="t"/>
          <a:lstStyle/>
          <a:p>
            <a:pPr marL="0" indent="0">
              <a:lnSpc>
                <a:spcPts val="1300"/>
              </a:lnSpc>
              <a:buNone/>
            </a:pPr>
            <a:r>
              <a:rPr lang="en-US" sz="1000" dirty="0">
                <a:solidFill>
                  <a:srgbClr val="6E6E6E"/>
                </a:solidFill>
                <a:latin typeface="Arial" pitchFamily="34" charset="0"/>
                <a:ea typeface="Arial" pitchFamily="34" charset="-122"/>
                <a:cs typeface="Arial" pitchFamily="34" charset="-120"/>
              </a:rPr>
              <a:t>down by 18 items</a:t>
            </a:r>
            <a:endParaRPr lang="en-US" sz="1000" dirty="0"/>
          </a:p>
        </p:txBody>
      </p:sp>
      <p:sp>
        <p:nvSpPr>
          <p:cNvPr id="41" name="Text 39"/>
          <p:cNvSpPr txBox="1"/>
          <p:nvPr/>
        </p:nvSpPr>
        <p:spPr>
          <a:xfrm>
            <a:off x="594360" y="4443984"/>
            <a:ext cx="7315200" cy="274320"/>
          </a:xfrm>
          <a:prstGeom prst="rect">
            <a:avLst/>
          </a:prstGeom>
          <a:noFill/>
          <a:ln/>
        </p:spPr>
        <p:txBody>
          <a:bodyPr wrap="square" lIns="0" tIns="0" rIns="0" bIns="0" rtlCol="0" anchor="ctr"/>
          <a:lstStyle/>
          <a:p>
            <a:pPr marL="0" indent="0">
              <a:buNone/>
            </a:pPr>
            <a:r>
              <a:rPr lang="en-US" sz="1250" b="1" dirty="0">
                <a:solidFill>
                  <a:srgbClr val="CC0000"/>
                </a:solidFill>
                <a:latin typeface="Arial" pitchFamily="34" charset="0"/>
                <a:ea typeface="Arial" pitchFamily="34" charset="-122"/>
                <a:cs typeface="Arial" pitchFamily="34" charset="-120"/>
              </a:rPr>
              <a:t>What changed between the two sprints</a:t>
            </a:r>
            <a:endParaRPr lang="en-US" sz="1250" dirty="0"/>
          </a:p>
        </p:txBody>
      </p:sp>
      <p:sp>
        <p:nvSpPr>
          <p:cNvPr id="42" name="Shape 40"/>
          <p:cNvSpPr/>
          <p:nvPr/>
        </p:nvSpPr>
        <p:spPr>
          <a:xfrm>
            <a:off x="594360" y="4773168"/>
            <a:ext cx="11000232" cy="0"/>
          </a:xfrm>
          <a:prstGeom prst="line">
            <a:avLst/>
          </a:prstGeom>
          <a:noFill/>
          <a:ln w="12700">
            <a:solidFill>
              <a:srgbClr val="E3E3E3"/>
            </a:solidFill>
            <a:prstDash val="solid"/>
          </a:ln>
        </p:spPr>
        <p:txBody>
          <a:bodyPr/>
          <a:lstStyle/>
          <a:p>
            <a:endParaRPr lang="en-GB"/>
          </a:p>
        </p:txBody>
      </p:sp>
      <p:sp>
        <p:nvSpPr>
          <p:cNvPr id="43" name="Text 41"/>
          <p:cNvSpPr txBox="1"/>
          <p:nvPr/>
        </p:nvSpPr>
        <p:spPr>
          <a:xfrm>
            <a:off x="594360" y="4919472"/>
            <a:ext cx="3474720" cy="274320"/>
          </a:xfrm>
          <a:prstGeom prst="rect">
            <a:avLst/>
          </a:prstGeom>
          <a:noFill/>
          <a:ln/>
        </p:spPr>
        <p:txBody>
          <a:bodyPr wrap="square" lIns="0" tIns="0" rIns="0" bIns="0" rtlCol="0" anchor="ctr"/>
          <a:lstStyle/>
          <a:p>
            <a:pPr marL="0" indent="0">
              <a:buNone/>
            </a:pPr>
            <a:r>
              <a:rPr lang="en-US" sz="1200" b="1" dirty="0">
                <a:solidFill>
                  <a:srgbClr val="1A1A1A"/>
                </a:solidFill>
                <a:latin typeface="Arial" pitchFamily="34" charset="0"/>
                <a:ea typeface="Arial" pitchFamily="34" charset="-122"/>
                <a:cs typeface="Arial" pitchFamily="34" charset="-120"/>
              </a:rPr>
              <a:t>Twice the commitment, and it held</a:t>
            </a:r>
            <a:endParaRPr lang="en-US" sz="1200" dirty="0"/>
          </a:p>
        </p:txBody>
      </p:sp>
      <p:sp>
        <p:nvSpPr>
          <p:cNvPr id="44" name="Text 42"/>
          <p:cNvSpPr txBox="1"/>
          <p:nvPr/>
        </p:nvSpPr>
        <p:spPr>
          <a:xfrm>
            <a:off x="594360" y="5230368"/>
            <a:ext cx="3474720" cy="868680"/>
          </a:xfrm>
          <a:prstGeom prst="rect">
            <a:avLst/>
          </a:prstGeom>
          <a:noFill/>
          <a:ln/>
        </p:spPr>
        <p:txBody>
          <a:bodyPr wrap="square" lIns="0" tIns="0" rIns="0" bIns="0" rtlCol="0" anchor="t"/>
          <a:lstStyle/>
          <a:p>
            <a:pPr marL="0" indent="0">
              <a:lnSpc>
                <a:spcPts val="1400"/>
              </a:lnSpc>
              <a:buNone/>
            </a:pPr>
            <a:r>
              <a:rPr lang="en-US" sz="1050" dirty="0">
                <a:solidFill>
                  <a:srgbClr val="6E6E6E"/>
                </a:solidFill>
                <a:latin typeface="Arial" pitchFamily="34" charset="0"/>
                <a:ea typeface="Arial" pitchFamily="34" charset="-122"/>
                <a:cs typeface="Arial" pitchFamily="34" charset="-120"/>
              </a:rPr>
              <a:t>Sprint 2 committed to 45 items against 22 in Sprint 1, and finished 36 of them. Sprint 1 finished 9 of its 22.</a:t>
            </a:r>
            <a:endParaRPr lang="en-US" sz="1050" dirty="0"/>
          </a:p>
        </p:txBody>
      </p:sp>
      <p:sp>
        <p:nvSpPr>
          <p:cNvPr id="45" name="Text 43"/>
          <p:cNvSpPr txBox="1"/>
          <p:nvPr/>
        </p:nvSpPr>
        <p:spPr>
          <a:xfrm>
            <a:off x="4352544" y="4919472"/>
            <a:ext cx="3474720" cy="274320"/>
          </a:xfrm>
          <a:prstGeom prst="rect">
            <a:avLst/>
          </a:prstGeom>
          <a:noFill/>
          <a:ln/>
        </p:spPr>
        <p:txBody>
          <a:bodyPr wrap="square" lIns="0" tIns="0" rIns="0" bIns="0" rtlCol="0" anchor="ctr"/>
          <a:lstStyle/>
          <a:p>
            <a:pPr marL="0" indent="0">
              <a:buNone/>
            </a:pPr>
            <a:r>
              <a:rPr lang="en-US" sz="1200" b="1" dirty="0">
                <a:solidFill>
                  <a:srgbClr val="1A1A1A"/>
                </a:solidFill>
                <a:latin typeface="Arial" pitchFamily="34" charset="0"/>
                <a:ea typeface="Arial" pitchFamily="34" charset="-122"/>
                <a:cs typeface="Arial" pitchFamily="34" charset="-120"/>
              </a:rPr>
              <a:t>Additions stopped becoming carryover</a:t>
            </a:r>
            <a:endParaRPr lang="en-US" sz="1200" dirty="0"/>
          </a:p>
        </p:txBody>
      </p:sp>
      <p:sp>
        <p:nvSpPr>
          <p:cNvPr id="46" name="Text 44"/>
          <p:cNvSpPr txBox="1"/>
          <p:nvPr/>
        </p:nvSpPr>
        <p:spPr>
          <a:xfrm>
            <a:off x="4352544" y="5230368"/>
            <a:ext cx="3474720" cy="868680"/>
          </a:xfrm>
          <a:prstGeom prst="rect">
            <a:avLst/>
          </a:prstGeom>
          <a:noFill/>
          <a:ln/>
        </p:spPr>
        <p:txBody>
          <a:bodyPr wrap="square" lIns="0" tIns="0" rIns="0" bIns="0" rtlCol="0" anchor="t"/>
          <a:lstStyle/>
          <a:p>
            <a:pPr marL="0" indent="0">
              <a:lnSpc>
                <a:spcPts val="1400"/>
              </a:lnSpc>
              <a:buNone/>
            </a:pPr>
            <a:r>
              <a:rPr lang="en-US" sz="1050" dirty="0">
                <a:solidFill>
                  <a:srgbClr val="6E6E6E"/>
                </a:solidFill>
                <a:latin typeface="Arial" pitchFamily="34" charset="0"/>
                <a:ea typeface="Arial" pitchFamily="34" charset="-122"/>
                <a:cs typeface="Arial" pitchFamily="34" charset="-120"/>
              </a:rPr>
              <a:t>12 of the 13 items added mid-sprint completed in the same sprint. In Sprint 1, 15 of 28 additions carried over.</a:t>
            </a:r>
            <a:endParaRPr lang="en-US" sz="1050" dirty="0"/>
          </a:p>
        </p:txBody>
      </p:sp>
      <p:sp>
        <p:nvSpPr>
          <p:cNvPr id="47" name="Text 45"/>
          <p:cNvSpPr txBox="1"/>
          <p:nvPr/>
        </p:nvSpPr>
        <p:spPr>
          <a:xfrm>
            <a:off x="8110728" y="4919472"/>
            <a:ext cx="3474720" cy="274320"/>
          </a:xfrm>
          <a:prstGeom prst="rect">
            <a:avLst/>
          </a:prstGeom>
          <a:noFill/>
          <a:ln/>
        </p:spPr>
        <p:txBody>
          <a:bodyPr wrap="square" lIns="0" tIns="0" rIns="0" bIns="0" rtlCol="0" anchor="ctr"/>
          <a:lstStyle/>
          <a:p>
            <a:pPr marL="0" indent="0">
              <a:buNone/>
            </a:pPr>
            <a:r>
              <a:rPr lang="en-US" sz="1200" b="1" dirty="0">
                <a:solidFill>
                  <a:srgbClr val="1A1A1A"/>
                </a:solidFill>
                <a:latin typeface="Arial" pitchFamily="34" charset="0"/>
                <a:ea typeface="Arial" pitchFamily="34" charset="-122"/>
                <a:cs typeface="Arial" pitchFamily="34" charset="-120"/>
              </a:rPr>
              <a:t>The Sprint 1 backlog largely cleared</a:t>
            </a:r>
            <a:endParaRPr lang="en-US" sz="1200" dirty="0"/>
          </a:p>
        </p:txBody>
      </p:sp>
      <p:sp>
        <p:nvSpPr>
          <p:cNvPr id="48" name="Text 46"/>
          <p:cNvSpPr txBox="1"/>
          <p:nvPr/>
        </p:nvSpPr>
        <p:spPr>
          <a:xfrm>
            <a:off x="8110728" y="5230368"/>
            <a:ext cx="3474720" cy="868680"/>
          </a:xfrm>
          <a:prstGeom prst="rect">
            <a:avLst/>
          </a:prstGeom>
          <a:noFill/>
          <a:ln/>
        </p:spPr>
        <p:txBody>
          <a:bodyPr wrap="square" lIns="0" tIns="0" rIns="0" bIns="0" rtlCol="0" anchor="t"/>
          <a:lstStyle/>
          <a:p>
            <a:pPr marL="0" indent="0">
              <a:lnSpc>
                <a:spcPts val="1400"/>
              </a:lnSpc>
              <a:buNone/>
            </a:pPr>
            <a:r>
              <a:rPr lang="en-US" sz="1050" dirty="0">
                <a:solidFill>
                  <a:srgbClr val="6E6E6E"/>
                </a:solidFill>
                <a:latin typeface="Arial" pitchFamily="34" charset="0"/>
                <a:ea typeface="Arial" pitchFamily="34" charset="-122"/>
                <a:cs typeface="Arial" pitchFamily="34" charset="-120"/>
              </a:rPr>
              <a:t>The items still open are mostly the same long-running access and dependency items, not new work.</a:t>
            </a:r>
            <a:endParaRPr lang="en-US" sz="1050" dirty="0"/>
          </a:p>
        </p:txBody>
      </p:sp>
      <p:sp>
        <p:nvSpPr>
          <p:cNvPr id="49" name="Text 47"/>
          <p:cNvSpPr txBox="1"/>
          <p:nvPr/>
        </p:nvSpPr>
        <p:spPr>
          <a:xfrm>
            <a:off x="594360" y="6382512"/>
            <a:ext cx="5486400" cy="228600"/>
          </a:xfrm>
          <a:prstGeom prst="rect">
            <a:avLst/>
          </a:prstGeom>
          <a:noFill/>
          <a:ln/>
        </p:spPr>
        <p:txBody>
          <a:bodyPr wrap="square" lIns="0" tIns="0" rIns="0" bIns="0" rtlCol="0" anchor="ctr"/>
          <a:lstStyle/>
          <a:p>
            <a:pPr marL="0" indent="0">
              <a:buNone/>
            </a:pPr>
            <a:r>
              <a:rPr lang="en-US" sz="800" dirty="0">
                <a:solidFill>
                  <a:srgbClr val="9B9B9B"/>
                </a:solidFill>
                <a:latin typeface="Arial" pitchFamily="34" charset="0"/>
                <a:ea typeface="Arial" pitchFamily="34" charset="-122"/>
                <a:cs typeface="Arial" pitchFamily="34" charset="-120"/>
              </a:rPr>
              <a:t>Opportunity Catalyst  |  Sprint 2 Retrospective</a:t>
            </a:r>
            <a:endParaRPr lang="en-US" sz="800" dirty="0"/>
          </a:p>
        </p:txBody>
      </p:sp>
      <p:sp>
        <p:nvSpPr>
          <p:cNvPr id="50" name="Text 48"/>
          <p:cNvSpPr txBox="1"/>
          <p:nvPr/>
        </p:nvSpPr>
        <p:spPr>
          <a:xfrm>
            <a:off x="10972800" y="6382512"/>
            <a:ext cx="621792" cy="228600"/>
          </a:xfrm>
          <a:prstGeom prst="rect">
            <a:avLst/>
          </a:prstGeom>
          <a:noFill/>
          <a:ln/>
        </p:spPr>
        <p:txBody>
          <a:bodyPr wrap="square" lIns="0" tIns="0" rIns="0" bIns="0" rtlCol="0" anchor="ctr"/>
          <a:lstStyle/>
          <a:p>
            <a:pPr marL="0" indent="0" algn="r">
              <a:buNone/>
            </a:pPr>
            <a:r>
              <a:rPr lang="en-US" sz="800" dirty="0">
                <a:solidFill>
                  <a:srgbClr val="9B9B9B"/>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94360" y="402336"/>
            <a:ext cx="137160" cy="137160"/>
          </a:xfrm>
          <a:prstGeom prst="rect">
            <a:avLst/>
          </a:prstGeom>
          <a:solidFill>
            <a:srgbClr val="CC0000"/>
          </a:solidFill>
          <a:ln/>
        </p:spPr>
        <p:txBody>
          <a:bodyPr/>
          <a:lstStyle/>
          <a:p>
            <a:endParaRPr lang="en-GB"/>
          </a:p>
        </p:txBody>
      </p:sp>
      <p:sp>
        <p:nvSpPr>
          <p:cNvPr id="3" name="Text 1"/>
          <p:cNvSpPr txBox="1"/>
          <p:nvPr/>
        </p:nvSpPr>
        <p:spPr>
          <a:xfrm>
            <a:off x="594360" y="658368"/>
            <a:ext cx="10725912" cy="457200"/>
          </a:xfrm>
          <a:prstGeom prst="rect">
            <a:avLst/>
          </a:prstGeom>
          <a:noFill/>
          <a:ln/>
        </p:spPr>
        <p:txBody>
          <a:bodyPr wrap="square" lIns="0" tIns="0" rIns="0" bIns="0" rtlCol="0" anchor="ctr"/>
          <a:lstStyle/>
          <a:p>
            <a:pPr marL="0" indent="0">
              <a:buNone/>
            </a:pPr>
            <a:r>
              <a:rPr lang="en-US" sz="2700" b="1" dirty="0">
                <a:solidFill>
                  <a:srgbClr val="1A1A1A"/>
                </a:solidFill>
                <a:latin typeface="Arial" pitchFamily="34" charset="0"/>
                <a:ea typeface="Arial" pitchFamily="34" charset="-122"/>
                <a:cs typeface="Arial" pitchFamily="34" charset="-120"/>
              </a:rPr>
              <a:t>Burn profile</a:t>
            </a:r>
            <a:endParaRPr lang="en-US" sz="2700" dirty="0"/>
          </a:p>
        </p:txBody>
      </p:sp>
      <p:sp>
        <p:nvSpPr>
          <p:cNvPr id="4" name="Text 2"/>
          <p:cNvSpPr txBox="1"/>
          <p:nvPr/>
        </p:nvSpPr>
        <p:spPr>
          <a:xfrm>
            <a:off x="594360" y="1152144"/>
            <a:ext cx="10725912" cy="292608"/>
          </a:xfrm>
          <a:prstGeom prst="rect">
            <a:avLst/>
          </a:prstGeom>
          <a:noFill/>
          <a:ln/>
        </p:spPr>
        <p:txBody>
          <a:bodyPr wrap="square" lIns="0" tIns="0" rIns="0" bIns="0" rtlCol="0" anchor="ctr"/>
          <a:lstStyle/>
          <a:p>
            <a:pPr marL="0" indent="0">
              <a:buNone/>
            </a:pPr>
            <a:r>
              <a:rPr lang="en-US" sz="1150" dirty="0">
                <a:solidFill>
                  <a:srgbClr val="6E6E6E"/>
                </a:solidFill>
                <a:latin typeface="Arial" pitchFamily="34" charset="0"/>
                <a:ea typeface="Arial" pitchFamily="34" charset="-122"/>
                <a:cs typeface="Arial" pitchFamily="34" charset="-120"/>
              </a:rPr>
              <a:t>Issue count from the Jira burndown. The chart counts the one epic and the three later-removed items, so it opens at 49 rather than 45.</a:t>
            </a:r>
            <a:endParaRPr lang="en-US" sz="1150" dirty="0"/>
          </a:p>
        </p:txBody>
      </p:sp>
      <p:graphicFrame>
        <p:nvGraphicFramePr>
          <p:cNvPr id="5" name="Chart 0"/>
          <p:cNvGraphicFramePr/>
          <p:nvPr/>
        </p:nvGraphicFramePr>
        <p:xfrm>
          <a:off x="457200" y="1737360"/>
          <a:ext cx="704088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7818120" y="1874520"/>
            <a:ext cx="1645920" cy="237744"/>
          </a:xfrm>
          <a:prstGeom prst="rect">
            <a:avLst/>
          </a:prstGeom>
          <a:noFill/>
          <a:ln/>
        </p:spPr>
        <p:txBody>
          <a:bodyPr wrap="square" lIns="0" tIns="0" rIns="0" bIns="0" rtlCol="0" anchor="ctr"/>
          <a:lstStyle/>
          <a:p>
            <a:pPr marL="0" indent="0">
              <a:buNone/>
            </a:pPr>
            <a:r>
              <a:rPr lang="en-US" sz="1000" b="1" kern="0" spc="100" dirty="0">
                <a:solidFill>
                  <a:srgbClr val="CC0000"/>
                </a:solidFill>
                <a:latin typeface="Arial" pitchFamily="34" charset="0"/>
                <a:ea typeface="Arial" pitchFamily="34" charset="-122"/>
                <a:cs typeface="Arial" pitchFamily="34" charset="-120"/>
              </a:rPr>
              <a:t>Sep 15 – 18</a:t>
            </a:r>
            <a:endParaRPr lang="en-US" sz="1000" dirty="0"/>
          </a:p>
        </p:txBody>
      </p:sp>
      <p:sp>
        <p:nvSpPr>
          <p:cNvPr id="7" name="Text 4"/>
          <p:cNvSpPr txBox="1"/>
          <p:nvPr/>
        </p:nvSpPr>
        <p:spPr>
          <a:xfrm>
            <a:off x="7818120" y="2130552"/>
            <a:ext cx="3840480" cy="274320"/>
          </a:xfrm>
          <a:prstGeom prst="rect">
            <a:avLst/>
          </a:prstGeom>
          <a:noFill/>
          <a:ln/>
        </p:spPr>
        <p:txBody>
          <a:bodyPr wrap="square" lIns="0" tIns="0" rIns="0" bIns="0" rtlCol="0" anchor="ctr"/>
          <a:lstStyle/>
          <a:p>
            <a:pPr marL="0" indent="0">
              <a:buNone/>
            </a:pPr>
            <a:r>
              <a:rPr lang="en-US" sz="1250" b="1" dirty="0">
                <a:solidFill>
                  <a:srgbClr val="1A1A1A"/>
                </a:solidFill>
                <a:latin typeface="Arial" pitchFamily="34" charset="0"/>
                <a:ea typeface="Arial" pitchFamily="34" charset="-122"/>
                <a:cs typeface="Arial" pitchFamily="34" charset="-120"/>
              </a:rPr>
              <a:t>Scope rises before it falls</a:t>
            </a:r>
            <a:endParaRPr lang="en-US" sz="1250" dirty="0"/>
          </a:p>
        </p:txBody>
      </p:sp>
      <p:sp>
        <p:nvSpPr>
          <p:cNvPr id="8" name="Text 5"/>
          <p:cNvSpPr txBox="1"/>
          <p:nvPr/>
        </p:nvSpPr>
        <p:spPr>
          <a:xfrm>
            <a:off x="7818120" y="2441448"/>
            <a:ext cx="3840480" cy="694944"/>
          </a:xfrm>
          <a:prstGeom prst="rect">
            <a:avLst/>
          </a:prstGeom>
          <a:noFill/>
          <a:ln/>
        </p:spPr>
        <p:txBody>
          <a:bodyPr wrap="square" lIns="0" tIns="0" rIns="0" bIns="0" rtlCol="0" anchor="t"/>
          <a:lstStyle/>
          <a:p>
            <a:pPr marL="0" indent="0">
              <a:lnSpc>
                <a:spcPts val="1300"/>
              </a:lnSpc>
              <a:buNone/>
            </a:pPr>
            <a:r>
              <a:rPr lang="en-US" sz="1000" dirty="0">
                <a:solidFill>
                  <a:srgbClr val="6E6E6E"/>
                </a:solidFill>
                <a:latin typeface="Arial" pitchFamily="34" charset="0"/>
                <a:ea typeface="Arial" pitchFamily="34" charset="-122"/>
                <a:cs typeface="Arial" pitchFamily="34" charset="-120"/>
              </a:rPr>
              <a:t>The line opens at 49 and steps above it twice, to around 52, as items are added in the first three days. It stays well above the guideline throughout the first week.</a:t>
            </a:r>
            <a:endParaRPr lang="en-US" sz="1000" dirty="0"/>
          </a:p>
        </p:txBody>
      </p:sp>
      <p:sp>
        <p:nvSpPr>
          <p:cNvPr id="9" name="Text 6"/>
          <p:cNvSpPr txBox="1"/>
          <p:nvPr/>
        </p:nvSpPr>
        <p:spPr>
          <a:xfrm>
            <a:off x="7818120" y="3191256"/>
            <a:ext cx="1645920" cy="237744"/>
          </a:xfrm>
          <a:prstGeom prst="rect">
            <a:avLst/>
          </a:prstGeom>
          <a:noFill/>
          <a:ln/>
        </p:spPr>
        <p:txBody>
          <a:bodyPr wrap="square" lIns="0" tIns="0" rIns="0" bIns="0" rtlCol="0" anchor="ctr"/>
          <a:lstStyle/>
          <a:p>
            <a:pPr marL="0" indent="0">
              <a:buNone/>
            </a:pPr>
            <a:r>
              <a:rPr lang="en-US" sz="1000" b="1" kern="0" spc="100" dirty="0">
                <a:solidFill>
                  <a:srgbClr val="CC0000"/>
                </a:solidFill>
                <a:latin typeface="Arial" pitchFamily="34" charset="0"/>
                <a:ea typeface="Arial" pitchFamily="34" charset="-122"/>
                <a:cs typeface="Arial" pitchFamily="34" charset="-120"/>
              </a:rPr>
              <a:t>Sep 21 – 25</a:t>
            </a:r>
            <a:endParaRPr lang="en-US" sz="1000" dirty="0"/>
          </a:p>
        </p:txBody>
      </p:sp>
      <p:sp>
        <p:nvSpPr>
          <p:cNvPr id="10" name="Text 7"/>
          <p:cNvSpPr txBox="1"/>
          <p:nvPr/>
        </p:nvSpPr>
        <p:spPr>
          <a:xfrm>
            <a:off x="7818120" y="3447288"/>
            <a:ext cx="3840480" cy="274320"/>
          </a:xfrm>
          <a:prstGeom prst="rect">
            <a:avLst/>
          </a:prstGeom>
          <a:noFill/>
          <a:ln/>
        </p:spPr>
        <p:txBody>
          <a:bodyPr wrap="square" lIns="0" tIns="0" rIns="0" bIns="0" rtlCol="0" anchor="ctr"/>
          <a:lstStyle/>
          <a:p>
            <a:pPr marL="0" indent="0">
              <a:buNone/>
            </a:pPr>
            <a:r>
              <a:rPr lang="en-US" sz="1250" b="1" dirty="0">
                <a:solidFill>
                  <a:srgbClr val="1A1A1A"/>
                </a:solidFill>
                <a:latin typeface="Arial" pitchFamily="34" charset="0"/>
                <a:ea typeface="Arial" pitchFamily="34" charset="-122"/>
                <a:cs typeface="Arial" pitchFamily="34" charset="-120"/>
              </a:rPr>
              <a:t>A gradual decline through week two</a:t>
            </a:r>
            <a:endParaRPr lang="en-US" sz="1250" dirty="0"/>
          </a:p>
        </p:txBody>
      </p:sp>
      <p:sp>
        <p:nvSpPr>
          <p:cNvPr id="11" name="Text 8"/>
          <p:cNvSpPr txBox="1"/>
          <p:nvPr/>
        </p:nvSpPr>
        <p:spPr>
          <a:xfrm>
            <a:off x="7818120" y="3758184"/>
            <a:ext cx="3840480" cy="694944"/>
          </a:xfrm>
          <a:prstGeom prst="rect">
            <a:avLst/>
          </a:prstGeom>
          <a:noFill/>
          <a:ln/>
        </p:spPr>
        <p:txBody>
          <a:bodyPr wrap="square" lIns="0" tIns="0" rIns="0" bIns="0" rtlCol="0" anchor="t"/>
          <a:lstStyle/>
          <a:p>
            <a:pPr marL="0" indent="0">
              <a:lnSpc>
                <a:spcPts val="1300"/>
              </a:lnSpc>
              <a:buNone/>
            </a:pPr>
            <a:r>
              <a:rPr lang="en-US" sz="1000" dirty="0">
                <a:solidFill>
                  <a:srgbClr val="6E6E6E"/>
                </a:solidFill>
                <a:latin typeface="Arial" pitchFamily="34" charset="0"/>
                <a:ea typeface="Arial" pitchFamily="34" charset="-122"/>
                <a:cs typeface="Arial" pitchFamily="34" charset="-120"/>
              </a:rPr>
              <a:t>Remaining work falls from 43 to 36 across the second week — real progress, but at a rate that leaves most of the sprint still open on the final Friday.</a:t>
            </a:r>
            <a:endParaRPr lang="en-US" sz="1000" dirty="0"/>
          </a:p>
        </p:txBody>
      </p:sp>
      <p:sp>
        <p:nvSpPr>
          <p:cNvPr id="12" name="Text 9"/>
          <p:cNvSpPr txBox="1"/>
          <p:nvPr/>
        </p:nvSpPr>
        <p:spPr>
          <a:xfrm>
            <a:off x="7818120" y="4507992"/>
            <a:ext cx="1645920" cy="237744"/>
          </a:xfrm>
          <a:prstGeom prst="rect">
            <a:avLst/>
          </a:prstGeom>
          <a:noFill/>
          <a:ln/>
        </p:spPr>
        <p:txBody>
          <a:bodyPr wrap="square" lIns="0" tIns="0" rIns="0" bIns="0" rtlCol="0" anchor="ctr"/>
          <a:lstStyle/>
          <a:p>
            <a:pPr marL="0" indent="0">
              <a:buNone/>
            </a:pPr>
            <a:r>
              <a:rPr lang="en-US" sz="1000" b="1" kern="0" spc="100" dirty="0">
                <a:solidFill>
                  <a:srgbClr val="CC0000"/>
                </a:solidFill>
                <a:latin typeface="Arial" pitchFamily="34" charset="0"/>
                <a:ea typeface="Arial" pitchFamily="34" charset="-122"/>
                <a:cs typeface="Arial" pitchFamily="34" charset="-120"/>
              </a:rPr>
              <a:t>Sep 25 – 27</a:t>
            </a:r>
            <a:endParaRPr lang="en-US" sz="1000" dirty="0"/>
          </a:p>
        </p:txBody>
      </p:sp>
      <p:sp>
        <p:nvSpPr>
          <p:cNvPr id="13" name="Text 10"/>
          <p:cNvSpPr txBox="1"/>
          <p:nvPr/>
        </p:nvSpPr>
        <p:spPr>
          <a:xfrm>
            <a:off x="7818120" y="4764024"/>
            <a:ext cx="3840480" cy="274320"/>
          </a:xfrm>
          <a:prstGeom prst="rect">
            <a:avLst/>
          </a:prstGeom>
          <a:noFill/>
          <a:ln/>
        </p:spPr>
        <p:txBody>
          <a:bodyPr wrap="square" lIns="0" tIns="0" rIns="0" bIns="0" rtlCol="0" anchor="ctr"/>
          <a:lstStyle/>
          <a:p>
            <a:pPr marL="0" indent="0">
              <a:buNone/>
            </a:pPr>
            <a:r>
              <a:rPr lang="en-US" sz="1250" b="1" dirty="0">
                <a:solidFill>
                  <a:srgbClr val="1A1A1A"/>
                </a:solidFill>
                <a:latin typeface="Arial" pitchFamily="34" charset="0"/>
                <a:ea typeface="Arial" pitchFamily="34" charset="-122"/>
                <a:cs typeface="Arial" pitchFamily="34" charset="-120"/>
              </a:rPr>
              <a:t>Over half the closure lands at the end</a:t>
            </a:r>
            <a:endParaRPr lang="en-US" sz="1250" dirty="0"/>
          </a:p>
        </p:txBody>
      </p:sp>
      <p:sp>
        <p:nvSpPr>
          <p:cNvPr id="14" name="Text 11"/>
          <p:cNvSpPr txBox="1"/>
          <p:nvPr/>
        </p:nvSpPr>
        <p:spPr>
          <a:xfrm>
            <a:off x="7818120" y="5074920"/>
            <a:ext cx="3840480" cy="694944"/>
          </a:xfrm>
          <a:prstGeom prst="rect">
            <a:avLst/>
          </a:prstGeom>
          <a:noFill/>
          <a:ln/>
        </p:spPr>
        <p:txBody>
          <a:bodyPr wrap="square" lIns="0" tIns="0" rIns="0" bIns="0" rtlCol="0" anchor="t"/>
          <a:lstStyle/>
          <a:p>
            <a:pPr marL="0" indent="0">
              <a:lnSpc>
                <a:spcPts val="1300"/>
              </a:lnSpc>
              <a:buNone/>
            </a:pPr>
            <a:r>
              <a:rPr lang="en-US" sz="1000" dirty="0">
                <a:solidFill>
                  <a:srgbClr val="6E6E6E"/>
                </a:solidFill>
                <a:latin typeface="Arial" pitchFamily="34" charset="0"/>
                <a:ea typeface="Arial" pitchFamily="34" charset="-122"/>
                <a:cs typeface="Arial" pitchFamily="34" charset="-120"/>
              </a:rPr>
              <a:t>Remaining falls from 36 to 11 in the closing days: around 25 items, more than half the sprint's output, reach Done once AI platform access arrives.</a:t>
            </a:r>
            <a:endParaRPr lang="en-US" sz="1000" dirty="0"/>
          </a:p>
        </p:txBody>
      </p:sp>
      <p:sp>
        <p:nvSpPr>
          <p:cNvPr id="15" name="Text 12"/>
          <p:cNvSpPr txBox="1"/>
          <p:nvPr/>
        </p:nvSpPr>
        <p:spPr>
          <a:xfrm>
            <a:off x="594360" y="6382512"/>
            <a:ext cx="5486400" cy="228600"/>
          </a:xfrm>
          <a:prstGeom prst="rect">
            <a:avLst/>
          </a:prstGeom>
          <a:noFill/>
          <a:ln/>
        </p:spPr>
        <p:txBody>
          <a:bodyPr wrap="square" lIns="0" tIns="0" rIns="0" bIns="0" rtlCol="0" anchor="ctr"/>
          <a:lstStyle/>
          <a:p>
            <a:pPr marL="0" indent="0">
              <a:buNone/>
            </a:pPr>
            <a:r>
              <a:rPr lang="en-US" sz="800" dirty="0">
                <a:solidFill>
                  <a:srgbClr val="9B9B9B"/>
                </a:solidFill>
                <a:latin typeface="Arial" pitchFamily="34" charset="0"/>
                <a:ea typeface="Arial" pitchFamily="34" charset="-122"/>
                <a:cs typeface="Arial" pitchFamily="34" charset="-120"/>
              </a:rPr>
              <a:t>Opportunity Catalyst  |  Sprint 2 Retrospective</a:t>
            </a:r>
            <a:endParaRPr lang="en-US" sz="800" dirty="0"/>
          </a:p>
        </p:txBody>
      </p:sp>
      <p:sp>
        <p:nvSpPr>
          <p:cNvPr id="16" name="Text 13"/>
          <p:cNvSpPr txBox="1"/>
          <p:nvPr/>
        </p:nvSpPr>
        <p:spPr>
          <a:xfrm>
            <a:off x="10972800" y="6382512"/>
            <a:ext cx="621792" cy="228600"/>
          </a:xfrm>
          <a:prstGeom prst="rect">
            <a:avLst/>
          </a:prstGeom>
          <a:noFill/>
          <a:ln/>
        </p:spPr>
        <p:txBody>
          <a:bodyPr wrap="square" lIns="0" tIns="0" rIns="0" bIns="0" rtlCol="0" anchor="ctr"/>
          <a:lstStyle/>
          <a:p>
            <a:pPr marL="0" indent="0" algn="r">
              <a:buNone/>
            </a:pPr>
            <a:r>
              <a:rPr lang="en-US" sz="800" dirty="0">
                <a:solidFill>
                  <a:srgbClr val="9B9B9B"/>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94360" y="402336"/>
            <a:ext cx="137160" cy="137160"/>
          </a:xfrm>
          <a:prstGeom prst="rect">
            <a:avLst/>
          </a:prstGeom>
          <a:solidFill>
            <a:srgbClr val="CC0000"/>
          </a:solidFill>
          <a:ln/>
        </p:spPr>
        <p:txBody>
          <a:bodyPr/>
          <a:lstStyle/>
          <a:p>
            <a:endParaRPr lang="en-GB"/>
          </a:p>
        </p:txBody>
      </p:sp>
      <p:sp>
        <p:nvSpPr>
          <p:cNvPr id="3" name="Text 1"/>
          <p:cNvSpPr txBox="1"/>
          <p:nvPr/>
        </p:nvSpPr>
        <p:spPr>
          <a:xfrm>
            <a:off x="594360" y="658368"/>
            <a:ext cx="10725912" cy="457200"/>
          </a:xfrm>
          <a:prstGeom prst="rect">
            <a:avLst/>
          </a:prstGeom>
          <a:noFill/>
          <a:ln/>
        </p:spPr>
        <p:txBody>
          <a:bodyPr wrap="square" lIns="0" tIns="0" rIns="0" bIns="0" rtlCol="0" anchor="ctr"/>
          <a:lstStyle/>
          <a:p>
            <a:pPr marL="0" indent="0">
              <a:buNone/>
            </a:pPr>
            <a:r>
              <a:rPr lang="en-US" sz="2700" b="1" dirty="0">
                <a:solidFill>
                  <a:srgbClr val="1A1A1A"/>
                </a:solidFill>
                <a:latin typeface="Arial" pitchFamily="34" charset="0"/>
                <a:ea typeface="Arial" pitchFamily="34" charset="-122"/>
                <a:cs typeface="Arial" pitchFamily="34" charset="-120"/>
              </a:rPr>
              <a:t>How sprint scope changed</a:t>
            </a:r>
            <a:endParaRPr lang="en-US" sz="2700" dirty="0"/>
          </a:p>
        </p:txBody>
      </p:sp>
      <p:graphicFrame>
        <p:nvGraphicFramePr>
          <p:cNvPr id="5" name="Chart 0"/>
          <p:cNvGraphicFramePr/>
          <p:nvPr/>
        </p:nvGraphicFramePr>
        <p:xfrm>
          <a:off x="457200" y="1664208"/>
          <a:ext cx="612648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903720" y="1783080"/>
            <a:ext cx="4690872" cy="1188720"/>
          </a:xfrm>
          <a:prstGeom prst="rect">
            <a:avLst/>
          </a:prstGeom>
          <a:solidFill>
            <a:srgbClr val="F7F7F7"/>
          </a:solidFill>
          <a:ln/>
        </p:spPr>
        <p:txBody>
          <a:bodyPr/>
          <a:lstStyle/>
          <a:p>
            <a:endParaRPr lang="en-GB"/>
          </a:p>
        </p:txBody>
      </p:sp>
      <p:sp>
        <p:nvSpPr>
          <p:cNvPr id="7" name="Shape 4"/>
          <p:cNvSpPr/>
          <p:nvPr/>
        </p:nvSpPr>
        <p:spPr>
          <a:xfrm>
            <a:off x="7132320" y="2020824"/>
            <a:ext cx="109728" cy="109728"/>
          </a:xfrm>
          <a:prstGeom prst="rect">
            <a:avLst/>
          </a:prstGeom>
          <a:solidFill>
            <a:srgbClr val="CC0000"/>
          </a:solidFill>
          <a:ln/>
        </p:spPr>
        <p:txBody>
          <a:bodyPr/>
          <a:lstStyle/>
          <a:p>
            <a:endParaRPr lang="en-GB"/>
          </a:p>
        </p:txBody>
      </p:sp>
      <p:sp>
        <p:nvSpPr>
          <p:cNvPr id="8" name="Text 5"/>
          <p:cNvSpPr txBox="1"/>
          <p:nvPr/>
        </p:nvSpPr>
        <p:spPr>
          <a:xfrm>
            <a:off x="7370064" y="1929384"/>
            <a:ext cx="4023360" cy="274320"/>
          </a:xfrm>
          <a:prstGeom prst="rect">
            <a:avLst/>
          </a:prstGeom>
          <a:noFill/>
          <a:ln/>
        </p:spPr>
        <p:txBody>
          <a:bodyPr wrap="square" lIns="0" tIns="0" rIns="0" bIns="0" rtlCol="0" anchor="ctr"/>
          <a:lstStyle/>
          <a:p>
            <a:pPr marL="0" indent="0">
              <a:buNone/>
            </a:pPr>
            <a:r>
              <a:rPr lang="en-US" sz="1250" b="1" dirty="0">
                <a:solidFill>
                  <a:srgbClr val="1A1A1A"/>
                </a:solidFill>
                <a:latin typeface="Arial" pitchFamily="34" charset="0"/>
                <a:ea typeface="Arial" pitchFamily="34" charset="-122"/>
                <a:cs typeface="Arial" pitchFamily="34" charset="-120"/>
              </a:rPr>
              <a:t>Additions were absorbed, not deferred</a:t>
            </a:r>
            <a:endParaRPr lang="en-US" sz="1250" dirty="0"/>
          </a:p>
        </p:txBody>
      </p:sp>
      <p:sp>
        <p:nvSpPr>
          <p:cNvPr id="9" name="Text 6"/>
          <p:cNvSpPr txBox="1"/>
          <p:nvPr/>
        </p:nvSpPr>
        <p:spPr>
          <a:xfrm>
            <a:off x="7370064" y="2240280"/>
            <a:ext cx="4023360" cy="658368"/>
          </a:xfrm>
          <a:prstGeom prst="rect">
            <a:avLst/>
          </a:prstGeom>
          <a:noFill/>
          <a:ln/>
        </p:spPr>
        <p:txBody>
          <a:bodyPr wrap="square" lIns="0" tIns="0" rIns="0" bIns="0" rtlCol="0" anchor="t"/>
          <a:lstStyle/>
          <a:p>
            <a:pPr marL="0" indent="0">
              <a:lnSpc>
                <a:spcPts val="1300"/>
              </a:lnSpc>
              <a:buNone/>
            </a:pPr>
            <a:r>
              <a:rPr lang="en-US" sz="1000" dirty="0">
                <a:solidFill>
                  <a:srgbClr val="6E6E6E"/>
                </a:solidFill>
                <a:latin typeface="Arial" pitchFamily="34" charset="0"/>
                <a:ea typeface="Arial" pitchFamily="34" charset="-122"/>
                <a:cs typeface="Arial" pitchFamily="34" charset="-120"/>
              </a:rPr>
              <a:t>12 of the 13 items added mid-sprint completed before the sprint closed. Only OI3-194, a QA item, carried over.</a:t>
            </a:r>
            <a:endParaRPr lang="en-US" sz="1000" dirty="0"/>
          </a:p>
        </p:txBody>
      </p:sp>
      <p:sp>
        <p:nvSpPr>
          <p:cNvPr id="10" name="Shape 7"/>
          <p:cNvSpPr/>
          <p:nvPr/>
        </p:nvSpPr>
        <p:spPr>
          <a:xfrm>
            <a:off x="6903720" y="3154680"/>
            <a:ext cx="4690872" cy="1188720"/>
          </a:xfrm>
          <a:prstGeom prst="rect">
            <a:avLst/>
          </a:prstGeom>
          <a:solidFill>
            <a:srgbClr val="F7F7F7"/>
          </a:solidFill>
          <a:ln/>
        </p:spPr>
        <p:txBody>
          <a:bodyPr/>
          <a:lstStyle/>
          <a:p>
            <a:endParaRPr lang="en-GB"/>
          </a:p>
        </p:txBody>
      </p:sp>
      <p:sp>
        <p:nvSpPr>
          <p:cNvPr id="11" name="Shape 8"/>
          <p:cNvSpPr/>
          <p:nvPr/>
        </p:nvSpPr>
        <p:spPr>
          <a:xfrm>
            <a:off x="7132320" y="3392424"/>
            <a:ext cx="109728" cy="109728"/>
          </a:xfrm>
          <a:prstGeom prst="rect">
            <a:avLst/>
          </a:prstGeom>
          <a:solidFill>
            <a:srgbClr val="CC0000"/>
          </a:solidFill>
          <a:ln/>
        </p:spPr>
        <p:txBody>
          <a:bodyPr/>
          <a:lstStyle/>
          <a:p>
            <a:endParaRPr lang="en-GB"/>
          </a:p>
        </p:txBody>
      </p:sp>
      <p:sp>
        <p:nvSpPr>
          <p:cNvPr id="12" name="Text 9"/>
          <p:cNvSpPr txBox="1"/>
          <p:nvPr/>
        </p:nvSpPr>
        <p:spPr>
          <a:xfrm>
            <a:off x="7370064" y="3300984"/>
            <a:ext cx="4023360" cy="274320"/>
          </a:xfrm>
          <a:prstGeom prst="rect">
            <a:avLst/>
          </a:prstGeom>
          <a:noFill/>
          <a:ln/>
        </p:spPr>
        <p:txBody>
          <a:bodyPr wrap="square" lIns="0" tIns="0" rIns="0" bIns="0" rtlCol="0" anchor="ctr"/>
          <a:lstStyle/>
          <a:p>
            <a:pPr marL="0" indent="0">
              <a:buNone/>
            </a:pPr>
            <a:r>
              <a:rPr lang="en-US" sz="1250" b="1" dirty="0">
                <a:solidFill>
                  <a:srgbClr val="1A1A1A"/>
                </a:solidFill>
                <a:latin typeface="Arial" pitchFamily="34" charset="0"/>
                <a:ea typeface="Arial" pitchFamily="34" charset="-122"/>
                <a:cs typeface="Arial" pitchFamily="34" charset="-120"/>
              </a:rPr>
              <a:t>Most additions were planned follow-on work</a:t>
            </a:r>
            <a:endParaRPr lang="en-US" sz="1250" dirty="0"/>
          </a:p>
        </p:txBody>
      </p:sp>
      <p:sp>
        <p:nvSpPr>
          <p:cNvPr id="13" name="Text 10"/>
          <p:cNvSpPr txBox="1"/>
          <p:nvPr/>
        </p:nvSpPr>
        <p:spPr>
          <a:xfrm>
            <a:off x="7370064" y="3611880"/>
            <a:ext cx="4023360" cy="658368"/>
          </a:xfrm>
          <a:prstGeom prst="rect">
            <a:avLst/>
          </a:prstGeom>
          <a:noFill/>
          <a:ln/>
        </p:spPr>
        <p:txBody>
          <a:bodyPr wrap="square" lIns="0" tIns="0" rIns="0" bIns="0" rtlCol="0" anchor="t"/>
          <a:lstStyle/>
          <a:p>
            <a:pPr marL="0" indent="0">
              <a:lnSpc>
                <a:spcPts val="1300"/>
              </a:lnSpc>
              <a:buNone/>
            </a:pPr>
            <a:r>
              <a:rPr lang="en-US" sz="1000" dirty="0">
                <a:solidFill>
                  <a:srgbClr val="6E6E6E"/>
                </a:solidFill>
                <a:latin typeface="Arial" pitchFamily="34" charset="0"/>
                <a:ea typeface="Arial" pitchFamily="34" charset="-122"/>
                <a:cs typeface="Arial" pitchFamily="34" charset="-120"/>
              </a:rPr>
              <a:t>The dashboard and target setup screens, Case Service and the taxonomy migration follow directly from work already in the sprint.</a:t>
            </a:r>
            <a:endParaRPr lang="en-US" sz="1000" dirty="0"/>
          </a:p>
        </p:txBody>
      </p:sp>
      <p:sp>
        <p:nvSpPr>
          <p:cNvPr id="14" name="Shape 11"/>
          <p:cNvSpPr/>
          <p:nvPr/>
        </p:nvSpPr>
        <p:spPr>
          <a:xfrm>
            <a:off x="6903720" y="4526280"/>
            <a:ext cx="4690872" cy="1188720"/>
          </a:xfrm>
          <a:prstGeom prst="rect">
            <a:avLst/>
          </a:prstGeom>
          <a:solidFill>
            <a:srgbClr val="F7F7F7"/>
          </a:solidFill>
          <a:ln/>
        </p:spPr>
        <p:txBody>
          <a:bodyPr/>
          <a:lstStyle/>
          <a:p>
            <a:endParaRPr lang="en-GB"/>
          </a:p>
        </p:txBody>
      </p:sp>
      <p:sp>
        <p:nvSpPr>
          <p:cNvPr id="15" name="Shape 12"/>
          <p:cNvSpPr/>
          <p:nvPr/>
        </p:nvSpPr>
        <p:spPr>
          <a:xfrm>
            <a:off x="7132320" y="4764024"/>
            <a:ext cx="109728" cy="109728"/>
          </a:xfrm>
          <a:prstGeom prst="rect">
            <a:avLst/>
          </a:prstGeom>
          <a:solidFill>
            <a:srgbClr val="CC0000"/>
          </a:solidFill>
          <a:ln/>
        </p:spPr>
        <p:txBody>
          <a:bodyPr/>
          <a:lstStyle/>
          <a:p>
            <a:endParaRPr lang="en-GB"/>
          </a:p>
        </p:txBody>
      </p:sp>
      <p:sp>
        <p:nvSpPr>
          <p:cNvPr id="16" name="Text 13"/>
          <p:cNvSpPr txBox="1"/>
          <p:nvPr/>
        </p:nvSpPr>
        <p:spPr>
          <a:xfrm>
            <a:off x="7370064" y="4672584"/>
            <a:ext cx="4023360" cy="274320"/>
          </a:xfrm>
          <a:prstGeom prst="rect">
            <a:avLst/>
          </a:prstGeom>
          <a:noFill/>
          <a:ln/>
        </p:spPr>
        <p:txBody>
          <a:bodyPr wrap="square" lIns="0" tIns="0" rIns="0" bIns="0" rtlCol="0" anchor="ctr"/>
          <a:lstStyle/>
          <a:p>
            <a:pPr marL="0" indent="0">
              <a:buNone/>
            </a:pPr>
            <a:r>
              <a:rPr lang="en-US" sz="1250" b="1" dirty="0">
                <a:solidFill>
                  <a:srgbClr val="1A1A1A"/>
                </a:solidFill>
                <a:latin typeface="Arial" pitchFamily="34" charset="0"/>
                <a:ea typeface="Arial" pitchFamily="34" charset="-122"/>
                <a:cs typeface="Arial" pitchFamily="34" charset="-120"/>
              </a:rPr>
              <a:t>Three items were removed from the sprint</a:t>
            </a:r>
            <a:endParaRPr lang="en-US" sz="1250" dirty="0"/>
          </a:p>
        </p:txBody>
      </p:sp>
      <p:sp>
        <p:nvSpPr>
          <p:cNvPr id="17" name="Text 14"/>
          <p:cNvSpPr txBox="1"/>
          <p:nvPr/>
        </p:nvSpPr>
        <p:spPr>
          <a:xfrm>
            <a:off x="7370064" y="4983480"/>
            <a:ext cx="4023360" cy="658368"/>
          </a:xfrm>
          <a:prstGeom prst="rect">
            <a:avLst/>
          </a:prstGeom>
          <a:noFill/>
          <a:ln/>
        </p:spPr>
        <p:txBody>
          <a:bodyPr wrap="square" lIns="0" tIns="0" rIns="0" bIns="0" rtlCol="0" anchor="t"/>
          <a:lstStyle/>
          <a:p>
            <a:pPr marL="0" indent="0">
              <a:lnSpc>
                <a:spcPts val="1300"/>
              </a:lnSpc>
              <a:buNone/>
            </a:pPr>
            <a:r>
              <a:rPr lang="en-US" sz="1000" dirty="0">
                <a:solidFill>
                  <a:srgbClr val="6E6E6E"/>
                </a:solidFill>
                <a:latin typeface="Arial" pitchFamily="34" charset="0"/>
                <a:ea typeface="Arial" pitchFamily="34" charset="-122"/>
                <a:cs typeface="Arial" pitchFamily="34" charset="-120"/>
              </a:rPr>
              <a:t>OI3-18, 43 and 65 — all data foundation items — were taken out rather than completed, and put into the general backlog, as they are not specific to any of the Sprints.</a:t>
            </a:r>
            <a:endParaRPr lang="en-US" sz="1000" dirty="0"/>
          </a:p>
        </p:txBody>
      </p:sp>
      <p:sp>
        <p:nvSpPr>
          <p:cNvPr id="18" name="Text 15"/>
          <p:cNvSpPr txBox="1"/>
          <p:nvPr/>
        </p:nvSpPr>
        <p:spPr>
          <a:xfrm>
            <a:off x="594360" y="6382512"/>
            <a:ext cx="5486400" cy="228600"/>
          </a:xfrm>
          <a:prstGeom prst="rect">
            <a:avLst/>
          </a:prstGeom>
          <a:noFill/>
          <a:ln/>
        </p:spPr>
        <p:txBody>
          <a:bodyPr wrap="square" lIns="0" tIns="0" rIns="0" bIns="0" rtlCol="0" anchor="ctr"/>
          <a:lstStyle/>
          <a:p>
            <a:pPr marL="0" indent="0">
              <a:buNone/>
            </a:pPr>
            <a:r>
              <a:rPr lang="en-US" sz="800" dirty="0">
                <a:solidFill>
                  <a:srgbClr val="9B9B9B"/>
                </a:solidFill>
                <a:latin typeface="Arial" pitchFamily="34" charset="0"/>
                <a:ea typeface="Arial" pitchFamily="34" charset="-122"/>
                <a:cs typeface="Arial" pitchFamily="34" charset="-120"/>
              </a:rPr>
              <a:t>Opportunity Catalyst  |  Sprint 2 Retrospective</a:t>
            </a:r>
            <a:endParaRPr lang="en-US" sz="800" dirty="0"/>
          </a:p>
        </p:txBody>
      </p:sp>
      <p:sp>
        <p:nvSpPr>
          <p:cNvPr id="19" name="Text 16"/>
          <p:cNvSpPr txBox="1"/>
          <p:nvPr/>
        </p:nvSpPr>
        <p:spPr>
          <a:xfrm>
            <a:off x="10972800" y="6382512"/>
            <a:ext cx="621792" cy="228600"/>
          </a:xfrm>
          <a:prstGeom prst="rect">
            <a:avLst/>
          </a:prstGeom>
          <a:noFill/>
          <a:ln/>
        </p:spPr>
        <p:txBody>
          <a:bodyPr wrap="square" lIns="0" tIns="0" rIns="0" bIns="0" rtlCol="0" anchor="ctr"/>
          <a:lstStyle/>
          <a:p>
            <a:pPr marL="0" indent="0" algn="r">
              <a:buNone/>
            </a:pPr>
            <a:r>
              <a:rPr lang="en-US" sz="800" dirty="0">
                <a:solidFill>
                  <a:srgbClr val="9B9B9B"/>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94360" y="402336"/>
            <a:ext cx="137160" cy="137160"/>
          </a:xfrm>
          <a:prstGeom prst="rect">
            <a:avLst/>
          </a:prstGeom>
          <a:solidFill>
            <a:srgbClr val="CC0000"/>
          </a:solidFill>
          <a:ln/>
        </p:spPr>
        <p:txBody>
          <a:bodyPr/>
          <a:lstStyle/>
          <a:p>
            <a:endParaRPr lang="en-GB"/>
          </a:p>
        </p:txBody>
      </p:sp>
      <p:sp>
        <p:nvSpPr>
          <p:cNvPr id="3" name="Text 1"/>
          <p:cNvSpPr txBox="1"/>
          <p:nvPr/>
        </p:nvSpPr>
        <p:spPr>
          <a:xfrm>
            <a:off x="594360" y="658368"/>
            <a:ext cx="10725912" cy="457200"/>
          </a:xfrm>
          <a:prstGeom prst="rect">
            <a:avLst/>
          </a:prstGeom>
          <a:noFill/>
          <a:ln/>
        </p:spPr>
        <p:txBody>
          <a:bodyPr wrap="square" lIns="0" tIns="0" rIns="0" bIns="0" rtlCol="0" anchor="ctr"/>
          <a:lstStyle/>
          <a:p>
            <a:pPr marL="0" indent="0">
              <a:buNone/>
            </a:pPr>
            <a:r>
              <a:rPr lang="en-US" sz="2700" b="1" dirty="0">
                <a:solidFill>
                  <a:srgbClr val="1A1A1A"/>
                </a:solidFill>
                <a:latin typeface="Arial" pitchFamily="34" charset="0"/>
                <a:ea typeface="Arial" pitchFamily="34" charset="-122"/>
                <a:cs typeface="Arial" pitchFamily="34" charset="-120"/>
              </a:rPr>
              <a:t>Status of the 10 spillover items</a:t>
            </a:r>
            <a:endParaRPr lang="en-US" sz="2700" dirty="0"/>
          </a:p>
        </p:txBody>
      </p:sp>
      <p:sp>
        <p:nvSpPr>
          <p:cNvPr id="4" name="Text 2"/>
          <p:cNvSpPr txBox="1"/>
          <p:nvPr/>
        </p:nvSpPr>
        <p:spPr>
          <a:xfrm>
            <a:off x="594360" y="1152144"/>
            <a:ext cx="10725912" cy="292608"/>
          </a:xfrm>
          <a:prstGeom prst="rect">
            <a:avLst/>
          </a:prstGeom>
          <a:noFill/>
          <a:ln/>
        </p:spPr>
        <p:txBody>
          <a:bodyPr wrap="square" lIns="0" tIns="0" rIns="0" bIns="0" rtlCol="0" anchor="ctr"/>
          <a:lstStyle/>
          <a:p>
            <a:pPr marL="0" indent="0">
              <a:buNone/>
            </a:pPr>
            <a:r>
              <a:rPr lang="en-US" sz="1150" dirty="0">
                <a:solidFill>
                  <a:srgbClr val="6E6E6E"/>
                </a:solidFill>
                <a:latin typeface="Arial" pitchFamily="34" charset="0"/>
                <a:ea typeface="Arial" pitchFamily="34" charset="-122"/>
                <a:cs typeface="Arial" pitchFamily="34" charset="-120"/>
              </a:rPr>
              <a:t>Seven of the ten are already under way, in review, or blocked on an external party rather than unstarted</a:t>
            </a:r>
            <a:endParaRPr lang="en-US" sz="1150" dirty="0"/>
          </a:p>
        </p:txBody>
      </p:sp>
      <p:graphicFrame>
        <p:nvGraphicFramePr>
          <p:cNvPr id="5" name="Chart 0"/>
          <p:cNvGraphicFramePr/>
          <p:nvPr/>
        </p:nvGraphicFramePr>
        <p:xfrm>
          <a:off x="457200" y="1737360"/>
          <a:ext cx="640080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7315200" y="1828800"/>
            <a:ext cx="4297680" cy="274320"/>
          </a:xfrm>
          <a:prstGeom prst="rect">
            <a:avLst/>
          </a:prstGeom>
          <a:noFill/>
          <a:ln/>
        </p:spPr>
        <p:txBody>
          <a:bodyPr wrap="square" lIns="0" tIns="0" rIns="0" bIns="0" rtlCol="0" anchor="ctr"/>
          <a:lstStyle/>
          <a:p>
            <a:pPr marL="0" indent="0">
              <a:buNone/>
            </a:pPr>
            <a:r>
              <a:rPr lang="en-US" sz="1250" b="1" dirty="0">
                <a:solidFill>
                  <a:srgbClr val="CC0000"/>
                </a:solidFill>
                <a:latin typeface="Arial" pitchFamily="34" charset="0"/>
                <a:ea typeface="Arial" pitchFamily="34" charset="-122"/>
                <a:cs typeface="Arial" pitchFamily="34" charset="-120"/>
              </a:rPr>
              <a:t>Reading the carryover</a:t>
            </a:r>
            <a:endParaRPr lang="en-US" sz="1250" dirty="0"/>
          </a:p>
        </p:txBody>
      </p:sp>
      <p:sp>
        <p:nvSpPr>
          <p:cNvPr id="7" name="Shape 4"/>
          <p:cNvSpPr/>
          <p:nvPr/>
        </p:nvSpPr>
        <p:spPr>
          <a:xfrm>
            <a:off x="7315200" y="2157984"/>
            <a:ext cx="4279392" cy="0"/>
          </a:xfrm>
          <a:prstGeom prst="line">
            <a:avLst/>
          </a:prstGeom>
          <a:noFill/>
          <a:ln w="12700">
            <a:solidFill>
              <a:srgbClr val="E3E3E3"/>
            </a:solidFill>
            <a:prstDash val="solid"/>
          </a:ln>
        </p:spPr>
        <p:txBody>
          <a:bodyPr/>
          <a:lstStyle/>
          <a:p>
            <a:endParaRPr lang="en-GB"/>
          </a:p>
        </p:txBody>
      </p:sp>
      <p:sp>
        <p:nvSpPr>
          <p:cNvPr id="8" name="Text 5"/>
          <p:cNvSpPr txBox="1"/>
          <p:nvPr/>
        </p:nvSpPr>
        <p:spPr>
          <a:xfrm>
            <a:off x="7315200" y="2322576"/>
            <a:ext cx="4297680" cy="3200400"/>
          </a:xfrm>
          <a:prstGeom prst="rect">
            <a:avLst/>
          </a:prstGeom>
          <a:noFill/>
          <a:ln/>
        </p:spPr>
        <p:txBody>
          <a:bodyPr wrap="square" lIns="0" tIns="0" rIns="0" bIns="0" rtlCol="0" anchor="t"/>
          <a:lstStyle/>
          <a:p>
            <a:pPr marL="342900" indent="-342900">
              <a:lnSpc>
                <a:spcPts val="1500"/>
              </a:lnSpc>
              <a:spcAft>
                <a:spcPts val="900"/>
              </a:spcAft>
              <a:buSzPct val="100000"/>
              <a:buChar char="•"/>
            </a:pPr>
            <a:r>
              <a:rPr lang="en-US" sz="1100" dirty="0">
                <a:solidFill>
                  <a:srgbClr val="1A1A1A"/>
                </a:solidFill>
                <a:latin typeface="Arial" pitchFamily="34" charset="0"/>
                <a:ea typeface="Arial" pitchFamily="34" charset="-122"/>
                <a:cs typeface="Arial" pitchFamily="34" charset="-120"/>
              </a:rPr>
              <a:t>Two items are blocked: OI3-82 rate and quota management, and OI3-147 the Data Access Service. Both wait on vendor limits being confirmed.</a:t>
            </a:r>
            <a:endParaRPr lang="en-US" sz="1100" dirty="0"/>
          </a:p>
          <a:p>
            <a:pPr marL="342900" indent="-342900">
              <a:lnSpc>
                <a:spcPts val="1500"/>
              </a:lnSpc>
              <a:spcAft>
                <a:spcPts val="900"/>
              </a:spcAft>
              <a:buSzPct val="100000"/>
              <a:buChar char="•"/>
            </a:pPr>
            <a:r>
              <a:rPr lang="en-US" sz="1100" dirty="0">
                <a:solidFill>
                  <a:srgbClr val="1A1A1A"/>
                </a:solidFill>
                <a:latin typeface="Arial" pitchFamily="34" charset="0"/>
                <a:ea typeface="Arial" pitchFamily="34" charset="-122"/>
                <a:cs typeface="Arial" pitchFamily="34" charset="-120"/>
              </a:rPr>
              <a:t>Two are in review — OI3-21 security and governance and OI3-27 architecture decision records — waiting on review capacity, not build effort.</a:t>
            </a:r>
            <a:endParaRPr lang="en-US" sz="1100" dirty="0"/>
          </a:p>
          <a:p>
            <a:pPr marL="342900" indent="-342900">
              <a:lnSpc>
                <a:spcPts val="1500"/>
              </a:lnSpc>
              <a:spcAft>
                <a:spcPts val="900"/>
              </a:spcAft>
              <a:buSzPct val="100000"/>
              <a:buChar char="•"/>
            </a:pPr>
            <a:r>
              <a:rPr lang="en-US" sz="1100" dirty="0">
                <a:solidFill>
                  <a:srgbClr val="1A1A1A"/>
                </a:solidFill>
                <a:latin typeface="Arial" pitchFamily="34" charset="0"/>
                <a:ea typeface="Arial" pitchFamily="34" charset="-122"/>
                <a:cs typeface="Arial" pitchFamily="34" charset="-120"/>
              </a:rPr>
              <a:t>Three are in progress: development environment and access, the think-cell licence, and the LSEG and CapIQ rate limits.</a:t>
            </a:r>
            <a:endParaRPr lang="en-US" sz="1100" dirty="0"/>
          </a:p>
          <a:p>
            <a:pPr marL="342900" indent="-342900">
              <a:lnSpc>
                <a:spcPts val="1500"/>
              </a:lnSpc>
              <a:spcAft>
                <a:spcPts val="900"/>
              </a:spcAft>
              <a:buSzPct val="100000"/>
              <a:buChar char="•"/>
            </a:pPr>
            <a:r>
              <a:rPr lang="en-US" sz="1100" dirty="0">
                <a:solidFill>
                  <a:srgbClr val="1A1A1A"/>
                </a:solidFill>
                <a:latin typeface="Arial" pitchFamily="34" charset="0"/>
                <a:ea typeface="Arial" pitchFamily="34" charset="-122"/>
                <a:cs typeface="Arial" pitchFamily="34" charset="-120"/>
              </a:rPr>
              <a:t>Three have not started: the peer candidate knowledge base, frontend boundary tests, and one QA item added late in the sprint.</a:t>
            </a:r>
            <a:endParaRPr lang="en-US" sz="1100" dirty="0"/>
          </a:p>
        </p:txBody>
      </p:sp>
      <p:sp>
        <p:nvSpPr>
          <p:cNvPr id="9" name="Text 6"/>
          <p:cNvSpPr txBox="1"/>
          <p:nvPr/>
        </p:nvSpPr>
        <p:spPr>
          <a:xfrm>
            <a:off x="594360" y="6382512"/>
            <a:ext cx="5486400" cy="228600"/>
          </a:xfrm>
          <a:prstGeom prst="rect">
            <a:avLst/>
          </a:prstGeom>
          <a:noFill/>
          <a:ln/>
        </p:spPr>
        <p:txBody>
          <a:bodyPr wrap="square" lIns="0" tIns="0" rIns="0" bIns="0" rtlCol="0" anchor="ctr"/>
          <a:lstStyle/>
          <a:p>
            <a:pPr marL="0" indent="0">
              <a:buNone/>
            </a:pPr>
            <a:r>
              <a:rPr lang="en-US" sz="800" dirty="0">
                <a:solidFill>
                  <a:srgbClr val="9B9B9B"/>
                </a:solidFill>
                <a:latin typeface="Arial" pitchFamily="34" charset="0"/>
                <a:ea typeface="Arial" pitchFamily="34" charset="-122"/>
                <a:cs typeface="Arial" pitchFamily="34" charset="-120"/>
              </a:rPr>
              <a:t>Opportunity Catalyst  |  Sprint 2 Retrospective</a:t>
            </a:r>
            <a:endParaRPr lang="en-US" sz="800" dirty="0"/>
          </a:p>
        </p:txBody>
      </p:sp>
      <p:sp>
        <p:nvSpPr>
          <p:cNvPr id="10" name="Text 7"/>
          <p:cNvSpPr txBox="1"/>
          <p:nvPr/>
        </p:nvSpPr>
        <p:spPr>
          <a:xfrm>
            <a:off x="10972800" y="6382512"/>
            <a:ext cx="621792" cy="228600"/>
          </a:xfrm>
          <a:prstGeom prst="rect">
            <a:avLst/>
          </a:prstGeom>
          <a:noFill/>
          <a:ln/>
        </p:spPr>
        <p:txBody>
          <a:bodyPr wrap="square" lIns="0" tIns="0" rIns="0" bIns="0" rtlCol="0" anchor="ctr"/>
          <a:lstStyle/>
          <a:p>
            <a:pPr marL="0" indent="0" algn="r">
              <a:buNone/>
            </a:pPr>
            <a:r>
              <a:rPr lang="en-US" sz="800" dirty="0">
                <a:solidFill>
                  <a:srgbClr val="9B9B9B"/>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94360" y="402336"/>
            <a:ext cx="137160" cy="137160"/>
          </a:xfrm>
          <a:prstGeom prst="rect">
            <a:avLst/>
          </a:prstGeom>
          <a:solidFill>
            <a:srgbClr val="CC0000"/>
          </a:solidFill>
          <a:ln/>
        </p:spPr>
        <p:txBody>
          <a:bodyPr/>
          <a:lstStyle/>
          <a:p>
            <a:endParaRPr lang="en-GB"/>
          </a:p>
        </p:txBody>
      </p:sp>
      <p:sp>
        <p:nvSpPr>
          <p:cNvPr id="3" name="Text 1"/>
          <p:cNvSpPr txBox="1"/>
          <p:nvPr/>
        </p:nvSpPr>
        <p:spPr>
          <a:xfrm>
            <a:off x="594360" y="658368"/>
            <a:ext cx="10725912" cy="457200"/>
          </a:xfrm>
          <a:prstGeom prst="rect">
            <a:avLst/>
          </a:prstGeom>
          <a:noFill/>
          <a:ln/>
        </p:spPr>
        <p:txBody>
          <a:bodyPr wrap="square" lIns="0" tIns="0" rIns="0" bIns="0" rtlCol="0" anchor="ctr"/>
          <a:lstStyle/>
          <a:p>
            <a:pPr marL="0" indent="0">
              <a:buNone/>
            </a:pPr>
            <a:r>
              <a:rPr lang="en-US" sz="2700" b="1" dirty="0">
                <a:solidFill>
                  <a:srgbClr val="1A1A1A"/>
                </a:solidFill>
                <a:latin typeface="Arial" pitchFamily="34" charset="0"/>
                <a:ea typeface="Arial" pitchFamily="34" charset="-122"/>
                <a:cs typeface="Arial" pitchFamily="34" charset="-120"/>
              </a:rPr>
              <a:t>What Sprint 2 delivered</a:t>
            </a:r>
            <a:endParaRPr lang="en-US" sz="2700" dirty="0"/>
          </a:p>
        </p:txBody>
      </p:sp>
      <p:sp>
        <p:nvSpPr>
          <p:cNvPr id="4" name="Text 2"/>
          <p:cNvSpPr txBox="1"/>
          <p:nvPr/>
        </p:nvSpPr>
        <p:spPr>
          <a:xfrm>
            <a:off x="594360" y="1152144"/>
            <a:ext cx="10725912" cy="292608"/>
          </a:xfrm>
          <a:prstGeom prst="rect">
            <a:avLst/>
          </a:prstGeom>
          <a:noFill/>
          <a:ln/>
        </p:spPr>
        <p:txBody>
          <a:bodyPr wrap="square" lIns="0" tIns="0" rIns="0" bIns="0" rtlCol="0" anchor="ctr"/>
          <a:lstStyle/>
          <a:p>
            <a:pPr marL="0" indent="0">
              <a:buNone/>
            </a:pPr>
            <a:r>
              <a:rPr lang="en-US" sz="1150" dirty="0">
                <a:solidFill>
                  <a:srgbClr val="6E6E6E"/>
                </a:solidFill>
                <a:latin typeface="Arial" pitchFamily="34" charset="0"/>
                <a:ea typeface="Arial" pitchFamily="34" charset="-122"/>
                <a:cs typeface="Arial" pitchFamily="34" charset="-120"/>
              </a:rPr>
              <a:t>48 completed items, grouped by the part of the user journey they support</a:t>
            </a:r>
            <a:endParaRPr lang="en-US" sz="1150" dirty="0"/>
          </a:p>
        </p:txBody>
      </p:sp>
      <p:sp>
        <p:nvSpPr>
          <p:cNvPr id="5" name="Shape 3"/>
          <p:cNvSpPr/>
          <p:nvPr/>
        </p:nvSpPr>
        <p:spPr>
          <a:xfrm>
            <a:off x="594360" y="1627632"/>
            <a:ext cx="3483864" cy="1938528"/>
          </a:xfrm>
          <a:prstGeom prst="rect">
            <a:avLst/>
          </a:prstGeom>
          <a:solidFill>
            <a:srgbClr val="F7F7F7"/>
          </a:solidFill>
          <a:ln/>
        </p:spPr>
        <p:txBody>
          <a:bodyPr/>
          <a:lstStyle/>
          <a:p>
            <a:endParaRPr lang="en-GB"/>
          </a:p>
        </p:txBody>
      </p:sp>
      <p:sp>
        <p:nvSpPr>
          <p:cNvPr id="6" name="Shape 4"/>
          <p:cNvSpPr/>
          <p:nvPr/>
        </p:nvSpPr>
        <p:spPr>
          <a:xfrm>
            <a:off x="868680" y="1883664"/>
            <a:ext cx="118872" cy="118872"/>
          </a:xfrm>
          <a:prstGeom prst="rect">
            <a:avLst/>
          </a:prstGeom>
          <a:solidFill>
            <a:srgbClr val="CC0000"/>
          </a:solidFill>
          <a:ln/>
        </p:spPr>
        <p:txBody>
          <a:bodyPr/>
          <a:lstStyle/>
          <a:p>
            <a:endParaRPr lang="en-GB"/>
          </a:p>
        </p:txBody>
      </p:sp>
      <p:sp>
        <p:nvSpPr>
          <p:cNvPr id="7" name="Text 5"/>
          <p:cNvSpPr txBox="1"/>
          <p:nvPr/>
        </p:nvSpPr>
        <p:spPr>
          <a:xfrm>
            <a:off x="1124712" y="1783080"/>
            <a:ext cx="2331720" cy="274320"/>
          </a:xfrm>
          <a:prstGeom prst="rect">
            <a:avLst/>
          </a:prstGeom>
          <a:noFill/>
          <a:ln/>
        </p:spPr>
        <p:txBody>
          <a:bodyPr wrap="square" lIns="0" tIns="0" rIns="0" bIns="0" rtlCol="0" anchor="ctr"/>
          <a:lstStyle/>
          <a:p>
            <a:pPr marL="0" indent="0">
              <a:buNone/>
            </a:pPr>
            <a:r>
              <a:rPr lang="en-US" sz="1250" b="1" dirty="0">
                <a:solidFill>
                  <a:srgbClr val="1A1A1A"/>
                </a:solidFill>
                <a:latin typeface="Arial" pitchFamily="34" charset="0"/>
                <a:ea typeface="Arial" pitchFamily="34" charset="-122"/>
                <a:cs typeface="Arial" pitchFamily="34" charset="-120"/>
              </a:rPr>
              <a:t>Peer set selection</a:t>
            </a:r>
            <a:endParaRPr lang="en-US" sz="1250" dirty="0"/>
          </a:p>
        </p:txBody>
      </p:sp>
      <p:sp>
        <p:nvSpPr>
          <p:cNvPr id="8" name="Text 6"/>
          <p:cNvSpPr txBox="1"/>
          <p:nvPr/>
        </p:nvSpPr>
        <p:spPr>
          <a:xfrm>
            <a:off x="3291840" y="1801368"/>
            <a:ext cx="640080" cy="256032"/>
          </a:xfrm>
          <a:prstGeom prst="rect">
            <a:avLst/>
          </a:prstGeom>
          <a:noFill/>
          <a:ln/>
        </p:spPr>
        <p:txBody>
          <a:bodyPr wrap="square" lIns="0" tIns="0" rIns="0" bIns="0" rtlCol="0" anchor="ctr"/>
          <a:lstStyle/>
          <a:p>
            <a:pPr marL="0" indent="0" algn="r">
              <a:buNone/>
            </a:pPr>
            <a:r>
              <a:rPr lang="en-US" sz="900" dirty="0">
                <a:solidFill>
                  <a:srgbClr val="9B9B9B"/>
                </a:solidFill>
                <a:latin typeface="Arial" pitchFamily="34" charset="0"/>
                <a:ea typeface="Arial" pitchFamily="34" charset="-122"/>
                <a:cs typeface="Arial" pitchFamily="34" charset="-120"/>
              </a:rPr>
              <a:t>9 items</a:t>
            </a:r>
            <a:endParaRPr lang="en-US" sz="900" dirty="0"/>
          </a:p>
        </p:txBody>
      </p:sp>
      <p:sp>
        <p:nvSpPr>
          <p:cNvPr id="9" name="Text 7"/>
          <p:cNvSpPr txBox="1"/>
          <p:nvPr/>
        </p:nvSpPr>
        <p:spPr>
          <a:xfrm>
            <a:off x="1124712" y="2075688"/>
            <a:ext cx="2834640" cy="219456"/>
          </a:xfrm>
          <a:prstGeom prst="rect">
            <a:avLst/>
          </a:prstGeom>
          <a:noFill/>
          <a:ln/>
        </p:spPr>
        <p:txBody>
          <a:bodyPr wrap="square" lIns="0" tIns="0" rIns="0" bIns="0" rtlCol="0" anchor="ctr"/>
          <a:lstStyle/>
          <a:p>
            <a:pPr marL="0" indent="0">
              <a:buNone/>
            </a:pPr>
            <a:r>
              <a:rPr lang="en-US" sz="850" b="1" dirty="0">
                <a:solidFill>
                  <a:srgbClr val="CC0000"/>
                </a:solidFill>
                <a:latin typeface="Arial" pitchFamily="34" charset="0"/>
                <a:ea typeface="Arial" pitchFamily="34" charset="-122"/>
                <a:cs typeface="Arial" pitchFamily="34" charset="-120"/>
              </a:rPr>
              <a:t>Journey step: peer selection</a:t>
            </a:r>
            <a:endParaRPr lang="en-US" sz="850" dirty="0"/>
          </a:p>
        </p:txBody>
      </p:sp>
      <p:sp>
        <p:nvSpPr>
          <p:cNvPr id="10" name="Text 8"/>
          <p:cNvSpPr txBox="1"/>
          <p:nvPr/>
        </p:nvSpPr>
        <p:spPr>
          <a:xfrm>
            <a:off x="868680" y="2359152"/>
            <a:ext cx="3017520" cy="1170432"/>
          </a:xfrm>
          <a:prstGeom prst="rect">
            <a:avLst/>
          </a:prstGeom>
          <a:noFill/>
          <a:ln/>
        </p:spPr>
        <p:txBody>
          <a:bodyPr wrap="square" lIns="0" tIns="0" rIns="0" bIns="0" rtlCol="0" anchor="t"/>
          <a:lstStyle/>
          <a:p>
            <a:pPr marL="342900" indent="-342900">
              <a:lnSpc>
                <a:spcPts val="1200"/>
              </a:lnSpc>
              <a:spcAft>
                <a:spcPts val="200"/>
              </a:spcAft>
              <a:buSzPct val="100000"/>
              <a:buChar char="•"/>
            </a:pPr>
            <a:r>
              <a:rPr lang="en-US" sz="950" dirty="0">
                <a:solidFill>
                  <a:srgbClr val="4A4A4A"/>
                </a:solidFill>
                <a:latin typeface="Arial" pitchFamily="34" charset="0"/>
                <a:ea typeface="Arial" pitchFamily="34" charset="-122"/>
                <a:cs typeface="Arial" pitchFamily="34" charset="-120"/>
              </a:rPr>
              <a:t>Peer set screen, with add, remove and adjust</a:t>
            </a:r>
            <a:endParaRPr lang="en-US" sz="950" dirty="0"/>
          </a:p>
          <a:p>
            <a:pPr marL="342900" indent="-342900">
              <a:lnSpc>
                <a:spcPts val="1200"/>
              </a:lnSpc>
              <a:spcAft>
                <a:spcPts val="200"/>
              </a:spcAft>
              <a:buSzPct val="100000"/>
              <a:buChar char="•"/>
            </a:pPr>
            <a:r>
              <a:rPr lang="en-US" sz="950" dirty="0">
                <a:solidFill>
                  <a:srgbClr val="4A4A4A"/>
                </a:solidFill>
                <a:latin typeface="Arial" pitchFamily="34" charset="0"/>
                <a:ea typeface="Arial" pitchFamily="34" charset="-122"/>
                <a:cs typeface="Arial" pitchFamily="34" charset="-120"/>
              </a:rPr>
              <a:t>Agents that propose a peer set and explain it</a:t>
            </a:r>
            <a:endParaRPr lang="en-US" sz="950" dirty="0"/>
          </a:p>
          <a:p>
            <a:pPr marL="342900" indent="-342900">
              <a:lnSpc>
                <a:spcPts val="1200"/>
              </a:lnSpc>
              <a:spcAft>
                <a:spcPts val="200"/>
              </a:spcAft>
              <a:buSzPct val="100000"/>
              <a:buChar char="•"/>
            </a:pPr>
            <a:r>
              <a:rPr lang="en-US" sz="950" dirty="0">
                <a:solidFill>
                  <a:srgbClr val="4A4A4A"/>
                </a:solidFill>
                <a:latin typeface="Arial" pitchFamily="34" charset="0"/>
                <a:ea typeface="Arial" pitchFamily="34" charset="-122"/>
                <a:cs typeface="Arial" pitchFamily="34" charset="-120"/>
              </a:rPr>
              <a:t>Sector detection and taxonomy classification</a:t>
            </a:r>
            <a:endParaRPr lang="en-US" sz="950" dirty="0"/>
          </a:p>
          <a:p>
            <a:pPr marL="342900" indent="-342900">
              <a:lnSpc>
                <a:spcPts val="1200"/>
              </a:lnSpc>
              <a:spcAft>
                <a:spcPts val="200"/>
              </a:spcAft>
              <a:buSzPct val="100000"/>
              <a:buChar char="•"/>
            </a:pPr>
            <a:r>
              <a:rPr lang="en-US" sz="950" dirty="0">
                <a:solidFill>
                  <a:srgbClr val="4A4A4A"/>
                </a:solidFill>
                <a:latin typeface="Arial" pitchFamily="34" charset="0"/>
                <a:ea typeface="Arial" pitchFamily="34" charset="-122"/>
                <a:cs typeface="Arial" pitchFamily="34" charset="-120"/>
              </a:rPr>
              <a:t>Universe scoping, long list and peer enrichment</a:t>
            </a:r>
            <a:endParaRPr lang="en-US" sz="950" dirty="0"/>
          </a:p>
          <a:p>
            <a:pPr marL="342900" indent="-342900">
              <a:lnSpc>
                <a:spcPts val="1200"/>
              </a:lnSpc>
              <a:spcAft>
                <a:spcPts val="200"/>
              </a:spcAft>
              <a:buSzPct val="100000"/>
              <a:buChar char="•"/>
            </a:pPr>
            <a:r>
              <a:rPr lang="en-US" sz="950" dirty="0">
                <a:solidFill>
                  <a:srgbClr val="4A4A4A"/>
                </a:solidFill>
                <a:latin typeface="Arial" pitchFamily="34" charset="0"/>
                <a:ea typeface="Arial" pitchFamily="34" charset="-122"/>
                <a:cs typeface="Arial" pitchFamily="34" charset="-120"/>
              </a:rPr>
              <a:t>Comparability assessment and confidence scoring</a:t>
            </a:r>
            <a:endParaRPr lang="en-US" sz="950" dirty="0"/>
          </a:p>
        </p:txBody>
      </p:sp>
      <p:sp>
        <p:nvSpPr>
          <p:cNvPr id="11" name="Shape 9"/>
          <p:cNvSpPr/>
          <p:nvPr/>
        </p:nvSpPr>
        <p:spPr>
          <a:xfrm>
            <a:off x="4352544" y="1627632"/>
            <a:ext cx="3483864" cy="1938528"/>
          </a:xfrm>
          <a:prstGeom prst="rect">
            <a:avLst/>
          </a:prstGeom>
          <a:solidFill>
            <a:srgbClr val="F7F7F7"/>
          </a:solidFill>
          <a:ln/>
        </p:spPr>
        <p:txBody>
          <a:bodyPr/>
          <a:lstStyle/>
          <a:p>
            <a:endParaRPr lang="en-GB"/>
          </a:p>
        </p:txBody>
      </p:sp>
      <p:sp>
        <p:nvSpPr>
          <p:cNvPr id="12" name="Shape 10"/>
          <p:cNvSpPr/>
          <p:nvPr/>
        </p:nvSpPr>
        <p:spPr>
          <a:xfrm>
            <a:off x="4626864" y="1883664"/>
            <a:ext cx="118872" cy="118872"/>
          </a:xfrm>
          <a:prstGeom prst="rect">
            <a:avLst/>
          </a:prstGeom>
          <a:solidFill>
            <a:srgbClr val="CC0000"/>
          </a:solidFill>
          <a:ln/>
        </p:spPr>
        <p:txBody>
          <a:bodyPr/>
          <a:lstStyle/>
          <a:p>
            <a:endParaRPr lang="en-GB"/>
          </a:p>
        </p:txBody>
      </p:sp>
      <p:sp>
        <p:nvSpPr>
          <p:cNvPr id="13" name="Text 11"/>
          <p:cNvSpPr txBox="1"/>
          <p:nvPr/>
        </p:nvSpPr>
        <p:spPr>
          <a:xfrm>
            <a:off x="4882896" y="1783080"/>
            <a:ext cx="2331720" cy="274320"/>
          </a:xfrm>
          <a:prstGeom prst="rect">
            <a:avLst/>
          </a:prstGeom>
          <a:noFill/>
          <a:ln/>
        </p:spPr>
        <p:txBody>
          <a:bodyPr wrap="square" lIns="0" tIns="0" rIns="0" bIns="0" rtlCol="0" anchor="ctr"/>
          <a:lstStyle/>
          <a:p>
            <a:pPr marL="0" indent="0">
              <a:buNone/>
            </a:pPr>
            <a:r>
              <a:rPr lang="en-US" sz="1250" b="1" dirty="0">
                <a:solidFill>
                  <a:srgbClr val="1A1A1A"/>
                </a:solidFill>
                <a:latin typeface="Arial" pitchFamily="34" charset="0"/>
                <a:ea typeface="Arial" pitchFamily="34" charset="-122"/>
                <a:cs typeface="Arial" pitchFamily="34" charset="-120"/>
              </a:rPr>
              <a:t>Evidence and audit trail</a:t>
            </a:r>
            <a:endParaRPr lang="en-US" sz="1250" dirty="0"/>
          </a:p>
        </p:txBody>
      </p:sp>
      <p:sp>
        <p:nvSpPr>
          <p:cNvPr id="14" name="Text 12"/>
          <p:cNvSpPr txBox="1"/>
          <p:nvPr/>
        </p:nvSpPr>
        <p:spPr>
          <a:xfrm>
            <a:off x="7050024" y="1801368"/>
            <a:ext cx="640080" cy="256032"/>
          </a:xfrm>
          <a:prstGeom prst="rect">
            <a:avLst/>
          </a:prstGeom>
          <a:noFill/>
          <a:ln/>
        </p:spPr>
        <p:txBody>
          <a:bodyPr wrap="square" lIns="0" tIns="0" rIns="0" bIns="0" rtlCol="0" anchor="ctr"/>
          <a:lstStyle/>
          <a:p>
            <a:pPr marL="0" indent="0" algn="r">
              <a:buNone/>
            </a:pPr>
            <a:r>
              <a:rPr lang="en-US" sz="900" dirty="0">
                <a:solidFill>
                  <a:srgbClr val="9B9B9B"/>
                </a:solidFill>
                <a:latin typeface="Arial" pitchFamily="34" charset="0"/>
                <a:ea typeface="Arial" pitchFamily="34" charset="-122"/>
                <a:cs typeface="Arial" pitchFamily="34" charset="-120"/>
              </a:rPr>
              <a:t>7 items</a:t>
            </a:r>
            <a:endParaRPr lang="en-US" sz="900" dirty="0"/>
          </a:p>
        </p:txBody>
      </p:sp>
      <p:sp>
        <p:nvSpPr>
          <p:cNvPr id="15" name="Text 13"/>
          <p:cNvSpPr txBox="1"/>
          <p:nvPr/>
        </p:nvSpPr>
        <p:spPr>
          <a:xfrm>
            <a:off x="4882896" y="2075688"/>
            <a:ext cx="2834640" cy="219456"/>
          </a:xfrm>
          <a:prstGeom prst="rect">
            <a:avLst/>
          </a:prstGeom>
          <a:noFill/>
          <a:ln/>
        </p:spPr>
        <p:txBody>
          <a:bodyPr wrap="square" lIns="0" tIns="0" rIns="0" bIns="0" rtlCol="0" anchor="ctr"/>
          <a:lstStyle/>
          <a:p>
            <a:pPr marL="0" indent="0">
              <a:buNone/>
            </a:pPr>
            <a:r>
              <a:rPr lang="en-US" sz="850" b="1" dirty="0">
                <a:solidFill>
                  <a:srgbClr val="CC0000"/>
                </a:solidFill>
                <a:latin typeface="Arial" pitchFamily="34" charset="0"/>
                <a:ea typeface="Arial" pitchFamily="34" charset="-122"/>
                <a:cs typeface="Arial" pitchFamily="34" charset="-120"/>
              </a:rPr>
              <a:t>Journey step: opening any number</a:t>
            </a:r>
            <a:endParaRPr lang="en-US" sz="850" dirty="0"/>
          </a:p>
        </p:txBody>
      </p:sp>
      <p:sp>
        <p:nvSpPr>
          <p:cNvPr id="16" name="Text 14"/>
          <p:cNvSpPr txBox="1"/>
          <p:nvPr/>
        </p:nvSpPr>
        <p:spPr>
          <a:xfrm>
            <a:off x="4626864" y="2359152"/>
            <a:ext cx="3017520" cy="1170432"/>
          </a:xfrm>
          <a:prstGeom prst="rect">
            <a:avLst/>
          </a:prstGeom>
          <a:noFill/>
          <a:ln/>
        </p:spPr>
        <p:txBody>
          <a:bodyPr wrap="square" lIns="0" tIns="0" rIns="0" bIns="0" rtlCol="0" anchor="t"/>
          <a:lstStyle/>
          <a:p>
            <a:pPr marL="342900" indent="-342900">
              <a:lnSpc>
                <a:spcPts val="1200"/>
              </a:lnSpc>
              <a:spcAft>
                <a:spcPts val="200"/>
              </a:spcAft>
              <a:buSzPct val="100000"/>
              <a:buChar char="•"/>
            </a:pPr>
            <a:r>
              <a:rPr lang="en-US" sz="950" dirty="0">
                <a:solidFill>
                  <a:srgbClr val="4A4A4A"/>
                </a:solidFill>
                <a:latin typeface="Arial" pitchFamily="34" charset="0"/>
                <a:ea typeface="Arial" pitchFamily="34" charset="-122"/>
                <a:cs typeface="Arial" pitchFamily="34" charset="-120"/>
              </a:rPr>
              <a:t>Evidence service and the claim contract</a:t>
            </a:r>
            <a:endParaRPr lang="en-US" sz="950" dirty="0"/>
          </a:p>
          <a:p>
            <a:pPr marL="342900" indent="-342900">
              <a:lnSpc>
                <a:spcPts val="1200"/>
              </a:lnSpc>
              <a:spcAft>
                <a:spcPts val="200"/>
              </a:spcAft>
              <a:buSzPct val="100000"/>
              <a:buChar char="•"/>
            </a:pPr>
            <a:r>
              <a:rPr lang="en-US" sz="950" dirty="0">
                <a:solidFill>
                  <a:srgbClr val="4A4A4A"/>
                </a:solidFill>
                <a:latin typeface="Arial" pitchFamily="34" charset="0"/>
                <a:ea typeface="Arial" pitchFamily="34" charset="-122"/>
                <a:cs typeface="Arial" pitchFamily="34" charset="-120"/>
              </a:rPr>
              <a:t>Four-part source audit behind each figure</a:t>
            </a:r>
            <a:endParaRPr lang="en-US" sz="950" dirty="0"/>
          </a:p>
          <a:p>
            <a:pPr marL="342900" indent="-342900">
              <a:lnSpc>
                <a:spcPts val="1200"/>
              </a:lnSpc>
              <a:spcAft>
                <a:spcPts val="200"/>
              </a:spcAft>
              <a:buSzPct val="100000"/>
              <a:buChar char="•"/>
            </a:pPr>
            <a:r>
              <a:rPr lang="en-US" sz="950" dirty="0">
                <a:solidFill>
                  <a:srgbClr val="4A4A4A"/>
                </a:solidFill>
                <a:latin typeface="Arial" pitchFamily="34" charset="0"/>
                <a:ea typeface="Arial" pitchFamily="34" charset="-122"/>
                <a:cs typeface="Arial" pitchFamily="34" charset="-120"/>
              </a:rPr>
              <a:t>Metric acquisition and origin classification</a:t>
            </a:r>
            <a:endParaRPr lang="en-US" sz="950" dirty="0"/>
          </a:p>
          <a:p>
            <a:pPr marL="342900" indent="-342900">
              <a:lnSpc>
                <a:spcPts val="1200"/>
              </a:lnSpc>
              <a:spcAft>
                <a:spcPts val="200"/>
              </a:spcAft>
              <a:buSzPct val="100000"/>
              <a:buChar char="•"/>
            </a:pPr>
            <a:r>
              <a:rPr lang="en-US" sz="950" dirty="0">
                <a:solidFill>
                  <a:srgbClr val="4A4A4A"/>
                </a:solidFill>
                <a:latin typeface="Arial" pitchFamily="34" charset="0"/>
                <a:ea typeface="Arial" pitchFamily="34" charset="-122"/>
                <a:cs typeface="Arial" pitchFamily="34" charset="-120"/>
              </a:rPr>
              <a:t>Reconciliation, imputation and sanity control</a:t>
            </a:r>
            <a:endParaRPr lang="en-US" sz="950" dirty="0"/>
          </a:p>
          <a:p>
            <a:pPr marL="342900" indent="-342900">
              <a:lnSpc>
                <a:spcPts val="1200"/>
              </a:lnSpc>
              <a:spcAft>
                <a:spcPts val="200"/>
              </a:spcAft>
              <a:buSzPct val="100000"/>
              <a:buChar char="•"/>
            </a:pPr>
            <a:r>
              <a:rPr lang="en-US" sz="950" dirty="0">
                <a:solidFill>
                  <a:srgbClr val="4A4A4A"/>
                </a:solidFill>
                <a:latin typeface="Arial" pitchFamily="34" charset="0"/>
                <a:ea typeface="Arial" pitchFamily="34" charset="-122"/>
                <a:cs typeface="Arial" pitchFamily="34" charset="-120"/>
              </a:rPr>
              <a:t>Tamper-evident audit trail and log tab</a:t>
            </a:r>
            <a:endParaRPr lang="en-US" sz="950" dirty="0"/>
          </a:p>
        </p:txBody>
      </p:sp>
      <p:sp>
        <p:nvSpPr>
          <p:cNvPr id="17" name="Shape 15"/>
          <p:cNvSpPr/>
          <p:nvPr/>
        </p:nvSpPr>
        <p:spPr>
          <a:xfrm>
            <a:off x="8110728" y="1627632"/>
            <a:ext cx="3483864" cy="1938528"/>
          </a:xfrm>
          <a:prstGeom prst="rect">
            <a:avLst/>
          </a:prstGeom>
          <a:solidFill>
            <a:srgbClr val="F7F7F7"/>
          </a:solidFill>
          <a:ln/>
        </p:spPr>
        <p:txBody>
          <a:bodyPr/>
          <a:lstStyle/>
          <a:p>
            <a:endParaRPr lang="en-GB"/>
          </a:p>
        </p:txBody>
      </p:sp>
      <p:sp>
        <p:nvSpPr>
          <p:cNvPr id="18" name="Shape 16"/>
          <p:cNvSpPr/>
          <p:nvPr/>
        </p:nvSpPr>
        <p:spPr>
          <a:xfrm>
            <a:off x="8385048" y="1883664"/>
            <a:ext cx="118872" cy="118872"/>
          </a:xfrm>
          <a:prstGeom prst="rect">
            <a:avLst/>
          </a:prstGeom>
          <a:solidFill>
            <a:srgbClr val="CC0000"/>
          </a:solidFill>
          <a:ln/>
        </p:spPr>
        <p:txBody>
          <a:bodyPr/>
          <a:lstStyle/>
          <a:p>
            <a:endParaRPr lang="en-GB"/>
          </a:p>
        </p:txBody>
      </p:sp>
      <p:sp>
        <p:nvSpPr>
          <p:cNvPr id="19" name="Text 17"/>
          <p:cNvSpPr txBox="1"/>
          <p:nvPr/>
        </p:nvSpPr>
        <p:spPr>
          <a:xfrm>
            <a:off x="8641080" y="1783080"/>
            <a:ext cx="2331720" cy="274320"/>
          </a:xfrm>
          <a:prstGeom prst="rect">
            <a:avLst/>
          </a:prstGeom>
          <a:noFill/>
          <a:ln/>
        </p:spPr>
        <p:txBody>
          <a:bodyPr wrap="square" lIns="0" tIns="0" rIns="0" bIns="0" rtlCol="0" anchor="ctr"/>
          <a:lstStyle/>
          <a:p>
            <a:pPr marL="0" indent="0">
              <a:buNone/>
            </a:pPr>
            <a:r>
              <a:rPr lang="en-US" sz="1250" b="1" dirty="0">
                <a:solidFill>
                  <a:srgbClr val="1A1A1A"/>
                </a:solidFill>
                <a:latin typeface="Arial" pitchFamily="34" charset="0"/>
                <a:ea typeface="Arial" pitchFamily="34" charset="-122"/>
                <a:cs typeface="Arial" pitchFamily="34" charset="-120"/>
              </a:rPr>
              <a:t>Screens and journey</a:t>
            </a:r>
            <a:endParaRPr lang="en-US" sz="1250" dirty="0"/>
          </a:p>
        </p:txBody>
      </p:sp>
      <p:sp>
        <p:nvSpPr>
          <p:cNvPr id="20" name="Text 18"/>
          <p:cNvSpPr txBox="1"/>
          <p:nvPr/>
        </p:nvSpPr>
        <p:spPr>
          <a:xfrm>
            <a:off x="10808208" y="1801368"/>
            <a:ext cx="640080" cy="256032"/>
          </a:xfrm>
          <a:prstGeom prst="rect">
            <a:avLst/>
          </a:prstGeom>
          <a:noFill/>
          <a:ln/>
        </p:spPr>
        <p:txBody>
          <a:bodyPr wrap="square" lIns="0" tIns="0" rIns="0" bIns="0" rtlCol="0" anchor="ctr"/>
          <a:lstStyle/>
          <a:p>
            <a:pPr marL="0" indent="0" algn="r">
              <a:buNone/>
            </a:pPr>
            <a:r>
              <a:rPr lang="en-US" sz="900" dirty="0">
                <a:solidFill>
                  <a:srgbClr val="9B9B9B"/>
                </a:solidFill>
                <a:latin typeface="Arial" pitchFamily="34" charset="0"/>
                <a:ea typeface="Arial" pitchFamily="34" charset="-122"/>
                <a:cs typeface="Arial" pitchFamily="34" charset="-120"/>
              </a:rPr>
              <a:t>6 items</a:t>
            </a:r>
            <a:endParaRPr lang="en-US" sz="900" dirty="0"/>
          </a:p>
        </p:txBody>
      </p:sp>
      <p:sp>
        <p:nvSpPr>
          <p:cNvPr id="21" name="Text 19"/>
          <p:cNvSpPr txBox="1"/>
          <p:nvPr/>
        </p:nvSpPr>
        <p:spPr>
          <a:xfrm>
            <a:off x="8641080" y="2075688"/>
            <a:ext cx="2834640" cy="219456"/>
          </a:xfrm>
          <a:prstGeom prst="rect">
            <a:avLst/>
          </a:prstGeom>
          <a:noFill/>
          <a:ln/>
        </p:spPr>
        <p:txBody>
          <a:bodyPr wrap="square" lIns="0" tIns="0" rIns="0" bIns="0" rtlCol="0" anchor="ctr"/>
          <a:lstStyle/>
          <a:p>
            <a:pPr marL="0" indent="0">
              <a:buNone/>
            </a:pPr>
            <a:r>
              <a:rPr lang="en-US" sz="850" b="1" dirty="0">
                <a:solidFill>
                  <a:srgbClr val="CC0000"/>
                </a:solidFill>
                <a:latin typeface="Arial" pitchFamily="34" charset="0"/>
                <a:ea typeface="Arial" pitchFamily="34" charset="-122"/>
                <a:cs typeface="Arial" pitchFamily="34" charset="-120"/>
              </a:rPr>
              <a:t>Journey steps: dashboard and target setup</a:t>
            </a:r>
            <a:endParaRPr lang="en-US" sz="850" dirty="0"/>
          </a:p>
        </p:txBody>
      </p:sp>
      <p:sp>
        <p:nvSpPr>
          <p:cNvPr id="22" name="Text 20"/>
          <p:cNvSpPr txBox="1"/>
          <p:nvPr/>
        </p:nvSpPr>
        <p:spPr>
          <a:xfrm>
            <a:off x="8385048" y="2359152"/>
            <a:ext cx="3017520" cy="1170432"/>
          </a:xfrm>
          <a:prstGeom prst="rect">
            <a:avLst/>
          </a:prstGeom>
          <a:noFill/>
          <a:ln/>
        </p:spPr>
        <p:txBody>
          <a:bodyPr wrap="square" lIns="0" tIns="0" rIns="0" bIns="0" rtlCol="0" anchor="t"/>
          <a:lstStyle/>
          <a:p>
            <a:pPr marL="342900" indent="-342900">
              <a:lnSpc>
                <a:spcPts val="1200"/>
              </a:lnSpc>
              <a:spcAft>
                <a:spcPts val="200"/>
              </a:spcAft>
              <a:buSzPct val="100000"/>
              <a:buChar char="•"/>
            </a:pPr>
            <a:r>
              <a:rPr lang="en-US" sz="950" dirty="0">
                <a:solidFill>
                  <a:srgbClr val="4A4A4A"/>
                </a:solidFill>
                <a:latin typeface="Arial" pitchFamily="34" charset="0"/>
                <a:ea typeface="Arial" pitchFamily="34" charset="-122"/>
                <a:cs typeface="Arial" pitchFamily="34" charset="-120"/>
              </a:rPr>
              <a:t>Dashboard screen and target setup screen</a:t>
            </a:r>
            <a:endParaRPr lang="en-US" sz="950" dirty="0"/>
          </a:p>
          <a:p>
            <a:pPr marL="342900" indent="-342900">
              <a:lnSpc>
                <a:spcPts val="1200"/>
              </a:lnSpc>
              <a:spcAft>
                <a:spcPts val="200"/>
              </a:spcAft>
              <a:buSzPct val="100000"/>
              <a:buChar char="•"/>
            </a:pPr>
            <a:r>
              <a:rPr lang="en-US" sz="950" dirty="0">
                <a:solidFill>
                  <a:srgbClr val="4A4A4A"/>
                </a:solidFill>
                <a:latin typeface="Arial" pitchFamily="34" charset="0"/>
                <a:ea typeface="Arial" pitchFamily="34" charset="-122"/>
                <a:cs typeface="Arial" pitchFamily="34" charset="-120"/>
              </a:rPr>
              <a:t>Target setup API wired to the screen</a:t>
            </a:r>
            <a:endParaRPr lang="en-US" sz="950" dirty="0"/>
          </a:p>
          <a:p>
            <a:pPr marL="342900" indent="-342900">
              <a:lnSpc>
                <a:spcPts val="1200"/>
              </a:lnSpc>
              <a:spcAft>
                <a:spcPts val="200"/>
              </a:spcAft>
              <a:buSzPct val="100000"/>
              <a:buChar char="•"/>
            </a:pPr>
            <a:r>
              <a:rPr lang="en-US" sz="950" dirty="0">
                <a:solidFill>
                  <a:srgbClr val="4A4A4A"/>
                </a:solidFill>
                <a:latin typeface="Arial" pitchFamily="34" charset="0"/>
                <a:ea typeface="Arial" pitchFamily="34" charset="-122"/>
                <a:cs typeface="Arial" pitchFamily="34" charset="-120"/>
              </a:rPr>
              <a:t>Live run progress streamed back to the screen</a:t>
            </a:r>
            <a:endParaRPr lang="en-US" sz="950" dirty="0"/>
          </a:p>
          <a:p>
            <a:pPr marL="342900" indent="-342900">
              <a:lnSpc>
                <a:spcPts val="1200"/>
              </a:lnSpc>
              <a:spcAft>
                <a:spcPts val="200"/>
              </a:spcAft>
              <a:buSzPct val="100000"/>
              <a:buChar char="•"/>
            </a:pPr>
            <a:r>
              <a:rPr lang="en-US" sz="950" dirty="0">
                <a:solidFill>
                  <a:srgbClr val="4A4A4A"/>
                </a:solidFill>
                <a:latin typeface="Arial" pitchFamily="34" charset="0"/>
                <a:ea typeface="Arial" pitchFamily="34" charset="-122"/>
                <a:cs typeface="Arial" pitchFamily="34" charset="-120"/>
              </a:rPr>
              <a:t>Engagement intent carried through the journey</a:t>
            </a:r>
            <a:endParaRPr lang="en-US" sz="950" dirty="0"/>
          </a:p>
        </p:txBody>
      </p:sp>
      <p:sp>
        <p:nvSpPr>
          <p:cNvPr id="23" name="Shape 21"/>
          <p:cNvSpPr/>
          <p:nvPr/>
        </p:nvSpPr>
        <p:spPr>
          <a:xfrm>
            <a:off x="594360" y="3712464"/>
            <a:ext cx="3483864" cy="1938528"/>
          </a:xfrm>
          <a:prstGeom prst="rect">
            <a:avLst/>
          </a:prstGeom>
          <a:solidFill>
            <a:srgbClr val="F7F7F7"/>
          </a:solidFill>
          <a:ln/>
        </p:spPr>
        <p:txBody>
          <a:bodyPr/>
          <a:lstStyle/>
          <a:p>
            <a:endParaRPr lang="en-GB"/>
          </a:p>
        </p:txBody>
      </p:sp>
      <p:sp>
        <p:nvSpPr>
          <p:cNvPr id="24" name="Shape 22"/>
          <p:cNvSpPr/>
          <p:nvPr/>
        </p:nvSpPr>
        <p:spPr>
          <a:xfrm>
            <a:off x="868680" y="3968496"/>
            <a:ext cx="118872" cy="118872"/>
          </a:xfrm>
          <a:prstGeom prst="rect">
            <a:avLst/>
          </a:prstGeom>
          <a:solidFill>
            <a:srgbClr val="CC0000"/>
          </a:solidFill>
          <a:ln/>
        </p:spPr>
        <p:txBody>
          <a:bodyPr/>
          <a:lstStyle/>
          <a:p>
            <a:endParaRPr lang="en-GB"/>
          </a:p>
        </p:txBody>
      </p:sp>
      <p:sp>
        <p:nvSpPr>
          <p:cNvPr id="25" name="Text 23"/>
          <p:cNvSpPr txBox="1"/>
          <p:nvPr/>
        </p:nvSpPr>
        <p:spPr>
          <a:xfrm>
            <a:off x="1124712" y="3867912"/>
            <a:ext cx="2331720" cy="274320"/>
          </a:xfrm>
          <a:prstGeom prst="rect">
            <a:avLst/>
          </a:prstGeom>
          <a:noFill/>
          <a:ln/>
        </p:spPr>
        <p:txBody>
          <a:bodyPr wrap="square" lIns="0" tIns="0" rIns="0" bIns="0" rtlCol="0" anchor="ctr"/>
          <a:lstStyle/>
          <a:p>
            <a:pPr marL="0" indent="0">
              <a:buNone/>
            </a:pPr>
            <a:r>
              <a:rPr lang="en-US" sz="1250" b="1" dirty="0">
                <a:solidFill>
                  <a:srgbClr val="1A1A1A"/>
                </a:solidFill>
                <a:latin typeface="Arial" pitchFamily="34" charset="0"/>
                <a:ea typeface="Arial" pitchFamily="34" charset="-122"/>
                <a:cs typeface="Arial" pitchFamily="34" charset="-120"/>
              </a:rPr>
              <a:t>Data foundations</a:t>
            </a:r>
            <a:endParaRPr lang="en-US" sz="1250" dirty="0"/>
          </a:p>
        </p:txBody>
      </p:sp>
      <p:sp>
        <p:nvSpPr>
          <p:cNvPr id="26" name="Text 24"/>
          <p:cNvSpPr txBox="1"/>
          <p:nvPr/>
        </p:nvSpPr>
        <p:spPr>
          <a:xfrm>
            <a:off x="3291840" y="3886200"/>
            <a:ext cx="640080" cy="256032"/>
          </a:xfrm>
          <a:prstGeom prst="rect">
            <a:avLst/>
          </a:prstGeom>
          <a:noFill/>
          <a:ln/>
        </p:spPr>
        <p:txBody>
          <a:bodyPr wrap="square" lIns="0" tIns="0" rIns="0" bIns="0" rtlCol="0" anchor="ctr"/>
          <a:lstStyle/>
          <a:p>
            <a:pPr marL="0" indent="0" algn="r">
              <a:buNone/>
            </a:pPr>
            <a:r>
              <a:rPr lang="en-US" sz="900" dirty="0">
                <a:solidFill>
                  <a:srgbClr val="9B9B9B"/>
                </a:solidFill>
                <a:latin typeface="Arial" pitchFamily="34" charset="0"/>
                <a:ea typeface="Arial" pitchFamily="34" charset="-122"/>
                <a:cs typeface="Arial" pitchFamily="34" charset="-120"/>
              </a:rPr>
              <a:t>8 items</a:t>
            </a:r>
            <a:endParaRPr lang="en-US" sz="900" dirty="0"/>
          </a:p>
        </p:txBody>
      </p:sp>
      <p:sp>
        <p:nvSpPr>
          <p:cNvPr id="27" name="Text 25"/>
          <p:cNvSpPr txBox="1"/>
          <p:nvPr/>
        </p:nvSpPr>
        <p:spPr>
          <a:xfrm>
            <a:off x="1124712" y="4160520"/>
            <a:ext cx="2834640" cy="219456"/>
          </a:xfrm>
          <a:prstGeom prst="rect">
            <a:avLst/>
          </a:prstGeom>
          <a:noFill/>
          <a:ln/>
        </p:spPr>
        <p:txBody>
          <a:bodyPr wrap="square" lIns="0" tIns="0" rIns="0" bIns="0" rtlCol="0" anchor="ctr"/>
          <a:lstStyle/>
          <a:p>
            <a:pPr marL="0" indent="0">
              <a:buNone/>
            </a:pPr>
            <a:r>
              <a:rPr lang="en-US" sz="850" b="1" dirty="0">
                <a:solidFill>
                  <a:srgbClr val="CC0000"/>
                </a:solidFill>
                <a:latin typeface="Arial" pitchFamily="34" charset="0"/>
                <a:ea typeface="Arial" pitchFamily="34" charset="-122"/>
                <a:cs typeface="Arial" pitchFamily="34" charset="-120"/>
              </a:rPr>
              <a:t>Behind the scenes: data and taxonomy</a:t>
            </a:r>
            <a:endParaRPr lang="en-US" sz="850" dirty="0"/>
          </a:p>
        </p:txBody>
      </p:sp>
      <p:sp>
        <p:nvSpPr>
          <p:cNvPr id="28" name="Text 26"/>
          <p:cNvSpPr txBox="1"/>
          <p:nvPr/>
        </p:nvSpPr>
        <p:spPr>
          <a:xfrm>
            <a:off x="868680" y="4443984"/>
            <a:ext cx="3017520" cy="1170432"/>
          </a:xfrm>
          <a:prstGeom prst="rect">
            <a:avLst/>
          </a:prstGeom>
          <a:noFill/>
          <a:ln/>
        </p:spPr>
        <p:txBody>
          <a:bodyPr wrap="square" lIns="0" tIns="0" rIns="0" bIns="0" rtlCol="0" anchor="t"/>
          <a:lstStyle/>
          <a:p>
            <a:pPr marL="342900" indent="-342900">
              <a:lnSpc>
                <a:spcPts val="1200"/>
              </a:lnSpc>
              <a:spcAft>
                <a:spcPts val="200"/>
              </a:spcAft>
              <a:buSzPct val="100000"/>
              <a:buChar char="•"/>
            </a:pPr>
            <a:r>
              <a:rPr lang="en-US" sz="950" dirty="0">
                <a:solidFill>
                  <a:srgbClr val="4A4A4A"/>
                </a:solidFill>
                <a:latin typeface="Arial" pitchFamily="34" charset="0"/>
                <a:ea typeface="Arial" pitchFamily="34" charset="-122"/>
                <a:cs typeface="Arial" pitchFamily="34" charset="-120"/>
              </a:rPr>
              <a:t>Core data access and calculation engine skeleton</a:t>
            </a:r>
            <a:endParaRPr lang="en-US" sz="950" dirty="0"/>
          </a:p>
          <a:p>
            <a:pPr marL="342900" indent="-342900">
              <a:lnSpc>
                <a:spcPts val="1200"/>
              </a:lnSpc>
              <a:spcAft>
                <a:spcPts val="200"/>
              </a:spcAft>
              <a:buSzPct val="100000"/>
              <a:buChar char="•"/>
            </a:pPr>
            <a:r>
              <a:rPr lang="en-US" sz="950" dirty="0">
                <a:solidFill>
                  <a:srgbClr val="4A4A4A"/>
                </a:solidFill>
                <a:latin typeface="Arial" pitchFamily="34" charset="0"/>
                <a:ea typeface="Arial" pitchFamily="34" charset="-122"/>
                <a:cs typeface="Arial" pitchFamily="34" charset="-120"/>
              </a:rPr>
              <a:t>End-to-end data map for the Opportunity Case</a:t>
            </a:r>
            <a:endParaRPr lang="en-US" sz="950" dirty="0"/>
          </a:p>
          <a:p>
            <a:pPr marL="342900" indent="-342900">
              <a:lnSpc>
                <a:spcPts val="1200"/>
              </a:lnSpc>
              <a:spcAft>
                <a:spcPts val="200"/>
              </a:spcAft>
              <a:buSzPct val="100000"/>
              <a:buChar char="•"/>
            </a:pPr>
            <a:r>
              <a:rPr lang="en-US" sz="950" dirty="0">
                <a:solidFill>
                  <a:srgbClr val="4A4A4A"/>
                </a:solidFill>
                <a:latin typeface="Arial" pitchFamily="34" charset="0"/>
                <a:ea typeface="Arial" pitchFamily="34" charset="-122"/>
                <a:cs typeface="Arial" pitchFamily="34" charset="-120"/>
              </a:rPr>
              <a:t>Search API migrated to the new Bain taxonomy</a:t>
            </a:r>
            <a:endParaRPr lang="en-US" sz="950" dirty="0"/>
          </a:p>
          <a:p>
            <a:pPr marL="342900" indent="-342900">
              <a:lnSpc>
                <a:spcPts val="1200"/>
              </a:lnSpc>
              <a:spcAft>
                <a:spcPts val="200"/>
              </a:spcAft>
              <a:buSzPct val="100000"/>
              <a:buChar char="•"/>
            </a:pPr>
            <a:r>
              <a:rPr lang="en-US" sz="950" dirty="0">
                <a:solidFill>
                  <a:srgbClr val="4A4A4A"/>
                </a:solidFill>
                <a:latin typeface="Arial" pitchFamily="34" charset="0"/>
                <a:ea typeface="Arial" pitchFamily="34" charset="-122"/>
                <a:cs typeface="Arial" pitchFamily="34" charset="-120"/>
              </a:rPr>
              <a:t>Bain source connectors, China and HK access</a:t>
            </a:r>
            <a:endParaRPr lang="en-US" sz="950" dirty="0"/>
          </a:p>
        </p:txBody>
      </p:sp>
      <p:sp>
        <p:nvSpPr>
          <p:cNvPr id="29" name="Shape 27"/>
          <p:cNvSpPr/>
          <p:nvPr/>
        </p:nvSpPr>
        <p:spPr>
          <a:xfrm>
            <a:off x="4352544" y="3712464"/>
            <a:ext cx="3483864" cy="1938528"/>
          </a:xfrm>
          <a:prstGeom prst="rect">
            <a:avLst/>
          </a:prstGeom>
          <a:solidFill>
            <a:srgbClr val="F7F7F7"/>
          </a:solidFill>
          <a:ln/>
        </p:spPr>
        <p:txBody>
          <a:bodyPr/>
          <a:lstStyle/>
          <a:p>
            <a:endParaRPr lang="en-GB"/>
          </a:p>
        </p:txBody>
      </p:sp>
      <p:sp>
        <p:nvSpPr>
          <p:cNvPr id="30" name="Shape 28"/>
          <p:cNvSpPr/>
          <p:nvPr/>
        </p:nvSpPr>
        <p:spPr>
          <a:xfrm>
            <a:off x="4626864" y="3968496"/>
            <a:ext cx="118872" cy="118872"/>
          </a:xfrm>
          <a:prstGeom prst="rect">
            <a:avLst/>
          </a:prstGeom>
          <a:solidFill>
            <a:srgbClr val="CC0000"/>
          </a:solidFill>
          <a:ln/>
        </p:spPr>
        <p:txBody>
          <a:bodyPr/>
          <a:lstStyle/>
          <a:p>
            <a:endParaRPr lang="en-GB"/>
          </a:p>
        </p:txBody>
      </p:sp>
      <p:sp>
        <p:nvSpPr>
          <p:cNvPr id="31" name="Text 29"/>
          <p:cNvSpPr txBox="1"/>
          <p:nvPr/>
        </p:nvSpPr>
        <p:spPr>
          <a:xfrm>
            <a:off x="4882896" y="3867912"/>
            <a:ext cx="2331720" cy="274320"/>
          </a:xfrm>
          <a:prstGeom prst="rect">
            <a:avLst/>
          </a:prstGeom>
          <a:noFill/>
          <a:ln/>
        </p:spPr>
        <p:txBody>
          <a:bodyPr wrap="square" lIns="0" tIns="0" rIns="0" bIns="0" rtlCol="0" anchor="ctr"/>
          <a:lstStyle/>
          <a:p>
            <a:pPr marL="0" indent="0">
              <a:buNone/>
            </a:pPr>
            <a:r>
              <a:rPr lang="en-US" sz="1250" b="1" dirty="0">
                <a:solidFill>
                  <a:srgbClr val="1A1A1A"/>
                </a:solidFill>
                <a:latin typeface="Arial" pitchFamily="34" charset="0"/>
                <a:ea typeface="Arial" pitchFamily="34" charset="-122"/>
                <a:cs typeface="Arial" pitchFamily="34" charset="-120"/>
              </a:rPr>
              <a:t>Platform, identity and AI</a:t>
            </a:r>
            <a:endParaRPr lang="en-US" sz="1250" dirty="0"/>
          </a:p>
        </p:txBody>
      </p:sp>
      <p:sp>
        <p:nvSpPr>
          <p:cNvPr id="32" name="Text 30"/>
          <p:cNvSpPr txBox="1"/>
          <p:nvPr/>
        </p:nvSpPr>
        <p:spPr>
          <a:xfrm>
            <a:off x="7050024" y="3886200"/>
            <a:ext cx="640080" cy="256032"/>
          </a:xfrm>
          <a:prstGeom prst="rect">
            <a:avLst/>
          </a:prstGeom>
          <a:noFill/>
          <a:ln/>
        </p:spPr>
        <p:txBody>
          <a:bodyPr wrap="square" lIns="0" tIns="0" rIns="0" bIns="0" rtlCol="0" anchor="ctr"/>
          <a:lstStyle/>
          <a:p>
            <a:pPr marL="0" indent="0" algn="r">
              <a:buNone/>
            </a:pPr>
            <a:r>
              <a:rPr lang="en-US" sz="900" dirty="0">
                <a:solidFill>
                  <a:srgbClr val="9B9B9B"/>
                </a:solidFill>
                <a:latin typeface="Arial" pitchFamily="34" charset="0"/>
                <a:ea typeface="Arial" pitchFamily="34" charset="-122"/>
                <a:cs typeface="Arial" pitchFamily="34" charset="-120"/>
              </a:rPr>
              <a:t>10 items</a:t>
            </a:r>
            <a:endParaRPr lang="en-US" sz="900" dirty="0"/>
          </a:p>
        </p:txBody>
      </p:sp>
      <p:sp>
        <p:nvSpPr>
          <p:cNvPr id="33" name="Text 31"/>
          <p:cNvSpPr txBox="1"/>
          <p:nvPr/>
        </p:nvSpPr>
        <p:spPr>
          <a:xfrm>
            <a:off x="4882896" y="4160520"/>
            <a:ext cx="2834640" cy="219456"/>
          </a:xfrm>
          <a:prstGeom prst="rect">
            <a:avLst/>
          </a:prstGeom>
          <a:noFill/>
          <a:ln/>
        </p:spPr>
        <p:txBody>
          <a:bodyPr wrap="square" lIns="0" tIns="0" rIns="0" bIns="0" rtlCol="0" anchor="ctr"/>
          <a:lstStyle/>
          <a:p>
            <a:pPr marL="0" indent="0">
              <a:buNone/>
            </a:pPr>
            <a:r>
              <a:rPr lang="en-US" sz="850" b="1" dirty="0">
                <a:solidFill>
                  <a:srgbClr val="CC0000"/>
                </a:solidFill>
                <a:latin typeface="Arial" pitchFamily="34" charset="0"/>
                <a:ea typeface="Arial" pitchFamily="34" charset="-122"/>
                <a:cs typeface="Arial" pitchFamily="34" charset="-120"/>
              </a:rPr>
              <a:t>Behind the scenes: services and agents</a:t>
            </a:r>
            <a:endParaRPr lang="en-US" sz="850" dirty="0"/>
          </a:p>
        </p:txBody>
      </p:sp>
      <p:sp>
        <p:nvSpPr>
          <p:cNvPr id="34" name="Text 32"/>
          <p:cNvSpPr txBox="1"/>
          <p:nvPr/>
        </p:nvSpPr>
        <p:spPr>
          <a:xfrm>
            <a:off x="4626864" y="4443984"/>
            <a:ext cx="3017520" cy="1170432"/>
          </a:xfrm>
          <a:prstGeom prst="rect">
            <a:avLst/>
          </a:prstGeom>
          <a:noFill/>
          <a:ln/>
        </p:spPr>
        <p:txBody>
          <a:bodyPr wrap="square" lIns="0" tIns="0" rIns="0" bIns="0" rtlCol="0" anchor="t"/>
          <a:lstStyle/>
          <a:p>
            <a:pPr marL="342900" indent="-342900">
              <a:lnSpc>
                <a:spcPts val="1200"/>
              </a:lnSpc>
              <a:spcAft>
                <a:spcPts val="200"/>
              </a:spcAft>
              <a:buSzPct val="100000"/>
              <a:buChar char="•"/>
            </a:pPr>
            <a:r>
              <a:rPr lang="en-US" sz="950" dirty="0">
                <a:solidFill>
                  <a:srgbClr val="4A4A4A"/>
                </a:solidFill>
                <a:latin typeface="Arial" pitchFamily="34" charset="0"/>
                <a:ea typeface="Arial" pitchFamily="34" charset="-122"/>
                <a:cs typeface="Arial" pitchFamily="34" charset="-120"/>
              </a:rPr>
              <a:t>Experience BFF with per-case entitlement</a:t>
            </a:r>
            <a:endParaRPr lang="en-US" sz="950" dirty="0"/>
          </a:p>
          <a:p>
            <a:pPr marL="342900" indent="-342900">
              <a:lnSpc>
                <a:spcPts val="1200"/>
              </a:lnSpc>
              <a:spcAft>
                <a:spcPts val="200"/>
              </a:spcAft>
              <a:buSzPct val="100000"/>
              <a:buChar char="•"/>
            </a:pPr>
            <a:r>
              <a:rPr lang="en-US" sz="950" dirty="0">
                <a:solidFill>
                  <a:srgbClr val="4A4A4A"/>
                </a:solidFill>
                <a:latin typeface="Arial" pitchFamily="34" charset="0"/>
                <a:ea typeface="Arial" pitchFamily="34" charset="-122"/>
                <a:cs typeface="Arial" pitchFamily="34" charset="-120"/>
              </a:rPr>
              <a:t>Service-to-service identity and event transport</a:t>
            </a:r>
            <a:endParaRPr lang="en-US" sz="950" dirty="0"/>
          </a:p>
          <a:p>
            <a:pPr marL="342900" indent="-342900">
              <a:lnSpc>
                <a:spcPts val="1200"/>
              </a:lnSpc>
              <a:spcAft>
                <a:spcPts val="200"/>
              </a:spcAft>
              <a:buSzPct val="100000"/>
              <a:buChar char="•"/>
            </a:pPr>
            <a:r>
              <a:rPr lang="en-US" sz="950" dirty="0">
                <a:solidFill>
                  <a:srgbClr val="4A4A4A"/>
                </a:solidFill>
                <a:latin typeface="Arial" pitchFamily="34" charset="0"/>
                <a:ea typeface="Arial" pitchFamily="34" charset="-122"/>
                <a:cs typeface="Arial" pitchFamily="34" charset="-120"/>
              </a:rPr>
              <a:t>Case Service and model gateway with safety controls</a:t>
            </a:r>
            <a:endParaRPr lang="en-US" sz="950" dirty="0"/>
          </a:p>
          <a:p>
            <a:pPr marL="342900" indent="-342900">
              <a:lnSpc>
                <a:spcPts val="1200"/>
              </a:lnSpc>
              <a:spcAft>
                <a:spcPts val="200"/>
              </a:spcAft>
              <a:buSzPct val="100000"/>
              <a:buChar char="•"/>
            </a:pPr>
            <a:r>
              <a:rPr lang="en-US" sz="950" dirty="0">
                <a:solidFill>
                  <a:srgbClr val="4A4A4A"/>
                </a:solidFill>
                <a:latin typeface="Arial" pitchFamily="34" charset="0"/>
                <a:ea typeface="Arial" pitchFamily="34" charset="-122"/>
                <a:cs typeface="Arial" pitchFamily="34" charset="-120"/>
              </a:rPr>
              <a:t>Full stack deployed to a demo environment</a:t>
            </a:r>
            <a:endParaRPr lang="en-US" sz="950" dirty="0"/>
          </a:p>
        </p:txBody>
      </p:sp>
      <p:sp>
        <p:nvSpPr>
          <p:cNvPr id="35" name="Shape 33"/>
          <p:cNvSpPr/>
          <p:nvPr/>
        </p:nvSpPr>
        <p:spPr>
          <a:xfrm>
            <a:off x="8110728" y="3712464"/>
            <a:ext cx="3483864" cy="1938528"/>
          </a:xfrm>
          <a:prstGeom prst="rect">
            <a:avLst/>
          </a:prstGeom>
          <a:solidFill>
            <a:srgbClr val="F7F7F7"/>
          </a:solidFill>
          <a:ln/>
        </p:spPr>
        <p:txBody>
          <a:bodyPr/>
          <a:lstStyle/>
          <a:p>
            <a:endParaRPr lang="en-GB"/>
          </a:p>
        </p:txBody>
      </p:sp>
      <p:sp>
        <p:nvSpPr>
          <p:cNvPr id="36" name="Shape 34"/>
          <p:cNvSpPr/>
          <p:nvPr/>
        </p:nvSpPr>
        <p:spPr>
          <a:xfrm>
            <a:off x="8385048" y="3968496"/>
            <a:ext cx="118872" cy="118872"/>
          </a:xfrm>
          <a:prstGeom prst="rect">
            <a:avLst/>
          </a:prstGeom>
          <a:solidFill>
            <a:srgbClr val="CC0000"/>
          </a:solidFill>
          <a:ln/>
        </p:spPr>
        <p:txBody>
          <a:bodyPr/>
          <a:lstStyle/>
          <a:p>
            <a:endParaRPr lang="en-GB"/>
          </a:p>
        </p:txBody>
      </p:sp>
      <p:sp>
        <p:nvSpPr>
          <p:cNvPr id="37" name="Text 35"/>
          <p:cNvSpPr txBox="1"/>
          <p:nvPr/>
        </p:nvSpPr>
        <p:spPr>
          <a:xfrm>
            <a:off x="8641080" y="3867912"/>
            <a:ext cx="2331720" cy="274320"/>
          </a:xfrm>
          <a:prstGeom prst="rect">
            <a:avLst/>
          </a:prstGeom>
          <a:noFill/>
          <a:ln/>
        </p:spPr>
        <p:txBody>
          <a:bodyPr wrap="square" lIns="0" tIns="0" rIns="0" bIns="0" rtlCol="0" anchor="ctr"/>
          <a:lstStyle/>
          <a:p>
            <a:pPr marL="0" indent="0">
              <a:buNone/>
            </a:pPr>
            <a:r>
              <a:rPr lang="en-US" sz="1250" b="1" dirty="0">
                <a:solidFill>
                  <a:srgbClr val="1A1A1A"/>
                </a:solidFill>
                <a:latin typeface="Arial" pitchFamily="34" charset="0"/>
                <a:ea typeface="Arial" pitchFamily="34" charset="-122"/>
                <a:cs typeface="Arial" pitchFamily="34" charset="-120"/>
              </a:rPr>
              <a:t>Quality and reviews</a:t>
            </a:r>
            <a:endParaRPr lang="en-US" sz="1250" dirty="0"/>
          </a:p>
        </p:txBody>
      </p:sp>
      <p:sp>
        <p:nvSpPr>
          <p:cNvPr id="38" name="Text 36"/>
          <p:cNvSpPr txBox="1"/>
          <p:nvPr/>
        </p:nvSpPr>
        <p:spPr>
          <a:xfrm>
            <a:off x="10808208" y="3886200"/>
            <a:ext cx="640080" cy="256032"/>
          </a:xfrm>
          <a:prstGeom prst="rect">
            <a:avLst/>
          </a:prstGeom>
          <a:noFill/>
          <a:ln/>
        </p:spPr>
        <p:txBody>
          <a:bodyPr wrap="square" lIns="0" tIns="0" rIns="0" bIns="0" rtlCol="0" anchor="ctr"/>
          <a:lstStyle/>
          <a:p>
            <a:pPr marL="0" indent="0" algn="r">
              <a:buNone/>
            </a:pPr>
            <a:r>
              <a:rPr lang="en-US" sz="900" dirty="0">
                <a:solidFill>
                  <a:srgbClr val="9B9B9B"/>
                </a:solidFill>
                <a:latin typeface="Arial" pitchFamily="34" charset="0"/>
                <a:ea typeface="Arial" pitchFamily="34" charset="-122"/>
                <a:cs typeface="Arial" pitchFamily="34" charset="-120"/>
              </a:rPr>
              <a:t>8 items</a:t>
            </a:r>
            <a:endParaRPr lang="en-US" sz="900" dirty="0"/>
          </a:p>
        </p:txBody>
      </p:sp>
      <p:sp>
        <p:nvSpPr>
          <p:cNvPr id="39" name="Text 37"/>
          <p:cNvSpPr txBox="1"/>
          <p:nvPr/>
        </p:nvSpPr>
        <p:spPr>
          <a:xfrm>
            <a:off x="8641080" y="4160520"/>
            <a:ext cx="2834640" cy="219456"/>
          </a:xfrm>
          <a:prstGeom prst="rect">
            <a:avLst/>
          </a:prstGeom>
          <a:noFill/>
          <a:ln/>
        </p:spPr>
        <p:txBody>
          <a:bodyPr wrap="square" lIns="0" tIns="0" rIns="0" bIns="0" rtlCol="0" anchor="ctr"/>
          <a:lstStyle/>
          <a:p>
            <a:pPr marL="0" indent="0">
              <a:buNone/>
            </a:pPr>
            <a:r>
              <a:rPr lang="en-US" sz="850" b="1" dirty="0">
                <a:solidFill>
                  <a:srgbClr val="CC0000"/>
                </a:solidFill>
                <a:latin typeface="Arial" pitchFamily="34" charset="0"/>
                <a:ea typeface="Arial" pitchFamily="34" charset="-122"/>
                <a:cs typeface="Arial" pitchFamily="34" charset="-120"/>
              </a:rPr>
              <a:t>Behind the scenes: engineering practice</a:t>
            </a:r>
            <a:endParaRPr lang="en-US" sz="850" dirty="0"/>
          </a:p>
        </p:txBody>
      </p:sp>
      <p:sp>
        <p:nvSpPr>
          <p:cNvPr id="40" name="Text 38"/>
          <p:cNvSpPr txBox="1"/>
          <p:nvPr/>
        </p:nvSpPr>
        <p:spPr>
          <a:xfrm>
            <a:off x="8385048" y="4443984"/>
            <a:ext cx="3017520" cy="1170432"/>
          </a:xfrm>
          <a:prstGeom prst="rect">
            <a:avLst/>
          </a:prstGeom>
          <a:noFill/>
          <a:ln/>
        </p:spPr>
        <p:txBody>
          <a:bodyPr wrap="square" lIns="0" tIns="0" rIns="0" bIns="0" rtlCol="0" anchor="t"/>
          <a:lstStyle/>
          <a:p>
            <a:pPr marL="342900" indent="-342900">
              <a:lnSpc>
                <a:spcPts val="1200"/>
              </a:lnSpc>
              <a:spcAft>
                <a:spcPts val="200"/>
              </a:spcAft>
              <a:buSzPct val="100000"/>
              <a:buChar char="•"/>
            </a:pPr>
            <a:r>
              <a:rPr lang="en-US" sz="950" dirty="0">
                <a:solidFill>
                  <a:srgbClr val="4A4A4A"/>
                </a:solidFill>
                <a:latin typeface="Arial" pitchFamily="34" charset="0"/>
                <a:ea typeface="Arial" pitchFamily="34" charset="-122"/>
                <a:cs typeface="Arial" pitchFamily="34" charset="-120"/>
              </a:rPr>
              <a:t>Test frameworks and CI checks on every pull request</a:t>
            </a:r>
            <a:endParaRPr lang="en-US" sz="950" dirty="0"/>
          </a:p>
          <a:p>
            <a:pPr marL="342900" indent="-342900">
              <a:lnSpc>
                <a:spcPts val="1200"/>
              </a:lnSpc>
              <a:spcAft>
                <a:spcPts val="200"/>
              </a:spcAft>
              <a:buSzPct val="100000"/>
              <a:buChar char="•"/>
            </a:pPr>
            <a:r>
              <a:rPr lang="en-US" sz="950" dirty="0">
                <a:solidFill>
                  <a:srgbClr val="4A4A4A"/>
                </a:solidFill>
                <a:latin typeface="Arial" pitchFamily="34" charset="0"/>
                <a:ea typeface="Arial" pitchFamily="34" charset="-122"/>
                <a:cs typeface="Arial" pitchFamily="34" charset="-120"/>
              </a:rPr>
              <a:t>Framework gap analysis and testing improvements</a:t>
            </a:r>
            <a:endParaRPr lang="en-US" sz="950" dirty="0"/>
          </a:p>
          <a:p>
            <a:pPr marL="342900" indent="-342900">
              <a:lnSpc>
                <a:spcPts val="1200"/>
              </a:lnSpc>
              <a:spcAft>
                <a:spcPts val="200"/>
              </a:spcAft>
              <a:buSzPct val="100000"/>
              <a:buChar char="•"/>
            </a:pPr>
            <a:r>
              <a:rPr lang="en-US" sz="950" dirty="0">
                <a:solidFill>
                  <a:srgbClr val="4A4A4A"/>
                </a:solidFill>
                <a:latin typeface="Arial" pitchFamily="34" charset="0"/>
                <a:ea typeface="Arial" pitchFamily="34" charset="-122"/>
                <a:cs typeface="Arial" pitchFamily="34" charset="-120"/>
              </a:rPr>
              <a:t>think-cell and Andromeda assessments closed</a:t>
            </a:r>
            <a:endParaRPr lang="en-US" sz="950" dirty="0"/>
          </a:p>
          <a:p>
            <a:pPr marL="342900" indent="-342900">
              <a:lnSpc>
                <a:spcPts val="1200"/>
              </a:lnSpc>
              <a:spcAft>
                <a:spcPts val="200"/>
              </a:spcAft>
              <a:buSzPct val="100000"/>
              <a:buChar char="•"/>
            </a:pPr>
            <a:r>
              <a:rPr lang="en-US" sz="950" dirty="0">
                <a:solidFill>
                  <a:srgbClr val="4A4A4A"/>
                </a:solidFill>
                <a:latin typeface="Arial" pitchFamily="34" charset="0"/>
                <a:ea typeface="Arial" pitchFamily="34" charset="-122"/>
                <a:cs typeface="Arial" pitchFamily="34" charset="-120"/>
              </a:rPr>
              <a:t>Technology choices documented with reasoning</a:t>
            </a:r>
            <a:endParaRPr lang="en-US" sz="950" dirty="0"/>
          </a:p>
        </p:txBody>
      </p:sp>
      <p:sp>
        <p:nvSpPr>
          <p:cNvPr id="41" name="Text 39"/>
          <p:cNvSpPr txBox="1"/>
          <p:nvPr/>
        </p:nvSpPr>
        <p:spPr>
          <a:xfrm>
            <a:off x="594360" y="6035040"/>
            <a:ext cx="10332720" cy="292608"/>
          </a:xfrm>
          <a:prstGeom prst="rect">
            <a:avLst/>
          </a:prstGeom>
          <a:noFill/>
          <a:ln/>
        </p:spPr>
        <p:txBody>
          <a:bodyPr wrap="square" lIns="0" tIns="0" rIns="0" bIns="0" rtlCol="0" anchor="ctr"/>
          <a:lstStyle/>
          <a:p>
            <a:pPr marL="0" indent="0">
              <a:buNone/>
            </a:pPr>
            <a:r>
              <a:rPr lang="en-US" sz="1100" i="1" dirty="0">
                <a:solidFill>
                  <a:srgbClr val="6E6E6E"/>
                </a:solidFill>
                <a:latin typeface="Arial" pitchFamily="34" charset="0"/>
                <a:ea typeface="Arial" pitchFamily="34" charset="-122"/>
                <a:cs typeface="Arial" pitchFamily="34" charset="-120"/>
              </a:rPr>
              <a:t>The peer set journey step now runs end to end, and every number it produces can be traced back to its source.</a:t>
            </a:r>
            <a:endParaRPr lang="en-US" sz="1100" dirty="0"/>
          </a:p>
        </p:txBody>
      </p:sp>
      <p:sp>
        <p:nvSpPr>
          <p:cNvPr id="42" name="Text 40"/>
          <p:cNvSpPr txBox="1"/>
          <p:nvPr/>
        </p:nvSpPr>
        <p:spPr>
          <a:xfrm>
            <a:off x="594360" y="6382512"/>
            <a:ext cx="5486400" cy="228600"/>
          </a:xfrm>
          <a:prstGeom prst="rect">
            <a:avLst/>
          </a:prstGeom>
          <a:noFill/>
          <a:ln/>
        </p:spPr>
        <p:txBody>
          <a:bodyPr wrap="square" lIns="0" tIns="0" rIns="0" bIns="0" rtlCol="0" anchor="ctr"/>
          <a:lstStyle/>
          <a:p>
            <a:pPr marL="0" indent="0">
              <a:buNone/>
            </a:pPr>
            <a:r>
              <a:rPr lang="en-US" sz="800" dirty="0">
                <a:solidFill>
                  <a:srgbClr val="9B9B9B"/>
                </a:solidFill>
                <a:latin typeface="Arial" pitchFamily="34" charset="0"/>
                <a:ea typeface="Arial" pitchFamily="34" charset="-122"/>
                <a:cs typeface="Arial" pitchFamily="34" charset="-120"/>
              </a:rPr>
              <a:t>Opportunity Catalyst  |  Sprint 2 Retrospective</a:t>
            </a:r>
            <a:endParaRPr lang="en-US" sz="800" dirty="0"/>
          </a:p>
        </p:txBody>
      </p:sp>
      <p:sp>
        <p:nvSpPr>
          <p:cNvPr id="43" name="Text 41"/>
          <p:cNvSpPr txBox="1"/>
          <p:nvPr/>
        </p:nvSpPr>
        <p:spPr>
          <a:xfrm>
            <a:off x="10972800" y="6382512"/>
            <a:ext cx="621792" cy="228600"/>
          </a:xfrm>
          <a:prstGeom prst="rect">
            <a:avLst/>
          </a:prstGeom>
          <a:noFill/>
          <a:ln/>
        </p:spPr>
        <p:txBody>
          <a:bodyPr wrap="square" lIns="0" tIns="0" rIns="0" bIns="0" rtlCol="0" anchor="ctr"/>
          <a:lstStyle/>
          <a:p>
            <a:pPr marL="0" indent="0" algn="r">
              <a:buNone/>
            </a:pPr>
            <a:r>
              <a:rPr lang="en-US" sz="800" dirty="0">
                <a:solidFill>
                  <a:srgbClr val="9B9B9B"/>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94360" y="402336"/>
            <a:ext cx="137160" cy="137160"/>
          </a:xfrm>
          <a:prstGeom prst="rect">
            <a:avLst/>
          </a:prstGeom>
          <a:solidFill>
            <a:srgbClr val="CC0000"/>
          </a:solidFill>
          <a:ln/>
        </p:spPr>
        <p:txBody>
          <a:bodyPr/>
          <a:lstStyle/>
          <a:p>
            <a:endParaRPr lang="en-GB"/>
          </a:p>
        </p:txBody>
      </p:sp>
      <p:sp>
        <p:nvSpPr>
          <p:cNvPr id="3" name="Text 1"/>
          <p:cNvSpPr txBox="1"/>
          <p:nvPr/>
        </p:nvSpPr>
        <p:spPr>
          <a:xfrm>
            <a:off x="594360" y="658368"/>
            <a:ext cx="10725912" cy="457200"/>
          </a:xfrm>
          <a:prstGeom prst="rect">
            <a:avLst/>
          </a:prstGeom>
          <a:noFill/>
          <a:ln/>
        </p:spPr>
        <p:txBody>
          <a:bodyPr wrap="square" lIns="0" tIns="0" rIns="0" bIns="0" rtlCol="0" anchor="ctr"/>
          <a:lstStyle/>
          <a:p>
            <a:pPr marL="0" indent="0">
              <a:buNone/>
            </a:pPr>
            <a:r>
              <a:rPr lang="en-US" sz="2700" b="1" dirty="0">
                <a:solidFill>
                  <a:srgbClr val="1A1A1A"/>
                </a:solidFill>
                <a:latin typeface="Arial" pitchFamily="34" charset="0"/>
                <a:ea typeface="Arial" pitchFamily="34" charset="-122"/>
                <a:cs typeface="Arial" pitchFamily="34" charset="-120"/>
              </a:rPr>
              <a:t>Factors behind the spillover and items to watch</a:t>
            </a:r>
            <a:endParaRPr lang="en-US" sz="2700" dirty="0"/>
          </a:p>
        </p:txBody>
      </p:sp>
      <p:sp>
        <p:nvSpPr>
          <p:cNvPr id="4" name="Text 2"/>
          <p:cNvSpPr txBox="1"/>
          <p:nvPr/>
        </p:nvSpPr>
        <p:spPr>
          <a:xfrm>
            <a:off x="594360" y="1152144"/>
            <a:ext cx="10725912" cy="292608"/>
          </a:xfrm>
          <a:prstGeom prst="rect">
            <a:avLst/>
          </a:prstGeom>
          <a:noFill/>
          <a:ln/>
        </p:spPr>
        <p:txBody>
          <a:bodyPr wrap="square" lIns="0" tIns="0" rIns="0" bIns="0" rtlCol="0" anchor="ctr"/>
          <a:lstStyle/>
          <a:p>
            <a:pPr marL="0" indent="0">
              <a:buNone/>
            </a:pPr>
            <a:r>
              <a:rPr lang="en-US" sz="1150" dirty="0">
                <a:solidFill>
                  <a:srgbClr val="6E6E6E"/>
                </a:solidFill>
                <a:latin typeface="Arial" pitchFamily="34" charset="0"/>
                <a:ea typeface="Arial" pitchFamily="34" charset="-122"/>
                <a:cs typeface="Arial" pitchFamily="34" charset="-120"/>
              </a:rPr>
              <a:t>Five points carried into Sprint 3, each with a clear next step</a:t>
            </a:r>
            <a:endParaRPr lang="en-US" sz="1150" dirty="0"/>
          </a:p>
        </p:txBody>
      </p:sp>
      <p:sp>
        <p:nvSpPr>
          <p:cNvPr id="5" name="Shape 3"/>
          <p:cNvSpPr/>
          <p:nvPr/>
        </p:nvSpPr>
        <p:spPr>
          <a:xfrm>
            <a:off x="594360" y="1572768"/>
            <a:ext cx="11000232" cy="886968"/>
          </a:xfrm>
          <a:prstGeom prst="rect">
            <a:avLst/>
          </a:prstGeom>
          <a:solidFill>
            <a:srgbClr val="FBEDED"/>
          </a:solidFill>
          <a:ln/>
        </p:spPr>
        <p:txBody>
          <a:bodyPr/>
          <a:lstStyle/>
          <a:p>
            <a:endParaRPr lang="en-GB"/>
          </a:p>
        </p:txBody>
      </p:sp>
      <p:sp>
        <p:nvSpPr>
          <p:cNvPr id="6" name="Text 4"/>
          <p:cNvSpPr txBox="1"/>
          <p:nvPr/>
        </p:nvSpPr>
        <p:spPr>
          <a:xfrm>
            <a:off x="868680" y="1792224"/>
            <a:ext cx="731520" cy="457200"/>
          </a:xfrm>
          <a:prstGeom prst="rect">
            <a:avLst/>
          </a:prstGeom>
          <a:noFill/>
          <a:ln/>
        </p:spPr>
        <p:txBody>
          <a:bodyPr wrap="square" lIns="0" tIns="0" rIns="0" bIns="0" rtlCol="0" anchor="ctr"/>
          <a:lstStyle/>
          <a:p>
            <a:pPr marL="0" indent="0">
              <a:buNone/>
            </a:pPr>
            <a:r>
              <a:rPr lang="en-US" sz="2400" b="1" dirty="0">
                <a:solidFill>
                  <a:srgbClr val="CC0000"/>
                </a:solidFill>
                <a:latin typeface="Arial" pitchFamily="34" charset="0"/>
                <a:ea typeface="Arial" pitchFamily="34" charset="-122"/>
                <a:cs typeface="Arial" pitchFamily="34" charset="-120"/>
              </a:rPr>
              <a:t>01</a:t>
            </a:r>
            <a:endParaRPr lang="en-US" sz="2400" dirty="0"/>
          </a:p>
        </p:txBody>
      </p:sp>
      <p:sp>
        <p:nvSpPr>
          <p:cNvPr id="7" name="Text 5"/>
          <p:cNvSpPr txBox="1"/>
          <p:nvPr/>
        </p:nvSpPr>
        <p:spPr>
          <a:xfrm>
            <a:off x="1828800" y="1682496"/>
            <a:ext cx="9418320" cy="256032"/>
          </a:xfrm>
          <a:prstGeom prst="rect">
            <a:avLst/>
          </a:prstGeom>
          <a:noFill/>
          <a:ln/>
        </p:spPr>
        <p:txBody>
          <a:bodyPr wrap="square" lIns="0" tIns="0" rIns="0" bIns="0" rtlCol="0" anchor="ctr"/>
          <a:lstStyle/>
          <a:p>
            <a:pPr marL="0" indent="0">
              <a:buNone/>
            </a:pPr>
            <a:r>
              <a:rPr lang="en-US" sz="1300" b="1" dirty="0">
                <a:solidFill>
                  <a:srgbClr val="1A1A1A"/>
                </a:solidFill>
                <a:latin typeface="Arial" pitchFamily="34" charset="0"/>
                <a:ea typeface="Arial" pitchFamily="34" charset="-122"/>
                <a:cs typeface="Arial" pitchFamily="34" charset="-120"/>
              </a:rPr>
              <a:t>AI platform access arrived on the final day of the sprint</a:t>
            </a:r>
            <a:endParaRPr lang="en-US" sz="1300" dirty="0"/>
          </a:p>
        </p:txBody>
      </p:sp>
      <p:sp>
        <p:nvSpPr>
          <p:cNvPr id="8" name="Text 6"/>
          <p:cNvSpPr txBox="1"/>
          <p:nvPr/>
        </p:nvSpPr>
        <p:spPr>
          <a:xfrm>
            <a:off x="1828800" y="1956816"/>
            <a:ext cx="9418320" cy="457200"/>
          </a:xfrm>
          <a:prstGeom prst="rect">
            <a:avLst/>
          </a:prstGeom>
          <a:noFill/>
          <a:ln/>
        </p:spPr>
        <p:txBody>
          <a:bodyPr wrap="square" lIns="0" tIns="0" rIns="0" bIns="0" rtlCol="0" anchor="t"/>
          <a:lstStyle/>
          <a:p>
            <a:pPr marL="0" indent="0">
              <a:lnSpc>
                <a:spcPts val="1250"/>
              </a:lnSpc>
              <a:buNone/>
            </a:pPr>
            <a:r>
              <a:rPr lang="en-US" sz="1000" dirty="0">
                <a:solidFill>
                  <a:srgbClr val="4A4A4A"/>
                </a:solidFill>
                <a:latin typeface="Arial" pitchFamily="34" charset="0"/>
                <a:ea typeface="Arial" pitchFamily="34" charset="-122"/>
                <a:cs typeface="Arial" pitchFamily="34" charset="-120"/>
              </a:rPr>
              <a:t>Access to the AI platform services the peer selection cycle depends on — AI Search and document parsing — was granted to the team only on the last day of Sprint 2. Until then the full cycle could not be completed end to end, and the work that depends on it could not be finished or tested within the sprint.</a:t>
            </a:r>
            <a:endParaRPr lang="en-US" sz="1000" dirty="0"/>
          </a:p>
        </p:txBody>
      </p:sp>
      <p:sp>
        <p:nvSpPr>
          <p:cNvPr id="9" name="Shape 7"/>
          <p:cNvSpPr/>
          <p:nvPr/>
        </p:nvSpPr>
        <p:spPr>
          <a:xfrm>
            <a:off x="594360" y="2532888"/>
            <a:ext cx="11000232" cy="886968"/>
          </a:xfrm>
          <a:prstGeom prst="rect">
            <a:avLst/>
          </a:prstGeom>
          <a:solidFill>
            <a:srgbClr val="F7F7F7"/>
          </a:solidFill>
          <a:ln/>
        </p:spPr>
        <p:txBody>
          <a:bodyPr/>
          <a:lstStyle/>
          <a:p>
            <a:endParaRPr lang="en-GB"/>
          </a:p>
        </p:txBody>
      </p:sp>
      <p:sp>
        <p:nvSpPr>
          <p:cNvPr id="10" name="Text 8"/>
          <p:cNvSpPr txBox="1"/>
          <p:nvPr/>
        </p:nvSpPr>
        <p:spPr>
          <a:xfrm>
            <a:off x="868680" y="2752344"/>
            <a:ext cx="731520" cy="457200"/>
          </a:xfrm>
          <a:prstGeom prst="rect">
            <a:avLst/>
          </a:prstGeom>
          <a:noFill/>
          <a:ln/>
        </p:spPr>
        <p:txBody>
          <a:bodyPr wrap="square" lIns="0" tIns="0" rIns="0" bIns="0" rtlCol="0" anchor="ctr"/>
          <a:lstStyle/>
          <a:p>
            <a:pPr marL="0" indent="0">
              <a:buNone/>
            </a:pPr>
            <a:r>
              <a:rPr lang="en-US" sz="2400" b="1" dirty="0">
                <a:solidFill>
                  <a:srgbClr val="CC0000"/>
                </a:solidFill>
                <a:latin typeface="Arial" pitchFamily="34" charset="0"/>
                <a:ea typeface="Arial" pitchFamily="34" charset="-122"/>
                <a:cs typeface="Arial" pitchFamily="34" charset="-120"/>
              </a:rPr>
              <a:t>02</a:t>
            </a:r>
            <a:endParaRPr lang="en-US" sz="2400" dirty="0"/>
          </a:p>
        </p:txBody>
      </p:sp>
      <p:sp>
        <p:nvSpPr>
          <p:cNvPr id="11" name="Text 9"/>
          <p:cNvSpPr txBox="1"/>
          <p:nvPr/>
        </p:nvSpPr>
        <p:spPr>
          <a:xfrm>
            <a:off x="1828800" y="2642616"/>
            <a:ext cx="9418320" cy="256032"/>
          </a:xfrm>
          <a:prstGeom prst="rect">
            <a:avLst/>
          </a:prstGeom>
          <a:noFill/>
          <a:ln/>
        </p:spPr>
        <p:txBody>
          <a:bodyPr wrap="square" lIns="0" tIns="0" rIns="0" bIns="0" rtlCol="0" anchor="ctr"/>
          <a:lstStyle/>
          <a:p>
            <a:pPr marL="0" indent="0">
              <a:buNone/>
            </a:pPr>
            <a:r>
              <a:rPr lang="en-US" sz="1300" b="1" dirty="0">
                <a:solidFill>
                  <a:srgbClr val="1A1A1A"/>
                </a:solidFill>
                <a:latin typeface="Arial" pitchFamily="34" charset="0"/>
                <a:ea typeface="Arial" pitchFamily="34" charset="-122"/>
                <a:cs typeface="Arial" pitchFamily="34" charset="-120"/>
              </a:rPr>
              <a:t>Five items have now carried through two sprints</a:t>
            </a:r>
            <a:endParaRPr lang="en-US" sz="1300" dirty="0"/>
          </a:p>
        </p:txBody>
      </p:sp>
      <p:sp>
        <p:nvSpPr>
          <p:cNvPr id="12" name="Text 10"/>
          <p:cNvSpPr txBox="1"/>
          <p:nvPr/>
        </p:nvSpPr>
        <p:spPr>
          <a:xfrm>
            <a:off x="1828800" y="2916936"/>
            <a:ext cx="9418320" cy="457200"/>
          </a:xfrm>
          <a:prstGeom prst="rect">
            <a:avLst/>
          </a:prstGeom>
          <a:noFill/>
          <a:ln/>
        </p:spPr>
        <p:txBody>
          <a:bodyPr wrap="square" lIns="0" tIns="0" rIns="0" bIns="0" rtlCol="0" anchor="t"/>
          <a:lstStyle/>
          <a:p>
            <a:pPr marL="0" indent="0">
              <a:lnSpc>
                <a:spcPts val="1250"/>
              </a:lnSpc>
              <a:buNone/>
            </a:pPr>
            <a:r>
              <a:rPr lang="en-US" sz="1000" dirty="0">
                <a:solidFill>
                  <a:srgbClr val="6E6E6E"/>
                </a:solidFill>
                <a:latin typeface="Arial" pitchFamily="34" charset="0"/>
                <a:ea typeface="Arial" pitchFamily="34" charset="-122"/>
                <a:cs typeface="Arial" pitchFamily="34" charset="-120"/>
              </a:rPr>
              <a:t>OI3-21 security and governance, OI3-27 architecture decision records, OI3-48 development environment and access, OI3-54 think-cell licence and OI3-82 rate and quota management have been open since Sprint 1. Each needs a named owner and a date, or a decision to close it.</a:t>
            </a:r>
            <a:endParaRPr lang="en-US" sz="1000" dirty="0"/>
          </a:p>
        </p:txBody>
      </p:sp>
      <p:sp>
        <p:nvSpPr>
          <p:cNvPr id="13" name="Shape 11"/>
          <p:cNvSpPr/>
          <p:nvPr/>
        </p:nvSpPr>
        <p:spPr>
          <a:xfrm>
            <a:off x="594360" y="3493008"/>
            <a:ext cx="11000232" cy="886968"/>
          </a:xfrm>
          <a:prstGeom prst="rect">
            <a:avLst/>
          </a:prstGeom>
          <a:solidFill>
            <a:srgbClr val="F7F7F7"/>
          </a:solidFill>
          <a:ln/>
        </p:spPr>
        <p:txBody>
          <a:bodyPr/>
          <a:lstStyle/>
          <a:p>
            <a:endParaRPr lang="en-GB"/>
          </a:p>
        </p:txBody>
      </p:sp>
      <p:sp>
        <p:nvSpPr>
          <p:cNvPr id="14" name="Text 12"/>
          <p:cNvSpPr txBox="1"/>
          <p:nvPr/>
        </p:nvSpPr>
        <p:spPr>
          <a:xfrm>
            <a:off x="868680" y="3712464"/>
            <a:ext cx="731520" cy="457200"/>
          </a:xfrm>
          <a:prstGeom prst="rect">
            <a:avLst/>
          </a:prstGeom>
          <a:noFill/>
          <a:ln/>
        </p:spPr>
        <p:txBody>
          <a:bodyPr wrap="square" lIns="0" tIns="0" rIns="0" bIns="0" rtlCol="0" anchor="ctr"/>
          <a:lstStyle/>
          <a:p>
            <a:pPr marL="0" indent="0">
              <a:buNone/>
            </a:pPr>
            <a:r>
              <a:rPr lang="en-US" sz="2400" b="1" dirty="0">
                <a:solidFill>
                  <a:srgbClr val="CC0000"/>
                </a:solidFill>
                <a:latin typeface="Arial" pitchFamily="34" charset="0"/>
                <a:ea typeface="Arial" pitchFamily="34" charset="-122"/>
                <a:cs typeface="Arial" pitchFamily="34" charset="-120"/>
              </a:rPr>
              <a:t>03</a:t>
            </a:r>
            <a:endParaRPr lang="en-US" sz="2400" dirty="0"/>
          </a:p>
        </p:txBody>
      </p:sp>
      <p:sp>
        <p:nvSpPr>
          <p:cNvPr id="15" name="Text 13"/>
          <p:cNvSpPr txBox="1"/>
          <p:nvPr/>
        </p:nvSpPr>
        <p:spPr>
          <a:xfrm>
            <a:off x="1828800" y="3602736"/>
            <a:ext cx="9418320" cy="256032"/>
          </a:xfrm>
          <a:prstGeom prst="rect">
            <a:avLst/>
          </a:prstGeom>
          <a:noFill/>
          <a:ln/>
        </p:spPr>
        <p:txBody>
          <a:bodyPr wrap="square" lIns="0" tIns="0" rIns="0" bIns="0" rtlCol="0" anchor="ctr"/>
          <a:lstStyle/>
          <a:p>
            <a:pPr marL="0" indent="0">
              <a:buNone/>
            </a:pPr>
            <a:r>
              <a:rPr lang="en-US" sz="1300" b="1" dirty="0">
                <a:solidFill>
                  <a:srgbClr val="1A1A1A"/>
                </a:solidFill>
                <a:latin typeface="Arial" pitchFamily="34" charset="0"/>
                <a:ea typeface="Arial" pitchFamily="34" charset="-122"/>
                <a:cs typeface="Arial" pitchFamily="34" charset="-120"/>
              </a:rPr>
              <a:t>External dependencies remain the main constraint</a:t>
            </a:r>
            <a:endParaRPr lang="en-US" sz="1300" dirty="0"/>
          </a:p>
        </p:txBody>
      </p:sp>
      <p:sp>
        <p:nvSpPr>
          <p:cNvPr id="16" name="Text 14"/>
          <p:cNvSpPr txBox="1"/>
          <p:nvPr/>
        </p:nvSpPr>
        <p:spPr>
          <a:xfrm>
            <a:off x="1828800" y="3877056"/>
            <a:ext cx="9418320" cy="457200"/>
          </a:xfrm>
          <a:prstGeom prst="rect">
            <a:avLst/>
          </a:prstGeom>
          <a:noFill/>
          <a:ln/>
        </p:spPr>
        <p:txBody>
          <a:bodyPr wrap="square" lIns="0" tIns="0" rIns="0" bIns="0" rtlCol="0" anchor="t"/>
          <a:lstStyle/>
          <a:p>
            <a:pPr marL="0" indent="0">
              <a:lnSpc>
                <a:spcPts val="1250"/>
              </a:lnSpc>
              <a:buNone/>
            </a:pPr>
            <a:r>
              <a:rPr lang="en-US" sz="1000" dirty="0">
                <a:solidFill>
                  <a:srgbClr val="6E6E6E"/>
                </a:solidFill>
                <a:latin typeface="Arial" pitchFamily="34" charset="0"/>
                <a:ea typeface="Arial" pitchFamily="34" charset="-122"/>
                <a:cs typeface="Arial" pitchFamily="34" charset="-120"/>
              </a:rPr>
              <a:t>The two blocked items and the LSEG and CapIQ rate limits all wait on a party outside the team. The Sprint 3 plan carries the same dependencies through its client asks list.</a:t>
            </a:r>
            <a:endParaRPr lang="en-US" sz="1000" dirty="0"/>
          </a:p>
        </p:txBody>
      </p:sp>
      <p:sp>
        <p:nvSpPr>
          <p:cNvPr id="17" name="Shape 15"/>
          <p:cNvSpPr/>
          <p:nvPr/>
        </p:nvSpPr>
        <p:spPr>
          <a:xfrm>
            <a:off x="594360" y="4453128"/>
            <a:ext cx="11000232" cy="886968"/>
          </a:xfrm>
          <a:prstGeom prst="rect">
            <a:avLst/>
          </a:prstGeom>
          <a:solidFill>
            <a:srgbClr val="F7F7F7"/>
          </a:solidFill>
          <a:ln/>
        </p:spPr>
        <p:txBody>
          <a:bodyPr/>
          <a:lstStyle/>
          <a:p>
            <a:endParaRPr lang="en-GB"/>
          </a:p>
        </p:txBody>
      </p:sp>
      <p:sp>
        <p:nvSpPr>
          <p:cNvPr id="18" name="Text 16"/>
          <p:cNvSpPr txBox="1"/>
          <p:nvPr/>
        </p:nvSpPr>
        <p:spPr>
          <a:xfrm>
            <a:off x="868680" y="4672584"/>
            <a:ext cx="731520" cy="457200"/>
          </a:xfrm>
          <a:prstGeom prst="rect">
            <a:avLst/>
          </a:prstGeom>
          <a:noFill/>
          <a:ln/>
        </p:spPr>
        <p:txBody>
          <a:bodyPr wrap="square" lIns="0" tIns="0" rIns="0" bIns="0" rtlCol="0" anchor="ctr"/>
          <a:lstStyle/>
          <a:p>
            <a:pPr marL="0" indent="0">
              <a:buNone/>
            </a:pPr>
            <a:r>
              <a:rPr lang="en-US" sz="2400" b="1" dirty="0">
                <a:solidFill>
                  <a:srgbClr val="CC0000"/>
                </a:solidFill>
                <a:latin typeface="Arial" pitchFamily="34" charset="0"/>
                <a:ea typeface="Arial" pitchFamily="34" charset="-122"/>
                <a:cs typeface="Arial" pitchFamily="34" charset="-120"/>
              </a:rPr>
              <a:t>04</a:t>
            </a:r>
            <a:endParaRPr lang="en-US" sz="2400" dirty="0"/>
          </a:p>
        </p:txBody>
      </p:sp>
      <p:sp>
        <p:nvSpPr>
          <p:cNvPr id="19" name="Text 17"/>
          <p:cNvSpPr txBox="1"/>
          <p:nvPr/>
        </p:nvSpPr>
        <p:spPr>
          <a:xfrm>
            <a:off x="1828800" y="4562856"/>
            <a:ext cx="9418320" cy="256032"/>
          </a:xfrm>
          <a:prstGeom prst="rect">
            <a:avLst/>
          </a:prstGeom>
          <a:noFill/>
          <a:ln/>
        </p:spPr>
        <p:txBody>
          <a:bodyPr wrap="square" lIns="0" tIns="0" rIns="0" bIns="0" rtlCol="0" anchor="ctr"/>
          <a:lstStyle/>
          <a:p>
            <a:pPr marL="0" indent="0">
              <a:buNone/>
            </a:pPr>
            <a:r>
              <a:rPr lang="en-US" sz="1300" b="1" dirty="0">
                <a:solidFill>
                  <a:srgbClr val="1A1A1A"/>
                </a:solidFill>
                <a:latin typeface="Arial" pitchFamily="34" charset="0"/>
                <a:ea typeface="Arial" pitchFamily="34" charset="-122"/>
                <a:cs typeface="Arial" pitchFamily="34" charset="-120"/>
              </a:rPr>
              <a:t>Three data foundation items were removed from the sprint</a:t>
            </a:r>
            <a:endParaRPr lang="en-US" sz="1300" dirty="0"/>
          </a:p>
        </p:txBody>
      </p:sp>
      <p:sp>
        <p:nvSpPr>
          <p:cNvPr id="20" name="Text 18"/>
          <p:cNvSpPr txBox="1"/>
          <p:nvPr/>
        </p:nvSpPr>
        <p:spPr>
          <a:xfrm>
            <a:off x="1828800" y="4837176"/>
            <a:ext cx="9418320" cy="457200"/>
          </a:xfrm>
          <a:prstGeom prst="rect">
            <a:avLst/>
          </a:prstGeom>
          <a:noFill/>
          <a:ln/>
        </p:spPr>
        <p:txBody>
          <a:bodyPr wrap="square" lIns="0" tIns="0" rIns="0" bIns="0" rtlCol="0" anchor="t"/>
          <a:lstStyle/>
          <a:p>
            <a:pPr marL="0" indent="0">
              <a:lnSpc>
                <a:spcPts val="1250"/>
              </a:lnSpc>
              <a:buNone/>
            </a:pPr>
            <a:r>
              <a:rPr lang="en-US" sz="1000" dirty="0">
                <a:solidFill>
                  <a:srgbClr val="6E6E6E"/>
                </a:solidFill>
                <a:latin typeface="Arial" pitchFamily="34" charset="0"/>
                <a:ea typeface="Arial" pitchFamily="34" charset="-122"/>
                <a:cs typeface="Arial" pitchFamily="34" charset="-120"/>
              </a:rPr>
              <a:t>OI3-18, OI3-43 and OI3-65 left the sprint rather than completing. These now sit on the general backlog, but still require close follow-up to not to become another blocker for the GLS scope.</a:t>
            </a:r>
            <a:endParaRPr lang="en-US" sz="1000" dirty="0"/>
          </a:p>
        </p:txBody>
      </p:sp>
      <p:sp>
        <p:nvSpPr>
          <p:cNvPr id="21" name="Shape 19"/>
          <p:cNvSpPr/>
          <p:nvPr/>
        </p:nvSpPr>
        <p:spPr>
          <a:xfrm>
            <a:off x="594360" y="5413248"/>
            <a:ext cx="11000232" cy="886968"/>
          </a:xfrm>
          <a:prstGeom prst="rect">
            <a:avLst/>
          </a:prstGeom>
          <a:solidFill>
            <a:srgbClr val="F7F7F7"/>
          </a:solidFill>
          <a:ln/>
        </p:spPr>
        <p:txBody>
          <a:bodyPr/>
          <a:lstStyle/>
          <a:p>
            <a:endParaRPr lang="en-GB"/>
          </a:p>
        </p:txBody>
      </p:sp>
      <p:sp>
        <p:nvSpPr>
          <p:cNvPr id="22" name="Text 20"/>
          <p:cNvSpPr txBox="1"/>
          <p:nvPr/>
        </p:nvSpPr>
        <p:spPr>
          <a:xfrm>
            <a:off x="868680" y="5632704"/>
            <a:ext cx="731520" cy="457200"/>
          </a:xfrm>
          <a:prstGeom prst="rect">
            <a:avLst/>
          </a:prstGeom>
          <a:noFill/>
          <a:ln/>
        </p:spPr>
        <p:txBody>
          <a:bodyPr wrap="square" lIns="0" tIns="0" rIns="0" bIns="0" rtlCol="0" anchor="ctr"/>
          <a:lstStyle/>
          <a:p>
            <a:pPr marL="0" indent="0">
              <a:buNone/>
            </a:pPr>
            <a:r>
              <a:rPr lang="en-US" sz="2400" b="1" dirty="0">
                <a:solidFill>
                  <a:srgbClr val="CC0000"/>
                </a:solidFill>
                <a:latin typeface="Arial" pitchFamily="34" charset="0"/>
                <a:ea typeface="Arial" pitchFamily="34" charset="-122"/>
                <a:cs typeface="Arial" pitchFamily="34" charset="-120"/>
              </a:rPr>
              <a:t>05</a:t>
            </a:r>
            <a:endParaRPr lang="en-US" sz="2400" dirty="0"/>
          </a:p>
        </p:txBody>
      </p:sp>
      <p:sp>
        <p:nvSpPr>
          <p:cNvPr id="23" name="Text 21"/>
          <p:cNvSpPr txBox="1"/>
          <p:nvPr/>
        </p:nvSpPr>
        <p:spPr>
          <a:xfrm>
            <a:off x="1828800" y="5522976"/>
            <a:ext cx="9418320" cy="256032"/>
          </a:xfrm>
          <a:prstGeom prst="rect">
            <a:avLst/>
          </a:prstGeom>
          <a:noFill/>
          <a:ln/>
        </p:spPr>
        <p:txBody>
          <a:bodyPr wrap="square" lIns="0" tIns="0" rIns="0" bIns="0" rtlCol="0" anchor="ctr"/>
          <a:lstStyle/>
          <a:p>
            <a:pPr marL="0" indent="0">
              <a:buNone/>
            </a:pPr>
            <a:r>
              <a:rPr lang="en-US" sz="1300" b="1" dirty="0">
                <a:solidFill>
                  <a:srgbClr val="1A1A1A"/>
                </a:solidFill>
                <a:latin typeface="Arial" pitchFamily="34" charset="0"/>
                <a:ea typeface="Arial" pitchFamily="34" charset="-122"/>
                <a:cs typeface="Arial" pitchFamily="34" charset="-120"/>
              </a:rPr>
              <a:t>Estimates are being captured in Jira from Sprint 3</a:t>
            </a:r>
            <a:endParaRPr lang="en-US" sz="1300" dirty="0"/>
          </a:p>
        </p:txBody>
      </p:sp>
      <p:sp>
        <p:nvSpPr>
          <p:cNvPr id="24" name="Text 22"/>
          <p:cNvSpPr txBox="1"/>
          <p:nvPr/>
        </p:nvSpPr>
        <p:spPr>
          <a:xfrm>
            <a:off x="1828800" y="5797296"/>
            <a:ext cx="9418320" cy="457200"/>
          </a:xfrm>
          <a:prstGeom prst="rect">
            <a:avLst/>
          </a:prstGeom>
          <a:noFill/>
          <a:ln/>
        </p:spPr>
        <p:txBody>
          <a:bodyPr wrap="square" lIns="0" tIns="0" rIns="0" bIns="0" rtlCol="0" anchor="t"/>
          <a:lstStyle/>
          <a:p>
            <a:pPr marL="0" indent="0">
              <a:lnSpc>
                <a:spcPts val="1250"/>
              </a:lnSpc>
              <a:buNone/>
            </a:pPr>
            <a:r>
              <a:rPr lang="en-US" sz="1000" dirty="0">
                <a:solidFill>
                  <a:srgbClr val="6E6E6E"/>
                </a:solidFill>
                <a:latin typeface="Arial" pitchFamily="34" charset="0"/>
                <a:ea typeface="Arial" pitchFamily="34" charset="-122"/>
                <a:cs typeface="Arial" pitchFamily="34" charset="-120"/>
              </a:rPr>
              <a:t>Sprint 2 ran without estimates in Jira, so issue count is again the only measure. Hours are being entered on the Sprint 3 items before the sprint starts, which makes the burndown and velocity reports usable from that point.</a:t>
            </a:r>
            <a:endParaRPr lang="en-US" sz="1000" dirty="0"/>
          </a:p>
        </p:txBody>
      </p:sp>
      <p:sp>
        <p:nvSpPr>
          <p:cNvPr id="25" name="Text 23"/>
          <p:cNvSpPr txBox="1"/>
          <p:nvPr/>
        </p:nvSpPr>
        <p:spPr>
          <a:xfrm>
            <a:off x="594360" y="6382512"/>
            <a:ext cx="5486400" cy="228600"/>
          </a:xfrm>
          <a:prstGeom prst="rect">
            <a:avLst/>
          </a:prstGeom>
          <a:noFill/>
          <a:ln/>
        </p:spPr>
        <p:txBody>
          <a:bodyPr wrap="square" lIns="0" tIns="0" rIns="0" bIns="0" rtlCol="0" anchor="ctr"/>
          <a:lstStyle/>
          <a:p>
            <a:pPr marL="0" indent="0">
              <a:buNone/>
            </a:pPr>
            <a:r>
              <a:rPr lang="en-US" sz="800" dirty="0">
                <a:solidFill>
                  <a:srgbClr val="9B9B9B"/>
                </a:solidFill>
                <a:latin typeface="Arial" pitchFamily="34" charset="0"/>
                <a:ea typeface="Arial" pitchFamily="34" charset="-122"/>
                <a:cs typeface="Arial" pitchFamily="34" charset="-120"/>
              </a:rPr>
              <a:t>Opportunity Catalyst  |  Sprint 2 Retrospective</a:t>
            </a:r>
            <a:endParaRPr lang="en-US" sz="800" dirty="0"/>
          </a:p>
        </p:txBody>
      </p:sp>
      <p:sp>
        <p:nvSpPr>
          <p:cNvPr id="26" name="Text 24"/>
          <p:cNvSpPr txBox="1"/>
          <p:nvPr/>
        </p:nvSpPr>
        <p:spPr>
          <a:xfrm>
            <a:off x="10972800" y="6382512"/>
            <a:ext cx="621792" cy="228600"/>
          </a:xfrm>
          <a:prstGeom prst="rect">
            <a:avLst/>
          </a:prstGeom>
          <a:noFill/>
          <a:ln/>
        </p:spPr>
        <p:txBody>
          <a:bodyPr wrap="square" lIns="0" tIns="0" rIns="0" bIns="0" rtlCol="0" anchor="ctr"/>
          <a:lstStyle/>
          <a:p>
            <a:pPr marL="0" indent="0" algn="r">
              <a:buNone/>
            </a:pPr>
            <a:r>
              <a:rPr lang="en-US" sz="800" dirty="0">
                <a:solidFill>
                  <a:srgbClr val="9B9B9B"/>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94360" y="402336"/>
            <a:ext cx="137160" cy="137160"/>
          </a:xfrm>
          <a:prstGeom prst="rect">
            <a:avLst/>
          </a:prstGeom>
          <a:solidFill>
            <a:srgbClr val="CC0000"/>
          </a:solidFill>
          <a:ln/>
        </p:spPr>
        <p:txBody>
          <a:bodyPr/>
          <a:lstStyle/>
          <a:p>
            <a:endParaRPr lang="en-GB"/>
          </a:p>
        </p:txBody>
      </p:sp>
      <p:sp>
        <p:nvSpPr>
          <p:cNvPr id="3" name="Text 1"/>
          <p:cNvSpPr txBox="1"/>
          <p:nvPr/>
        </p:nvSpPr>
        <p:spPr>
          <a:xfrm>
            <a:off x="594360" y="658368"/>
            <a:ext cx="10725912" cy="457200"/>
          </a:xfrm>
          <a:prstGeom prst="rect">
            <a:avLst/>
          </a:prstGeom>
          <a:noFill/>
          <a:ln/>
        </p:spPr>
        <p:txBody>
          <a:bodyPr wrap="square" lIns="0" tIns="0" rIns="0" bIns="0" rtlCol="0" anchor="ctr"/>
          <a:lstStyle/>
          <a:p>
            <a:pPr marL="0" indent="0">
              <a:buNone/>
            </a:pPr>
            <a:r>
              <a:rPr lang="en-US" sz="2700" b="1" dirty="0">
                <a:solidFill>
                  <a:srgbClr val="1A1A1A"/>
                </a:solidFill>
                <a:latin typeface="Arial" pitchFamily="34" charset="0"/>
                <a:ea typeface="Arial" pitchFamily="34" charset="-122"/>
                <a:cs typeface="Arial" pitchFamily="34" charset="-120"/>
              </a:rPr>
              <a:t>Retro board</a:t>
            </a:r>
            <a:endParaRPr lang="en-US" sz="2700" dirty="0"/>
          </a:p>
        </p:txBody>
      </p:sp>
      <p:sp>
        <p:nvSpPr>
          <p:cNvPr id="5" name="Shape 3"/>
          <p:cNvSpPr/>
          <p:nvPr/>
        </p:nvSpPr>
        <p:spPr>
          <a:xfrm>
            <a:off x="594360" y="1664208"/>
            <a:ext cx="3483864" cy="4343400"/>
          </a:xfrm>
          <a:prstGeom prst="rect">
            <a:avLst/>
          </a:prstGeom>
          <a:solidFill>
            <a:srgbClr val="F7F7F7"/>
          </a:solidFill>
          <a:ln/>
        </p:spPr>
        <p:txBody>
          <a:bodyPr/>
          <a:lstStyle/>
          <a:p>
            <a:endParaRPr lang="en-GB"/>
          </a:p>
        </p:txBody>
      </p:sp>
      <p:sp>
        <p:nvSpPr>
          <p:cNvPr id="6" name="Shape 4"/>
          <p:cNvSpPr/>
          <p:nvPr/>
        </p:nvSpPr>
        <p:spPr>
          <a:xfrm>
            <a:off x="868680" y="1938528"/>
            <a:ext cx="118872" cy="118872"/>
          </a:xfrm>
          <a:prstGeom prst="rect">
            <a:avLst/>
          </a:prstGeom>
          <a:solidFill>
            <a:srgbClr val="4A4A4A"/>
          </a:solidFill>
          <a:ln/>
        </p:spPr>
        <p:txBody>
          <a:bodyPr/>
          <a:lstStyle/>
          <a:p>
            <a:endParaRPr lang="en-GB"/>
          </a:p>
        </p:txBody>
      </p:sp>
      <p:sp>
        <p:nvSpPr>
          <p:cNvPr id="7" name="Text 5"/>
          <p:cNvSpPr txBox="1"/>
          <p:nvPr/>
        </p:nvSpPr>
        <p:spPr>
          <a:xfrm>
            <a:off x="1124712" y="1828800"/>
            <a:ext cx="2743200" cy="301752"/>
          </a:xfrm>
          <a:prstGeom prst="rect">
            <a:avLst/>
          </a:prstGeom>
          <a:noFill/>
          <a:ln/>
        </p:spPr>
        <p:txBody>
          <a:bodyPr wrap="square" lIns="0" tIns="0" rIns="0" bIns="0" rtlCol="0" anchor="ctr"/>
          <a:lstStyle/>
          <a:p>
            <a:pPr marL="0" indent="0">
              <a:buNone/>
            </a:pPr>
            <a:r>
              <a:rPr lang="en-US" sz="1400" b="1" dirty="0">
                <a:solidFill>
                  <a:srgbClr val="1A1A1A"/>
                </a:solidFill>
                <a:latin typeface="Arial" pitchFamily="34" charset="0"/>
                <a:ea typeface="Arial" pitchFamily="34" charset="-122"/>
                <a:cs typeface="Arial" pitchFamily="34" charset="-120"/>
              </a:rPr>
              <a:t>What went well</a:t>
            </a:r>
            <a:endParaRPr lang="en-US" sz="1400" dirty="0"/>
          </a:p>
        </p:txBody>
      </p:sp>
      <p:sp>
        <p:nvSpPr>
          <p:cNvPr id="8" name="Shape 6"/>
          <p:cNvSpPr/>
          <p:nvPr/>
        </p:nvSpPr>
        <p:spPr>
          <a:xfrm>
            <a:off x="868680" y="2249424"/>
            <a:ext cx="2926080" cy="0"/>
          </a:xfrm>
          <a:prstGeom prst="line">
            <a:avLst/>
          </a:prstGeom>
          <a:noFill/>
          <a:ln w="12700">
            <a:solidFill>
              <a:srgbClr val="E3E3E3"/>
            </a:solidFill>
            <a:prstDash val="solid"/>
          </a:ln>
        </p:spPr>
        <p:txBody>
          <a:bodyPr/>
          <a:lstStyle/>
          <a:p>
            <a:endParaRPr lang="en-GB"/>
          </a:p>
        </p:txBody>
      </p:sp>
      <p:sp>
        <p:nvSpPr>
          <p:cNvPr id="9" name="Text 7"/>
          <p:cNvSpPr txBox="1"/>
          <p:nvPr/>
        </p:nvSpPr>
        <p:spPr>
          <a:xfrm>
            <a:off x="868680" y="2377440"/>
            <a:ext cx="2944368" cy="2926080"/>
          </a:xfrm>
          <a:prstGeom prst="rect">
            <a:avLst/>
          </a:prstGeom>
          <a:noFill/>
          <a:ln/>
        </p:spPr>
        <p:txBody>
          <a:bodyPr wrap="square" lIns="0" tIns="0" rIns="0" bIns="0" rtlCol="0" anchor="t"/>
          <a:lstStyle/>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48 items completed, against 22 in Sprint 1</a:t>
            </a:r>
            <a:endParaRPr lang="en-US" sz="1050" dirty="0"/>
          </a:p>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36 of 45 committed items delivered</a:t>
            </a:r>
            <a:endParaRPr lang="en-US" sz="1050" dirty="0"/>
          </a:p>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Peer set journey step now works end to end</a:t>
            </a:r>
            <a:endParaRPr lang="en-US" sz="1050" dirty="0"/>
          </a:p>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Evidence and audit trail delivered alongside it</a:t>
            </a:r>
            <a:endParaRPr lang="en-US" sz="1050" dirty="0"/>
          </a:p>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12 of 13 mid-sprint additions still completed</a:t>
            </a:r>
            <a:endParaRPr lang="en-US" sz="1050" dirty="0"/>
          </a:p>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Most Sprint 1 carryover closed, including the data foundations</a:t>
            </a:r>
            <a:endParaRPr lang="en-US" sz="1050" dirty="0"/>
          </a:p>
        </p:txBody>
      </p:sp>
      <p:sp>
        <p:nvSpPr>
          <p:cNvPr id="12" name="Shape 10"/>
          <p:cNvSpPr/>
          <p:nvPr/>
        </p:nvSpPr>
        <p:spPr>
          <a:xfrm>
            <a:off x="868680" y="5815584"/>
            <a:ext cx="2907792" cy="0"/>
          </a:xfrm>
          <a:prstGeom prst="line">
            <a:avLst/>
          </a:prstGeom>
          <a:noFill/>
          <a:ln w="12700">
            <a:solidFill>
              <a:srgbClr val="CFCFCF"/>
            </a:solidFill>
            <a:prstDash val="solid"/>
          </a:ln>
        </p:spPr>
        <p:txBody>
          <a:bodyPr/>
          <a:lstStyle/>
          <a:p>
            <a:endParaRPr lang="en-GB"/>
          </a:p>
        </p:txBody>
      </p:sp>
      <p:sp>
        <p:nvSpPr>
          <p:cNvPr id="13" name="Shape 11"/>
          <p:cNvSpPr/>
          <p:nvPr/>
        </p:nvSpPr>
        <p:spPr>
          <a:xfrm>
            <a:off x="4352544" y="1664208"/>
            <a:ext cx="3483864" cy="4343400"/>
          </a:xfrm>
          <a:prstGeom prst="rect">
            <a:avLst/>
          </a:prstGeom>
          <a:solidFill>
            <a:srgbClr val="F7F7F7"/>
          </a:solidFill>
          <a:ln/>
        </p:spPr>
        <p:txBody>
          <a:bodyPr/>
          <a:lstStyle/>
          <a:p>
            <a:endParaRPr lang="en-GB"/>
          </a:p>
        </p:txBody>
      </p:sp>
      <p:sp>
        <p:nvSpPr>
          <p:cNvPr id="14" name="Shape 12"/>
          <p:cNvSpPr/>
          <p:nvPr/>
        </p:nvSpPr>
        <p:spPr>
          <a:xfrm>
            <a:off x="4626864" y="1938528"/>
            <a:ext cx="118872" cy="118872"/>
          </a:xfrm>
          <a:prstGeom prst="rect">
            <a:avLst/>
          </a:prstGeom>
          <a:solidFill>
            <a:srgbClr val="CC0000"/>
          </a:solidFill>
          <a:ln/>
        </p:spPr>
        <p:txBody>
          <a:bodyPr/>
          <a:lstStyle/>
          <a:p>
            <a:endParaRPr lang="en-GB"/>
          </a:p>
        </p:txBody>
      </p:sp>
      <p:sp>
        <p:nvSpPr>
          <p:cNvPr id="15" name="Text 13"/>
          <p:cNvSpPr txBox="1"/>
          <p:nvPr/>
        </p:nvSpPr>
        <p:spPr>
          <a:xfrm>
            <a:off x="4882896" y="1828800"/>
            <a:ext cx="2743200" cy="301752"/>
          </a:xfrm>
          <a:prstGeom prst="rect">
            <a:avLst/>
          </a:prstGeom>
          <a:noFill/>
          <a:ln/>
        </p:spPr>
        <p:txBody>
          <a:bodyPr wrap="square" lIns="0" tIns="0" rIns="0" bIns="0" rtlCol="0" anchor="ctr"/>
          <a:lstStyle/>
          <a:p>
            <a:pPr marL="0" indent="0">
              <a:buNone/>
            </a:pPr>
            <a:r>
              <a:rPr lang="en-US" sz="1400" b="1" dirty="0">
                <a:solidFill>
                  <a:srgbClr val="1A1A1A"/>
                </a:solidFill>
                <a:latin typeface="Arial" pitchFamily="34" charset="0"/>
                <a:ea typeface="Arial" pitchFamily="34" charset="-122"/>
                <a:cs typeface="Arial" pitchFamily="34" charset="-120"/>
              </a:rPr>
              <a:t>What to improve</a:t>
            </a:r>
            <a:endParaRPr lang="en-US" sz="1400" dirty="0"/>
          </a:p>
        </p:txBody>
      </p:sp>
      <p:sp>
        <p:nvSpPr>
          <p:cNvPr id="16" name="Shape 14"/>
          <p:cNvSpPr/>
          <p:nvPr/>
        </p:nvSpPr>
        <p:spPr>
          <a:xfrm>
            <a:off x="4626864" y="2249424"/>
            <a:ext cx="2926080" cy="0"/>
          </a:xfrm>
          <a:prstGeom prst="line">
            <a:avLst/>
          </a:prstGeom>
          <a:noFill/>
          <a:ln w="12700">
            <a:solidFill>
              <a:srgbClr val="E3E3E3"/>
            </a:solidFill>
            <a:prstDash val="solid"/>
          </a:ln>
        </p:spPr>
        <p:txBody>
          <a:bodyPr/>
          <a:lstStyle/>
          <a:p>
            <a:endParaRPr lang="en-GB"/>
          </a:p>
        </p:txBody>
      </p:sp>
      <p:sp>
        <p:nvSpPr>
          <p:cNvPr id="17" name="Text 15"/>
          <p:cNvSpPr txBox="1"/>
          <p:nvPr/>
        </p:nvSpPr>
        <p:spPr>
          <a:xfrm>
            <a:off x="4626864" y="2377440"/>
            <a:ext cx="2944368" cy="2926080"/>
          </a:xfrm>
          <a:prstGeom prst="rect">
            <a:avLst/>
          </a:prstGeom>
          <a:noFill/>
          <a:ln/>
        </p:spPr>
        <p:txBody>
          <a:bodyPr wrap="square" lIns="0" tIns="0" rIns="0" bIns="0" rtlCol="0" anchor="t"/>
          <a:lstStyle/>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AI platform access (AI Search, document parsing) granted only on the last day</a:t>
            </a:r>
            <a:endParaRPr lang="en-US" sz="1050" dirty="0"/>
          </a:p>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Over half the sprint's closure landed in the final days</a:t>
            </a:r>
            <a:endParaRPr lang="en-US" sz="1050" dirty="0"/>
          </a:p>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Five items have been open since Sprint 1</a:t>
            </a:r>
            <a:endParaRPr lang="en-US" sz="1050" dirty="0"/>
          </a:p>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Two items ended the sprint blocked on vendors</a:t>
            </a:r>
            <a:endParaRPr lang="en-US" sz="1050" dirty="0"/>
          </a:p>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Three data foundation items were removed, not finished</a:t>
            </a:r>
            <a:endParaRPr lang="en-US" sz="1050" dirty="0"/>
          </a:p>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No estimates in Jira for a second sprint</a:t>
            </a:r>
            <a:endParaRPr lang="en-US" sz="1050" dirty="0"/>
          </a:p>
        </p:txBody>
      </p:sp>
      <p:sp>
        <p:nvSpPr>
          <p:cNvPr id="20" name="Shape 18"/>
          <p:cNvSpPr/>
          <p:nvPr/>
        </p:nvSpPr>
        <p:spPr>
          <a:xfrm>
            <a:off x="4626864" y="5815584"/>
            <a:ext cx="2907792" cy="0"/>
          </a:xfrm>
          <a:prstGeom prst="line">
            <a:avLst/>
          </a:prstGeom>
          <a:noFill/>
          <a:ln w="12700">
            <a:solidFill>
              <a:srgbClr val="CFCFCF"/>
            </a:solidFill>
            <a:prstDash val="solid"/>
          </a:ln>
        </p:spPr>
        <p:txBody>
          <a:bodyPr/>
          <a:lstStyle/>
          <a:p>
            <a:endParaRPr lang="en-GB"/>
          </a:p>
        </p:txBody>
      </p:sp>
      <p:sp>
        <p:nvSpPr>
          <p:cNvPr id="21" name="Shape 19"/>
          <p:cNvSpPr/>
          <p:nvPr/>
        </p:nvSpPr>
        <p:spPr>
          <a:xfrm>
            <a:off x="8110728" y="1664208"/>
            <a:ext cx="3483864" cy="4343400"/>
          </a:xfrm>
          <a:prstGeom prst="rect">
            <a:avLst/>
          </a:prstGeom>
          <a:solidFill>
            <a:srgbClr val="F7F7F7"/>
          </a:solidFill>
          <a:ln/>
        </p:spPr>
        <p:txBody>
          <a:bodyPr/>
          <a:lstStyle/>
          <a:p>
            <a:endParaRPr lang="en-GB"/>
          </a:p>
        </p:txBody>
      </p:sp>
      <p:sp>
        <p:nvSpPr>
          <p:cNvPr id="22" name="Shape 20"/>
          <p:cNvSpPr/>
          <p:nvPr/>
        </p:nvSpPr>
        <p:spPr>
          <a:xfrm>
            <a:off x="8385048" y="1938528"/>
            <a:ext cx="118872" cy="118872"/>
          </a:xfrm>
          <a:prstGeom prst="rect">
            <a:avLst/>
          </a:prstGeom>
          <a:solidFill>
            <a:srgbClr val="9B9B9B"/>
          </a:solidFill>
          <a:ln/>
        </p:spPr>
        <p:txBody>
          <a:bodyPr/>
          <a:lstStyle/>
          <a:p>
            <a:endParaRPr lang="en-GB"/>
          </a:p>
        </p:txBody>
      </p:sp>
      <p:sp>
        <p:nvSpPr>
          <p:cNvPr id="23" name="Text 21"/>
          <p:cNvSpPr txBox="1"/>
          <p:nvPr/>
        </p:nvSpPr>
        <p:spPr>
          <a:xfrm>
            <a:off x="8641080" y="1828800"/>
            <a:ext cx="2743200" cy="301752"/>
          </a:xfrm>
          <a:prstGeom prst="rect">
            <a:avLst/>
          </a:prstGeom>
          <a:noFill/>
          <a:ln/>
        </p:spPr>
        <p:txBody>
          <a:bodyPr wrap="square" lIns="0" tIns="0" rIns="0" bIns="0" rtlCol="0" anchor="ctr"/>
          <a:lstStyle/>
          <a:p>
            <a:pPr marL="0" indent="0">
              <a:buNone/>
            </a:pPr>
            <a:r>
              <a:rPr lang="en-US" sz="1400" b="1" dirty="0">
                <a:solidFill>
                  <a:srgbClr val="1A1A1A"/>
                </a:solidFill>
                <a:latin typeface="Arial" pitchFamily="34" charset="0"/>
                <a:ea typeface="Arial" pitchFamily="34" charset="-122"/>
                <a:cs typeface="Arial" pitchFamily="34" charset="-120"/>
              </a:rPr>
              <a:t>What to try next</a:t>
            </a:r>
            <a:endParaRPr lang="en-US" sz="1400" dirty="0"/>
          </a:p>
        </p:txBody>
      </p:sp>
      <p:sp>
        <p:nvSpPr>
          <p:cNvPr id="24" name="Shape 22"/>
          <p:cNvSpPr/>
          <p:nvPr/>
        </p:nvSpPr>
        <p:spPr>
          <a:xfrm>
            <a:off x="8385048" y="2249424"/>
            <a:ext cx="2926080" cy="0"/>
          </a:xfrm>
          <a:prstGeom prst="line">
            <a:avLst/>
          </a:prstGeom>
          <a:noFill/>
          <a:ln w="12700">
            <a:solidFill>
              <a:srgbClr val="E3E3E3"/>
            </a:solidFill>
            <a:prstDash val="solid"/>
          </a:ln>
        </p:spPr>
        <p:txBody>
          <a:bodyPr/>
          <a:lstStyle/>
          <a:p>
            <a:endParaRPr lang="en-GB"/>
          </a:p>
        </p:txBody>
      </p:sp>
      <p:sp>
        <p:nvSpPr>
          <p:cNvPr id="25" name="Text 23"/>
          <p:cNvSpPr txBox="1"/>
          <p:nvPr/>
        </p:nvSpPr>
        <p:spPr>
          <a:xfrm>
            <a:off x="8385048" y="2377440"/>
            <a:ext cx="2944368" cy="2926080"/>
          </a:xfrm>
          <a:prstGeom prst="rect">
            <a:avLst/>
          </a:prstGeom>
          <a:noFill/>
          <a:ln/>
        </p:spPr>
        <p:txBody>
          <a:bodyPr wrap="square" lIns="0" tIns="0" rIns="0" bIns="0" rtlCol="0" anchor="t"/>
          <a:lstStyle/>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Raise platform access requests a sprint ahead of the work</a:t>
            </a:r>
            <a:endParaRPr lang="en-US" sz="1050" dirty="0"/>
          </a:p>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Set a date or close decision for each two-sprint item</a:t>
            </a:r>
            <a:endParaRPr lang="en-US" sz="1050" dirty="0"/>
          </a:p>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Escalate vendor rate and quota limits as one ask</a:t>
            </a:r>
            <a:endParaRPr lang="en-US" sz="1050" dirty="0"/>
          </a:p>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Confirm where the three removed items now sit</a:t>
            </a:r>
            <a:endParaRPr lang="en-US" sz="1050" dirty="0"/>
          </a:p>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Keep estimates in Jira before Sprint 3 starts</a:t>
            </a:r>
            <a:endParaRPr lang="en-US" sz="1050" dirty="0"/>
          </a:p>
        </p:txBody>
      </p:sp>
      <p:sp>
        <p:nvSpPr>
          <p:cNvPr id="28" name="Shape 26"/>
          <p:cNvSpPr/>
          <p:nvPr/>
        </p:nvSpPr>
        <p:spPr>
          <a:xfrm>
            <a:off x="8385048" y="5815584"/>
            <a:ext cx="2907792" cy="0"/>
          </a:xfrm>
          <a:prstGeom prst="line">
            <a:avLst/>
          </a:prstGeom>
          <a:noFill/>
          <a:ln w="12700">
            <a:solidFill>
              <a:srgbClr val="CFCFCF"/>
            </a:solidFill>
            <a:prstDash val="solid"/>
          </a:ln>
        </p:spPr>
        <p:txBody>
          <a:bodyPr/>
          <a:lstStyle/>
          <a:p>
            <a:endParaRPr lang="en-GB"/>
          </a:p>
        </p:txBody>
      </p:sp>
      <p:sp>
        <p:nvSpPr>
          <p:cNvPr id="30" name="Text 28"/>
          <p:cNvSpPr txBox="1"/>
          <p:nvPr/>
        </p:nvSpPr>
        <p:spPr>
          <a:xfrm>
            <a:off x="594360" y="6382512"/>
            <a:ext cx="5486400" cy="228600"/>
          </a:xfrm>
          <a:prstGeom prst="rect">
            <a:avLst/>
          </a:prstGeom>
          <a:noFill/>
          <a:ln/>
        </p:spPr>
        <p:txBody>
          <a:bodyPr wrap="square" lIns="0" tIns="0" rIns="0" bIns="0" rtlCol="0" anchor="ctr"/>
          <a:lstStyle/>
          <a:p>
            <a:pPr marL="0" indent="0">
              <a:buNone/>
            </a:pPr>
            <a:r>
              <a:rPr lang="en-US" sz="800" dirty="0">
                <a:solidFill>
                  <a:srgbClr val="9B9B9B"/>
                </a:solidFill>
                <a:latin typeface="Arial" pitchFamily="34" charset="0"/>
                <a:ea typeface="Arial" pitchFamily="34" charset="-122"/>
                <a:cs typeface="Arial" pitchFamily="34" charset="-120"/>
              </a:rPr>
              <a:t>Opportunity Catalyst  |  Sprint 2 Retrospective</a:t>
            </a:r>
            <a:endParaRPr lang="en-US" sz="800" dirty="0"/>
          </a:p>
        </p:txBody>
      </p:sp>
      <p:sp>
        <p:nvSpPr>
          <p:cNvPr id="31" name="Text 29"/>
          <p:cNvSpPr txBox="1"/>
          <p:nvPr/>
        </p:nvSpPr>
        <p:spPr>
          <a:xfrm>
            <a:off x="10972800" y="6382512"/>
            <a:ext cx="621792" cy="228600"/>
          </a:xfrm>
          <a:prstGeom prst="rect">
            <a:avLst/>
          </a:prstGeom>
          <a:noFill/>
          <a:ln/>
        </p:spPr>
        <p:txBody>
          <a:bodyPr wrap="square" lIns="0" tIns="0" rIns="0" bIns="0" rtlCol="0" anchor="ctr"/>
          <a:lstStyle/>
          <a:p>
            <a:pPr marL="0" indent="0" algn="r">
              <a:buNone/>
            </a:pPr>
            <a:r>
              <a:rPr lang="en-US" sz="800" dirty="0">
                <a:solidFill>
                  <a:srgbClr val="9B9B9B"/>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1654</Words>
  <Application>Microsoft Office PowerPoint</Application>
  <PresentationFormat>Widescreen</PresentationFormat>
  <Paragraphs>205</Paragraphs>
  <Slides>9</Slides>
  <Notes>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9</vt:i4>
      </vt:variant>
    </vt:vector>
  </HeadingPairs>
  <TitlesOfParts>
    <vt:vector size="11"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Opportunity Catalyst - Sprint 2 Retrospective</dc:title>
  <dc:subject>PptxGenJS Presentation</dc:subject>
  <dc:creator>Opportunity Catalyst Delivery</dc:creator>
  <cp:lastModifiedBy>Giorgi Samadashvili</cp:lastModifiedBy>
  <cp:revision>2</cp:revision>
  <dcterms:created xsi:type="dcterms:W3CDTF">2026-09-29T06:48:12Z</dcterms:created>
  <dcterms:modified xsi:type="dcterms:W3CDTF">2026-09-29T07:51:59Z</dcterms:modified>
</cp:coreProperties>
</file>