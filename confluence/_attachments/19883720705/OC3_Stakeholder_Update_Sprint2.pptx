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5"/>
                </a:solidFill>
              </a:rPr>
              <a:t>OC 3.0  |  Stakeholder Update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28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at a glance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40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items only — epics are excluded and tracked at programme level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29968" cy="9601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789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start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1: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78024" y="1005840"/>
            <a:ext cx="2029968" cy="9601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15184" y="10789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after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started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615184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1: 28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36008" y="1005840"/>
            <a:ext cx="2029968" cy="9601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10789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660136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(of 58 items)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1: 22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93992" y="1005840"/>
            <a:ext cx="2029968" cy="9601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31152" y="10789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1143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1: 44%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numbers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2450592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Scope grew by 13 items during the sprint, roughly 29% — down from 127% in Sprint 1.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Of the 45 items committed at the start, 36 completed. 9 carried into Sprint 3, plus 1 late-added QA item: 10 in total, now largely completed.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12 of the 13 added items were completed in the sprint, so unplanned work no longer displaced the plan.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Most of the Sprint 1 carryover closed, including the data foundation items and both think-cell reviews. Three data foundation items were moved to the general backlog.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Estimates were still not in Jira, so issue count is again the only measure. Hours are being captured from Sprint 3.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13 added items were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15000" y="2432304"/>
            <a:ext cx="310896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150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468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platform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6517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and target setup screens, Case Service, search API, taxonomy migration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15000" y="2999232"/>
            <a:ext cx="310896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15000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035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testing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32186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checks on every pull request, framework gap analysis, grammar and agent QA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15000" y="3566160"/>
            <a:ext cx="310896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15000" y="3602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6027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taxonomy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37856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regeneration, move from test fixtures to live data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15000" y="4133088"/>
            <a:ext cx="3108960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15000" y="4169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172200" y="41696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readiness and feasibility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43525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deployed to a demo environment, MS Foundry agent setup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28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Sprint 2 delivered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40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completed items, described by the part of the consultant journey they support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084832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9768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peer set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10642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items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13167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step: peer selection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29768" y="153619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Peer set screen to add, remove and adjust peers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AI agents propose a peer set and explain why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Sector detection and taxonomy classification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Comparability and confidence scoring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98755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987552"/>
            <a:ext cx="2084832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24328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any number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10642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items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624328" y="13167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step: evidence and audit trail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2624328" y="153619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Every figure shows its source in four parts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Reported, adjusted or estimated — and why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Reconciliation and sanity checks on the data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Tamper-evident audit trail and log tab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9160" y="98755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987552"/>
            <a:ext cx="2084832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18888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and setup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110642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items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818888" y="13167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steps: dashboard and target setup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4818888" y="153619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Dashboard and target setup screens built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Target setup connected to the back end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Live run progress shown on screen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Engagement intent carried through the journey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77063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770632"/>
            <a:ext cx="2084832" cy="36576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" y="2880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288950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items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29768" y="30998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scenes: data and taxonomy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29768" y="331927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Core data access and engine skeleton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End-to-end data map for the Opportunity Case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Search moved to the new Bain taxonomy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Bain source connectors, China and HK access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14600" y="277063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2770632"/>
            <a:ext cx="2084832" cy="36576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24328" y="2880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AI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886200" y="288950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items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624328" y="30998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scenes: services and agents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2624328" y="331927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Per-case access control for every user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Secure service-to-service identity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Model gateway with safety controls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Full stack running in a demo environment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2770632"/>
            <a:ext cx="2084832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770632"/>
            <a:ext cx="2084832" cy="36576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18888" y="2880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reviews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288950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items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818888" y="30998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scenes: engineering practice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4818888" y="3319272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Automated checks on every code change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Testing gaps assessed and closed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think-cell and Andromeda assessments closed</a:t>
            </a:r>
            <a:endParaRPr lang="en-US" sz="8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22222"/>
                </a:solidFill>
              </a:rPr>
              <a:t>Technology choices documented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49440" y="987552"/>
            <a:ext cx="1874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7059168" y="10972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Carried into Sprint 3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059168" y="13075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items · largely completed since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7406640" y="17099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Largely closed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7406640" y="189280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carryover has been completed in the first half of Sprint 3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7059168" y="25877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7406640" y="2606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longer a dependency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7406640" y="2788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LSEG and CapIQ access and vendor rate limits: the GLS journey runs on the golden data set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7059168" y="34838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7406640" y="35021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open constraint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7406640" y="36850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platform and agent access, granted on the dev environment only on Fri 2 Oct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20040" y="4526280"/>
            <a:ext cx="8503920" cy="25603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set selection now runs end to end, and every number it produces can be traced back to its source.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28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plan to the Global Leadership Summit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40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go/no-go decision now sits in the middle of Sprint 4, one week before GLS on 26 October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00200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Aug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035808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15768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Sep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471416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51376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Sep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07024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86984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Oct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24828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4788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Oct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42632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22592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Oct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573153" y="1115568"/>
            <a:ext cx="0" cy="1298448"/>
          </a:xfrm>
          <a:prstGeom prst="line">
            <a:avLst/>
          </a:prstGeom>
          <a:noFill/>
          <a:ln w="6350">
            <a:solidFill>
              <a:srgbClr val="D5D9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53113" y="9418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Nov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1887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plan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13716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sprints · 10 weeks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1810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plan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19933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3½ sprints to go/no-go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189220" y="1097280"/>
            <a:ext cx="0" cy="1188720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18488" y="1170432"/>
            <a:ext cx="1399032" cy="384048"/>
          </a:xfrm>
          <a:prstGeom prst="rect">
            <a:avLst/>
          </a:prstGeom>
          <a:solidFill>
            <a:srgbClr val="C9CFDA"/>
          </a:solidFill>
          <a:ln w="9525">
            <a:solidFill>
              <a:srgbClr val="C9CF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55064" y="1170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Foundations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054096" y="1170432"/>
            <a:ext cx="1399032" cy="384048"/>
          </a:xfrm>
          <a:prstGeom prst="rect">
            <a:avLst/>
          </a:prstGeom>
          <a:solidFill>
            <a:srgbClr val="C9CFDA"/>
          </a:solidFill>
          <a:ln w="9525">
            <a:solidFill>
              <a:srgbClr val="C9CF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90672" y="1170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Peers &amp; evidence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89704" y="1170432"/>
            <a:ext cx="1399032" cy="384048"/>
          </a:xfrm>
          <a:prstGeom prst="rect">
            <a:avLst/>
          </a:prstGeom>
          <a:solidFill>
            <a:srgbClr val="C9CFDA"/>
          </a:solidFill>
          <a:ln w="9525">
            <a:solidFill>
              <a:srgbClr val="C9CF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6280" y="1170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Calculations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925312" y="1170432"/>
            <a:ext cx="1399032" cy="384048"/>
          </a:xfrm>
          <a:prstGeom prst="rect">
            <a:avLst/>
          </a:prstGeom>
          <a:solidFill>
            <a:srgbClr val="C9CFDA"/>
          </a:solidFill>
          <a:ln w="9525">
            <a:solidFill>
              <a:srgbClr val="C9CF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61888" y="1170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Analysis &amp; output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60920" y="1170432"/>
            <a:ext cx="1193945" cy="384048"/>
          </a:xfrm>
          <a:prstGeom prst="rect">
            <a:avLst/>
          </a:prstGeom>
          <a:solidFill>
            <a:srgbClr val="C9CFDA"/>
          </a:solidFill>
          <a:ln w="9525">
            <a:solidFill>
              <a:srgbClr val="C9CF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97496" y="1170432"/>
            <a:ext cx="11207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Hardening &amp; rehearsal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618488" y="1792224"/>
            <a:ext cx="1399032" cy="384048"/>
          </a:xfrm>
          <a:prstGeom prst="rect">
            <a:avLst/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55064" y="17922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Done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054096" y="1792224"/>
            <a:ext cx="1399032" cy="384048"/>
          </a:xfrm>
          <a:prstGeom prst="rect">
            <a:avLst/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90672" y="17922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Done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489704" y="1792224"/>
            <a:ext cx="1399032" cy="384048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26280" y="17922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Scope adjusted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925312" y="1792224"/>
            <a:ext cx="681228" cy="384048"/>
          </a:xfrm>
          <a:prstGeom prst="rect">
            <a:avLst/>
          </a:prstGeom>
          <a:solidFill>
            <a:srgbClr val="C8102E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61888" y="1792224"/>
            <a:ext cx="608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build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643116" y="1792224"/>
            <a:ext cx="681228" cy="384048"/>
          </a:xfrm>
          <a:prstGeom prst="rect">
            <a:avLst/>
          </a:prstGeom>
          <a:solidFill>
            <a:srgbClr val="FCEDEF"/>
          </a:solidFill>
          <a:ln w="9525">
            <a:solidFill>
              <a:srgbClr val="C8102E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6679692" y="1792224"/>
            <a:ext cx="608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GLS readiness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360920" y="1792224"/>
            <a:ext cx="119394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7397496" y="1792224"/>
            <a:ext cx="11207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sprint before GLS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4914900" y="224942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533388" y="1691640"/>
            <a:ext cx="182880" cy="182880"/>
          </a:xfrm>
          <a:prstGeom prst="diamond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13348" y="22494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342632" y="1097280"/>
            <a:ext cx="0" cy="1188720"/>
          </a:xfrm>
          <a:prstGeom prst="line">
            <a:avLst/>
          </a:prstGeom>
          <a:noFill/>
          <a:ln w="19050">
            <a:solidFill>
              <a:srgbClr val="C8102E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7068312" y="224942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20040" y="2606040"/>
            <a:ext cx="274320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2606040"/>
            <a:ext cx="2743200" cy="36576"/>
          </a:xfrm>
          <a:prstGeom prst="rect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57200" y="2724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plan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two-week sprints to 6 November, with code complete at the end of Sprint 4 and a full hardening and rehearsal sprint before the event.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182112" y="2606040"/>
            <a:ext cx="274320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82112" y="2606040"/>
            <a:ext cx="2743200" cy="36576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319272" y="2724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plan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3319272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runs to the go/no-go decision in the middle of Sprint 4, one week before GLS. The second half of Sprint 4 becomes GLS readiness, and there is no separate hardening sprint.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44184" y="2606040"/>
            <a:ext cx="274320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44184" y="2606040"/>
            <a:ext cx="27432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181344" y="2724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 for scope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6181344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one and a half sprints of time are gone, so Sprint 3 and Sprint 4 scope has been adjusted to the new timeline and the GLS scope cut aggressively. The cuts are on the next slide.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320040" y="40233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midway through Sprint 3. Sprints 1 and 2 are delivered and the Sprint 2 carryover is largely closed. The go/no-go decision is now roughly two weeks away.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286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Adjusting the GLS scope to the revised timeline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40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driving the pressure on the plan, and what changes in what we show at GLS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05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driving the pressure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5720" cy="8412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" y="1325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brought forward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15453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go/no-go decision moved to the middle of Sprint 4, one week before GLS. That leaves three and a half sprints of build rather than five, with no hardening sprint.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2313432"/>
            <a:ext cx="45720" cy="8412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" y="2313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access to the development platform and agents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25328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was granted on the development environment only on Friday 2 October. Document fetching and document parsing depend on it, so that is where the main delay sits.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3300984"/>
            <a:ext cx="45720" cy="84124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" y="3300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data access is no longer a risk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GLS journey runs on the golden data set, so LSEG, CapIQ and vendor rate limits are no longer dependencies for GLS.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10058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GLS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1325880"/>
            <a:ext cx="4800600" cy="8686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4356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interface reduced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664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chat will focus on interaction with the analysis rather than making changes to the data.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313432"/>
            <a:ext cx="4800600" cy="8686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6052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423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journey for the golden data set only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651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can run the entire journey for the golden data set companies provided by the BCN team. Other companies remain searchable, but the full journey will not run for them.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0" y="3300984"/>
            <a:ext cx="4800600" cy="8686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60520" y="3410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4107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adjustments, raised early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36393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other topics that put the timeline at risk will be identified and communicated as they come up before GLS.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go/no-go decision one week before GLS will be taken against this reduced scope.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 3.0 Stakeholder Update - Sprint 2</dc:title>
  <dc:subject>PptxGenJS Presentation</dc:subject>
  <dc:creator>PptxGenJS</dc:creator>
  <cp:lastModifiedBy>PptxGenJS</cp:lastModifiedBy>
  <cp:revision>1</cp:revision>
  <dcterms:created xsi:type="dcterms:W3CDTF">2026-10-05T10:13:22Z</dcterms:created>
  <dcterms:modified xsi:type="dcterms:W3CDTF">2026-10-05T10:13:22Z</dcterms:modified>
</cp:coreProperties>
</file>